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76" r:id="rId6"/>
    <p:sldId id="259" r:id="rId7"/>
    <p:sldId id="260" r:id="rId8"/>
    <p:sldId id="261" r:id="rId9"/>
    <p:sldId id="263" r:id="rId10"/>
    <p:sldId id="264" r:id="rId11"/>
    <p:sldId id="26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6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0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en-US" dirty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rPr>
            </a:fld>
            <a:endParaRPr lang="en-US" altLang="en-US" dirty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FE38-503D-4C4B-8129-C37EA38FA6F0}" type="datetimeFigureOut">
              <a:rPr lang="zh-CN" altLang="en-US" smtClean="0">
                <a:solidFill>
                  <a:srgbClr val="454245">
                    <a:tint val="75000"/>
                  </a:srgbClr>
                </a:solidFill>
              </a:rPr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BB00F-8F08-4A10-ADE5-658EB5AB996D}" type="slidenum">
              <a:rPr lang="zh-CN" altLang="en-US" smtClean="0">
                <a:solidFill>
                  <a:srgbClr val="454245">
                    <a:tint val="75000"/>
                  </a:srgbClr>
                </a:solidFill>
              </a:rPr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7FE38-503D-4C4B-8129-C37EA38FA6F0}" type="datetimeFigureOut">
              <a:rPr lang="zh-CN" altLang="en-US" smtClean="0">
                <a:solidFill>
                  <a:srgbClr val="454245">
                    <a:tint val="75000"/>
                  </a:srgbClr>
                </a:solidFill>
              </a:rPr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BB00F-8F08-4A10-ADE5-658EB5AB996D}" type="slidenum">
              <a:rPr lang="zh-CN" altLang="en-US" smtClean="0">
                <a:solidFill>
                  <a:srgbClr val="454245">
                    <a:tint val="75000"/>
                  </a:srgbClr>
                </a:solidFill>
              </a:rPr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1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3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背景色块 1"/>
          <p:cNvSpPr/>
          <p:nvPr/>
        </p:nvSpPr>
        <p:spPr>
          <a:xfrm>
            <a:off x="251222" y="1153716"/>
            <a:ext cx="8641557" cy="45505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背景色块 2"/>
          <p:cNvSpPr/>
          <p:nvPr/>
        </p:nvSpPr>
        <p:spPr>
          <a:xfrm>
            <a:off x="515649" y="1379393"/>
            <a:ext cx="8112702" cy="40992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0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1" name="点缀线段"/>
          <p:cNvCxnSpPr/>
          <p:nvPr/>
        </p:nvCxnSpPr>
        <p:spPr>
          <a:xfrm>
            <a:off x="1357096" y="4101827"/>
            <a:ext cx="6429809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校徽组合"/>
          <p:cNvGrpSpPr/>
          <p:nvPr/>
        </p:nvGrpSpPr>
        <p:grpSpPr>
          <a:xfrm>
            <a:off x="3848620" y="1646615"/>
            <a:ext cx="1446762" cy="1446762"/>
            <a:chOff x="5369914" y="1058264"/>
            <a:chExt cx="1452171" cy="1452171"/>
          </a:xfrm>
        </p:grpSpPr>
        <p:sp>
          <p:nvSpPr>
            <p:cNvPr id="23" name="圆形色块"/>
            <p:cNvSpPr/>
            <p:nvPr/>
          </p:nvSpPr>
          <p:spPr>
            <a:xfrm>
              <a:off x="5369914" y="1058264"/>
              <a:ext cx="1452171" cy="14521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24" name="校徽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5523623" y="1212851"/>
              <a:ext cx="1144756" cy="1142998"/>
            </a:xfrm>
            <a:prstGeom prst="rect">
              <a:avLst/>
            </a:prstGeom>
          </p:spPr>
        </p:pic>
      </p:grpSp>
      <p:sp>
        <p:nvSpPr>
          <p:cNvPr id="14" name="主标题英文"/>
          <p:cNvSpPr txBox="1"/>
          <p:nvPr/>
        </p:nvSpPr>
        <p:spPr>
          <a:xfrm>
            <a:off x="1300480" y="4128135"/>
            <a:ext cx="6543675" cy="69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/>
            <a:r>
              <a:rPr lang="zh-CN" sz="36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文件系统</a:t>
            </a:r>
            <a:endParaRPr lang="zh-CN" sz="3600" b="1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主标题"/>
          <p:cNvSpPr txBox="1"/>
          <p:nvPr/>
        </p:nvSpPr>
        <p:spPr>
          <a:xfrm>
            <a:off x="515620" y="3436620"/>
            <a:ext cx="8042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sz="36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《计算机操作系统》第三次</a:t>
            </a:r>
            <a:r>
              <a:rPr lang="zh-CN" sz="36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实验课</a:t>
            </a:r>
            <a:endParaRPr lang="zh-CN" sz="3600" b="1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3175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实验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内容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9" name="直线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-1" y="3403045"/>
            <a:ext cx="9144900" cy="519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34290" tIns="17145" rIns="34290" bIns="17145" numCol="1" anchor="t" anchorCtr="0" compatLnSpc="1"/>
          <a:lstStyle/>
          <a:p>
            <a:pPr defTabSz="914400"/>
            <a:endParaRPr lang="en-US" sz="1350">
              <a:solidFill>
                <a:srgbClr val="233348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518426" y="3166546"/>
            <a:ext cx="301387" cy="413148"/>
            <a:chOff x="691235" y="3079061"/>
            <a:chExt cx="401849" cy="550864"/>
          </a:xfrm>
        </p:grpSpPr>
        <p:sp>
          <p:nvSpPr>
            <p:cNvPr id="40" name="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1235" y="3228076"/>
              <a:ext cx="401849" cy="401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1</a:t>
              </a:r>
              <a:endParaRPr 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" name="等腰三角形 1"/>
            <p:cNvSpPr/>
            <p:nvPr>
              <p:custDataLst>
                <p:tags r:id="rId6"/>
              </p:custDataLst>
            </p:nvPr>
          </p:nvSpPr>
          <p:spPr>
            <a:xfrm>
              <a:off x="805730" y="3079061"/>
              <a:ext cx="172858" cy="149015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7"/>
            </p:custDataLst>
          </p:nvPr>
        </p:nvGrpSpPr>
        <p:grpSpPr>
          <a:xfrm>
            <a:off x="2347349" y="3278307"/>
            <a:ext cx="301387" cy="413148"/>
            <a:chOff x="691235" y="3228076"/>
            <a:chExt cx="401849" cy="550864"/>
          </a:xfrm>
        </p:grpSpPr>
        <p:sp>
          <p:nvSpPr>
            <p:cNvPr id="47" name="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91235" y="3228076"/>
              <a:ext cx="401849" cy="401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2</a:t>
              </a:r>
              <a:endParaRPr 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8" name="等腰三角形 47"/>
            <p:cNvSpPr/>
            <p:nvPr>
              <p:custDataLst>
                <p:tags r:id="rId9"/>
              </p:custDataLst>
            </p:nvPr>
          </p:nvSpPr>
          <p:spPr>
            <a:xfrm flipV="1">
              <a:off x="805730" y="3629925"/>
              <a:ext cx="172858" cy="14901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0"/>
            </p:custDataLst>
          </p:nvPr>
        </p:nvGrpSpPr>
        <p:grpSpPr>
          <a:xfrm>
            <a:off x="4176272" y="3166546"/>
            <a:ext cx="301387" cy="413148"/>
            <a:chOff x="691235" y="3079061"/>
            <a:chExt cx="401849" cy="550864"/>
          </a:xfrm>
        </p:grpSpPr>
        <p:sp>
          <p:nvSpPr>
            <p:cNvPr id="54" name="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1235" y="3228076"/>
              <a:ext cx="401849" cy="401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3</a:t>
              </a:r>
              <a:endParaRPr 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5" name="等腰三角形 54"/>
            <p:cNvSpPr/>
            <p:nvPr>
              <p:custDataLst>
                <p:tags r:id="rId12"/>
              </p:custDataLst>
            </p:nvPr>
          </p:nvSpPr>
          <p:spPr>
            <a:xfrm>
              <a:off x="805730" y="3079061"/>
              <a:ext cx="172858" cy="149015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3"/>
            </p:custDataLst>
          </p:nvPr>
        </p:nvGrpSpPr>
        <p:grpSpPr>
          <a:xfrm>
            <a:off x="6005195" y="3278307"/>
            <a:ext cx="301387" cy="413148"/>
            <a:chOff x="691235" y="3228076"/>
            <a:chExt cx="401849" cy="550864"/>
          </a:xfrm>
        </p:grpSpPr>
        <p:sp>
          <p:nvSpPr>
            <p:cNvPr id="60" name="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91235" y="3228076"/>
              <a:ext cx="401849" cy="4018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4</a:t>
              </a:r>
              <a:endParaRPr 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1" name="等腰三角形 60"/>
            <p:cNvSpPr/>
            <p:nvPr>
              <p:custDataLst>
                <p:tags r:id="rId15"/>
              </p:custDataLst>
            </p:nvPr>
          </p:nvSpPr>
          <p:spPr>
            <a:xfrm flipV="1">
              <a:off x="805730" y="3629925"/>
              <a:ext cx="172858" cy="14901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2" name="组合"/>
          <p:cNvGrpSpPr/>
          <p:nvPr>
            <p:custDataLst>
              <p:tags r:id="rId16"/>
            </p:custDataLst>
          </p:nvPr>
        </p:nvGrpSpPr>
        <p:grpSpPr>
          <a:xfrm>
            <a:off x="251222" y="1650288"/>
            <a:ext cx="3036686" cy="1584294"/>
            <a:chOff x="1017554" y="2738043"/>
            <a:chExt cx="4048915" cy="2112393"/>
          </a:xfrm>
        </p:grpSpPr>
        <p:sp>
          <p:nvSpPr>
            <p:cNvPr id="63" name="建有4个国家级实验教学示范中心，2个国家级虚拟仿真实验教学示范中心，3个国家级人才培养模式创新实验区"/>
            <p:cNvSpPr txBox="1"/>
            <p:nvPr>
              <p:custDataLst>
                <p:tags r:id="rId17"/>
              </p:custDataLst>
            </p:nvPr>
          </p:nvSpPr>
          <p:spPr>
            <a:xfrm>
              <a:off x="1017554" y="3450049"/>
              <a:ext cx="4048915" cy="14003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30000"/>
                </a:lnSpc>
              </a:pPr>
              <a:r>
                <a:rPr lang="zh-CN" altLang="en-US" sz="2400" dirty="0">
                  <a:sym typeface="+mn-ea"/>
                </a:rPr>
                <a:t>为 </a:t>
              </a:r>
              <a:r>
                <a:rPr lang="en-US" altLang="zh-CN" sz="2400" dirty="0">
                  <a:sym typeface="+mn-ea"/>
                </a:rPr>
                <a:t>Ext4 </a:t>
              </a:r>
              <a:r>
                <a:rPr lang="zh-CN" altLang="en-US" sz="2400" dirty="0">
                  <a:sym typeface="+mn-ea"/>
                </a:rPr>
                <a:t>文件系统添加扩展属性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4" name="加强教育研究，教学成果丰硕"/>
            <p:cNvSpPr txBox="1"/>
            <p:nvPr>
              <p:custDataLst>
                <p:tags r:id="rId18"/>
              </p:custDataLst>
            </p:nvPr>
          </p:nvSpPr>
          <p:spPr>
            <a:xfrm>
              <a:off x="1017555" y="2738043"/>
              <a:ext cx="3834602" cy="6138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sz="24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任务一</a:t>
              </a:r>
              <a:endParaRPr lang="zh-CN" altLang="en-US" sz="2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65" name="点缀线段"/>
            <p:cNvCxnSpPr/>
            <p:nvPr>
              <p:custDataLst>
                <p:tags r:id="rId19"/>
              </p:custDataLst>
            </p:nvPr>
          </p:nvCxnSpPr>
          <p:spPr>
            <a:xfrm>
              <a:off x="1062194" y="3367296"/>
              <a:ext cx="3789963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"/>
          <p:cNvGrpSpPr/>
          <p:nvPr>
            <p:custDataLst>
              <p:tags r:id="rId20"/>
            </p:custDataLst>
          </p:nvPr>
        </p:nvGrpSpPr>
        <p:grpSpPr>
          <a:xfrm>
            <a:off x="1547807" y="3753428"/>
            <a:ext cx="3036686" cy="1572229"/>
            <a:chOff x="1017554" y="2754130"/>
            <a:chExt cx="4048915" cy="2096306"/>
          </a:xfrm>
        </p:grpSpPr>
        <p:sp>
          <p:nvSpPr>
            <p:cNvPr id="67" name="是欧盟QB50项目（注： 欧盟大气层探测计划）亚洲区唯一发起单位与亚洲区总协调单位，建有该项目亚洲区最大卫星测控地面站"/>
            <p:cNvSpPr txBox="1"/>
            <p:nvPr>
              <p:custDataLst>
                <p:tags r:id="rId21"/>
              </p:custDataLst>
            </p:nvPr>
          </p:nvSpPr>
          <p:spPr>
            <a:xfrm>
              <a:off x="1017554" y="3450049"/>
              <a:ext cx="4048915" cy="14003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30000"/>
                </a:lnSpc>
              </a:pPr>
              <a:r>
                <a:rPr lang="zh-CN" altLang="en-US" sz="2400" dirty="0">
                  <a:sym typeface="+mn-ea"/>
                </a:rPr>
                <a:t>注册一个自定义的文件系统类型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8" name="加强教育研究，教学成果丰硕"/>
            <p:cNvSpPr txBox="1"/>
            <p:nvPr>
              <p:custDataLst>
                <p:tags r:id="rId22"/>
              </p:custDataLst>
            </p:nvPr>
          </p:nvSpPr>
          <p:spPr>
            <a:xfrm>
              <a:off x="1017555" y="2754130"/>
              <a:ext cx="3834602" cy="6138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sz="24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任务二</a:t>
              </a:r>
              <a:endParaRPr lang="zh-CN" altLang="en-US" sz="2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69" name="点缀线段"/>
            <p:cNvCxnSpPr/>
            <p:nvPr>
              <p:custDataLst>
                <p:tags r:id="rId23"/>
              </p:custDataLst>
            </p:nvPr>
          </p:nvCxnSpPr>
          <p:spPr>
            <a:xfrm>
              <a:off x="1062194" y="3367296"/>
              <a:ext cx="3789963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"/>
          <p:cNvGrpSpPr/>
          <p:nvPr>
            <p:custDataLst>
              <p:tags r:id="rId24"/>
            </p:custDataLst>
          </p:nvPr>
        </p:nvGrpSpPr>
        <p:grpSpPr>
          <a:xfrm>
            <a:off x="5219842" y="3716598"/>
            <a:ext cx="3036686" cy="1572864"/>
            <a:chOff x="1017554" y="2753283"/>
            <a:chExt cx="4048915" cy="2097153"/>
          </a:xfrm>
        </p:grpSpPr>
        <p:sp>
          <p:nvSpPr>
            <p:cNvPr id="71" name="2009年获国家教学成果一等奖1项、二等奖8项，居全国高校第7名；2014年获一等奖2项、二等奖4项，居全国高校第6名"/>
            <p:cNvSpPr txBox="1"/>
            <p:nvPr>
              <p:custDataLst>
                <p:tags r:id="rId25"/>
              </p:custDataLst>
            </p:nvPr>
          </p:nvSpPr>
          <p:spPr>
            <a:xfrm>
              <a:off x="1017554" y="3450049"/>
              <a:ext cx="4048915" cy="14003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30000"/>
                </a:lnSpc>
              </a:pPr>
              <a:r>
                <a:rPr lang="zh-CN" altLang="en-US" sz="2400" dirty="0">
                  <a:sym typeface="+mn-ea"/>
                </a:rPr>
                <a:t>使用 </a:t>
              </a:r>
              <a:r>
                <a:rPr lang="en-US" altLang="zh-CN" sz="2400" dirty="0" err="1">
                  <a:sym typeface="+mn-ea"/>
                </a:rPr>
                <a:t>sysfs</a:t>
              </a:r>
              <a:r>
                <a:rPr lang="en-US" altLang="zh-CN" sz="2400" dirty="0">
                  <a:sym typeface="+mn-ea"/>
                </a:rPr>
                <a:t> </a:t>
              </a:r>
              <a:r>
                <a:rPr lang="zh-CN" altLang="en-US" sz="2400" dirty="0">
                  <a:sym typeface="+mn-ea"/>
                </a:rPr>
                <a:t>文件系统传递内核模块参数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2" name="加强教育研究，教学成果丰硕"/>
            <p:cNvSpPr txBox="1"/>
            <p:nvPr>
              <p:custDataLst>
                <p:tags r:id="rId26"/>
              </p:custDataLst>
            </p:nvPr>
          </p:nvSpPr>
          <p:spPr>
            <a:xfrm>
              <a:off x="1017555" y="2753283"/>
              <a:ext cx="3834602" cy="6138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sz="24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任务四</a:t>
              </a:r>
              <a:endParaRPr lang="zh-CN" altLang="en-US" sz="2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73" name="点缀线段"/>
            <p:cNvCxnSpPr/>
            <p:nvPr>
              <p:custDataLst>
                <p:tags r:id="rId27"/>
              </p:custDataLst>
            </p:nvPr>
          </p:nvCxnSpPr>
          <p:spPr>
            <a:xfrm>
              <a:off x="1062194" y="3367296"/>
              <a:ext cx="3789963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"/>
          <p:cNvGrpSpPr/>
          <p:nvPr>
            <p:custDataLst>
              <p:tags r:id="rId28"/>
            </p:custDataLst>
          </p:nvPr>
        </p:nvGrpSpPr>
        <p:grpSpPr>
          <a:xfrm>
            <a:off x="3923893" y="1652828"/>
            <a:ext cx="3050655" cy="1099154"/>
            <a:chOff x="998928" y="2745663"/>
            <a:chExt cx="4067541" cy="1465540"/>
          </a:xfrm>
        </p:grpSpPr>
        <p:sp>
          <p:nvSpPr>
            <p:cNvPr id="78" name="在每四年评选一次、代表全国教育教学最高荣誉的国家级教学成果奖评选中，学校屡获佳绩"/>
            <p:cNvSpPr txBox="1"/>
            <p:nvPr>
              <p:custDataLst>
                <p:tags r:id="rId29"/>
              </p:custDataLst>
            </p:nvPr>
          </p:nvSpPr>
          <p:spPr>
            <a:xfrm>
              <a:off x="1017554" y="3450049"/>
              <a:ext cx="4048915" cy="7611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30000"/>
                </a:lnSpc>
              </a:pPr>
              <a:r>
                <a:rPr lang="zh-CN" altLang="en-US" sz="2400" dirty="0">
                  <a:sym typeface="+mn-ea"/>
                </a:rPr>
                <a:t>在 </a:t>
              </a:r>
              <a:r>
                <a:rPr lang="en-US" altLang="zh-CN" sz="2400" dirty="0">
                  <a:sym typeface="+mn-ea"/>
                </a:rPr>
                <a:t>/proc</a:t>
              </a:r>
              <a:r>
                <a:rPr lang="zh-CN" altLang="en-US" sz="2400" dirty="0">
                  <a:sym typeface="+mn-ea"/>
                </a:rPr>
                <a:t>下创建目录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9" name="加强教育研究，教学成果丰硕"/>
            <p:cNvSpPr txBox="1"/>
            <p:nvPr>
              <p:custDataLst>
                <p:tags r:id="rId30"/>
              </p:custDataLst>
            </p:nvPr>
          </p:nvSpPr>
          <p:spPr>
            <a:xfrm>
              <a:off x="998928" y="2745663"/>
              <a:ext cx="3834602" cy="61383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sz="2400" b="1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任务三</a:t>
              </a:r>
              <a:endParaRPr lang="zh-CN" altLang="en-US" sz="2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80" name="点缀线段"/>
            <p:cNvCxnSpPr/>
            <p:nvPr>
              <p:custDataLst>
                <p:tags r:id="rId31"/>
              </p:custDataLst>
            </p:nvPr>
          </p:nvCxnSpPr>
          <p:spPr>
            <a:xfrm>
              <a:off x="1062194" y="3367296"/>
              <a:ext cx="3789963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文件系统添加扩展属性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内容占位符 1"/>
          <p:cNvSpPr>
            <a:spLocks noGrp="1"/>
          </p:cNvSpPr>
          <p:nvPr/>
        </p:nvSpPr>
        <p:spPr>
          <a:xfrm>
            <a:off x="107950" y="1043305"/>
            <a:ext cx="8937625" cy="5765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文件扩展属性</a:t>
            </a:r>
            <a:r>
              <a:rPr lang="en-US" altLang="zh-CN" dirty="0"/>
              <a:t>EA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功能：</a:t>
            </a:r>
            <a:b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将 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key-value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键值对永久地关联到文件；让现有的文件系统得以支持在原始设计中未提供的功能。</a:t>
            </a:r>
            <a:endParaRPr lang="en-US" altLang="zh-CN" sz="24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给文件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文件夹添加额外的 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key-value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的键值对时，键和值都是字符串并且有一定长度的限制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定义于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include/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uapi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limits.h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文件中。</a:t>
            </a:r>
            <a:endParaRPr lang="zh-CN" altLang="en-US" dirty="0"/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01" y="4004811"/>
            <a:ext cx="7920000" cy="6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文件系统添加扩展属性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内容占位符 1"/>
          <p:cNvSpPr>
            <a:spLocks noGrp="1"/>
          </p:cNvSpPr>
          <p:nvPr/>
        </p:nvSpPr>
        <p:spPr>
          <a:xfrm>
            <a:off x="107950" y="1043305"/>
            <a:ext cx="8937625" cy="5765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r>
              <a:rPr lang="zh-CN" altLang="en-US" dirty="0"/>
              <a:t>扩展属性名称空间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扩展属性名称的格式是 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namespace.attribute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，名称空间 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namespace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是用来定义不同的扩展属性的类。目前有 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security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system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trusted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user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四种扩展属性类。</a:t>
            </a:r>
            <a:endParaRPr lang="en-US" altLang="zh-CN" sz="24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对于 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ext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文件系统，为了能使用扩展用户属性，要求文件系统挂载时有 </a:t>
            </a:r>
            <a:r>
              <a:rPr lang="en-US" altLang="zh-CN" sz="24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user_xattr</a:t>
            </a:r>
            <a:r>
              <a:rPr lang="en-US" altLang="zh-CN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kern="1200" dirty="0">
                <a:solidFill>
                  <a:srgbClr val="111111"/>
                </a:solidFill>
                <a:ea typeface="宋体" panose="02010600030101010101" pitchFamily="2" charset="-122"/>
              </a:rPr>
              <a:t>选项。</a:t>
            </a:r>
            <a:endParaRPr lang="zh-CN" altLang="en-US" sz="24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endParaRPr lang="zh-CN" altLang="en-US" sz="24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文件系统添加扩展属性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950" y="981075"/>
            <a:ext cx="8890635" cy="5765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 err="1"/>
              <a:t>setfattr</a:t>
            </a:r>
            <a:r>
              <a:rPr lang="zh-CN" altLang="en-US" dirty="0"/>
              <a:t>命令：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功能：设置文件系统对象的扩展属性（无文件系统限制）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语法：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参数说明：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-n name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：指定属性名称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-v value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：设置属性值。可以使用三种方法对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value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进行编码：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）如果给定的字符串用双引号引起来，其中的反斜线和双引号需转义。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任何控制字符都可以编码为“反斜杠后跟三个数字”作为八进制的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ASCII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码。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）如果给定的字符串以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开头，则表示一个十六进制数。 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3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）如果给定的字符串以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0s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开头，则需要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base64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编码。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-x name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：删除属性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--version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：打印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setfattr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的版本并退出。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--help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：打印帮助以解释命令行选项。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dirty="0"/>
          </a:p>
        </p:txBody>
      </p:sp>
      <p:sp>
        <p:nvSpPr>
          <p:cNvPr id="6" name="矩形: 圆角 5"/>
          <p:cNvSpPr/>
          <p:nvPr/>
        </p:nvSpPr>
        <p:spPr bwMode="auto">
          <a:xfrm>
            <a:off x="971719" y="2204606"/>
            <a:ext cx="6120058" cy="715089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setfattr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-n name [-v value] pathname...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setfattr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-x name pathname...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文件系统添加扩展属性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865870" cy="570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 err="1"/>
              <a:t>getfattr</a:t>
            </a:r>
            <a:r>
              <a:rPr lang="zh-CN" altLang="en-US" dirty="0"/>
              <a:t>命令：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功能：获取文件系统对象的扩展属性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语法：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参数说明：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-n name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：显示指定名称的属性。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-d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：显示所有属性的值。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-e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en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：在提取属性之后进行编码，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en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的值为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text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hex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base64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。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en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= “text”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时，编码为文本的字符串的值用双引号（“）引起来；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en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= ”hex“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时，编码为十六进制的字符串以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0x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为前缀；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3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en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= ”base64“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时，编码为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base64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的字符串以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0s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为前缀。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-m pattern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：正则表达式匹配的属性显示。默认匹配为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‘^user\\.’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即匹配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user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名称空间的属性，可以指定为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'-'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或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'.'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匹配所有属性。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dirty="0"/>
          </a:p>
        </p:txBody>
      </p:sp>
      <p:sp>
        <p:nvSpPr>
          <p:cNvPr id="6" name="矩形: 圆角 5"/>
          <p:cNvSpPr/>
          <p:nvPr/>
        </p:nvSpPr>
        <p:spPr bwMode="auto">
          <a:xfrm>
            <a:off x="899329" y="2204606"/>
            <a:ext cx="7560840" cy="715089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de-DE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getfattr -n name [-e en] pathname...</a:t>
            </a:r>
            <a:endParaRPr lang="de-DE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algn="l"/>
            <a:r>
              <a:rPr lang="de-DE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getfattr -d [-e en] [-m pattern] pathname...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文件系统添加扩展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930005" cy="25171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任务描述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熟悉文件系统扩展属性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EA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，查看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当前文件系统是否支持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EA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使用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setfattr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设置文件系统的用户扩展属性，并设置文本、八进制数、十六进制数与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base64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编码这四种属性值。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使用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getfattr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获取文件系统的用户扩展属性，并在获取属性之后进行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text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hex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base64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这三种编码设置。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分析总结上述实验过程。</a:t>
            </a:r>
            <a:endParaRPr lang="zh-CN" altLang="en-US" dirty="0"/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106680" y="4725035"/>
            <a:ext cx="8930640" cy="2030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实验准备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为了使用扩展属性，需要安装 libattr：</a:t>
            </a:r>
            <a:endParaRPr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sz="1800" kern="1200">
                <a:solidFill>
                  <a:srgbClr val="111111"/>
                </a:solidFill>
                <a:ea typeface="宋体" panose="02010600030101010101" pitchFamily="2" charset="-122"/>
              </a:rPr>
              <a:t>查看当前文件系统类型</a:t>
            </a:r>
            <a:endParaRPr sz="1800" kern="120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dirty="0"/>
          </a:p>
        </p:txBody>
      </p:sp>
      <p:sp>
        <p:nvSpPr>
          <p:cNvPr id="6" name="矩形: 圆角 5"/>
          <p:cNvSpPr/>
          <p:nvPr/>
        </p:nvSpPr>
        <p:spPr bwMode="auto">
          <a:xfrm>
            <a:off x="899081" y="5517277"/>
            <a:ext cx="3600000" cy="408623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dnf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install -y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libattr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899306" y="6165500"/>
            <a:ext cx="1800000" cy="408623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df -Th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内容占位符 1"/>
          <p:cNvSpPr txBox="1"/>
          <p:nvPr/>
        </p:nvSpPr>
        <p:spPr bwMode="auto">
          <a:xfrm>
            <a:off x="179705" y="3429000"/>
            <a:ext cx="8856980" cy="12242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审核要求</a:t>
            </a:r>
            <a:endParaRPr lang="en-US" altLang="zh-CN" kern="0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正确使用</a:t>
            </a:r>
            <a:r>
              <a:rPr lang="en-US" altLang="zh-CN" sz="1800" dirty="0" err="1">
                <a:solidFill>
                  <a:srgbClr val="111111"/>
                </a:solidFill>
                <a:ea typeface="宋体" panose="02010600030101010101" pitchFamily="2" charset="-122"/>
              </a:rPr>
              <a:t>setfattr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设置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</a:rPr>
              <a:t>EA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，正确使用</a:t>
            </a:r>
            <a:r>
              <a:rPr lang="en-US" altLang="zh-CN" sz="1800" dirty="0" err="1">
                <a:solidFill>
                  <a:srgbClr val="111111"/>
                </a:solidFill>
                <a:ea typeface="宋体" panose="02010600030101010101" pitchFamily="2" charset="-122"/>
              </a:rPr>
              <a:t>getfattr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获取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</a:rPr>
              <a:t>EA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提交命令行的操作过程截图，以及实验分析总结。</a:t>
            </a:r>
            <a:endParaRPr lang="zh-CN" altLang="en-US" kern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任务一：为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Ext4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文件系统添加扩展属性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内容占位符 1"/>
          <p:cNvSpPr>
            <a:spLocks noGrp="1"/>
          </p:cNvSpPr>
          <p:nvPr/>
        </p:nvSpPr>
        <p:spPr>
          <a:xfrm>
            <a:off x="107315" y="970280"/>
            <a:ext cx="8930640" cy="5770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实验准备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检查当前文件系统是否支持文件扩展属性</a:t>
            </a:r>
            <a:endParaRPr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）用 </a:t>
            </a:r>
            <a:r>
              <a:rPr lang="en-US" altLang="zh-CN" sz="1800" dirty="0" err="1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fdisk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 -l 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查看硬盘及分区信息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）在 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ext3 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和 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ext4 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文件系统上，可通过命令 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tune2fs -l 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来检查是否支持扩展属性：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sz="1800" kern="120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dirty="0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039" y="2133231"/>
            <a:ext cx="5760000" cy="189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47" y="4437658"/>
            <a:ext cx="4320000" cy="2257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任务二：注册一个自定义的文件系统类型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36355" cy="5716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内核模块编程</a:t>
            </a:r>
            <a:endParaRPr lang="zh-CN" altLang="en-US" dirty="0"/>
          </a:p>
          <a:p>
            <a:r>
              <a:rPr lang="zh-CN" altLang="en-US" dirty="0"/>
              <a:t>源码编写</a:t>
            </a:r>
            <a:r>
              <a:rPr lang="en-US" altLang="zh-CN" dirty="0"/>
              <a:t>—— .c</a:t>
            </a:r>
            <a:r>
              <a:rPr lang="zh-CN" altLang="en-US" dirty="0"/>
              <a:t>源文件</a:t>
            </a:r>
            <a:endParaRPr lang="zh-CN" altLang="en-US" dirty="0"/>
          </a:p>
          <a:p>
            <a:r>
              <a:rPr lang="en-US" altLang="zh-CN" dirty="0" err="1"/>
              <a:t>Makefile</a:t>
            </a:r>
            <a:r>
              <a:rPr lang="zh-CN" altLang="en-US" dirty="0"/>
              <a:t>文件编写</a:t>
            </a:r>
            <a:endParaRPr lang="zh-CN" altLang="en-US" dirty="0"/>
          </a:p>
          <a:p>
            <a:r>
              <a:rPr lang="zh-CN" altLang="en-US" dirty="0"/>
              <a:t>编译模块</a:t>
            </a:r>
            <a:r>
              <a:rPr lang="en-US" altLang="zh-CN" dirty="0"/>
              <a:t>——make</a:t>
            </a:r>
            <a:endParaRPr lang="en-US" altLang="zh-CN" dirty="0"/>
          </a:p>
          <a:p>
            <a:r>
              <a:rPr lang="zh-CN" altLang="en-US" dirty="0"/>
              <a:t>模块加载进内核</a:t>
            </a:r>
            <a:r>
              <a:rPr lang="en-US" altLang="zh-CN" dirty="0"/>
              <a:t>——</a:t>
            </a:r>
            <a:r>
              <a:rPr lang="en-US" altLang="zh-CN" dirty="0" err="1"/>
              <a:t>insmod</a:t>
            </a:r>
            <a:endParaRPr lang="en-US" altLang="zh-CN" dirty="0"/>
          </a:p>
          <a:p>
            <a:r>
              <a:rPr lang="zh-CN" altLang="en-US" dirty="0"/>
              <a:t>查看加载的内容</a:t>
            </a:r>
            <a:r>
              <a:rPr lang="en-US" altLang="zh-CN" dirty="0"/>
              <a:t>——</a:t>
            </a:r>
            <a:r>
              <a:rPr lang="en-US" altLang="zh-CN" dirty="0" err="1"/>
              <a:t>dmesg</a:t>
            </a:r>
            <a:endParaRPr lang="en-US" altLang="zh-CN" dirty="0"/>
          </a:p>
          <a:p>
            <a:r>
              <a:rPr lang="zh-CN" altLang="en-US" dirty="0"/>
              <a:t>查看内核模块</a:t>
            </a:r>
            <a:r>
              <a:rPr lang="en-US" altLang="zh-CN" dirty="0"/>
              <a:t>——</a:t>
            </a:r>
            <a:r>
              <a:rPr lang="en-US" altLang="zh-CN" dirty="0" err="1"/>
              <a:t>lsmod</a:t>
            </a:r>
            <a:endParaRPr lang="en-US" altLang="zh-CN" dirty="0"/>
          </a:p>
          <a:p>
            <a:r>
              <a:rPr lang="zh-CN" altLang="en-US" dirty="0"/>
              <a:t>卸载内核模块</a:t>
            </a:r>
            <a:r>
              <a:rPr lang="en-US" altLang="zh-CN" dirty="0"/>
              <a:t>——</a:t>
            </a:r>
            <a:r>
              <a:rPr lang="en-US" altLang="zh-CN" dirty="0" err="1"/>
              <a:t>rmmod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任务二：注册一个自定义的文件系统类型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918575" cy="57645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注册函数 </a:t>
            </a:r>
            <a:r>
              <a:rPr lang="en-US" altLang="zh-CN" dirty="0" err="1"/>
              <a:t>register_filesystem</a:t>
            </a:r>
            <a:r>
              <a:rPr lang="en-US" altLang="zh-CN" dirty="0"/>
              <a:t>()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注销函数</a:t>
            </a:r>
            <a:r>
              <a:rPr lang="en-US" altLang="zh-CN" dirty="0" err="1"/>
              <a:t>unregister_filesystem</a:t>
            </a:r>
            <a:r>
              <a:rPr lang="en-US" altLang="zh-CN" dirty="0"/>
              <a:t>()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头文件：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fs.h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&gt;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函数原型：两个函数的原型分别为：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返回值：函数执行成功时，返回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；否则，返回一个错误值。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参数说明：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每个注册的文件系统都用一个类型为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file_system_type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的对象来表示。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其结构体定义在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fs.h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&gt;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文件中。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例如：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ext4fs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文件系统对该结构体的填充：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一般文件系统的实现，实现这几个字段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即可；其它的由内核利用或者填充。</a:t>
            </a:r>
            <a:endParaRPr lang="zh-CN" altLang="en-US" dirty="0"/>
          </a:p>
        </p:txBody>
      </p:sp>
      <p:pic>
        <p:nvPicPr>
          <p:cNvPr id="81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117" y="5443701"/>
            <a:ext cx="3816000" cy="1301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: 圆角 8"/>
          <p:cNvSpPr/>
          <p:nvPr/>
        </p:nvSpPr>
        <p:spPr bwMode="auto">
          <a:xfrm>
            <a:off x="971853" y="2996947"/>
            <a:ext cx="7488832" cy="715089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register_filesystem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(struct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file_system_type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*)</a:t>
            </a:r>
            <a:r>
              <a:rPr lang="zh-CN" altLang="en-US" sz="1800" dirty="0">
                <a:solidFill>
                  <a:srgbClr val="FFFFFF"/>
                </a:solidFill>
                <a:latin typeface="Consolas" panose="020B0609020204030204" pitchFamily="49" charset="0"/>
              </a:rPr>
              <a:t>；</a:t>
            </a:r>
            <a:endParaRPr lang="zh-CN" altLang="en-US" sz="1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unregister_filesystem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(struct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file_system_type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* )</a:t>
            </a:r>
            <a:r>
              <a:rPr lang="zh-CN" altLang="en-US" sz="1800" dirty="0">
                <a:solidFill>
                  <a:srgbClr val="FFFFFF"/>
                </a:solidFill>
                <a:latin typeface="Consolas" panose="020B0609020204030204" pitchFamily="49" charset="0"/>
              </a:rPr>
              <a:t>；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任务二：注册一个自定义的文件系统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类型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07145" cy="1491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任务描述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使用文件系统注册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注销函数，注册一个自定义文件系统类型；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加载模块后，查看系统中是否存在注册的文件系统类型。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加载、卸载模块并查看模块打印信息。</a:t>
            </a:r>
            <a:endParaRPr lang="zh-CN" altLang="en-US" dirty="0"/>
          </a:p>
        </p:txBody>
      </p:sp>
      <p:sp>
        <p:nvSpPr>
          <p:cNvPr id="5" name="内容占位符 1"/>
          <p:cNvSpPr txBox="1"/>
          <p:nvPr/>
        </p:nvSpPr>
        <p:spPr bwMode="auto">
          <a:xfrm>
            <a:off x="107315" y="4398010"/>
            <a:ext cx="8907780" cy="1508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审核要求</a:t>
            </a:r>
            <a:endParaRPr lang="en-US" altLang="zh-CN" kern="0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正确编写满足功能的源文件，正确编译。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正常加载、卸载内核模块；且内核模块功能满足任务所述。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提交相关源码与运行截图。</a:t>
            </a:r>
            <a:endParaRPr lang="zh-CN" altLang="en-US" kern="0" dirty="0"/>
          </a:p>
        </p:txBody>
      </p:sp>
      <p:sp>
        <p:nvSpPr>
          <p:cNvPr id="6" name="内容占位符 1"/>
          <p:cNvSpPr>
            <a:spLocks noGrp="1"/>
          </p:cNvSpPr>
          <p:nvPr/>
        </p:nvSpPr>
        <p:spPr>
          <a:xfrm>
            <a:off x="107315" y="2715895"/>
            <a:ext cx="8448675" cy="1682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实验</a:t>
            </a:r>
            <a:r>
              <a:rPr lang="zh-CN" altLang="en-US" dirty="0"/>
              <a:t>准备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ym typeface="+mn-ea"/>
              </a:rPr>
              <a:t>查看系统中已经注册的文件系统类型</a:t>
            </a:r>
            <a:endParaRPr lang="zh-CN" altLang="en-US" sz="1800" dirty="0">
              <a:sym typeface="+mn-ea"/>
            </a:endParaRPr>
          </a:p>
          <a:p>
            <a:pPr marL="457200" lvl="1" indent="45720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语法：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7" name="矩形: 圆角 8"/>
          <p:cNvSpPr/>
          <p:nvPr/>
        </p:nvSpPr>
        <p:spPr bwMode="auto">
          <a:xfrm>
            <a:off x="1114781" y="3861693"/>
            <a:ext cx="3600000" cy="408623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cat /proc/filesystems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任务三：在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/proc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下创建目录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13495" cy="540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基本概念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系统上的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目录是一种文件系统，即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proc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文件系统；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是一种伪文件系统（也即虚拟文件系统）；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存储的是当前内核运行状态的一系列特殊文件，用户可以通过这些文件查看有关系统硬件（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scsi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）及当前正在运行进程的信息（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/proc/PIDs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），甚至可以通过更改其中某些文件来改变内核的运行状态。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任务三：在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/proc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下创建目录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854440" cy="577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dirty="0" err="1"/>
              <a:t>proc_mkdir</a:t>
            </a:r>
            <a:r>
              <a:rPr lang="en-US" altLang="zh-CN" dirty="0"/>
              <a:t>()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功能：用于在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目录中添加一个目录。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头文件：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proc_fs.h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函数原型为：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参数说明：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name	    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建立的目录的名称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parent	    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父目录指针。如果为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NULL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，则在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目录下建立。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返回值：成功时返回创建的目录的指针；失败时返回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NULL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说明：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proc_dir_entry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结构体的定义可参看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fs/proc/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internal.h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         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使用时添加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proc_fs.h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即可。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: 圆角 3"/>
          <p:cNvSpPr/>
          <p:nvPr/>
        </p:nvSpPr>
        <p:spPr bwMode="auto">
          <a:xfrm>
            <a:off x="971402" y="2925051"/>
            <a:ext cx="7632848" cy="715089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static inline struct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proc_dir_entry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*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proc_mkdir</a:t>
            </a:r>
            <a:b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(const char *name, struct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proc_dir_entry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*parent)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任务三：在</a:t>
              </a:r>
              <a:r>
                <a:rPr lang="en-US" altLang="zh-CN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/proc </a:t>
              </a:r>
              <a:r>
                <a:rPr lang="zh-CN" altLang="en-US" sz="2400" b="1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下创建目录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09050" cy="5716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dirty="0" err="1"/>
              <a:t>proc_remove</a:t>
            </a:r>
            <a:r>
              <a:rPr lang="en-US" altLang="zh-CN" dirty="0"/>
              <a:t>()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功能：用于移除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目录下的一个目录及其子目录。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头文件：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linux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proc_fs.h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函数原型为：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参数为要删除的目录的指针（即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proc_mkdir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()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函数的返回值）。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: 圆角 3"/>
          <p:cNvSpPr/>
          <p:nvPr/>
        </p:nvSpPr>
        <p:spPr bwMode="auto">
          <a:xfrm>
            <a:off x="877422" y="3069196"/>
            <a:ext cx="7632848" cy="408623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static inline void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proc_remove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(struct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proc_dir_entry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 *de)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03300" y="114271"/>
              <a:ext cx="8217902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任务三：在</a:t>
              </a:r>
              <a:r>
                <a:rPr lang="en-US" altLang="zh-CN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 /proc 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下创建</a:t>
              </a: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目录</a:t>
              </a:r>
              <a:endPara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907780" cy="1547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任务描述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编写一个模块，在加载模块时，在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目录下创建一个名称为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myproc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的目录；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加载模块后，查看系统中是否在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/proc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目录下成功创建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myproc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加载、卸载模块并查看模块打印信息。</a:t>
            </a:r>
            <a:endParaRPr lang="zh-CN" altLang="en-US" dirty="0"/>
          </a:p>
        </p:txBody>
      </p:sp>
      <p:sp>
        <p:nvSpPr>
          <p:cNvPr id="8" name="内容占位符 1"/>
          <p:cNvSpPr txBox="1"/>
          <p:nvPr/>
        </p:nvSpPr>
        <p:spPr bwMode="auto">
          <a:xfrm>
            <a:off x="107315" y="2564765"/>
            <a:ext cx="891286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审核要求</a:t>
            </a:r>
            <a:endParaRPr lang="en-US" altLang="zh-CN" kern="0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正确编写满足功能的源文件，正确编译。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正常加载、卸载内核模块；且内核模块功能满足任务所述。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提交相关源码与运行截图。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868410" cy="3827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dirty="0" err="1"/>
              <a:t>sysfs</a:t>
            </a:r>
            <a:r>
              <a:rPr lang="zh-CN" altLang="en-US" dirty="0"/>
              <a:t>文件系统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内核模块传递参数的方法：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）通过命令行在加载模块时传递参数，如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insmod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hello.ko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param=0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；</a:t>
            </a:r>
            <a:b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</a:b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）在加载模块后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模块运行时，通过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sysfs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文件系统来设置或读取模块数据。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sysfs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是一个基于内存的虚拟文件系统，可以看成与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proc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devfs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同类别的文件系统；它的作用是将内核信息以文件的方式提供给用户程序使用。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sysfs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文件系统要求总是被挂载在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/sys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挂载点上；与内核模块信息相关的文件，则位于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/sys/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modul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目录下，每个模块对应一个目录名。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2" name="基础扎实 / Strong Preparation"/>
          <p:cNvSpPr txBox="1"/>
          <p:nvPr/>
        </p:nvSpPr>
        <p:spPr>
          <a:xfrm>
            <a:off x="770890" y="404494"/>
            <a:ext cx="6546850" cy="41973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algn="just">
              <a:buClr>
                <a:prstClr val="white"/>
              </a:buClr>
            </a:pP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任务四：</a:t>
            </a:r>
            <a:r>
              <a:rPr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使用 sysfs 文件系统传递内核模块参数</a:t>
            </a:r>
            <a:endParaRPr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18575" cy="5735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dirty="0" err="1"/>
              <a:t>module_param</a:t>
            </a:r>
            <a:r>
              <a:rPr lang="zh-CN" altLang="en-US" dirty="0"/>
              <a:t>宏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对于模块而言，声明为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static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的变量都可以通过命令行来设置，但要想在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sysfs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下可见，必须通过宏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module_param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来显式声明。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module_param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宏有三个参数：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第一个为参数名，即已经定义的变量名；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第二个参数则为变量类型，可用的类型有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byte, short,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ushort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, int,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uint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, long,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ulong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charp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bool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或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invbool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，分别对应于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c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语言类型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char, short, unsigned short, int, unsigned int, long, unsigned long, char *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int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，用户也可以自定义类型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XXX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（如果用户自己定义了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param_get_XXX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param_set_XXX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param_check_XXX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第三个参数用于指定访问权限，如果为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，该参数将不出现在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sysfs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文件系统中；允许的访问权限为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S_IRUSR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S_IWUSR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S_IRGRP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S_IWGRP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S_IROTH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S_IWOTH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的组合，它们分别对应于用户读，用户写，用户组读，用户组写，其他用户读和其他用户写。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827430" y="5445219"/>
            <a:ext cx="8280920" cy="715089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module_param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(test, int, S_IRUSR | S_IWUSR | S_IRGRP | S_IROTH);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MODULE_PARM_DESC(test, "An visible int under 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sysfs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");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基础扎实 / Strong Preparation"/>
          <p:cNvSpPr txBox="1"/>
          <p:nvPr/>
        </p:nvSpPr>
        <p:spPr>
          <a:xfrm>
            <a:off x="770890" y="404494"/>
            <a:ext cx="6546850" cy="41973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algn="just">
              <a:buClr>
                <a:prstClr val="white"/>
              </a:buClr>
            </a:pP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任务四：</a:t>
            </a:r>
            <a:r>
              <a:rPr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使用 sysfs 文件系统传递内核模块参数</a:t>
            </a:r>
            <a:endParaRPr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/>
          <p:cNvSpPr>
            <a:spLocks noGrp="1"/>
          </p:cNvSpPr>
          <p:nvPr/>
        </p:nvSpPr>
        <p:spPr>
          <a:xfrm>
            <a:off x="107315" y="981075"/>
            <a:ext cx="8912860" cy="5744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dirty="0"/>
              <a:t>传递内核模块</a:t>
            </a:r>
            <a:r>
              <a:rPr lang="zh-CN" altLang="en-US" dirty="0"/>
              <a:t>参数使用说明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当模块加载后，可通过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/sys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目录与模块进行交互，通常的做法是使用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echo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向内核传递参数。例如：</a:t>
            </a: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说明：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用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echo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传递字符串时，使用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-n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选项；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指定传递参数时，在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/sys/module/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目录下找到自定义的模块名（如此处示例的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module_exam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），模块名目录下的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parameters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目录，即为该模块的参数列表，选定需要传递的参数名即可（如此处示例的参数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test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）；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必须使用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su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切换到 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root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模式下，使用 </a:t>
            </a:r>
            <a:r>
              <a:rPr lang="en-US" altLang="zh-CN" sz="1800" kern="1200" dirty="0" err="1">
                <a:solidFill>
                  <a:srgbClr val="111111"/>
                </a:solidFill>
                <a:ea typeface="宋体" panose="02010600030101010101" pitchFamily="2" charset="-122"/>
              </a:rPr>
              <a:t>sudo</a:t>
            </a:r>
            <a:r>
              <a:rPr lang="en-US" altLang="zh-CN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kern="1200" dirty="0">
                <a:solidFill>
                  <a:srgbClr val="111111"/>
                </a:solidFill>
                <a:ea typeface="宋体" panose="02010600030101010101" pitchFamily="2" charset="-122"/>
              </a:rPr>
              <a:t>命令会出现权限受限的问题。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863080" y="2277031"/>
            <a:ext cx="8280920" cy="408623"/>
          </a:xfrm>
          <a:prstGeom prst="roundRect">
            <a:avLst/>
          </a:prstGeom>
          <a:solidFill>
            <a:srgbClr val="3333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p>
            <a:pPr algn="l"/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echo -n 'example' &gt; /sys/module/</a:t>
            </a:r>
            <a:r>
              <a:rPr lang="en-US" altLang="zh-CN" sz="1800" dirty="0" err="1">
                <a:solidFill>
                  <a:srgbClr val="FFFFFF"/>
                </a:solidFill>
                <a:latin typeface="Consolas" panose="020B0609020204030204" pitchFamily="49" charset="0"/>
              </a:rPr>
              <a:t>module_exam</a:t>
            </a:r>
            <a:r>
              <a:rPr lang="en-US" altLang="zh-CN" sz="1800" dirty="0">
                <a:solidFill>
                  <a:srgbClr val="FFFFFF"/>
                </a:solidFill>
                <a:latin typeface="Consolas" panose="020B0609020204030204" pitchFamily="49" charset="0"/>
              </a:rPr>
              <a:t>/parameters/test</a:t>
            </a:r>
            <a:endParaRPr lang="en-US" altLang="zh-CN" sz="1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基础扎实 / Strong Preparation"/>
          <p:cNvSpPr txBox="1"/>
          <p:nvPr/>
        </p:nvSpPr>
        <p:spPr>
          <a:xfrm>
            <a:off x="770890" y="404494"/>
            <a:ext cx="6546850" cy="419735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algn="just">
              <a:buClr>
                <a:prstClr val="white"/>
              </a:buClr>
            </a:pP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任务四：</a:t>
            </a:r>
            <a:r>
              <a:rPr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使用 sysfs 文件系统传递内核模块参数</a:t>
            </a:r>
            <a:endParaRPr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0" y="318769"/>
            <a:ext cx="9144000" cy="546497"/>
            <a:chOff x="0" y="-1"/>
            <a:chExt cx="12192000" cy="728663"/>
          </a:xfrm>
        </p:grpSpPr>
        <p:sp>
          <p:nvSpPr>
            <p:cNvPr id="33" name="打底色块"/>
            <p:cNvSpPr/>
            <p:nvPr/>
          </p:nvSpPr>
          <p:spPr>
            <a:xfrm>
              <a:off x="0" y="-1"/>
              <a:ext cx="12192000" cy="72866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algn="ctr" fontAlgn="base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</a:pPr>
              <a:endParaRPr kumimoji="1" lang="zh-CN" altLang="en-US" sz="1500" b="1" kern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42" name="西北工业大学"/>
            <p:cNvPicPr>
              <a:picLocks noChangeAspect="1"/>
            </p:cNvPicPr>
            <p:nvPr/>
          </p:nvPicPr>
          <p:blipFill>
            <a:blip r:embed="rId1" cstate="screen"/>
            <a:stretch>
              <a:fillRect/>
            </a:stretch>
          </p:blipFill>
          <p:spPr>
            <a:xfrm>
              <a:off x="10240059" y="169864"/>
              <a:ext cx="1546127" cy="388933"/>
            </a:xfrm>
            <a:prstGeom prst="rect">
              <a:avLst/>
            </a:prstGeom>
          </p:spPr>
        </p:pic>
        <p:pic>
          <p:nvPicPr>
            <p:cNvPr id="43" name="校徽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9627016" y="119639"/>
              <a:ext cx="490134" cy="489382"/>
            </a:xfrm>
            <a:prstGeom prst="rect">
              <a:avLst/>
            </a:prstGeom>
          </p:spPr>
        </p:pic>
        <p:sp>
          <p:nvSpPr>
            <p:cNvPr id="45" name="基础扎实 / Strong Preparation"/>
            <p:cNvSpPr txBox="1"/>
            <p:nvPr/>
          </p:nvSpPr>
          <p:spPr>
            <a:xfrm>
              <a:off x="1027853" y="114299"/>
              <a:ext cx="8729133" cy="559647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/>
            <a:p>
              <a:pPr algn="just">
                <a:buClr>
                  <a:prstClr val="white"/>
                </a:buClr>
              </a:pPr>
              <a:r>
                <a:rPr lang="zh-CN" altLang="en-US"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任务四：</a:t>
              </a:r>
              <a:r>
                <a:rPr sz="24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使用 sysfs 文件系统传递内核模块参数</a:t>
              </a:r>
              <a:endParaRPr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/>
              <a:endParaRPr lang="zh-CN" altLang="en-US" sz="1350">
                <a:solidFill>
                  <a:srgbClr val="1C666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内容占位符 1"/>
          <p:cNvSpPr>
            <a:spLocks noGrp="1"/>
          </p:cNvSpPr>
          <p:nvPr/>
        </p:nvSpPr>
        <p:spPr>
          <a:xfrm>
            <a:off x="107315" y="981075"/>
            <a:ext cx="8907780" cy="1951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任务描述</a:t>
            </a:r>
            <a:endParaRPr lang="en-US" altLang="zh-CN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编写一个模块，该模块有三个参数：一个为字符串型，两个为整型。</a:t>
            </a:r>
            <a:b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</a:b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两个整型中，一个在 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/sys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下不可见。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加载模块后，使用 </a:t>
            </a:r>
            <a:r>
              <a:rPr lang="en-US" altLang="zh-CN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echo </a:t>
            </a: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向模块传递参数值来改变指定参数的值。</a:t>
            </a:r>
            <a:endParaRPr lang="zh-CN" altLang="en-US" sz="1800" kern="12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  <a:sym typeface="+mn-ea"/>
              </a:rPr>
              <a:t>加载、卸载模块并查看模块打印信息</a:t>
            </a:r>
            <a:endParaRPr lang="zh-CN" altLang="en-US" dirty="0"/>
          </a:p>
        </p:txBody>
      </p:sp>
      <p:sp>
        <p:nvSpPr>
          <p:cNvPr id="8" name="内容占位符 1"/>
          <p:cNvSpPr txBox="1"/>
          <p:nvPr/>
        </p:nvSpPr>
        <p:spPr bwMode="auto">
          <a:xfrm>
            <a:off x="102235" y="2924810"/>
            <a:ext cx="8912860" cy="180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5050"/>
              </a:buClr>
              <a:buSzPct val="120000"/>
              <a:buFont typeface="Wingdings" panose="05000000000000000000" pitchFamily="2" charset="2"/>
              <a:buChar char="§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v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Ø"/>
              <a:defRPr kumimoji="1" sz="2000" b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>
                <a:solidFill>
                  <a:srgbClr val="CC33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>
                <a:solidFill>
                  <a:srgbClr val="1C1C1C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审核要求</a:t>
            </a:r>
            <a:endParaRPr lang="en-US" altLang="zh-CN" kern="0" dirty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正确编写满足功能的源文件，正确编译。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正常加载、卸载内核模块；且内核模块功能满足任务所述。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1800" dirty="0">
                <a:solidFill>
                  <a:srgbClr val="111111"/>
                </a:solidFill>
                <a:ea typeface="宋体" panose="02010600030101010101" pitchFamily="2" charset="-122"/>
              </a:rPr>
              <a:t>提交相关源码与运行截图。</a:t>
            </a:r>
            <a:endParaRPr lang="zh-CN" altLang="en-US" sz="1800" dirty="0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3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4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5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6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7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8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9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0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1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2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3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4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5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6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7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8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19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0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1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2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3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4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5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6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7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8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29.xml><?xml version="1.0" encoding="utf-8"?>
<p:tagLst xmlns:p="http://schemas.openxmlformats.org/presentationml/2006/main">
  <p:tag name="KSO_WM_DIAGRAM_VIRTUALLY_FRAME" val="{&quot;height&quot;:327.14917322834646,&quot;left&quot;:-7.874015748031496e-05,&quot;top&quot;:129.943937007874,&quot;width&quot;:720.0708858267716}"/>
</p:tagLst>
</file>

<file path=ppt/tags/tag30.xml><?xml version="1.0" encoding="utf-8"?>
<p:tagLst xmlns:p="http://schemas.openxmlformats.org/presentationml/2006/main">
  <p:tag name="commondata" val="eyJoZGlkIjoiZTk5NzAyYThmYWIxZjUxNzM4OGU5NzFhOTZmYzQ0NWYifQ=="/>
</p:tagLst>
</file>

<file path=ppt/theme/theme1.xml><?xml version="1.0" encoding="utf-8"?>
<a:theme xmlns:a="http://schemas.openxmlformats.org/drawingml/2006/main" name="94_Office 主题">
  <a:themeElements>
    <a:clrScheme name="扁平化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045C9"/>
      </a:accent1>
      <a:accent2>
        <a:srgbClr val="E74C3C"/>
      </a:accent2>
      <a:accent3>
        <a:srgbClr val="00B050"/>
      </a:accent3>
      <a:accent4>
        <a:srgbClr val="E67E22"/>
      </a:accent4>
      <a:accent5>
        <a:srgbClr val="9B59B6"/>
      </a:accent5>
      <a:accent6>
        <a:srgbClr val="1ABC9C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4648</Words>
  <Application>WPS 演示</Application>
  <PresentationFormat/>
  <Paragraphs>278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Calibri</vt:lpstr>
      <vt:lpstr>Times New Roman</vt:lpstr>
      <vt:lpstr>幼圆</vt:lpstr>
      <vt:lpstr>Consolas</vt:lpstr>
      <vt:lpstr>Arial Unicode MS</vt:lpstr>
      <vt:lpstr>94_Office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蔡柳扬</dc:creator>
  <cp:lastModifiedBy>^残夜^</cp:lastModifiedBy>
  <cp:revision>29</cp:revision>
  <dcterms:created xsi:type="dcterms:W3CDTF">2024-03-10T02:40:00Z</dcterms:created>
  <dcterms:modified xsi:type="dcterms:W3CDTF">2024-05-10T00:51:58Z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91CDEFFB6A9F4B69A048E96B758560F5_12</vt:lpwstr>
  </property>
</Properties>
</file>