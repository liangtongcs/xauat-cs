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3"/>
    <p:sldId id="301" r:id="rId4"/>
    <p:sldId id="258" r:id="rId5"/>
    <p:sldId id="289" r:id="rId6"/>
    <p:sldId id="290" r:id="rId7"/>
    <p:sldId id="292" r:id="rId8"/>
    <p:sldId id="291" r:id="rId9"/>
    <p:sldId id="293" r:id="rId10"/>
    <p:sldId id="296" r:id="rId11"/>
    <p:sldId id="297" r:id="rId12"/>
    <p:sldId id="335" r:id="rId13"/>
    <p:sldId id="298" r:id="rId14"/>
    <p:sldId id="321" r:id="rId15"/>
    <p:sldId id="336" r:id="rId16"/>
    <p:sldId id="337" r:id="rId17"/>
    <p:sldId id="300" r:id="rId18"/>
    <p:sldId id="302" r:id="rId19"/>
    <p:sldId id="303" r:id="rId20"/>
    <p:sldId id="304" r:id="rId21"/>
    <p:sldId id="305" r:id="rId22"/>
    <p:sldId id="307" r:id="rId23"/>
    <p:sldId id="306" r:id="rId24"/>
    <p:sldId id="322" r:id="rId25"/>
    <p:sldId id="323" r:id="rId26"/>
  </p:sldIdLst>
  <p:sldSz cx="9144000" cy="5143500" type="screen16x9"/>
  <p:notesSz cx="9144000" cy="6858000"/>
  <p:custDataLst>
    <p:tags r:id="rId3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3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3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3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3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3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3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3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3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3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4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C1C"/>
    <a:srgbClr val="333333"/>
    <a:srgbClr val="FFFFCC"/>
    <a:srgbClr val="C00000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01" d="100"/>
          <a:sy n="101" d="100"/>
        </p:scale>
        <p:origin x="84" y="654"/>
      </p:cViewPr>
      <p:guideLst>
        <p:guide orient="horz" pos="174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5178425" y="0"/>
            <a:ext cx="3963988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8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4ED95B8-CE1C-4EFD-A76B-2DAD1A4047D4}" type="datetime1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857250"/>
            <a:ext cx="7315200" cy="2314575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485" name="备注占位符 4"/>
          <p:cNvSpPr>
            <a:spLocks noGrp="1" noRot="1" noChangeAspect="1"/>
          </p:cNvSpPr>
          <p:nvPr/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defTabSz="0">
              <a:spcBef>
                <a:spcPct val="30000"/>
              </a:spcBef>
              <a:buFontTx/>
            </a:pPr>
            <a:r>
              <a:rPr lang="zh-CN" altLang="en-US" sz="1200" dirty="0"/>
              <a:t>单击此处编辑母版文本样式</a:t>
            </a:r>
            <a:endParaRPr lang="zh-CN" altLang="en-US" sz="1200" dirty="0"/>
          </a:p>
          <a:p>
            <a:pPr lvl="0" defTabSz="0">
              <a:spcBef>
                <a:spcPct val="30000"/>
              </a:spcBef>
              <a:buFontTx/>
            </a:pPr>
            <a:r>
              <a:rPr lang="zh-CN" altLang="en-US" sz="1200" dirty="0"/>
              <a:t>第二级</a:t>
            </a:r>
            <a:endParaRPr lang="zh-CN" altLang="en-US" sz="1200" dirty="0"/>
          </a:p>
          <a:p>
            <a:pPr lvl="0" defTabSz="0">
              <a:spcBef>
                <a:spcPct val="30000"/>
              </a:spcBef>
              <a:buFontTx/>
            </a:pPr>
            <a:r>
              <a:rPr lang="zh-CN" altLang="en-US" sz="1200" dirty="0"/>
              <a:t>第三级</a:t>
            </a:r>
            <a:endParaRPr lang="zh-CN" altLang="en-US" sz="1200" dirty="0"/>
          </a:p>
          <a:p>
            <a:pPr lvl="0" defTabSz="0">
              <a:spcBef>
                <a:spcPct val="30000"/>
              </a:spcBef>
              <a:buFontTx/>
            </a:pPr>
            <a:r>
              <a:rPr lang="zh-CN" altLang="en-US" sz="1200" dirty="0"/>
              <a:t>第四级</a:t>
            </a:r>
            <a:endParaRPr lang="zh-CN" altLang="en-US" sz="1200" dirty="0"/>
          </a:p>
          <a:p>
            <a:pPr lvl="0" defTabSz="0">
              <a:spcBef>
                <a:spcPct val="30000"/>
              </a:spcBef>
              <a:buFontTx/>
            </a:pPr>
            <a:r>
              <a:rPr lang="zh-CN" altLang="en-US" sz="1200" dirty="0"/>
              <a:t>第五级</a:t>
            </a:r>
            <a:endParaRPr lang="zh-CN" altLang="en-US" sz="1200" dirty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78425" y="6513513"/>
            <a:ext cx="3963988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800" dirty="0"/>
            </a:fld>
            <a:endParaRPr lang="zh-CN" altLang="en-US" sz="18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1">
            <a:blip r:embed="rId12">
              <a:alphaModFix amt="60001"/>
            </a:blip>
            <a:stretch>
              <a:fillRect/>
            </a:stretch>
          </a:blipFill>
          <a:ln w="9525">
            <a:noFill/>
          </a:ln>
        </p:spPr>
        <p:txBody>
          <a:bodyPr lIns="68580" tIns="34290" rIns="68580" bIns="34290" anchor="ctr"/>
          <a:lstStyle/>
          <a:p>
            <a:pPr lvl="0" algn="ctr" eaLnBrk="1" hangingPunct="1"/>
            <a:endParaRPr lang="zh-CN" altLang="zh-CN" dirty="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6858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  <a:sym typeface="Calibri Light" panose="020F0302020204030204" pitchFamily="34" charset="0"/>
        </a:defRPr>
      </a:lvl1pPr>
      <a:lvl2pPr marL="6858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2pPr>
      <a:lvl3pPr marL="6858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3pPr>
      <a:lvl4pPr marL="6858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4pPr>
      <a:lvl5pPr marL="6858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5pPr>
      <a:lvl6pPr marL="11430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6pPr>
      <a:lvl7pPr marL="16002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7pPr>
      <a:lvl8pPr marL="20574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8pPr>
      <a:lvl9pPr marL="25146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1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514350" indent="-17145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857250" indent="-17145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5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200150" indent="-17145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3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1543050" indent="-17145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3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000250" indent="-17145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3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6pPr>
      <a:lvl7pPr marL="2457450" indent="-17145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3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7pPr>
      <a:lvl8pPr marL="2914650" indent="-17145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3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8pPr>
      <a:lvl9pPr marL="3371850" indent="-17145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3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787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矩形 5"/>
          <p:cNvSpPr/>
          <p:nvPr/>
        </p:nvSpPr>
        <p:spPr>
          <a:xfrm>
            <a:off x="0" y="2574925"/>
            <a:ext cx="9144000" cy="1220788"/>
          </a:xfrm>
          <a:prstGeom prst="rect">
            <a:avLst/>
          </a:prstGeom>
          <a:solidFill>
            <a:srgbClr val="1EA7D5">
              <a:alpha val="29803"/>
            </a:srgbClr>
          </a:solidFill>
          <a:ln w="12700">
            <a:noFill/>
          </a:ln>
        </p:spPr>
        <p:txBody>
          <a:bodyPr lIns="68580" tIns="34290" rIns="68580" bIns="34290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053" name="等腰三角形 16"/>
          <p:cNvSpPr/>
          <p:nvPr/>
        </p:nvSpPr>
        <p:spPr>
          <a:xfrm flipV="1">
            <a:off x="4160838" y="3784600"/>
            <a:ext cx="820737" cy="358775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055" name="文本框 7"/>
          <p:cNvSpPr/>
          <p:nvPr/>
        </p:nvSpPr>
        <p:spPr>
          <a:xfrm>
            <a:off x="1461135" y="2804795"/>
            <a:ext cx="6457950" cy="760730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zh-CN" altLang="en-US" sz="4500" dirty="0" smtClean="0">
                <a:solidFill>
                  <a:schemeClr val="bg1"/>
                </a:solidFill>
                <a:latin typeface="方正正准黑简体" pitchFamily="2" charset="-122"/>
                <a:ea typeface="微软雅黑" panose="020B0503020204020204" pitchFamily="34" charset="-122"/>
                <a:sym typeface="方正正准黑简体" pitchFamily="2" charset="-122"/>
              </a:rPr>
              <a:t>实验四：</a:t>
            </a:r>
            <a:r>
              <a:rPr lang="zh-CN" altLang="en-US" sz="4500" dirty="0" smtClean="0">
                <a:solidFill>
                  <a:schemeClr val="bg1"/>
                </a:solidFill>
                <a:latin typeface="方正正准黑简体" pitchFamily="2" charset="-122"/>
                <a:ea typeface="微软雅黑" panose="020B0503020204020204" pitchFamily="34" charset="-122"/>
                <a:sym typeface="方正正准黑简体" pitchFamily="2" charset="-122"/>
              </a:rPr>
              <a:t>设备管理</a:t>
            </a:r>
            <a:endParaRPr lang="zh-CN" altLang="en-US" sz="4500" dirty="0" smtClean="0">
              <a:solidFill>
                <a:schemeClr val="bg1"/>
              </a:solidFill>
              <a:latin typeface="方正正准黑简体" pitchFamily="2" charset="-122"/>
              <a:ea typeface="微软雅黑" panose="020B0503020204020204" pitchFamily="34" charset="-122"/>
              <a:sym typeface="方正正准黑简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4065588" cy="3759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任务一：编写</a:t>
            </a:r>
            <a:r>
              <a:rPr lang="en-US" altLang="zh-CN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USB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设备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驱动程序</a:t>
            </a:r>
            <a:endParaRPr lang="zh-CN" altLang="en-US"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3" name="文本框 102"/>
          <p:cNvSpPr txBox="1"/>
          <p:nvPr/>
        </p:nvSpPr>
        <p:spPr>
          <a:xfrm>
            <a:off x="786765" y="1303020"/>
            <a:ext cx="6987540" cy="23685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sz="1800" b="1">
                <a:latin typeface="Calibri" panose="020F0502020204030204" pitchFamily="34" charset="0"/>
                <a:ea typeface="宋体" panose="02010600030101010101" pitchFamily="2" charset="-122"/>
              </a:rPr>
              <a:t>a.</a:t>
            </a:r>
            <a:r>
              <a:rPr lang="zh-CN" sz="1800" b="1">
                <a:latin typeface="Calibri" panose="020F0502020204030204" pitchFamily="34" charset="0"/>
                <a:ea typeface="宋体" panose="02010600030101010101" pitchFamily="2" charset="-122"/>
              </a:rPr>
              <a:t>任务描述</a:t>
            </a:r>
            <a:endParaRPr lang="en-US" sz="18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sz="1400">
                <a:ea typeface="宋体" panose="02010600030101010101" pitchFamily="2" charset="-122"/>
              </a:rPr>
              <a:t>1. 参考内核源码中的drivers/usb/usb-skeleton.c文件，编写一个USB探测驱动程序，能够实现以下基本功能：</a:t>
            </a:r>
            <a:endParaRPr lang="zh-CN" sz="1400">
              <a:ea typeface="宋体" panose="02010600030101010101" pitchFamily="2" charset="-122"/>
            </a:endParaRPr>
          </a:p>
          <a:p>
            <a:r>
              <a:rPr lang="zh-CN" sz="1400">
                <a:ea typeface="宋体" panose="02010600030101010101" pitchFamily="2" charset="-122"/>
              </a:rPr>
              <a:t>（1）在插入U盘时能够探测到；</a:t>
            </a:r>
            <a:endParaRPr lang="zh-CN" sz="1400">
              <a:ea typeface="宋体" panose="02010600030101010101" pitchFamily="2" charset="-122"/>
            </a:endParaRPr>
          </a:p>
          <a:p>
            <a:r>
              <a:rPr lang="zh-CN" sz="1400">
                <a:ea typeface="宋体" panose="02010600030101010101" pitchFamily="2" charset="-122"/>
              </a:rPr>
              <a:t>（2）在拔出U盘时能够探测到；2. 加载、卸载模块并查看模块打印信息。</a:t>
            </a:r>
            <a:endParaRPr lang="en-US" sz="2400" b="1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sz="1800" b="1">
                <a:latin typeface="Calibri" panose="020F0502020204030204" pitchFamily="34" charset="0"/>
                <a:ea typeface="宋体" panose="02010600030101010101" pitchFamily="2" charset="-122"/>
              </a:rPr>
              <a:t>b.</a:t>
            </a:r>
            <a:r>
              <a:rPr lang="zh-CN" sz="1800" b="1">
                <a:latin typeface="Calibri" panose="020F0502020204030204" pitchFamily="34" charset="0"/>
                <a:ea typeface="宋体" panose="02010600030101010101" pitchFamily="2" charset="-122"/>
              </a:rPr>
              <a:t>审核要求</a:t>
            </a:r>
            <a:endParaRPr lang="en-US" sz="18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sz="1400">
                <a:ea typeface="宋体" panose="02010600030101010101" pitchFamily="2" charset="-122"/>
              </a:rPr>
              <a:t>1. 正确编写满足功能的源文件，正确编译。2. 正常加载、卸载内核模块；且内核模块功能满足任务所述。3. 提交相关源码与运行截图。</a:t>
            </a:r>
            <a:endParaRPr lang="zh-CN" sz="1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4065588" cy="3759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任务一：编写</a:t>
            </a:r>
            <a:r>
              <a:rPr lang="en-US" altLang="zh-CN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USB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设备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驱动程序</a:t>
            </a:r>
            <a:endParaRPr lang="zh-CN" altLang="en-US"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346710" y="763270"/>
            <a:ext cx="287782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</a:t>
            </a:r>
            <a:r>
              <a:rPr lang="en-US" altLang="zh-CN"/>
              <a:t>.USB</a:t>
            </a:r>
            <a:r>
              <a:rPr lang="zh-CN" altLang="en-US"/>
              <a:t>骨架（</a:t>
            </a:r>
            <a:r>
              <a:rPr lang="en-US" altLang="zh-CN"/>
              <a:t>usb-skeleton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529590" y="1281430"/>
            <a:ext cx="7261860" cy="3538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en-US" sz="1400">
                <a:latin typeface="Times New Roman" panose="02020603050405020304" charset="0"/>
              </a:rPr>
              <a:t>USB</a:t>
            </a:r>
            <a:r>
              <a:rPr lang="zh-CN" sz="1400">
                <a:ea typeface="宋体" panose="02010600030101010101" pitchFamily="2" charset="-122"/>
              </a:rPr>
              <a:t>骨架程序（</a:t>
            </a:r>
            <a:r>
              <a:rPr lang="en-US" sz="1400">
                <a:latin typeface="Times New Roman" panose="02020603050405020304" charset="0"/>
              </a:rPr>
              <a:t>usb-skeleton</a:t>
            </a:r>
            <a:r>
              <a:rPr lang="zh-CN" sz="1400">
                <a:ea typeface="宋体" panose="02010600030101010101" pitchFamily="2" charset="-122"/>
              </a:rPr>
              <a:t>），是</a:t>
            </a:r>
            <a:r>
              <a:rPr lang="en-US" sz="1400">
                <a:latin typeface="Times New Roman" panose="02020603050405020304" charset="0"/>
              </a:rPr>
              <a:t>USB</a:t>
            </a:r>
            <a:r>
              <a:rPr lang="zh-CN" sz="1400">
                <a:ea typeface="宋体" panose="02010600030101010101" pitchFamily="2" charset="-122"/>
              </a:rPr>
              <a:t>驱动程序的基础，通过对它源码的学习和理解，可以使我们迅速地了解</a:t>
            </a:r>
            <a:r>
              <a:rPr lang="en-US" sz="1400">
                <a:latin typeface="Times New Roman" panose="02020603050405020304" charset="0"/>
              </a:rPr>
              <a:t>USB</a:t>
            </a:r>
            <a:r>
              <a:rPr lang="zh-CN" sz="1400">
                <a:ea typeface="宋体" panose="02010600030101010101" pitchFamily="2" charset="-122"/>
              </a:rPr>
              <a:t>驱动架构，迅速地开发我们自己的</a:t>
            </a:r>
            <a:r>
              <a:rPr lang="en-US" sz="1400">
                <a:latin typeface="Times New Roman" panose="02020603050405020304" charset="0"/>
              </a:rPr>
              <a:t>USB</a:t>
            </a:r>
            <a:r>
              <a:rPr lang="zh-CN" sz="1400">
                <a:ea typeface="宋体" panose="02010600030101010101" pitchFamily="2" charset="-122"/>
              </a:rPr>
              <a:t>硬件的驱动。</a:t>
            </a:r>
            <a:r>
              <a:rPr lang="en-US" sz="1400">
                <a:latin typeface="Times New Roman" panose="02020603050405020304" charset="0"/>
              </a:rPr>
              <a:t>Linux USB</a:t>
            </a:r>
            <a:r>
              <a:rPr lang="zh-CN" sz="1400">
                <a:ea typeface="宋体" panose="02010600030101010101" pitchFamily="2" charset="-122"/>
              </a:rPr>
              <a:t>子系统已经从仅支持</a:t>
            </a:r>
            <a:r>
              <a:rPr lang="en-US" sz="1400">
                <a:latin typeface="Times New Roman" panose="02020603050405020304" charset="0"/>
              </a:rPr>
              <a:t>2.2.7</a:t>
            </a:r>
            <a:r>
              <a:rPr lang="zh-CN" sz="1400">
                <a:ea typeface="宋体" panose="02010600030101010101" pitchFamily="2" charset="-122"/>
              </a:rPr>
              <a:t>内核中的两种不同类型的设备（鼠标和键盘）发展到了</a:t>
            </a:r>
            <a:r>
              <a:rPr lang="en-US" sz="1400">
                <a:latin typeface="Times New Roman" panose="02020603050405020304" charset="0"/>
              </a:rPr>
              <a:t>2.4</a:t>
            </a:r>
            <a:r>
              <a:rPr lang="zh-CN" sz="1400">
                <a:ea typeface="宋体" panose="02010600030101010101" pitchFamily="2" charset="-122"/>
              </a:rPr>
              <a:t>内核中的</a:t>
            </a:r>
            <a:r>
              <a:rPr lang="en-US" sz="1400">
                <a:latin typeface="Times New Roman" panose="02020603050405020304" charset="0"/>
              </a:rPr>
              <a:t>20</a:t>
            </a:r>
            <a:r>
              <a:rPr lang="zh-CN" sz="1400">
                <a:ea typeface="宋体" panose="02010600030101010101" pitchFamily="2" charset="-122"/>
              </a:rPr>
              <a:t>多种不同类型的设备。 </a:t>
            </a:r>
            <a:r>
              <a:rPr lang="en-US" sz="1400">
                <a:latin typeface="Times New Roman" panose="02020603050405020304" charset="0"/>
              </a:rPr>
              <a:t>Linux</a:t>
            </a:r>
            <a:r>
              <a:rPr lang="zh-CN" sz="1400">
                <a:ea typeface="宋体" panose="02010600030101010101" pitchFamily="2" charset="-122"/>
              </a:rPr>
              <a:t>当前支持几乎所有</a:t>
            </a:r>
            <a:r>
              <a:rPr lang="en-US" sz="1400">
                <a:latin typeface="Times New Roman" panose="02020603050405020304" charset="0"/>
              </a:rPr>
              <a:t>USB</a:t>
            </a:r>
            <a:r>
              <a:rPr lang="zh-CN" sz="1400">
                <a:ea typeface="宋体" panose="02010600030101010101" pitchFamily="2" charset="-122"/>
              </a:rPr>
              <a:t>类设备（标准类型的设备，如键盘，鼠标，调制解调器，打印机和扬声器），以及越来越多的特定于供应商的设备（如</a:t>
            </a:r>
            <a:r>
              <a:rPr lang="en-US" sz="1400">
                <a:latin typeface="Times New Roman" panose="02020603050405020304" charset="0"/>
              </a:rPr>
              <a:t>USB</a:t>
            </a:r>
            <a:r>
              <a:rPr lang="zh-CN" sz="1400">
                <a:ea typeface="宋体" panose="02010600030101010101" pitchFamily="2" charset="-122"/>
              </a:rPr>
              <a:t>到串行转换器，数码相机，以太网设备和</a:t>
            </a:r>
            <a:r>
              <a:rPr lang="en-US" sz="1400">
                <a:latin typeface="Times New Roman" panose="02020603050405020304" charset="0"/>
              </a:rPr>
              <a:t>MP3</a:t>
            </a:r>
            <a:r>
              <a:rPr lang="zh-CN" sz="1400">
                <a:ea typeface="宋体" panose="02010600030101010101" pitchFamily="2" charset="-122"/>
              </a:rPr>
              <a:t>玩家）。</a:t>
            </a:r>
            <a:r>
              <a:rPr lang="en-US" sz="1400">
                <a:latin typeface="Times New Roman" panose="02020603050405020304" charset="0"/>
              </a:rPr>
              <a:t>       Linux</a:t>
            </a:r>
            <a:r>
              <a:rPr lang="zh-CN" sz="1400">
                <a:ea typeface="宋体" panose="02010600030101010101" pitchFamily="2" charset="-122"/>
              </a:rPr>
              <a:t>上不支持的其余</a:t>
            </a:r>
            <a:r>
              <a:rPr lang="en-US" sz="1400">
                <a:latin typeface="Times New Roman" panose="02020603050405020304" charset="0"/>
              </a:rPr>
              <a:t>USB</a:t>
            </a:r>
            <a:r>
              <a:rPr lang="zh-CN" sz="1400">
                <a:ea typeface="宋体" panose="02010600030101010101" pitchFamily="2" charset="-122"/>
              </a:rPr>
              <a:t>设备几乎是所有特定于供应商的设备。如果生产厂商在他们的产品中使用自己定义的协议，他们就需要为此设备创建特定的驱动程序。当然我们知道，有些生产厂商公开他们的</a:t>
            </a:r>
            <a:r>
              <a:rPr lang="en-US" sz="1400">
                <a:latin typeface="Times New Roman" panose="02020603050405020304" charset="0"/>
              </a:rPr>
              <a:t>USB</a:t>
            </a:r>
            <a:r>
              <a:rPr lang="zh-CN" sz="1400">
                <a:ea typeface="宋体" panose="02010600030101010101" pitchFamily="2" charset="-122"/>
              </a:rPr>
              <a:t>协议，并帮助</a:t>
            </a:r>
            <a:r>
              <a:rPr lang="en-US" sz="1400">
                <a:latin typeface="Times New Roman" panose="02020603050405020304" charset="0"/>
              </a:rPr>
              <a:t>Linux</a:t>
            </a:r>
            <a:r>
              <a:rPr lang="zh-CN" sz="1400">
                <a:ea typeface="宋体" panose="02010600030101010101" pitchFamily="2" charset="-122"/>
              </a:rPr>
              <a:t>驱动程序的开发，然而有些生产厂商却根本不公开他们的</a:t>
            </a:r>
            <a:r>
              <a:rPr lang="en-US" sz="1400">
                <a:latin typeface="Times New Roman" panose="02020603050405020304" charset="0"/>
              </a:rPr>
              <a:t>USB</a:t>
            </a:r>
            <a:r>
              <a:rPr lang="zh-CN" sz="1400">
                <a:ea typeface="宋体" panose="02010600030101010101" pitchFamily="2" charset="-122"/>
              </a:rPr>
              <a:t>协议。因为每一个不同的协议都会产生一个新的驱动程序，所以就有了这个通用的</a:t>
            </a:r>
            <a:r>
              <a:rPr lang="en-US" sz="1400">
                <a:latin typeface="Times New Roman" panose="02020603050405020304" charset="0"/>
              </a:rPr>
              <a:t>USB</a:t>
            </a:r>
            <a:r>
              <a:rPr lang="zh-CN" sz="1400">
                <a:ea typeface="宋体" panose="02010600030101010101" pitchFamily="2" charset="-122"/>
              </a:rPr>
              <a:t>驱动骨架程序，它是以</a:t>
            </a:r>
            <a:r>
              <a:rPr lang="en-US" sz="1400">
                <a:latin typeface="Times New Roman" panose="02020603050405020304" charset="0"/>
              </a:rPr>
              <a:t>pci </a:t>
            </a:r>
            <a:r>
              <a:rPr lang="zh-CN" sz="1400">
                <a:ea typeface="宋体" panose="02010600030101010101" pitchFamily="2" charset="-122"/>
              </a:rPr>
              <a:t>骨架为模板的。</a:t>
            </a:r>
            <a:endParaRPr lang="en-US" sz="1400">
              <a:latin typeface="宋体" panose="02010600030101010101" pitchFamily="2" charset="-122"/>
            </a:endParaRPr>
          </a:p>
          <a:p>
            <a:pPr indent="266700"/>
            <a:r>
              <a:rPr lang="en-US" altLang="zh-CN" sz="1400">
                <a:ea typeface="宋体" panose="02010600030101010101" pitchFamily="2" charset="-122"/>
              </a:rPr>
              <a:t> </a:t>
            </a:r>
            <a:r>
              <a:rPr lang="zh-CN" sz="1400">
                <a:ea typeface="宋体" panose="02010600030101010101" pitchFamily="2" charset="-122"/>
              </a:rPr>
              <a:t>因为每种不同的协议都会导致创建新的驱动程序，如果你准备写一个</a:t>
            </a:r>
            <a:r>
              <a:rPr lang="en-US" sz="1400">
                <a:latin typeface="Times New Roman" panose="02020603050405020304" charset="0"/>
              </a:rPr>
              <a:t>linux</a:t>
            </a:r>
            <a:r>
              <a:rPr lang="zh-CN" sz="1400">
                <a:ea typeface="宋体" panose="02010600030101010101" pitchFamily="2" charset="-122"/>
              </a:rPr>
              <a:t>驱动程序，首先要熟悉</a:t>
            </a:r>
            <a:r>
              <a:rPr lang="en-US" sz="1400">
                <a:latin typeface="Times New Roman" panose="02020603050405020304" charset="0"/>
              </a:rPr>
              <a:t>USB</a:t>
            </a:r>
            <a:r>
              <a:rPr lang="zh-CN" sz="1400">
                <a:ea typeface="宋体" panose="02010600030101010101" pitchFamily="2" charset="-122"/>
              </a:rPr>
              <a:t>协议规范。这里，通用的</a:t>
            </a:r>
            <a:r>
              <a:rPr lang="en-US" sz="1400">
                <a:latin typeface="Times New Roman" panose="02020603050405020304" charset="0"/>
              </a:rPr>
              <a:t>USB</a:t>
            </a:r>
            <a:r>
              <a:rPr lang="zh-CN" sz="1400">
                <a:ea typeface="宋体" panose="02010600030101010101" pitchFamily="2" charset="-122"/>
              </a:rPr>
              <a:t>驱动程序框架以</a:t>
            </a:r>
            <a:r>
              <a:rPr lang="en-US" sz="1400">
                <a:latin typeface="Times New Roman" panose="02020603050405020304" charset="0"/>
              </a:rPr>
              <a:t>pci-skeleton.c</a:t>
            </a:r>
            <a:r>
              <a:rPr lang="zh-CN" sz="1400">
                <a:ea typeface="宋体" panose="02010600030101010101" pitchFamily="2" charset="-122"/>
              </a:rPr>
              <a:t>文件为模板，内核源代码树的</a:t>
            </a:r>
            <a:r>
              <a:rPr lang="en-US" sz="1400">
                <a:latin typeface="Times New Roman" panose="02020603050405020304" charset="0"/>
              </a:rPr>
              <a:t>drivers/usb/</a:t>
            </a:r>
            <a:r>
              <a:rPr lang="en-US" sz="1400" b="1">
                <a:latin typeface="Times New Roman" panose="02020603050405020304" charset="0"/>
              </a:rPr>
              <a:t>usb-skeleton.c</a:t>
            </a:r>
            <a:r>
              <a:rPr lang="zh-CN" sz="1400">
                <a:ea typeface="宋体" panose="02010600030101010101" pitchFamily="2" charset="-122"/>
              </a:rPr>
              <a:t>文件为我们提供了一个最基础的</a:t>
            </a:r>
            <a:r>
              <a:rPr lang="en-US" sz="1400">
                <a:latin typeface="Times New Roman" panose="02020603050405020304" charset="0"/>
              </a:rPr>
              <a:t>USB</a:t>
            </a:r>
            <a:r>
              <a:rPr lang="zh-CN" sz="1400">
                <a:ea typeface="宋体" panose="02010600030101010101" pitchFamily="2" charset="-122"/>
              </a:rPr>
              <a:t>驱动程序，我们称之为</a:t>
            </a:r>
            <a:r>
              <a:rPr lang="en-US" sz="1400">
                <a:latin typeface="Times New Roman" panose="02020603050405020304" charset="0"/>
              </a:rPr>
              <a:t>USB</a:t>
            </a:r>
            <a:r>
              <a:rPr lang="zh-CN" sz="1400">
                <a:ea typeface="宋体" panose="02010600030101010101" pitchFamily="2" charset="-122"/>
              </a:rPr>
              <a:t>骨架。</a:t>
            </a:r>
            <a:r>
              <a:rPr lang="en-US" sz="1400">
                <a:latin typeface="Times New Roman" panose="02020603050405020304" charset="0"/>
              </a:rPr>
              <a:t>USB</a:t>
            </a:r>
            <a:r>
              <a:rPr lang="zh-CN" sz="1400">
                <a:ea typeface="宋体" panose="02010600030101010101" pitchFamily="2" charset="-122"/>
              </a:rPr>
              <a:t>骨架程序可以被看做一个最简单的</a:t>
            </a:r>
            <a:r>
              <a:rPr lang="en-US" sz="1400">
                <a:latin typeface="Times New Roman" panose="02020603050405020304" charset="0"/>
              </a:rPr>
              <a:t>USB</a:t>
            </a:r>
            <a:r>
              <a:rPr lang="zh-CN" sz="1400">
                <a:ea typeface="宋体" panose="02010600030101010101" pitchFamily="2" charset="-122"/>
              </a:rPr>
              <a:t>设备驱动的实例，通过它我们仅需要修改极少的部分，就可以完成一个</a:t>
            </a:r>
            <a:r>
              <a:rPr lang="en-US" sz="1400">
                <a:latin typeface="Times New Roman" panose="02020603050405020304" charset="0"/>
              </a:rPr>
              <a:t>USB</a:t>
            </a:r>
            <a:r>
              <a:rPr lang="zh-CN" sz="1400">
                <a:ea typeface="宋体" panose="02010600030101010101" pitchFamily="2" charset="-122"/>
              </a:rPr>
              <a:t>设备的驱动。</a:t>
            </a:r>
            <a:endParaRPr lang="zh-CN" altLang="en-US" sz="1400"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5125" y="1002030"/>
            <a:ext cx="5080000" cy="2914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300"/>
              <a:t>1</a:t>
            </a:r>
            <a:r>
              <a:rPr lang="en-US" altLang="zh-CN" sz="1300">
                <a:ea typeface="宋体" panose="02010600030101010101" pitchFamily="2" charset="-122"/>
              </a:rPr>
              <a:t>、简介</a:t>
            </a:r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4065588" cy="3759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任务一：编写</a:t>
            </a:r>
            <a:r>
              <a:rPr lang="en-US" altLang="zh-CN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USB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设备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驱动程序</a:t>
            </a:r>
            <a:endParaRPr lang="zh-CN" altLang="en-US"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346710" y="846455"/>
            <a:ext cx="287782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Linux USB基础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15315" y="1247140"/>
            <a:ext cx="7213600" cy="6915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1300"/>
              <a:t>Linux USB </a:t>
            </a:r>
            <a:r>
              <a:rPr lang="zh-CN" altLang="en-US" sz="1300">
                <a:ea typeface="宋体" panose="02010600030101010101" pitchFamily="2" charset="-122"/>
              </a:rPr>
              <a:t>驱动程序需要做的第一件事情就是在</a:t>
            </a:r>
            <a:r>
              <a:rPr lang="zh-CN" altLang="en-US" sz="1300"/>
              <a:t>Linux USB </a:t>
            </a:r>
            <a:r>
              <a:rPr lang="zh-CN" altLang="en-US" sz="1300">
                <a:ea typeface="宋体" panose="02010600030101010101" pitchFamily="2" charset="-122"/>
              </a:rPr>
              <a:t>子系统里注册，并提供一些相关信息，例如：这个驱动程序支持那种设备，当被支持的设备从系统插入或拔出时，会有哪些动作。所有这些信息都传送到</a:t>
            </a:r>
            <a:r>
              <a:rPr lang="zh-CN" altLang="en-US" sz="1300"/>
              <a:t>USB </a:t>
            </a:r>
            <a:r>
              <a:rPr lang="zh-CN" altLang="en-US" sz="1300">
                <a:ea typeface="宋体" panose="02010600030101010101" pitchFamily="2" charset="-122"/>
              </a:rPr>
              <a:t>子系统中，在</a:t>
            </a:r>
            <a:r>
              <a:rPr lang="zh-CN" altLang="en-US" sz="1300"/>
              <a:t>usb</a:t>
            </a:r>
            <a:r>
              <a:rPr lang="zh-CN" altLang="en-US" sz="1300">
                <a:ea typeface="宋体" panose="02010600030101010101" pitchFamily="2" charset="-122"/>
              </a:rPr>
              <a:t>骨架驱动程序中是这样来表示的：</a:t>
            </a: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57225" y="3606800"/>
            <a:ext cx="699706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1300">
                <a:ea typeface="宋体" panose="02010600030101010101" pitchFamily="2" charset="-122"/>
              </a:rPr>
              <a:t>变量</a:t>
            </a:r>
            <a:r>
              <a:rPr lang="zh-CN" altLang="en-US" sz="1300"/>
              <a:t>name</a:t>
            </a:r>
            <a:r>
              <a:rPr lang="zh-CN" altLang="en-US" sz="1300">
                <a:ea typeface="宋体" panose="02010600030101010101" pitchFamily="2" charset="-122"/>
              </a:rPr>
              <a:t>是一个字符串，是驱动程序的</a:t>
            </a:r>
            <a:r>
              <a:rPr lang="zh-CN" altLang="en-US" sz="1300">
                <a:ea typeface="宋体" panose="02010600030101010101" pitchFamily="2" charset="-122"/>
              </a:rPr>
              <a:t>名称。</a:t>
            </a:r>
            <a:r>
              <a:rPr lang="zh-CN" altLang="en-US" sz="1300"/>
              <a:t>probe </a:t>
            </a:r>
            <a:r>
              <a:rPr lang="zh-CN" altLang="en-US" sz="1300">
                <a:ea typeface="宋体" panose="02010600030101010101" pitchFamily="2" charset="-122"/>
              </a:rPr>
              <a:t>和</a:t>
            </a:r>
            <a:r>
              <a:rPr lang="zh-CN" altLang="en-US" sz="1300"/>
              <a:t>disconnect </a:t>
            </a:r>
            <a:r>
              <a:rPr lang="zh-CN" altLang="en-US" sz="1300">
                <a:ea typeface="宋体" panose="02010600030101010101" pitchFamily="2" charset="-122"/>
              </a:rPr>
              <a:t>是函数指针，当插入</a:t>
            </a:r>
            <a:r>
              <a:rPr lang="zh-CN" altLang="en-US" sz="1300"/>
              <a:t>/</a:t>
            </a:r>
            <a:r>
              <a:rPr lang="zh-CN" altLang="en-US" sz="1300">
                <a:ea typeface="宋体" panose="02010600030101010101" pitchFamily="2" charset="-122"/>
              </a:rPr>
              <a:t>拔出的</a:t>
            </a:r>
            <a:r>
              <a:rPr lang="zh-CN" altLang="en-US" sz="1300"/>
              <a:t>USB</a:t>
            </a:r>
            <a:r>
              <a:rPr lang="zh-CN" altLang="en-US" sz="1300">
                <a:ea typeface="宋体" panose="02010600030101010101" pitchFamily="2" charset="-122"/>
              </a:rPr>
              <a:t>设备与在</a:t>
            </a:r>
            <a:r>
              <a:rPr lang="zh-CN" altLang="en-US" sz="1300"/>
              <a:t>id_table </a:t>
            </a:r>
            <a:r>
              <a:rPr lang="zh-CN" altLang="en-US" sz="1300">
                <a:ea typeface="宋体" panose="02010600030101010101" pitchFamily="2" charset="-122"/>
              </a:rPr>
              <a:t>中变量信息匹配时，此函数被调用。</a:t>
            </a:r>
            <a:endParaRPr lang="zh-CN" altLang="en-US" sz="1300">
              <a:ea typeface="宋体" panose="02010600030101010101" pitchFamily="2" charset="-122"/>
            </a:endParaRPr>
          </a:p>
          <a:p>
            <a:endParaRPr lang="zh-CN" altLang="en-US" sz="1400"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30" y="2368550"/>
            <a:ext cx="4152900" cy="9829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4065588" cy="3759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任务一：编写</a:t>
            </a:r>
            <a:r>
              <a:rPr lang="en-US" altLang="zh-CN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USB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设备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驱动程序</a:t>
            </a:r>
            <a:endParaRPr lang="zh-CN" altLang="en-US"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346710" y="846455"/>
            <a:ext cx="287782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USB驱动的注册和注销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393700" y="1281430"/>
            <a:ext cx="6180455" cy="2914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（</a:t>
            </a:r>
            <a:r>
              <a:rPr lang="zh-CN" altLang="en-US"/>
              <a:t>1</a:t>
            </a:r>
            <a:r>
              <a:rPr lang="zh-CN" altLang="en-US">
                <a:ea typeface="宋体" panose="02010600030101010101" pitchFamily="2" charset="-122"/>
              </a:rPr>
              <a:t>）注册</a:t>
            </a:r>
            <a:r>
              <a:rPr lang="zh-CN" altLang="en-US"/>
              <a:t>USB</a:t>
            </a:r>
            <a:r>
              <a:rPr lang="zh-CN" altLang="en-US">
                <a:ea typeface="宋体" panose="02010600030101010101" pitchFamily="2" charset="-122"/>
              </a:rPr>
              <a:t>驱动</a:t>
            </a:r>
            <a:r>
              <a:rPr lang="en-US" altLang="zh-CN">
                <a:ea typeface="宋体" panose="02010600030101010101" pitchFamily="2" charset="-122"/>
              </a:rPr>
              <a:t>  static int __init usb_detect_init(void)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7715" y="1598930"/>
            <a:ext cx="7122795" cy="5683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1300">
                <a:ea typeface="宋体" panose="02010600030101010101" pitchFamily="2" charset="-122"/>
              </a:rPr>
              <a:t>通常在驱动程序的</a:t>
            </a:r>
            <a:r>
              <a:rPr lang="zh-CN" altLang="en-US" sz="1300"/>
              <a:t>init</a:t>
            </a:r>
            <a:r>
              <a:rPr lang="zh-CN" altLang="en-US" sz="1300">
                <a:ea typeface="宋体" panose="02010600030101010101" pitchFamily="2" charset="-122"/>
              </a:rPr>
              <a:t>函数中通过调用</a:t>
            </a:r>
            <a:r>
              <a:rPr lang="zh-CN" altLang="en-US" sz="1300"/>
              <a:t>usb_register</a:t>
            </a:r>
            <a:r>
              <a:rPr lang="zh-CN" altLang="en-US" sz="1300">
                <a:ea typeface="宋体" panose="02010600030101010101" pitchFamily="2" charset="-122"/>
              </a:rPr>
              <a:t>来注册</a:t>
            </a:r>
            <a:r>
              <a:rPr lang="zh-CN" altLang="en-US" sz="1300"/>
              <a:t>USB</a:t>
            </a:r>
            <a:r>
              <a:rPr lang="zh-CN" altLang="en-US" sz="1300">
                <a:ea typeface="宋体" panose="02010600030101010101" pitchFamily="2" charset="-122"/>
              </a:rPr>
              <a:t>驱动程序，</a:t>
            </a:r>
            <a:r>
              <a:rPr lang="zh-CN" altLang="en-US" sz="1300"/>
              <a:t>USB</a:t>
            </a:r>
            <a:r>
              <a:rPr lang="zh-CN" altLang="en-US" sz="1300">
                <a:ea typeface="宋体" panose="02010600030101010101" pitchFamily="2" charset="-122"/>
              </a:rPr>
              <a:t>驱动程序在注册时会发送一个命令给</a:t>
            </a:r>
            <a:r>
              <a:rPr lang="zh-CN" altLang="en-US" sz="1300"/>
              <a:t>usb_register</a:t>
            </a:r>
            <a:r>
              <a:rPr lang="zh-CN" altLang="en-US" sz="1300">
                <a:ea typeface="宋体" panose="02010600030101010101" pitchFamily="2" charset="-122"/>
              </a:rPr>
              <a:t>，通常在驱动程序的初始化函数里</a:t>
            </a:r>
            <a:r>
              <a:rPr lang="zh-CN" sz="1800">
                <a:ea typeface="宋体" panose="02010600030101010101" pitchFamily="2" charset="-122"/>
              </a:rPr>
              <a:t>。 </a:t>
            </a:r>
            <a:endParaRPr lang="zh-CN" altLang="en-US" sz="1800"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390" y="2409190"/>
            <a:ext cx="4892040" cy="1706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4065588" cy="3759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任务一：编写</a:t>
            </a:r>
            <a:r>
              <a:rPr lang="en-US" altLang="zh-CN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USB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设备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驱动程序</a:t>
            </a:r>
            <a:endParaRPr lang="zh-CN" altLang="en-US"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346710" y="846455"/>
            <a:ext cx="287782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USB驱动的注册和注销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393700" y="1184910"/>
            <a:ext cx="1717040" cy="2914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（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）注销</a:t>
            </a:r>
            <a:r>
              <a:rPr lang="zh-CN" altLang="en-US"/>
              <a:t>USB</a:t>
            </a:r>
            <a:r>
              <a:rPr lang="zh-CN" altLang="en-US">
                <a:ea typeface="宋体" panose="02010600030101010101" pitchFamily="2" charset="-122"/>
              </a:rPr>
              <a:t>驱动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5965" y="1420495"/>
            <a:ext cx="71227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当要从系统卸载驱动程序时，它需要向USB子系统注销自身。即需要usb_deregister() 函数处理：</a:t>
            </a:r>
            <a:r>
              <a:rPr lang="zh-CN" sz="1800">
                <a:ea typeface="宋体" panose="02010600030101010101" pitchFamily="2" charset="-122"/>
              </a:rPr>
              <a:t>  </a:t>
            </a: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8830" y="2783840"/>
            <a:ext cx="7571740" cy="6915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1300">
                <a:ea typeface="宋体" panose="02010600030101010101" pitchFamily="2" charset="-122"/>
              </a:rPr>
              <a:t>当</a:t>
            </a:r>
            <a:r>
              <a:rPr lang="zh-CN" altLang="en-US" sz="1300"/>
              <a:t>usb</a:t>
            </a:r>
            <a:r>
              <a:rPr lang="zh-CN" altLang="en-US" sz="1300">
                <a:ea typeface="宋体" panose="02010600030101010101" pitchFamily="2" charset="-122"/>
              </a:rPr>
              <a:t>设备插入时，为了使</a:t>
            </a:r>
            <a:r>
              <a:rPr lang="zh-CN" altLang="en-US" sz="1300"/>
              <a:t>linux-hotplug</a:t>
            </a:r>
            <a:r>
              <a:rPr lang="zh-CN" altLang="en-US" sz="1300">
                <a:ea typeface="宋体" panose="02010600030101010101" pitchFamily="2" charset="-122"/>
              </a:rPr>
              <a:t>（</a:t>
            </a:r>
            <a:r>
              <a:rPr lang="zh-CN" altLang="en-US" sz="1300"/>
              <a:t>Linux</a:t>
            </a:r>
            <a:r>
              <a:rPr lang="zh-CN" altLang="en-US" sz="1300">
                <a:ea typeface="宋体" panose="02010600030101010101" pitchFamily="2" charset="-122"/>
              </a:rPr>
              <a:t>中</a:t>
            </a:r>
            <a:r>
              <a:rPr lang="zh-CN" altLang="en-US" sz="1300"/>
              <a:t>PCI</a:t>
            </a:r>
            <a:r>
              <a:rPr lang="zh-CN" altLang="en-US" sz="1300">
                <a:ea typeface="宋体" panose="02010600030101010101" pitchFamily="2" charset="-122"/>
              </a:rPr>
              <a:t>、</a:t>
            </a:r>
            <a:r>
              <a:rPr lang="zh-CN" altLang="en-US" sz="1300"/>
              <a:t>USB</a:t>
            </a:r>
            <a:r>
              <a:rPr lang="zh-CN" altLang="en-US" sz="1300">
                <a:ea typeface="宋体" panose="02010600030101010101" pitchFamily="2" charset="-122"/>
              </a:rPr>
              <a:t>等设备热插拔支持）系统自动装载驱动程序，你需要创建一个</a:t>
            </a:r>
            <a:r>
              <a:rPr lang="zh-CN" altLang="en-US" sz="1300"/>
              <a:t>MODULE_DEVICE_TABLE</a:t>
            </a:r>
            <a:r>
              <a:rPr lang="zh-CN" altLang="en-US" sz="1300">
                <a:ea typeface="宋体" panose="02010600030101010101" pitchFamily="2" charset="-122"/>
              </a:rPr>
              <a:t>。代码如下（这个模块仅支持某一特定设备）： 以下代码告诉热插拔脚本，该模块支持具有特定供应商和产品</a:t>
            </a:r>
            <a:r>
              <a:rPr lang="zh-CN" altLang="en-US" sz="1300"/>
              <a:t>ID</a:t>
            </a:r>
            <a:r>
              <a:rPr lang="zh-CN" altLang="en-US" sz="1300">
                <a:ea typeface="宋体" panose="02010600030101010101" pitchFamily="2" charset="-122"/>
              </a:rPr>
              <a:t>的单个设备（可以用</a:t>
            </a:r>
            <a:r>
              <a:rPr lang="en-US" altLang="zh-CN" sz="1300" b="1">
                <a:ea typeface="宋体" panose="02010600030101010101" pitchFamily="2" charset="-122"/>
              </a:rPr>
              <a:t>lsusb</a:t>
            </a:r>
            <a:r>
              <a:rPr lang="zh-CN" altLang="en-US" sz="1300" b="1">
                <a:ea typeface="宋体" panose="02010600030101010101" pitchFamily="2" charset="-122"/>
              </a:rPr>
              <a:t>命令</a:t>
            </a:r>
            <a:r>
              <a:rPr lang="zh-CN" altLang="en-US" sz="1300">
                <a:ea typeface="宋体" panose="02010600030101010101" pitchFamily="2" charset="-122"/>
              </a:rPr>
              <a:t>查询）：</a:t>
            </a:r>
            <a:endParaRPr lang="zh-CN" altLang="en-US" sz="1300"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300" y="1743710"/>
            <a:ext cx="4549140" cy="10058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005" y="3602355"/>
            <a:ext cx="3343275" cy="11182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25" y="3545205"/>
            <a:ext cx="5053965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4065588" cy="3759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任务一：编写</a:t>
            </a:r>
            <a:r>
              <a:rPr lang="en-US" altLang="zh-CN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USB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设备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驱动程序</a:t>
            </a:r>
            <a:endParaRPr lang="zh-CN" altLang="en-US"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346710" y="846455"/>
            <a:ext cx="287782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4.设备操作接口说明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440690" y="1482725"/>
            <a:ext cx="7861935" cy="6915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1300"/>
              <a:t>    USB_DEVICE</a:t>
            </a:r>
            <a:r>
              <a:rPr lang="zh-CN" altLang="en-US" sz="1300">
                <a:ea typeface="宋体" panose="02010600030101010101" pitchFamily="2" charset="-122"/>
              </a:rPr>
              <a:t>宏利用厂商</a:t>
            </a:r>
            <a:r>
              <a:rPr lang="zh-CN" altLang="en-US" sz="1300"/>
              <a:t>ID</a:t>
            </a:r>
            <a:r>
              <a:rPr lang="zh-CN" altLang="en-US" sz="1300">
                <a:ea typeface="宋体" panose="02010600030101010101" pitchFamily="2" charset="-122"/>
              </a:rPr>
              <a:t>和产品</a:t>
            </a:r>
            <a:r>
              <a:rPr lang="zh-CN" altLang="en-US" sz="1300"/>
              <a:t>ID</a:t>
            </a:r>
            <a:r>
              <a:rPr lang="zh-CN" altLang="en-US" sz="1300">
                <a:ea typeface="宋体" panose="02010600030101010101" pitchFamily="2" charset="-122"/>
              </a:rPr>
              <a:t>为我们提供了一个设备的唯一标识。当系统插入一个</a:t>
            </a:r>
            <a:r>
              <a:rPr lang="zh-CN" altLang="en-US" sz="1300"/>
              <a:t>ID</a:t>
            </a:r>
            <a:r>
              <a:rPr lang="zh-CN" altLang="en-US" sz="1300">
                <a:ea typeface="宋体" panose="02010600030101010101" pitchFamily="2" charset="-122"/>
              </a:rPr>
              <a:t>匹配的</a:t>
            </a:r>
            <a:r>
              <a:rPr lang="zh-CN" altLang="en-US" sz="1300"/>
              <a:t>USB</a:t>
            </a:r>
            <a:r>
              <a:rPr lang="zh-CN" altLang="en-US" sz="1300">
                <a:ea typeface="宋体" panose="02010600030101010101" pitchFamily="2" charset="-122"/>
              </a:rPr>
              <a:t>设备到</a:t>
            </a:r>
            <a:r>
              <a:rPr lang="zh-CN" altLang="en-US" sz="1300"/>
              <a:t>USB</a:t>
            </a:r>
            <a:r>
              <a:rPr lang="zh-CN" altLang="en-US" sz="1300">
                <a:ea typeface="宋体" panose="02010600030101010101" pitchFamily="2" charset="-122"/>
              </a:rPr>
              <a:t>总线时，驱动会在</a:t>
            </a:r>
            <a:r>
              <a:rPr lang="zh-CN" altLang="en-US" sz="1300"/>
              <a:t>USB core</a:t>
            </a:r>
            <a:r>
              <a:rPr lang="zh-CN" altLang="en-US" sz="1300">
                <a:ea typeface="宋体" panose="02010600030101010101" pitchFamily="2" charset="-122"/>
              </a:rPr>
              <a:t>中注册。驱动程序中</a:t>
            </a:r>
            <a:r>
              <a:rPr lang="zh-CN" altLang="en-US" sz="1300"/>
              <a:t>probe </a:t>
            </a:r>
            <a:r>
              <a:rPr lang="zh-CN" altLang="en-US" sz="1300">
                <a:ea typeface="宋体" panose="02010600030101010101" pitchFamily="2" charset="-122"/>
              </a:rPr>
              <a:t>函数也就会被调用。</a:t>
            </a:r>
            <a:r>
              <a:rPr lang="zh-CN" altLang="en-US" sz="1300"/>
              <a:t>usb_device </a:t>
            </a:r>
            <a:r>
              <a:rPr lang="zh-CN" altLang="en-US" sz="1300">
                <a:ea typeface="宋体" panose="02010600030101010101" pitchFamily="2" charset="-122"/>
              </a:rPr>
              <a:t>结构指针、接口号和接口</a:t>
            </a:r>
            <a:r>
              <a:rPr lang="zh-CN" altLang="en-US" sz="1300"/>
              <a:t>ID</a:t>
            </a:r>
            <a:r>
              <a:rPr lang="zh-CN" altLang="en-US" sz="1300">
                <a:ea typeface="宋体" panose="02010600030101010101" pitchFamily="2" charset="-122"/>
              </a:rPr>
              <a:t>都会被传递到函数中。 </a:t>
            </a:r>
            <a:endParaRPr lang="zh-CN" altLang="en-US" sz="1300"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931863" y="2288540"/>
          <a:ext cx="6257925" cy="304800"/>
        </p:xfrm>
        <a:graphic>
          <a:graphicData uri="http://schemas.openxmlformats.org/drawingml/2006/table">
            <a:tbl>
              <a:tblPr/>
              <a:tblGrid>
                <a:gridCol w="6257925"/>
              </a:tblGrid>
              <a:tr h="3048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static int usbdetect_probe(struct usb_interface *interface, const struct usb_device_id *id)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53085" y="2713355"/>
            <a:ext cx="7465695" cy="19837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sz="1300">
                <a:ea typeface="宋体" panose="02010600030101010101" pitchFamily="2" charset="-122"/>
              </a:rPr>
              <a:t>     </a:t>
            </a:r>
            <a:r>
              <a:rPr lang="zh-CN" altLang="en-US" sz="1300">
                <a:ea typeface="宋体" panose="02010600030101010101" pitchFamily="2" charset="-122"/>
              </a:rPr>
              <a:t>驱动程序需要确认插入的设备是否可以被接受，如果是，则返回</a:t>
            </a:r>
            <a:r>
              <a:rPr lang="zh-CN" altLang="en-US" sz="1300"/>
              <a:t>0</a:t>
            </a:r>
            <a:r>
              <a:rPr lang="zh-CN" altLang="en-US" sz="1300">
                <a:ea typeface="宋体" panose="02010600030101010101" pitchFamily="2" charset="-122"/>
              </a:rPr>
              <a:t>；如果不是，或者初始化期间发生任何错误，则从探测函数返回错误代码（例如</a:t>
            </a:r>
            <a:r>
              <a:rPr lang="zh-CN" altLang="en-US" sz="1300"/>
              <a:t>-ENOMEM</a:t>
            </a:r>
            <a:r>
              <a:rPr lang="zh-CN" altLang="en-US" sz="1300">
                <a:ea typeface="宋体" panose="02010600030101010101" pitchFamily="2" charset="-122"/>
              </a:rPr>
              <a:t>或</a:t>
            </a:r>
            <a:r>
              <a:rPr lang="zh-CN" altLang="en-US" sz="1300"/>
              <a:t>-ENODEV</a:t>
            </a:r>
            <a:r>
              <a:rPr lang="zh-CN" altLang="en-US" sz="1300">
                <a:ea typeface="宋体" panose="02010600030101010101" pitchFamily="2" charset="-122"/>
              </a:rPr>
              <a:t>）。 在骨架驱动程序中，我们确定将哪些端点标记为大进大出。我们创建了缓冲区来保存将要从设备发送和接收的数据，并且已初始化了将数据写入设备的</a:t>
            </a:r>
            <a:r>
              <a:rPr lang="zh-CN" altLang="en-US" sz="1300"/>
              <a:t>USB urb</a:t>
            </a:r>
            <a:r>
              <a:rPr lang="zh-CN" altLang="en-US" sz="1300">
                <a:ea typeface="宋体" panose="02010600030101010101" pitchFamily="2" charset="-122"/>
              </a:rPr>
              <a:t>（</a:t>
            </a:r>
            <a:r>
              <a:rPr lang="zh-CN" altLang="en-US" sz="1300"/>
              <a:t>URB</a:t>
            </a:r>
            <a:r>
              <a:rPr lang="zh-CN" altLang="en-US" sz="1300">
                <a:ea typeface="宋体" panose="02010600030101010101" pitchFamily="2" charset="-122"/>
              </a:rPr>
              <a:t>，</a:t>
            </a:r>
            <a:r>
              <a:rPr lang="zh-CN" altLang="en-US" sz="1300"/>
              <a:t>USB Request Block</a:t>
            </a:r>
            <a:r>
              <a:rPr lang="zh-CN" altLang="en-US" sz="1300">
                <a:ea typeface="宋体" panose="02010600030101010101" pitchFamily="2" charset="-122"/>
              </a:rPr>
              <a:t>，</a:t>
            </a:r>
            <a:r>
              <a:rPr lang="zh-CN" altLang="en-US" sz="1300"/>
              <a:t>USB</a:t>
            </a:r>
            <a:r>
              <a:rPr lang="zh-CN" altLang="en-US" sz="1300">
                <a:ea typeface="宋体" panose="02010600030101010101" pitchFamily="2" charset="-122"/>
              </a:rPr>
              <a:t>请求块）。相反，将设备从</a:t>
            </a:r>
            <a:r>
              <a:rPr lang="zh-CN" altLang="en-US" sz="1300"/>
              <a:t>USB</a:t>
            </a:r>
            <a:r>
              <a:rPr lang="zh-CN" altLang="en-US" sz="1300">
                <a:ea typeface="宋体" panose="02010600030101010101" pitchFamily="2" charset="-122"/>
              </a:rPr>
              <a:t>总线中拔出时，设备指针会调用</a:t>
            </a:r>
            <a:r>
              <a:rPr lang="zh-CN" altLang="en-US" sz="1300"/>
              <a:t>disconnect </a:t>
            </a:r>
            <a:r>
              <a:rPr lang="zh-CN" altLang="en-US" sz="1300">
                <a:ea typeface="宋体" panose="02010600030101010101" pitchFamily="2" charset="-122"/>
              </a:rPr>
              <a:t>函数。驱动程序需要清除此时已分配的所有私有数据，并关闭</a:t>
            </a:r>
            <a:r>
              <a:rPr lang="zh-CN" altLang="en-US" sz="1300"/>
              <a:t>USB</a:t>
            </a:r>
            <a:r>
              <a:rPr lang="zh-CN" altLang="en-US" sz="1300">
                <a:ea typeface="宋体" panose="02010600030101010101" pitchFamily="2" charset="-122"/>
              </a:rPr>
              <a:t>系统中所有待定的</a:t>
            </a:r>
            <a:r>
              <a:rPr lang="zh-CN" altLang="en-US" sz="1300"/>
              <a:t>urb</a:t>
            </a:r>
            <a:r>
              <a:rPr lang="zh-CN" altLang="en-US" sz="1300">
                <a:ea typeface="宋体" panose="02010600030101010101" pitchFamily="2" charset="-122"/>
              </a:rPr>
              <a:t>。</a:t>
            </a:r>
            <a:endParaRPr lang="zh-CN" altLang="en-US" sz="1300">
              <a:ea typeface="宋体" panose="02010600030101010101" pitchFamily="2" charset="-122"/>
            </a:endParaRPr>
          </a:p>
          <a:p>
            <a:endParaRPr lang="zh-CN" altLang="en-US" sz="1300">
              <a:ea typeface="宋体" panose="02010600030101010101" pitchFamily="2" charset="-122"/>
            </a:endParaRPr>
          </a:p>
          <a:p>
            <a:pPr algn="ctr"/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本次实验主要在这个函数里边添加一些输出有关</a:t>
            </a:r>
            <a:r>
              <a:rPr lang="en-US" altLang="zh-CN" sz="1600" b="1">
                <a:solidFill>
                  <a:srgbClr val="FF0000"/>
                </a:solidFill>
                <a:ea typeface="宋体" panose="02010600030101010101" pitchFamily="2" charset="-122"/>
              </a:rPr>
              <a:t>U</a:t>
            </a:r>
            <a:r>
              <a:rPr lang="zh-CN" altLang="en-US" sz="1600" b="1">
                <a:solidFill>
                  <a:srgbClr val="FF0000"/>
                </a:solidFill>
                <a:ea typeface="宋体" panose="02010600030101010101" pitchFamily="2" charset="-122"/>
              </a:rPr>
              <a:t>盘信息的代码</a:t>
            </a:r>
            <a:endParaRPr lang="zh-CN" altLang="en-US" sz="1600" b="1">
              <a:solidFill>
                <a:srgbClr val="FF0000"/>
              </a:solidFill>
              <a:ea typeface="宋体" panose="02010600030101010101" pitchFamily="2" charset="-122"/>
            </a:endParaRPr>
          </a:p>
          <a:p>
            <a:endParaRPr lang="zh-CN" altLang="en-US" sz="1600" b="1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3085" y="1137920"/>
            <a:ext cx="45720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（1）探测函数probe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4065588" cy="3759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任务一：编写</a:t>
            </a:r>
            <a:r>
              <a:rPr lang="en-US" altLang="zh-CN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USB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设备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驱动程序</a:t>
            </a:r>
            <a:endParaRPr lang="zh-CN" altLang="en-US"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346710" y="846455"/>
            <a:ext cx="287782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4.设备操作接口说明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393700" y="1304925"/>
            <a:ext cx="2585720" cy="2914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t>抽调函数disconnect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35965" y="1540510"/>
            <a:ext cx="71227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当用户程序释放它用来与设备通信的文件句柄时，将调用驱动程序中的skel_disconnect函数。</a:t>
            </a:r>
            <a:r>
              <a:rPr lang="zh-CN" sz="1800">
                <a:ea typeface="宋体" panose="02010600030101010101" pitchFamily="2" charset="-122"/>
              </a:rPr>
              <a:t>  </a:t>
            </a:r>
            <a:endParaRPr lang="zh-CN" altLang="en-US" sz="1800">
              <a:ea typeface="宋体" panose="02010600030101010101" pitchFamily="2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963295" y="1993900"/>
          <a:ext cx="6257925" cy="304800"/>
        </p:xfrm>
        <a:graphic>
          <a:graphicData uri="http://schemas.openxmlformats.org/drawingml/2006/table">
            <a:tbl>
              <a:tblPr/>
              <a:tblGrid>
                <a:gridCol w="6257925"/>
              </a:tblGrid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// 参见 drivers/usb/usb-skeleton.c </a:t>
                      </a:r>
                      <a:endParaRPr 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static void skel_disconnect(struct usb_interface *interface)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4065588" cy="3759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任务一：编写</a:t>
            </a:r>
            <a:r>
              <a:rPr lang="en-US" altLang="zh-CN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USB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设备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驱动程序</a:t>
            </a:r>
            <a:endParaRPr lang="zh-CN" altLang="en-US"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346710" y="846455"/>
            <a:ext cx="287782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4.设备操作接口说明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393700" y="1184910"/>
            <a:ext cx="2585720" cy="2914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t>delete函数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47090" y="2777490"/>
            <a:ext cx="6976745" cy="1168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如果程序有一个打开的设备句柄，在当前结构里，我们只要把它赋值为空，就像它已经消失了。对于每一次设备读写等其它函数操作，我们都要检查</a:t>
            </a:r>
            <a:r>
              <a:rPr lang="zh-CN" altLang="en-US"/>
              <a:t>usb_device</a:t>
            </a:r>
            <a:r>
              <a:rPr lang="zh-CN" altLang="en-US">
                <a:ea typeface="宋体" panose="02010600030101010101" pitchFamily="2" charset="-122"/>
              </a:rPr>
              <a:t>结构是否存在。如果不存在，就表明设备已经消失，并返回一个</a:t>
            </a:r>
            <a:r>
              <a:rPr lang="zh-CN" altLang="en-US"/>
              <a:t>-ENODEV</a:t>
            </a:r>
            <a:r>
              <a:rPr lang="zh-CN" altLang="en-US">
                <a:ea typeface="宋体" panose="02010600030101010101" pitchFamily="2" charset="-122"/>
              </a:rPr>
              <a:t>错误给用户程序。当最终我们调用</a:t>
            </a:r>
            <a:r>
              <a:rPr lang="zh-CN" altLang="en-US"/>
              <a:t>release </a:t>
            </a:r>
            <a:r>
              <a:rPr lang="zh-CN" altLang="en-US">
                <a:ea typeface="宋体" panose="02010600030101010101" pitchFamily="2" charset="-122"/>
              </a:rPr>
              <a:t>函数时，在没有文件打开这个设备时，无论</a:t>
            </a:r>
            <a:r>
              <a:rPr lang="zh-CN" altLang="en-US"/>
              <a:t>usb_device</a:t>
            </a:r>
            <a:r>
              <a:rPr lang="zh-CN" altLang="en-US">
                <a:ea typeface="宋体" panose="02010600030101010101" pitchFamily="2" charset="-122"/>
              </a:rPr>
              <a:t>结构是否存在、它都会清空</a:t>
            </a:r>
            <a:r>
              <a:rPr lang="zh-CN" altLang="en-US"/>
              <a:t>skel_disconnect</a:t>
            </a:r>
            <a:r>
              <a:rPr lang="zh-CN" altLang="en-US">
                <a:ea typeface="宋体" panose="02010600030101010101" pitchFamily="2" charset="-122"/>
              </a:rPr>
              <a:t>函数所作工作。</a:t>
            </a:r>
            <a:r>
              <a:rPr lang="zh-CN" sz="1800">
                <a:ea typeface="宋体" panose="02010600030101010101" pitchFamily="2" charset="-122"/>
              </a:rPr>
              <a:t> </a:t>
            </a:r>
            <a:endParaRPr lang="zh-CN" altLang="en-US" sz="1800">
              <a:ea typeface="宋体" panose="02010600030101010101" pitchFamily="2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955040" y="2360930"/>
          <a:ext cx="5937250" cy="304800"/>
        </p:xfrm>
        <a:graphic>
          <a:graphicData uri="http://schemas.openxmlformats.org/drawingml/2006/table">
            <a:tbl>
              <a:tblPr/>
              <a:tblGrid>
                <a:gridCol w="5937250"/>
              </a:tblGrid>
              <a:tr h="152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/</a:t>
                      </a: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 参见 drivers/usb/usb-skeleton.c</a:t>
                      </a:r>
                      <a:endParaRPr 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static void usbdetect_delete(struct kref *kref)</a:t>
                      </a:r>
                      <a:endParaRPr lang="en-US" sz="10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794385" y="1570355"/>
            <a:ext cx="6737350" cy="691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由于usb 设备可以在任何时间点从系统中取走，即使程序目前正在访问它。usb驱动程序必须要能够很好地处理解决此问题，它需要能够切断任何当前的读写，同时通知用户空间程序：usb设备已不存在。此操作由 skel_delete函数执行。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4065588" cy="3759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任务一：编写</a:t>
            </a:r>
            <a:r>
              <a:rPr lang="en-US" altLang="zh-CN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USB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设备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驱动程序</a:t>
            </a:r>
            <a:endParaRPr lang="zh-CN" altLang="en-US"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346710" y="846455"/>
            <a:ext cx="287782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二.实验步骤 </a:t>
            </a:r>
            <a:endParaRPr lang="zh-CN" altLang="en-US"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2032000" y="5584190"/>
            <a:ext cx="50800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sz="1800">
                <a:latin typeface="宋体" panose="02010600030101010101" pitchFamily="2" charset="-122"/>
              </a:rPr>
              <a:t> </a:t>
            </a:r>
            <a:endParaRPr lang="en-US" altLang="en-US" sz="1800">
              <a:latin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5155" y="1356995"/>
            <a:ext cx="7582535" cy="1491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使用</a:t>
            </a:r>
            <a:r>
              <a:rPr lang="en-US" altLang="zh-CN"/>
              <a:t>lsusb</a:t>
            </a:r>
            <a:r>
              <a:rPr lang="zh-CN" altLang="en-US"/>
              <a:t>指令查看自己</a:t>
            </a:r>
            <a:r>
              <a:rPr lang="en-US" altLang="zh-CN"/>
              <a:t>U</a:t>
            </a:r>
            <a:r>
              <a:rPr lang="zh-CN" altLang="en-US"/>
              <a:t>盘的</a:t>
            </a:r>
            <a:r>
              <a:rPr lang="en-US" altLang="zh-CN"/>
              <a:t>id</a:t>
            </a:r>
            <a:r>
              <a:rPr lang="zh-CN" altLang="en-US"/>
              <a:t>以及厂商</a:t>
            </a:r>
            <a:r>
              <a:rPr lang="en-US" altLang="zh-CN"/>
              <a:t>id,</a:t>
            </a:r>
            <a:r>
              <a:rPr lang="zh-CN" altLang="en-US"/>
              <a:t>并修改代码中对应的宏定义</a:t>
            </a:r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卸载系统自带的</a:t>
            </a:r>
            <a:r>
              <a:rPr lang="en-US" altLang="zh-CN"/>
              <a:t>usb</a:t>
            </a:r>
            <a:r>
              <a:rPr lang="zh-CN" altLang="en-US"/>
              <a:t>驱动，否则系统根据优先级会首先使用系统自带的驱动，就无法检测自己加载的驱动了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修改static int usbdetect_probe(struct usb_interface *interface, const struct usb_device_id *id)函数，使其可以在</a:t>
            </a:r>
            <a:r>
              <a:rPr lang="en-US" altLang="zh-CN"/>
              <a:t>U</a:t>
            </a:r>
            <a:r>
              <a:rPr lang="zh-CN" altLang="en-US"/>
              <a:t>盘插入后打印</a:t>
            </a:r>
            <a:r>
              <a:rPr lang="en-US" altLang="zh-CN"/>
              <a:t>U</a:t>
            </a:r>
            <a:r>
              <a:rPr lang="zh-CN" altLang="en-US"/>
              <a:t>盘USB_DETECT_VENDOR_ID和USB_DETECT_PRODUCT_ID，以及产品的名字和生产厂商</a:t>
            </a:r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修改static void usbdetect_disconnect(struct usb_interface *interface)函数，使其可以检测</a:t>
            </a:r>
            <a:r>
              <a:rPr lang="en-US" altLang="zh-CN"/>
              <a:t>U</a:t>
            </a:r>
            <a:r>
              <a:rPr lang="zh-CN" altLang="en-US"/>
              <a:t>盘拔出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4065588" cy="3759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任务一：编写</a:t>
            </a:r>
            <a:r>
              <a:rPr lang="en-US" altLang="zh-CN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USB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设备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驱动程序</a:t>
            </a:r>
            <a:endParaRPr lang="zh-CN" altLang="en-US"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346710" y="846455"/>
            <a:ext cx="287782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三.用lsusb命令查看U盘的信息 </a:t>
            </a:r>
            <a:endParaRPr lang="zh-CN" altLang="en-US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6710" y="1170305"/>
            <a:ext cx="8325485" cy="6915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在</a:t>
            </a:r>
            <a:r>
              <a:rPr lang="zh-CN" altLang="en-US"/>
              <a:t> Linux </a:t>
            </a:r>
            <a:r>
              <a:rPr lang="zh-CN" altLang="en-US">
                <a:ea typeface="宋体" panose="02010600030101010101" pitchFamily="2" charset="-122"/>
              </a:rPr>
              <a:t>中我们可以使用</a:t>
            </a:r>
            <a:r>
              <a:rPr lang="zh-CN" altLang="en-US"/>
              <a:t> lsusb </a:t>
            </a:r>
            <a:r>
              <a:rPr lang="zh-CN" altLang="en-US">
                <a:ea typeface="宋体" panose="02010600030101010101" pitchFamily="2" charset="-122"/>
              </a:rPr>
              <a:t>来列出</a:t>
            </a:r>
            <a:r>
              <a:rPr lang="zh-CN" altLang="en-US"/>
              <a:t> USB </a:t>
            </a:r>
            <a:r>
              <a:rPr lang="zh-CN" altLang="en-US">
                <a:ea typeface="宋体" panose="02010600030101010101" pitchFamily="2" charset="-122"/>
              </a:rPr>
              <a:t>设备和它的属性，</a:t>
            </a:r>
            <a:r>
              <a:rPr lang="zh-CN" altLang="en-US"/>
              <a:t>lsusb </a:t>
            </a:r>
            <a:r>
              <a:rPr lang="zh-CN" altLang="en-US">
                <a:ea typeface="宋体" panose="02010600030101010101" pitchFamily="2" charset="-122"/>
              </a:rPr>
              <a:t>会显示驱动和内部连接到你系统的设备。直接在控制台输入</a:t>
            </a:r>
            <a:r>
              <a:rPr lang="zh-CN" altLang="en-US"/>
              <a:t> lsusb </a:t>
            </a:r>
            <a:r>
              <a:rPr lang="zh-CN" altLang="en-US">
                <a:ea typeface="宋体" panose="02010600030101010101" pitchFamily="2" charset="-122"/>
              </a:rPr>
              <a:t>即可。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3875" y="1647190"/>
            <a:ext cx="765937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1000">
                <a:ea typeface="宋体" panose="02010600030101010101" pitchFamily="2" charset="-122"/>
              </a:rPr>
              <a:t>输出内容说明：（</a:t>
            </a:r>
            <a:r>
              <a:rPr lang="zh-CN" altLang="en-US" sz="1000"/>
              <a:t>1</a:t>
            </a:r>
            <a:r>
              <a:rPr lang="zh-CN" altLang="en-US" sz="1000">
                <a:ea typeface="宋体" panose="02010600030101010101" pitchFamily="2" charset="-122"/>
              </a:rPr>
              <a:t>）</a:t>
            </a:r>
            <a:r>
              <a:rPr lang="zh-CN" altLang="en-US" sz="1000"/>
              <a:t>Bus 001 </a:t>
            </a:r>
            <a:r>
              <a:rPr lang="zh-CN" altLang="en-US" sz="1000">
                <a:ea typeface="宋体" panose="02010600030101010101" pitchFamily="2" charset="-122"/>
              </a:rPr>
              <a:t>表示第</a:t>
            </a:r>
            <a:r>
              <a:rPr lang="zh-CN" altLang="en-US" sz="1000"/>
              <a:t>1</a:t>
            </a:r>
            <a:r>
              <a:rPr lang="zh-CN" altLang="en-US" sz="1000">
                <a:ea typeface="宋体" panose="02010600030101010101" pitchFamily="2" charset="-122"/>
              </a:rPr>
              <a:t>个</a:t>
            </a:r>
            <a:r>
              <a:rPr lang="zh-CN" altLang="en-US" sz="1000"/>
              <a:t>usb</a:t>
            </a:r>
            <a:r>
              <a:rPr lang="zh-CN" altLang="en-US" sz="1000">
                <a:ea typeface="宋体" panose="02010600030101010101" pitchFamily="2" charset="-122"/>
              </a:rPr>
              <a:t>主控制器（机器上总共有</a:t>
            </a:r>
            <a:r>
              <a:rPr lang="zh-CN" altLang="en-US" sz="1000"/>
              <a:t>1</a:t>
            </a:r>
            <a:r>
              <a:rPr lang="zh-CN" altLang="en-US" sz="1000">
                <a:ea typeface="宋体" panose="02010600030101010101" pitchFamily="2" charset="-122"/>
              </a:rPr>
              <a:t>个</a:t>
            </a:r>
            <a:r>
              <a:rPr lang="zh-CN" altLang="en-US" sz="1000"/>
              <a:t>usb</a:t>
            </a:r>
            <a:r>
              <a:rPr lang="zh-CN" altLang="en-US" sz="1000">
                <a:ea typeface="宋体" panose="02010600030101010101" pitchFamily="2" charset="-122"/>
              </a:rPr>
              <a:t>主控制器 </a:t>
            </a:r>
            <a:r>
              <a:rPr lang="zh-CN" altLang="en-US" sz="1000"/>
              <a:t>-- </a:t>
            </a:r>
            <a:r>
              <a:rPr lang="zh-CN" altLang="en-US" sz="1000">
                <a:ea typeface="宋体" panose="02010600030101010101" pitchFamily="2" charset="-122"/>
              </a:rPr>
              <a:t>可以通过命令</a:t>
            </a:r>
            <a:r>
              <a:rPr lang="zh-CN" altLang="en-US" sz="1000"/>
              <a:t>lspci | grep USB</a:t>
            </a:r>
            <a:r>
              <a:rPr lang="zh-CN" altLang="en-US" sz="1000">
                <a:ea typeface="宋体" panose="02010600030101010101" pitchFamily="2" charset="-122"/>
              </a:rPr>
              <a:t>查看，</a:t>
            </a:r>
            <a:r>
              <a:rPr lang="zh-CN" altLang="en-US" sz="1000"/>
              <a:t>dnf install -y pciutils </a:t>
            </a:r>
            <a:r>
              <a:rPr lang="zh-CN" altLang="en-US" sz="1000">
                <a:ea typeface="宋体" panose="02010600030101010101" pitchFamily="2" charset="-122"/>
              </a:rPr>
              <a:t>可安装</a:t>
            </a:r>
            <a:r>
              <a:rPr lang="zh-CN" altLang="en-US" sz="1000"/>
              <a:t>lspci</a:t>
            </a:r>
            <a:r>
              <a:rPr lang="zh-CN" altLang="en-US" sz="1000">
                <a:ea typeface="宋体" panose="02010600030101010101" pitchFamily="2" charset="-122"/>
              </a:rPr>
              <a:t>命令）</a:t>
            </a:r>
            <a:endParaRPr lang="zh-CN" altLang="en-US" sz="1000"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/>
          <p:nvPr/>
        </p:nvPicPr>
        <p:blipFill>
          <a:blip r:embed="rId2"/>
          <a:stretch>
            <a:fillRect/>
          </a:stretch>
        </p:blipFill>
        <p:spPr>
          <a:xfrm>
            <a:off x="1579880" y="2200275"/>
            <a:ext cx="4328160" cy="2819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1" name="文本框 100"/>
          <p:cNvSpPr txBox="1"/>
          <p:nvPr/>
        </p:nvSpPr>
        <p:spPr>
          <a:xfrm>
            <a:off x="523875" y="2482215"/>
            <a:ext cx="7599045" cy="1168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1000">
                <a:ea typeface="宋体" panose="02010600030101010101" pitchFamily="2" charset="-122"/>
              </a:rPr>
              <a:t>（</a:t>
            </a:r>
            <a:r>
              <a:rPr lang="zh-CN" altLang="en-US" sz="1000"/>
              <a:t>2</a:t>
            </a:r>
            <a:r>
              <a:rPr lang="zh-CN" altLang="en-US" sz="1000">
                <a:ea typeface="宋体" panose="02010600030101010101" pitchFamily="2" charset="-122"/>
              </a:rPr>
              <a:t>）</a:t>
            </a:r>
            <a:r>
              <a:rPr lang="zh-CN" altLang="en-US" sz="1000"/>
              <a:t>Device 00</a:t>
            </a:r>
            <a:r>
              <a:rPr lang="en-US" altLang="zh-CN" sz="1000"/>
              <a:t>3</a:t>
            </a:r>
            <a:r>
              <a:rPr lang="zh-CN" altLang="en-US" sz="1000"/>
              <a:t>    </a:t>
            </a:r>
            <a:r>
              <a:rPr lang="zh-CN" altLang="en-US" sz="1000">
                <a:ea typeface="宋体" panose="02010600030101010101" pitchFamily="2" charset="-122"/>
              </a:rPr>
              <a:t>表示系统给</a:t>
            </a:r>
            <a:r>
              <a:rPr lang="zh-CN" altLang="en-US" sz="1000"/>
              <a:t>usb</a:t>
            </a:r>
            <a:r>
              <a:rPr lang="zh-CN" altLang="en-US" sz="1000">
                <a:ea typeface="宋体" panose="02010600030101010101" pitchFamily="2" charset="-122"/>
              </a:rPr>
              <a:t>设备分配的设备号</a:t>
            </a:r>
            <a:r>
              <a:rPr lang="zh-CN" altLang="en-US" sz="1000"/>
              <a:t>(devnum)</a:t>
            </a:r>
            <a:r>
              <a:rPr lang="zh-CN" altLang="en-US" sz="1000">
                <a:ea typeface="宋体" panose="02010600030101010101" pitchFamily="2" charset="-122"/>
              </a:rPr>
              <a:t>，同时也可以看到该设备是插入到了第一个</a:t>
            </a:r>
            <a:r>
              <a:rPr lang="zh-CN" altLang="en-US" sz="1000"/>
              <a:t>usb</a:t>
            </a:r>
            <a:r>
              <a:rPr lang="zh-CN" altLang="en-US" sz="1000">
                <a:ea typeface="宋体" panose="02010600030101010101" pitchFamily="2" charset="-122"/>
              </a:rPr>
              <a:t>主控制器</a:t>
            </a:r>
            <a:r>
              <a:rPr lang="en-US" altLang="zh-CN" sz="1000">
                <a:ea typeface="宋体" panose="02010600030101010101" pitchFamily="2" charset="-122"/>
              </a:rPr>
              <a:t>(</a:t>
            </a:r>
            <a:r>
              <a:rPr lang="zh-CN" altLang="en-US" sz="1000">
                <a:ea typeface="宋体" panose="02010600030101010101" pitchFamily="2" charset="-122"/>
              </a:rPr>
              <a:t>每插拔一次</a:t>
            </a:r>
            <a:r>
              <a:rPr lang="en-US" altLang="zh-CN" sz="1000">
                <a:ea typeface="宋体" panose="02010600030101010101" pitchFamily="2" charset="-122"/>
              </a:rPr>
              <a:t> Device</a:t>
            </a:r>
            <a:r>
              <a:rPr lang="zh-CN" altLang="en-US" sz="1000">
                <a:ea typeface="宋体" panose="02010600030101010101" pitchFamily="2" charset="-122"/>
              </a:rPr>
              <a:t>编号会加</a:t>
            </a:r>
            <a:r>
              <a:rPr lang="en-US" altLang="zh-CN" sz="1000">
                <a:ea typeface="宋体" panose="02010600030101010101" pitchFamily="2" charset="-122"/>
              </a:rPr>
              <a:t>1)</a:t>
            </a:r>
            <a:r>
              <a:rPr lang="zh-CN" altLang="en-US" sz="1000">
                <a:ea typeface="宋体" panose="02010600030101010101" pitchFamily="2" charset="-122"/>
              </a:rPr>
              <a:t>（</a:t>
            </a:r>
            <a:r>
              <a:rPr lang="zh-CN" altLang="en-US" sz="1000"/>
              <a:t>3</a:t>
            </a:r>
            <a:r>
              <a:rPr lang="zh-CN" altLang="en-US" sz="1000">
                <a:ea typeface="宋体" panose="02010600030101010101" pitchFamily="2" charset="-122"/>
              </a:rPr>
              <a:t>）</a:t>
            </a:r>
            <a:r>
              <a:rPr lang="zh-CN" altLang="en-US" sz="1000"/>
              <a:t>ID 2109:3431    </a:t>
            </a:r>
            <a:r>
              <a:rPr lang="zh-CN" altLang="en-US" sz="1000">
                <a:ea typeface="宋体" panose="02010600030101010101" pitchFamily="2" charset="-122"/>
              </a:rPr>
              <a:t>表示</a:t>
            </a:r>
            <a:r>
              <a:rPr lang="zh-CN" altLang="en-US" sz="1000"/>
              <a:t>usb</a:t>
            </a:r>
            <a:r>
              <a:rPr lang="zh-CN" altLang="en-US" sz="1000">
                <a:ea typeface="宋体" panose="02010600030101010101" pitchFamily="2" charset="-122"/>
              </a:rPr>
              <a:t>设备的</a:t>
            </a:r>
            <a:r>
              <a:rPr lang="zh-CN" altLang="en-US" sz="1000"/>
              <a:t>ID</a:t>
            </a:r>
            <a:r>
              <a:rPr lang="zh-CN" altLang="en-US" sz="1000">
                <a:ea typeface="宋体" panose="02010600030101010101" pitchFamily="2" charset="-122"/>
              </a:rPr>
              <a:t>（这个</a:t>
            </a:r>
            <a:r>
              <a:rPr lang="zh-CN" altLang="en-US" sz="1000"/>
              <a:t>ID</a:t>
            </a:r>
            <a:r>
              <a:rPr lang="zh-CN" altLang="en-US" sz="1000">
                <a:ea typeface="宋体" panose="02010600030101010101" pitchFamily="2" charset="-122"/>
              </a:rPr>
              <a:t>由芯片制造商设置，可以唯一表示该设备）</a:t>
            </a:r>
            <a:r>
              <a:rPr lang="zh-CN" altLang="en-US" sz="1000"/>
              <a:t>    </a:t>
            </a:r>
            <a:r>
              <a:rPr lang="zh-CN" altLang="en-US" sz="1000">
                <a:solidFill>
                  <a:srgbClr val="FF0000"/>
                </a:solidFill>
              </a:rPr>
              <a:t>0951    USB_DETECT_VENDOR_ID    160b    USB_DETECT_PRODUCT_ID（此处需要和代码中对应，否则驱动程序无法识别你的</a:t>
            </a:r>
            <a:r>
              <a:rPr lang="en-US" altLang="zh-CN" sz="1000">
                <a:solidFill>
                  <a:srgbClr val="FF0000"/>
                </a:solidFill>
              </a:rPr>
              <a:t>U</a:t>
            </a:r>
            <a:r>
              <a:rPr lang="zh-CN" altLang="en-US" sz="1000">
                <a:solidFill>
                  <a:srgbClr val="FF0000"/>
                </a:solidFill>
              </a:rPr>
              <a:t>盘）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 sz="1000">
                <a:ea typeface="宋体" panose="02010600030101010101" pitchFamily="2" charset="-122"/>
              </a:rPr>
              <a:t>例如：插</a:t>
            </a:r>
            <a:r>
              <a:rPr lang="zh-CN" altLang="en-US" sz="1000"/>
              <a:t>U</a:t>
            </a:r>
            <a:r>
              <a:rPr lang="zh-CN" altLang="en-US" sz="1000">
                <a:ea typeface="宋体" panose="02010600030101010101" pitchFamily="2" charset="-122"/>
              </a:rPr>
              <a:t>盘前后，</a:t>
            </a:r>
            <a:r>
              <a:rPr lang="zh-CN" altLang="en-US" sz="1000"/>
              <a:t>lsusb</a:t>
            </a:r>
            <a:r>
              <a:rPr lang="zh-CN" altLang="en-US" sz="1000">
                <a:ea typeface="宋体" panose="02010600030101010101" pitchFamily="2" charset="-122"/>
              </a:rPr>
              <a:t>的列表变化：</a:t>
            </a:r>
            <a:endParaRPr lang="zh-CN" altLang="en-US" sz="1000">
              <a:ea typeface="宋体" panose="02010600030101010101" pitchFamily="2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2032000" y="5584190"/>
            <a:ext cx="50800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sz="1800">
                <a:latin typeface="宋体" panose="02010600030101010101" pitchFamily="2" charset="-122"/>
              </a:rPr>
              <a:t> </a:t>
            </a:r>
            <a:endParaRPr lang="en-US" altLang="en-US" sz="1800">
              <a:latin typeface="宋体" panose="02010600030101010101" pitchFamily="2" charset="-122"/>
            </a:endParaRP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110" y="3614420"/>
            <a:ext cx="4638675" cy="1314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4065588" cy="3759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任务一：编写</a:t>
            </a:r>
            <a:r>
              <a:rPr lang="en-US" altLang="zh-CN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USB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设备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驱动程序</a:t>
            </a:r>
            <a:endParaRPr lang="zh-CN" altLang="en-US"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346710" y="846455"/>
            <a:ext cx="287782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四.实验结果及注意事项</a:t>
            </a:r>
            <a:endParaRPr lang="zh-CN" altLang="en-US"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2032000" y="5584190"/>
            <a:ext cx="50800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sz="1800">
                <a:latin typeface="宋体" panose="02010600030101010101" pitchFamily="2" charset="-122"/>
              </a:rPr>
              <a:t> </a:t>
            </a:r>
            <a:endParaRPr lang="en-US" altLang="en-US" sz="1800">
              <a:latin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46075" y="1205230"/>
            <a:ext cx="8298180" cy="189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1300">
                <a:ea typeface="宋体" panose="02010600030101010101" pitchFamily="2" charset="-122"/>
              </a:rPr>
              <a:t>在电脑的</a:t>
            </a:r>
            <a:r>
              <a:rPr lang="zh-CN" altLang="en-US" sz="1300"/>
              <a:t>usb</a:t>
            </a:r>
            <a:r>
              <a:rPr lang="zh-CN" altLang="en-US" sz="1300">
                <a:ea typeface="宋体" panose="02010600030101010101" pitchFamily="2" charset="-122"/>
              </a:rPr>
              <a:t>接口插入</a:t>
            </a:r>
            <a:r>
              <a:rPr lang="zh-CN" altLang="en-US" sz="1300"/>
              <a:t>U</a:t>
            </a:r>
            <a:r>
              <a:rPr lang="zh-CN" altLang="en-US" sz="1300">
                <a:ea typeface="宋体" panose="02010600030101010101" pitchFamily="2" charset="-122"/>
              </a:rPr>
              <a:t>盘后，查看信息可见，模块检测到</a:t>
            </a:r>
            <a:r>
              <a:rPr lang="zh-CN" altLang="en-US" sz="1300"/>
              <a:t>U</a:t>
            </a:r>
            <a:r>
              <a:rPr lang="zh-CN" altLang="en-US" sz="1300">
                <a:ea typeface="宋体" panose="02010600030101010101" pitchFamily="2" charset="-122"/>
              </a:rPr>
              <a:t>盘插入；并且获取到的</a:t>
            </a:r>
            <a:r>
              <a:rPr lang="zh-CN" altLang="en-US" sz="1300"/>
              <a:t>U</a:t>
            </a:r>
            <a:r>
              <a:rPr lang="zh-CN" altLang="en-US" sz="1300">
                <a:ea typeface="宋体" panose="02010600030101010101" pitchFamily="2" charset="-122"/>
              </a:rPr>
              <a:t>盘信息与</a:t>
            </a:r>
            <a:r>
              <a:rPr lang="zh-CN" altLang="en-US" sz="1300"/>
              <a:t>lsusb</a:t>
            </a:r>
            <a:r>
              <a:rPr lang="zh-CN" altLang="en-US" sz="1300">
                <a:ea typeface="宋体" panose="02010600030101010101" pitchFamily="2" charset="-122"/>
              </a:rPr>
              <a:t>显示的一致。说明：（</a:t>
            </a:r>
            <a:r>
              <a:rPr lang="zh-CN" altLang="en-US" sz="1300"/>
              <a:t>a</a:t>
            </a:r>
            <a:r>
              <a:rPr lang="zh-CN" altLang="en-US" sz="1300">
                <a:ea typeface="宋体" panose="02010600030101010101" pitchFamily="2" charset="-122"/>
              </a:rPr>
              <a:t>）设备号</a:t>
            </a:r>
            <a:r>
              <a:rPr lang="zh-CN" altLang="en-US" sz="1300"/>
              <a:t> device number </a:t>
            </a:r>
            <a:r>
              <a:rPr lang="zh-CN" altLang="en-US" sz="1300">
                <a:ea typeface="宋体" panose="02010600030101010101" pitchFamily="2" charset="-122"/>
              </a:rPr>
              <a:t>对应的数字是不断递增的，插拔一次</a:t>
            </a:r>
            <a:r>
              <a:rPr lang="zh-CN" altLang="en-US" sz="1300"/>
              <a:t>U</a:t>
            </a:r>
            <a:r>
              <a:rPr lang="zh-CN" altLang="en-US" sz="1300">
                <a:ea typeface="宋体" panose="02010600030101010101" pitchFamily="2" charset="-122"/>
              </a:rPr>
              <a:t>盘，设备号加</a:t>
            </a:r>
            <a:r>
              <a:rPr lang="zh-CN" altLang="en-US" sz="1300"/>
              <a:t>1</a:t>
            </a:r>
            <a:r>
              <a:rPr lang="zh-CN" altLang="en-US" sz="1300">
                <a:ea typeface="宋体" panose="02010600030101010101" pitchFamily="2" charset="-122"/>
              </a:rPr>
              <a:t>。</a:t>
            </a:r>
            <a:r>
              <a:rPr lang="zh-CN" altLang="en-US" sz="1300"/>
              <a:t>(b)</a:t>
            </a:r>
            <a:r>
              <a:rPr lang="zh-CN" altLang="en-US" sz="1300">
                <a:ea typeface="宋体" panose="02010600030101010101" pitchFamily="2" charset="-122"/>
              </a:rPr>
              <a:t>此处需要先卸载系统自带的</a:t>
            </a:r>
            <a:r>
              <a:rPr lang="zh-CN" altLang="en-US" sz="1300"/>
              <a:t>usb</a:t>
            </a:r>
            <a:r>
              <a:rPr lang="zh-CN" altLang="en-US" sz="1300">
                <a:ea typeface="宋体" panose="02010600030101010101" pitchFamily="2" charset="-122"/>
              </a:rPr>
              <a:t>驱动程序，否则系统自带的驱动优先级大于自己编写的驱动，会自动覆盖我们的驱动，可以用</a:t>
            </a:r>
            <a:r>
              <a:rPr lang="zh-CN" altLang="en-US" sz="1300"/>
              <a:t>lsmod</a:t>
            </a:r>
            <a:r>
              <a:rPr lang="zh-CN" altLang="en-US" sz="1300">
                <a:ea typeface="宋体" panose="02010600030101010101" pitchFamily="2" charset="-122"/>
              </a:rPr>
              <a:t>查询驱动模块，需要卸载</a:t>
            </a:r>
            <a:r>
              <a:rPr lang="zh-CN" altLang="en-US" sz="1300"/>
              <a:t>usa</a:t>
            </a:r>
            <a:r>
              <a:rPr lang="zh-CN" altLang="en-US" sz="1300">
                <a:ea typeface="宋体" panose="02010600030101010101" pitchFamily="2" charset="-122"/>
              </a:rPr>
              <a:t>和</a:t>
            </a:r>
            <a:r>
              <a:rPr lang="zh-CN" altLang="en-US" sz="1300"/>
              <a:t>usb_storage</a:t>
            </a:r>
            <a:r>
              <a:rPr lang="zh-CN" altLang="en-US" sz="1300">
                <a:ea typeface="宋体" panose="02010600030101010101" pitchFamily="2" charset="-122"/>
              </a:rPr>
              <a:t>驱动，并将其加入黑名单，否则卸载</a:t>
            </a:r>
            <a:r>
              <a:rPr lang="zh-CN" altLang="en-US" sz="1300">
                <a:ea typeface="宋体" panose="02010600030101010101" pitchFamily="2" charset="-122"/>
              </a:rPr>
              <a:t>之后系统可能自动加载这两个驱动。卸载命令：</a:t>
            </a:r>
            <a:r>
              <a:rPr lang="zh-CN" altLang="en-US" sz="1300"/>
              <a:t>sudo rmmod uas</a:t>
            </a:r>
            <a:endParaRPr lang="zh-CN" altLang="en-US" sz="1300"/>
          </a:p>
          <a:p>
            <a:r>
              <a:rPr lang="en-US" altLang="zh-CN" sz="1300"/>
              <a:t>                  </a:t>
            </a:r>
            <a:r>
              <a:rPr lang="zh-CN" altLang="en-US" sz="1300"/>
              <a:t>sudo rmmod usb_storage</a:t>
            </a:r>
            <a:r>
              <a:rPr lang="zh-CN" altLang="en-US" sz="1300">
                <a:ea typeface="宋体" panose="02010600030101010101" pitchFamily="2" charset="-122"/>
              </a:rPr>
              <a:t>加入黑名单的方法：编辑 </a:t>
            </a:r>
            <a:r>
              <a:rPr lang="zh-CN" altLang="en-US" sz="1300"/>
              <a:t>/etc/modprobe.d/blacklist.conf</a:t>
            </a:r>
            <a:r>
              <a:rPr lang="zh-CN" altLang="en-US" sz="1300">
                <a:ea typeface="宋体" panose="02010600030101010101" pitchFamily="2" charset="-122"/>
              </a:rPr>
              <a:t> 文件，添加</a:t>
            </a:r>
            <a:r>
              <a:rPr lang="zh-CN" altLang="en-US" sz="1300"/>
              <a:t>blacklist usb_storage</a:t>
            </a:r>
            <a:r>
              <a:rPr lang="zh-CN" altLang="en-US" sz="1300">
                <a:ea typeface="宋体" panose="02010600030101010101" pitchFamily="2" charset="-122"/>
              </a:rPr>
              <a:t>和 </a:t>
            </a:r>
            <a:r>
              <a:rPr lang="zh-CN" altLang="en-US" sz="1300"/>
              <a:t>blacklist uas</a:t>
            </a:r>
            <a:r>
              <a:rPr lang="zh-CN" altLang="en-US" sz="1300">
                <a:ea typeface="宋体" panose="02010600030101010101" pitchFamily="2" charset="-122"/>
              </a:rPr>
              <a:t>，最后重启系统，或者使用</a:t>
            </a:r>
            <a:r>
              <a:rPr lang="zh-CN" altLang="en-US" sz="1300"/>
              <a:t>update-initramfs -u </a:t>
            </a:r>
            <a:r>
              <a:rPr lang="zh-CN" altLang="en-US" sz="1300">
                <a:ea typeface="宋体" panose="02010600030101010101" pitchFamily="2" charset="-122"/>
              </a:rPr>
              <a:t>命令，使这些更改生效。</a:t>
            </a:r>
            <a:endParaRPr lang="zh-CN" altLang="en-US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4065588" cy="37592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任务一：编写</a:t>
            </a:r>
            <a:r>
              <a:rPr lang="en-US" altLang="zh-CN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USB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设备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驱动程序</a:t>
            </a:r>
            <a:endParaRPr lang="zh-CN" altLang="en-US"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346710" y="846455"/>
            <a:ext cx="287782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五.实验结果及注意事项</a:t>
            </a:r>
            <a:endParaRPr lang="zh-CN" altLang="en-US"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2032000" y="5584190"/>
            <a:ext cx="50800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sz="1800">
                <a:latin typeface="宋体" panose="02010600030101010101" pitchFamily="2" charset="-122"/>
              </a:rPr>
              <a:t> </a:t>
            </a:r>
            <a:endParaRPr lang="en-US" altLang="en-US" sz="1800">
              <a:latin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46075" y="1205230"/>
            <a:ext cx="8298180" cy="2914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加载和卸载模块：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3" name="图片 -214748259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75" y="1805940"/>
            <a:ext cx="4981575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" y="2990850"/>
            <a:ext cx="488442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8390" y="79375"/>
            <a:ext cx="6377940" cy="227838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2335530" y="2425065"/>
            <a:ext cx="6336030" cy="25076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050290" y="957580"/>
            <a:ext cx="105918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实验给出的源代码结果</a:t>
            </a:r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1177290" y="3366135"/>
            <a:ext cx="105918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修改后代码的结果</a:t>
            </a:r>
            <a:endParaRPr lang="zh-CN" altLang="en-US" b="1"/>
          </a:p>
        </p:txBody>
      </p:sp>
      <p:sp>
        <p:nvSpPr>
          <p:cNvPr id="9" name="文本框 8"/>
          <p:cNvSpPr txBox="1"/>
          <p:nvPr/>
        </p:nvSpPr>
        <p:spPr>
          <a:xfrm>
            <a:off x="194945" y="167005"/>
            <a:ext cx="19056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U</a:t>
            </a:r>
            <a:r>
              <a:rPr lang="zh-CN" altLang="en-US" sz="1600" b="1"/>
              <a:t>盘插入检测结果</a:t>
            </a:r>
            <a:endParaRPr lang="zh-CN" altLang="en-US" sz="16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194945" y="167005"/>
            <a:ext cx="19056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U</a:t>
            </a:r>
            <a:r>
              <a:rPr lang="zh-CN" altLang="en-US" sz="1600" b="1"/>
              <a:t>盘拔出检测结果</a:t>
            </a:r>
            <a:endParaRPr lang="zh-CN" altLang="en-US" sz="1600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030" y="1122045"/>
            <a:ext cx="7901940" cy="26441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7184390" cy="683895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任务一：</a:t>
            </a:r>
            <a:r>
              <a:rPr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编写内核模块测试硬盘的读写速率，并与 iozone工具的测试结果比较，并分析结果差异原因</a:t>
            </a:r>
            <a:endParaRPr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3" name="文本框 102"/>
          <p:cNvSpPr txBox="1"/>
          <p:nvPr/>
        </p:nvSpPr>
        <p:spPr>
          <a:xfrm>
            <a:off x="798830" y="1440180"/>
            <a:ext cx="7402195" cy="20453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sz="1800" b="1">
                <a:latin typeface="Calibri" panose="020F0502020204030204" pitchFamily="34" charset="0"/>
                <a:ea typeface="宋体" panose="02010600030101010101" pitchFamily="2" charset="-122"/>
              </a:rPr>
              <a:t>a.</a:t>
            </a:r>
            <a:r>
              <a:rPr lang="zh-CN" sz="1800" b="1">
                <a:latin typeface="Calibri" panose="020F0502020204030204" pitchFamily="34" charset="0"/>
                <a:ea typeface="宋体" panose="02010600030101010101" pitchFamily="2" charset="-122"/>
              </a:rPr>
              <a:t>任务描述</a:t>
            </a:r>
            <a:endParaRPr lang="en-US" sz="18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en-US" sz="1300">
                <a:ea typeface="宋体" panose="02010600030101010101" pitchFamily="2" charset="-122"/>
              </a:rPr>
              <a:t>1. 编写内核模块测试硬盘的读写速率，加载、卸载模块并查看模块打印信息。2. 使用用户态下 iozone 工具测试硬盘的读写速率，注意：测试范围需包含与内核模块读写相同的文件大小和块大小(例如都将写入文件大小设置为512M,</a:t>
            </a:r>
            <a:r>
              <a:rPr lang="zh-CN" altLang="en-US" sz="1300">
                <a:ea typeface="宋体" panose="02010600030101010101" pitchFamily="2" charset="-122"/>
              </a:rPr>
              <a:t>每次写入数据块大小为1kb)。3. 对比用户态和内核态下测试的读写速率，并作分析。</a:t>
            </a:r>
            <a:endParaRPr lang="en-US" sz="2400" b="1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en-US" sz="1800" b="1">
                <a:latin typeface="Calibri" panose="020F0502020204030204" pitchFamily="34" charset="0"/>
                <a:ea typeface="宋体" panose="02010600030101010101" pitchFamily="2" charset="-122"/>
              </a:rPr>
              <a:t>b.</a:t>
            </a:r>
            <a:r>
              <a:rPr lang="zh-CN" sz="1800" b="1">
                <a:latin typeface="Calibri" panose="020F0502020204030204" pitchFamily="34" charset="0"/>
                <a:ea typeface="宋体" panose="02010600030101010101" pitchFamily="2" charset="-122"/>
              </a:rPr>
              <a:t>审核要求</a:t>
            </a:r>
            <a:endParaRPr lang="en-US" sz="180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r>
              <a:rPr lang="zh-CN" altLang="en-US" sz="1300">
                <a:ea typeface="宋体" panose="02010600030101010101" pitchFamily="2" charset="-122"/>
              </a:rPr>
              <a:t>1. 正确编写满足功能的源文件，正确编译、加载、卸载内核模块；且内核模块功能满足任务所述。2. 正确安装使用iozone工具测试硬盘读写速率。（可能会比较耗时）3. 提交相关源码、运行截图与最终分析。</a:t>
            </a:r>
            <a:endParaRPr lang="zh-CN" altLang="en-US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7184390" cy="683895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</a:t>
            </a: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二：</a:t>
            </a:r>
            <a:r>
              <a:rPr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编写内核模块测试硬盘的读写速率，并与 iozone工具的测试结果比较，并分析结果差异原因</a:t>
            </a:r>
            <a:endParaRPr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文本框 2"/>
          <p:cNvSpPr txBox="1"/>
          <p:nvPr/>
        </p:nvSpPr>
        <p:spPr>
          <a:xfrm>
            <a:off x="774700" y="1597660"/>
            <a:ext cx="6675120" cy="16916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1300">
                <a:ea typeface="宋体" panose="02010600030101010101" pitchFamily="2" charset="-122"/>
              </a:rPr>
              <a:t>有时候需要在</a:t>
            </a:r>
            <a:r>
              <a:rPr lang="zh-CN" altLang="en-US" sz="1300"/>
              <a:t>Linux kernel</a:t>
            </a:r>
            <a:r>
              <a:rPr lang="zh-CN" altLang="en-US" sz="1300">
                <a:ea typeface="宋体" panose="02010600030101010101" pitchFamily="2" charset="-122"/>
              </a:rPr>
              <a:t>中读写文件数据，如调试程序的时候，或者内核与用户空间交换数据的时候。在</a:t>
            </a:r>
            <a:r>
              <a:rPr lang="zh-CN" altLang="en-US" sz="1300"/>
              <a:t>kernel</a:t>
            </a:r>
            <a:r>
              <a:rPr lang="zh-CN" altLang="en-US" sz="1300">
                <a:ea typeface="宋体" panose="02010600030101010101" pitchFamily="2" charset="-122"/>
              </a:rPr>
              <a:t>中操作文件没有标准库可用，需要利用</a:t>
            </a:r>
            <a:r>
              <a:rPr lang="zh-CN" altLang="en-US" sz="1300"/>
              <a:t>kernel</a:t>
            </a:r>
            <a:r>
              <a:rPr lang="zh-CN" altLang="en-US" sz="1300">
                <a:ea typeface="宋体" panose="02010600030101010101" pitchFamily="2" charset="-122"/>
              </a:rPr>
              <a:t>的一些函数，这些函数主要有：</a:t>
            </a:r>
            <a:endParaRPr lang="zh-CN" altLang="en-US" sz="1300"/>
          </a:p>
          <a:p>
            <a:r>
              <a:rPr lang="zh-CN" altLang="en-US" sz="1300" b="1"/>
              <a:t>filp_open()filp_close()kernel_read()kernel_write()</a:t>
            </a:r>
            <a:endParaRPr lang="zh-CN" altLang="en-US" sz="1300" b="1">
              <a:ea typeface="宋体" panose="02010600030101010101" pitchFamily="2" charset="-122"/>
            </a:endParaRPr>
          </a:p>
          <a:p>
            <a:r>
              <a:rPr lang="zh-CN" altLang="en-US" sz="1300">
                <a:ea typeface="宋体" panose="02010600030101010101" pitchFamily="2" charset="-122"/>
              </a:rPr>
              <a:t>这些函数在</a:t>
            </a:r>
            <a:r>
              <a:rPr lang="zh-CN" altLang="en-US" sz="1300"/>
              <a:t> &lt;linux/fs.h&gt; </a:t>
            </a:r>
            <a:r>
              <a:rPr lang="zh-CN" altLang="en-US" sz="1300">
                <a:ea typeface="宋体" panose="02010600030101010101" pitchFamily="2" charset="-122"/>
              </a:rPr>
              <a:t>头文件中声明。</a:t>
            </a:r>
            <a:endParaRPr lang="zh-CN" altLang="en-US" sz="1300"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9895" y="1169035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1800" b="1">
                <a:sym typeface="+mn-ea"/>
              </a:rPr>
              <a:t>一、内核文件读写介绍</a:t>
            </a:r>
            <a:endParaRPr lang="zh-CN" altLang="en-US" sz="1800" b="1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7184390" cy="683895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任务一：</a:t>
            </a:r>
            <a:r>
              <a:rPr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编写内核模块测试硬盘的读写速率，并与 iozone工具的测试结果比较，并分析结果差异原因</a:t>
            </a:r>
            <a:endParaRPr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325755" y="110680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sz="1800" b="1">
                <a:ea typeface="宋体" panose="02010600030101010101" pitchFamily="2" charset="-122"/>
              </a:rPr>
              <a:t>二、内核文件读写接口</a:t>
            </a:r>
            <a:endParaRPr lang="zh-CN" altLang="en-US" sz="1800" b="1"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6410" y="1570990"/>
            <a:ext cx="7573645" cy="2538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sz="1600" b="1">
                <a:latin typeface="Times New Roman" panose="02020603050405020304" charset="0"/>
              </a:rPr>
              <a:t>1</a:t>
            </a:r>
            <a:r>
              <a:rPr lang="zh-CN" sz="1600" b="1">
                <a:ea typeface="宋体" panose="02010600030101010101" pitchFamily="2" charset="-122"/>
              </a:rPr>
              <a:t>、打开文件</a:t>
            </a:r>
            <a:endParaRPr lang="zh-CN" sz="1800">
              <a:ea typeface="宋体" panose="02010600030101010101" pitchFamily="2" charset="-122"/>
            </a:endParaRPr>
          </a:p>
          <a:p>
            <a:r>
              <a:rPr lang="zh-CN" altLang="en-US" sz="1300">
                <a:ea typeface="宋体" panose="02010600030101010101" pitchFamily="2" charset="-122"/>
              </a:rPr>
              <a:t>函数原型：</a:t>
            </a:r>
            <a:endParaRPr lang="zh-CN" altLang="en-US" sz="1300">
              <a:ea typeface="宋体" panose="02010600030101010101" pitchFamily="2" charset="-122"/>
            </a:endParaRPr>
          </a:p>
          <a:p>
            <a:r>
              <a:rPr lang="zh-CN" altLang="en-US" sz="1300" b="1"/>
              <a:t>struct file* filp_open(const char* filename, int open_mode, int mode);</a:t>
            </a:r>
            <a:r>
              <a:rPr lang="zh-CN" altLang="en-US" sz="1300">
                <a:ea typeface="宋体" panose="02010600030101010101" pitchFamily="2" charset="-122"/>
              </a:rPr>
              <a:t>功能：在</a:t>
            </a:r>
            <a:r>
              <a:rPr lang="zh-CN" altLang="en-US" sz="1300"/>
              <a:t>kernel</a:t>
            </a:r>
            <a:r>
              <a:rPr lang="zh-CN" altLang="en-US" sz="1300">
                <a:ea typeface="宋体" panose="02010600030101010101" pitchFamily="2" charset="-122"/>
              </a:rPr>
              <a:t>中打开指定文件。返回值：该函数返回</a:t>
            </a:r>
            <a:r>
              <a:rPr lang="zh-CN" altLang="en-US" sz="1300"/>
              <a:t> struct file* </a:t>
            </a:r>
            <a:r>
              <a:rPr lang="zh-CN" altLang="en-US" sz="1300">
                <a:ea typeface="宋体" panose="02010600030101010101" pitchFamily="2" charset="-122"/>
              </a:rPr>
              <a:t>结构指针，供后续函数操作使用；该返回值用</a:t>
            </a:r>
            <a:r>
              <a:rPr lang="zh-CN" altLang="en-US" sz="1300"/>
              <a:t>IS</a:t>
            </a:r>
            <a:r>
              <a:rPr lang="zh-CN" altLang="en-US" sz="1300">
                <a:ea typeface="宋体" panose="02010600030101010101" pitchFamily="2" charset="-122"/>
              </a:rPr>
              <a:t>＿</a:t>
            </a:r>
            <a:r>
              <a:rPr lang="zh-CN" altLang="en-US" sz="1300"/>
              <a:t>ERR</a:t>
            </a:r>
            <a:r>
              <a:rPr lang="zh-CN" altLang="en-US" sz="1300">
                <a:ea typeface="宋体" panose="02010600030101010101" pitchFamily="2" charset="-122"/>
              </a:rPr>
              <a:t>（）来检验其有效性。参数说明：</a:t>
            </a:r>
            <a:endParaRPr lang="en-US" sz="1800">
              <a:latin typeface="Wingdings" panose="05000000000000000000" charset="0"/>
            </a:endParaRPr>
          </a:p>
          <a:p>
            <a:r>
              <a:rPr lang="en-US" sz="1200">
                <a:latin typeface="Wingdings" panose="05000000000000000000" charset="0"/>
              </a:rPr>
              <a:t>l</a:t>
            </a:r>
            <a:r>
              <a:rPr lang="zh-CN" altLang="en-US" sz="1300"/>
              <a:t> filename</a:t>
            </a:r>
            <a:r>
              <a:rPr lang="zh-CN" altLang="en-US" sz="1300">
                <a:ea typeface="宋体" panose="02010600030101010101" pitchFamily="2" charset="-122"/>
              </a:rPr>
              <a:t>：表明要打开或创建文件的名称（包括路径部分）。</a:t>
            </a:r>
            <a:endParaRPr lang="en-US" sz="1800">
              <a:latin typeface="Wingdings" panose="05000000000000000000" charset="0"/>
            </a:endParaRPr>
          </a:p>
          <a:p>
            <a:r>
              <a:rPr lang="en-US" sz="1200">
                <a:latin typeface="Wingdings" panose="05000000000000000000" charset="0"/>
              </a:rPr>
              <a:t>l</a:t>
            </a:r>
            <a:r>
              <a:rPr lang="zh-CN" altLang="en-US" sz="1300"/>
              <a:t>open_mode</a:t>
            </a:r>
            <a:r>
              <a:rPr lang="zh-CN" altLang="en-US" sz="1300">
                <a:ea typeface="宋体" panose="02010600030101010101" pitchFamily="2" charset="-122"/>
              </a:rPr>
              <a:t>：文件的打开方式，其取值与标准库中的</a:t>
            </a:r>
            <a:r>
              <a:rPr lang="zh-CN" altLang="en-US" sz="1300"/>
              <a:t>open</a:t>
            </a:r>
            <a:r>
              <a:rPr lang="zh-CN" altLang="en-US" sz="1300">
                <a:ea typeface="宋体" panose="02010600030101010101" pitchFamily="2" charset="-122"/>
              </a:rPr>
              <a:t>相应参数类似，包括：</a:t>
            </a:r>
            <a:r>
              <a:rPr lang="zh-CN" altLang="en-US" sz="1300"/>
              <a:t>O_RDONLY</a:t>
            </a:r>
            <a:r>
              <a:rPr lang="zh-CN" altLang="en-US" sz="1300">
                <a:ea typeface="宋体" panose="02010600030101010101" pitchFamily="2" charset="-122"/>
              </a:rPr>
              <a:t>（只读打开）、</a:t>
            </a:r>
            <a:r>
              <a:rPr lang="zh-CN" altLang="en-US" sz="1300"/>
              <a:t>O_WRONLY</a:t>
            </a:r>
            <a:r>
              <a:rPr lang="zh-CN" altLang="en-US" sz="1300">
                <a:ea typeface="宋体" panose="02010600030101010101" pitchFamily="2" charset="-122"/>
              </a:rPr>
              <a:t>（只写打开）、</a:t>
            </a:r>
            <a:r>
              <a:rPr lang="zh-CN" altLang="en-US" sz="1300"/>
              <a:t>O_RDWR</a:t>
            </a:r>
            <a:r>
              <a:rPr lang="zh-CN" altLang="en-US" sz="1300">
                <a:ea typeface="宋体" panose="02010600030101010101" pitchFamily="2" charset="-122"/>
              </a:rPr>
              <a:t>（读写打开）、</a:t>
            </a:r>
            <a:r>
              <a:rPr lang="zh-CN" altLang="en-US" sz="1300"/>
              <a:t>O_CREAT</a:t>
            </a:r>
            <a:r>
              <a:rPr lang="zh-CN" altLang="en-US" sz="1300">
                <a:ea typeface="宋体" panose="02010600030101010101" pitchFamily="2" charset="-122"/>
              </a:rPr>
              <a:t>（文件不存在则创建）等。</a:t>
            </a:r>
            <a:endParaRPr lang="en-US" sz="1800">
              <a:latin typeface="Wingdings" panose="05000000000000000000" charset="0"/>
            </a:endParaRPr>
          </a:p>
          <a:p>
            <a:r>
              <a:rPr lang="en-US" sz="1200">
                <a:latin typeface="Wingdings" panose="05000000000000000000" charset="0"/>
              </a:rPr>
              <a:t>l</a:t>
            </a:r>
            <a:r>
              <a:rPr lang="zh-CN" altLang="en-US" sz="1300"/>
              <a:t>mode</a:t>
            </a:r>
            <a:r>
              <a:rPr lang="zh-CN" altLang="en-US" sz="1300">
                <a:ea typeface="宋体" panose="02010600030101010101" pitchFamily="2" charset="-122"/>
              </a:rPr>
              <a:t>：创建文件时使用，设置创建文件的读写权限（如 </a:t>
            </a:r>
            <a:r>
              <a:rPr lang="zh-CN" altLang="en-US" sz="1300"/>
              <a:t>644</a:t>
            </a:r>
            <a:r>
              <a:rPr lang="zh-CN" altLang="en-US" sz="1300">
                <a:ea typeface="宋体" panose="02010600030101010101" pitchFamily="2" charset="-122"/>
              </a:rPr>
              <a:t>），其它情况可以设为</a:t>
            </a:r>
            <a:r>
              <a:rPr lang="zh-CN" altLang="en-US" sz="1300"/>
              <a:t>0</a:t>
            </a:r>
            <a:r>
              <a:rPr lang="zh-CN" altLang="en-US" sz="1300">
                <a:ea typeface="宋体" panose="02010600030101010101" pitchFamily="2" charset="-122"/>
              </a:rPr>
              <a:t>。</a:t>
            </a:r>
            <a:endParaRPr lang="zh-CN" altLang="en-US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7184390" cy="683895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任务一：</a:t>
            </a:r>
            <a:r>
              <a:rPr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编写内核模块测试硬盘的读写速率，并与 iozone工具的测试结果比较，并分析结果差异原因</a:t>
            </a:r>
            <a:endParaRPr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325755" y="110680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sz="1800" b="1">
                <a:ea typeface="宋体" panose="02010600030101010101" pitchFamily="2" charset="-122"/>
              </a:rPr>
              <a:t>二、内核文件读写接口</a:t>
            </a:r>
            <a:endParaRPr lang="zh-CN" altLang="en-US" sz="1800" b="1"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6410" y="1570990"/>
            <a:ext cx="7573645" cy="21380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sz="1600" b="1">
                <a:ea typeface="宋体" panose="02010600030101010101" pitchFamily="2" charset="-122"/>
              </a:rPr>
              <a:t>2</a:t>
            </a:r>
            <a:r>
              <a:rPr lang="zh-CN" sz="1600" b="1">
                <a:ea typeface="宋体" panose="02010600030101010101" pitchFamily="2" charset="-122"/>
              </a:rPr>
              <a:t>、读文件</a:t>
            </a:r>
            <a:endParaRPr lang="zh-CN" sz="1800" b="1">
              <a:ea typeface="宋体" panose="02010600030101010101" pitchFamily="2" charset="-122"/>
            </a:endParaRPr>
          </a:p>
          <a:p>
            <a:r>
              <a:rPr lang="zh-CN" altLang="en-US" sz="1300"/>
              <a:t>函数原型：</a:t>
            </a:r>
            <a:endParaRPr lang="zh-CN" altLang="en-US" sz="1300"/>
          </a:p>
          <a:p>
            <a:r>
              <a:rPr lang="zh-CN" altLang="en-US" sz="1300" b="1"/>
              <a:t>ssize_t kernel_read(struct file *file, void *buf, size_t count, loff_t *pos);</a:t>
            </a:r>
            <a:endParaRPr lang="zh-CN" altLang="en-US" sz="1300" b="1"/>
          </a:p>
          <a:p>
            <a:r>
              <a:rPr lang="zh-CN" altLang="en-US" sz="1300"/>
              <a:t>功能：kernel中文件的读操作。</a:t>
            </a:r>
            <a:endParaRPr lang="zh-CN" altLang="en-US" sz="1300"/>
          </a:p>
          <a:p>
            <a:r>
              <a:rPr lang="zh-CN" altLang="en-US" sz="1300"/>
              <a:t>参数说明：</a:t>
            </a:r>
            <a:endParaRPr lang="zh-CN" altLang="en-US" sz="1300"/>
          </a:p>
          <a:p>
            <a:r>
              <a:rPr lang="en-US">
                <a:latin typeface="Wingdings" panose="05000000000000000000" charset="0"/>
                <a:sym typeface="+mn-ea"/>
              </a:rPr>
              <a:t>l</a:t>
            </a:r>
            <a:r>
              <a:rPr lang="zh-CN" altLang="en-US" sz="1300"/>
              <a:t>file：进行读取信息的目标文件，即file_open() 函数的返回值。</a:t>
            </a:r>
            <a:endParaRPr lang="zh-CN" altLang="en-US" sz="1300"/>
          </a:p>
          <a:p>
            <a:r>
              <a:rPr lang="en-US">
                <a:latin typeface="Wingdings" panose="05000000000000000000" charset="0"/>
                <a:sym typeface="+mn-ea"/>
              </a:rPr>
              <a:t>l</a:t>
            </a:r>
            <a:r>
              <a:rPr lang="zh-CN" altLang="en-US" sz="1300"/>
              <a:t>buf：对应放置信息的缓冲区。</a:t>
            </a:r>
            <a:endParaRPr lang="zh-CN" altLang="en-US" sz="1300"/>
          </a:p>
          <a:p>
            <a:r>
              <a:rPr lang="en-US">
                <a:latin typeface="Wingdings" panose="05000000000000000000" charset="0"/>
                <a:sym typeface="+mn-ea"/>
              </a:rPr>
              <a:t>l</a:t>
            </a:r>
            <a:r>
              <a:rPr lang="zh-CN" altLang="en-US" sz="1300"/>
              <a:t>count：要读取的信息长度。</a:t>
            </a:r>
            <a:endParaRPr lang="zh-CN" altLang="en-US" sz="1300"/>
          </a:p>
          <a:p>
            <a:r>
              <a:rPr lang="en-US">
                <a:latin typeface="Wingdings" panose="05000000000000000000" charset="0"/>
                <a:sym typeface="+mn-ea"/>
              </a:rPr>
              <a:t>l</a:t>
            </a:r>
            <a:r>
              <a:rPr lang="zh-CN" altLang="en-US" sz="1300"/>
              <a:t>pos：表示用户在当前文件中进行读取操作的位置/偏移量，即读的位置相对于文件开头的偏移。</a:t>
            </a:r>
            <a:endParaRPr lang="zh-CN" altLang="en-US" sz="1300"/>
          </a:p>
          <a:p>
            <a:r>
              <a:rPr lang="zh-CN" altLang="en-US" sz="1300"/>
              <a:t>在读取信息后，这个指针一般都会移动，移动的值为要读取信息的长度值。</a:t>
            </a:r>
            <a:endParaRPr lang="zh-CN" altLang="en-US"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7184390" cy="683895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任务一：</a:t>
            </a:r>
            <a:r>
              <a:rPr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编写内核模块测试硬盘的读写速率，并与 iozone工具的测试结果比较，并分析结果差异原因</a:t>
            </a:r>
            <a:endParaRPr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325755" y="110680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sz="1800" b="1">
                <a:ea typeface="宋体" panose="02010600030101010101" pitchFamily="2" charset="-122"/>
              </a:rPr>
              <a:t>二、内核文件读写接口</a:t>
            </a:r>
            <a:endParaRPr lang="zh-CN" altLang="en-US" sz="1800" b="1"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6410" y="1473200"/>
            <a:ext cx="757364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sz="1600" b="1">
                <a:ea typeface="宋体" panose="02010600030101010101" pitchFamily="2" charset="-122"/>
              </a:rPr>
              <a:t>3</a:t>
            </a:r>
            <a:r>
              <a:rPr lang="zh-CN" sz="1600" b="1">
                <a:ea typeface="宋体" panose="02010600030101010101" pitchFamily="2" charset="-122"/>
              </a:rPr>
              <a:t>、写文件</a:t>
            </a:r>
            <a:endParaRPr lang="zh-CN" sz="1800" b="1">
              <a:ea typeface="宋体" panose="02010600030101010101" pitchFamily="2" charset="-122"/>
            </a:endParaRPr>
          </a:p>
          <a:p>
            <a:r>
              <a:rPr lang="zh-CN" altLang="en-US"/>
              <a:t>函数原型：</a:t>
            </a:r>
            <a:endParaRPr lang="zh-CN" altLang="en-US"/>
          </a:p>
          <a:p>
            <a:r>
              <a:rPr lang="zh-CN" altLang="en-US" b="1"/>
              <a:t>ssize_t kernel_write(struct file *file, const void *buf, size_t count, loff_t *pos);</a:t>
            </a:r>
            <a:endParaRPr lang="zh-CN" altLang="en-US" b="1"/>
          </a:p>
          <a:p>
            <a:r>
              <a:rPr lang="zh-CN" altLang="en-US"/>
              <a:t>功能：kernel中文件的写操作。</a:t>
            </a:r>
            <a:endParaRPr lang="zh-CN" altLang="en-US"/>
          </a:p>
          <a:p>
            <a:r>
              <a:rPr lang="zh-CN" altLang="en-US"/>
              <a:t>参数说明：</a:t>
            </a:r>
            <a:endParaRPr lang="zh-CN" altLang="en-US"/>
          </a:p>
          <a:p>
            <a:r>
              <a:rPr lang="en-US">
                <a:latin typeface="Wingdings" panose="05000000000000000000" charset="0"/>
                <a:sym typeface="+mn-ea"/>
              </a:rPr>
              <a:t>l</a:t>
            </a:r>
            <a:r>
              <a:rPr lang="zh-CN" altLang="en-US"/>
              <a:t>file：进行信息写入的目标文件，即file_open() 函数的返回值。</a:t>
            </a:r>
            <a:endParaRPr lang="zh-CN" altLang="en-US"/>
          </a:p>
          <a:p>
            <a:r>
              <a:rPr lang="en-US">
                <a:latin typeface="Wingdings" panose="05000000000000000000" charset="0"/>
                <a:sym typeface="+mn-ea"/>
              </a:rPr>
              <a:t>l</a:t>
            </a:r>
            <a:r>
              <a:rPr lang="zh-CN" altLang="en-US"/>
              <a:t>buf：要写入文件的信息缓冲区。</a:t>
            </a:r>
            <a:endParaRPr lang="zh-CN" altLang="en-US"/>
          </a:p>
          <a:p>
            <a:r>
              <a:rPr lang="en-US">
                <a:latin typeface="Wingdings" panose="05000000000000000000" charset="0"/>
                <a:sym typeface="+mn-ea"/>
              </a:rPr>
              <a:t>l</a:t>
            </a:r>
            <a:r>
              <a:rPr lang="zh-CN" altLang="en-US"/>
              <a:t>count：要写入信息的长度。</a:t>
            </a:r>
            <a:endParaRPr lang="zh-CN" altLang="en-US"/>
          </a:p>
          <a:p>
            <a:r>
              <a:rPr lang="en-US">
                <a:latin typeface="Wingdings" panose="05000000000000000000" charset="0"/>
                <a:sym typeface="+mn-ea"/>
              </a:rPr>
              <a:t>l</a:t>
            </a:r>
            <a:r>
              <a:rPr lang="zh-CN" altLang="en-US"/>
              <a:t>pos：表示用户在当前文件中进行写入操作的位置/偏移量。即写的位置相对于文件开头的偏移。</a:t>
            </a:r>
            <a:endParaRPr lang="zh-CN" altLang="en-US"/>
          </a:p>
        </p:txBody>
      </p:sp>
      <p:sp>
        <p:nvSpPr>
          <p:cNvPr id="103" name="文本框 102"/>
          <p:cNvSpPr txBox="1"/>
          <p:nvPr/>
        </p:nvSpPr>
        <p:spPr>
          <a:xfrm>
            <a:off x="500380" y="3404235"/>
            <a:ext cx="6790690" cy="1537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sz="1600" b="1"/>
              <a:t>4</a:t>
            </a:r>
            <a:r>
              <a:rPr lang="en-US" altLang="zh-CN" sz="1600" b="1">
                <a:ea typeface="宋体" panose="02010600030101010101" pitchFamily="2" charset="-122"/>
              </a:rPr>
              <a:t>、关闭文件</a:t>
            </a:r>
            <a:r>
              <a:rPr lang="zh-CN" altLang="en-US" sz="1300">
                <a:ea typeface="宋体" panose="02010600030101010101" pitchFamily="2" charset="-122"/>
              </a:rPr>
              <a:t>函数原型：</a:t>
            </a:r>
            <a:endParaRPr lang="zh-CN" altLang="en-US" sz="1300"/>
          </a:p>
          <a:p>
            <a:r>
              <a:rPr lang="zh-CN" altLang="en-US" sz="1300" b="1"/>
              <a:t>int filp_close(struct file*filp, fl_owner_t id);</a:t>
            </a:r>
            <a:r>
              <a:rPr lang="zh-CN" altLang="en-US" sz="1300">
                <a:ea typeface="宋体" panose="02010600030101010101" pitchFamily="2" charset="-122"/>
              </a:rPr>
              <a:t>功能：关闭指定文件。参数说明：</a:t>
            </a:r>
            <a:endParaRPr lang="zh-CN" altLang="en-US" sz="1300"/>
          </a:p>
          <a:p>
            <a:r>
              <a:rPr lang="en-US">
                <a:latin typeface="Wingdings" panose="05000000000000000000" charset="0"/>
                <a:sym typeface="+mn-ea"/>
              </a:rPr>
              <a:t>l</a:t>
            </a:r>
            <a:r>
              <a:rPr lang="zh-CN" altLang="en-US" sz="1300"/>
              <a:t>filp</a:t>
            </a:r>
            <a:r>
              <a:rPr lang="zh-CN" altLang="en-US" sz="1300">
                <a:ea typeface="宋体" panose="02010600030101010101" pitchFamily="2" charset="-122"/>
              </a:rPr>
              <a:t>：待关闭的目标文件的文件指针。</a:t>
            </a:r>
            <a:endParaRPr lang="zh-CN" altLang="en-US" sz="1300"/>
          </a:p>
          <a:p>
            <a:r>
              <a:rPr lang="en-US">
                <a:latin typeface="Wingdings" panose="05000000000000000000" charset="0"/>
                <a:sym typeface="+mn-ea"/>
              </a:rPr>
              <a:t>l</a:t>
            </a:r>
            <a:r>
              <a:rPr lang="zh-CN" altLang="en-US" sz="1300"/>
              <a:t>id</a:t>
            </a:r>
            <a:r>
              <a:rPr lang="zh-CN" altLang="en-US" sz="1300">
                <a:ea typeface="宋体" panose="02010600030101010101" pitchFamily="2" charset="-122"/>
              </a:rPr>
              <a:t>：一般传递</a:t>
            </a:r>
            <a:r>
              <a:rPr lang="zh-CN" altLang="en-US" sz="1300"/>
              <a:t>NULL</a:t>
            </a:r>
            <a:r>
              <a:rPr lang="zh-CN" altLang="en-US" sz="1300">
                <a:ea typeface="宋体" panose="02010600030101010101" pitchFamily="2" charset="-122"/>
              </a:rPr>
              <a:t>值，也可用</a:t>
            </a:r>
            <a:r>
              <a:rPr lang="zh-CN" altLang="en-US" sz="1300"/>
              <a:t>current-&gt;files</a:t>
            </a:r>
            <a:r>
              <a:rPr lang="zh-CN" altLang="en-US" sz="1300">
                <a:ea typeface="宋体" panose="02010600030101010101" pitchFamily="2" charset="-122"/>
              </a:rPr>
              <a:t>作为实参。</a:t>
            </a:r>
            <a:endParaRPr lang="zh-CN" altLang="en-US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7184390" cy="683895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任务一：</a:t>
            </a:r>
            <a:r>
              <a:rPr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编写内核模块测试硬盘的读写速率，并与 iozone工具的测试结果比较，并分析结果差异原因</a:t>
            </a:r>
            <a:endParaRPr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05" y="1616710"/>
            <a:ext cx="1531620" cy="381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43890" y="1153160"/>
            <a:ext cx="3041015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代码思路</a:t>
            </a:r>
            <a:r>
              <a:rPr lang="zh-CN" altLang="en-US"/>
              <a:t>：以测试硬盘写速率</a:t>
            </a:r>
            <a:r>
              <a:rPr lang="zh-CN" altLang="en-US"/>
              <a:t>为例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05" y="2047875"/>
            <a:ext cx="5840730" cy="26892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662420" y="1954530"/>
            <a:ext cx="2108200" cy="1091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向一个</a:t>
            </a:r>
            <a:r>
              <a:rPr lang="en-US" altLang="zh-CN"/>
              <a:t>512M</a:t>
            </a:r>
            <a:r>
              <a:rPr lang="zh-CN" altLang="en-US"/>
              <a:t>文件进行</a:t>
            </a:r>
            <a:r>
              <a:rPr lang="en-US" altLang="zh-CN"/>
              <a:t>524288</a:t>
            </a:r>
            <a:r>
              <a:rPr lang="zh-CN" altLang="en-US"/>
              <a:t>次的写入操作，每次写入</a:t>
            </a:r>
            <a:r>
              <a:rPr lang="en-US" altLang="zh-CN"/>
              <a:t>1024</a:t>
            </a:r>
            <a:r>
              <a:rPr lang="zh-CN" altLang="en-US"/>
              <a:t>字节，计算写入的时间，最终得到硬盘的</a:t>
            </a:r>
            <a:r>
              <a:rPr lang="zh-CN" altLang="en-US"/>
              <a:t>写速率。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7184390" cy="683895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任务一：</a:t>
            </a:r>
            <a:r>
              <a:rPr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编写内核模块测试硬盘的读写速率，并与 iozone工具的测试结果比较，并分析结果差异原因</a:t>
            </a:r>
            <a:endParaRPr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325755" y="110680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sz="1800" b="1">
                <a:ea typeface="宋体" panose="02010600030101010101" pitchFamily="2" charset="-122"/>
              </a:rPr>
              <a:t>三、</a:t>
            </a:r>
            <a:r>
              <a:rPr lang="en-US" altLang="zh-CN" sz="1800" b="1">
                <a:ea typeface="宋体" panose="02010600030101010101" pitchFamily="2" charset="-122"/>
              </a:rPr>
              <a:t>iozone</a:t>
            </a:r>
            <a:r>
              <a:rPr lang="zh-CN" altLang="en-US" sz="1800" b="1">
                <a:ea typeface="宋体" panose="02010600030101010101" pitchFamily="2" charset="-122"/>
              </a:rPr>
              <a:t>使用</a:t>
            </a:r>
            <a:endParaRPr lang="zh-CN" altLang="en-US" sz="1800" b="1"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288608" y="1570990"/>
          <a:ext cx="6256338" cy="152400"/>
        </p:xfrm>
        <a:graphic>
          <a:graphicData uri="http://schemas.openxmlformats.org/drawingml/2006/table">
            <a:tbl>
              <a:tblPr/>
              <a:tblGrid>
                <a:gridCol w="787400"/>
                <a:gridCol w="5468938"/>
              </a:tblGrid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-a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全自动模式测试。测试记录块大小从4k到16M；耗时长，最好用-i指定测试范围。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-b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指定输出到指定文件上。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2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-C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显示每个节点的吞吐量。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-c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测试包括文件的关闭时间。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-f filename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指定测试文件的名字，完成后会自动删除（这个文件必须指定在你要测试的那个硬盘中）。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-g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在自动模式下设置文件最大值（指定最大测试文件大小）。可以使用k 、m 、g分别表示kb，mb，gb。如：-g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12k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-n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指定最小测试文件大小。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-i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指定运行于哪种模式测试。可以进行多个模式测试，例如：-i 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-i 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-i 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：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0=write/rewrite1=read/re-read2=random read/random write3=backwards read4=re-write-record5=stride-read6=fwirte/re-fwrite7=fread/re-fread8=random mix9=pwrite/re-pwrite10=pread/re-pread11=pwritev/re-pwritev12=preadv/re-preadv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-q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在自动模式下设置记录块的最大值，可以使用k(kb)，m(mb)，g(gb)。使用-y可以设置最小值。（例如： -q 64k 包括了4K,8K,16K,32K,64K）。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-r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指定一次写入/读出的块大小（与-q有别，-r 64k只进行64k的测试）。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-R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产生execl格式的输出日志。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-s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设置测试文件大小。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-y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设置记录块最小值。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-z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同 -a一起使用，进行全部测试。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6683375" y="1570990"/>
            <a:ext cx="2285365" cy="31381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sz="1800" b="1">
                <a:ea typeface="宋体" panose="02010600030101010101" pitchFamily="2" charset="-122"/>
              </a:rPr>
              <a:t>要求</a:t>
            </a:r>
            <a:r>
              <a:rPr lang="en-US" sz="1800" b="1">
                <a:latin typeface="Times New Roman" panose="02020603050405020304" charset="0"/>
              </a:rPr>
              <a:t>-g</a:t>
            </a:r>
            <a:r>
              <a:rPr lang="zh-CN" sz="1800" b="1">
                <a:ea typeface="宋体" panose="02010600030101010101" pitchFamily="2" charset="-122"/>
              </a:rPr>
              <a:t>参数大于内存的两倍。</a:t>
            </a:r>
            <a:r>
              <a:rPr lang="zh-CN" sz="1800">
                <a:ea typeface="宋体" panose="02010600030101010101" pitchFamily="2" charset="-122"/>
              </a:rPr>
              <a:t>可使用</a:t>
            </a:r>
            <a:r>
              <a:rPr lang="en-US" sz="1800">
                <a:latin typeface="Times New Roman" panose="02020603050405020304" charset="0"/>
              </a:rPr>
              <a:t>free -m </a:t>
            </a:r>
            <a:r>
              <a:rPr lang="zh-CN" sz="1800">
                <a:ea typeface="宋体" panose="02010600030101010101" pitchFamily="2" charset="-122"/>
              </a:rPr>
              <a:t>查看内存大小。</a:t>
            </a:r>
            <a:endParaRPr lang="zh-CN" sz="1800">
              <a:ea typeface="宋体" panose="02010600030101010101" pitchFamily="2" charset="-122"/>
            </a:endParaRPr>
          </a:p>
          <a:p>
            <a:endParaRPr lang="zh-CN" altLang="en-US" sz="1800">
              <a:ea typeface="宋体" panose="02010600030101010101" pitchFamily="2" charset="-122"/>
            </a:endParaRPr>
          </a:p>
          <a:p>
            <a:r>
              <a:rPr lang="zh-CN" altLang="en-US" sz="1800">
                <a:ea typeface="宋体" panose="02010600030101010101" pitchFamily="2" charset="-122"/>
              </a:rPr>
              <a:t>注意：测试范围需包含与内核模块读写相同的文件大小和块大小(例如都将写入文件大小设置为512M,</a:t>
            </a:r>
            <a:r>
              <a:rPr lang="zh-CN" altLang="en-US" sz="1800">
                <a:ea typeface="宋体" panose="02010600030101010101" pitchFamily="2" charset="-122"/>
              </a:rPr>
              <a:t>每次写入数据块大小为1kb)。</a:t>
            </a:r>
            <a:endParaRPr lang="zh-CN" altLang="en-US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7184390" cy="683895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任务一：</a:t>
            </a:r>
            <a:r>
              <a:rPr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编写内核模块测试硬盘的读写速率，并与 iozone工具的测试结果比较，并分析结果差异原因</a:t>
            </a:r>
            <a:endParaRPr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325755" y="110680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sz="1800" b="1">
                <a:ea typeface="宋体" panose="02010600030101010101" pitchFamily="2" charset="-122"/>
              </a:rPr>
              <a:t>三、实验结果</a:t>
            </a:r>
            <a:endParaRPr lang="zh-CN" sz="1800" b="1">
              <a:ea typeface="宋体" panose="02010600030101010101" pitchFamily="2" charset="-122"/>
            </a:endParaRPr>
          </a:p>
        </p:txBody>
      </p:sp>
      <p:pic>
        <p:nvPicPr>
          <p:cNvPr id="3" name="图片 -21474825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10" y="1911350"/>
            <a:ext cx="3779520" cy="883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325755" y="1539875"/>
            <a:ext cx="508000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69875" indent="-269875"/>
            <a:r>
              <a:rPr lang="en-US" sz="1400">
                <a:latin typeface="Times New Roman" panose="02020603050405020304" charset="0"/>
              </a:rPr>
              <a:t> </a:t>
            </a:r>
            <a:r>
              <a:rPr lang="zh-CN" sz="1400">
                <a:ea typeface="宋体" panose="02010600030101010101" pitchFamily="2" charset="-122"/>
              </a:rPr>
              <a:t>挂载写硬盘程序，测试硬盘的写速率为</a:t>
            </a:r>
            <a:r>
              <a:rPr lang="en-US" sz="1400">
                <a:latin typeface="Times New Roman" panose="02020603050405020304" charset="0"/>
              </a:rPr>
              <a:t>197M/s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46575" y="1525270"/>
            <a:ext cx="391287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69875" indent="-269875"/>
            <a:r>
              <a:rPr lang="en-US" sz="140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sz="1400">
                <a:latin typeface="Times New Roman" panose="02020603050405020304" charset="0"/>
                <a:ea typeface="宋体" panose="02010600030101010101" pitchFamily="2" charset="-122"/>
              </a:rPr>
              <a:t>挂载读硬盘程序，测试硬盘的读速率为</a:t>
            </a:r>
            <a:r>
              <a:rPr lang="en-US" sz="1400">
                <a:latin typeface="Times New Roman" panose="02020603050405020304" charset="0"/>
              </a:rPr>
              <a:t>4705M/s</a:t>
            </a:r>
            <a:endParaRPr lang="en-US" altLang="en-US" sz="1400">
              <a:latin typeface="Times New Roman" panose="02020603050405020304" charset="0"/>
            </a:endParaRPr>
          </a:p>
        </p:txBody>
      </p:sp>
      <p:pic>
        <p:nvPicPr>
          <p:cNvPr id="6" name="图片 -21474825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820" y="1918970"/>
            <a:ext cx="4180840" cy="8693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-214748258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90" y="3641725"/>
            <a:ext cx="3780155" cy="619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-214748257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1030" y="3598545"/>
            <a:ext cx="3935095" cy="7391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473075" y="3016250"/>
            <a:ext cx="185483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69875" indent="-269875"/>
            <a:r>
              <a:rPr lang="zh-CN" sz="1400">
                <a:ea typeface="宋体" panose="02010600030101010101" pitchFamily="2" charset="-122"/>
              </a:rPr>
              <a:t> 卸载写硬盘程序</a:t>
            </a:r>
            <a:endParaRPr lang="zh-CN" sz="1400"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25010" y="3028315"/>
            <a:ext cx="164655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sz="1400">
                <a:ea typeface="宋体" panose="02010600030101010101" pitchFamily="2" charset="-122"/>
              </a:rPr>
              <a:t>卸载读硬盘程序</a:t>
            </a:r>
            <a:endParaRPr lang="zh-CN" sz="1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/>
          <p:nvPr/>
        </p:nvSpPr>
        <p:spPr>
          <a:xfrm>
            <a:off x="288925" y="327025"/>
            <a:ext cx="7184390" cy="683895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任务一：</a:t>
            </a:r>
            <a:r>
              <a:rPr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编写内核模块测试硬盘的读写速率，并与 iozone工具的测试结果比较，并分析结果差异原因</a:t>
            </a:r>
            <a:endParaRPr sz="20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4" name="等腰三角形 16"/>
          <p:cNvSpPr/>
          <p:nvPr/>
        </p:nvSpPr>
        <p:spPr>
          <a:xfrm rot="-5400000" flipV="1">
            <a:off x="-131762" y="406400"/>
            <a:ext cx="509587" cy="234950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12700">
            <a:noFill/>
          </a:ln>
        </p:spPr>
        <p:txBody>
          <a:bodyPr lIns="67628" tIns="35243" rIns="67628" bIns="35243" anchor="ctr"/>
          <a:lstStyle/>
          <a:p>
            <a:pPr algn="ctr"/>
            <a:endParaRPr lang="zh-CN" altLang="zh-CN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0" y="-391343"/>
            <a:ext cx="1899300" cy="144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325755" y="110680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sz="1800" b="1">
                <a:ea typeface="宋体" panose="02010600030101010101" pitchFamily="2" charset="-122"/>
              </a:rPr>
              <a:t>三、实验结果</a:t>
            </a:r>
            <a:endParaRPr lang="zh-CN" sz="1800" b="1"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93925" y="1330960"/>
            <a:ext cx="56165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sz="1400">
                <a:sym typeface="+mn-ea"/>
              </a:rPr>
              <a:t>iozone</a:t>
            </a:r>
            <a:r>
              <a:rPr lang="zh-CN" sz="1400">
                <a:sym typeface="+mn-ea"/>
              </a:rPr>
              <a:t> </a:t>
            </a:r>
            <a:r>
              <a:rPr lang="zh-CN" sz="1400">
                <a:ea typeface="宋体" panose="02010600030101010101" pitchFamily="2" charset="-122"/>
              </a:rPr>
              <a:t>执行命令：</a:t>
            </a:r>
            <a:r>
              <a:rPr lang="zh-CN" sz="1400"/>
              <a:t>./iozone -Raz -n 512m -g 16g -r 1k -y 1k -i 0 -i 1 -b /usr/src/kernels/iozone.xls</a:t>
            </a:r>
            <a:endParaRPr lang="zh-CN" sz="1400"/>
          </a:p>
        </p:txBody>
      </p:sp>
      <p:pic>
        <p:nvPicPr>
          <p:cNvPr id="3" name="图片 -21474825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" y="1475105"/>
            <a:ext cx="1524000" cy="3473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2393315" y="2297430"/>
            <a:ext cx="5851525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sz="1800">
                <a:ea typeface="宋体" panose="02010600030101010101" pitchFamily="2" charset="-122"/>
              </a:rPr>
              <a:t>比如表中的</a:t>
            </a:r>
            <a:r>
              <a:rPr lang="en-US" sz="1800">
                <a:latin typeface="宋体" panose="02010600030101010101" pitchFamily="2" charset="-122"/>
              </a:rPr>
              <a:t>“</a:t>
            </a:r>
            <a:r>
              <a:rPr lang="en-US" sz="1800">
                <a:latin typeface="Times New Roman" panose="02020603050405020304" charset="0"/>
              </a:rPr>
              <a:t>187419</a:t>
            </a:r>
            <a:r>
              <a:rPr lang="zh-CN" sz="1800">
                <a:ea typeface="宋体" panose="02010600030101010101" pitchFamily="2" charset="-122"/>
              </a:rPr>
              <a:t>”，意思是测试文件大小为</a:t>
            </a:r>
            <a:r>
              <a:rPr lang="en-US" sz="1800" b="1">
                <a:latin typeface="Times New Roman" panose="02020603050405020304" charset="0"/>
              </a:rPr>
              <a:t>512M</a:t>
            </a:r>
            <a:r>
              <a:rPr lang="zh-CN" sz="1800">
                <a:ea typeface="宋体" panose="02010600030101010101" pitchFamily="2" charset="-122"/>
              </a:rPr>
              <a:t>，以大小为</a:t>
            </a:r>
            <a:r>
              <a:rPr lang="en-US" sz="1800" b="1">
                <a:latin typeface="Times New Roman" panose="02020603050405020304" charset="0"/>
              </a:rPr>
              <a:t>1K</a:t>
            </a:r>
            <a:r>
              <a:rPr lang="zh-CN" sz="1800" b="1">
                <a:ea typeface="宋体" panose="02010600030101010101" pitchFamily="2" charset="-122"/>
              </a:rPr>
              <a:t>（</a:t>
            </a:r>
            <a:r>
              <a:rPr lang="en-US" sz="1800" b="1">
                <a:latin typeface="Times New Roman" panose="02020603050405020304" charset="0"/>
              </a:rPr>
              <a:t>1024byte</a:t>
            </a:r>
            <a:r>
              <a:rPr lang="zh-CN" sz="1800" b="1">
                <a:ea typeface="宋体" panose="02010600030101010101" pitchFamily="2" charset="-122"/>
              </a:rPr>
              <a:t>）的记录块</a:t>
            </a:r>
            <a:r>
              <a:rPr lang="zh-CN" sz="1800">
                <a:ea typeface="宋体" panose="02010600030101010101" pitchFamily="2" charset="-122"/>
              </a:rPr>
              <a:t>进行传输，它的传输速度为</a:t>
            </a:r>
            <a:r>
              <a:rPr lang="en-US" sz="1800" b="1">
                <a:latin typeface="Times New Roman" panose="02020603050405020304" charset="0"/>
              </a:rPr>
              <a:t>187419kb/s</a:t>
            </a:r>
            <a:r>
              <a:rPr lang="zh-CN" sz="1800">
                <a:ea typeface="宋体" panose="02010600030101010101" pitchFamily="2" charset="-122"/>
              </a:rPr>
              <a:t>，即约</a:t>
            </a:r>
            <a:r>
              <a:rPr lang="en-US" sz="1800">
                <a:latin typeface="Times New Roman" panose="02020603050405020304" charset="0"/>
              </a:rPr>
              <a:t>183M/s</a:t>
            </a:r>
            <a:r>
              <a:rPr lang="zh-CN" sz="1800">
                <a:ea typeface="宋体" panose="02010600030101010101" pitchFamily="2" charset="-122"/>
              </a:rPr>
              <a:t>。比如表中的</a:t>
            </a:r>
            <a:r>
              <a:rPr lang="en-US" sz="1800">
                <a:latin typeface="宋体" panose="02010600030101010101" pitchFamily="2" charset="-122"/>
              </a:rPr>
              <a:t>“</a:t>
            </a:r>
            <a:r>
              <a:rPr lang="en-US" sz="1800">
                <a:latin typeface="Times New Roman" panose="02020603050405020304" charset="0"/>
              </a:rPr>
              <a:t>1408509</a:t>
            </a:r>
            <a:r>
              <a:rPr lang="zh-CN" sz="1800">
                <a:ea typeface="宋体" panose="02010600030101010101" pitchFamily="2" charset="-122"/>
              </a:rPr>
              <a:t>”，意思是测试文件大小为</a:t>
            </a:r>
            <a:r>
              <a:rPr lang="en-US" sz="1800">
                <a:latin typeface="Times New Roman" panose="02020603050405020304" charset="0"/>
              </a:rPr>
              <a:t>512M</a:t>
            </a:r>
            <a:r>
              <a:rPr lang="zh-CN" sz="1800">
                <a:ea typeface="宋体" panose="02010600030101010101" pitchFamily="2" charset="-122"/>
              </a:rPr>
              <a:t>，以大小为</a:t>
            </a:r>
            <a:r>
              <a:rPr lang="en-US" sz="1800">
                <a:latin typeface="Times New Roman" panose="02020603050405020304" charset="0"/>
              </a:rPr>
              <a:t>1K</a:t>
            </a:r>
            <a:r>
              <a:rPr lang="zh-CN" sz="1800">
                <a:ea typeface="宋体" panose="02010600030101010101" pitchFamily="2" charset="-122"/>
              </a:rPr>
              <a:t>（</a:t>
            </a:r>
            <a:r>
              <a:rPr lang="en-US" sz="1800">
                <a:latin typeface="Times New Roman" panose="02020603050405020304" charset="0"/>
              </a:rPr>
              <a:t>1024byte</a:t>
            </a:r>
            <a:r>
              <a:rPr lang="zh-CN" sz="1800">
                <a:ea typeface="宋体" panose="02010600030101010101" pitchFamily="2" charset="-122"/>
              </a:rPr>
              <a:t>）的记录块进行传输，它的传输速度为</a:t>
            </a:r>
            <a:r>
              <a:rPr lang="en-US" sz="1800" b="1">
                <a:latin typeface="Times New Roman" panose="02020603050405020304" charset="0"/>
              </a:rPr>
              <a:t>1408509kb/s</a:t>
            </a:r>
            <a:r>
              <a:rPr lang="zh-CN" sz="1800">
                <a:ea typeface="宋体" panose="02010600030101010101" pitchFamily="2" charset="-122"/>
              </a:rPr>
              <a:t>，即约</a:t>
            </a:r>
            <a:r>
              <a:rPr lang="en-US" sz="1800">
                <a:latin typeface="Times New Roman" panose="02020603050405020304" charset="0"/>
              </a:rPr>
              <a:t>1375.5M/s</a:t>
            </a:r>
            <a:r>
              <a:rPr lang="zh-CN" sz="1800">
                <a:ea typeface="宋体" panose="02010600030101010101" pitchFamily="2" charset="-122"/>
              </a:rPr>
              <a:t>。</a:t>
            </a:r>
            <a:endParaRPr lang="zh-CN" altLang="en-US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Q4OGU3MTA3MTdiMjE5YThlNjdhYTg3NWVlMjA4NGY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7134</Words>
  <Application>WPS 演示</Application>
  <PresentationFormat>全屏显示(16:9)</PresentationFormat>
  <Paragraphs>316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Arial</vt:lpstr>
      <vt:lpstr>宋体</vt:lpstr>
      <vt:lpstr>Wingdings</vt:lpstr>
      <vt:lpstr>Calibri Light</vt:lpstr>
      <vt:lpstr>Calibri</vt:lpstr>
      <vt:lpstr>方正正准黑简体</vt:lpstr>
      <vt:lpstr>黑体</vt:lpstr>
      <vt:lpstr>微软雅黑</vt:lpstr>
      <vt:lpstr>Times New Roman</vt:lpstr>
      <vt:lpstr>Arial Unicode MS</vt:lpstr>
      <vt:lpstr>Wingdings</vt:lpstr>
      <vt:lpstr>微软雅黑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Home User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Junming Zhang</dc:creator>
  <cp:lastModifiedBy>123</cp:lastModifiedBy>
  <cp:revision>52</cp:revision>
  <dcterms:created xsi:type="dcterms:W3CDTF">2019-08-17T06:41:00Z</dcterms:created>
  <dcterms:modified xsi:type="dcterms:W3CDTF">2024-06-13T15:12:09Z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6E97F381A5C94FF08AC8A21E6AC44004_12</vt:lpwstr>
  </property>
</Properties>
</file>