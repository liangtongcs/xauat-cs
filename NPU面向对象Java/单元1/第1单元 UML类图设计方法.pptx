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handoutMasterIdLst>
    <p:handoutMasterId r:id="rId99"/>
  </p:handoutMasterIdLst>
  <p:sldIdLst>
    <p:sldId id="256" r:id="rId3"/>
    <p:sldId id="257" r:id="rId4"/>
    <p:sldId id="460" r:id="rId5"/>
    <p:sldId id="464" r:id="rId6"/>
    <p:sldId id="465" r:id="rId7"/>
    <p:sldId id="466" r:id="rId8"/>
    <p:sldId id="467" r:id="rId9"/>
    <p:sldId id="468" r:id="rId10"/>
    <p:sldId id="621" r:id="rId11"/>
    <p:sldId id="470" r:id="rId12"/>
    <p:sldId id="471" r:id="rId13"/>
    <p:sldId id="490" r:id="rId14"/>
    <p:sldId id="476" r:id="rId15"/>
    <p:sldId id="482" r:id="rId16"/>
    <p:sldId id="495" r:id="rId18"/>
    <p:sldId id="483" r:id="rId19"/>
    <p:sldId id="491" r:id="rId20"/>
    <p:sldId id="492" r:id="rId21"/>
    <p:sldId id="493" r:id="rId22"/>
    <p:sldId id="469" r:id="rId23"/>
    <p:sldId id="499" r:id="rId24"/>
    <p:sldId id="500" r:id="rId25"/>
    <p:sldId id="501" r:id="rId26"/>
    <p:sldId id="502" r:id="rId27"/>
    <p:sldId id="503" r:id="rId28"/>
    <p:sldId id="498" r:id="rId29"/>
    <p:sldId id="459" r:id="rId30"/>
    <p:sldId id="507" r:id="rId31"/>
    <p:sldId id="519" r:id="rId32"/>
    <p:sldId id="463" r:id="rId33"/>
    <p:sldId id="515" r:id="rId34"/>
    <p:sldId id="530" r:id="rId35"/>
    <p:sldId id="532" r:id="rId36"/>
    <p:sldId id="531" r:id="rId37"/>
    <p:sldId id="533" r:id="rId38"/>
    <p:sldId id="504" r:id="rId39"/>
    <p:sldId id="516" r:id="rId40"/>
    <p:sldId id="535" r:id="rId41"/>
    <p:sldId id="505" r:id="rId42"/>
    <p:sldId id="536" r:id="rId43"/>
    <p:sldId id="537" r:id="rId44"/>
    <p:sldId id="538" r:id="rId45"/>
    <p:sldId id="548" r:id="rId46"/>
    <p:sldId id="517" r:id="rId47"/>
    <p:sldId id="550" r:id="rId48"/>
    <p:sldId id="551" r:id="rId49"/>
    <p:sldId id="552" r:id="rId50"/>
    <p:sldId id="557" r:id="rId51"/>
    <p:sldId id="558" r:id="rId52"/>
    <p:sldId id="559" r:id="rId53"/>
    <p:sldId id="561" r:id="rId54"/>
    <p:sldId id="560" r:id="rId55"/>
    <p:sldId id="562" r:id="rId56"/>
    <p:sldId id="563" r:id="rId57"/>
    <p:sldId id="564" r:id="rId58"/>
    <p:sldId id="565" r:id="rId59"/>
    <p:sldId id="567" r:id="rId60"/>
    <p:sldId id="569" r:id="rId61"/>
    <p:sldId id="568" r:id="rId62"/>
    <p:sldId id="571" r:id="rId63"/>
    <p:sldId id="572" r:id="rId64"/>
    <p:sldId id="573" r:id="rId65"/>
    <p:sldId id="574" r:id="rId66"/>
    <p:sldId id="575" r:id="rId67"/>
    <p:sldId id="576" r:id="rId68"/>
    <p:sldId id="577" r:id="rId69"/>
    <p:sldId id="578" r:id="rId70"/>
    <p:sldId id="579" r:id="rId71"/>
    <p:sldId id="580" r:id="rId72"/>
    <p:sldId id="570" r:id="rId73"/>
    <p:sldId id="506" r:id="rId74"/>
    <p:sldId id="518" r:id="rId75"/>
    <p:sldId id="581" r:id="rId76"/>
    <p:sldId id="591" r:id="rId77"/>
    <p:sldId id="589" r:id="rId78"/>
    <p:sldId id="592" r:id="rId79"/>
    <p:sldId id="594" r:id="rId80"/>
    <p:sldId id="595" r:id="rId81"/>
    <p:sldId id="593" r:id="rId82"/>
    <p:sldId id="597" r:id="rId83"/>
    <p:sldId id="596" r:id="rId84"/>
    <p:sldId id="590" r:id="rId85"/>
    <p:sldId id="599" r:id="rId86"/>
    <p:sldId id="600" r:id="rId87"/>
    <p:sldId id="604" r:id="rId88"/>
    <p:sldId id="605" r:id="rId89"/>
    <p:sldId id="606" r:id="rId90"/>
    <p:sldId id="607" r:id="rId91"/>
    <p:sldId id="612" r:id="rId92"/>
    <p:sldId id="614" r:id="rId93"/>
    <p:sldId id="613" r:id="rId94"/>
    <p:sldId id="608" r:id="rId95"/>
    <p:sldId id="609" r:id="rId96"/>
    <p:sldId id="610" r:id="rId97"/>
    <p:sldId id="447" r:id="rId98"/>
  </p:sldIdLst>
  <p:sldSz cx="9144000" cy="6858000" type="screen4x3"/>
  <p:notesSz cx="6858000" cy="9144000"/>
  <p:custDataLst>
    <p:tags r:id="rId10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4DA0"/>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84"/>
    <p:restoredTop sz="96327"/>
  </p:normalViewPr>
  <p:slideViewPr>
    <p:cSldViewPr snapToGrid="0">
      <p:cViewPr varScale="1">
        <p:scale>
          <a:sx n="151" d="100"/>
          <a:sy n="151" d="100"/>
        </p:scale>
        <p:origin x="208" y="1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3" Type="http://schemas.openxmlformats.org/officeDocument/2006/relationships/tags" Target="tags/tag614.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04T23:25:5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1946 433,'-4'0,"0"0,1 0,-2 3,2-2,0 1,1 1,0 0,-1 0,1 0,0 0,1 0,-2-1,3 1,-2 0,0 0,1 0,0 0,-1 1,1-1,1 0,0 0,0 0,0 1,0-1,0 0,0 0,0 0,0 1,2-1,0 0,-1 0,3-1,-2 1,2-1,-1 1,1-2,1 2,0-2,0 1,0-1,-2-1,0 0,0 0,2 0,-2 0,0 0,0 0,0-1,1 0,0-1,0 2,-1 0,1 0,1 0,0-1,0 1,0 0,2-1,-3 1,0 0,-1 0,1 0,-1 0,1 0,-1-1,2-1,-1 1,-1 1,0-1,1 1,-1-2,0 1,0 0,-1-2,-1 0,0-1,-1 1,1-2,-1 2,0 0,0-4,-1 0,-1 1,1 1,-3-3,3 3,-2 2,1-1,-1 0,2 1,-2 0,0-1,0 2,0 1,-2 0,0 1,1-1,0-1,0 1,1-1,-1 1,0 0,1-1,0 1,0-1,-1 1,0-1,0 0,1 1,0 1,0 0,0 0,0 0,0 0,0 0,0 1,1 2,-1-2,-1 2,3 0,-2-1,0 0,1 2</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04T23:25:5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1490 774,'-3'0,"-2"0,0 0,2 0,-3 0,2 0,-1 1,1-1,-2 2,2-1,-1 1,-1 1,1-2,-2 2,3-1,0-1,-1 1,0-1,1 0,1 1,-1-1,1 1,-2 0,2 0,-1-1,1 2,-1-2,0 1,1 0,2 1,-2 2,2-2,1 0,0 0,0 0,2 1,0-1,2 0,2-2,-3 1,3-1,1-1,-2 0,-2 0,1 0,1 0,-1 0,4 0,-2 0,0 0,-3 0,1 0,2 0,-3 0,1 0,0 0,2 0,9 0,-9 0,-1 0,2 0,-4 0,0 0,1 0,3 0,-1 0,-2 2,2-2,-1 1,-1-1,1 0,-1 2,-1-2,4 0,-3 0,0 0,2 0,2 1,-3-1,0 0,-1 0,0 0,0 0,3 0,-1 0,2 2,0-2,-2 0,2 0,-2 0,-2 0,-1 0,0 0,0 0,0 0,0 0,0-2,0 0,0 1,2 0,2-1,-3 2,-1-1,0-1,0 1,0 0,0 0,0-1,1 0,-2-1,-1 0,0 0,-1 0,0 0,1 0,-1 0,0 0,0-2,0 1,0 1,0 0,0-1,0 0,-3 2,-1 2,1-1,0-1,-5 2,0-1,-1 1,1-2,-1 2,1 0,2 0,-4 0,2 0,2 0,0 0,0 0,-2-2,-1-1,4 1,-3-1,2 1,-1 1,1-3,-6 0,7 3,0-2,0 2,0 0,1-1,1 1,-3-1,0 2,0 0,2 0,-1 0,2 0,0 0,0 0,0 0,0 0,0 0,-1 0,-2 0,2 2,1 0,0-1,0 1,1 1,-1-2,1 2,1 0,-1 0,2 0,0 0,-3-1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04T23:25:5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2349 745,'-3'-3,"-2"1,-2-1,3 3,-2-1,-2 1,-1 0,3 0,-2 0,-8 0,5 0,-5 0,0 0,0 1,5 1,-6 4,3-4,6-2,2 0,0 1,-5-1,5 2,0-2,1 1,0 1,2-1,0 2,0-3,0 1,0 2,0-2,-1 0,1 1,-1 0,-1-1,2 1,0-1,0 1,0 0,-1 0,2 1,-1 0,2 0,-1 0,2 0,-1 2,1 1,0-1,0-1,0 0,0-1,0 0,0 0,0 0,3 0,1-1,0-1,2 1,4-1,-5 2,-1-3,4 2,-3-1,1 1,1-1,-2-1,-2 0,1 0,2 0,-2 0,2 0,4 0,-5 0,-1 0,-1 0,0 0,2 0,-2 0,0 0,1 0,0 0,-1 0,1 0,1 0,0 0,-1 0,1 0,-2 0,5 0,-5 0,3 0,-2 0,2 0,0 0,2 0,-2 0,1 0,-3 0,1 0,-1 0,2 0,-1-1,1 1,0 0,0-2,1 1,-4 1,2-3,-2 3,0 0,1 0,-1 0,0-1,1 0,1-1,-2 1,0 1,0-1,0 0,0 1,0-1,1 0,-1 1,0-2,0 1,-1-2,0-2,0 1,-1 0,-1 0,0 0,0 1,0-1,-1-2,-2-3,1 6,-1-3,0 1,0-1,2 3,-4-1,0-1,1 0,1 1,-2-1,0 2,1 2,1 0,-1 0,-1 1,1-1,1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04T23:25:5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1451 1363,'-4'0,"3"3,-2-2,0 0,-1 4,1-4,2 2,-2-2,-2 2,3 0,1 1,-1-1,2 0,-1 0,1 0,0 0,0 1,0-1,3-3,1 2,2 0,-2-1,0-1,2 2,-3-1,1-1,-1 0,1 0,-1 0,2 0,-2 0,0 0,1 0,-1 0,1 0,0 0,0 0,1 0,-1 0,2 0,-2 0,-1 0,4 0,-1 0,-1 0,0 0,-1 0,0 0,-1 0,1 0,0 0,-1 0,0 0,1 0,0 0,0 0,-1 0,1 0,4 0,-4 0,-1 0,2 0,-2 0,0 0,0-1,0 0,0 1,1 0,-1 0,0 0,0 0,1 0,-1-1,1 1,-1 0,1 0,-1-2,1 0,-1-1,-1 0,2 1,-2-2,1 2,-1-1,-2 0,0 0,0-1,0 1,0 0,-4 1,1 1,-1 0,0 0,1 1,0-1,0 1,0 0,0 0,-1 0,1 0,0 0,0 0,0 0,-1 0,1 0,-1 0,1 0,0 0,0 0,0 0,0 0,-2-1,1 1,1 0,0 0,0 0,-2 0,1 0,1 0,-1 0,1 0,-1 0,1 0,0-2,0 1,0 1,0-1,0 1,0-1,0 1,0-2,-1 1,1 1,-1-1,1 0,0 1,-2-2,1 2,0-2,-1 1,2 1,0-2,-1 2,1 0,0 0,0 0,0 0,-1 0,0 0,1 1,0-1,0 1,-1 0,1 0,0 1,0 0,-1-1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04T23:25:52"/>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2177 1098,'5'0,"-2"1,1 1,4-1,-4-1,5 2,-3-1,-2-1,0 0,1 0,-1 0,0 0,1 0,-2 0,0 0,0 0,0 0,0 0,0 0,0 0,0 0,1 0,-1 0,1 0,2 0,-1 0,0 0,-2-1,0 0,0 1,0 0,0 0,1-1,-1 0,-1-2,1 2,-1-2,-2 0,0 0,-1 0,-2 0,1 0,-2 0,0-1,0 1,-1 0,2 1,-1-1,0 0,1 1,1-1,-2 2,1 1,0 0,0 0,0 0,0 0,-3 0,2 0,1 0,0 0,0 0,0 0,0 0,-1 0,1 0,0 0,0 0,0 0,0 0,0 0,0 0,0 0,0 0,0 0,0 0,0 0,0 1,0 0,0 1,1 1,0 0,-1-1,2 1,-2-1,2 1,0 0,1 0,0 0,0 0,0 2,0-2,-1 0,1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433CC-4372-834B-BEE8-4DEDCE506F01}"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1F2728-CE6B-184B-8CAE-F8C65D29AB9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3600" b="1">
                <a:latin typeface="+mn-ea"/>
                <a:ea typeface="+mn-ea"/>
              </a:defRPr>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800" b="1">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38542437-FCBD-804C-8010-7D988C9E61D2}"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r>
              <a:rPr kumimoji="1" lang="zh-CN" altLang="en-US"/>
              <a:t>西北工业大学软件学院</a:t>
            </a:r>
            <a:endParaRPr kumimoji="1" lang="zh-CN" altLang="en-US"/>
          </a:p>
        </p:txBody>
      </p:sp>
      <p:sp>
        <p:nvSpPr>
          <p:cNvPr id="6" name="灯片编号占位符 5"/>
          <p:cNvSpPr>
            <a:spLocks noGrp="1"/>
          </p:cNvSpPr>
          <p:nvPr>
            <p:ph type="sldNum" sz="quarter" idx="12"/>
          </p:nvPr>
        </p:nvSpPr>
        <p:spPr/>
        <p:txBody>
          <a:bodyPr/>
          <a:lstStyle/>
          <a:p>
            <a:fld id="{5A1A6423-77BD-D842-A714-25250E903C41}"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atin typeface="+mn-ea"/>
                <a:ea typeface="+mn-ea"/>
              </a:defRPr>
            </a:lvl1p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lvl1pPr>
              <a:defRPr sz="3200" b="1"/>
            </a:lvl1pPr>
            <a:lvl2pPr>
              <a:defRPr sz="2800" b="1"/>
            </a:lvl2pPr>
            <a:lvl3pPr>
              <a:defRPr sz="2400" b="1"/>
            </a:lvl3pPr>
            <a:lvl4pPr>
              <a:defRPr sz="2000" b="1"/>
            </a:lvl4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endParaRPr kumimoji="1" lang="zh-CN" altLang="en-US"/>
          </a:p>
        </p:txBody>
      </p:sp>
      <p:sp>
        <p:nvSpPr>
          <p:cNvPr id="4" name="日期占位符 3"/>
          <p:cNvSpPr>
            <a:spLocks noGrp="1"/>
          </p:cNvSpPr>
          <p:nvPr>
            <p:ph type="dt" sz="half" idx="10"/>
          </p:nvPr>
        </p:nvSpPr>
        <p:spPr/>
        <p:txBody>
          <a:bodyPr/>
          <a:lstStyle>
            <a:lvl1pPr>
              <a:defRPr sz="1400" b="1"/>
            </a:lvl1pPr>
          </a:lstStyle>
          <a:p>
            <a:fld id="{E3568B98-56F6-0943-8E7A-35A5588E2AEF}"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lvl1pPr>
              <a:defRPr sz="1400" b="1"/>
            </a:lvl1pPr>
          </a:lstStyle>
          <a:p>
            <a:r>
              <a:rPr kumimoji="1" lang="zh-CN" altLang="en-US"/>
              <a:t>西北工业大学软件学院</a:t>
            </a:r>
            <a:endParaRPr kumimoji="1" lang="zh-CN" altLang="en-US"/>
          </a:p>
        </p:txBody>
      </p:sp>
      <p:sp>
        <p:nvSpPr>
          <p:cNvPr id="6" name="灯片编号占位符 5"/>
          <p:cNvSpPr>
            <a:spLocks noGrp="1"/>
          </p:cNvSpPr>
          <p:nvPr>
            <p:ph type="sldNum" sz="quarter" idx="12"/>
          </p:nvPr>
        </p:nvSpPr>
        <p:spPr/>
        <p:txBody>
          <a:bodyPr/>
          <a:lstStyle>
            <a:lvl1pPr>
              <a:defRPr sz="1400" b="1"/>
            </a:lvl1pPr>
          </a:lstStyle>
          <a:p>
            <a:fld id="{5A1A6423-77BD-D842-A714-25250E903C41}"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atin typeface="+mn-ea"/>
                <a:ea typeface="+mn-ea"/>
              </a:defRPr>
            </a:lvl1p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628650" y="1825625"/>
            <a:ext cx="3886200" cy="4351338"/>
          </a:xfrm>
        </p:spPr>
        <p:txBody>
          <a:bodyPr/>
          <a:lstStyle>
            <a:lvl1pPr>
              <a:defRPr sz="3200" b="1"/>
            </a:lvl1pPr>
            <a:lvl2pPr>
              <a:defRPr sz="2800" b="1"/>
            </a:lvl2pPr>
            <a:lvl3pPr>
              <a:defRPr sz="2400" b="1"/>
            </a:lvl3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4629150" y="1825625"/>
            <a:ext cx="3886200" cy="4351338"/>
          </a:xfrm>
        </p:spPr>
        <p:txBody>
          <a:bodyPr/>
          <a:lstStyle>
            <a:lvl1pPr>
              <a:defRPr sz="3200" b="1"/>
            </a:lvl1pPr>
            <a:lvl2pPr>
              <a:defRPr sz="2800" b="1"/>
            </a:lvl2pPr>
            <a:lvl3pPr>
              <a:defRPr sz="2400" b="1"/>
            </a:lvl3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F7A4A731-895D-C843-AB7E-8C73F2B5BDA5}"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r>
              <a:rPr kumimoji="1" lang="zh-CN" altLang="en-US"/>
              <a:t>西北工业大学软件学院</a:t>
            </a:r>
            <a:endParaRPr kumimoji="1" lang="zh-CN" altLang="en-US"/>
          </a:p>
        </p:txBody>
      </p:sp>
      <p:sp>
        <p:nvSpPr>
          <p:cNvPr id="7" name="灯片编号占位符 6"/>
          <p:cNvSpPr>
            <a:spLocks noGrp="1"/>
          </p:cNvSpPr>
          <p:nvPr>
            <p:ph type="sldNum" sz="quarter" idx="12"/>
          </p:nvPr>
        </p:nvSpPr>
        <p:spPr/>
        <p:txBody>
          <a:bodyPr/>
          <a:lstStyle/>
          <a:p>
            <a:fld id="{5A1A6423-77BD-D842-A714-25250E903C41}"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C62B8-9847-C34C-A258-60521C24F342}" type="datetime1">
              <a:rPr kumimoji="1" lang="zh-CN" altLang="en-US" smtClean="0"/>
            </a:fld>
            <a:endParaRPr kumimoji="1"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zh-CN" altLang="en-US"/>
              <a:t>西北工业大学软件学院</a:t>
            </a:r>
            <a:endParaRPr kumimoji="1"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1A6423-77BD-D842-A714-25250E903C4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image" Target="../media/image3.png"/><Relationship Id="rId5" Type="http://schemas.openxmlformats.org/officeDocument/2006/relationships/tags" Target="../tags/tag8.xml"/><Relationship Id="rId4" Type="http://schemas.openxmlformats.org/officeDocument/2006/relationships/image" Target="../media/image2.png"/><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image" Target="../media/image3.png"/><Relationship Id="rId4" Type="http://schemas.openxmlformats.org/officeDocument/2006/relationships/tags" Target="../tags/tag13.xml"/><Relationship Id="rId3" Type="http://schemas.openxmlformats.org/officeDocument/2006/relationships/image" Target="../media/image2.png"/><Relationship Id="rId2" Type="http://schemas.openxmlformats.org/officeDocument/2006/relationships/tags" Target="../tags/tag12.xml"/><Relationship Id="rId10" Type="http://schemas.openxmlformats.org/officeDocument/2006/relationships/slideLayout" Target="../slideLayouts/slideLayout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3.png"/><Relationship Id="rId4" Type="http://schemas.openxmlformats.org/officeDocument/2006/relationships/tags" Target="../tags/tag20.xml"/><Relationship Id="rId3" Type="http://schemas.openxmlformats.org/officeDocument/2006/relationships/image" Target="../media/image2.png"/><Relationship Id="rId2" Type="http://schemas.openxmlformats.org/officeDocument/2006/relationships/tags" Target="../tags/tag19.xml"/><Relationship Id="rId15" Type="http://schemas.openxmlformats.org/officeDocument/2006/relationships/vmlDrawing" Target="../drawings/vmlDrawing1.vml"/><Relationship Id="rId14" Type="http://schemas.openxmlformats.org/officeDocument/2006/relationships/slideLayout" Target="../slideLayouts/slideLayout2.xml"/><Relationship Id="rId13" Type="http://schemas.openxmlformats.org/officeDocument/2006/relationships/tags" Target="../tags/tag26.xml"/><Relationship Id="rId12" Type="http://schemas.openxmlformats.org/officeDocument/2006/relationships/image" Target="../media/image4.wmf"/><Relationship Id="rId11" Type="http://schemas.openxmlformats.org/officeDocument/2006/relationships/oleObject" Target="../embeddings/oleObject1.bin"/><Relationship Id="rId10" Type="http://schemas.openxmlformats.org/officeDocument/2006/relationships/tags" Target="../tags/tag25.xml"/><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image" Target="../media/image5.png"/><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image" Target="../media/image3.png"/><Relationship Id="rId4" Type="http://schemas.openxmlformats.org/officeDocument/2006/relationships/tags" Target="../tags/tag29.xml"/><Relationship Id="rId3" Type="http://schemas.openxmlformats.org/officeDocument/2006/relationships/image" Target="../media/image2.png"/><Relationship Id="rId2" Type="http://schemas.openxmlformats.org/officeDocument/2006/relationships/tags" Target="../tags/tag28.xml"/><Relationship Id="rId11" Type="http://schemas.openxmlformats.org/officeDocument/2006/relationships/slideLayout" Target="../slideLayouts/slideLayout2.xml"/><Relationship Id="rId10" Type="http://schemas.openxmlformats.org/officeDocument/2006/relationships/tags" Target="../tags/tag33.xml"/><Relationship Id="rId1" Type="http://schemas.openxmlformats.org/officeDocument/2006/relationships/tags" Target="../tags/tag27.xml"/></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38.xml"/><Relationship Id="rId7" Type="http://schemas.openxmlformats.org/officeDocument/2006/relationships/image" Target="../media/image6.png"/><Relationship Id="rId6" Type="http://schemas.openxmlformats.org/officeDocument/2006/relationships/tags" Target="../tags/tag37.xml"/><Relationship Id="rId5" Type="http://schemas.openxmlformats.org/officeDocument/2006/relationships/image" Target="../media/image3.png"/><Relationship Id="rId4" Type="http://schemas.openxmlformats.org/officeDocument/2006/relationships/tags" Target="../tags/tag36.xml"/><Relationship Id="rId3" Type="http://schemas.openxmlformats.org/officeDocument/2006/relationships/image" Target="../media/image2.png"/><Relationship Id="rId2" Type="http://schemas.openxmlformats.org/officeDocument/2006/relationships/tags" Target="../tags/tag35.xml"/><Relationship Id="rId13" Type="http://schemas.openxmlformats.org/officeDocument/2006/relationships/slideLayout" Target="../slideLayouts/slideLayout2.xml"/><Relationship Id="rId12" Type="http://schemas.openxmlformats.org/officeDocument/2006/relationships/tags" Target="../tags/tag40.xml"/><Relationship Id="rId11" Type="http://schemas.openxmlformats.org/officeDocument/2006/relationships/image" Target="../media/image8.png"/><Relationship Id="rId10" Type="http://schemas.openxmlformats.org/officeDocument/2006/relationships/tags" Target="../tags/tag39.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5.xml"/><Relationship Id="rId7" Type="http://schemas.openxmlformats.org/officeDocument/2006/relationships/image" Target="../media/image9.png"/><Relationship Id="rId6" Type="http://schemas.openxmlformats.org/officeDocument/2006/relationships/tags" Target="../tags/tag44.xml"/><Relationship Id="rId5" Type="http://schemas.openxmlformats.org/officeDocument/2006/relationships/image" Target="../media/image3.png"/><Relationship Id="rId4" Type="http://schemas.openxmlformats.org/officeDocument/2006/relationships/tags" Target="../tags/tag43.xml"/><Relationship Id="rId3" Type="http://schemas.openxmlformats.org/officeDocument/2006/relationships/image" Target="../media/image2.png"/><Relationship Id="rId2" Type="http://schemas.openxmlformats.org/officeDocument/2006/relationships/tags" Target="../tags/tag42.xml"/><Relationship Id="rId1" Type="http://schemas.openxmlformats.org/officeDocument/2006/relationships/tags" Target="../tags/tag41.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png"/><Relationship Id="rId6" Type="http://schemas.openxmlformats.org/officeDocument/2006/relationships/tags" Target="../tags/tag49.xml"/><Relationship Id="rId5" Type="http://schemas.openxmlformats.org/officeDocument/2006/relationships/image" Target="../media/image3.png"/><Relationship Id="rId4" Type="http://schemas.openxmlformats.org/officeDocument/2006/relationships/tags" Target="../tags/tag48.xml"/><Relationship Id="rId3" Type="http://schemas.openxmlformats.org/officeDocument/2006/relationships/image" Target="../media/image2.png"/><Relationship Id="rId2" Type="http://schemas.openxmlformats.org/officeDocument/2006/relationships/tags" Target="../tags/tag47.xml"/><Relationship Id="rId1" Type="http://schemas.openxmlformats.org/officeDocument/2006/relationships/tags" Target="../tags/tag46.xml"/></Relationships>
</file>

<file path=ppt/slides/_rels/slide10.xml.rels><?xml version="1.0" encoding="UTF-8" standalone="yes"?>
<Relationships xmlns="http://schemas.openxmlformats.org/package/2006/relationships"><Relationship Id="rId9" Type="http://schemas.openxmlformats.org/officeDocument/2006/relationships/customXml" Target="../ink/ink2.xml"/><Relationship Id="rId8" Type="http://schemas.openxmlformats.org/officeDocument/2006/relationships/image" Target="../media/image12.png"/><Relationship Id="rId7" Type="http://schemas.openxmlformats.org/officeDocument/2006/relationships/customXml" Target="../ink/ink1.xml"/><Relationship Id="rId6" Type="http://schemas.openxmlformats.org/officeDocument/2006/relationships/image" Target="../media/image3.png"/><Relationship Id="rId5" Type="http://schemas.openxmlformats.org/officeDocument/2006/relationships/tags" Target="../tags/tag52.xml"/><Relationship Id="rId4" Type="http://schemas.openxmlformats.org/officeDocument/2006/relationships/image" Target="../media/image2.png"/><Relationship Id="rId3" Type="http://schemas.openxmlformats.org/officeDocument/2006/relationships/tags" Target="../tags/tag51.xml"/><Relationship Id="rId2" Type="http://schemas.openxmlformats.org/officeDocument/2006/relationships/tags" Target="../tags/tag50.xml"/><Relationship Id="rId17" Type="http://schemas.openxmlformats.org/officeDocument/2006/relationships/slideLayout" Target="../slideLayouts/slideLayout2.xml"/><Relationship Id="rId16" Type="http://schemas.openxmlformats.org/officeDocument/2006/relationships/image" Target="../media/image16.png"/><Relationship Id="rId15" Type="http://schemas.openxmlformats.org/officeDocument/2006/relationships/customXml" Target="../ink/ink5.xml"/><Relationship Id="rId14" Type="http://schemas.openxmlformats.org/officeDocument/2006/relationships/image" Target="../media/image15.png"/><Relationship Id="rId13" Type="http://schemas.openxmlformats.org/officeDocument/2006/relationships/customXml" Target="../ink/ink4.xml"/><Relationship Id="rId12" Type="http://schemas.openxmlformats.org/officeDocument/2006/relationships/image" Target="../media/image14.png"/><Relationship Id="rId11" Type="http://schemas.openxmlformats.org/officeDocument/2006/relationships/customXml" Target="../ink/ink3.xml"/><Relationship Id="rId10" Type="http://schemas.openxmlformats.org/officeDocument/2006/relationships/image" Target="../media/image13.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9" Type="http://schemas.openxmlformats.org/officeDocument/2006/relationships/slide" Target="slide10.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image" Target="../media/image3.png"/><Relationship Id="rId4" Type="http://schemas.openxmlformats.org/officeDocument/2006/relationships/tags" Target="../tags/tag55.xml"/><Relationship Id="rId3" Type="http://schemas.openxmlformats.org/officeDocument/2006/relationships/image" Target="../media/image2.png"/><Relationship Id="rId23" Type="http://schemas.openxmlformats.org/officeDocument/2006/relationships/slideLayout" Target="../slideLayouts/slideLayout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4.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image" Target="../media/image3.png"/><Relationship Id="rId4" Type="http://schemas.openxmlformats.org/officeDocument/2006/relationships/tags" Target="../tags/tag74.xml"/><Relationship Id="rId3" Type="http://schemas.openxmlformats.org/officeDocument/2006/relationships/image" Target="../media/image2.png"/><Relationship Id="rId2" Type="http://schemas.openxmlformats.org/officeDocument/2006/relationships/tags" Target="../tags/tag73.xml"/><Relationship Id="rId1" Type="http://schemas.openxmlformats.org/officeDocument/2006/relationships/tags" Target="../tags/tag72.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image" Target="../media/image3.png"/><Relationship Id="rId4" Type="http://schemas.openxmlformats.org/officeDocument/2006/relationships/tags" Target="../tags/tag79.xml"/><Relationship Id="rId3" Type="http://schemas.openxmlformats.org/officeDocument/2006/relationships/image" Target="../media/image2.png"/><Relationship Id="rId2" Type="http://schemas.openxmlformats.org/officeDocument/2006/relationships/tags" Target="../tags/tag78.xml"/><Relationship Id="rId10" Type="http://schemas.openxmlformats.org/officeDocument/2006/relationships/notesSlide" Target="../notesSlides/notesSlide1.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image" Target="../media/image3.png"/><Relationship Id="rId4" Type="http://schemas.openxmlformats.org/officeDocument/2006/relationships/tags" Target="../tags/tag85.xml"/><Relationship Id="rId3" Type="http://schemas.openxmlformats.org/officeDocument/2006/relationships/image" Target="../media/image2.png"/><Relationship Id="rId2" Type="http://schemas.openxmlformats.org/officeDocument/2006/relationships/tags" Target="../tags/tag84.xml"/><Relationship Id="rId1" Type="http://schemas.openxmlformats.org/officeDocument/2006/relationships/tags" Target="../tags/tag83.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image" Target="../media/image3.png"/><Relationship Id="rId4" Type="http://schemas.openxmlformats.org/officeDocument/2006/relationships/tags" Target="../tags/tag90.xml"/><Relationship Id="rId3" Type="http://schemas.openxmlformats.org/officeDocument/2006/relationships/image" Target="../media/image2.png"/><Relationship Id="rId2" Type="http://schemas.openxmlformats.org/officeDocument/2006/relationships/tags" Target="../tags/tag89.xml"/><Relationship Id="rId1" Type="http://schemas.openxmlformats.org/officeDocument/2006/relationships/tags" Target="../tags/tag88.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image" Target="../media/image3.png"/><Relationship Id="rId4" Type="http://schemas.openxmlformats.org/officeDocument/2006/relationships/tags" Target="../tags/tag95.xml"/><Relationship Id="rId3" Type="http://schemas.openxmlformats.org/officeDocument/2006/relationships/image" Target="../media/image2.png"/><Relationship Id="rId2" Type="http://schemas.openxmlformats.org/officeDocument/2006/relationships/tags" Target="../tags/tag94.xml"/><Relationship Id="rId1" Type="http://schemas.openxmlformats.org/officeDocument/2006/relationships/tags" Target="../tags/tag93.xml"/></Relationships>
</file>

<file path=ppt/slides/_rels/slide19.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image" Target="../media/image3.png"/><Relationship Id="rId4" Type="http://schemas.openxmlformats.org/officeDocument/2006/relationships/tags" Target="../tags/tag100.xml"/><Relationship Id="rId3" Type="http://schemas.openxmlformats.org/officeDocument/2006/relationships/image" Target="../media/image2.png"/><Relationship Id="rId23" Type="http://schemas.openxmlformats.org/officeDocument/2006/relationships/vmlDrawing" Target="../drawings/vmlDrawing2.vml"/><Relationship Id="rId22" Type="http://schemas.openxmlformats.org/officeDocument/2006/relationships/slideLayout" Target="../slideLayouts/slideLayout2.xml"/><Relationship Id="rId21" Type="http://schemas.openxmlformats.org/officeDocument/2006/relationships/tags" Target="../tags/tag114.xml"/><Relationship Id="rId20" Type="http://schemas.openxmlformats.org/officeDocument/2006/relationships/tags" Target="../tags/tag113.xml"/><Relationship Id="rId2" Type="http://schemas.openxmlformats.org/officeDocument/2006/relationships/tags" Target="../tags/tag99.xml"/><Relationship Id="rId19" Type="http://schemas.openxmlformats.org/officeDocument/2006/relationships/tags" Target="../tags/tag112.xml"/><Relationship Id="rId18" Type="http://schemas.openxmlformats.org/officeDocument/2006/relationships/tags" Target="../tags/tag111.xml"/><Relationship Id="rId17" Type="http://schemas.openxmlformats.org/officeDocument/2006/relationships/tags" Target="../tags/tag110.xml"/><Relationship Id="rId16" Type="http://schemas.openxmlformats.org/officeDocument/2006/relationships/image" Target="../media/image17.png"/><Relationship Id="rId15" Type="http://schemas.openxmlformats.org/officeDocument/2006/relationships/oleObject" Target="../embeddings/oleObject2.bin"/><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8.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tags" Target="../tags/tag117.xml"/><Relationship Id="rId3" Type="http://schemas.openxmlformats.org/officeDocument/2006/relationships/image" Target="../media/image2.png"/><Relationship Id="rId2" Type="http://schemas.openxmlformats.org/officeDocument/2006/relationships/tags" Target="../tags/tag116.xml"/><Relationship Id="rId1" Type="http://schemas.openxmlformats.org/officeDocument/2006/relationships/tags" Target="../tags/tag115.xml"/></Relationships>
</file>

<file path=ppt/slides/_rels/slide21.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image" Target="../media/image18.wmf"/><Relationship Id="rId7" Type="http://schemas.openxmlformats.org/officeDocument/2006/relationships/oleObject" Target="../embeddings/oleObject3.bin"/><Relationship Id="rId6" Type="http://schemas.openxmlformats.org/officeDocument/2006/relationships/tags" Target="../tags/tag121.xml"/><Relationship Id="rId5" Type="http://schemas.openxmlformats.org/officeDocument/2006/relationships/image" Target="../media/image3.png"/><Relationship Id="rId4" Type="http://schemas.openxmlformats.org/officeDocument/2006/relationships/tags" Target="../tags/tag120.xml"/><Relationship Id="rId3" Type="http://schemas.openxmlformats.org/officeDocument/2006/relationships/image" Target="../media/image2.png"/><Relationship Id="rId2" Type="http://schemas.openxmlformats.org/officeDocument/2006/relationships/tags" Target="../tags/tag119.xml"/><Relationship Id="rId14" Type="http://schemas.openxmlformats.org/officeDocument/2006/relationships/vmlDrawing" Target="../drawings/vmlDrawing3.vml"/><Relationship Id="rId13" Type="http://schemas.openxmlformats.org/officeDocument/2006/relationships/slideLayout" Target="../slideLayouts/slideLayout2.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tags" Target="../tags/tag128.xml"/><Relationship Id="rId3" Type="http://schemas.openxmlformats.org/officeDocument/2006/relationships/image" Target="../media/image2.png"/><Relationship Id="rId2" Type="http://schemas.openxmlformats.org/officeDocument/2006/relationships/tags" Target="../tags/tag127.xml"/><Relationship Id="rId1" Type="http://schemas.openxmlformats.org/officeDocument/2006/relationships/tags" Target="../tags/tag126.xml"/></Relationships>
</file>

<file path=ppt/slides/_rels/slide23.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image" Target="../media/image3.png"/><Relationship Id="rId7" Type="http://schemas.openxmlformats.org/officeDocument/2006/relationships/tags" Target="../tags/tag132.xml"/><Relationship Id="rId6" Type="http://schemas.openxmlformats.org/officeDocument/2006/relationships/image" Target="../media/image2.png"/><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image" Target="../media/image19.wmf"/><Relationship Id="rId25" Type="http://schemas.openxmlformats.org/officeDocument/2006/relationships/vmlDrawing" Target="../drawings/vmlDrawing4.vml"/><Relationship Id="rId24" Type="http://schemas.openxmlformats.org/officeDocument/2006/relationships/slideLayout" Target="../slideLayouts/slideLayout2.xml"/><Relationship Id="rId23" Type="http://schemas.openxmlformats.org/officeDocument/2006/relationships/tags" Target="../tags/tag147.xml"/><Relationship Id="rId22" Type="http://schemas.openxmlformats.org/officeDocument/2006/relationships/tags" Target="../tags/tag146.xml"/><Relationship Id="rId21" Type="http://schemas.openxmlformats.org/officeDocument/2006/relationships/tags" Target="../tags/tag145.xml"/><Relationship Id="rId20" Type="http://schemas.openxmlformats.org/officeDocument/2006/relationships/tags" Target="../tags/tag144.xml"/><Relationship Id="rId2" Type="http://schemas.openxmlformats.org/officeDocument/2006/relationships/oleObject" Target="../embeddings/oleObject4.bin"/><Relationship Id="rId19" Type="http://schemas.openxmlformats.org/officeDocument/2006/relationships/tags" Target="../tags/tag143.xml"/><Relationship Id="rId18" Type="http://schemas.openxmlformats.org/officeDocument/2006/relationships/tags" Target="../tags/tag142.xml"/><Relationship Id="rId17" Type="http://schemas.openxmlformats.org/officeDocument/2006/relationships/tags" Target="../tags/tag141.xml"/><Relationship Id="rId16" Type="http://schemas.openxmlformats.org/officeDocument/2006/relationships/tags" Target="../tags/tag140.xml"/><Relationship Id="rId15" Type="http://schemas.openxmlformats.org/officeDocument/2006/relationships/tags" Target="../tags/tag139.xml"/><Relationship Id="rId14" Type="http://schemas.openxmlformats.org/officeDocument/2006/relationships/tags" Target="../tags/tag138.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tags" Target="../tags/tag129.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tags" Target="../tags/tag150.xml"/><Relationship Id="rId3" Type="http://schemas.openxmlformats.org/officeDocument/2006/relationships/image" Target="../media/image2.png"/><Relationship Id="rId2" Type="http://schemas.openxmlformats.org/officeDocument/2006/relationships/tags" Target="../tags/tag149.xml"/><Relationship Id="rId1" Type="http://schemas.openxmlformats.org/officeDocument/2006/relationships/tags" Target="../tags/tag148.xml"/></Relationships>
</file>

<file path=ppt/slides/_rels/slide25.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image" Target="../media/image20.emf"/><Relationship Id="rId7" Type="http://schemas.openxmlformats.org/officeDocument/2006/relationships/oleObject" Target="../embeddings/oleObject5.bin"/><Relationship Id="rId6" Type="http://schemas.openxmlformats.org/officeDocument/2006/relationships/tags" Target="../tags/tag154.xml"/><Relationship Id="rId5" Type="http://schemas.openxmlformats.org/officeDocument/2006/relationships/image" Target="../media/image3.png"/><Relationship Id="rId4" Type="http://schemas.openxmlformats.org/officeDocument/2006/relationships/tags" Target="../tags/tag153.xml"/><Relationship Id="rId3" Type="http://schemas.openxmlformats.org/officeDocument/2006/relationships/image" Target="../media/image2.png"/><Relationship Id="rId2" Type="http://schemas.openxmlformats.org/officeDocument/2006/relationships/tags" Target="../tags/tag152.xml"/><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image" Target="../media/image21.emf"/><Relationship Id="rId10" Type="http://schemas.openxmlformats.org/officeDocument/2006/relationships/oleObject" Target="../embeddings/oleObject6.bin"/><Relationship Id="rId1" Type="http://schemas.openxmlformats.org/officeDocument/2006/relationships/tags" Target="../tags/tag15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image" Target="../media/image3.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image" Target="../media/image3.png"/><Relationship Id="rId5" Type="http://schemas.openxmlformats.org/officeDocument/2006/relationships/tags" Target="../tags/tag163.xml"/><Relationship Id="rId4" Type="http://schemas.openxmlformats.org/officeDocument/2006/relationships/image" Target="../media/image2.png"/><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169.xml"/><Relationship Id="rId4" Type="http://schemas.openxmlformats.org/officeDocument/2006/relationships/image" Target="../media/image2.png"/><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173.xml"/><Relationship Id="rId4" Type="http://schemas.openxmlformats.org/officeDocument/2006/relationships/image" Target="../media/image2.png"/><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177.xml"/><Relationship Id="rId4" Type="http://schemas.openxmlformats.org/officeDocument/2006/relationships/image" Target="../media/image2.png"/><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82.xml"/><Relationship Id="rId6" Type="http://schemas.openxmlformats.org/officeDocument/2006/relationships/image" Target="../media/image3.png"/><Relationship Id="rId5" Type="http://schemas.openxmlformats.org/officeDocument/2006/relationships/tags" Target="../tags/tag181.xml"/><Relationship Id="rId4" Type="http://schemas.openxmlformats.org/officeDocument/2006/relationships/image" Target="../media/image2.png"/><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33.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image" Target="../media/image3.png"/><Relationship Id="rId5" Type="http://schemas.openxmlformats.org/officeDocument/2006/relationships/tags" Target="../tags/tag186.xml"/><Relationship Id="rId4" Type="http://schemas.openxmlformats.org/officeDocument/2006/relationships/image" Target="../media/image2.png"/><Relationship Id="rId3" Type="http://schemas.openxmlformats.org/officeDocument/2006/relationships/tags" Target="../tags/tag185.xml"/><Relationship Id="rId2" Type="http://schemas.openxmlformats.org/officeDocument/2006/relationships/tags" Target="../tags/tag184.xml"/><Relationship Id="rId14" Type="http://schemas.openxmlformats.org/officeDocument/2006/relationships/slideLayout" Target="../slideLayouts/slideLayout2.xml"/><Relationship Id="rId13" Type="http://schemas.openxmlformats.org/officeDocument/2006/relationships/image" Target="../media/image22.emf"/><Relationship Id="rId12" Type="http://schemas.openxmlformats.org/officeDocument/2006/relationships/tags" Target="../tags/tag192.xml"/><Relationship Id="rId11" Type="http://schemas.openxmlformats.org/officeDocument/2006/relationships/tags" Target="../tags/tag191.xml"/><Relationship Id="rId10" Type="http://schemas.openxmlformats.org/officeDocument/2006/relationships/tags" Target="../tags/tag190.xml"/><Relationship Id="rId1" Type="http://schemas.openxmlformats.org/officeDocument/2006/relationships/tags" Target="../tags/tag183.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image" Target="../media/image3.png"/><Relationship Id="rId5" Type="http://schemas.openxmlformats.org/officeDocument/2006/relationships/tags" Target="../tags/tag196.xml"/><Relationship Id="rId4" Type="http://schemas.openxmlformats.org/officeDocument/2006/relationships/image" Target="../media/image2.png"/><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image" Target="../media/image3.png"/><Relationship Id="rId5" Type="http://schemas.openxmlformats.org/officeDocument/2006/relationships/tags" Target="../tags/tag202.xml"/><Relationship Id="rId4" Type="http://schemas.openxmlformats.org/officeDocument/2006/relationships/image" Target="../media/image2.png"/><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208.xml"/><Relationship Id="rId4" Type="http://schemas.openxmlformats.org/officeDocument/2006/relationships/image" Target="../media/image2.png"/><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13.xml"/><Relationship Id="rId6" Type="http://schemas.openxmlformats.org/officeDocument/2006/relationships/image" Target="../media/image3.png"/><Relationship Id="rId5" Type="http://schemas.openxmlformats.org/officeDocument/2006/relationships/tags" Target="../tags/tag212.xml"/><Relationship Id="rId4" Type="http://schemas.openxmlformats.org/officeDocument/2006/relationships/image" Target="../media/image2.png"/><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38.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image" Target="../media/image23.png"/><Relationship Id="rId7" Type="http://schemas.openxmlformats.org/officeDocument/2006/relationships/tags" Target="../tags/tag218.xml"/><Relationship Id="rId6" Type="http://schemas.openxmlformats.org/officeDocument/2006/relationships/image" Target="../media/image3.png"/><Relationship Id="rId5" Type="http://schemas.openxmlformats.org/officeDocument/2006/relationships/tags" Target="../tags/tag217.xml"/><Relationship Id="rId4" Type="http://schemas.openxmlformats.org/officeDocument/2006/relationships/image" Target="../media/image2.png"/><Relationship Id="rId3" Type="http://schemas.openxmlformats.org/officeDocument/2006/relationships/tags" Target="../tags/tag216.xml"/><Relationship Id="rId2" Type="http://schemas.openxmlformats.org/officeDocument/2006/relationships/tags" Target="../tags/tag215.xml"/><Relationship Id="rId11" Type="http://schemas.openxmlformats.org/officeDocument/2006/relationships/notesSlide" Target="../notesSlides/notesSlide2.xml"/><Relationship Id="rId10" Type="http://schemas.openxmlformats.org/officeDocument/2006/relationships/slideLayout" Target="../slideLayouts/slideLayout2.xml"/><Relationship Id="rId1" Type="http://schemas.openxmlformats.org/officeDocument/2006/relationships/tags" Target="../tags/tag214.xml"/></Relationships>
</file>

<file path=ppt/slides/_rels/slide39.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image" Target="../media/image3.png"/><Relationship Id="rId5" Type="http://schemas.openxmlformats.org/officeDocument/2006/relationships/tags" Target="../tags/tag223.xml"/><Relationship Id="rId4" Type="http://schemas.openxmlformats.org/officeDocument/2006/relationships/image" Target="../media/image2.png"/><Relationship Id="rId3" Type="http://schemas.openxmlformats.org/officeDocument/2006/relationships/tags" Target="../tags/tag222.xml"/><Relationship Id="rId2" Type="http://schemas.openxmlformats.org/officeDocument/2006/relationships/tags" Target="../tags/tag221.xml"/><Relationship Id="rId16" Type="http://schemas.openxmlformats.org/officeDocument/2006/relationships/slideLayout" Target="../slideLayouts/slideLayout2.xml"/><Relationship Id="rId15" Type="http://schemas.openxmlformats.org/officeDocument/2006/relationships/tags" Target="../tags/tag232.xml"/><Relationship Id="rId14" Type="http://schemas.openxmlformats.org/officeDocument/2006/relationships/tags" Target="../tags/tag231.xml"/><Relationship Id="rId13" Type="http://schemas.openxmlformats.org/officeDocument/2006/relationships/tags" Target="../tags/tag230.xml"/><Relationship Id="rId12" Type="http://schemas.openxmlformats.org/officeDocument/2006/relationships/tags" Target="../tags/tag229.xml"/><Relationship Id="rId11" Type="http://schemas.openxmlformats.org/officeDocument/2006/relationships/tags" Target="../tags/tag228.xml"/><Relationship Id="rId10" Type="http://schemas.openxmlformats.org/officeDocument/2006/relationships/tags" Target="../tags/tag227.xml"/><Relationship Id="rId1" Type="http://schemas.openxmlformats.org/officeDocument/2006/relationships/tags" Target="../tags/tag220.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image" Target="../media/image3.png"/><Relationship Id="rId4" Type="http://schemas.openxmlformats.org/officeDocument/2006/relationships/tags" Target="../tags/tag235.xml"/><Relationship Id="rId3" Type="http://schemas.openxmlformats.org/officeDocument/2006/relationships/image" Target="../media/image2.png"/><Relationship Id="rId2" Type="http://schemas.openxmlformats.org/officeDocument/2006/relationships/tags" Target="../tags/tag234.xml"/><Relationship Id="rId1" Type="http://schemas.openxmlformats.org/officeDocument/2006/relationships/tags" Target="../tags/tag233.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image" Target="../media/image3.png"/><Relationship Id="rId4" Type="http://schemas.openxmlformats.org/officeDocument/2006/relationships/tags" Target="../tags/tag240.xml"/><Relationship Id="rId3" Type="http://schemas.openxmlformats.org/officeDocument/2006/relationships/image" Target="../media/image2.png"/><Relationship Id="rId2" Type="http://schemas.openxmlformats.org/officeDocument/2006/relationships/tags" Target="../tags/tag239.xml"/><Relationship Id="rId1" Type="http://schemas.openxmlformats.org/officeDocument/2006/relationships/tags" Target="../tags/tag238.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image" Target="../media/image3.png"/><Relationship Id="rId4" Type="http://schemas.openxmlformats.org/officeDocument/2006/relationships/tags" Target="../tags/tag245.xml"/><Relationship Id="rId3" Type="http://schemas.openxmlformats.org/officeDocument/2006/relationships/image" Target="../media/image2.png"/><Relationship Id="rId2" Type="http://schemas.openxmlformats.org/officeDocument/2006/relationships/tags" Target="../tags/tag244.xml"/><Relationship Id="rId1" Type="http://schemas.openxmlformats.org/officeDocument/2006/relationships/tags" Target="../tags/tag243.xml"/></Relationships>
</file>

<file path=ppt/slides/_rels/slide43.xml.rels><?xml version="1.0" encoding="UTF-8" standalone="yes"?>
<Relationships xmlns="http://schemas.openxmlformats.org/package/2006/relationships"><Relationship Id="rId9" Type="http://schemas.openxmlformats.org/officeDocument/2006/relationships/tags" Target="../tags/tag253.xml"/><Relationship Id="rId8" Type="http://schemas.openxmlformats.org/officeDocument/2006/relationships/tags" Target="../tags/tag252.xml"/><Relationship Id="rId7" Type="http://schemas.openxmlformats.org/officeDocument/2006/relationships/image" Target="../media/image3.png"/><Relationship Id="rId6" Type="http://schemas.openxmlformats.org/officeDocument/2006/relationships/tags" Target="../tags/tag251.xml"/><Relationship Id="rId5" Type="http://schemas.openxmlformats.org/officeDocument/2006/relationships/image" Target="../media/image2.png"/><Relationship Id="rId4" Type="http://schemas.openxmlformats.org/officeDocument/2006/relationships/tags" Target="../tags/tag250.xml"/><Relationship Id="rId3" Type="http://schemas.openxmlformats.org/officeDocument/2006/relationships/tags" Target="../tags/tag249.xml"/><Relationship Id="rId2" Type="http://schemas.openxmlformats.org/officeDocument/2006/relationships/image" Target="../media/image24.png"/><Relationship Id="rId11" Type="http://schemas.openxmlformats.org/officeDocument/2006/relationships/slideLayout" Target="../slideLayouts/slideLayout2.xml"/><Relationship Id="rId10" Type="http://schemas.openxmlformats.org/officeDocument/2006/relationships/tags" Target="../tags/tag254.xml"/><Relationship Id="rId1" Type="http://schemas.openxmlformats.org/officeDocument/2006/relationships/tags" Target="../tags/tag248.xml"/></Relationships>
</file>

<file path=ppt/slides/_rels/slide44.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image" Target="../media/image3.png"/><Relationship Id="rId5" Type="http://schemas.openxmlformats.org/officeDocument/2006/relationships/tags" Target="../tags/tag258.xml"/><Relationship Id="rId4" Type="http://schemas.openxmlformats.org/officeDocument/2006/relationships/image" Target="../media/image2.png"/><Relationship Id="rId3" Type="http://schemas.openxmlformats.org/officeDocument/2006/relationships/tags" Target="../tags/tag257.xml"/><Relationship Id="rId23" Type="http://schemas.openxmlformats.org/officeDocument/2006/relationships/slideLayout" Target="../slideLayouts/slideLayout2.xml"/><Relationship Id="rId22" Type="http://schemas.openxmlformats.org/officeDocument/2006/relationships/tags" Target="../tags/tag274.xml"/><Relationship Id="rId21" Type="http://schemas.openxmlformats.org/officeDocument/2006/relationships/tags" Target="../tags/tag273.xml"/><Relationship Id="rId20" Type="http://schemas.openxmlformats.org/officeDocument/2006/relationships/tags" Target="../tags/tag272.xml"/><Relationship Id="rId2" Type="http://schemas.openxmlformats.org/officeDocument/2006/relationships/tags" Target="../tags/tag256.xml"/><Relationship Id="rId19" Type="http://schemas.openxmlformats.org/officeDocument/2006/relationships/tags" Target="../tags/tag271.xml"/><Relationship Id="rId18" Type="http://schemas.openxmlformats.org/officeDocument/2006/relationships/tags" Target="../tags/tag270.xml"/><Relationship Id="rId17" Type="http://schemas.openxmlformats.org/officeDocument/2006/relationships/tags" Target="../tags/tag269.xml"/><Relationship Id="rId16" Type="http://schemas.openxmlformats.org/officeDocument/2006/relationships/tags" Target="../tags/tag268.xml"/><Relationship Id="rId15" Type="http://schemas.openxmlformats.org/officeDocument/2006/relationships/tags" Target="../tags/tag267.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 Type="http://schemas.openxmlformats.org/officeDocument/2006/relationships/tags" Target="../tags/tag263.xml"/><Relationship Id="rId10" Type="http://schemas.openxmlformats.org/officeDocument/2006/relationships/tags" Target="../tags/tag262.xml"/><Relationship Id="rId1" Type="http://schemas.openxmlformats.org/officeDocument/2006/relationships/tags" Target="../tags/tag255.xml"/></Relationships>
</file>

<file path=ppt/slides/_rels/slide45.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image" Target="../media/image3.png"/><Relationship Id="rId5" Type="http://schemas.openxmlformats.org/officeDocument/2006/relationships/tags" Target="../tags/tag278.xml"/><Relationship Id="rId4" Type="http://schemas.openxmlformats.org/officeDocument/2006/relationships/image" Target="../media/image2.png"/><Relationship Id="rId3" Type="http://schemas.openxmlformats.org/officeDocument/2006/relationships/tags" Target="../tags/tag277.xml"/><Relationship Id="rId2" Type="http://schemas.openxmlformats.org/officeDocument/2006/relationships/tags" Target="../tags/tag276.xml"/><Relationship Id="rId16" Type="http://schemas.openxmlformats.org/officeDocument/2006/relationships/slideLayout" Target="../slideLayouts/slideLayout2.xml"/><Relationship Id="rId15" Type="http://schemas.openxmlformats.org/officeDocument/2006/relationships/tags" Target="../tags/tag287.xml"/><Relationship Id="rId14" Type="http://schemas.openxmlformats.org/officeDocument/2006/relationships/tags" Target="../tags/tag286.xml"/><Relationship Id="rId13" Type="http://schemas.openxmlformats.org/officeDocument/2006/relationships/tags" Target="../tags/tag285.xml"/><Relationship Id="rId12" Type="http://schemas.openxmlformats.org/officeDocument/2006/relationships/tags" Target="../tags/tag284.xml"/><Relationship Id="rId11" Type="http://schemas.openxmlformats.org/officeDocument/2006/relationships/tags" Target="../tags/tag283.xml"/><Relationship Id="rId10" Type="http://schemas.openxmlformats.org/officeDocument/2006/relationships/tags" Target="../tags/tag282.xml"/><Relationship Id="rId1" Type="http://schemas.openxmlformats.org/officeDocument/2006/relationships/tags" Target="../tags/tag275.xml"/></Relationships>
</file>

<file path=ppt/slides/_rels/slide46.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image" Target="../media/image3.png"/><Relationship Id="rId5" Type="http://schemas.openxmlformats.org/officeDocument/2006/relationships/tags" Target="../tags/tag291.xml"/><Relationship Id="rId4" Type="http://schemas.openxmlformats.org/officeDocument/2006/relationships/image" Target="../media/image2.png"/><Relationship Id="rId3" Type="http://schemas.openxmlformats.org/officeDocument/2006/relationships/tags" Target="../tags/tag290.xml"/><Relationship Id="rId2" Type="http://schemas.openxmlformats.org/officeDocument/2006/relationships/tags" Target="../tags/tag289.xml"/><Relationship Id="rId17" Type="http://schemas.openxmlformats.org/officeDocument/2006/relationships/slideLayout" Target="../slideLayouts/slideLayout2.xml"/><Relationship Id="rId16" Type="http://schemas.openxmlformats.org/officeDocument/2006/relationships/tags" Target="../tags/tag301.xml"/><Relationship Id="rId15" Type="http://schemas.openxmlformats.org/officeDocument/2006/relationships/tags" Target="../tags/tag300.xml"/><Relationship Id="rId14" Type="http://schemas.openxmlformats.org/officeDocument/2006/relationships/tags" Target="../tags/tag299.xml"/><Relationship Id="rId13" Type="http://schemas.openxmlformats.org/officeDocument/2006/relationships/tags" Target="../tags/tag298.xml"/><Relationship Id="rId12" Type="http://schemas.openxmlformats.org/officeDocument/2006/relationships/tags" Target="../tags/tag297.xml"/><Relationship Id="rId11" Type="http://schemas.openxmlformats.org/officeDocument/2006/relationships/tags" Target="../tags/tag296.xml"/><Relationship Id="rId10" Type="http://schemas.openxmlformats.org/officeDocument/2006/relationships/tags" Target="../tags/tag295.xml"/><Relationship Id="rId1" Type="http://schemas.openxmlformats.org/officeDocument/2006/relationships/tags" Target="../tags/tag288.xml"/></Relationships>
</file>

<file path=ppt/slides/_rels/slide47.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image" Target="../media/image3.png"/><Relationship Id="rId5" Type="http://schemas.openxmlformats.org/officeDocument/2006/relationships/tags" Target="../tags/tag305.xml"/><Relationship Id="rId4" Type="http://schemas.openxmlformats.org/officeDocument/2006/relationships/image" Target="../media/image2.png"/><Relationship Id="rId3" Type="http://schemas.openxmlformats.org/officeDocument/2006/relationships/tags" Target="../tags/tag304.xml"/><Relationship Id="rId21" Type="http://schemas.openxmlformats.org/officeDocument/2006/relationships/slideLayout" Target="../slideLayouts/slideLayout2.xml"/><Relationship Id="rId20" Type="http://schemas.openxmlformats.org/officeDocument/2006/relationships/tags" Target="../tags/tag319.xml"/><Relationship Id="rId2" Type="http://schemas.openxmlformats.org/officeDocument/2006/relationships/tags" Target="../tags/tag303.xml"/><Relationship Id="rId19" Type="http://schemas.openxmlformats.org/officeDocument/2006/relationships/tags" Target="../tags/tag318.xml"/><Relationship Id="rId18" Type="http://schemas.openxmlformats.org/officeDocument/2006/relationships/tags" Target="../tags/tag317.xml"/><Relationship Id="rId17" Type="http://schemas.openxmlformats.org/officeDocument/2006/relationships/tags" Target="../tags/tag316.xml"/><Relationship Id="rId16" Type="http://schemas.openxmlformats.org/officeDocument/2006/relationships/tags" Target="../tags/tag315.xml"/><Relationship Id="rId15" Type="http://schemas.openxmlformats.org/officeDocument/2006/relationships/tags" Target="../tags/tag314.xml"/><Relationship Id="rId14" Type="http://schemas.openxmlformats.org/officeDocument/2006/relationships/tags" Target="../tags/tag313.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 Type="http://schemas.openxmlformats.org/officeDocument/2006/relationships/tags" Target="../tags/tag309.xml"/><Relationship Id="rId1" Type="http://schemas.openxmlformats.org/officeDocument/2006/relationships/tags" Target="../tags/tag302.xml"/></Relationships>
</file>

<file path=ppt/slides/_rels/slide48.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tags" Target="../tags/tag324.xml"/><Relationship Id="rId6" Type="http://schemas.openxmlformats.org/officeDocument/2006/relationships/image" Target="../media/image3.png"/><Relationship Id="rId5" Type="http://schemas.openxmlformats.org/officeDocument/2006/relationships/tags" Target="../tags/tag323.xml"/><Relationship Id="rId4" Type="http://schemas.openxmlformats.org/officeDocument/2006/relationships/image" Target="../media/image2.png"/><Relationship Id="rId3" Type="http://schemas.openxmlformats.org/officeDocument/2006/relationships/tags" Target="../tags/tag322.xml"/><Relationship Id="rId2" Type="http://schemas.openxmlformats.org/officeDocument/2006/relationships/tags" Target="../tags/tag321.xml"/><Relationship Id="rId14" Type="http://schemas.openxmlformats.org/officeDocument/2006/relationships/slideLayout" Target="../slideLayouts/slideLayout2.xml"/><Relationship Id="rId13" Type="http://schemas.openxmlformats.org/officeDocument/2006/relationships/tags" Target="../tags/tag330.xml"/><Relationship Id="rId12" Type="http://schemas.openxmlformats.org/officeDocument/2006/relationships/tags" Target="../tags/tag329.xml"/><Relationship Id="rId11" Type="http://schemas.openxmlformats.org/officeDocument/2006/relationships/tags" Target="../tags/tag328.xml"/><Relationship Id="rId10" Type="http://schemas.openxmlformats.org/officeDocument/2006/relationships/tags" Target="../tags/tag327.xml"/><Relationship Id="rId1" Type="http://schemas.openxmlformats.org/officeDocument/2006/relationships/tags" Target="../tags/tag320.xml"/></Relationships>
</file>

<file path=ppt/slides/_rels/slide49.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tags" Target="../tags/tag336.xml"/><Relationship Id="rId7" Type="http://schemas.openxmlformats.org/officeDocument/2006/relationships/tags" Target="../tags/tag335.xml"/><Relationship Id="rId6" Type="http://schemas.openxmlformats.org/officeDocument/2006/relationships/tags" Target="../tags/tag334.xml"/><Relationship Id="rId5" Type="http://schemas.openxmlformats.org/officeDocument/2006/relationships/image" Target="../media/image3.png"/><Relationship Id="rId4" Type="http://schemas.openxmlformats.org/officeDocument/2006/relationships/tags" Target="../tags/tag333.xml"/><Relationship Id="rId3" Type="http://schemas.openxmlformats.org/officeDocument/2006/relationships/image" Target="../media/image2.png"/><Relationship Id="rId2" Type="http://schemas.openxmlformats.org/officeDocument/2006/relationships/tags" Target="../tags/tag332.xml"/><Relationship Id="rId10" Type="http://schemas.openxmlformats.org/officeDocument/2006/relationships/slideLayout" Target="../slideLayouts/slideLayout2.xml"/><Relationship Id="rId1" Type="http://schemas.openxmlformats.org/officeDocument/2006/relationships/tags" Target="../tags/tag33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9" Type="http://schemas.openxmlformats.org/officeDocument/2006/relationships/tags" Target="../tags/tag344.xml"/><Relationship Id="rId8" Type="http://schemas.openxmlformats.org/officeDocument/2006/relationships/tags" Target="../tags/tag343.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image" Target="../media/image3.png"/><Relationship Id="rId4" Type="http://schemas.openxmlformats.org/officeDocument/2006/relationships/tags" Target="../tags/tag340.xml"/><Relationship Id="rId3" Type="http://schemas.openxmlformats.org/officeDocument/2006/relationships/image" Target="../media/image2.png"/><Relationship Id="rId2" Type="http://schemas.openxmlformats.org/officeDocument/2006/relationships/tags" Target="../tags/tag339.xml"/><Relationship Id="rId15" Type="http://schemas.openxmlformats.org/officeDocument/2006/relationships/slideLayout" Target="../slideLayouts/slideLayout2.xml"/><Relationship Id="rId14" Type="http://schemas.openxmlformats.org/officeDocument/2006/relationships/image" Target="../media/image25.png"/><Relationship Id="rId13" Type="http://schemas.openxmlformats.org/officeDocument/2006/relationships/tags" Target="../tags/tag348.xml"/><Relationship Id="rId12" Type="http://schemas.openxmlformats.org/officeDocument/2006/relationships/tags" Target="../tags/tag347.xml"/><Relationship Id="rId11" Type="http://schemas.openxmlformats.org/officeDocument/2006/relationships/tags" Target="../tags/tag346.xml"/><Relationship Id="rId10" Type="http://schemas.openxmlformats.org/officeDocument/2006/relationships/tags" Target="../tags/tag345.xml"/><Relationship Id="rId1" Type="http://schemas.openxmlformats.org/officeDocument/2006/relationships/tags" Target="../tags/tag338.xml"/></Relationships>
</file>

<file path=ppt/slides/_rels/slide52.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image" Target="../media/image3.png"/><Relationship Id="rId4" Type="http://schemas.openxmlformats.org/officeDocument/2006/relationships/tags" Target="../tags/tag351.xml"/><Relationship Id="rId3" Type="http://schemas.openxmlformats.org/officeDocument/2006/relationships/image" Target="../media/image2.png"/><Relationship Id="rId21" Type="http://schemas.openxmlformats.org/officeDocument/2006/relationships/slideLayout" Target="../slideLayouts/slideLayout2.xml"/><Relationship Id="rId20" Type="http://schemas.openxmlformats.org/officeDocument/2006/relationships/tags" Target="../tags/tag366.xml"/><Relationship Id="rId2" Type="http://schemas.openxmlformats.org/officeDocument/2006/relationships/tags" Target="../tags/tag350.xml"/><Relationship Id="rId19" Type="http://schemas.openxmlformats.org/officeDocument/2006/relationships/tags" Target="../tags/tag365.xml"/><Relationship Id="rId18" Type="http://schemas.openxmlformats.org/officeDocument/2006/relationships/tags" Target="../tags/tag364.xml"/><Relationship Id="rId17" Type="http://schemas.openxmlformats.org/officeDocument/2006/relationships/tags" Target="../tags/tag363.xml"/><Relationship Id="rId16" Type="http://schemas.openxmlformats.org/officeDocument/2006/relationships/tags" Target="../tags/tag362.xml"/><Relationship Id="rId15" Type="http://schemas.openxmlformats.org/officeDocument/2006/relationships/tags" Target="../tags/tag361.xml"/><Relationship Id="rId14" Type="http://schemas.openxmlformats.org/officeDocument/2006/relationships/tags" Target="../tags/tag360.xml"/><Relationship Id="rId13" Type="http://schemas.openxmlformats.org/officeDocument/2006/relationships/tags" Target="../tags/tag359.xml"/><Relationship Id="rId12" Type="http://schemas.openxmlformats.org/officeDocument/2006/relationships/tags" Target="../tags/tag358.xml"/><Relationship Id="rId11" Type="http://schemas.openxmlformats.org/officeDocument/2006/relationships/tags" Target="../tags/tag357.xml"/><Relationship Id="rId10" Type="http://schemas.openxmlformats.org/officeDocument/2006/relationships/tags" Target="../tags/tag356.xml"/><Relationship Id="rId1" Type="http://schemas.openxmlformats.org/officeDocument/2006/relationships/tags" Target="../tags/tag349.xml"/></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72.xml"/><Relationship Id="rId7" Type="http://schemas.openxmlformats.org/officeDocument/2006/relationships/tags" Target="../tags/tag371.xml"/><Relationship Id="rId6" Type="http://schemas.openxmlformats.org/officeDocument/2006/relationships/tags" Target="../tags/tag370.xml"/><Relationship Id="rId5" Type="http://schemas.openxmlformats.org/officeDocument/2006/relationships/image" Target="../media/image3.png"/><Relationship Id="rId4" Type="http://schemas.openxmlformats.org/officeDocument/2006/relationships/tags" Target="../tags/tag369.xml"/><Relationship Id="rId3" Type="http://schemas.openxmlformats.org/officeDocument/2006/relationships/image" Target="../media/image2.png"/><Relationship Id="rId2" Type="http://schemas.openxmlformats.org/officeDocument/2006/relationships/tags" Target="../tags/tag368.xml"/><Relationship Id="rId1" Type="http://schemas.openxmlformats.org/officeDocument/2006/relationships/tags" Target="../tags/tag367.xml"/></Relationships>
</file>

<file path=ppt/slides/_rels/slide54.xml.rels><?xml version="1.0" encoding="UTF-8" standalone="yes"?>
<Relationships xmlns="http://schemas.openxmlformats.org/package/2006/relationships"><Relationship Id="rId9" Type="http://schemas.openxmlformats.org/officeDocument/2006/relationships/tags" Target="../tags/tag379.xml"/><Relationship Id="rId8" Type="http://schemas.openxmlformats.org/officeDocument/2006/relationships/tags" Target="../tags/tag378.xml"/><Relationship Id="rId7" Type="http://schemas.openxmlformats.org/officeDocument/2006/relationships/tags" Target="../tags/tag377.xml"/><Relationship Id="rId6" Type="http://schemas.openxmlformats.org/officeDocument/2006/relationships/tags" Target="../tags/tag376.xml"/><Relationship Id="rId5" Type="http://schemas.openxmlformats.org/officeDocument/2006/relationships/image" Target="../media/image3.png"/><Relationship Id="rId4" Type="http://schemas.openxmlformats.org/officeDocument/2006/relationships/tags" Target="../tags/tag375.xml"/><Relationship Id="rId3" Type="http://schemas.openxmlformats.org/officeDocument/2006/relationships/image" Target="../media/image2.png"/><Relationship Id="rId2" Type="http://schemas.openxmlformats.org/officeDocument/2006/relationships/tags" Target="../tags/tag374.xml"/><Relationship Id="rId12" Type="http://schemas.openxmlformats.org/officeDocument/2006/relationships/slideLayout" Target="../slideLayouts/slideLayout2.xml"/><Relationship Id="rId11" Type="http://schemas.openxmlformats.org/officeDocument/2006/relationships/tags" Target="../tags/tag381.xml"/><Relationship Id="rId10" Type="http://schemas.openxmlformats.org/officeDocument/2006/relationships/tags" Target="../tags/tag380.xml"/><Relationship Id="rId1" Type="http://schemas.openxmlformats.org/officeDocument/2006/relationships/tags" Target="../tags/tag373.xml"/></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tags" Target="../tags/tag387.xml"/><Relationship Id="rId7" Type="http://schemas.openxmlformats.org/officeDocument/2006/relationships/tags" Target="../tags/tag386.xml"/><Relationship Id="rId6" Type="http://schemas.openxmlformats.org/officeDocument/2006/relationships/tags" Target="../tags/tag385.xml"/><Relationship Id="rId5" Type="http://schemas.openxmlformats.org/officeDocument/2006/relationships/image" Target="../media/image3.png"/><Relationship Id="rId4" Type="http://schemas.openxmlformats.org/officeDocument/2006/relationships/tags" Target="../tags/tag384.xml"/><Relationship Id="rId3" Type="http://schemas.openxmlformats.org/officeDocument/2006/relationships/image" Target="../media/image2.png"/><Relationship Id="rId2" Type="http://schemas.openxmlformats.org/officeDocument/2006/relationships/tags" Target="../tags/tag383.xml"/><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26.emf"/><Relationship Id="rId1" Type="http://schemas.openxmlformats.org/officeDocument/2006/relationships/tags" Target="../tags/tag382.xml"/></Relationships>
</file>

<file path=ppt/slides/_rels/slide56.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image" Target="../media/image3.png"/><Relationship Id="rId4" Type="http://schemas.openxmlformats.org/officeDocument/2006/relationships/tags" Target="../tags/tag390.xml"/><Relationship Id="rId3" Type="http://schemas.openxmlformats.org/officeDocument/2006/relationships/image" Target="../media/image2.png"/><Relationship Id="rId2" Type="http://schemas.openxmlformats.org/officeDocument/2006/relationships/tags" Target="../tags/tag389.xml"/><Relationship Id="rId12" Type="http://schemas.openxmlformats.org/officeDocument/2006/relationships/slideLayout" Target="../slideLayouts/slideLayout2.xml"/><Relationship Id="rId11" Type="http://schemas.openxmlformats.org/officeDocument/2006/relationships/tags" Target="../tags/tag396.xml"/><Relationship Id="rId10" Type="http://schemas.openxmlformats.org/officeDocument/2006/relationships/tags" Target="../tags/tag395.xml"/><Relationship Id="rId1" Type="http://schemas.openxmlformats.org/officeDocument/2006/relationships/tags" Target="../tags/tag388.xml"/></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tags" Target="../tags/tag402.xml"/><Relationship Id="rId7" Type="http://schemas.openxmlformats.org/officeDocument/2006/relationships/tags" Target="../tags/tag401.xml"/><Relationship Id="rId6" Type="http://schemas.openxmlformats.org/officeDocument/2006/relationships/tags" Target="../tags/tag400.xml"/><Relationship Id="rId5" Type="http://schemas.openxmlformats.org/officeDocument/2006/relationships/image" Target="../media/image3.png"/><Relationship Id="rId4" Type="http://schemas.openxmlformats.org/officeDocument/2006/relationships/tags" Target="../tags/tag399.xml"/><Relationship Id="rId3" Type="http://schemas.openxmlformats.org/officeDocument/2006/relationships/image" Target="../media/image2.png"/><Relationship Id="rId2" Type="http://schemas.openxmlformats.org/officeDocument/2006/relationships/tags" Target="../tags/tag398.xml"/><Relationship Id="rId12" Type="http://schemas.openxmlformats.org/officeDocument/2006/relationships/vmlDrawing" Target="../drawings/vmlDrawing7.vml"/><Relationship Id="rId11" Type="http://schemas.openxmlformats.org/officeDocument/2006/relationships/slideLayout" Target="../slideLayouts/slideLayout2.xml"/><Relationship Id="rId10" Type="http://schemas.openxmlformats.org/officeDocument/2006/relationships/image" Target="../media/image27.emf"/><Relationship Id="rId1" Type="http://schemas.openxmlformats.org/officeDocument/2006/relationships/tags" Target="../tags/tag39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06.xml"/><Relationship Id="rId4" Type="http://schemas.openxmlformats.org/officeDocument/2006/relationships/image" Target="../media/image2.png"/><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png"/><Relationship Id="rId7" Type="http://schemas.openxmlformats.org/officeDocument/2006/relationships/tags" Target="../tags/tag411.xml"/><Relationship Id="rId6" Type="http://schemas.openxmlformats.org/officeDocument/2006/relationships/image" Target="../media/image3.png"/><Relationship Id="rId5" Type="http://schemas.openxmlformats.org/officeDocument/2006/relationships/tags" Target="../tags/tag410.xml"/><Relationship Id="rId4" Type="http://schemas.openxmlformats.org/officeDocument/2006/relationships/image" Target="../media/image2.png"/><Relationship Id="rId3" Type="http://schemas.openxmlformats.org/officeDocument/2006/relationships/tags" Target="../tags/tag409.xml"/><Relationship Id="rId2" Type="http://schemas.openxmlformats.org/officeDocument/2006/relationships/tags" Target="../tags/tag408.xml"/><Relationship Id="rId1" Type="http://schemas.openxmlformats.org/officeDocument/2006/relationships/tags" Target="../tags/tag407.xml"/></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png"/><Relationship Id="rId7" Type="http://schemas.openxmlformats.org/officeDocument/2006/relationships/tags" Target="../tags/tag416.xml"/><Relationship Id="rId6" Type="http://schemas.openxmlformats.org/officeDocument/2006/relationships/image" Target="../media/image2.png"/><Relationship Id="rId5" Type="http://schemas.openxmlformats.org/officeDocument/2006/relationships/tags" Target="../tags/tag415.xml"/><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image" Target="../media/image28.png"/><Relationship Id="rId1" Type="http://schemas.openxmlformats.org/officeDocument/2006/relationships/tags" Target="../tags/tag412.xml"/></Relationships>
</file>

<file path=ppt/slides/_rels/slide62.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image" Target="../media/image3.png"/><Relationship Id="rId5" Type="http://schemas.openxmlformats.org/officeDocument/2006/relationships/tags" Target="../tags/tag420.xml"/><Relationship Id="rId4" Type="http://schemas.openxmlformats.org/officeDocument/2006/relationships/image" Target="../media/image2.png"/><Relationship Id="rId3" Type="http://schemas.openxmlformats.org/officeDocument/2006/relationships/tags" Target="../tags/tag419.xml"/><Relationship Id="rId2" Type="http://schemas.openxmlformats.org/officeDocument/2006/relationships/tags" Target="../tags/tag418.xml"/><Relationship Id="rId19" Type="http://schemas.openxmlformats.org/officeDocument/2006/relationships/slideLayout" Target="../slideLayouts/slideLayout2.xml"/><Relationship Id="rId18" Type="http://schemas.openxmlformats.org/officeDocument/2006/relationships/tags" Target="../tags/tag432.xml"/><Relationship Id="rId17" Type="http://schemas.openxmlformats.org/officeDocument/2006/relationships/tags" Target="../tags/tag431.xml"/><Relationship Id="rId16" Type="http://schemas.openxmlformats.org/officeDocument/2006/relationships/tags" Target="../tags/tag430.xml"/><Relationship Id="rId15" Type="http://schemas.openxmlformats.org/officeDocument/2006/relationships/tags" Target="../tags/tag429.xml"/><Relationship Id="rId14" Type="http://schemas.openxmlformats.org/officeDocument/2006/relationships/tags" Target="../tags/tag428.xml"/><Relationship Id="rId13" Type="http://schemas.openxmlformats.org/officeDocument/2006/relationships/tags" Target="../tags/tag427.xml"/><Relationship Id="rId12" Type="http://schemas.openxmlformats.org/officeDocument/2006/relationships/tags" Target="../tags/tag426.xml"/><Relationship Id="rId11" Type="http://schemas.openxmlformats.org/officeDocument/2006/relationships/tags" Target="../tags/tag425.xml"/><Relationship Id="rId10" Type="http://schemas.openxmlformats.org/officeDocument/2006/relationships/tags" Target="../tags/tag424.xml"/><Relationship Id="rId1" Type="http://schemas.openxmlformats.org/officeDocument/2006/relationships/tags" Target="../tags/tag417.xml"/></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36.xml"/><Relationship Id="rId4" Type="http://schemas.openxmlformats.org/officeDocument/2006/relationships/image" Target="../media/image2.png"/><Relationship Id="rId3" Type="http://schemas.openxmlformats.org/officeDocument/2006/relationships/tags" Target="../tags/tag435.xml"/><Relationship Id="rId2" Type="http://schemas.openxmlformats.org/officeDocument/2006/relationships/tags" Target="../tags/tag434.xml"/><Relationship Id="rId1" Type="http://schemas.openxmlformats.org/officeDocument/2006/relationships/tags" Target="../tags/tag433.xml"/></Relationships>
</file>

<file path=ppt/slides/_rels/slide6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9.png"/><Relationship Id="rId6" Type="http://schemas.openxmlformats.org/officeDocument/2006/relationships/image" Target="../media/image3.png"/><Relationship Id="rId5" Type="http://schemas.openxmlformats.org/officeDocument/2006/relationships/tags" Target="../tags/tag440.xml"/><Relationship Id="rId4" Type="http://schemas.openxmlformats.org/officeDocument/2006/relationships/image" Target="../media/image2.png"/><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tags" Target="../tags/tag437.xml"/></Relationships>
</file>

<file path=ppt/slides/_rels/slide6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0.png"/><Relationship Id="rId6" Type="http://schemas.openxmlformats.org/officeDocument/2006/relationships/image" Target="../media/image3.png"/><Relationship Id="rId5" Type="http://schemas.openxmlformats.org/officeDocument/2006/relationships/tags" Target="../tags/tag444.xml"/><Relationship Id="rId4" Type="http://schemas.openxmlformats.org/officeDocument/2006/relationships/image" Target="../media/image2.png"/><Relationship Id="rId3" Type="http://schemas.openxmlformats.org/officeDocument/2006/relationships/tags" Target="../tags/tag443.xml"/><Relationship Id="rId2" Type="http://schemas.openxmlformats.org/officeDocument/2006/relationships/tags" Target="../tags/tag442.xml"/><Relationship Id="rId1" Type="http://schemas.openxmlformats.org/officeDocument/2006/relationships/tags" Target="../tags/tag441.xml"/></Relationships>
</file>

<file path=ppt/slides/_rels/slide6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48.xml"/><Relationship Id="rId4" Type="http://schemas.openxmlformats.org/officeDocument/2006/relationships/image" Target="../media/image2.png"/><Relationship Id="rId3" Type="http://schemas.openxmlformats.org/officeDocument/2006/relationships/tags" Target="../tags/tag447.xml"/><Relationship Id="rId2" Type="http://schemas.openxmlformats.org/officeDocument/2006/relationships/tags" Target="../tags/tag446.xml"/><Relationship Id="rId1" Type="http://schemas.openxmlformats.org/officeDocument/2006/relationships/tags" Target="../tags/tag445.xml"/></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1.png"/><Relationship Id="rId6" Type="http://schemas.openxmlformats.org/officeDocument/2006/relationships/image" Target="../media/image3.png"/><Relationship Id="rId5" Type="http://schemas.openxmlformats.org/officeDocument/2006/relationships/tags" Target="../tags/tag452.xml"/><Relationship Id="rId4" Type="http://schemas.openxmlformats.org/officeDocument/2006/relationships/image" Target="../media/image2.png"/><Relationship Id="rId3" Type="http://schemas.openxmlformats.org/officeDocument/2006/relationships/tags" Target="../tags/tag451.xml"/><Relationship Id="rId2" Type="http://schemas.openxmlformats.org/officeDocument/2006/relationships/tags" Target="../tags/tag450.xml"/><Relationship Id="rId1" Type="http://schemas.openxmlformats.org/officeDocument/2006/relationships/tags" Target="../tags/tag449.xml"/></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2.png"/><Relationship Id="rId6" Type="http://schemas.openxmlformats.org/officeDocument/2006/relationships/image" Target="../media/image3.png"/><Relationship Id="rId5" Type="http://schemas.openxmlformats.org/officeDocument/2006/relationships/tags" Target="../tags/tag456.xml"/><Relationship Id="rId4" Type="http://schemas.openxmlformats.org/officeDocument/2006/relationships/image" Target="../media/image2.png"/><Relationship Id="rId3" Type="http://schemas.openxmlformats.org/officeDocument/2006/relationships/tags" Target="../tags/tag455.xml"/><Relationship Id="rId2" Type="http://schemas.openxmlformats.org/officeDocument/2006/relationships/tags" Target="../tags/tag454.xml"/><Relationship Id="rId1" Type="http://schemas.openxmlformats.org/officeDocument/2006/relationships/tags" Target="../tags/tag453.xml"/></Relationships>
</file>

<file path=ppt/slides/_rels/slide6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60.xml"/><Relationship Id="rId4" Type="http://schemas.openxmlformats.org/officeDocument/2006/relationships/image" Target="../media/image2.png"/><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64.xml"/><Relationship Id="rId4" Type="http://schemas.openxmlformats.org/officeDocument/2006/relationships/image" Target="../media/image2.png"/><Relationship Id="rId3" Type="http://schemas.openxmlformats.org/officeDocument/2006/relationships/tags" Target="../tags/tag463.xml"/><Relationship Id="rId2" Type="http://schemas.openxmlformats.org/officeDocument/2006/relationships/tags" Target="../tags/tag462.xml"/><Relationship Id="rId1" Type="http://schemas.openxmlformats.org/officeDocument/2006/relationships/tags" Target="../tags/tag461.xml"/></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hyperlink" Target="doc\milkSystemDescription.docx" TargetMode="External"/><Relationship Id="rId7" Type="http://schemas.openxmlformats.org/officeDocument/2006/relationships/tags" Target="../tags/tag469.xml"/><Relationship Id="rId6" Type="http://schemas.openxmlformats.org/officeDocument/2006/relationships/image" Target="../media/image3.png"/><Relationship Id="rId5" Type="http://schemas.openxmlformats.org/officeDocument/2006/relationships/tags" Target="../tags/tag468.xml"/><Relationship Id="rId4" Type="http://schemas.openxmlformats.org/officeDocument/2006/relationships/image" Target="../media/image2.png"/><Relationship Id="rId3" Type="http://schemas.openxmlformats.org/officeDocument/2006/relationships/tags" Target="../tags/tag467.xml"/><Relationship Id="rId2" Type="http://schemas.openxmlformats.org/officeDocument/2006/relationships/tags" Target="../tags/tag466.xml"/><Relationship Id="rId1" Type="http://schemas.openxmlformats.org/officeDocument/2006/relationships/tags" Target="../tags/tag465.xml"/></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474.xml"/><Relationship Id="rId6" Type="http://schemas.openxmlformats.org/officeDocument/2006/relationships/image" Target="../media/image3.png"/><Relationship Id="rId5" Type="http://schemas.openxmlformats.org/officeDocument/2006/relationships/tags" Target="../tags/tag473.xml"/><Relationship Id="rId4" Type="http://schemas.openxmlformats.org/officeDocument/2006/relationships/image" Target="../media/image2.png"/><Relationship Id="rId3" Type="http://schemas.openxmlformats.org/officeDocument/2006/relationships/tags" Target="../tags/tag472.xml"/><Relationship Id="rId2" Type="http://schemas.openxmlformats.org/officeDocument/2006/relationships/tags" Target="../tags/tag471.xml"/><Relationship Id="rId1" Type="http://schemas.openxmlformats.org/officeDocument/2006/relationships/tags" Target="../tags/tag470.xml"/></Relationships>
</file>

<file path=ppt/slides/_rels/slide7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slide" Target="slide28.xml"/><Relationship Id="rId6" Type="http://schemas.openxmlformats.org/officeDocument/2006/relationships/image" Target="../media/image3.png"/><Relationship Id="rId5" Type="http://schemas.openxmlformats.org/officeDocument/2006/relationships/tags" Target="../tags/tag478.xml"/><Relationship Id="rId4" Type="http://schemas.openxmlformats.org/officeDocument/2006/relationships/image" Target="../media/image2.png"/><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slide" Target="slide74.xml"/><Relationship Id="rId7" Type="http://schemas.openxmlformats.org/officeDocument/2006/relationships/tags" Target="../tags/tag483.xml"/><Relationship Id="rId6" Type="http://schemas.openxmlformats.org/officeDocument/2006/relationships/image" Target="../media/image3.png"/><Relationship Id="rId5" Type="http://schemas.openxmlformats.org/officeDocument/2006/relationships/tags" Target="../tags/tag482.xml"/><Relationship Id="rId4" Type="http://schemas.openxmlformats.org/officeDocument/2006/relationships/image" Target="../media/image2.png"/><Relationship Id="rId3" Type="http://schemas.openxmlformats.org/officeDocument/2006/relationships/tags" Target="../tags/tag481.xml"/><Relationship Id="rId2" Type="http://schemas.openxmlformats.org/officeDocument/2006/relationships/tags" Target="../tags/tag480.xml"/><Relationship Id="rId1" Type="http://schemas.openxmlformats.org/officeDocument/2006/relationships/tags" Target="../tags/tag479.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slide" Target="slide28.xml"/><Relationship Id="rId6" Type="http://schemas.openxmlformats.org/officeDocument/2006/relationships/image" Target="../media/image3.png"/><Relationship Id="rId5" Type="http://schemas.openxmlformats.org/officeDocument/2006/relationships/tags" Target="../tags/tag487.xml"/><Relationship Id="rId4" Type="http://schemas.openxmlformats.org/officeDocument/2006/relationships/image" Target="../media/image2.png"/><Relationship Id="rId3" Type="http://schemas.openxmlformats.org/officeDocument/2006/relationships/tags" Target="../tags/tag486.xml"/><Relationship Id="rId2" Type="http://schemas.openxmlformats.org/officeDocument/2006/relationships/tags" Target="../tags/tag485.xml"/><Relationship Id="rId1" Type="http://schemas.openxmlformats.org/officeDocument/2006/relationships/tags" Target="../tags/tag484.xml"/></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slide" Target="slide28.xml"/><Relationship Id="rId6" Type="http://schemas.openxmlformats.org/officeDocument/2006/relationships/image" Target="../media/image3.png"/><Relationship Id="rId5" Type="http://schemas.openxmlformats.org/officeDocument/2006/relationships/tags" Target="../tags/tag491.xml"/><Relationship Id="rId4" Type="http://schemas.openxmlformats.org/officeDocument/2006/relationships/image" Target="../media/image2.png"/><Relationship Id="rId3" Type="http://schemas.openxmlformats.org/officeDocument/2006/relationships/tags" Target="../tags/tag490.xml"/><Relationship Id="rId2" Type="http://schemas.openxmlformats.org/officeDocument/2006/relationships/tags" Target="../tags/tag489.xml"/><Relationship Id="rId1" Type="http://schemas.openxmlformats.org/officeDocument/2006/relationships/tags" Target="../tags/tag488.xml"/></Relationships>
</file>

<file path=ppt/slides/_rels/slide7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slide" Target="slide28.xml"/><Relationship Id="rId6" Type="http://schemas.openxmlformats.org/officeDocument/2006/relationships/image" Target="../media/image3.png"/><Relationship Id="rId5" Type="http://schemas.openxmlformats.org/officeDocument/2006/relationships/tags" Target="../tags/tag495.xml"/><Relationship Id="rId4" Type="http://schemas.openxmlformats.org/officeDocument/2006/relationships/image" Target="../media/image2.png"/><Relationship Id="rId3" Type="http://schemas.openxmlformats.org/officeDocument/2006/relationships/tags" Target="../tags/tag494.xml"/><Relationship Id="rId2" Type="http://schemas.openxmlformats.org/officeDocument/2006/relationships/tags" Target="../tags/tag493.xml"/><Relationship Id="rId1" Type="http://schemas.openxmlformats.org/officeDocument/2006/relationships/tags" Target="../tags/tag492.xml"/></Relationships>
</file>

<file path=ppt/slides/_rels/slide7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499.xml"/><Relationship Id="rId4" Type="http://schemas.openxmlformats.org/officeDocument/2006/relationships/image" Target="../media/image2.png"/><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tags" Target="../tags/tag496.xml"/></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503.xml"/><Relationship Id="rId4" Type="http://schemas.openxmlformats.org/officeDocument/2006/relationships/image" Target="../media/image2.png"/><Relationship Id="rId3" Type="http://schemas.openxmlformats.org/officeDocument/2006/relationships/tags" Target="../tags/tag502.xml"/><Relationship Id="rId2" Type="http://schemas.openxmlformats.org/officeDocument/2006/relationships/tags" Target="../tags/tag501.xml"/><Relationship Id="rId1" Type="http://schemas.openxmlformats.org/officeDocument/2006/relationships/tags" Target="../tags/tag500.xml"/></Relationships>
</file>

<file path=ppt/slides/_rels/slide81.xml.rels><?xml version="1.0" encoding="UTF-8" standalone="yes"?>
<Relationships xmlns="http://schemas.openxmlformats.org/package/2006/relationships"><Relationship Id="rId9" Type="http://schemas.openxmlformats.org/officeDocument/2006/relationships/tags" Target="../tags/tag510.xml"/><Relationship Id="rId8" Type="http://schemas.openxmlformats.org/officeDocument/2006/relationships/tags" Target="../tags/tag509.xml"/><Relationship Id="rId7" Type="http://schemas.openxmlformats.org/officeDocument/2006/relationships/tags" Target="../tags/tag508.xml"/><Relationship Id="rId6" Type="http://schemas.openxmlformats.org/officeDocument/2006/relationships/image" Target="../media/image3.png"/><Relationship Id="rId5" Type="http://schemas.openxmlformats.org/officeDocument/2006/relationships/tags" Target="../tags/tag507.xml"/><Relationship Id="rId4" Type="http://schemas.openxmlformats.org/officeDocument/2006/relationships/image" Target="../media/image2.png"/><Relationship Id="rId3" Type="http://schemas.openxmlformats.org/officeDocument/2006/relationships/tags" Target="../tags/tag506.xml"/><Relationship Id="rId23" Type="http://schemas.openxmlformats.org/officeDocument/2006/relationships/slideLayout" Target="../slideLayouts/slideLayout2.xml"/><Relationship Id="rId22" Type="http://schemas.openxmlformats.org/officeDocument/2006/relationships/tags" Target="../tags/tag523.xml"/><Relationship Id="rId21" Type="http://schemas.openxmlformats.org/officeDocument/2006/relationships/tags" Target="../tags/tag522.xml"/><Relationship Id="rId20" Type="http://schemas.openxmlformats.org/officeDocument/2006/relationships/tags" Target="../tags/tag521.xml"/><Relationship Id="rId2" Type="http://schemas.openxmlformats.org/officeDocument/2006/relationships/tags" Target="../tags/tag505.xml"/><Relationship Id="rId19" Type="http://schemas.openxmlformats.org/officeDocument/2006/relationships/tags" Target="../tags/tag520.xml"/><Relationship Id="rId18" Type="http://schemas.openxmlformats.org/officeDocument/2006/relationships/tags" Target="../tags/tag519.xml"/><Relationship Id="rId17" Type="http://schemas.openxmlformats.org/officeDocument/2006/relationships/tags" Target="../tags/tag518.xml"/><Relationship Id="rId16" Type="http://schemas.openxmlformats.org/officeDocument/2006/relationships/tags" Target="../tags/tag517.xml"/><Relationship Id="rId15" Type="http://schemas.openxmlformats.org/officeDocument/2006/relationships/tags" Target="../tags/tag516.xml"/><Relationship Id="rId14" Type="http://schemas.openxmlformats.org/officeDocument/2006/relationships/tags" Target="../tags/tag515.xml"/><Relationship Id="rId13" Type="http://schemas.openxmlformats.org/officeDocument/2006/relationships/tags" Target="../tags/tag514.xml"/><Relationship Id="rId12" Type="http://schemas.openxmlformats.org/officeDocument/2006/relationships/tags" Target="../tags/tag513.xml"/><Relationship Id="rId11" Type="http://schemas.openxmlformats.org/officeDocument/2006/relationships/tags" Target="../tags/tag512.xml"/><Relationship Id="rId10" Type="http://schemas.openxmlformats.org/officeDocument/2006/relationships/tags" Target="../tags/tag511.xml"/><Relationship Id="rId1" Type="http://schemas.openxmlformats.org/officeDocument/2006/relationships/tags" Target="../tags/tag504.xml"/></Relationships>
</file>

<file path=ppt/slides/_rels/slide82.xml.rels><?xml version="1.0" encoding="UTF-8" standalone="yes"?>
<Relationships xmlns="http://schemas.openxmlformats.org/package/2006/relationships"><Relationship Id="rId9" Type="http://schemas.openxmlformats.org/officeDocument/2006/relationships/tags" Target="../tags/tag530.xml"/><Relationship Id="rId8" Type="http://schemas.openxmlformats.org/officeDocument/2006/relationships/tags" Target="../tags/tag529.xml"/><Relationship Id="rId7" Type="http://schemas.openxmlformats.org/officeDocument/2006/relationships/tags" Target="../tags/tag528.xml"/><Relationship Id="rId6" Type="http://schemas.openxmlformats.org/officeDocument/2006/relationships/image" Target="../media/image3.png"/><Relationship Id="rId5" Type="http://schemas.openxmlformats.org/officeDocument/2006/relationships/tags" Target="../tags/tag527.xml"/><Relationship Id="rId4" Type="http://schemas.openxmlformats.org/officeDocument/2006/relationships/image" Target="../media/image2.png"/><Relationship Id="rId3" Type="http://schemas.openxmlformats.org/officeDocument/2006/relationships/tags" Target="../tags/tag526.xml"/><Relationship Id="rId2" Type="http://schemas.openxmlformats.org/officeDocument/2006/relationships/tags" Target="../tags/tag525.xml"/><Relationship Id="rId12" Type="http://schemas.openxmlformats.org/officeDocument/2006/relationships/slideLayout" Target="../slideLayouts/slideLayout2.xml"/><Relationship Id="rId11" Type="http://schemas.openxmlformats.org/officeDocument/2006/relationships/tags" Target="../tags/tag532.xml"/><Relationship Id="rId10" Type="http://schemas.openxmlformats.org/officeDocument/2006/relationships/tags" Target="../tags/tag531.xml"/><Relationship Id="rId1" Type="http://schemas.openxmlformats.org/officeDocument/2006/relationships/tags" Target="../tags/tag524.xml"/></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536.xml"/><Relationship Id="rId4" Type="http://schemas.openxmlformats.org/officeDocument/2006/relationships/image" Target="../media/image2.png"/><Relationship Id="rId3" Type="http://schemas.openxmlformats.org/officeDocument/2006/relationships/tags" Target="../tags/tag535.xml"/><Relationship Id="rId2" Type="http://schemas.openxmlformats.org/officeDocument/2006/relationships/tags" Target="../tags/tag534.xml"/><Relationship Id="rId1" Type="http://schemas.openxmlformats.org/officeDocument/2006/relationships/tags" Target="../tags/tag533.xml"/></Relationships>
</file>

<file path=ppt/slides/_rels/slide84.xml.rels><?xml version="1.0" encoding="UTF-8" standalone="yes"?>
<Relationships xmlns="http://schemas.openxmlformats.org/package/2006/relationships"><Relationship Id="rId9" Type="http://schemas.openxmlformats.org/officeDocument/2006/relationships/tags" Target="../tags/tag543.xml"/><Relationship Id="rId8" Type="http://schemas.openxmlformats.org/officeDocument/2006/relationships/tags" Target="../tags/tag542.xml"/><Relationship Id="rId7" Type="http://schemas.openxmlformats.org/officeDocument/2006/relationships/tags" Target="../tags/tag541.xml"/><Relationship Id="rId6" Type="http://schemas.openxmlformats.org/officeDocument/2006/relationships/image" Target="../media/image3.png"/><Relationship Id="rId5" Type="http://schemas.openxmlformats.org/officeDocument/2006/relationships/tags" Target="../tags/tag540.xml"/><Relationship Id="rId4" Type="http://schemas.openxmlformats.org/officeDocument/2006/relationships/image" Target="../media/image2.png"/><Relationship Id="rId3" Type="http://schemas.openxmlformats.org/officeDocument/2006/relationships/tags" Target="../tags/tag539.xml"/><Relationship Id="rId21" Type="http://schemas.openxmlformats.org/officeDocument/2006/relationships/slideLayout" Target="../slideLayouts/slideLayout2.xml"/><Relationship Id="rId20" Type="http://schemas.openxmlformats.org/officeDocument/2006/relationships/tags" Target="../tags/tag554.xml"/><Relationship Id="rId2" Type="http://schemas.openxmlformats.org/officeDocument/2006/relationships/tags" Target="../tags/tag538.xml"/><Relationship Id="rId19" Type="http://schemas.openxmlformats.org/officeDocument/2006/relationships/tags" Target="../tags/tag553.xml"/><Relationship Id="rId18" Type="http://schemas.openxmlformats.org/officeDocument/2006/relationships/tags" Target="../tags/tag552.xml"/><Relationship Id="rId17" Type="http://schemas.openxmlformats.org/officeDocument/2006/relationships/tags" Target="../tags/tag551.xml"/><Relationship Id="rId16" Type="http://schemas.openxmlformats.org/officeDocument/2006/relationships/tags" Target="../tags/tag550.xml"/><Relationship Id="rId15" Type="http://schemas.openxmlformats.org/officeDocument/2006/relationships/tags" Target="../tags/tag549.xml"/><Relationship Id="rId14" Type="http://schemas.openxmlformats.org/officeDocument/2006/relationships/tags" Target="../tags/tag548.xml"/><Relationship Id="rId13" Type="http://schemas.openxmlformats.org/officeDocument/2006/relationships/tags" Target="../tags/tag547.xml"/><Relationship Id="rId12" Type="http://schemas.openxmlformats.org/officeDocument/2006/relationships/tags" Target="../tags/tag546.xml"/><Relationship Id="rId11" Type="http://schemas.openxmlformats.org/officeDocument/2006/relationships/tags" Target="../tags/tag545.xml"/><Relationship Id="rId10" Type="http://schemas.openxmlformats.org/officeDocument/2006/relationships/tags" Target="../tags/tag544.xml"/><Relationship Id="rId1" Type="http://schemas.openxmlformats.org/officeDocument/2006/relationships/tags" Target="../tags/tag537.xml"/></Relationships>
</file>

<file path=ppt/slides/_rels/slide85.xml.rels><?xml version="1.0" encoding="UTF-8" standalone="yes"?>
<Relationships xmlns="http://schemas.openxmlformats.org/package/2006/relationships"><Relationship Id="rId9" Type="http://schemas.openxmlformats.org/officeDocument/2006/relationships/tags" Target="../tags/tag561.xml"/><Relationship Id="rId8" Type="http://schemas.openxmlformats.org/officeDocument/2006/relationships/tags" Target="../tags/tag560.xml"/><Relationship Id="rId7" Type="http://schemas.openxmlformats.org/officeDocument/2006/relationships/tags" Target="../tags/tag559.xml"/><Relationship Id="rId6" Type="http://schemas.openxmlformats.org/officeDocument/2006/relationships/image" Target="../media/image3.png"/><Relationship Id="rId5" Type="http://schemas.openxmlformats.org/officeDocument/2006/relationships/tags" Target="../tags/tag558.xml"/><Relationship Id="rId4" Type="http://schemas.openxmlformats.org/officeDocument/2006/relationships/image" Target="../media/image2.png"/><Relationship Id="rId3" Type="http://schemas.openxmlformats.org/officeDocument/2006/relationships/tags" Target="../tags/tag557.xml"/><Relationship Id="rId2" Type="http://schemas.openxmlformats.org/officeDocument/2006/relationships/tags" Target="../tags/tag556.xml"/><Relationship Id="rId13" Type="http://schemas.openxmlformats.org/officeDocument/2006/relationships/slideLayout" Target="../slideLayouts/slideLayout2.xml"/><Relationship Id="rId12" Type="http://schemas.openxmlformats.org/officeDocument/2006/relationships/tags" Target="../tags/tag564.xml"/><Relationship Id="rId11" Type="http://schemas.openxmlformats.org/officeDocument/2006/relationships/tags" Target="../tags/tag563.xml"/><Relationship Id="rId10" Type="http://schemas.openxmlformats.org/officeDocument/2006/relationships/tags" Target="../tags/tag562.xml"/><Relationship Id="rId1" Type="http://schemas.openxmlformats.org/officeDocument/2006/relationships/tags" Target="../tags/tag555.xml"/></Relationships>
</file>

<file path=ppt/slides/_rels/slide8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568.xml"/><Relationship Id="rId4" Type="http://schemas.openxmlformats.org/officeDocument/2006/relationships/image" Target="../media/image2.png"/><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s>
</file>

<file path=ppt/slides/_rels/slide8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573.xml"/><Relationship Id="rId6" Type="http://schemas.openxmlformats.org/officeDocument/2006/relationships/image" Target="../media/image3.png"/><Relationship Id="rId5" Type="http://schemas.openxmlformats.org/officeDocument/2006/relationships/tags" Target="../tags/tag572.xml"/><Relationship Id="rId4" Type="http://schemas.openxmlformats.org/officeDocument/2006/relationships/image" Target="../media/image2.png"/><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s>
</file>

<file path=ppt/slides/_rels/slide88.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577.xml"/><Relationship Id="rId4" Type="http://schemas.openxmlformats.org/officeDocument/2006/relationships/image" Target="../media/image2.png"/><Relationship Id="rId3" Type="http://schemas.openxmlformats.org/officeDocument/2006/relationships/tags" Target="../tags/tag576.xml"/><Relationship Id="rId2" Type="http://schemas.openxmlformats.org/officeDocument/2006/relationships/tags" Target="../tags/tag575.xml"/><Relationship Id="rId1" Type="http://schemas.openxmlformats.org/officeDocument/2006/relationships/tags" Target="../tags/tag574.xml"/></Relationships>
</file>

<file path=ppt/slides/_rels/slide8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583.xml"/><Relationship Id="rId7" Type="http://schemas.openxmlformats.org/officeDocument/2006/relationships/tags" Target="../tags/tag582.xml"/><Relationship Id="rId6" Type="http://schemas.openxmlformats.org/officeDocument/2006/relationships/image" Target="../media/image3.png"/><Relationship Id="rId5" Type="http://schemas.openxmlformats.org/officeDocument/2006/relationships/tags" Target="../tags/tag581.xml"/><Relationship Id="rId4" Type="http://schemas.openxmlformats.org/officeDocument/2006/relationships/image" Target="../media/image2.png"/><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tags" Target="../tags/tag578.xml"/></Relationships>
</file>

<file path=ppt/slides/_rels/slide90.xml.rels><?xml version="1.0" encoding="UTF-8" standalone="yes"?>
<Relationships xmlns="http://schemas.openxmlformats.org/package/2006/relationships"><Relationship Id="rId9" Type="http://schemas.openxmlformats.org/officeDocument/2006/relationships/tags" Target="../tags/tag590.xml"/><Relationship Id="rId8" Type="http://schemas.openxmlformats.org/officeDocument/2006/relationships/tags" Target="../tags/tag589.xml"/><Relationship Id="rId7" Type="http://schemas.openxmlformats.org/officeDocument/2006/relationships/tags" Target="../tags/tag588.xml"/><Relationship Id="rId6" Type="http://schemas.openxmlformats.org/officeDocument/2006/relationships/image" Target="../media/image3.png"/><Relationship Id="rId5" Type="http://schemas.openxmlformats.org/officeDocument/2006/relationships/tags" Target="../tags/tag587.xml"/><Relationship Id="rId4" Type="http://schemas.openxmlformats.org/officeDocument/2006/relationships/image" Target="../media/image2.png"/><Relationship Id="rId3" Type="http://schemas.openxmlformats.org/officeDocument/2006/relationships/tags" Target="../tags/tag586.xml"/><Relationship Id="rId2" Type="http://schemas.openxmlformats.org/officeDocument/2006/relationships/tags" Target="../tags/tag585.xml"/><Relationship Id="rId13" Type="http://schemas.openxmlformats.org/officeDocument/2006/relationships/slideLayout" Target="../slideLayouts/slideLayout2.xml"/><Relationship Id="rId12" Type="http://schemas.openxmlformats.org/officeDocument/2006/relationships/tags" Target="../tags/tag593.xml"/><Relationship Id="rId11" Type="http://schemas.openxmlformats.org/officeDocument/2006/relationships/tags" Target="../tags/tag592.xml"/><Relationship Id="rId10" Type="http://schemas.openxmlformats.org/officeDocument/2006/relationships/tags" Target="../tags/tag591.xml"/><Relationship Id="rId1" Type="http://schemas.openxmlformats.org/officeDocument/2006/relationships/tags" Target="../tags/tag584.xml"/></Relationships>
</file>

<file path=ppt/slides/_rels/slide91.xml.rels><?xml version="1.0" encoding="UTF-8" standalone="yes"?>
<Relationships xmlns="http://schemas.openxmlformats.org/package/2006/relationships"><Relationship Id="rId9" Type="http://schemas.openxmlformats.org/officeDocument/2006/relationships/tags" Target="../tags/tag600.xml"/><Relationship Id="rId8" Type="http://schemas.openxmlformats.org/officeDocument/2006/relationships/tags" Target="../tags/tag599.xml"/><Relationship Id="rId7" Type="http://schemas.openxmlformats.org/officeDocument/2006/relationships/tags" Target="../tags/tag598.xml"/><Relationship Id="rId6" Type="http://schemas.openxmlformats.org/officeDocument/2006/relationships/image" Target="../media/image3.png"/><Relationship Id="rId5" Type="http://schemas.openxmlformats.org/officeDocument/2006/relationships/tags" Target="../tags/tag597.xml"/><Relationship Id="rId4" Type="http://schemas.openxmlformats.org/officeDocument/2006/relationships/image" Target="../media/image2.png"/><Relationship Id="rId3" Type="http://schemas.openxmlformats.org/officeDocument/2006/relationships/tags" Target="../tags/tag596.xml"/><Relationship Id="rId2" Type="http://schemas.openxmlformats.org/officeDocument/2006/relationships/tags" Target="../tags/tag595.xml"/><Relationship Id="rId12" Type="http://schemas.openxmlformats.org/officeDocument/2006/relationships/slideLayout" Target="../slideLayouts/slideLayout2.xml"/><Relationship Id="rId11" Type="http://schemas.openxmlformats.org/officeDocument/2006/relationships/tags" Target="../tags/tag602.xml"/><Relationship Id="rId10" Type="http://schemas.openxmlformats.org/officeDocument/2006/relationships/tags" Target="../tags/tag601.xml"/><Relationship Id="rId1" Type="http://schemas.openxmlformats.org/officeDocument/2006/relationships/tags" Target="../tags/tag594.xml"/></Relationships>
</file>

<file path=ppt/slides/_rels/slide9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3.png"/><Relationship Id="rId6" Type="http://schemas.openxmlformats.org/officeDocument/2006/relationships/image" Target="../media/image3.png"/><Relationship Id="rId5" Type="http://schemas.openxmlformats.org/officeDocument/2006/relationships/tags" Target="../tags/tag606.xml"/><Relationship Id="rId4" Type="http://schemas.openxmlformats.org/officeDocument/2006/relationships/image" Target="../media/image2.png"/><Relationship Id="rId3" Type="http://schemas.openxmlformats.org/officeDocument/2006/relationships/tags" Target="../tags/tag605.xml"/><Relationship Id="rId2" Type="http://schemas.openxmlformats.org/officeDocument/2006/relationships/tags" Target="../tags/tag604.xml"/><Relationship Id="rId1" Type="http://schemas.openxmlformats.org/officeDocument/2006/relationships/tags" Target="../tags/tag603.xml"/></Relationships>
</file>

<file path=ppt/slides/_rels/slide9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ags" Target="../tags/tag610.xml"/><Relationship Id="rId4" Type="http://schemas.openxmlformats.org/officeDocument/2006/relationships/image" Target="../media/image2.png"/><Relationship Id="rId3" Type="http://schemas.openxmlformats.org/officeDocument/2006/relationships/tags" Target="../tags/tag609.xml"/><Relationship Id="rId2" Type="http://schemas.openxmlformats.org/officeDocument/2006/relationships/tags" Target="../tags/tag608.xml"/><Relationship Id="rId1" Type="http://schemas.openxmlformats.org/officeDocument/2006/relationships/tags" Target="../tags/tag607.xml"/></Relationships>
</file>

<file path=ppt/slides/_rels/slide9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tags" Target="../tags/tag613.xml"/><Relationship Id="rId3" Type="http://schemas.openxmlformats.org/officeDocument/2006/relationships/image" Target="../media/image2.png"/><Relationship Id="rId2" Type="http://schemas.openxmlformats.org/officeDocument/2006/relationships/tags" Target="../tags/tag612.xml"/><Relationship Id="rId1" Type="http://schemas.openxmlformats.org/officeDocument/2006/relationships/tags" Target="../tags/tag611.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2912193"/>
            <a:ext cx="6015888" cy="645160"/>
          </a:xfrm>
          <a:prstGeom prst="rect">
            <a:avLst/>
          </a:prstGeom>
          <a:noFill/>
        </p:spPr>
        <p:txBody>
          <a:bodyPr wrap="square" rtlCol="0">
            <a:spAutoFit/>
          </a:bodyPr>
          <a:lstStyle/>
          <a:p>
            <a:pPr algn="dist"/>
            <a:r>
              <a:rPr kumimoji="1" lang="zh-CN" altLang="en-US" sz="3600" b="1" dirty="0">
                <a:solidFill>
                  <a:srgbClr val="034DA0"/>
                </a:solidFill>
                <a:latin typeface="+mn-ea"/>
                <a:sym typeface="+mn-ea"/>
              </a:rPr>
              <a:t>面向对象编程与设计</a:t>
            </a:r>
            <a:endParaRPr kumimoji="1" lang="zh-CN" altLang="en-US" sz="3600" b="1" dirty="0">
              <a:solidFill>
                <a:srgbClr val="034DA0"/>
              </a:solidFill>
              <a:latin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416685" y="3799205"/>
            <a:ext cx="6219190" cy="306705"/>
          </a:xfrm>
          <a:prstGeom prst="rect">
            <a:avLst/>
          </a:prstGeom>
          <a:noFill/>
        </p:spPr>
        <p:txBody>
          <a:bodyPr wrap="square" rtlCol="0">
            <a:spAutoFit/>
          </a:bodyPr>
          <a:lstStyle/>
          <a:p>
            <a:pPr algn="dist"/>
            <a:r>
              <a:rPr kumimoji="1" lang="en-US" altLang="zh-CN" sz="1400" b="1" kern="1000" dirty="0">
                <a:solidFill>
                  <a:schemeClr val="tx1">
                    <a:lumMod val="50000"/>
                    <a:lumOff val="50000"/>
                  </a:schemeClr>
                </a:solidFill>
                <a:uFillTx/>
              </a:rPr>
              <a:t>Object-Oriented</a:t>
            </a:r>
            <a:r>
              <a:rPr kumimoji="1" lang="zh-CN" altLang="en-US" sz="1400" b="1" kern="1000" dirty="0">
                <a:solidFill>
                  <a:schemeClr val="tx1">
                    <a:lumMod val="50000"/>
                    <a:lumOff val="50000"/>
                  </a:schemeClr>
                </a:solidFill>
                <a:uFillTx/>
              </a:rPr>
              <a:t> </a:t>
            </a:r>
            <a:r>
              <a:rPr kumimoji="1" lang="en-US" altLang="zh-CN" sz="1400" b="1" kern="1000" dirty="0">
                <a:solidFill>
                  <a:schemeClr val="tx1">
                    <a:lumMod val="50000"/>
                    <a:lumOff val="50000"/>
                  </a:schemeClr>
                </a:solidFill>
                <a:uFillTx/>
                <a:sym typeface="+mn-ea"/>
              </a:rPr>
              <a:t>Programming</a:t>
            </a:r>
            <a:r>
              <a:rPr kumimoji="1" lang="zh-CN" altLang="en-US" sz="1400" b="1" kern="1000" dirty="0">
                <a:solidFill>
                  <a:schemeClr val="tx1">
                    <a:lumMod val="50000"/>
                    <a:lumOff val="50000"/>
                  </a:schemeClr>
                </a:solidFill>
                <a:uFillTx/>
              </a:rPr>
              <a:t> </a:t>
            </a:r>
            <a:r>
              <a:rPr kumimoji="1" lang="en-US" altLang="zh-CN" sz="1400" b="1" kern="1000" dirty="0">
                <a:solidFill>
                  <a:schemeClr val="tx1">
                    <a:lumMod val="50000"/>
                    <a:lumOff val="50000"/>
                  </a:schemeClr>
                </a:solidFill>
                <a:uFillTx/>
              </a:rPr>
              <a:t>and</a:t>
            </a:r>
            <a:r>
              <a:rPr kumimoji="1" lang="zh-CN" altLang="en-US" sz="1400" b="1" kern="1000" dirty="0">
                <a:solidFill>
                  <a:schemeClr val="tx1">
                    <a:lumMod val="50000"/>
                    <a:lumOff val="50000"/>
                  </a:schemeClr>
                </a:solidFill>
                <a:uFillTx/>
              </a:rPr>
              <a:t> </a:t>
            </a:r>
            <a:r>
              <a:rPr kumimoji="1" lang="en-US" altLang="zh-CN" sz="1400" b="1" kern="1000" dirty="0">
                <a:solidFill>
                  <a:schemeClr val="tx1">
                    <a:lumMod val="50000"/>
                    <a:lumOff val="50000"/>
                  </a:schemeClr>
                </a:solidFill>
                <a:uFillTx/>
                <a:sym typeface="+mn-ea"/>
              </a:rPr>
              <a:t>Design</a:t>
            </a:r>
            <a:r>
              <a:rPr kumimoji="1" lang="zh-CN" altLang="en-US" sz="1400" b="1" kern="1000" dirty="0">
                <a:solidFill>
                  <a:schemeClr val="tx1">
                    <a:lumMod val="50000"/>
                    <a:lumOff val="50000"/>
                  </a:schemeClr>
                </a:solidFill>
                <a:uFillTx/>
              </a:rPr>
              <a:t> </a:t>
            </a:r>
            <a:endParaRPr kumimoji="1" lang="en-US" altLang="zh-CN" sz="1400" b="1" kern="1000" dirty="0">
              <a:solidFill>
                <a:schemeClr val="tx1">
                  <a:lumMod val="50000"/>
                  <a:lumOff val="50000"/>
                </a:schemeClr>
              </a:solidFill>
              <a:uFillTx/>
            </a:endParaRPr>
          </a:p>
        </p:txBody>
      </p:sp>
      <p:sp>
        <p:nvSpPr>
          <p:cNvPr id="10" name="文本框 9"/>
          <p:cNvSpPr txBox="1"/>
          <p:nvPr/>
        </p:nvSpPr>
        <p:spPr>
          <a:xfrm>
            <a:off x="1464945" y="4196715"/>
            <a:ext cx="6641465" cy="1753235"/>
          </a:xfrm>
          <a:prstGeom prst="rect">
            <a:avLst/>
          </a:prstGeom>
          <a:noFill/>
        </p:spPr>
        <p:txBody>
          <a:bodyPr wrap="square" rtlCol="0">
            <a:spAutoFit/>
          </a:bodyPr>
          <a:lstStyle/>
          <a:p>
            <a:pPr algn="ctr">
              <a:lnSpc>
                <a:spcPct val="150000"/>
              </a:lnSpc>
            </a:pPr>
            <a:r>
              <a:rPr kumimoji="1" lang="zh-CN" altLang="en-US" sz="2400" b="1" dirty="0">
                <a:solidFill>
                  <a:schemeClr val="tx1">
                    <a:lumMod val="65000"/>
                    <a:lumOff val="35000"/>
                  </a:schemeClr>
                </a:solidFill>
                <a:latin typeface="+mn-ea"/>
                <a:cs typeface="+mn-ea"/>
              </a:rPr>
              <a:t>马春燕    </a:t>
            </a:r>
            <a:r>
              <a:rPr kumimoji="1" lang="en-US" altLang="zh-CN" sz="2400" b="1" dirty="0">
                <a:solidFill>
                  <a:schemeClr val="tx1">
                    <a:lumMod val="65000"/>
                    <a:lumOff val="35000"/>
                  </a:schemeClr>
                </a:solidFill>
                <a:latin typeface="+mn-ea"/>
                <a:cs typeface="+mn-ea"/>
              </a:rPr>
              <a:t> </a:t>
            </a:r>
            <a:r>
              <a:rPr kumimoji="1" lang="zh-CN" altLang="en-US" sz="2400" b="1" dirty="0">
                <a:solidFill>
                  <a:schemeClr val="tx1">
                    <a:lumMod val="65000"/>
                    <a:lumOff val="35000"/>
                  </a:schemeClr>
                </a:solidFill>
                <a:latin typeface="+mn-ea"/>
                <a:cs typeface="+mn-ea"/>
              </a:rPr>
              <a:t>王犇</a:t>
            </a:r>
            <a:r>
              <a:rPr kumimoji="1" lang="en-US" altLang="zh-CN" sz="2400" b="1" dirty="0">
                <a:solidFill>
                  <a:schemeClr val="tx1">
                    <a:lumMod val="65000"/>
                    <a:lumOff val="35000"/>
                  </a:schemeClr>
                </a:solidFill>
                <a:latin typeface="+mn-ea"/>
                <a:cs typeface="+mn-ea"/>
              </a:rPr>
              <a:t>      </a:t>
            </a:r>
            <a:r>
              <a:rPr kumimoji="1" lang="zh-CN" altLang="en-US" sz="2400" b="1" dirty="0">
                <a:solidFill>
                  <a:schemeClr val="tx1">
                    <a:lumMod val="65000"/>
                    <a:lumOff val="35000"/>
                  </a:schemeClr>
                </a:solidFill>
                <a:latin typeface="+mn-ea"/>
                <a:cs typeface="+mn-ea"/>
              </a:rPr>
              <a:t>石亦</a:t>
            </a:r>
            <a:r>
              <a:rPr kumimoji="1" lang="zh-CN" altLang="en-US" sz="2400" b="1" dirty="0">
                <a:solidFill>
                  <a:schemeClr val="tx1">
                    <a:lumMod val="65000"/>
                    <a:lumOff val="35000"/>
                  </a:schemeClr>
                </a:solidFill>
                <a:latin typeface="+mn-ea"/>
                <a:cs typeface="+mn-ea"/>
              </a:rPr>
              <a:t>磊</a:t>
            </a:r>
            <a:endParaRPr kumimoji="1" lang="zh-CN" altLang="en-US" sz="2400" b="1" dirty="0">
              <a:solidFill>
                <a:schemeClr val="tx1">
                  <a:lumMod val="65000"/>
                  <a:lumOff val="35000"/>
                </a:schemeClr>
              </a:solidFill>
              <a:latin typeface="+mn-ea"/>
              <a:cs typeface="+mn-ea"/>
            </a:endParaRPr>
          </a:p>
          <a:p>
            <a:pPr>
              <a:lnSpc>
                <a:spcPct val="150000"/>
              </a:lnSpc>
            </a:pPr>
            <a:r>
              <a:rPr kumimoji="1" lang="zh-CN" altLang="en-US" sz="2400" b="1" dirty="0">
                <a:solidFill>
                  <a:schemeClr val="tx1">
                    <a:lumMod val="65000"/>
                    <a:lumOff val="35000"/>
                  </a:schemeClr>
                </a:solidFill>
                <a:latin typeface="+mn-ea"/>
                <a:cs typeface="+mn-ea"/>
              </a:rPr>
              <a:t>邮箱：</a:t>
            </a:r>
            <a:r>
              <a:rPr kumimoji="1" lang="en-US" altLang="zh-CN" sz="2000" b="1" dirty="0">
                <a:solidFill>
                  <a:schemeClr val="tx1">
                    <a:lumMod val="65000"/>
                    <a:lumOff val="35000"/>
                  </a:schemeClr>
                </a:solidFill>
                <a:latin typeface="+mn-ea"/>
                <a:cs typeface="+mn-ea"/>
              </a:rPr>
              <a:t>machunyan   wben    yilei_shi {@nwpu.edu.n}</a:t>
            </a:r>
            <a:endParaRPr kumimoji="1" lang="zh-CN" altLang="en-US" sz="2000" b="1" dirty="0">
              <a:solidFill>
                <a:schemeClr val="tx1">
                  <a:lumMod val="65000"/>
                  <a:lumOff val="35000"/>
                </a:schemeClr>
              </a:solidFill>
              <a:latin typeface="+mn-ea"/>
              <a:cs typeface="+mn-ea"/>
            </a:endParaRPr>
          </a:p>
          <a:p>
            <a:pPr>
              <a:lnSpc>
                <a:spcPct val="150000"/>
              </a:lnSpc>
            </a:pPr>
            <a:r>
              <a:rPr kumimoji="1" lang="zh-CN" altLang="en-US" sz="2400" b="1" dirty="0">
                <a:solidFill>
                  <a:schemeClr val="tx1">
                    <a:lumMod val="65000"/>
                    <a:lumOff val="35000"/>
                  </a:schemeClr>
                </a:solidFill>
                <a:latin typeface="+mn-ea"/>
                <a:cs typeface="+mn-ea"/>
              </a:rPr>
              <a:t>手机：</a:t>
            </a:r>
            <a:r>
              <a:rPr kumimoji="1" lang="en-US" altLang="zh-CN" sz="2000" b="1" dirty="0">
                <a:solidFill>
                  <a:schemeClr val="tx1">
                    <a:lumMod val="65000"/>
                    <a:lumOff val="35000"/>
                  </a:schemeClr>
                </a:solidFill>
                <a:latin typeface="+mn-ea"/>
                <a:cs typeface="+mn-ea"/>
              </a:rPr>
              <a:t>13991282722     13571490019    13564460874    </a:t>
            </a:r>
            <a:endParaRPr kumimoji="1" lang="en-US" altLang="zh-CN" sz="2000" b="1" dirty="0">
              <a:solidFill>
                <a:schemeClr val="tx1">
                  <a:lumMod val="65000"/>
                  <a:lumOff val="35000"/>
                </a:schemeClr>
              </a:solidFill>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0100" y="1941195"/>
            <a:ext cx="7747635" cy="3094990"/>
          </a:xfrm>
        </p:spPr>
        <p:txBody>
          <a:bodyPr>
            <a:noAutofit/>
          </a:bodyPr>
          <a:lstStyle/>
          <a:p>
            <a:pPr marL="0" indent="0">
              <a:lnSpc>
                <a:spcPct val="150000"/>
              </a:lnSpc>
              <a:buNone/>
            </a:pPr>
            <a:r>
              <a:rPr kumimoji="1" lang="en-US" altLang="zh-CN" sz="2800" dirty="0">
                <a:solidFill>
                  <a:srgbClr val="034EA2"/>
                </a:solidFill>
                <a:latin typeface="+mn-ea"/>
                <a:cs typeface="+mn-ea"/>
              </a:rPr>
              <a:t>1.1 面向对象基础</a:t>
            </a:r>
            <a:endParaRPr kumimoji="1" lang="en-US" altLang="zh-CN" sz="2800" dirty="0">
              <a:solidFill>
                <a:srgbClr val="034EA2"/>
              </a:solidFill>
              <a:latin typeface="+mn-ea"/>
              <a:cs typeface="+mn-ea"/>
            </a:endParaRPr>
          </a:p>
          <a:p>
            <a:pPr marL="0" indent="0">
              <a:lnSpc>
                <a:spcPct val="150000"/>
              </a:lnSpc>
              <a:buNone/>
            </a:pPr>
            <a:r>
              <a:rPr lang="en-US" altLang="zh-CN" sz="2800" kern="0" noProof="0" dirty="0">
                <a:ln>
                  <a:noFill/>
                </a:ln>
                <a:effectLst/>
                <a:uLnTx/>
                <a:uFillTx/>
                <a:latin typeface="+mn-ea"/>
                <a:cs typeface="+mn-ea"/>
                <a:sym typeface="+mn-ea"/>
              </a:rPr>
              <a:t>1.2 UML</a:t>
            </a:r>
            <a:r>
              <a:rPr lang="zh-CN" altLang="en-US" sz="2800" kern="0" noProof="0" dirty="0">
                <a:ln>
                  <a:noFill/>
                </a:ln>
                <a:effectLst/>
                <a:uLnTx/>
                <a:uFillTx/>
                <a:latin typeface="+mn-ea"/>
                <a:cs typeface="+mn-ea"/>
                <a:sym typeface="+mn-ea"/>
              </a:rPr>
              <a:t>类图设计方法</a:t>
            </a:r>
            <a:endParaRPr kumimoji="1" lang="zh-CN" altLang="en-US" sz="2800" dirty="0">
              <a:solidFill>
                <a:schemeClr val="tx1">
                  <a:lumMod val="65000"/>
                  <a:lumOff val="35000"/>
                </a:schemeClr>
              </a:solidFill>
              <a:latin typeface="+mn-ea"/>
              <a:cs typeface="+mn-ea"/>
            </a:endParaRPr>
          </a:p>
        </p:txBody>
      </p:sp>
      <p:sp>
        <p:nvSpPr>
          <p:cNvPr id="7" name="矩形 6"/>
          <p:cNvSpPr/>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标题 1"/>
          <p:cNvSpPr>
            <a:spLocks noGrp="1"/>
          </p:cNvSpPr>
          <p:nvPr>
            <p:ph type="title"/>
          </p:nvPr>
        </p:nvSpPr>
        <p:spPr>
          <a:xfrm>
            <a:off x="137466" y="334388"/>
            <a:ext cx="2400300" cy="510778"/>
          </a:xfrm>
        </p:spPr>
        <p:txBody>
          <a:bodyPr>
            <a:noAutofit/>
          </a:bodyPr>
          <a:lstStyle/>
          <a:p>
            <a:r>
              <a:rPr kumimoji="1" lang="zh-CN" altLang="en-US" sz="3600" b="1" dirty="0">
                <a:solidFill>
                  <a:schemeClr val="bg1"/>
                </a:solidFill>
                <a:latin typeface="+mn-ea"/>
                <a:ea typeface="+mn-ea"/>
              </a:rPr>
              <a:t>目录</a:t>
            </a:r>
            <a:endParaRPr kumimoji="1" lang="zh-CN" altLang="en-US" sz="3600" b="1" dirty="0">
              <a:solidFill>
                <a:schemeClr val="bg1"/>
              </a:solidFill>
              <a:latin typeface="+mn-ea"/>
              <a:ea typeface="+mn-ea"/>
            </a:endParaRPr>
          </a:p>
        </p:txBody>
      </p:sp>
      <p:pic>
        <p:nvPicPr>
          <p:cNvPr id="8" name="西北工业大学"/>
          <p:cNvPicPr>
            <a:picLocks noChangeAspect="1"/>
          </p:cNvPicPr>
          <p:nvPr/>
        </p:nvPicPr>
        <p:blipFill>
          <a:blip r:embed="rId1" cstate="screen"/>
          <a:stretch>
            <a:fillRect/>
          </a:stretch>
        </p:blipFill>
        <p:spPr>
          <a:xfrm>
            <a:off x="7476490" y="417830"/>
            <a:ext cx="1363345" cy="342900"/>
          </a:xfrm>
          <a:prstGeom prst="rect">
            <a:avLst/>
          </a:prstGeom>
        </p:spPr>
      </p:pic>
      <p:pic>
        <p:nvPicPr>
          <p:cNvPr id="9" name="校徽"/>
          <p:cNvPicPr>
            <a:picLocks noChangeAspect="1"/>
          </p:cNvPicPr>
          <p:nvPr/>
        </p:nvPicPr>
        <p:blipFill>
          <a:blip r:embed="rId2" cstate="screen"/>
          <a:stretch>
            <a:fillRect/>
          </a:stretch>
        </p:blipFill>
        <p:spPr>
          <a:xfrm>
            <a:off x="6868160" y="342900"/>
            <a:ext cx="431800" cy="431800"/>
          </a:xfrm>
          <a:prstGeom prst="rect">
            <a:avLst/>
          </a:prstGeom>
        </p:spPr>
      </p:pic>
      <p:sp>
        <p:nvSpPr>
          <p:cNvPr id="11" name="文本框 10"/>
          <p:cNvSpPr txBox="1"/>
          <p:nvPr/>
        </p:nvSpPr>
        <p:spPr>
          <a:xfrm>
            <a:off x="767663" y="1139105"/>
            <a:ext cx="5289550" cy="583565"/>
          </a:xfrm>
          <a:prstGeom prst="rect">
            <a:avLst/>
          </a:prstGeom>
          <a:noFill/>
        </p:spPr>
        <p:txBody>
          <a:bodyPr wrap="none" rtlCol="0">
            <a:spAutoFit/>
          </a:bodyPr>
          <a:lstStyle/>
          <a:p>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第</a:t>
            </a:r>
            <a:r>
              <a:rPr kumimoji="1" lang="en-US" altLang="zh-CN" sz="3200" b="1" dirty="0">
                <a:solidFill>
                  <a:srgbClr val="034EA2"/>
                </a:solidFill>
                <a:latin typeface="微软雅黑" panose="020B0503020204020204" charset="-122"/>
                <a:ea typeface="微软雅黑" panose="020B0503020204020204" charset="-122"/>
                <a:cs typeface="微软雅黑" panose="020B0503020204020204" charset="-122"/>
              </a:rPr>
              <a:t>1</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单元</a:t>
            </a:r>
            <a:r>
              <a:rPr kumimoji="1" lang="en-US" altLang="zh-CN" sz="3200" b="1" dirty="0">
                <a:solidFill>
                  <a:srgbClr val="034EA2"/>
                </a:solidFill>
                <a:latin typeface="微软雅黑" panose="020B0503020204020204" charset="-122"/>
                <a:ea typeface="微软雅黑" panose="020B0503020204020204" charset="-122"/>
                <a:cs typeface="微软雅黑" panose="020B0503020204020204" charset="-122"/>
              </a:rPr>
              <a:t>  UML</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类图设计</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方法</a:t>
            </a:r>
            <a:endPar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endParaRPr>
          </a:p>
        </p:txBody>
      </p:sp>
      <p:cxnSp>
        <p:nvCxnSpPr>
          <p:cNvPr id="13" name="直线连接符 12"/>
          <p:cNvCxnSpPr/>
          <p:nvPr/>
        </p:nvCxnSpPr>
        <p:spPr>
          <a:xfrm>
            <a:off x="850848" y="1936216"/>
            <a:ext cx="7298055"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2" name="日期占位符 11"/>
          <p:cNvSpPr>
            <a:spLocks noGrp="1"/>
          </p:cNvSpPr>
          <p:nvPr>
            <p:ph type="dt" sz="half" idx="10"/>
            <p:custDataLst>
              <p:tags r:id="rId3"/>
            </p:custDataLst>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14" name="页脚占位符 13"/>
          <p:cNvSpPr>
            <a:spLocks noGrp="1"/>
          </p:cNvSpPr>
          <p:nvPr>
            <p:ph type="ftr" sz="quarter" idx="11"/>
            <p:custDataLst>
              <p:tags r:id="rId4"/>
            </p:custDataLst>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15" name="灯片编号占位符 14"/>
          <p:cNvSpPr>
            <a:spLocks noGrp="1"/>
          </p:cNvSpPr>
          <p:nvPr>
            <p:ph type="sldNum" sz="quarter" idx="12"/>
            <p:custDataLst>
              <p:tags r:id="rId5"/>
            </p:custDataLst>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cxnSp>
        <p:nvCxnSpPr>
          <p:cNvPr id="16" name="直线连接符 9"/>
          <p:cNvCxnSpPr/>
          <p:nvPr>
            <p:custDataLst>
              <p:tags r:id="rId6"/>
            </p:custDataLst>
          </p:nvPr>
        </p:nvCxnSpPr>
        <p:spPr>
          <a:xfrm>
            <a:off x="0" y="6333977"/>
            <a:ext cx="9144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a:t>
            </a:r>
            <a:r>
              <a:rPr kumimoji="1" lang="zh-CN" altLang="en-US" sz="2800" b="1" dirty="0"/>
              <a:t>目标</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852920" cy="662305"/>
          </a:xfrm>
        </p:spPr>
        <p:txBody>
          <a:bodyPr>
            <a:normAutofit/>
          </a:bodyPr>
          <a:lstStyle/>
          <a:p>
            <a:r>
              <a:rPr kumimoji="1" lang="en-US" altLang="zh-CN" dirty="0">
                <a:solidFill>
                  <a:schemeClr val="bg1"/>
                </a:solidFill>
              </a:rPr>
              <a:t>1.1 </a:t>
            </a:r>
            <a:r>
              <a:rPr kumimoji="1" lang="en-US" altLang="zh-CN" sz="3600" dirty="0">
                <a:solidFill>
                  <a:schemeClr val="bg1"/>
                </a:solidFill>
                <a:sym typeface="+mn-ea"/>
              </a:rPr>
              <a:t> 面向对象基础</a:t>
            </a:r>
            <a:endParaRPr kumimoji="1" lang="en-US" altLang="zh-CN" sz="3600" dirty="0">
              <a:solidFill>
                <a:schemeClr val="bg1"/>
              </a:solidFill>
              <a:sym typeface="+mn-ea"/>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727" name="卷形: 水平 1"/>
          <p:cNvSpPr/>
          <p:nvPr>
            <p:custDataLst>
              <p:tags r:id="rId7"/>
            </p:custDataLst>
          </p:nvPr>
        </p:nvSpPr>
        <p:spPr>
          <a:xfrm>
            <a:off x="628650" y="1729105"/>
            <a:ext cx="7743825"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7" name="矩形 6"/>
          <p:cNvSpPr/>
          <p:nvPr>
            <p:custDataLst>
              <p:tags r:id="rId8"/>
            </p:custDataLst>
          </p:nvPr>
        </p:nvSpPr>
        <p:spPr>
          <a:xfrm>
            <a:off x="1383348" y="2265045"/>
            <a:ext cx="6408738" cy="2676525"/>
          </a:xfrm>
          <a:prstGeom prst="rect">
            <a:avLst/>
          </a:prstGeom>
        </p:spPr>
        <p:txBody>
          <a:bodyPr wrap="square">
            <a:spAutoFit/>
          </a:bodyPr>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1.</a:t>
            </a:r>
            <a:r>
              <a:rPr kumimoji="0" lang="en-US"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 </a:t>
            </a:r>
            <a:r>
              <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理解面向对象编程的优势</a:t>
            </a:r>
            <a:endPar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2.</a:t>
            </a:r>
            <a:r>
              <a:rPr kumimoji="0" lang="en-US"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 </a:t>
            </a:r>
            <a:r>
              <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掌握类的概念、对象的概念，以及类</a:t>
            </a:r>
            <a:r>
              <a:rPr kumimoji="0" lang="en-US"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 </a:t>
            </a:r>
            <a:endParaRPr kumimoji="0" lang="en-US"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kumimoji="0" lang="en-US"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    </a:t>
            </a:r>
            <a:r>
              <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rPr>
              <a:t>与对象的关系</a:t>
            </a:r>
            <a:endParaRPr kumimoji="0" lang="zh-CN" altLang="zh-CN" sz="28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zh-CN" sz="2800" b="1" kern="100" noProof="0" dirty="0">
                <a:ln>
                  <a:noFill/>
                </a:ln>
                <a:effectLst/>
                <a:uLnTx/>
                <a:uFillTx/>
                <a:latin typeface="等线" panose="02010600030101010101" charset="-122"/>
                <a:ea typeface="等线" panose="02010600030101010101" charset="-122"/>
                <a:cs typeface="等线" panose="02010600030101010101" charset="-122"/>
                <a:sym typeface="+mn-ea"/>
              </a:rPr>
              <a:t>3. </a:t>
            </a:r>
            <a:r>
              <a:rPr lang="zh-CN" altLang="zh-CN" sz="2800" b="1" kern="100" noProof="0" dirty="0">
                <a:ln>
                  <a:noFill/>
                </a:ln>
                <a:effectLst/>
                <a:uLnTx/>
                <a:uFillTx/>
                <a:latin typeface="等线" panose="02010600030101010101" charset="-122"/>
                <a:ea typeface="等线" panose="02010600030101010101" charset="-122"/>
                <a:cs typeface="等线" panose="02010600030101010101" charset="-122"/>
                <a:sym typeface="+mn-ea"/>
              </a:rPr>
              <a:t>掌握面向对象</a:t>
            </a:r>
            <a:r>
              <a:rPr lang="zh-CN" altLang="zh-CN" sz="2800" b="1" kern="100" noProof="0" dirty="0">
                <a:ln>
                  <a:noFill/>
                </a:ln>
                <a:effectLst/>
                <a:uLnTx/>
                <a:uFillTx/>
                <a:latin typeface="等线" panose="02010600030101010101" charset="-122"/>
                <a:ea typeface="等线" panose="02010600030101010101" charset="-122"/>
                <a:cs typeface="等线" panose="02010600030101010101" charset="-122"/>
                <a:sym typeface="+mn-ea"/>
              </a:rPr>
              <a:t>的特征</a:t>
            </a:r>
            <a:endParaRPr lang="zh-CN" altLang="zh-CN" sz="2800" b="1" kern="100" noProof="0" dirty="0">
              <a:ln>
                <a:noFill/>
              </a:ln>
              <a:effectLst/>
              <a:uLnTx/>
              <a:uFillTx/>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9094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rPr>
              <a:t>1</a:t>
            </a:r>
            <a:r>
              <a:rPr kumimoji="1" lang="en-US" altLang="zh-CN" sz="2665" dirty="0">
                <a:solidFill>
                  <a:schemeClr val="bg1"/>
                </a:solidFill>
              </a:rPr>
              <a:t>/7</a:t>
            </a:r>
            <a:endParaRPr kumimoji="1" lang="en-US" altLang="zh-CN" sz="2665"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484505" y="1306195"/>
            <a:ext cx="8191500" cy="3547110"/>
          </a:xfrm>
          <a:prstGeom prst="rect">
            <a:avLst/>
          </a:prstGeom>
          <a:noFill/>
        </p:spPr>
        <p:txBody>
          <a:bodyPr wrap="square" rtlCol="0" anchor="t">
            <a:noAutofit/>
          </a:bodyPr>
          <a:p>
            <a:pPr marL="228600" lvl="0" indent="-228600" algn="l" eaLnBrk="1" hangingPunct="1">
              <a:lnSpc>
                <a:spcPct val="150000"/>
              </a:lnSpc>
              <a:spcBef>
                <a:spcPts val="500"/>
              </a:spcBef>
              <a:buClrTx/>
              <a:buSzTx/>
              <a:buFont typeface="Arial" panose="020B0604020202020204" pitchFamily="34" charset="0"/>
              <a:buChar char="•"/>
            </a:pPr>
            <a:r>
              <a:rPr kumimoji="1" lang="en-US" altLang="zh-CN" sz="2800" b="1" dirty="0">
                <a:solidFill>
                  <a:schemeClr val="tx1"/>
                </a:solidFill>
                <a:latin typeface="+mn-ea"/>
                <a:cs typeface="+mn-ea"/>
                <a:sym typeface="+mn-ea"/>
              </a:rPr>
              <a:t>从最简单的角度看，每个软件应用程序由两个基本的部分组成：</a:t>
            </a:r>
            <a:r>
              <a:rPr kumimoji="1" lang="en-US" altLang="zh-CN" sz="2800" b="1" dirty="0">
                <a:solidFill>
                  <a:schemeClr val="accent1"/>
                </a:solidFill>
                <a:latin typeface="+mn-ea"/>
                <a:cs typeface="+mn-ea"/>
                <a:sym typeface="+mn-ea"/>
              </a:rPr>
              <a:t>数据</a:t>
            </a:r>
            <a:r>
              <a:rPr kumimoji="1" lang="en-US" altLang="zh-CN" sz="2800" b="1" dirty="0">
                <a:solidFill>
                  <a:schemeClr val="tx1"/>
                </a:solidFill>
                <a:latin typeface="+mn-ea"/>
                <a:cs typeface="+mn-ea"/>
                <a:sym typeface="+mn-ea"/>
              </a:rPr>
              <a:t>和操作数据的</a:t>
            </a:r>
            <a:r>
              <a:rPr kumimoji="1" lang="en-US" altLang="zh-CN" sz="2800" b="1" dirty="0">
                <a:solidFill>
                  <a:schemeClr val="accent1"/>
                </a:solidFill>
                <a:latin typeface="+mn-ea"/>
                <a:cs typeface="+mn-ea"/>
                <a:sym typeface="+mn-ea"/>
              </a:rPr>
              <a:t>函数</a:t>
            </a:r>
            <a:r>
              <a:rPr kumimoji="1" lang="en-US" altLang="zh-CN" sz="2800" b="1" dirty="0">
                <a:solidFill>
                  <a:schemeClr val="tx1"/>
                </a:solidFill>
                <a:latin typeface="+mn-ea"/>
                <a:cs typeface="+mn-ea"/>
                <a:sym typeface="+mn-ea"/>
              </a:rPr>
              <a:t>组成。</a:t>
            </a:r>
            <a:endParaRPr kumimoji="1" lang="en-US" altLang="zh-CN" sz="2800" b="1" dirty="0">
              <a:solidFill>
                <a:schemeClr val="tx1"/>
              </a:solidFill>
              <a:latin typeface="+mn-ea"/>
              <a:cs typeface="+mn-ea"/>
            </a:endParaRPr>
          </a:p>
          <a:p>
            <a:pPr marL="685800" lvl="1" indent="-228600" algn="l" eaLnBrk="1" hangingPunct="1">
              <a:lnSpc>
                <a:spcPct val="150000"/>
              </a:lnSpc>
              <a:spcBef>
                <a:spcPts val="500"/>
              </a:spcBef>
              <a:buClrTx/>
              <a:buSzTx/>
              <a:buFont typeface="Arial" panose="020B0604020202020204" pitchFamily="34" charset="0"/>
              <a:buChar char="•"/>
            </a:pPr>
            <a:r>
              <a:rPr kumimoji="1" lang="en-US" altLang="zh-CN" sz="2800" b="1" dirty="0">
                <a:solidFill>
                  <a:schemeClr val="accent1"/>
                </a:solidFill>
                <a:latin typeface="+mn-ea"/>
                <a:cs typeface="+mn-ea"/>
                <a:sym typeface="+mn-ea"/>
              </a:rPr>
              <a:t>数据</a:t>
            </a:r>
            <a:r>
              <a:rPr kumimoji="1" lang="en-US" altLang="zh-CN" sz="2800" b="1" dirty="0">
                <a:solidFill>
                  <a:schemeClr val="tx1"/>
                </a:solidFill>
                <a:latin typeface="+mn-ea"/>
                <a:cs typeface="+mn-ea"/>
                <a:sym typeface="+mn-ea"/>
              </a:rPr>
              <a:t>：变量、常量</a:t>
            </a:r>
            <a:endParaRPr kumimoji="1" lang="en-US" altLang="zh-CN" sz="2800" b="1" dirty="0">
              <a:solidFill>
                <a:schemeClr val="tx1"/>
              </a:solidFill>
              <a:latin typeface="+mn-ea"/>
              <a:cs typeface="+mn-ea"/>
            </a:endParaRPr>
          </a:p>
          <a:p>
            <a:pPr marL="685800" lvl="1" indent="-228600" algn="l" eaLnBrk="1" hangingPunct="1">
              <a:lnSpc>
                <a:spcPct val="150000"/>
              </a:lnSpc>
              <a:spcBef>
                <a:spcPts val="500"/>
              </a:spcBef>
              <a:buClrTx/>
              <a:buSzTx/>
              <a:buFont typeface="Arial" panose="020B0604020202020204" pitchFamily="34" charset="0"/>
              <a:buChar char="•"/>
            </a:pPr>
            <a:r>
              <a:rPr kumimoji="1" lang="en-US" altLang="zh-CN" sz="2800" b="1" dirty="0">
                <a:solidFill>
                  <a:schemeClr val="accent1"/>
                </a:solidFill>
                <a:latin typeface="+mn-ea"/>
                <a:cs typeface="+mn-ea"/>
                <a:sym typeface="+mn-ea"/>
              </a:rPr>
              <a:t>函数</a:t>
            </a:r>
            <a:r>
              <a:rPr kumimoji="1" lang="en-US" altLang="zh-CN" sz="2800" b="1" dirty="0">
                <a:solidFill>
                  <a:schemeClr val="tx1"/>
                </a:solidFill>
                <a:latin typeface="+mn-ea"/>
                <a:cs typeface="+mn-ea"/>
                <a:sym typeface="+mn-ea"/>
              </a:rPr>
              <a:t>：实现一系列计算和操作</a:t>
            </a:r>
            <a:endParaRPr kumimoji="1" lang="en-US" altLang="zh-CN" sz="2800" b="1" dirty="0">
              <a:solidFill>
                <a:schemeClr val="tx1"/>
              </a:solidFill>
              <a:latin typeface="+mn-ea"/>
              <a:cs typeface="+mn-ea"/>
              <a:sym typeface="+mn-ea"/>
            </a:endParaRPr>
          </a:p>
        </p:txBody>
      </p:sp>
      <p:grpSp>
        <p:nvGrpSpPr>
          <p:cNvPr id="31751" name="Group 15"/>
          <p:cNvGrpSpPr/>
          <p:nvPr/>
        </p:nvGrpSpPr>
        <p:grpSpPr>
          <a:xfrm>
            <a:off x="2480310" y="4174490"/>
            <a:ext cx="2266950" cy="1695450"/>
            <a:chOff x="1474" y="1661"/>
            <a:chExt cx="1428" cy="1068"/>
          </a:xfrm>
        </p:grpSpPr>
        <p:sp>
          <p:nvSpPr>
            <p:cNvPr id="31752" name="computr3"/>
            <p:cNvSpPr>
              <a:spLocks noEditPoints="1"/>
            </p:cNvSpPr>
            <p:nvPr>
              <p:custDataLst>
                <p:tags r:id="rId6"/>
              </p:custDataLst>
            </p:nvPr>
          </p:nvSpPr>
          <p:spPr>
            <a:xfrm>
              <a:off x="1474" y="1661"/>
              <a:ext cx="1428" cy="1068"/>
            </a:xfrm>
            <a:custGeom>
              <a:avLst/>
              <a:gdLst>
                <a:gd name="txL" fmla="*/ 0 w 21600"/>
                <a:gd name="txT" fmla="*/ 0 h 21600"/>
                <a:gd name="txR" fmla="*/ 21600 w 21600"/>
                <a:gd name="txB" fmla="*/ 21600 h 21600"/>
              </a:gdLst>
              <a:ahLst/>
              <a:cxnLst>
                <a:cxn ang="0">
                  <a:pos x="0" y="0"/>
                </a:cxn>
                <a:cxn ang="0">
                  <a:pos x="0" y="0"/>
                </a:cxn>
                <a:cxn ang="0">
                  <a:pos x="0" y="0"/>
                </a:cxn>
                <a:cxn ang="0">
                  <a:pos x="0" y="0"/>
                </a:cxn>
              </a:cxnLst>
              <a:rect l="txL" t="txT" r="txR" b="txB"/>
              <a:pathLst>
                <a:path w="21600" h="21600">
                  <a:moveTo>
                    <a:pt x="18250" y="17743"/>
                  </a:moveTo>
                  <a:lnTo>
                    <a:pt x="17557" y="16971"/>
                  </a:lnTo>
                  <a:lnTo>
                    <a:pt x="5429" y="16971"/>
                  </a:lnTo>
                  <a:lnTo>
                    <a:pt x="4736" y="17743"/>
                  </a:lnTo>
                  <a:lnTo>
                    <a:pt x="18250" y="17743"/>
                  </a:lnTo>
                  <a:close/>
                </a:path>
                <a:path w="21600" h="21600">
                  <a:moveTo>
                    <a:pt x="18250" y="17743"/>
                  </a:moveTo>
                  <a:moveTo>
                    <a:pt x="19405" y="19131"/>
                  </a:moveTo>
                  <a:lnTo>
                    <a:pt x="18712" y="18360"/>
                  </a:lnTo>
                  <a:lnTo>
                    <a:pt x="4274" y="18360"/>
                  </a:lnTo>
                  <a:lnTo>
                    <a:pt x="3581" y="19131"/>
                  </a:lnTo>
                  <a:lnTo>
                    <a:pt x="19405" y="19131"/>
                  </a:lnTo>
                  <a:close/>
                </a:path>
                <a:path w="21600" h="21600">
                  <a:moveTo>
                    <a:pt x="19405" y="19131"/>
                  </a:moveTo>
                  <a:moveTo>
                    <a:pt x="20560" y="20520"/>
                  </a:moveTo>
                  <a:lnTo>
                    <a:pt x="19867" y="19749"/>
                  </a:lnTo>
                  <a:lnTo>
                    <a:pt x="3119" y="19749"/>
                  </a:lnTo>
                  <a:lnTo>
                    <a:pt x="2426" y="20520"/>
                  </a:lnTo>
                  <a:lnTo>
                    <a:pt x="20560" y="20520"/>
                  </a:lnTo>
                  <a:close/>
                </a:path>
                <a:path w="21600" h="2160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a:moveTo>
                    <a:pt x="7624" y="2314"/>
                  </a:moveTo>
                  <a:moveTo>
                    <a:pt x="16402" y="2314"/>
                  </a:moveTo>
                  <a:lnTo>
                    <a:pt x="16402" y="11880"/>
                  </a:lnTo>
                  <a:lnTo>
                    <a:pt x="7624" y="11880"/>
                  </a:lnTo>
                  <a:lnTo>
                    <a:pt x="7624" y="2314"/>
                  </a:lnTo>
                  <a:lnTo>
                    <a:pt x="16402" y="2314"/>
                  </a:lnTo>
                  <a:close/>
                </a:path>
                <a:path w="21600" h="2160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cap="flat" cmpd="sng">
              <a:solidFill>
                <a:srgbClr val="000000"/>
              </a:solidFill>
              <a:prstDash val="solid"/>
              <a:miter/>
              <a:headEnd type="none" w="med" len="med"/>
              <a:tailEnd type="none" w="med" len="med"/>
            </a:ln>
          </p:spPr>
          <p:txBody>
            <a:bodyPr anchor="t" anchorCtr="0"/>
            <a:p>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a:p>
              <a:r>
                <a:rPr lang="en-US" altLang="zh-CN" sz="28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函数</a:t>
              </a:r>
              <a:endParaRPr lang="zh-CN" altLang="en-US" sz="2800" b="1" dirty="0">
                <a:latin typeface="Times New Roman" panose="02020603050405020304" pitchFamily="18" charset="0"/>
                <a:ea typeface="宋体" panose="02010600030101010101" pitchFamily="2" charset="-122"/>
              </a:endParaRPr>
            </a:p>
          </p:txBody>
        </p:sp>
        <p:sp>
          <p:nvSpPr>
            <p:cNvPr id="31753" name="Rectangle 14"/>
            <p:cNvSpPr/>
            <p:nvPr>
              <p:custDataLst>
                <p:tags r:id="rId7"/>
              </p:custDataLst>
            </p:nvPr>
          </p:nvSpPr>
          <p:spPr>
            <a:xfrm>
              <a:off x="1474" y="1888"/>
              <a:ext cx="272" cy="596"/>
            </a:xfrm>
            <a:prstGeom prst="rect">
              <a:avLst/>
            </a:prstGeom>
            <a:noFill/>
            <a:ln w="9525">
              <a:noFill/>
            </a:ln>
          </p:spPr>
          <p:txBody>
            <a:bodyPr anchor="t" anchorCtr="0">
              <a:spAutoFit/>
            </a:bodyPr>
            <a:p>
              <a:r>
                <a:rPr lang="zh-CN" altLang="en-US" sz="2800" b="1" dirty="0">
                  <a:latin typeface="Times New Roman" panose="02020603050405020304" pitchFamily="18" charset="0"/>
                  <a:ea typeface="宋体" panose="02010600030101010101" pitchFamily="2" charset="-122"/>
                </a:rPr>
                <a:t>数据</a:t>
              </a:r>
              <a:endParaRPr lang="zh-CN" altLang="en-US" sz="2800" b="1" dirty="0">
                <a:latin typeface="Times New Roman" panose="02020603050405020304" pitchFamily="18" charset="0"/>
                <a:ea typeface="宋体" panose="02010600030101010101" pitchFamily="2" charset="-122"/>
              </a:endParaRPr>
            </a:p>
          </p:txBody>
        </p:sp>
      </p:grpSp>
      <p:sp>
        <p:nvSpPr>
          <p:cNvPr id="9" name="思想气泡: 云 2"/>
          <p:cNvSpPr/>
          <p:nvPr>
            <p:custDataLst>
              <p:tags r:id="rId8"/>
            </p:custDataLst>
          </p:nvPr>
        </p:nvSpPr>
        <p:spPr bwMode="auto">
          <a:xfrm>
            <a:off x="4572000" y="2601913"/>
            <a:ext cx="1512888" cy="503238"/>
          </a:xfrm>
          <a:prstGeom prst="cloudCallout">
            <a:avLst>
              <a:gd name="adj1" fmla="val -74034"/>
              <a:gd name="adj2" fmla="val 47593"/>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75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1200" cap="none" spc="0" normalizeH="0" baseline="0" noProof="0" dirty="0">
                <a:ln>
                  <a:noFill/>
                </a:ln>
                <a:solidFill>
                  <a:schemeClr val="tx1"/>
                </a:solidFill>
                <a:effectLst/>
                <a:uLnTx/>
                <a:uFillTx/>
                <a:latin typeface="Verdana" panose="020B0604030504040204" pitchFamily="34" charset="0"/>
                <a:ea typeface="+mn-ea"/>
                <a:cs typeface="+mn-cs"/>
              </a:rPr>
              <a:t>内存</a:t>
            </a:r>
            <a:endParaRPr kumimoji="0" lang="zh-CN" altLang="en-US" sz="2600" b="1" i="0" u="none" strike="noStrike" kern="1200" cap="none" spc="0" normalizeH="0" baseline="0" noProof="0" dirty="0">
              <a:ln>
                <a:noFill/>
              </a:ln>
              <a:solidFill>
                <a:schemeClr val="tx1"/>
              </a:solidFill>
              <a:effectLst/>
              <a:uLnTx/>
              <a:uFillTx/>
              <a:latin typeface="Verdana" panose="020B0604030504040204" pitchFamily="34" charset="0"/>
              <a:ea typeface="+mn-ea"/>
              <a:cs typeface="+mn-cs"/>
            </a:endParaRPr>
          </a:p>
        </p:txBody>
      </p:sp>
      <p:sp>
        <p:nvSpPr>
          <p:cNvPr id="10" name="思想气泡: 云 12"/>
          <p:cNvSpPr/>
          <p:nvPr>
            <p:custDataLst>
              <p:tags r:id="rId9"/>
            </p:custDataLst>
          </p:nvPr>
        </p:nvSpPr>
        <p:spPr bwMode="auto">
          <a:xfrm>
            <a:off x="5560695" y="3713480"/>
            <a:ext cx="3115310" cy="1454150"/>
          </a:xfrm>
          <a:prstGeom prst="cloudCallout">
            <a:avLst>
              <a:gd name="adj1" fmla="val -69790"/>
              <a:gd name="adj2" fmla="val -29148"/>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600" b="1" i="0" u="none" strike="noStrike" kern="1200" cap="none" spc="0" normalizeH="0" baseline="0" noProof="0" dirty="0">
                <a:ln>
                  <a:noFill/>
                </a:ln>
                <a:solidFill>
                  <a:schemeClr val="tx1"/>
                </a:solidFill>
                <a:effectLst/>
                <a:uLnTx/>
                <a:uFillTx/>
                <a:latin typeface="Verdana" panose="020B0604030504040204" pitchFamily="34" charset="0"/>
                <a:ea typeface="+mn-ea"/>
                <a:cs typeface="+mn-cs"/>
              </a:rPr>
              <a:t>访问和修改内存</a:t>
            </a:r>
            <a:endParaRPr kumimoji="0" lang="zh-CN" altLang="en-US" sz="2600" b="1" i="0" u="none" strike="noStrike" kern="1200" cap="none" spc="0" normalizeH="0" baseline="0" noProof="0" dirty="0">
              <a:ln>
                <a:noFill/>
              </a:ln>
              <a:solidFill>
                <a:schemeClr val="tx1"/>
              </a:solidFill>
              <a:effectLst/>
              <a:uLnTx/>
              <a:uFillTx/>
              <a:latin typeface="Verdana" panose="020B060403050404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8713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2</a:t>
            </a:r>
            <a:r>
              <a:rPr kumimoji="1" lang="en-US" altLang="zh-CN" sz="2665" dirty="0">
                <a:solidFill>
                  <a:schemeClr val="bg1"/>
                </a:solidFill>
                <a:sym typeface="+mn-ea"/>
              </a:rPr>
              <a:t>/7</a:t>
            </a:r>
            <a:endParaRPr kumimoji="1" lang="en-US" altLang="zh-CN" sz="2665" dirty="0">
              <a:solidFill>
                <a:schemeClr val="bg1"/>
              </a:solidFill>
              <a:sym typeface="+mn-ea"/>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 name="组合 6"/>
          <p:cNvGrpSpPr/>
          <p:nvPr/>
        </p:nvGrpSpPr>
        <p:grpSpPr>
          <a:xfrm>
            <a:off x="7885113" y="1852613"/>
            <a:ext cx="360362" cy="4105275"/>
            <a:chOff x="8354219" y="1853208"/>
            <a:chExt cx="360362" cy="4104456"/>
          </a:xfrm>
        </p:grpSpPr>
        <p:sp>
          <p:nvSpPr>
            <p:cNvPr id="32778" name="文本框 14"/>
            <p:cNvSpPr txBox="1"/>
            <p:nvPr>
              <p:custDataLst>
                <p:tags r:id="rId6"/>
              </p:custDataLst>
            </p:nvPr>
          </p:nvSpPr>
          <p:spPr>
            <a:xfrm>
              <a:off x="8354219" y="2252625"/>
              <a:ext cx="360362" cy="3045487"/>
            </a:xfrm>
            <a:prstGeom prst="rect">
              <a:avLst/>
            </a:prstGeom>
            <a:noFill/>
            <a:ln w="9525">
              <a:noFill/>
            </a:ln>
          </p:spPr>
          <p:txBody>
            <a:bodyPr anchor="t" anchorCtr="0">
              <a:spAutoFit/>
            </a:bodyPr>
            <a:p>
              <a:pPr eaLnBrk="0" hangingPunct="0"/>
              <a:r>
                <a:rPr lang="zh-CN" altLang="en-US" sz="2400" b="1" dirty="0">
                  <a:solidFill>
                    <a:srgbClr val="FF0000"/>
                  </a:solidFill>
                  <a:latin typeface="Times New Roman" panose="02020603050405020304" pitchFamily="18" charset="0"/>
                  <a:ea typeface="宋体" panose="02010600030101010101" pitchFamily="2" charset="-122"/>
                </a:rPr>
                <a:t>程序开发效率提升</a:t>
              </a:r>
              <a:endParaRPr lang="zh-CN" altLang="en-US" sz="2400" b="1" dirty="0">
                <a:solidFill>
                  <a:srgbClr val="FF0000"/>
                </a:solidFill>
                <a:latin typeface="Times New Roman" panose="02020603050405020304" pitchFamily="18" charset="0"/>
                <a:ea typeface="宋体" panose="02010600030101010101" pitchFamily="2" charset="-122"/>
              </a:endParaRPr>
            </a:p>
          </p:txBody>
        </p:sp>
        <p:cxnSp>
          <p:nvCxnSpPr>
            <p:cNvPr id="32779" name="直接箭头连接符 15"/>
            <p:cNvCxnSpPr/>
            <p:nvPr>
              <p:custDataLst>
                <p:tags r:id="rId7"/>
              </p:custDataLst>
            </p:nvPr>
          </p:nvCxnSpPr>
          <p:spPr>
            <a:xfrm>
              <a:off x="8388424" y="1853208"/>
              <a:ext cx="0" cy="4104456"/>
            </a:xfrm>
            <a:prstGeom prst="straightConnector1">
              <a:avLst/>
            </a:prstGeom>
            <a:ln w="63500" cap="flat" cmpd="sng">
              <a:solidFill>
                <a:schemeClr val="hlink"/>
              </a:solidFill>
              <a:prstDash val="sysDot"/>
              <a:round/>
              <a:headEnd type="none" w="med" len="med"/>
              <a:tailEnd type="triangle" w="med" len="med"/>
            </a:ln>
          </p:spPr>
        </p:cxnSp>
      </p:grpSp>
      <p:grpSp>
        <p:nvGrpSpPr>
          <p:cNvPr id="12" name="组合 11"/>
          <p:cNvGrpSpPr/>
          <p:nvPr/>
        </p:nvGrpSpPr>
        <p:grpSpPr>
          <a:xfrm>
            <a:off x="395288" y="1700213"/>
            <a:ext cx="431800" cy="4105275"/>
            <a:chOff x="395288" y="1700808"/>
            <a:chExt cx="432296" cy="4104456"/>
          </a:xfrm>
        </p:grpSpPr>
        <p:cxnSp>
          <p:nvCxnSpPr>
            <p:cNvPr id="32781" name="直接箭头连接符 2"/>
            <p:cNvCxnSpPr/>
            <p:nvPr>
              <p:custDataLst>
                <p:tags r:id="rId8"/>
              </p:custDataLst>
            </p:nvPr>
          </p:nvCxnSpPr>
          <p:spPr>
            <a:xfrm>
              <a:off x="827584" y="1700808"/>
              <a:ext cx="0" cy="4104456"/>
            </a:xfrm>
            <a:prstGeom prst="straightConnector1">
              <a:avLst/>
            </a:prstGeom>
            <a:ln w="63500" cap="flat" cmpd="sng">
              <a:solidFill>
                <a:schemeClr val="hlink"/>
              </a:solidFill>
              <a:prstDash val="sysDot"/>
              <a:round/>
              <a:headEnd type="none" w="med" len="med"/>
              <a:tailEnd type="triangle" w="med" len="med"/>
            </a:ln>
          </p:spPr>
        </p:cxnSp>
        <p:sp>
          <p:nvSpPr>
            <p:cNvPr id="32782" name="文本框 3"/>
            <p:cNvSpPr txBox="1"/>
            <p:nvPr>
              <p:custDataLst>
                <p:tags r:id="rId9"/>
              </p:custDataLst>
            </p:nvPr>
          </p:nvSpPr>
          <p:spPr>
            <a:xfrm>
              <a:off x="395288" y="2182813"/>
              <a:ext cx="360362" cy="3045487"/>
            </a:xfrm>
            <a:prstGeom prst="rect">
              <a:avLst/>
            </a:prstGeom>
            <a:noFill/>
            <a:ln w="9525">
              <a:noFill/>
            </a:ln>
          </p:spPr>
          <p:txBody>
            <a:bodyPr anchor="t" anchorCtr="0">
              <a:spAutoFit/>
            </a:bodyPr>
            <a:p>
              <a:pPr eaLnBrk="0" hangingPunct="0"/>
              <a:r>
                <a:rPr lang="zh-CN" altLang="en-US" sz="2400" b="1" dirty="0">
                  <a:solidFill>
                    <a:srgbClr val="FF0000"/>
                  </a:solidFill>
                  <a:latin typeface="Times New Roman" panose="02020603050405020304" pitchFamily="18" charset="0"/>
                  <a:ea typeface="宋体" panose="02010600030101010101" pitchFamily="2" charset="-122"/>
                </a:rPr>
                <a:t>程序执行</a:t>
              </a:r>
              <a:r>
                <a:rPr lang="zh-CN" altLang="en-US" sz="2400" b="1" dirty="0">
                  <a:solidFill>
                    <a:srgbClr val="FF0000"/>
                  </a:solidFill>
                  <a:latin typeface="Times New Roman" panose="02020603050405020304" pitchFamily="18" charset="0"/>
                  <a:ea typeface="宋体" panose="02010600030101010101" pitchFamily="2" charset="-122"/>
                </a:rPr>
                <a:t>速度下降</a:t>
              </a:r>
              <a:endParaRPr lang="zh-CN" altLang="en-US" sz="2400" b="1" dirty="0">
                <a:solidFill>
                  <a:srgbClr val="FF0000"/>
                </a:solidFill>
                <a:latin typeface="Times New Roman" panose="02020603050405020304" pitchFamily="18" charset="0"/>
                <a:ea typeface="宋体" panose="02010600030101010101" pitchFamily="2" charset="-122"/>
              </a:endParaRPr>
            </a:p>
          </p:txBody>
        </p:sp>
      </p:grpSp>
      <p:graphicFrame>
        <p:nvGraphicFramePr>
          <p:cNvPr id="14" name="对象 13"/>
          <p:cNvGraphicFramePr/>
          <p:nvPr>
            <p:custDataLst>
              <p:tags r:id="rId10"/>
            </p:custDataLst>
          </p:nvPr>
        </p:nvGraphicFramePr>
        <p:xfrm>
          <a:off x="936625" y="1281430"/>
          <a:ext cx="6982460" cy="4794885"/>
        </p:xfrm>
        <a:graphic>
          <a:graphicData uri="http://schemas.openxmlformats.org/presentationml/2006/ole">
            <mc:AlternateContent xmlns:mc="http://schemas.openxmlformats.org/markup-compatibility/2006">
              <mc:Choice xmlns:v="urn:schemas-microsoft-com:vml" Requires="v">
                <p:oleObj spid="_x0000_s15" name="" r:id="rId11" imgW="6977380" imgH="4791075" progId="Paint.Picture">
                  <p:embed/>
                </p:oleObj>
              </mc:Choice>
              <mc:Fallback>
                <p:oleObj name="" r:id="rId11" imgW="6977380" imgH="4791075" progId="Paint.Picture">
                  <p:embed/>
                  <p:pic>
                    <p:nvPicPr>
                      <p:cNvPr id="0" name="图片 14"/>
                      <p:cNvPicPr/>
                      <p:nvPr/>
                    </p:nvPicPr>
                    <p:blipFill>
                      <a:blip r:embed="rId12"/>
                      <a:stretch>
                        <a:fillRect/>
                      </a:stretch>
                    </p:blipFill>
                    <p:spPr>
                      <a:xfrm>
                        <a:off x="936625" y="1281430"/>
                        <a:ext cx="6982460" cy="4794885"/>
                      </a:xfrm>
                      <a:prstGeom prst="rect">
                        <a:avLst/>
                      </a:prstGeom>
                    </p:spPr>
                  </p:pic>
                </p:oleObj>
              </mc:Fallback>
            </mc:AlternateContent>
          </a:graphicData>
        </a:graphic>
      </p:graphicFrame>
      <p:grpSp>
        <p:nvGrpSpPr>
          <p:cNvPr id="20" name="组合 19"/>
          <p:cNvGrpSpPr/>
          <p:nvPr/>
        </p:nvGrpSpPr>
        <p:grpSpPr>
          <a:xfrm>
            <a:off x="4483100" y="3547110"/>
            <a:ext cx="2949575" cy="1430655"/>
            <a:chOff x="7060" y="5586"/>
            <a:chExt cx="4645" cy="2253"/>
          </a:xfrm>
        </p:grpSpPr>
        <p:sp>
          <p:nvSpPr>
            <p:cNvPr id="16" name="矩形 15"/>
            <p:cNvSpPr/>
            <p:nvPr/>
          </p:nvSpPr>
          <p:spPr>
            <a:xfrm>
              <a:off x="7060" y="5586"/>
              <a:ext cx="3109" cy="4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矩形 16"/>
            <p:cNvSpPr/>
            <p:nvPr>
              <p:custDataLst>
                <p:tags r:id="rId13"/>
              </p:custDataLst>
            </p:nvPr>
          </p:nvSpPr>
          <p:spPr>
            <a:xfrm>
              <a:off x="7865" y="6825"/>
              <a:ext cx="3841" cy="10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7496175" cy="662305"/>
          </a:xfrm>
        </p:spPr>
        <p:txBody>
          <a:bodyPr>
            <a:normAutofit/>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400" dirty="0">
                <a:solidFill>
                  <a:schemeClr val="bg1"/>
                </a:solidFill>
                <a:sym typeface="+mn-ea"/>
              </a:rPr>
              <a:t>3/7</a:t>
            </a:r>
            <a:endParaRPr kumimoji="1" lang="zh-CN" altLang="en-US"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797" name="Rectangle 7"/>
          <p:cNvSpPr>
            <a:spLocks noGrp="1"/>
          </p:cNvSpPr>
          <p:nvPr>
            <p:ph idx="1"/>
            <p:custDataLst>
              <p:tags r:id="rId6"/>
            </p:custDataLst>
          </p:nvPr>
        </p:nvSpPr>
        <p:spPr>
          <a:xfrm>
            <a:off x="400050" y="1285875"/>
            <a:ext cx="8421688" cy="476250"/>
          </a:xfrm>
        </p:spPr>
        <p:txBody>
          <a:bodyPr vert="horz" wrap="square" lIns="91440" tIns="45720" rIns="91440" bIns="45720" anchor="t" anchorCtr="0">
            <a:noAutofit/>
          </a:bodyPr>
          <a:p>
            <a:pPr marL="0" algn="l" eaLnBrk="1" hangingPunct="1">
              <a:lnSpc>
                <a:spcPct val="100000"/>
              </a:lnSpc>
              <a:spcBef>
                <a:spcPts val="0"/>
              </a:spcBef>
              <a:buClrTx/>
              <a:buSzTx/>
              <a:buNone/>
            </a:pPr>
            <a:r>
              <a:rPr kumimoji="1" lang="en-US" altLang="zh-CN" sz="2700" b="1" dirty="0"/>
              <a:t>C语言面向过程(或结构)编程回顾</a:t>
            </a:r>
            <a:endParaRPr kumimoji="1" lang="en-US" altLang="zh-CN" sz="2700" b="1" dirty="0"/>
          </a:p>
        </p:txBody>
      </p:sp>
      <p:pic>
        <p:nvPicPr>
          <p:cNvPr id="33799" name="图片 2"/>
          <p:cNvPicPr>
            <a:picLocks noChangeAspect="1"/>
          </p:cNvPicPr>
          <p:nvPr>
            <p:custDataLst>
              <p:tags r:id="rId7"/>
            </p:custDataLst>
          </p:nvPr>
        </p:nvPicPr>
        <p:blipFill>
          <a:blip r:embed="rId8"/>
          <a:stretch>
            <a:fillRect/>
          </a:stretch>
        </p:blipFill>
        <p:spPr>
          <a:xfrm>
            <a:off x="633413" y="1916113"/>
            <a:ext cx="7954962" cy="4060825"/>
          </a:xfrm>
          <a:prstGeom prst="rect">
            <a:avLst/>
          </a:prstGeom>
          <a:noFill/>
          <a:ln w="9525">
            <a:noFill/>
          </a:ln>
        </p:spPr>
      </p:pic>
      <p:sp>
        <p:nvSpPr>
          <p:cNvPr id="7" name="矩形 6"/>
          <p:cNvSpPr/>
          <p:nvPr>
            <p:custDataLst>
              <p:tags r:id="rId9"/>
            </p:custDataLst>
          </p:nvPr>
        </p:nvSpPr>
        <p:spPr>
          <a:xfrm>
            <a:off x="550863" y="1844675"/>
            <a:ext cx="2652712" cy="4248150"/>
          </a:xfrm>
          <a:prstGeom prst="rect">
            <a:avLst/>
          </a:prstGeom>
          <a:noFill/>
          <a:ln w="63500" cap="flat" cmpd="sng">
            <a:solidFill>
              <a:srgbClr val="FF0000"/>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2" name="矩形 11"/>
          <p:cNvSpPr/>
          <p:nvPr>
            <p:custDataLst>
              <p:tags r:id="rId10"/>
            </p:custDataLst>
          </p:nvPr>
        </p:nvSpPr>
        <p:spPr>
          <a:xfrm>
            <a:off x="3389313" y="1822450"/>
            <a:ext cx="5281612" cy="2111375"/>
          </a:xfrm>
          <a:prstGeom prst="rect">
            <a:avLst/>
          </a:prstGeom>
          <a:noFill/>
          <a:ln w="63500" cap="flat" cmpd="sng">
            <a:solidFill>
              <a:srgbClr val="FF0000"/>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4/7</a:t>
            </a:r>
            <a:endParaRPr kumimoji="1" lang="zh-CN" altLang="en-US" sz="2665"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414655" y="1010920"/>
            <a:ext cx="8496935" cy="1550035"/>
          </a:xfrm>
          <a:prstGeom prst="rect">
            <a:avLst/>
          </a:prstGeom>
          <a:noFill/>
        </p:spPr>
        <p:txBody>
          <a:bodyPr wrap="square" rtlCol="0" anchor="t">
            <a:spAutoFit/>
          </a:bodyPr>
          <a:p>
            <a:pPr marL="0" algn="l" eaLnBrk="1" hangingPunct="1">
              <a:lnSpc>
                <a:spcPct val="150000"/>
              </a:lnSpc>
              <a:spcBef>
                <a:spcPts val="0"/>
              </a:spcBef>
              <a:buClrTx/>
              <a:buSzTx/>
              <a:buNone/>
            </a:pPr>
            <a:r>
              <a:rPr kumimoji="1" lang="en-US" altLang="zh-CN" sz="2800" b="1" dirty="0">
                <a:sym typeface="+mn-ea"/>
              </a:rPr>
              <a:t>C语言面向过程(或结构)编程回顾</a:t>
            </a:r>
            <a:endParaRPr kumimoji="1" lang="en-US" altLang="zh-CN" sz="2800" b="1" dirty="0">
              <a:sym typeface="+mn-ea"/>
            </a:endParaRPr>
          </a:p>
          <a:p>
            <a:pPr marL="457200" marR="0" lvl="0" indent="-457200" algn="l" defTabSz="914400" rtl="0" eaLnBrk="1" fontAlgn="base" latinLnBrk="0" hangingPunct="1">
              <a:lnSpc>
                <a:spcPct val="100000"/>
              </a:lnSpc>
              <a:spcBef>
                <a:spcPct val="20000"/>
              </a:spcBef>
              <a:spcAft>
                <a:spcPct val="0"/>
              </a:spcAft>
              <a:buClr>
                <a:srgbClr val="3B3838"/>
              </a:buClr>
              <a:buSzTx/>
              <a:buFont typeface="Arial" panose="020B0604020202020204" pitchFamily="34" charset="0"/>
              <a:buChar char="•"/>
              <a:defRPr/>
            </a:pPr>
            <a:r>
              <a:rPr kumimoji="1" lang="en-US" altLang="zh-CN" sz="2400" b="1" dirty="0">
                <a:solidFill>
                  <a:schemeClr val="tx1">
                    <a:lumMod val="65000"/>
                    <a:lumOff val="35000"/>
                  </a:schemeClr>
                </a:solidFill>
                <a:latin typeface="+mn-ea"/>
                <a:cs typeface="+mn-ea"/>
                <a:sym typeface="+mn-ea"/>
              </a:rPr>
              <a:t>同一模块或不同模块的函数</a:t>
            </a:r>
            <a:r>
              <a:rPr kumimoji="1" lang="zh-CN" altLang="en-US" sz="2400" b="1" dirty="0">
                <a:solidFill>
                  <a:schemeClr val="tx1">
                    <a:lumMod val="65000"/>
                    <a:lumOff val="35000"/>
                  </a:schemeClr>
                </a:solidFill>
                <a:latin typeface="+mn-ea"/>
                <a:cs typeface="+mn-ea"/>
                <a:sym typeface="+mn-ea"/>
              </a:rPr>
              <a:t>可以</a:t>
            </a:r>
            <a:r>
              <a:rPr kumimoji="1" lang="en-US" altLang="zh-CN" sz="2400" b="1" dirty="0">
                <a:solidFill>
                  <a:schemeClr val="tx1">
                    <a:lumMod val="65000"/>
                    <a:lumOff val="35000"/>
                  </a:schemeClr>
                </a:solidFill>
                <a:latin typeface="+mn-ea"/>
                <a:cs typeface="+mn-ea"/>
                <a:sym typeface="+mn-ea"/>
              </a:rPr>
              <a:t>不受限制的访问全局性数据(extern)，全局数据和函数之间缺乏联系</a:t>
            </a:r>
            <a:endParaRPr kumimoji="1" lang="en-US" altLang="zh-CN" sz="2400" b="1" dirty="0">
              <a:solidFill>
                <a:schemeClr val="tx1">
                  <a:lumMod val="65000"/>
                  <a:lumOff val="35000"/>
                </a:schemeClr>
              </a:solidFill>
              <a:latin typeface="+mn-ea"/>
              <a:cs typeface="+mn-ea"/>
              <a:sym typeface="+mn-ea"/>
            </a:endParaRPr>
          </a:p>
        </p:txBody>
      </p:sp>
      <p:pic>
        <p:nvPicPr>
          <p:cNvPr id="12" name="图片 11"/>
          <p:cNvPicPr>
            <a:picLocks noChangeAspect="1"/>
          </p:cNvPicPr>
          <p:nvPr>
            <p:custDataLst>
              <p:tags r:id="rId6"/>
            </p:custDataLst>
          </p:nvPr>
        </p:nvPicPr>
        <p:blipFill>
          <a:blip r:embed="rId7"/>
          <a:stretch>
            <a:fillRect/>
          </a:stretch>
        </p:blipFill>
        <p:spPr>
          <a:xfrm>
            <a:off x="779780" y="5140960"/>
            <a:ext cx="2528888" cy="1049338"/>
          </a:xfrm>
          <a:prstGeom prst="rect">
            <a:avLst/>
          </a:prstGeom>
          <a:noFill/>
          <a:ln w="9525">
            <a:noFill/>
          </a:ln>
        </p:spPr>
      </p:pic>
      <p:pic>
        <p:nvPicPr>
          <p:cNvPr id="14" name="图片 13"/>
          <p:cNvPicPr>
            <a:picLocks noChangeAspect="1"/>
          </p:cNvPicPr>
          <p:nvPr>
            <p:custDataLst>
              <p:tags r:id="rId8"/>
            </p:custDataLst>
          </p:nvPr>
        </p:nvPicPr>
        <p:blipFill>
          <a:blip r:embed="rId9"/>
          <a:stretch>
            <a:fillRect/>
          </a:stretch>
        </p:blipFill>
        <p:spPr>
          <a:xfrm>
            <a:off x="779780" y="2778125"/>
            <a:ext cx="7337425" cy="2120900"/>
          </a:xfrm>
          <a:prstGeom prst="rect">
            <a:avLst/>
          </a:prstGeom>
          <a:noFill/>
          <a:ln w="9525">
            <a:noFill/>
          </a:ln>
        </p:spPr>
      </p:pic>
      <p:grpSp>
        <p:nvGrpSpPr>
          <p:cNvPr id="15" name="组合 14"/>
          <p:cNvGrpSpPr/>
          <p:nvPr/>
        </p:nvGrpSpPr>
        <p:grpSpPr>
          <a:xfrm>
            <a:off x="4098925" y="4585313"/>
            <a:ext cx="4740910" cy="1762782"/>
            <a:chOff x="4916058" y="4298223"/>
            <a:chExt cx="4122739" cy="1762211"/>
          </a:xfrm>
        </p:grpSpPr>
        <p:pic>
          <p:nvPicPr>
            <p:cNvPr id="34827" name="图片 4"/>
            <p:cNvPicPr>
              <a:picLocks noChangeAspect="1"/>
            </p:cNvPicPr>
            <p:nvPr>
              <p:custDataLst>
                <p:tags r:id="rId10"/>
              </p:custDataLst>
            </p:nvPr>
          </p:nvPicPr>
          <p:blipFill>
            <a:blip r:embed="rId11"/>
            <a:stretch>
              <a:fillRect/>
            </a:stretch>
          </p:blipFill>
          <p:spPr>
            <a:xfrm>
              <a:off x="4916058" y="4853934"/>
              <a:ext cx="2613025" cy="1206500"/>
            </a:xfrm>
            <a:prstGeom prst="rect">
              <a:avLst/>
            </a:prstGeom>
            <a:noFill/>
            <a:ln w="9525">
              <a:noFill/>
            </a:ln>
          </p:spPr>
        </p:pic>
        <p:sp>
          <p:nvSpPr>
            <p:cNvPr id="21516" name="思想气泡: 云 7"/>
            <p:cNvSpPr/>
            <p:nvPr>
              <p:custDataLst>
                <p:tags r:id="rId12"/>
              </p:custDataLst>
            </p:nvPr>
          </p:nvSpPr>
          <p:spPr>
            <a:xfrm>
              <a:off x="7077928" y="4298223"/>
              <a:ext cx="1960869" cy="1685379"/>
            </a:xfrm>
            <a:prstGeom prst="cloudCallout">
              <a:avLst>
                <a:gd name="adj1" fmla="val -58335"/>
                <a:gd name="adj2" fmla="val 40396"/>
              </a:avLst>
            </a:prstGeom>
            <a:noFill/>
            <a:ln w="12700" cap="flat" cmpd="sng">
              <a:solidFill>
                <a:schemeClr val="hlink"/>
              </a:solidFill>
              <a:prstDash val="sysDot"/>
              <a:round/>
              <a:headEnd type="none" w="med" len="med"/>
              <a:tailEnd type="none" w="med" len="med"/>
            </a:ln>
          </p:spPr>
          <p:txBody>
            <a:bodyPr anchor="t"/>
            <a:p>
              <a:pPr algn="l" fontAlgn="base">
                <a:lnSpc>
                  <a:spcPts val="3000"/>
                </a:lnSpc>
                <a:spcBef>
                  <a:spcPct val="20000"/>
                </a:spcBef>
                <a:buClr>
                  <a:schemeClr val="accent2"/>
                </a:buClr>
                <a:buSzTx/>
                <a:buFont typeface="Wingdings" panose="05000000000000000000" pitchFamily="2" charset="2"/>
                <a:defRPr/>
              </a:pPr>
              <a:r>
                <a:rPr lang="zh-CN" altLang="en-US" sz="2000" b="1" strike="noStrike" kern="0" noProof="0" dirty="0">
                  <a:ln>
                    <a:noFill/>
                  </a:ln>
                  <a:effectLst/>
                  <a:uLnTx/>
                  <a:uFillTx/>
                  <a:latin typeface="+mn-lt"/>
                  <a:ea typeface="+mn-ea"/>
                  <a:cs typeface="+mn-cs"/>
                </a:rPr>
                <a:t>全局变量变化引发多米诺骨牌效应</a:t>
              </a:r>
              <a:endParaRPr lang="zh-CN" altLang="en-US" sz="2000" b="1" strike="noStrike" kern="0" noProof="0" dirty="0">
                <a:ln>
                  <a:noFill/>
                </a:ln>
                <a:effectLst/>
                <a:uLnTx/>
                <a:uFillTx/>
                <a:latin typeface="+mn-lt"/>
                <a:ea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5/7</a:t>
            </a:r>
            <a:endParaRPr kumimoji="1" lang="zh-CN" altLang="en-US" sz="2665"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29565" y="1105535"/>
            <a:ext cx="5447030" cy="737235"/>
          </a:xfrm>
          <a:prstGeom prst="rect">
            <a:avLst/>
          </a:prstGeom>
          <a:noFill/>
        </p:spPr>
        <p:txBody>
          <a:bodyPr wrap="square" rtlCol="0" anchor="t">
            <a:spAutoFit/>
          </a:bodyPr>
          <a:p>
            <a:pPr marL="0" algn="l" eaLnBrk="1" hangingPunct="1">
              <a:lnSpc>
                <a:spcPct val="150000"/>
              </a:lnSpc>
              <a:spcBef>
                <a:spcPts val="0"/>
              </a:spcBef>
              <a:buClrTx/>
              <a:buSzTx/>
              <a:buNone/>
            </a:pPr>
            <a:r>
              <a:rPr kumimoji="1" lang="en-US" altLang="zh-CN" sz="2800" b="1" dirty="0">
                <a:sym typeface="+mn-ea"/>
              </a:rPr>
              <a:t>C语言面向过程编程</a:t>
            </a:r>
            <a:r>
              <a:rPr kumimoji="1" lang="zh-CN" altLang="en-US" sz="2800" b="1" dirty="0">
                <a:sym typeface="+mn-ea"/>
              </a:rPr>
              <a:t>回顾</a:t>
            </a:r>
            <a:endParaRPr kumimoji="1" lang="zh-CN" altLang="en-US" sz="2800" b="1" dirty="0">
              <a:sym typeface="+mn-ea"/>
            </a:endParaRPr>
          </a:p>
        </p:txBody>
      </p:sp>
      <p:sp>
        <p:nvSpPr>
          <p:cNvPr id="12" name="文本框 11"/>
          <p:cNvSpPr txBox="1"/>
          <p:nvPr/>
        </p:nvSpPr>
        <p:spPr>
          <a:xfrm>
            <a:off x="576580" y="1931670"/>
            <a:ext cx="4728210" cy="4309745"/>
          </a:xfrm>
          <a:prstGeom prst="rect">
            <a:avLst/>
          </a:prstGeom>
          <a:noFill/>
        </p:spPr>
        <p:txBody>
          <a:bodyPr wrap="square" rtlCol="0" anchor="t">
            <a:noAutofit/>
          </a:bodyPr>
          <a:p>
            <a:pPr marL="469900" marR="0" lvl="0" indent="-469900" algn="l" defTabSz="914400" rtl="0" eaLnBrk="0" fontAlgn="base" latinLnBrk="0" hangingPunct="0">
              <a:lnSpc>
                <a:spcPct val="100000"/>
              </a:lnSpc>
              <a:spcBef>
                <a:spcPct val="20000"/>
              </a:spcBef>
              <a:spcAft>
                <a:spcPct val="0"/>
              </a:spcAft>
              <a:buClr>
                <a:srgbClr val="3B3838"/>
              </a:buClr>
              <a:buSzTx/>
              <a:buFont typeface="Arial" panose="020B0604020202020204" pitchFamily="34" charset="0"/>
              <a:buChar char="•"/>
              <a:defRPr/>
            </a:pP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C</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程序的执行效率高，</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仅次于汇编程序，</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被广泛用于系统级编程和嵌入式系统等领域，但</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C</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语言程序的</a:t>
            </a: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设计</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a:t>
            </a: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编程</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和</a:t>
            </a: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维护</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的效率偏低，软件开发和维护的代价大</a:t>
            </a:r>
            <a:endPar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endParaRPr>
          </a:p>
          <a:p>
            <a:pPr marL="908050" marR="0" lvl="1" indent="-436880" algn="l" defTabSz="914400" rtl="0" eaLnBrk="0" fontAlgn="base" latinLnBrk="0" hangingPunct="0">
              <a:lnSpc>
                <a:spcPct val="100000"/>
              </a:lnSpc>
              <a:spcBef>
                <a:spcPct val="20000"/>
              </a:spcBef>
              <a:spcAft>
                <a:spcPct val="0"/>
              </a:spcAft>
              <a:buClr>
                <a:srgbClr val="3B3838"/>
              </a:buClr>
              <a:buSzTx/>
              <a:buFont typeface="Arial" panose="020B0604020202020204" pitchFamily="34" charset="0"/>
              <a:buChar char="•"/>
              <a:defRPr/>
            </a:pP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模块化设计</a:t>
            </a:r>
            <a:endParaRPr kumimoji="0" lang="zh-CN" altLang="en-US" sz="2400" b="1" i="0" u="none" strike="noStrike" kern="0" cap="none" spc="0" normalizeH="0" baseline="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endParaRPr>
          </a:p>
          <a:p>
            <a:pPr marL="908050" marR="0" lvl="1" indent="-436880" algn="l" defTabSz="914400" rtl="0" eaLnBrk="0" fontAlgn="base" latinLnBrk="0" hangingPunct="0">
              <a:lnSpc>
                <a:spcPct val="100000"/>
              </a:lnSpc>
              <a:spcBef>
                <a:spcPct val="20000"/>
              </a:spcBef>
              <a:spcAft>
                <a:spcPct val="0"/>
              </a:spcAft>
              <a:buClr>
                <a:srgbClr val="3B3838"/>
              </a:buClr>
              <a:buSzTx/>
              <a:buFont typeface="Arial" panose="020B0604020202020204" pitchFamily="34" charset="0"/>
              <a:buChar char="•"/>
              <a:defRPr/>
            </a:pP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抽象封装</a:t>
            </a:r>
            <a:endPar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endParaRPr>
          </a:p>
          <a:p>
            <a:pPr marL="908050" marR="0" lvl="1" indent="-436880" algn="l" defTabSz="914400" rtl="0" eaLnBrk="0" fontAlgn="base" latinLnBrk="0" hangingPunct="0">
              <a:lnSpc>
                <a:spcPct val="100000"/>
              </a:lnSpc>
              <a:spcBef>
                <a:spcPct val="20000"/>
              </a:spcBef>
              <a:spcAft>
                <a:spcPct val="0"/>
              </a:spcAft>
              <a:buClr>
                <a:srgbClr val="3B3838"/>
              </a:buClr>
              <a:buSzTx/>
              <a:buFont typeface="Arial" panose="020B0604020202020204" pitchFamily="34" charset="0"/>
              <a:buChar char="•"/>
              <a:defRPr/>
            </a:pPr>
            <a:r>
              <a:rPr lang="zh-CN" altLang="en-US" sz="2400" b="1" kern="0" noProof="0" dirty="0">
                <a:ln>
                  <a:noFill/>
                </a:ln>
                <a:solidFill>
                  <a:schemeClr val="accent1"/>
                </a:solidFill>
                <a:effectLst/>
                <a:uLnTx/>
                <a:uFillTx/>
                <a:latin typeface="等线" panose="02010600030101010101" charset="-122"/>
                <a:ea typeface="等线" panose="02010600030101010101" charset="-122"/>
                <a:cs typeface="等线" panose="02010600030101010101" charset="-122"/>
                <a:sym typeface="+mn-ea"/>
              </a:rPr>
              <a:t>可复用的粒度</a:t>
            </a:r>
            <a:endPar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endParaRPr>
          </a:p>
        </p:txBody>
      </p:sp>
      <p:grpSp>
        <p:nvGrpSpPr>
          <p:cNvPr id="15" name="组合 14"/>
          <p:cNvGrpSpPr/>
          <p:nvPr/>
        </p:nvGrpSpPr>
        <p:grpSpPr>
          <a:xfrm>
            <a:off x="5368925" y="2023110"/>
            <a:ext cx="3470910" cy="3802380"/>
            <a:chOff x="-924242" y="1169495"/>
            <a:chExt cx="4048442" cy="4059706"/>
          </a:xfrm>
        </p:grpSpPr>
        <p:pic>
          <p:nvPicPr>
            <p:cNvPr id="36878" name="图片 5"/>
            <p:cNvPicPr>
              <a:picLocks noChangeAspect="1"/>
            </p:cNvPicPr>
            <p:nvPr>
              <p:custDataLst>
                <p:tags r:id="rId6"/>
              </p:custDataLst>
            </p:nvPr>
          </p:nvPicPr>
          <p:blipFill>
            <a:blip r:embed="rId7"/>
            <a:stretch>
              <a:fillRect/>
            </a:stretch>
          </p:blipFill>
          <p:spPr>
            <a:xfrm>
              <a:off x="-924242" y="1169495"/>
              <a:ext cx="4048442" cy="4059706"/>
            </a:xfrm>
            <a:prstGeom prst="rect">
              <a:avLst/>
            </a:prstGeom>
            <a:noFill/>
            <a:ln w="9525">
              <a:noFill/>
            </a:ln>
          </p:spPr>
        </p:pic>
        <p:sp>
          <p:nvSpPr>
            <p:cNvPr id="36879" name="文本框 6"/>
            <p:cNvSpPr txBox="1"/>
            <p:nvPr>
              <p:custDataLst>
                <p:tags r:id="rId8"/>
              </p:custDataLst>
            </p:nvPr>
          </p:nvSpPr>
          <p:spPr>
            <a:xfrm>
              <a:off x="1331640" y="1331245"/>
              <a:ext cx="1354802" cy="393225"/>
            </a:xfrm>
            <a:prstGeom prst="rect">
              <a:avLst/>
            </a:prstGeom>
            <a:noFill/>
            <a:ln w="9525">
              <a:noFill/>
            </a:ln>
          </p:spPr>
          <p:txBody>
            <a:bodyPr anchor="t" anchorCtr="0">
              <a:spAutoFit/>
            </a:bodyPr>
            <a:p>
              <a:pPr eaLnBrk="0" hangingPunct="0"/>
              <a:r>
                <a:rPr lang="en-US" altLang="zh-CN" dirty="0">
                  <a:latin typeface="Times New Roman" panose="02020603050405020304" pitchFamily="18" charset="0"/>
                </a:rPr>
                <a:t>Triangle.c</a:t>
              </a: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6/7</a:t>
            </a:r>
            <a:endParaRPr kumimoji="1" lang="zh-CN" altLang="en-US" sz="2665"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28295" y="1031875"/>
            <a:ext cx="4572000" cy="598170"/>
          </a:xfrm>
          <a:prstGeom prst="rect">
            <a:avLst/>
          </a:prstGeom>
          <a:noFill/>
        </p:spPr>
        <p:txBody>
          <a:bodyPr wrap="square" rtlCol="0" anchor="t">
            <a:noAutofit/>
          </a:bodyPr>
          <a:p>
            <a:pPr indent="0" algn="l" fontAlgn="t">
              <a:lnSpc>
                <a:spcPct val="150000"/>
              </a:lnSpc>
              <a:spcBef>
                <a:spcPts val="0"/>
              </a:spcBef>
              <a:buClrTx/>
              <a:buSzTx/>
              <a:buNone/>
            </a:pPr>
            <a:r>
              <a:rPr kumimoji="1" lang="zh-CN" altLang="en-US" sz="2800" b="1" dirty="0">
                <a:sym typeface="+mn-ea"/>
              </a:rPr>
              <a:t>面向对象</a:t>
            </a:r>
            <a:r>
              <a:rPr kumimoji="1" lang="zh-CN" altLang="en-US" sz="2800" b="1" dirty="0">
                <a:sym typeface="+mn-ea"/>
              </a:rPr>
              <a:t>编程</a:t>
            </a:r>
            <a:endParaRPr kumimoji="1" lang="zh-CN" altLang="en-US" sz="2800" b="1" dirty="0">
              <a:sym typeface="+mn-ea"/>
            </a:endParaRPr>
          </a:p>
          <a:p>
            <a:pPr marL="304800" indent="-285750" eaLnBrk="1" hangingPunct="1">
              <a:lnSpc>
                <a:spcPct val="90000"/>
              </a:lnSpc>
            </a:pPr>
            <a:endParaRPr kumimoji="1" lang="zh-CN" altLang="en-US" sz="2800" b="1" dirty="0">
              <a:sym typeface="+mn-ea"/>
            </a:endParaRPr>
          </a:p>
        </p:txBody>
      </p:sp>
      <p:sp>
        <p:nvSpPr>
          <p:cNvPr id="9" name="文本框 8"/>
          <p:cNvSpPr txBox="1"/>
          <p:nvPr/>
        </p:nvSpPr>
        <p:spPr>
          <a:xfrm>
            <a:off x="328295" y="1703705"/>
            <a:ext cx="4210050" cy="4398010"/>
          </a:xfrm>
          <a:prstGeom prst="rect">
            <a:avLst/>
          </a:prstGeom>
          <a:noFill/>
        </p:spPr>
        <p:txBody>
          <a:bodyPr wrap="square" rtlCol="0" anchor="t">
            <a:noAutofit/>
          </a:bodyPr>
          <a:p>
            <a:pPr algn="l" fontAlgn="auto">
              <a:lnSpc>
                <a:spcPct val="120000"/>
              </a:lnSpc>
              <a:spcBef>
                <a:spcPts val="1000"/>
              </a:spcBef>
              <a:buClrTx/>
              <a:buSzTx/>
              <a:buFont typeface="Arial" panose="020B0604020202020204" pitchFamily="34" charset="0"/>
            </a:pPr>
            <a:r>
              <a:rPr kumimoji="1" lang="en-US" altLang="zh-CN" sz="2400" b="1" dirty="0">
                <a:sym typeface="+mn-ea"/>
              </a:rPr>
              <a:t>1、封装性</a:t>
            </a:r>
            <a:endParaRPr kumimoji="1" lang="en-US" altLang="zh-CN" sz="2400" b="1" dirty="0">
              <a:sym typeface="+mn-ea"/>
            </a:endParaRPr>
          </a:p>
          <a:p>
            <a:pPr marL="342900" indent="-342900" algn="l" fontAlgn="auto">
              <a:lnSpc>
                <a:spcPct val="120000"/>
              </a:lnSpc>
              <a:spcBef>
                <a:spcPts val="1000"/>
              </a:spcBef>
              <a:buClrTx/>
              <a:buSzTx/>
              <a:buFont typeface="Arial" panose="020B0604020202020204" pitchFamily="34" charset="0"/>
              <a:buChar char="•"/>
            </a:pPr>
            <a:r>
              <a:rPr kumimoji="1" lang="zh-CN" altLang="en-US" sz="2400" b="1" dirty="0">
                <a:solidFill>
                  <a:srgbClr val="034DA0"/>
                </a:solidFill>
                <a:sym typeface="+mn-ea"/>
              </a:rPr>
              <a:t>数据结构</a:t>
            </a:r>
            <a:r>
              <a:rPr kumimoji="1" lang="zh-CN" altLang="en-US" sz="2400" b="1" dirty="0">
                <a:sym typeface="+mn-ea"/>
              </a:rPr>
              <a:t>和</a:t>
            </a:r>
            <a:r>
              <a:rPr kumimoji="1" lang="zh-CN" altLang="en-US" sz="2400" b="1" dirty="0">
                <a:solidFill>
                  <a:srgbClr val="034DA0"/>
                </a:solidFill>
                <a:sym typeface="+mn-ea"/>
              </a:rPr>
              <a:t>函数</a:t>
            </a:r>
            <a:r>
              <a:rPr kumimoji="1" lang="zh-CN" altLang="en-US" sz="2400" b="1" dirty="0">
                <a:sym typeface="+mn-ea"/>
              </a:rPr>
              <a:t>封装成</a:t>
            </a:r>
            <a:r>
              <a:rPr kumimoji="1" lang="zh-CN" altLang="en-US" sz="2400" b="1" dirty="0">
                <a:solidFill>
                  <a:srgbClr val="034DA0"/>
                </a:solidFill>
                <a:sym typeface="+mn-ea"/>
              </a:rPr>
              <a:t>对象</a:t>
            </a:r>
            <a:endParaRPr kumimoji="1" lang="zh-CN" altLang="en-US" sz="2400" b="1" dirty="0">
              <a:sym typeface="+mn-ea"/>
            </a:endParaRPr>
          </a:p>
          <a:p>
            <a:pPr marL="800100" lvl="1" indent="-342900" algn="l" fontAlgn="auto">
              <a:lnSpc>
                <a:spcPct val="120000"/>
              </a:lnSpc>
              <a:spcBef>
                <a:spcPts val="1000"/>
              </a:spcBef>
              <a:buClrTx/>
              <a:buSzTx/>
              <a:buFont typeface="Arial" panose="020B0604020202020204" pitchFamily="34" charset="0"/>
              <a:buChar char="•"/>
            </a:pPr>
            <a:r>
              <a:rPr kumimoji="1" lang="en-US" altLang="zh-CN" sz="2000" b="1" dirty="0">
                <a:sym typeface="+mn-ea"/>
              </a:rPr>
              <a:t>数据结构发生改变，不会产生连锁效应，受影响范围局限于对象内部</a:t>
            </a:r>
            <a:endParaRPr kumimoji="1" lang="en-US" altLang="zh-CN" sz="2000" b="1" dirty="0">
              <a:sym typeface="+mn-ea"/>
            </a:endParaRPr>
          </a:p>
          <a:p>
            <a:pPr marL="0" lvl="1" algn="l" fontAlgn="auto">
              <a:lnSpc>
                <a:spcPct val="120000"/>
              </a:lnSpc>
              <a:spcBef>
                <a:spcPts val="1000"/>
              </a:spcBef>
              <a:buClrTx/>
              <a:buSzTx/>
              <a:buFont typeface="Arial" panose="020B0604020202020204" pitchFamily="34" charset="0"/>
            </a:pPr>
            <a:r>
              <a:rPr kumimoji="1" lang="en-US" altLang="zh-CN" sz="2400" b="1" dirty="0">
                <a:sym typeface="+mn-ea"/>
              </a:rPr>
              <a:t>2、复用性</a:t>
            </a:r>
            <a:endParaRPr kumimoji="1" lang="en-US" altLang="zh-CN" sz="2400" b="1" dirty="0">
              <a:sym typeface="+mn-ea"/>
            </a:endParaRPr>
          </a:p>
          <a:p>
            <a:pPr marL="342900" lvl="1" indent="-342900" algn="l" fontAlgn="auto">
              <a:lnSpc>
                <a:spcPct val="120000"/>
              </a:lnSpc>
              <a:spcBef>
                <a:spcPts val="1000"/>
              </a:spcBef>
              <a:buClrTx/>
              <a:buSzTx/>
              <a:buFont typeface="Arial" panose="020B0604020202020204" pitchFamily="34" charset="0"/>
              <a:buChar char="•"/>
            </a:pPr>
            <a:r>
              <a:rPr kumimoji="1" lang="zh-CN" altLang="en-US" sz="2400" b="1" dirty="0">
                <a:sym typeface="+mn-ea"/>
              </a:rPr>
              <a:t>提升复用粒度</a:t>
            </a:r>
            <a:endParaRPr kumimoji="1" lang="zh-CN" altLang="en-US" sz="2400" b="1" dirty="0">
              <a:sym typeface="+mn-ea"/>
            </a:endParaRPr>
          </a:p>
          <a:p>
            <a:pPr marL="800100" lvl="2" indent="-342900" algn="l" fontAlgn="auto">
              <a:lnSpc>
                <a:spcPct val="120000"/>
              </a:lnSpc>
              <a:spcBef>
                <a:spcPts val="1000"/>
              </a:spcBef>
              <a:buClrTx/>
              <a:buSzTx/>
              <a:buFont typeface="Arial" panose="020B0604020202020204" pitchFamily="34" charset="0"/>
              <a:buChar char="•"/>
            </a:pPr>
            <a:r>
              <a:rPr kumimoji="1" lang="zh-CN" altLang="en-US" sz="2000" b="1" dirty="0">
                <a:sym typeface="+mn-ea"/>
              </a:rPr>
              <a:t>对象</a:t>
            </a:r>
            <a:r>
              <a:rPr kumimoji="1" lang="en-US" altLang="zh-CN" sz="2000" b="1" dirty="0">
                <a:sym typeface="+mn-ea"/>
              </a:rPr>
              <a:t>(</a:t>
            </a:r>
            <a:r>
              <a:rPr kumimoji="1" lang="zh-CN" altLang="en-US" sz="2000" b="1" dirty="0">
                <a:sym typeface="+mn-ea"/>
              </a:rPr>
              <a:t>类</a:t>
            </a:r>
            <a:r>
              <a:rPr kumimoji="1" lang="en-US" altLang="zh-CN" sz="2000" b="1" dirty="0">
                <a:sym typeface="+mn-ea"/>
              </a:rPr>
              <a:t>)</a:t>
            </a:r>
            <a:r>
              <a:rPr kumimoji="1" lang="zh-CN" altLang="en-US" sz="2000" b="1" dirty="0">
                <a:sym typeface="+mn-ea"/>
              </a:rPr>
              <a:t>复用、设计模式复用</a:t>
            </a:r>
            <a:endParaRPr kumimoji="1" lang="zh-CN" altLang="en-US" sz="2000" b="1" dirty="0">
              <a:sym typeface="+mn-ea"/>
            </a:endParaRPr>
          </a:p>
        </p:txBody>
      </p:sp>
      <p:pic>
        <p:nvPicPr>
          <p:cNvPr id="12" name="图片 11"/>
          <p:cNvPicPr>
            <a:picLocks noChangeAspect="1"/>
          </p:cNvPicPr>
          <p:nvPr>
            <p:custDataLst>
              <p:tags r:id="rId6"/>
            </p:custDataLst>
          </p:nvPr>
        </p:nvPicPr>
        <p:blipFill>
          <a:blip r:embed="rId7"/>
          <a:stretch>
            <a:fillRect/>
          </a:stretch>
        </p:blipFill>
        <p:spPr>
          <a:xfrm>
            <a:off x="4442460" y="1873885"/>
            <a:ext cx="4397375" cy="3609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customer-System-Core"/>
          <p:cNvPicPr>
            <a:picLocks noChangeAspect="1"/>
          </p:cNvPicPr>
          <p:nvPr/>
        </p:nvPicPr>
        <p:blipFill>
          <a:blip r:embed="rId1"/>
          <a:stretch>
            <a:fillRect/>
          </a:stretch>
        </p:blipFill>
        <p:spPr>
          <a:xfrm>
            <a:off x="4513580" y="1664335"/>
            <a:ext cx="4368165" cy="4142740"/>
          </a:xfrm>
          <a:prstGeom prst="rect">
            <a:avLst/>
          </a:prstGeom>
        </p:spPr>
      </p:pic>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6/7</a:t>
            </a:r>
            <a:endParaRPr kumimoji="1" lang="zh-CN" altLang="en-US" sz="2665"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28295" y="1031875"/>
            <a:ext cx="4572000" cy="598170"/>
          </a:xfrm>
          <a:prstGeom prst="rect">
            <a:avLst/>
          </a:prstGeom>
          <a:noFill/>
        </p:spPr>
        <p:txBody>
          <a:bodyPr wrap="square" rtlCol="0" anchor="t">
            <a:noAutofit/>
          </a:bodyPr>
          <a:p>
            <a:pPr indent="0" fontAlgn="t">
              <a:lnSpc>
                <a:spcPct val="150000"/>
              </a:lnSpc>
              <a:spcBef>
                <a:spcPts val="0"/>
              </a:spcBef>
              <a:buClrTx/>
              <a:buSzTx/>
              <a:buNone/>
            </a:pPr>
            <a:r>
              <a:rPr kumimoji="1" lang="zh-CN" altLang="en-US" sz="2800" b="1" dirty="0">
                <a:sym typeface="+mn-ea"/>
              </a:rPr>
              <a:t>面向对象编程</a:t>
            </a:r>
            <a:endParaRPr kumimoji="1" lang="zh-CN" altLang="en-US" sz="2800" b="1" dirty="0">
              <a:sym typeface="+mn-ea"/>
            </a:endParaRPr>
          </a:p>
        </p:txBody>
      </p:sp>
      <p:sp>
        <p:nvSpPr>
          <p:cNvPr id="8" name="文本框 7"/>
          <p:cNvSpPr txBox="1"/>
          <p:nvPr/>
        </p:nvSpPr>
        <p:spPr>
          <a:xfrm>
            <a:off x="328295" y="1879600"/>
            <a:ext cx="4302125" cy="3799840"/>
          </a:xfrm>
          <a:prstGeom prst="rect">
            <a:avLst/>
          </a:prstGeom>
          <a:noFill/>
        </p:spPr>
        <p:txBody>
          <a:bodyPr wrap="square" rtlCol="0" anchor="t">
            <a:spAutoFit/>
          </a:bodyPr>
          <a:p>
            <a:pPr>
              <a:lnSpc>
                <a:spcPct val="150000"/>
              </a:lnSpc>
              <a:spcBef>
                <a:spcPts val="1000"/>
              </a:spcBef>
              <a:buClrTx/>
              <a:buSzTx/>
              <a:buFont typeface="Arial" panose="020B0604020202020204" pitchFamily="34" charset="0"/>
            </a:pPr>
            <a:r>
              <a:rPr lang="en-US" altLang="zh-CN" sz="2400" b="1" dirty="0">
                <a:sym typeface="+mn-ea"/>
              </a:rPr>
              <a:t>3</a:t>
            </a:r>
            <a:r>
              <a:rPr lang="zh-CN" altLang="en-US" sz="2400" b="1" dirty="0">
                <a:sym typeface="+mn-ea"/>
              </a:rPr>
              <a:t>、</a:t>
            </a:r>
            <a:r>
              <a:rPr kumimoji="1" lang="en-US" altLang="zh-CN" sz="2400" b="1" dirty="0">
                <a:sym typeface="+mn-ea"/>
              </a:rPr>
              <a:t>提升</a:t>
            </a:r>
            <a:r>
              <a:rPr kumimoji="1" lang="zh-CN" altLang="en-US" sz="2400" b="1" dirty="0">
                <a:sym typeface="+mn-ea"/>
              </a:rPr>
              <a:t>软件</a:t>
            </a:r>
            <a:r>
              <a:rPr kumimoji="1" lang="en-US" altLang="zh-CN" sz="2400" b="1" dirty="0">
                <a:sym typeface="+mn-ea"/>
              </a:rPr>
              <a:t>设计效率</a:t>
            </a:r>
            <a:endParaRPr kumimoji="1" lang="en-US" altLang="zh-CN" sz="2400" b="1" dirty="0"/>
          </a:p>
          <a:p>
            <a:pPr marL="342900" lvl="1" indent="-342900" algn="l" eaLnBrk="1" hangingPunct="1">
              <a:lnSpc>
                <a:spcPct val="150000"/>
              </a:lnSpc>
              <a:spcBef>
                <a:spcPts val="1000"/>
              </a:spcBef>
              <a:buClrTx/>
              <a:buSzTx/>
              <a:buFont typeface="Arial" panose="020B0604020202020204" pitchFamily="34" charset="0"/>
              <a:buChar char="•"/>
            </a:pPr>
            <a:r>
              <a:rPr kumimoji="1" lang="en-US" altLang="zh-CN" sz="2400" b="1" dirty="0">
                <a:sym typeface="+mn-ea"/>
              </a:rPr>
              <a:t>用面向对象技术，</a:t>
            </a:r>
            <a:r>
              <a:rPr kumimoji="1" lang="en-US" altLang="zh-CN" sz="2400" b="1" dirty="0">
                <a:solidFill>
                  <a:srgbClr val="034DA0"/>
                </a:solidFill>
                <a:sym typeface="+mn-ea"/>
              </a:rPr>
              <a:t>容易形成</a:t>
            </a:r>
            <a:r>
              <a:rPr kumimoji="1" lang="en-US" altLang="zh-CN" sz="2400" b="1" dirty="0">
                <a:sym typeface="+mn-ea"/>
              </a:rPr>
              <a:t>真实世界问题域的</a:t>
            </a:r>
            <a:r>
              <a:rPr kumimoji="1" lang="en-US" altLang="zh-CN" sz="2400" b="1" dirty="0">
                <a:solidFill>
                  <a:srgbClr val="034DA0"/>
                </a:solidFill>
                <a:sym typeface="+mn-ea"/>
              </a:rPr>
              <a:t>抽象模型</a:t>
            </a:r>
            <a:endParaRPr kumimoji="1" lang="en-US" altLang="zh-CN" sz="2400" b="1" dirty="0">
              <a:sym typeface="+mn-ea"/>
            </a:endParaRPr>
          </a:p>
          <a:p>
            <a:pPr marL="800100" lvl="2" indent="-342900" algn="l" eaLnBrk="1" hangingPunct="1">
              <a:lnSpc>
                <a:spcPct val="150000"/>
              </a:lnSpc>
              <a:spcBef>
                <a:spcPts val="1000"/>
              </a:spcBef>
              <a:buClrTx/>
              <a:buSzTx/>
              <a:buFont typeface="Arial" panose="020B0604020202020204" pitchFamily="34" charset="0"/>
              <a:buChar char="•"/>
            </a:pPr>
            <a:r>
              <a:rPr kumimoji="1" lang="en-US" altLang="zh-CN" sz="2400" b="1" dirty="0">
                <a:solidFill>
                  <a:srgbClr val="FF0000"/>
                </a:solidFill>
                <a:sym typeface="+mn-ea"/>
              </a:rPr>
              <a:t>对象及对象之间的关系</a:t>
            </a:r>
            <a:r>
              <a:rPr kumimoji="1" lang="zh-CN" altLang="en-US" sz="2400" b="1" dirty="0">
                <a:sym typeface="+mn-ea"/>
              </a:rPr>
              <a:t>直接来自</a:t>
            </a:r>
            <a:r>
              <a:rPr kumimoji="1" lang="en-US" altLang="zh-CN" sz="2400" b="1" dirty="0">
                <a:sym typeface="+mn-ea"/>
              </a:rPr>
              <a:t>需求描述</a:t>
            </a:r>
            <a:endParaRPr kumimoji="1" lang="en-US" altLang="zh-CN" sz="2400" b="1" dirty="0">
              <a:sym typeface="+mn-ea"/>
            </a:endParaRPr>
          </a:p>
          <a:p>
            <a:pPr marL="800100" lvl="2" indent="-342900" algn="l" eaLnBrk="1" hangingPunct="1">
              <a:lnSpc>
                <a:spcPct val="150000"/>
              </a:lnSpc>
              <a:spcBef>
                <a:spcPts val="1000"/>
              </a:spcBef>
              <a:buClrTx/>
              <a:buSzTx/>
              <a:buFont typeface="Arial" panose="020B0604020202020204" pitchFamily="34" charset="0"/>
              <a:buChar char="•"/>
            </a:pPr>
            <a:r>
              <a:rPr kumimoji="1" lang="zh-CN" altLang="en-US" sz="2400" b="1" dirty="0">
                <a:sym typeface="+mn-ea"/>
              </a:rPr>
              <a:t>下页举例</a:t>
            </a:r>
            <a:endParaRPr kumimoji="1" lang="zh-CN" altLang="en-US" sz="2400" b="1" dirty="0">
              <a:sym typeface="+mn-ea"/>
            </a:endParaRPr>
          </a:p>
        </p:txBody>
      </p:sp>
      <p:grpSp>
        <p:nvGrpSpPr>
          <p:cNvPr id="21" name="组合 20"/>
          <p:cNvGrpSpPr/>
          <p:nvPr/>
        </p:nvGrpSpPr>
        <p:grpSpPr>
          <a:xfrm>
            <a:off x="4853940" y="1485900"/>
            <a:ext cx="3721100" cy="3578860"/>
            <a:chOff x="7644" y="2340"/>
            <a:chExt cx="5860" cy="5636"/>
          </a:xfrm>
        </p:grpSpPr>
        <mc:AlternateContent xmlns:mc="http://schemas.openxmlformats.org/markup-compatibility/2006" xmlns:p14="http://schemas.microsoft.com/office/powerpoint/2010/main">
          <mc:Choice Requires="p14">
            <p:contentPart r:id="rId7" p14:bwMode="auto">
              <p14:nvContentPartPr>
                <p14:cNvPr id="12" name="墨迹 11"/>
                <p14:cNvContentPartPr/>
                <p14:nvPr/>
              </p14:nvContentPartPr>
              <p14:xfrm>
                <a:off x="10687" y="2340"/>
                <a:ext cx="968" cy="680"/>
              </p14:xfrm>
            </p:contentPart>
          </mc:Choice>
          <mc:Fallback xmlns="">
            <p:pic>
              <p:nvPicPr>
                <p:cNvPr id="12" name="墨迹 11"/>
              </p:nvPicPr>
              <p:blipFill>
                <a:blip r:embed="rId8"/>
              </p:blipFill>
              <p:spPr>
                <a:xfrm>
                  <a:off x="10687" y="2340"/>
                  <a:ext cx="968" cy="6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4" name="墨迹 13"/>
                <p14:cNvContentPartPr/>
                <p14:nvPr/>
              </p14:nvContentPartPr>
              <p14:xfrm>
                <a:off x="7644" y="4213"/>
                <a:ext cx="2019" cy="590"/>
              </p14:xfrm>
            </p:contentPart>
          </mc:Choice>
          <mc:Fallback xmlns="">
            <p:pic>
              <p:nvPicPr>
                <p:cNvPr id="14" name="墨迹 13"/>
              </p:nvPicPr>
              <p:blipFill>
                <a:blip r:embed="rId10"/>
              </p:blipFill>
              <p:spPr>
                <a:xfrm>
                  <a:off x="7644" y="4213"/>
                  <a:ext cx="2019" cy="59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5" name="墨迹 14"/>
                <p14:cNvContentPartPr/>
                <p14:nvPr/>
              </p14:nvContentPartPr>
              <p14:xfrm>
                <a:off x="11610" y="4089"/>
                <a:ext cx="1895" cy="669"/>
              </p14:xfrm>
            </p:contentPart>
          </mc:Choice>
          <mc:Fallback xmlns="">
            <p:pic>
              <p:nvPicPr>
                <p:cNvPr id="15" name="墨迹 14"/>
              </p:nvPicPr>
              <p:blipFill>
                <a:blip r:embed="rId12"/>
              </p:blipFill>
              <p:spPr>
                <a:xfrm>
                  <a:off x="11610" y="4089"/>
                  <a:ext cx="1895" cy="669"/>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6" name="墨迹 15"/>
                <p14:cNvContentPartPr/>
                <p14:nvPr/>
              </p14:nvContentPartPr>
              <p14:xfrm>
                <a:off x="7976" y="7616"/>
                <a:ext cx="1417" cy="360"/>
              </p14:xfrm>
            </p:contentPart>
          </mc:Choice>
          <mc:Fallback xmlns="">
            <p:pic>
              <p:nvPicPr>
                <p:cNvPr id="16" name="墨迹 15"/>
              </p:nvPicPr>
              <p:blipFill>
                <a:blip r:embed="rId14"/>
              </p:blipFill>
              <p:spPr>
                <a:xfrm>
                  <a:off x="7976" y="7616"/>
                  <a:ext cx="1417"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7" name="墨迹 16"/>
                <p14:cNvContentPartPr/>
                <p14:nvPr/>
              </p14:nvContentPartPr>
              <p14:xfrm>
                <a:off x="12240" y="5917"/>
                <a:ext cx="821" cy="298"/>
              </p14:xfrm>
            </p:contentPart>
          </mc:Choice>
          <mc:Fallback xmlns="">
            <p:pic>
              <p:nvPicPr>
                <p:cNvPr id="17" name="墨迹 16"/>
              </p:nvPicPr>
              <p:blipFill>
                <a:blip r:embed="rId16"/>
              </p:blipFill>
              <p:spPr>
                <a:xfrm>
                  <a:off x="12240" y="5917"/>
                  <a:ext cx="821" cy="298"/>
                </a:xfrm>
                <a:prstGeom prst="rect"/>
              </p:spPr>
            </p:pic>
          </mc:Fallback>
        </mc:AlternateContent>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fontScale="90000"/>
          </a:bodyPr>
          <a:lstStyle/>
          <a:p>
            <a:r>
              <a:rPr kumimoji="1" lang="en-US" altLang="zh-CN" dirty="0">
                <a:solidFill>
                  <a:schemeClr val="bg1"/>
                </a:solidFill>
              </a:rPr>
              <a:t>1.1.1  </a:t>
            </a:r>
            <a:r>
              <a:rPr kumimoji="1" lang="zh-CN" altLang="en-US" dirty="0">
                <a:solidFill>
                  <a:schemeClr val="bg1"/>
                </a:solidFill>
              </a:rPr>
              <a:t>面向对象与面向过程编程</a:t>
            </a:r>
            <a:r>
              <a:rPr kumimoji="1" lang="en-US" altLang="zh-CN" sz="2665" dirty="0">
                <a:solidFill>
                  <a:schemeClr val="bg1"/>
                </a:solidFill>
                <a:sym typeface="+mn-ea"/>
              </a:rPr>
              <a:t>7/7</a:t>
            </a:r>
            <a:endParaRPr kumimoji="1" lang="zh-CN" altLang="en-US" sz="2665"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354965" y="1166495"/>
            <a:ext cx="8362950" cy="1892935"/>
          </a:xfrm>
          <a:prstGeom prst="rect">
            <a:avLst/>
          </a:prstGeom>
          <a:noFill/>
        </p:spPr>
        <p:txBody>
          <a:bodyPr wrap="square" rtlCol="0" anchor="t">
            <a:noAutofit/>
          </a:bodyPr>
          <a:p>
            <a:pPr marL="0" lvl="2" indent="-394970" algn="l" fontAlgn="auto">
              <a:lnSpc>
                <a:spcPct val="120000"/>
              </a:lnSpc>
              <a:spcBef>
                <a:spcPts val="0"/>
              </a:spcBef>
              <a:spcAft>
                <a:spcPts val="0"/>
              </a:spcAft>
            </a:pPr>
            <a:r>
              <a:rPr kumimoji="1" lang="en-US" altLang="zh-CN" sz="2800" b="1" dirty="0">
                <a:solidFill>
                  <a:srgbClr val="034DA0"/>
                </a:solidFill>
                <a:sym typeface="+mn-ea"/>
              </a:rPr>
              <a:t>需求</a:t>
            </a:r>
            <a:r>
              <a:rPr kumimoji="1" lang="en-US" altLang="zh-CN" sz="2400" b="1" dirty="0">
                <a:sym typeface="+mn-ea"/>
              </a:rPr>
              <a:t>：</a:t>
            </a:r>
            <a:r>
              <a:rPr kumimoji="1" lang="en-US" altLang="zh-CN" sz="2200" b="1" dirty="0">
                <a:sym typeface="+mn-ea"/>
              </a:rPr>
              <a:t>银行业务员需要</a:t>
            </a:r>
            <a:r>
              <a:rPr kumimoji="1" lang="en-US" altLang="zh-CN" sz="2200" b="1" dirty="0">
                <a:solidFill>
                  <a:schemeClr val="accent1"/>
                </a:solidFill>
                <a:sym typeface="+mn-ea"/>
              </a:rPr>
              <a:t>顾客信息(姓名和身份证号等)</a:t>
            </a:r>
            <a:r>
              <a:rPr kumimoji="1" lang="en-US" altLang="zh-CN" sz="2200" b="1" dirty="0">
                <a:sym typeface="+mn-ea"/>
              </a:rPr>
              <a:t> 和</a:t>
            </a:r>
            <a:r>
              <a:rPr kumimoji="1" lang="en-US" altLang="zh-CN" sz="2200" b="1" dirty="0">
                <a:solidFill>
                  <a:srgbClr val="7030A0"/>
                </a:solidFill>
                <a:sym typeface="+mn-ea"/>
              </a:rPr>
              <a:t>他</a:t>
            </a:r>
            <a:r>
              <a:rPr kumimoji="1" lang="zh-CN" altLang="en-US" sz="2200" b="1" dirty="0">
                <a:solidFill>
                  <a:srgbClr val="7030A0"/>
                </a:solidFill>
                <a:sym typeface="+mn-ea"/>
              </a:rPr>
              <a:t>的</a:t>
            </a:r>
            <a:r>
              <a:rPr kumimoji="1" lang="en-US" altLang="zh-CN" sz="2200" b="1" dirty="0">
                <a:solidFill>
                  <a:schemeClr val="accent1"/>
                </a:solidFill>
                <a:sym typeface="+mn-ea"/>
              </a:rPr>
              <a:t>帐户信息(密码和余额等)</a:t>
            </a:r>
            <a:r>
              <a:rPr kumimoji="1" lang="en-US" altLang="zh-CN" sz="2200" b="1" dirty="0">
                <a:sym typeface="+mn-ea"/>
              </a:rPr>
              <a:t>，以便确定顾客是否有支取一定金额的权利</a:t>
            </a:r>
            <a:endParaRPr kumimoji="1" lang="en-US" altLang="zh-CN" sz="2200" b="1" dirty="0"/>
          </a:p>
          <a:p>
            <a:pPr marL="0" lvl="2" indent="-394970" algn="l" fontAlgn="auto">
              <a:lnSpc>
                <a:spcPct val="120000"/>
              </a:lnSpc>
              <a:spcBef>
                <a:spcPts val="0"/>
              </a:spcBef>
              <a:spcAft>
                <a:spcPts val="0"/>
              </a:spcAft>
            </a:pPr>
            <a:r>
              <a:rPr kumimoji="1" lang="en-US" altLang="zh-CN" sz="2800" b="1" dirty="0">
                <a:solidFill>
                  <a:srgbClr val="034DA0"/>
                </a:solidFill>
                <a:sym typeface="+mn-ea"/>
              </a:rPr>
              <a:t>设计</a:t>
            </a:r>
            <a:r>
              <a:rPr kumimoji="1" lang="en-US" altLang="zh-CN" sz="2400" b="1" dirty="0">
                <a:sym typeface="+mn-ea"/>
              </a:rPr>
              <a:t>：</a:t>
            </a:r>
            <a:r>
              <a:rPr kumimoji="1" lang="en-US" altLang="zh-CN" sz="2200" b="1" dirty="0">
                <a:sym typeface="+mn-ea"/>
              </a:rPr>
              <a:t>用面向对象技术，对问题域中出现的</a:t>
            </a:r>
            <a:r>
              <a:rPr kumimoji="1" lang="en-US" altLang="zh-CN" sz="2200" b="1" dirty="0">
                <a:solidFill>
                  <a:schemeClr val="accent1"/>
                </a:solidFill>
                <a:sym typeface="+mn-ea"/>
              </a:rPr>
              <a:t>顾客</a:t>
            </a:r>
            <a:r>
              <a:rPr kumimoji="1" lang="en-US" altLang="zh-CN" sz="2200" b="1" dirty="0">
                <a:sym typeface="+mn-ea"/>
              </a:rPr>
              <a:t>和</a:t>
            </a:r>
            <a:r>
              <a:rPr kumimoji="1" lang="en-US" altLang="zh-CN" sz="2200" b="1" dirty="0">
                <a:solidFill>
                  <a:schemeClr val="accent1"/>
                </a:solidFill>
                <a:sym typeface="+mn-ea"/>
              </a:rPr>
              <a:t>账户</a:t>
            </a:r>
            <a:r>
              <a:rPr kumimoji="1" lang="en-US" altLang="zh-CN" sz="2200" b="1" dirty="0">
                <a:sym typeface="+mn-ea"/>
              </a:rPr>
              <a:t>都视为软件对象，它们之间交互完成功能</a:t>
            </a:r>
            <a:endParaRPr kumimoji="1" lang="en-US" altLang="zh-CN" sz="2200" b="1" dirty="0">
              <a:sym typeface="+mn-ea"/>
            </a:endParaRPr>
          </a:p>
        </p:txBody>
      </p:sp>
      <p:grpSp>
        <p:nvGrpSpPr>
          <p:cNvPr id="12" name="组合 8"/>
          <p:cNvGrpSpPr/>
          <p:nvPr/>
        </p:nvGrpSpPr>
        <p:grpSpPr>
          <a:xfrm>
            <a:off x="5032375" y="3798888"/>
            <a:ext cx="1203325" cy="625475"/>
            <a:chOff x="4305300" y="2436813"/>
            <a:chExt cx="1203325" cy="625475"/>
          </a:xfrm>
        </p:grpSpPr>
        <p:sp>
          <p:nvSpPr>
            <p:cNvPr id="14" name="Line 4"/>
            <p:cNvSpPr/>
            <p:nvPr>
              <p:custDataLst>
                <p:tags r:id="rId6"/>
              </p:custDataLst>
            </p:nvPr>
          </p:nvSpPr>
          <p:spPr>
            <a:xfrm>
              <a:off x="4305300" y="3048000"/>
              <a:ext cx="1158875" cy="14288"/>
            </a:xfrm>
            <a:prstGeom prst="line">
              <a:avLst/>
            </a:prstGeom>
            <a:ln w="9525" cap="flat" cmpd="sng">
              <a:solidFill>
                <a:schemeClr val="tx1"/>
              </a:solidFill>
              <a:prstDash val="solid"/>
              <a:round/>
              <a:headEnd type="triangle" w="med" len="med"/>
              <a:tailEnd type="triangle" w="med" len="med"/>
            </a:ln>
          </p:spPr>
        </p:sp>
        <p:sp>
          <p:nvSpPr>
            <p:cNvPr id="15" name="Rectangle 5"/>
            <p:cNvSpPr/>
            <p:nvPr>
              <p:custDataLst>
                <p:tags r:id="rId7"/>
              </p:custDataLst>
            </p:nvPr>
          </p:nvSpPr>
          <p:spPr>
            <a:xfrm>
              <a:off x="4445000" y="2436813"/>
              <a:ext cx="1063625" cy="460375"/>
            </a:xfrm>
            <a:prstGeom prst="rect">
              <a:avLst/>
            </a:prstGeom>
            <a:noFill/>
            <a:ln w="9525">
              <a:noFill/>
            </a:ln>
          </p:spPr>
          <p:txBody>
            <a:bodyPr anchor="t" anchorCtr="0">
              <a:spAutoFit/>
            </a:bodyPr>
            <a:p>
              <a:r>
                <a:rPr lang="zh-CN" altLang="en-US" sz="2400" b="1" dirty="0">
                  <a:solidFill>
                    <a:srgbClr val="000000"/>
                  </a:solidFill>
                  <a:latin typeface="等线" panose="02010600030101010101" charset="-122"/>
                  <a:ea typeface="等线" panose="02010600030101010101" charset="-122"/>
                </a:rPr>
                <a:t>消息</a:t>
              </a:r>
              <a:endParaRPr lang="zh-CN" altLang="en-US" sz="2400" b="1" dirty="0">
                <a:solidFill>
                  <a:srgbClr val="000000"/>
                </a:solidFill>
                <a:latin typeface="等线" panose="02010600030101010101" charset="-122"/>
                <a:ea typeface="等线" panose="02010600030101010101" charset="-122"/>
              </a:endParaRPr>
            </a:p>
          </p:txBody>
        </p:sp>
      </p:grpSp>
      <p:grpSp>
        <p:nvGrpSpPr>
          <p:cNvPr id="17" name="组合 6"/>
          <p:cNvGrpSpPr/>
          <p:nvPr/>
        </p:nvGrpSpPr>
        <p:grpSpPr>
          <a:xfrm>
            <a:off x="3222625" y="3413426"/>
            <a:ext cx="1825625" cy="2649220"/>
            <a:chOff x="2495550" y="2051062"/>
            <a:chExt cx="1825625" cy="2649932"/>
          </a:xfrm>
        </p:grpSpPr>
        <p:sp>
          <p:nvSpPr>
            <p:cNvPr id="18" name="Rectangle 2"/>
            <p:cNvSpPr/>
            <p:nvPr>
              <p:custDataLst>
                <p:tags r:id="rId8"/>
              </p:custDataLst>
            </p:nvPr>
          </p:nvSpPr>
          <p:spPr>
            <a:xfrm>
              <a:off x="2495550" y="2051062"/>
              <a:ext cx="1809750" cy="2649932"/>
            </a:xfrm>
            <a:prstGeom prst="rect">
              <a:avLst/>
            </a:prstGeom>
            <a:noFill/>
            <a:ln w="28575" cap="flat" cmpd="sng">
              <a:solidFill>
                <a:schemeClr val="tx1"/>
              </a:solidFill>
              <a:prstDash val="solid"/>
              <a:miter/>
              <a:headEnd type="none" w="med" len="med"/>
              <a:tailEnd type="none" w="med" len="med"/>
            </a:ln>
          </p:spPr>
          <p:txBody>
            <a:bodyPr wrap="none" anchor="ctr" anchorCtr="0"/>
            <a:p>
              <a:pPr>
                <a:lnSpc>
                  <a:spcPct val="100000"/>
                </a:lnSpc>
                <a:spcBef>
                  <a:spcPts val="0"/>
                </a:spcBef>
                <a:spcAft>
                  <a:spcPts val="0"/>
                </a:spcAft>
              </a:pPr>
              <a:r>
                <a:rPr lang="zh-CN" altLang="en-US" sz="2400" b="1" dirty="0">
                  <a:solidFill>
                    <a:srgbClr val="FF0066"/>
                  </a:solidFill>
                  <a:latin typeface="等线" panose="02010600030101010101" charset="-122"/>
                  <a:ea typeface="等线" panose="02010600030101010101" charset="-122"/>
                  <a:cs typeface="等线" panose="02010600030101010101" charset="-122"/>
                  <a:hlinkClick r:id="rId9" action="ppaction://hlinksldjump"/>
                </a:rPr>
                <a:t>顾客</a:t>
              </a:r>
              <a:r>
                <a:rPr lang="zh-CN" altLang="en-US" sz="2400" b="1" dirty="0">
                  <a:solidFill>
                    <a:srgbClr val="000000"/>
                  </a:solidFill>
                  <a:latin typeface="等线" panose="02010600030101010101" charset="-122"/>
                  <a:ea typeface="等线" panose="02010600030101010101" charset="-122"/>
                  <a:cs typeface="等线" panose="02010600030101010101" charset="-122"/>
                  <a:hlinkClick r:id="rId9" action="ppaction://hlinksldjump"/>
                </a:rPr>
                <a:t>对象</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zh-CN" altLang="en-US" sz="2400" b="1" dirty="0">
                  <a:solidFill>
                    <a:srgbClr val="000000"/>
                  </a:solidFill>
                  <a:latin typeface="等线" panose="02010600030101010101" charset="-122"/>
                  <a:ea typeface="等线" panose="02010600030101010101" charset="-122"/>
                  <a:cs typeface="等线" panose="02010600030101010101" charset="-122"/>
                </a:rPr>
                <a:t>  </a:t>
              </a:r>
              <a:r>
                <a:rPr lang="zh-CN" altLang="en-US" sz="2400" b="1" dirty="0">
                  <a:solidFill>
                    <a:schemeClr val="tx1"/>
                  </a:solidFill>
                  <a:latin typeface="等线" panose="02010600030101010101" charset="-122"/>
                  <a:ea typeface="等线" panose="02010600030101010101" charset="-122"/>
                  <a:cs typeface="等线" panose="02010600030101010101" charset="-122"/>
                </a:rPr>
                <a:t> 姓名 </a:t>
              </a:r>
              <a:r>
                <a:rPr lang="zh-CN" altLang="en-US" sz="2400" b="1" dirty="0">
                  <a:solidFill>
                    <a:srgbClr val="000000"/>
                  </a:solidFill>
                  <a:latin typeface="等线" panose="02010600030101010101" charset="-122"/>
                  <a:ea typeface="等线" panose="02010600030101010101" charset="-122"/>
                  <a:cs typeface="等线" panose="02010600030101010101" charset="-122"/>
                </a:rPr>
                <a:t>  </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zh-CN" altLang="en-US" sz="2400" b="1" dirty="0">
                  <a:solidFill>
                    <a:srgbClr val="000000"/>
                  </a:solidFill>
                  <a:latin typeface="等线" panose="02010600030101010101" charset="-122"/>
                  <a:ea typeface="等线" panose="02010600030101010101" charset="-122"/>
                  <a:cs typeface="等线" panose="02010600030101010101" charset="-122"/>
                </a:rPr>
                <a:t>   </a:t>
              </a:r>
              <a:r>
                <a:rPr lang="zh-CN" altLang="en-US" sz="2400" b="1" dirty="0">
                  <a:solidFill>
                    <a:srgbClr val="FF0066"/>
                  </a:solidFill>
                  <a:latin typeface="等线" panose="02010600030101010101" charset="-122"/>
                  <a:ea typeface="等线" panose="02010600030101010101" charset="-122"/>
                  <a:cs typeface="等线" panose="02010600030101010101" charset="-122"/>
                </a:rPr>
                <a:t>账户</a:t>
              </a:r>
              <a:endParaRPr lang="zh-CN" altLang="en-US" sz="2400" b="1" dirty="0">
                <a:solidFill>
                  <a:srgbClr val="FF0066"/>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zh-CN" altLang="en-US" sz="2400" b="1" dirty="0">
                  <a:solidFill>
                    <a:srgbClr val="000000"/>
                  </a:solidFill>
                  <a:latin typeface="等线" panose="02010600030101010101" charset="-122"/>
                  <a:ea typeface="等线" panose="02010600030101010101" charset="-122"/>
                  <a:cs typeface="等线" panose="02010600030101010101" charset="-122"/>
                </a:rPr>
                <a:t>   身份证号</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r>
                <a:rPr lang="zh-CN" altLang="en-US" sz="2400" b="1" dirty="0">
                  <a:solidFill>
                    <a:srgbClr val="000000"/>
                  </a:solidFill>
                  <a:latin typeface="等线" panose="02010600030101010101" charset="-122"/>
                  <a:ea typeface="等线" panose="02010600030101010101" charset="-122"/>
                  <a:cs typeface="等线" panose="02010600030101010101" charset="-122"/>
                </a:rPr>
                <a:t>函数</a:t>
              </a:r>
              <a:r>
                <a:rPr lang="en-US" altLang="zh-CN" sz="2400" b="1" dirty="0">
                  <a:solidFill>
                    <a:srgbClr val="000000"/>
                  </a:solidFill>
                  <a:latin typeface="等线" panose="02010600030101010101" charset="-122"/>
                  <a:ea typeface="等线" panose="02010600030101010101" charset="-122"/>
                  <a:cs typeface="等线" panose="02010600030101010101" charset="-122"/>
                </a:rPr>
                <a:t>1</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p:txBody>
        </p:sp>
        <p:cxnSp>
          <p:nvCxnSpPr>
            <p:cNvPr id="20" name="直接连接符 20"/>
            <p:cNvCxnSpPr/>
            <p:nvPr>
              <p:custDataLst>
                <p:tags r:id="rId10"/>
              </p:custDataLst>
            </p:nvPr>
          </p:nvCxnSpPr>
          <p:spPr>
            <a:xfrm>
              <a:off x="2495550" y="2458457"/>
              <a:ext cx="1809750" cy="0"/>
            </a:xfrm>
            <a:prstGeom prst="line">
              <a:avLst/>
            </a:prstGeom>
            <a:ln w="28575" cap="flat" cmpd="sng">
              <a:solidFill>
                <a:schemeClr val="hlink"/>
              </a:solidFill>
              <a:prstDash val="solid"/>
              <a:round/>
              <a:headEnd type="none" w="med" len="med"/>
              <a:tailEnd type="none" w="med" len="med"/>
            </a:ln>
          </p:spPr>
        </p:cxnSp>
        <p:cxnSp>
          <p:nvCxnSpPr>
            <p:cNvPr id="21" name="直接连接符 23"/>
            <p:cNvCxnSpPr/>
            <p:nvPr>
              <p:custDataLst>
                <p:tags r:id="rId11"/>
              </p:custDataLst>
            </p:nvPr>
          </p:nvCxnSpPr>
          <p:spPr>
            <a:xfrm>
              <a:off x="2511425" y="3896615"/>
              <a:ext cx="1809750" cy="0"/>
            </a:xfrm>
            <a:prstGeom prst="line">
              <a:avLst/>
            </a:prstGeom>
            <a:ln w="28575" cap="flat" cmpd="sng">
              <a:solidFill>
                <a:schemeClr val="hlink"/>
              </a:solidFill>
              <a:prstDash val="solid"/>
              <a:round/>
              <a:headEnd type="none" w="med" len="med"/>
              <a:tailEnd type="none" w="med" len="med"/>
            </a:ln>
          </p:spPr>
        </p:cxnSp>
      </p:grpSp>
      <p:grpSp>
        <p:nvGrpSpPr>
          <p:cNvPr id="22" name="组合 7"/>
          <p:cNvGrpSpPr/>
          <p:nvPr/>
        </p:nvGrpSpPr>
        <p:grpSpPr>
          <a:xfrm>
            <a:off x="6162675" y="3428048"/>
            <a:ext cx="1916113" cy="2635250"/>
            <a:chOff x="5435600" y="1700213"/>
            <a:chExt cx="1915466" cy="2635250"/>
          </a:xfrm>
        </p:grpSpPr>
        <p:sp>
          <p:nvSpPr>
            <p:cNvPr id="23" name="Rectangle 3"/>
            <p:cNvSpPr/>
            <p:nvPr>
              <p:custDataLst>
                <p:tags r:id="rId12"/>
              </p:custDataLst>
            </p:nvPr>
          </p:nvSpPr>
          <p:spPr>
            <a:xfrm>
              <a:off x="5435600" y="1700213"/>
              <a:ext cx="1905000" cy="2635250"/>
            </a:xfrm>
            <a:prstGeom prst="rect">
              <a:avLst/>
            </a:prstGeom>
            <a:noFill/>
            <a:ln w="28575" cap="flat" cmpd="sng">
              <a:solidFill>
                <a:schemeClr val="tx1"/>
              </a:solidFill>
              <a:prstDash val="solid"/>
              <a:miter/>
              <a:headEnd type="none" w="med" len="med"/>
              <a:tailEnd type="none" w="med" len="med"/>
            </a:ln>
          </p:spPr>
          <p:txBody>
            <a:bodyPr wrap="none" anchor="ctr" anchorCtr="0"/>
            <a:p>
              <a:pPr>
                <a:lnSpc>
                  <a:spcPct val="100000"/>
                </a:lnSpc>
              </a:pPr>
              <a:r>
                <a:rPr lang="zh-CN" altLang="en-US" sz="2400" b="1" dirty="0">
                  <a:solidFill>
                    <a:srgbClr val="FF0066"/>
                  </a:solidFill>
                  <a:latin typeface="等线" panose="02010600030101010101" charset="-122"/>
                  <a:ea typeface="等线" panose="02010600030101010101" charset="-122"/>
                  <a:cs typeface="等线" panose="02010600030101010101" charset="-122"/>
                  <a:hlinkClick r:id="rId9" action="ppaction://hlinksldjump"/>
                </a:rPr>
                <a:t>账户</a:t>
              </a:r>
              <a:r>
                <a:rPr lang="zh-CN" altLang="en-US" sz="2400" b="1" dirty="0">
                  <a:solidFill>
                    <a:srgbClr val="000000"/>
                  </a:solidFill>
                  <a:latin typeface="等线" panose="02010600030101010101" charset="-122"/>
                  <a:ea typeface="等线" panose="02010600030101010101" charset="-122"/>
                  <a:cs typeface="等线" panose="02010600030101010101" charset="-122"/>
                  <a:hlinkClick r:id="rId9" action="ppaction://hlinksldjump"/>
                </a:rPr>
                <a:t>对象</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pPr>
              <a:r>
                <a:rPr lang="zh-CN" altLang="en-US" sz="2400" b="1" dirty="0">
                  <a:solidFill>
                    <a:srgbClr val="000000"/>
                  </a:solidFill>
                  <a:latin typeface="等线" panose="02010600030101010101" charset="-122"/>
                  <a:ea typeface="等线" panose="02010600030101010101" charset="-122"/>
                  <a:cs typeface="等线" panose="02010600030101010101" charset="-122"/>
                </a:rPr>
                <a:t>变量</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pPr>
              <a:r>
                <a:rPr lang="zh-CN" altLang="en-US" sz="2400" b="1" dirty="0">
                  <a:solidFill>
                    <a:srgbClr val="000000"/>
                  </a:solidFill>
                  <a:latin typeface="等线" panose="02010600030101010101" charset="-122"/>
                  <a:ea typeface="等线" panose="02010600030101010101" charset="-122"/>
                  <a:cs typeface="等线" panose="02010600030101010101" charset="-122"/>
                </a:rPr>
                <a:t>   </a:t>
              </a:r>
              <a:r>
                <a:rPr lang="zh-CN" altLang="en-US" sz="2400" b="1" dirty="0">
                  <a:solidFill>
                    <a:schemeClr val="tx1"/>
                  </a:solidFill>
                  <a:latin typeface="等线" panose="02010600030101010101" charset="-122"/>
                  <a:ea typeface="等线" panose="02010600030101010101" charset="-122"/>
                  <a:cs typeface="等线" panose="02010600030101010101" charset="-122"/>
                </a:rPr>
                <a:t>密码</a:t>
              </a:r>
              <a:endParaRPr lang="zh-CN" altLang="en-US" sz="2400" b="1" dirty="0">
                <a:solidFill>
                  <a:schemeClr val="tx1"/>
                </a:solidFill>
                <a:latin typeface="等线" panose="02010600030101010101" charset="-122"/>
                <a:ea typeface="等线" panose="02010600030101010101" charset="-122"/>
                <a:cs typeface="等线" panose="02010600030101010101" charset="-122"/>
              </a:endParaRPr>
            </a:p>
            <a:p>
              <a:pPr>
                <a:lnSpc>
                  <a:spcPct val="100000"/>
                </a:lnSpc>
              </a:pPr>
              <a:r>
                <a:rPr lang="zh-CN" altLang="en-US" sz="2400" b="1" dirty="0">
                  <a:solidFill>
                    <a:schemeClr val="tx1"/>
                  </a:solidFill>
                  <a:latin typeface="等线" panose="02010600030101010101" charset="-122"/>
                  <a:ea typeface="等线" panose="02010600030101010101" charset="-122"/>
                  <a:cs typeface="等线" panose="02010600030101010101" charset="-122"/>
                </a:rPr>
                <a:t>   账户余额</a:t>
              </a:r>
              <a:endParaRPr lang="zh-CN" altLang="en-US" sz="2400" b="1" dirty="0">
                <a:solidFill>
                  <a:srgbClr val="FF0066"/>
                </a:solidFill>
                <a:latin typeface="等线" panose="02010600030101010101" charset="-122"/>
                <a:ea typeface="等线" panose="02010600030101010101" charset="-122"/>
                <a:cs typeface="等线" panose="02010600030101010101" charset="-122"/>
              </a:endParaRPr>
            </a:p>
            <a:p>
              <a:pPr>
                <a:lnSpc>
                  <a:spcPct val="100000"/>
                </a:lnSpc>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r>
                <a:rPr lang="zh-CN" altLang="en-US" sz="2400" b="1" dirty="0">
                  <a:solidFill>
                    <a:srgbClr val="000000"/>
                  </a:solidFill>
                  <a:latin typeface="等线" panose="02010600030101010101" charset="-122"/>
                  <a:ea typeface="等线" panose="02010600030101010101" charset="-122"/>
                  <a:cs typeface="等线" panose="02010600030101010101" charset="-122"/>
                </a:rPr>
                <a:t>函数</a:t>
              </a:r>
              <a:r>
                <a:rPr lang="en-US" altLang="zh-CN" sz="2400" b="1" dirty="0">
                  <a:solidFill>
                    <a:srgbClr val="000000"/>
                  </a:solidFill>
                  <a:latin typeface="等线" panose="02010600030101010101" charset="-122"/>
                  <a:ea typeface="等线" panose="02010600030101010101" charset="-122"/>
                  <a:cs typeface="等线" panose="02010600030101010101" charset="-122"/>
                </a:rPr>
                <a:t>1</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a:lnSpc>
                  <a:spcPct val="100000"/>
                </a:lnSpc>
                <a:spcBef>
                  <a:spcPts val="0"/>
                </a:spcBef>
                <a:spcAft>
                  <a:spcPts val="0"/>
                </a:spcAft>
              </a:pPr>
              <a:r>
                <a:rPr lang="en-US" altLang="zh-CN" sz="2400" b="1" dirty="0">
                  <a:solidFill>
                    <a:srgbClr val="000000"/>
                  </a:solidFill>
                  <a:latin typeface="等线" panose="02010600030101010101" charset="-122"/>
                  <a:ea typeface="等线" panose="02010600030101010101" charset="-122"/>
                  <a:cs typeface="等线" panose="02010600030101010101" charset="-122"/>
                </a:rPr>
                <a:t>    </a:t>
              </a:r>
              <a:r>
                <a:rPr lang="en-US" sz="2400" b="1" dirty="0">
                  <a:solidFill>
                    <a:srgbClr val="000000"/>
                  </a:solidFill>
                  <a:latin typeface="等线" panose="02010600030101010101" charset="-122"/>
                  <a:ea typeface="等线" panose="02010600030101010101" charset="-122"/>
                  <a:cs typeface="等线" panose="02010600030101010101" charset="-122"/>
                </a:rPr>
                <a:t>......</a:t>
              </a:r>
              <a:endParaRPr lang="en-US" sz="2400" b="1" dirty="0">
                <a:solidFill>
                  <a:srgbClr val="000000"/>
                </a:solidFill>
                <a:latin typeface="等线" panose="02010600030101010101" charset="-122"/>
                <a:ea typeface="等线" panose="02010600030101010101" charset="-122"/>
                <a:cs typeface="等线" panose="02010600030101010101" charset="-122"/>
              </a:endParaRPr>
            </a:p>
          </p:txBody>
        </p:sp>
        <p:cxnSp>
          <p:nvCxnSpPr>
            <p:cNvPr id="24" name="直接连接符 24"/>
            <p:cNvCxnSpPr/>
            <p:nvPr>
              <p:custDataLst>
                <p:tags r:id="rId13"/>
              </p:custDataLst>
            </p:nvPr>
          </p:nvCxnSpPr>
          <p:spPr>
            <a:xfrm>
              <a:off x="5435600" y="3534532"/>
              <a:ext cx="1915466" cy="0"/>
            </a:xfrm>
            <a:prstGeom prst="line">
              <a:avLst/>
            </a:prstGeom>
            <a:ln w="28575" cap="flat" cmpd="sng">
              <a:solidFill>
                <a:schemeClr val="hlink"/>
              </a:solidFill>
              <a:prstDash val="solid"/>
              <a:round/>
              <a:headEnd type="none" w="med" len="med"/>
              <a:tailEnd type="none" w="med" len="med"/>
            </a:ln>
          </p:spPr>
        </p:cxnSp>
        <p:cxnSp>
          <p:nvCxnSpPr>
            <p:cNvPr id="25" name="直接连接符 28"/>
            <p:cNvCxnSpPr/>
            <p:nvPr>
              <p:custDataLst>
                <p:tags r:id="rId14"/>
              </p:custDataLst>
            </p:nvPr>
          </p:nvCxnSpPr>
          <p:spPr>
            <a:xfrm>
              <a:off x="5435600" y="2107456"/>
              <a:ext cx="1915466" cy="0"/>
            </a:xfrm>
            <a:prstGeom prst="line">
              <a:avLst/>
            </a:prstGeom>
            <a:ln w="28575" cap="flat" cmpd="sng">
              <a:solidFill>
                <a:schemeClr val="hlink"/>
              </a:solidFill>
              <a:prstDash val="solid"/>
              <a:round/>
              <a:headEnd type="none" w="med" len="med"/>
              <a:tailEnd type="none" w="med" len="med"/>
            </a:ln>
          </p:spPr>
        </p:cxnSp>
      </p:grpSp>
      <p:grpSp>
        <p:nvGrpSpPr>
          <p:cNvPr id="26" name="组合 6"/>
          <p:cNvGrpSpPr/>
          <p:nvPr/>
        </p:nvGrpSpPr>
        <p:grpSpPr>
          <a:xfrm>
            <a:off x="1072198" y="3572193"/>
            <a:ext cx="2092353" cy="2459989"/>
            <a:chOff x="395288" y="2360613"/>
            <a:chExt cx="2092353" cy="2460709"/>
          </a:xfrm>
        </p:grpSpPr>
        <p:grpSp>
          <p:nvGrpSpPr>
            <p:cNvPr id="27" name="组合 9"/>
            <p:cNvGrpSpPr/>
            <p:nvPr/>
          </p:nvGrpSpPr>
          <p:grpSpPr>
            <a:xfrm>
              <a:off x="755650" y="2360613"/>
              <a:ext cx="1731991" cy="1279525"/>
              <a:chOff x="668338" y="2360613"/>
              <a:chExt cx="1905190" cy="1279525"/>
            </a:xfrm>
          </p:grpSpPr>
          <p:sp>
            <p:nvSpPr>
              <p:cNvPr id="28" name="Oval 6"/>
              <p:cNvSpPr/>
              <p:nvPr>
                <p:custDataLst>
                  <p:tags r:id="rId15"/>
                </p:custDataLst>
              </p:nvPr>
            </p:nvSpPr>
            <p:spPr>
              <a:xfrm>
                <a:off x="939800" y="2360613"/>
                <a:ext cx="514350" cy="447675"/>
              </a:xfrm>
              <a:prstGeom prst="ellipse">
                <a:avLst/>
              </a:prstGeom>
              <a:solidFill>
                <a:srgbClr val="FFCC66"/>
              </a:solidFill>
              <a:ln w="15875" cap="flat" cmpd="sng">
                <a:solidFill>
                  <a:srgbClr val="000000"/>
                </a:solidFill>
                <a:prstDash val="solid"/>
                <a:round/>
                <a:headEnd type="none" w="med" len="med"/>
                <a:tailEnd type="none" w="med" len="med"/>
              </a:ln>
            </p:spPr>
            <p:txBody>
              <a:bodyPr anchor="t" anchorCtr="0"/>
              <a:p>
                <a:pPr>
                  <a:lnSpc>
                    <a:spcPct val="75000"/>
                  </a:lnSpc>
                  <a:spcBef>
                    <a:spcPct val="20000"/>
                  </a:spcBef>
                  <a:buClr>
                    <a:schemeClr val="accent2"/>
                  </a:buClr>
                  <a:buFont typeface="Wingdings" panose="05000000000000000000" pitchFamily="2" charset="2"/>
                </a:pPr>
                <a:endParaRPr lang="zh-CN" altLang="en-US" sz="2400" b="1" dirty="0">
                  <a:latin typeface="等线" panose="02010600030101010101" charset="-122"/>
                  <a:ea typeface="等线" panose="02010600030101010101" charset="-122"/>
                </a:endParaRPr>
              </a:p>
            </p:txBody>
          </p:sp>
          <p:sp>
            <p:nvSpPr>
              <p:cNvPr id="29" name="Line 7"/>
              <p:cNvSpPr/>
              <p:nvPr>
                <p:custDataLst>
                  <p:tags r:id="rId16"/>
                </p:custDataLst>
              </p:nvPr>
            </p:nvSpPr>
            <p:spPr>
              <a:xfrm>
                <a:off x="939800" y="3046413"/>
                <a:ext cx="493713" cy="1587"/>
              </a:xfrm>
              <a:prstGeom prst="line">
                <a:avLst/>
              </a:prstGeom>
              <a:ln w="15875" cap="flat" cmpd="sng">
                <a:solidFill>
                  <a:srgbClr val="000000"/>
                </a:solidFill>
                <a:prstDash val="solid"/>
                <a:round/>
                <a:headEnd type="none" w="med" len="med"/>
                <a:tailEnd type="none" w="med" len="med"/>
              </a:ln>
            </p:spPr>
          </p:sp>
          <p:sp>
            <p:nvSpPr>
              <p:cNvPr id="30" name="Line 8"/>
              <p:cNvSpPr/>
              <p:nvPr>
                <p:custDataLst>
                  <p:tags r:id="rId17"/>
                </p:custDataLst>
              </p:nvPr>
            </p:nvSpPr>
            <p:spPr>
              <a:xfrm>
                <a:off x="1168400" y="2817813"/>
                <a:ext cx="1588" cy="427037"/>
              </a:xfrm>
              <a:prstGeom prst="line">
                <a:avLst/>
              </a:prstGeom>
              <a:ln w="15875" cap="flat" cmpd="sng">
                <a:solidFill>
                  <a:srgbClr val="000000"/>
                </a:solidFill>
                <a:prstDash val="solid"/>
                <a:round/>
                <a:headEnd type="none" w="med" len="med"/>
                <a:tailEnd type="none" w="med" len="med"/>
              </a:ln>
            </p:spPr>
          </p:sp>
          <p:sp>
            <p:nvSpPr>
              <p:cNvPr id="31" name="Line 9"/>
              <p:cNvSpPr/>
              <p:nvPr>
                <p:custDataLst>
                  <p:tags r:id="rId18"/>
                </p:custDataLst>
              </p:nvPr>
            </p:nvSpPr>
            <p:spPr>
              <a:xfrm flipH="1">
                <a:off x="668338" y="3213100"/>
                <a:ext cx="493712" cy="427038"/>
              </a:xfrm>
              <a:prstGeom prst="line">
                <a:avLst/>
              </a:prstGeom>
              <a:ln w="15875" cap="flat" cmpd="sng">
                <a:solidFill>
                  <a:srgbClr val="000000"/>
                </a:solidFill>
                <a:prstDash val="solid"/>
                <a:round/>
                <a:headEnd type="none" w="med" len="med"/>
                <a:tailEnd type="none" w="med" len="med"/>
              </a:ln>
            </p:spPr>
          </p:sp>
          <p:sp>
            <p:nvSpPr>
              <p:cNvPr id="32" name="Line 10"/>
              <p:cNvSpPr/>
              <p:nvPr>
                <p:custDataLst>
                  <p:tags r:id="rId19"/>
                </p:custDataLst>
              </p:nvPr>
            </p:nvSpPr>
            <p:spPr>
              <a:xfrm>
                <a:off x="1168400" y="3213100"/>
                <a:ext cx="492125" cy="427038"/>
              </a:xfrm>
              <a:prstGeom prst="line">
                <a:avLst/>
              </a:prstGeom>
              <a:ln w="15875" cap="flat" cmpd="sng">
                <a:solidFill>
                  <a:srgbClr val="000000"/>
                </a:solidFill>
                <a:prstDash val="solid"/>
                <a:round/>
                <a:headEnd type="none" w="med" len="med"/>
                <a:tailEnd type="none" w="med" len="med"/>
              </a:ln>
            </p:spPr>
          </p:sp>
          <p:sp>
            <p:nvSpPr>
              <p:cNvPr id="33" name="Rectangle 11"/>
              <p:cNvSpPr/>
              <p:nvPr>
                <p:custDataLst>
                  <p:tags r:id="rId20"/>
                </p:custDataLst>
              </p:nvPr>
            </p:nvSpPr>
            <p:spPr>
              <a:xfrm>
                <a:off x="1701800" y="2484438"/>
                <a:ext cx="871728" cy="460510"/>
              </a:xfrm>
              <a:prstGeom prst="rect">
                <a:avLst/>
              </a:prstGeom>
              <a:noFill/>
              <a:ln w="9525">
                <a:noFill/>
              </a:ln>
            </p:spPr>
            <p:txBody>
              <a:bodyPr wrap="none" anchor="t" anchorCtr="0">
                <a:spAutoFit/>
              </a:bodyPr>
              <a:p>
                <a:r>
                  <a:rPr lang="zh-CN" altLang="en-US" sz="2400" b="1" dirty="0">
                    <a:solidFill>
                      <a:srgbClr val="000000"/>
                    </a:solidFill>
                    <a:latin typeface="等线" panose="02010600030101010101" charset="-122"/>
                    <a:ea typeface="等线" panose="02010600030101010101" charset="-122"/>
                  </a:rPr>
                  <a:t>查询</a:t>
                </a:r>
                <a:endParaRPr lang="zh-CN" altLang="en-US" sz="2400" b="1" dirty="0">
                  <a:solidFill>
                    <a:srgbClr val="000000"/>
                  </a:solidFill>
                  <a:latin typeface="等线" panose="02010600030101010101" charset="-122"/>
                  <a:ea typeface="等线" panose="02010600030101010101" charset="-122"/>
                </a:endParaRPr>
              </a:p>
            </p:txBody>
          </p:sp>
          <p:sp>
            <p:nvSpPr>
              <p:cNvPr id="34" name="Line 12"/>
              <p:cNvSpPr/>
              <p:nvPr>
                <p:custDataLst>
                  <p:tags r:id="rId21"/>
                </p:custDataLst>
              </p:nvPr>
            </p:nvSpPr>
            <p:spPr>
              <a:xfrm>
                <a:off x="1524000" y="3122613"/>
                <a:ext cx="1047750" cy="1587"/>
              </a:xfrm>
              <a:prstGeom prst="line">
                <a:avLst/>
              </a:prstGeom>
              <a:ln w="9525" cap="flat" cmpd="sng">
                <a:solidFill>
                  <a:schemeClr val="tx1"/>
                </a:solidFill>
                <a:prstDash val="solid"/>
                <a:round/>
                <a:headEnd type="none" w="med" len="med"/>
                <a:tailEnd type="triangle" w="med" len="med"/>
              </a:ln>
            </p:spPr>
          </p:sp>
        </p:grpSp>
        <p:sp>
          <p:nvSpPr>
            <p:cNvPr id="35" name="矩形 5"/>
            <p:cNvSpPr/>
            <p:nvPr>
              <p:custDataLst>
                <p:tags r:id="rId22"/>
              </p:custDataLst>
            </p:nvPr>
          </p:nvSpPr>
          <p:spPr>
            <a:xfrm>
              <a:off x="395288" y="3622091"/>
              <a:ext cx="1802530" cy="1199231"/>
            </a:xfrm>
            <a:prstGeom prst="rect">
              <a:avLst/>
            </a:prstGeom>
            <a:noFill/>
            <a:ln w="9525">
              <a:noFill/>
            </a:ln>
          </p:spPr>
          <p:txBody>
            <a:bodyPr anchor="t" anchorCtr="0">
              <a:spAutoFit/>
            </a:bodyPr>
            <a:p>
              <a:pPr eaLnBrk="0" hangingPunct="0"/>
              <a:r>
                <a:rPr lang="zh-CN" altLang="en-US" sz="2400" b="1" dirty="0">
                  <a:latin typeface="等线" panose="02010600030101010101" charset="-122"/>
                  <a:ea typeface="等线" panose="02010600030101010101" charset="-122"/>
                </a:rPr>
                <a:t>银行业务员访问顾客和账户</a:t>
              </a:r>
              <a:r>
                <a:rPr lang="zh-CN" altLang="en-US" sz="2400" b="1" dirty="0">
                  <a:latin typeface="等线" panose="02010600030101010101" charset="-122"/>
                  <a:ea typeface="等线" panose="02010600030101010101" charset="-122"/>
                </a:rPr>
                <a:t>信息</a:t>
              </a:r>
              <a:endParaRPr lang="zh-CN" altLang="en-US" sz="2400" b="1" dirty="0">
                <a:latin typeface="等线" panose="02010600030101010101" charset="-122"/>
                <a:ea typeface="等线" panose="0201060003010101010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645160"/>
          </a:xfrm>
          <a:prstGeom prst="rect">
            <a:avLst/>
          </a:prstGeom>
          <a:noFill/>
        </p:spPr>
        <p:txBody>
          <a:bodyPr wrap="square" rtlCol="0" anchor="t">
            <a:spAutoFit/>
          </a:bodyPr>
          <a:p>
            <a:pPr algn="dist"/>
            <a:r>
              <a:rPr kumimoji="1" lang="zh-CN" altLang="en-US" sz="3600" b="1" kern="0" dirty="0">
                <a:solidFill>
                  <a:srgbClr val="034DA0"/>
                </a:solidFill>
                <a:latin typeface="华文行楷" panose="02010800040101010101" charset="-122"/>
                <a:ea typeface="华文行楷" panose="02010800040101010101" charset="-122"/>
                <a:sym typeface="+mn-ea"/>
              </a:rPr>
              <a:t>面向对象编程的优势</a:t>
            </a:r>
            <a:r>
              <a:rPr kumimoji="1" lang="zh-CN" altLang="en-US" sz="3600" b="1" kern="0" dirty="0">
                <a:solidFill>
                  <a:srgbClr val="034DA0"/>
                </a:solidFill>
                <a:latin typeface="华文行楷" panose="02010800040101010101" charset="-122"/>
                <a:ea typeface="华文行楷" panose="02010800040101010101" charset="-122"/>
                <a:sym typeface="+mn-ea"/>
              </a:rPr>
              <a:t>？</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1/6</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02895" y="1183640"/>
            <a:ext cx="8609330" cy="1630045"/>
          </a:xfrm>
          <a:prstGeom prst="rect">
            <a:avLst/>
          </a:prstGeom>
          <a:noFill/>
        </p:spPr>
        <p:txBody>
          <a:bodyPr wrap="square" rtlCol="0" anchor="t">
            <a:spAutoFit/>
          </a:bodyPr>
          <a:p>
            <a:pPr indent="0" eaLnBrk="1" hangingPunct="1">
              <a:buFont typeface="Arial" panose="020B0604020202020204" pitchFamily="34" charset="0"/>
              <a:buNone/>
            </a:pPr>
            <a:r>
              <a:rPr lang="zh-CN" altLang="en-US" sz="2800" b="1" dirty="0">
                <a:solidFill>
                  <a:schemeClr val="tx1"/>
                </a:solidFill>
                <a:latin typeface="+mn-ea"/>
                <a:cs typeface="+mn-ea"/>
                <a:sym typeface="+mn-ea"/>
              </a:rPr>
              <a:t>对象概念</a:t>
            </a:r>
            <a:endParaRPr lang="zh-CN" altLang="en-US" sz="2800" b="1" dirty="0">
              <a:solidFill>
                <a:schemeClr val="tx1"/>
              </a:solidFill>
              <a:latin typeface="+mn-ea"/>
              <a:cs typeface="+mn-ea"/>
              <a:sym typeface="+mn-ea"/>
            </a:endParaRPr>
          </a:p>
          <a:p>
            <a:pPr marL="914400" lvl="1" indent="-457200" eaLnBrk="1" hangingPunct="1">
              <a:buFont typeface="Arial" panose="020B0604020202020204" pitchFamily="34" charset="0"/>
              <a:buChar char="•"/>
            </a:pPr>
            <a:r>
              <a:rPr lang="zh-CN" altLang="en-US" sz="2400" b="1" dirty="0">
                <a:solidFill>
                  <a:schemeClr val="tx1"/>
                </a:solidFill>
                <a:latin typeface="+mn-ea"/>
                <a:cs typeface="+mn-ea"/>
                <a:sym typeface="+mn-ea"/>
              </a:rPr>
              <a:t>将变量</a:t>
            </a:r>
            <a:r>
              <a:rPr lang="zh-CN" altLang="en-US" sz="2400" dirty="0">
                <a:solidFill>
                  <a:schemeClr val="tx1"/>
                </a:solidFill>
                <a:latin typeface="+mn-ea"/>
                <a:cs typeface="+mn-ea"/>
                <a:sym typeface="+mn-ea"/>
              </a:rPr>
              <a:t> </a:t>
            </a:r>
            <a:r>
              <a:rPr lang="en-US" altLang="zh-CN" sz="2400" dirty="0">
                <a:solidFill>
                  <a:schemeClr val="tx1"/>
                </a:solidFill>
                <a:latin typeface="+mn-ea"/>
                <a:cs typeface="+mn-ea"/>
                <a:sym typeface="+mn-ea"/>
              </a:rPr>
              <a:t>(</a:t>
            </a:r>
            <a:r>
              <a:rPr lang="zh-CN" altLang="en-US" sz="2400" dirty="0">
                <a:solidFill>
                  <a:schemeClr val="tx1"/>
                </a:solidFill>
                <a:latin typeface="+mn-ea"/>
                <a:cs typeface="+mn-ea"/>
                <a:sym typeface="+mn-ea"/>
              </a:rPr>
              <a:t>或者称之为属性、状态或数据</a:t>
            </a:r>
            <a:r>
              <a:rPr lang="en-US" altLang="zh-CN" sz="2400" dirty="0">
                <a:solidFill>
                  <a:schemeClr val="tx1"/>
                </a:solidFill>
                <a:latin typeface="+mn-ea"/>
                <a:cs typeface="+mn-ea"/>
                <a:sym typeface="+mn-ea"/>
              </a:rPr>
              <a:t>)</a:t>
            </a:r>
            <a:r>
              <a:rPr lang="zh-CN" altLang="en-US" sz="2400" b="1" dirty="0">
                <a:solidFill>
                  <a:schemeClr val="tx1"/>
                </a:solidFill>
                <a:latin typeface="+mn-ea"/>
                <a:cs typeface="+mn-ea"/>
                <a:sym typeface="+mn-ea"/>
              </a:rPr>
              <a:t>及的函数（</a:t>
            </a:r>
            <a:r>
              <a:rPr lang="zh-CN" altLang="en-US" sz="2400" dirty="0">
                <a:solidFill>
                  <a:schemeClr val="tx1"/>
                </a:solidFill>
                <a:latin typeface="+mn-ea"/>
                <a:cs typeface="+mn-ea"/>
                <a:sym typeface="+mn-ea"/>
              </a:rPr>
              <a:t>或者称之为方法、操作）</a:t>
            </a:r>
            <a:r>
              <a:rPr lang="zh-CN" altLang="en-US" sz="2400" b="1" dirty="0">
                <a:solidFill>
                  <a:schemeClr val="tx1"/>
                </a:solidFill>
                <a:latin typeface="+mn-ea"/>
                <a:cs typeface="+mn-ea"/>
                <a:sym typeface="+mn-ea"/>
              </a:rPr>
              <a:t>作为一个不可分离的整体，即为软件对象 </a:t>
            </a:r>
            <a:r>
              <a:rPr lang="en-US" altLang="zh-CN" sz="2400" b="1" dirty="0">
                <a:solidFill>
                  <a:schemeClr val="tx1"/>
                </a:solidFill>
                <a:latin typeface="+mn-ea"/>
                <a:cs typeface="+mn-ea"/>
                <a:sym typeface="+mn-ea"/>
              </a:rPr>
              <a:t>(</a:t>
            </a:r>
            <a:r>
              <a:rPr lang="zh-CN" altLang="en-US" sz="2400" b="1" dirty="0">
                <a:solidFill>
                  <a:schemeClr val="tx1"/>
                </a:solidFill>
                <a:latin typeface="+mn-ea"/>
                <a:cs typeface="+mn-ea"/>
                <a:sym typeface="+mn-ea"/>
              </a:rPr>
              <a:t>简称对象</a:t>
            </a:r>
            <a:r>
              <a:rPr lang="en-US" altLang="zh-CN" sz="2400" b="1" dirty="0">
                <a:solidFill>
                  <a:schemeClr val="tx1"/>
                </a:solidFill>
                <a:latin typeface="+mn-ea"/>
                <a:cs typeface="+mn-ea"/>
                <a:sym typeface="+mn-ea"/>
              </a:rPr>
              <a:t>)</a:t>
            </a:r>
            <a:endParaRPr lang="zh-CN" altLang="en-US" sz="2400" dirty="0">
              <a:solidFill>
                <a:schemeClr val="tx1"/>
              </a:solidFill>
              <a:latin typeface="+mn-ea"/>
              <a:cs typeface="+mn-ea"/>
              <a:sym typeface="+mn-ea"/>
            </a:endParaRPr>
          </a:p>
        </p:txBody>
      </p:sp>
      <p:sp>
        <p:nvSpPr>
          <p:cNvPr id="43013" name="Rectangle 2"/>
          <p:cNvSpPr/>
          <p:nvPr/>
        </p:nvSpPr>
        <p:spPr>
          <a:xfrm>
            <a:off x="1123950" y="2904173"/>
            <a:ext cx="3276600" cy="2971800"/>
          </a:xfrm>
          <a:prstGeom prst="rect">
            <a:avLst/>
          </a:prstGeom>
          <a:noFill/>
          <a:ln w="9525" cap="flat" cmpd="sng">
            <a:solidFill>
              <a:schemeClr val="tx1"/>
            </a:solidFill>
            <a:prstDash val="solid"/>
            <a:miter/>
            <a:headEnd type="none" w="med" len="med"/>
            <a:tailEnd type="none" w="med" len="med"/>
          </a:ln>
        </p:spPr>
        <p:txBody>
          <a:bodyPr wrap="none" anchor="ctr" anchorCtr="0"/>
          <a:p>
            <a:r>
              <a:rPr lang="zh-CN" altLang="en-US" sz="2400" b="1" dirty="0">
                <a:latin typeface="宋体" panose="02010600030101010101" pitchFamily="2" charset="-122"/>
                <a:ea typeface="宋体" panose="02010600030101010101" pitchFamily="2" charset="-122"/>
              </a:rPr>
              <a:t>对象</a:t>
            </a:r>
            <a:r>
              <a:rPr lang="en-US" altLang="zh-CN" sz="2400" b="1" dirty="0">
                <a:latin typeface="Times New Roman" panose="02020603050405020304" pitchFamily="18" charset="0"/>
              </a:rPr>
              <a:t>PointOne </a:t>
            </a:r>
            <a:endParaRPr lang="en-US" altLang="zh-CN" sz="2400" b="1" dirty="0">
              <a:latin typeface="Times New Roman" panose="02020603050405020304" pitchFamily="18" charset="0"/>
            </a:endParaRPr>
          </a:p>
          <a:p>
            <a:pPr eaLnBrk="0" hangingPunct="0"/>
            <a:r>
              <a:rPr lang="zh-CN" altLang="en-US" sz="2400" b="1" dirty="0">
                <a:latin typeface="宋体" panose="02010600030101010101" pitchFamily="2" charset="-122"/>
                <a:ea typeface="宋体" panose="02010600030101010101" pitchFamily="2" charset="-122"/>
              </a:rPr>
              <a:t>变量：</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x：100</a:t>
            </a:r>
            <a:endParaRPr lang="en-US" altLang="zh-CN" sz="2400" b="1" dirty="0">
              <a:latin typeface="Times New Roman" panose="02020603050405020304" pitchFamily="18" charset="0"/>
            </a:endParaRPr>
          </a:p>
          <a:p>
            <a:pPr eaLnBrk="0" hangingPunct="0"/>
            <a:r>
              <a:rPr lang="en-US" altLang="zh-CN" sz="2400" b="1" dirty="0">
                <a:latin typeface="Times New Roman" panose="02020603050405020304" pitchFamily="18" charset="0"/>
              </a:rPr>
              <a:t>      y：20</a:t>
            </a:r>
            <a:endParaRPr lang="zh-CN" altLang="en-US" sz="2400" b="1" dirty="0">
              <a:latin typeface="Times New Roman" panose="02020603050405020304" pitchFamily="18" charset="0"/>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函数：</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getX()：</a:t>
            </a:r>
            <a:r>
              <a:rPr lang="zh-CN" altLang="en-US" sz="2400" b="1" dirty="0">
                <a:latin typeface="宋体" panose="02010600030101010101" pitchFamily="2" charset="-122"/>
                <a:ea typeface="宋体" panose="02010600030101010101" pitchFamily="2" charset="-122"/>
              </a:rPr>
              <a:t>返回</a:t>
            </a:r>
            <a:r>
              <a:rPr lang="en-US" altLang="zh-CN" sz="2400" b="1" dirty="0">
                <a:latin typeface="宋体" panose="02010600030101010101" pitchFamily="2" charset="-122"/>
              </a:rPr>
              <a:t>x</a:t>
            </a:r>
            <a:r>
              <a:rPr lang="zh-CN" altLang="en-US" sz="2400" b="1" dirty="0">
                <a:latin typeface="宋体" panose="02010600030101010101" pitchFamily="2" charset="-122"/>
                <a:ea typeface="宋体" panose="02010600030101010101" pitchFamily="2" charset="-122"/>
              </a:rPr>
              <a:t>的值</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getY()：</a:t>
            </a:r>
            <a:r>
              <a:rPr lang="zh-CN" altLang="en-US" sz="2400" b="1" dirty="0">
                <a:latin typeface="宋体" panose="02010600030101010101" pitchFamily="2" charset="-122"/>
                <a:ea typeface="宋体" panose="02010600030101010101" pitchFamily="2" charset="-122"/>
              </a:rPr>
              <a:t>返回</a:t>
            </a:r>
            <a:r>
              <a:rPr lang="en-US" altLang="zh-CN" sz="2400" b="1" dirty="0">
                <a:latin typeface="宋体" panose="02010600030101010101" pitchFamily="2" charset="-122"/>
              </a:rPr>
              <a:t>y</a:t>
            </a:r>
            <a:r>
              <a:rPr lang="zh-CN" altLang="en-US" sz="2400" b="1" dirty="0">
                <a:latin typeface="宋体" panose="02010600030101010101" pitchFamily="2" charset="-122"/>
                <a:ea typeface="宋体" panose="02010600030101010101" pitchFamily="2" charset="-122"/>
              </a:rPr>
              <a:t>的值</a:t>
            </a:r>
            <a:endParaRPr lang="zh-CN" altLang="en-US" sz="2400" b="1" dirty="0">
              <a:latin typeface="宋体" panose="02010600030101010101" pitchFamily="2" charset="-122"/>
              <a:ea typeface="宋体" panose="02010600030101010101" pitchFamily="2" charset="-122"/>
            </a:endParaRPr>
          </a:p>
        </p:txBody>
      </p:sp>
      <p:sp>
        <p:nvSpPr>
          <p:cNvPr id="38918" name="Rectangle 5"/>
          <p:cNvSpPr/>
          <p:nvPr>
            <p:custDataLst>
              <p:tags r:id="rId6"/>
            </p:custDataLst>
          </p:nvPr>
        </p:nvSpPr>
        <p:spPr>
          <a:xfrm>
            <a:off x="4933950" y="2904173"/>
            <a:ext cx="3352800" cy="2971800"/>
          </a:xfrm>
          <a:prstGeom prst="rect">
            <a:avLst/>
          </a:prstGeom>
          <a:noFill/>
          <a:ln w="9525" cap="flat" cmpd="sng">
            <a:solidFill>
              <a:schemeClr val="tx1"/>
            </a:solidFill>
            <a:prstDash val="solid"/>
            <a:miter/>
            <a:headEnd type="none" w="med" len="med"/>
            <a:tailEnd type="none" w="med" len="med"/>
          </a:ln>
        </p:spPr>
        <p:txBody>
          <a:bodyPr wrap="none" anchor="ctr" anchorCtr="0"/>
          <a:p>
            <a:r>
              <a:rPr lang="zh-CN" altLang="en-US" sz="2400" b="1" dirty="0">
                <a:latin typeface="宋体" panose="02010600030101010101" pitchFamily="2" charset="-122"/>
                <a:ea typeface="宋体" panose="02010600030101010101" pitchFamily="2" charset="-122"/>
              </a:rPr>
              <a:t>对象</a:t>
            </a:r>
            <a:r>
              <a:rPr lang="en-US" altLang="zh-CN" sz="2400" b="1" dirty="0">
                <a:latin typeface="Times New Roman" panose="02020603050405020304" pitchFamily="18" charset="0"/>
              </a:rPr>
              <a:t>PointTwo</a:t>
            </a:r>
            <a:r>
              <a:rPr lang="en-US" altLang="zh-CN" sz="2400" b="1" dirty="0">
                <a:latin typeface="宋体" panose="02010600030101010101" pitchFamily="2" charset="-122"/>
              </a:rPr>
              <a:t> </a:t>
            </a:r>
            <a:endParaRPr lang="en-US" altLang="zh-CN" sz="2400" b="1" dirty="0">
              <a:latin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变量：</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x：300</a:t>
            </a:r>
            <a:endParaRPr lang="en-US" altLang="zh-CN" sz="2400" b="1" dirty="0">
              <a:latin typeface="Times New Roman" panose="02020603050405020304" pitchFamily="18" charset="0"/>
            </a:endParaRPr>
          </a:p>
          <a:p>
            <a:pPr eaLnBrk="0" hangingPunct="0"/>
            <a:r>
              <a:rPr lang="en-US" altLang="zh-CN" sz="2400" b="1" dirty="0">
                <a:latin typeface="Times New Roman" panose="02020603050405020304" pitchFamily="18" charset="0"/>
              </a:rPr>
              <a:t>      y：500</a:t>
            </a:r>
            <a:endParaRPr lang="en-US" altLang="zh-CN" sz="2400" b="1" dirty="0">
              <a:latin typeface="Times New Roman" panose="02020603050405020304" pitchFamily="18" charset="0"/>
            </a:endParaRPr>
          </a:p>
          <a:p>
            <a:pPr eaLnBrk="0" hangingPunct="0"/>
            <a:r>
              <a:rPr lang="zh-CN" altLang="en-US" sz="2400" b="1" dirty="0">
                <a:latin typeface="宋体" panose="02010600030101010101" pitchFamily="2" charset="-122"/>
                <a:ea typeface="宋体" panose="02010600030101010101" pitchFamily="2" charset="-122"/>
              </a:rPr>
              <a:t>函数：</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getX()：</a:t>
            </a:r>
            <a:r>
              <a:rPr lang="zh-CN" altLang="en-US" sz="2400" b="1" dirty="0">
                <a:latin typeface="宋体" panose="02010600030101010101" pitchFamily="2" charset="-122"/>
                <a:ea typeface="宋体" panose="02010600030101010101" pitchFamily="2" charset="-122"/>
              </a:rPr>
              <a:t>返回</a:t>
            </a:r>
            <a:r>
              <a:rPr lang="en-US" altLang="zh-CN" sz="2400" b="1" dirty="0">
                <a:latin typeface="宋体" panose="02010600030101010101" pitchFamily="2" charset="-122"/>
              </a:rPr>
              <a:t>x</a:t>
            </a:r>
            <a:r>
              <a:rPr lang="zh-CN" altLang="en-US" sz="2400" b="1" dirty="0">
                <a:latin typeface="宋体" panose="02010600030101010101" pitchFamily="2" charset="-122"/>
                <a:ea typeface="宋体" panose="02010600030101010101" pitchFamily="2" charset="-122"/>
              </a:rPr>
              <a:t>的值</a:t>
            </a:r>
            <a:endParaRPr lang="zh-CN" altLang="en-US" sz="2400" b="1" dirty="0">
              <a:latin typeface="宋体" panose="02010600030101010101" pitchFamily="2" charset="-122"/>
              <a:ea typeface="宋体" panose="02010600030101010101" pitchFamily="2" charset="-122"/>
            </a:endParaRPr>
          </a:p>
          <a:p>
            <a:pPr eaLnBrk="0" hangingPunct="0"/>
            <a:r>
              <a:rPr lang="zh-CN" altLang="en-US"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rPr>
              <a:t>getY()：</a:t>
            </a:r>
            <a:r>
              <a:rPr lang="zh-CN" altLang="en-US" sz="2400" b="1" dirty="0">
                <a:latin typeface="宋体" panose="02010600030101010101" pitchFamily="2" charset="-122"/>
                <a:ea typeface="宋体" panose="02010600030101010101" pitchFamily="2" charset="-122"/>
              </a:rPr>
              <a:t>返回</a:t>
            </a:r>
            <a:r>
              <a:rPr lang="en-US" altLang="zh-CN" sz="2400" b="1" dirty="0">
                <a:latin typeface="宋体" panose="02010600030101010101" pitchFamily="2" charset="-122"/>
              </a:rPr>
              <a:t>y</a:t>
            </a:r>
            <a:r>
              <a:rPr lang="zh-CN" altLang="en-US" sz="2400" b="1" dirty="0">
                <a:latin typeface="宋体" panose="02010600030101010101" pitchFamily="2" charset="-122"/>
                <a:ea typeface="宋体" panose="02010600030101010101" pitchFamily="2" charset="-122"/>
              </a:rPr>
              <a:t>的值 </a:t>
            </a:r>
            <a:endParaRPr lang="zh-CN" altLang="en-US" sz="2400" b="1" dirty="0">
              <a:latin typeface="宋体" panose="02010600030101010101" pitchFamily="2" charset="-122"/>
              <a:ea typeface="宋体" panose="02010600030101010101" pitchFamily="2" charset="-122"/>
            </a:endParaRPr>
          </a:p>
        </p:txBody>
      </p:sp>
      <p:sp>
        <p:nvSpPr>
          <p:cNvPr id="43015" name="Rectangle 7"/>
          <p:cNvSpPr/>
          <p:nvPr>
            <p:custDataLst>
              <p:tags r:id="rId7"/>
            </p:custDataLst>
          </p:nvPr>
        </p:nvSpPr>
        <p:spPr>
          <a:xfrm>
            <a:off x="3409950" y="5886133"/>
            <a:ext cx="2743200" cy="457200"/>
          </a:xfrm>
          <a:prstGeom prst="rect">
            <a:avLst/>
          </a:prstGeom>
          <a:noFill/>
          <a:ln w="9525">
            <a:noFill/>
          </a:ln>
        </p:spPr>
        <p:txBody>
          <a:bodyPr anchor="t" anchorCtr="0">
            <a:spAutoFit/>
          </a:bodyPr>
          <a:p>
            <a:r>
              <a:rPr lang="zh-CN" altLang="en-US" sz="2400" b="1" dirty="0">
                <a:latin typeface="宋体" panose="02010600030101010101" pitchFamily="2" charset="-122"/>
                <a:ea typeface="宋体" panose="02010600030101010101" pitchFamily="2" charset="-122"/>
              </a:rPr>
              <a:t>二维点对象举例</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grpId="0" nodeType="clickEffect">
                                  <p:stCondLst>
                                    <p:cond delay="0"/>
                                  </p:stCondLst>
                                  <p:childTnLst>
                                    <p:set>
                                      <p:cBhvr>
                                        <p:cTn id="10" dur="1" fill="hold">
                                          <p:stCondLst>
                                            <p:cond delay="0"/>
                                          </p:stCondLst>
                                        </p:cTn>
                                        <p:tgtEl>
                                          <p:spTgt spid="38918"/>
                                        </p:tgtEl>
                                        <p:attrNameLst>
                                          <p:attrName>style.visibility</p:attrName>
                                        </p:attrNameLst>
                                      </p:cBhvr>
                                      <p:to>
                                        <p:strVal val="visible"/>
                                      </p:to>
                                    </p:set>
                                    <p:animEffect transition="in" filter="barn(inHorizontal)">
                                      <p:cBhvr>
                                        <p:cTn id="11"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bldLvl="0" animBg="1"/>
      <p:bldP spid="430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451485" y="1049020"/>
            <a:ext cx="4553585" cy="4939030"/>
          </a:xfrm>
          <a:prstGeom prst="rect">
            <a:avLst/>
          </a:prstGeom>
          <a:noFill/>
        </p:spPr>
        <p:txBody>
          <a:bodyPr wrap="square" rtlCol="0" anchor="t">
            <a:spAutoFit/>
          </a:bodyPr>
          <a:p>
            <a:pPr eaLnBrk="1" hangingPunct="1">
              <a:lnSpc>
                <a:spcPct val="150000"/>
              </a:lnSpc>
            </a:pPr>
            <a:r>
              <a:rPr lang="zh-CN" altLang="en-US" sz="2800" b="1" dirty="0">
                <a:sym typeface="+mn-ea"/>
              </a:rPr>
              <a:t>类的概念</a:t>
            </a:r>
            <a:endParaRPr lang="zh-CN" altLang="en-US" sz="2800" b="1" dirty="0">
              <a:sym typeface="+mn-ea"/>
            </a:endParaRPr>
          </a:p>
          <a:p>
            <a:pPr marL="457200" indent="-457200" eaLnBrk="1" hangingPunct="1">
              <a:lnSpc>
                <a:spcPct val="150000"/>
              </a:lnSpc>
              <a:buClr>
                <a:srgbClr val="034DA0"/>
              </a:buClr>
              <a:buFont typeface="Arial" panose="020B0604020202020204" pitchFamily="34" charset="0"/>
              <a:buChar char="•"/>
            </a:pPr>
            <a:r>
              <a:rPr lang="zh-CN" altLang="en-US" sz="2600" b="1" dirty="0">
                <a:sym typeface="+mn-ea"/>
              </a:rPr>
              <a:t>现实世界中任何实体都可归属于某类事物，任何对象都是某一类事物的实例。</a:t>
            </a:r>
            <a:r>
              <a:rPr lang="zh-CN" altLang="en-US" sz="2600" b="1" dirty="0">
                <a:solidFill>
                  <a:srgbClr val="FF0066"/>
                </a:solidFill>
                <a:sym typeface="+mn-ea"/>
              </a:rPr>
              <a:t>所有二维点对象的共性抽取出来，形成类</a:t>
            </a:r>
            <a:r>
              <a:rPr lang="en-US" altLang="zh-CN" sz="2600" b="1" dirty="0">
                <a:solidFill>
                  <a:srgbClr val="FF0066"/>
                </a:solidFill>
                <a:sym typeface="+mn-ea"/>
              </a:rPr>
              <a:t>Point2D</a:t>
            </a:r>
            <a:endParaRPr lang="en-US" altLang="zh-CN" sz="2600" b="1" dirty="0">
              <a:solidFill>
                <a:srgbClr val="FF0066"/>
              </a:solidFill>
              <a:sym typeface="+mn-ea"/>
            </a:endParaRPr>
          </a:p>
          <a:p>
            <a:pPr marL="914400" lvl="1" indent="-457200" eaLnBrk="1" hangingPunct="1">
              <a:lnSpc>
                <a:spcPct val="150000"/>
              </a:lnSpc>
              <a:buFont typeface="Arial" panose="020B0604020202020204" pitchFamily="34" charset="0"/>
              <a:buChar char="•"/>
            </a:pPr>
            <a:r>
              <a:rPr lang="en-US" altLang="zh-CN" sz="2600" b="1" dirty="0">
                <a:sym typeface="+mn-ea"/>
              </a:rPr>
              <a:t>x</a:t>
            </a:r>
            <a:r>
              <a:rPr lang="zh-CN" altLang="en-US" sz="2600" b="1" dirty="0">
                <a:sym typeface="+mn-ea"/>
              </a:rPr>
              <a:t>坐标和</a:t>
            </a:r>
            <a:r>
              <a:rPr lang="en-US" altLang="zh-CN" sz="2600" b="1" dirty="0">
                <a:sym typeface="+mn-ea"/>
              </a:rPr>
              <a:t>y</a:t>
            </a:r>
            <a:r>
              <a:rPr lang="zh-CN" altLang="en-US" sz="2600" b="1" dirty="0">
                <a:sym typeface="+mn-ea"/>
              </a:rPr>
              <a:t>坐标，以及函数</a:t>
            </a:r>
            <a:r>
              <a:rPr lang="en-US" altLang="zh-CN" sz="2600" b="1" dirty="0">
                <a:sym typeface="+mn-ea"/>
              </a:rPr>
              <a:t>getX()</a:t>
            </a:r>
            <a:r>
              <a:rPr lang="zh-CN" altLang="en-US" sz="2600" b="1" dirty="0">
                <a:sym typeface="+mn-ea"/>
              </a:rPr>
              <a:t>和</a:t>
            </a:r>
            <a:r>
              <a:rPr lang="en-US" altLang="zh-CN" sz="2600" b="1" dirty="0">
                <a:sym typeface="+mn-ea"/>
              </a:rPr>
              <a:t>getY()</a:t>
            </a:r>
            <a:endParaRPr lang="zh-CN" altLang="en-US" sz="2600" b="1" dirty="0">
              <a:sym typeface="+mn-ea"/>
            </a:endParaRPr>
          </a:p>
        </p:txBody>
      </p:sp>
      <p:grpSp>
        <p:nvGrpSpPr>
          <p:cNvPr id="2" name="组合 1"/>
          <p:cNvGrpSpPr/>
          <p:nvPr/>
        </p:nvGrpSpPr>
        <p:grpSpPr>
          <a:xfrm>
            <a:off x="5276850" y="2125980"/>
            <a:ext cx="2895600" cy="3200400"/>
            <a:chOff x="8310" y="3348"/>
            <a:chExt cx="4560" cy="5040"/>
          </a:xfrm>
        </p:grpSpPr>
        <p:sp>
          <p:nvSpPr>
            <p:cNvPr id="45061" name="Rectangle 6"/>
            <p:cNvSpPr/>
            <p:nvPr>
              <p:custDataLst>
                <p:tags r:id="rId6"/>
              </p:custDataLst>
            </p:nvPr>
          </p:nvSpPr>
          <p:spPr>
            <a:xfrm>
              <a:off x="8310" y="3348"/>
              <a:ext cx="4560" cy="4200"/>
            </a:xfrm>
            <a:prstGeom prst="rect">
              <a:avLst/>
            </a:prstGeom>
            <a:noFill/>
            <a:ln w="9525" cap="flat" cmpd="sng">
              <a:solidFill>
                <a:schemeClr val="tx1"/>
              </a:solidFill>
              <a:prstDash val="solid"/>
              <a:miter/>
              <a:headEnd type="none" w="med" len="med"/>
              <a:tailEnd type="none" w="med" len="med"/>
            </a:ln>
          </p:spPr>
          <p:txBody>
            <a:bodyPr wrap="none" anchor="ctr" anchorCtr="0"/>
            <a:p>
              <a:r>
                <a:rPr lang="zh-CN" altLang="en-US" sz="2400" b="1" dirty="0">
                  <a:latin typeface="Times New Roman" panose="02020603050405020304" pitchFamily="18" charset="0"/>
                  <a:ea typeface="宋体" panose="02010600030101010101" pitchFamily="2" charset="-122"/>
                </a:rPr>
                <a:t>类</a:t>
              </a:r>
              <a:r>
                <a:rPr lang="en-US" altLang="zh-CN" sz="2400" b="1" dirty="0">
                  <a:latin typeface="Times New Roman" panose="02020603050405020304" pitchFamily="18" charset="0"/>
                </a:rPr>
                <a:t>Point2D </a:t>
              </a:r>
              <a:endParaRPr lang="en-US" altLang="zh-CN" sz="2400" b="1" dirty="0">
                <a:latin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rPr>
                <a:t>属性：</a:t>
              </a:r>
              <a:endParaRPr lang="zh-CN" altLang="en-US" sz="2400" b="1" dirty="0">
                <a:latin typeface="Times New Roman" panose="02020603050405020304" pitchFamily="18" charset="0"/>
                <a:ea typeface="宋体" panose="02010600030101010101" pitchFamily="2" charset="-122"/>
              </a:endParaRPr>
            </a:p>
            <a:p>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rPr>
                <a:t>x：int</a:t>
              </a:r>
              <a:endParaRPr lang="en-US" altLang="zh-CN" sz="2400" b="1" dirty="0">
                <a:latin typeface="Times New Roman" panose="02020603050405020304" pitchFamily="18" charset="0"/>
              </a:endParaRPr>
            </a:p>
            <a:p>
              <a:r>
                <a:rPr lang="en-US" altLang="zh-CN" sz="2400" b="1" dirty="0">
                  <a:latin typeface="Times New Roman" panose="02020603050405020304" pitchFamily="18" charset="0"/>
                </a:rPr>
                <a:t>   y：int</a:t>
              </a:r>
              <a:endParaRPr lang="en-US" altLang="zh-CN" sz="2400" b="1" dirty="0">
                <a:latin typeface="Times New Roman" panose="02020603050405020304" pitchFamily="18" charset="0"/>
              </a:endParaRPr>
            </a:p>
            <a:p>
              <a:r>
                <a:rPr lang="zh-CN" altLang="en-US" sz="2400" b="1" dirty="0">
                  <a:latin typeface="Times New Roman" panose="02020603050405020304" pitchFamily="18" charset="0"/>
                  <a:ea typeface="宋体" panose="02010600030101010101" pitchFamily="2" charset="-122"/>
                </a:rPr>
                <a:t>操作：</a:t>
              </a:r>
              <a:endParaRPr lang="zh-CN" altLang="en-US" sz="2400" b="1" dirty="0">
                <a:latin typeface="Times New Roman" panose="02020603050405020304" pitchFamily="18" charset="0"/>
                <a:ea typeface="宋体" panose="02010600030101010101" pitchFamily="2" charset="-122"/>
              </a:endParaRPr>
            </a:p>
            <a:p>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rPr>
                <a:t>getX()：</a:t>
              </a:r>
              <a:r>
                <a:rPr lang="zh-CN" altLang="en-US" sz="2400" b="1" dirty="0">
                  <a:latin typeface="Times New Roman" panose="02020603050405020304" pitchFamily="18" charset="0"/>
                  <a:ea typeface="宋体" panose="02010600030101010101" pitchFamily="2" charset="-122"/>
                </a:rPr>
                <a:t>返回</a:t>
              </a:r>
              <a:r>
                <a:rPr lang="en-US" altLang="zh-CN" sz="2400" b="1" dirty="0">
                  <a:latin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rPr>
                <a:t>的值</a:t>
              </a:r>
              <a:endParaRPr lang="zh-CN" altLang="en-US" sz="2400" b="1" dirty="0">
                <a:latin typeface="Times New Roman" panose="02020603050405020304" pitchFamily="18" charset="0"/>
                <a:ea typeface="宋体" panose="02010600030101010101" pitchFamily="2" charset="-122"/>
              </a:endParaRPr>
            </a:p>
            <a:p>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rPr>
                <a:t>getY()</a:t>
              </a:r>
              <a:r>
                <a:rPr lang="en-US" altLang="zh-CN" sz="2400" b="1" dirty="0">
                  <a:latin typeface="宋体" panose="02010600030101010101" pitchFamily="2" charset="-122"/>
                </a:rPr>
                <a:t>：</a:t>
              </a:r>
              <a:r>
                <a:rPr lang="zh-CN" altLang="en-US" sz="2400" b="1" dirty="0">
                  <a:latin typeface="宋体" panose="02010600030101010101" pitchFamily="2" charset="-122"/>
                  <a:ea typeface="宋体" panose="02010600030101010101" pitchFamily="2" charset="-122"/>
                </a:rPr>
                <a:t>返回</a:t>
              </a:r>
              <a:r>
                <a:rPr lang="en-US" altLang="zh-CN" sz="2400" b="1" dirty="0">
                  <a:latin typeface="Times New Roman" panose="02020603050405020304" pitchFamily="18" charset="0"/>
                </a:rPr>
                <a:t>y</a:t>
              </a:r>
              <a:r>
                <a:rPr lang="zh-CN" altLang="en-US" sz="2400" b="1" dirty="0">
                  <a:latin typeface="宋体" panose="02010600030101010101" pitchFamily="2" charset="-122"/>
                  <a:ea typeface="宋体" panose="02010600030101010101" pitchFamily="2" charset="-122"/>
                </a:rPr>
                <a:t>的值</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45062" name="Rectangle 8"/>
            <p:cNvSpPr/>
            <p:nvPr>
              <p:custDataLst>
                <p:tags r:id="rId7"/>
              </p:custDataLst>
            </p:nvPr>
          </p:nvSpPr>
          <p:spPr>
            <a:xfrm>
              <a:off x="8910" y="7668"/>
              <a:ext cx="3418" cy="720"/>
            </a:xfrm>
            <a:prstGeom prst="rect">
              <a:avLst/>
            </a:prstGeom>
            <a:noFill/>
            <a:ln w="9525">
              <a:noFill/>
            </a:ln>
          </p:spPr>
          <p:txBody>
            <a:bodyPr wrap="none" anchor="t" anchorCtr="0">
              <a:spAutoFit/>
            </a:bodyPr>
            <a:p>
              <a:r>
                <a:rPr lang="zh-CN" altLang="en-US" sz="2400" b="1" dirty="0">
                  <a:latin typeface="Times New Roman" panose="02020603050405020304" pitchFamily="18" charset="0"/>
                  <a:ea typeface="宋体" panose="02010600030101010101" pitchFamily="2" charset="-122"/>
                </a:rPr>
                <a:t>类</a:t>
              </a:r>
              <a:r>
                <a:rPr lang="en-US" altLang="zh-CN" sz="2400" b="1" dirty="0">
                  <a:latin typeface="Times New Roman" panose="02020603050405020304" pitchFamily="18" charset="0"/>
                </a:rPr>
                <a:t>Point2D</a:t>
              </a:r>
              <a:r>
                <a:rPr lang="zh-CN" altLang="en-US" sz="2400" b="1" dirty="0">
                  <a:latin typeface="Times New Roman" panose="02020603050405020304" pitchFamily="18" charset="0"/>
                  <a:ea typeface="宋体" panose="02010600030101010101" pitchFamily="2" charset="-122"/>
                </a:rPr>
                <a:t>图示</a:t>
              </a:r>
              <a:endParaRPr lang="zh-CN" altLang="en-US" sz="2400" b="1" dirty="0">
                <a:latin typeface="Times New Roman" panose="02020603050405020304" pitchFamily="18" charset="0"/>
                <a:ea typeface="宋体" panose="02010600030101010101" pitchFamily="2" charset="-122"/>
              </a:endParaRPr>
            </a:p>
          </p:txBody>
        </p:sp>
      </p:grpSp>
      <p:sp>
        <p:nvSpPr>
          <p:cNvPr id="9" name="标题 1"/>
          <p:cNvSpPr>
            <a:spLocks noGrp="1"/>
          </p:cNvSpPr>
          <p:nvPr>
            <p:custDataLst>
              <p:tags r:id="rId8"/>
            </p:custDataLst>
          </p:nvPr>
        </p:nvSpPr>
        <p:spPr>
          <a:xfrm>
            <a:off x="137160" y="262890"/>
            <a:ext cx="650303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2/6</a:t>
            </a:r>
            <a:endParaRPr kumimoji="1" lang="en-US" altLang="zh-CN"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706755"/>
          </a:xfrm>
          <a:prstGeom prst="rect">
            <a:avLst/>
          </a:prstGeom>
          <a:noFill/>
        </p:spPr>
        <p:txBody>
          <a:bodyPr wrap="square" rtlCol="0" anchor="t">
            <a:spAutoFit/>
          </a:bodyPr>
          <a:p>
            <a:pPr algn="dist"/>
            <a:r>
              <a:rPr kumimoji="1" lang="zh-CN" altLang="en-US" sz="4000" b="1" kern="0" dirty="0">
                <a:solidFill>
                  <a:srgbClr val="034DA0"/>
                </a:solidFill>
                <a:latin typeface="华文行楷" panose="02010800040101010101" charset="-122"/>
                <a:ea typeface="华文行楷" panose="02010800040101010101" charset="-122"/>
                <a:sym typeface="+mn-ea"/>
              </a:rPr>
              <a:t>类与对象的</a:t>
            </a:r>
            <a:r>
              <a:rPr kumimoji="1" lang="zh-CN" altLang="en-US" sz="4000" b="1" kern="0" dirty="0">
                <a:solidFill>
                  <a:srgbClr val="034DA0"/>
                </a:solidFill>
                <a:latin typeface="华文行楷" panose="02010800040101010101" charset="-122"/>
                <a:ea typeface="华文行楷" panose="02010800040101010101" charset="-122"/>
                <a:sym typeface="+mn-ea"/>
              </a:rPr>
              <a:t>联系、区别</a:t>
            </a:r>
            <a:r>
              <a:rPr kumimoji="1" lang="zh-CN" altLang="en-US" sz="3600" b="1" kern="0" dirty="0">
                <a:solidFill>
                  <a:srgbClr val="034DA0"/>
                </a:solidFill>
                <a:latin typeface="华文行楷" panose="02010800040101010101" charset="-122"/>
                <a:ea typeface="华文行楷" panose="02010800040101010101" charset="-122"/>
                <a:sym typeface="+mn-ea"/>
              </a:rPr>
              <a:t>？</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标题 1"/>
          <p:cNvSpPr>
            <a:spLocks noGrp="1"/>
          </p:cNvSpPr>
          <p:nvPr>
            <p:custDataLst>
              <p:tags r:id="rId6"/>
            </p:custDataLst>
          </p:nvPr>
        </p:nvSpPr>
        <p:spPr>
          <a:xfrm>
            <a:off x="137160" y="262890"/>
            <a:ext cx="650303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3/6</a:t>
            </a:r>
            <a:endParaRPr kumimoji="1" lang="en-US" altLang="zh-CN" sz="2400" dirty="0">
              <a:solidFill>
                <a:schemeClr val="bg1"/>
              </a:solidFill>
            </a:endParaRPr>
          </a:p>
        </p:txBody>
      </p:sp>
      <p:sp>
        <p:nvSpPr>
          <p:cNvPr id="8" name="文本框 7"/>
          <p:cNvSpPr txBox="1"/>
          <p:nvPr/>
        </p:nvSpPr>
        <p:spPr>
          <a:xfrm>
            <a:off x="385445" y="1264920"/>
            <a:ext cx="6472555" cy="2455545"/>
          </a:xfrm>
          <a:prstGeom prst="rect">
            <a:avLst/>
          </a:prstGeom>
          <a:noFill/>
        </p:spPr>
        <p:txBody>
          <a:bodyPr wrap="square" rtlCol="0" anchor="t">
            <a:noAutofit/>
          </a:bodyPr>
          <a:p>
            <a:r>
              <a:rPr lang="zh-CN" altLang="en-US" sz="3600" b="1" dirty="0">
                <a:sym typeface="+mn-ea"/>
              </a:rPr>
              <a:t>类与对象</a:t>
            </a:r>
            <a:r>
              <a:rPr lang="en-US" altLang="zh-CN" sz="3600" b="1" dirty="0">
                <a:sym typeface="+mn-ea"/>
              </a:rPr>
              <a:t>(</a:t>
            </a:r>
            <a:r>
              <a:rPr lang="zh-CN" altLang="en-US" sz="3600" b="1" dirty="0">
                <a:sym typeface="+mn-ea"/>
              </a:rPr>
              <a:t>印象一</a:t>
            </a:r>
            <a:r>
              <a:rPr lang="en-US" altLang="zh-CN" sz="3600" b="1" dirty="0">
                <a:sym typeface="+mn-ea"/>
              </a:rPr>
              <a:t>)</a:t>
            </a:r>
            <a:endParaRPr lang="en-US" altLang="zh-CN" sz="3600" b="1" dirty="0">
              <a:sym typeface="+mn-ea"/>
            </a:endParaRPr>
          </a:p>
          <a:p>
            <a:endParaRPr lang="en-US" altLang="zh-CN" sz="3600" b="1" dirty="0">
              <a:sym typeface="+mn-ea"/>
            </a:endParaRPr>
          </a:p>
        </p:txBody>
      </p:sp>
      <p:sp>
        <p:nvSpPr>
          <p:cNvPr id="10" name="文本框 9"/>
          <p:cNvSpPr txBox="1"/>
          <p:nvPr/>
        </p:nvSpPr>
        <p:spPr>
          <a:xfrm>
            <a:off x="300990" y="1872615"/>
            <a:ext cx="8602980" cy="2306955"/>
          </a:xfrm>
          <a:prstGeom prst="rect">
            <a:avLst/>
          </a:prstGeom>
          <a:noFill/>
        </p:spPr>
        <p:txBody>
          <a:bodyPr wrap="square" rtlCol="0" anchor="t">
            <a:spAutoFit/>
          </a:bodyPr>
          <a:p>
            <a:pPr marL="478155" lvl="1" indent="-457200" algn="just" eaLnBrk="1" hangingPunct="1">
              <a:lnSpc>
                <a:spcPct val="150000"/>
              </a:lnSpc>
              <a:buFont typeface="Arial" panose="020B0604020202020204" pitchFamily="34" charset="0"/>
              <a:buChar char="•"/>
            </a:pPr>
            <a:r>
              <a:rPr lang="zh-CN" altLang="en-US" sz="2400" b="1" dirty="0">
                <a:solidFill>
                  <a:srgbClr val="034EA2"/>
                </a:solidFill>
                <a:latin typeface="+mn-ea"/>
                <a:cs typeface="+mn-ea"/>
                <a:sym typeface="+mn-ea"/>
              </a:rPr>
              <a:t>类</a:t>
            </a:r>
            <a:r>
              <a:rPr lang="zh-CN" altLang="en-US" sz="2400" b="1" dirty="0">
                <a:solidFill>
                  <a:schemeClr val="tx1"/>
                </a:solidFill>
                <a:latin typeface="+mn-ea"/>
                <a:cs typeface="+mn-ea"/>
                <a:sym typeface="+mn-ea"/>
              </a:rPr>
              <a:t>是创建对象的</a:t>
            </a:r>
            <a:r>
              <a:rPr lang="zh-CN" altLang="en-US" sz="2400" b="1" dirty="0">
                <a:solidFill>
                  <a:srgbClr val="034EA2"/>
                </a:solidFill>
                <a:latin typeface="+mn-ea"/>
                <a:cs typeface="+mn-ea"/>
                <a:sym typeface="+mn-ea"/>
              </a:rPr>
              <a:t>模版</a:t>
            </a:r>
            <a:r>
              <a:rPr lang="zh-CN" altLang="en-US" sz="2400" b="1" dirty="0">
                <a:solidFill>
                  <a:schemeClr val="tx1"/>
                </a:solidFill>
                <a:latin typeface="+mn-ea"/>
                <a:cs typeface="+mn-ea"/>
                <a:sym typeface="+mn-ea"/>
              </a:rPr>
              <a:t>，它定义了所有对象应具有的属性和方法，例如：类</a:t>
            </a:r>
            <a:r>
              <a:rPr lang="en-US" altLang="zh-CN" sz="2400" b="1" dirty="0">
                <a:latin typeface="+mn-ea"/>
                <a:cs typeface="+mn-ea"/>
                <a:sym typeface="+mn-ea"/>
              </a:rPr>
              <a:t>Point2D</a:t>
            </a:r>
            <a:endParaRPr lang="zh-CN" altLang="en-US" sz="2400" b="1" dirty="0">
              <a:solidFill>
                <a:schemeClr val="tx1"/>
              </a:solidFill>
              <a:latin typeface="+mn-ea"/>
              <a:cs typeface="+mn-ea"/>
            </a:endParaRPr>
          </a:p>
          <a:p>
            <a:pPr marL="478155" lvl="1" indent="-457200" algn="just" eaLnBrk="1" hangingPunct="1">
              <a:lnSpc>
                <a:spcPct val="150000"/>
              </a:lnSpc>
              <a:buFont typeface="Arial" panose="020B0604020202020204" pitchFamily="34" charset="0"/>
              <a:buChar char="•"/>
            </a:pPr>
            <a:r>
              <a:rPr lang="zh-CN" altLang="en-US" sz="2400" b="1" dirty="0">
                <a:solidFill>
                  <a:srgbClr val="034EA2"/>
                </a:solidFill>
                <a:latin typeface="+mn-ea"/>
                <a:cs typeface="+mn-ea"/>
                <a:sym typeface="+mn-ea"/>
              </a:rPr>
              <a:t>对象</a:t>
            </a:r>
            <a:r>
              <a:rPr lang="zh-CN" altLang="en-US" sz="2400" b="1" dirty="0">
                <a:solidFill>
                  <a:schemeClr val="tx1"/>
                </a:solidFill>
                <a:latin typeface="+mn-ea"/>
                <a:cs typeface="+mn-ea"/>
                <a:sym typeface="+mn-ea"/>
              </a:rPr>
              <a:t>是类的</a:t>
            </a:r>
            <a:r>
              <a:rPr lang="zh-CN" altLang="en-US" sz="2400" b="1" dirty="0">
                <a:solidFill>
                  <a:srgbClr val="034EA2"/>
                </a:solidFill>
                <a:latin typeface="+mn-ea"/>
                <a:cs typeface="+mn-ea"/>
                <a:sym typeface="+mn-ea"/>
              </a:rPr>
              <a:t>实例</a:t>
            </a:r>
            <a:r>
              <a:rPr lang="zh-CN" altLang="en-US" sz="2400" b="1" dirty="0">
                <a:solidFill>
                  <a:schemeClr val="tx1"/>
                </a:solidFill>
                <a:latin typeface="+mn-ea"/>
                <a:cs typeface="+mn-ea"/>
                <a:sym typeface="+mn-ea"/>
              </a:rPr>
              <a:t>，</a:t>
            </a:r>
            <a:r>
              <a:rPr lang="zh-CN" altLang="en-US" sz="2400" b="1" dirty="0">
                <a:solidFill>
                  <a:srgbClr val="034EA2"/>
                </a:solidFill>
                <a:latin typeface="+mn-ea"/>
                <a:cs typeface="+mn-ea"/>
                <a:sym typeface="+mn-ea"/>
              </a:rPr>
              <a:t>类中的属性赋予确定的取值</a:t>
            </a:r>
            <a:r>
              <a:rPr lang="zh-CN" altLang="en-US" sz="2400" b="1" dirty="0">
                <a:solidFill>
                  <a:schemeClr val="tx1"/>
                </a:solidFill>
                <a:latin typeface="+mn-ea"/>
                <a:cs typeface="+mn-ea"/>
                <a:sym typeface="+mn-ea"/>
              </a:rPr>
              <a:t>便得到该类的一个对象，例如，</a:t>
            </a:r>
            <a:r>
              <a:rPr lang="en-US" altLang="zh-CN" sz="2400" b="1" dirty="0">
                <a:latin typeface="+mn-ea"/>
                <a:cs typeface="+mn-ea"/>
                <a:sym typeface="+mn-ea"/>
              </a:rPr>
              <a:t>PointOne</a:t>
            </a:r>
            <a:r>
              <a:rPr lang="zh-CN" altLang="en-US" sz="2400" b="1" dirty="0">
                <a:latin typeface="+mn-ea"/>
                <a:cs typeface="+mn-ea"/>
                <a:sym typeface="+mn-ea"/>
              </a:rPr>
              <a:t>和</a:t>
            </a:r>
            <a:r>
              <a:rPr lang="en-US" altLang="zh-CN" sz="2400" b="1" dirty="0">
                <a:latin typeface="+mn-ea"/>
                <a:cs typeface="+mn-ea"/>
                <a:sym typeface="+mn-ea"/>
              </a:rPr>
              <a:t>PointTwo</a:t>
            </a:r>
            <a:endParaRPr lang="zh-CN" altLang="en-US" sz="2400" b="1" dirty="0">
              <a:solidFill>
                <a:schemeClr val="tx1"/>
              </a:solidFill>
              <a:latin typeface="+mn-ea"/>
              <a:cs typeface="+mn-ea"/>
              <a:sym typeface="+mn-ea"/>
            </a:endParaRPr>
          </a:p>
        </p:txBody>
      </p:sp>
      <p:graphicFrame>
        <p:nvGraphicFramePr>
          <p:cNvPr id="12" name="表格 11"/>
          <p:cNvGraphicFramePr/>
          <p:nvPr>
            <p:custDataLst>
              <p:tags r:id="rId7"/>
            </p:custDataLst>
          </p:nvPr>
        </p:nvGraphicFramePr>
        <p:xfrm>
          <a:off x="824230" y="4270375"/>
          <a:ext cx="6586855" cy="1960245"/>
        </p:xfrm>
        <a:graphic>
          <a:graphicData uri="http://schemas.openxmlformats.org/drawingml/2006/table">
            <a:tbl>
              <a:tblPr/>
              <a:tblGrid>
                <a:gridCol w="581660"/>
                <a:gridCol w="1358900"/>
                <a:gridCol w="788035"/>
                <a:gridCol w="620395"/>
                <a:gridCol w="1068070"/>
                <a:gridCol w="1080770"/>
                <a:gridCol w="1089025"/>
              </a:tblGrid>
              <a:tr h="407670">
                <a:tc>
                  <a:txBody>
                    <a:bodyPr/>
                    <a:p>
                      <a:pPr indent="0" algn="ctr">
                        <a:buNone/>
                      </a:pPr>
                      <a:r>
                        <a:rPr lang="zh-CN" sz="1600" b="1">
                          <a:solidFill>
                            <a:srgbClr val="000000"/>
                          </a:solidFill>
                          <a:latin typeface="Arial" panose="020B0604020202020204" pitchFamily="34" charset="0"/>
                          <a:ea typeface="等线" panose="02010600030101010101" charset="-122"/>
                        </a:rPr>
                        <a:t>序号</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学号</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姓名</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性别</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院系</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专业</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c>
                  <a:txBody>
                    <a:bodyPr/>
                    <a:p>
                      <a:pPr indent="0" algn="ctr">
                        <a:buNone/>
                      </a:pPr>
                      <a:r>
                        <a:rPr lang="zh-CN" sz="1600" b="1">
                          <a:solidFill>
                            <a:srgbClr val="000000"/>
                          </a:solidFill>
                          <a:latin typeface="Arial" panose="020B0604020202020204" pitchFamily="34" charset="0"/>
                          <a:ea typeface="等线" panose="02010600030101010101" charset="-122"/>
                        </a:rPr>
                        <a:t>班级</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9D9D9"/>
                    </a:solidFill>
                  </a:tcPr>
                </a:tc>
              </a:tr>
              <a:tr h="387985">
                <a:tc>
                  <a:txBody>
                    <a:bodyPr/>
                    <a:p>
                      <a:pPr indent="0">
                        <a:buNone/>
                      </a:pPr>
                      <a:r>
                        <a:rPr lang="en-US" sz="1600" b="1">
                          <a:solidFill>
                            <a:srgbClr val="000000"/>
                          </a:solidFill>
                          <a:latin typeface="等线" panose="02010600030101010101" charset="-122"/>
                        </a:rPr>
                        <a:t>1</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2022301506</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蔺田</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女</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软件学院</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软件工程</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14012202</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8620">
                <a:tc>
                  <a:txBody>
                    <a:bodyPr/>
                    <a:p>
                      <a:pPr indent="0">
                        <a:buNone/>
                      </a:pPr>
                      <a:r>
                        <a:rPr lang="en-US" sz="1600" b="1">
                          <a:solidFill>
                            <a:srgbClr val="000000"/>
                          </a:solidFill>
                          <a:latin typeface="等线" panose="02010600030101010101" charset="-122"/>
                        </a:rPr>
                        <a:t>2</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2022301867</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鲁岩</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男</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软件学院</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软件工程</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14012202</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7985">
                <a:tc>
                  <a:txBody>
                    <a:bodyPr/>
                    <a:p>
                      <a:pPr indent="0">
                        <a:buNone/>
                      </a:pPr>
                      <a:r>
                        <a:rPr lang="en-US" sz="1600" b="1">
                          <a:solidFill>
                            <a:srgbClr val="000000"/>
                          </a:solidFill>
                          <a:latin typeface="等线" panose="02010600030101010101" charset="-122"/>
                        </a:rPr>
                        <a:t>3</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2022302387</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张书畅</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男</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软件学院</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软件工程</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14012203</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7985">
                <a:tc>
                  <a:txBody>
                    <a:bodyPr/>
                    <a:p>
                      <a:pPr indent="0">
                        <a:buNone/>
                      </a:pPr>
                      <a:r>
                        <a:rPr lang="en-US" sz="1600" b="1">
                          <a:solidFill>
                            <a:srgbClr val="000000"/>
                          </a:solidFill>
                          <a:latin typeface="等线" panose="02010600030101010101" charset="-122"/>
                        </a:rPr>
                        <a:t>4</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2022302760</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刘译文</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女</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软件学院</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600" b="1">
                          <a:solidFill>
                            <a:srgbClr val="000000"/>
                          </a:solidFill>
                          <a:latin typeface="Arial" panose="020B0604020202020204" pitchFamily="34" charset="0"/>
                          <a:ea typeface="等线" panose="02010600030101010101" charset="-122"/>
                        </a:rPr>
                        <a:t>软件工程</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600" b="1">
                          <a:solidFill>
                            <a:srgbClr val="000000"/>
                          </a:solidFill>
                          <a:latin typeface="等线" panose="02010600030101010101" charset="-122"/>
                        </a:rPr>
                        <a:t>14012201</a:t>
                      </a:r>
                      <a:endParaRPr lang="en-US" altLang="en-US" sz="1600" b="1">
                        <a:solidFill>
                          <a:srgbClr val="000000"/>
                        </a:solidFill>
                        <a:latin typeface="等线" panose="02010600030101010101"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 name="云形标注 6"/>
          <p:cNvSpPr/>
          <p:nvPr/>
        </p:nvSpPr>
        <p:spPr>
          <a:xfrm>
            <a:off x="7236460" y="3469640"/>
            <a:ext cx="1737995" cy="1278255"/>
          </a:xfrm>
          <a:prstGeom prst="cloudCallout">
            <a:avLst>
              <a:gd name="adj1" fmla="val -51424"/>
              <a:gd name="adj2" fmla="val 31023"/>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latin typeface="等线" panose="02010600030101010101" charset="-122"/>
                <a:ea typeface="等线" panose="02010600030101010101" charset="-122"/>
                <a:sym typeface="+mn-ea"/>
              </a:rPr>
              <a:t>教务系统中</a:t>
            </a:r>
            <a:r>
              <a:rPr lang="zh-CN" altLang="en-US" b="1">
                <a:solidFill>
                  <a:schemeClr val="tx1"/>
                </a:solidFill>
                <a:latin typeface="等线" panose="02010600030101010101" charset="-122"/>
                <a:ea typeface="等线" panose="02010600030101010101" charset="-122"/>
                <a:sym typeface="+mn-ea"/>
              </a:rPr>
              <a:t>的类和对象？</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标题 1"/>
          <p:cNvSpPr>
            <a:spLocks noGrp="1"/>
          </p:cNvSpPr>
          <p:nvPr>
            <p:custDataLst>
              <p:tags r:id="rId6"/>
            </p:custDataLst>
          </p:nvPr>
        </p:nvSpPr>
        <p:spPr>
          <a:xfrm>
            <a:off x="137160" y="262890"/>
            <a:ext cx="650303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4/6</a:t>
            </a:r>
            <a:endParaRPr kumimoji="1" lang="en-US" altLang="zh-CN" sz="2400" dirty="0">
              <a:solidFill>
                <a:schemeClr val="bg1"/>
              </a:solidFill>
            </a:endParaRPr>
          </a:p>
        </p:txBody>
      </p:sp>
      <p:sp>
        <p:nvSpPr>
          <p:cNvPr id="2" name="文本框 1"/>
          <p:cNvSpPr txBox="1"/>
          <p:nvPr/>
        </p:nvSpPr>
        <p:spPr>
          <a:xfrm>
            <a:off x="366395" y="1252855"/>
            <a:ext cx="4572000" cy="645160"/>
          </a:xfrm>
          <a:prstGeom prst="rect">
            <a:avLst/>
          </a:prstGeom>
          <a:noFill/>
        </p:spPr>
        <p:txBody>
          <a:bodyPr wrap="square" rtlCol="0" anchor="t">
            <a:spAutoFit/>
          </a:bodyPr>
          <a:p>
            <a:r>
              <a:rPr lang="zh-CN" altLang="en-US" sz="3600" b="1" dirty="0">
                <a:sym typeface="+mn-ea"/>
              </a:rPr>
              <a:t>类与对象</a:t>
            </a:r>
            <a:r>
              <a:rPr lang="en-US" altLang="zh-CN" sz="3600" b="1" dirty="0">
                <a:sym typeface="+mn-ea"/>
              </a:rPr>
              <a:t>(</a:t>
            </a:r>
            <a:r>
              <a:rPr lang="zh-CN" altLang="en-US" sz="3600" b="1" dirty="0">
                <a:sym typeface="+mn-ea"/>
              </a:rPr>
              <a:t>印象二</a:t>
            </a:r>
            <a:r>
              <a:rPr lang="en-US" altLang="zh-CN" sz="3600" b="1" dirty="0">
                <a:sym typeface="+mn-ea"/>
              </a:rPr>
              <a:t>)</a:t>
            </a:r>
            <a:endParaRPr lang="en-US" altLang="zh-CN" sz="3600" b="1" dirty="0">
              <a:sym typeface="+mn-ea"/>
            </a:endParaRPr>
          </a:p>
        </p:txBody>
      </p:sp>
      <p:sp>
        <p:nvSpPr>
          <p:cNvPr id="7" name="文本框 6"/>
          <p:cNvSpPr txBox="1"/>
          <p:nvPr/>
        </p:nvSpPr>
        <p:spPr>
          <a:xfrm>
            <a:off x="545465" y="1808480"/>
            <a:ext cx="8295005" cy="4152900"/>
          </a:xfrm>
          <a:prstGeom prst="rect">
            <a:avLst/>
          </a:prstGeom>
          <a:noFill/>
        </p:spPr>
        <p:txBody>
          <a:bodyPr wrap="square" rtlCol="0" anchor="t">
            <a:noAutofit/>
          </a:bodyPr>
          <a:p>
            <a:pPr marL="478155" lvl="1" indent="-457200" algn="just" eaLnBrk="1" hangingPunct="1">
              <a:lnSpc>
                <a:spcPct val="150000"/>
              </a:lnSpc>
              <a:buClrTx/>
              <a:buSzTx/>
              <a:buFont typeface="Arial" panose="020B0604020202020204" pitchFamily="34" charset="0"/>
              <a:buChar char="•"/>
            </a:pPr>
            <a:r>
              <a:rPr lang="zh-CN" altLang="en-US" sz="2800" b="1" dirty="0">
                <a:solidFill>
                  <a:schemeClr val="tx1"/>
                </a:solidFill>
                <a:latin typeface="+mn-ea"/>
                <a:cs typeface="+mn-ea"/>
                <a:sym typeface="+mn-ea"/>
              </a:rPr>
              <a:t>类与数据类型</a:t>
            </a:r>
            <a:endParaRPr lang="zh-CN" altLang="en-US" sz="2800" b="1" dirty="0">
              <a:solidFill>
                <a:schemeClr val="tx1"/>
              </a:solidFill>
              <a:latin typeface="+mn-ea"/>
              <a:cs typeface="+mn-ea"/>
            </a:endParaRPr>
          </a:p>
          <a:p>
            <a:pPr marL="914400" lvl="4" indent="-457200" algn="just" eaLnBrk="1" hangingPunct="1">
              <a:lnSpc>
                <a:spcPct val="150000"/>
              </a:lnSpc>
              <a:buClrTx/>
              <a:buSzTx/>
              <a:buFont typeface="Arial" panose="020B0604020202020204" pitchFamily="34" charset="0"/>
              <a:buChar char="•"/>
            </a:pPr>
            <a:r>
              <a:rPr lang="zh-CN" altLang="en-US" sz="2800" b="1" dirty="0">
                <a:solidFill>
                  <a:schemeClr val="tx1"/>
                </a:solidFill>
                <a:latin typeface="+mn-ea"/>
                <a:cs typeface="+mn-ea"/>
                <a:sym typeface="+mn-ea"/>
              </a:rPr>
              <a:t>类是一种数据类型，称之为类类型，可以使用类名称声明对象变量</a:t>
            </a:r>
            <a:endParaRPr lang="zh-CN" altLang="en-US" sz="2800" b="1" dirty="0">
              <a:solidFill>
                <a:schemeClr val="tx1"/>
              </a:solidFill>
              <a:latin typeface="+mn-ea"/>
              <a:cs typeface="+mn-ea"/>
              <a:sym typeface="+mn-ea"/>
            </a:endParaRPr>
          </a:p>
          <a:p>
            <a:pPr marL="914400" lvl="4" indent="-457200" algn="just" eaLnBrk="1" hangingPunct="1">
              <a:lnSpc>
                <a:spcPct val="150000"/>
              </a:lnSpc>
              <a:buClrTx/>
              <a:buSzTx/>
              <a:buFont typeface="Arial" panose="020B0604020202020204" pitchFamily="34" charset="0"/>
              <a:buChar char="•"/>
            </a:pPr>
            <a:r>
              <a:rPr lang="zh-CN" altLang="en-US" sz="2800" b="1" dirty="0">
                <a:latin typeface="+mn-ea"/>
                <a:cs typeface="+mn-ea"/>
                <a:sym typeface="+mn-ea"/>
              </a:rPr>
              <a:t>类</a:t>
            </a:r>
            <a:r>
              <a:rPr lang="en-US" altLang="zh-CN" sz="2800" b="1" dirty="0">
                <a:latin typeface="+mn-ea"/>
                <a:cs typeface="+mn-ea"/>
                <a:sym typeface="+mn-ea"/>
              </a:rPr>
              <a:t>Point2D</a:t>
            </a:r>
            <a:r>
              <a:rPr lang="zh-CN" altLang="en-US" sz="2800" b="1" dirty="0">
                <a:latin typeface="+mn-ea"/>
                <a:cs typeface="+mn-ea"/>
                <a:sym typeface="+mn-ea"/>
              </a:rPr>
              <a:t>是类类型，其对象</a:t>
            </a:r>
            <a:r>
              <a:rPr lang="zh-CN" altLang="en-US" sz="2800" b="1" dirty="0">
                <a:solidFill>
                  <a:schemeClr val="tx1"/>
                </a:solidFill>
                <a:latin typeface="+mn-ea"/>
                <a:cs typeface="+mn-ea"/>
                <a:sym typeface="+mn-ea"/>
              </a:rPr>
              <a:t>对象变量声明</a:t>
            </a:r>
            <a:r>
              <a:rPr lang="zh-CN" altLang="en-US" sz="2800" b="1" dirty="0">
                <a:solidFill>
                  <a:schemeClr val="tx1"/>
                </a:solidFill>
                <a:latin typeface="+mn-ea"/>
                <a:cs typeface="+mn-ea"/>
                <a:sym typeface="+mn-ea"/>
              </a:rPr>
              <a:t>为： </a:t>
            </a:r>
            <a:endParaRPr lang="zh-CN" altLang="en-US" sz="2800" b="1" dirty="0">
              <a:solidFill>
                <a:schemeClr val="tx1"/>
              </a:solidFill>
              <a:latin typeface="+mn-ea"/>
              <a:cs typeface="+mn-ea"/>
              <a:sym typeface="+mn-ea"/>
            </a:endParaRPr>
          </a:p>
          <a:p>
            <a:pPr marL="1392555" lvl="3" indent="-457200" algn="just" eaLnBrk="1" hangingPunct="1">
              <a:lnSpc>
                <a:spcPct val="150000"/>
              </a:lnSpc>
              <a:buClrTx/>
              <a:buSzTx/>
              <a:buFont typeface="Arial" panose="020B0604020202020204" pitchFamily="34" charset="0"/>
              <a:buChar char="•"/>
            </a:pPr>
            <a:r>
              <a:rPr lang="zh-CN" altLang="en-US" sz="2400" b="1" dirty="0">
                <a:solidFill>
                  <a:schemeClr val="tx1"/>
                </a:solidFill>
                <a:latin typeface="+mn-ea"/>
                <a:cs typeface="+mn-ea"/>
                <a:sym typeface="+mn-ea"/>
              </a:rPr>
              <a:t>Point2D PointOne;</a:t>
            </a:r>
            <a:r>
              <a:rPr lang="en-US" altLang="zh-CN" sz="2400" b="1" dirty="0">
                <a:solidFill>
                  <a:schemeClr val="tx1"/>
                </a:solidFill>
                <a:latin typeface="+mn-ea"/>
                <a:cs typeface="+mn-ea"/>
                <a:sym typeface="+mn-ea"/>
              </a:rPr>
              <a:t>   </a:t>
            </a:r>
            <a:endParaRPr lang="en-US" altLang="zh-CN" sz="2400" b="1" dirty="0">
              <a:solidFill>
                <a:schemeClr val="tx1"/>
              </a:solidFill>
              <a:latin typeface="+mn-ea"/>
              <a:cs typeface="+mn-ea"/>
              <a:sym typeface="+mn-ea"/>
            </a:endParaRPr>
          </a:p>
          <a:p>
            <a:pPr marL="1392555" lvl="3" indent="-457200" algn="just" eaLnBrk="1" hangingPunct="1">
              <a:lnSpc>
                <a:spcPct val="150000"/>
              </a:lnSpc>
              <a:buClrTx/>
              <a:buSzTx/>
              <a:buFont typeface="Arial" panose="020B0604020202020204" pitchFamily="34" charset="0"/>
              <a:buChar char="•"/>
            </a:pPr>
            <a:r>
              <a:rPr lang="zh-CN" altLang="en-US" sz="2400" b="1" dirty="0">
                <a:solidFill>
                  <a:schemeClr val="tx1"/>
                </a:solidFill>
                <a:latin typeface="+mn-ea"/>
                <a:cs typeface="+mn-ea"/>
                <a:sym typeface="+mn-ea"/>
              </a:rPr>
              <a:t>Point2D PointTwo;</a:t>
            </a:r>
            <a:endParaRPr lang="zh-CN" altLang="en-US" sz="2400" b="1" dirty="0">
              <a:solidFill>
                <a:schemeClr val="tx1"/>
              </a:solidFill>
              <a:latin typeface="+mn-ea"/>
              <a:cs typeface="+mn-ea"/>
              <a:sym typeface="+mn-ea"/>
            </a:endParaRPr>
          </a:p>
        </p:txBody>
      </p:sp>
      <p:sp>
        <p:nvSpPr>
          <p:cNvPr id="8" name="云形标注 7"/>
          <p:cNvSpPr/>
          <p:nvPr>
            <p:custDataLst>
              <p:tags r:id="rId7"/>
            </p:custDataLst>
          </p:nvPr>
        </p:nvSpPr>
        <p:spPr>
          <a:xfrm>
            <a:off x="5424805" y="1252855"/>
            <a:ext cx="2399665" cy="1278255"/>
          </a:xfrm>
          <a:prstGeom prst="cloudCallout">
            <a:avLst>
              <a:gd name="adj1" fmla="val -22876"/>
              <a:gd name="adj2" fmla="val 59786"/>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r>
              <a:rPr lang="zh-CN" altLang="en-US" b="1">
                <a:solidFill>
                  <a:schemeClr val="tx1"/>
                </a:solidFill>
                <a:latin typeface="等线" panose="02010600030101010101" charset="-122"/>
                <a:ea typeface="等线" panose="02010600030101010101" charset="-122"/>
                <a:sym typeface="+mn-ea"/>
              </a:rPr>
              <a:t>类似</a:t>
            </a:r>
            <a:r>
              <a:rPr lang="en-US" altLang="zh-CN" b="1">
                <a:solidFill>
                  <a:schemeClr val="tx1"/>
                </a:solidFill>
                <a:latin typeface="等线" panose="02010600030101010101" charset="-122"/>
                <a:ea typeface="等线" panose="02010600030101010101" charset="-122"/>
                <a:sym typeface="+mn-ea"/>
              </a:rPr>
              <a:t>C</a:t>
            </a:r>
            <a:r>
              <a:rPr lang="zh-CN" altLang="en-US" b="1">
                <a:solidFill>
                  <a:schemeClr val="tx1"/>
                </a:solidFill>
                <a:latin typeface="等线" panose="02010600030101010101" charset="-122"/>
                <a:ea typeface="等线" panose="02010600030101010101" charset="-122"/>
                <a:sym typeface="+mn-ea"/>
              </a:rPr>
              <a:t>程序中的数据</a:t>
            </a:r>
            <a:r>
              <a:rPr lang="zh-CN" altLang="en-US" b="1">
                <a:solidFill>
                  <a:schemeClr val="tx1"/>
                </a:solidFill>
                <a:latin typeface="等线" panose="02010600030101010101" charset="-122"/>
                <a:ea typeface="等线" panose="02010600030101010101" charset="-122"/>
                <a:sym typeface="+mn-ea"/>
              </a:rPr>
              <a:t>类型</a:t>
            </a:r>
            <a:endParaRPr lang="zh-CN" altLang="en-US" b="1">
              <a:solidFill>
                <a:schemeClr val="tx1"/>
              </a:solidFill>
              <a:latin typeface="等线" panose="02010600030101010101" charset="-122"/>
              <a:ea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标题 1"/>
          <p:cNvSpPr>
            <a:spLocks noGrp="1"/>
          </p:cNvSpPr>
          <p:nvPr>
            <p:custDataLst>
              <p:tags r:id="rId6"/>
            </p:custDataLst>
          </p:nvPr>
        </p:nvSpPr>
        <p:spPr>
          <a:xfrm>
            <a:off x="137160" y="262890"/>
            <a:ext cx="650303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5/6</a:t>
            </a:r>
            <a:endParaRPr kumimoji="1" lang="en-US" altLang="zh-CN" sz="2400" dirty="0">
              <a:solidFill>
                <a:schemeClr val="bg1"/>
              </a:solidFill>
            </a:endParaRPr>
          </a:p>
        </p:txBody>
      </p:sp>
      <p:sp>
        <p:nvSpPr>
          <p:cNvPr id="2" name="文本框 1"/>
          <p:cNvSpPr txBox="1"/>
          <p:nvPr>
            <p:custDataLst>
              <p:tags r:id="rId7"/>
            </p:custDataLst>
          </p:nvPr>
        </p:nvSpPr>
        <p:spPr>
          <a:xfrm>
            <a:off x="366395" y="1252855"/>
            <a:ext cx="8410575" cy="645160"/>
          </a:xfrm>
          <a:prstGeom prst="rect">
            <a:avLst/>
          </a:prstGeom>
          <a:noFill/>
        </p:spPr>
        <p:txBody>
          <a:bodyPr wrap="square" rtlCol="0" anchor="t">
            <a:spAutoFit/>
          </a:bodyPr>
          <a:p>
            <a:r>
              <a:rPr lang="zh-CN" altLang="en-US" sz="3600" b="1" dirty="0">
                <a:sym typeface="+mn-ea"/>
              </a:rPr>
              <a:t>类与对象在编程中</a:t>
            </a:r>
            <a:r>
              <a:rPr lang="zh-CN" altLang="en-US" sz="3600" b="1" dirty="0">
                <a:sym typeface="+mn-ea"/>
              </a:rPr>
              <a:t>的分工</a:t>
            </a:r>
            <a:r>
              <a:rPr lang="en-US" altLang="zh-CN" sz="3600" b="1" dirty="0">
                <a:sym typeface="+mn-ea"/>
              </a:rPr>
              <a:t>(</a:t>
            </a:r>
            <a:r>
              <a:rPr lang="zh-CN" altLang="en-US" sz="3600" b="1" dirty="0">
                <a:sym typeface="+mn-ea"/>
              </a:rPr>
              <a:t>印象三</a:t>
            </a:r>
            <a:r>
              <a:rPr lang="en-US" altLang="zh-CN" sz="3600" b="1" dirty="0">
                <a:sym typeface="+mn-ea"/>
              </a:rPr>
              <a:t>)</a:t>
            </a:r>
            <a:endParaRPr lang="en-US" altLang="zh-CN" sz="3600" b="1" dirty="0">
              <a:sym typeface="+mn-ea"/>
            </a:endParaRPr>
          </a:p>
        </p:txBody>
      </p:sp>
      <p:sp>
        <p:nvSpPr>
          <p:cNvPr id="7" name="文本框 6"/>
          <p:cNvSpPr txBox="1"/>
          <p:nvPr/>
        </p:nvSpPr>
        <p:spPr>
          <a:xfrm>
            <a:off x="545465" y="1877695"/>
            <a:ext cx="8231505" cy="3941445"/>
          </a:xfrm>
          <a:prstGeom prst="rect">
            <a:avLst/>
          </a:prstGeom>
          <a:noFill/>
        </p:spPr>
        <p:txBody>
          <a:bodyPr wrap="square" rtlCol="0" anchor="t">
            <a:noAutofit/>
          </a:bodyPr>
          <a:p>
            <a:pPr marL="478155" lvl="1" indent="-457200" algn="just">
              <a:lnSpc>
                <a:spcPct val="150000"/>
              </a:lnSpc>
              <a:buClrTx/>
              <a:buSzTx/>
              <a:buFont typeface="Arial" panose="020B0604020202020204" pitchFamily="34" charset="0"/>
              <a:buChar char="•"/>
            </a:pPr>
            <a:r>
              <a:rPr lang="zh-CN" altLang="en-US" sz="2800" b="1" dirty="0">
                <a:solidFill>
                  <a:schemeClr val="accent1"/>
                </a:solidFill>
                <a:latin typeface="+mn-ea"/>
                <a:cs typeface="+mn-ea"/>
                <a:sym typeface="+mn-ea"/>
              </a:rPr>
              <a:t>类规定</a:t>
            </a:r>
            <a:r>
              <a:rPr lang="zh-CN" altLang="en-US" sz="2800" b="1" dirty="0">
                <a:solidFill>
                  <a:schemeClr val="tx1"/>
                </a:solidFill>
                <a:latin typeface="+mn-ea"/>
                <a:cs typeface="+mn-ea"/>
                <a:sym typeface="+mn-ea"/>
              </a:rPr>
              <a:t>了</a:t>
            </a:r>
            <a:r>
              <a:rPr lang="zh-CN" altLang="en-US" sz="2800" b="1" dirty="0">
                <a:latin typeface="+mn-ea"/>
                <a:cs typeface="+mn-ea"/>
                <a:sym typeface="+mn-ea"/>
              </a:rPr>
              <a:t>可以使用哪些数据来表示对象以及可以对这些数据执行哪些操作</a:t>
            </a:r>
            <a:endParaRPr lang="zh-CN" altLang="en-US" sz="2800" b="1" dirty="0">
              <a:latin typeface="+mn-ea"/>
              <a:cs typeface="+mn-ea"/>
            </a:endParaRPr>
          </a:p>
          <a:p>
            <a:pPr marL="478155" lvl="1" indent="-457200" algn="just">
              <a:lnSpc>
                <a:spcPct val="150000"/>
              </a:lnSpc>
              <a:buClrTx/>
              <a:buSzTx/>
              <a:buFont typeface="Arial" panose="020B0604020202020204" pitchFamily="34" charset="0"/>
              <a:buChar char="•"/>
            </a:pPr>
            <a:r>
              <a:rPr lang="zh-CN" altLang="en-US" sz="2800" b="1" dirty="0">
                <a:gradFill>
                  <a:gsLst>
                    <a:gs pos="0">
                      <a:srgbClr val="007BD3"/>
                    </a:gs>
                    <a:gs pos="100000">
                      <a:srgbClr val="034373"/>
                    </a:gs>
                  </a:gsLst>
                  <a:lin scaled="0"/>
                </a:gradFill>
                <a:latin typeface="+mn-ea"/>
                <a:cs typeface="+mn-ea"/>
                <a:sym typeface="+mn-ea"/>
              </a:rPr>
              <a:t>对象</a:t>
            </a:r>
            <a:r>
              <a:rPr lang="zh-CN" altLang="en-US" sz="2800" b="1" dirty="0">
                <a:latin typeface="+mn-ea"/>
                <a:cs typeface="+mn-ea"/>
                <a:sym typeface="+mn-ea"/>
              </a:rPr>
              <a:t>是程序</a:t>
            </a:r>
            <a:r>
              <a:rPr lang="zh-CN" altLang="en-US" sz="2800" b="1" dirty="0">
                <a:gradFill>
                  <a:gsLst>
                    <a:gs pos="0">
                      <a:srgbClr val="007BD3"/>
                    </a:gs>
                    <a:gs pos="100000">
                      <a:srgbClr val="034373"/>
                    </a:gs>
                  </a:gsLst>
                  <a:lin scaled="0"/>
                </a:gradFill>
                <a:latin typeface="+mn-ea"/>
                <a:cs typeface="+mn-ea"/>
                <a:sym typeface="+mn-ea"/>
              </a:rPr>
              <a:t>执行</a:t>
            </a:r>
            <a:r>
              <a:rPr lang="zh-CN" altLang="en-US" sz="2800" b="1" dirty="0">
                <a:latin typeface="+mn-ea"/>
                <a:cs typeface="+mn-ea"/>
                <a:sym typeface="+mn-ea"/>
              </a:rPr>
              <a:t>时创建的，并为其</a:t>
            </a:r>
            <a:r>
              <a:rPr lang="zh-CN" altLang="en-US" sz="2800" b="1" dirty="0">
                <a:gradFill>
                  <a:gsLst>
                    <a:gs pos="0">
                      <a:srgbClr val="007BD3"/>
                    </a:gs>
                    <a:gs pos="100000">
                      <a:srgbClr val="034373"/>
                    </a:gs>
                  </a:gsLst>
                  <a:lin scaled="0"/>
                </a:gradFill>
                <a:latin typeface="+mn-ea"/>
                <a:cs typeface="+mn-ea"/>
                <a:sym typeface="+mn-ea"/>
              </a:rPr>
              <a:t>分配内存</a:t>
            </a:r>
            <a:r>
              <a:rPr lang="zh-CN" altLang="en-US" sz="2800" b="1" dirty="0">
                <a:latin typeface="+mn-ea"/>
                <a:cs typeface="+mn-ea"/>
                <a:sym typeface="+mn-ea"/>
              </a:rPr>
              <a:t>，对象之间进行交互实现</a:t>
            </a:r>
            <a:r>
              <a:rPr lang="zh-CN" altLang="en-US" sz="2800" b="1" dirty="0">
                <a:latin typeface="+mn-ea"/>
                <a:cs typeface="+mn-ea"/>
                <a:sym typeface="+mn-ea"/>
              </a:rPr>
              <a:t>程序功能。</a:t>
            </a:r>
            <a:endParaRPr lang="zh-CN" altLang="en-US" sz="2800" b="1" dirty="0">
              <a:latin typeface="+mn-ea"/>
              <a:cs typeface="+mn-ea"/>
              <a:sym typeface="+mn-ea"/>
            </a:endParaRPr>
          </a:p>
          <a:p>
            <a:pPr marL="478155" lvl="1" indent="-457200" algn="just">
              <a:lnSpc>
                <a:spcPct val="150000"/>
              </a:lnSpc>
              <a:buClrTx/>
              <a:buSzTx/>
              <a:buFont typeface="Arial" panose="020B0604020202020204" pitchFamily="34" charset="0"/>
              <a:buChar char="•"/>
            </a:pPr>
            <a:r>
              <a:rPr lang="zh-CN" altLang="en-US" sz="2800" b="1" dirty="0">
                <a:solidFill>
                  <a:schemeClr val="accent1"/>
                </a:solidFill>
                <a:latin typeface="+mn-ea"/>
                <a:cs typeface="+mn-ea"/>
                <a:sym typeface="+mn-ea"/>
              </a:rPr>
              <a:t>定义类</a:t>
            </a:r>
            <a:r>
              <a:rPr lang="en-US" altLang="zh-CN" sz="2800" b="1" dirty="0">
                <a:latin typeface="+mn-ea"/>
                <a:cs typeface="+mn-ea"/>
                <a:sym typeface="+mn-ea"/>
              </a:rPr>
              <a:t>—&gt;</a:t>
            </a:r>
            <a:r>
              <a:rPr lang="zh-CN" altLang="en-US" sz="2800" b="1" dirty="0">
                <a:solidFill>
                  <a:schemeClr val="accent1"/>
                </a:solidFill>
                <a:latin typeface="+mn-ea"/>
                <a:cs typeface="+mn-ea"/>
                <a:sym typeface="+mn-ea"/>
              </a:rPr>
              <a:t>通过类创建对象</a:t>
            </a:r>
            <a:r>
              <a:rPr lang="en-US" altLang="zh-CN" sz="2800" b="1" dirty="0">
                <a:latin typeface="+mn-ea"/>
                <a:cs typeface="+mn-ea"/>
                <a:sym typeface="+mn-ea"/>
              </a:rPr>
              <a:t>—&gt;</a:t>
            </a:r>
            <a:r>
              <a:rPr lang="zh-CN" altLang="en-US" sz="2800" b="1" dirty="0">
                <a:solidFill>
                  <a:schemeClr val="accent1"/>
                </a:solidFill>
                <a:latin typeface="+mn-ea"/>
                <a:cs typeface="+mn-ea"/>
                <a:sym typeface="+mn-ea"/>
              </a:rPr>
              <a:t>调用对象的方法</a:t>
            </a:r>
            <a:r>
              <a:rPr lang="en-US" altLang="zh-CN" sz="2800" b="1" dirty="0">
                <a:latin typeface="+mn-ea"/>
                <a:cs typeface="+mn-ea"/>
                <a:sym typeface="+mn-ea"/>
              </a:rPr>
              <a:t>—&gt;</a:t>
            </a:r>
            <a:r>
              <a:rPr lang="zh-CN" altLang="en-US" sz="2800" b="1" dirty="0">
                <a:solidFill>
                  <a:schemeClr val="accent1"/>
                </a:solidFill>
                <a:latin typeface="+mn-ea"/>
                <a:cs typeface="+mn-ea"/>
                <a:sym typeface="+mn-ea"/>
              </a:rPr>
              <a:t>实现程序功能</a:t>
            </a:r>
            <a:endParaRPr lang="zh-CN" altLang="en-US" sz="2800" b="1" dirty="0">
              <a:solidFill>
                <a:schemeClr val="tx1"/>
              </a:solidFill>
              <a:latin typeface="+mn-ea"/>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标题 1"/>
          <p:cNvSpPr>
            <a:spLocks noGrp="1"/>
          </p:cNvSpPr>
          <p:nvPr>
            <p:custDataLst>
              <p:tags r:id="rId6"/>
            </p:custDataLst>
          </p:nvPr>
        </p:nvSpPr>
        <p:spPr>
          <a:xfrm>
            <a:off x="137160" y="262890"/>
            <a:ext cx="650303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altLang="zh-CN" dirty="0">
                <a:solidFill>
                  <a:schemeClr val="bg1"/>
                </a:solidFill>
              </a:rPr>
              <a:t>1.1.2  </a:t>
            </a:r>
            <a:r>
              <a:rPr kumimoji="1" lang="zh-CN" altLang="en-US" dirty="0">
                <a:solidFill>
                  <a:schemeClr val="bg1"/>
                </a:solidFill>
              </a:rPr>
              <a:t>类与对象</a:t>
            </a:r>
            <a:r>
              <a:rPr kumimoji="1" lang="en-US" altLang="zh-CN" sz="2400" dirty="0">
                <a:solidFill>
                  <a:schemeClr val="bg1"/>
                </a:solidFill>
              </a:rPr>
              <a:t>6/6</a:t>
            </a:r>
            <a:endParaRPr kumimoji="1" lang="en-US" altLang="zh-CN" sz="2400" dirty="0">
              <a:solidFill>
                <a:schemeClr val="bg1"/>
              </a:solidFill>
            </a:endParaRPr>
          </a:p>
        </p:txBody>
      </p:sp>
      <p:grpSp>
        <p:nvGrpSpPr>
          <p:cNvPr id="20" name="组合 19"/>
          <p:cNvGrpSpPr/>
          <p:nvPr/>
        </p:nvGrpSpPr>
        <p:grpSpPr>
          <a:xfrm>
            <a:off x="695960" y="1253490"/>
            <a:ext cx="5502910" cy="1475105"/>
            <a:chOff x="262885" y="1200177"/>
            <a:chExt cx="4888026" cy="1474264"/>
          </a:xfrm>
        </p:grpSpPr>
        <p:sp>
          <p:nvSpPr>
            <p:cNvPr id="50190" name="矩形 5"/>
            <p:cNvSpPr/>
            <p:nvPr>
              <p:custDataLst>
                <p:tags r:id="rId7"/>
              </p:custDataLst>
            </p:nvPr>
          </p:nvSpPr>
          <p:spPr>
            <a:xfrm>
              <a:off x="262885" y="1653470"/>
              <a:ext cx="1344532" cy="242942"/>
            </a:xfrm>
            <a:prstGeom prst="rect">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zh-CN" altLang="en-US" b="1" dirty="0">
                  <a:latin typeface="Times New Roman" panose="02020603050405020304" pitchFamily="18" charset="0"/>
                  <a:ea typeface="宋体" panose="02010600030101010101" pitchFamily="2" charset="-122"/>
                </a:rPr>
                <a:t>前端界面</a:t>
              </a:r>
              <a:endParaRPr lang="zh-CN" altLang="en-US" b="1" dirty="0">
                <a:latin typeface="Times New Roman" panose="02020603050405020304" pitchFamily="18" charset="0"/>
                <a:ea typeface="宋体" panose="02010600030101010101" pitchFamily="2" charset="-122"/>
              </a:endParaRPr>
            </a:p>
          </p:txBody>
        </p:sp>
        <p:sp>
          <p:nvSpPr>
            <p:cNvPr id="50191" name="矩形 18"/>
            <p:cNvSpPr/>
            <p:nvPr>
              <p:custDataLst>
                <p:tags r:id="rId8"/>
              </p:custDataLst>
            </p:nvPr>
          </p:nvSpPr>
          <p:spPr>
            <a:xfrm>
              <a:off x="1912868" y="1200177"/>
              <a:ext cx="1624852" cy="863518"/>
            </a:xfrm>
            <a:prstGeom prst="rect">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zh-CN" altLang="en-US" b="1" dirty="0">
                  <a:latin typeface="Times New Roman" panose="02020603050405020304" pitchFamily="18" charset="0"/>
                  <a:ea typeface="宋体" panose="02010600030101010101" pitchFamily="2" charset="-122"/>
                </a:rPr>
                <a:t>对象</a:t>
              </a:r>
              <a:r>
                <a:rPr lang="en-US" altLang="zh-CN" b="1" dirty="0">
                  <a:latin typeface="Times New Roman" panose="02020603050405020304" pitchFamily="18" charset="0"/>
                </a:rPr>
                <a:t>1</a:t>
              </a:r>
              <a:endParaRPr lang="en-US" altLang="zh-CN" b="1" dirty="0">
                <a:latin typeface="Times New Roman" panose="02020603050405020304" pitchFamily="18" charset="0"/>
              </a:endParaRPr>
            </a:p>
            <a:p>
              <a:pPr marL="469900" indent="-469900">
                <a:lnSpc>
                  <a:spcPct val="75000"/>
                </a:lnSpc>
                <a:spcBef>
                  <a:spcPct val="20000"/>
                </a:spcBef>
                <a:buClr>
                  <a:schemeClr val="accent2"/>
                </a:buClr>
                <a:buFont typeface="Wingdings" panose="05000000000000000000" pitchFamily="2" charset="2"/>
              </a:pP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marL="469900" indent="-469900">
                <a:lnSpc>
                  <a:spcPct val="75000"/>
                </a:lnSpc>
                <a:spcBef>
                  <a:spcPct val="20000"/>
                </a:spcBef>
                <a:buClr>
                  <a:schemeClr val="accent2"/>
                </a:buClr>
                <a:buFont typeface="Wingdings" panose="05000000000000000000" pitchFamily="2" charset="2"/>
              </a:pPr>
              <a:r>
                <a:rPr lang="zh-CN" altLang="en-US" b="1" dirty="0">
                  <a:latin typeface="Times New Roman" panose="02020603050405020304" pitchFamily="18" charset="0"/>
                  <a:ea typeface="宋体" panose="02010600030101010101" pitchFamily="2" charset="-122"/>
                </a:rPr>
                <a:t>对象</a:t>
              </a:r>
              <a:r>
                <a:rPr lang="en-US" altLang="zh-CN" b="1" dirty="0">
                  <a:latin typeface="Times New Roman" panose="02020603050405020304" pitchFamily="18" charset="0"/>
                </a:rPr>
                <a:t>n</a:t>
              </a:r>
              <a:endParaRPr lang="zh-CN" altLang="en-US" b="1" dirty="0">
                <a:latin typeface="Times New Roman" panose="02020603050405020304" pitchFamily="18" charset="0"/>
                <a:ea typeface="宋体" panose="02010600030101010101" pitchFamily="2" charset="-122"/>
              </a:endParaRPr>
            </a:p>
          </p:txBody>
        </p:sp>
        <p:sp>
          <p:nvSpPr>
            <p:cNvPr id="50192" name="矩形 19"/>
            <p:cNvSpPr/>
            <p:nvPr>
              <p:custDataLst>
                <p:tags r:id="rId9"/>
              </p:custDataLst>
            </p:nvPr>
          </p:nvSpPr>
          <p:spPr>
            <a:xfrm>
              <a:off x="3806379" y="1631936"/>
              <a:ext cx="1344532" cy="242942"/>
            </a:xfrm>
            <a:prstGeom prst="rect">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zh-CN" altLang="en-US" b="1" dirty="0">
                  <a:latin typeface="Times New Roman" panose="02020603050405020304" pitchFamily="18" charset="0"/>
                  <a:ea typeface="宋体" panose="02010600030101010101" pitchFamily="2" charset="-122"/>
                </a:rPr>
                <a:t>数据库</a:t>
              </a:r>
              <a:endParaRPr lang="zh-CN" altLang="en-US" b="1" dirty="0">
                <a:latin typeface="Times New Roman" panose="02020603050405020304" pitchFamily="18" charset="0"/>
                <a:ea typeface="宋体" panose="02010600030101010101" pitchFamily="2" charset="-122"/>
              </a:endParaRPr>
            </a:p>
          </p:txBody>
        </p:sp>
        <p:cxnSp>
          <p:nvCxnSpPr>
            <p:cNvPr id="50193" name="直接箭头连接符 7"/>
            <p:cNvCxnSpPr>
              <a:stCxn id="50190" idx="3"/>
              <a:endCxn id="50191" idx="1"/>
            </p:cNvCxnSpPr>
            <p:nvPr>
              <p:custDataLst>
                <p:tags r:id="rId10"/>
              </p:custDataLst>
            </p:nvPr>
          </p:nvCxnSpPr>
          <p:spPr>
            <a:xfrm flipV="1">
              <a:off x="1607417" y="1631936"/>
              <a:ext cx="305451" cy="143005"/>
            </a:xfrm>
            <a:prstGeom prst="straightConnector1">
              <a:avLst/>
            </a:prstGeom>
            <a:ln w="12700" cap="flat" cmpd="sng">
              <a:solidFill>
                <a:schemeClr val="hlink"/>
              </a:solidFill>
              <a:prstDash val="sysDot"/>
              <a:round/>
              <a:headEnd type="triangle" w="med" len="med"/>
              <a:tailEnd type="triangle" w="med" len="med"/>
            </a:ln>
          </p:spPr>
        </p:cxnSp>
        <p:cxnSp>
          <p:nvCxnSpPr>
            <p:cNvPr id="50194" name="直接箭头连接符 22"/>
            <p:cNvCxnSpPr>
              <a:stCxn id="50190" idx="3"/>
              <a:endCxn id="50192" idx="1"/>
            </p:cNvCxnSpPr>
            <p:nvPr>
              <p:custDataLst>
                <p:tags r:id="rId11"/>
              </p:custDataLst>
            </p:nvPr>
          </p:nvCxnSpPr>
          <p:spPr>
            <a:xfrm>
              <a:off x="3547299" y="1617480"/>
              <a:ext cx="259080" cy="135927"/>
            </a:xfrm>
            <a:prstGeom prst="straightConnector1">
              <a:avLst/>
            </a:prstGeom>
            <a:ln w="12700" cap="flat" cmpd="sng">
              <a:solidFill>
                <a:schemeClr val="hlink"/>
              </a:solidFill>
              <a:prstDash val="sysDot"/>
              <a:round/>
              <a:headEnd type="triangle" w="med" len="med"/>
              <a:tailEnd type="triangle" w="med" len="med"/>
            </a:ln>
          </p:spPr>
        </p:cxnSp>
        <p:cxnSp>
          <p:nvCxnSpPr>
            <p:cNvPr id="50195" name="直接连接符 9"/>
            <p:cNvCxnSpPr>
              <a:stCxn id="50190" idx="2"/>
              <a:endCxn id="50197" idx="1"/>
            </p:cNvCxnSpPr>
            <p:nvPr>
              <p:custDataLst>
                <p:tags r:id="rId12"/>
              </p:custDataLst>
            </p:nvPr>
          </p:nvCxnSpPr>
          <p:spPr>
            <a:xfrm>
              <a:off x="935151" y="1896412"/>
              <a:ext cx="1258037" cy="656558"/>
            </a:xfrm>
            <a:prstGeom prst="line">
              <a:avLst/>
            </a:prstGeom>
            <a:ln w="12700" cap="flat" cmpd="sng">
              <a:solidFill>
                <a:schemeClr val="hlink"/>
              </a:solidFill>
              <a:prstDash val="sysDot"/>
              <a:round/>
              <a:headEnd type="none" w="med" len="med"/>
              <a:tailEnd type="none" w="med" len="med"/>
            </a:ln>
          </p:spPr>
        </p:cxnSp>
        <p:cxnSp>
          <p:nvCxnSpPr>
            <p:cNvPr id="50196" name="直接连接符 16"/>
            <p:cNvCxnSpPr>
              <a:stCxn id="50192" idx="2"/>
              <a:endCxn id="50197" idx="3"/>
            </p:cNvCxnSpPr>
            <p:nvPr>
              <p:custDataLst>
                <p:tags r:id="rId13"/>
              </p:custDataLst>
            </p:nvPr>
          </p:nvCxnSpPr>
          <p:spPr>
            <a:xfrm flipH="1">
              <a:off x="3537720" y="1874878"/>
              <a:ext cx="940925" cy="678092"/>
            </a:xfrm>
            <a:prstGeom prst="line">
              <a:avLst/>
            </a:prstGeom>
            <a:ln w="12700" cap="flat" cmpd="sng">
              <a:solidFill>
                <a:schemeClr val="hlink"/>
              </a:solidFill>
              <a:prstDash val="sysDot"/>
              <a:round/>
              <a:headEnd type="none" w="med" len="med"/>
              <a:tailEnd type="none" w="med" len="med"/>
            </a:ln>
          </p:spPr>
        </p:cxnSp>
        <p:sp>
          <p:nvSpPr>
            <p:cNvPr id="50197" name="矩形 27"/>
            <p:cNvSpPr/>
            <p:nvPr>
              <p:custDataLst>
                <p:tags r:id="rId14"/>
              </p:custDataLst>
            </p:nvPr>
          </p:nvSpPr>
          <p:spPr>
            <a:xfrm>
              <a:off x="2193188" y="2431499"/>
              <a:ext cx="1344532" cy="242942"/>
            </a:xfrm>
            <a:prstGeom prst="rect">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en-US" altLang="zh-CN" b="1" dirty="0">
                  <a:latin typeface="Times New Roman" panose="02020603050405020304" pitchFamily="18" charset="0"/>
                </a:rPr>
                <a:t>Web</a:t>
              </a:r>
              <a:r>
                <a:rPr lang="zh-CN" altLang="en-US" b="1" dirty="0">
                  <a:latin typeface="Times New Roman" panose="02020603050405020304" pitchFamily="18" charset="0"/>
                  <a:ea typeface="宋体" panose="02010600030101010101" pitchFamily="2" charset="-122"/>
                </a:rPr>
                <a:t>系统</a:t>
              </a:r>
              <a:endParaRPr lang="zh-CN" altLang="en-US" b="1" dirty="0">
                <a:latin typeface="Times New Roman" panose="02020603050405020304" pitchFamily="18" charset="0"/>
                <a:ea typeface="宋体" panose="02010600030101010101" pitchFamily="2" charset="-122"/>
              </a:endParaRPr>
            </a:p>
          </p:txBody>
        </p:sp>
      </p:grpSp>
      <p:graphicFrame>
        <p:nvGraphicFramePr>
          <p:cNvPr id="126979" name="Object 3"/>
          <p:cNvGraphicFramePr>
            <a:graphicFrameLocks noChangeAspect="1"/>
          </p:cNvGraphicFramePr>
          <p:nvPr/>
        </p:nvGraphicFramePr>
        <p:xfrm>
          <a:off x="936308" y="2888615"/>
          <a:ext cx="3768725" cy="2951163"/>
        </p:xfrm>
        <a:graphic>
          <a:graphicData uri="http://schemas.openxmlformats.org/presentationml/2006/ole">
            <mc:AlternateContent xmlns:mc="http://schemas.openxmlformats.org/markup-compatibility/2006">
              <mc:Choice xmlns:v="urn:schemas-microsoft-com:vml" Requires="v">
                <p:oleObj spid="_x0000_s3079" name="" r:id="rId15" imgW="4276725" imgH="3362325" progId="Paint.Picture">
                  <p:embed/>
                </p:oleObj>
              </mc:Choice>
              <mc:Fallback>
                <p:oleObj name="" r:id="rId15" imgW="4276725" imgH="3362325" progId="Paint.Picture">
                  <p:embed/>
                  <p:pic>
                    <p:nvPicPr>
                      <p:cNvPr id="0" name="图片 3078"/>
                      <p:cNvPicPr/>
                      <p:nvPr/>
                    </p:nvPicPr>
                    <p:blipFill>
                      <a:blip r:embed="rId16"/>
                      <a:stretch>
                        <a:fillRect/>
                      </a:stretch>
                    </p:blipFill>
                    <p:spPr>
                      <a:xfrm>
                        <a:off x="936308" y="2888615"/>
                        <a:ext cx="3768725" cy="2951163"/>
                      </a:xfrm>
                      <a:prstGeom prst="rect">
                        <a:avLst/>
                      </a:prstGeom>
                      <a:noFill/>
                      <a:ln w="38100">
                        <a:noFill/>
                        <a:miter/>
                      </a:ln>
                    </p:spPr>
                  </p:pic>
                </p:oleObj>
              </mc:Fallback>
            </mc:AlternateContent>
          </a:graphicData>
        </a:graphic>
      </p:graphicFrame>
      <p:sp>
        <p:nvSpPr>
          <p:cNvPr id="12" name="矩形 11"/>
          <p:cNvSpPr/>
          <p:nvPr>
            <p:custDataLst>
              <p:tags r:id="rId17"/>
            </p:custDataLst>
          </p:nvPr>
        </p:nvSpPr>
        <p:spPr>
          <a:xfrm>
            <a:off x="825183" y="5984240"/>
            <a:ext cx="4213225" cy="368300"/>
          </a:xfrm>
          <a:prstGeom prst="rect">
            <a:avLst/>
          </a:prstGeom>
          <a:noFill/>
          <a:ln w="9525">
            <a:noFill/>
          </a:ln>
        </p:spPr>
        <p:txBody>
          <a:bodyPr anchor="t" anchorCtr="0">
            <a:spAutoFit/>
          </a:bodyPr>
          <a:p>
            <a:pPr>
              <a:lnSpc>
                <a:spcPct val="75000"/>
              </a:lnSpc>
              <a:spcBef>
                <a:spcPct val="20000"/>
              </a:spcBef>
              <a:buClr>
                <a:schemeClr val="accent2"/>
              </a:buClr>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举例？</a:t>
            </a:r>
            <a:endParaRPr lang="zh-CN" altLang="en-US" sz="2400" b="1" dirty="0">
              <a:latin typeface="Times New Roman" panose="02020603050405020304" pitchFamily="18" charset="0"/>
              <a:ea typeface="宋体" panose="02010600030101010101" pitchFamily="2" charset="-122"/>
            </a:endParaRPr>
          </a:p>
        </p:txBody>
      </p:sp>
      <p:sp>
        <p:nvSpPr>
          <p:cNvPr id="2" name="云形 1"/>
          <p:cNvSpPr/>
          <p:nvPr>
            <p:custDataLst>
              <p:tags r:id="rId18"/>
            </p:custDataLst>
          </p:nvPr>
        </p:nvSpPr>
        <p:spPr bwMode="auto">
          <a:xfrm>
            <a:off x="4800600" y="2112010"/>
            <a:ext cx="3630295" cy="688340"/>
          </a:xfrm>
          <a:prstGeom prst="cloud">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75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左图中的类与对象？</a:t>
            </a: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6884" name="组合 4"/>
          <p:cNvGrpSpPr/>
          <p:nvPr/>
        </p:nvGrpSpPr>
        <p:grpSpPr>
          <a:xfrm>
            <a:off x="5292725" y="2929257"/>
            <a:ext cx="3384550" cy="3380105"/>
            <a:chOff x="5759624" y="2389731"/>
            <a:chExt cx="3384376" cy="3380099"/>
          </a:xfrm>
        </p:grpSpPr>
        <p:sp>
          <p:nvSpPr>
            <p:cNvPr id="50186" name="Rectangle 6"/>
            <p:cNvSpPr/>
            <p:nvPr>
              <p:custDataLst>
                <p:tags r:id="rId19"/>
              </p:custDataLst>
            </p:nvPr>
          </p:nvSpPr>
          <p:spPr>
            <a:xfrm>
              <a:off x="5759624" y="2389731"/>
              <a:ext cx="3384376" cy="3380099"/>
            </a:xfrm>
            <a:prstGeom prst="rect">
              <a:avLst/>
            </a:prstGeom>
            <a:noFill/>
            <a:ln w="9525" cap="flat" cmpd="sng">
              <a:solidFill>
                <a:schemeClr val="tx1"/>
              </a:solidFill>
              <a:prstDash val="solid"/>
              <a:miter/>
              <a:headEnd type="none" w="med" len="med"/>
              <a:tailEnd type="none" w="med" len="med"/>
            </a:ln>
          </p:spPr>
          <p:txBody>
            <a:bodyPr wrap="none" anchor="ctr" anchorCtr="0"/>
            <a:p>
              <a:r>
                <a:rPr lang="zh-CN" altLang="en-US"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ndParaRPr>
            </a:p>
            <a:p>
              <a:endParaRPr lang="en-US" altLang="zh-CN" sz="2400" b="1" dirty="0">
                <a:latin typeface="Times New Roman" panose="02020603050405020304" pitchFamily="18" charset="0"/>
              </a:endParaRPr>
            </a:p>
            <a:p>
              <a:pPr algn="ctr"/>
              <a:r>
                <a:rPr lang="en-US" altLang="zh-CN" sz="2000" b="1" dirty="0">
                  <a:latin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rPr>
                <a:t>机票</a:t>
              </a:r>
              <a:endParaRPr lang="zh-CN" altLang="en-US" sz="2000" b="1" dirty="0">
                <a:latin typeface="Times New Roman" panose="02020603050405020304" pitchFamily="18" charset="0"/>
                <a:ea typeface="宋体" panose="02010600030101010101" pitchFamily="2" charset="-122"/>
              </a:endParaRPr>
            </a:p>
            <a:p>
              <a:pPr algn="ct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rPr>
                <a:t>航程类型</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rPr>
                <a:t>出发城市</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rPr>
                <a:t>到达城市</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rPr>
                <a:t>出发日期</a:t>
              </a:r>
              <a:endParaRPr lang="en-US" altLang="zh-CN" sz="2000" b="1" dirty="0">
                <a:latin typeface="Times New Roman" panose="02020603050405020304" pitchFamily="18" charset="0"/>
              </a:endParaRPr>
            </a:p>
            <a:p>
              <a:pPr algn="ctr"/>
              <a:r>
                <a:rPr lang="zh-CN" altLang="en-US" sz="2000" b="1" dirty="0">
                  <a:latin typeface="Times New Roman" panose="02020603050405020304" pitchFamily="18" charset="0"/>
                  <a:ea typeface="宋体" panose="02010600030101010101" pitchFamily="2" charset="-122"/>
                </a:rPr>
                <a:t>    返回日期</a:t>
              </a:r>
              <a:endParaRPr lang="en-US" altLang="zh-CN" sz="2000" b="1" dirty="0">
                <a:latin typeface="Times New Roman" panose="02020603050405020304" pitchFamily="18" charset="0"/>
              </a:endParaRPr>
            </a:p>
            <a:p>
              <a:pPr lvl="1" algn="ctr"/>
              <a:r>
                <a:rPr lang="zh-CN" altLang="en-US" sz="2000" b="1" dirty="0">
                  <a:latin typeface="Times New Roman" panose="02020603050405020304" pitchFamily="18" charset="0"/>
                  <a:ea typeface="宋体" panose="02010600030101010101" pitchFamily="2" charset="-122"/>
                </a:rPr>
                <a:t>返回航程类型的函数</a:t>
              </a:r>
              <a:endParaRPr lang="en-US" altLang="zh-CN" sz="2000" b="1" dirty="0">
                <a:latin typeface="Times New Roman" panose="02020603050405020304" pitchFamily="18" charset="0"/>
              </a:endParaRPr>
            </a:p>
            <a:p>
              <a:pPr lvl="1" algn="ctr"/>
              <a:r>
                <a:rPr lang="zh-CN" altLang="en-US" sz="2000" b="1" dirty="0">
                  <a:latin typeface="Times New Roman" panose="02020603050405020304" pitchFamily="18" charset="0"/>
                  <a:ea typeface="宋体" panose="02010600030101010101" pitchFamily="2" charset="-122"/>
                </a:rPr>
                <a:t>返回出发城市的函数</a:t>
              </a:r>
              <a:endParaRPr lang="en-US" altLang="zh-CN" sz="2000" b="1" dirty="0">
                <a:latin typeface="Times New Roman" panose="02020603050405020304" pitchFamily="18" charset="0"/>
              </a:endParaRPr>
            </a:p>
            <a:p>
              <a:pPr lvl="1" algn="ctr"/>
              <a:r>
                <a:rPr lang="zh-CN" altLang="en-US" sz="2000" b="1" dirty="0">
                  <a:latin typeface="Times New Roman" panose="02020603050405020304" pitchFamily="18" charset="0"/>
                  <a:ea typeface="宋体" panose="02010600030101010101" pitchFamily="2" charset="-122"/>
                </a:rPr>
                <a:t>返回到达城市的函数</a:t>
              </a:r>
              <a:endParaRPr lang="en-US" altLang="zh-CN" sz="2000" b="1" dirty="0">
                <a:latin typeface="Times New Roman" panose="02020603050405020304" pitchFamily="18" charset="0"/>
              </a:endParaRPr>
            </a:p>
            <a:p>
              <a:pPr lvl="1" algn="ctr"/>
              <a:r>
                <a:rPr lang="zh-CN" altLang="en-US" sz="2000" b="1" dirty="0">
                  <a:latin typeface="Times New Roman" panose="02020603050405020304" pitchFamily="18" charset="0"/>
                  <a:ea typeface="宋体" panose="02010600030101010101" pitchFamily="2" charset="-122"/>
                </a:rPr>
                <a:t>返回出发日期的函数</a:t>
              </a:r>
              <a:endParaRPr lang="en-US" altLang="zh-CN" sz="2000" b="1" dirty="0">
                <a:latin typeface="Times New Roman" panose="02020603050405020304" pitchFamily="18" charset="0"/>
              </a:endParaRPr>
            </a:p>
            <a:p>
              <a:pPr lvl="1" algn="ctr"/>
              <a:r>
                <a:rPr lang="zh-CN" altLang="en-US" sz="2000" b="1" dirty="0">
                  <a:latin typeface="Times New Roman" panose="02020603050405020304" pitchFamily="18" charset="0"/>
                  <a:ea typeface="宋体" panose="02010600030101010101" pitchFamily="2" charset="-122"/>
                </a:rPr>
                <a:t>返回日期的函数</a:t>
              </a:r>
              <a:endParaRPr lang="en-US" altLang="zh-CN" sz="2000" b="1" dirty="0">
                <a:latin typeface="Times New Roman" panose="02020603050405020304" pitchFamily="18" charset="0"/>
              </a:endParaRPr>
            </a:p>
            <a:p>
              <a:endParaRPr lang="en-US" altLang="zh-CN" sz="2400" b="1" dirty="0">
                <a:latin typeface="Times New Roman" panose="02020603050405020304" pitchFamily="18" charset="0"/>
              </a:endParaRPr>
            </a:p>
            <a:p>
              <a:endParaRPr lang="zh-CN" altLang="en-US" sz="2400" b="1" dirty="0">
                <a:latin typeface="Times New Roman" panose="02020603050405020304" pitchFamily="18" charset="0"/>
                <a:ea typeface="宋体" panose="02010600030101010101" pitchFamily="2" charset="-122"/>
              </a:endParaRPr>
            </a:p>
          </p:txBody>
        </p:sp>
        <p:cxnSp>
          <p:nvCxnSpPr>
            <p:cNvPr id="50187" name="直接连接符 13"/>
            <p:cNvCxnSpPr/>
            <p:nvPr>
              <p:custDataLst>
                <p:tags r:id="rId20"/>
              </p:custDataLst>
            </p:nvPr>
          </p:nvCxnSpPr>
          <p:spPr>
            <a:xfrm>
              <a:off x="5759624" y="2687851"/>
              <a:ext cx="3384376" cy="0"/>
            </a:xfrm>
            <a:prstGeom prst="line">
              <a:avLst/>
            </a:prstGeom>
            <a:ln w="12700" cap="flat" cmpd="sng">
              <a:solidFill>
                <a:schemeClr val="hlink"/>
              </a:solidFill>
              <a:prstDash val="solid"/>
              <a:round/>
              <a:headEnd type="none" w="med" len="med"/>
              <a:tailEnd type="none" w="med" len="med"/>
            </a:ln>
          </p:spPr>
        </p:cxnSp>
        <p:cxnSp>
          <p:nvCxnSpPr>
            <p:cNvPr id="50188" name="直接连接符 14"/>
            <p:cNvCxnSpPr/>
            <p:nvPr>
              <p:custDataLst>
                <p:tags r:id="rId21"/>
              </p:custDataLst>
            </p:nvPr>
          </p:nvCxnSpPr>
          <p:spPr>
            <a:xfrm>
              <a:off x="5759624" y="4222239"/>
              <a:ext cx="3384376" cy="0"/>
            </a:xfrm>
            <a:prstGeom prst="line">
              <a:avLst/>
            </a:prstGeom>
            <a:ln w="12700" cap="flat" cmpd="sng">
              <a:solidFill>
                <a:schemeClr val="hlink"/>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2697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8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1.1.3  </a:t>
            </a:r>
            <a:r>
              <a:rPr kumimoji="1" lang="zh-CN" altLang="en-US" dirty="0">
                <a:solidFill>
                  <a:schemeClr val="bg1"/>
                </a:solidFill>
              </a:rPr>
              <a:t>类的属性和操作</a:t>
            </a:r>
            <a:r>
              <a:rPr kumimoji="1" lang="en-US" altLang="zh-CN" sz="2400" dirty="0">
                <a:solidFill>
                  <a:schemeClr val="bg1"/>
                </a:solidFill>
              </a:rPr>
              <a:t>1/2</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88620" y="1127760"/>
            <a:ext cx="8366760" cy="4492625"/>
          </a:xfrm>
          <a:prstGeom prst="rect">
            <a:avLst/>
          </a:prstGeom>
          <a:noFill/>
        </p:spPr>
        <p:txBody>
          <a:bodyPr wrap="square" rtlCol="0" anchor="t">
            <a:noAutofit/>
          </a:bodyPr>
          <a:p>
            <a:pPr marL="478155" lvl="1" indent="-457200" algn="just">
              <a:lnSpc>
                <a:spcPct val="150000"/>
              </a:lnSpc>
              <a:buClrTx/>
              <a:buSzTx/>
              <a:buFont typeface="Arial" panose="020B0604020202020204" pitchFamily="34" charset="0"/>
              <a:buChar char="•"/>
            </a:pPr>
            <a:r>
              <a:rPr lang="zh-CN" altLang="en-US" sz="3200" b="1" dirty="0">
                <a:sym typeface="+mn-ea"/>
              </a:rPr>
              <a:t>类的属性</a:t>
            </a:r>
            <a:endParaRPr lang="zh-CN" altLang="en-US" sz="3200" b="1" dirty="0">
              <a:sym typeface="+mn-ea"/>
            </a:endParaRPr>
          </a:p>
          <a:p>
            <a:pPr marL="935355" lvl="2" indent="-457200" algn="just">
              <a:lnSpc>
                <a:spcPct val="150000"/>
              </a:lnSpc>
              <a:buClrTx/>
              <a:buSzTx/>
              <a:buFont typeface="Arial" panose="020B0604020202020204" pitchFamily="34" charset="0"/>
              <a:buChar char="•"/>
            </a:pPr>
            <a:r>
              <a:rPr lang="zh-CN" altLang="en-US" sz="2800" b="1" dirty="0">
                <a:latin typeface="等线" panose="02010600030101010101" charset="-122"/>
                <a:ea typeface="等线" panose="02010600030101010101" charset="-122"/>
                <a:cs typeface="等线" panose="02010600030101010101" charset="-122"/>
                <a:sym typeface="+mn-ea"/>
              </a:rPr>
              <a:t>用</a:t>
            </a:r>
            <a:r>
              <a:rPr lang="zh-CN" altLang="en-US" sz="2800" b="1" dirty="0">
                <a:solidFill>
                  <a:schemeClr val="accent1"/>
                </a:solidFill>
                <a:latin typeface="等线" panose="02010600030101010101" charset="-122"/>
                <a:ea typeface="等线" panose="02010600030101010101" charset="-122"/>
                <a:cs typeface="等线" panose="02010600030101010101" charset="-122"/>
                <a:sym typeface="+mn-ea"/>
              </a:rPr>
              <a:t>属性</a:t>
            </a:r>
            <a:r>
              <a:rPr lang="en-US" altLang="zh-CN" sz="2800" b="1" dirty="0">
                <a:latin typeface="等线" panose="02010600030101010101" charset="-122"/>
                <a:ea typeface="等线" panose="02010600030101010101" charset="-122"/>
                <a:cs typeface="等线" panose="02010600030101010101" charset="-122"/>
                <a:sym typeface="+mn-ea"/>
              </a:rPr>
              <a:t>(attribute)(</a:t>
            </a:r>
            <a:r>
              <a:rPr lang="zh-CN" altLang="en-US" sz="2800" b="1" dirty="0">
                <a:latin typeface="等线" panose="02010600030101010101" charset="-122"/>
                <a:ea typeface="等线" panose="02010600030101010101" charset="-122"/>
                <a:cs typeface="等线" panose="02010600030101010101" charset="-122"/>
                <a:sym typeface="+mn-ea"/>
              </a:rPr>
              <a:t>或者称之为</a:t>
            </a:r>
            <a:r>
              <a:rPr lang="zh-CN" altLang="en-US" sz="2800" b="1" dirty="0">
                <a:solidFill>
                  <a:schemeClr val="accent1"/>
                </a:solidFill>
                <a:latin typeface="等线" panose="02010600030101010101" charset="-122"/>
                <a:ea typeface="等线" panose="02010600030101010101" charset="-122"/>
                <a:cs typeface="等线" panose="02010600030101010101" charset="-122"/>
                <a:sym typeface="+mn-ea"/>
              </a:rPr>
              <a:t>状态</a:t>
            </a:r>
            <a:r>
              <a:rPr lang="zh-CN" altLang="en-US" sz="2800" b="1" dirty="0">
                <a:latin typeface="等线" panose="02010600030101010101" charset="-122"/>
                <a:ea typeface="等线" panose="02010600030101010101" charset="-122"/>
                <a:cs typeface="等线" panose="02010600030101010101" charset="-122"/>
                <a:sym typeface="+mn-ea"/>
              </a:rPr>
              <a:t>和</a:t>
            </a:r>
            <a:r>
              <a:rPr lang="zh-CN" altLang="en-US" sz="2800" b="1" dirty="0">
                <a:solidFill>
                  <a:schemeClr val="accent1"/>
                </a:solidFill>
                <a:latin typeface="等线" panose="02010600030101010101" charset="-122"/>
                <a:ea typeface="等线" panose="02010600030101010101" charset="-122"/>
                <a:cs typeface="等线" panose="02010600030101010101" charset="-122"/>
                <a:sym typeface="+mn-ea"/>
              </a:rPr>
              <a:t>数据</a:t>
            </a:r>
            <a:r>
              <a:rPr lang="en-US" altLang="zh-CN" sz="2800" b="1" dirty="0">
                <a:latin typeface="等线" panose="02010600030101010101" charset="-122"/>
                <a:ea typeface="等线" panose="02010600030101010101" charset="-122"/>
                <a:cs typeface="等线" panose="02010600030101010101" charset="-122"/>
                <a:sym typeface="+mn-ea"/>
              </a:rPr>
              <a:t>)</a:t>
            </a:r>
            <a:r>
              <a:rPr lang="zh-CN" altLang="en-US" sz="2800" b="1" dirty="0">
                <a:latin typeface="等线" panose="02010600030101010101" charset="-122"/>
                <a:ea typeface="等线" panose="02010600030101010101" charset="-122"/>
                <a:cs typeface="等线" panose="02010600030101010101" charset="-122"/>
                <a:sym typeface="+mn-ea"/>
              </a:rPr>
              <a:t>描述对象的特征</a:t>
            </a:r>
            <a:endParaRPr lang="zh-CN" altLang="en-US" sz="2800" b="1" dirty="0">
              <a:latin typeface="等线" panose="02010600030101010101" charset="-122"/>
              <a:ea typeface="等线" panose="02010600030101010101" charset="-122"/>
              <a:cs typeface="等线" panose="02010600030101010101" charset="-122"/>
              <a:sym typeface="+mn-ea"/>
            </a:endParaRPr>
          </a:p>
          <a:p>
            <a:pPr marL="1392555" lvl="3" indent="-457200" algn="just">
              <a:lnSpc>
                <a:spcPct val="150000"/>
              </a:lnSpc>
              <a:buClrTx/>
              <a:buSzTx/>
              <a:buFont typeface="Arial" panose="020B0604020202020204" pitchFamily="34" charset="0"/>
              <a:buChar char="•"/>
            </a:pPr>
            <a:r>
              <a:rPr lang="zh-CN" altLang="en-US" sz="2800" b="1" dirty="0">
                <a:latin typeface="等线" panose="02010600030101010101" charset="-122"/>
                <a:ea typeface="等线" panose="02010600030101010101" charset="-122"/>
                <a:cs typeface="等线" panose="02010600030101010101" charset="-122"/>
                <a:sym typeface="+mn-ea"/>
              </a:rPr>
              <a:t>类的属性用变量来表示，可以是简单变量，例如，布尔型变量，也可以是复杂结构的变量，或者是类类型的变量，例如，下页图示的类Triangle</a:t>
            </a:r>
            <a:endParaRPr lang="zh-CN" altLang="en-US" sz="2800" b="1" dirty="0">
              <a:solidFill>
                <a:schemeClr val="tx1"/>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1.1.3  </a:t>
            </a:r>
            <a:r>
              <a:rPr kumimoji="1" lang="zh-CN" altLang="en-US" dirty="0">
                <a:solidFill>
                  <a:schemeClr val="bg1"/>
                </a:solidFill>
              </a:rPr>
              <a:t>类的属性和操作</a:t>
            </a:r>
            <a:r>
              <a:rPr kumimoji="1" lang="en-US" altLang="zh-CN" sz="2400" dirty="0">
                <a:solidFill>
                  <a:schemeClr val="bg1"/>
                </a:solidFill>
              </a:rPr>
              <a:t>2</a:t>
            </a:r>
            <a:r>
              <a:rPr kumimoji="1" lang="en-US" altLang="zh-CN" sz="2400" dirty="0">
                <a:solidFill>
                  <a:schemeClr val="bg1"/>
                </a:solidFill>
              </a:rPr>
              <a:t>/2</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256530" y="1059180"/>
            <a:ext cx="3583940" cy="5123815"/>
          </a:xfrm>
          <a:prstGeom prst="rect">
            <a:avLst/>
          </a:prstGeom>
          <a:noFill/>
        </p:spPr>
        <p:txBody>
          <a:bodyPr wrap="square" rtlCol="0" anchor="t">
            <a:noAutofit/>
          </a:bodyPr>
          <a:p>
            <a:pPr marL="20955" lvl="0" indent="-457200" algn="just">
              <a:lnSpc>
                <a:spcPct val="150000"/>
              </a:lnSpc>
              <a:buClrTx/>
              <a:buSzTx/>
              <a:buFont typeface="Arial" panose="020B0604020202020204" pitchFamily="34" charset="0"/>
              <a:buChar char="•"/>
            </a:pPr>
            <a:r>
              <a:rPr lang="zh-CN" altLang="en-US" sz="2800" b="1" dirty="0">
                <a:solidFill>
                  <a:schemeClr val="tx1"/>
                </a:solidFill>
                <a:sym typeface="+mn-ea"/>
              </a:rPr>
              <a:t>类的操作</a:t>
            </a:r>
            <a:endParaRPr lang="zh-CN" altLang="en-US" sz="2800" b="1" dirty="0">
              <a:solidFill>
                <a:schemeClr val="tx1"/>
              </a:solidFill>
              <a:sym typeface="+mn-ea"/>
            </a:endParaRPr>
          </a:p>
          <a:p>
            <a:pPr marL="935355" lvl="2" indent="-457200" algn="just">
              <a:lnSpc>
                <a:spcPct val="150000"/>
              </a:lnSpc>
              <a:buClrTx/>
              <a:buSzTx/>
              <a:buFont typeface="Arial" panose="020B0604020202020204" pitchFamily="34" charset="0"/>
              <a:buChar char="•"/>
            </a:pPr>
            <a:r>
              <a:rPr lang="zh-CN" altLang="en-US" sz="2400" b="1" dirty="0">
                <a:solidFill>
                  <a:srgbClr val="034DA0"/>
                </a:solidFill>
                <a:ea typeface="+mn-lt"/>
                <a:cs typeface="+mn-lt"/>
                <a:sym typeface="+mn-ea"/>
              </a:rPr>
              <a:t>对属性进行处理</a:t>
            </a:r>
            <a:r>
              <a:rPr lang="zh-CN" altLang="en-US" sz="2400" b="1" dirty="0">
                <a:ea typeface="+mn-lt"/>
                <a:cs typeface="+mn-lt"/>
                <a:sym typeface="+mn-ea"/>
              </a:rPr>
              <a:t>，包括给属性赋值的操作、获取属性值的操作，以及以某种方式处理属性并返回一个计算结果等各类操作。 </a:t>
            </a:r>
            <a:r>
              <a:rPr lang="zh-CN" altLang="en-US" sz="2000" dirty="0">
                <a:sym typeface="+mn-ea"/>
              </a:rPr>
              <a:t> </a:t>
            </a:r>
            <a:endParaRPr lang="zh-CN" altLang="en-US" sz="2000" dirty="0"/>
          </a:p>
          <a:p>
            <a:pPr marL="935355" lvl="2" indent="-457200" algn="just">
              <a:lnSpc>
                <a:spcPct val="150000"/>
              </a:lnSpc>
              <a:buClrTx/>
              <a:buSzTx/>
              <a:buFont typeface="Arial" panose="020B0604020202020204" pitchFamily="34" charset="0"/>
              <a:buChar char="•"/>
            </a:pPr>
            <a:endParaRPr lang="zh-CN" altLang="en-US" sz="2000" b="1" dirty="0">
              <a:solidFill>
                <a:schemeClr val="tx1"/>
              </a:solidFill>
              <a:latin typeface="等线" panose="02010600030101010101" charset="-122"/>
              <a:ea typeface="等线" panose="02010600030101010101" charset="-122"/>
              <a:cs typeface="等线" panose="02010600030101010101" charset="-122"/>
              <a:sym typeface="+mn-ea"/>
            </a:endParaRPr>
          </a:p>
        </p:txBody>
      </p:sp>
      <p:graphicFrame>
        <p:nvGraphicFramePr>
          <p:cNvPr id="55301" name="Object 10"/>
          <p:cNvGraphicFramePr>
            <a:graphicFrameLocks noChangeAspect="1"/>
          </p:cNvGraphicFramePr>
          <p:nvPr>
            <p:custDataLst>
              <p:tags r:id="rId6"/>
            </p:custDataLst>
          </p:nvPr>
        </p:nvGraphicFramePr>
        <p:xfrm>
          <a:off x="236538" y="1243013"/>
          <a:ext cx="4089400" cy="4429125"/>
        </p:xfrm>
        <a:graphic>
          <a:graphicData uri="http://schemas.openxmlformats.org/presentationml/2006/ole">
            <mc:AlternateContent xmlns:mc="http://schemas.openxmlformats.org/markup-compatibility/2006">
              <mc:Choice xmlns:v="urn:schemas-microsoft-com:vml" Requires="v">
                <p:oleObj spid="_x0000_s3076" name="" r:id="rId7" imgW="2291080" imgH="2477135" progId="Word.Picture.8">
                  <p:embed/>
                </p:oleObj>
              </mc:Choice>
              <mc:Fallback>
                <p:oleObj name="" r:id="rId7" imgW="2291080" imgH="2477135" progId="Word.Picture.8">
                  <p:embed/>
                  <p:pic>
                    <p:nvPicPr>
                      <p:cNvPr id="0" name="图片 3075"/>
                      <p:cNvPicPr/>
                      <p:nvPr/>
                    </p:nvPicPr>
                    <p:blipFill>
                      <a:blip r:embed="rId8"/>
                      <a:stretch>
                        <a:fillRect/>
                      </a:stretch>
                    </p:blipFill>
                    <p:spPr>
                      <a:xfrm>
                        <a:off x="236538" y="1243013"/>
                        <a:ext cx="4089400" cy="4429125"/>
                      </a:xfrm>
                      <a:prstGeom prst="rect">
                        <a:avLst/>
                      </a:prstGeom>
                      <a:noFill/>
                      <a:ln w="38100">
                        <a:noFill/>
                        <a:miter/>
                      </a:ln>
                    </p:spPr>
                  </p:pic>
                </p:oleObj>
              </mc:Fallback>
            </mc:AlternateContent>
          </a:graphicData>
        </a:graphic>
      </p:graphicFrame>
      <p:grpSp>
        <p:nvGrpSpPr>
          <p:cNvPr id="8" name="组合 4"/>
          <p:cNvGrpSpPr/>
          <p:nvPr/>
        </p:nvGrpSpPr>
        <p:grpSpPr>
          <a:xfrm>
            <a:off x="2873375" y="2130425"/>
            <a:ext cx="2383791" cy="1152525"/>
            <a:chOff x="3347864" y="2060848"/>
            <a:chExt cx="2383315" cy="1152128"/>
          </a:xfrm>
        </p:grpSpPr>
        <p:sp>
          <p:nvSpPr>
            <p:cNvPr id="55307" name="右大括号 2"/>
            <p:cNvSpPr/>
            <p:nvPr>
              <p:custDataLst>
                <p:tags r:id="rId9"/>
              </p:custDataLst>
            </p:nvPr>
          </p:nvSpPr>
          <p:spPr>
            <a:xfrm>
              <a:off x="3347864" y="2276872"/>
              <a:ext cx="504056" cy="936104"/>
            </a:xfrm>
            <a:prstGeom prst="rightBrace">
              <a:avLst>
                <a:gd name="adj1" fmla="val 8236"/>
                <a:gd name="adj2" fmla="val 51019"/>
              </a:avLst>
            </a:prstGeom>
            <a:noFill/>
            <a:ln w="28575" cap="flat" cmpd="sng">
              <a:solidFill>
                <a:schemeClr val="hlink"/>
              </a:solidFill>
              <a:prstDash val="solid"/>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55308" name="云形标注 3"/>
            <p:cNvSpPr/>
            <p:nvPr>
              <p:custDataLst>
                <p:tags r:id="rId10"/>
              </p:custDataLst>
            </p:nvPr>
          </p:nvSpPr>
          <p:spPr>
            <a:xfrm>
              <a:off x="3996070" y="2060848"/>
              <a:ext cx="1735109" cy="631607"/>
            </a:xfrm>
            <a:prstGeom prst="cloudCallout">
              <a:avLst>
                <a:gd name="adj1" fmla="val -55042"/>
                <a:gd name="adj2" fmla="val 77616"/>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zh-CN" altLang="en-US" b="1" dirty="0">
                  <a:solidFill>
                    <a:srgbClr val="034DA0"/>
                  </a:solidFill>
                  <a:latin typeface="等线" panose="02010600030101010101" charset="-122"/>
                  <a:ea typeface="等线" panose="02010600030101010101" charset="-122"/>
                </a:rPr>
                <a:t>类类型</a:t>
              </a:r>
              <a:endParaRPr lang="zh-CN" altLang="en-US" b="1" dirty="0">
                <a:solidFill>
                  <a:srgbClr val="034DA0"/>
                </a:solidFill>
                <a:latin typeface="等线" panose="02010600030101010101" charset="-122"/>
                <a:ea typeface="等线" panose="02010600030101010101" charset="-122"/>
              </a:endParaRPr>
            </a:p>
          </p:txBody>
        </p:sp>
      </p:grpSp>
      <p:grpSp>
        <p:nvGrpSpPr>
          <p:cNvPr id="9" name="组合 5"/>
          <p:cNvGrpSpPr/>
          <p:nvPr/>
        </p:nvGrpSpPr>
        <p:grpSpPr>
          <a:xfrm>
            <a:off x="2798763" y="3295650"/>
            <a:ext cx="2513965" cy="900113"/>
            <a:chOff x="2843808" y="3068960"/>
            <a:chExt cx="2513494" cy="900100"/>
          </a:xfrm>
        </p:grpSpPr>
        <p:sp>
          <p:nvSpPr>
            <p:cNvPr id="55310" name="右大括号 12"/>
            <p:cNvSpPr/>
            <p:nvPr>
              <p:custDataLst>
                <p:tags r:id="rId11"/>
              </p:custDataLst>
            </p:nvPr>
          </p:nvSpPr>
          <p:spPr>
            <a:xfrm>
              <a:off x="2843808" y="3501008"/>
              <a:ext cx="1021457" cy="468052"/>
            </a:xfrm>
            <a:prstGeom prst="rightBrace">
              <a:avLst>
                <a:gd name="adj1" fmla="val 8282"/>
                <a:gd name="adj2" fmla="val 50000"/>
              </a:avLst>
            </a:prstGeom>
            <a:noFill/>
            <a:ln w="28575" cap="flat" cmpd="sng">
              <a:solidFill>
                <a:schemeClr val="hlink"/>
              </a:solidFill>
              <a:prstDash val="solid"/>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55311" name="云形标注 15"/>
            <p:cNvSpPr/>
            <p:nvPr>
              <p:custDataLst>
                <p:tags r:id="rId12"/>
              </p:custDataLst>
            </p:nvPr>
          </p:nvSpPr>
          <p:spPr>
            <a:xfrm>
              <a:off x="3669788" y="3068960"/>
              <a:ext cx="1687514" cy="636896"/>
            </a:xfrm>
            <a:prstGeom prst="cloudCallout">
              <a:avLst>
                <a:gd name="adj1" fmla="val -55042"/>
                <a:gd name="adj2" fmla="val 77616"/>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zh-CN" altLang="en-US" b="1" dirty="0">
                  <a:solidFill>
                    <a:srgbClr val="034DA0"/>
                  </a:solidFill>
                  <a:latin typeface="等线" panose="02010600030101010101" charset="-122"/>
                  <a:ea typeface="等线" panose="02010600030101010101" charset="-122"/>
                </a:rPr>
                <a:t>基本数据</a:t>
              </a:r>
              <a:endParaRPr lang="en-US" altLang="zh-CN" b="1" dirty="0">
                <a:solidFill>
                  <a:srgbClr val="034DA0"/>
                </a:solidFill>
                <a:latin typeface="等线" panose="02010600030101010101" charset="-122"/>
                <a:ea typeface="等线" panose="02010600030101010101" charset="-122"/>
              </a:endParaRPr>
            </a:p>
            <a:p>
              <a:pPr marL="469900" indent="-469900">
                <a:lnSpc>
                  <a:spcPct val="75000"/>
                </a:lnSpc>
                <a:spcBef>
                  <a:spcPct val="20000"/>
                </a:spcBef>
                <a:buClr>
                  <a:schemeClr val="accent2"/>
                </a:buClr>
                <a:buFont typeface="Wingdings" panose="05000000000000000000" pitchFamily="2" charset="2"/>
              </a:pPr>
              <a:r>
                <a:rPr lang="zh-CN" altLang="en-US" b="1" dirty="0">
                  <a:solidFill>
                    <a:srgbClr val="034DA0"/>
                  </a:solidFill>
                  <a:latin typeface="等线" panose="02010600030101010101" charset="-122"/>
                  <a:ea typeface="等线" panose="02010600030101010101" charset="-122"/>
                </a:rPr>
                <a:t>类型</a:t>
              </a:r>
              <a:endParaRPr lang="zh-CN" altLang="en-US" b="1" dirty="0">
                <a:solidFill>
                  <a:srgbClr val="034DA0"/>
                </a:solidFill>
                <a:latin typeface="等线" panose="02010600030101010101" charset="-122"/>
                <a:ea typeface="等线" panose="0201060003010101010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1.1.4  </a:t>
            </a:r>
            <a:r>
              <a:rPr kumimoji="1" lang="zh-CN" altLang="en-US" dirty="0">
                <a:solidFill>
                  <a:schemeClr val="bg1"/>
                </a:solidFill>
              </a:rPr>
              <a:t>消息</a:t>
            </a:r>
            <a:r>
              <a:rPr kumimoji="1" lang="en-US" altLang="zh-CN" sz="2400" dirty="0">
                <a:solidFill>
                  <a:schemeClr val="bg1"/>
                </a:solidFill>
              </a:rPr>
              <a:t>1/2</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26390" y="1127760"/>
            <a:ext cx="8341360" cy="5003165"/>
          </a:xfrm>
          <a:prstGeom prst="rect">
            <a:avLst/>
          </a:prstGeom>
          <a:noFill/>
        </p:spPr>
        <p:txBody>
          <a:bodyPr wrap="square" rtlCol="0" anchor="t">
            <a:noAutofit/>
          </a:bodyPr>
          <a:p>
            <a:pPr marL="20955" lvl="0" indent="-457200" algn="just">
              <a:lnSpc>
                <a:spcPct val="150000"/>
              </a:lnSpc>
              <a:buClrTx/>
              <a:buSzTx/>
              <a:buFont typeface="Arial" panose="020B0604020202020204" pitchFamily="34" charset="0"/>
              <a:buChar char="•"/>
            </a:pPr>
            <a:r>
              <a:rPr lang="zh-CN" altLang="en-US" sz="2800" b="1" dirty="0">
                <a:sym typeface="+mn-ea"/>
              </a:rPr>
              <a:t>面向对象软件工作原理</a:t>
            </a:r>
            <a:endParaRPr lang="zh-CN" altLang="en-US" sz="2800" b="1" dirty="0">
              <a:sym typeface="+mn-ea"/>
            </a:endParaRPr>
          </a:p>
          <a:p>
            <a:pPr marL="935355" lvl="2" indent="-457200" algn="just">
              <a:lnSpc>
                <a:spcPct val="150000"/>
              </a:lnSpc>
              <a:buClrTx/>
              <a:buSzTx/>
              <a:buFont typeface="Arial" panose="020B0604020202020204" pitchFamily="34" charset="0"/>
              <a:buChar char="•"/>
            </a:pPr>
            <a:r>
              <a:rPr lang="zh-CN" altLang="en-US" sz="2800" b="1" dirty="0">
                <a:sym typeface="+mn-ea"/>
              </a:rPr>
              <a:t>每个</a:t>
            </a:r>
            <a:r>
              <a:rPr lang="en-US" altLang="zh-CN" sz="2800" b="1" dirty="0">
                <a:sym typeface="+mn-ea"/>
              </a:rPr>
              <a:t>“</a:t>
            </a:r>
            <a:r>
              <a:rPr lang="zh-CN" altLang="en-US" sz="2800" b="1" dirty="0">
                <a:sym typeface="+mn-ea"/>
              </a:rPr>
              <a:t>对象”仅做一件事，把一件事做好</a:t>
            </a:r>
            <a:endParaRPr lang="zh-CN" altLang="en-US" sz="2800" b="1" dirty="0">
              <a:sym typeface="+mn-ea"/>
            </a:endParaRPr>
          </a:p>
          <a:p>
            <a:pPr marL="935355" lvl="2" indent="-457200" algn="just">
              <a:lnSpc>
                <a:spcPct val="150000"/>
              </a:lnSpc>
              <a:buClrTx/>
              <a:buSzTx/>
              <a:buFont typeface="Arial" panose="020B0604020202020204" pitchFamily="34" charset="0"/>
              <a:buChar char="•"/>
            </a:pPr>
            <a:r>
              <a:rPr lang="zh-CN" altLang="en-US" sz="2800" b="1" dirty="0">
                <a:sym typeface="+mn-ea"/>
              </a:rPr>
              <a:t>“对象”之间通过</a:t>
            </a:r>
            <a:r>
              <a:rPr lang="zh-CN" altLang="en-US" sz="2800" b="1" dirty="0">
                <a:sym typeface="+mn-ea"/>
              </a:rPr>
              <a:t>互发消息进行协作</a:t>
            </a:r>
            <a:endParaRPr lang="zh-CN" altLang="en-US" sz="2800" b="1" dirty="0"/>
          </a:p>
          <a:p>
            <a:pPr lvl="3" indent="-457200" algn="just">
              <a:lnSpc>
                <a:spcPct val="150000"/>
              </a:lnSpc>
              <a:buClrTx/>
              <a:buSzTx/>
              <a:buFont typeface="Arial" panose="020B0604020202020204" pitchFamily="34" charset="0"/>
              <a:buChar char="•"/>
            </a:pPr>
            <a:r>
              <a:rPr lang="zh-CN" altLang="en-US" sz="2400" dirty="0">
                <a:latin typeface="Times New Roman" panose="02020603050405020304" pitchFamily="18" charset="0"/>
                <a:sym typeface="+mn-ea"/>
              </a:rPr>
              <a:t>发送</a:t>
            </a:r>
            <a:r>
              <a:rPr lang="zh-CN" altLang="en-US" sz="2400" b="1" dirty="0">
                <a:latin typeface="Times New Roman" panose="02020603050405020304" pitchFamily="18" charset="0"/>
                <a:sym typeface="+mn-ea"/>
              </a:rPr>
              <a:t>消息</a:t>
            </a:r>
            <a:r>
              <a:rPr lang="zh-CN" altLang="en-US" sz="2400" dirty="0">
                <a:latin typeface="Times New Roman" panose="02020603050405020304" pitchFamily="18" charset="0"/>
                <a:sym typeface="+mn-ea"/>
              </a:rPr>
              <a:t>是通过调用某个</a:t>
            </a:r>
            <a:r>
              <a:rPr lang="zh-CN" altLang="en-US" sz="2400" b="1" dirty="0">
                <a:latin typeface="Times New Roman" panose="02020603050405020304" pitchFamily="18" charset="0"/>
                <a:sym typeface="+mn-ea"/>
              </a:rPr>
              <a:t>对象</a:t>
            </a:r>
            <a:r>
              <a:rPr lang="zh-CN" altLang="en-US" sz="2400" dirty="0">
                <a:latin typeface="Times New Roman" panose="02020603050405020304" pitchFamily="18" charset="0"/>
                <a:sym typeface="+mn-ea"/>
              </a:rPr>
              <a:t>的</a:t>
            </a:r>
            <a:r>
              <a:rPr lang="zh-CN" altLang="en-US" sz="2400" b="1" dirty="0">
                <a:latin typeface="Times New Roman" panose="02020603050405020304" pitchFamily="18" charset="0"/>
                <a:sym typeface="+mn-ea"/>
              </a:rPr>
              <a:t>方法</a:t>
            </a:r>
            <a:r>
              <a:rPr lang="zh-CN" altLang="en-US" sz="2400" dirty="0">
                <a:latin typeface="Times New Roman" panose="02020603050405020304" pitchFamily="18" charset="0"/>
                <a:sym typeface="+mn-ea"/>
              </a:rPr>
              <a:t>实现的</a:t>
            </a:r>
            <a:endParaRPr lang="zh-CN" altLang="en-US" sz="2400" dirty="0">
              <a:latin typeface="Times New Roman" panose="02020603050405020304" pitchFamily="18" charset="0"/>
              <a:sym typeface="+mn-ea"/>
            </a:endParaRPr>
          </a:p>
          <a:p>
            <a:pPr lvl="3" indent="-457200" algn="just">
              <a:lnSpc>
                <a:spcPct val="150000"/>
              </a:lnSpc>
              <a:buClrTx/>
              <a:buSzTx/>
              <a:buFont typeface="Arial" panose="020B0604020202020204" pitchFamily="34" charset="0"/>
              <a:buChar char="•"/>
            </a:pPr>
            <a:r>
              <a:rPr lang="zh-CN" altLang="en-US" sz="2400" dirty="0">
                <a:latin typeface="Times New Roman" panose="02020603050405020304" pitchFamily="18" charset="0"/>
                <a:sym typeface="+mn-ea"/>
              </a:rPr>
              <a:t>收到</a:t>
            </a:r>
            <a:r>
              <a:rPr lang="zh-CN" altLang="en-US" sz="2400" b="1" dirty="0">
                <a:latin typeface="Times New Roman" panose="02020603050405020304" pitchFamily="18" charset="0"/>
                <a:sym typeface="+mn-ea"/>
              </a:rPr>
              <a:t>消息</a:t>
            </a:r>
            <a:r>
              <a:rPr lang="zh-CN" altLang="en-US" sz="2400" dirty="0">
                <a:latin typeface="Times New Roman" panose="02020603050405020304" pitchFamily="18" charset="0"/>
                <a:sym typeface="+mn-ea"/>
              </a:rPr>
              <a:t>是通过其他对象调用本对象的</a:t>
            </a:r>
            <a:r>
              <a:rPr lang="zh-CN" altLang="en-US" sz="2400" b="1" dirty="0">
                <a:latin typeface="Times New Roman" panose="02020603050405020304" pitchFamily="18" charset="0"/>
                <a:sym typeface="+mn-ea"/>
              </a:rPr>
              <a:t>方法</a:t>
            </a:r>
            <a:r>
              <a:rPr lang="zh-CN" altLang="en-US" sz="2400" dirty="0">
                <a:latin typeface="Times New Roman" panose="02020603050405020304" pitchFamily="18" charset="0"/>
                <a:sym typeface="+mn-ea"/>
              </a:rPr>
              <a:t>实现的</a:t>
            </a:r>
            <a:endParaRPr lang="zh-CN" altLang="en-US" sz="2400" dirty="0">
              <a:latin typeface="Times New Roman" panose="02020603050405020304" pitchFamily="18" charset="0"/>
            </a:endParaRPr>
          </a:p>
          <a:p>
            <a:pPr marL="457200" lvl="3" indent="-457200" algn="just">
              <a:lnSpc>
                <a:spcPct val="150000"/>
              </a:lnSpc>
              <a:buClrTx/>
              <a:buSzTx/>
              <a:buFont typeface="Arial" panose="020B0604020202020204" pitchFamily="34" charset="0"/>
              <a:buChar char="•"/>
            </a:pPr>
            <a:r>
              <a:rPr lang="zh-CN" altLang="en-US" sz="2800" b="1" dirty="0">
                <a:sym typeface="+mn-ea"/>
              </a:rPr>
              <a:t>Java向对象发送消息的方式</a:t>
            </a:r>
            <a:endParaRPr lang="zh-CN" altLang="en-US" sz="2800" b="1" dirty="0">
              <a:sym typeface="+mn-ea"/>
            </a:endParaRPr>
          </a:p>
          <a:p>
            <a:pPr marL="914400" lvl="4" indent="-457200" algn="just">
              <a:lnSpc>
                <a:spcPct val="150000"/>
              </a:lnSpc>
              <a:buClrTx/>
              <a:buSzTx/>
              <a:buFont typeface="Arial" panose="020B0604020202020204" pitchFamily="34" charset="0"/>
              <a:buChar char="•"/>
            </a:pPr>
            <a:r>
              <a:rPr lang="en-US" altLang="zh-CN" sz="2800" b="1" dirty="0">
                <a:sym typeface="+mn-ea"/>
              </a:rPr>
              <a:t>“</a:t>
            </a:r>
            <a:r>
              <a:rPr lang="zh-CN" altLang="en-US" sz="2800" b="1" dirty="0">
                <a:sym typeface="+mn-ea"/>
              </a:rPr>
              <a:t>对象变量+点运算符+方法</a:t>
            </a:r>
            <a:r>
              <a:rPr lang="en-US" altLang="zh-CN" sz="2800" b="1" dirty="0">
                <a:sym typeface="+mn-ea"/>
              </a:rPr>
              <a:t>”</a:t>
            </a:r>
            <a:r>
              <a:rPr lang="zh-CN" altLang="en-US" sz="2800" b="1" dirty="0">
                <a:sym typeface="+mn-ea"/>
              </a:rPr>
              <a:t>，例如pointOne.getX()</a:t>
            </a:r>
            <a:endParaRPr lang="zh-CN" altLang="en-US" sz="2000" b="1" dirty="0">
              <a:solidFill>
                <a:schemeClr val="tx1"/>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对象 39"/>
          <p:cNvGraphicFramePr/>
          <p:nvPr>
            <p:custDataLst>
              <p:tags r:id="rId1"/>
            </p:custDataLst>
          </p:nvPr>
        </p:nvGraphicFramePr>
        <p:xfrm>
          <a:off x="400050" y="2199005"/>
          <a:ext cx="4008755" cy="3617595"/>
        </p:xfrm>
        <a:graphic>
          <a:graphicData uri="http://schemas.openxmlformats.org/presentationml/2006/ole">
            <mc:AlternateContent xmlns:mc="http://schemas.openxmlformats.org/markup-compatibility/2006">
              <mc:Choice xmlns:v="urn:schemas-microsoft-com:vml" Requires="v">
                <p:oleObj spid="_x0000_s41" name="" r:id="rId2" imgW="4005580" imgH="3615055" progId="Paint.Picture">
                  <p:embed/>
                </p:oleObj>
              </mc:Choice>
              <mc:Fallback>
                <p:oleObj name="" r:id="rId2" imgW="4005580" imgH="3615055" progId="Paint.Picture">
                  <p:embed/>
                  <p:pic>
                    <p:nvPicPr>
                      <p:cNvPr id="0" name="图片 40"/>
                      <p:cNvPicPr/>
                      <p:nvPr/>
                    </p:nvPicPr>
                    <p:blipFill>
                      <a:blip r:embed="rId3"/>
                      <a:stretch>
                        <a:fillRect/>
                      </a:stretch>
                    </p:blipFill>
                    <p:spPr>
                      <a:xfrm>
                        <a:off x="400050" y="2199005"/>
                        <a:ext cx="4008755" cy="3617595"/>
                      </a:xfrm>
                      <a:prstGeom prst="rect">
                        <a:avLst/>
                      </a:prstGeom>
                    </p:spPr>
                  </p:pic>
                </p:oleObj>
              </mc:Fallback>
            </mc:AlternateContent>
          </a:graphicData>
        </a:graphic>
      </p:graphicFrame>
      <p:sp>
        <p:nvSpPr>
          <p:cNvPr id="3" name="矩形 2"/>
          <p:cNvSpPr/>
          <p:nvPr>
            <p:custDataLst>
              <p:tags r:id="rId4"/>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1.1.4  </a:t>
            </a:r>
            <a:r>
              <a:rPr kumimoji="1" lang="zh-CN" altLang="en-US" dirty="0">
                <a:solidFill>
                  <a:schemeClr val="bg1"/>
                </a:solidFill>
              </a:rPr>
              <a:t>消息</a:t>
            </a:r>
            <a:r>
              <a:rPr kumimoji="1" lang="en-US" altLang="zh-CN" sz="2400" dirty="0">
                <a:solidFill>
                  <a:schemeClr val="bg1"/>
                </a:solidFill>
              </a:rPr>
              <a:t>2/2</a:t>
            </a:r>
            <a:endParaRPr kumimoji="1" lang="en-US" altLang="zh-CN" sz="2400" dirty="0">
              <a:solidFill>
                <a:schemeClr val="bg1"/>
              </a:solidFill>
            </a:endParaRPr>
          </a:p>
        </p:txBody>
      </p:sp>
      <p:pic>
        <p:nvPicPr>
          <p:cNvPr id="11" name="西北工业大学"/>
          <p:cNvPicPr>
            <a:picLocks noChangeAspect="1"/>
          </p:cNvPicPr>
          <p:nvPr>
            <p:custDataLst>
              <p:tags r:id="rId5"/>
            </p:custDataLst>
          </p:nvPr>
        </p:nvPicPr>
        <p:blipFill>
          <a:blip r:embed="rId6" cstate="screen"/>
          <a:stretch>
            <a:fillRect/>
          </a:stretch>
        </p:blipFill>
        <p:spPr>
          <a:xfrm>
            <a:off x="7476490" y="417830"/>
            <a:ext cx="1363345" cy="342900"/>
          </a:xfrm>
          <a:prstGeom prst="rect">
            <a:avLst/>
          </a:prstGeom>
        </p:spPr>
      </p:pic>
      <p:pic>
        <p:nvPicPr>
          <p:cNvPr id="13" name="校徽"/>
          <p:cNvPicPr>
            <a:picLocks noChangeAspect="1"/>
          </p:cNvPicPr>
          <p:nvPr>
            <p:custDataLst>
              <p:tags r:id="rId7"/>
            </p:custDataLst>
          </p:nvPr>
        </p:nvPicPr>
        <p:blipFill>
          <a:blip r:embed="rId8"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圆角矩形 21"/>
          <p:cNvSpPr/>
          <p:nvPr>
            <p:custDataLst>
              <p:tags r:id="rId9"/>
            </p:custDataLst>
          </p:nvPr>
        </p:nvSpPr>
        <p:spPr>
          <a:xfrm>
            <a:off x="277495" y="1403985"/>
            <a:ext cx="4152265" cy="752475"/>
          </a:xfrm>
          <a:prstGeom prst="roundRect">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sp>
      <p:sp>
        <p:nvSpPr>
          <p:cNvPr id="23" name="圆角矩形 4"/>
          <p:cNvSpPr/>
          <p:nvPr>
            <p:custDataLst>
              <p:tags r:id="rId10"/>
            </p:custDataLst>
          </p:nvPr>
        </p:nvSpPr>
        <p:spPr>
          <a:xfrm>
            <a:off x="379095" y="1436370"/>
            <a:ext cx="3930015" cy="722630"/>
          </a:xfrm>
          <a:prstGeom prst="rect">
            <a:avLst/>
          </a:prstGeom>
        </p:spPr>
        <p:style>
          <a:lnRef idx="0">
            <a:scrgbClr r="0" g="0" b="0"/>
          </a:lnRef>
          <a:fillRef idx="0">
            <a:scrgbClr r="0" g="0" b="0"/>
          </a:fillRef>
          <a:effectRef idx="0">
            <a:scrgbClr r="0" g="0" b="0"/>
          </a:effectRef>
          <a:fontRef idx="minor">
            <a:schemeClr val="lt1"/>
          </a:fontRef>
        </p:style>
        <p:txBody>
          <a:bodyPr tIns="91440" bIns="91440" spcCol="1270" anchor="ctr"/>
          <a:p>
            <a:pPr marL="0" marR="0" lvl="0" indent="0" algn="ctr" defTabSz="1066800" rtl="0" eaLnBrk="1" fontAlgn="base" latinLnBrk="0" hangingPunct="1">
              <a:lnSpc>
                <a:spcPct val="90000"/>
              </a:lnSpc>
              <a:spcBef>
                <a:spcPct val="0"/>
              </a:spcBef>
              <a:spcAft>
                <a:spcPct val="35000"/>
              </a:spcAft>
              <a:buClr>
                <a:schemeClr val="accent2"/>
              </a:buClr>
              <a:buSzTx/>
              <a:buFont typeface="Wingdings" panose="05000000000000000000" pitchFamily="2" charset="2"/>
              <a:buNone/>
              <a:defRPr/>
            </a:pPr>
            <a:r>
              <a:rPr kumimoji="0" lang="en-US" altLang="zh-CN"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Triangle</a:t>
            </a:r>
            <a:r>
              <a:rPr kumimoji="0" lang="zh-CN" altLang="en-US"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对象向</a:t>
            </a:r>
            <a:r>
              <a:rPr kumimoji="0" lang="en-US" altLang="zh-CN" sz="2000" b="1" i="0" u="none" strike="noStrike" kern="1200" cap="none" spc="0" normalizeH="0" baseline="0" noProof="0" dirty="0" err="1">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pointOne</a:t>
            </a:r>
            <a:r>
              <a:rPr kumimoji="0" lang="zh-CN" altLang="en-US"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发送消息</a:t>
            </a:r>
            <a:r>
              <a:rPr kumimoji="0" lang="en-US" altLang="zh-CN" sz="2000" b="1" i="0" u="none" strike="noStrike" kern="1200" cap="none" spc="0" normalizeH="0" baseline="0" noProof="0" dirty="0" err="1">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getX</a:t>
            </a:r>
            <a:r>
              <a:rPr kumimoji="0" lang="zh-CN" altLang="en-US"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rPr>
              <a:t>（）</a:t>
            </a:r>
            <a:endParaRPr kumimoji="0" lang="zh-CN" altLang="en-US"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等线" panose="02010600030101010101" charset="-122"/>
            </a:endParaRPr>
          </a:p>
        </p:txBody>
      </p:sp>
      <p:grpSp>
        <p:nvGrpSpPr>
          <p:cNvPr id="7" name="组合 2"/>
          <p:cNvGrpSpPr/>
          <p:nvPr/>
        </p:nvGrpSpPr>
        <p:grpSpPr>
          <a:xfrm>
            <a:off x="5372735" y="2488565"/>
            <a:ext cx="1690370" cy="1440180"/>
            <a:chOff x="3992885" y="2840038"/>
            <a:chExt cx="1681163" cy="1584325"/>
          </a:xfrm>
        </p:grpSpPr>
        <p:sp>
          <p:nvSpPr>
            <p:cNvPr id="8" name="Oval 4"/>
            <p:cNvSpPr/>
            <p:nvPr>
              <p:custDataLst>
                <p:tags r:id="rId11"/>
              </p:custDataLst>
            </p:nvPr>
          </p:nvSpPr>
          <p:spPr>
            <a:xfrm>
              <a:off x="3992885" y="3157538"/>
              <a:ext cx="1681163" cy="1266825"/>
            </a:xfrm>
            <a:prstGeom prst="ellipse">
              <a:avLst/>
            </a:prstGeom>
            <a:solidFill>
              <a:schemeClr val="accent1">
                <a:lumMod val="20000"/>
                <a:lumOff val="80000"/>
              </a:schemeClr>
            </a:solidFill>
            <a:ln w="25400" cap="flat" cmpd="sng">
              <a:solidFill>
                <a:schemeClr val="tx1"/>
              </a:solidFill>
              <a:prstDash val="solid"/>
              <a:round/>
              <a:headEnd type="none" w="sm" len="sm"/>
              <a:tailEnd type="none" w="sm" len="sm"/>
            </a:ln>
          </p:spPr>
          <p:txBody>
            <a:bodyPr wrap="none" anchor="ctr" anchorCtr="0"/>
            <a:p>
              <a:pPr>
                <a:lnSpc>
                  <a:spcPct val="75000"/>
                </a:lnSpc>
                <a:spcBef>
                  <a:spcPct val="20000"/>
                </a:spcBef>
                <a:buClr>
                  <a:schemeClr val="accent2"/>
                </a:buClr>
                <a:buFont typeface="Wingdings" panose="05000000000000000000" pitchFamily="2" charset="2"/>
              </a:pPr>
              <a:endParaRPr lang="zh-CN" altLang="en-US" sz="1800" b="1" dirty="0">
                <a:solidFill>
                  <a:srgbClr val="034DA0"/>
                </a:solidFill>
                <a:latin typeface="Times New Roman" panose="02020603050405020304" pitchFamily="18" charset="0"/>
                <a:ea typeface="宋体" panose="02010600030101010101" pitchFamily="2" charset="-122"/>
              </a:endParaRPr>
            </a:p>
          </p:txBody>
        </p:sp>
        <p:sp>
          <p:nvSpPr>
            <p:cNvPr id="9" name="Oval 5"/>
            <p:cNvSpPr/>
            <p:nvPr>
              <p:custDataLst>
                <p:tags r:id="rId12"/>
              </p:custDataLst>
            </p:nvPr>
          </p:nvSpPr>
          <p:spPr>
            <a:xfrm>
              <a:off x="4373704" y="3230531"/>
              <a:ext cx="961837" cy="382809"/>
            </a:xfrm>
            <a:prstGeom prst="ellipse">
              <a:avLst/>
            </a:prstGeom>
            <a:solidFill>
              <a:srgbClr val="CCECFF"/>
            </a:solidFill>
            <a:ln w="25400" cap="flat" cmpd="sng">
              <a:solidFill>
                <a:schemeClr val="tx1"/>
              </a:solidFill>
              <a:prstDash val="solid"/>
              <a:round/>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属性</a:t>
              </a:r>
              <a:r>
                <a:rPr lang="en-US" altLang="zh-CN" sz="1800" b="1" dirty="0">
                  <a:solidFill>
                    <a:srgbClr val="034DA0"/>
                  </a:solidFill>
                  <a:latin typeface="等线" panose="02010600030101010101" charset="-122"/>
                  <a:ea typeface="等线" panose="02010600030101010101" charset="-122"/>
                  <a:cs typeface="等线" panose="02010600030101010101" charset="-122"/>
                </a:rPr>
                <a:t>1..n</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10" name="Rectangle 6"/>
            <p:cNvSpPr/>
            <p:nvPr>
              <p:custDataLst>
                <p:tags r:id="rId13"/>
              </p:custDataLst>
            </p:nvPr>
          </p:nvSpPr>
          <p:spPr>
            <a:xfrm>
              <a:off x="4427860" y="3613150"/>
              <a:ext cx="779463" cy="323850"/>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方法</a:t>
              </a:r>
              <a:r>
                <a:rPr lang="en-US" altLang="zh-CN" sz="1800" b="1" dirty="0">
                  <a:solidFill>
                    <a:srgbClr val="034DA0"/>
                  </a:solidFill>
                  <a:latin typeface="等线" panose="02010600030101010101" charset="-122"/>
                  <a:ea typeface="等线" panose="02010600030101010101" charset="-122"/>
                  <a:cs typeface="等线" panose="02010600030101010101" charset="-122"/>
                </a:rPr>
                <a:t>1</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12" name="Rectangle 7"/>
            <p:cNvSpPr/>
            <p:nvPr>
              <p:custDataLst>
                <p:tags r:id="rId14"/>
              </p:custDataLst>
            </p:nvPr>
          </p:nvSpPr>
          <p:spPr>
            <a:xfrm>
              <a:off x="4427860" y="4011613"/>
              <a:ext cx="779463" cy="322262"/>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方法</a:t>
              </a:r>
              <a:r>
                <a:rPr lang="en-US" altLang="zh-CN" sz="1800" b="1" dirty="0">
                  <a:solidFill>
                    <a:srgbClr val="034DA0"/>
                  </a:solidFill>
                  <a:latin typeface="等线" panose="02010600030101010101" charset="-122"/>
                  <a:ea typeface="等线" panose="02010600030101010101" charset="-122"/>
                  <a:cs typeface="等线" panose="02010600030101010101" charset="-122"/>
                </a:rPr>
                <a:t>m</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14" name="Rectangle 8"/>
            <p:cNvSpPr/>
            <p:nvPr>
              <p:custDataLst>
                <p:tags r:id="rId15"/>
              </p:custDataLst>
            </p:nvPr>
          </p:nvSpPr>
          <p:spPr>
            <a:xfrm>
              <a:off x="4211960" y="2840038"/>
              <a:ext cx="1317625" cy="323850"/>
            </a:xfrm>
            <a:prstGeom prst="rect">
              <a:avLst/>
            </a:prstGeom>
            <a:noFill/>
            <a:ln w="25400">
              <a:noFill/>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对象</a:t>
              </a:r>
              <a:r>
                <a:rPr lang="en-US" altLang="zh-CN" sz="1800" b="1" dirty="0">
                  <a:solidFill>
                    <a:srgbClr val="034DA0"/>
                  </a:solidFill>
                  <a:latin typeface="等线" panose="02010600030101010101" charset="-122"/>
                  <a:ea typeface="等线" panose="02010600030101010101" charset="-122"/>
                  <a:cs typeface="等线" panose="02010600030101010101" charset="-122"/>
                </a:rPr>
                <a:t>1</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grpSp>
      <p:sp>
        <p:nvSpPr>
          <p:cNvPr id="15" name="Rectangle 32"/>
          <p:cNvSpPr/>
          <p:nvPr/>
        </p:nvSpPr>
        <p:spPr>
          <a:xfrm>
            <a:off x="4408805" y="3883978"/>
            <a:ext cx="800100" cy="231775"/>
          </a:xfrm>
          <a:prstGeom prst="rect">
            <a:avLst/>
          </a:prstGeom>
          <a:noFill/>
          <a:ln w="25400">
            <a:noFill/>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对象</a:t>
            </a:r>
            <a:r>
              <a:rPr lang="en-US" altLang="zh-CN" sz="1800" b="1" dirty="0">
                <a:solidFill>
                  <a:srgbClr val="034DA0"/>
                </a:solidFill>
                <a:latin typeface="等线" panose="02010600030101010101" charset="-122"/>
                <a:ea typeface="等线" panose="02010600030101010101" charset="-122"/>
                <a:cs typeface="等线" panose="02010600030101010101" charset="-122"/>
              </a:rPr>
              <a:t>2</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16" name="Rectangle 37"/>
          <p:cNvSpPr/>
          <p:nvPr/>
        </p:nvSpPr>
        <p:spPr>
          <a:xfrm>
            <a:off x="7740968" y="3928428"/>
            <a:ext cx="709612" cy="231775"/>
          </a:xfrm>
          <a:prstGeom prst="rect">
            <a:avLst/>
          </a:prstGeom>
          <a:noFill/>
          <a:ln w="25400">
            <a:noFill/>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对象</a:t>
            </a:r>
            <a:r>
              <a:rPr lang="en-US" altLang="zh-CN" sz="1800" b="1" dirty="0">
                <a:solidFill>
                  <a:srgbClr val="034DA0"/>
                </a:solidFill>
                <a:latin typeface="等线" panose="02010600030101010101" charset="-122"/>
                <a:ea typeface="等线" panose="02010600030101010101" charset="-122"/>
                <a:cs typeface="等线" panose="02010600030101010101" charset="-122"/>
              </a:rPr>
              <a:t>3</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grpSp>
        <p:nvGrpSpPr>
          <p:cNvPr id="17" name="组合 5"/>
          <p:cNvGrpSpPr/>
          <p:nvPr/>
        </p:nvGrpSpPr>
        <p:grpSpPr>
          <a:xfrm>
            <a:off x="5126355" y="3590290"/>
            <a:ext cx="2476500" cy="1154606"/>
            <a:chOff x="3310678" y="3955637"/>
            <a:chExt cx="2893595" cy="1603133"/>
          </a:xfrm>
        </p:grpSpPr>
        <p:sp>
          <p:nvSpPr>
            <p:cNvPr id="20" name="Line 19"/>
            <p:cNvSpPr/>
            <p:nvPr>
              <p:custDataLst>
                <p:tags r:id="rId16"/>
              </p:custDataLst>
            </p:nvPr>
          </p:nvSpPr>
          <p:spPr>
            <a:xfrm flipH="1">
              <a:off x="3310678" y="3955637"/>
              <a:ext cx="433387" cy="863600"/>
            </a:xfrm>
            <a:prstGeom prst="line">
              <a:avLst/>
            </a:prstGeom>
            <a:ln w="25400" cap="flat" cmpd="sng">
              <a:solidFill>
                <a:schemeClr val="tx1"/>
              </a:solidFill>
              <a:prstDash val="solid"/>
              <a:round/>
              <a:headEnd type="stealth" w="lg" len="lg"/>
              <a:tailEnd type="stealth" w="lg" len="lg"/>
            </a:ln>
          </p:spPr>
        </p:sp>
        <p:sp>
          <p:nvSpPr>
            <p:cNvPr id="24" name="Line 20"/>
            <p:cNvSpPr/>
            <p:nvPr>
              <p:custDataLst>
                <p:tags r:id="rId17"/>
              </p:custDataLst>
            </p:nvPr>
          </p:nvSpPr>
          <p:spPr>
            <a:xfrm>
              <a:off x="5426398" y="4195763"/>
              <a:ext cx="777875" cy="679450"/>
            </a:xfrm>
            <a:prstGeom prst="line">
              <a:avLst/>
            </a:prstGeom>
            <a:ln w="25400" cap="flat" cmpd="sng">
              <a:solidFill>
                <a:schemeClr val="tx1"/>
              </a:solidFill>
              <a:prstDash val="solid"/>
              <a:round/>
              <a:headEnd type="stealth" w="lg" len="lg"/>
              <a:tailEnd type="stealth" w="lg" len="lg"/>
            </a:ln>
          </p:spPr>
        </p:sp>
        <p:sp>
          <p:nvSpPr>
            <p:cNvPr id="25" name="Line 21"/>
            <p:cNvSpPr/>
            <p:nvPr>
              <p:custDataLst>
                <p:tags r:id="rId18"/>
              </p:custDataLst>
            </p:nvPr>
          </p:nvSpPr>
          <p:spPr>
            <a:xfrm>
              <a:off x="3897635" y="5314950"/>
              <a:ext cx="2124075" cy="0"/>
            </a:xfrm>
            <a:prstGeom prst="line">
              <a:avLst/>
            </a:prstGeom>
            <a:ln w="25400" cap="flat" cmpd="sng">
              <a:solidFill>
                <a:schemeClr val="tx1"/>
              </a:solidFill>
              <a:prstDash val="solid"/>
              <a:round/>
              <a:headEnd type="stealth" w="lg" len="lg"/>
              <a:tailEnd type="stealth" w="lg" len="lg"/>
            </a:ln>
          </p:spPr>
        </p:sp>
        <p:sp>
          <p:nvSpPr>
            <p:cNvPr id="26" name="Rectangle 31"/>
            <p:cNvSpPr/>
            <p:nvPr>
              <p:custDataLst>
                <p:tags r:id="rId19"/>
              </p:custDataLst>
            </p:nvPr>
          </p:nvSpPr>
          <p:spPr>
            <a:xfrm>
              <a:off x="3410274" y="4328837"/>
              <a:ext cx="747883" cy="415270"/>
            </a:xfrm>
            <a:prstGeom prst="rect">
              <a:avLst/>
            </a:prstGeom>
            <a:noFill/>
            <a:ln w="12700">
              <a:noFill/>
            </a:ln>
          </p:spPr>
          <p:txBody>
            <a:bodyPr wrap="none" anchor="t" anchorCtr="0">
              <a:spAutoFit/>
            </a:bodyPr>
            <a:p>
              <a:pPr marL="469900" indent="-469900">
                <a:lnSpc>
                  <a:spcPct val="75000"/>
                </a:lnSpc>
                <a:spcBef>
                  <a:spcPct val="20000"/>
                </a:spcBef>
                <a:buClr>
                  <a:schemeClr val="accent2"/>
                </a:buClr>
                <a:buFont typeface="Wingdings" panose="05000000000000000000" pitchFamily="2" charset="2"/>
              </a:pPr>
              <a:r>
                <a:rPr lang="zh-CN" altLang="en-US" sz="1800" b="1" dirty="0">
                  <a:solidFill>
                    <a:srgbClr val="034DA0"/>
                  </a:solidFill>
                  <a:latin typeface="等线" panose="02010600030101010101" charset="-122"/>
                  <a:ea typeface="等线" panose="02010600030101010101" charset="-122"/>
                </a:rPr>
                <a:t>消息</a:t>
              </a:r>
              <a:endParaRPr lang="zh-CN" altLang="en-US" sz="1800" b="1" dirty="0">
                <a:solidFill>
                  <a:srgbClr val="034DA0"/>
                </a:solidFill>
                <a:latin typeface="等线" panose="02010600030101010101" charset="-122"/>
                <a:ea typeface="等线" panose="02010600030101010101" charset="-122"/>
              </a:endParaRPr>
            </a:p>
          </p:txBody>
        </p:sp>
        <p:sp>
          <p:nvSpPr>
            <p:cNvPr id="27" name="Rectangle 32"/>
            <p:cNvSpPr/>
            <p:nvPr>
              <p:custDataLst>
                <p:tags r:id="rId20"/>
              </p:custDataLst>
            </p:nvPr>
          </p:nvSpPr>
          <p:spPr>
            <a:xfrm>
              <a:off x="4534223" y="5143500"/>
              <a:ext cx="747883" cy="415270"/>
            </a:xfrm>
            <a:prstGeom prst="rect">
              <a:avLst/>
            </a:prstGeom>
            <a:noFill/>
            <a:ln w="12700">
              <a:noFill/>
            </a:ln>
          </p:spPr>
          <p:txBody>
            <a:bodyPr wrap="none" anchor="t" anchorCtr="0">
              <a:spAutoFit/>
            </a:bodyPr>
            <a:p>
              <a:pPr marL="469900" indent="-469900">
                <a:lnSpc>
                  <a:spcPct val="75000"/>
                </a:lnSpc>
                <a:spcBef>
                  <a:spcPct val="20000"/>
                </a:spcBef>
                <a:buClr>
                  <a:schemeClr val="accent2"/>
                </a:buClr>
                <a:buFont typeface="Wingdings" panose="05000000000000000000" pitchFamily="2" charset="2"/>
              </a:pPr>
              <a:r>
                <a:rPr lang="zh-CN" altLang="en-US" sz="1800" b="1" dirty="0">
                  <a:solidFill>
                    <a:srgbClr val="034DA0"/>
                  </a:solidFill>
                  <a:latin typeface="等线" panose="02010600030101010101" charset="-122"/>
                  <a:ea typeface="等线" panose="02010600030101010101" charset="-122"/>
                </a:rPr>
                <a:t>消息</a:t>
              </a:r>
              <a:endParaRPr lang="zh-CN" altLang="en-US" sz="1800" b="1" dirty="0">
                <a:solidFill>
                  <a:srgbClr val="034DA0"/>
                </a:solidFill>
                <a:latin typeface="等线" panose="02010600030101010101" charset="-122"/>
                <a:ea typeface="等线" panose="02010600030101010101" charset="-122"/>
              </a:endParaRPr>
            </a:p>
          </p:txBody>
        </p:sp>
        <p:sp>
          <p:nvSpPr>
            <p:cNvPr id="28" name="Rectangle 33"/>
            <p:cNvSpPr/>
            <p:nvPr>
              <p:custDataLst>
                <p:tags r:id="rId21"/>
              </p:custDataLst>
            </p:nvPr>
          </p:nvSpPr>
          <p:spPr>
            <a:xfrm>
              <a:off x="5397823" y="4351338"/>
              <a:ext cx="747883" cy="415270"/>
            </a:xfrm>
            <a:prstGeom prst="rect">
              <a:avLst/>
            </a:prstGeom>
            <a:noFill/>
            <a:ln w="12700">
              <a:noFill/>
            </a:ln>
          </p:spPr>
          <p:txBody>
            <a:bodyPr wrap="none" anchor="t" anchorCtr="0">
              <a:spAutoFit/>
            </a:bodyPr>
            <a:p>
              <a:pPr marL="469900" indent="-469900">
                <a:lnSpc>
                  <a:spcPct val="75000"/>
                </a:lnSpc>
                <a:spcBef>
                  <a:spcPct val="20000"/>
                </a:spcBef>
                <a:buClr>
                  <a:schemeClr val="accent2"/>
                </a:buClr>
                <a:buFont typeface="Wingdings" panose="05000000000000000000" pitchFamily="2" charset="2"/>
              </a:pPr>
              <a:r>
                <a:rPr lang="zh-CN" altLang="en-US" sz="1800" b="1" dirty="0">
                  <a:solidFill>
                    <a:srgbClr val="034DA0"/>
                  </a:solidFill>
                  <a:latin typeface="等线" panose="02010600030101010101" charset="-122"/>
                  <a:ea typeface="等线" panose="02010600030101010101" charset="-122"/>
                </a:rPr>
                <a:t>消息</a:t>
              </a:r>
              <a:endParaRPr lang="zh-CN" altLang="en-US" sz="1800" b="1" dirty="0">
                <a:solidFill>
                  <a:srgbClr val="034DA0"/>
                </a:solidFill>
                <a:latin typeface="等线" panose="02010600030101010101" charset="-122"/>
                <a:ea typeface="等线" panose="02010600030101010101" charset="-122"/>
              </a:endParaRPr>
            </a:p>
          </p:txBody>
        </p:sp>
      </p:grpSp>
      <p:grpSp>
        <p:nvGrpSpPr>
          <p:cNvPr id="29" name="组合 29"/>
          <p:cNvGrpSpPr/>
          <p:nvPr/>
        </p:nvGrpSpPr>
        <p:grpSpPr>
          <a:xfrm>
            <a:off x="5211505" y="1415415"/>
            <a:ext cx="2171700" cy="644525"/>
            <a:chOff x="5605739" y="1159698"/>
            <a:chExt cx="2537275" cy="1221336"/>
          </a:xfrm>
        </p:grpSpPr>
        <p:sp>
          <p:nvSpPr>
            <p:cNvPr id="30" name="圆角矩形 30"/>
            <p:cNvSpPr/>
            <p:nvPr>
              <p:custDataLst>
                <p:tags r:id="rId22"/>
              </p:custDataLst>
            </p:nvPr>
          </p:nvSpPr>
          <p:spPr>
            <a:xfrm>
              <a:off x="5762278" y="1159698"/>
              <a:ext cx="2212697" cy="1221336"/>
            </a:xfrm>
            <a:prstGeom prst="roundRect">
              <a:avLst/>
            </a:pr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sp>
        <p:sp>
          <p:nvSpPr>
            <p:cNvPr id="31" name="圆角矩形 4"/>
            <p:cNvSpPr/>
            <p:nvPr>
              <p:custDataLst>
                <p:tags r:id="rId23"/>
              </p:custDataLst>
            </p:nvPr>
          </p:nvSpPr>
          <p:spPr>
            <a:xfrm>
              <a:off x="5605739" y="1162104"/>
              <a:ext cx="2537275" cy="1101007"/>
            </a:xfrm>
            <a:prstGeom prst="rect">
              <a:avLst/>
            </a:prstGeom>
          </p:spPr>
          <p:style>
            <a:lnRef idx="0">
              <a:scrgbClr r="0" g="0" b="0"/>
            </a:lnRef>
            <a:fillRef idx="0">
              <a:scrgbClr r="0" g="0" b="0"/>
            </a:fillRef>
            <a:effectRef idx="0">
              <a:scrgbClr r="0" g="0" b="0"/>
            </a:effectRef>
            <a:fontRef idx="minor">
              <a:schemeClr val="lt1"/>
            </a:fontRef>
          </p:style>
          <p:txBody>
            <a:bodyPr tIns="91440" bIns="91440" spcCol="1270" anchor="ctr"/>
            <a:p>
              <a:pPr marL="0" marR="0" lvl="0" indent="0" algn="ctr" defTabSz="1066800" rtl="0" eaLnBrk="1" fontAlgn="base" latinLnBrk="0" hangingPunct="1">
                <a:lnSpc>
                  <a:spcPct val="90000"/>
                </a:lnSpc>
                <a:spcBef>
                  <a:spcPct val="0"/>
                </a:spcBef>
                <a:spcAft>
                  <a:spcPct val="35000"/>
                </a:spcAft>
                <a:buClr>
                  <a:schemeClr val="accent2"/>
                </a:buClr>
                <a:buSzTx/>
                <a:buFont typeface="Wingdings" panose="05000000000000000000" pitchFamily="2" charset="2"/>
                <a:buNone/>
                <a:defRPr/>
              </a:pPr>
              <a:r>
                <a:rPr kumimoji="0" lang="zh-CN" altLang="en-US" sz="18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ea"/>
                  <a:cs typeface="+mn-cs"/>
                </a:rPr>
                <a:t>对象之间通过消息进行交互</a:t>
              </a:r>
              <a:endParaRPr kumimoji="0" lang="zh-CN" altLang="en-US" sz="18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mn-ea"/>
                <a:cs typeface="+mn-cs"/>
              </a:endParaRPr>
            </a:p>
          </p:txBody>
        </p:sp>
      </p:grpSp>
      <p:sp>
        <p:nvSpPr>
          <p:cNvPr id="32" name="Oval 4"/>
          <p:cNvSpPr/>
          <p:nvPr/>
        </p:nvSpPr>
        <p:spPr>
          <a:xfrm>
            <a:off x="4037965" y="4166870"/>
            <a:ext cx="1565910" cy="1150620"/>
          </a:xfrm>
          <a:prstGeom prst="ellipse">
            <a:avLst/>
          </a:prstGeom>
          <a:solidFill>
            <a:schemeClr val="accent1">
              <a:lumMod val="20000"/>
              <a:lumOff val="80000"/>
            </a:schemeClr>
          </a:solidFill>
          <a:ln w="25400" cap="flat" cmpd="sng">
            <a:solidFill>
              <a:schemeClr val="tx1"/>
            </a:solidFill>
            <a:prstDash val="solid"/>
            <a:round/>
            <a:headEnd type="none" w="sm" len="sm"/>
            <a:tailEnd type="none" w="sm" len="sm"/>
          </a:ln>
        </p:spPr>
        <p:txBody>
          <a:bodyPr wrap="none" anchor="ctr" anchorCtr="0"/>
          <a:p>
            <a:pPr>
              <a:lnSpc>
                <a:spcPct val="75000"/>
              </a:lnSpc>
              <a:spcBef>
                <a:spcPct val="20000"/>
              </a:spcBef>
              <a:buClr>
                <a:schemeClr val="accent2"/>
              </a:buClr>
              <a:buFont typeface="Wingdings" panose="05000000000000000000" pitchFamily="2" charset="2"/>
            </a:pPr>
            <a:endParaRPr lang="zh-CN" altLang="en-US" sz="1800" b="1" dirty="0">
              <a:latin typeface="Times New Roman" panose="02020603050405020304" pitchFamily="18" charset="0"/>
              <a:ea typeface="宋体" panose="02010600030101010101" pitchFamily="2" charset="-122"/>
            </a:endParaRPr>
          </a:p>
        </p:txBody>
      </p:sp>
      <p:sp>
        <p:nvSpPr>
          <p:cNvPr id="33" name="Oval 5"/>
          <p:cNvSpPr/>
          <p:nvPr/>
        </p:nvSpPr>
        <p:spPr>
          <a:xfrm>
            <a:off x="4328160" y="4231640"/>
            <a:ext cx="1017270" cy="313690"/>
          </a:xfrm>
          <a:prstGeom prst="ellipse">
            <a:avLst/>
          </a:prstGeom>
          <a:solidFill>
            <a:srgbClr val="CCECFF"/>
          </a:solidFill>
          <a:ln w="25400" cap="flat" cmpd="sng">
            <a:solidFill>
              <a:schemeClr val="tx1"/>
            </a:solidFill>
            <a:prstDash val="solid"/>
            <a:round/>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属性</a:t>
            </a:r>
            <a:r>
              <a:rPr lang="en-US" altLang="zh-CN" sz="1800" b="1" dirty="0">
                <a:solidFill>
                  <a:srgbClr val="034DA0"/>
                </a:solidFill>
                <a:latin typeface="等线" panose="02010600030101010101" charset="-122"/>
                <a:ea typeface="等线" panose="02010600030101010101" charset="-122"/>
                <a:cs typeface="等线" panose="02010600030101010101" charset="-122"/>
              </a:rPr>
              <a:t>1..n</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34" name="Rectangle 6"/>
          <p:cNvSpPr/>
          <p:nvPr/>
        </p:nvSpPr>
        <p:spPr>
          <a:xfrm>
            <a:off x="4384993" y="4579303"/>
            <a:ext cx="823912" cy="295275"/>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方法</a:t>
            </a:r>
            <a:r>
              <a:rPr lang="en-US" altLang="zh-CN" sz="1800" b="1" dirty="0">
                <a:solidFill>
                  <a:srgbClr val="034DA0"/>
                </a:solidFill>
                <a:latin typeface="等线" panose="02010600030101010101" charset="-122"/>
                <a:ea typeface="等线" panose="02010600030101010101" charset="-122"/>
                <a:cs typeface="等线" panose="02010600030101010101" charset="-122"/>
              </a:rPr>
              <a:t>1</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35" name="Rectangle 7"/>
          <p:cNvSpPr/>
          <p:nvPr/>
        </p:nvSpPr>
        <p:spPr>
          <a:xfrm>
            <a:off x="4384993" y="4942840"/>
            <a:ext cx="823912" cy="292100"/>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方法</a:t>
            </a:r>
            <a:r>
              <a:rPr lang="en-US" altLang="zh-CN" sz="1800" b="1" dirty="0">
                <a:solidFill>
                  <a:srgbClr val="034DA0"/>
                </a:solidFill>
                <a:latin typeface="等线" panose="02010600030101010101" charset="-122"/>
                <a:ea typeface="等线" panose="02010600030101010101" charset="-122"/>
                <a:cs typeface="等线" panose="02010600030101010101" charset="-122"/>
              </a:rPr>
              <a:t>m</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36" name="Oval 4"/>
          <p:cNvSpPr/>
          <p:nvPr/>
        </p:nvSpPr>
        <p:spPr>
          <a:xfrm>
            <a:off x="7382510" y="4166870"/>
            <a:ext cx="1527175" cy="1150620"/>
          </a:xfrm>
          <a:prstGeom prst="ellipse">
            <a:avLst/>
          </a:prstGeom>
          <a:solidFill>
            <a:schemeClr val="accent1">
              <a:lumMod val="20000"/>
              <a:lumOff val="80000"/>
            </a:schemeClr>
          </a:solidFill>
          <a:ln w="25400" cap="flat" cmpd="sng">
            <a:solidFill>
              <a:schemeClr val="tx1"/>
            </a:solidFill>
            <a:prstDash val="solid"/>
            <a:round/>
            <a:headEnd type="none" w="sm" len="sm"/>
            <a:tailEnd type="none" w="sm" len="sm"/>
          </a:ln>
        </p:spPr>
        <p:txBody>
          <a:bodyPr wrap="none" anchor="ctr" anchorCtr="0"/>
          <a:p>
            <a:pPr>
              <a:lnSpc>
                <a:spcPct val="75000"/>
              </a:lnSpc>
              <a:spcBef>
                <a:spcPct val="20000"/>
              </a:spcBef>
              <a:buClr>
                <a:schemeClr val="accent2"/>
              </a:buClr>
              <a:buFont typeface="Wingdings" panose="05000000000000000000" pitchFamily="2" charset="2"/>
            </a:pPr>
            <a:endParaRPr lang="zh-CN" altLang="en-US" sz="1800" b="1" dirty="0">
              <a:solidFill>
                <a:srgbClr val="034DA0"/>
              </a:solidFill>
              <a:latin typeface="等线" panose="02010600030101010101" charset="-122"/>
              <a:ea typeface="等线" panose="02010600030101010101" charset="-122"/>
            </a:endParaRPr>
          </a:p>
        </p:txBody>
      </p:sp>
      <p:sp>
        <p:nvSpPr>
          <p:cNvPr id="37" name="Oval 5"/>
          <p:cNvSpPr/>
          <p:nvPr/>
        </p:nvSpPr>
        <p:spPr>
          <a:xfrm>
            <a:off x="7661910" y="4231640"/>
            <a:ext cx="1016000" cy="308610"/>
          </a:xfrm>
          <a:prstGeom prst="ellipse">
            <a:avLst/>
          </a:prstGeom>
          <a:solidFill>
            <a:srgbClr val="CCECFF"/>
          </a:solidFill>
          <a:ln w="25400" cap="flat" cmpd="sng">
            <a:solidFill>
              <a:schemeClr val="tx1"/>
            </a:solidFill>
            <a:prstDash val="solid"/>
            <a:round/>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属性</a:t>
            </a:r>
            <a:r>
              <a:rPr lang="en-US" altLang="zh-CN" sz="1800" b="1" dirty="0">
                <a:solidFill>
                  <a:srgbClr val="034DA0"/>
                </a:solidFill>
                <a:latin typeface="等线" panose="02010600030101010101" charset="-122"/>
                <a:ea typeface="等线" panose="02010600030101010101" charset="-122"/>
                <a:cs typeface="等线" panose="02010600030101010101" charset="-122"/>
              </a:rPr>
              <a:t>1..n</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38" name="Rectangle 6"/>
          <p:cNvSpPr/>
          <p:nvPr/>
        </p:nvSpPr>
        <p:spPr>
          <a:xfrm>
            <a:off x="7737793" y="4579303"/>
            <a:ext cx="823912" cy="295275"/>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cs typeface="等线" panose="02010600030101010101" charset="-122"/>
              </a:rPr>
              <a:t>方法</a:t>
            </a:r>
            <a:r>
              <a:rPr lang="en-US" altLang="zh-CN" sz="1800" b="1" dirty="0">
                <a:solidFill>
                  <a:srgbClr val="034DA0"/>
                </a:solidFill>
                <a:latin typeface="等线" panose="02010600030101010101" charset="-122"/>
                <a:ea typeface="等线" panose="02010600030101010101" charset="-122"/>
                <a:cs typeface="等线" panose="02010600030101010101" charset="-122"/>
              </a:rPr>
              <a:t>1</a:t>
            </a:r>
            <a:endParaRPr lang="en-US" altLang="zh-CN" sz="1800" b="1" dirty="0">
              <a:solidFill>
                <a:srgbClr val="034DA0"/>
              </a:solidFill>
              <a:latin typeface="等线" panose="02010600030101010101" charset="-122"/>
              <a:ea typeface="等线" panose="02010600030101010101" charset="-122"/>
              <a:cs typeface="等线" panose="02010600030101010101" charset="-122"/>
            </a:endParaRPr>
          </a:p>
        </p:txBody>
      </p:sp>
      <p:sp>
        <p:nvSpPr>
          <p:cNvPr id="39" name="Rectangle 7"/>
          <p:cNvSpPr/>
          <p:nvPr/>
        </p:nvSpPr>
        <p:spPr>
          <a:xfrm>
            <a:off x="7737793" y="4942840"/>
            <a:ext cx="823912" cy="292100"/>
          </a:xfrm>
          <a:prstGeom prst="rect">
            <a:avLst/>
          </a:prstGeom>
          <a:solidFill>
            <a:srgbClr val="CCECFF"/>
          </a:solidFill>
          <a:ln w="25400" cap="flat" cmpd="sng">
            <a:solidFill>
              <a:schemeClr val="tx1"/>
            </a:solidFill>
            <a:prstDash val="solid"/>
            <a:miter/>
            <a:headEnd type="none" w="sm" len="sm"/>
            <a:tailEnd type="none" w="sm" len="sm"/>
          </a:ln>
        </p:spPr>
        <p:txBody>
          <a:bodyPr wrap="none" anchor="ctr" anchorCtr="0"/>
          <a:p>
            <a:pPr algn="ctr" eaLnBrk="0" hangingPunct="0"/>
            <a:r>
              <a:rPr lang="zh-CN" altLang="en-US" sz="1800" b="1" dirty="0">
                <a:solidFill>
                  <a:srgbClr val="034DA0"/>
                </a:solidFill>
                <a:latin typeface="等线" panose="02010600030101010101" charset="-122"/>
                <a:ea typeface="等线" panose="02010600030101010101" charset="-122"/>
              </a:rPr>
              <a:t>方法</a:t>
            </a:r>
            <a:endParaRPr lang="zh-CN" altLang="en-US" sz="1800" b="1" dirty="0">
              <a:solidFill>
                <a:srgbClr val="034DA0"/>
              </a:solidFill>
              <a:latin typeface="等线" panose="02010600030101010101" charset="-122"/>
              <a:ea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32" grpId="0" animBg="1"/>
      <p:bldP spid="33" grpId="0" animBg="1"/>
      <p:bldP spid="34" grpId="0" animBg="1"/>
      <p:bldP spid="35" grpId="0" animBg="1"/>
      <p:bldP spid="36" grpId="0" animBg="1"/>
      <p:bldP spid="37" grpId="0" animBg="1"/>
      <p:bldP spid="38" grpId="0" animBg="1"/>
      <p:bldP spid="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1.1.5  </a:t>
            </a:r>
            <a:r>
              <a:rPr kumimoji="1" lang="zh-CN" altLang="en-US" dirty="0">
                <a:solidFill>
                  <a:schemeClr val="bg1"/>
                </a:solidFill>
              </a:rPr>
              <a:t>面向对象的特征</a:t>
            </a:r>
            <a:r>
              <a:rPr kumimoji="1" lang="en-US" altLang="zh-CN" sz="2400" dirty="0">
                <a:solidFill>
                  <a:schemeClr val="bg1"/>
                </a:solidFill>
              </a:rPr>
              <a:t>1/2</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498475" y="1127760"/>
            <a:ext cx="8341360" cy="4773930"/>
          </a:xfrm>
          <a:prstGeom prst="rect">
            <a:avLst/>
          </a:prstGeom>
          <a:noFill/>
        </p:spPr>
        <p:txBody>
          <a:bodyPr wrap="square" rtlCol="0" anchor="t">
            <a:noAutofit/>
          </a:bodyPr>
          <a:p>
            <a:pPr marL="20955" lvl="0" indent="-457200" algn="just">
              <a:lnSpc>
                <a:spcPct val="150000"/>
              </a:lnSpc>
              <a:buClrTx/>
              <a:buSzTx/>
              <a:buFont typeface="Arial" panose="020B0604020202020204" pitchFamily="34" charset="0"/>
              <a:buChar char="•"/>
            </a:pPr>
            <a:r>
              <a:rPr lang="zh-CN" altLang="en-US" sz="3200" b="1" dirty="0">
                <a:sym typeface="+mn-ea"/>
              </a:rPr>
              <a:t>封装性</a:t>
            </a:r>
            <a:endParaRPr lang="zh-CN" altLang="en-US" sz="3200" b="1" dirty="0">
              <a:sym typeface="+mn-ea"/>
            </a:endParaRPr>
          </a:p>
          <a:p>
            <a:pPr marL="935355" lvl="2" indent="-457200" algn="just">
              <a:lnSpc>
                <a:spcPct val="150000"/>
              </a:lnSpc>
              <a:buClrTx/>
              <a:buSzTx/>
              <a:buFont typeface="Arial" panose="020B0604020202020204" pitchFamily="34" charset="0"/>
              <a:buChar char="•"/>
            </a:pPr>
            <a:r>
              <a:rPr lang="en-US" altLang="zh-CN" sz="2800" b="1" dirty="0">
                <a:sym typeface="+mn-ea"/>
              </a:rPr>
              <a:t>Java</a:t>
            </a:r>
            <a:r>
              <a:rPr lang="zh-CN" altLang="en-US" sz="2800" b="1" dirty="0">
                <a:sym typeface="+mn-ea"/>
              </a:rPr>
              <a:t>：包、类、类成员的访问</a:t>
            </a:r>
            <a:r>
              <a:rPr lang="zh-CN" altLang="en-US" sz="2800" b="1" dirty="0">
                <a:sym typeface="+mn-ea"/>
              </a:rPr>
              <a:t>权限</a:t>
            </a:r>
            <a:endParaRPr lang="zh-CN" altLang="en-US" sz="2800" b="1" dirty="0">
              <a:sym typeface="+mn-ea"/>
            </a:endParaRPr>
          </a:p>
          <a:p>
            <a:pPr marL="20955" lvl="0" indent="-457200" algn="just">
              <a:lnSpc>
                <a:spcPct val="150000"/>
              </a:lnSpc>
              <a:buClrTx/>
              <a:buSzTx/>
              <a:buFont typeface="Arial" panose="020B0604020202020204" pitchFamily="34" charset="0"/>
              <a:buChar char="•"/>
            </a:pPr>
            <a:r>
              <a:rPr lang="zh-CN" altLang="en-US" sz="3200" b="1" dirty="0">
                <a:sym typeface="+mn-ea"/>
              </a:rPr>
              <a:t>继承性</a:t>
            </a:r>
            <a:endParaRPr lang="zh-CN" altLang="en-US" sz="3200" b="1" dirty="0">
              <a:sym typeface="+mn-ea"/>
            </a:endParaRPr>
          </a:p>
          <a:p>
            <a:pPr marL="935355" lvl="2" indent="-457200" algn="just">
              <a:lnSpc>
                <a:spcPct val="150000"/>
              </a:lnSpc>
              <a:buClrTx/>
              <a:buSzTx/>
              <a:buFont typeface="Arial" panose="020B0604020202020204" pitchFamily="34" charset="0"/>
              <a:buChar char="•"/>
            </a:pPr>
            <a:r>
              <a:rPr lang="zh-CN" altLang="en-US" sz="2800" b="1" dirty="0">
                <a:sym typeface="+mn-ea"/>
              </a:rPr>
              <a:t>如果两个类有继承关系，一个类继承另一个类的所有数据和操作</a:t>
            </a:r>
            <a:endParaRPr lang="zh-CN" altLang="en-US" sz="2800" b="1" dirty="0">
              <a:sym typeface="+mn-ea"/>
            </a:endParaRPr>
          </a:p>
          <a:p>
            <a:pPr marL="1392555" lvl="3" indent="-457200" algn="just">
              <a:lnSpc>
                <a:spcPct val="150000"/>
              </a:lnSpc>
              <a:buClrTx/>
              <a:buSzTx/>
              <a:buFont typeface="Arial" panose="020B0604020202020204" pitchFamily="34" charset="0"/>
              <a:buChar char="•"/>
            </a:pPr>
            <a:r>
              <a:rPr lang="zh-CN" altLang="en-US" sz="2800" b="1" dirty="0">
                <a:sym typeface="+mn-ea"/>
              </a:rPr>
              <a:t>被继承的类称为基类、父类或超类</a:t>
            </a:r>
            <a:endParaRPr lang="zh-CN" altLang="en-US" sz="2800" b="1" dirty="0">
              <a:sym typeface="+mn-ea"/>
            </a:endParaRPr>
          </a:p>
          <a:p>
            <a:pPr marL="1392555" lvl="3" indent="-457200" algn="just">
              <a:lnSpc>
                <a:spcPct val="150000"/>
              </a:lnSpc>
              <a:buClrTx/>
              <a:buSzTx/>
              <a:buFont typeface="Arial" panose="020B0604020202020204" pitchFamily="34" charset="0"/>
              <a:buChar char="•"/>
            </a:pPr>
            <a:r>
              <a:rPr lang="zh-CN" altLang="en-US" sz="2800" b="1" dirty="0">
                <a:sym typeface="+mn-ea"/>
              </a:rPr>
              <a:t>继承了父类的类称为子类</a:t>
            </a:r>
            <a:endParaRPr kumimoji="0" lang="zh-CN" altLang="en-US" sz="2800" b="1" i="0" u="none" strike="noStrike" cap="none" spc="0" normalizeH="0" baseline="0" noProof="1" dirty="0">
              <a:solidFill>
                <a:schemeClr val="tx1"/>
              </a:solidFill>
              <a:ea typeface="+mn-ea"/>
            </a:endParaRPr>
          </a:p>
          <a:p>
            <a:pPr marL="935355" lvl="2" indent="-457200" algn="just">
              <a:lnSpc>
                <a:spcPct val="150000"/>
              </a:lnSpc>
              <a:buClrTx/>
              <a:buSzTx/>
              <a:buFont typeface="Arial" panose="020B0604020202020204" pitchFamily="34" charset="0"/>
              <a:buChar char="•"/>
            </a:pPr>
            <a:endParaRPr lang="zh-CN" altLang="en-US" sz="2800" b="1" dirty="0">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503035" cy="662305"/>
          </a:xfrm>
        </p:spPr>
        <p:txBody>
          <a:bodyPr>
            <a:normAutofit/>
          </a:bodyPr>
          <a:lstStyle/>
          <a:p>
            <a:r>
              <a:rPr kumimoji="1" lang="en-US" altLang="zh-CN" dirty="0">
                <a:solidFill>
                  <a:schemeClr val="bg1"/>
                </a:solidFill>
              </a:rPr>
              <a:t>1.1.5  </a:t>
            </a:r>
            <a:r>
              <a:rPr kumimoji="1" lang="zh-CN" altLang="en-US" dirty="0">
                <a:solidFill>
                  <a:schemeClr val="bg1"/>
                </a:solidFill>
              </a:rPr>
              <a:t>面向对象的特征</a:t>
            </a:r>
            <a:r>
              <a:rPr kumimoji="1" lang="en-US" altLang="zh-CN" sz="2400" dirty="0">
                <a:solidFill>
                  <a:schemeClr val="bg1"/>
                </a:solidFill>
              </a:rPr>
              <a:t>2</a:t>
            </a:r>
            <a:r>
              <a:rPr kumimoji="1" lang="en-US" altLang="zh-CN" sz="2400" dirty="0">
                <a:solidFill>
                  <a:schemeClr val="bg1"/>
                </a:solidFill>
              </a:rPr>
              <a:t>/2</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262255" y="967740"/>
            <a:ext cx="3701415" cy="4492625"/>
          </a:xfrm>
          <a:prstGeom prst="rect">
            <a:avLst/>
          </a:prstGeom>
          <a:noFill/>
        </p:spPr>
        <p:txBody>
          <a:bodyPr wrap="square" rtlCol="0" anchor="t">
            <a:noAutofit/>
          </a:bodyPr>
          <a:p>
            <a:pPr marL="20955" lvl="0" indent="-457200" algn="just">
              <a:lnSpc>
                <a:spcPct val="150000"/>
              </a:lnSpc>
              <a:buClrTx/>
              <a:buSzTx/>
              <a:buFont typeface="Arial" panose="020B0604020202020204" pitchFamily="34" charset="0"/>
              <a:buChar char="•"/>
            </a:pPr>
            <a:r>
              <a:rPr lang="zh-CN" altLang="en-US" sz="3200" b="1" dirty="0">
                <a:sym typeface="+mn-ea"/>
              </a:rPr>
              <a:t>多态</a:t>
            </a:r>
            <a:r>
              <a:rPr lang="zh-CN" altLang="en-US" sz="3200" b="1" dirty="0">
                <a:sym typeface="+mn-ea"/>
              </a:rPr>
              <a:t>性</a:t>
            </a:r>
            <a:endParaRPr lang="zh-CN" altLang="en-US" sz="3200" b="1" dirty="0">
              <a:sym typeface="+mn-ea"/>
            </a:endParaRPr>
          </a:p>
          <a:p>
            <a:pPr marL="478155" lvl="2" indent="0" algn="just">
              <a:lnSpc>
                <a:spcPct val="150000"/>
              </a:lnSpc>
              <a:buClrTx/>
              <a:buSzTx/>
              <a:buFont typeface="Arial" panose="020B0604020202020204" pitchFamily="34" charset="0"/>
              <a:buNone/>
            </a:pPr>
            <a:endParaRPr lang="zh-CN" altLang="en-US" sz="3200" b="1" dirty="0">
              <a:solidFill>
                <a:schemeClr val="tx1"/>
              </a:solidFill>
              <a:latin typeface="等线" panose="02010600030101010101" charset="-122"/>
              <a:ea typeface="等线" panose="02010600030101010101" charset="-122"/>
              <a:cs typeface="等线" panose="02010600030101010101" charset="-122"/>
              <a:sym typeface="+mn-ea"/>
            </a:endParaRPr>
          </a:p>
        </p:txBody>
      </p:sp>
      <p:graphicFrame>
        <p:nvGraphicFramePr>
          <p:cNvPr id="8" name="对象 7"/>
          <p:cNvGraphicFramePr/>
          <p:nvPr>
            <p:custDataLst>
              <p:tags r:id="rId6"/>
            </p:custDataLst>
          </p:nvPr>
        </p:nvGraphicFramePr>
        <p:xfrm>
          <a:off x="169387" y="1875314"/>
          <a:ext cx="4148455" cy="1449705"/>
        </p:xfrm>
        <a:graphic>
          <a:graphicData uri="http://schemas.openxmlformats.org/presentationml/2006/ole">
            <mc:AlternateContent xmlns:mc="http://schemas.openxmlformats.org/markup-compatibility/2006">
              <mc:Choice xmlns:v="urn:schemas-microsoft-com:vml" Requires="v">
                <p:oleObj spid="_x0000_s3078" name="" r:id="rId7" imgW="2999740" imgH="1051560" progId="Visio.Drawing.15">
                  <p:embed/>
                </p:oleObj>
              </mc:Choice>
              <mc:Fallback>
                <p:oleObj name="" r:id="rId7" imgW="2999740" imgH="1051560" progId="Visio.Drawing.15">
                  <p:embed/>
                  <p:pic>
                    <p:nvPicPr>
                      <p:cNvPr id="0" name="图片 3077"/>
                      <p:cNvPicPr/>
                      <p:nvPr/>
                    </p:nvPicPr>
                    <p:blipFill>
                      <a:blip r:embed="rId8"/>
                      <a:stretch>
                        <a:fillRect/>
                      </a:stretch>
                    </p:blipFill>
                    <p:spPr>
                      <a:xfrm>
                        <a:off x="169387" y="1875314"/>
                        <a:ext cx="4148455" cy="1449705"/>
                      </a:xfrm>
                      <a:prstGeom prst="rect">
                        <a:avLst/>
                      </a:prstGeom>
                      <a:noFill/>
                      <a:ln w="38100">
                        <a:noFill/>
                        <a:miter/>
                      </a:ln>
                    </p:spPr>
                  </p:pic>
                </p:oleObj>
              </mc:Fallback>
            </mc:AlternateContent>
          </a:graphicData>
        </a:graphic>
      </p:graphicFrame>
      <p:graphicFrame>
        <p:nvGraphicFramePr>
          <p:cNvPr id="9" name="对象 8"/>
          <p:cNvGraphicFramePr/>
          <p:nvPr>
            <p:custDataLst>
              <p:tags r:id="rId9"/>
            </p:custDataLst>
          </p:nvPr>
        </p:nvGraphicFramePr>
        <p:xfrm>
          <a:off x="4571683" y="1344613"/>
          <a:ext cx="4108450" cy="2134235"/>
        </p:xfrm>
        <a:graphic>
          <a:graphicData uri="http://schemas.openxmlformats.org/presentationml/2006/ole">
            <mc:AlternateContent xmlns:mc="http://schemas.openxmlformats.org/markup-compatibility/2006">
              <mc:Choice xmlns:v="urn:schemas-microsoft-com:vml" Requires="v">
                <p:oleObj spid="_x0000_s3077" name="" r:id="rId10" imgW="2972435" imgH="1544320" progId="Visio.Drawing.15">
                  <p:embed/>
                </p:oleObj>
              </mc:Choice>
              <mc:Fallback>
                <p:oleObj name="" r:id="rId10" imgW="2972435" imgH="1544320" progId="Visio.Drawing.15">
                  <p:embed/>
                  <p:pic>
                    <p:nvPicPr>
                      <p:cNvPr id="0" name="图片 3076"/>
                      <p:cNvPicPr/>
                      <p:nvPr/>
                    </p:nvPicPr>
                    <p:blipFill>
                      <a:blip r:embed="rId11"/>
                      <a:stretch>
                        <a:fillRect/>
                      </a:stretch>
                    </p:blipFill>
                    <p:spPr>
                      <a:xfrm>
                        <a:off x="4571683" y="1344613"/>
                        <a:ext cx="4108450" cy="2134235"/>
                      </a:xfrm>
                      <a:prstGeom prst="rect">
                        <a:avLst/>
                      </a:prstGeom>
                      <a:noFill/>
                      <a:ln w="38100">
                        <a:noFill/>
                        <a:miter/>
                      </a:ln>
                    </p:spPr>
                  </p:pic>
                </p:oleObj>
              </mc:Fallback>
            </mc:AlternateContent>
          </a:graphicData>
        </a:graphic>
      </p:graphicFrame>
      <p:sp>
        <p:nvSpPr>
          <p:cNvPr id="10" name="文本框 9"/>
          <p:cNvSpPr txBox="1"/>
          <p:nvPr/>
        </p:nvSpPr>
        <p:spPr>
          <a:xfrm>
            <a:off x="372745" y="3511550"/>
            <a:ext cx="4091305" cy="2889250"/>
          </a:xfrm>
          <a:prstGeom prst="rect">
            <a:avLst/>
          </a:prstGeom>
          <a:noFill/>
        </p:spPr>
        <p:txBody>
          <a:bodyPr wrap="square" rtlCol="0" anchor="t">
            <a:noAutofit/>
          </a:bodyPr>
          <a:p>
            <a:pPr marL="342900" indent="-342900">
              <a:lnSpc>
                <a:spcPct val="150000"/>
              </a:lnSpc>
              <a:buFont typeface="Arial" panose="020B0604020202020204" pitchFamily="34" charset="0"/>
              <a:buChar char="•"/>
            </a:pPr>
            <a:r>
              <a:rPr lang="zh-CN" altLang="en-US" sz="2000" b="1">
                <a:solidFill>
                  <a:srgbClr val="034DA0"/>
                </a:solidFill>
              </a:rPr>
              <a:t>变量的多态性</a:t>
            </a:r>
            <a:endParaRPr lang="zh-CN" altLang="en-US" sz="2000" b="1">
              <a:solidFill>
                <a:srgbClr val="034DA0"/>
              </a:solidFill>
            </a:endParaRPr>
          </a:p>
          <a:p>
            <a:pPr marL="742950" lvl="1" indent="-285750">
              <a:lnSpc>
                <a:spcPct val="150000"/>
              </a:lnSpc>
              <a:buFont typeface="Arial" panose="020B0604020202020204" pitchFamily="34" charset="0"/>
              <a:buChar char="•"/>
            </a:pPr>
            <a:r>
              <a:rPr lang="zh-CN" altLang="en-US" sz="2000" b="1"/>
              <a:t>父类 A </a:t>
            </a:r>
            <a:r>
              <a:rPr lang="zh-CN" altLang="en-US" sz="2000" b="1"/>
              <a:t>类型的变量 x，有以下几种取值：</a:t>
            </a:r>
            <a:endParaRPr lang="zh-CN" altLang="en-US" sz="2000" b="1"/>
          </a:p>
          <a:p>
            <a:pPr marL="1200150" lvl="2" indent="-285750">
              <a:lnSpc>
                <a:spcPct val="150000"/>
              </a:lnSpc>
              <a:buFont typeface="Arial" panose="020B0604020202020204" pitchFamily="34" charset="0"/>
              <a:buChar char="•"/>
            </a:pPr>
            <a:r>
              <a:rPr lang="zh-CN" altLang="en-US" sz="2000" b="1"/>
              <a:t>x=a;  或 x=b;  或 x=c;  或 x=d.</a:t>
            </a:r>
            <a:endParaRPr lang="zh-CN" altLang="en-US" sz="2000" b="1"/>
          </a:p>
        </p:txBody>
      </p:sp>
      <p:sp>
        <p:nvSpPr>
          <p:cNvPr id="12" name="文本框 11"/>
          <p:cNvSpPr txBox="1"/>
          <p:nvPr/>
        </p:nvSpPr>
        <p:spPr>
          <a:xfrm>
            <a:off x="4636135" y="3640455"/>
            <a:ext cx="4462145" cy="2061210"/>
          </a:xfrm>
          <a:prstGeom prst="rect">
            <a:avLst/>
          </a:prstGeom>
          <a:noFill/>
        </p:spPr>
        <p:txBody>
          <a:bodyPr wrap="square" rtlCol="0" anchor="t">
            <a:spAutoFit/>
          </a:bodyPr>
          <a:p>
            <a:pPr marL="342900" indent="-342900">
              <a:buFont typeface="Arial" panose="020B0604020202020204" pitchFamily="34" charset="0"/>
              <a:buChar char="•"/>
            </a:pPr>
            <a:r>
              <a:rPr lang="zh-CN" altLang="en-US" sz="2000" b="1">
                <a:solidFill>
                  <a:srgbClr val="034DA0"/>
                </a:solidFill>
              </a:rPr>
              <a:t>方法的多态性</a:t>
            </a:r>
            <a:endParaRPr lang="zh-CN" altLang="en-US" sz="2000" b="1">
              <a:solidFill>
                <a:srgbClr val="034DA0"/>
              </a:solidFill>
            </a:endParaRPr>
          </a:p>
          <a:p>
            <a:pPr>
              <a:lnSpc>
                <a:spcPct val="150000"/>
              </a:lnSpc>
            </a:pPr>
            <a:r>
              <a:rPr lang="zh-CN" altLang="en-US" b="1"/>
              <a:t>若 x=a，方法 x.g() 执行类 A 中的方法体</a:t>
            </a:r>
            <a:endParaRPr lang="zh-CN" altLang="en-US" b="1"/>
          </a:p>
          <a:p>
            <a:pPr>
              <a:lnSpc>
                <a:spcPct val="150000"/>
              </a:lnSpc>
            </a:pPr>
            <a:r>
              <a:rPr lang="zh-CN" altLang="en-US" b="1"/>
              <a:t>若 x=b，方法 x.g() 执行类 B 中的方法体</a:t>
            </a:r>
            <a:endParaRPr lang="zh-CN" altLang="en-US" b="1"/>
          </a:p>
          <a:p>
            <a:pPr>
              <a:lnSpc>
                <a:spcPct val="150000"/>
              </a:lnSpc>
            </a:pPr>
            <a:r>
              <a:rPr lang="zh-CN" altLang="en-US" b="1"/>
              <a:t>若</a:t>
            </a:r>
            <a:r>
              <a:rPr lang="en-US" altLang="zh-CN" b="1"/>
              <a:t> </a:t>
            </a:r>
            <a:r>
              <a:rPr lang="zh-CN" altLang="en-US" b="1"/>
              <a:t>x=c，方法 x.g() 执行类 C 中的方法体</a:t>
            </a:r>
            <a:endParaRPr lang="zh-CN" altLang="en-US" b="1"/>
          </a:p>
          <a:p>
            <a:pPr>
              <a:lnSpc>
                <a:spcPct val="150000"/>
              </a:lnSpc>
            </a:pPr>
            <a:r>
              <a:rPr lang="zh-CN" altLang="en-US" b="1"/>
              <a:t>若 x=d，方法 x.g() 执行类 D 中的方法体</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645160"/>
          </a:xfrm>
          <a:prstGeom prst="rect">
            <a:avLst/>
          </a:prstGeom>
          <a:noFill/>
        </p:spPr>
        <p:txBody>
          <a:bodyPr wrap="square" rtlCol="0" anchor="t">
            <a:spAutoFit/>
          </a:bodyPr>
          <a:p>
            <a:pPr algn="dist"/>
            <a:r>
              <a:rPr kumimoji="1" lang="zh-CN" altLang="en-US" sz="3600" b="1" kern="0" dirty="0">
                <a:solidFill>
                  <a:srgbClr val="034DA0"/>
                </a:solidFill>
                <a:latin typeface="华文行楷" panose="02010800040101010101" charset="-122"/>
                <a:ea typeface="华文行楷" panose="02010800040101010101" charset="-122"/>
                <a:sym typeface="+mn-ea"/>
              </a:rPr>
              <a:t>面向对象的</a:t>
            </a:r>
            <a:r>
              <a:rPr kumimoji="1" lang="zh-CN" altLang="en-US" sz="3600" b="1" kern="0" dirty="0">
                <a:solidFill>
                  <a:srgbClr val="034DA0"/>
                </a:solidFill>
                <a:latin typeface="华文行楷" panose="02010800040101010101" charset="-122"/>
                <a:ea typeface="华文行楷" panose="02010800040101010101" charset="-122"/>
                <a:sym typeface="+mn-ea"/>
              </a:rPr>
              <a:t>特征？</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0100" y="1941195"/>
            <a:ext cx="7747635" cy="3094990"/>
          </a:xfrm>
        </p:spPr>
        <p:txBody>
          <a:bodyPr>
            <a:noAutofit/>
          </a:bodyPr>
          <a:lstStyle/>
          <a:p>
            <a:pPr marL="0" indent="0">
              <a:lnSpc>
                <a:spcPct val="150000"/>
              </a:lnSpc>
              <a:buNone/>
            </a:pPr>
            <a:r>
              <a:rPr kumimoji="1" lang="en-US" altLang="zh-CN" sz="2800" dirty="0">
                <a:solidFill>
                  <a:schemeClr val="tx1"/>
                </a:solidFill>
                <a:latin typeface="+mn-ea"/>
                <a:cs typeface="+mn-ea"/>
              </a:rPr>
              <a:t>1.1 面向对象基础</a:t>
            </a:r>
            <a:endParaRPr kumimoji="1" lang="en-US" altLang="zh-CN" sz="2800" dirty="0">
              <a:solidFill>
                <a:schemeClr val="tx1"/>
              </a:solidFill>
              <a:latin typeface="+mn-ea"/>
              <a:cs typeface="+mn-ea"/>
            </a:endParaRPr>
          </a:p>
          <a:p>
            <a:pPr marL="0" indent="0">
              <a:lnSpc>
                <a:spcPct val="150000"/>
              </a:lnSpc>
              <a:buNone/>
            </a:pPr>
            <a:r>
              <a:rPr kumimoji="1" lang="en-US" altLang="zh-CN" sz="2800" dirty="0">
                <a:solidFill>
                  <a:srgbClr val="034EA2"/>
                </a:solidFill>
                <a:latin typeface="+mn-ea"/>
                <a:cs typeface="+mn-ea"/>
                <a:sym typeface="+mn-ea"/>
              </a:rPr>
              <a:t>1.2 UML类图设计方法</a:t>
            </a:r>
            <a:endParaRPr kumimoji="1" lang="en-US" altLang="zh-CN" sz="2800" dirty="0">
              <a:solidFill>
                <a:srgbClr val="034EA2"/>
              </a:solidFill>
              <a:latin typeface="+mn-ea"/>
              <a:cs typeface="+mn-ea"/>
            </a:endParaRPr>
          </a:p>
        </p:txBody>
      </p:sp>
      <p:sp>
        <p:nvSpPr>
          <p:cNvPr id="7" name="矩形 6"/>
          <p:cNvSpPr/>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 name="标题 1"/>
          <p:cNvSpPr>
            <a:spLocks noGrp="1"/>
          </p:cNvSpPr>
          <p:nvPr>
            <p:ph type="title"/>
          </p:nvPr>
        </p:nvSpPr>
        <p:spPr>
          <a:xfrm>
            <a:off x="137466" y="334388"/>
            <a:ext cx="2400300" cy="510778"/>
          </a:xfrm>
        </p:spPr>
        <p:txBody>
          <a:bodyPr>
            <a:noAutofit/>
          </a:bodyPr>
          <a:lstStyle/>
          <a:p>
            <a:r>
              <a:rPr kumimoji="1" lang="zh-CN" altLang="en-US" sz="3600" b="1" dirty="0">
                <a:solidFill>
                  <a:schemeClr val="bg1"/>
                </a:solidFill>
                <a:latin typeface="+mn-ea"/>
                <a:ea typeface="+mn-ea"/>
              </a:rPr>
              <a:t>目录</a:t>
            </a:r>
            <a:endParaRPr kumimoji="1" lang="zh-CN" altLang="en-US" sz="3600" b="1" dirty="0">
              <a:solidFill>
                <a:schemeClr val="bg1"/>
              </a:solidFill>
              <a:latin typeface="+mn-ea"/>
              <a:ea typeface="+mn-ea"/>
            </a:endParaRPr>
          </a:p>
        </p:txBody>
      </p:sp>
      <p:pic>
        <p:nvPicPr>
          <p:cNvPr id="8" name="西北工业大学"/>
          <p:cNvPicPr>
            <a:picLocks noChangeAspect="1"/>
          </p:cNvPicPr>
          <p:nvPr/>
        </p:nvPicPr>
        <p:blipFill>
          <a:blip r:embed="rId1" cstate="screen"/>
          <a:stretch>
            <a:fillRect/>
          </a:stretch>
        </p:blipFill>
        <p:spPr>
          <a:xfrm>
            <a:off x="7476490" y="417830"/>
            <a:ext cx="1363345" cy="342900"/>
          </a:xfrm>
          <a:prstGeom prst="rect">
            <a:avLst/>
          </a:prstGeom>
        </p:spPr>
      </p:pic>
      <p:pic>
        <p:nvPicPr>
          <p:cNvPr id="9" name="校徽"/>
          <p:cNvPicPr>
            <a:picLocks noChangeAspect="1"/>
          </p:cNvPicPr>
          <p:nvPr/>
        </p:nvPicPr>
        <p:blipFill>
          <a:blip r:embed="rId2" cstate="screen"/>
          <a:stretch>
            <a:fillRect/>
          </a:stretch>
        </p:blipFill>
        <p:spPr>
          <a:xfrm>
            <a:off x="6868160" y="342900"/>
            <a:ext cx="431800" cy="431800"/>
          </a:xfrm>
          <a:prstGeom prst="rect">
            <a:avLst/>
          </a:prstGeom>
        </p:spPr>
      </p:pic>
      <p:sp>
        <p:nvSpPr>
          <p:cNvPr id="11" name="文本框 10"/>
          <p:cNvSpPr txBox="1"/>
          <p:nvPr/>
        </p:nvSpPr>
        <p:spPr>
          <a:xfrm>
            <a:off x="767663" y="1139105"/>
            <a:ext cx="4883150" cy="583565"/>
          </a:xfrm>
          <a:prstGeom prst="rect">
            <a:avLst/>
          </a:prstGeom>
          <a:noFill/>
        </p:spPr>
        <p:txBody>
          <a:bodyPr wrap="none" rtlCol="0">
            <a:spAutoFit/>
          </a:bodyPr>
          <a:lstStyle/>
          <a:p>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第</a:t>
            </a:r>
            <a:r>
              <a:rPr kumimoji="1" lang="en-US" altLang="zh-CN" sz="3200" b="1" dirty="0">
                <a:solidFill>
                  <a:srgbClr val="034EA2"/>
                </a:solidFill>
                <a:latin typeface="微软雅黑" panose="020B0503020204020204" charset="-122"/>
                <a:ea typeface="微软雅黑" panose="020B0503020204020204" charset="-122"/>
                <a:cs typeface="微软雅黑" panose="020B0503020204020204" charset="-122"/>
              </a:rPr>
              <a:t>1</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章</a:t>
            </a:r>
            <a:r>
              <a:rPr kumimoji="1" lang="en-US" altLang="zh-CN" sz="3200" b="1" dirty="0">
                <a:solidFill>
                  <a:srgbClr val="034EA2"/>
                </a:solidFill>
                <a:latin typeface="微软雅黑" panose="020B0503020204020204" charset="-122"/>
                <a:ea typeface="微软雅黑" panose="020B0503020204020204" charset="-122"/>
                <a:cs typeface="微软雅黑" panose="020B0503020204020204" charset="-122"/>
              </a:rPr>
              <a:t>  UML</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类图设计</a:t>
            </a:r>
            <a:r>
              <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rPr>
              <a:t>方法</a:t>
            </a:r>
            <a:endParaRPr kumimoji="1" lang="zh-CN" altLang="en-US" sz="3200" b="1" dirty="0">
              <a:solidFill>
                <a:srgbClr val="034EA2"/>
              </a:solidFill>
              <a:latin typeface="微软雅黑" panose="020B0503020204020204" charset="-122"/>
              <a:ea typeface="微软雅黑" panose="020B0503020204020204" charset="-122"/>
              <a:cs typeface="微软雅黑" panose="020B0503020204020204" charset="-122"/>
            </a:endParaRPr>
          </a:p>
        </p:txBody>
      </p:sp>
      <p:cxnSp>
        <p:nvCxnSpPr>
          <p:cNvPr id="13" name="直线连接符 12"/>
          <p:cNvCxnSpPr/>
          <p:nvPr/>
        </p:nvCxnSpPr>
        <p:spPr>
          <a:xfrm>
            <a:off x="850848" y="1936216"/>
            <a:ext cx="7298055"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sp>
        <p:nvSpPr>
          <p:cNvPr id="12" name="日期占位符 11"/>
          <p:cNvSpPr>
            <a:spLocks noGrp="1"/>
          </p:cNvSpPr>
          <p:nvPr>
            <p:ph type="dt" sz="half" idx="10"/>
            <p:custDataLst>
              <p:tags r:id="rId3"/>
            </p:custDataLst>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14" name="页脚占位符 13"/>
          <p:cNvSpPr>
            <a:spLocks noGrp="1"/>
          </p:cNvSpPr>
          <p:nvPr>
            <p:ph type="ftr" sz="quarter" idx="11"/>
            <p:custDataLst>
              <p:tags r:id="rId4"/>
            </p:custDataLst>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15" name="灯片编号占位符 14"/>
          <p:cNvSpPr>
            <a:spLocks noGrp="1"/>
          </p:cNvSpPr>
          <p:nvPr>
            <p:ph type="sldNum" sz="quarter" idx="12"/>
            <p:custDataLst>
              <p:tags r:id="rId5"/>
            </p:custDataLst>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cxnSp>
        <p:nvCxnSpPr>
          <p:cNvPr id="16" name="直线连接符 9"/>
          <p:cNvCxnSpPr/>
          <p:nvPr>
            <p:custDataLst>
              <p:tags r:id="rId6"/>
            </p:custDataLst>
          </p:nvPr>
        </p:nvCxnSpPr>
        <p:spPr>
          <a:xfrm>
            <a:off x="0" y="6333977"/>
            <a:ext cx="9144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a:t>
            </a:r>
            <a:r>
              <a:rPr kumimoji="1" lang="zh-CN" altLang="en-US" sz="2800" b="1" dirty="0"/>
              <a:t>目标</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852920" cy="662305"/>
          </a:xfrm>
        </p:spPr>
        <p:txBody>
          <a:bodyPr>
            <a:normAutofit/>
          </a:bodyPr>
          <a:lstStyle/>
          <a:p>
            <a:r>
              <a:rPr kumimoji="1" lang="en-US" altLang="zh-CN" dirty="0">
                <a:solidFill>
                  <a:schemeClr val="bg1"/>
                </a:solidFill>
              </a:rPr>
              <a:t>1.2 </a:t>
            </a:r>
            <a:r>
              <a:rPr kumimoji="1" lang="en-US" altLang="zh-CN" sz="3600" dirty="0">
                <a:solidFill>
                  <a:schemeClr val="bg1"/>
                </a:solidFill>
                <a:sym typeface="+mn-ea"/>
              </a:rPr>
              <a:t> UML</a:t>
            </a:r>
            <a:r>
              <a:rPr kumimoji="1" lang="zh-CN" altLang="en-US" sz="3600" dirty="0">
                <a:solidFill>
                  <a:schemeClr val="bg1"/>
                </a:solidFill>
                <a:sym typeface="+mn-ea"/>
              </a:rPr>
              <a:t>类图设计</a:t>
            </a:r>
            <a:r>
              <a:rPr kumimoji="1" lang="zh-CN" altLang="en-US" sz="3600" dirty="0">
                <a:solidFill>
                  <a:schemeClr val="bg1"/>
                </a:solidFill>
                <a:sym typeface="+mn-ea"/>
              </a:rPr>
              <a:t>方法</a:t>
            </a:r>
            <a:endParaRPr kumimoji="1" lang="zh-CN" altLang="en-US" sz="3600" dirty="0">
              <a:solidFill>
                <a:schemeClr val="bg1"/>
              </a:solidFill>
              <a:sym typeface="+mn-ea"/>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727" name="卷形: 水平 1"/>
          <p:cNvSpPr/>
          <p:nvPr>
            <p:custDataLst>
              <p:tags r:id="rId7"/>
            </p:custDataLst>
          </p:nvPr>
        </p:nvSpPr>
        <p:spPr>
          <a:xfrm>
            <a:off x="628650" y="1729105"/>
            <a:ext cx="7743825"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7" name="矩形 6"/>
          <p:cNvSpPr/>
          <p:nvPr>
            <p:custDataLst>
              <p:tags r:id="rId8"/>
            </p:custDataLst>
          </p:nvPr>
        </p:nvSpPr>
        <p:spPr>
          <a:xfrm>
            <a:off x="1382713" y="2392680"/>
            <a:ext cx="6408738" cy="1753235"/>
          </a:xfrm>
          <a:prstGeom prst="rect">
            <a:avLst/>
          </a:prstGeom>
        </p:spPr>
        <p:txBody>
          <a:bodyPr wrap="square">
            <a:spAutoFit/>
          </a:bodyPr>
          <a:p>
            <a:pPr marL="342900" marR="0" lvl="0" indent="-342900" algn="just" defTabSz="914400" rtl="0" eaLnBrk="0" fontAlgn="base" latinLnBrk="0" hangingPunct="0">
              <a:lnSpc>
                <a:spcPct val="150000"/>
              </a:lnSpc>
              <a:spcBef>
                <a:spcPct val="0"/>
              </a:spcBef>
              <a:spcAft>
                <a:spcPts val="0"/>
              </a:spcAft>
              <a:buClrTx/>
              <a:buSzTx/>
              <a:buFont typeface="+mj-lt"/>
              <a:buAutoNum type="arabicPeriod"/>
              <a:tabLst>
                <a:tab pos="457200" algn="l"/>
              </a:tabLst>
              <a:defRPr/>
            </a:pP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掌握UML类图</a:t>
            </a:r>
            <a:endParaRPr kumimoji="0" lang="zh-CN" altLang="zh-CN" sz="24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342900" marR="0" lvl="0" indent="-342900" algn="just" defTabSz="914400" rtl="0" eaLnBrk="0" fontAlgn="base" latinLnBrk="0" hangingPunct="0">
              <a:lnSpc>
                <a:spcPct val="150000"/>
              </a:lnSpc>
              <a:spcBef>
                <a:spcPct val="0"/>
              </a:spcBef>
              <a:spcAft>
                <a:spcPts val="0"/>
              </a:spcAft>
              <a:buClrTx/>
              <a:buSzTx/>
              <a:buFont typeface="+mj-lt"/>
              <a:buAutoNum type="arabicPeriod"/>
              <a:tabLst>
                <a:tab pos="457200" algn="l"/>
              </a:tabLst>
              <a:defRPr/>
            </a:pP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掌握类图中常用类结构</a:t>
            </a:r>
            <a:endParaRPr kumimoji="0" lang="zh-CN" altLang="zh-CN" sz="24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3.</a:t>
            </a:r>
            <a:r>
              <a:rPr lang="en-US"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 </a:t>
            </a: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掌握基于需求设计类图的方法</a:t>
            </a:r>
            <a:endPar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b="1" dirty="0"/>
              <a:t>需求分析与设计的重要性</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1.2.1 UML</a:t>
            </a:r>
            <a:r>
              <a:rPr kumimoji="1" lang="zh-CN" altLang="en-US" dirty="0">
                <a:solidFill>
                  <a:schemeClr val="bg1"/>
                </a:solidFill>
              </a:rPr>
              <a:t>类图介绍</a:t>
            </a:r>
            <a:r>
              <a:rPr kumimoji="1" lang="en-US" altLang="zh-CN" sz="2400" dirty="0">
                <a:solidFill>
                  <a:schemeClr val="bg1"/>
                </a:solidFill>
              </a:rPr>
              <a:t>1/4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925955"/>
            <a:ext cx="8036560" cy="396811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Char char="•"/>
            </a:pPr>
            <a:r>
              <a:rPr lang="zh-CN" altLang="en-US" sz="2400" b="1" kern="0" dirty="0">
                <a:latin typeface="等线" panose="02010600030101010101" charset="-122"/>
                <a:ea typeface="等线" panose="02010600030101010101" charset="-122"/>
                <a:cs typeface="等线" panose="02010600030101010101" charset="-122"/>
                <a:sym typeface="+mn-ea"/>
              </a:rPr>
              <a:t>根据某系统的需求，采用</a:t>
            </a:r>
            <a:r>
              <a:rPr lang="en-US" altLang="zh-CN" sz="2400" b="1" kern="0" dirty="0">
                <a:latin typeface="等线" panose="02010600030101010101" charset="-122"/>
                <a:ea typeface="等线" panose="02010600030101010101" charset="-122"/>
                <a:cs typeface="等线" panose="02010600030101010101" charset="-122"/>
                <a:sym typeface="+mn-ea"/>
              </a:rPr>
              <a:t>Java</a:t>
            </a:r>
            <a:r>
              <a:rPr lang="zh-CN" altLang="en-US" sz="2400" b="1" kern="0" dirty="0">
                <a:latin typeface="等线" panose="02010600030101010101" charset="-122"/>
                <a:ea typeface="等线" panose="02010600030101010101" charset="-122"/>
                <a:cs typeface="等线" panose="02010600030101010101" charset="-122"/>
                <a:sym typeface="+mn-ea"/>
              </a:rPr>
              <a:t>（或其它编程语言）编程语言开发一个软件系统，首先需要进行需求分析和设计</a:t>
            </a:r>
            <a:endParaRPr lang="zh-CN" altLang="en-US" sz="2400" b="1" kern="0" dirty="0">
              <a:latin typeface="等线" panose="02010600030101010101" charset="-122"/>
              <a:ea typeface="等线" panose="02010600030101010101" charset="-122"/>
              <a:cs typeface="等线" panose="02010600030101010101" charset="-122"/>
              <a:sym typeface="+mn-ea"/>
            </a:endParaRPr>
          </a:p>
          <a:p>
            <a:pPr lvl="1">
              <a:lnSpc>
                <a:spcPct val="150000"/>
              </a:lnSpc>
              <a:buFont typeface="Arial" panose="020B0604020202020204" pitchFamily="34" charset="0"/>
              <a:buChar char="•"/>
            </a:pPr>
            <a:r>
              <a:rPr lang="zh-CN" altLang="en-US" sz="2055" b="1" kern="0" dirty="0">
                <a:latin typeface="Verdana" panose="020B0604030504040204" pitchFamily="34" charset="0"/>
                <a:cs typeface="+mn-ea"/>
                <a:sym typeface="+mn-ea"/>
              </a:rPr>
              <a:t>软件开发如同建筑物搭建，也需要设计模型，以呈现面向对象的设计思想</a:t>
            </a:r>
            <a:endParaRPr lang="zh-CN" altLang="en-US" sz="2055" b="1" kern="0" dirty="0">
              <a:latin typeface="Verdana" panose="020B0604030504040204" pitchFamily="34" charset="0"/>
              <a:cs typeface="+mn-ea"/>
              <a:sym typeface="+mn-ea"/>
            </a:endParaRPr>
          </a:p>
          <a:p>
            <a:pPr>
              <a:lnSpc>
                <a:spcPct val="150000"/>
              </a:lnSpc>
              <a:buFont typeface="Arial" panose="020B0604020202020204" pitchFamily="34" charset="0"/>
              <a:buChar char="•"/>
            </a:pPr>
            <a:r>
              <a:rPr lang="zh-CN" altLang="en-US" sz="2400" b="1" kern="0" dirty="0">
                <a:latin typeface="Verdana" panose="020B0604030504040204" pitchFamily="34" charset="0"/>
                <a:cs typeface="+mn-ea"/>
                <a:sym typeface="+mn-ea"/>
              </a:rPr>
              <a:t>设计</a:t>
            </a:r>
            <a:r>
              <a:rPr lang="zh-CN" altLang="en-US" sz="2400" b="1" kern="0" dirty="0">
                <a:latin typeface="Verdana" panose="020B0604030504040204" pitchFamily="34" charset="0"/>
                <a:cs typeface="+mn-ea"/>
                <a:sym typeface="+mn-ea"/>
              </a:rPr>
              <a:t>方案应遵循标准（</a:t>
            </a:r>
            <a:r>
              <a:rPr lang="zh-CN" altLang="en-US" sz="2400" b="1" kern="0" dirty="0">
                <a:solidFill>
                  <a:schemeClr val="accent1"/>
                </a:solidFill>
                <a:latin typeface="Verdana" panose="020B0604030504040204" pitchFamily="34" charset="0"/>
                <a:cs typeface="+mn-ea"/>
                <a:sym typeface="+mn-ea"/>
              </a:rPr>
              <a:t>职业品格和行为习惯的养成</a:t>
            </a:r>
            <a:r>
              <a:rPr lang="zh-CN" altLang="en-US" sz="2400" b="1" kern="0" dirty="0">
                <a:latin typeface="Verdana" panose="020B0604030504040204" pitchFamily="34" charset="0"/>
                <a:cs typeface="+mn-ea"/>
                <a:sym typeface="+mn-ea"/>
              </a:rPr>
              <a:t>）：限制过度个性化，以一种普遍认可的统一方式一起做事，提升协作效率，降低沟通成本</a:t>
            </a:r>
            <a:endParaRPr kumimoji="0" lang="en-US" altLang="zh-CN" sz="2400" b="1" i="0" u="none" strike="noStrike" kern="0" cap="none" spc="0" normalizeH="0" baseline="0" noProof="1" dirty="0">
              <a:solidFill>
                <a:schemeClr val="tx1"/>
              </a:solidFill>
              <a:latin typeface="+mn-lt"/>
              <a:ea typeface="+mn-ea"/>
              <a:cs typeface="+mn-cs"/>
            </a:endParaRPr>
          </a:p>
          <a:p>
            <a:pPr marL="0" indent="0">
              <a:lnSpc>
                <a:spcPct val="150000"/>
              </a:lnSpc>
              <a:buFont typeface="Arial" panose="020B0604020202020204" pitchFamily="34" charset="0"/>
              <a:buNone/>
            </a:pP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512445" y="112268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altLang="zh-CN" b="1" dirty="0">
                <a:latin typeface="等线" panose="02010600030101010101" charset="-122"/>
                <a:ea typeface="等线" panose="02010600030101010101" charset="-122"/>
                <a:cs typeface="等线" panose="02010600030101010101" charset="-122"/>
              </a:rPr>
              <a:t>UML</a:t>
            </a:r>
            <a:r>
              <a:rPr kumimoji="1" lang="zh-CN" altLang="en-US" b="1" dirty="0">
                <a:latin typeface="等线" panose="02010600030101010101" charset="-122"/>
                <a:ea typeface="等线" panose="02010600030101010101" charset="-122"/>
                <a:cs typeface="等线" panose="02010600030101010101" charset="-122"/>
              </a:rPr>
              <a:t>建模语言及其扩展</a:t>
            </a:r>
            <a:endParaRPr kumimoji="1" lang="zh-CN" altLang="en-US" b="1" dirty="0">
              <a:latin typeface="等线" panose="02010600030101010101" charset="-122"/>
              <a:ea typeface="等线" panose="02010600030101010101" charset="-122"/>
              <a:cs typeface="等线" panose="02010600030101010101" charset="-122"/>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1.2.1 UML</a:t>
            </a:r>
            <a:r>
              <a:rPr kumimoji="1" lang="zh-CN" altLang="en-US" dirty="0">
                <a:solidFill>
                  <a:schemeClr val="bg1"/>
                </a:solidFill>
              </a:rPr>
              <a:t>类图介绍</a:t>
            </a:r>
            <a:r>
              <a:rPr kumimoji="1" lang="en-US" altLang="zh-CN" sz="2400" dirty="0">
                <a:solidFill>
                  <a:schemeClr val="bg1"/>
                </a:solidFill>
              </a:rPr>
              <a:t>2</a:t>
            </a:r>
            <a:r>
              <a:rPr kumimoji="1" lang="en-US" altLang="zh-CN" sz="2400" dirty="0">
                <a:solidFill>
                  <a:schemeClr val="bg1"/>
                </a:solidFill>
              </a:rPr>
              <a:t>/4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570990"/>
            <a:ext cx="8308340" cy="396811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Char char="•"/>
            </a:pPr>
            <a:r>
              <a:rPr lang="zh-CN" altLang="en-US" sz="2400" b="1" kern="0" dirty="0">
                <a:latin typeface="+mn-ea"/>
                <a:cs typeface="+mn-ea"/>
                <a:sym typeface="+mn-ea"/>
              </a:rPr>
              <a:t>计算机行业标准协会OMG组织1997年采UML</a:t>
            </a:r>
            <a:r>
              <a:rPr lang="en-US" altLang="zh-CN" sz="2400" b="1" kern="0" dirty="0">
                <a:latin typeface="+mn-ea"/>
                <a:cs typeface="+mn-ea"/>
                <a:sym typeface="+mn-ea"/>
              </a:rPr>
              <a:t>(</a:t>
            </a:r>
            <a:r>
              <a:rPr lang="zh-CN" altLang="en-US" sz="2400" b="1" kern="0" dirty="0">
                <a:latin typeface="+mn-ea"/>
                <a:cs typeface="+mn-ea"/>
                <a:sym typeface="+mn-ea"/>
              </a:rPr>
              <a:t>Unified Modeling Language</a:t>
            </a:r>
            <a:r>
              <a:rPr lang="en-US" altLang="zh-CN" sz="2400" b="1" kern="0" dirty="0">
                <a:latin typeface="+mn-ea"/>
                <a:cs typeface="+mn-ea"/>
                <a:sym typeface="+mn-ea"/>
              </a:rPr>
              <a:t>)</a:t>
            </a:r>
            <a:r>
              <a:rPr lang="zh-CN" altLang="en-US" sz="2400" b="1" kern="0" dirty="0">
                <a:latin typeface="+mn-ea"/>
                <a:cs typeface="+mn-ea"/>
                <a:sym typeface="+mn-ea"/>
              </a:rPr>
              <a:t>作为面向对象的需求分析、设计的标准建模语言，要在团队中开展面向对象软件的开发，必须掌握该建模语言</a:t>
            </a:r>
            <a:endParaRPr lang="zh-CN" altLang="en-US" sz="2400" b="1" kern="0" dirty="0">
              <a:latin typeface="+mn-ea"/>
              <a:cs typeface="+mn-ea"/>
              <a:sym typeface="+mn-ea"/>
            </a:endParaRPr>
          </a:p>
          <a:p>
            <a:pPr>
              <a:lnSpc>
                <a:spcPct val="150000"/>
              </a:lnSpc>
              <a:buFont typeface="Arial" panose="020B0604020202020204" pitchFamily="34" charset="0"/>
              <a:buChar char="•"/>
            </a:pPr>
            <a:r>
              <a:rPr lang="zh-CN" altLang="en-US" sz="2400" b="1" kern="0" dirty="0">
                <a:latin typeface="+mn-ea"/>
                <a:cs typeface="+mn-ea"/>
                <a:sym typeface="+mn-ea"/>
              </a:rPr>
              <a:t>SysML(Systems Modeling Language)，系统建模语言，是UML在系统工程应用领域的延续和扩展，是近年提出的系统体系结构设计的多用途建模语言，为系统的结构模型、行为模型、需求模型和参数模型定义语法和语义</a:t>
            </a:r>
            <a:endParaRPr lang="zh-CN" altLang="en-US" sz="2400" b="1" kern="0" dirty="0">
              <a:latin typeface="+mn-ea"/>
              <a:cs typeface="+mn-ea"/>
            </a:endParaRPr>
          </a:p>
          <a:p>
            <a:pPr marL="0" indent="0">
              <a:lnSpc>
                <a:spcPct val="150000"/>
              </a:lnSpc>
              <a:buFont typeface="Arial" panose="020B0604020202020204" pitchFamily="34" charset="0"/>
              <a:buNone/>
            </a:pPr>
            <a:endParaRPr kumimoji="1" lang="zh-CN" altLang="en-US" sz="2400" dirty="0">
              <a:latin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28651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b="1" dirty="0"/>
              <a:t>UML</a:t>
            </a:r>
            <a:r>
              <a:rPr kumimoji="1" lang="zh-CN" altLang="en-US" b="1" dirty="0"/>
              <a:t>类图的重要性</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1.2.1 UML</a:t>
            </a:r>
            <a:r>
              <a:rPr kumimoji="1" lang="zh-CN" altLang="en-US" dirty="0">
                <a:solidFill>
                  <a:schemeClr val="bg1"/>
                </a:solidFill>
              </a:rPr>
              <a:t>类图介绍</a:t>
            </a:r>
            <a:r>
              <a:rPr kumimoji="1" lang="en-US" altLang="zh-CN" sz="2400" dirty="0">
                <a:solidFill>
                  <a:schemeClr val="bg1"/>
                </a:solidFill>
              </a:rPr>
              <a:t>3</a:t>
            </a:r>
            <a:r>
              <a:rPr kumimoji="1" lang="en-US" altLang="zh-CN" sz="2400" dirty="0">
                <a:solidFill>
                  <a:schemeClr val="bg1"/>
                </a:solidFill>
              </a:rPr>
              <a:t>/4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925955"/>
            <a:ext cx="8309610" cy="405892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50000"/>
              </a:lnSpc>
              <a:spcBef>
                <a:spcPct val="20000"/>
              </a:spcBef>
              <a:spcAft>
                <a:spcPct val="0"/>
              </a:spcAft>
              <a:buClr>
                <a:srgbClr val="333F50"/>
              </a:buClr>
              <a:buSzTx/>
              <a:buFont typeface="Arial" panose="020B0604020202020204" pitchFamily="34" charset="0"/>
              <a:buChar char="•"/>
              <a:defRPr/>
            </a:pPr>
            <a:r>
              <a:rPr lang="zh-CN" altLang="en-US" sz="2400" b="1" kern="0" dirty="0">
                <a:latin typeface="+mn-ea"/>
                <a:cs typeface="+mn-ea"/>
                <a:sym typeface="+mn-ea"/>
              </a:rPr>
              <a:t>类图设计是面向对象分析和设计阶段的第一个最关键的步骤，系统动态行为的建模都以此为基础</a:t>
            </a:r>
            <a:endParaRPr lang="zh-CN" altLang="en-US" sz="2400" b="1" kern="0" dirty="0">
              <a:latin typeface="+mn-ea"/>
              <a:cs typeface="+mn-ea"/>
              <a:sym typeface="+mn-ea"/>
            </a:endParaRPr>
          </a:p>
          <a:p>
            <a:pPr marR="0" lvl="0" algn="l" defTabSz="914400" rtl="0" eaLnBrk="1" fontAlgn="base" latinLnBrk="0" hangingPunct="1">
              <a:lnSpc>
                <a:spcPct val="150000"/>
              </a:lnSpc>
              <a:spcBef>
                <a:spcPct val="20000"/>
              </a:spcBef>
              <a:spcAft>
                <a:spcPct val="0"/>
              </a:spcAft>
              <a:buClr>
                <a:srgbClr val="333F50"/>
              </a:buClr>
              <a:buSzTx/>
              <a:buFont typeface="Arial" panose="020B0604020202020204" pitchFamily="34" charset="0"/>
              <a:buChar char="•"/>
              <a:defRPr/>
            </a:pPr>
            <a:r>
              <a:rPr lang="zh-CN" altLang="en-US" sz="2400" b="1" kern="0" dirty="0">
                <a:latin typeface="+mn-ea"/>
                <a:cs typeface="+mn-ea"/>
                <a:sym typeface="+mn-ea"/>
              </a:rPr>
              <a:t>对需求分析，建立类图来描述软件系统的对象类型以及它们之间的关系，为进一步软件的编码实现提供</a:t>
            </a:r>
            <a:r>
              <a:rPr lang="zh-CN" altLang="en-US" sz="2400" b="1" kern="0" dirty="0">
                <a:latin typeface="+mn-ea"/>
                <a:cs typeface="+mn-ea"/>
                <a:sym typeface="+mn-ea"/>
              </a:rPr>
              <a:t>依据。</a:t>
            </a:r>
            <a:endParaRPr lang="zh-CN" altLang="en-US" sz="2400" b="1" kern="0" dirty="0">
              <a:latin typeface="+mn-ea"/>
              <a:cs typeface="+mn-ea"/>
              <a:sym typeface="+mn-ea"/>
            </a:endParaRPr>
          </a:p>
          <a:p>
            <a:pPr marR="0" lvl="0" algn="l" defTabSz="914400" rtl="0" eaLnBrk="1" fontAlgn="base" latinLnBrk="0" hangingPunct="1">
              <a:lnSpc>
                <a:spcPct val="150000"/>
              </a:lnSpc>
              <a:spcBef>
                <a:spcPct val="20000"/>
              </a:spcBef>
              <a:spcAft>
                <a:spcPct val="0"/>
              </a:spcAft>
              <a:buClr>
                <a:srgbClr val="333F50"/>
              </a:buClr>
              <a:buSzTx/>
              <a:buFont typeface="Arial" panose="020B0604020202020204" pitchFamily="34" charset="0"/>
              <a:buChar char="•"/>
              <a:defRPr/>
            </a:pPr>
            <a:r>
              <a:rPr lang="zh-CN" altLang="en-US" sz="2400" b="1" kern="0" dirty="0">
                <a:latin typeface="+mn-ea"/>
                <a:cs typeface="+mn-ea"/>
                <a:sym typeface="+mn-ea"/>
              </a:rPr>
              <a:t>开发人员、测试人员和维护人员通过类图，可以查看软件系统的实现由哪些类构成，每个类有哪些属性和方法，以及类之间的源码依赖关系。</a:t>
            </a:r>
            <a:endParaRPr lang="zh-CN" altLang="en-US" sz="2400" b="1" kern="0" dirty="0">
              <a:latin typeface="+mn-ea"/>
              <a:cs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28651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b="1" dirty="0"/>
              <a:t>UML</a:t>
            </a:r>
            <a:r>
              <a:rPr kumimoji="1" lang="zh-CN" altLang="en-US" b="1" dirty="0"/>
              <a:t>类图绘制工具</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1.2.1 UML</a:t>
            </a:r>
            <a:r>
              <a:rPr kumimoji="1" lang="zh-CN" altLang="en-US" dirty="0">
                <a:solidFill>
                  <a:schemeClr val="bg1"/>
                </a:solidFill>
              </a:rPr>
              <a:t>类图介绍</a:t>
            </a:r>
            <a:r>
              <a:rPr kumimoji="1" lang="en-US" altLang="zh-CN" sz="2400" dirty="0">
                <a:solidFill>
                  <a:schemeClr val="bg1"/>
                </a:solidFill>
              </a:rPr>
              <a:t>4</a:t>
            </a:r>
            <a:r>
              <a:rPr kumimoji="1" lang="en-US" altLang="zh-CN" sz="2400" dirty="0">
                <a:solidFill>
                  <a:schemeClr val="bg1"/>
                </a:solidFill>
              </a:rPr>
              <a:t>/4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309610" cy="405892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36245" eaLnBrk="1" hangingPunct="1">
              <a:lnSpc>
                <a:spcPct val="150000"/>
              </a:lnSpc>
            </a:pPr>
            <a:r>
              <a:rPr lang="en-US" altLang="zh-CN" sz="2800" b="1" dirty="0">
                <a:latin typeface="+mn-ea"/>
                <a:cs typeface="+mn-ea"/>
                <a:sym typeface="+mn-ea"/>
              </a:rPr>
              <a:t>eclipseUML</a:t>
            </a:r>
            <a:endParaRPr lang="en-US" altLang="zh-CN" sz="2800" b="1" dirty="0">
              <a:latin typeface="+mn-ea"/>
              <a:cs typeface="+mn-ea"/>
            </a:endParaRPr>
          </a:p>
          <a:p>
            <a:pPr lvl="1" indent="-436245" eaLnBrk="1" hangingPunct="1">
              <a:lnSpc>
                <a:spcPct val="150000"/>
              </a:lnSpc>
            </a:pPr>
            <a:r>
              <a:rPr lang="en-US" altLang="zh-CN" sz="2800" b="1" dirty="0">
                <a:solidFill>
                  <a:srgbClr val="FF0066"/>
                </a:solidFill>
                <a:latin typeface="+mn-ea"/>
                <a:cs typeface="+mn-ea"/>
                <a:sym typeface="+mn-ea"/>
              </a:rPr>
              <a:t>Violet.jar</a:t>
            </a:r>
            <a:r>
              <a:rPr lang="zh-CN" altLang="en-US" sz="2800" b="1" dirty="0">
                <a:solidFill>
                  <a:srgbClr val="FF0066"/>
                </a:solidFill>
                <a:latin typeface="+mn-ea"/>
                <a:cs typeface="+mn-ea"/>
                <a:sym typeface="+mn-ea"/>
              </a:rPr>
              <a:t>（</a:t>
            </a:r>
            <a:r>
              <a:rPr lang="en-US" altLang="zh-CN" sz="2800" b="1" dirty="0">
                <a:solidFill>
                  <a:srgbClr val="FF0066"/>
                </a:solidFill>
                <a:latin typeface="+mn-ea"/>
                <a:cs typeface="+mn-ea"/>
                <a:sym typeface="+mn-ea"/>
              </a:rPr>
              <a:t>Java</a:t>
            </a:r>
            <a:r>
              <a:rPr lang="zh-CN" altLang="en-US" sz="2800" b="1" dirty="0">
                <a:solidFill>
                  <a:srgbClr val="FF0066"/>
                </a:solidFill>
                <a:latin typeface="+mn-ea"/>
                <a:cs typeface="+mn-ea"/>
                <a:sym typeface="+mn-ea"/>
              </a:rPr>
              <a:t>开源建模软件）</a:t>
            </a:r>
            <a:endParaRPr lang="en-US" altLang="zh-CN" sz="2800" b="1" dirty="0">
              <a:solidFill>
                <a:srgbClr val="FF0066"/>
              </a:solidFill>
              <a:latin typeface="+mn-ea"/>
              <a:cs typeface="+mn-ea"/>
            </a:endParaRPr>
          </a:p>
          <a:p>
            <a:pPr lvl="1" indent="-436245" eaLnBrk="1" hangingPunct="1">
              <a:lnSpc>
                <a:spcPct val="150000"/>
              </a:lnSpc>
            </a:pPr>
            <a:r>
              <a:rPr lang="en-US" altLang="zh-CN" sz="2800" b="1" dirty="0">
                <a:latin typeface="+mn-ea"/>
                <a:cs typeface="+mn-ea"/>
                <a:sym typeface="+mn-ea"/>
              </a:rPr>
              <a:t>Microsoft Visio </a:t>
            </a:r>
            <a:endParaRPr lang="en-US" altLang="zh-CN" sz="2800" b="1" dirty="0">
              <a:latin typeface="+mn-ea"/>
              <a:cs typeface="+mn-ea"/>
            </a:endParaRPr>
          </a:p>
          <a:p>
            <a:pPr lvl="1" indent="-436245" eaLnBrk="1" hangingPunct="1">
              <a:lnSpc>
                <a:spcPct val="150000"/>
              </a:lnSpc>
            </a:pPr>
            <a:r>
              <a:rPr lang="en-US" altLang="zh-CN" sz="2800" b="1" dirty="0">
                <a:latin typeface="+mn-ea"/>
                <a:cs typeface="+mn-ea"/>
                <a:sym typeface="+mn-ea"/>
              </a:rPr>
              <a:t>IBM RSA(Rational Rose)</a:t>
            </a:r>
            <a:endParaRPr lang="en-US" altLang="zh-CN" sz="2800" b="1" dirty="0">
              <a:latin typeface="+mn-ea"/>
              <a:cs typeface="+mn-ea"/>
            </a:endParaRPr>
          </a:p>
          <a:p>
            <a:pPr lvl="1" indent="-436245" eaLnBrk="1" hangingPunct="1">
              <a:lnSpc>
                <a:spcPct val="150000"/>
              </a:lnSpc>
            </a:pPr>
            <a:r>
              <a:rPr lang="en-US" altLang="zh-CN" sz="2800" b="1" dirty="0">
                <a:latin typeface="+mn-ea"/>
                <a:cs typeface="+mn-ea"/>
                <a:sym typeface="+mn-ea"/>
              </a:rPr>
              <a:t>……</a:t>
            </a:r>
            <a:endParaRPr lang="zh-CN" altLang="en-US" sz="2800" b="1" kern="0" dirty="0">
              <a:latin typeface="+mn-ea"/>
              <a:cs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18999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b="1" dirty="0"/>
              <a:t>UML</a:t>
            </a:r>
            <a:r>
              <a:rPr kumimoji="1" lang="zh-CN" altLang="en-US" b="1" dirty="0"/>
              <a:t>类的</a:t>
            </a:r>
            <a:r>
              <a:rPr kumimoji="1" lang="zh-CN" altLang="en-US" b="1" dirty="0"/>
              <a:t>表示</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1.2.2 UML</a:t>
            </a:r>
            <a:r>
              <a:rPr kumimoji="1" lang="zh-CN" altLang="en-US" dirty="0">
                <a:solidFill>
                  <a:schemeClr val="bg1"/>
                </a:solidFill>
              </a:rPr>
              <a:t>类的表示</a:t>
            </a:r>
            <a:r>
              <a:rPr kumimoji="1" lang="en-US" altLang="zh-CN" sz="2400" dirty="0">
                <a:solidFill>
                  <a:schemeClr val="bg1"/>
                </a:solidFill>
              </a:rPr>
              <a:t>1</a:t>
            </a:r>
            <a:r>
              <a:rPr kumimoji="1" lang="en-US" altLang="zh-CN" sz="2400" dirty="0">
                <a:solidFill>
                  <a:schemeClr val="bg1"/>
                </a:solidFill>
              </a:rPr>
              <a:t>/3</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309610" cy="405892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endParaRPr lang="zh-CN" altLang="en-US" sz="2800" b="1" kern="0" dirty="0">
              <a:latin typeface="+mn-ea"/>
              <a:cs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56332" name="Group 12"/>
          <p:cNvGraphicFramePr>
            <a:graphicFrameLocks noGrp="1"/>
          </p:cNvGraphicFramePr>
          <p:nvPr>
            <p:custDataLst>
              <p:tags r:id="rId8"/>
            </p:custDataLst>
          </p:nvPr>
        </p:nvGraphicFramePr>
        <p:xfrm>
          <a:off x="684213" y="1818005"/>
          <a:ext cx="7993063" cy="2657597"/>
        </p:xfrm>
        <a:graphic>
          <a:graphicData uri="http://schemas.openxmlformats.org/drawingml/2006/table">
            <a:tbl>
              <a:tblPr/>
              <a:tblGrid>
                <a:gridCol w="7993062"/>
              </a:tblGrid>
              <a:tr h="527685">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NameClass</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965322">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-attribute1 : Type</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-attribute2 : Type</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1164590">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+method1(param1 : Type, param2 : Type) : Type</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+method2(param1 : Type, param2 : Type) : Type</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56342" name="AutoShape 22"/>
          <p:cNvSpPr/>
          <p:nvPr>
            <p:custDataLst>
              <p:tags r:id="rId9"/>
            </p:custDataLst>
          </p:nvPr>
        </p:nvSpPr>
        <p:spPr>
          <a:xfrm>
            <a:off x="6588125" y="1916113"/>
            <a:ext cx="1657350" cy="538162"/>
          </a:xfrm>
          <a:prstGeom prst="foldedCorner">
            <a:avLst>
              <a:gd name="adj" fmla="val 12500"/>
            </a:avLst>
          </a:prstGeom>
          <a:solidFill>
            <a:srgbClr val="CCFF66"/>
          </a:solidFill>
          <a:ln w="9525" cap="flat" cmpd="sng">
            <a:solidFill>
              <a:schemeClr val="tx1"/>
            </a:solidFill>
            <a:prstDash val="solid"/>
            <a:round/>
            <a:headEnd type="none" w="med" len="med"/>
            <a:tailEnd type="none" w="med" len="med"/>
          </a:ln>
        </p:spPr>
        <p:txBody>
          <a:bodyPr wrap="none" anchor="ctr" anchorCtr="0"/>
          <a:p>
            <a:pPr algn="ctr"/>
            <a:r>
              <a:rPr lang="zh-CN" altLang="en-US" sz="2800" b="1" dirty="0">
                <a:solidFill>
                  <a:srgbClr val="FF0000"/>
                </a:solidFill>
                <a:latin typeface="Verdana" panose="020B0604030504040204" pitchFamily="34" charset="0"/>
                <a:ea typeface="宋体" panose="02010600030101010101" pitchFamily="2" charset="-122"/>
              </a:rPr>
              <a:t>类名</a:t>
            </a:r>
            <a:endParaRPr lang="zh-CN" altLang="en-US" sz="2800" b="1" dirty="0">
              <a:solidFill>
                <a:srgbClr val="FF0000"/>
              </a:solidFill>
              <a:latin typeface="Verdana" panose="020B0604030504040204" pitchFamily="34" charset="0"/>
              <a:ea typeface="宋体" panose="02010600030101010101" pitchFamily="2" charset="-122"/>
            </a:endParaRPr>
          </a:p>
        </p:txBody>
      </p:sp>
      <p:sp>
        <p:nvSpPr>
          <p:cNvPr id="56343" name="AutoShape 23"/>
          <p:cNvSpPr/>
          <p:nvPr>
            <p:custDataLst>
              <p:tags r:id="rId10"/>
            </p:custDataLst>
          </p:nvPr>
        </p:nvSpPr>
        <p:spPr>
          <a:xfrm>
            <a:off x="6732588" y="2620963"/>
            <a:ext cx="1657350" cy="698500"/>
          </a:xfrm>
          <a:prstGeom prst="foldedCorner">
            <a:avLst>
              <a:gd name="adj" fmla="val 12500"/>
            </a:avLst>
          </a:prstGeom>
          <a:solidFill>
            <a:srgbClr val="CCFF66"/>
          </a:solidFill>
          <a:ln w="9525" cap="flat" cmpd="sng">
            <a:solidFill>
              <a:schemeClr val="tx1"/>
            </a:solidFill>
            <a:prstDash val="solid"/>
            <a:round/>
            <a:headEnd type="none" w="med" len="med"/>
            <a:tailEnd type="none" w="med" len="med"/>
          </a:ln>
        </p:spPr>
        <p:txBody>
          <a:bodyPr wrap="none" anchor="ctr" anchorCtr="0"/>
          <a:p>
            <a:pPr algn="ctr"/>
            <a:r>
              <a:rPr lang="zh-CN" altLang="en-US" sz="2800" b="1" dirty="0">
                <a:solidFill>
                  <a:srgbClr val="FF0000"/>
                </a:solidFill>
                <a:latin typeface="Verdana" panose="020B0604030504040204" pitchFamily="34" charset="0"/>
                <a:ea typeface="宋体" panose="02010600030101010101" pitchFamily="2" charset="-122"/>
              </a:rPr>
              <a:t>类属性</a:t>
            </a:r>
            <a:endParaRPr lang="zh-CN" altLang="en-US" sz="2800" b="1" dirty="0">
              <a:solidFill>
                <a:srgbClr val="FF0000"/>
              </a:solidFill>
              <a:latin typeface="Verdana" panose="020B0604030504040204" pitchFamily="34" charset="0"/>
              <a:ea typeface="宋体" panose="02010600030101010101" pitchFamily="2" charset="-122"/>
            </a:endParaRPr>
          </a:p>
        </p:txBody>
      </p:sp>
      <p:sp>
        <p:nvSpPr>
          <p:cNvPr id="56344" name="AutoShape 24"/>
          <p:cNvSpPr/>
          <p:nvPr>
            <p:custDataLst>
              <p:tags r:id="rId11"/>
            </p:custDataLst>
          </p:nvPr>
        </p:nvSpPr>
        <p:spPr>
          <a:xfrm>
            <a:off x="7488238" y="3486150"/>
            <a:ext cx="1655762" cy="698500"/>
          </a:xfrm>
          <a:prstGeom prst="foldedCorner">
            <a:avLst>
              <a:gd name="adj" fmla="val 12500"/>
            </a:avLst>
          </a:prstGeom>
          <a:solidFill>
            <a:srgbClr val="CCFF66"/>
          </a:solidFill>
          <a:ln w="9525" cap="flat" cmpd="sng">
            <a:solidFill>
              <a:schemeClr val="tx1"/>
            </a:solidFill>
            <a:prstDash val="solid"/>
            <a:round/>
            <a:headEnd type="none" w="med" len="med"/>
            <a:tailEnd type="none" w="med" len="med"/>
          </a:ln>
        </p:spPr>
        <p:txBody>
          <a:bodyPr wrap="none" anchor="ctr" anchorCtr="0"/>
          <a:p>
            <a:pPr algn="ctr"/>
            <a:r>
              <a:rPr lang="zh-CN" altLang="en-US" sz="2800" b="1" dirty="0">
                <a:solidFill>
                  <a:srgbClr val="FF0000"/>
                </a:solidFill>
                <a:latin typeface="Verdana" panose="020B0604030504040204" pitchFamily="34" charset="0"/>
                <a:ea typeface="宋体" panose="02010600030101010101" pitchFamily="2" charset="-122"/>
              </a:rPr>
              <a:t>类方法</a:t>
            </a:r>
            <a:endParaRPr lang="zh-CN" altLang="en-US" sz="2800" b="1" dirty="0">
              <a:solidFill>
                <a:srgbClr val="FF0000"/>
              </a:solidFill>
              <a:latin typeface="Verdana" panose="020B0604030504040204" pitchFamily="34" charset="0"/>
              <a:ea typeface="宋体" panose="02010600030101010101" pitchFamily="2" charset="-122"/>
            </a:endParaRPr>
          </a:p>
        </p:txBody>
      </p:sp>
      <p:sp>
        <p:nvSpPr>
          <p:cNvPr id="7" name="文本框 6"/>
          <p:cNvSpPr txBox="1"/>
          <p:nvPr/>
        </p:nvSpPr>
        <p:spPr>
          <a:xfrm>
            <a:off x="628650" y="4641215"/>
            <a:ext cx="6952615" cy="1669415"/>
          </a:xfrm>
          <a:prstGeom prst="rect">
            <a:avLst/>
          </a:prstGeom>
          <a:noFill/>
        </p:spPr>
        <p:txBody>
          <a:bodyPr wrap="square" rtlCol="0" anchor="t">
            <a:spAutoFit/>
          </a:bodyPr>
          <a:p>
            <a:pPr eaLnBrk="1" hangingPunct="1">
              <a:lnSpc>
                <a:spcPct val="90000"/>
              </a:lnSpc>
            </a:pPr>
            <a:r>
              <a:rPr lang="zh-CN" altLang="en-US" sz="2600" b="1" dirty="0">
                <a:solidFill>
                  <a:schemeClr val="tx1"/>
                </a:solidFill>
                <a:sym typeface="+mn-ea"/>
              </a:rPr>
              <a:t>类中成员访问权限表示</a:t>
            </a:r>
            <a:endParaRPr lang="zh-CN" altLang="en-US" sz="2600" b="1" dirty="0">
              <a:solidFill>
                <a:schemeClr val="tx1"/>
              </a:solidFill>
              <a:sym typeface="+mn-ea"/>
            </a:endParaRPr>
          </a:p>
          <a:p>
            <a:pPr marL="342900" indent="-342900" eaLnBrk="1" hangingPunct="1">
              <a:lnSpc>
                <a:spcPct val="90000"/>
              </a:lnSpc>
              <a:buFont typeface="Wingdings" panose="05000000000000000000" charset="0"/>
              <a:buChar char="l"/>
            </a:pPr>
            <a:r>
              <a:rPr lang="en-US" altLang="zh-CN" sz="2200" b="1" dirty="0">
                <a:solidFill>
                  <a:schemeClr val="tx1"/>
                </a:solidFill>
                <a:latin typeface="Times New Roman" panose="02020603050405020304" pitchFamily="18" charset="0"/>
                <a:sym typeface="+mn-ea"/>
              </a:rPr>
              <a:t>-   </a:t>
            </a:r>
            <a:r>
              <a:rPr lang="zh-CN" altLang="en-US" sz="2200" b="1" dirty="0">
                <a:solidFill>
                  <a:schemeClr val="tx1"/>
                </a:solidFill>
                <a:latin typeface="Times New Roman" panose="02020603050405020304" pitchFamily="18" charset="0"/>
                <a:sym typeface="+mn-ea"/>
              </a:rPr>
              <a:t>私有</a:t>
            </a:r>
            <a:endParaRPr lang="en-US" altLang="zh-CN" sz="2200" b="1" dirty="0">
              <a:solidFill>
                <a:schemeClr val="tx1"/>
              </a:solidFill>
              <a:latin typeface="Times New Roman" panose="02020603050405020304" pitchFamily="18" charset="0"/>
            </a:endParaRPr>
          </a:p>
          <a:p>
            <a:pPr lvl="1" indent="-436245" eaLnBrk="1" hangingPunct="1">
              <a:lnSpc>
                <a:spcPct val="90000"/>
              </a:lnSpc>
              <a:buFont typeface="Wingdings" panose="05000000000000000000" charset="0"/>
              <a:buChar char="l"/>
            </a:pPr>
            <a:r>
              <a:rPr lang="en-US" altLang="zh-CN" sz="2200" b="1" dirty="0">
                <a:solidFill>
                  <a:schemeClr val="tx1"/>
                </a:solidFill>
                <a:latin typeface="Times New Roman" panose="02020603050405020304" pitchFamily="18" charset="0"/>
                <a:sym typeface="+mn-ea"/>
              </a:rPr>
              <a:t>+ </a:t>
            </a:r>
            <a:r>
              <a:rPr lang="zh-CN" altLang="en-US" sz="2200" b="1" dirty="0">
                <a:solidFill>
                  <a:schemeClr val="tx1"/>
                </a:solidFill>
                <a:latin typeface="Times New Roman" panose="02020603050405020304" pitchFamily="18" charset="0"/>
                <a:sym typeface="+mn-ea"/>
              </a:rPr>
              <a:t>公开</a:t>
            </a:r>
            <a:endParaRPr lang="en-US" altLang="zh-CN" sz="2200" b="1" dirty="0">
              <a:solidFill>
                <a:schemeClr val="tx1"/>
              </a:solidFill>
              <a:latin typeface="Times New Roman" panose="02020603050405020304" pitchFamily="18" charset="0"/>
            </a:endParaRPr>
          </a:p>
          <a:p>
            <a:pPr lvl="1" indent="-436245" eaLnBrk="1" hangingPunct="1">
              <a:lnSpc>
                <a:spcPct val="90000"/>
              </a:lnSpc>
              <a:buFont typeface="Wingdings" panose="05000000000000000000" charset="0"/>
              <a:buChar char="l"/>
            </a:pPr>
            <a:r>
              <a:rPr lang="en-US" altLang="zh-CN" sz="2200" b="1" dirty="0">
                <a:solidFill>
                  <a:schemeClr val="tx1"/>
                </a:solidFill>
                <a:latin typeface="Times New Roman" panose="02020603050405020304" pitchFamily="18" charset="0"/>
                <a:sym typeface="+mn-ea"/>
              </a:rPr>
              <a:t># </a:t>
            </a:r>
            <a:r>
              <a:rPr lang="zh-CN" altLang="en-US" sz="2200" b="1" dirty="0">
                <a:solidFill>
                  <a:schemeClr val="tx1"/>
                </a:solidFill>
                <a:latin typeface="Times New Roman" panose="02020603050405020304" pitchFamily="18" charset="0"/>
                <a:sym typeface="+mn-ea"/>
              </a:rPr>
              <a:t>保护</a:t>
            </a:r>
            <a:endParaRPr lang="en-US" altLang="zh-CN" sz="2200" b="1" dirty="0">
              <a:solidFill>
                <a:schemeClr val="tx1"/>
              </a:solidFill>
              <a:latin typeface="Times New Roman" panose="02020603050405020304" pitchFamily="18" charset="0"/>
            </a:endParaRPr>
          </a:p>
          <a:p>
            <a:pPr lvl="1" indent="-436245" eaLnBrk="1" hangingPunct="1">
              <a:lnSpc>
                <a:spcPct val="90000"/>
              </a:lnSpc>
              <a:buFont typeface="Wingdings" panose="05000000000000000000" charset="0"/>
              <a:buChar char="l"/>
            </a:pPr>
            <a:r>
              <a:rPr lang="en-US" altLang="zh-CN" sz="2200" b="1" dirty="0">
                <a:solidFill>
                  <a:schemeClr val="tx1"/>
                </a:solidFill>
                <a:latin typeface="Times New Roman" panose="02020603050405020304" pitchFamily="18" charset="0"/>
                <a:sym typeface="+mn-ea"/>
              </a:rPr>
              <a:t>~ </a:t>
            </a:r>
            <a:r>
              <a:rPr lang="zh-CN" altLang="en-US" sz="2200" b="1" dirty="0">
                <a:solidFill>
                  <a:schemeClr val="tx1"/>
                </a:solidFill>
                <a:latin typeface="Times New Roman" panose="02020603050405020304" pitchFamily="18" charset="0"/>
                <a:sym typeface="+mn-ea"/>
              </a:rPr>
              <a:t>友好</a:t>
            </a:r>
            <a:endParaRPr lang="zh-CN" altLang="en-US" sz="2200" b="1" dirty="0">
              <a:solidFill>
                <a:schemeClr val="tx1"/>
              </a:solidFill>
              <a:latin typeface="Times New Roman" panose="02020603050405020304" pitchFamily="18" charset="0"/>
              <a:sym typeface="+mn-ea"/>
            </a:endParaRPr>
          </a:p>
        </p:txBody>
      </p:sp>
      <p:pic>
        <p:nvPicPr>
          <p:cNvPr id="8" name="墨迹 1"/>
          <p:cNvPicPr>
            <a:picLocks noChangeAspect="1"/>
          </p:cNvPicPr>
          <p:nvPr>
            <p:custDataLst>
              <p:tags r:id="rId12"/>
            </p:custDataLst>
          </p:nvPr>
        </p:nvPicPr>
        <p:blipFill>
          <a:blip r:embed="rId13"/>
          <a:stretch>
            <a:fillRect/>
          </a:stretch>
        </p:blipFill>
        <p:spPr>
          <a:xfrm>
            <a:off x="1793875" y="4868545"/>
            <a:ext cx="3445510" cy="136334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6342"/>
                                        </p:tgtEl>
                                        <p:attrNameLst>
                                          <p:attrName>style.visibility</p:attrName>
                                        </p:attrNameLst>
                                      </p:cBhvr>
                                      <p:to>
                                        <p:strVal val="visible"/>
                                      </p:to>
                                    </p:set>
                                    <p:animEffect transition="in" filter="barn(inHorizontal)">
                                      <p:cBhvr>
                                        <p:cTn id="7" dur="500"/>
                                        <p:tgtEl>
                                          <p:spTgt spid="5634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6343"/>
                                        </p:tgtEl>
                                        <p:attrNameLst>
                                          <p:attrName>style.visibility</p:attrName>
                                        </p:attrNameLst>
                                      </p:cBhvr>
                                      <p:to>
                                        <p:strVal val="visible"/>
                                      </p:to>
                                    </p:set>
                                    <p:animEffect transition="in" filter="barn(inHorizontal)">
                                      <p:cBhvr>
                                        <p:cTn id="12" dur="500"/>
                                        <p:tgtEl>
                                          <p:spTgt spid="563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6344"/>
                                        </p:tgtEl>
                                        <p:attrNameLst>
                                          <p:attrName>style.visibility</p:attrName>
                                        </p:attrNameLst>
                                      </p:cBhvr>
                                      <p:to>
                                        <p:strVal val="visible"/>
                                      </p:to>
                                    </p:set>
                                    <p:animEffect transition="in" filter="barn(inHorizontal)">
                                      <p:cBhvr>
                                        <p:cTn id="17" dur="500"/>
                                        <p:tgtEl>
                                          <p:spTgt spid="5634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2" grpId="0" bldLvl="0" animBg="1"/>
      <p:bldP spid="56343" grpId="0" bldLvl="0" animBg="1"/>
      <p:bldP spid="56344" grpId="0" bldLvl="0" animBg="1"/>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28651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b="1" dirty="0"/>
              <a:t>UML</a:t>
            </a:r>
            <a:r>
              <a:rPr kumimoji="1" lang="zh-CN" altLang="en-US" b="1" dirty="0"/>
              <a:t>类的</a:t>
            </a:r>
            <a:r>
              <a:rPr kumimoji="1" lang="zh-CN" altLang="en-US" b="1" dirty="0"/>
              <a:t>实现</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1.2.2 UML</a:t>
            </a:r>
            <a:r>
              <a:rPr kumimoji="1" lang="zh-CN" altLang="en-US" dirty="0">
                <a:solidFill>
                  <a:schemeClr val="bg1"/>
                </a:solidFill>
              </a:rPr>
              <a:t>类的表示</a:t>
            </a:r>
            <a:r>
              <a:rPr kumimoji="1" lang="en-US" altLang="zh-CN" sz="2400" dirty="0">
                <a:solidFill>
                  <a:schemeClr val="bg1"/>
                </a:solidFill>
              </a:rPr>
              <a:t>2</a:t>
            </a:r>
            <a:r>
              <a:rPr kumimoji="1" lang="en-US" altLang="zh-CN" sz="2400" dirty="0">
                <a:solidFill>
                  <a:schemeClr val="bg1"/>
                </a:solidFill>
              </a:rPr>
              <a:t>/3</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309610" cy="405892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endParaRPr lang="zh-CN" altLang="en-US" sz="2800" b="1" kern="0" dirty="0">
              <a:latin typeface="+mn-ea"/>
              <a:cs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3283585" y="1925955"/>
            <a:ext cx="5307965" cy="4222115"/>
          </a:xfrm>
          <a:prstGeom prst="rect">
            <a:avLst/>
          </a:prstGeom>
          <a:noFill/>
        </p:spPr>
        <p:txBody>
          <a:bodyPr wrap="square" rtlCol="0" anchor="t">
            <a:noAutofit/>
          </a:bodyPr>
          <a:p>
            <a:pPr marL="342900" indent="-342900" eaLnBrk="1" hangingPunct="1">
              <a:lnSpc>
                <a:spcPct val="150000"/>
              </a:lnSpc>
              <a:buFont typeface="Arial" panose="020B0604020202020204" pitchFamily="34" charset="0"/>
              <a:buChar char="•"/>
            </a:pPr>
            <a:r>
              <a:rPr lang="zh-CN" altLang="en-US" sz="2400" b="1" dirty="0">
                <a:sym typeface="+mn-ea"/>
              </a:rPr>
              <a:t>在程序实现时，类可以用面向对象语言中的类结构描述</a:t>
            </a:r>
            <a:endParaRPr lang="zh-CN" altLang="en-US" sz="2400" b="1" dirty="0">
              <a:sym typeface="+mn-ea"/>
            </a:endParaRPr>
          </a:p>
          <a:p>
            <a:pPr marL="800100" lvl="1" indent="-342900" eaLnBrk="1" hangingPunct="1">
              <a:lnSpc>
                <a:spcPct val="150000"/>
              </a:lnSpc>
              <a:buFont typeface="Arial" panose="020B0604020202020204" pitchFamily="34" charset="0"/>
              <a:buChar char="•"/>
            </a:pPr>
            <a:r>
              <a:rPr lang="en-US" altLang="zh-CN" sz="2400" b="1" dirty="0">
                <a:sym typeface="+mn-ea"/>
              </a:rPr>
              <a:t>Java</a:t>
            </a:r>
            <a:endParaRPr lang="en-US" altLang="zh-CN" sz="2400" b="1" dirty="0">
              <a:sym typeface="+mn-ea"/>
            </a:endParaRPr>
          </a:p>
          <a:p>
            <a:pPr marL="800100" lvl="1" indent="-342900" eaLnBrk="1" hangingPunct="1">
              <a:lnSpc>
                <a:spcPct val="150000"/>
              </a:lnSpc>
              <a:buFont typeface="Arial" panose="020B0604020202020204" pitchFamily="34" charset="0"/>
              <a:buChar char="•"/>
            </a:pPr>
            <a:r>
              <a:rPr lang="en-US" altLang="zh-CN" sz="2400" b="1" dirty="0">
                <a:sym typeface="+mn-ea"/>
              </a:rPr>
              <a:t>C++</a:t>
            </a:r>
            <a:endParaRPr lang="zh-CN" altLang="en-US" sz="2400" b="1" dirty="0">
              <a:sym typeface="+mn-ea"/>
            </a:endParaRPr>
          </a:p>
          <a:p>
            <a:pPr marL="342900" indent="-342900" eaLnBrk="1" hangingPunct="1">
              <a:lnSpc>
                <a:spcPct val="150000"/>
              </a:lnSpc>
              <a:buFont typeface="Arial" panose="020B0604020202020204" pitchFamily="34" charset="0"/>
              <a:buChar char="•"/>
            </a:pPr>
            <a:r>
              <a:rPr lang="zh-CN" altLang="en-US" sz="2400" b="1" dirty="0">
                <a:latin typeface="+mn-ea"/>
                <a:cs typeface="+mn-ea"/>
                <a:sym typeface="+mn-ea"/>
              </a:rPr>
              <a:t>课下练习用C语言struct实现一个类结构，结</a:t>
            </a:r>
            <a:r>
              <a:rPr lang="zh-CN" altLang="en-US" sz="2400" b="1" dirty="0">
                <a:latin typeface="+mn-ea"/>
                <a:cs typeface="+mn-ea"/>
                <a:sym typeface="+mn-ea"/>
              </a:rPr>
              <a:t>构体内的方法通过函数指针变量定义</a:t>
            </a:r>
            <a:endParaRPr lang="zh-CN" altLang="en-US" sz="2400" b="1" dirty="0">
              <a:latin typeface="+mn-ea"/>
              <a:cs typeface="+mn-ea"/>
              <a:sym typeface="+mn-ea"/>
            </a:endParaRPr>
          </a:p>
          <a:p>
            <a:pPr eaLnBrk="1" hangingPunct="1">
              <a:lnSpc>
                <a:spcPct val="90000"/>
              </a:lnSpc>
            </a:pPr>
            <a:endParaRPr lang="zh-CN" altLang="en-US" sz="2400" b="1" dirty="0">
              <a:solidFill>
                <a:schemeClr val="tx1"/>
              </a:solidFill>
              <a:latin typeface="Times New Roman" panose="02020603050405020304" pitchFamily="18" charset="0"/>
              <a:sym typeface="+mn-ea"/>
            </a:endParaRPr>
          </a:p>
          <a:p>
            <a:pPr marL="342900" indent="-342900" eaLnBrk="1" hangingPunct="1">
              <a:lnSpc>
                <a:spcPct val="150000"/>
              </a:lnSpc>
              <a:buFont typeface="Arial" panose="020B0604020202020204" pitchFamily="34" charset="0"/>
              <a:buChar char="•"/>
            </a:pPr>
            <a:endParaRPr lang="zh-CN" altLang="en-US" sz="2400" b="1" dirty="0">
              <a:sym typeface="+mn-ea"/>
            </a:endParaRPr>
          </a:p>
          <a:p>
            <a:pPr marL="342900" indent="-342900" eaLnBrk="1" hangingPunct="1">
              <a:lnSpc>
                <a:spcPct val="150000"/>
              </a:lnSpc>
              <a:buFont typeface="Arial" panose="020B0604020202020204" pitchFamily="34" charset="0"/>
              <a:buChar char="•"/>
            </a:pPr>
            <a:endParaRPr lang="zh-CN" altLang="en-US" sz="2400" b="1" dirty="0">
              <a:sym typeface="+mn-ea"/>
            </a:endParaRPr>
          </a:p>
        </p:txBody>
      </p:sp>
      <p:graphicFrame>
        <p:nvGraphicFramePr>
          <p:cNvPr id="20" name="Group 12"/>
          <p:cNvGraphicFramePr>
            <a:graphicFrameLocks noGrp="1"/>
          </p:cNvGraphicFramePr>
          <p:nvPr>
            <p:custDataLst>
              <p:tags r:id="rId8"/>
            </p:custDataLst>
          </p:nvPr>
        </p:nvGraphicFramePr>
        <p:xfrm>
          <a:off x="398780" y="2243455"/>
          <a:ext cx="2554605" cy="2657597"/>
        </p:xfrm>
        <a:graphic>
          <a:graphicData uri="http://schemas.openxmlformats.org/drawingml/2006/table">
            <a:tbl>
              <a:tblPr/>
              <a:tblGrid>
                <a:gridCol w="2554605"/>
              </a:tblGrid>
              <a:tr h="527685">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Point2</a:t>
                      </a: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965322">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1164590">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+getX( )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+getY( )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206375" y="121031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en-US" b="1" dirty="0"/>
              <a:t>UML</a:t>
            </a:r>
            <a:r>
              <a:rPr kumimoji="1" lang="zh-CN" altLang="en-US" b="1" dirty="0"/>
              <a:t>类的</a:t>
            </a:r>
            <a:r>
              <a:rPr kumimoji="1" lang="zh-CN" altLang="en-US" b="1" dirty="0"/>
              <a:t>实现</a:t>
            </a:r>
            <a:endParaRPr kumimoji="1" lang="zh-CN" altLang="en-US"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1.2.2 UML</a:t>
            </a:r>
            <a:r>
              <a:rPr kumimoji="1" lang="zh-CN" altLang="en-US" dirty="0">
                <a:solidFill>
                  <a:schemeClr val="bg1"/>
                </a:solidFill>
              </a:rPr>
              <a:t>类的表示</a:t>
            </a:r>
            <a:r>
              <a:rPr kumimoji="1" lang="en-US" altLang="zh-CN" sz="2400" dirty="0">
                <a:solidFill>
                  <a:schemeClr val="bg1"/>
                </a:solidFill>
              </a:rPr>
              <a:t>3</a:t>
            </a:r>
            <a:r>
              <a:rPr kumimoji="1" lang="en-US" altLang="zh-CN" sz="2400" dirty="0">
                <a:solidFill>
                  <a:schemeClr val="bg1"/>
                </a:solidFill>
              </a:rPr>
              <a:t>/3</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309610" cy="405892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endParaRPr lang="zh-CN" altLang="en-US" sz="2800" b="1" kern="0" dirty="0">
              <a:latin typeface="+mn-ea"/>
              <a:cs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2933065" y="1254125"/>
            <a:ext cx="6206490" cy="4967605"/>
          </a:xfrm>
          <a:prstGeom prst="rect">
            <a:avLst/>
          </a:prstGeom>
          <a:noFill/>
        </p:spPr>
        <p:txBody>
          <a:bodyPr wrap="square" rtlCol="0" anchor="t">
            <a:noAutofit/>
          </a:bodyPr>
          <a:p>
            <a:pPr eaLnBrk="1" hangingPunct="1">
              <a:lnSpc>
                <a:spcPct val="90000"/>
              </a:lnSpc>
            </a:pPr>
            <a:r>
              <a:rPr lang="en-US" altLang="zh-CN" sz="2400" b="1" dirty="0">
                <a:solidFill>
                  <a:schemeClr val="tx1"/>
                </a:solidFill>
                <a:latin typeface="Times New Roman" panose="02020603050405020304" pitchFamily="18" charset="0"/>
                <a:sym typeface="+mn-ea"/>
              </a:rPr>
              <a:t>public class Point2D {</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private int x;</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private int y;</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public Point2D(int initialX, int   initial</a:t>
            </a:r>
            <a:r>
              <a:rPr lang="en-US" altLang="zh-CN" sz="2400" b="1" dirty="0">
                <a:solidFill>
                  <a:schemeClr val="tx1"/>
                </a:solidFill>
                <a:latin typeface="Times New Roman" panose="02020603050405020304" pitchFamily="18" charset="0"/>
                <a:sym typeface="+mn-ea"/>
              </a:rPr>
              <a:t>Y){</a:t>
            </a:r>
            <a:endParaRPr lang="en-US" altLang="zh-CN" sz="2400" b="1" dirty="0">
              <a:solidFill>
                <a:schemeClr val="tx1"/>
              </a:solidFill>
              <a:latin typeface="Times New Roman" panose="02020603050405020304" pitchFamily="18" charset="0"/>
              <a:sym typeface="+mn-ea"/>
            </a:endParaRPr>
          </a:p>
          <a:p>
            <a:pPr lvl="1" indent="457200" eaLnBrk="1" hangingPunct="1">
              <a:lnSpc>
                <a:spcPct val="90000"/>
              </a:lnSpc>
            </a:pPr>
            <a:r>
              <a:rPr lang="en-US" altLang="zh-CN" sz="2400" b="1" dirty="0">
                <a:solidFill>
                  <a:schemeClr val="tx1"/>
                </a:solidFill>
                <a:latin typeface="Times New Roman" panose="02020603050405020304" pitchFamily="18" charset="0"/>
                <a:sym typeface="+mn-ea"/>
              </a:rPr>
              <a:t>x=</a:t>
            </a:r>
            <a:r>
              <a:rPr lang="en-US" altLang="zh-CN" sz="2400" b="1" dirty="0">
                <a:latin typeface="Times New Roman" panose="02020603050405020304" pitchFamily="18" charset="0"/>
                <a:sym typeface="+mn-ea"/>
              </a:rPr>
              <a:t>initialX;</a:t>
            </a:r>
            <a:endParaRPr lang="en-US" altLang="zh-CN" sz="2400" b="1" dirty="0">
              <a:latin typeface="Times New Roman" panose="02020603050405020304" pitchFamily="18" charset="0"/>
              <a:sym typeface="+mn-ea"/>
            </a:endParaRPr>
          </a:p>
          <a:p>
            <a:pPr lvl="1" indent="457200" eaLnBrk="1" hangingPunct="1">
              <a:lnSpc>
                <a:spcPct val="90000"/>
              </a:lnSpc>
            </a:pPr>
            <a:r>
              <a:rPr lang="en-US" altLang="zh-CN" sz="2400" b="1" dirty="0">
                <a:latin typeface="Times New Roman" panose="02020603050405020304" pitchFamily="18" charset="0"/>
                <a:sym typeface="+mn-ea"/>
              </a:rPr>
              <a:t>y=initialY;</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public int getX() {</a:t>
            </a:r>
            <a:endParaRPr lang="en-US" altLang="zh-CN" sz="2400" b="1" dirty="0">
              <a:solidFill>
                <a:schemeClr val="tx1"/>
              </a:solidFill>
              <a:latin typeface="Times New Roman" panose="02020603050405020304" pitchFamily="18" charset="0"/>
              <a:sym typeface="+mn-ea"/>
            </a:endParaRPr>
          </a:p>
          <a:p>
            <a:pPr marL="457200" lvl="1" indent="457200" eaLnBrk="1" hangingPunct="1">
              <a:lnSpc>
                <a:spcPct val="90000"/>
              </a:lnSpc>
            </a:pPr>
            <a:r>
              <a:rPr lang="en-US" altLang="zh-CN" sz="2400" b="1" dirty="0">
                <a:solidFill>
                  <a:schemeClr val="tx1"/>
                </a:solidFill>
                <a:latin typeface="Times New Roman" panose="02020603050405020304" pitchFamily="18" charset="0"/>
                <a:sym typeface="+mn-ea"/>
              </a:rPr>
              <a:t>return x;</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solidFill>
                  <a:schemeClr val="tx1"/>
                </a:solidFill>
                <a:latin typeface="Times New Roman" panose="02020603050405020304" pitchFamily="18" charset="0"/>
                <a:sym typeface="+mn-ea"/>
              </a:rPr>
              <a:t>}</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latin typeface="Times New Roman" panose="02020603050405020304" pitchFamily="18" charset="0"/>
                <a:sym typeface="+mn-ea"/>
              </a:rPr>
              <a:t>public int getY() {</a:t>
            </a:r>
            <a:endParaRPr lang="en-US" altLang="zh-CN" sz="2400" b="1" dirty="0">
              <a:solidFill>
                <a:schemeClr val="tx1"/>
              </a:solidFill>
              <a:latin typeface="Times New Roman" panose="02020603050405020304" pitchFamily="18" charset="0"/>
              <a:sym typeface="+mn-ea"/>
            </a:endParaRPr>
          </a:p>
          <a:p>
            <a:pPr marL="457200" lvl="1" indent="457200" eaLnBrk="1" hangingPunct="1">
              <a:lnSpc>
                <a:spcPct val="90000"/>
              </a:lnSpc>
            </a:pPr>
            <a:r>
              <a:rPr lang="en-US" altLang="zh-CN" sz="2400" b="1" dirty="0">
                <a:latin typeface="Times New Roman" panose="02020603050405020304" pitchFamily="18" charset="0"/>
                <a:sym typeface="+mn-ea"/>
              </a:rPr>
              <a:t>return Y;</a:t>
            </a:r>
            <a:endParaRPr lang="en-US" altLang="zh-CN" sz="2400" b="1" dirty="0">
              <a:solidFill>
                <a:schemeClr val="tx1"/>
              </a:solidFill>
              <a:latin typeface="Times New Roman" panose="02020603050405020304" pitchFamily="18" charset="0"/>
              <a:sym typeface="+mn-ea"/>
            </a:endParaRPr>
          </a:p>
          <a:p>
            <a:pPr indent="457200" eaLnBrk="1" hangingPunct="1">
              <a:lnSpc>
                <a:spcPct val="90000"/>
              </a:lnSpc>
            </a:pPr>
            <a:r>
              <a:rPr lang="en-US" altLang="zh-CN" sz="2400" b="1" dirty="0">
                <a:latin typeface="Times New Roman" panose="02020603050405020304" pitchFamily="18" charset="0"/>
                <a:sym typeface="+mn-ea"/>
              </a:rPr>
              <a:t>}</a:t>
            </a:r>
            <a:endParaRPr lang="en-US" altLang="zh-CN" sz="2400" b="1" dirty="0">
              <a:solidFill>
                <a:schemeClr val="tx1"/>
              </a:solidFill>
              <a:latin typeface="Times New Roman" panose="02020603050405020304" pitchFamily="18" charset="0"/>
              <a:sym typeface="+mn-ea"/>
            </a:endParaRPr>
          </a:p>
          <a:p>
            <a:pPr eaLnBrk="1" hangingPunct="1">
              <a:lnSpc>
                <a:spcPct val="90000"/>
              </a:lnSpc>
            </a:pPr>
            <a:r>
              <a:rPr lang="en-US" altLang="zh-CN" sz="2400" b="1" dirty="0">
                <a:solidFill>
                  <a:schemeClr val="tx1"/>
                </a:solidFill>
                <a:latin typeface="Times New Roman" panose="02020603050405020304" pitchFamily="18" charset="0"/>
                <a:sym typeface="+mn-ea"/>
              </a:rPr>
              <a:t>}</a:t>
            </a:r>
            <a:endParaRPr lang="zh-CN" altLang="en-US" sz="2400" b="1" dirty="0">
              <a:sym typeface="+mn-ea"/>
            </a:endParaRPr>
          </a:p>
        </p:txBody>
      </p:sp>
      <p:graphicFrame>
        <p:nvGraphicFramePr>
          <p:cNvPr id="20" name="Group 12"/>
          <p:cNvGraphicFramePr>
            <a:graphicFrameLocks noGrp="1"/>
          </p:cNvGraphicFramePr>
          <p:nvPr>
            <p:custDataLst>
              <p:tags r:id="rId8"/>
            </p:custDataLst>
          </p:nvPr>
        </p:nvGraphicFramePr>
        <p:xfrm>
          <a:off x="398780" y="2243455"/>
          <a:ext cx="2554605" cy="2657597"/>
        </p:xfrm>
        <a:graphic>
          <a:graphicData uri="http://schemas.openxmlformats.org/drawingml/2006/table">
            <a:tbl>
              <a:tblPr/>
              <a:tblGrid>
                <a:gridCol w="2554605"/>
              </a:tblGrid>
              <a:tr h="527685">
                <a:tc>
                  <a:txBody>
                    <a:bodyPr/>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Point2</a:t>
                      </a: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965322">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1164590">
                <a:tc>
                  <a:txBody>
                    <a:bodyPr/>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+getX( )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+getY( ) : int</a:t>
                      </a:r>
                      <a:endParaRPr kumimoji="0" lang="en-US" altLang="zh-CN" sz="2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7" marB="4679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endParaRPr kumimoji="1" 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1.2.3 </a:t>
            </a:r>
            <a:r>
              <a:rPr kumimoji="1" lang="zh-CN" altLang="en-US" dirty="0">
                <a:solidFill>
                  <a:schemeClr val="bg1"/>
                </a:solidFill>
              </a:rPr>
              <a:t>类之间</a:t>
            </a:r>
            <a:r>
              <a:rPr kumimoji="1" lang="zh-CN" altLang="en-US" dirty="0">
                <a:solidFill>
                  <a:schemeClr val="bg1"/>
                </a:solidFill>
              </a:rPr>
              <a:t>的关联关系</a:t>
            </a:r>
            <a:r>
              <a:rPr kumimoji="1" lang="en-US" altLang="zh-CN" sz="2400" dirty="0">
                <a:solidFill>
                  <a:schemeClr val="bg1"/>
                </a:solidFill>
              </a:rPr>
              <a:t>1/15</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925955"/>
            <a:ext cx="838200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b="1" dirty="0">
                <a:latin typeface="等线" panose="02010600030101010101" charset="-122"/>
                <a:ea typeface="等线" panose="02010600030101010101" charset="-122"/>
                <a:sym typeface="+mn-ea"/>
              </a:rPr>
              <a:t>面向对象中定义</a:t>
            </a:r>
            <a:r>
              <a:rPr lang="zh-CN" altLang="en-US" sz="2400" b="1" dirty="0">
                <a:latin typeface="等线" panose="02010600030101010101" charset="-122"/>
                <a:ea typeface="等线" panose="02010600030101010101" charset="-122"/>
                <a:sym typeface="+mn-ea"/>
              </a:rPr>
              <a:t>的类之间关系包括：</a:t>
            </a:r>
            <a:endParaRPr lang="en-US" altLang="zh-CN" sz="2400" b="1" dirty="0">
              <a:latin typeface="等线" panose="02010600030101010101" charset="-122"/>
              <a:ea typeface="等线" panose="02010600030101010101" charset="-122"/>
            </a:endParaRPr>
          </a:p>
          <a:p>
            <a:pPr lvl="1" indent="-436245">
              <a:lnSpc>
                <a:spcPct val="150000"/>
              </a:lnSpc>
            </a:pPr>
            <a:r>
              <a:rPr lang="zh-CN" altLang="en-US" sz="2400" b="1" dirty="0">
                <a:latin typeface="等线" panose="02010600030101010101" charset="-122"/>
                <a:ea typeface="等线" panose="02010600030101010101" charset="-122"/>
                <a:sym typeface="+mn-ea"/>
              </a:rPr>
              <a:t>依赖关系、关联关系、聚合关系（基本聚合和组合聚合）和继承关系。</a:t>
            </a:r>
            <a:endParaRPr lang="zh-CN" altLang="en-US" sz="2400" b="1" dirty="0">
              <a:latin typeface="等线" panose="02010600030101010101" charset="-122"/>
              <a:ea typeface="等线" panose="02010600030101010101" charset="-122"/>
              <a:sym typeface="+mn-ea"/>
            </a:endParaRPr>
          </a:p>
          <a:p>
            <a:pPr lvl="2" indent="-436245">
              <a:lnSpc>
                <a:spcPct val="150000"/>
              </a:lnSpc>
            </a:pPr>
            <a:r>
              <a:rPr lang="zh-CN" altLang="en-US" b="1" dirty="0">
                <a:sym typeface="+mn-ea"/>
              </a:rPr>
              <a:t>依赖关系</a:t>
            </a:r>
            <a:r>
              <a:rPr lang="zh-CN" altLang="en-US" dirty="0">
                <a:sym typeface="+mn-ea"/>
              </a:rPr>
              <a:t>是</a:t>
            </a:r>
            <a:r>
              <a:rPr lang="zh-CN" altLang="en-US" dirty="0">
                <a:sym typeface="+mn-ea"/>
              </a:rPr>
              <a:t>典型的瞬时关系，</a:t>
            </a:r>
            <a:r>
              <a:rPr lang="zh-CN" altLang="en-US" dirty="0">
                <a:sym typeface="+mn-ea"/>
              </a:rPr>
              <a:t>指一个类（“使用”或“知道”另一外一个类。他们</a:t>
            </a:r>
            <a:r>
              <a:rPr lang="zh-CN" altLang="en-US" dirty="0">
                <a:sym typeface="+mn-ea"/>
              </a:rPr>
              <a:t>之间进行简单的交互，但是，并不维护类的对象，仅仅是临时使用而已</a:t>
            </a:r>
            <a:endParaRPr lang="en-US" altLang="zh-CN" sz="2000" b="1" dirty="0">
              <a:latin typeface="等线" panose="02010600030101010101" charset="-122"/>
              <a:ea typeface="等线" panose="02010600030101010101" charset="-122"/>
            </a:endParaRPr>
          </a:p>
          <a:p>
            <a:pPr lvl="1" indent="-436245">
              <a:lnSpc>
                <a:spcPct val="150000"/>
              </a:lnSpc>
            </a:pPr>
            <a:r>
              <a:rPr lang="zh-CN" altLang="en-US" sz="2400" b="1" dirty="0">
                <a:gradFill>
                  <a:gsLst>
                    <a:gs pos="0">
                      <a:srgbClr val="007BD3"/>
                    </a:gs>
                    <a:gs pos="100000">
                      <a:srgbClr val="034373"/>
                    </a:gs>
                  </a:gsLst>
                  <a:lin scaled="0"/>
                </a:gradFill>
                <a:latin typeface="等线" panose="02010600030101010101" charset="-122"/>
                <a:ea typeface="等线" panose="02010600030101010101" charset="-122"/>
                <a:sym typeface="+mn-ea"/>
              </a:rPr>
              <a:t>关联关系和继承关系是</a:t>
            </a:r>
            <a:r>
              <a:rPr lang="zh-CN" altLang="en-US" sz="2400" b="1" dirty="0">
                <a:gradFill>
                  <a:gsLst>
                    <a:gs pos="0">
                      <a:srgbClr val="007BD3"/>
                    </a:gs>
                    <a:gs pos="100000">
                      <a:srgbClr val="034373"/>
                    </a:gs>
                  </a:gsLst>
                  <a:lin scaled="0"/>
                </a:gradFill>
                <a:latin typeface="等线" panose="02010600030101010101" charset="-122"/>
                <a:ea typeface="等线" panose="02010600030101010101" charset="-122"/>
                <a:sym typeface="+mn-ea"/>
              </a:rPr>
              <a:t>类图最重要和最常用的，聚合关系是一种特殊形式</a:t>
            </a:r>
            <a:r>
              <a:rPr lang="zh-CN" altLang="en-US" sz="2400" b="1" dirty="0">
                <a:gradFill>
                  <a:gsLst>
                    <a:gs pos="0">
                      <a:srgbClr val="007BD3"/>
                    </a:gs>
                    <a:gs pos="100000">
                      <a:srgbClr val="034373"/>
                    </a:gs>
                  </a:gsLst>
                  <a:lin scaled="0"/>
                </a:gradFill>
                <a:latin typeface="等线" panose="02010600030101010101" charset="-122"/>
                <a:ea typeface="等线" panose="02010600030101010101" charset="-122"/>
                <a:sym typeface="+mn-ea"/>
              </a:rPr>
              <a:t>的关联关系。</a:t>
            </a:r>
            <a:r>
              <a:rPr lang="zh-CN" altLang="en-US" sz="2400" dirty="0">
                <a:sym typeface="+mn-ea"/>
              </a:rPr>
              <a:t> </a:t>
            </a: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42900" y="1255395"/>
            <a:ext cx="6292215" cy="583565"/>
          </a:xfrm>
          <a:prstGeom prst="rect">
            <a:avLst/>
          </a:prstGeom>
          <a:noFill/>
        </p:spPr>
        <p:txBody>
          <a:bodyPr wrap="square" rtlCol="0" anchor="t">
            <a:spAutoFit/>
          </a:bodyPr>
          <a:p>
            <a:r>
              <a:rPr lang="zh-CN" altLang="en-US" sz="3200" b="1" dirty="0">
                <a:sym typeface="+mn-ea"/>
              </a:rPr>
              <a:t>类之间关系是系统设计的关键</a:t>
            </a:r>
            <a:endParaRPr lang="zh-CN" altLang="en-US" sz="32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关联关系</a:t>
            </a:r>
            <a:r>
              <a:rPr kumimoji="1" lang="en-US" altLang="zh-CN" sz="2800" b="1" dirty="0"/>
              <a:t>(</a:t>
            </a:r>
            <a:r>
              <a:rPr lang="en-US" altLang="zh-CN" sz="2800" kern="0" noProof="0" dirty="0">
                <a:ln>
                  <a:noFill/>
                </a:ln>
                <a:solidFill>
                  <a:srgbClr val="FF0066"/>
                </a:solidFill>
                <a:effectLst/>
                <a:uLnTx/>
                <a:uFillTx/>
                <a:sym typeface="+mn-ea"/>
              </a:rPr>
              <a:t>Associations</a:t>
            </a:r>
            <a:r>
              <a:rPr kumimoji="1" lang="en-US" altLang="zh-CN" sz="2800" b="1" dirty="0"/>
              <a:t>)</a:t>
            </a:r>
            <a:endParaRPr kumimoji="1" lang="en-US" altLang="zh-CN"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2</a:t>
            </a:r>
            <a:r>
              <a:rPr kumimoji="1" lang="en-US" altLang="zh-CN" sz="2400" dirty="0">
                <a:solidFill>
                  <a:schemeClr val="bg1"/>
                </a:solidFill>
              </a:rPr>
              <a:t>/15</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03656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Char char="•"/>
            </a:pPr>
            <a:r>
              <a:rPr kumimoji="1" lang="zh-CN" altLang="en-US" sz="2400" b="1" dirty="0">
                <a:latin typeface="+mn-ea"/>
                <a:cs typeface="+mn-ea"/>
              </a:rPr>
              <a:t>两个类之间的关联关系是一种强依赖关系，表明它们之间存在长期的关联，意味着一个类“拥有”另一个类。</a:t>
            </a:r>
            <a:r>
              <a:rPr kumimoji="1" lang="zh-CN" altLang="en-US" sz="2400" b="1" dirty="0">
                <a:latin typeface="+mn-ea"/>
                <a:cs typeface="+mn-ea"/>
                <a:sym typeface="+mn-ea"/>
              </a:rPr>
              <a:t>关联关系通常被解读为</a:t>
            </a:r>
            <a:r>
              <a:rPr kumimoji="1" lang="en-US" altLang="zh-CN" sz="2400" b="1" dirty="0">
                <a:latin typeface="+mn-ea"/>
                <a:cs typeface="+mn-ea"/>
                <a:sym typeface="+mn-ea"/>
              </a:rPr>
              <a:t>“</a:t>
            </a:r>
            <a:r>
              <a:rPr kumimoji="1" lang="zh-CN" altLang="en-US" sz="2400" b="1" dirty="0">
                <a:latin typeface="+mn-ea"/>
                <a:cs typeface="+mn-ea"/>
                <a:sym typeface="+mn-ea"/>
              </a:rPr>
              <a:t>...拥有...”，</a:t>
            </a:r>
            <a:r>
              <a:rPr kumimoji="1" lang="zh-CN" altLang="en-US" sz="2400" b="1" dirty="0">
                <a:latin typeface="+mn-ea"/>
                <a:cs typeface="+mn-ea"/>
              </a:rPr>
              <a:t>这种关系可以是单向的或双向的。</a:t>
            </a:r>
            <a:endParaRPr kumimoji="1" lang="zh-CN" altLang="en-US" sz="2400" b="1" dirty="0">
              <a:latin typeface="+mn-ea"/>
              <a:cs typeface="+mn-ea"/>
            </a:endParaRPr>
          </a:p>
          <a:p>
            <a:pPr lvl="1">
              <a:lnSpc>
                <a:spcPct val="150000"/>
              </a:lnSpc>
              <a:buFont typeface="Arial" panose="020B0604020202020204" pitchFamily="34" charset="0"/>
              <a:buChar char="•"/>
            </a:pPr>
            <a:r>
              <a:rPr lang="zh-CN" altLang="en-US" sz="2055" b="1" kern="0" noProof="0" dirty="0">
                <a:ln>
                  <a:noFill/>
                </a:ln>
                <a:solidFill>
                  <a:schemeClr val="tx1"/>
                </a:solidFill>
                <a:effectLst/>
                <a:uLnTx/>
                <a:uFillTx/>
                <a:latin typeface="Verdana" panose="020B0604030504040204" pitchFamily="34" charset="0"/>
                <a:cs typeface="+mn-ea"/>
                <a:sym typeface="+mn-ea"/>
              </a:rPr>
              <a:t>例如</a:t>
            </a:r>
            <a:r>
              <a:rPr lang="zh-CN" altLang="en-US" sz="2055" kern="0" noProof="0" dirty="0">
                <a:ln>
                  <a:noFill/>
                </a:ln>
                <a:effectLst/>
                <a:uLnTx/>
                <a:uFillTx/>
                <a:latin typeface="Verdana" panose="020B0604030504040204" pitchFamily="34" charset="0"/>
                <a:cs typeface="+mn-ea"/>
                <a:sym typeface="+mn-ea"/>
              </a:rPr>
              <a:t>，</a:t>
            </a:r>
            <a:r>
              <a:rPr lang="en-US" altLang="zh-CN" sz="2055" b="1" kern="0" noProof="0" dirty="0">
                <a:ln>
                  <a:noFill/>
                </a:ln>
                <a:solidFill>
                  <a:srgbClr val="000000"/>
                </a:solidFill>
                <a:effectLst/>
                <a:uLnTx/>
                <a:uFillTx/>
                <a:latin typeface="Times New Roman" panose="02020603050405020304" pitchFamily="18" charset="0"/>
                <a:cs typeface="+mn-ea"/>
                <a:sym typeface="+mn-ea"/>
              </a:rPr>
              <a:t> a Client has a </a:t>
            </a:r>
            <a:r>
              <a:rPr lang="en-US" altLang="zh-CN" sz="2055" b="1" kern="0" noProof="0" dirty="0" err="1">
                <a:ln>
                  <a:noFill/>
                </a:ln>
                <a:solidFill>
                  <a:srgbClr val="000000"/>
                </a:solidFill>
                <a:effectLst/>
                <a:uLnTx/>
                <a:uFillTx/>
                <a:latin typeface="Times New Roman" panose="02020603050405020304" pitchFamily="18" charset="0"/>
                <a:cs typeface="+mn-ea"/>
                <a:sym typeface="+mn-ea"/>
              </a:rPr>
              <a:t>BankAccount</a:t>
            </a:r>
            <a:endParaRPr kumimoji="0" lang="zh-CN" altLang="en-US" sz="2055"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ea"/>
            </a:endParaRPr>
          </a:p>
          <a:p>
            <a:pPr marL="0" indent="0">
              <a:lnSpc>
                <a:spcPct val="150000"/>
              </a:lnSpc>
              <a:buFont typeface="Arial" panose="020B0604020202020204" pitchFamily="34" charset="0"/>
              <a:buNone/>
            </a:pP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221615" y="11887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单向关联关系</a:t>
            </a:r>
            <a:r>
              <a:rPr kumimoji="1" lang="en-US" altLang="zh-CN" sz="2800" b="1" dirty="0"/>
              <a:t>(</a:t>
            </a:r>
            <a:r>
              <a:rPr lang="en-US" altLang="zh-CN" sz="2800" kern="0" noProof="0" dirty="0">
                <a:ln>
                  <a:noFill/>
                </a:ln>
                <a:solidFill>
                  <a:srgbClr val="FF0066"/>
                </a:solidFill>
                <a:effectLst/>
                <a:uLnTx/>
                <a:uFillTx/>
                <a:cs typeface="Times New Roman" panose="02020603050405020304" pitchFamily="18" charset="0"/>
                <a:sym typeface="+mn-ea"/>
              </a:rPr>
              <a:t>One-way </a:t>
            </a:r>
            <a:r>
              <a:rPr lang="en-US" altLang="zh-CN" sz="2800" kern="0" noProof="0" dirty="0">
                <a:ln>
                  <a:noFill/>
                </a:ln>
                <a:solidFill>
                  <a:srgbClr val="FF0066"/>
                </a:solidFill>
                <a:effectLst/>
                <a:uLnTx/>
                <a:uFillTx/>
                <a:sym typeface="+mn-ea"/>
              </a:rPr>
              <a:t>Associations</a:t>
            </a:r>
            <a:r>
              <a:rPr kumimoji="1" lang="en-US" altLang="zh-CN" sz="2800" b="1" dirty="0"/>
              <a:t>)</a:t>
            </a:r>
            <a:endParaRPr kumimoji="1" lang="en-US" altLang="zh-CN"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4</a:t>
            </a:r>
            <a:r>
              <a:rPr kumimoji="1" lang="en-US" altLang="zh-CN" sz="2400" dirty="0">
                <a:solidFill>
                  <a:schemeClr val="bg1"/>
                </a:solidFill>
              </a:rPr>
              <a:t>/15</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320040" y="1828165"/>
            <a:ext cx="5426075" cy="445071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Char char="•"/>
            </a:pPr>
            <a:r>
              <a:rPr kumimoji="1" sz="2400" b="1" dirty="0">
                <a:latin typeface="+mn-ea"/>
                <a:cs typeface="+mn-ea"/>
              </a:rPr>
              <a:t>第</a:t>
            </a:r>
            <a:r>
              <a:rPr kumimoji="1" lang="en-US" sz="2400" b="1" dirty="0">
                <a:latin typeface="+mn-ea"/>
                <a:cs typeface="+mn-ea"/>
              </a:rPr>
              <a:t>1</a:t>
            </a:r>
            <a:r>
              <a:rPr kumimoji="1" sz="2400" b="1" dirty="0">
                <a:latin typeface="+mn-ea"/>
                <a:cs typeface="+mn-ea"/>
              </a:rPr>
              <a:t>个类拥有对第</a:t>
            </a:r>
            <a:r>
              <a:rPr kumimoji="1" lang="en-US" sz="2400" b="1" dirty="0">
                <a:latin typeface="+mn-ea"/>
                <a:cs typeface="+mn-ea"/>
              </a:rPr>
              <a:t>2</a:t>
            </a:r>
            <a:r>
              <a:rPr kumimoji="1" sz="2400" b="1" dirty="0">
                <a:latin typeface="+mn-ea"/>
                <a:cs typeface="+mn-ea"/>
              </a:rPr>
              <a:t>个类对象的引用，但第</a:t>
            </a:r>
            <a:r>
              <a:rPr kumimoji="1" lang="en-US" sz="2400" b="1" dirty="0">
                <a:latin typeface="+mn-ea"/>
                <a:cs typeface="+mn-ea"/>
              </a:rPr>
              <a:t>2</a:t>
            </a:r>
            <a:r>
              <a:rPr kumimoji="1" sz="2400" b="1" dirty="0">
                <a:latin typeface="+mn-ea"/>
                <a:cs typeface="+mn-ea"/>
              </a:rPr>
              <a:t>个类没有对第</a:t>
            </a:r>
            <a:r>
              <a:rPr kumimoji="1" lang="en-US" sz="2400" b="1" dirty="0">
                <a:latin typeface="+mn-ea"/>
                <a:cs typeface="+mn-ea"/>
              </a:rPr>
              <a:t>1</a:t>
            </a:r>
            <a:r>
              <a:rPr kumimoji="1" sz="2400" b="1" dirty="0">
                <a:latin typeface="+mn-ea"/>
                <a:cs typeface="+mn-ea"/>
              </a:rPr>
              <a:t>个类对象的引用</a:t>
            </a:r>
            <a:endParaRPr kumimoji="1" lang="zh-CN" altLang="en-US" sz="2400" b="1" dirty="0">
              <a:latin typeface="+mn-ea"/>
              <a:cs typeface="+mn-ea"/>
            </a:endParaRPr>
          </a:p>
          <a:p>
            <a:pPr lvl="1">
              <a:lnSpc>
                <a:spcPct val="150000"/>
              </a:lnSpc>
              <a:buFont typeface="Arial" panose="020B0604020202020204" pitchFamily="34" charset="0"/>
              <a:buChar char="•"/>
            </a:pPr>
            <a:r>
              <a:rPr kumimoji="1" sz="2200" b="1" dirty="0">
                <a:latin typeface="+mn-ea"/>
                <a:cs typeface="+mn-ea"/>
                <a:sym typeface="+mn-ea"/>
              </a:rPr>
              <a:t>在UML</a:t>
            </a:r>
            <a:r>
              <a:rPr kumimoji="1" lang="zh-CN" sz="2200" b="1" dirty="0">
                <a:latin typeface="+mn-ea"/>
                <a:cs typeface="+mn-ea"/>
                <a:sym typeface="+mn-ea"/>
              </a:rPr>
              <a:t>类图</a:t>
            </a:r>
            <a:r>
              <a:rPr kumimoji="1" sz="2200" b="1" dirty="0">
                <a:latin typeface="+mn-ea"/>
                <a:cs typeface="+mn-ea"/>
                <a:sym typeface="+mn-ea"/>
              </a:rPr>
              <a:t>中，单向关联关系通常用关联线末端的箭头表示</a:t>
            </a:r>
            <a:r>
              <a:rPr kumimoji="1" lang="zh-CN" sz="2200" b="1" dirty="0">
                <a:latin typeface="+mn-ea"/>
                <a:cs typeface="+mn-ea"/>
                <a:sym typeface="+mn-ea"/>
              </a:rPr>
              <a:t>，</a:t>
            </a:r>
            <a:r>
              <a:rPr kumimoji="1" sz="2200" b="1" dirty="0">
                <a:latin typeface="+mn-ea"/>
                <a:cs typeface="+mn-ea"/>
                <a:sym typeface="+mn-ea"/>
              </a:rPr>
              <a:t>对</a:t>
            </a:r>
            <a:r>
              <a:rPr kumimoji="1" sz="2200" b="1" dirty="0">
                <a:solidFill>
                  <a:srgbClr val="0070C0"/>
                </a:solidFill>
                <a:latin typeface="+mn-ea"/>
                <a:cs typeface="+mn-ea"/>
                <a:sym typeface="+mn-ea"/>
              </a:rPr>
              <a:t>第2个类</a:t>
            </a:r>
            <a:r>
              <a:rPr kumimoji="1" lang="en-US" altLang="zh-CN" sz="2200" b="1" dirty="0">
                <a:solidFill>
                  <a:srgbClr val="0070C0"/>
                </a:solidFill>
                <a:latin typeface="+mn-ea"/>
                <a:cs typeface="+mn-ea"/>
                <a:sym typeface="+mn-ea"/>
              </a:rPr>
              <a:t>(BankAccount)</a:t>
            </a:r>
            <a:r>
              <a:rPr kumimoji="1" sz="2200" b="1" dirty="0">
                <a:solidFill>
                  <a:srgbClr val="0070C0"/>
                </a:solidFill>
                <a:latin typeface="+mn-ea"/>
                <a:cs typeface="+mn-ea"/>
                <a:sym typeface="+mn-ea"/>
              </a:rPr>
              <a:t>对象的引用</a:t>
            </a:r>
            <a:r>
              <a:rPr kumimoji="1" lang="en-US" altLang="zh-CN" sz="2200" b="1" dirty="0">
                <a:solidFill>
                  <a:srgbClr val="0070C0"/>
                </a:solidFill>
                <a:latin typeface="+mn-ea"/>
                <a:cs typeface="+mn-ea"/>
                <a:sym typeface="+mn-ea"/>
              </a:rPr>
              <a:t>(bankAccount)</a:t>
            </a:r>
            <a:r>
              <a:rPr kumimoji="1" lang="zh-CN" sz="2200" b="1" dirty="0">
                <a:solidFill>
                  <a:schemeClr val="tx1"/>
                </a:solidFill>
                <a:latin typeface="+mn-ea"/>
                <a:cs typeface="+mn-ea"/>
                <a:sym typeface="+mn-ea"/>
              </a:rPr>
              <a:t>作为</a:t>
            </a:r>
            <a:r>
              <a:rPr kumimoji="1" sz="2200" b="1" dirty="0">
                <a:solidFill>
                  <a:srgbClr val="0070C0"/>
                </a:solidFill>
                <a:latin typeface="+mn-ea"/>
                <a:cs typeface="+mn-ea"/>
                <a:sym typeface="+mn-ea"/>
              </a:rPr>
              <a:t>第1个类(</a:t>
            </a:r>
            <a:r>
              <a:rPr kumimoji="1" lang="en-US" sz="2200" b="1" dirty="0">
                <a:solidFill>
                  <a:srgbClr val="0070C0"/>
                </a:solidFill>
                <a:latin typeface="+mn-ea"/>
                <a:cs typeface="+mn-ea"/>
                <a:sym typeface="+mn-ea"/>
              </a:rPr>
              <a:t>Client</a:t>
            </a:r>
            <a:r>
              <a:rPr kumimoji="1" sz="2200" b="1" dirty="0">
                <a:solidFill>
                  <a:srgbClr val="0070C0"/>
                </a:solidFill>
                <a:latin typeface="+mn-ea"/>
                <a:cs typeface="+mn-ea"/>
                <a:sym typeface="+mn-ea"/>
              </a:rPr>
              <a:t>)</a:t>
            </a:r>
            <a:r>
              <a:rPr kumimoji="1" lang="zh-CN" sz="2200" b="1" dirty="0">
                <a:latin typeface="+mn-ea"/>
                <a:cs typeface="+mn-ea"/>
                <a:sym typeface="+mn-ea"/>
              </a:rPr>
              <a:t>的</a:t>
            </a:r>
            <a:r>
              <a:rPr kumimoji="1" lang="zh-CN" sz="2200" b="1" dirty="0">
                <a:solidFill>
                  <a:srgbClr val="0070C0"/>
                </a:solidFill>
                <a:latin typeface="+mn-ea"/>
                <a:cs typeface="+mn-ea"/>
                <a:sym typeface="+mn-ea"/>
              </a:rPr>
              <a:t>属性</a:t>
            </a:r>
            <a:r>
              <a:rPr kumimoji="1" lang="zh-CN" sz="2200" b="1" dirty="0">
                <a:solidFill>
                  <a:srgbClr val="0070C0"/>
                </a:solidFill>
                <a:latin typeface="+mn-ea"/>
                <a:cs typeface="+mn-ea"/>
                <a:sym typeface="+mn-ea"/>
              </a:rPr>
              <a:t>，</a:t>
            </a:r>
            <a:r>
              <a:rPr kumimoji="1" sz="2200" b="1" dirty="0">
                <a:latin typeface="+mn-ea"/>
                <a:cs typeface="+mn-ea"/>
                <a:sym typeface="+mn-ea"/>
              </a:rPr>
              <a:t>写在关联线的末端</a:t>
            </a:r>
            <a:endParaRPr kumimoji="1" sz="2200" b="1" dirty="0">
              <a:latin typeface="+mn-ea"/>
              <a:cs typeface="+mn-ea"/>
              <a:sym typeface="+mn-ea"/>
            </a:endParaRPr>
          </a:p>
          <a:p>
            <a:pPr marL="0" indent="0">
              <a:lnSpc>
                <a:spcPct val="150000"/>
              </a:lnSpc>
              <a:buFont typeface="Arial" panose="020B0604020202020204" pitchFamily="34" charset="0"/>
              <a:buNone/>
            </a:pPr>
            <a:endParaRPr kumimoji="1" lang="zh-CN" altLang="en-US" sz="2200" dirty="0"/>
          </a:p>
        </p:txBody>
      </p:sp>
      <p:pic>
        <p:nvPicPr>
          <p:cNvPr id="58373" name="图片 2"/>
          <p:cNvPicPr>
            <a:picLocks noChangeAspect="1"/>
          </p:cNvPicPr>
          <p:nvPr/>
        </p:nvPicPr>
        <p:blipFill>
          <a:blip r:embed="rId8"/>
          <a:stretch>
            <a:fillRect/>
          </a:stretch>
        </p:blipFill>
        <p:spPr>
          <a:xfrm>
            <a:off x="5704205" y="1828165"/>
            <a:ext cx="3135313" cy="3816350"/>
          </a:xfrm>
          <a:prstGeom prst="rect">
            <a:avLst/>
          </a:prstGeom>
          <a:noFill/>
          <a:ln w="9525">
            <a:noFill/>
          </a:ln>
        </p:spPr>
      </p:pic>
      <p:sp>
        <p:nvSpPr>
          <p:cNvPr id="12" name="矩形 11"/>
          <p:cNvSpPr/>
          <p:nvPr>
            <p:custDataLst>
              <p:tags r:id="rId9"/>
            </p:custDataLst>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8615" y="108966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单向关联关系实现</a:t>
            </a:r>
            <a:r>
              <a:rPr kumimoji="1" lang="zh-CN" altLang="en-US" sz="2800" dirty="0">
                <a:sym typeface="+mn-ea"/>
              </a:rPr>
              <a:t>举例</a:t>
            </a:r>
            <a:endParaRPr kumimoji="1" lang="zh-CN" altLang="en-US" sz="2800" dirty="0">
              <a:sym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398" name="AutoShape 5"/>
          <p:cNvSpPr/>
          <p:nvPr>
            <p:custDataLst>
              <p:tags r:id="rId7"/>
            </p:custDataLst>
          </p:nvPr>
        </p:nvSpPr>
        <p:spPr>
          <a:xfrm>
            <a:off x="261303" y="1686243"/>
            <a:ext cx="6265862" cy="2522537"/>
          </a:xfrm>
          <a:prstGeom prst="roundRect">
            <a:avLst>
              <a:gd name="adj" fmla="val 16667"/>
            </a:avLst>
          </a:prstGeom>
          <a:noFill/>
          <a:ln w="12700" cap="flat" cmpd="sng">
            <a:solidFill>
              <a:schemeClr val="hlink"/>
            </a:solidFill>
            <a:prstDash val="dash"/>
            <a:round/>
            <a:headEnd type="none" w="med" len="med"/>
            <a:tailEnd type="none" w="med" len="med"/>
          </a:ln>
        </p:spPr>
        <p:txBody>
          <a:bodyPr wrap="none" anchor="ctr" anchorCtr="0"/>
          <a:p>
            <a:pPr marL="457200" indent="-457200">
              <a:lnSpc>
                <a:spcPct val="90000"/>
              </a:lnSpc>
              <a:spcBef>
                <a:spcPct val="20000"/>
              </a:spcBef>
              <a:buClr>
                <a:schemeClr val="accent2"/>
              </a:buClr>
              <a:buFont typeface="Wingdings" panose="05000000000000000000" pitchFamily="2" charset="2"/>
            </a:pPr>
            <a:r>
              <a:rPr lang="en-US" altLang="zh-CN" sz="2600" b="1" dirty="0">
                <a:latin typeface="Times New Roman" panose="02020603050405020304" pitchFamily="18" charset="0"/>
              </a:rPr>
              <a:t>public  class Client {</a:t>
            </a:r>
            <a:endParaRPr lang="en-US" altLang="zh-CN" sz="2600" b="1" dirty="0">
              <a:latin typeface="Times New Roman" panose="02020603050405020304" pitchFamily="18" charset="0"/>
            </a:endParaRPr>
          </a:p>
          <a:p>
            <a:pPr marL="457200" indent="-457200">
              <a:lnSpc>
                <a:spcPct val="90000"/>
              </a:lnSpc>
              <a:spcBef>
                <a:spcPct val="20000"/>
              </a:spcBef>
              <a:buClr>
                <a:schemeClr val="accent2"/>
              </a:buClr>
              <a:buFont typeface="Wingdings" panose="05000000000000000000" pitchFamily="2" charset="2"/>
            </a:pPr>
            <a:r>
              <a:rPr lang="en-US" altLang="zh-CN" sz="2600" b="1" dirty="0">
                <a:latin typeface="Times New Roman" panose="02020603050405020304" pitchFamily="18" charset="0"/>
              </a:rPr>
              <a:t>  	   private String name;</a:t>
            </a:r>
            <a:endParaRPr lang="en-US" altLang="zh-CN" sz="2600" b="1" dirty="0">
              <a:latin typeface="Times New Roman" panose="02020603050405020304" pitchFamily="18" charset="0"/>
            </a:endParaRPr>
          </a:p>
          <a:p>
            <a:pPr marL="457200" indent="-457200">
              <a:lnSpc>
                <a:spcPct val="90000"/>
              </a:lnSpc>
              <a:spcBef>
                <a:spcPct val="20000"/>
              </a:spcBef>
              <a:buClr>
                <a:schemeClr val="accent2"/>
              </a:buClr>
              <a:buFont typeface="Wingdings" panose="05000000000000000000" pitchFamily="2" charset="2"/>
            </a:pPr>
            <a:r>
              <a:rPr lang="en-US" altLang="zh-CN" sz="2600" b="1" dirty="0">
                <a:latin typeface="Times New Roman" panose="02020603050405020304" pitchFamily="18" charset="0"/>
              </a:rPr>
              <a:t>        private </a:t>
            </a:r>
            <a:r>
              <a:rPr lang="en-US" altLang="zh-CN" sz="2600" b="1" dirty="0">
                <a:solidFill>
                  <a:srgbClr val="FF0066"/>
                </a:solidFill>
                <a:latin typeface="Times New Roman" panose="02020603050405020304" pitchFamily="18" charset="0"/>
              </a:rPr>
              <a:t>BankAccount </a:t>
            </a:r>
            <a:r>
              <a:rPr lang="en-US" altLang="zh-CN" sz="2600" b="1" dirty="0">
                <a:latin typeface="Times New Roman" panose="02020603050405020304" pitchFamily="18" charset="0"/>
              </a:rPr>
              <a:t>bankAccount;</a:t>
            </a:r>
            <a:endParaRPr lang="en-US" altLang="zh-CN" sz="2600" b="1" dirty="0">
              <a:latin typeface="Times New Roman" panose="02020603050405020304" pitchFamily="18" charset="0"/>
            </a:endParaRPr>
          </a:p>
          <a:p>
            <a:pPr marL="457200" indent="-457200">
              <a:lnSpc>
                <a:spcPct val="90000"/>
              </a:lnSpc>
              <a:spcBef>
                <a:spcPct val="20000"/>
              </a:spcBef>
              <a:buClr>
                <a:schemeClr val="accent2"/>
              </a:buClr>
              <a:buFont typeface="Wingdings" panose="05000000000000000000" pitchFamily="2" charset="2"/>
            </a:pPr>
            <a:r>
              <a:rPr lang="en-US" altLang="zh-CN" sz="2600" b="1" dirty="0">
                <a:latin typeface="Times New Roman" panose="02020603050405020304" pitchFamily="18" charset="0"/>
              </a:rPr>
              <a:t>        …</a:t>
            </a:r>
            <a:endParaRPr lang="en-US" altLang="zh-CN" sz="2600" b="1" dirty="0">
              <a:latin typeface="Times New Roman" panose="02020603050405020304" pitchFamily="18" charset="0"/>
            </a:endParaRPr>
          </a:p>
          <a:p>
            <a:pPr marL="457200" indent="-457200">
              <a:lnSpc>
                <a:spcPct val="90000"/>
              </a:lnSpc>
              <a:spcBef>
                <a:spcPct val="20000"/>
              </a:spcBef>
              <a:buClr>
                <a:schemeClr val="accent2"/>
              </a:buClr>
              <a:buFont typeface="Wingdings" panose="05000000000000000000" pitchFamily="2" charset="2"/>
            </a:pPr>
            <a:r>
              <a:rPr lang="en-US" altLang="zh-CN" sz="2600" b="1" dirty="0">
                <a:latin typeface="Times New Roman" panose="02020603050405020304" pitchFamily="18" charset="0"/>
              </a:rPr>
              <a:t>}</a:t>
            </a:r>
            <a:r>
              <a:rPr lang="en-US" altLang="zh-CN" sz="2600" dirty="0">
                <a:latin typeface="Times New Roman" panose="02020603050405020304" pitchFamily="18" charset="0"/>
              </a:rPr>
              <a:t>  </a:t>
            </a:r>
            <a:endParaRPr lang="en-US" altLang="zh-CN" sz="2600" dirty="0">
              <a:latin typeface="Times New Roman" panose="02020603050405020304" pitchFamily="18" charset="0"/>
            </a:endParaRPr>
          </a:p>
        </p:txBody>
      </p:sp>
      <p:sp>
        <p:nvSpPr>
          <p:cNvPr id="59399" name="矩形 11"/>
          <p:cNvSpPr/>
          <p:nvPr/>
        </p:nvSpPr>
        <p:spPr>
          <a:xfrm>
            <a:off x="4522788" y="1580198"/>
            <a:ext cx="4052887" cy="1200150"/>
          </a:xfrm>
          <a:prstGeom prst="rect">
            <a:avLst/>
          </a:prstGeom>
          <a:noFill/>
          <a:ln w="9525">
            <a:noFill/>
          </a:ln>
        </p:spPr>
        <p:txBody>
          <a:bodyPr anchor="t" anchorCtr="0">
            <a:spAutoFit/>
          </a:bodyPr>
          <a:p>
            <a:pPr eaLnBrk="0" hangingPunct="0"/>
            <a:r>
              <a:rPr lang="en-US" altLang="zh-CN" sz="2400" b="1" dirty="0">
                <a:latin typeface="Times New Roman" panose="02020603050405020304" pitchFamily="18" charset="0"/>
              </a:rPr>
              <a:t>Client</a:t>
            </a:r>
            <a:r>
              <a:rPr lang="zh-CN" altLang="en-US" sz="2400" b="1" dirty="0">
                <a:latin typeface="Times New Roman" panose="02020603050405020304" pitchFamily="18" charset="0"/>
                <a:ea typeface="宋体" panose="02010600030101010101" pitchFamily="2" charset="-122"/>
              </a:rPr>
              <a:t>能否实现 “返回姓名为张三的账户余额”的功能？请给出实现过程。</a:t>
            </a:r>
            <a:endParaRPr lang="zh-CN" altLang="en-US" sz="2400" b="1" dirty="0">
              <a:latin typeface="Times New Roman" panose="02020603050405020304" pitchFamily="18" charset="0"/>
              <a:ea typeface="宋体" panose="02010600030101010101" pitchFamily="2" charset="-122"/>
            </a:endParaRPr>
          </a:p>
        </p:txBody>
      </p:sp>
      <p:grpSp>
        <p:nvGrpSpPr>
          <p:cNvPr id="7" name="组合 6"/>
          <p:cNvGrpSpPr/>
          <p:nvPr/>
        </p:nvGrpSpPr>
        <p:grpSpPr>
          <a:xfrm>
            <a:off x="1619250" y="4256405"/>
            <a:ext cx="6624638" cy="2159000"/>
            <a:chOff x="2550" y="6535"/>
            <a:chExt cx="10432" cy="3400"/>
          </a:xfrm>
        </p:grpSpPr>
        <p:cxnSp>
          <p:nvCxnSpPr>
            <p:cNvPr id="59401" name="直接连接符 4"/>
            <p:cNvCxnSpPr>
              <a:stCxn id="59403" idx="2"/>
            </p:cNvCxnSpPr>
            <p:nvPr>
              <p:custDataLst>
                <p:tags r:id="rId8"/>
              </p:custDataLst>
            </p:nvPr>
          </p:nvCxnSpPr>
          <p:spPr>
            <a:xfrm flipH="1">
              <a:off x="3912" y="7215"/>
              <a:ext cx="55" cy="2720"/>
            </a:xfrm>
            <a:prstGeom prst="line">
              <a:avLst/>
            </a:prstGeom>
            <a:ln w="12700" cap="flat" cmpd="sng">
              <a:solidFill>
                <a:schemeClr val="hlink"/>
              </a:solidFill>
              <a:prstDash val="sysDot"/>
              <a:round/>
              <a:headEnd type="none" w="med" len="med"/>
              <a:tailEnd type="none" w="med" len="med"/>
            </a:ln>
          </p:spPr>
        </p:cxnSp>
        <p:grpSp>
          <p:nvGrpSpPr>
            <p:cNvPr id="59402" name="组合 15"/>
            <p:cNvGrpSpPr/>
            <p:nvPr/>
          </p:nvGrpSpPr>
          <p:grpSpPr>
            <a:xfrm>
              <a:off x="2550" y="6535"/>
              <a:ext cx="10432" cy="3300"/>
              <a:chOff x="1619672" y="4149080"/>
              <a:chExt cx="6624736" cy="2096145"/>
            </a:xfrm>
          </p:grpSpPr>
          <p:sp>
            <p:nvSpPr>
              <p:cNvPr id="59403" name="矩形: 圆角 2"/>
              <p:cNvSpPr/>
              <p:nvPr>
                <p:custDataLst>
                  <p:tags r:id="rId9"/>
                </p:custDataLst>
              </p:nvPr>
            </p:nvSpPr>
            <p:spPr>
              <a:xfrm>
                <a:off x="1619672" y="4149080"/>
                <a:ext cx="1800200" cy="432048"/>
              </a:xfrm>
              <a:prstGeom prst="roundRect">
                <a:avLst>
                  <a:gd name="adj" fmla="val 16667"/>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en-US" altLang="zh-CN" b="1" u="sng" dirty="0">
                    <a:latin typeface="Times New Roman" panose="02020603050405020304" pitchFamily="18" charset="0"/>
                  </a:rPr>
                  <a:t>Client:client</a:t>
                </a:r>
                <a:endParaRPr lang="zh-CN" altLang="en-US" b="1" u="sng" dirty="0">
                  <a:latin typeface="Times New Roman" panose="02020603050405020304" pitchFamily="18" charset="0"/>
                  <a:ea typeface="宋体" panose="02010600030101010101" pitchFamily="2" charset="-122"/>
                </a:endParaRPr>
              </a:p>
            </p:txBody>
          </p:sp>
          <p:sp>
            <p:nvSpPr>
              <p:cNvPr id="59404" name="矩形: 圆角 10"/>
              <p:cNvSpPr/>
              <p:nvPr>
                <p:custDataLst>
                  <p:tags r:id="rId10"/>
                </p:custDataLst>
              </p:nvPr>
            </p:nvSpPr>
            <p:spPr>
              <a:xfrm>
                <a:off x="4644008" y="4149080"/>
                <a:ext cx="3600400" cy="432048"/>
              </a:xfrm>
              <a:prstGeom prst="roundRect">
                <a:avLst>
                  <a:gd name="adj" fmla="val 16667"/>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buFont typeface="Wingdings" panose="05000000000000000000" pitchFamily="2" charset="2"/>
                </a:pPr>
                <a:r>
                  <a:rPr lang="en-US" altLang="zh-CN" b="1" u="sng" dirty="0">
                    <a:latin typeface="Times New Roman" panose="02020603050405020304" pitchFamily="18" charset="0"/>
                  </a:rPr>
                  <a:t>BankAccount:bankAccount</a:t>
                </a:r>
                <a:endParaRPr lang="zh-CN" altLang="en-US" b="1" u="sng" dirty="0">
                  <a:latin typeface="Times New Roman" panose="02020603050405020304" pitchFamily="18" charset="0"/>
                  <a:ea typeface="宋体" panose="02010600030101010101" pitchFamily="2" charset="-122"/>
                </a:endParaRPr>
              </a:p>
            </p:txBody>
          </p:sp>
          <p:cxnSp>
            <p:nvCxnSpPr>
              <p:cNvPr id="59405" name="直接连接符 6"/>
              <p:cNvCxnSpPr>
                <a:stCxn id="59404" idx="2"/>
              </p:cNvCxnSpPr>
              <p:nvPr>
                <p:custDataLst>
                  <p:tags r:id="rId11"/>
                </p:custDataLst>
              </p:nvPr>
            </p:nvCxnSpPr>
            <p:spPr>
              <a:xfrm>
                <a:off x="6444208" y="4581128"/>
                <a:ext cx="0" cy="1664097"/>
              </a:xfrm>
              <a:prstGeom prst="line">
                <a:avLst/>
              </a:prstGeom>
              <a:ln w="12700" cap="flat" cmpd="sng">
                <a:solidFill>
                  <a:schemeClr val="hlink"/>
                </a:solidFill>
                <a:prstDash val="sysDot"/>
                <a:round/>
                <a:headEnd type="none" w="med" len="med"/>
                <a:tailEnd type="none" w="med" len="med"/>
              </a:ln>
            </p:spPr>
          </p:cxnSp>
          <p:cxnSp>
            <p:nvCxnSpPr>
              <p:cNvPr id="59406" name="直接箭头连接符 13"/>
              <p:cNvCxnSpPr>
                <a:stCxn id="59404" idx="2"/>
              </p:cNvCxnSpPr>
              <p:nvPr>
                <p:custDataLst>
                  <p:tags r:id="rId12"/>
                </p:custDataLst>
              </p:nvPr>
            </p:nvCxnSpPr>
            <p:spPr>
              <a:xfrm>
                <a:off x="2501770" y="5301208"/>
                <a:ext cx="3870430" cy="0"/>
              </a:xfrm>
              <a:prstGeom prst="straightConnector1">
                <a:avLst/>
              </a:prstGeom>
              <a:ln w="12700" cap="flat" cmpd="sng">
                <a:solidFill>
                  <a:schemeClr val="hlink"/>
                </a:solidFill>
                <a:prstDash val="sysDot"/>
                <a:round/>
                <a:headEnd type="none" w="med" len="med"/>
                <a:tailEnd type="triangle" w="med" len="med"/>
              </a:ln>
            </p:spPr>
          </p:cxnSp>
          <p:sp>
            <p:nvSpPr>
              <p:cNvPr id="59407" name="矩形 14"/>
              <p:cNvSpPr/>
              <p:nvPr>
                <p:custDataLst>
                  <p:tags r:id="rId13"/>
                </p:custDataLst>
              </p:nvPr>
            </p:nvSpPr>
            <p:spPr>
              <a:xfrm>
                <a:off x="2699793" y="4843298"/>
                <a:ext cx="3960437" cy="461665"/>
              </a:xfrm>
              <a:prstGeom prst="rect">
                <a:avLst/>
              </a:prstGeom>
              <a:noFill/>
              <a:ln w="9525">
                <a:noFill/>
              </a:ln>
            </p:spPr>
            <p:txBody>
              <a:bodyPr anchor="t" anchorCtr="0">
                <a:spAutoFit/>
              </a:bodyPr>
              <a:p>
                <a:pPr eaLnBrk="0" hangingPunct="0"/>
                <a:r>
                  <a:rPr lang="en-US" altLang="zh-CN" sz="2400" b="1" dirty="0">
                    <a:latin typeface="Times New Roman" panose="02020603050405020304" pitchFamily="18" charset="0"/>
                  </a:rPr>
                  <a:t>bankAccount.getBanlance()</a:t>
                </a:r>
                <a:endParaRPr lang="zh-CN" altLang="en-US" dirty="0">
                  <a:latin typeface="Times New Roman" panose="02020603050405020304" pitchFamily="18" charset="0"/>
                  <a:ea typeface="宋体" panose="02010600030101010101" pitchFamily="2" charset="-122"/>
                </a:endParaRPr>
              </a:p>
            </p:txBody>
          </p:sp>
        </p:grpSp>
      </p:grpSp>
      <p:sp>
        <p:nvSpPr>
          <p:cNvPr id="8" name="对话气泡: 椭圆形 17"/>
          <p:cNvSpPr/>
          <p:nvPr>
            <p:custDataLst>
              <p:tags r:id="rId14"/>
            </p:custDataLst>
          </p:nvPr>
        </p:nvSpPr>
        <p:spPr>
          <a:xfrm>
            <a:off x="6372225" y="2716848"/>
            <a:ext cx="2663825" cy="1487487"/>
          </a:xfrm>
          <a:prstGeom prst="wedgeEllipseCallout">
            <a:avLst>
              <a:gd name="adj1" fmla="val -78750"/>
              <a:gd name="adj2" fmla="val 75667"/>
            </a:avLst>
          </a:prstGeom>
          <a:noFill/>
          <a:ln w="12700" cap="flat" cmpd="sng">
            <a:solidFill>
              <a:schemeClr val="hlink"/>
            </a:solidFill>
            <a:prstDash val="sysDot"/>
            <a:round/>
            <a:headEnd type="none" w="med" len="med"/>
            <a:tailEnd type="none" w="med" len="med"/>
          </a:ln>
        </p:spPr>
        <p:txBody>
          <a:bodyPr anchor="t" anchorCtr="0"/>
          <a:p>
            <a:pPr marL="469900" indent="-469900">
              <a:lnSpc>
                <a:spcPct val="75000"/>
              </a:lnSpc>
              <a:spcBef>
                <a:spcPct val="20000"/>
              </a:spcBef>
              <a:buClr>
                <a:schemeClr val="accent2"/>
              </a:buClr>
            </a:pPr>
            <a:r>
              <a:rPr lang="zh-CN" altLang="en-US" dirty="0">
                <a:latin typeface="Times New Roman" panose="02020603050405020304" pitchFamily="18" charset="0"/>
                <a:ea typeface="宋体" panose="02010600030101010101" pitchFamily="2" charset="-122"/>
              </a:rPr>
              <a:t>给对象发</a:t>
            </a:r>
            <a:endParaRPr lang="en-US" altLang="zh-CN" dirty="0">
              <a:latin typeface="Times New Roman" panose="02020603050405020304" pitchFamily="18" charset="0"/>
            </a:endParaRPr>
          </a:p>
          <a:p>
            <a:pPr marL="469900" indent="-469900">
              <a:lnSpc>
                <a:spcPct val="75000"/>
              </a:lnSpc>
              <a:spcBef>
                <a:spcPct val="20000"/>
              </a:spcBef>
              <a:buClr>
                <a:schemeClr val="accent2"/>
              </a:buClr>
            </a:pPr>
            <a:r>
              <a:rPr lang="zh-CN" altLang="en-US" dirty="0">
                <a:latin typeface="Times New Roman" panose="02020603050405020304" pitchFamily="18" charset="0"/>
                <a:ea typeface="宋体" panose="02010600030101010101" pitchFamily="2" charset="-122"/>
              </a:rPr>
              <a:t>消息：通过</a:t>
            </a:r>
            <a:endParaRPr lang="en-US" altLang="zh-CN" dirty="0">
              <a:latin typeface="Times New Roman" panose="02020603050405020304" pitchFamily="18" charset="0"/>
            </a:endParaRPr>
          </a:p>
          <a:p>
            <a:pPr marL="469900" indent="-469900">
              <a:lnSpc>
                <a:spcPct val="75000"/>
              </a:lnSpc>
              <a:spcBef>
                <a:spcPct val="20000"/>
              </a:spcBef>
              <a:buClr>
                <a:schemeClr val="accent2"/>
              </a:buClr>
            </a:pPr>
            <a:r>
              <a:rPr lang="zh-CN" altLang="en-US" dirty="0">
                <a:latin typeface="Times New Roman" panose="02020603050405020304" pitchFamily="18" charset="0"/>
                <a:ea typeface="宋体" panose="02010600030101010101" pitchFamily="2" charset="-122"/>
              </a:rPr>
              <a:t>调用某个</a:t>
            </a:r>
            <a:r>
              <a:rPr lang="zh-CN" altLang="en-US" b="1" dirty="0">
                <a:latin typeface="Times New Roman" panose="02020603050405020304" pitchFamily="18" charset="0"/>
                <a:ea typeface="宋体" panose="02010600030101010101" pitchFamily="2" charset="-122"/>
              </a:rPr>
              <a:t>对</a:t>
            </a:r>
            <a:endParaRPr lang="en-US" altLang="zh-CN" b="1" dirty="0">
              <a:latin typeface="Times New Roman" panose="02020603050405020304" pitchFamily="18" charset="0"/>
            </a:endParaRPr>
          </a:p>
          <a:p>
            <a:pPr marL="469900" indent="-469900">
              <a:lnSpc>
                <a:spcPct val="75000"/>
              </a:lnSpc>
              <a:spcBef>
                <a:spcPct val="20000"/>
              </a:spcBef>
              <a:buClr>
                <a:schemeClr val="accent2"/>
              </a:buClr>
            </a:pPr>
            <a:r>
              <a:rPr lang="zh-CN" altLang="en-US" b="1" dirty="0">
                <a:latin typeface="Times New Roman" panose="02020603050405020304" pitchFamily="18" charset="0"/>
                <a:ea typeface="宋体" panose="02010600030101010101" pitchFamily="2" charset="-122"/>
              </a:rPr>
              <a:t>象</a:t>
            </a:r>
            <a:r>
              <a:rPr lang="zh-CN" altLang="en-US" dirty="0">
                <a:latin typeface="Times New Roman" panose="02020603050405020304" pitchFamily="18" charset="0"/>
                <a:ea typeface="宋体" panose="02010600030101010101" pitchFamily="2" charset="-122"/>
              </a:rPr>
              <a:t>的</a:t>
            </a:r>
            <a:r>
              <a:rPr lang="zh-CN" altLang="en-US" b="1" dirty="0">
                <a:latin typeface="Times New Roman" panose="02020603050405020304" pitchFamily="18" charset="0"/>
                <a:ea typeface="宋体" panose="02010600030101010101" pitchFamily="2" charset="-122"/>
              </a:rPr>
              <a:t>方法</a:t>
            </a:r>
            <a:r>
              <a:rPr lang="zh-CN" altLang="en-US" dirty="0">
                <a:latin typeface="Times New Roman" panose="02020603050405020304" pitchFamily="18" charset="0"/>
                <a:ea typeface="宋体" panose="02010600030101010101" pitchFamily="2" charset="-122"/>
              </a:rPr>
              <a:t>实现</a:t>
            </a:r>
            <a:endParaRPr lang="zh-CN" altLang="en-US" b="1" dirty="0">
              <a:latin typeface="Times New Roman" panose="02020603050405020304" pitchFamily="18" charset="0"/>
              <a:ea typeface="宋体" panose="02010600030101010101" pitchFamily="2" charset="-122"/>
            </a:endParaRPr>
          </a:p>
        </p:txBody>
      </p:sp>
      <p:sp>
        <p:nvSpPr>
          <p:cNvPr id="10" name="标题 1"/>
          <p:cNvSpPr>
            <a:spLocks noGrp="1"/>
          </p:cNvSpPr>
          <p:nvPr>
            <p:custDataLst>
              <p:tags r:id="rId15"/>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5</a:t>
            </a:r>
            <a:r>
              <a:rPr kumimoji="1" lang="en-US" altLang="zh-CN" sz="2400" dirty="0">
                <a:solidFill>
                  <a:schemeClr val="bg1"/>
                </a:solidFill>
              </a:rPr>
              <a:t>/15</a:t>
            </a:r>
            <a:endParaRPr kumimoji="1" lang="en-US" altLang="zh-CN"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5939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6</a:t>
            </a:r>
            <a:r>
              <a:rPr kumimoji="1" lang="en-US" altLang="zh-CN" sz="2400" dirty="0">
                <a:solidFill>
                  <a:schemeClr val="bg1"/>
                </a:solidFill>
              </a:rPr>
              <a:t>/15</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9634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关联关系的</a:t>
            </a:r>
            <a:r>
              <a:rPr kumimoji="1" lang="zh-CN" altLang="en-US" sz="2800" dirty="0">
                <a:sym typeface="+mn-ea"/>
              </a:rPr>
              <a:t>数量</a:t>
            </a:r>
            <a:endParaRPr kumimoji="1" lang="zh-CN" altLang="en-US" sz="2800" dirty="0">
              <a:sym typeface="+mn-ea"/>
            </a:endParaRPr>
          </a:p>
        </p:txBody>
      </p:sp>
      <p:sp>
        <p:nvSpPr>
          <p:cNvPr id="9" name="文本框 8"/>
          <p:cNvSpPr txBox="1"/>
          <p:nvPr/>
        </p:nvSpPr>
        <p:spPr>
          <a:xfrm>
            <a:off x="527685" y="1915160"/>
            <a:ext cx="6771640" cy="4084955"/>
          </a:xfrm>
          <a:prstGeom prst="rect">
            <a:avLst/>
          </a:prstGeom>
          <a:noFill/>
        </p:spPr>
        <p:txBody>
          <a:bodyPr wrap="square" rtlCol="0" anchor="t">
            <a:noAutofit/>
          </a:bodyPr>
          <a:p>
            <a:pPr indent="0" eaLnBrk="1" hangingPunct="1">
              <a:lnSpc>
                <a:spcPct val="150000"/>
              </a:lnSpc>
              <a:buFont typeface="Arial" panose="020B0604020202020204" pitchFamily="34" charset="0"/>
              <a:buNone/>
            </a:pPr>
            <a:r>
              <a:rPr lang="zh-CN" altLang="en-US" sz="2400" b="1" dirty="0">
                <a:latin typeface="等线" panose="02010600030101010101" charset="-122"/>
                <a:ea typeface="等线" panose="02010600030101010101" charset="-122"/>
                <a:cs typeface="等线" panose="02010600030101010101" charset="-122"/>
                <a:sym typeface="+mn-ea"/>
              </a:rPr>
              <a:t>常用的关联数量的表示及其含义有以下几种：</a:t>
            </a:r>
            <a:endParaRPr lang="zh-CN" altLang="en-US" sz="2400" b="1" dirty="0">
              <a:latin typeface="等线" panose="02010600030101010101" charset="-122"/>
              <a:ea typeface="等线" panose="02010600030101010101" charset="-122"/>
              <a:cs typeface="等线" panose="02010600030101010101" charset="-122"/>
            </a:endParaRPr>
          </a:p>
          <a:p>
            <a:pPr lvl="1" indent="-436245" eaLnBrk="1" hangingPunct="1">
              <a:lnSpc>
                <a:spcPct val="150000"/>
              </a:lnSpc>
              <a:buFont typeface="Arial" panose="020B0604020202020204" pitchFamily="34" charset="0"/>
              <a:buChar char="•"/>
            </a:pPr>
            <a:r>
              <a:rPr lang="zh-CN" altLang="en-US" sz="2400" b="1" dirty="0">
                <a:latin typeface="等线" panose="02010600030101010101" charset="-122"/>
                <a:ea typeface="等线" panose="02010600030101010101" charset="-122"/>
                <a:cs typeface="等线" panose="02010600030101010101" charset="-122"/>
                <a:sym typeface="+mn-ea"/>
              </a:rPr>
              <a:t>具体数字</a:t>
            </a:r>
            <a:r>
              <a:rPr lang="en-US" altLang="zh-CN" sz="2400" b="1" dirty="0">
                <a:latin typeface="等线" panose="02010600030101010101" charset="-122"/>
                <a:ea typeface="等线" panose="02010600030101010101" charset="-122"/>
                <a:cs typeface="等线" panose="02010600030101010101" charset="-122"/>
                <a:sym typeface="+mn-ea"/>
              </a:rPr>
              <a:t>n    </a:t>
            </a:r>
            <a:r>
              <a:rPr lang="zh-CN" altLang="en-US" sz="2400" b="1" dirty="0">
                <a:latin typeface="等线" panose="02010600030101010101" charset="-122"/>
                <a:ea typeface="等线" panose="02010600030101010101" charset="-122"/>
                <a:cs typeface="等线" panose="02010600030101010101" charset="-122"/>
                <a:sym typeface="+mn-ea"/>
              </a:rPr>
              <a:t>比如</a:t>
            </a:r>
            <a:r>
              <a:rPr lang="en-US" altLang="zh-CN" sz="2400" b="1" dirty="0">
                <a:latin typeface="等线" panose="02010600030101010101" charset="-122"/>
                <a:ea typeface="等线" panose="02010600030101010101" charset="-122"/>
                <a:cs typeface="等线" panose="02010600030101010101" charset="-122"/>
                <a:sym typeface="+mn-ea"/>
              </a:rPr>
              <a:t>1</a:t>
            </a:r>
            <a:r>
              <a:rPr lang="zh-CN" altLang="en-US" sz="2400" b="1" dirty="0">
                <a:latin typeface="等线" panose="02010600030101010101" charset="-122"/>
                <a:ea typeface="等线" panose="02010600030101010101" charset="-122"/>
                <a:cs typeface="等线" panose="02010600030101010101" charset="-122"/>
                <a:sym typeface="+mn-ea"/>
              </a:rPr>
              <a:t>，比如</a:t>
            </a:r>
            <a:r>
              <a:rPr lang="en-US" altLang="zh-CN" sz="2400" b="1" dirty="0">
                <a:latin typeface="等线" panose="02010600030101010101" charset="-122"/>
                <a:ea typeface="等线" panose="02010600030101010101" charset="-122"/>
                <a:cs typeface="等线" panose="02010600030101010101" charset="-122"/>
                <a:sym typeface="+mn-ea"/>
              </a:rPr>
              <a:t>6</a:t>
            </a:r>
            <a:endParaRPr lang="en-US" altLang="zh-CN" sz="2400" b="1" dirty="0">
              <a:latin typeface="等线" panose="02010600030101010101" charset="-122"/>
              <a:ea typeface="等线" panose="02010600030101010101" charset="-122"/>
              <a:cs typeface="等线" panose="02010600030101010101" charset="-122"/>
            </a:endParaRPr>
          </a:p>
          <a:p>
            <a:pPr lvl="1" indent="-436245" eaLnBrk="1" hangingPunct="1">
              <a:lnSpc>
                <a:spcPct val="150000"/>
              </a:lnSpc>
              <a:buFont typeface="Arial" panose="020B0604020202020204" pitchFamily="34" charset="0"/>
              <a:buChar char="•"/>
            </a:pPr>
            <a:r>
              <a:rPr lang="en-US" altLang="zh-CN" sz="2400" b="1" dirty="0">
                <a:latin typeface="等线" panose="02010600030101010101" charset="-122"/>
                <a:ea typeface="等线" panose="02010600030101010101" charset="-122"/>
                <a:cs typeface="等线" panose="02010600030101010101" charset="-122"/>
                <a:sym typeface="+mn-ea"/>
              </a:rPr>
              <a:t>* </a:t>
            </a:r>
            <a:r>
              <a:rPr lang="zh-CN" altLang="en-US" sz="2400" b="1" dirty="0">
                <a:latin typeface="等线" panose="02010600030101010101" charset="-122"/>
                <a:ea typeface="等线" panose="02010600030101010101" charset="-122"/>
                <a:cs typeface="等线" panose="02010600030101010101" charset="-122"/>
                <a:sym typeface="+mn-ea"/>
              </a:rPr>
              <a:t>或 </a:t>
            </a:r>
            <a:r>
              <a:rPr lang="en-US" altLang="zh-CN" sz="2400" b="1" dirty="0">
                <a:latin typeface="等线" panose="02010600030101010101" charset="-122"/>
                <a:ea typeface="等线" panose="02010600030101010101" charset="-122"/>
                <a:cs typeface="等线" panose="02010600030101010101" charset="-122"/>
                <a:sym typeface="+mn-ea"/>
              </a:rPr>
              <a:t>0..*   0</a:t>
            </a:r>
            <a:r>
              <a:rPr lang="zh-CN" altLang="en-US" sz="2400" b="1" dirty="0">
                <a:latin typeface="等线" panose="02010600030101010101" charset="-122"/>
                <a:ea typeface="等线" panose="02010600030101010101" charset="-122"/>
                <a:cs typeface="等线" panose="02010600030101010101" charset="-122"/>
                <a:sym typeface="+mn-ea"/>
              </a:rPr>
              <a:t>到任意多个</a:t>
            </a:r>
            <a:endParaRPr lang="zh-CN" altLang="en-US" sz="2400" b="1" dirty="0">
              <a:latin typeface="等线" panose="02010600030101010101" charset="-122"/>
              <a:ea typeface="等线" panose="02010600030101010101" charset="-122"/>
              <a:cs typeface="等线" panose="02010600030101010101" charset="-122"/>
            </a:endParaRPr>
          </a:p>
          <a:p>
            <a:pPr lvl="1" indent="-436245" eaLnBrk="1" hangingPunct="1">
              <a:lnSpc>
                <a:spcPct val="150000"/>
              </a:lnSpc>
              <a:buFont typeface="Arial" panose="020B0604020202020204" pitchFamily="34" charset="0"/>
              <a:buChar char="•"/>
            </a:pPr>
            <a:r>
              <a:rPr lang="en-US" altLang="zh-CN" sz="2400" b="1" dirty="0">
                <a:latin typeface="等线" panose="02010600030101010101" charset="-122"/>
                <a:ea typeface="等线" panose="02010600030101010101" charset="-122"/>
                <a:cs typeface="等线" panose="02010600030101010101" charset="-122"/>
                <a:sym typeface="+mn-ea"/>
              </a:rPr>
              <a:t>0..1        0</a:t>
            </a:r>
            <a:r>
              <a:rPr lang="zh-CN" altLang="en-US" sz="2400" b="1" dirty="0">
                <a:latin typeface="等线" panose="02010600030101010101" charset="-122"/>
                <a:ea typeface="等线" panose="02010600030101010101" charset="-122"/>
                <a:cs typeface="等线" panose="02010600030101010101" charset="-122"/>
                <a:sym typeface="+mn-ea"/>
              </a:rPr>
              <a:t>个或</a:t>
            </a:r>
            <a:r>
              <a:rPr lang="en-US" altLang="zh-CN" sz="2400" b="1" dirty="0">
                <a:latin typeface="等线" panose="02010600030101010101" charset="-122"/>
                <a:ea typeface="等线" panose="02010600030101010101" charset="-122"/>
                <a:cs typeface="等线" panose="02010600030101010101" charset="-122"/>
                <a:sym typeface="+mn-ea"/>
              </a:rPr>
              <a:t>1</a:t>
            </a:r>
            <a:r>
              <a:rPr lang="zh-CN" altLang="en-US" sz="2400" b="1" dirty="0">
                <a:latin typeface="等线" panose="02010600030101010101" charset="-122"/>
                <a:ea typeface="等线" panose="02010600030101010101" charset="-122"/>
                <a:cs typeface="等线" panose="02010600030101010101" charset="-122"/>
                <a:sym typeface="+mn-ea"/>
              </a:rPr>
              <a:t>个</a:t>
            </a:r>
            <a:endParaRPr lang="zh-CN" altLang="en-US" sz="2400" b="1" dirty="0">
              <a:latin typeface="等线" panose="02010600030101010101" charset="-122"/>
              <a:ea typeface="等线" panose="02010600030101010101" charset="-122"/>
              <a:cs typeface="等线" panose="02010600030101010101" charset="-122"/>
            </a:endParaRPr>
          </a:p>
          <a:p>
            <a:pPr lvl="1" indent="-436245" eaLnBrk="1" hangingPunct="1">
              <a:lnSpc>
                <a:spcPct val="150000"/>
              </a:lnSpc>
              <a:buFont typeface="Arial" panose="020B0604020202020204" pitchFamily="34" charset="0"/>
              <a:buChar char="•"/>
            </a:pPr>
            <a:r>
              <a:rPr lang="en-US" altLang="zh-CN" sz="2400" b="1" dirty="0">
                <a:latin typeface="等线" panose="02010600030101010101" charset="-122"/>
                <a:ea typeface="等线" panose="02010600030101010101" charset="-122"/>
                <a:cs typeface="等线" panose="02010600030101010101" charset="-122"/>
                <a:sym typeface="+mn-ea"/>
              </a:rPr>
              <a:t>1..*        1</a:t>
            </a:r>
            <a:r>
              <a:rPr lang="zh-CN" altLang="en-US" sz="2400" b="1" dirty="0">
                <a:latin typeface="等线" panose="02010600030101010101" charset="-122"/>
                <a:ea typeface="等线" panose="02010600030101010101" charset="-122"/>
                <a:cs typeface="等线" panose="02010600030101010101" charset="-122"/>
                <a:sym typeface="+mn-ea"/>
              </a:rPr>
              <a:t>到任意多个</a:t>
            </a:r>
            <a:endParaRPr lang="zh-CN" altLang="en-US" sz="2400" b="1"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7</a:t>
            </a:r>
            <a:r>
              <a:rPr kumimoji="1" lang="en-US" altLang="zh-CN" sz="2400" dirty="0">
                <a:solidFill>
                  <a:schemeClr val="bg1"/>
                </a:solidFill>
              </a:rPr>
              <a:t>/15</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案例分析(找出1对</a:t>
            </a:r>
            <a:r>
              <a:rPr kumimoji="1" lang="en-US" altLang="zh-CN" sz="2800" dirty="0">
                <a:sym typeface="+mn-ea"/>
              </a:rPr>
              <a:t>1</a:t>
            </a:r>
            <a:r>
              <a:rPr kumimoji="1" lang="zh-CN" altLang="en-US" sz="2800" dirty="0">
                <a:sym typeface="+mn-ea"/>
              </a:rPr>
              <a:t>的关联关系)</a:t>
            </a:r>
            <a:endParaRPr kumimoji="1" lang="zh-CN" altLang="en-US" sz="2800" dirty="0">
              <a:sym typeface="+mn-ea"/>
            </a:endParaRPr>
          </a:p>
        </p:txBody>
      </p:sp>
      <p:sp>
        <p:nvSpPr>
          <p:cNvPr id="9" name="文本框 8"/>
          <p:cNvSpPr txBox="1"/>
          <p:nvPr/>
        </p:nvSpPr>
        <p:spPr>
          <a:xfrm>
            <a:off x="527685" y="1689735"/>
            <a:ext cx="8384540" cy="4084955"/>
          </a:xfrm>
          <a:prstGeom prst="rect">
            <a:avLst/>
          </a:prstGeom>
          <a:noFill/>
        </p:spPr>
        <p:txBody>
          <a:bodyPr wrap="square" rtlCol="0" anchor="t">
            <a:noAutofit/>
          </a:bodyPr>
          <a:p>
            <a:pPr indent="0" eaLnBrk="1" hangingPunct="1">
              <a:lnSpc>
                <a:spcPct val="100000"/>
              </a:lnSpc>
              <a:buFont typeface="Arial" panose="020B0604020202020204" pitchFamily="34" charset="0"/>
              <a:buNone/>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The customer information system maintains information about two different kinds of customers: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Individual customers: For these customers, the system stores an ID and the information about a person (name, home telephone number, and email).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Institutional customers: For these customers, the system stores an ID and provides the capability of defining one or more contact people for the institution. The system stores the following information for each contact person: name, home telephone number, email, work telephone number, and the job position of the contact in the institution.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7" name="矩形 6"/>
          <p:cNvSpPr/>
          <p:nvPr/>
        </p:nvSpPr>
        <p:spPr>
          <a:xfrm>
            <a:off x="6115050" y="2866390"/>
            <a:ext cx="114998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898525" y="2461895"/>
            <a:ext cx="282638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8</a:t>
            </a:r>
            <a:r>
              <a:rPr kumimoji="1" lang="en-US" altLang="zh-CN" sz="2400" dirty="0">
                <a:solidFill>
                  <a:schemeClr val="bg1"/>
                </a:solidFill>
              </a:rPr>
              <a:t>/15</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双向关联</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关系</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9" name="文本框 8"/>
          <p:cNvSpPr txBox="1"/>
          <p:nvPr/>
        </p:nvSpPr>
        <p:spPr>
          <a:xfrm>
            <a:off x="561975" y="1736725"/>
            <a:ext cx="8181340" cy="4084955"/>
          </a:xfrm>
          <a:prstGeom prst="rect">
            <a:avLst/>
          </a:prstGeom>
          <a:noFill/>
        </p:spPr>
        <p:txBody>
          <a:bodyPr wrap="square" rtlCol="0" anchor="t">
            <a:noAutofit/>
          </a:bodyPr>
          <a:p>
            <a:pPr marL="342900" indent="-342900" eaLnBrk="1" hangingPunct="1">
              <a:lnSpc>
                <a:spcPct val="130000"/>
              </a:lnSpc>
              <a:spcBef>
                <a:spcPts val="0"/>
              </a:spcBef>
              <a:spcAft>
                <a:spcPts val="0"/>
              </a:spcAft>
              <a:buClr>
                <a:srgbClr val="000000"/>
              </a:buClr>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在双向关联中，每个类都包含对另一个类对象的引用</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847725" marR="0" lvl="1" indent="-395605" algn="l" defTabSz="914400" rtl="0" eaLnBrk="1" fontAlgn="base" latinLnBrk="0" hangingPunct="1">
              <a:lnSpc>
                <a:spcPct val="130000"/>
              </a:lnSpc>
              <a:spcBef>
                <a:spcPts val="0"/>
              </a:spcBef>
              <a:spcAft>
                <a:spcPts val="0"/>
              </a:spcAft>
              <a:buClr>
                <a:srgbClr val="000000"/>
              </a:buClr>
              <a:buSzTx/>
              <a:buFont typeface="Arial" panose="020B0604020202020204" pitchFamily="34" charset="0"/>
              <a:buChar char="•"/>
              <a:defRPr/>
            </a:pP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在</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UML</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类图中用一条直线连接两个类表示它们之间的双向关联关系</a:t>
            </a:r>
            <a:endParaRPr kumimoji="0" lang="zh-CN" altLang="en-US" sz="2400" b="1" i="0" u="none" strike="noStrike" kern="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847725" marR="0" lvl="1" indent="-395605" algn="l" defTabSz="914400" rtl="0" eaLnBrk="1" fontAlgn="base" latinLnBrk="0" hangingPunct="1">
              <a:lnSpc>
                <a:spcPct val="130000"/>
              </a:lnSpc>
              <a:spcBef>
                <a:spcPts val="0"/>
              </a:spcBef>
              <a:spcAft>
                <a:spcPts val="0"/>
              </a:spcAft>
              <a:buClr>
                <a:srgbClr val="000000"/>
              </a:buClr>
              <a:buSzTx/>
              <a:buFont typeface="Arial" panose="020B0604020202020204" pitchFamily="34" charset="0"/>
              <a:buChar char="•"/>
              <a:defRPr/>
            </a:pP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例如，一个学生可以选修</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6</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门课程，一门课程可以由若干学生选修</a:t>
            </a:r>
            <a:endParaRPr kumimoji="0" lang="en-US" altLang="zh-CN" sz="2400" b="1" i="0" u="none" strike="noStrike" kern="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1236980" marR="0" lvl="2" indent="-387350" algn="l" defTabSz="914400" rtl="0" eaLnBrk="1" fontAlgn="base" latinLnBrk="0" hangingPunct="1">
              <a:lnSpc>
                <a:spcPct val="130000"/>
              </a:lnSpc>
              <a:spcBef>
                <a:spcPts val="0"/>
              </a:spcBef>
              <a:spcAft>
                <a:spcPts val="0"/>
              </a:spcAft>
              <a:buClr>
                <a:srgbClr val="000000"/>
              </a:buClr>
              <a:buSzTx/>
              <a:buFont typeface="Arial" panose="020B0604020202020204" pitchFamily="34" charset="0"/>
              <a:buChar char="•"/>
              <a:defRPr/>
            </a:pP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和类</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Course</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对象关联的类</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Student</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对象的数量为</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0</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到任意多个，用</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”表示</a:t>
            </a:r>
            <a:endParaRPr kumimoji="0" lang="zh-CN" altLang="en-US" sz="2400" b="1" i="0" u="none" strike="noStrike" kern="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1236980" marR="0" lvl="2" indent="-387350" algn="l" defTabSz="914400" rtl="0" eaLnBrk="1" fontAlgn="base" latinLnBrk="0" hangingPunct="1">
              <a:lnSpc>
                <a:spcPct val="130000"/>
              </a:lnSpc>
              <a:spcBef>
                <a:spcPts val="0"/>
              </a:spcBef>
              <a:spcAft>
                <a:spcPts val="0"/>
              </a:spcAft>
              <a:buClr>
                <a:srgbClr val="000000"/>
              </a:buClr>
              <a:buSzTx/>
              <a:buFont typeface="Arial" panose="020B0604020202020204" pitchFamily="34" charset="0"/>
              <a:buChar char="•"/>
              <a:defRPr/>
            </a:pP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和类</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Student</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对象关联的类</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Course</a:t>
            </a:r>
            <a:r>
              <a:rPr lang="zh-CN" altLang="en-US" sz="2400" b="1" kern="0" noProof="0" dirty="0">
                <a:ln>
                  <a:noFill/>
                </a:ln>
                <a:effectLst/>
                <a:uLnTx/>
                <a:uFillTx/>
                <a:latin typeface="等线" panose="02010600030101010101" charset="-122"/>
                <a:ea typeface="等线" panose="02010600030101010101" charset="-122"/>
                <a:cs typeface="等线" panose="02010600030101010101" charset="-122"/>
                <a:sym typeface="+mn-ea"/>
              </a:rPr>
              <a:t>对象的数量为</a:t>
            </a:r>
            <a:r>
              <a:rPr lang="en-US" altLang="zh-CN" sz="2400" b="1" kern="0" noProof="0" dirty="0">
                <a:ln>
                  <a:noFill/>
                </a:ln>
                <a:effectLst/>
                <a:uLnTx/>
                <a:uFillTx/>
                <a:latin typeface="等线" panose="02010600030101010101" charset="-122"/>
                <a:ea typeface="等线" panose="02010600030101010101" charset="-122"/>
                <a:cs typeface="等线" panose="02010600030101010101" charset="-122"/>
                <a:sym typeface="+mn-ea"/>
              </a:rPr>
              <a:t>6</a:t>
            </a:r>
            <a:endParaRPr kumimoji="0" lang="en-US" altLang="zh-CN" sz="2400" b="1" i="0" u="none" strike="noStrike" kern="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342900" indent="-342900" eaLnBrk="1" hangingPunct="1">
              <a:lnSpc>
                <a:spcPct val="100000"/>
              </a:lnSpc>
              <a:buClr>
                <a:srgbClr val="000000"/>
              </a:buClr>
              <a:buFont typeface="Arial" panose="020B0604020202020204" pitchFamily="34" charset="0"/>
              <a:buChar char="•"/>
            </a:pPr>
            <a:endParaRPr lang="zh-CN" altLang="en-US" sz="2400" b="1"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15"/>
          <p:cNvPicPr>
            <a:picLocks noChangeAspect="1"/>
          </p:cNvPicPr>
          <p:nvPr>
            <p:custDataLst>
              <p:tags r:id="rId1"/>
            </p:custDataLst>
          </p:nvPr>
        </p:nvPicPr>
        <p:blipFill>
          <a:blip r:embed="rId2"/>
          <a:stretch>
            <a:fillRect/>
          </a:stretch>
        </p:blipFill>
        <p:spPr>
          <a:xfrm>
            <a:off x="348615" y="1365885"/>
            <a:ext cx="8362950" cy="2976880"/>
          </a:xfrm>
          <a:prstGeom prst="rect">
            <a:avLst/>
          </a:prstGeom>
          <a:noFill/>
          <a:ln w="9525">
            <a:noFill/>
          </a:ln>
        </p:spPr>
      </p:pic>
      <p:sp>
        <p:nvSpPr>
          <p:cNvPr id="3" name="矩形 2"/>
          <p:cNvSpPr/>
          <p:nvPr>
            <p:custDataLst>
              <p:tags r:id="rId3"/>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4"/>
            </p:custDataLst>
          </p:nvPr>
        </p:nvPicPr>
        <p:blipFill>
          <a:blip r:embed="rId5" cstate="screen"/>
          <a:stretch>
            <a:fillRect/>
          </a:stretch>
        </p:blipFill>
        <p:spPr>
          <a:xfrm>
            <a:off x="7476490" y="417830"/>
            <a:ext cx="1363345" cy="342900"/>
          </a:xfrm>
          <a:prstGeom prst="rect">
            <a:avLst/>
          </a:prstGeom>
        </p:spPr>
      </p:pic>
      <p:pic>
        <p:nvPicPr>
          <p:cNvPr id="13" name="校徽"/>
          <p:cNvPicPr>
            <a:picLocks noChangeAspect="1"/>
          </p:cNvPicPr>
          <p:nvPr>
            <p:custDataLst>
              <p:tags r:id="rId6"/>
            </p:custDataLst>
          </p:nvPr>
        </p:nvPicPr>
        <p:blipFill>
          <a:blip r:embed="rId7"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8"/>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9</a:t>
            </a:r>
            <a:r>
              <a:rPr kumimoji="1" lang="en-US" altLang="zh-CN" sz="2400" dirty="0">
                <a:solidFill>
                  <a:schemeClr val="bg1"/>
                </a:solidFill>
              </a:rPr>
              <a:t>/15</a:t>
            </a:r>
            <a:endParaRPr kumimoji="1" lang="en-US" altLang="zh-CN" sz="2400" dirty="0">
              <a:solidFill>
                <a:schemeClr val="bg1"/>
              </a:solidFill>
            </a:endParaRPr>
          </a:p>
        </p:txBody>
      </p:sp>
      <p:sp>
        <p:nvSpPr>
          <p:cNvPr id="2" name="内容占位符 2"/>
          <p:cNvSpPr>
            <a:spLocks noGrp="1"/>
          </p:cNvSpPr>
          <p:nvPr>
            <p:custDataLst>
              <p:tags r:id="rId9"/>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双向关联</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关系</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17" name="内容占位符 7"/>
          <p:cNvSpPr>
            <a:spLocks noGrp="1"/>
          </p:cNvSpPr>
          <p:nvPr>
            <p:ph idx="1"/>
          </p:nvPr>
        </p:nvSpPr>
        <p:spPr>
          <a:xfrm>
            <a:off x="571500" y="4908550"/>
            <a:ext cx="8001000" cy="1511300"/>
          </a:xfrm>
        </p:spPr>
        <p:txBody>
          <a:bodyPr vert="horz" wrap="square" lIns="91440" tIns="45720" rIns="91440" bIns="45720" numCol="1" anchor="t" anchorCtr="0" compatLnSpc="1">
            <a:noAutofit/>
          </a:bodyPr>
          <a:p>
            <a:pPr marL="457200" marR="0" lvl="0" indent="-457200" algn="l" defTabSz="914400" rtl="0" eaLnBrk="0" fontAlgn="base" latinLnBrk="0" hangingPunct="0">
              <a:lnSpc>
                <a:spcPct val="100000"/>
              </a:lnSpc>
              <a:spcBef>
                <a:spcPct val="20000"/>
              </a:spcBef>
              <a:spcAft>
                <a:spcPct val="0"/>
              </a:spcAft>
              <a:buClr>
                <a:srgbClr val="000000"/>
              </a:buClr>
              <a:buSzTx/>
              <a:buFont typeface="+mj-lt"/>
              <a:buAutoNum type="arabicPeriod"/>
              <a:defRPr/>
            </a:pPr>
            <a:r>
              <a:rPr kumimoji="0" lang="zh-CN" altLang="en-US" sz="2000" i="0" u="none" strike="noStrike" kern="0" cap="none" spc="0" normalizeH="0" baseline="0" noProof="0" dirty="0">
                <a:ln>
                  <a:noFill/>
                </a:ln>
                <a:solidFill>
                  <a:schemeClr val="tx1"/>
                </a:solidFill>
                <a:effectLst/>
                <a:uLnTx/>
                <a:uFillTx/>
                <a:latin typeface="+mn-ea"/>
                <a:cs typeface="+mn-ea"/>
              </a:rPr>
              <a:t>假设有很多</a:t>
            </a:r>
            <a:r>
              <a:rPr kumimoji="0" lang="en-US" altLang="zh-CN" sz="2000" i="0" u="none" strike="noStrike" kern="0" cap="none" spc="0" normalizeH="0" baseline="0" noProof="0" dirty="0">
                <a:ln>
                  <a:noFill/>
                </a:ln>
                <a:solidFill>
                  <a:schemeClr val="tx1"/>
                </a:solidFill>
                <a:effectLst/>
                <a:uLnTx/>
                <a:uFillTx/>
                <a:latin typeface="+mn-ea"/>
                <a:cs typeface="+mn-ea"/>
              </a:rPr>
              <a:t>Student</a:t>
            </a:r>
            <a:r>
              <a:rPr kumimoji="0" lang="zh-CN" altLang="en-US" sz="2000" i="0" u="none" strike="noStrike" kern="0" cap="none" spc="0" normalizeH="0" baseline="0" noProof="0" dirty="0">
                <a:ln>
                  <a:noFill/>
                </a:ln>
                <a:solidFill>
                  <a:schemeClr val="tx1"/>
                </a:solidFill>
                <a:effectLst/>
                <a:uLnTx/>
                <a:uFillTx/>
                <a:latin typeface="+mn-ea"/>
                <a:cs typeface="+mn-ea"/>
              </a:rPr>
              <a:t>对象：</a:t>
            </a:r>
            <a:r>
              <a:rPr kumimoji="0" lang="en-US" altLang="zh-CN" sz="2000" i="0" u="none" strike="noStrike" kern="0" cap="none" spc="0" normalizeH="0" baseline="0" noProof="0" dirty="0">
                <a:ln>
                  <a:noFill/>
                </a:ln>
                <a:solidFill>
                  <a:schemeClr val="tx1"/>
                </a:solidFill>
                <a:effectLst/>
                <a:uLnTx/>
                <a:uFillTx/>
                <a:latin typeface="+mn-ea"/>
                <a:cs typeface="+mn-ea"/>
              </a:rPr>
              <a:t>student1,student2,…</a:t>
            </a:r>
            <a:endParaRPr kumimoji="0" lang="en-US" altLang="zh-CN" sz="2000" i="0" u="none" strike="noStrike" kern="0" cap="none" spc="0" normalizeH="0" baseline="0" noProof="0" dirty="0">
              <a:ln>
                <a:noFill/>
              </a:ln>
              <a:solidFill>
                <a:schemeClr val="tx1"/>
              </a:solidFill>
              <a:effectLst/>
              <a:uLnTx/>
              <a:uFillTx/>
              <a:latin typeface="+mn-ea"/>
              <a:cs typeface="+mn-ea"/>
            </a:endParaRPr>
          </a:p>
          <a:p>
            <a:pPr marL="457200" marR="0" lvl="0" indent="-457200" algn="l" defTabSz="914400" rtl="0" eaLnBrk="0" fontAlgn="base" latinLnBrk="0" hangingPunct="0">
              <a:lnSpc>
                <a:spcPct val="100000"/>
              </a:lnSpc>
              <a:spcBef>
                <a:spcPct val="20000"/>
              </a:spcBef>
              <a:spcAft>
                <a:spcPct val="0"/>
              </a:spcAft>
              <a:buClr>
                <a:srgbClr val="000000"/>
              </a:buClr>
              <a:buSzTx/>
              <a:buFont typeface="+mj-lt"/>
              <a:buAutoNum type="arabicPeriod"/>
              <a:defRPr/>
            </a:pPr>
            <a:r>
              <a:rPr kumimoji="0" lang="zh-CN" altLang="en-US" sz="2000" i="0" u="none" strike="noStrike" kern="0" cap="none" spc="0" normalizeH="0" baseline="0" noProof="0" dirty="0">
                <a:ln>
                  <a:noFill/>
                </a:ln>
                <a:solidFill>
                  <a:schemeClr val="tx1"/>
                </a:solidFill>
                <a:effectLst/>
                <a:uLnTx/>
                <a:uFillTx/>
                <a:latin typeface="+mn-ea"/>
                <a:cs typeface="+mn-ea"/>
              </a:rPr>
              <a:t>循环给每个</a:t>
            </a:r>
            <a:r>
              <a:rPr kumimoji="0" lang="en-US" altLang="zh-CN" sz="2000" i="0" u="none" strike="noStrike" kern="0" cap="none" spc="0" normalizeH="0" baseline="0" noProof="0" dirty="0">
                <a:ln>
                  <a:noFill/>
                </a:ln>
                <a:solidFill>
                  <a:schemeClr val="tx1"/>
                </a:solidFill>
                <a:effectLst/>
                <a:uLnTx/>
                <a:uFillTx/>
                <a:latin typeface="+mn-ea"/>
                <a:cs typeface="+mn-ea"/>
              </a:rPr>
              <a:t>Student</a:t>
            </a:r>
            <a:r>
              <a:rPr kumimoji="0" lang="zh-CN" altLang="en-US" sz="2000" i="0" u="none" strike="noStrike" kern="0" cap="none" spc="0" normalizeH="0" baseline="0" noProof="0" dirty="0">
                <a:ln>
                  <a:noFill/>
                </a:ln>
                <a:solidFill>
                  <a:schemeClr val="tx1"/>
                </a:solidFill>
                <a:effectLst/>
                <a:uLnTx/>
                <a:uFillTx/>
                <a:latin typeface="+mn-ea"/>
                <a:cs typeface="+mn-ea"/>
              </a:rPr>
              <a:t>对象发消息</a:t>
            </a:r>
            <a:r>
              <a:rPr kumimoji="0" lang="en-US" altLang="zh-CN" sz="2000" i="0" u="none" strike="noStrike" kern="0" cap="none" spc="0" normalizeH="0" baseline="0" noProof="0" dirty="0" err="1">
                <a:ln>
                  <a:noFill/>
                </a:ln>
                <a:solidFill>
                  <a:schemeClr val="tx1"/>
                </a:solidFill>
                <a:effectLst/>
                <a:uLnTx/>
                <a:uFillTx/>
                <a:latin typeface="+mn-ea"/>
                <a:cs typeface="+mn-ea"/>
              </a:rPr>
              <a:t>getName</a:t>
            </a:r>
            <a:r>
              <a:rPr kumimoji="0" lang="zh-CN" altLang="en-US" sz="2000" i="0" u="none" strike="noStrike" kern="0" cap="none" spc="0" normalizeH="0" baseline="0" noProof="0" dirty="0">
                <a:ln>
                  <a:noFill/>
                </a:ln>
                <a:solidFill>
                  <a:schemeClr val="tx1"/>
                </a:solidFill>
                <a:effectLst/>
                <a:uLnTx/>
                <a:uFillTx/>
                <a:latin typeface="+mn-ea"/>
                <a:cs typeface="+mn-ea"/>
              </a:rPr>
              <a:t>，例如，</a:t>
            </a:r>
            <a:r>
              <a:rPr kumimoji="0" lang="en-US" altLang="zh-CN" sz="2000" i="0" u="none" strike="noStrike" kern="0" cap="none" spc="0" normalizeH="0" baseline="0" noProof="0" dirty="0">
                <a:ln>
                  <a:noFill/>
                </a:ln>
                <a:solidFill>
                  <a:schemeClr val="tx1"/>
                </a:solidFill>
                <a:effectLst/>
                <a:uLnTx/>
                <a:uFillTx/>
                <a:latin typeface="+mn-ea"/>
                <a:cs typeface="+mn-ea"/>
              </a:rPr>
              <a:t>studentX.getName()</a:t>
            </a:r>
            <a:r>
              <a:rPr kumimoji="0" lang="zh-CN" altLang="en-US" sz="2000" i="0" u="none" strike="noStrike" kern="0" cap="none" spc="0" normalizeH="0" baseline="0" noProof="0" dirty="0">
                <a:ln>
                  <a:noFill/>
                </a:ln>
                <a:solidFill>
                  <a:schemeClr val="tx1"/>
                </a:solidFill>
                <a:effectLst/>
                <a:uLnTx/>
                <a:uFillTx/>
                <a:latin typeface="+mn-ea"/>
                <a:cs typeface="+mn-ea"/>
              </a:rPr>
              <a:t>，找到其返回值是张三的对象</a:t>
            </a:r>
            <a:r>
              <a:rPr kumimoji="0" lang="en-US" altLang="zh-CN" sz="2000" i="0" u="none" strike="noStrike" kern="0" cap="none" spc="0" normalizeH="0" baseline="0" noProof="0" dirty="0">
                <a:ln>
                  <a:noFill/>
                </a:ln>
                <a:solidFill>
                  <a:schemeClr val="tx1"/>
                </a:solidFill>
                <a:effectLst/>
                <a:uLnTx/>
                <a:uFillTx/>
                <a:latin typeface="+mn-ea"/>
                <a:cs typeface="+mn-ea"/>
              </a:rPr>
              <a:t>student</a:t>
            </a:r>
            <a:r>
              <a:rPr kumimoji="0" lang="en-US" altLang="zh-CN" sz="2000" i="0" u="none" strike="noStrike" kern="0" cap="none" spc="0" normalizeH="0" baseline="0" noProof="0" dirty="0">
                <a:ln>
                  <a:noFill/>
                </a:ln>
                <a:solidFill>
                  <a:schemeClr val="tx1"/>
                </a:solidFill>
                <a:effectLst/>
                <a:uLnTx/>
                <a:uFillTx/>
                <a:latin typeface="+mn-ea"/>
                <a:cs typeface="+mn-ea"/>
              </a:rPr>
              <a:t>Y</a:t>
            </a:r>
            <a:endParaRPr kumimoji="0" lang="en-US" altLang="zh-CN" sz="2000" i="0" u="none" strike="noStrike" kern="0" cap="none" spc="0" normalizeH="0" baseline="0" noProof="0" dirty="0">
              <a:ln>
                <a:noFill/>
              </a:ln>
              <a:solidFill>
                <a:schemeClr val="tx1"/>
              </a:solidFill>
              <a:effectLst/>
              <a:uLnTx/>
              <a:uFillTx/>
              <a:latin typeface="+mn-ea"/>
              <a:cs typeface="+mn-ea"/>
            </a:endParaRPr>
          </a:p>
          <a:p>
            <a:pPr marL="457200" marR="0" lvl="0" indent="-457200" algn="l" defTabSz="914400" rtl="0" eaLnBrk="0" fontAlgn="base" latinLnBrk="0" hangingPunct="0">
              <a:lnSpc>
                <a:spcPct val="100000"/>
              </a:lnSpc>
              <a:spcBef>
                <a:spcPct val="20000"/>
              </a:spcBef>
              <a:spcAft>
                <a:spcPct val="0"/>
              </a:spcAft>
              <a:buClr>
                <a:srgbClr val="000000"/>
              </a:buClr>
              <a:buSzTx/>
              <a:buFont typeface="+mj-lt"/>
              <a:buAutoNum type="arabicPeriod"/>
              <a:defRPr/>
            </a:pPr>
            <a:r>
              <a:rPr kumimoji="0" lang="zh-CN" altLang="en-US" sz="2000" i="0" u="none" strike="noStrike" kern="0" cap="none" spc="0" normalizeH="0" baseline="0" noProof="0" dirty="0">
                <a:ln>
                  <a:noFill/>
                </a:ln>
                <a:solidFill>
                  <a:schemeClr val="tx1"/>
                </a:solidFill>
                <a:effectLst/>
                <a:uLnTx/>
                <a:uFillTx/>
                <a:latin typeface="+mn-ea"/>
                <a:cs typeface="+mn-ea"/>
              </a:rPr>
              <a:t>给</a:t>
            </a:r>
            <a:r>
              <a:rPr kumimoji="0" lang="en-US" altLang="zh-CN" sz="2000" i="0" u="none" strike="noStrike" kern="0" cap="none" spc="0" normalizeH="0" baseline="0" noProof="0" dirty="0">
                <a:ln>
                  <a:noFill/>
                </a:ln>
                <a:solidFill>
                  <a:schemeClr val="tx1"/>
                </a:solidFill>
                <a:effectLst/>
                <a:uLnTx/>
                <a:uFillTx/>
                <a:latin typeface="+mn-ea"/>
                <a:cs typeface="+mn-ea"/>
              </a:rPr>
              <a:t>studentX</a:t>
            </a:r>
            <a:r>
              <a:rPr kumimoji="0" lang="zh-CN" altLang="en-US" sz="2000" i="0" u="none" strike="noStrike" kern="0" cap="none" spc="0" normalizeH="0" baseline="0" noProof="0" dirty="0">
                <a:ln>
                  <a:noFill/>
                </a:ln>
                <a:solidFill>
                  <a:schemeClr val="tx1"/>
                </a:solidFill>
                <a:effectLst/>
                <a:uLnTx/>
                <a:uFillTx/>
                <a:latin typeface="+mn-ea"/>
                <a:cs typeface="+mn-ea"/>
              </a:rPr>
              <a:t>对象发消息</a:t>
            </a:r>
            <a:r>
              <a:rPr kumimoji="0" lang="en-US" altLang="zh-CN" sz="2000" i="0" u="none" strike="noStrike" kern="0" cap="none" spc="0" normalizeH="0" baseline="0" noProof="0" dirty="0" err="1">
                <a:ln>
                  <a:noFill/>
                </a:ln>
                <a:solidFill>
                  <a:schemeClr val="tx1"/>
                </a:solidFill>
                <a:effectLst/>
                <a:uLnTx/>
                <a:uFillTx/>
                <a:latin typeface="+mn-ea"/>
                <a:cs typeface="+mn-ea"/>
              </a:rPr>
              <a:t>getCourse(i)</a:t>
            </a:r>
            <a:r>
              <a:rPr kumimoji="0" lang="zh-CN" altLang="en-US" sz="2000" i="0" u="none" strike="noStrike" kern="0" cap="none" spc="0" normalizeH="0" baseline="0" noProof="0" dirty="0">
                <a:ln>
                  <a:noFill/>
                </a:ln>
                <a:solidFill>
                  <a:schemeClr val="tx1"/>
                </a:solidFill>
                <a:effectLst/>
                <a:uLnTx/>
                <a:uFillTx/>
                <a:latin typeface="+mn-ea"/>
                <a:cs typeface="+mn-ea"/>
              </a:rPr>
              <a:t>，</a:t>
            </a:r>
            <a:r>
              <a:rPr kumimoji="0" lang="en-US" altLang="zh-CN" sz="2000" i="0" u="none" strike="noStrike" kern="0" cap="none" spc="0" normalizeH="0" baseline="0" noProof="0" dirty="0">
                <a:ln>
                  <a:noFill/>
                </a:ln>
                <a:solidFill>
                  <a:schemeClr val="tx1"/>
                </a:solidFill>
                <a:effectLst/>
                <a:uLnTx/>
                <a:uFillTx/>
                <a:latin typeface="+mn-ea"/>
                <a:cs typeface="+mn-ea"/>
              </a:rPr>
              <a:t> </a:t>
            </a:r>
            <a:r>
              <a:rPr kumimoji="0" lang="zh-CN" altLang="en-US" sz="2000" i="0" u="none" strike="noStrike" kern="0" cap="none" spc="0" normalizeH="0" baseline="0" noProof="0" dirty="0">
                <a:ln>
                  <a:noFill/>
                </a:ln>
                <a:solidFill>
                  <a:schemeClr val="tx1"/>
                </a:solidFill>
                <a:effectLst/>
                <a:uLnTx/>
                <a:uFillTx/>
                <a:latin typeface="+mn-ea"/>
                <a:cs typeface="+mn-ea"/>
              </a:rPr>
              <a:t>返回所选课程的名称</a:t>
            </a:r>
            <a:endParaRPr kumimoji="0" lang="en-US" altLang="zh-CN" sz="2000" i="0" u="none" strike="noStrike" kern="0" cap="none" spc="0" normalizeH="0" baseline="0" noProof="0" dirty="0">
              <a:ln>
                <a:noFill/>
              </a:ln>
              <a:solidFill>
                <a:schemeClr val="tx1"/>
              </a:solidFill>
              <a:effectLst/>
              <a:uLnTx/>
              <a:uFillTx/>
              <a:latin typeface="+mn-ea"/>
              <a:cs typeface="+mn-ea"/>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000" i="0" u="none" strike="noStrike" kern="0" cap="none" spc="0" normalizeH="0" baseline="0" noProof="0" dirty="0">
              <a:ln>
                <a:noFill/>
              </a:ln>
              <a:solidFill>
                <a:schemeClr val="tx1"/>
              </a:solidFill>
              <a:effectLst/>
              <a:uLnTx/>
              <a:uFillTx/>
              <a:latin typeface="+mn-ea"/>
              <a:cs typeface="+mn-ea"/>
            </a:endParaRPr>
          </a:p>
        </p:txBody>
      </p:sp>
      <p:sp>
        <p:nvSpPr>
          <p:cNvPr id="62472" name="矩形 5"/>
          <p:cNvSpPr/>
          <p:nvPr>
            <p:custDataLst>
              <p:tags r:id="rId10"/>
            </p:custDataLst>
          </p:nvPr>
        </p:nvSpPr>
        <p:spPr>
          <a:xfrm>
            <a:off x="500063" y="4252595"/>
            <a:ext cx="7829550" cy="706755"/>
          </a:xfrm>
          <a:prstGeom prst="rect">
            <a:avLst/>
          </a:prstGeom>
          <a:noFill/>
          <a:ln w="9525">
            <a:noFill/>
          </a:ln>
        </p:spPr>
        <p:txBody>
          <a:bodyPr anchor="t" anchorCtr="0">
            <a:spAutoFit/>
          </a:bodyPr>
          <a:p>
            <a:pPr eaLnBrk="0" hangingPunct="0"/>
            <a:r>
              <a:rPr lang="zh-CN" altLang="en-US" sz="2000" b="1" dirty="0">
                <a:latin typeface="+mn-ea"/>
                <a:cs typeface="+mn-ea"/>
              </a:rPr>
              <a:t>根据该类图能否实现“查询张三共选的所有课程的名称”的功能？请分析实现过程。</a:t>
            </a:r>
            <a:endParaRPr lang="zh-CN" altLang="en-US" sz="2000" b="1" dirty="0">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43230" y="126809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一对一关联</a:t>
            </a:r>
            <a:r>
              <a:rPr kumimoji="1" lang="zh-CN" altLang="en-US" sz="2800" b="1" dirty="0"/>
              <a:t>关系</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03656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折角形 6"/>
          <p:cNvSpPr/>
          <p:nvPr>
            <p:custDataLst>
              <p:tags r:id="rId8"/>
            </p:custDataLst>
          </p:nvPr>
        </p:nvSpPr>
        <p:spPr bwMode="auto">
          <a:xfrm>
            <a:off x="473075" y="2040255"/>
            <a:ext cx="2891790" cy="3416300"/>
          </a:xfrm>
          <a:prstGeom prst="foldedCorner">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关联的方向</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关联的数量</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关联的属性</a:t>
            </a: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注意：关联属性的数据类型是？</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75000"/>
              </a:lnSpc>
              <a:spcBef>
                <a:spcPct val="20000"/>
              </a:spcBef>
              <a:spcAft>
                <a:spcPct val="0"/>
              </a:spcAft>
              <a:buClr>
                <a:schemeClr val="accent2"/>
              </a:buClr>
              <a:buSzTx/>
              <a:buFont typeface="Wingdings" panose="05000000000000000000" pitchFamily="2" charset="2"/>
              <a:buNone/>
              <a:defRPr/>
            </a:pP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63493" name="Group 19"/>
          <p:cNvGrpSpPr/>
          <p:nvPr/>
        </p:nvGrpSpPr>
        <p:grpSpPr>
          <a:xfrm>
            <a:off x="3511550" y="1697038"/>
            <a:ext cx="5072063" cy="1766887"/>
            <a:chOff x="602" y="847"/>
            <a:chExt cx="3195" cy="1187"/>
          </a:xfrm>
        </p:grpSpPr>
        <p:sp useBgFill="1">
          <p:nvSpPr>
            <p:cNvPr id="63494" name="AutoShape 3"/>
            <p:cNvSpPr/>
            <p:nvPr>
              <p:custDataLst>
                <p:tags r:id="rId9"/>
              </p:custDataLst>
            </p:nvPr>
          </p:nvSpPr>
          <p:spPr>
            <a:xfrm>
              <a:off x="1738" y="847"/>
              <a:ext cx="1130"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Country</a:t>
              </a:r>
              <a:endParaRPr lang="en-US" altLang="zh-CN" sz="2800" b="1" dirty="0">
                <a:latin typeface="Arial" panose="020B0604020202020204" pitchFamily="34" charset="0"/>
              </a:endParaRPr>
            </a:p>
          </p:txBody>
        </p:sp>
        <p:sp useBgFill="1">
          <p:nvSpPr>
            <p:cNvPr id="63495" name="AutoShape 4"/>
            <p:cNvSpPr/>
            <p:nvPr>
              <p:custDataLst>
                <p:tags r:id="rId10"/>
              </p:custDataLst>
            </p:nvPr>
          </p:nvSpPr>
          <p:spPr>
            <a:xfrm>
              <a:off x="602" y="1650"/>
              <a:ext cx="1558"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Government</a:t>
              </a:r>
              <a:endParaRPr lang="en-US" altLang="zh-CN" sz="2800" b="1" dirty="0">
                <a:latin typeface="Arial" panose="020B0604020202020204" pitchFamily="34" charset="0"/>
              </a:endParaRPr>
            </a:p>
          </p:txBody>
        </p:sp>
        <p:sp>
          <p:nvSpPr>
            <p:cNvPr id="63496" name="Line 5"/>
            <p:cNvSpPr/>
            <p:nvPr>
              <p:custDataLst>
                <p:tags r:id="rId11"/>
              </p:custDataLst>
            </p:nvPr>
          </p:nvSpPr>
          <p:spPr>
            <a:xfrm flipV="1">
              <a:off x="1200" y="1152"/>
              <a:ext cx="0" cy="480"/>
            </a:xfrm>
            <a:prstGeom prst="line">
              <a:avLst/>
            </a:prstGeom>
            <a:ln w="19050" cap="flat" cmpd="sng">
              <a:solidFill>
                <a:schemeClr val="tx1"/>
              </a:solidFill>
              <a:prstDash val="solid"/>
              <a:round/>
              <a:headEnd type="arrow" w="med" len="med"/>
              <a:tailEnd type="none" w="med" len="med"/>
            </a:ln>
          </p:spPr>
        </p:sp>
        <p:sp>
          <p:nvSpPr>
            <p:cNvPr id="63497" name="Rectangle 6"/>
            <p:cNvSpPr/>
            <p:nvPr>
              <p:custDataLst>
                <p:tags r:id="rId12"/>
              </p:custDataLst>
            </p:nvPr>
          </p:nvSpPr>
          <p:spPr>
            <a:xfrm>
              <a:off x="2880" y="1392"/>
              <a:ext cx="632" cy="250"/>
            </a:xfrm>
            <a:prstGeom prst="rect">
              <a:avLst/>
            </a:prstGeom>
            <a:noFill/>
            <a:ln w="9525">
              <a:noFill/>
            </a:ln>
          </p:spPr>
          <p:txBody>
            <a:bodyPr wrap="none" anchor="t" anchorCtr="0">
              <a:spAutoFit/>
            </a:bodyPr>
            <a:p>
              <a:r>
                <a:rPr lang="en-US" altLang="zh-CN" sz="2000" dirty="0">
                  <a:latin typeface="Arial" panose="020B0604020202020204" pitchFamily="34" charset="0"/>
                </a:rPr>
                <a:t>-capital</a:t>
              </a:r>
              <a:endParaRPr lang="zh-CN" altLang="en-US" sz="2000" dirty="0">
                <a:latin typeface="Arial" panose="020B0604020202020204" pitchFamily="34" charset="0"/>
                <a:ea typeface="宋体" panose="02010600030101010101" pitchFamily="2" charset="-122"/>
              </a:endParaRPr>
            </a:p>
          </p:txBody>
        </p:sp>
        <p:sp useBgFill="1">
          <p:nvSpPr>
            <p:cNvPr id="63498" name="AutoShape 7"/>
            <p:cNvSpPr/>
            <p:nvPr>
              <p:custDataLst>
                <p:tags r:id="rId13"/>
              </p:custDataLst>
            </p:nvPr>
          </p:nvSpPr>
          <p:spPr>
            <a:xfrm>
              <a:off x="2880" y="1632"/>
              <a:ext cx="917"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Capital</a:t>
              </a:r>
              <a:endParaRPr lang="en-US" altLang="zh-CN" sz="2800" b="1" dirty="0">
                <a:latin typeface="Arial" panose="020B0604020202020204" pitchFamily="34" charset="0"/>
              </a:endParaRPr>
            </a:p>
          </p:txBody>
        </p:sp>
        <p:sp>
          <p:nvSpPr>
            <p:cNvPr id="63499" name="Line 8"/>
            <p:cNvSpPr/>
            <p:nvPr>
              <p:custDataLst>
                <p:tags r:id="rId14"/>
              </p:custDataLst>
            </p:nvPr>
          </p:nvSpPr>
          <p:spPr>
            <a:xfrm flipH="1" flipV="1">
              <a:off x="3498" y="1200"/>
              <a:ext cx="0" cy="432"/>
            </a:xfrm>
            <a:prstGeom prst="line">
              <a:avLst/>
            </a:prstGeom>
            <a:ln w="19050" cap="flat" cmpd="sng">
              <a:solidFill>
                <a:schemeClr val="tx1"/>
              </a:solidFill>
              <a:prstDash val="solid"/>
              <a:round/>
              <a:headEnd type="arrow" w="med" len="med"/>
              <a:tailEnd type="none" w="med" len="med"/>
            </a:ln>
          </p:spPr>
        </p:sp>
        <p:sp>
          <p:nvSpPr>
            <p:cNvPr id="63500" name="Rectangle 9"/>
            <p:cNvSpPr/>
            <p:nvPr>
              <p:custDataLst>
                <p:tags r:id="rId15"/>
              </p:custDataLst>
            </p:nvPr>
          </p:nvSpPr>
          <p:spPr>
            <a:xfrm>
              <a:off x="1488" y="1392"/>
              <a:ext cx="1013" cy="250"/>
            </a:xfrm>
            <a:prstGeom prst="rect">
              <a:avLst/>
            </a:prstGeom>
            <a:noFill/>
            <a:ln w="9525">
              <a:noFill/>
            </a:ln>
          </p:spPr>
          <p:txBody>
            <a:bodyPr wrap="none" anchor="t" anchorCtr="0">
              <a:spAutoFit/>
            </a:bodyPr>
            <a:p>
              <a:r>
                <a:rPr lang="en-US" altLang="zh-CN" sz="2000" dirty="0">
                  <a:latin typeface="Arial" panose="020B0604020202020204" pitchFamily="34" charset="0"/>
                </a:rPr>
                <a:t>-government</a:t>
              </a:r>
              <a:endParaRPr lang="zh-CN" altLang="en-US" sz="2000" dirty="0">
                <a:latin typeface="Arial" panose="020B0604020202020204" pitchFamily="34" charset="0"/>
                <a:ea typeface="宋体" panose="02010600030101010101" pitchFamily="2" charset="-122"/>
              </a:endParaRPr>
            </a:p>
          </p:txBody>
        </p:sp>
        <p:sp>
          <p:nvSpPr>
            <p:cNvPr id="63501" name="Line 10"/>
            <p:cNvSpPr/>
            <p:nvPr>
              <p:custDataLst>
                <p:tags r:id="rId16"/>
              </p:custDataLst>
            </p:nvPr>
          </p:nvSpPr>
          <p:spPr>
            <a:xfrm flipH="1" flipV="1">
              <a:off x="2884" y="1097"/>
              <a:ext cx="614" cy="103"/>
            </a:xfrm>
            <a:prstGeom prst="line">
              <a:avLst/>
            </a:prstGeom>
            <a:ln w="19050" cap="flat" cmpd="sng">
              <a:solidFill>
                <a:schemeClr val="tx1"/>
              </a:solidFill>
              <a:prstDash val="solid"/>
              <a:round/>
              <a:headEnd type="none" w="med" len="med"/>
              <a:tailEnd type="none" w="med" len="med"/>
            </a:ln>
          </p:spPr>
        </p:sp>
        <p:sp>
          <p:nvSpPr>
            <p:cNvPr id="63502" name="Line 11"/>
            <p:cNvSpPr/>
            <p:nvPr>
              <p:custDataLst>
                <p:tags r:id="rId17"/>
              </p:custDataLst>
            </p:nvPr>
          </p:nvSpPr>
          <p:spPr>
            <a:xfrm flipV="1">
              <a:off x="1200" y="1085"/>
              <a:ext cx="538" cy="67"/>
            </a:xfrm>
            <a:prstGeom prst="line">
              <a:avLst/>
            </a:prstGeom>
            <a:ln w="19050" cap="flat" cmpd="sng">
              <a:solidFill>
                <a:schemeClr val="tx1"/>
              </a:solidFill>
              <a:prstDash val="solid"/>
              <a:round/>
              <a:headEnd type="none" w="med" len="med"/>
              <a:tailEnd type="none" w="med" len="med"/>
            </a:ln>
          </p:spPr>
        </p:sp>
        <p:sp>
          <p:nvSpPr>
            <p:cNvPr id="63503" name="Rectangle 12"/>
            <p:cNvSpPr/>
            <p:nvPr>
              <p:custDataLst>
                <p:tags r:id="rId18"/>
              </p:custDataLst>
            </p:nvPr>
          </p:nvSpPr>
          <p:spPr>
            <a:xfrm>
              <a:off x="3109" y="960"/>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4" name="Rectangle 13"/>
            <p:cNvSpPr/>
            <p:nvPr>
              <p:custDataLst>
                <p:tags r:id="rId19"/>
              </p:custDataLst>
            </p:nvPr>
          </p:nvSpPr>
          <p:spPr>
            <a:xfrm>
              <a:off x="1345" y="97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5" name="Rectangle 14"/>
            <p:cNvSpPr/>
            <p:nvPr>
              <p:custDataLst>
                <p:tags r:id="rId20"/>
              </p:custDataLst>
            </p:nvPr>
          </p:nvSpPr>
          <p:spPr>
            <a:xfrm>
              <a:off x="912" y="139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6" name="Rectangle 15"/>
            <p:cNvSpPr/>
            <p:nvPr>
              <p:custDataLst>
                <p:tags r:id="rId21"/>
              </p:custDataLst>
            </p:nvPr>
          </p:nvSpPr>
          <p:spPr>
            <a:xfrm>
              <a:off x="3492" y="139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grpSp>
      <p:sp>
        <p:nvSpPr>
          <p:cNvPr id="10" name="标题 1"/>
          <p:cNvSpPr>
            <a:spLocks noGrp="1"/>
          </p:cNvSpPr>
          <p:nvPr>
            <p:custDataLst>
              <p:tags r:id="rId22"/>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10</a:t>
            </a:r>
            <a:r>
              <a:rPr kumimoji="1" lang="en-US" altLang="zh-CN" sz="2400" dirty="0">
                <a:solidFill>
                  <a:schemeClr val="bg1"/>
                </a:solidFill>
              </a:rPr>
              <a:t>/15</a:t>
            </a:r>
            <a:endParaRPr kumimoji="1" lang="en-US" altLang="zh-CN" sz="2400" dirty="0">
              <a:solidFill>
                <a:schemeClr val="bg1"/>
              </a:solidFill>
            </a:endParaRPr>
          </a:p>
        </p:txBody>
      </p:sp>
      <p:sp>
        <p:nvSpPr>
          <p:cNvPr id="9" name="文本框 8"/>
          <p:cNvSpPr txBox="1"/>
          <p:nvPr/>
        </p:nvSpPr>
        <p:spPr>
          <a:xfrm>
            <a:off x="3660775" y="3650615"/>
            <a:ext cx="5251450" cy="2719705"/>
          </a:xfrm>
          <a:prstGeom prst="rect">
            <a:avLst/>
          </a:prstGeom>
          <a:noFill/>
        </p:spPr>
        <p:txBody>
          <a:bodyPr wrap="square" rtlCol="0" anchor="t">
            <a:noAutofit/>
          </a:bodyPr>
          <a:p>
            <a:pPr algn="just">
              <a:lnSpc>
                <a:spcPct val="120000"/>
              </a:lnSpc>
              <a:spcBef>
                <a:spcPts val="0"/>
              </a:spcBef>
              <a:spcAft>
                <a:spcPts val="0"/>
              </a:spcAft>
            </a:pPr>
            <a:r>
              <a:rPr lang="zh-CN" altLang="en-US" sz="2400" b="1">
                <a:latin typeface="+mn-ea"/>
                <a:cs typeface="+mn-ea"/>
              </a:rPr>
              <a:t>在一对一关联关系中，一个类</a:t>
            </a:r>
            <a:r>
              <a:rPr lang="en-US" altLang="zh-CN" sz="2400" b="1">
                <a:latin typeface="+mn-ea"/>
                <a:cs typeface="+mn-ea"/>
              </a:rPr>
              <a:t>A(Country)</a:t>
            </a:r>
            <a:r>
              <a:rPr lang="zh-CN" altLang="en-US" sz="2400" b="1">
                <a:latin typeface="+mn-ea"/>
                <a:cs typeface="+mn-ea"/>
              </a:rPr>
              <a:t>的对象与另一个类</a:t>
            </a:r>
            <a:r>
              <a:rPr lang="en-US" altLang="zh-CN" sz="2400" b="1">
                <a:latin typeface="+mn-ea"/>
                <a:cs typeface="+mn-ea"/>
              </a:rPr>
              <a:t>B(Capital)</a:t>
            </a:r>
            <a:r>
              <a:rPr lang="zh-CN" altLang="en-US" sz="2400" b="1">
                <a:latin typeface="+mn-ea"/>
                <a:cs typeface="+mn-ea"/>
              </a:rPr>
              <a:t>的对象之间存在一对一关联关系，关联的属性是单数</a:t>
            </a:r>
            <a:r>
              <a:rPr lang="en-US" altLang="zh-CN" sz="2400" b="1">
                <a:latin typeface="+mn-ea"/>
                <a:cs typeface="+mn-ea"/>
              </a:rPr>
              <a:t>b(capital)</a:t>
            </a:r>
            <a:r>
              <a:rPr lang="zh-CN" altLang="en-US" sz="2400" b="1">
                <a:latin typeface="+mn-ea"/>
                <a:cs typeface="+mn-ea"/>
              </a:rPr>
              <a:t>，</a:t>
            </a:r>
            <a:r>
              <a:rPr lang="en-US" altLang="zh-CN" sz="2400" b="1">
                <a:latin typeface="+mn-ea"/>
                <a:cs typeface="+mn-ea"/>
              </a:rPr>
              <a:t>b</a:t>
            </a:r>
            <a:r>
              <a:rPr lang="zh-CN" altLang="en-US" sz="2400" b="1">
                <a:latin typeface="+mn-ea"/>
                <a:cs typeface="+mn-ea"/>
              </a:rPr>
              <a:t>的数据类型是</a:t>
            </a:r>
            <a:r>
              <a:rPr lang="en-US" altLang="zh-CN" sz="2400" b="1">
                <a:latin typeface="+mn-ea"/>
                <a:cs typeface="+mn-ea"/>
              </a:rPr>
              <a:t>B</a:t>
            </a:r>
            <a:r>
              <a:rPr lang="zh-CN" altLang="en-US" sz="2400" b="1">
                <a:latin typeface="+mn-ea"/>
                <a:cs typeface="+mn-ea"/>
              </a:rPr>
              <a:t>，见上例。</a:t>
            </a:r>
            <a:endParaRPr lang="zh-CN" altLang="en-US" sz="24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43230" y="126809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一对多关联</a:t>
            </a:r>
            <a:r>
              <a:rPr kumimoji="1" lang="zh-CN" altLang="en-US" sz="2800" b="1" dirty="0"/>
              <a:t>关系</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03656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折角形 6"/>
          <p:cNvSpPr/>
          <p:nvPr>
            <p:custDataLst>
              <p:tags r:id="rId8"/>
            </p:custDataLst>
          </p:nvPr>
        </p:nvSpPr>
        <p:spPr bwMode="auto">
          <a:xfrm>
            <a:off x="473075" y="2553335"/>
            <a:ext cx="2555240" cy="3416300"/>
          </a:xfrm>
          <a:prstGeom prst="foldedCorner">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关联的方向</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关联的数量</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关联的属性</a:t>
            </a: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注意：关联属性的数据类型是？</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75000"/>
              </a:lnSpc>
              <a:spcBef>
                <a:spcPct val="20000"/>
              </a:spcBef>
              <a:spcAft>
                <a:spcPct val="0"/>
              </a:spcAft>
              <a:buClr>
                <a:schemeClr val="accent2"/>
              </a:buClr>
              <a:buSzTx/>
              <a:buFont typeface="Wingdings" panose="05000000000000000000" pitchFamily="2" charset="2"/>
              <a:buNone/>
              <a:defRPr/>
            </a:pP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标题 1"/>
          <p:cNvSpPr>
            <a:spLocks noGrp="1"/>
          </p:cNvSpPr>
          <p:nvPr>
            <p:custDataLst>
              <p:tags r:id="rId9"/>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11/15</a:t>
            </a:r>
            <a:endParaRPr kumimoji="1" lang="en-US" altLang="zh-CN" sz="2400" dirty="0">
              <a:solidFill>
                <a:schemeClr val="bg1"/>
              </a:solidFill>
            </a:endParaRPr>
          </a:p>
        </p:txBody>
      </p:sp>
      <p:sp>
        <p:nvSpPr>
          <p:cNvPr id="9" name="文本框 8"/>
          <p:cNvSpPr txBox="1"/>
          <p:nvPr/>
        </p:nvSpPr>
        <p:spPr>
          <a:xfrm>
            <a:off x="3153410" y="2887345"/>
            <a:ext cx="5686425" cy="2970530"/>
          </a:xfrm>
          <a:prstGeom prst="rect">
            <a:avLst/>
          </a:prstGeom>
          <a:noFill/>
        </p:spPr>
        <p:txBody>
          <a:bodyPr wrap="square" rtlCol="0" anchor="t">
            <a:noAutofit/>
          </a:bodyPr>
          <a:p>
            <a:pPr algn="just">
              <a:lnSpc>
                <a:spcPct val="120000"/>
              </a:lnSpc>
              <a:spcBef>
                <a:spcPts val="0"/>
              </a:spcBef>
              <a:spcAft>
                <a:spcPts val="0"/>
              </a:spcAft>
            </a:pPr>
            <a:r>
              <a:rPr lang="zh-CN" altLang="en-US" sz="2400" b="1">
                <a:latin typeface="+mn-ea"/>
                <a:cs typeface="+mn-ea"/>
              </a:rPr>
              <a:t>在一对多的关联关系中，一个类</a:t>
            </a:r>
            <a:r>
              <a:rPr lang="en-US" altLang="zh-CN" sz="2400" b="1">
                <a:latin typeface="+mn-ea"/>
                <a:cs typeface="+mn-ea"/>
              </a:rPr>
              <a:t>A(Client)</a:t>
            </a:r>
            <a:r>
              <a:rPr lang="zh-CN" altLang="en-US" sz="2400" b="1">
                <a:latin typeface="+mn-ea"/>
                <a:cs typeface="+mn-ea"/>
              </a:rPr>
              <a:t>的对象与另一个类</a:t>
            </a:r>
            <a:r>
              <a:rPr lang="en-US" altLang="zh-CN" sz="2400" b="1">
                <a:latin typeface="+mn-ea"/>
                <a:cs typeface="+mn-ea"/>
              </a:rPr>
              <a:t>B(BankAccount)</a:t>
            </a:r>
            <a:r>
              <a:rPr lang="zh-CN" altLang="en-US" sz="2400" b="1">
                <a:latin typeface="+mn-ea"/>
                <a:cs typeface="+mn-ea"/>
              </a:rPr>
              <a:t>的对象之间存在一对多关系，关联的属性是复数</a:t>
            </a:r>
            <a:r>
              <a:rPr lang="en-US" altLang="zh-CN" sz="2400" b="1">
                <a:latin typeface="+mn-ea"/>
                <a:cs typeface="+mn-ea"/>
              </a:rPr>
              <a:t>bs(bankAccounts)</a:t>
            </a:r>
            <a:r>
              <a:rPr lang="zh-CN" altLang="en-US" sz="2400" b="1">
                <a:latin typeface="+mn-ea"/>
                <a:cs typeface="+mn-ea"/>
              </a:rPr>
              <a:t>，</a:t>
            </a:r>
            <a:r>
              <a:rPr lang="en-US" altLang="zh-CN" sz="2400" b="1">
                <a:latin typeface="+mn-ea"/>
                <a:cs typeface="+mn-ea"/>
              </a:rPr>
              <a:t>bs </a:t>
            </a:r>
            <a:r>
              <a:rPr lang="zh-CN" altLang="en-US" sz="2400" b="1">
                <a:latin typeface="+mn-ea"/>
                <a:cs typeface="+mn-ea"/>
              </a:rPr>
              <a:t>的数据类型是数组或向量，</a:t>
            </a:r>
            <a:r>
              <a:rPr lang="en-US" altLang="zh-CN" sz="2400" b="1">
                <a:latin typeface="+mn-ea"/>
                <a:cs typeface="+mn-ea"/>
              </a:rPr>
              <a:t>bs</a:t>
            </a:r>
            <a:r>
              <a:rPr lang="en-US" altLang="zh-CN" sz="2400" b="1">
                <a:latin typeface="+mn-ea"/>
                <a:cs typeface="+mn-ea"/>
                <a:sym typeface="+mn-ea"/>
              </a:rPr>
              <a:t> </a:t>
            </a:r>
            <a:r>
              <a:rPr lang="zh-CN" altLang="en-US" sz="2400" b="1">
                <a:latin typeface="+mn-ea"/>
                <a:cs typeface="+mn-ea"/>
                <a:sym typeface="+mn-ea"/>
              </a:rPr>
              <a:t>中元素的数据类型为</a:t>
            </a:r>
            <a:r>
              <a:rPr lang="en-US" altLang="zh-CN" sz="2400" b="1">
                <a:latin typeface="+mn-ea"/>
                <a:cs typeface="+mn-ea"/>
              </a:rPr>
              <a:t> B</a:t>
            </a:r>
            <a:r>
              <a:rPr lang="zh-CN" altLang="en-US" sz="2400" b="1">
                <a:latin typeface="+mn-ea"/>
                <a:cs typeface="+mn-ea"/>
              </a:rPr>
              <a:t>，见上例。</a:t>
            </a:r>
            <a:endParaRPr lang="zh-CN" altLang="en-US" sz="2400" b="1">
              <a:latin typeface="+mn-ea"/>
              <a:cs typeface="+mn-ea"/>
            </a:endParaRPr>
          </a:p>
        </p:txBody>
      </p:sp>
      <p:grpSp>
        <p:nvGrpSpPr>
          <p:cNvPr id="65541" name="Group 12"/>
          <p:cNvGrpSpPr/>
          <p:nvPr/>
        </p:nvGrpSpPr>
        <p:grpSpPr>
          <a:xfrm>
            <a:off x="1746250" y="1725613"/>
            <a:ext cx="6788150" cy="865187"/>
            <a:chOff x="288" y="2208"/>
            <a:chExt cx="4541" cy="599"/>
          </a:xfrm>
        </p:grpSpPr>
        <p:sp useBgFill="1">
          <p:nvSpPr>
            <p:cNvPr id="65542" name="AutoShape 3"/>
            <p:cNvSpPr/>
            <p:nvPr>
              <p:custDataLst>
                <p:tags r:id="rId10"/>
              </p:custDataLst>
            </p:nvPr>
          </p:nvSpPr>
          <p:spPr>
            <a:xfrm>
              <a:off x="288" y="2352"/>
              <a:ext cx="867"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Client</a:t>
              </a:r>
              <a:endParaRPr lang="en-US" altLang="zh-CN" sz="2800" b="1" dirty="0">
                <a:latin typeface="Arial" panose="020B0604020202020204" pitchFamily="34" charset="0"/>
              </a:endParaRPr>
            </a:p>
          </p:txBody>
        </p:sp>
        <p:sp>
          <p:nvSpPr>
            <p:cNvPr id="65543" name="Line 4"/>
            <p:cNvSpPr/>
            <p:nvPr>
              <p:custDataLst>
                <p:tags r:id="rId11"/>
              </p:custDataLst>
            </p:nvPr>
          </p:nvSpPr>
          <p:spPr>
            <a:xfrm flipH="1" flipV="1">
              <a:off x="1155" y="2544"/>
              <a:ext cx="1994" cy="0"/>
            </a:xfrm>
            <a:prstGeom prst="line">
              <a:avLst/>
            </a:prstGeom>
            <a:ln w="19050" cap="flat" cmpd="sng">
              <a:solidFill>
                <a:schemeClr val="tx1"/>
              </a:solidFill>
              <a:prstDash val="solid"/>
              <a:round/>
              <a:headEnd type="arrow" w="med" len="med"/>
              <a:tailEnd type="none" w="med" len="med"/>
            </a:ln>
          </p:spPr>
        </p:sp>
        <p:sp useBgFill="1">
          <p:nvSpPr>
            <p:cNvPr id="65544" name="AutoShape 5"/>
            <p:cNvSpPr/>
            <p:nvPr>
              <p:custDataLst>
                <p:tags r:id="rId12"/>
              </p:custDataLst>
            </p:nvPr>
          </p:nvSpPr>
          <p:spPr>
            <a:xfrm>
              <a:off x="3149" y="2352"/>
              <a:ext cx="1680"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BankAccount</a:t>
              </a:r>
              <a:endParaRPr lang="en-US" altLang="zh-CN" sz="2800" b="1" dirty="0">
                <a:latin typeface="Arial" panose="020B0604020202020204" pitchFamily="34" charset="0"/>
              </a:endParaRPr>
            </a:p>
          </p:txBody>
        </p:sp>
        <p:sp>
          <p:nvSpPr>
            <p:cNvPr id="65545" name="Rectangle 6"/>
            <p:cNvSpPr/>
            <p:nvPr>
              <p:custDataLst>
                <p:tags r:id="rId13"/>
              </p:custDataLst>
            </p:nvPr>
          </p:nvSpPr>
          <p:spPr>
            <a:xfrm>
              <a:off x="1895" y="2557"/>
              <a:ext cx="1174" cy="250"/>
            </a:xfrm>
            <a:prstGeom prst="rect">
              <a:avLst/>
            </a:prstGeom>
            <a:noFill/>
            <a:ln w="9525">
              <a:noFill/>
            </a:ln>
          </p:spPr>
          <p:txBody>
            <a:bodyPr wrap="none" anchor="t" anchorCtr="0">
              <a:spAutoFit/>
            </a:bodyPr>
            <a:p>
              <a:r>
                <a:rPr lang="en-US" altLang="zh-CN" sz="2000" dirty="0">
                  <a:latin typeface="Arial" panose="020B0604020202020204" pitchFamily="34" charset="0"/>
                </a:rPr>
                <a:t>-bankAccounts</a:t>
              </a:r>
              <a:endParaRPr lang="en-US" altLang="zh-CN" sz="2000" dirty="0">
                <a:latin typeface="Arial" panose="020B0604020202020204" pitchFamily="34" charset="0"/>
              </a:endParaRPr>
            </a:p>
          </p:txBody>
        </p:sp>
        <p:sp>
          <p:nvSpPr>
            <p:cNvPr id="65546" name="Rectangle 7"/>
            <p:cNvSpPr/>
            <p:nvPr>
              <p:custDataLst>
                <p:tags r:id="rId14"/>
              </p:custDataLst>
            </p:nvPr>
          </p:nvSpPr>
          <p:spPr>
            <a:xfrm>
              <a:off x="1680" y="2208"/>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5547" name="Rectangle 8"/>
            <p:cNvSpPr/>
            <p:nvPr>
              <p:custDataLst>
                <p:tags r:id="rId15"/>
              </p:custDataLst>
            </p:nvPr>
          </p:nvSpPr>
          <p:spPr>
            <a:xfrm>
              <a:off x="2714" y="2262"/>
              <a:ext cx="35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03860" y="118999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多对多关联</a:t>
            </a:r>
            <a:r>
              <a:rPr kumimoji="1" lang="zh-CN" altLang="en-US" sz="2800" b="1" dirty="0"/>
              <a:t>关系</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925955"/>
            <a:ext cx="803656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kumimoji="1" lang="zh-CN" altLang="en-US" sz="2400" dirty="0"/>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折角形 6"/>
          <p:cNvSpPr/>
          <p:nvPr>
            <p:custDataLst>
              <p:tags r:id="rId8"/>
            </p:custDataLst>
          </p:nvPr>
        </p:nvSpPr>
        <p:spPr bwMode="auto">
          <a:xfrm>
            <a:off x="473075" y="2839085"/>
            <a:ext cx="2555240" cy="2773680"/>
          </a:xfrm>
          <a:prstGeom prst="foldedCorner">
            <a:avLst/>
          </a:prstGeom>
          <a:noFill/>
          <a:ln w="12700" cap="flat" cmpd="sng" algn="ctr">
            <a:solidFill>
              <a:schemeClr val="hlink"/>
            </a:solidFill>
            <a:prstDash val="sysDot"/>
            <a:round/>
            <a:headEnd type="none" w="med" len="med"/>
            <a:tailEnd type="none" w="med" len="med"/>
          </a:ln>
          <a:effectLst/>
        </p:spPr>
        <p:txBody>
          <a:bodyPr/>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关联的方向</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关联的数量</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 </a:t>
            </a: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关联的属性</a:t>
            </a: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注意：关联属性的数据类型是？</a:t>
            </a:r>
            <a:endParaRPr kumimoji="0" lang="en-US" altLang="zh-CN"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75000"/>
              </a:lnSpc>
              <a:spcBef>
                <a:spcPct val="20000"/>
              </a:spcBef>
              <a:spcAft>
                <a:spcPct val="0"/>
              </a:spcAft>
              <a:buClr>
                <a:schemeClr val="accent2"/>
              </a:buClr>
              <a:buSzTx/>
              <a:buFont typeface="Wingdings" panose="05000000000000000000" pitchFamily="2" charset="2"/>
              <a:buNone/>
              <a:defRPr/>
            </a:pP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标题 1"/>
          <p:cNvSpPr>
            <a:spLocks noGrp="1"/>
          </p:cNvSpPr>
          <p:nvPr>
            <p:custDataLst>
              <p:tags r:id="rId9"/>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12/15</a:t>
            </a:r>
            <a:endParaRPr kumimoji="1" lang="en-US" altLang="zh-CN" sz="2400" dirty="0">
              <a:solidFill>
                <a:schemeClr val="bg1"/>
              </a:solidFill>
            </a:endParaRPr>
          </a:p>
        </p:txBody>
      </p:sp>
      <p:sp>
        <p:nvSpPr>
          <p:cNvPr id="9" name="文本框 8"/>
          <p:cNvSpPr txBox="1"/>
          <p:nvPr/>
        </p:nvSpPr>
        <p:spPr>
          <a:xfrm>
            <a:off x="3153410" y="2838450"/>
            <a:ext cx="5686425" cy="2988945"/>
          </a:xfrm>
          <a:prstGeom prst="rect">
            <a:avLst/>
          </a:prstGeom>
          <a:noFill/>
        </p:spPr>
        <p:txBody>
          <a:bodyPr wrap="square" rtlCol="0" anchor="t">
            <a:noAutofit/>
          </a:bodyPr>
          <a:p>
            <a:pPr marL="457200" indent="-457200" algn="just">
              <a:lnSpc>
                <a:spcPct val="120000"/>
              </a:lnSpc>
              <a:spcBef>
                <a:spcPts val="0"/>
              </a:spcBef>
              <a:spcAft>
                <a:spcPts val="0"/>
              </a:spcAft>
              <a:buFont typeface="Arial" panose="020B0604020202020204" pitchFamily="34" charset="0"/>
              <a:buChar char="•"/>
            </a:pPr>
            <a:r>
              <a:rPr sz="2400" b="1">
                <a:latin typeface="+mn-ea"/>
                <a:cs typeface="+mn-ea"/>
              </a:rPr>
              <a:t>在类A和类B之间的多对多关联中，类A的一个</a:t>
            </a:r>
            <a:r>
              <a:rPr lang="zh-CN" sz="2400" b="1">
                <a:latin typeface="+mn-ea"/>
                <a:cs typeface="+mn-ea"/>
              </a:rPr>
              <a:t>对象</a:t>
            </a:r>
            <a:r>
              <a:rPr sz="2400" b="1">
                <a:latin typeface="+mn-ea"/>
                <a:cs typeface="+mn-ea"/>
              </a:rPr>
              <a:t>可以与类B的多个</a:t>
            </a:r>
            <a:r>
              <a:rPr lang="zh-CN" sz="2400" b="1">
                <a:latin typeface="+mn-ea"/>
                <a:cs typeface="+mn-ea"/>
              </a:rPr>
              <a:t>对象</a:t>
            </a:r>
            <a:r>
              <a:rPr sz="2400" b="1">
                <a:latin typeface="+mn-ea"/>
                <a:cs typeface="+mn-ea"/>
              </a:rPr>
              <a:t>相关联，同时类B的一个</a:t>
            </a:r>
            <a:r>
              <a:rPr lang="zh-CN" sz="2400" b="1">
                <a:latin typeface="+mn-ea"/>
                <a:cs typeface="+mn-ea"/>
              </a:rPr>
              <a:t>对象</a:t>
            </a:r>
            <a:r>
              <a:rPr sz="2400" b="1">
                <a:latin typeface="+mn-ea"/>
                <a:cs typeface="+mn-ea"/>
              </a:rPr>
              <a:t>也可以与类A的多个</a:t>
            </a:r>
            <a:r>
              <a:rPr lang="zh-CN" sz="2400" b="1">
                <a:latin typeface="+mn-ea"/>
                <a:cs typeface="+mn-ea"/>
              </a:rPr>
              <a:t>对象</a:t>
            </a:r>
            <a:r>
              <a:rPr sz="2400" b="1">
                <a:latin typeface="+mn-ea"/>
                <a:cs typeface="+mn-ea"/>
              </a:rPr>
              <a:t>相关联</a:t>
            </a:r>
            <a:r>
              <a:rPr lang="zh-CN" sz="2400" b="1">
                <a:latin typeface="+mn-ea"/>
                <a:cs typeface="+mn-ea"/>
              </a:rPr>
              <a:t>，关联属性均是复数，</a:t>
            </a:r>
            <a:r>
              <a:rPr lang="zh-CN" altLang="en-US" sz="2400" b="1">
                <a:latin typeface="+mn-ea"/>
                <a:cs typeface="+mn-ea"/>
              </a:rPr>
              <a:t>见上例。</a:t>
            </a:r>
            <a:endParaRPr lang="zh-CN" altLang="en-US" sz="2400" b="1">
              <a:latin typeface="+mn-ea"/>
              <a:cs typeface="+mn-ea"/>
            </a:endParaRPr>
          </a:p>
          <a:p>
            <a:pPr marL="457200" indent="-457200" algn="just">
              <a:lnSpc>
                <a:spcPct val="120000"/>
              </a:lnSpc>
              <a:spcBef>
                <a:spcPts val="0"/>
              </a:spcBef>
              <a:spcAft>
                <a:spcPts val="0"/>
              </a:spcAft>
              <a:buFont typeface="Arial" panose="020B0604020202020204" pitchFamily="34" charset="0"/>
              <a:buChar char="•"/>
            </a:pPr>
            <a:r>
              <a:rPr lang="en-US" altLang="zh-CN" sz="2400" b="1">
                <a:latin typeface="+mn-ea"/>
                <a:cs typeface="+mn-ea"/>
              </a:rPr>
              <a:t>students</a:t>
            </a:r>
            <a:r>
              <a:rPr lang="zh-CN" altLang="en-US" sz="2400" b="1">
                <a:latin typeface="+mn-ea"/>
                <a:cs typeface="+mn-ea"/>
              </a:rPr>
              <a:t>及其包含元素的数据</a:t>
            </a:r>
            <a:r>
              <a:rPr lang="zh-CN" altLang="en-US" sz="2400" b="1">
                <a:latin typeface="+mn-ea"/>
                <a:cs typeface="+mn-ea"/>
              </a:rPr>
              <a:t>类型？</a:t>
            </a:r>
            <a:endParaRPr lang="zh-CN" altLang="en-US" sz="2400" b="1">
              <a:latin typeface="+mn-ea"/>
              <a:cs typeface="+mn-ea"/>
            </a:endParaRPr>
          </a:p>
          <a:p>
            <a:pPr marL="457200" indent="-457200" algn="just">
              <a:lnSpc>
                <a:spcPct val="120000"/>
              </a:lnSpc>
              <a:spcBef>
                <a:spcPts val="0"/>
              </a:spcBef>
              <a:spcAft>
                <a:spcPts val="0"/>
              </a:spcAft>
              <a:buFont typeface="Arial" panose="020B0604020202020204" pitchFamily="34" charset="0"/>
              <a:buChar char="•"/>
            </a:pPr>
            <a:r>
              <a:rPr lang="en-US" altLang="zh-CN" sz="2400" b="1">
                <a:latin typeface="+mn-ea"/>
                <a:cs typeface="+mn-ea"/>
              </a:rPr>
              <a:t>courses</a:t>
            </a:r>
            <a:r>
              <a:rPr lang="zh-CN" altLang="en-US" sz="2400" b="1">
                <a:latin typeface="+mn-ea"/>
                <a:cs typeface="+mn-ea"/>
                <a:sym typeface="+mn-ea"/>
              </a:rPr>
              <a:t>及其包含元素</a:t>
            </a:r>
            <a:r>
              <a:rPr lang="zh-CN" altLang="en-US" sz="2400" b="1">
                <a:latin typeface="+mn-ea"/>
                <a:cs typeface="+mn-ea"/>
              </a:rPr>
              <a:t>的数据</a:t>
            </a:r>
            <a:r>
              <a:rPr lang="zh-CN" altLang="en-US" sz="2400" b="1">
                <a:latin typeface="+mn-ea"/>
                <a:cs typeface="+mn-ea"/>
              </a:rPr>
              <a:t>类型？</a:t>
            </a:r>
            <a:endParaRPr lang="zh-CN" altLang="en-US" sz="2400" b="1">
              <a:latin typeface="+mn-ea"/>
              <a:cs typeface="+mn-ea"/>
            </a:endParaRPr>
          </a:p>
          <a:p>
            <a:pPr marL="457200" indent="-457200" algn="just">
              <a:lnSpc>
                <a:spcPct val="120000"/>
              </a:lnSpc>
              <a:spcBef>
                <a:spcPts val="0"/>
              </a:spcBef>
              <a:spcAft>
                <a:spcPts val="0"/>
              </a:spcAft>
              <a:buFont typeface="Arial" panose="020B0604020202020204" pitchFamily="34" charset="0"/>
              <a:buChar char="•"/>
            </a:pPr>
            <a:endParaRPr lang="zh-CN" altLang="en-US" sz="2400" b="1">
              <a:latin typeface="+mn-ea"/>
              <a:cs typeface="+mn-ea"/>
            </a:endParaRPr>
          </a:p>
          <a:p>
            <a:pPr marL="457200" indent="-457200" algn="just">
              <a:buFont typeface="Arial" panose="020B0604020202020204" pitchFamily="34" charset="0"/>
              <a:buChar char="•"/>
            </a:pPr>
            <a:endParaRPr lang="zh-CN" altLang="en-US" sz="2400" b="1">
              <a:latin typeface="+mn-ea"/>
              <a:cs typeface="+mn-ea"/>
            </a:endParaRPr>
          </a:p>
        </p:txBody>
      </p:sp>
      <p:sp useBgFill="1">
        <p:nvSpPr>
          <p:cNvPr id="66565" name="AutoShape 3"/>
          <p:cNvSpPr/>
          <p:nvPr>
            <p:custDataLst>
              <p:tags r:id="rId10"/>
            </p:custDataLst>
          </p:nvPr>
        </p:nvSpPr>
        <p:spPr>
          <a:xfrm>
            <a:off x="687388" y="1911350"/>
            <a:ext cx="2133600" cy="609600"/>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Student</a:t>
            </a:r>
            <a:endParaRPr lang="en-US" altLang="zh-CN" sz="2800" b="1" dirty="0">
              <a:latin typeface="Arial" panose="020B0604020202020204" pitchFamily="34" charset="0"/>
            </a:endParaRPr>
          </a:p>
        </p:txBody>
      </p:sp>
      <p:sp useBgFill="1">
        <p:nvSpPr>
          <p:cNvPr id="66567" name="AutoShape 5"/>
          <p:cNvSpPr/>
          <p:nvPr>
            <p:custDataLst>
              <p:tags r:id="rId11"/>
            </p:custDataLst>
          </p:nvPr>
        </p:nvSpPr>
        <p:spPr>
          <a:xfrm>
            <a:off x="5487988" y="1911350"/>
            <a:ext cx="2667000" cy="609600"/>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Course</a:t>
            </a:r>
            <a:endParaRPr lang="en-US" altLang="zh-CN" sz="2800" b="1" dirty="0">
              <a:latin typeface="Arial" panose="020B0604020202020204" pitchFamily="34" charset="0"/>
            </a:endParaRPr>
          </a:p>
        </p:txBody>
      </p:sp>
      <p:sp>
        <p:nvSpPr>
          <p:cNvPr id="66568" name="Rectangle 6"/>
          <p:cNvSpPr/>
          <p:nvPr>
            <p:custDataLst>
              <p:tags r:id="rId12"/>
            </p:custDataLst>
          </p:nvPr>
        </p:nvSpPr>
        <p:spPr>
          <a:xfrm>
            <a:off x="2820988" y="2292350"/>
            <a:ext cx="1227137" cy="396875"/>
          </a:xfrm>
          <a:prstGeom prst="rect">
            <a:avLst/>
          </a:prstGeom>
          <a:noFill/>
          <a:ln w="9525">
            <a:noFill/>
          </a:ln>
        </p:spPr>
        <p:txBody>
          <a:bodyPr wrap="none" anchor="t" anchorCtr="0">
            <a:spAutoFit/>
          </a:bodyPr>
          <a:p>
            <a:r>
              <a:rPr lang="en-US" altLang="zh-CN" sz="2000" dirty="0">
                <a:latin typeface="Arial" panose="020B0604020202020204" pitchFamily="34" charset="0"/>
              </a:rPr>
              <a:t>-students</a:t>
            </a:r>
            <a:endParaRPr lang="zh-CN" altLang="en-US" sz="2000" dirty="0">
              <a:latin typeface="Arial" panose="020B0604020202020204" pitchFamily="34" charset="0"/>
              <a:ea typeface="宋体" panose="02010600030101010101" pitchFamily="2" charset="-122"/>
            </a:endParaRPr>
          </a:p>
        </p:txBody>
      </p:sp>
      <p:sp>
        <p:nvSpPr>
          <p:cNvPr id="66569" name="Rectangle 7"/>
          <p:cNvSpPr/>
          <p:nvPr>
            <p:custDataLst>
              <p:tags r:id="rId13"/>
            </p:custDataLst>
          </p:nvPr>
        </p:nvSpPr>
        <p:spPr>
          <a:xfrm>
            <a:off x="4268788" y="2292350"/>
            <a:ext cx="1157287" cy="396875"/>
          </a:xfrm>
          <a:prstGeom prst="rect">
            <a:avLst/>
          </a:prstGeom>
          <a:noFill/>
          <a:ln w="9525">
            <a:noFill/>
          </a:ln>
        </p:spPr>
        <p:txBody>
          <a:bodyPr wrap="none" anchor="t" anchorCtr="0">
            <a:spAutoFit/>
          </a:bodyPr>
          <a:p>
            <a:r>
              <a:rPr lang="en-US" altLang="zh-CN" sz="2000" dirty="0">
                <a:latin typeface="Arial" panose="020B0604020202020204" pitchFamily="34" charset="0"/>
              </a:rPr>
              <a:t>-courses</a:t>
            </a:r>
            <a:endParaRPr lang="zh-CN" altLang="en-US" sz="2000" dirty="0">
              <a:latin typeface="Arial" panose="020B0604020202020204" pitchFamily="34" charset="0"/>
              <a:ea typeface="宋体" panose="02010600030101010101" pitchFamily="2" charset="-122"/>
            </a:endParaRPr>
          </a:p>
        </p:txBody>
      </p:sp>
      <p:sp>
        <p:nvSpPr>
          <p:cNvPr id="66570" name="Rectangle 8"/>
          <p:cNvSpPr/>
          <p:nvPr>
            <p:custDataLst>
              <p:tags r:id="rId14"/>
            </p:custDataLst>
          </p:nvPr>
        </p:nvSpPr>
        <p:spPr>
          <a:xfrm>
            <a:off x="4802188" y="1758950"/>
            <a:ext cx="563562" cy="396875"/>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6571" name="Rectangle 9"/>
          <p:cNvSpPr/>
          <p:nvPr>
            <p:custDataLst>
              <p:tags r:id="rId15"/>
            </p:custDataLst>
          </p:nvPr>
        </p:nvSpPr>
        <p:spPr>
          <a:xfrm>
            <a:off x="2897188" y="1758950"/>
            <a:ext cx="563562" cy="396875"/>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2" name="Line 4"/>
          <p:cNvSpPr/>
          <p:nvPr>
            <p:custDataLst>
              <p:tags r:id="rId16"/>
            </p:custDataLst>
          </p:nvPr>
        </p:nvSpPr>
        <p:spPr>
          <a:xfrm>
            <a:off x="2823845" y="2244090"/>
            <a:ext cx="2667000" cy="0"/>
          </a:xfrm>
          <a:prstGeom prst="line">
            <a:avLst/>
          </a:prstGeom>
          <a:ln w="19050"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43230" y="12071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关联关系的</a:t>
            </a:r>
            <a:r>
              <a:rPr kumimoji="1" lang="zh-CN" altLang="en-US" sz="2800" b="1" dirty="0"/>
              <a:t>实现</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7"/>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13/15</a:t>
            </a:r>
            <a:endParaRPr kumimoji="1" lang="en-US" altLang="zh-CN" sz="2400" dirty="0">
              <a:solidFill>
                <a:schemeClr val="bg1"/>
              </a:solidFill>
            </a:endParaRPr>
          </a:p>
        </p:txBody>
      </p:sp>
      <p:sp>
        <p:nvSpPr>
          <p:cNvPr id="9" name="文本框 8"/>
          <p:cNvSpPr txBox="1"/>
          <p:nvPr/>
        </p:nvSpPr>
        <p:spPr>
          <a:xfrm>
            <a:off x="629285" y="3853815"/>
            <a:ext cx="7226935" cy="2376170"/>
          </a:xfrm>
          <a:prstGeom prst="rect">
            <a:avLst/>
          </a:prstGeom>
          <a:noFill/>
        </p:spPr>
        <p:txBody>
          <a:bodyPr wrap="square" rtlCol="0" anchor="t">
            <a:noAutofit/>
          </a:bodyPr>
          <a:p>
            <a:pPr eaLnBrk="1" hangingPunct="1">
              <a:buNone/>
            </a:pPr>
            <a:r>
              <a:rPr lang="en-US" altLang="zh-CN" sz="2600" b="1" dirty="0">
                <a:sym typeface="+mn-ea"/>
              </a:rPr>
              <a:t>public  class  Country  {</a:t>
            </a:r>
            <a:endParaRPr lang="en-US" altLang="zh-CN" sz="2600" b="1" dirty="0"/>
          </a:p>
          <a:p>
            <a:pPr lvl="1" eaLnBrk="1" hangingPunct="1">
              <a:buNone/>
            </a:pPr>
            <a:r>
              <a:rPr lang="en-US" altLang="zh-CN" sz="2600" b="1" dirty="0">
                <a:sym typeface="+mn-ea"/>
              </a:rPr>
              <a:t>		…</a:t>
            </a:r>
            <a:endParaRPr lang="en-US" altLang="zh-CN" sz="2600" b="1" dirty="0"/>
          </a:p>
          <a:p>
            <a:pPr lvl="1" eaLnBrk="1" hangingPunct="1">
              <a:buNone/>
            </a:pPr>
            <a:r>
              <a:rPr lang="en-US" altLang="zh-CN" sz="2600" b="1" dirty="0">
                <a:sym typeface="+mn-ea"/>
              </a:rPr>
              <a:t>private </a:t>
            </a:r>
            <a:r>
              <a:rPr lang="en-US" altLang="zh-CN" sz="2600" b="1" dirty="0">
                <a:solidFill>
                  <a:srgbClr val="034DA0"/>
                </a:solidFill>
                <a:sym typeface="+mn-ea"/>
              </a:rPr>
              <a:t>Government   government</a:t>
            </a:r>
            <a:r>
              <a:rPr lang="en-US" altLang="zh-CN" sz="2600" b="1" dirty="0">
                <a:sym typeface="+mn-ea"/>
              </a:rPr>
              <a:t>;</a:t>
            </a:r>
            <a:endParaRPr lang="en-US" altLang="zh-CN" sz="2600" b="1" dirty="0"/>
          </a:p>
          <a:p>
            <a:pPr lvl="1" eaLnBrk="1" hangingPunct="1">
              <a:buNone/>
            </a:pPr>
            <a:r>
              <a:rPr lang="en-US" altLang="zh-CN" sz="2600" b="1" dirty="0">
                <a:sym typeface="+mn-ea"/>
              </a:rPr>
              <a:t>private </a:t>
            </a:r>
            <a:r>
              <a:rPr lang="en-US" altLang="zh-CN" sz="2600" b="1" dirty="0">
                <a:solidFill>
                  <a:srgbClr val="034DA0"/>
                </a:solidFill>
                <a:sym typeface="+mn-ea"/>
              </a:rPr>
              <a:t>Capital  capital</a:t>
            </a:r>
            <a:r>
              <a:rPr lang="en-US" altLang="zh-CN" sz="2600" b="1" dirty="0">
                <a:sym typeface="+mn-ea"/>
              </a:rPr>
              <a:t>;</a:t>
            </a:r>
            <a:endParaRPr lang="en-US" altLang="zh-CN" sz="2600" b="1" dirty="0"/>
          </a:p>
          <a:p>
            <a:pPr lvl="1" eaLnBrk="1" hangingPunct="1">
              <a:buNone/>
            </a:pPr>
            <a:r>
              <a:rPr lang="en-US" altLang="zh-CN" sz="2600" b="1" dirty="0">
                <a:sym typeface="+mn-ea"/>
              </a:rPr>
              <a:t>		…</a:t>
            </a:r>
            <a:endParaRPr lang="en-US" altLang="zh-CN" sz="2600" b="1" dirty="0"/>
          </a:p>
          <a:p>
            <a:pPr eaLnBrk="1" hangingPunct="1">
              <a:buNone/>
            </a:pPr>
            <a:r>
              <a:rPr lang="en-US" altLang="zh-CN" sz="2600" b="1" dirty="0">
                <a:sym typeface="+mn-ea"/>
              </a:rPr>
              <a:t>}  </a:t>
            </a:r>
            <a:endParaRPr lang="zh-CN" altLang="en-US" sz="2600" b="1">
              <a:latin typeface="+mn-ea"/>
              <a:cs typeface="+mn-ea"/>
            </a:endParaRPr>
          </a:p>
        </p:txBody>
      </p:sp>
      <p:grpSp>
        <p:nvGrpSpPr>
          <p:cNvPr id="63493" name="Group 19"/>
          <p:cNvGrpSpPr/>
          <p:nvPr/>
        </p:nvGrpSpPr>
        <p:grpSpPr>
          <a:xfrm>
            <a:off x="3208973" y="1845628"/>
            <a:ext cx="4937125" cy="1766887"/>
            <a:chOff x="687" y="847"/>
            <a:chExt cx="3110" cy="1187"/>
          </a:xfrm>
        </p:grpSpPr>
        <p:sp useBgFill="1">
          <p:nvSpPr>
            <p:cNvPr id="63494" name="AutoShape 3"/>
            <p:cNvSpPr/>
            <p:nvPr>
              <p:custDataLst>
                <p:tags r:id="rId8"/>
              </p:custDataLst>
            </p:nvPr>
          </p:nvSpPr>
          <p:spPr>
            <a:xfrm>
              <a:off x="1738" y="847"/>
              <a:ext cx="1130"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Country</a:t>
              </a:r>
              <a:endParaRPr lang="en-US" altLang="zh-CN" sz="2800" b="1" dirty="0">
                <a:latin typeface="Arial" panose="020B0604020202020204" pitchFamily="34" charset="0"/>
              </a:endParaRPr>
            </a:p>
          </p:txBody>
        </p:sp>
        <p:sp useBgFill="1">
          <p:nvSpPr>
            <p:cNvPr id="63495" name="AutoShape 4"/>
            <p:cNvSpPr/>
            <p:nvPr>
              <p:custDataLst>
                <p:tags r:id="rId9"/>
              </p:custDataLst>
            </p:nvPr>
          </p:nvSpPr>
          <p:spPr>
            <a:xfrm>
              <a:off x="687" y="1650"/>
              <a:ext cx="1473"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Government</a:t>
              </a:r>
              <a:endParaRPr lang="en-US" altLang="zh-CN" sz="2800" b="1" dirty="0">
                <a:latin typeface="Arial" panose="020B0604020202020204" pitchFamily="34" charset="0"/>
              </a:endParaRPr>
            </a:p>
          </p:txBody>
        </p:sp>
        <p:sp>
          <p:nvSpPr>
            <p:cNvPr id="63496" name="Line 5"/>
            <p:cNvSpPr/>
            <p:nvPr>
              <p:custDataLst>
                <p:tags r:id="rId10"/>
              </p:custDataLst>
            </p:nvPr>
          </p:nvSpPr>
          <p:spPr>
            <a:xfrm flipV="1">
              <a:off x="1200" y="1152"/>
              <a:ext cx="0" cy="480"/>
            </a:xfrm>
            <a:prstGeom prst="line">
              <a:avLst/>
            </a:prstGeom>
            <a:ln w="19050" cap="flat" cmpd="sng">
              <a:solidFill>
                <a:schemeClr val="tx1"/>
              </a:solidFill>
              <a:prstDash val="solid"/>
              <a:round/>
              <a:headEnd type="arrow" w="med" len="med"/>
              <a:tailEnd type="none" w="med" len="med"/>
            </a:ln>
          </p:spPr>
        </p:sp>
        <p:sp>
          <p:nvSpPr>
            <p:cNvPr id="63497" name="Rectangle 6"/>
            <p:cNvSpPr/>
            <p:nvPr>
              <p:custDataLst>
                <p:tags r:id="rId11"/>
              </p:custDataLst>
            </p:nvPr>
          </p:nvSpPr>
          <p:spPr>
            <a:xfrm>
              <a:off x="2880" y="1392"/>
              <a:ext cx="632" cy="250"/>
            </a:xfrm>
            <a:prstGeom prst="rect">
              <a:avLst/>
            </a:prstGeom>
            <a:noFill/>
            <a:ln w="9525">
              <a:noFill/>
            </a:ln>
          </p:spPr>
          <p:txBody>
            <a:bodyPr wrap="none" anchor="t" anchorCtr="0">
              <a:spAutoFit/>
            </a:bodyPr>
            <a:p>
              <a:r>
                <a:rPr lang="en-US" altLang="zh-CN" sz="2000" dirty="0">
                  <a:latin typeface="Arial" panose="020B0604020202020204" pitchFamily="34" charset="0"/>
                </a:rPr>
                <a:t>-capital</a:t>
              </a:r>
              <a:endParaRPr lang="zh-CN" altLang="en-US" sz="2000" dirty="0">
                <a:latin typeface="Arial" panose="020B0604020202020204" pitchFamily="34" charset="0"/>
                <a:ea typeface="宋体" panose="02010600030101010101" pitchFamily="2" charset="-122"/>
              </a:endParaRPr>
            </a:p>
          </p:txBody>
        </p:sp>
        <p:sp useBgFill="1">
          <p:nvSpPr>
            <p:cNvPr id="63498" name="AutoShape 7"/>
            <p:cNvSpPr/>
            <p:nvPr>
              <p:custDataLst>
                <p:tags r:id="rId12"/>
              </p:custDataLst>
            </p:nvPr>
          </p:nvSpPr>
          <p:spPr>
            <a:xfrm>
              <a:off x="2880" y="1632"/>
              <a:ext cx="917"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Capital</a:t>
              </a:r>
              <a:endParaRPr lang="en-US" altLang="zh-CN" sz="2800" b="1" dirty="0">
                <a:latin typeface="Arial" panose="020B0604020202020204" pitchFamily="34" charset="0"/>
              </a:endParaRPr>
            </a:p>
          </p:txBody>
        </p:sp>
        <p:sp>
          <p:nvSpPr>
            <p:cNvPr id="63499" name="Line 8"/>
            <p:cNvSpPr/>
            <p:nvPr>
              <p:custDataLst>
                <p:tags r:id="rId13"/>
              </p:custDataLst>
            </p:nvPr>
          </p:nvSpPr>
          <p:spPr>
            <a:xfrm flipH="1" flipV="1">
              <a:off x="3498" y="1200"/>
              <a:ext cx="0" cy="432"/>
            </a:xfrm>
            <a:prstGeom prst="line">
              <a:avLst/>
            </a:prstGeom>
            <a:ln w="19050" cap="flat" cmpd="sng">
              <a:solidFill>
                <a:schemeClr val="tx1"/>
              </a:solidFill>
              <a:prstDash val="solid"/>
              <a:round/>
              <a:headEnd type="arrow" w="med" len="med"/>
              <a:tailEnd type="none" w="med" len="med"/>
            </a:ln>
          </p:spPr>
        </p:sp>
        <p:sp>
          <p:nvSpPr>
            <p:cNvPr id="63500" name="Rectangle 9"/>
            <p:cNvSpPr/>
            <p:nvPr>
              <p:custDataLst>
                <p:tags r:id="rId14"/>
              </p:custDataLst>
            </p:nvPr>
          </p:nvSpPr>
          <p:spPr>
            <a:xfrm>
              <a:off x="1488" y="1392"/>
              <a:ext cx="1013" cy="250"/>
            </a:xfrm>
            <a:prstGeom prst="rect">
              <a:avLst/>
            </a:prstGeom>
            <a:noFill/>
            <a:ln w="9525">
              <a:noFill/>
            </a:ln>
          </p:spPr>
          <p:txBody>
            <a:bodyPr wrap="none" anchor="t" anchorCtr="0">
              <a:spAutoFit/>
            </a:bodyPr>
            <a:p>
              <a:r>
                <a:rPr lang="en-US" altLang="zh-CN" sz="2000" dirty="0">
                  <a:latin typeface="Arial" panose="020B0604020202020204" pitchFamily="34" charset="0"/>
                </a:rPr>
                <a:t>-government</a:t>
              </a:r>
              <a:endParaRPr lang="zh-CN" altLang="en-US" sz="2000" dirty="0">
                <a:latin typeface="Arial" panose="020B0604020202020204" pitchFamily="34" charset="0"/>
                <a:ea typeface="宋体" panose="02010600030101010101" pitchFamily="2" charset="-122"/>
              </a:endParaRPr>
            </a:p>
          </p:txBody>
        </p:sp>
        <p:sp>
          <p:nvSpPr>
            <p:cNvPr id="63501" name="Line 10"/>
            <p:cNvSpPr/>
            <p:nvPr>
              <p:custDataLst>
                <p:tags r:id="rId15"/>
              </p:custDataLst>
            </p:nvPr>
          </p:nvSpPr>
          <p:spPr>
            <a:xfrm flipH="1" flipV="1">
              <a:off x="2884" y="1097"/>
              <a:ext cx="614" cy="103"/>
            </a:xfrm>
            <a:prstGeom prst="line">
              <a:avLst/>
            </a:prstGeom>
            <a:ln w="19050" cap="flat" cmpd="sng">
              <a:solidFill>
                <a:schemeClr val="tx1"/>
              </a:solidFill>
              <a:prstDash val="solid"/>
              <a:round/>
              <a:headEnd type="none" w="med" len="med"/>
              <a:tailEnd type="none" w="med" len="med"/>
            </a:ln>
          </p:spPr>
        </p:sp>
        <p:sp>
          <p:nvSpPr>
            <p:cNvPr id="63502" name="Line 11"/>
            <p:cNvSpPr/>
            <p:nvPr>
              <p:custDataLst>
                <p:tags r:id="rId16"/>
              </p:custDataLst>
            </p:nvPr>
          </p:nvSpPr>
          <p:spPr>
            <a:xfrm flipV="1">
              <a:off x="1200" y="1085"/>
              <a:ext cx="538" cy="67"/>
            </a:xfrm>
            <a:prstGeom prst="line">
              <a:avLst/>
            </a:prstGeom>
            <a:ln w="19050" cap="flat" cmpd="sng">
              <a:solidFill>
                <a:schemeClr val="tx1"/>
              </a:solidFill>
              <a:prstDash val="solid"/>
              <a:round/>
              <a:headEnd type="none" w="med" len="med"/>
              <a:tailEnd type="none" w="med" len="med"/>
            </a:ln>
          </p:spPr>
        </p:sp>
        <p:sp>
          <p:nvSpPr>
            <p:cNvPr id="63503" name="Rectangle 12"/>
            <p:cNvSpPr/>
            <p:nvPr>
              <p:custDataLst>
                <p:tags r:id="rId17"/>
              </p:custDataLst>
            </p:nvPr>
          </p:nvSpPr>
          <p:spPr>
            <a:xfrm>
              <a:off x="3109" y="960"/>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4" name="Rectangle 13"/>
            <p:cNvSpPr/>
            <p:nvPr>
              <p:custDataLst>
                <p:tags r:id="rId18"/>
              </p:custDataLst>
            </p:nvPr>
          </p:nvSpPr>
          <p:spPr>
            <a:xfrm>
              <a:off x="1345" y="97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5" name="Rectangle 14"/>
            <p:cNvSpPr/>
            <p:nvPr>
              <p:custDataLst>
                <p:tags r:id="rId19"/>
              </p:custDataLst>
            </p:nvPr>
          </p:nvSpPr>
          <p:spPr>
            <a:xfrm>
              <a:off x="912" y="139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3506" name="Rectangle 15"/>
            <p:cNvSpPr/>
            <p:nvPr>
              <p:custDataLst>
                <p:tags r:id="rId20"/>
              </p:custDataLst>
            </p:nvPr>
          </p:nvSpPr>
          <p:spPr>
            <a:xfrm>
              <a:off x="3492" y="1392"/>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43230" y="12071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关联关系的</a:t>
            </a:r>
            <a:r>
              <a:rPr kumimoji="1" lang="zh-CN" altLang="en-US" sz="2800" b="1" dirty="0"/>
              <a:t>实现</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7"/>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14/15</a:t>
            </a:r>
            <a:endParaRPr kumimoji="1" lang="en-US" altLang="zh-CN" sz="2400" dirty="0">
              <a:solidFill>
                <a:schemeClr val="bg1"/>
              </a:solidFill>
            </a:endParaRPr>
          </a:p>
        </p:txBody>
      </p:sp>
      <p:sp>
        <p:nvSpPr>
          <p:cNvPr id="9" name="文本框 8"/>
          <p:cNvSpPr txBox="1"/>
          <p:nvPr/>
        </p:nvSpPr>
        <p:spPr>
          <a:xfrm>
            <a:off x="629285" y="3210560"/>
            <a:ext cx="8211185" cy="3019425"/>
          </a:xfrm>
          <a:prstGeom prst="rect">
            <a:avLst/>
          </a:prstGeom>
          <a:noFill/>
        </p:spPr>
        <p:txBody>
          <a:bodyPr wrap="square" rtlCol="0" anchor="t">
            <a:noAutofit/>
          </a:bodyPr>
          <a:p>
            <a:pPr eaLnBrk="1" hangingPunct="1">
              <a:lnSpc>
                <a:spcPct val="120000"/>
              </a:lnSpc>
              <a:spcBef>
                <a:spcPts val="0"/>
              </a:spcBef>
              <a:spcAft>
                <a:spcPts val="0"/>
              </a:spcAft>
              <a:buNone/>
            </a:pPr>
            <a:r>
              <a:rPr lang="en-US" altLang="zh-CN" sz="2600" b="1" dirty="0">
                <a:sym typeface="+mn-ea"/>
              </a:rPr>
              <a:t>public class Client {</a:t>
            </a:r>
            <a:endParaRPr lang="en-US" altLang="zh-CN" sz="2600" b="1" dirty="0">
              <a:sym typeface="+mn-ea"/>
            </a:endParaRPr>
          </a:p>
          <a:p>
            <a:pPr eaLnBrk="1" hangingPunct="1">
              <a:lnSpc>
                <a:spcPct val="120000"/>
              </a:lnSpc>
              <a:spcBef>
                <a:spcPts val="0"/>
              </a:spcBef>
              <a:spcAft>
                <a:spcPts val="0"/>
              </a:spcAft>
              <a:buNone/>
            </a:pPr>
            <a:r>
              <a:rPr lang="en-US" altLang="zh-CN" sz="2600" b="1" dirty="0">
                <a:sym typeface="+mn-ea"/>
              </a:rPr>
              <a:t>		…</a:t>
            </a:r>
            <a:endParaRPr lang="en-US" altLang="zh-CN" sz="2600" b="1" dirty="0"/>
          </a:p>
          <a:p>
            <a:pPr lvl="1" eaLnBrk="1" hangingPunct="1">
              <a:lnSpc>
                <a:spcPct val="120000"/>
              </a:lnSpc>
              <a:spcBef>
                <a:spcPts val="0"/>
              </a:spcBef>
              <a:spcAft>
                <a:spcPts val="0"/>
              </a:spcAft>
              <a:buNone/>
            </a:pPr>
            <a:r>
              <a:rPr lang="en-US" altLang="zh-CN" sz="2600" b="1" dirty="0">
                <a:sym typeface="+mn-ea"/>
              </a:rPr>
              <a:t>private String name;</a:t>
            </a:r>
            <a:endParaRPr lang="en-US" altLang="zh-CN" sz="2600" b="1" dirty="0">
              <a:sym typeface="+mn-ea"/>
            </a:endParaRPr>
          </a:p>
          <a:p>
            <a:pPr lvl="1" eaLnBrk="1" hangingPunct="1">
              <a:lnSpc>
                <a:spcPct val="120000"/>
              </a:lnSpc>
              <a:spcBef>
                <a:spcPts val="0"/>
              </a:spcBef>
              <a:spcAft>
                <a:spcPts val="0"/>
              </a:spcAft>
              <a:buNone/>
            </a:pPr>
            <a:r>
              <a:rPr lang="en-US" altLang="zh-CN" sz="2600" b="1" dirty="0">
                <a:sym typeface="+mn-ea"/>
              </a:rPr>
              <a:t>private </a:t>
            </a:r>
            <a:r>
              <a:rPr lang="en-US" altLang="zh-CN" sz="2600" b="1" dirty="0">
                <a:solidFill>
                  <a:srgbClr val="034DA0"/>
                </a:solidFill>
                <a:sym typeface="+mn-ea"/>
              </a:rPr>
              <a:t>ArrayList&lt;BankAccount&gt;  bankAccounts</a:t>
            </a:r>
            <a:r>
              <a:rPr lang="en-US" altLang="zh-CN" sz="2600" b="1" dirty="0">
                <a:sym typeface="+mn-ea"/>
              </a:rPr>
              <a:t>;	</a:t>
            </a:r>
            <a:r>
              <a:rPr lang="en-US" altLang="zh-CN" sz="2600" b="1" dirty="0">
                <a:sym typeface="+mn-ea"/>
              </a:rPr>
              <a:t>	…</a:t>
            </a:r>
            <a:endParaRPr lang="en-US" altLang="zh-CN" sz="2600" b="1" dirty="0"/>
          </a:p>
          <a:p>
            <a:pPr eaLnBrk="1" hangingPunct="1">
              <a:lnSpc>
                <a:spcPct val="120000"/>
              </a:lnSpc>
              <a:spcBef>
                <a:spcPts val="0"/>
              </a:spcBef>
              <a:spcAft>
                <a:spcPts val="0"/>
              </a:spcAft>
              <a:buNone/>
            </a:pPr>
            <a:r>
              <a:rPr lang="en-US" altLang="zh-CN" sz="2600" b="1" dirty="0">
                <a:sym typeface="+mn-ea"/>
              </a:rPr>
              <a:t>}  </a:t>
            </a:r>
            <a:endParaRPr lang="zh-CN" altLang="en-US" sz="2600" b="1">
              <a:latin typeface="+mn-ea"/>
              <a:cs typeface="+mn-ea"/>
            </a:endParaRPr>
          </a:p>
        </p:txBody>
      </p:sp>
      <p:grpSp>
        <p:nvGrpSpPr>
          <p:cNvPr id="65541" name="Group 12"/>
          <p:cNvGrpSpPr/>
          <p:nvPr/>
        </p:nvGrpSpPr>
        <p:grpSpPr>
          <a:xfrm>
            <a:off x="641350" y="1887538"/>
            <a:ext cx="6788150" cy="865187"/>
            <a:chOff x="288" y="2208"/>
            <a:chExt cx="4541" cy="599"/>
          </a:xfrm>
        </p:grpSpPr>
        <p:sp useBgFill="1">
          <p:nvSpPr>
            <p:cNvPr id="65542" name="AutoShape 3"/>
            <p:cNvSpPr/>
            <p:nvPr>
              <p:custDataLst>
                <p:tags r:id="rId8"/>
              </p:custDataLst>
            </p:nvPr>
          </p:nvSpPr>
          <p:spPr>
            <a:xfrm>
              <a:off x="288" y="2352"/>
              <a:ext cx="867"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Client</a:t>
              </a:r>
              <a:endParaRPr lang="en-US" altLang="zh-CN" sz="2800" b="1" dirty="0">
                <a:latin typeface="Arial" panose="020B0604020202020204" pitchFamily="34" charset="0"/>
              </a:endParaRPr>
            </a:p>
          </p:txBody>
        </p:sp>
        <p:sp>
          <p:nvSpPr>
            <p:cNvPr id="65543" name="Line 4"/>
            <p:cNvSpPr/>
            <p:nvPr>
              <p:custDataLst>
                <p:tags r:id="rId9"/>
              </p:custDataLst>
            </p:nvPr>
          </p:nvSpPr>
          <p:spPr>
            <a:xfrm flipH="1" flipV="1">
              <a:off x="1155" y="2544"/>
              <a:ext cx="1994" cy="0"/>
            </a:xfrm>
            <a:prstGeom prst="line">
              <a:avLst/>
            </a:prstGeom>
            <a:ln w="19050" cap="flat" cmpd="sng">
              <a:solidFill>
                <a:schemeClr val="tx1"/>
              </a:solidFill>
              <a:prstDash val="solid"/>
              <a:round/>
              <a:headEnd type="arrow" w="med" len="med"/>
              <a:tailEnd type="none" w="med" len="med"/>
            </a:ln>
          </p:spPr>
        </p:sp>
        <p:sp useBgFill="1">
          <p:nvSpPr>
            <p:cNvPr id="65544" name="AutoShape 5"/>
            <p:cNvSpPr/>
            <p:nvPr>
              <p:custDataLst>
                <p:tags r:id="rId10"/>
              </p:custDataLst>
            </p:nvPr>
          </p:nvSpPr>
          <p:spPr>
            <a:xfrm>
              <a:off x="3149" y="2352"/>
              <a:ext cx="1680"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Arial" panose="020B0604020202020204" pitchFamily="34" charset="0"/>
                </a:rPr>
                <a:t>BankAccount</a:t>
              </a:r>
              <a:endParaRPr lang="en-US" altLang="zh-CN" sz="2800" b="1" dirty="0">
                <a:latin typeface="Arial" panose="020B0604020202020204" pitchFamily="34" charset="0"/>
              </a:endParaRPr>
            </a:p>
          </p:txBody>
        </p:sp>
        <p:sp>
          <p:nvSpPr>
            <p:cNvPr id="65545" name="Rectangle 6"/>
            <p:cNvSpPr/>
            <p:nvPr>
              <p:custDataLst>
                <p:tags r:id="rId11"/>
              </p:custDataLst>
            </p:nvPr>
          </p:nvSpPr>
          <p:spPr>
            <a:xfrm>
              <a:off x="1895" y="2557"/>
              <a:ext cx="1174" cy="250"/>
            </a:xfrm>
            <a:prstGeom prst="rect">
              <a:avLst/>
            </a:prstGeom>
            <a:noFill/>
            <a:ln w="9525">
              <a:noFill/>
            </a:ln>
          </p:spPr>
          <p:txBody>
            <a:bodyPr wrap="none" anchor="t" anchorCtr="0">
              <a:spAutoFit/>
            </a:bodyPr>
            <a:p>
              <a:r>
                <a:rPr lang="en-US" altLang="zh-CN" sz="2000" dirty="0">
                  <a:latin typeface="Arial" panose="020B0604020202020204" pitchFamily="34" charset="0"/>
                </a:rPr>
                <a:t>-bankAccounts</a:t>
              </a:r>
              <a:endParaRPr lang="en-US" altLang="zh-CN" sz="2000" dirty="0">
                <a:latin typeface="Arial" panose="020B0604020202020204" pitchFamily="34" charset="0"/>
              </a:endParaRPr>
            </a:p>
          </p:txBody>
        </p:sp>
        <p:sp>
          <p:nvSpPr>
            <p:cNvPr id="65546" name="Rectangle 7"/>
            <p:cNvSpPr/>
            <p:nvPr>
              <p:custDataLst>
                <p:tags r:id="rId12"/>
              </p:custDataLst>
            </p:nvPr>
          </p:nvSpPr>
          <p:spPr>
            <a:xfrm>
              <a:off x="1680" y="2208"/>
              <a:ext cx="20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sp>
          <p:nvSpPr>
            <p:cNvPr id="65547" name="Rectangle 8"/>
            <p:cNvSpPr/>
            <p:nvPr>
              <p:custDataLst>
                <p:tags r:id="rId13"/>
              </p:custDataLst>
            </p:nvPr>
          </p:nvSpPr>
          <p:spPr>
            <a:xfrm>
              <a:off x="2714" y="2262"/>
              <a:ext cx="355" cy="250"/>
            </a:xfrm>
            <a:prstGeom prst="rect">
              <a:avLst/>
            </a:prstGeom>
            <a:noFill/>
            <a:ln w="9525">
              <a:noFill/>
            </a:ln>
          </p:spPr>
          <p:txBody>
            <a:bodyPr wrap="none" anchor="t" anchorCtr="0">
              <a:spAutoFit/>
            </a:bodyPr>
            <a:p>
              <a:r>
                <a:rPr lang="en-US" altLang="zh-CN" sz="2000" dirty="0">
                  <a:solidFill>
                    <a:srgbClr val="FF0066"/>
                  </a:solidFill>
                  <a:latin typeface="Arial" panose="020B0604020202020204" pitchFamily="34" charset="0"/>
                </a:rPr>
                <a:t>1..*</a:t>
              </a:r>
              <a:endParaRPr lang="zh-CN" altLang="en-US" sz="2000" dirty="0">
                <a:solidFill>
                  <a:srgbClr val="FF0066"/>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1.2.3 </a:t>
            </a:r>
            <a:r>
              <a:rPr kumimoji="1" lang="zh-CN" altLang="en-US" dirty="0">
                <a:solidFill>
                  <a:schemeClr val="bg1"/>
                </a:solidFill>
              </a:rPr>
              <a:t>类之间的</a:t>
            </a:r>
            <a:r>
              <a:rPr kumimoji="1" lang="zh-CN" altLang="en-US" dirty="0">
                <a:solidFill>
                  <a:schemeClr val="bg1"/>
                </a:solidFill>
              </a:rPr>
              <a:t>关联关系</a:t>
            </a:r>
            <a:r>
              <a:rPr kumimoji="1" lang="en-US" altLang="zh-CN" sz="2400" dirty="0">
                <a:solidFill>
                  <a:schemeClr val="bg1"/>
                </a:solidFill>
              </a:rPr>
              <a:t>15</a:t>
            </a:r>
            <a:r>
              <a:rPr kumimoji="1" lang="en-US" altLang="zh-CN" sz="2400" dirty="0">
                <a:solidFill>
                  <a:schemeClr val="bg1"/>
                </a:solidFill>
              </a:rPr>
              <a:t>/15</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案例分析(找出1对多的关联关系)</a:t>
            </a:r>
            <a:endParaRPr kumimoji="1" lang="zh-CN" altLang="en-US" sz="2800" dirty="0">
              <a:sym typeface="+mn-ea"/>
            </a:endParaRPr>
          </a:p>
        </p:txBody>
      </p:sp>
      <p:sp>
        <p:nvSpPr>
          <p:cNvPr id="9" name="文本框 8"/>
          <p:cNvSpPr txBox="1"/>
          <p:nvPr/>
        </p:nvSpPr>
        <p:spPr>
          <a:xfrm>
            <a:off x="527685" y="1689735"/>
            <a:ext cx="8384540" cy="4084955"/>
          </a:xfrm>
          <a:prstGeom prst="rect">
            <a:avLst/>
          </a:prstGeom>
          <a:noFill/>
        </p:spPr>
        <p:txBody>
          <a:bodyPr wrap="square" rtlCol="0" anchor="t">
            <a:noAutofit/>
          </a:bodyPr>
          <a:p>
            <a:pPr indent="0" eaLnBrk="1" hangingPunct="1">
              <a:lnSpc>
                <a:spcPct val="100000"/>
              </a:lnSpc>
              <a:buFont typeface="Arial" panose="020B0604020202020204" pitchFamily="34" charset="0"/>
              <a:buNone/>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The customer information system maintains information about two different kinds of customers: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Individual customers: For these customers, the system stores an ID and the information about a person (name, home telephone number, and email).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Institutional customers: For these customers, the system stores an ID and provides the capability of defining one or more contact people for the institution. The system stores the following information for each contact person: name, home telephone number, email, work telephone number, and the job position of the contact in the institution.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8" name="矩形 7"/>
          <p:cNvSpPr/>
          <p:nvPr>
            <p:custDataLst>
              <p:tags r:id="rId8"/>
            </p:custDataLst>
          </p:nvPr>
        </p:nvSpPr>
        <p:spPr>
          <a:xfrm>
            <a:off x="975360" y="3600450"/>
            <a:ext cx="284670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custDataLst>
              <p:tags r:id="rId9"/>
            </p:custDataLst>
          </p:nvPr>
        </p:nvSpPr>
        <p:spPr>
          <a:xfrm>
            <a:off x="5424805" y="4704080"/>
            <a:ext cx="200533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7"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645160"/>
          </a:xfrm>
          <a:prstGeom prst="rect">
            <a:avLst/>
          </a:prstGeom>
          <a:noFill/>
        </p:spPr>
        <p:txBody>
          <a:bodyPr wrap="square" rtlCol="0" anchor="t">
            <a:spAutoFit/>
          </a:bodyPr>
          <a:p>
            <a:pPr algn="dist"/>
            <a:r>
              <a:rPr kumimoji="1" lang="zh-CN" altLang="en-US" sz="3600" b="1" kern="0" dirty="0">
                <a:solidFill>
                  <a:srgbClr val="034DA0"/>
                </a:solidFill>
                <a:latin typeface="华文行楷" panose="02010800040101010101" charset="-122"/>
                <a:ea typeface="华文行楷" panose="02010800040101010101" charset="-122"/>
                <a:sym typeface="+mn-ea"/>
              </a:rPr>
              <a:t>类与类之间关联关系</a:t>
            </a:r>
            <a:r>
              <a:rPr kumimoji="1" lang="zh-CN" altLang="en-US" sz="3600" b="1" kern="0" dirty="0">
                <a:solidFill>
                  <a:srgbClr val="034DA0"/>
                </a:solidFill>
                <a:latin typeface="华文行楷" panose="02010800040101010101" charset="-122"/>
                <a:ea typeface="华文行楷" panose="02010800040101010101" charset="-122"/>
                <a:sym typeface="+mn-ea"/>
              </a:rPr>
              <a:t>讲解</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1.2.4 </a:t>
            </a:r>
            <a:r>
              <a:rPr kumimoji="1" lang="zh-CN" altLang="en-US" dirty="0">
                <a:solidFill>
                  <a:schemeClr val="bg1"/>
                </a:solidFill>
              </a:rPr>
              <a:t>类之间的聚合关系</a:t>
            </a:r>
            <a:r>
              <a:rPr kumimoji="1" lang="en-US" altLang="zh-CN" sz="2400" dirty="0">
                <a:solidFill>
                  <a:schemeClr val="bg1"/>
                </a:solidFill>
              </a:rPr>
              <a:t>1</a:t>
            </a:r>
            <a:r>
              <a:rPr kumimoji="1" lang="en-US" altLang="zh-CN" sz="2400" dirty="0">
                <a:solidFill>
                  <a:schemeClr val="bg1"/>
                </a:solidFill>
              </a:rPr>
              <a:t>/3</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基本聚合</a:t>
            </a:r>
            <a:endParaRPr kumimoji="1" lang="zh-CN" altLang="en-US" sz="2800" dirty="0">
              <a:sym typeface="+mn-ea"/>
            </a:endParaRPr>
          </a:p>
        </p:txBody>
      </p:sp>
      <p:sp>
        <p:nvSpPr>
          <p:cNvPr id="9" name="文本框 8"/>
          <p:cNvSpPr txBox="1"/>
          <p:nvPr/>
        </p:nvSpPr>
        <p:spPr>
          <a:xfrm>
            <a:off x="184785" y="1882140"/>
            <a:ext cx="5017135" cy="4975225"/>
          </a:xfrm>
          <a:prstGeom prst="rect">
            <a:avLst/>
          </a:prstGeom>
          <a:noFill/>
        </p:spPr>
        <p:txBody>
          <a:bodyPr wrap="square" rtlCol="0" anchor="t">
            <a:noAutofit/>
          </a:bodyPr>
          <a:p>
            <a:pPr marL="342900" indent="-342900" eaLnBrk="1" hangingPunct="1">
              <a:lnSpc>
                <a:spcPct val="15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聚合用于建模“整体和部分”的关系。在基本聚合关系中，部分类对象的生命周期与整体类</a:t>
            </a: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对象的生命周期是独立的。</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800100" lvl="1" indent="-342900" eaLnBrk="1" hangingPunct="1">
              <a:lnSpc>
                <a:spcPct val="15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将汽车视为整体，将车轮视为汽车的一部分。车轮可以在几周之前制造，并放置在仓库中，然后才被安装到汽车上。</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p:txBody>
      </p:sp>
      <p:grpSp>
        <p:nvGrpSpPr>
          <p:cNvPr id="68618" name="组合 3"/>
          <p:cNvGrpSpPr/>
          <p:nvPr/>
        </p:nvGrpSpPr>
        <p:grpSpPr>
          <a:xfrm>
            <a:off x="5240020" y="2058353"/>
            <a:ext cx="3495040" cy="573405"/>
            <a:chOff x="1752600" y="2857285"/>
            <a:chExt cx="3495040" cy="572248"/>
          </a:xfrm>
        </p:grpSpPr>
        <p:sp>
          <p:nvSpPr>
            <p:cNvPr id="68619" name="Rectangle 8"/>
            <p:cNvSpPr/>
            <p:nvPr>
              <p:custDataLst>
                <p:tags r:id="rId8"/>
              </p:custDataLst>
            </p:nvPr>
          </p:nvSpPr>
          <p:spPr>
            <a:xfrm>
              <a:off x="1752600" y="2997337"/>
              <a:ext cx="948055" cy="360586"/>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Whole</a:t>
              </a:r>
              <a:endParaRPr lang="en-US" altLang="zh-CN" sz="2000" b="1" dirty="0">
                <a:latin typeface="Times New Roman" panose="02020603050405020304" pitchFamily="18" charset="0"/>
              </a:endParaRPr>
            </a:p>
          </p:txBody>
        </p:sp>
        <p:sp>
          <p:nvSpPr>
            <p:cNvPr id="68620" name="Rectangle 9"/>
            <p:cNvSpPr/>
            <p:nvPr>
              <p:custDataLst>
                <p:tags r:id="rId9"/>
              </p:custDataLst>
            </p:nvPr>
          </p:nvSpPr>
          <p:spPr>
            <a:xfrm>
              <a:off x="4500880" y="3068947"/>
              <a:ext cx="746760" cy="360586"/>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Part</a:t>
              </a:r>
              <a:endParaRPr lang="en-US" altLang="zh-CN" sz="2000" b="1" dirty="0">
                <a:latin typeface="Times New Roman" panose="02020603050405020304" pitchFamily="18" charset="0"/>
              </a:endParaRPr>
            </a:p>
          </p:txBody>
        </p:sp>
        <p:sp>
          <p:nvSpPr>
            <p:cNvPr id="68621" name="AutoShape 10"/>
            <p:cNvSpPr/>
            <p:nvPr>
              <p:custDataLst>
                <p:tags r:id="rId10"/>
              </p:custDataLst>
            </p:nvPr>
          </p:nvSpPr>
          <p:spPr>
            <a:xfrm>
              <a:off x="2700338" y="3068638"/>
              <a:ext cx="360362" cy="215900"/>
            </a:xfrm>
            <a:prstGeom prst="flowChartDecision">
              <a:avLst/>
            </a:prstGeom>
            <a:noFill/>
            <a:ln w="25400" cap="flat" cmpd="sng">
              <a:solidFill>
                <a:schemeClr val="tx1"/>
              </a:solidFill>
              <a:prstDash val="solid"/>
              <a:miter/>
              <a:headEnd type="none" w="med" len="med"/>
              <a:tailEnd type="none" w="med" len="med"/>
            </a:ln>
          </p:spPr>
          <p:txBody>
            <a:bodyPr wrap="none" anchor="ctr" anchorCtr="0"/>
            <a:p>
              <a:pPr>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68622" name="Line 11"/>
            <p:cNvSpPr/>
            <p:nvPr>
              <p:custDataLst>
                <p:tags r:id="rId11"/>
              </p:custDataLst>
            </p:nvPr>
          </p:nvSpPr>
          <p:spPr>
            <a:xfrm>
              <a:off x="3060700" y="3193016"/>
              <a:ext cx="1376045" cy="17121"/>
            </a:xfrm>
            <a:prstGeom prst="line">
              <a:avLst/>
            </a:prstGeom>
            <a:ln w="28575" cap="flat" cmpd="sng">
              <a:solidFill>
                <a:schemeClr val="tx1"/>
              </a:solidFill>
              <a:prstDash val="solid"/>
              <a:round/>
              <a:headEnd type="none" w="med" len="med"/>
              <a:tailEnd type="none" w="med" len="med"/>
            </a:ln>
          </p:spPr>
        </p:sp>
        <p:sp>
          <p:nvSpPr>
            <p:cNvPr id="68623" name="矩形 20"/>
            <p:cNvSpPr/>
            <p:nvPr>
              <p:custDataLst>
                <p:tags r:id="rId12"/>
              </p:custDataLst>
            </p:nvPr>
          </p:nvSpPr>
          <p:spPr>
            <a:xfrm>
              <a:off x="3071813" y="2857285"/>
              <a:ext cx="319087" cy="415925"/>
            </a:xfrm>
            <a:prstGeom prst="rect">
              <a:avLst/>
            </a:prstGeom>
            <a:noFill/>
            <a:ln w="9525">
              <a:noFill/>
            </a:ln>
          </p:spPr>
          <p:txBody>
            <a:bodyPr wrap="none" anchor="t" anchorCtr="0">
              <a:spAutoFit/>
            </a:bodyPr>
            <a:p>
              <a:pPr eaLnBrk="0" hangingPunct="0"/>
              <a:r>
                <a:rPr lang="en-US" altLang="zh-CN" b="1" dirty="0">
                  <a:latin typeface="Times New Roman" panose="02020603050405020304" pitchFamily="18" charset="0"/>
                </a:rPr>
                <a:t>1</a:t>
              </a:r>
              <a:endParaRPr lang="zh-CN" altLang="en-US" dirty="0">
                <a:latin typeface="Times New Roman" panose="02020603050405020304" pitchFamily="18" charset="0"/>
                <a:ea typeface="宋体" panose="02010600030101010101" pitchFamily="2" charset="-122"/>
              </a:endParaRPr>
            </a:p>
          </p:txBody>
        </p:sp>
        <p:sp>
          <p:nvSpPr>
            <p:cNvPr id="68624" name="矩形 21"/>
            <p:cNvSpPr/>
            <p:nvPr>
              <p:custDataLst>
                <p:tags r:id="rId13"/>
              </p:custDataLst>
            </p:nvPr>
          </p:nvSpPr>
          <p:spPr>
            <a:xfrm>
              <a:off x="3571558" y="2885480"/>
              <a:ext cx="1214437" cy="503270"/>
            </a:xfrm>
            <a:prstGeom prst="rect">
              <a:avLst/>
            </a:prstGeom>
            <a:noFill/>
            <a:ln w="9525">
              <a:noFill/>
            </a:ln>
          </p:spPr>
          <p:txBody>
            <a:bodyPr anchor="t" anchorCtr="0">
              <a:spAutoFit/>
            </a:bodyPr>
            <a:p>
              <a:pPr eaLnBrk="0" hangingPunct="0"/>
              <a:r>
                <a:rPr lang="en-US" altLang="zh-CN" b="1" dirty="0">
                  <a:latin typeface="Times New Roman" panose="02020603050405020304" pitchFamily="18" charset="0"/>
                </a:rPr>
                <a:t>1 -part</a:t>
              </a:r>
              <a:endParaRPr lang="zh-CN" altLang="en-US" dirty="0">
                <a:latin typeface="Times New Roman" panose="02020603050405020304" pitchFamily="18" charset="0"/>
                <a:ea typeface="宋体" panose="02010600030101010101" pitchFamily="2" charset="-122"/>
              </a:endParaRPr>
            </a:p>
          </p:txBody>
        </p:sp>
      </p:grpSp>
      <p:pic>
        <p:nvPicPr>
          <p:cNvPr id="7" name="图片 6" descr="Car"/>
          <p:cNvPicPr>
            <a:picLocks noChangeAspect="1"/>
          </p:cNvPicPr>
          <p:nvPr/>
        </p:nvPicPr>
        <p:blipFill>
          <a:blip r:embed="rId14"/>
          <a:stretch>
            <a:fillRect/>
          </a:stretch>
        </p:blipFill>
        <p:spPr>
          <a:xfrm>
            <a:off x="5125085" y="3335655"/>
            <a:ext cx="3784600" cy="2016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1.2.4 </a:t>
            </a:r>
            <a:r>
              <a:rPr kumimoji="1" lang="zh-CN" altLang="en-US" dirty="0">
                <a:solidFill>
                  <a:schemeClr val="bg1"/>
                </a:solidFill>
              </a:rPr>
              <a:t>类之间的聚合关系</a:t>
            </a:r>
            <a:r>
              <a:rPr kumimoji="1" lang="en-US" altLang="zh-CN" sz="2400" dirty="0">
                <a:solidFill>
                  <a:schemeClr val="bg1"/>
                </a:solidFill>
              </a:rPr>
              <a:t>2</a:t>
            </a:r>
            <a:r>
              <a:rPr kumimoji="1" lang="en-US" altLang="zh-CN" sz="2400" dirty="0">
                <a:solidFill>
                  <a:schemeClr val="bg1"/>
                </a:solidFill>
              </a:rPr>
              <a:t>/3</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组合聚合</a:t>
            </a:r>
            <a:endParaRPr kumimoji="1" lang="zh-CN" altLang="en-US" sz="2800" dirty="0">
              <a:sym typeface="+mn-ea"/>
            </a:endParaRPr>
          </a:p>
        </p:txBody>
      </p:sp>
      <p:sp>
        <p:nvSpPr>
          <p:cNvPr id="9" name="文本框 8"/>
          <p:cNvSpPr txBox="1"/>
          <p:nvPr/>
        </p:nvSpPr>
        <p:spPr>
          <a:xfrm>
            <a:off x="257175" y="1708785"/>
            <a:ext cx="8655050" cy="4975225"/>
          </a:xfrm>
          <a:prstGeom prst="rect">
            <a:avLst/>
          </a:prstGeom>
          <a:noFill/>
        </p:spPr>
        <p:txBody>
          <a:bodyPr wrap="square" rtlCol="0" anchor="t">
            <a:noAutofit/>
          </a:bodyPr>
          <a:p>
            <a:pPr marL="342900" indent="-342900" eaLnBrk="1" hangingPunct="1">
              <a:lnSpc>
                <a:spcPct val="150000"/>
              </a:lnSpc>
              <a:buFont typeface="Arial" panose="020B0604020202020204" pitchFamily="34" charset="0"/>
              <a:buChar char="•"/>
            </a:pPr>
            <a:r>
              <a:rPr lang="zh-CN" altLang="en-US" sz="2000" b="1" dirty="0">
                <a:latin typeface="Times New Roman" panose="02020603050405020304" pitchFamily="18" charset="0"/>
                <a:ea typeface="等线" panose="02010600030101010101" charset="-122"/>
                <a:cs typeface="Times New Roman" panose="02020603050405020304" pitchFamily="18" charset="0"/>
                <a:sym typeface="+mn-ea"/>
              </a:rPr>
              <a:t>在组合聚合中，部分类对象的生命周期</a:t>
            </a:r>
            <a:r>
              <a:rPr lang="zh-CN" altLang="en-US" sz="2000" b="1" dirty="0">
                <a:latin typeface="Times New Roman" panose="02020603050405020304" pitchFamily="18" charset="0"/>
                <a:ea typeface="等线" panose="02010600030101010101" charset="-122"/>
                <a:cs typeface="Times New Roman" panose="02020603050405020304" pitchFamily="18" charset="0"/>
                <a:sym typeface="+mn-ea"/>
              </a:rPr>
              <a:t>依赖于整体类对象的生命周期。</a:t>
            </a:r>
            <a:endParaRPr lang="zh-CN" altLang="en-US" sz="20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50000"/>
              </a:lnSpc>
              <a:buFont typeface="Arial" panose="020B0604020202020204" pitchFamily="34" charset="0"/>
              <a:buChar char="•"/>
            </a:pPr>
            <a:endParaRPr lang="zh-CN" altLang="en-US" sz="20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50000"/>
              </a:lnSpc>
              <a:buFont typeface="Arial" panose="020B0604020202020204" pitchFamily="34" charset="0"/>
              <a:buChar char="•"/>
            </a:pPr>
            <a:endParaRPr lang="zh-CN" altLang="en-US" sz="20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50000"/>
              </a:lnSpc>
              <a:buFont typeface="Arial" panose="020B0604020202020204" pitchFamily="34" charset="0"/>
              <a:buChar char="•"/>
            </a:pPr>
            <a:r>
              <a:rPr lang="zh-CN" altLang="en-US" sz="2000" b="1" dirty="0">
                <a:latin typeface="Times New Roman" panose="02020603050405020304" pitchFamily="18" charset="0"/>
                <a:ea typeface="等线" panose="02010600030101010101" charset="-122"/>
                <a:cs typeface="Times New Roman" panose="02020603050405020304" pitchFamily="18" charset="0"/>
                <a:sym typeface="+mn-ea"/>
              </a:rPr>
              <a:t>例如，BankAccount和Transactions都被建模为类，在银行账户存在之前，存款或取款交易不能发生。</a:t>
            </a:r>
            <a:endParaRPr lang="zh-CN" altLang="en-US" sz="2000" b="1" dirty="0">
              <a:latin typeface="Times New Roman" panose="02020603050405020304" pitchFamily="18" charset="0"/>
              <a:ea typeface="等线" panose="02010600030101010101" charset="-122"/>
              <a:cs typeface="Times New Roman" panose="02020603050405020304" pitchFamily="18" charset="0"/>
              <a:sym typeface="+mn-ea"/>
            </a:endParaRPr>
          </a:p>
          <a:p>
            <a:pPr marL="800100" lvl="1" indent="-342900" eaLnBrk="1" hangingPunct="1">
              <a:lnSpc>
                <a:spcPct val="150000"/>
              </a:lnSpc>
              <a:buFont typeface="Arial" panose="020B0604020202020204" pitchFamily="34" charset="0"/>
              <a:buChar char="•"/>
            </a:pPr>
            <a:r>
              <a:rPr lang="zh-CN" altLang="en-US" sz="2000" b="1" dirty="0">
                <a:latin typeface="Times New Roman" panose="02020603050405020304" pitchFamily="18" charset="0"/>
                <a:ea typeface="等线" panose="02010600030101010101" charset="-122"/>
                <a:cs typeface="Times New Roman" panose="02020603050405020304" pitchFamily="18" charset="0"/>
                <a:sym typeface="+mn-ea"/>
              </a:rPr>
              <a:t>Transactions类的实例依赖于Bank Account类的实例。当BankAccount被销毁时，Transaction实例也会自动销毁。</a:t>
            </a:r>
            <a:endParaRPr lang="zh-CN" altLang="en-US" sz="2000" b="1" dirty="0">
              <a:latin typeface="Times New Roman" panose="02020603050405020304" pitchFamily="18" charset="0"/>
              <a:ea typeface="等线" panose="02010600030101010101" charset="-122"/>
              <a:cs typeface="Times New Roman" panose="02020603050405020304" pitchFamily="18" charset="0"/>
              <a:sym typeface="+mn-ea"/>
            </a:endParaRPr>
          </a:p>
        </p:txBody>
      </p:sp>
      <p:grpSp>
        <p:nvGrpSpPr>
          <p:cNvPr id="68625" name="组合 2"/>
          <p:cNvGrpSpPr/>
          <p:nvPr/>
        </p:nvGrpSpPr>
        <p:grpSpPr>
          <a:xfrm>
            <a:off x="1439545" y="2288540"/>
            <a:ext cx="3457575" cy="703263"/>
            <a:chOff x="1619250" y="4508500"/>
            <a:chExt cx="3457575" cy="703263"/>
          </a:xfrm>
        </p:grpSpPr>
        <p:grpSp>
          <p:nvGrpSpPr>
            <p:cNvPr id="68626" name="Group 12"/>
            <p:cNvGrpSpPr/>
            <p:nvPr/>
          </p:nvGrpSpPr>
          <p:grpSpPr>
            <a:xfrm>
              <a:off x="1619250" y="4508500"/>
              <a:ext cx="3457575" cy="360363"/>
              <a:chOff x="1247" y="3475"/>
              <a:chExt cx="2178" cy="227"/>
            </a:xfrm>
          </p:grpSpPr>
          <p:sp>
            <p:nvSpPr>
              <p:cNvPr id="68627" name="Rectangle 13"/>
              <p:cNvSpPr/>
              <p:nvPr>
                <p:custDataLst>
                  <p:tags r:id="rId8"/>
                </p:custDataLst>
              </p:nvPr>
            </p:nvSpPr>
            <p:spPr>
              <a:xfrm>
                <a:off x="1247" y="3475"/>
                <a:ext cx="681" cy="227"/>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Whole</a:t>
                </a:r>
                <a:endParaRPr lang="en-US" altLang="zh-CN" sz="2000" b="1" dirty="0">
                  <a:latin typeface="Times New Roman" panose="02020603050405020304" pitchFamily="18" charset="0"/>
                </a:endParaRPr>
              </a:p>
            </p:txBody>
          </p:sp>
          <p:sp>
            <p:nvSpPr>
              <p:cNvPr id="68628" name="Rectangle 14"/>
              <p:cNvSpPr/>
              <p:nvPr>
                <p:custDataLst>
                  <p:tags r:id="rId9"/>
                </p:custDataLst>
              </p:nvPr>
            </p:nvSpPr>
            <p:spPr>
              <a:xfrm>
                <a:off x="2744" y="3475"/>
                <a:ext cx="681" cy="227"/>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Part</a:t>
                </a:r>
                <a:endParaRPr lang="en-US" altLang="zh-CN" sz="2000" b="1" dirty="0">
                  <a:latin typeface="Times New Roman" panose="02020603050405020304" pitchFamily="18" charset="0"/>
                </a:endParaRPr>
              </a:p>
            </p:txBody>
          </p:sp>
          <p:sp>
            <p:nvSpPr>
              <p:cNvPr id="68629" name="AutoShape 15"/>
              <p:cNvSpPr/>
              <p:nvPr>
                <p:custDataLst>
                  <p:tags r:id="rId10"/>
                </p:custDataLst>
              </p:nvPr>
            </p:nvSpPr>
            <p:spPr>
              <a:xfrm>
                <a:off x="1928" y="3520"/>
                <a:ext cx="227" cy="136"/>
              </a:xfrm>
              <a:prstGeom prst="flowChartDecision">
                <a:avLst/>
              </a:prstGeom>
              <a:solidFill>
                <a:schemeClr val="tx1"/>
              </a:solidFill>
              <a:ln w="25400" cap="flat" cmpd="sng">
                <a:solidFill>
                  <a:schemeClr val="tx1"/>
                </a:solidFill>
                <a:prstDash val="solid"/>
                <a:miter/>
                <a:headEnd type="none" w="med" len="med"/>
                <a:tailEnd type="none" w="med" len="med"/>
              </a:ln>
            </p:spPr>
            <p:txBody>
              <a:bodyPr wrap="none" anchor="ctr" anchorCtr="0"/>
              <a:p>
                <a:pPr>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68630" name="Line 16"/>
              <p:cNvSpPr/>
              <p:nvPr>
                <p:custDataLst>
                  <p:tags r:id="rId11"/>
                </p:custDataLst>
              </p:nvPr>
            </p:nvSpPr>
            <p:spPr>
              <a:xfrm>
                <a:off x="2155" y="3593"/>
                <a:ext cx="589" cy="0"/>
              </a:xfrm>
              <a:prstGeom prst="line">
                <a:avLst/>
              </a:prstGeom>
              <a:ln w="28575" cap="flat" cmpd="sng">
                <a:solidFill>
                  <a:schemeClr val="tx1"/>
                </a:solidFill>
                <a:prstDash val="solid"/>
                <a:round/>
                <a:headEnd type="none" w="med" len="med"/>
                <a:tailEnd type="none" w="med" len="med"/>
              </a:ln>
            </p:spPr>
          </p:sp>
        </p:grpSp>
        <p:sp>
          <p:nvSpPr>
            <p:cNvPr id="68631" name="矩形 22"/>
            <p:cNvSpPr/>
            <p:nvPr>
              <p:custDataLst>
                <p:tags r:id="rId12"/>
              </p:custDataLst>
            </p:nvPr>
          </p:nvSpPr>
          <p:spPr>
            <a:xfrm>
              <a:off x="3337152" y="4771345"/>
              <a:ext cx="1214437" cy="415925"/>
            </a:xfrm>
            <a:prstGeom prst="rect">
              <a:avLst/>
            </a:prstGeom>
            <a:noFill/>
            <a:ln w="9525">
              <a:noFill/>
            </a:ln>
          </p:spPr>
          <p:txBody>
            <a:bodyPr anchor="t" anchorCtr="0">
              <a:spAutoFit/>
            </a:bodyPr>
            <a:p>
              <a:pPr eaLnBrk="0" hangingPunct="0"/>
              <a:r>
                <a:rPr lang="en-US" altLang="zh-CN" b="1" dirty="0">
                  <a:latin typeface="Times New Roman" panose="02020603050405020304" pitchFamily="18" charset="0"/>
                </a:rPr>
                <a:t>1 -part</a:t>
              </a:r>
              <a:endParaRPr lang="zh-CN" altLang="en-US" dirty="0">
                <a:latin typeface="Times New Roman" panose="02020603050405020304" pitchFamily="18" charset="0"/>
                <a:ea typeface="宋体" panose="02010600030101010101" pitchFamily="2" charset="-122"/>
              </a:endParaRPr>
            </a:p>
          </p:txBody>
        </p:sp>
        <p:sp>
          <p:nvSpPr>
            <p:cNvPr id="68632" name="矩形 23"/>
            <p:cNvSpPr/>
            <p:nvPr>
              <p:custDataLst>
                <p:tags r:id="rId13"/>
              </p:custDataLst>
            </p:nvPr>
          </p:nvSpPr>
          <p:spPr>
            <a:xfrm>
              <a:off x="2859088" y="4795838"/>
              <a:ext cx="319087" cy="415925"/>
            </a:xfrm>
            <a:prstGeom prst="rect">
              <a:avLst/>
            </a:prstGeom>
            <a:noFill/>
            <a:ln w="9525">
              <a:noFill/>
            </a:ln>
          </p:spPr>
          <p:txBody>
            <a:bodyPr wrap="none" anchor="t" anchorCtr="0">
              <a:spAutoFit/>
            </a:bodyPr>
            <a:p>
              <a:pPr eaLnBrk="0" hangingPunct="0"/>
              <a:r>
                <a:rPr lang="en-US" altLang="zh-CN" b="1" dirty="0">
                  <a:latin typeface="Times New Roman" panose="02020603050405020304" pitchFamily="18" charset="0"/>
                </a:rPr>
                <a:t>1</a:t>
              </a:r>
              <a:endParaRPr lang="zh-CN" altLang="en-US" dirty="0">
                <a:latin typeface="Times New Roman" panose="02020603050405020304" pitchFamily="18" charset="0"/>
                <a:ea typeface="宋体" panose="02010600030101010101" pitchFamily="2" charset="-122"/>
              </a:endParaRPr>
            </a:p>
          </p:txBody>
        </p:sp>
      </p:grpSp>
      <p:grpSp>
        <p:nvGrpSpPr>
          <p:cNvPr id="8" name="Group 26"/>
          <p:cNvGrpSpPr/>
          <p:nvPr/>
        </p:nvGrpSpPr>
        <p:grpSpPr>
          <a:xfrm>
            <a:off x="1585913" y="5098733"/>
            <a:ext cx="5761037" cy="757237"/>
            <a:chOff x="929" y="2704"/>
            <a:chExt cx="3629" cy="477"/>
          </a:xfrm>
        </p:grpSpPr>
        <p:sp>
          <p:nvSpPr>
            <p:cNvPr id="70663" name="Rectangle 19"/>
            <p:cNvSpPr/>
            <p:nvPr>
              <p:custDataLst>
                <p:tags r:id="rId14"/>
              </p:custDataLst>
            </p:nvPr>
          </p:nvSpPr>
          <p:spPr>
            <a:xfrm>
              <a:off x="929" y="2795"/>
              <a:ext cx="1180" cy="227"/>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BankAccount</a:t>
              </a:r>
              <a:endParaRPr lang="en-US" altLang="zh-CN" sz="2000" b="1" dirty="0">
                <a:latin typeface="Times New Roman" panose="02020603050405020304" pitchFamily="18" charset="0"/>
              </a:endParaRPr>
            </a:p>
          </p:txBody>
        </p:sp>
        <p:sp>
          <p:nvSpPr>
            <p:cNvPr id="70664" name="Rectangle 20"/>
            <p:cNvSpPr/>
            <p:nvPr>
              <p:custDataLst>
                <p:tags r:id="rId15"/>
              </p:custDataLst>
            </p:nvPr>
          </p:nvSpPr>
          <p:spPr>
            <a:xfrm>
              <a:off x="3560" y="2795"/>
              <a:ext cx="998" cy="227"/>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2000" b="1" dirty="0">
                  <a:latin typeface="Times New Roman" panose="02020603050405020304" pitchFamily="18" charset="0"/>
                </a:rPr>
                <a:t>Transaction</a:t>
              </a:r>
              <a:endParaRPr lang="en-US" altLang="zh-CN" sz="2000" b="1" dirty="0">
                <a:latin typeface="Times New Roman" panose="02020603050405020304" pitchFamily="18" charset="0"/>
              </a:endParaRPr>
            </a:p>
          </p:txBody>
        </p:sp>
        <p:sp>
          <p:nvSpPr>
            <p:cNvPr id="70665" name="AutoShape 21"/>
            <p:cNvSpPr/>
            <p:nvPr>
              <p:custDataLst>
                <p:tags r:id="rId16"/>
              </p:custDataLst>
            </p:nvPr>
          </p:nvSpPr>
          <p:spPr>
            <a:xfrm>
              <a:off x="2109" y="2840"/>
              <a:ext cx="227" cy="136"/>
            </a:xfrm>
            <a:prstGeom prst="flowChartDecision">
              <a:avLst/>
            </a:prstGeom>
            <a:solidFill>
              <a:schemeClr val="tx1"/>
            </a:solidFill>
            <a:ln w="25400" cap="flat" cmpd="sng">
              <a:solidFill>
                <a:schemeClr val="tx1"/>
              </a:solidFill>
              <a:prstDash val="solid"/>
              <a:miter/>
              <a:headEnd type="none" w="med" len="med"/>
              <a:tailEnd type="none" w="med" len="med"/>
            </a:ln>
          </p:spPr>
          <p:txBody>
            <a:bodyPr wrap="none" anchor="ctr" anchorCtr="0"/>
            <a:p>
              <a:pPr>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70666" name="Line 22"/>
            <p:cNvSpPr/>
            <p:nvPr>
              <p:custDataLst>
                <p:tags r:id="rId17"/>
              </p:custDataLst>
            </p:nvPr>
          </p:nvSpPr>
          <p:spPr>
            <a:xfrm>
              <a:off x="2336" y="2913"/>
              <a:ext cx="1224" cy="18"/>
            </a:xfrm>
            <a:prstGeom prst="line">
              <a:avLst/>
            </a:prstGeom>
            <a:ln w="28575" cap="flat" cmpd="sng">
              <a:solidFill>
                <a:schemeClr val="tx1"/>
              </a:solidFill>
              <a:prstDash val="solid"/>
              <a:round/>
              <a:headEnd type="none" w="med" len="med"/>
              <a:tailEnd type="none" w="med" len="med"/>
            </a:ln>
          </p:spPr>
        </p:sp>
        <p:sp>
          <p:nvSpPr>
            <p:cNvPr id="70667" name="Rectangle 23"/>
            <p:cNvSpPr/>
            <p:nvPr>
              <p:custDataLst>
                <p:tags r:id="rId18"/>
              </p:custDataLst>
            </p:nvPr>
          </p:nvSpPr>
          <p:spPr>
            <a:xfrm>
              <a:off x="3198" y="2704"/>
              <a:ext cx="286" cy="250"/>
            </a:xfrm>
            <a:prstGeom prst="rect">
              <a:avLst/>
            </a:prstGeom>
            <a:noFill/>
            <a:ln w="9525">
              <a:noFill/>
            </a:ln>
          </p:spPr>
          <p:txBody>
            <a:bodyPr anchor="t" anchorCtr="0">
              <a:spAutoFit/>
            </a:bodyPr>
            <a:p>
              <a:r>
                <a:rPr lang="en-US" altLang="zh-CN" sz="2000" b="1" dirty="0">
                  <a:latin typeface="Times New Roman" panose="02020603050405020304" pitchFamily="18" charset="0"/>
                </a:rPr>
                <a:t>1</a:t>
              </a:r>
              <a:endParaRPr lang="zh-CN" altLang="en-US" sz="2000" b="1" dirty="0">
                <a:latin typeface="Times New Roman" panose="02020603050405020304" pitchFamily="18" charset="0"/>
                <a:ea typeface="宋体" panose="02010600030101010101" pitchFamily="2" charset="-122"/>
              </a:endParaRPr>
            </a:p>
          </p:txBody>
        </p:sp>
        <p:sp>
          <p:nvSpPr>
            <p:cNvPr id="70668" name="Rectangle 24"/>
            <p:cNvSpPr/>
            <p:nvPr>
              <p:custDataLst>
                <p:tags r:id="rId19"/>
              </p:custDataLst>
            </p:nvPr>
          </p:nvSpPr>
          <p:spPr>
            <a:xfrm>
              <a:off x="2336" y="2704"/>
              <a:ext cx="196" cy="250"/>
            </a:xfrm>
            <a:prstGeom prst="rect">
              <a:avLst/>
            </a:prstGeom>
            <a:noFill/>
            <a:ln w="9525">
              <a:noFill/>
            </a:ln>
          </p:spPr>
          <p:txBody>
            <a:bodyPr wrap="none" anchor="t" anchorCtr="0">
              <a:spAutoFit/>
            </a:bodyPr>
            <a:p>
              <a:r>
                <a:rPr lang="en-US" altLang="zh-CN" sz="2000" b="1" dirty="0">
                  <a:latin typeface="Times New Roman" panose="02020603050405020304" pitchFamily="18" charset="0"/>
                </a:rPr>
                <a:t>1</a:t>
              </a:r>
              <a:endParaRPr lang="zh-CN" altLang="en-US" sz="2000" b="1" dirty="0">
                <a:latin typeface="Times New Roman" panose="02020603050405020304" pitchFamily="18" charset="0"/>
                <a:ea typeface="宋体" panose="02010600030101010101" pitchFamily="2" charset="-122"/>
              </a:endParaRPr>
            </a:p>
          </p:txBody>
        </p:sp>
        <p:sp>
          <p:nvSpPr>
            <p:cNvPr id="70669" name="Rectangle 25"/>
            <p:cNvSpPr/>
            <p:nvPr>
              <p:custDataLst>
                <p:tags r:id="rId20"/>
              </p:custDataLst>
            </p:nvPr>
          </p:nvSpPr>
          <p:spPr>
            <a:xfrm>
              <a:off x="2562" y="2931"/>
              <a:ext cx="953" cy="250"/>
            </a:xfrm>
            <a:prstGeom prst="rect">
              <a:avLst/>
            </a:prstGeom>
            <a:noFill/>
            <a:ln w="9525">
              <a:noFill/>
            </a:ln>
          </p:spPr>
          <p:txBody>
            <a:bodyPr anchor="t" anchorCtr="0">
              <a:spAutoFit/>
            </a:bodyPr>
            <a:p>
              <a:r>
                <a:rPr lang="en-US" altLang="zh-CN" sz="2000" b="1" dirty="0">
                  <a:latin typeface="Times New Roman" panose="02020603050405020304" pitchFamily="18" charset="0"/>
                </a:rPr>
                <a:t>-transaction</a:t>
              </a:r>
              <a:endParaRPr lang="zh-CN" altLang="en-US" sz="2000" b="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1.2.4 </a:t>
            </a:r>
            <a:r>
              <a:rPr kumimoji="1" lang="zh-CN" altLang="en-US" dirty="0">
                <a:solidFill>
                  <a:schemeClr val="bg1"/>
                </a:solidFill>
              </a:rPr>
              <a:t>类之间的聚合关系</a:t>
            </a:r>
            <a:r>
              <a:rPr kumimoji="1" lang="en-US" altLang="zh-CN" sz="2400" dirty="0">
                <a:solidFill>
                  <a:schemeClr val="bg1"/>
                </a:solidFill>
              </a:rPr>
              <a:t>3</a:t>
            </a:r>
            <a:r>
              <a:rPr kumimoji="1" lang="en-US" altLang="zh-CN" sz="2400" dirty="0">
                <a:solidFill>
                  <a:schemeClr val="bg1"/>
                </a:solidFill>
              </a:rPr>
              <a:t>/3</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聚合关系是关联的一种特殊</a:t>
            </a:r>
            <a:r>
              <a:rPr kumimoji="1" lang="zh-CN" altLang="en-US" sz="2800" dirty="0">
                <a:sym typeface="+mn-ea"/>
              </a:rPr>
              <a:t>形式</a:t>
            </a:r>
            <a:endParaRPr kumimoji="1" lang="zh-CN" altLang="en-US" sz="2800" dirty="0">
              <a:sym typeface="+mn-ea"/>
            </a:endParaRPr>
          </a:p>
        </p:txBody>
      </p:sp>
      <p:sp>
        <p:nvSpPr>
          <p:cNvPr id="9" name="文本框 8"/>
          <p:cNvSpPr txBox="1"/>
          <p:nvPr/>
        </p:nvSpPr>
        <p:spPr>
          <a:xfrm>
            <a:off x="184785" y="1558290"/>
            <a:ext cx="8790305" cy="4975225"/>
          </a:xfrm>
          <a:prstGeom prst="rect">
            <a:avLst/>
          </a:prstGeom>
          <a:noFill/>
        </p:spPr>
        <p:txBody>
          <a:bodyPr wrap="square" rtlCol="0" anchor="t">
            <a:noAutofit/>
          </a:bodyPr>
          <a:p>
            <a:pPr marL="800100" lvl="1" indent="-342900" eaLnBrk="1" hangingPunct="1">
              <a:lnSpc>
                <a:spcPct val="150000"/>
              </a:lnSpc>
              <a:buFont typeface="Arial" panose="020B0604020202020204" pitchFamily="34" charset="0"/>
              <a:buChar char="•"/>
            </a:pPr>
            <a:r>
              <a:rPr lang="zh-CN" altLang="en-US" sz="2400" b="1" dirty="0">
                <a:sym typeface="+mn-ea"/>
              </a:rPr>
              <a:t>聚合关系表示两个类之间的整体/局部关系，整体处于比局部更高的一个级别，</a:t>
            </a:r>
            <a:r>
              <a:rPr lang="zh-CN" altLang="en-US" sz="2400" b="1" dirty="0">
                <a:sym typeface="+mn-ea"/>
              </a:rPr>
              <a:t>类图中不存在回路，而关联暗示两个类在概念上位于相同的级别，</a:t>
            </a:r>
            <a:r>
              <a:rPr lang="zh-CN" altLang="en-US" sz="2400" b="1" dirty="0">
                <a:sym typeface="+mn-ea"/>
              </a:rPr>
              <a:t>类图中</a:t>
            </a:r>
            <a:r>
              <a:rPr lang="zh-CN" altLang="en-US" sz="2400" b="1" dirty="0">
                <a:sym typeface="+mn-ea"/>
              </a:rPr>
              <a:t>可以存在回路</a:t>
            </a:r>
            <a:r>
              <a:rPr lang="zh-CN" altLang="en-US" sz="2400" b="1" dirty="0">
                <a:sym typeface="+mn-ea"/>
              </a:rPr>
              <a:t>。</a:t>
            </a:r>
            <a:endParaRPr lang="zh-CN" altLang="en-US" sz="2400" b="1" dirty="0"/>
          </a:p>
          <a:p>
            <a:pPr marL="800100" lvl="1" indent="-342900" eaLnBrk="1" hangingPunct="1">
              <a:lnSpc>
                <a:spcPct val="150000"/>
              </a:lnSpc>
              <a:buFont typeface="Arial" panose="020B0604020202020204" pitchFamily="34" charset="0"/>
              <a:buChar char="•"/>
            </a:pPr>
            <a:r>
              <a:rPr lang="zh-CN" altLang="en-US" sz="2400" b="1" dirty="0">
                <a:solidFill>
                  <a:srgbClr val="034DA0"/>
                </a:solidFill>
                <a:sym typeface="+mn-ea"/>
              </a:rPr>
              <a:t>用</a:t>
            </a:r>
            <a:r>
              <a:rPr lang="en-US" altLang="zh-CN" sz="2400" b="1" dirty="0">
                <a:solidFill>
                  <a:srgbClr val="034DA0"/>
                </a:solidFill>
                <a:sym typeface="+mn-ea"/>
              </a:rPr>
              <a:t>Java</a:t>
            </a:r>
            <a:r>
              <a:rPr lang="zh-CN" altLang="en-US" sz="2400" b="1" dirty="0">
                <a:solidFill>
                  <a:srgbClr val="034DA0"/>
                </a:solidFill>
                <a:sym typeface="+mn-ea"/>
              </a:rPr>
              <a:t>编程实现时，整体类</a:t>
            </a:r>
            <a:r>
              <a:rPr lang="en-US" altLang="zh-CN" sz="2400" b="1" dirty="0">
                <a:solidFill>
                  <a:srgbClr val="034DA0"/>
                </a:solidFill>
                <a:sym typeface="+mn-ea"/>
              </a:rPr>
              <a:t>Whole</a:t>
            </a:r>
            <a:r>
              <a:rPr lang="zh-CN" altLang="en-US" sz="2400" b="1" dirty="0">
                <a:solidFill>
                  <a:srgbClr val="034DA0"/>
                </a:solidFill>
                <a:sym typeface="+mn-ea"/>
              </a:rPr>
              <a:t>包含一个局部类</a:t>
            </a:r>
            <a:r>
              <a:rPr lang="en-US" altLang="zh-CN" sz="2400" b="1" dirty="0">
                <a:solidFill>
                  <a:srgbClr val="034DA0"/>
                </a:solidFill>
                <a:sym typeface="+mn-ea"/>
              </a:rPr>
              <a:t>Part</a:t>
            </a:r>
            <a:r>
              <a:rPr lang="zh-CN" altLang="en-US" sz="2400" b="1" dirty="0">
                <a:solidFill>
                  <a:srgbClr val="034DA0"/>
                </a:solidFill>
                <a:sym typeface="+mn-ea"/>
              </a:rPr>
              <a:t>类型的属性变量：</a:t>
            </a:r>
            <a:endParaRPr lang="zh-CN" altLang="en-US" sz="2400" b="1" dirty="0">
              <a:solidFill>
                <a:srgbClr val="034DA0"/>
              </a:solidFill>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74760" name="AutoShape 7"/>
          <p:cNvSpPr/>
          <p:nvPr>
            <p:custDataLst>
              <p:tags r:id="rId8"/>
            </p:custDataLst>
          </p:nvPr>
        </p:nvSpPr>
        <p:spPr>
          <a:xfrm>
            <a:off x="947420" y="4404360"/>
            <a:ext cx="7690485" cy="1762760"/>
          </a:xfrm>
          <a:prstGeom prst="roundRect">
            <a:avLst>
              <a:gd name="adj" fmla="val 16667"/>
            </a:avLst>
          </a:prstGeom>
          <a:noFill/>
          <a:ln w="12700" cap="flat" cmpd="sng">
            <a:solidFill>
              <a:schemeClr val="hlink"/>
            </a:solidFill>
            <a:prstDash val="dash"/>
            <a:round/>
            <a:headEnd type="none" w="med" len="med"/>
            <a:tailEnd type="none" w="med" len="med"/>
          </a:ln>
        </p:spPr>
        <p:txBody>
          <a:bodyPr wrap="none" anchor="ctr" anchorCtr="0"/>
          <a:p>
            <a:pPr marL="914400" lvl="1" indent="-457200" eaLnBrk="1" hangingPunct="1">
              <a:lnSpc>
                <a:spcPct val="90000"/>
              </a:lnSpc>
              <a:spcBef>
                <a:spcPct val="20000"/>
              </a:spcBef>
              <a:buClr>
                <a:schemeClr val="accent2"/>
              </a:buClr>
              <a:buFont typeface="Wingdings" panose="05000000000000000000" pitchFamily="2" charset="2"/>
            </a:pPr>
            <a:r>
              <a:rPr lang="en-US" altLang="zh-CN" sz="2300" b="1" dirty="0">
                <a:latin typeface="Times New Roman" panose="02020603050405020304" pitchFamily="18" charset="0"/>
              </a:rPr>
              <a:t>public  class Whole{</a:t>
            </a:r>
            <a:endParaRPr lang="en-US" altLang="zh-CN" sz="2300" b="1" dirty="0">
              <a:latin typeface="Times New Roman" panose="02020603050405020304" pitchFamily="18" charset="0"/>
            </a:endParaRPr>
          </a:p>
          <a:p>
            <a:pPr marL="914400" lvl="1" indent="-457200" eaLnBrk="1" hangingPunct="1">
              <a:lnSpc>
                <a:spcPct val="90000"/>
              </a:lnSpc>
              <a:spcBef>
                <a:spcPct val="20000"/>
              </a:spcBef>
              <a:buClr>
                <a:schemeClr val="accent2"/>
              </a:buClr>
              <a:buFont typeface="Wingdings" panose="05000000000000000000" pitchFamily="2" charset="2"/>
            </a:pPr>
            <a:r>
              <a:rPr lang="en-US" altLang="zh-CN" sz="2300" b="1" dirty="0">
                <a:latin typeface="Times New Roman" panose="02020603050405020304" pitchFamily="18" charset="0"/>
              </a:rPr>
              <a:t>		</a:t>
            </a:r>
            <a:r>
              <a:rPr lang="en-US" altLang="zh-CN" sz="2300" b="1" dirty="0">
                <a:solidFill>
                  <a:srgbClr val="FF0066"/>
                </a:solidFill>
                <a:latin typeface="Times New Roman" panose="02020603050405020304" pitchFamily="18" charset="0"/>
              </a:rPr>
              <a:t>private Part itsPart;</a:t>
            </a:r>
            <a:endParaRPr lang="en-US" altLang="zh-CN" sz="2300" b="1" dirty="0">
              <a:solidFill>
                <a:srgbClr val="FF0066"/>
              </a:solidFill>
              <a:latin typeface="Times New Roman" panose="02020603050405020304" pitchFamily="18" charset="0"/>
            </a:endParaRPr>
          </a:p>
          <a:p>
            <a:pPr marL="914400" lvl="1" indent="-457200" eaLnBrk="1" hangingPunct="1">
              <a:lnSpc>
                <a:spcPct val="90000"/>
              </a:lnSpc>
              <a:spcBef>
                <a:spcPct val="20000"/>
              </a:spcBef>
              <a:buClr>
                <a:schemeClr val="accent2"/>
              </a:buClr>
              <a:buFont typeface="Wingdings" panose="05000000000000000000" pitchFamily="2" charset="2"/>
            </a:pPr>
            <a:r>
              <a:rPr lang="en-US" altLang="zh-CN" sz="2300" b="1" dirty="0">
                <a:latin typeface="Times New Roman" panose="02020603050405020304" pitchFamily="18" charset="0"/>
              </a:rPr>
              <a:t>		……</a:t>
            </a:r>
            <a:endParaRPr lang="en-US" altLang="zh-CN" sz="2300" b="1" dirty="0">
              <a:latin typeface="Times New Roman" panose="02020603050405020304" pitchFamily="18" charset="0"/>
            </a:endParaRPr>
          </a:p>
          <a:p>
            <a:pPr marL="914400" lvl="1" indent="-457200" eaLnBrk="1" hangingPunct="1">
              <a:lnSpc>
                <a:spcPct val="90000"/>
              </a:lnSpc>
              <a:spcBef>
                <a:spcPct val="20000"/>
              </a:spcBef>
              <a:buClr>
                <a:schemeClr val="accent2"/>
              </a:buClr>
              <a:buFont typeface="Wingdings" panose="05000000000000000000" pitchFamily="2" charset="2"/>
            </a:pPr>
            <a:r>
              <a:rPr lang="en-US" altLang="zh-CN" sz="2300" b="1" dirty="0">
                <a:latin typeface="Times New Roman" panose="02020603050405020304" pitchFamily="18" charset="0"/>
              </a:rPr>
              <a:t>}</a:t>
            </a:r>
            <a:endParaRPr lang="en-US" altLang="zh-CN" sz="23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grpId="0" nodeType="clickEffect">
                                  <p:stCondLst>
                                    <p:cond delay="0"/>
                                  </p:stCondLst>
                                  <p:childTnLst>
                                    <p:set>
                                      <p:cBhvr>
                                        <p:cTn id="10" dur="1" fill="hold">
                                          <p:stCondLst>
                                            <p:cond delay="0"/>
                                          </p:stCondLst>
                                        </p:cTn>
                                        <p:tgtEl>
                                          <p:spTgt spid="74760"/>
                                        </p:tgtEl>
                                        <p:attrNameLst>
                                          <p:attrName>style.visibility</p:attrName>
                                        </p:attrNameLst>
                                      </p:cBhvr>
                                      <p:to>
                                        <p:strVal val="visible"/>
                                      </p:to>
                                    </p:set>
                                    <p:animEffect transition="in" filter="barn(inHorizontal)">
                                      <p:cBhvr>
                                        <p:cTn id="11"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0"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1.2.5 </a:t>
            </a:r>
            <a:r>
              <a:rPr kumimoji="1" lang="zh-CN" altLang="en-US" dirty="0">
                <a:solidFill>
                  <a:schemeClr val="bg1"/>
                </a:solidFill>
              </a:rPr>
              <a:t>类之间的继承关系</a:t>
            </a:r>
            <a:r>
              <a:rPr kumimoji="1" lang="en-US" altLang="zh-CN" sz="2400" dirty="0">
                <a:solidFill>
                  <a:schemeClr val="bg1"/>
                </a:solidFill>
              </a:rPr>
              <a:t>1/</a:t>
            </a:r>
            <a:r>
              <a:rPr kumimoji="1" lang="zh-CN" altLang="en-US" sz="2400" dirty="0">
                <a:solidFill>
                  <a:schemeClr val="bg1"/>
                </a:solidFill>
              </a:rPr>
              <a:t>？</a:t>
            </a:r>
            <a:endParaRPr kumimoji="1" lang="zh-CN" altLang="en-US" sz="2400" dirty="0">
              <a:solidFill>
                <a:schemeClr val="bg1"/>
              </a:solidFill>
            </a:endParaRPr>
          </a:p>
        </p:txBody>
      </p:sp>
      <p:sp>
        <p:nvSpPr>
          <p:cNvPr id="2"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继承关系的</a:t>
            </a:r>
            <a:r>
              <a:rPr kumimoji="1" lang="zh-CN" altLang="en-US" sz="2800" dirty="0">
                <a:sym typeface="+mn-ea"/>
              </a:rPr>
              <a:t>含义</a:t>
            </a:r>
            <a:endParaRPr kumimoji="1" lang="zh-CN" altLang="en-US" sz="2800" dirty="0">
              <a:sym typeface="+mn-ea"/>
            </a:endParaRPr>
          </a:p>
        </p:txBody>
      </p:sp>
      <p:sp>
        <p:nvSpPr>
          <p:cNvPr id="9" name="文本框 8"/>
          <p:cNvSpPr txBox="1"/>
          <p:nvPr/>
        </p:nvSpPr>
        <p:spPr>
          <a:xfrm>
            <a:off x="473710" y="1757680"/>
            <a:ext cx="6394450" cy="4058285"/>
          </a:xfrm>
          <a:prstGeom prst="rect">
            <a:avLst/>
          </a:prstGeom>
          <a:noFill/>
        </p:spPr>
        <p:txBody>
          <a:bodyPr wrap="square" rtlCol="0" anchor="t">
            <a:noAutofit/>
          </a:bodyPr>
          <a:p>
            <a:pPr marL="342900" lvl="1" indent="-342900" eaLnBrk="1" hangingPunct="1">
              <a:lnSpc>
                <a:spcPct val="150000"/>
              </a:lnSpc>
              <a:buFont typeface="Arial" panose="020B0604020202020204" pitchFamily="34" charset="0"/>
              <a:buChar char="•"/>
            </a:pPr>
            <a:r>
              <a:rPr lang="zh-CN" altLang="en-US" sz="2400" b="1" kern="0" dirty="0">
                <a:sym typeface="+mn-ea"/>
              </a:rPr>
              <a:t>由于现实世界中很多实体都有继承的含义，所以在软件建模中，将有继承含义的两个实体建模为由继承关系的两个类</a:t>
            </a:r>
            <a:endParaRPr lang="zh-CN" altLang="en-US" sz="2400" b="1" kern="0" dirty="0">
              <a:sym typeface="+mn-ea"/>
            </a:endParaRPr>
          </a:p>
          <a:p>
            <a:pPr marL="342900" lvl="1" indent="-342900" eaLnBrk="1" hangingPunct="1">
              <a:lnSpc>
                <a:spcPct val="150000"/>
              </a:lnSpc>
              <a:buFont typeface="Arial" panose="020B0604020202020204" pitchFamily="34" charset="0"/>
              <a:buChar char="•"/>
            </a:pPr>
            <a:r>
              <a:rPr lang="zh-CN" altLang="en-US" sz="2400" b="1" dirty="0">
                <a:sym typeface="+mn-ea"/>
              </a:rPr>
              <a:t>继承关系代表"是一个"（is-a）的关系</a:t>
            </a:r>
            <a:endParaRPr lang="zh-CN" altLang="en-US" sz="2400" b="1" dirty="0">
              <a:sym typeface="+mn-ea"/>
            </a:endParaRPr>
          </a:p>
          <a:p>
            <a:pPr marL="342900" lvl="1" indent="-342900" eaLnBrk="1" hangingPunct="1">
              <a:lnSpc>
                <a:spcPct val="150000"/>
              </a:lnSpc>
              <a:buFont typeface="Arial" panose="020B0604020202020204" pitchFamily="34" charset="0"/>
              <a:buChar char="•"/>
            </a:pPr>
            <a:r>
              <a:rPr lang="zh-CN" altLang="en-US" sz="2400" b="1" kern="0" noProof="0" dirty="0">
                <a:ln>
                  <a:noFill/>
                </a:ln>
                <a:effectLst/>
                <a:uLnTx/>
                <a:uFillTx/>
                <a:sym typeface="+mn-ea"/>
              </a:rPr>
              <a:t>在类图中，为了建模继承关系，从子类画条实线引向父类，在线的末端画一个带空心的三角形指向父类</a:t>
            </a:r>
            <a:endParaRPr lang="zh-CN" altLang="en-US" sz="2400" b="1" dirty="0">
              <a:solidFill>
                <a:srgbClr val="034DA0"/>
              </a:solidFill>
              <a:latin typeface="Times New Roman" panose="02020603050405020304" pitchFamily="18" charset="0"/>
              <a:ea typeface="等线" panose="02010600030101010101" charset="-122"/>
              <a:cs typeface="Times New Roman" panose="02020603050405020304" pitchFamily="18" charset="0"/>
              <a:sym typeface="+mn-ea"/>
            </a:endParaRPr>
          </a:p>
        </p:txBody>
      </p:sp>
      <p:grpSp>
        <p:nvGrpSpPr>
          <p:cNvPr id="72713" name="组合 7"/>
          <p:cNvGrpSpPr/>
          <p:nvPr/>
        </p:nvGrpSpPr>
        <p:grpSpPr>
          <a:xfrm>
            <a:off x="7167245" y="2114868"/>
            <a:ext cx="1348105" cy="1514752"/>
            <a:chOff x="8085" y="5388"/>
            <a:chExt cx="2123" cy="2383"/>
          </a:xfrm>
        </p:grpSpPr>
        <p:sp>
          <p:nvSpPr>
            <p:cNvPr id="7" name="矩形 6"/>
            <p:cNvSpPr/>
            <p:nvPr>
              <p:custDataLst>
                <p:tags r:id="rId8"/>
              </p:custDataLst>
            </p:nvPr>
          </p:nvSpPr>
          <p:spPr>
            <a:xfrm>
              <a:off x="8087" y="5388"/>
              <a:ext cx="2120" cy="50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r>
                <a:rPr lang="en-US" altLang="zh-CN" sz="2800" b="1" strike="noStrike" kern="100" noProof="1">
                  <a:solidFill>
                    <a:srgbClr val="0000FF"/>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a:rPr>
                <a:t>Person</a:t>
              </a:r>
              <a:endParaRPr lang="en-US" altLang="zh-CN" sz="2800" b="1" strike="noStrike" kern="100" noProof="1">
                <a:solidFill>
                  <a:srgbClr val="0000FF"/>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a:endParaRPr>
            </a:p>
          </p:txBody>
        </p:sp>
        <p:sp>
          <p:nvSpPr>
            <p:cNvPr id="8" name="矩形 7"/>
            <p:cNvSpPr/>
            <p:nvPr>
              <p:custDataLst>
                <p:tags r:id="rId9"/>
              </p:custDataLst>
            </p:nvPr>
          </p:nvSpPr>
          <p:spPr>
            <a:xfrm>
              <a:off x="8085" y="7269"/>
              <a:ext cx="2123" cy="502"/>
            </a:xfrm>
            <a:prstGeom prst="rect">
              <a:avLst/>
            </a:prstGeom>
            <a:solidFill>
              <a:schemeClr val="accent1">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fontAlgn="base"/>
              <a:r>
                <a:rPr lang="en-US" altLang="zh-CN" sz="2800" b="1" strike="noStrike" kern="100" noProof="1">
                  <a:solidFill>
                    <a:srgbClr val="0000FF"/>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a:rPr>
                <a:t>Client</a:t>
              </a:r>
              <a:endParaRPr lang="en-US" altLang="zh-CN" sz="2800" b="1" strike="noStrike" kern="100" noProof="1">
                <a:solidFill>
                  <a:srgbClr val="0000FF"/>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a:endParaRPr>
            </a:p>
          </p:txBody>
        </p:sp>
        <p:cxnSp>
          <p:nvCxnSpPr>
            <p:cNvPr id="12" name="直接箭头连接符 11"/>
            <p:cNvCxnSpPr>
              <a:stCxn id="8" idx="0"/>
              <a:endCxn id="14" idx="3"/>
            </p:cNvCxnSpPr>
            <p:nvPr>
              <p:custDataLst>
                <p:tags r:id="rId10"/>
              </p:custDataLst>
            </p:nvPr>
          </p:nvCxnSpPr>
          <p:spPr>
            <a:xfrm flipH="1" flipV="1">
              <a:off x="9140" y="6036"/>
              <a:ext cx="7" cy="1233"/>
            </a:xfrm>
            <a:prstGeom prst="straightConnector1">
              <a:avLst/>
            </a:prstGeom>
            <a:ln w="28575" cmpd="sng">
              <a:solidFill>
                <a:schemeClr val="tx2"/>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4" name="等腰三角形 4"/>
            <p:cNvSpPr/>
            <p:nvPr>
              <p:custDataLst>
                <p:tags r:id="rId11"/>
              </p:custDataLst>
            </p:nvPr>
          </p:nvSpPr>
          <p:spPr>
            <a:xfrm>
              <a:off x="9044" y="5888"/>
              <a:ext cx="191" cy="14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1.2.5 </a:t>
            </a:r>
            <a:r>
              <a:rPr kumimoji="1" lang="zh-CN" altLang="en-US" dirty="0">
                <a:solidFill>
                  <a:schemeClr val="bg1"/>
                </a:solidFill>
              </a:rPr>
              <a:t>类之间的继承关系</a:t>
            </a:r>
            <a:r>
              <a:rPr kumimoji="1" lang="en-US" altLang="zh-CN" sz="2400" dirty="0">
                <a:solidFill>
                  <a:schemeClr val="bg1"/>
                </a:solidFill>
              </a:rPr>
              <a:t>1/3</a:t>
            </a:r>
            <a:endParaRPr kumimoji="1" lang="en-US" altLang="zh-CN" sz="2400" dirty="0">
              <a:solidFill>
                <a:schemeClr val="bg1"/>
              </a:solidFill>
            </a:endParaRPr>
          </a:p>
        </p:txBody>
      </p:sp>
      <p:sp>
        <p:nvSpPr>
          <p:cNvPr id="2" name="内容占位符 2"/>
          <p:cNvSpPr>
            <a:spLocks noGrp="1"/>
          </p:cNvSpPr>
          <p:nvPr>
            <p:custDataLst>
              <p:tags r:id="rId7"/>
            </p:custDataLst>
          </p:nvPr>
        </p:nvSpPr>
        <p:spPr>
          <a:xfrm>
            <a:off x="348615" y="116268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继承关系的</a:t>
            </a:r>
            <a:r>
              <a:rPr kumimoji="1" lang="zh-CN" altLang="en-US" sz="2800" dirty="0">
                <a:sym typeface="+mn-ea"/>
              </a:rPr>
              <a:t>特征</a:t>
            </a:r>
            <a:endParaRPr kumimoji="1" lang="zh-CN" altLang="en-US" sz="2800" dirty="0">
              <a:sym typeface="+mn-ea"/>
            </a:endParaRPr>
          </a:p>
        </p:txBody>
      </p:sp>
      <p:sp>
        <p:nvSpPr>
          <p:cNvPr id="9" name="文本框 8"/>
          <p:cNvSpPr txBox="1"/>
          <p:nvPr/>
        </p:nvSpPr>
        <p:spPr>
          <a:xfrm>
            <a:off x="184785" y="1633855"/>
            <a:ext cx="8808720" cy="4975225"/>
          </a:xfrm>
          <a:prstGeom prst="rect">
            <a:avLst/>
          </a:prstGeom>
          <a:noFill/>
        </p:spPr>
        <p:txBody>
          <a:bodyPr wrap="square" rtlCol="0" anchor="t">
            <a:noAutofit/>
          </a:bodyPr>
          <a:p>
            <a:pPr marL="469900" marR="0" lvl="0" indent="-469900" algn="l" defTabSz="914400" rtl="0" eaLnBrk="1" fontAlgn="base" latinLnBrk="0" hangingPunct="1">
              <a:lnSpc>
                <a:spcPct val="125000"/>
              </a:lnSpc>
              <a:spcBef>
                <a:spcPts val="20"/>
              </a:spcBef>
              <a:spcAft>
                <a:spcPts val="0"/>
              </a:spcAft>
              <a:buClr>
                <a:srgbClr val="000000"/>
              </a:buClr>
              <a:buSzTx/>
              <a:buFont typeface="Arial" panose="020B0604020202020204" pitchFamily="34" charset="0"/>
              <a:buChar char="•"/>
              <a:defRPr/>
            </a:pPr>
            <a:r>
              <a:rPr lang="zh-CN" altLang="en-US" sz="2400" b="1" kern="0" noProof="0" dirty="0">
                <a:ln>
                  <a:noFill/>
                </a:ln>
                <a:solidFill>
                  <a:schemeClr val="tx1"/>
                </a:solidFill>
                <a:effectLst/>
                <a:uLnTx/>
                <a:uFillTx/>
                <a:sym typeface="+mn-ea"/>
              </a:rPr>
              <a:t>如果类</a:t>
            </a:r>
            <a:r>
              <a:rPr lang="en-US" altLang="zh-CN" sz="2400" b="1" kern="0" noProof="0" dirty="0">
                <a:ln>
                  <a:noFill/>
                </a:ln>
                <a:solidFill>
                  <a:schemeClr val="tx1"/>
                </a:solidFill>
                <a:effectLst/>
                <a:uLnTx/>
                <a:uFillTx/>
                <a:sym typeface="+mn-ea"/>
              </a:rPr>
              <a:t>B</a:t>
            </a:r>
            <a:r>
              <a:rPr lang="zh-CN" altLang="en-US" sz="2400" b="1" kern="0" noProof="0" dirty="0">
                <a:ln>
                  <a:noFill/>
                </a:ln>
                <a:solidFill>
                  <a:schemeClr val="tx1"/>
                </a:solidFill>
                <a:effectLst/>
                <a:uLnTx/>
                <a:uFillTx/>
                <a:sym typeface="+mn-ea"/>
              </a:rPr>
              <a:t>继承类</a:t>
            </a:r>
            <a:r>
              <a:rPr lang="en-US" altLang="zh-CN" sz="2400" b="1" kern="0" noProof="0" dirty="0">
                <a:ln>
                  <a:noFill/>
                </a:ln>
                <a:solidFill>
                  <a:schemeClr val="tx1"/>
                </a:solidFill>
                <a:effectLst/>
                <a:uLnTx/>
                <a:uFillTx/>
                <a:sym typeface="+mn-ea"/>
              </a:rPr>
              <a:t>A</a:t>
            </a:r>
            <a:r>
              <a:rPr lang="zh-CN" altLang="en-US" sz="2400" b="1" kern="0" noProof="0" dirty="0">
                <a:ln>
                  <a:noFill/>
                </a:ln>
                <a:solidFill>
                  <a:schemeClr val="tx1"/>
                </a:solidFill>
                <a:effectLst/>
                <a:uLnTx/>
                <a:uFillTx/>
                <a:sym typeface="+mn-ea"/>
              </a:rPr>
              <a:t>，</a:t>
            </a:r>
            <a:r>
              <a:rPr lang="zh-CN" altLang="en-US" sz="2400" b="1" kern="0" noProof="0" dirty="0">
                <a:ln>
                  <a:noFill/>
                </a:ln>
                <a:solidFill>
                  <a:schemeClr val="tx1"/>
                </a:solidFill>
                <a:effectLst/>
                <a:uLnTx/>
                <a:uFillTx/>
                <a:sym typeface="+mn-ea"/>
              </a:rPr>
              <a:t>类</a:t>
            </a:r>
            <a:r>
              <a:rPr lang="en-US" altLang="zh-CN" sz="2400" b="1" kern="0" noProof="0" dirty="0">
                <a:ln>
                  <a:noFill/>
                </a:ln>
                <a:solidFill>
                  <a:schemeClr val="tx1"/>
                </a:solidFill>
                <a:effectLst/>
                <a:uLnTx/>
                <a:uFillTx/>
                <a:sym typeface="+mn-ea"/>
              </a:rPr>
              <a:t>A</a:t>
            </a:r>
            <a:r>
              <a:rPr lang="zh-CN" altLang="en-US" sz="2400" b="1" kern="0" noProof="0" dirty="0">
                <a:ln>
                  <a:noFill/>
                </a:ln>
                <a:solidFill>
                  <a:schemeClr val="tx1"/>
                </a:solidFill>
                <a:effectLst/>
                <a:uLnTx/>
                <a:uFillTx/>
                <a:sym typeface="+mn-ea"/>
              </a:rPr>
              <a:t>称为父类或超类，</a:t>
            </a:r>
            <a:r>
              <a:rPr lang="zh-CN" altLang="en-US" sz="2400" b="1" kern="0" noProof="0" dirty="0">
                <a:ln>
                  <a:noFill/>
                </a:ln>
                <a:effectLst/>
                <a:uLnTx/>
                <a:uFillTx/>
                <a:sym typeface="+mn-ea"/>
              </a:rPr>
              <a:t>类</a:t>
            </a:r>
            <a:r>
              <a:rPr lang="en-US" altLang="zh-CN" sz="2400" b="1" kern="0" noProof="0" dirty="0">
                <a:ln>
                  <a:noFill/>
                </a:ln>
                <a:effectLst/>
                <a:uLnTx/>
                <a:uFillTx/>
                <a:sym typeface="+mn-ea"/>
              </a:rPr>
              <a:t>B</a:t>
            </a:r>
            <a:r>
              <a:rPr lang="zh-CN" altLang="en-US" sz="2400" b="1" kern="0" noProof="0" dirty="0">
                <a:ln>
                  <a:noFill/>
                </a:ln>
                <a:effectLst/>
                <a:uLnTx/>
                <a:uFillTx/>
                <a:sym typeface="+mn-ea"/>
              </a:rPr>
              <a:t>称为子类，</a:t>
            </a:r>
            <a:r>
              <a:rPr lang="en-US" altLang="zh-CN" sz="2400" b="1" kern="0" noProof="0" dirty="0">
                <a:ln>
                  <a:noFill/>
                </a:ln>
                <a:effectLst/>
                <a:uLnTx/>
                <a:uFillTx/>
                <a:sym typeface="+mn-ea"/>
              </a:rPr>
              <a:t>B</a:t>
            </a:r>
            <a:r>
              <a:rPr lang="zh-CN" altLang="en-US" sz="2400" b="1" kern="0" noProof="0" dirty="0">
                <a:ln>
                  <a:noFill/>
                </a:ln>
                <a:solidFill>
                  <a:schemeClr val="tx1"/>
                </a:solidFill>
                <a:effectLst/>
                <a:uLnTx/>
                <a:uFillTx/>
                <a:sym typeface="+mn-ea"/>
              </a:rPr>
              <a:t>继承</a:t>
            </a:r>
            <a:r>
              <a:rPr lang="en-US" altLang="zh-CN" sz="2400" b="1" kern="0" noProof="0" dirty="0">
                <a:ln>
                  <a:noFill/>
                </a:ln>
                <a:solidFill>
                  <a:schemeClr val="tx1"/>
                </a:solidFill>
                <a:effectLst/>
                <a:uLnTx/>
                <a:uFillTx/>
                <a:sym typeface="+mn-ea"/>
              </a:rPr>
              <a:t>A</a:t>
            </a:r>
            <a:r>
              <a:rPr lang="zh-CN" altLang="en-US" sz="2400" b="1" kern="0" noProof="0" dirty="0">
                <a:ln>
                  <a:noFill/>
                </a:ln>
                <a:solidFill>
                  <a:schemeClr val="tx1"/>
                </a:solidFill>
                <a:effectLst/>
                <a:uLnTx/>
                <a:uFillTx/>
                <a:sym typeface="+mn-ea"/>
              </a:rPr>
              <a:t>的所有数据和操作。</a:t>
            </a:r>
            <a:endParaRPr lang="zh-CN" altLang="en-US" sz="2400" b="1" kern="0" noProof="0" dirty="0">
              <a:ln>
                <a:noFill/>
              </a:ln>
              <a:solidFill>
                <a:schemeClr val="tx1"/>
              </a:solidFill>
              <a:effectLst/>
              <a:uLnTx/>
              <a:uFillTx/>
              <a:sym typeface="+mn-ea"/>
            </a:endParaRPr>
          </a:p>
          <a:p>
            <a:pPr marL="927100" marR="0" lvl="1" indent="-469900" algn="l" defTabSz="914400" rtl="0" eaLnBrk="1" fontAlgn="base" latinLnBrk="0" hangingPunct="1">
              <a:lnSpc>
                <a:spcPct val="125000"/>
              </a:lnSpc>
              <a:spcBef>
                <a:spcPts val="20"/>
              </a:spcBef>
              <a:spcAft>
                <a:spcPts val="0"/>
              </a:spcAft>
              <a:buClr>
                <a:srgbClr val="000000"/>
              </a:buClr>
              <a:buSzTx/>
              <a:buFont typeface="Arial" panose="020B0604020202020204" pitchFamily="34" charset="0"/>
              <a:buChar char="•"/>
              <a:defRPr/>
            </a:pPr>
            <a:r>
              <a:rPr lang="zh-CN" altLang="en-US" sz="2400" b="1" kern="0" noProof="0" dirty="0">
                <a:ln>
                  <a:noFill/>
                </a:ln>
                <a:solidFill>
                  <a:schemeClr val="tx1"/>
                </a:solidFill>
                <a:effectLst/>
                <a:uLnTx/>
                <a:uFillTx/>
                <a:latin typeface="Times New Roman" panose="02020603050405020304" pitchFamily="18" charset="0"/>
                <a:cs typeface="+mn-ea"/>
                <a:sym typeface="+mn-ea"/>
              </a:rPr>
              <a:t>子类可以在继承的基础上进行扩展，添加新的操作；也可以覆写父类中操作，使</a:t>
            </a:r>
            <a:r>
              <a:rPr lang="zh-CN" altLang="en-US" sz="2400" b="1" kern="0" noProof="0" dirty="0">
                <a:ln>
                  <a:noFill/>
                </a:ln>
                <a:solidFill>
                  <a:schemeClr val="tx1"/>
                </a:solidFill>
                <a:effectLst/>
                <a:uLnTx/>
                <a:uFillTx/>
                <a:latin typeface="Times New Roman" panose="02020603050405020304" pitchFamily="18" charset="0"/>
                <a:cs typeface="+mn-ea"/>
                <a:sym typeface="+mn-ea"/>
              </a:rPr>
              <a:t>其行为有别于父类。</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125000"/>
              </a:lnSpc>
              <a:spcBef>
                <a:spcPts val="20"/>
              </a:spcBef>
              <a:spcAft>
                <a:spcPts val="0"/>
              </a:spcAft>
              <a:buClr>
                <a:srgbClr val="000000"/>
              </a:buClr>
              <a:buSzTx/>
              <a:buFont typeface="Arial" panose="020B0604020202020204" pitchFamily="34" charset="0"/>
              <a:buChar char="•"/>
              <a:defRPr/>
            </a:pPr>
            <a:r>
              <a:rPr lang="zh-CN" altLang="en-US" sz="2400" b="1" kern="0" noProof="0" dirty="0">
                <a:ln>
                  <a:noFill/>
                </a:ln>
                <a:solidFill>
                  <a:schemeClr val="tx1"/>
                </a:solidFill>
                <a:effectLst/>
                <a:uLnTx/>
                <a:uFillTx/>
                <a:latin typeface="Times New Roman" panose="02020603050405020304" pitchFamily="18" charset="0"/>
                <a:cs typeface="+mn-ea"/>
                <a:sym typeface="+mn-ea"/>
              </a:rPr>
              <a:t>子类对象可以当作父类对象使用（即子类对象为父类型的对象变量赋值）</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a:p>
            <a:pPr marL="800100" lvl="1" indent="-342900" eaLnBrk="1" hangingPunct="1">
              <a:lnSpc>
                <a:spcPct val="150000"/>
              </a:lnSpc>
              <a:buFont typeface="Arial" panose="020B0604020202020204" pitchFamily="34" charset="0"/>
              <a:buChar char="•"/>
            </a:pPr>
            <a:endParaRPr kumimoji="0" lang="zh-CN" altLang="en-US" sz="2400" b="1" i="0" u="none" strike="noStrike" kern="0" cap="none" spc="0" normalizeH="0" baseline="0" noProof="0" dirty="0">
              <a:ln>
                <a:noFill/>
              </a:ln>
              <a:solidFill>
                <a:schemeClr val="tx1"/>
              </a:solidFill>
              <a:effectLst/>
              <a:uLnTx/>
              <a:uFillTx/>
              <a:latin typeface="+mn-lt"/>
              <a:ea typeface="+mn-ea"/>
              <a:cs typeface="+mn-cs"/>
              <a:sym typeface="+mn-ea"/>
            </a:endParaRPr>
          </a:p>
        </p:txBody>
      </p:sp>
      <p:graphicFrame>
        <p:nvGraphicFramePr>
          <p:cNvPr id="15" name="对象 14"/>
          <p:cNvGraphicFramePr/>
          <p:nvPr>
            <p:custDataLst>
              <p:tags r:id="rId8"/>
            </p:custDataLst>
          </p:nvPr>
        </p:nvGraphicFramePr>
        <p:xfrm>
          <a:off x="4578668" y="3993833"/>
          <a:ext cx="4148137" cy="2274887"/>
        </p:xfrm>
        <a:graphic>
          <a:graphicData uri="http://schemas.openxmlformats.org/presentationml/2006/ole">
            <mc:AlternateContent xmlns:mc="http://schemas.openxmlformats.org/markup-compatibility/2006">
              <mc:Choice xmlns:v="urn:schemas-microsoft-com:vml" Requires="v">
                <p:oleObj spid="_x0000_s3076" name="" r:id="rId9" imgW="3888105" imgH="2139315" progId="Visio.Drawing.15">
                  <p:embed/>
                </p:oleObj>
              </mc:Choice>
              <mc:Fallback>
                <p:oleObj name="" r:id="rId9" imgW="3888105" imgH="2139315" progId="Visio.Drawing.15">
                  <p:embed/>
                  <p:pic>
                    <p:nvPicPr>
                      <p:cNvPr id="0" name="图片 3075"/>
                      <p:cNvPicPr/>
                      <p:nvPr/>
                    </p:nvPicPr>
                    <p:blipFill>
                      <a:blip r:embed="rId10"/>
                      <a:stretch>
                        <a:fillRect/>
                      </a:stretch>
                    </p:blipFill>
                    <p:spPr>
                      <a:xfrm>
                        <a:off x="4578668" y="3993833"/>
                        <a:ext cx="4148137" cy="22748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1.2.5 </a:t>
            </a:r>
            <a:r>
              <a:rPr kumimoji="1" lang="zh-CN" altLang="en-US" dirty="0">
                <a:solidFill>
                  <a:schemeClr val="bg1"/>
                </a:solidFill>
              </a:rPr>
              <a:t>类之间的继承关系</a:t>
            </a:r>
            <a:r>
              <a:rPr kumimoji="1" lang="en-US" altLang="zh-CN" sz="2400" dirty="0">
                <a:solidFill>
                  <a:schemeClr val="bg1"/>
                </a:solidFill>
              </a:rPr>
              <a:t>2/3</a:t>
            </a:r>
            <a:endParaRPr kumimoji="1" lang="en-US" altLang="zh-CN" sz="2400" dirty="0">
              <a:solidFill>
                <a:schemeClr val="bg1"/>
              </a:solidFill>
            </a:endParaRPr>
          </a:p>
        </p:txBody>
      </p:sp>
      <p:sp>
        <p:nvSpPr>
          <p:cNvPr id="8"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案例分析(找出继承</a:t>
            </a:r>
            <a:r>
              <a:rPr kumimoji="1" lang="zh-CN" altLang="en-US" sz="2800" dirty="0">
                <a:sym typeface="+mn-ea"/>
              </a:rPr>
              <a:t>关系)</a:t>
            </a:r>
            <a:endParaRPr kumimoji="1" lang="zh-CN" altLang="en-US" sz="2800" dirty="0">
              <a:sym typeface="+mn-ea"/>
            </a:endParaRPr>
          </a:p>
        </p:txBody>
      </p:sp>
      <p:sp>
        <p:nvSpPr>
          <p:cNvPr id="12" name="文本框 11"/>
          <p:cNvSpPr txBox="1"/>
          <p:nvPr>
            <p:custDataLst>
              <p:tags r:id="rId8"/>
            </p:custDataLst>
          </p:nvPr>
        </p:nvSpPr>
        <p:spPr>
          <a:xfrm>
            <a:off x="527685" y="1689735"/>
            <a:ext cx="8384540" cy="4605020"/>
          </a:xfrm>
          <a:prstGeom prst="rect">
            <a:avLst/>
          </a:prstGeom>
          <a:noFill/>
        </p:spPr>
        <p:txBody>
          <a:bodyPr wrap="square" rtlCol="0" anchor="t">
            <a:noAutofit/>
          </a:bodyPr>
          <a:p>
            <a:pPr indent="0" eaLnBrk="1" hangingPunct="1">
              <a:lnSpc>
                <a:spcPct val="100000"/>
              </a:lnSpc>
              <a:buFont typeface="Arial" panose="020B0604020202020204" pitchFamily="34" charset="0"/>
              <a:buNone/>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The customer information system maintains information about two different kinds of customers: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Individual customers: For these customers, the system stores an ID and the information about a person (name, home telephone number, and email).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latin typeface="Times New Roman" panose="02020603050405020304" pitchFamily="18" charset="0"/>
                <a:ea typeface="等线" panose="02010600030101010101" charset="-122"/>
                <a:cs typeface="Times New Roman" panose="02020603050405020304" pitchFamily="18" charset="0"/>
                <a:sym typeface="+mn-ea"/>
              </a:rPr>
              <a:t>Institutional customers: For these customers, the system stores an ID and provides the capability of defining one or more contact people for the institution. The system stores the following information for each contact person: name, home telephone number, email, work telephone number, and the job position of the contact in the institution. </a:t>
            </a:r>
            <a:endParaRPr lang="zh-CN" altLang="en-US" sz="2400" b="1" dirty="0">
              <a:latin typeface="Times New Roman" panose="02020603050405020304" pitchFamily="18" charset="0"/>
              <a:ea typeface="等线" panose="02010600030101010101" charset="-122"/>
              <a:cs typeface="Times New Roman" panose="02020603050405020304" pitchFamily="18" charset="0"/>
              <a:sym typeface="+mn-ea"/>
            </a:endParaRPr>
          </a:p>
          <a:p>
            <a:pPr marL="342900" indent="-342900" eaLnBrk="1" hangingPunct="1">
              <a:lnSpc>
                <a:spcPct val="100000"/>
              </a:lnSpc>
              <a:buFont typeface="Arial" panose="020B0604020202020204" pitchFamily="34" charset="0"/>
              <a:buChar char="•"/>
            </a:pPr>
            <a:r>
              <a:rPr lang="zh-CN" altLang="en-US" sz="2400" b="1" dirty="0">
                <a:solidFill>
                  <a:srgbClr val="000000"/>
                </a:solidFill>
                <a:sym typeface="+mn-ea"/>
              </a:rPr>
              <a:t>根据“</a:t>
            </a:r>
            <a:r>
              <a:rPr lang="en-US" altLang="zh-CN" sz="2400" b="1" dirty="0">
                <a:solidFill>
                  <a:srgbClr val="000000"/>
                </a:solidFill>
                <a:sym typeface="+mn-ea"/>
              </a:rPr>
              <a:t>is-a</a:t>
            </a:r>
            <a:r>
              <a:rPr lang="zh-CN" altLang="en-US" sz="2400" b="1" dirty="0">
                <a:solidFill>
                  <a:srgbClr val="000000"/>
                </a:solidFill>
                <a:sym typeface="+mn-ea"/>
              </a:rPr>
              <a:t>”和“继承的特征”找继承</a:t>
            </a:r>
            <a:r>
              <a:rPr lang="zh-CN" altLang="en-US" sz="2400" b="1" dirty="0">
                <a:solidFill>
                  <a:srgbClr val="000000"/>
                </a:solidFill>
                <a:sym typeface="+mn-ea"/>
              </a:rPr>
              <a:t>关系</a:t>
            </a:r>
            <a:endParaRPr lang="zh-CN" altLang="en-US" sz="2400" b="1" dirty="0">
              <a:solidFill>
                <a:srgbClr val="000000"/>
              </a:solidFill>
              <a:sym typeface="+mn-ea"/>
            </a:endParaRPr>
          </a:p>
        </p:txBody>
      </p:sp>
      <p:sp>
        <p:nvSpPr>
          <p:cNvPr id="2" name="矩形 1"/>
          <p:cNvSpPr/>
          <p:nvPr>
            <p:custDataLst>
              <p:tags r:id="rId9"/>
            </p:custDataLst>
          </p:nvPr>
        </p:nvSpPr>
        <p:spPr>
          <a:xfrm>
            <a:off x="3479800" y="2148840"/>
            <a:ext cx="121221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custDataLst>
              <p:tags r:id="rId10"/>
            </p:custDataLst>
          </p:nvPr>
        </p:nvSpPr>
        <p:spPr>
          <a:xfrm>
            <a:off x="984885" y="2506345"/>
            <a:ext cx="259207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11"/>
            </p:custDataLst>
          </p:nvPr>
        </p:nvSpPr>
        <p:spPr>
          <a:xfrm>
            <a:off x="984885" y="3612515"/>
            <a:ext cx="284670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7" grpId="0" bldLvl="0" animBg="1"/>
      <p:bldP spid="9"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标题 1"/>
          <p:cNvSpPr>
            <a:spLocks noGrp="1"/>
          </p:cNvSpPr>
          <p:nvPr>
            <p:custDataLst>
              <p:tags r:id="rId6"/>
            </p:custDataLst>
          </p:nvPr>
        </p:nvSpPr>
        <p:spPr>
          <a:xfrm>
            <a:off x="137160" y="262890"/>
            <a:ext cx="6497955" cy="662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n-ea"/>
                <a:ea typeface="+mn-ea"/>
                <a:cs typeface="+mj-cs"/>
              </a:defRPr>
            </a:lvl1pPr>
          </a:lstStyle>
          <a:p>
            <a:r>
              <a:rPr kumimoji="1" lang="en-US" dirty="0">
                <a:solidFill>
                  <a:schemeClr val="bg1"/>
                </a:solidFill>
              </a:rPr>
              <a:t>1.2.5 </a:t>
            </a:r>
            <a:r>
              <a:rPr kumimoji="1" lang="zh-CN" altLang="en-US" dirty="0">
                <a:solidFill>
                  <a:schemeClr val="bg1"/>
                </a:solidFill>
              </a:rPr>
              <a:t>类之间的继承关系</a:t>
            </a:r>
            <a:r>
              <a:rPr kumimoji="1" lang="en-US" altLang="zh-CN" sz="2400" dirty="0">
                <a:solidFill>
                  <a:schemeClr val="bg1"/>
                </a:solidFill>
              </a:rPr>
              <a:t>3/3</a:t>
            </a:r>
            <a:endParaRPr kumimoji="1" lang="en-US" altLang="zh-CN" sz="2400" dirty="0">
              <a:solidFill>
                <a:schemeClr val="bg1"/>
              </a:solidFill>
            </a:endParaRPr>
          </a:p>
        </p:txBody>
      </p:sp>
      <p:sp>
        <p:nvSpPr>
          <p:cNvPr id="8" name="内容占位符 2"/>
          <p:cNvSpPr>
            <a:spLocks noGrp="1"/>
          </p:cNvSpPr>
          <p:nvPr>
            <p:custDataLst>
              <p:tags r:id="rId7"/>
            </p:custDataLst>
          </p:nvPr>
        </p:nvSpPr>
        <p:spPr>
          <a:xfrm>
            <a:off x="348615" y="111823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dirty="0">
                <a:sym typeface="+mn-ea"/>
              </a:rPr>
              <a:t>继承关系的</a:t>
            </a:r>
            <a:r>
              <a:rPr kumimoji="1" lang="zh-CN" altLang="en-US" sz="2800" dirty="0">
                <a:sym typeface="+mn-ea"/>
              </a:rPr>
              <a:t>优势</a:t>
            </a:r>
            <a:endParaRPr kumimoji="1" lang="zh-CN" altLang="en-US" sz="2800" dirty="0">
              <a:sym typeface="+mn-ea"/>
            </a:endParaRPr>
          </a:p>
        </p:txBody>
      </p:sp>
      <p:sp>
        <p:nvSpPr>
          <p:cNvPr id="12" name="文本框 11"/>
          <p:cNvSpPr txBox="1"/>
          <p:nvPr/>
        </p:nvSpPr>
        <p:spPr>
          <a:xfrm>
            <a:off x="527685" y="1757680"/>
            <a:ext cx="4336415" cy="4396740"/>
          </a:xfrm>
          <a:prstGeom prst="rect">
            <a:avLst/>
          </a:prstGeom>
          <a:noFill/>
        </p:spPr>
        <p:txBody>
          <a:bodyPr wrap="square" rtlCol="0" anchor="t">
            <a:noAutofit/>
          </a:bodyPr>
          <a:p>
            <a:pPr lvl="1" indent="-436245" fontAlgn="base">
              <a:lnSpc>
                <a:spcPct val="150000"/>
              </a:lnSpc>
              <a:buFont typeface="Arial" panose="020B0604020202020204" pitchFamily="34" charset="0"/>
              <a:buChar char="•"/>
            </a:pPr>
            <a:r>
              <a:rPr lang="zh-CN" altLang="en-US" sz="2400" b="1" dirty="0">
                <a:solidFill>
                  <a:schemeClr val="tx1"/>
                </a:solidFill>
                <a:latin typeface="Times New Roman" panose="02020603050405020304" pitchFamily="18" charset="0"/>
                <a:ea typeface="等线" panose="02010600030101010101" charset="-122"/>
                <a:cs typeface="Times New Roman" panose="02020603050405020304" pitchFamily="18" charset="0"/>
                <a:sym typeface="+mn-ea"/>
              </a:rPr>
              <a:t>如果设计方案时，既可以用</a:t>
            </a:r>
            <a:r>
              <a:rPr lang="zh-CN" altLang="en-US" sz="2400" b="1" dirty="0">
                <a:solidFill>
                  <a:schemeClr val="tx1"/>
                </a:solidFill>
                <a:latin typeface="Times New Roman" panose="02020603050405020304" pitchFamily="18" charset="0"/>
                <a:sym typeface="+mn-ea"/>
              </a:rPr>
              <a:t>关联关系也可以用继承关系，建议采用关联关系建模，除非用到</a:t>
            </a:r>
            <a:r>
              <a:rPr lang="zh-CN" altLang="en-US" sz="2400" b="1" dirty="0">
                <a:solidFill>
                  <a:schemeClr val="tx1"/>
                </a:solidFill>
                <a:latin typeface="Times New Roman" panose="02020603050405020304" pitchFamily="18" charset="0"/>
                <a:sym typeface="+mn-ea"/>
              </a:rPr>
              <a:t>方法多态的优势，才考虑用继承。</a:t>
            </a:r>
            <a:endParaRPr lang="zh-CN" altLang="en-US" sz="2400" b="1" dirty="0">
              <a:solidFill>
                <a:schemeClr val="tx1"/>
              </a:solidFill>
              <a:latin typeface="Times New Roman" panose="02020603050405020304" pitchFamily="18" charset="0"/>
              <a:sym typeface="+mn-ea"/>
            </a:endParaRPr>
          </a:p>
          <a:p>
            <a:pPr lvl="1" indent="-436245" fontAlgn="base">
              <a:lnSpc>
                <a:spcPct val="150000"/>
              </a:lnSpc>
              <a:buFont typeface="Arial" panose="020B0604020202020204" pitchFamily="34" charset="0"/>
              <a:buChar char="•"/>
            </a:pPr>
            <a:r>
              <a:rPr lang="zh-CN" altLang="en-US" sz="2400" b="1" dirty="0">
                <a:solidFill>
                  <a:srgbClr val="034EA2"/>
                </a:solidFill>
                <a:latin typeface="Times New Roman" panose="02020603050405020304" pitchFamily="18" charset="0"/>
                <a:sym typeface="+mn-ea"/>
              </a:rPr>
              <a:t>多态：增进共同性，包容差异性，共同性和差异性的辩证统一</a:t>
            </a:r>
            <a:endParaRPr lang="zh-CN" altLang="en-US" sz="2400" b="1" dirty="0">
              <a:solidFill>
                <a:schemeClr val="tx1"/>
              </a:solidFill>
              <a:latin typeface="Times New Roman" panose="02020603050405020304" pitchFamily="18" charset="0"/>
              <a:sym typeface="+mn-ea"/>
            </a:endParaRPr>
          </a:p>
        </p:txBody>
      </p:sp>
      <p:graphicFrame>
        <p:nvGraphicFramePr>
          <p:cNvPr id="2" name="对象 1"/>
          <p:cNvGraphicFramePr/>
          <p:nvPr>
            <p:custDataLst>
              <p:tags r:id="rId8"/>
            </p:custDataLst>
          </p:nvPr>
        </p:nvGraphicFramePr>
        <p:xfrm>
          <a:off x="4803775" y="2115185"/>
          <a:ext cx="4108450" cy="3311525"/>
        </p:xfrm>
        <a:graphic>
          <a:graphicData uri="http://schemas.openxmlformats.org/presentationml/2006/ole">
            <mc:AlternateContent xmlns:mc="http://schemas.openxmlformats.org/markup-compatibility/2006">
              <mc:Choice xmlns:v="urn:schemas-microsoft-com:vml" Requires="v">
                <p:oleObj spid="_x0000_s7" name="" r:id="rId9" imgW="3853180" imgH="3107055" progId="Visio.Drawing.15">
                  <p:embed/>
                </p:oleObj>
              </mc:Choice>
              <mc:Fallback>
                <p:oleObj name="" r:id="rId9" imgW="3853180" imgH="3107055" progId="Visio.Drawing.15">
                  <p:embed/>
                  <p:pic>
                    <p:nvPicPr>
                      <p:cNvPr id="0" name="图片 3076"/>
                      <p:cNvPicPr/>
                      <p:nvPr/>
                    </p:nvPicPr>
                    <p:blipFill>
                      <a:blip r:embed="rId10"/>
                      <a:stretch>
                        <a:fillRect/>
                      </a:stretch>
                    </p:blipFill>
                    <p:spPr>
                      <a:xfrm>
                        <a:off x="4803775" y="2115185"/>
                        <a:ext cx="4108450" cy="33115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645160"/>
          </a:xfrm>
          <a:prstGeom prst="rect">
            <a:avLst/>
          </a:prstGeom>
          <a:noFill/>
        </p:spPr>
        <p:txBody>
          <a:bodyPr wrap="square" rtlCol="0" anchor="t">
            <a:spAutoFit/>
          </a:bodyPr>
          <a:p>
            <a:pPr algn="dist"/>
            <a:r>
              <a:rPr kumimoji="1" lang="zh-CN" altLang="en-US" sz="3600" b="1" kern="0" dirty="0">
                <a:solidFill>
                  <a:srgbClr val="034DA0"/>
                </a:solidFill>
                <a:latin typeface="华文行楷" panose="02010800040101010101" charset="-122"/>
                <a:ea typeface="华文行楷" panose="02010800040101010101" charset="-122"/>
                <a:sym typeface="+mn-ea"/>
              </a:rPr>
              <a:t>类与类之间</a:t>
            </a:r>
            <a:r>
              <a:rPr kumimoji="1" lang="zh-CN" altLang="en-US" sz="3600" b="1" kern="0" dirty="0">
                <a:solidFill>
                  <a:srgbClr val="034DA0"/>
                </a:solidFill>
                <a:latin typeface="华文行楷" panose="02010800040101010101" charset="-122"/>
                <a:ea typeface="华文行楷" panose="02010800040101010101" charset="-122"/>
                <a:sym typeface="+mn-ea"/>
              </a:rPr>
              <a:t>继承关系</a:t>
            </a:r>
            <a:r>
              <a:rPr kumimoji="1" lang="zh-CN" altLang="en-US" sz="3600" b="1" kern="0" dirty="0">
                <a:solidFill>
                  <a:srgbClr val="034DA0"/>
                </a:solidFill>
                <a:latin typeface="华文行楷" panose="02010800040101010101" charset="-122"/>
                <a:ea typeface="华文行楷" panose="02010800040101010101" charset="-122"/>
                <a:sym typeface="+mn-ea"/>
              </a:rPr>
              <a:t>讲解</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通用类结构</a:t>
            </a:r>
            <a:r>
              <a:rPr kumimoji="1" lang="zh-CN" altLang="en-US" sz="2800" b="1" dirty="0"/>
              <a:t>介绍</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1/11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925955"/>
            <a:ext cx="8036560" cy="367601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类和类之间的关系依据具体的应用而定；但是，</a:t>
            </a: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有一些类结构在许多设计中被用到，这些常用的类结构被认为是基本的构建块，用以构建复杂的应用系统：</a:t>
            </a:r>
            <a:endParaRPr lang="zh-CN" altLang="en-US" sz="2400" b="1" dirty="0">
              <a:solidFill>
                <a:schemeClr val="tx1"/>
              </a:solidFill>
              <a:latin typeface="等线" panose="02010600030101010101" charset="-122"/>
              <a:ea typeface="等线" panose="02010600030101010101" charset="-122"/>
              <a:cs typeface="等线" panose="02010600030101010101" charset="-122"/>
            </a:endParaRPr>
          </a:p>
          <a:p>
            <a:pPr lvl="1" indent="-436245" eaLnBrk="1" hangingPunct="1">
              <a:lnSpc>
                <a:spcPct val="150000"/>
              </a:lnSpc>
            </a:pP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集合</a:t>
            </a:r>
            <a:r>
              <a:rPr lang="en-US" altLang="zh-CN" sz="2400" b="1" dirty="0">
                <a:solidFill>
                  <a:schemeClr val="tx1"/>
                </a:solidFill>
                <a:latin typeface="等线" panose="02010600030101010101" charset="-122"/>
                <a:ea typeface="等线" panose="02010600030101010101" charset="-122"/>
                <a:cs typeface="等线" panose="02010600030101010101" charset="-122"/>
                <a:sym typeface="+mn-ea"/>
              </a:rPr>
              <a:t>(Collections)</a:t>
            </a:r>
            <a:endParaRPr lang="zh-CN" altLang="en-US" sz="2400" b="1" dirty="0">
              <a:solidFill>
                <a:schemeClr val="tx1"/>
              </a:solidFill>
              <a:latin typeface="等线" panose="02010600030101010101" charset="-122"/>
              <a:ea typeface="等线" panose="02010600030101010101" charset="-122"/>
              <a:cs typeface="等线" panose="02010600030101010101" charset="-122"/>
            </a:endParaRPr>
          </a:p>
          <a:p>
            <a:pPr lvl="1" indent="-436245" eaLnBrk="1" hangingPunct="1">
              <a:lnSpc>
                <a:spcPct val="150000"/>
              </a:lnSpc>
            </a:pP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自包含类</a:t>
            </a:r>
            <a:r>
              <a:rPr lang="en-US" altLang="zh-CN" b="1" dirty="0">
                <a:latin typeface="等线" panose="02010600030101010101" charset="-122"/>
                <a:ea typeface="等线" panose="02010600030101010101" charset="-122"/>
                <a:cs typeface="等线" panose="02010600030101010101" charset="-122"/>
                <a:sym typeface="+mn-ea"/>
              </a:rPr>
              <a:t>(</a:t>
            </a:r>
            <a:r>
              <a:rPr lang="en-US" altLang="zh-CN" sz="2400" b="1" dirty="0">
                <a:solidFill>
                  <a:schemeClr val="tx1"/>
                </a:solidFill>
                <a:latin typeface="等线" panose="02010600030101010101" charset="-122"/>
                <a:ea typeface="等线" panose="02010600030101010101" charset="-122"/>
                <a:cs typeface="等线" panose="02010600030101010101" charset="-122"/>
                <a:sym typeface="+mn-ea"/>
              </a:rPr>
              <a:t>Self-Containing Classes</a:t>
            </a:r>
            <a:r>
              <a:rPr lang="en-US" altLang="zh-CN" b="1" dirty="0">
                <a:latin typeface="等线" panose="02010600030101010101" charset="-122"/>
                <a:ea typeface="等线" panose="02010600030101010101" charset="-122"/>
                <a:cs typeface="等线" panose="02010600030101010101" charset="-122"/>
                <a:sym typeface="+mn-ea"/>
              </a:rPr>
              <a:t>)</a:t>
            </a:r>
            <a:endParaRPr lang="en-US" altLang="zh-CN" sz="2400" b="1" dirty="0">
              <a:solidFill>
                <a:schemeClr val="tx1"/>
              </a:solidFill>
              <a:latin typeface="等线" panose="02010600030101010101" charset="-122"/>
              <a:ea typeface="等线" panose="02010600030101010101" charset="-122"/>
              <a:cs typeface="等线" panose="02010600030101010101" charset="-122"/>
            </a:endParaRPr>
          </a:p>
          <a:p>
            <a:pPr lvl="1" indent="-436245" eaLnBrk="1" hangingPunct="1">
              <a:lnSpc>
                <a:spcPct val="150000"/>
              </a:lnSpc>
            </a:pP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关联循环</a:t>
            </a:r>
            <a:r>
              <a:rPr lang="en-US" altLang="zh-CN" b="1" dirty="0">
                <a:latin typeface="等线" panose="02010600030101010101" charset="-122"/>
                <a:ea typeface="等线" panose="02010600030101010101" charset="-122"/>
                <a:cs typeface="等线" panose="02010600030101010101" charset="-122"/>
                <a:sym typeface="+mn-ea"/>
              </a:rPr>
              <a:t>(</a:t>
            </a:r>
            <a:r>
              <a:rPr lang="en-US" altLang="zh-CN" sz="2400" b="1" dirty="0">
                <a:solidFill>
                  <a:schemeClr val="tx1"/>
                </a:solidFill>
                <a:latin typeface="等线" panose="02010600030101010101" charset="-122"/>
                <a:ea typeface="等线" panose="02010600030101010101" charset="-122"/>
                <a:cs typeface="等线" panose="02010600030101010101" charset="-122"/>
                <a:sym typeface="+mn-ea"/>
              </a:rPr>
              <a:t>Relationship Loops</a:t>
            </a:r>
            <a:r>
              <a:rPr lang="en-US" altLang="zh-CN" b="1" dirty="0">
                <a:latin typeface="等线" panose="02010600030101010101" charset="-122"/>
                <a:ea typeface="等线" panose="02010600030101010101" charset="-122"/>
                <a:cs typeface="等线" panose="02010600030101010101" charset="-122"/>
                <a:sym typeface="+mn-ea"/>
              </a:rPr>
              <a:t>)</a:t>
            </a:r>
            <a:endParaRPr kumimoji="1" lang="en-US" altLang="zh-CN" sz="2400"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lang="zh-CN" altLang="en-US" dirty="0">
                <a:latin typeface="等线" panose="02010600030101010101" charset="-122"/>
                <a:ea typeface="等线" panose="02010600030101010101" charset="-122"/>
                <a:cs typeface="等线" panose="02010600030101010101" charset="-122"/>
                <a:sym typeface="+mn-ea"/>
              </a:rPr>
              <a:t>集合</a:t>
            </a:r>
            <a:r>
              <a:rPr lang="en-US" altLang="zh-CN" dirty="0">
                <a:latin typeface="等线" panose="02010600030101010101" charset="-122"/>
                <a:ea typeface="等线" panose="02010600030101010101" charset="-122"/>
                <a:cs typeface="等线" panose="02010600030101010101" charset="-122"/>
                <a:sym typeface="+mn-ea"/>
              </a:rPr>
              <a:t>(Collections)</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2</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652145" y="2087245"/>
            <a:ext cx="8036560" cy="62865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集合建模一对多的关联</a:t>
            </a:r>
            <a:r>
              <a:rPr lang="zh-CN" altLang="en-US" sz="2400" b="1" dirty="0">
                <a:solidFill>
                  <a:schemeClr val="tx1"/>
                </a:solidFill>
                <a:latin typeface="等线" panose="02010600030101010101" charset="-122"/>
                <a:ea typeface="等线" panose="02010600030101010101" charset="-122"/>
                <a:cs typeface="等线" panose="02010600030101010101" charset="-122"/>
                <a:sym typeface="+mn-ea"/>
              </a:rPr>
              <a:t>关系</a:t>
            </a:r>
            <a:endParaRPr kumimoji="1" lang="en-US" altLang="zh-CN" sz="2400"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7" name="文本框 6"/>
          <p:cNvSpPr txBox="1"/>
          <p:nvPr/>
        </p:nvSpPr>
        <p:spPr>
          <a:xfrm>
            <a:off x="404495" y="4028440"/>
            <a:ext cx="8284210" cy="2245360"/>
          </a:xfrm>
          <a:prstGeom prst="rect">
            <a:avLst/>
          </a:prstGeom>
          <a:noFill/>
        </p:spPr>
        <p:txBody>
          <a:bodyPr wrap="square" rtlCol="0" anchor="t">
            <a:spAutoFit/>
          </a:bodyPr>
          <a:p>
            <a:pPr lvl="1" indent="-436245" eaLnBrk="1" hangingPunct="1">
              <a:lnSpc>
                <a:spcPct val="100000"/>
              </a:lnSpc>
              <a:spcBef>
                <a:spcPts val="0"/>
              </a:spcBef>
              <a:spcAft>
                <a:spcPts val="0"/>
              </a:spcAft>
            </a:pPr>
            <a:r>
              <a:rPr lang="en-US" altLang="zh-CN" sz="2800" b="1" dirty="0">
                <a:solidFill>
                  <a:srgbClr val="FF0000"/>
                </a:solidFill>
                <a:latin typeface="Times New Roman" panose="02020603050405020304" pitchFamily="18" charset="0"/>
                <a:cs typeface="Times New Roman" panose="02020603050405020304" pitchFamily="18" charset="0"/>
                <a:sym typeface="+mn-ea"/>
              </a:rPr>
              <a:t>public class Client {</a:t>
            </a:r>
            <a:endParaRPr lang="en-US" altLang="zh-CN" sz="2800" b="1" dirty="0">
              <a:solidFill>
                <a:srgbClr val="FF0000"/>
              </a:solidFill>
              <a:latin typeface="Times New Roman" panose="02020603050405020304" pitchFamily="18" charset="0"/>
              <a:cs typeface="Times New Roman" panose="02020603050405020304" pitchFamily="18" charset="0"/>
              <a:sym typeface="+mn-ea"/>
            </a:endParaRPr>
          </a:p>
          <a:p>
            <a:pPr lvl="2" indent="-436245" eaLnBrk="1" hangingPunct="1">
              <a:lnSpc>
                <a:spcPct val="100000"/>
              </a:lnSpc>
              <a:spcBef>
                <a:spcPts val="0"/>
              </a:spcBef>
              <a:spcAft>
                <a:spcPts val="0"/>
              </a:spcAft>
            </a:pPr>
            <a:r>
              <a:rPr lang="en-US" altLang="zh-CN" sz="2800" b="1" dirty="0">
                <a:solidFill>
                  <a:srgbClr val="FF0000"/>
                </a:solidFill>
                <a:latin typeface="Times New Roman" panose="02020603050405020304" pitchFamily="18" charset="0"/>
                <a:cs typeface="Times New Roman" panose="02020603050405020304" pitchFamily="18" charset="0"/>
                <a:sym typeface="+mn-ea"/>
              </a:rPr>
              <a:t>…</a:t>
            </a:r>
            <a:endParaRPr lang="en-US" altLang="zh-CN" sz="2800" b="1" dirty="0">
              <a:solidFill>
                <a:srgbClr val="FF0000"/>
              </a:solidFill>
              <a:latin typeface="Times New Roman" panose="02020603050405020304" pitchFamily="18" charset="0"/>
              <a:cs typeface="Times New Roman" panose="02020603050405020304" pitchFamily="18" charset="0"/>
              <a:sym typeface="+mn-ea"/>
            </a:endParaRPr>
          </a:p>
          <a:p>
            <a:pPr lvl="2" indent="-436245" eaLnBrk="1" hangingPunct="1">
              <a:lnSpc>
                <a:spcPct val="100000"/>
              </a:lnSpc>
              <a:spcBef>
                <a:spcPts val="0"/>
              </a:spcBef>
              <a:spcAft>
                <a:spcPts val="0"/>
              </a:spcAft>
            </a:pPr>
            <a:r>
              <a:rPr lang="en-US" altLang="zh-CN" sz="2800" b="1" dirty="0">
                <a:solidFill>
                  <a:srgbClr val="FF0000"/>
                </a:solidFill>
                <a:latin typeface="Times New Roman" panose="02020603050405020304" pitchFamily="18" charset="0"/>
                <a:cs typeface="Times New Roman" panose="02020603050405020304" pitchFamily="18" charset="0"/>
                <a:sym typeface="+mn-ea"/>
              </a:rPr>
              <a:t>private  ArrayList&lt;BankAccount&gt; accounts;</a:t>
            </a:r>
            <a:endParaRPr lang="en-US" altLang="zh-CN" sz="2800" b="1" dirty="0">
              <a:solidFill>
                <a:srgbClr val="FF0000"/>
              </a:solidFill>
              <a:latin typeface="Times New Roman" panose="02020603050405020304" pitchFamily="18" charset="0"/>
              <a:cs typeface="Times New Roman" panose="02020603050405020304" pitchFamily="18" charset="0"/>
              <a:sym typeface="+mn-ea"/>
            </a:endParaRPr>
          </a:p>
          <a:p>
            <a:pPr lvl="2" indent="-436245" eaLnBrk="1" hangingPunct="1">
              <a:lnSpc>
                <a:spcPct val="100000"/>
              </a:lnSpc>
              <a:spcBef>
                <a:spcPts val="0"/>
              </a:spcBef>
              <a:spcAft>
                <a:spcPts val="0"/>
              </a:spcAft>
            </a:pPr>
            <a:r>
              <a:rPr lang="en-US" altLang="zh-CN" sz="2800" b="1" dirty="0">
                <a:solidFill>
                  <a:srgbClr val="FF0000"/>
                </a:solidFill>
                <a:latin typeface="Times New Roman" panose="02020603050405020304" pitchFamily="18" charset="0"/>
                <a:cs typeface="Times New Roman" panose="02020603050405020304" pitchFamily="18" charset="0"/>
                <a:sym typeface="+mn-ea"/>
              </a:rPr>
              <a:t>…</a:t>
            </a:r>
            <a:endParaRPr lang="en-US" altLang="zh-CN" sz="2800" b="1" dirty="0">
              <a:solidFill>
                <a:srgbClr val="FF0000"/>
              </a:solidFill>
              <a:latin typeface="Times New Roman" panose="02020603050405020304" pitchFamily="18" charset="0"/>
              <a:cs typeface="Times New Roman" panose="02020603050405020304" pitchFamily="18" charset="0"/>
              <a:sym typeface="+mn-ea"/>
            </a:endParaRPr>
          </a:p>
          <a:p>
            <a:pPr lvl="1" indent="-436245" eaLnBrk="1" hangingPunct="1">
              <a:lnSpc>
                <a:spcPct val="100000"/>
              </a:lnSpc>
              <a:spcBef>
                <a:spcPts val="0"/>
              </a:spcBef>
              <a:spcAft>
                <a:spcPts val="0"/>
              </a:spcAft>
            </a:pPr>
            <a:r>
              <a:rPr lang="en-US" altLang="zh-CN" sz="2800" b="1" dirty="0">
                <a:solidFill>
                  <a:srgbClr val="FF0000"/>
                </a:solidFill>
                <a:latin typeface="Times New Roman" panose="02020603050405020304" pitchFamily="18" charset="0"/>
                <a:cs typeface="Times New Roman" panose="02020603050405020304" pitchFamily="18" charset="0"/>
                <a:sym typeface="+mn-ea"/>
              </a:rPr>
              <a:t>}</a:t>
            </a:r>
            <a:endParaRPr lang="en-US" altLang="zh-CN" sz="2800" b="1" dirty="0">
              <a:solidFill>
                <a:srgbClr val="FF0000"/>
              </a:solidFill>
              <a:latin typeface="Times New Roman" panose="02020603050405020304" pitchFamily="18" charset="0"/>
              <a:cs typeface="Times New Roman" panose="02020603050405020304" pitchFamily="18" charset="0"/>
              <a:sym typeface="+mn-ea"/>
            </a:endParaRPr>
          </a:p>
        </p:txBody>
      </p:sp>
      <p:pic>
        <p:nvPicPr>
          <p:cNvPr id="77825" name="图片 2"/>
          <p:cNvPicPr>
            <a:picLocks noChangeAspect="1"/>
          </p:cNvPicPr>
          <p:nvPr/>
        </p:nvPicPr>
        <p:blipFill>
          <a:blip r:embed="rId8"/>
          <a:stretch>
            <a:fillRect/>
          </a:stretch>
        </p:blipFill>
        <p:spPr>
          <a:xfrm>
            <a:off x="5508625" y="1249045"/>
            <a:ext cx="3180080" cy="372872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5" name="图片 2"/>
          <p:cNvPicPr>
            <a:picLocks noChangeAspect="1"/>
          </p:cNvPicPr>
          <p:nvPr>
            <p:custDataLst>
              <p:tags r:id="rId1"/>
            </p:custDataLst>
          </p:nvPr>
        </p:nvPicPr>
        <p:blipFill>
          <a:blip r:embed="rId2"/>
          <a:stretch>
            <a:fillRect/>
          </a:stretch>
        </p:blipFill>
        <p:spPr>
          <a:xfrm>
            <a:off x="6426200" y="1374140"/>
            <a:ext cx="2486025" cy="3343275"/>
          </a:xfrm>
          <a:prstGeom prst="rect">
            <a:avLst/>
          </a:prstGeom>
          <a:noFill/>
          <a:ln w="9525">
            <a:noFill/>
          </a:ln>
        </p:spPr>
      </p:pic>
      <p:sp>
        <p:nvSpPr>
          <p:cNvPr id="18" name="内容占位符 2"/>
          <p:cNvSpPr>
            <a:spLocks noGrp="1"/>
          </p:cNvSpPr>
          <p:nvPr>
            <p:custDataLst>
              <p:tags r:id="rId3"/>
            </p:custDataLst>
          </p:nvPr>
        </p:nvSpPr>
        <p:spPr>
          <a:xfrm>
            <a:off x="188595" y="117030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lang="zh-CN" altLang="en-US" dirty="0">
                <a:latin typeface="等线" panose="02010600030101010101" charset="-122"/>
                <a:ea typeface="等线" panose="02010600030101010101" charset="-122"/>
                <a:cs typeface="等线" panose="02010600030101010101" charset="-122"/>
                <a:sym typeface="+mn-ea"/>
              </a:rPr>
              <a:t>集合</a:t>
            </a:r>
            <a:r>
              <a:rPr lang="en-US" altLang="zh-CN" dirty="0">
                <a:latin typeface="等线" panose="02010600030101010101" charset="-122"/>
                <a:ea typeface="等线" panose="02010600030101010101" charset="-122"/>
                <a:cs typeface="等线" panose="02010600030101010101" charset="-122"/>
                <a:sym typeface="+mn-ea"/>
              </a:rPr>
              <a:t>(Collections)</a:t>
            </a:r>
            <a:endParaRPr kumimoji="1" lang="zh-CN" altLang="en-US" sz="2800" b="1" dirty="0"/>
          </a:p>
        </p:txBody>
      </p:sp>
      <p:sp>
        <p:nvSpPr>
          <p:cNvPr id="3" name="矩形 2"/>
          <p:cNvSpPr/>
          <p:nvPr>
            <p:custDataLst>
              <p:tags r:id="rId4"/>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3</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5"/>
            </p:custDataLst>
          </p:nvPr>
        </p:nvPicPr>
        <p:blipFill>
          <a:blip r:embed="rId6" cstate="screen"/>
          <a:stretch>
            <a:fillRect/>
          </a:stretch>
        </p:blipFill>
        <p:spPr>
          <a:xfrm>
            <a:off x="7476490" y="417830"/>
            <a:ext cx="1363345" cy="342900"/>
          </a:xfrm>
          <a:prstGeom prst="rect">
            <a:avLst/>
          </a:prstGeom>
        </p:spPr>
      </p:pic>
      <p:pic>
        <p:nvPicPr>
          <p:cNvPr id="13" name="校徽"/>
          <p:cNvPicPr>
            <a:picLocks noChangeAspect="1"/>
          </p:cNvPicPr>
          <p:nvPr>
            <p:custDataLst>
              <p:tags r:id="rId7"/>
            </p:custDataLst>
          </p:nvPr>
        </p:nvPicPr>
        <p:blipFill>
          <a:blip r:embed="rId8" cstate="screen"/>
          <a:stretch>
            <a:fillRect/>
          </a:stretch>
        </p:blipFill>
        <p:spPr>
          <a:xfrm>
            <a:off x="6868160" y="342900"/>
            <a:ext cx="431800" cy="431800"/>
          </a:xfrm>
          <a:prstGeom prst="rect">
            <a:avLst/>
          </a:prstGeom>
        </p:spPr>
      </p:pic>
      <p:sp>
        <p:nvSpPr>
          <p:cNvPr id="16" name="内容占位符 2"/>
          <p:cNvSpPr txBox="1"/>
          <p:nvPr/>
        </p:nvSpPr>
        <p:spPr>
          <a:xfrm>
            <a:off x="269875" y="2087245"/>
            <a:ext cx="8036560" cy="413194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400" b="1" dirty="0">
                <a:latin typeface="等线" panose="02010600030101010101" charset="-122"/>
                <a:ea typeface="等线" panose="02010600030101010101" charset="-122"/>
                <a:cs typeface="等线" panose="02010600030101010101" charset="-122"/>
                <a:sym typeface="+mn-ea"/>
              </a:rPr>
              <a:t>包含容器的类</a:t>
            </a:r>
            <a:r>
              <a:rPr lang="en-US" altLang="zh-CN" sz="2400" b="1" dirty="0">
                <a:latin typeface="等线" panose="02010600030101010101" charset="-122"/>
                <a:ea typeface="等线" panose="02010600030101010101" charset="-122"/>
                <a:cs typeface="等线" panose="02010600030101010101" charset="-122"/>
                <a:sym typeface="+mn-ea"/>
              </a:rPr>
              <a:t>Client</a:t>
            </a:r>
            <a:r>
              <a:rPr lang="zh-CN" altLang="en-US" sz="2400" b="1" dirty="0">
                <a:latin typeface="等线" panose="02010600030101010101" charset="-122"/>
                <a:ea typeface="等线" panose="02010600030101010101" charset="-122"/>
                <a:cs typeface="等线" panose="02010600030101010101" charset="-122"/>
                <a:sym typeface="+mn-ea"/>
              </a:rPr>
              <a:t>提供的典型方法包括：</a:t>
            </a:r>
            <a:endParaRPr lang="zh-CN" altLang="en-US" sz="2400" b="1" dirty="0">
              <a:latin typeface="等线" panose="02010600030101010101" charset="-122"/>
              <a:ea typeface="等线" panose="02010600030101010101" charset="-122"/>
              <a:cs typeface="等线" panose="02010600030101010101" charset="-122"/>
            </a:endParaRPr>
          </a:p>
          <a:p>
            <a:pPr lvl="1" indent="-436245" eaLnBrk="1" hangingPunct="1"/>
            <a:r>
              <a:rPr lang="zh-CN" altLang="en-US" sz="2400" b="1" dirty="0">
                <a:latin typeface="等线" panose="02010600030101010101" charset="-122"/>
                <a:ea typeface="等线" panose="02010600030101010101" charset="-122"/>
                <a:cs typeface="等线" panose="02010600030101010101" charset="-122"/>
                <a:sym typeface="+mn-ea"/>
              </a:rPr>
              <a:t>将对象插入容器</a:t>
            </a:r>
            <a:r>
              <a:rPr lang="zh-CN" altLang="en-US" sz="2400" b="1" dirty="0">
                <a:solidFill>
                  <a:srgbClr val="000000"/>
                </a:solidFill>
                <a:latin typeface="等线" panose="02010600030101010101" charset="-122"/>
                <a:ea typeface="等线" panose="02010600030101010101" charset="-122"/>
                <a:cs typeface="等线" panose="02010600030101010101" charset="-122"/>
                <a:sym typeface="+mn-ea"/>
              </a:rPr>
              <a:t>；</a:t>
            </a:r>
            <a:endParaRPr lang="zh-CN" altLang="en-US" sz="2400" b="1" dirty="0">
              <a:latin typeface="等线" panose="02010600030101010101" charset="-122"/>
              <a:ea typeface="等线" panose="02010600030101010101" charset="-122"/>
              <a:cs typeface="等线" panose="02010600030101010101" charset="-122"/>
            </a:endParaRPr>
          </a:p>
          <a:p>
            <a:pPr lvl="2" indent="-394970" eaLnBrk="1" hangingPunct="1"/>
            <a:r>
              <a:rPr lang="en-US" altLang="zh-CN" sz="2400" b="1" dirty="0">
                <a:solidFill>
                  <a:srgbClr val="FF0066"/>
                </a:solidFill>
                <a:latin typeface="等线" panose="02010600030101010101" charset="-122"/>
                <a:ea typeface="等线" panose="02010600030101010101" charset="-122"/>
                <a:cs typeface="等线" panose="02010600030101010101" charset="-122"/>
                <a:sym typeface="+mn-ea"/>
              </a:rPr>
              <a:t>add</a:t>
            </a:r>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BankAccount(account:BankAccount) </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lvl="1" indent="-436245" eaLnBrk="1" hangingPunct="1"/>
            <a:r>
              <a:rPr lang="zh-CN" altLang="en-US" sz="2400" b="1" dirty="0">
                <a:solidFill>
                  <a:srgbClr val="000000"/>
                </a:solidFill>
                <a:latin typeface="等线" panose="02010600030101010101" charset="-122"/>
                <a:ea typeface="等线" panose="02010600030101010101" charset="-122"/>
                <a:cs typeface="等线" panose="02010600030101010101" charset="-122"/>
                <a:sym typeface="+mn-ea"/>
              </a:rPr>
              <a:t>将对象从容器中删除；</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lvl="2" indent="-394970" eaLnBrk="1" hangingPunct="1"/>
            <a:r>
              <a:rPr lang="en-US" altLang="zh-CN" sz="2400" b="1" dirty="0">
                <a:solidFill>
                  <a:srgbClr val="FF0066"/>
                </a:solidFill>
                <a:latin typeface="等线" panose="02010600030101010101" charset="-122"/>
                <a:ea typeface="等线" panose="02010600030101010101" charset="-122"/>
                <a:cs typeface="等线" panose="02010600030101010101" charset="-122"/>
                <a:sym typeface="+mn-ea"/>
              </a:rPr>
              <a:t>remove</a:t>
            </a:r>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BankAccount(account:BankAccount)</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lvl="1" indent="-436245" eaLnBrk="1" hangingPunct="1"/>
            <a:r>
              <a:rPr lang="zh-CN" altLang="en-US" sz="2400" b="1" dirty="0">
                <a:solidFill>
                  <a:srgbClr val="000000"/>
                </a:solidFill>
                <a:latin typeface="等线" panose="02010600030101010101" charset="-122"/>
                <a:ea typeface="等线" panose="02010600030101010101" charset="-122"/>
                <a:cs typeface="等线" panose="02010600030101010101" charset="-122"/>
                <a:sym typeface="+mn-ea"/>
              </a:rPr>
              <a:t>取得容器中的对象；</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lvl="2" indent="-394970" eaLnBrk="1" hangingPunct="1"/>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getBankAccount(index:int)</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lvl="2" indent="-394970" eaLnBrk="1" hangingPunct="1"/>
            <a:r>
              <a:rPr lang="en-US" altLang="zh-CN" sz="2400" b="1" dirty="0">
                <a:solidFill>
                  <a:srgbClr val="FF0066"/>
                </a:solidFill>
                <a:latin typeface="等线" panose="02010600030101010101" charset="-122"/>
                <a:ea typeface="等线" panose="02010600030101010101" charset="-122"/>
                <a:cs typeface="等线" panose="02010600030101010101" charset="-122"/>
                <a:sym typeface="+mn-ea"/>
              </a:rPr>
              <a:t>get</a:t>
            </a:r>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BankAccount(id:String)</a:t>
            </a:r>
            <a:endParaRPr lang="en-US" altLang="zh-CN" sz="2400" b="1" dirty="0">
              <a:solidFill>
                <a:srgbClr val="000000"/>
              </a:solidFill>
              <a:latin typeface="等线" panose="02010600030101010101" charset="-122"/>
              <a:ea typeface="等线" panose="02010600030101010101" charset="-122"/>
              <a:cs typeface="等线" panose="02010600030101010101" charset="-122"/>
            </a:endParaRPr>
          </a:p>
          <a:p>
            <a:pPr lvl="1" indent="-436245" eaLnBrk="1" hangingPunct="1"/>
            <a:r>
              <a:rPr lang="zh-CN" altLang="en-US" sz="2400" b="1" dirty="0">
                <a:solidFill>
                  <a:srgbClr val="000000"/>
                </a:solidFill>
                <a:latin typeface="等线" panose="02010600030101010101" charset="-122"/>
                <a:ea typeface="等线" panose="02010600030101010101" charset="-122"/>
                <a:cs typeface="等线" panose="02010600030101010101" charset="-122"/>
                <a:sym typeface="+mn-ea"/>
              </a:rPr>
              <a:t>返回容器中的对象个数；</a:t>
            </a:r>
            <a:endParaRPr lang="zh-CN" altLang="en-US" sz="2400" b="1" dirty="0">
              <a:solidFill>
                <a:srgbClr val="000000"/>
              </a:solidFill>
              <a:latin typeface="等线" panose="02010600030101010101" charset="-122"/>
              <a:ea typeface="等线" panose="02010600030101010101" charset="-122"/>
              <a:cs typeface="等线" panose="02010600030101010101" charset="-122"/>
            </a:endParaRPr>
          </a:p>
          <a:p>
            <a:pPr lvl="2" indent="-394970" eaLnBrk="1" hangingPunct="1"/>
            <a:r>
              <a:rPr lang="en-US" altLang="zh-CN" sz="2400" b="1" dirty="0">
                <a:solidFill>
                  <a:srgbClr val="FF0066"/>
                </a:solidFill>
                <a:latin typeface="等线" panose="02010600030101010101" charset="-122"/>
                <a:ea typeface="等线" panose="02010600030101010101" charset="-122"/>
                <a:cs typeface="等线" panose="02010600030101010101" charset="-122"/>
                <a:sym typeface="+mn-ea"/>
              </a:rPr>
              <a:t>getNumberOf</a:t>
            </a:r>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BankAccounts():int</a:t>
            </a:r>
            <a:endParaRPr kumimoji="1" lang="en-US" altLang="zh-CN" sz="2400"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8" name="AutoShape 6"/>
          <p:cNvSpPr/>
          <p:nvPr/>
        </p:nvSpPr>
        <p:spPr>
          <a:xfrm>
            <a:off x="3641090" y="1296035"/>
            <a:ext cx="5256213" cy="4537075"/>
          </a:xfrm>
          <a:prstGeom prst="roundRect">
            <a:avLst>
              <a:gd name="adj" fmla="val 16667"/>
            </a:avLst>
          </a:prstGeom>
          <a:noFill/>
          <a:ln w="12700" cap="flat" cmpd="sng">
            <a:noFill/>
            <a:prstDash val="dash"/>
            <a:round/>
            <a:headEnd type="none" w="med" len="med"/>
            <a:tailEnd type="none" w="med" len="med"/>
          </a:ln>
        </p:spPr>
        <p:txBody>
          <a:bodyPr wrap="none" anchor="ctr" anchorCtr="0"/>
          <a:p>
            <a:pPr marL="914400" lvl="1"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public class Person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r>
              <a:rPr lang="en-US" altLang="zh-CN" sz="2300" b="1" dirty="0">
                <a:solidFill>
                  <a:schemeClr val="accent1"/>
                </a:solidFill>
                <a:latin typeface="Times New Roman" panose="02020603050405020304" pitchFamily="18" charset="0"/>
              </a:rPr>
              <a:t>private Person father;</a:t>
            </a:r>
            <a:endParaRPr lang="en-US" altLang="zh-CN" sz="2300" b="1" dirty="0">
              <a:solidFill>
                <a:schemeClr val="accent1"/>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chemeClr val="accent1"/>
                </a:solidFill>
                <a:latin typeface="Times New Roman" panose="02020603050405020304" pitchFamily="18" charset="0"/>
              </a:rPr>
              <a:t>     private Person mother;</a:t>
            </a:r>
            <a:endParaRPr lang="en-US" altLang="zh-CN" sz="2300" b="1" dirty="0">
              <a:solidFill>
                <a:schemeClr val="accent1"/>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public Person  getFather()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return father;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public Person  getMother()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return mother;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endParaRPr lang="en-US" altLang="zh-CN" sz="2300" b="1" dirty="0">
              <a:solidFill>
                <a:srgbClr val="000000"/>
              </a:solidFill>
              <a:latin typeface="Times New Roman" panose="02020603050405020304" pitchFamily="18" charset="0"/>
            </a:endParaRPr>
          </a:p>
          <a:p>
            <a:pPr marL="1371600" lvl="2"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   …</a:t>
            </a:r>
            <a:endParaRPr lang="en-US" altLang="zh-CN" sz="2300" b="1" dirty="0">
              <a:solidFill>
                <a:srgbClr val="000000"/>
              </a:solidFill>
              <a:latin typeface="Times New Roman" panose="02020603050405020304" pitchFamily="18" charset="0"/>
            </a:endParaRPr>
          </a:p>
          <a:p>
            <a:pPr marL="914400" lvl="1" indent="-457200" eaLnBrk="1" hangingPunct="1">
              <a:lnSpc>
                <a:spcPct val="75000"/>
              </a:lnSpc>
              <a:spcBef>
                <a:spcPct val="20000"/>
              </a:spcBef>
              <a:buClr>
                <a:schemeClr val="accent2"/>
              </a:buClr>
              <a:buFont typeface="Wingdings" panose="05000000000000000000" pitchFamily="2" charset="2"/>
            </a:pPr>
            <a:r>
              <a:rPr lang="en-US" altLang="zh-CN" sz="2300" b="1" dirty="0">
                <a:solidFill>
                  <a:srgbClr val="000000"/>
                </a:solidFill>
                <a:latin typeface="Times New Roman" panose="02020603050405020304" pitchFamily="18" charset="0"/>
              </a:rPr>
              <a:t>}</a:t>
            </a:r>
            <a:endParaRPr lang="en-US" altLang="zh-CN" sz="2300" b="1" dirty="0">
              <a:solidFill>
                <a:srgbClr val="000000"/>
              </a:solidFill>
              <a:latin typeface="Times New Roman" panose="02020603050405020304" pitchFamily="18" charset="0"/>
            </a:endParaRPr>
          </a:p>
        </p:txBody>
      </p:sp>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自包含</a:t>
            </a:r>
            <a:r>
              <a:rPr kumimoji="1" lang="zh-CN" altLang="en-US" sz="2800" b="1" dirty="0"/>
              <a:t>类</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4</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264160" y="1685290"/>
            <a:ext cx="4636135" cy="4131945"/>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2400" b="1" dirty="0">
                <a:latin typeface="等线" panose="02010600030101010101" charset="-122"/>
                <a:ea typeface="等线" panose="02010600030101010101" charset="-122"/>
                <a:cs typeface="等线" panose="02010600030101010101" charset="-122"/>
                <a:sym typeface="+mn-ea"/>
              </a:rPr>
              <a:t>类可以与自身存在关联，在这种情况下，该类包含自身类型对象的引用</a:t>
            </a:r>
            <a:r>
              <a:rPr lang="zh-CN" altLang="en-US" sz="2400" b="1" dirty="0">
                <a:latin typeface="等线" panose="02010600030101010101" charset="-122"/>
                <a:ea typeface="等线" panose="02010600030101010101" charset="-122"/>
                <a:cs typeface="等线" panose="02010600030101010101" charset="-122"/>
                <a:sym typeface="+mn-ea"/>
              </a:rPr>
              <a:t>作为属性</a:t>
            </a:r>
            <a:endParaRPr lang="zh-CN" altLang="en-US" sz="2400" b="1" dirty="0">
              <a:latin typeface="等线" panose="02010600030101010101" charset="-122"/>
              <a:ea typeface="等线" panose="02010600030101010101" charset="-122"/>
              <a:cs typeface="等线" panose="02010600030101010101" charset="-122"/>
              <a:sym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grpSp>
        <p:nvGrpSpPr>
          <p:cNvPr id="7" name="Group 18"/>
          <p:cNvGrpSpPr/>
          <p:nvPr/>
        </p:nvGrpSpPr>
        <p:grpSpPr>
          <a:xfrm>
            <a:off x="1082358" y="3435350"/>
            <a:ext cx="2133600" cy="2362200"/>
            <a:chOff x="1488" y="1104"/>
            <a:chExt cx="1344" cy="1488"/>
          </a:xfrm>
        </p:grpSpPr>
        <p:sp useBgFill="1">
          <p:nvSpPr>
            <p:cNvPr id="79881" name="AutoShape 2"/>
            <p:cNvSpPr/>
            <p:nvPr>
              <p:custDataLst>
                <p:tags r:id="rId8"/>
              </p:custDataLst>
            </p:nvPr>
          </p:nvSpPr>
          <p:spPr>
            <a:xfrm>
              <a:off x="1488" y="1104"/>
              <a:ext cx="1344"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Times New Roman" panose="02020603050405020304" pitchFamily="18" charset="0"/>
                  <a:cs typeface="Times New Roman" panose="02020603050405020304" pitchFamily="18" charset="0"/>
                </a:rPr>
                <a:t>Person</a:t>
              </a:r>
              <a:endParaRPr lang="en-US" altLang="zh-CN" sz="2800" b="1" dirty="0">
                <a:latin typeface="Times New Roman" panose="02020603050405020304" pitchFamily="18" charset="0"/>
                <a:cs typeface="Times New Roman" panose="02020603050405020304" pitchFamily="18" charset="0"/>
              </a:endParaRPr>
            </a:p>
          </p:txBody>
        </p:sp>
        <p:sp useBgFill="1">
          <p:nvSpPr>
            <p:cNvPr id="79882" name="AutoShape 3"/>
            <p:cNvSpPr/>
            <p:nvPr>
              <p:custDataLst>
                <p:tags r:id="rId9"/>
              </p:custDataLst>
            </p:nvPr>
          </p:nvSpPr>
          <p:spPr>
            <a:xfrm>
              <a:off x="1488" y="1488"/>
              <a:ext cx="1344" cy="384"/>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endParaRPr lang="en-US" altLang="zh-CN" sz="2800" b="1" dirty="0">
                <a:latin typeface="Arial" panose="020B0604020202020204" pitchFamily="34" charset="0"/>
              </a:endParaRPr>
            </a:p>
          </p:txBody>
        </p:sp>
        <p:sp useBgFill="1">
          <p:nvSpPr>
            <p:cNvPr id="79883" name="AutoShape 4"/>
            <p:cNvSpPr/>
            <p:nvPr>
              <p:custDataLst>
                <p:tags r:id="rId10"/>
              </p:custDataLst>
            </p:nvPr>
          </p:nvSpPr>
          <p:spPr>
            <a:xfrm>
              <a:off x="1488" y="1872"/>
              <a:ext cx="1344" cy="720"/>
            </a:xfrm>
            <a:prstGeom prst="flowChartProcess">
              <a:avLst/>
            </a:prstGeom>
            <a:ln w="19050" cap="flat" cmpd="sng">
              <a:solidFill>
                <a:schemeClr val="tx1"/>
              </a:solidFill>
              <a:prstDash val="solid"/>
              <a:miter/>
              <a:headEnd type="none" w="med" len="med"/>
              <a:tailEnd type="none" w="med" len="med"/>
            </a:ln>
          </p:spPr>
          <p:txBody>
            <a:bodyPr wrap="none" anchor="ctr" anchorCtr="0"/>
            <a:p>
              <a:pPr algn="ctr"/>
              <a:r>
                <a:rPr lang="en-US" altLang="zh-CN" sz="2800" b="1" dirty="0">
                  <a:latin typeface="Times New Roman" panose="02020603050405020304" pitchFamily="18" charset="0"/>
                  <a:cs typeface="Times New Roman" panose="02020603050405020304" pitchFamily="18" charset="0"/>
                </a:rPr>
                <a:t>+getFather()</a:t>
              </a:r>
              <a:endParaRPr lang="en-US" altLang="zh-CN" sz="2800" b="1" dirty="0">
                <a:latin typeface="Times New Roman" panose="02020603050405020304" pitchFamily="18" charset="0"/>
                <a:cs typeface="Times New Roman" panose="02020603050405020304" pitchFamily="18" charset="0"/>
              </a:endParaRPr>
            </a:p>
            <a:p>
              <a:pPr algn="ctr"/>
              <a:r>
                <a:rPr lang="en-US" altLang="zh-CN" sz="2800" b="1" dirty="0">
                  <a:latin typeface="Times New Roman" panose="02020603050405020304" pitchFamily="18" charset="0"/>
                  <a:cs typeface="Times New Roman" panose="02020603050405020304" pitchFamily="18" charset="0"/>
                </a:rPr>
                <a:t>+getMother()</a:t>
              </a:r>
              <a:endParaRPr lang="en-US" altLang="zh-CN" sz="2800" b="1" dirty="0">
                <a:latin typeface="Times New Roman" panose="02020603050405020304" pitchFamily="18" charset="0"/>
                <a:cs typeface="Times New Roman" panose="02020603050405020304" pitchFamily="18" charset="0"/>
              </a:endParaRPr>
            </a:p>
          </p:txBody>
        </p:sp>
      </p:grpSp>
      <p:grpSp>
        <p:nvGrpSpPr>
          <p:cNvPr id="8" name="Group 19"/>
          <p:cNvGrpSpPr/>
          <p:nvPr/>
        </p:nvGrpSpPr>
        <p:grpSpPr>
          <a:xfrm>
            <a:off x="2212658" y="3213100"/>
            <a:ext cx="1881368" cy="3113088"/>
            <a:chOff x="2160" y="960"/>
            <a:chExt cx="1217" cy="1961"/>
          </a:xfrm>
        </p:grpSpPr>
        <p:sp>
          <p:nvSpPr>
            <p:cNvPr id="79885" name="Rectangle 12"/>
            <p:cNvSpPr/>
            <p:nvPr>
              <p:custDataLst>
                <p:tags r:id="rId11"/>
              </p:custDataLst>
            </p:nvPr>
          </p:nvSpPr>
          <p:spPr>
            <a:xfrm>
              <a:off x="3070" y="1296"/>
              <a:ext cx="246" cy="327"/>
            </a:xfrm>
            <a:prstGeom prst="rect">
              <a:avLst/>
            </a:prstGeom>
            <a:noFill/>
            <a:ln w="9525">
              <a:noFill/>
            </a:ln>
          </p:spPr>
          <p:txBody>
            <a:bodyPr wrap="none" anchor="t" anchorCtr="0">
              <a:spAutoFit/>
            </a:bodyPr>
            <a:p>
              <a:pPr algn="ctr"/>
              <a:r>
                <a:rPr lang="en-US" altLang="zh-CN" sz="2800" b="1" dirty="0">
                  <a:latin typeface="Arial" panose="020B0604020202020204" pitchFamily="34" charset="0"/>
                </a:rPr>
                <a:t>1</a:t>
              </a:r>
              <a:endParaRPr lang="zh-CN" altLang="en-US" sz="2800" b="1" dirty="0">
                <a:latin typeface="Arial" panose="020B0604020202020204" pitchFamily="34" charset="0"/>
                <a:ea typeface="宋体" panose="02010600030101010101" pitchFamily="2" charset="-122"/>
              </a:endParaRPr>
            </a:p>
          </p:txBody>
        </p:sp>
        <p:grpSp>
          <p:nvGrpSpPr>
            <p:cNvPr id="79886" name="Group 16"/>
            <p:cNvGrpSpPr/>
            <p:nvPr/>
          </p:nvGrpSpPr>
          <p:grpSpPr>
            <a:xfrm>
              <a:off x="2160" y="960"/>
              <a:ext cx="1217" cy="1961"/>
              <a:chOff x="2160" y="960"/>
              <a:chExt cx="1217" cy="1961"/>
            </a:xfrm>
          </p:grpSpPr>
          <p:cxnSp>
            <p:nvCxnSpPr>
              <p:cNvPr id="79887" name="AutoShape 6"/>
              <p:cNvCxnSpPr/>
              <p:nvPr>
                <p:custDataLst>
                  <p:tags r:id="rId12"/>
                </p:custDataLst>
              </p:nvPr>
            </p:nvCxnSpPr>
            <p:spPr>
              <a:xfrm rot="5400000" flipH="1" flipV="1">
                <a:off x="1848" y="1608"/>
                <a:ext cx="1302" cy="678"/>
              </a:xfrm>
              <a:prstGeom prst="bentConnector4">
                <a:avLst>
                  <a:gd name="adj1" fmla="val -22815"/>
                  <a:gd name="adj2" fmla="val 187755"/>
                </a:avLst>
              </a:prstGeom>
              <a:ln w="28575" cap="flat" cmpd="sng">
                <a:solidFill>
                  <a:srgbClr val="FF0000"/>
                </a:solidFill>
                <a:prstDash val="solid"/>
                <a:miter/>
                <a:headEnd type="none" w="med" len="med"/>
                <a:tailEnd type="arrow" w="med" len="med"/>
              </a:ln>
            </p:spPr>
          </p:cxnSp>
          <p:sp>
            <p:nvSpPr>
              <p:cNvPr id="79888" name="Rectangle 9"/>
              <p:cNvSpPr/>
              <p:nvPr>
                <p:custDataLst>
                  <p:tags r:id="rId13"/>
                </p:custDataLst>
              </p:nvPr>
            </p:nvSpPr>
            <p:spPr>
              <a:xfrm>
                <a:off x="2582" y="960"/>
                <a:ext cx="795" cy="329"/>
              </a:xfrm>
              <a:prstGeom prst="rect">
                <a:avLst/>
              </a:prstGeom>
              <a:noFill/>
              <a:ln w="9525">
                <a:noFill/>
              </a:ln>
            </p:spPr>
            <p:txBody>
              <a:bodyPr wrap="none" anchor="t" anchorCtr="0">
                <a:spAutoFit/>
              </a:bodyPr>
              <a:p>
                <a:pPr algn="ctr"/>
                <a:r>
                  <a:rPr lang="en-US" altLang="zh-CN" sz="2800" b="1" dirty="0">
                    <a:latin typeface="Times New Roman" panose="02020603050405020304" pitchFamily="18" charset="0"/>
                    <a:cs typeface="Times New Roman" panose="02020603050405020304" pitchFamily="18" charset="0"/>
                  </a:rPr>
                  <a:t>-father</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889" name="Rectangle 13"/>
              <p:cNvSpPr/>
              <p:nvPr>
                <p:custDataLst>
                  <p:tags r:id="rId14"/>
                </p:custDataLst>
              </p:nvPr>
            </p:nvSpPr>
            <p:spPr>
              <a:xfrm>
                <a:off x="2347" y="2592"/>
                <a:ext cx="463" cy="329"/>
              </a:xfrm>
              <a:prstGeom prst="rect">
                <a:avLst/>
              </a:prstGeom>
              <a:noFill/>
              <a:ln w="9525">
                <a:noFill/>
              </a:ln>
            </p:spPr>
            <p:txBody>
              <a:bodyPr wrap="none" anchor="t" anchorCtr="0">
                <a:spAutoFit/>
              </a:bodyPr>
              <a:p>
                <a:pPr algn="ctr"/>
                <a:r>
                  <a:rPr lang="en-US" altLang="zh-CN" sz="2800" b="1" dirty="0">
                    <a:latin typeface="Times New Roman" panose="02020603050405020304" pitchFamily="18" charset="0"/>
                    <a:cs typeface="Times New Roman" panose="02020603050405020304" pitchFamily="18" charset="0"/>
                  </a:rPr>
                  <a:t>1..*</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9" name="Group 17"/>
          <p:cNvGrpSpPr/>
          <p:nvPr/>
        </p:nvGrpSpPr>
        <p:grpSpPr>
          <a:xfrm>
            <a:off x="183996" y="3143250"/>
            <a:ext cx="1965162" cy="3182938"/>
            <a:chOff x="863" y="916"/>
            <a:chExt cx="1404" cy="2005"/>
          </a:xfrm>
        </p:grpSpPr>
        <p:cxnSp>
          <p:nvCxnSpPr>
            <p:cNvPr id="79891" name="AutoShape 8"/>
            <p:cNvCxnSpPr>
              <a:stCxn id="79883" idx="2"/>
              <a:endCxn id="79881" idx="1"/>
            </p:cNvCxnSpPr>
            <p:nvPr>
              <p:custDataLst>
                <p:tags r:id="rId15"/>
              </p:custDataLst>
            </p:nvPr>
          </p:nvCxnSpPr>
          <p:spPr>
            <a:xfrm rot="5400000" flipH="1">
              <a:off x="1238" y="1565"/>
              <a:ext cx="1296" cy="762"/>
            </a:xfrm>
            <a:prstGeom prst="bentConnector4">
              <a:avLst>
                <a:gd name="adj1" fmla="val -11574"/>
                <a:gd name="adj2" fmla="val 122307"/>
              </a:avLst>
            </a:prstGeom>
            <a:ln w="28575" cap="flat" cmpd="sng">
              <a:solidFill>
                <a:srgbClr val="FF0000"/>
              </a:solidFill>
              <a:prstDash val="solid"/>
              <a:miter/>
              <a:headEnd type="none" w="med" len="med"/>
              <a:tailEnd type="arrow" w="med" len="med"/>
            </a:ln>
          </p:spPr>
        </p:cxnSp>
        <p:sp>
          <p:nvSpPr>
            <p:cNvPr id="79892" name="Rectangle 10"/>
            <p:cNvSpPr/>
            <p:nvPr>
              <p:custDataLst>
                <p:tags r:id="rId16"/>
              </p:custDataLst>
            </p:nvPr>
          </p:nvSpPr>
          <p:spPr>
            <a:xfrm>
              <a:off x="863" y="916"/>
              <a:ext cx="1005" cy="329"/>
            </a:xfrm>
            <a:prstGeom prst="rect">
              <a:avLst/>
            </a:prstGeom>
            <a:noFill/>
            <a:ln w="9525">
              <a:noFill/>
            </a:ln>
          </p:spPr>
          <p:txBody>
            <a:bodyPr wrap="none" anchor="t" anchorCtr="0">
              <a:spAutoFit/>
            </a:bodyPr>
            <a:p>
              <a:pPr algn="ctr"/>
              <a:r>
                <a:rPr lang="en-US" altLang="zh-CN" sz="2800" b="1" dirty="0">
                  <a:latin typeface="Times New Roman" panose="02020603050405020304" pitchFamily="18" charset="0"/>
                  <a:cs typeface="Times New Roman" panose="02020603050405020304" pitchFamily="18" charset="0"/>
                </a:rPr>
                <a:t>-mother</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893" name="Rectangle 11"/>
            <p:cNvSpPr/>
            <p:nvPr>
              <p:custDataLst>
                <p:tags r:id="rId17"/>
              </p:custDataLst>
            </p:nvPr>
          </p:nvSpPr>
          <p:spPr>
            <a:xfrm>
              <a:off x="993" y="1296"/>
              <a:ext cx="272" cy="327"/>
            </a:xfrm>
            <a:prstGeom prst="rect">
              <a:avLst/>
            </a:prstGeom>
            <a:noFill/>
            <a:ln w="9525">
              <a:noFill/>
            </a:ln>
          </p:spPr>
          <p:txBody>
            <a:bodyPr wrap="none" anchor="t" anchorCtr="0">
              <a:spAutoFit/>
            </a:bodyPr>
            <a:p>
              <a:pPr algn="ctr"/>
              <a:r>
                <a:rPr lang="en-US" altLang="zh-CN" sz="2800" b="1" dirty="0">
                  <a:latin typeface="Arial" panose="020B0604020202020204" pitchFamily="34" charset="0"/>
                </a:rPr>
                <a:t>1</a:t>
              </a:r>
              <a:endParaRPr lang="zh-CN" altLang="en-US" sz="2800" b="1" dirty="0">
                <a:latin typeface="Arial" panose="020B0604020202020204" pitchFamily="34" charset="0"/>
                <a:ea typeface="宋体" panose="02010600030101010101" pitchFamily="2" charset="-122"/>
              </a:endParaRPr>
            </a:p>
          </p:txBody>
        </p:sp>
        <p:sp>
          <p:nvSpPr>
            <p:cNvPr id="79894" name="Rectangle 14"/>
            <p:cNvSpPr/>
            <p:nvPr>
              <p:custDataLst>
                <p:tags r:id="rId18"/>
              </p:custDataLst>
            </p:nvPr>
          </p:nvSpPr>
          <p:spPr>
            <a:xfrm>
              <a:off x="1554" y="2592"/>
              <a:ext cx="512" cy="329"/>
            </a:xfrm>
            <a:prstGeom prst="rect">
              <a:avLst/>
            </a:prstGeom>
            <a:noFill/>
            <a:ln w="9525">
              <a:noFill/>
            </a:ln>
          </p:spPr>
          <p:txBody>
            <a:bodyPr wrap="none" anchor="t" anchorCtr="0">
              <a:spAutoFit/>
            </a:bodyPr>
            <a:p>
              <a:pPr algn="ctr"/>
              <a:r>
                <a:rPr lang="en-US" altLang="zh-CN" sz="2800" b="1" dirty="0">
                  <a:latin typeface="Times New Roman" panose="02020603050405020304" pitchFamily="18" charset="0"/>
                  <a:cs typeface="Times New Roman" panose="02020603050405020304" pitchFamily="18" charset="0"/>
                </a:rPr>
                <a:t>1..*</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out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out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9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5</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10" name="文本框 9"/>
          <p:cNvSpPr txBox="1"/>
          <p:nvPr/>
        </p:nvSpPr>
        <p:spPr>
          <a:xfrm>
            <a:off x="408305" y="1685290"/>
            <a:ext cx="8377555" cy="3784600"/>
          </a:xfrm>
          <a:prstGeom prst="rect">
            <a:avLst/>
          </a:prstGeom>
          <a:noFill/>
        </p:spPr>
        <p:txBody>
          <a:bodyPr wrap="square" rtlCol="0" anchor="t">
            <a:spAutoFit/>
          </a:bodyPr>
          <a:p>
            <a:pPr marL="469900" marR="0" lvl="0" indent="-469900" algn="just" defTabSz="914400" rtl="0" eaLnBrk="0" fontAlgn="base" latinLnBrk="0" hangingPunct="0">
              <a:lnSpc>
                <a:spcPct val="100000"/>
              </a:lnSpc>
              <a:spcBef>
                <a:spcPct val="20000"/>
              </a:spcBef>
              <a:spcAft>
                <a:spcPts val="0"/>
              </a:spcAft>
              <a:buClr>
                <a:srgbClr val="000000"/>
              </a:buClr>
              <a:buSzTx/>
              <a:buFont typeface="Arial" panose="020B0604020202020204" pitchFamily="34" charset="0"/>
              <a:buChar char="•"/>
              <a:defRPr/>
            </a:pPr>
            <a:r>
              <a:rPr lang="en-US" altLang="zh-CN" sz="2400" b="1" kern="0" noProof="0" dirty="0">
                <a:ln>
                  <a:noFill/>
                </a:ln>
                <a:solidFill>
                  <a:srgbClr val="000000"/>
                </a:solidFill>
                <a:effectLst/>
                <a:uLnTx/>
                <a:uFillTx/>
                <a:latin typeface="等线" panose="02010600030101010101" charset="-122"/>
                <a:ea typeface="等线" panose="02010600030101010101" charset="-122"/>
                <a:sym typeface="+mn-ea"/>
              </a:rPr>
              <a:t>For example 1: A component system has composite components, and composite components contain atomic components or more composite components, or both. Each atomic component or composite component has name, type and creation date. In addition, each atomic component has functional description.</a:t>
            </a:r>
            <a:endParaRPr kumimoji="0" lang="zh-CN" altLang="zh-CN" sz="24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mn-cs"/>
            </a:endParaRPr>
          </a:p>
          <a:p>
            <a:pPr marL="469900" marR="0" lvl="0" indent="-469900" algn="just" defTabSz="914400" rtl="0" eaLnBrk="0" fontAlgn="base" latinLnBrk="0" hangingPunct="0">
              <a:lnSpc>
                <a:spcPct val="100000"/>
              </a:lnSpc>
              <a:spcBef>
                <a:spcPct val="20000"/>
              </a:spcBef>
              <a:spcAft>
                <a:spcPts val="0"/>
              </a:spcAft>
              <a:buClr>
                <a:srgbClr val="000000"/>
              </a:buClr>
              <a:buSzTx/>
              <a:buFont typeface="Arial" panose="020B0604020202020204" pitchFamily="34" charset="0"/>
              <a:buChar char="•"/>
              <a:defRPr/>
            </a:pPr>
            <a:r>
              <a:rPr lang="zh-CN"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rPr>
              <a:t>功能要求：</a:t>
            </a:r>
            <a:endParaRPr kumimoji="0" lang="zh-CN" altLang="zh-CN" sz="20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908050" marR="0" lvl="1" indent="-436880" algn="just" defTabSz="914400" rtl="0" eaLnBrk="0" fontAlgn="base" latinLnBrk="0" hangingPunct="0">
              <a:lnSpc>
                <a:spcPct val="100000"/>
              </a:lnSpc>
              <a:spcBef>
                <a:spcPct val="20000"/>
              </a:spcBef>
              <a:spcAft>
                <a:spcPts val="0"/>
              </a:spcAft>
              <a:buClr>
                <a:srgbClr val="000000"/>
              </a:buClr>
              <a:buSzTx/>
              <a:buFont typeface="Arial" panose="020B0604020202020204" pitchFamily="34" charset="0"/>
              <a:buChar char="•"/>
              <a:defRPr/>
            </a:pPr>
            <a:r>
              <a:rPr lang="en-US"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rPr>
              <a:t>1.</a:t>
            </a:r>
            <a:r>
              <a:rPr lang="zh-CN"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rPr>
              <a:t>可以打印指定原子构件的名字，类型，创建日期及功能描述</a:t>
            </a:r>
            <a:endParaRPr kumimoji="0" lang="zh-CN" altLang="zh-CN" sz="20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908050" marR="0" lvl="1" indent="-436880" algn="just" defTabSz="914400" rtl="0" eaLnBrk="0" fontAlgn="base" latinLnBrk="0" hangingPunct="0">
              <a:lnSpc>
                <a:spcPct val="100000"/>
              </a:lnSpc>
              <a:spcBef>
                <a:spcPct val="20000"/>
              </a:spcBef>
              <a:spcAft>
                <a:spcPct val="0"/>
              </a:spcAft>
              <a:buClr>
                <a:srgbClr val="000000"/>
              </a:buClr>
              <a:buSzTx/>
              <a:buFont typeface="Arial" panose="020B0604020202020204" pitchFamily="34" charset="0"/>
              <a:buChar char="•"/>
              <a:defRPr/>
            </a:pPr>
            <a:r>
              <a:rPr lang="en-US"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rPr>
              <a:t>2.</a:t>
            </a:r>
            <a:r>
              <a:rPr lang="zh-CN"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rPr>
              <a:t>可以打印指定复合构件内各原子构件或复合构件的相关信息</a:t>
            </a:r>
            <a:endParaRPr lang="zh-CN" altLang="zh-CN" sz="2000" b="1" kern="0" noProof="0" dirty="0">
              <a:ln>
                <a:noFill/>
              </a:ln>
              <a:solidFill>
                <a:srgbClr val="000000"/>
              </a:solidFill>
              <a:effectLst/>
              <a:uLnTx/>
              <a:uFillTx/>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6</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pic>
        <p:nvPicPr>
          <p:cNvPr id="7" name="图片 6" descr="component-basic-v1"/>
          <p:cNvPicPr>
            <a:picLocks noChangeAspect="1"/>
          </p:cNvPicPr>
          <p:nvPr/>
        </p:nvPicPr>
        <p:blipFill>
          <a:blip r:embed="rId7"/>
          <a:stretch>
            <a:fillRect/>
          </a:stretch>
        </p:blipFill>
        <p:spPr>
          <a:xfrm>
            <a:off x="543560" y="2190115"/>
            <a:ext cx="7971790" cy="297815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7</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pic>
        <p:nvPicPr>
          <p:cNvPr id="9" name="图片 8" descr="component-basic-ppt用图"/>
          <p:cNvPicPr>
            <a:picLocks noChangeAspect="1"/>
          </p:cNvPicPr>
          <p:nvPr/>
        </p:nvPicPr>
        <p:blipFill>
          <a:blip r:embed="rId7"/>
          <a:stretch>
            <a:fillRect/>
          </a:stretch>
        </p:blipFill>
        <p:spPr>
          <a:xfrm>
            <a:off x="332740" y="1806575"/>
            <a:ext cx="8442960" cy="323088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8</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7" name="文本框 6"/>
          <p:cNvSpPr txBox="1"/>
          <p:nvPr/>
        </p:nvSpPr>
        <p:spPr>
          <a:xfrm>
            <a:off x="315595" y="1677670"/>
            <a:ext cx="8828405" cy="3418205"/>
          </a:xfrm>
          <a:prstGeom prst="rect">
            <a:avLst/>
          </a:prstGeom>
          <a:noFill/>
        </p:spPr>
        <p:txBody>
          <a:bodyPr wrap="square" rtlCol="0" anchor="t">
            <a:spAutoFit/>
          </a:bodyPr>
          <a:p>
            <a:pPr marL="342900" indent="-342900" eaLnBrk="1" hangingPunct="1">
              <a:lnSpc>
                <a:spcPct val="150000"/>
              </a:lnSpc>
              <a:spcBef>
                <a:spcPts val="25"/>
              </a:spcBef>
              <a:buFont typeface="Arial" panose="020B0604020202020204" pitchFamily="34" charset="0"/>
              <a:buChar char="•"/>
            </a:pPr>
            <a:r>
              <a:rPr lang="zh-CN" altLang="en-US" sz="2400" b="1" dirty="0">
                <a:latin typeface="+mn-ea"/>
                <a:cs typeface="+mn-ea"/>
                <a:sym typeface="+mn-ea"/>
              </a:rPr>
              <a:t>构件系统的应用中，根据需求规格说明需要创建两个类</a:t>
            </a:r>
            <a:r>
              <a:rPr lang="en-US" altLang="zh-CN" sz="2400" b="1" dirty="0">
                <a:latin typeface="+mn-ea"/>
                <a:cs typeface="+mn-ea"/>
                <a:sym typeface="+mn-ea"/>
              </a:rPr>
              <a:t>CompositeComponent</a:t>
            </a:r>
            <a:r>
              <a:rPr lang="zh-CN" altLang="en-US" sz="2400" b="1" dirty="0">
                <a:latin typeface="+mn-ea"/>
                <a:cs typeface="+mn-ea"/>
                <a:sym typeface="+mn-ea"/>
              </a:rPr>
              <a:t>、</a:t>
            </a:r>
            <a:r>
              <a:rPr lang="en-US" altLang="zh-CN" sz="2400" b="1" dirty="0">
                <a:latin typeface="+mn-ea"/>
                <a:cs typeface="+mn-ea"/>
                <a:sym typeface="+mn-ea"/>
              </a:rPr>
              <a:t>AtomicComponent</a:t>
            </a:r>
            <a:endParaRPr lang="en-US" altLang="zh-CN" sz="2400" b="1" dirty="0">
              <a:latin typeface="+mn-ea"/>
              <a:cs typeface="+mn-ea"/>
              <a:sym typeface="+mn-ea"/>
            </a:endParaRPr>
          </a:p>
          <a:p>
            <a:pPr marL="342900" indent="-342900" eaLnBrk="1" hangingPunct="1">
              <a:lnSpc>
                <a:spcPct val="150000"/>
              </a:lnSpc>
              <a:spcBef>
                <a:spcPts val="25"/>
              </a:spcBef>
              <a:buFont typeface="Arial" panose="020B0604020202020204" pitchFamily="34" charset="0"/>
              <a:buChar char="•"/>
            </a:pPr>
            <a:r>
              <a:rPr lang="zh-CN" altLang="en-US" sz="2400" b="1" dirty="0">
                <a:latin typeface="+mn-ea"/>
                <a:cs typeface="+mn-ea"/>
                <a:sym typeface="+mn-ea"/>
              </a:rPr>
              <a:t>两个类存在相同的属性</a:t>
            </a:r>
            <a:r>
              <a:rPr lang="en-US" altLang="zh-CN" sz="2400" b="1" dirty="0">
                <a:latin typeface="+mn-ea"/>
                <a:cs typeface="+mn-ea"/>
                <a:sym typeface="+mn-ea"/>
              </a:rPr>
              <a:t>name</a:t>
            </a:r>
            <a:r>
              <a:rPr lang="zh-CN" altLang="en-US" sz="2400" b="1" dirty="0">
                <a:latin typeface="+mn-ea"/>
                <a:cs typeface="+mn-ea"/>
                <a:sym typeface="+mn-ea"/>
              </a:rPr>
              <a:t>、</a:t>
            </a:r>
            <a:r>
              <a:rPr lang="en-US" altLang="zh-CN" sz="2400" b="1" dirty="0">
                <a:latin typeface="+mn-ea"/>
                <a:cs typeface="+mn-ea"/>
                <a:sym typeface="+mn-ea"/>
              </a:rPr>
              <a:t>date</a:t>
            </a:r>
            <a:r>
              <a:rPr lang="zh-CN" altLang="en-US" sz="2400" b="1" dirty="0">
                <a:latin typeface="+mn-ea"/>
                <a:cs typeface="+mn-ea"/>
                <a:sym typeface="+mn-ea"/>
              </a:rPr>
              <a:t>、</a:t>
            </a:r>
            <a:r>
              <a:rPr lang="en-US" altLang="zh-CN" sz="2400" b="1" dirty="0">
                <a:latin typeface="+mn-ea"/>
                <a:cs typeface="+mn-ea"/>
                <a:sym typeface="+mn-ea"/>
              </a:rPr>
              <a:t>type</a:t>
            </a:r>
            <a:r>
              <a:rPr lang="zh-CN" altLang="en-US" sz="2400" b="1" dirty="0">
                <a:latin typeface="+mn-ea"/>
                <a:cs typeface="+mn-ea"/>
                <a:sym typeface="+mn-ea"/>
              </a:rPr>
              <a:t>和操作</a:t>
            </a:r>
            <a:r>
              <a:rPr lang="en-US" altLang="zh-CN" sz="2400" b="1" dirty="0">
                <a:latin typeface="+mn-ea"/>
                <a:cs typeface="+mn-ea"/>
                <a:sym typeface="+mn-ea"/>
              </a:rPr>
              <a:t>getName( )</a:t>
            </a:r>
            <a:r>
              <a:rPr lang="zh-CN" altLang="en-US" sz="2400" b="1" dirty="0">
                <a:latin typeface="+mn-ea"/>
                <a:cs typeface="+mn-ea"/>
                <a:sym typeface="+mn-ea"/>
              </a:rPr>
              <a:t>、</a:t>
            </a:r>
            <a:r>
              <a:rPr lang="en-US" altLang="zh-CN" sz="2400" b="1" dirty="0">
                <a:latin typeface="+mn-ea"/>
                <a:cs typeface="+mn-ea"/>
                <a:sym typeface="+mn-ea"/>
              </a:rPr>
              <a:t>getDate( )</a:t>
            </a:r>
            <a:r>
              <a:rPr lang="zh-CN" altLang="en-US" sz="2400" b="1" dirty="0">
                <a:latin typeface="+mn-ea"/>
                <a:cs typeface="+mn-ea"/>
                <a:sym typeface="+mn-ea"/>
              </a:rPr>
              <a:t>、</a:t>
            </a:r>
            <a:r>
              <a:rPr lang="en-US" altLang="zh-CN" sz="2400" b="1" dirty="0">
                <a:latin typeface="+mn-ea"/>
                <a:cs typeface="+mn-ea"/>
                <a:sym typeface="+mn-ea"/>
              </a:rPr>
              <a:t>getType( )</a:t>
            </a:r>
            <a:r>
              <a:rPr lang="zh-CN" altLang="en-US" sz="2400" b="1" dirty="0">
                <a:latin typeface="+mn-ea"/>
                <a:cs typeface="+mn-ea"/>
                <a:sym typeface="+mn-ea"/>
              </a:rPr>
              <a:t>，为了便于代码复用，以及表述这两个类之间的共性，可以设计一个存放通用代码的类</a:t>
            </a:r>
            <a:r>
              <a:rPr lang="en-US" altLang="zh-CN" sz="2400" b="1" dirty="0">
                <a:latin typeface="+mn-ea"/>
                <a:cs typeface="+mn-ea"/>
                <a:sym typeface="+mn-ea"/>
              </a:rPr>
              <a:t>Component</a:t>
            </a:r>
            <a:r>
              <a:rPr lang="zh-CN" altLang="en-US" sz="2400" b="1" dirty="0">
                <a:latin typeface="+mn-ea"/>
                <a:cs typeface="+mn-ea"/>
                <a:sym typeface="+mn-ea"/>
              </a:rPr>
              <a:t>作为基类</a:t>
            </a:r>
            <a:endParaRPr lang="zh-CN" altLang="en-US" sz="2400" b="1" dirty="0">
              <a:latin typeface="+mn-ea"/>
              <a:cs typeface="+mn-ea"/>
              <a:sym typeface="+mn-ea"/>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9</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pic>
        <p:nvPicPr>
          <p:cNvPr id="8" name="图片 7" descr="component-v1"/>
          <p:cNvPicPr>
            <a:picLocks noChangeAspect="1"/>
          </p:cNvPicPr>
          <p:nvPr/>
        </p:nvPicPr>
        <p:blipFill>
          <a:blip r:embed="rId7"/>
          <a:stretch>
            <a:fillRect/>
          </a:stretch>
        </p:blipFill>
        <p:spPr>
          <a:xfrm>
            <a:off x="944880" y="1805940"/>
            <a:ext cx="7913370" cy="4280535"/>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10</a:t>
            </a:r>
            <a:r>
              <a:rPr kumimoji="1" lang="en-US" altLang="zh-CN" sz="2400" dirty="0">
                <a:solidFill>
                  <a:schemeClr val="bg1"/>
                </a:solidFill>
              </a:rPr>
              <a:t>/11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pic>
        <p:nvPicPr>
          <p:cNvPr id="7" name="图片 6" descr="component-v2"/>
          <p:cNvPicPr>
            <a:picLocks noChangeAspect="1"/>
          </p:cNvPicPr>
          <p:nvPr/>
        </p:nvPicPr>
        <p:blipFill>
          <a:blip r:embed="rId7"/>
          <a:stretch>
            <a:fillRect/>
          </a:stretch>
        </p:blipFill>
        <p:spPr>
          <a:xfrm>
            <a:off x="628650" y="1805940"/>
            <a:ext cx="8293735" cy="4486275"/>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8595" y="104584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9555" lvl="1" indent="0" eaLnBrk="1" hangingPunct="1">
              <a:lnSpc>
                <a:spcPct val="150000"/>
              </a:lnSpc>
              <a:buNone/>
            </a:pPr>
            <a:r>
              <a:rPr kumimoji="1" lang="zh-CN" altLang="en-US" sz="2800" b="1" dirty="0"/>
              <a:t>关系</a:t>
            </a:r>
            <a:r>
              <a:rPr kumimoji="1" lang="zh-CN" altLang="en-US" sz="2800" b="1" dirty="0"/>
              <a:t>循环</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1.2.6 </a:t>
            </a:r>
            <a:r>
              <a:rPr kumimoji="1" lang="zh-CN" altLang="en-US" dirty="0">
                <a:solidFill>
                  <a:schemeClr val="bg1"/>
                </a:solidFill>
              </a:rPr>
              <a:t>通用类结构</a:t>
            </a:r>
            <a:r>
              <a:rPr kumimoji="1" lang="en-US" altLang="zh-CN" sz="2400" dirty="0">
                <a:solidFill>
                  <a:schemeClr val="bg1"/>
                </a:solidFill>
              </a:rPr>
              <a:t>11/11</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chemeClr val="tx1"/>
              </a:solidFill>
              <a:latin typeface="等线" panose="02010600030101010101" charset="-122"/>
              <a:ea typeface="等线" panose="02010600030101010101" charset="-122"/>
              <a:cs typeface="等线" panose="02010600030101010101" charset="-122"/>
              <a:sym typeface="+mn-ea"/>
            </a:endParaRPr>
          </a:p>
        </p:txBody>
      </p:sp>
      <p:sp>
        <p:nvSpPr>
          <p:cNvPr id="8" name="文本框 7"/>
          <p:cNvSpPr txBox="1"/>
          <p:nvPr/>
        </p:nvSpPr>
        <p:spPr>
          <a:xfrm>
            <a:off x="399415" y="1805940"/>
            <a:ext cx="8387715" cy="3415030"/>
          </a:xfrm>
          <a:prstGeom prst="rect">
            <a:avLst/>
          </a:prstGeom>
          <a:noFill/>
        </p:spPr>
        <p:txBody>
          <a:bodyPr wrap="square" rtlCol="0" anchor="t">
            <a:spAutoFit/>
          </a:bodyPr>
          <a:p>
            <a:pPr lvl="1" indent="-436245" eaLnBrk="1" hangingPunct="1">
              <a:lnSpc>
                <a:spcPct val="150000"/>
              </a:lnSpc>
              <a:buFont typeface="Arial" panose="020B0604020202020204" pitchFamily="34" charset="0"/>
              <a:buChar char="•"/>
            </a:pPr>
            <a:r>
              <a:rPr lang="zh-CN" altLang="en-US" sz="2400" b="1" dirty="0">
                <a:latin typeface="等线" panose="02010600030101010101" charset="-122"/>
                <a:ea typeface="等线" panose="02010600030101010101" charset="-122"/>
                <a:cs typeface="等线" panose="02010600030101010101" charset="-122"/>
                <a:sym typeface="+mn-ea"/>
              </a:rPr>
              <a:t>在面向对象设计中，如果类</a:t>
            </a:r>
            <a:r>
              <a:rPr lang="en-US" altLang="zh-CN" sz="2400" b="1" dirty="0">
                <a:latin typeface="等线" panose="02010600030101010101" charset="-122"/>
                <a:ea typeface="等线" panose="02010600030101010101" charset="-122"/>
                <a:cs typeface="等线" panose="02010600030101010101" charset="-122"/>
                <a:sym typeface="+mn-ea"/>
              </a:rPr>
              <a:t>B</a:t>
            </a:r>
            <a:r>
              <a:rPr lang="zh-CN" altLang="en-US" sz="2400" b="1" dirty="0">
                <a:latin typeface="等线" panose="02010600030101010101" charset="-122"/>
                <a:ea typeface="等线" panose="02010600030101010101" charset="-122"/>
                <a:cs typeface="等线" panose="02010600030101010101" charset="-122"/>
                <a:sym typeface="+mn-ea"/>
              </a:rPr>
              <a:t>和类</a:t>
            </a:r>
            <a:r>
              <a:rPr lang="en-US" altLang="zh-CN" sz="2400" b="1" dirty="0">
                <a:latin typeface="等线" panose="02010600030101010101" charset="-122"/>
                <a:ea typeface="等线" panose="02010600030101010101" charset="-122"/>
                <a:cs typeface="等线" panose="02010600030101010101" charset="-122"/>
                <a:sym typeface="+mn-ea"/>
              </a:rPr>
              <a:t>C</a:t>
            </a:r>
            <a:r>
              <a:rPr lang="zh-CN" altLang="en-US" sz="2400" b="1" dirty="0">
                <a:latin typeface="等线" panose="02010600030101010101" charset="-122"/>
                <a:ea typeface="等线" panose="02010600030101010101" charset="-122"/>
                <a:cs typeface="等线" panose="02010600030101010101" charset="-122"/>
                <a:sym typeface="+mn-ea"/>
              </a:rPr>
              <a:t>存在同样的代码，可以设计一个类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，用于存放通用代码，使得类</a:t>
            </a:r>
            <a:r>
              <a:rPr lang="en-US" altLang="zh-CN" sz="2400" b="1" dirty="0">
                <a:latin typeface="等线" panose="02010600030101010101" charset="-122"/>
                <a:ea typeface="等线" panose="02010600030101010101" charset="-122"/>
                <a:cs typeface="等线" panose="02010600030101010101" charset="-122"/>
                <a:sym typeface="+mn-ea"/>
              </a:rPr>
              <a:t>B</a:t>
            </a:r>
            <a:r>
              <a:rPr lang="zh-CN" altLang="en-US" sz="2400" b="1" dirty="0">
                <a:latin typeface="等线" panose="02010600030101010101" charset="-122"/>
                <a:ea typeface="等线" panose="02010600030101010101" charset="-122"/>
                <a:cs typeface="等线" panose="02010600030101010101" charset="-122"/>
                <a:sym typeface="+mn-ea"/>
              </a:rPr>
              <a:t>和类</a:t>
            </a:r>
            <a:r>
              <a:rPr lang="en-US" altLang="zh-CN" sz="2400" b="1" dirty="0">
                <a:latin typeface="等线" panose="02010600030101010101" charset="-122"/>
                <a:ea typeface="等线" panose="02010600030101010101" charset="-122"/>
                <a:cs typeface="等线" panose="02010600030101010101" charset="-122"/>
                <a:sym typeface="+mn-ea"/>
              </a:rPr>
              <a:t>C</a:t>
            </a:r>
            <a:r>
              <a:rPr lang="zh-CN" altLang="en-US" sz="2400" b="1" dirty="0">
                <a:latin typeface="等线" panose="02010600030101010101" charset="-122"/>
                <a:ea typeface="等线" panose="02010600030101010101" charset="-122"/>
                <a:cs typeface="等线" panose="02010600030101010101" charset="-122"/>
                <a:sym typeface="+mn-ea"/>
              </a:rPr>
              <a:t>继承类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，通过继承，类</a:t>
            </a:r>
            <a:r>
              <a:rPr lang="en-US" altLang="zh-CN" sz="2400" b="1" dirty="0">
                <a:latin typeface="等线" panose="02010600030101010101" charset="-122"/>
                <a:ea typeface="等线" panose="02010600030101010101" charset="-122"/>
                <a:cs typeface="等线" panose="02010600030101010101" charset="-122"/>
                <a:sym typeface="+mn-ea"/>
              </a:rPr>
              <a:t>B</a:t>
            </a:r>
            <a:r>
              <a:rPr lang="zh-CN" altLang="en-US" sz="2400" b="1" dirty="0">
                <a:latin typeface="等线" panose="02010600030101010101" charset="-122"/>
                <a:ea typeface="等线" panose="02010600030101010101" charset="-122"/>
                <a:cs typeface="等线" panose="02010600030101010101" charset="-122"/>
                <a:sym typeface="+mn-ea"/>
              </a:rPr>
              <a:t>和类</a:t>
            </a:r>
            <a:r>
              <a:rPr lang="en-US" altLang="zh-CN" sz="2400" b="1" dirty="0">
                <a:latin typeface="等线" panose="02010600030101010101" charset="-122"/>
                <a:ea typeface="等线" panose="02010600030101010101" charset="-122"/>
                <a:cs typeface="等线" panose="02010600030101010101" charset="-122"/>
                <a:sym typeface="+mn-ea"/>
              </a:rPr>
              <a:t>C</a:t>
            </a:r>
            <a:r>
              <a:rPr lang="zh-CN" altLang="en-US" sz="2400" b="1" dirty="0">
                <a:latin typeface="等线" panose="02010600030101010101" charset="-122"/>
                <a:ea typeface="等线" panose="02010600030101010101" charset="-122"/>
                <a:cs typeface="等线" panose="02010600030101010101" charset="-122"/>
                <a:sym typeface="+mn-ea"/>
              </a:rPr>
              <a:t>可以复用类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的代码</a:t>
            </a:r>
            <a:endParaRPr lang="en-US" altLang="zh-CN" sz="2400" b="1" dirty="0">
              <a:latin typeface="等线" panose="02010600030101010101" charset="-122"/>
              <a:ea typeface="等线" panose="02010600030101010101" charset="-122"/>
              <a:cs typeface="等线" panose="02010600030101010101" charset="-122"/>
            </a:endParaRPr>
          </a:p>
          <a:p>
            <a:pPr lvl="1" indent="-436245" eaLnBrk="1" hangingPunct="1">
              <a:lnSpc>
                <a:spcPct val="150000"/>
              </a:lnSpc>
              <a:buFont typeface="Arial" panose="020B0604020202020204" pitchFamily="34" charset="0"/>
              <a:buChar char="•"/>
            </a:pPr>
            <a:r>
              <a:rPr lang="zh-CN" altLang="en-US" sz="2400" b="1" dirty="0">
                <a:latin typeface="等线" panose="02010600030101010101" charset="-122"/>
                <a:ea typeface="等线" panose="02010600030101010101" charset="-122"/>
                <a:cs typeface="等线" panose="02010600030101010101" charset="-122"/>
                <a:sym typeface="+mn-ea"/>
              </a:rPr>
              <a:t>如果类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与类</a:t>
            </a:r>
            <a:r>
              <a:rPr lang="en-US" altLang="zh-CN" sz="2400" b="1" dirty="0">
                <a:latin typeface="等线" panose="02010600030101010101" charset="-122"/>
                <a:ea typeface="等线" panose="02010600030101010101" charset="-122"/>
                <a:cs typeface="等线" panose="02010600030101010101" charset="-122"/>
                <a:sym typeface="+mn-ea"/>
              </a:rPr>
              <a:t>B</a:t>
            </a:r>
            <a:r>
              <a:rPr lang="zh-CN" altLang="en-US" sz="2400" b="1" dirty="0">
                <a:latin typeface="等线" panose="02010600030101010101" charset="-122"/>
                <a:ea typeface="等线" panose="02010600030101010101" charset="-122"/>
                <a:cs typeface="等线" panose="02010600030101010101" charset="-122"/>
                <a:sym typeface="+mn-ea"/>
              </a:rPr>
              <a:t>所有子类关联，则类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仅需与基类关联即可，同时将类</a:t>
            </a:r>
            <a:r>
              <a:rPr lang="en-US" altLang="zh-CN" sz="2400" b="1" dirty="0">
                <a:latin typeface="等线" panose="02010600030101010101" charset="-122"/>
                <a:ea typeface="等线" panose="02010600030101010101" charset="-122"/>
                <a:cs typeface="等线" panose="02010600030101010101" charset="-122"/>
                <a:sym typeface="+mn-ea"/>
              </a:rPr>
              <a:t>A</a:t>
            </a:r>
            <a:r>
              <a:rPr lang="zh-CN" altLang="en-US" sz="2400" b="1" dirty="0">
                <a:latin typeface="等线" panose="02010600030101010101" charset="-122"/>
                <a:ea typeface="等线" panose="02010600030101010101" charset="-122"/>
                <a:cs typeface="等线" panose="02010600030101010101" charset="-122"/>
                <a:sym typeface="+mn-ea"/>
              </a:rPr>
              <a:t>中的属性变量</a:t>
            </a:r>
            <a:r>
              <a:rPr lang="en-US" altLang="zh-CN" sz="2400" b="1" dirty="0">
                <a:latin typeface="等线" panose="02010600030101010101" charset="-122"/>
                <a:ea typeface="等线" panose="02010600030101010101" charset="-122"/>
                <a:cs typeface="等线" panose="02010600030101010101" charset="-122"/>
                <a:sym typeface="+mn-ea"/>
              </a:rPr>
              <a:t>/</a:t>
            </a:r>
            <a:r>
              <a:rPr lang="zh-CN" altLang="en-US" sz="2400" b="1" dirty="0">
                <a:latin typeface="等线" panose="02010600030101010101" charset="-122"/>
                <a:ea typeface="等线" panose="02010600030101010101" charset="-122"/>
                <a:cs typeface="等线" panose="02010600030101010101" charset="-122"/>
                <a:sym typeface="+mn-ea"/>
              </a:rPr>
              <a:t>方法参数的类型设为基类，属性变量</a:t>
            </a:r>
            <a:r>
              <a:rPr lang="en-US" altLang="zh-CN" sz="2400" b="1" dirty="0">
                <a:latin typeface="等线" panose="02010600030101010101" charset="-122"/>
                <a:ea typeface="等线" panose="02010600030101010101" charset="-122"/>
                <a:cs typeface="等线" panose="02010600030101010101" charset="-122"/>
                <a:sym typeface="+mn-ea"/>
              </a:rPr>
              <a:t>/</a:t>
            </a:r>
            <a:r>
              <a:rPr lang="zh-CN" altLang="en-US" sz="2400" b="1" dirty="0">
                <a:latin typeface="等线" panose="02010600030101010101" charset="-122"/>
                <a:ea typeface="等线" panose="02010600030101010101" charset="-122"/>
                <a:cs typeface="等线" panose="02010600030101010101" charset="-122"/>
                <a:sym typeface="+mn-ea"/>
              </a:rPr>
              <a:t>方法形式参数可以接受该基类及其子类</a:t>
            </a:r>
            <a:r>
              <a:rPr lang="zh-CN" altLang="en-US" sz="2400" b="1" dirty="0">
                <a:latin typeface="等线" panose="02010600030101010101" charset="-122"/>
                <a:ea typeface="等线" panose="02010600030101010101" charset="-122"/>
                <a:cs typeface="等线" panose="02010600030101010101" charset="-122"/>
                <a:sym typeface="+mn-ea"/>
              </a:rPr>
              <a:t>的对象</a:t>
            </a:r>
            <a:endParaRPr lang="zh-CN" altLang="en-US" sz="2400" b="1"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2745" y="4223385"/>
            <a:ext cx="5845175" cy="645160"/>
          </a:xfrm>
          <a:prstGeom prst="rect">
            <a:avLst/>
          </a:prstGeom>
          <a:noFill/>
        </p:spPr>
        <p:txBody>
          <a:bodyPr wrap="square" rtlCol="0" anchor="t">
            <a:spAutoFit/>
          </a:bodyPr>
          <a:p>
            <a:pPr algn="dist"/>
            <a:r>
              <a:rPr kumimoji="1" lang="zh-CN" altLang="en-US" sz="3600" b="1" kern="0" dirty="0">
                <a:solidFill>
                  <a:srgbClr val="034DA0"/>
                </a:solidFill>
                <a:latin typeface="华文行楷" panose="02010800040101010101" charset="-122"/>
                <a:ea typeface="华文行楷" panose="02010800040101010101" charset="-122"/>
                <a:sym typeface="+mn-ea"/>
              </a:rPr>
              <a:t>关于通用类结构，你的</a:t>
            </a:r>
            <a:r>
              <a:rPr kumimoji="1" lang="zh-CN" altLang="en-US" sz="3600" b="1" kern="0" dirty="0">
                <a:solidFill>
                  <a:srgbClr val="034DA0"/>
                </a:solidFill>
                <a:latin typeface="华文行楷" panose="02010800040101010101" charset="-122"/>
                <a:ea typeface="华文行楷" panose="02010800040101010101" charset="-122"/>
                <a:sym typeface="+mn-ea"/>
              </a:rPr>
              <a:t>收获？</a:t>
            </a:r>
            <a:endParaRPr kumimoji="1" lang="zh-CN" altLang="en-US" sz="3600" b="1" kern="0" dirty="0">
              <a:solidFill>
                <a:srgbClr val="034DA0"/>
              </a:solidFill>
              <a:latin typeface="华文行楷" panose="02010800040101010101" charset="-122"/>
              <a:ea typeface="华文行楷" panose="02010800040101010101"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面向对象设计的</a:t>
            </a:r>
            <a:r>
              <a:rPr kumimoji="1" lang="zh-CN" altLang="en-US" sz="2800" b="1" dirty="0"/>
              <a:t>步骤</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nvSpPr>
        <p:spPr>
          <a:xfrm>
            <a:off x="530860" y="1925955"/>
            <a:ext cx="8486775" cy="427228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kumimoji="1" sz="2400" b="1" dirty="0"/>
              <a:t>面向对象设计是为将要开发的系统构建</a:t>
            </a:r>
            <a:r>
              <a:rPr kumimoji="1" lang="en-US" sz="2400" b="1" dirty="0"/>
              <a:t>UML</a:t>
            </a:r>
            <a:r>
              <a:rPr kumimoji="1" sz="2400" b="1" dirty="0"/>
              <a:t>类图的过程。类图指定了类</a:t>
            </a:r>
            <a:r>
              <a:rPr kumimoji="1" sz="2400" b="1" dirty="0">
                <a:latin typeface="+mn-ea"/>
                <a:cs typeface="+mn-ea"/>
              </a:rPr>
              <a:t>、</a:t>
            </a:r>
            <a:r>
              <a:rPr kumimoji="1" lang="zh-CN" sz="2400" b="1" dirty="0">
                <a:latin typeface="+mn-ea"/>
                <a:cs typeface="+mn-ea"/>
              </a:rPr>
              <a:t>类的</a:t>
            </a:r>
            <a:r>
              <a:rPr kumimoji="1" sz="2400" b="1" dirty="0">
                <a:latin typeface="+mn-ea"/>
                <a:cs typeface="+mn-ea"/>
              </a:rPr>
              <a:t>属性和方法，以及类之间的关系。</a:t>
            </a:r>
            <a:endParaRPr kumimoji="1" sz="2400" b="1" dirty="0">
              <a:latin typeface="+mn-ea"/>
              <a:cs typeface="+mn-ea"/>
            </a:endParaRPr>
          </a:p>
          <a:p>
            <a:pPr marL="814705" lvl="1" indent="-342900" eaLnBrk="1" hangingPunct="1">
              <a:lnSpc>
                <a:spcPct val="150000"/>
              </a:lnSpc>
              <a:spcBef>
                <a:spcPct val="20000"/>
              </a:spcBef>
              <a:buClr>
                <a:srgbClr val="000000"/>
              </a:buClr>
              <a:buFont typeface="Arial" panose="020B0604020202020204" pitchFamily="34" charset="0"/>
              <a:buChar char="•"/>
            </a:pPr>
            <a:r>
              <a:rPr lang="en-US" altLang="zh-CN" b="1" dirty="0">
                <a:solidFill>
                  <a:srgbClr val="000000"/>
                </a:solidFill>
                <a:latin typeface="+mn-ea"/>
                <a:cs typeface="+mn-ea"/>
                <a:sym typeface="+mn-ea"/>
              </a:rPr>
              <a:t>定义类</a:t>
            </a:r>
            <a:endParaRPr lang="en-US" altLang="zh-CN" b="1" dirty="0">
              <a:solidFill>
                <a:srgbClr val="000000"/>
              </a:solidFill>
              <a:latin typeface="+mn-ea"/>
              <a:cs typeface="+mn-ea"/>
              <a:sym typeface="+mn-ea"/>
            </a:endParaRPr>
          </a:p>
          <a:p>
            <a:pPr marL="814705" lvl="1" indent="-342900" eaLnBrk="1" hangingPunct="1">
              <a:lnSpc>
                <a:spcPct val="150000"/>
              </a:lnSpc>
              <a:spcBef>
                <a:spcPct val="20000"/>
              </a:spcBef>
              <a:buClr>
                <a:srgbClr val="000000"/>
              </a:buClr>
              <a:buFont typeface="Arial" panose="020B0604020202020204" pitchFamily="34" charset="0"/>
              <a:buChar char="•"/>
            </a:pPr>
            <a:r>
              <a:rPr lang="zh-CN" altLang="en-US" b="1" dirty="0">
                <a:solidFill>
                  <a:srgbClr val="000000"/>
                </a:solidFill>
                <a:latin typeface="+mn-ea"/>
                <a:cs typeface="+mn-ea"/>
                <a:sym typeface="+mn-ea"/>
              </a:rPr>
              <a:t>设计</a:t>
            </a:r>
            <a:r>
              <a:rPr lang="en-US" altLang="zh-CN" b="1" dirty="0">
                <a:solidFill>
                  <a:srgbClr val="000000"/>
                </a:solidFill>
                <a:latin typeface="+mn-ea"/>
                <a:cs typeface="+mn-ea"/>
                <a:sym typeface="+mn-ea"/>
              </a:rPr>
              <a:t>类间的关系，如关联、继承等</a:t>
            </a:r>
            <a:endParaRPr lang="en-US" altLang="zh-CN" b="1" dirty="0">
              <a:solidFill>
                <a:srgbClr val="000000"/>
              </a:solidFill>
              <a:latin typeface="+mn-ea"/>
              <a:cs typeface="+mn-ea"/>
              <a:sym typeface="+mn-ea"/>
            </a:endParaRPr>
          </a:p>
          <a:p>
            <a:pPr marL="814705" lvl="1" indent="-342900" eaLnBrk="1" hangingPunct="1">
              <a:lnSpc>
                <a:spcPct val="150000"/>
              </a:lnSpc>
              <a:spcBef>
                <a:spcPct val="20000"/>
              </a:spcBef>
              <a:buClr>
                <a:srgbClr val="000000"/>
              </a:buClr>
              <a:buFont typeface="Arial" panose="020B0604020202020204" pitchFamily="34" charset="0"/>
              <a:buChar char="•"/>
            </a:pPr>
            <a:r>
              <a:rPr lang="zh-CN" altLang="en-US" b="1" dirty="0">
                <a:solidFill>
                  <a:srgbClr val="000000"/>
                </a:solidFill>
                <a:latin typeface="+mn-ea"/>
                <a:cs typeface="+mn-ea"/>
                <a:sym typeface="+mn-ea"/>
              </a:rPr>
              <a:t>设计</a:t>
            </a:r>
            <a:r>
              <a:rPr lang="en-US" altLang="zh-CN" b="1" dirty="0">
                <a:solidFill>
                  <a:srgbClr val="000000"/>
                </a:solidFill>
                <a:latin typeface="+mn-ea"/>
                <a:cs typeface="+mn-ea"/>
                <a:sym typeface="+mn-ea"/>
              </a:rPr>
              <a:t>类的属性</a:t>
            </a:r>
            <a:endParaRPr lang="en-US" altLang="zh-CN" b="1" dirty="0">
              <a:solidFill>
                <a:srgbClr val="000000"/>
              </a:solidFill>
              <a:latin typeface="+mn-ea"/>
              <a:cs typeface="+mn-ea"/>
              <a:sym typeface="+mn-ea"/>
            </a:endParaRPr>
          </a:p>
          <a:p>
            <a:pPr marL="814705" lvl="1" indent="-342900" eaLnBrk="1" hangingPunct="1">
              <a:lnSpc>
                <a:spcPct val="150000"/>
              </a:lnSpc>
              <a:spcBef>
                <a:spcPct val="20000"/>
              </a:spcBef>
              <a:buClr>
                <a:srgbClr val="000000"/>
              </a:buClr>
              <a:buFont typeface="Arial" panose="020B0604020202020204" pitchFamily="34" charset="0"/>
              <a:buChar char="•"/>
            </a:pPr>
            <a:r>
              <a:rPr lang="zh-CN" altLang="en-US" b="1" dirty="0">
                <a:solidFill>
                  <a:srgbClr val="000000"/>
                </a:solidFill>
                <a:latin typeface="+mn-ea"/>
                <a:cs typeface="+mn-ea"/>
                <a:sym typeface="+mn-ea"/>
              </a:rPr>
              <a:t>设计</a:t>
            </a:r>
            <a:r>
              <a:rPr lang="en-US" altLang="zh-CN" b="1" dirty="0">
                <a:solidFill>
                  <a:srgbClr val="000000"/>
                </a:solidFill>
                <a:latin typeface="+mn-ea"/>
                <a:cs typeface="+mn-ea"/>
                <a:sym typeface="+mn-ea"/>
              </a:rPr>
              <a:t>类提供哪些操作</a:t>
            </a:r>
            <a:endParaRPr lang="en-US" altLang="zh-CN" b="1" dirty="0">
              <a:solidFill>
                <a:srgbClr val="000000"/>
              </a:solidFill>
              <a:latin typeface="+mn-ea"/>
              <a:cs typeface="+mn-ea"/>
              <a:sym typeface="+mn-ea"/>
            </a:endParaRPr>
          </a:p>
          <a:p>
            <a:pPr marL="814705" lvl="1" indent="-342900" eaLnBrk="1" hangingPunct="1">
              <a:lnSpc>
                <a:spcPct val="150000"/>
              </a:lnSpc>
              <a:spcBef>
                <a:spcPct val="20000"/>
              </a:spcBef>
              <a:buClr>
                <a:srgbClr val="000000"/>
              </a:buClr>
              <a:buFont typeface="Arial" panose="020B0604020202020204" pitchFamily="34" charset="0"/>
              <a:buChar char="•"/>
            </a:pPr>
            <a:r>
              <a:rPr lang="en-US" altLang="zh-CN" b="1" dirty="0">
                <a:solidFill>
                  <a:srgbClr val="000000"/>
                </a:solidFill>
                <a:latin typeface="+mn-ea"/>
                <a:cs typeface="+mn-ea"/>
                <a:sym typeface="+mn-ea"/>
              </a:rPr>
              <a:t>绘制类图</a:t>
            </a:r>
            <a:endParaRPr lang="en-US" altLang="zh-CN" b="1" dirty="0">
              <a:solidFill>
                <a:srgbClr val="000000"/>
              </a:solidFill>
              <a:latin typeface="+mn-ea"/>
              <a:cs typeface="+mn-ea"/>
              <a:sym typeface="+mn-ea"/>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473075" y="1339215"/>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鲜牛奶系统的</a:t>
            </a:r>
            <a:r>
              <a:rPr kumimoji="1" lang="zh-CN" altLang="en-US" sz="2800" b="1" dirty="0"/>
              <a:t>需求</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6" name="内容占位符 2"/>
          <p:cNvSpPr txBox="1"/>
          <p:nvPr>
            <p:custDataLst>
              <p:tags r:id="rId7"/>
            </p:custDataLst>
          </p:nvPr>
        </p:nvSpPr>
        <p:spPr>
          <a:xfrm>
            <a:off x="530860" y="1868170"/>
            <a:ext cx="8382000" cy="3153410"/>
          </a:xfrm>
          <a:prstGeom prst="rect">
            <a:avLst/>
          </a:prstGeom>
          <a:ln>
            <a:no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kumimoji="1" sz="2400" b="1" dirty="0">
                <a:latin typeface="Times New Roman" panose="02020603050405020304" pitchFamily="18" charset="0"/>
                <a:cs typeface="Times New Roman" panose="02020603050405020304" pitchFamily="18" charset="0"/>
              </a:rPr>
              <a:t>The Bright Fresh Milk System</a:t>
            </a:r>
            <a:r>
              <a:rPr kumimoji="1" lang="en-US" sz="2400" b="1" dirty="0">
                <a:latin typeface="Times New Roman" panose="02020603050405020304" pitchFamily="18" charset="0"/>
                <a:cs typeface="Times New Roman" panose="02020603050405020304" pitchFamily="18" charset="0"/>
              </a:rPr>
              <a:t>(</a:t>
            </a:r>
            <a:r>
              <a:rPr lang="en-US" altLang="zh-CN" sz="2400" b="1" dirty="0">
                <a:solidFill>
                  <a:srgbClr val="000000"/>
                </a:solidFill>
                <a:sym typeface="+mn-ea"/>
              </a:rPr>
              <a:t> </a:t>
            </a:r>
            <a:r>
              <a:rPr lang="en-US" altLang="zh-CN" sz="2400" b="1" dirty="0">
                <a:solidFill>
                  <a:srgbClr val="000000"/>
                </a:solidFill>
                <a:latin typeface="等线" panose="02010600030101010101" charset="-122"/>
                <a:ea typeface="等线" panose="02010600030101010101" charset="-122"/>
                <a:cs typeface="等线" panose="02010600030101010101" charset="-122"/>
                <a:sym typeface="+mn-ea"/>
              </a:rPr>
              <a:t>2023年秋季课程\第1单元 UML类图设计方法\</a:t>
            </a:r>
            <a:r>
              <a:rPr kumimoji="1" sz="2400" b="1" dirty="0">
                <a:latin typeface="等线" panose="02010600030101010101" charset="-122"/>
                <a:ea typeface="等线" panose="02010600030101010101" charset="-122"/>
                <a:cs typeface="等线" panose="02010600030101010101" charset="-122"/>
                <a:sym typeface="+mn-ea"/>
                <a:hlinkClick r:id="rId8" action="ppaction://hlinkfile"/>
              </a:rPr>
              <a:t>milkSystemDescription.docx</a:t>
            </a:r>
            <a:r>
              <a:rPr kumimoji="1" lang="en-US" sz="2400" b="1" dirty="0">
                <a:latin typeface="Times New Roman" panose="02020603050405020304" pitchFamily="18" charset="0"/>
                <a:cs typeface="Times New Roman" panose="02020603050405020304" pitchFamily="18" charset="0"/>
              </a:rPr>
              <a:t>)</a:t>
            </a:r>
            <a:endParaRPr kumimoji="1" sz="2400" b="1"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kumimoji="1" sz="2400" b="1" dirty="0">
                <a:latin typeface="Times New Roman" panose="02020603050405020304" pitchFamily="18" charset="0"/>
                <a:cs typeface="Times New Roman" panose="02020603050405020304" pitchFamily="18" charset="0"/>
              </a:rPr>
              <a:t>Bright Fresh Milk is a store that sells pure milk from countries around the globe. It also sells milk drinks, yogurt and jelly. The Bright Fresh Milk System maintains a product catalog, processes orders, and tracks the store's sales. The catalog maintains the following information about the store's products:</a:t>
            </a:r>
            <a:endParaRPr kumimoji="1" sz="2400" b="1" dirty="0">
              <a:latin typeface="Times New Roman" panose="02020603050405020304" pitchFamily="18" charset="0"/>
              <a:cs typeface="Times New Roman" panose="02020603050405020304" pitchFamily="18" charset="0"/>
            </a:endParaRPr>
          </a:p>
          <a:p>
            <a:pPr marL="0" indent="0" algn="ctr">
              <a:lnSpc>
                <a:spcPct val="150000"/>
              </a:lnSpc>
              <a:buFont typeface="Arial" panose="020B0604020202020204" pitchFamily="34" charset="0"/>
              <a:buNone/>
            </a:pPr>
            <a:r>
              <a:rPr kumimoji="1" lang="en-US" altLang="zh-CN" sz="3200" b="1" dirty="0">
                <a:latin typeface="Times New Roman" panose="02020603050405020304" pitchFamily="18" charset="0"/>
                <a:cs typeface="Times New Roman" panose="02020603050405020304" pitchFamily="18" charset="0"/>
              </a:rPr>
              <a:t>...</a:t>
            </a:r>
            <a:endParaRPr kumimoji="1" lang="en-US" altLang="zh-CN" sz="3200" b="1" dirty="0">
              <a:latin typeface="Times New Roman" panose="02020603050405020304" pitchFamily="18" charset="0"/>
              <a:cs typeface="Times New Roman" panose="02020603050405020304" pitchFamily="18" charset="0"/>
            </a:endParaRPr>
          </a:p>
        </p:txBody>
      </p:sp>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鲜牛奶系统</a:t>
            </a:r>
            <a:r>
              <a:rPr kumimoji="1" lang="en-US" altLang="zh-CN" sz="2800" b="1" dirty="0"/>
              <a:t>—</a:t>
            </a:r>
            <a:r>
              <a:rPr kumimoji="1" lang="zh-CN" altLang="en-US" sz="2800" b="1" dirty="0"/>
              <a:t>类的</a:t>
            </a:r>
            <a:r>
              <a:rPr kumimoji="1" lang="zh-CN" altLang="en-US" sz="2800" b="1" dirty="0"/>
              <a:t>设计（列出名词/名词短语）</a:t>
            </a:r>
            <a:endParaRPr kumimoji="1" lang="zh-CN" altLang="en-US"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3</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7" name="表格 6"/>
          <p:cNvGraphicFramePr/>
          <p:nvPr>
            <p:custDataLst>
              <p:tags r:id="rId7"/>
            </p:custDataLst>
          </p:nvPr>
        </p:nvGraphicFramePr>
        <p:xfrm>
          <a:off x="458470" y="1674495"/>
          <a:ext cx="8127365" cy="4344670"/>
        </p:xfrm>
        <a:graphic>
          <a:graphicData uri="http://schemas.openxmlformats.org/drawingml/2006/table">
            <a:tbl>
              <a:tblPr firstRow="1" bandRow="1">
                <a:tableStyleId>{5C22544A-7EE6-4342-B048-85BDC9FD1C3A}</a:tableStyleId>
              </a:tblPr>
              <a:tblGrid>
                <a:gridCol w="2388235"/>
                <a:gridCol w="1578610"/>
                <a:gridCol w="2500630"/>
                <a:gridCol w="1659890"/>
              </a:tblGrid>
              <a:tr h="40005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Bright Fresh Milk</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orders</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country of origin</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list</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store </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sales</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butterfat</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quantities</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pure milk</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catalog </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protein</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total cost</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countries</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information</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milk drink</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example</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globe</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products</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flavor</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sale items</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milk drinks</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code</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sugar</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total</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yogurt </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description</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type</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quantity</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jelly</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price</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gn="l">
                        <a:lnSpc>
                          <a:spcPct val="100000"/>
                        </a:lnSpc>
                        <a:buClrTx/>
                        <a:buSzTx/>
                        <a:buFontTx/>
                        <a:buNone/>
                      </a:pPr>
                      <a:r>
                        <a:rPr lang="en-US" sz="2200" b="1">
                          <a:solidFill>
                            <a:srgbClr val="000000"/>
                          </a:solidFill>
                          <a:latin typeface="Times New Roman" panose="02020603050405020304" pitchFamily="18" charset="0"/>
                          <a:cs typeface="Times New Roman" panose="02020603050405020304" pitchFamily="18" charset="0"/>
                        </a:rPr>
                        <a:t>dilute concentration</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gn="l">
                        <a:lnSpc>
                          <a:spcPct val="100000"/>
                        </a:lnSpc>
                        <a:buClrTx/>
                        <a:buSzTx/>
                        <a:buFontTx/>
                        <a:buNone/>
                      </a:pPr>
                      <a:r>
                        <a:rPr lang="en-US" sz="2200" b="1">
                          <a:solidFill>
                            <a:srgbClr val="000000"/>
                          </a:solidFill>
                          <a:latin typeface="Times New Roman" panose="02020603050405020304" pitchFamily="18" charset="0"/>
                          <a:cs typeface="Times New Roman" panose="02020603050405020304" pitchFamily="18" charset="0"/>
                          <a:sym typeface="+mn-ea"/>
                        </a:rPr>
                        <a:t>order total</a:t>
                      </a:r>
                      <a:endParaRPr lang="en-US" sz="2200" b="1">
                        <a:solidFill>
                          <a:srgbClr val="000000"/>
                        </a:solidFill>
                        <a:latin typeface="Times New Roman" panose="02020603050405020304" pitchFamily="18" charset="0"/>
                        <a:cs typeface="Times New Roman" panose="02020603050405020304" pitchFamily="18" charset="0"/>
                        <a:sym typeface="+mn-ea"/>
                      </a:endParaRPr>
                    </a:p>
                  </a:txBody>
                  <a:tcPr/>
                </a:tc>
              </a:tr>
              <a:tr h="285115">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Bright Fresh Milk System</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production date</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200" b="1">
                          <a:solidFill>
                            <a:srgbClr val="000000"/>
                          </a:solidFill>
                          <a:latin typeface="Times New Roman" panose="02020603050405020304" pitchFamily="18" charset="0"/>
                          <a:cs typeface="Times New Roman" panose="02020603050405020304" pitchFamily="18" charset="0"/>
                        </a:rPr>
                        <a:t>a current order</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nSpc>
                          <a:spcPct val="100000"/>
                        </a:lnSpc>
                        <a:buNone/>
                      </a:pPr>
                      <a:endParaRPr lang="zh-CN" altLang="en-US" sz="2200" b="1">
                        <a:latin typeface="Times New Roman" panose="02020603050405020304" pitchFamily="18" charset="0"/>
                        <a:cs typeface="Times New Roman" panose="02020603050405020304" pitchFamily="18" charset="0"/>
                      </a:endParaRPr>
                    </a:p>
                  </a:txBody>
                  <a:tcPr/>
                </a:tc>
              </a:tr>
              <a:tr h="381000">
                <a:tc>
                  <a:txBody>
                    <a:bodyPr/>
                    <a:p>
                      <a:pPr indent="0">
                        <a:buNone/>
                      </a:pPr>
                      <a:r>
                        <a:rPr lang="en-US" sz="2200" b="1">
                          <a:solidFill>
                            <a:srgbClr val="000000"/>
                          </a:solidFill>
                          <a:latin typeface="Times New Roman" panose="02020603050405020304" pitchFamily="18" charset="0"/>
                          <a:cs typeface="Times New Roman" panose="02020603050405020304" pitchFamily="18" charset="0"/>
                        </a:rPr>
                        <a:t>product catalog</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buNone/>
                      </a:pPr>
                      <a:r>
                        <a:rPr lang="en-US" sz="2200" b="1">
                          <a:solidFill>
                            <a:srgbClr val="000000"/>
                          </a:solidFill>
                          <a:latin typeface="Times New Roman" panose="02020603050405020304" pitchFamily="18" charset="0"/>
                          <a:cs typeface="Times New Roman" panose="02020603050405020304" pitchFamily="18" charset="0"/>
                        </a:rPr>
                        <a:t>shelf life</a:t>
                      </a:r>
                      <a:endParaRPr 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buNone/>
                      </a:pPr>
                      <a:r>
                        <a:rPr lang="en-US" sz="2200" b="1">
                          <a:solidFill>
                            <a:srgbClr val="000000"/>
                          </a:solidFill>
                          <a:latin typeface="Times New Roman" panose="02020603050405020304" pitchFamily="18" charset="0"/>
                          <a:cs typeface="Times New Roman" panose="02020603050405020304" pitchFamily="18" charset="0"/>
                        </a:rPr>
                        <a:t>system</a:t>
                      </a:r>
                      <a:endParaRPr lang="en-US" altLang="en-US" sz="22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2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71283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鲜牛奶系统</a:t>
            </a:r>
            <a:r>
              <a:rPr kumimoji="1" lang="en-US" altLang="zh-CN" sz="2800" b="1" dirty="0"/>
              <a:t>—</a:t>
            </a:r>
            <a:r>
              <a:rPr kumimoji="1" lang="zh-CN" altLang="en-US" sz="2800" b="1" dirty="0"/>
              <a:t>类的设计</a:t>
            </a:r>
            <a:r>
              <a:rPr kumimoji="1" lang="en-US" altLang="zh-CN" sz="2800" b="1" dirty="0"/>
              <a:t>(</a:t>
            </a:r>
            <a:r>
              <a:rPr kumimoji="1" lang="zh-CN" altLang="en-US" sz="2800" b="1" dirty="0"/>
              <a:t>筛选</a:t>
            </a:r>
            <a:r>
              <a:rPr kumimoji="1" lang="zh-CN" altLang="en-US" sz="2800" dirty="0">
                <a:sym typeface="+mn-ea"/>
              </a:rPr>
              <a:t>名词/名词短语</a:t>
            </a:r>
            <a:r>
              <a:rPr kumimoji="1" lang="zh-CN" altLang="en-US" sz="2800" b="1" dirty="0"/>
              <a:t>原则</a:t>
            </a:r>
            <a:r>
              <a:rPr kumimoji="1" lang="en-US" altLang="zh-CN" sz="2800" b="1" dirty="0"/>
              <a:t>)</a:t>
            </a:r>
            <a:endParaRPr kumimoji="1" lang="en-US" altLang="zh-CN"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4</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473075" y="1728470"/>
            <a:ext cx="8366125" cy="4641215"/>
          </a:xfrm>
          <a:prstGeom prst="rect">
            <a:avLst/>
          </a:prstGeom>
          <a:noFill/>
          <a:ln w="9525">
            <a:noFill/>
          </a:ln>
        </p:spPr>
        <p:txBody>
          <a:bodyPr wrap="square">
            <a:noAutofit/>
          </a:bodyPr>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将复数名词转换为单数形式，</a:t>
            </a:r>
            <a:r>
              <a:rPr lang="zh-CN" altLang="en-US" sz="2000" b="1">
                <a:latin typeface="等线" panose="02010600030101010101" charset="-122"/>
                <a:ea typeface="等线" panose="02010600030101010101" charset="-122"/>
                <a:cs typeface="等线" panose="02010600030101010101" charset="-122"/>
              </a:rPr>
              <a:t>一般类名是单数形式</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删除指代某个特定对象的名词（例如：张三），用泛指某一类别事物的名次代替（根据不同的应用情景，可以将张三用客户、学生等泛指类别的名次替代）</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删除仅仅作为某个类属性的名词，如果名词表达的实体或抽象概念具有自己的属性，将不予删除</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删除其值可以有其它属性值进行计算的名词</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删除既不是需求问题域中的实体，也不是需求问题域中抽象概念的名词，或删除其意义描述不明确的名词</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mj-ea"/>
              <a:buAutoNum type="circleNumDbPlain"/>
            </a:pPr>
            <a:r>
              <a:rPr lang="zh-CN" altLang="en-US" sz="2000" b="1">
                <a:latin typeface="等线" panose="02010600030101010101" charset="-122"/>
                <a:ea typeface="等线" panose="02010600030101010101" charset="-122"/>
                <a:cs typeface="等线" panose="02010600030101010101" charset="-122"/>
              </a:rPr>
              <a:t>删除指代系统本身的名词</a:t>
            </a:r>
            <a:endParaRPr lang="zh-CN" altLang="en-US" sz="2000" b="1">
              <a:latin typeface="等线" panose="02010600030101010101" charset="-122"/>
              <a:ea typeface="等线" panose="02010600030101010101" charset="-122"/>
              <a:cs typeface="等线" panose="02010600030101010101" charset="-122"/>
            </a:endParaRPr>
          </a:p>
        </p:txBody>
      </p:sp>
      <p:sp>
        <p:nvSpPr>
          <p:cNvPr id="9" name="下箭头 8">
            <a:hlinkClick r:id="rId7" action="ppaction://hlinksldjump"/>
          </p:cNvPr>
          <p:cNvSpPr/>
          <p:nvPr/>
        </p:nvSpPr>
        <p:spPr>
          <a:xfrm>
            <a:off x="8428355" y="6055360"/>
            <a:ext cx="368300" cy="216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71283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鲜牛奶系统</a:t>
            </a:r>
            <a:r>
              <a:rPr kumimoji="1" lang="en-US" altLang="zh-CN" sz="2800" b="1" dirty="0"/>
              <a:t>—</a:t>
            </a:r>
            <a:r>
              <a:rPr kumimoji="1" lang="zh-CN" altLang="en-US" sz="2800" b="1" dirty="0"/>
              <a:t>类的设计</a:t>
            </a:r>
            <a:r>
              <a:rPr kumimoji="1" lang="en-US" altLang="zh-CN" sz="2800" b="1" dirty="0"/>
              <a:t>(</a:t>
            </a:r>
            <a:r>
              <a:rPr kumimoji="1" lang="zh-CN" altLang="en-US" sz="2800" b="1" dirty="0"/>
              <a:t>筛选</a:t>
            </a:r>
            <a:r>
              <a:rPr kumimoji="1" lang="zh-CN" altLang="en-US" sz="2800" dirty="0">
                <a:sym typeface="+mn-ea"/>
              </a:rPr>
              <a:t>名词/名词短语</a:t>
            </a:r>
            <a:r>
              <a:rPr kumimoji="1" lang="zh-CN" altLang="en-US" sz="2800" b="1" dirty="0"/>
              <a:t>列表</a:t>
            </a:r>
            <a:r>
              <a:rPr kumimoji="1" lang="en-US" altLang="zh-CN" sz="2800" b="1" dirty="0"/>
              <a:t>)</a:t>
            </a:r>
            <a:endParaRPr kumimoji="1" lang="en-US" altLang="zh-CN" sz="2800" b="1" dirty="0"/>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5</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7" name="表格 6"/>
          <p:cNvGraphicFramePr/>
          <p:nvPr>
            <p:custDataLst>
              <p:tags r:id="rId7"/>
            </p:custDataLst>
          </p:nvPr>
        </p:nvGraphicFramePr>
        <p:xfrm>
          <a:off x="284480" y="1674495"/>
          <a:ext cx="8613140" cy="5006340"/>
        </p:xfrm>
        <a:graphic>
          <a:graphicData uri="http://schemas.openxmlformats.org/drawingml/2006/table">
            <a:tbl>
              <a:tblPr firstRow="1" bandRow="1">
                <a:tableStyleId>{5C22544A-7EE6-4342-B048-85BDC9FD1C3A}</a:tableStyleId>
              </a:tblPr>
              <a:tblGrid>
                <a:gridCol w="2679700"/>
                <a:gridCol w="1614170"/>
                <a:gridCol w="2526030"/>
                <a:gridCol w="1793240"/>
              </a:tblGrid>
              <a:tr h="400050">
                <a:tc>
                  <a:txBody>
                    <a:bodyPr/>
                    <a:p>
                      <a:pPr indent="0">
                        <a:lnSpc>
                          <a:spcPct val="100000"/>
                        </a:lnSpc>
                        <a:buNone/>
                      </a:pPr>
                      <a:r>
                        <a:rPr lang="en-US" sz="2300" b="1">
                          <a:solidFill>
                            <a:schemeClr val="accent6"/>
                          </a:solidFill>
                          <a:latin typeface="Times New Roman" panose="02020603050405020304" pitchFamily="18" charset="0"/>
                          <a:cs typeface="Times New Roman" panose="02020603050405020304" pitchFamily="18" charset="0"/>
                        </a:rPr>
                        <a:t>Bright Fresh Milk</a:t>
                      </a:r>
                      <a:endParaRPr lang="en-US" altLang="en-US" sz="2300" b="1">
                        <a:solidFill>
                          <a:schemeClr val="accent6"/>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order</a:t>
                      </a:r>
                      <a:r>
                        <a:rPr lang="en-US" sz="2300" b="1">
                          <a:solidFill>
                            <a:srgbClr val="FF0000"/>
                          </a:solidFill>
                          <a:latin typeface="Times New Roman" panose="02020603050405020304" pitchFamily="18" charset="0"/>
                          <a:cs typeface="Times New Roman" panose="02020603050405020304" pitchFamily="18" charset="0"/>
                        </a:rPr>
                        <a:t>s</a:t>
                      </a:r>
                      <a:endParaRPr lang="en-US" sz="2300" b="1">
                        <a:solidFill>
                          <a:srgbClr val="FF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country of origin</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list</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r>
              <a:tr h="381000">
                <a:tc>
                  <a:txBody>
                    <a:bodyPr/>
                    <a:p>
                      <a:pPr indent="0">
                        <a:lnSpc>
                          <a:spcPct val="100000"/>
                        </a:lnSpc>
                        <a:buNone/>
                      </a:pPr>
                      <a:r>
                        <a:rPr lang="en-US" sz="2300" b="1">
                          <a:solidFill>
                            <a:schemeClr val="accent6"/>
                          </a:solidFill>
                          <a:latin typeface="Times New Roman" panose="02020603050405020304" pitchFamily="18" charset="0"/>
                          <a:cs typeface="Times New Roman" panose="02020603050405020304" pitchFamily="18" charset="0"/>
                        </a:rPr>
                        <a:t>store </a:t>
                      </a:r>
                      <a:endParaRPr lang="en-US" altLang="en-US" sz="2300" b="1">
                        <a:solidFill>
                          <a:schemeClr val="accent6"/>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sales</a:t>
                      </a:r>
                      <a:endParaRPr 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butterfat</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FF0000"/>
                          </a:solidFill>
                          <a:latin typeface="Times New Roman" panose="02020603050405020304" pitchFamily="18" charset="0"/>
                          <a:cs typeface="Times New Roman" panose="02020603050405020304" pitchFamily="18" charset="0"/>
                        </a:rPr>
                        <a:t>quantities</a:t>
                      </a:r>
                      <a:endParaRPr lang="en-US" altLang="en-US" sz="2300" b="1">
                        <a:solidFill>
                          <a:srgbClr val="FF0000"/>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pure milk</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catalog </a:t>
                      </a:r>
                      <a:endParaRPr 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protein</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total cost</a:t>
                      </a:r>
                      <a:endParaRPr lang="en-US" alt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countr</a:t>
                      </a:r>
                      <a:r>
                        <a:rPr 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rPr>
                        <a:t>ies</a:t>
                      </a:r>
                      <a:endParaRPr lang="en-US" alt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gn="l">
                        <a:lnSpc>
                          <a:spcPct val="100000"/>
                        </a:lnSpc>
                        <a:buClrTx/>
                        <a:buSzTx/>
                        <a:buFontTx/>
                        <a:buNone/>
                      </a:pPr>
                      <a:r>
                        <a:rPr lang="en-US" sz="2300" b="1">
                          <a:solidFill>
                            <a:schemeClr val="accent4"/>
                          </a:solidFill>
                          <a:uFillTx/>
                          <a:latin typeface="Times New Roman" panose="02020603050405020304" pitchFamily="18" charset="0"/>
                          <a:cs typeface="Times New Roman" panose="02020603050405020304" pitchFamily="18" charset="0"/>
                        </a:rPr>
                        <a:t>information</a:t>
                      </a:r>
                      <a:endParaRPr lang="en-US" sz="2300" b="1">
                        <a:solidFill>
                          <a:schemeClr val="accent4"/>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milk drink</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34EA2"/>
                          </a:solidFill>
                          <a:latin typeface="Times New Roman" panose="02020603050405020304" pitchFamily="18" charset="0"/>
                          <a:cs typeface="Times New Roman" panose="02020603050405020304" pitchFamily="18" charset="0"/>
                        </a:rPr>
                        <a:t>example</a:t>
                      </a:r>
                      <a:endParaRPr lang="en-US" altLang="en-US" sz="2300" b="1">
                        <a:solidFill>
                          <a:srgbClr val="034EA2"/>
                        </a:soli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solidFill>
                            <a:schemeClr val="accent4"/>
                          </a:solidFill>
                          <a:uFillTx/>
                          <a:latin typeface="Times New Roman" panose="02020603050405020304" pitchFamily="18" charset="0"/>
                          <a:cs typeface="Times New Roman" panose="02020603050405020304" pitchFamily="18" charset="0"/>
                        </a:rPr>
                        <a:t>globe</a:t>
                      </a:r>
                      <a:endParaRPr lang="en-US" altLang="en-US" sz="2300" b="1">
                        <a:solidFill>
                          <a:schemeClr val="accent4"/>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product</a:t>
                      </a:r>
                      <a:r>
                        <a:rPr lang="en-US" sz="2300" b="1">
                          <a:solidFill>
                            <a:srgbClr val="FF0000"/>
                          </a:solidFill>
                          <a:latin typeface="Times New Roman" panose="02020603050405020304" pitchFamily="18" charset="0"/>
                          <a:cs typeface="Times New Roman" panose="02020603050405020304" pitchFamily="18" charset="0"/>
                        </a:rPr>
                        <a:t>s</a:t>
                      </a:r>
                      <a:endParaRPr lang="en-US" sz="2300" b="1">
                        <a:solidFill>
                          <a:srgbClr val="FF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flavor</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sale item</a:t>
                      </a:r>
                      <a:r>
                        <a:rPr 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rPr>
                        <a:t>s</a:t>
                      </a:r>
                      <a:endParaRPr lang="en-US" alt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rPr>
                        <a:t>milk drinks</a:t>
                      </a:r>
                      <a:endParaRPr lang="en-US" altLang="en-US" sz="2300" b="1">
                        <a:gradFill>
                          <a:gsLst>
                            <a:gs pos="0">
                              <a:srgbClr val="FE4444"/>
                            </a:gs>
                            <a:gs pos="100000">
                              <a:srgbClr val="832B2B"/>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code</a:t>
                      </a:r>
                      <a:endPar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sugar</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total</a:t>
                      </a:r>
                      <a:endParaRPr lang="en-US" alt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yogurt </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description</a:t>
                      </a:r>
                      <a:endPar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type</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quantity</a:t>
                      </a:r>
                      <a:endParaRPr lang="en-US" alt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r>
              <a:tr h="381000">
                <a:tc>
                  <a:txBody>
                    <a:bodyPr/>
                    <a:p>
                      <a:pPr indent="0">
                        <a:lnSpc>
                          <a:spcPct val="100000"/>
                        </a:lnSpc>
                        <a:buNone/>
                      </a:pPr>
                      <a:r>
                        <a:rPr lang="en-US" sz="2300" b="1">
                          <a:solidFill>
                            <a:srgbClr val="000000"/>
                          </a:solidFill>
                          <a:latin typeface="Times New Roman" panose="02020603050405020304" pitchFamily="18" charset="0"/>
                          <a:cs typeface="Times New Roman" panose="02020603050405020304" pitchFamily="18" charset="0"/>
                        </a:rPr>
                        <a:t>jelly</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price</a:t>
                      </a:r>
                      <a:endPar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7030A0"/>
                          </a:solidFill>
                          <a:uFillTx/>
                          <a:latin typeface="Times New Roman" panose="02020603050405020304" pitchFamily="18" charset="0"/>
                          <a:cs typeface="Times New Roman" panose="02020603050405020304" pitchFamily="18" charset="0"/>
                        </a:rPr>
                        <a:t>dilute concentration</a:t>
                      </a:r>
                      <a:endParaRPr lang="en-US" altLang="en-US" sz="2300" b="1">
                        <a:solidFill>
                          <a:srgbClr val="7030A0"/>
                        </a:solidFill>
                        <a:uFillTx/>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nSpc>
                          <a:spcPct val="100000"/>
                        </a:lnSpc>
                        <a:buNone/>
                      </a:pPr>
                      <a:r>
                        <a:rPr lang="zh-CN" alt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order total</a:t>
                      </a:r>
                      <a:endParaRPr lang="zh-CN" alt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a:tc>
              </a:tr>
              <a:tr h="285115">
                <a:tc>
                  <a:txBody>
                    <a:bodyPr/>
                    <a:p>
                      <a:pPr indent="0">
                        <a:lnSpc>
                          <a:spcPct val="100000"/>
                        </a:lnSpc>
                        <a:buNone/>
                      </a:pPr>
                      <a:r>
                        <a:rPr lang="en-US" sz="2300" b="1">
                          <a:solidFill>
                            <a:schemeClr val="accent6"/>
                          </a:solidFill>
                          <a:latin typeface="Times New Roman" panose="02020603050405020304" pitchFamily="18" charset="0"/>
                          <a:cs typeface="Times New Roman" panose="02020603050405020304" pitchFamily="18" charset="0"/>
                        </a:rPr>
                        <a:t>Bright Fresh Milk System</a:t>
                      </a:r>
                      <a:endParaRPr lang="en-US" altLang="en-US" sz="2300" b="1">
                        <a:solidFill>
                          <a:schemeClr val="accent6"/>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production date</a:t>
                      </a:r>
                      <a:endPar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lnSpc>
                          <a:spcPct val="100000"/>
                        </a:lnSpc>
                        <a:buNone/>
                      </a:pPr>
                      <a:r>
                        <a:rPr lang="en-US" sz="2300" b="1">
                          <a:solidFill>
                            <a:srgbClr val="034DA0"/>
                          </a:solidFill>
                          <a:latin typeface="Times New Roman" panose="02020603050405020304" pitchFamily="18" charset="0"/>
                          <a:cs typeface="Times New Roman" panose="02020603050405020304" pitchFamily="18" charset="0"/>
                        </a:rPr>
                        <a:t>a current order</a:t>
                      </a:r>
                      <a:endParaRPr lang="en-US" altLang="en-US" sz="2300" b="1">
                        <a:solidFill>
                          <a:srgbClr val="034DA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lnSpc>
                          <a:spcPct val="100000"/>
                        </a:lnSpc>
                        <a:buNone/>
                      </a:pPr>
                      <a:endParaRPr lang="zh-CN" altLang="en-US" sz="2300" b="1">
                        <a:latin typeface="Times New Roman" panose="02020603050405020304" pitchFamily="18" charset="0"/>
                        <a:cs typeface="Times New Roman" panose="02020603050405020304" pitchFamily="18" charset="0"/>
                      </a:endParaRPr>
                    </a:p>
                  </a:txBody>
                  <a:tcPr/>
                </a:tc>
              </a:tr>
              <a:tr h="381000">
                <a:tc>
                  <a:txBody>
                    <a:bodyPr/>
                    <a:p>
                      <a:pPr indent="0">
                        <a:buNone/>
                      </a:pPr>
                      <a:r>
                        <a:rPr lang="en-US" sz="2300" b="1">
                          <a:solidFill>
                            <a:srgbClr val="000000"/>
                          </a:solidFill>
                          <a:latin typeface="Times New Roman" panose="02020603050405020304" pitchFamily="18" charset="0"/>
                          <a:cs typeface="Times New Roman" panose="02020603050405020304" pitchFamily="18" charset="0"/>
                        </a:rPr>
                        <a:t>product catalog</a:t>
                      </a:r>
                      <a:endParaRPr lang="en-US" altLang="en-US" sz="23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buNone/>
                      </a:pPr>
                      <a:r>
                        <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shelf life</a:t>
                      </a:r>
                      <a:endParaRPr lang="en-US" sz="2300"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indent="0">
                        <a:buNone/>
                      </a:pPr>
                      <a:r>
                        <a:rPr lang="en-US" sz="2300" b="1">
                          <a:gradFill>
                            <a:gsLst>
                              <a:gs pos="0">
                                <a:srgbClr val="14CD68"/>
                              </a:gs>
                              <a:gs pos="100000">
                                <a:srgbClr val="035C7D"/>
                              </a:gs>
                            </a:gsLst>
                            <a:lin scaled="0"/>
                          </a:gradFill>
                          <a:latin typeface="Times New Roman" panose="02020603050405020304" pitchFamily="18" charset="0"/>
                          <a:cs typeface="Times New Roman" panose="02020603050405020304" pitchFamily="18" charset="0"/>
                        </a:rPr>
                        <a:t>system</a:t>
                      </a:r>
                      <a:endParaRPr lang="en-US" altLang="en-US" sz="2300" b="1">
                        <a:gradFill>
                          <a:gsLst>
                            <a:gs pos="0">
                              <a:srgbClr val="14CD68"/>
                            </a:gs>
                            <a:gs pos="100000">
                              <a:srgbClr val="035C7D"/>
                            </a:gs>
                          </a:gsLst>
                          <a:lin scaled="0"/>
                        </a:gra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300">
                        <a:latin typeface="Times New Roman" panose="02020603050405020304" pitchFamily="18" charset="0"/>
                        <a:cs typeface="Times New Roman" panose="02020603050405020304" pitchFamily="18" charset="0"/>
                      </a:endParaRPr>
                    </a:p>
                  </a:txBody>
                  <a:tcPr/>
                </a:tc>
              </a:tr>
            </a:tbl>
          </a:graphicData>
        </a:graphic>
      </p:graphicFrame>
      <p:sp>
        <p:nvSpPr>
          <p:cNvPr id="8" name="上箭头 7">
            <a:hlinkClick r:id="rId8" action="ppaction://hlinksldjump"/>
          </p:cNvPr>
          <p:cNvSpPr/>
          <p:nvPr/>
        </p:nvSpPr>
        <p:spPr>
          <a:xfrm>
            <a:off x="8355330" y="6242685"/>
            <a:ext cx="383540" cy="2381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71283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等线" panose="02010600030101010101" charset="-122"/>
                <a:ea typeface="等线" panose="02010600030101010101" charset="-122"/>
                <a:cs typeface="等线" panose="02010600030101010101" charset="-122"/>
              </a:rPr>
              <a:t>鲜牛奶系统</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类的设计</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类的命名</a:t>
            </a:r>
            <a:r>
              <a:rPr kumimoji="1" lang="zh-CN" altLang="en-US" sz="2800" b="1" dirty="0">
                <a:latin typeface="等线" panose="02010600030101010101" charset="-122"/>
                <a:ea typeface="等线" panose="02010600030101010101" charset="-122"/>
                <a:cs typeface="等线" panose="02010600030101010101" charset="-122"/>
              </a:rPr>
              <a:t>原则和注意事项</a:t>
            </a:r>
            <a:r>
              <a:rPr kumimoji="1" lang="en-US" altLang="zh-CN" sz="2800" b="1" dirty="0">
                <a:latin typeface="等线" panose="02010600030101010101" charset="-122"/>
                <a:ea typeface="等线" panose="02010600030101010101" charset="-122"/>
                <a:cs typeface="等线" panose="02010600030101010101" charset="-122"/>
              </a:rPr>
              <a:t>)</a:t>
            </a:r>
            <a:endParaRPr kumimoji="1" lang="en-US" altLang="zh-CN" sz="2800" b="1" dirty="0">
              <a:latin typeface="等线" panose="02010600030101010101" charset="-122"/>
              <a:ea typeface="等线" panose="02010600030101010101" charset="-122"/>
              <a:cs typeface="等线" panose="02010600030101010101" charset="-122"/>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6</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473075" y="1728470"/>
            <a:ext cx="8439150" cy="4641215"/>
          </a:xfrm>
          <a:prstGeom prst="rect">
            <a:avLst/>
          </a:prstGeom>
          <a:noFill/>
          <a:ln w="9525">
            <a:noFill/>
          </a:ln>
        </p:spPr>
        <p:txBody>
          <a:bodyPr wrap="square">
            <a:noAutofit/>
          </a:bodyPr>
          <a:p>
            <a:pPr marL="342900" indent="-342900">
              <a:lnSpc>
                <a:spcPct val="150000"/>
              </a:lnSpc>
              <a:spcBef>
                <a:spcPts val="0"/>
              </a:spcBef>
              <a:spcAft>
                <a:spcPts val="0"/>
              </a:spcAft>
              <a:buFont typeface="Arial" panose="020B0604020202020204" pitchFamily="34" charset="0"/>
              <a:buChar char="•"/>
            </a:pPr>
            <a:r>
              <a:rPr lang="zh-CN" altLang="en-US" sz="2800" b="1">
                <a:latin typeface="等线" panose="02010600030101010101" charset="-122"/>
                <a:ea typeface="等线" panose="02010600030101010101" charset="-122"/>
                <a:cs typeface="等线" panose="02010600030101010101" charset="-122"/>
              </a:rPr>
              <a:t>为类命名</a:t>
            </a:r>
            <a:endParaRPr lang="zh-CN" altLang="en-US" sz="2800" b="1">
              <a:latin typeface="等线" panose="02010600030101010101" charset="-122"/>
              <a:ea typeface="等线" panose="02010600030101010101" charset="-122"/>
              <a:cs typeface="等线" panose="02010600030101010101" charset="-122"/>
            </a:endParaRPr>
          </a:p>
          <a:p>
            <a:pPr marL="914400" lvl="1" indent="-457200">
              <a:lnSpc>
                <a:spcPct val="150000"/>
              </a:lnSpc>
              <a:spcBef>
                <a:spcPts val="0"/>
              </a:spcBef>
              <a:spcAft>
                <a:spcPts val="0"/>
              </a:spcAft>
              <a:buFont typeface="Arial" panose="020B0604020202020204" pitchFamily="34" charset="0"/>
              <a:buChar char="•"/>
            </a:pPr>
            <a:r>
              <a:rPr lang="zh-CN" sz="2400" b="1">
                <a:latin typeface="等线" panose="02010600030101010101" charset="-122"/>
                <a:ea typeface="等线" panose="02010600030101010101" charset="-122"/>
                <a:cs typeface="等线" panose="02010600030101010101" charset="-122"/>
                <a:sym typeface="+mn-ea"/>
              </a:rPr>
              <a:t>将同义词进行归类形成同义词组</a:t>
            </a:r>
            <a:endParaRPr lang="zh-CN" altLang="en-US" sz="2400" b="1">
              <a:latin typeface="等线" panose="02010600030101010101" charset="-122"/>
              <a:ea typeface="等线" panose="02010600030101010101" charset="-122"/>
              <a:cs typeface="等线" panose="02010600030101010101" charset="-122"/>
            </a:endParaRPr>
          </a:p>
          <a:p>
            <a:pPr marL="914400" lvl="1" indent="-457200">
              <a:lnSpc>
                <a:spcPct val="150000"/>
              </a:lnSpc>
              <a:spcBef>
                <a:spcPts val="0"/>
              </a:spcBef>
              <a:spcAft>
                <a:spcPts val="0"/>
              </a:spcAft>
              <a:buFont typeface="Arial" panose="020B0604020202020204" pitchFamily="34" charset="0"/>
              <a:buChar char="•"/>
            </a:pPr>
            <a:r>
              <a:rPr lang="zh-CN" altLang="en-US" sz="2400" b="1">
                <a:latin typeface="等线" panose="02010600030101010101" charset="-122"/>
                <a:ea typeface="等线" panose="02010600030101010101" charset="-122"/>
                <a:cs typeface="等线" panose="02010600030101010101" charset="-122"/>
              </a:rPr>
              <a:t>根据名词在需求描述中表达的含义，为类命名。</a:t>
            </a:r>
            <a:endParaRPr lang="zh-CN" altLang="en-US" sz="2400" b="1">
              <a:latin typeface="等线" panose="02010600030101010101" charset="-122"/>
              <a:ea typeface="等线" panose="02010600030101010101" charset="-122"/>
              <a:cs typeface="等线" panose="02010600030101010101" charset="-122"/>
            </a:endParaRPr>
          </a:p>
          <a:p>
            <a:pPr marL="1371600" lvl="2" indent="-457200">
              <a:lnSpc>
                <a:spcPct val="150000"/>
              </a:lnSpc>
              <a:spcBef>
                <a:spcPts val="0"/>
              </a:spcBef>
              <a:spcAft>
                <a:spcPts val="0"/>
              </a:spcAft>
              <a:buFont typeface="Arial" panose="020B0604020202020204" pitchFamily="34" charset="0"/>
              <a:buChar char="•"/>
            </a:pPr>
            <a:r>
              <a:rPr lang="zh-CN" altLang="en-US" sz="2000" b="1">
                <a:latin typeface="等线" panose="02010600030101010101" charset="-122"/>
                <a:ea typeface="等线" panose="02010600030101010101" charset="-122"/>
                <a:cs typeface="等线" panose="02010600030101010101" charset="-122"/>
              </a:rPr>
              <a:t>类的名字要符合命名规范，并且尽量自然易懂，同时不能有歧义。对于同义词组，要从所有的同义词中选择最合适的名词作为类名</a:t>
            </a:r>
            <a:endParaRPr lang="zh-CN" altLang="en-US" sz="2000" b="1">
              <a:latin typeface="等线" panose="02010600030101010101" charset="-122"/>
              <a:ea typeface="等线" panose="02010600030101010101" charset="-122"/>
              <a:cs typeface="等线" panose="02010600030101010101" charset="-122"/>
            </a:endParaRPr>
          </a:p>
          <a:p>
            <a:pPr marL="457200" indent="-457200">
              <a:lnSpc>
                <a:spcPct val="150000"/>
              </a:lnSpc>
              <a:spcBef>
                <a:spcPts val="0"/>
              </a:spcBef>
              <a:spcAft>
                <a:spcPts val="0"/>
              </a:spcAft>
              <a:buFont typeface="Arial" panose="020B0604020202020204" pitchFamily="34" charset="0"/>
              <a:buChar char="•"/>
            </a:pPr>
            <a:r>
              <a:rPr lang="zh-CN" altLang="en-US" sz="2800" b="1">
                <a:latin typeface="等线" panose="02010600030101010101" charset="-122"/>
                <a:ea typeface="等线" panose="02010600030101010101" charset="-122"/>
                <a:cs typeface="等线" panose="02010600030101010101" charset="-122"/>
              </a:rPr>
              <a:t>增加需求未出现的名词作为类</a:t>
            </a:r>
            <a:endParaRPr lang="zh-CN" altLang="en-US" sz="2800" b="1">
              <a:latin typeface="等线" panose="02010600030101010101" charset="-122"/>
              <a:ea typeface="等线" panose="02010600030101010101" charset="-122"/>
              <a:cs typeface="等线" panose="02010600030101010101" charset="-122"/>
            </a:endParaRPr>
          </a:p>
          <a:p>
            <a:pPr marL="914400" lvl="1" indent="-457200">
              <a:lnSpc>
                <a:spcPct val="150000"/>
              </a:lnSpc>
              <a:spcBef>
                <a:spcPts val="0"/>
              </a:spcBef>
              <a:spcAft>
                <a:spcPts val="0"/>
              </a:spcAft>
              <a:buFont typeface="Arial" panose="020B0604020202020204" pitchFamily="34" charset="0"/>
              <a:buChar char="•"/>
            </a:pPr>
            <a:r>
              <a:rPr lang="zh-CN" altLang="en-US" sz="2400" b="1">
                <a:latin typeface="等线" panose="02010600030101010101" charset="-122"/>
                <a:ea typeface="等线" panose="02010600030101010101" charset="-122"/>
                <a:cs typeface="等线" panose="02010600030101010101" charset="-122"/>
              </a:rPr>
              <a:t>根据需求，如果有必要，适当增加与系统描述相关的类</a:t>
            </a:r>
            <a:endParaRPr lang="zh-CN" altLang="en-US" sz="2400" b="1">
              <a:latin typeface="等线" panose="02010600030101010101" charset="-122"/>
              <a:ea typeface="等线" panose="02010600030101010101" charset="-122"/>
              <a:cs typeface="等线" panose="02010600030101010101" charset="-122"/>
            </a:endParaRPr>
          </a:p>
        </p:txBody>
      </p:sp>
      <p:sp>
        <p:nvSpPr>
          <p:cNvPr id="9" name="下箭头 8">
            <a:hlinkClick r:id="rId7" action="ppaction://hlinksldjump"/>
          </p:cNvPr>
          <p:cNvSpPr/>
          <p:nvPr/>
        </p:nvSpPr>
        <p:spPr>
          <a:xfrm>
            <a:off x="8428355" y="6055360"/>
            <a:ext cx="368300" cy="216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71283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等线" panose="02010600030101010101" charset="-122"/>
                <a:ea typeface="等线" panose="02010600030101010101" charset="-122"/>
                <a:cs typeface="等线" panose="02010600030101010101" charset="-122"/>
              </a:rPr>
              <a:t>鲜牛奶系统</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类的设计</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类的命名</a:t>
            </a:r>
            <a:r>
              <a:rPr kumimoji="1" lang="en-US" altLang="zh-CN" sz="2800" b="1" dirty="0">
                <a:latin typeface="等线" panose="02010600030101010101" charset="-122"/>
                <a:ea typeface="等线" panose="02010600030101010101" charset="-122"/>
                <a:cs typeface="等线" panose="02010600030101010101" charset="-122"/>
              </a:rPr>
              <a:t>)</a:t>
            </a:r>
            <a:endParaRPr kumimoji="1" lang="en-US" altLang="zh-CN" sz="2800" b="1" dirty="0">
              <a:latin typeface="等线" panose="02010600030101010101" charset="-122"/>
              <a:ea typeface="等线" panose="02010600030101010101" charset="-122"/>
              <a:cs typeface="等线" panose="02010600030101010101" charset="-122"/>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7</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473075" y="1728470"/>
            <a:ext cx="8439150" cy="4641215"/>
          </a:xfrm>
          <a:prstGeom prst="rect">
            <a:avLst/>
          </a:prstGeom>
          <a:noFill/>
          <a:ln w="9525">
            <a:noFill/>
          </a:ln>
        </p:spPr>
        <p:txBody>
          <a:bodyPr wrap="square">
            <a:noAutofit/>
          </a:bodyPr>
          <a:p>
            <a:pPr indent="0">
              <a:lnSpc>
                <a:spcPct val="150000"/>
              </a:lnSpc>
              <a:spcBef>
                <a:spcPts val="0"/>
              </a:spcBef>
              <a:spcAft>
                <a:spcPts val="0"/>
              </a:spcAft>
              <a:buFont typeface="Arial" panose="020B0604020202020204" pitchFamily="34" charset="0"/>
              <a:buNone/>
            </a:pPr>
            <a:endParaRPr lang="zh-CN" altLang="en-US" sz="2400" b="1">
              <a:latin typeface="等线" panose="02010600030101010101" charset="-122"/>
              <a:ea typeface="等线" panose="02010600030101010101" charset="-122"/>
              <a:cs typeface="等线" panose="02010600030101010101" charset="-122"/>
            </a:endParaRPr>
          </a:p>
        </p:txBody>
      </p:sp>
      <p:sp>
        <p:nvSpPr>
          <p:cNvPr id="9" name="下箭头 8">
            <a:hlinkClick r:id="rId7" action="ppaction://hlinksldjump"/>
          </p:cNvPr>
          <p:cNvSpPr/>
          <p:nvPr/>
        </p:nvSpPr>
        <p:spPr>
          <a:xfrm>
            <a:off x="8428355" y="6055360"/>
            <a:ext cx="368300" cy="216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7" name="表格 6"/>
          <p:cNvGraphicFramePr/>
          <p:nvPr/>
        </p:nvGraphicFramePr>
        <p:xfrm>
          <a:off x="412750" y="1668018"/>
          <a:ext cx="4013200" cy="4526280"/>
        </p:xfrm>
        <a:graphic>
          <a:graphicData uri="http://schemas.openxmlformats.org/drawingml/2006/table">
            <a:tbl>
              <a:tblPr/>
              <a:tblGrid>
                <a:gridCol w="4013200"/>
              </a:tblGrid>
              <a:tr h="411480">
                <a:tc>
                  <a:txBody>
                    <a:bodyPr/>
                    <a:p>
                      <a:pPr indent="0">
                        <a:buNone/>
                      </a:pPr>
                      <a:r>
                        <a:rPr lang="en-US" sz="2300" b="1">
                          <a:solidFill>
                            <a:srgbClr val="000000"/>
                          </a:solidFill>
                          <a:latin typeface="Times New Roman" panose="02020603050405020304" charset="-122"/>
                        </a:rPr>
                        <a:t>pure milk</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milk drink</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yogurt </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jelly</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product catalog</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order</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sales(the store's )</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catalog </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Product</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list(of products)</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11480">
                <a:tc>
                  <a:txBody>
                    <a:bodyPr/>
                    <a:p>
                      <a:pPr indent="0">
                        <a:buNone/>
                      </a:pPr>
                      <a:r>
                        <a:rPr lang="en-US" sz="2300" b="1">
                          <a:solidFill>
                            <a:srgbClr val="000000"/>
                          </a:solidFill>
                          <a:latin typeface="Times New Roman" panose="02020603050405020304" charset="-122"/>
                        </a:rPr>
                        <a:t>sale item</a:t>
                      </a:r>
                      <a:endParaRPr lang="en-US" altLang="en-US" sz="23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8" name="表格 7"/>
          <p:cNvGraphicFramePr/>
          <p:nvPr/>
        </p:nvGraphicFramePr>
        <p:xfrm>
          <a:off x="5221923" y="1708150"/>
          <a:ext cx="3424238" cy="3810000"/>
        </p:xfrm>
        <a:graphic>
          <a:graphicData uri="http://schemas.openxmlformats.org/drawingml/2006/table">
            <a:tbl>
              <a:tblPr/>
              <a:tblGrid>
                <a:gridCol w="3424238"/>
              </a:tblGrid>
              <a:tr h="381000">
                <a:tc>
                  <a:txBody>
                    <a:bodyPr/>
                    <a:p>
                      <a:pPr indent="0">
                        <a:buNone/>
                      </a:pPr>
                      <a:r>
                        <a:rPr lang="en-US" sz="2400" b="1">
                          <a:solidFill>
                            <a:srgbClr val="000000"/>
                          </a:solidFill>
                          <a:latin typeface="Times New Roman" panose="02020603050405020304" charset="-122"/>
                        </a:rPr>
                        <a:t>pure milk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milk drink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yogurt </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jelly</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 catalog (catalog)</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order</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sales(the store's )</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list(of products)</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sale item</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
        <p:nvSpPr>
          <p:cNvPr id="10" name="右箭头 9"/>
          <p:cNvSpPr/>
          <p:nvPr/>
        </p:nvSpPr>
        <p:spPr>
          <a:xfrm>
            <a:off x="3019425" y="3514725"/>
            <a:ext cx="1628775" cy="409575"/>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71283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等线" panose="02010600030101010101" charset="-122"/>
                <a:ea typeface="等线" panose="02010600030101010101" charset="-122"/>
                <a:cs typeface="等线" panose="02010600030101010101" charset="-122"/>
              </a:rPr>
              <a:t>鲜牛奶系统</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类的设计</a:t>
            </a:r>
            <a:r>
              <a:rPr kumimoji="1" lang="en-US" altLang="zh-CN" sz="2800" b="1" dirty="0">
                <a:latin typeface="等线" panose="02010600030101010101" charset="-122"/>
                <a:ea typeface="等线" panose="02010600030101010101" charset="-122"/>
                <a:cs typeface="等线" panose="02010600030101010101" charset="-122"/>
              </a:rPr>
              <a:t>(</a:t>
            </a:r>
            <a:r>
              <a:rPr kumimoji="1" lang="zh-CN" altLang="en-US" sz="2800" b="1" dirty="0">
                <a:latin typeface="等线" panose="02010600030101010101" charset="-122"/>
                <a:ea typeface="等线" panose="02010600030101010101" charset="-122"/>
                <a:cs typeface="等线" panose="02010600030101010101" charset="-122"/>
              </a:rPr>
              <a:t>类的命名</a:t>
            </a:r>
            <a:r>
              <a:rPr kumimoji="1" lang="en-US" altLang="zh-CN" sz="2800" b="1" dirty="0">
                <a:latin typeface="等线" panose="02010600030101010101" charset="-122"/>
                <a:ea typeface="等线" panose="02010600030101010101" charset="-122"/>
                <a:cs typeface="等线" panose="02010600030101010101" charset="-122"/>
              </a:rPr>
              <a:t>)</a:t>
            </a:r>
            <a:endParaRPr kumimoji="1" lang="en-US" altLang="zh-CN" sz="2800" b="1" dirty="0">
              <a:latin typeface="等线" panose="02010600030101010101" charset="-122"/>
              <a:ea typeface="等线" panose="02010600030101010101" charset="-122"/>
              <a:cs typeface="等线" panose="02010600030101010101" charset="-122"/>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8</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473075" y="1728470"/>
            <a:ext cx="8439150" cy="4641215"/>
          </a:xfrm>
          <a:prstGeom prst="rect">
            <a:avLst/>
          </a:prstGeom>
          <a:noFill/>
          <a:ln w="9525">
            <a:noFill/>
          </a:ln>
        </p:spPr>
        <p:txBody>
          <a:bodyPr wrap="square">
            <a:noAutofit/>
          </a:bodyPr>
          <a:p>
            <a:pPr indent="0">
              <a:lnSpc>
                <a:spcPct val="150000"/>
              </a:lnSpc>
              <a:spcBef>
                <a:spcPts val="0"/>
              </a:spcBef>
              <a:spcAft>
                <a:spcPts val="0"/>
              </a:spcAft>
              <a:buFont typeface="Arial" panose="020B0604020202020204" pitchFamily="34" charset="0"/>
              <a:buNone/>
            </a:pPr>
            <a:endParaRPr lang="zh-CN" altLang="en-US" sz="2400" b="1">
              <a:latin typeface="等线" panose="02010600030101010101" charset="-122"/>
              <a:ea typeface="等线" panose="02010600030101010101" charset="-122"/>
              <a:cs typeface="等线" panose="02010600030101010101" charset="-122"/>
            </a:endParaRPr>
          </a:p>
        </p:txBody>
      </p:sp>
      <p:sp>
        <p:nvSpPr>
          <p:cNvPr id="9" name="下箭头 8">
            <a:hlinkClick r:id="rId7" action="ppaction://hlinksldjump"/>
          </p:cNvPr>
          <p:cNvSpPr/>
          <p:nvPr/>
        </p:nvSpPr>
        <p:spPr>
          <a:xfrm>
            <a:off x="8428355" y="6055360"/>
            <a:ext cx="368300" cy="216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8" name="表格 7"/>
          <p:cNvGraphicFramePr/>
          <p:nvPr/>
        </p:nvGraphicFramePr>
        <p:xfrm>
          <a:off x="349568" y="1708150"/>
          <a:ext cx="3424238" cy="3810000"/>
        </p:xfrm>
        <a:graphic>
          <a:graphicData uri="http://schemas.openxmlformats.org/drawingml/2006/table">
            <a:tbl>
              <a:tblPr/>
              <a:tblGrid>
                <a:gridCol w="3424238"/>
              </a:tblGrid>
              <a:tr h="381000">
                <a:tc>
                  <a:txBody>
                    <a:bodyPr/>
                    <a:p>
                      <a:pPr indent="0">
                        <a:buNone/>
                      </a:pPr>
                      <a:r>
                        <a:rPr lang="en-US" sz="2400" b="1">
                          <a:solidFill>
                            <a:srgbClr val="000000"/>
                          </a:solidFill>
                          <a:latin typeface="Times New Roman" panose="02020603050405020304" charset="-122"/>
                        </a:rPr>
                        <a:t>pure milk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milk drink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yogurt </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jelly</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 catalog (catalog)</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order</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sales(the store's )</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list(of products)</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sale item</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
        <p:nvSpPr>
          <p:cNvPr id="10" name="右箭头 9"/>
          <p:cNvSpPr/>
          <p:nvPr/>
        </p:nvSpPr>
        <p:spPr>
          <a:xfrm>
            <a:off x="3733800" y="3514725"/>
            <a:ext cx="1628775" cy="409575"/>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2" name="表格 11"/>
          <p:cNvGraphicFramePr/>
          <p:nvPr/>
        </p:nvGraphicFramePr>
        <p:xfrm>
          <a:off x="5404803" y="1796415"/>
          <a:ext cx="3343275" cy="3472180"/>
        </p:xfrm>
        <a:graphic>
          <a:graphicData uri="http://schemas.openxmlformats.org/drawingml/2006/table">
            <a:tbl>
              <a:tblPr/>
              <a:tblGrid>
                <a:gridCol w="3343275"/>
              </a:tblGrid>
              <a:tr h="381000">
                <a:tc>
                  <a:txBody>
                    <a:bodyPr/>
                    <a:p>
                      <a:pPr indent="0">
                        <a:buNone/>
                      </a:pPr>
                      <a:r>
                        <a:rPr lang="en-US" sz="2400" b="1">
                          <a:solidFill>
                            <a:srgbClr val="000000"/>
                          </a:solidFill>
                          <a:latin typeface="Times New Roman" panose="02020603050405020304" charset="-122"/>
                        </a:rPr>
                        <a:t>PureMilk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424180">
                <a:tc>
                  <a:txBody>
                    <a:bodyPr/>
                    <a:p>
                      <a:pPr indent="0">
                        <a:buNone/>
                      </a:pPr>
                      <a:r>
                        <a:rPr lang="en-US" sz="2400" b="1">
                          <a:solidFill>
                            <a:srgbClr val="000000"/>
                          </a:solidFill>
                          <a:latin typeface="Times New Roman" panose="02020603050405020304" charset="-122"/>
                        </a:rPr>
                        <a:t>MilkDrink</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Yogurt</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Jelly</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ProductCatalog</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Order</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StoreSales</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Product</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81000">
                <a:tc>
                  <a:txBody>
                    <a:bodyPr/>
                    <a:p>
                      <a:pPr indent="0">
                        <a:buNone/>
                      </a:pPr>
                      <a:r>
                        <a:rPr lang="en-US" sz="2400" b="1">
                          <a:solidFill>
                            <a:srgbClr val="000000"/>
                          </a:solidFill>
                          <a:latin typeface="Times New Roman" panose="02020603050405020304" charset="-122"/>
                        </a:rPr>
                        <a:t>SaleItem(list(of products))</a:t>
                      </a:r>
                      <a:endParaRPr lang="en-US" altLang="en-US" sz="2400" b="1">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9</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413385" y="1913890"/>
            <a:ext cx="8426450" cy="3954780"/>
          </a:xfrm>
          <a:prstGeom prst="rect">
            <a:avLst/>
          </a:prstGeom>
          <a:noFill/>
          <a:ln w="9525">
            <a:noFill/>
          </a:ln>
        </p:spPr>
        <p:txBody>
          <a:bodyPr wrap="square">
            <a:noAutofit/>
          </a:bodyPr>
          <a:p>
            <a:pPr marL="342900" indent="-342900">
              <a:lnSpc>
                <a:spcPct val="150000"/>
              </a:lnSpc>
              <a:buFont typeface="Arial" panose="020B0604020202020204" pitchFamily="34" charset="0"/>
              <a:buChar char="•"/>
            </a:pPr>
            <a:r>
              <a:rPr lang="zh-CN" sz="2400" b="1">
                <a:latin typeface="+mn-ea"/>
              </a:rPr>
              <a:t>为应用系统定义类之后，类与类之间的关系是搭建类图最重要的部分。</a:t>
            </a:r>
            <a:endParaRPr lang="zh-CN" sz="2400" b="1">
              <a:latin typeface="+mn-ea"/>
            </a:endParaRPr>
          </a:p>
          <a:p>
            <a:pPr marL="342900" indent="-342900">
              <a:lnSpc>
                <a:spcPct val="150000"/>
              </a:lnSpc>
              <a:buFont typeface="Arial" panose="020B0604020202020204" pitchFamily="34" charset="0"/>
              <a:buChar char="•"/>
            </a:pPr>
            <a:r>
              <a:rPr lang="zh-CN" sz="2400" b="1">
                <a:latin typeface="+mn-ea"/>
              </a:rPr>
              <a:t>类与类之间关系的识别是以需求描述为依据，查看哪一句话或哪一段话同时出现了相关的类，并描述了它们之间的关系。</a:t>
            </a:r>
            <a:endParaRPr lang="zh-CN" sz="2400" b="1">
              <a:latin typeface="+mn-ea"/>
            </a:endParaRPr>
          </a:p>
          <a:p>
            <a:pPr marL="800100" lvl="1" indent="-342900">
              <a:lnSpc>
                <a:spcPct val="150000"/>
              </a:lnSpc>
              <a:buFont typeface="Arial" panose="020B0604020202020204" pitchFamily="34" charset="0"/>
              <a:buChar char="•"/>
            </a:pPr>
            <a:r>
              <a:rPr lang="zh-CN" sz="2400" b="1">
                <a:latin typeface="+mn-ea"/>
              </a:rPr>
              <a:t>为了使识别过程更加清晰，可以</a:t>
            </a:r>
            <a:r>
              <a:rPr lang="zh-CN" sz="2400" b="1">
                <a:solidFill>
                  <a:schemeClr val="accent1"/>
                </a:solidFill>
                <a:latin typeface="+mn-ea"/>
              </a:rPr>
              <a:t>通过关系表格来构建类与类之间的关系</a:t>
            </a:r>
            <a:endParaRPr lang="zh-CN" altLang="en-US" sz="2400" b="1">
              <a:solidFill>
                <a:schemeClr val="accent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类之间继承关系的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10</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628650" y="1668145"/>
            <a:ext cx="8363585" cy="4523105"/>
          </a:xfrm>
          <a:prstGeom prst="rect">
            <a:avLst/>
          </a:prstGeom>
          <a:noFill/>
        </p:spPr>
        <p:txBody>
          <a:bodyPr wrap="square" rtlCol="0" anchor="t">
            <a:spAutoFit/>
          </a:bodyPr>
          <a:p>
            <a:pPr marL="342900" indent="-342900">
              <a:lnSpc>
                <a:spcPct val="150000"/>
              </a:lnSpc>
              <a:buFont typeface="Arial" panose="020B0604020202020204" pitchFamily="34" charset="0"/>
              <a:buChar char="•"/>
            </a:pPr>
            <a:r>
              <a:rPr lang="zh-CN" altLang="en-US" sz="2400" b="1"/>
              <a:t>建立一个行和列都以类命名的N×N二维表格，N为系统中定义的类个数。对于</a:t>
            </a:r>
            <a:r>
              <a:rPr lang="zh-CN" altLang="en-US" sz="2400" b="1">
                <a:solidFill>
                  <a:schemeClr val="accent1"/>
                </a:solidFill>
              </a:rPr>
              <a:t>类A所在行</a:t>
            </a:r>
            <a:r>
              <a:rPr lang="zh-CN" altLang="en-US" sz="2400" b="1"/>
              <a:t>和</a:t>
            </a:r>
            <a:r>
              <a:rPr lang="zh-CN" altLang="en-US" sz="2400" b="1">
                <a:solidFill>
                  <a:schemeClr val="accent1"/>
                </a:solidFill>
              </a:rPr>
              <a:t>类B所在列</a:t>
            </a:r>
            <a:r>
              <a:rPr lang="zh-CN" altLang="en-US" sz="2400" b="1"/>
              <a:t>的</a:t>
            </a:r>
            <a:r>
              <a:rPr lang="zh-CN" altLang="en-US" sz="2400" b="1">
                <a:solidFill>
                  <a:schemeClr val="accent1"/>
                </a:solidFill>
              </a:rPr>
              <a:t>单元格</a:t>
            </a:r>
            <a:r>
              <a:rPr lang="zh-CN" altLang="en-US" sz="2400" b="1"/>
              <a:t>：</a:t>
            </a:r>
            <a:endParaRPr lang="zh-CN" altLang="en-US" sz="2400" b="1"/>
          </a:p>
          <a:p>
            <a:pPr marL="800100" lvl="1" indent="-342900">
              <a:lnSpc>
                <a:spcPct val="150000"/>
              </a:lnSpc>
              <a:buFont typeface="Arial" panose="020B0604020202020204" pitchFamily="34" charset="0"/>
              <a:buChar char="•"/>
            </a:pPr>
            <a:r>
              <a:rPr lang="zh-CN" altLang="en-US" sz="2400" b="1"/>
              <a:t>如果类A的对象也是类B的对象，或者类A拥有类B的所有属性，则单元格标记</a:t>
            </a:r>
            <a:r>
              <a:rPr lang="zh-CN" altLang="en-US" sz="2400" b="1">
                <a:solidFill>
                  <a:schemeClr val="accent1"/>
                </a:solidFill>
              </a:rPr>
              <a:t>“S”</a:t>
            </a:r>
            <a:r>
              <a:rPr lang="zh-CN" altLang="en-US" sz="2400" b="1"/>
              <a:t>，即</a:t>
            </a:r>
            <a:r>
              <a:rPr lang="zh-CN" altLang="en-US" sz="2400" b="1">
                <a:solidFill>
                  <a:schemeClr val="accent1"/>
                </a:solidFill>
              </a:rPr>
              <a:t>类A相对于类B而言是子类</a:t>
            </a:r>
            <a:r>
              <a:rPr lang="zh-CN" altLang="en-US" sz="2400" b="1"/>
              <a:t>，S是Specialization的首字母</a:t>
            </a:r>
            <a:endParaRPr lang="zh-CN" altLang="en-US" sz="2400" b="1"/>
          </a:p>
          <a:p>
            <a:pPr marL="800100" lvl="1" indent="-342900">
              <a:lnSpc>
                <a:spcPct val="150000"/>
              </a:lnSpc>
              <a:buFont typeface="Arial" panose="020B0604020202020204" pitchFamily="34" charset="0"/>
              <a:buChar char="•"/>
            </a:pPr>
            <a:r>
              <a:rPr lang="zh-CN" altLang="en-US" sz="2400" b="1"/>
              <a:t>如果类B的对象也是类A的对象，或者类B拥有类A的所有属性，则单元格标记</a:t>
            </a:r>
            <a:r>
              <a:rPr lang="zh-CN" altLang="en-US" sz="2400" b="1">
                <a:solidFill>
                  <a:schemeClr val="accent1"/>
                </a:solidFill>
              </a:rPr>
              <a:t>“G”</a:t>
            </a:r>
            <a:r>
              <a:rPr lang="zh-CN" altLang="en-US" sz="2400" b="1"/>
              <a:t>，即</a:t>
            </a:r>
            <a:r>
              <a:rPr lang="zh-CN" altLang="en-US" sz="2400" b="1">
                <a:solidFill>
                  <a:schemeClr val="accent1"/>
                </a:solidFill>
              </a:rPr>
              <a:t>类A相对于类B而言是基类</a:t>
            </a:r>
            <a:r>
              <a:rPr lang="zh-CN" altLang="en-US" sz="2400" b="1"/>
              <a:t>，G是Generalization的首字母</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类之间继承关系的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11</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94214" name="Group 3"/>
          <p:cNvGrpSpPr/>
          <p:nvPr/>
        </p:nvGrpSpPr>
        <p:grpSpPr>
          <a:xfrm>
            <a:off x="2327275" y="2857183"/>
            <a:ext cx="1295400" cy="457200"/>
            <a:chOff x="1080" y="0"/>
            <a:chExt cx="1079" cy="379"/>
          </a:xfrm>
        </p:grpSpPr>
        <p:sp>
          <p:nvSpPr>
            <p:cNvPr id="94215" name="Rectangle 4"/>
            <p:cNvSpPr/>
            <p:nvPr>
              <p:custDataLst>
                <p:tags r:id="rId7"/>
              </p:custDataLst>
            </p:nvPr>
          </p:nvSpPr>
          <p:spPr>
            <a:xfrm>
              <a:off x="1092" y="12"/>
              <a:ext cx="1055" cy="355"/>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Person</a:t>
              </a:r>
              <a:endParaRPr lang="en-US" altLang="zh-CN" sz="2300" dirty="0">
                <a:latin typeface="Times New Roman" panose="02020603050405020304" pitchFamily="18" charset="0"/>
              </a:endParaRPr>
            </a:p>
          </p:txBody>
        </p:sp>
        <p:sp>
          <p:nvSpPr>
            <p:cNvPr id="94216" name="Rectangle 5"/>
            <p:cNvSpPr/>
            <p:nvPr>
              <p:custDataLst>
                <p:tags r:id="rId8"/>
              </p:custDataLst>
            </p:nvPr>
          </p:nvSpPr>
          <p:spPr>
            <a:xfrm>
              <a:off x="1080" y="0"/>
              <a:ext cx="1079" cy="379"/>
            </a:xfrm>
            <a:prstGeom prst="rect">
              <a:avLst/>
            </a:prstGeom>
            <a:noFill/>
            <a:ln w="7">
              <a:noFill/>
            </a:ln>
          </p:spPr>
          <p:txBody>
            <a:bodyPr anchor="t" anchorCtr="0"/>
            <a:p>
              <a:pPr>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grpSp>
      <p:sp>
        <p:nvSpPr>
          <p:cNvPr id="94217" name="Rectangle 7"/>
          <p:cNvSpPr/>
          <p:nvPr>
            <p:custDataLst>
              <p:tags r:id="rId9"/>
            </p:custDataLst>
          </p:nvPr>
        </p:nvSpPr>
        <p:spPr>
          <a:xfrm>
            <a:off x="3995738" y="2828608"/>
            <a:ext cx="1125537" cy="563562"/>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Client</a:t>
            </a:r>
            <a:endParaRPr lang="en-US" altLang="zh-CN" sz="2300" dirty="0">
              <a:solidFill>
                <a:srgbClr val="000000"/>
              </a:solidFill>
              <a:latin typeface="Times New Roman" panose="02020603050405020304" pitchFamily="18" charset="0"/>
            </a:endParaRPr>
          </a:p>
        </p:txBody>
      </p:sp>
      <p:sp>
        <p:nvSpPr>
          <p:cNvPr id="94218" name="Rectangle 10"/>
          <p:cNvSpPr/>
          <p:nvPr>
            <p:custDataLst>
              <p:tags r:id="rId10"/>
            </p:custDataLst>
          </p:nvPr>
        </p:nvSpPr>
        <p:spPr>
          <a:xfrm>
            <a:off x="5368925" y="2898458"/>
            <a:ext cx="1497013" cy="473075"/>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a:t>
            </a:r>
            <a:endParaRPr lang="en-US" altLang="zh-CN" sz="2300" dirty="0">
              <a:solidFill>
                <a:srgbClr val="000000"/>
              </a:solidFill>
              <a:latin typeface="Times New Roman" panose="02020603050405020304" pitchFamily="18" charset="0"/>
            </a:endParaRPr>
          </a:p>
        </p:txBody>
      </p:sp>
      <p:sp>
        <p:nvSpPr>
          <p:cNvPr id="94219" name="Rectangle 13"/>
          <p:cNvSpPr/>
          <p:nvPr>
            <p:custDataLst>
              <p:tags r:id="rId11"/>
            </p:custDataLst>
          </p:nvPr>
        </p:nvSpPr>
        <p:spPr>
          <a:xfrm>
            <a:off x="1174750" y="3385820"/>
            <a:ext cx="1079500" cy="44926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Person</a:t>
            </a:r>
            <a:endParaRPr lang="en-US" altLang="zh-CN" sz="2300" dirty="0">
              <a:latin typeface="Times New Roman" panose="02020603050405020304" pitchFamily="18" charset="0"/>
            </a:endParaRPr>
          </a:p>
        </p:txBody>
      </p:sp>
      <p:sp>
        <p:nvSpPr>
          <p:cNvPr id="94220" name="Rectangle 16"/>
          <p:cNvSpPr/>
          <p:nvPr>
            <p:custDataLst>
              <p:tags r:id="rId12"/>
            </p:custDataLst>
          </p:nvPr>
        </p:nvSpPr>
        <p:spPr>
          <a:xfrm>
            <a:off x="2543175" y="3558858"/>
            <a:ext cx="765175" cy="2587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250899" name="Rectangle 19"/>
          <p:cNvSpPr/>
          <p:nvPr>
            <p:custDataLst>
              <p:tags r:id="rId13"/>
            </p:custDataLst>
          </p:nvPr>
        </p:nvSpPr>
        <p:spPr>
          <a:xfrm>
            <a:off x="4054475" y="3530283"/>
            <a:ext cx="733425" cy="3603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G</a:t>
            </a:r>
            <a:endParaRPr lang="en-US" altLang="zh-CN" sz="2300" b="1" dirty="0">
              <a:latin typeface="Times New Roman" panose="02020603050405020304" pitchFamily="18" charset="0"/>
            </a:endParaRPr>
          </a:p>
        </p:txBody>
      </p:sp>
      <p:sp>
        <p:nvSpPr>
          <p:cNvPr id="94222" name="Rectangle 22"/>
          <p:cNvSpPr/>
          <p:nvPr>
            <p:custDataLst>
              <p:tags r:id="rId14"/>
            </p:custDataLst>
          </p:nvPr>
        </p:nvSpPr>
        <p:spPr>
          <a:xfrm>
            <a:off x="5638800" y="3530283"/>
            <a:ext cx="871538" cy="3603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94223" name="Rectangle 25"/>
          <p:cNvSpPr/>
          <p:nvPr>
            <p:custDataLst>
              <p:tags r:id="rId15"/>
            </p:custDataLst>
          </p:nvPr>
        </p:nvSpPr>
        <p:spPr>
          <a:xfrm>
            <a:off x="958850" y="4035108"/>
            <a:ext cx="1371600" cy="476250"/>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Client</a:t>
            </a:r>
            <a:endParaRPr lang="en-US" altLang="zh-CN" sz="2300" dirty="0">
              <a:latin typeface="Times New Roman" panose="02020603050405020304" pitchFamily="18" charset="0"/>
            </a:endParaRPr>
          </a:p>
        </p:txBody>
      </p:sp>
      <p:sp>
        <p:nvSpPr>
          <p:cNvPr id="250908" name="Rectangle 28"/>
          <p:cNvSpPr/>
          <p:nvPr>
            <p:custDataLst>
              <p:tags r:id="rId16"/>
            </p:custDataLst>
          </p:nvPr>
        </p:nvSpPr>
        <p:spPr>
          <a:xfrm>
            <a:off x="2543175" y="4106545"/>
            <a:ext cx="836613" cy="4413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S</a:t>
            </a:r>
            <a:endParaRPr lang="en-US" altLang="zh-CN" sz="2300" b="1" dirty="0">
              <a:latin typeface="Times New Roman" panose="02020603050405020304" pitchFamily="18" charset="0"/>
            </a:endParaRPr>
          </a:p>
        </p:txBody>
      </p:sp>
      <p:sp>
        <p:nvSpPr>
          <p:cNvPr id="94225" name="Rectangle 31"/>
          <p:cNvSpPr/>
          <p:nvPr>
            <p:custDataLst>
              <p:tags r:id="rId17"/>
            </p:custDataLst>
          </p:nvPr>
        </p:nvSpPr>
        <p:spPr>
          <a:xfrm>
            <a:off x="4054475" y="4106545"/>
            <a:ext cx="720725" cy="360363"/>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94226" name="Rectangle 34"/>
          <p:cNvSpPr/>
          <p:nvPr>
            <p:custDataLst>
              <p:tags r:id="rId18"/>
            </p:custDataLst>
          </p:nvPr>
        </p:nvSpPr>
        <p:spPr>
          <a:xfrm>
            <a:off x="5494338" y="4106545"/>
            <a:ext cx="1331912" cy="36036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accounts</a:t>
            </a:r>
            <a:endParaRPr lang="en-US" altLang="zh-CN" sz="2300" dirty="0">
              <a:latin typeface="Times New Roman" panose="02020603050405020304" pitchFamily="18" charset="0"/>
            </a:endParaRPr>
          </a:p>
        </p:txBody>
      </p:sp>
      <p:sp>
        <p:nvSpPr>
          <p:cNvPr id="94227" name="Rectangle 37"/>
          <p:cNvSpPr/>
          <p:nvPr>
            <p:custDataLst>
              <p:tags r:id="rId19"/>
            </p:custDataLst>
          </p:nvPr>
        </p:nvSpPr>
        <p:spPr>
          <a:xfrm>
            <a:off x="958850" y="4754245"/>
            <a:ext cx="1516063" cy="46831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a:t>
            </a:r>
            <a:endParaRPr lang="en-US" altLang="zh-CN" sz="2300" b="1" dirty="0">
              <a:latin typeface="Times New Roman" panose="02020603050405020304" pitchFamily="18" charset="0"/>
            </a:endParaRPr>
          </a:p>
        </p:txBody>
      </p:sp>
      <p:sp>
        <p:nvSpPr>
          <p:cNvPr id="94228" name="Rectangle 40"/>
          <p:cNvSpPr/>
          <p:nvPr>
            <p:custDataLst>
              <p:tags r:id="rId20"/>
            </p:custDataLst>
          </p:nvPr>
        </p:nvSpPr>
        <p:spPr>
          <a:xfrm>
            <a:off x="2543175" y="4754245"/>
            <a:ext cx="719138" cy="5048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dirty="0">
              <a:latin typeface="Times New Roman" panose="02020603050405020304" pitchFamily="18" charset="0"/>
            </a:endParaRPr>
          </a:p>
        </p:txBody>
      </p:sp>
      <p:sp>
        <p:nvSpPr>
          <p:cNvPr id="94229" name="Rectangle 43"/>
          <p:cNvSpPr/>
          <p:nvPr>
            <p:custDataLst>
              <p:tags r:id="rId21"/>
            </p:custDataLst>
          </p:nvPr>
        </p:nvSpPr>
        <p:spPr>
          <a:xfrm>
            <a:off x="3910013" y="4754245"/>
            <a:ext cx="1016000" cy="444500"/>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94230" name="Rectangle 46"/>
          <p:cNvSpPr/>
          <p:nvPr>
            <p:custDataLst>
              <p:tags r:id="rId22"/>
            </p:custDataLst>
          </p:nvPr>
        </p:nvSpPr>
        <p:spPr>
          <a:xfrm>
            <a:off x="5711825" y="4825683"/>
            <a:ext cx="793750" cy="2889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7" name="文本框 6"/>
          <p:cNvSpPr txBox="1"/>
          <p:nvPr/>
        </p:nvSpPr>
        <p:spPr>
          <a:xfrm>
            <a:off x="354330" y="1762125"/>
            <a:ext cx="8285480" cy="891540"/>
          </a:xfrm>
          <a:prstGeom prst="rect">
            <a:avLst/>
          </a:prstGeom>
          <a:noFill/>
        </p:spPr>
        <p:txBody>
          <a:bodyPr wrap="square" rtlCol="0" anchor="t">
            <a:spAutoFit/>
          </a:bodyPr>
          <a:p>
            <a:pPr marL="457200" indent="-457200" eaLnBrk="1" hangingPunct="1">
              <a:buFont typeface="Arial" panose="020B0604020202020204" pitchFamily="34" charset="0"/>
              <a:buChar char="•"/>
            </a:pPr>
            <a:r>
              <a:rPr lang="zh-CN" altLang="en-US" sz="2600" b="1" dirty="0">
                <a:solidFill>
                  <a:srgbClr val="000000"/>
                </a:solidFill>
                <a:sym typeface="+mn-ea"/>
              </a:rPr>
              <a:t>举例：</a:t>
            </a:r>
            <a:r>
              <a:rPr lang="en-US" altLang="zh-CN" sz="2600" b="1" dirty="0">
                <a:solidFill>
                  <a:srgbClr val="000000"/>
                </a:solidFill>
                <a:sym typeface="+mn-ea"/>
              </a:rPr>
              <a:t>a client is a person that has one or more accounts.</a:t>
            </a:r>
            <a:endParaRPr lang="en-US" altLang="zh-CN" sz="2600" b="1" dirty="0">
              <a:solidFill>
                <a:srgbClr val="00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50899"/>
                                        </p:tgtEl>
                                        <p:attrNameLst>
                                          <p:attrName>style.visibility</p:attrName>
                                        </p:attrNameLst>
                                      </p:cBhvr>
                                      <p:to>
                                        <p:strVal val="visible"/>
                                      </p:to>
                                    </p:set>
                                    <p:animEffect transition="in" filter="barn(inHorizontal)">
                                      <p:cBhvr>
                                        <p:cTn id="7" dur="500"/>
                                        <p:tgtEl>
                                          <p:spTgt spid="2508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50908"/>
                                        </p:tgtEl>
                                        <p:attrNameLst>
                                          <p:attrName>style.visibility</p:attrName>
                                        </p:attrNameLst>
                                      </p:cBhvr>
                                      <p:to>
                                        <p:strVal val="visible"/>
                                      </p:to>
                                    </p:set>
                                    <p:animEffect transition="in" filter="barn(inHorizontal)">
                                      <p:cBhvr>
                                        <p:cTn id="12" dur="500"/>
                                        <p:tgtEl>
                                          <p:spTgt spid="250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99" grpId="0"/>
      <p:bldP spid="25090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类之间继承关系的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12/24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9" name="表格 8"/>
          <p:cNvGraphicFramePr/>
          <p:nvPr>
            <p:custDataLst>
              <p:tags r:id="rId7"/>
            </p:custDataLst>
          </p:nvPr>
        </p:nvGraphicFramePr>
        <p:xfrm>
          <a:off x="466725" y="1675130"/>
          <a:ext cx="8166100" cy="4572000"/>
        </p:xfrm>
        <a:graphic>
          <a:graphicData uri="http://schemas.openxmlformats.org/drawingml/2006/table">
            <a:tbl>
              <a:tblPr firstRow="1" bandRow="1">
                <a:tableStyleId>{5C22544A-7EE6-4342-B048-85BDC9FD1C3A}</a:tableStyleId>
              </a:tblPr>
              <a:tblGrid>
                <a:gridCol w="2925445"/>
                <a:gridCol w="1155065"/>
                <a:gridCol w="2439035"/>
                <a:gridCol w="975360"/>
                <a:gridCol w="671195"/>
              </a:tblGrid>
              <a:tr h="408305">
                <a:tc>
                  <a:txBody>
                    <a:bodyPr/>
                    <a:p>
                      <a:pPr>
                        <a:buNone/>
                      </a:pPr>
                      <a:endParaRPr lang="zh-CN" altLang="en-US" sz="2400" b="1">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p>
                      <a:pPr indent="0">
                        <a:buNone/>
                      </a:pPr>
                      <a:r>
                        <a:rPr lang="en-US" sz="2400" b="1">
                          <a:solidFill>
                            <a:srgbClr val="000000"/>
                          </a:solidFill>
                          <a:latin typeface="Times New Roman" panose="02020603050405020304" pitchFamily="18" charset="0"/>
                          <a:cs typeface="Times New Roman" panose="02020603050405020304" pitchFamily="18" charset="0"/>
                          <a:sym typeface="+mn-ea"/>
                        </a:rPr>
                        <a:t>Order</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indent="0">
                        <a:buNone/>
                      </a:pPr>
                      <a:r>
                        <a:rPr lang="en-US" sz="2400" b="1">
                          <a:solidFill>
                            <a:srgbClr val="000000"/>
                          </a:solidFill>
                          <a:latin typeface="Times New Roman" panose="02020603050405020304" pitchFamily="18" charset="0"/>
                          <a:cs typeface="Times New Roman" panose="02020603050405020304" pitchFamily="18" charset="0"/>
                          <a:sym typeface="+mn-ea"/>
                        </a:rPr>
                        <a:t>ProductCatalog</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algn="l">
                        <a:buClrTx/>
                        <a:buSzTx/>
                        <a:buFontTx/>
                        <a:buNone/>
                      </a:pPr>
                      <a:r>
                        <a:rPr lang="en-US" sz="2400" b="1">
                          <a:solidFill>
                            <a:srgbClr val="000000"/>
                          </a:solidFill>
                          <a:latin typeface="Times New Roman" panose="02020603050405020304" pitchFamily="18" charset="0"/>
                          <a:cs typeface="Times New Roman" panose="02020603050405020304" pitchFamily="18" charset="0"/>
                          <a:sym typeface="+mn-ea"/>
                        </a:rPr>
                        <a:t>Jelly</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algn="l">
                        <a:buClrTx/>
                        <a:buSzTx/>
                        <a:buFontTx/>
                        <a:buNone/>
                      </a:pPr>
                      <a:r>
                        <a:rPr lang="en-US" sz="2400" b="1">
                          <a:solidFill>
                            <a:srgbClr val="000000"/>
                          </a:solidFill>
                          <a:latin typeface="Times New Roman" panose="02020603050405020304" pitchFamily="18" charset="0"/>
                          <a:cs typeface="Times New Roman" panose="02020603050405020304" pitchFamily="18" charset="0"/>
                        </a:rPr>
                        <a:t>...</a:t>
                      </a:r>
                      <a:endParaRPr 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Order</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34290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ProductCatalog</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3942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Jelly</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SaleItem</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3942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MilkDrink</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Product</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PureMilk</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3942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StoreSales</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Yogurt</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bl>
          </a:graphicData>
        </a:graphic>
      </p:graphicFrame>
      <p:sp>
        <p:nvSpPr>
          <p:cNvPr id="7" name="矩形 6"/>
          <p:cNvSpPr/>
          <p:nvPr>
            <p:custDataLst>
              <p:tags r:id="rId8"/>
            </p:custDataLst>
          </p:nvPr>
        </p:nvSpPr>
        <p:spPr>
          <a:xfrm>
            <a:off x="458470" y="3071495"/>
            <a:ext cx="169799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custDataLst>
              <p:tags r:id="rId9"/>
            </p:custDataLst>
          </p:nvPr>
        </p:nvSpPr>
        <p:spPr>
          <a:xfrm>
            <a:off x="458470" y="4445635"/>
            <a:ext cx="169799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10"/>
            </p:custDataLst>
          </p:nvPr>
        </p:nvSpPr>
        <p:spPr>
          <a:xfrm>
            <a:off x="466725" y="3985260"/>
            <a:ext cx="169799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矩形 11"/>
          <p:cNvSpPr/>
          <p:nvPr>
            <p:custDataLst>
              <p:tags r:id="rId11"/>
            </p:custDataLst>
          </p:nvPr>
        </p:nvSpPr>
        <p:spPr>
          <a:xfrm>
            <a:off x="458470" y="4899025"/>
            <a:ext cx="1697990"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10" grpId="0" bldLvl="0" animBg="1"/>
      <p:bldP spid="12"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类之间关联关系的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13/24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628650" y="1780540"/>
            <a:ext cx="8363585" cy="2861310"/>
          </a:xfrm>
          <a:prstGeom prst="rect">
            <a:avLst/>
          </a:prstGeom>
          <a:noFill/>
        </p:spPr>
        <p:txBody>
          <a:bodyPr wrap="square" rtlCol="0" anchor="t">
            <a:spAutoFit/>
          </a:bodyPr>
          <a:p>
            <a:pPr marL="342900" indent="-342900">
              <a:lnSpc>
                <a:spcPct val="150000"/>
              </a:lnSpc>
              <a:buFont typeface="Arial" panose="020B0604020202020204" pitchFamily="34" charset="0"/>
              <a:buChar char="•"/>
            </a:pPr>
            <a:r>
              <a:rPr lang="zh-CN" altLang="en-US" sz="2400" b="1"/>
              <a:t>识别类与类之间的关联关系，</a:t>
            </a:r>
            <a:r>
              <a:rPr lang="zh-CN" altLang="en-US" sz="2400" b="1">
                <a:sym typeface="+mn-ea"/>
              </a:rPr>
              <a:t>对于类A所在行类B所在列的单元格</a:t>
            </a:r>
            <a:endParaRPr lang="zh-CN" altLang="en-US" sz="2400" b="1"/>
          </a:p>
          <a:p>
            <a:pPr marL="800100" lvl="1" indent="-342900">
              <a:lnSpc>
                <a:spcPct val="150000"/>
              </a:lnSpc>
              <a:buFont typeface="Arial" panose="020B0604020202020204" pitchFamily="34" charset="0"/>
              <a:buChar char="•"/>
            </a:pPr>
            <a:r>
              <a:rPr lang="zh-CN" altLang="en-US" sz="2400" b="1"/>
              <a:t>如果类A的对象可以包括一个或多个类B的对象，则在A行B列的单元格标记为关联的数量或关联的</a:t>
            </a:r>
            <a:r>
              <a:rPr lang="zh-CN" altLang="en-US" sz="2400" b="1"/>
              <a:t>属性。</a:t>
            </a:r>
            <a:endParaRPr lang="zh-CN" altLang="en-US" sz="2400" b="1"/>
          </a:p>
          <a:p>
            <a:pPr marL="800100" lvl="1" indent="-342900">
              <a:lnSpc>
                <a:spcPct val="150000"/>
              </a:lnSpc>
              <a:buFont typeface="Arial" panose="020B0604020202020204" pitchFamily="34" charset="0"/>
              <a:buChar char="•"/>
            </a:pPr>
            <a:r>
              <a:rPr lang="zh-CN" altLang="en-US" sz="2400" b="1"/>
              <a:t>类</a:t>
            </a:r>
            <a:r>
              <a:rPr lang="en-US" altLang="zh-CN" sz="2400" b="1"/>
              <a:t>A</a:t>
            </a:r>
            <a:r>
              <a:rPr lang="zh-CN" altLang="en-US" sz="2400" b="1"/>
              <a:t>和类</a:t>
            </a:r>
            <a:r>
              <a:rPr lang="en-US" altLang="zh-CN" sz="2400" b="1"/>
              <a:t>B</a:t>
            </a:r>
            <a:r>
              <a:rPr lang="zh-CN" altLang="en-US" sz="2400" b="1"/>
              <a:t>没有关联关系，单元格</a:t>
            </a:r>
            <a:r>
              <a:rPr lang="zh-CN" altLang="en-US" sz="2400" b="1"/>
              <a:t>可以标记</a:t>
            </a:r>
            <a:r>
              <a:rPr lang="en-US" altLang="zh-CN" sz="2400" b="1"/>
              <a:t>X</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类之间关联关系的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14</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354330" y="1907540"/>
            <a:ext cx="8557895" cy="891540"/>
          </a:xfrm>
          <a:prstGeom prst="rect">
            <a:avLst/>
          </a:prstGeom>
          <a:noFill/>
        </p:spPr>
        <p:txBody>
          <a:bodyPr wrap="square" rtlCol="0" anchor="t">
            <a:spAutoFit/>
          </a:bodyPr>
          <a:p>
            <a:pPr marL="457200" indent="-457200" eaLnBrk="1" hangingPunct="1">
              <a:buFont typeface="Arial" panose="020B0604020202020204" pitchFamily="34" charset="0"/>
              <a:buChar char="•"/>
            </a:pPr>
            <a:r>
              <a:rPr lang="zh-CN" altLang="en-US" sz="2600" b="1" dirty="0">
                <a:solidFill>
                  <a:srgbClr val="000000"/>
                </a:solidFill>
                <a:sym typeface="+mn-ea"/>
              </a:rPr>
              <a:t>举例：</a:t>
            </a:r>
            <a:r>
              <a:rPr lang="en-US" altLang="zh-CN" sz="2600" b="1" dirty="0">
                <a:solidFill>
                  <a:srgbClr val="000000"/>
                </a:solidFill>
                <a:sym typeface="+mn-ea"/>
              </a:rPr>
              <a:t>a client is a person that has one or more accounts.</a:t>
            </a:r>
            <a:endParaRPr lang="en-US" altLang="zh-CN" sz="2600" b="1" dirty="0">
              <a:solidFill>
                <a:srgbClr val="000000"/>
              </a:solidFill>
              <a:sym typeface="+mn-ea"/>
            </a:endParaRPr>
          </a:p>
        </p:txBody>
      </p:sp>
      <p:grpSp>
        <p:nvGrpSpPr>
          <p:cNvPr id="8" name="Group 3"/>
          <p:cNvGrpSpPr/>
          <p:nvPr/>
        </p:nvGrpSpPr>
        <p:grpSpPr>
          <a:xfrm>
            <a:off x="2327275" y="2987993"/>
            <a:ext cx="1295400" cy="457200"/>
            <a:chOff x="1080" y="0"/>
            <a:chExt cx="1079" cy="379"/>
          </a:xfrm>
        </p:grpSpPr>
        <p:sp>
          <p:nvSpPr>
            <p:cNvPr id="9" name="Rectangle 4"/>
            <p:cNvSpPr/>
            <p:nvPr>
              <p:custDataLst>
                <p:tags r:id="rId7"/>
              </p:custDataLst>
            </p:nvPr>
          </p:nvSpPr>
          <p:spPr>
            <a:xfrm>
              <a:off x="1092" y="12"/>
              <a:ext cx="1055" cy="355"/>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Person</a:t>
              </a:r>
              <a:endParaRPr lang="en-US" altLang="zh-CN" sz="2300" dirty="0">
                <a:latin typeface="Times New Roman" panose="02020603050405020304" pitchFamily="18" charset="0"/>
              </a:endParaRPr>
            </a:p>
          </p:txBody>
        </p:sp>
        <p:sp>
          <p:nvSpPr>
            <p:cNvPr id="10" name="Rectangle 5"/>
            <p:cNvSpPr/>
            <p:nvPr>
              <p:custDataLst>
                <p:tags r:id="rId8"/>
              </p:custDataLst>
            </p:nvPr>
          </p:nvSpPr>
          <p:spPr>
            <a:xfrm>
              <a:off x="1080" y="0"/>
              <a:ext cx="1079" cy="379"/>
            </a:xfrm>
            <a:prstGeom prst="rect">
              <a:avLst/>
            </a:prstGeom>
            <a:noFill/>
            <a:ln w="7">
              <a:noFill/>
            </a:ln>
          </p:spPr>
          <p:txBody>
            <a:bodyPr anchor="t" anchorCtr="0"/>
            <a:p>
              <a:pPr>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grpSp>
      <p:sp>
        <p:nvSpPr>
          <p:cNvPr id="12" name="Rectangle 7"/>
          <p:cNvSpPr/>
          <p:nvPr>
            <p:custDataLst>
              <p:tags r:id="rId9"/>
            </p:custDataLst>
          </p:nvPr>
        </p:nvSpPr>
        <p:spPr>
          <a:xfrm>
            <a:off x="3995738" y="2959418"/>
            <a:ext cx="1125537" cy="563562"/>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Client</a:t>
            </a:r>
            <a:endParaRPr lang="en-US" altLang="zh-CN" sz="2300" dirty="0">
              <a:solidFill>
                <a:srgbClr val="000000"/>
              </a:solidFill>
              <a:latin typeface="Times New Roman" panose="02020603050405020304" pitchFamily="18" charset="0"/>
            </a:endParaRPr>
          </a:p>
        </p:txBody>
      </p:sp>
      <p:sp>
        <p:nvSpPr>
          <p:cNvPr id="14" name="Rectangle 10"/>
          <p:cNvSpPr/>
          <p:nvPr>
            <p:custDataLst>
              <p:tags r:id="rId10"/>
            </p:custDataLst>
          </p:nvPr>
        </p:nvSpPr>
        <p:spPr>
          <a:xfrm>
            <a:off x="5368925" y="3029268"/>
            <a:ext cx="1497013" cy="473075"/>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a:t>
            </a:r>
            <a:endParaRPr lang="en-US" altLang="zh-CN" sz="2300" dirty="0">
              <a:solidFill>
                <a:srgbClr val="000000"/>
              </a:solidFill>
              <a:latin typeface="Times New Roman" panose="02020603050405020304" pitchFamily="18" charset="0"/>
            </a:endParaRPr>
          </a:p>
        </p:txBody>
      </p:sp>
      <p:sp>
        <p:nvSpPr>
          <p:cNvPr id="15" name="Rectangle 13"/>
          <p:cNvSpPr/>
          <p:nvPr>
            <p:custDataLst>
              <p:tags r:id="rId11"/>
            </p:custDataLst>
          </p:nvPr>
        </p:nvSpPr>
        <p:spPr>
          <a:xfrm>
            <a:off x="1174750" y="3516630"/>
            <a:ext cx="1079500" cy="44926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Person</a:t>
            </a:r>
            <a:endParaRPr lang="en-US" altLang="zh-CN" sz="2300" dirty="0">
              <a:latin typeface="Times New Roman" panose="02020603050405020304" pitchFamily="18" charset="0"/>
            </a:endParaRPr>
          </a:p>
        </p:txBody>
      </p:sp>
      <p:sp>
        <p:nvSpPr>
          <p:cNvPr id="16" name="Rectangle 16"/>
          <p:cNvSpPr/>
          <p:nvPr>
            <p:custDataLst>
              <p:tags r:id="rId12"/>
            </p:custDataLst>
          </p:nvPr>
        </p:nvSpPr>
        <p:spPr>
          <a:xfrm>
            <a:off x="2543175" y="3689668"/>
            <a:ext cx="765175" cy="2587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17" name="Rectangle 19"/>
          <p:cNvSpPr/>
          <p:nvPr>
            <p:custDataLst>
              <p:tags r:id="rId13"/>
            </p:custDataLst>
          </p:nvPr>
        </p:nvSpPr>
        <p:spPr>
          <a:xfrm>
            <a:off x="4054475" y="3661093"/>
            <a:ext cx="733425" cy="3603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G</a:t>
            </a:r>
            <a:endParaRPr lang="en-US" altLang="zh-CN" sz="2300" b="1" dirty="0">
              <a:latin typeface="Times New Roman" panose="02020603050405020304" pitchFamily="18" charset="0"/>
            </a:endParaRPr>
          </a:p>
        </p:txBody>
      </p:sp>
      <p:sp>
        <p:nvSpPr>
          <p:cNvPr id="20" name="Rectangle 22"/>
          <p:cNvSpPr/>
          <p:nvPr>
            <p:custDataLst>
              <p:tags r:id="rId14"/>
            </p:custDataLst>
          </p:nvPr>
        </p:nvSpPr>
        <p:spPr>
          <a:xfrm>
            <a:off x="5638800" y="3661093"/>
            <a:ext cx="871538" cy="360362"/>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21" name="Rectangle 25"/>
          <p:cNvSpPr/>
          <p:nvPr>
            <p:custDataLst>
              <p:tags r:id="rId15"/>
            </p:custDataLst>
          </p:nvPr>
        </p:nvSpPr>
        <p:spPr>
          <a:xfrm>
            <a:off x="958850" y="4165918"/>
            <a:ext cx="1371600" cy="476250"/>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Client</a:t>
            </a:r>
            <a:endParaRPr lang="en-US" altLang="zh-CN" sz="2300" dirty="0">
              <a:latin typeface="Times New Roman" panose="02020603050405020304" pitchFamily="18" charset="0"/>
            </a:endParaRPr>
          </a:p>
        </p:txBody>
      </p:sp>
      <p:sp>
        <p:nvSpPr>
          <p:cNvPr id="22" name="Rectangle 28"/>
          <p:cNvSpPr/>
          <p:nvPr>
            <p:custDataLst>
              <p:tags r:id="rId16"/>
            </p:custDataLst>
          </p:nvPr>
        </p:nvSpPr>
        <p:spPr>
          <a:xfrm>
            <a:off x="2543175" y="4237355"/>
            <a:ext cx="836613" cy="4413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S</a:t>
            </a:r>
            <a:endParaRPr lang="en-US" altLang="zh-CN" sz="2300" b="1" dirty="0">
              <a:latin typeface="Times New Roman" panose="02020603050405020304" pitchFamily="18" charset="0"/>
            </a:endParaRPr>
          </a:p>
        </p:txBody>
      </p:sp>
      <p:sp>
        <p:nvSpPr>
          <p:cNvPr id="23" name="Rectangle 31"/>
          <p:cNvSpPr/>
          <p:nvPr>
            <p:custDataLst>
              <p:tags r:id="rId17"/>
            </p:custDataLst>
          </p:nvPr>
        </p:nvSpPr>
        <p:spPr>
          <a:xfrm>
            <a:off x="4054475" y="4237355"/>
            <a:ext cx="720725" cy="360363"/>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24" name="Rectangle 34"/>
          <p:cNvSpPr/>
          <p:nvPr/>
        </p:nvSpPr>
        <p:spPr>
          <a:xfrm>
            <a:off x="5494338" y="4237355"/>
            <a:ext cx="1331912" cy="36036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accounts</a:t>
            </a:r>
            <a:endParaRPr lang="en-US" altLang="zh-CN" sz="2300" dirty="0">
              <a:latin typeface="Times New Roman" panose="02020603050405020304" pitchFamily="18" charset="0"/>
            </a:endParaRPr>
          </a:p>
        </p:txBody>
      </p:sp>
      <p:sp>
        <p:nvSpPr>
          <p:cNvPr id="25" name="Rectangle 37"/>
          <p:cNvSpPr/>
          <p:nvPr>
            <p:custDataLst>
              <p:tags r:id="rId18"/>
            </p:custDataLst>
          </p:nvPr>
        </p:nvSpPr>
        <p:spPr>
          <a:xfrm>
            <a:off x="958850" y="4885055"/>
            <a:ext cx="1516063" cy="468313"/>
          </a:xfrm>
          <a:prstGeom prst="rect">
            <a:avLst/>
          </a:prstGeom>
          <a:noFill/>
          <a:ln w="9525">
            <a:noFill/>
          </a:ln>
        </p:spPr>
        <p:txBody>
          <a:bodyPr anchor="ctr" anchorCtr="0"/>
          <a:p>
            <a:pPr algn="ctr"/>
            <a:r>
              <a:rPr lang="en-US" altLang="zh-CN" sz="2300" b="1" dirty="0">
                <a:solidFill>
                  <a:srgbClr val="000000"/>
                </a:solidFill>
                <a:latin typeface="Times New Roman" panose="02020603050405020304" pitchFamily="18" charset="0"/>
              </a:rPr>
              <a:t>Account</a:t>
            </a:r>
            <a:endParaRPr lang="en-US" altLang="zh-CN" sz="2300" b="1" dirty="0">
              <a:latin typeface="Times New Roman" panose="02020603050405020304" pitchFamily="18" charset="0"/>
            </a:endParaRPr>
          </a:p>
        </p:txBody>
      </p:sp>
      <p:sp>
        <p:nvSpPr>
          <p:cNvPr id="26" name="Rectangle 40"/>
          <p:cNvSpPr/>
          <p:nvPr>
            <p:custDataLst>
              <p:tags r:id="rId19"/>
            </p:custDataLst>
          </p:nvPr>
        </p:nvSpPr>
        <p:spPr>
          <a:xfrm>
            <a:off x="2543175" y="4885055"/>
            <a:ext cx="719138" cy="5048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dirty="0">
              <a:latin typeface="Times New Roman" panose="02020603050405020304" pitchFamily="18" charset="0"/>
            </a:endParaRPr>
          </a:p>
        </p:txBody>
      </p:sp>
      <p:sp>
        <p:nvSpPr>
          <p:cNvPr id="27" name="Rectangle 43"/>
          <p:cNvSpPr/>
          <p:nvPr/>
        </p:nvSpPr>
        <p:spPr>
          <a:xfrm>
            <a:off x="3910013" y="4885055"/>
            <a:ext cx="1016000" cy="444500"/>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
        <p:nvSpPr>
          <p:cNvPr id="28" name="Rectangle 46"/>
          <p:cNvSpPr/>
          <p:nvPr>
            <p:custDataLst>
              <p:tags r:id="rId20"/>
            </p:custDataLst>
          </p:nvPr>
        </p:nvSpPr>
        <p:spPr>
          <a:xfrm>
            <a:off x="5711825" y="4956493"/>
            <a:ext cx="793750" cy="288925"/>
          </a:xfrm>
          <a:prstGeom prst="rect">
            <a:avLst/>
          </a:prstGeom>
          <a:noFill/>
          <a:ln w="9525">
            <a:noFill/>
          </a:ln>
        </p:spPr>
        <p:txBody>
          <a:bodyPr anchor="ctr" anchorCtr="0"/>
          <a:p>
            <a:pPr algn="ctr"/>
            <a:r>
              <a:rPr lang="en-US" altLang="zh-CN" sz="2300" b="1" i="1" dirty="0">
                <a:solidFill>
                  <a:srgbClr val="000000"/>
                </a:solidFill>
                <a:latin typeface="Times New Roman" panose="02020603050405020304" pitchFamily="18" charset="0"/>
              </a:rPr>
              <a:t>X</a:t>
            </a:r>
            <a:endParaRPr lang="en-US" altLang="zh-CN" sz="23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类之间关联关系的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15/24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9" name="表格 8"/>
          <p:cNvGraphicFramePr/>
          <p:nvPr>
            <p:custDataLst>
              <p:tags r:id="rId7"/>
            </p:custDataLst>
          </p:nvPr>
        </p:nvGraphicFramePr>
        <p:xfrm>
          <a:off x="466725" y="1675130"/>
          <a:ext cx="8166100" cy="4572000"/>
        </p:xfrm>
        <a:graphic>
          <a:graphicData uri="http://schemas.openxmlformats.org/drawingml/2006/table">
            <a:tbl>
              <a:tblPr firstRow="1" bandRow="1">
                <a:tableStyleId>{5C22544A-7EE6-4342-B048-85BDC9FD1C3A}</a:tableStyleId>
              </a:tblPr>
              <a:tblGrid>
                <a:gridCol w="2925445"/>
                <a:gridCol w="1155065"/>
                <a:gridCol w="2439035"/>
                <a:gridCol w="975360"/>
                <a:gridCol w="671195"/>
              </a:tblGrid>
              <a:tr h="408305">
                <a:tc>
                  <a:txBody>
                    <a:bodyPr/>
                    <a:p>
                      <a:pPr>
                        <a:buNone/>
                      </a:pPr>
                      <a:endParaRPr lang="zh-CN" altLang="en-US" sz="2400" b="1">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p>
                      <a:pPr indent="0">
                        <a:buNone/>
                      </a:pPr>
                      <a:r>
                        <a:rPr lang="en-US" sz="2400" b="1">
                          <a:solidFill>
                            <a:srgbClr val="000000"/>
                          </a:solidFill>
                          <a:latin typeface="Times New Roman" panose="02020603050405020304" pitchFamily="18" charset="0"/>
                          <a:cs typeface="Times New Roman" panose="02020603050405020304" pitchFamily="18" charset="0"/>
                          <a:sym typeface="+mn-ea"/>
                        </a:rPr>
                        <a:t>Order</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indent="0">
                        <a:buNone/>
                      </a:pPr>
                      <a:r>
                        <a:rPr lang="en-US" sz="2400" b="1">
                          <a:solidFill>
                            <a:srgbClr val="000000"/>
                          </a:solidFill>
                          <a:latin typeface="Times New Roman" panose="02020603050405020304" pitchFamily="18" charset="0"/>
                          <a:cs typeface="Times New Roman" panose="02020603050405020304" pitchFamily="18" charset="0"/>
                          <a:sym typeface="+mn-ea"/>
                        </a:rPr>
                        <a:t>ProductCatalog</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algn="l">
                        <a:buClrTx/>
                        <a:buSzTx/>
                        <a:buFontTx/>
                        <a:buNone/>
                      </a:pPr>
                      <a:r>
                        <a:rPr lang="en-US" sz="2400" b="1">
                          <a:solidFill>
                            <a:srgbClr val="000000"/>
                          </a:solidFill>
                          <a:latin typeface="Times New Roman" panose="02020603050405020304" pitchFamily="18" charset="0"/>
                          <a:cs typeface="Times New Roman" panose="02020603050405020304" pitchFamily="18" charset="0"/>
                          <a:sym typeface="+mn-ea"/>
                        </a:rPr>
                        <a:t>Jelly</a:t>
                      </a:r>
                      <a:endParaRPr lang="en-US" sz="2400" b="1">
                        <a:solidFill>
                          <a:srgbClr val="000000"/>
                        </a:solidFill>
                        <a:latin typeface="Times New Roman" panose="02020603050405020304" pitchFamily="18" charset="0"/>
                        <a:cs typeface="Times New Roman" panose="02020603050405020304" pitchFamily="18" charset="0"/>
                        <a:sym typeface="+mn-ea"/>
                      </a:endParaRPr>
                    </a:p>
                  </a:txBody>
                  <a:tcPr marL="12700" marR="12700" marT="12700" vert="horz" anchor="ctr" anchorCtr="0">
                    <a:solidFill>
                      <a:schemeClr val="accent1">
                        <a:lumMod val="20000"/>
                        <a:lumOff val="80000"/>
                      </a:schemeClr>
                    </a:solidFill>
                  </a:tcPr>
                </a:tc>
                <a:tc>
                  <a:txBody>
                    <a:bodyPr/>
                    <a:p>
                      <a:pPr algn="l">
                        <a:buClrTx/>
                        <a:buSzTx/>
                        <a:buFontTx/>
                        <a:buNone/>
                      </a:pPr>
                      <a:r>
                        <a:rPr lang="en-US" sz="2400" b="1">
                          <a:solidFill>
                            <a:srgbClr val="000000"/>
                          </a:solidFill>
                          <a:latin typeface="Times New Roman" panose="02020603050405020304" pitchFamily="18" charset="0"/>
                          <a:cs typeface="Times New Roman" panose="02020603050405020304" pitchFamily="18" charset="0"/>
                        </a:rPr>
                        <a:t>...</a:t>
                      </a:r>
                      <a:endParaRPr 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solidFill>
                      <a:schemeClr val="accent1">
                        <a:lumMod val="20000"/>
                        <a:lumOff val="80000"/>
                      </a:schemeClr>
                    </a:solidFill>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Order</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34290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ProductCatalog</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5720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Jelly</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SaleItem</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3942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MilkDrink</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Product</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PureMilk</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39420">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StoreSales</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r h="440055">
                <a:tc>
                  <a:txBody>
                    <a:bodyPr/>
                    <a:p>
                      <a:pPr indent="0">
                        <a:buNone/>
                      </a:pPr>
                      <a:r>
                        <a:rPr lang="en-US" sz="2400" b="1">
                          <a:solidFill>
                            <a:srgbClr val="000000"/>
                          </a:solidFill>
                          <a:latin typeface="Times New Roman" panose="02020603050405020304" pitchFamily="18" charset="0"/>
                          <a:cs typeface="Times New Roman" panose="02020603050405020304" pitchFamily="18" charset="0"/>
                        </a:rPr>
                        <a:t>Yogurt</a:t>
                      </a:r>
                      <a:endParaRPr lang="en-US" altLang="en-US" sz="2400" b="1">
                        <a:solidFill>
                          <a:srgbClr val="000000"/>
                        </a:solidFill>
                        <a:latin typeface="Times New Roman" panose="02020603050405020304" pitchFamily="18" charset="0"/>
                        <a:cs typeface="Times New Roman" panose="02020603050405020304" pitchFamily="18" charset="0"/>
                      </a:endParaRPr>
                    </a:p>
                  </a:txBody>
                  <a:tcPr marL="12700" marR="12700" marT="12700" vert="horz" anchor="ctr" anchorCtr="0"/>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c>
                  <a:txBody>
                    <a:bodyPr/>
                    <a:p>
                      <a:pPr>
                        <a:buNone/>
                      </a:pPr>
                      <a:endParaRPr lang="zh-CN" altLang="en-US" sz="2400" b="1">
                        <a:latin typeface="Times New Roman" panose="02020603050405020304" pitchFamily="18" charset="0"/>
                        <a:cs typeface="Times New Roman" panose="02020603050405020304" pitchFamily="18" charset="0"/>
                      </a:endParaRPr>
                    </a:p>
                  </a:txBody>
                  <a:tcPr/>
                </a:tc>
              </a:tr>
            </a:tbl>
          </a:graphicData>
        </a:graphic>
      </p:graphicFrame>
      <p:sp>
        <p:nvSpPr>
          <p:cNvPr id="7" name="矩形 6"/>
          <p:cNvSpPr/>
          <p:nvPr>
            <p:custDataLst>
              <p:tags r:id="rId8"/>
            </p:custDataLst>
          </p:nvPr>
        </p:nvSpPr>
        <p:spPr>
          <a:xfrm>
            <a:off x="466725" y="2672715"/>
            <a:ext cx="221932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custDataLst>
              <p:tags r:id="rId9"/>
            </p:custDataLst>
          </p:nvPr>
        </p:nvSpPr>
        <p:spPr>
          <a:xfrm>
            <a:off x="466725" y="4455795"/>
            <a:ext cx="221932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10"/>
            </p:custDataLst>
          </p:nvPr>
        </p:nvSpPr>
        <p:spPr>
          <a:xfrm>
            <a:off x="466725" y="2179955"/>
            <a:ext cx="221932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矩形 11"/>
          <p:cNvSpPr/>
          <p:nvPr>
            <p:custDataLst>
              <p:tags r:id="rId11"/>
            </p:custDataLst>
          </p:nvPr>
        </p:nvSpPr>
        <p:spPr>
          <a:xfrm>
            <a:off x="466725" y="3564255"/>
            <a:ext cx="221932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custDataLst>
              <p:tags r:id="rId12"/>
            </p:custDataLst>
          </p:nvPr>
        </p:nvSpPr>
        <p:spPr>
          <a:xfrm>
            <a:off x="466725" y="5390515"/>
            <a:ext cx="2219325" cy="357505"/>
          </a:xfrm>
          <a:prstGeom prst="rect">
            <a:avLst/>
          </a:prstGeom>
          <a:noFill/>
          <a:ln w="28575" cmpd="sng">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10" grpId="0" bldLvl="0" animBg="1"/>
      <p:bldP spid="12" grpId="0" bldLvl="0" animBg="1"/>
      <p:bldP spid="14"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属性的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16/24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628015" y="1859915"/>
            <a:ext cx="8047990" cy="3641090"/>
          </a:xfrm>
          <a:prstGeom prst="rect">
            <a:avLst/>
          </a:prstGeom>
          <a:noFill/>
        </p:spPr>
        <p:txBody>
          <a:bodyPr wrap="square" rtlCol="0" anchor="t">
            <a:noAutofit/>
          </a:bodyPr>
          <a:p>
            <a:pPr marL="342900" indent="-342900">
              <a:lnSpc>
                <a:spcPct val="150000"/>
              </a:lnSpc>
              <a:buFont typeface="Arial" panose="020B0604020202020204" pitchFamily="34" charset="0"/>
              <a:buChar char="•"/>
            </a:pPr>
            <a:r>
              <a:rPr lang="zh-CN" altLang="en-US" sz="2400" b="1"/>
              <a:t>属性是对象负责维护的数据</a:t>
            </a:r>
            <a:endParaRPr lang="zh-CN" altLang="en-US" sz="2400" b="1"/>
          </a:p>
          <a:p>
            <a:pPr marL="342900" indent="-342900">
              <a:lnSpc>
                <a:spcPct val="150000"/>
              </a:lnSpc>
              <a:buFont typeface="Arial" panose="020B0604020202020204" pitchFamily="34" charset="0"/>
              <a:buChar char="•"/>
            </a:pPr>
            <a:r>
              <a:rPr lang="zh-CN" altLang="en-US" sz="2400" b="1"/>
              <a:t>识别类属性的步骤如下：</a:t>
            </a:r>
            <a:endParaRPr lang="zh-CN" altLang="en-US" sz="2400" b="1"/>
          </a:p>
          <a:p>
            <a:pPr marL="800100" lvl="1" indent="-342900">
              <a:lnSpc>
                <a:spcPct val="150000"/>
              </a:lnSpc>
              <a:buFont typeface="Arial" panose="020B0604020202020204" pitchFamily="34" charset="0"/>
              <a:buChar char="•"/>
            </a:pPr>
            <a:r>
              <a:rPr lang="zh-CN" altLang="en-US" sz="2400" b="1"/>
              <a:t>查找需求规格说明</a:t>
            </a:r>
            <a:r>
              <a:rPr lang="zh-CN" altLang="en-US" sz="2400" b="1"/>
              <a:t>中形容词和所有格短语，如“Y的X”。例如，和“客户</a:t>
            </a:r>
            <a:r>
              <a:rPr lang="zh-CN" altLang="en-US" sz="2400" b="1"/>
              <a:t>的姓名”</a:t>
            </a:r>
            <a:endParaRPr lang="zh-CN" altLang="en-US" sz="2400" b="1"/>
          </a:p>
          <a:p>
            <a:pPr marL="800100" lvl="1" indent="-342900">
              <a:lnSpc>
                <a:spcPct val="150000"/>
              </a:lnSpc>
              <a:buFont typeface="Arial" panose="020B0604020202020204" pitchFamily="34" charset="0"/>
              <a:buChar char="•"/>
            </a:pPr>
            <a:r>
              <a:rPr lang="zh-CN" altLang="en-US" sz="2400" b="1"/>
              <a:t>类之间的关联属性</a:t>
            </a:r>
            <a:endParaRPr lang="zh-CN" altLang="en-US" sz="2400" b="1"/>
          </a:p>
          <a:p>
            <a:pPr marL="800100" lvl="1" indent="-342900">
              <a:lnSpc>
                <a:spcPct val="150000"/>
              </a:lnSpc>
              <a:buFont typeface="Arial" panose="020B0604020202020204" pitchFamily="34" charset="0"/>
              <a:buChar char="•"/>
            </a:pPr>
            <a:r>
              <a:rPr lang="zh-CN" altLang="en-US" sz="2400" b="1"/>
              <a:t>利用您对应用领域的了解定义所需</a:t>
            </a:r>
            <a:r>
              <a:rPr lang="zh-CN" altLang="en-US" sz="2400" b="1"/>
              <a:t>的属性</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属性的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17/24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9" name="表格 8"/>
          <p:cNvGraphicFramePr/>
          <p:nvPr>
            <p:custDataLst>
              <p:tags r:id="rId7"/>
            </p:custDataLst>
          </p:nvPr>
        </p:nvGraphicFramePr>
        <p:xfrm>
          <a:off x="457200" y="1895983"/>
          <a:ext cx="1967865" cy="3937000"/>
        </p:xfrm>
        <a:graphic>
          <a:graphicData uri="http://schemas.openxmlformats.org/drawingml/2006/table">
            <a:tbl>
              <a:tblPr/>
              <a:tblGrid>
                <a:gridCol w="1967865"/>
              </a:tblGrid>
              <a:tr h="393700">
                <a:tc>
                  <a:txBody>
                    <a:bodyPr/>
                    <a:p>
                      <a:pPr indent="0">
                        <a:buNone/>
                      </a:pPr>
                      <a:r>
                        <a:rPr lang="zh-CN" altLang="en-US" sz="2400" b="1">
                          <a:solidFill>
                            <a:srgbClr val="000000"/>
                          </a:solidFill>
                          <a:latin typeface="Times New Roman" panose="02020603050405020304" charset="-122"/>
                        </a:rPr>
                        <a:t>类</a:t>
                      </a:r>
                      <a:endParaRPr lang="zh-CN" altLang="en-US" sz="2400" b="1">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Order</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ProductCatalog</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Jelly</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SaleItem</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MilkDrink</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Product</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PureMilk</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StoreSales</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Yogurt</a:t>
                      </a:r>
                      <a:endParaRPr lang="en-US" altLang="en-US" sz="2200" b="0">
                        <a:solidFill>
                          <a:srgbClr val="000000"/>
                        </a:solidFill>
                        <a:latin typeface="Times New Roman" panose="02020603050405020304" charset="-122"/>
                      </a:endParaRPr>
                    </a:p>
                  </a:txBody>
                  <a:tcPr marL="12700" marR="12700" marT="12700" vert="horz" anchor="ctr" anchorCtr="0">
                    <a:lnL>
                      <a:noFill/>
                    </a:lnL>
                    <a:lnR>
                      <a:noFill/>
                    </a:lnR>
                    <a:lnT cap="flat">
                      <a:noFill/>
                    </a:lnT>
                    <a:lnB cap="flat">
                      <a:noFill/>
                    </a:lnB>
                    <a:lnTlToBr>
                      <a:noFill/>
                    </a:lnTlToBr>
                    <a:lnBlToTr>
                      <a:noFill/>
                    </a:lnBlToTr>
                    <a:noFill/>
                  </a:tcPr>
                </a:tc>
              </a:tr>
            </a:tbl>
          </a:graphicData>
        </a:graphic>
      </p:graphicFrame>
      <p:sp>
        <p:nvSpPr>
          <p:cNvPr id="12" name="文本框 11"/>
          <p:cNvSpPr txBox="1"/>
          <p:nvPr/>
        </p:nvSpPr>
        <p:spPr>
          <a:xfrm>
            <a:off x="2575560" y="226568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saleItems</a:t>
            </a:r>
            <a:endParaRPr lang="en-US" altLang="en-US" sz="2200">
              <a:solidFill>
                <a:srgbClr val="000000"/>
              </a:solidFill>
              <a:latin typeface="Times New Roman" panose="02020603050405020304" charset="-122"/>
              <a:sym typeface="+mn-ea"/>
            </a:endParaRPr>
          </a:p>
        </p:txBody>
      </p:sp>
      <p:sp>
        <p:nvSpPr>
          <p:cNvPr id="14" name="文本框 13"/>
          <p:cNvSpPr txBox="1"/>
          <p:nvPr/>
        </p:nvSpPr>
        <p:spPr>
          <a:xfrm>
            <a:off x="2653030" y="1800860"/>
            <a:ext cx="457200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属性</a:t>
            </a:r>
            <a:endParaRPr lang="zh-CN" altLang="en-US" sz="2400" b="1">
              <a:solidFill>
                <a:srgbClr val="000000"/>
              </a:solidFill>
              <a:latin typeface="Times New Roman" panose="02020603050405020304" charset="-122"/>
              <a:sym typeface="+mn-ea"/>
            </a:endParaRPr>
          </a:p>
        </p:txBody>
      </p:sp>
      <p:sp>
        <p:nvSpPr>
          <p:cNvPr id="15" name="文本框 14"/>
          <p:cNvSpPr txBox="1"/>
          <p:nvPr/>
        </p:nvSpPr>
        <p:spPr>
          <a:xfrm>
            <a:off x="2569845" y="261874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products</a:t>
            </a:r>
            <a:endParaRPr lang="en-US" altLang="en-US" sz="2200">
              <a:solidFill>
                <a:srgbClr val="000000"/>
              </a:solidFill>
              <a:latin typeface="Times New Roman" panose="02020603050405020304" charset="-122"/>
              <a:sym typeface="+mn-ea"/>
            </a:endParaRPr>
          </a:p>
        </p:txBody>
      </p:sp>
      <p:sp>
        <p:nvSpPr>
          <p:cNvPr id="16" name="文本框 15"/>
          <p:cNvSpPr txBox="1"/>
          <p:nvPr/>
        </p:nvSpPr>
        <p:spPr>
          <a:xfrm>
            <a:off x="2575560" y="3048635"/>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flavor</a:t>
            </a:r>
            <a:endParaRPr lang="en-US" altLang="en-US" sz="2200">
              <a:solidFill>
                <a:srgbClr val="000000"/>
              </a:solidFill>
              <a:latin typeface="Times New Roman" panose="02020603050405020304" charset="-122"/>
              <a:sym typeface="+mn-ea"/>
            </a:endParaRPr>
          </a:p>
        </p:txBody>
      </p:sp>
      <p:sp>
        <p:nvSpPr>
          <p:cNvPr id="17" name="文本框 16"/>
          <p:cNvSpPr txBox="1"/>
          <p:nvPr/>
        </p:nvSpPr>
        <p:spPr>
          <a:xfrm>
            <a:off x="2603500" y="340614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product, quantity</a:t>
            </a:r>
            <a:endParaRPr lang="en-US" altLang="en-US" sz="2200">
              <a:solidFill>
                <a:srgbClr val="000000"/>
              </a:solidFill>
              <a:latin typeface="Times New Roman" panose="02020603050405020304" charset="-122"/>
              <a:sym typeface="+mn-ea"/>
            </a:endParaRPr>
          </a:p>
        </p:txBody>
      </p:sp>
      <p:sp>
        <p:nvSpPr>
          <p:cNvPr id="20" name="文本框 19"/>
          <p:cNvSpPr txBox="1"/>
          <p:nvPr/>
        </p:nvSpPr>
        <p:spPr>
          <a:xfrm>
            <a:off x="2611755" y="3819525"/>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flavor, sugar</a:t>
            </a:r>
            <a:endParaRPr lang="en-US" altLang="en-US" sz="2200">
              <a:solidFill>
                <a:srgbClr val="000000"/>
              </a:solidFill>
              <a:latin typeface="Times New Roman" panose="02020603050405020304" charset="-122"/>
              <a:sym typeface="+mn-ea"/>
            </a:endParaRPr>
          </a:p>
        </p:txBody>
      </p:sp>
      <p:sp>
        <p:nvSpPr>
          <p:cNvPr id="21" name="文本框 20"/>
          <p:cNvSpPr txBox="1"/>
          <p:nvPr/>
        </p:nvSpPr>
        <p:spPr>
          <a:xfrm>
            <a:off x="2611755" y="4220210"/>
            <a:ext cx="6477635"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code, description, price, productionDate,shelfLife</a:t>
            </a:r>
            <a:endParaRPr lang="en-US" altLang="en-US" sz="2200">
              <a:solidFill>
                <a:srgbClr val="000000"/>
              </a:solidFill>
              <a:latin typeface="Times New Roman" panose="02020603050405020304" charset="-122"/>
              <a:sym typeface="+mn-ea"/>
            </a:endParaRPr>
          </a:p>
        </p:txBody>
      </p:sp>
      <p:sp>
        <p:nvSpPr>
          <p:cNvPr id="22" name="文本框 21"/>
          <p:cNvSpPr txBox="1"/>
          <p:nvPr/>
        </p:nvSpPr>
        <p:spPr>
          <a:xfrm>
            <a:off x="2620010" y="4639945"/>
            <a:ext cx="5166995"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countryOfOrigin, butterfat, protein</a:t>
            </a:r>
            <a:endParaRPr lang="en-US" altLang="en-US" sz="2200">
              <a:solidFill>
                <a:srgbClr val="000000"/>
              </a:solidFill>
              <a:latin typeface="Times New Roman" panose="02020603050405020304" charset="-122"/>
              <a:sym typeface="+mn-ea"/>
            </a:endParaRPr>
          </a:p>
        </p:txBody>
      </p:sp>
      <p:sp>
        <p:nvSpPr>
          <p:cNvPr id="23" name="文本框 22"/>
          <p:cNvSpPr txBox="1"/>
          <p:nvPr/>
        </p:nvSpPr>
        <p:spPr>
          <a:xfrm>
            <a:off x="2628900" y="5015865"/>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orders</a:t>
            </a:r>
            <a:endParaRPr lang="en-US" altLang="en-US" sz="2200">
              <a:solidFill>
                <a:srgbClr val="000000"/>
              </a:solidFill>
              <a:latin typeface="Times New Roman" panose="02020603050405020304" charset="-122"/>
              <a:sym typeface="+mn-ea"/>
            </a:endParaRPr>
          </a:p>
        </p:txBody>
      </p:sp>
      <p:sp>
        <p:nvSpPr>
          <p:cNvPr id="24" name="文本框 23"/>
          <p:cNvSpPr txBox="1"/>
          <p:nvPr/>
        </p:nvSpPr>
        <p:spPr>
          <a:xfrm>
            <a:off x="2654935" y="536448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type, diluteConcentration</a:t>
            </a:r>
            <a:endParaRPr lang="en-US" altLang="en-US" sz="2200">
              <a:solidFill>
                <a:srgbClr val="000000"/>
              </a:solidFill>
              <a:latin typeface="Times New Roman" panose="020206030504050203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0" grpId="0"/>
      <p:bldP spid="21" grpId="0"/>
      <p:bldP spid="22" grpId="0"/>
      <p:bldP spid="23" grpId="0"/>
      <p:bldP spid="2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方法的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18/24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97535" y="1616075"/>
            <a:ext cx="8047990" cy="4652010"/>
          </a:xfrm>
          <a:prstGeom prst="rect">
            <a:avLst/>
          </a:prstGeom>
          <a:noFill/>
        </p:spPr>
        <p:txBody>
          <a:bodyPr wrap="square" rtlCol="0" anchor="t">
            <a:noAutofit/>
          </a:bodyPr>
          <a:p>
            <a:pPr marL="342900" indent="-342900">
              <a:lnSpc>
                <a:spcPct val="150000"/>
              </a:lnSpc>
              <a:buFont typeface="Arial" panose="020B0604020202020204" pitchFamily="34" charset="0"/>
              <a:buChar char="•"/>
            </a:pPr>
            <a:r>
              <a:rPr lang="zh-CN" altLang="en-US" sz="2400" b="1"/>
              <a:t>方法描述对象负责提供的操作</a:t>
            </a:r>
            <a:r>
              <a:rPr lang="zh-CN" altLang="en-US" sz="2400" b="1"/>
              <a:t>，识别类方法的步骤如下：</a:t>
            </a:r>
            <a:endParaRPr lang="zh-CN" altLang="en-US" sz="2400" b="1"/>
          </a:p>
          <a:p>
            <a:pPr marL="800100" lvl="1" indent="-342900">
              <a:lnSpc>
                <a:spcPct val="150000"/>
              </a:lnSpc>
              <a:buFont typeface="Arial" panose="020B0604020202020204" pitchFamily="34" charset="0"/>
              <a:buChar char="•"/>
            </a:pPr>
            <a:r>
              <a:rPr lang="zh-CN" altLang="en-US" sz="2200" b="1">
                <a:latin typeface="等线" panose="02010600030101010101" charset="-122"/>
                <a:ea typeface="等线" panose="02010600030101010101" charset="-122"/>
                <a:cs typeface="等线" panose="02010600030101010101" charset="-122"/>
              </a:rPr>
              <a:t>查找需求规格说明中的</a:t>
            </a:r>
            <a:r>
              <a:rPr lang="zh-CN" altLang="en-US" sz="2200" b="1">
                <a:solidFill>
                  <a:schemeClr val="accent1"/>
                </a:solidFill>
                <a:latin typeface="等线" panose="02010600030101010101" charset="-122"/>
                <a:ea typeface="等线" panose="02010600030101010101" charset="-122"/>
                <a:cs typeface="等线" panose="02010600030101010101" charset="-122"/>
              </a:rPr>
              <a:t>动词</a:t>
            </a:r>
            <a:r>
              <a:rPr lang="zh-CN" altLang="en-US" sz="2200" b="1">
                <a:latin typeface="等线" panose="02010600030101010101" charset="-122"/>
                <a:ea typeface="等线" panose="02010600030101010101" charset="-122"/>
                <a:cs typeface="等线" panose="02010600030101010101" charset="-122"/>
              </a:rPr>
              <a:t>，例如，“</a:t>
            </a:r>
            <a:r>
              <a:rPr lang="zh-CN" altLang="en-US" sz="2200" b="1">
                <a:solidFill>
                  <a:schemeClr val="accent1"/>
                </a:solidFill>
                <a:latin typeface="等线" panose="02010600030101010101" charset="-122"/>
                <a:ea typeface="等线" panose="02010600030101010101" charset="-122"/>
                <a:cs typeface="等线" panose="02010600030101010101" charset="-122"/>
              </a:rPr>
              <a:t>客户将钱存入帐户</a:t>
            </a:r>
            <a:r>
              <a:rPr lang="zh-CN" altLang="en-US" sz="2200" b="1">
                <a:latin typeface="等线" panose="02010600030101010101" charset="-122"/>
                <a:ea typeface="等线" panose="02010600030101010101" charset="-122"/>
                <a:cs typeface="等线" panose="02010600030101010101" charset="-122"/>
              </a:rPr>
              <a:t>”表示类account应该定义一个方法deposit。</a:t>
            </a:r>
            <a:endParaRPr lang="zh-CN" altLang="en-US" sz="2200" b="1">
              <a:latin typeface="等线" panose="02010600030101010101" charset="-122"/>
              <a:ea typeface="等线" panose="02010600030101010101" charset="-122"/>
              <a:cs typeface="等线" panose="02010600030101010101" charset="-122"/>
            </a:endParaRPr>
          </a:p>
          <a:p>
            <a:pPr marL="800100" lvl="1" indent="-342900">
              <a:lnSpc>
                <a:spcPct val="150000"/>
              </a:lnSpc>
              <a:buFont typeface="Arial" panose="020B0604020202020204" pitchFamily="34" charset="0"/>
              <a:buChar char="•"/>
            </a:pPr>
            <a:r>
              <a:rPr lang="zh-CN" altLang="en-US" sz="2200" b="1">
                <a:latin typeface="等线" panose="02010600030101010101" charset="-122"/>
                <a:ea typeface="等线" panose="02010600030101010101" charset="-122"/>
                <a:cs typeface="等线" panose="02010600030101010101" charset="-122"/>
                <a:sym typeface="+mn-ea"/>
              </a:rPr>
              <a:t>一般情况：</a:t>
            </a:r>
            <a:endParaRPr lang="zh-CN" altLang="en-US" sz="2200" b="1">
              <a:latin typeface="等线" panose="02010600030101010101" charset="-122"/>
              <a:ea typeface="等线" panose="02010600030101010101" charset="-122"/>
              <a:cs typeface="等线" panose="02010600030101010101" charset="-122"/>
              <a:sym typeface="+mn-ea"/>
            </a:endParaRPr>
          </a:p>
          <a:p>
            <a:pPr marL="1257300" lvl="2" indent="-342900">
              <a:lnSpc>
                <a:spcPct val="150000"/>
              </a:lnSpc>
              <a:buFont typeface="Arial" panose="020B0604020202020204" pitchFamily="34" charset="0"/>
              <a:buChar char="•"/>
            </a:pPr>
            <a:r>
              <a:rPr lang="zh-CN" altLang="en-US" sz="2200" b="1">
                <a:solidFill>
                  <a:schemeClr val="accent1"/>
                </a:solidFill>
                <a:latin typeface="等线" panose="02010600030101010101" charset="-122"/>
                <a:ea typeface="等线" panose="02010600030101010101" charset="-122"/>
                <a:cs typeface="等线" panose="02010600030101010101" charset="-122"/>
                <a:sym typeface="+mn-ea"/>
              </a:rPr>
              <a:t>设置</a:t>
            </a:r>
            <a:r>
              <a:rPr lang="en-US" altLang="zh-CN" sz="2200" b="1">
                <a:solidFill>
                  <a:schemeClr val="accent1"/>
                </a:solidFill>
                <a:latin typeface="等线" panose="02010600030101010101" charset="-122"/>
                <a:ea typeface="等线" panose="02010600030101010101" charset="-122"/>
                <a:cs typeface="等线" panose="02010600030101010101" charset="-122"/>
                <a:sym typeface="+mn-ea"/>
              </a:rPr>
              <a:t>/</a:t>
            </a:r>
            <a:r>
              <a:rPr lang="zh-CN" altLang="en-US" sz="2200" b="1">
                <a:solidFill>
                  <a:schemeClr val="accent1"/>
                </a:solidFill>
                <a:latin typeface="等线" panose="02010600030101010101" charset="-122"/>
                <a:ea typeface="等线" panose="02010600030101010101" charset="-122"/>
                <a:cs typeface="等线" panose="02010600030101010101" charset="-122"/>
                <a:sym typeface="+mn-ea"/>
              </a:rPr>
              <a:t>获取</a:t>
            </a:r>
            <a:r>
              <a:rPr lang="zh-CN" altLang="en-US" sz="2200" b="1">
                <a:solidFill>
                  <a:schemeClr val="accent1"/>
                </a:solidFill>
                <a:latin typeface="等线" panose="02010600030101010101" charset="-122"/>
                <a:ea typeface="等线" panose="02010600030101010101" charset="-122"/>
                <a:cs typeface="等线" panose="02010600030101010101" charset="-122"/>
                <a:sym typeface="+mn-ea"/>
              </a:rPr>
              <a:t>属性值的方法</a:t>
            </a:r>
            <a:endParaRPr lang="zh-CN" altLang="en-US" sz="2200" b="1">
              <a:solidFill>
                <a:schemeClr val="accent1"/>
              </a:solidFill>
              <a:latin typeface="等线" panose="02010600030101010101" charset="-122"/>
              <a:ea typeface="等线" panose="02010600030101010101" charset="-122"/>
              <a:cs typeface="等线" panose="02010600030101010101" charset="-122"/>
              <a:sym typeface="+mn-ea"/>
            </a:endParaRPr>
          </a:p>
          <a:p>
            <a:pPr marL="1257300" lvl="2" indent="-342900">
              <a:lnSpc>
                <a:spcPct val="150000"/>
              </a:lnSpc>
              <a:buFont typeface="Arial" panose="020B0604020202020204" pitchFamily="34" charset="0"/>
              <a:buChar char="•"/>
            </a:pPr>
            <a:r>
              <a:rPr lang="zh-CN" altLang="en-US" sz="2200" b="1">
                <a:latin typeface="等线" panose="02010600030101010101" charset="-122"/>
                <a:ea typeface="等线" panose="02010600030101010101" charset="-122"/>
                <a:cs typeface="等线" panose="02010600030101010101" charset="-122"/>
                <a:sym typeface="+mn-ea"/>
              </a:rPr>
              <a:t>如果对象持有集合，该对象应</a:t>
            </a:r>
            <a:r>
              <a:rPr lang="zh-CN" altLang="en-US" sz="2200" b="1">
                <a:solidFill>
                  <a:schemeClr val="accent1"/>
                </a:solidFill>
                <a:latin typeface="等线" panose="02010600030101010101" charset="-122"/>
                <a:ea typeface="等线" panose="02010600030101010101" charset="-122"/>
                <a:cs typeface="等线" panose="02010600030101010101" charset="-122"/>
                <a:sym typeface="+mn-ea"/>
              </a:rPr>
              <a:t>包括添加、删除和访问集合元素的方法</a:t>
            </a:r>
            <a:endParaRPr lang="zh-CN" altLang="en-US" sz="2200" b="1">
              <a:latin typeface="等线" panose="02010600030101010101" charset="-122"/>
              <a:ea typeface="等线" panose="02010600030101010101" charset="-122"/>
              <a:cs typeface="等线" panose="02010600030101010101" charset="-122"/>
            </a:endParaRPr>
          </a:p>
          <a:p>
            <a:pPr marL="800100" lvl="1" indent="-342900">
              <a:lnSpc>
                <a:spcPct val="150000"/>
              </a:lnSpc>
              <a:buFont typeface="Arial" panose="020B0604020202020204" pitchFamily="34" charset="0"/>
              <a:buChar char="•"/>
            </a:pPr>
            <a:r>
              <a:rPr lang="zh-CN" altLang="en-US" sz="2200" b="1"/>
              <a:t>利用您对应用领域的了解来定义方法</a:t>
            </a:r>
            <a:r>
              <a:rPr lang="zh-CN" altLang="en-US" sz="2200" b="1">
                <a:sym typeface="+mn-ea"/>
              </a:rPr>
              <a:t>：输出或显示结果、使用对象的属性值完成计算等</a:t>
            </a:r>
            <a:endParaRPr lang="zh-CN" altLang="en-US" sz="2200" b="1">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方法的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19/24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9" name="表格 8"/>
          <p:cNvGraphicFramePr/>
          <p:nvPr>
            <p:custDataLst>
              <p:tags r:id="rId7"/>
            </p:custDataLst>
          </p:nvPr>
        </p:nvGraphicFramePr>
        <p:xfrm>
          <a:off x="457200" y="1895983"/>
          <a:ext cx="1967865" cy="3937000"/>
        </p:xfrm>
        <a:graphic>
          <a:graphicData uri="http://schemas.openxmlformats.org/drawingml/2006/table">
            <a:tbl>
              <a:tblPr/>
              <a:tblGrid>
                <a:gridCol w="1967865"/>
              </a:tblGrid>
              <a:tr h="393700">
                <a:tc>
                  <a:txBody>
                    <a:bodyPr/>
                    <a:p>
                      <a:pPr indent="0">
                        <a:buNone/>
                      </a:pPr>
                      <a:r>
                        <a:rPr lang="zh-CN" altLang="en-US" sz="2400" b="1">
                          <a:solidFill>
                            <a:srgbClr val="000000"/>
                          </a:solidFill>
                          <a:latin typeface="Times New Roman" panose="02020603050405020304" charset="-122"/>
                        </a:rPr>
                        <a:t>类</a:t>
                      </a:r>
                      <a:endParaRPr lang="zh-CN" altLang="en-US" sz="2400" b="1">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Order</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700">
                <a:tc>
                  <a:txBody>
                    <a:bodyPr/>
                    <a:p>
                      <a:pPr indent="0">
                        <a:buNone/>
                      </a:pPr>
                      <a:r>
                        <a:rPr lang="en-US" sz="2200" b="0">
                          <a:solidFill>
                            <a:srgbClr val="000000"/>
                          </a:solidFill>
                          <a:latin typeface="Times New Roman" panose="02020603050405020304" charset="-122"/>
                        </a:rPr>
                        <a:t>ProductCatalog</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bl>
          </a:graphicData>
        </a:graphic>
      </p:graphicFrame>
      <p:sp>
        <p:nvSpPr>
          <p:cNvPr id="12" name="文本框 11"/>
          <p:cNvSpPr txBox="1"/>
          <p:nvPr/>
        </p:nvSpPr>
        <p:spPr>
          <a:xfrm>
            <a:off x="2575560" y="226568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saleItems</a:t>
            </a:r>
            <a:endParaRPr lang="en-US" altLang="en-US" sz="2200">
              <a:solidFill>
                <a:srgbClr val="000000"/>
              </a:solidFill>
              <a:latin typeface="Times New Roman" panose="02020603050405020304" charset="-122"/>
              <a:sym typeface="+mn-ea"/>
            </a:endParaRPr>
          </a:p>
        </p:txBody>
      </p:sp>
      <p:sp>
        <p:nvSpPr>
          <p:cNvPr id="14" name="文本框 13"/>
          <p:cNvSpPr txBox="1"/>
          <p:nvPr/>
        </p:nvSpPr>
        <p:spPr>
          <a:xfrm>
            <a:off x="2653030" y="1800860"/>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属性</a:t>
            </a:r>
            <a:endParaRPr lang="zh-CN" altLang="en-US" sz="2400" b="1">
              <a:solidFill>
                <a:srgbClr val="000000"/>
              </a:solidFill>
              <a:latin typeface="Times New Roman" panose="02020603050405020304" charset="-122"/>
              <a:sym typeface="+mn-ea"/>
            </a:endParaRPr>
          </a:p>
        </p:txBody>
      </p:sp>
      <p:sp>
        <p:nvSpPr>
          <p:cNvPr id="15" name="文本框 14"/>
          <p:cNvSpPr txBox="1"/>
          <p:nvPr/>
        </p:nvSpPr>
        <p:spPr>
          <a:xfrm>
            <a:off x="2508885" y="5659755"/>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products</a:t>
            </a:r>
            <a:endParaRPr lang="en-US" altLang="en-US" sz="2200">
              <a:solidFill>
                <a:srgbClr val="000000"/>
              </a:solidFill>
              <a:latin typeface="Times New Roman" panose="02020603050405020304" charset="-122"/>
              <a:sym typeface="+mn-ea"/>
            </a:endParaRPr>
          </a:p>
        </p:txBody>
      </p:sp>
      <p:graphicFrame>
        <p:nvGraphicFramePr>
          <p:cNvPr id="7" name="表格 6"/>
          <p:cNvGraphicFramePr/>
          <p:nvPr/>
        </p:nvGraphicFramePr>
        <p:xfrm>
          <a:off x="4293235" y="2261235"/>
          <a:ext cx="4026535" cy="2057400"/>
        </p:xfrm>
        <a:graphic>
          <a:graphicData uri="http://schemas.openxmlformats.org/drawingml/2006/table">
            <a:tbl>
              <a:tblPr/>
              <a:tblGrid>
                <a:gridCol w="4026535"/>
              </a:tblGrid>
              <a:tr h="2057400">
                <a:tc>
                  <a:txBody>
                    <a:bodyPr/>
                    <a:p>
                      <a:pPr indent="0">
                        <a:buNone/>
                      </a:pPr>
                      <a:r>
                        <a:rPr lang="en-US" sz="2000" b="0">
                          <a:solidFill>
                            <a:srgbClr val="000000"/>
                          </a:solidFill>
                          <a:latin typeface="Times New Roman" panose="02020603050405020304" charset="-122"/>
                        </a:rPr>
                        <a:t>addSaleItem(saleItem:SaleItem)                                                     removeSaleItem(saleItem:SaleItem) getSaleItem(product:Product):SaleItem  getSaleItem(index:int):SaleItem                                                                                         getNumberOfItems():int  getTocalCost():double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8" name="表格 7"/>
          <p:cNvGraphicFramePr/>
          <p:nvPr/>
        </p:nvGraphicFramePr>
        <p:xfrm>
          <a:off x="4293235" y="4563745"/>
          <a:ext cx="3780155" cy="1676400"/>
        </p:xfrm>
        <a:graphic>
          <a:graphicData uri="http://schemas.openxmlformats.org/drawingml/2006/table">
            <a:tbl>
              <a:tblPr/>
              <a:tblGrid>
                <a:gridCol w="3780155"/>
              </a:tblGrid>
              <a:tr h="1676400">
                <a:tc>
                  <a:txBody>
                    <a:bodyPr/>
                    <a:p>
                      <a:pPr indent="0">
                        <a:buNone/>
                      </a:pPr>
                      <a:r>
                        <a:rPr lang="en-US" sz="2000" b="0">
                          <a:solidFill>
                            <a:srgbClr val="000000"/>
                          </a:solidFill>
                          <a:latin typeface="Times New Roman" panose="02020603050405020304" charset="-122"/>
                        </a:rPr>
                        <a:t>addProduct(product:Product)                                                     removeProduct(product:Product)                                                       getProduct(code:String):Product                                                                                                                                                                          getProduct(index:int):Product                                  getNumberOfProducts():int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
        <p:nvSpPr>
          <p:cNvPr id="10" name="文本框 9"/>
          <p:cNvSpPr txBox="1"/>
          <p:nvPr>
            <p:custDataLst>
              <p:tags r:id="rId8"/>
            </p:custDataLst>
          </p:nvPr>
        </p:nvSpPr>
        <p:spPr>
          <a:xfrm>
            <a:off x="5530215" y="1790065"/>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方法</a:t>
            </a:r>
            <a:endParaRPr lang="zh-CN" altLang="en-US" sz="2400" b="1">
              <a:solidFill>
                <a:srgbClr val="000000"/>
              </a:solidFill>
              <a:latin typeface="Times New Roman" panose="020206030504050203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方法的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20</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nvSpPr>
        <p:spPr>
          <a:xfrm>
            <a:off x="2653030" y="1800860"/>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属性</a:t>
            </a:r>
            <a:endParaRPr lang="zh-CN" altLang="en-US" sz="2400" b="1">
              <a:solidFill>
                <a:srgbClr val="000000"/>
              </a:solidFill>
              <a:latin typeface="Times New Roman" panose="02020603050405020304" charset="-122"/>
              <a:sym typeface="+mn-ea"/>
            </a:endParaRPr>
          </a:p>
        </p:txBody>
      </p:sp>
      <p:sp>
        <p:nvSpPr>
          <p:cNvPr id="10" name="文本框 9"/>
          <p:cNvSpPr txBox="1"/>
          <p:nvPr>
            <p:custDataLst>
              <p:tags r:id="rId7"/>
            </p:custDataLst>
          </p:nvPr>
        </p:nvSpPr>
        <p:spPr>
          <a:xfrm>
            <a:off x="6417310" y="1789430"/>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方法</a:t>
            </a:r>
            <a:endParaRPr lang="zh-CN" altLang="en-US" sz="2400" b="1">
              <a:solidFill>
                <a:srgbClr val="000000"/>
              </a:solidFill>
              <a:latin typeface="Times New Roman" panose="02020603050405020304" charset="-122"/>
              <a:sym typeface="+mn-ea"/>
            </a:endParaRPr>
          </a:p>
        </p:txBody>
      </p:sp>
      <p:graphicFrame>
        <p:nvGraphicFramePr>
          <p:cNvPr id="16" name="表格 15"/>
          <p:cNvGraphicFramePr/>
          <p:nvPr>
            <p:custDataLst>
              <p:tags r:id="rId8"/>
            </p:custDataLst>
          </p:nvPr>
        </p:nvGraphicFramePr>
        <p:xfrm>
          <a:off x="457200" y="1895983"/>
          <a:ext cx="1967865" cy="3937000"/>
        </p:xfrm>
        <a:graphic>
          <a:graphicData uri="http://schemas.openxmlformats.org/drawingml/2006/table">
            <a:tbl>
              <a:tblPr/>
              <a:tblGrid>
                <a:gridCol w="1967865"/>
              </a:tblGrid>
              <a:tr h="393700">
                <a:tc>
                  <a:txBody>
                    <a:bodyPr/>
                    <a:p>
                      <a:pPr indent="0">
                        <a:buNone/>
                      </a:pPr>
                      <a:r>
                        <a:rPr lang="zh-CN" altLang="en-US" sz="2400" b="1">
                          <a:solidFill>
                            <a:srgbClr val="000000"/>
                          </a:solidFill>
                          <a:latin typeface="Times New Roman" panose="02020603050405020304" charset="-122"/>
                        </a:rPr>
                        <a:t>类</a:t>
                      </a:r>
                      <a:endParaRPr lang="zh-CN" altLang="en-US" sz="2400" b="1">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Jelly</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SaleItem</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MilkDrink</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Product</a:t>
                      </a: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bl>
          </a:graphicData>
        </a:graphic>
      </p:graphicFrame>
      <p:sp>
        <p:nvSpPr>
          <p:cNvPr id="7" name="文本框 6"/>
          <p:cNvSpPr txBox="1"/>
          <p:nvPr>
            <p:custDataLst>
              <p:tags r:id="rId9"/>
            </p:custDataLst>
          </p:nvPr>
        </p:nvSpPr>
        <p:spPr>
          <a:xfrm>
            <a:off x="2524125" y="2267585"/>
            <a:ext cx="2654935"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flavor</a:t>
            </a:r>
            <a:endParaRPr lang="en-US" altLang="en-US" sz="2200">
              <a:solidFill>
                <a:srgbClr val="000000"/>
              </a:solidFill>
              <a:latin typeface="Times New Roman" panose="02020603050405020304" charset="-122"/>
              <a:sym typeface="+mn-ea"/>
            </a:endParaRPr>
          </a:p>
        </p:txBody>
      </p:sp>
      <p:sp>
        <p:nvSpPr>
          <p:cNvPr id="17" name="文本框 16"/>
          <p:cNvSpPr txBox="1"/>
          <p:nvPr>
            <p:custDataLst>
              <p:tags r:id="rId10"/>
            </p:custDataLst>
          </p:nvPr>
        </p:nvSpPr>
        <p:spPr>
          <a:xfrm>
            <a:off x="2480310" y="3337560"/>
            <a:ext cx="216535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product, quantity</a:t>
            </a:r>
            <a:endParaRPr lang="en-US" altLang="en-US" sz="2200">
              <a:solidFill>
                <a:srgbClr val="000000"/>
              </a:solidFill>
              <a:latin typeface="Times New Roman" panose="02020603050405020304" charset="-122"/>
              <a:sym typeface="+mn-ea"/>
            </a:endParaRPr>
          </a:p>
        </p:txBody>
      </p:sp>
      <p:sp>
        <p:nvSpPr>
          <p:cNvPr id="20" name="文本框 19"/>
          <p:cNvSpPr txBox="1"/>
          <p:nvPr>
            <p:custDataLst>
              <p:tags r:id="rId11"/>
            </p:custDataLst>
          </p:nvPr>
        </p:nvSpPr>
        <p:spPr>
          <a:xfrm>
            <a:off x="2480310" y="4126230"/>
            <a:ext cx="457200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flavor, sugar</a:t>
            </a:r>
            <a:endParaRPr lang="en-US" altLang="en-US" sz="2200">
              <a:solidFill>
                <a:srgbClr val="000000"/>
              </a:solidFill>
              <a:latin typeface="Times New Roman" panose="02020603050405020304" charset="-122"/>
              <a:sym typeface="+mn-ea"/>
            </a:endParaRPr>
          </a:p>
        </p:txBody>
      </p:sp>
      <p:sp>
        <p:nvSpPr>
          <p:cNvPr id="21" name="文本框 20"/>
          <p:cNvSpPr txBox="1"/>
          <p:nvPr>
            <p:custDataLst>
              <p:tags r:id="rId12"/>
            </p:custDataLst>
          </p:nvPr>
        </p:nvSpPr>
        <p:spPr>
          <a:xfrm>
            <a:off x="2524125" y="4968875"/>
            <a:ext cx="3069590" cy="768350"/>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code, description, price, productionDate,shelfLife</a:t>
            </a:r>
            <a:endParaRPr lang="en-US" altLang="en-US" sz="2200">
              <a:solidFill>
                <a:srgbClr val="000000"/>
              </a:solidFill>
              <a:latin typeface="Times New Roman" panose="02020603050405020304" charset="-122"/>
              <a:sym typeface="+mn-ea"/>
            </a:endParaRPr>
          </a:p>
        </p:txBody>
      </p:sp>
      <p:graphicFrame>
        <p:nvGraphicFramePr>
          <p:cNvPr id="8" name="表格 7"/>
          <p:cNvGraphicFramePr/>
          <p:nvPr/>
        </p:nvGraphicFramePr>
        <p:xfrm>
          <a:off x="5962015" y="2249805"/>
          <a:ext cx="2313305" cy="426085"/>
        </p:xfrm>
        <a:graphic>
          <a:graphicData uri="http://schemas.openxmlformats.org/drawingml/2006/table">
            <a:tbl>
              <a:tblPr/>
              <a:tblGrid>
                <a:gridCol w="2313305"/>
              </a:tblGrid>
              <a:tr h="426085">
                <a:tc>
                  <a:txBody>
                    <a:bodyPr/>
                    <a:p>
                      <a:pPr indent="0">
                        <a:buNone/>
                      </a:pPr>
                      <a:r>
                        <a:rPr lang="en-US" sz="2000" b="0">
                          <a:solidFill>
                            <a:srgbClr val="000000"/>
                          </a:solidFill>
                          <a:latin typeface="Times New Roman" panose="02020603050405020304" charset="-122"/>
                        </a:rPr>
                        <a:t>getFlavor():String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22" name="表格 21"/>
          <p:cNvGraphicFramePr/>
          <p:nvPr/>
        </p:nvGraphicFramePr>
        <p:xfrm>
          <a:off x="5962015" y="3216275"/>
          <a:ext cx="2313305" cy="426085"/>
        </p:xfrm>
        <a:graphic>
          <a:graphicData uri="http://schemas.openxmlformats.org/drawingml/2006/table">
            <a:tbl>
              <a:tblPr/>
              <a:tblGrid>
                <a:gridCol w="2313305"/>
              </a:tblGrid>
              <a:tr h="426085">
                <a:tc>
                  <a:txBody>
                    <a:bodyPr/>
                    <a:p>
                      <a:pPr indent="0">
                        <a:buNone/>
                      </a:pPr>
                      <a:r>
                        <a:rPr lang="en-US" sz="2000" b="0">
                          <a:solidFill>
                            <a:srgbClr val="000000"/>
                          </a:solidFill>
                          <a:latin typeface="Times New Roman" panose="02020603050405020304" charset="-122"/>
                        </a:rPr>
                        <a:t>2</a:t>
                      </a:r>
                      <a:r>
                        <a:rPr lang="zh-CN" altLang="en-US" sz="2000" b="0">
                          <a:solidFill>
                            <a:srgbClr val="000000"/>
                          </a:solidFill>
                          <a:latin typeface="Times New Roman" panose="02020603050405020304" charset="-122"/>
                        </a:rPr>
                        <a:t>个</a:t>
                      </a:r>
                      <a:r>
                        <a:rPr lang="en-US" altLang="zh-CN" sz="2000" b="0">
                          <a:solidFill>
                            <a:srgbClr val="000000"/>
                          </a:solidFill>
                          <a:latin typeface="Times New Roman" panose="02020603050405020304" charset="-122"/>
                        </a:rPr>
                        <a:t>get</a:t>
                      </a:r>
                      <a:r>
                        <a:rPr lang="zh-CN" altLang="en-US" sz="2000" b="0">
                          <a:solidFill>
                            <a:srgbClr val="000000"/>
                          </a:solidFill>
                          <a:latin typeface="Times New Roman" panose="02020603050405020304" charset="-122"/>
                        </a:rPr>
                        <a:t>方法</a:t>
                      </a:r>
                      <a:r>
                        <a:rPr lang="en-US" sz="2000" b="0">
                          <a:solidFill>
                            <a:srgbClr val="000000"/>
                          </a:solidFill>
                          <a:latin typeface="Times New Roman" panose="02020603050405020304" charset="-122"/>
                        </a:rPr>
                        <a:t>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23" name="表格 22"/>
          <p:cNvGraphicFramePr/>
          <p:nvPr/>
        </p:nvGraphicFramePr>
        <p:xfrm>
          <a:off x="5962015" y="4039870"/>
          <a:ext cx="2313305" cy="426085"/>
        </p:xfrm>
        <a:graphic>
          <a:graphicData uri="http://schemas.openxmlformats.org/drawingml/2006/table">
            <a:tbl>
              <a:tblPr/>
              <a:tblGrid>
                <a:gridCol w="2313305"/>
              </a:tblGrid>
              <a:tr h="426085">
                <a:tc>
                  <a:txBody>
                    <a:bodyPr/>
                    <a:p>
                      <a:pPr indent="0">
                        <a:buNone/>
                      </a:pPr>
                      <a:r>
                        <a:rPr lang="en-US" sz="2000" b="0">
                          <a:solidFill>
                            <a:srgbClr val="000000"/>
                          </a:solidFill>
                          <a:latin typeface="Times New Roman" panose="02020603050405020304" charset="-122"/>
                        </a:rPr>
                        <a:t>2</a:t>
                      </a:r>
                      <a:r>
                        <a:rPr lang="zh-CN" altLang="en-US" sz="2000" b="0">
                          <a:solidFill>
                            <a:srgbClr val="000000"/>
                          </a:solidFill>
                          <a:latin typeface="Times New Roman" panose="02020603050405020304" charset="-122"/>
                        </a:rPr>
                        <a:t>个</a:t>
                      </a:r>
                      <a:r>
                        <a:rPr lang="en-US" altLang="zh-CN" sz="2000" b="0">
                          <a:solidFill>
                            <a:srgbClr val="000000"/>
                          </a:solidFill>
                          <a:latin typeface="Times New Roman" panose="02020603050405020304" charset="-122"/>
                        </a:rPr>
                        <a:t>get</a:t>
                      </a:r>
                      <a:r>
                        <a:rPr lang="zh-CN" altLang="en-US" sz="2000" b="0">
                          <a:solidFill>
                            <a:srgbClr val="000000"/>
                          </a:solidFill>
                          <a:latin typeface="Times New Roman" panose="02020603050405020304" charset="-122"/>
                        </a:rPr>
                        <a:t>方法</a:t>
                      </a:r>
                      <a:r>
                        <a:rPr lang="en-US" sz="2000" b="0">
                          <a:solidFill>
                            <a:srgbClr val="000000"/>
                          </a:solidFill>
                          <a:latin typeface="Times New Roman" panose="02020603050405020304" charset="-122"/>
                        </a:rPr>
                        <a:t>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24" name="表格 23"/>
          <p:cNvGraphicFramePr/>
          <p:nvPr/>
        </p:nvGraphicFramePr>
        <p:xfrm>
          <a:off x="5962015" y="4968875"/>
          <a:ext cx="2313305" cy="426085"/>
        </p:xfrm>
        <a:graphic>
          <a:graphicData uri="http://schemas.openxmlformats.org/drawingml/2006/table">
            <a:tbl>
              <a:tblPr/>
              <a:tblGrid>
                <a:gridCol w="2313305"/>
              </a:tblGrid>
              <a:tr h="426085">
                <a:tc>
                  <a:txBody>
                    <a:bodyPr/>
                    <a:p>
                      <a:pPr indent="0">
                        <a:buNone/>
                      </a:pPr>
                      <a:r>
                        <a:rPr lang="en-US" sz="2000" b="0">
                          <a:solidFill>
                            <a:srgbClr val="000000"/>
                          </a:solidFill>
                          <a:latin typeface="Times New Roman" panose="02020603050405020304" charset="-122"/>
                        </a:rPr>
                        <a:t>5</a:t>
                      </a:r>
                      <a:r>
                        <a:rPr lang="zh-CN" altLang="en-US" sz="2000" b="0">
                          <a:solidFill>
                            <a:srgbClr val="000000"/>
                          </a:solidFill>
                          <a:latin typeface="Times New Roman" panose="02020603050405020304" charset="-122"/>
                        </a:rPr>
                        <a:t>个</a:t>
                      </a:r>
                      <a:r>
                        <a:rPr lang="en-US" altLang="zh-CN" sz="2000" b="0">
                          <a:solidFill>
                            <a:srgbClr val="000000"/>
                          </a:solidFill>
                          <a:latin typeface="Times New Roman" panose="02020603050405020304" charset="-122"/>
                        </a:rPr>
                        <a:t>get</a:t>
                      </a:r>
                      <a:r>
                        <a:rPr lang="zh-CN" altLang="en-US" sz="2000" b="0">
                          <a:solidFill>
                            <a:srgbClr val="000000"/>
                          </a:solidFill>
                          <a:latin typeface="Times New Roman" panose="02020603050405020304" charset="-122"/>
                        </a:rPr>
                        <a:t>方法</a:t>
                      </a:r>
                      <a:r>
                        <a:rPr lang="en-US" sz="2000" b="0">
                          <a:solidFill>
                            <a:srgbClr val="000000"/>
                          </a:solidFill>
                          <a:latin typeface="Times New Roman" panose="02020603050405020304" charset="-122"/>
                        </a:rPr>
                        <a:t>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8002905"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鲜牛奶系统</a:t>
            </a:r>
            <a:r>
              <a:rPr kumimoji="1" lang="en-US" altLang="zh-CN" sz="2800" b="1" dirty="0">
                <a:latin typeface="+mn-ea"/>
                <a:cs typeface="+mn-ea"/>
              </a:rPr>
              <a:t>—</a:t>
            </a:r>
            <a:r>
              <a:rPr kumimoji="1" lang="zh-CN" altLang="en-US" sz="2800" b="1" dirty="0">
                <a:latin typeface="+mn-ea"/>
                <a:cs typeface="+mn-ea"/>
              </a:rPr>
              <a:t>方法的</a:t>
            </a:r>
            <a:r>
              <a:rPr kumimoji="1" lang="zh-CN" altLang="en-US" sz="2800" b="1" dirty="0">
                <a:latin typeface="+mn-ea"/>
                <a:cs typeface="+mn-ea"/>
              </a:rPr>
              <a:t>设计</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21</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nvSpPr>
        <p:spPr>
          <a:xfrm>
            <a:off x="2653030" y="1800860"/>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属性</a:t>
            </a:r>
            <a:endParaRPr lang="zh-CN" altLang="en-US" sz="2400" b="1">
              <a:solidFill>
                <a:srgbClr val="000000"/>
              </a:solidFill>
              <a:latin typeface="Times New Roman" panose="02020603050405020304" charset="-122"/>
              <a:sym typeface="+mn-ea"/>
            </a:endParaRPr>
          </a:p>
        </p:txBody>
      </p:sp>
      <p:sp>
        <p:nvSpPr>
          <p:cNvPr id="10" name="文本框 9"/>
          <p:cNvSpPr txBox="1"/>
          <p:nvPr>
            <p:custDataLst>
              <p:tags r:id="rId7"/>
            </p:custDataLst>
          </p:nvPr>
        </p:nvSpPr>
        <p:spPr>
          <a:xfrm>
            <a:off x="5530215" y="1790065"/>
            <a:ext cx="882650" cy="460375"/>
          </a:xfrm>
          <a:prstGeom prst="rect">
            <a:avLst/>
          </a:prstGeom>
          <a:noFill/>
        </p:spPr>
        <p:txBody>
          <a:bodyPr wrap="square" rtlCol="0" anchor="t">
            <a:spAutoFit/>
          </a:bodyPr>
          <a:p>
            <a:pPr indent="0">
              <a:buNone/>
            </a:pPr>
            <a:r>
              <a:rPr lang="zh-CN" altLang="en-US" sz="2400" b="1">
                <a:solidFill>
                  <a:srgbClr val="000000"/>
                </a:solidFill>
                <a:latin typeface="Times New Roman" panose="02020603050405020304" charset="-122"/>
                <a:sym typeface="+mn-ea"/>
              </a:rPr>
              <a:t>方法</a:t>
            </a:r>
            <a:endParaRPr lang="zh-CN" altLang="en-US" sz="2400" b="1">
              <a:solidFill>
                <a:srgbClr val="000000"/>
              </a:solidFill>
              <a:latin typeface="Times New Roman" panose="02020603050405020304" charset="-122"/>
              <a:sym typeface="+mn-ea"/>
            </a:endParaRPr>
          </a:p>
        </p:txBody>
      </p:sp>
      <p:graphicFrame>
        <p:nvGraphicFramePr>
          <p:cNvPr id="16" name="表格 15"/>
          <p:cNvGraphicFramePr/>
          <p:nvPr>
            <p:custDataLst>
              <p:tags r:id="rId8"/>
            </p:custDataLst>
          </p:nvPr>
        </p:nvGraphicFramePr>
        <p:xfrm>
          <a:off x="457200" y="1895983"/>
          <a:ext cx="1967865" cy="3937000"/>
        </p:xfrm>
        <a:graphic>
          <a:graphicData uri="http://schemas.openxmlformats.org/drawingml/2006/table">
            <a:tbl>
              <a:tblPr/>
              <a:tblGrid>
                <a:gridCol w="1967865"/>
              </a:tblGrid>
              <a:tr h="393700">
                <a:tc>
                  <a:txBody>
                    <a:bodyPr/>
                    <a:p>
                      <a:pPr indent="0">
                        <a:buNone/>
                      </a:pPr>
                      <a:r>
                        <a:rPr lang="zh-CN" altLang="en-US" sz="2400" b="1">
                          <a:solidFill>
                            <a:srgbClr val="000000"/>
                          </a:solidFill>
                          <a:latin typeface="Times New Roman" panose="02020603050405020304" charset="-122"/>
                        </a:rPr>
                        <a:t>类</a:t>
                      </a:r>
                      <a:endParaRPr lang="zh-CN" altLang="en-US" sz="2400" b="1">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PureMilk</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StoreSales</a:t>
                      </a:r>
                      <a:endParaRPr 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p>
                      <a:pPr indent="0">
                        <a:buNone/>
                      </a:pPr>
                      <a:endParaRPr lang="en-US" altLang="en-US" sz="2200" b="0">
                        <a:solidFill>
                          <a:srgbClr val="000000"/>
                        </a:solidFill>
                        <a:latin typeface="Times New Roman" panose="02020603050405020304" charset="-122"/>
                      </a:endParaRPr>
                    </a:p>
                  </a:txBody>
                  <a:tcPr marL="12700" marR="12700" marT="12700" vert="horz" anchor="b" anchorCtr="0">
                    <a:lnL>
                      <a:noFill/>
                    </a:lnL>
                    <a:lnR>
                      <a:noFill/>
                    </a:lnR>
                    <a:lnT cap="flat">
                      <a:noFill/>
                    </a:lnT>
                    <a:lnB cap="flat">
                      <a:noFill/>
                    </a:lnB>
                    <a:lnTlToBr>
                      <a:noFill/>
                    </a:lnTlToBr>
                    <a:lnBlToTr>
                      <a:noFill/>
                    </a:lnBlToTr>
                    <a:noFill/>
                  </a:tcPr>
                </a:tc>
              </a:tr>
              <a:tr h="393065">
                <a:tc>
                  <a:txBody>
                    <a:bodyPr/>
                    <a:p>
                      <a:pPr indent="0">
                        <a:buNone/>
                      </a:pPr>
                      <a:r>
                        <a:rPr lang="en-US" sz="2200" b="0">
                          <a:solidFill>
                            <a:srgbClr val="000000"/>
                          </a:solidFill>
                          <a:latin typeface="Times New Roman" panose="02020603050405020304" charset="-122"/>
                        </a:rPr>
                        <a:t>Yogurt</a:t>
                      </a:r>
                      <a:endParaRPr lang="en-US" altLang="en-US" sz="2200" b="0">
                        <a:solidFill>
                          <a:srgbClr val="000000"/>
                        </a:solidFill>
                        <a:latin typeface="Times New Roman" panose="02020603050405020304" charset="-122"/>
                      </a:endParaRPr>
                    </a:p>
                  </a:txBody>
                  <a:tcPr marL="12700" marR="12700" marT="12700" vert="horz" anchor="ctr" anchorCtr="0">
                    <a:lnL>
                      <a:noFill/>
                    </a:lnL>
                    <a:lnR>
                      <a:noFill/>
                    </a:lnR>
                    <a:lnT cap="flat">
                      <a:noFill/>
                    </a:lnT>
                    <a:lnB cap="flat">
                      <a:noFill/>
                    </a:lnB>
                    <a:lnTlToBr>
                      <a:noFill/>
                    </a:lnTlToBr>
                    <a:lnBlToTr>
                      <a:noFill/>
                    </a:lnBlToTr>
                    <a:noFill/>
                  </a:tcPr>
                </a:tc>
              </a:tr>
            </a:tbl>
          </a:graphicData>
        </a:graphic>
      </p:graphicFrame>
      <p:sp>
        <p:nvSpPr>
          <p:cNvPr id="22" name="文本框 21"/>
          <p:cNvSpPr txBox="1"/>
          <p:nvPr>
            <p:custDataLst>
              <p:tags r:id="rId9"/>
            </p:custDataLst>
          </p:nvPr>
        </p:nvSpPr>
        <p:spPr>
          <a:xfrm>
            <a:off x="2132965" y="2268220"/>
            <a:ext cx="3230245" cy="768350"/>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countryOfOrigin, butterfat, protein</a:t>
            </a:r>
            <a:endParaRPr lang="en-US" altLang="en-US" sz="2200">
              <a:solidFill>
                <a:srgbClr val="000000"/>
              </a:solidFill>
              <a:latin typeface="Times New Roman" panose="02020603050405020304" charset="-122"/>
              <a:sym typeface="+mn-ea"/>
            </a:endParaRPr>
          </a:p>
        </p:txBody>
      </p:sp>
      <p:sp>
        <p:nvSpPr>
          <p:cNvPr id="23" name="文本框 22"/>
          <p:cNvSpPr txBox="1"/>
          <p:nvPr>
            <p:custDataLst>
              <p:tags r:id="rId10"/>
            </p:custDataLst>
          </p:nvPr>
        </p:nvSpPr>
        <p:spPr>
          <a:xfrm>
            <a:off x="2231390" y="3706495"/>
            <a:ext cx="1304290"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orders</a:t>
            </a:r>
            <a:endParaRPr lang="en-US" altLang="en-US" sz="2200">
              <a:solidFill>
                <a:srgbClr val="000000"/>
              </a:solidFill>
              <a:latin typeface="Times New Roman" panose="02020603050405020304" charset="-122"/>
              <a:sym typeface="+mn-ea"/>
            </a:endParaRPr>
          </a:p>
        </p:txBody>
      </p:sp>
      <p:sp>
        <p:nvSpPr>
          <p:cNvPr id="24" name="文本框 23"/>
          <p:cNvSpPr txBox="1"/>
          <p:nvPr>
            <p:custDataLst>
              <p:tags r:id="rId11"/>
            </p:custDataLst>
          </p:nvPr>
        </p:nvSpPr>
        <p:spPr>
          <a:xfrm>
            <a:off x="2231390" y="5093335"/>
            <a:ext cx="3121025" cy="429895"/>
          </a:xfrm>
          <a:prstGeom prst="rect">
            <a:avLst/>
          </a:prstGeom>
          <a:noFill/>
        </p:spPr>
        <p:txBody>
          <a:bodyPr wrap="square" rtlCol="0" anchor="t">
            <a:spAutoFit/>
          </a:bodyPr>
          <a:p>
            <a:pPr indent="0">
              <a:buNone/>
            </a:pPr>
            <a:r>
              <a:rPr lang="en-US" sz="2200">
                <a:solidFill>
                  <a:srgbClr val="000000"/>
                </a:solidFill>
                <a:latin typeface="Times New Roman" panose="02020603050405020304" charset="-122"/>
                <a:sym typeface="+mn-ea"/>
              </a:rPr>
              <a:t>type, diluteConcentration</a:t>
            </a:r>
            <a:endParaRPr lang="en-US" altLang="en-US" sz="2200">
              <a:solidFill>
                <a:srgbClr val="000000"/>
              </a:solidFill>
              <a:latin typeface="Times New Roman" panose="02020603050405020304" charset="-122"/>
              <a:sym typeface="+mn-ea"/>
            </a:endParaRPr>
          </a:p>
        </p:txBody>
      </p:sp>
      <p:graphicFrame>
        <p:nvGraphicFramePr>
          <p:cNvPr id="17" name="表格 16"/>
          <p:cNvGraphicFramePr/>
          <p:nvPr/>
        </p:nvGraphicFramePr>
        <p:xfrm>
          <a:off x="5494655" y="2093595"/>
          <a:ext cx="3105150" cy="1117600"/>
        </p:xfrm>
        <a:graphic>
          <a:graphicData uri="http://schemas.openxmlformats.org/drawingml/2006/table">
            <a:tbl>
              <a:tblPr/>
              <a:tblGrid>
                <a:gridCol w="3105150"/>
              </a:tblGrid>
              <a:tr h="1117600">
                <a:tc>
                  <a:txBody>
                    <a:bodyPr/>
                    <a:p>
                      <a:pPr indent="0">
                        <a:buNone/>
                      </a:pPr>
                      <a:r>
                        <a:rPr lang="en-US" sz="2000" b="0">
                          <a:solidFill>
                            <a:srgbClr val="000000"/>
                          </a:solidFill>
                          <a:latin typeface="Times New Roman" panose="02020603050405020304" charset="-122"/>
                        </a:rPr>
                        <a:t>getCountryOfOrigin():String                getButterfat():String                                            </a:t>
                      </a:r>
                      <a:endParaRPr lang="en-US" sz="2000" b="0">
                        <a:solidFill>
                          <a:srgbClr val="000000"/>
                        </a:solidFill>
                        <a:latin typeface="Times New Roman" panose="02020603050405020304" charset="-122"/>
                      </a:endParaRPr>
                    </a:p>
                    <a:p>
                      <a:pPr indent="0">
                        <a:buNone/>
                      </a:pPr>
                      <a:r>
                        <a:rPr lang="en-US" sz="2000" b="0">
                          <a:solidFill>
                            <a:srgbClr val="000000"/>
                          </a:solidFill>
                          <a:latin typeface="Times New Roman" panose="02020603050405020304" charset="-122"/>
                        </a:rPr>
                        <a:t>getProtein():String </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20" name="表格 19"/>
          <p:cNvGraphicFramePr/>
          <p:nvPr/>
        </p:nvGraphicFramePr>
        <p:xfrm>
          <a:off x="5499100" y="3331210"/>
          <a:ext cx="3340735" cy="1346200"/>
        </p:xfrm>
        <a:graphic>
          <a:graphicData uri="http://schemas.openxmlformats.org/drawingml/2006/table">
            <a:tbl>
              <a:tblPr/>
              <a:tblGrid>
                <a:gridCol w="3340735"/>
              </a:tblGrid>
              <a:tr h="1346200">
                <a:tc>
                  <a:txBody>
                    <a:bodyPr/>
                    <a:p>
                      <a:pPr indent="0">
                        <a:buNone/>
                      </a:pPr>
                      <a:r>
                        <a:rPr lang="en-US" sz="2000" b="0">
                          <a:solidFill>
                            <a:srgbClr val="000000"/>
                          </a:solidFill>
                          <a:latin typeface="Times New Roman" panose="02020603050405020304" charset="-122"/>
                        </a:rPr>
                        <a:t>addOrder(order:Order)                                                     removeOrder(order:Order)                                                       getOrder(index:int):Order                                  getNumberOfOrders():int</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graphicFrame>
        <p:nvGraphicFramePr>
          <p:cNvPr id="21" name="表格 20"/>
          <p:cNvGraphicFramePr/>
          <p:nvPr/>
        </p:nvGraphicFramePr>
        <p:xfrm>
          <a:off x="5499100" y="5030470"/>
          <a:ext cx="3627120" cy="972820"/>
        </p:xfrm>
        <a:graphic>
          <a:graphicData uri="http://schemas.openxmlformats.org/drawingml/2006/table">
            <a:tbl>
              <a:tblPr/>
              <a:tblGrid>
                <a:gridCol w="3627120"/>
              </a:tblGrid>
              <a:tr h="762000">
                <a:tc>
                  <a:txBody>
                    <a:bodyPr/>
                    <a:p>
                      <a:pPr indent="0">
                        <a:buNone/>
                      </a:pPr>
                      <a:r>
                        <a:rPr lang="en-US" sz="2000" b="0">
                          <a:solidFill>
                            <a:srgbClr val="000000"/>
                          </a:solidFill>
                          <a:latin typeface="Times New Roman" panose="02020603050405020304" charset="-122"/>
                        </a:rPr>
                        <a:t>getType():String                getDiluteConcentration():String</a:t>
                      </a:r>
                      <a:endParaRPr lang="en-US" altLang="en-US" sz="2000" b="0">
                        <a:solidFill>
                          <a:srgbClr val="000000"/>
                        </a:solidFill>
                        <a:latin typeface="Times New Roman" panose="02020603050405020304"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1255395" cy="162877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latin typeface="+mn-ea"/>
                <a:cs typeface="+mn-ea"/>
              </a:rPr>
              <a:t>绘制鲜牛奶系统类图</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22</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9" name="图片 8" descr="milkSystemSolution-core"/>
          <p:cNvPicPr>
            <a:picLocks noChangeAspect="1"/>
          </p:cNvPicPr>
          <p:nvPr/>
        </p:nvPicPr>
        <p:blipFill>
          <a:blip r:embed="rId7"/>
          <a:stretch>
            <a:fillRect/>
          </a:stretch>
        </p:blipFill>
        <p:spPr>
          <a:xfrm>
            <a:off x="1758950" y="1188720"/>
            <a:ext cx="7153275" cy="5057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349885" y="1150620"/>
            <a:ext cx="5300980" cy="7410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lang="zh-CN" altLang="en-US" sz="2800" dirty="0">
                <a:latin typeface="宋体" panose="02010600030101010101" pitchFamily="2" charset="-122"/>
                <a:sym typeface="+mn-ea"/>
              </a:rPr>
              <a:t>鲜牛奶</a:t>
            </a:r>
            <a:r>
              <a:rPr lang="zh-CN" altLang="en-US" sz="2800" dirty="0">
                <a:latin typeface="宋体" panose="02010600030101010101" pitchFamily="2" charset="-122"/>
                <a:sym typeface="+mn-ea"/>
              </a:rPr>
              <a:t>系统为用户提供的功能</a:t>
            </a:r>
            <a:endParaRPr kumimoji="1" lang="zh-CN" altLang="en-US" sz="2800" b="1" dirty="0">
              <a:latin typeface="+mn-ea"/>
              <a:cs typeface="+mn-ea"/>
            </a:endParaRPr>
          </a:p>
        </p:txBody>
      </p:sp>
      <p:sp>
        <p:nvSpPr>
          <p:cNvPr id="3" name="矩形 2"/>
          <p:cNvSpPr/>
          <p:nvPr>
            <p:custDataLst>
              <p:tags r:id="rId2"/>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23</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3"/>
            </p:custDataLst>
          </p:nvPr>
        </p:nvPicPr>
        <p:blipFill>
          <a:blip r:embed="rId4" cstate="screen"/>
          <a:stretch>
            <a:fillRect/>
          </a:stretch>
        </p:blipFill>
        <p:spPr>
          <a:xfrm>
            <a:off x="7476490" y="417830"/>
            <a:ext cx="1363345" cy="342900"/>
          </a:xfrm>
          <a:prstGeom prst="rect">
            <a:avLst/>
          </a:prstGeom>
        </p:spPr>
      </p:pic>
      <p:pic>
        <p:nvPicPr>
          <p:cNvPr id="13" name="校徽"/>
          <p:cNvPicPr>
            <a:picLocks noChangeAspect="1"/>
          </p:cNvPicPr>
          <p:nvPr>
            <p:custDataLst>
              <p:tags r:id="rId5"/>
            </p:custDataLst>
          </p:nvPr>
        </p:nvPicPr>
        <p:blipFill>
          <a:blip r:embed="rId6"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628650" y="1891665"/>
            <a:ext cx="3796030" cy="4192905"/>
          </a:xfrm>
          <a:prstGeom prst="rect">
            <a:avLst/>
          </a:prstGeom>
          <a:noFill/>
          <a:ln>
            <a:solidFill>
              <a:schemeClr val="accent1"/>
            </a:solidFill>
          </a:ln>
        </p:spPr>
        <p:txBody>
          <a:bodyPr wrap="square" rtlCol="0" anchor="t">
            <a:noAutofit/>
          </a:bodyPr>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displaySales()  </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addOrder() </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removeProduct() </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addProduct()</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displayOrder()</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displayProduct()</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readProduct()</a:t>
            </a:r>
            <a:endParaRPr lang="en-US" altLang="zh-CN" sz="2400" b="1" dirty="0">
              <a:latin typeface="等线" panose="02010600030101010101" charset="-122"/>
              <a:ea typeface="等线" panose="02010600030101010101" charset="-122"/>
            </a:endParaRPr>
          </a:p>
          <a:p>
            <a:pPr lvl="1" indent="-436245" eaLnBrk="1" hangingPunct="1">
              <a:buFont typeface="Arial" panose="020B0604020202020204" pitchFamily="34" charset="0"/>
              <a:buChar char="•"/>
            </a:pPr>
            <a:r>
              <a:rPr lang="en-US" altLang="zh-CN" sz="2400" b="1" dirty="0">
                <a:latin typeface="等线" panose="02010600030101010101" charset="-122"/>
                <a:ea typeface="等线" panose="02010600030101010101" charset="-122"/>
                <a:sym typeface="+mn-ea"/>
              </a:rPr>
              <a:t>displayCatalog()</a:t>
            </a:r>
            <a:endParaRPr lang="en-US" altLang="zh-CN" sz="2400" b="1" dirty="0">
              <a:latin typeface="等线" panose="02010600030101010101" charset="-122"/>
              <a:ea typeface="等线" panose="02010600030101010101" charset="-122"/>
              <a:sym typeface="+mn-ea"/>
            </a:endParaRPr>
          </a:p>
        </p:txBody>
      </p:sp>
      <p:sp>
        <p:nvSpPr>
          <p:cNvPr id="10" name="文本框 9"/>
          <p:cNvSpPr txBox="1"/>
          <p:nvPr/>
        </p:nvSpPr>
        <p:spPr>
          <a:xfrm>
            <a:off x="4771390" y="1891665"/>
            <a:ext cx="3887470" cy="4192905"/>
          </a:xfrm>
          <a:prstGeom prst="rect">
            <a:avLst/>
          </a:prstGeom>
          <a:noFill/>
          <a:ln>
            <a:solidFill>
              <a:schemeClr val="accent1"/>
            </a:solidFill>
          </a:ln>
        </p:spPr>
        <p:txBody>
          <a:bodyPr wrap="square" rtlCol="0" anchor="t">
            <a:noAutofit/>
          </a:bodyPr>
          <a:p>
            <a:pPr marL="342900" lvl="0" indent="-342900" algn="l" eaLnBrk="1" hangingPunct="1">
              <a:buFont typeface="Arial" panose="020B0604020202020204" pitchFamily="34" charset="0"/>
              <a:buChar char="•"/>
            </a:pPr>
            <a:r>
              <a:rPr lang="zh-CN" altLang="en-US" sz="2400" b="1" dirty="0">
                <a:solidFill>
                  <a:schemeClr val="tx1"/>
                </a:solidFill>
                <a:sym typeface="+mn-ea"/>
              </a:rPr>
              <a:t>为实现用户要求的</a:t>
            </a:r>
            <a:r>
              <a:rPr lang="zh-CN" altLang="en-US" sz="2400" b="1" dirty="0">
                <a:solidFill>
                  <a:schemeClr val="tx1"/>
                </a:solidFill>
                <a:sym typeface="+mn-ea"/>
              </a:rPr>
              <a:t>功能，提供驱动类</a:t>
            </a:r>
            <a:r>
              <a:rPr lang="en-US" altLang="zh-CN" sz="2400" b="1" dirty="0">
                <a:solidFill>
                  <a:schemeClr val="tx1"/>
                </a:solidFill>
                <a:sym typeface="+mn-ea"/>
              </a:rPr>
              <a:t>(</a:t>
            </a:r>
            <a:r>
              <a:rPr lang="zh-CN" altLang="en-US" sz="2400" b="1" dirty="0">
                <a:solidFill>
                  <a:schemeClr val="tx1"/>
                </a:solidFill>
                <a:sym typeface="+mn-ea"/>
              </a:rPr>
              <a:t>或测试类</a:t>
            </a:r>
            <a:r>
              <a:rPr lang="en-US" altLang="zh-CN" sz="2400" b="1" dirty="0">
                <a:solidFill>
                  <a:schemeClr val="tx1"/>
                </a:solidFill>
                <a:sym typeface="+mn-ea"/>
              </a:rPr>
              <a:t>)</a:t>
            </a:r>
            <a:endParaRPr lang="en-US" altLang="zh-CN" sz="2400" b="1" dirty="0">
              <a:solidFill>
                <a:schemeClr val="tx1"/>
              </a:solidFill>
            </a:endParaRPr>
          </a:p>
          <a:p>
            <a:pPr lvl="0" indent="0" eaLnBrk="1" hangingPunct="1">
              <a:buFont typeface="Arial" panose="020B0604020202020204" pitchFamily="34" charset="0"/>
              <a:buNone/>
            </a:pPr>
            <a:r>
              <a:rPr lang="en-US" altLang="zh-CN" sz="2400" b="1" dirty="0">
                <a:solidFill>
                  <a:schemeClr val="tx1"/>
                </a:solidFill>
                <a:latin typeface="Times New Roman" panose="02020603050405020304" pitchFamily="18" charset="0"/>
                <a:sym typeface="+mn-ea"/>
              </a:rPr>
              <a:t>    BrightFreshMilkSystem</a:t>
            </a:r>
            <a:endParaRPr lang="en-US" altLang="zh-CN" sz="2400" b="1" dirty="0">
              <a:latin typeface="Times New Roman" panose="02020603050405020304" pitchFamily="18" charset="0"/>
            </a:endParaRPr>
          </a:p>
          <a:p>
            <a:pPr lvl="1" indent="-436245">
              <a:buFont typeface="Arial" panose="020B0604020202020204" pitchFamily="34" charset="0"/>
              <a:buChar char="•"/>
            </a:pPr>
            <a:r>
              <a:rPr lang="zh-CN" altLang="en-US" sz="2400" b="1" dirty="0">
                <a:sym typeface="+mn-ea"/>
              </a:rPr>
              <a:t>与具体应用环境相关的操作的实现代码放入</a:t>
            </a:r>
            <a:r>
              <a:rPr lang="en-US" altLang="zh-CN" sz="2400" b="1" dirty="0">
                <a:latin typeface="Times New Roman" panose="02020603050405020304" pitchFamily="18" charset="0"/>
                <a:sym typeface="+mn-ea"/>
              </a:rPr>
              <a:t>Drive class</a:t>
            </a:r>
            <a:r>
              <a:rPr lang="en-US" altLang="zh-CN" sz="2400" b="1" dirty="0">
                <a:sym typeface="+mn-ea"/>
              </a:rPr>
              <a:t> </a:t>
            </a:r>
            <a:endParaRPr lang="en-US" altLang="zh-CN" sz="2400" b="1" dirty="0"/>
          </a:p>
          <a:p>
            <a:pPr lvl="2" indent="-394970">
              <a:buFont typeface="Arial" panose="020B0604020202020204" pitchFamily="34" charset="0"/>
              <a:buChar char="•"/>
            </a:pPr>
            <a:r>
              <a:rPr lang="zh-CN" altLang="en-US" sz="2400" b="1" dirty="0">
                <a:sym typeface="+mn-ea"/>
              </a:rPr>
              <a:t>便于代码的复用</a:t>
            </a:r>
            <a:endParaRPr lang="en-US" altLang="zh-CN" sz="2400" b="1" dirty="0"/>
          </a:p>
          <a:p>
            <a:pPr lvl="2" indent="-394970">
              <a:buFont typeface="Arial" panose="020B0604020202020204" pitchFamily="34" charset="0"/>
              <a:buChar char="•"/>
            </a:pPr>
            <a:r>
              <a:rPr lang="zh-CN" altLang="en-US" sz="2400" b="1" dirty="0">
                <a:sym typeface="+mn-ea"/>
              </a:rPr>
              <a:t>程序结构清晰，降低编码和维护的工作量</a:t>
            </a:r>
            <a:endParaRPr lang="en-US" altLang="zh-CN" sz="2400" b="1" dirty="0"/>
          </a:p>
          <a:p>
            <a:pPr lvl="1" indent="-436245" eaLnBrk="1" hangingPunct="1">
              <a:buFont typeface="Arial" panose="020B0604020202020204" pitchFamily="34" charset="0"/>
              <a:buChar char="•"/>
            </a:pPr>
            <a:endParaRPr lang="en-US" altLang="zh-CN" sz="2400" b="1" dirty="0">
              <a:latin typeface="等线" panose="02010600030101010101" charset="-122"/>
              <a:ea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01930"/>
            <a:ext cx="9144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350"/>
          </a:p>
        </p:txBody>
      </p:sp>
      <p:sp>
        <p:nvSpPr>
          <p:cNvPr id="4" name="日期占位符 3"/>
          <p:cNvSpPr>
            <a:spLocks noGrp="1"/>
          </p:cNvSpPr>
          <p:nvPr>
            <p:ph type="dt" sz="half" idx="10"/>
          </p:nvPr>
        </p:nvSpPr>
        <p:spPr>
          <a:xfrm>
            <a:off x="628650" y="6432550"/>
            <a:ext cx="2057400" cy="365125"/>
          </a:xfrm>
        </p:spPr>
        <p:txBody>
          <a:bodyPr/>
          <a:lstStyle/>
          <a:p>
            <a:fld id="{8BEB6EB5-CC0D-C94C-91B9-9EA1B45E848E}" type="datetime1">
              <a:rPr kumimoji="1" lang="zh-CN" altLang="en-US" sz="900" smtClean="0"/>
            </a:fld>
            <a:endParaRPr kumimoji="1" lang="zh-CN" altLang="en-US" sz="900"/>
          </a:p>
        </p:txBody>
      </p:sp>
      <p:sp>
        <p:nvSpPr>
          <p:cNvPr id="5" name="页脚占位符 4"/>
          <p:cNvSpPr>
            <a:spLocks noGrp="1"/>
          </p:cNvSpPr>
          <p:nvPr>
            <p:ph type="ftr" sz="quarter" idx="11"/>
          </p:nvPr>
        </p:nvSpPr>
        <p:spPr>
          <a:xfrm>
            <a:off x="3028950" y="6432550"/>
            <a:ext cx="3086100" cy="365125"/>
          </a:xfrm>
        </p:spPr>
        <p:txBody>
          <a:bodyPr/>
          <a:lstStyle/>
          <a:p>
            <a:r>
              <a:rPr kumimoji="1" lang="zh-CN" altLang="en-US" sz="900" dirty="0"/>
              <a:t>西北工业大学软件学院</a:t>
            </a:r>
            <a:endParaRPr kumimoji="1" lang="zh-CN" altLang="en-US" sz="900" dirty="0"/>
          </a:p>
        </p:txBody>
      </p:sp>
      <p:sp>
        <p:nvSpPr>
          <p:cNvPr id="6" name="灯片编号占位符 5"/>
          <p:cNvSpPr>
            <a:spLocks noGrp="1"/>
          </p:cNvSpPr>
          <p:nvPr>
            <p:ph type="sldNum" sz="quarter" idx="12"/>
          </p:nvPr>
        </p:nvSpPr>
        <p:spPr>
          <a:xfrm>
            <a:off x="6457950" y="6432550"/>
            <a:ext cx="2057400" cy="365125"/>
          </a:xfrm>
        </p:spPr>
        <p:txBody>
          <a:bodyPr/>
          <a:lstStyle/>
          <a:p>
            <a:fld id="{5A1A6423-77BD-D842-A714-25250E903C41}" type="slidenum">
              <a:rPr kumimoji="1" lang="zh-CN" altLang="en-US" sz="900" smtClean="0"/>
            </a:fld>
            <a:endParaRPr kumimoji="1" lang="zh-CN" altLang="en-US" sz="900"/>
          </a:p>
        </p:txBody>
      </p:sp>
      <p:sp>
        <p:nvSpPr>
          <p:cNvPr id="2" name="标题 1"/>
          <p:cNvSpPr>
            <a:spLocks noGrp="1"/>
          </p:cNvSpPr>
          <p:nvPr>
            <p:ph type="title"/>
          </p:nvPr>
        </p:nvSpPr>
        <p:spPr>
          <a:xfrm>
            <a:off x="137160" y="262890"/>
            <a:ext cx="6497955" cy="662305"/>
          </a:xfrm>
        </p:spPr>
        <p:txBody>
          <a:bodyPr>
            <a:normAutofit/>
          </a:bodyPr>
          <a:lstStyle/>
          <a:p>
            <a:r>
              <a:rPr kumimoji="1" lang="en-US" dirty="0">
                <a:solidFill>
                  <a:schemeClr val="bg1"/>
                </a:solidFill>
              </a:rPr>
              <a:t>1.2.7 </a:t>
            </a:r>
            <a:r>
              <a:rPr kumimoji="1" lang="zh-CN" altLang="en-US" dirty="0">
                <a:solidFill>
                  <a:schemeClr val="bg1"/>
                </a:solidFill>
              </a:rPr>
              <a:t>建模鲜牛奶系统</a:t>
            </a:r>
            <a:r>
              <a:rPr kumimoji="1" lang="en-US" altLang="zh-CN" sz="2400" dirty="0">
                <a:solidFill>
                  <a:schemeClr val="bg1"/>
                </a:solidFill>
              </a:rPr>
              <a:t>24</a:t>
            </a:r>
            <a:r>
              <a:rPr kumimoji="1" lang="en-US" altLang="zh-CN" sz="2400" dirty="0">
                <a:solidFill>
                  <a:schemeClr val="bg1"/>
                </a:solidFill>
              </a:rPr>
              <a:t>/24</a:t>
            </a:r>
            <a:endParaRPr kumimoji="1" lang="en-US" altLang="zh-CN" sz="2400" dirty="0">
              <a:solidFill>
                <a:schemeClr val="bg1"/>
              </a:solidFill>
            </a:endParaRPr>
          </a:p>
        </p:txBody>
      </p:sp>
      <p:pic>
        <p:nvPicPr>
          <p:cNvPr id="11" name="西北工业大学"/>
          <p:cNvPicPr>
            <a:picLocks noChangeAspect="1"/>
          </p:cNvPicPr>
          <p:nvPr>
            <p:custDataLst>
              <p:tags r:id="rId2"/>
            </p:custDataLst>
          </p:nvPr>
        </p:nvPicPr>
        <p:blipFill>
          <a:blip r:embed="rId3" cstate="screen"/>
          <a:stretch>
            <a:fillRect/>
          </a:stretch>
        </p:blipFill>
        <p:spPr>
          <a:xfrm>
            <a:off x="7476490" y="417830"/>
            <a:ext cx="1363345" cy="342900"/>
          </a:xfrm>
          <a:prstGeom prst="rect">
            <a:avLst/>
          </a:prstGeom>
        </p:spPr>
      </p:pic>
      <p:pic>
        <p:nvPicPr>
          <p:cNvPr id="13" name="校徽"/>
          <p:cNvPicPr>
            <a:picLocks noChangeAspect="1"/>
          </p:cNvPicPr>
          <p:nvPr>
            <p:custDataLst>
              <p:tags r:id="rId4"/>
            </p:custDataLst>
          </p:nvPr>
        </p:nvPicPr>
        <p:blipFill>
          <a:blip r:embed="rId5" cstate="screen"/>
          <a:stretch>
            <a:fillRect/>
          </a:stretch>
        </p:blipFill>
        <p:spPr>
          <a:xfrm>
            <a:off x="6868160" y="342900"/>
            <a:ext cx="431800" cy="431800"/>
          </a:xfrm>
          <a:prstGeom prst="rect">
            <a:avLst/>
          </a:prstGeom>
        </p:spPr>
      </p:pic>
      <p:sp>
        <p:nvSpPr>
          <p:cNvPr id="19" name="矩形 18"/>
          <p:cNvSpPr/>
          <p:nvPr/>
        </p:nvSpPr>
        <p:spPr>
          <a:xfrm>
            <a:off x="264160" y="1188720"/>
            <a:ext cx="8648065"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7" name="图片 6" descr="milkSystemSolution"/>
          <p:cNvPicPr>
            <a:picLocks noChangeAspect="1"/>
          </p:cNvPicPr>
          <p:nvPr/>
        </p:nvPicPr>
        <p:blipFill>
          <a:blip r:embed="rId6"/>
          <a:stretch>
            <a:fillRect/>
          </a:stretch>
        </p:blipFill>
        <p:spPr>
          <a:xfrm>
            <a:off x="628650" y="1150620"/>
            <a:ext cx="8105775" cy="543877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1790" y="299720"/>
            <a:ext cx="846709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sp>
        <p:nvSpPr>
          <p:cNvPr id="5" name="矩形 4"/>
          <p:cNvSpPr/>
          <p:nvPr/>
        </p:nvSpPr>
        <p:spPr>
          <a:xfrm>
            <a:off x="920750" y="789940"/>
            <a:ext cx="735457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1026" name="Picture 2" descr="西北工业大学- 维基百科，自由的百科全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240" y="101282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564055" y="3063323"/>
            <a:ext cx="6015888" cy="645160"/>
          </a:xfrm>
          <a:prstGeom prst="rect">
            <a:avLst/>
          </a:prstGeom>
          <a:noFill/>
        </p:spPr>
        <p:txBody>
          <a:bodyPr wrap="square" rtlCol="0">
            <a:spAutoFit/>
          </a:bodyPr>
          <a:lstStyle/>
          <a:p>
            <a:pPr algn="ctr"/>
            <a:r>
              <a:rPr kumimoji="1" lang="zh-CN" altLang="en-US" sz="3600" b="1" kern="0" dirty="0">
                <a:solidFill>
                  <a:srgbClr val="034DA0"/>
                </a:solidFill>
                <a:latin typeface="+中文正文" charset="0"/>
                <a:sym typeface="+mn-ea"/>
              </a:rPr>
              <a:t>小结</a:t>
            </a:r>
            <a:endParaRPr kumimoji="1" lang="zh-CN" altLang="en-US" sz="3600" b="1" kern="0" dirty="0">
              <a:solidFill>
                <a:srgbClr val="034DA0"/>
              </a:solidFill>
              <a:latin typeface="+中文正文" charset="0"/>
              <a:sym typeface="+mn-ea"/>
            </a:endParaRPr>
          </a:p>
        </p:txBody>
      </p:sp>
      <p:cxnSp>
        <p:nvCxnSpPr>
          <p:cNvPr id="8" name="直线连接符 7"/>
          <p:cNvCxnSpPr/>
          <p:nvPr/>
        </p:nvCxnSpPr>
        <p:spPr>
          <a:xfrm>
            <a:off x="1564055" y="3708551"/>
            <a:ext cx="59241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238885" y="3707765"/>
            <a:ext cx="6830695" cy="1657350"/>
          </a:xfrm>
          <a:prstGeom prst="rect">
            <a:avLst/>
          </a:prstGeom>
          <a:noFill/>
        </p:spPr>
        <p:txBody>
          <a:bodyPr wrap="square" rtlCol="0" anchor="t">
            <a:noAutofit/>
          </a:bodyPr>
          <a:p>
            <a:pPr marL="342900" marR="0" lvl="0" indent="-342900" algn="just" defTabSz="914400" rtl="0" eaLnBrk="0" fontAlgn="base" latinLnBrk="0" hangingPunct="0">
              <a:lnSpc>
                <a:spcPct val="150000"/>
              </a:lnSpc>
              <a:spcBef>
                <a:spcPct val="0"/>
              </a:spcBef>
              <a:spcAft>
                <a:spcPts val="0"/>
              </a:spcAft>
              <a:buClrTx/>
              <a:buSzTx/>
              <a:buFont typeface="+mj-lt"/>
              <a:buAutoNum type="arabicPeriod"/>
              <a:tabLst>
                <a:tab pos="457200" algn="l"/>
              </a:tabLst>
              <a:defRPr/>
            </a:pP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采用</a:t>
            </a:r>
            <a:r>
              <a:rPr lang="en-US"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UML</a:t>
            </a:r>
            <a:r>
              <a:rPr lang="zh-CN" altLang="en-US" sz="2400" b="1" kern="100" noProof="0" dirty="0">
                <a:ln>
                  <a:noFill/>
                </a:ln>
                <a:effectLst/>
                <a:uLnTx/>
                <a:uFillTx/>
                <a:latin typeface="等线" panose="02010600030101010101" charset="-122"/>
                <a:ea typeface="等线" panose="02010600030101010101" charset="-122"/>
                <a:cs typeface="等线" panose="02010600030101010101" charset="-122"/>
                <a:sym typeface="+mn-ea"/>
              </a:rPr>
              <a:t>类图对需求进行建模的能力</a:t>
            </a:r>
            <a:r>
              <a:rPr lang="en-US"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a:t>
            </a:r>
            <a:endParaRPr kumimoji="0" lang="zh-CN" altLang="zh-CN" sz="2400" b="1" i="0" u="none" strike="noStrike" kern="100" cap="none" spc="0" normalizeH="0" baseline="0" noProof="0" dirty="0">
              <a:ln>
                <a:noFill/>
              </a:ln>
              <a:solidFill>
                <a:schemeClr val="tx1"/>
              </a:solidFill>
              <a:effectLst/>
              <a:uLnTx/>
              <a:uFillTx/>
              <a:latin typeface="等线" panose="02010600030101010101" charset="-122"/>
              <a:ea typeface="等线" panose="02010600030101010101" charset="-122"/>
              <a:cs typeface="等线" panose="02010600030101010101" charset="-122"/>
            </a:endParaRPr>
          </a:p>
          <a:p>
            <a:pPr marL="342900" marR="0" lvl="0" indent="-342900" algn="just" defTabSz="914400" rtl="0" eaLnBrk="0" fontAlgn="base" latinLnBrk="0" hangingPunct="0">
              <a:lnSpc>
                <a:spcPct val="150000"/>
              </a:lnSpc>
              <a:spcBef>
                <a:spcPct val="0"/>
              </a:spcBef>
              <a:spcAft>
                <a:spcPts val="0"/>
              </a:spcAft>
              <a:buClrTx/>
              <a:buSzTx/>
              <a:buFont typeface="+mj-lt"/>
              <a:buAutoNum type="arabicPeriod"/>
              <a:tabLst>
                <a:tab pos="457200" algn="l"/>
              </a:tabLst>
              <a:defRPr/>
            </a:pPr>
            <a:r>
              <a:rPr lang="zh-CN"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分析</a:t>
            </a:r>
            <a:r>
              <a:rPr lang="en-US" altLang="zh-CN" sz="2400" b="1" kern="100" noProof="0" dirty="0">
                <a:ln>
                  <a:noFill/>
                </a:ln>
                <a:effectLst/>
                <a:uLnTx/>
                <a:uFillTx/>
                <a:latin typeface="等线" panose="02010600030101010101" charset="-122"/>
                <a:ea typeface="等线" panose="02010600030101010101" charset="-122"/>
                <a:cs typeface="等线" panose="02010600030101010101" charset="-122"/>
                <a:sym typeface="+mn-ea"/>
              </a:rPr>
              <a:t>UML</a:t>
            </a:r>
            <a:r>
              <a:rPr lang="zh-CN" altLang="en-US" sz="2400" b="1" kern="100" noProof="0" dirty="0">
                <a:ln>
                  <a:noFill/>
                </a:ln>
                <a:effectLst/>
                <a:uLnTx/>
                <a:uFillTx/>
                <a:latin typeface="等线" panose="02010600030101010101" charset="-122"/>
                <a:ea typeface="等线" panose="02010600030101010101" charset="-122"/>
                <a:cs typeface="等线" panose="02010600030101010101" charset="-122"/>
                <a:sym typeface="+mn-ea"/>
              </a:rPr>
              <a:t>类图设计方案是否可以实现用户所要求的功能？</a:t>
            </a:r>
            <a:endParaRPr kumimoji="1" lang="zh-CN" altLang="en-US" sz="2400" b="1" kern="0" dirty="0">
              <a:solidFill>
                <a:srgbClr val="034DA0"/>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PLACING_PICTURE_USER_VIEWPORT" val="{&quot;height&quot;:5685,&quot;width&quot;:6925}"/>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UNIT_TABLE_BEAUTIFY" val="smartTable{2dbce898-085d-469c-a1ea-f34e5e505488}"/>
  <p:tag name="TABLE_ENDDRAG_ORIGIN_RECT" val="518*154"/>
  <p:tag name="TABLE_ENDDRAG_RECT" val="64*336*518*154"/>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 name="TABLE_ENDDRAG_ORIGIN_RECT" val="201*209"/>
  <p:tag name="TABLE_ENDDRAG_RECT" val="31*287*201*209"/>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 name="TABLE_ENDDRAG_ORIGIN_RECT" val="201*209"/>
  <p:tag name="TABLE_ENDDRAG_RECT" val="31*287*201*209"/>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UNIT_TABLE_BEAUTIFY" val="smartTable{64af2403-da43-4d4d-be89-32fd7d094c22}"/>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UNIT_TABLE_BEAUTIFY" val="smartTable{64af2403-da43-4d4d-be89-32fd7d094c22}"/>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UNIT_TABLE_BEAUTIFY" val="smartTable{138cd393-1fe1-4332-9ecd-c2cc142fa380}"/>
  <p:tag name="TABLE_ENDDRAG_ORIGIN_RECT" val="642*399"/>
  <p:tag name="TABLE_ENDDRAG_RECT" val="36*131*643*399"/>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UNIT_TABLE_BEAUTIFY" val="smartTable{138cd393-1fe1-4332-9ecd-c2cc142fa380}"/>
  <p:tag name="TABLE_ENDDRAG_ORIGIN_RECT" val="642*399"/>
  <p:tag name="TABLE_ENDDRAG_RECT" val="36*131*643*399"/>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UNIT_TABLE_BEAUTIFY" val="smartTable{7b726edd-c56f-4171-9f8e-0532c0b91734}"/>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UNIT_TABLE_BEAUTIFY" val="smartTable{7b726edd-c56f-4171-9f8e-0532c0b91734}"/>
  <p:tag name="TABLE_ENDDRAG_ORIGIN_RECT" val="291*162"/>
  <p:tag name="TABLE_ENDDRAG_RECT" val="410*178*291*162"/>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UNIT_TABLE_BEAUTIFY" val="smartTable{7b726edd-c56f-4171-9f8e-0532c0b91734}"/>
  <p:tag name="KSO_WM_BEAUTIFY_FLAG" val=""/>
  <p:tag name="TABLE_ENDDRAG_ORIGIN_RECT" val="182*33"/>
  <p:tag name="TABLE_ENDDRAG_RECT" val="585*173*182*33"/>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UNIT_TABLE_BEAUTIFY" val="smartTable{7b726edd-c56f-4171-9f8e-0532c0b91734}"/>
  <p:tag name="KSO_WM_BEAUTIFY_FLAG" val=""/>
  <p:tag name="TABLE_ENDDRAG_ORIGIN_RECT" val="244*100"/>
  <p:tag name="TABLE_ENDDRAG_RECT" val="435*177*244*100"/>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PP_MARK_KEY" val="c89a763d-816d-4a6a-bca0-e31533164ece"/>
  <p:tag name="COMMONDATA" val="eyJoZGlkIjoiMzJjODM0ODFlMzJmZDYxYTU5ZjM3ODk5NzI1YjE1O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18010</Words>
  <Application>WPS 演示</Application>
  <PresentationFormat>宽屏</PresentationFormat>
  <Paragraphs>2117</Paragraphs>
  <Slides>95</Slides>
  <Notes>0</Notes>
  <HiddenSlides>1</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8</vt:i4>
      </vt:variant>
      <vt:variant>
        <vt:lpstr>幻灯片标题</vt:lpstr>
      </vt:variant>
      <vt:variant>
        <vt:i4>95</vt:i4>
      </vt:variant>
    </vt:vector>
  </HeadingPairs>
  <TitlesOfParts>
    <vt:vector size="119" baseType="lpstr">
      <vt:lpstr>Arial</vt:lpstr>
      <vt:lpstr>宋体</vt:lpstr>
      <vt:lpstr>Wingdings</vt:lpstr>
      <vt:lpstr>微软雅黑</vt:lpstr>
      <vt:lpstr>Times New Roman</vt:lpstr>
      <vt:lpstr>等线</vt:lpstr>
      <vt:lpstr>Verdana</vt:lpstr>
      <vt:lpstr>Arial Unicode MS</vt:lpstr>
      <vt:lpstr>+中文正文</vt:lpstr>
      <vt:lpstr>Segoe Print</vt:lpstr>
      <vt:lpstr>华文行楷</vt:lpstr>
      <vt:lpstr>Wingdings</vt:lpstr>
      <vt:lpstr>Times New Roman</vt:lpstr>
      <vt:lpstr>Times New Roman</vt:lpstr>
      <vt:lpstr>Calibri</vt:lpstr>
      <vt:lpstr>Office 主题​​</vt:lpstr>
      <vt:lpstr>Paint.Picture</vt:lpstr>
      <vt:lpstr>Paint.Picture</vt:lpstr>
      <vt:lpstr>Word.Picture.8</vt:lpstr>
      <vt:lpstr>Paint.Picture</vt:lpstr>
      <vt:lpstr>Visio.Drawing.15</vt:lpstr>
      <vt:lpstr>Visio.Drawing.15</vt:lpstr>
      <vt:lpstr>Visio.Drawing.15</vt:lpstr>
      <vt:lpstr>Visio.Drawing.15</vt:lpstr>
      <vt:lpstr>PowerPoint 演示文稿</vt:lpstr>
      <vt:lpstr>目录</vt:lpstr>
      <vt:lpstr>1.1  面向对象基础</vt:lpstr>
      <vt:lpstr>1.1.1  面向对象与面向过程编程1/7</vt:lpstr>
      <vt:lpstr>1.1.1  面向对象与面向过程编程2/7</vt:lpstr>
      <vt:lpstr>1.1.1  面向对象与面向过程编程3/7</vt:lpstr>
      <vt:lpstr>1.1.1  面向对象与面向过程编程4/7</vt:lpstr>
      <vt:lpstr>1.1.1  面向对象与面向过程编程5/7</vt:lpstr>
      <vt:lpstr>1.1.1  面向对象与面向过程编程6/7</vt:lpstr>
      <vt:lpstr>1.1.1  面向对象与面向过程编程6/7</vt:lpstr>
      <vt:lpstr>1.1.1  面向对象与面向过程编程7/7</vt:lpstr>
      <vt:lpstr>PowerPoint 演示文稿</vt:lpstr>
      <vt:lpstr>1.1.2  类与对象1/6</vt:lpstr>
      <vt:lpstr>PowerPoint 演示文稿</vt:lpstr>
      <vt:lpstr>PowerPoint 演示文稿</vt:lpstr>
      <vt:lpstr>PowerPoint 演示文稿</vt:lpstr>
      <vt:lpstr>PowerPoint 演示文稿</vt:lpstr>
      <vt:lpstr>PowerPoint 演示文稿</vt:lpstr>
      <vt:lpstr>PowerPoint 演示文稿</vt:lpstr>
      <vt:lpstr>1.1.3  类的属性和操作1/2</vt:lpstr>
      <vt:lpstr>1.1.3  类的属性和操作2/2</vt:lpstr>
      <vt:lpstr>1.1.4  消息1/2</vt:lpstr>
      <vt:lpstr>1.1.4  消息2/2</vt:lpstr>
      <vt:lpstr>1.1.5  面向对象的特征1/2</vt:lpstr>
      <vt:lpstr>1.1.5  面向对象的特征2/2</vt:lpstr>
      <vt:lpstr>PowerPoint 演示文稿</vt:lpstr>
      <vt:lpstr>目录</vt:lpstr>
      <vt:lpstr>1.2  UML类图设计方法</vt:lpstr>
      <vt:lpstr>1.2.1 UML类图介绍1/4</vt:lpstr>
      <vt:lpstr>1.2.1 UML类图介绍2/4</vt:lpstr>
      <vt:lpstr>1.2.1 UML类图介绍3/4</vt:lpstr>
      <vt:lpstr>1.2.1 UML类图介绍4/4</vt:lpstr>
      <vt:lpstr>1.2.2 UML类的表示1/3</vt:lpstr>
      <vt:lpstr>1.2.2 UML类的表示2/3</vt:lpstr>
      <vt:lpstr>1.2.2 UML类的表示3/3</vt:lpstr>
      <vt:lpstr>1.2.3 类之间的关联关系1/15</vt:lpstr>
      <vt:lpstr>1.2.3 类之间的关联关系2/15</vt:lpstr>
      <vt:lpstr>1.2.3 类之间的关联关系4/15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1.2.6 通用类结构1/11</vt:lpstr>
      <vt:lpstr>1.2.6 通用类结构2/11</vt:lpstr>
      <vt:lpstr>1.2.6 通用类结构3/11</vt:lpstr>
      <vt:lpstr>1.2.6 通用类结构4/11</vt:lpstr>
      <vt:lpstr>1.2.6 通用类结构5/11</vt:lpstr>
      <vt:lpstr>1.2.6 通用类结构6/11</vt:lpstr>
      <vt:lpstr>1.2.6 通用类结构7/11</vt:lpstr>
      <vt:lpstr>1.2.6 通用类结构8/11</vt:lpstr>
      <vt:lpstr>1.2.6 通用类结构9/11</vt:lpstr>
      <vt:lpstr>1.2.6 通用类结构10/11</vt:lpstr>
      <vt:lpstr>1.2.6 通用类结构11/11</vt:lpstr>
      <vt:lpstr>PowerPoint 演示文稿</vt:lpstr>
      <vt:lpstr>1.2.7 建模鲜牛奶系统1/24</vt:lpstr>
      <vt:lpstr>1.2.7 建模鲜牛奶系统2/24</vt:lpstr>
      <vt:lpstr>1.2.7 建模鲜牛奶系统3/24</vt:lpstr>
      <vt:lpstr>1.2.7 建模鲜牛奶系统4/24</vt:lpstr>
      <vt:lpstr>1.2.7 建模鲜牛奶系统5/24</vt:lpstr>
      <vt:lpstr>1.2.7 建模鲜牛奶系统6/24</vt:lpstr>
      <vt:lpstr>1.2.7 建模鲜牛奶系统7/24</vt:lpstr>
      <vt:lpstr>1.2.7 建模鲜牛奶系统8/24</vt:lpstr>
      <vt:lpstr>1.2.7 建模鲜牛奶系统9/24</vt:lpstr>
      <vt:lpstr>1.2.7 建模鲜牛奶系统10/24</vt:lpstr>
      <vt:lpstr>1.2.7 建模鲜牛奶系统11/24</vt:lpstr>
      <vt:lpstr>1.2.7 建模鲜牛奶系统12/24</vt:lpstr>
      <vt:lpstr>1.2.7 建模鲜牛奶系统13/24</vt:lpstr>
      <vt:lpstr>1.2.7 建模鲜牛奶系统14/24</vt:lpstr>
      <vt:lpstr>1.2.7 建模鲜牛奶系统15/24</vt:lpstr>
      <vt:lpstr>1.2.7 建模鲜牛奶系统16/24</vt:lpstr>
      <vt:lpstr>1.2.7 建模鲜牛奶系统17/24</vt:lpstr>
      <vt:lpstr>1.2.7 建模鲜牛奶系统18/24</vt:lpstr>
      <vt:lpstr>1.2.7 建模鲜牛奶系统19/24</vt:lpstr>
      <vt:lpstr>1.2.7 建模鲜牛奶系统20/24</vt:lpstr>
      <vt:lpstr>1.2.7 建模鲜牛奶系统21/24</vt:lpstr>
      <vt:lpstr>1.2.7 建模鲜牛奶系统22/24</vt:lpstr>
      <vt:lpstr>1.2.7 建模鲜牛奶系统23/24</vt:lpstr>
      <vt:lpstr>1.2.7 建模鲜牛奶系统24/24</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亦磊 石</dc:creator>
  <cp:lastModifiedBy>马春燕</cp:lastModifiedBy>
  <cp:revision>343</cp:revision>
  <dcterms:created xsi:type="dcterms:W3CDTF">2023-08-03T06:11:00Z</dcterms:created>
  <dcterms:modified xsi:type="dcterms:W3CDTF">2023-09-04T15:25:51Z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338B51B2B9ED4BC98325D3A6731B9E33</vt:lpwstr>
  </property>
  <property fmtid="{D5CDD505-2E9C-101B-9397-08002B2CF9AE}" pid="3" name="KSOProductBuildVer">
    <vt:lpwstr>2052-11.1.0.13703</vt:lpwstr>
  </property>
</Properties>
</file>