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5"/>
  </p:notesMasterIdLst>
  <p:sldIdLst>
    <p:sldId id="856" r:id="rId2"/>
    <p:sldId id="645" r:id="rId3"/>
    <p:sldId id="857" r:id="rId4"/>
    <p:sldId id="770" r:id="rId5"/>
    <p:sldId id="858" r:id="rId6"/>
    <p:sldId id="859" r:id="rId7"/>
    <p:sldId id="860" r:id="rId8"/>
    <p:sldId id="861" r:id="rId9"/>
    <p:sldId id="862" r:id="rId10"/>
    <p:sldId id="863" r:id="rId11"/>
    <p:sldId id="864" r:id="rId12"/>
    <p:sldId id="865" r:id="rId13"/>
    <p:sldId id="866" r:id="rId14"/>
    <p:sldId id="867" r:id="rId15"/>
    <p:sldId id="868" r:id="rId16"/>
    <p:sldId id="869" r:id="rId17"/>
    <p:sldId id="870" r:id="rId18"/>
    <p:sldId id="871" r:id="rId19"/>
    <p:sldId id="872" r:id="rId20"/>
    <p:sldId id="873" r:id="rId21"/>
    <p:sldId id="874" r:id="rId22"/>
    <p:sldId id="875" r:id="rId23"/>
    <p:sldId id="876" r:id="rId24"/>
    <p:sldId id="877" r:id="rId25"/>
    <p:sldId id="878" r:id="rId26"/>
    <p:sldId id="879" r:id="rId27"/>
    <p:sldId id="880" r:id="rId28"/>
    <p:sldId id="881" r:id="rId29"/>
    <p:sldId id="882" r:id="rId30"/>
    <p:sldId id="883" r:id="rId31"/>
    <p:sldId id="884" r:id="rId32"/>
    <p:sldId id="885" r:id="rId33"/>
    <p:sldId id="886" r:id="rId34"/>
    <p:sldId id="887" r:id="rId35"/>
    <p:sldId id="888" r:id="rId36"/>
    <p:sldId id="889" r:id="rId37"/>
    <p:sldId id="890" r:id="rId38"/>
    <p:sldId id="891" r:id="rId39"/>
    <p:sldId id="892" r:id="rId40"/>
    <p:sldId id="893" r:id="rId41"/>
    <p:sldId id="894" r:id="rId42"/>
    <p:sldId id="895" r:id="rId43"/>
    <p:sldId id="896" r:id="rId4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6">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0BD"/>
    <a:srgbClr val="E3FDBE"/>
    <a:srgbClr val="DCFDAB"/>
    <a:srgbClr val="FFAAA9"/>
    <a:srgbClr val="DBFDAA"/>
    <a:srgbClr val="FFE1E1"/>
    <a:srgbClr val="ECE5F7"/>
    <a:srgbClr val="E1D6F2"/>
    <a:srgbClr val="DCFDAD"/>
    <a:srgbClr val="D4C5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91"/>
    <p:restoredTop sz="96272" autoAdjust="0"/>
  </p:normalViewPr>
  <p:slideViewPr>
    <p:cSldViewPr snapToGrid="0">
      <p:cViewPr varScale="1">
        <p:scale>
          <a:sx n="65" d="100"/>
          <a:sy n="65" d="100"/>
        </p:scale>
        <p:origin x="999" y="48"/>
      </p:cViewPr>
      <p:guideLst>
        <p:guide orient="horz" pos="2086"/>
        <p:guide pos="2880"/>
      </p:guideLst>
    </p:cSldViewPr>
  </p:slideViewPr>
  <p:notesTextViewPr>
    <p:cViewPr>
      <p:scale>
        <a:sx n="1" d="1"/>
        <a:sy n="1" d="1"/>
      </p:scale>
      <p:origin x="0" y="0"/>
    </p:cViewPr>
  </p:notesTextViewPr>
  <p:sorterViewPr>
    <p:cViewPr>
      <p:scale>
        <a:sx n="100" d="100"/>
        <a:sy n="100" d="100"/>
      </p:scale>
      <p:origin x="0" y="1288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F37CF0-5B85-4F82-8895-487FD940EFF8}" type="datetimeFigureOut">
              <a:rPr lang="zh-CN" altLang="en-US" smtClean="0"/>
              <a:t>2022/6/12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161C67-365B-455B-8333-B2F3856160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ChangeArrowheads="1" noTextEdit="1"/>
          </p:cNvSpPr>
          <p:nvPr>
            <p:ph type="sldImg"/>
          </p:nvPr>
        </p:nvSpPr>
        <p:spPr>
          <a:xfrm>
            <a:off x="1143000" y="685800"/>
            <a:ext cx="4572000" cy="3429000"/>
          </a:xfrm>
        </p:spPr>
      </p:sp>
      <p:sp>
        <p:nvSpPr>
          <p:cNvPr id="19458" name="备注占位符 2"/>
          <p:cNvSpPr>
            <a:spLocks noGrp="1" noChangeArrowheads="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59" name="灯片编号占位符 3"/>
          <p:cNvSpPr>
            <a:spLocks noGrp="1"/>
          </p:cNvSpPr>
          <p:nvPr>
            <p:ph type="sldNum" sz="quarter" idx="5"/>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Verdana" panose="020B0804030504040204" pitchFamily="34" charset="0"/>
                <a:ea typeface="宋体" panose="02010600030101010101" pitchFamily="2" charset="-122"/>
              </a:defRPr>
            </a:lvl1pPr>
            <a:lvl2pPr marL="742950" indent="-285750">
              <a:defRPr sz="2800">
                <a:solidFill>
                  <a:schemeClr val="tx1"/>
                </a:solidFill>
                <a:latin typeface="Verdana" panose="020B0804030504040204" pitchFamily="34" charset="0"/>
                <a:ea typeface="宋体" panose="02010600030101010101" pitchFamily="2" charset="-122"/>
              </a:defRPr>
            </a:lvl2pPr>
            <a:lvl3pPr marL="1143000" indent="-228600">
              <a:defRPr sz="2800">
                <a:solidFill>
                  <a:schemeClr val="tx1"/>
                </a:solidFill>
                <a:latin typeface="Verdana" panose="020B0804030504040204" pitchFamily="34" charset="0"/>
                <a:ea typeface="宋体" panose="02010600030101010101" pitchFamily="2" charset="-122"/>
              </a:defRPr>
            </a:lvl3pPr>
            <a:lvl4pPr marL="1600200" indent="-228600">
              <a:defRPr sz="2800">
                <a:solidFill>
                  <a:schemeClr val="tx1"/>
                </a:solidFill>
                <a:latin typeface="Verdana" panose="020B0804030504040204" pitchFamily="34" charset="0"/>
                <a:ea typeface="宋体" panose="02010600030101010101" pitchFamily="2" charset="-122"/>
              </a:defRPr>
            </a:lvl4pPr>
            <a:lvl5pPr marL="2057400" indent="-228600">
              <a:defRPr sz="2800">
                <a:solidFill>
                  <a:schemeClr val="tx1"/>
                </a:solidFill>
                <a:latin typeface="Verdana" panose="020B08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9pPr>
          </a:lstStyle>
          <a:p>
            <a:fld id="{DA079DD9-C9D1-C543-AF12-536BB687E807}" type="slidenum">
              <a:rPr lang="en-US" altLang="zh-CN" smtClean="0"/>
              <a:t>2</a:t>
            </a:fld>
            <a:endParaRPr lang="en-US" altLang="zh-CN" sz="1200">
              <a:latin typeface="Arial" panose="020B060402020209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02578" y="1057014"/>
            <a:ext cx="7772400" cy="1535184"/>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159778" y="402987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t>2022/6/12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03C160-1CF6-4197-853C-5DD8144FA9BE}" type="datetime1">
              <a:rPr lang="zh-CN" altLang="en-US" smtClean="0"/>
              <a:t>2022/6/12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9389" y="1057014"/>
            <a:ext cx="7772400" cy="1533600"/>
          </a:xfrm>
        </p:spPr>
        <p:txBody>
          <a:bodyPr anchor="b"/>
          <a:lstStyle>
            <a:lvl1pPr>
              <a:defRPr sz="4800"/>
            </a:lvl1pPr>
          </a:lstStyle>
          <a:p>
            <a:r>
              <a:rPr lang="zh-CN" altLang="en-US"/>
              <a:t>单击此处编辑母版标题样式</a:t>
            </a:r>
            <a:endParaRPr lang="en-US" dirty="0"/>
          </a:p>
        </p:txBody>
      </p:sp>
      <p:sp>
        <p:nvSpPr>
          <p:cNvPr id="3" name="Text Placeholder 2"/>
          <p:cNvSpPr>
            <a:spLocks noGrp="1"/>
          </p:cNvSpPr>
          <p:nvPr>
            <p:ph type="body" idx="1"/>
          </p:nvPr>
        </p:nvSpPr>
        <p:spPr>
          <a:xfrm>
            <a:off x="1164978" y="4027400"/>
            <a:ext cx="6858000" cy="1656000"/>
          </a:xfrm>
        </p:spPr>
        <p:txBody>
          <a:bodyPr/>
          <a:lstStyle>
            <a:lvl1pPr marL="0" indent="0" algn="ctr">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42E54B1-0884-4633-8327-893DAA1E511F}" type="datetime1">
              <a:rPr lang="zh-CN" altLang="en-US" smtClean="0"/>
              <a:t>2022/6/12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1650BB-E4E8-4483-82DA-D58DEBC4998C}" type="datetime1">
              <a:rPr lang="zh-CN" altLang="en-US" smtClean="0"/>
              <a:t>2022/6/12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6604BCF-E610-4FCE-ADC3-9F4D58E19C5C}" type="datetime1">
              <a:rPr lang="zh-CN" altLang="en-US" smtClean="0"/>
              <a:t>2022/6/12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t>2022/6/12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0FCEF-073A-4FC7-8BAD-A662F97179A2}" type="datetime1">
              <a:rPr lang="zh-CN" altLang="en-US" smtClean="0"/>
              <a:t>2022/6/12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45B6709-067F-4154-9C9A-D56718F28438}" type="datetime1">
              <a:rPr lang="zh-CN" altLang="en-US" smtClean="0"/>
              <a:t>2022/6/12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D8D4C65-E77B-45F2-BD81-CFF9643C0CCF}" type="datetime1">
              <a:rPr lang="zh-CN" altLang="en-US" smtClean="0"/>
              <a:t>2022/6/12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F906368-F392-4465-AD91-AE646936C52B}" type="datetime1">
              <a:rPr lang="zh-CN" altLang="en-US" smtClean="0"/>
              <a:t>2022/6/12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13AE443-EA00-4061-899C-73E3EB4E23B9}" type="datetime1">
              <a:rPr lang="zh-CN" altLang="en-US" smtClean="0"/>
              <a:t>2022/6/12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a:prstGeom prst="rect">
            <a:avLst/>
          </a:prstGeom>
        </p:spPr>
        <p:txBody>
          <a:bodyPr/>
          <a:lstStyle/>
          <a:p>
            <a:r>
              <a:rPr lang="zh-CN" altLang="en-US"/>
              <a:t>单击此处编辑母版标题样式</a:t>
            </a:r>
          </a:p>
        </p:txBody>
      </p:sp>
      <p:sp>
        <p:nvSpPr>
          <p:cNvPr id="3" name="Rectangle 2"/>
          <p:cNvSpPr>
            <a:spLocks noGrp="1" noChangeArrowheads="1"/>
          </p:cNvSpPr>
          <p:nvPr>
            <p:ph type="sldNum" sz="quarter" idx="10"/>
          </p:nvPr>
        </p:nvSpPr>
        <p:spPr/>
        <p:txBody>
          <a:bodyPr/>
          <a:lstStyle>
            <a:lvl1pPr>
              <a:defRPr/>
            </a:lvl1pPr>
          </a:lstStyle>
          <a:p>
            <a:pPr>
              <a:defRPr/>
            </a:pPr>
            <a:fld id="{564B43B8-EC4A-5743-9CA4-764B42BFAC9D}" type="slidenum">
              <a:rPr lang="zh-CN" altLang="en-US"/>
              <a:t>‹#›</a:t>
            </a:fld>
            <a:endParaRPr lang="en-US" altLang="zh-CN" sz="135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4399"/>
            <a:ext cx="9144000" cy="817721"/>
          </a:xfrm>
          <a:prstGeom prst="rect">
            <a:avLst/>
          </a:prstGeom>
        </p:spPr>
        <p:txBody>
          <a:bodyPr vert="horz" lIns="91440" tIns="144000" rIns="91440" bIns="45720" rtlCol="0" anchor="ctr">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34223" y="906011"/>
            <a:ext cx="8883941" cy="5637402"/>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525" y="6660859"/>
            <a:ext cx="2057400" cy="197140"/>
          </a:xfrm>
          <a:prstGeom prst="rect">
            <a:avLst/>
          </a:prstGeom>
        </p:spPr>
        <p:txBody>
          <a:bodyPr vert="horz" lIns="91440" tIns="36000" rIns="91440" bIns="45720" rtlCol="0" anchor="ctr"/>
          <a:lstStyle>
            <a:lvl1pPr algn="l">
              <a:defRPr sz="1200" b="1">
                <a:solidFill>
                  <a:srgbClr val="002060"/>
                </a:solidFill>
              </a:defRPr>
            </a:lvl1pPr>
          </a:lstStyle>
          <a:p>
            <a:fld id="{7181A378-AD84-4E06-B1B5-6D5F5ACB78AE}" type="datetime1">
              <a:rPr lang="zh-CN" altLang="en-US" smtClean="0"/>
              <a:t>2022/6/12</a:t>
            </a:fld>
            <a:endParaRPr lang="zh-CN" altLang="en-US"/>
          </a:p>
        </p:txBody>
      </p:sp>
      <p:sp>
        <p:nvSpPr>
          <p:cNvPr id="5" name="Footer Placeholder 4"/>
          <p:cNvSpPr>
            <a:spLocks noGrp="1"/>
          </p:cNvSpPr>
          <p:nvPr>
            <p:ph type="ftr" sz="quarter" idx="3"/>
          </p:nvPr>
        </p:nvSpPr>
        <p:spPr>
          <a:xfrm>
            <a:off x="2273417" y="6660859"/>
            <a:ext cx="4597165" cy="197140"/>
          </a:xfrm>
          <a:prstGeom prst="rect">
            <a:avLst/>
          </a:prstGeom>
        </p:spPr>
        <p:txBody>
          <a:bodyPr vert="horz" lIns="91440" tIns="36000" rIns="91440" bIns="45720" rtlCol="0" anchor="ctr"/>
          <a:lstStyle>
            <a:lvl1pPr algn="ctr">
              <a:defRPr sz="1200" b="0">
                <a:solidFill>
                  <a:srgbClr val="002060"/>
                </a:solidFill>
              </a:defRPr>
            </a:lvl1pPr>
          </a:lstStyle>
          <a:p>
            <a:endParaRPr lang="zh-CN" altLang="en-US"/>
          </a:p>
        </p:txBody>
      </p:sp>
      <p:sp>
        <p:nvSpPr>
          <p:cNvPr id="6" name="Slide Number Placeholder 5"/>
          <p:cNvSpPr>
            <a:spLocks noGrp="1"/>
          </p:cNvSpPr>
          <p:nvPr>
            <p:ph type="sldNum" sz="quarter" idx="4"/>
          </p:nvPr>
        </p:nvSpPr>
        <p:spPr>
          <a:xfrm>
            <a:off x="7086600" y="6660859"/>
            <a:ext cx="2057400" cy="197140"/>
          </a:xfrm>
          <a:prstGeom prst="rect">
            <a:avLst/>
          </a:prstGeom>
        </p:spPr>
        <p:txBody>
          <a:bodyPr vert="horz" lIns="91440" tIns="36000" rIns="91440" bIns="45720" rtlCol="0" anchor="ctr"/>
          <a:lstStyle>
            <a:lvl1pPr algn="r">
              <a:defRPr sz="1200" b="1">
                <a:solidFill>
                  <a:srgbClr val="002060"/>
                </a:solidFill>
              </a:defRPr>
            </a:lvl1pPr>
          </a:lstStyle>
          <a:p>
            <a:fld id="{5AD84F5B-1672-4D3F-9FEC-5DF89A7B791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p:titleStyle>
    <p:bodyStyle>
      <a:lvl1pPr marL="360680" indent="-360680" algn="l" defTabSz="914400" rtl="0" eaLnBrk="1" latinLnBrk="0" hangingPunct="1">
        <a:lnSpc>
          <a:spcPct val="130000"/>
        </a:lnSpc>
        <a:spcBef>
          <a:spcPts val="1000"/>
        </a:spcBef>
        <a:buSzPct val="85000"/>
        <a:buFont typeface="Wingdings" panose="05000000000000000000" pitchFamily="2" charset="2"/>
        <a:buChar char="n"/>
        <a:defRPr sz="2400" kern="1200">
          <a:solidFill>
            <a:srgbClr val="002060"/>
          </a:solidFill>
          <a:latin typeface="+mn-lt"/>
          <a:ea typeface="+mn-ea"/>
          <a:cs typeface="+mn-cs"/>
        </a:defRPr>
      </a:lvl1pPr>
      <a:lvl2pPr marL="720725" indent="-360680" algn="l" defTabSz="914400" rtl="0" eaLnBrk="1" latinLnBrk="0" hangingPunct="1">
        <a:lnSpc>
          <a:spcPct val="130000"/>
        </a:lnSpc>
        <a:spcBef>
          <a:spcPts val="500"/>
        </a:spcBef>
        <a:buSzPct val="85000"/>
        <a:buFont typeface="Wingdings" panose="05000000000000000000" pitchFamily="2" charset="2"/>
        <a:buChar char="u"/>
        <a:defRPr sz="2000" kern="1200">
          <a:solidFill>
            <a:srgbClr val="002060"/>
          </a:solidFill>
          <a:latin typeface="+mn-lt"/>
          <a:ea typeface="+mn-ea"/>
          <a:cs typeface="+mn-cs"/>
        </a:defRPr>
      </a:lvl2pPr>
      <a:lvl3pPr marL="990600" indent="-269875" algn="l" defTabSz="914400" rtl="0" eaLnBrk="1" latinLnBrk="0" hangingPunct="1">
        <a:lnSpc>
          <a:spcPct val="130000"/>
        </a:lnSpc>
        <a:spcBef>
          <a:spcPts val="500"/>
        </a:spcBef>
        <a:buSzPct val="85000"/>
        <a:buFont typeface="Wingdings" panose="05000000000000000000" pitchFamily="2" charset="2"/>
        <a:buChar char="l"/>
        <a:defRPr sz="1800" kern="1200">
          <a:solidFill>
            <a:srgbClr val="002060"/>
          </a:solidFill>
          <a:latin typeface="+mn-lt"/>
          <a:ea typeface="+mn-ea"/>
          <a:cs typeface="+mn-cs"/>
        </a:defRPr>
      </a:lvl3pPr>
      <a:lvl4pPr marL="1259205" indent="-268605" algn="l" defTabSz="914400" rtl="0" eaLnBrk="1" latinLnBrk="0" hangingPunct="1">
        <a:lnSpc>
          <a:spcPct val="130000"/>
        </a:lnSpc>
        <a:spcBef>
          <a:spcPts val="500"/>
        </a:spcBef>
        <a:buSzPct val="85000"/>
        <a:buFont typeface="Wingdings" panose="05000000000000000000" pitchFamily="2" charset="2"/>
        <a:buChar char="p"/>
        <a:defRPr sz="1600" kern="1200">
          <a:solidFill>
            <a:srgbClr val="002060"/>
          </a:solidFill>
          <a:latin typeface="+mn-lt"/>
          <a:ea typeface="+mn-ea"/>
          <a:cs typeface="+mn-cs"/>
        </a:defRPr>
      </a:lvl4pPr>
      <a:lvl5pPr marL="1527175" indent="-268605" algn="l" defTabSz="914400" rtl="0" eaLnBrk="1" latinLnBrk="0" hangingPunct="1">
        <a:lnSpc>
          <a:spcPct val="130000"/>
        </a:lnSpc>
        <a:spcBef>
          <a:spcPts val="500"/>
        </a:spcBef>
        <a:buSzPct val="85000"/>
        <a:buFont typeface="Wingdings" panose="05000000000000000000" pitchFamily="2" charset="2"/>
        <a:buChar char="Ø"/>
        <a:defRPr sz="16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icourse163.org/course/ZJU-1003377027"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961831-9E67-496F-9B9A-2CE49AE8E3C4}"/>
              </a:ext>
            </a:extLst>
          </p:cNvPr>
          <p:cNvSpPr>
            <a:spLocks noGrp="1"/>
          </p:cNvSpPr>
          <p:nvPr>
            <p:ph type="ctrTitle"/>
          </p:nvPr>
        </p:nvSpPr>
        <p:spPr>
          <a:xfrm>
            <a:off x="880144" y="3180982"/>
            <a:ext cx="7772400" cy="2095500"/>
          </a:xfrm>
        </p:spPr>
        <p:txBody>
          <a:bodyPr>
            <a:normAutofit fontScale="90000"/>
          </a:bodyPr>
          <a:lstStyle/>
          <a:p>
            <a:pPr algn="ctr">
              <a:lnSpc>
                <a:spcPct val="100000"/>
              </a:lnSpc>
            </a:pPr>
            <a:r>
              <a:rPr lang="zh-CN" altLang="en-US" sz="8800" b="1" spc="600" dirty="0">
                <a:latin typeface="华文行楷" panose="02010800040101010101" pitchFamily="2" charset="-122"/>
                <a:ea typeface="华文行楷" panose="02010800040101010101" pitchFamily="2" charset="-122"/>
                <a:cs typeface="微软雅黑" panose="020B0503020204020204" pitchFamily="34" charset="-122"/>
              </a:rPr>
              <a:t>人工智能</a:t>
            </a:r>
            <a:br>
              <a:rPr lang="en-US" altLang="zh-CN" sz="8800" b="1" spc="600" dirty="0">
                <a:latin typeface="华文行楷" panose="02010800040101010101" pitchFamily="2" charset="-122"/>
                <a:ea typeface="华文行楷" panose="02010800040101010101" pitchFamily="2" charset="-122"/>
                <a:cs typeface="微软雅黑" panose="020B0503020204020204" pitchFamily="34" charset="-122"/>
              </a:rPr>
            </a:br>
            <a:r>
              <a:rPr lang="zh-CN" altLang="en-US" sz="8800" b="1" spc="600" dirty="0">
                <a:latin typeface="华文行楷" panose="02010800040101010101" pitchFamily="2" charset="-122"/>
                <a:ea typeface="华文行楷" panose="02010800040101010101" pitchFamily="2" charset="-122"/>
                <a:cs typeface="微软雅黑" panose="020B0503020204020204" pitchFamily="34" charset="-122"/>
              </a:rPr>
              <a:t>发展与挑战</a:t>
            </a:r>
            <a:endParaRPr lang="zh-CN" altLang="en-US" sz="8800" spc="600" dirty="0">
              <a:latin typeface="华文行楷" panose="02010800040101010101" pitchFamily="2" charset="-122"/>
              <a:ea typeface="华文行楷" panose="02010800040101010101" pitchFamily="2" charset="-122"/>
            </a:endParaRPr>
          </a:p>
        </p:txBody>
      </p:sp>
      <p:sp>
        <p:nvSpPr>
          <p:cNvPr id="5" name="矩形 4">
            <a:extLst>
              <a:ext uri="{FF2B5EF4-FFF2-40B4-BE49-F238E27FC236}">
                <a16:creationId xmlns:a16="http://schemas.microsoft.com/office/drawing/2014/main" id="{A9DA1139-08A0-4FE0-810D-C0A7552784E0}"/>
              </a:ext>
            </a:extLst>
          </p:cNvPr>
          <p:cNvSpPr/>
          <p:nvPr/>
        </p:nvSpPr>
        <p:spPr>
          <a:xfrm>
            <a:off x="4877151" y="530758"/>
            <a:ext cx="3775393" cy="400110"/>
          </a:xfrm>
          <a:prstGeom prst="rect">
            <a:avLst/>
          </a:prstGeom>
        </p:spPr>
        <p:txBody>
          <a:bodyPr wrap="none">
            <a:spAutoFit/>
          </a:bodyPr>
          <a:lstStyle/>
          <a:p>
            <a:r>
              <a:rPr lang="en-US" altLang="zh-CN" sz="2000" dirty="0"/>
              <a:t>《</a:t>
            </a:r>
            <a:r>
              <a:rPr lang="zh-CN" altLang="en-US" sz="2000" dirty="0"/>
              <a:t>人工智能导论：模型与算法</a:t>
            </a:r>
            <a:r>
              <a:rPr lang="en-US" altLang="zh-CN" sz="2000" dirty="0"/>
              <a:t>》</a:t>
            </a:r>
            <a:endParaRPr lang="zh-CN" altLang="en-US" sz="2000" dirty="0"/>
          </a:p>
        </p:txBody>
      </p:sp>
      <p:sp>
        <p:nvSpPr>
          <p:cNvPr id="8" name="标题 1">
            <a:extLst>
              <a:ext uri="{FF2B5EF4-FFF2-40B4-BE49-F238E27FC236}">
                <a16:creationId xmlns:a16="http://schemas.microsoft.com/office/drawing/2014/main" id="{32E5F975-BF95-4957-9230-657C928CF581}"/>
              </a:ext>
            </a:extLst>
          </p:cNvPr>
          <p:cNvSpPr txBox="1">
            <a:spLocks/>
          </p:cNvSpPr>
          <p:nvPr/>
        </p:nvSpPr>
        <p:spPr>
          <a:xfrm>
            <a:off x="679718" y="1435909"/>
            <a:ext cx="7772400" cy="1240032"/>
          </a:xfrm>
          <a:prstGeom prst="rect">
            <a:avLst/>
          </a:prstGeom>
        </p:spPr>
        <p:txBody>
          <a:bodyPr vert="horz" lIns="91440" tIns="144000" rIns="91440" bIns="45720" rtlCol="0" anchor="b">
            <a:normAutofit/>
          </a:bodyPr>
          <a:lstStyle>
            <a:lvl1pPr algn="ctr" defTabSz="914400" rtl="0" eaLnBrk="1" latinLnBrk="0" hangingPunct="1">
              <a:lnSpc>
                <a:spcPct val="90000"/>
              </a:lnSpc>
              <a:spcBef>
                <a:spcPct val="0"/>
              </a:spcBef>
              <a:buNone/>
              <a:defRPr sz="4800" kern="1200">
                <a:solidFill>
                  <a:srgbClr val="C00000"/>
                </a:solidFill>
                <a:latin typeface="+mj-lt"/>
                <a:ea typeface="+mj-ea"/>
                <a:cs typeface="+mj-cs"/>
              </a:defRPr>
            </a:lvl1pPr>
          </a:lstStyle>
          <a:p>
            <a:pPr>
              <a:lnSpc>
                <a:spcPct val="100000"/>
              </a:lnSpc>
            </a:pPr>
            <a:r>
              <a:rPr lang="zh-CN" altLang="en-US" sz="6600" b="1" spc="600" dirty="0">
                <a:solidFill>
                  <a:schemeClr val="tx1"/>
                </a:solidFill>
                <a:latin typeface="华文行楷" panose="02010800040101010101" pitchFamily="2" charset="-122"/>
                <a:ea typeface="华文行楷" panose="02010800040101010101" pitchFamily="2" charset="-122"/>
                <a:cs typeface="微软雅黑" panose="020B0503020204020204" pitchFamily="34" charset="-122"/>
              </a:rPr>
              <a:t>第 </a:t>
            </a:r>
            <a:r>
              <a:rPr lang="en-US" altLang="zh-CN" sz="6600" b="1" spc="600">
                <a:solidFill>
                  <a:schemeClr val="tx1"/>
                </a:solidFill>
                <a:latin typeface="华文行楷" panose="02010800040101010101" pitchFamily="2" charset="-122"/>
                <a:ea typeface="华文行楷" panose="02010800040101010101" pitchFamily="2" charset="-122"/>
                <a:cs typeface="微软雅黑" panose="020B0503020204020204" pitchFamily="34" charset="-122"/>
              </a:rPr>
              <a:t>10 </a:t>
            </a:r>
            <a:r>
              <a:rPr lang="zh-CN" altLang="en-US" sz="6600" b="1" spc="600" dirty="0">
                <a:solidFill>
                  <a:schemeClr val="tx1"/>
                </a:solidFill>
                <a:latin typeface="华文行楷" panose="02010800040101010101" pitchFamily="2" charset="-122"/>
                <a:ea typeface="华文行楷" panose="02010800040101010101" pitchFamily="2" charset="-122"/>
                <a:cs typeface="微软雅黑" panose="020B0503020204020204" pitchFamily="34" charset="-122"/>
              </a:rPr>
              <a:t>章</a:t>
            </a:r>
            <a:endParaRPr lang="zh-CN" altLang="en-US" sz="6600" spc="600" dirty="0">
              <a:solidFill>
                <a:schemeClr val="tx1"/>
              </a:solidFill>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34270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15114" y="99620"/>
            <a:ext cx="6780609" cy="90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a:solidFill>
                  <a:schemeClr val="tx1"/>
                </a:solidFill>
                <a:latin typeface="Verdana" panose="020B0804030504040204" pitchFamily="34" charset="0"/>
                <a:ea typeface="宋体" panose="02010600030101010101" pitchFamily="2" charset="-122"/>
              </a:defRPr>
            </a:lvl1pPr>
            <a:lvl2pPr marL="742950" indent="-285750">
              <a:defRPr sz="2800">
                <a:solidFill>
                  <a:schemeClr val="tx1"/>
                </a:solidFill>
                <a:latin typeface="Verdana" panose="020B0804030504040204" pitchFamily="34" charset="0"/>
                <a:ea typeface="宋体" panose="02010600030101010101" pitchFamily="2" charset="-122"/>
              </a:defRPr>
            </a:lvl2pPr>
            <a:lvl3pPr marL="1143000" indent="-228600">
              <a:defRPr sz="2800">
                <a:solidFill>
                  <a:schemeClr val="tx1"/>
                </a:solidFill>
                <a:latin typeface="Verdana" panose="020B0804030504040204" pitchFamily="34" charset="0"/>
                <a:ea typeface="宋体" panose="02010600030101010101" pitchFamily="2" charset="-122"/>
              </a:defRPr>
            </a:lvl3pPr>
            <a:lvl4pPr marL="1600200" indent="-228600">
              <a:defRPr sz="2800">
                <a:solidFill>
                  <a:schemeClr val="tx1"/>
                </a:solidFill>
                <a:latin typeface="Verdana" panose="020B0804030504040204" pitchFamily="34" charset="0"/>
                <a:ea typeface="宋体" panose="02010600030101010101" pitchFamily="2" charset="-122"/>
              </a:defRPr>
            </a:lvl4pPr>
            <a:lvl5pPr marL="2057400" indent="-228600">
              <a:defRPr sz="2800">
                <a:solidFill>
                  <a:schemeClr val="tx1"/>
                </a:solidFill>
                <a:latin typeface="Verdana" panose="020B08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804030504040204" pitchFamily="34" charset="0"/>
                <a:ea typeface="宋体" panose="02010600030101010101" pitchFamily="2" charset="-122"/>
              </a:defRPr>
            </a:lvl9pPr>
          </a:lstStyle>
          <a:p>
            <a:pPr>
              <a:buFont typeface="Arial" panose="020B0604020202090204" pitchFamily="34" charset="0"/>
              <a:buNone/>
            </a:pPr>
            <a:r>
              <a:rPr lang="zh-CN" altLang="en-US" sz="4000" b="1" dirty="0">
                <a:solidFill>
                  <a:srgbClr val="C00000"/>
                </a:solidFill>
                <a:latin typeface="+mn-lt"/>
                <a:ea typeface="微软雅黑" panose="020B0503020204020204" pitchFamily="34" charset="-122"/>
                <a:sym typeface="Times New Roman" panose="02020503050405090304" pitchFamily="18" charset="0"/>
              </a:rPr>
              <a:t>  提纲</a:t>
            </a:r>
          </a:p>
        </p:txBody>
      </p:sp>
      <p:sp>
        <p:nvSpPr>
          <p:cNvPr id="22" name="矩形 7"/>
          <p:cNvSpPr>
            <a:spLocks noChangeArrowheads="1"/>
          </p:cNvSpPr>
          <p:nvPr/>
        </p:nvSpPr>
        <p:spPr bwMode="auto">
          <a:xfrm>
            <a:off x="310965" y="2905035"/>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90204" pitchFamily="34" charset="0"/>
                <a:ea typeface="宋体" panose="02010600030101010101" pitchFamily="2" charset="-122"/>
              </a:defRPr>
            </a:lvl1pPr>
            <a:lvl2pPr marL="742950" indent="-285750">
              <a:defRPr kumimoji="1" sz="2400">
                <a:solidFill>
                  <a:schemeClr val="tx1"/>
                </a:solidFill>
                <a:latin typeface="Arial" panose="020B0604020202090204" pitchFamily="34" charset="0"/>
                <a:ea typeface="宋体" panose="02010600030101010101" pitchFamily="2" charset="-122"/>
              </a:defRPr>
            </a:lvl2pPr>
            <a:lvl3pPr marL="1143000" indent="-228600">
              <a:defRPr kumimoji="1" sz="2400">
                <a:solidFill>
                  <a:schemeClr val="tx1"/>
                </a:solidFill>
                <a:latin typeface="Arial" panose="020B0604020202090204" pitchFamily="34" charset="0"/>
                <a:ea typeface="宋体" panose="02010600030101010101" pitchFamily="2" charset="-122"/>
              </a:defRPr>
            </a:lvl3pPr>
            <a:lvl4pPr marL="1600200" indent="-228600">
              <a:defRPr kumimoji="1" sz="2400">
                <a:solidFill>
                  <a:schemeClr val="tx1"/>
                </a:solidFill>
                <a:latin typeface="Arial" panose="020B0604020202090204" pitchFamily="34" charset="0"/>
                <a:ea typeface="宋体" panose="02010600030101010101" pitchFamily="2" charset="-122"/>
              </a:defRPr>
            </a:lvl4pPr>
            <a:lvl5pPr marL="2057400" indent="-228600">
              <a:defRPr kumimoji="1" sz="2400">
                <a:solidFill>
                  <a:schemeClr val="tx1"/>
                </a:solidFill>
                <a:latin typeface="Arial" panose="020B0604020202090204" pitchFamily="34" charset="0"/>
                <a:ea typeface="宋体" panose="02010600030101010101" pitchFamily="2" charset="-122"/>
              </a:defRPr>
            </a:lvl5pPr>
            <a:lvl6pPr marL="25146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6pPr>
            <a:lvl7pPr marL="29718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7pPr>
            <a:lvl8pPr marL="34290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8pPr>
            <a:lvl9pPr marL="38862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9pPr>
          </a:lstStyle>
          <a:p>
            <a:pPr eaLnBrk="1" hangingPunct="1">
              <a:lnSpc>
                <a:spcPct val="120000"/>
              </a:lnSpc>
            </a:pPr>
            <a:r>
              <a:rPr kumimoji="0" lang="zh-CN" altLang="en-US" sz="2800" b="1" dirty="0">
                <a:solidFill>
                  <a:srgbClr val="C00000"/>
                </a:solidFill>
                <a:latin typeface="+mn-lt"/>
                <a:ea typeface="微软雅黑" panose="020B0503020204020204" pitchFamily="34" charset="-122"/>
                <a:sym typeface="Calibri" panose="020F0502020204030204" pitchFamily="34" charset="0"/>
              </a:rPr>
              <a:t>二、下一代人工智能</a:t>
            </a:r>
          </a:p>
        </p:txBody>
      </p:sp>
      <p:sp>
        <p:nvSpPr>
          <p:cNvPr id="24" name="矩形 7"/>
          <p:cNvSpPr>
            <a:spLocks noChangeArrowheads="1"/>
          </p:cNvSpPr>
          <p:nvPr/>
        </p:nvSpPr>
        <p:spPr bwMode="auto">
          <a:xfrm>
            <a:off x="233846" y="1716746"/>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90204" pitchFamily="34" charset="0"/>
                <a:ea typeface="宋体" panose="02010600030101010101" pitchFamily="2" charset="-122"/>
              </a:defRPr>
            </a:lvl1pPr>
            <a:lvl2pPr marL="742950" indent="-285750">
              <a:defRPr kumimoji="1" sz="2400">
                <a:solidFill>
                  <a:schemeClr val="tx1"/>
                </a:solidFill>
                <a:latin typeface="Arial" panose="020B0604020202090204" pitchFamily="34" charset="0"/>
                <a:ea typeface="宋体" panose="02010600030101010101" pitchFamily="2" charset="-122"/>
              </a:defRPr>
            </a:lvl2pPr>
            <a:lvl3pPr marL="1143000" indent="-228600">
              <a:defRPr kumimoji="1" sz="2400">
                <a:solidFill>
                  <a:schemeClr val="tx1"/>
                </a:solidFill>
                <a:latin typeface="Arial" panose="020B0604020202090204" pitchFamily="34" charset="0"/>
                <a:ea typeface="宋体" panose="02010600030101010101" pitchFamily="2" charset="-122"/>
              </a:defRPr>
            </a:lvl3pPr>
            <a:lvl4pPr marL="1600200" indent="-228600">
              <a:defRPr kumimoji="1" sz="2400">
                <a:solidFill>
                  <a:schemeClr val="tx1"/>
                </a:solidFill>
                <a:latin typeface="Arial" panose="020B0604020202090204" pitchFamily="34" charset="0"/>
                <a:ea typeface="宋体" panose="02010600030101010101" pitchFamily="2" charset="-122"/>
              </a:defRPr>
            </a:lvl4pPr>
            <a:lvl5pPr marL="2057400" indent="-228600">
              <a:defRPr kumimoji="1" sz="2400">
                <a:solidFill>
                  <a:schemeClr val="tx1"/>
                </a:solidFill>
                <a:latin typeface="Arial" panose="020B0604020202090204" pitchFamily="34" charset="0"/>
                <a:ea typeface="宋体" panose="02010600030101010101" pitchFamily="2" charset="-122"/>
              </a:defRPr>
            </a:lvl5pPr>
            <a:lvl6pPr marL="25146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6pPr>
            <a:lvl7pPr marL="29718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7pPr>
            <a:lvl8pPr marL="34290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8pPr>
            <a:lvl9pPr marL="38862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9pPr>
          </a:lstStyle>
          <a:p>
            <a:pPr>
              <a:lnSpc>
                <a:spcPct val="120000"/>
              </a:lnSpc>
            </a:pPr>
            <a:r>
              <a:rPr kumimoji="0" lang="zh-CN" altLang="en-US" sz="2800" b="1" dirty="0">
                <a:solidFill>
                  <a:srgbClr val="C00000"/>
                </a:solidFill>
                <a:latin typeface="+mn-lt"/>
                <a:ea typeface="微软雅黑" panose="020B0503020204020204" pitchFamily="34" charset="-122"/>
              </a:rPr>
              <a:t>一、人工智能发展阶段</a:t>
            </a:r>
          </a:p>
        </p:txBody>
      </p:sp>
      <p:sp>
        <p:nvSpPr>
          <p:cNvPr id="2" name="矩形 1"/>
          <p:cNvSpPr/>
          <p:nvPr/>
        </p:nvSpPr>
        <p:spPr>
          <a:xfrm>
            <a:off x="633470" y="5611382"/>
            <a:ext cx="7629180" cy="566822"/>
          </a:xfrm>
          <a:prstGeom prst="rect">
            <a:avLst/>
          </a:prstGeom>
        </p:spPr>
        <p:txBody>
          <a:bodyPr wrap="square">
            <a:spAutoFit/>
          </a:bodyPr>
          <a:lstStyle/>
          <a:p>
            <a:pPr>
              <a:lnSpc>
                <a:spcPts val="1200"/>
              </a:lnSpc>
            </a:pPr>
            <a:r>
              <a:rPr lang="zh-CN" altLang="en-US" dirty="0"/>
              <a:t>吴飞，</a:t>
            </a:r>
            <a:r>
              <a:rPr lang="en-US" altLang="zh-CN" dirty="0"/>
              <a:t>《</a:t>
            </a:r>
            <a:r>
              <a:rPr lang="zh-CN" altLang="en-US" dirty="0"/>
              <a:t>人工智能导论：模型与算法</a:t>
            </a:r>
            <a:r>
              <a:rPr lang="en-US" altLang="zh-CN" dirty="0"/>
              <a:t>》</a:t>
            </a:r>
            <a:r>
              <a:rPr lang="zh-CN" altLang="en-US" dirty="0"/>
              <a:t>，高等教育出版社 </a:t>
            </a:r>
            <a:endParaRPr lang="en-US" altLang="zh-CN" dirty="0"/>
          </a:p>
          <a:p>
            <a:pPr>
              <a:lnSpc>
                <a:spcPts val="1200"/>
              </a:lnSpc>
            </a:pPr>
            <a:endParaRPr lang="en-US" altLang="zh-CN" dirty="0"/>
          </a:p>
          <a:p>
            <a:pPr>
              <a:lnSpc>
                <a:spcPts val="1200"/>
              </a:lnSpc>
            </a:pPr>
            <a:r>
              <a:rPr lang="en-US" altLang="zh-CN" dirty="0"/>
              <a:t>MOOC</a:t>
            </a:r>
            <a:r>
              <a:rPr lang="zh-CN" altLang="en-US" dirty="0"/>
              <a:t>：</a:t>
            </a:r>
            <a:r>
              <a:rPr lang="en-US" altLang="zh-CN" dirty="0">
                <a:hlinkClick r:id="rId3"/>
              </a:rPr>
              <a:t>https://www.icourse163.org/course/ZJU-1003377027</a:t>
            </a:r>
            <a:endParaRPr lang="zh-CN" altLang="en-US" dirty="0"/>
          </a:p>
        </p:txBody>
      </p:sp>
      <p:sp>
        <p:nvSpPr>
          <p:cNvPr id="8" name="矩形 7"/>
          <p:cNvSpPr>
            <a:spLocks noChangeArrowheads="1"/>
          </p:cNvSpPr>
          <p:nvPr/>
        </p:nvSpPr>
        <p:spPr bwMode="auto">
          <a:xfrm>
            <a:off x="310965" y="4082004"/>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90204" pitchFamily="34" charset="0"/>
                <a:ea typeface="宋体" panose="02010600030101010101" pitchFamily="2" charset="-122"/>
              </a:defRPr>
            </a:lvl1pPr>
            <a:lvl2pPr marL="742950" indent="-285750">
              <a:defRPr kumimoji="1" sz="2400">
                <a:solidFill>
                  <a:schemeClr val="tx1"/>
                </a:solidFill>
                <a:latin typeface="Arial" panose="020B0604020202090204" pitchFamily="34" charset="0"/>
                <a:ea typeface="宋体" panose="02010600030101010101" pitchFamily="2" charset="-122"/>
              </a:defRPr>
            </a:lvl2pPr>
            <a:lvl3pPr marL="1143000" indent="-228600">
              <a:defRPr kumimoji="1" sz="2400">
                <a:solidFill>
                  <a:schemeClr val="tx1"/>
                </a:solidFill>
                <a:latin typeface="Arial" panose="020B0604020202090204" pitchFamily="34" charset="0"/>
                <a:ea typeface="宋体" panose="02010600030101010101" pitchFamily="2" charset="-122"/>
              </a:defRPr>
            </a:lvl3pPr>
            <a:lvl4pPr marL="1600200" indent="-228600">
              <a:defRPr kumimoji="1" sz="2400">
                <a:solidFill>
                  <a:schemeClr val="tx1"/>
                </a:solidFill>
                <a:latin typeface="Arial" panose="020B0604020202090204" pitchFamily="34" charset="0"/>
                <a:ea typeface="宋体" panose="02010600030101010101" pitchFamily="2" charset="-122"/>
              </a:defRPr>
            </a:lvl4pPr>
            <a:lvl5pPr marL="2057400" indent="-228600">
              <a:defRPr kumimoji="1" sz="2400">
                <a:solidFill>
                  <a:schemeClr val="tx1"/>
                </a:solidFill>
                <a:latin typeface="Arial" panose="020B0604020202090204" pitchFamily="34" charset="0"/>
                <a:ea typeface="宋体" panose="02010600030101010101" pitchFamily="2" charset="-122"/>
              </a:defRPr>
            </a:lvl5pPr>
            <a:lvl6pPr marL="25146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6pPr>
            <a:lvl7pPr marL="29718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7pPr>
            <a:lvl8pPr marL="34290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8pPr>
            <a:lvl9pPr marL="3886200" indent="-228600" fontAlgn="base">
              <a:spcBef>
                <a:spcPct val="0"/>
              </a:spcBef>
              <a:spcAft>
                <a:spcPct val="0"/>
              </a:spcAft>
              <a:buFont typeface="Arial" panose="020B0604020202090204" pitchFamily="34" charset="0"/>
              <a:defRPr kumimoji="1" sz="2400">
                <a:solidFill>
                  <a:schemeClr val="tx1"/>
                </a:solidFill>
                <a:latin typeface="Arial" panose="020B0604020202090204" pitchFamily="34" charset="0"/>
                <a:ea typeface="宋体" panose="02010600030101010101" pitchFamily="2" charset="-122"/>
              </a:defRPr>
            </a:lvl9pPr>
          </a:lstStyle>
          <a:p>
            <a:pPr eaLnBrk="1" hangingPunct="1">
              <a:lnSpc>
                <a:spcPct val="120000"/>
              </a:lnSpc>
            </a:pPr>
            <a:r>
              <a:rPr kumimoji="0" lang="zh-CN" altLang="en-US" sz="2800" b="1" dirty="0">
                <a:solidFill>
                  <a:srgbClr val="C00000"/>
                </a:solidFill>
                <a:latin typeface="+mn-lt"/>
                <a:ea typeface="微软雅黑" panose="020B0503020204020204" pitchFamily="34" charset="-122"/>
                <a:sym typeface="Calibri" panose="020F0502020204030204" pitchFamily="34" charset="0"/>
              </a:rPr>
              <a:t>三、面临的挑战</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下一代人工智能</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1010265"/>
            <a:ext cx="7713407" cy="5181162"/>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en-US" altLang="zh-CN" sz="2800" dirty="0"/>
              <a:t>2016.10</a:t>
            </a:r>
            <a:r>
              <a:rPr lang="zh-CN" altLang="en-US" sz="2800" dirty="0"/>
              <a:t>，美国，</a:t>
            </a:r>
            <a:r>
              <a:rPr lang="en-US" altLang="zh-CN" sz="2800" dirty="0"/>
              <a:t>《</a:t>
            </a:r>
            <a:r>
              <a:rPr lang="zh-CN" altLang="en-US" sz="2800" dirty="0"/>
              <a:t>为人工智能的未来做好准备</a:t>
            </a:r>
            <a:r>
              <a:rPr lang="en-US" altLang="zh-CN" sz="2800" dirty="0"/>
              <a:t>》</a:t>
            </a:r>
            <a:r>
              <a:rPr lang="zh-CN" altLang="en-US" sz="2800" dirty="0"/>
              <a:t>、</a:t>
            </a:r>
            <a:r>
              <a:rPr lang="en-US" altLang="zh-CN" sz="2800" dirty="0"/>
              <a:t>《</a:t>
            </a:r>
            <a:r>
              <a:rPr lang="zh-CN" altLang="en-US" sz="2800" dirty="0"/>
              <a:t>国家人工智能研究与发展战略规划</a:t>
            </a:r>
            <a:r>
              <a:rPr lang="en-US" altLang="zh-CN" sz="2800" dirty="0"/>
              <a:t>》</a:t>
            </a:r>
            <a:r>
              <a:rPr lang="zh-CN" altLang="en-US" sz="2800" dirty="0"/>
              <a:t>，将</a:t>
            </a:r>
            <a:r>
              <a:rPr lang="en-US" altLang="zh-CN" sz="2800" dirty="0"/>
              <a:t>AI</a:t>
            </a:r>
            <a:r>
              <a:rPr lang="zh-CN" altLang="en-US" sz="2800" dirty="0"/>
              <a:t>上升到国家战略层面，制定了关于美国</a:t>
            </a:r>
            <a:r>
              <a:rPr lang="en-US" altLang="zh-CN" sz="2800" dirty="0"/>
              <a:t>AI</a:t>
            </a:r>
            <a:r>
              <a:rPr lang="zh-CN" altLang="en-US" sz="2800" dirty="0"/>
              <a:t>发展的宏伟计划和发展蓝图；</a:t>
            </a:r>
            <a:endParaRPr lang="en-US" altLang="zh-CN" sz="2800" dirty="0"/>
          </a:p>
          <a:p>
            <a:pPr marL="457200" indent="-457200" algn="just">
              <a:lnSpc>
                <a:spcPct val="150000"/>
              </a:lnSpc>
              <a:buFont typeface="Arial" panose="020B0604020202020204" pitchFamily="34" charset="0"/>
              <a:buChar char="•"/>
            </a:pPr>
            <a:r>
              <a:rPr lang="en-US" altLang="zh-CN" sz="2800" dirty="0"/>
              <a:t>2017</a:t>
            </a:r>
            <a:r>
              <a:rPr lang="zh-CN" altLang="en-US" sz="2800" dirty="0"/>
              <a:t>年</a:t>
            </a:r>
            <a:r>
              <a:rPr lang="en-US" altLang="zh-CN" sz="2800" dirty="0"/>
              <a:t>AI</a:t>
            </a:r>
            <a:r>
              <a:rPr lang="zh-CN" altLang="en-US" sz="2800" dirty="0"/>
              <a:t>元年，日本，将物联网、人工智能和机器人作为第四次产业革命的核心；</a:t>
            </a:r>
            <a:endParaRPr lang="en-US" altLang="zh-CN" sz="2800" dirty="0"/>
          </a:p>
          <a:p>
            <a:pPr marL="457200" indent="-457200" algn="just">
              <a:lnSpc>
                <a:spcPct val="150000"/>
              </a:lnSpc>
              <a:buFont typeface="Arial" panose="020B0604020202020204" pitchFamily="34" charset="0"/>
              <a:buChar char="•"/>
            </a:pPr>
            <a:r>
              <a:rPr lang="en-US" altLang="zh-CN" sz="2800" dirty="0"/>
              <a:t>2017.07</a:t>
            </a:r>
            <a:r>
              <a:rPr lang="zh-CN" altLang="en-US" sz="2800" dirty="0"/>
              <a:t>，中国，</a:t>
            </a:r>
            <a:r>
              <a:rPr lang="en-US" altLang="zh-CN" sz="2800" dirty="0"/>
              <a:t>《</a:t>
            </a:r>
            <a:r>
              <a:rPr lang="zh-CN" altLang="en-US" sz="2800" dirty="0"/>
              <a:t>新一代人工智能发展规划</a:t>
            </a:r>
            <a:r>
              <a:rPr lang="en-US" altLang="zh-CN" sz="2800" dirty="0"/>
              <a:t>》</a:t>
            </a:r>
            <a:r>
              <a:rPr lang="zh-CN" altLang="en-US" sz="2800" dirty="0"/>
              <a:t>，抢抓</a:t>
            </a:r>
            <a:r>
              <a:rPr lang="en-US" altLang="zh-CN" sz="2800" dirty="0"/>
              <a:t>AI</a:t>
            </a:r>
            <a:r>
              <a:rPr lang="zh-CN" altLang="en-US" sz="2800" dirty="0"/>
              <a:t>发展重大战略机遇。</a:t>
            </a:r>
          </a:p>
        </p:txBody>
      </p:sp>
    </p:spTree>
    <p:extLst>
      <p:ext uri="{BB962C8B-B14F-4D97-AF65-F5344CB8AC3E}">
        <p14:creationId xmlns:p14="http://schemas.microsoft.com/office/powerpoint/2010/main" val="4289476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人工智能的发展阶段</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1010265"/>
            <a:ext cx="7713407" cy="4534831"/>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zh-CN" altLang="en-US" sz="2800" dirty="0">
                <a:solidFill>
                  <a:srgbClr val="FF0000"/>
                </a:solidFill>
              </a:rPr>
              <a:t>运算智能：</a:t>
            </a:r>
            <a:r>
              <a:rPr lang="zh-CN" altLang="en-US" sz="2800" dirty="0"/>
              <a:t>快速计算和记忆存储能力；</a:t>
            </a:r>
            <a:endParaRPr lang="en-US" altLang="zh-CN" sz="2800" dirty="0"/>
          </a:p>
          <a:p>
            <a:pPr algn="just">
              <a:lnSpc>
                <a:spcPct val="150000"/>
              </a:lnSpc>
            </a:pPr>
            <a:r>
              <a:rPr lang="en-US" altLang="zh-CN" sz="2800" dirty="0"/>
              <a:t>       IBM</a:t>
            </a:r>
            <a:r>
              <a:rPr lang="zh-CN" altLang="en-US" sz="2800" dirty="0"/>
              <a:t>的深蓝计算机依靠高速运算能力和强大的存储能力，战胜了国际象棋冠军卡斯帕罗夫；</a:t>
            </a:r>
            <a:endParaRPr lang="en-US" altLang="zh-CN" sz="2800" dirty="0"/>
          </a:p>
          <a:p>
            <a:pPr marL="457200" indent="-457200" algn="just">
              <a:lnSpc>
                <a:spcPct val="150000"/>
              </a:lnSpc>
              <a:buFont typeface="Arial" panose="020B0604020202020204" pitchFamily="34" charset="0"/>
              <a:buChar char="•"/>
            </a:pPr>
            <a:r>
              <a:rPr lang="zh-CN" altLang="en-US" sz="2800" dirty="0">
                <a:solidFill>
                  <a:srgbClr val="FF0000"/>
                </a:solidFill>
              </a:rPr>
              <a:t>感知智能：</a:t>
            </a:r>
            <a:r>
              <a:rPr lang="zh-CN" altLang="en-US" sz="2800" dirty="0"/>
              <a:t>视觉、听觉、触觉等感知能力；</a:t>
            </a:r>
            <a:endParaRPr lang="en-US" altLang="zh-CN" sz="2800" dirty="0"/>
          </a:p>
          <a:p>
            <a:pPr algn="just">
              <a:lnSpc>
                <a:spcPct val="150000"/>
              </a:lnSpc>
            </a:pPr>
            <a:r>
              <a:rPr lang="en-US" altLang="zh-CN" sz="2800" dirty="0"/>
              <a:t>       </a:t>
            </a:r>
            <a:r>
              <a:rPr lang="zh-CN" altLang="en-US" sz="2800" dirty="0"/>
              <a:t>自动驾驶汽车通过激光雷达等感知设备和人工智能算法，实现感知智能。</a:t>
            </a:r>
            <a:endParaRPr lang="en-US" altLang="zh-CN" sz="2800" dirty="0"/>
          </a:p>
          <a:p>
            <a:pPr marL="457200" indent="-457200" algn="just">
              <a:lnSpc>
                <a:spcPct val="150000"/>
              </a:lnSpc>
              <a:buFont typeface="Arial" panose="020B0604020202020204" pitchFamily="34" charset="0"/>
              <a:buChar char="•"/>
            </a:pPr>
            <a:r>
              <a:rPr lang="zh-CN" altLang="en-US" sz="2800" dirty="0">
                <a:solidFill>
                  <a:srgbClr val="FF0000"/>
                </a:solidFill>
              </a:rPr>
              <a:t>认知智能：</a:t>
            </a:r>
            <a:r>
              <a:rPr lang="zh-CN" altLang="en-US" sz="2800" dirty="0"/>
              <a:t>机器或系统能理解会思考。</a:t>
            </a: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750"/>
                                        <p:tgtEl>
                                          <p:spTgt spid="2">
                                            <p:txEl>
                                              <p:pRg st="0" end="0"/>
                                            </p:txEl>
                                          </p:spTgt>
                                        </p:tgtEl>
                                      </p:cBhvr>
                                    </p:animEffect>
                                  </p:childTnLst>
                                </p:cTn>
                              </p:par>
                            </p:childTnLst>
                          </p:cTn>
                        </p:par>
                        <p:par>
                          <p:cTn id="8" fill="hold">
                            <p:stCondLst>
                              <p:cond delay="1250"/>
                            </p:stCondLst>
                            <p:childTnLst>
                              <p:par>
                                <p:cTn id="9" presetID="10" presetClass="entr" presetSubtype="0" fill="hold" nodeType="afterEffect">
                                  <p:stCondLst>
                                    <p:cond delay="75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fade">
                                      <p:cBhvr>
                                        <p:cTn id="11" dur="750"/>
                                        <p:tgtEl>
                                          <p:spTgt spid="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fade">
                                      <p:cBhvr>
                                        <p:cTn id="16" dur="500"/>
                                        <p:tgtEl>
                                          <p:spTgt spid="2">
                                            <p:txEl>
                                              <p:pRg st="2" end="2"/>
                                            </p:txEl>
                                          </p:spTgt>
                                        </p:tgtEl>
                                      </p:cBhvr>
                                    </p:animEffect>
                                  </p:childTnLst>
                                </p:cTn>
                              </p:par>
                            </p:childTnLst>
                          </p:cTn>
                        </p:par>
                        <p:par>
                          <p:cTn id="17" fill="hold">
                            <p:stCondLst>
                              <p:cond delay="500"/>
                            </p:stCondLst>
                            <p:childTnLst>
                              <p:par>
                                <p:cTn id="18" presetID="10" presetClass="entr" presetSubtype="0" fill="hold" nodeType="afterEffect">
                                  <p:stCondLst>
                                    <p:cond delay="50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750"/>
                                        <p:tgtEl>
                                          <p:spTgt spid="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fade">
                                      <p:cBhvr>
                                        <p:cTn id="25"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人工智能围棋</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1010265"/>
            <a:ext cx="7713407" cy="3242170"/>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en-US" altLang="zh-CN" sz="2800" dirty="0"/>
              <a:t>AI</a:t>
            </a:r>
            <a:r>
              <a:rPr lang="zh-CN" altLang="en-US" sz="2800" dirty="0"/>
              <a:t>围棋手“</a:t>
            </a:r>
            <a:r>
              <a:rPr lang="en-US" altLang="zh-CN" sz="2800" dirty="0"/>
              <a:t>AlphaGo</a:t>
            </a:r>
            <a:r>
              <a:rPr lang="zh-CN" altLang="en-US" sz="2800" dirty="0"/>
              <a:t>”，是第一个击败人类职业围棋选手、战胜围棋世界冠军的</a:t>
            </a:r>
            <a:r>
              <a:rPr lang="en-US" altLang="zh-CN" sz="2800" dirty="0"/>
              <a:t>AI</a:t>
            </a:r>
            <a:r>
              <a:rPr lang="zh-CN" altLang="en-US" sz="2800" dirty="0"/>
              <a:t>程序。</a:t>
            </a:r>
            <a:endParaRPr lang="en-US" altLang="zh-CN" sz="2800" dirty="0"/>
          </a:p>
          <a:p>
            <a:pPr marL="457200" indent="-457200" algn="just">
              <a:lnSpc>
                <a:spcPct val="150000"/>
              </a:lnSpc>
              <a:buFont typeface="Arial" panose="020B0604020202020204" pitchFamily="34" charset="0"/>
              <a:buChar char="•"/>
            </a:pPr>
            <a:r>
              <a:rPr lang="zh-CN" altLang="en-US" sz="2800" dirty="0"/>
              <a:t>这场比赛的结果使人类看到人工智能已经达到怎样的高度，从而能够在多大程度上影响人类的未来。</a:t>
            </a:r>
            <a:endParaRPr lang="en-US" altLang="zh-CN" sz="2800" dirty="0"/>
          </a:p>
        </p:txBody>
      </p:sp>
    </p:spTree>
    <p:extLst>
      <p:ext uri="{BB962C8B-B14F-4D97-AF65-F5344CB8AC3E}">
        <p14:creationId xmlns:p14="http://schemas.microsoft.com/office/powerpoint/2010/main" val="2867864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人工智能围棋</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1622323"/>
            <a:ext cx="7713407" cy="3892861"/>
          </a:xfrm>
          <a:prstGeom prst="rect">
            <a:avLst/>
          </a:prstGeom>
          <a:noFill/>
        </p:spPr>
        <p:txBody>
          <a:bodyPr wrap="square" rtlCol="0">
            <a:spAutoFit/>
          </a:bodyPr>
          <a:lstStyle/>
          <a:p>
            <a:pPr marL="514350" indent="-514350" algn="just">
              <a:lnSpc>
                <a:spcPct val="150000"/>
              </a:lnSpc>
              <a:buFont typeface="+mj-lt"/>
              <a:buAutoNum type="arabicPeriod"/>
            </a:pPr>
            <a:r>
              <a:rPr lang="zh-CN" altLang="en-US" sz="2800" dirty="0">
                <a:solidFill>
                  <a:srgbClr val="FF0000"/>
                </a:solidFill>
              </a:rPr>
              <a:t>技术成就</a:t>
            </a:r>
            <a:endParaRPr lang="en-US" altLang="zh-CN" sz="2800" dirty="0">
              <a:solidFill>
                <a:srgbClr val="FF0000"/>
              </a:solidFill>
            </a:endParaRPr>
          </a:p>
          <a:p>
            <a:pPr marL="514350" indent="-249238" algn="just">
              <a:lnSpc>
                <a:spcPct val="150000"/>
              </a:lnSpc>
              <a:buFont typeface="Arial" panose="020B0604020202020204" pitchFamily="34" charset="0"/>
              <a:buChar char="•"/>
            </a:pPr>
            <a:r>
              <a:rPr lang="zh-CN" altLang="en-US" sz="2800" dirty="0"/>
              <a:t>在没有任何让子的情况下，</a:t>
            </a:r>
            <a:r>
              <a:rPr lang="en-US" altLang="zh-CN" sz="2800" dirty="0"/>
              <a:t>5</a:t>
            </a:r>
            <a:r>
              <a:rPr lang="zh-CN" altLang="en-US" sz="2800" dirty="0"/>
              <a:t>：</a:t>
            </a:r>
            <a:r>
              <a:rPr lang="en-US" altLang="zh-CN" sz="2800" dirty="0"/>
              <a:t>0</a:t>
            </a:r>
            <a:r>
              <a:rPr lang="zh-CN" altLang="en-US" sz="2800" dirty="0"/>
              <a:t>完胜欧洲围棋冠军、职业二段选手樊麾，一次史无前例的突破。</a:t>
            </a:r>
            <a:endParaRPr lang="en-US" altLang="zh-CN" sz="2800" dirty="0"/>
          </a:p>
          <a:p>
            <a:pPr marL="514350" indent="-249238" algn="just">
              <a:lnSpc>
                <a:spcPct val="150000"/>
              </a:lnSpc>
              <a:buFont typeface="Arial" panose="020B0604020202020204" pitchFamily="34" charset="0"/>
              <a:buChar char="•"/>
            </a:pPr>
            <a:r>
              <a:rPr lang="zh-CN" altLang="en-US" sz="2800" dirty="0"/>
              <a:t>与围棋世界冠军、职业九段棋手李世石进行围棋人机大战，</a:t>
            </a:r>
            <a:r>
              <a:rPr lang="en-US" altLang="zh-CN" sz="2800" dirty="0"/>
              <a:t>4</a:t>
            </a:r>
            <a:r>
              <a:rPr lang="zh-CN" altLang="en-US" sz="2800" dirty="0"/>
              <a:t>：</a:t>
            </a:r>
            <a:r>
              <a:rPr lang="en-US" altLang="zh-CN" sz="2800" dirty="0"/>
              <a:t>1</a:t>
            </a:r>
            <a:r>
              <a:rPr lang="zh-CN" altLang="en-US" sz="2800" dirty="0"/>
              <a:t>获胜。</a:t>
            </a:r>
            <a:endParaRPr lang="en-US" altLang="zh-CN" sz="2800" dirty="0"/>
          </a:p>
        </p:txBody>
      </p:sp>
      <p:sp>
        <p:nvSpPr>
          <p:cNvPr id="4" name="文本框 3">
            <a:extLst>
              <a:ext uri="{FF2B5EF4-FFF2-40B4-BE49-F238E27FC236}">
                <a16:creationId xmlns:a16="http://schemas.microsoft.com/office/drawing/2014/main" id="{363FB588-FE3D-C913-2DA7-E5895905F58B}"/>
              </a:ext>
            </a:extLst>
          </p:cNvPr>
          <p:cNvSpPr txBox="1"/>
          <p:nvPr/>
        </p:nvSpPr>
        <p:spPr>
          <a:xfrm>
            <a:off x="567813" y="1037548"/>
            <a:ext cx="3635477" cy="584775"/>
          </a:xfrm>
          <a:prstGeom prst="rect">
            <a:avLst/>
          </a:prstGeom>
          <a:noFill/>
        </p:spPr>
        <p:txBody>
          <a:bodyPr wrap="square" rtlCol="0">
            <a:spAutoFit/>
          </a:bodyPr>
          <a:lstStyle/>
          <a:p>
            <a:r>
              <a:rPr lang="en-US" altLang="zh-CN" sz="3200" dirty="0">
                <a:solidFill>
                  <a:srgbClr val="C00000"/>
                </a:solidFill>
                <a:ea typeface="方正姚体" panose="02010601030101010101" pitchFamily="2" charset="-122"/>
              </a:rPr>
              <a:t>AlphaGo</a:t>
            </a:r>
            <a:endParaRPr lang="zh-CN" altLang="en-US" sz="3200" dirty="0">
              <a:solidFill>
                <a:srgbClr val="C00000"/>
              </a:solidFill>
              <a:ea typeface="方正姚体" panose="02010601030101010101" pitchFamily="2" charset="-122"/>
            </a:endParaRPr>
          </a:p>
        </p:txBody>
      </p:sp>
    </p:spTree>
    <p:extLst>
      <p:ext uri="{BB962C8B-B14F-4D97-AF65-F5344CB8AC3E}">
        <p14:creationId xmlns:p14="http://schemas.microsoft.com/office/powerpoint/2010/main" val="2584533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fad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fade">
                                      <p:cBhvr>
                                        <p:cTn id="2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人工智能围棋</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1622323"/>
            <a:ext cx="7713407" cy="3892861"/>
          </a:xfrm>
          <a:prstGeom prst="rect">
            <a:avLst/>
          </a:prstGeom>
          <a:noFill/>
        </p:spPr>
        <p:txBody>
          <a:bodyPr wrap="square" rtlCol="0">
            <a:spAutoFit/>
          </a:bodyPr>
          <a:lstStyle/>
          <a:p>
            <a:pPr marL="514350" indent="-514350" algn="just">
              <a:lnSpc>
                <a:spcPct val="150000"/>
              </a:lnSpc>
              <a:buFont typeface="+mj-lt"/>
              <a:buAutoNum type="arabicPeriod"/>
            </a:pPr>
            <a:r>
              <a:rPr lang="zh-CN" altLang="en-US" sz="2800" dirty="0">
                <a:solidFill>
                  <a:srgbClr val="FF0000"/>
                </a:solidFill>
              </a:rPr>
              <a:t>技术成就</a:t>
            </a:r>
            <a:endParaRPr lang="en-US" altLang="zh-CN" sz="2800" dirty="0">
              <a:solidFill>
                <a:srgbClr val="FF0000"/>
              </a:solidFill>
            </a:endParaRPr>
          </a:p>
          <a:p>
            <a:pPr marL="514350" indent="-249238" algn="just">
              <a:lnSpc>
                <a:spcPct val="150000"/>
              </a:lnSpc>
              <a:buFont typeface="Arial" panose="020B0604020202020204" pitchFamily="34" charset="0"/>
              <a:buChar char="•"/>
            </a:pPr>
            <a:r>
              <a:rPr lang="zh-CN" altLang="en-US" sz="2800" dirty="0"/>
              <a:t>在弈城围棋网和野狐围棋网依次对战数十位人类顶尖围棋高手，取得</a:t>
            </a:r>
            <a:r>
              <a:rPr lang="en-US" altLang="zh-CN" sz="2800" dirty="0"/>
              <a:t>60</a:t>
            </a:r>
            <a:r>
              <a:rPr lang="zh-CN" altLang="en-US" sz="2800" dirty="0"/>
              <a:t>胜</a:t>
            </a:r>
            <a:r>
              <a:rPr lang="en-US" altLang="zh-CN" sz="2800" dirty="0"/>
              <a:t>0</a:t>
            </a:r>
            <a:r>
              <a:rPr lang="zh-CN" altLang="en-US" sz="2800" dirty="0"/>
              <a:t>负的辉煌战绩。</a:t>
            </a:r>
            <a:endParaRPr lang="en-US" altLang="zh-CN" sz="2800" dirty="0"/>
          </a:p>
          <a:p>
            <a:pPr marL="514350" indent="-249238" algn="just">
              <a:lnSpc>
                <a:spcPct val="150000"/>
              </a:lnSpc>
              <a:buFont typeface="Arial" panose="020B0604020202020204" pitchFamily="34" charset="0"/>
              <a:buChar char="•"/>
            </a:pPr>
            <a:r>
              <a:rPr lang="zh-CN" altLang="en-US" sz="2800" dirty="0"/>
              <a:t>在中国乌镇围棋峰会上，以</a:t>
            </a:r>
            <a:r>
              <a:rPr lang="en-US" altLang="zh-CN" sz="2800" dirty="0"/>
              <a:t>3</a:t>
            </a:r>
            <a:r>
              <a:rPr lang="zh-CN" altLang="en-US" sz="2800" dirty="0"/>
              <a:t>：</a:t>
            </a:r>
            <a:r>
              <a:rPr lang="en-US" altLang="zh-CN" sz="2800" dirty="0"/>
              <a:t>0</a:t>
            </a:r>
            <a:r>
              <a:rPr lang="zh-CN" altLang="en-US" sz="2800" dirty="0"/>
              <a:t>战胜排名世界第一的世界围棋冠军柯洁；战胜了由五位世界冠军组成的围棋团队。</a:t>
            </a:r>
            <a:endParaRPr lang="en-US" altLang="zh-CN" sz="2800" dirty="0"/>
          </a:p>
        </p:txBody>
      </p:sp>
      <p:sp>
        <p:nvSpPr>
          <p:cNvPr id="4" name="文本框 3">
            <a:extLst>
              <a:ext uri="{FF2B5EF4-FFF2-40B4-BE49-F238E27FC236}">
                <a16:creationId xmlns:a16="http://schemas.microsoft.com/office/drawing/2014/main" id="{363FB588-FE3D-C913-2DA7-E5895905F58B}"/>
              </a:ext>
            </a:extLst>
          </p:cNvPr>
          <p:cNvSpPr txBox="1"/>
          <p:nvPr/>
        </p:nvSpPr>
        <p:spPr>
          <a:xfrm>
            <a:off x="567813" y="1037548"/>
            <a:ext cx="3635477" cy="584775"/>
          </a:xfrm>
          <a:prstGeom prst="rect">
            <a:avLst/>
          </a:prstGeom>
          <a:noFill/>
        </p:spPr>
        <p:txBody>
          <a:bodyPr wrap="square" rtlCol="0">
            <a:spAutoFit/>
          </a:bodyPr>
          <a:lstStyle/>
          <a:p>
            <a:r>
              <a:rPr lang="en-US" altLang="zh-CN" sz="3200" dirty="0">
                <a:solidFill>
                  <a:srgbClr val="C00000"/>
                </a:solidFill>
                <a:ea typeface="方正姚体" panose="02010601030101010101" pitchFamily="2" charset="-122"/>
              </a:rPr>
              <a:t>AlphaGo</a:t>
            </a:r>
            <a:endParaRPr lang="zh-CN" altLang="en-US" sz="3200" dirty="0">
              <a:solidFill>
                <a:srgbClr val="C00000"/>
              </a:solidFill>
              <a:ea typeface="方正姚体" panose="02010601030101010101" pitchFamily="2" charset="-122"/>
            </a:endParaRPr>
          </a:p>
        </p:txBody>
      </p:sp>
    </p:spTree>
    <p:extLst>
      <p:ext uri="{BB962C8B-B14F-4D97-AF65-F5344CB8AC3E}">
        <p14:creationId xmlns:p14="http://schemas.microsoft.com/office/powerpoint/2010/main" val="294615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75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人工智能围棋</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1622323"/>
            <a:ext cx="7713407" cy="4797724"/>
          </a:xfrm>
          <a:prstGeom prst="rect">
            <a:avLst/>
          </a:prstGeom>
          <a:noFill/>
        </p:spPr>
        <p:txBody>
          <a:bodyPr wrap="square" rtlCol="0">
            <a:spAutoFit/>
          </a:bodyPr>
          <a:lstStyle/>
          <a:p>
            <a:pPr marL="514350" indent="-514350" algn="just">
              <a:lnSpc>
                <a:spcPct val="130000"/>
              </a:lnSpc>
              <a:buFont typeface="+mj-lt"/>
              <a:buAutoNum type="arabicPeriod" startAt="2"/>
            </a:pPr>
            <a:r>
              <a:rPr lang="zh-CN" altLang="en-US" sz="2800" dirty="0">
                <a:solidFill>
                  <a:srgbClr val="FF0000"/>
                </a:solidFill>
              </a:rPr>
              <a:t>原理概述</a:t>
            </a:r>
            <a:endParaRPr lang="en-US" altLang="zh-CN" sz="2800" dirty="0">
              <a:solidFill>
                <a:srgbClr val="FF0000"/>
              </a:solidFill>
            </a:endParaRPr>
          </a:p>
          <a:p>
            <a:pPr marL="514350" indent="-249238" algn="just">
              <a:lnSpc>
                <a:spcPct val="130000"/>
              </a:lnSpc>
              <a:buFont typeface="Arial" panose="020B0604020202020204" pitchFamily="34" charset="0"/>
              <a:buChar char="•"/>
            </a:pPr>
            <a:r>
              <a:rPr lang="zh-CN" altLang="en-US" sz="2800" dirty="0"/>
              <a:t>深度学习</a:t>
            </a:r>
            <a:endParaRPr lang="en-US" altLang="zh-CN" sz="2800" dirty="0"/>
          </a:p>
          <a:p>
            <a:pPr marL="265112" algn="just">
              <a:lnSpc>
                <a:spcPct val="130000"/>
              </a:lnSpc>
            </a:pPr>
            <a:r>
              <a:rPr lang="zh-CN" altLang="en-US" sz="2400" dirty="0"/>
              <a:t>        </a:t>
            </a:r>
            <a:r>
              <a:rPr lang="zh-CN" altLang="en-US" sz="2600" dirty="0"/>
              <a:t>为了应对围棋的复杂性，结合</a:t>
            </a:r>
            <a:r>
              <a:rPr lang="zh-CN" altLang="en-US" sz="2600" dirty="0">
                <a:solidFill>
                  <a:srgbClr val="FF0000"/>
                </a:solidFill>
              </a:rPr>
              <a:t>监督学习和强化学习</a:t>
            </a:r>
            <a:r>
              <a:rPr lang="zh-CN" altLang="en-US" sz="2600" dirty="0"/>
              <a:t>的优势。通过训练形成一个</a:t>
            </a:r>
            <a:r>
              <a:rPr lang="zh-CN" altLang="en-US" sz="2600" dirty="0">
                <a:solidFill>
                  <a:srgbClr val="FF0000"/>
                </a:solidFill>
              </a:rPr>
              <a:t>策略网络</a:t>
            </a:r>
            <a:r>
              <a:rPr lang="zh-CN" altLang="en-US" sz="2600" dirty="0"/>
              <a:t>，棋盘上的局势作为输入信息，对所有可行的落子位置生成一个概率分布。然后，训练出一个</a:t>
            </a:r>
            <a:r>
              <a:rPr lang="zh-CN" altLang="en-US" sz="2600" dirty="0">
                <a:solidFill>
                  <a:srgbClr val="FF0000"/>
                </a:solidFill>
              </a:rPr>
              <a:t>价值网络</a:t>
            </a:r>
            <a:r>
              <a:rPr lang="zh-CN" altLang="en-US" sz="2600" dirty="0"/>
              <a:t>对自我对弈进行预测，以</a:t>
            </a:r>
            <a:r>
              <a:rPr lang="en-US" altLang="zh-CN" sz="2600" dirty="0"/>
              <a:t>-1</a:t>
            </a:r>
            <a:r>
              <a:rPr lang="zh-CN" altLang="en-US" sz="2600" dirty="0"/>
              <a:t>（对手绝对胜利）到</a:t>
            </a:r>
            <a:r>
              <a:rPr lang="en-US" altLang="zh-CN" sz="2600" dirty="0"/>
              <a:t>1</a:t>
            </a:r>
            <a:r>
              <a:rPr lang="zh-CN" altLang="en-US" sz="2600" dirty="0"/>
              <a:t>（自身绝对胜利）的标准，预测所有可行落子位置的结果。将两种网络整合进</a:t>
            </a:r>
            <a:r>
              <a:rPr lang="zh-CN" altLang="en-US" sz="2600" dirty="0">
                <a:solidFill>
                  <a:srgbClr val="FF0000"/>
                </a:solidFill>
              </a:rPr>
              <a:t>蒙特卡洛树搜索</a:t>
            </a:r>
            <a:r>
              <a:rPr lang="zh-CN" altLang="en-US" sz="2600" dirty="0"/>
              <a:t>中，实现其优势。</a:t>
            </a:r>
            <a:endParaRPr lang="en-US" altLang="zh-CN" sz="2600" dirty="0"/>
          </a:p>
        </p:txBody>
      </p:sp>
      <p:sp>
        <p:nvSpPr>
          <p:cNvPr id="4" name="文本框 3">
            <a:extLst>
              <a:ext uri="{FF2B5EF4-FFF2-40B4-BE49-F238E27FC236}">
                <a16:creationId xmlns:a16="http://schemas.microsoft.com/office/drawing/2014/main" id="{363FB588-FE3D-C913-2DA7-E5895905F58B}"/>
              </a:ext>
            </a:extLst>
          </p:cNvPr>
          <p:cNvSpPr txBox="1"/>
          <p:nvPr/>
        </p:nvSpPr>
        <p:spPr>
          <a:xfrm>
            <a:off x="567813" y="1037548"/>
            <a:ext cx="3635477" cy="584775"/>
          </a:xfrm>
          <a:prstGeom prst="rect">
            <a:avLst/>
          </a:prstGeom>
          <a:noFill/>
        </p:spPr>
        <p:txBody>
          <a:bodyPr wrap="square" rtlCol="0">
            <a:spAutoFit/>
          </a:bodyPr>
          <a:lstStyle/>
          <a:p>
            <a:r>
              <a:rPr lang="en-US" altLang="zh-CN" sz="3200" dirty="0">
                <a:solidFill>
                  <a:srgbClr val="C00000"/>
                </a:solidFill>
                <a:ea typeface="方正姚体" panose="02010601030101010101" pitchFamily="2" charset="-122"/>
              </a:rPr>
              <a:t>AlphaGo</a:t>
            </a:r>
            <a:endParaRPr lang="zh-CN" altLang="en-US" sz="3200" dirty="0">
              <a:solidFill>
                <a:srgbClr val="C00000"/>
              </a:solidFill>
              <a:ea typeface="方正姚体" panose="02010601030101010101" pitchFamily="2" charset="-122"/>
            </a:endParaRPr>
          </a:p>
        </p:txBody>
      </p:sp>
    </p:spTree>
    <p:extLst>
      <p:ext uri="{BB962C8B-B14F-4D97-AF65-F5344CB8AC3E}">
        <p14:creationId xmlns:p14="http://schemas.microsoft.com/office/powerpoint/2010/main" val="1723514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人工智能围棋</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1622323"/>
            <a:ext cx="7713407" cy="4801764"/>
          </a:xfrm>
          <a:prstGeom prst="rect">
            <a:avLst/>
          </a:prstGeom>
          <a:noFill/>
        </p:spPr>
        <p:txBody>
          <a:bodyPr wrap="square" rtlCol="0">
            <a:spAutoFit/>
          </a:bodyPr>
          <a:lstStyle/>
          <a:p>
            <a:pPr marL="514350" indent="-514350" algn="just">
              <a:lnSpc>
                <a:spcPct val="130000"/>
              </a:lnSpc>
              <a:buFont typeface="+mj-lt"/>
              <a:buAutoNum type="arabicPeriod" startAt="2"/>
            </a:pPr>
            <a:r>
              <a:rPr lang="zh-CN" altLang="en-US" sz="2800" dirty="0">
                <a:solidFill>
                  <a:srgbClr val="FF0000"/>
                </a:solidFill>
              </a:rPr>
              <a:t>原理概述</a:t>
            </a:r>
            <a:endParaRPr lang="en-US" altLang="zh-CN" sz="2800" dirty="0">
              <a:solidFill>
                <a:srgbClr val="FF0000"/>
              </a:solidFill>
            </a:endParaRPr>
          </a:p>
          <a:p>
            <a:pPr marL="514350" indent="-249238" algn="just">
              <a:lnSpc>
                <a:spcPct val="130000"/>
              </a:lnSpc>
              <a:buFont typeface="Arial" panose="020B0604020202020204" pitchFamily="34" charset="0"/>
              <a:buChar char="•"/>
            </a:pPr>
            <a:r>
              <a:rPr lang="zh-CN" altLang="en-US" sz="2800" dirty="0"/>
              <a:t>两个大脑</a:t>
            </a:r>
            <a:endParaRPr lang="en-US" altLang="zh-CN" sz="2800" dirty="0"/>
          </a:p>
          <a:p>
            <a:pPr marL="263525" indent="636588" algn="just">
              <a:lnSpc>
                <a:spcPct val="130000"/>
              </a:lnSpc>
            </a:pPr>
            <a:r>
              <a:rPr lang="en-US" altLang="zh-CN" sz="2600" dirty="0"/>
              <a:t>AlphaGo</a:t>
            </a:r>
            <a:r>
              <a:rPr lang="zh-CN" altLang="en-US" sz="2600" dirty="0"/>
              <a:t>通过</a:t>
            </a:r>
            <a:r>
              <a:rPr lang="zh-CN" altLang="en-US" sz="2600" dirty="0">
                <a:solidFill>
                  <a:srgbClr val="FF0000"/>
                </a:solidFill>
              </a:rPr>
              <a:t>两个不同神经网络大脑</a:t>
            </a:r>
            <a:r>
              <a:rPr lang="zh-CN" altLang="en-US" sz="2600" dirty="0"/>
              <a:t>合作来改进下棋。</a:t>
            </a:r>
            <a:endParaRPr lang="en-US" altLang="zh-CN" sz="2600" dirty="0"/>
          </a:p>
          <a:p>
            <a:pPr marL="263525" indent="636588" algn="just">
              <a:lnSpc>
                <a:spcPct val="130000"/>
              </a:lnSpc>
            </a:pPr>
            <a:r>
              <a:rPr lang="zh-CN" altLang="en-US" sz="2600" dirty="0">
                <a:solidFill>
                  <a:srgbClr val="FF0000"/>
                </a:solidFill>
              </a:rPr>
              <a:t>落子选择器</a:t>
            </a:r>
            <a:r>
              <a:rPr lang="en-US" altLang="zh-CN" sz="2600" dirty="0"/>
              <a:t>——</a:t>
            </a:r>
            <a:r>
              <a:rPr lang="zh-CN" altLang="en-US" sz="2600" dirty="0"/>
              <a:t>监督学习的策略网络</a:t>
            </a:r>
            <a:endParaRPr lang="en-US" altLang="zh-CN" sz="2600" dirty="0"/>
          </a:p>
          <a:p>
            <a:pPr marL="263525" indent="636588" algn="just">
              <a:lnSpc>
                <a:spcPct val="130000"/>
              </a:lnSpc>
            </a:pPr>
            <a:r>
              <a:rPr lang="zh-CN" altLang="en-US" sz="2600" dirty="0"/>
              <a:t>        预测每一个合法下一步的概率。</a:t>
            </a:r>
            <a:endParaRPr lang="en-US" altLang="zh-CN" sz="2600" dirty="0"/>
          </a:p>
          <a:p>
            <a:pPr marL="263525" indent="636588" algn="just">
              <a:lnSpc>
                <a:spcPct val="130000"/>
              </a:lnSpc>
            </a:pPr>
            <a:r>
              <a:rPr lang="zh-CN" altLang="en-US" sz="2600" dirty="0">
                <a:solidFill>
                  <a:srgbClr val="FF0000"/>
                </a:solidFill>
              </a:rPr>
              <a:t>棋局评估器</a:t>
            </a:r>
            <a:r>
              <a:rPr lang="en-US" altLang="zh-CN" sz="2600" dirty="0"/>
              <a:t>——</a:t>
            </a:r>
            <a:r>
              <a:rPr lang="zh-CN" altLang="en-US" sz="2600" dirty="0"/>
              <a:t>价值网络</a:t>
            </a:r>
            <a:endParaRPr lang="en-US" altLang="zh-CN" sz="2600" dirty="0"/>
          </a:p>
          <a:p>
            <a:pPr marL="263525" indent="636588" algn="just">
              <a:lnSpc>
                <a:spcPct val="130000"/>
              </a:lnSpc>
            </a:pPr>
            <a:r>
              <a:rPr lang="zh-CN" altLang="en-US" sz="2600" dirty="0"/>
              <a:t>        预测每一个棋手赢棋的概率，通过整体局面判断辅助落子选择器。</a:t>
            </a:r>
            <a:endParaRPr lang="en-US" altLang="zh-CN" sz="2600" dirty="0"/>
          </a:p>
        </p:txBody>
      </p:sp>
      <p:sp>
        <p:nvSpPr>
          <p:cNvPr id="4" name="文本框 3">
            <a:extLst>
              <a:ext uri="{FF2B5EF4-FFF2-40B4-BE49-F238E27FC236}">
                <a16:creationId xmlns:a16="http://schemas.microsoft.com/office/drawing/2014/main" id="{363FB588-FE3D-C913-2DA7-E5895905F58B}"/>
              </a:ext>
            </a:extLst>
          </p:cNvPr>
          <p:cNvSpPr txBox="1"/>
          <p:nvPr/>
        </p:nvSpPr>
        <p:spPr>
          <a:xfrm>
            <a:off x="567813" y="1037548"/>
            <a:ext cx="3635477" cy="584775"/>
          </a:xfrm>
          <a:prstGeom prst="rect">
            <a:avLst/>
          </a:prstGeom>
          <a:noFill/>
        </p:spPr>
        <p:txBody>
          <a:bodyPr wrap="square" rtlCol="0">
            <a:spAutoFit/>
          </a:bodyPr>
          <a:lstStyle/>
          <a:p>
            <a:r>
              <a:rPr lang="en-US" altLang="zh-CN" sz="3200" dirty="0">
                <a:solidFill>
                  <a:srgbClr val="C00000"/>
                </a:solidFill>
                <a:ea typeface="方正姚体" panose="02010601030101010101" pitchFamily="2" charset="-122"/>
              </a:rPr>
              <a:t>AlphaGo</a:t>
            </a:r>
            <a:endParaRPr lang="zh-CN" altLang="en-US" sz="3200" dirty="0">
              <a:solidFill>
                <a:srgbClr val="C00000"/>
              </a:solidFill>
              <a:ea typeface="方正姚体" panose="02010601030101010101" pitchFamily="2" charset="-122"/>
            </a:endParaRPr>
          </a:p>
        </p:txBody>
      </p:sp>
      <p:sp>
        <p:nvSpPr>
          <p:cNvPr id="6" name="左大括号 5">
            <a:extLst>
              <a:ext uri="{FF2B5EF4-FFF2-40B4-BE49-F238E27FC236}">
                <a16:creationId xmlns:a16="http://schemas.microsoft.com/office/drawing/2014/main" id="{C09E7535-9F94-6BD2-C7DA-4DBD8AEFEEB3}"/>
              </a:ext>
            </a:extLst>
          </p:cNvPr>
          <p:cNvSpPr/>
          <p:nvPr/>
        </p:nvSpPr>
        <p:spPr>
          <a:xfrm>
            <a:off x="1231490" y="4004187"/>
            <a:ext cx="368710" cy="1135626"/>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902144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par>
                                <p:cTn id="18" presetID="10" presetClass="entr" presetSubtype="0" fill="hold" nodeType="withEffect">
                                  <p:stCondLst>
                                    <p:cond delay="25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500"/>
                                        <p:tgtEl>
                                          <p:spTgt spid="2">
                                            <p:txEl>
                                              <p:pRg st="3" end="3"/>
                                            </p:txEl>
                                          </p:spTgt>
                                        </p:tgtEl>
                                      </p:cBhvr>
                                    </p:animEffect>
                                  </p:childTnLst>
                                </p:cTn>
                              </p:par>
                              <p:par>
                                <p:cTn id="21" presetID="10" presetClass="entr" presetSubtype="0" fill="hold" nodeType="withEffect">
                                  <p:stCondLst>
                                    <p:cond delay="250"/>
                                  </p:stCondLst>
                                  <p:childTnLst>
                                    <p:set>
                                      <p:cBhvr>
                                        <p:cTn id="22" dur="1" fill="hold">
                                          <p:stCondLst>
                                            <p:cond delay="0"/>
                                          </p:stCondLst>
                                        </p:cTn>
                                        <p:tgtEl>
                                          <p:spTgt spid="2">
                                            <p:txEl>
                                              <p:pRg st="5" end="5"/>
                                            </p:txEl>
                                          </p:spTgt>
                                        </p:tgtEl>
                                        <p:attrNameLst>
                                          <p:attrName>style.visibility</p:attrName>
                                        </p:attrNameLst>
                                      </p:cBhvr>
                                      <p:to>
                                        <p:strVal val="visible"/>
                                      </p:to>
                                    </p:set>
                                    <p:animEffect transition="in" filter="fade">
                                      <p:cBhvr>
                                        <p:cTn id="23" dur="500"/>
                                        <p:tgtEl>
                                          <p:spTgt spid="2">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fade">
                                      <p:cBhvr>
                                        <p:cTn id="28" dur="500"/>
                                        <p:tgtEl>
                                          <p:spTgt spid="2">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Effect transition="in" filter="fade">
                                      <p:cBhvr>
                                        <p:cTn id="33"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人工智能围棋</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1622323"/>
            <a:ext cx="7713407" cy="2595839"/>
          </a:xfrm>
          <a:prstGeom prst="rect">
            <a:avLst/>
          </a:prstGeom>
          <a:noFill/>
        </p:spPr>
        <p:txBody>
          <a:bodyPr wrap="square" rtlCol="0">
            <a:spAutoFit/>
          </a:bodyPr>
          <a:lstStyle/>
          <a:p>
            <a:pPr marL="514350" indent="-514350" algn="just">
              <a:lnSpc>
                <a:spcPct val="150000"/>
              </a:lnSpc>
              <a:buFont typeface="+mj-lt"/>
              <a:buAutoNum type="arabicPeriod"/>
            </a:pPr>
            <a:r>
              <a:rPr lang="zh-CN" altLang="en-US" sz="2800" dirty="0">
                <a:solidFill>
                  <a:srgbClr val="FF0000"/>
                </a:solidFill>
              </a:rPr>
              <a:t>技术成就</a:t>
            </a:r>
            <a:endParaRPr lang="en-US" altLang="zh-CN" sz="2800" dirty="0">
              <a:solidFill>
                <a:srgbClr val="FF0000"/>
              </a:solidFill>
            </a:endParaRPr>
          </a:p>
          <a:p>
            <a:pPr marL="514350" indent="-249238" algn="just">
              <a:lnSpc>
                <a:spcPct val="150000"/>
              </a:lnSpc>
              <a:buFont typeface="Arial" panose="020B0604020202020204" pitchFamily="34" charset="0"/>
              <a:buChar char="•"/>
            </a:pPr>
            <a:r>
              <a:rPr lang="zh-CN" altLang="en-US" sz="2800" dirty="0"/>
              <a:t>经过</a:t>
            </a:r>
            <a:r>
              <a:rPr lang="en-US" altLang="zh-CN" sz="2800" dirty="0"/>
              <a:t>3</a:t>
            </a:r>
            <a:r>
              <a:rPr lang="zh-CN" altLang="en-US" sz="2800" dirty="0"/>
              <a:t>天自我训练，以</a:t>
            </a:r>
            <a:r>
              <a:rPr lang="en-US" altLang="zh-CN" sz="2800" dirty="0"/>
              <a:t>100</a:t>
            </a:r>
            <a:r>
              <a:rPr lang="zh-CN" altLang="en-US" sz="2800" dirty="0"/>
              <a:t>：</a:t>
            </a:r>
            <a:r>
              <a:rPr lang="en-US" altLang="zh-CN" sz="2800" dirty="0"/>
              <a:t>0</a:t>
            </a:r>
            <a:r>
              <a:rPr lang="zh-CN" altLang="en-US" sz="2800" dirty="0"/>
              <a:t>的战绩打败了</a:t>
            </a:r>
            <a:r>
              <a:rPr lang="en-US" altLang="zh-CN" sz="2800" dirty="0"/>
              <a:t>AlphaGo</a:t>
            </a:r>
            <a:r>
              <a:rPr lang="zh-CN" altLang="en-US" sz="2800" dirty="0"/>
              <a:t>；经过</a:t>
            </a:r>
            <a:r>
              <a:rPr lang="en-US" altLang="zh-CN" sz="2800" dirty="0"/>
              <a:t>40</a:t>
            </a:r>
            <a:r>
              <a:rPr lang="zh-CN" altLang="en-US" sz="2800" dirty="0"/>
              <a:t>天自我训练，打败了</a:t>
            </a:r>
            <a:r>
              <a:rPr lang="en-US" altLang="zh-CN" sz="2800" dirty="0"/>
              <a:t>AlphaGo Master</a:t>
            </a:r>
            <a:r>
              <a:rPr lang="zh-CN" altLang="en-US" sz="2800" dirty="0"/>
              <a:t>版本。</a:t>
            </a:r>
            <a:endParaRPr lang="en-US" altLang="zh-CN" sz="2800" dirty="0"/>
          </a:p>
        </p:txBody>
      </p:sp>
      <p:sp>
        <p:nvSpPr>
          <p:cNvPr id="4" name="文本框 3">
            <a:extLst>
              <a:ext uri="{FF2B5EF4-FFF2-40B4-BE49-F238E27FC236}">
                <a16:creationId xmlns:a16="http://schemas.microsoft.com/office/drawing/2014/main" id="{363FB588-FE3D-C913-2DA7-E5895905F58B}"/>
              </a:ext>
            </a:extLst>
          </p:cNvPr>
          <p:cNvSpPr txBox="1"/>
          <p:nvPr/>
        </p:nvSpPr>
        <p:spPr>
          <a:xfrm>
            <a:off x="567813" y="1037548"/>
            <a:ext cx="3635477" cy="584775"/>
          </a:xfrm>
          <a:prstGeom prst="rect">
            <a:avLst/>
          </a:prstGeom>
          <a:noFill/>
        </p:spPr>
        <p:txBody>
          <a:bodyPr wrap="square" rtlCol="0">
            <a:spAutoFit/>
          </a:bodyPr>
          <a:lstStyle/>
          <a:p>
            <a:r>
              <a:rPr lang="en-US" altLang="zh-CN" sz="3200" dirty="0">
                <a:solidFill>
                  <a:srgbClr val="C00000"/>
                </a:solidFill>
                <a:ea typeface="方正姚体" panose="02010601030101010101" pitchFamily="2" charset="-122"/>
              </a:rPr>
              <a:t>AlphaGo Zero</a:t>
            </a:r>
            <a:endParaRPr lang="zh-CN" altLang="en-US" sz="3200" dirty="0">
              <a:solidFill>
                <a:srgbClr val="C00000"/>
              </a:solidFill>
              <a:ea typeface="方正姚体" panose="02010601030101010101" pitchFamily="2" charset="-122"/>
            </a:endParaRPr>
          </a:p>
        </p:txBody>
      </p:sp>
    </p:spTree>
    <p:extLst>
      <p:ext uri="{BB962C8B-B14F-4D97-AF65-F5344CB8AC3E}">
        <p14:creationId xmlns:p14="http://schemas.microsoft.com/office/powerpoint/2010/main" val="13037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fade">
                                      <p:cBhvr>
                                        <p:cTn id="1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人工智能围棋</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1622323"/>
            <a:ext cx="7713407" cy="3761479"/>
          </a:xfrm>
          <a:prstGeom prst="rect">
            <a:avLst/>
          </a:prstGeom>
          <a:noFill/>
        </p:spPr>
        <p:txBody>
          <a:bodyPr wrap="square" rtlCol="0">
            <a:spAutoFit/>
          </a:bodyPr>
          <a:lstStyle/>
          <a:p>
            <a:pPr marL="514350" indent="-514350" algn="just">
              <a:lnSpc>
                <a:spcPct val="130000"/>
              </a:lnSpc>
              <a:buFont typeface="+mj-lt"/>
              <a:buAutoNum type="arabicPeriod" startAt="2"/>
            </a:pPr>
            <a:r>
              <a:rPr lang="zh-CN" altLang="en-US" sz="2800" dirty="0">
                <a:solidFill>
                  <a:srgbClr val="FF0000"/>
                </a:solidFill>
              </a:rPr>
              <a:t>原理概述</a:t>
            </a:r>
            <a:endParaRPr lang="en-US" altLang="zh-CN" sz="2800" dirty="0">
              <a:solidFill>
                <a:srgbClr val="FF0000"/>
              </a:solidFill>
            </a:endParaRPr>
          </a:p>
          <a:p>
            <a:pPr marL="514350" indent="-249238" algn="just">
              <a:lnSpc>
                <a:spcPct val="130000"/>
              </a:lnSpc>
              <a:buFont typeface="Arial" panose="020B0604020202020204" pitchFamily="34" charset="0"/>
              <a:buChar char="•"/>
            </a:pPr>
            <a:r>
              <a:rPr lang="zh-CN" altLang="en-US" sz="2800" dirty="0"/>
              <a:t>一个大脑</a:t>
            </a:r>
            <a:endParaRPr lang="en-US" altLang="zh-CN" sz="2800" dirty="0"/>
          </a:p>
          <a:p>
            <a:pPr marL="263525" indent="636588" algn="just">
              <a:lnSpc>
                <a:spcPct val="130000"/>
              </a:lnSpc>
            </a:pPr>
            <a:r>
              <a:rPr lang="zh-CN" altLang="en-US" sz="2600" dirty="0"/>
              <a:t>策略网络与价值网络合二为一，能得到更高效的训练和评估。</a:t>
            </a:r>
            <a:endParaRPr lang="en-US" altLang="zh-CN" sz="2600" dirty="0"/>
          </a:p>
          <a:p>
            <a:pPr marL="538163" indent="-273050" algn="just">
              <a:lnSpc>
                <a:spcPct val="130000"/>
              </a:lnSpc>
              <a:buFont typeface="Arial" panose="020B0604020202020204" pitchFamily="34" charset="0"/>
              <a:buChar char="•"/>
            </a:pPr>
            <a:r>
              <a:rPr lang="zh-CN" altLang="en-US" sz="2600" dirty="0"/>
              <a:t>神经网络</a:t>
            </a:r>
            <a:endParaRPr lang="en-US" altLang="zh-CN" sz="2600" dirty="0"/>
          </a:p>
          <a:p>
            <a:pPr marL="263525" indent="636588" algn="just">
              <a:lnSpc>
                <a:spcPct val="130000"/>
              </a:lnSpc>
            </a:pPr>
            <a:r>
              <a:rPr lang="zh-CN" altLang="en-US" sz="2600" dirty="0"/>
              <a:t>不使用快速随机的走子方法，依靠高质量的神经网络评估下棋局势。</a:t>
            </a:r>
            <a:endParaRPr lang="en-US" altLang="zh-CN" sz="2600" dirty="0"/>
          </a:p>
        </p:txBody>
      </p:sp>
      <p:sp>
        <p:nvSpPr>
          <p:cNvPr id="4" name="文本框 3">
            <a:extLst>
              <a:ext uri="{FF2B5EF4-FFF2-40B4-BE49-F238E27FC236}">
                <a16:creationId xmlns:a16="http://schemas.microsoft.com/office/drawing/2014/main" id="{363FB588-FE3D-C913-2DA7-E5895905F58B}"/>
              </a:ext>
            </a:extLst>
          </p:cNvPr>
          <p:cNvSpPr txBox="1"/>
          <p:nvPr/>
        </p:nvSpPr>
        <p:spPr>
          <a:xfrm>
            <a:off x="567813" y="1037548"/>
            <a:ext cx="3635477" cy="584775"/>
          </a:xfrm>
          <a:prstGeom prst="rect">
            <a:avLst/>
          </a:prstGeom>
          <a:noFill/>
        </p:spPr>
        <p:txBody>
          <a:bodyPr wrap="square" rtlCol="0">
            <a:spAutoFit/>
          </a:bodyPr>
          <a:lstStyle/>
          <a:p>
            <a:r>
              <a:rPr lang="en-US" altLang="zh-CN" sz="3200" dirty="0">
                <a:solidFill>
                  <a:srgbClr val="C00000"/>
                </a:solidFill>
                <a:ea typeface="方正姚体" panose="02010601030101010101" pitchFamily="2" charset="-122"/>
              </a:rPr>
              <a:t>AlphaGo Zero</a:t>
            </a:r>
            <a:endParaRPr lang="zh-CN" altLang="en-US" sz="3200" dirty="0">
              <a:solidFill>
                <a:srgbClr val="C00000"/>
              </a:solidFill>
              <a:ea typeface="方正姚体" panose="02010601030101010101" pitchFamily="2" charset="-122"/>
            </a:endParaRPr>
          </a:p>
        </p:txBody>
      </p:sp>
    </p:spTree>
    <p:extLst>
      <p:ext uri="{BB962C8B-B14F-4D97-AF65-F5344CB8AC3E}">
        <p14:creationId xmlns:p14="http://schemas.microsoft.com/office/powerpoint/2010/main" val="294737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人工智能围棋</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1622323"/>
            <a:ext cx="7713407" cy="4281621"/>
          </a:xfrm>
          <a:prstGeom prst="rect">
            <a:avLst/>
          </a:prstGeom>
          <a:noFill/>
        </p:spPr>
        <p:txBody>
          <a:bodyPr wrap="square" rtlCol="0">
            <a:spAutoFit/>
          </a:bodyPr>
          <a:lstStyle/>
          <a:p>
            <a:pPr marL="514350" indent="-514350" algn="just">
              <a:lnSpc>
                <a:spcPct val="130000"/>
              </a:lnSpc>
              <a:buFont typeface="+mj-lt"/>
              <a:buAutoNum type="arabicPeriod" startAt="2"/>
            </a:pPr>
            <a:r>
              <a:rPr lang="zh-CN" altLang="en-US" sz="2800" dirty="0">
                <a:solidFill>
                  <a:srgbClr val="FF0000"/>
                </a:solidFill>
              </a:rPr>
              <a:t>原理概述</a:t>
            </a:r>
            <a:endParaRPr lang="en-US" altLang="zh-CN" sz="2800" dirty="0">
              <a:solidFill>
                <a:srgbClr val="FF0000"/>
              </a:solidFill>
            </a:endParaRPr>
          </a:p>
          <a:p>
            <a:pPr marL="514350" indent="-249238" algn="just">
              <a:lnSpc>
                <a:spcPct val="130000"/>
              </a:lnSpc>
              <a:buFont typeface="Arial" panose="020B0604020202020204" pitchFamily="34" charset="0"/>
              <a:buChar char="•"/>
            </a:pPr>
            <a:r>
              <a:rPr lang="zh-CN" altLang="en-US" sz="2800" dirty="0"/>
              <a:t>自学成才</a:t>
            </a:r>
            <a:endParaRPr lang="en-US" altLang="zh-CN" sz="2800" dirty="0"/>
          </a:p>
          <a:p>
            <a:pPr marL="263525" indent="636588" algn="just">
              <a:lnSpc>
                <a:spcPct val="130000"/>
              </a:lnSpc>
            </a:pPr>
            <a:r>
              <a:rPr lang="zh-CN" altLang="en-US" sz="2600" dirty="0"/>
              <a:t>不再需要人类数据，一开始不接触人类棋谱，自由随意地在棋盘上下棋，从单一神经网络开始，通过神经网络强大的搜索算法进行自我对弈。随着自我博弈增加，神经网络逐渐调整，提升预测下一步的能力。随着训练深入，还独立发现了游戏规则，并开发了新策略。</a:t>
            </a:r>
            <a:endParaRPr lang="en-US" altLang="zh-CN" sz="2600" dirty="0"/>
          </a:p>
        </p:txBody>
      </p:sp>
      <p:sp>
        <p:nvSpPr>
          <p:cNvPr id="4" name="文本框 3">
            <a:extLst>
              <a:ext uri="{FF2B5EF4-FFF2-40B4-BE49-F238E27FC236}">
                <a16:creationId xmlns:a16="http://schemas.microsoft.com/office/drawing/2014/main" id="{363FB588-FE3D-C913-2DA7-E5895905F58B}"/>
              </a:ext>
            </a:extLst>
          </p:cNvPr>
          <p:cNvSpPr txBox="1"/>
          <p:nvPr/>
        </p:nvSpPr>
        <p:spPr>
          <a:xfrm>
            <a:off x="567813" y="1037548"/>
            <a:ext cx="3635477" cy="584775"/>
          </a:xfrm>
          <a:prstGeom prst="rect">
            <a:avLst/>
          </a:prstGeom>
          <a:noFill/>
        </p:spPr>
        <p:txBody>
          <a:bodyPr wrap="square" rtlCol="0">
            <a:spAutoFit/>
          </a:bodyPr>
          <a:lstStyle/>
          <a:p>
            <a:r>
              <a:rPr lang="en-US" altLang="zh-CN" sz="3200" dirty="0">
                <a:solidFill>
                  <a:srgbClr val="C00000"/>
                </a:solidFill>
                <a:ea typeface="方正姚体" panose="02010601030101010101" pitchFamily="2" charset="-122"/>
              </a:rPr>
              <a:t>AlphaGo Zero</a:t>
            </a:r>
            <a:endParaRPr lang="zh-CN" altLang="en-US" sz="3200" dirty="0">
              <a:solidFill>
                <a:srgbClr val="C00000"/>
              </a:solidFill>
              <a:ea typeface="方正姚体" panose="02010601030101010101" pitchFamily="2" charset="-122"/>
            </a:endParaRPr>
          </a:p>
        </p:txBody>
      </p:sp>
    </p:spTree>
    <p:extLst>
      <p:ext uri="{BB962C8B-B14F-4D97-AF65-F5344CB8AC3E}">
        <p14:creationId xmlns:p14="http://schemas.microsoft.com/office/powerpoint/2010/main" val="427252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无人驾驶</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1010265"/>
            <a:ext cx="7713407" cy="3888500"/>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zh-CN" altLang="en-US" sz="2800" dirty="0"/>
              <a:t>一种智能汽车，也称为轮式移动机器人。依靠车内以计算机系统为主的智能驾驶仪实现无人驾驶。</a:t>
            </a:r>
            <a:endParaRPr lang="en-US" altLang="zh-CN" sz="2800" dirty="0"/>
          </a:p>
          <a:p>
            <a:pPr marL="457200" indent="-457200" algn="just">
              <a:lnSpc>
                <a:spcPct val="150000"/>
              </a:lnSpc>
              <a:buFont typeface="Arial" panose="020B0604020202020204" pitchFamily="34" charset="0"/>
              <a:buChar char="•"/>
            </a:pPr>
            <a:r>
              <a:rPr lang="zh-CN" altLang="en-US" sz="2800" dirty="0"/>
              <a:t>通过车载传感系统感知道路环境，根据感知所获得的道路、车辆位置和障碍物信息，控制车辆转向和速度，自动规划行车路线。</a:t>
            </a:r>
            <a:endParaRPr lang="en-US" altLang="zh-CN" sz="2800" dirty="0"/>
          </a:p>
        </p:txBody>
      </p:sp>
    </p:spTree>
    <p:extLst>
      <p:ext uri="{BB962C8B-B14F-4D97-AF65-F5344CB8AC3E}">
        <p14:creationId xmlns:p14="http://schemas.microsoft.com/office/powerpoint/2010/main" val="345146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无人驾驶</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988142"/>
            <a:ext cx="7713407" cy="5181162"/>
          </a:xfrm>
          <a:prstGeom prst="rect">
            <a:avLst/>
          </a:prstGeom>
          <a:noFill/>
        </p:spPr>
        <p:txBody>
          <a:bodyPr wrap="square" rtlCol="0">
            <a:spAutoFit/>
          </a:bodyPr>
          <a:lstStyle/>
          <a:p>
            <a:pPr marL="514350" indent="-514350" algn="just">
              <a:lnSpc>
                <a:spcPct val="150000"/>
              </a:lnSpc>
              <a:buFont typeface="+mj-lt"/>
              <a:buAutoNum type="arabicPeriod"/>
            </a:pPr>
            <a:r>
              <a:rPr lang="zh-CN" altLang="en-US" sz="2800" dirty="0">
                <a:solidFill>
                  <a:srgbClr val="FF0000"/>
                </a:solidFill>
              </a:rPr>
              <a:t>原理概述</a:t>
            </a:r>
            <a:endParaRPr lang="en-US" altLang="zh-CN" sz="2800" dirty="0">
              <a:solidFill>
                <a:srgbClr val="FF0000"/>
              </a:solidFill>
            </a:endParaRPr>
          </a:p>
          <a:p>
            <a:pPr indent="715963" algn="just">
              <a:lnSpc>
                <a:spcPct val="150000"/>
              </a:lnSpc>
            </a:pPr>
            <a:r>
              <a:rPr lang="zh-CN" altLang="en-US" sz="2800" dirty="0"/>
              <a:t>无人驾驶技术是传感器、计算机、人工智能、通信、导航定位、模式识别、机器视觉、智能控制等多门前沿学科的综合体。</a:t>
            </a:r>
            <a:r>
              <a:rPr lang="en-US" altLang="zh-CN" sz="2800" dirty="0"/>
              <a:t> </a:t>
            </a:r>
          </a:p>
          <a:p>
            <a:pPr marL="514350" indent="-249238" algn="just">
              <a:lnSpc>
                <a:spcPct val="150000"/>
              </a:lnSpc>
              <a:buFont typeface="Arial" panose="020B0604020202020204" pitchFamily="34" charset="0"/>
              <a:buChar char="•"/>
            </a:pPr>
            <a:r>
              <a:rPr lang="zh-CN" altLang="en-US" sz="2800" dirty="0">
                <a:solidFill>
                  <a:srgbClr val="FF0000"/>
                </a:solidFill>
              </a:rPr>
              <a:t>环境感知技术</a:t>
            </a:r>
            <a:endParaRPr lang="en-US" altLang="zh-CN" sz="2800" dirty="0">
              <a:solidFill>
                <a:srgbClr val="FF0000"/>
              </a:solidFill>
            </a:endParaRPr>
          </a:p>
          <a:p>
            <a:pPr marL="514350" indent="-249238" algn="just">
              <a:lnSpc>
                <a:spcPct val="150000"/>
              </a:lnSpc>
              <a:buFont typeface="Arial" panose="020B0604020202020204" pitchFamily="34" charset="0"/>
              <a:buChar char="•"/>
            </a:pPr>
            <a:r>
              <a:rPr lang="zh-CN" altLang="en-US" sz="2800" dirty="0">
                <a:solidFill>
                  <a:srgbClr val="FF0000"/>
                </a:solidFill>
              </a:rPr>
              <a:t>导航定位技术</a:t>
            </a:r>
            <a:endParaRPr lang="en-US" altLang="zh-CN" sz="2800" dirty="0">
              <a:solidFill>
                <a:srgbClr val="FF0000"/>
              </a:solidFill>
            </a:endParaRPr>
          </a:p>
          <a:p>
            <a:pPr marL="514350" indent="-249238" algn="just">
              <a:lnSpc>
                <a:spcPct val="150000"/>
              </a:lnSpc>
              <a:buFont typeface="Arial" panose="020B0604020202020204" pitchFamily="34" charset="0"/>
              <a:buChar char="•"/>
            </a:pPr>
            <a:r>
              <a:rPr lang="zh-CN" altLang="en-US" sz="2800" dirty="0">
                <a:solidFill>
                  <a:srgbClr val="FF0000"/>
                </a:solidFill>
              </a:rPr>
              <a:t>路径规划技术</a:t>
            </a:r>
            <a:endParaRPr lang="en-US" altLang="zh-CN" sz="2800" dirty="0">
              <a:solidFill>
                <a:srgbClr val="FF0000"/>
              </a:solidFill>
            </a:endParaRPr>
          </a:p>
          <a:p>
            <a:pPr marL="514350" indent="-249238" algn="just">
              <a:lnSpc>
                <a:spcPct val="150000"/>
              </a:lnSpc>
              <a:buFont typeface="Arial" panose="020B0604020202020204" pitchFamily="34" charset="0"/>
              <a:buChar char="•"/>
            </a:pPr>
            <a:r>
              <a:rPr lang="zh-CN" altLang="en-US" sz="2800" dirty="0">
                <a:solidFill>
                  <a:srgbClr val="FF0000"/>
                </a:solidFill>
              </a:rPr>
              <a:t>决策控制技术</a:t>
            </a:r>
            <a:endParaRPr lang="en-US" altLang="zh-CN" sz="2800" dirty="0">
              <a:solidFill>
                <a:srgbClr val="FF0000"/>
              </a:solidFill>
            </a:endParaRPr>
          </a:p>
        </p:txBody>
      </p:sp>
    </p:spTree>
    <p:extLst>
      <p:ext uri="{BB962C8B-B14F-4D97-AF65-F5344CB8AC3E}">
        <p14:creationId xmlns:p14="http://schemas.microsoft.com/office/powerpoint/2010/main" val="4225262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75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无人驾驶</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988142"/>
            <a:ext cx="7713407" cy="5185522"/>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zh-CN" altLang="en-US" sz="2800" dirty="0">
                <a:solidFill>
                  <a:srgbClr val="FF0000"/>
                </a:solidFill>
              </a:rPr>
              <a:t>环境感知技术</a:t>
            </a:r>
            <a:endParaRPr lang="en-US" altLang="zh-CN" sz="2800" dirty="0">
              <a:solidFill>
                <a:srgbClr val="FF0000"/>
              </a:solidFill>
            </a:endParaRPr>
          </a:p>
          <a:p>
            <a:pPr indent="449263" algn="just">
              <a:lnSpc>
                <a:spcPct val="150000"/>
              </a:lnSpc>
            </a:pPr>
            <a:r>
              <a:rPr lang="zh-CN" altLang="en-US" sz="2800" dirty="0"/>
              <a:t>环境感知模块相当于无人驾驶汽车的眼和耳，辨别自身周围的环境信息，为其行为决策提供信息支持。包括</a:t>
            </a:r>
            <a:r>
              <a:rPr lang="zh-CN" altLang="en-US" sz="2800" dirty="0">
                <a:solidFill>
                  <a:srgbClr val="FF0000"/>
                </a:solidFill>
              </a:rPr>
              <a:t>汽车自身位姿感知</a:t>
            </a:r>
            <a:r>
              <a:rPr lang="zh-CN" altLang="en-US" sz="2800" dirty="0"/>
              <a:t>和</a:t>
            </a:r>
            <a:r>
              <a:rPr lang="zh-CN" altLang="en-US" sz="2800" dirty="0">
                <a:solidFill>
                  <a:srgbClr val="FF0000"/>
                </a:solidFill>
              </a:rPr>
              <a:t>周围环境感知</a:t>
            </a:r>
            <a:r>
              <a:rPr lang="zh-CN" altLang="en-US" sz="2800" dirty="0"/>
              <a:t>两部分。</a:t>
            </a:r>
            <a:endParaRPr lang="en-US" altLang="zh-CN" sz="2800" dirty="0"/>
          </a:p>
          <a:p>
            <a:pPr indent="449263" algn="just">
              <a:lnSpc>
                <a:spcPct val="150000"/>
              </a:lnSpc>
            </a:pPr>
            <a:r>
              <a:rPr lang="zh-CN" altLang="en-US" sz="2800" dirty="0"/>
              <a:t>采用多个传感器同时对某个被测对象的多个特征量进行测量，经过</a:t>
            </a:r>
            <a:r>
              <a:rPr lang="zh-CN" altLang="en-US" sz="2800" dirty="0">
                <a:solidFill>
                  <a:srgbClr val="FF0000"/>
                </a:solidFill>
              </a:rPr>
              <a:t>数据融合处理</a:t>
            </a:r>
            <a:r>
              <a:rPr lang="zh-CN" altLang="en-US" sz="2800" dirty="0"/>
              <a:t>后，提取出可信度较高的有用信号。</a:t>
            </a:r>
            <a:endParaRPr lang="en-US" altLang="zh-CN" sz="2800" dirty="0"/>
          </a:p>
        </p:txBody>
      </p:sp>
    </p:spTree>
    <p:extLst>
      <p:ext uri="{BB962C8B-B14F-4D97-AF65-F5344CB8AC3E}">
        <p14:creationId xmlns:p14="http://schemas.microsoft.com/office/powerpoint/2010/main" val="3812350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无人驾驶</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988142"/>
            <a:ext cx="7713407" cy="5185522"/>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zh-CN" altLang="en-US" sz="2800" dirty="0">
                <a:solidFill>
                  <a:srgbClr val="FF0000"/>
                </a:solidFill>
              </a:rPr>
              <a:t>导航定位技术</a:t>
            </a:r>
            <a:endParaRPr lang="en-US" altLang="zh-CN" sz="2800" dirty="0">
              <a:solidFill>
                <a:srgbClr val="FF0000"/>
              </a:solidFill>
            </a:endParaRPr>
          </a:p>
          <a:p>
            <a:pPr indent="449263" algn="just">
              <a:lnSpc>
                <a:spcPct val="150000"/>
              </a:lnSpc>
            </a:pPr>
            <a:r>
              <a:rPr lang="zh-CN" altLang="en-US" sz="2800" dirty="0"/>
              <a:t>导航模块用于确定无人驾驶汽车自身的地理位置，是路径规划和任务规划的支撑。分为</a:t>
            </a:r>
            <a:r>
              <a:rPr lang="zh-CN" altLang="en-US" sz="2800" dirty="0">
                <a:solidFill>
                  <a:srgbClr val="FF0000"/>
                </a:solidFill>
              </a:rPr>
              <a:t>自主导航</a:t>
            </a:r>
            <a:r>
              <a:rPr lang="zh-CN" altLang="en-US" sz="2800" dirty="0"/>
              <a:t>和</a:t>
            </a:r>
            <a:r>
              <a:rPr lang="zh-CN" altLang="en-US" sz="2800" dirty="0">
                <a:solidFill>
                  <a:srgbClr val="FF0000"/>
                </a:solidFill>
              </a:rPr>
              <a:t>网络导航</a:t>
            </a:r>
            <a:r>
              <a:rPr lang="zh-CN" altLang="en-US" sz="2800" dirty="0"/>
              <a:t>两种。</a:t>
            </a:r>
            <a:endParaRPr lang="en-US" altLang="zh-CN" sz="2800" dirty="0"/>
          </a:p>
          <a:p>
            <a:pPr indent="449263" algn="just">
              <a:lnSpc>
                <a:spcPct val="150000"/>
              </a:lnSpc>
            </a:pPr>
            <a:r>
              <a:rPr lang="zh-CN" altLang="en-US" sz="2800" dirty="0">
                <a:solidFill>
                  <a:srgbClr val="FF0000"/>
                </a:solidFill>
              </a:rPr>
              <a:t>自主导航：</a:t>
            </a:r>
            <a:r>
              <a:rPr lang="zh-CN" altLang="en-US" sz="2800" dirty="0"/>
              <a:t>除定位辅助外，不需要外界其他协助。本地存储地理空间数据，计算在终端完成。</a:t>
            </a:r>
            <a:endParaRPr lang="en-US" altLang="zh-CN" sz="2800" dirty="0"/>
          </a:p>
          <a:p>
            <a:pPr indent="449263" algn="just">
              <a:lnSpc>
                <a:spcPct val="150000"/>
              </a:lnSpc>
            </a:pPr>
            <a:r>
              <a:rPr lang="zh-CN" altLang="en-US" sz="2800" dirty="0">
                <a:solidFill>
                  <a:srgbClr val="FF0000"/>
                </a:solidFill>
              </a:rPr>
              <a:t>网络导航：</a:t>
            </a:r>
            <a:r>
              <a:rPr lang="zh-CN" altLang="en-US" sz="2800" dirty="0"/>
              <a:t>通过移动通信网连接</a:t>
            </a:r>
            <a:r>
              <a:rPr lang="en-US" altLang="zh-CN" sz="2800" dirty="0"/>
              <a:t>Web GIS</a:t>
            </a:r>
            <a:r>
              <a:rPr lang="zh-CN" altLang="en-US" sz="2800" dirty="0"/>
              <a:t>服务器，在服务器执行地图存储和复杂的计算。</a:t>
            </a:r>
            <a:endParaRPr lang="en-US" altLang="zh-CN" sz="2800" dirty="0"/>
          </a:p>
        </p:txBody>
      </p:sp>
    </p:spTree>
    <p:extLst>
      <p:ext uri="{BB962C8B-B14F-4D97-AF65-F5344CB8AC3E}">
        <p14:creationId xmlns:p14="http://schemas.microsoft.com/office/powerpoint/2010/main" val="67707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无人驾驶</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988142"/>
            <a:ext cx="7713407" cy="5181162"/>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zh-CN" altLang="en-US" sz="2800" dirty="0">
                <a:solidFill>
                  <a:srgbClr val="FF0000"/>
                </a:solidFill>
              </a:rPr>
              <a:t>路径规划技术</a:t>
            </a:r>
            <a:endParaRPr lang="en-US" altLang="zh-CN" sz="2800" dirty="0">
              <a:solidFill>
                <a:srgbClr val="FF0000"/>
              </a:solidFill>
            </a:endParaRPr>
          </a:p>
          <a:p>
            <a:pPr indent="449263" algn="just">
              <a:lnSpc>
                <a:spcPct val="150000"/>
              </a:lnSpc>
            </a:pPr>
            <a:r>
              <a:rPr lang="zh-CN" altLang="en-US" sz="2800" dirty="0"/>
              <a:t>在具有障碍物的环境内按照一定的评价标准，寻找一条从起始状态包括位置和姿态到达目标状态的无碰路径。</a:t>
            </a:r>
            <a:endParaRPr lang="en-US" altLang="zh-CN" sz="2800" dirty="0"/>
          </a:p>
          <a:p>
            <a:pPr indent="449263" algn="just">
              <a:lnSpc>
                <a:spcPct val="150000"/>
              </a:lnSpc>
            </a:pPr>
            <a:r>
              <a:rPr lang="zh-CN" altLang="en-US" sz="2800" dirty="0">
                <a:solidFill>
                  <a:srgbClr val="FF0000"/>
                </a:solidFill>
              </a:rPr>
              <a:t>全局路径规划：</a:t>
            </a:r>
            <a:r>
              <a:rPr lang="zh-CN" altLang="en-US" sz="2800" dirty="0"/>
              <a:t>结合优化和反馈机制，利用</a:t>
            </a:r>
            <a:r>
              <a:rPr lang="zh-CN" altLang="en-US" sz="2800" dirty="0">
                <a:solidFill>
                  <a:srgbClr val="FF0000"/>
                </a:solidFill>
              </a:rPr>
              <a:t>已知局部信息</a:t>
            </a:r>
            <a:r>
              <a:rPr lang="zh-CN" altLang="en-US" sz="2800" dirty="0"/>
              <a:t>确定可行和最优路径。</a:t>
            </a:r>
            <a:endParaRPr lang="en-US" altLang="zh-CN" sz="2800" dirty="0"/>
          </a:p>
          <a:p>
            <a:pPr indent="449263" algn="just">
              <a:lnSpc>
                <a:spcPct val="150000"/>
              </a:lnSpc>
            </a:pPr>
            <a:r>
              <a:rPr lang="zh-CN" altLang="en-US" sz="2800" dirty="0">
                <a:solidFill>
                  <a:srgbClr val="FF0000"/>
                </a:solidFill>
              </a:rPr>
              <a:t>局部路径规划：</a:t>
            </a:r>
            <a:r>
              <a:rPr lang="zh-CN" altLang="en-US" sz="2800" dirty="0"/>
              <a:t>在全局路径规划的可行驶区域下，决策当前</a:t>
            </a:r>
            <a:r>
              <a:rPr lang="zh-CN" altLang="en-US" sz="2800" dirty="0">
                <a:solidFill>
                  <a:srgbClr val="FF0000"/>
                </a:solidFill>
              </a:rPr>
              <a:t>前方路段</a:t>
            </a:r>
            <a:r>
              <a:rPr lang="zh-CN" altLang="en-US" sz="2800" dirty="0"/>
              <a:t>所要行驶的轨迹。</a:t>
            </a:r>
            <a:endParaRPr lang="en-US" altLang="zh-CN" sz="2800" dirty="0"/>
          </a:p>
        </p:txBody>
      </p:sp>
      <p:sp>
        <p:nvSpPr>
          <p:cNvPr id="4" name="对话气泡: 圆角矩形 3">
            <a:extLst>
              <a:ext uri="{FF2B5EF4-FFF2-40B4-BE49-F238E27FC236}">
                <a16:creationId xmlns:a16="http://schemas.microsoft.com/office/drawing/2014/main" id="{A2C21AF1-0868-9C65-7DCA-30B357A67D49}"/>
              </a:ext>
            </a:extLst>
          </p:cNvPr>
          <p:cNvSpPr/>
          <p:nvPr/>
        </p:nvSpPr>
        <p:spPr>
          <a:xfrm>
            <a:off x="6607277" y="4284406"/>
            <a:ext cx="1762433" cy="449826"/>
          </a:xfrm>
          <a:prstGeom prst="wedgeRoundRectCallout">
            <a:avLst>
              <a:gd name="adj1" fmla="val -71461"/>
              <a:gd name="adj2" fmla="val -861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solidFill>
                  <a:srgbClr val="0070C0"/>
                </a:solidFill>
              </a:rPr>
              <a:t>周围环境已知</a:t>
            </a:r>
          </a:p>
        </p:txBody>
      </p:sp>
      <p:sp>
        <p:nvSpPr>
          <p:cNvPr id="5" name="对话气泡: 圆角矩形 4">
            <a:extLst>
              <a:ext uri="{FF2B5EF4-FFF2-40B4-BE49-F238E27FC236}">
                <a16:creationId xmlns:a16="http://schemas.microsoft.com/office/drawing/2014/main" id="{6604EEC3-78B2-FE31-8C12-B6144136A3CA}"/>
              </a:ext>
            </a:extLst>
          </p:cNvPr>
          <p:cNvSpPr/>
          <p:nvPr/>
        </p:nvSpPr>
        <p:spPr>
          <a:xfrm>
            <a:off x="6885039" y="6110413"/>
            <a:ext cx="1762433" cy="449826"/>
          </a:xfrm>
          <a:prstGeom prst="wedgeRoundRectCallout">
            <a:avLst>
              <a:gd name="adj1" fmla="val -68114"/>
              <a:gd name="adj2" fmla="val -54513"/>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solidFill>
                  <a:srgbClr val="0070C0"/>
                </a:solidFill>
              </a:rPr>
              <a:t>环境未知</a:t>
            </a:r>
          </a:p>
        </p:txBody>
      </p:sp>
    </p:spTree>
    <p:extLst>
      <p:ext uri="{BB962C8B-B14F-4D97-AF65-F5344CB8AC3E}">
        <p14:creationId xmlns:p14="http://schemas.microsoft.com/office/powerpoint/2010/main" val="4172661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par>
                          <p:cTn id="28" fill="hold">
                            <p:stCondLst>
                              <p:cond delay="500"/>
                            </p:stCondLst>
                            <p:childTnLst>
                              <p:par>
                                <p:cTn id="29" presetID="10" presetClass="entr" presetSubtype="0" fill="hold" grpId="0" nodeType="afterEffect">
                                  <p:stCondLst>
                                    <p:cond delay="100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无人驾驶</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988142"/>
            <a:ext cx="7713407" cy="3246530"/>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zh-CN" altLang="en-US" sz="2800" dirty="0">
                <a:solidFill>
                  <a:srgbClr val="FF0000"/>
                </a:solidFill>
              </a:rPr>
              <a:t>决策控制技术</a:t>
            </a:r>
            <a:endParaRPr lang="en-US" altLang="zh-CN" sz="2800" dirty="0">
              <a:solidFill>
                <a:srgbClr val="FF0000"/>
              </a:solidFill>
            </a:endParaRPr>
          </a:p>
          <a:p>
            <a:pPr indent="449263" algn="just">
              <a:lnSpc>
                <a:spcPct val="150000"/>
              </a:lnSpc>
            </a:pPr>
            <a:r>
              <a:rPr lang="zh-CN" altLang="en-US" sz="2800" dirty="0"/>
              <a:t>依据感知系统获取的信息进行决策判断，对下一步的行为进行决策，然后对汽车进行控制。决策技术包括模糊推理、强化学习、神经网络和贝叶斯网络等技术。</a:t>
            </a:r>
            <a:endParaRPr lang="en-US" altLang="zh-CN" sz="2800" dirty="0"/>
          </a:p>
        </p:txBody>
      </p:sp>
    </p:spTree>
    <p:extLst>
      <p:ext uri="{BB962C8B-B14F-4D97-AF65-F5344CB8AC3E}">
        <p14:creationId xmlns:p14="http://schemas.microsoft.com/office/powerpoint/2010/main" val="2383733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无人驾驶</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988142"/>
            <a:ext cx="7713407" cy="5185522"/>
          </a:xfrm>
          <a:prstGeom prst="rect">
            <a:avLst/>
          </a:prstGeom>
          <a:noFill/>
        </p:spPr>
        <p:txBody>
          <a:bodyPr wrap="square" rtlCol="0">
            <a:spAutoFit/>
          </a:bodyPr>
          <a:lstStyle/>
          <a:p>
            <a:pPr marL="514350" indent="-514350" algn="just">
              <a:lnSpc>
                <a:spcPct val="150000"/>
              </a:lnSpc>
              <a:buFont typeface="+mj-lt"/>
              <a:buAutoNum type="arabicPeriod" startAt="2"/>
            </a:pPr>
            <a:r>
              <a:rPr lang="zh-CN" altLang="en-US" sz="2800" dirty="0">
                <a:solidFill>
                  <a:srgbClr val="FF0000"/>
                </a:solidFill>
              </a:rPr>
              <a:t>研究概况</a:t>
            </a:r>
            <a:endParaRPr lang="en-US" altLang="zh-CN" sz="2800" dirty="0">
              <a:solidFill>
                <a:srgbClr val="FF0000"/>
              </a:solidFill>
            </a:endParaRPr>
          </a:p>
          <a:p>
            <a:pPr marL="720725" indent="-358775" algn="just">
              <a:lnSpc>
                <a:spcPct val="150000"/>
              </a:lnSpc>
              <a:buFont typeface="Arial" panose="020B0604020202020204" pitchFamily="34" charset="0"/>
              <a:buChar char="•"/>
            </a:pPr>
            <a:r>
              <a:rPr lang="en-US" altLang="zh-CN" sz="2800" dirty="0"/>
              <a:t>20</a:t>
            </a:r>
            <a:r>
              <a:rPr lang="zh-CN" altLang="en-US" sz="2800" dirty="0"/>
              <a:t>世纪</a:t>
            </a:r>
            <a:r>
              <a:rPr lang="en-US" altLang="zh-CN" sz="2800" dirty="0"/>
              <a:t>70</a:t>
            </a:r>
            <a:r>
              <a:rPr lang="zh-CN" altLang="en-US" sz="2800" dirty="0"/>
              <a:t>年代，美、英、德、法进行无人车研究，在可行性和实用化上取得突破性进展。</a:t>
            </a:r>
            <a:r>
              <a:rPr lang="en-US" altLang="zh-CN" sz="2800" dirty="0"/>
              <a:t> </a:t>
            </a:r>
          </a:p>
          <a:p>
            <a:pPr marL="720725" indent="-358775" algn="just">
              <a:lnSpc>
                <a:spcPct val="150000"/>
              </a:lnSpc>
              <a:buFont typeface="Arial" panose="020B0604020202020204" pitchFamily="34" charset="0"/>
              <a:buChar char="•"/>
            </a:pPr>
            <a:r>
              <a:rPr lang="en-US" altLang="zh-CN" sz="2800" dirty="0"/>
              <a:t>20</a:t>
            </a:r>
            <a:r>
              <a:rPr lang="zh-CN" altLang="en-US" sz="2800" dirty="0"/>
              <a:t>世界</a:t>
            </a:r>
            <a:r>
              <a:rPr lang="en-US" altLang="zh-CN" sz="2800" dirty="0"/>
              <a:t>80</a:t>
            </a:r>
            <a:r>
              <a:rPr lang="zh-CN" altLang="en-US" sz="2800" dirty="0"/>
              <a:t>年代，我国开始进行无人驾驶汽车研究。</a:t>
            </a:r>
            <a:endParaRPr lang="en-US" altLang="zh-CN" sz="2800" dirty="0"/>
          </a:p>
          <a:p>
            <a:pPr marL="720725" indent="-358775" algn="just">
              <a:lnSpc>
                <a:spcPct val="150000"/>
              </a:lnSpc>
              <a:buFont typeface="Arial" panose="020B0604020202020204" pitchFamily="34" charset="0"/>
              <a:buChar char="•"/>
            </a:pPr>
            <a:r>
              <a:rPr lang="en-US" altLang="zh-CN" sz="2800" dirty="0"/>
              <a:t>1992</a:t>
            </a:r>
            <a:r>
              <a:rPr lang="zh-CN" altLang="en-US" sz="2800" dirty="0"/>
              <a:t>年，国防科技大学研制出中国第一辆真正意义上的无人驾驶汽车。</a:t>
            </a:r>
            <a:endParaRPr lang="en-US" altLang="zh-CN" sz="2800" dirty="0"/>
          </a:p>
          <a:p>
            <a:pPr marL="720725" indent="-358775" algn="just">
              <a:lnSpc>
                <a:spcPct val="150000"/>
              </a:lnSpc>
              <a:buFont typeface="Arial" panose="020B0604020202020204" pitchFamily="34" charset="0"/>
              <a:buChar char="•"/>
            </a:pPr>
            <a:r>
              <a:rPr lang="en-US" altLang="zh-CN" sz="2800" dirty="0"/>
              <a:t>2001</a:t>
            </a:r>
            <a:r>
              <a:rPr lang="zh-CN" altLang="en-US" sz="2800" dirty="0"/>
              <a:t>年，成功研制时速</a:t>
            </a:r>
            <a:r>
              <a:rPr lang="en-US" altLang="zh-CN" sz="2800" dirty="0"/>
              <a:t>76</a:t>
            </a:r>
            <a:r>
              <a:rPr lang="zh-CN" altLang="en-US" sz="2800" dirty="0"/>
              <a:t>千米的无人车。</a:t>
            </a:r>
            <a:endParaRPr lang="en-US" altLang="zh-CN" sz="2800" dirty="0"/>
          </a:p>
        </p:txBody>
      </p:sp>
    </p:spTree>
    <p:extLst>
      <p:ext uri="{BB962C8B-B14F-4D97-AF65-F5344CB8AC3E}">
        <p14:creationId xmlns:p14="http://schemas.microsoft.com/office/powerpoint/2010/main" val="345919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75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无人驾驶</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988142"/>
            <a:ext cx="7713407" cy="5181162"/>
          </a:xfrm>
          <a:prstGeom prst="rect">
            <a:avLst/>
          </a:prstGeom>
          <a:noFill/>
        </p:spPr>
        <p:txBody>
          <a:bodyPr wrap="square" rtlCol="0">
            <a:spAutoFit/>
          </a:bodyPr>
          <a:lstStyle/>
          <a:p>
            <a:pPr marL="514350" indent="-514350" algn="just">
              <a:lnSpc>
                <a:spcPct val="150000"/>
              </a:lnSpc>
              <a:buFont typeface="+mj-lt"/>
              <a:buAutoNum type="arabicPeriod" startAt="2"/>
            </a:pPr>
            <a:r>
              <a:rPr lang="zh-CN" altLang="en-US" sz="2800" dirty="0">
                <a:solidFill>
                  <a:srgbClr val="FF0000"/>
                </a:solidFill>
              </a:rPr>
              <a:t>研究概况</a:t>
            </a:r>
            <a:endParaRPr lang="en-US" altLang="zh-CN" sz="2800" dirty="0">
              <a:solidFill>
                <a:srgbClr val="FF0000"/>
              </a:solidFill>
            </a:endParaRPr>
          </a:p>
          <a:p>
            <a:pPr marL="720725" indent="-358775" algn="just">
              <a:lnSpc>
                <a:spcPct val="150000"/>
              </a:lnSpc>
              <a:buFont typeface="Arial" panose="020B0604020202020204" pitchFamily="34" charset="0"/>
              <a:buChar char="•"/>
            </a:pPr>
            <a:r>
              <a:rPr lang="en-US" altLang="zh-CN" sz="2800" dirty="0"/>
              <a:t>2003</a:t>
            </a:r>
            <a:r>
              <a:rPr lang="zh-CN" altLang="en-US" sz="2800" dirty="0"/>
              <a:t>年，中国首台高速无人驾驶汽车研制成功，最高时速</a:t>
            </a:r>
            <a:r>
              <a:rPr lang="en-US" altLang="zh-CN" sz="2800" dirty="0"/>
              <a:t>170</a:t>
            </a:r>
            <a:r>
              <a:rPr lang="zh-CN" altLang="en-US" sz="2800" dirty="0"/>
              <a:t>千米。</a:t>
            </a:r>
            <a:r>
              <a:rPr lang="en-US" altLang="zh-CN" sz="2800" dirty="0"/>
              <a:t> </a:t>
            </a:r>
          </a:p>
          <a:p>
            <a:pPr marL="720725" indent="-358775" algn="just">
              <a:lnSpc>
                <a:spcPct val="150000"/>
              </a:lnSpc>
              <a:buFont typeface="Arial" panose="020B0604020202020204" pitchFamily="34" charset="0"/>
              <a:buChar char="•"/>
            </a:pPr>
            <a:r>
              <a:rPr lang="en-US" altLang="zh-CN" sz="2800" dirty="0"/>
              <a:t>2005</a:t>
            </a:r>
            <a:r>
              <a:rPr lang="zh-CN" altLang="en-US" sz="2800" dirty="0"/>
              <a:t>年，首辆城市无人驾驶汽车在上海交通大学研制成功。</a:t>
            </a:r>
            <a:endParaRPr lang="en-US" altLang="zh-CN" sz="2800" dirty="0"/>
          </a:p>
          <a:p>
            <a:pPr marL="720725" indent="-358775" algn="just">
              <a:lnSpc>
                <a:spcPct val="150000"/>
              </a:lnSpc>
              <a:buFont typeface="Arial" panose="020B0604020202020204" pitchFamily="34" charset="0"/>
              <a:buChar char="•"/>
            </a:pPr>
            <a:r>
              <a:rPr lang="en-US" altLang="zh-CN" sz="2800" dirty="0"/>
              <a:t>2011</a:t>
            </a:r>
            <a:r>
              <a:rPr lang="zh-CN" altLang="en-US" sz="2800" dirty="0"/>
              <a:t>年，红旗</a:t>
            </a:r>
            <a:r>
              <a:rPr lang="en-US" altLang="zh-CN" sz="2800" dirty="0"/>
              <a:t>HQ3</a:t>
            </a:r>
            <a:r>
              <a:rPr lang="zh-CN" altLang="en-US" sz="2800" dirty="0"/>
              <a:t>无人车首次完成从长沙到武汉</a:t>
            </a:r>
            <a:r>
              <a:rPr lang="en-US" altLang="zh-CN" sz="2800" dirty="0"/>
              <a:t>286</a:t>
            </a:r>
            <a:r>
              <a:rPr lang="zh-CN" altLang="en-US" sz="2800" dirty="0"/>
              <a:t>千米的高速全程无人驾驶实验，历时</a:t>
            </a:r>
            <a:r>
              <a:rPr lang="en-US" altLang="zh-CN" sz="2800" dirty="0"/>
              <a:t>3h22min</a:t>
            </a:r>
            <a:r>
              <a:rPr lang="zh-CN" altLang="en-US" sz="2800" dirty="0"/>
              <a:t>，自主超车</a:t>
            </a:r>
            <a:r>
              <a:rPr lang="en-US" altLang="zh-CN" sz="2800" dirty="0"/>
              <a:t>67</a:t>
            </a:r>
            <a:r>
              <a:rPr lang="zh-CN" altLang="en-US" sz="2800" dirty="0"/>
              <a:t>次，部分路段有雾。</a:t>
            </a:r>
            <a:endParaRPr lang="en-US" altLang="zh-CN" sz="2800" dirty="0"/>
          </a:p>
        </p:txBody>
      </p:sp>
    </p:spTree>
    <p:extLst>
      <p:ext uri="{BB962C8B-B14F-4D97-AF65-F5344CB8AC3E}">
        <p14:creationId xmlns:p14="http://schemas.microsoft.com/office/powerpoint/2010/main" val="1410590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无人驾驶</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988142"/>
            <a:ext cx="7713407" cy="1949508"/>
          </a:xfrm>
          <a:prstGeom prst="rect">
            <a:avLst/>
          </a:prstGeom>
          <a:noFill/>
        </p:spPr>
        <p:txBody>
          <a:bodyPr wrap="square" rtlCol="0">
            <a:spAutoFit/>
          </a:bodyPr>
          <a:lstStyle/>
          <a:p>
            <a:pPr marL="514350" indent="-514350" algn="just">
              <a:lnSpc>
                <a:spcPct val="150000"/>
              </a:lnSpc>
              <a:buFont typeface="+mj-lt"/>
              <a:buAutoNum type="arabicPeriod" startAt="2"/>
            </a:pPr>
            <a:r>
              <a:rPr lang="zh-CN" altLang="en-US" sz="2800" dirty="0">
                <a:solidFill>
                  <a:srgbClr val="FF0000"/>
                </a:solidFill>
              </a:rPr>
              <a:t>研究概况</a:t>
            </a:r>
            <a:endParaRPr lang="en-US" altLang="zh-CN" sz="2800" dirty="0">
              <a:solidFill>
                <a:srgbClr val="FF0000"/>
              </a:solidFill>
            </a:endParaRPr>
          </a:p>
          <a:p>
            <a:pPr marL="720725" indent="-358775" algn="just">
              <a:lnSpc>
                <a:spcPct val="150000"/>
              </a:lnSpc>
              <a:buFont typeface="Arial" panose="020B0604020202020204" pitchFamily="34" charset="0"/>
              <a:buChar char="•"/>
            </a:pPr>
            <a:r>
              <a:rPr lang="en-US" altLang="zh-CN" sz="2800" dirty="0"/>
              <a:t>2014</a:t>
            </a:r>
            <a:r>
              <a:rPr lang="zh-CN" altLang="en-US" sz="2800" dirty="0"/>
              <a:t>年，</a:t>
            </a:r>
            <a:r>
              <a:rPr lang="en-US" altLang="zh-CN" sz="2800" dirty="0"/>
              <a:t>Google</a:t>
            </a:r>
            <a:r>
              <a:rPr lang="zh-CN" altLang="en-US" sz="2800" dirty="0"/>
              <a:t>推出自己的处于原型阶段的无人驾驶汽车，无方向盘和刹车。</a:t>
            </a:r>
            <a:r>
              <a:rPr lang="en-US" altLang="zh-CN" sz="2800" dirty="0"/>
              <a:t> </a:t>
            </a:r>
          </a:p>
        </p:txBody>
      </p:sp>
      <p:sp>
        <p:nvSpPr>
          <p:cNvPr id="4" name="对话气泡: 圆角矩形 3">
            <a:extLst>
              <a:ext uri="{FF2B5EF4-FFF2-40B4-BE49-F238E27FC236}">
                <a16:creationId xmlns:a16="http://schemas.microsoft.com/office/drawing/2014/main" id="{624602B7-05E5-7918-DC02-9557256D8998}"/>
              </a:ext>
            </a:extLst>
          </p:cNvPr>
          <p:cNvSpPr/>
          <p:nvPr/>
        </p:nvSpPr>
        <p:spPr>
          <a:xfrm>
            <a:off x="715296" y="3204087"/>
            <a:ext cx="7713406" cy="716264"/>
          </a:xfrm>
          <a:prstGeom prst="wedgeRoundRectCallout">
            <a:avLst>
              <a:gd name="adj1" fmla="val 2362"/>
              <a:gd name="adj2" fmla="val -95417"/>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400" dirty="0">
                <a:solidFill>
                  <a:srgbClr val="0070C0"/>
                </a:solidFill>
              </a:rPr>
              <a:t>方向盘、油门、刹车等传统配件被软件、传感器所取代。</a:t>
            </a:r>
          </a:p>
        </p:txBody>
      </p:sp>
    </p:spTree>
    <p:extLst>
      <p:ext uri="{BB962C8B-B14F-4D97-AF65-F5344CB8AC3E}">
        <p14:creationId xmlns:p14="http://schemas.microsoft.com/office/powerpoint/2010/main" val="353674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无人超市</a:t>
            </a:r>
          </a:p>
        </p:txBody>
      </p:sp>
      <p:sp>
        <p:nvSpPr>
          <p:cNvPr id="4" name="文本框 3">
            <a:extLst>
              <a:ext uri="{FF2B5EF4-FFF2-40B4-BE49-F238E27FC236}">
                <a16:creationId xmlns:a16="http://schemas.microsoft.com/office/drawing/2014/main" id="{5DD66FD7-EE1D-0E3F-5A79-03EFF9A6D102}"/>
              </a:ext>
            </a:extLst>
          </p:cNvPr>
          <p:cNvSpPr txBox="1"/>
          <p:nvPr/>
        </p:nvSpPr>
        <p:spPr>
          <a:xfrm>
            <a:off x="715296" y="988142"/>
            <a:ext cx="7713407" cy="5185522"/>
          </a:xfrm>
          <a:prstGeom prst="rect">
            <a:avLst/>
          </a:prstGeom>
          <a:noFill/>
        </p:spPr>
        <p:txBody>
          <a:bodyPr wrap="square" rtlCol="0">
            <a:spAutoFit/>
          </a:bodyPr>
          <a:lstStyle/>
          <a:p>
            <a:pPr marL="514350" indent="-514350" algn="just">
              <a:lnSpc>
                <a:spcPct val="150000"/>
              </a:lnSpc>
              <a:buFont typeface="+mj-lt"/>
              <a:buAutoNum type="arabicPeriod"/>
            </a:pPr>
            <a:r>
              <a:rPr lang="zh-CN" altLang="en-US" sz="2800" dirty="0">
                <a:solidFill>
                  <a:srgbClr val="FF0000"/>
                </a:solidFill>
              </a:rPr>
              <a:t>诞生背景</a:t>
            </a:r>
            <a:endParaRPr lang="en-US" altLang="zh-CN" sz="2800" dirty="0">
              <a:solidFill>
                <a:srgbClr val="FF0000"/>
              </a:solidFill>
            </a:endParaRPr>
          </a:p>
          <a:p>
            <a:pPr indent="715963" algn="just">
              <a:lnSpc>
                <a:spcPct val="150000"/>
              </a:lnSpc>
            </a:pPr>
            <a:r>
              <a:rPr lang="zh-CN" altLang="en-US" sz="2800" dirty="0"/>
              <a:t>通过各种技术手段，使得消费者自助结账成为可能，省去排队结账的大量时间，加速结账流程，同时帮助超市运营者节省可观的人工成本。</a:t>
            </a:r>
            <a:endParaRPr lang="en-US" altLang="zh-CN" sz="2800" dirty="0"/>
          </a:p>
          <a:p>
            <a:pPr marL="538163" indent="-273050" algn="just">
              <a:lnSpc>
                <a:spcPct val="150000"/>
              </a:lnSpc>
              <a:buFont typeface="Arial" panose="020B0604020202020204" pitchFamily="34" charset="0"/>
              <a:buChar char="•"/>
            </a:pPr>
            <a:r>
              <a:rPr lang="zh-CN" altLang="en-US" sz="2800" dirty="0"/>
              <a:t>便捷且高效</a:t>
            </a:r>
            <a:r>
              <a:rPr lang="en-US" altLang="zh-CN" sz="2800" dirty="0"/>
              <a:t>——</a:t>
            </a:r>
            <a:r>
              <a:rPr lang="zh-CN" altLang="en-US" sz="2800" dirty="0"/>
              <a:t>两道结算门</a:t>
            </a:r>
            <a:endParaRPr lang="en-US" altLang="zh-CN" sz="2800" dirty="0"/>
          </a:p>
          <a:p>
            <a:pPr marL="538163" indent="-273050" algn="just">
              <a:lnSpc>
                <a:spcPct val="150000"/>
              </a:lnSpc>
            </a:pPr>
            <a:r>
              <a:rPr lang="zh-CN" altLang="en-US" sz="2800" dirty="0"/>
              <a:t>（感应离开、结算）</a:t>
            </a:r>
            <a:endParaRPr lang="en-US" altLang="zh-CN" sz="2800" dirty="0"/>
          </a:p>
          <a:p>
            <a:pPr marL="538163" indent="-273050" algn="just">
              <a:lnSpc>
                <a:spcPct val="150000"/>
              </a:lnSpc>
              <a:buFont typeface="Arial" panose="020B0604020202020204" pitchFamily="34" charset="0"/>
              <a:buChar char="•"/>
            </a:pPr>
            <a:r>
              <a:rPr lang="zh-CN" altLang="en-US" sz="2800" dirty="0"/>
              <a:t>科技利用率高</a:t>
            </a:r>
            <a:endParaRPr lang="en-US" altLang="zh-CN" sz="2800" dirty="0"/>
          </a:p>
          <a:p>
            <a:pPr marL="265113" algn="just">
              <a:lnSpc>
                <a:spcPct val="150000"/>
              </a:lnSpc>
            </a:pPr>
            <a:r>
              <a:rPr lang="zh-CN" altLang="en-US" sz="2800" dirty="0"/>
              <a:t>人工智能、人脸识别、物联网、移动支付</a:t>
            </a:r>
            <a:endParaRPr lang="en-US" altLang="zh-CN" sz="2800" dirty="0"/>
          </a:p>
        </p:txBody>
      </p:sp>
    </p:spTree>
    <p:extLst>
      <p:ext uri="{BB962C8B-B14F-4D97-AF65-F5344CB8AC3E}">
        <p14:creationId xmlns:p14="http://schemas.microsoft.com/office/powerpoint/2010/main" val="4196952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75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750"/>
                                        <p:tgtEl>
                                          <p:spTgt spid="4">
                                            <p:txEl>
                                              <p:pRg st="2" end="2"/>
                                            </p:txEl>
                                          </p:spTgt>
                                        </p:tgtEl>
                                      </p:cBhvr>
                                    </p:animEffect>
                                  </p:childTnLst>
                                </p:cTn>
                              </p:par>
                            </p:childTnLst>
                          </p:cTn>
                        </p:par>
                        <p:par>
                          <p:cTn id="18" fill="hold">
                            <p:stCondLst>
                              <p:cond delay="750"/>
                            </p:stCondLst>
                            <p:childTnLst>
                              <p:par>
                                <p:cTn id="19" presetID="10" presetClass="entr" presetSubtype="0" fill="hold" nodeType="afterEffect">
                                  <p:stCondLst>
                                    <p:cond delay="50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750"/>
                                        <p:tgtEl>
                                          <p:spTgt spid="4">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fade">
                                      <p:cBhvr>
                                        <p:cTn id="26" dur="750"/>
                                        <p:tgtEl>
                                          <p:spTgt spid="4">
                                            <p:txEl>
                                              <p:pRg st="4" end="4"/>
                                            </p:txEl>
                                          </p:spTgt>
                                        </p:tgtEl>
                                      </p:cBhvr>
                                    </p:animEffect>
                                  </p:childTnLst>
                                </p:cTn>
                              </p:par>
                            </p:childTnLst>
                          </p:cTn>
                        </p:par>
                        <p:par>
                          <p:cTn id="27" fill="hold">
                            <p:stCondLst>
                              <p:cond delay="750"/>
                            </p:stCondLst>
                            <p:childTnLst>
                              <p:par>
                                <p:cTn id="28" presetID="10" presetClass="entr" presetSubtype="0" fill="hold" nodeType="afterEffect">
                                  <p:stCondLst>
                                    <p:cond delay="500"/>
                                  </p:stCondLst>
                                  <p:childTnLst>
                                    <p:set>
                                      <p:cBhvr>
                                        <p:cTn id="29" dur="1" fill="hold">
                                          <p:stCondLst>
                                            <p:cond delay="0"/>
                                          </p:stCondLst>
                                        </p:cTn>
                                        <p:tgtEl>
                                          <p:spTgt spid="4">
                                            <p:txEl>
                                              <p:pRg st="5" end="5"/>
                                            </p:txEl>
                                          </p:spTgt>
                                        </p:tgtEl>
                                        <p:attrNameLst>
                                          <p:attrName>style.visibility</p:attrName>
                                        </p:attrNameLst>
                                      </p:cBhvr>
                                      <p:to>
                                        <p:strVal val="visible"/>
                                      </p:to>
                                    </p:set>
                                    <p:animEffect transition="in" filter="fade">
                                      <p:cBhvr>
                                        <p:cTn id="30" dur="75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无人超市</a:t>
            </a:r>
          </a:p>
        </p:txBody>
      </p:sp>
      <p:sp>
        <p:nvSpPr>
          <p:cNvPr id="4" name="文本框 3">
            <a:extLst>
              <a:ext uri="{FF2B5EF4-FFF2-40B4-BE49-F238E27FC236}">
                <a16:creationId xmlns:a16="http://schemas.microsoft.com/office/drawing/2014/main" id="{5DD66FD7-EE1D-0E3F-5A79-03EFF9A6D102}"/>
              </a:ext>
            </a:extLst>
          </p:cNvPr>
          <p:cNvSpPr txBox="1"/>
          <p:nvPr/>
        </p:nvSpPr>
        <p:spPr>
          <a:xfrm>
            <a:off x="715296" y="988142"/>
            <a:ext cx="7713407" cy="4534831"/>
          </a:xfrm>
          <a:prstGeom prst="rect">
            <a:avLst/>
          </a:prstGeom>
          <a:noFill/>
        </p:spPr>
        <p:txBody>
          <a:bodyPr wrap="square" rtlCol="0">
            <a:spAutoFit/>
          </a:bodyPr>
          <a:lstStyle/>
          <a:p>
            <a:pPr marL="514350" indent="-514350" algn="just">
              <a:lnSpc>
                <a:spcPct val="150000"/>
              </a:lnSpc>
              <a:buFont typeface="+mj-lt"/>
              <a:buAutoNum type="arabicPeriod" startAt="2"/>
            </a:pPr>
            <a:r>
              <a:rPr lang="en-US" altLang="zh-CN" sz="2800" dirty="0">
                <a:solidFill>
                  <a:srgbClr val="FF0000"/>
                </a:solidFill>
              </a:rPr>
              <a:t>Amazon Go</a:t>
            </a:r>
          </a:p>
          <a:p>
            <a:pPr indent="715963" algn="just">
              <a:lnSpc>
                <a:spcPct val="150000"/>
              </a:lnSpc>
            </a:pPr>
            <a:r>
              <a:rPr lang="zh-CN" altLang="en-US" sz="2800" dirty="0"/>
              <a:t>使用计算机视觉、深度学习、传感器融合等技术，彻底跳过传统收银结账的过程。</a:t>
            </a:r>
            <a:endParaRPr lang="en-US" altLang="zh-CN" sz="2800" dirty="0"/>
          </a:p>
          <a:p>
            <a:pPr indent="715963" algn="just">
              <a:lnSpc>
                <a:spcPct val="150000"/>
              </a:lnSpc>
            </a:pPr>
            <a:r>
              <a:rPr lang="zh-CN" altLang="en-US" sz="2800" dirty="0"/>
              <a:t>通过感知人与货架之间的相对位置和货架上商品的移动，计算谁拿走了哪一件商品。在人多拥挤的时候，系统计算量变大，商品识别准确率降低。</a:t>
            </a:r>
            <a:endParaRPr lang="en-US" altLang="zh-CN" sz="2800" dirty="0"/>
          </a:p>
        </p:txBody>
      </p:sp>
    </p:spTree>
    <p:extLst>
      <p:ext uri="{BB962C8B-B14F-4D97-AF65-F5344CB8AC3E}">
        <p14:creationId xmlns:p14="http://schemas.microsoft.com/office/powerpoint/2010/main" val="1317620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75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75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无人超市</a:t>
            </a:r>
          </a:p>
        </p:txBody>
      </p:sp>
      <p:sp>
        <p:nvSpPr>
          <p:cNvPr id="4" name="文本框 3">
            <a:extLst>
              <a:ext uri="{FF2B5EF4-FFF2-40B4-BE49-F238E27FC236}">
                <a16:creationId xmlns:a16="http://schemas.microsoft.com/office/drawing/2014/main" id="{5DD66FD7-EE1D-0E3F-5A79-03EFF9A6D102}"/>
              </a:ext>
            </a:extLst>
          </p:cNvPr>
          <p:cNvSpPr txBox="1"/>
          <p:nvPr/>
        </p:nvSpPr>
        <p:spPr>
          <a:xfrm>
            <a:off x="715296" y="988142"/>
            <a:ext cx="7713407" cy="5490221"/>
          </a:xfrm>
          <a:prstGeom prst="rect">
            <a:avLst/>
          </a:prstGeom>
          <a:noFill/>
        </p:spPr>
        <p:txBody>
          <a:bodyPr wrap="square" rtlCol="0">
            <a:spAutoFit/>
          </a:bodyPr>
          <a:lstStyle/>
          <a:p>
            <a:pPr marL="514350" indent="-514350" algn="just">
              <a:lnSpc>
                <a:spcPct val="150000"/>
              </a:lnSpc>
              <a:buFont typeface="+mj-lt"/>
              <a:buAutoNum type="arabicPeriod" startAt="2"/>
            </a:pPr>
            <a:r>
              <a:rPr lang="en-US" altLang="zh-CN" sz="2800" dirty="0">
                <a:solidFill>
                  <a:srgbClr val="FF0000"/>
                </a:solidFill>
              </a:rPr>
              <a:t>Amazon Go</a:t>
            </a:r>
          </a:p>
          <a:p>
            <a:pPr marL="457200" indent="-280988" algn="just">
              <a:lnSpc>
                <a:spcPct val="130000"/>
              </a:lnSpc>
              <a:buFont typeface="Arial" panose="020B0604020202020204" pitchFamily="34" charset="0"/>
              <a:buChar char="•"/>
            </a:pPr>
            <a:r>
              <a:rPr lang="zh-CN" altLang="en-US" sz="2800" dirty="0"/>
              <a:t>购物流程</a:t>
            </a:r>
            <a:endParaRPr lang="en-US" altLang="zh-CN" sz="2800" dirty="0"/>
          </a:p>
          <a:p>
            <a:pPr marL="174625" indent="725488" algn="just">
              <a:lnSpc>
                <a:spcPct val="130000"/>
              </a:lnSpc>
            </a:pPr>
            <a:r>
              <a:rPr lang="zh-CN" altLang="en-US" sz="2600" dirty="0"/>
              <a:t>购物前：下载</a:t>
            </a:r>
            <a:r>
              <a:rPr lang="en-US" altLang="zh-CN" sz="2600" dirty="0"/>
              <a:t>Amazon Go App</a:t>
            </a:r>
            <a:r>
              <a:rPr lang="zh-CN" altLang="en-US" sz="2600" dirty="0"/>
              <a:t>，注册登录账户，生成二维码，扫码入店。</a:t>
            </a:r>
            <a:endParaRPr lang="en-US" altLang="zh-CN" sz="2600" dirty="0"/>
          </a:p>
          <a:p>
            <a:pPr marL="174625" indent="725488" algn="just">
              <a:lnSpc>
                <a:spcPct val="130000"/>
              </a:lnSpc>
            </a:pPr>
            <a:r>
              <a:rPr lang="zh-CN" altLang="en-US" sz="2600" dirty="0"/>
              <a:t>购物：通过“取货”动作判断购买了哪些商品。货架上的商品由专门的理货员进行整齐摆放，并处理顾客放回的商品。采用点状标签。</a:t>
            </a:r>
            <a:endParaRPr lang="en-US" altLang="zh-CN" sz="2600" dirty="0"/>
          </a:p>
          <a:p>
            <a:pPr marL="174625" indent="725488" algn="just">
              <a:lnSpc>
                <a:spcPct val="130000"/>
              </a:lnSpc>
            </a:pPr>
            <a:r>
              <a:rPr lang="zh-CN" altLang="en-US" sz="2600" dirty="0"/>
              <a:t>结账：支付不需要任何操作，走出店门后等待</a:t>
            </a:r>
            <a:r>
              <a:rPr lang="en-US" altLang="zh-CN" sz="2600" dirty="0"/>
              <a:t>5~15min</a:t>
            </a:r>
            <a:r>
              <a:rPr lang="zh-CN" altLang="en-US" sz="2600" dirty="0"/>
              <a:t>，即可获得账单。出现问题的商品可点击退换。</a:t>
            </a:r>
          </a:p>
        </p:txBody>
      </p:sp>
    </p:spTree>
    <p:extLst>
      <p:ext uri="{BB962C8B-B14F-4D97-AF65-F5344CB8AC3E}">
        <p14:creationId xmlns:p14="http://schemas.microsoft.com/office/powerpoint/2010/main" val="532929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75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75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75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75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无人超市</a:t>
            </a:r>
          </a:p>
        </p:txBody>
      </p:sp>
      <p:sp>
        <p:nvSpPr>
          <p:cNvPr id="4" name="文本框 3">
            <a:extLst>
              <a:ext uri="{FF2B5EF4-FFF2-40B4-BE49-F238E27FC236}">
                <a16:creationId xmlns:a16="http://schemas.microsoft.com/office/drawing/2014/main" id="{5DD66FD7-EE1D-0E3F-5A79-03EFF9A6D102}"/>
              </a:ext>
            </a:extLst>
          </p:cNvPr>
          <p:cNvSpPr txBox="1"/>
          <p:nvPr/>
        </p:nvSpPr>
        <p:spPr>
          <a:xfrm>
            <a:off x="715296" y="988142"/>
            <a:ext cx="7713407" cy="4970079"/>
          </a:xfrm>
          <a:prstGeom prst="rect">
            <a:avLst/>
          </a:prstGeom>
          <a:noFill/>
        </p:spPr>
        <p:txBody>
          <a:bodyPr wrap="square" rtlCol="0">
            <a:spAutoFit/>
          </a:bodyPr>
          <a:lstStyle/>
          <a:p>
            <a:pPr marL="514350" indent="-514350" algn="just">
              <a:lnSpc>
                <a:spcPct val="150000"/>
              </a:lnSpc>
              <a:buFont typeface="+mj-lt"/>
              <a:buAutoNum type="arabicPeriod" startAt="2"/>
            </a:pPr>
            <a:r>
              <a:rPr lang="en-US" altLang="zh-CN" sz="2800" dirty="0">
                <a:solidFill>
                  <a:srgbClr val="FF0000"/>
                </a:solidFill>
              </a:rPr>
              <a:t>Amazon Go</a:t>
            </a:r>
          </a:p>
          <a:p>
            <a:pPr marL="457200" indent="-280988" algn="just">
              <a:lnSpc>
                <a:spcPct val="150000"/>
              </a:lnSpc>
              <a:buFont typeface="Arial" panose="020B0604020202020204" pitchFamily="34" charset="0"/>
              <a:buChar char="•"/>
            </a:pPr>
            <a:r>
              <a:rPr lang="zh-CN" altLang="en-US" sz="2800" dirty="0"/>
              <a:t>识别环节</a:t>
            </a:r>
            <a:endParaRPr lang="en-US" altLang="zh-CN" sz="2800" dirty="0"/>
          </a:p>
          <a:p>
            <a:pPr marL="174625" indent="725488" algn="just">
              <a:lnSpc>
                <a:spcPct val="130000"/>
              </a:lnSpc>
            </a:pPr>
            <a:r>
              <a:rPr lang="zh-CN" altLang="en-US" sz="2600" dirty="0"/>
              <a:t>进店：顶部摄像头识别顾客体态、步态及热成像等生物特征，作为生物</a:t>
            </a:r>
            <a:r>
              <a:rPr lang="en-US" altLang="zh-CN" sz="2600" dirty="0"/>
              <a:t>ID</a:t>
            </a:r>
            <a:r>
              <a:rPr lang="zh-CN" altLang="en-US" sz="2600" dirty="0"/>
              <a:t>和账户链接。</a:t>
            </a:r>
            <a:endParaRPr lang="en-US" altLang="zh-CN" sz="2600" dirty="0"/>
          </a:p>
          <a:p>
            <a:pPr marL="174625" indent="725488" algn="just">
              <a:lnSpc>
                <a:spcPct val="130000"/>
              </a:lnSpc>
            </a:pPr>
            <a:r>
              <a:rPr lang="zh-CN" altLang="en-US" sz="2600" dirty="0"/>
              <a:t>购物中：通过货架上的摄像头进行手势识别，并通过多重感应器及顾客历史购物记录判断顾客所购商品。</a:t>
            </a:r>
            <a:endParaRPr lang="en-US" altLang="zh-CN" sz="2600" dirty="0"/>
          </a:p>
          <a:p>
            <a:pPr marL="174625" indent="725488" algn="just">
              <a:lnSpc>
                <a:spcPct val="130000"/>
              </a:lnSpc>
            </a:pPr>
            <a:r>
              <a:rPr lang="zh-CN" altLang="en-US" sz="2600" dirty="0"/>
              <a:t>离店：全程追踪到顾客离开店面进行账单结算；几分钟内货架间检测不到顾客动态后账单结算。</a:t>
            </a:r>
          </a:p>
        </p:txBody>
      </p:sp>
      <p:sp>
        <p:nvSpPr>
          <p:cNvPr id="5" name="对话气泡: 圆角矩形 4">
            <a:extLst>
              <a:ext uri="{FF2B5EF4-FFF2-40B4-BE49-F238E27FC236}">
                <a16:creationId xmlns:a16="http://schemas.microsoft.com/office/drawing/2014/main" id="{BCC975C6-A8AA-CDDC-4AD5-3DDD48C9DDE6}"/>
              </a:ext>
            </a:extLst>
          </p:cNvPr>
          <p:cNvSpPr/>
          <p:nvPr/>
        </p:nvSpPr>
        <p:spPr>
          <a:xfrm>
            <a:off x="3716593" y="1485899"/>
            <a:ext cx="4712110" cy="716264"/>
          </a:xfrm>
          <a:prstGeom prst="wedgeRoundRectCallout">
            <a:avLst>
              <a:gd name="adj1" fmla="val 1834"/>
              <a:gd name="adj2" fmla="val 71368"/>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400" dirty="0">
                <a:solidFill>
                  <a:srgbClr val="0070C0"/>
                </a:solidFill>
              </a:rPr>
              <a:t>不使用面部识别技术（隐私考虑）</a:t>
            </a:r>
          </a:p>
        </p:txBody>
      </p:sp>
      <p:sp>
        <p:nvSpPr>
          <p:cNvPr id="6" name="对话气泡: 圆角矩形 5">
            <a:extLst>
              <a:ext uri="{FF2B5EF4-FFF2-40B4-BE49-F238E27FC236}">
                <a16:creationId xmlns:a16="http://schemas.microsoft.com/office/drawing/2014/main" id="{21E2B138-4CEA-7569-D0ED-8926D1D16105}"/>
              </a:ext>
            </a:extLst>
          </p:cNvPr>
          <p:cNvSpPr/>
          <p:nvPr/>
        </p:nvSpPr>
        <p:spPr>
          <a:xfrm>
            <a:off x="4355690" y="4418766"/>
            <a:ext cx="2170472" cy="474143"/>
          </a:xfrm>
          <a:prstGeom prst="wedgeRoundRectCallout">
            <a:avLst>
              <a:gd name="adj1" fmla="val 1834"/>
              <a:gd name="adj2" fmla="val 71368"/>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400" dirty="0">
                <a:solidFill>
                  <a:srgbClr val="0070C0"/>
                </a:solidFill>
              </a:rPr>
              <a:t>全程跟踪</a:t>
            </a:r>
          </a:p>
        </p:txBody>
      </p:sp>
      <p:sp>
        <p:nvSpPr>
          <p:cNvPr id="7" name="对话气泡: 圆角矩形 6">
            <a:extLst>
              <a:ext uri="{FF2B5EF4-FFF2-40B4-BE49-F238E27FC236}">
                <a16:creationId xmlns:a16="http://schemas.microsoft.com/office/drawing/2014/main" id="{273526BC-B6BE-05E5-F183-124EFCCDE36F}"/>
              </a:ext>
            </a:extLst>
          </p:cNvPr>
          <p:cNvSpPr/>
          <p:nvPr/>
        </p:nvSpPr>
        <p:spPr>
          <a:xfrm>
            <a:off x="3345425" y="5980216"/>
            <a:ext cx="2170472" cy="474143"/>
          </a:xfrm>
          <a:prstGeom prst="wedgeRoundRectCallout">
            <a:avLst>
              <a:gd name="adj1" fmla="val 35130"/>
              <a:gd name="adj2" fmla="val -76383"/>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400" dirty="0">
                <a:solidFill>
                  <a:srgbClr val="0070C0"/>
                </a:solidFill>
              </a:rPr>
              <a:t>主动跟踪</a:t>
            </a:r>
          </a:p>
        </p:txBody>
      </p:sp>
    </p:spTree>
    <p:extLst>
      <p:ext uri="{BB962C8B-B14F-4D97-AF65-F5344CB8AC3E}">
        <p14:creationId xmlns:p14="http://schemas.microsoft.com/office/powerpoint/2010/main" val="492827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75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对话气泡: 圆角矩形 7">
            <a:extLst>
              <a:ext uri="{FF2B5EF4-FFF2-40B4-BE49-F238E27FC236}">
                <a16:creationId xmlns:a16="http://schemas.microsoft.com/office/drawing/2014/main" id="{8A0C3DBD-E5CC-1504-CE1F-BF275F3C0670}"/>
              </a:ext>
            </a:extLst>
          </p:cNvPr>
          <p:cNvSpPr/>
          <p:nvPr/>
        </p:nvSpPr>
        <p:spPr>
          <a:xfrm>
            <a:off x="2212258" y="4304276"/>
            <a:ext cx="6120581" cy="2044903"/>
          </a:xfrm>
          <a:prstGeom prst="wedgeRoundRectCallout">
            <a:avLst>
              <a:gd name="adj1" fmla="val -37323"/>
              <a:gd name="adj2" fmla="val -115430"/>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Wingdings" panose="05000000000000000000" pitchFamily="2" charset="2"/>
              <a:buChar char="Ø"/>
            </a:pPr>
            <a:r>
              <a:rPr lang="zh-CN" altLang="en-US" sz="2000" dirty="0">
                <a:solidFill>
                  <a:srgbClr val="0070C0"/>
                </a:solidFill>
              </a:rPr>
              <a:t>天花板上的摄像头：身份识别、全身及步态监测；</a:t>
            </a:r>
            <a:endParaRPr lang="en-US" altLang="zh-CN" sz="2000" dirty="0">
              <a:solidFill>
                <a:srgbClr val="0070C0"/>
              </a:solidFill>
            </a:endParaRPr>
          </a:p>
          <a:p>
            <a:pPr marL="342900" indent="-342900" algn="just">
              <a:buFont typeface="Wingdings" panose="05000000000000000000" pitchFamily="2" charset="2"/>
              <a:buChar char="Ø"/>
            </a:pPr>
            <a:r>
              <a:rPr lang="zh-CN" altLang="en-US" sz="2000" dirty="0">
                <a:solidFill>
                  <a:srgbClr val="0070C0"/>
                </a:solidFill>
              </a:rPr>
              <a:t>货架上沿朝下的摄像头：红外光源，监测顾客货架的交互及手势识别；</a:t>
            </a:r>
            <a:endParaRPr lang="en-US" altLang="zh-CN" sz="2000" dirty="0">
              <a:solidFill>
                <a:srgbClr val="0070C0"/>
              </a:solidFill>
            </a:endParaRPr>
          </a:p>
          <a:p>
            <a:pPr marL="342900" indent="-342900" algn="just">
              <a:buFont typeface="Wingdings" panose="05000000000000000000" pitchFamily="2" charset="2"/>
              <a:buChar char="Ø"/>
            </a:pPr>
            <a:r>
              <a:rPr lang="zh-CN" altLang="en-US" sz="2000" dirty="0">
                <a:solidFill>
                  <a:srgbClr val="0070C0"/>
                </a:solidFill>
              </a:rPr>
              <a:t>货架上沿朝向货物的摄像头：监测商品数量和种类变化，并进行手势识别；</a:t>
            </a:r>
            <a:endParaRPr lang="en-US" altLang="zh-CN" sz="2000" dirty="0">
              <a:solidFill>
                <a:srgbClr val="0070C0"/>
              </a:solidFill>
            </a:endParaRPr>
          </a:p>
          <a:p>
            <a:pPr marL="342900" indent="-342900" algn="just">
              <a:buFont typeface="Wingdings" panose="05000000000000000000" pitchFamily="2" charset="2"/>
              <a:buChar char="Ø"/>
            </a:pPr>
            <a:r>
              <a:rPr lang="zh-CN" altLang="en-US" sz="2000" dirty="0">
                <a:solidFill>
                  <a:srgbClr val="0070C0"/>
                </a:solidFill>
              </a:rPr>
              <a:t>货架顶部斜向下的摄像头：监测货架之间的交互。</a:t>
            </a:r>
          </a:p>
        </p:txBody>
      </p:sp>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无人超市</a:t>
            </a:r>
          </a:p>
        </p:txBody>
      </p:sp>
      <p:sp>
        <p:nvSpPr>
          <p:cNvPr id="4" name="文本框 3">
            <a:extLst>
              <a:ext uri="{FF2B5EF4-FFF2-40B4-BE49-F238E27FC236}">
                <a16:creationId xmlns:a16="http://schemas.microsoft.com/office/drawing/2014/main" id="{5DD66FD7-EE1D-0E3F-5A79-03EFF9A6D102}"/>
              </a:ext>
            </a:extLst>
          </p:cNvPr>
          <p:cNvSpPr txBox="1"/>
          <p:nvPr/>
        </p:nvSpPr>
        <p:spPr>
          <a:xfrm>
            <a:off x="715296" y="988142"/>
            <a:ext cx="7713407" cy="3888500"/>
          </a:xfrm>
          <a:prstGeom prst="rect">
            <a:avLst/>
          </a:prstGeom>
          <a:noFill/>
        </p:spPr>
        <p:txBody>
          <a:bodyPr wrap="square" rtlCol="0">
            <a:spAutoFit/>
          </a:bodyPr>
          <a:lstStyle/>
          <a:p>
            <a:pPr marL="514350" indent="-514350" algn="just">
              <a:lnSpc>
                <a:spcPct val="150000"/>
              </a:lnSpc>
              <a:buFont typeface="+mj-lt"/>
              <a:buAutoNum type="arabicPeriod" startAt="2"/>
            </a:pPr>
            <a:r>
              <a:rPr lang="en-US" altLang="zh-CN" sz="2800" dirty="0">
                <a:solidFill>
                  <a:srgbClr val="FF0000"/>
                </a:solidFill>
              </a:rPr>
              <a:t>Amazon Go</a:t>
            </a:r>
          </a:p>
          <a:p>
            <a:pPr marL="457200" indent="-280988" algn="just">
              <a:lnSpc>
                <a:spcPct val="150000"/>
              </a:lnSpc>
              <a:buFont typeface="Arial" panose="020B0604020202020204" pitchFamily="34" charset="0"/>
              <a:buChar char="•"/>
            </a:pPr>
            <a:r>
              <a:rPr lang="zh-CN" altLang="en-US" sz="2800" dirty="0"/>
              <a:t>相关技术设备</a:t>
            </a:r>
            <a:endParaRPr lang="en-US" altLang="zh-CN" sz="2800" dirty="0"/>
          </a:p>
          <a:p>
            <a:pPr marL="174625" indent="725488" algn="just">
              <a:lnSpc>
                <a:spcPct val="150000"/>
              </a:lnSpc>
            </a:pPr>
            <a:r>
              <a:rPr lang="zh-CN" altLang="en-US" sz="2800" dirty="0"/>
              <a:t>设备：摄像头、麦克风、红外感应器、压力感应器、荷载感应器等。</a:t>
            </a:r>
            <a:endParaRPr lang="en-US" altLang="zh-CN" sz="2800" dirty="0"/>
          </a:p>
          <a:p>
            <a:pPr marL="174625" indent="725488" algn="just">
              <a:lnSpc>
                <a:spcPct val="150000"/>
              </a:lnSpc>
            </a:pPr>
            <a:r>
              <a:rPr lang="zh-CN" altLang="en-US" sz="2800" dirty="0"/>
              <a:t>技术：计算机视觉、深度学习、感应器融合技术。</a:t>
            </a:r>
          </a:p>
        </p:txBody>
      </p:sp>
    </p:spTree>
    <p:extLst>
      <p:ext uri="{BB962C8B-B14F-4D97-AF65-F5344CB8AC3E}">
        <p14:creationId xmlns:p14="http://schemas.microsoft.com/office/powerpoint/2010/main" val="368167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75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对话气泡: 圆角矩形 3">
            <a:extLst>
              <a:ext uri="{FF2B5EF4-FFF2-40B4-BE49-F238E27FC236}">
                <a16:creationId xmlns:a16="http://schemas.microsoft.com/office/drawing/2014/main" id="{5185612E-D195-6D02-5568-301235938535}"/>
              </a:ext>
            </a:extLst>
          </p:cNvPr>
          <p:cNvSpPr/>
          <p:nvPr/>
        </p:nvSpPr>
        <p:spPr>
          <a:xfrm>
            <a:off x="1238866" y="3072786"/>
            <a:ext cx="7064476" cy="3121538"/>
          </a:xfrm>
          <a:prstGeom prst="wedgeRoundRectCallout">
            <a:avLst>
              <a:gd name="adj1" fmla="val -4440"/>
              <a:gd name="adj2" fmla="val -74157"/>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just">
              <a:lnSpc>
                <a:spcPct val="150000"/>
              </a:lnSpc>
            </a:pPr>
            <a:r>
              <a:rPr lang="zh-CN" altLang="en-US" sz="2400" dirty="0">
                <a:solidFill>
                  <a:srgbClr val="0070C0"/>
                </a:solidFill>
              </a:rPr>
              <a:t>“数理情感学”提出情感可采用数学矩阵的方式进行描述，推导出情感强度三大定律，采用数学的方式定义和计算情感的八大特性；详细阐述了情感与意志运行的内在逻辑程序以及情感内部逻辑系统的基本结构。</a:t>
            </a:r>
          </a:p>
        </p:txBody>
      </p:sp>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情感机器人</a:t>
            </a:r>
          </a:p>
        </p:txBody>
      </p:sp>
      <p:sp>
        <p:nvSpPr>
          <p:cNvPr id="2" name="文本框 1">
            <a:extLst>
              <a:ext uri="{FF2B5EF4-FFF2-40B4-BE49-F238E27FC236}">
                <a16:creationId xmlns:a16="http://schemas.microsoft.com/office/drawing/2014/main" id="{C65DC180-DECB-3705-C99B-59AC4E13EFA3}"/>
              </a:ext>
            </a:extLst>
          </p:cNvPr>
          <p:cNvSpPr txBox="1"/>
          <p:nvPr/>
        </p:nvSpPr>
        <p:spPr>
          <a:xfrm>
            <a:off x="715296" y="1010265"/>
            <a:ext cx="7713407" cy="1949508"/>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zh-CN" altLang="en-US" sz="2800" dirty="0"/>
              <a:t>情感理解型机器人是第四代机器人。“</a:t>
            </a:r>
            <a:r>
              <a:rPr lang="zh-CN" altLang="en-US" sz="2800" dirty="0">
                <a:solidFill>
                  <a:srgbClr val="FF0000"/>
                </a:solidFill>
              </a:rPr>
              <a:t>统一价值论</a:t>
            </a:r>
            <a:r>
              <a:rPr lang="zh-CN" altLang="en-US" sz="2800" dirty="0"/>
              <a:t>”与“</a:t>
            </a:r>
            <a:r>
              <a:rPr lang="zh-CN" altLang="en-US" sz="2800" dirty="0">
                <a:solidFill>
                  <a:srgbClr val="FF0000"/>
                </a:solidFill>
              </a:rPr>
              <a:t>数理情感学</a:t>
            </a:r>
            <a:r>
              <a:rPr lang="zh-CN" altLang="en-US" sz="2800" dirty="0"/>
              <a:t>”的创立，为情感理解型机器人的产生奠定了理论基础。</a:t>
            </a:r>
            <a:endParaRPr lang="en-US" altLang="zh-CN" sz="2800" dirty="0"/>
          </a:p>
        </p:txBody>
      </p:sp>
    </p:spTree>
    <p:extLst>
      <p:ext uri="{BB962C8B-B14F-4D97-AF65-F5344CB8AC3E}">
        <p14:creationId xmlns:p14="http://schemas.microsoft.com/office/powerpoint/2010/main" val="849708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情感机器人</a:t>
            </a:r>
          </a:p>
        </p:txBody>
      </p:sp>
      <p:sp>
        <p:nvSpPr>
          <p:cNvPr id="4" name="文本框 3">
            <a:extLst>
              <a:ext uri="{FF2B5EF4-FFF2-40B4-BE49-F238E27FC236}">
                <a16:creationId xmlns:a16="http://schemas.microsoft.com/office/drawing/2014/main" id="{5DD66FD7-EE1D-0E3F-5A79-03EFF9A6D102}"/>
              </a:ext>
            </a:extLst>
          </p:cNvPr>
          <p:cNvSpPr txBox="1"/>
          <p:nvPr/>
        </p:nvSpPr>
        <p:spPr>
          <a:xfrm>
            <a:off x="715296" y="1054510"/>
            <a:ext cx="7713407" cy="5202130"/>
          </a:xfrm>
          <a:prstGeom prst="rect">
            <a:avLst/>
          </a:prstGeom>
          <a:noFill/>
        </p:spPr>
        <p:txBody>
          <a:bodyPr wrap="square" rtlCol="0">
            <a:spAutoFit/>
          </a:bodyPr>
          <a:lstStyle/>
          <a:p>
            <a:pPr marL="361950" indent="-361950" algn="just">
              <a:lnSpc>
                <a:spcPct val="140000"/>
              </a:lnSpc>
              <a:buFont typeface="Arial" panose="020B0604020202020204" pitchFamily="34" charset="0"/>
              <a:buChar char="•"/>
            </a:pPr>
            <a:r>
              <a:rPr lang="zh-CN" altLang="en-US" sz="2400" dirty="0"/>
              <a:t>日本：感性工学</a:t>
            </a:r>
            <a:endParaRPr lang="en-US" altLang="zh-CN" sz="2400" dirty="0"/>
          </a:p>
          <a:p>
            <a:pPr indent="627063" algn="just">
              <a:lnSpc>
                <a:spcPct val="140000"/>
              </a:lnSpc>
            </a:pPr>
            <a:r>
              <a:rPr lang="zh-CN" altLang="en-US" sz="2400" dirty="0"/>
              <a:t>将感性和工学结合起来，名为“小</a:t>
            </a:r>
            <a:r>
              <a:rPr lang="en-US" altLang="zh-CN" sz="2400" dirty="0"/>
              <a:t>IF</a:t>
            </a:r>
            <a:r>
              <a:rPr lang="zh-CN" altLang="en-US" sz="2400" dirty="0"/>
              <a:t>”的情感机器人可从对方的声音中发现感情的微妙变化，然后通过自己表情的变化在对话时表达喜怒哀乐，还能通过对话模仿对方的性格和癖好。</a:t>
            </a:r>
            <a:endParaRPr lang="en-US" altLang="zh-CN" sz="2400" dirty="0"/>
          </a:p>
          <a:p>
            <a:pPr marL="361950" indent="-361950" algn="just">
              <a:lnSpc>
                <a:spcPct val="140000"/>
              </a:lnSpc>
              <a:buFont typeface="Arial" panose="020B0604020202020204" pitchFamily="34" charset="0"/>
              <a:buChar char="•"/>
            </a:pPr>
            <a:r>
              <a:rPr lang="zh-CN" altLang="en-US" sz="2400" dirty="0"/>
              <a:t>美国：情感计算</a:t>
            </a:r>
            <a:endParaRPr lang="en-US" altLang="zh-CN" sz="2400" dirty="0"/>
          </a:p>
          <a:p>
            <a:pPr indent="627063" algn="just">
              <a:lnSpc>
                <a:spcPct val="140000"/>
              </a:lnSpc>
            </a:pPr>
            <a:r>
              <a:rPr lang="zh-CN" altLang="en-US" sz="2400" dirty="0"/>
              <a:t>情感机器人“</a:t>
            </a:r>
            <a:r>
              <a:rPr lang="en-US" altLang="zh-CN" sz="2400" dirty="0" err="1"/>
              <a:t>Nexi</a:t>
            </a:r>
            <a:r>
              <a:rPr lang="zh-CN" altLang="en-US" sz="2400" dirty="0"/>
              <a:t>”可对不同语言做出相应的喜怒哀乐反应，通过转动和睁闭眼睛、皱眉、手势表达情感。</a:t>
            </a:r>
            <a:endParaRPr lang="en-US" altLang="zh-CN" sz="2400" dirty="0"/>
          </a:p>
          <a:p>
            <a:pPr marL="361950" indent="-361950" algn="just">
              <a:lnSpc>
                <a:spcPct val="140000"/>
              </a:lnSpc>
              <a:buFont typeface="Arial" panose="020B0604020202020204" pitchFamily="34" charset="0"/>
              <a:buChar char="•"/>
            </a:pPr>
            <a:r>
              <a:rPr lang="zh-CN" altLang="en-US" sz="2400" dirty="0"/>
              <a:t>欧洲：情感信息处理技术</a:t>
            </a:r>
            <a:endParaRPr lang="en-US" altLang="zh-CN" sz="2400" dirty="0"/>
          </a:p>
          <a:p>
            <a:pPr indent="715963" algn="just">
              <a:lnSpc>
                <a:spcPct val="140000"/>
              </a:lnSpc>
            </a:pPr>
            <a:r>
              <a:rPr lang="zh-CN" altLang="en-US" sz="2400" dirty="0"/>
              <a:t>表情识别、情感信息测量、可穿戴计算。</a:t>
            </a:r>
            <a:endParaRPr lang="en-US" altLang="zh-CN" sz="2400" dirty="0"/>
          </a:p>
        </p:txBody>
      </p:sp>
    </p:spTree>
    <p:extLst>
      <p:ext uri="{BB962C8B-B14F-4D97-AF65-F5344CB8AC3E}">
        <p14:creationId xmlns:p14="http://schemas.microsoft.com/office/powerpoint/2010/main" val="3644220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childTnLst>
                          </p:cTn>
                        </p:par>
                        <p:par>
                          <p:cTn id="8" fill="hold">
                            <p:stCondLst>
                              <p:cond delay="1250"/>
                            </p:stCondLst>
                            <p:childTnLst>
                              <p:par>
                                <p:cTn id="9" presetID="10" presetClass="entr" presetSubtype="0" fill="hold" nodeType="afterEffect">
                                  <p:stCondLst>
                                    <p:cond delay="50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750"/>
                                        <p:tgtEl>
                                          <p:spTgt spid="4">
                                            <p:txEl>
                                              <p:pRg st="1" end="1"/>
                                            </p:txEl>
                                          </p:spTgt>
                                        </p:tgtEl>
                                      </p:cBhvr>
                                    </p:animEffect>
                                  </p:childTnLst>
                                </p:cTn>
                              </p:par>
                            </p:childTnLst>
                          </p:cTn>
                        </p:par>
                        <p:par>
                          <p:cTn id="12" fill="hold">
                            <p:stCondLst>
                              <p:cond delay="2500"/>
                            </p:stCondLst>
                            <p:childTnLst>
                              <p:par>
                                <p:cTn id="13" presetID="10" presetClass="entr" presetSubtype="0" fill="hold" nodeType="afterEffect">
                                  <p:stCondLst>
                                    <p:cond delay="50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750"/>
                                        <p:tgtEl>
                                          <p:spTgt spid="4">
                                            <p:txEl>
                                              <p:pRg st="2" end="2"/>
                                            </p:txEl>
                                          </p:spTgt>
                                        </p:tgtEl>
                                      </p:cBhvr>
                                    </p:animEffect>
                                  </p:childTnLst>
                                </p:cTn>
                              </p:par>
                            </p:childTnLst>
                          </p:cTn>
                        </p:par>
                        <p:par>
                          <p:cTn id="16" fill="hold">
                            <p:stCondLst>
                              <p:cond delay="3750"/>
                            </p:stCondLst>
                            <p:childTnLst>
                              <p:par>
                                <p:cTn id="17" presetID="10" presetClass="entr" presetSubtype="0" fill="hold" nodeType="afterEffect">
                                  <p:stCondLst>
                                    <p:cond delay="50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750"/>
                                        <p:tgtEl>
                                          <p:spTgt spid="4">
                                            <p:txEl>
                                              <p:pRg st="3" end="3"/>
                                            </p:txEl>
                                          </p:spTgt>
                                        </p:tgtEl>
                                      </p:cBhvr>
                                    </p:animEffect>
                                  </p:childTnLst>
                                </p:cTn>
                              </p:par>
                            </p:childTnLst>
                          </p:cTn>
                        </p:par>
                        <p:par>
                          <p:cTn id="20" fill="hold">
                            <p:stCondLst>
                              <p:cond delay="5000"/>
                            </p:stCondLst>
                            <p:childTnLst>
                              <p:par>
                                <p:cTn id="21" presetID="10" presetClass="entr" presetSubtype="0" fill="hold" nodeType="afterEffect">
                                  <p:stCondLst>
                                    <p:cond delay="50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750"/>
                                        <p:tgtEl>
                                          <p:spTgt spid="4">
                                            <p:txEl>
                                              <p:pRg st="4" end="4"/>
                                            </p:txEl>
                                          </p:spTgt>
                                        </p:tgtEl>
                                      </p:cBhvr>
                                    </p:animEffect>
                                  </p:childTnLst>
                                </p:cTn>
                              </p:par>
                            </p:childTnLst>
                          </p:cTn>
                        </p:par>
                        <p:par>
                          <p:cTn id="24" fill="hold">
                            <p:stCondLst>
                              <p:cond delay="6250"/>
                            </p:stCondLst>
                            <p:childTnLst>
                              <p:par>
                                <p:cTn id="25" presetID="10" presetClass="entr" presetSubtype="0" fill="hold" nodeType="afterEffect">
                                  <p:stCondLst>
                                    <p:cond delay="50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75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智能医疗</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15296" y="1054510"/>
            <a:ext cx="7713407" cy="3888500"/>
          </a:xfrm>
          <a:prstGeom prst="rect">
            <a:avLst/>
          </a:prstGeom>
          <a:noFill/>
        </p:spPr>
        <p:txBody>
          <a:bodyPr wrap="square" rtlCol="0">
            <a:spAutoFit/>
          </a:bodyPr>
          <a:lstStyle/>
          <a:p>
            <a:pPr marL="361950" indent="-361950" algn="just">
              <a:lnSpc>
                <a:spcPct val="150000"/>
              </a:lnSpc>
              <a:buFont typeface="Arial" panose="020B0604020202020204" pitchFamily="34" charset="0"/>
              <a:buChar char="•"/>
            </a:pPr>
            <a:r>
              <a:rPr lang="zh-CN" altLang="en-US" sz="2800" dirty="0"/>
              <a:t>通过打造健康档案区域医疗信息平台，利用最先进的物联网技术，实现患者与医务人员、医疗机构、医疗设备之间的互动，逐步达到信息化。</a:t>
            </a:r>
            <a:endParaRPr lang="en-US" altLang="zh-CN" sz="2800" dirty="0"/>
          </a:p>
          <a:p>
            <a:pPr marL="361950" indent="-361950" algn="just">
              <a:lnSpc>
                <a:spcPct val="150000"/>
              </a:lnSpc>
              <a:buFont typeface="Arial" panose="020B0604020202020204" pitchFamily="34" charset="0"/>
              <a:buChar char="•"/>
            </a:pPr>
            <a:r>
              <a:rPr lang="zh-CN" altLang="en-US" sz="2800" dirty="0"/>
              <a:t>智能医疗在</a:t>
            </a:r>
            <a:r>
              <a:rPr lang="zh-CN" altLang="en-US" sz="2800" dirty="0">
                <a:solidFill>
                  <a:srgbClr val="FF0000"/>
                </a:solidFill>
              </a:rPr>
              <a:t>辅助诊疗、疾病预测、医疗影像辅助诊断、药物开发</a:t>
            </a:r>
            <a:r>
              <a:rPr lang="zh-CN" altLang="en-US" sz="2800" dirty="0"/>
              <a:t>等方面发挥着重要作用。</a:t>
            </a:r>
            <a:endParaRPr lang="en-US" altLang="zh-CN" sz="2800" dirty="0"/>
          </a:p>
        </p:txBody>
      </p:sp>
    </p:spTree>
    <p:extLst>
      <p:ext uri="{BB962C8B-B14F-4D97-AF65-F5344CB8AC3E}">
        <p14:creationId xmlns:p14="http://schemas.microsoft.com/office/powerpoint/2010/main" val="155923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75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75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智能医疗</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15296" y="1054510"/>
            <a:ext cx="7713407" cy="3892861"/>
          </a:xfrm>
          <a:prstGeom prst="rect">
            <a:avLst/>
          </a:prstGeom>
          <a:noFill/>
        </p:spPr>
        <p:txBody>
          <a:bodyPr wrap="square" rtlCol="0">
            <a:spAutoFit/>
          </a:bodyPr>
          <a:lstStyle/>
          <a:p>
            <a:pPr marL="361950" indent="-361950" algn="just">
              <a:lnSpc>
                <a:spcPct val="150000"/>
              </a:lnSpc>
              <a:buFont typeface="Arial" panose="020B0604020202020204" pitchFamily="34" charset="0"/>
              <a:buChar char="•"/>
            </a:pPr>
            <a:r>
              <a:rPr lang="zh-CN" altLang="en-US" sz="2800" dirty="0">
                <a:solidFill>
                  <a:srgbClr val="FF0000"/>
                </a:solidFill>
              </a:rPr>
              <a:t>辅助诊疗</a:t>
            </a:r>
            <a:endParaRPr lang="en-US" altLang="zh-CN" sz="2800" dirty="0">
              <a:solidFill>
                <a:srgbClr val="FF0000"/>
              </a:solidFill>
            </a:endParaRPr>
          </a:p>
          <a:p>
            <a:pPr indent="715963" algn="just">
              <a:lnSpc>
                <a:spcPct val="150000"/>
              </a:lnSpc>
            </a:pPr>
            <a:r>
              <a:rPr lang="zh-CN" altLang="en-US" sz="2800" dirty="0"/>
              <a:t>通过</a:t>
            </a:r>
            <a:r>
              <a:rPr lang="en-US" altLang="zh-CN" sz="2800" dirty="0"/>
              <a:t>AI</a:t>
            </a:r>
            <a:r>
              <a:rPr lang="zh-CN" altLang="en-US" sz="2800" dirty="0"/>
              <a:t>技术有效提高医护人员的工作效率，提升一线全科医生的诊断治疗水平。例如，利用智能语音技术实现电子病历的智能语音录入；利用智能影像识别技术实现医学图像自动读片；利用智能技术和大数据平台构建辅助诊疗系统。</a:t>
            </a:r>
            <a:endParaRPr lang="en-US" altLang="zh-CN" sz="2800" dirty="0"/>
          </a:p>
        </p:txBody>
      </p:sp>
    </p:spTree>
    <p:extLst>
      <p:ext uri="{BB962C8B-B14F-4D97-AF65-F5344CB8AC3E}">
        <p14:creationId xmlns:p14="http://schemas.microsoft.com/office/powerpoint/2010/main" val="2523221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75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75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智能医疗</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15296" y="1054510"/>
            <a:ext cx="7713407" cy="5181162"/>
          </a:xfrm>
          <a:prstGeom prst="rect">
            <a:avLst/>
          </a:prstGeom>
          <a:noFill/>
        </p:spPr>
        <p:txBody>
          <a:bodyPr wrap="square" rtlCol="0">
            <a:spAutoFit/>
          </a:bodyPr>
          <a:lstStyle/>
          <a:p>
            <a:pPr marL="361950" indent="-361950" algn="just">
              <a:lnSpc>
                <a:spcPct val="150000"/>
              </a:lnSpc>
              <a:buFont typeface="Arial" panose="020B0604020202020204" pitchFamily="34" charset="0"/>
              <a:buChar char="•"/>
            </a:pPr>
            <a:r>
              <a:rPr lang="zh-CN" altLang="en-US" sz="2800" dirty="0">
                <a:solidFill>
                  <a:srgbClr val="FF0000"/>
                </a:solidFill>
              </a:rPr>
              <a:t>疾病预测</a:t>
            </a:r>
            <a:endParaRPr lang="en-US" altLang="zh-CN" sz="2800" dirty="0">
              <a:solidFill>
                <a:srgbClr val="FF0000"/>
              </a:solidFill>
            </a:endParaRPr>
          </a:p>
          <a:p>
            <a:pPr indent="715963" algn="just">
              <a:lnSpc>
                <a:spcPct val="150000"/>
              </a:lnSpc>
            </a:pPr>
            <a:r>
              <a:rPr lang="zh-CN" altLang="en-US" sz="2800" dirty="0"/>
              <a:t>借助大数据技术进行疫情监测，及时有效地预测并防止疫情进一步扩散和发展。以流感为例，当医生发现新型流感病例需告知疾病控制与预防中心，当由于人们可能患病不及时就医，同时信息传达回疾控中心需要时间，通告新流感病例往往会有一定的延迟。</a:t>
            </a:r>
            <a:r>
              <a:rPr lang="en-US" altLang="zh-CN" sz="2800" dirty="0"/>
              <a:t>AI</a:t>
            </a:r>
            <a:r>
              <a:rPr lang="zh-CN" altLang="en-US" sz="2800" dirty="0"/>
              <a:t>通过疫情监测能有效缩短响应时间。</a:t>
            </a:r>
            <a:endParaRPr lang="en-US" altLang="zh-CN" sz="2800" dirty="0"/>
          </a:p>
        </p:txBody>
      </p:sp>
    </p:spTree>
    <p:extLst>
      <p:ext uri="{BB962C8B-B14F-4D97-AF65-F5344CB8AC3E}">
        <p14:creationId xmlns:p14="http://schemas.microsoft.com/office/powerpoint/2010/main" val="3606191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75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75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智能医疗</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15296" y="1054510"/>
            <a:ext cx="7713407" cy="5181162"/>
          </a:xfrm>
          <a:prstGeom prst="rect">
            <a:avLst/>
          </a:prstGeom>
          <a:noFill/>
        </p:spPr>
        <p:txBody>
          <a:bodyPr wrap="square" rtlCol="0">
            <a:spAutoFit/>
          </a:bodyPr>
          <a:lstStyle/>
          <a:p>
            <a:pPr marL="361950" indent="-361950" algn="just">
              <a:lnSpc>
                <a:spcPct val="150000"/>
              </a:lnSpc>
              <a:buFont typeface="Arial" panose="020B0604020202020204" pitchFamily="34" charset="0"/>
              <a:buChar char="•"/>
            </a:pPr>
            <a:r>
              <a:rPr lang="zh-CN" altLang="en-US" sz="2800" dirty="0">
                <a:solidFill>
                  <a:srgbClr val="FF0000"/>
                </a:solidFill>
              </a:rPr>
              <a:t>医疗影像辅助诊断</a:t>
            </a:r>
            <a:endParaRPr lang="en-US" altLang="zh-CN" sz="2800" dirty="0">
              <a:solidFill>
                <a:srgbClr val="FF0000"/>
              </a:solidFill>
            </a:endParaRPr>
          </a:p>
          <a:p>
            <a:pPr indent="715963" algn="just">
              <a:lnSpc>
                <a:spcPct val="150000"/>
              </a:lnSpc>
            </a:pPr>
            <a:r>
              <a:rPr lang="zh-CN" altLang="en-US" sz="2800" dirty="0"/>
              <a:t>影像判断系统的发展是</a:t>
            </a:r>
            <a:r>
              <a:rPr lang="en-US" altLang="zh-CN" sz="2800" dirty="0"/>
              <a:t>AI</a:t>
            </a:r>
            <a:r>
              <a:rPr lang="zh-CN" altLang="en-US" sz="2800" dirty="0"/>
              <a:t>技术的产物。早期的影像判读系统主要靠人手工编写判定规则，存在耗时长、临床应用难度大等问题，从而未能得到广泛推广。影像组学是通过医学影像对特征进行提取和分析，为患者愈前和愈后的诊断与治疗提供评估方法及精准诊疗决策。简化人工智能技术的应用流程，节约人力成本。</a:t>
            </a:r>
            <a:endParaRPr lang="en-US" altLang="zh-CN" sz="2800" dirty="0"/>
          </a:p>
        </p:txBody>
      </p:sp>
    </p:spTree>
    <p:extLst>
      <p:ext uri="{BB962C8B-B14F-4D97-AF65-F5344CB8AC3E}">
        <p14:creationId xmlns:p14="http://schemas.microsoft.com/office/powerpoint/2010/main" val="340654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75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75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智能艺术</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30044" y="1054510"/>
            <a:ext cx="7713407" cy="1953868"/>
          </a:xfrm>
          <a:prstGeom prst="rect">
            <a:avLst/>
          </a:prstGeom>
          <a:noFill/>
        </p:spPr>
        <p:txBody>
          <a:bodyPr wrap="square" rtlCol="0">
            <a:spAutoFit/>
          </a:bodyPr>
          <a:lstStyle/>
          <a:p>
            <a:pPr marL="514350" indent="-514350" algn="just">
              <a:lnSpc>
                <a:spcPct val="150000"/>
              </a:lnSpc>
              <a:buFont typeface="+mj-lt"/>
              <a:buAutoNum type="arabicPeriod"/>
            </a:pPr>
            <a:r>
              <a:rPr lang="zh-CN" altLang="en-US" sz="2800" dirty="0">
                <a:solidFill>
                  <a:srgbClr val="FF0000"/>
                </a:solidFill>
              </a:rPr>
              <a:t>作诗</a:t>
            </a:r>
            <a:endParaRPr lang="en-US" altLang="zh-CN" sz="2800" dirty="0">
              <a:solidFill>
                <a:srgbClr val="FF0000"/>
              </a:solidFill>
            </a:endParaRPr>
          </a:p>
          <a:p>
            <a:pPr marL="457200" indent="-457200" algn="just">
              <a:lnSpc>
                <a:spcPct val="150000"/>
              </a:lnSpc>
              <a:buFont typeface="Arial" panose="020B0604020202020204" pitchFamily="34" charset="0"/>
              <a:buChar char="•"/>
            </a:pPr>
            <a:r>
              <a:rPr lang="zh-CN" altLang="en-US" sz="2800" dirty="0"/>
              <a:t>微软小冰：现代诗</a:t>
            </a:r>
            <a:endParaRPr lang="en-US" altLang="zh-CN" sz="2800" dirty="0"/>
          </a:p>
          <a:p>
            <a:pPr marL="457200" indent="-457200" algn="just">
              <a:lnSpc>
                <a:spcPct val="150000"/>
              </a:lnSpc>
              <a:buFont typeface="Arial" panose="020B0604020202020204" pitchFamily="34" charset="0"/>
              <a:buChar char="•"/>
            </a:pPr>
            <a:r>
              <a:rPr lang="zh-CN" altLang="en-US" sz="2800" dirty="0"/>
              <a:t>“小诗机”：专门针对旅游风景照写诗</a:t>
            </a:r>
            <a:endParaRPr lang="en-US" altLang="zh-CN" sz="2800" dirty="0"/>
          </a:p>
        </p:txBody>
      </p:sp>
      <p:graphicFrame>
        <p:nvGraphicFramePr>
          <p:cNvPr id="2" name="表格 3">
            <a:extLst>
              <a:ext uri="{FF2B5EF4-FFF2-40B4-BE49-F238E27FC236}">
                <a16:creationId xmlns:a16="http://schemas.microsoft.com/office/drawing/2014/main" id="{1C98D2DD-1459-04E6-C902-E1E954B16A74}"/>
              </a:ext>
            </a:extLst>
          </p:cNvPr>
          <p:cNvGraphicFramePr>
            <a:graphicFrameLocks noGrp="1"/>
          </p:cNvGraphicFramePr>
          <p:nvPr>
            <p:extLst>
              <p:ext uri="{D42A27DB-BD31-4B8C-83A1-F6EECF244321}">
                <p14:modId xmlns:p14="http://schemas.microsoft.com/office/powerpoint/2010/main" val="800751440"/>
              </p:ext>
            </p:extLst>
          </p:nvPr>
        </p:nvGraphicFramePr>
        <p:xfrm>
          <a:off x="730044" y="3115407"/>
          <a:ext cx="7502016" cy="2820939"/>
        </p:xfrm>
        <a:graphic>
          <a:graphicData uri="http://schemas.openxmlformats.org/drawingml/2006/table">
            <a:tbl>
              <a:tblPr firstRow="1" bandRow="1">
                <a:tableStyleId>{5C22544A-7EE6-4342-B048-85BDC9FD1C3A}</a:tableStyleId>
              </a:tblPr>
              <a:tblGrid>
                <a:gridCol w="2118854">
                  <a:extLst>
                    <a:ext uri="{9D8B030D-6E8A-4147-A177-3AD203B41FA5}">
                      <a16:colId xmlns:a16="http://schemas.microsoft.com/office/drawing/2014/main" val="2359340828"/>
                    </a:ext>
                  </a:extLst>
                </a:gridCol>
                <a:gridCol w="5383162">
                  <a:extLst>
                    <a:ext uri="{9D8B030D-6E8A-4147-A177-3AD203B41FA5}">
                      <a16:colId xmlns:a16="http://schemas.microsoft.com/office/drawing/2014/main" val="3833074436"/>
                    </a:ext>
                  </a:extLst>
                </a:gridCol>
              </a:tblGrid>
              <a:tr h="527445">
                <a:tc>
                  <a:txBody>
                    <a:bodyPr/>
                    <a:lstStyle/>
                    <a:p>
                      <a:pPr algn="ctr">
                        <a:lnSpc>
                          <a:spcPct val="120000"/>
                        </a:lnSpc>
                      </a:pPr>
                      <a:r>
                        <a:rPr lang="zh-CN" altLang="en-US" sz="2400" dirty="0"/>
                        <a:t>场景</a:t>
                      </a:r>
                    </a:p>
                  </a:txBody>
                  <a:tcPr/>
                </a:tc>
                <a:tc>
                  <a:txBody>
                    <a:bodyPr/>
                    <a:lstStyle/>
                    <a:p>
                      <a:pPr algn="ctr">
                        <a:lnSpc>
                          <a:spcPct val="120000"/>
                        </a:lnSpc>
                      </a:pPr>
                      <a:r>
                        <a:rPr lang="zh-CN" altLang="en-US" sz="2400" dirty="0"/>
                        <a:t>生成的诗</a:t>
                      </a:r>
                    </a:p>
                  </a:txBody>
                  <a:tcPr/>
                </a:tc>
                <a:extLst>
                  <a:ext uri="{0D108BD9-81ED-4DB2-BD59-A6C34878D82A}">
                    <a16:rowId xmlns:a16="http://schemas.microsoft.com/office/drawing/2014/main" val="3568830458"/>
                  </a:ext>
                </a:extLst>
              </a:tr>
              <a:tr h="748544">
                <a:tc>
                  <a:txBody>
                    <a:bodyPr/>
                    <a:lstStyle/>
                    <a:p>
                      <a:pPr algn="ctr">
                        <a:lnSpc>
                          <a:spcPct val="120000"/>
                        </a:lnSpc>
                      </a:pPr>
                      <a:r>
                        <a:rPr lang="zh-CN" altLang="en-US" sz="2400" dirty="0"/>
                        <a:t>一张窗台上鲜花盛开的照片</a:t>
                      </a:r>
                    </a:p>
                  </a:txBody>
                  <a:tcPr/>
                </a:tc>
                <a:tc>
                  <a:txBody>
                    <a:bodyPr/>
                    <a:lstStyle/>
                    <a:p>
                      <a:pPr algn="ctr">
                        <a:lnSpc>
                          <a:spcPct val="120000"/>
                        </a:lnSpc>
                      </a:pPr>
                      <a:r>
                        <a:rPr lang="zh-CN" altLang="en-US" sz="2400" dirty="0"/>
                        <a:t>雨引鸟声过路上，日移花影到窗边。</a:t>
                      </a:r>
                      <a:br>
                        <a:rPr lang="en-US" altLang="zh-CN" sz="2400" dirty="0"/>
                      </a:br>
                      <a:r>
                        <a:rPr lang="zh-CN" altLang="en-US" sz="2400" dirty="0"/>
                        <a:t>赖有公园夏风地，欣喜玩沙遍河山。</a:t>
                      </a:r>
                    </a:p>
                  </a:txBody>
                  <a:tcPr/>
                </a:tc>
                <a:extLst>
                  <a:ext uri="{0D108BD9-81ED-4DB2-BD59-A6C34878D82A}">
                    <a16:rowId xmlns:a16="http://schemas.microsoft.com/office/drawing/2014/main" val="2742488440"/>
                  </a:ext>
                </a:extLst>
              </a:tr>
              <a:tr h="748544">
                <a:tc>
                  <a:txBody>
                    <a:bodyPr/>
                    <a:lstStyle/>
                    <a:p>
                      <a:pPr algn="l">
                        <a:lnSpc>
                          <a:spcPct val="120000"/>
                        </a:lnSpc>
                      </a:pPr>
                      <a:r>
                        <a:rPr lang="zh-CN" altLang="en-US" sz="2400" dirty="0"/>
                        <a:t>景物“花”</a:t>
                      </a:r>
                      <a:br>
                        <a:rPr lang="en-US" altLang="zh-CN" sz="2400" dirty="0"/>
                      </a:br>
                      <a:r>
                        <a:rPr lang="zh-CN" altLang="en-US" sz="2400" dirty="0"/>
                        <a:t>心情“愉悦”</a:t>
                      </a:r>
                      <a:br>
                        <a:rPr lang="en-US" altLang="zh-CN" sz="2400" dirty="0"/>
                      </a:br>
                      <a:r>
                        <a:rPr lang="zh-CN" altLang="en-US" sz="2400" dirty="0"/>
                        <a:t>天气“晴”</a:t>
                      </a:r>
                    </a:p>
                  </a:txBody>
                  <a:tcPr/>
                </a:tc>
                <a:tc>
                  <a:txBody>
                    <a:bodyPr/>
                    <a:lstStyle/>
                    <a:p>
                      <a:pPr algn="ctr">
                        <a:lnSpc>
                          <a:spcPct val="120000"/>
                        </a:lnSpc>
                        <a:spcBef>
                          <a:spcPts val="1200"/>
                        </a:spcBef>
                      </a:pPr>
                      <a:r>
                        <a:rPr lang="zh-CN" altLang="en-US" sz="2400" dirty="0"/>
                        <a:t>当午新晴照花光，青霞琉瓶群芳香。</a:t>
                      </a:r>
                      <a:br>
                        <a:rPr lang="en-US" altLang="zh-CN" sz="2400" dirty="0"/>
                      </a:br>
                      <a:r>
                        <a:rPr lang="zh-CN" altLang="en-US" sz="2400" dirty="0"/>
                        <a:t>窗外闲居添自在，灯前相逐影伴塘。</a:t>
                      </a:r>
                    </a:p>
                  </a:txBody>
                  <a:tcPr/>
                </a:tc>
                <a:extLst>
                  <a:ext uri="{0D108BD9-81ED-4DB2-BD59-A6C34878D82A}">
                    <a16:rowId xmlns:a16="http://schemas.microsoft.com/office/drawing/2014/main" val="3776220874"/>
                  </a:ext>
                </a:extLst>
              </a:tr>
            </a:tbl>
          </a:graphicData>
        </a:graphic>
      </p:graphicFrame>
    </p:spTree>
    <p:extLst>
      <p:ext uri="{BB962C8B-B14F-4D97-AF65-F5344CB8AC3E}">
        <p14:creationId xmlns:p14="http://schemas.microsoft.com/office/powerpoint/2010/main" val="120337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75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75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75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智能艺术</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30044" y="1054510"/>
            <a:ext cx="7713407" cy="4534831"/>
          </a:xfrm>
          <a:prstGeom prst="rect">
            <a:avLst/>
          </a:prstGeom>
          <a:noFill/>
        </p:spPr>
        <p:txBody>
          <a:bodyPr wrap="square" rtlCol="0">
            <a:spAutoFit/>
          </a:bodyPr>
          <a:lstStyle/>
          <a:p>
            <a:pPr marL="514350" indent="-514350" algn="just">
              <a:lnSpc>
                <a:spcPct val="150000"/>
              </a:lnSpc>
              <a:buFont typeface="+mj-lt"/>
              <a:buAutoNum type="arabicPeriod"/>
            </a:pPr>
            <a:r>
              <a:rPr lang="zh-CN" altLang="en-US" sz="2800" dirty="0">
                <a:solidFill>
                  <a:srgbClr val="FF0000"/>
                </a:solidFill>
              </a:rPr>
              <a:t>作诗</a:t>
            </a:r>
            <a:endParaRPr lang="en-US" altLang="zh-CN" sz="2800" dirty="0">
              <a:solidFill>
                <a:srgbClr val="FF0000"/>
              </a:solidFill>
            </a:endParaRPr>
          </a:p>
          <a:p>
            <a:pPr marL="457200" indent="-457200" algn="just">
              <a:lnSpc>
                <a:spcPct val="150000"/>
              </a:lnSpc>
              <a:buFont typeface="Arial" panose="020B0604020202020204" pitchFamily="34" charset="0"/>
              <a:buChar char="•"/>
            </a:pPr>
            <a:r>
              <a:rPr lang="zh-CN" altLang="en-US" sz="2800" dirty="0"/>
              <a:t>“小诗机”：专门针对旅游风景照写诗</a:t>
            </a:r>
            <a:endParaRPr lang="en-US" altLang="zh-CN" sz="2800" dirty="0"/>
          </a:p>
          <a:p>
            <a:pPr indent="449263" algn="just">
              <a:lnSpc>
                <a:spcPct val="150000"/>
              </a:lnSpc>
            </a:pPr>
            <a:r>
              <a:rPr lang="zh-CN" altLang="en-US" sz="2800" dirty="0"/>
              <a:t>进行深度学习，观看了</a:t>
            </a:r>
            <a:r>
              <a:rPr lang="en-US" altLang="zh-CN" sz="2800" dirty="0"/>
              <a:t>1000</a:t>
            </a:r>
            <a:r>
              <a:rPr lang="zh-CN" altLang="en-US" sz="2800" dirty="0"/>
              <a:t>万张线上风景照片，能够辨别照片上的景物、内容、关系和人物表情；结合全球数千万景点、城市、地区、美食、土特产的深度知识库，以及全球季节、天气数据库，熟读</a:t>
            </a:r>
            <a:r>
              <a:rPr lang="en-US" altLang="zh-CN" sz="2800" dirty="0"/>
              <a:t>30</a:t>
            </a:r>
            <a:r>
              <a:rPr lang="zh-CN" altLang="en-US" sz="2800" dirty="0"/>
              <a:t>余万首古今诗篇文章。</a:t>
            </a:r>
            <a:endParaRPr lang="en-US" altLang="zh-CN" sz="2800" dirty="0"/>
          </a:p>
        </p:txBody>
      </p:sp>
    </p:spTree>
    <p:extLst>
      <p:ext uri="{BB962C8B-B14F-4D97-AF65-F5344CB8AC3E}">
        <p14:creationId xmlns:p14="http://schemas.microsoft.com/office/powerpoint/2010/main" val="956495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智能艺术</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30044" y="1054510"/>
            <a:ext cx="7713407" cy="4534831"/>
          </a:xfrm>
          <a:prstGeom prst="rect">
            <a:avLst/>
          </a:prstGeom>
          <a:noFill/>
        </p:spPr>
        <p:txBody>
          <a:bodyPr wrap="square" rtlCol="0">
            <a:spAutoFit/>
          </a:bodyPr>
          <a:lstStyle/>
          <a:p>
            <a:pPr marL="514350" indent="-514350" algn="just">
              <a:lnSpc>
                <a:spcPct val="150000"/>
              </a:lnSpc>
              <a:buFont typeface="+mj-lt"/>
              <a:buAutoNum type="arabicPeriod"/>
            </a:pPr>
            <a:r>
              <a:rPr lang="zh-CN" altLang="en-US" sz="2800" dirty="0">
                <a:solidFill>
                  <a:srgbClr val="FF0000"/>
                </a:solidFill>
              </a:rPr>
              <a:t>作诗</a:t>
            </a:r>
            <a:endParaRPr lang="en-US" altLang="zh-CN" sz="2800" dirty="0">
              <a:solidFill>
                <a:srgbClr val="FF0000"/>
              </a:solidFill>
            </a:endParaRPr>
          </a:p>
          <a:p>
            <a:pPr marL="457200" indent="-457200" algn="just">
              <a:lnSpc>
                <a:spcPct val="150000"/>
              </a:lnSpc>
              <a:buFont typeface="Arial" panose="020B0604020202020204" pitchFamily="34" charset="0"/>
              <a:buChar char="•"/>
            </a:pPr>
            <a:r>
              <a:rPr lang="zh-CN" altLang="en-US" sz="2800" dirty="0"/>
              <a:t>“</a:t>
            </a:r>
            <a:r>
              <a:rPr lang="en-US" altLang="zh-CN" sz="2800" dirty="0"/>
              <a:t>AI</a:t>
            </a:r>
            <a:r>
              <a:rPr lang="zh-CN" altLang="en-US" sz="2800" dirty="0"/>
              <a:t>李白”：中国首个智能作诗送祝福应用</a:t>
            </a:r>
            <a:endParaRPr lang="en-US" altLang="zh-CN" sz="2800" dirty="0"/>
          </a:p>
          <a:p>
            <a:pPr indent="449263" algn="just">
              <a:lnSpc>
                <a:spcPct val="150000"/>
              </a:lnSpc>
            </a:pPr>
            <a:r>
              <a:rPr lang="zh-CN" altLang="en-US" sz="2800" dirty="0"/>
              <a:t>考虑到诗词中有平仄韵律美和组合规律，传统的</a:t>
            </a:r>
            <a:r>
              <a:rPr lang="en-US" altLang="zh-CN" sz="2800" dirty="0"/>
              <a:t>N-Gram</a:t>
            </a:r>
            <a:r>
              <a:rPr lang="zh-CN" altLang="en-US" sz="2800" dirty="0"/>
              <a:t>语言模型表达能力有限，无法较好地处理长距离的上下文语言依赖问题，利用先进的深度神经网络技术，训练出以春节祝福为主题的诗词自动生成模型。</a:t>
            </a:r>
            <a:endParaRPr lang="en-US" altLang="zh-CN" sz="2800" dirty="0"/>
          </a:p>
        </p:txBody>
      </p:sp>
    </p:spTree>
    <p:extLst>
      <p:ext uri="{BB962C8B-B14F-4D97-AF65-F5344CB8AC3E}">
        <p14:creationId xmlns:p14="http://schemas.microsoft.com/office/powerpoint/2010/main" val="2667909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75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智能艺术</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30044" y="1054510"/>
            <a:ext cx="7713407" cy="4539191"/>
          </a:xfrm>
          <a:prstGeom prst="rect">
            <a:avLst/>
          </a:prstGeom>
          <a:noFill/>
        </p:spPr>
        <p:txBody>
          <a:bodyPr wrap="square" rtlCol="0">
            <a:spAutoFit/>
          </a:bodyPr>
          <a:lstStyle/>
          <a:p>
            <a:pPr marL="514350" indent="-514350" algn="just">
              <a:lnSpc>
                <a:spcPct val="150000"/>
              </a:lnSpc>
              <a:buFont typeface="+mj-lt"/>
              <a:buAutoNum type="arabicPeriod"/>
            </a:pPr>
            <a:r>
              <a:rPr lang="zh-CN" altLang="en-US" sz="2800" dirty="0">
                <a:solidFill>
                  <a:srgbClr val="FF0000"/>
                </a:solidFill>
              </a:rPr>
              <a:t>作诗</a:t>
            </a:r>
            <a:endParaRPr lang="en-US" altLang="zh-CN" sz="2800" dirty="0">
              <a:solidFill>
                <a:srgbClr val="FF0000"/>
              </a:solidFill>
            </a:endParaRPr>
          </a:p>
          <a:p>
            <a:pPr marL="457200" indent="-457200" algn="just">
              <a:lnSpc>
                <a:spcPct val="150000"/>
              </a:lnSpc>
              <a:buFont typeface="Arial" panose="020B0604020202020204" pitchFamily="34" charset="0"/>
              <a:buChar char="•"/>
            </a:pPr>
            <a:r>
              <a:rPr lang="zh-CN" altLang="en-US" sz="2800" dirty="0"/>
              <a:t>“</a:t>
            </a:r>
            <a:r>
              <a:rPr lang="en-US" altLang="zh-CN" sz="2800" dirty="0"/>
              <a:t>AI</a:t>
            </a:r>
            <a:r>
              <a:rPr lang="zh-CN" altLang="en-US" sz="2800" dirty="0"/>
              <a:t>李白”：中国首个智能作诗送祝福应用</a:t>
            </a:r>
            <a:endParaRPr lang="en-US" altLang="zh-CN" sz="2800" dirty="0"/>
          </a:p>
          <a:p>
            <a:pPr indent="449263" algn="just">
              <a:lnSpc>
                <a:spcPct val="150000"/>
              </a:lnSpc>
            </a:pPr>
            <a:r>
              <a:rPr lang="zh-CN" altLang="en-US" sz="2800" dirty="0">
                <a:solidFill>
                  <a:srgbClr val="FF0000"/>
                </a:solidFill>
              </a:rPr>
              <a:t>以深度神经网络展现诗词韵律美。</a:t>
            </a:r>
            <a:r>
              <a:rPr lang="zh-CN" altLang="en-US" sz="2800" dirty="0"/>
              <a:t>利用先进的深度学习技术，采用</a:t>
            </a:r>
            <a:r>
              <a:rPr lang="en-US" altLang="zh-CN" sz="2800" dirty="0"/>
              <a:t>LSTM</a:t>
            </a:r>
            <a:r>
              <a:rPr lang="zh-CN" altLang="en-US" sz="2800" dirty="0"/>
              <a:t>，结合大规模的诗词训练语料，自动学习发现诗词中的特征和规律，捕获上下文复杂的语言依赖关系，训练出智能作诗的模型。</a:t>
            </a:r>
            <a:endParaRPr lang="en-US" altLang="zh-CN" sz="2800" dirty="0"/>
          </a:p>
        </p:txBody>
      </p:sp>
    </p:spTree>
    <p:extLst>
      <p:ext uri="{BB962C8B-B14F-4D97-AF65-F5344CB8AC3E}">
        <p14:creationId xmlns:p14="http://schemas.microsoft.com/office/powerpoint/2010/main" val="291663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智能艺术</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30044" y="1054510"/>
            <a:ext cx="7713407" cy="5181162"/>
          </a:xfrm>
          <a:prstGeom prst="rect">
            <a:avLst/>
          </a:prstGeom>
          <a:noFill/>
        </p:spPr>
        <p:txBody>
          <a:bodyPr wrap="square" rtlCol="0">
            <a:spAutoFit/>
          </a:bodyPr>
          <a:lstStyle/>
          <a:p>
            <a:pPr marL="514350" indent="-514350" algn="just">
              <a:lnSpc>
                <a:spcPct val="150000"/>
              </a:lnSpc>
              <a:buFont typeface="+mj-lt"/>
              <a:buAutoNum type="arabicPeriod"/>
            </a:pPr>
            <a:r>
              <a:rPr lang="zh-CN" altLang="en-US" sz="2800" dirty="0">
                <a:solidFill>
                  <a:srgbClr val="FF0000"/>
                </a:solidFill>
              </a:rPr>
              <a:t>作诗</a:t>
            </a:r>
            <a:endParaRPr lang="en-US" altLang="zh-CN" sz="2800" dirty="0">
              <a:solidFill>
                <a:srgbClr val="FF0000"/>
              </a:solidFill>
            </a:endParaRPr>
          </a:p>
          <a:p>
            <a:pPr marL="457200" indent="-457200" algn="just">
              <a:lnSpc>
                <a:spcPct val="150000"/>
              </a:lnSpc>
              <a:buFont typeface="Arial" panose="020B0604020202020204" pitchFamily="34" charset="0"/>
              <a:buChar char="•"/>
            </a:pPr>
            <a:r>
              <a:rPr lang="zh-CN" altLang="en-US" sz="2800" dirty="0"/>
              <a:t>“</a:t>
            </a:r>
            <a:r>
              <a:rPr lang="en-US" altLang="zh-CN" sz="2800" dirty="0"/>
              <a:t>AI</a:t>
            </a:r>
            <a:r>
              <a:rPr lang="zh-CN" altLang="en-US" sz="2800" dirty="0"/>
              <a:t>李白”：中国首个智能作诗送祝福应用</a:t>
            </a:r>
            <a:endParaRPr lang="en-US" altLang="zh-CN" sz="2800" dirty="0"/>
          </a:p>
          <a:p>
            <a:pPr indent="449263" algn="just">
              <a:lnSpc>
                <a:spcPct val="150000"/>
              </a:lnSpc>
            </a:pPr>
            <a:r>
              <a:rPr lang="zh-CN" altLang="en-US" sz="2800" dirty="0">
                <a:solidFill>
                  <a:srgbClr val="FF0000"/>
                </a:solidFill>
              </a:rPr>
              <a:t>构建大规模数据集。</a:t>
            </a:r>
            <a:r>
              <a:rPr lang="zh-CN" altLang="en-US" sz="2800" dirty="0"/>
              <a:t>在对诗词上下文建模中，采用的训练语料包括唐诗、宋词、诗经以及经典的现代散文和现代诗，共计</a:t>
            </a:r>
            <a:r>
              <a:rPr lang="en-US" altLang="zh-CN" sz="2800" dirty="0"/>
              <a:t>80</a:t>
            </a:r>
            <a:r>
              <a:rPr lang="zh-CN" altLang="en-US" sz="2800" dirty="0"/>
              <a:t>万首。</a:t>
            </a:r>
            <a:endParaRPr lang="en-US" altLang="zh-CN" sz="2800" dirty="0"/>
          </a:p>
          <a:p>
            <a:pPr indent="449263" algn="just">
              <a:lnSpc>
                <a:spcPct val="150000"/>
              </a:lnSpc>
            </a:pPr>
            <a:r>
              <a:rPr lang="zh-CN" altLang="en-US" sz="2800" dirty="0">
                <a:solidFill>
                  <a:srgbClr val="FF0000"/>
                </a:solidFill>
              </a:rPr>
              <a:t>以词向量技术呈现春节祝福主题。</a:t>
            </a:r>
            <a:r>
              <a:rPr lang="zh-CN" altLang="en-US" sz="2800" dirty="0"/>
              <a:t>利用</a:t>
            </a:r>
            <a:r>
              <a:rPr lang="en-US" altLang="zh-CN" sz="2800" dirty="0"/>
              <a:t>Word2Vec</a:t>
            </a:r>
            <a:r>
              <a:rPr lang="zh-CN" altLang="en-US" sz="2800" dirty="0"/>
              <a:t>技术发现与春节语义相关的词汇，并智能化填入各种风格的诗词中。</a:t>
            </a:r>
            <a:endParaRPr lang="en-US" altLang="zh-CN" sz="2800" dirty="0"/>
          </a:p>
        </p:txBody>
      </p:sp>
    </p:spTree>
    <p:extLst>
      <p:ext uri="{BB962C8B-B14F-4D97-AF65-F5344CB8AC3E}">
        <p14:creationId xmlns:p14="http://schemas.microsoft.com/office/powerpoint/2010/main" val="261530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智能艺术</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30044" y="1054510"/>
            <a:ext cx="7713407" cy="5181162"/>
          </a:xfrm>
          <a:prstGeom prst="rect">
            <a:avLst/>
          </a:prstGeom>
          <a:noFill/>
        </p:spPr>
        <p:txBody>
          <a:bodyPr wrap="square" rtlCol="0">
            <a:spAutoFit/>
          </a:bodyPr>
          <a:lstStyle/>
          <a:p>
            <a:pPr marL="514350" indent="-514350" algn="just">
              <a:lnSpc>
                <a:spcPct val="150000"/>
              </a:lnSpc>
              <a:buFont typeface="+mj-lt"/>
              <a:buAutoNum type="arabicPeriod"/>
            </a:pPr>
            <a:r>
              <a:rPr lang="zh-CN" altLang="en-US" sz="2800" dirty="0">
                <a:solidFill>
                  <a:srgbClr val="FF0000"/>
                </a:solidFill>
              </a:rPr>
              <a:t>作诗</a:t>
            </a:r>
            <a:endParaRPr lang="en-US" altLang="zh-CN" sz="2800" dirty="0">
              <a:solidFill>
                <a:srgbClr val="FF0000"/>
              </a:solidFill>
            </a:endParaRPr>
          </a:p>
          <a:p>
            <a:pPr marL="457200" indent="-457200" algn="just">
              <a:lnSpc>
                <a:spcPct val="150000"/>
              </a:lnSpc>
              <a:buFont typeface="Arial" panose="020B0604020202020204" pitchFamily="34" charset="0"/>
              <a:buChar char="•"/>
            </a:pPr>
            <a:r>
              <a:rPr lang="zh-CN" altLang="en-US" sz="2800" dirty="0"/>
              <a:t>“</a:t>
            </a:r>
            <a:r>
              <a:rPr lang="en-US" altLang="zh-CN" sz="2800" dirty="0"/>
              <a:t>AI</a:t>
            </a:r>
            <a:r>
              <a:rPr lang="zh-CN" altLang="en-US" sz="2800" dirty="0"/>
              <a:t>李白”：中国首个智能作诗送祝福应用</a:t>
            </a:r>
            <a:endParaRPr lang="en-US" altLang="zh-CN" sz="2800" dirty="0"/>
          </a:p>
          <a:p>
            <a:pPr indent="449263" algn="just">
              <a:lnSpc>
                <a:spcPct val="150000"/>
              </a:lnSpc>
            </a:pPr>
            <a:r>
              <a:rPr lang="zh-CN" altLang="en-US" sz="2800" dirty="0">
                <a:solidFill>
                  <a:srgbClr val="FF0000"/>
                </a:solidFill>
              </a:rPr>
              <a:t>个性化祝福。</a:t>
            </a:r>
            <a:r>
              <a:rPr lang="zh-CN" altLang="en-US" sz="2800" dirty="0"/>
              <a:t>运用启发式搜索技术，实现用户插入的祝福语满足诗词自身的平仄和谐，在前端支持用户上传自己的照片，最终让用户生成的每一首诗词都是满满的个性化祝福。</a:t>
            </a:r>
          </a:p>
          <a:p>
            <a:pPr indent="449263" algn="just">
              <a:lnSpc>
                <a:spcPct val="150000"/>
              </a:lnSpc>
            </a:pPr>
            <a:r>
              <a:rPr lang="zh-CN" altLang="en-US" sz="2800" dirty="0">
                <a:solidFill>
                  <a:srgbClr val="FF0000"/>
                </a:solidFill>
              </a:rPr>
              <a:t>智能审核环节。</a:t>
            </a:r>
            <a:r>
              <a:rPr lang="zh-CN" altLang="en-US" sz="2800" dirty="0"/>
              <a:t>采用数万条敏感词库，结合机器学习算法，实现各种敏感词变种识别。</a:t>
            </a:r>
            <a:endParaRPr lang="en-US" altLang="zh-CN" sz="2800" dirty="0"/>
          </a:p>
        </p:txBody>
      </p:sp>
    </p:spTree>
    <p:extLst>
      <p:ext uri="{BB962C8B-B14F-4D97-AF65-F5344CB8AC3E}">
        <p14:creationId xmlns:p14="http://schemas.microsoft.com/office/powerpoint/2010/main" val="357353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智能艺术</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30044" y="1054510"/>
            <a:ext cx="7713407" cy="5181162"/>
          </a:xfrm>
          <a:prstGeom prst="rect">
            <a:avLst/>
          </a:prstGeom>
          <a:noFill/>
        </p:spPr>
        <p:txBody>
          <a:bodyPr wrap="square" rtlCol="0">
            <a:spAutoFit/>
          </a:bodyPr>
          <a:lstStyle/>
          <a:p>
            <a:pPr marL="514350" indent="-514350" algn="just">
              <a:lnSpc>
                <a:spcPct val="150000"/>
              </a:lnSpc>
              <a:buFont typeface="+mj-lt"/>
              <a:buAutoNum type="arabicPeriod" startAt="2"/>
            </a:pPr>
            <a:r>
              <a:rPr lang="zh-CN" altLang="en-US" sz="2800" dirty="0">
                <a:solidFill>
                  <a:srgbClr val="FF0000"/>
                </a:solidFill>
              </a:rPr>
              <a:t>绘画</a:t>
            </a:r>
            <a:endParaRPr lang="en-US" altLang="zh-CN" sz="2800" dirty="0">
              <a:solidFill>
                <a:srgbClr val="FF0000"/>
              </a:solidFill>
            </a:endParaRPr>
          </a:p>
          <a:p>
            <a:pPr marL="457200" indent="-457200" algn="just">
              <a:lnSpc>
                <a:spcPct val="150000"/>
              </a:lnSpc>
              <a:buFont typeface="Arial" panose="020B0604020202020204" pitchFamily="34" charset="0"/>
              <a:buChar char="•"/>
            </a:pPr>
            <a:r>
              <a:rPr lang="en-US" altLang="zh-CN" sz="2800" dirty="0"/>
              <a:t>Google</a:t>
            </a:r>
            <a:r>
              <a:rPr lang="zh-CN" altLang="en-US" sz="2800" dirty="0"/>
              <a:t>“</a:t>
            </a:r>
            <a:r>
              <a:rPr lang="en-US" altLang="zh-CN" sz="2800" dirty="0" err="1"/>
              <a:t>AutoDraw</a:t>
            </a:r>
            <a:r>
              <a:rPr lang="zh-CN" altLang="en-US" sz="2800" dirty="0"/>
              <a:t>”：基于简单轮廓变身精致的简笔画图案。</a:t>
            </a:r>
            <a:endParaRPr lang="en-US" altLang="zh-CN" sz="2800" dirty="0"/>
          </a:p>
          <a:p>
            <a:pPr marL="457200" indent="-457200" algn="just">
              <a:lnSpc>
                <a:spcPct val="150000"/>
              </a:lnSpc>
              <a:buFont typeface="Arial" panose="020B0604020202020204" pitchFamily="34" charset="0"/>
              <a:buChar char="•"/>
            </a:pPr>
            <a:r>
              <a:rPr lang="zh-CN" altLang="en-US" sz="2800" dirty="0"/>
              <a:t>“小蚁</a:t>
            </a:r>
            <a:r>
              <a:rPr lang="en-US" altLang="zh-CN" sz="2800" dirty="0"/>
              <a:t>AI</a:t>
            </a:r>
            <a:r>
              <a:rPr lang="zh-CN" altLang="en-US" sz="2800" dirty="0"/>
              <a:t>艺术”：将</a:t>
            </a:r>
            <a:r>
              <a:rPr lang="en-US" altLang="zh-CN" sz="2800" dirty="0"/>
              <a:t>AI</a:t>
            </a:r>
            <a:r>
              <a:rPr lang="zh-CN" altLang="en-US" sz="2800" dirty="0"/>
              <a:t>融入中国传统绘画。</a:t>
            </a:r>
            <a:endParaRPr lang="en-US" altLang="zh-CN" sz="2800" dirty="0"/>
          </a:p>
          <a:p>
            <a:pPr indent="715963" algn="just">
              <a:lnSpc>
                <a:spcPct val="150000"/>
              </a:lnSpc>
            </a:pPr>
            <a:r>
              <a:rPr lang="zh-CN" altLang="en-US" sz="2800" dirty="0"/>
              <a:t>通过深层提取中国绘画的风格与图式，学习如齐白石、吴冠中等人的绘画风格，根据网络基端中更为接近图像的基本特征（如点线面和色相、明度），对转化图进行描述、分析和迭代更新。</a:t>
            </a:r>
            <a:endParaRPr lang="en-US" altLang="zh-CN" sz="2800" dirty="0"/>
          </a:p>
        </p:txBody>
      </p:sp>
    </p:spTree>
    <p:extLst>
      <p:ext uri="{BB962C8B-B14F-4D97-AF65-F5344CB8AC3E}">
        <p14:creationId xmlns:p14="http://schemas.microsoft.com/office/powerpoint/2010/main" val="3393403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75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75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75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75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智能艺术</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30044" y="1054510"/>
            <a:ext cx="7713407" cy="5181162"/>
          </a:xfrm>
          <a:prstGeom prst="rect">
            <a:avLst/>
          </a:prstGeom>
          <a:noFill/>
        </p:spPr>
        <p:txBody>
          <a:bodyPr wrap="square" rtlCol="0">
            <a:spAutoFit/>
          </a:bodyPr>
          <a:lstStyle/>
          <a:p>
            <a:pPr marL="514350" indent="-514350" algn="just">
              <a:lnSpc>
                <a:spcPct val="150000"/>
              </a:lnSpc>
              <a:buFont typeface="+mj-lt"/>
              <a:buAutoNum type="arabicPeriod" startAt="2"/>
            </a:pPr>
            <a:r>
              <a:rPr lang="zh-CN" altLang="en-US" sz="2800" dirty="0">
                <a:solidFill>
                  <a:srgbClr val="FF0000"/>
                </a:solidFill>
              </a:rPr>
              <a:t>绘画</a:t>
            </a:r>
            <a:endParaRPr lang="en-US" altLang="zh-CN" sz="2800" dirty="0">
              <a:solidFill>
                <a:srgbClr val="FF0000"/>
              </a:solidFill>
            </a:endParaRPr>
          </a:p>
          <a:p>
            <a:pPr marL="457200" indent="-457200" algn="just">
              <a:lnSpc>
                <a:spcPct val="150000"/>
              </a:lnSpc>
              <a:buFont typeface="Arial" panose="020B0604020202020204" pitchFamily="34" charset="0"/>
              <a:buChar char="•"/>
            </a:pPr>
            <a:r>
              <a:rPr lang="zh-CN" altLang="en-US" sz="2800" dirty="0"/>
              <a:t>美图秀秀“</a:t>
            </a:r>
            <a:r>
              <a:rPr lang="en-US" altLang="zh-CN" sz="2800" dirty="0"/>
              <a:t>Andy</a:t>
            </a:r>
            <a:r>
              <a:rPr lang="zh-CN" altLang="en-US" sz="2800" dirty="0"/>
              <a:t>”：绘画机器人，根据用户的自拍照为用户画一张插画。</a:t>
            </a:r>
            <a:endParaRPr lang="en-US" altLang="zh-CN" sz="2800" dirty="0"/>
          </a:p>
          <a:p>
            <a:pPr indent="803275" algn="just">
              <a:lnSpc>
                <a:spcPct val="150000"/>
              </a:lnSpc>
            </a:pPr>
            <a:r>
              <a:rPr lang="zh-CN" altLang="en-US" sz="2800" dirty="0"/>
              <a:t>学习大量的插画作品，创建出通用的绘画模型。看到用户图片后，通过</a:t>
            </a:r>
            <a:r>
              <a:rPr lang="en-US" altLang="zh-CN" sz="2800" dirty="0" err="1">
                <a:solidFill>
                  <a:srgbClr val="FF0000"/>
                </a:solidFill>
              </a:rPr>
              <a:t>MTface</a:t>
            </a:r>
            <a:r>
              <a:rPr lang="zh-CN" altLang="en-US" sz="2800" dirty="0">
                <a:solidFill>
                  <a:srgbClr val="FF0000"/>
                </a:solidFill>
              </a:rPr>
              <a:t>技术</a:t>
            </a:r>
            <a:r>
              <a:rPr lang="zh-CN" altLang="en-US" sz="2800" dirty="0"/>
              <a:t>，掌握人脸的轮廓、五官位置和特征。利用</a:t>
            </a:r>
            <a:r>
              <a:rPr lang="en-US" altLang="zh-CN" sz="2800" dirty="0" err="1">
                <a:solidFill>
                  <a:srgbClr val="FF0000"/>
                </a:solidFill>
              </a:rPr>
              <a:t>MTsegmentation</a:t>
            </a:r>
            <a:r>
              <a:rPr lang="zh-CN" altLang="en-US" sz="2800" dirty="0">
                <a:solidFill>
                  <a:srgbClr val="FF0000"/>
                </a:solidFill>
              </a:rPr>
              <a:t>技术</a:t>
            </a:r>
            <a:r>
              <a:rPr lang="zh-CN" altLang="en-US" sz="2800" dirty="0"/>
              <a:t>，掌握头发、衣服、背景区域。根据前期数据学习到的共有特征，绘制照片。</a:t>
            </a:r>
            <a:endParaRPr lang="en-US" altLang="zh-CN" sz="2800" dirty="0"/>
          </a:p>
        </p:txBody>
      </p:sp>
      <p:sp>
        <p:nvSpPr>
          <p:cNvPr id="4" name="对话气泡: 圆角矩形 3">
            <a:extLst>
              <a:ext uri="{FF2B5EF4-FFF2-40B4-BE49-F238E27FC236}">
                <a16:creationId xmlns:a16="http://schemas.microsoft.com/office/drawing/2014/main" id="{55BDD1FD-3B2E-35C1-8D3E-94739714B2B8}"/>
              </a:ext>
            </a:extLst>
          </p:cNvPr>
          <p:cNvSpPr/>
          <p:nvPr/>
        </p:nvSpPr>
        <p:spPr>
          <a:xfrm>
            <a:off x="4313904" y="1054510"/>
            <a:ext cx="3532237" cy="754420"/>
          </a:xfrm>
          <a:prstGeom prst="wedgeRoundRectCallout">
            <a:avLst>
              <a:gd name="adj1" fmla="val -63313"/>
              <a:gd name="adj2" fmla="val 49003"/>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altLang="zh-CN" sz="2400" dirty="0" err="1">
                <a:solidFill>
                  <a:srgbClr val="0070C0"/>
                </a:solidFill>
              </a:rPr>
              <a:t>MTgeneration</a:t>
            </a:r>
            <a:r>
              <a:rPr lang="zh-CN" altLang="en-US" sz="2400" dirty="0">
                <a:solidFill>
                  <a:srgbClr val="0070C0"/>
                </a:solidFill>
              </a:rPr>
              <a:t>技术：“混血儿”应用、“</a:t>
            </a:r>
            <a:r>
              <a:rPr lang="en-US" altLang="zh-CN" sz="2400" dirty="0">
                <a:solidFill>
                  <a:srgbClr val="0070C0"/>
                </a:solidFill>
              </a:rPr>
              <a:t>AI</a:t>
            </a:r>
            <a:r>
              <a:rPr lang="zh-CN" altLang="en-US" sz="2400" dirty="0">
                <a:solidFill>
                  <a:srgbClr val="0070C0"/>
                </a:solidFill>
              </a:rPr>
              <a:t>美化”</a:t>
            </a:r>
          </a:p>
        </p:txBody>
      </p:sp>
    </p:spTree>
    <p:extLst>
      <p:ext uri="{BB962C8B-B14F-4D97-AF65-F5344CB8AC3E}">
        <p14:creationId xmlns:p14="http://schemas.microsoft.com/office/powerpoint/2010/main" val="3017260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75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75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人工智能的未来趋势</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30044" y="1054510"/>
            <a:ext cx="7713407" cy="4534831"/>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zh-CN" altLang="en-US" sz="2800" dirty="0">
                <a:solidFill>
                  <a:srgbClr val="FF0000"/>
                </a:solidFill>
              </a:rPr>
              <a:t>智能化应用场景从单一向多元发展</a:t>
            </a:r>
            <a:endParaRPr lang="en-US" altLang="zh-CN" sz="2800" dirty="0">
              <a:solidFill>
                <a:srgbClr val="FF0000"/>
              </a:solidFill>
            </a:endParaRPr>
          </a:p>
          <a:p>
            <a:pPr indent="449263" algn="just">
              <a:lnSpc>
                <a:spcPct val="150000"/>
              </a:lnSpc>
            </a:pPr>
            <a:r>
              <a:rPr lang="zh-CN" altLang="en-US" sz="2800" dirty="0"/>
              <a:t>目前</a:t>
            </a:r>
            <a:r>
              <a:rPr lang="en-US" altLang="zh-CN" sz="2800" dirty="0"/>
              <a:t>AI</a:t>
            </a:r>
            <a:r>
              <a:rPr lang="zh-CN" altLang="en-US" sz="2800" dirty="0"/>
              <a:t>应用领域还多处于专用阶段，如人脸识别、视频监控、语音识别等都主要用于完成具体任务，覆盖范围有限，产业化程度有待提高。随着智能家居、智能物流等产品的推出，人工智能的应用终将进入面向复杂场景、处理复杂问题、提高社会生产效率和生活质量的新阶段。</a:t>
            </a:r>
            <a:endParaRPr lang="en-US" altLang="zh-CN" sz="2800" dirty="0"/>
          </a:p>
        </p:txBody>
      </p:sp>
    </p:spTree>
    <p:extLst>
      <p:ext uri="{BB962C8B-B14F-4D97-AF65-F5344CB8AC3E}">
        <p14:creationId xmlns:p14="http://schemas.microsoft.com/office/powerpoint/2010/main" val="173896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75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75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人工智能的未来趋势</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30044" y="1054510"/>
            <a:ext cx="7713407" cy="4534831"/>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en-US" altLang="zh-CN" sz="2800" dirty="0">
                <a:solidFill>
                  <a:srgbClr val="FF0000"/>
                </a:solidFill>
              </a:rPr>
              <a:t>AI</a:t>
            </a:r>
            <a:r>
              <a:rPr lang="zh-CN" altLang="en-US" sz="2800" dirty="0">
                <a:solidFill>
                  <a:srgbClr val="FF0000"/>
                </a:solidFill>
              </a:rPr>
              <a:t>和实体经济深度融合进程将进一步加快</a:t>
            </a:r>
            <a:endParaRPr lang="en-US" altLang="zh-CN" sz="2800" dirty="0">
              <a:solidFill>
                <a:srgbClr val="FF0000"/>
              </a:solidFill>
            </a:endParaRPr>
          </a:p>
          <a:p>
            <a:pPr indent="627063" algn="just">
              <a:lnSpc>
                <a:spcPct val="150000"/>
              </a:lnSpc>
            </a:pPr>
            <a:r>
              <a:rPr lang="zh-CN" altLang="en-US" sz="2800" dirty="0"/>
              <a:t>制造强国建设的加快将促进</a:t>
            </a:r>
            <a:r>
              <a:rPr lang="en-US" altLang="zh-CN" sz="2800" dirty="0"/>
              <a:t>AI</a:t>
            </a:r>
            <a:r>
              <a:rPr lang="zh-CN" altLang="en-US" sz="2800" dirty="0"/>
              <a:t>等新一代信息技术产品发展和应用，助推传统产业转型升级，推动战略性新兴产业实现整体性突破。同时，随着</a:t>
            </a:r>
            <a:r>
              <a:rPr lang="en-US" altLang="zh-CN" sz="2800" dirty="0"/>
              <a:t>AI</a:t>
            </a:r>
            <a:r>
              <a:rPr lang="zh-CN" altLang="en-US" sz="2800" dirty="0"/>
              <a:t>底层技术的开源化，传统行业将有望加快掌握人工智能基础技术并依托其积累的行业数据资源实现人工智能、实体经济的深度融合与创新。</a:t>
            </a:r>
            <a:endParaRPr lang="en-US" altLang="zh-CN" sz="2800" dirty="0"/>
          </a:p>
        </p:txBody>
      </p:sp>
    </p:spTree>
    <p:extLst>
      <p:ext uri="{BB962C8B-B14F-4D97-AF65-F5344CB8AC3E}">
        <p14:creationId xmlns:p14="http://schemas.microsoft.com/office/powerpoint/2010/main" val="968484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75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75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indent="361950" algn="l"/>
            <a:r>
              <a:rPr lang="zh-CN" altLang="en-US" sz="4400" dirty="0">
                <a:latin typeface="方正姚体" panose="02010601030101010101" pitchFamily="2" charset="-122"/>
                <a:ea typeface="方正姚体" panose="02010601030101010101" pitchFamily="2" charset="-122"/>
                <a:cs typeface="Times New Roman" panose="02020503050405090304" pitchFamily="18" charset="0"/>
              </a:rPr>
              <a:t>人工智能面临的挑战</a:t>
            </a:r>
          </a:p>
        </p:txBody>
      </p:sp>
      <p:sp>
        <p:nvSpPr>
          <p:cNvPr id="5" name="文本框 4">
            <a:extLst>
              <a:ext uri="{FF2B5EF4-FFF2-40B4-BE49-F238E27FC236}">
                <a16:creationId xmlns:a16="http://schemas.microsoft.com/office/drawing/2014/main" id="{4AC0612E-D6C8-2D3A-B37A-A87FA7D8079A}"/>
              </a:ext>
            </a:extLst>
          </p:cNvPr>
          <p:cNvSpPr txBox="1"/>
          <p:nvPr/>
        </p:nvSpPr>
        <p:spPr>
          <a:xfrm>
            <a:off x="730044" y="1054510"/>
            <a:ext cx="7713407" cy="4539191"/>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zh-CN" altLang="en-US" sz="2800" dirty="0">
                <a:solidFill>
                  <a:srgbClr val="FF0000"/>
                </a:solidFill>
              </a:rPr>
              <a:t>安全问题</a:t>
            </a:r>
            <a:endParaRPr lang="en-US" altLang="zh-CN" sz="2800" dirty="0">
              <a:solidFill>
                <a:srgbClr val="FF0000"/>
              </a:solidFill>
            </a:endParaRPr>
          </a:p>
          <a:p>
            <a:pPr indent="449263" algn="just">
              <a:lnSpc>
                <a:spcPct val="150000"/>
              </a:lnSpc>
            </a:pPr>
            <a:r>
              <a:rPr lang="zh-CN" altLang="en-US" sz="2800" dirty="0"/>
              <a:t>数字安全、物理安全、政治安全。</a:t>
            </a:r>
            <a:endParaRPr lang="en-US" altLang="zh-CN" sz="2800" dirty="0"/>
          </a:p>
          <a:p>
            <a:pPr marL="457200" indent="-457200" algn="just">
              <a:lnSpc>
                <a:spcPct val="150000"/>
              </a:lnSpc>
              <a:buFont typeface="Arial" panose="020B0604020202020204" pitchFamily="34" charset="0"/>
              <a:buChar char="•"/>
            </a:pPr>
            <a:r>
              <a:rPr lang="zh-CN" altLang="en-US" sz="2800" dirty="0">
                <a:solidFill>
                  <a:srgbClr val="FF0000"/>
                </a:solidFill>
              </a:rPr>
              <a:t>伦理问题</a:t>
            </a:r>
            <a:endParaRPr lang="en-US" altLang="zh-CN" sz="2800" dirty="0">
              <a:solidFill>
                <a:srgbClr val="FF0000"/>
              </a:solidFill>
            </a:endParaRPr>
          </a:p>
          <a:p>
            <a:pPr indent="449263" algn="just">
              <a:lnSpc>
                <a:spcPct val="150000"/>
              </a:lnSpc>
            </a:pPr>
            <a:r>
              <a:rPr lang="zh-CN" altLang="en-US" sz="2800" dirty="0"/>
              <a:t>智能技术的行为规则、智能技术的权力。</a:t>
            </a:r>
            <a:endParaRPr lang="en-US" altLang="zh-CN" sz="2800" dirty="0"/>
          </a:p>
          <a:p>
            <a:pPr marL="457200" indent="-457200" algn="just">
              <a:lnSpc>
                <a:spcPct val="150000"/>
              </a:lnSpc>
              <a:buFont typeface="Arial" panose="020B0604020202020204" pitchFamily="34" charset="0"/>
              <a:buChar char="•"/>
            </a:pPr>
            <a:r>
              <a:rPr lang="zh-CN" altLang="en-US" sz="2800" dirty="0">
                <a:solidFill>
                  <a:srgbClr val="FF0000"/>
                </a:solidFill>
              </a:rPr>
              <a:t>隐私问题</a:t>
            </a:r>
            <a:endParaRPr lang="en-US" altLang="zh-CN" sz="2800" dirty="0">
              <a:solidFill>
                <a:srgbClr val="FF0000"/>
              </a:solidFill>
            </a:endParaRPr>
          </a:p>
          <a:p>
            <a:pPr indent="449263" algn="just">
              <a:lnSpc>
                <a:spcPct val="150000"/>
              </a:lnSpc>
            </a:pPr>
            <a:r>
              <a:rPr lang="zh-CN" altLang="en-US" sz="2800" dirty="0"/>
              <a:t>数据采集中的隐私侵犯、云计算中的隐私侵犯、知识抽取中的隐私侵犯。</a:t>
            </a:r>
            <a:endParaRPr lang="en-US" altLang="zh-CN" sz="2800" dirty="0"/>
          </a:p>
        </p:txBody>
      </p:sp>
    </p:spTree>
    <p:extLst>
      <p:ext uri="{BB962C8B-B14F-4D97-AF65-F5344CB8AC3E}">
        <p14:creationId xmlns:p14="http://schemas.microsoft.com/office/powerpoint/2010/main" val="812626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750"/>
                                        <p:tgtEl>
                                          <p:spTgt spid="5">
                                            <p:txEl>
                                              <p:pRg st="0" end="0"/>
                                            </p:txEl>
                                          </p:spTgt>
                                        </p:tgtEl>
                                      </p:cBhvr>
                                    </p:animEffect>
                                  </p:childTnLst>
                                </p:cTn>
                              </p:par>
                            </p:childTnLst>
                          </p:cTn>
                        </p:par>
                        <p:par>
                          <p:cTn id="8" fill="hold">
                            <p:stCondLst>
                              <p:cond delay="1250"/>
                            </p:stCondLst>
                            <p:childTnLst>
                              <p:par>
                                <p:cTn id="9" presetID="10" presetClass="entr" presetSubtype="0" fill="hold" nodeType="after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Effect transition="in" filter="fade">
                                      <p:cBhvr>
                                        <p:cTn id="11" dur="750"/>
                                        <p:tgtEl>
                                          <p:spTgt spid="5">
                                            <p:txEl>
                                              <p:pRg st="2" end="2"/>
                                            </p:txEl>
                                          </p:spTgt>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Effect transition="in" filter="fade">
                                      <p:cBhvr>
                                        <p:cTn id="15" dur="750"/>
                                        <p:tgtEl>
                                          <p:spTgt spid="5">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fade">
                                      <p:cBhvr>
                                        <p:cTn id="20" dur="750"/>
                                        <p:tgtEl>
                                          <p:spTgt spid="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fade">
                                      <p:cBhvr>
                                        <p:cTn id="25" dur="750"/>
                                        <p:tgtEl>
                                          <p:spTgt spid="5">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fade">
                                      <p:cBhvr>
                                        <p:cTn id="30" dur="75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白底灰边-Office2010风格">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黑体+Times">
      <a:majorFont>
        <a:latin typeface="Times New Roman"/>
        <a:ea typeface="黑体"/>
        <a:cs typeface=""/>
      </a:majorFont>
      <a:minorFont>
        <a:latin typeface="Times New Roman"/>
        <a:ea typeface="黑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白底灰边-Office2010风格</Template>
  <TotalTime>313</TotalTime>
  <Words>3043</Words>
  <Application>Microsoft Office PowerPoint</Application>
  <PresentationFormat>全屏显示(4:3)</PresentationFormat>
  <Paragraphs>220</Paragraphs>
  <Slides>43</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43</vt:i4>
      </vt:variant>
    </vt:vector>
  </HeadingPairs>
  <TitlesOfParts>
    <vt:vector size="51" baseType="lpstr">
      <vt:lpstr>方正姚体</vt:lpstr>
      <vt:lpstr>华文行楷</vt:lpstr>
      <vt:lpstr>Arial</vt:lpstr>
      <vt:lpstr>Calibri</vt:lpstr>
      <vt:lpstr>Times New Roman</vt:lpstr>
      <vt:lpstr>Verdana</vt:lpstr>
      <vt:lpstr>Wingdings</vt:lpstr>
      <vt:lpstr>白底灰边-Office2010风格</vt:lpstr>
      <vt:lpstr>人工智能 发展与挑战</vt:lpstr>
      <vt:lpstr>PowerPoint 演示文稿</vt:lpstr>
      <vt:lpstr>下一代人工智能</vt:lpstr>
      <vt:lpstr>人工智能的发展阶段</vt:lpstr>
      <vt:lpstr>人工智能围棋</vt:lpstr>
      <vt:lpstr>人工智能围棋</vt:lpstr>
      <vt:lpstr>人工智能围棋</vt:lpstr>
      <vt:lpstr>人工智能围棋</vt:lpstr>
      <vt:lpstr>人工智能围棋</vt:lpstr>
      <vt:lpstr>人工智能围棋</vt:lpstr>
      <vt:lpstr>人工智能围棋</vt:lpstr>
      <vt:lpstr>人工智能围棋</vt:lpstr>
      <vt:lpstr>无人驾驶</vt:lpstr>
      <vt:lpstr>无人驾驶</vt:lpstr>
      <vt:lpstr>无人驾驶</vt:lpstr>
      <vt:lpstr>无人驾驶</vt:lpstr>
      <vt:lpstr>无人驾驶</vt:lpstr>
      <vt:lpstr>无人驾驶</vt:lpstr>
      <vt:lpstr>无人驾驶</vt:lpstr>
      <vt:lpstr>无人驾驶</vt:lpstr>
      <vt:lpstr>无人驾驶</vt:lpstr>
      <vt:lpstr>无人超市</vt:lpstr>
      <vt:lpstr>无人超市</vt:lpstr>
      <vt:lpstr>无人超市</vt:lpstr>
      <vt:lpstr>无人超市</vt:lpstr>
      <vt:lpstr>无人超市</vt:lpstr>
      <vt:lpstr>情感机器人</vt:lpstr>
      <vt:lpstr>情感机器人</vt:lpstr>
      <vt:lpstr>智能医疗</vt:lpstr>
      <vt:lpstr>智能医疗</vt:lpstr>
      <vt:lpstr>智能医疗</vt:lpstr>
      <vt:lpstr>智能医疗</vt:lpstr>
      <vt:lpstr>智能艺术</vt:lpstr>
      <vt:lpstr>智能艺术</vt:lpstr>
      <vt:lpstr>智能艺术</vt:lpstr>
      <vt:lpstr>智能艺术</vt:lpstr>
      <vt:lpstr>智能艺术</vt:lpstr>
      <vt:lpstr>智能艺术</vt:lpstr>
      <vt:lpstr>智能艺术</vt:lpstr>
      <vt:lpstr>智能艺术</vt:lpstr>
      <vt:lpstr>人工智能的未来趋势</vt:lpstr>
      <vt:lpstr>人工智能的未来趋势</vt:lpstr>
      <vt:lpstr>人工智能面临的挑战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wuxf</dc:creator>
  <cp:lastModifiedBy>wang jiajing</cp:lastModifiedBy>
  <cp:revision>1545</cp:revision>
  <dcterms:created xsi:type="dcterms:W3CDTF">2020-07-12T12:24:28Z</dcterms:created>
  <dcterms:modified xsi:type="dcterms:W3CDTF">2022-06-12T17:53:46Z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2052-2.4.0.3964</vt:lpwstr>
  </property>
</Properties>
</file>