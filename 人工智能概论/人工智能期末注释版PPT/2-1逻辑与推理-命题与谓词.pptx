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84" r:id="rId3"/>
    <p:sldId id="645" r:id="rId4"/>
    <p:sldId id="713" r:id="rId6"/>
    <p:sldId id="714" r:id="rId7"/>
    <p:sldId id="715" r:id="rId8"/>
    <p:sldId id="788" r:id="rId9"/>
    <p:sldId id="787" r:id="rId10"/>
    <p:sldId id="717" r:id="rId11"/>
    <p:sldId id="718" r:id="rId12"/>
    <p:sldId id="719" r:id="rId13"/>
    <p:sldId id="785" r:id="rId14"/>
    <p:sldId id="720" r:id="rId15"/>
    <p:sldId id="721" r:id="rId16"/>
    <p:sldId id="722" r:id="rId17"/>
    <p:sldId id="723" r:id="rId18"/>
    <p:sldId id="724" r:id="rId19"/>
    <p:sldId id="725" r:id="rId20"/>
    <p:sldId id="726" r:id="rId21"/>
    <p:sldId id="727" r:id="rId22"/>
    <p:sldId id="728" r:id="rId23"/>
    <p:sldId id="731" r:id="rId24"/>
    <p:sldId id="732" r:id="rId25"/>
    <p:sldId id="789" r:id="rId26"/>
    <p:sldId id="733" r:id="rId27"/>
    <p:sldId id="734" r:id="rId28"/>
    <p:sldId id="735" r:id="rId29"/>
    <p:sldId id="790" r:id="rId30"/>
    <p:sldId id="736" r:id="rId31"/>
    <p:sldId id="791" r:id="rId32"/>
    <p:sldId id="737" r:id="rId33"/>
    <p:sldId id="738" r:id="rId34"/>
    <p:sldId id="739" r:id="rId35"/>
    <p:sldId id="740" r:id="rId36"/>
    <p:sldId id="741" r:id="rId37"/>
    <p:sldId id="742" r:id="rId38"/>
    <p:sldId id="743" r:id="rId39"/>
    <p:sldId id="792" r:id="rId40"/>
    <p:sldId id="744" r:id="rId41"/>
    <p:sldId id="745" r:id="rId42"/>
    <p:sldId id="793" r:id="rId43"/>
    <p:sldId id="746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 varScale="1">
        <p:scale>
          <a:sx n="68" d="100"/>
          <a:sy n="68" d="100"/>
        </p:scale>
        <p:origin x="64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2191A-80EC-46DB-93F0-3604A84C80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BF4AB-6F03-4623-9F12-EF53A87F18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9458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079DD9-C9D1-C543-AF12-536BB687E807}" type="slidenum"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9458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079DD9-C9D1-C543-AF12-536BB687E807}" type="slidenum"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A6875F-43A8-4ED5-AEB4-81822FC345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A6875F-43A8-4ED5-AEB4-81822FC345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A6875F-43A8-4ED5-AEB4-81822FC345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B43B8-EC4A-5743-9CA4-764B42BFAC9D}" type="slidenum">
              <a:rPr lang="zh-CN" altLang="en-US"/>
            </a:fld>
            <a:endParaRPr lang="en-US" altLang="zh-CN" sz="1015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hyperlink" Target="https://www.icourse163.org/course/ZJU-100337702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57350" y="2983230"/>
            <a:ext cx="5829300" cy="157162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000" b="1" spc="450" dirty="0"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逻辑与推理</a:t>
            </a:r>
            <a:endParaRPr lang="zh-CN" altLang="en-US" sz="8000" spc="45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71203" y="88252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《</a:t>
            </a:r>
            <a:r>
              <a:rPr lang="zh-CN" altLang="en-US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人工智能导论：模型与算法</a:t>
            </a: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》</a:t>
            </a:r>
            <a:endParaRPr lang="zh-CN" altLang="en-US" dirty="0">
              <a:solidFill>
                <a:prstClr val="black"/>
              </a:solidFill>
              <a:latin typeface="Rockwell" panose="02060603020205020403"/>
              <a:ea typeface="方正姚体" panose="02010601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669934" y="1938906"/>
            <a:ext cx="5829300" cy="930024"/>
          </a:xfrm>
          <a:prstGeom prst="rect">
            <a:avLst/>
          </a:prstGeom>
        </p:spPr>
        <p:txBody>
          <a:bodyPr vert="horz" lIns="68580" tIns="108000" rIns="68580" bIns="3429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6000" b="1" spc="45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第 </a:t>
            </a:r>
            <a:r>
              <a:rPr lang="en-US" altLang="zh-CN" sz="6000" b="1" spc="45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2 </a:t>
            </a:r>
            <a:r>
              <a:rPr lang="zh-CN" altLang="en-US" sz="6000" b="1" spc="45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章</a:t>
            </a:r>
            <a:endParaRPr lang="zh-CN" altLang="en-US" sz="6000" spc="450" dirty="0">
              <a:solidFill>
                <a:prstClr val="blac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055864" y="931256"/>
            <a:ext cx="508545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Times New Roman" panose="02020603050405020304" pitchFamily="18" charset="0"/>
              </a:rPr>
              <a:t>  提纲</a:t>
            </a:r>
            <a:endParaRPr lang="zh-CN" altLang="en-US" sz="36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" name="矩形 7"/>
          <p:cNvSpPr>
            <a:spLocks noChangeArrowheads="1"/>
          </p:cNvSpPr>
          <p:nvPr/>
        </p:nvSpPr>
        <p:spPr bwMode="auto">
          <a:xfrm>
            <a:off x="1318385" y="2694643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二、谓词逻辑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24" name="矩形 7"/>
          <p:cNvSpPr>
            <a:spLocks noChangeArrowheads="1"/>
          </p:cNvSpPr>
          <p:nvPr/>
        </p:nvSpPr>
        <p:spPr bwMode="auto">
          <a:xfrm>
            <a:off x="1318385" y="1932804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</a:rPr>
              <a:t>一、命题逻辑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7366" y="5530021"/>
            <a:ext cx="7343336" cy="460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</a:pPr>
            <a:r>
              <a:rPr lang="zh-CN" altLang="en-US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吴飞，</a:t>
            </a: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《</a:t>
            </a:r>
            <a:r>
              <a:rPr lang="zh-CN" altLang="en-US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人工智能导论：模型与算法</a:t>
            </a: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》</a:t>
            </a:r>
            <a:r>
              <a:rPr lang="zh-CN" altLang="en-US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，高等教育出版社 </a:t>
            </a:r>
            <a:endParaRPr lang="en-US" altLang="zh-CN" dirty="0">
              <a:solidFill>
                <a:prstClr val="black"/>
              </a:solidFill>
              <a:latin typeface="Rockwell" panose="02060603020205020403"/>
              <a:ea typeface="方正姚体" panose="02010601030101010101" pitchFamily="2" charset="-122"/>
            </a:endParaRPr>
          </a:p>
          <a:p>
            <a:pPr>
              <a:lnSpc>
                <a:spcPts val="900"/>
              </a:lnSpc>
            </a:pPr>
            <a:endParaRPr lang="en-US" altLang="zh-CN" dirty="0">
              <a:solidFill>
                <a:prstClr val="black"/>
              </a:solidFill>
              <a:latin typeface="Rockwell" panose="02060603020205020403"/>
              <a:ea typeface="方正姚体" panose="02010601030101010101" pitchFamily="2" charset="-122"/>
            </a:endParaRPr>
          </a:p>
          <a:p>
            <a:pPr>
              <a:lnSpc>
                <a:spcPts val="900"/>
              </a:lnSpc>
            </a:pP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MOOC</a:t>
            </a:r>
            <a:r>
              <a:rPr lang="zh-CN" altLang="en-US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：</a:t>
            </a: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  <a:hlinkClick r:id="rId1"/>
              </a:rPr>
              <a:t>https://www.icourse163.org/course/ZJU-1003377027</a:t>
            </a:r>
            <a:endParaRPr lang="zh-CN" altLang="en-US" dirty="0">
              <a:solidFill>
                <a:prstClr val="black"/>
              </a:solidFill>
              <a:latin typeface="Rockwell" panose="02060603020205020403"/>
              <a:ea typeface="方正姚体" panose="02010601030101010101" pitchFamily="2" charset="-122"/>
            </a:endParaRP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1318385" y="3445166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三、知识图谱推理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1318385" y="4270054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四、因果推理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38555" y="1487225"/>
            <a:ext cx="4691574" cy="4217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630" indent="-21463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逻辑是探索、阐述和确立有效推理原则的学科，提出了演绎推理中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三段论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方法的古希腊学者亚里士多德被誉为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逻辑学之父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。一般而言，逻辑是用数学方法来研究关于推理和证明等问题的研究。</a:t>
            </a:r>
            <a:endParaRPr lang="zh-CN" altLang="en-US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gss2.bdstatic.com/9fo3dSag_xI4khGkpoWK1HF6hhy/baike/w%3D268%3Bg%3D0/sign=ade1df00cafcc3ceb4c0ce35aa7eb1b5/d62a6059252dd42ac2c55289013b5bb5c8eab8c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183" y="1930357"/>
            <a:ext cx="1579271" cy="242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5649826" y="4588059"/>
            <a:ext cx="2671215" cy="1153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亚里士多德（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Aristotle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公元前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384-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322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，古代先哲、古希腊人）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955810" y="517606"/>
            <a:ext cx="6820010" cy="75476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逻辑与推理是人工智能的核心问题</a:t>
            </a:r>
            <a:endParaRPr lang="zh-CN" altLang="en-US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97878" y="1397894"/>
            <a:ext cx="4698608" cy="4817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-3619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墨翟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尊称墨子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东方逻辑学奠基人。提出了名、辞、说三种基本思维形式和由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、理、类三物构成的逻辑推理。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60680" indent="-3619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提出一些几何思想，如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平，同高也（两平行线或两平行平面间距离处处相等）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 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圆，一中同长也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gss1.bdstatic.com/-vo3dSag_xI4khGkpoWK1HF6hhy/baike/w%3D268%3Bg%3D0/sign=f3224446ae6eddc426e7b3fd01e0d1c0/3bf33a87e950352a3b8a4fab5043fbf2b3118bae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159" y="1737862"/>
            <a:ext cx="1484333" cy="229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5483845" y="4255948"/>
            <a:ext cx="2622963" cy="128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墨子（生卒年不详，名翟（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dí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），东周春秋末期战国初期宋国人）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955810" y="517606"/>
            <a:ext cx="6820010" cy="75476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逻辑与推理是人工智能的核心问题</a:t>
            </a:r>
            <a:endParaRPr lang="zh-CN" altLang="en-US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955811" y="1409194"/>
            <a:ext cx="7055740" cy="317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人类思维活动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一个重要功能是逻辑推理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逻辑推理，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即通过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演绎和归纳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等手段对现有观测现象进行分析，得出判断。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脱胎于逻辑推理的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符号主义人工智能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是人工智能研究的一种主流学派。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55810" y="517606"/>
            <a:ext cx="6820010" cy="75476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逻辑与推理是人工智能的核心问题</a:t>
            </a:r>
            <a:endParaRPr lang="zh-CN" altLang="en-US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955811" y="1409194"/>
            <a:ext cx="7055740" cy="3694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在符号主义人工智能中，所有概念均可通过人类可理解的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符号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及符号之间的关系来表示。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例如：使用符号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表示对象概念、</a:t>
            </a:r>
            <a:r>
              <a:rPr lang="en-US" altLang="zh-CN" sz="2600" dirty="0" err="1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IsCar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表示某个对象是否为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汽车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，那么</a:t>
            </a:r>
            <a:r>
              <a:rPr lang="en-US" altLang="zh-CN" sz="2600" dirty="0" err="1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IsCar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“A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是一辆轿车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这样的概念。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55810" y="517606"/>
            <a:ext cx="6820010" cy="75476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逻辑与推理是人工智能的核心问题</a:t>
            </a:r>
            <a:endParaRPr lang="zh-CN" altLang="en-US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955811" y="1627241"/>
            <a:ext cx="6820010" cy="2494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符号主义人工智能方法基于如下假设：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可通过逻辑方法来对符号及其关系进行计算，实现逻辑推理，辨析符号所描述内容是否正确。</a:t>
            </a:r>
            <a:endParaRPr lang="zh-CN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55810" y="517606"/>
            <a:ext cx="6820010" cy="75476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逻辑与推理是人工智能的核心问题</a:t>
            </a:r>
            <a:endParaRPr lang="zh-CN" altLang="en-US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4187" y="1364099"/>
            <a:ext cx="7195625" cy="377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命题逻辑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(proposition logic)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应用形式化规则对以符号表示的描述性陈述进行推理的系统。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在命题逻辑中，一个或真或假的描述性陈述被称为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原子命题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对原子命题的内部结构不做任何解析。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若干原子命题可通过</a:t>
            </a:r>
            <a:r>
              <a:rPr lang="zh-CN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逻辑运算符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构成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复合命题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600" b="1" dirty="0">
              <a:solidFill>
                <a:srgbClr val="0066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对话气泡: 圆角矩形 2"/>
          <p:cNvSpPr/>
          <p:nvPr/>
        </p:nvSpPr>
        <p:spPr>
          <a:xfrm>
            <a:off x="1389347" y="5423092"/>
            <a:ext cx="6710126" cy="478302"/>
          </a:xfrm>
          <a:prstGeom prst="wedgeRoundRectCallout">
            <a:avLst>
              <a:gd name="adj1" fmla="val 3891"/>
              <a:gd name="adj2" fmla="val -1095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/>
              <a:t>逻辑非</a:t>
            </a:r>
            <a:r>
              <a:rPr lang="en-US" altLang="zh-CN" sz="2200" dirty="0"/>
              <a:t>NOT</a:t>
            </a:r>
            <a:r>
              <a:rPr lang="zh-CN" altLang="en-US" sz="2200" dirty="0"/>
              <a:t>、逻辑与</a:t>
            </a:r>
            <a:r>
              <a:rPr lang="en-US" altLang="zh-CN" sz="2200" dirty="0"/>
              <a:t>AND</a:t>
            </a:r>
            <a:r>
              <a:rPr lang="zh-CN" altLang="en-US" sz="2200" dirty="0"/>
              <a:t>、逻辑或</a:t>
            </a:r>
            <a:r>
              <a:rPr lang="en-US" altLang="zh-CN" sz="2200" dirty="0"/>
              <a:t>OR</a:t>
            </a:r>
            <a:r>
              <a:rPr lang="zh-CN" altLang="en-US" sz="2200" dirty="0"/>
              <a:t>、逻辑异或</a:t>
            </a:r>
            <a:r>
              <a:rPr lang="en-US" altLang="zh-CN" sz="2200" dirty="0"/>
              <a:t>XOR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186846" y="1979368"/>
                <a:ext cx="5703570" cy="4005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下面给出了五个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陈述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p: 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北京是中国的首都</a:t>
                </a:r>
                <a:endParaRPr lang="zh-CN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 : 13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能被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整除</a:t>
                </a:r>
                <a:endParaRPr lang="zh-CN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 :  x&lt;8</a:t>
                </a:r>
                <a:endParaRPr lang="zh-CN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s:  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存在最大的素数</a:t>
                </a:r>
                <a:endParaRPr lang="zh-CN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  <m:t>𝑚</m:t>
                        </m:r>
                      </m:e>
                      <m:sup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</a:rPr>
                      <m:t>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</a:rPr>
                      <m:t>0</m:t>
                    </m:r>
                  </m:oMath>
                </a14:m>
                <a:endParaRPr lang="zh-CN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846" y="1979368"/>
                <a:ext cx="5703570" cy="4005584"/>
              </a:xfrm>
              <a:prstGeom prst="rect">
                <a:avLst/>
              </a:prstGeom>
              <a:blipFill rotWithShape="1">
                <a:blip r:embed="rId1"/>
                <a:stretch>
                  <a:fillRect l="-1" t="-2" r="1" b="-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2703633" y="1294228"/>
            <a:ext cx="4337245" cy="538032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任何</a:t>
            </a:r>
            <a:r>
              <a:rPr lang="zh-CN" altLang="zh-CN" sz="24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一个命题或为真</a:t>
            </a:r>
            <a:r>
              <a:rPr lang="zh-CN" altLang="en-US" sz="24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或为假</a:t>
            </a:r>
            <a:r>
              <a:rPr lang="zh-CN" altLang="en-US" sz="24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66CC"/>
              </a:solidFill>
              <a:latin typeface="华光魏体_CNKI" panose="02000500000000000000" pitchFamily="2" charset="-122"/>
              <a:ea typeface="华光魏体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00767" y="2562552"/>
            <a:ext cx="2844427" cy="37130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600" b="1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是真命题，</a:t>
            </a: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是假命题。</a:t>
            </a:r>
            <a:endParaRPr lang="en-US" altLang="zh-CN" sz="2600" dirty="0">
              <a:solidFill>
                <a:prstClr val="black"/>
              </a:solidFill>
              <a:latin typeface="华光魏体_CNKI" panose="02000500000000000000" pitchFamily="2" charset="-122"/>
              <a:ea typeface="华光魏体_CNKI" panose="02000500000000000000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的真假依赖于</a:t>
            </a: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的取值，无法判断</a:t>
            </a: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的真假</a:t>
            </a:r>
            <a:r>
              <a:rPr lang="zh-CN" altLang="en-US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，因此</a:t>
            </a:r>
            <a:r>
              <a:rPr lang="en-US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r </a:t>
            </a:r>
            <a:r>
              <a:rPr lang="zh-CN" altLang="en-US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不是命题</a:t>
            </a:r>
            <a:r>
              <a:rPr lang="zh-CN" altLang="zh-CN" sz="2600" dirty="0">
                <a:solidFill>
                  <a:prstClr val="black"/>
                </a:solidFill>
                <a:latin typeface="华光魏体_CNKI" panose="02000500000000000000" pitchFamily="2" charset="-122"/>
                <a:ea typeface="华光魏体_CNKI" panose="02000500000000000000" pitchFamily="2" charset="-122"/>
                <a:cs typeface="Times New Roman" panose="02020603050405020304" pitchFamily="18" charset="0"/>
              </a:rPr>
              <a:t>。</a:t>
            </a:r>
            <a:endParaRPr lang="zh-CN" altLang="zh-CN" sz="2600" dirty="0">
              <a:solidFill>
                <a:prstClr val="black"/>
              </a:solidFill>
              <a:latin typeface="华光魏体_CNKI" panose="02000500000000000000" pitchFamily="2" charset="-122"/>
              <a:ea typeface="华光魏体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04315" y="1887256"/>
            <a:ext cx="6991642" cy="2417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可通过</a:t>
            </a:r>
            <a:r>
              <a:rPr lang="zh-CN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zh-CN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(connectives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）对已有命题进行组合，得到新命题。这些通过命题联结词得到的命题被称为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复合命题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(compound proposition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对话气泡: 圆角矩形 5"/>
          <p:cNvSpPr/>
          <p:nvPr/>
        </p:nvSpPr>
        <p:spPr>
          <a:xfrm>
            <a:off x="1276807" y="1289376"/>
            <a:ext cx="6710126" cy="478302"/>
          </a:xfrm>
          <a:prstGeom prst="wedgeRoundRectCallout">
            <a:avLst>
              <a:gd name="adj1" fmla="val -8584"/>
              <a:gd name="adj2" fmla="val 10073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/>
              <a:t>否定词┐ 、合取词∧ 、析取词</a:t>
            </a:r>
            <a:r>
              <a:rPr lang="el-GR" altLang="zh-CN" sz="2100" dirty="0"/>
              <a:t>ν </a:t>
            </a:r>
            <a:r>
              <a:rPr lang="zh-CN" altLang="en-US" sz="2100" dirty="0"/>
              <a:t>、蕴涵词→ 、等值词～</a:t>
            </a:r>
            <a:endParaRPr lang="zh-CN" alt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/>
              <p:cNvGraphicFramePr>
                <a:graphicFrameLocks noGrp="1"/>
              </p:cNvGraphicFramePr>
              <p:nvPr/>
            </p:nvGraphicFramePr>
            <p:xfrm>
              <a:off x="766689" y="2025722"/>
              <a:ext cx="7554352" cy="45166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143"/>
                    <a:gridCol w="1393046"/>
                    <a:gridCol w="4409163"/>
                  </a:tblGrid>
                  <a:tr h="5607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命题连接符号</a:t>
                          </a:r>
                          <a:endParaRPr lang="zh-CN" altLang="en-US" sz="21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表示形式</a:t>
                          </a:r>
                          <a:endParaRPr lang="zh-CN" altLang="en-US" sz="21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意义</a:t>
                          </a:r>
                          <a:endParaRPr lang="zh-CN" altLang="en-US" sz="21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683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与</a:t>
                          </a:r>
                          <a:endParaRPr lang="en-US" altLang="zh-CN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(and)</a:t>
                          </a:r>
                          <a:endParaRPr lang="zh-CN" altLang="en-US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⋀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命题合取</a:t>
                          </a:r>
                          <a:r>
                            <a:rPr lang="en-US" altLang="zh-CN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(conjunction)</a:t>
                          </a: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，即“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683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或</a:t>
                          </a:r>
                          <a:endParaRPr lang="en-US" altLang="zh-CN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(or)</a:t>
                          </a:r>
                          <a:endParaRPr lang="zh-CN" altLang="en-US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⋁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命题析取</a:t>
                          </a:r>
                          <a:r>
                            <a:rPr lang="en-US" altLang="zh-CN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(disjunction)</a:t>
                          </a: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，即“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zh-CN" altLang="en-US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或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01137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非</a:t>
                          </a:r>
                          <a:endParaRPr lang="en-US" altLang="zh-CN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not</a:t>
                          </a: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）</a:t>
                          </a:r>
                          <a:endParaRPr lang="zh-CN" altLang="en-US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命题否定</a:t>
                          </a:r>
                          <a:r>
                            <a:rPr lang="en-US" altLang="zh-CN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(negation)</a:t>
                          </a: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，即“非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68377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条件</a:t>
                          </a:r>
                          <a:endParaRPr lang="en-US" altLang="zh-CN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(conditional)</a:t>
                          </a:r>
                          <a:endParaRPr lang="zh-CN" altLang="en-US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命题蕴含</a:t>
                          </a:r>
                          <a:r>
                            <a:rPr lang="en-US" altLang="zh-CN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(implication)</a:t>
                          </a: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，即“如果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zh-CN" altLang="en-US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则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956996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双向条件</a:t>
                          </a:r>
                          <a:endParaRPr lang="en-US" altLang="zh-CN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(bi-conditional)</a:t>
                          </a:r>
                          <a:endParaRPr lang="zh-CN" altLang="en-US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↔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命题双向蕴含</a:t>
                          </a:r>
                          <a:r>
                            <a:rPr lang="en-US" altLang="zh-CN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(bi-implication)</a:t>
                          </a:r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，即“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zh-CN" altLang="en-US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当且仅当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1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1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altLang="en-US" sz="21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/>
              <p:cNvGraphicFramePr>
                <a:graphicFrameLocks noGrp="1"/>
              </p:cNvGraphicFramePr>
              <p:nvPr/>
            </p:nvGraphicFramePr>
            <p:xfrm>
              <a:off x="766689" y="2025722"/>
              <a:ext cx="7554352" cy="45166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143"/>
                    <a:gridCol w="1393046"/>
                    <a:gridCol w="4409163"/>
                  </a:tblGrid>
                  <a:tr h="5607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命题连接符号</a:t>
                          </a:r>
                          <a:endParaRPr lang="zh-CN" altLang="en-US" sz="21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表示形式</a:t>
                          </a:r>
                          <a:endParaRPr lang="zh-CN" altLang="en-US" sz="21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意义</a:t>
                          </a:r>
                          <a:endParaRPr lang="zh-CN" altLang="en-US" sz="21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086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与</a:t>
                          </a:r>
                          <a:endParaRPr lang="en-US" altLang="zh-CN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(and)</a:t>
                          </a:r>
                          <a:endParaRPr lang="zh-CN" altLang="en-US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169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或</a:t>
                          </a:r>
                          <a:endParaRPr lang="en-US" altLang="zh-CN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(or)</a:t>
                          </a:r>
                          <a:endParaRPr lang="zh-CN" altLang="en-US" sz="21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801370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非</a:t>
                          </a:r>
                          <a:endParaRPr lang="en-US" altLang="zh-CN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not</a:t>
                          </a: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）</a:t>
                          </a:r>
                          <a:endParaRPr lang="zh-CN" altLang="en-US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16915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条件</a:t>
                          </a:r>
                          <a:endParaRPr lang="en-US" altLang="zh-CN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(conditional)</a:t>
                          </a:r>
                          <a:endParaRPr lang="zh-CN" altLang="en-US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zh-CN" altLang="en-US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双向条件</a:t>
                          </a:r>
                          <a:endParaRPr lang="en-US" altLang="zh-CN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ctr" defTabSz="685800" rtl="0" eaLnBrk="1" latinLnBrk="0" hangingPunct="1">
                            <a:lnSpc>
                              <a:spcPct val="100000"/>
                            </a:lnSpc>
                          </a:pPr>
                          <a:r>
                            <a:rPr lang="en-US" altLang="zh-CN" sz="2100" b="1" kern="12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(bi-conditional)</a:t>
                          </a:r>
                          <a:endParaRPr lang="zh-CN" altLang="en-US" sz="2100" b="1" kern="12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66689" y="1230922"/>
                <a:ext cx="7163973" cy="616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假设存在命题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，介绍五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种</a:t>
                </a:r>
                <a:r>
                  <a:rPr lang="zh-CN" altLang="zh-CN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命题联结词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89" y="1230922"/>
                <a:ext cx="7163973" cy="616579"/>
              </a:xfrm>
              <a:prstGeom prst="rect">
                <a:avLst/>
              </a:prstGeom>
              <a:blipFill rotWithShape="1">
                <a:blip r:embed="rId2"/>
                <a:stretch>
                  <a:fillRect l="-3" t="-47" r="2" b="-37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64761" y="1305119"/>
            <a:ext cx="651955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 algn="just"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通过真值表来计算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复合命题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的真假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1164761" y="2102312"/>
              <a:ext cx="6815795" cy="29518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7639"/>
                    <a:gridCol w="875130"/>
                    <a:gridCol w="939008"/>
                    <a:gridCol w="1098703"/>
                    <a:gridCol w="1105091"/>
                    <a:gridCol w="1041213"/>
                    <a:gridCol w="939011"/>
                  </a:tblGrid>
                  <a:tr h="60023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q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⋀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⇒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⇔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18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01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1489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altLang="zh-CN" sz="22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51780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altLang="zh-CN" sz="22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1164761" y="2102312"/>
              <a:ext cx="6815795" cy="29518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7639"/>
                    <a:gridCol w="875130"/>
                    <a:gridCol w="939008"/>
                    <a:gridCol w="1098703"/>
                    <a:gridCol w="1105091"/>
                    <a:gridCol w="1041213"/>
                    <a:gridCol w="939011"/>
                  </a:tblGrid>
                  <a:tr h="6000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518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01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1489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altLang="zh-CN" sz="22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51780"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altLang="zh-CN" sz="22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True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82683" y="1352845"/>
            <a:ext cx="693478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</a:t>
            </a:r>
            <a:r>
              <a:rPr lang="en-US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命题联结词中前提为假时命题真假取值</a:t>
            </a:r>
            <a:endParaRPr lang="zh-CN" altLang="zh-CN" sz="26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182683" y="1903755"/>
                <a:ext cx="6934786" cy="36943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6700" indent="-266700" algn="just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“如果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⟶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定义的是一种</a:t>
                </a: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蕴涵关系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（即充分条件），即命题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包含命题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Rockwell" panose="02060603020205020403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的子集）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66700" indent="-266700" algn="just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不成立相当于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是一个空集，空集可被其他所有集合所包含，因此当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不成立时，“如果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永远为真。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683" y="1903755"/>
                <a:ext cx="6934786" cy="3694345"/>
              </a:xfrm>
              <a:prstGeom prst="rect">
                <a:avLst/>
              </a:prstGeom>
              <a:blipFill rotWithShape="1">
                <a:blip r:embed="rId1"/>
                <a:stretch>
                  <a:fillRect l="-5" t="-1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6545319" y="5012713"/>
            <a:ext cx="1835834" cy="1728887"/>
            <a:chOff x="5023262" y="3232783"/>
            <a:chExt cx="1828800" cy="1213978"/>
          </a:xfrm>
        </p:grpSpPr>
        <p:sp>
          <p:nvSpPr>
            <p:cNvPr id="3" name="圆角矩形 2"/>
            <p:cNvSpPr/>
            <p:nvPr/>
          </p:nvSpPr>
          <p:spPr>
            <a:xfrm>
              <a:off x="5023262" y="3232783"/>
              <a:ext cx="1828800" cy="121397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solidFill>
                  <a:prstClr val="black"/>
                </a:solidFill>
                <a:latin typeface="Rockwell" panose="02060603020205020403"/>
                <a:ea typeface="黑体" panose="02010609060101010101" pitchFamily="49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189516" y="3483512"/>
              <a:ext cx="1021278" cy="71252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solidFill>
                  <a:prstClr val="black"/>
                </a:solidFill>
                <a:latin typeface="Rockwell" panose="02060603020205020403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5515841" y="3655106"/>
                  <a:ext cx="434991" cy="300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 dirty="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𝑝</m:t>
                        </m:r>
                      </m:oMath>
                    </m:oMathPara>
                  </a14:m>
                  <a:endParaRPr lang="zh-CN" altLang="en-US" sz="1350" dirty="0">
                    <a:solidFill>
                      <a:prstClr val="black"/>
                    </a:solidFill>
                    <a:latin typeface="Rockwell" panose="02060603020205020403"/>
                    <a:ea typeface="方正姚体" panose="02010601030101010101" pitchFamily="2" charset="-122"/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5841" y="3655106"/>
                  <a:ext cx="434991" cy="30008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6322885" y="3446833"/>
                  <a:ext cx="434907" cy="300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 dirty="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1350" dirty="0">
                    <a:solidFill>
                      <a:prstClr val="black"/>
                    </a:solidFill>
                    <a:latin typeface="Rockwell" panose="02060603020205020403"/>
                    <a:ea typeface="方正姚体" panose="02010601030101010101" pitchFamily="2" charset="-122"/>
                  </a:endParaRPr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2885" y="3446833"/>
                  <a:ext cx="434907" cy="30008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230923" y="1417358"/>
                <a:ext cx="6808763" cy="24940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逻辑等价：</a:t>
                </a:r>
                <a:endParaRPr lang="en-US" altLang="zh-CN" sz="2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给定命题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和命题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在所有情况下都具有同样真假结果，那么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在逻辑上等价，一般用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≡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来表示，即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923" y="1417358"/>
                <a:ext cx="6808763" cy="2494016"/>
              </a:xfrm>
              <a:prstGeom prst="rect">
                <a:avLst/>
              </a:prstGeom>
              <a:blipFill rotWithShape="1">
                <a:blip r:embed="rId1"/>
                <a:stretch>
                  <a:fillRect l="-4" t="-2" r="9" b="-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1058996" y="1849054"/>
              <a:ext cx="7142466" cy="4247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5214"/>
                    <a:gridCol w="3877252"/>
                  </a:tblGrid>
                  <a:tr h="63389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⋀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⋀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⋀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的交互律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⇒</m:t>
                              </m:r>
                              <m: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000" b="0" i="0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  <m:r>
                                <a:rPr lang="zh-CN" altLang="en-US" sz="2000" b="0" i="0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000" b="0" i="0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β</m:t>
                              </m:r>
                              <m:r>
                                <a:rPr lang="zh-CN" altLang="en-US" sz="2000" b="0" i="0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蕴涵消除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CN" sz="2000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47435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的交互律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⟺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⇒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⇒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sz="2000" b="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双向消除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47731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∧(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的结合律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∧</m:t>
                                  </m:r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∨¬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(De Morgan)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47731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的结合律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∨</m:t>
                                    </m:r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∧¬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(De Morgan)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9173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¬</m:t>
                                  </m:r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双重否定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对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 ∨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的分配律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477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 smtClean="0"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i="1" smtClean="0"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⇒</m:t>
                                    </m:r>
                                    <m:r>
                                      <a:rPr lang="zh-CN" altLang="en-US" sz="2000" i="1" smtClean="0"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zh-CN" altLang="en-US" sz="200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⇒¬</m:t>
                                </m:r>
                                <m:r>
                                  <a:rPr lang="zh-CN" altLang="en-US" sz="200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highlight>
                              <a:srgbClr val="FFFF00"/>
                            </a:highlight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sz="2000" dirty="0">
                              <a:highlight>
                                <a:srgbClr val="FFFF00"/>
                              </a:highlight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2000" dirty="0">
                              <a:highlight>
                                <a:srgbClr val="FFFF00"/>
                              </a:highlight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逆否命题</a:t>
                          </a:r>
                          <a:r>
                            <a:rPr lang="en-US" altLang="zh-CN" sz="2000" dirty="0">
                              <a:highlight>
                                <a:srgbClr val="FFFF00"/>
                              </a:highlight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CN" sz="2000" dirty="0">
                            <a:highlight>
                              <a:srgbClr val="FFFF00"/>
                            </a:highlight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∧</m:t>
                                  </m:r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∧(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对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的分配律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1058996" y="1849054"/>
              <a:ext cx="7142466" cy="4247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65214"/>
                    <a:gridCol w="3877252"/>
                  </a:tblGrid>
                  <a:tr h="6337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6781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480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4739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6921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4739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矩形 2"/>
          <p:cNvSpPr/>
          <p:nvPr/>
        </p:nvSpPr>
        <p:spPr>
          <a:xfrm>
            <a:off x="1206710" y="1356611"/>
            <a:ext cx="280717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逻辑等价的例子</a:t>
            </a:r>
            <a:endParaRPr lang="zh-CN" altLang="en-US" sz="2600" dirty="0">
              <a:solidFill>
                <a:prstClr val="black"/>
              </a:solidFill>
              <a:latin typeface="Rockwell" panose="02060603020205020403"/>
              <a:ea typeface="方正姚体" panose="0201060103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59685" y="508216"/>
            <a:ext cx="6224630" cy="78601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1116644" y="1876005"/>
              <a:ext cx="6838636" cy="4680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3922"/>
                    <a:gridCol w="4304714"/>
                  </a:tblGrid>
                  <a:tr h="532359">
                    <a:tc row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⇒</m:t>
                                    </m:r>
                                    <m:r>
                                      <a:rPr lang="zh-CN" alt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⇒¬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逆否命题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秋天天气变凉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大雁南飞越冬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大雁没有南飞越冬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秋天天气没有变凉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03035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⇒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oMath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61682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⇒</m:t>
                                    </m:r>
                                    <m:r>
                                      <a:rPr lang="zh-CN" alt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α</m:t>
                                </m:r>
                                <m:r>
                                  <a:rPr lang="zh-CN" altLang="en-US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β</m:t>
                                </m:r>
                              </m:oMath>
                            </m:oMathPara>
                          </a14:m>
                          <a:endParaRPr lang="en-US" altLang="zh-CN" sz="2000" b="0" i="0" dirty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蕴涵消除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为假、则命题恒为真；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为真、则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zh-CN" alt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β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须为真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13667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∧</m:t>
                                    </m:r>
                                    <m:r>
                                      <a:rPr lang="zh-CN" altLang="en-US" sz="20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∨¬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(De Morgan)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CN" sz="20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49213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zh-CN" altLang="en-US" sz="20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∧¬</m:t>
                              </m:r>
                              <m:r>
                                <a:rPr lang="zh-CN" altLang="en-US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(De Morgan)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CN" sz="20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/>
            </p:nvGraphicFramePr>
            <p:xfrm>
              <a:off x="1116644" y="1876005"/>
              <a:ext cx="6838636" cy="4680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3922"/>
                    <a:gridCol w="4304714"/>
                  </a:tblGrid>
                  <a:tr h="67818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386715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7613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4401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CN" sz="20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4922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altLang="zh-CN" sz="20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18" name="组合 17"/>
          <p:cNvGrpSpPr/>
          <p:nvPr/>
        </p:nvGrpSpPr>
        <p:grpSpPr>
          <a:xfrm>
            <a:off x="4838207" y="5304674"/>
            <a:ext cx="1464734" cy="1080120"/>
            <a:chOff x="4932040" y="2674372"/>
            <a:chExt cx="1805407" cy="1080120"/>
          </a:xfrm>
        </p:grpSpPr>
        <p:sp>
          <p:nvSpPr>
            <p:cNvPr id="19" name="圆角矩形 18"/>
            <p:cNvSpPr/>
            <p:nvPr/>
          </p:nvSpPr>
          <p:spPr>
            <a:xfrm>
              <a:off x="5009255" y="2674372"/>
              <a:ext cx="1728192" cy="108012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Rockwell" panose="02060603020205020403"/>
                <a:ea typeface="方正姚体" panose="02010601030101010101" pitchFamily="2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5004048" y="2708920"/>
              <a:ext cx="1661060" cy="1008112"/>
              <a:chOff x="2267744" y="2348880"/>
              <a:chExt cx="3099400" cy="1783237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2267744" y="2348880"/>
                <a:ext cx="1872208" cy="15841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prstClr val="white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3195133" y="2348880"/>
                <a:ext cx="1872208" cy="15841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prstClr val="white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4526847" y="3905943"/>
                <a:ext cx="484362" cy="22617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07028" y="2715777"/>
                    <a:ext cx="939161" cy="6124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35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  <m:t>𝛼</m:t>
                          </m:r>
                        </m:oMath>
                      </m:oMathPara>
                    </a14:m>
                    <a:endParaRPr lang="zh-CN" altLang="en-US" sz="1350" dirty="0">
                      <a:solidFill>
                        <a:prstClr val="black"/>
                      </a:solidFill>
                      <a:latin typeface="Rockwell" panose="02060603020205020403"/>
                      <a:ea typeface="方正姚体" panose="02010601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7028" y="2715777"/>
                    <a:ext cx="939161" cy="612475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4427983" y="2733276"/>
                    <a:ext cx="939161" cy="6124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35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  <m:t>𝛽</m:t>
                          </m:r>
                        </m:oMath>
                      </m:oMathPara>
                    </a14:m>
                    <a:endParaRPr lang="zh-CN" altLang="en-US" sz="1350" dirty="0">
                      <a:solidFill>
                        <a:prstClr val="black"/>
                      </a:solidFill>
                      <a:latin typeface="Rockwell" panose="02060603020205020403"/>
                      <a:ea typeface="方正姚体" panose="02010601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7983" y="2733276"/>
                    <a:ext cx="939161" cy="612475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" name="直接连接符 20"/>
            <p:cNvCxnSpPr/>
            <p:nvPr/>
          </p:nvCxnSpPr>
          <p:spPr>
            <a:xfrm>
              <a:off x="6444208" y="3373879"/>
              <a:ext cx="216024" cy="64916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372200" y="3501008"/>
              <a:ext cx="216024" cy="64916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6444208" y="2908790"/>
              <a:ext cx="216024" cy="8816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V="1">
              <a:off x="6372200" y="2708920"/>
              <a:ext cx="216024" cy="8816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4958683" y="3501008"/>
              <a:ext cx="261389" cy="8816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5004048" y="2674372"/>
              <a:ext cx="204129" cy="10239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5666345" y="3573016"/>
              <a:ext cx="259584" cy="12786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932040" y="2780928"/>
              <a:ext cx="201800" cy="11170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436096" y="3605324"/>
              <a:ext cx="201800" cy="11170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5277856" y="3573016"/>
              <a:ext cx="10497" cy="144016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4871545" y="3795310"/>
            <a:ext cx="1402089" cy="1198934"/>
            <a:chOff x="4600705" y="3312622"/>
            <a:chExt cx="1314318" cy="1080120"/>
          </a:xfrm>
        </p:grpSpPr>
        <p:sp>
          <p:nvSpPr>
            <p:cNvPr id="36" name="圆角矩形 35"/>
            <p:cNvSpPr/>
            <p:nvPr/>
          </p:nvSpPr>
          <p:spPr>
            <a:xfrm>
              <a:off x="4600705" y="3312622"/>
              <a:ext cx="1296144" cy="108012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Rockwell" panose="02060603020205020403"/>
                <a:ea typeface="方正姚体" panose="02010601030101010101" pitchFamily="2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4618879" y="3384630"/>
              <a:ext cx="1296144" cy="895577"/>
              <a:chOff x="2133383" y="2348880"/>
              <a:chExt cx="3224661" cy="1584176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2267744" y="2348880"/>
                <a:ext cx="1872208" cy="15841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prstClr val="white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3195133" y="2348880"/>
                <a:ext cx="1872208" cy="15841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prstClr val="white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4269323" y="3215361"/>
                <a:ext cx="1088721" cy="39970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133383" y="2513811"/>
                <a:ext cx="1194697" cy="136029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2328851" y="2826421"/>
                <a:ext cx="864096" cy="255291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3916958" y="2559584"/>
                <a:ext cx="1320996" cy="0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2133383" y="3487420"/>
                <a:ext cx="1107623" cy="12764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>
                <a:endCxn id="36" idx="3"/>
              </p:cNvCxnSpPr>
              <p:nvPr/>
            </p:nvCxnSpPr>
            <p:spPr>
              <a:xfrm>
                <a:off x="4094739" y="3485862"/>
                <a:ext cx="1218092" cy="25887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2607027" y="2715776"/>
                    <a:ext cx="839413" cy="5308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35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  <m:t>𝛼</m:t>
                          </m:r>
                        </m:oMath>
                      </m:oMathPara>
                    </a14:m>
                    <a:endParaRPr lang="zh-CN" altLang="en-US" sz="1350" dirty="0">
                      <a:solidFill>
                        <a:prstClr val="black"/>
                      </a:solidFill>
                      <a:latin typeface="Rockwell" panose="02060603020205020403"/>
                      <a:ea typeface="方正姚体" panose="02010601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7027" y="2715776"/>
                    <a:ext cx="839413" cy="530812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4427984" y="2733277"/>
                    <a:ext cx="839413" cy="5308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35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  <m:t>𝛽</m:t>
                          </m:r>
                        </m:oMath>
                      </m:oMathPara>
                    </a14:m>
                    <a:endParaRPr lang="zh-CN" altLang="en-US" sz="1350" dirty="0">
                      <a:solidFill>
                        <a:prstClr val="black"/>
                      </a:solidFill>
                      <a:latin typeface="Rockwell" panose="02060603020205020403"/>
                      <a:ea typeface="方正姚体" panose="02010601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7984" y="2733277"/>
                    <a:ext cx="839413" cy="530812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8" name="直接连接符 47"/>
            <p:cNvCxnSpPr/>
            <p:nvPr/>
          </p:nvCxnSpPr>
          <p:spPr>
            <a:xfrm>
              <a:off x="5463454" y="4027396"/>
              <a:ext cx="379164" cy="442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V="1">
              <a:off x="4697448" y="3857983"/>
              <a:ext cx="401638" cy="213701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5432458" y="4100438"/>
              <a:ext cx="179432" cy="112535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标题 1"/>
          <p:cNvSpPr txBox="1"/>
          <p:nvPr/>
        </p:nvSpPr>
        <p:spPr>
          <a:xfrm>
            <a:off x="1459685" y="508216"/>
            <a:ext cx="6224630" cy="786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6644" y="1228347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若干逻辑等价命题的解释 </a:t>
            </a:r>
            <a:endParaRPr lang="zh-CN" alt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579421" y="901413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命题逻辑中的推理规则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/>
            </p:nvGraphicFramePr>
            <p:xfrm>
              <a:off x="1579421" y="2113174"/>
              <a:ext cx="6185945" cy="33004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4672"/>
                    <a:gridCol w="2951273"/>
                  </a:tblGrid>
                  <a:tr h="10587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假言推理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(Modus Ponens)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 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a:rPr lang="zh-CN" alt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β</m:t>
                                        </m:r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,  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β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24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0587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与消解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(And-Elimination)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   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∧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…</m:t>
                                        </m:r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∧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Times New Roman" panose="020206030504050203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Times New Roman" panose="020206030504050203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24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0587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与导入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(And-Introduction)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   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…</m:t>
                                        </m:r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∧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…</m:t>
                                        </m:r>
                                        <m:r>
                                          <a:rPr lang="en-US" altLang="zh-CN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  <a:cs typeface="Times New Roman" panose="02020603050405020304" pitchFamily="18" charset="0"/>
                                          </a:rPr>
                                          <m:t>∧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/>
                                                <a:ea typeface="黑体" panose="02010609060101010101" pitchFamily="49" charset="-122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24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/>
            </p:nvGraphicFramePr>
            <p:xfrm>
              <a:off x="1579421" y="2113174"/>
              <a:ext cx="6185945" cy="33004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4672"/>
                    <a:gridCol w="2951273"/>
                  </a:tblGrid>
                  <a:tr h="1165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假言推理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(Modus Ponens)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165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与消解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(And-Elimination)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165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与导入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(And-Introduction)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/>
            </p:nvGraphicFramePr>
            <p:xfrm>
              <a:off x="1294410" y="1490121"/>
              <a:ext cx="6555179" cy="48996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3237"/>
                    <a:gridCol w="3671942"/>
                  </a:tblGrid>
                  <a:tr h="11550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30000"/>
                            </a:lnSpc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双重否定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3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(Double-Negation</a:t>
                          </a:r>
                          <a:r>
                            <a:rPr lang="en-US" altLang="zh-CN" sz="2400" b="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Elimination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¬¬</m:t>
                                    </m:r>
                                    <m:r>
                                      <a:rPr lang="zh-CN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zh-CN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1550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单项消解或单项归结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(Unit Resolution)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  <m:r>
                                      <a:rPr lang="zh-CN" altLang="en-US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∨</m:t>
                                    </m:r>
                                    <m:r>
                                      <a:rPr lang="zh-CN" altLang="en-US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,¬</m:t>
                                    </m:r>
                                    <m:r>
                                      <a:rPr lang="zh-CN" altLang="en-US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zh-CN" altLang="en-US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9829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消解或归结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(Resolution)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,¬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…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, ¬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…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…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400" i="1" dirty="0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/>
            </p:nvGraphicFramePr>
            <p:xfrm>
              <a:off x="1294410" y="1490121"/>
              <a:ext cx="6555179" cy="48996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3237"/>
                    <a:gridCol w="3671942"/>
                  </a:tblGrid>
                  <a:tr h="14935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30000"/>
                            </a:lnSpc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双重否定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3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(Double-Negation</a:t>
                          </a:r>
                          <a:r>
                            <a:rPr lang="en-US" altLang="zh-CN" sz="2400" b="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Elimination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1658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单项消解或单项归结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(Unit Resolution)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2335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消解或归结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(Resolution)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756610" y="859211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命题逻辑中的推理规则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627231" y="833690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应用归结法进行证明 </a:t>
            </a:r>
            <a:r>
              <a:rPr lang="en-US" altLang="zh-CN" sz="3200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(1)</a:t>
            </a:r>
            <a:endParaRPr lang="zh-CN" altLang="en-US" sz="3200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0" name="同侧圆角矩形 4"/>
          <p:cNvSpPr/>
          <p:nvPr/>
        </p:nvSpPr>
        <p:spPr>
          <a:xfrm>
            <a:off x="1188387" y="3887200"/>
            <a:ext cx="2269705" cy="37779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5738" tIns="92869" rIns="185738" bIns="92869" numCol="1" spcCol="1270" anchor="ctr" anchorCtr="0">
            <a:noAutofit/>
          </a:bodyPr>
          <a:lstStyle/>
          <a:p>
            <a:pPr marL="0" lvl="1" algn="ctr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Knowledge base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076126" y="4483576"/>
                <a:ext cx="26345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已知如上命题成立，</a:t>
                </a:r>
                <a:endPara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请证明命题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是成立的</a:t>
                </a:r>
                <a:endPara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26" y="4483576"/>
                <a:ext cx="2634504" cy="707886"/>
              </a:xfrm>
              <a:prstGeom prst="rect">
                <a:avLst/>
              </a:prstGeom>
              <a:blipFill rotWithShape="1">
                <a:blip r:embed="rId1"/>
                <a:stretch>
                  <a:fillRect l="-17" t="-67" r="12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382332" y="1734464"/>
              <a:ext cx="1881816" cy="19341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6776"/>
                    <a:gridCol w="1425040"/>
                  </a:tblGrid>
                  <a:tr h="6997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⇒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⇒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382332" y="1734464"/>
              <a:ext cx="1881816" cy="19341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6776"/>
                    <a:gridCol w="1425040"/>
                  </a:tblGrid>
                  <a:tr h="6997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4002258" y="1559577"/>
              <a:ext cx="3953355" cy="4677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131"/>
                    <a:gridCol w="1248229"/>
                    <a:gridCol w="2215995"/>
                  </a:tblGrid>
                  <a:tr h="52399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进行蕴涵消除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蕴涵消除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i="1" smtClean="0"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假设命题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i="1" smtClean="0"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不成立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617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假设不成立，命题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成立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4002258" y="1559577"/>
              <a:ext cx="3953355" cy="4677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131"/>
                    <a:gridCol w="1248229"/>
                    <a:gridCol w="2215995"/>
                  </a:tblGrid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进行蕴涵消除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蕴涵消除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</a:blipFill>
                      </a:tcPr>
                    </a:tc>
                    <a:tc hMerge="1">
                      <a:tcPr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68861" y="4721271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证明如上命题集是不可满足的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439325" y="1635454"/>
              <a:ext cx="2177986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666"/>
                    <a:gridCol w="1649320"/>
                  </a:tblGrid>
                  <a:tr h="4658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∨¬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∨¬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439325" y="1635454"/>
              <a:ext cx="2177986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666"/>
                    <a:gridCol w="1649320"/>
                  </a:tblGrid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6172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4349808" y="1535634"/>
              <a:ext cx="3802420" cy="47109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0455"/>
                    <a:gridCol w="1467720"/>
                    <a:gridCol w="1864245"/>
                  </a:tblGrid>
                  <a:tr h="6997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∨¬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800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¬</m:t>
                                </m:r>
                                <m:r>
                                  <a:rPr lang="zh-CN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152430">
                    <a:tc gridSpan="3"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因此，从该命题集中同时推出命题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和命题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¬</m:t>
                              </m:r>
                              <m:r>
                                <a:rPr lang="zh-CN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，因此原命题集是不可满足的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4349808" y="1535634"/>
              <a:ext cx="3802420" cy="47109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0455"/>
                    <a:gridCol w="1467720"/>
                    <a:gridCol w="1864245"/>
                  </a:tblGrid>
                  <a:tr h="6997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已知</a:t>
                          </a:r>
                          <a:endParaRPr lang="zh-CN" altLang="en-US" sz="20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5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和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进行归结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44018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</a:blipFill>
                      </a:tcPr>
                    </a:tc>
                    <a:tc hMerge="1">
                      <a:tcPr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cPr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627231" y="833690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应用归结法进行证明 </a:t>
            </a:r>
            <a:r>
              <a:rPr lang="en-US" altLang="zh-CN" sz="3200" b="1" dirty="0">
                <a:solidFill>
                  <a:srgbClr val="C00000"/>
                </a:solidFill>
                <a:latin typeface="+mj-ea"/>
                <a:cs typeface="Times New Roman" panose="02020603050405020304" pitchFamily="18" charset="0"/>
              </a:rPr>
              <a:t>(2)</a:t>
            </a:r>
            <a:endParaRPr lang="zh-CN" altLang="en-US" sz="3200" b="1" dirty="0">
              <a:solidFill>
                <a:srgbClr val="C00000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5" name="同侧圆角矩形 4"/>
          <p:cNvSpPr/>
          <p:nvPr/>
        </p:nvSpPr>
        <p:spPr>
          <a:xfrm>
            <a:off x="1393465" y="4223905"/>
            <a:ext cx="2269705" cy="37779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5738" tIns="92869" rIns="185738" bIns="92869" numCol="1" spcCol="1270" anchor="ctr" anchorCtr="0">
            <a:noAutofit/>
          </a:bodyPr>
          <a:lstStyle/>
          <a:p>
            <a:pPr marL="0" lvl="1" algn="ctr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Knowledge base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318386" y="1051329"/>
            <a:ext cx="508545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Times New Roman" panose="02020603050405020304" pitchFamily="18" charset="0"/>
              </a:rPr>
              <a:t>提纲</a:t>
            </a:r>
            <a:endParaRPr lang="zh-CN" altLang="en-US" sz="32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" name="矩形 7"/>
          <p:cNvSpPr>
            <a:spLocks noChangeArrowheads="1"/>
          </p:cNvSpPr>
          <p:nvPr/>
        </p:nvSpPr>
        <p:spPr bwMode="auto">
          <a:xfrm>
            <a:off x="1318385" y="2694643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二、谓词逻辑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24" name="矩形 7"/>
          <p:cNvSpPr>
            <a:spLocks noChangeArrowheads="1"/>
          </p:cNvSpPr>
          <p:nvPr/>
        </p:nvSpPr>
        <p:spPr bwMode="auto">
          <a:xfrm>
            <a:off x="1318385" y="1932804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</a:rPr>
              <a:t>一、命题逻辑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1318385" y="3445166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三、知识图谱推理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1318385" y="4270054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四、因果推理</a:t>
            </a:r>
            <a:endParaRPr kumimoji="0" lang="zh-CN" altLang="en-US" sz="2800" b="1" dirty="0">
              <a:solidFill>
                <a:srgbClr val="C00000"/>
              </a:solidFill>
              <a:latin typeface="Rockwell" panose="02060603020205020403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97188" y="837478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从命题逻辑到谓词逻辑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95754" y="1682465"/>
            <a:ext cx="6752492" cy="2417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命题逻辑的局限性：命题逻辑中，每个陈述句是原子命题，无法进行分解。因此在命题逻辑中，不能表达局部与整体、一般与个别的关系。</a:t>
            </a:r>
            <a:endParaRPr lang="zh-CN" altLang="en-US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97188" y="837478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从命题逻辑到谓词逻辑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195754" y="1598057"/>
                <a:ext cx="6752492" cy="4602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例如，对于苏格拉底论断，虽知其正确的，但无法通过命题逻辑来进行推理判断</a:t>
                </a:r>
                <a:endParaRPr lang="zh-CN" altLang="en-US" sz="2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600" i="1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：所有的人总是要死的</a:t>
                </a:r>
                <a:endParaRPr lang="zh-CN" altLang="en-US" sz="2600" i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zh-CN" altLang="en-US" sz="2600" i="1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：苏格拉底是人</a:t>
                </a:r>
                <a:endParaRPr lang="zh-CN" altLang="en-US" sz="2600" i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𝛾</m:t>
                    </m:r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en-US" sz="2600" i="1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所以苏格拉底是要死的</a:t>
                </a:r>
                <a:endParaRPr lang="en-US" altLang="zh-CN" sz="2600" i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600" dirty="0">
                    <a:solidFill>
                      <a:prstClr val="black"/>
                    </a:solidFill>
                    <a:latin typeface="Rockwell" panose="02060603020205020403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</m:t>
                    </m:r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𝛽</m:t>
                    </m:r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altLang="zh-CN" sz="26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（不是命题逻辑的有效推理）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6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6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无法在命题逻辑基础上完成这样的推导</a:t>
                </a:r>
                <a:endParaRPr lang="en-US" altLang="zh-CN" sz="26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754" y="1598057"/>
                <a:ext cx="6752492" cy="4602286"/>
              </a:xfrm>
              <a:prstGeom prst="rect">
                <a:avLst/>
              </a:prstGeom>
              <a:blipFill rotWithShape="1">
                <a:blip r:embed="rId1"/>
                <a:stretch>
                  <a:fillRect l="-1" t="-9" r="-94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731520" y="1441858"/>
                <a:ext cx="7215629" cy="51255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zh-CN" altLang="en-US" sz="26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大象</a:t>
                </a:r>
                <a:r>
                  <a:rPr lang="zh-CN" altLang="en-US" sz="2600" i="1" u="sng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6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哺乳动物</a:t>
                </a:r>
                <a:endParaRPr lang="en-US" altLang="zh-CN" sz="26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zh-CN" altLang="en-US" sz="26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大象</a:t>
                </a:r>
                <a:r>
                  <a:rPr lang="zh-CN" altLang="en-US" sz="2600" i="1" u="sng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6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一种</a:t>
                </a:r>
                <a:r>
                  <a:rPr lang="zh-CN" altLang="en-US" sz="2600" i="1" u="sng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最大的</a:t>
                </a:r>
                <a:r>
                  <a:rPr lang="zh-CN" altLang="en-US" sz="26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哺乳动物</a:t>
                </a:r>
                <a:endParaRPr lang="en-US" altLang="zh-CN" sz="26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解决思路：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不同原子命题蕴含个体、群体和关系等内在丰富语义，命题逻辑无法表现内在丰富语义。因此，需要分析原子命题，分离其主语（个体或群体）和谓语（关系）</a:t>
                </a:r>
                <a:endParaRPr lang="en-US" altLang="zh-CN" sz="26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需要引入更加强大的逻辑表示方法，即谓词逻辑</a:t>
                </a:r>
                <a:endParaRPr lang="zh-CN" altLang="en-US" sz="26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441858"/>
                <a:ext cx="7215629" cy="5125506"/>
              </a:xfrm>
              <a:prstGeom prst="rect">
                <a:avLst/>
              </a:prstGeom>
              <a:blipFill rotWithShape="1">
                <a:blip r:embed="rId1"/>
                <a:stretch>
                  <a:fillRect t="-8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5827831" y="1330773"/>
            <a:ext cx="2800273" cy="1704613"/>
            <a:chOff x="5101064" y="1278816"/>
            <a:chExt cx="3467594" cy="2314734"/>
          </a:xfrm>
        </p:grpSpPr>
        <p:sp>
          <p:nvSpPr>
            <p:cNvPr id="6" name="椭圆 5"/>
            <p:cNvSpPr/>
            <p:nvPr/>
          </p:nvSpPr>
          <p:spPr>
            <a:xfrm>
              <a:off x="5101064" y="1278816"/>
              <a:ext cx="3467594" cy="201088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prstClr val="black"/>
                </a:solidFill>
                <a:latin typeface="Rockwell" panose="02060603020205020403"/>
                <a:ea typeface="黑体" panose="02010609060101010101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493925" y="1528680"/>
              <a:ext cx="2892057" cy="20648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个体的性质（</a:t>
              </a:r>
              <a:r>
                <a:rPr lang="zh-CN" altLang="en-US" sz="2000" b="1" u="sng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）、</a:t>
              </a:r>
              <a:endPara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个体和个体之间的关系（</a:t>
              </a:r>
              <a:r>
                <a:rPr lang="zh-CN" altLang="en-US" sz="2000" b="1" u="sng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最大</a:t>
              </a: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97188" y="837478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从命题逻辑到谓词逻辑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3975" y="1504720"/>
            <a:ext cx="6984609" cy="4452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在谓词逻辑中，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将原子命题进一步细化，分解出个体、谓词和量词，来表达个体与总体的内在联系和数量关系，这就是</a:t>
            </a:r>
            <a:r>
              <a:rPr lang="zh-CN" altLang="en-US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谓词逻辑的研究内容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谓词逻辑中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</a:t>
            </a:r>
            <a:r>
              <a:rPr lang="zh-CN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个核心概念：</a:t>
            </a: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个体、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谓词（</a:t>
            </a:r>
            <a:r>
              <a:rPr lang="en-US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predicate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）和量词（</a:t>
            </a:r>
            <a:r>
              <a:rPr lang="en-US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quantifier</a:t>
            </a:r>
            <a:r>
              <a:rPr lang="zh-CN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65032" y="792457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076178" y="1427233"/>
                <a:ext cx="7026813" cy="4371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是谓词，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是个体词，称为变量。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的具体取值叫个体常项。比如，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02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使得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谓词为假。个体的取值范围为个体域。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一般用大写字母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表示谓词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描述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了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是否存在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一个数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，这个数小于自身平方这种</a:t>
                </a:r>
                <a:r>
                  <a:rPr lang="zh-CN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关系。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78" y="1427233"/>
                <a:ext cx="7026813" cy="4371453"/>
              </a:xfrm>
              <a:prstGeom prst="rect">
                <a:avLst/>
              </a:prstGeom>
              <a:blipFill rotWithShape="1">
                <a:blip r:embed="rId1"/>
                <a:stretch>
                  <a:fillRect l="-7" t="-9" r="6" b="-14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626104" y="812655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谓词逻辑：谓词与个体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076178" y="1427233"/>
                <a:ext cx="7026813" cy="24940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谓词中可以有若干个体变量，如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father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父亲。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是一元谓词（包含一个个体），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为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元谓词（包含若干个体）。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78" y="1427233"/>
                <a:ext cx="7026813" cy="2494016"/>
              </a:xfrm>
              <a:prstGeom prst="rect">
                <a:avLst/>
              </a:prstGeom>
              <a:blipFill rotWithShape="1">
                <a:blip r:embed="rId1"/>
                <a:stretch>
                  <a:fillRect l="-7" t="-16" r="-2416" b="-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626104" y="812655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谓词逻辑：谓词与个体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223889" y="1575787"/>
                <a:ext cx="7012745" cy="2644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全称量词</a:t>
                </a:r>
                <a:r>
                  <a:rPr lang="en-US" altLang="zh-CN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(universal quantifier,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</m:oMath>
                </a14:m>
                <a:r>
                  <a:rPr lang="en-US" altLang="zh-CN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6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表示一切的、凡是的、所有的、每一个等。</a:t>
                </a:r>
                <a:r>
                  <a:rPr lang="en-US" altLang="zh-CN" sz="2600" dirty="0">
                    <a:solidFill>
                      <a:srgbClr val="C00000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:endParaRPr lang="en-US" altLang="zh-CN" sz="2600" dirty="0">
                  <a:solidFill>
                    <a:srgbClr val="C00000"/>
                  </a:solidFill>
                  <a:latin typeface="Rockwell" panose="02060603020205020403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表示定义域中的所有个体</a:t>
                </a:r>
                <a:endParaRPr lang="en-US" altLang="zh-CN" sz="26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indent="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𝑥𝑃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表示定义域中的所有个体具有性质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endParaRPr lang="en-US" altLang="zh-CN" sz="26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889" y="1575787"/>
                <a:ext cx="7012745" cy="2644698"/>
              </a:xfrm>
              <a:prstGeom prst="rect">
                <a:avLst/>
              </a:prstGeom>
              <a:blipFill rotWithShape="1">
                <a:blip r:embed="rId1"/>
                <a:stretch>
                  <a:fillRect l="-3" t="-13" r="1" b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643772" y="914619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谓词逻辑：量词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223889" y="1491379"/>
                <a:ext cx="6696221" cy="3907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存在量词</a:t>
                </a:r>
                <a:r>
                  <a:rPr lang="en-US" altLang="zh-CN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(existential quantifier,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en-US" altLang="zh-CN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6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tabLst>
                    <a:tab pos="450850" algn="l"/>
                  </a:tabLst>
                </a:pPr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表示存在、有一个、某些等。</a:t>
                </a:r>
                <a:r>
                  <a:rPr lang="en-US" altLang="zh-CN" sz="2600" dirty="0">
                    <a:solidFill>
                      <a:srgbClr val="C00000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:endParaRPr lang="en-US" altLang="zh-CN" sz="2600" dirty="0">
                  <a:solidFill>
                    <a:srgbClr val="C00000"/>
                  </a:solidFill>
                  <a:latin typeface="Rockwell" panose="02060603020205020403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tabLst>
                    <a:tab pos="450850" algn="l"/>
                  </a:tabLst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表示定义域中存在一个或若干个个体</a:t>
                </a:r>
                <a:endParaRPr lang="en-US" altLang="zh-CN" sz="2600" i="1" dirty="0">
                  <a:solidFill>
                    <a:srgbClr val="C00000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tabLst>
                    <a:tab pos="450850" algn="l"/>
                  </a:tabLst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𝑥𝑃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表示定义域中存在一个个体或若干个体具有性质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endParaRPr lang="en-US" altLang="zh-CN" sz="26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全称量词和存在量词统称为量词。</a:t>
                </a:r>
                <a:endParaRPr lang="en-US" altLang="zh-CN" sz="26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889" y="1491379"/>
                <a:ext cx="6696221" cy="3907288"/>
              </a:xfrm>
              <a:prstGeom prst="rect">
                <a:avLst/>
              </a:prstGeom>
              <a:blipFill rotWithShape="1">
                <a:blip r:embed="rId1"/>
                <a:stretch>
                  <a:fillRect l="-4" t="-10" r="6" b="-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643772" y="914619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谓词逻辑：量词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851095" y="1555263"/>
                <a:ext cx="7441809" cy="50040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14630" indent="-214630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全称量词</a:t>
                </a:r>
                <a:endParaRPr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能够制造工具</a:t>
                </a:r>
                <a:endParaRPr lang="en-US" altLang="zh-CN" sz="2400" dirty="0">
                  <a:solidFill>
                    <a:srgbClr val="C00000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表示定义域中的所有个体能够制造工具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:r>
                  <a:rPr lang="en-US" altLang="zh-CN" sz="2400" dirty="0">
                    <a:solidFill>
                      <a:srgbClr val="C00000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小王</m:t>
                        </m:r>
                      </m:e>
                    </m:d>
                    <m:r>
                      <a:rPr lang="zh-CN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表示小王能够制造工具。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14630" indent="-214630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存在量词</a:t>
                </a:r>
                <a:endParaRPr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能够制造工具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表示定义域中的存在某个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/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某些个体能够制造工具。</a:t>
                </a:r>
                <a:endParaRPr lang="en-US" altLang="zh-CN" sz="2400" dirty="0">
                  <a:solidFill>
                    <a:srgbClr val="C00000"/>
                  </a:solidFill>
                  <a:latin typeface="Rockwell" panose="02060603020205020403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(小王)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表示小王能够制造工具（该命题或者为真、或者为假）。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95" y="1555263"/>
                <a:ext cx="7441809" cy="5004062"/>
              </a:xfrm>
              <a:prstGeom prst="rect">
                <a:avLst/>
              </a:prstGeom>
              <a:blipFill rotWithShape="1">
                <a:blip r:embed="rId1"/>
                <a:stretch>
                  <a:fillRect l="-3" t="-3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643772" y="914619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谓词逻辑：量词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288954" y="1665294"/>
                <a:ext cx="6666326" cy="317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0850" indent="-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全称量词与存在量词之间的组合</a:t>
                </a:r>
                <a:endParaRPr lang="en-US" altLang="zh-CN" sz="26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0850" lvl="1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)≡¬∃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highlight>
                      <a:srgbClr val="FFFF00"/>
                    </a:highlight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sz="2600" dirty="0">
                  <a:solidFill>
                    <a:prstClr val="black"/>
                  </a:solidFill>
                  <a:highlight>
                    <a:srgbClr val="FFFF00"/>
                  </a:highlight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0850" lvl="1" indent="-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¬∀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𝑥𝑃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)≡∃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¬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600" dirty="0">
                  <a:solidFill>
                    <a:prstClr val="black"/>
                  </a:solidFill>
                  <a:highlight>
                    <a:srgbClr val="FFFF00"/>
                  </a:highlight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0850" lvl="1" indent="-4508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𝑥𝑃</m:t>
                      </m:r>
                      <m:d>
                        <m:dPr>
                          <m:ctrlPr>
                            <a:rPr lang="en-US" altLang="zh-CN" sz="2600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≡¬∃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¬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600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600" dirty="0">
                  <a:solidFill>
                    <a:prstClr val="black"/>
                  </a:solidFill>
                  <a:highlight>
                    <a:srgbClr val="FFFF00"/>
                  </a:highlight>
                  <a:latin typeface="黑体" panose="02010609060101010101" pitchFamily="49" charset="-122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450850" lvl="1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9B2D1F"/>
                  </a:buClr>
                </a:pP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)≡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highlight>
                      <a:srgbClr val="FFFF00"/>
                    </a:highlight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MS Mincho" charset="0"/>
                        <a:cs typeface="Cambria Math" panose="02040503050406030204"/>
                      </a:rPr>
                      <m:t>)</m:t>
                    </m:r>
                  </m:oMath>
                </a14:m>
                <a:endParaRPr lang="en-US" altLang="zh-CN" sz="2600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954" y="1665294"/>
                <a:ext cx="6666326" cy="3170868"/>
              </a:xfrm>
              <a:prstGeom prst="rect">
                <a:avLst/>
              </a:prstGeom>
              <a:blipFill rotWithShape="1">
                <a:blip r:embed="rId1"/>
                <a:stretch>
                  <a:fillRect l="-8" t="-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643772" y="914619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谓词逻辑：量词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143000" y="1374490"/>
                <a:ext cx="6751122" cy="50489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函词中个体变元用个体常量（来自定义域）代入后结果仍是</a:t>
                </a:r>
                <a:r>
                  <a:rPr lang="zh-CN" alt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个体（值域）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，如定义函数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谓词中个体变元用个体常量带入后就变成了</a:t>
                </a:r>
                <a:r>
                  <a:rPr lang="zh-CN" alt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命题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，如</a:t>
                </a:r>
                <a14:m>
                  <m:oMath xmlns:m="http://schemas.openxmlformats.org/officeDocument/2006/math">
                    <m:r>
                      <a:rPr lang="en-US" altLang="zh-CN" sz="2600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𝑐𝑎𝑟</m:t>
                    </m:r>
                    <m:d>
                      <m:dPr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dirty="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600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是车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这个谓词中</a:t>
                </a:r>
                <a14:m>
                  <m:oMath xmlns:m="http://schemas.openxmlformats.org/officeDocument/2006/math">
                    <m:r>
                      <a:rPr lang="en-US" altLang="zh-CN" sz="2600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用吉普车代替，则</a:t>
                </a:r>
                <a14:m>
                  <m:oMath xmlns:m="http://schemas.openxmlformats.org/officeDocument/2006/math">
                    <m:r>
                      <a:rPr lang="en-US" altLang="zh-CN" sz="2600" dirty="0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𝑐𝑎𝑟</m:t>
                    </m:r>
                    <m:d>
                      <m:dPr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600" i="1" dirty="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吉普车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是命题。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函数是从定义域到值域的映射；谓词是从定义域到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𝑇𝑟𝑢𝑒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𝐹𝑎𝑙𝑠𝑒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的映射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374490"/>
                <a:ext cx="6751122" cy="5048946"/>
              </a:xfrm>
              <a:prstGeom prst="rect">
                <a:avLst/>
              </a:prstGeom>
              <a:blipFill rotWithShape="1">
                <a:blip r:embed="rId1"/>
                <a:stretch>
                  <a:fillRect t="-7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03171" y="756382"/>
            <a:ext cx="5630780" cy="49329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谓词逻辑：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谓词与函数的区别</a:t>
            </a:r>
            <a:endParaRPr lang="zh-C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02405" y="759939"/>
            <a:ext cx="6034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谓词逻辑：</a:t>
            </a:r>
            <a:r>
              <a:rPr lang="zh-CN" altLang="en-US" sz="3200" b="1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谓词演算的合式公式</a:t>
            </a:r>
            <a:endParaRPr lang="zh-CN" altLang="zh-CN" sz="3200" b="1" dirty="0">
              <a:solidFill>
                <a:srgbClr val="0070C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026942" y="1524632"/>
                <a:ext cx="6914270" cy="4847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命题常项、命题变项、原子谓词（不存在任何量词与联结词）是合式公式。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是合式公式，那么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⟷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都是合式公式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是合式公式，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是个体变元，则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𝑥𝐴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也是合式公式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有限次地使用上述规则求得公式是合式公式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600075" lvl="1" indent="-257175">
                  <a:buFont typeface="Wingdings" panose="05000000000000000000" pitchFamily="2" charset="2"/>
                  <a:buChar char="l"/>
                </a:pPr>
                <a:endParaRPr lang="zh-CN" altLang="en-US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942" y="1524632"/>
                <a:ext cx="6914270" cy="4847481"/>
              </a:xfrm>
              <a:prstGeom prst="rect">
                <a:avLst/>
              </a:prstGeom>
              <a:blipFill rotWithShape="1">
                <a:blip r:embed="rId1"/>
                <a:stretch>
                  <a:fillRect l="-2" t="-13" r="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对话气泡: 圆角矩形 2"/>
          <p:cNvSpPr/>
          <p:nvPr/>
        </p:nvSpPr>
        <p:spPr>
          <a:xfrm>
            <a:off x="5500468" y="309489"/>
            <a:ext cx="2136087" cy="450450"/>
          </a:xfrm>
          <a:prstGeom prst="wedgeRoundRectCallout">
            <a:avLst>
              <a:gd name="adj1" fmla="val -5200"/>
              <a:gd name="adj2" fmla="val 703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也称谓词公式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83960" y="730203"/>
            <a:ext cx="6034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+mj-ea"/>
                <a:ea typeface="+mj-ea"/>
                <a:cs typeface="Times New Roman" panose="02020603050405020304" pitchFamily="18" charset="0"/>
              </a:rPr>
              <a:t>若干谓词逻辑的推理规则</a:t>
            </a:r>
            <a:endParaRPr lang="zh-CN" altLang="zh-CN" sz="3200" b="1" dirty="0">
              <a:solidFill>
                <a:srgbClr val="0070C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78871" y="1551926"/>
                <a:ext cx="7088951" cy="4715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indent="358775" algn="just">
                  <a:lnSpc>
                    <a:spcPct val="13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全称量词消去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(Universal Instantiation, UI):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ctr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altLang="zh-CN" sz="2600" dirty="0">
                    <a:solidFill>
                      <a:prstClr val="black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3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全称量词引入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(Universal Generalization, UG):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ctr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3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存在量词消去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(Existential Instantiation, EI):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ctr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3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存在量词引入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(Existential Generalization, EG):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)→(∃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71" y="1551926"/>
                <a:ext cx="7088951" cy="4715137"/>
              </a:xfrm>
              <a:prstGeom prst="rect">
                <a:avLst/>
              </a:prstGeom>
              <a:blipFill rotWithShape="1">
                <a:blip r:embed="rId1"/>
                <a:stretch>
                  <a:fillRect l="-5" t="-13" r="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6354" y="644081"/>
            <a:ext cx="6034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谓词逻辑的推理例子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4425180" y="1379139"/>
                <a:ext cx="3818488" cy="5174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证明过程：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Cambria Math" panose="02040503050406030204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:endParaRPr lang="en-US" altLang="zh-CN" sz="2400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>
                    <a:solidFill>
                      <a:prstClr val="black"/>
                    </a:solidFill>
                    <a:latin typeface="Cambria Math" panose="02040503050406030204"/>
                    <a:ea typeface="Cambria Math" panose="02040503050406030204"/>
                    <a:cs typeface="Times New Roman" panose="02020603050405020304" pitchFamily="18" charset="0"/>
                  </a:rPr>
                  <a:t>           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消去全称量词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消去全称量词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引入全称量词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180" y="1379139"/>
                <a:ext cx="3818488" cy="5174430"/>
              </a:xfrm>
              <a:prstGeom prst="rect">
                <a:avLst/>
              </a:prstGeom>
              <a:blipFill rotWithShape="1">
                <a:blip r:embed="rId1"/>
                <a:stretch>
                  <a:fillRect l="-13" t="-11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613741" y="1792520"/>
                <a:ext cx="3529196" cy="30931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58775" lvl="1" indent="-358775" algn="just"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已知：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试证明：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58775" lvl="1" indent="-3587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41" y="1792520"/>
                <a:ext cx="3529196" cy="3093154"/>
              </a:xfrm>
              <a:prstGeom prst="rect">
                <a:avLst/>
              </a:prstGeom>
              <a:blipFill rotWithShape="1">
                <a:blip r:embed="rId2"/>
                <a:stretch>
                  <a:fillRect l="-225" t="-264" r="-210" b="-247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216855" y="1523015"/>
                <a:ext cx="6858000" cy="300082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lvl="1" algn="just"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已知：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试证明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∃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) (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600" i="1">
                          <a:solidFill>
                            <a:prstClr val="black"/>
                          </a:solidFill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855" y="1523015"/>
                <a:ext cx="6858000" cy="3000821"/>
              </a:xfrm>
              <a:prstGeom prst="rect">
                <a:avLst/>
              </a:prstGeom>
              <a:blipFill rotWithShape="1">
                <a:blip r:embed="rId1"/>
                <a:stretch>
                  <a:fillRect l="-123" t="-285" r="-108" b="-251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1466354" y="644081"/>
            <a:ext cx="6034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谓词逻辑的推理例子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907366" y="1313715"/>
                <a:ext cx="7491045" cy="52918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indent="182880"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证明过程：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(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(2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的存在量词消去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(1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的全称量词消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2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             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知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的假言推理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             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知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             (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知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            (7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的合取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 (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       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(9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的存在量词引入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66" y="1313715"/>
                <a:ext cx="7491045" cy="5291833"/>
              </a:xfrm>
              <a:prstGeom prst="rect">
                <a:avLst/>
              </a:prstGeom>
              <a:blipFill rotWithShape="1">
                <a:blip r:embed="rId1"/>
                <a:stretch>
                  <a:fillRect l="-8" t="-10" r="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1466354" y="644081"/>
            <a:ext cx="6034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谓词逻辑的推理例子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54925" y="859314"/>
            <a:ext cx="603415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自然语言的形式化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160584" y="1703413"/>
                <a:ext cx="7160456" cy="2947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6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每一个奇数均存在一个大于它的奇数：</a:t>
                </a:r>
                <a:endParaRPr lang="en-US" altLang="zh-CN" sz="2600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odd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是奇数</a:t>
                </a:r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Great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60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a:rPr lang="en-US" altLang="zh-CN" sz="260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600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d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大于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358775" algn="just">
                  <a:lnSpc>
                    <a:spcPct val="15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 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𝑜𝑑𝑑</m:t>
                        </m:r>
                        <m:d>
                          <m:dPr>
                            <m:ctrlP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→</m:t>
                        </m:r>
                        <m:d>
                          <m:dPr>
                            <m:ctrlP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  <m:t>∃</m:t>
                            </m:r>
                            <m: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  <m:t>𝑜𝑑𝑑</m:t>
                            </m:r>
                            <m:d>
                              <m:dPr>
                                <m:ctrlPr>
                                  <a:rPr lang="en-US" altLang="zh-CN" sz="2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i="1">
                                    <a:solidFill>
                                      <a:prstClr val="black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  <m:t>∧</m:t>
                            </m:r>
                            <m:r>
                              <a:rPr lang="en-US" altLang="zh-CN" sz="26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Times New Roman" panose="02020603050405020304" pitchFamily="18" charset="0"/>
                              </a:rPr>
                              <m:t>𝐺𝑟𝑒𝑎𝑡</m:t>
                            </m:r>
                            <m:d>
                              <m:dPr>
                                <m:ctrlPr>
                                  <a:rPr lang="en-US" altLang="zh-CN" sz="2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i="1">
                                    <a:solidFill>
                                      <a:prstClr val="black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600" i="1">
                                    <a:solidFill>
                                      <a:prstClr val="black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600" i="1">
                                    <a:solidFill>
                                      <a:prstClr val="black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zh-CN" altLang="en-US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84" y="1703413"/>
                <a:ext cx="7160456" cy="2947089"/>
              </a:xfrm>
              <a:prstGeom prst="rect">
                <a:avLst/>
              </a:prstGeom>
              <a:blipFill rotWithShape="1">
                <a:blip r:embed="rId1"/>
                <a:stretch>
                  <a:fillRect l="-6" t="-1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053936" y="1756011"/>
                <a:ext cx="6947065" cy="3248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前提：</a:t>
                </a: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1) 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每驾飞机或者停在地面或者飞在天空；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2) 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并非每驾飞机都飞在天空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结论：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有些飞机停在地面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形式化：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plane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是飞机；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in</m:t>
                    </m:r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ground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停在地面；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on</m:t>
                    </m:r>
                    <m: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6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fly</m:t>
                    </m:r>
                    <m:d>
                      <m:dPr>
                        <m:ctrlP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飞在天空</a:t>
                </a:r>
                <a:endParaRPr lang="en-US" altLang="zh-CN" sz="26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936" y="1756011"/>
                <a:ext cx="6947065" cy="3248069"/>
              </a:xfrm>
              <a:prstGeom prst="rect">
                <a:avLst/>
              </a:prstGeom>
              <a:blipFill rotWithShape="1">
                <a:blip r:embed="rId1"/>
                <a:stretch>
                  <a:fillRect l="-7" t="-7" r="-1600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1554925" y="859314"/>
            <a:ext cx="603415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自然语言的形式化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866636" y="1692711"/>
                <a:ext cx="7410728" cy="4579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5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已知：</a:t>
                </a:r>
                <a14:m>
                  <m:oMath xmlns:m="http://schemas.openxmlformats.org/officeDocument/2006/math"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)∨</m:t>
                    </m:r>
                    <m:r>
                      <m:rPr>
                        <m:sty m:val="p"/>
                      </m:rP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on</m:t>
                    </m:r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fly</m:t>
                    </m:r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5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endParaRPr lang="en-US" altLang="zh-CN" sz="25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altLang="zh-CN" sz="25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¬∀</m:t>
                        </m:r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5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5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求证：</a:t>
                </a:r>
                <a14:m>
                  <m:oMath xmlns:m="http://schemas.openxmlformats.org/officeDocument/2006/math"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5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5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证明：</a:t>
                </a:r>
                <a:endParaRPr lang="zh-CN" altLang="en-US" sz="25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¬∀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𝑝𝑙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𝑎𝑛𝑒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5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(</a:t>
                </a:r>
                <a:r>
                  <a:rPr lang="zh-CN" altLang="en-US" sz="25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</a:t>
                </a:r>
                <a:r>
                  <a:rPr lang="en-US" altLang="zh-CN" sz="25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     </a:t>
                </a:r>
                <a:endParaRPr lang="en-US" altLang="zh-CN" sz="25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altLang="zh-CN" sz="25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¬(¬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altLang="zh-CN" sz="25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0" lvl="1" algn="just">
                  <a:lnSpc>
                    <a:spcPct val="13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5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5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∧¬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5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5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636" y="1692711"/>
                <a:ext cx="7410728" cy="4579908"/>
              </a:xfrm>
              <a:prstGeom prst="rect">
                <a:avLst/>
              </a:prstGeom>
              <a:blipFill rotWithShape="1">
                <a:blip r:embed="rId1"/>
                <a:stretch>
                  <a:fillRect l="-7" t="-10" r="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1554925" y="880415"/>
            <a:ext cx="603415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自然语言的形式化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076178" y="1521657"/>
                <a:ext cx="6935373" cy="4883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¬∀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)→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endPara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¬(¬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∧¬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∧¬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𝑓𝑙𝑦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)∨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on</m:t>
                    </m:r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fly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)∨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on</m:t>
                    </m:r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fly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)∨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on</m:t>
                    </m:r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fly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000" i="1" dirty="0">
                    <a:solidFill>
                      <a:prstClr val="black"/>
                    </a:solidFill>
                    <a:latin typeface="Cambria Math" panose="02040503050406030204"/>
                    <a:ea typeface="Cambria Math" panose="02040503050406030204"/>
                    <a:cs typeface="Times New Roman" panose="02020603050405020304" pitchFamily="18" charset="0"/>
                  </a:rPr>
                  <a:t>  </a:t>
                </a:r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2000" i="1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Cambria Math" panose="02040503050406030204"/>
                        <a:ea typeface="MS Mincho" charset="0"/>
                        <a:cs typeface="Cambria Math" panose="02040503050406030204"/>
                      </a:rPr>
                      <m:t>到这儿还没结束呢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𝑙𝑎𝑛𝑒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Rockwell" panose="02060603020205020403"/>
                    <a:ea typeface="Cambria Math" panose="02040503050406030204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  <a:p>
                <a:pPr marL="541655" lvl="1" indent="-449580" algn="just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𝑝𝑙𝑎𝑛𝑒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)∧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𝑔𝑟𝑜𝑢𝑛𝑑</m:t>
                    </m:r>
                    <m:d>
                      <m:d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/>
                            <a:ea typeface="Cambria Math" panose="02040503050406030204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/>
                  <a:ea typeface="Cambria Math" panose="02040503050406030204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78" y="1521657"/>
                <a:ext cx="6935373" cy="4883785"/>
              </a:xfrm>
              <a:prstGeom prst="rect">
                <a:avLst/>
              </a:prstGeom>
              <a:blipFill rotWithShape="1">
                <a:blip r:embed="rId1"/>
                <a:stretch>
                  <a:fillRect l="-7" t="-4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1554925" y="725671"/>
            <a:ext cx="603415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自然语言的形式化</a:t>
            </a:r>
            <a:endParaRPr lang="zh-CN" altLang="zh-CN" sz="3200" b="1" dirty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水滴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TM04033925[[fn=水滴]]</Template>
  <TotalTime>0</TotalTime>
  <Words>6961</Words>
  <Application>WPS 演示</Application>
  <PresentationFormat>全屏显示(4:3)</PresentationFormat>
  <Paragraphs>654</Paragraphs>
  <Slides>41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Arial</vt:lpstr>
      <vt:lpstr>宋体</vt:lpstr>
      <vt:lpstr>Wingdings</vt:lpstr>
      <vt:lpstr>华文行楷</vt:lpstr>
      <vt:lpstr>微软雅黑</vt:lpstr>
      <vt:lpstr>Rockwell</vt:lpstr>
      <vt:lpstr>方正姚体</vt:lpstr>
      <vt:lpstr>Verdana</vt:lpstr>
      <vt:lpstr>Times New Roman</vt:lpstr>
      <vt:lpstr>Calibri</vt:lpstr>
      <vt:lpstr>黑体</vt:lpstr>
      <vt:lpstr>Cambria Math</vt:lpstr>
      <vt:lpstr>Cambria Math</vt:lpstr>
      <vt:lpstr>华光魏体_CNKI</vt:lpstr>
      <vt:lpstr>Arial Unicode MS</vt:lpstr>
      <vt:lpstr>Tw Cen MT</vt:lpstr>
      <vt:lpstr>等线</vt:lpstr>
      <vt:lpstr>楷体</vt:lpstr>
      <vt:lpstr>Calibri</vt:lpstr>
      <vt:lpstr>MS Mincho</vt:lpstr>
      <vt:lpstr>AMGDT</vt:lpstr>
      <vt:lpstr>水滴</vt:lpstr>
      <vt:lpstr>逻辑与推理</vt:lpstr>
      <vt:lpstr>PowerPoint 演示文稿</vt:lpstr>
      <vt:lpstr>逻辑与推理是人工智能的核心问题</vt:lpstr>
      <vt:lpstr>逻辑与推理是人工智能的核心问题</vt:lpstr>
      <vt:lpstr>逻辑与推理是人工智能的核心问题</vt:lpstr>
      <vt:lpstr>逻辑与推理是人工智能的核心问题</vt:lpstr>
      <vt:lpstr>逻辑与推理是人工智能的核心问题</vt:lpstr>
      <vt:lpstr>命题逻辑</vt:lpstr>
      <vt:lpstr>命题逻辑</vt:lpstr>
      <vt:lpstr>命题逻辑</vt:lpstr>
      <vt:lpstr>命题逻辑</vt:lpstr>
      <vt:lpstr>命题逻辑</vt:lpstr>
      <vt:lpstr>命题逻辑</vt:lpstr>
      <vt:lpstr>命题逻辑</vt:lpstr>
      <vt:lpstr>命题逻辑</vt:lpstr>
      <vt:lpstr>PowerPoint 演示文稿</vt:lpstr>
      <vt:lpstr>命题逻辑中的推理规则</vt:lpstr>
      <vt:lpstr>命题逻辑中的推理规则</vt:lpstr>
      <vt:lpstr>应用归结法进行证明 (1)</vt:lpstr>
      <vt:lpstr>应用归结法进行证明 (2)</vt:lpstr>
      <vt:lpstr>PowerPoint 演示文稿</vt:lpstr>
      <vt:lpstr>从命题逻辑到谓词逻辑</vt:lpstr>
      <vt:lpstr>从命题逻辑到谓词逻辑</vt:lpstr>
      <vt:lpstr>从命题逻辑到谓词逻辑</vt:lpstr>
      <vt:lpstr>谓词逻辑</vt:lpstr>
      <vt:lpstr>谓词逻辑：谓词与个体</vt:lpstr>
      <vt:lpstr>谓词逻辑：谓词与个体</vt:lpstr>
      <vt:lpstr>谓词逻辑：量词</vt:lpstr>
      <vt:lpstr>谓词逻辑：量词</vt:lpstr>
      <vt:lpstr>谓词逻辑：量词</vt:lpstr>
      <vt:lpstr>谓词逻辑：量词</vt:lpstr>
      <vt:lpstr>谓词逻辑：谓词与函数的区别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逻辑与推理</dc:title>
  <dc:creator>wang jiajing</dc:creator>
  <cp:lastModifiedBy>梁桐</cp:lastModifiedBy>
  <cp:revision>38</cp:revision>
  <dcterms:created xsi:type="dcterms:W3CDTF">2022-04-21T03:46:00Z</dcterms:created>
  <dcterms:modified xsi:type="dcterms:W3CDTF">2025-06-15T12:15:30Z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1847E9AB850D403C9260AB1F724438BC_12</vt:lpwstr>
  </property>
  <property fmtid="{D5CDD505-2E9C-101B-9397-08002B2CF9AE}" pid="3" name="KSOProductBuildVer">
    <vt:lpwstr>2052-12.1.0.19770</vt:lpwstr>
  </property>
</Properties>
</file>