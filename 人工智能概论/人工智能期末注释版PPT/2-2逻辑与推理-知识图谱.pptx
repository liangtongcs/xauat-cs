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</p:sldMasterIdLst>
  <p:notesMasterIdLst>
    <p:notesMasterId r:id="rId45"/>
  </p:notesMasterIdLst>
  <p:sldIdLst>
    <p:sldId id="784" r:id="rId2"/>
    <p:sldId id="748" r:id="rId3"/>
    <p:sldId id="749" r:id="rId4"/>
    <p:sldId id="787" r:id="rId5"/>
    <p:sldId id="756" r:id="rId6"/>
    <p:sldId id="788" r:id="rId7"/>
    <p:sldId id="789" r:id="rId8"/>
    <p:sldId id="790" r:id="rId9"/>
    <p:sldId id="759" r:id="rId10"/>
    <p:sldId id="760" r:id="rId11"/>
    <p:sldId id="761" r:id="rId12"/>
    <p:sldId id="763" r:id="rId13"/>
    <p:sldId id="791" r:id="rId14"/>
    <p:sldId id="792" r:id="rId15"/>
    <p:sldId id="793" r:id="rId16"/>
    <p:sldId id="794" r:id="rId17"/>
    <p:sldId id="795" r:id="rId18"/>
    <p:sldId id="767" r:id="rId19"/>
    <p:sldId id="796" r:id="rId20"/>
    <p:sldId id="797" r:id="rId21"/>
    <p:sldId id="798" r:id="rId22"/>
    <p:sldId id="799" r:id="rId23"/>
    <p:sldId id="800" r:id="rId24"/>
    <p:sldId id="801" r:id="rId25"/>
    <p:sldId id="802" r:id="rId26"/>
    <p:sldId id="803" r:id="rId27"/>
    <p:sldId id="773" r:id="rId28"/>
    <p:sldId id="804" r:id="rId29"/>
    <p:sldId id="805" r:id="rId30"/>
    <p:sldId id="806" r:id="rId31"/>
    <p:sldId id="776" r:id="rId32"/>
    <p:sldId id="777" r:id="rId33"/>
    <p:sldId id="807" r:id="rId34"/>
    <p:sldId id="778" r:id="rId35"/>
    <p:sldId id="779" r:id="rId36"/>
    <p:sldId id="780" r:id="rId37"/>
    <p:sldId id="781" r:id="rId38"/>
    <p:sldId id="782" r:id="rId39"/>
    <p:sldId id="783" r:id="rId40"/>
    <p:sldId id="690" r:id="rId41"/>
    <p:sldId id="691" r:id="rId42"/>
    <p:sldId id="692" r:id="rId43"/>
    <p:sldId id="6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2" autoAdjust="0"/>
    <p:restoredTop sz="94660"/>
  </p:normalViewPr>
  <p:slideViewPr>
    <p:cSldViewPr snapToGrid="0">
      <p:cViewPr>
        <p:scale>
          <a:sx n="70" d="100"/>
          <a:sy n="70" d="100"/>
        </p:scale>
        <p:origin x="675" y="-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05DB08-198A-4CF2-AAD6-E9EEE7AF9AB4}" type="datetimeFigureOut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4B16A6-D213-4493-80F4-F6CBD6903B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23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>
            <a:extLst>
              <a:ext uri="{FF2B5EF4-FFF2-40B4-BE49-F238E27FC236}">
                <a16:creationId xmlns:a16="http://schemas.microsoft.com/office/drawing/2014/main" id="{F0670441-C6A9-7F49-A2C8-16691D6F2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9458" name="备注占位符 2">
            <a:extLst>
              <a:ext uri="{FF2B5EF4-FFF2-40B4-BE49-F238E27FC236}">
                <a16:creationId xmlns:a16="http://schemas.microsoft.com/office/drawing/2014/main" id="{B21E9F01-8798-6A4D-AA37-CEB31BA3C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灯片编号占位符 3">
            <a:extLst>
              <a:ext uri="{FF2B5EF4-FFF2-40B4-BE49-F238E27FC236}">
                <a16:creationId xmlns:a16="http://schemas.microsoft.com/office/drawing/2014/main" id="{469D7743-928C-4B49-8889-B7DA5F912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079DD9-C9D1-C543-AF12-536BB687E807}" type="slidenum"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375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44132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1664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8000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4406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4204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0090498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3819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32446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40370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70983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530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971141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53160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777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6654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043797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53671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573797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142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6457" y="4342622"/>
            <a:ext cx="5485089" cy="4115468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157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幻灯片图像占位符 1">
            <a:extLst>
              <a:ext uri="{FF2B5EF4-FFF2-40B4-BE49-F238E27FC236}">
                <a16:creationId xmlns:a16="http://schemas.microsoft.com/office/drawing/2014/main" id="{F0670441-C6A9-7F49-A2C8-16691D6F2E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19458" name="备注占位符 2">
            <a:extLst>
              <a:ext uri="{FF2B5EF4-FFF2-40B4-BE49-F238E27FC236}">
                <a16:creationId xmlns:a16="http://schemas.microsoft.com/office/drawing/2014/main" id="{B21E9F01-8798-6A4D-AA37-CEB31BA3C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459" name="灯片编号占位符 3">
            <a:extLst>
              <a:ext uri="{FF2B5EF4-FFF2-40B4-BE49-F238E27FC236}">
                <a16:creationId xmlns:a16="http://schemas.microsoft.com/office/drawing/2014/main" id="{469D7743-928C-4B49-8889-B7DA5F9122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079DD9-C9D1-C543-AF12-536BB687E807}" type="slidenum">
              <a:rPr kumimoji="0" lang="en-US" altLang="zh-CN" sz="2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AFABB-F632-4F91-92AF-0E2D2EA81731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0576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3C160-1CF6-4197-853C-5DD8144FA9BE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432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42E54B1-0884-4633-8327-893DAA1E511F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892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650BB-E4E8-4483-82DA-D58DEBC4998C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7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BCF-E610-4FCE-ADC3-9F4D58E19C5C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920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ACBA7D6D-E156-4C2B-9FF2-B27706CE389A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0143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0FCEF-073A-4FC7-8BAD-A662F97179A2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237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B6709-067F-4154-9C9A-D56718F28438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481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D4C65-E77B-45F2-BD81-CFF9643C0CCF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419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906368-F392-4465-AD91-AE646936C52B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70263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1A378-AD84-4E06-B1B5-6D5F5ACB78AE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0305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2A2613-5BCB-3A4E-85A0-87ECABA2EAE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B43B8-EC4A-5743-9CA4-764B42BFAC9D}" type="slidenum">
              <a:rPr lang="zh-CN" altLang="en-US"/>
              <a:pPr>
                <a:defRPr/>
              </a:pPr>
              <a:t>‹#›</a:t>
            </a:fld>
            <a:endParaRPr lang="en-US" altLang="zh-CN" sz="1013" dirty="0"/>
          </a:p>
        </p:txBody>
      </p:sp>
    </p:spTree>
    <p:extLst>
      <p:ext uri="{BB962C8B-B14F-4D97-AF65-F5344CB8AC3E}">
        <p14:creationId xmlns:p14="http://schemas.microsoft.com/office/powerpoint/2010/main" val="33934522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"/>
            <a:ext cx="9144000" cy="76517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250826" y="908052"/>
            <a:ext cx="4244975" cy="5400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8052"/>
            <a:ext cx="4244975" cy="54006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4C3D584A-1F1E-42B7-8F00-E11787E8665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3CC932-CD40-4487-9A31-C97600C07F63}" type="slidenum">
              <a:rPr lang="ja-JP" altLang="en-US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133358324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6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81A378-AD84-4E06-B1B5-6D5F5ACB78AE}" type="datetime1">
              <a:rPr lang="zh-CN" altLang="en-US" smtClean="0"/>
              <a:t>2023/4/11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5AD84F5B-1672-4D3F-9FEC-5DF89A7B79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47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35.wmf"/><Relationship Id="rId7" Type="http://schemas.openxmlformats.org/officeDocument/2006/relationships/image" Target="../media/image37.wmf"/><Relationship Id="rId12" Type="http://schemas.openxmlformats.org/officeDocument/2006/relationships/image" Target="../media/image4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39.emf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38.e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10.bin"/><Relationship Id="rId18" Type="http://schemas.openxmlformats.org/officeDocument/2006/relationships/image" Target="../media/image39.emf"/><Relationship Id="rId3" Type="http://schemas.openxmlformats.org/officeDocument/2006/relationships/image" Target="../media/image35.wmf"/><Relationship Id="rId7" Type="http://schemas.openxmlformats.org/officeDocument/2006/relationships/oleObject" Target="../embeddings/oleObject7.bin"/><Relationship Id="rId12" Type="http://schemas.openxmlformats.org/officeDocument/2006/relationships/image" Target="../media/image43.emf"/><Relationship Id="rId17" Type="http://schemas.openxmlformats.org/officeDocument/2006/relationships/oleObject" Target="../embeddings/oleObject5.bin"/><Relationship Id="rId2" Type="http://schemas.openxmlformats.org/officeDocument/2006/relationships/oleObject" Target="../embeddings/oleObject1.bin"/><Relationship Id="rId16" Type="http://schemas.openxmlformats.org/officeDocument/2006/relationships/image" Target="../media/image38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oleObject" Target="../embeddings/oleObject4.bin"/><Relationship Id="rId10" Type="http://schemas.openxmlformats.org/officeDocument/2006/relationships/image" Target="../media/image42.emf"/><Relationship Id="rId4" Type="http://schemas.openxmlformats.org/officeDocument/2006/relationships/image" Target="../media/image40.png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61831-9E67-496F-9B9A-2CE49AE8E3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57350" y="2983230"/>
            <a:ext cx="5829300" cy="1571625"/>
          </a:xfrm>
        </p:spPr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8000" b="1" spc="450" dirty="0"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逻辑与推理</a:t>
            </a:r>
            <a:endParaRPr lang="zh-CN" altLang="en-US" sz="8000" spc="45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DA1139-08A0-4FE0-810D-C0A7552784E0}"/>
              </a:ext>
            </a:extLst>
          </p:cNvPr>
          <p:cNvSpPr/>
          <p:nvPr/>
        </p:nvSpPr>
        <p:spPr>
          <a:xfrm>
            <a:off x="4871203" y="882525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《</a:t>
            </a:r>
            <a:r>
              <a:rPr lang="zh-CN" altLang="en-US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人工智能导论：模型与算法</a:t>
            </a: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》</a:t>
            </a:r>
            <a:endParaRPr lang="zh-CN" altLang="en-US" dirty="0">
              <a:solidFill>
                <a:prstClr val="black"/>
              </a:solidFill>
              <a:latin typeface="Rockwell" panose="02060603020205020403"/>
              <a:ea typeface="方正姚体" panose="02010601030101010101" pitchFamily="2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32E5F975-BF95-4957-9230-657C928CF581}"/>
              </a:ext>
            </a:extLst>
          </p:cNvPr>
          <p:cNvSpPr txBox="1">
            <a:spLocks/>
          </p:cNvSpPr>
          <p:nvPr/>
        </p:nvSpPr>
        <p:spPr>
          <a:xfrm>
            <a:off x="1669934" y="1938906"/>
            <a:ext cx="5829300" cy="930024"/>
          </a:xfrm>
          <a:prstGeom prst="rect">
            <a:avLst/>
          </a:prstGeom>
        </p:spPr>
        <p:txBody>
          <a:bodyPr vert="horz" lIns="68580" tIns="108000" rIns="68580" bIns="3429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zh-CN" altLang="en-US" sz="6000" b="1" spc="45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第 </a:t>
            </a:r>
            <a:r>
              <a:rPr lang="en-US" altLang="zh-CN" sz="6000" b="1" spc="45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2 </a:t>
            </a:r>
            <a:r>
              <a:rPr lang="zh-CN" altLang="en-US" sz="6000" b="1" spc="450" dirty="0">
                <a:solidFill>
                  <a:prstClr val="black"/>
                </a:solidFill>
                <a:latin typeface="华文行楷" panose="02010800040101010101" pitchFamily="2" charset="-122"/>
                <a:ea typeface="华文行楷" panose="02010800040101010101" pitchFamily="2" charset="-122"/>
                <a:cs typeface="微软雅黑" panose="020B0503020204020204" pitchFamily="34" charset="-122"/>
              </a:rPr>
              <a:t>章</a:t>
            </a:r>
            <a:endParaRPr lang="zh-CN" altLang="en-US" sz="6000" spc="450" dirty="0">
              <a:solidFill>
                <a:prstClr val="black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708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6A300084-DFA3-084C-B2F2-40059E9D0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9379" y="958343"/>
            <a:ext cx="508545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Times New Roman" panose="02020603050405020304" pitchFamily="18" charset="0"/>
              </a:rPr>
              <a:t>  提纲</a:t>
            </a:r>
          </a:p>
        </p:txBody>
      </p:sp>
      <p:sp>
        <p:nvSpPr>
          <p:cNvPr id="22" name="矩形 7"/>
          <p:cNvSpPr>
            <a:spLocks noChangeArrowheads="1"/>
          </p:cNvSpPr>
          <p:nvPr/>
        </p:nvSpPr>
        <p:spPr bwMode="auto">
          <a:xfrm>
            <a:off x="1318385" y="2786085"/>
            <a:ext cx="5400000" cy="632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32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二、谓词逻辑</a:t>
            </a:r>
          </a:p>
        </p:txBody>
      </p:sp>
      <p:sp>
        <p:nvSpPr>
          <p:cNvPr id="24" name="矩形 7"/>
          <p:cNvSpPr>
            <a:spLocks noChangeArrowheads="1"/>
          </p:cNvSpPr>
          <p:nvPr/>
        </p:nvSpPr>
        <p:spPr bwMode="auto">
          <a:xfrm>
            <a:off x="1318385" y="1932804"/>
            <a:ext cx="5400000" cy="632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32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</a:rPr>
              <a:t>一、命题逻辑</a:t>
            </a: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1318385" y="3684321"/>
            <a:ext cx="5400000" cy="632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32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三、知识图谱推理</a:t>
            </a: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1318385" y="4635818"/>
            <a:ext cx="5400000" cy="632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32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四、因果推理</a:t>
            </a:r>
          </a:p>
        </p:txBody>
      </p:sp>
    </p:spTree>
    <p:extLst>
      <p:ext uri="{BB962C8B-B14F-4D97-AF65-F5344CB8AC3E}">
        <p14:creationId xmlns:p14="http://schemas.microsoft.com/office/powerpoint/2010/main" val="931208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1857" y="1660279"/>
            <a:ext cx="4346916" cy="3446688"/>
          </a:xfrm>
        </p:spPr>
        <p:txBody>
          <a:bodyPr>
            <a:noAutofit/>
          </a:bodyPr>
          <a:lstStyle/>
          <a:p>
            <a:pPr marL="358775" indent="-358775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知识图谱可视为包含多种关系的图。图中，每个节点是一个实体（如人名、地名、事件和活动等），任意两个节点之间的边表示这两个节点之间存在的关系。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auto">
          <a:xfrm>
            <a:off x="1372525" y="558862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知识图谱：基本概念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6" name="图片 5" descr="C:\Users\lenovo\AppData\Local\Temp\WeChat Files\7d7bc87a952d34a8aba7b38dfbfa22f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677" y="2162810"/>
            <a:ext cx="3208364" cy="25217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2459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21435" y="1533674"/>
            <a:ext cx="7162524" cy="3446688"/>
          </a:xfrm>
        </p:spPr>
        <p:txBody>
          <a:bodyPr>
            <a:noAutofit/>
          </a:bodyPr>
          <a:lstStyle/>
          <a:p>
            <a:pPr marL="450850" indent="-450850"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可将知识图谱中任意两个相连节点及其连接边表示成一个三元组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2600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left_node</a:t>
            </a:r>
            <a:r>
              <a:rPr lang="en-US" altLang="zh-CN" sz="26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600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relation</a:t>
            </a:r>
            <a:r>
              <a:rPr lang="en-US" altLang="zh-CN" sz="2600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600" i="1" dirty="0" err="1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right_node</a:t>
            </a:r>
            <a:r>
              <a:rPr lang="en-US" altLang="zh-CN" sz="2600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600" dirty="0"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50850" indent="-450850" algn="just">
              <a:lnSpc>
                <a:spcPct val="13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/>
            </a:pP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例：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(David, </a:t>
            </a:r>
            <a:r>
              <a:rPr lang="en-US" altLang="zh-CN" sz="2600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Father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600" i="1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Mike</a:t>
            </a:r>
            <a:r>
              <a:rPr lang="en-US" altLang="zh-CN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600" dirty="0"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600" dirty="0">
              <a:solidFill>
                <a:srgbClr val="007DDA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  <a:defRPr/>
            </a:pPr>
            <a:endParaRPr lang="zh-CN" altLang="en-US" sz="2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Rectangle 24"/>
          <p:cNvSpPr>
            <a:spLocks noChangeArrowheads="1"/>
          </p:cNvSpPr>
          <p:nvPr/>
        </p:nvSpPr>
        <p:spPr bwMode="auto">
          <a:xfrm>
            <a:off x="1372525" y="558862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知识图谱：基本概念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pic>
        <p:nvPicPr>
          <p:cNvPr id="6" name="图片 5" descr="C:\Users\lenovo\AppData\Local\Temp\WeChat Files\7d7bc87a952d34a8aba7b38dfbfa22f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823" y="3718097"/>
            <a:ext cx="4299749" cy="27249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30072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1169856" y="498255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8892" y="1299404"/>
            <a:ext cx="7455877" cy="3346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知识图谱中存在连线的两个实体可表达为三元组形式，这种三元组可以表示为一阶逻辑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(first order logic, FOL)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的形式，从而为基于知识图谱的推理创造了条件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57175" indent="-257175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奥巴马，出生地，夏威夷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夏威夷，属于，美国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两个三元组，可推理得到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&lt;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奥巴马，国籍，美国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&gt;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2335490" y="59596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家庭关系知识图谱</a:t>
            </a:r>
          </a:p>
        </p:txBody>
      </p:sp>
      <p:pic>
        <p:nvPicPr>
          <p:cNvPr id="79" name="图片 78" descr="C:\Users\lenovo\AppData\Local\Temp\WeChat Files\7d7bc87a952d34a8aba7b38dfbfa22f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243" y="4080518"/>
            <a:ext cx="3274308" cy="24470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7457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1169856" y="498255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808892" y="1299404"/>
                <a:ext cx="7455877" cy="27922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利用一阶谓词表达刻画知识图谱中节点之间的关系，如图中形如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&lt;James,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𝐶𝑜𝑢𝑝𝑙𝑒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,David&gt;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的关系可用</a:t>
                </a:r>
                <a:r>
                  <a:rPr lang="zh-CN" altLang="zh-CN" sz="24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一阶逻辑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的形式来描述，即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𝐶𝑜𝑢𝑝𝑙𝑒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(James, David)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𝐶𝑜𝑢𝑝𝑙𝑒</m:t>
                    </m:r>
                    <m:d>
                      <m:d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CN" sz="2400">
                            <a:solidFill>
                              <a:prstClr val="black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是一阶谓词，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𝐶𝑜𝑢𝑝𝑙𝑒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是图中实体之间具有的关系，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是谓词变量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92" y="1299404"/>
                <a:ext cx="7455877" cy="2792239"/>
              </a:xfrm>
              <a:prstGeom prst="rect">
                <a:avLst/>
              </a:prstGeom>
              <a:blipFill>
                <a:blip r:embed="rId3"/>
                <a:stretch>
                  <a:fillRect l="-1145" r="-5233" b="-3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8" name="矩形 77"/>
          <p:cNvSpPr/>
          <p:nvPr/>
        </p:nvSpPr>
        <p:spPr>
          <a:xfrm>
            <a:off x="2335490" y="59596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家庭关系知识图谱</a:t>
            </a:r>
          </a:p>
        </p:txBody>
      </p:sp>
      <p:pic>
        <p:nvPicPr>
          <p:cNvPr id="79" name="图片 78" descr="C:\Users\lenovo\AppData\Local\Temp\WeChat Files\7d7bc87a952d34a8aba7b38dfbfa22f.pn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243" y="4080518"/>
            <a:ext cx="3274308" cy="24470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660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1169856" y="498255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8892" y="1299404"/>
            <a:ext cx="7455877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从图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已有关系可推知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David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Ann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具有父女关系，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不在初始条件中，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是需要推理的目标。</a:t>
            </a:r>
          </a:p>
        </p:txBody>
      </p:sp>
      <p:sp>
        <p:nvSpPr>
          <p:cNvPr id="78" name="矩形 77"/>
          <p:cNvSpPr/>
          <p:nvPr/>
        </p:nvSpPr>
        <p:spPr>
          <a:xfrm>
            <a:off x="2335490" y="59596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家庭关系知识图谱</a:t>
            </a:r>
          </a:p>
        </p:txBody>
      </p:sp>
      <p:pic>
        <p:nvPicPr>
          <p:cNvPr id="79" name="图片 78" descr="C:\Users\lenovo\AppData\Local\Temp\WeChat Files\7d7bc87a952d34a8aba7b38dfbfa22f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7243" y="4080518"/>
            <a:ext cx="3274308" cy="24470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802060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1169856" y="498255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just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808892" y="1299404"/>
            <a:ext cx="7455877" cy="5762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问题：如何从知识图谱中推理得到</a:t>
            </a:r>
          </a:p>
        </p:txBody>
      </p:sp>
      <p:sp>
        <p:nvSpPr>
          <p:cNvPr id="78" name="矩形 77"/>
          <p:cNvSpPr/>
          <p:nvPr/>
        </p:nvSpPr>
        <p:spPr>
          <a:xfrm>
            <a:off x="2996672" y="5840059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家庭关系知识图谱</a:t>
            </a:r>
          </a:p>
        </p:txBody>
      </p:sp>
      <p:pic>
        <p:nvPicPr>
          <p:cNvPr id="79" name="图片 78" descr="C:\Users\lenovo\AppData\Local\Temp\WeChat Files\7d7bc87a952d34a8aba7b38dfbfa22f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182" y="4178104"/>
            <a:ext cx="3256670" cy="216972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2CED162-5071-B1E3-D21F-09BD0CAB9805}"/>
                  </a:ext>
                </a:extLst>
              </p:cNvPr>
              <p:cNvSpPr/>
              <p:nvPr/>
            </p:nvSpPr>
            <p:spPr>
              <a:xfrm>
                <a:off x="2468104" y="1823561"/>
                <a:ext cx="3802451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 u="sng">
                          <a:solidFill>
                            <a:srgbClr val="C00000"/>
                          </a:solidFill>
                          <a:latin typeface="Cambria Math"/>
                        </a:rPr>
                        <m:t>𝑓𝑎𝑡h𝑒𝑟</m:t>
                      </m:r>
                      <m:r>
                        <a:rPr lang="en-US" altLang="zh-CN" sz="2000" i="1" u="sng">
                          <a:solidFill>
                            <a:srgbClr val="C00000"/>
                          </a:solidFill>
                          <a:latin typeface="Cambria Math"/>
                        </a:rPr>
                        <m:t>(</m:t>
                      </m:r>
                      <m:r>
                        <a:rPr lang="en-US" altLang="zh-CN" sz="2000" i="1" u="sng">
                          <a:solidFill>
                            <a:srgbClr val="C00000"/>
                          </a:solidFill>
                          <a:latin typeface="Cambria Math"/>
                        </a:rPr>
                        <m:t>𝐷𝑎𝑣𝑖𝑑</m:t>
                      </m:r>
                      <m:r>
                        <a:rPr lang="en-US" altLang="zh-CN" sz="2000" i="1" u="sng">
                          <a:solidFill>
                            <a:srgbClr val="C00000"/>
                          </a:solidFill>
                          <a:latin typeface="Cambria Math"/>
                        </a:rPr>
                        <m:t>,</m:t>
                      </m:r>
                      <m:r>
                        <a:rPr lang="en-US" altLang="zh-CN" sz="2000" i="1" u="sng">
                          <a:solidFill>
                            <a:srgbClr val="C00000"/>
                          </a:solidFill>
                          <a:latin typeface="Cambria Math"/>
                        </a:rPr>
                        <m:t>𝐴𝑛𝑛</m:t>
                      </m:r>
                      <m:r>
                        <a:rPr lang="en-US" altLang="zh-CN" sz="2000" i="1" u="sng">
                          <a:solidFill>
                            <a:srgbClr val="C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altLang="zh-CN" sz="2000" u="sng" dirty="0">
                  <a:solidFill>
                    <a:srgbClr val="C0000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B2CED162-5071-B1E3-D21F-09BD0CAB980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8104" y="1823561"/>
                <a:ext cx="3802451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上箭头 3">
            <a:extLst>
              <a:ext uri="{FF2B5EF4-FFF2-40B4-BE49-F238E27FC236}">
                <a16:creationId xmlns:a16="http://schemas.microsoft.com/office/drawing/2014/main" id="{D9C83AF9-3CA0-AB87-2119-81664A1268A4}"/>
              </a:ext>
            </a:extLst>
          </p:cNvPr>
          <p:cNvSpPr/>
          <p:nvPr/>
        </p:nvSpPr>
        <p:spPr>
          <a:xfrm>
            <a:off x="4232424" y="2350571"/>
            <a:ext cx="339575" cy="301189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4CBBD8-F2C7-E566-7924-4A57059B2C51}"/>
              </a:ext>
            </a:extLst>
          </p:cNvPr>
          <p:cNvSpPr/>
          <p:nvPr/>
        </p:nvSpPr>
        <p:spPr>
          <a:xfrm>
            <a:off x="893747" y="3161710"/>
            <a:ext cx="7237379" cy="11137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如果能学习得到这条规则，该有多好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从具体例子中学习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——</a:t>
            </a:r>
            <a:r>
              <a:rPr lang="zh-CN" altLang="en-US" sz="2400" b="1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归纳推理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F36900C-7D55-5B58-24A1-AE458D7ED7BE}"/>
                  </a:ext>
                </a:extLst>
              </p:cNvPr>
              <p:cNvSpPr/>
              <p:nvPr/>
            </p:nvSpPr>
            <p:spPr>
              <a:xfrm>
                <a:off x="893747" y="2676271"/>
                <a:ext cx="7455877" cy="43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0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0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6F36900C-7D55-5B58-24A1-AE458D7ED7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747" y="2676271"/>
                <a:ext cx="7455877" cy="439736"/>
              </a:xfrm>
              <a:prstGeom prst="rect">
                <a:avLst/>
              </a:prstGeom>
              <a:blipFill>
                <a:blip r:embed="rId5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127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263894" y="2065452"/>
            <a:ext cx="6534428" cy="3883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机器学习和逻辑程序设计交叉领域研究内容。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ILP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一阶谓词逻辑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进行知识表示，通过修改和扩充逻辑表达式对现有知识归纳，完成推理任务。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作为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ILP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的代表性方法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FOIL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First Order Inductive Learner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）通过</a:t>
            </a:r>
            <a:r>
              <a:rPr lang="zh-CN" altLang="zh-CN" sz="2400" b="1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序贯覆盖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实现规则推理。</a:t>
            </a:r>
          </a:p>
        </p:txBody>
      </p:sp>
      <p:sp>
        <p:nvSpPr>
          <p:cNvPr id="2" name="矩形 1"/>
          <p:cNvSpPr/>
          <p:nvPr/>
        </p:nvSpPr>
        <p:spPr>
          <a:xfrm>
            <a:off x="1580416" y="1433251"/>
            <a:ext cx="6224940" cy="615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buSzPct val="75000"/>
            </a:pPr>
            <a:r>
              <a:rPr lang="zh-CN" altLang="zh-CN" sz="2600" b="1" dirty="0">
                <a:solidFill>
                  <a:prstClr val="black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归纳逻辑程序设计</a:t>
            </a:r>
            <a:r>
              <a:rPr lang="en-US" altLang="zh-CN" sz="2600" b="1" dirty="0">
                <a:solidFill>
                  <a:prstClr val="black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 (ILP)</a:t>
            </a:r>
            <a:r>
              <a:rPr lang="zh-CN" altLang="zh-CN" sz="2600" b="1" dirty="0">
                <a:solidFill>
                  <a:prstClr val="black"/>
                </a:solidFill>
                <a:latin typeface="Times New Roman" panose="02020603050405020304" pitchFamily="18" charset="0"/>
                <a:ea typeface="方正姚体" panose="02010601030101010101" pitchFamily="2" charset="-122"/>
                <a:cs typeface="Times New Roman" panose="02020603050405020304" pitchFamily="18" charset="0"/>
              </a:rPr>
              <a:t>算法</a:t>
            </a:r>
            <a:endParaRPr lang="en-US" altLang="zh-CN" sz="2600" b="1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53AFCC9A-EE2E-44AD-B7B9-F091BF1CC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378" y="611248"/>
            <a:ext cx="6398949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知识图谱推理：归纳学习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83173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1021669" y="1373777"/>
                <a:ext cx="7124032" cy="43973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0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0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669" y="1373777"/>
                <a:ext cx="7124032" cy="439736"/>
              </a:xfrm>
              <a:prstGeom prst="rect">
                <a:avLst/>
              </a:prstGeom>
              <a:blipFill>
                <a:blip r:embed="rId3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/>
          <p:nvPr/>
        </p:nvCxnSpPr>
        <p:spPr>
          <a:xfrm>
            <a:off x="6096250" y="1758887"/>
            <a:ext cx="1453487" cy="13647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6710401" y="1834602"/>
            <a:ext cx="204716" cy="504967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1666894" y="1773624"/>
            <a:ext cx="4176215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133570" y="1847040"/>
            <a:ext cx="204716" cy="504967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865419" y="2413090"/>
            <a:ext cx="189467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24455" y="2431751"/>
            <a:ext cx="222766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矩形 11"/>
              <p:cNvSpPr/>
              <p:nvPr/>
            </p:nvSpPr>
            <p:spPr>
              <a:xfrm>
                <a:off x="1486379" y="3300668"/>
                <a:ext cx="6651591" cy="216059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400" b="1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推理手段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: </a:t>
                </a:r>
              </a:p>
              <a:p>
                <a:pPr algn="just">
                  <a:lnSpc>
                    <a:spcPct val="150000"/>
                  </a:lnSpc>
                </a:pPr>
                <a:r>
                  <a:rPr lang="en-US" altLang="zh-CN" sz="2400" i="1" dirty="0">
                    <a:solidFill>
                      <a:srgbClr val="0066CC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positive examples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+ </a:t>
                </a:r>
                <a:r>
                  <a:rPr lang="en-US" altLang="zh-CN" sz="2400" i="1" dirty="0">
                    <a:solidFill>
                      <a:srgbClr val="0066CC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negative examples 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+ </a:t>
                </a:r>
                <a:r>
                  <a:rPr lang="en-US" altLang="zh-CN" sz="2400" i="1" dirty="0">
                    <a:solidFill>
                      <a:srgbClr val="0066CC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background knowledge examples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zh-CN" sz="2400" i="1" dirty="0">
                  <a:solidFill>
                    <a:prstClr val="black"/>
                  </a:solidFill>
                  <a:latin typeface="Cambria Math"/>
                  <a:ea typeface="Cambria Math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2000" dirty="0">
                    <a:solidFill>
                      <a:prstClr val="black"/>
                    </a:solidFill>
                    <a:latin typeface="Rockwell" panose="02060603020205020403"/>
                    <a:ea typeface="Cambria Math"/>
                    <a:cs typeface="Times New Roman" panose="02020603050405020304" pitchFamily="18" charset="0"/>
                  </a:rPr>
                  <a:t>                                                                           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  <a:ea typeface="Cambria Math"/>
                        <a:cs typeface="Times New Roman" panose="02020603050405020304" pitchFamily="18" charset="0"/>
                      </a:rPr>
                      <m:t>⟹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b="1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方正姚体" panose="02010601030101010101" pitchFamily="2" charset="-122"/>
                    <a:cs typeface="Times New Roman" panose="02020603050405020304" pitchFamily="18" charset="0"/>
                  </a:rPr>
                  <a:t>hypothesis  </a:t>
                </a:r>
                <a:endParaRPr lang="zh-CN" altLang="en-US" sz="2000" b="1" dirty="0">
                  <a:solidFill>
                    <a:srgbClr val="C00000"/>
                  </a:solidFill>
                  <a:latin typeface="Times New Roman" panose="02020603050405020304" pitchFamily="18" charset="0"/>
                  <a:ea typeface="方正姚体" panose="02010601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6379" y="3300668"/>
                <a:ext cx="6651591" cy="2160591"/>
              </a:xfrm>
              <a:prstGeom prst="rect">
                <a:avLst/>
              </a:prstGeom>
              <a:blipFill>
                <a:blip r:embed="rId4"/>
                <a:stretch>
                  <a:fillRect l="-1467" r="-1375" b="-39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24">
            <a:extLst>
              <a:ext uri="{FF2B5EF4-FFF2-40B4-BE49-F238E27FC236}">
                <a16:creationId xmlns:a16="http://schemas.microsoft.com/office/drawing/2014/main" id="{1A69F270-F695-4CD7-BF9A-E24E77FAA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54862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7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思想气泡: 云 1">
            <a:extLst>
              <a:ext uri="{FF2B5EF4-FFF2-40B4-BE49-F238E27FC236}">
                <a16:creationId xmlns:a16="http://schemas.microsoft.com/office/drawing/2014/main" id="{D4FE8B6F-F62F-4ABB-92AA-779082187F71}"/>
              </a:ext>
            </a:extLst>
          </p:cNvPr>
          <p:cNvSpPr/>
          <p:nvPr/>
        </p:nvSpPr>
        <p:spPr>
          <a:xfrm>
            <a:off x="461579" y="4203088"/>
            <a:ext cx="2827607" cy="2020460"/>
          </a:xfrm>
          <a:prstGeom prst="cloudCallout">
            <a:avLst>
              <a:gd name="adj1" fmla="val 48311"/>
              <a:gd name="adj2" fmla="val -88794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只能在已知两个实体关系且确定其关系与目标谓词相悖时，才能将这两个实体用于构建目标谓词的反例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3404381" y="1311495"/>
                <a:ext cx="4628661" cy="542276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14313" indent="-214313" algn="just">
                  <a:buFont typeface="Wingdings" panose="05000000000000000000" pitchFamily="2" charset="2"/>
                  <a:buChar char="l"/>
                </a:pPr>
                <a:r>
                  <a:rPr lang="zh-CN" altLang="en-US" sz="2000" b="1" dirty="0">
                    <a:solidFill>
                      <a:srgbClr val="C000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目标谓词：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  <m:d>
                      <m:dPr>
                        <m:ctrlPr>
                          <a:rPr lang="zh-CN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  <a:p>
                <a:pPr marL="214313" indent="-214313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目标谓词只有一个</a:t>
                </a:r>
                <a:r>
                  <a:rPr lang="zh-CN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正例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Mike)</a:t>
                </a:r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14313" indent="-214313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zh-CN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反例</a:t>
                </a:r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在知识图谱中一般不会显式给出，但可从知识图谱中构造出来。如从知识图谱中已经知道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𝐶𝑜𝑢𝑝𝑙𝑒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James)</a:t>
                </a:r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成立，则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James)</a:t>
                </a:r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可作为目标谓词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的一个反例，记为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¬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(David, James)</a:t>
                </a:r>
                <a:r>
                  <a:rPr lang="zh-CN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14313" indent="-214313" algn="just">
                  <a:lnSpc>
                    <a:spcPct val="150000"/>
                  </a:lnSpc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背景知识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：知识图谱中目标谓词以外的其他谓词</a:t>
                </a:r>
                <a:r>
                  <a:rPr lang="zh-CN" altLang="en-US" sz="2000" dirty="0">
                    <a:solidFill>
                      <a:srgbClr val="C0000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实例化结果</a:t>
                </a:r>
                <a:r>
                  <a:rPr lang="zh-CN" alt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，如𝑆𝑖𝑏𝑙𝑖𝑛𝑔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(Ann, Mike)</a:t>
                </a:r>
                <a:endParaRPr lang="en-US" altLang="zh-CN" sz="15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4381" y="1311495"/>
                <a:ext cx="4628661" cy="5422767"/>
              </a:xfrm>
              <a:prstGeom prst="rect">
                <a:avLst/>
              </a:prstGeom>
              <a:blipFill>
                <a:blip r:embed="rId3"/>
                <a:stretch>
                  <a:fillRect l="-1184" t="-787" r="-6711" b="-10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7EB9FEC1-2E70-476C-A3B3-6CB8278C1356}"/>
              </a:ext>
            </a:extLst>
          </p:cNvPr>
          <p:cNvSpPr/>
          <p:nvPr/>
        </p:nvSpPr>
        <p:spPr>
          <a:xfrm>
            <a:off x="859721" y="321615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家庭关系知识图谱</a:t>
            </a:r>
          </a:p>
        </p:txBody>
      </p:sp>
      <p:pic>
        <p:nvPicPr>
          <p:cNvPr id="9" name="图片 8" descr="C:\Users\lenovo\AppData\Local\Temp\WeChat Files\7d7bc87a952d34a8aba7b38dfbfa22f.png">
            <a:extLst>
              <a:ext uri="{FF2B5EF4-FFF2-40B4-BE49-F238E27FC236}">
                <a16:creationId xmlns:a16="http://schemas.microsoft.com/office/drawing/2014/main" id="{04C3FE7E-388E-4F26-9868-C50FA5B454F9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708" y="1368610"/>
            <a:ext cx="2625351" cy="1856306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24">
            <a:extLst>
              <a:ext uri="{FF2B5EF4-FFF2-40B4-BE49-F238E27FC236}">
                <a16:creationId xmlns:a16="http://schemas.microsoft.com/office/drawing/2014/main" id="{351E8AA7-B137-DC49-6919-8403BCFD8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04156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36640" y="1601615"/>
                <a:ext cx="7743010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2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0" y="1601615"/>
                <a:ext cx="7743010" cy="47448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377602" y="2178906"/>
            <a:ext cx="186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224908" y="2354226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803489" y="2173166"/>
            <a:ext cx="518021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291239" y="2353414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9964" y="2712311"/>
            <a:ext cx="1989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5624" y="2696717"/>
            <a:ext cx="2631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5840" y="3636044"/>
            <a:ext cx="7104185" cy="16842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推理思路：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从一般到特殊，逐步给目标谓词添加前提约束谓词，直到所构成的推理规则不覆盖任何反例。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0106" y="1600109"/>
            <a:ext cx="1734321" cy="474489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805C50F-7528-5A0C-CBFF-4A1CFA2D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0219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9" grpId="0" animBg="1"/>
      <p:bldP spid="7" grpId="0"/>
      <p:bldP spid="11" grpId="0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36640" y="1411699"/>
                <a:ext cx="7743010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2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0" y="1411699"/>
                <a:ext cx="7743010" cy="474489"/>
              </a:xfrm>
              <a:prstGeom prst="rect">
                <a:avLst/>
              </a:prstGeom>
              <a:blipFill>
                <a:blip r:embed="rId3"/>
                <a:stretch>
                  <a:fillRect b="-116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377602" y="1988990"/>
            <a:ext cx="186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224908" y="2164310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803489" y="1983250"/>
            <a:ext cx="518021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291239" y="2163498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9964" y="2522395"/>
            <a:ext cx="1989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5624" y="2506801"/>
            <a:ext cx="2631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005840" y="3446128"/>
            <a:ext cx="7083083" cy="27922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从一般到特殊：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对目标谓词或前提约束谓词中变量赋予具体值，将</a:t>
            </a:r>
            <a:endParaRPr lang="en-US" altLang="zh-CN" sz="2400" b="1" dirty="0">
              <a:solidFill>
                <a:srgbClr val="0070C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(∀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)(∀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)(∀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𝑧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)(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𝑧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)∧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𝐶𝑜𝑢𝑝𝑙𝑒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𝑧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)→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))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这一推理规则所包含的目标谓词𝐹𝑎𝑡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中𝑥和𝑦分别赋值为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David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Ann</a:t>
            </a:r>
            <a:r>
              <a:rPr lang="zh-CN" altLang="en-US" sz="2400" b="1" dirty="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，进而进行推理。</a:t>
            </a:r>
          </a:p>
        </p:txBody>
      </p:sp>
      <p:sp>
        <p:nvSpPr>
          <p:cNvPr id="6" name="矩形 5"/>
          <p:cNvSpPr/>
          <p:nvPr/>
        </p:nvSpPr>
        <p:spPr>
          <a:xfrm>
            <a:off x="6460106" y="1410193"/>
            <a:ext cx="1734321" cy="474489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805C50F-7528-5A0C-CBFF-4A1CFA2D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17766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9" grpId="0" animBg="1"/>
      <p:bldP spid="7" grpId="0"/>
      <p:bldP spid="11" grpId="0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2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377602" y="1981955"/>
            <a:ext cx="186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224908" y="2157275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803489" y="1976215"/>
            <a:ext cx="518021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291239" y="2156463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9964" y="2515360"/>
            <a:ext cx="1989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5624" y="2499766"/>
            <a:ext cx="2631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0106" y="1403158"/>
            <a:ext cx="1734321" cy="474489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805C50F-7528-5A0C-CBFF-4A1CFA2D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p:sp>
        <p:nvSpPr>
          <p:cNvPr id="12" name="流程图: 顺序访问存储器 11">
            <a:extLst>
              <a:ext uri="{FF2B5EF4-FFF2-40B4-BE49-F238E27FC236}">
                <a16:creationId xmlns:a16="http://schemas.microsoft.com/office/drawing/2014/main" id="{326351A7-572A-8C88-4638-CB951E2BAD68}"/>
              </a:ext>
            </a:extLst>
          </p:cNvPr>
          <p:cNvSpPr/>
          <p:nvPr/>
        </p:nvSpPr>
        <p:spPr>
          <a:xfrm>
            <a:off x="1273131" y="3716085"/>
            <a:ext cx="3377323" cy="1619124"/>
          </a:xfrm>
          <a:prstGeom prst="flowChartMagneticTap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Rockwell" panose="02060603020205020403"/>
                <a:ea typeface="黑体" pitchFamily="49" charset="-122"/>
              </a:rPr>
              <a:t>哪些谓词可以作为目标谓词的前提约束谓词？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03F9A36-6A50-2046-09D2-95E290F13A00}"/>
              </a:ext>
            </a:extLst>
          </p:cNvPr>
          <p:cNvSpPr/>
          <p:nvPr/>
        </p:nvSpPr>
        <p:spPr>
          <a:xfrm>
            <a:off x="5148894" y="4178460"/>
            <a:ext cx="2988830" cy="83099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信息增益值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ctr"/>
            <a:r>
              <a:rPr lang="en-US" altLang="zh-CN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(information gain)</a:t>
            </a:r>
            <a:endParaRPr lang="zh-CN" altLang="en-US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7603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9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animBg="1"/>
      <p:bldP spid="9" grpId="0" animBg="1"/>
      <p:bldP spid="7" grpId="0"/>
      <p:bldP spid="11" grpId="0"/>
      <p:bldP spid="6" grpId="0" animBg="1"/>
      <p:bldP spid="1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2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377602" y="1981955"/>
            <a:ext cx="186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224908" y="2157275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803489" y="1976215"/>
            <a:ext cx="518021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291239" y="2156463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9964" y="2515360"/>
            <a:ext cx="1989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5624" y="2499766"/>
            <a:ext cx="263122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0106" y="1403158"/>
            <a:ext cx="1734321" cy="474489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805C50F-7528-5A0C-CBFF-4A1CFA2D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4347636-D278-2FB9-8D62-C9D5FD1C564B}"/>
                  </a:ext>
                </a:extLst>
              </p:cNvPr>
              <p:cNvSpPr/>
              <p:nvPr/>
            </p:nvSpPr>
            <p:spPr>
              <a:xfrm>
                <a:off x="907367" y="3421583"/>
                <a:ext cx="7396900" cy="3142912"/>
              </a:xfrm>
              <a:prstGeom prst="rect">
                <a:avLst/>
              </a:prstGeom>
              <a:ln>
                <a:solidFill>
                  <a:srgbClr val="C00000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信息增益值计算方法：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𝐹𝑂𝐼𝐿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_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𝐺𝑎𝑖𝑛</m:t>
                      </m:r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zh-CN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>
                          <a:solidFill>
                            <a:prstClr val="black"/>
                          </a:solidFill>
                          <a:latin typeface="Cambria Math"/>
                        </a:rPr>
                        <m:t>⋅</m:t>
                      </m:r>
                      <m:d>
                        <m:dPr>
                          <m:ctrlPr>
                            <a:rPr lang="zh-CN" altLang="zh-CN" sz="20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zh-CN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̂"/>
                                      <m:ctrlPr>
                                        <a:rPr lang="zh-CN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20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CN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0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sub>
                                      </m:sSub>
                                    </m:e>
                                  </m:acc>
                                </m:den>
                              </m:f>
                            </m:e>
                          </m:func>
                          <m:r>
                            <a:rPr lang="en-US" altLang="zh-CN" sz="20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zh-CN" altLang="zh-CN" sz="20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0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0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zh-CN" altLang="zh-CN" sz="20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altLang="zh-CN" sz="20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0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e>
                      </m:d>
                    </m:oMath>
                  </m:oMathPara>
                </a14:m>
                <a:endParaRPr lang="zh-CN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2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zh-C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200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2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sz="2200" i="1">
                                <a:solidFill>
                                  <a:srgbClr val="002060"/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是增加前提约束谓词后所得新推理规则覆盖的正例和反例的数量</a:t>
                </a:r>
                <a:r>
                  <a:rPr lang="zh-CN" altLang="en-US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；</a:t>
                </a:r>
                <a:endParaRPr lang="en-US" altLang="zh-CN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srgbClr val="002060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200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2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2200" i="1">
                            <a:solidFill>
                              <a:srgbClr val="002060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</m:oMath>
                </a14:m>
                <a:r>
                  <a:rPr lang="zh-CN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是原推理规则所覆盖的正例和反例数量。</a:t>
                </a:r>
              </a:p>
            </p:txBody>
          </p:sp>
        </mc:Choice>
        <mc:Fallback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A4347636-D278-2FB9-8D62-C9D5FD1C56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67" y="3421583"/>
                <a:ext cx="7396900" cy="3142912"/>
              </a:xfrm>
              <a:prstGeom prst="rect">
                <a:avLst/>
              </a:prstGeom>
              <a:blipFill>
                <a:blip r:embed="rId4"/>
                <a:stretch>
                  <a:fillRect l="-1235" r="-988" b="-2124"/>
                </a:stretch>
              </a:blipFill>
              <a:ln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1587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75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2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377602" y="1981955"/>
            <a:ext cx="186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224908" y="2157275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803489" y="1976215"/>
            <a:ext cx="518021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4599539" y="2156463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9964" y="2515360"/>
            <a:ext cx="1989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354258" y="2499766"/>
            <a:ext cx="2666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0106" y="1403158"/>
            <a:ext cx="1734321" cy="474489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805C50F-7528-5A0C-CBFF-4A1CFA2D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352793D-E90C-B544-C6F8-C605AD9AF736}"/>
              </a:ext>
            </a:extLst>
          </p:cNvPr>
          <p:cNvSpPr/>
          <p:nvPr/>
        </p:nvSpPr>
        <p:spPr>
          <a:xfrm>
            <a:off x="3812346" y="3563945"/>
            <a:ext cx="4325814" cy="27922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依次将谓词作为前提约束谓词加入推理规则，计算所得新推理规则的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FOIL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增益值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基于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FOIL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增益值选择最佳前提约束谓词。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流程图: 顺序访问存储器 11">
                <a:extLst>
                  <a:ext uri="{FF2B5EF4-FFF2-40B4-BE49-F238E27FC236}">
                    <a16:creationId xmlns:a16="http://schemas.microsoft.com/office/drawing/2014/main" id="{D053FFCC-DF46-E375-2DBD-3D11FD80DEA3}"/>
                  </a:ext>
                </a:extLst>
              </p:cNvPr>
              <p:cNvSpPr/>
              <p:nvPr/>
            </p:nvSpPr>
            <p:spPr>
              <a:xfrm>
                <a:off x="942232" y="4468093"/>
                <a:ext cx="2419646" cy="1486354"/>
              </a:xfrm>
              <a:prstGeom prst="flowChartMagneticTape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214313" indent="-214313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𝑀𝑜𝑡h𝑒𝑟</m:t>
                    </m:r>
                    <m:d>
                      <m:dPr>
                        <m:ctrlPr>
                          <a:rPr lang="zh-CN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∙, ∙</m:t>
                        </m:r>
                      </m:e>
                    </m:d>
                  </m:oMath>
                </a14:m>
                <a:endParaRPr lang="en-US" altLang="zh-CN" sz="20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  <a:p>
                <a:pPr marL="214313" indent="-214313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𝑆𝑖𝑏𝑙𝑖𝑛𝑔</m:t>
                    </m:r>
                    <m:d>
                      <m:dPr>
                        <m:ctrlPr>
                          <a:rPr lang="zh-CN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0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∙,∙</m:t>
                        </m:r>
                      </m:e>
                    </m:d>
                  </m:oMath>
                </a14:m>
                <a:endParaRPr lang="en-US" altLang="zh-CN" sz="2000" i="1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  <a:p>
                <a:pPr marL="214313" indent="-214313">
                  <a:buFont typeface="Wingdings" panose="05000000000000000000" pitchFamily="2" charset="2"/>
                  <a:buChar char="l"/>
                </a:pP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𝐶𝑜𝑢𝑝𝑙</m:t>
                    </m:r>
                    <m:r>
                      <m:rPr>
                        <m:sty m:val="p"/>
                      </m:rPr>
                      <a:rPr lang="en-US" altLang="zh-CN" sz="2000">
                        <a:solidFill>
                          <a:prstClr val="black"/>
                        </a:solidFill>
                        <a:latin typeface="Cambria Math"/>
                      </a:rPr>
                      <m:t>e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(∙, ∙)</m:t>
                    </m:r>
                  </m:oMath>
                </a14:m>
                <a:endParaRPr lang="zh-CN" altLang="en-US" sz="2000" dirty="0">
                  <a:solidFill>
                    <a:prstClr val="black"/>
                  </a:solidFill>
                  <a:latin typeface="Rockwell" panose="02060603020205020403"/>
                  <a:ea typeface="黑体" pitchFamily="49" charset="-122"/>
                </a:endParaRPr>
              </a:p>
            </p:txBody>
          </p:sp>
        </mc:Choice>
        <mc:Fallback>
          <p:sp>
            <p:nvSpPr>
              <p:cNvPr id="12" name="流程图: 顺序访问存储器 11">
                <a:extLst>
                  <a:ext uri="{FF2B5EF4-FFF2-40B4-BE49-F238E27FC236}">
                    <a16:creationId xmlns:a16="http://schemas.microsoft.com/office/drawing/2014/main" id="{D053FFCC-DF46-E375-2DBD-3D11FD80DEA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2232" y="4468093"/>
                <a:ext cx="2419646" cy="1486354"/>
              </a:xfrm>
              <a:prstGeom prst="flowChartMagneticTap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 descr="C:\Users\lenovo\AppData\Local\Temp\WeChat Files\7d7bc87a952d34a8aba7b38dfbfa22f.png">
            <a:extLst>
              <a:ext uri="{FF2B5EF4-FFF2-40B4-BE49-F238E27FC236}">
                <a16:creationId xmlns:a16="http://schemas.microsoft.com/office/drawing/2014/main" id="{AB79FA6D-BED6-7CAB-5733-AE60A202FE13}"/>
              </a:ext>
            </a:extLst>
          </p:cNvPr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98" y="2228067"/>
            <a:ext cx="2666714" cy="17797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6385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2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2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640" y="1404664"/>
                <a:ext cx="7743010" cy="474489"/>
              </a:xfrm>
              <a:prstGeom prst="rect">
                <a:avLst/>
              </a:prstGeom>
              <a:blipFill>
                <a:blip r:embed="rId3"/>
                <a:stretch>
                  <a:fillRect b="-102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377602" y="1981955"/>
            <a:ext cx="1866063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224908" y="2157275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803489" y="1976215"/>
            <a:ext cx="5180217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220905" y="2156463"/>
            <a:ext cx="204716" cy="252483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89964" y="2515360"/>
            <a:ext cx="198968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975624" y="2499766"/>
            <a:ext cx="266671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60106" y="1403158"/>
            <a:ext cx="1734321" cy="474489"/>
          </a:xfrm>
          <a:prstGeom prst="rect">
            <a:avLst/>
          </a:prstGeom>
          <a:solidFill>
            <a:srgbClr val="FFFF00">
              <a:alpha val="32000"/>
            </a:srgb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4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10" name="Rectangle 24">
            <a:extLst>
              <a:ext uri="{FF2B5EF4-FFF2-40B4-BE49-F238E27FC236}">
                <a16:creationId xmlns:a16="http://schemas.microsoft.com/office/drawing/2014/main" id="{E805C50F-7528-5A0C-CBFF-4A1CFA2D1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E743A066-8CD8-FB8F-EEEA-2CC47AF48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6406694"/>
                  </p:ext>
                </p:extLst>
              </p:nvPr>
            </p:nvGraphicFramePr>
            <p:xfrm>
              <a:off x="803489" y="3527238"/>
              <a:ext cx="7440176" cy="250074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276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17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18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889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007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背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样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景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例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知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集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识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合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Sibling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Coupl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e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训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标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练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谓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样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词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例</a:t>
                          </a:r>
                          <a:endParaRPr 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22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(David, Mike)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2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22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22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22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表格 12">
                <a:extLst>
                  <a:ext uri="{FF2B5EF4-FFF2-40B4-BE49-F238E27FC236}">
                    <a16:creationId xmlns:a16="http://schemas.microsoft.com/office/drawing/2014/main" id="{E743A066-8CD8-FB8F-EEEA-2CC47AF481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06406694"/>
                  </p:ext>
                </p:extLst>
              </p:nvPr>
            </p:nvGraphicFramePr>
            <p:xfrm>
              <a:off x="803489" y="3527238"/>
              <a:ext cx="7440176" cy="2500747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92760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62177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1839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9889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2500747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背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样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景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例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知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集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识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合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5499" t="-243" r="-148724" b="-5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训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标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练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谓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样</a:t>
                          </a:r>
                          <a:endParaRPr lang="en-US" alt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词</a:t>
                          </a:r>
                          <a:r>
                            <a:rPr lang="en-US" altLang="zh-CN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 </a:t>
                          </a:r>
                          <a:r>
                            <a:rPr lang="zh-CN" altLang="en-US" sz="24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例</a:t>
                          </a:r>
                          <a:endParaRPr lang="zh-CN" sz="24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49084" t="-243" r="-407" b="-58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64548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485950"/>
                  </p:ext>
                </p:extLst>
              </p:nvPr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37485950"/>
                  </p:ext>
                </p:extLst>
              </p:nvPr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5230624" y="1315763"/>
                <a:ext cx="2970841" cy="50052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给定目标谓词，此时推理规则只有目标谓词，因此推理规则所覆盖的正例和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例的样本数分别是训练样本中正例和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反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例的数量，即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+</m:t>
                        </m:r>
                      </m:sub>
                    </m:sSub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=1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−</m:t>
                        </m:r>
                      </m:sub>
                    </m:sSub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=4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黑体" panose="02010609060101010101" pitchFamily="49" charset="-122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624" y="1315763"/>
                <a:ext cx="2970841" cy="5005281"/>
              </a:xfrm>
              <a:prstGeom prst="rect">
                <a:avLst/>
              </a:prstGeom>
              <a:blipFill>
                <a:blip r:embed="rId4"/>
                <a:stretch>
                  <a:fillRect l="-2669" r="-13552" b="-15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946743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矩形 12"/>
          <p:cNvSpPr/>
          <p:nvPr/>
        </p:nvSpPr>
        <p:spPr>
          <a:xfrm>
            <a:off x="5230624" y="1252457"/>
            <a:ext cx="2970841" cy="5203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dirty="0">
                <a:solidFill>
                  <a:srgbClr val="0070C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作为前提约束谓词加入得到推理规则  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)→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背景知识中，𝑀𝑜𝑡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有两个实例：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(James, Ann)              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(James, Mike)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7668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矩形 12"/>
          <p:cNvSpPr/>
          <p:nvPr/>
        </p:nvSpPr>
        <p:spPr>
          <a:xfrm>
            <a:off x="5230624" y="1266525"/>
            <a:ext cx="3195924" cy="4437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James,Ann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这一实例， </a:t>
            </a:r>
          </a:p>
          <a:p>
            <a:pPr algn="just"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 x = James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 = Ann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𝑥和𝑦代入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(James, Ann)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可知在训练样本中𝐹𝑎𝑡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(James, Ann)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是一个反例。</a:t>
            </a:r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62579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矩形 12"/>
          <p:cNvSpPr/>
          <p:nvPr/>
        </p:nvSpPr>
        <p:spPr>
          <a:xfrm>
            <a:off x="5230624" y="1266525"/>
            <a:ext cx="3195924" cy="44377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en-US" sz="19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𝑀𝑜𝑡</a:t>
            </a:r>
            <a:r>
              <a:rPr lang="en-US" altLang="zh-CN" sz="19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19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19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19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James,Mike</a:t>
            </a:r>
            <a:r>
              <a:rPr lang="en-US" altLang="zh-CN" sz="19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这一实例， </a:t>
            </a:r>
          </a:p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x= James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y = Mike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</a:p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𝑥和𝑦代入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James,Mike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  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可知在训练样本中𝐹𝑎𝑡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James,Mike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是一个反例。</a:t>
            </a:r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2836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5230624" y="1266525"/>
                <a:ext cx="3195924" cy="49158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/>
                      </a:rPr>
                      <m:t>𝑴𝒐𝒕𝒉𝒆𝒓</m:t>
                    </m:r>
                    <m:d>
                      <m:dPr>
                        <m:ctrlPr>
                          <a:rPr lang="zh-CN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/>
                      </a:rPr>
                      <m:t>→</m:t>
                    </m:r>
                    <m:r>
                      <a:rPr lang="en-US" altLang="zh-CN" b="1" i="1">
                        <a:solidFill>
                          <a:srgbClr val="002060"/>
                        </a:solidFill>
                        <a:latin typeface="Cambria Math"/>
                      </a:rPr>
                      <m:t>𝑭𝒂𝒕𝒉𝒆𝒓</m:t>
                    </m:r>
                    <m:d>
                      <m:dPr>
                        <m:ctrlPr>
                          <a:rPr lang="zh-CN" altLang="zh-CN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altLang="zh-CN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𝒚</m:t>
                        </m:r>
                      </m:e>
                    </m:d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</a:rPr>
                  <a:t> </a:t>
                </a: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覆盖正例和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反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例数量分别为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，即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−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=2</m:t>
                    </m:r>
                  </m:oMath>
                </a14:m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由于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zh-CN" altLang="zh-CN" sz="24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prstClr val="black"/>
                                </a:solidFill>
                                <a:latin typeface="Cambria Math"/>
                              </a:rPr>
                              <m:t>+</m:t>
                            </m:r>
                          </m:sub>
                        </m:sSub>
                      </m:e>
                    </m:acc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，代入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𝐹𝑂𝐼𝐿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_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𝐺𝑎𝑖𝑛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公式时会出现负无穷的情况，此时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𝐹𝑂𝐼𝐿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_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𝐺𝑎𝑖𝑛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记为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NA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Not Available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624" y="1266525"/>
                <a:ext cx="3195924" cy="4915898"/>
              </a:xfrm>
              <a:prstGeom prst="rect">
                <a:avLst/>
              </a:prstGeom>
              <a:blipFill>
                <a:blip r:embed="rId4"/>
                <a:stretch>
                  <a:fillRect l="-2481" r="-12786" b="-21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57353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矩形 12"/>
          <p:cNvSpPr/>
          <p:nvPr/>
        </p:nvSpPr>
        <p:spPr>
          <a:xfrm>
            <a:off x="5230624" y="1266525"/>
            <a:ext cx="3195924" cy="21562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将𝐶𝑜𝑢𝑝𝑙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𝑧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作为前提约束谓词加入，可得如下推理规则：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𝐶𝑜𝑢𝑝𝑙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e(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𝑧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)→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𝐹𝑎𝑡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0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45237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矩形 12"/>
          <p:cNvSpPr/>
          <p:nvPr/>
        </p:nvSpPr>
        <p:spPr>
          <a:xfrm>
            <a:off x="5230624" y="1266525"/>
            <a:ext cx="3195924" cy="44525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背景知识中，𝐶𝑜𝑢𝑝𝑙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𝑧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只有一个实例：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𝐶𝑜𝑢𝑝𝑙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e(</a:t>
            </a:r>
            <a:r>
              <a:rPr lang="en-US" altLang="zh-CN" sz="2400" dirty="0" err="1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David,James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66700" indent="-2667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=David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，𝑧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=James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，将其代入𝐹𝑎𝑡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𝑥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得到𝐹𝑎𝑡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ℎ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𝑒𝑟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(David,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𝑦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91219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5230624" y="1266525"/>
                <a:ext cx="3195924" cy="44542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训练样本中存在正例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4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David,Mike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以及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反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例</a:t>
                </a:r>
                <a14:m>
                  <m:oMath xmlns:m="http://schemas.openxmlformats.org/officeDocument/2006/math"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¬</m:t>
                    </m:r>
                    <m:r>
                      <a:rPr lang="en-US" altLang="zh-CN" sz="22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2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David,James</a:t>
                </a:r>
                <a:r>
                  <a:rPr lang="en-US" altLang="zh-CN" sz="2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257175" indent="-257175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e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𝑧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)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→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  <m:d>
                      <m:dPr>
                        <m:ctrlPr>
                          <a:rPr lang="zh-CN" altLang="zh-CN" sz="24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, </m:t>
                        </m:r>
                        <m:r>
                          <a:rPr lang="en-US" altLang="zh-CN" sz="2400" i="1">
                            <a:solidFill>
                              <a:prstClr val="black"/>
                            </a:solidFill>
                            <a:latin typeface="Cambria Math"/>
                          </a:rPr>
                          <m:t>𝑦</m:t>
                        </m:r>
                      </m:e>
                    </m:d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覆盖正例和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反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例数量分别为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624" y="1266525"/>
                <a:ext cx="3195924" cy="4454233"/>
              </a:xfrm>
              <a:prstGeom prst="rect">
                <a:avLst/>
              </a:prstGeom>
              <a:blipFill>
                <a:blip r:embed="rId4"/>
                <a:stretch>
                  <a:fillRect l="-2481" r="-12595" b="-24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80586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𝐹𝑂𝐼𝐿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_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𝐺𝑎𝑖𝑛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3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e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 smtClean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 smtClean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表格 9"/>
              <p:cNvGraphicFramePr>
                <a:graphicFrameLocks noGrp="1"/>
              </p:cNvGraphicFramePr>
              <p:nvPr/>
            </p:nvGraphicFramePr>
            <p:xfrm>
              <a:off x="666936" y="1259491"/>
              <a:ext cx="4369299" cy="518393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00008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6363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9850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77844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72922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19136"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推理规则涵盖的正例和反例数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49461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前提约束谓词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1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2712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389189" r="-339024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空集</a:t>
                          </a: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389189" r="-170068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389189" r="-95313" b="-18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99167" t="-389189" r="-1667" b="-18324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27123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10" t="-26975" r="-339024" b="-10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489189" r="-249686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489189" r="-170068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489189" r="-95313" b="-17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589189" r="-249686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589189" r="-170068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589189" r="-95313" b="-16324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671053" r="-249686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671053" r="-170068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671053" r="-95313" b="-14894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791892" r="-249686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791892" r="-170068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791892" r="-95313" b="-14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891892" r="-249686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891892" r="-170068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891892" r="-95313" b="-13297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965789" r="-249686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965789" r="-170068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965789" r="-95313" b="-11947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094595" r="-249686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094595" r="-170068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094595" r="-95313" b="-11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194595" r="-249686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194595" r="-170068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194595" r="-95313" b="-10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294595" r="-249686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294595" r="-170068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294595" r="-95313" b="-9270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357895" r="-249686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357895" r="-170068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357895" r="-95313" b="-80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497297" r="-249686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497297" r="-170068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497297" r="-95313" b="-7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597297" r="-249686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597297" r="-170068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597297" r="-95313" b="-6243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0.74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652632" r="-249686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652632" r="-170068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652632" r="-95313" b="-5078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800000" r="-249686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800000" r="-170068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800000" r="-95313" b="-4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1900000" r="-249686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1900000" r="-170068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1900000" r="-95313" b="-3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00000" r="-249686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00000" r="-170068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00000" r="-95313" b="-2216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044737" r="-249686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044737" r="-170068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044737" r="-95313" b="-11578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227123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3774" t="-2202703" r="-249686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0408" t="-2202703" r="-170068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67969" t="-2202703" r="-95313" b="-1891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矩形 12"/>
              <p:cNvSpPr/>
              <p:nvPr/>
            </p:nvSpPr>
            <p:spPr>
              <a:xfrm>
                <a:off x="5230624" y="1231355"/>
                <a:ext cx="3195924" cy="498085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57175" indent="-257175" algn="just">
                  <a:lnSpc>
                    <a:spcPct val="120000"/>
                  </a:lnSpc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信息增益值为：</a:t>
                </a:r>
                <a:endParaRPr lang="en-US" altLang="zh-CN" sz="2400" i="1" dirty="0">
                  <a:solidFill>
                    <a:prstClr val="black"/>
                  </a:solidFill>
                </a:endParaRPr>
              </a:p>
              <a:p>
                <a:pPr algn="just">
                  <a:lnSpc>
                    <a:spcPct val="12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e>
                            <m:sub>
                              <m:r>
                                <a:rPr lang="en-US" altLang="zh-CN" sz="22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+</m:t>
                              </m:r>
                            </m:sub>
                          </m:sSub>
                        </m:e>
                      </m:acc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⋅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acc>
                                    <m:accPr>
                                      <m:chr m:val="̂"/>
                                      <m:ctrlPr>
                                        <a:rPr lang="zh-CN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acc>
                                </m:num>
                                <m:den>
                                  <m:acc>
                                    <m:accPr>
                                      <m:chr m:val="̂"/>
                                      <m:ctrlPr>
                                        <a:rPr lang="zh-CN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+</m:t>
                                          </m:r>
                                        </m:sub>
                                      </m:sSub>
                                    </m:e>
                                  </m:acc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zh-CN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zh-CN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𝑚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2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/>
                                            </a:rPr>
                                            <m:t>−</m:t>
                                          </m:r>
                                        </m:sub>
                                      </m:sSub>
                                    </m:e>
                                  </m:acc>
                                </m:den>
                              </m:f>
                            </m:e>
                          </m:func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+</m:t>
                                      </m:r>
                                    </m:sub>
                                  </m:sSub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zh-CN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altLang="zh-CN" sz="2200" i="1">
                                          <a:solidFill>
                                            <a:prstClr val="black"/>
                                          </a:solidFill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=1⋅</m:t>
                      </m:r>
                      <m:d>
                        <m:dPr>
                          <m:ctrlPr>
                            <a:rPr lang="zh-CN" altLang="zh-CN" sz="22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1+1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zh-CN" sz="22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zh-CN" altLang="zh-CN" sz="22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b>
                                <m:sSub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2200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log</m:t>
                                  </m:r>
                                </m:e>
                                <m:sub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fName>
                            <m:e>
                              <m:f>
                                <m:fPr>
                                  <m:ctrlPr>
                                    <a:rPr lang="zh-CN" altLang="zh-CN" sz="22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200" i="1">
                                      <a:solidFill>
                                        <a:prstClr val="black"/>
                                      </a:solidFill>
                                      <a:latin typeface="Cambria Math"/>
                                    </a:rPr>
                                    <m:t>1+4</m:t>
                                  </m:r>
                                </m:den>
                              </m:f>
                            </m:e>
                          </m:func>
                        </m:e>
                      </m:d>
                      <m:r>
                        <a:rPr lang="en-US" altLang="zh-CN" sz="2200" i="1">
                          <a:solidFill>
                            <a:prstClr val="black"/>
                          </a:solidFill>
                          <a:latin typeface="Cambria Math"/>
                        </a:rPr>
                        <m:t>=1.32</m:t>
                      </m:r>
                    </m:oMath>
                  </m:oMathPara>
                </a14:m>
                <a:endParaRPr lang="zh-CN" altLang="en-US" sz="22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0624" y="1231355"/>
                <a:ext cx="3195924" cy="4980851"/>
              </a:xfrm>
              <a:prstGeom prst="rect">
                <a:avLst/>
              </a:prstGeom>
              <a:blipFill>
                <a:blip r:embed="rId4"/>
                <a:stretch>
                  <a:fillRect l="-2481" t="-7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24">
            <a:extLst>
              <a:ext uri="{FF2B5EF4-FFF2-40B4-BE49-F238E27FC236}">
                <a16:creationId xmlns:a16="http://schemas.microsoft.com/office/drawing/2014/main" id="{8A4CBF9C-DD8B-E683-A978-6F942FA84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2534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415499" y="1483778"/>
                <a:ext cx="3905541" cy="230832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</m:t>
                    </m:r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e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𝑥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,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 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𝑧</m:t>
                    </m:r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加入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后信息增益值最大，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得到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新推理规则：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𝐶𝑜𝑢𝑝𝑙𝑒</m:t>
                      </m:r>
                      <m:d>
                        <m:dPr>
                          <m:ctrlPr>
                            <a:rPr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→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𝐹𝑎𝑡h𝑒𝑟</m:t>
                      </m:r>
                      <m:d>
                        <m:dPr>
                          <m:ctrlPr>
                            <a:rPr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499" y="1483778"/>
                <a:ext cx="3905541" cy="2308324"/>
              </a:xfrm>
              <a:prstGeom prst="rect">
                <a:avLst/>
              </a:prstGeom>
              <a:blipFill>
                <a:blip r:embed="rId3"/>
                <a:stretch>
                  <a:fillRect l="-2028" r="-23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7886937"/>
                  </p:ext>
                </p:extLst>
              </p:nvPr>
            </p:nvGraphicFramePr>
            <p:xfrm>
              <a:off x="752622" y="1483778"/>
              <a:ext cx="3467685" cy="387785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903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773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8697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Back-ground </a:t>
                          </a: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华文楷体"/>
                              <a:cs typeface="Times New Roman" panose="02020603050405020304" pitchFamily="18" charset="0"/>
                            </a:rPr>
                            <a:t>knowledge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Sibling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Coupl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97413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 and negative samples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(David, Mike)</a:t>
                          </a:r>
                          <a:endParaRPr lang="zh-CN" alt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alt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strike="sng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altLang="zh-CN" sz="1800" b="0" strike="sngStrike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strike="sng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altLang="zh-CN" sz="1800" b="0" strike="sngStrike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strike="sng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1800" b="0" strike="sngStrike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57886937"/>
                  </p:ext>
                </p:extLst>
              </p:nvPr>
            </p:nvGraphicFramePr>
            <p:xfrm>
              <a:off x="752622" y="1483778"/>
              <a:ext cx="3467685" cy="387785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9030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77379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869735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Back-ground </a:t>
                          </a: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华文楷体"/>
                              <a:cs typeface="Times New Roman" panose="02020603050405020304" pitchFamily="18" charset="0"/>
                            </a:rPr>
                            <a:t>knowledge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674" t="-326" r="-535" b="-1153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812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 and negative samples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674" t="-93333" r="-535" b="-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24">
            <a:extLst>
              <a:ext uri="{FF2B5EF4-FFF2-40B4-BE49-F238E27FC236}">
                <a16:creationId xmlns:a16="http://schemas.microsoft.com/office/drawing/2014/main" id="{22F5E6D5-98EB-DF6B-65DF-EEB467F0C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3719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415499" y="1265724"/>
                <a:ext cx="3905541" cy="55622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将训练样例中与该推理规则不符的样例去掉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不符指当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𝐶𝑜𝑢𝑝𝑙𝑒</m:t>
                    </m:r>
                    <m:d>
                      <m:dPr>
                        <m:ctrlPr>
                          <a:rPr lang="zh-CN" altLang="zh-CN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sz="2000">
                            <a:solidFill>
                              <a:prstClr val="black"/>
                            </a:solidFill>
                            <a:latin typeface="Cambria Math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altLang="zh-CN" sz="2000">
                            <a:solidFill>
                              <a:prstClr val="black"/>
                            </a:solidFill>
                            <a:latin typeface="Cambria Math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altLang="zh-CN" sz="2000">
                            <a:solidFill>
                              <a:prstClr val="black"/>
                            </a:solidFill>
                            <a:latin typeface="Cambria Math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中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取值为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David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时，与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 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¬</m:t>
                    </m:r>
                    <m:r>
                      <a:rPr lang="en-US" altLang="zh-CN" sz="2000">
                        <a:solidFill>
                          <a:prstClr val="black"/>
                        </a:solidFill>
                        <a:latin typeface="Cambria Math"/>
                        <a:ea typeface="黑体" panose="02010609060101010101" pitchFamily="49" charset="-122"/>
                        <a:cs typeface="Times New Roman" panose="02020603050405020304" pitchFamily="18" charset="0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 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无法匹配的实例。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训练样本集中只有正例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David,Mike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和负例</a:t>
                </a:r>
                <a14:m>
                  <m:oMath xmlns:m="http://schemas.openxmlformats.org/officeDocument/2006/math"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¬</m:t>
                    </m:r>
                    <m:r>
                      <a:rPr lang="en-US" altLang="zh-CN" sz="20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2000" dirty="0" err="1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David,James</a:t>
                </a:r>
                <a:r>
                  <a:rPr lang="en-US" altLang="zh-CN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两个实例</a:t>
                </a: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。</a:t>
                </a:r>
                <a:endParaRPr lang="zh-CN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499" y="1265724"/>
                <a:ext cx="3905541" cy="5562228"/>
              </a:xfrm>
              <a:prstGeom prst="rect">
                <a:avLst/>
              </a:prstGeom>
              <a:blipFill>
                <a:blip r:embed="rId3"/>
                <a:stretch>
                  <a:fillRect l="-2028" r="-3588" b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38554" y="1463040"/>
              <a:ext cx="3481753" cy="388788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951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6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87976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Back-ground </a:t>
                          </a: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华文楷体"/>
                              <a:cs typeface="Times New Roman" panose="02020603050405020304" pitchFamily="18" charset="0"/>
                            </a:rPr>
                            <a:t>knowledge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Sibling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Coupl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936899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 and negative samples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(David, Mike)</a:t>
                          </a:r>
                          <a:endParaRPr lang="zh-CN" alt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alt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strike="sng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altLang="zh-CN" sz="1800" b="0" strike="sngStrike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strike="sng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altLang="zh-CN" sz="1800" b="0" strike="sngStrike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1800" b="0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800" b="0" i="1" strike="sngStrike">
                                  <a:solidFill>
                                    <a:schemeClr val="tx1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altLang="zh-CN" sz="1800" b="0" strike="sngStrike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1800" b="0" strike="sngStrike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表格 1"/>
              <p:cNvGraphicFramePr>
                <a:graphicFrameLocks noGrp="1"/>
              </p:cNvGraphicFramePr>
              <p:nvPr/>
            </p:nvGraphicFramePr>
            <p:xfrm>
              <a:off x="738554" y="1463040"/>
              <a:ext cx="3481753" cy="3887886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19513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61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1879762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Back-ground </a:t>
                          </a: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华文楷体"/>
                              <a:cs typeface="Times New Roman" panose="02020603050405020304" pitchFamily="18" charset="0"/>
                            </a:rPr>
                            <a:t>knowledge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394" t="-649" r="-532" b="-1149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08124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altLang="zh-CN" sz="18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 and negative samples</a:t>
                          </a:r>
                          <a:endParaRPr lang="zh-CN" sz="18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华文楷体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2394" t="-93939" r="-532" b="-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Rectangle 24">
            <a:extLst>
              <a:ext uri="{FF2B5EF4-FFF2-40B4-BE49-F238E27FC236}">
                <a16:creationId xmlns:a16="http://schemas.microsoft.com/office/drawing/2014/main" id="{22F5E6D5-98EB-DF6B-65DF-EEB467F0C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7487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4832255" y="1265724"/>
                <a:ext cx="3643533" cy="515288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6700" indent="-26670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𝑀𝑜𝑡h𝑒𝑟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(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𝑧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, 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𝑦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加入信息增益值最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大，得到新推理规则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smtClean="0">
                          <a:solidFill>
                            <a:srgbClr val="002060"/>
                          </a:solidFill>
                          <a:latin typeface="Cambria Math"/>
                        </a:rPr>
                        <m:t>𝑴𝒐𝒕𝒉𝒆𝒓</m:t>
                      </m:r>
                      <m:d>
                        <m:dPr>
                          <m:ctrlPr>
                            <a:rPr lang="zh-CN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𝒛</m:t>
                          </m:r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/>
                        </a:rPr>
                        <m:t>∧</m:t>
                      </m:r>
                      <m:r>
                        <a:rPr lang="en-US" altLang="zh-CN" sz="2000" b="1">
                          <a:solidFill>
                            <a:srgbClr val="00206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/>
                        </a:rPr>
                        <m:t>𝑪𝒐𝒖𝒑𝒍𝒆</m:t>
                      </m:r>
                      <m:d>
                        <m:dPr>
                          <m:ctrlPr>
                            <a:rPr lang="zh-CN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</m:d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/>
                        </a:rPr>
                        <m:t>→</m:t>
                      </m:r>
                      <m:r>
                        <a:rPr lang="en-US" altLang="zh-CN" sz="2000" b="1" i="1">
                          <a:solidFill>
                            <a:srgbClr val="002060"/>
                          </a:solidFill>
                          <a:latin typeface="Cambria Math"/>
                        </a:rPr>
                        <m:t>𝑭𝒂𝒕𝒉𝒆𝒓</m:t>
                      </m:r>
                      <m:d>
                        <m:dPr>
                          <m:ctrlPr>
                            <a:rPr lang="zh-CN" altLang="zh-CN" sz="2000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altLang="zh-CN" sz="2000" b="1" i="1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altLang="zh-CN" sz="2000" b="1" dirty="0">
                  <a:solidFill>
                    <a:srgbClr val="00206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x=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David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:r>
                  <a:rPr lang="en-US" altLang="zh-CN" sz="24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=Mike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、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>
                        <a:solidFill>
                          <a:prstClr val="black"/>
                        </a:solidFill>
                        <a:latin typeface="Cambria Math"/>
                      </a:rPr>
                      <m:t>z</m:t>
                    </m:r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=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James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时，该推理规则覆盖训练样本集合中正例</a:t>
                </a: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Mike)</a:t>
                </a:r>
                <a:r>
                  <a:rPr lang="zh-CN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且不覆盖任意反例，因此算法学习结束。</a:t>
                </a: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2255" y="1265724"/>
                <a:ext cx="3643533" cy="5152885"/>
              </a:xfrm>
              <a:prstGeom prst="rect">
                <a:avLst/>
              </a:prstGeom>
              <a:blipFill>
                <a:blip r:embed="rId3"/>
                <a:stretch>
                  <a:fillRect l="-2345" t="-118" r="-11055" b="-14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24">
            <a:extLst>
              <a:ext uri="{FF2B5EF4-FFF2-40B4-BE49-F238E27FC236}">
                <a16:creationId xmlns:a16="http://schemas.microsoft.com/office/drawing/2014/main" id="{22F5E6D5-98EB-DF6B-65DF-EEB467F0C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89C29E0-7AFC-D860-6035-9F66B60CD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072375"/>
                  </p:ext>
                </p:extLst>
              </p:nvPr>
            </p:nvGraphicFramePr>
            <p:xfrm>
              <a:off x="611945" y="1294227"/>
              <a:ext cx="4157002" cy="5324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1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923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85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44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40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48126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正例和反例数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0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现有规则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拟加入前提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约束谓词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995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3199">
                    <a:tc rowSpan="18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𝑴𝒐𝒕𝒉𝒆𝒓</m:t>
                                </m:r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𝒛</m:t>
                                </m:r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en-US" sz="1000" b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sz="1000" b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212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89C29E0-7AFC-D860-6035-9F66B60CD48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6072375"/>
                  </p:ext>
                </p:extLst>
              </p:nvPr>
            </p:nvGraphicFramePr>
            <p:xfrm>
              <a:off x="611945" y="1294227"/>
              <a:ext cx="4157002" cy="5324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1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923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85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44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40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48126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正例和反例数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0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现有规则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拟加入前提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约束谓词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9953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7" t="-452727" r="-103264" b="-105636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452727" r="-185246" b="-10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452727" r="-89916" b="-10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3199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04" t="-53240" r="-382394" b="-17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950000" r="-178462" b="-17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950000" r="-185246" b="-17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950000" r="-89916" b="-17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050000" r="-178462" b="-16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050000" r="-185246" b="-16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050000" r="-89916" b="-16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187097" r="-178462" b="-15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187097" r="-185246" b="-15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187097" r="-89916" b="-15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246875" r="-178462" b="-14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246875" r="-185246" b="-14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246875" r="-89916" b="-14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346875" r="-178462" b="-13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346875" r="-185246" b="-13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346875" r="-89916" b="-13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446875" r="-178462" b="-1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446875" r="-185246" b="-1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446875" r="-89916" b="-1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596774" r="-178462" b="-115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596774" r="-185246" b="-115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596774" r="-89916" b="-115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643750" r="-178462" b="-10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643750" r="-185246" b="-10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643750" r="-89916" b="-10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743750" r="-178462" b="-9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743750" r="-185246" b="-9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743750" r="-89916" b="-9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903226" r="-178462" b="-8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903226" r="-185246" b="-8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903226" r="-89916" b="-8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1940625" r="-178462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1940625" r="-185246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1940625" r="-89916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040625" r="-178462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040625" r="-18524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040625" r="-8991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140625" r="-178462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140625" r="-18524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140625" r="-8991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312903" r="-178462" b="-4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312903" r="-185246" b="-4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312903" r="-89916" b="-4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337500" r="-178462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337500" r="-185246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337500" r="-89916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437500" r="-178462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437500" r="-185246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437500" r="-89916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619355" r="-178462" b="-1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619355" r="-185246" b="-1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619355" r="-89916" b="-1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212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3333" t="-2634375" r="-178462" b="-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77049" t="-2634375" r="-185246" b="-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6555" t="-2634375" r="-89916" b="-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3821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4">
            <a:extLst>
              <a:ext uri="{FF2B5EF4-FFF2-40B4-BE49-F238E27FC236}">
                <a16:creationId xmlns:a16="http://schemas.microsoft.com/office/drawing/2014/main" id="{22F5E6D5-98EB-DF6B-65DF-EEB467F0C3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89C29E0-7AFC-D860-6035-9F66B60CD4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1945" y="1294227"/>
              <a:ext cx="4157002" cy="5324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1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923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85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44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40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48126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正例和反例数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0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现有规则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拟加入前提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约束谓词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9953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+</m:t>
                                    </m:r>
                                  </m:sub>
                                </m:sSub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00" b="0" i="1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sz="1000" b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−</m:t>
                                    </m:r>
                                  </m:sub>
                                </m:sSub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3199">
                    <a:tc rowSpan="18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𝐹𝑎𝑡h𝑒𝑟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)⟵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𝑀𝑜𝑡h𝑒𝑟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𝑴𝒐𝒕𝒉𝒆𝒓</m:t>
                                </m:r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𝒛</m:t>
                                </m:r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1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𝒚</m:t>
                                </m:r>
                                <m:r>
                                  <a:rPr lang="en-US" sz="1000" b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en-US" sz="1000" b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𝟏</m:t>
                                </m:r>
                              </m:oMath>
                            </m:oMathPara>
                          </a14:m>
                          <a:endParaRPr lang="zh-CN" sz="1000" b="1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1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1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𝒎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1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𝑆𝑖𝑏𝑙𝑖𝑛𝑔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acc>
                                <m:accPr>
                                  <m:chr m:val="̂"/>
                                  <m:ctrlPr>
                                    <a:rPr lang="zh-CN" sz="1000" b="0" i="1" smtClean="0">
                                      <a:solidFill>
                                        <a:schemeClr val="tx1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lang="zh-CN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000" b="0" i="1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zh-CN" altLang="en-US" sz="1000" b="0">
                                          <a:solidFill>
                                            <a:schemeClr val="tx1"/>
                                          </a:solidFill>
                                          <a:effectLst/>
                                          <a:latin typeface="Cambria Math"/>
                                        </a:rPr>
                                        <m:t>−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lang="en-US" sz="10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=</m:t>
                              </m:r>
                            </m:oMath>
                          </a14:m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𝑥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212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∧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𝐶𝑜𝑢𝑝𝑙𝑒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(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𝑧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, </m:t>
                                </m:r>
                                <m:r>
                                  <a:rPr lang="en-US" sz="10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  <m:r>
                                  <a:rPr lang="en-US" sz="1000" b="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+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̂"/>
                                    <m:ctrlPr>
                                      <a:rPr lang="zh-CN" sz="1000" b="0" i="1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zh-CN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00" b="0" i="1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</m:t>
                                        </m:r>
                                      </m:e>
                                      <m:sub>
                                        <m:r>
                                          <a:rPr lang="zh-CN" altLang="en-US" sz="1000" b="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−</m:t>
                                        </m:r>
                                      </m:sub>
                                    </m:sSub>
                                  </m:e>
                                </m:acc>
                                <m:r>
                                  <a:rPr lang="en-US" sz="1000" b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000" b="0" i="1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D89C29E0-7AFC-D860-6035-9F66B60CD485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11945" y="1294227"/>
              <a:ext cx="4157002" cy="5324629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86149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19238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3855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72448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640079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848126"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 gridSpan="2"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推理规则涵盖的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正例和反例数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FOIL</a:t>
                          </a: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660041"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现有规则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拟加入前提</a:t>
                          </a:r>
                        </a:p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约束谓词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正例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反例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12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信息增益值</a:t>
                          </a: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39953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7" t="-452727" r="-103264" b="-105636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452727" r="-185246" b="-10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452727" r="-89916" b="-1056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1.32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193199">
                    <a:tc rowSpan="18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04" t="-53240" r="-382394" b="-17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950000" r="-178462" b="-17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950000" r="-185246" b="-17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950000" r="-89916" b="-17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050000" r="-178462" b="-16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050000" r="-185246" b="-16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050000" r="-89916" b="-16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187097" r="-178462" b="-15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187097" r="-185246" b="-15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187097" r="-89916" b="-1567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246875" r="-178462" b="-14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246875" r="-185246" b="-14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246875" r="-89916" b="-14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346875" r="-178462" b="-13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346875" r="-185246" b="-13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346875" r="-89916" b="-13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446875" r="-178462" b="-1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446875" r="-185246" b="-1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446875" r="-89916" b="-12187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1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sz="1000" b="1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596774" r="-178462" b="-115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596774" r="-185246" b="-115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596774" r="-89916" b="-115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9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643750" r="-178462" b="-10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643750" r="-185246" b="-10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643750" r="-89916" b="-10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0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743750" r="-178462" b="-9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743750" r="-185246" b="-9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743750" r="-89916" b="-9218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1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903226" r="-178462" b="-8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903226" r="-185246" b="-8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903226" r="-89916" b="-85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2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1940625" r="-178462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1940625" r="-185246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1940625" r="-89916" b="-7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3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040625" r="-178462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040625" r="-18524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040625" r="-89916" b="-6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4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140625" r="-178462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140625" r="-18524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140625" r="-89916" b="-525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5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312903" r="-178462" b="-4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312903" r="-185246" b="-4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312903" r="-89916" b="-4419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6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337500" r="-178462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337500" r="-185246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337500" r="-89916" b="-3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7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437500" r="-178462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437500" r="-185246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437500" r="-89916" b="-228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8"/>
                      </a:ext>
                    </a:extLst>
                  </a:tr>
                  <a:tr h="193199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619355" r="-178462" b="-1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619355" r="-185246" b="-1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619355" r="-89916" b="-1354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19"/>
                      </a:ext>
                    </a:extLst>
                  </a:tr>
                  <a:tr h="192126">
                    <a:tc v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3333" t="-2634375" r="-178462" b="-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77049" t="-2634375" r="-185246" b="-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86555" t="-2634375" r="-89916" b="-31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lnSpc>
                              <a:spcPct val="100000"/>
                            </a:lnSpc>
                            <a:spcBef>
                              <a:spcPts val="6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NA</a:t>
                          </a:r>
                          <a:endParaRPr lang="zh-CN" sz="1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44371" marR="44371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20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63AE67E-E3B8-CD3E-45D3-0EFEB955DC59}"/>
                  </a:ext>
                </a:extLst>
              </p:cNvPr>
              <p:cNvSpPr/>
              <p:nvPr/>
            </p:nvSpPr>
            <p:spPr>
              <a:xfrm>
                <a:off x="5106572" y="1498209"/>
                <a:ext cx="3256671" cy="91384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/>
                        </a:rPr>
                        <m:t>𝑴𝒐𝒕𝒉𝒆𝒓</m:t>
                      </m:r>
                      <m:d>
                        <m:d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𝒛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/>
                        </a:rPr>
                        <m:t>∧</m:t>
                      </m:r>
                      <m:r>
                        <a:rPr lang="en-US" altLang="zh-CN" b="1">
                          <a:solidFill>
                            <a:srgbClr val="C0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/>
                        </a:rPr>
                        <m:t>𝑪𝒐𝒖𝒑𝒍𝒆</m:t>
                      </m:r>
                      <m:d>
                        <m:d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,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𝒛</m:t>
                          </m:r>
                        </m:e>
                      </m:d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/>
                        </a:rPr>
                        <m:t>→</m:t>
                      </m:r>
                      <m:r>
                        <a:rPr lang="en-US" altLang="zh-CN" b="1" i="1">
                          <a:solidFill>
                            <a:srgbClr val="C00000"/>
                          </a:solidFill>
                          <a:latin typeface="Cambria Math"/>
                        </a:rPr>
                        <m:t>𝑭𝒂𝒕𝒉𝒆𝒓</m:t>
                      </m:r>
                      <m:d>
                        <m:dPr>
                          <m:ctrlPr>
                            <a:rPr lang="zh-CN" altLang="zh-CN" b="1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𝒙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, </m:t>
                          </m:r>
                          <m:r>
                            <a:rPr lang="en-US" altLang="zh-CN" b="1" i="1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𝒚</m:t>
                          </m:r>
                        </m:e>
                      </m:d>
                    </m:oMath>
                  </m:oMathPara>
                </a14:m>
                <a:endParaRPr lang="en-US" altLang="zh-CN" sz="20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矩形 1">
                <a:extLst>
                  <a:ext uri="{FF2B5EF4-FFF2-40B4-BE49-F238E27FC236}">
                    <a16:creationId xmlns:a16="http://schemas.microsoft.com/office/drawing/2014/main" id="{663AE67E-E3B8-CD3E-45D3-0EFEB955DC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572" y="1498209"/>
                <a:ext cx="3256671" cy="91384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下箭头 2">
            <a:extLst>
              <a:ext uri="{FF2B5EF4-FFF2-40B4-BE49-F238E27FC236}">
                <a16:creationId xmlns:a16="http://schemas.microsoft.com/office/drawing/2014/main" id="{5CDFE708-3ABE-B75F-67DF-922F2125D333}"/>
              </a:ext>
            </a:extLst>
          </p:cNvPr>
          <p:cNvSpPr/>
          <p:nvPr/>
        </p:nvSpPr>
        <p:spPr>
          <a:xfrm>
            <a:off x="6562804" y="2412049"/>
            <a:ext cx="378725" cy="457760"/>
          </a:xfrm>
          <a:prstGeom prst="down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2301DFF-130D-5CC6-73DE-2C7A7E01EB80}"/>
                  </a:ext>
                </a:extLst>
              </p:cNvPr>
              <p:cNvSpPr/>
              <p:nvPr/>
            </p:nvSpPr>
            <p:spPr>
              <a:xfrm>
                <a:off x="5206620" y="2979382"/>
                <a:ext cx="3156623" cy="2445093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>
                <a:spAutoFit/>
              </a:bodyPr>
              <a:lstStyle/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已知：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𝑀𝑜𝑡h𝑒𝑟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(James, Ann)</a:t>
                </a: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𝐶𝑜𝑢𝑝𝑙𝑒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James)</a:t>
                </a:r>
              </a:p>
              <a:p>
                <a:pPr marL="457200" indent="-457200">
                  <a:lnSpc>
                    <a:spcPct val="13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 则：</a:t>
                </a:r>
                <a:endPara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3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>
                        <a:solidFill>
                          <a:prstClr val="black"/>
                        </a:solidFill>
                        <a:latin typeface="Cambria Math"/>
                      </a:rPr>
                      <m:t>𝐹𝑎𝑡h𝑒𝑟</m:t>
                    </m:r>
                  </m:oMath>
                </a14:m>
                <a:r>
                  <a:rPr lang="en-US" altLang="zh-CN" sz="24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(David, Ann)</a:t>
                </a:r>
                <a:endPara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D2301DFF-130D-5CC6-73DE-2C7A7E01EB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6620" y="2979382"/>
                <a:ext cx="3156623" cy="2445093"/>
              </a:xfrm>
              <a:prstGeom prst="rect">
                <a:avLst/>
              </a:prstGeom>
              <a:blipFill>
                <a:blip r:embed="rId5"/>
                <a:stretch>
                  <a:fillRect l="-2308" b="-47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389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25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 1"/>
              <p:cNvSpPr/>
              <p:nvPr/>
            </p:nvSpPr>
            <p:spPr>
              <a:xfrm>
                <a:off x="541610" y="1261236"/>
                <a:ext cx="8124092" cy="5091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(∀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𝑦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)(∀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altLang="zh-CN" sz="2400" i="1">
                          <a:solidFill>
                            <a:prstClr val="black"/>
                          </a:solidFill>
                          <a:latin typeface="Cambria Math"/>
                        </a:rPr>
                        <m:t>)</m:t>
                      </m:r>
                      <m:d>
                        <m:dPr>
                          <m:ctrlPr>
                            <a:rPr lang="zh-CN" altLang="zh-CN" sz="24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𝑀𝑜𝑡h𝑒𝑟</m:t>
                          </m:r>
                          <m:d>
                            <m:d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∧</m:t>
                          </m:r>
                          <m:r>
                            <a:rPr lang="en-US" altLang="zh-CN" sz="2400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𝐶𝑜𝑢𝑝𝑙𝑒</m:t>
                          </m:r>
                          <m:d>
                            <m:d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𝑧</m:t>
                              </m:r>
                            </m:e>
                          </m:d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→</m:t>
                          </m:r>
                          <m:r>
                            <a:rPr lang="en-US" altLang="zh-CN" sz="2400" i="1">
                              <a:solidFill>
                                <a:prstClr val="black"/>
                              </a:solidFill>
                              <a:latin typeface="Cambria Math"/>
                            </a:rPr>
                            <m:t>𝐹𝑎𝑡h𝑒𝑟</m:t>
                          </m:r>
                          <m:d>
                            <m:dPr>
                              <m:ctrlPr>
                                <a:rPr lang="zh-CN" altLang="zh-CN" sz="24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, </m:t>
                              </m:r>
                              <m:r>
                                <a:rPr lang="en-US" altLang="zh-CN" sz="2400" i="1">
                                  <a:solidFill>
                                    <a:prstClr val="black"/>
                                  </a:solidFill>
                                  <a:latin typeface="Cambria Math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CN" altLang="zh-CN" sz="2400" dirty="0">
                  <a:solidFill>
                    <a:prstClr val="black"/>
                  </a:solidFill>
                  <a:latin typeface="Rockwell" panose="02060603020205020403"/>
                  <a:ea typeface="方正姚体" panose="02010601030101010101" pitchFamily="2" charset="-122"/>
                </a:endParaRPr>
              </a:p>
            </p:txBody>
          </p:sp>
        </mc:Choice>
        <mc:Fallback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610" y="1261236"/>
                <a:ext cx="8124092" cy="5091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/>
          <p:cNvCxnSpPr>
            <a:cxnSpLocks/>
          </p:cNvCxnSpPr>
          <p:nvPr/>
        </p:nvCxnSpPr>
        <p:spPr>
          <a:xfrm>
            <a:off x="6731055" y="1700948"/>
            <a:ext cx="1800751" cy="6824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上箭头 4"/>
          <p:cNvSpPr/>
          <p:nvPr/>
        </p:nvSpPr>
        <p:spPr>
          <a:xfrm>
            <a:off x="7095298" y="1772441"/>
            <a:ext cx="318374" cy="342029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 flipV="1">
            <a:off x="668215" y="1707772"/>
            <a:ext cx="5654877" cy="29586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上箭头 8"/>
          <p:cNvSpPr/>
          <p:nvPr/>
        </p:nvSpPr>
        <p:spPr>
          <a:xfrm>
            <a:off x="3051036" y="1793123"/>
            <a:ext cx="318374" cy="298940"/>
          </a:xfrm>
          <a:prstGeom prst="up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>
              <a:solidFill>
                <a:prstClr val="black"/>
              </a:solidFill>
              <a:latin typeface="Rockwell" panose="02060603020205020403"/>
              <a:ea typeface="黑体" pitchFamily="49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37052" y="2069226"/>
            <a:ext cx="14487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目标谓词</a:t>
            </a:r>
            <a:endParaRPr lang="en-US" altLang="zh-CN" sz="2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已知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013302" y="2051465"/>
            <a:ext cx="240394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前提约束谓词</a:t>
            </a:r>
            <a:endParaRPr lang="en-US" altLang="zh-CN" sz="2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学习得到</a:t>
            </a:r>
            <a:r>
              <a:rPr lang="en-US" altLang="zh-CN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0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3820691"/>
                  </p:ext>
                </p:extLst>
              </p:nvPr>
            </p:nvGraphicFramePr>
            <p:xfrm>
              <a:off x="865164" y="2788909"/>
              <a:ext cx="7476978" cy="18796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504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520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884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670545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背景知识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样例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集合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Sibling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Coupl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e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Mother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训练样例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集合</a:t>
                          </a:r>
                          <a:endParaRPr 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(David,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(David, James)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Ann)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(James,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just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800" b="0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¬</m:t>
                              </m:r>
                              <m:r>
                                <m:rPr>
                                  <m:sty m:val="p"/>
                                </m:rPr>
                                <a:rPr lang="en-US" sz="1800" b="0" i="1">
                                  <a:solidFill>
                                    <a:schemeClr val="tx1"/>
                                  </a:solidFill>
                                  <a:effectLst/>
                                  <a:latin typeface="Cambria Math"/>
                                </a:rPr>
                                <m:t>Father</m:t>
                              </m:r>
                            </m:oMath>
                          </a14:m>
                          <a:r>
                            <a:rPr lang="en-US" sz="18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(Ann, Mike)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表格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3820691"/>
                  </p:ext>
                </p:extLst>
              </p:nvPr>
            </p:nvGraphicFramePr>
            <p:xfrm>
              <a:off x="865164" y="2788909"/>
              <a:ext cx="7476978" cy="1879600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135049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286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252024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5884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</a:tblGrid>
                  <a:tr h="1879600"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背景知识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样例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集合</a:t>
                          </a:r>
                          <a:endParaRPr lang="zh-CN" sz="18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9467" t="-4207" r="-168800" b="-7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目标谓词</a:t>
                          </a: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训练样例</a:t>
                          </a:r>
                          <a:endParaRPr lang="en-US" alt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spcBef>
                              <a:spcPts val="100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zh-CN" altLang="en-US" sz="2000" b="0" dirty="0">
                              <a:solidFill>
                                <a:schemeClr val="tx1"/>
                              </a:solidFill>
                              <a:effectLst/>
                              <a:latin typeface="Times New Roman" panose="020206030504050203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a:t>集合</a:t>
                          </a:r>
                          <a:endParaRPr lang="zh-CN" sz="2000" b="0" dirty="0">
                            <a:solidFill>
                              <a:schemeClr val="tx1"/>
                            </a:solidFill>
                            <a:effectLst/>
                            <a:latin typeface="Times New Roman" panose="020206030504050203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51435" marR="51435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9176" t="-4207" r="-471" b="-77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矩形 2"/>
          <p:cNvSpPr/>
          <p:nvPr/>
        </p:nvSpPr>
        <p:spPr>
          <a:xfrm>
            <a:off x="759905" y="4816752"/>
            <a:ext cx="7666642" cy="1556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给定目标谓词，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FOIL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从实例（正例、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例、背景样例）出发，不断测试所得推理规则是否还包含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反</a:t>
            </a:r>
            <a:r>
              <a:rPr lang="zh-CN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例，一旦不包含，则学习结束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8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——</a:t>
            </a:r>
            <a:r>
              <a:rPr lang="zh-CN" altLang="zh-CN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归纳学习</a:t>
            </a:r>
            <a:r>
              <a:rPr lang="zh-CN" altLang="zh-CN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”</a:t>
            </a:r>
            <a:endParaRPr lang="zh-CN" altLang="en-US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4">
            <a:extLst>
              <a:ext uri="{FF2B5EF4-FFF2-40B4-BE49-F238E27FC236}">
                <a16:creationId xmlns:a16="http://schemas.microsoft.com/office/drawing/2014/main" id="{2755794D-4745-DAE5-E891-1766307C1F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150609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7" grpId="0"/>
      <p:bldP spid="11" grpId="0"/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/>
        </p:nvPicPr>
        <p:blipFill>
          <a:blip r:embed="rId3"/>
          <a:stretch>
            <a:fillRect/>
          </a:stretch>
        </p:blipFill>
        <p:spPr>
          <a:xfrm>
            <a:off x="1211982" y="1461580"/>
            <a:ext cx="6720035" cy="4158463"/>
          </a:xfrm>
          <a:prstGeom prst="rect">
            <a:avLst/>
          </a:prstGeom>
        </p:spPr>
      </p:pic>
      <p:sp>
        <p:nvSpPr>
          <p:cNvPr id="2" name="Rectangle 24">
            <a:extLst>
              <a:ext uri="{FF2B5EF4-FFF2-40B4-BE49-F238E27FC236}">
                <a16:creationId xmlns:a16="http://schemas.microsoft.com/office/drawing/2014/main" id="{FA2FCEC8-6F33-303E-926E-871D124C9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808754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111645" y="1404393"/>
            <a:ext cx="6921398" cy="41145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57175" indent="-257175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归纳推理：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266700" algn="just">
              <a:lnSpc>
                <a:spcPct val="150000"/>
              </a:lnSpc>
              <a:spcBef>
                <a:spcPts val="600"/>
              </a:spcBef>
            </a:pP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给定目标谓词，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FOIL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算法从实例出发，不断测试所得推理规则是否还包含反例，一旦不包含，则学习结束，由此充分展示了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归纳学习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的能力。</a:t>
            </a:r>
            <a:endParaRPr lang="en-US" altLang="zh-CN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257175" indent="-257175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206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演绎推理：</a:t>
            </a:r>
            <a:endParaRPr lang="en-US" altLang="zh-CN" sz="2400" dirty="0">
              <a:solidFill>
                <a:srgbClr val="00206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indent="358775" algn="just">
              <a:lnSpc>
                <a:spcPct val="150000"/>
              </a:lnSpc>
              <a:spcBef>
                <a:spcPts val="600"/>
              </a:spcBef>
            </a:pP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在学得推理规则后，再给推理规则中的变量赋予具体例子，经过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240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演绎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得到新的知识</a:t>
            </a: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sp>
        <p:nvSpPr>
          <p:cNvPr id="2" name="Rectangle 24">
            <a:extLst>
              <a:ext uri="{FF2B5EF4-FFF2-40B4-BE49-F238E27FC236}">
                <a16:creationId xmlns:a16="http://schemas.microsoft.com/office/drawing/2014/main" id="{FA2FCEC8-6F33-303E-926E-871D124C90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知识图谱推理：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FOIL(</a:t>
            </a:r>
            <a:r>
              <a:rPr lang="zh-CN" altLang="en-US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一阶归纳学习</a:t>
            </a:r>
            <a:r>
              <a:rPr lang="en-US" altLang="zh-CN" sz="34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8391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>
            <a:extLst>
              <a:ext uri="{FF2B5EF4-FFF2-40B4-BE49-F238E27FC236}">
                <a16:creationId xmlns:a16="http://schemas.microsoft.com/office/drawing/2014/main" id="{6A300084-DFA3-084C-B2F2-40059E9D0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34" y="1055210"/>
            <a:ext cx="5085457" cy="68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Times New Roman" panose="02020603050405020304" pitchFamily="18" charset="0"/>
              </a:rPr>
              <a:t>  提纲</a:t>
            </a:r>
          </a:p>
        </p:txBody>
      </p:sp>
      <p:sp>
        <p:nvSpPr>
          <p:cNvPr id="22" name="矩形 7"/>
          <p:cNvSpPr>
            <a:spLocks noChangeArrowheads="1"/>
          </p:cNvSpPr>
          <p:nvPr/>
        </p:nvSpPr>
        <p:spPr bwMode="auto">
          <a:xfrm>
            <a:off x="1287194" y="2827609"/>
            <a:ext cx="5431191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二、谓词逻辑</a:t>
            </a:r>
          </a:p>
        </p:txBody>
      </p:sp>
      <p:sp>
        <p:nvSpPr>
          <p:cNvPr id="24" name="矩形 7"/>
          <p:cNvSpPr>
            <a:spLocks noChangeArrowheads="1"/>
          </p:cNvSpPr>
          <p:nvPr/>
        </p:nvSpPr>
        <p:spPr bwMode="auto">
          <a:xfrm>
            <a:off x="1318385" y="1932804"/>
            <a:ext cx="5400000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</a:rPr>
              <a:t>一、命题逻辑</a:t>
            </a:r>
          </a:p>
        </p:txBody>
      </p:sp>
      <p:sp>
        <p:nvSpPr>
          <p:cNvPr id="6" name="矩形 7"/>
          <p:cNvSpPr>
            <a:spLocks noChangeArrowheads="1"/>
          </p:cNvSpPr>
          <p:nvPr/>
        </p:nvSpPr>
        <p:spPr bwMode="auto">
          <a:xfrm>
            <a:off x="1287194" y="3725846"/>
            <a:ext cx="5431191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三、知识图谱推理</a:t>
            </a:r>
          </a:p>
        </p:txBody>
      </p:sp>
      <p:sp>
        <p:nvSpPr>
          <p:cNvPr id="7" name="矩形 7"/>
          <p:cNvSpPr>
            <a:spLocks noChangeArrowheads="1"/>
          </p:cNvSpPr>
          <p:nvPr/>
        </p:nvSpPr>
        <p:spPr bwMode="auto">
          <a:xfrm>
            <a:off x="1287194" y="4649210"/>
            <a:ext cx="5431191" cy="56528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kumimoji="0" lang="zh-CN" altLang="en-US" sz="2800" b="1" dirty="0">
                <a:solidFill>
                  <a:srgbClr val="C00000"/>
                </a:solidFill>
                <a:latin typeface="Rockwell" panose="02060603020205020403"/>
                <a:ea typeface="微软雅黑" panose="020B0503020204020204" pitchFamily="34" charset="-122"/>
                <a:sym typeface="Calibri" panose="020F0502020204030204" pitchFamily="34" charset="0"/>
              </a:rPr>
              <a:t>四、因果推理</a:t>
            </a:r>
          </a:p>
        </p:txBody>
      </p:sp>
    </p:spTree>
    <p:extLst>
      <p:ext uri="{BB962C8B-B14F-4D97-AF65-F5344CB8AC3E}">
        <p14:creationId xmlns:p14="http://schemas.microsoft.com/office/powerpoint/2010/main" val="2664059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8716" y="2044472"/>
            <a:ext cx="2535073" cy="261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1195835" y="4907849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公鸡打鸣与太阳升起</a:t>
            </a:r>
          </a:p>
        </p:txBody>
      </p:sp>
      <p:sp>
        <p:nvSpPr>
          <p:cNvPr id="2" name="矩形 1"/>
          <p:cNvSpPr/>
          <p:nvPr/>
        </p:nvSpPr>
        <p:spPr>
          <a:xfrm>
            <a:off x="4402827" y="1263880"/>
            <a:ext cx="3510249" cy="1113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“</a:t>
            </a: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力，形之所以奋也</a:t>
            </a:r>
            <a:r>
              <a:rPr lang="en-US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”</a:t>
            </a:r>
          </a:p>
          <a:p>
            <a:pPr algn="r">
              <a:lnSpc>
                <a:spcPct val="150000"/>
              </a:lnSpc>
            </a:pPr>
            <a:r>
              <a:rPr lang="zh-CN" altLang="zh-CN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（墨经）</a:t>
            </a:r>
            <a:endParaRPr lang="zh-CN" altLang="en-US" sz="2400" dirty="0">
              <a:solidFill>
                <a:prstClr val="blac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685800" y="97771"/>
            <a:ext cx="7772400" cy="1609344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solidFill>
                  <a:srgbClr val="C00000"/>
                </a:solidFill>
              </a:rPr>
              <a:t>从关联到因果</a:t>
            </a:r>
          </a:p>
        </p:txBody>
      </p:sp>
      <p:sp>
        <p:nvSpPr>
          <p:cNvPr id="5" name="矩形 4"/>
          <p:cNvSpPr/>
          <p:nvPr/>
        </p:nvSpPr>
        <p:spPr>
          <a:xfrm>
            <a:off x="4183038" y="2470245"/>
            <a:ext cx="3936631" cy="286668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计算的可解释：因果是现象加解释，是一种人类文化，即人类在与自然的反复观察、预报、检验中得到的很好考验。</a:t>
            </a:r>
          </a:p>
        </p:txBody>
      </p:sp>
    </p:spTree>
    <p:extLst>
      <p:ext uri="{BB962C8B-B14F-4D97-AF65-F5344CB8AC3E}">
        <p14:creationId xmlns:p14="http://schemas.microsoft.com/office/powerpoint/2010/main" val="72209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983780" y="1317900"/>
            <a:ext cx="6348976" cy="402528"/>
          </a:xfrm>
        </p:spPr>
        <p:txBody>
          <a:bodyPr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Simpson’s Paradox (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辛普森悖论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i="1" dirty="0">
              <a:solidFill>
                <a:srgbClr val="0156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120273" y="2114904"/>
            <a:ext cx="264687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1973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年伯克利本科生录取率</a:t>
            </a:r>
            <a:endParaRPr lang="en-US" altLang="zh-CN" sz="16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6915248"/>
              </p:ext>
            </p:extLst>
          </p:nvPr>
        </p:nvGraphicFramePr>
        <p:xfrm>
          <a:off x="920375" y="2581422"/>
          <a:ext cx="312169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3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4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243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243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男生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女生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 vMerge="1">
                  <a:txBody>
                    <a:bodyPr/>
                    <a:lstStyle/>
                    <a:p>
                      <a:pPr algn="ctr"/>
                      <a:endParaRPr lang="zh-CN" altLang="en-US" b="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申请数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录取率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申请数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录取率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整体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8442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44%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4321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35%</a:t>
                      </a:r>
                      <a:endParaRPr lang="zh-CN" alt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333025"/>
              </p:ext>
            </p:extLst>
          </p:nvPr>
        </p:nvGraphicFramePr>
        <p:xfrm>
          <a:off x="4490113" y="1924337"/>
          <a:ext cx="3670510" cy="297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41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4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41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410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41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1286">
                <a:tc rowSpan="2">
                  <a:txBody>
                    <a:bodyPr/>
                    <a:lstStyle/>
                    <a:p>
                      <a:pPr algn="ctr"/>
                      <a:endParaRPr lang="en-US" altLang="zh-CN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学院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男生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女生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494">
                <a:tc vMerge="1"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申请数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录取率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申请数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录取率</a:t>
                      </a: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2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A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825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62%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108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82%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2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560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63%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25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68%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2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C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325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37%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593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34%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12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417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33%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375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35%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12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191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28%</a:t>
                      </a:r>
                      <a:endParaRPr lang="zh-CN" altLang="en-US" sz="16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393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24%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28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F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373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6%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341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a:t>7%</a:t>
                      </a:r>
                      <a:endParaRPr lang="zh-CN" altLang="en-US" sz="16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矩形 3"/>
          <p:cNvSpPr/>
          <p:nvPr/>
        </p:nvSpPr>
        <p:spPr>
          <a:xfrm>
            <a:off x="920375" y="4133702"/>
            <a:ext cx="32787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男生录取率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(44%)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远高于女生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(35%)</a:t>
            </a:r>
          </a:p>
        </p:txBody>
      </p:sp>
      <p:sp>
        <p:nvSpPr>
          <p:cNvPr id="5" name="矩形 4"/>
          <p:cNvSpPr/>
          <p:nvPr/>
        </p:nvSpPr>
        <p:spPr>
          <a:xfrm>
            <a:off x="4312585" y="4999077"/>
            <a:ext cx="3976780" cy="10181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六个最大的院系中，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个院系女生录取率大于男生。如果按照这样的分类，女生实际上比男生的录取率还高一点点。</a:t>
            </a:r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2332E150-0A95-A12B-FE6F-3A79FD50F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因果推理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9391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4" grpId="0"/>
      <p:bldP spid="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031177" y="1877938"/>
            <a:ext cx="662267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传统以统计建模为核心的推理手段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664561F-BEFD-4CB8-F133-A0AC34A34B75}"/>
              </a:ext>
            </a:extLst>
          </p:cNvPr>
          <p:cNvGrpSpPr/>
          <p:nvPr/>
        </p:nvGrpSpPr>
        <p:grpSpPr>
          <a:xfrm>
            <a:off x="1480789" y="2597285"/>
            <a:ext cx="6103886" cy="1858706"/>
            <a:chOff x="682388" y="2761061"/>
            <a:chExt cx="6103886" cy="1858706"/>
          </a:xfrm>
        </p:grpSpPr>
        <p:grpSp>
          <p:nvGrpSpPr>
            <p:cNvPr id="8" name="Group 4"/>
            <p:cNvGrpSpPr>
              <a:grpSpLocks/>
            </p:cNvGrpSpPr>
            <p:nvPr/>
          </p:nvGrpSpPr>
          <p:grpSpPr bwMode="auto">
            <a:xfrm>
              <a:off x="682388" y="2761061"/>
              <a:ext cx="6103886" cy="1858706"/>
              <a:chOff x="692" y="1324"/>
              <a:chExt cx="4080" cy="1423"/>
            </a:xfrm>
            <a:solidFill>
              <a:srgbClr val="FF9900"/>
            </a:solidFill>
          </p:grpSpPr>
          <p:cxnSp>
            <p:nvCxnSpPr>
              <p:cNvPr id="9" name="AutoShape 5"/>
              <p:cNvCxnSpPr>
                <a:cxnSpLocks noChangeShapeType="1"/>
                <a:stCxn id="10" idx="2"/>
                <a:endCxn id="12" idx="2"/>
              </p:cNvCxnSpPr>
              <p:nvPr/>
            </p:nvCxnSpPr>
            <p:spPr bwMode="auto">
              <a:xfrm rot="16200000" flipH="1">
                <a:off x="2344" y="426"/>
                <a:ext cx="482" cy="3226"/>
              </a:xfrm>
              <a:prstGeom prst="bentConnector3">
                <a:avLst>
                  <a:gd name="adj1" fmla="val 144632"/>
                </a:avLst>
              </a:prstGeom>
              <a:grpFill/>
              <a:ln w="38100">
                <a:solidFill>
                  <a:schemeClr val="tx1"/>
                </a:solidFill>
                <a:miter lim="800000"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</p:cxnSp>
          <p:sp>
            <p:nvSpPr>
              <p:cNvPr id="10" name="Text Box 6"/>
              <p:cNvSpPr txBox="1">
                <a:spLocks noChangeArrowheads="1"/>
              </p:cNvSpPr>
              <p:nvPr/>
            </p:nvSpPr>
            <p:spPr bwMode="auto">
              <a:xfrm>
                <a:off x="692" y="1421"/>
                <a:ext cx="561" cy="377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Data</a:t>
                </a:r>
              </a:p>
            </p:txBody>
          </p:sp>
          <p:sp>
            <p:nvSpPr>
              <p:cNvPr id="11" name="Text Box 7"/>
              <p:cNvSpPr txBox="1">
                <a:spLocks noChangeArrowheads="1"/>
              </p:cNvSpPr>
              <p:nvPr/>
            </p:nvSpPr>
            <p:spPr bwMode="auto">
              <a:xfrm>
                <a:off x="1932" y="2370"/>
                <a:ext cx="1093" cy="377"/>
              </a:xfrm>
              <a:prstGeom prst="rect">
                <a:avLst/>
              </a:prstGeom>
              <a:solidFill>
                <a:srgbClr val="00B05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  <a:defRPr/>
                </a:pPr>
                <a:r>
                  <a:rPr lang="en-US" sz="2000" b="1" dirty="0">
                    <a:solidFill>
                      <a:prstClr val="white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Inference</a:t>
                </a:r>
              </a:p>
            </p:txBody>
          </p:sp>
          <p:sp>
            <p:nvSpPr>
              <p:cNvPr id="12" name="Text Box 8"/>
              <p:cNvSpPr txBox="1">
                <a:spLocks noChangeArrowheads="1"/>
              </p:cNvSpPr>
              <p:nvPr/>
            </p:nvSpPr>
            <p:spPr bwMode="auto">
              <a:xfrm>
                <a:off x="3624" y="1324"/>
                <a:ext cx="1148" cy="956"/>
              </a:xfrm>
              <a:prstGeom prst="rect">
                <a:avLst/>
              </a:prstGeom>
              <a:grpFill/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algn="ctr" eaLnBrk="0" hangingPunct="0">
                  <a:defRPr/>
                </a:pPr>
                <a:r>
                  <a:rPr lang="en-US" sz="20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Q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(</a:t>
                </a:r>
                <a:r>
                  <a:rPr lang="en-US" sz="20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P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)</a:t>
                </a:r>
              </a:p>
              <a:p>
                <a:pPr algn="ctr" eaLnBrk="0" hangingPunct="0">
                  <a:defRPr/>
                </a:pP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(Aspects of </a:t>
                </a:r>
                <a:r>
                  <a:rPr lang="en-US" sz="2000" i="1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P</a:t>
                </a:r>
                <a:r>
                  <a:rPr lang="en-US" sz="20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ＭＳ Ｐゴシック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  <p:sp>
            <p:nvSpPr>
              <p:cNvPr id="13" name="Line 10"/>
              <p:cNvSpPr>
                <a:spLocks noChangeShapeType="1"/>
              </p:cNvSpPr>
              <p:nvPr/>
            </p:nvSpPr>
            <p:spPr bwMode="auto">
              <a:xfrm>
                <a:off x="3020" y="1584"/>
                <a:ext cx="604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eaLnBrk="0" hangingPunct="0">
                  <a:defRPr/>
                </a:pPr>
                <a:endParaRPr lang="en-US" sz="2000">
                  <a:solidFill>
                    <a:prstClr val="black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Line 11"/>
              <p:cNvSpPr>
                <a:spLocks noChangeShapeType="1"/>
              </p:cNvSpPr>
              <p:nvPr/>
            </p:nvSpPr>
            <p:spPr bwMode="auto">
              <a:xfrm flipH="1">
                <a:off x="1290" y="1584"/>
                <a:ext cx="604" cy="0"/>
              </a:xfrm>
              <a:prstGeom prst="line">
                <a:avLst/>
              </a:prstGeom>
              <a:grpFill/>
              <a:ln w="38100">
                <a:solidFill>
                  <a:schemeClr val="tx1"/>
                </a:solidFill>
                <a:round/>
                <a:headEnd/>
                <a:tailEnd type="triangl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eaLnBrk="0" hangingPunct="0">
                  <a:defRPr/>
                </a:pPr>
                <a:endParaRPr lang="en-US" sz="2000">
                  <a:solidFill>
                    <a:prstClr val="black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677265" y="2843816"/>
              <a:ext cx="1340162" cy="530747"/>
            </a:xfrm>
            <a:prstGeom prst="rect">
              <a:avLst/>
            </a:prstGeom>
            <a:solidFill>
              <a:srgbClr val="FF990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68412" tIns="34207" rIns="68412" bIns="34207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zh-CN" sz="15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Joint</a:t>
              </a:r>
            </a:p>
            <a:p>
              <a:pPr algn="ctr"/>
              <a:r>
                <a:rPr lang="en-US" altLang="zh-CN" sz="15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 </a:t>
              </a:r>
            </a:p>
          </p:txBody>
        </p:sp>
        <p:sp>
          <p:nvSpPr>
            <p:cNvPr id="16" name="Rectangle 14"/>
            <p:cNvSpPr>
              <a:spLocks noChangeArrowheads="1"/>
            </p:cNvSpPr>
            <p:nvPr/>
          </p:nvSpPr>
          <p:spPr bwMode="auto">
            <a:xfrm>
              <a:off x="3245002" y="3514007"/>
              <a:ext cx="255180" cy="299915"/>
            </a:xfrm>
            <a:prstGeom prst="rect">
              <a:avLst/>
            </a:prstGeom>
            <a:solidFill>
              <a:srgbClr val="3366FF"/>
            </a:solidFill>
            <a:ln>
              <a:noFill/>
            </a:ln>
          </p:spPr>
          <p:txBody>
            <a:bodyPr wrap="none" lIns="68412" tIns="34207" rIns="68412" bIns="34207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zh-CN" sz="1500" i="1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1163644" y="4646869"/>
            <a:ext cx="6869399" cy="1687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购买了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商品的顾客是否会购买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商品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just" eaLnBrk="0" hangingPunct="0">
              <a:lnSpc>
                <a:spcPct val="150000"/>
              </a:lnSpc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的联合分布建模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342900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|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AE5D3CAB-D7F2-D1AE-B1AB-BAAF3787A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780" y="1317900"/>
            <a:ext cx="6348976" cy="402528"/>
          </a:xfrm>
        </p:spPr>
        <p:txBody>
          <a:bodyPr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Simpson’s Paradox (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辛普森悖论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i="1" dirty="0">
              <a:solidFill>
                <a:srgbClr val="0156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ED107B4F-0077-E4AD-F2AA-31F18D5A2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因果推理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32920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E02A2B4B-B7AD-3DD6-B22E-E9220ED571AE}"/>
              </a:ext>
            </a:extLst>
          </p:cNvPr>
          <p:cNvGrpSpPr/>
          <p:nvPr/>
        </p:nvGrpSpPr>
        <p:grpSpPr>
          <a:xfrm>
            <a:off x="1192577" y="2438528"/>
            <a:ext cx="6686767" cy="2112241"/>
            <a:chOff x="1192577" y="2438528"/>
            <a:chExt cx="6686767" cy="2112241"/>
          </a:xfrm>
        </p:grpSpPr>
        <p:sp>
          <p:nvSpPr>
            <p:cNvPr id="17" name="Text Box 9"/>
            <p:cNvSpPr txBox="1">
              <a:spLocks noChangeArrowheads="1"/>
            </p:cNvSpPr>
            <p:nvPr/>
          </p:nvSpPr>
          <p:spPr bwMode="auto">
            <a:xfrm>
              <a:off x="1192577" y="2976375"/>
              <a:ext cx="866775" cy="34604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wrap="square" lIns="68380" tIns="34191" rIns="68380" bIns="34191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>
                  <a:solidFill>
                    <a:srgbClr val="FFFFCC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6274109" y="2800378"/>
              <a:ext cx="1605235" cy="62304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wrap="square" lIns="68380" tIns="34191" rIns="68380" bIns="34191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 eaLnBrk="1" hangingPunct="1"/>
              <a:r>
                <a:rPr lang="en-US" altLang="zh-CN" sz="1800" i="1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</a:t>
              </a:r>
              <a:r>
                <a:rPr lang="en-US" altLang="zh-CN" sz="1800">
                  <a:solidFill>
                    <a:srgbClr val="FFFFCC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1800" i="1">
                  <a:solidFill>
                    <a:srgbClr val="FFFFCC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P′</a:t>
              </a:r>
              <a:r>
                <a:rPr lang="en-US" altLang="zh-CN" sz="1800">
                  <a:solidFill>
                    <a:srgbClr val="FFFFCC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)</a:t>
              </a:r>
            </a:p>
            <a:p>
              <a:pPr algn="ctr" eaLnBrk="1" hangingPunct="1"/>
              <a:r>
                <a:rPr lang="en-US" altLang="zh-CN" sz="1800">
                  <a:solidFill>
                    <a:srgbClr val="FFFFCC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(Aspects of </a:t>
              </a:r>
              <a:r>
                <a:rPr lang="en-US" altLang="zh-CN" sz="1800" i="1">
                  <a:solidFill>
                    <a:srgbClr val="FFFFCC"/>
                  </a:solidFill>
                  <a:latin typeface="Times New Roman" pitchFamily="18" charset="0"/>
                  <a:cs typeface="Times New Roman" panose="02020603050405020304" pitchFamily="18" charset="0"/>
                </a:rPr>
                <a:t>P</a:t>
              </a:r>
              <a:r>
                <a:rPr lang="en-US" altLang="zh-CN" sz="180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itchFamily="18" charset="2"/>
                </a:rPr>
                <a:t>′</a:t>
              </a:r>
              <a:r>
                <a:rPr lang="en-US" altLang="zh-CN" sz="180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20" name="Line 13"/>
            <p:cNvSpPr>
              <a:spLocks noChangeShapeType="1"/>
            </p:cNvSpPr>
            <p:nvPr/>
          </p:nvSpPr>
          <p:spPr bwMode="auto">
            <a:xfrm flipH="1">
              <a:off x="2042826" y="3123038"/>
              <a:ext cx="384056" cy="1071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68412" tIns="34207" rIns="68412" bIns="34207" anchor="ctr"/>
            <a:lstStyle/>
            <a:p>
              <a:pPr>
                <a:defRPr/>
              </a:pPr>
              <a:endParaRPr lang="en-US">
                <a:solidFill>
                  <a:srgbClr val="CCECFF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Line 14"/>
            <p:cNvSpPr>
              <a:spLocks noChangeShapeType="1"/>
            </p:cNvSpPr>
            <p:nvPr/>
          </p:nvSpPr>
          <p:spPr bwMode="auto">
            <a:xfrm>
              <a:off x="5924553" y="3151016"/>
              <a:ext cx="349556" cy="35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68412" tIns="34207" rIns="68412" bIns="34207" anchor="ctr"/>
            <a:lstStyle/>
            <a:p>
              <a:pPr>
                <a:defRPr/>
              </a:pPr>
              <a:endParaRPr lang="en-US">
                <a:solidFill>
                  <a:srgbClr val="CCECFF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Box 17"/>
            <p:cNvSpPr txBox="1">
              <a:spLocks noChangeArrowheads="1"/>
            </p:cNvSpPr>
            <p:nvPr/>
          </p:nvSpPr>
          <p:spPr bwMode="auto">
            <a:xfrm>
              <a:off x="3687906" y="3733186"/>
              <a:ext cx="917153" cy="34604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wrap="square" lIns="68380" tIns="34191" rIns="68380" bIns="34191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>
                  <a:solidFill>
                    <a:srgbClr val="FFFFCC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change</a:t>
              </a:r>
            </a:p>
          </p:txBody>
        </p:sp>
        <p:sp>
          <p:nvSpPr>
            <p:cNvPr id="24" name="Text Box 11"/>
            <p:cNvSpPr txBox="1">
              <a:spLocks noChangeArrowheads="1"/>
            </p:cNvSpPr>
            <p:nvPr/>
          </p:nvSpPr>
          <p:spPr bwMode="auto">
            <a:xfrm>
              <a:off x="2511252" y="2470102"/>
              <a:ext cx="1292575" cy="1177078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68412" tIns="34207" rIns="68412" bIns="34207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endParaRPr lang="en-US" altLang="zh-CN" sz="1800" dirty="0">
                <a:solidFill>
                  <a:srgbClr val="FF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800" dirty="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Joint</a:t>
              </a:r>
            </a:p>
            <a:p>
              <a:pPr algn="ctr"/>
              <a:r>
                <a:rPr lang="en-US" altLang="zh-CN" sz="1800" dirty="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</a:p>
            <a:p>
              <a:pPr algn="ctr"/>
              <a:r>
                <a:rPr lang="en-US" altLang="zh-CN" sz="1800" dirty="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5" name="Rectangle 22"/>
            <p:cNvSpPr>
              <a:spLocks noChangeArrowheads="1"/>
            </p:cNvSpPr>
            <p:nvPr/>
          </p:nvSpPr>
          <p:spPr bwMode="auto">
            <a:xfrm>
              <a:off x="2965967" y="3834441"/>
              <a:ext cx="243958" cy="34608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wrap="square" lIns="68412" tIns="34207" rIns="68412" bIns="34207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zh-CN" sz="1800" i="1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6" name="Text Box 11"/>
            <p:cNvSpPr txBox="1">
              <a:spLocks noChangeArrowheads="1"/>
            </p:cNvSpPr>
            <p:nvPr/>
          </p:nvSpPr>
          <p:spPr bwMode="auto">
            <a:xfrm>
              <a:off x="4574898" y="2438528"/>
              <a:ext cx="1299542" cy="1177078"/>
            </a:xfrm>
            <a:prstGeom prst="rect">
              <a:avLst/>
            </a:prstGeom>
            <a:solidFill>
              <a:srgbClr val="00B050"/>
            </a:solidFill>
            <a:ln w="3810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square" lIns="68412" tIns="34207" rIns="68412" bIns="34207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endParaRPr lang="en-US" altLang="zh-CN" sz="1800">
                <a:solidFill>
                  <a:srgbClr val="FFFFCC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en-US" altLang="zh-CN" sz="180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Joint</a:t>
              </a:r>
            </a:p>
            <a:p>
              <a:pPr algn="ctr"/>
              <a:r>
                <a:rPr lang="en-US" altLang="zh-CN" sz="180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</a:t>
              </a:r>
            </a:p>
            <a:p>
              <a:pPr algn="ctr"/>
              <a:r>
                <a:rPr lang="en-US" altLang="zh-CN" sz="180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27" name="Rectangle 24"/>
            <p:cNvSpPr>
              <a:spLocks noChangeArrowheads="1"/>
            </p:cNvSpPr>
            <p:nvPr/>
          </p:nvSpPr>
          <p:spPr bwMode="auto">
            <a:xfrm>
              <a:off x="5049135" y="3818466"/>
              <a:ext cx="369025" cy="346081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txBody>
            <a:bodyPr wrap="square" lIns="68412" tIns="34207" rIns="68412" bIns="34207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itchFamily="34" charset="0"/>
                  <a:ea typeface="MS PGothic" pitchFamily="34" charset="-128"/>
                </a:defRPr>
              </a:lvl9pPr>
            </a:lstStyle>
            <a:p>
              <a:pPr algn="ctr"/>
              <a:r>
                <a:rPr lang="en-US" altLang="zh-CN" sz="1800" i="1" dirty="0">
                  <a:solidFill>
                    <a:srgbClr val="FFFFC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P′</a:t>
              </a:r>
            </a:p>
          </p:txBody>
        </p:sp>
        <p:sp>
          <p:nvSpPr>
            <p:cNvPr id="28" name="Line 5"/>
            <p:cNvSpPr>
              <a:spLocks noChangeShapeType="1"/>
            </p:cNvSpPr>
            <p:nvPr/>
          </p:nvSpPr>
          <p:spPr bwMode="auto">
            <a:xfrm flipH="1">
              <a:off x="4135335" y="3212928"/>
              <a:ext cx="0" cy="465534"/>
            </a:xfrm>
            <a:prstGeom prst="line">
              <a:avLst/>
            </a:prstGeom>
            <a:noFill/>
            <a:ln w="38100">
              <a:solidFill>
                <a:schemeClr val="tx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lIns="68412" tIns="34207" rIns="68412" bIns="34207" anchor="ctr"/>
            <a:lstStyle/>
            <a:p>
              <a:pPr eaLnBrk="0" hangingPunct="0">
                <a:defRPr/>
              </a:pPr>
              <a:endParaRPr lang="en-US" b="1" i="1">
                <a:solidFill>
                  <a:srgbClr val="CCECFF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29" name="Group 24"/>
            <p:cNvGrpSpPr>
              <a:grpSpLocks/>
            </p:cNvGrpSpPr>
            <p:nvPr/>
          </p:nvGrpSpPr>
          <p:grpSpPr bwMode="auto">
            <a:xfrm>
              <a:off x="3933825" y="3127206"/>
              <a:ext cx="453629" cy="59531"/>
              <a:chOff x="3721102" y="3056467"/>
              <a:chExt cx="604840" cy="80432"/>
            </a:xfrm>
            <a:solidFill>
              <a:srgbClr val="00B050"/>
            </a:solidFill>
          </p:grpSpPr>
          <p:sp>
            <p:nvSpPr>
              <p:cNvPr id="30" name="Line 3"/>
              <p:cNvSpPr>
                <a:spLocks noChangeShapeType="1"/>
              </p:cNvSpPr>
              <p:nvPr/>
            </p:nvSpPr>
            <p:spPr bwMode="auto">
              <a:xfrm>
                <a:off x="3729040" y="3056467"/>
                <a:ext cx="441326" cy="1608"/>
              </a:xfrm>
              <a:prstGeom prst="line">
                <a:avLst/>
              </a:prstGeom>
              <a:grpFill/>
              <a:ln w="2857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68412" tIns="34207" rIns="68412" bIns="34207" anchor="ctr"/>
              <a:lstStyle/>
              <a:p>
                <a:pPr eaLnBrk="0" hangingPunct="0">
                  <a:defRPr/>
                </a:pPr>
                <a:endParaRPr lang="en-US" b="1" i="1">
                  <a:solidFill>
                    <a:srgbClr val="CCECFF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Line 4"/>
              <p:cNvSpPr>
                <a:spLocks noChangeShapeType="1"/>
              </p:cNvSpPr>
              <p:nvPr/>
            </p:nvSpPr>
            <p:spPr bwMode="auto">
              <a:xfrm flipV="1">
                <a:off x="3721102" y="3133682"/>
                <a:ext cx="449264" cy="3217"/>
              </a:xfrm>
              <a:prstGeom prst="line">
                <a:avLst/>
              </a:prstGeom>
              <a:grpFill/>
              <a:ln w="28575">
                <a:solidFill>
                  <a:srgbClr val="FF00FF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68412" tIns="34207" rIns="68412" bIns="34207" anchor="ctr"/>
              <a:lstStyle/>
              <a:p>
                <a:pPr eaLnBrk="0" hangingPunct="0">
                  <a:defRPr/>
                </a:pPr>
                <a:endParaRPr lang="en-US" b="1" i="1">
                  <a:solidFill>
                    <a:srgbClr val="CCECFF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2"/>
              <p:cNvSpPr>
                <a:spLocks noChangeShapeType="1"/>
              </p:cNvSpPr>
              <p:nvPr/>
            </p:nvSpPr>
            <p:spPr bwMode="auto">
              <a:xfrm flipV="1">
                <a:off x="4133853" y="3093465"/>
                <a:ext cx="192089" cy="0"/>
              </a:xfrm>
              <a:prstGeom prst="line">
                <a:avLst/>
              </a:prstGeom>
              <a:grpFill/>
              <a:ln w="76200" cmpd="tri">
                <a:solidFill>
                  <a:srgbClr val="FF00FF"/>
                </a:solidFill>
                <a:round/>
                <a:headEnd/>
                <a:tailEnd type="triangl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lIns="68412" tIns="34207" rIns="68412" bIns="34207" anchor="ctr"/>
              <a:lstStyle/>
              <a:p>
                <a:pPr eaLnBrk="0" hangingPunct="0">
                  <a:defRPr/>
                </a:pPr>
                <a:endParaRPr lang="en-US" b="1" i="1">
                  <a:solidFill>
                    <a:srgbClr val="CCECFF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33" name="AutoShape 8"/>
            <p:cNvCxnSpPr>
              <a:cxnSpLocks noChangeShapeType="1"/>
            </p:cNvCxnSpPr>
            <p:nvPr/>
          </p:nvCxnSpPr>
          <p:spPr bwMode="auto">
            <a:xfrm rot="16200000" flipH="1">
              <a:off x="4238628" y="698329"/>
              <a:ext cx="157163" cy="5469731"/>
            </a:xfrm>
            <a:prstGeom prst="bentConnector3">
              <a:avLst>
                <a:gd name="adj1" fmla="val 610016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</p:cxnSp>
        <p:sp>
          <p:nvSpPr>
            <p:cNvPr id="18" name="Text Box 10"/>
            <p:cNvSpPr txBox="1">
              <a:spLocks noChangeArrowheads="1"/>
            </p:cNvSpPr>
            <p:nvPr/>
          </p:nvSpPr>
          <p:spPr bwMode="auto">
            <a:xfrm>
              <a:off x="3532587" y="4204720"/>
              <a:ext cx="1368028" cy="346049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  <a:effectLst/>
          </p:spPr>
          <p:txBody>
            <a:bodyPr wrap="square" lIns="68380" tIns="34191" rIns="68380" bIns="34191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dirty="0">
                  <a:solidFill>
                    <a:srgbClr val="FFFFCC"/>
                  </a:solidFill>
                  <a:latin typeface="Times New Roman" panose="02020603050405020304" pitchFamily="18" charset="0"/>
                  <a:ea typeface="ＭＳ Ｐゴシック" charset="0"/>
                  <a:cs typeface="Times New Roman" panose="02020603050405020304" pitchFamily="18" charset="0"/>
                </a:rPr>
                <a:t>Inference</a:t>
              </a:r>
            </a:p>
          </p:txBody>
        </p:sp>
      </p:grpSp>
      <p:sp>
        <p:nvSpPr>
          <p:cNvPr id="6" name="矩形 5"/>
          <p:cNvSpPr/>
          <p:nvPr/>
        </p:nvSpPr>
        <p:spPr>
          <a:xfrm>
            <a:off x="947558" y="5131653"/>
            <a:ext cx="7329805" cy="11302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如果商品价格上涨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倍，预测销售量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P′(sales)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的变化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如果放弃吸烟，预测癌症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P′(cancer)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的概率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945994" y="4547123"/>
            <a:ext cx="2983955" cy="495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数据分布从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P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变换到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P′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3342B89-2265-DCCD-5855-BC86396C2231}"/>
              </a:ext>
            </a:extLst>
          </p:cNvPr>
          <p:cNvSpPr/>
          <p:nvPr/>
        </p:nvSpPr>
        <p:spPr>
          <a:xfrm>
            <a:off x="983779" y="1871112"/>
            <a:ext cx="64858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400" dirty="0">
                <a:solidFill>
                  <a:prstClr val="black"/>
                </a:solidFill>
                <a:latin typeface="黑体" panose="02010609060101010101" pitchFamily="49" charset="-122"/>
                <a:ea typeface="黑体" panose="02010609060101010101" pitchFamily="49" charset="-122"/>
                <a:cs typeface="Times New Roman" panose="02020603050405020304" pitchFamily="18" charset="0"/>
              </a:rPr>
              <a:t>从统计建模推断到因果推理</a:t>
            </a:r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id="{10FC32C1-077C-187F-60FB-80DFB0156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780" y="1317900"/>
            <a:ext cx="6348976" cy="402528"/>
          </a:xfrm>
        </p:spPr>
        <p:txBody>
          <a:bodyPr>
            <a:noAutofit/>
          </a:bodyPr>
          <a:lstStyle/>
          <a:p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Simpson’s Paradox (</a:t>
            </a:r>
            <a:r>
              <a:rPr lang="zh-CN" altLang="en-US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辛普森悖论</a:t>
            </a:r>
            <a:r>
              <a:rPr lang="en-US" altLang="zh-CN" sz="24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sz="2400" i="1" dirty="0">
              <a:solidFill>
                <a:srgbClr val="0156FF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Rectangle 24">
            <a:extLst>
              <a:ext uri="{FF2B5EF4-FFF2-40B4-BE49-F238E27FC236}">
                <a16:creationId xmlns:a16="http://schemas.microsoft.com/office/drawing/2014/main" id="{257BC512-2586-308B-4652-52EB1F9C9E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因果推理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2022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>
            <a:extLst>
              <a:ext uri="{FF2B5EF4-FFF2-40B4-BE49-F238E27FC236}">
                <a16:creationId xmlns:a16="http://schemas.microsoft.com/office/drawing/2014/main" id="{C101EF42-D595-14C3-3239-521CCE9B4044}"/>
              </a:ext>
            </a:extLst>
          </p:cNvPr>
          <p:cNvGrpSpPr/>
          <p:nvPr/>
        </p:nvGrpSpPr>
        <p:grpSpPr>
          <a:xfrm>
            <a:off x="655092" y="1453484"/>
            <a:ext cx="7854289" cy="4558352"/>
            <a:chOff x="1030407" y="1589964"/>
            <a:chExt cx="7002636" cy="4558352"/>
          </a:xfrm>
        </p:grpSpPr>
        <p:sp>
          <p:nvSpPr>
            <p:cNvPr id="11" name="圆角矩形 10"/>
            <p:cNvSpPr/>
            <p:nvPr/>
          </p:nvSpPr>
          <p:spPr>
            <a:xfrm>
              <a:off x="1030407" y="1589964"/>
              <a:ext cx="7002636" cy="4558352"/>
            </a:xfrm>
            <a:prstGeom prst="roundRect">
              <a:avLst>
                <a:gd name="adj" fmla="val 10838"/>
              </a:avLst>
            </a:prstGeom>
            <a:solidFill>
              <a:srgbClr val="F79646">
                <a:lumMod val="40000"/>
                <a:lumOff val="60000"/>
              </a:srgbClr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eaLnBrk="0" hangingPunct="0">
                <a:lnSpc>
                  <a:spcPct val="130000"/>
                </a:lnSpc>
                <a:defRPr/>
              </a:pPr>
              <a:endParaRPr lang="zh-CN" altLang="en-US" sz="2400" kern="0">
                <a:solidFill>
                  <a:srgbClr val="FFFFFF"/>
                </a:solidFill>
                <a:latin typeface="Times New Roman"/>
                <a:ea typeface="黑体"/>
              </a:endParaRPr>
            </a:p>
          </p:txBody>
        </p:sp>
        <p:sp>
          <p:nvSpPr>
            <p:cNvPr id="12" name="圆角矩形 11"/>
            <p:cNvSpPr/>
            <p:nvPr/>
          </p:nvSpPr>
          <p:spPr bwMode="auto">
            <a:xfrm>
              <a:off x="1398896" y="1936830"/>
              <a:ext cx="6240494" cy="1059424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90500" h="63500"/>
            </a:sp3d>
          </p:spPr>
          <p:txBody>
            <a:bodyPr wrap="none" tIns="0" bIns="0" anchor="ctr"/>
            <a:lstStyle/>
            <a:p>
              <a:pPr algn="just" eaLnBrk="0" hangingPunct="0">
                <a:lnSpc>
                  <a:spcPct val="130000"/>
                </a:lnSpc>
                <a:spcBef>
                  <a:spcPts val="600"/>
                </a:spcBef>
                <a:defRPr/>
              </a:pPr>
              <a:r>
                <a:rPr lang="zh-CN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关联</a:t>
              </a:r>
              <a:r>
                <a:rPr lang="en-US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(association)</a:t>
              </a:r>
              <a:r>
                <a:rPr lang="zh-CN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： </a:t>
              </a:r>
              <a:r>
                <a:rPr lang="zh-CN" altLang="zh-CN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直接可从数据中计算得到的统计相关</a:t>
              </a:r>
              <a:endParaRPr lang="en-US" altLang="zh-CN" sz="2000" kern="0" dirty="0">
                <a:latin typeface="Times New Roman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3" name="圆角矩形 12"/>
            <p:cNvSpPr/>
            <p:nvPr/>
          </p:nvSpPr>
          <p:spPr bwMode="auto">
            <a:xfrm>
              <a:off x="1398895" y="4706757"/>
              <a:ext cx="6303572" cy="1059424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90500" h="63500"/>
            </a:sp3d>
          </p:spPr>
          <p:txBody>
            <a:bodyPr wrap="none" tIns="0" bIns="0" anchor="ctr"/>
            <a:lstStyle/>
            <a:p>
              <a:pPr algn="just" eaLnBrk="0" hangingPunct="0">
                <a:lnSpc>
                  <a:spcPct val="130000"/>
                </a:lnSpc>
                <a:spcBef>
                  <a:spcPts val="600"/>
                </a:spcBef>
                <a:defRPr/>
              </a:pPr>
              <a:r>
                <a:rPr lang="zh-CN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反事实</a:t>
              </a:r>
              <a:r>
                <a:rPr lang="en-US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(counterfactual)</a:t>
              </a:r>
              <a:r>
                <a:rPr lang="zh-CN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：</a:t>
              </a:r>
              <a:r>
                <a:rPr lang="zh-CN" altLang="zh-CN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某个事情已发生</a:t>
              </a:r>
              <a:r>
                <a:rPr lang="zh-CN" altLang="en-US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，</a:t>
              </a:r>
              <a:r>
                <a:rPr lang="zh-CN" altLang="zh-CN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在相同环境中，</a:t>
              </a:r>
              <a:endParaRPr lang="en-US" altLang="zh-CN" sz="2000" kern="0" dirty="0">
                <a:latin typeface="Times New Roman"/>
                <a:ea typeface="微软雅黑" pitchFamily="34" charset="-122"/>
                <a:cs typeface="Times New Roman" pitchFamily="18" charset="0"/>
              </a:endParaRPr>
            </a:p>
            <a:p>
              <a:pPr algn="just" eaLnBrk="0" hangingPunct="0">
                <a:lnSpc>
                  <a:spcPct val="130000"/>
                </a:lnSpc>
                <a:spcBef>
                  <a:spcPts val="600"/>
                </a:spcBef>
                <a:defRPr/>
              </a:pPr>
              <a:r>
                <a:rPr lang="zh-CN" altLang="zh-CN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这个事情不发生会带来怎样的新结果</a:t>
              </a:r>
              <a:endParaRPr lang="en-US" altLang="zh-CN" sz="2000" kern="0" dirty="0">
                <a:latin typeface="Times New Roman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6" name="圆角矩形 15"/>
            <p:cNvSpPr/>
            <p:nvPr/>
          </p:nvSpPr>
          <p:spPr bwMode="auto">
            <a:xfrm>
              <a:off x="1398895" y="3281295"/>
              <a:ext cx="6240494" cy="1091301"/>
            </a:xfrm>
            <a:prstGeom prst="roundRect">
              <a:avLst/>
            </a:prstGeom>
            <a:gradFill rotWithShape="1">
              <a:gsLst>
                <a:gs pos="0">
                  <a:srgbClr val="C0504D">
                    <a:tint val="50000"/>
                    <a:satMod val="300000"/>
                  </a:srgbClr>
                </a:gs>
                <a:gs pos="35000">
                  <a:srgbClr val="C0504D">
                    <a:tint val="37000"/>
                    <a:satMod val="300000"/>
                  </a:srgbClr>
                </a:gs>
                <a:gs pos="100000">
                  <a:srgbClr val="C0504D">
                    <a:tint val="15000"/>
                    <a:satMod val="350000"/>
                  </a:srgbClr>
                </a:gs>
              </a:gsLst>
              <a:lin ang="16200000" scaled="1"/>
            </a:gradFill>
            <a:ln w="9525" cap="flat" cmpd="sng" algn="ctr">
              <a:solidFill>
                <a:srgbClr val="C0504D">
                  <a:shade val="95000"/>
                  <a:satMod val="105000"/>
                </a:srgbClr>
              </a:solidFill>
              <a:prstDash val="solid"/>
              <a:headEnd type="none" w="med" len="med"/>
              <a:tailEnd type="none" w="med" len="me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90500" h="63500"/>
            </a:sp3d>
          </p:spPr>
          <p:txBody>
            <a:bodyPr wrap="none" tIns="0" bIns="0" anchor="ctr"/>
            <a:lstStyle/>
            <a:p>
              <a:pPr algn="just" eaLnBrk="0" hangingPunct="0">
                <a:lnSpc>
                  <a:spcPct val="130000"/>
                </a:lnSpc>
                <a:spcBef>
                  <a:spcPts val="600"/>
                </a:spcBef>
                <a:defRPr/>
              </a:pPr>
              <a:r>
                <a:rPr lang="zh-CN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介入</a:t>
              </a:r>
              <a:r>
                <a:rPr lang="en-US" altLang="zh-CN" sz="24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(intervention): </a:t>
              </a:r>
              <a:r>
                <a:rPr lang="zh-CN" altLang="zh-CN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无法直接从观测数据就能得到关系，</a:t>
              </a:r>
              <a:endParaRPr lang="en-US" altLang="zh-CN" sz="2000" kern="0" dirty="0">
                <a:latin typeface="Times New Roman"/>
                <a:ea typeface="微软雅黑" pitchFamily="34" charset="-122"/>
                <a:cs typeface="Times New Roman" pitchFamily="18" charset="0"/>
              </a:endParaRPr>
            </a:p>
            <a:p>
              <a:pPr algn="just" eaLnBrk="0" hangingPunct="0">
                <a:lnSpc>
                  <a:spcPct val="130000"/>
                </a:lnSpc>
                <a:spcBef>
                  <a:spcPts val="600"/>
                </a:spcBef>
                <a:defRPr/>
              </a:pPr>
              <a:r>
                <a:rPr lang="zh-CN" altLang="zh-CN" sz="2000" kern="0" dirty="0">
                  <a:latin typeface="Times New Roman"/>
                  <a:ea typeface="微软雅黑" pitchFamily="34" charset="-122"/>
                  <a:cs typeface="Times New Roman" pitchFamily="18" charset="0"/>
                </a:rPr>
                <a:t>如“某个商品涨价会产生什么结果”</a:t>
              </a:r>
              <a:endParaRPr lang="en-US" altLang="zh-CN" sz="2000" kern="0" dirty="0">
                <a:latin typeface="Times New Roman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4" name="Rectangle 24">
            <a:extLst>
              <a:ext uri="{FF2B5EF4-FFF2-40B4-BE49-F238E27FC236}">
                <a16:creationId xmlns:a16="http://schemas.microsoft.com/office/drawing/2014/main" id="{8F280CE0-439D-F885-4FDD-BF780E1301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8621" y="414579"/>
            <a:ext cx="6814422" cy="729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3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8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o"/>
              <a:defRPr sz="24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Verdana" pitchFamily="34" charset="0"/>
                <a:ea typeface="黑体" pitchFamily="49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Pct val="75000"/>
              <a:buNone/>
            </a:pPr>
            <a:r>
              <a:rPr lang="zh-CN" altLang="en-US" sz="3600" b="1" dirty="0">
                <a:solidFill>
                  <a:srgbClr val="C00000"/>
                </a:solidFill>
                <a:latin typeface="方正姚体" panose="02010601030101010101" pitchFamily="2" charset="-122"/>
                <a:ea typeface="方正姚体" panose="02010601030101010101" pitchFamily="2" charset="-122"/>
              </a:rPr>
              <a:t>从关联到推理：因果推理</a:t>
            </a:r>
            <a:endParaRPr lang="en-US" altLang="zh-CN" sz="3600" b="1" dirty="0">
              <a:solidFill>
                <a:srgbClr val="C00000"/>
              </a:solidFill>
              <a:latin typeface="方正姚体" panose="02010601030101010101" pitchFamily="2" charset="-122"/>
              <a:ea typeface="方正姚体" panose="02010601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95874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8">
            <a:extLst>
              <a:ext uri="{FF2B5EF4-FFF2-40B4-BE49-F238E27FC236}">
                <a16:creationId xmlns:a16="http://schemas.microsoft.com/office/drawing/2014/main" id="{21E29B20-6EE0-47AF-BF52-926CBD12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3" name="Rectangle 1030">
            <a:extLst>
              <a:ext uri="{FF2B5EF4-FFF2-40B4-BE49-F238E27FC236}">
                <a16:creationId xmlns:a16="http://schemas.microsoft.com/office/drawing/2014/main" id="{5F9F80A4-1A44-4B02-A23B-AEAAE6DAC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4" name="Rectangle 1032">
            <a:extLst>
              <a:ext uri="{FF2B5EF4-FFF2-40B4-BE49-F238E27FC236}">
                <a16:creationId xmlns:a16="http://schemas.microsoft.com/office/drawing/2014/main" id="{22763AC1-F15B-468B-B69B-D4B31CDAD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5" name="Rectangle 1034">
            <a:extLst>
              <a:ext uri="{FF2B5EF4-FFF2-40B4-BE49-F238E27FC236}">
                <a16:creationId xmlns:a16="http://schemas.microsoft.com/office/drawing/2014/main" id="{C09AB44E-1FAF-4DF5-931C-7DE8C532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6" name="Rectangle 1036">
            <a:extLst>
              <a:ext uri="{FF2B5EF4-FFF2-40B4-BE49-F238E27FC236}">
                <a16:creationId xmlns:a16="http://schemas.microsoft.com/office/drawing/2014/main" id="{BBEF0639-62D5-45DF-ACB9-C7A54A6C5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7" name="Rectangle 1038">
            <a:extLst>
              <a:ext uri="{FF2B5EF4-FFF2-40B4-BE49-F238E27FC236}">
                <a16:creationId xmlns:a16="http://schemas.microsoft.com/office/drawing/2014/main" id="{930DBDFA-7E02-4248-8204-0B0525DA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8" name="Rectangle 1040">
            <a:extLst>
              <a:ext uri="{FF2B5EF4-FFF2-40B4-BE49-F238E27FC236}">
                <a16:creationId xmlns:a16="http://schemas.microsoft.com/office/drawing/2014/main" id="{3997CDD3-16CA-46A1-9525-F974CD02A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9" name="Rectangle 1042">
            <a:extLst>
              <a:ext uri="{FF2B5EF4-FFF2-40B4-BE49-F238E27FC236}">
                <a16:creationId xmlns:a16="http://schemas.microsoft.com/office/drawing/2014/main" id="{52FEE546-BC34-4872-A4D7-FDA93F2E1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0" name="Rectangle 1044">
            <a:extLst>
              <a:ext uri="{FF2B5EF4-FFF2-40B4-BE49-F238E27FC236}">
                <a16:creationId xmlns:a16="http://schemas.microsoft.com/office/drawing/2014/main" id="{BF4DD4A2-00EB-4F14-878D-0A8C5CB7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1" name="Rectangle 1046">
            <a:extLst>
              <a:ext uri="{FF2B5EF4-FFF2-40B4-BE49-F238E27FC236}">
                <a16:creationId xmlns:a16="http://schemas.microsoft.com/office/drawing/2014/main" id="{4CD7EE35-4019-4C31-A622-6BD72291A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2" name="Rectangle 1048">
            <a:extLst>
              <a:ext uri="{FF2B5EF4-FFF2-40B4-BE49-F238E27FC236}">
                <a16:creationId xmlns:a16="http://schemas.microsoft.com/office/drawing/2014/main" id="{A1F51215-1DE0-40D3-B4D3-AFF6A52F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3" name="Rectangle 1050">
            <a:extLst>
              <a:ext uri="{FF2B5EF4-FFF2-40B4-BE49-F238E27FC236}">
                <a16:creationId xmlns:a16="http://schemas.microsoft.com/office/drawing/2014/main" id="{4C9A334B-8CFE-4B2D-A496-39D0C57A2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4" name="Rectangle 1051">
            <a:extLst>
              <a:ext uri="{FF2B5EF4-FFF2-40B4-BE49-F238E27FC236}">
                <a16:creationId xmlns:a16="http://schemas.microsoft.com/office/drawing/2014/main" id="{EFC0BDB8-435D-49B8-B866-91985E27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5" name="Rectangle 1053">
            <a:extLst>
              <a:ext uri="{FF2B5EF4-FFF2-40B4-BE49-F238E27FC236}">
                <a16:creationId xmlns:a16="http://schemas.microsoft.com/office/drawing/2014/main" id="{1118C522-C142-4D66-8395-2105BCCA1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6" name="Rectangle 1054">
            <a:extLst>
              <a:ext uri="{FF2B5EF4-FFF2-40B4-BE49-F238E27FC236}">
                <a16:creationId xmlns:a16="http://schemas.microsoft.com/office/drawing/2014/main" id="{9F55EB9C-E746-48F1-A4C4-95E37F2A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7" name="Rectangle 1060">
            <a:extLst>
              <a:ext uri="{FF2B5EF4-FFF2-40B4-BE49-F238E27FC236}">
                <a16:creationId xmlns:a16="http://schemas.microsoft.com/office/drawing/2014/main" id="{27E8DFCF-A7E2-4E08-853F-CAB613894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1" y="324465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51221" name="对象 2">
            <a:extLst>
              <a:ext uri="{FF2B5EF4-FFF2-40B4-BE49-F238E27FC236}">
                <a16:creationId xmlns:a16="http://schemas.microsoft.com/office/drawing/2014/main" id="{4A0B5C1A-B1DB-4645-817A-970E8A4703DC}"/>
              </a:ext>
            </a:extLst>
          </p:cNvPr>
          <p:cNvGraphicFramePr>
            <a:graphicFrameLocks/>
          </p:cNvGraphicFramePr>
          <p:nvPr/>
        </p:nvGraphicFramePr>
        <p:xfrm>
          <a:off x="5662612" y="3294460"/>
          <a:ext cx="291704" cy="26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9160" imgH="348480" progId="Equation.KSEE3">
                  <p:embed/>
                </p:oleObj>
              </mc:Choice>
              <mc:Fallback>
                <p:oleObj r:id="rId2" imgW="389160" imgH="348480" progId="Equation.KSEE3">
                  <p:embed/>
                  <p:pic>
                    <p:nvPicPr>
                      <p:cNvPr id="51221" name="对象 2">
                        <a:extLst>
                          <a:ext uri="{FF2B5EF4-FFF2-40B4-BE49-F238E27FC236}">
                            <a16:creationId xmlns:a16="http://schemas.microsoft.com/office/drawing/2014/main" id="{4A0B5C1A-B1DB-4645-817A-970E8A4703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2" y="3294460"/>
                        <a:ext cx="291704" cy="260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38D37544-847D-4FDB-B6A2-5EA1C3F1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5851" y="887104"/>
            <a:ext cx="7095982" cy="4776717"/>
          </a:xfrm>
          <a:solidFill>
            <a:srgbClr val="EBFFFF"/>
          </a:solidFill>
        </p:spPr>
        <p:txBody>
          <a:bodyPr>
            <a:noAutofit/>
          </a:bodyPr>
          <a:lstStyle/>
          <a:p>
            <a:pPr marL="269081" indent="-26908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3.9 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某公司招聘工作人员，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三人应试，经面试后公司表示如下想法：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 三人中至少录取一人。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 如果录取 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而不录取 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，则一定录取 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如果录取 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，则一定录取 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400" b="1" noProof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求证：公司一定录取 </a:t>
            </a:r>
            <a:r>
              <a:rPr lang="en-US" altLang="zh-CN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 </a:t>
            </a:r>
          </a:p>
        </p:txBody>
      </p:sp>
    </p:spTree>
    <p:extLst>
      <p:ext uri="{BB962C8B-B14F-4D97-AF65-F5344CB8AC3E}">
        <p14:creationId xmlns:p14="http://schemas.microsoft.com/office/powerpoint/2010/main" val="3682700955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2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8">
            <a:extLst>
              <a:ext uri="{FF2B5EF4-FFF2-40B4-BE49-F238E27FC236}">
                <a16:creationId xmlns:a16="http://schemas.microsoft.com/office/drawing/2014/main" id="{21E29B20-6EE0-47AF-BF52-926CBD12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3" name="Rectangle 1030">
            <a:extLst>
              <a:ext uri="{FF2B5EF4-FFF2-40B4-BE49-F238E27FC236}">
                <a16:creationId xmlns:a16="http://schemas.microsoft.com/office/drawing/2014/main" id="{5F9F80A4-1A44-4B02-A23B-AEAAE6DAC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4" name="Rectangle 1032">
            <a:extLst>
              <a:ext uri="{FF2B5EF4-FFF2-40B4-BE49-F238E27FC236}">
                <a16:creationId xmlns:a16="http://schemas.microsoft.com/office/drawing/2014/main" id="{22763AC1-F15B-468B-B69B-D4B31CDAD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5" name="Rectangle 1034">
            <a:extLst>
              <a:ext uri="{FF2B5EF4-FFF2-40B4-BE49-F238E27FC236}">
                <a16:creationId xmlns:a16="http://schemas.microsoft.com/office/drawing/2014/main" id="{C09AB44E-1FAF-4DF5-931C-7DE8C532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6" name="Rectangle 1036">
            <a:extLst>
              <a:ext uri="{FF2B5EF4-FFF2-40B4-BE49-F238E27FC236}">
                <a16:creationId xmlns:a16="http://schemas.microsoft.com/office/drawing/2014/main" id="{BBEF0639-62D5-45DF-ACB9-C7A54A6C5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7" name="Rectangle 1038">
            <a:extLst>
              <a:ext uri="{FF2B5EF4-FFF2-40B4-BE49-F238E27FC236}">
                <a16:creationId xmlns:a16="http://schemas.microsoft.com/office/drawing/2014/main" id="{930DBDFA-7E02-4248-8204-0B0525DA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8" name="Rectangle 1040">
            <a:extLst>
              <a:ext uri="{FF2B5EF4-FFF2-40B4-BE49-F238E27FC236}">
                <a16:creationId xmlns:a16="http://schemas.microsoft.com/office/drawing/2014/main" id="{3997CDD3-16CA-46A1-9525-F974CD02A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9" name="Rectangle 1042">
            <a:extLst>
              <a:ext uri="{FF2B5EF4-FFF2-40B4-BE49-F238E27FC236}">
                <a16:creationId xmlns:a16="http://schemas.microsoft.com/office/drawing/2014/main" id="{52FEE546-BC34-4872-A4D7-FDA93F2E1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0" name="Rectangle 1044">
            <a:extLst>
              <a:ext uri="{FF2B5EF4-FFF2-40B4-BE49-F238E27FC236}">
                <a16:creationId xmlns:a16="http://schemas.microsoft.com/office/drawing/2014/main" id="{BF4DD4A2-00EB-4F14-878D-0A8C5CB7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1" name="Rectangle 1046">
            <a:extLst>
              <a:ext uri="{FF2B5EF4-FFF2-40B4-BE49-F238E27FC236}">
                <a16:creationId xmlns:a16="http://schemas.microsoft.com/office/drawing/2014/main" id="{4CD7EE35-4019-4C31-A622-6BD72291A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2" name="Rectangle 1048">
            <a:extLst>
              <a:ext uri="{FF2B5EF4-FFF2-40B4-BE49-F238E27FC236}">
                <a16:creationId xmlns:a16="http://schemas.microsoft.com/office/drawing/2014/main" id="{A1F51215-1DE0-40D3-B4D3-AFF6A52F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3" name="Rectangle 1050">
            <a:extLst>
              <a:ext uri="{FF2B5EF4-FFF2-40B4-BE49-F238E27FC236}">
                <a16:creationId xmlns:a16="http://schemas.microsoft.com/office/drawing/2014/main" id="{4C9A334B-8CFE-4B2D-A496-39D0C57A2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4" name="Rectangle 1051">
            <a:extLst>
              <a:ext uri="{FF2B5EF4-FFF2-40B4-BE49-F238E27FC236}">
                <a16:creationId xmlns:a16="http://schemas.microsoft.com/office/drawing/2014/main" id="{EFC0BDB8-435D-49B8-B866-91985E27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5" name="Rectangle 1053">
            <a:extLst>
              <a:ext uri="{FF2B5EF4-FFF2-40B4-BE49-F238E27FC236}">
                <a16:creationId xmlns:a16="http://schemas.microsoft.com/office/drawing/2014/main" id="{1118C522-C142-4D66-8395-2105BCCA1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6" name="Rectangle 1054">
            <a:extLst>
              <a:ext uri="{FF2B5EF4-FFF2-40B4-BE49-F238E27FC236}">
                <a16:creationId xmlns:a16="http://schemas.microsoft.com/office/drawing/2014/main" id="{9F55EB9C-E746-48F1-A4C4-95E37F2A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250170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7" name="Rectangle 1060">
            <a:extLst>
              <a:ext uri="{FF2B5EF4-FFF2-40B4-BE49-F238E27FC236}">
                <a16:creationId xmlns:a16="http://schemas.microsoft.com/office/drawing/2014/main" id="{27E8DFCF-A7E2-4E08-853F-CAB613894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1" y="3244659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graphicFrame>
        <p:nvGraphicFramePr>
          <p:cNvPr id="51221" name="对象 2">
            <a:extLst>
              <a:ext uri="{FF2B5EF4-FFF2-40B4-BE49-F238E27FC236}">
                <a16:creationId xmlns:a16="http://schemas.microsoft.com/office/drawing/2014/main" id="{4A0B5C1A-B1DB-4645-817A-970E8A4703DC}"/>
              </a:ext>
            </a:extLst>
          </p:cNvPr>
          <p:cNvGraphicFramePr>
            <a:graphicFrameLocks/>
          </p:cNvGraphicFramePr>
          <p:nvPr/>
        </p:nvGraphicFramePr>
        <p:xfrm>
          <a:off x="5662612" y="3294460"/>
          <a:ext cx="291704" cy="26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9160" imgH="348480" progId="Equation.KSEE3">
                  <p:embed/>
                </p:oleObj>
              </mc:Choice>
              <mc:Fallback>
                <p:oleObj r:id="rId2" imgW="389160" imgH="348480" progId="Equation.KSEE3">
                  <p:embed/>
                  <p:pic>
                    <p:nvPicPr>
                      <p:cNvPr id="51221" name="对象 2">
                        <a:extLst>
                          <a:ext uri="{FF2B5EF4-FFF2-40B4-BE49-F238E27FC236}">
                            <a16:creationId xmlns:a16="http://schemas.microsoft.com/office/drawing/2014/main" id="{4A0B5C1A-B1DB-4645-817A-970E8A4703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2" y="3294460"/>
                        <a:ext cx="291704" cy="260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38D37544-847D-4FDB-B6A2-5EA1C3F1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35366" y="1121174"/>
            <a:ext cx="6540612" cy="4246970"/>
          </a:xfrm>
          <a:solidFill>
            <a:srgbClr val="EBFFFF"/>
          </a:solidFill>
        </p:spPr>
        <p:txBody>
          <a:bodyPr>
            <a:normAutofit/>
          </a:bodyPr>
          <a:lstStyle/>
          <a:p>
            <a:pPr marL="269081" indent="-26908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证明：公司的想法用谓词公式表示为 </a:t>
            </a:r>
          </a:p>
        </p:txBody>
      </p:sp>
      <p:graphicFrame>
        <p:nvGraphicFramePr>
          <p:cNvPr id="22" name="Object 1030">
            <a:extLst>
              <a:ext uri="{FF2B5EF4-FFF2-40B4-BE49-F238E27FC236}">
                <a16:creationId xmlns:a16="http://schemas.microsoft.com/office/drawing/2014/main" id="{1380F91E-8009-4692-899A-C6455A74A1F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2730333"/>
              </p:ext>
            </p:extLst>
          </p:nvPr>
        </p:nvGraphicFramePr>
        <p:xfrm>
          <a:off x="3357901" y="1786279"/>
          <a:ext cx="1493878" cy="3728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850531" imgH="215806" progId="Equation.3">
                  <p:embed/>
                </p:oleObj>
              </mc:Choice>
              <mc:Fallback>
                <p:oleObj name="公式" r:id="rId4" imgW="850531" imgH="215806" progId="Equation.3">
                  <p:embed/>
                  <p:pic>
                    <p:nvPicPr>
                      <p:cNvPr id="22" name="Object 1030">
                        <a:extLst>
                          <a:ext uri="{FF2B5EF4-FFF2-40B4-BE49-F238E27FC236}">
                            <a16:creationId xmlns:a16="http://schemas.microsoft.com/office/drawing/2014/main" id="{1380F91E-8009-4692-899A-C6455A74A1F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7901" y="1786279"/>
                        <a:ext cx="1493878" cy="372808"/>
                      </a:xfrm>
                      <a:prstGeom prst="rect">
                        <a:avLst/>
                      </a:prstGeom>
                      <a:solidFill>
                        <a:srgbClr val="EBFFFF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1032">
            <a:extLst>
              <a:ext uri="{FF2B5EF4-FFF2-40B4-BE49-F238E27FC236}">
                <a16:creationId xmlns:a16="http://schemas.microsoft.com/office/drawing/2014/main" id="{539F88B6-B548-4BFF-82D1-469B2188B708}"/>
              </a:ext>
            </a:extLst>
          </p:cNvPr>
          <p:cNvGrpSpPr>
            <a:grpSpLocks/>
          </p:cNvGrpSpPr>
          <p:nvPr/>
        </p:nvGrpSpPr>
        <p:grpSpPr bwMode="auto">
          <a:xfrm>
            <a:off x="1500962" y="2226620"/>
            <a:ext cx="4005910" cy="2079249"/>
            <a:chOff x="240" y="864"/>
            <a:chExt cx="2496" cy="1318"/>
          </a:xfrm>
        </p:grpSpPr>
        <p:graphicFrame>
          <p:nvGraphicFramePr>
            <p:cNvPr id="25" name="Object 1033">
              <a:extLst>
                <a:ext uri="{FF2B5EF4-FFF2-40B4-BE49-F238E27FC236}">
                  <a16:creationId xmlns:a16="http://schemas.microsoft.com/office/drawing/2014/main" id="{9A220264-0E35-40D8-AE76-9AD8D5C927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919"/>
            <a:ext cx="1680" cy="2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295400" imgH="203200" progId="Equation.3">
                    <p:embed/>
                  </p:oleObj>
                </mc:Choice>
                <mc:Fallback>
                  <p:oleObj r:id="rId6" imgW="1295400" imgH="203200" progId="Equation.3">
                    <p:embed/>
                    <p:pic>
                      <p:nvPicPr>
                        <p:cNvPr id="25" name="Object 1033">
                          <a:extLst>
                            <a:ext uri="{FF2B5EF4-FFF2-40B4-BE49-F238E27FC236}">
                              <a16:creationId xmlns:a16="http://schemas.microsoft.com/office/drawing/2014/main" id="{9A220264-0E35-40D8-AE76-9AD8D5C927F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919"/>
                          <a:ext cx="1680" cy="2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034">
              <a:extLst>
                <a:ext uri="{FF2B5EF4-FFF2-40B4-BE49-F238E27FC236}">
                  <a16:creationId xmlns:a16="http://schemas.microsoft.com/office/drawing/2014/main" id="{C293FE66-96D9-43BB-9076-F85A5B8B7C3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68" y="1214"/>
            <a:ext cx="1776" cy="26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8" imgW="1428840" imgH="171450" progId="Equation.3">
                    <p:embed/>
                  </p:oleObj>
                </mc:Choice>
                <mc:Fallback>
                  <p:oleObj r:id="rId8" imgW="1428840" imgH="171450" progId="Equation.3">
                    <p:embed/>
                    <p:pic>
                      <p:nvPicPr>
                        <p:cNvPr id="26" name="Object 1034">
                          <a:extLst>
                            <a:ext uri="{FF2B5EF4-FFF2-40B4-BE49-F238E27FC236}">
                              <a16:creationId xmlns:a16="http://schemas.microsoft.com/office/drawing/2014/main" id="{C293FE66-96D9-43BB-9076-F85A5B8B7C3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68" y="1214"/>
                          <a:ext cx="1776" cy="26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035">
              <a:extLst>
                <a:ext uri="{FF2B5EF4-FFF2-40B4-BE49-F238E27FC236}">
                  <a16:creationId xmlns:a16="http://schemas.microsoft.com/office/drawing/2014/main" id="{4CE95253-EC6D-4585-AF0E-CDE8A44C740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71" y="1580"/>
            <a:ext cx="1197" cy="2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0" imgW="876420" imgH="171450" progId="Equation.3">
                    <p:embed/>
                  </p:oleObj>
                </mc:Choice>
                <mc:Fallback>
                  <p:oleObj r:id="rId10" imgW="876420" imgH="171450" progId="Equation.3">
                    <p:embed/>
                    <p:pic>
                      <p:nvPicPr>
                        <p:cNvPr id="27" name="Object 1035">
                          <a:extLst>
                            <a:ext uri="{FF2B5EF4-FFF2-40B4-BE49-F238E27FC236}">
                              <a16:creationId xmlns:a16="http://schemas.microsoft.com/office/drawing/2014/main" id="{4CE95253-EC6D-4585-AF0E-CDE8A44C740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1" y="1580"/>
                          <a:ext cx="1197" cy="2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Text Box 1036">
              <a:extLst>
                <a:ext uri="{FF2B5EF4-FFF2-40B4-BE49-F238E27FC236}">
                  <a16:creationId xmlns:a16="http://schemas.microsoft.com/office/drawing/2014/main" id="{6BB05CB7-61E8-45A1-BC34-FE8E3DF919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864"/>
              <a:ext cx="2496" cy="13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40000"/>
                </a:spcBef>
                <a:buClr>
                  <a:schemeClr val="accent2"/>
                </a:buClr>
                <a:buFont typeface="Wingdings" panose="05000000000000000000" pitchFamily="2" charset="2"/>
                <a:buBlip>
                  <a:blip r:embed="rId12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rgbClr val="0099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79085938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8">
            <a:extLst>
              <a:ext uri="{FF2B5EF4-FFF2-40B4-BE49-F238E27FC236}">
                <a16:creationId xmlns:a16="http://schemas.microsoft.com/office/drawing/2014/main" id="{21E29B20-6EE0-47AF-BF52-926CBD12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3" name="Rectangle 1030">
            <a:extLst>
              <a:ext uri="{FF2B5EF4-FFF2-40B4-BE49-F238E27FC236}">
                <a16:creationId xmlns:a16="http://schemas.microsoft.com/office/drawing/2014/main" id="{5F9F80A4-1A44-4B02-A23B-AEAAE6DAC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4" name="Rectangle 1032">
            <a:extLst>
              <a:ext uri="{FF2B5EF4-FFF2-40B4-BE49-F238E27FC236}">
                <a16:creationId xmlns:a16="http://schemas.microsoft.com/office/drawing/2014/main" id="{22763AC1-F15B-468B-B69B-D4B31CDAD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5" name="Rectangle 1034">
            <a:extLst>
              <a:ext uri="{FF2B5EF4-FFF2-40B4-BE49-F238E27FC236}">
                <a16:creationId xmlns:a16="http://schemas.microsoft.com/office/drawing/2014/main" id="{C09AB44E-1FAF-4DF5-931C-7DE8C532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6" name="Rectangle 1036">
            <a:extLst>
              <a:ext uri="{FF2B5EF4-FFF2-40B4-BE49-F238E27FC236}">
                <a16:creationId xmlns:a16="http://schemas.microsoft.com/office/drawing/2014/main" id="{BBEF0639-62D5-45DF-ACB9-C7A54A6C5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7" name="Rectangle 1038">
            <a:extLst>
              <a:ext uri="{FF2B5EF4-FFF2-40B4-BE49-F238E27FC236}">
                <a16:creationId xmlns:a16="http://schemas.microsoft.com/office/drawing/2014/main" id="{930DBDFA-7E02-4248-8204-0B0525DA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8" name="Rectangle 1040">
            <a:extLst>
              <a:ext uri="{FF2B5EF4-FFF2-40B4-BE49-F238E27FC236}">
                <a16:creationId xmlns:a16="http://schemas.microsoft.com/office/drawing/2014/main" id="{3997CDD3-16CA-46A1-9525-F974CD02A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8" y="154216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09" name="Rectangle 1042">
            <a:extLst>
              <a:ext uri="{FF2B5EF4-FFF2-40B4-BE49-F238E27FC236}">
                <a16:creationId xmlns:a16="http://schemas.microsoft.com/office/drawing/2014/main" id="{52FEE546-BC34-4872-A4D7-FDA93F2E1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8" y="154216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0" name="Rectangle 1044">
            <a:extLst>
              <a:ext uri="{FF2B5EF4-FFF2-40B4-BE49-F238E27FC236}">
                <a16:creationId xmlns:a16="http://schemas.microsoft.com/office/drawing/2014/main" id="{BF4DD4A2-00EB-4F14-878D-0A8C5CB7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1" name="Rectangle 1046">
            <a:extLst>
              <a:ext uri="{FF2B5EF4-FFF2-40B4-BE49-F238E27FC236}">
                <a16:creationId xmlns:a16="http://schemas.microsoft.com/office/drawing/2014/main" id="{4CD7EE35-4019-4C31-A622-6BD72291A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2" name="Rectangle 1048">
            <a:extLst>
              <a:ext uri="{FF2B5EF4-FFF2-40B4-BE49-F238E27FC236}">
                <a16:creationId xmlns:a16="http://schemas.microsoft.com/office/drawing/2014/main" id="{A1F51215-1DE0-40D3-B4D3-AFF6A52F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3" name="Rectangle 1050">
            <a:extLst>
              <a:ext uri="{FF2B5EF4-FFF2-40B4-BE49-F238E27FC236}">
                <a16:creationId xmlns:a16="http://schemas.microsoft.com/office/drawing/2014/main" id="{4C9A334B-8CFE-4B2D-A496-39D0C57A2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8" y="154216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4" name="Rectangle 1051">
            <a:extLst>
              <a:ext uri="{FF2B5EF4-FFF2-40B4-BE49-F238E27FC236}">
                <a16:creationId xmlns:a16="http://schemas.microsoft.com/office/drawing/2014/main" id="{EFC0BDB8-435D-49B8-B866-91985E27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8" y="154216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5" name="Rectangle 1053">
            <a:extLst>
              <a:ext uri="{FF2B5EF4-FFF2-40B4-BE49-F238E27FC236}">
                <a16:creationId xmlns:a16="http://schemas.microsoft.com/office/drawing/2014/main" id="{1118C522-C142-4D66-8395-2105BCCA1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8" y="154216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6" name="Rectangle 1054">
            <a:extLst>
              <a:ext uri="{FF2B5EF4-FFF2-40B4-BE49-F238E27FC236}">
                <a16:creationId xmlns:a16="http://schemas.microsoft.com/office/drawing/2014/main" id="{9F55EB9C-E746-48F1-A4C4-95E37F2A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218" y="154216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7" name="Rectangle 1060">
            <a:extLst>
              <a:ext uri="{FF2B5EF4-FFF2-40B4-BE49-F238E27FC236}">
                <a16:creationId xmlns:a16="http://schemas.microsoft.com/office/drawing/2014/main" id="{27E8DFCF-A7E2-4E08-853F-CAB613894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068" y="2285111"/>
            <a:ext cx="213473" cy="450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graphicFrame>
        <p:nvGraphicFramePr>
          <p:cNvPr id="51221" name="对象 2">
            <a:extLst>
              <a:ext uri="{FF2B5EF4-FFF2-40B4-BE49-F238E27FC236}">
                <a16:creationId xmlns:a16="http://schemas.microsoft.com/office/drawing/2014/main" id="{4A0B5C1A-B1DB-4645-817A-970E8A470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7746562"/>
              </p:ext>
            </p:extLst>
          </p:nvPr>
        </p:nvGraphicFramePr>
        <p:xfrm>
          <a:off x="5382828" y="2339112"/>
          <a:ext cx="337089" cy="3591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9160" imgH="348480" progId="Equation.KSEE3">
                  <p:embed/>
                </p:oleObj>
              </mc:Choice>
              <mc:Fallback>
                <p:oleObj r:id="rId2" imgW="389160" imgH="348480" progId="Equation.KSEE3">
                  <p:embed/>
                  <p:pic>
                    <p:nvPicPr>
                      <p:cNvPr id="51221" name="对象 2">
                        <a:extLst>
                          <a:ext uri="{FF2B5EF4-FFF2-40B4-BE49-F238E27FC236}">
                            <a16:creationId xmlns:a16="http://schemas.microsoft.com/office/drawing/2014/main" id="{4A0B5C1A-B1DB-4645-817A-970E8A4703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2828" y="2339112"/>
                        <a:ext cx="337089" cy="35915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38D37544-847D-4FDB-B6A2-5EA1C3F1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20495" y="1044939"/>
            <a:ext cx="6868162" cy="4830421"/>
          </a:xfrm>
          <a:solidFill>
            <a:srgbClr val="EBFFFF"/>
          </a:solidFill>
        </p:spPr>
        <p:txBody>
          <a:bodyPr/>
          <a:lstStyle/>
          <a:p>
            <a:pPr marL="269081" indent="-26908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证明：把要求证的结论用谓词公式表示出来并否定，得：</a:t>
            </a:r>
            <a:endParaRPr lang="en-US" altLang="zh-CN" sz="2400" b="1" noProof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69081" indent="-26908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altLang="zh-CN" sz="2400" b="1" noProof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269081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把上述公式化成子句集： </a:t>
            </a:r>
          </a:p>
        </p:txBody>
      </p:sp>
      <p:grpSp>
        <p:nvGrpSpPr>
          <p:cNvPr id="29" name="Group 1037">
            <a:extLst>
              <a:ext uri="{FF2B5EF4-FFF2-40B4-BE49-F238E27FC236}">
                <a16:creationId xmlns:a16="http://schemas.microsoft.com/office/drawing/2014/main" id="{A18F87D8-1CBD-428D-87D2-F5242162504D}"/>
              </a:ext>
            </a:extLst>
          </p:cNvPr>
          <p:cNvGrpSpPr>
            <a:grpSpLocks/>
          </p:cNvGrpSpPr>
          <p:nvPr/>
        </p:nvGrpSpPr>
        <p:grpSpPr bwMode="auto">
          <a:xfrm>
            <a:off x="1453667" y="2126585"/>
            <a:ext cx="3434171" cy="636308"/>
            <a:chOff x="240" y="2208"/>
            <a:chExt cx="2496" cy="388"/>
          </a:xfrm>
        </p:grpSpPr>
        <p:sp>
          <p:nvSpPr>
            <p:cNvPr id="30" name="Text Box 1038">
              <a:extLst>
                <a:ext uri="{FF2B5EF4-FFF2-40B4-BE49-F238E27FC236}">
                  <a16:creationId xmlns:a16="http://schemas.microsoft.com/office/drawing/2014/main" id="{D16C6B51-C521-4BFF-BD52-866CEB36D7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" y="2208"/>
              <a:ext cx="2496" cy="3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40000"/>
                </a:spcBef>
                <a:buClr>
                  <a:schemeClr val="accent2"/>
                </a:buClr>
                <a:buFont typeface="Wingdings" panose="05000000000000000000" pitchFamily="2" charset="2"/>
                <a:buBlip>
                  <a:blip r:embed="rId4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rgbClr val="0099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None/>
              </a:pPr>
              <a:r>
                <a:rPr lang="en-US" altLang="zh-CN" sz="2400" dirty="0">
                  <a:solidFill>
                    <a:prstClr val="black"/>
                  </a:solidFill>
                </a:rPr>
                <a:t> 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4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  <p:graphicFrame>
          <p:nvGraphicFramePr>
            <p:cNvPr id="32" name="Object 1039">
              <a:extLst>
                <a:ext uri="{FF2B5EF4-FFF2-40B4-BE49-F238E27FC236}">
                  <a16:creationId xmlns:a16="http://schemas.microsoft.com/office/drawing/2014/main" id="{0D9D3B93-E78F-43DC-8393-9A5BF319249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55" y="2252"/>
            <a:ext cx="57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469696" imgH="203112" progId="Equation.3">
                    <p:embed/>
                  </p:oleObj>
                </mc:Choice>
                <mc:Fallback>
                  <p:oleObj r:id="rId5" imgW="469696" imgH="203112" progId="Equation.3">
                    <p:embed/>
                    <p:pic>
                      <p:nvPicPr>
                        <p:cNvPr id="32" name="Object 1039">
                          <a:extLst>
                            <a:ext uri="{FF2B5EF4-FFF2-40B4-BE49-F238E27FC236}">
                              <a16:creationId xmlns:a16="http://schemas.microsoft.com/office/drawing/2014/main" id="{0D9D3B93-E78F-43DC-8393-9A5BF319249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55" y="2252"/>
                          <a:ext cx="57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Group 1041">
            <a:extLst>
              <a:ext uri="{FF2B5EF4-FFF2-40B4-BE49-F238E27FC236}">
                <a16:creationId xmlns:a16="http://schemas.microsoft.com/office/drawing/2014/main" id="{D2540936-AF12-4CBF-AC74-EEA0AA8B3008}"/>
              </a:ext>
            </a:extLst>
          </p:cNvPr>
          <p:cNvGrpSpPr>
            <a:grpSpLocks/>
          </p:cNvGrpSpPr>
          <p:nvPr/>
        </p:nvGrpSpPr>
        <p:grpSpPr bwMode="auto">
          <a:xfrm>
            <a:off x="1426191" y="3319843"/>
            <a:ext cx="3557068" cy="2128049"/>
            <a:chOff x="288" y="2782"/>
            <a:chExt cx="2496" cy="1257"/>
          </a:xfrm>
        </p:grpSpPr>
        <p:sp>
          <p:nvSpPr>
            <p:cNvPr id="34" name="Text Box 1042">
              <a:extLst>
                <a:ext uri="{FF2B5EF4-FFF2-40B4-BE49-F238E27FC236}">
                  <a16:creationId xmlns:a16="http://schemas.microsoft.com/office/drawing/2014/main" id="{2333D60C-A731-4C9C-A925-B8BA004204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" y="2782"/>
              <a:ext cx="2496" cy="10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40000"/>
                </a:spcBef>
                <a:buClr>
                  <a:schemeClr val="accent2"/>
                </a:buClr>
                <a:buFont typeface="Wingdings" panose="05000000000000000000" pitchFamily="2" charset="2"/>
                <a:buBlip>
                  <a:blip r:embed="rId4"/>
                </a:buBlip>
                <a:defRPr sz="3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600">
                  <a:solidFill>
                    <a:schemeClr val="folHlink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o"/>
                <a:defRPr sz="2300">
                  <a:solidFill>
                    <a:srgbClr val="0099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Font typeface="Wingdings" panose="05000000000000000000" pitchFamily="2" charset="2"/>
                <a:buChar char="n"/>
                <a:defRPr sz="2000">
                  <a:solidFill>
                    <a:srgbClr val="0099CC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5000"/>
                </a:spcBef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5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000">
                  <a:solidFill>
                    <a:srgbClr val="99CC00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  <a:p>
              <a:pPr>
                <a:spcBef>
                  <a:spcPct val="50000"/>
                </a:spcBef>
                <a:buClrTx/>
                <a:buNone/>
              </a:pP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（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r>
                <a:rPr lang="zh-CN" altLang="en-US" sz="2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）</a:t>
              </a:r>
            </a:p>
          </p:txBody>
        </p:sp>
        <p:graphicFrame>
          <p:nvGraphicFramePr>
            <p:cNvPr id="35" name="Object 1043">
              <a:extLst>
                <a:ext uri="{FF2B5EF4-FFF2-40B4-BE49-F238E27FC236}">
                  <a16:creationId xmlns:a16="http://schemas.microsoft.com/office/drawing/2014/main" id="{85F9D6CD-B025-4040-9D00-A674C3E54B9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2784"/>
            <a:ext cx="1680" cy="2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295400" imgH="203200" progId="Equation.3">
                    <p:embed/>
                  </p:oleObj>
                </mc:Choice>
                <mc:Fallback>
                  <p:oleObj r:id="rId7" imgW="1295400" imgH="203200" progId="Equation.3">
                    <p:embed/>
                    <p:pic>
                      <p:nvPicPr>
                        <p:cNvPr id="35" name="Object 1043">
                          <a:extLst>
                            <a:ext uri="{FF2B5EF4-FFF2-40B4-BE49-F238E27FC236}">
                              <a16:creationId xmlns:a16="http://schemas.microsoft.com/office/drawing/2014/main" id="{85F9D6CD-B025-4040-9D00-A674C3E54B95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2784"/>
                          <a:ext cx="1680" cy="2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1044">
              <a:extLst>
                <a:ext uri="{FF2B5EF4-FFF2-40B4-BE49-F238E27FC236}">
                  <a16:creationId xmlns:a16="http://schemas.microsoft.com/office/drawing/2014/main" id="{7D56A3A9-9037-41EA-9790-FE6CEFA57D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120"/>
            <a:ext cx="1728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1371600" imgH="171450" progId="Equation.3">
                    <p:embed/>
                  </p:oleObj>
                </mc:Choice>
                <mc:Fallback>
                  <p:oleObj r:id="rId9" imgW="1371600" imgH="171450" progId="Equation.3">
                    <p:embed/>
                    <p:pic>
                      <p:nvPicPr>
                        <p:cNvPr id="36" name="Object 1044">
                          <a:extLst>
                            <a:ext uri="{FF2B5EF4-FFF2-40B4-BE49-F238E27FC236}">
                              <a16:creationId xmlns:a16="http://schemas.microsoft.com/office/drawing/2014/main" id="{7D56A3A9-9037-41EA-9790-FE6CEFA57D5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120"/>
                          <a:ext cx="1728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1045">
              <a:extLst>
                <a:ext uri="{FF2B5EF4-FFF2-40B4-BE49-F238E27FC236}">
                  <a16:creationId xmlns:a16="http://schemas.microsoft.com/office/drawing/2014/main" id="{E4B4C024-4A65-431C-A9F9-9540C51F681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16" y="3408"/>
            <a:ext cx="1248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895320" imgH="171450" progId="Equation.3">
                    <p:embed/>
                  </p:oleObj>
                </mc:Choice>
                <mc:Fallback>
                  <p:oleObj r:id="rId11" imgW="895320" imgH="171450" progId="Equation.3">
                    <p:embed/>
                    <p:pic>
                      <p:nvPicPr>
                        <p:cNvPr id="37" name="Object 1045">
                          <a:extLst>
                            <a:ext uri="{FF2B5EF4-FFF2-40B4-BE49-F238E27FC236}">
                              <a16:creationId xmlns:a16="http://schemas.microsoft.com/office/drawing/2014/main" id="{E4B4C024-4A65-431C-A9F9-9540C51F681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16" y="3408"/>
                          <a:ext cx="1248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1046">
              <a:extLst>
                <a:ext uri="{FF2B5EF4-FFF2-40B4-BE49-F238E27FC236}">
                  <a16:creationId xmlns:a16="http://schemas.microsoft.com/office/drawing/2014/main" id="{A51B8B3A-032A-4521-B53B-CD91F49CDB4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792"/>
            <a:ext cx="576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469696" imgH="203112" progId="Equation.3">
                    <p:embed/>
                  </p:oleObj>
                </mc:Choice>
                <mc:Fallback>
                  <p:oleObj r:id="rId13" imgW="469696" imgH="203112" progId="Equation.3">
                    <p:embed/>
                    <p:pic>
                      <p:nvPicPr>
                        <p:cNvPr id="38" name="Object 1046">
                          <a:extLst>
                            <a:ext uri="{FF2B5EF4-FFF2-40B4-BE49-F238E27FC236}">
                              <a16:creationId xmlns:a16="http://schemas.microsoft.com/office/drawing/2014/main" id="{A51B8B3A-032A-4521-B53B-CD91F49CDB4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792"/>
                          <a:ext cx="576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Object 1033">
            <a:extLst>
              <a:ext uri="{FF2B5EF4-FFF2-40B4-BE49-F238E27FC236}">
                <a16:creationId xmlns:a16="http://schemas.microsoft.com/office/drawing/2014/main" id="{DF2E0F9C-5F01-4A9C-9B7D-B632830F4F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6937507"/>
              </p:ext>
            </p:extLst>
          </p:nvPr>
        </p:nvGraphicFramePr>
        <p:xfrm>
          <a:off x="5085768" y="1717226"/>
          <a:ext cx="2755153" cy="424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95400" imgH="203200" progId="Equation.3">
                  <p:embed/>
                </p:oleObj>
              </mc:Choice>
              <mc:Fallback>
                <p:oleObj r:id="rId14" imgW="1295400" imgH="203200" progId="Equation.3">
                  <p:embed/>
                  <p:pic>
                    <p:nvPicPr>
                      <p:cNvPr id="40" name="Object 1033">
                        <a:extLst>
                          <a:ext uri="{FF2B5EF4-FFF2-40B4-BE49-F238E27FC236}">
                            <a16:creationId xmlns:a16="http://schemas.microsoft.com/office/drawing/2014/main" id="{DF2E0F9C-5F01-4A9C-9B7D-B632830F4FF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768" y="1717226"/>
                        <a:ext cx="2755153" cy="4247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34">
            <a:extLst>
              <a:ext uri="{FF2B5EF4-FFF2-40B4-BE49-F238E27FC236}">
                <a16:creationId xmlns:a16="http://schemas.microsoft.com/office/drawing/2014/main" id="{720A4165-E658-4BCB-A3BD-158E22A43F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0252840"/>
              </p:ext>
            </p:extLst>
          </p:nvPr>
        </p:nvGraphicFramePr>
        <p:xfrm>
          <a:off x="5085768" y="2068459"/>
          <a:ext cx="2912591" cy="4280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428840" imgH="171450" progId="Equation.3">
                  <p:embed/>
                </p:oleObj>
              </mc:Choice>
              <mc:Fallback>
                <p:oleObj r:id="rId15" imgW="1428840" imgH="171450" progId="Equation.3">
                  <p:embed/>
                  <p:pic>
                    <p:nvPicPr>
                      <p:cNvPr id="41" name="Object 1034">
                        <a:extLst>
                          <a:ext uri="{FF2B5EF4-FFF2-40B4-BE49-F238E27FC236}">
                            <a16:creationId xmlns:a16="http://schemas.microsoft.com/office/drawing/2014/main" id="{720A4165-E658-4BCB-A3BD-158E22A43F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5768" y="2068459"/>
                        <a:ext cx="2912591" cy="4280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35">
            <a:extLst>
              <a:ext uri="{FF2B5EF4-FFF2-40B4-BE49-F238E27FC236}">
                <a16:creationId xmlns:a16="http://schemas.microsoft.com/office/drawing/2014/main" id="{0C4F477B-F1B3-4F73-878D-B189744DC3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9070262"/>
              </p:ext>
            </p:extLst>
          </p:nvPr>
        </p:nvGraphicFramePr>
        <p:xfrm>
          <a:off x="5089341" y="2504227"/>
          <a:ext cx="1963047" cy="434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876420" imgH="171450" progId="Equation.3">
                  <p:embed/>
                </p:oleObj>
              </mc:Choice>
              <mc:Fallback>
                <p:oleObj r:id="rId17" imgW="876420" imgH="171450" progId="Equation.3">
                  <p:embed/>
                  <p:pic>
                    <p:nvPicPr>
                      <p:cNvPr id="42" name="Object 1035">
                        <a:extLst>
                          <a:ext uri="{FF2B5EF4-FFF2-40B4-BE49-F238E27FC236}">
                            <a16:creationId xmlns:a16="http://schemas.microsoft.com/office/drawing/2014/main" id="{0C4F477B-F1B3-4F73-878D-B189744DC3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89341" y="2504227"/>
                        <a:ext cx="1963047" cy="434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" name="Text Box 1036">
            <a:extLst>
              <a:ext uri="{FF2B5EF4-FFF2-40B4-BE49-F238E27FC236}">
                <a16:creationId xmlns:a16="http://schemas.microsoft.com/office/drawing/2014/main" id="{AF091958-4927-4ECF-8F89-17D263FAA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118" y="1651741"/>
            <a:ext cx="34341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40000"/>
              </a:spcBef>
              <a:buClr>
                <a:schemeClr val="accent2"/>
              </a:buClr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None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）</a:t>
            </a:r>
          </a:p>
          <a:p>
            <a:pPr>
              <a:spcBef>
                <a:spcPct val="50000"/>
              </a:spcBef>
              <a:buClrTx/>
              <a:buNone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）</a:t>
            </a:r>
          </a:p>
          <a:p>
            <a:pPr>
              <a:spcBef>
                <a:spcPct val="50000"/>
              </a:spcBef>
              <a:buClrTx/>
              <a:buNone/>
            </a:pP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</a:rPr>
              <a:t>）</a:t>
            </a:r>
          </a:p>
        </p:txBody>
      </p:sp>
      <p:sp>
        <p:nvSpPr>
          <p:cNvPr id="44" name="AutoShape 1047">
            <a:extLst>
              <a:ext uri="{FF2B5EF4-FFF2-40B4-BE49-F238E27FC236}">
                <a16:creationId xmlns:a16="http://schemas.microsoft.com/office/drawing/2014/main" id="{3699EB6D-7CF9-4A71-B6C0-6075167AB28E}"/>
              </a:ext>
            </a:extLst>
          </p:cNvPr>
          <p:cNvSpPr>
            <a:spLocks noChangeArrowheads="1"/>
          </p:cNvSpPr>
          <p:nvPr/>
        </p:nvSpPr>
        <p:spPr bwMode="auto">
          <a:xfrm rot="2078836">
            <a:off x="4751365" y="2663695"/>
            <a:ext cx="432403" cy="2568816"/>
          </a:xfrm>
          <a:prstGeom prst="curvedLeftArrow">
            <a:avLst>
              <a:gd name="adj1" fmla="val 66739"/>
              <a:gd name="adj2" fmla="val 260000"/>
              <a:gd name="adj3" fmla="val 33333"/>
            </a:avLst>
          </a:prstGeom>
          <a:gradFill rotWithShape="0">
            <a:gsLst>
              <a:gs pos="0">
                <a:srgbClr val="FF99CC"/>
              </a:gs>
              <a:gs pos="100000">
                <a:schemeClr val="bg1"/>
              </a:gs>
            </a:gsLst>
            <a:path path="rect">
              <a:fillToRect l="50000" t="50000" r="50000" b="50000"/>
            </a:path>
          </a:gradFill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40000"/>
              </a:spcBef>
              <a:buClr>
                <a:schemeClr val="accent2"/>
              </a:buClr>
              <a:buFont typeface="Wingdings" panose="05000000000000000000" pitchFamily="2" charset="2"/>
              <a:buBlip>
                <a:blip r:embed="rId4"/>
              </a:buBlip>
              <a:defRPr sz="3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rgbClr val="0099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rgbClr val="0099CC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rgbClr val="99CC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endParaRPr lang="zh-CN" altLang="en-US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097234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7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1028">
            <a:extLst>
              <a:ext uri="{FF2B5EF4-FFF2-40B4-BE49-F238E27FC236}">
                <a16:creationId xmlns:a16="http://schemas.microsoft.com/office/drawing/2014/main" id="{21E29B20-6EE0-47AF-BF52-926CBD12AA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3" name="Rectangle 1030">
            <a:extLst>
              <a:ext uri="{FF2B5EF4-FFF2-40B4-BE49-F238E27FC236}">
                <a16:creationId xmlns:a16="http://schemas.microsoft.com/office/drawing/2014/main" id="{5F9F80A4-1A44-4B02-A23B-AEAAE6DACC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4" name="Rectangle 1032">
            <a:extLst>
              <a:ext uri="{FF2B5EF4-FFF2-40B4-BE49-F238E27FC236}">
                <a16:creationId xmlns:a16="http://schemas.microsoft.com/office/drawing/2014/main" id="{22763AC1-F15B-468B-B69B-D4B31CDAD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5" name="Rectangle 1034">
            <a:extLst>
              <a:ext uri="{FF2B5EF4-FFF2-40B4-BE49-F238E27FC236}">
                <a16:creationId xmlns:a16="http://schemas.microsoft.com/office/drawing/2014/main" id="{C09AB44E-1FAF-4DF5-931C-7DE8C5322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6" name="Rectangle 1036">
            <a:extLst>
              <a:ext uri="{FF2B5EF4-FFF2-40B4-BE49-F238E27FC236}">
                <a16:creationId xmlns:a16="http://schemas.microsoft.com/office/drawing/2014/main" id="{BBEF0639-62D5-45DF-ACB9-C7A54A6C5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7" name="Rectangle 1038">
            <a:extLst>
              <a:ext uri="{FF2B5EF4-FFF2-40B4-BE49-F238E27FC236}">
                <a16:creationId xmlns:a16="http://schemas.microsoft.com/office/drawing/2014/main" id="{930DBDFA-7E02-4248-8204-0B0525DA1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08" name="Rectangle 1040">
            <a:extLst>
              <a:ext uri="{FF2B5EF4-FFF2-40B4-BE49-F238E27FC236}">
                <a16:creationId xmlns:a16="http://schemas.microsoft.com/office/drawing/2014/main" id="{3997CDD3-16CA-46A1-9525-F974CD02AA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53" y="163087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09" name="Rectangle 1042">
            <a:extLst>
              <a:ext uri="{FF2B5EF4-FFF2-40B4-BE49-F238E27FC236}">
                <a16:creationId xmlns:a16="http://schemas.microsoft.com/office/drawing/2014/main" id="{52FEE546-BC34-4872-A4D7-FDA93F2E1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53" y="163087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0" name="Rectangle 1044">
            <a:extLst>
              <a:ext uri="{FF2B5EF4-FFF2-40B4-BE49-F238E27FC236}">
                <a16:creationId xmlns:a16="http://schemas.microsoft.com/office/drawing/2014/main" id="{BF4DD4A2-00EB-4F14-878D-0A8C5CB72A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1" name="Rectangle 1046">
            <a:extLst>
              <a:ext uri="{FF2B5EF4-FFF2-40B4-BE49-F238E27FC236}">
                <a16:creationId xmlns:a16="http://schemas.microsoft.com/office/drawing/2014/main" id="{4CD7EE35-4019-4C31-A622-6BD72291AF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2" name="Rectangle 1048">
            <a:extLst>
              <a:ext uri="{FF2B5EF4-FFF2-40B4-BE49-F238E27FC236}">
                <a16:creationId xmlns:a16="http://schemas.microsoft.com/office/drawing/2014/main" id="{A1F51215-1DE0-40D3-B4D3-AFF6A52F4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1" y="697912"/>
            <a:ext cx="184731" cy="318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350">
              <a:solidFill>
                <a:prstClr val="black"/>
              </a:solidFill>
            </a:endParaRPr>
          </a:p>
        </p:txBody>
      </p:sp>
      <p:sp>
        <p:nvSpPr>
          <p:cNvPr id="51213" name="Rectangle 1050">
            <a:extLst>
              <a:ext uri="{FF2B5EF4-FFF2-40B4-BE49-F238E27FC236}">
                <a16:creationId xmlns:a16="http://schemas.microsoft.com/office/drawing/2014/main" id="{4C9A334B-8CFE-4B2D-A496-39D0C57A2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53" y="163087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4" name="Rectangle 1051">
            <a:extLst>
              <a:ext uri="{FF2B5EF4-FFF2-40B4-BE49-F238E27FC236}">
                <a16:creationId xmlns:a16="http://schemas.microsoft.com/office/drawing/2014/main" id="{EFC0BDB8-435D-49B8-B866-91985E27C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53" y="163087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5" name="Rectangle 1053">
            <a:extLst>
              <a:ext uri="{FF2B5EF4-FFF2-40B4-BE49-F238E27FC236}">
                <a16:creationId xmlns:a16="http://schemas.microsoft.com/office/drawing/2014/main" id="{1118C522-C142-4D66-8395-2105BCCA14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53" y="163087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6" name="Rectangle 1054">
            <a:extLst>
              <a:ext uri="{FF2B5EF4-FFF2-40B4-BE49-F238E27FC236}">
                <a16:creationId xmlns:a16="http://schemas.microsoft.com/office/drawing/2014/main" id="{9F55EB9C-E746-48F1-A4C4-95E37F2AC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9353" y="163087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sp>
        <p:nvSpPr>
          <p:cNvPr id="51217" name="Rectangle 1060">
            <a:extLst>
              <a:ext uri="{FF2B5EF4-FFF2-40B4-BE49-F238E27FC236}">
                <a16:creationId xmlns:a16="http://schemas.microsoft.com/office/drawing/2014/main" id="{27E8DFCF-A7E2-4E08-853F-CAB613894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2203" y="2373825"/>
            <a:ext cx="184731" cy="3270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endParaRPr lang="zh-CN" altLang="en-US" sz="1400">
              <a:solidFill>
                <a:prstClr val="black"/>
              </a:solidFill>
            </a:endParaRPr>
          </a:p>
        </p:txBody>
      </p:sp>
      <p:graphicFrame>
        <p:nvGraphicFramePr>
          <p:cNvPr id="51221" name="对象 2">
            <a:extLst>
              <a:ext uri="{FF2B5EF4-FFF2-40B4-BE49-F238E27FC236}">
                <a16:creationId xmlns:a16="http://schemas.microsoft.com/office/drawing/2014/main" id="{4A0B5C1A-B1DB-4645-817A-970E8A4703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86017618"/>
              </p:ext>
            </p:extLst>
          </p:nvPr>
        </p:nvGraphicFramePr>
        <p:xfrm>
          <a:off x="5648964" y="2427826"/>
          <a:ext cx="291704" cy="260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389160" imgH="348480" progId="Equation.KSEE3">
                  <p:embed/>
                </p:oleObj>
              </mc:Choice>
              <mc:Fallback>
                <p:oleObj r:id="rId2" imgW="389160" imgH="348480" progId="Equation.KSEE3">
                  <p:embed/>
                  <p:pic>
                    <p:nvPicPr>
                      <p:cNvPr id="51221" name="对象 2">
                        <a:extLst>
                          <a:ext uri="{FF2B5EF4-FFF2-40B4-BE49-F238E27FC236}">
                            <a16:creationId xmlns:a16="http://schemas.microsoft.com/office/drawing/2014/main" id="{4A0B5C1A-B1DB-4645-817A-970E8A4703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8964" y="2427826"/>
                        <a:ext cx="291704" cy="260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内容占位符 1">
            <a:extLst>
              <a:ext uri="{FF2B5EF4-FFF2-40B4-BE49-F238E27FC236}">
                <a16:creationId xmlns:a16="http://schemas.microsoft.com/office/drawing/2014/main" id="{38D37544-847D-4FDB-B6A2-5EA1C3F16A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450152" y="869232"/>
            <a:ext cx="5943444" cy="3506904"/>
          </a:xfrm>
          <a:noFill/>
        </p:spPr>
        <p:txBody>
          <a:bodyPr>
            <a:normAutofit/>
          </a:bodyPr>
          <a:lstStyle/>
          <a:p>
            <a:pPr marL="269081" indent="-269081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400" b="1" noProof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应用归结原理进行归结： </a:t>
            </a:r>
            <a:endParaRPr lang="en-US" altLang="zh-CN" sz="2400" b="1" noProof="1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45" name="Picture 36">
            <a:extLst>
              <a:ext uri="{FF2B5EF4-FFF2-40B4-BE49-F238E27FC236}">
                <a16:creationId xmlns:a16="http://schemas.microsoft.com/office/drawing/2014/main" id="{AB628F80-B643-44ED-8157-328A65DB21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3745" y="1559856"/>
            <a:ext cx="4971993" cy="3117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3236351"/>
      </p:ext>
    </p:extLst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木材纹理">
  <a:themeElements>
    <a:clrScheme name="木材纹理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木材纹理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木材纹理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木材纹理</Template>
  <TotalTime>312</TotalTime>
  <Words>6148</Words>
  <Application>Microsoft Office PowerPoint</Application>
  <PresentationFormat>全屏显示(4:3)</PresentationFormat>
  <Paragraphs>1299</Paragraphs>
  <Slides>43</Slides>
  <Notes>31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等线</vt:lpstr>
      <vt:lpstr>方正姚体</vt:lpstr>
      <vt:lpstr>黑体</vt:lpstr>
      <vt:lpstr>华文行楷</vt:lpstr>
      <vt:lpstr>Arial</vt:lpstr>
      <vt:lpstr>Cambria Math</vt:lpstr>
      <vt:lpstr>Rockwell</vt:lpstr>
      <vt:lpstr>Rockwell Condensed</vt:lpstr>
      <vt:lpstr>Times New Roman</vt:lpstr>
      <vt:lpstr>Verdana</vt:lpstr>
      <vt:lpstr>Wingdings</vt:lpstr>
      <vt:lpstr>木材纹理</vt:lpstr>
      <vt:lpstr>Equation.KSEE3</vt:lpstr>
      <vt:lpstr>公式</vt:lpstr>
      <vt:lpstr>Equation.3</vt:lpstr>
      <vt:lpstr>逻辑与推理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从关联到因果</vt:lpstr>
      <vt:lpstr>Simpson’s Paradox (辛普森悖论)</vt:lpstr>
      <vt:lpstr>Simpson’s Paradox (辛普森悖论)</vt:lpstr>
      <vt:lpstr>Simpson’s Paradox (辛普森悖论)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 jiajing</dc:creator>
  <cp:lastModifiedBy>wang jiajing</cp:lastModifiedBy>
  <cp:revision>23</cp:revision>
  <dcterms:created xsi:type="dcterms:W3CDTF">2022-04-21T03:47:24Z</dcterms:created>
  <dcterms:modified xsi:type="dcterms:W3CDTF">2023-04-11T06:58:50Z</dcterms:modified>
</cp:coreProperties>
</file>