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784" r:id="rId2"/>
    <p:sldId id="645" r:id="rId3"/>
    <p:sldId id="646" r:id="rId4"/>
    <p:sldId id="785" r:id="rId5"/>
    <p:sldId id="786" r:id="rId6"/>
    <p:sldId id="787" r:id="rId7"/>
    <p:sldId id="788" r:id="rId8"/>
    <p:sldId id="789" r:id="rId9"/>
    <p:sldId id="790" r:id="rId10"/>
    <p:sldId id="648" r:id="rId11"/>
    <p:sldId id="649" r:id="rId12"/>
    <p:sldId id="791" r:id="rId13"/>
    <p:sldId id="792" r:id="rId14"/>
    <p:sldId id="793" r:id="rId15"/>
    <p:sldId id="794" r:id="rId16"/>
    <p:sldId id="795" r:id="rId17"/>
    <p:sldId id="796" r:id="rId18"/>
    <p:sldId id="797" r:id="rId19"/>
    <p:sldId id="798" r:id="rId20"/>
    <p:sldId id="799" r:id="rId21"/>
    <p:sldId id="800" r:id="rId22"/>
    <p:sldId id="801" r:id="rId23"/>
    <p:sldId id="802" r:id="rId24"/>
    <p:sldId id="803" r:id="rId25"/>
    <p:sldId id="804" r:id="rId26"/>
    <p:sldId id="827" r:id="rId27"/>
    <p:sldId id="824" r:id="rId28"/>
    <p:sldId id="847" r:id="rId29"/>
    <p:sldId id="826" r:id="rId30"/>
    <p:sldId id="848" r:id="rId31"/>
    <p:sldId id="849" r:id="rId32"/>
    <p:sldId id="850" r:id="rId33"/>
    <p:sldId id="851" r:id="rId34"/>
    <p:sldId id="828" r:id="rId35"/>
    <p:sldId id="821" r:id="rId36"/>
    <p:sldId id="822" r:id="rId37"/>
    <p:sldId id="823"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2" autoAdjust="0"/>
    <p:restoredTop sz="94660"/>
  </p:normalViewPr>
  <p:slideViewPr>
    <p:cSldViewPr snapToGrid="0">
      <p:cViewPr varScale="1">
        <p:scale>
          <a:sx n="67" d="100"/>
          <a:sy n="67" d="100"/>
        </p:scale>
        <p:origin x="39"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26C0E3-135E-45A8-8AB8-6F022F84AF20}" type="datetimeFigureOut">
              <a:rPr lang="zh-CN" altLang="en-US" smtClean="0"/>
              <a:t>2023/4/15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E0A55C-833D-49D9-9670-352BEC91BB4D}" type="slidenum">
              <a:rPr lang="zh-CN" altLang="en-US" smtClean="0"/>
              <a:t>‹#›</a:t>
            </a:fld>
            <a:endParaRPr lang="zh-CN" altLang="en-US"/>
          </a:p>
        </p:txBody>
      </p:sp>
    </p:spTree>
    <p:extLst>
      <p:ext uri="{BB962C8B-B14F-4D97-AF65-F5344CB8AC3E}">
        <p14:creationId xmlns:p14="http://schemas.microsoft.com/office/powerpoint/2010/main" val="2150288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a:extLst>
              <a:ext uri="{FF2B5EF4-FFF2-40B4-BE49-F238E27FC236}">
                <a16:creationId xmlns:a16="http://schemas.microsoft.com/office/drawing/2014/main" id="{F0670441-C6A9-7F49-A2C8-16691D6F2E3C}"/>
              </a:ext>
            </a:extLst>
          </p:cNvPr>
          <p:cNvSpPr>
            <a:spLocks noGrp="1" noRot="1" noChangeAspect="1" noChangeArrowheads="1" noTextEdit="1"/>
          </p:cNvSpPr>
          <p:nvPr>
            <p:ph type="sldImg"/>
          </p:nvPr>
        </p:nvSpPr>
        <p:spPr>
          <a:xfrm>
            <a:off x="1143000" y="685800"/>
            <a:ext cx="4572000" cy="3429000"/>
          </a:xfrm>
        </p:spPr>
      </p:sp>
      <p:sp>
        <p:nvSpPr>
          <p:cNvPr id="19458" name="备注占位符 2">
            <a:extLst>
              <a:ext uri="{FF2B5EF4-FFF2-40B4-BE49-F238E27FC236}">
                <a16:creationId xmlns:a16="http://schemas.microsoft.com/office/drawing/2014/main" id="{B21E9F01-8798-6A4D-AA37-CEB31BA3C86E}"/>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459" name="灯片编号占位符 3">
            <a:extLst>
              <a:ext uri="{FF2B5EF4-FFF2-40B4-BE49-F238E27FC236}">
                <a16:creationId xmlns:a16="http://schemas.microsoft.com/office/drawing/2014/main" id="{469D7743-928C-4B49-8889-B7DA5F9122F1}"/>
              </a:ext>
            </a:extLst>
          </p:cNvPr>
          <p:cNvSpPr>
            <a:spLocks noGrp="1"/>
          </p:cNvSpPr>
          <p:nvPr>
            <p:ph type="sldNum" sz="quarter" idx="5"/>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Verdana" panose="020B0604030504040204" pitchFamily="34" charset="0"/>
                <a:ea typeface="宋体" panose="02010600030101010101" pitchFamily="2" charset="-122"/>
              </a:defRPr>
            </a:lvl1pPr>
            <a:lvl2pPr marL="742950" indent="-285750">
              <a:defRPr sz="2800">
                <a:solidFill>
                  <a:schemeClr val="tx1"/>
                </a:solidFill>
                <a:latin typeface="Verdana" panose="020B0604030504040204" pitchFamily="34" charset="0"/>
                <a:ea typeface="宋体" panose="02010600030101010101" pitchFamily="2" charset="-122"/>
              </a:defRPr>
            </a:lvl2pPr>
            <a:lvl3pPr marL="1143000" indent="-228600">
              <a:defRPr sz="2800">
                <a:solidFill>
                  <a:schemeClr val="tx1"/>
                </a:solidFill>
                <a:latin typeface="Verdana" panose="020B0604030504040204" pitchFamily="34" charset="0"/>
                <a:ea typeface="宋体" panose="02010600030101010101" pitchFamily="2" charset="-122"/>
              </a:defRPr>
            </a:lvl3pPr>
            <a:lvl4pPr marL="1600200" indent="-228600">
              <a:defRPr sz="2800">
                <a:solidFill>
                  <a:schemeClr val="tx1"/>
                </a:solidFill>
                <a:latin typeface="Verdana" panose="020B0604030504040204" pitchFamily="34" charset="0"/>
                <a:ea typeface="宋体" panose="02010600030101010101" pitchFamily="2" charset="-122"/>
              </a:defRPr>
            </a:lvl4pPr>
            <a:lvl5pPr marL="2057400" indent="-228600">
              <a:defRPr sz="28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A079DD9-C9D1-C543-AF12-536BB687E807}" type="slidenum">
              <a:rPr kumimoji="0" lang="en-US" altLang="zh-CN" sz="2800" b="0" i="0" u="none" strike="noStrike" kern="1200" cap="none" spc="0" normalizeH="0" baseline="0" noProof="0" smtClean="0">
                <a:ln>
                  <a:noFill/>
                </a:ln>
                <a:solidFill>
                  <a:prstClr val="black"/>
                </a:solidFill>
                <a:effectLst/>
                <a:uLnTx/>
                <a:uFillTx/>
                <a:latin typeface="Verdana" panose="020B0604030504040204" pitchFamily="34" charset="0"/>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altLang="zh-CN"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36771" y="1057014"/>
            <a:ext cx="10363200" cy="1535184"/>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546371" y="402987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5AFABB-F632-4F91-92AF-0E2D2EA81731}" type="datetime1">
              <a:rPr lang="zh-CN" altLang="en-US" smtClean="0"/>
              <a:t>2023/4/15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178200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03C160-1CF6-4197-853C-5DD8144FA9BE}" type="datetime1">
              <a:rPr lang="zh-CN" altLang="en-US" smtClean="0"/>
              <a:t>2023/4/15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888727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32519" y="1057014"/>
            <a:ext cx="10363200" cy="1533600"/>
          </a:xfrm>
        </p:spPr>
        <p:txBody>
          <a:bodyPr anchor="b"/>
          <a:lstStyle>
            <a:lvl1pPr>
              <a:defRPr sz="4800"/>
            </a:lvl1pPr>
          </a:lstStyle>
          <a:p>
            <a:r>
              <a:rPr lang="zh-CN" altLang="en-US"/>
              <a:t>单击此处编辑母版标题样式</a:t>
            </a:r>
            <a:endParaRPr lang="en-US" dirty="0"/>
          </a:p>
        </p:txBody>
      </p:sp>
      <p:sp>
        <p:nvSpPr>
          <p:cNvPr id="3" name="Text Placeholder 2"/>
          <p:cNvSpPr>
            <a:spLocks noGrp="1"/>
          </p:cNvSpPr>
          <p:nvPr>
            <p:ph type="body" idx="1"/>
          </p:nvPr>
        </p:nvSpPr>
        <p:spPr>
          <a:xfrm>
            <a:off x="1553304" y="4027400"/>
            <a:ext cx="9144000" cy="1656000"/>
          </a:xfrm>
        </p:spPr>
        <p:txBody>
          <a:bodyPr/>
          <a:lstStyle>
            <a:lvl1pPr marL="0" indent="0" algn="ctr">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42E54B1-0884-4633-8327-893DAA1E511F}" type="datetime1">
              <a:rPr lang="zh-CN" altLang="en-US" smtClean="0"/>
              <a:t>2023/4/15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249306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A1650BB-E4E8-4483-82DA-D58DEBC4998C}" type="datetime1">
              <a:rPr lang="zh-CN" altLang="en-US" smtClean="0"/>
              <a:t>2023/4/15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890765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26604BCF-E610-4FCE-ADC3-9F4D58E19C5C}" type="datetime1">
              <a:rPr lang="zh-CN" altLang="en-US" smtClean="0"/>
              <a:t>2023/4/15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944034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BA7D6D-E156-4C2B-9FF2-B27706CE389A}" type="datetime1">
              <a:rPr lang="zh-CN" altLang="en-US" smtClean="0"/>
              <a:t>2023/4/15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177671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C0FCEF-073A-4FC7-8BAD-A662F97179A2}" type="datetime1">
              <a:rPr lang="zh-CN" altLang="en-US" smtClean="0"/>
              <a:t>2023/4/15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4025992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45B6709-067F-4154-9C9A-D56718F28438}" type="datetime1">
              <a:rPr lang="zh-CN" altLang="en-US" smtClean="0"/>
              <a:t>2023/4/15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855085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D8D4C65-E77B-45F2-BD81-CFF9643C0CCF}" type="datetime1">
              <a:rPr lang="zh-CN" altLang="en-US" smtClean="0"/>
              <a:t>2023/4/15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3984132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F906368-F392-4465-AD91-AE646936C52B}" type="datetime1">
              <a:rPr lang="zh-CN" altLang="en-US" smtClean="0"/>
              <a:t>2023/4/15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2083124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13AE443-EA00-4061-899C-73E3EB4E23B9}" type="datetime1">
              <a:rPr lang="zh-CN" altLang="en-US" smtClean="0"/>
              <a:t>2023/4/15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10261171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1143000"/>
          </a:xfrm>
          <a:prstGeom prst="rect">
            <a:avLst/>
          </a:prstGeom>
        </p:spPr>
        <p:txBody>
          <a:bodyPr/>
          <a:lstStyle/>
          <a:p>
            <a:r>
              <a:rPr lang="zh-CN" altLang="en-US"/>
              <a:t>单击此处编辑母版标题样式</a:t>
            </a:r>
          </a:p>
        </p:txBody>
      </p:sp>
      <p:sp>
        <p:nvSpPr>
          <p:cNvPr id="3" name="Rectangle 2">
            <a:extLst>
              <a:ext uri="{FF2B5EF4-FFF2-40B4-BE49-F238E27FC236}">
                <a16:creationId xmlns:a16="http://schemas.microsoft.com/office/drawing/2014/main" id="{272A2613-5BCB-3A4E-85A0-87ECABA2EAEC}"/>
              </a:ext>
            </a:extLst>
          </p:cNvPr>
          <p:cNvSpPr>
            <a:spLocks noGrp="1" noChangeArrowheads="1"/>
          </p:cNvSpPr>
          <p:nvPr>
            <p:ph type="sldNum" sz="quarter" idx="10"/>
          </p:nvPr>
        </p:nvSpPr>
        <p:spPr>
          <a:ln/>
        </p:spPr>
        <p:txBody>
          <a:bodyPr/>
          <a:lstStyle>
            <a:lvl1pPr>
              <a:defRPr/>
            </a:lvl1pPr>
          </a:lstStyle>
          <a:p>
            <a:pPr>
              <a:defRPr/>
            </a:pPr>
            <a:fld id="{564B43B8-EC4A-5743-9CA4-764B42BFAC9D}" type="slidenum">
              <a:rPr lang="zh-CN" altLang="en-US"/>
              <a:pPr>
                <a:defRPr/>
              </a:pPr>
              <a:t>‹#›</a:t>
            </a:fld>
            <a:endParaRPr lang="en-US" altLang="zh-CN" sz="1350" dirty="0"/>
          </a:p>
        </p:txBody>
      </p:sp>
    </p:spTree>
    <p:extLst>
      <p:ext uri="{BB962C8B-B14F-4D97-AF65-F5344CB8AC3E}">
        <p14:creationId xmlns:p14="http://schemas.microsoft.com/office/powerpoint/2010/main" val="1581801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534584" y="214313"/>
            <a:ext cx="10405533" cy="59182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11">
            <a:extLst>
              <a:ext uri="{FF2B5EF4-FFF2-40B4-BE49-F238E27FC236}">
                <a16:creationId xmlns:a16="http://schemas.microsoft.com/office/drawing/2014/main" id="{08622E31-407B-4AFD-928F-DE6543EA64F6}"/>
              </a:ext>
            </a:extLst>
          </p:cNvPr>
          <p:cNvSpPr>
            <a:spLocks noGrp="1" noChangeArrowheads="1"/>
          </p:cNvSpPr>
          <p:nvPr>
            <p:ph type="dt" sz="half" idx="10"/>
          </p:nvPr>
        </p:nvSpPr>
        <p:spPr>
          <a:xfrm>
            <a:off x="1549400" y="6243638"/>
            <a:ext cx="25400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b="0">
                <a:latin typeface="+mn-lt"/>
              </a:defRPr>
            </a:lvl1pPr>
          </a:lstStyle>
          <a:p>
            <a:pPr>
              <a:defRPr/>
            </a:pPr>
            <a:fld id="{E197ECB9-BA6A-4168-AD85-40BD5A062894}" type="datetime1">
              <a:rPr lang="zh-CN" altLang="en-US"/>
              <a:pPr>
                <a:defRPr/>
              </a:pPr>
              <a:t>2023/4/15</a:t>
            </a:fld>
            <a:endParaRPr lang="en-US" altLang="zh-CN"/>
          </a:p>
        </p:txBody>
      </p:sp>
      <p:sp>
        <p:nvSpPr>
          <p:cNvPr id="4" name="Rectangle 12">
            <a:extLst>
              <a:ext uri="{FF2B5EF4-FFF2-40B4-BE49-F238E27FC236}">
                <a16:creationId xmlns:a16="http://schemas.microsoft.com/office/drawing/2014/main" id="{D3104D1A-9DB7-4FA4-97E8-C5B6727EA054}"/>
              </a:ext>
            </a:extLst>
          </p:cNvPr>
          <p:cNvSpPr>
            <a:spLocks noGrp="1" noChangeArrowheads="1"/>
          </p:cNvSpPr>
          <p:nvPr>
            <p:ph type="ftr" sz="quarter" idx="11"/>
          </p:nvPr>
        </p:nvSpPr>
        <p:spPr>
          <a:xfrm>
            <a:off x="4876800" y="6243638"/>
            <a:ext cx="38608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b="0">
                <a:latin typeface="+mn-lt"/>
              </a:defRPr>
            </a:lvl1pPr>
          </a:lstStyle>
          <a:p>
            <a:pPr>
              <a:defRPr/>
            </a:pPr>
            <a:endParaRPr lang="en-US" altLang="zh-CN"/>
          </a:p>
        </p:txBody>
      </p:sp>
      <p:sp>
        <p:nvSpPr>
          <p:cNvPr id="5" name="Rectangle 13">
            <a:extLst>
              <a:ext uri="{FF2B5EF4-FFF2-40B4-BE49-F238E27FC236}">
                <a16:creationId xmlns:a16="http://schemas.microsoft.com/office/drawing/2014/main" id="{9D37CA35-DD45-4A72-ACFA-3DCAAF024026}"/>
              </a:ext>
            </a:extLst>
          </p:cNvPr>
          <p:cNvSpPr>
            <a:spLocks noGrp="1" noChangeArrowheads="1"/>
          </p:cNvSpPr>
          <p:nvPr>
            <p:ph type="sldNum" sz="quarter" idx="12"/>
          </p:nvPr>
        </p:nvSpPr>
        <p:spPr>
          <a:xfrm>
            <a:off x="9389533" y="6243638"/>
            <a:ext cx="25400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1400">
                <a:solidFill>
                  <a:srgbClr val="000000"/>
                </a:solidFill>
                <a:latin typeface="Tahoma" panose="020B0604030504040204" pitchFamily="34" charset="0"/>
              </a:defRPr>
            </a:lvl1pPr>
          </a:lstStyle>
          <a:p>
            <a:fld id="{014C427B-7373-4FBC-9951-725C9B43A64F}" type="slidenum">
              <a:rPr lang="en-US" altLang="zh-CN"/>
              <a:pPr/>
              <a:t>‹#›</a:t>
            </a:fld>
            <a:endParaRPr lang="en-US" altLang="zh-CN"/>
          </a:p>
        </p:txBody>
      </p:sp>
    </p:spTree>
    <p:extLst>
      <p:ext uri="{BB962C8B-B14F-4D97-AF65-F5344CB8AC3E}">
        <p14:creationId xmlns:p14="http://schemas.microsoft.com/office/powerpoint/2010/main" val="84097148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4400"/>
            <a:ext cx="12192000" cy="817721"/>
          </a:xfrm>
          <a:prstGeom prst="rect">
            <a:avLst/>
          </a:prstGeom>
        </p:spPr>
        <p:txBody>
          <a:bodyPr vert="horz" lIns="91440" tIns="144000" rIns="91440" bIns="45720" rtlCol="0" anchor="ctr">
            <a:no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78965" y="906011"/>
            <a:ext cx="11845255" cy="5637402"/>
          </a:xfrm>
          <a:prstGeom prst="rect">
            <a:avLst/>
          </a:prstGeom>
        </p:spPr>
        <p:txBody>
          <a:bodyPr vert="horz" lIns="91440" tIns="45720" rIns="91440" bIns="45720" rtlCol="0">
            <a:no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700" y="6660859"/>
            <a:ext cx="2743200" cy="197140"/>
          </a:xfrm>
          <a:prstGeom prst="rect">
            <a:avLst/>
          </a:prstGeom>
        </p:spPr>
        <p:txBody>
          <a:bodyPr vert="horz" lIns="91440" tIns="36000" rIns="91440" bIns="45720" rtlCol="0" anchor="ctr"/>
          <a:lstStyle>
            <a:lvl1pPr algn="l">
              <a:defRPr sz="1200" b="1">
                <a:solidFill>
                  <a:srgbClr val="002060"/>
                </a:solidFill>
              </a:defRPr>
            </a:lvl1pPr>
          </a:lstStyle>
          <a:p>
            <a:fld id="{7181A378-AD84-4E06-B1B5-6D5F5ACB78AE}" type="datetime1">
              <a:rPr lang="zh-CN" altLang="en-US" smtClean="0"/>
              <a:t>2023/4/15</a:t>
            </a:fld>
            <a:endParaRPr lang="zh-CN" altLang="en-US"/>
          </a:p>
        </p:txBody>
      </p:sp>
      <p:sp>
        <p:nvSpPr>
          <p:cNvPr id="5" name="Footer Placeholder 4"/>
          <p:cNvSpPr>
            <a:spLocks noGrp="1"/>
          </p:cNvSpPr>
          <p:nvPr>
            <p:ph type="ftr" sz="quarter" idx="3"/>
          </p:nvPr>
        </p:nvSpPr>
        <p:spPr>
          <a:xfrm>
            <a:off x="3031224" y="6660859"/>
            <a:ext cx="6129553" cy="197140"/>
          </a:xfrm>
          <a:prstGeom prst="rect">
            <a:avLst/>
          </a:prstGeom>
        </p:spPr>
        <p:txBody>
          <a:bodyPr vert="horz" lIns="91440" tIns="36000" rIns="91440" bIns="45720" rtlCol="0" anchor="ctr"/>
          <a:lstStyle>
            <a:lvl1pPr algn="ctr">
              <a:defRPr sz="1200" b="0">
                <a:solidFill>
                  <a:srgbClr val="002060"/>
                </a:solidFill>
              </a:defRPr>
            </a:lvl1pPr>
          </a:lstStyle>
          <a:p>
            <a:endParaRPr lang="zh-CN" altLang="en-US"/>
          </a:p>
        </p:txBody>
      </p:sp>
      <p:sp>
        <p:nvSpPr>
          <p:cNvPr id="6" name="Slide Number Placeholder 5"/>
          <p:cNvSpPr>
            <a:spLocks noGrp="1"/>
          </p:cNvSpPr>
          <p:nvPr>
            <p:ph type="sldNum" sz="quarter" idx="4"/>
          </p:nvPr>
        </p:nvSpPr>
        <p:spPr>
          <a:xfrm>
            <a:off x="9448800" y="6660859"/>
            <a:ext cx="2743200" cy="197140"/>
          </a:xfrm>
          <a:prstGeom prst="rect">
            <a:avLst/>
          </a:prstGeom>
        </p:spPr>
        <p:txBody>
          <a:bodyPr vert="horz" lIns="91440" tIns="36000" rIns="91440" bIns="45720" rtlCol="0" anchor="ctr"/>
          <a:lstStyle>
            <a:lvl1pPr algn="r">
              <a:defRPr sz="1200" b="1">
                <a:solidFill>
                  <a:srgbClr val="002060"/>
                </a:solidFill>
              </a:defRPr>
            </a:lvl1pPr>
          </a:lstStyle>
          <a:p>
            <a:fld id="{5AD84F5B-1672-4D3F-9FEC-5DF89A7B7912}" type="slidenum">
              <a:rPr lang="zh-CN" altLang="en-US" smtClean="0"/>
              <a:t>‹#›</a:t>
            </a:fld>
            <a:endParaRPr lang="zh-CN" altLang="en-US"/>
          </a:p>
        </p:txBody>
      </p:sp>
    </p:spTree>
    <p:extLst>
      <p:ext uri="{BB962C8B-B14F-4D97-AF65-F5344CB8AC3E}">
        <p14:creationId xmlns:p14="http://schemas.microsoft.com/office/powerpoint/2010/main" val="8917359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p:titleStyle>
    <p:bodyStyle>
      <a:lvl1pPr marL="360680" indent="-360680" algn="l" defTabSz="914400" rtl="0" eaLnBrk="1" latinLnBrk="0" hangingPunct="1">
        <a:lnSpc>
          <a:spcPct val="130000"/>
        </a:lnSpc>
        <a:spcBef>
          <a:spcPts val="1000"/>
        </a:spcBef>
        <a:buSzPct val="85000"/>
        <a:buFont typeface="Wingdings" panose="05000000000000000000" pitchFamily="2" charset="2"/>
        <a:buChar char="n"/>
        <a:defRPr sz="2400" kern="1200">
          <a:solidFill>
            <a:srgbClr val="002060"/>
          </a:solidFill>
          <a:latin typeface="+mn-lt"/>
          <a:ea typeface="+mn-ea"/>
          <a:cs typeface="+mn-cs"/>
        </a:defRPr>
      </a:lvl1pPr>
      <a:lvl2pPr marL="720725" indent="-360680" algn="l" defTabSz="914400" rtl="0" eaLnBrk="1" latinLnBrk="0" hangingPunct="1">
        <a:lnSpc>
          <a:spcPct val="130000"/>
        </a:lnSpc>
        <a:spcBef>
          <a:spcPts val="500"/>
        </a:spcBef>
        <a:buSzPct val="85000"/>
        <a:buFont typeface="Wingdings" panose="05000000000000000000" pitchFamily="2" charset="2"/>
        <a:buChar char="u"/>
        <a:defRPr sz="2000" kern="1200">
          <a:solidFill>
            <a:srgbClr val="002060"/>
          </a:solidFill>
          <a:latin typeface="+mn-lt"/>
          <a:ea typeface="+mn-ea"/>
          <a:cs typeface="+mn-cs"/>
        </a:defRPr>
      </a:lvl2pPr>
      <a:lvl3pPr marL="990600" indent="-269875" algn="l" defTabSz="914400" rtl="0" eaLnBrk="1" latinLnBrk="0" hangingPunct="1">
        <a:lnSpc>
          <a:spcPct val="130000"/>
        </a:lnSpc>
        <a:spcBef>
          <a:spcPts val="500"/>
        </a:spcBef>
        <a:buSzPct val="85000"/>
        <a:buFont typeface="Wingdings" panose="05000000000000000000" pitchFamily="2" charset="2"/>
        <a:buChar char="l"/>
        <a:defRPr sz="1800" kern="1200">
          <a:solidFill>
            <a:srgbClr val="002060"/>
          </a:solidFill>
          <a:latin typeface="+mn-lt"/>
          <a:ea typeface="+mn-ea"/>
          <a:cs typeface="+mn-cs"/>
        </a:defRPr>
      </a:lvl3pPr>
      <a:lvl4pPr marL="1259205" indent="-268605" algn="l" defTabSz="914400" rtl="0" eaLnBrk="1" latinLnBrk="0" hangingPunct="1">
        <a:lnSpc>
          <a:spcPct val="130000"/>
        </a:lnSpc>
        <a:spcBef>
          <a:spcPts val="500"/>
        </a:spcBef>
        <a:buSzPct val="85000"/>
        <a:buFont typeface="Wingdings" panose="05000000000000000000" pitchFamily="2" charset="2"/>
        <a:buChar char="p"/>
        <a:defRPr sz="1600" kern="1200">
          <a:solidFill>
            <a:srgbClr val="002060"/>
          </a:solidFill>
          <a:latin typeface="+mn-lt"/>
          <a:ea typeface="+mn-ea"/>
          <a:cs typeface="+mn-cs"/>
        </a:defRPr>
      </a:lvl4pPr>
      <a:lvl5pPr marL="1527175" indent="-268605" algn="l" defTabSz="914400" rtl="0" eaLnBrk="1" latinLnBrk="0" hangingPunct="1">
        <a:lnSpc>
          <a:spcPct val="130000"/>
        </a:lnSpc>
        <a:spcBef>
          <a:spcPts val="500"/>
        </a:spcBef>
        <a:buSzPct val="85000"/>
        <a:buFont typeface="Wingdings" panose="05000000000000000000" pitchFamily="2" charset="2"/>
        <a:buChar char="Ø"/>
        <a:defRPr sz="16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icourse163.org/course/ZJU-1003377027"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5.wmf"/><Relationship Id="rId4" Type="http://schemas.openxmlformats.org/officeDocument/2006/relationships/oleObject" Target="../embeddings/oleObject2.bin"/><Relationship Id="rId9" Type="http://schemas.openxmlformats.org/officeDocument/2006/relationships/image" Target="../media/image7.wmf"/></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0.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9.png"/><Relationship Id="rId4" Type="http://schemas.openxmlformats.org/officeDocument/2006/relationships/oleObject" Target="../embeddings/oleObject6.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961831-9E67-496F-9B9A-2CE49AE8E3C4}"/>
              </a:ext>
            </a:extLst>
          </p:cNvPr>
          <p:cNvSpPr>
            <a:spLocks noGrp="1"/>
          </p:cNvSpPr>
          <p:nvPr>
            <p:ph type="ctrTitle"/>
          </p:nvPr>
        </p:nvSpPr>
        <p:spPr>
          <a:xfrm>
            <a:off x="2203718" y="2468880"/>
            <a:ext cx="7772400" cy="2095500"/>
          </a:xfrm>
        </p:spPr>
        <p:txBody>
          <a:bodyPr>
            <a:normAutofit/>
          </a:bodyPr>
          <a:lstStyle/>
          <a:p>
            <a:pPr algn="ctr">
              <a:lnSpc>
                <a:spcPct val="100000"/>
              </a:lnSpc>
            </a:pPr>
            <a:r>
              <a:rPr lang="zh-CN" altLang="en-US" sz="8800" b="1" spc="600" dirty="0">
                <a:latin typeface="华文行楷" panose="02010800040101010101" pitchFamily="2" charset="-122"/>
                <a:ea typeface="华文行楷" panose="02010800040101010101" pitchFamily="2" charset="-122"/>
                <a:cs typeface="微软雅黑" panose="020B0503020204020204" pitchFamily="34" charset="-122"/>
              </a:rPr>
              <a:t>搜索与求解</a:t>
            </a:r>
            <a:endParaRPr lang="zh-CN" altLang="en-US" sz="8800" spc="600" dirty="0">
              <a:latin typeface="华文行楷" panose="02010800040101010101" pitchFamily="2" charset="-122"/>
              <a:ea typeface="华文行楷" panose="02010800040101010101" pitchFamily="2" charset="-122"/>
            </a:endParaRPr>
          </a:p>
        </p:txBody>
      </p:sp>
      <p:sp>
        <p:nvSpPr>
          <p:cNvPr id="5" name="矩形 4">
            <a:extLst>
              <a:ext uri="{FF2B5EF4-FFF2-40B4-BE49-F238E27FC236}">
                <a16:creationId xmlns:a16="http://schemas.microsoft.com/office/drawing/2014/main" id="{A9DA1139-08A0-4FE0-810D-C0A7552784E0}"/>
              </a:ext>
            </a:extLst>
          </p:cNvPr>
          <p:cNvSpPr/>
          <p:nvPr/>
        </p:nvSpPr>
        <p:spPr>
          <a:xfrm>
            <a:off x="6401152" y="530758"/>
            <a:ext cx="3775393" cy="400110"/>
          </a:xfrm>
          <a:prstGeom prst="rect">
            <a:avLst/>
          </a:prstGeom>
        </p:spPr>
        <p:txBody>
          <a:bodyPr wrap="none">
            <a:spAutoFit/>
          </a:bodyPr>
          <a:lstStyle/>
          <a:p>
            <a:r>
              <a:rPr lang="en-US" altLang="zh-CN" sz="2000" dirty="0">
                <a:solidFill>
                  <a:prstClr val="black"/>
                </a:solidFill>
                <a:latin typeface="Times New Roman"/>
                <a:ea typeface="黑体"/>
              </a:rPr>
              <a:t>《</a:t>
            </a:r>
            <a:r>
              <a:rPr lang="zh-CN" altLang="en-US" sz="2000" dirty="0">
                <a:solidFill>
                  <a:prstClr val="black"/>
                </a:solidFill>
                <a:latin typeface="Times New Roman"/>
                <a:ea typeface="黑体"/>
              </a:rPr>
              <a:t>人工智能导论：模型与算法</a:t>
            </a:r>
            <a:r>
              <a:rPr lang="en-US" altLang="zh-CN" sz="2000" dirty="0">
                <a:solidFill>
                  <a:prstClr val="black"/>
                </a:solidFill>
                <a:latin typeface="Times New Roman"/>
                <a:ea typeface="黑体"/>
              </a:rPr>
              <a:t>》</a:t>
            </a:r>
            <a:endParaRPr lang="zh-CN" altLang="en-US" sz="2000" dirty="0">
              <a:solidFill>
                <a:prstClr val="black"/>
              </a:solidFill>
              <a:latin typeface="Times New Roman"/>
              <a:ea typeface="黑体"/>
            </a:endParaRPr>
          </a:p>
        </p:txBody>
      </p:sp>
      <p:sp>
        <p:nvSpPr>
          <p:cNvPr id="8" name="标题 1">
            <a:extLst>
              <a:ext uri="{FF2B5EF4-FFF2-40B4-BE49-F238E27FC236}">
                <a16:creationId xmlns:a16="http://schemas.microsoft.com/office/drawing/2014/main" id="{32E5F975-BF95-4957-9230-657C928CF581}"/>
              </a:ext>
            </a:extLst>
          </p:cNvPr>
          <p:cNvSpPr txBox="1">
            <a:spLocks/>
          </p:cNvSpPr>
          <p:nvPr/>
        </p:nvSpPr>
        <p:spPr>
          <a:xfrm>
            <a:off x="2203718" y="1848864"/>
            <a:ext cx="7772400" cy="1240032"/>
          </a:xfrm>
          <a:prstGeom prst="rect">
            <a:avLst/>
          </a:prstGeom>
        </p:spPr>
        <p:txBody>
          <a:bodyPr vert="horz" lIns="91440" tIns="144000" rIns="91440" bIns="45720" rtlCol="0" anchor="b">
            <a:normAutofit/>
          </a:bodyPr>
          <a:lstStyle>
            <a:lvl1pPr algn="ctr" defTabSz="914400" rtl="0" eaLnBrk="1" latinLnBrk="0" hangingPunct="1">
              <a:lnSpc>
                <a:spcPct val="90000"/>
              </a:lnSpc>
              <a:spcBef>
                <a:spcPct val="0"/>
              </a:spcBef>
              <a:buNone/>
              <a:defRPr sz="4800" kern="1200">
                <a:solidFill>
                  <a:srgbClr val="C00000"/>
                </a:solidFill>
                <a:latin typeface="+mj-lt"/>
                <a:ea typeface="+mj-ea"/>
                <a:cs typeface="+mj-cs"/>
              </a:defRPr>
            </a:lvl1pPr>
          </a:lstStyle>
          <a:p>
            <a:pPr>
              <a:lnSpc>
                <a:spcPct val="100000"/>
              </a:lnSpc>
            </a:pPr>
            <a:r>
              <a:rPr lang="zh-CN" altLang="en-US" sz="6600" b="1" spc="600" dirty="0">
                <a:solidFill>
                  <a:prstClr val="black"/>
                </a:solidFill>
                <a:latin typeface="华文行楷" panose="02010800040101010101" pitchFamily="2" charset="-122"/>
                <a:ea typeface="华文行楷" panose="02010800040101010101" pitchFamily="2" charset="-122"/>
                <a:cs typeface="微软雅黑" panose="020B0503020204020204" pitchFamily="34" charset="-122"/>
              </a:rPr>
              <a:t>第 </a:t>
            </a:r>
            <a:r>
              <a:rPr lang="en-US" altLang="zh-CN" sz="6600" b="1" spc="600" dirty="0">
                <a:solidFill>
                  <a:prstClr val="black"/>
                </a:solidFill>
                <a:latin typeface="华文行楷" panose="02010800040101010101" pitchFamily="2" charset="-122"/>
                <a:ea typeface="华文行楷" panose="02010800040101010101" pitchFamily="2" charset="-122"/>
                <a:cs typeface="微软雅黑" panose="020B0503020204020204" pitchFamily="34" charset="-122"/>
              </a:rPr>
              <a:t>3 </a:t>
            </a:r>
            <a:r>
              <a:rPr lang="zh-CN" altLang="en-US" sz="6600" b="1" spc="600" dirty="0">
                <a:solidFill>
                  <a:prstClr val="black"/>
                </a:solidFill>
                <a:latin typeface="华文行楷" panose="02010800040101010101" pitchFamily="2" charset="-122"/>
                <a:ea typeface="华文行楷" panose="02010800040101010101" pitchFamily="2" charset="-122"/>
                <a:cs typeface="微软雅黑" panose="020B0503020204020204" pitchFamily="34" charset="-122"/>
              </a:rPr>
              <a:t>章</a:t>
            </a:r>
            <a:endParaRPr lang="zh-CN" altLang="en-US" sz="6600" spc="600" dirty="0">
              <a:solidFill>
                <a:prstClr val="black"/>
              </a:solidFill>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34270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a:extLst>
              <a:ext uri="{FF2B5EF4-FFF2-40B4-BE49-F238E27FC236}">
                <a16:creationId xmlns:a16="http://schemas.microsoft.com/office/drawing/2014/main" id="{6A300084-DFA3-084C-B2F2-40059E9D0BA3}"/>
              </a:ext>
            </a:extLst>
          </p:cNvPr>
          <p:cNvSpPr>
            <a:spLocks noChangeArrowheads="1"/>
          </p:cNvSpPr>
          <p:nvPr/>
        </p:nvSpPr>
        <p:spPr bwMode="auto">
          <a:xfrm>
            <a:off x="1539115" y="99621"/>
            <a:ext cx="6780609" cy="908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a:solidFill>
                  <a:schemeClr val="tx1"/>
                </a:solidFill>
                <a:latin typeface="Verdana" panose="020B0604030504040204" pitchFamily="34" charset="0"/>
                <a:ea typeface="宋体" panose="02010600030101010101" pitchFamily="2" charset="-122"/>
              </a:defRPr>
            </a:lvl1pPr>
            <a:lvl2pPr marL="742950" indent="-285750">
              <a:defRPr sz="2800">
                <a:solidFill>
                  <a:schemeClr val="tx1"/>
                </a:solidFill>
                <a:latin typeface="Verdana" panose="020B0604030504040204" pitchFamily="34" charset="0"/>
                <a:ea typeface="宋体" panose="02010600030101010101" pitchFamily="2" charset="-122"/>
              </a:defRPr>
            </a:lvl2pPr>
            <a:lvl3pPr marL="1143000" indent="-228600">
              <a:defRPr sz="2800">
                <a:solidFill>
                  <a:schemeClr val="tx1"/>
                </a:solidFill>
                <a:latin typeface="Verdana" panose="020B0604030504040204" pitchFamily="34" charset="0"/>
                <a:ea typeface="宋体" panose="02010600030101010101" pitchFamily="2" charset="-122"/>
              </a:defRPr>
            </a:lvl3pPr>
            <a:lvl4pPr marL="1600200" indent="-228600">
              <a:defRPr sz="2800">
                <a:solidFill>
                  <a:schemeClr val="tx1"/>
                </a:solidFill>
                <a:latin typeface="Verdana" panose="020B0604030504040204" pitchFamily="34" charset="0"/>
                <a:ea typeface="宋体" panose="02010600030101010101" pitchFamily="2" charset="-122"/>
              </a:defRPr>
            </a:lvl4pPr>
            <a:lvl5pPr marL="2057400" indent="-228600">
              <a:defRPr sz="28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Verdana" panose="020B0604030504040204" pitchFamily="34" charset="0"/>
                <a:ea typeface="宋体" panose="02010600030101010101" pitchFamily="2" charset="-122"/>
              </a:defRPr>
            </a:lvl9pPr>
          </a:lstStyle>
          <a:p>
            <a:r>
              <a:rPr lang="zh-CN" altLang="en-US" sz="4000" b="1" dirty="0">
                <a:solidFill>
                  <a:srgbClr val="C00000"/>
                </a:solidFill>
                <a:latin typeface="Times New Roman"/>
                <a:ea typeface="微软雅黑" panose="020B0503020204020204" pitchFamily="34" charset="-122"/>
                <a:sym typeface="Times New Roman" panose="02020603050405020304" pitchFamily="18" charset="0"/>
              </a:rPr>
              <a:t>  提纲</a:t>
            </a:r>
          </a:p>
        </p:txBody>
      </p:sp>
      <p:sp>
        <p:nvSpPr>
          <p:cNvPr id="22" name="矩形 7"/>
          <p:cNvSpPr>
            <a:spLocks noChangeArrowheads="1"/>
          </p:cNvSpPr>
          <p:nvPr/>
        </p:nvSpPr>
        <p:spPr bwMode="auto">
          <a:xfrm>
            <a:off x="1757846" y="2449856"/>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20000"/>
              </a:lnSpc>
            </a:pPr>
            <a:r>
              <a:rPr kumimoji="0" lang="zh-CN" altLang="en-US" sz="2800" b="1" dirty="0">
                <a:solidFill>
                  <a:srgbClr val="C00000"/>
                </a:solidFill>
                <a:latin typeface="Times New Roman"/>
                <a:ea typeface="微软雅黑" panose="020B0503020204020204" pitchFamily="34" charset="-122"/>
                <a:sym typeface="Calibri" panose="020F0502020204030204" pitchFamily="34" charset="0"/>
              </a:rPr>
              <a:t>二、对抗搜索</a:t>
            </a:r>
          </a:p>
        </p:txBody>
      </p:sp>
      <p:sp>
        <p:nvSpPr>
          <p:cNvPr id="24" name="矩形 7"/>
          <p:cNvSpPr>
            <a:spLocks noChangeArrowheads="1"/>
          </p:cNvSpPr>
          <p:nvPr/>
        </p:nvSpPr>
        <p:spPr bwMode="auto">
          <a:xfrm>
            <a:off x="1757846" y="1434072"/>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20000"/>
              </a:lnSpc>
            </a:pPr>
            <a:r>
              <a:rPr kumimoji="0" lang="zh-CN" altLang="en-US" sz="2800" b="1" dirty="0">
                <a:solidFill>
                  <a:srgbClr val="C00000"/>
                </a:solidFill>
                <a:latin typeface="Times New Roman"/>
                <a:ea typeface="微软雅黑" panose="020B0503020204020204" pitchFamily="34" charset="-122"/>
              </a:rPr>
              <a:t>一、启发搜索</a:t>
            </a:r>
          </a:p>
        </p:txBody>
      </p:sp>
      <p:sp>
        <p:nvSpPr>
          <p:cNvPr id="2" name="矩形 1"/>
          <p:cNvSpPr/>
          <p:nvPr/>
        </p:nvSpPr>
        <p:spPr>
          <a:xfrm>
            <a:off x="2157470" y="5611383"/>
            <a:ext cx="7629180" cy="575157"/>
          </a:xfrm>
          <a:prstGeom prst="rect">
            <a:avLst/>
          </a:prstGeom>
        </p:spPr>
        <p:txBody>
          <a:bodyPr wrap="square">
            <a:spAutoFit/>
          </a:bodyPr>
          <a:lstStyle/>
          <a:p>
            <a:pPr>
              <a:lnSpc>
                <a:spcPts val="1200"/>
              </a:lnSpc>
            </a:pPr>
            <a:r>
              <a:rPr lang="zh-CN" altLang="en-US" dirty="0">
                <a:solidFill>
                  <a:prstClr val="black"/>
                </a:solidFill>
                <a:latin typeface="华光姚体_CNKI" panose="02000500000000000000" pitchFamily="2" charset="-122"/>
                <a:ea typeface="华光姚体_CNKI" panose="02000500000000000000" pitchFamily="2" charset="-122"/>
              </a:rPr>
              <a:t>吴飞，</a:t>
            </a:r>
            <a:r>
              <a:rPr lang="en-US" altLang="zh-CN" dirty="0">
                <a:solidFill>
                  <a:prstClr val="black"/>
                </a:solidFill>
                <a:latin typeface="华光姚体_CNKI" panose="02000500000000000000" pitchFamily="2" charset="-122"/>
                <a:ea typeface="华光姚体_CNKI" panose="02000500000000000000" pitchFamily="2" charset="-122"/>
              </a:rPr>
              <a:t>《</a:t>
            </a:r>
            <a:r>
              <a:rPr lang="zh-CN" altLang="en-US" dirty="0">
                <a:solidFill>
                  <a:prstClr val="black"/>
                </a:solidFill>
                <a:latin typeface="华光姚体_CNKI" panose="02000500000000000000" pitchFamily="2" charset="-122"/>
                <a:ea typeface="华光姚体_CNKI" panose="02000500000000000000" pitchFamily="2" charset="-122"/>
              </a:rPr>
              <a:t>人工智能导论：模型与算法</a:t>
            </a:r>
            <a:r>
              <a:rPr lang="en-US" altLang="zh-CN" dirty="0">
                <a:solidFill>
                  <a:prstClr val="black"/>
                </a:solidFill>
                <a:latin typeface="华光姚体_CNKI" panose="02000500000000000000" pitchFamily="2" charset="-122"/>
                <a:ea typeface="华光姚体_CNKI" panose="02000500000000000000" pitchFamily="2" charset="-122"/>
              </a:rPr>
              <a:t>》</a:t>
            </a:r>
            <a:r>
              <a:rPr lang="zh-CN" altLang="en-US" dirty="0">
                <a:solidFill>
                  <a:prstClr val="black"/>
                </a:solidFill>
                <a:latin typeface="华光姚体_CNKI" panose="02000500000000000000" pitchFamily="2" charset="-122"/>
                <a:ea typeface="华光姚体_CNKI" panose="02000500000000000000" pitchFamily="2" charset="-122"/>
              </a:rPr>
              <a:t>，高等教育出版社 </a:t>
            </a:r>
            <a:endParaRPr lang="en-US" altLang="zh-CN" dirty="0">
              <a:solidFill>
                <a:prstClr val="black"/>
              </a:solidFill>
              <a:latin typeface="华光姚体_CNKI" panose="02000500000000000000" pitchFamily="2" charset="-122"/>
              <a:ea typeface="华光姚体_CNKI" panose="02000500000000000000" pitchFamily="2" charset="-122"/>
            </a:endParaRPr>
          </a:p>
          <a:p>
            <a:pPr>
              <a:lnSpc>
                <a:spcPts val="1200"/>
              </a:lnSpc>
            </a:pPr>
            <a:endParaRPr lang="en-US" altLang="zh-CN" dirty="0">
              <a:solidFill>
                <a:prstClr val="black"/>
              </a:solidFill>
              <a:latin typeface="华光姚体_CNKI" panose="02000500000000000000" pitchFamily="2" charset="-122"/>
              <a:ea typeface="华光姚体_CNKI" panose="02000500000000000000" pitchFamily="2" charset="-122"/>
            </a:endParaRPr>
          </a:p>
          <a:p>
            <a:pPr>
              <a:lnSpc>
                <a:spcPts val="1200"/>
              </a:lnSpc>
            </a:pPr>
            <a:r>
              <a:rPr lang="en-US" altLang="zh-CN" dirty="0">
                <a:solidFill>
                  <a:prstClr val="black"/>
                </a:solidFill>
                <a:latin typeface="华光姚体_CNKI" panose="02000500000000000000" pitchFamily="2" charset="-122"/>
                <a:ea typeface="华光姚体_CNKI" panose="02000500000000000000" pitchFamily="2" charset="-122"/>
              </a:rPr>
              <a:t>MOOC</a:t>
            </a:r>
            <a:r>
              <a:rPr lang="zh-CN" altLang="en-US" dirty="0">
                <a:solidFill>
                  <a:prstClr val="black"/>
                </a:solidFill>
                <a:latin typeface="华光姚体_CNKI" panose="02000500000000000000" pitchFamily="2" charset="-122"/>
                <a:ea typeface="华光姚体_CNKI" panose="02000500000000000000" pitchFamily="2" charset="-122"/>
              </a:rPr>
              <a:t>：</a:t>
            </a:r>
            <a:r>
              <a:rPr lang="en-US" altLang="zh-CN" dirty="0">
                <a:solidFill>
                  <a:prstClr val="black"/>
                </a:solidFill>
                <a:latin typeface="华光姚体_CNKI" panose="02000500000000000000" pitchFamily="2" charset="-122"/>
                <a:ea typeface="华光姚体_CNKI" panose="02000500000000000000" pitchFamily="2" charset="-122"/>
                <a:hlinkClick r:id="rId3"/>
              </a:rPr>
              <a:t>https://www.icourse163.org/course/ZJU-1003377027</a:t>
            </a:r>
            <a:endParaRPr lang="zh-CN" altLang="en-US" dirty="0">
              <a:solidFill>
                <a:prstClr val="black"/>
              </a:solidFill>
              <a:latin typeface="华光姚体_CNKI" panose="02000500000000000000" pitchFamily="2" charset="-122"/>
              <a:ea typeface="华光姚体_CNKI" panose="02000500000000000000" pitchFamily="2" charset="-122"/>
            </a:endParaRPr>
          </a:p>
        </p:txBody>
      </p:sp>
      <p:sp>
        <p:nvSpPr>
          <p:cNvPr id="6" name="矩形 7"/>
          <p:cNvSpPr>
            <a:spLocks noChangeArrowheads="1"/>
          </p:cNvSpPr>
          <p:nvPr/>
        </p:nvSpPr>
        <p:spPr bwMode="auto">
          <a:xfrm>
            <a:off x="1757846" y="3450555"/>
            <a:ext cx="7200000" cy="565348"/>
          </a:xfrm>
          <a:prstGeom prst="rect">
            <a:avLst/>
          </a:prstGeom>
          <a:solidFill>
            <a:schemeClr val="bg1">
              <a:lumMod val="85000"/>
            </a:schemeClr>
          </a:solid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20000"/>
              </a:lnSpc>
            </a:pPr>
            <a:r>
              <a:rPr kumimoji="0" lang="zh-CN" altLang="en-US" sz="2800" b="1" dirty="0">
                <a:solidFill>
                  <a:srgbClr val="C00000"/>
                </a:solidFill>
                <a:latin typeface="Times New Roman"/>
                <a:ea typeface="微软雅黑" panose="020B0503020204020204" pitchFamily="34" charset="-122"/>
                <a:sym typeface="Calibri" panose="020F0502020204030204" pitchFamily="34" charset="0"/>
              </a:rPr>
              <a:t>三、蒙特卡洛树搜索</a:t>
            </a:r>
          </a:p>
        </p:txBody>
      </p:sp>
    </p:spTree>
    <p:extLst>
      <p:ext uri="{BB962C8B-B14F-4D97-AF65-F5344CB8AC3E}">
        <p14:creationId xmlns:p14="http://schemas.microsoft.com/office/powerpoint/2010/main" val="1808346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904512" y="138784"/>
            <a:ext cx="8376356"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人工智能中的搜索</a:t>
            </a:r>
          </a:p>
        </p:txBody>
      </p:sp>
      <p:sp>
        <p:nvSpPr>
          <p:cNvPr id="2" name="矩形 1"/>
          <p:cNvSpPr/>
          <p:nvPr/>
        </p:nvSpPr>
        <p:spPr>
          <a:xfrm>
            <a:off x="7000401" y="3429000"/>
            <a:ext cx="2781302" cy="2308324"/>
          </a:xfrm>
          <a:prstGeom prst="rect">
            <a:avLst/>
          </a:prstGeom>
          <a:ln>
            <a:solidFill>
              <a:schemeClr val="accent2">
                <a:lumMod val="75000"/>
              </a:schemeClr>
            </a:solidFill>
          </a:ln>
        </p:spPr>
        <p:txBody>
          <a:bodyPr wrap="square">
            <a:spAutoFit/>
          </a:bodyPr>
          <a:lstStyle/>
          <a:p>
            <a:pPr>
              <a:lnSpc>
                <a:spcPct val="150000"/>
              </a:lnSpc>
            </a:pPr>
            <a:r>
              <a:rPr lang="zh-CN" altLang="en-US" sz="2400" dirty="0">
                <a:solidFill>
                  <a:prstClr val="black"/>
                </a:solidFill>
                <a:latin typeface="黑体" panose="02010609060101010101" pitchFamily="49" charset="-122"/>
                <a:ea typeface="黑体" panose="02010609060101010101" pitchFamily="49" charset="-122"/>
              </a:rPr>
              <a:t>你见，或者不见我</a:t>
            </a:r>
          </a:p>
          <a:p>
            <a:pPr>
              <a:lnSpc>
                <a:spcPct val="150000"/>
              </a:lnSpc>
            </a:pPr>
            <a:r>
              <a:rPr lang="zh-CN" altLang="en-US" sz="2400" dirty="0">
                <a:solidFill>
                  <a:prstClr val="black"/>
                </a:solidFill>
                <a:latin typeface="黑体" panose="02010609060101010101" pitchFamily="49" charset="-122"/>
                <a:ea typeface="黑体" panose="02010609060101010101" pitchFamily="49" charset="-122"/>
              </a:rPr>
              <a:t>我就在那里</a:t>
            </a:r>
          </a:p>
          <a:p>
            <a:pPr>
              <a:lnSpc>
                <a:spcPct val="150000"/>
              </a:lnSpc>
            </a:pPr>
            <a:r>
              <a:rPr lang="zh-CN" altLang="en-US" sz="2400" dirty="0">
                <a:solidFill>
                  <a:prstClr val="black"/>
                </a:solidFill>
                <a:latin typeface="黑体" panose="02010609060101010101" pitchFamily="49" charset="-122"/>
                <a:ea typeface="黑体" panose="02010609060101010101" pitchFamily="49" charset="-122"/>
              </a:rPr>
              <a:t>不悲 不喜</a:t>
            </a:r>
            <a:endParaRPr lang="en-US" altLang="zh-CN" sz="2400" dirty="0">
              <a:solidFill>
                <a:prstClr val="black"/>
              </a:solidFill>
              <a:latin typeface="黑体" panose="02010609060101010101" pitchFamily="49" charset="-122"/>
              <a:ea typeface="黑体" panose="02010609060101010101" pitchFamily="49" charset="-122"/>
            </a:endParaRPr>
          </a:p>
          <a:p>
            <a:pPr>
              <a:lnSpc>
                <a:spcPct val="150000"/>
              </a:lnSpc>
            </a:pPr>
            <a:r>
              <a:rPr lang="en-US" altLang="zh-CN" sz="2400" dirty="0">
                <a:solidFill>
                  <a:prstClr val="black"/>
                </a:solidFill>
                <a:latin typeface="黑体" panose="02010609060101010101" pitchFamily="49" charset="-122"/>
                <a:ea typeface="黑体" panose="02010609060101010101" pitchFamily="49" charset="-122"/>
              </a:rPr>
              <a:t>  </a:t>
            </a:r>
            <a:r>
              <a:rPr lang="en-US" altLang="zh-CN" sz="2000" dirty="0">
                <a:solidFill>
                  <a:prstClr val="black"/>
                </a:solidFill>
                <a:latin typeface="黑体" panose="02010609060101010101" pitchFamily="49" charset="-122"/>
                <a:ea typeface="黑体" panose="02010609060101010101" pitchFamily="49" charset="-122"/>
              </a:rPr>
              <a:t>---</a:t>
            </a:r>
            <a:r>
              <a:rPr lang="zh-CN" altLang="en-US" sz="2000" dirty="0">
                <a:solidFill>
                  <a:prstClr val="black"/>
                </a:solidFill>
                <a:latin typeface="黑体" panose="02010609060101010101" pitchFamily="49" charset="-122"/>
                <a:ea typeface="黑体" panose="02010609060101010101" pitchFamily="49" charset="-122"/>
              </a:rPr>
              <a:t>扎西拉姆多多</a:t>
            </a:r>
          </a:p>
        </p:txBody>
      </p:sp>
      <p:sp>
        <p:nvSpPr>
          <p:cNvPr id="3" name="流程图: 磁盘 2"/>
          <p:cNvSpPr/>
          <p:nvPr/>
        </p:nvSpPr>
        <p:spPr>
          <a:xfrm>
            <a:off x="2265301" y="1604413"/>
            <a:ext cx="1140178" cy="1519648"/>
          </a:xfrm>
          <a:prstGeom prst="flowChartMagneticDisk">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400" dirty="0">
                <a:solidFill>
                  <a:prstClr val="black"/>
                </a:solidFill>
                <a:latin typeface="Times New Roman"/>
                <a:ea typeface="黑体" pitchFamily="49" charset="-122"/>
              </a:rPr>
              <a:t>海量</a:t>
            </a:r>
            <a:endParaRPr lang="en-US" altLang="zh-CN" sz="2400" dirty="0">
              <a:solidFill>
                <a:prstClr val="black"/>
              </a:solidFill>
              <a:latin typeface="Times New Roman"/>
              <a:ea typeface="黑体" pitchFamily="49" charset="-122"/>
            </a:endParaRPr>
          </a:p>
          <a:p>
            <a:pPr algn="ctr"/>
            <a:r>
              <a:rPr lang="zh-CN" altLang="en-US" sz="2400" dirty="0">
                <a:solidFill>
                  <a:prstClr val="black"/>
                </a:solidFill>
                <a:latin typeface="Times New Roman"/>
                <a:ea typeface="黑体" pitchFamily="49" charset="-122"/>
              </a:rPr>
              <a:t>信息源</a:t>
            </a:r>
          </a:p>
        </p:txBody>
      </p:sp>
      <p:sp>
        <p:nvSpPr>
          <p:cNvPr id="4" name="右箭头 3"/>
          <p:cNvSpPr/>
          <p:nvPr/>
        </p:nvSpPr>
        <p:spPr>
          <a:xfrm>
            <a:off x="3594705" y="2154045"/>
            <a:ext cx="2348089" cy="420384"/>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400" dirty="0">
              <a:solidFill>
                <a:prstClr val="black"/>
              </a:solidFill>
              <a:latin typeface="Times New Roman"/>
              <a:ea typeface="黑体" pitchFamily="49" charset="-122"/>
            </a:endParaRPr>
          </a:p>
        </p:txBody>
      </p:sp>
      <p:sp>
        <p:nvSpPr>
          <p:cNvPr id="5" name="矩形 4"/>
          <p:cNvSpPr/>
          <p:nvPr/>
        </p:nvSpPr>
        <p:spPr>
          <a:xfrm>
            <a:off x="3843810" y="1728205"/>
            <a:ext cx="1723549" cy="461665"/>
          </a:xfrm>
          <a:prstGeom prst="rect">
            <a:avLst/>
          </a:prstGeom>
        </p:spPr>
        <p:txBody>
          <a:bodyPr wrap="none">
            <a:spAutoFit/>
          </a:bodyPr>
          <a:lstStyle/>
          <a:p>
            <a:r>
              <a:rPr lang="zh-CN" altLang="en-US" sz="2400" dirty="0">
                <a:solidFill>
                  <a:prstClr val="black"/>
                </a:solidFill>
                <a:latin typeface="黑体" panose="02010609060101010101" pitchFamily="49" charset="-122"/>
                <a:ea typeface="黑体" panose="02010609060101010101" pitchFamily="49" charset="-122"/>
              </a:rPr>
              <a:t>问题求解器</a:t>
            </a:r>
          </a:p>
        </p:txBody>
      </p:sp>
      <p:sp>
        <p:nvSpPr>
          <p:cNvPr id="23" name="圆角矩形 22"/>
          <p:cNvSpPr/>
          <p:nvPr/>
        </p:nvSpPr>
        <p:spPr bwMode="auto">
          <a:xfrm>
            <a:off x="3625260" y="2881888"/>
            <a:ext cx="1065066" cy="374999"/>
          </a:xfrm>
          <a:prstGeom prst="roundRect">
            <a:avLst/>
          </a:prstGeom>
          <a:ln>
            <a:headEnd type="none" w="med" len="med"/>
            <a:tailEnd type="none" w="med" len="med"/>
          </a:ln>
          <a:scene3d>
            <a:camera prst="orthographicFront"/>
            <a:lightRig rig="threePt" dir="t"/>
          </a:scene3d>
          <a:sp3d>
            <a:bevelT w="190500" h="63500"/>
          </a:sp3d>
        </p:spPr>
        <p:style>
          <a:lnRef idx="1">
            <a:schemeClr val="accent1"/>
          </a:lnRef>
          <a:fillRef idx="2">
            <a:schemeClr val="accent1"/>
          </a:fillRef>
          <a:effectRef idx="1">
            <a:schemeClr val="accent1"/>
          </a:effectRef>
          <a:fontRef idx="minor">
            <a:schemeClr val="dk1"/>
          </a:fontRef>
        </p:style>
        <p:txBody>
          <a:bodyPr wrap="none" tIns="0" bIns="0" anchor="ctr"/>
          <a:lstStyle/>
          <a:p>
            <a:pPr algn="ctr">
              <a:defRPr/>
            </a:pPr>
            <a:r>
              <a:rPr lang="zh-CN" altLang="en-US" dirty="0">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latin typeface="微软雅黑" pitchFamily="34" charset="-122"/>
                <a:ea typeface="微软雅黑" pitchFamily="34" charset="-122"/>
              </a:rPr>
              <a:t>约束条件</a:t>
            </a:r>
          </a:p>
        </p:txBody>
      </p:sp>
      <p:sp>
        <p:nvSpPr>
          <p:cNvPr id="24" name="圆角矩形 23"/>
          <p:cNvSpPr/>
          <p:nvPr/>
        </p:nvSpPr>
        <p:spPr bwMode="auto">
          <a:xfrm>
            <a:off x="4791325" y="2876299"/>
            <a:ext cx="1065066" cy="374999"/>
          </a:xfrm>
          <a:prstGeom prst="roundRect">
            <a:avLst/>
          </a:prstGeom>
          <a:ln>
            <a:headEnd type="none" w="med" len="med"/>
            <a:tailEnd type="none" w="med" len="med"/>
          </a:ln>
          <a:scene3d>
            <a:camera prst="orthographicFront"/>
            <a:lightRig rig="threePt" dir="t"/>
          </a:scene3d>
          <a:sp3d>
            <a:bevelT w="190500" h="63500"/>
          </a:sp3d>
        </p:spPr>
        <p:style>
          <a:lnRef idx="1">
            <a:schemeClr val="accent1"/>
          </a:lnRef>
          <a:fillRef idx="2">
            <a:schemeClr val="accent1"/>
          </a:fillRef>
          <a:effectRef idx="1">
            <a:schemeClr val="accent1"/>
          </a:effectRef>
          <a:fontRef idx="minor">
            <a:schemeClr val="dk1"/>
          </a:fontRef>
        </p:style>
        <p:txBody>
          <a:bodyPr wrap="none" tIns="0" bIns="0" anchor="ctr"/>
          <a:lstStyle/>
          <a:p>
            <a:pPr algn="ctr">
              <a:defRPr/>
            </a:pPr>
            <a:r>
              <a:rPr lang="zh-CN" altLang="en-US" dirty="0">
                <a:gradFill flip="none" rotWithShape="1">
                  <a:gsLst>
                    <a:gs pos="0">
                      <a:prstClr val="black">
                        <a:shade val="30000"/>
                        <a:satMod val="115000"/>
                      </a:prstClr>
                    </a:gs>
                    <a:gs pos="50000">
                      <a:prstClr val="black">
                        <a:shade val="67500"/>
                        <a:satMod val="115000"/>
                      </a:prstClr>
                    </a:gs>
                    <a:gs pos="100000">
                      <a:prstClr val="black">
                        <a:shade val="100000"/>
                        <a:satMod val="115000"/>
                      </a:prstClr>
                    </a:gs>
                  </a:gsLst>
                  <a:lin ang="16200000" scaled="1"/>
                  <a:tileRect/>
                </a:gradFill>
                <a:latin typeface="微软雅黑" pitchFamily="34" charset="-122"/>
                <a:ea typeface="微软雅黑" pitchFamily="34" charset="-122"/>
              </a:rPr>
              <a:t>额外信息</a:t>
            </a:r>
          </a:p>
        </p:txBody>
      </p:sp>
      <p:sp>
        <p:nvSpPr>
          <p:cNvPr id="6" name="上箭头 5"/>
          <p:cNvSpPr/>
          <p:nvPr/>
        </p:nvSpPr>
        <p:spPr>
          <a:xfrm>
            <a:off x="4099336" y="2539260"/>
            <a:ext cx="195281" cy="301868"/>
          </a:xfrm>
          <a:prstGeom prst="up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400" dirty="0">
              <a:solidFill>
                <a:prstClr val="black"/>
              </a:solidFill>
              <a:latin typeface="Times New Roman"/>
              <a:ea typeface="黑体" pitchFamily="49" charset="-122"/>
            </a:endParaRPr>
          </a:p>
        </p:txBody>
      </p:sp>
      <p:sp>
        <p:nvSpPr>
          <p:cNvPr id="25" name="上箭头 24"/>
          <p:cNvSpPr/>
          <p:nvPr/>
        </p:nvSpPr>
        <p:spPr>
          <a:xfrm>
            <a:off x="5226220" y="2533872"/>
            <a:ext cx="195281" cy="301868"/>
          </a:xfrm>
          <a:prstGeom prst="up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2400" dirty="0">
              <a:solidFill>
                <a:prstClr val="black"/>
              </a:solidFill>
              <a:latin typeface="Times New Roman"/>
              <a:ea typeface="黑体" pitchFamily="49" charset="-122"/>
            </a:endParaRPr>
          </a:p>
        </p:txBody>
      </p:sp>
      <p:sp>
        <p:nvSpPr>
          <p:cNvPr id="26" name="圆角矩形 95"/>
          <p:cNvSpPr>
            <a:spLocks/>
          </p:cNvSpPr>
          <p:nvPr/>
        </p:nvSpPr>
        <p:spPr bwMode="auto">
          <a:xfrm>
            <a:off x="6005690" y="1867057"/>
            <a:ext cx="2678765" cy="892175"/>
          </a:xfrm>
          <a:prstGeom prst="roundRect">
            <a:avLst>
              <a:gd name="adj" fmla="val 16667"/>
            </a:avLst>
          </a:prstGeom>
          <a:solidFill>
            <a:srgbClr val="FF0000"/>
          </a:solidFill>
          <a:ln w="9525">
            <a:solidFill>
              <a:schemeClr val="accent2"/>
            </a:solidFill>
            <a:round/>
            <a:headEnd/>
            <a:tailEnd/>
          </a:ln>
          <a:effectLst/>
        </p:spPr>
        <p:txBody>
          <a:bodyPr wrap="none" tIns="0" bIns="0" anchor="ctr"/>
          <a:lstStyle>
            <a:lvl1pPr>
              <a:defRPr sz="2800">
                <a:solidFill>
                  <a:schemeClr val="tx1"/>
                </a:solidFill>
                <a:latin typeface="Verdana" pitchFamily="34" charset="0"/>
                <a:ea typeface="宋体" pitchFamily="2" charset="-122"/>
              </a:defRPr>
            </a:lvl1pPr>
            <a:lvl2pPr marL="742950" indent="-285750">
              <a:defRPr sz="2800">
                <a:solidFill>
                  <a:schemeClr val="tx1"/>
                </a:solidFill>
                <a:latin typeface="Verdana" pitchFamily="34" charset="0"/>
                <a:ea typeface="宋体" pitchFamily="2" charset="-122"/>
              </a:defRPr>
            </a:lvl2pPr>
            <a:lvl3pPr marL="1143000" indent="-228600">
              <a:defRPr sz="2800">
                <a:solidFill>
                  <a:schemeClr val="tx1"/>
                </a:solidFill>
                <a:latin typeface="Verdana" pitchFamily="34" charset="0"/>
                <a:ea typeface="宋体" pitchFamily="2" charset="-122"/>
              </a:defRPr>
            </a:lvl3pPr>
            <a:lvl4pPr marL="1600200" indent="-228600">
              <a:defRPr sz="2800">
                <a:solidFill>
                  <a:schemeClr val="tx1"/>
                </a:solidFill>
                <a:latin typeface="Verdana" pitchFamily="34" charset="0"/>
                <a:ea typeface="宋体" pitchFamily="2" charset="-122"/>
              </a:defRPr>
            </a:lvl4pPr>
            <a:lvl5pPr marL="2057400" indent="-228600">
              <a:defRPr sz="2800">
                <a:solidFill>
                  <a:schemeClr val="tx1"/>
                </a:solidFill>
                <a:latin typeface="Verdana" pitchFamily="34" charset="0"/>
                <a:ea typeface="宋体" pitchFamily="2" charset="-122"/>
              </a:defRPr>
            </a:lvl5pPr>
            <a:lvl6pPr marL="25146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6pPr>
            <a:lvl7pPr marL="29718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7pPr>
            <a:lvl8pPr marL="34290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8pPr>
            <a:lvl9pPr marL="3886200" indent="-228600" eaLnBrk="0" fontAlgn="base" hangingPunct="0">
              <a:spcBef>
                <a:spcPct val="0"/>
              </a:spcBef>
              <a:spcAft>
                <a:spcPct val="0"/>
              </a:spcAft>
              <a:buFont typeface="Arial" pitchFamily="34" charset="0"/>
              <a:defRPr sz="2800">
                <a:solidFill>
                  <a:schemeClr val="tx1"/>
                </a:solidFill>
                <a:latin typeface="Verdana" pitchFamily="34" charset="0"/>
                <a:ea typeface="宋体" pitchFamily="2" charset="-122"/>
              </a:defRPr>
            </a:lvl9pPr>
          </a:lstStyle>
          <a:p>
            <a:pPr algn="ctr">
              <a:defRPr/>
            </a:pPr>
            <a:r>
              <a:rPr lang="zh-CN" altLang="en-US" b="1" dirty="0">
                <a:solidFill>
                  <a:prstClr val="white"/>
                </a:solidFill>
                <a:latin typeface="Times New Roman" pitchFamily="18" charset="0"/>
                <a:ea typeface="微软雅黑" pitchFamily="34" charset="-122"/>
                <a:sym typeface="Times New Roman" pitchFamily="18" charset="0"/>
              </a:rPr>
              <a:t>问题所对应答案</a:t>
            </a:r>
            <a:endParaRPr lang="en-US" altLang="zh-CN" b="1" dirty="0">
              <a:solidFill>
                <a:prstClr val="white"/>
              </a:solidFill>
              <a:latin typeface="Times New Roman" pitchFamily="18" charset="0"/>
              <a:ea typeface="微软雅黑" pitchFamily="34" charset="-122"/>
              <a:sym typeface="Times New Roman" pitchFamily="18" charset="0"/>
            </a:endParaRPr>
          </a:p>
        </p:txBody>
      </p:sp>
    </p:spTree>
    <p:extLst>
      <p:ext uri="{BB962C8B-B14F-4D97-AF65-F5344CB8AC3E}">
        <p14:creationId xmlns:p14="http://schemas.microsoft.com/office/powerpoint/2010/main" val="2160995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505C17C-D89D-4130-92FF-CD7AB708FC8A}"/>
              </a:ext>
            </a:extLst>
          </p:cNvPr>
          <p:cNvSpPr>
            <a:spLocks noGrp="1"/>
          </p:cNvSpPr>
          <p:nvPr>
            <p:ph type="sldNum" sz="quarter" idx="12"/>
          </p:nvPr>
        </p:nvSpPr>
        <p:spPr/>
        <p:txBody>
          <a:bodyPr/>
          <a:lstStyle/>
          <a:p>
            <a:fld id="{5AD84F5B-1672-4D3F-9FEC-5DF89A7B7912}" type="slidenum">
              <a:rPr lang="zh-CN" altLang="en-US">
                <a:latin typeface="Times New Roman"/>
                <a:ea typeface="黑体"/>
              </a:rPr>
              <a:pPr/>
              <a:t>4</a:t>
            </a:fld>
            <a:endParaRPr lang="zh-CN" altLang="en-US">
              <a:latin typeface="Times New Roman"/>
              <a:ea typeface="黑体"/>
            </a:endParaRPr>
          </a:p>
        </p:txBody>
      </p:sp>
      <p:grpSp>
        <p:nvGrpSpPr>
          <p:cNvPr id="2" name="组合 1">
            <a:extLst>
              <a:ext uri="{FF2B5EF4-FFF2-40B4-BE49-F238E27FC236}">
                <a16:creationId xmlns:a16="http://schemas.microsoft.com/office/drawing/2014/main" id="{D43FE137-324E-4092-9569-5F5237A4175E}"/>
              </a:ext>
            </a:extLst>
          </p:cNvPr>
          <p:cNvGrpSpPr/>
          <p:nvPr/>
        </p:nvGrpSpPr>
        <p:grpSpPr>
          <a:xfrm>
            <a:off x="2732342" y="1615477"/>
            <a:ext cx="6629226" cy="3581306"/>
            <a:chOff x="1208342" y="1981238"/>
            <a:chExt cx="6629226" cy="3581306"/>
          </a:xfrm>
        </p:grpSpPr>
        <p:grpSp>
          <p:nvGrpSpPr>
            <p:cNvPr id="5" name="组合 4">
              <a:extLst>
                <a:ext uri="{FF2B5EF4-FFF2-40B4-BE49-F238E27FC236}">
                  <a16:creationId xmlns:a16="http://schemas.microsoft.com/office/drawing/2014/main" id="{D7F1F0D0-996C-4A0E-93DA-B7EA459F074D}"/>
                </a:ext>
              </a:extLst>
            </p:cNvPr>
            <p:cNvGrpSpPr/>
            <p:nvPr/>
          </p:nvGrpSpPr>
          <p:grpSpPr>
            <a:xfrm>
              <a:off x="1208342" y="1981238"/>
              <a:ext cx="6629226" cy="3581306"/>
              <a:chOff x="1208342" y="2286030"/>
              <a:chExt cx="6629226" cy="3581306"/>
            </a:xfrm>
            <a:solidFill>
              <a:schemeClr val="accent4">
                <a:lumMod val="20000"/>
                <a:lumOff val="80000"/>
              </a:schemeClr>
            </a:solidFill>
            <a:scene3d>
              <a:camera prst="orthographicFront">
                <a:rot lat="0" lon="0" rev="0"/>
              </a:camera>
              <a:lightRig rig="balanced" dir="t">
                <a:rot lat="0" lon="0" rev="8700000"/>
              </a:lightRig>
            </a:scene3d>
          </p:grpSpPr>
          <p:sp>
            <p:nvSpPr>
              <p:cNvPr id="6" name="矩形 5">
                <a:extLst>
                  <a:ext uri="{FF2B5EF4-FFF2-40B4-BE49-F238E27FC236}">
                    <a16:creationId xmlns:a16="http://schemas.microsoft.com/office/drawing/2014/main" id="{03798381-0613-4DD4-A6D1-E32B6BA1C52C}"/>
                  </a:ext>
                </a:extLst>
              </p:cNvPr>
              <p:cNvSpPr/>
              <p:nvPr/>
            </p:nvSpPr>
            <p:spPr>
              <a:xfrm>
                <a:off x="1208342" y="2286030"/>
                <a:ext cx="6629226" cy="3581306"/>
              </a:xfrm>
              <a:prstGeom prst="rect">
                <a:avLst/>
              </a:prstGeom>
              <a:grpFill/>
              <a:ln>
                <a:noFill/>
              </a:ln>
              <a:effectLst>
                <a:outerShdw blurRad="44450" dist="27940" dir="5400000" algn="ctr">
                  <a:srgbClr val="000000">
                    <a:alpha val="32000"/>
                  </a:srgbClr>
                </a:outerShdw>
              </a:effectLst>
              <a:scene3d>
                <a:camera prst="orthographicFront">
                  <a:rot lat="0" lon="0" rev="0"/>
                </a:camera>
                <a:lightRig rig="threePt" dir="t">
                  <a:rot lat="0" lon="0" rev="1200000"/>
                </a:lightRig>
              </a:scene3d>
              <a:sp3d>
                <a:bevelT w="190500" h="38100"/>
              </a:sp3d>
            </p:spPr>
            <p:style>
              <a:lnRef idx="0">
                <a:schemeClr val="accent3"/>
              </a:lnRef>
              <a:fillRef idx="3">
                <a:schemeClr val="accent3"/>
              </a:fillRef>
              <a:effectRef idx="3">
                <a:schemeClr val="accent3"/>
              </a:effectRef>
              <a:fontRef idx="minor">
                <a:schemeClr val="lt1"/>
              </a:fontRef>
            </p:style>
            <p:txBody>
              <a:bodyPr anchor="ctr"/>
              <a:lstStyle/>
              <a:p>
                <a:pPr>
                  <a:lnSpc>
                    <a:spcPct val="150000"/>
                  </a:lnSpc>
                  <a:defRPr/>
                </a:pPr>
                <a:r>
                  <a:rPr lang="zh-CN" altLang="en-US" sz="3200" b="1" dirty="0">
                    <a:solidFill>
                      <a:srgbClr val="000000"/>
                    </a:solidFill>
                    <a:latin typeface="楷体" panose="02010609060101010101" pitchFamily="49" charset="-122"/>
                    <a:ea typeface="楷体" panose="02010609060101010101" pitchFamily="49" charset="-122"/>
                  </a:rPr>
                  <a:t>          问题的表示</a:t>
                </a:r>
                <a:endParaRPr lang="en-US" altLang="zh-CN" sz="3200" b="1" dirty="0">
                  <a:solidFill>
                    <a:srgbClr val="000000"/>
                  </a:solidFill>
                  <a:latin typeface="楷体" panose="02010609060101010101" pitchFamily="49" charset="-122"/>
                  <a:ea typeface="楷体" panose="02010609060101010101" pitchFamily="49" charset="-122"/>
                </a:endParaRPr>
              </a:p>
              <a:p>
                <a:pPr>
                  <a:lnSpc>
                    <a:spcPct val="150000"/>
                  </a:lnSpc>
                  <a:defRPr/>
                </a:pPr>
                <a:r>
                  <a:rPr lang="zh-CN" altLang="en-US" sz="3200" b="1" dirty="0">
                    <a:solidFill>
                      <a:srgbClr val="000000"/>
                    </a:solidFill>
                    <a:latin typeface="楷体" panose="02010609060101010101" pitchFamily="49" charset="-122"/>
                    <a:ea typeface="楷体" panose="02010609060101010101" pitchFamily="49" charset="-122"/>
                  </a:rPr>
                  <a:t>问题求解                搜索法</a:t>
                </a:r>
                <a:endParaRPr lang="en-US" altLang="zh-CN" sz="3200" b="1" dirty="0">
                  <a:solidFill>
                    <a:srgbClr val="000000"/>
                  </a:solidFill>
                  <a:latin typeface="楷体" panose="02010609060101010101" pitchFamily="49" charset="-122"/>
                  <a:ea typeface="楷体" panose="02010609060101010101" pitchFamily="49" charset="-122"/>
                </a:endParaRPr>
              </a:p>
              <a:p>
                <a:pPr>
                  <a:lnSpc>
                    <a:spcPct val="150000"/>
                  </a:lnSpc>
                  <a:defRPr/>
                </a:pPr>
                <a:r>
                  <a:rPr lang="en-US" altLang="zh-CN" sz="3200" b="1" dirty="0">
                    <a:solidFill>
                      <a:srgbClr val="000000"/>
                    </a:solidFill>
                    <a:latin typeface="楷体" panose="02010609060101010101" pitchFamily="49" charset="-122"/>
                    <a:ea typeface="楷体" panose="02010609060101010101" pitchFamily="49" charset="-122"/>
                  </a:rPr>
                  <a:t>          </a:t>
                </a:r>
                <a:r>
                  <a:rPr lang="zh-CN" altLang="en-US" sz="3200" b="1" dirty="0">
                    <a:solidFill>
                      <a:srgbClr val="000000"/>
                    </a:solidFill>
                    <a:latin typeface="楷体" panose="02010609060101010101" pitchFamily="49" charset="-122"/>
                    <a:ea typeface="楷体" panose="02010609060101010101" pitchFamily="49" charset="-122"/>
                  </a:rPr>
                  <a:t>选择求解方法  归约法</a:t>
                </a:r>
                <a:endParaRPr lang="en-US" altLang="zh-CN" sz="3200" b="1" dirty="0">
                  <a:solidFill>
                    <a:srgbClr val="000000"/>
                  </a:solidFill>
                  <a:latin typeface="楷体" panose="02010609060101010101" pitchFamily="49" charset="-122"/>
                  <a:ea typeface="楷体" panose="02010609060101010101" pitchFamily="49" charset="-122"/>
                </a:endParaRPr>
              </a:p>
              <a:p>
                <a:pPr>
                  <a:lnSpc>
                    <a:spcPct val="150000"/>
                  </a:lnSpc>
                  <a:defRPr/>
                </a:pPr>
                <a:r>
                  <a:rPr lang="en-US" altLang="zh-CN" sz="3200" b="1" dirty="0">
                    <a:solidFill>
                      <a:srgbClr val="000000"/>
                    </a:solidFill>
                    <a:latin typeface="楷体" panose="02010609060101010101" pitchFamily="49" charset="-122"/>
                    <a:ea typeface="楷体" panose="02010609060101010101" pitchFamily="49" charset="-122"/>
                  </a:rPr>
                  <a:t>                        </a:t>
                </a:r>
                <a:r>
                  <a:rPr lang="zh-CN" altLang="en-US" sz="3200" b="1" dirty="0">
                    <a:solidFill>
                      <a:srgbClr val="000000"/>
                    </a:solidFill>
                    <a:latin typeface="楷体" panose="02010609060101010101" pitchFamily="49" charset="-122"/>
                    <a:ea typeface="楷体" panose="02010609060101010101" pitchFamily="49" charset="-122"/>
                  </a:rPr>
                  <a:t>推理法</a:t>
                </a:r>
                <a:r>
                  <a:rPr lang="en-US" altLang="zh-CN" sz="3200" b="1" dirty="0">
                    <a:solidFill>
                      <a:srgbClr val="000000"/>
                    </a:solidFill>
                    <a:latin typeface="楷体" panose="02010609060101010101" pitchFamily="49" charset="-122"/>
                    <a:ea typeface="楷体" panose="02010609060101010101" pitchFamily="49" charset="-122"/>
                  </a:rPr>
                  <a:t> </a:t>
                </a:r>
              </a:p>
            </p:txBody>
          </p:sp>
          <p:sp>
            <p:nvSpPr>
              <p:cNvPr id="7" name="左大括号 6">
                <a:extLst>
                  <a:ext uri="{FF2B5EF4-FFF2-40B4-BE49-F238E27FC236}">
                    <a16:creationId xmlns:a16="http://schemas.microsoft.com/office/drawing/2014/main" id="{481C9692-0B69-4BF4-8805-ACFF24B5BAF6}"/>
                  </a:ext>
                </a:extLst>
              </p:cNvPr>
              <p:cNvSpPr/>
              <p:nvPr/>
            </p:nvSpPr>
            <p:spPr>
              <a:xfrm>
                <a:off x="2978000" y="3048010"/>
                <a:ext cx="380992" cy="1523960"/>
              </a:xfrm>
              <a:prstGeom prst="leftBrace">
                <a:avLst/>
              </a:prstGeom>
              <a:grpFill/>
              <a:ln w="19050">
                <a:noFill/>
              </a:ln>
              <a:effectLst>
                <a:outerShdw blurRad="44450" dist="27940" dir="5400000" algn="ctr">
                  <a:srgbClr val="000000">
                    <a:alpha val="32000"/>
                  </a:srgbClr>
                </a:outerShdw>
              </a:effectLst>
              <a:sp3d>
                <a:bevelT w="190500" h="38100"/>
              </a:sp3d>
            </p:spPr>
            <p:style>
              <a:lnRef idx="1">
                <a:schemeClr val="dk1"/>
              </a:lnRef>
              <a:fillRef idx="0">
                <a:schemeClr val="dk1"/>
              </a:fillRef>
              <a:effectRef idx="0">
                <a:schemeClr val="dk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ln w="22225">
                    <a:solidFill>
                      <a:srgbClr val="C0504D"/>
                    </a:solidFill>
                    <a:prstDash val="solid"/>
                  </a:ln>
                  <a:solidFill>
                    <a:srgbClr val="C0504D">
                      <a:lumMod val="40000"/>
                      <a:lumOff val="60000"/>
                    </a:srgbClr>
                  </a:solidFill>
                  <a:latin typeface="Times New Roman"/>
                  <a:ea typeface="黑体"/>
                </a:endParaRPr>
              </a:p>
            </p:txBody>
          </p:sp>
          <p:sp>
            <p:nvSpPr>
              <p:cNvPr id="8" name="左大括号 7">
                <a:extLst>
                  <a:ext uri="{FF2B5EF4-FFF2-40B4-BE49-F238E27FC236}">
                    <a16:creationId xmlns:a16="http://schemas.microsoft.com/office/drawing/2014/main" id="{FB8647AF-2017-4F93-8694-63D570DCAB9C}"/>
                  </a:ext>
                </a:extLst>
              </p:cNvPr>
              <p:cNvSpPr/>
              <p:nvPr/>
            </p:nvSpPr>
            <p:spPr>
              <a:xfrm>
                <a:off x="5867366" y="3962386"/>
                <a:ext cx="380992" cy="1219168"/>
              </a:xfrm>
              <a:prstGeom prst="leftBrace">
                <a:avLst/>
              </a:prstGeom>
              <a:grpFill/>
              <a:ln w="19050">
                <a:noFill/>
              </a:ln>
              <a:effectLst>
                <a:outerShdw blurRad="44450" dist="27940" dir="5400000" algn="ctr">
                  <a:srgbClr val="000000">
                    <a:alpha val="32000"/>
                  </a:srgbClr>
                </a:outerShdw>
              </a:effectLst>
              <a:sp3d>
                <a:bevelT w="190500" h="38100"/>
              </a:sp3d>
            </p:spPr>
            <p:style>
              <a:lnRef idx="1">
                <a:schemeClr val="dk1"/>
              </a:lnRef>
              <a:fillRef idx="0">
                <a:schemeClr val="dk1"/>
              </a:fillRef>
              <a:effectRef idx="0">
                <a:schemeClr val="dk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ln w="22225">
                    <a:solidFill>
                      <a:srgbClr val="C0504D"/>
                    </a:solidFill>
                    <a:prstDash val="solid"/>
                  </a:ln>
                  <a:solidFill>
                    <a:srgbClr val="C0504D">
                      <a:lumMod val="40000"/>
                      <a:lumOff val="60000"/>
                    </a:srgbClr>
                  </a:solidFill>
                  <a:latin typeface="Times New Roman"/>
                  <a:ea typeface="黑体"/>
                </a:endParaRPr>
              </a:p>
            </p:txBody>
          </p:sp>
        </p:grpSp>
        <p:sp>
          <p:nvSpPr>
            <p:cNvPr id="9" name="左大括号 8">
              <a:extLst>
                <a:ext uri="{FF2B5EF4-FFF2-40B4-BE49-F238E27FC236}">
                  <a16:creationId xmlns:a16="http://schemas.microsoft.com/office/drawing/2014/main" id="{52D1D995-AD8A-4CC1-8387-E5EDA2A925C2}"/>
                </a:ext>
              </a:extLst>
            </p:cNvPr>
            <p:cNvSpPr/>
            <p:nvPr/>
          </p:nvSpPr>
          <p:spPr>
            <a:xfrm>
              <a:off x="2978000" y="2743219"/>
              <a:ext cx="380992" cy="1463022"/>
            </a:xfrm>
            <a:prstGeom prst="leftBrace">
              <a:avLst/>
            </a:prstGeom>
            <a:ln>
              <a:solidFill>
                <a:schemeClr val="tx1"/>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b="1">
                <a:ln w="6600">
                  <a:solidFill>
                    <a:srgbClr val="C0504D"/>
                  </a:solidFill>
                  <a:prstDash val="solid"/>
                </a:ln>
                <a:solidFill>
                  <a:srgbClr val="FFFFFF"/>
                </a:solidFill>
                <a:effectLst>
                  <a:outerShdw dist="38100" dir="2700000" algn="tl" rotWithShape="0">
                    <a:srgbClr val="C0504D"/>
                  </a:outerShdw>
                </a:effectLst>
                <a:latin typeface="Times New Roman"/>
                <a:ea typeface="黑体"/>
              </a:endParaRPr>
            </a:p>
          </p:txBody>
        </p:sp>
        <p:sp>
          <p:nvSpPr>
            <p:cNvPr id="11" name="左大括号 10">
              <a:extLst>
                <a:ext uri="{FF2B5EF4-FFF2-40B4-BE49-F238E27FC236}">
                  <a16:creationId xmlns:a16="http://schemas.microsoft.com/office/drawing/2014/main" id="{AE8EBAE8-135A-47C9-B9B1-52FF70AD5545}"/>
                </a:ext>
              </a:extLst>
            </p:cNvPr>
            <p:cNvSpPr/>
            <p:nvPr/>
          </p:nvSpPr>
          <p:spPr>
            <a:xfrm>
              <a:off x="5867366" y="3509888"/>
              <a:ext cx="294283" cy="1382133"/>
            </a:xfrm>
            <a:prstGeom prst="leftBrace">
              <a:avLst/>
            </a:prstGeom>
            <a:ln>
              <a:solidFill>
                <a:schemeClr val="tx1"/>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b="1">
                <a:ln w="6600">
                  <a:solidFill>
                    <a:srgbClr val="C0504D"/>
                  </a:solidFill>
                  <a:prstDash val="solid"/>
                </a:ln>
                <a:solidFill>
                  <a:srgbClr val="FFFFFF"/>
                </a:solidFill>
                <a:effectLst>
                  <a:outerShdw dist="38100" dir="2700000" algn="tl" rotWithShape="0">
                    <a:srgbClr val="C0504D"/>
                  </a:outerShdw>
                </a:effectLst>
                <a:latin typeface="Times New Roman"/>
                <a:ea typeface="黑体"/>
              </a:endParaRPr>
            </a:p>
          </p:txBody>
        </p:sp>
      </p:grpSp>
      <p:sp>
        <p:nvSpPr>
          <p:cNvPr id="12" name="标题 1">
            <a:extLst>
              <a:ext uri="{FF2B5EF4-FFF2-40B4-BE49-F238E27FC236}">
                <a16:creationId xmlns:a16="http://schemas.microsoft.com/office/drawing/2014/main" id="{6C3D383A-893B-466F-A872-9FDBD96250FA}"/>
              </a:ext>
            </a:extLst>
          </p:cNvPr>
          <p:cNvSpPr>
            <a:spLocks noGrp="1"/>
          </p:cNvSpPr>
          <p:nvPr>
            <p:ph type="title"/>
          </p:nvPr>
        </p:nvSpPr>
        <p:spPr>
          <a:xfrm>
            <a:off x="1904512" y="138784"/>
            <a:ext cx="8376356"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人工智能中的搜索</a:t>
            </a:r>
          </a:p>
        </p:txBody>
      </p:sp>
    </p:spTree>
    <p:extLst>
      <p:ext uri="{BB962C8B-B14F-4D97-AF65-F5344CB8AC3E}">
        <p14:creationId xmlns:p14="http://schemas.microsoft.com/office/powerpoint/2010/main" val="2142639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505C17C-D89D-4130-92FF-CD7AB708FC8A}"/>
              </a:ext>
            </a:extLst>
          </p:cNvPr>
          <p:cNvSpPr>
            <a:spLocks noGrp="1"/>
          </p:cNvSpPr>
          <p:nvPr>
            <p:ph type="sldNum" sz="quarter" idx="12"/>
          </p:nvPr>
        </p:nvSpPr>
        <p:spPr/>
        <p:txBody>
          <a:bodyPr/>
          <a:lstStyle/>
          <a:p>
            <a:fld id="{5AD84F5B-1672-4D3F-9FEC-5DF89A7B7912}" type="slidenum">
              <a:rPr lang="zh-CN" altLang="en-US">
                <a:latin typeface="Times New Roman"/>
                <a:ea typeface="黑体"/>
              </a:rPr>
              <a:pPr/>
              <a:t>5</a:t>
            </a:fld>
            <a:endParaRPr lang="zh-CN" altLang="en-US">
              <a:latin typeface="Times New Roman"/>
              <a:ea typeface="黑体"/>
            </a:endParaRPr>
          </a:p>
        </p:txBody>
      </p:sp>
      <p:sp>
        <p:nvSpPr>
          <p:cNvPr id="12" name="标题 1">
            <a:extLst>
              <a:ext uri="{FF2B5EF4-FFF2-40B4-BE49-F238E27FC236}">
                <a16:creationId xmlns:a16="http://schemas.microsoft.com/office/drawing/2014/main" id="{6C3D383A-893B-466F-A872-9FDBD96250FA}"/>
              </a:ext>
            </a:extLst>
          </p:cNvPr>
          <p:cNvSpPr>
            <a:spLocks noGrp="1"/>
          </p:cNvSpPr>
          <p:nvPr>
            <p:ph type="title"/>
          </p:nvPr>
        </p:nvSpPr>
        <p:spPr>
          <a:xfrm>
            <a:off x="1904512" y="138784"/>
            <a:ext cx="8376356"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人工智能中的搜索</a:t>
            </a:r>
          </a:p>
        </p:txBody>
      </p:sp>
      <p:grpSp>
        <p:nvGrpSpPr>
          <p:cNvPr id="3" name="组合 2">
            <a:extLst>
              <a:ext uri="{FF2B5EF4-FFF2-40B4-BE49-F238E27FC236}">
                <a16:creationId xmlns:a16="http://schemas.microsoft.com/office/drawing/2014/main" id="{081D118F-6C4E-4944-B14B-2E59763B145C}"/>
              </a:ext>
            </a:extLst>
          </p:cNvPr>
          <p:cNvGrpSpPr/>
          <p:nvPr/>
        </p:nvGrpSpPr>
        <p:grpSpPr>
          <a:xfrm>
            <a:off x="2093743" y="1385128"/>
            <a:ext cx="7920109" cy="3728478"/>
            <a:chOff x="464233" y="1385128"/>
            <a:chExt cx="7369626" cy="3581306"/>
          </a:xfrm>
        </p:grpSpPr>
        <p:grpSp>
          <p:nvGrpSpPr>
            <p:cNvPr id="5" name="组合 4">
              <a:extLst>
                <a:ext uri="{FF2B5EF4-FFF2-40B4-BE49-F238E27FC236}">
                  <a16:creationId xmlns:a16="http://schemas.microsoft.com/office/drawing/2014/main" id="{D7F1F0D0-996C-4A0E-93DA-B7EA459F074D}"/>
                </a:ext>
              </a:extLst>
            </p:cNvPr>
            <p:cNvGrpSpPr/>
            <p:nvPr/>
          </p:nvGrpSpPr>
          <p:grpSpPr>
            <a:xfrm>
              <a:off x="464233" y="1385128"/>
              <a:ext cx="7369626" cy="3581306"/>
              <a:chOff x="1208342" y="2286030"/>
              <a:chExt cx="6629226" cy="3581306"/>
            </a:xfrm>
            <a:solidFill>
              <a:schemeClr val="accent4">
                <a:lumMod val="20000"/>
                <a:lumOff val="80000"/>
              </a:schemeClr>
            </a:solidFill>
            <a:scene3d>
              <a:camera prst="orthographicFront">
                <a:rot lat="0" lon="0" rev="0"/>
              </a:camera>
              <a:lightRig rig="balanced" dir="t">
                <a:rot lat="0" lon="0" rev="8700000"/>
              </a:lightRig>
            </a:scene3d>
          </p:grpSpPr>
          <p:sp>
            <p:nvSpPr>
              <p:cNvPr id="6" name="矩形 5">
                <a:extLst>
                  <a:ext uri="{FF2B5EF4-FFF2-40B4-BE49-F238E27FC236}">
                    <a16:creationId xmlns:a16="http://schemas.microsoft.com/office/drawing/2014/main" id="{03798381-0613-4DD4-A6D1-E32B6BA1C52C}"/>
                  </a:ext>
                </a:extLst>
              </p:cNvPr>
              <p:cNvSpPr/>
              <p:nvPr/>
            </p:nvSpPr>
            <p:spPr>
              <a:xfrm>
                <a:off x="1208342" y="2286030"/>
                <a:ext cx="6629226" cy="3581306"/>
              </a:xfrm>
              <a:prstGeom prst="rect">
                <a:avLst/>
              </a:prstGeom>
              <a:grpFill/>
              <a:ln>
                <a:noFill/>
              </a:ln>
              <a:effectLst>
                <a:outerShdw blurRad="44450" dist="27940" dir="5400000" algn="ctr">
                  <a:srgbClr val="000000">
                    <a:alpha val="32000"/>
                  </a:srgbClr>
                </a:outerShdw>
              </a:effectLst>
              <a:scene3d>
                <a:camera prst="orthographicFront">
                  <a:rot lat="0" lon="0" rev="0"/>
                </a:camera>
                <a:lightRig rig="threePt" dir="t">
                  <a:rot lat="0" lon="0" rev="1200000"/>
                </a:lightRig>
              </a:scene3d>
              <a:sp3d>
                <a:bevelT w="190500" h="38100"/>
              </a:sp3d>
            </p:spPr>
            <p:style>
              <a:lnRef idx="0">
                <a:schemeClr val="accent3"/>
              </a:lnRef>
              <a:fillRef idx="3">
                <a:schemeClr val="accent3"/>
              </a:fillRef>
              <a:effectRef idx="3">
                <a:schemeClr val="accent3"/>
              </a:effectRef>
              <a:fontRef idx="minor">
                <a:schemeClr val="lt1"/>
              </a:fontRef>
            </p:style>
            <p:txBody>
              <a:bodyPr anchor="ctr"/>
              <a:lstStyle/>
              <a:p>
                <a:pPr>
                  <a:defRPr/>
                </a:pPr>
                <a:r>
                  <a:rPr lang="zh-CN" altLang="en-US" sz="3200" b="1" dirty="0">
                    <a:solidFill>
                      <a:srgbClr val="000000"/>
                    </a:solidFill>
                    <a:latin typeface="楷体" panose="02010609060101010101" pitchFamily="49" charset="-122"/>
                    <a:ea typeface="楷体" panose="02010609060101010101" pitchFamily="49" charset="-122"/>
                  </a:rPr>
                  <a:t>          </a:t>
                </a:r>
                <a:endParaRPr lang="en-US" altLang="zh-CN" sz="3200" b="1" dirty="0">
                  <a:solidFill>
                    <a:srgbClr val="000000"/>
                  </a:solidFill>
                  <a:latin typeface="楷体" panose="02010609060101010101" pitchFamily="49" charset="-122"/>
                  <a:ea typeface="楷体" panose="02010609060101010101" pitchFamily="49" charset="-122"/>
                </a:endParaRPr>
              </a:p>
            </p:txBody>
          </p:sp>
          <p:sp>
            <p:nvSpPr>
              <p:cNvPr id="7" name="左大括号 6">
                <a:extLst>
                  <a:ext uri="{FF2B5EF4-FFF2-40B4-BE49-F238E27FC236}">
                    <a16:creationId xmlns:a16="http://schemas.microsoft.com/office/drawing/2014/main" id="{481C9692-0B69-4BF4-8805-ACFF24B5BAF6}"/>
                  </a:ext>
                </a:extLst>
              </p:cNvPr>
              <p:cNvSpPr/>
              <p:nvPr/>
            </p:nvSpPr>
            <p:spPr>
              <a:xfrm>
                <a:off x="2978000" y="3048010"/>
                <a:ext cx="380992" cy="1523960"/>
              </a:xfrm>
              <a:prstGeom prst="leftBrace">
                <a:avLst/>
              </a:prstGeom>
              <a:grpFill/>
              <a:ln w="19050">
                <a:noFill/>
              </a:ln>
              <a:effectLst>
                <a:outerShdw blurRad="44450" dist="27940" dir="5400000" algn="ctr">
                  <a:srgbClr val="000000">
                    <a:alpha val="32000"/>
                  </a:srgbClr>
                </a:outerShdw>
              </a:effectLst>
              <a:sp3d>
                <a:bevelT w="190500" h="38100"/>
              </a:sp3d>
            </p:spPr>
            <p:style>
              <a:lnRef idx="1">
                <a:schemeClr val="dk1"/>
              </a:lnRef>
              <a:fillRef idx="0">
                <a:schemeClr val="dk1"/>
              </a:fillRef>
              <a:effectRef idx="0">
                <a:schemeClr val="dk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ln w="22225">
                    <a:solidFill>
                      <a:srgbClr val="C0504D"/>
                    </a:solidFill>
                    <a:prstDash val="solid"/>
                  </a:ln>
                  <a:solidFill>
                    <a:srgbClr val="C0504D">
                      <a:lumMod val="40000"/>
                      <a:lumOff val="60000"/>
                    </a:srgbClr>
                  </a:solidFill>
                  <a:latin typeface="Times New Roman"/>
                  <a:ea typeface="黑体"/>
                </a:endParaRPr>
              </a:p>
            </p:txBody>
          </p:sp>
          <p:sp>
            <p:nvSpPr>
              <p:cNvPr id="8" name="左大括号 7">
                <a:extLst>
                  <a:ext uri="{FF2B5EF4-FFF2-40B4-BE49-F238E27FC236}">
                    <a16:creationId xmlns:a16="http://schemas.microsoft.com/office/drawing/2014/main" id="{FB8647AF-2017-4F93-8694-63D570DCAB9C}"/>
                  </a:ext>
                </a:extLst>
              </p:cNvPr>
              <p:cNvSpPr/>
              <p:nvPr/>
            </p:nvSpPr>
            <p:spPr>
              <a:xfrm>
                <a:off x="5867366" y="3962386"/>
                <a:ext cx="380992" cy="1219168"/>
              </a:xfrm>
              <a:prstGeom prst="leftBrace">
                <a:avLst/>
              </a:prstGeom>
              <a:grpFill/>
              <a:ln w="19050">
                <a:noFill/>
              </a:ln>
              <a:effectLst>
                <a:outerShdw blurRad="44450" dist="27940" dir="5400000" algn="ctr">
                  <a:srgbClr val="000000">
                    <a:alpha val="32000"/>
                  </a:srgbClr>
                </a:outerShdw>
              </a:effectLst>
              <a:sp3d>
                <a:bevelT w="190500" h="38100"/>
              </a:sp3d>
            </p:spPr>
            <p:style>
              <a:lnRef idx="1">
                <a:schemeClr val="dk1"/>
              </a:lnRef>
              <a:fillRef idx="0">
                <a:schemeClr val="dk1"/>
              </a:fillRef>
              <a:effectRef idx="0">
                <a:schemeClr val="dk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ln w="22225">
                    <a:solidFill>
                      <a:srgbClr val="C0504D"/>
                    </a:solidFill>
                    <a:prstDash val="solid"/>
                  </a:ln>
                  <a:solidFill>
                    <a:srgbClr val="C0504D">
                      <a:lumMod val="40000"/>
                      <a:lumOff val="60000"/>
                    </a:srgbClr>
                  </a:solidFill>
                  <a:latin typeface="Times New Roman"/>
                  <a:ea typeface="黑体"/>
                </a:endParaRPr>
              </a:p>
            </p:txBody>
          </p:sp>
        </p:grpSp>
        <p:sp>
          <p:nvSpPr>
            <p:cNvPr id="13" name="文本框 12">
              <a:extLst>
                <a:ext uri="{FF2B5EF4-FFF2-40B4-BE49-F238E27FC236}">
                  <a16:creationId xmlns:a16="http://schemas.microsoft.com/office/drawing/2014/main" id="{7921E8C8-A9F9-4068-9C15-CC89BFA30721}"/>
                </a:ext>
              </a:extLst>
            </p:cNvPr>
            <p:cNvSpPr txBox="1"/>
            <p:nvPr/>
          </p:nvSpPr>
          <p:spPr>
            <a:xfrm>
              <a:off x="679628" y="1566250"/>
              <a:ext cx="7029674" cy="3184467"/>
            </a:xfrm>
            <a:prstGeom prst="rect">
              <a:avLst/>
            </a:prstGeom>
            <a:noFill/>
          </p:spPr>
          <p:txBody>
            <a:bodyPr wrap="square">
              <a:spAutoFit/>
            </a:bodyPr>
            <a:lstStyle/>
            <a:p>
              <a:pPr>
                <a:lnSpc>
                  <a:spcPct val="150000"/>
                </a:lnSpc>
              </a:pPr>
              <a:r>
                <a:rPr lang="zh-CN" altLang="en-US" sz="3200" dirty="0">
                  <a:solidFill>
                    <a:srgbClr val="FF0000"/>
                  </a:solidFill>
                  <a:latin typeface="方正姚体" panose="02010601030101010101" pitchFamily="2" charset="-122"/>
                  <a:ea typeface="方正姚体" panose="02010601030101010101" pitchFamily="2" charset="-122"/>
                </a:rPr>
                <a:t>搜索中需要解决的基本问题：</a:t>
              </a:r>
            </a:p>
            <a:p>
              <a:pPr>
                <a:lnSpc>
                  <a:spcPct val="150000"/>
                </a:lnSpc>
              </a:pPr>
              <a:r>
                <a:rPr lang="zh-CN" altLang="en-US" sz="2800" dirty="0">
                  <a:solidFill>
                    <a:prstClr val="black"/>
                  </a:solidFill>
                  <a:latin typeface="黑体"/>
                  <a:ea typeface="黑体"/>
                </a:rPr>
                <a:t>（</a:t>
              </a:r>
              <a:r>
                <a:rPr lang="en-US" altLang="zh-CN" sz="2800" dirty="0">
                  <a:solidFill>
                    <a:prstClr val="black"/>
                  </a:solidFill>
                  <a:latin typeface="黑体"/>
                  <a:ea typeface="黑体"/>
                </a:rPr>
                <a:t>1</a:t>
              </a:r>
              <a:r>
                <a:rPr lang="zh-CN" altLang="en-US" sz="2800" dirty="0">
                  <a:solidFill>
                    <a:prstClr val="black"/>
                  </a:solidFill>
                  <a:latin typeface="黑体"/>
                  <a:ea typeface="黑体"/>
                </a:rPr>
                <a:t>）是否一定能找到一个解。</a:t>
              </a:r>
            </a:p>
            <a:p>
              <a:pPr>
                <a:lnSpc>
                  <a:spcPct val="150000"/>
                </a:lnSpc>
              </a:pPr>
              <a:r>
                <a:rPr lang="zh-CN" altLang="en-US" sz="2800" dirty="0">
                  <a:solidFill>
                    <a:prstClr val="black"/>
                  </a:solidFill>
                  <a:latin typeface="黑体"/>
                  <a:ea typeface="黑体"/>
                </a:rPr>
                <a:t>（</a:t>
              </a:r>
              <a:r>
                <a:rPr lang="en-US" altLang="zh-CN" sz="2800" dirty="0">
                  <a:solidFill>
                    <a:prstClr val="black"/>
                  </a:solidFill>
                  <a:latin typeface="黑体"/>
                  <a:ea typeface="黑体"/>
                </a:rPr>
                <a:t>2</a:t>
              </a:r>
              <a:r>
                <a:rPr lang="zh-CN" altLang="en-US" sz="2800" dirty="0">
                  <a:solidFill>
                    <a:prstClr val="black"/>
                  </a:solidFill>
                  <a:latin typeface="黑体"/>
                  <a:ea typeface="黑体"/>
                </a:rPr>
                <a:t>）找到的解是否是最佳解。</a:t>
              </a:r>
            </a:p>
            <a:p>
              <a:pPr>
                <a:lnSpc>
                  <a:spcPct val="150000"/>
                </a:lnSpc>
              </a:pPr>
              <a:r>
                <a:rPr lang="zh-CN" altLang="en-US" sz="2800" dirty="0">
                  <a:solidFill>
                    <a:prstClr val="black"/>
                  </a:solidFill>
                  <a:latin typeface="黑体"/>
                  <a:ea typeface="黑体"/>
                </a:rPr>
                <a:t>（</a:t>
              </a:r>
              <a:r>
                <a:rPr lang="en-US" altLang="zh-CN" sz="2800" dirty="0">
                  <a:solidFill>
                    <a:prstClr val="black"/>
                  </a:solidFill>
                  <a:latin typeface="黑体"/>
                  <a:ea typeface="黑体"/>
                </a:rPr>
                <a:t>3</a:t>
              </a:r>
              <a:r>
                <a:rPr lang="zh-CN" altLang="en-US" sz="2800" dirty="0">
                  <a:solidFill>
                    <a:prstClr val="black"/>
                  </a:solidFill>
                  <a:latin typeface="黑体"/>
                  <a:ea typeface="黑体"/>
                </a:rPr>
                <a:t>）时间与空间复杂性如何。</a:t>
              </a:r>
            </a:p>
            <a:p>
              <a:pPr>
                <a:lnSpc>
                  <a:spcPct val="150000"/>
                </a:lnSpc>
              </a:pPr>
              <a:r>
                <a:rPr lang="zh-CN" altLang="en-US" sz="2800" dirty="0">
                  <a:solidFill>
                    <a:prstClr val="black"/>
                  </a:solidFill>
                  <a:latin typeface="黑体"/>
                  <a:ea typeface="黑体"/>
                </a:rPr>
                <a:t>（</a:t>
              </a:r>
              <a:r>
                <a:rPr lang="en-US" altLang="zh-CN" sz="2800" dirty="0">
                  <a:solidFill>
                    <a:prstClr val="black"/>
                  </a:solidFill>
                  <a:latin typeface="黑体"/>
                  <a:ea typeface="黑体"/>
                </a:rPr>
                <a:t>4</a:t>
              </a:r>
              <a:r>
                <a:rPr lang="zh-CN" altLang="en-US" sz="2800" dirty="0">
                  <a:solidFill>
                    <a:prstClr val="black"/>
                  </a:solidFill>
                  <a:latin typeface="黑体"/>
                  <a:ea typeface="黑体"/>
                </a:rPr>
                <a:t>）是否终止运行或是否会陷入死循环。</a:t>
              </a:r>
            </a:p>
          </p:txBody>
        </p:sp>
      </p:grpSp>
    </p:spTree>
    <p:extLst>
      <p:ext uri="{BB962C8B-B14F-4D97-AF65-F5344CB8AC3E}">
        <p14:creationId xmlns:p14="http://schemas.microsoft.com/office/powerpoint/2010/main" val="1812145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505C17C-D89D-4130-92FF-CD7AB708FC8A}"/>
              </a:ext>
            </a:extLst>
          </p:cNvPr>
          <p:cNvSpPr>
            <a:spLocks noGrp="1"/>
          </p:cNvSpPr>
          <p:nvPr>
            <p:ph type="sldNum" sz="quarter" idx="12"/>
          </p:nvPr>
        </p:nvSpPr>
        <p:spPr/>
        <p:txBody>
          <a:bodyPr/>
          <a:lstStyle/>
          <a:p>
            <a:fld id="{5AD84F5B-1672-4D3F-9FEC-5DF89A7B7912}" type="slidenum">
              <a:rPr lang="zh-CN" altLang="en-US">
                <a:latin typeface="Times New Roman"/>
                <a:ea typeface="黑体"/>
              </a:rPr>
              <a:pPr/>
              <a:t>6</a:t>
            </a:fld>
            <a:endParaRPr lang="zh-CN" altLang="en-US">
              <a:latin typeface="Times New Roman"/>
              <a:ea typeface="黑体"/>
            </a:endParaRPr>
          </a:p>
        </p:txBody>
      </p:sp>
      <p:sp>
        <p:nvSpPr>
          <p:cNvPr id="12" name="标题 1">
            <a:extLst>
              <a:ext uri="{FF2B5EF4-FFF2-40B4-BE49-F238E27FC236}">
                <a16:creationId xmlns:a16="http://schemas.microsoft.com/office/drawing/2014/main" id="{6C3D383A-893B-466F-A872-9FDBD96250FA}"/>
              </a:ext>
            </a:extLst>
          </p:cNvPr>
          <p:cNvSpPr>
            <a:spLocks noGrp="1"/>
          </p:cNvSpPr>
          <p:nvPr>
            <p:ph type="title"/>
          </p:nvPr>
        </p:nvSpPr>
        <p:spPr>
          <a:xfrm>
            <a:off x="1904512" y="138784"/>
            <a:ext cx="8376356"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人工智能中的搜索</a:t>
            </a:r>
          </a:p>
        </p:txBody>
      </p:sp>
      <p:sp>
        <p:nvSpPr>
          <p:cNvPr id="11" name="文本框 10">
            <a:extLst>
              <a:ext uri="{FF2B5EF4-FFF2-40B4-BE49-F238E27FC236}">
                <a16:creationId xmlns:a16="http://schemas.microsoft.com/office/drawing/2014/main" id="{CE48B8B8-CEA9-4E10-B7E9-F11970DDEBF9}"/>
              </a:ext>
            </a:extLst>
          </p:cNvPr>
          <p:cNvSpPr txBox="1"/>
          <p:nvPr/>
        </p:nvSpPr>
        <p:spPr>
          <a:xfrm>
            <a:off x="2002301" y="981256"/>
            <a:ext cx="7969348" cy="5238422"/>
          </a:xfrm>
          <a:prstGeom prst="rect">
            <a:avLst/>
          </a:prstGeom>
          <a:noFill/>
        </p:spPr>
        <p:txBody>
          <a:bodyPr wrap="square">
            <a:spAutoFit/>
          </a:bodyPr>
          <a:lstStyle/>
          <a:p>
            <a:pPr>
              <a:lnSpc>
                <a:spcPct val="150000"/>
              </a:lnSpc>
            </a:pPr>
            <a:r>
              <a:rPr lang="zh-CN" altLang="en-US" sz="3200" dirty="0">
                <a:solidFill>
                  <a:srgbClr val="FF0000"/>
                </a:solidFill>
                <a:latin typeface="方正姚体" panose="02010601030101010101" pitchFamily="2" charset="-122"/>
                <a:ea typeface="方正姚体" panose="02010601030101010101" pitchFamily="2" charset="-122"/>
              </a:rPr>
              <a:t>搜索的主要过程</a:t>
            </a:r>
          </a:p>
          <a:p>
            <a:pPr>
              <a:lnSpc>
                <a:spcPct val="150000"/>
              </a:lnSpc>
            </a:pPr>
            <a:r>
              <a:rPr lang="en-US" altLang="zh-CN" sz="2600" dirty="0">
                <a:solidFill>
                  <a:prstClr val="black"/>
                </a:solidFill>
                <a:latin typeface="黑体"/>
                <a:ea typeface="黑体"/>
              </a:rPr>
              <a:t>(1) </a:t>
            </a:r>
            <a:r>
              <a:rPr lang="zh-CN" altLang="en-US" sz="2600" dirty="0">
                <a:solidFill>
                  <a:prstClr val="black"/>
                </a:solidFill>
                <a:latin typeface="黑体"/>
                <a:ea typeface="黑体"/>
              </a:rPr>
              <a:t>从</a:t>
            </a:r>
            <a:r>
              <a:rPr lang="zh-CN" altLang="en-US" sz="2600" dirty="0">
                <a:solidFill>
                  <a:srgbClr val="FF0000"/>
                </a:solidFill>
                <a:latin typeface="黑体"/>
                <a:ea typeface="黑体"/>
              </a:rPr>
              <a:t>初始或目的状态</a:t>
            </a:r>
            <a:r>
              <a:rPr lang="zh-CN" altLang="en-US" sz="2600" dirty="0">
                <a:solidFill>
                  <a:prstClr val="black"/>
                </a:solidFill>
                <a:latin typeface="黑体"/>
                <a:ea typeface="黑体"/>
              </a:rPr>
              <a:t>出发，将它作为当前状态。</a:t>
            </a:r>
          </a:p>
          <a:p>
            <a:pPr>
              <a:lnSpc>
                <a:spcPct val="150000"/>
              </a:lnSpc>
            </a:pPr>
            <a:r>
              <a:rPr lang="en-US" altLang="zh-CN" sz="2600" dirty="0">
                <a:solidFill>
                  <a:prstClr val="black"/>
                </a:solidFill>
                <a:latin typeface="黑体"/>
                <a:ea typeface="黑体"/>
              </a:rPr>
              <a:t>(2) </a:t>
            </a:r>
            <a:r>
              <a:rPr lang="zh-CN" altLang="en-US" sz="2600" dirty="0">
                <a:solidFill>
                  <a:prstClr val="black"/>
                </a:solidFill>
                <a:latin typeface="黑体"/>
                <a:ea typeface="黑体"/>
              </a:rPr>
              <a:t>扫描操作算子集，将适用当前状态的一些操作算子作用于当前状态而得到新的状态，并建立指向其父结点的指针 。</a:t>
            </a:r>
            <a:endParaRPr lang="en-US" altLang="zh-CN" sz="2600" dirty="0">
              <a:solidFill>
                <a:prstClr val="black"/>
              </a:solidFill>
              <a:latin typeface="黑体"/>
              <a:ea typeface="黑体"/>
            </a:endParaRPr>
          </a:p>
          <a:p>
            <a:pPr>
              <a:lnSpc>
                <a:spcPct val="130000"/>
              </a:lnSpc>
            </a:pPr>
            <a:r>
              <a:rPr lang="en-US" altLang="zh-CN" sz="2600" dirty="0">
                <a:solidFill>
                  <a:prstClr val="black"/>
                </a:solidFill>
                <a:latin typeface="黑体"/>
                <a:ea typeface="黑体"/>
              </a:rPr>
              <a:t>(3) </a:t>
            </a:r>
            <a:r>
              <a:rPr lang="zh-CN" altLang="en-US" sz="2600" dirty="0">
                <a:solidFill>
                  <a:prstClr val="black"/>
                </a:solidFill>
                <a:latin typeface="黑体"/>
                <a:ea typeface="黑体"/>
              </a:rPr>
              <a:t>检查所生成的新状态是否满足</a:t>
            </a:r>
            <a:r>
              <a:rPr lang="zh-CN" altLang="en-US" sz="2600" dirty="0">
                <a:solidFill>
                  <a:srgbClr val="FF0000"/>
                </a:solidFill>
                <a:latin typeface="黑体"/>
                <a:ea typeface="黑体"/>
              </a:rPr>
              <a:t>结束状态</a:t>
            </a:r>
            <a:r>
              <a:rPr lang="zh-CN" altLang="en-US" sz="2600" dirty="0">
                <a:solidFill>
                  <a:prstClr val="black"/>
                </a:solidFill>
                <a:latin typeface="黑体"/>
                <a:ea typeface="黑体"/>
              </a:rPr>
              <a:t>，如满足，则得到问题的一个解，并可沿着有关</a:t>
            </a:r>
            <a:r>
              <a:rPr lang="zh-CN" altLang="en-US" sz="2600" dirty="0">
                <a:solidFill>
                  <a:srgbClr val="FF0000"/>
                </a:solidFill>
                <a:latin typeface="黑体"/>
                <a:ea typeface="黑体"/>
              </a:rPr>
              <a:t>指针</a:t>
            </a:r>
            <a:r>
              <a:rPr lang="zh-CN" altLang="en-US" sz="2600" dirty="0">
                <a:solidFill>
                  <a:prstClr val="black"/>
                </a:solidFill>
                <a:latin typeface="黑体"/>
                <a:ea typeface="黑体"/>
              </a:rPr>
              <a:t>从结束状态反向到达开始状态，给出一</a:t>
            </a:r>
            <a:r>
              <a:rPr lang="zh-CN" altLang="en-US" sz="2600" dirty="0">
                <a:solidFill>
                  <a:srgbClr val="FF0000"/>
                </a:solidFill>
                <a:latin typeface="黑体"/>
                <a:ea typeface="黑体"/>
              </a:rPr>
              <a:t>解答路径</a:t>
            </a:r>
            <a:r>
              <a:rPr lang="zh-CN" altLang="en-US" sz="2600" dirty="0">
                <a:solidFill>
                  <a:prstClr val="black"/>
                </a:solidFill>
                <a:latin typeface="黑体"/>
                <a:ea typeface="黑体"/>
              </a:rPr>
              <a:t>；否则，将新状态作为当前状态，返回第</a:t>
            </a:r>
            <a:r>
              <a:rPr lang="en-US" altLang="zh-CN" sz="2600" dirty="0">
                <a:solidFill>
                  <a:prstClr val="black"/>
                </a:solidFill>
                <a:latin typeface="黑体"/>
                <a:ea typeface="黑体"/>
              </a:rPr>
              <a:t>(2)</a:t>
            </a:r>
            <a:r>
              <a:rPr lang="zh-CN" altLang="en-US" sz="2600" dirty="0">
                <a:solidFill>
                  <a:prstClr val="black"/>
                </a:solidFill>
                <a:latin typeface="黑体"/>
                <a:ea typeface="黑体"/>
              </a:rPr>
              <a:t>步再进行搜索。 </a:t>
            </a:r>
          </a:p>
        </p:txBody>
      </p:sp>
    </p:spTree>
    <p:extLst>
      <p:ext uri="{BB962C8B-B14F-4D97-AF65-F5344CB8AC3E}">
        <p14:creationId xmlns:p14="http://schemas.microsoft.com/office/powerpoint/2010/main" val="3928345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500"/>
                                        <p:tgtEl>
                                          <p:spTgt spid="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fade">
                                      <p:cBhvr>
                                        <p:cTn id="12" dur="500"/>
                                        <p:tgtEl>
                                          <p:spTgt spid="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animEffect transition="in" filter="fade">
                                      <p:cBhvr>
                                        <p:cTn id="17"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505C17C-D89D-4130-92FF-CD7AB708FC8A}"/>
              </a:ext>
            </a:extLst>
          </p:cNvPr>
          <p:cNvSpPr>
            <a:spLocks noGrp="1"/>
          </p:cNvSpPr>
          <p:nvPr>
            <p:ph type="sldNum" sz="quarter" idx="12"/>
          </p:nvPr>
        </p:nvSpPr>
        <p:spPr/>
        <p:txBody>
          <a:bodyPr/>
          <a:lstStyle/>
          <a:p>
            <a:fld id="{5AD84F5B-1672-4D3F-9FEC-5DF89A7B7912}" type="slidenum">
              <a:rPr lang="zh-CN" altLang="en-US">
                <a:latin typeface="Times New Roman"/>
                <a:ea typeface="黑体"/>
              </a:rPr>
              <a:pPr/>
              <a:t>7</a:t>
            </a:fld>
            <a:endParaRPr lang="zh-CN" altLang="en-US">
              <a:latin typeface="Times New Roman"/>
              <a:ea typeface="黑体"/>
            </a:endParaRPr>
          </a:p>
        </p:txBody>
      </p:sp>
      <p:sp>
        <p:nvSpPr>
          <p:cNvPr id="12" name="标题 1">
            <a:extLst>
              <a:ext uri="{FF2B5EF4-FFF2-40B4-BE49-F238E27FC236}">
                <a16:creationId xmlns:a16="http://schemas.microsoft.com/office/drawing/2014/main" id="{6C3D383A-893B-466F-A872-9FDBD96250FA}"/>
              </a:ext>
            </a:extLst>
          </p:cNvPr>
          <p:cNvSpPr>
            <a:spLocks noGrp="1"/>
          </p:cNvSpPr>
          <p:nvPr>
            <p:ph type="title"/>
          </p:nvPr>
        </p:nvSpPr>
        <p:spPr>
          <a:xfrm>
            <a:off x="1904512" y="138784"/>
            <a:ext cx="8376356"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人工智能中的搜索</a:t>
            </a:r>
          </a:p>
        </p:txBody>
      </p:sp>
      <p:sp>
        <p:nvSpPr>
          <p:cNvPr id="5" name="文本框 4">
            <a:extLst>
              <a:ext uri="{FF2B5EF4-FFF2-40B4-BE49-F238E27FC236}">
                <a16:creationId xmlns:a16="http://schemas.microsoft.com/office/drawing/2014/main" id="{E9D63038-20CF-47D5-B6B6-52E2F4DF4CCF}"/>
              </a:ext>
            </a:extLst>
          </p:cNvPr>
          <p:cNvSpPr txBox="1"/>
          <p:nvPr/>
        </p:nvSpPr>
        <p:spPr>
          <a:xfrm>
            <a:off x="2030644" y="1064987"/>
            <a:ext cx="7955280" cy="4728026"/>
          </a:xfrm>
          <a:prstGeom prst="rect">
            <a:avLst/>
          </a:prstGeom>
          <a:noFill/>
        </p:spPr>
        <p:txBody>
          <a:bodyPr wrap="square">
            <a:spAutoFit/>
          </a:bodyPr>
          <a:lstStyle/>
          <a:p>
            <a:pPr>
              <a:lnSpc>
                <a:spcPct val="130000"/>
              </a:lnSpc>
              <a:spcBef>
                <a:spcPts val="600"/>
              </a:spcBef>
            </a:pPr>
            <a:r>
              <a:rPr lang="zh-CN" altLang="en-US" sz="3200" dirty="0">
                <a:solidFill>
                  <a:srgbClr val="FF0000"/>
                </a:solidFill>
                <a:latin typeface="方正姚体" panose="02010601030101010101" pitchFamily="2" charset="-122"/>
                <a:ea typeface="方正姚体" panose="02010601030101010101" pitchFamily="2" charset="-122"/>
              </a:rPr>
              <a:t>盲目搜索与启发式搜索</a:t>
            </a:r>
            <a:endParaRPr lang="en-US" altLang="zh-CN" sz="3200" dirty="0">
              <a:solidFill>
                <a:srgbClr val="FF0000"/>
              </a:solidFill>
              <a:latin typeface="方正姚体" panose="02010601030101010101" pitchFamily="2" charset="-122"/>
              <a:ea typeface="方正姚体" panose="02010601030101010101" pitchFamily="2" charset="-122"/>
            </a:endParaRPr>
          </a:p>
          <a:p>
            <a:pPr>
              <a:lnSpc>
                <a:spcPct val="130000"/>
              </a:lnSpc>
              <a:spcBef>
                <a:spcPts val="600"/>
              </a:spcBef>
            </a:pPr>
            <a:r>
              <a:rPr lang="zh-CN" altLang="en-US" sz="2800" dirty="0">
                <a:solidFill>
                  <a:srgbClr val="FF0000"/>
                </a:solidFill>
                <a:latin typeface="黑体"/>
                <a:ea typeface="黑体"/>
              </a:rPr>
              <a:t>（</a:t>
            </a:r>
            <a:r>
              <a:rPr lang="en-US" altLang="zh-CN" sz="2800" dirty="0">
                <a:solidFill>
                  <a:srgbClr val="FF0000"/>
                </a:solidFill>
                <a:latin typeface="黑体"/>
                <a:ea typeface="黑体"/>
              </a:rPr>
              <a:t>1</a:t>
            </a:r>
            <a:r>
              <a:rPr lang="zh-CN" altLang="en-US" sz="2800" dirty="0">
                <a:solidFill>
                  <a:srgbClr val="FF0000"/>
                </a:solidFill>
                <a:latin typeface="黑体"/>
                <a:ea typeface="黑体"/>
              </a:rPr>
              <a:t>）盲目搜索</a:t>
            </a:r>
            <a:r>
              <a:rPr lang="en-US" altLang="zh-CN" sz="2800" dirty="0">
                <a:solidFill>
                  <a:prstClr val="black"/>
                </a:solidFill>
                <a:latin typeface="黑体"/>
                <a:ea typeface="黑体"/>
              </a:rPr>
              <a:t>——</a:t>
            </a:r>
            <a:r>
              <a:rPr lang="zh-CN" altLang="en-US" sz="2800" dirty="0">
                <a:solidFill>
                  <a:prstClr val="black"/>
                </a:solidFill>
                <a:latin typeface="黑体"/>
                <a:ea typeface="黑体"/>
              </a:rPr>
              <a:t>在不具有对特定问题的任何有关信息的条件下，按固定的步骤（依次或随机调用操作算子）进行的搜索。 </a:t>
            </a:r>
          </a:p>
          <a:p>
            <a:pPr>
              <a:lnSpc>
                <a:spcPct val="130000"/>
              </a:lnSpc>
              <a:spcBef>
                <a:spcPts val="600"/>
              </a:spcBef>
            </a:pPr>
            <a:r>
              <a:rPr lang="zh-CN" altLang="en-US" sz="2800" dirty="0">
                <a:solidFill>
                  <a:srgbClr val="FF0000"/>
                </a:solidFill>
                <a:latin typeface="黑体"/>
                <a:ea typeface="黑体"/>
              </a:rPr>
              <a:t>（</a:t>
            </a:r>
            <a:r>
              <a:rPr lang="en-US" altLang="zh-CN" sz="2800" dirty="0">
                <a:solidFill>
                  <a:srgbClr val="FF0000"/>
                </a:solidFill>
                <a:latin typeface="黑体"/>
                <a:ea typeface="黑体"/>
              </a:rPr>
              <a:t>2</a:t>
            </a:r>
            <a:r>
              <a:rPr lang="zh-CN" altLang="en-US" sz="2800" dirty="0">
                <a:solidFill>
                  <a:srgbClr val="FF0000"/>
                </a:solidFill>
                <a:latin typeface="黑体"/>
                <a:ea typeface="黑体"/>
              </a:rPr>
              <a:t>）启发式搜索</a:t>
            </a:r>
            <a:r>
              <a:rPr lang="en-US" altLang="zh-CN" sz="2800" dirty="0">
                <a:solidFill>
                  <a:prstClr val="black"/>
                </a:solidFill>
                <a:latin typeface="黑体"/>
                <a:ea typeface="黑体"/>
              </a:rPr>
              <a:t>——</a:t>
            </a:r>
            <a:r>
              <a:rPr lang="zh-CN" altLang="en-US" sz="2800" dirty="0">
                <a:solidFill>
                  <a:prstClr val="black"/>
                </a:solidFill>
                <a:latin typeface="黑体"/>
                <a:ea typeface="黑体"/>
              </a:rPr>
              <a:t>考虑特定问题领域可应用的知识，动态确定调用操作算子的步骤，优先选择较适合的操作算子，尽量减少不必要搜索，以求尽快到达结束状态。</a:t>
            </a:r>
          </a:p>
        </p:txBody>
      </p:sp>
    </p:spTree>
    <p:extLst>
      <p:ext uri="{BB962C8B-B14F-4D97-AF65-F5344CB8AC3E}">
        <p14:creationId xmlns:p14="http://schemas.microsoft.com/office/powerpoint/2010/main" val="2910548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505C17C-D89D-4130-92FF-CD7AB708FC8A}"/>
              </a:ext>
            </a:extLst>
          </p:cNvPr>
          <p:cNvSpPr>
            <a:spLocks noGrp="1"/>
          </p:cNvSpPr>
          <p:nvPr>
            <p:ph type="sldNum" sz="quarter" idx="12"/>
          </p:nvPr>
        </p:nvSpPr>
        <p:spPr/>
        <p:txBody>
          <a:bodyPr/>
          <a:lstStyle/>
          <a:p>
            <a:fld id="{5AD84F5B-1672-4D3F-9FEC-5DF89A7B7912}" type="slidenum">
              <a:rPr lang="zh-CN" altLang="en-US">
                <a:latin typeface="Times New Roman"/>
                <a:ea typeface="黑体"/>
              </a:rPr>
              <a:pPr/>
              <a:t>8</a:t>
            </a:fld>
            <a:endParaRPr lang="zh-CN" altLang="en-US">
              <a:latin typeface="Times New Roman"/>
              <a:ea typeface="黑体"/>
            </a:endParaRPr>
          </a:p>
        </p:txBody>
      </p:sp>
      <p:sp>
        <p:nvSpPr>
          <p:cNvPr id="12" name="标题 1">
            <a:extLst>
              <a:ext uri="{FF2B5EF4-FFF2-40B4-BE49-F238E27FC236}">
                <a16:creationId xmlns:a16="http://schemas.microsoft.com/office/drawing/2014/main" id="{6C3D383A-893B-466F-A872-9FDBD96250FA}"/>
              </a:ext>
            </a:extLst>
          </p:cNvPr>
          <p:cNvSpPr>
            <a:spLocks noGrp="1"/>
          </p:cNvSpPr>
          <p:nvPr>
            <p:ph type="title"/>
          </p:nvPr>
        </p:nvSpPr>
        <p:spPr>
          <a:xfrm>
            <a:off x="1904512" y="138784"/>
            <a:ext cx="8376356"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人工智能中的搜索</a:t>
            </a:r>
          </a:p>
        </p:txBody>
      </p:sp>
      <p:sp>
        <p:nvSpPr>
          <p:cNvPr id="5" name="文本框 4">
            <a:extLst>
              <a:ext uri="{FF2B5EF4-FFF2-40B4-BE49-F238E27FC236}">
                <a16:creationId xmlns:a16="http://schemas.microsoft.com/office/drawing/2014/main" id="{A21B193D-59A1-4283-8E8B-52ACC4FBDADC}"/>
              </a:ext>
            </a:extLst>
          </p:cNvPr>
          <p:cNvSpPr txBox="1"/>
          <p:nvPr/>
        </p:nvSpPr>
        <p:spPr>
          <a:xfrm>
            <a:off x="1995268" y="1134181"/>
            <a:ext cx="4572000" cy="584775"/>
          </a:xfrm>
          <a:prstGeom prst="rect">
            <a:avLst/>
          </a:prstGeom>
          <a:noFill/>
        </p:spPr>
        <p:txBody>
          <a:bodyPr wrap="square">
            <a:spAutoFit/>
          </a:bodyPr>
          <a:lstStyle/>
          <a:p>
            <a:r>
              <a:rPr lang="zh-CN" altLang="en-US" sz="3200" dirty="0">
                <a:solidFill>
                  <a:srgbClr val="FF0000"/>
                </a:solidFill>
                <a:latin typeface="方正姚体" panose="02010601030101010101" pitchFamily="2" charset="-122"/>
                <a:ea typeface="方正姚体" panose="02010601030101010101" pitchFamily="2" charset="-122"/>
              </a:rPr>
              <a:t>状态空间搜索策略</a:t>
            </a:r>
          </a:p>
        </p:txBody>
      </p:sp>
      <p:sp>
        <p:nvSpPr>
          <p:cNvPr id="6" name="TextBox 3">
            <a:extLst>
              <a:ext uri="{FF2B5EF4-FFF2-40B4-BE49-F238E27FC236}">
                <a16:creationId xmlns:a16="http://schemas.microsoft.com/office/drawing/2014/main" id="{EBA705CF-786E-4606-B49A-B8EF8868C6BD}"/>
              </a:ext>
            </a:extLst>
          </p:cNvPr>
          <p:cNvSpPr txBox="1">
            <a:spLocks noChangeArrowheads="1"/>
          </p:cNvSpPr>
          <p:nvPr/>
        </p:nvSpPr>
        <p:spPr bwMode="auto">
          <a:xfrm>
            <a:off x="2284741" y="3998349"/>
            <a:ext cx="2523817" cy="523220"/>
          </a:xfrm>
          <a:prstGeom prst="rect">
            <a:avLst/>
          </a:prstGeom>
          <a:solidFill>
            <a:schemeClr val="accent1">
              <a:lumMod val="20000"/>
              <a:lumOff val="80000"/>
            </a:schemeClr>
          </a:solidFill>
          <a:ln w="9525">
            <a:solidFill>
              <a:srgbClr val="FF0000"/>
            </a:solid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2800">
                <a:solidFill>
                  <a:prstClr val="black"/>
                </a:solidFill>
                <a:latin typeface="Times New Roman"/>
                <a:ea typeface="黑体"/>
              </a:rPr>
              <a:t>HOW?</a:t>
            </a:r>
            <a:r>
              <a:rPr lang="zh-CN" altLang="en-US" sz="2800">
                <a:solidFill>
                  <a:prstClr val="black"/>
                </a:solidFill>
                <a:latin typeface="Times New Roman"/>
                <a:ea typeface="黑体"/>
              </a:rPr>
              <a:t>  </a:t>
            </a:r>
          </a:p>
        </p:txBody>
      </p:sp>
      <p:sp>
        <p:nvSpPr>
          <p:cNvPr id="7" name="文本框 6">
            <a:extLst>
              <a:ext uri="{FF2B5EF4-FFF2-40B4-BE49-F238E27FC236}">
                <a16:creationId xmlns:a16="http://schemas.microsoft.com/office/drawing/2014/main" id="{BF5E469C-7C73-4B27-ADB9-26F83AB1B22B}"/>
              </a:ext>
            </a:extLst>
          </p:cNvPr>
          <p:cNvSpPr txBox="1">
            <a:spLocks noChangeArrowheads="1"/>
          </p:cNvSpPr>
          <p:nvPr/>
        </p:nvSpPr>
        <p:spPr bwMode="auto">
          <a:xfrm>
            <a:off x="5304718" y="2043162"/>
            <a:ext cx="47443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Char char="ü"/>
            </a:pPr>
            <a:r>
              <a:rPr lang="zh-CN" altLang="en-US" sz="2800" dirty="0">
                <a:solidFill>
                  <a:srgbClr val="002060"/>
                </a:solidFill>
                <a:latin typeface="Times New Roman"/>
                <a:ea typeface="黑体"/>
              </a:rPr>
              <a:t>非平凡问题利用知识求解</a:t>
            </a:r>
          </a:p>
        </p:txBody>
      </p:sp>
      <p:sp>
        <p:nvSpPr>
          <p:cNvPr id="8" name="文本框 7">
            <a:extLst>
              <a:ext uri="{FF2B5EF4-FFF2-40B4-BE49-F238E27FC236}">
                <a16:creationId xmlns:a16="http://schemas.microsoft.com/office/drawing/2014/main" id="{1A1DD149-F19E-4B15-9372-59387D8A11A9}"/>
              </a:ext>
            </a:extLst>
          </p:cNvPr>
          <p:cNvSpPr txBox="1">
            <a:spLocks noChangeArrowheads="1"/>
          </p:cNvSpPr>
          <p:nvPr/>
        </p:nvSpPr>
        <p:spPr bwMode="auto">
          <a:xfrm>
            <a:off x="5307893" y="3052079"/>
            <a:ext cx="474135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Char char="ü"/>
            </a:pPr>
            <a:r>
              <a:rPr lang="zh-CN" altLang="en-US" sz="2800">
                <a:solidFill>
                  <a:srgbClr val="002060"/>
                </a:solidFill>
                <a:latin typeface="Times New Roman"/>
                <a:ea typeface="黑体"/>
              </a:rPr>
              <a:t>寻找智能系统动作序列</a:t>
            </a:r>
          </a:p>
        </p:txBody>
      </p:sp>
      <p:sp>
        <p:nvSpPr>
          <p:cNvPr id="9" name="TextBox 3">
            <a:extLst>
              <a:ext uri="{FF2B5EF4-FFF2-40B4-BE49-F238E27FC236}">
                <a16:creationId xmlns:a16="http://schemas.microsoft.com/office/drawing/2014/main" id="{F23303C1-FAE5-4238-8FDD-2C57DE89EB14}"/>
              </a:ext>
            </a:extLst>
          </p:cNvPr>
          <p:cNvSpPr txBox="1">
            <a:spLocks noChangeArrowheads="1"/>
          </p:cNvSpPr>
          <p:nvPr/>
        </p:nvSpPr>
        <p:spPr bwMode="auto">
          <a:xfrm>
            <a:off x="2323393" y="2015968"/>
            <a:ext cx="2487004" cy="523220"/>
          </a:xfrm>
          <a:prstGeom prst="rect">
            <a:avLst/>
          </a:prstGeom>
          <a:solidFill>
            <a:schemeClr val="accent1">
              <a:lumMod val="20000"/>
              <a:lumOff val="80000"/>
            </a:schemeClr>
          </a:solidFill>
          <a:ln w="9525">
            <a:solidFill>
              <a:srgbClr val="FF0000"/>
            </a:solid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2800" dirty="0">
                <a:solidFill>
                  <a:prstClr val="black"/>
                </a:solidFill>
                <a:latin typeface="Times New Roman"/>
                <a:ea typeface="黑体"/>
              </a:rPr>
              <a:t>WHY?</a:t>
            </a:r>
            <a:r>
              <a:rPr lang="zh-CN" altLang="en-US" sz="2800" dirty="0">
                <a:solidFill>
                  <a:prstClr val="black"/>
                </a:solidFill>
                <a:latin typeface="Times New Roman"/>
                <a:ea typeface="黑体"/>
              </a:rPr>
              <a:t>  </a:t>
            </a:r>
          </a:p>
        </p:txBody>
      </p:sp>
      <p:sp>
        <p:nvSpPr>
          <p:cNvPr id="10" name="TextBox 3">
            <a:extLst>
              <a:ext uri="{FF2B5EF4-FFF2-40B4-BE49-F238E27FC236}">
                <a16:creationId xmlns:a16="http://schemas.microsoft.com/office/drawing/2014/main" id="{C00D12C3-A529-4F55-87E3-13EC398841E4}"/>
              </a:ext>
            </a:extLst>
          </p:cNvPr>
          <p:cNvSpPr txBox="1">
            <a:spLocks noChangeArrowheads="1"/>
          </p:cNvSpPr>
          <p:nvPr/>
        </p:nvSpPr>
        <p:spPr bwMode="auto">
          <a:xfrm>
            <a:off x="2297993" y="3004619"/>
            <a:ext cx="2510564" cy="523220"/>
          </a:xfrm>
          <a:prstGeom prst="rect">
            <a:avLst/>
          </a:prstGeom>
          <a:solidFill>
            <a:schemeClr val="accent1">
              <a:lumMod val="20000"/>
              <a:lumOff val="80000"/>
            </a:schemeClr>
          </a:solidFill>
          <a:ln w="9525">
            <a:solidFill>
              <a:srgbClr val="FF0000"/>
            </a:solid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2800">
                <a:solidFill>
                  <a:prstClr val="black"/>
                </a:solidFill>
                <a:latin typeface="Times New Roman"/>
                <a:ea typeface="黑体"/>
              </a:rPr>
              <a:t>WHAT?</a:t>
            </a:r>
            <a:r>
              <a:rPr lang="zh-CN" altLang="en-US" sz="2800">
                <a:solidFill>
                  <a:prstClr val="black"/>
                </a:solidFill>
                <a:latin typeface="Times New Roman"/>
                <a:ea typeface="黑体"/>
              </a:rPr>
              <a:t>  </a:t>
            </a:r>
          </a:p>
        </p:txBody>
      </p:sp>
      <p:sp>
        <p:nvSpPr>
          <p:cNvPr id="11" name="文本框 10">
            <a:extLst>
              <a:ext uri="{FF2B5EF4-FFF2-40B4-BE49-F238E27FC236}">
                <a16:creationId xmlns:a16="http://schemas.microsoft.com/office/drawing/2014/main" id="{4C493389-FA24-4E49-AA23-B7A49CA23D3E}"/>
              </a:ext>
            </a:extLst>
          </p:cNvPr>
          <p:cNvSpPr txBox="1">
            <a:spLocks noChangeArrowheads="1"/>
          </p:cNvSpPr>
          <p:nvPr/>
        </p:nvSpPr>
        <p:spPr bwMode="auto">
          <a:xfrm>
            <a:off x="5310515" y="4033109"/>
            <a:ext cx="47428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Char char="ü"/>
            </a:pPr>
            <a:r>
              <a:rPr lang="zh-CN" altLang="en-US" sz="2800">
                <a:solidFill>
                  <a:srgbClr val="002060"/>
                </a:solidFill>
                <a:latin typeface="Times New Roman"/>
                <a:ea typeface="黑体"/>
              </a:rPr>
              <a:t>盲目搜索</a:t>
            </a:r>
            <a:r>
              <a:rPr lang="en-US" altLang="zh-CN" sz="2800">
                <a:solidFill>
                  <a:srgbClr val="002060"/>
                </a:solidFill>
                <a:latin typeface="Times New Roman"/>
                <a:ea typeface="黑体"/>
              </a:rPr>
              <a:t>/</a:t>
            </a:r>
            <a:r>
              <a:rPr lang="zh-CN" altLang="en-US" sz="2800">
                <a:solidFill>
                  <a:srgbClr val="002060"/>
                </a:solidFill>
                <a:latin typeface="Times New Roman"/>
                <a:ea typeface="黑体"/>
              </a:rPr>
              <a:t>启发式搜索</a:t>
            </a:r>
          </a:p>
        </p:txBody>
      </p:sp>
      <p:sp>
        <p:nvSpPr>
          <p:cNvPr id="13" name="TextBox 3">
            <a:extLst>
              <a:ext uri="{FF2B5EF4-FFF2-40B4-BE49-F238E27FC236}">
                <a16:creationId xmlns:a16="http://schemas.microsoft.com/office/drawing/2014/main" id="{76F6C0A1-C7A9-43F3-80EB-CB97D54BB8BF}"/>
              </a:ext>
            </a:extLst>
          </p:cNvPr>
          <p:cNvSpPr txBox="1">
            <a:spLocks noChangeArrowheads="1"/>
          </p:cNvSpPr>
          <p:nvPr/>
        </p:nvSpPr>
        <p:spPr bwMode="auto">
          <a:xfrm>
            <a:off x="2323394" y="4979379"/>
            <a:ext cx="2517927" cy="523220"/>
          </a:xfrm>
          <a:prstGeom prst="rect">
            <a:avLst/>
          </a:prstGeom>
          <a:solidFill>
            <a:schemeClr val="accent1">
              <a:lumMod val="20000"/>
              <a:lumOff val="80000"/>
            </a:schemeClr>
          </a:solidFill>
          <a:ln w="9525">
            <a:solidFill>
              <a:srgbClr val="FF0000"/>
            </a:solidFill>
            <a:miter lim="800000"/>
            <a:headEnd/>
            <a:tailE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2800">
                <a:solidFill>
                  <a:prstClr val="black"/>
                </a:solidFill>
                <a:latin typeface="Times New Roman"/>
                <a:ea typeface="黑体"/>
              </a:rPr>
              <a:t>WHERE?</a:t>
            </a:r>
            <a:r>
              <a:rPr lang="zh-CN" altLang="en-US" sz="2800">
                <a:solidFill>
                  <a:prstClr val="black"/>
                </a:solidFill>
                <a:latin typeface="Times New Roman"/>
                <a:ea typeface="黑体"/>
              </a:rPr>
              <a:t> </a:t>
            </a:r>
          </a:p>
        </p:txBody>
      </p:sp>
      <p:sp>
        <p:nvSpPr>
          <p:cNvPr id="14" name="文本框 13">
            <a:extLst>
              <a:ext uri="{FF2B5EF4-FFF2-40B4-BE49-F238E27FC236}">
                <a16:creationId xmlns:a16="http://schemas.microsoft.com/office/drawing/2014/main" id="{5D3CB72F-3EF6-4C50-B4A2-DD55FC566971}"/>
              </a:ext>
            </a:extLst>
          </p:cNvPr>
          <p:cNvSpPr txBox="1">
            <a:spLocks noChangeArrowheads="1"/>
          </p:cNvSpPr>
          <p:nvPr/>
        </p:nvSpPr>
        <p:spPr bwMode="auto">
          <a:xfrm>
            <a:off x="5345994" y="5014139"/>
            <a:ext cx="474135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Char char="ü"/>
            </a:pPr>
            <a:r>
              <a:rPr lang="zh-CN" altLang="en-US" sz="2800">
                <a:solidFill>
                  <a:srgbClr val="002060"/>
                </a:solidFill>
                <a:latin typeface="Times New Roman"/>
                <a:ea typeface="黑体"/>
              </a:rPr>
              <a:t>状态空间</a:t>
            </a:r>
          </a:p>
        </p:txBody>
      </p:sp>
    </p:spTree>
    <p:extLst>
      <p:ext uri="{BB962C8B-B14F-4D97-AF65-F5344CB8AC3E}">
        <p14:creationId xmlns:p14="http://schemas.microsoft.com/office/powerpoint/2010/main" val="2624417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par>
                          <p:cTn id="25" fill="hold">
                            <p:stCondLst>
                              <p:cond delay="500"/>
                            </p:stCondLst>
                            <p:childTnLst>
                              <p:par>
                                <p:cTn id="26" presetID="42"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750"/>
                                        <p:tgtEl>
                                          <p:spTgt spid="6"/>
                                        </p:tgtEl>
                                      </p:cBhvr>
                                    </p:animEffect>
                                    <p:anim calcmode="lin" valueType="num">
                                      <p:cBhvr>
                                        <p:cTn id="29" dur="750" fill="hold"/>
                                        <p:tgtEl>
                                          <p:spTgt spid="6"/>
                                        </p:tgtEl>
                                        <p:attrNameLst>
                                          <p:attrName>ppt_x</p:attrName>
                                        </p:attrNameLst>
                                      </p:cBhvr>
                                      <p:tavLst>
                                        <p:tav tm="0">
                                          <p:val>
                                            <p:strVal val="#ppt_x"/>
                                          </p:val>
                                        </p:tav>
                                        <p:tav tm="100000">
                                          <p:val>
                                            <p:strVal val="#ppt_x"/>
                                          </p:val>
                                        </p:tav>
                                      </p:tavLst>
                                    </p:anim>
                                    <p:anim calcmode="lin" valueType="num">
                                      <p:cBhvr>
                                        <p:cTn id="30" dur="75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par>
                          <p:cTn id="36" fill="hold">
                            <p:stCondLst>
                              <p:cond delay="500"/>
                            </p:stCondLst>
                            <p:childTnLst>
                              <p:par>
                                <p:cTn id="37" presetID="42" presetClass="entr" presetSubtype="0"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750"/>
                                        <p:tgtEl>
                                          <p:spTgt spid="13"/>
                                        </p:tgtEl>
                                      </p:cBhvr>
                                    </p:animEffect>
                                    <p:anim calcmode="lin" valueType="num">
                                      <p:cBhvr>
                                        <p:cTn id="40" dur="750" fill="hold"/>
                                        <p:tgtEl>
                                          <p:spTgt spid="13"/>
                                        </p:tgtEl>
                                        <p:attrNameLst>
                                          <p:attrName>ppt_x</p:attrName>
                                        </p:attrNameLst>
                                      </p:cBhvr>
                                      <p:tavLst>
                                        <p:tav tm="0">
                                          <p:val>
                                            <p:strVal val="#ppt_x"/>
                                          </p:val>
                                        </p:tav>
                                        <p:tav tm="100000">
                                          <p:val>
                                            <p:strVal val="#ppt_x"/>
                                          </p:val>
                                        </p:tav>
                                      </p:tavLst>
                                    </p:anim>
                                    <p:anim calcmode="lin" valueType="num">
                                      <p:cBhvr>
                                        <p:cTn id="41" dur="75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animBg="1"/>
      <p:bldP spid="10" grpId="0" animBg="1"/>
      <p:bldP spid="11" grpId="0"/>
      <p:bldP spid="13" grpId="0" animBg="1"/>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505C17C-D89D-4130-92FF-CD7AB708FC8A}"/>
              </a:ext>
            </a:extLst>
          </p:cNvPr>
          <p:cNvSpPr>
            <a:spLocks noGrp="1"/>
          </p:cNvSpPr>
          <p:nvPr>
            <p:ph type="sldNum" sz="quarter" idx="12"/>
          </p:nvPr>
        </p:nvSpPr>
        <p:spPr/>
        <p:txBody>
          <a:bodyPr/>
          <a:lstStyle/>
          <a:p>
            <a:fld id="{5AD84F5B-1672-4D3F-9FEC-5DF89A7B7912}" type="slidenum">
              <a:rPr lang="zh-CN" altLang="en-US">
                <a:latin typeface="Times New Roman"/>
                <a:ea typeface="黑体"/>
              </a:rPr>
              <a:pPr/>
              <a:t>9</a:t>
            </a:fld>
            <a:endParaRPr lang="zh-CN" altLang="en-US">
              <a:latin typeface="Times New Roman"/>
              <a:ea typeface="黑体"/>
            </a:endParaRPr>
          </a:p>
        </p:txBody>
      </p:sp>
      <p:sp>
        <p:nvSpPr>
          <p:cNvPr id="12" name="标题 1">
            <a:extLst>
              <a:ext uri="{FF2B5EF4-FFF2-40B4-BE49-F238E27FC236}">
                <a16:creationId xmlns:a16="http://schemas.microsoft.com/office/drawing/2014/main" id="{6C3D383A-893B-466F-A872-9FDBD96250FA}"/>
              </a:ext>
            </a:extLst>
          </p:cNvPr>
          <p:cNvSpPr>
            <a:spLocks noGrp="1"/>
          </p:cNvSpPr>
          <p:nvPr>
            <p:ph type="title"/>
          </p:nvPr>
        </p:nvSpPr>
        <p:spPr>
          <a:xfrm>
            <a:off x="1904512" y="138784"/>
            <a:ext cx="8376356" cy="657727"/>
          </a:xfrm>
        </p:spPr>
        <p:txBody>
          <a:bodyPr/>
          <a:lstStyle/>
          <a:p>
            <a:pPr algn="l"/>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人工智能中的搜索</a:t>
            </a:r>
          </a:p>
        </p:txBody>
      </p:sp>
      <p:grpSp>
        <p:nvGrpSpPr>
          <p:cNvPr id="5" name="组合 4">
            <a:extLst>
              <a:ext uri="{FF2B5EF4-FFF2-40B4-BE49-F238E27FC236}">
                <a16:creationId xmlns:a16="http://schemas.microsoft.com/office/drawing/2014/main" id="{E69393E1-00DF-4707-A350-EF4271C4AFC6}"/>
              </a:ext>
            </a:extLst>
          </p:cNvPr>
          <p:cNvGrpSpPr/>
          <p:nvPr/>
        </p:nvGrpSpPr>
        <p:grpSpPr>
          <a:xfrm>
            <a:off x="1676400" y="1931971"/>
            <a:ext cx="8910638" cy="3916681"/>
            <a:chOff x="152400" y="1524000"/>
            <a:chExt cx="8910638" cy="3916681"/>
          </a:xfrm>
        </p:grpSpPr>
        <p:sp>
          <p:nvSpPr>
            <p:cNvPr id="6" name="TextBox 3">
              <a:extLst>
                <a:ext uri="{FF2B5EF4-FFF2-40B4-BE49-F238E27FC236}">
                  <a16:creationId xmlns:a16="http://schemas.microsoft.com/office/drawing/2014/main" id="{672EF3B4-C6FB-491C-88E8-DCD00FAF2090}"/>
                </a:ext>
              </a:extLst>
            </p:cNvPr>
            <p:cNvSpPr txBox="1">
              <a:spLocks noChangeArrowheads="1"/>
            </p:cNvSpPr>
            <p:nvPr/>
          </p:nvSpPr>
          <p:spPr bwMode="auto">
            <a:xfrm>
              <a:off x="2362200" y="2133600"/>
              <a:ext cx="1828800" cy="492443"/>
            </a:xfrm>
            <a:prstGeom prst="rect">
              <a:avLst/>
            </a:prstGeom>
            <a:solidFill>
              <a:srgbClr val="92D050"/>
            </a:solidFill>
            <a:ln w="9525">
              <a:noFill/>
              <a:miter lim="800000"/>
            </a:ln>
          </p:spPr>
          <p:txBody>
            <a:bodyPr>
              <a:spAutoFit/>
            </a:bodyPr>
            <a:lstStyle/>
            <a:p>
              <a:pPr marL="0" lvl="1">
                <a:defRPr/>
              </a:pPr>
              <a:r>
                <a:rPr lang="zh-CN" altLang="en-US" sz="2600" kern="0" dirty="0">
                  <a:solidFill>
                    <a:prstClr val="black"/>
                  </a:solidFill>
                  <a:latin typeface="华文楷体" panose="02010600040101010101" pitchFamily="2" charset="-122"/>
                  <a:ea typeface="华文楷体" panose="02010600040101010101" pitchFamily="2" charset="-122"/>
                </a:rPr>
                <a:t>盲目搜索</a:t>
              </a:r>
              <a:endParaRPr lang="en-US" altLang="zh-CN" sz="2600" dirty="0">
                <a:solidFill>
                  <a:prstClr val="black"/>
                </a:solidFill>
                <a:latin typeface="华文楷体" panose="02010600040101010101" pitchFamily="2" charset="-122"/>
                <a:ea typeface="华文楷体" panose="02010600040101010101" pitchFamily="2" charset="-122"/>
              </a:endParaRPr>
            </a:p>
          </p:txBody>
        </p:sp>
        <p:sp>
          <p:nvSpPr>
            <p:cNvPr id="7" name="TextBox 4">
              <a:extLst>
                <a:ext uri="{FF2B5EF4-FFF2-40B4-BE49-F238E27FC236}">
                  <a16:creationId xmlns:a16="http://schemas.microsoft.com/office/drawing/2014/main" id="{BB8D058E-F10F-4C17-96CB-432AE5EBD3ED}"/>
                </a:ext>
              </a:extLst>
            </p:cNvPr>
            <p:cNvSpPr txBox="1">
              <a:spLocks noChangeArrowheads="1"/>
            </p:cNvSpPr>
            <p:nvPr/>
          </p:nvSpPr>
          <p:spPr bwMode="auto">
            <a:xfrm>
              <a:off x="2362199" y="4627563"/>
              <a:ext cx="1903411" cy="560346"/>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1313" indent="-341313" defTabSz="912813">
                <a:defRPr>
                  <a:solidFill>
                    <a:schemeClr val="tx1"/>
                  </a:solidFill>
                  <a:latin typeface="Arial" panose="020B0604020202020204" pitchFamily="34" charset="0"/>
                  <a:ea typeface="宋体" panose="02010600030101010101" pitchFamily="2" charset="-122"/>
                </a:defRPr>
              </a:lvl1pPr>
              <a:lvl2pPr defTabSz="912813">
                <a:defRPr>
                  <a:solidFill>
                    <a:schemeClr val="tx1"/>
                  </a:solidFill>
                  <a:latin typeface="Arial" panose="020B0604020202020204" pitchFamily="34" charset="0"/>
                  <a:ea typeface="宋体" panose="02010600030101010101" pitchFamily="2" charset="-122"/>
                </a:defRPr>
              </a:lvl2pPr>
              <a:lvl3pPr defTabSz="912813">
                <a:defRPr>
                  <a:solidFill>
                    <a:schemeClr val="tx1"/>
                  </a:solidFill>
                  <a:latin typeface="Arial" panose="020B0604020202020204" pitchFamily="34" charset="0"/>
                  <a:ea typeface="宋体" panose="02010600030101010101" pitchFamily="2" charset="-122"/>
                </a:defRPr>
              </a:lvl3pPr>
              <a:lvl4pPr defTabSz="912813">
                <a:defRPr>
                  <a:solidFill>
                    <a:schemeClr val="tx1"/>
                  </a:solidFill>
                  <a:latin typeface="Arial" panose="020B0604020202020204" pitchFamily="34" charset="0"/>
                  <a:ea typeface="宋体" panose="02010600030101010101" pitchFamily="2" charset="-122"/>
                </a:defRPr>
              </a:lvl4pPr>
              <a:lvl5pPr defTabSz="912813">
                <a:defRPr>
                  <a:solidFill>
                    <a:schemeClr val="tx1"/>
                  </a:solidFill>
                  <a:latin typeface="Arial" panose="020B0604020202020204" pitchFamily="34" charset="0"/>
                  <a:ea typeface="宋体" panose="02010600030101010101" pitchFamily="2" charset="-122"/>
                </a:defRPr>
              </a:lvl5pPr>
              <a:lvl6pPr marL="22844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lnSpc>
                  <a:spcPct val="125000"/>
                </a:lnSpc>
                <a:spcBef>
                  <a:spcPct val="20000"/>
                </a:spcBef>
                <a:buClr>
                  <a:srgbClr val="EEECE1"/>
                </a:buClr>
              </a:pPr>
              <a:r>
                <a:rPr lang="zh-CN" altLang="en-US" sz="2600">
                  <a:solidFill>
                    <a:prstClr val="black"/>
                  </a:solidFill>
                  <a:latin typeface="华文楷体" panose="02010600040101010101" pitchFamily="2" charset="-122"/>
                  <a:ea typeface="华文楷体" panose="02010600040101010101" pitchFamily="2" charset="-122"/>
                </a:rPr>
                <a:t>启发性搜索</a:t>
              </a:r>
              <a:endParaRPr lang="en-US" altLang="zh-CN" sz="2600">
                <a:solidFill>
                  <a:prstClr val="black"/>
                </a:solidFill>
                <a:latin typeface="华文楷体" panose="02010600040101010101" pitchFamily="2" charset="-122"/>
                <a:ea typeface="华文楷体" panose="02010600040101010101" pitchFamily="2" charset="-122"/>
              </a:endParaRPr>
            </a:p>
          </p:txBody>
        </p:sp>
        <p:cxnSp>
          <p:nvCxnSpPr>
            <p:cNvPr id="8" name="直接连接符 7">
              <a:extLst>
                <a:ext uri="{FF2B5EF4-FFF2-40B4-BE49-F238E27FC236}">
                  <a16:creationId xmlns:a16="http://schemas.microsoft.com/office/drawing/2014/main" id="{8A98254B-8F17-49C8-AE3A-74C9C9E2BAFD}"/>
                </a:ext>
              </a:extLst>
            </p:cNvPr>
            <p:cNvCxnSpPr/>
            <p:nvPr/>
          </p:nvCxnSpPr>
          <p:spPr bwMode="auto">
            <a:xfrm>
              <a:off x="1828800" y="2362200"/>
              <a:ext cx="457200" cy="1588"/>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EC185861-CBEE-4D25-B5D5-5829D2F24315}"/>
                </a:ext>
              </a:extLst>
            </p:cNvPr>
            <p:cNvCxnSpPr/>
            <p:nvPr/>
          </p:nvCxnSpPr>
          <p:spPr bwMode="auto">
            <a:xfrm>
              <a:off x="1828800" y="4875213"/>
              <a:ext cx="457200" cy="1587"/>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7E6C9999-3292-49C7-AA13-09FF4BF46398}"/>
                </a:ext>
              </a:extLst>
            </p:cNvPr>
            <p:cNvCxnSpPr/>
            <p:nvPr/>
          </p:nvCxnSpPr>
          <p:spPr bwMode="auto">
            <a:xfrm rot="5400000">
              <a:off x="573881" y="3620294"/>
              <a:ext cx="2511425"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5">
              <a:extLst>
                <a:ext uri="{FF2B5EF4-FFF2-40B4-BE49-F238E27FC236}">
                  <a16:creationId xmlns:a16="http://schemas.microsoft.com/office/drawing/2014/main" id="{0D79BC88-64E0-4D27-9007-964922297172}"/>
                </a:ext>
              </a:extLst>
            </p:cNvPr>
            <p:cNvSpPr txBox="1">
              <a:spLocks noChangeArrowheads="1"/>
            </p:cNvSpPr>
            <p:nvPr/>
          </p:nvSpPr>
          <p:spPr bwMode="auto">
            <a:xfrm>
              <a:off x="152400" y="3276600"/>
              <a:ext cx="1143000" cy="1692771"/>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lvl="1" algn="ctr"/>
              <a:r>
                <a:rPr lang="zh-CN" altLang="en-US" sz="2600" dirty="0">
                  <a:solidFill>
                    <a:prstClr val="black"/>
                  </a:solidFill>
                  <a:latin typeface="华文楷体" panose="02010600040101010101" pitchFamily="2" charset="-122"/>
                  <a:ea typeface="华文楷体" panose="02010600040101010101" pitchFamily="2" charset="-122"/>
                </a:rPr>
                <a:t>状态空间搜索策略</a:t>
              </a:r>
              <a:endParaRPr lang="en-US" altLang="zh-CN" sz="2600" dirty="0">
                <a:solidFill>
                  <a:prstClr val="black"/>
                </a:solidFill>
                <a:latin typeface="华文楷体" panose="02010600040101010101" pitchFamily="2" charset="-122"/>
                <a:ea typeface="华文楷体" panose="02010600040101010101" pitchFamily="2" charset="-122"/>
              </a:endParaRPr>
            </a:p>
          </p:txBody>
        </p:sp>
        <p:cxnSp>
          <p:nvCxnSpPr>
            <p:cNvPr id="13" name="直接连接符 12">
              <a:extLst>
                <a:ext uri="{FF2B5EF4-FFF2-40B4-BE49-F238E27FC236}">
                  <a16:creationId xmlns:a16="http://schemas.microsoft.com/office/drawing/2014/main" id="{3806D9AB-38A3-4C4F-BE23-8C1FB1B490AE}"/>
                </a:ext>
              </a:extLst>
            </p:cNvPr>
            <p:cNvCxnSpPr/>
            <p:nvPr/>
          </p:nvCxnSpPr>
          <p:spPr bwMode="auto">
            <a:xfrm>
              <a:off x="4648200" y="1752600"/>
              <a:ext cx="457200" cy="1588"/>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9E218FB1-420C-4616-B9E8-200C233DBC5B}"/>
                </a:ext>
              </a:extLst>
            </p:cNvPr>
            <p:cNvCxnSpPr/>
            <p:nvPr/>
          </p:nvCxnSpPr>
          <p:spPr bwMode="auto">
            <a:xfrm>
              <a:off x="4267200" y="2362200"/>
              <a:ext cx="838200" cy="1588"/>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11AA9DF5-07B3-435B-9126-3796A91FA147}"/>
                </a:ext>
              </a:extLst>
            </p:cNvPr>
            <p:cNvCxnSpPr/>
            <p:nvPr/>
          </p:nvCxnSpPr>
          <p:spPr bwMode="auto">
            <a:xfrm>
              <a:off x="1371600" y="3644900"/>
              <a:ext cx="457200" cy="1588"/>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7BE403D0-B445-47C4-A1B0-3ED0AFBCAF73}"/>
                </a:ext>
              </a:extLst>
            </p:cNvPr>
            <p:cNvCxnSpPr/>
            <p:nvPr/>
          </p:nvCxnSpPr>
          <p:spPr bwMode="auto">
            <a:xfrm rot="5400000">
              <a:off x="3696494" y="2705894"/>
              <a:ext cx="190341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44C3DA07-A35D-449D-B12C-0B02E242455F}"/>
                </a:ext>
              </a:extLst>
            </p:cNvPr>
            <p:cNvCxnSpPr/>
            <p:nvPr/>
          </p:nvCxnSpPr>
          <p:spPr bwMode="auto">
            <a:xfrm>
              <a:off x="4648200" y="3656013"/>
              <a:ext cx="457200" cy="1587"/>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4">
              <a:extLst>
                <a:ext uri="{FF2B5EF4-FFF2-40B4-BE49-F238E27FC236}">
                  <a16:creationId xmlns:a16="http://schemas.microsoft.com/office/drawing/2014/main" id="{4EBFC19C-0BAE-483D-B482-3121DE16618D}"/>
                </a:ext>
              </a:extLst>
            </p:cNvPr>
            <p:cNvSpPr txBox="1">
              <a:spLocks noChangeArrowheads="1"/>
            </p:cNvSpPr>
            <p:nvPr/>
          </p:nvSpPr>
          <p:spPr bwMode="auto">
            <a:xfrm>
              <a:off x="5181600" y="1524000"/>
              <a:ext cx="2352592" cy="492443"/>
            </a:xfrm>
            <a:prstGeom prst="rect">
              <a:avLst/>
            </a:prstGeom>
            <a:solidFill>
              <a:srgbClr val="92D050"/>
            </a:solidFill>
            <a:ln w="9525">
              <a:noFill/>
              <a:miter lim="800000"/>
            </a:ln>
          </p:spPr>
          <p:txBody>
            <a:bodyPr wrap="square">
              <a:spAutoFit/>
            </a:bodyPr>
            <a:lstStyle/>
            <a:p>
              <a:pPr marL="0" lvl="1">
                <a:defRPr/>
              </a:pPr>
              <a:r>
                <a:rPr lang="zh-CN" altLang="en-US" sz="2600" kern="0" dirty="0">
                  <a:solidFill>
                    <a:prstClr val="black"/>
                  </a:solidFill>
                  <a:latin typeface="华文楷体" panose="02010600040101010101" pitchFamily="2" charset="-122"/>
                  <a:ea typeface="华文楷体" panose="02010600040101010101" pitchFamily="2" charset="-122"/>
                </a:rPr>
                <a:t>宽度优先搜索</a:t>
              </a:r>
              <a:endParaRPr lang="en-US" altLang="zh-CN" sz="2600" dirty="0">
                <a:solidFill>
                  <a:prstClr val="black"/>
                </a:solidFill>
                <a:latin typeface="华文楷体" panose="02010600040101010101" pitchFamily="2" charset="-122"/>
                <a:ea typeface="华文楷体" panose="02010600040101010101" pitchFamily="2" charset="-122"/>
              </a:endParaRPr>
            </a:p>
          </p:txBody>
        </p:sp>
        <p:sp>
          <p:nvSpPr>
            <p:cNvPr id="19" name="TextBox 15">
              <a:extLst>
                <a:ext uri="{FF2B5EF4-FFF2-40B4-BE49-F238E27FC236}">
                  <a16:creationId xmlns:a16="http://schemas.microsoft.com/office/drawing/2014/main" id="{1C7A38A0-1717-4DB8-A247-2492C77B1F4B}"/>
                </a:ext>
              </a:extLst>
            </p:cNvPr>
            <p:cNvSpPr txBox="1">
              <a:spLocks noChangeArrowheads="1"/>
            </p:cNvSpPr>
            <p:nvPr/>
          </p:nvSpPr>
          <p:spPr bwMode="auto">
            <a:xfrm>
              <a:off x="5181599" y="2128838"/>
              <a:ext cx="2362121" cy="492443"/>
            </a:xfrm>
            <a:prstGeom prst="rect">
              <a:avLst/>
            </a:prstGeom>
            <a:solidFill>
              <a:srgbClr val="92D050"/>
            </a:solidFill>
            <a:ln w="9525">
              <a:noFill/>
              <a:miter lim="800000"/>
            </a:ln>
          </p:spPr>
          <p:txBody>
            <a:bodyPr wrap="square">
              <a:spAutoFit/>
            </a:bodyPr>
            <a:lstStyle/>
            <a:p>
              <a:pPr marL="0" lvl="1">
                <a:defRPr/>
              </a:pPr>
              <a:r>
                <a:rPr lang="zh-CN" altLang="en-US" sz="2600" kern="0" dirty="0">
                  <a:solidFill>
                    <a:prstClr val="black"/>
                  </a:solidFill>
                  <a:latin typeface="华文楷体" panose="02010600040101010101" pitchFamily="2" charset="-122"/>
                  <a:ea typeface="华文楷体" panose="02010600040101010101" pitchFamily="2" charset="-122"/>
                </a:rPr>
                <a:t>深度优先搜索</a:t>
              </a:r>
              <a:endParaRPr lang="en-US" altLang="zh-CN" sz="2600" dirty="0">
                <a:solidFill>
                  <a:prstClr val="black"/>
                </a:solidFill>
                <a:latin typeface="华文楷体" panose="02010600040101010101" pitchFamily="2" charset="-122"/>
                <a:ea typeface="华文楷体" panose="02010600040101010101" pitchFamily="2" charset="-122"/>
              </a:endParaRPr>
            </a:p>
          </p:txBody>
        </p:sp>
        <p:sp>
          <p:nvSpPr>
            <p:cNvPr id="20" name="TextBox 16">
              <a:extLst>
                <a:ext uri="{FF2B5EF4-FFF2-40B4-BE49-F238E27FC236}">
                  <a16:creationId xmlns:a16="http://schemas.microsoft.com/office/drawing/2014/main" id="{BF7D5DCD-5F91-45A1-87A3-4F55FE665F20}"/>
                </a:ext>
              </a:extLst>
            </p:cNvPr>
            <p:cNvSpPr txBox="1">
              <a:spLocks noChangeArrowheads="1"/>
            </p:cNvSpPr>
            <p:nvPr/>
          </p:nvSpPr>
          <p:spPr bwMode="auto">
            <a:xfrm>
              <a:off x="5181600" y="3429000"/>
              <a:ext cx="2133600" cy="492443"/>
            </a:xfrm>
            <a:prstGeom prst="rect">
              <a:avLst/>
            </a:prstGeom>
            <a:solidFill>
              <a:srgbClr val="92D050"/>
            </a:solidFill>
            <a:ln w="9525">
              <a:noFill/>
              <a:miter lim="800000"/>
            </a:ln>
          </p:spPr>
          <p:txBody>
            <a:bodyPr>
              <a:spAutoFit/>
            </a:bodyPr>
            <a:lstStyle/>
            <a:p>
              <a:pPr marL="0" lvl="1">
                <a:defRPr/>
              </a:pPr>
              <a:r>
                <a:rPr lang="zh-CN" altLang="en-US" sz="2600" kern="0" dirty="0">
                  <a:solidFill>
                    <a:prstClr val="black"/>
                  </a:solidFill>
                  <a:latin typeface="华文楷体" panose="02010600040101010101" pitchFamily="2" charset="-122"/>
                  <a:ea typeface="华文楷体" panose="02010600040101010101" pitchFamily="2" charset="-122"/>
                </a:rPr>
                <a:t>代价树搜索</a:t>
              </a:r>
              <a:endParaRPr lang="en-US" altLang="zh-CN" sz="2600" dirty="0">
                <a:solidFill>
                  <a:prstClr val="black"/>
                </a:solidFill>
                <a:latin typeface="华文楷体" panose="02010600040101010101" pitchFamily="2" charset="-122"/>
                <a:ea typeface="华文楷体" panose="02010600040101010101" pitchFamily="2" charset="-122"/>
              </a:endParaRPr>
            </a:p>
          </p:txBody>
        </p:sp>
        <p:cxnSp>
          <p:nvCxnSpPr>
            <p:cNvPr id="21" name="直接连接符 20">
              <a:extLst>
                <a:ext uri="{FF2B5EF4-FFF2-40B4-BE49-F238E27FC236}">
                  <a16:creationId xmlns:a16="http://schemas.microsoft.com/office/drawing/2014/main" id="{A620AF75-018C-4F68-892E-C8793BF873ED}"/>
                </a:ext>
              </a:extLst>
            </p:cNvPr>
            <p:cNvCxnSpPr/>
            <p:nvPr/>
          </p:nvCxnSpPr>
          <p:spPr bwMode="auto">
            <a:xfrm>
              <a:off x="4648200" y="4567238"/>
              <a:ext cx="457200" cy="1587"/>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6F4E38C-1450-4295-B532-0B5EDF44D7CB}"/>
                </a:ext>
              </a:extLst>
            </p:cNvPr>
            <p:cNvCxnSpPr/>
            <p:nvPr/>
          </p:nvCxnSpPr>
          <p:spPr bwMode="auto">
            <a:xfrm rot="5400000">
              <a:off x="4341812" y="4875213"/>
              <a:ext cx="6127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19">
              <a:extLst>
                <a:ext uri="{FF2B5EF4-FFF2-40B4-BE49-F238E27FC236}">
                  <a16:creationId xmlns:a16="http://schemas.microsoft.com/office/drawing/2014/main" id="{03B26B77-DB2D-4933-B31B-41744CD131DF}"/>
                </a:ext>
              </a:extLst>
            </p:cNvPr>
            <p:cNvSpPr txBox="1">
              <a:spLocks noChangeArrowheads="1"/>
            </p:cNvSpPr>
            <p:nvPr/>
          </p:nvSpPr>
          <p:spPr bwMode="auto">
            <a:xfrm>
              <a:off x="5181600" y="4338638"/>
              <a:ext cx="2133600" cy="492443"/>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lvl="1"/>
              <a:r>
                <a:rPr lang="en-US" altLang="zh-CN" sz="2600">
                  <a:solidFill>
                    <a:prstClr val="black"/>
                  </a:solidFill>
                  <a:latin typeface="华文楷体" panose="02010600040101010101" pitchFamily="2" charset="-122"/>
                  <a:ea typeface="华文楷体" panose="02010600040101010101" pitchFamily="2" charset="-122"/>
                </a:rPr>
                <a:t>A</a:t>
              </a:r>
              <a:r>
                <a:rPr lang="zh-CN" altLang="en-US" sz="2600">
                  <a:solidFill>
                    <a:prstClr val="black"/>
                  </a:solidFill>
                  <a:latin typeface="华文楷体" panose="02010600040101010101" pitchFamily="2" charset="-122"/>
                  <a:ea typeface="华文楷体" panose="02010600040101010101" pitchFamily="2" charset="-122"/>
                </a:rPr>
                <a:t>算法</a:t>
              </a:r>
              <a:endParaRPr lang="en-US" altLang="zh-CN" sz="2600">
                <a:solidFill>
                  <a:prstClr val="black"/>
                </a:solidFill>
                <a:latin typeface="华文楷体" panose="02010600040101010101" pitchFamily="2" charset="-122"/>
                <a:ea typeface="华文楷体" panose="02010600040101010101" pitchFamily="2" charset="-122"/>
              </a:endParaRPr>
            </a:p>
          </p:txBody>
        </p:sp>
        <p:sp>
          <p:nvSpPr>
            <p:cNvPr id="24" name="TextBox 20">
              <a:extLst>
                <a:ext uri="{FF2B5EF4-FFF2-40B4-BE49-F238E27FC236}">
                  <a16:creationId xmlns:a16="http://schemas.microsoft.com/office/drawing/2014/main" id="{2F6C15C3-117C-4FE7-BDCD-524EDE7B658B}"/>
                </a:ext>
              </a:extLst>
            </p:cNvPr>
            <p:cNvSpPr txBox="1">
              <a:spLocks noChangeArrowheads="1"/>
            </p:cNvSpPr>
            <p:nvPr/>
          </p:nvSpPr>
          <p:spPr bwMode="auto">
            <a:xfrm>
              <a:off x="5181600" y="4948238"/>
              <a:ext cx="2133600" cy="492443"/>
            </a:xfrm>
            <a:prstGeom prst="rect">
              <a:avLst/>
            </a:prstGeom>
            <a:solidFill>
              <a:srgbClr val="92D050"/>
            </a:solidFill>
            <a:ln w="9525">
              <a:noFill/>
              <a:miter lim="800000"/>
            </a:ln>
          </p:spPr>
          <p:txBody>
            <a:bodyPr>
              <a:spAutoFit/>
            </a:bodyPr>
            <a:lstStyle/>
            <a:p>
              <a:pPr marL="0" lvl="1">
                <a:defRPr/>
              </a:pPr>
              <a:r>
                <a:rPr lang="en-US" altLang="zh-CN" sz="2600" kern="0" dirty="0">
                  <a:solidFill>
                    <a:prstClr val="black"/>
                  </a:solidFill>
                  <a:latin typeface="华文楷体" panose="02010600040101010101" pitchFamily="2" charset="-122"/>
                  <a:ea typeface="华文楷体" panose="02010600040101010101" pitchFamily="2" charset="-122"/>
                </a:rPr>
                <a:t>A*</a:t>
              </a:r>
              <a:r>
                <a:rPr lang="zh-CN" altLang="en-US" sz="2600" kern="0" dirty="0">
                  <a:solidFill>
                    <a:prstClr val="black"/>
                  </a:solidFill>
                  <a:latin typeface="华文楷体" panose="02010600040101010101" pitchFamily="2" charset="-122"/>
                  <a:ea typeface="华文楷体" panose="02010600040101010101" pitchFamily="2" charset="-122"/>
                </a:rPr>
                <a:t>算法</a:t>
              </a:r>
              <a:endParaRPr lang="en-US" altLang="zh-CN" sz="2600" dirty="0">
                <a:solidFill>
                  <a:prstClr val="black"/>
                </a:solidFill>
                <a:latin typeface="华文楷体" panose="02010600040101010101" pitchFamily="2" charset="-122"/>
                <a:ea typeface="华文楷体" panose="02010600040101010101" pitchFamily="2" charset="-122"/>
              </a:endParaRPr>
            </a:p>
          </p:txBody>
        </p:sp>
        <p:cxnSp>
          <p:nvCxnSpPr>
            <p:cNvPr id="25" name="直接连接符 24">
              <a:extLst>
                <a:ext uri="{FF2B5EF4-FFF2-40B4-BE49-F238E27FC236}">
                  <a16:creationId xmlns:a16="http://schemas.microsoft.com/office/drawing/2014/main" id="{F2B7DB03-6636-4C16-80D0-A818BE371578}"/>
                </a:ext>
              </a:extLst>
            </p:cNvPr>
            <p:cNvCxnSpPr/>
            <p:nvPr/>
          </p:nvCxnSpPr>
          <p:spPr bwMode="auto">
            <a:xfrm>
              <a:off x="4267200" y="4875213"/>
              <a:ext cx="381000" cy="1587"/>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2">
              <a:extLst>
                <a:ext uri="{FF2B5EF4-FFF2-40B4-BE49-F238E27FC236}">
                  <a16:creationId xmlns:a16="http://schemas.microsoft.com/office/drawing/2014/main" id="{7174DE57-C5E4-45AE-8E3F-9D73642AC3D9}"/>
                </a:ext>
              </a:extLst>
            </p:cNvPr>
            <p:cNvSpPr txBox="1">
              <a:spLocks noChangeArrowheads="1"/>
            </p:cNvSpPr>
            <p:nvPr/>
          </p:nvSpPr>
          <p:spPr bwMode="auto">
            <a:xfrm>
              <a:off x="6172200" y="2738438"/>
              <a:ext cx="2890838" cy="492443"/>
            </a:xfrm>
            <a:prstGeom prst="rect">
              <a:avLst/>
            </a:prstGeom>
            <a:solidFill>
              <a:srgbClr val="92D050"/>
            </a:solidFill>
            <a:ln w="9525">
              <a:noFill/>
              <a:miter lim="800000"/>
            </a:ln>
          </p:spPr>
          <p:txBody>
            <a:bodyPr wrap="square">
              <a:spAutoFit/>
            </a:bodyPr>
            <a:lstStyle/>
            <a:p>
              <a:pPr marL="0" lvl="1">
                <a:defRPr/>
              </a:pPr>
              <a:r>
                <a:rPr lang="zh-CN" altLang="en-US" sz="2600" kern="0" dirty="0">
                  <a:solidFill>
                    <a:prstClr val="black"/>
                  </a:solidFill>
                  <a:latin typeface="华文楷体" panose="02010600040101010101" pitchFamily="2" charset="-122"/>
                  <a:ea typeface="华文楷体" panose="02010600040101010101" pitchFamily="2" charset="-122"/>
                </a:rPr>
                <a:t>有限深度优先搜索</a:t>
              </a:r>
              <a:endParaRPr lang="en-US" altLang="zh-CN" sz="2600" dirty="0">
                <a:solidFill>
                  <a:prstClr val="black"/>
                </a:solidFill>
                <a:latin typeface="华文楷体" panose="02010600040101010101" pitchFamily="2" charset="-122"/>
                <a:ea typeface="华文楷体" panose="02010600040101010101" pitchFamily="2" charset="-122"/>
              </a:endParaRPr>
            </a:p>
          </p:txBody>
        </p:sp>
        <p:cxnSp>
          <p:nvCxnSpPr>
            <p:cNvPr id="27" name="直接连接符 26">
              <a:extLst>
                <a:ext uri="{FF2B5EF4-FFF2-40B4-BE49-F238E27FC236}">
                  <a16:creationId xmlns:a16="http://schemas.microsoft.com/office/drawing/2014/main" id="{D0B1B0E9-EC5E-4939-BF2C-7D15621847D5}"/>
                </a:ext>
              </a:extLst>
            </p:cNvPr>
            <p:cNvCxnSpPr/>
            <p:nvPr/>
          </p:nvCxnSpPr>
          <p:spPr bwMode="auto">
            <a:xfrm>
              <a:off x="4648200" y="5181600"/>
              <a:ext cx="457200" cy="1588"/>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3A8E84B1-2A3E-448C-9F32-F83960A6ACA3}"/>
                </a:ext>
              </a:extLst>
            </p:cNvPr>
            <p:cNvCxnSpPr/>
            <p:nvPr/>
          </p:nvCxnSpPr>
          <p:spPr bwMode="auto">
            <a:xfrm rot="5400000">
              <a:off x="5600701" y="2781300"/>
              <a:ext cx="381000" cy="3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C1143B9E-4EEC-43C3-B303-55AF448835B8}"/>
                </a:ext>
              </a:extLst>
            </p:cNvPr>
            <p:cNvCxnSpPr>
              <a:cxnSpLocks/>
              <a:endCxn id="26" idx="1"/>
            </p:cNvCxnSpPr>
            <p:nvPr/>
          </p:nvCxnSpPr>
          <p:spPr bwMode="auto">
            <a:xfrm>
              <a:off x="5791200" y="2971801"/>
              <a:ext cx="381000" cy="12859"/>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文本框 29">
            <a:extLst>
              <a:ext uri="{FF2B5EF4-FFF2-40B4-BE49-F238E27FC236}">
                <a16:creationId xmlns:a16="http://schemas.microsoft.com/office/drawing/2014/main" id="{85D3D9FA-309B-4A06-9155-93AFC26A4C10}"/>
              </a:ext>
            </a:extLst>
          </p:cNvPr>
          <p:cNvSpPr txBox="1"/>
          <p:nvPr/>
        </p:nvSpPr>
        <p:spPr>
          <a:xfrm>
            <a:off x="1995268" y="1134181"/>
            <a:ext cx="4572000" cy="584775"/>
          </a:xfrm>
          <a:prstGeom prst="rect">
            <a:avLst/>
          </a:prstGeom>
          <a:noFill/>
        </p:spPr>
        <p:txBody>
          <a:bodyPr wrap="square">
            <a:spAutoFit/>
          </a:bodyPr>
          <a:lstStyle/>
          <a:p>
            <a:r>
              <a:rPr lang="zh-CN" altLang="en-US" sz="3200" dirty="0">
                <a:solidFill>
                  <a:srgbClr val="FF0000"/>
                </a:solidFill>
                <a:latin typeface="方正姚体" panose="02010601030101010101" pitchFamily="2" charset="-122"/>
                <a:ea typeface="方正姚体" panose="02010601030101010101" pitchFamily="2" charset="-122"/>
              </a:rPr>
              <a:t>状态空间搜索策略</a:t>
            </a:r>
          </a:p>
        </p:txBody>
      </p:sp>
    </p:spTree>
    <p:extLst>
      <p:ext uri="{BB962C8B-B14F-4D97-AF65-F5344CB8AC3E}">
        <p14:creationId xmlns:p14="http://schemas.microsoft.com/office/powerpoint/2010/main" val="94628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5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搜索算法的形式化描述</a:t>
            </a:r>
          </a:p>
        </p:txBody>
      </p:sp>
      <p:sp>
        <p:nvSpPr>
          <p:cNvPr id="9" name="Rectangle 19"/>
          <p:cNvSpPr>
            <a:spLocks noChangeArrowheads="1"/>
          </p:cNvSpPr>
          <p:nvPr/>
        </p:nvSpPr>
        <p:spPr bwMode="auto">
          <a:xfrm>
            <a:off x="7131758" y="2021983"/>
            <a:ext cx="3324125" cy="1368727"/>
          </a:xfrm>
          <a:prstGeom prst="rect">
            <a:avLst/>
          </a:prstGeom>
          <a:gradFill>
            <a:gsLst>
              <a:gs pos="0">
                <a:srgbClr val="FFEFD1"/>
              </a:gs>
              <a:gs pos="64999">
                <a:srgbClr val="F0EBD5"/>
              </a:gs>
              <a:gs pos="100000">
                <a:srgbClr val="D1C39F"/>
              </a:gs>
            </a:gsLst>
            <a:lin ang="16200000" scaled="0"/>
          </a:gradFill>
          <a:ln>
            <a:headEnd/>
            <a:tailEnd/>
          </a:ln>
          <a:effectLst>
            <a:glow>
              <a:schemeClr val="accent3"/>
            </a:glow>
            <a:outerShdw blurRad="63500" sx="102000" sy="102000" algn="ctr"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wrap="square" anchor="ctr">
            <a:noAutofit/>
          </a:bodyPr>
          <a:lstStyle/>
          <a:p>
            <a:pPr>
              <a:lnSpc>
                <a:spcPct val="120000"/>
              </a:lnSpc>
              <a:buClr>
                <a:srgbClr val="EEECE1"/>
              </a:buClr>
              <a:buSzPct val="75000"/>
              <a:defRPr/>
            </a:pPr>
            <a:r>
              <a:rPr lang="zh-CN" altLang="en-US" dirty="0">
                <a:solidFill>
                  <a:prstClr val="black"/>
                </a:solidFill>
                <a:latin typeface="Times New Roman"/>
                <a:ea typeface="黑体" pitchFamily="49" charset="-122"/>
              </a:rPr>
              <a:t>对智能体和环境当前情形的描述。在例如，最短路径问题中，城市可作为状态。将原问题对应的状态称为初始状态。</a:t>
            </a:r>
          </a:p>
        </p:txBody>
      </p:sp>
      <p:sp>
        <p:nvSpPr>
          <p:cNvPr id="2" name="矩形 1"/>
          <p:cNvSpPr/>
          <p:nvPr/>
        </p:nvSpPr>
        <p:spPr>
          <a:xfrm>
            <a:off x="6161169" y="2639291"/>
            <a:ext cx="800219" cy="424732"/>
          </a:xfrm>
          <a:prstGeom prst="rect">
            <a:avLst/>
          </a:prstGeom>
        </p:spPr>
        <p:txBody>
          <a:bodyPr wrap="none">
            <a:spAutoFit/>
          </a:bodyPr>
          <a:lstStyle/>
          <a:p>
            <a:pPr marL="342900" indent="-342900" algn="ctr">
              <a:lnSpc>
                <a:spcPct val="90000"/>
              </a:lnSpc>
              <a:spcBef>
                <a:spcPct val="20000"/>
              </a:spcBef>
              <a:buClr>
                <a:srgbClr val="EEECE1"/>
              </a:buClr>
              <a:buSzPct val="75000"/>
              <a:defRPr/>
            </a:pPr>
            <a:r>
              <a:rPr lang="zh-CN" altLang="en-US" sz="2400" dirty="0">
                <a:solidFill>
                  <a:srgbClr val="C00000"/>
                </a:solidFill>
                <a:latin typeface="Times New Roman"/>
                <a:ea typeface="黑体" pitchFamily="49" charset="-122"/>
              </a:rPr>
              <a:t>状态</a:t>
            </a:r>
            <a:endParaRPr lang="en-US" altLang="zh-CN" sz="2400" dirty="0">
              <a:solidFill>
                <a:srgbClr val="C00000"/>
              </a:solidFill>
              <a:latin typeface="Times New Roman"/>
              <a:ea typeface="黑体" pitchFamily="49" charset="-122"/>
            </a:endParaRPr>
          </a:p>
        </p:txBody>
      </p:sp>
      <p:sp>
        <p:nvSpPr>
          <p:cNvPr id="10" name="Rectangle 19"/>
          <p:cNvSpPr>
            <a:spLocks noChangeArrowheads="1"/>
          </p:cNvSpPr>
          <p:nvPr/>
        </p:nvSpPr>
        <p:spPr bwMode="auto">
          <a:xfrm>
            <a:off x="7131757" y="4009107"/>
            <a:ext cx="3324125" cy="1368727"/>
          </a:xfrm>
          <a:prstGeom prst="rect">
            <a:avLst/>
          </a:prstGeom>
          <a:gradFill>
            <a:gsLst>
              <a:gs pos="0">
                <a:srgbClr val="FFEFD1"/>
              </a:gs>
              <a:gs pos="64999">
                <a:srgbClr val="F0EBD5"/>
              </a:gs>
              <a:gs pos="100000">
                <a:srgbClr val="D1C39F"/>
              </a:gs>
            </a:gsLst>
            <a:lin ang="16200000" scaled="0"/>
          </a:gradFill>
          <a:ln>
            <a:headEnd/>
            <a:tailEnd/>
          </a:ln>
          <a:effectLst>
            <a:glow>
              <a:schemeClr val="accent3"/>
            </a:glow>
            <a:outerShdw blurRad="63500" sx="102000" sy="102000" algn="ctr"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wrap="square" anchor="ctr">
            <a:noAutofit/>
          </a:bodyPr>
          <a:lstStyle/>
          <a:p>
            <a:pPr>
              <a:lnSpc>
                <a:spcPct val="130000"/>
              </a:lnSpc>
              <a:buClr>
                <a:srgbClr val="EEECE1"/>
              </a:buClr>
              <a:buSzPct val="75000"/>
              <a:defRPr/>
            </a:pPr>
            <a:r>
              <a:rPr lang="zh-CN" altLang="en-US" dirty="0">
                <a:solidFill>
                  <a:prstClr val="black"/>
                </a:solidFill>
                <a:latin typeface="Times New Roman"/>
                <a:ea typeface="黑体" pitchFamily="49" charset="-122"/>
              </a:rPr>
              <a:t>从当前时刻所处状态转移到下</a:t>
            </a:r>
            <a:endParaRPr lang="en-US" altLang="zh-CN" dirty="0">
              <a:solidFill>
                <a:prstClr val="black"/>
              </a:solidFill>
              <a:latin typeface="Times New Roman"/>
              <a:ea typeface="黑体" pitchFamily="49" charset="-122"/>
            </a:endParaRPr>
          </a:p>
          <a:p>
            <a:pPr>
              <a:lnSpc>
                <a:spcPct val="130000"/>
              </a:lnSpc>
              <a:buClr>
                <a:srgbClr val="EEECE1"/>
              </a:buClr>
              <a:buSzPct val="75000"/>
              <a:defRPr/>
            </a:pPr>
            <a:r>
              <a:rPr lang="zh-CN" altLang="en-US" dirty="0">
                <a:solidFill>
                  <a:prstClr val="black"/>
                </a:solidFill>
                <a:latin typeface="Times New Roman"/>
                <a:ea typeface="黑体" pitchFamily="49" charset="-122"/>
              </a:rPr>
              <a:t>一时刻所处状态所进行操作。</a:t>
            </a:r>
            <a:endParaRPr lang="en-US" altLang="zh-CN" dirty="0">
              <a:solidFill>
                <a:prstClr val="black"/>
              </a:solidFill>
              <a:latin typeface="Times New Roman"/>
              <a:ea typeface="黑体" pitchFamily="49" charset="-122"/>
            </a:endParaRPr>
          </a:p>
          <a:p>
            <a:pPr>
              <a:lnSpc>
                <a:spcPct val="130000"/>
              </a:lnSpc>
              <a:buClr>
                <a:srgbClr val="EEECE1"/>
              </a:buClr>
              <a:buSzPct val="75000"/>
              <a:defRPr/>
            </a:pPr>
            <a:r>
              <a:rPr lang="zh-CN" altLang="en-US" dirty="0">
                <a:solidFill>
                  <a:prstClr val="black"/>
                </a:solidFill>
                <a:latin typeface="Times New Roman"/>
                <a:ea typeface="黑体" pitchFamily="49" charset="-122"/>
              </a:rPr>
              <a:t>一般而言这些操作都是离散的。</a:t>
            </a:r>
          </a:p>
        </p:txBody>
      </p:sp>
      <p:sp>
        <p:nvSpPr>
          <p:cNvPr id="11" name="矩形 10"/>
          <p:cNvSpPr/>
          <p:nvPr/>
        </p:nvSpPr>
        <p:spPr>
          <a:xfrm>
            <a:off x="6161169" y="4432896"/>
            <a:ext cx="800219" cy="424732"/>
          </a:xfrm>
          <a:prstGeom prst="rect">
            <a:avLst/>
          </a:prstGeom>
        </p:spPr>
        <p:txBody>
          <a:bodyPr wrap="none">
            <a:spAutoFit/>
          </a:bodyPr>
          <a:lstStyle/>
          <a:p>
            <a:pPr marL="342900" indent="-342900" algn="ctr">
              <a:lnSpc>
                <a:spcPct val="90000"/>
              </a:lnSpc>
              <a:spcBef>
                <a:spcPct val="20000"/>
              </a:spcBef>
              <a:buClr>
                <a:srgbClr val="EEECE1"/>
              </a:buClr>
              <a:buSzPct val="75000"/>
              <a:defRPr/>
            </a:pPr>
            <a:r>
              <a:rPr lang="zh-CN" altLang="en-US" sz="2400" dirty="0">
                <a:solidFill>
                  <a:srgbClr val="C00000"/>
                </a:solidFill>
                <a:latin typeface="Times New Roman"/>
                <a:ea typeface="黑体" pitchFamily="49" charset="-122"/>
              </a:rPr>
              <a:t>动作</a:t>
            </a:r>
            <a:endParaRPr lang="en-US" altLang="zh-CN" sz="2400" dirty="0">
              <a:solidFill>
                <a:srgbClr val="C00000"/>
              </a:solidFill>
              <a:latin typeface="Times New Roman"/>
              <a:ea typeface="黑体" pitchFamily="49" charset="-122"/>
            </a:endParaRPr>
          </a:p>
        </p:txBody>
      </p:sp>
      <p:grpSp>
        <p:nvGrpSpPr>
          <p:cNvPr id="4" name="组合 3"/>
          <p:cNvGrpSpPr/>
          <p:nvPr/>
        </p:nvGrpSpPr>
        <p:grpSpPr>
          <a:xfrm>
            <a:off x="1843217" y="2127168"/>
            <a:ext cx="3964399" cy="3403885"/>
            <a:chOff x="135465" y="2087052"/>
            <a:chExt cx="4271281" cy="3403885"/>
          </a:xfrm>
        </p:grpSpPr>
        <p:sp>
          <p:nvSpPr>
            <p:cNvPr id="7" name="矩形 6"/>
            <p:cNvSpPr/>
            <p:nvPr/>
          </p:nvSpPr>
          <p:spPr>
            <a:xfrm>
              <a:off x="135465" y="4844606"/>
              <a:ext cx="4271281" cy="646331"/>
            </a:xfrm>
            <a:prstGeom prst="rect">
              <a:avLst/>
            </a:prstGeom>
          </p:spPr>
          <p:txBody>
            <a:bodyPr wrap="square">
              <a:spAutoFit/>
            </a:bodyPr>
            <a:lstStyle/>
            <a:p>
              <a:pPr algn="ctr"/>
              <a:r>
                <a:rPr lang="zh-CN" altLang="en-US"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问题：寻找从城市</a:t>
              </a:r>
              <a:r>
                <a:rPr lang="en-US" altLang="zh-CN"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到城市</a:t>
              </a:r>
              <a:r>
                <a:rPr lang="en-US" altLang="zh-CN"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K</a:t>
              </a:r>
              <a:r>
                <a:rPr lang="zh-CN" altLang="en-US"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之间行驶时间最短路线？</a:t>
              </a:r>
              <a:endParaRPr lang="en-US" altLang="zh-CN"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707" y="2087052"/>
              <a:ext cx="4131039" cy="2539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椭圆 2"/>
            <p:cNvSpPr/>
            <p:nvPr/>
          </p:nvSpPr>
          <p:spPr>
            <a:xfrm>
              <a:off x="749147" y="2639291"/>
              <a:ext cx="583894" cy="423398"/>
            </a:xfrm>
            <a:prstGeom prst="ellipse">
              <a:avLst/>
            </a:prstGeom>
            <a:solidFill>
              <a:srgbClr val="FFC000">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a:ea typeface="黑体"/>
              </a:endParaRPr>
            </a:p>
          </p:txBody>
        </p:sp>
        <p:sp>
          <p:nvSpPr>
            <p:cNvPr id="16" name="椭圆 15"/>
            <p:cNvSpPr/>
            <p:nvPr/>
          </p:nvSpPr>
          <p:spPr>
            <a:xfrm>
              <a:off x="2851533" y="3706091"/>
              <a:ext cx="583894" cy="423398"/>
            </a:xfrm>
            <a:prstGeom prst="ellipse">
              <a:avLst/>
            </a:prstGeom>
            <a:solidFill>
              <a:srgbClr val="FFC000">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a:ea typeface="黑体"/>
              </a:endParaRPr>
            </a:p>
          </p:txBody>
        </p:sp>
      </p:grpSp>
      <p:sp>
        <p:nvSpPr>
          <p:cNvPr id="13" name="文本框 12">
            <a:extLst>
              <a:ext uri="{FF2B5EF4-FFF2-40B4-BE49-F238E27FC236}">
                <a16:creationId xmlns:a16="http://schemas.microsoft.com/office/drawing/2014/main" id="{A88BE83B-8DF4-4FC0-ABC2-80D6D989D818}"/>
              </a:ext>
            </a:extLst>
          </p:cNvPr>
          <p:cNvSpPr txBox="1"/>
          <p:nvPr/>
        </p:nvSpPr>
        <p:spPr>
          <a:xfrm>
            <a:off x="1795538" y="1180413"/>
            <a:ext cx="8270416" cy="523220"/>
          </a:xfrm>
          <a:prstGeom prst="rect">
            <a:avLst/>
          </a:prstGeom>
          <a:noFill/>
        </p:spPr>
        <p:txBody>
          <a:bodyPr wrap="square">
            <a:spAutoFit/>
          </a:bodyPr>
          <a:lstStyle/>
          <a:p>
            <a:r>
              <a:rPr lang="en-US" altLang="zh-CN" sz="28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 &lt;</a:t>
            </a:r>
            <a:r>
              <a:rPr lang="zh-CN" altLang="en-US" sz="28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状态、动作、状态转移、路径</a:t>
            </a:r>
            <a:r>
              <a:rPr lang="en-US" altLang="zh-CN" sz="28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8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代价、目标测试</a:t>
            </a:r>
            <a:r>
              <a:rPr lang="en-US" altLang="zh-CN" sz="28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800" dirty="0">
              <a:solidFill>
                <a:srgbClr val="C00000"/>
              </a:solidFill>
              <a:latin typeface="Times New Roman"/>
              <a:ea typeface="黑体"/>
            </a:endParaRPr>
          </a:p>
        </p:txBody>
      </p:sp>
    </p:spTree>
    <p:extLst>
      <p:ext uri="{BB962C8B-B14F-4D97-AF65-F5344CB8AC3E}">
        <p14:creationId xmlns:p14="http://schemas.microsoft.com/office/powerpoint/2010/main" val="233392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p:bldP spid="10" grpId="0" animBg="1"/>
      <p:bldP spid="11"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9"/>
          <p:cNvSpPr>
            <a:spLocks noChangeArrowheads="1"/>
          </p:cNvSpPr>
          <p:nvPr/>
        </p:nvSpPr>
        <p:spPr bwMode="auto">
          <a:xfrm>
            <a:off x="7362092" y="1916187"/>
            <a:ext cx="2813971" cy="1048321"/>
          </a:xfrm>
          <a:prstGeom prst="rect">
            <a:avLst/>
          </a:prstGeom>
          <a:gradFill>
            <a:gsLst>
              <a:gs pos="0">
                <a:srgbClr val="FFEFD1"/>
              </a:gs>
              <a:gs pos="64999">
                <a:srgbClr val="F0EBD5"/>
              </a:gs>
              <a:gs pos="100000">
                <a:srgbClr val="D1C39F"/>
              </a:gs>
            </a:gsLst>
            <a:lin ang="16200000" scaled="0"/>
          </a:gradFill>
          <a:ln>
            <a:headEnd/>
            <a:tailEnd/>
          </a:ln>
          <a:effectLst>
            <a:glow>
              <a:schemeClr val="accent3"/>
            </a:glow>
            <a:outerShdw blurRad="63500" sx="102000" sy="102000" algn="ctr"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wrap="square" anchor="ctr">
            <a:noAutofit/>
          </a:bodyPr>
          <a:lstStyle/>
          <a:p>
            <a:pPr>
              <a:lnSpc>
                <a:spcPct val="130000"/>
              </a:lnSpc>
              <a:buClr>
                <a:srgbClr val="EEECE1"/>
              </a:buClr>
              <a:buSzPct val="75000"/>
              <a:defRPr/>
            </a:pPr>
            <a:r>
              <a:rPr lang="zh-CN" altLang="en-US" dirty="0">
                <a:solidFill>
                  <a:prstClr val="black"/>
                </a:solidFill>
                <a:latin typeface="Times New Roman"/>
                <a:ea typeface="黑体" pitchFamily="49" charset="-122"/>
              </a:rPr>
              <a:t>智能体选择了一个动作之后，其所处状态的相应变化</a:t>
            </a:r>
          </a:p>
        </p:txBody>
      </p:sp>
      <p:sp>
        <p:nvSpPr>
          <p:cNvPr id="2" name="矩形 1"/>
          <p:cNvSpPr/>
          <p:nvPr/>
        </p:nvSpPr>
        <p:spPr>
          <a:xfrm>
            <a:off x="5878036" y="2171085"/>
            <a:ext cx="1415772" cy="424732"/>
          </a:xfrm>
          <a:prstGeom prst="rect">
            <a:avLst/>
          </a:prstGeom>
        </p:spPr>
        <p:txBody>
          <a:bodyPr wrap="none">
            <a:spAutoFit/>
          </a:bodyPr>
          <a:lstStyle/>
          <a:p>
            <a:pPr marL="342900" indent="-342900" algn="ctr">
              <a:lnSpc>
                <a:spcPct val="90000"/>
              </a:lnSpc>
              <a:spcBef>
                <a:spcPct val="20000"/>
              </a:spcBef>
              <a:buClr>
                <a:srgbClr val="EEECE1"/>
              </a:buClr>
              <a:buSzPct val="75000"/>
              <a:defRPr/>
            </a:pPr>
            <a:r>
              <a:rPr lang="zh-CN" altLang="en-US" sz="2400" dirty="0">
                <a:solidFill>
                  <a:srgbClr val="C00000"/>
                </a:solidFill>
                <a:latin typeface="Times New Roman"/>
                <a:ea typeface="黑体" pitchFamily="49" charset="-122"/>
              </a:rPr>
              <a:t>状态转移</a:t>
            </a:r>
            <a:endParaRPr lang="en-US" altLang="zh-CN" sz="2400" dirty="0">
              <a:solidFill>
                <a:srgbClr val="C00000"/>
              </a:solidFill>
              <a:latin typeface="Times New Roman"/>
              <a:ea typeface="黑体" pitchFamily="49" charset="-122"/>
            </a:endParaRPr>
          </a:p>
        </p:txBody>
      </p:sp>
      <p:sp>
        <p:nvSpPr>
          <p:cNvPr id="10" name="Rectangle 19"/>
          <p:cNvSpPr>
            <a:spLocks noChangeArrowheads="1"/>
          </p:cNvSpPr>
          <p:nvPr/>
        </p:nvSpPr>
        <p:spPr bwMode="auto">
          <a:xfrm>
            <a:off x="7362090" y="3331455"/>
            <a:ext cx="2813972" cy="1048321"/>
          </a:xfrm>
          <a:prstGeom prst="rect">
            <a:avLst/>
          </a:prstGeom>
          <a:gradFill>
            <a:gsLst>
              <a:gs pos="0">
                <a:srgbClr val="FFEFD1"/>
              </a:gs>
              <a:gs pos="64999">
                <a:srgbClr val="F0EBD5"/>
              </a:gs>
              <a:gs pos="100000">
                <a:srgbClr val="D1C39F"/>
              </a:gs>
            </a:gsLst>
            <a:lin ang="16200000" scaled="0"/>
          </a:gradFill>
          <a:ln>
            <a:headEnd/>
            <a:tailEnd/>
          </a:ln>
          <a:effectLst>
            <a:glow>
              <a:schemeClr val="accent3"/>
            </a:glow>
            <a:outerShdw blurRad="63500" sx="102000" sy="102000" algn="ctr"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wrap="square" anchor="ctr">
            <a:noAutofit/>
          </a:bodyPr>
          <a:lstStyle/>
          <a:p>
            <a:pPr>
              <a:lnSpc>
                <a:spcPct val="130000"/>
              </a:lnSpc>
              <a:buClr>
                <a:srgbClr val="EEECE1"/>
              </a:buClr>
              <a:buSzPct val="75000"/>
              <a:defRPr/>
            </a:pPr>
            <a:r>
              <a:rPr lang="zh-CN" altLang="en-US" dirty="0">
                <a:solidFill>
                  <a:prstClr val="black"/>
                </a:solidFill>
                <a:latin typeface="Times New Roman" panose="02020603050405020304" pitchFamily="18" charset="0"/>
                <a:ea typeface="黑体" pitchFamily="49" charset="-122"/>
                <a:cs typeface="Times New Roman" panose="02020603050405020304" pitchFamily="18" charset="0"/>
              </a:rPr>
              <a:t>一个状态序列。该状态序列被一系列操作所连接。如从</a:t>
            </a:r>
            <a:r>
              <a:rPr lang="en-US" altLang="zh-CN" dirty="0">
                <a:solidFill>
                  <a:prstClr val="black"/>
                </a:solidFill>
                <a:latin typeface="Times New Roman" panose="02020603050405020304" pitchFamily="18" charset="0"/>
                <a:ea typeface="黑体" pitchFamily="49" charset="-122"/>
                <a:cs typeface="Times New Roman" panose="02020603050405020304" pitchFamily="18" charset="0"/>
              </a:rPr>
              <a:t>A</a:t>
            </a:r>
            <a:r>
              <a:rPr lang="zh-CN" altLang="en-US" dirty="0">
                <a:solidFill>
                  <a:prstClr val="black"/>
                </a:solidFill>
                <a:latin typeface="Times New Roman" panose="02020603050405020304" pitchFamily="18" charset="0"/>
                <a:ea typeface="黑体" pitchFamily="49" charset="-122"/>
                <a:cs typeface="Times New Roman" panose="02020603050405020304" pitchFamily="18" charset="0"/>
              </a:rPr>
              <a:t>到</a:t>
            </a:r>
            <a:r>
              <a:rPr lang="en-US" altLang="zh-CN" dirty="0">
                <a:solidFill>
                  <a:prstClr val="black"/>
                </a:solidFill>
                <a:latin typeface="Times New Roman" panose="02020603050405020304" pitchFamily="18" charset="0"/>
                <a:ea typeface="黑体" pitchFamily="49" charset="-122"/>
                <a:cs typeface="Times New Roman" panose="02020603050405020304" pitchFamily="18" charset="0"/>
              </a:rPr>
              <a:t>K</a:t>
            </a:r>
            <a:r>
              <a:rPr lang="zh-CN" altLang="en-US" dirty="0">
                <a:solidFill>
                  <a:prstClr val="black"/>
                </a:solidFill>
                <a:latin typeface="Times New Roman" panose="02020603050405020304" pitchFamily="18" charset="0"/>
                <a:ea typeface="黑体" pitchFamily="49" charset="-122"/>
                <a:cs typeface="Times New Roman" panose="02020603050405020304" pitchFamily="18" charset="0"/>
              </a:rPr>
              <a:t>所形成的路径。</a:t>
            </a:r>
          </a:p>
        </p:txBody>
      </p:sp>
      <p:sp>
        <p:nvSpPr>
          <p:cNvPr id="11" name="矩形 10"/>
          <p:cNvSpPr/>
          <p:nvPr/>
        </p:nvSpPr>
        <p:spPr>
          <a:xfrm>
            <a:off x="5861359" y="3643249"/>
            <a:ext cx="1500732" cy="424732"/>
          </a:xfrm>
          <a:prstGeom prst="rect">
            <a:avLst/>
          </a:prstGeom>
        </p:spPr>
        <p:txBody>
          <a:bodyPr wrap="none">
            <a:spAutoFit/>
          </a:bodyPr>
          <a:lstStyle/>
          <a:p>
            <a:pPr marL="342900" indent="-342900" algn="ctr">
              <a:lnSpc>
                <a:spcPct val="90000"/>
              </a:lnSpc>
              <a:spcBef>
                <a:spcPct val="20000"/>
              </a:spcBef>
              <a:buClr>
                <a:srgbClr val="EEECE1"/>
              </a:buClr>
              <a:buSzPct val="75000"/>
              <a:defRPr/>
            </a:pPr>
            <a:r>
              <a:rPr lang="zh-CN" altLang="en-US" sz="2400" dirty="0">
                <a:solidFill>
                  <a:srgbClr val="C00000"/>
                </a:solidFill>
                <a:latin typeface="Times New Roman"/>
                <a:ea typeface="黑体" pitchFamily="49" charset="-122"/>
              </a:rPr>
              <a:t>路径</a:t>
            </a:r>
            <a:r>
              <a:rPr lang="en-US" altLang="zh-CN" sz="2400" dirty="0">
                <a:solidFill>
                  <a:srgbClr val="C00000"/>
                </a:solidFill>
                <a:latin typeface="Times New Roman"/>
                <a:ea typeface="黑体" pitchFamily="49" charset="-122"/>
              </a:rPr>
              <a:t>/</a:t>
            </a:r>
            <a:r>
              <a:rPr lang="zh-CN" altLang="en-US" sz="2400" dirty="0">
                <a:solidFill>
                  <a:srgbClr val="C00000"/>
                </a:solidFill>
                <a:latin typeface="Times New Roman"/>
                <a:ea typeface="黑体" pitchFamily="49" charset="-122"/>
              </a:rPr>
              <a:t>代价</a:t>
            </a:r>
            <a:endParaRPr lang="en-US" altLang="zh-CN" sz="2400" dirty="0">
              <a:solidFill>
                <a:srgbClr val="C00000"/>
              </a:solidFill>
              <a:latin typeface="Times New Roman"/>
              <a:ea typeface="黑体" pitchFamily="49" charset="-122"/>
            </a:endParaRPr>
          </a:p>
        </p:txBody>
      </p:sp>
      <p:sp>
        <p:nvSpPr>
          <p:cNvPr id="16" name="Rectangle 19"/>
          <p:cNvSpPr>
            <a:spLocks noChangeArrowheads="1"/>
          </p:cNvSpPr>
          <p:nvPr/>
        </p:nvSpPr>
        <p:spPr bwMode="auto">
          <a:xfrm>
            <a:off x="7362092" y="4746723"/>
            <a:ext cx="2813971" cy="1048321"/>
          </a:xfrm>
          <a:prstGeom prst="rect">
            <a:avLst/>
          </a:prstGeom>
          <a:gradFill>
            <a:gsLst>
              <a:gs pos="0">
                <a:srgbClr val="FFEFD1"/>
              </a:gs>
              <a:gs pos="64999">
                <a:srgbClr val="F0EBD5"/>
              </a:gs>
              <a:gs pos="100000">
                <a:srgbClr val="D1C39F"/>
              </a:gs>
            </a:gsLst>
            <a:lin ang="16200000" scaled="0"/>
          </a:gradFill>
          <a:ln>
            <a:headEnd/>
            <a:tailEnd/>
          </a:ln>
          <a:effectLst>
            <a:glow>
              <a:schemeClr val="accent3"/>
            </a:glow>
            <a:outerShdw blurRad="63500" sx="102000" sy="102000" algn="ctr"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wrap="square" anchor="ctr">
            <a:noAutofit/>
          </a:bodyPr>
          <a:lstStyle/>
          <a:p>
            <a:pPr>
              <a:lnSpc>
                <a:spcPct val="130000"/>
              </a:lnSpc>
              <a:buClr>
                <a:srgbClr val="EEECE1"/>
              </a:buClr>
              <a:buSzPct val="75000"/>
              <a:defRPr/>
            </a:pPr>
            <a:r>
              <a:rPr lang="zh-CN" altLang="en-US" dirty="0">
                <a:solidFill>
                  <a:prstClr val="black"/>
                </a:solidFill>
                <a:latin typeface="Times New Roman" panose="02020603050405020304" pitchFamily="18" charset="0"/>
                <a:ea typeface="黑体" pitchFamily="49" charset="-122"/>
                <a:cs typeface="Times New Roman" panose="02020603050405020304" pitchFamily="18" charset="0"/>
              </a:rPr>
              <a:t>评估当前状态是否为所求解的目标状态。</a:t>
            </a:r>
          </a:p>
        </p:txBody>
      </p:sp>
      <p:sp>
        <p:nvSpPr>
          <p:cNvPr id="17" name="矩形 16"/>
          <p:cNvSpPr/>
          <p:nvPr/>
        </p:nvSpPr>
        <p:spPr>
          <a:xfrm>
            <a:off x="5904781" y="5058516"/>
            <a:ext cx="1415772" cy="424732"/>
          </a:xfrm>
          <a:prstGeom prst="rect">
            <a:avLst/>
          </a:prstGeom>
        </p:spPr>
        <p:txBody>
          <a:bodyPr wrap="none">
            <a:spAutoFit/>
          </a:bodyPr>
          <a:lstStyle/>
          <a:p>
            <a:pPr marL="342900" indent="-342900" algn="ctr">
              <a:lnSpc>
                <a:spcPct val="90000"/>
              </a:lnSpc>
              <a:spcBef>
                <a:spcPct val="20000"/>
              </a:spcBef>
              <a:buClr>
                <a:srgbClr val="EEECE1"/>
              </a:buClr>
              <a:buSzPct val="75000"/>
              <a:defRPr/>
            </a:pPr>
            <a:r>
              <a:rPr lang="zh-CN" altLang="en-US" sz="2400" dirty="0">
                <a:solidFill>
                  <a:srgbClr val="C00000"/>
                </a:solidFill>
                <a:latin typeface="Times New Roman"/>
                <a:ea typeface="黑体" pitchFamily="49" charset="-122"/>
              </a:rPr>
              <a:t>目标测试</a:t>
            </a:r>
            <a:endParaRPr lang="en-US" altLang="zh-CN" sz="2400" dirty="0">
              <a:solidFill>
                <a:srgbClr val="C00000"/>
              </a:solidFill>
              <a:latin typeface="Times New Roman"/>
              <a:ea typeface="黑体" pitchFamily="49" charset="-122"/>
            </a:endParaRPr>
          </a:p>
        </p:txBody>
      </p:sp>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搜索算法的形式化描述</a:t>
            </a:r>
          </a:p>
        </p:txBody>
      </p:sp>
      <p:sp>
        <p:nvSpPr>
          <p:cNvPr id="25" name="文本框 24">
            <a:extLst>
              <a:ext uri="{FF2B5EF4-FFF2-40B4-BE49-F238E27FC236}">
                <a16:creationId xmlns:a16="http://schemas.microsoft.com/office/drawing/2014/main" id="{A66F034F-2475-4259-AAE0-A5AD80B7A86E}"/>
              </a:ext>
            </a:extLst>
          </p:cNvPr>
          <p:cNvSpPr txBox="1"/>
          <p:nvPr/>
        </p:nvSpPr>
        <p:spPr>
          <a:xfrm>
            <a:off x="1795538" y="1180413"/>
            <a:ext cx="8270416" cy="523220"/>
          </a:xfrm>
          <a:prstGeom prst="rect">
            <a:avLst/>
          </a:prstGeom>
          <a:noFill/>
        </p:spPr>
        <p:txBody>
          <a:bodyPr wrap="square">
            <a:spAutoFit/>
          </a:bodyPr>
          <a:lstStyle/>
          <a:p>
            <a:r>
              <a:rPr lang="en-US" altLang="zh-CN" sz="28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 &lt;</a:t>
            </a:r>
            <a:r>
              <a:rPr lang="zh-CN" altLang="en-US" sz="28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状态、动作、状态转移、路径</a:t>
            </a:r>
            <a:r>
              <a:rPr lang="en-US" altLang="zh-CN" sz="28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r>
              <a:rPr lang="zh-CN" altLang="en-US" sz="28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代价、目标测试</a:t>
            </a:r>
            <a:r>
              <a:rPr lang="en-US" altLang="zh-CN" sz="2800" dirty="0">
                <a:solidFill>
                  <a:srgbClr val="C00000"/>
                </a:solidFill>
                <a:latin typeface="黑体" panose="02010609060101010101" pitchFamily="49" charset="-122"/>
                <a:ea typeface="黑体" panose="02010609060101010101" pitchFamily="49" charset="-122"/>
                <a:cs typeface="Times New Roman" panose="02020603050405020304" pitchFamily="18" charset="0"/>
              </a:rPr>
              <a:t>〉</a:t>
            </a:r>
            <a:endParaRPr lang="zh-CN" altLang="en-US" sz="2800" dirty="0">
              <a:solidFill>
                <a:srgbClr val="C00000"/>
              </a:solidFill>
              <a:latin typeface="Times New Roman"/>
              <a:ea typeface="黑体"/>
            </a:endParaRPr>
          </a:p>
        </p:txBody>
      </p:sp>
      <p:grpSp>
        <p:nvGrpSpPr>
          <p:cNvPr id="26" name="组合 25">
            <a:extLst>
              <a:ext uri="{FF2B5EF4-FFF2-40B4-BE49-F238E27FC236}">
                <a16:creationId xmlns:a16="http://schemas.microsoft.com/office/drawing/2014/main" id="{713D1242-6EB4-4DD0-8368-CB0F5E435B8C}"/>
              </a:ext>
            </a:extLst>
          </p:cNvPr>
          <p:cNvGrpSpPr/>
          <p:nvPr/>
        </p:nvGrpSpPr>
        <p:grpSpPr>
          <a:xfrm>
            <a:off x="1885421" y="2127168"/>
            <a:ext cx="3963730" cy="3403885"/>
            <a:chOff x="135465" y="2087052"/>
            <a:chExt cx="4271281" cy="3403885"/>
          </a:xfrm>
        </p:grpSpPr>
        <p:sp>
          <p:nvSpPr>
            <p:cNvPr id="27" name="矩形 26">
              <a:extLst>
                <a:ext uri="{FF2B5EF4-FFF2-40B4-BE49-F238E27FC236}">
                  <a16:creationId xmlns:a16="http://schemas.microsoft.com/office/drawing/2014/main" id="{BC41AB7E-0D14-4E1C-8B3C-BAEC6C41BA55}"/>
                </a:ext>
              </a:extLst>
            </p:cNvPr>
            <p:cNvSpPr/>
            <p:nvPr/>
          </p:nvSpPr>
          <p:spPr>
            <a:xfrm>
              <a:off x="135465" y="4844606"/>
              <a:ext cx="4271281" cy="646331"/>
            </a:xfrm>
            <a:prstGeom prst="rect">
              <a:avLst/>
            </a:prstGeom>
          </p:spPr>
          <p:txBody>
            <a:bodyPr wrap="square">
              <a:spAutoFit/>
            </a:bodyPr>
            <a:lstStyle/>
            <a:p>
              <a:pPr algn="ctr"/>
              <a:r>
                <a:rPr lang="zh-CN" altLang="en-US"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问题：寻找从城市</a:t>
              </a:r>
              <a:r>
                <a:rPr lang="en-US" altLang="zh-CN"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到城市</a:t>
              </a:r>
              <a:r>
                <a:rPr lang="en-US" altLang="zh-CN"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K</a:t>
              </a:r>
              <a:r>
                <a:rPr lang="zh-CN" altLang="en-US"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之间行驶时间最短路线？</a:t>
              </a:r>
              <a:endParaRPr lang="en-US" altLang="zh-CN"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8" name="Picture 2">
              <a:extLst>
                <a:ext uri="{FF2B5EF4-FFF2-40B4-BE49-F238E27FC236}">
                  <a16:creationId xmlns:a16="http://schemas.microsoft.com/office/drawing/2014/main" id="{023D100F-5CCB-4C37-BE01-5223BE9922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707" y="2087052"/>
              <a:ext cx="4131039" cy="2539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9" name="椭圆 28">
              <a:extLst>
                <a:ext uri="{FF2B5EF4-FFF2-40B4-BE49-F238E27FC236}">
                  <a16:creationId xmlns:a16="http://schemas.microsoft.com/office/drawing/2014/main" id="{1AF54155-13DA-41EE-911D-549B67CB7BC2}"/>
                </a:ext>
              </a:extLst>
            </p:cNvPr>
            <p:cNvSpPr/>
            <p:nvPr/>
          </p:nvSpPr>
          <p:spPr>
            <a:xfrm>
              <a:off x="749147" y="2639291"/>
              <a:ext cx="583894" cy="423398"/>
            </a:xfrm>
            <a:prstGeom prst="ellipse">
              <a:avLst/>
            </a:prstGeom>
            <a:solidFill>
              <a:srgbClr val="FFC000">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a:ea typeface="黑体"/>
              </a:endParaRPr>
            </a:p>
          </p:txBody>
        </p:sp>
        <p:sp>
          <p:nvSpPr>
            <p:cNvPr id="30" name="椭圆 29">
              <a:extLst>
                <a:ext uri="{FF2B5EF4-FFF2-40B4-BE49-F238E27FC236}">
                  <a16:creationId xmlns:a16="http://schemas.microsoft.com/office/drawing/2014/main" id="{AEDF81C8-5A79-4721-98D3-B10E0811A006}"/>
                </a:ext>
              </a:extLst>
            </p:cNvPr>
            <p:cNvSpPr/>
            <p:nvPr/>
          </p:nvSpPr>
          <p:spPr>
            <a:xfrm>
              <a:off x="2851533" y="3706091"/>
              <a:ext cx="583894" cy="423398"/>
            </a:xfrm>
            <a:prstGeom prst="ellipse">
              <a:avLst/>
            </a:prstGeom>
            <a:solidFill>
              <a:srgbClr val="FFC000">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Times New Roman"/>
                <a:ea typeface="黑体"/>
              </a:endParaRPr>
            </a:p>
          </p:txBody>
        </p:sp>
      </p:grpSp>
    </p:spTree>
    <p:extLst>
      <p:ext uri="{BB962C8B-B14F-4D97-AF65-F5344CB8AC3E}">
        <p14:creationId xmlns:p14="http://schemas.microsoft.com/office/powerpoint/2010/main" val="2315045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状态空间表示法</a:t>
            </a:r>
          </a:p>
        </p:txBody>
      </p:sp>
      <p:sp>
        <p:nvSpPr>
          <p:cNvPr id="25" name="文本框 24">
            <a:extLst>
              <a:ext uri="{FF2B5EF4-FFF2-40B4-BE49-F238E27FC236}">
                <a16:creationId xmlns:a16="http://schemas.microsoft.com/office/drawing/2014/main" id="{A66F034F-2475-4259-AAE0-A5AD80B7A86E}"/>
              </a:ext>
            </a:extLst>
          </p:cNvPr>
          <p:cNvSpPr txBox="1"/>
          <p:nvPr/>
        </p:nvSpPr>
        <p:spPr>
          <a:xfrm>
            <a:off x="1896792" y="1145244"/>
            <a:ext cx="8105856" cy="584775"/>
          </a:xfrm>
          <a:prstGeom prst="rect">
            <a:avLst/>
          </a:prstGeom>
          <a:noFill/>
        </p:spPr>
        <p:txBody>
          <a:bodyPr wrap="square">
            <a:spAutoFit/>
          </a:bodyPr>
          <a:lstStyle/>
          <a:p>
            <a:r>
              <a:rPr lang="zh-CN" altLang="en-US" sz="3200" dirty="0">
                <a:solidFill>
                  <a:srgbClr val="FF0000"/>
                </a:solidFill>
                <a:latin typeface="方正姚体" panose="02010601030101010101" pitchFamily="2" charset="-122"/>
                <a:ea typeface="方正姚体" panose="02010601030101010101" pitchFamily="2" charset="-122"/>
              </a:rPr>
              <a:t>状态空间表示法</a:t>
            </a:r>
          </a:p>
        </p:txBody>
      </p:sp>
      <p:sp>
        <p:nvSpPr>
          <p:cNvPr id="15" name="Text Box 4">
            <a:extLst>
              <a:ext uri="{FF2B5EF4-FFF2-40B4-BE49-F238E27FC236}">
                <a16:creationId xmlns:a16="http://schemas.microsoft.com/office/drawing/2014/main" id="{16EC4BFB-CA8C-4AE0-8F28-4B5DAAFD2AF3}"/>
              </a:ext>
            </a:extLst>
          </p:cNvPr>
          <p:cNvSpPr txBox="1">
            <a:spLocks noChangeArrowheads="1"/>
          </p:cNvSpPr>
          <p:nvPr/>
        </p:nvSpPr>
        <p:spPr bwMode="auto">
          <a:xfrm>
            <a:off x="2330639" y="1970065"/>
            <a:ext cx="7458130" cy="1323439"/>
          </a:xfrm>
          <a:prstGeom prst="rect">
            <a:avLst/>
          </a:prstGeom>
          <a:gradFill rotWithShape="0">
            <a:gsLst>
              <a:gs pos="0">
                <a:srgbClr val="CCFFFF"/>
              </a:gs>
              <a:gs pos="50000">
                <a:schemeClr val="bg1"/>
              </a:gs>
              <a:gs pos="100000">
                <a:srgbClr val="CCFFFF"/>
              </a:gs>
            </a:gsLst>
            <a:lin ang="5400000" scaled="1"/>
          </a:gra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just">
              <a:lnSpc>
                <a:spcPct val="150000"/>
              </a:lnSpc>
              <a:buClr>
                <a:srgbClr val="C0504D"/>
              </a:buClr>
              <a:buFont typeface="Wingdings" panose="05000000000000000000" pitchFamily="2" charset="2"/>
              <a:buChar char="Ø"/>
              <a:defRPr/>
            </a:pPr>
            <a:r>
              <a:rPr lang="zh-CN" altLang="en-US" sz="2800" dirty="0">
                <a:solidFill>
                  <a:srgbClr val="0000FF"/>
                </a:solidFill>
                <a:latin typeface="黑体"/>
                <a:ea typeface="黑体"/>
              </a:rPr>
              <a:t>状态：</a:t>
            </a:r>
            <a:r>
              <a:rPr lang="zh-CN" altLang="en-US" sz="2800" dirty="0">
                <a:solidFill>
                  <a:prstClr val="black"/>
                </a:solidFill>
                <a:latin typeface="黑体"/>
                <a:ea typeface="黑体"/>
              </a:rPr>
              <a:t>表示系统状态、事实等叙述型知识的一组变量或数组</a:t>
            </a:r>
            <a:endParaRPr lang="en-US" altLang="zh-CN" sz="2800" dirty="0">
              <a:solidFill>
                <a:prstClr val="black"/>
              </a:solidFill>
              <a:latin typeface="黑体"/>
              <a:ea typeface="黑体"/>
            </a:endParaRPr>
          </a:p>
        </p:txBody>
      </p:sp>
      <p:sp>
        <p:nvSpPr>
          <p:cNvPr id="18" name="Text Box 4">
            <a:extLst>
              <a:ext uri="{FF2B5EF4-FFF2-40B4-BE49-F238E27FC236}">
                <a16:creationId xmlns:a16="http://schemas.microsoft.com/office/drawing/2014/main" id="{68CB00D0-4639-4666-8257-E1A90633A0B9}"/>
              </a:ext>
            </a:extLst>
          </p:cNvPr>
          <p:cNvSpPr txBox="1">
            <a:spLocks noChangeArrowheads="1"/>
          </p:cNvSpPr>
          <p:nvPr/>
        </p:nvSpPr>
        <p:spPr bwMode="auto">
          <a:xfrm>
            <a:off x="2330639" y="3886310"/>
            <a:ext cx="7458130" cy="1323439"/>
          </a:xfrm>
          <a:prstGeom prst="rect">
            <a:avLst/>
          </a:prstGeom>
          <a:gradFill rotWithShape="0">
            <a:gsLst>
              <a:gs pos="0">
                <a:srgbClr val="CCFFFF"/>
              </a:gs>
              <a:gs pos="50000">
                <a:schemeClr val="bg1"/>
              </a:gs>
              <a:gs pos="100000">
                <a:srgbClr val="CCFFFF"/>
              </a:gs>
            </a:gsLst>
            <a:lin ang="5400000" scaled="1"/>
          </a:gra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just">
              <a:lnSpc>
                <a:spcPct val="150000"/>
              </a:lnSpc>
              <a:buClr>
                <a:srgbClr val="C0504D"/>
              </a:buClr>
              <a:buFont typeface="Wingdings" panose="05000000000000000000" pitchFamily="2" charset="2"/>
              <a:buChar char="Ø"/>
              <a:defRPr/>
            </a:pPr>
            <a:r>
              <a:rPr lang="zh-CN" altLang="en-US" sz="2800" dirty="0">
                <a:solidFill>
                  <a:srgbClr val="0000FF"/>
                </a:solidFill>
                <a:latin typeface="黑体"/>
                <a:ea typeface="黑体"/>
              </a:rPr>
              <a:t>操作：</a:t>
            </a:r>
            <a:r>
              <a:rPr lang="zh-CN" altLang="en-US" sz="2800" dirty="0">
                <a:solidFill>
                  <a:prstClr val="black"/>
                </a:solidFill>
                <a:latin typeface="黑体"/>
                <a:ea typeface="黑体"/>
              </a:rPr>
              <a:t>表示引起状态变化的过程型知识的一组关系或函数</a:t>
            </a:r>
            <a:endParaRPr lang="en-US" altLang="zh-CN" sz="2800" dirty="0">
              <a:solidFill>
                <a:prstClr val="black"/>
              </a:solidFill>
              <a:latin typeface="黑体"/>
              <a:ea typeface="黑体"/>
            </a:endParaRPr>
          </a:p>
        </p:txBody>
      </p:sp>
    </p:spTree>
    <p:extLst>
      <p:ext uri="{BB962C8B-B14F-4D97-AF65-F5344CB8AC3E}">
        <p14:creationId xmlns:p14="http://schemas.microsoft.com/office/powerpoint/2010/main" val="682053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lide(fromBottom)">
                                      <p:cBhvr>
                                        <p:cTn id="12" dur="75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slide(fromBottom)">
                                      <p:cBhvr>
                                        <p:cTn id="17" dur="7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15" grpId="0" animBg="1" autoUpdateAnimBg="0"/>
      <p:bldP spid="18"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状态空间表示法</a:t>
            </a:r>
          </a:p>
        </p:txBody>
      </p:sp>
      <p:sp>
        <p:nvSpPr>
          <p:cNvPr id="25" name="文本框 24">
            <a:extLst>
              <a:ext uri="{FF2B5EF4-FFF2-40B4-BE49-F238E27FC236}">
                <a16:creationId xmlns:a16="http://schemas.microsoft.com/office/drawing/2014/main" id="{A66F034F-2475-4259-AAE0-A5AD80B7A86E}"/>
              </a:ext>
            </a:extLst>
          </p:cNvPr>
          <p:cNvSpPr txBox="1"/>
          <p:nvPr/>
        </p:nvSpPr>
        <p:spPr>
          <a:xfrm>
            <a:off x="1896792" y="1145244"/>
            <a:ext cx="8105856" cy="584775"/>
          </a:xfrm>
          <a:prstGeom prst="rect">
            <a:avLst/>
          </a:prstGeom>
          <a:noFill/>
        </p:spPr>
        <p:txBody>
          <a:bodyPr wrap="square">
            <a:spAutoFit/>
          </a:bodyPr>
          <a:lstStyle/>
          <a:p>
            <a:r>
              <a:rPr lang="zh-CN" altLang="en-US" sz="3200" dirty="0">
                <a:solidFill>
                  <a:srgbClr val="FF0000"/>
                </a:solidFill>
                <a:latin typeface="方正姚体" panose="02010601030101010101" pitchFamily="2" charset="-122"/>
                <a:ea typeface="方正姚体" panose="02010601030101010101" pitchFamily="2" charset="-122"/>
              </a:rPr>
              <a:t>状态空间表示法</a:t>
            </a:r>
          </a:p>
        </p:txBody>
      </p:sp>
      <p:sp>
        <p:nvSpPr>
          <p:cNvPr id="6" name="Text Box 4">
            <a:extLst>
              <a:ext uri="{FF2B5EF4-FFF2-40B4-BE49-F238E27FC236}">
                <a16:creationId xmlns:a16="http://schemas.microsoft.com/office/drawing/2014/main" id="{5C00DA87-DDFB-43BB-BF9C-A86FF55E39B0}"/>
              </a:ext>
            </a:extLst>
          </p:cNvPr>
          <p:cNvSpPr txBox="1">
            <a:spLocks noChangeArrowheads="1"/>
          </p:cNvSpPr>
          <p:nvPr/>
        </p:nvSpPr>
        <p:spPr bwMode="auto">
          <a:xfrm>
            <a:off x="2393556" y="1888133"/>
            <a:ext cx="7412142" cy="1969770"/>
          </a:xfrm>
          <a:prstGeom prst="rect">
            <a:avLst/>
          </a:prstGeom>
          <a:gradFill rotWithShape="0">
            <a:gsLst>
              <a:gs pos="0">
                <a:srgbClr val="CCFFFF"/>
              </a:gs>
              <a:gs pos="50000">
                <a:schemeClr val="bg1"/>
              </a:gs>
              <a:gs pos="100000">
                <a:srgbClr val="CCFFFF"/>
              </a:gs>
            </a:gsLst>
            <a:lin ang="5400000" scaled="1"/>
          </a:gra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just">
              <a:lnSpc>
                <a:spcPct val="150000"/>
              </a:lnSpc>
              <a:buClr>
                <a:srgbClr val="C0504D"/>
              </a:buClr>
              <a:buFont typeface="Wingdings" panose="05000000000000000000" pitchFamily="2" charset="2"/>
              <a:buChar char="Ø"/>
              <a:defRPr/>
            </a:pPr>
            <a:r>
              <a:rPr lang="zh-CN" altLang="en-US" sz="2800" dirty="0">
                <a:solidFill>
                  <a:srgbClr val="0000FF"/>
                </a:solidFill>
                <a:latin typeface="黑体"/>
                <a:ea typeface="黑体"/>
              </a:rPr>
              <a:t>状态空间：</a:t>
            </a:r>
            <a:r>
              <a:rPr lang="zh-CN" altLang="en-US" sz="2800" dirty="0">
                <a:solidFill>
                  <a:prstClr val="black"/>
                </a:solidFill>
                <a:latin typeface="黑体"/>
                <a:ea typeface="黑体"/>
              </a:rPr>
              <a:t>利用状态变量和操作符号，表示系统或问题的有关知识的符号体系，状态空间是一个</a:t>
            </a:r>
            <a:r>
              <a:rPr lang="zh-CN" altLang="en-US" sz="2800" dirty="0">
                <a:solidFill>
                  <a:srgbClr val="FF0000"/>
                </a:solidFill>
                <a:latin typeface="黑体"/>
                <a:ea typeface="黑体"/>
              </a:rPr>
              <a:t>四元组</a:t>
            </a:r>
            <a:r>
              <a:rPr lang="en-US" altLang="zh-CN" sz="2800" dirty="0">
                <a:solidFill>
                  <a:srgbClr val="FF0000"/>
                </a:solidFill>
                <a:latin typeface="黑体"/>
                <a:ea typeface="黑体"/>
              </a:rPr>
              <a:t>(</a:t>
            </a:r>
            <a:r>
              <a:rPr lang="en-US" altLang="zh-CN" sz="2800" i="1" dirty="0">
                <a:solidFill>
                  <a:srgbClr val="FF0000"/>
                </a:solidFill>
                <a:latin typeface="Times New Roman"/>
                <a:ea typeface="黑体"/>
              </a:rPr>
              <a:t>S</a:t>
            </a:r>
            <a:r>
              <a:rPr lang="en-US" altLang="zh-CN" sz="2800" dirty="0">
                <a:solidFill>
                  <a:srgbClr val="FF0000"/>
                </a:solidFill>
                <a:latin typeface="黑体"/>
                <a:ea typeface="黑体"/>
              </a:rPr>
              <a:t>,</a:t>
            </a:r>
            <a:r>
              <a:rPr lang="en-US" altLang="zh-CN" sz="2800" i="1" dirty="0">
                <a:solidFill>
                  <a:srgbClr val="FF0000"/>
                </a:solidFill>
                <a:latin typeface="Times New Roman"/>
                <a:ea typeface="黑体"/>
              </a:rPr>
              <a:t>O</a:t>
            </a:r>
            <a:r>
              <a:rPr lang="en-US" altLang="zh-CN" sz="2800" dirty="0">
                <a:solidFill>
                  <a:srgbClr val="FF0000"/>
                </a:solidFill>
                <a:latin typeface="黑体"/>
                <a:ea typeface="黑体"/>
              </a:rPr>
              <a:t>,</a:t>
            </a:r>
            <a:r>
              <a:rPr lang="en-US" altLang="zh-CN" sz="2800" i="1" dirty="0">
                <a:solidFill>
                  <a:srgbClr val="FF0000"/>
                </a:solidFill>
                <a:latin typeface="Times New Roman"/>
                <a:ea typeface="黑体"/>
              </a:rPr>
              <a:t> S</a:t>
            </a:r>
            <a:r>
              <a:rPr lang="en-US" altLang="zh-CN" sz="2800" baseline="-25000" dirty="0">
                <a:solidFill>
                  <a:srgbClr val="FF0000"/>
                </a:solidFill>
                <a:latin typeface="Times New Roman"/>
                <a:ea typeface="黑体"/>
              </a:rPr>
              <a:t>0</a:t>
            </a:r>
            <a:r>
              <a:rPr lang="en-US" altLang="zh-CN" sz="2800" dirty="0">
                <a:solidFill>
                  <a:srgbClr val="FF0000"/>
                </a:solidFill>
                <a:latin typeface="黑体"/>
                <a:ea typeface="黑体"/>
              </a:rPr>
              <a:t>,</a:t>
            </a:r>
            <a:r>
              <a:rPr lang="en-US" altLang="zh-CN" sz="2800" i="1" dirty="0">
                <a:solidFill>
                  <a:srgbClr val="FF0000"/>
                </a:solidFill>
                <a:latin typeface="Times New Roman"/>
                <a:ea typeface="黑体"/>
              </a:rPr>
              <a:t>G</a:t>
            </a:r>
            <a:r>
              <a:rPr lang="en-US" altLang="zh-CN" sz="2800" dirty="0">
                <a:solidFill>
                  <a:srgbClr val="FF0000"/>
                </a:solidFill>
                <a:latin typeface="黑体"/>
                <a:ea typeface="黑体"/>
              </a:rPr>
              <a:t>)</a:t>
            </a:r>
            <a:r>
              <a:rPr lang="zh-CN" altLang="en-US" sz="2800" dirty="0">
                <a:solidFill>
                  <a:prstClr val="black"/>
                </a:solidFill>
                <a:latin typeface="黑体"/>
                <a:ea typeface="黑体"/>
              </a:rPr>
              <a:t>。</a:t>
            </a:r>
            <a:endParaRPr lang="en-US" altLang="zh-CN" sz="2800" dirty="0">
              <a:solidFill>
                <a:prstClr val="black"/>
              </a:solidFill>
              <a:latin typeface="黑体"/>
              <a:ea typeface="黑体"/>
            </a:endParaRPr>
          </a:p>
        </p:txBody>
      </p:sp>
      <p:sp>
        <p:nvSpPr>
          <p:cNvPr id="8" name="Text Box 23">
            <a:extLst>
              <a:ext uri="{FF2B5EF4-FFF2-40B4-BE49-F238E27FC236}">
                <a16:creationId xmlns:a16="http://schemas.microsoft.com/office/drawing/2014/main" id="{71077D8F-97DB-4867-8908-68A6EB95FAD5}"/>
              </a:ext>
            </a:extLst>
          </p:cNvPr>
          <p:cNvSpPr txBox="1">
            <a:spLocks noChangeArrowheads="1"/>
          </p:cNvSpPr>
          <p:nvPr/>
        </p:nvSpPr>
        <p:spPr bwMode="auto">
          <a:xfrm>
            <a:off x="2393678" y="4157781"/>
            <a:ext cx="7412021" cy="1554977"/>
          </a:xfrm>
          <a:prstGeom prst="rect">
            <a:avLst/>
          </a:prstGeom>
          <a:solidFill>
            <a:srgbClr val="FFFFFF"/>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10000"/>
              </a:spcBef>
              <a:buClr>
                <a:srgbClr val="C0504D"/>
              </a:buClr>
            </a:pPr>
            <a:r>
              <a:rPr lang="en-US" altLang="zh-CN" sz="2400" dirty="0">
                <a:solidFill>
                  <a:prstClr val="black"/>
                </a:solidFill>
                <a:latin typeface="Times New Roman"/>
                <a:ea typeface="黑体"/>
              </a:rPr>
              <a:t>  </a:t>
            </a:r>
            <a:r>
              <a:rPr lang="en-US" altLang="zh-CN" sz="2400" i="1" dirty="0">
                <a:solidFill>
                  <a:prstClr val="black"/>
                </a:solidFill>
                <a:latin typeface="Times New Roman"/>
                <a:ea typeface="黑体"/>
              </a:rPr>
              <a:t>S</a:t>
            </a:r>
            <a:r>
              <a:rPr lang="zh-CN" altLang="en-US" sz="2400" dirty="0">
                <a:solidFill>
                  <a:prstClr val="black"/>
                </a:solidFill>
                <a:latin typeface="Times New Roman"/>
                <a:ea typeface="黑体"/>
              </a:rPr>
              <a:t>：状态集合     </a:t>
            </a:r>
            <a:r>
              <a:rPr lang="en-US" altLang="zh-CN" sz="2400" i="1" dirty="0">
                <a:solidFill>
                  <a:prstClr val="black"/>
                </a:solidFill>
                <a:latin typeface="Times New Roman"/>
                <a:ea typeface="黑体"/>
              </a:rPr>
              <a:t>O</a:t>
            </a:r>
            <a:r>
              <a:rPr lang="zh-CN" altLang="en-US" sz="2400" dirty="0">
                <a:solidFill>
                  <a:prstClr val="black"/>
                </a:solidFill>
                <a:latin typeface="Times New Roman"/>
                <a:ea typeface="黑体"/>
              </a:rPr>
              <a:t>：操作算子的集合</a:t>
            </a:r>
          </a:p>
          <a:p>
            <a:pPr eaLnBrk="1" hangingPunct="1">
              <a:lnSpc>
                <a:spcPct val="130000"/>
              </a:lnSpc>
              <a:spcBef>
                <a:spcPct val="10000"/>
              </a:spcBef>
              <a:buClr>
                <a:srgbClr val="C0504D"/>
              </a:buClr>
            </a:pPr>
            <a:r>
              <a:rPr lang="zh-CN" altLang="en-US" sz="2400" i="1" dirty="0">
                <a:solidFill>
                  <a:prstClr val="black"/>
                </a:solidFill>
                <a:latin typeface="Times New Roman"/>
                <a:ea typeface="黑体"/>
              </a:rPr>
              <a:t>  </a:t>
            </a:r>
            <a:r>
              <a:rPr lang="en-US" altLang="zh-CN" sz="2400" i="1" dirty="0">
                <a:solidFill>
                  <a:prstClr val="black"/>
                </a:solidFill>
                <a:latin typeface="Times New Roman"/>
                <a:ea typeface="黑体"/>
              </a:rPr>
              <a:t>S</a:t>
            </a:r>
            <a:r>
              <a:rPr lang="en-US" altLang="zh-CN" sz="2400" baseline="-25000" dirty="0">
                <a:solidFill>
                  <a:prstClr val="black"/>
                </a:solidFill>
                <a:latin typeface="Times New Roman"/>
                <a:ea typeface="黑体"/>
              </a:rPr>
              <a:t>0</a:t>
            </a:r>
            <a:r>
              <a:rPr lang="zh-CN" altLang="en-US" sz="2400" dirty="0">
                <a:solidFill>
                  <a:prstClr val="black"/>
                </a:solidFill>
                <a:latin typeface="Times New Roman"/>
                <a:ea typeface="黑体"/>
              </a:rPr>
              <a:t>：包含问题的初始状态是</a:t>
            </a:r>
            <a:r>
              <a:rPr lang="en-US" altLang="zh-CN" sz="2400" i="1" dirty="0">
                <a:solidFill>
                  <a:prstClr val="black"/>
                </a:solidFill>
                <a:latin typeface="Times New Roman"/>
                <a:ea typeface="黑体"/>
              </a:rPr>
              <a:t>S</a:t>
            </a:r>
            <a:r>
              <a:rPr lang="zh-CN" altLang="en-US" sz="2400" dirty="0">
                <a:solidFill>
                  <a:prstClr val="black"/>
                </a:solidFill>
                <a:latin typeface="Times New Roman"/>
                <a:ea typeface="黑体"/>
              </a:rPr>
              <a:t>的非空子集</a:t>
            </a:r>
            <a:endParaRPr lang="en-US" altLang="zh-CN" sz="2400" dirty="0">
              <a:solidFill>
                <a:prstClr val="black"/>
              </a:solidFill>
              <a:latin typeface="Times New Roman"/>
              <a:ea typeface="黑体"/>
            </a:endParaRPr>
          </a:p>
          <a:p>
            <a:pPr eaLnBrk="1" hangingPunct="1">
              <a:lnSpc>
                <a:spcPct val="130000"/>
              </a:lnSpc>
              <a:spcBef>
                <a:spcPct val="10000"/>
              </a:spcBef>
              <a:buClr>
                <a:srgbClr val="C0504D"/>
              </a:buClr>
            </a:pPr>
            <a:r>
              <a:rPr lang="en-US" altLang="zh-CN" sz="2400" dirty="0">
                <a:solidFill>
                  <a:prstClr val="black"/>
                </a:solidFill>
                <a:latin typeface="Times New Roman"/>
                <a:ea typeface="黑体"/>
              </a:rPr>
              <a:t>  </a:t>
            </a:r>
            <a:r>
              <a:rPr lang="en-US" altLang="zh-CN" sz="2400" i="1" dirty="0">
                <a:solidFill>
                  <a:prstClr val="black"/>
                </a:solidFill>
                <a:latin typeface="Times New Roman"/>
                <a:ea typeface="黑体"/>
              </a:rPr>
              <a:t>G</a:t>
            </a:r>
            <a:r>
              <a:rPr lang="zh-CN" altLang="en-US" sz="2400" dirty="0">
                <a:solidFill>
                  <a:prstClr val="black"/>
                </a:solidFill>
                <a:latin typeface="Times New Roman"/>
                <a:ea typeface="黑体"/>
              </a:rPr>
              <a:t>：若干具体状态或满足某些性质的路径信息描述</a:t>
            </a:r>
          </a:p>
        </p:txBody>
      </p:sp>
    </p:spTree>
    <p:extLst>
      <p:ext uri="{BB962C8B-B14F-4D97-AF65-F5344CB8AC3E}">
        <p14:creationId xmlns:p14="http://schemas.microsoft.com/office/powerpoint/2010/main" val="2298293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childTnLst>
                                </p:cTn>
                              </p:par>
                            </p:childTnLst>
                          </p:cTn>
                        </p:par>
                        <p:par>
                          <p:cTn id="8" fill="hold">
                            <p:stCondLst>
                              <p:cond delay="1500"/>
                            </p:stCondLst>
                            <p:childTnLst>
                              <p:par>
                                <p:cTn id="9" presetID="1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lide(fromBottom)">
                                      <p:cBhvr>
                                        <p:cTn id="11" dur="75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6" grpId="0" animBg="1" autoUpdateAnimBg="0"/>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状态空间表示法</a:t>
            </a:r>
          </a:p>
        </p:txBody>
      </p:sp>
      <p:sp>
        <p:nvSpPr>
          <p:cNvPr id="25" name="文本框 24">
            <a:extLst>
              <a:ext uri="{FF2B5EF4-FFF2-40B4-BE49-F238E27FC236}">
                <a16:creationId xmlns:a16="http://schemas.microsoft.com/office/drawing/2014/main" id="{A66F034F-2475-4259-AAE0-A5AD80B7A86E}"/>
              </a:ext>
            </a:extLst>
          </p:cNvPr>
          <p:cNvSpPr txBox="1"/>
          <p:nvPr/>
        </p:nvSpPr>
        <p:spPr>
          <a:xfrm>
            <a:off x="1896792" y="1145244"/>
            <a:ext cx="8105856" cy="584775"/>
          </a:xfrm>
          <a:prstGeom prst="rect">
            <a:avLst/>
          </a:prstGeom>
          <a:noFill/>
        </p:spPr>
        <p:txBody>
          <a:bodyPr wrap="square">
            <a:spAutoFit/>
          </a:bodyPr>
          <a:lstStyle/>
          <a:p>
            <a:r>
              <a:rPr lang="zh-CN" altLang="en-US" sz="3200" dirty="0">
                <a:solidFill>
                  <a:srgbClr val="FF0000"/>
                </a:solidFill>
                <a:latin typeface="方正姚体" panose="02010601030101010101" pitchFamily="2" charset="-122"/>
                <a:ea typeface="方正姚体" panose="02010601030101010101" pitchFamily="2" charset="-122"/>
              </a:rPr>
              <a:t>状态空间表示法</a:t>
            </a:r>
          </a:p>
        </p:txBody>
      </p:sp>
      <p:sp>
        <p:nvSpPr>
          <p:cNvPr id="6" name="Text Box 4">
            <a:extLst>
              <a:ext uri="{FF2B5EF4-FFF2-40B4-BE49-F238E27FC236}">
                <a16:creationId xmlns:a16="http://schemas.microsoft.com/office/drawing/2014/main" id="{46757954-18AB-4229-B39F-54C1393E6FBA}"/>
              </a:ext>
            </a:extLst>
          </p:cNvPr>
          <p:cNvSpPr txBox="1">
            <a:spLocks noChangeArrowheads="1"/>
          </p:cNvSpPr>
          <p:nvPr/>
        </p:nvSpPr>
        <p:spPr bwMode="auto">
          <a:xfrm>
            <a:off x="2485383" y="1948428"/>
            <a:ext cx="7247115" cy="3222998"/>
          </a:xfrm>
          <a:prstGeom prst="rect">
            <a:avLst/>
          </a:prstGeom>
          <a:gradFill rotWithShape="0">
            <a:gsLst>
              <a:gs pos="0">
                <a:srgbClr val="CCFFFF"/>
              </a:gs>
              <a:gs pos="50000">
                <a:schemeClr val="bg1"/>
              </a:gs>
              <a:gs pos="100000">
                <a:srgbClr val="CCFFFF"/>
              </a:gs>
            </a:gsLst>
            <a:lin ang="5400000" scaled="1"/>
          </a:gra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just">
              <a:lnSpc>
                <a:spcPct val="150000"/>
              </a:lnSpc>
              <a:buClr>
                <a:srgbClr val="C0504D"/>
              </a:buClr>
              <a:buFont typeface="Wingdings" panose="05000000000000000000" pitchFamily="2" charset="2"/>
              <a:buChar char="Ø"/>
              <a:defRPr/>
            </a:pPr>
            <a:r>
              <a:rPr lang="zh-CN" altLang="en-US" sz="2800" dirty="0">
                <a:solidFill>
                  <a:srgbClr val="0000FF"/>
                </a:solidFill>
                <a:latin typeface="黑体"/>
                <a:ea typeface="黑体"/>
              </a:rPr>
              <a:t>求解路径：</a:t>
            </a:r>
            <a:r>
              <a:rPr lang="zh-CN" altLang="en-US" sz="2800" dirty="0">
                <a:solidFill>
                  <a:prstClr val="black"/>
                </a:solidFill>
                <a:latin typeface="黑体"/>
                <a:ea typeface="黑体"/>
              </a:rPr>
              <a:t>从   结点到   结点的路径。</a:t>
            </a:r>
            <a:endParaRPr lang="en-US" altLang="zh-CN" sz="2800" dirty="0">
              <a:solidFill>
                <a:prstClr val="black"/>
              </a:solidFill>
              <a:latin typeface="黑体"/>
              <a:ea typeface="黑体"/>
            </a:endParaRPr>
          </a:p>
          <a:p>
            <a:pPr marL="457200" indent="-457200" algn="just">
              <a:lnSpc>
                <a:spcPct val="150000"/>
              </a:lnSpc>
              <a:buClr>
                <a:srgbClr val="C0504D"/>
              </a:buClr>
              <a:buFont typeface="Wingdings" panose="05000000000000000000" pitchFamily="2" charset="2"/>
              <a:buChar char="Ø"/>
              <a:defRPr/>
            </a:pPr>
            <a:r>
              <a:rPr lang="zh-CN" altLang="en-US" sz="2800" dirty="0">
                <a:solidFill>
                  <a:srgbClr val="0000FF"/>
                </a:solidFill>
                <a:latin typeface="黑体"/>
                <a:ea typeface="黑体"/>
              </a:rPr>
              <a:t>状态空间的一个解：</a:t>
            </a:r>
            <a:r>
              <a:rPr lang="zh-CN" altLang="en-US" sz="2800" dirty="0">
                <a:solidFill>
                  <a:prstClr val="black"/>
                </a:solidFill>
                <a:latin typeface="黑体"/>
                <a:ea typeface="黑体"/>
              </a:rPr>
              <a:t>一个有限的操作算子序列。</a:t>
            </a:r>
            <a:endParaRPr lang="en-US" altLang="zh-CN" sz="2800" dirty="0">
              <a:solidFill>
                <a:prstClr val="black"/>
              </a:solidFill>
              <a:latin typeface="黑体"/>
              <a:ea typeface="黑体"/>
            </a:endParaRPr>
          </a:p>
          <a:p>
            <a:pPr algn="just">
              <a:lnSpc>
                <a:spcPct val="150000"/>
              </a:lnSpc>
              <a:buClr>
                <a:srgbClr val="C0504D"/>
              </a:buClr>
              <a:defRPr/>
            </a:pPr>
            <a:endParaRPr lang="en-US" altLang="zh-CN" sz="2800" dirty="0">
              <a:solidFill>
                <a:srgbClr val="0000FF"/>
              </a:solidFill>
              <a:latin typeface="黑体"/>
              <a:ea typeface="黑体"/>
            </a:endParaRPr>
          </a:p>
          <a:p>
            <a:pPr algn="just">
              <a:lnSpc>
                <a:spcPct val="150000"/>
              </a:lnSpc>
              <a:buClr>
                <a:srgbClr val="C0504D"/>
              </a:buClr>
              <a:defRPr/>
            </a:pPr>
            <a:r>
              <a:rPr lang="zh-CN" altLang="en-US" sz="2800" dirty="0">
                <a:solidFill>
                  <a:srgbClr val="0000FF"/>
                </a:solidFill>
                <a:latin typeface="黑体"/>
                <a:ea typeface="黑体"/>
              </a:rPr>
              <a:t>        </a:t>
            </a:r>
            <a:r>
              <a:rPr lang="zh-CN" altLang="en-US" sz="2800" dirty="0">
                <a:solidFill>
                  <a:srgbClr val="000066"/>
                </a:solidFill>
                <a:latin typeface="黑体"/>
                <a:ea typeface="黑体"/>
              </a:rPr>
              <a:t>：状态空间的一个解。</a:t>
            </a:r>
          </a:p>
        </p:txBody>
      </p:sp>
      <p:graphicFrame>
        <p:nvGraphicFramePr>
          <p:cNvPr id="7" name="Object 4">
            <a:extLst>
              <a:ext uri="{FF2B5EF4-FFF2-40B4-BE49-F238E27FC236}">
                <a16:creationId xmlns:a16="http://schemas.microsoft.com/office/drawing/2014/main" id="{9394F1B3-68A5-41B7-9854-8C8AC1B0BD81}"/>
              </a:ext>
            </a:extLst>
          </p:cNvPr>
          <p:cNvGraphicFramePr>
            <a:graphicFrameLocks noChangeAspect="1"/>
          </p:cNvGraphicFramePr>
          <p:nvPr/>
        </p:nvGraphicFramePr>
        <p:xfrm>
          <a:off x="5224082" y="2130642"/>
          <a:ext cx="431800" cy="503237"/>
        </p:xfrm>
        <a:graphic>
          <a:graphicData uri="http://schemas.openxmlformats.org/presentationml/2006/ole">
            <mc:AlternateContent xmlns:mc="http://schemas.openxmlformats.org/markup-compatibility/2006">
              <mc:Choice xmlns:v="urn:schemas-microsoft-com:vml" Requires="v">
                <p:oleObj name="公式" r:id="rId2" imgW="177646" imgH="228402" progId="Equation.3">
                  <p:embed/>
                </p:oleObj>
              </mc:Choice>
              <mc:Fallback>
                <p:oleObj name="公式" r:id="rId2" imgW="177646" imgH="228402" progId="Equation.3">
                  <p:embed/>
                  <p:pic>
                    <p:nvPicPr>
                      <p:cNvPr id="7" name="Object 4">
                        <a:extLst>
                          <a:ext uri="{FF2B5EF4-FFF2-40B4-BE49-F238E27FC236}">
                            <a16:creationId xmlns:a16="http://schemas.microsoft.com/office/drawing/2014/main" id="{9394F1B3-68A5-41B7-9854-8C8AC1B0BD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082" y="2130642"/>
                        <a:ext cx="4318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6">
            <a:extLst>
              <a:ext uri="{FF2B5EF4-FFF2-40B4-BE49-F238E27FC236}">
                <a16:creationId xmlns:a16="http://schemas.microsoft.com/office/drawing/2014/main" id="{39C06E76-A664-4853-B079-155F323FB69D}"/>
              </a:ext>
            </a:extLst>
          </p:cNvPr>
          <p:cNvGraphicFramePr>
            <a:graphicFrameLocks noChangeAspect="1"/>
          </p:cNvGraphicFramePr>
          <p:nvPr/>
        </p:nvGraphicFramePr>
        <p:xfrm>
          <a:off x="6853726" y="2157347"/>
          <a:ext cx="385763" cy="431800"/>
        </p:xfrm>
        <a:graphic>
          <a:graphicData uri="http://schemas.openxmlformats.org/presentationml/2006/ole">
            <mc:AlternateContent xmlns:mc="http://schemas.openxmlformats.org/markup-compatibility/2006">
              <mc:Choice xmlns:v="urn:schemas-microsoft-com:vml" Requires="v">
                <p:oleObj name="公式" r:id="rId4" imgW="164814" imgH="177492" progId="Equation.3">
                  <p:embed/>
                </p:oleObj>
              </mc:Choice>
              <mc:Fallback>
                <p:oleObj name="公式" r:id="rId4" imgW="164814" imgH="177492" progId="Equation.3">
                  <p:embed/>
                  <p:pic>
                    <p:nvPicPr>
                      <p:cNvPr id="8" name="Object 6">
                        <a:extLst>
                          <a:ext uri="{FF2B5EF4-FFF2-40B4-BE49-F238E27FC236}">
                            <a16:creationId xmlns:a16="http://schemas.microsoft.com/office/drawing/2014/main" id="{39C06E76-A664-4853-B079-155F323FB6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3726" y="2157347"/>
                        <a:ext cx="3857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a:extLst>
              <a:ext uri="{FF2B5EF4-FFF2-40B4-BE49-F238E27FC236}">
                <a16:creationId xmlns:a16="http://schemas.microsoft.com/office/drawing/2014/main" id="{B44075EB-1912-427D-97D3-26CDA75E7F2D}"/>
              </a:ext>
            </a:extLst>
          </p:cNvPr>
          <p:cNvGraphicFramePr>
            <a:graphicFrameLocks noChangeAspect="1"/>
          </p:cNvGraphicFramePr>
          <p:nvPr/>
        </p:nvGraphicFramePr>
        <p:xfrm>
          <a:off x="2561399" y="4005774"/>
          <a:ext cx="6934200" cy="609600"/>
        </p:xfrm>
        <a:graphic>
          <a:graphicData uri="http://schemas.openxmlformats.org/presentationml/2006/ole">
            <mc:AlternateContent xmlns:mc="http://schemas.openxmlformats.org/markup-compatibility/2006">
              <mc:Choice xmlns:v="urn:schemas-microsoft-com:vml" Requires="v">
                <p:oleObj name="公式" r:id="rId6" imgW="2527300" imgH="241300" progId="Equation.3">
                  <p:embed/>
                </p:oleObj>
              </mc:Choice>
              <mc:Fallback>
                <p:oleObj name="公式" r:id="rId6" imgW="2527300" imgH="241300" progId="Equation.3">
                  <p:embed/>
                  <p:pic>
                    <p:nvPicPr>
                      <p:cNvPr id="9" name="Object 8">
                        <a:extLst>
                          <a:ext uri="{FF2B5EF4-FFF2-40B4-BE49-F238E27FC236}">
                            <a16:creationId xmlns:a16="http://schemas.microsoft.com/office/drawing/2014/main" id="{B44075EB-1912-427D-97D3-26CDA75E7F2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61399" y="4005774"/>
                        <a:ext cx="6934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0">
            <a:extLst>
              <a:ext uri="{FF2B5EF4-FFF2-40B4-BE49-F238E27FC236}">
                <a16:creationId xmlns:a16="http://schemas.microsoft.com/office/drawing/2014/main" id="{3805CF29-5419-4588-93A8-9F3E487A03E4}"/>
              </a:ext>
            </a:extLst>
          </p:cNvPr>
          <p:cNvGraphicFramePr>
            <a:graphicFrameLocks noChangeAspect="1"/>
          </p:cNvGraphicFramePr>
          <p:nvPr/>
        </p:nvGraphicFramePr>
        <p:xfrm>
          <a:off x="2637779" y="4691556"/>
          <a:ext cx="1295366" cy="452350"/>
        </p:xfrm>
        <a:graphic>
          <a:graphicData uri="http://schemas.openxmlformats.org/presentationml/2006/ole">
            <mc:AlternateContent xmlns:mc="http://schemas.openxmlformats.org/markup-compatibility/2006">
              <mc:Choice xmlns:v="urn:schemas-microsoft-com:vml" Requires="v">
                <p:oleObj name="公式" r:id="rId8" imgW="622030" imgH="228501" progId="Equation.3">
                  <p:embed/>
                </p:oleObj>
              </mc:Choice>
              <mc:Fallback>
                <p:oleObj name="公式" r:id="rId8" imgW="622030" imgH="228501" progId="Equation.3">
                  <p:embed/>
                  <p:pic>
                    <p:nvPicPr>
                      <p:cNvPr id="10" name="Object 10">
                        <a:extLst>
                          <a:ext uri="{FF2B5EF4-FFF2-40B4-BE49-F238E27FC236}">
                            <a16:creationId xmlns:a16="http://schemas.microsoft.com/office/drawing/2014/main" id="{3805CF29-5419-4588-93A8-9F3E487A03E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37779" y="4691556"/>
                        <a:ext cx="1295366" cy="45235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6472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childTnLst>
                                </p:cTn>
                              </p:par>
                            </p:childTnLst>
                          </p:cTn>
                        </p:par>
                        <p:par>
                          <p:cTn id="8" fill="hold">
                            <p:stCondLst>
                              <p:cond delay="1500"/>
                            </p:stCondLst>
                            <p:childTnLst>
                              <p:par>
                                <p:cTn id="9" presetID="1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lide(fromBottom)">
                                      <p:cBhvr>
                                        <p:cTn id="11" dur="750"/>
                                        <p:tgtEl>
                                          <p:spTgt spid="6"/>
                                        </p:tgtEl>
                                      </p:cBhvr>
                                    </p:animEffect>
                                  </p:childTnLst>
                                </p:cTn>
                              </p:par>
                            </p:childTnLst>
                          </p:cTn>
                        </p:par>
                        <p:par>
                          <p:cTn id="12" fill="hold">
                            <p:stCondLst>
                              <p:cond delay="2250"/>
                            </p:stCondLst>
                            <p:childTnLst>
                              <p:par>
                                <p:cTn id="13" presetID="10" presetClass="entr" presetSubtype="0" fill="hold" nodeType="after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
                                            <p:txEl>
                                              <p:pRg st="1" end="1"/>
                                            </p:txEl>
                                          </p:spTgt>
                                        </p:tgtEl>
                                        <p:attrNameLst>
                                          <p:attrName>style.visibility</p:attrName>
                                        </p:attrNameLst>
                                      </p:cBhvr>
                                      <p:to>
                                        <p:strVal val="visible"/>
                                      </p:to>
                                    </p:set>
                                    <p:animEffect transition="in" filter="fade">
                                      <p:cBhvr>
                                        <p:cTn id="26" dur="500"/>
                                        <p:tgtEl>
                                          <p:spTgt spid="6">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500" fill="hold"/>
                                        <p:tgtEl>
                                          <p:spTgt spid="9"/>
                                        </p:tgtEl>
                                        <p:attrNameLst>
                                          <p:attrName>ppt_x</p:attrName>
                                        </p:attrNameLst>
                                      </p:cBhvr>
                                      <p:tavLst>
                                        <p:tav tm="0">
                                          <p:val>
                                            <p:strVal val="#ppt_x-#ppt_w/2"/>
                                          </p:val>
                                        </p:tav>
                                        <p:tav tm="100000">
                                          <p:val>
                                            <p:strVal val="#ppt_x"/>
                                          </p:val>
                                        </p:tav>
                                      </p:tavLst>
                                    </p:anim>
                                    <p:anim calcmode="lin" valueType="num">
                                      <p:cBhvr>
                                        <p:cTn id="32" dur="500" fill="hold"/>
                                        <p:tgtEl>
                                          <p:spTgt spid="9"/>
                                        </p:tgtEl>
                                        <p:attrNameLst>
                                          <p:attrName>ppt_y</p:attrName>
                                        </p:attrNameLst>
                                      </p:cBhvr>
                                      <p:tavLst>
                                        <p:tav tm="0">
                                          <p:val>
                                            <p:strVal val="#ppt_y"/>
                                          </p:val>
                                        </p:tav>
                                        <p:tav tm="100000">
                                          <p:val>
                                            <p:strVal val="#ppt_y"/>
                                          </p:val>
                                        </p:tav>
                                      </p:tavLst>
                                    </p:anim>
                                    <p:anim calcmode="lin" valueType="num">
                                      <p:cBhvr>
                                        <p:cTn id="33" dur="500" fill="hold"/>
                                        <p:tgtEl>
                                          <p:spTgt spid="9"/>
                                        </p:tgtEl>
                                        <p:attrNameLst>
                                          <p:attrName>ppt_w</p:attrName>
                                        </p:attrNameLst>
                                      </p:cBhvr>
                                      <p:tavLst>
                                        <p:tav tm="0">
                                          <p:val>
                                            <p:fltVal val="0"/>
                                          </p:val>
                                        </p:tav>
                                        <p:tav tm="100000">
                                          <p:val>
                                            <p:strVal val="#ppt_w"/>
                                          </p:val>
                                        </p:tav>
                                      </p:tavLst>
                                    </p:anim>
                                    <p:anim calcmode="lin" valueType="num">
                                      <p:cBhvr>
                                        <p:cTn id="34"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6">
                                            <p:txEl>
                                              <p:pRg st="3" end="3"/>
                                            </p:txEl>
                                          </p:spTgt>
                                        </p:tgtEl>
                                        <p:attrNameLst>
                                          <p:attrName>style.visibility</p:attrName>
                                        </p:attrNameLst>
                                      </p:cBhvr>
                                      <p:to>
                                        <p:strVal val="visible"/>
                                      </p:to>
                                    </p:set>
                                    <p:animEffect transition="in" filter="fade">
                                      <p:cBhvr>
                                        <p:cTn id="39" dur="500"/>
                                        <p:tgtEl>
                                          <p:spTgt spid="6">
                                            <p:txEl>
                                              <p:pRg st="3" end="3"/>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6"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状态空间表示法</a:t>
            </a:r>
          </a:p>
        </p:txBody>
      </p:sp>
      <p:sp>
        <p:nvSpPr>
          <p:cNvPr id="25" name="文本框 24">
            <a:extLst>
              <a:ext uri="{FF2B5EF4-FFF2-40B4-BE49-F238E27FC236}">
                <a16:creationId xmlns:a16="http://schemas.microsoft.com/office/drawing/2014/main" id="{A66F034F-2475-4259-AAE0-A5AD80B7A86E}"/>
              </a:ext>
            </a:extLst>
          </p:cNvPr>
          <p:cNvSpPr txBox="1"/>
          <p:nvPr/>
        </p:nvSpPr>
        <p:spPr>
          <a:xfrm>
            <a:off x="1896792" y="1145244"/>
            <a:ext cx="8105856" cy="584775"/>
          </a:xfrm>
          <a:prstGeom prst="rect">
            <a:avLst/>
          </a:prstGeom>
          <a:noFill/>
        </p:spPr>
        <p:txBody>
          <a:bodyPr wrap="square">
            <a:spAutoFit/>
          </a:bodyPr>
          <a:lstStyle/>
          <a:p>
            <a:r>
              <a:rPr lang="zh-CN" altLang="en-US" sz="3200" dirty="0">
                <a:solidFill>
                  <a:srgbClr val="FF0000"/>
                </a:solidFill>
                <a:latin typeface="方正姚体" panose="02010601030101010101" pitchFamily="2" charset="-122"/>
                <a:ea typeface="方正姚体" panose="02010601030101010101" pitchFamily="2" charset="-122"/>
              </a:rPr>
              <a:t>状态空间表示法</a:t>
            </a:r>
          </a:p>
        </p:txBody>
      </p:sp>
      <p:sp>
        <p:nvSpPr>
          <p:cNvPr id="6" name="文本框 26">
            <a:extLst>
              <a:ext uri="{FF2B5EF4-FFF2-40B4-BE49-F238E27FC236}">
                <a16:creationId xmlns:a16="http://schemas.microsoft.com/office/drawing/2014/main" id="{FD3A4876-8877-4632-9EA4-B00EEB85D829}"/>
              </a:ext>
            </a:extLst>
          </p:cNvPr>
          <p:cNvSpPr txBox="1">
            <a:spLocks noChangeArrowheads="1"/>
          </p:cNvSpPr>
          <p:nvPr/>
        </p:nvSpPr>
        <p:spPr bwMode="auto">
          <a:xfrm>
            <a:off x="2463800" y="1863924"/>
            <a:ext cx="55371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Char char="Ø"/>
            </a:pPr>
            <a:r>
              <a:rPr lang="zh-CN" altLang="en-US" sz="2800" dirty="0">
                <a:solidFill>
                  <a:prstClr val="black"/>
                </a:solidFill>
                <a:latin typeface="黑体"/>
                <a:ea typeface="黑体"/>
              </a:rPr>
              <a:t>例：八数码问题的状态空间表示</a:t>
            </a:r>
          </a:p>
        </p:txBody>
      </p:sp>
      <p:graphicFrame>
        <p:nvGraphicFramePr>
          <p:cNvPr id="7" name="Object 5">
            <a:extLst>
              <a:ext uri="{FF2B5EF4-FFF2-40B4-BE49-F238E27FC236}">
                <a16:creationId xmlns:a16="http://schemas.microsoft.com/office/drawing/2014/main" id="{4096792E-6F6F-492D-8E2E-A2A28469329D}"/>
              </a:ext>
            </a:extLst>
          </p:cNvPr>
          <p:cNvGraphicFramePr>
            <a:graphicFrameLocks noChangeAspect="1"/>
          </p:cNvGraphicFramePr>
          <p:nvPr/>
        </p:nvGraphicFramePr>
        <p:xfrm>
          <a:off x="3048000" y="2377835"/>
          <a:ext cx="2514600" cy="2514600"/>
        </p:xfrm>
        <a:graphic>
          <a:graphicData uri="http://schemas.openxmlformats.org/presentationml/2006/ole">
            <mc:AlternateContent xmlns:mc="http://schemas.openxmlformats.org/markup-compatibility/2006">
              <mc:Choice xmlns:v="urn:schemas-microsoft-com:vml" Requires="v">
                <p:oleObj r:id="rId2" imgW="1238423" imgH="1238423" progId="Paint.Picture">
                  <p:embed/>
                </p:oleObj>
              </mc:Choice>
              <mc:Fallback>
                <p:oleObj r:id="rId2" imgW="1238423" imgH="1238423" progId="Paint.Picture">
                  <p:embed/>
                  <p:pic>
                    <p:nvPicPr>
                      <p:cNvPr id="7" name="Object 5">
                        <a:extLst>
                          <a:ext uri="{FF2B5EF4-FFF2-40B4-BE49-F238E27FC236}">
                            <a16:creationId xmlns:a16="http://schemas.microsoft.com/office/drawing/2014/main" id="{4096792E-6F6F-492D-8E2E-A2A2846932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377835"/>
                        <a:ext cx="25146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Object 6">
            <a:extLst>
              <a:ext uri="{FF2B5EF4-FFF2-40B4-BE49-F238E27FC236}">
                <a16:creationId xmlns:a16="http://schemas.microsoft.com/office/drawing/2014/main" id="{46F3026A-C21A-4023-A843-1FE3B868D11D}"/>
              </a:ext>
            </a:extLst>
          </p:cNvPr>
          <p:cNvGraphicFramePr>
            <a:graphicFrameLocks noChangeAspect="1"/>
          </p:cNvGraphicFramePr>
          <p:nvPr/>
        </p:nvGraphicFramePr>
        <p:xfrm>
          <a:off x="6477000" y="2415935"/>
          <a:ext cx="2362200" cy="2324100"/>
        </p:xfrm>
        <a:graphic>
          <a:graphicData uri="http://schemas.openxmlformats.org/presentationml/2006/ole">
            <mc:AlternateContent xmlns:mc="http://schemas.openxmlformats.org/markup-compatibility/2006">
              <mc:Choice xmlns:v="urn:schemas-microsoft-com:vml" Requires="v">
                <p:oleObj r:id="rId4" imgW="1181265" imgH="1162212" progId="Paint.Picture">
                  <p:embed/>
                </p:oleObj>
              </mc:Choice>
              <mc:Fallback>
                <p:oleObj r:id="rId4" imgW="1181265" imgH="1162212" progId="Paint.Picture">
                  <p:embed/>
                  <p:pic>
                    <p:nvPicPr>
                      <p:cNvPr id="8" name="Object 6">
                        <a:extLst>
                          <a:ext uri="{FF2B5EF4-FFF2-40B4-BE49-F238E27FC236}">
                            <a16:creationId xmlns:a16="http://schemas.microsoft.com/office/drawing/2014/main" id="{46F3026A-C21A-4023-A843-1FE3B868D1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0" y="2415935"/>
                        <a:ext cx="23622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9" name="Group 11">
            <a:extLst>
              <a:ext uri="{FF2B5EF4-FFF2-40B4-BE49-F238E27FC236}">
                <a16:creationId xmlns:a16="http://schemas.microsoft.com/office/drawing/2014/main" id="{D1CE9AC5-BE28-4FF7-AAB7-FC55AFBF0012}"/>
              </a:ext>
            </a:extLst>
          </p:cNvPr>
          <p:cNvGrpSpPr>
            <a:grpSpLocks/>
          </p:cNvGrpSpPr>
          <p:nvPr/>
        </p:nvGrpSpPr>
        <p:grpSpPr bwMode="auto">
          <a:xfrm>
            <a:off x="2667000" y="4775399"/>
            <a:ext cx="4114800" cy="457200"/>
            <a:chOff x="288" y="2832"/>
            <a:chExt cx="2592" cy="288"/>
          </a:xfrm>
        </p:grpSpPr>
        <p:sp>
          <p:nvSpPr>
            <p:cNvPr id="10" name="Rectangle 7">
              <a:extLst>
                <a:ext uri="{FF2B5EF4-FFF2-40B4-BE49-F238E27FC236}">
                  <a16:creationId xmlns:a16="http://schemas.microsoft.com/office/drawing/2014/main" id="{9410B54F-7737-4500-A2D8-BD691BB083ED}"/>
                </a:ext>
              </a:extLst>
            </p:cNvPr>
            <p:cNvSpPr>
              <a:spLocks noChangeArrowheads="1"/>
            </p:cNvSpPr>
            <p:nvPr/>
          </p:nvSpPr>
          <p:spPr bwMode="auto">
            <a:xfrm>
              <a:off x="288" y="2832"/>
              <a:ext cx="25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dirty="0">
                  <a:solidFill>
                    <a:prstClr val="black"/>
                  </a:solidFill>
                  <a:latin typeface="黑体"/>
                  <a:ea typeface="黑体"/>
                </a:rPr>
                <a:t>状态集 ：所有摆法</a:t>
              </a:r>
            </a:p>
          </p:txBody>
        </p:sp>
        <p:graphicFrame>
          <p:nvGraphicFramePr>
            <p:cNvPr id="11" name="Object 8">
              <a:extLst>
                <a:ext uri="{FF2B5EF4-FFF2-40B4-BE49-F238E27FC236}">
                  <a16:creationId xmlns:a16="http://schemas.microsoft.com/office/drawing/2014/main" id="{076C0CAD-7EBF-4755-96B5-BA4D2E881E55}"/>
                </a:ext>
              </a:extLst>
            </p:cNvPr>
            <p:cNvGraphicFramePr>
              <a:graphicFrameLocks noChangeAspect="1"/>
            </p:cNvGraphicFramePr>
            <p:nvPr/>
          </p:nvGraphicFramePr>
          <p:xfrm>
            <a:off x="892" y="2857"/>
            <a:ext cx="180" cy="240"/>
          </p:xfrm>
          <a:graphic>
            <a:graphicData uri="http://schemas.openxmlformats.org/presentationml/2006/ole">
              <mc:AlternateContent xmlns:mc="http://schemas.openxmlformats.org/markup-compatibility/2006">
                <mc:Choice xmlns:v="urn:schemas-microsoft-com:vml" Requires="v">
                  <p:oleObj r:id="rId6" imgW="114151" imgH="152202" progId="Equation.DSMT4">
                    <p:embed/>
                  </p:oleObj>
                </mc:Choice>
                <mc:Fallback>
                  <p:oleObj r:id="rId6" imgW="114151" imgH="152202" progId="Equation.DSMT4">
                    <p:embed/>
                    <p:pic>
                      <p:nvPicPr>
                        <p:cNvPr id="11" name="Object 8">
                          <a:extLst>
                            <a:ext uri="{FF2B5EF4-FFF2-40B4-BE49-F238E27FC236}">
                              <a16:creationId xmlns:a16="http://schemas.microsoft.com/office/drawing/2014/main" id="{076C0CAD-7EBF-4755-96B5-BA4D2E881E5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2" y="2857"/>
                          <a:ext cx="18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2" name="Text Box 9">
            <a:extLst>
              <a:ext uri="{FF2B5EF4-FFF2-40B4-BE49-F238E27FC236}">
                <a16:creationId xmlns:a16="http://schemas.microsoft.com/office/drawing/2014/main" id="{A44F6DE3-E9B4-4C55-A784-3FA86F476AAD}"/>
              </a:ext>
            </a:extLst>
          </p:cNvPr>
          <p:cNvSpPr txBox="1">
            <a:spLocks noChangeArrowheads="1"/>
          </p:cNvSpPr>
          <p:nvPr/>
        </p:nvSpPr>
        <p:spPr bwMode="auto">
          <a:xfrm>
            <a:off x="5791201" y="4775399"/>
            <a:ext cx="176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a:solidFill>
                  <a:prstClr val="black"/>
                </a:solidFill>
                <a:latin typeface="黑体"/>
                <a:ea typeface="黑体"/>
              </a:rPr>
              <a:t>操作算子：</a:t>
            </a:r>
          </a:p>
        </p:txBody>
      </p:sp>
      <p:sp>
        <p:nvSpPr>
          <p:cNvPr id="13" name="Rectangle 10">
            <a:extLst>
              <a:ext uri="{FF2B5EF4-FFF2-40B4-BE49-F238E27FC236}">
                <a16:creationId xmlns:a16="http://schemas.microsoft.com/office/drawing/2014/main" id="{06FE1AD2-CDD8-4036-9507-4CFE22338079}"/>
              </a:ext>
            </a:extLst>
          </p:cNvPr>
          <p:cNvSpPr>
            <a:spLocks noChangeArrowheads="1"/>
          </p:cNvSpPr>
          <p:nvPr/>
        </p:nvSpPr>
        <p:spPr bwMode="auto">
          <a:xfrm>
            <a:off x="7359650" y="4772225"/>
            <a:ext cx="2165350" cy="1789113"/>
          </a:xfrm>
          <a:prstGeom prst="rect">
            <a:avLst/>
          </a:prstGeom>
          <a:solidFill>
            <a:schemeClr val="accent5">
              <a:lumMod val="20000"/>
              <a:lumOff val="80000"/>
            </a:schemeClr>
          </a:solidFill>
          <a:ln>
            <a:noFill/>
          </a:ln>
          <a:effectLst/>
        </p:spPr>
        <p:txBody>
          <a:bodyPr wrap="square">
            <a:spAutoFit/>
          </a:bodyPr>
          <a:lstStyle/>
          <a:p>
            <a:pPr algn="just">
              <a:spcBef>
                <a:spcPct val="20000"/>
              </a:spcBef>
              <a:defRPr/>
            </a:pPr>
            <a:r>
              <a:rPr lang="zh-CN" altLang="en-US" sz="2400" dirty="0">
                <a:solidFill>
                  <a:prstClr val="black"/>
                </a:solidFill>
                <a:latin typeface="黑体"/>
                <a:ea typeface="黑体"/>
              </a:rPr>
              <a:t>空格上移</a:t>
            </a:r>
            <a:r>
              <a:rPr lang="en-US" altLang="zh-CN" sz="2400" dirty="0">
                <a:solidFill>
                  <a:prstClr val="black"/>
                </a:solidFill>
                <a:latin typeface="黑体"/>
                <a:ea typeface="黑体"/>
                <a:cs typeface="Times New Roman" panose="02020603050405020304" pitchFamily="18" charset="0"/>
              </a:rPr>
              <a:t>Up</a:t>
            </a:r>
          </a:p>
          <a:p>
            <a:pPr algn="just" eaLnBrk="0" hangingPunct="0">
              <a:spcBef>
                <a:spcPct val="20000"/>
              </a:spcBef>
              <a:defRPr/>
            </a:pPr>
            <a:r>
              <a:rPr lang="zh-CN" altLang="en-US" sz="2400" dirty="0">
                <a:solidFill>
                  <a:prstClr val="black"/>
                </a:solidFill>
                <a:latin typeface="黑体"/>
                <a:ea typeface="黑体"/>
              </a:rPr>
              <a:t>空格左移</a:t>
            </a:r>
            <a:r>
              <a:rPr lang="en-US" altLang="zh-CN" sz="2400" dirty="0">
                <a:solidFill>
                  <a:prstClr val="black"/>
                </a:solidFill>
                <a:latin typeface="黑体"/>
                <a:ea typeface="黑体"/>
                <a:cs typeface="Times New Roman" panose="02020603050405020304" pitchFamily="18" charset="0"/>
              </a:rPr>
              <a:t>Left</a:t>
            </a:r>
          </a:p>
          <a:p>
            <a:pPr algn="just" eaLnBrk="0" hangingPunct="0">
              <a:spcBef>
                <a:spcPct val="20000"/>
              </a:spcBef>
              <a:defRPr/>
            </a:pPr>
            <a:r>
              <a:rPr lang="zh-CN" altLang="en-US" sz="2400" dirty="0">
                <a:solidFill>
                  <a:prstClr val="black"/>
                </a:solidFill>
                <a:latin typeface="黑体"/>
                <a:ea typeface="黑体"/>
              </a:rPr>
              <a:t>空格下移</a:t>
            </a:r>
            <a:r>
              <a:rPr lang="en-GB" altLang="zh-CN" sz="2400" dirty="0">
                <a:solidFill>
                  <a:prstClr val="black"/>
                </a:solidFill>
                <a:latin typeface="黑体"/>
                <a:ea typeface="黑体"/>
                <a:cs typeface="Times New Roman" panose="02020603050405020304" pitchFamily="18" charset="0"/>
              </a:rPr>
              <a:t>Down</a:t>
            </a:r>
            <a:endParaRPr lang="en-US" altLang="zh-CN" sz="2400" dirty="0">
              <a:solidFill>
                <a:prstClr val="black"/>
              </a:solidFill>
              <a:latin typeface="黑体"/>
              <a:ea typeface="黑体"/>
              <a:cs typeface="Times New Roman" panose="02020603050405020304" pitchFamily="18" charset="0"/>
            </a:endParaRPr>
          </a:p>
          <a:p>
            <a:pPr algn="just" eaLnBrk="0" hangingPunct="0">
              <a:spcBef>
                <a:spcPct val="20000"/>
              </a:spcBef>
              <a:defRPr/>
            </a:pPr>
            <a:r>
              <a:rPr lang="zh-CN" altLang="en-US" sz="2400" dirty="0">
                <a:solidFill>
                  <a:prstClr val="black"/>
                </a:solidFill>
                <a:latin typeface="黑体"/>
                <a:ea typeface="黑体"/>
              </a:rPr>
              <a:t>空格右移</a:t>
            </a:r>
            <a:r>
              <a:rPr lang="en-GB" altLang="zh-CN" sz="2400" dirty="0">
                <a:solidFill>
                  <a:prstClr val="black"/>
                </a:solidFill>
                <a:latin typeface="黑体"/>
                <a:ea typeface="黑体"/>
                <a:cs typeface="Times New Roman" panose="02020603050405020304" pitchFamily="18" charset="0"/>
              </a:rPr>
              <a:t>Right</a:t>
            </a:r>
            <a:endParaRPr lang="en-US" altLang="zh-CN" sz="2400" dirty="0">
              <a:solidFill>
                <a:prstClr val="black"/>
              </a:solidFill>
              <a:latin typeface="黑体"/>
              <a:ea typeface="黑体"/>
            </a:endParaRPr>
          </a:p>
        </p:txBody>
      </p:sp>
    </p:spTree>
    <p:extLst>
      <p:ext uri="{BB962C8B-B14F-4D97-AF65-F5344CB8AC3E}">
        <p14:creationId xmlns:p14="http://schemas.microsoft.com/office/powerpoint/2010/main" val="1007008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childTnLst>
                                </p:cTn>
                              </p:par>
                            </p:childTnLst>
                          </p:cTn>
                        </p:par>
                        <p:par>
                          <p:cTn id="8" fill="hold">
                            <p:stCondLst>
                              <p:cond delay="1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ppt_x</p:attrName>
                                        </p:attrNameLst>
                                      </p:cBhvr>
                                      <p:tavLst>
                                        <p:tav tm="0">
                                          <p:val>
                                            <p:strVal val="0-#ppt_w/2"/>
                                          </p:val>
                                        </p:tav>
                                        <p:tav tm="100000">
                                          <p:val>
                                            <p:strVal val="#ppt_x"/>
                                          </p:val>
                                        </p:tav>
                                      </p:tavLst>
                                    </p:anim>
                                    <p:anim calcmode="lin" valueType="num">
                                      <p:cBhvr>
                                        <p:cTn id="17"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ppt_x</p:attrName>
                                        </p:attrNameLst>
                                      </p:cBhvr>
                                      <p:tavLst>
                                        <p:tav tm="0">
                                          <p:val>
                                            <p:strVal val="1+#ppt_w/2"/>
                                          </p:val>
                                        </p:tav>
                                        <p:tav tm="100000">
                                          <p:val>
                                            <p:strVal val="#ppt_x"/>
                                          </p:val>
                                        </p:tav>
                                      </p:tavLst>
                                    </p:anim>
                                    <p:anim calcmode="lin" valueType="num">
                                      <p:cBhvr>
                                        <p:cTn id="23"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ppt_x</p:attrName>
                                        </p:attrNameLst>
                                      </p:cBhvr>
                                      <p:tavLst>
                                        <p:tav tm="0">
                                          <p:val>
                                            <p:strVal val="0-#ppt_w/2"/>
                                          </p:val>
                                        </p:tav>
                                        <p:tav tm="100000">
                                          <p:val>
                                            <p:strVal val="#ppt_x"/>
                                          </p:val>
                                        </p:tav>
                                      </p:tavLst>
                                    </p:anim>
                                    <p:anim calcmode="lin" valueType="num">
                                      <p:cBhvr>
                                        <p:cTn id="29"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1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dissolve">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6" grpId="0"/>
      <p:bldP spid="12" grpId="0"/>
      <p:bldP spid="13"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状态空间表示法</a:t>
            </a:r>
          </a:p>
        </p:txBody>
      </p:sp>
      <p:sp>
        <p:nvSpPr>
          <p:cNvPr id="25" name="文本框 24">
            <a:extLst>
              <a:ext uri="{FF2B5EF4-FFF2-40B4-BE49-F238E27FC236}">
                <a16:creationId xmlns:a16="http://schemas.microsoft.com/office/drawing/2014/main" id="{A66F034F-2475-4259-AAE0-A5AD80B7A86E}"/>
              </a:ext>
            </a:extLst>
          </p:cNvPr>
          <p:cNvSpPr txBox="1"/>
          <p:nvPr/>
        </p:nvSpPr>
        <p:spPr>
          <a:xfrm>
            <a:off x="1896792" y="1145244"/>
            <a:ext cx="8105856" cy="584775"/>
          </a:xfrm>
          <a:prstGeom prst="rect">
            <a:avLst/>
          </a:prstGeom>
          <a:noFill/>
        </p:spPr>
        <p:txBody>
          <a:bodyPr wrap="square">
            <a:spAutoFit/>
          </a:bodyPr>
          <a:lstStyle/>
          <a:p>
            <a:r>
              <a:rPr lang="zh-CN" altLang="en-US" sz="3200" dirty="0">
                <a:solidFill>
                  <a:srgbClr val="FF0000"/>
                </a:solidFill>
                <a:latin typeface="方正姚体" panose="02010601030101010101" pitchFamily="2" charset="-122"/>
                <a:ea typeface="方正姚体" panose="02010601030101010101" pitchFamily="2" charset="-122"/>
              </a:rPr>
              <a:t>状态空间的图描述</a:t>
            </a:r>
          </a:p>
        </p:txBody>
      </p:sp>
      <p:sp>
        <p:nvSpPr>
          <p:cNvPr id="6" name="Text Box 4">
            <a:extLst>
              <a:ext uri="{FF2B5EF4-FFF2-40B4-BE49-F238E27FC236}">
                <a16:creationId xmlns:a16="http://schemas.microsoft.com/office/drawing/2014/main" id="{ACE29697-8FD5-418A-950B-26CA650476F5}"/>
              </a:ext>
            </a:extLst>
          </p:cNvPr>
          <p:cNvSpPr txBox="1">
            <a:spLocks noChangeArrowheads="1"/>
          </p:cNvSpPr>
          <p:nvPr/>
        </p:nvSpPr>
        <p:spPr bwMode="auto">
          <a:xfrm>
            <a:off x="2444613" y="1902471"/>
            <a:ext cx="7266785" cy="3908762"/>
          </a:xfrm>
          <a:prstGeom prst="rect">
            <a:avLst/>
          </a:prstGeom>
          <a:gradFill rotWithShape="0">
            <a:gsLst>
              <a:gs pos="0">
                <a:srgbClr val="CCFFFF"/>
              </a:gs>
              <a:gs pos="50000">
                <a:schemeClr val="bg1"/>
              </a:gs>
              <a:gs pos="100000">
                <a:srgbClr val="CCFFFF"/>
              </a:gs>
            </a:gsLst>
            <a:lin ang="5400000" scaled="1"/>
          </a:gradFill>
          <a:ln w="9525">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just">
              <a:lnSpc>
                <a:spcPct val="150000"/>
              </a:lnSpc>
              <a:buClr>
                <a:srgbClr val="C0504D"/>
              </a:buClr>
              <a:buFont typeface="Wingdings" panose="05000000000000000000" pitchFamily="2" charset="2"/>
              <a:buChar char="Ø"/>
              <a:defRPr/>
            </a:pPr>
            <a:r>
              <a:rPr lang="zh-CN" altLang="en-US" sz="2800" dirty="0">
                <a:solidFill>
                  <a:srgbClr val="0000FF"/>
                </a:solidFill>
                <a:latin typeface="黑体"/>
                <a:ea typeface="黑体"/>
              </a:rPr>
              <a:t>状态空间</a:t>
            </a:r>
            <a:r>
              <a:rPr lang="zh-CN" altLang="en-US" sz="2800" dirty="0">
                <a:solidFill>
                  <a:prstClr val="black"/>
                </a:solidFill>
                <a:latin typeface="黑体"/>
                <a:ea typeface="黑体"/>
              </a:rPr>
              <a:t>可以用</a:t>
            </a:r>
            <a:r>
              <a:rPr lang="zh-CN" altLang="en-US" sz="2800" dirty="0">
                <a:solidFill>
                  <a:srgbClr val="0000FF"/>
                </a:solidFill>
                <a:latin typeface="黑体"/>
                <a:ea typeface="黑体"/>
              </a:rPr>
              <a:t>有向图</a:t>
            </a:r>
            <a:r>
              <a:rPr lang="zh-CN" altLang="en-US" sz="2800" dirty="0">
                <a:solidFill>
                  <a:prstClr val="black"/>
                </a:solidFill>
                <a:latin typeface="黑体"/>
                <a:ea typeface="黑体"/>
              </a:rPr>
              <a:t>来描述。</a:t>
            </a:r>
            <a:endParaRPr lang="en-US" altLang="zh-CN" sz="2800" dirty="0">
              <a:solidFill>
                <a:prstClr val="black"/>
              </a:solidFill>
              <a:latin typeface="黑体"/>
              <a:ea typeface="黑体"/>
            </a:endParaRPr>
          </a:p>
          <a:p>
            <a:pPr marL="457200" indent="-457200" algn="just">
              <a:lnSpc>
                <a:spcPct val="150000"/>
              </a:lnSpc>
              <a:buClr>
                <a:srgbClr val="C0504D"/>
              </a:buClr>
              <a:buFont typeface="Wingdings" panose="05000000000000000000" pitchFamily="2" charset="2"/>
              <a:buChar char="Ø"/>
              <a:defRPr/>
            </a:pPr>
            <a:r>
              <a:rPr lang="zh-CN" altLang="en-US" sz="2800" dirty="0">
                <a:solidFill>
                  <a:srgbClr val="0000FF"/>
                </a:solidFill>
                <a:latin typeface="黑体"/>
                <a:ea typeface="黑体"/>
              </a:rPr>
              <a:t>节点：</a:t>
            </a:r>
            <a:r>
              <a:rPr lang="zh-CN" altLang="en-US" sz="2800" dirty="0">
                <a:solidFill>
                  <a:prstClr val="black"/>
                </a:solidFill>
                <a:latin typeface="黑体"/>
                <a:ea typeface="黑体"/>
              </a:rPr>
              <a:t>表示问题的状态。</a:t>
            </a:r>
            <a:endParaRPr lang="en-US" altLang="zh-CN" sz="2800" dirty="0">
              <a:solidFill>
                <a:prstClr val="black"/>
              </a:solidFill>
              <a:latin typeface="黑体"/>
              <a:ea typeface="黑体"/>
            </a:endParaRPr>
          </a:p>
          <a:p>
            <a:pPr marL="457200" indent="-457200" algn="just">
              <a:lnSpc>
                <a:spcPct val="150000"/>
              </a:lnSpc>
              <a:buClr>
                <a:srgbClr val="C0504D"/>
              </a:buClr>
              <a:buFont typeface="Wingdings" panose="05000000000000000000" pitchFamily="2" charset="2"/>
              <a:buChar char="Ø"/>
              <a:defRPr/>
            </a:pPr>
            <a:r>
              <a:rPr lang="zh-CN" altLang="en-US" sz="2800" dirty="0">
                <a:solidFill>
                  <a:srgbClr val="0000FF"/>
                </a:solidFill>
                <a:latin typeface="黑体"/>
                <a:ea typeface="黑体"/>
              </a:rPr>
              <a:t>弧：</a:t>
            </a:r>
            <a:r>
              <a:rPr lang="zh-CN" altLang="en-US" sz="2800" dirty="0">
                <a:solidFill>
                  <a:prstClr val="black"/>
                </a:solidFill>
                <a:latin typeface="黑体"/>
                <a:ea typeface="黑体"/>
              </a:rPr>
              <a:t>表示状态之间的关系，即求解问题的步骤。</a:t>
            </a:r>
            <a:endParaRPr lang="en-US" altLang="zh-CN" sz="2800" dirty="0">
              <a:solidFill>
                <a:prstClr val="black"/>
              </a:solidFill>
              <a:latin typeface="黑体"/>
              <a:ea typeface="黑体"/>
            </a:endParaRPr>
          </a:p>
          <a:p>
            <a:pPr marL="457200" indent="-457200" algn="just">
              <a:lnSpc>
                <a:spcPct val="150000"/>
              </a:lnSpc>
              <a:buClr>
                <a:srgbClr val="C0504D"/>
              </a:buClr>
              <a:buFont typeface="Wingdings" panose="05000000000000000000" pitchFamily="2" charset="2"/>
              <a:buChar char="Ø"/>
              <a:defRPr/>
            </a:pPr>
            <a:r>
              <a:rPr lang="zh-CN" altLang="en-US" sz="2800" dirty="0">
                <a:solidFill>
                  <a:srgbClr val="0000FF"/>
                </a:solidFill>
                <a:latin typeface="黑体"/>
                <a:ea typeface="黑体"/>
              </a:rPr>
              <a:t>根节点：</a:t>
            </a:r>
            <a:r>
              <a:rPr lang="zh-CN" altLang="en-US" sz="2800" dirty="0">
                <a:solidFill>
                  <a:prstClr val="black"/>
                </a:solidFill>
                <a:latin typeface="黑体"/>
                <a:ea typeface="黑体"/>
              </a:rPr>
              <a:t>初始状态对应于实际问题的已知信息。</a:t>
            </a:r>
            <a:endParaRPr lang="en-US" altLang="zh-CN" sz="2800" dirty="0">
              <a:solidFill>
                <a:prstClr val="black"/>
              </a:solidFill>
              <a:latin typeface="黑体"/>
              <a:ea typeface="黑体"/>
            </a:endParaRPr>
          </a:p>
        </p:txBody>
      </p:sp>
    </p:spTree>
    <p:extLst>
      <p:ext uri="{BB962C8B-B14F-4D97-AF65-F5344CB8AC3E}">
        <p14:creationId xmlns:p14="http://schemas.microsoft.com/office/powerpoint/2010/main" val="163936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Bottom)">
                                      <p:cBhvr>
                                        <p:cTn id="12" dur="750"/>
                                        <p:tgtEl>
                                          <p:spTgt spid="6"/>
                                        </p:tgtEl>
                                      </p:cBhvr>
                                    </p:animEffect>
                                  </p:childTnLst>
                                </p:cTn>
                              </p:par>
                            </p:childTnLst>
                          </p:cTn>
                        </p:par>
                        <p:par>
                          <p:cTn id="13" fill="hold">
                            <p:stCondLst>
                              <p:cond delay="750"/>
                            </p:stCondLst>
                            <p:childTnLst>
                              <p:par>
                                <p:cTn id="14" presetID="10" presetClass="entr" presetSubtype="0" fill="hold" nodeType="after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fade">
                                      <p:cBhvr>
                                        <p:cTn id="16" dur="500"/>
                                        <p:tgtEl>
                                          <p:spTgt spid="6">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fade">
                                      <p:cBhvr>
                                        <p:cTn id="21" dur="500"/>
                                        <p:tgtEl>
                                          <p:spTgt spid="6">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500"/>
                                        <p:tgtEl>
                                          <p:spTgt spid="6">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animEffect transition="in" filter="fade">
                                      <p:cBhvr>
                                        <p:cTn id="31"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6"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状态空间表示法</a:t>
            </a:r>
          </a:p>
        </p:txBody>
      </p:sp>
      <p:sp>
        <p:nvSpPr>
          <p:cNvPr id="25" name="文本框 24">
            <a:extLst>
              <a:ext uri="{FF2B5EF4-FFF2-40B4-BE49-F238E27FC236}">
                <a16:creationId xmlns:a16="http://schemas.microsoft.com/office/drawing/2014/main" id="{A66F034F-2475-4259-AAE0-A5AD80B7A86E}"/>
              </a:ext>
            </a:extLst>
          </p:cNvPr>
          <p:cNvSpPr txBox="1"/>
          <p:nvPr/>
        </p:nvSpPr>
        <p:spPr>
          <a:xfrm>
            <a:off x="1896792" y="1145244"/>
            <a:ext cx="8105856" cy="584775"/>
          </a:xfrm>
          <a:prstGeom prst="rect">
            <a:avLst/>
          </a:prstGeom>
          <a:noFill/>
        </p:spPr>
        <p:txBody>
          <a:bodyPr wrap="square">
            <a:spAutoFit/>
          </a:bodyPr>
          <a:lstStyle/>
          <a:p>
            <a:r>
              <a:rPr lang="zh-CN" altLang="en-US" sz="3200" dirty="0">
                <a:solidFill>
                  <a:srgbClr val="FF0000"/>
                </a:solidFill>
                <a:latin typeface="方正姚体" panose="02010601030101010101" pitchFamily="2" charset="-122"/>
                <a:ea typeface="方正姚体" panose="02010601030101010101" pitchFamily="2" charset="-122"/>
              </a:rPr>
              <a:t>状态空间的图描述</a:t>
            </a:r>
          </a:p>
        </p:txBody>
      </p:sp>
      <p:sp>
        <p:nvSpPr>
          <p:cNvPr id="6" name="Text Box 15">
            <a:extLst>
              <a:ext uri="{FF2B5EF4-FFF2-40B4-BE49-F238E27FC236}">
                <a16:creationId xmlns:a16="http://schemas.microsoft.com/office/drawing/2014/main" id="{DD793AAF-EB00-4300-973A-D80FE04782EF}"/>
              </a:ext>
            </a:extLst>
          </p:cNvPr>
          <p:cNvSpPr txBox="1">
            <a:spLocks noChangeArrowheads="1"/>
          </p:cNvSpPr>
          <p:nvPr/>
        </p:nvSpPr>
        <p:spPr bwMode="auto">
          <a:xfrm>
            <a:off x="4421458" y="5878657"/>
            <a:ext cx="35924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dirty="0">
                <a:solidFill>
                  <a:prstClr val="black"/>
                </a:solidFill>
                <a:latin typeface="黑体"/>
                <a:ea typeface="黑体"/>
              </a:rPr>
              <a:t>状态空间的有向图描述 </a:t>
            </a:r>
          </a:p>
        </p:txBody>
      </p:sp>
      <p:grpSp>
        <p:nvGrpSpPr>
          <p:cNvPr id="7" name="Group 41">
            <a:extLst>
              <a:ext uri="{FF2B5EF4-FFF2-40B4-BE49-F238E27FC236}">
                <a16:creationId xmlns:a16="http://schemas.microsoft.com/office/drawing/2014/main" id="{AFF9BC71-CC5D-49E9-BFFD-1701F65BB97B}"/>
              </a:ext>
            </a:extLst>
          </p:cNvPr>
          <p:cNvGrpSpPr>
            <a:grpSpLocks/>
          </p:cNvGrpSpPr>
          <p:nvPr/>
        </p:nvGrpSpPr>
        <p:grpSpPr bwMode="auto">
          <a:xfrm>
            <a:off x="2657651" y="1686748"/>
            <a:ext cx="7120074" cy="4086399"/>
            <a:chOff x="525" y="576"/>
            <a:chExt cx="4853" cy="2888"/>
          </a:xfrm>
        </p:grpSpPr>
        <p:graphicFrame>
          <p:nvGraphicFramePr>
            <p:cNvPr id="8" name="Object 39">
              <a:extLst>
                <a:ext uri="{FF2B5EF4-FFF2-40B4-BE49-F238E27FC236}">
                  <a16:creationId xmlns:a16="http://schemas.microsoft.com/office/drawing/2014/main" id="{A1DF00C3-8680-41BC-A60C-87DB7E4104F3}"/>
                </a:ext>
              </a:extLst>
            </p:cNvPr>
            <p:cNvGraphicFramePr>
              <a:graphicFrameLocks noChangeAspect="1"/>
            </p:cNvGraphicFramePr>
            <p:nvPr/>
          </p:nvGraphicFramePr>
          <p:xfrm>
            <a:off x="525" y="580"/>
            <a:ext cx="4853" cy="2884"/>
          </p:xfrm>
          <a:graphic>
            <a:graphicData uri="http://schemas.openxmlformats.org/presentationml/2006/ole">
              <mc:AlternateContent xmlns:mc="http://schemas.openxmlformats.org/markup-compatibility/2006">
                <mc:Choice xmlns:v="urn:schemas-microsoft-com:vml" Requires="v">
                  <p:oleObj name="位图图像" r:id="rId2" imgW="4952381" imgH="3304762" progId="Paint.Picture">
                    <p:embed/>
                  </p:oleObj>
                </mc:Choice>
                <mc:Fallback>
                  <p:oleObj name="位图图像" r:id="rId2" imgW="4952381" imgH="3304762" progId="Paint.Picture">
                    <p:embed/>
                    <p:pic>
                      <p:nvPicPr>
                        <p:cNvPr id="8" name="Object 39">
                          <a:extLst>
                            <a:ext uri="{FF2B5EF4-FFF2-40B4-BE49-F238E27FC236}">
                              <a16:creationId xmlns:a16="http://schemas.microsoft.com/office/drawing/2014/main" id="{A1DF00C3-8680-41BC-A60C-87DB7E4104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 y="580"/>
                          <a:ext cx="4853" cy="2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Box 37">
              <a:extLst>
                <a:ext uri="{FF2B5EF4-FFF2-40B4-BE49-F238E27FC236}">
                  <a16:creationId xmlns:a16="http://schemas.microsoft.com/office/drawing/2014/main" id="{94BE345D-541C-4DC3-B003-EBB3A8BBC12F}"/>
                </a:ext>
              </a:extLst>
            </p:cNvPr>
            <p:cNvSpPr txBox="1">
              <a:spLocks noChangeArrowheads="1"/>
            </p:cNvSpPr>
            <p:nvPr/>
          </p:nvSpPr>
          <p:spPr bwMode="auto">
            <a:xfrm>
              <a:off x="2976" y="576"/>
              <a:ext cx="816"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solidFill>
                    <a:srgbClr val="CC0000"/>
                  </a:solidFill>
                </a:rPr>
                <a:t>（状态）</a:t>
              </a:r>
            </a:p>
          </p:txBody>
        </p:sp>
        <p:sp>
          <p:nvSpPr>
            <p:cNvPr id="10" name="Text Box 38">
              <a:extLst>
                <a:ext uri="{FF2B5EF4-FFF2-40B4-BE49-F238E27FC236}">
                  <a16:creationId xmlns:a16="http://schemas.microsoft.com/office/drawing/2014/main" id="{CA677D52-5D10-41E3-AAC1-506F9A3A0F5A}"/>
                </a:ext>
              </a:extLst>
            </p:cNvPr>
            <p:cNvSpPr txBox="1">
              <a:spLocks noChangeArrowheads="1"/>
            </p:cNvSpPr>
            <p:nvPr/>
          </p:nvSpPr>
          <p:spPr bwMode="auto">
            <a:xfrm>
              <a:off x="4320" y="912"/>
              <a:ext cx="1008"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dirty="0">
                  <a:solidFill>
                    <a:srgbClr val="CC0000"/>
                  </a:solidFill>
                </a:rPr>
                <a:t>（操作算子）</a:t>
              </a:r>
            </a:p>
          </p:txBody>
        </p:sp>
      </p:grpSp>
    </p:spTree>
    <p:extLst>
      <p:ext uri="{BB962C8B-B14F-4D97-AF65-F5344CB8AC3E}">
        <p14:creationId xmlns:p14="http://schemas.microsoft.com/office/powerpoint/2010/main" val="2279939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childTnLst>
                                </p:cTn>
                              </p:par>
                            </p:childTnLst>
                          </p:cTn>
                        </p:par>
                        <p:par>
                          <p:cTn id="8" fill="hold">
                            <p:stCondLst>
                              <p:cond delay="1500"/>
                            </p:stCondLst>
                            <p:childTnLst>
                              <p:par>
                                <p:cTn id="9" presetID="22" presetClass="entr" presetSubtype="1" fill="hold" nodeType="afterEffect">
                                  <p:stCondLst>
                                    <p:cond delay="25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1000"/>
                                        <p:tgtEl>
                                          <p:spTgt spid="7"/>
                                        </p:tgtEl>
                                      </p:cBhvr>
                                    </p:animEffect>
                                  </p:childTnLst>
                                </p:cTn>
                              </p:par>
                            </p:childTnLst>
                          </p:cTn>
                        </p:par>
                        <p:par>
                          <p:cTn id="12" fill="hold">
                            <p:stCondLst>
                              <p:cond delay="2750"/>
                            </p:stCondLst>
                            <p:childTnLst>
                              <p:par>
                                <p:cTn id="13" presetID="10" presetClass="entr" presetSubtype="0" fill="hold" grpId="0" nodeType="afterEffect">
                                  <p:stCondLst>
                                    <p:cond delay="5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状态空间表示法</a:t>
            </a:r>
          </a:p>
        </p:txBody>
      </p:sp>
      <p:sp>
        <p:nvSpPr>
          <p:cNvPr id="25" name="文本框 24">
            <a:extLst>
              <a:ext uri="{FF2B5EF4-FFF2-40B4-BE49-F238E27FC236}">
                <a16:creationId xmlns:a16="http://schemas.microsoft.com/office/drawing/2014/main" id="{A66F034F-2475-4259-AAE0-A5AD80B7A86E}"/>
              </a:ext>
            </a:extLst>
          </p:cNvPr>
          <p:cNvSpPr txBox="1"/>
          <p:nvPr/>
        </p:nvSpPr>
        <p:spPr>
          <a:xfrm>
            <a:off x="1896792" y="1018632"/>
            <a:ext cx="8105856" cy="584775"/>
          </a:xfrm>
          <a:prstGeom prst="rect">
            <a:avLst/>
          </a:prstGeom>
          <a:noFill/>
        </p:spPr>
        <p:txBody>
          <a:bodyPr wrap="square">
            <a:spAutoFit/>
          </a:bodyPr>
          <a:lstStyle/>
          <a:p>
            <a:r>
              <a:rPr lang="zh-CN" altLang="en-US" sz="3200" dirty="0">
                <a:solidFill>
                  <a:srgbClr val="FF0000"/>
                </a:solidFill>
                <a:latin typeface="方正姚体" panose="02010601030101010101" pitchFamily="2" charset="-122"/>
                <a:ea typeface="方正姚体" panose="02010601030101010101" pitchFamily="2" charset="-122"/>
              </a:rPr>
              <a:t>八数码问题的状态空间图表示</a:t>
            </a:r>
          </a:p>
        </p:txBody>
      </p:sp>
      <p:graphicFrame>
        <p:nvGraphicFramePr>
          <p:cNvPr id="12" name="Object 13">
            <a:extLst>
              <a:ext uri="{FF2B5EF4-FFF2-40B4-BE49-F238E27FC236}">
                <a16:creationId xmlns:a16="http://schemas.microsoft.com/office/drawing/2014/main" id="{6521B84D-904C-44C7-927A-B9E7F2F634B5}"/>
              </a:ext>
            </a:extLst>
          </p:cNvPr>
          <p:cNvGraphicFramePr>
            <a:graphicFrameLocks noChangeAspect="1"/>
          </p:cNvGraphicFramePr>
          <p:nvPr/>
        </p:nvGraphicFramePr>
        <p:xfrm>
          <a:off x="1896792" y="1735302"/>
          <a:ext cx="8534400" cy="4572000"/>
        </p:xfrm>
        <a:graphic>
          <a:graphicData uri="http://schemas.openxmlformats.org/presentationml/2006/ole">
            <mc:AlternateContent xmlns:mc="http://schemas.openxmlformats.org/markup-compatibility/2006">
              <mc:Choice xmlns:v="urn:schemas-microsoft-com:vml" Requires="v">
                <p:oleObj r:id="rId2" imgW="6095238" imgH="3238952" progId="Paint.Picture">
                  <p:embed/>
                </p:oleObj>
              </mc:Choice>
              <mc:Fallback>
                <p:oleObj r:id="rId2" imgW="6095238" imgH="3238952" progId="Paint.Picture">
                  <p:embed/>
                  <p:pic>
                    <p:nvPicPr>
                      <p:cNvPr id="12" name="Object 13">
                        <a:extLst>
                          <a:ext uri="{FF2B5EF4-FFF2-40B4-BE49-F238E27FC236}">
                            <a16:creationId xmlns:a16="http://schemas.microsoft.com/office/drawing/2014/main" id="{6521B84D-904C-44C7-927A-B9E7F2F634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6792" y="1735302"/>
                        <a:ext cx="8534400" cy="4572000"/>
                      </a:xfrm>
                      <a:prstGeom prst="rect">
                        <a:avLst/>
                      </a:prstGeom>
                      <a:noFill/>
                      <a:ln w="9525">
                        <a:solidFill>
                          <a:srgbClr val="80808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1296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状态空间表示法</a:t>
            </a:r>
          </a:p>
        </p:txBody>
      </p:sp>
      <p:sp>
        <p:nvSpPr>
          <p:cNvPr id="5" name="文本框 26">
            <a:extLst>
              <a:ext uri="{FF2B5EF4-FFF2-40B4-BE49-F238E27FC236}">
                <a16:creationId xmlns:a16="http://schemas.microsoft.com/office/drawing/2014/main" id="{62043B4B-474C-47B2-92A0-5D21278674F3}"/>
              </a:ext>
            </a:extLst>
          </p:cNvPr>
          <p:cNvSpPr txBox="1">
            <a:spLocks noChangeArrowheads="1"/>
          </p:cNvSpPr>
          <p:nvPr/>
        </p:nvSpPr>
        <p:spPr bwMode="auto">
          <a:xfrm>
            <a:off x="2463800" y="1943356"/>
            <a:ext cx="7137308" cy="2576667"/>
          </a:xfrm>
          <a:prstGeom prst="rect">
            <a:avLst/>
          </a:prstGeom>
          <a:solidFill>
            <a:srgbClr val="A3FFFF"/>
          </a:solidFill>
          <a:ln>
            <a:noFill/>
          </a:ln>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50000"/>
              </a:lnSpc>
              <a:buFont typeface="Wingdings" panose="05000000000000000000" pitchFamily="2" charset="2"/>
              <a:buChar char="Ø"/>
            </a:pPr>
            <a:r>
              <a:rPr lang="zh-CN" altLang="en-US" sz="2800" dirty="0">
                <a:solidFill>
                  <a:prstClr val="black"/>
                </a:solidFill>
                <a:latin typeface="黑体"/>
                <a:ea typeface="黑体"/>
              </a:rPr>
              <a:t>研究能够在</a:t>
            </a:r>
            <a:r>
              <a:rPr lang="zh-CN" altLang="en-US" sz="2800" dirty="0">
                <a:solidFill>
                  <a:srgbClr val="C00000"/>
                </a:solidFill>
                <a:latin typeface="黑体"/>
                <a:ea typeface="黑体"/>
              </a:rPr>
              <a:t>有限时间</a:t>
            </a:r>
            <a:r>
              <a:rPr lang="zh-CN" altLang="en-US" sz="2800" dirty="0">
                <a:solidFill>
                  <a:prstClr val="black"/>
                </a:solidFill>
                <a:latin typeface="黑体"/>
                <a:ea typeface="黑体"/>
              </a:rPr>
              <a:t>内搜索得到</a:t>
            </a:r>
            <a:r>
              <a:rPr lang="zh-CN" altLang="en-US" sz="2800" dirty="0">
                <a:solidFill>
                  <a:srgbClr val="C00000"/>
                </a:solidFill>
                <a:latin typeface="黑体"/>
                <a:ea typeface="黑体"/>
              </a:rPr>
              <a:t>较好解</a:t>
            </a:r>
            <a:r>
              <a:rPr lang="zh-CN" altLang="en-US" sz="2800" dirty="0">
                <a:solidFill>
                  <a:prstClr val="black"/>
                </a:solidFill>
                <a:latin typeface="黑体"/>
                <a:ea typeface="黑体"/>
              </a:rPr>
              <a:t>的搜索算法。</a:t>
            </a:r>
            <a:endParaRPr lang="en-US" altLang="zh-CN" sz="2800" dirty="0">
              <a:solidFill>
                <a:prstClr val="black"/>
              </a:solidFill>
              <a:latin typeface="黑体"/>
              <a:ea typeface="黑体"/>
            </a:endParaRPr>
          </a:p>
          <a:p>
            <a:pPr>
              <a:lnSpc>
                <a:spcPct val="150000"/>
              </a:lnSpc>
              <a:buFont typeface="Wingdings" panose="05000000000000000000" pitchFamily="2" charset="2"/>
              <a:buChar char="Ø"/>
            </a:pPr>
            <a:r>
              <a:rPr lang="zh-CN" altLang="en-US" sz="2800" dirty="0">
                <a:solidFill>
                  <a:prstClr val="black"/>
                </a:solidFill>
                <a:latin typeface="黑体"/>
                <a:ea typeface="黑体"/>
              </a:rPr>
              <a:t>状态空间搜索：搜索某个状态空间以求得</a:t>
            </a:r>
            <a:r>
              <a:rPr lang="zh-CN" altLang="en-US" sz="2800" dirty="0">
                <a:solidFill>
                  <a:srgbClr val="C00000"/>
                </a:solidFill>
                <a:latin typeface="黑体"/>
                <a:ea typeface="黑体"/>
              </a:rPr>
              <a:t>操作算子序列</a:t>
            </a:r>
            <a:r>
              <a:rPr lang="zh-CN" altLang="en-US" sz="2800" dirty="0">
                <a:solidFill>
                  <a:prstClr val="black"/>
                </a:solidFill>
                <a:latin typeface="黑体"/>
                <a:ea typeface="黑体"/>
              </a:rPr>
              <a:t>。</a:t>
            </a:r>
          </a:p>
        </p:txBody>
      </p:sp>
      <p:sp>
        <p:nvSpPr>
          <p:cNvPr id="6" name="标注: 弯曲线形(带边框和强调线) 5">
            <a:extLst>
              <a:ext uri="{FF2B5EF4-FFF2-40B4-BE49-F238E27FC236}">
                <a16:creationId xmlns:a16="http://schemas.microsoft.com/office/drawing/2014/main" id="{9DDF0F58-C8FD-4888-B951-88955A54239C}"/>
              </a:ext>
            </a:extLst>
          </p:cNvPr>
          <p:cNvSpPr/>
          <p:nvPr/>
        </p:nvSpPr>
        <p:spPr>
          <a:xfrm>
            <a:off x="2438496" y="4828713"/>
            <a:ext cx="5714850" cy="1219168"/>
          </a:xfrm>
          <a:prstGeom prst="accentBorderCallout2">
            <a:avLst>
              <a:gd name="adj1" fmla="val 44840"/>
              <a:gd name="adj2" fmla="val -2594"/>
              <a:gd name="adj3" fmla="val 44840"/>
              <a:gd name="adj4" fmla="val -9362"/>
              <a:gd name="adj5" fmla="val -28245"/>
              <a:gd name="adj6" fmla="val 2116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800" dirty="0">
                <a:solidFill>
                  <a:prstClr val="white"/>
                </a:solidFill>
                <a:latin typeface="黑体"/>
                <a:ea typeface="黑体"/>
              </a:rPr>
              <a:t>如何确定</a:t>
            </a:r>
            <a:r>
              <a:rPr lang="zh-CN" altLang="en-US" sz="2800" dirty="0">
                <a:solidFill>
                  <a:srgbClr val="C00000"/>
                </a:solidFill>
                <a:latin typeface="黑体"/>
                <a:ea typeface="黑体"/>
              </a:rPr>
              <a:t>操作算子的选取方式</a:t>
            </a:r>
            <a:r>
              <a:rPr lang="en-US" altLang="zh-CN" sz="2800" dirty="0">
                <a:solidFill>
                  <a:prstClr val="white"/>
                </a:solidFill>
                <a:latin typeface="黑体"/>
                <a:ea typeface="黑体"/>
              </a:rPr>
              <a:t>——</a:t>
            </a:r>
            <a:r>
              <a:rPr lang="zh-CN" altLang="en-US" sz="2800" dirty="0">
                <a:solidFill>
                  <a:prstClr val="white"/>
                </a:solidFill>
                <a:latin typeface="黑体"/>
                <a:ea typeface="黑体"/>
              </a:rPr>
              <a:t>搜索策略的主要任务</a:t>
            </a:r>
          </a:p>
        </p:txBody>
      </p:sp>
      <p:sp>
        <p:nvSpPr>
          <p:cNvPr id="7" name="左大括号 6">
            <a:extLst>
              <a:ext uri="{FF2B5EF4-FFF2-40B4-BE49-F238E27FC236}">
                <a16:creationId xmlns:a16="http://schemas.microsoft.com/office/drawing/2014/main" id="{D012CBE3-B567-4D4C-B651-A6FA5200D27E}"/>
              </a:ext>
            </a:extLst>
          </p:cNvPr>
          <p:cNvSpPr/>
          <p:nvPr/>
        </p:nvSpPr>
        <p:spPr>
          <a:xfrm>
            <a:off x="8153347" y="4665329"/>
            <a:ext cx="266693" cy="1057883"/>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prstClr val="black"/>
              </a:solidFill>
              <a:latin typeface="Times New Roman"/>
              <a:ea typeface="黑体"/>
            </a:endParaRPr>
          </a:p>
        </p:txBody>
      </p:sp>
      <p:sp>
        <p:nvSpPr>
          <p:cNvPr id="8" name="文本框 7">
            <a:extLst>
              <a:ext uri="{FF2B5EF4-FFF2-40B4-BE49-F238E27FC236}">
                <a16:creationId xmlns:a16="http://schemas.microsoft.com/office/drawing/2014/main" id="{BB2CE2C3-D564-497D-A677-90AF05F2C991}"/>
              </a:ext>
            </a:extLst>
          </p:cNvPr>
          <p:cNvSpPr txBox="1"/>
          <p:nvPr/>
        </p:nvSpPr>
        <p:spPr>
          <a:xfrm>
            <a:off x="8383060" y="4583555"/>
            <a:ext cx="1620957" cy="523220"/>
          </a:xfrm>
          <a:prstGeom prst="rect">
            <a:avLst/>
          </a:prstGeom>
          <a:noFill/>
        </p:spPr>
        <p:txBody>
          <a:bodyPr wrap="none" rtlCol="0">
            <a:spAutoFit/>
          </a:bodyPr>
          <a:lstStyle/>
          <a:p>
            <a:r>
              <a:rPr lang="zh-CN" altLang="en-US" sz="2800" dirty="0">
                <a:solidFill>
                  <a:prstClr val="black"/>
                </a:solidFill>
                <a:latin typeface="黑体"/>
                <a:ea typeface="黑体"/>
              </a:rPr>
              <a:t>盲目搜索</a:t>
            </a:r>
          </a:p>
        </p:txBody>
      </p:sp>
      <p:sp>
        <p:nvSpPr>
          <p:cNvPr id="9" name="文本框 8">
            <a:extLst>
              <a:ext uri="{FF2B5EF4-FFF2-40B4-BE49-F238E27FC236}">
                <a16:creationId xmlns:a16="http://schemas.microsoft.com/office/drawing/2014/main" id="{CA00D0E7-546B-44CA-838D-510D66F63C09}"/>
              </a:ext>
            </a:extLst>
          </p:cNvPr>
          <p:cNvSpPr txBox="1"/>
          <p:nvPr/>
        </p:nvSpPr>
        <p:spPr>
          <a:xfrm>
            <a:off x="8383060" y="5285901"/>
            <a:ext cx="1980029" cy="523220"/>
          </a:xfrm>
          <a:prstGeom prst="rect">
            <a:avLst/>
          </a:prstGeom>
          <a:noFill/>
        </p:spPr>
        <p:txBody>
          <a:bodyPr wrap="none" rtlCol="0">
            <a:spAutoFit/>
          </a:bodyPr>
          <a:lstStyle/>
          <a:p>
            <a:r>
              <a:rPr lang="zh-CN" altLang="en-US" sz="2800" dirty="0">
                <a:solidFill>
                  <a:prstClr val="black"/>
                </a:solidFill>
                <a:latin typeface="黑体"/>
                <a:ea typeface="黑体"/>
              </a:rPr>
              <a:t>启发式搜索</a:t>
            </a:r>
          </a:p>
        </p:txBody>
      </p:sp>
      <p:sp>
        <p:nvSpPr>
          <p:cNvPr id="10" name="文本框 9">
            <a:extLst>
              <a:ext uri="{FF2B5EF4-FFF2-40B4-BE49-F238E27FC236}">
                <a16:creationId xmlns:a16="http://schemas.microsoft.com/office/drawing/2014/main" id="{7C183DD3-8DEA-4776-A786-113EA8A27F22}"/>
              </a:ext>
            </a:extLst>
          </p:cNvPr>
          <p:cNvSpPr txBox="1"/>
          <p:nvPr/>
        </p:nvSpPr>
        <p:spPr>
          <a:xfrm>
            <a:off x="1896792" y="1145244"/>
            <a:ext cx="8105856" cy="584775"/>
          </a:xfrm>
          <a:prstGeom prst="rect">
            <a:avLst/>
          </a:prstGeom>
          <a:noFill/>
        </p:spPr>
        <p:txBody>
          <a:bodyPr wrap="square">
            <a:spAutoFit/>
          </a:bodyPr>
          <a:lstStyle/>
          <a:p>
            <a:r>
              <a:rPr lang="zh-CN" altLang="en-US" sz="3200" dirty="0">
                <a:solidFill>
                  <a:srgbClr val="FF0000"/>
                </a:solidFill>
                <a:latin typeface="方正姚体" panose="02010601030101010101" pitchFamily="2" charset="-122"/>
                <a:ea typeface="方正姚体" panose="02010601030101010101" pitchFamily="2" charset="-122"/>
              </a:rPr>
              <a:t>状态空间的图描述</a:t>
            </a:r>
          </a:p>
        </p:txBody>
      </p:sp>
    </p:spTree>
    <p:extLst>
      <p:ext uri="{BB962C8B-B14F-4D97-AF65-F5344CB8AC3E}">
        <p14:creationId xmlns:p14="http://schemas.microsoft.com/office/powerpoint/2010/main" val="2212882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25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fade">
                                      <p:cBhvr>
                                        <p:cTn id="11" dur="500"/>
                                        <p:tgtEl>
                                          <p:spTgt spid="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fade">
                                      <p:cBhvr>
                                        <p:cTn id="16" dur="500"/>
                                        <p:tgtEl>
                                          <p:spTgt spid="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par>
                          <p:cTn id="27" fill="hold">
                            <p:stCondLst>
                              <p:cond delay="500"/>
                            </p:stCondLst>
                            <p:childTnLst>
                              <p:par>
                                <p:cTn id="28" presetID="10" presetClass="entr" presetSubtype="0" fill="hold" grpId="0" nodeType="afterEffect">
                                  <p:stCondLst>
                                    <p:cond delay="5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par>
                          <p:cTn id="31" fill="hold">
                            <p:stCondLst>
                              <p:cond delay="1500"/>
                            </p:stCondLst>
                            <p:childTnLst>
                              <p:par>
                                <p:cTn id="32" presetID="10" presetClass="entr" presetSubtype="0" fill="hold" grpId="0" nodeType="afterEffect">
                                  <p:stCondLst>
                                    <p:cond delay="100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盲目搜索</a:t>
            </a:r>
          </a:p>
        </p:txBody>
      </p:sp>
      <p:sp>
        <p:nvSpPr>
          <p:cNvPr id="10" name="文本框 9">
            <a:extLst>
              <a:ext uri="{FF2B5EF4-FFF2-40B4-BE49-F238E27FC236}">
                <a16:creationId xmlns:a16="http://schemas.microsoft.com/office/drawing/2014/main" id="{7C183DD3-8DEA-4776-A786-113EA8A27F22}"/>
              </a:ext>
            </a:extLst>
          </p:cNvPr>
          <p:cNvSpPr txBox="1"/>
          <p:nvPr/>
        </p:nvSpPr>
        <p:spPr>
          <a:xfrm>
            <a:off x="1896792" y="1145243"/>
            <a:ext cx="8105856" cy="2185022"/>
          </a:xfrm>
          <a:prstGeom prst="rect">
            <a:avLst/>
          </a:prstGeom>
          <a:noFill/>
        </p:spPr>
        <p:txBody>
          <a:bodyPr wrap="square">
            <a:spAutoFit/>
          </a:bodyPr>
          <a:lstStyle/>
          <a:p>
            <a:pPr marL="457200" indent="-457200">
              <a:lnSpc>
                <a:spcPct val="150000"/>
              </a:lnSpc>
              <a:buFont typeface="Arial" panose="020B0604020202020204" pitchFamily="34" charset="0"/>
              <a:buChar char="•"/>
            </a:pPr>
            <a:r>
              <a:rPr lang="zh-CN" altLang="en-US" sz="3200" dirty="0">
                <a:solidFill>
                  <a:srgbClr val="FF0000"/>
                </a:solidFill>
                <a:latin typeface="方正姚体" panose="02010601030101010101" pitchFamily="2" charset="-122"/>
                <a:ea typeface="方正姚体" panose="02010601030101010101" pitchFamily="2" charset="-122"/>
              </a:rPr>
              <a:t>回溯策略</a:t>
            </a:r>
          </a:p>
          <a:p>
            <a:pPr marL="457200" indent="-457200">
              <a:lnSpc>
                <a:spcPct val="150000"/>
              </a:lnSpc>
              <a:buFont typeface="Arial" panose="020B0604020202020204" pitchFamily="34" charset="0"/>
              <a:buChar char="•"/>
            </a:pPr>
            <a:r>
              <a:rPr lang="zh-CN" altLang="en-US" sz="3200" dirty="0">
                <a:solidFill>
                  <a:srgbClr val="FF0000"/>
                </a:solidFill>
                <a:latin typeface="方正姚体" panose="02010601030101010101" pitchFamily="2" charset="-122"/>
                <a:ea typeface="方正姚体" panose="02010601030101010101" pitchFamily="2" charset="-122"/>
              </a:rPr>
              <a:t>宽度优先搜索策略</a:t>
            </a:r>
          </a:p>
          <a:p>
            <a:pPr marL="457200" indent="-457200">
              <a:lnSpc>
                <a:spcPct val="150000"/>
              </a:lnSpc>
              <a:buFont typeface="Arial" panose="020B0604020202020204" pitchFamily="34" charset="0"/>
              <a:buChar char="•"/>
            </a:pPr>
            <a:r>
              <a:rPr lang="zh-CN" altLang="en-US" sz="3200" dirty="0">
                <a:solidFill>
                  <a:srgbClr val="FF0000"/>
                </a:solidFill>
                <a:latin typeface="方正姚体" panose="02010601030101010101" pitchFamily="2" charset="-122"/>
                <a:ea typeface="方正姚体" panose="02010601030101010101" pitchFamily="2" charset="-122"/>
              </a:rPr>
              <a:t>深度优先搜索策略</a:t>
            </a:r>
          </a:p>
        </p:txBody>
      </p:sp>
    </p:spTree>
    <p:extLst>
      <p:ext uri="{BB962C8B-B14F-4D97-AF65-F5344CB8AC3E}">
        <p14:creationId xmlns:p14="http://schemas.microsoft.com/office/powerpoint/2010/main" val="2474790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盲目搜索</a:t>
            </a:r>
          </a:p>
        </p:txBody>
      </p:sp>
      <p:sp>
        <p:nvSpPr>
          <p:cNvPr id="10" name="文本框 9">
            <a:extLst>
              <a:ext uri="{FF2B5EF4-FFF2-40B4-BE49-F238E27FC236}">
                <a16:creationId xmlns:a16="http://schemas.microsoft.com/office/drawing/2014/main" id="{7C183DD3-8DEA-4776-A786-113EA8A27F22}"/>
              </a:ext>
            </a:extLst>
          </p:cNvPr>
          <p:cNvSpPr txBox="1"/>
          <p:nvPr/>
        </p:nvSpPr>
        <p:spPr>
          <a:xfrm>
            <a:off x="1896792" y="1145243"/>
            <a:ext cx="8105856" cy="707694"/>
          </a:xfrm>
          <a:prstGeom prst="rect">
            <a:avLst/>
          </a:prstGeom>
          <a:noFill/>
        </p:spPr>
        <p:txBody>
          <a:bodyPr wrap="square">
            <a:spAutoFit/>
          </a:bodyPr>
          <a:lstStyle/>
          <a:p>
            <a:pPr>
              <a:lnSpc>
                <a:spcPct val="150000"/>
              </a:lnSpc>
            </a:pPr>
            <a:r>
              <a:rPr lang="zh-CN" altLang="en-US" sz="3200" dirty="0">
                <a:solidFill>
                  <a:srgbClr val="FF0000"/>
                </a:solidFill>
                <a:latin typeface="方正姚体" panose="02010601030101010101" pitchFamily="2" charset="-122"/>
                <a:ea typeface="方正姚体" panose="02010601030101010101" pitchFamily="2" charset="-122"/>
              </a:rPr>
              <a:t>回溯策略</a:t>
            </a:r>
          </a:p>
        </p:txBody>
      </p:sp>
      <p:graphicFrame>
        <p:nvGraphicFramePr>
          <p:cNvPr id="4" name="Object 4">
            <a:extLst>
              <a:ext uri="{FF2B5EF4-FFF2-40B4-BE49-F238E27FC236}">
                <a16:creationId xmlns:a16="http://schemas.microsoft.com/office/drawing/2014/main" id="{9BD1EBE6-064C-4BC9-A874-9AFA8F2B6E88}"/>
              </a:ext>
            </a:extLst>
          </p:cNvPr>
          <p:cNvGraphicFramePr>
            <a:graphicFrameLocks noChangeAspect="1"/>
          </p:cNvGraphicFramePr>
          <p:nvPr/>
        </p:nvGraphicFramePr>
        <p:xfrm>
          <a:off x="2495551" y="1736387"/>
          <a:ext cx="7129463" cy="3670252"/>
        </p:xfrm>
        <a:graphic>
          <a:graphicData uri="http://schemas.openxmlformats.org/presentationml/2006/ole">
            <mc:AlternateContent xmlns:mc="http://schemas.openxmlformats.org/markup-compatibility/2006">
              <mc:Choice xmlns:v="urn:schemas-microsoft-com:vml" Requires="v">
                <p:oleObj name="Visio" r:id="rId2" imgW="4071596" imgH="2138348" progId="Visio.Drawing.11">
                  <p:embed/>
                </p:oleObj>
              </mc:Choice>
              <mc:Fallback>
                <p:oleObj name="Visio" r:id="rId2" imgW="4071596" imgH="2138348" progId="Visio.Drawing.11">
                  <p:embed/>
                  <p:pic>
                    <p:nvPicPr>
                      <p:cNvPr id="4" name="Object 4">
                        <a:extLst>
                          <a:ext uri="{FF2B5EF4-FFF2-40B4-BE49-F238E27FC236}">
                            <a16:creationId xmlns:a16="http://schemas.microsoft.com/office/drawing/2014/main" id="{9BD1EBE6-064C-4BC9-A874-9AFA8F2B6E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551" y="1736387"/>
                        <a:ext cx="7129463" cy="3670252"/>
                      </a:xfrm>
                      <a:prstGeom prst="rect">
                        <a:avLst/>
                      </a:prstGeom>
                      <a:noFill/>
                      <a:ln>
                        <a:noFill/>
                      </a:ln>
                    </p:spPr>
                  </p:pic>
                </p:oleObj>
              </mc:Fallback>
            </mc:AlternateContent>
          </a:graphicData>
        </a:graphic>
      </p:graphicFrame>
      <p:sp>
        <p:nvSpPr>
          <p:cNvPr id="5" name="Rectangle 5">
            <a:extLst>
              <a:ext uri="{FF2B5EF4-FFF2-40B4-BE49-F238E27FC236}">
                <a16:creationId xmlns:a16="http://schemas.microsoft.com/office/drawing/2014/main" id="{CBA3627B-6FDC-47DD-BFDF-3AC45E002B00}"/>
              </a:ext>
            </a:extLst>
          </p:cNvPr>
          <p:cNvSpPr>
            <a:spLocks noChangeArrowheads="1"/>
          </p:cNvSpPr>
          <p:nvPr/>
        </p:nvSpPr>
        <p:spPr bwMode="auto">
          <a:xfrm>
            <a:off x="4715109" y="5572113"/>
            <a:ext cx="27093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dirty="0">
                <a:solidFill>
                  <a:prstClr val="black"/>
                </a:solidFill>
                <a:latin typeface="黑体"/>
                <a:ea typeface="黑体"/>
              </a:rPr>
              <a:t>回溯搜索示意图</a:t>
            </a:r>
          </a:p>
        </p:txBody>
      </p:sp>
    </p:spTree>
    <p:extLst>
      <p:ext uri="{BB962C8B-B14F-4D97-AF65-F5344CB8AC3E}">
        <p14:creationId xmlns:p14="http://schemas.microsoft.com/office/powerpoint/2010/main" val="171009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1000"/>
                                        <p:tgtEl>
                                          <p:spTgt spid="1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500"/>
                            </p:stCondLst>
                            <p:childTnLst>
                              <p:par>
                                <p:cTn id="13" presetID="10" presetClass="entr" presetSubtype="0" fill="hold" grpId="0" nodeType="afterEffect">
                                  <p:stCondLst>
                                    <p:cond delay="5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盲目搜索</a:t>
            </a:r>
          </a:p>
        </p:txBody>
      </p:sp>
      <p:sp>
        <p:nvSpPr>
          <p:cNvPr id="10" name="文本框 9">
            <a:extLst>
              <a:ext uri="{FF2B5EF4-FFF2-40B4-BE49-F238E27FC236}">
                <a16:creationId xmlns:a16="http://schemas.microsoft.com/office/drawing/2014/main" id="{7C183DD3-8DEA-4776-A786-113EA8A27F22}"/>
              </a:ext>
            </a:extLst>
          </p:cNvPr>
          <p:cNvSpPr txBox="1"/>
          <p:nvPr/>
        </p:nvSpPr>
        <p:spPr>
          <a:xfrm>
            <a:off x="1934956" y="756879"/>
            <a:ext cx="8105856" cy="707694"/>
          </a:xfrm>
          <a:prstGeom prst="rect">
            <a:avLst/>
          </a:prstGeom>
          <a:noFill/>
        </p:spPr>
        <p:txBody>
          <a:bodyPr wrap="square">
            <a:spAutoFit/>
          </a:bodyPr>
          <a:lstStyle/>
          <a:p>
            <a:pPr>
              <a:lnSpc>
                <a:spcPct val="150000"/>
              </a:lnSpc>
            </a:pPr>
            <a:r>
              <a:rPr lang="zh-CN" altLang="en-US" sz="3200" dirty="0">
                <a:solidFill>
                  <a:srgbClr val="FF0000"/>
                </a:solidFill>
                <a:latin typeface="方正姚体" panose="02010601030101010101" pitchFamily="2" charset="-122"/>
                <a:ea typeface="方正姚体" panose="02010601030101010101" pitchFamily="2" charset="-122"/>
              </a:rPr>
              <a:t>回溯策略</a:t>
            </a:r>
          </a:p>
        </p:txBody>
      </p:sp>
      <p:sp>
        <p:nvSpPr>
          <p:cNvPr id="5" name="Rectangle 5">
            <a:extLst>
              <a:ext uri="{FF2B5EF4-FFF2-40B4-BE49-F238E27FC236}">
                <a16:creationId xmlns:a16="http://schemas.microsoft.com/office/drawing/2014/main" id="{CBA3627B-6FDC-47DD-BFDF-3AC45E002B00}"/>
              </a:ext>
            </a:extLst>
          </p:cNvPr>
          <p:cNvSpPr>
            <a:spLocks noChangeArrowheads="1"/>
          </p:cNvSpPr>
          <p:nvPr/>
        </p:nvSpPr>
        <p:spPr bwMode="auto">
          <a:xfrm>
            <a:off x="1998446" y="1527715"/>
            <a:ext cx="7978877" cy="4717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600" dirty="0">
                <a:solidFill>
                  <a:prstClr val="black"/>
                </a:solidFill>
                <a:latin typeface="Times New Roman"/>
                <a:ea typeface="黑体"/>
              </a:rPr>
              <a:t>回溯搜索算法</a:t>
            </a:r>
            <a:r>
              <a:rPr lang="en-US" altLang="zh-CN" sz="2600" dirty="0">
                <a:solidFill>
                  <a:prstClr val="black"/>
                </a:solidFill>
                <a:latin typeface="Times New Roman"/>
                <a:ea typeface="黑体"/>
              </a:rPr>
              <a:t>——</a:t>
            </a:r>
            <a:r>
              <a:rPr lang="zh-CN" altLang="en-US" sz="2600" dirty="0">
                <a:solidFill>
                  <a:prstClr val="black"/>
                </a:solidFill>
                <a:latin typeface="Times New Roman"/>
                <a:ea typeface="黑体"/>
              </a:rPr>
              <a:t>三张表</a:t>
            </a:r>
          </a:p>
          <a:p>
            <a:pPr eaLnBrk="1" hangingPunct="1">
              <a:lnSpc>
                <a:spcPct val="130000"/>
              </a:lnSpc>
            </a:pPr>
            <a:r>
              <a:rPr lang="en-US" altLang="zh-CN" sz="2600" dirty="0">
                <a:solidFill>
                  <a:prstClr val="black"/>
                </a:solidFill>
                <a:latin typeface="Times New Roman"/>
                <a:ea typeface="黑体"/>
              </a:rPr>
              <a:t>(1) </a:t>
            </a:r>
            <a:r>
              <a:rPr lang="zh-CN" altLang="en-US" sz="2600" dirty="0">
                <a:solidFill>
                  <a:prstClr val="black"/>
                </a:solidFill>
                <a:latin typeface="Times New Roman"/>
                <a:ea typeface="黑体"/>
              </a:rPr>
              <a:t>路径状态表（</a:t>
            </a:r>
            <a:r>
              <a:rPr lang="en-US" altLang="zh-CN" sz="2600" dirty="0">
                <a:solidFill>
                  <a:prstClr val="black"/>
                </a:solidFill>
                <a:latin typeface="Times New Roman"/>
                <a:ea typeface="黑体"/>
              </a:rPr>
              <a:t>Path States</a:t>
            </a:r>
            <a:r>
              <a:rPr lang="zh-CN" altLang="en-US" sz="2600" dirty="0">
                <a:solidFill>
                  <a:prstClr val="black"/>
                </a:solidFill>
                <a:latin typeface="Times New Roman"/>
                <a:ea typeface="黑体"/>
              </a:rPr>
              <a:t>，</a:t>
            </a:r>
            <a:r>
              <a:rPr lang="en-US" altLang="zh-CN" sz="2600" dirty="0">
                <a:solidFill>
                  <a:prstClr val="black"/>
                </a:solidFill>
                <a:latin typeface="Times New Roman"/>
                <a:ea typeface="黑体"/>
              </a:rPr>
              <a:t>PS</a:t>
            </a:r>
            <a:r>
              <a:rPr lang="zh-CN" altLang="en-US" sz="2600" dirty="0">
                <a:solidFill>
                  <a:prstClr val="black"/>
                </a:solidFill>
                <a:latin typeface="Times New Roman"/>
                <a:ea typeface="黑体"/>
              </a:rPr>
              <a:t>）：</a:t>
            </a:r>
          </a:p>
          <a:p>
            <a:pPr eaLnBrk="1" hangingPunct="1">
              <a:lnSpc>
                <a:spcPct val="130000"/>
              </a:lnSpc>
            </a:pPr>
            <a:r>
              <a:rPr lang="zh-CN" altLang="en-US" sz="2600" dirty="0">
                <a:solidFill>
                  <a:prstClr val="black"/>
                </a:solidFill>
                <a:latin typeface="Times New Roman"/>
                <a:ea typeface="黑体"/>
              </a:rPr>
              <a:t>保存当前搜索路径上的状态。若找到目的状态，</a:t>
            </a:r>
            <a:r>
              <a:rPr lang="en-US" altLang="zh-CN" sz="2600" dirty="0">
                <a:solidFill>
                  <a:prstClr val="black"/>
                </a:solidFill>
                <a:latin typeface="Times New Roman"/>
                <a:ea typeface="黑体"/>
              </a:rPr>
              <a:t>PS</a:t>
            </a:r>
            <a:r>
              <a:rPr lang="zh-CN" altLang="en-US" sz="2600" dirty="0">
                <a:solidFill>
                  <a:prstClr val="black"/>
                </a:solidFill>
                <a:latin typeface="Times New Roman"/>
                <a:ea typeface="黑体"/>
              </a:rPr>
              <a:t>是解路径上的状态有序集。 </a:t>
            </a:r>
          </a:p>
          <a:p>
            <a:pPr eaLnBrk="1" hangingPunct="1">
              <a:lnSpc>
                <a:spcPct val="130000"/>
              </a:lnSpc>
            </a:pPr>
            <a:r>
              <a:rPr lang="en-US" altLang="zh-CN" sz="2600" dirty="0">
                <a:solidFill>
                  <a:prstClr val="black"/>
                </a:solidFill>
                <a:latin typeface="Times New Roman"/>
                <a:ea typeface="黑体"/>
              </a:rPr>
              <a:t>(2) </a:t>
            </a:r>
            <a:r>
              <a:rPr lang="zh-CN" altLang="en-US" sz="2600" dirty="0">
                <a:solidFill>
                  <a:prstClr val="black"/>
                </a:solidFill>
                <a:latin typeface="Times New Roman"/>
                <a:ea typeface="黑体"/>
              </a:rPr>
              <a:t>新的路径状态表</a:t>
            </a:r>
            <a:r>
              <a:rPr lang="en-US" altLang="zh-CN" sz="2600" dirty="0">
                <a:solidFill>
                  <a:prstClr val="black"/>
                </a:solidFill>
                <a:latin typeface="Times New Roman"/>
                <a:ea typeface="黑体"/>
              </a:rPr>
              <a:t>NPS</a:t>
            </a:r>
            <a:r>
              <a:rPr lang="zh-CN" altLang="en-US" sz="2600" dirty="0">
                <a:solidFill>
                  <a:prstClr val="black"/>
                </a:solidFill>
                <a:latin typeface="Times New Roman"/>
                <a:ea typeface="黑体"/>
              </a:rPr>
              <a:t>（</a:t>
            </a:r>
            <a:r>
              <a:rPr lang="en-US" altLang="zh-CN" sz="2600" dirty="0">
                <a:solidFill>
                  <a:prstClr val="black"/>
                </a:solidFill>
                <a:latin typeface="Times New Roman"/>
                <a:ea typeface="黑体"/>
              </a:rPr>
              <a:t>New Path States</a:t>
            </a:r>
            <a:r>
              <a:rPr lang="zh-CN" altLang="en-US" sz="2600" dirty="0">
                <a:solidFill>
                  <a:prstClr val="black"/>
                </a:solidFill>
                <a:latin typeface="Times New Roman"/>
                <a:ea typeface="黑体"/>
              </a:rPr>
              <a:t>，</a:t>
            </a:r>
            <a:r>
              <a:rPr lang="en-US" altLang="zh-CN" sz="2600" dirty="0">
                <a:solidFill>
                  <a:prstClr val="black"/>
                </a:solidFill>
                <a:latin typeface="Times New Roman"/>
                <a:ea typeface="黑体"/>
              </a:rPr>
              <a:t>NPS</a:t>
            </a:r>
            <a:r>
              <a:rPr lang="zh-CN" altLang="en-US" sz="2600" dirty="0">
                <a:solidFill>
                  <a:prstClr val="black"/>
                </a:solidFill>
                <a:latin typeface="Times New Roman"/>
                <a:ea typeface="黑体"/>
              </a:rPr>
              <a:t>）：</a:t>
            </a:r>
          </a:p>
          <a:p>
            <a:pPr eaLnBrk="1" hangingPunct="1">
              <a:lnSpc>
                <a:spcPct val="130000"/>
              </a:lnSpc>
            </a:pPr>
            <a:r>
              <a:rPr lang="zh-CN" altLang="en-US" sz="2600" dirty="0">
                <a:solidFill>
                  <a:prstClr val="black"/>
                </a:solidFill>
                <a:latin typeface="Times New Roman"/>
                <a:ea typeface="黑体"/>
              </a:rPr>
              <a:t>包含等待搜索的状态，其后裔状态还未被搜索到。</a:t>
            </a:r>
            <a:endParaRPr lang="en-US" altLang="zh-CN" sz="2600" dirty="0">
              <a:solidFill>
                <a:prstClr val="black"/>
              </a:solidFill>
              <a:latin typeface="Times New Roman"/>
              <a:ea typeface="黑体"/>
            </a:endParaRPr>
          </a:p>
          <a:p>
            <a:pPr eaLnBrk="1" hangingPunct="1">
              <a:lnSpc>
                <a:spcPct val="130000"/>
              </a:lnSpc>
            </a:pPr>
            <a:r>
              <a:rPr lang="en-US" altLang="zh-CN" sz="2600" dirty="0">
                <a:solidFill>
                  <a:prstClr val="black"/>
                </a:solidFill>
                <a:latin typeface="Times New Roman"/>
                <a:ea typeface="黑体"/>
              </a:rPr>
              <a:t>(3) </a:t>
            </a:r>
            <a:r>
              <a:rPr lang="zh-CN" altLang="en-US" sz="2600" dirty="0">
                <a:solidFill>
                  <a:prstClr val="black"/>
                </a:solidFill>
                <a:latin typeface="Times New Roman"/>
                <a:ea typeface="黑体"/>
              </a:rPr>
              <a:t>不可解状态表（</a:t>
            </a:r>
            <a:r>
              <a:rPr lang="en-US" altLang="zh-CN" sz="2600" dirty="0">
                <a:solidFill>
                  <a:prstClr val="black"/>
                </a:solidFill>
                <a:latin typeface="Times New Roman"/>
                <a:ea typeface="黑体"/>
              </a:rPr>
              <a:t>No Solvable States</a:t>
            </a:r>
            <a:r>
              <a:rPr lang="zh-CN" altLang="en-US" sz="2600" dirty="0">
                <a:solidFill>
                  <a:prstClr val="black"/>
                </a:solidFill>
                <a:latin typeface="Times New Roman"/>
                <a:ea typeface="黑体"/>
              </a:rPr>
              <a:t>，</a:t>
            </a:r>
            <a:r>
              <a:rPr lang="en-US" altLang="zh-CN" sz="2600" dirty="0">
                <a:solidFill>
                  <a:prstClr val="black"/>
                </a:solidFill>
                <a:latin typeface="Times New Roman"/>
                <a:ea typeface="黑体"/>
              </a:rPr>
              <a:t>NSS</a:t>
            </a:r>
            <a:r>
              <a:rPr lang="zh-CN" altLang="en-US" sz="2600" dirty="0">
                <a:solidFill>
                  <a:prstClr val="black"/>
                </a:solidFill>
                <a:latin typeface="Times New Roman"/>
                <a:ea typeface="黑体"/>
              </a:rPr>
              <a:t>）：</a:t>
            </a:r>
          </a:p>
          <a:p>
            <a:pPr eaLnBrk="1" hangingPunct="1">
              <a:lnSpc>
                <a:spcPct val="130000"/>
              </a:lnSpc>
            </a:pPr>
            <a:r>
              <a:rPr lang="zh-CN" altLang="en-US" sz="2600" dirty="0">
                <a:solidFill>
                  <a:prstClr val="black"/>
                </a:solidFill>
                <a:latin typeface="Times New Roman"/>
                <a:ea typeface="黑体"/>
              </a:rPr>
              <a:t>列出找不到解题路径的状态。搜索中扩展出该表中状态，可立即排除，不必沿该状态继续搜索。 </a:t>
            </a:r>
          </a:p>
        </p:txBody>
      </p:sp>
    </p:spTree>
    <p:extLst>
      <p:ext uri="{BB962C8B-B14F-4D97-AF65-F5344CB8AC3E}">
        <p14:creationId xmlns:p14="http://schemas.microsoft.com/office/powerpoint/2010/main" val="1212087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1000"/>
                                        <p:tgtEl>
                                          <p:spTgt spid="10"/>
                                        </p:tgtEl>
                                      </p:cBhvr>
                                    </p:animEffect>
                                  </p:childTnLst>
                                </p:cTn>
                              </p:par>
                            </p:childTnLst>
                          </p:cTn>
                        </p:par>
                        <p:par>
                          <p:cTn id="8" fill="hold">
                            <p:stCondLst>
                              <p:cond delay="1000"/>
                            </p:stCondLst>
                            <p:childTnLst>
                              <p:par>
                                <p:cTn id="9" presetID="10" presetClass="entr" presetSubtype="0" fill="hold" grpId="0" nodeType="afterEffect">
                                  <p:stCondLst>
                                    <p:cond delay="50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500"/>
                                        <p:tgtEl>
                                          <p:spTgt spid="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fade">
                                      <p:cBhvr>
                                        <p:cTn id="20" dur="500"/>
                                        <p:tgtEl>
                                          <p:spTgt spid="5">
                                            <p:txEl>
                                              <p:pRg st="1" end="1"/>
                                            </p:txEl>
                                          </p:spTgt>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fade">
                                      <p:cBhvr>
                                        <p:cTn id="24" dur="500"/>
                                        <p:tgtEl>
                                          <p:spTgt spid="5">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animEffect transition="in" filter="fade">
                                      <p:cBhvr>
                                        <p:cTn id="29" dur="500"/>
                                        <p:tgtEl>
                                          <p:spTgt spid="5">
                                            <p:txEl>
                                              <p:pRg st="3" end="3"/>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fade">
                                      <p:cBhvr>
                                        <p:cTn id="32" dur="500"/>
                                        <p:tgtEl>
                                          <p:spTgt spid="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fade">
                                      <p:cBhvr>
                                        <p:cTn id="37" dur="500"/>
                                        <p:tgtEl>
                                          <p:spTgt spid="5">
                                            <p:txEl>
                                              <p:pRg st="5" end="5"/>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5">
                                            <p:txEl>
                                              <p:pRg st="6" end="6"/>
                                            </p:txEl>
                                          </p:spTgt>
                                        </p:tgtEl>
                                        <p:attrNameLst>
                                          <p:attrName>style.visibility</p:attrName>
                                        </p:attrNameLst>
                                      </p:cBhvr>
                                      <p:to>
                                        <p:strVal val="visible"/>
                                      </p:to>
                                    </p:set>
                                    <p:animEffect transition="in" filter="fade">
                                      <p:cBhvr>
                                        <p:cTn id="40"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盲目搜索</a:t>
            </a:r>
          </a:p>
        </p:txBody>
      </p:sp>
      <p:sp>
        <p:nvSpPr>
          <p:cNvPr id="10" name="文本框 9">
            <a:extLst>
              <a:ext uri="{FF2B5EF4-FFF2-40B4-BE49-F238E27FC236}">
                <a16:creationId xmlns:a16="http://schemas.microsoft.com/office/drawing/2014/main" id="{7C183DD3-8DEA-4776-A786-113EA8A27F22}"/>
              </a:ext>
            </a:extLst>
          </p:cNvPr>
          <p:cNvSpPr txBox="1"/>
          <p:nvPr/>
        </p:nvSpPr>
        <p:spPr>
          <a:xfrm>
            <a:off x="1852611" y="1004610"/>
            <a:ext cx="8105856" cy="707694"/>
          </a:xfrm>
          <a:prstGeom prst="rect">
            <a:avLst/>
          </a:prstGeom>
          <a:noFill/>
        </p:spPr>
        <p:txBody>
          <a:bodyPr wrap="square">
            <a:spAutoFit/>
          </a:bodyPr>
          <a:lstStyle/>
          <a:p>
            <a:pPr>
              <a:lnSpc>
                <a:spcPct val="150000"/>
              </a:lnSpc>
            </a:pPr>
            <a:r>
              <a:rPr lang="zh-CN" altLang="en-US" sz="3200" dirty="0">
                <a:solidFill>
                  <a:srgbClr val="FF0000"/>
                </a:solidFill>
                <a:latin typeface="方正姚体" panose="02010601030101010101" pitchFamily="2" charset="-122"/>
                <a:ea typeface="方正姚体" panose="02010601030101010101" pitchFamily="2" charset="-122"/>
              </a:rPr>
              <a:t>宽度优先搜索策略</a:t>
            </a:r>
          </a:p>
        </p:txBody>
      </p:sp>
      <p:sp>
        <p:nvSpPr>
          <p:cNvPr id="6" name="Rectangle 9">
            <a:extLst>
              <a:ext uri="{FF2B5EF4-FFF2-40B4-BE49-F238E27FC236}">
                <a16:creationId xmlns:a16="http://schemas.microsoft.com/office/drawing/2014/main" id="{85DF71C0-DB3C-4502-8921-7F8A0A344BEB}"/>
              </a:ext>
            </a:extLst>
          </p:cNvPr>
          <p:cNvSpPr txBox="1">
            <a:spLocks noChangeArrowheads="1"/>
          </p:cNvSpPr>
          <p:nvPr/>
        </p:nvSpPr>
        <p:spPr>
          <a:xfrm>
            <a:off x="6857981" y="1685850"/>
            <a:ext cx="3554413" cy="4369135"/>
          </a:xfrm>
          <a:prstGeom prst="rect">
            <a:avLst/>
          </a:prstGeom>
          <a:solidFill>
            <a:schemeClr val="accent1">
              <a:lumMod val="20000"/>
              <a:lumOff val="80000"/>
            </a:schemeClr>
          </a:solidFill>
        </p:spPr>
        <p:txBody>
          <a:bodyPr/>
          <a:lstStyle>
            <a:lvl1pPr marL="341313" indent="-341313" algn="l" rtl="0" eaLnBrk="0" fontAlgn="base" hangingPunct="0">
              <a:lnSpc>
                <a:spcPct val="125000"/>
              </a:lnSpc>
              <a:spcBef>
                <a:spcPct val="20000"/>
              </a:spcBef>
              <a:spcAft>
                <a:spcPct val="0"/>
              </a:spcAft>
              <a:buClr>
                <a:schemeClr val="bg2"/>
              </a:buClr>
              <a:buChar char="•"/>
              <a:defRPr sz="3200">
                <a:solidFill>
                  <a:srgbClr val="284C6A"/>
                </a:solidFill>
                <a:latin typeface="+mn-lt"/>
                <a:ea typeface="+mn-ea"/>
                <a:cs typeface="+mn-cs"/>
              </a:defRPr>
            </a:lvl1pPr>
            <a:lvl2pPr marL="741363" indent="-284163" algn="l" rtl="0" eaLnBrk="0" fontAlgn="base" hangingPunct="0">
              <a:lnSpc>
                <a:spcPct val="125000"/>
              </a:lnSpc>
              <a:spcBef>
                <a:spcPct val="20000"/>
              </a:spcBef>
              <a:spcAft>
                <a:spcPct val="0"/>
              </a:spcAft>
              <a:buFont typeface="Trebuchet MS" panose="020B0603020202020204" pitchFamily="34" charset="0"/>
              <a:buChar char="−"/>
              <a:defRPr sz="2800">
                <a:solidFill>
                  <a:schemeClr val="tx1"/>
                </a:solidFill>
                <a:latin typeface="+mn-lt"/>
                <a:ea typeface="+mn-ea"/>
              </a:defRPr>
            </a:lvl2pPr>
            <a:lvl3pPr marL="1141413" indent="-227013" algn="l" rtl="0" eaLnBrk="0" fontAlgn="base" hangingPunct="0">
              <a:lnSpc>
                <a:spcPct val="125000"/>
              </a:lnSpc>
              <a:spcBef>
                <a:spcPct val="20000"/>
              </a:spcBef>
              <a:spcAft>
                <a:spcPct val="0"/>
              </a:spcAft>
              <a:buChar char="•"/>
              <a:defRPr sz="2400">
                <a:solidFill>
                  <a:schemeClr val="tx1"/>
                </a:solidFill>
                <a:latin typeface="+mn-lt"/>
                <a:ea typeface="+mn-ea"/>
              </a:defRPr>
            </a:lvl3pPr>
            <a:lvl4pPr marL="1598613" indent="-227013" algn="l" rtl="0" eaLnBrk="0" fontAlgn="base" hangingPunct="0">
              <a:lnSpc>
                <a:spcPct val="125000"/>
              </a:lnSpc>
              <a:spcBef>
                <a:spcPct val="20000"/>
              </a:spcBef>
              <a:spcAft>
                <a:spcPct val="0"/>
              </a:spcAft>
              <a:buFont typeface="Trebuchet MS" panose="020B0603020202020204" pitchFamily="34" charset="0"/>
              <a:buChar char="−"/>
              <a:defRPr sz="2000">
                <a:solidFill>
                  <a:schemeClr val="tx1"/>
                </a:solidFill>
                <a:latin typeface="+mn-lt"/>
                <a:ea typeface="+mn-ea"/>
              </a:defRPr>
            </a:lvl4pPr>
            <a:lvl5pPr marL="2055813" indent="-227013" algn="l" rtl="0" eaLnBrk="0" fontAlgn="base" hangingPunct="0">
              <a:lnSpc>
                <a:spcPct val="125000"/>
              </a:lnSpc>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eaLnBrk="1" hangingPunct="1">
              <a:lnSpc>
                <a:spcPct val="150000"/>
              </a:lnSpc>
              <a:spcBef>
                <a:spcPts val="0"/>
              </a:spcBef>
              <a:buClr>
                <a:prstClr val="black"/>
              </a:buClr>
              <a:buFont typeface="Wingdings" panose="05000000000000000000" pitchFamily="2" charset="2"/>
              <a:buChar char="Ø"/>
            </a:pPr>
            <a:r>
              <a:rPr lang="en-US" altLang="zh-CN" sz="2600" kern="0" dirty="0">
                <a:solidFill>
                  <a:prstClr val="black"/>
                </a:solidFill>
                <a:latin typeface="黑体"/>
                <a:ea typeface="黑体"/>
                <a:cs typeface="Times New Roman" panose="02020603050405020304" pitchFamily="18" charset="0"/>
              </a:rPr>
              <a:t>Open</a:t>
            </a:r>
            <a:r>
              <a:rPr lang="zh-CN" altLang="en-US" sz="2600" kern="0" dirty="0">
                <a:solidFill>
                  <a:prstClr val="black"/>
                </a:solidFill>
                <a:latin typeface="黑体"/>
                <a:ea typeface="黑体"/>
              </a:rPr>
              <a:t>表（</a:t>
            </a:r>
            <a:r>
              <a:rPr lang="en-US" altLang="zh-CN" sz="2600" kern="0" dirty="0">
                <a:solidFill>
                  <a:prstClr val="black"/>
                </a:solidFill>
                <a:latin typeface="黑体"/>
                <a:ea typeface="黑体"/>
              </a:rPr>
              <a:t>NPS</a:t>
            </a:r>
            <a:r>
              <a:rPr lang="zh-CN" altLang="en-US" sz="2600" kern="0" dirty="0">
                <a:solidFill>
                  <a:prstClr val="black"/>
                </a:solidFill>
                <a:latin typeface="黑体"/>
                <a:ea typeface="黑体"/>
              </a:rPr>
              <a:t>表）：已生成出但其子状态未被搜索的状态。</a:t>
            </a:r>
          </a:p>
          <a:p>
            <a:pPr eaLnBrk="1" hangingPunct="1">
              <a:lnSpc>
                <a:spcPct val="150000"/>
              </a:lnSpc>
              <a:spcBef>
                <a:spcPts val="0"/>
              </a:spcBef>
              <a:buClr>
                <a:prstClr val="black"/>
              </a:buClr>
              <a:buFont typeface="Wingdings" panose="05000000000000000000" pitchFamily="2" charset="2"/>
              <a:buChar char="Ø"/>
            </a:pPr>
            <a:r>
              <a:rPr lang="en-US" altLang="zh-CN" sz="2600" kern="0" dirty="0">
                <a:solidFill>
                  <a:prstClr val="black"/>
                </a:solidFill>
                <a:latin typeface="黑体"/>
                <a:ea typeface="黑体"/>
              </a:rPr>
              <a:t>Closed</a:t>
            </a:r>
            <a:r>
              <a:rPr lang="zh-CN" altLang="en-US" sz="2600" kern="0" dirty="0">
                <a:solidFill>
                  <a:prstClr val="black"/>
                </a:solidFill>
                <a:latin typeface="黑体"/>
                <a:ea typeface="黑体"/>
              </a:rPr>
              <a:t>表（ </a:t>
            </a:r>
            <a:r>
              <a:rPr lang="en-US" altLang="zh-CN" sz="2600" kern="0" dirty="0">
                <a:solidFill>
                  <a:prstClr val="black"/>
                </a:solidFill>
                <a:latin typeface="黑体"/>
                <a:ea typeface="黑体"/>
              </a:rPr>
              <a:t>PS</a:t>
            </a:r>
            <a:r>
              <a:rPr lang="zh-CN" altLang="en-US" sz="2600" kern="0" dirty="0">
                <a:solidFill>
                  <a:prstClr val="black"/>
                </a:solidFill>
                <a:latin typeface="黑体"/>
                <a:ea typeface="黑体"/>
              </a:rPr>
              <a:t>表和</a:t>
            </a:r>
            <a:r>
              <a:rPr lang="en-US" altLang="zh-CN" sz="2600" kern="0" dirty="0">
                <a:solidFill>
                  <a:prstClr val="black"/>
                </a:solidFill>
                <a:latin typeface="黑体"/>
                <a:ea typeface="黑体"/>
              </a:rPr>
              <a:t>NSS</a:t>
            </a:r>
            <a:r>
              <a:rPr lang="zh-CN" altLang="en-US" sz="2600" kern="0" dirty="0">
                <a:solidFill>
                  <a:prstClr val="black"/>
                </a:solidFill>
                <a:latin typeface="黑体"/>
                <a:ea typeface="黑体"/>
              </a:rPr>
              <a:t>表的合并）：记录已被生成扩展过的状态。  </a:t>
            </a:r>
          </a:p>
        </p:txBody>
      </p:sp>
      <p:grpSp>
        <p:nvGrpSpPr>
          <p:cNvPr id="7" name="Group 11">
            <a:extLst>
              <a:ext uri="{FF2B5EF4-FFF2-40B4-BE49-F238E27FC236}">
                <a16:creationId xmlns:a16="http://schemas.microsoft.com/office/drawing/2014/main" id="{19C2298F-4F2C-4B36-9DF0-570F1B3B6D16}"/>
              </a:ext>
            </a:extLst>
          </p:cNvPr>
          <p:cNvGrpSpPr>
            <a:grpSpLocks noChangeAspect="1"/>
          </p:cNvGrpSpPr>
          <p:nvPr/>
        </p:nvGrpSpPr>
        <p:grpSpPr bwMode="auto">
          <a:xfrm>
            <a:off x="1757336" y="1531430"/>
            <a:ext cx="5329238" cy="4789621"/>
            <a:chOff x="96" y="624"/>
            <a:chExt cx="3357" cy="3311"/>
          </a:xfrm>
        </p:grpSpPr>
        <p:sp>
          <p:nvSpPr>
            <p:cNvPr id="8" name="AutoShape 10">
              <a:extLst>
                <a:ext uri="{FF2B5EF4-FFF2-40B4-BE49-F238E27FC236}">
                  <a16:creationId xmlns:a16="http://schemas.microsoft.com/office/drawing/2014/main" id="{04E11763-A346-4B6B-94CA-20A491822F91}"/>
                </a:ext>
              </a:extLst>
            </p:cNvPr>
            <p:cNvSpPr>
              <a:spLocks noChangeAspect="1" noChangeArrowheads="1" noTextEdit="1"/>
            </p:cNvSpPr>
            <p:nvPr/>
          </p:nvSpPr>
          <p:spPr bwMode="auto">
            <a:xfrm>
              <a:off x="96" y="624"/>
              <a:ext cx="3357" cy="3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latin typeface="Times New Roman"/>
                <a:ea typeface="黑体"/>
              </a:endParaRPr>
            </a:p>
          </p:txBody>
        </p:sp>
        <p:sp>
          <p:nvSpPr>
            <p:cNvPr id="9" name="Oval 12">
              <a:extLst>
                <a:ext uri="{FF2B5EF4-FFF2-40B4-BE49-F238E27FC236}">
                  <a16:creationId xmlns:a16="http://schemas.microsoft.com/office/drawing/2014/main" id="{E5AE1911-D094-46E9-AD9E-5DA0905E6EC2}"/>
                </a:ext>
              </a:extLst>
            </p:cNvPr>
            <p:cNvSpPr>
              <a:spLocks noChangeArrowheads="1"/>
            </p:cNvSpPr>
            <p:nvPr/>
          </p:nvSpPr>
          <p:spPr bwMode="auto">
            <a:xfrm>
              <a:off x="2988" y="2341"/>
              <a:ext cx="101"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1" name="Oval 13">
              <a:extLst>
                <a:ext uri="{FF2B5EF4-FFF2-40B4-BE49-F238E27FC236}">
                  <a16:creationId xmlns:a16="http://schemas.microsoft.com/office/drawing/2014/main" id="{BB79F49B-199F-45A5-8F29-F337A37B2604}"/>
                </a:ext>
              </a:extLst>
            </p:cNvPr>
            <p:cNvSpPr>
              <a:spLocks noChangeArrowheads="1"/>
            </p:cNvSpPr>
            <p:nvPr/>
          </p:nvSpPr>
          <p:spPr bwMode="auto">
            <a:xfrm>
              <a:off x="2988" y="2341"/>
              <a:ext cx="101"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2" name="Oval 14">
              <a:extLst>
                <a:ext uri="{FF2B5EF4-FFF2-40B4-BE49-F238E27FC236}">
                  <a16:creationId xmlns:a16="http://schemas.microsoft.com/office/drawing/2014/main" id="{BC75C9F6-7B41-400F-A645-C53FDD4D5FF3}"/>
                </a:ext>
              </a:extLst>
            </p:cNvPr>
            <p:cNvSpPr>
              <a:spLocks noChangeArrowheads="1"/>
            </p:cNvSpPr>
            <p:nvPr/>
          </p:nvSpPr>
          <p:spPr bwMode="auto">
            <a:xfrm>
              <a:off x="1658" y="2341"/>
              <a:ext cx="100"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3" name="Oval 15">
              <a:extLst>
                <a:ext uri="{FF2B5EF4-FFF2-40B4-BE49-F238E27FC236}">
                  <a16:creationId xmlns:a16="http://schemas.microsoft.com/office/drawing/2014/main" id="{D37292C6-02C8-491C-A5DF-E8529DAE9E7C}"/>
                </a:ext>
              </a:extLst>
            </p:cNvPr>
            <p:cNvSpPr>
              <a:spLocks noChangeArrowheads="1"/>
            </p:cNvSpPr>
            <p:nvPr/>
          </p:nvSpPr>
          <p:spPr bwMode="auto">
            <a:xfrm>
              <a:off x="1658" y="2341"/>
              <a:ext cx="100"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4" name="Oval 16">
              <a:extLst>
                <a:ext uri="{FF2B5EF4-FFF2-40B4-BE49-F238E27FC236}">
                  <a16:creationId xmlns:a16="http://schemas.microsoft.com/office/drawing/2014/main" id="{31784004-6071-41BC-8D98-18F8F549EDB2}"/>
                </a:ext>
              </a:extLst>
            </p:cNvPr>
            <p:cNvSpPr>
              <a:spLocks noChangeArrowheads="1"/>
            </p:cNvSpPr>
            <p:nvPr/>
          </p:nvSpPr>
          <p:spPr bwMode="auto">
            <a:xfrm>
              <a:off x="1160" y="1615"/>
              <a:ext cx="100" cy="146"/>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5" name="Oval 17">
              <a:extLst>
                <a:ext uri="{FF2B5EF4-FFF2-40B4-BE49-F238E27FC236}">
                  <a16:creationId xmlns:a16="http://schemas.microsoft.com/office/drawing/2014/main" id="{0F2390FF-8310-4EF9-B36D-F6509B715E87}"/>
                </a:ext>
              </a:extLst>
            </p:cNvPr>
            <p:cNvSpPr>
              <a:spLocks noChangeArrowheads="1"/>
            </p:cNvSpPr>
            <p:nvPr/>
          </p:nvSpPr>
          <p:spPr bwMode="auto">
            <a:xfrm>
              <a:off x="1160" y="1615"/>
              <a:ext cx="100" cy="146"/>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6" name="Oval 18">
              <a:extLst>
                <a:ext uri="{FF2B5EF4-FFF2-40B4-BE49-F238E27FC236}">
                  <a16:creationId xmlns:a16="http://schemas.microsoft.com/office/drawing/2014/main" id="{FCB83F87-D41A-41AC-A15E-DE8B366C0B45}"/>
                </a:ext>
              </a:extLst>
            </p:cNvPr>
            <p:cNvSpPr>
              <a:spLocks noChangeArrowheads="1"/>
            </p:cNvSpPr>
            <p:nvPr/>
          </p:nvSpPr>
          <p:spPr bwMode="auto">
            <a:xfrm>
              <a:off x="2490" y="1615"/>
              <a:ext cx="99" cy="146"/>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7" name="Oval 19">
              <a:extLst>
                <a:ext uri="{FF2B5EF4-FFF2-40B4-BE49-F238E27FC236}">
                  <a16:creationId xmlns:a16="http://schemas.microsoft.com/office/drawing/2014/main" id="{1EE014B8-0550-4736-9962-F00271EF462A}"/>
                </a:ext>
              </a:extLst>
            </p:cNvPr>
            <p:cNvSpPr>
              <a:spLocks noChangeArrowheads="1"/>
            </p:cNvSpPr>
            <p:nvPr/>
          </p:nvSpPr>
          <p:spPr bwMode="auto">
            <a:xfrm>
              <a:off x="2490" y="1615"/>
              <a:ext cx="99" cy="146"/>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8" name="Oval 20">
              <a:extLst>
                <a:ext uri="{FF2B5EF4-FFF2-40B4-BE49-F238E27FC236}">
                  <a16:creationId xmlns:a16="http://schemas.microsoft.com/office/drawing/2014/main" id="{FEA106AF-DA70-46D9-82E2-E88DE8E7E9F5}"/>
                </a:ext>
              </a:extLst>
            </p:cNvPr>
            <p:cNvSpPr>
              <a:spLocks noChangeArrowheads="1"/>
            </p:cNvSpPr>
            <p:nvPr/>
          </p:nvSpPr>
          <p:spPr bwMode="auto">
            <a:xfrm>
              <a:off x="611" y="2341"/>
              <a:ext cx="100"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9" name="Oval 21">
              <a:extLst>
                <a:ext uri="{FF2B5EF4-FFF2-40B4-BE49-F238E27FC236}">
                  <a16:creationId xmlns:a16="http://schemas.microsoft.com/office/drawing/2014/main" id="{72A97C78-5372-48E4-98D4-DAA739913BCF}"/>
                </a:ext>
              </a:extLst>
            </p:cNvPr>
            <p:cNvSpPr>
              <a:spLocks noChangeArrowheads="1"/>
            </p:cNvSpPr>
            <p:nvPr/>
          </p:nvSpPr>
          <p:spPr bwMode="auto">
            <a:xfrm>
              <a:off x="611" y="2341"/>
              <a:ext cx="100"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0" name="Oval 22">
              <a:extLst>
                <a:ext uri="{FF2B5EF4-FFF2-40B4-BE49-F238E27FC236}">
                  <a16:creationId xmlns:a16="http://schemas.microsoft.com/office/drawing/2014/main" id="{FEB18971-8923-44FA-97E0-693250433C85}"/>
                </a:ext>
              </a:extLst>
            </p:cNvPr>
            <p:cNvSpPr>
              <a:spLocks noChangeArrowheads="1"/>
            </p:cNvSpPr>
            <p:nvPr/>
          </p:nvSpPr>
          <p:spPr bwMode="auto">
            <a:xfrm>
              <a:off x="1825" y="963"/>
              <a:ext cx="99"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1" name="Oval 23">
              <a:extLst>
                <a:ext uri="{FF2B5EF4-FFF2-40B4-BE49-F238E27FC236}">
                  <a16:creationId xmlns:a16="http://schemas.microsoft.com/office/drawing/2014/main" id="{C4D9CEC9-1734-42E4-83FB-3750879CD12F}"/>
                </a:ext>
              </a:extLst>
            </p:cNvPr>
            <p:cNvSpPr>
              <a:spLocks noChangeArrowheads="1"/>
            </p:cNvSpPr>
            <p:nvPr/>
          </p:nvSpPr>
          <p:spPr bwMode="auto">
            <a:xfrm>
              <a:off x="1825" y="963"/>
              <a:ext cx="99"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2" name="Oval 24">
              <a:extLst>
                <a:ext uri="{FF2B5EF4-FFF2-40B4-BE49-F238E27FC236}">
                  <a16:creationId xmlns:a16="http://schemas.microsoft.com/office/drawing/2014/main" id="{9BD53FA4-B204-41B8-A39B-7F3FD363EE79}"/>
                </a:ext>
              </a:extLst>
            </p:cNvPr>
            <p:cNvSpPr>
              <a:spLocks noChangeArrowheads="1"/>
            </p:cNvSpPr>
            <p:nvPr/>
          </p:nvSpPr>
          <p:spPr bwMode="auto">
            <a:xfrm>
              <a:off x="1991" y="2341"/>
              <a:ext cx="99"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3" name="Oval 25">
              <a:extLst>
                <a:ext uri="{FF2B5EF4-FFF2-40B4-BE49-F238E27FC236}">
                  <a16:creationId xmlns:a16="http://schemas.microsoft.com/office/drawing/2014/main" id="{055159ED-2ADE-41F3-9B85-0C0DE25C4AFE}"/>
                </a:ext>
              </a:extLst>
            </p:cNvPr>
            <p:cNvSpPr>
              <a:spLocks noChangeArrowheads="1"/>
            </p:cNvSpPr>
            <p:nvPr/>
          </p:nvSpPr>
          <p:spPr bwMode="auto">
            <a:xfrm>
              <a:off x="1991" y="2341"/>
              <a:ext cx="99"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5" name="Oval 26">
              <a:extLst>
                <a:ext uri="{FF2B5EF4-FFF2-40B4-BE49-F238E27FC236}">
                  <a16:creationId xmlns:a16="http://schemas.microsoft.com/office/drawing/2014/main" id="{237DEFE4-99A2-4EB0-BB29-45DC88487F28}"/>
                </a:ext>
              </a:extLst>
            </p:cNvPr>
            <p:cNvSpPr>
              <a:spLocks noChangeArrowheads="1"/>
            </p:cNvSpPr>
            <p:nvPr/>
          </p:nvSpPr>
          <p:spPr bwMode="auto">
            <a:xfrm>
              <a:off x="162" y="3066"/>
              <a:ext cx="100"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6" name="Oval 27">
              <a:extLst>
                <a:ext uri="{FF2B5EF4-FFF2-40B4-BE49-F238E27FC236}">
                  <a16:creationId xmlns:a16="http://schemas.microsoft.com/office/drawing/2014/main" id="{52EDECC8-0823-4A22-AE3B-1582E9372207}"/>
                </a:ext>
              </a:extLst>
            </p:cNvPr>
            <p:cNvSpPr>
              <a:spLocks noChangeArrowheads="1"/>
            </p:cNvSpPr>
            <p:nvPr/>
          </p:nvSpPr>
          <p:spPr bwMode="auto">
            <a:xfrm>
              <a:off x="162" y="3066"/>
              <a:ext cx="100"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7" name="Oval 28">
              <a:extLst>
                <a:ext uri="{FF2B5EF4-FFF2-40B4-BE49-F238E27FC236}">
                  <a16:creationId xmlns:a16="http://schemas.microsoft.com/office/drawing/2014/main" id="{4AD04BA4-B75F-4FF4-AFEA-A34D0B47B424}"/>
                </a:ext>
              </a:extLst>
            </p:cNvPr>
            <p:cNvSpPr>
              <a:spLocks noChangeArrowheads="1"/>
            </p:cNvSpPr>
            <p:nvPr/>
          </p:nvSpPr>
          <p:spPr bwMode="auto">
            <a:xfrm>
              <a:off x="1160" y="2341"/>
              <a:ext cx="100"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8" name="Oval 29">
              <a:extLst>
                <a:ext uri="{FF2B5EF4-FFF2-40B4-BE49-F238E27FC236}">
                  <a16:creationId xmlns:a16="http://schemas.microsoft.com/office/drawing/2014/main" id="{BB32CC72-4C74-4F2D-A5FD-4E0915C99995}"/>
                </a:ext>
              </a:extLst>
            </p:cNvPr>
            <p:cNvSpPr>
              <a:spLocks noChangeArrowheads="1"/>
            </p:cNvSpPr>
            <p:nvPr/>
          </p:nvSpPr>
          <p:spPr bwMode="auto">
            <a:xfrm>
              <a:off x="1160" y="2341"/>
              <a:ext cx="100"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9" name="Oval 30">
              <a:extLst>
                <a:ext uri="{FF2B5EF4-FFF2-40B4-BE49-F238E27FC236}">
                  <a16:creationId xmlns:a16="http://schemas.microsoft.com/office/drawing/2014/main" id="{2C391A66-1A2A-4DF0-B9CD-4A64786305D2}"/>
                </a:ext>
              </a:extLst>
            </p:cNvPr>
            <p:cNvSpPr>
              <a:spLocks noChangeArrowheads="1"/>
            </p:cNvSpPr>
            <p:nvPr/>
          </p:nvSpPr>
          <p:spPr bwMode="auto">
            <a:xfrm>
              <a:off x="827" y="3066"/>
              <a:ext cx="100"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30" name="Oval 31">
              <a:extLst>
                <a:ext uri="{FF2B5EF4-FFF2-40B4-BE49-F238E27FC236}">
                  <a16:creationId xmlns:a16="http://schemas.microsoft.com/office/drawing/2014/main" id="{1E768104-9D04-4265-A04F-2BDCA54C0D05}"/>
                </a:ext>
              </a:extLst>
            </p:cNvPr>
            <p:cNvSpPr>
              <a:spLocks noChangeArrowheads="1"/>
            </p:cNvSpPr>
            <p:nvPr/>
          </p:nvSpPr>
          <p:spPr bwMode="auto">
            <a:xfrm>
              <a:off x="827" y="3066"/>
              <a:ext cx="100"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31" name="Oval 32">
              <a:extLst>
                <a:ext uri="{FF2B5EF4-FFF2-40B4-BE49-F238E27FC236}">
                  <a16:creationId xmlns:a16="http://schemas.microsoft.com/office/drawing/2014/main" id="{27C8758B-B110-475E-A32C-A0D5D24806E4}"/>
                </a:ext>
              </a:extLst>
            </p:cNvPr>
            <p:cNvSpPr>
              <a:spLocks noChangeArrowheads="1"/>
            </p:cNvSpPr>
            <p:nvPr/>
          </p:nvSpPr>
          <p:spPr bwMode="auto">
            <a:xfrm>
              <a:off x="2490" y="2341"/>
              <a:ext cx="99"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32" name="Oval 33">
              <a:extLst>
                <a:ext uri="{FF2B5EF4-FFF2-40B4-BE49-F238E27FC236}">
                  <a16:creationId xmlns:a16="http://schemas.microsoft.com/office/drawing/2014/main" id="{F68743AB-056A-4379-BA61-6A51101AAB81}"/>
                </a:ext>
              </a:extLst>
            </p:cNvPr>
            <p:cNvSpPr>
              <a:spLocks noChangeArrowheads="1"/>
            </p:cNvSpPr>
            <p:nvPr/>
          </p:nvSpPr>
          <p:spPr bwMode="auto">
            <a:xfrm>
              <a:off x="2490" y="2341"/>
              <a:ext cx="99"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33" name="Line 34">
              <a:extLst>
                <a:ext uri="{FF2B5EF4-FFF2-40B4-BE49-F238E27FC236}">
                  <a16:creationId xmlns:a16="http://schemas.microsoft.com/office/drawing/2014/main" id="{F4AB2FA1-48E6-454C-9B81-290B136141E1}"/>
                </a:ext>
              </a:extLst>
            </p:cNvPr>
            <p:cNvSpPr>
              <a:spLocks noChangeShapeType="1"/>
            </p:cNvSpPr>
            <p:nvPr/>
          </p:nvSpPr>
          <p:spPr bwMode="auto">
            <a:xfrm flipV="1">
              <a:off x="1328" y="1094"/>
              <a:ext cx="518" cy="489"/>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34" name="Freeform 35">
              <a:extLst>
                <a:ext uri="{FF2B5EF4-FFF2-40B4-BE49-F238E27FC236}">
                  <a16:creationId xmlns:a16="http://schemas.microsoft.com/office/drawing/2014/main" id="{37E67E43-1028-4452-9213-ECEF55E92CF1}"/>
                </a:ext>
              </a:extLst>
            </p:cNvPr>
            <p:cNvSpPr>
              <a:spLocks/>
            </p:cNvSpPr>
            <p:nvPr/>
          </p:nvSpPr>
          <p:spPr bwMode="auto">
            <a:xfrm>
              <a:off x="1253" y="1536"/>
              <a:ext cx="99" cy="117"/>
            </a:xfrm>
            <a:custGeom>
              <a:avLst/>
              <a:gdLst>
                <a:gd name="T0" fmla="*/ 99 w 99"/>
                <a:gd name="T1" fmla="*/ 79 h 117"/>
                <a:gd name="T2" fmla="*/ 0 w 99"/>
                <a:gd name="T3" fmla="*/ 117 h 117"/>
                <a:gd name="T4" fmla="*/ 64 w 99"/>
                <a:gd name="T5" fmla="*/ 0 h 117"/>
                <a:gd name="T6" fmla="*/ 99 w 99"/>
                <a:gd name="T7" fmla="*/ 79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 h="117">
                  <a:moveTo>
                    <a:pt x="99" y="79"/>
                  </a:moveTo>
                  <a:lnTo>
                    <a:pt x="0" y="117"/>
                  </a:lnTo>
                  <a:lnTo>
                    <a:pt x="64" y="0"/>
                  </a:lnTo>
                  <a:lnTo>
                    <a:pt x="99" y="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35" name="Line 36">
              <a:extLst>
                <a:ext uri="{FF2B5EF4-FFF2-40B4-BE49-F238E27FC236}">
                  <a16:creationId xmlns:a16="http://schemas.microsoft.com/office/drawing/2014/main" id="{83089F21-BD8A-4FA1-805C-6BD7621FFAB8}"/>
                </a:ext>
              </a:extLst>
            </p:cNvPr>
            <p:cNvSpPr>
              <a:spLocks noChangeShapeType="1"/>
            </p:cNvSpPr>
            <p:nvPr/>
          </p:nvSpPr>
          <p:spPr bwMode="auto">
            <a:xfrm flipV="1">
              <a:off x="769" y="1759"/>
              <a:ext cx="428" cy="527"/>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36" name="Freeform 37">
              <a:extLst>
                <a:ext uri="{FF2B5EF4-FFF2-40B4-BE49-F238E27FC236}">
                  <a16:creationId xmlns:a16="http://schemas.microsoft.com/office/drawing/2014/main" id="{4FFADAD7-B5A9-4BD1-98BF-61A1C9BBA95B}"/>
                </a:ext>
              </a:extLst>
            </p:cNvPr>
            <p:cNvSpPr>
              <a:spLocks/>
            </p:cNvSpPr>
            <p:nvPr/>
          </p:nvSpPr>
          <p:spPr bwMode="auto">
            <a:xfrm>
              <a:off x="701" y="2243"/>
              <a:ext cx="94" cy="127"/>
            </a:xfrm>
            <a:custGeom>
              <a:avLst/>
              <a:gdLst>
                <a:gd name="T0" fmla="*/ 94 w 94"/>
                <a:gd name="T1" fmla="*/ 71 h 127"/>
                <a:gd name="T2" fmla="*/ 0 w 94"/>
                <a:gd name="T3" fmla="*/ 127 h 127"/>
                <a:gd name="T4" fmla="*/ 53 w 94"/>
                <a:gd name="T5" fmla="*/ 0 h 127"/>
                <a:gd name="T6" fmla="*/ 94 w 94"/>
                <a:gd name="T7" fmla="*/ 71 h 12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 h="127">
                  <a:moveTo>
                    <a:pt x="94" y="71"/>
                  </a:moveTo>
                  <a:lnTo>
                    <a:pt x="0" y="127"/>
                  </a:lnTo>
                  <a:lnTo>
                    <a:pt x="53" y="0"/>
                  </a:lnTo>
                  <a:lnTo>
                    <a:pt x="94" y="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37" name="Line 38">
              <a:extLst>
                <a:ext uri="{FF2B5EF4-FFF2-40B4-BE49-F238E27FC236}">
                  <a16:creationId xmlns:a16="http://schemas.microsoft.com/office/drawing/2014/main" id="{01A58CB3-FE81-49C1-84AD-10945D0B4CD9}"/>
                </a:ext>
              </a:extLst>
            </p:cNvPr>
            <p:cNvSpPr>
              <a:spLocks noChangeShapeType="1"/>
            </p:cNvSpPr>
            <p:nvPr/>
          </p:nvSpPr>
          <p:spPr bwMode="auto">
            <a:xfrm flipH="1" flipV="1">
              <a:off x="1197" y="1759"/>
              <a:ext cx="10" cy="452"/>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38" name="Freeform 39">
              <a:extLst>
                <a:ext uri="{FF2B5EF4-FFF2-40B4-BE49-F238E27FC236}">
                  <a16:creationId xmlns:a16="http://schemas.microsoft.com/office/drawing/2014/main" id="{0E9551F3-32AC-4E9A-AEEC-7F73DBC8E9D3}"/>
                </a:ext>
              </a:extLst>
            </p:cNvPr>
            <p:cNvSpPr>
              <a:spLocks/>
            </p:cNvSpPr>
            <p:nvPr/>
          </p:nvSpPr>
          <p:spPr bwMode="auto">
            <a:xfrm>
              <a:off x="1174" y="2198"/>
              <a:ext cx="65" cy="143"/>
            </a:xfrm>
            <a:custGeom>
              <a:avLst/>
              <a:gdLst>
                <a:gd name="T0" fmla="*/ 65 w 65"/>
                <a:gd name="T1" fmla="*/ 0 h 143"/>
                <a:gd name="T2" fmla="*/ 36 w 65"/>
                <a:gd name="T3" fmla="*/ 143 h 143"/>
                <a:gd name="T4" fmla="*/ 0 w 65"/>
                <a:gd name="T5" fmla="*/ 4 h 143"/>
                <a:gd name="T6" fmla="*/ 65 w 65"/>
                <a:gd name="T7" fmla="*/ 0 h 1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 h="143">
                  <a:moveTo>
                    <a:pt x="65" y="0"/>
                  </a:moveTo>
                  <a:lnTo>
                    <a:pt x="36" y="143"/>
                  </a:lnTo>
                  <a:lnTo>
                    <a:pt x="0" y="4"/>
                  </a:lnTo>
                  <a:lnTo>
                    <a:pt x="6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39" name="Line 40">
              <a:extLst>
                <a:ext uri="{FF2B5EF4-FFF2-40B4-BE49-F238E27FC236}">
                  <a16:creationId xmlns:a16="http://schemas.microsoft.com/office/drawing/2014/main" id="{BA969418-4D60-4394-B8E6-BE88966B1029}"/>
                </a:ext>
              </a:extLst>
            </p:cNvPr>
            <p:cNvSpPr>
              <a:spLocks noChangeShapeType="1"/>
            </p:cNvSpPr>
            <p:nvPr/>
          </p:nvSpPr>
          <p:spPr bwMode="auto">
            <a:xfrm flipH="1" flipV="1">
              <a:off x="1197" y="1759"/>
              <a:ext cx="427" cy="504"/>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40" name="Freeform 41">
              <a:extLst>
                <a:ext uri="{FF2B5EF4-FFF2-40B4-BE49-F238E27FC236}">
                  <a16:creationId xmlns:a16="http://schemas.microsoft.com/office/drawing/2014/main" id="{B9011BFF-495E-48ED-8F43-3884A0A22728}"/>
                </a:ext>
              </a:extLst>
            </p:cNvPr>
            <p:cNvSpPr>
              <a:spLocks/>
            </p:cNvSpPr>
            <p:nvPr/>
          </p:nvSpPr>
          <p:spPr bwMode="auto">
            <a:xfrm>
              <a:off x="1597" y="2219"/>
              <a:ext cx="95" cy="126"/>
            </a:xfrm>
            <a:custGeom>
              <a:avLst/>
              <a:gdLst>
                <a:gd name="T0" fmla="*/ 40 w 95"/>
                <a:gd name="T1" fmla="*/ 0 h 126"/>
                <a:gd name="T2" fmla="*/ 95 w 95"/>
                <a:gd name="T3" fmla="*/ 126 h 126"/>
                <a:gd name="T4" fmla="*/ 0 w 95"/>
                <a:gd name="T5" fmla="*/ 73 h 126"/>
                <a:gd name="T6" fmla="*/ 40 w 95"/>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5" h="126">
                  <a:moveTo>
                    <a:pt x="40" y="0"/>
                  </a:moveTo>
                  <a:lnTo>
                    <a:pt x="95" y="126"/>
                  </a:lnTo>
                  <a:lnTo>
                    <a:pt x="0" y="73"/>
                  </a:lnTo>
                  <a:lnTo>
                    <a:pt x="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41" name="Line 42">
              <a:extLst>
                <a:ext uri="{FF2B5EF4-FFF2-40B4-BE49-F238E27FC236}">
                  <a16:creationId xmlns:a16="http://schemas.microsoft.com/office/drawing/2014/main" id="{232AB99C-4D2E-4D76-9089-BEFD27B699DD}"/>
                </a:ext>
              </a:extLst>
            </p:cNvPr>
            <p:cNvSpPr>
              <a:spLocks noChangeShapeType="1"/>
            </p:cNvSpPr>
            <p:nvPr/>
          </p:nvSpPr>
          <p:spPr bwMode="auto">
            <a:xfrm flipV="1">
              <a:off x="2139" y="1739"/>
              <a:ext cx="366" cy="531"/>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42" name="Freeform 43">
              <a:extLst>
                <a:ext uri="{FF2B5EF4-FFF2-40B4-BE49-F238E27FC236}">
                  <a16:creationId xmlns:a16="http://schemas.microsoft.com/office/drawing/2014/main" id="{19FFF457-40CB-4349-92F1-5D002A634640}"/>
                </a:ext>
              </a:extLst>
            </p:cNvPr>
            <p:cNvSpPr>
              <a:spLocks/>
            </p:cNvSpPr>
            <p:nvPr/>
          </p:nvSpPr>
          <p:spPr bwMode="auto">
            <a:xfrm>
              <a:off x="2076" y="2229"/>
              <a:ext cx="91" cy="133"/>
            </a:xfrm>
            <a:custGeom>
              <a:avLst/>
              <a:gdLst>
                <a:gd name="T0" fmla="*/ 91 w 91"/>
                <a:gd name="T1" fmla="*/ 67 h 133"/>
                <a:gd name="T2" fmla="*/ 0 w 91"/>
                <a:gd name="T3" fmla="*/ 133 h 133"/>
                <a:gd name="T4" fmla="*/ 46 w 91"/>
                <a:gd name="T5" fmla="*/ 0 h 133"/>
                <a:gd name="T6" fmla="*/ 91 w 91"/>
                <a:gd name="T7" fmla="*/ 67 h 1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 h="133">
                  <a:moveTo>
                    <a:pt x="91" y="67"/>
                  </a:moveTo>
                  <a:lnTo>
                    <a:pt x="0" y="133"/>
                  </a:lnTo>
                  <a:lnTo>
                    <a:pt x="46" y="0"/>
                  </a:lnTo>
                  <a:lnTo>
                    <a:pt x="91"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43" name="Line 44">
              <a:extLst>
                <a:ext uri="{FF2B5EF4-FFF2-40B4-BE49-F238E27FC236}">
                  <a16:creationId xmlns:a16="http://schemas.microsoft.com/office/drawing/2014/main" id="{2D9B2FAE-D20B-4B2E-BE0E-F85227735F1E}"/>
                </a:ext>
              </a:extLst>
            </p:cNvPr>
            <p:cNvSpPr>
              <a:spLocks noChangeShapeType="1"/>
            </p:cNvSpPr>
            <p:nvPr/>
          </p:nvSpPr>
          <p:spPr bwMode="auto">
            <a:xfrm flipV="1">
              <a:off x="2555" y="1757"/>
              <a:ext cx="1" cy="458"/>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44" name="Freeform 45">
              <a:extLst>
                <a:ext uri="{FF2B5EF4-FFF2-40B4-BE49-F238E27FC236}">
                  <a16:creationId xmlns:a16="http://schemas.microsoft.com/office/drawing/2014/main" id="{0588E12E-71EB-489E-AF9F-7F4E73E15DAC}"/>
                </a:ext>
              </a:extLst>
            </p:cNvPr>
            <p:cNvSpPr>
              <a:spLocks/>
            </p:cNvSpPr>
            <p:nvPr/>
          </p:nvSpPr>
          <p:spPr bwMode="auto">
            <a:xfrm>
              <a:off x="2523" y="2203"/>
              <a:ext cx="65" cy="142"/>
            </a:xfrm>
            <a:custGeom>
              <a:avLst/>
              <a:gdLst>
                <a:gd name="T0" fmla="*/ 65 w 65"/>
                <a:gd name="T1" fmla="*/ 0 h 142"/>
                <a:gd name="T2" fmla="*/ 32 w 65"/>
                <a:gd name="T3" fmla="*/ 142 h 142"/>
                <a:gd name="T4" fmla="*/ 0 w 65"/>
                <a:gd name="T5" fmla="*/ 0 h 142"/>
                <a:gd name="T6" fmla="*/ 65 w 65"/>
                <a:gd name="T7" fmla="*/ 0 h 1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 h="142">
                  <a:moveTo>
                    <a:pt x="65" y="0"/>
                  </a:moveTo>
                  <a:lnTo>
                    <a:pt x="32" y="142"/>
                  </a:lnTo>
                  <a:lnTo>
                    <a:pt x="0" y="0"/>
                  </a:lnTo>
                  <a:lnTo>
                    <a:pt x="6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45" name="Line 46">
              <a:extLst>
                <a:ext uri="{FF2B5EF4-FFF2-40B4-BE49-F238E27FC236}">
                  <a16:creationId xmlns:a16="http://schemas.microsoft.com/office/drawing/2014/main" id="{9A3781DC-340C-4649-9FC0-A7422AE0F015}"/>
                </a:ext>
              </a:extLst>
            </p:cNvPr>
            <p:cNvSpPr>
              <a:spLocks noChangeShapeType="1"/>
            </p:cNvSpPr>
            <p:nvPr/>
          </p:nvSpPr>
          <p:spPr bwMode="auto">
            <a:xfrm flipH="1" flipV="1">
              <a:off x="2584" y="1720"/>
              <a:ext cx="369" cy="537"/>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46" name="Freeform 47">
              <a:extLst>
                <a:ext uri="{FF2B5EF4-FFF2-40B4-BE49-F238E27FC236}">
                  <a16:creationId xmlns:a16="http://schemas.microsoft.com/office/drawing/2014/main" id="{684D3661-EFAE-4D94-9288-B0794AA4BBE1}"/>
                </a:ext>
              </a:extLst>
            </p:cNvPr>
            <p:cNvSpPr>
              <a:spLocks/>
            </p:cNvSpPr>
            <p:nvPr/>
          </p:nvSpPr>
          <p:spPr bwMode="auto">
            <a:xfrm>
              <a:off x="2925" y="2215"/>
              <a:ext cx="91" cy="134"/>
            </a:xfrm>
            <a:custGeom>
              <a:avLst/>
              <a:gdLst>
                <a:gd name="T0" fmla="*/ 45 w 91"/>
                <a:gd name="T1" fmla="*/ 0 h 134"/>
                <a:gd name="T2" fmla="*/ 91 w 91"/>
                <a:gd name="T3" fmla="*/ 134 h 134"/>
                <a:gd name="T4" fmla="*/ 0 w 91"/>
                <a:gd name="T5" fmla="*/ 67 h 134"/>
                <a:gd name="T6" fmla="*/ 45 w 91"/>
                <a:gd name="T7" fmla="*/ 0 h 1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 h="134">
                  <a:moveTo>
                    <a:pt x="45" y="0"/>
                  </a:moveTo>
                  <a:lnTo>
                    <a:pt x="91" y="134"/>
                  </a:lnTo>
                  <a:lnTo>
                    <a:pt x="0" y="67"/>
                  </a:lnTo>
                  <a:lnTo>
                    <a:pt x="4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47" name="Line 48">
              <a:extLst>
                <a:ext uri="{FF2B5EF4-FFF2-40B4-BE49-F238E27FC236}">
                  <a16:creationId xmlns:a16="http://schemas.microsoft.com/office/drawing/2014/main" id="{B4100214-475A-42E8-ADFC-C2ACAF900D6A}"/>
                </a:ext>
              </a:extLst>
            </p:cNvPr>
            <p:cNvSpPr>
              <a:spLocks noChangeShapeType="1"/>
            </p:cNvSpPr>
            <p:nvPr/>
          </p:nvSpPr>
          <p:spPr bwMode="auto">
            <a:xfrm flipV="1">
              <a:off x="304" y="2448"/>
              <a:ext cx="313" cy="540"/>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48" name="Freeform 49">
              <a:extLst>
                <a:ext uri="{FF2B5EF4-FFF2-40B4-BE49-F238E27FC236}">
                  <a16:creationId xmlns:a16="http://schemas.microsoft.com/office/drawing/2014/main" id="{4F177ED4-6C32-4530-97B1-9B24883762E0}"/>
                </a:ext>
              </a:extLst>
            </p:cNvPr>
            <p:cNvSpPr>
              <a:spLocks/>
            </p:cNvSpPr>
            <p:nvPr/>
          </p:nvSpPr>
          <p:spPr bwMode="auto">
            <a:xfrm>
              <a:off x="247" y="2949"/>
              <a:ext cx="88" cy="138"/>
            </a:xfrm>
            <a:custGeom>
              <a:avLst/>
              <a:gdLst>
                <a:gd name="T0" fmla="*/ 88 w 88"/>
                <a:gd name="T1" fmla="*/ 61 h 138"/>
                <a:gd name="T2" fmla="*/ 0 w 88"/>
                <a:gd name="T3" fmla="*/ 138 h 138"/>
                <a:gd name="T4" fmla="*/ 38 w 88"/>
                <a:gd name="T5" fmla="*/ 0 h 138"/>
                <a:gd name="T6" fmla="*/ 88 w 88"/>
                <a:gd name="T7" fmla="*/ 61 h 13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 h="138">
                  <a:moveTo>
                    <a:pt x="88" y="61"/>
                  </a:moveTo>
                  <a:lnTo>
                    <a:pt x="0" y="138"/>
                  </a:lnTo>
                  <a:lnTo>
                    <a:pt x="38" y="0"/>
                  </a:lnTo>
                  <a:lnTo>
                    <a:pt x="88"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49" name="Line 50">
              <a:extLst>
                <a:ext uri="{FF2B5EF4-FFF2-40B4-BE49-F238E27FC236}">
                  <a16:creationId xmlns:a16="http://schemas.microsoft.com/office/drawing/2014/main" id="{7573D524-46EE-4D89-9577-C0B5AB54637B}"/>
                </a:ext>
              </a:extLst>
            </p:cNvPr>
            <p:cNvSpPr>
              <a:spLocks noChangeShapeType="1"/>
            </p:cNvSpPr>
            <p:nvPr/>
          </p:nvSpPr>
          <p:spPr bwMode="auto">
            <a:xfrm flipH="1" flipV="1">
              <a:off x="1840" y="983"/>
              <a:ext cx="593" cy="575"/>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50" name="Freeform 51">
              <a:extLst>
                <a:ext uri="{FF2B5EF4-FFF2-40B4-BE49-F238E27FC236}">
                  <a16:creationId xmlns:a16="http://schemas.microsoft.com/office/drawing/2014/main" id="{5E4190A2-C901-447F-A615-C176326B513B}"/>
                </a:ext>
              </a:extLst>
            </p:cNvPr>
            <p:cNvSpPr>
              <a:spLocks/>
            </p:cNvSpPr>
            <p:nvPr/>
          </p:nvSpPr>
          <p:spPr bwMode="auto">
            <a:xfrm>
              <a:off x="2409" y="1512"/>
              <a:ext cx="98" cy="118"/>
            </a:xfrm>
            <a:custGeom>
              <a:avLst/>
              <a:gdLst>
                <a:gd name="T0" fmla="*/ 36 w 98"/>
                <a:gd name="T1" fmla="*/ 0 h 118"/>
                <a:gd name="T2" fmla="*/ 98 w 98"/>
                <a:gd name="T3" fmla="*/ 118 h 118"/>
                <a:gd name="T4" fmla="*/ 0 w 98"/>
                <a:gd name="T5" fmla="*/ 79 h 118"/>
                <a:gd name="T6" fmla="*/ 36 w 98"/>
                <a:gd name="T7" fmla="*/ 0 h 1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 h="118">
                  <a:moveTo>
                    <a:pt x="36" y="0"/>
                  </a:moveTo>
                  <a:lnTo>
                    <a:pt x="98" y="118"/>
                  </a:lnTo>
                  <a:lnTo>
                    <a:pt x="0" y="79"/>
                  </a:lnTo>
                  <a:lnTo>
                    <a:pt x="3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51" name="Line 52">
              <a:extLst>
                <a:ext uri="{FF2B5EF4-FFF2-40B4-BE49-F238E27FC236}">
                  <a16:creationId xmlns:a16="http://schemas.microsoft.com/office/drawing/2014/main" id="{5ABE6413-F2B3-44AD-8545-4B9FF1938FAE}"/>
                </a:ext>
              </a:extLst>
            </p:cNvPr>
            <p:cNvSpPr>
              <a:spLocks noChangeShapeType="1"/>
            </p:cNvSpPr>
            <p:nvPr/>
          </p:nvSpPr>
          <p:spPr bwMode="auto">
            <a:xfrm flipH="1" flipV="1">
              <a:off x="690" y="2472"/>
              <a:ext cx="137" cy="478"/>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52" name="Freeform 53">
              <a:extLst>
                <a:ext uri="{FF2B5EF4-FFF2-40B4-BE49-F238E27FC236}">
                  <a16:creationId xmlns:a16="http://schemas.microsoft.com/office/drawing/2014/main" id="{03C42418-649E-4733-9367-6C8E08712438}"/>
                </a:ext>
              </a:extLst>
            </p:cNvPr>
            <p:cNvSpPr>
              <a:spLocks/>
            </p:cNvSpPr>
            <p:nvPr/>
          </p:nvSpPr>
          <p:spPr bwMode="auto">
            <a:xfrm>
              <a:off x="794" y="2921"/>
              <a:ext cx="67" cy="149"/>
            </a:xfrm>
            <a:custGeom>
              <a:avLst/>
              <a:gdLst>
                <a:gd name="T0" fmla="*/ 60 w 67"/>
                <a:gd name="T1" fmla="*/ 0 h 149"/>
                <a:gd name="T2" fmla="*/ 67 w 67"/>
                <a:gd name="T3" fmla="*/ 149 h 149"/>
                <a:gd name="T4" fmla="*/ 0 w 67"/>
                <a:gd name="T5" fmla="*/ 36 h 149"/>
                <a:gd name="T6" fmla="*/ 60 w 67"/>
                <a:gd name="T7" fmla="*/ 0 h 1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149">
                  <a:moveTo>
                    <a:pt x="60" y="0"/>
                  </a:moveTo>
                  <a:lnTo>
                    <a:pt x="67" y="149"/>
                  </a:lnTo>
                  <a:lnTo>
                    <a:pt x="0" y="36"/>
                  </a:lnTo>
                  <a:lnTo>
                    <a:pt x="6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grpSp>
          <p:nvGrpSpPr>
            <p:cNvPr id="53" name="Group 56">
              <a:extLst>
                <a:ext uri="{FF2B5EF4-FFF2-40B4-BE49-F238E27FC236}">
                  <a16:creationId xmlns:a16="http://schemas.microsoft.com/office/drawing/2014/main" id="{3DFC5334-A93B-4435-BF20-73F8764EB741}"/>
                </a:ext>
              </a:extLst>
            </p:cNvPr>
            <p:cNvGrpSpPr>
              <a:grpSpLocks/>
            </p:cNvGrpSpPr>
            <p:nvPr/>
          </p:nvGrpSpPr>
          <p:grpSpPr bwMode="auto">
            <a:xfrm>
              <a:off x="1817" y="683"/>
              <a:ext cx="133" cy="271"/>
              <a:chOff x="1817" y="683"/>
              <a:chExt cx="133" cy="271"/>
            </a:xfrm>
          </p:grpSpPr>
          <p:sp>
            <p:nvSpPr>
              <p:cNvPr id="69" name="Rectangle 54">
                <a:extLst>
                  <a:ext uri="{FF2B5EF4-FFF2-40B4-BE49-F238E27FC236}">
                    <a16:creationId xmlns:a16="http://schemas.microsoft.com/office/drawing/2014/main" id="{819ACA52-82A3-43C2-9E01-3F4B8ED25E23}"/>
                  </a:ext>
                </a:extLst>
              </p:cNvPr>
              <p:cNvSpPr>
                <a:spLocks noChangeArrowheads="1"/>
              </p:cNvSpPr>
              <p:nvPr/>
            </p:nvSpPr>
            <p:spPr bwMode="auto">
              <a:xfrm>
                <a:off x="1893" y="805"/>
                <a:ext cx="57"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dirty="0">
                    <a:solidFill>
                      <a:srgbClr val="000000"/>
                    </a:solidFill>
                    <a:latin typeface="Times New Roman" panose="02020603050405020304" pitchFamily="18" charset="0"/>
                  </a:rPr>
                  <a:t>0</a:t>
                </a:r>
                <a:endParaRPr lang="en-US" altLang="zh-CN" dirty="0">
                  <a:solidFill>
                    <a:prstClr val="black"/>
                  </a:solidFill>
                </a:endParaRPr>
              </a:p>
            </p:txBody>
          </p:sp>
          <p:sp>
            <p:nvSpPr>
              <p:cNvPr id="70" name="Rectangle 55">
                <a:extLst>
                  <a:ext uri="{FF2B5EF4-FFF2-40B4-BE49-F238E27FC236}">
                    <a16:creationId xmlns:a16="http://schemas.microsoft.com/office/drawing/2014/main" id="{5BD713C1-35B0-429C-B525-454A1582AACA}"/>
                  </a:ext>
                </a:extLst>
              </p:cNvPr>
              <p:cNvSpPr>
                <a:spLocks noChangeArrowheads="1"/>
              </p:cNvSpPr>
              <p:nvPr/>
            </p:nvSpPr>
            <p:spPr bwMode="auto">
              <a:xfrm>
                <a:off x="1817" y="683"/>
                <a:ext cx="101"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500" i="1">
                    <a:solidFill>
                      <a:srgbClr val="000000"/>
                    </a:solidFill>
                    <a:latin typeface="Times New Roman" panose="02020603050405020304" pitchFamily="18" charset="0"/>
                  </a:rPr>
                  <a:t>S</a:t>
                </a:r>
                <a:endParaRPr lang="en-US" altLang="zh-CN">
                  <a:solidFill>
                    <a:prstClr val="black"/>
                  </a:solidFill>
                </a:endParaRPr>
              </a:p>
            </p:txBody>
          </p:sp>
        </p:grpSp>
        <p:sp>
          <p:nvSpPr>
            <p:cNvPr id="54" name="Rectangle 57">
              <a:extLst>
                <a:ext uri="{FF2B5EF4-FFF2-40B4-BE49-F238E27FC236}">
                  <a16:creationId xmlns:a16="http://schemas.microsoft.com/office/drawing/2014/main" id="{BED0D56A-0E9D-4EE8-BA34-D1C156D9AFDF}"/>
                </a:ext>
              </a:extLst>
            </p:cNvPr>
            <p:cNvSpPr>
              <a:spLocks noChangeArrowheads="1"/>
            </p:cNvSpPr>
            <p:nvPr/>
          </p:nvSpPr>
          <p:spPr bwMode="auto">
            <a:xfrm>
              <a:off x="1037" y="1456"/>
              <a:ext cx="10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1</a:t>
              </a:r>
              <a:endParaRPr lang="en-US" altLang="zh-CN">
                <a:solidFill>
                  <a:prstClr val="black"/>
                </a:solidFill>
              </a:endParaRPr>
            </a:p>
          </p:txBody>
        </p:sp>
        <p:sp>
          <p:nvSpPr>
            <p:cNvPr id="55" name="Rectangle 58">
              <a:extLst>
                <a:ext uri="{FF2B5EF4-FFF2-40B4-BE49-F238E27FC236}">
                  <a16:creationId xmlns:a16="http://schemas.microsoft.com/office/drawing/2014/main" id="{F07B8B19-6D48-47CA-9F80-4A829320DB2E}"/>
                </a:ext>
              </a:extLst>
            </p:cNvPr>
            <p:cNvSpPr>
              <a:spLocks noChangeArrowheads="1"/>
            </p:cNvSpPr>
            <p:nvPr/>
          </p:nvSpPr>
          <p:spPr bwMode="auto">
            <a:xfrm>
              <a:off x="2568" y="1379"/>
              <a:ext cx="10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2</a:t>
              </a:r>
              <a:endParaRPr lang="en-US" altLang="zh-CN">
                <a:solidFill>
                  <a:prstClr val="black"/>
                </a:solidFill>
              </a:endParaRPr>
            </a:p>
          </p:txBody>
        </p:sp>
        <p:sp>
          <p:nvSpPr>
            <p:cNvPr id="56" name="Rectangle 59">
              <a:extLst>
                <a:ext uri="{FF2B5EF4-FFF2-40B4-BE49-F238E27FC236}">
                  <a16:creationId xmlns:a16="http://schemas.microsoft.com/office/drawing/2014/main" id="{18017ECD-2A90-434E-9477-6B4846DEB01C}"/>
                </a:ext>
              </a:extLst>
            </p:cNvPr>
            <p:cNvSpPr>
              <a:spLocks noChangeArrowheads="1"/>
            </p:cNvSpPr>
            <p:nvPr/>
          </p:nvSpPr>
          <p:spPr bwMode="auto">
            <a:xfrm>
              <a:off x="510" y="2249"/>
              <a:ext cx="10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3</a:t>
              </a:r>
              <a:endParaRPr lang="en-US" altLang="zh-CN">
                <a:solidFill>
                  <a:prstClr val="black"/>
                </a:solidFill>
              </a:endParaRPr>
            </a:p>
          </p:txBody>
        </p:sp>
        <p:sp>
          <p:nvSpPr>
            <p:cNvPr id="57" name="Rectangle 60">
              <a:extLst>
                <a:ext uri="{FF2B5EF4-FFF2-40B4-BE49-F238E27FC236}">
                  <a16:creationId xmlns:a16="http://schemas.microsoft.com/office/drawing/2014/main" id="{BADCB0F7-BF55-4D7F-AD37-465E4B52899B}"/>
                </a:ext>
              </a:extLst>
            </p:cNvPr>
            <p:cNvSpPr>
              <a:spLocks noChangeArrowheads="1"/>
            </p:cNvSpPr>
            <p:nvPr/>
          </p:nvSpPr>
          <p:spPr bwMode="auto">
            <a:xfrm>
              <a:off x="1073" y="2198"/>
              <a:ext cx="10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4</a:t>
              </a:r>
              <a:endParaRPr lang="en-US" altLang="zh-CN">
                <a:solidFill>
                  <a:prstClr val="black"/>
                </a:solidFill>
              </a:endParaRPr>
            </a:p>
          </p:txBody>
        </p:sp>
        <p:sp>
          <p:nvSpPr>
            <p:cNvPr id="58" name="Rectangle 61">
              <a:extLst>
                <a:ext uri="{FF2B5EF4-FFF2-40B4-BE49-F238E27FC236}">
                  <a16:creationId xmlns:a16="http://schemas.microsoft.com/office/drawing/2014/main" id="{40E94E63-66C7-4952-A083-4F2C1175AE2D}"/>
                </a:ext>
              </a:extLst>
            </p:cNvPr>
            <p:cNvSpPr>
              <a:spLocks noChangeArrowheads="1"/>
            </p:cNvSpPr>
            <p:nvPr/>
          </p:nvSpPr>
          <p:spPr bwMode="auto">
            <a:xfrm>
              <a:off x="1759" y="2146"/>
              <a:ext cx="10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5</a:t>
              </a:r>
              <a:endParaRPr lang="en-US" altLang="zh-CN">
                <a:solidFill>
                  <a:prstClr val="black"/>
                </a:solidFill>
              </a:endParaRPr>
            </a:p>
          </p:txBody>
        </p:sp>
        <p:sp>
          <p:nvSpPr>
            <p:cNvPr id="59" name="Rectangle 62">
              <a:extLst>
                <a:ext uri="{FF2B5EF4-FFF2-40B4-BE49-F238E27FC236}">
                  <a16:creationId xmlns:a16="http://schemas.microsoft.com/office/drawing/2014/main" id="{9952FAEC-F48E-4BA9-A28B-502BB82B034D}"/>
                </a:ext>
              </a:extLst>
            </p:cNvPr>
            <p:cNvSpPr>
              <a:spLocks noChangeArrowheads="1"/>
            </p:cNvSpPr>
            <p:nvPr/>
          </p:nvSpPr>
          <p:spPr bwMode="auto">
            <a:xfrm>
              <a:off x="2172" y="2300"/>
              <a:ext cx="10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6</a:t>
              </a:r>
              <a:endParaRPr lang="en-US" altLang="zh-CN">
                <a:solidFill>
                  <a:prstClr val="black"/>
                </a:solidFill>
              </a:endParaRPr>
            </a:p>
          </p:txBody>
        </p:sp>
        <p:sp>
          <p:nvSpPr>
            <p:cNvPr id="60" name="Rectangle 63">
              <a:extLst>
                <a:ext uri="{FF2B5EF4-FFF2-40B4-BE49-F238E27FC236}">
                  <a16:creationId xmlns:a16="http://schemas.microsoft.com/office/drawing/2014/main" id="{FC120D6D-D564-43D7-85A9-EF82BEF87BEC}"/>
                </a:ext>
              </a:extLst>
            </p:cNvPr>
            <p:cNvSpPr>
              <a:spLocks noChangeArrowheads="1"/>
            </p:cNvSpPr>
            <p:nvPr/>
          </p:nvSpPr>
          <p:spPr bwMode="auto">
            <a:xfrm>
              <a:off x="2621" y="2300"/>
              <a:ext cx="10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7</a:t>
              </a:r>
              <a:endParaRPr lang="en-US" altLang="zh-CN">
                <a:solidFill>
                  <a:prstClr val="black"/>
                </a:solidFill>
              </a:endParaRPr>
            </a:p>
          </p:txBody>
        </p:sp>
        <p:sp>
          <p:nvSpPr>
            <p:cNvPr id="61" name="Rectangle 64">
              <a:extLst>
                <a:ext uri="{FF2B5EF4-FFF2-40B4-BE49-F238E27FC236}">
                  <a16:creationId xmlns:a16="http://schemas.microsoft.com/office/drawing/2014/main" id="{8DEF0AAA-FE59-41A1-82AC-44E3A376B32A}"/>
                </a:ext>
              </a:extLst>
            </p:cNvPr>
            <p:cNvSpPr>
              <a:spLocks noChangeArrowheads="1"/>
            </p:cNvSpPr>
            <p:nvPr/>
          </p:nvSpPr>
          <p:spPr bwMode="auto">
            <a:xfrm>
              <a:off x="3167" y="2300"/>
              <a:ext cx="10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8</a:t>
              </a:r>
              <a:endParaRPr lang="en-US" altLang="zh-CN">
                <a:solidFill>
                  <a:prstClr val="black"/>
                </a:solidFill>
              </a:endParaRPr>
            </a:p>
          </p:txBody>
        </p:sp>
        <p:sp>
          <p:nvSpPr>
            <p:cNvPr id="62" name="Rectangle 65">
              <a:extLst>
                <a:ext uri="{FF2B5EF4-FFF2-40B4-BE49-F238E27FC236}">
                  <a16:creationId xmlns:a16="http://schemas.microsoft.com/office/drawing/2014/main" id="{F8C455FD-F2E5-496E-804B-AF71BD3F5F3D}"/>
                </a:ext>
              </a:extLst>
            </p:cNvPr>
            <p:cNvSpPr>
              <a:spLocks noChangeArrowheads="1"/>
            </p:cNvSpPr>
            <p:nvPr/>
          </p:nvSpPr>
          <p:spPr bwMode="auto">
            <a:xfrm>
              <a:off x="325" y="3119"/>
              <a:ext cx="10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9</a:t>
              </a:r>
              <a:endParaRPr lang="en-US" altLang="zh-CN">
                <a:solidFill>
                  <a:prstClr val="black"/>
                </a:solidFill>
              </a:endParaRPr>
            </a:p>
          </p:txBody>
        </p:sp>
        <p:sp>
          <p:nvSpPr>
            <p:cNvPr id="63" name="Rectangle 66">
              <a:extLst>
                <a:ext uri="{FF2B5EF4-FFF2-40B4-BE49-F238E27FC236}">
                  <a16:creationId xmlns:a16="http://schemas.microsoft.com/office/drawing/2014/main" id="{92D58F5E-B666-4696-A240-B75D87409409}"/>
                </a:ext>
              </a:extLst>
            </p:cNvPr>
            <p:cNvSpPr>
              <a:spLocks noChangeArrowheads="1"/>
            </p:cNvSpPr>
            <p:nvPr/>
          </p:nvSpPr>
          <p:spPr bwMode="auto">
            <a:xfrm>
              <a:off x="941" y="3170"/>
              <a:ext cx="210"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10</a:t>
              </a:r>
              <a:endParaRPr lang="en-US" altLang="zh-CN">
                <a:solidFill>
                  <a:prstClr val="black"/>
                </a:solidFill>
              </a:endParaRPr>
            </a:p>
          </p:txBody>
        </p:sp>
        <p:sp>
          <p:nvSpPr>
            <p:cNvPr id="64" name="Rectangle 67">
              <a:extLst>
                <a:ext uri="{FF2B5EF4-FFF2-40B4-BE49-F238E27FC236}">
                  <a16:creationId xmlns:a16="http://schemas.microsoft.com/office/drawing/2014/main" id="{1566F8C1-AC14-48E9-9139-99709C973CC5}"/>
                </a:ext>
              </a:extLst>
            </p:cNvPr>
            <p:cNvSpPr>
              <a:spLocks noChangeArrowheads="1"/>
            </p:cNvSpPr>
            <p:nvPr/>
          </p:nvSpPr>
          <p:spPr bwMode="auto">
            <a:xfrm>
              <a:off x="589" y="3515"/>
              <a:ext cx="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solidFill>
                  <a:prstClr val="black"/>
                </a:solidFill>
              </a:endParaRPr>
            </a:p>
          </p:txBody>
        </p:sp>
        <p:sp>
          <p:nvSpPr>
            <p:cNvPr id="65" name="Rectangle 68">
              <a:extLst>
                <a:ext uri="{FF2B5EF4-FFF2-40B4-BE49-F238E27FC236}">
                  <a16:creationId xmlns:a16="http://schemas.microsoft.com/office/drawing/2014/main" id="{6DD1E422-BCF8-43E1-B925-207EE61D4B68}"/>
                </a:ext>
              </a:extLst>
            </p:cNvPr>
            <p:cNvSpPr>
              <a:spLocks noChangeArrowheads="1"/>
            </p:cNvSpPr>
            <p:nvPr/>
          </p:nvSpPr>
          <p:spPr bwMode="auto">
            <a:xfrm>
              <a:off x="729" y="3515"/>
              <a:ext cx="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solidFill>
                  <a:prstClr val="black"/>
                </a:solidFill>
              </a:endParaRPr>
            </a:p>
          </p:txBody>
        </p:sp>
        <p:sp>
          <p:nvSpPr>
            <p:cNvPr id="66" name="Rectangle 69">
              <a:extLst>
                <a:ext uri="{FF2B5EF4-FFF2-40B4-BE49-F238E27FC236}">
                  <a16:creationId xmlns:a16="http://schemas.microsoft.com/office/drawing/2014/main" id="{D66B94B9-F2CC-44EF-B6E8-7AD705E47933}"/>
                </a:ext>
              </a:extLst>
            </p:cNvPr>
            <p:cNvSpPr>
              <a:spLocks noChangeArrowheads="1"/>
            </p:cNvSpPr>
            <p:nvPr/>
          </p:nvSpPr>
          <p:spPr bwMode="auto">
            <a:xfrm>
              <a:off x="800" y="3515"/>
              <a:ext cx="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solidFill>
                  <a:prstClr val="black"/>
                </a:solidFill>
              </a:endParaRPr>
            </a:p>
          </p:txBody>
        </p:sp>
        <p:sp>
          <p:nvSpPr>
            <p:cNvPr id="67" name="Rectangle 70">
              <a:extLst>
                <a:ext uri="{FF2B5EF4-FFF2-40B4-BE49-F238E27FC236}">
                  <a16:creationId xmlns:a16="http://schemas.microsoft.com/office/drawing/2014/main" id="{AB5725C3-D246-4888-99F6-BDE1A81FFF27}"/>
                </a:ext>
              </a:extLst>
            </p:cNvPr>
            <p:cNvSpPr>
              <a:spLocks noChangeArrowheads="1"/>
            </p:cNvSpPr>
            <p:nvPr/>
          </p:nvSpPr>
          <p:spPr bwMode="auto">
            <a:xfrm>
              <a:off x="835" y="3515"/>
              <a:ext cx="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solidFill>
                  <a:prstClr val="black"/>
                </a:solidFill>
              </a:endParaRPr>
            </a:p>
          </p:txBody>
        </p:sp>
        <p:sp>
          <p:nvSpPr>
            <p:cNvPr id="68" name="Rectangle 71">
              <a:extLst>
                <a:ext uri="{FF2B5EF4-FFF2-40B4-BE49-F238E27FC236}">
                  <a16:creationId xmlns:a16="http://schemas.microsoft.com/office/drawing/2014/main" id="{00B1D7DD-5F51-4FEA-90B6-402A6474373C}"/>
                </a:ext>
              </a:extLst>
            </p:cNvPr>
            <p:cNvSpPr>
              <a:spLocks noChangeArrowheads="1"/>
            </p:cNvSpPr>
            <p:nvPr/>
          </p:nvSpPr>
          <p:spPr bwMode="auto">
            <a:xfrm>
              <a:off x="941" y="3515"/>
              <a:ext cx="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solidFill>
                  <a:prstClr val="black"/>
                </a:solidFill>
              </a:endParaRPr>
            </a:p>
          </p:txBody>
        </p:sp>
      </p:grpSp>
      <p:sp>
        <p:nvSpPr>
          <p:cNvPr id="71" name="Text Box 72">
            <a:extLst>
              <a:ext uri="{FF2B5EF4-FFF2-40B4-BE49-F238E27FC236}">
                <a16:creationId xmlns:a16="http://schemas.microsoft.com/office/drawing/2014/main" id="{2AFFFAEF-3D20-44F4-879F-17A253472DF6}"/>
              </a:ext>
            </a:extLst>
          </p:cNvPr>
          <p:cNvSpPr txBox="1">
            <a:spLocks noChangeArrowheads="1"/>
          </p:cNvSpPr>
          <p:nvPr/>
        </p:nvSpPr>
        <p:spPr bwMode="auto">
          <a:xfrm>
            <a:off x="1676517" y="5562545"/>
            <a:ext cx="519270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600" dirty="0">
                <a:solidFill>
                  <a:prstClr val="black"/>
                </a:solidFill>
                <a:latin typeface="黑体"/>
                <a:ea typeface="黑体"/>
              </a:rPr>
              <a:t>宽度优先搜索法中状态的搜索次序</a:t>
            </a:r>
          </a:p>
        </p:txBody>
      </p:sp>
    </p:spTree>
    <p:extLst>
      <p:ext uri="{BB962C8B-B14F-4D97-AF65-F5344CB8AC3E}">
        <p14:creationId xmlns:p14="http://schemas.microsoft.com/office/powerpoint/2010/main" val="327507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1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wipe(left)">
                                      <p:cBhvr>
                                        <p:cTn id="22" dur="500"/>
                                        <p:tgtEl>
                                          <p:spTgt spid="6">
                                            <p:txEl>
                                              <p:pRg st="1" end="1"/>
                                            </p:txEl>
                                          </p:spTgt>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71"/>
                                        </p:tgtEl>
                                        <p:attrNameLst>
                                          <p:attrName>style.visibility</p:attrName>
                                        </p:attrNameLst>
                                      </p:cBhvr>
                                      <p:to>
                                        <p:strVal val="visible"/>
                                      </p:to>
                                    </p:set>
                                    <p:animEffect transition="in" filter="fade">
                                      <p:cBhvr>
                                        <p:cTn id="26"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盲目搜索</a:t>
            </a:r>
          </a:p>
        </p:txBody>
      </p:sp>
      <p:sp>
        <p:nvSpPr>
          <p:cNvPr id="10" name="文本框 9">
            <a:extLst>
              <a:ext uri="{FF2B5EF4-FFF2-40B4-BE49-F238E27FC236}">
                <a16:creationId xmlns:a16="http://schemas.microsoft.com/office/drawing/2014/main" id="{7C183DD3-8DEA-4776-A786-113EA8A27F22}"/>
              </a:ext>
            </a:extLst>
          </p:cNvPr>
          <p:cNvSpPr txBox="1"/>
          <p:nvPr/>
        </p:nvSpPr>
        <p:spPr>
          <a:xfrm>
            <a:off x="1875690" y="948291"/>
            <a:ext cx="8105856" cy="707694"/>
          </a:xfrm>
          <a:prstGeom prst="rect">
            <a:avLst/>
          </a:prstGeom>
          <a:noFill/>
        </p:spPr>
        <p:txBody>
          <a:bodyPr wrap="square">
            <a:spAutoFit/>
          </a:bodyPr>
          <a:lstStyle/>
          <a:p>
            <a:pPr>
              <a:lnSpc>
                <a:spcPct val="150000"/>
              </a:lnSpc>
            </a:pPr>
            <a:r>
              <a:rPr lang="zh-CN" altLang="en-US" sz="3200" dirty="0">
                <a:solidFill>
                  <a:srgbClr val="FF0000"/>
                </a:solidFill>
                <a:latin typeface="方正姚体" panose="02010601030101010101" pitchFamily="2" charset="-122"/>
                <a:ea typeface="方正姚体" panose="02010601030101010101" pitchFamily="2" charset="-122"/>
              </a:rPr>
              <a:t>宽度优先搜索算法框图</a:t>
            </a:r>
          </a:p>
        </p:txBody>
      </p:sp>
      <p:grpSp>
        <p:nvGrpSpPr>
          <p:cNvPr id="6" name="组合 1">
            <a:extLst>
              <a:ext uri="{FF2B5EF4-FFF2-40B4-BE49-F238E27FC236}">
                <a16:creationId xmlns:a16="http://schemas.microsoft.com/office/drawing/2014/main" id="{73B4C5F1-5532-4619-8C50-991A2A34391B}"/>
              </a:ext>
            </a:extLst>
          </p:cNvPr>
          <p:cNvGrpSpPr>
            <a:grpSpLocks/>
          </p:cNvGrpSpPr>
          <p:nvPr/>
        </p:nvGrpSpPr>
        <p:grpSpPr bwMode="auto">
          <a:xfrm>
            <a:off x="6324594" y="862243"/>
            <a:ext cx="4114800" cy="5548313"/>
            <a:chOff x="480" y="1725"/>
            <a:chExt cx="6480" cy="8738"/>
          </a:xfrm>
        </p:grpSpPr>
        <p:pic>
          <p:nvPicPr>
            <p:cNvPr id="7" name="Picture 4">
              <a:extLst>
                <a:ext uri="{FF2B5EF4-FFF2-40B4-BE49-F238E27FC236}">
                  <a16:creationId xmlns:a16="http://schemas.microsoft.com/office/drawing/2014/main" id="{7D7BFA0D-D243-4C3F-9CDE-A51804B2DF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 y="1725"/>
              <a:ext cx="6480" cy="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椭圆 7">
              <a:extLst>
                <a:ext uri="{FF2B5EF4-FFF2-40B4-BE49-F238E27FC236}">
                  <a16:creationId xmlns:a16="http://schemas.microsoft.com/office/drawing/2014/main" id="{0AB7260C-E519-4D1B-9C97-BC7FA9E0F58A}"/>
                </a:ext>
              </a:extLst>
            </p:cNvPr>
            <p:cNvSpPr/>
            <p:nvPr/>
          </p:nvSpPr>
          <p:spPr>
            <a:xfrm>
              <a:off x="745" y="6480"/>
              <a:ext cx="5950" cy="20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grpSp>
      <p:grpSp>
        <p:nvGrpSpPr>
          <p:cNvPr id="9" name="Group 11">
            <a:extLst>
              <a:ext uri="{FF2B5EF4-FFF2-40B4-BE49-F238E27FC236}">
                <a16:creationId xmlns:a16="http://schemas.microsoft.com/office/drawing/2014/main" id="{32A023F5-F090-4C59-A88A-15CF04C5BACB}"/>
              </a:ext>
            </a:extLst>
          </p:cNvPr>
          <p:cNvGrpSpPr>
            <a:grpSpLocks noChangeAspect="1"/>
          </p:cNvGrpSpPr>
          <p:nvPr/>
        </p:nvGrpSpPr>
        <p:grpSpPr bwMode="auto">
          <a:xfrm>
            <a:off x="1708097" y="1719292"/>
            <a:ext cx="4834011" cy="4344539"/>
            <a:chOff x="96" y="624"/>
            <a:chExt cx="3357" cy="3311"/>
          </a:xfrm>
        </p:grpSpPr>
        <p:sp>
          <p:nvSpPr>
            <p:cNvPr id="11" name="AutoShape 10">
              <a:extLst>
                <a:ext uri="{FF2B5EF4-FFF2-40B4-BE49-F238E27FC236}">
                  <a16:creationId xmlns:a16="http://schemas.microsoft.com/office/drawing/2014/main" id="{69B526B9-59E4-4E69-A0DB-83CDAA86981C}"/>
                </a:ext>
              </a:extLst>
            </p:cNvPr>
            <p:cNvSpPr>
              <a:spLocks noChangeAspect="1" noChangeArrowheads="1" noTextEdit="1"/>
            </p:cNvSpPr>
            <p:nvPr/>
          </p:nvSpPr>
          <p:spPr bwMode="auto">
            <a:xfrm>
              <a:off x="96" y="624"/>
              <a:ext cx="3357" cy="3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solidFill>
                  <a:prstClr val="black"/>
                </a:solidFill>
                <a:latin typeface="Times New Roman"/>
                <a:ea typeface="黑体"/>
              </a:endParaRPr>
            </a:p>
          </p:txBody>
        </p:sp>
        <p:sp>
          <p:nvSpPr>
            <p:cNvPr id="12" name="Oval 12">
              <a:extLst>
                <a:ext uri="{FF2B5EF4-FFF2-40B4-BE49-F238E27FC236}">
                  <a16:creationId xmlns:a16="http://schemas.microsoft.com/office/drawing/2014/main" id="{1DBAC391-53AD-44F3-882D-DD5E97224EB7}"/>
                </a:ext>
              </a:extLst>
            </p:cNvPr>
            <p:cNvSpPr>
              <a:spLocks noChangeArrowheads="1"/>
            </p:cNvSpPr>
            <p:nvPr/>
          </p:nvSpPr>
          <p:spPr bwMode="auto">
            <a:xfrm>
              <a:off x="2988" y="2341"/>
              <a:ext cx="101"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3" name="Oval 13">
              <a:extLst>
                <a:ext uri="{FF2B5EF4-FFF2-40B4-BE49-F238E27FC236}">
                  <a16:creationId xmlns:a16="http://schemas.microsoft.com/office/drawing/2014/main" id="{B227C06B-B042-4C32-967F-9B62976ED46F}"/>
                </a:ext>
              </a:extLst>
            </p:cNvPr>
            <p:cNvSpPr>
              <a:spLocks noChangeArrowheads="1"/>
            </p:cNvSpPr>
            <p:nvPr/>
          </p:nvSpPr>
          <p:spPr bwMode="auto">
            <a:xfrm>
              <a:off x="2988" y="2341"/>
              <a:ext cx="101"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4" name="Oval 14">
              <a:extLst>
                <a:ext uri="{FF2B5EF4-FFF2-40B4-BE49-F238E27FC236}">
                  <a16:creationId xmlns:a16="http://schemas.microsoft.com/office/drawing/2014/main" id="{E28D7631-FF55-4DE9-9A7A-6587D952D85A}"/>
                </a:ext>
              </a:extLst>
            </p:cNvPr>
            <p:cNvSpPr>
              <a:spLocks noChangeArrowheads="1"/>
            </p:cNvSpPr>
            <p:nvPr/>
          </p:nvSpPr>
          <p:spPr bwMode="auto">
            <a:xfrm>
              <a:off x="1658" y="2341"/>
              <a:ext cx="100"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5" name="Oval 15">
              <a:extLst>
                <a:ext uri="{FF2B5EF4-FFF2-40B4-BE49-F238E27FC236}">
                  <a16:creationId xmlns:a16="http://schemas.microsoft.com/office/drawing/2014/main" id="{3ACF2EC8-23D4-4878-B87A-10C6E006E57E}"/>
                </a:ext>
              </a:extLst>
            </p:cNvPr>
            <p:cNvSpPr>
              <a:spLocks noChangeArrowheads="1"/>
            </p:cNvSpPr>
            <p:nvPr/>
          </p:nvSpPr>
          <p:spPr bwMode="auto">
            <a:xfrm>
              <a:off x="1658" y="2341"/>
              <a:ext cx="100"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6" name="Oval 16">
              <a:extLst>
                <a:ext uri="{FF2B5EF4-FFF2-40B4-BE49-F238E27FC236}">
                  <a16:creationId xmlns:a16="http://schemas.microsoft.com/office/drawing/2014/main" id="{E7F2C498-1150-4543-9EA2-F5BB519E994C}"/>
                </a:ext>
              </a:extLst>
            </p:cNvPr>
            <p:cNvSpPr>
              <a:spLocks noChangeArrowheads="1"/>
            </p:cNvSpPr>
            <p:nvPr/>
          </p:nvSpPr>
          <p:spPr bwMode="auto">
            <a:xfrm>
              <a:off x="1160" y="1615"/>
              <a:ext cx="100" cy="146"/>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7" name="Oval 17">
              <a:extLst>
                <a:ext uri="{FF2B5EF4-FFF2-40B4-BE49-F238E27FC236}">
                  <a16:creationId xmlns:a16="http://schemas.microsoft.com/office/drawing/2014/main" id="{CBDB2C26-C69C-4264-B453-D378DE64C18F}"/>
                </a:ext>
              </a:extLst>
            </p:cNvPr>
            <p:cNvSpPr>
              <a:spLocks noChangeArrowheads="1"/>
            </p:cNvSpPr>
            <p:nvPr/>
          </p:nvSpPr>
          <p:spPr bwMode="auto">
            <a:xfrm>
              <a:off x="1160" y="1615"/>
              <a:ext cx="100" cy="146"/>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8" name="Oval 18">
              <a:extLst>
                <a:ext uri="{FF2B5EF4-FFF2-40B4-BE49-F238E27FC236}">
                  <a16:creationId xmlns:a16="http://schemas.microsoft.com/office/drawing/2014/main" id="{7B36BCA0-CE84-4EB8-A00A-107FCF987F6E}"/>
                </a:ext>
              </a:extLst>
            </p:cNvPr>
            <p:cNvSpPr>
              <a:spLocks noChangeArrowheads="1"/>
            </p:cNvSpPr>
            <p:nvPr/>
          </p:nvSpPr>
          <p:spPr bwMode="auto">
            <a:xfrm>
              <a:off x="2490" y="1615"/>
              <a:ext cx="99" cy="146"/>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19" name="Oval 19">
              <a:extLst>
                <a:ext uri="{FF2B5EF4-FFF2-40B4-BE49-F238E27FC236}">
                  <a16:creationId xmlns:a16="http://schemas.microsoft.com/office/drawing/2014/main" id="{02DDC890-E2DF-46E2-B88B-0518AE2A7CE7}"/>
                </a:ext>
              </a:extLst>
            </p:cNvPr>
            <p:cNvSpPr>
              <a:spLocks noChangeArrowheads="1"/>
            </p:cNvSpPr>
            <p:nvPr/>
          </p:nvSpPr>
          <p:spPr bwMode="auto">
            <a:xfrm>
              <a:off x="2490" y="1615"/>
              <a:ext cx="99" cy="146"/>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0" name="Oval 20">
              <a:extLst>
                <a:ext uri="{FF2B5EF4-FFF2-40B4-BE49-F238E27FC236}">
                  <a16:creationId xmlns:a16="http://schemas.microsoft.com/office/drawing/2014/main" id="{83B4F9AC-695B-41B4-9D26-97933E9EEB45}"/>
                </a:ext>
              </a:extLst>
            </p:cNvPr>
            <p:cNvSpPr>
              <a:spLocks noChangeArrowheads="1"/>
            </p:cNvSpPr>
            <p:nvPr/>
          </p:nvSpPr>
          <p:spPr bwMode="auto">
            <a:xfrm>
              <a:off x="611" y="2341"/>
              <a:ext cx="100"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1" name="Oval 21">
              <a:extLst>
                <a:ext uri="{FF2B5EF4-FFF2-40B4-BE49-F238E27FC236}">
                  <a16:creationId xmlns:a16="http://schemas.microsoft.com/office/drawing/2014/main" id="{AA346987-F0D0-4BDE-875A-378A33842823}"/>
                </a:ext>
              </a:extLst>
            </p:cNvPr>
            <p:cNvSpPr>
              <a:spLocks noChangeArrowheads="1"/>
            </p:cNvSpPr>
            <p:nvPr/>
          </p:nvSpPr>
          <p:spPr bwMode="auto">
            <a:xfrm>
              <a:off x="611" y="2341"/>
              <a:ext cx="100"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2" name="Oval 22">
              <a:extLst>
                <a:ext uri="{FF2B5EF4-FFF2-40B4-BE49-F238E27FC236}">
                  <a16:creationId xmlns:a16="http://schemas.microsoft.com/office/drawing/2014/main" id="{F6C59117-1261-45B1-BE4E-E07837081AB8}"/>
                </a:ext>
              </a:extLst>
            </p:cNvPr>
            <p:cNvSpPr>
              <a:spLocks noChangeArrowheads="1"/>
            </p:cNvSpPr>
            <p:nvPr/>
          </p:nvSpPr>
          <p:spPr bwMode="auto">
            <a:xfrm>
              <a:off x="1825" y="963"/>
              <a:ext cx="99"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3" name="Oval 23">
              <a:extLst>
                <a:ext uri="{FF2B5EF4-FFF2-40B4-BE49-F238E27FC236}">
                  <a16:creationId xmlns:a16="http://schemas.microsoft.com/office/drawing/2014/main" id="{508C74FA-F524-49C7-8BF1-F5FE81E85C71}"/>
                </a:ext>
              </a:extLst>
            </p:cNvPr>
            <p:cNvSpPr>
              <a:spLocks noChangeArrowheads="1"/>
            </p:cNvSpPr>
            <p:nvPr/>
          </p:nvSpPr>
          <p:spPr bwMode="auto">
            <a:xfrm>
              <a:off x="1825" y="963"/>
              <a:ext cx="99"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5" name="Oval 24">
              <a:extLst>
                <a:ext uri="{FF2B5EF4-FFF2-40B4-BE49-F238E27FC236}">
                  <a16:creationId xmlns:a16="http://schemas.microsoft.com/office/drawing/2014/main" id="{16D1BD56-3F89-4101-84C1-7264F6394499}"/>
                </a:ext>
              </a:extLst>
            </p:cNvPr>
            <p:cNvSpPr>
              <a:spLocks noChangeArrowheads="1"/>
            </p:cNvSpPr>
            <p:nvPr/>
          </p:nvSpPr>
          <p:spPr bwMode="auto">
            <a:xfrm>
              <a:off x="1991" y="2341"/>
              <a:ext cx="99"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6" name="Oval 25">
              <a:extLst>
                <a:ext uri="{FF2B5EF4-FFF2-40B4-BE49-F238E27FC236}">
                  <a16:creationId xmlns:a16="http://schemas.microsoft.com/office/drawing/2014/main" id="{6815E106-BB31-4152-8878-41F05484438A}"/>
                </a:ext>
              </a:extLst>
            </p:cNvPr>
            <p:cNvSpPr>
              <a:spLocks noChangeArrowheads="1"/>
            </p:cNvSpPr>
            <p:nvPr/>
          </p:nvSpPr>
          <p:spPr bwMode="auto">
            <a:xfrm>
              <a:off x="1991" y="2341"/>
              <a:ext cx="99"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7" name="Oval 26">
              <a:extLst>
                <a:ext uri="{FF2B5EF4-FFF2-40B4-BE49-F238E27FC236}">
                  <a16:creationId xmlns:a16="http://schemas.microsoft.com/office/drawing/2014/main" id="{7A2F8F09-66D0-4726-AA78-D33B27329F89}"/>
                </a:ext>
              </a:extLst>
            </p:cNvPr>
            <p:cNvSpPr>
              <a:spLocks noChangeArrowheads="1"/>
            </p:cNvSpPr>
            <p:nvPr/>
          </p:nvSpPr>
          <p:spPr bwMode="auto">
            <a:xfrm>
              <a:off x="162" y="3066"/>
              <a:ext cx="100"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8" name="Oval 27">
              <a:extLst>
                <a:ext uri="{FF2B5EF4-FFF2-40B4-BE49-F238E27FC236}">
                  <a16:creationId xmlns:a16="http://schemas.microsoft.com/office/drawing/2014/main" id="{D17E7B43-07DC-4A58-BF12-765A75B4EB82}"/>
                </a:ext>
              </a:extLst>
            </p:cNvPr>
            <p:cNvSpPr>
              <a:spLocks noChangeArrowheads="1"/>
            </p:cNvSpPr>
            <p:nvPr/>
          </p:nvSpPr>
          <p:spPr bwMode="auto">
            <a:xfrm>
              <a:off x="162" y="3066"/>
              <a:ext cx="100"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29" name="Oval 28">
              <a:extLst>
                <a:ext uri="{FF2B5EF4-FFF2-40B4-BE49-F238E27FC236}">
                  <a16:creationId xmlns:a16="http://schemas.microsoft.com/office/drawing/2014/main" id="{4C3D71CA-31BD-40B4-A1C1-8B5BBEB194AE}"/>
                </a:ext>
              </a:extLst>
            </p:cNvPr>
            <p:cNvSpPr>
              <a:spLocks noChangeArrowheads="1"/>
            </p:cNvSpPr>
            <p:nvPr/>
          </p:nvSpPr>
          <p:spPr bwMode="auto">
            <a:xfrm>
              <a:off x="1160" y="2341"/>
              <a:ext cx="100"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30" name="Oval 29">
              <a:extLst>
                <a:ext uri="{FF2B5EF4-FFF2-40B4-BE49-F238E27FC236}">
                  <a16:creationId xmlns:a16="http://schemas.microsoft.com/office/drawing/2014/main" id="{F78D5E71-4422-46F1-88F9-5CD4675F81E0}"/>
                </a:ext>
              </a:extLst>
            </p:cNvPr>
            <p:cNvSpPr>
              <a:spLocks noChangeArrowheads="1"/>
            </p:cNvSpPr>
            <p:nvPr/>
          </p:nvSpPr>
          <p:spPr bwMode="auto">
            <a:xfrm>
              <a:off x="1160" y="2341"/>
              <a:ext cx="100"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31" name="Oval 30">
              <a:extLst>
                <a:ext uri="{FF2B5EF4-FFF2-40B4-BE49-F238E27FC236}">
                  <a16:creationId xmlns:a16="http://schemas.microsoft.com/office/drawing/2014/main" id="{87B662FE-CFAD-4A07-AF00-52253A9D8F24}"/>
                </a:ext>
              </a:extLst>
            </p:cNvPr>
            <p:cNvSpPr>
              <a:spLocks noChangeArrowheads="1"/>
            </p:cNvSpPr>
            <p:nvPr/>
          </p:nvSpPr>
          <p:spPr bwMode="auto">
            <a:xfrm>
              <a:off x="827" y="3066"/>
              <a:ext cx="100"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32" name="Oval 31">
              <a:extLst>
                <a:ext uri="{FF2B5EF4-FFF2-40B4-BE49-F238E27FC236}">
                  <a16:creationId xmlns:a16="http://schemas.microsoft.com/office/drawing/2014/main" id="{32C7D662-B8CD-4965-89A2-33712BBE998D}"/>
                </a:ext>
              </a:extLst>
            </p:cNvPr>
            <p:cNvSpPr>
              <a:spLocks noChangeArrowheads="1"/>
            </p:cNvSpPr>
            <p:nvPr/>
          </p:nvSpPr>
          <p:spPr bwMode="auto">
            <a:xfrm>
              <a:off x="827" y="3066"/>
              <a:ext cx="100"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33" name="Oval 32">
              <a:extLst>
                <a:ext uri="{FF2B5EF4-FFF2-40B4-BE49-F238E27FC236}">
                  <a16:creationId xmlns:a16="http://schemas.microsoft.com/office/drawing/2014/main" id="{A47660BD-F3C3-41F6-856A-94A00F5A3E14}"/>
                </a:ext>
              </a:extLst>
            </p:cNvPr>
            <p:cNvSpPr>
              <a:spLocks noChangeArrowheads="1"/>
            </p:cNvSpPr>
            <p:nvPr/>
          </p:nvSpPr>
          <p:spPr bwMode="auto">
            <a:xfrm>
              <a:off x="2490" y="2341"/>
              <a:ext cx="99" cy="145"/>
            </a:xfrm>
            <a:prstGeom prst="ellipse">
              <a:avLst/>
            </a:prstGeom>
            <a:solidFill>
              <a:srgbClr val="000000"/>
            </a:solidFill>
            <a:ln w="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34" name="Oval 33">
              <a:extLst>
                <a:ext uri="{FF2B5EF4-FFF2-40B4-BE49-F238E27FC236}">
                  <a16:creationId xmlns:a16="http://schemas.microsoft.com/office/drawing/2014/main" id="{F2CBE0CF-A852-4F4D-AAE5-8EFE98405A0B}"/>
                </a:ext>
              </a:extLst>
            </p:cNvPr>
            <p:cNvSpPr>
              <a:spLocks noChangeArrowheads="1"/>
            </p:cNvSpPr>
            <p:nvPr/>
          </p:nvSpPr>
          <p:spPr bwMode="auto">
            <a:xfrm>
              <a:off x="2490" y="2341"/>
              <a:ext cx="99" cy="145"/>
            </a:xfrm>
            <a:prstGeom prst="ellipse">
              <a:avLst/>
            </a:prstGeom>
            <a:noFill/>
            <a:ln w="127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prstClr val="black"/>
                </a:solidFill>
              </a:endParaRPr>
            </a:p>
          </p:txBody>
        </p:sp>
        <p:sp>
          <p:nvSpPr>
            <p:cNvPr id="35" name="Line 34">
              <a:extLst>
                <a:ext uri="{FF2B5EF4-FFF2-40B4-BE49-F238E27FC236}">
                  <a16:creationId xmlns:a16="http://schemas.microsoft.com/office/drawing/2014/main" id="{801316A9-F618-4709-ACE4-4C905EDDA250}"/>
                </a:ext>
              </a:extLst>
            </p:cNvPr>
            <p:cNvSpPr>
              <a:spLocks noChangeShapeType="1"/>
            </p:cNvSpPr>
            <p:nvPr/>
          </p:nvSpPr>
          <p:spPr bwMode="auto">
            <a:xfrm flipV="1">
              <a:off x="1328" y="1094"/>
              <a:ext cx="518" cy="489"/>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36" name="Freeform 35">
              <a:extLst>
                <a:ext uri="{FF2B5EF4-FFF2-40B4-BE49-F238E27FC236}">
                  <a16:creationId xmlns:a16="http://schemas.microsoft.com/office/drawing/2014/main" id="{C1C6B48A-9B2C-46F4-8DF2-2F9EEDAB644C}"/>
                </a:ext>
              </a:extLst>
            </p:cNvPr>
            <p:cNvSpPr>
              <a:spLocks/>
            </p:cNvSpPr>
            <p:nvPr/>
          </p:nvSpPr>
          <p:spPr bwMode="auto">
            <a:xfrm>
              <a:off x="1253" y="1536"/>
              <a:ext cx="99" cy="117"/>
            </a:xfrm>
            <a:custGeom>
              <a:avLst/>
              <a:gdLst>
                <a:gd name="T0" fmla="*/ 99 w 99"/>
                <a:gd name="T1" fmla="*/ 79 h 117"/>
                <a:gd name="T2" fmla="*/ 0 w 99"/>
                <a:gd name="T3" fmla="*/ 117 h 117"/>
                <a:gd name="T4" fmla="*/ 64 w 99"/>
                <a:gd name="T5" fmla="*/ 0 h 117"/>
                <a:gd name="T6" fmla="*/ 99 w 99"/>
                <a:gd name="T7" fmla="*/ 79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 h="117">
                  <a:moveTo>
                    <a:pt x="99" y="79"/>
                  </a:moveTo>
                  <a:lnTo>
                    <a:pt x="0" y="117"/>
                  </a:lnTo>
                  <a:lnTo>
                    <a:pt x="64" y="0"/>
                  </a:lnTo>
                  <a:lnTo>
                    <a:pt x="99" y="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37" name="Line 36">
              <a:extLst>
                <a:ext uri="{FF2B5EF4-FFF2-40B4-BE49-F238E27FC236}">
                  <a16:creationId xmlns:a16="http://schemas.microsoft.com/office/drawing/2014/main" id="{94DC5413-BA59-44BD-BBF0-AF7592F22108}"/>
                </a:ext>
              </a:extLst>
            </p:cNvPr>
            <p:cNvSpPr>
              <a:spLocks noChangeShapeType="1"/>
            </p:cNvSpPr>
            <p:nvPr/>
          </p:nvSpPr>
          <p:spPr bwMode="auto">
            <a:xfrm flipV="1">
              <a:off x="769" y="1759"/>
              <a:ext cx="428" cy="527"/>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38" name="Freeform 37">
              <a:extLst>
                <a:ext uri="{FF2B5EF4-FFF2-40B4-BE49-F238E27FC236}">
                  <a16:creationId xmlns:a16="http://schemas.microsoft.com/office/drawing/2014/main" id="{E23EBD7C-83CA-4662-9D16-74436792E2EE}"/>
                </a:ext>
              </a:extLst>
            </p:cNvPr>
            <p:cNvSpPr>
              <a:spLocks/>
            </p:cNvSpPr>
            <p:nvPr/>
          </p:nvSpPr>
          <p:spPr bwMode="auto">
            <a:xfrm>
              <a:off x="701" y="2243"/>
              <a:ext cx="94" cy="127"/>
            </a:xfrm>
            <a:custGeom>
              <a:avLst/>
              <a:gdLst>
                <a:gd name="T0" fmla="*/ 94 w 94"/>
                <a:gd name="T1" fmla="*/ 71 h 127"/>
                <a:gd name="T2" fmla="*/ 0 w 94"/>
                <a:gd name="T3" fmla="*/ 127 h 127"/>
                <a:gd name="T4" fmla="*/ 53 w 94"/>
                <a:gd name="T5" fmla="*/ 0 h 127"/>
                <a:gd name="T6" fmla="*/ 94 w 94"/>
                <a:gd name="T7" fmla="*/ 71 h 12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 h="127">
                  <a:moveTo>
                    <a:pt x="94" y="71"/>
                  </a:moveTo>
                  <a:lnTo>
                    <a:pt x="0" y="127"/>
                  </a:lnTo>
                  <a:lnTo>
                    <a:pt x="53" y="0"/>
                  </a:lnTo>
                  <a:lnTo>
                    <a:pt x="94" y="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39" name="Line 38">
              <a:extLst>
                <a:ext uri="{FF2B5EF4-FFF2-40B4-BE49-F238E27FC236}">
                  <a16:creationId xmlns:a16="http://schemas.microsoft.com/office/drawing/2014/main" id="{23115971-BDE9-4591-9A6D-16FCA0D128C4}"/>
                </a:ext>
              </a:extLst>
            </p:cNvPr>
            <p:cNvSpPr>
              <a:spLocks noChangeShapeType="1"/>
            </p:cNvSpPr>
            <p:nvPr/>
          </p:nvSpPr>
          <p:spPr bwMode="auto">
            <a:xfrm flipH="1" flipV="1">
              <a:off x="1197" y="1759"/>
              <a:ext cx="10" cy="452"/>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40" name="Freeform 39">
              <a:extLst>
                <a:ext uri="{FF2B5EF4-FFF2-40B4-BE49-F238E27FC236}">
                  <a16:creationId xmlns:a16="http://schemas.microsoft.com/office/drawing/2014/main" id="{6E58612C-54CF-4B91-BB7B-72DC21CF96A4}"/>
                </a:ext>
              </a:extLst>
            </p:cNvPr>
            <p:cNvSpPr>
              <a:spLocks/>
            </p:cNvSpPr>
            <p:nvPr/>
          </p:nvSpPr>
          <p:spPr bwMode="auto">
            <a:xfrm>
              <a:off x="1174" y="2198"/>
              <a:ext cx="65" cy="143"/>
            </a:xfrm>
            <a:custGeom>
              <a:avLst/>
              <a:gdLst>
                <a:gd name="T0" fmla="*/ 65 w 65"/>
                <a:gd name="T1" fmla="*/ 0 h 143"/>
                <a:gd name="T2" fmla="*/ 36 w 65"/>
                <a:gd name="T3" fmla="*/ 143 h 143"/>
                <a:gd name="T4" fmla="*/ 0 w 65"/>
                <a:gd name="T5" fmla="*/ 4 h 143"/>
                <a:gd name="T6" fmla="*/ 65 w 65"/>
                <a:gd name="T7" fmla="*/ 0 h 1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 h="143">
                  <a:moveTo>
                    <a:pt x="65" y="0"/>
                  </a:moveTo>
                  <a:lnTo>
                    <a:pt x="36" y="143"/>
                  </a:lnTo>
                  <a:lnTo>
                    <a:pt x="0" y="4"/>
                  </a:lnTo>
                  <a:lnTo>
                    <a:pt x="6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41" name="Line 40">
              <a:extLst>
                <a:ext uri="{FF2B5EF4-FFF2-40B4-BE49-F238E27FC236}">
                  <a16:creationId xmlns:a16="http://schemas.microsoft.com/office/drawing/2014/main" id="{118415D6-934B-455C-9345-9D4199C14D70}"/>
                </a:ext>
              </a:extLst>
            </p:cNvPr>
            <p:cNvSpPr>
              <a:spLocks noChangeShapeType="1"/>
            </p:cNvSpPr>
            <p:nvPr/>
          </p:nvSpPr>
          <p:spPr bwMode="auto">
            <a:xfrm flipH="1" flipV="1">
              <a:off x="1197" y="1759"/>
              <a:ext cx="427" cy="504"/>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42" name="Freeform 41">
              <a:extLst>
                <a:ext uri="{FF2B5EF4-FFF2-40B4-BE49-F238E27FC236}">
                  <a16:creationId xmlns:a16="http://schemas.microsoft.com/office/drawing/2014/main" id="{76D6D7CB-691C-4EF3-93AC-06CD22C32A46}"/>
                </a:ext>
              </a:extLst>
            </p:cNvPr>
            <p:cNvSpPr>
              <a:spLocks/>
            </p:cNvSpPr>
            <p:nvPr/>
          </p:nvSpPr>
          <p:spPr bwMode="auto">
            <a:xfrm>
              <a:off x="1597" y="2219"/>
              <a:ext cx="95" cy="126"/>
            </a:xfrm>
            <a:custGeom>
              <a:avLst/>
              <a:gdLst>
                <a:gd name="T0" fmla="*/ 40 w 95"/>
                <a:gd name="T1" fmla="*/ 0 h 126"/>
                <a:gd name="T2" fmla="*/ 95 w 95"/>
                <a:gd name="T3" fmla="*/ 126 h 126"/>
                <a:gd name="T4" fmla="*/ 0 w 95"/>
                <a:gd name="T5" fmla="*/ 73 h 126"/>
                <a:gd name="T6" fmla="*/ 40 w 95"/>
                <a:gd name="T7" fmla="*/ 0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5" h="126">
                  <a:moveTo>
                    <a:pt x="40" y="0"/>
                  </a:moveTo>
                  <a:lnTo>
                    <a:pt x="95" y="126"/>
                  </a:lnTo>
                  <a:lnTo>
                    <a:pt x="0" y="73"/>
                  </a:lnTo>
                  <a:lnTo>
                    <a:pt x="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43" name="Line 42">
              <a:extLst>
                <a:ext uri="{FF2B5EF4-FFF2-40B4-BE49-F238E27FC236}">
                  <a16:creationId xmlns:a16="http://schemas.microsoft.com/office/drawing/2014/main" id="{1F207855-AE1A-45D6-8E01-45FB65309148}"/>
                </a:ext>
              </a:extLst>
            </p:cNvPr>
            <p:cNvSpPr>
              <a:spLocks noChangeShapeType="1"/>
            </p:cNvSpPr>
            <p:nvPr/>
          </p:nvSpPr>
          <p:spPr bwMode="auto">
            <a:xfrm flipV="1">
              <a:off x="2139" y="1739"/>
              <a:ext cx="366" cy="531"/>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44" name="Freeform 43">
              <a:extLst>
                <a:ext uri="{FF2B5EF4-FFF2-40B4-BE49-F238E27FC236}">
                  <a16:creationId xmlns:a16="http://schemas.microsoft.com/office/drawing/2014/main" id="{7E268043-CE66-4D59-B734-A052C50333BB}"/>
                </a:ext>
              </a:extLst>
            </p:cNvPr>
            <p:cNvSpPr>
              <a:spLocks/>
            </p:cNvSpPr>
            <p:nvPr/>
          </p:nvSpPr>
          <p:spPr bwMode="auto">
            <a:xfrm>
              <a:off x="2076" y="2229"/>
              <a:ext cx="91" cy="133"/>
            </a:xfrm>
            <a:custGeom>
              <a:avLst/>
              <a:gdLst>
                <a:gd name="T0" fmla="*/ 91 w 91"/>
                <a:gd name="T1" fmla="*/ 67 h 133"/>
                <a:gd name="T2" fmla="*/ 0 w 91"/>
                <a:gd name="T3" fmla="*/ 133 h 133"/>
                <a:gd name="T4" fmla="*/ 46 w 91"/>
                <a:gd name="T5" fmla="*/ 0 h 133"/>
                <a:gd name="T6" fmla="*/ 91 w 91"/>
                <a:gd name="T7" fmla="*/ 67 h 1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 h="133">
                  <a:moveTo>
                    <a:pt x="91" y="67"/>
                  </a:moveTo>
                  <a:lnTo>
                    <a:pt x="0" y="133"/>
                  </a:lnTo>
                  <a:lnTo>
                    <a:pt x="46" y="0"/>
                  </a:lnTo>
                  <a:lnTo>
                    <a:pt x="91"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45" name="Line 44">
              <a:extLst>
                <a:ext uri="{FF2B5EF4-FFF2-40B4-BE49-F238E27FC236}">
                  <a16:creationId xmlns:a16="http://schemas.microsoft.com/office/drawing/2014/main" id="{43E30FEF-AC25-497E-904A-E6332A04D0D9}"/>
                </a:ext>
              </a:extLst>
            </p:cNvPr>
            <p:cNvSpPr>
              <a:spLocks noChangeShapeType="1"/>
            </p:cNvSpPr>
            <p:nvPr/>
          </p:nvSpPr>
          <p:spPr bwMode="auto">
            <a:xfrm flipV="1">
              <a:off x="2555" y="1757"/>
              <a:ext cx="1" cy="458"/>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46" name="Freeform 45">
              <a:extLst>
                <a:ext uri="{FF2B5EF4-FFF2-40B4-BE49-F238E27FC236}">
                  <a16:creationId xmlns:a16="http://schemas.microsoft.com/office/drawing/2014/main" id="{9CFF8AEA-1EB6-427D-A315-99492CEBF0C0}"/>
                </a:ext>
              </a:extLst>
            </p:cNvPr>
            <p:cNvSpPr>
              <a:spLocks/>
            </p:cNvSpPr>
            <p:nvPr/>
          </p:nvSpPr>
          <p:spPr bwMode="auto">
            <a:xfrm>
              <a:off x="2523" y="2203"/>
              <a:ext cx="65" cy="142"/>
            </a:xfrm>
            <a:custGeom>
              <a:avLst/>
              <a:gdLst>
                <a:gd name="T0" fmla="*/ 65 w 65"/>
                <a:gd name="T1" fmla="*/ 0 h 142"/>
                <a:gd name="T2" fmla="*/ 32 w 65"/>
                <a:gd name="T3" fmla="*/ 142 h 142"/>
                <a:gd name="T4" fmla="*/ 0 w 65"/>
                <a:gd name="T5" fmla="*/ 0 h 142"/>
                <a:gd name="T6" fmla="*/ 65 w 65"/>
                <a:gd name="T7" fmla="*/ 0 h 1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 h="142">
                  <a:moveTo>
                    <a:pt x="65" y="0"/>
                  </a:moveTo>
                  <a:lnTo>
                    <a:pt x="32" y="142"/>
                  </a:lnTo>
                  <a:lnTo>
                    <a:pt x="0" y="0"/>
                  </a:lnTo>
                  <a:lnTo>
                    <a:pt x="6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47" name="Line 46">
              <a:extLst>
                <a:ext uri="{FF2B5EF4-FFF2-40B4-BE49-F238E27FC236}">
                  <a16:creationId xmlns:a16="http://schemas.microsoft.com/office/drawing/2014/main" id="{F0140A36-9893-4751-B507-CFA6ABFC17DD}"/>
                </a:ext>
              </a:extLst>
            </p:cNvPr>
            <p:cNvSpPr>
              <a:spLocks noChangeShapeType="1"/>
            </p:cNvSpPr>
            <p:nvPr/>
          </p:nvSpPr>
          <p:spPr bwMode="auto">
            <a:xfrm flipH="1" flipV="1">
              <a:off x="2584" y="1720"/>
              <a:ext cx="369" cy="537"/>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48" name="Freeform 47">
              <a:extLst>
                <a:ext uri="{FF2B5EF4-FFF2-40B4-BE49-F238E27FC236}">
                  <a16:creationId xmlns:a16="http://schemas.microsoft.com/office/drawing/2014/main" id="{925B1485-D3DC-4D2E-9B61-25D2EDD54140}"/>
                </a:ext>
              </a:extLst>
            </p:cNvPr>
            <p:cNvSpPr>
              <a:spLocks/>
            </p:cNvSpPr>
            <p:nvPr/>
          </p:nvSpPr>
          <p:spPr bwMode="auto">
            <a:xfrm>
              <a:off x="2925" y="2215"/>
              <a:ext cx="91" cy="134"/>
            </a:xfrm>
            <a:custGeom>
              <a:avLst/>
              <a:gdLst>
                <a:gd name="T0" fmla="*/ 45 w 91"/>
                <a:gd name="T1" fmla="*/ 0 h 134"/>
                <a:gd name="T2" fmla="*/ 91 w 91"/>
                <a:gd name="T3" fmla="*/ 134 h 134"/>
                <a:gd name="T4" fmla="*/ 0 w 91"/>
                <a:gd name="T5" fmla="*/ 67 h 134"/>
                <a:gd name="T6" fmla="*/ 45 w 91"/>
                <a:gd name="T7" fmla="*/ 0 h 13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1" h="134">
                  <a:moveTo>
                    <a:pt x="45" y="0"/>
                  </a:moveTo>
                  <a:lnTo>
                    <a:pt x="91" y="134"/>
                  </a:lnTo>
                  <a:lnTo>
                    <a:pt x="0" y="67"/>
                  </a:lnTo>
                  <a:lnTo>
                    <a:pt x="4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49" name="Line 48">
              <a:extLst>
                <a:ext uri="{FF2B5EF4-FFF2-40B4-BE49-F238E27FC236}">
                  <a16:creationId xmlns:a16="http://schemas.microsoft.com/office/drawing/2014/main" id="{8EA2AC51-566F-4F2F-9078-F4EEEF01F203}"/>
                </a:ext>
              </a:extLst>
            </p:cNvPr>
            <p:cNvSpPr>
              <a:spLocks noChangeShapeType="1"/>
            </p:cNvSpPr>
            <p:nvPr/>
          </p:nvSpPr>
          <p:spPr bwMode="auto">
            <a:xfrm flipV="1">
              <a:off x="304" y="2448"/>
              <a:ext cx="313" cy="540"/>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50" name="Freeform 49">
              <a:extLst>
                <a:ext uri="{FF2B5EF4-FFF2-40B4-BE49-F238E27FC236}">
                  <a16:creationId xmlns:a16="http://schemas.microsoft.com/office/drawing/2014/main" id="{7076F436-78E5-4DFB-9BBC-7FFCC0666E48}"/>
                </a:ext>
              </a:extLst>
            </p:cNvPr>
            <p:cNvSpPr>
              <a:spLocks/>
            </p:cNvSpPr>
            <p:nvPr/>
          </p:nvSpPr>
          <p:spPr bwMode="auto">
            <a:xfrm>
              <a:off x="247" y="2949"/>
              <a:ext cx="88" cy="138"/>
            </a:xfrm>
            <a:custGeom>
              <a:avLst/>
              <a:gdLst>
                <a:gd name="T0" fmla="*/ 88 w 88"/>
                <a:gd name="T1" fmla="*/ 61 h 138"/>
                <a:gd name="T2" fmla="*/ 0 w 88"/>
                <a:gd name="T3" fmla="*/ 138 h 138"/>
                <a:gd name="T4" fmla="*/ 38 w 88"/>
                <a:gd name="T5" fmla="*/ 0 h 138"/>
                <a:gd name="T6" fmla="*/ 88 w 88"/>
                <a:gd name="T7" fmla="*/ 61 h 13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 h="138">
                  <a:moveTo>
                    <a:pt x="88" y="61"/>
                  </a:moveTo>
                  <a:lnTo>
                    <a:pt x="0" y="138"/>
                  </a:lnTo>
                  <a:lnTo>
                    <a:pt x="38" y="0"/>
                  </a:lnTo>
                  <a:lnTo>
                    <a:pt x="88"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51" name="Line 50">
              <a:extLst>
                <a:ext uri="{FF2B5EF4-FFF2-40B4-BE49-F238E27FC236}">
                  <a16:creationId xmlns:a16="http://schemas.microsoft.com/office/drawing/2014/main" id="{6C5EA1E7-A4B7-4AB2-A6B3-FE27C2C8C9F6}"/>
                </a:ext>
              </a:extLst>
            </p:cNvPr>
            <p:cNvSpPr>
              <a:spLocks noChangeShapeType="1"/>
            </p:cNvSpPr>
            <p:nvPr/>
          </p:nvSpPr>
          <p:spPr bwMode="auto">
            <a:xfrm flipH="1" flipV="1">
              <a:off x="1840" y="983"/>
              <a:ext cx="593" cy="575"/>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52" name="Freeform 51">
              <a:extLst>
                <a:ext uri="{FF2B5EF4-FFF2-40B4-BE49-F238E27FC236}">
                  <a16:creationId xmlns:a16="http://schemas.microsoft.com/office/drawing/2014/main" id="{5ACF9372-4BF9-4FCA-B219-51B687E9042D}"/>
                </a:ext>
              </a:extLst>
            </p:cNvPr>
            <p:cNvSpPr>
              <a:spLocks/>
            </p:cNvSpPr>
            <p:nvPr/>
          </p:nvSpPr>
          <p:spPr bwMode="auto">
            <a:xfrm>
              <a:off x="2409" y="1512"/>
              <a:ext cx="98" cy="118"/>
            </a:xfrm>
            <a:custGeom>
              <a:avLst/>
              <a:gdLst>
                <a:gd name="T0" fmla="*/ 36 w 98"/>
                <a:gd name="T1" fmla="*/ 0 h 118"/>
                <a:gd name="T2" fmla="*/ 98 w 98"/>
                <a:gd name="T3" fmla="*/ 118 h 118"/>
                <a:gd name="T4" fmla="*/ 0 w 98"/>
                <a:gd name="T5" fmla="*/ 79 h 118"/>
                <a:gd name="T6" fmla="*/ 36 w 98"/>
                <a:gd name="T7" fmla="*/ 0 h 1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8" h="118">
                  <a:moveTo>
                    <a:pt x="36" y="0"/>
                  </a:moveTo>
                  <a:lnTo>
                    <a:pt x="98" y="118"/>
                  </a:lnTo>
                  <a:lnTo>
                    <a:pt x="0" y="79"/>
                  </a:lnTo>
                  <a:lnTo>
                    <a:pt x="3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sp>
          <p:nvSpPr>
            <p:cNvPr id="53" name="Line 52">
              <a:extLst>
                <a:ext uri="{FF2B5EF4-FFF2-40B4-BE49-F238E27FC236}">
                  <a16:creationId xmlns:a16="http://schemas.microsoft.com/office/drawing/2014/main" id="{EB89DEE0-AEC1-4DFC-B3F3-078F36BBFD8A}"/>
                </a:ext>
              </a:extLst>
            </p:cNvPr>
            <p:cNvSpPr>
              <a:spLocks noChangeShapeType="1"/>
            </p:cNvSpPr>
            <p:nvPr/>
          </p:nvSpPr>
          <p:spPr bwMode="auto">
            <a:xfrm flipH="1" flipV="1">
              <a:off x="690" y="2472"/>
              <a:ext cx="137" cy="478"/>
            </a:xfrm>
            <a:prstGeom prst="line">
              <a:avLst/>
            </a:prstGeom>
            <a:noFill/>
            <a:ln w="4763"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54" name="Freeform 53">
              <a:extLst>
                <a:ext uri="{FF2B5EF4-FFF2-40B4-BE49-F238E27FC236}">
                  <a16:creationId xmlns:a16="http://schemas.microsoft.com/office/drawing/2014/main" id="{7D1D5535-A734-4E2E-807B-D4E698F318AA}"/>
                </a:ext>
              </a:extLst>
            </p:cNvPr>
            <p:cNvSpPr>
              <a:spLocks/>
            </p:cNvSpPr>
            <p:nvPr/>
          </p:nvSpPr>
          <p:spPr bwMode="auto">
            <a:xfrm>
              <a:off x="794" y="2921"/>
              <a:ext cx="67" cy="149"/>
            </a:xfrm>
            <a:custGeom>
              <a:avLst/>
              <a:gdLst>
                <a:gd name="T0" fmla="*/ 60 w 67"/>
                <a:gd name="T1" fmla="*/ 0 h 149"/>
                <a:gd name="T2" fmla="*/ 67 w 67"/>
                <a:gd name="T3" fmla="*/ 149 h 149"/>
                <a:gd name="T4" fmla="*/ 0 w 67"/>
                <a:gd name="T5" fmla="*/ 36 h 149"/>
                <a:gd name="T6" fmla="*/ 60 w 67"/>
                <a:gd name="T7" fmla="*/ 0 h 1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149">
                  <a:moveTo>
                    <a:pt x="60" y="0"/>
                  </a:moveTo>
                  <a:lnTo>
                    <a:pt x="67" y="149"/>
                  </a:lnTo>
                  <a:lnTo>
                    <a:pt x="0" y="36"/>
                  </a:lnTo>
                  <a:lnTo>
                    <a:pt x="6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Times New Roman"/>
                <a:ea typeface="黑体"/>
              </a:endParaRPr>
            </a:p>
          </p:txBody>
        </p:sp>
        <p:grpSp>
          <p:nvGrpSpPr>
            <p:cNvPr id="55" name="Group 56">
              <a:extLst>
                <a:ext uri="{FF2B5EF4-FFF2-40B4-BE49-F238E27FC236}">
                  <a16:creationId xmlns:a16="http://schemas.microsoft.com/office/drawing/2014/main" id="{0D7C505C-8E2D-4726-80B2-ED8F66724086}"/>
                </a:ext>
              </a:extLst>
            </p:cNvPr>
            <p:cNvGrpSpPr>
              <a:grpSpLocks/>
            </p:cNvGrpSpPr>
            <p:nvPr/>
          </p:nvGrpSpPr>
          <p:grpSpPr bwMode="auto">
            <a:xfrm>
              <a:off x="1817" y="683"/>
              <a:ext cx="138" cy="293"/>
              <a:chOff x="1817" y="683"/>
              <a:chExt cx="138" cy="293"/>
            </a:xfrm>
          </p:grpSpPr>
          <p:sp>
            <p:nvSpPr>
              <p:cNvPr id="71" name="Rectangle 54">
                <a:extLst>
                  <a:ext uri="{FF2B5EF4-FFF2-40B4-BE49-F238E27FC236}">
                    <a16:creationId xmlns:a16="http://schemas.microsoft.com/office/drawing/2014/main" id="{DE7551A4-CDD4-4623-85B6-28B6AB7296EE}"/>
                  </a:ext>
                </a:extLst>
              </p:cNvPr>
              <p:cNvSpPr>
                <a:spLocks noChangeArrowheads="1"/>
              </p:cNvSpPr>
              <p:nvPr/>
            </p:nvSpPr>
            <p:spPr bwMode="auto">
              <a:xfrm>
                <a:off x="1893" y="805"/>
                <a:ext cx="62"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400" dirty="0">
                    <a:solidFill>
                      <a:srgbClr val="000000"/>
                    </a:solidFill>
                    <a:latin typeface="Times New Roman" panose="02020603050405020304" pitchFamily="18" charset="0"/>
                  </a:rPr>
                  <a:t>0</a:t>
                </a:r>
                <a:endParaRPr lang="en-US" altLang="zh-CN" dirty="0">
                  <a:solidFill>
                    <a:prstClr val="black"/>
                  </a:solidFill>
                </a:endParaRPr>
              </a:p>
            </p:txBody>
          </p:sp>
          <p:sp>
            <p:nvSpPr>
              <p:cNvPr id="72" name="Rectangle 55">
                <a:extLst>
                  <a:ext uri="{FF2B5EF4-FFF2-40B4-BE49-F238E27FC236}">
                    <a16:creationId xmlns:a16="http://schemas.microsoft.com/office/drawing/2014/main" id="{6C1EDBD4-D26C-4A07-934F-26E654F936B4}"/>
                  </a:ext>
                </a:extLst>
              </p:cNvPr>
              <p:cNvSpPr>
                <a:spLocks noChangeArrowheads="1"/>
              </p:cNvSpPr>
              <p:nvPr/>
            </p:nvSpPr>
            <p:spPr bwMode="auto">
              <a:xfrm>
                <a:off x="1817" y="683"/>
                <a:ext cx="111"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500" i="1">
                    <a:solidFill>
                      <a:srgbClr val="000000"/>
                    </a:solidFill>
                    <a:latin typeface="Times New Roman" panose="02020603050405020304" pitchFamily="18" charset="0"/>
                  </a:rPr>
                  <a:t>S</a:t>
                </a:r>
                <a:endParaRPr lang="en-US" altLang="zh-CN">
                  <a:solidFill>
                    <a:prstClr val="black"/>
                  </a:solidFill>
                </a:endParaRPr>
              </a:p>
            </p:txBody>
          </p:sp>
        </p:grpSp>
        <p:sp>
          <p:nvSpPr>
            <p:cNvPr id="56" name="Rectangle 57">
              <a:extLst>
                <a:ext uri="{FF2B5EF4-FFF2-40B4-BE49-F238E27FC236}">
                  <a16:creationId xmlns:a16="http://schemas.microsoft.com/office/drawing/2014/main" id="{36270BB6-D905-4694-846E-AB088E41A212}"/>
                </a:ext>
              </a:extLst>
            </p:cNvPr>
            <p:cNvSpPr>
              <a:spLocks noChangeArrowheads="1"/>
            </p:cNvSpPr>
            <p:nvPr/>
          </p:nvSpPr>
          <p:spPr bwMode="auto">
            <a:xfrm>
              <a:off x="1037" y="1456"/>
              <a:ext cx="116"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1</a:t>
              </a:r>
              <a:endParaRPr lang="en-US" altLang="zh-CN">
                <a:solidFill>
                  <a:prstClr val="black"/>
                </a:solidFill>
              </a:endParaRPr>
            </a:p>
          </p:txBody>
        </p:sp>
        <p:sp>
          <p:nvSpPr>
            <p:cNvPr id="57" name="Rectangle 58">
              <a:extLst>
                <a:ext uri="{FF2B5EF4-FFF2-40B4-BE49-F238E27FC236}">
                  <a16:creationId xmlns:a16="http://schemas.microsoft.com/office/drawing/2014/main" id="{25369A97-D9EC-4A95-B624-18F252A0F1E3}"/>
                </a:ext>
              </a:extLst>
            </p:cNvPr>
            <p:cNvSpPr>
              <a:spLocks noChangeArrowheads="1"/>
            </p:cNvSpPr>
            <p:nvPr/>
          </p:nvSpPr>
          <p:spPr bwMode="auto">
            <a:xfrm>
              <a:off x="2568" y="1379"/>
              <a:ext cx="116"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2</a:t>
              </a:r>
              <a:endParaRPr lang="en-US" altLang="zh-CN">
                <a:solidFill>
                  <a:prstClr val="black"/>
                </a:solidFill>
              </a:endParaRPr>
            </a:p>
          </p:txBody>
        </p:sp>
        <p:sp>
          <p:nvSpPr>
            <p:cNvPr id="58" name="Rectangle 59">
              <a:extLst>
                <a:ext uri="{FF2B5EF4-FFF2-40B4-BE49-F238E27FC236}">
                  <a16:creationId xmlns:a16="http://schemas.microsoft.com/office/drawing/2014/main" id="{0080F4C7-FF47-4305-8264-BF575D1326EE}"/>
                </a:ext>
              </a:extLst>
            </p:cNvPr>
            <p:cNvSpPr>
              <a:spLocks noChangeArrowheads="1"/>
            </p:cNvSpPr>
            <p:nvPr/>
          </p:nvSpPr>
          <p:spPr bwMode="auto">
            <a:xfrm>
              <a:off x="510" y="2249"/>
              <a:ext cx="116"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3</a:t>
              </a:r>
              <a:endParaRPr lang="en-US" altLang="zh-CN">
                <a:solidFill>
                  <a:prstClr val="black"/>
                </a:solidFill>
              </a:endParaRPr>
            </a:p>
          </p:txBody>
        </p:sp>
        <p:sp>
          <p:nvSpPr>
            <p:cNvPr id="59" name="Rectangle 60">
              <a:extLst>
                <a:ext uri="{FF2B5EF4-FFF2-40B4-BE49-F238E27FC236}">
                  <a16:creationId xmlns:a16="http://schemas.microsoft.com/office/drawing/2014/main" id="{9B128923-C8F7-4FA1-97C7-A3377E18364A}"/>
                </a:ext>
              </a:extLst>
            </p:cNvPr>
            <p:cNvSpPr>
              <a:spLocks noChangeArrowheads="1"/>
            </p:cNvSpPr>
            <p:nvPr/>
          </p:nvSpPr>
          <p:spPr bwMode="auto">
            <a:xfrm>
              <a:off x="1073" y="2198"/>
              <a:ext cx="116"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4</a:t>
              </a:r>
              <a:endParaRPr lang="en-US" altLang="zh-CN">
                <a:solidFill>
                  <a:prstClr val="black"/>
                </a:solidFill>
              </a:endParaRPr>
            </a:p>
          </p:txBody>
        </p:sp>
        <p:sp>
          <p:nvSpPr>
            <p:cNvPr id="60" name="Rectangle 61">
              <a:extLst>
                <a:ext uri="{FF2B5EF4-FFF2-40B4-BE49-F238E27FC236}">
                  <a16:creationId xmlns:a16="http://schemas.microsoft.com/office/drawing/2014/main" id="{37565668-E74C-4E93-B9CF-35C083FD56A0}"/>
                </a:ext>
              </a:extLst>
            </p:cNvPr>
            <p:cNvSpPr>
              <a:spLocks noChangeArrowheads="1"/>
            </p:cNvSpPr>
            <p:nvPr/>
          </p:nvSpPr>
          <p:spPr bwMode="auto">
            <a:xfrm>
              <a:off x="1759" y="2146"/>
              <a:ext cx="116"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5</a:t>
              </a:r>
              <a:endParaRPr lang="en-US" altLang="zh-CN">
                <a:solidFill>
                  <a:prstClr val="black"/>
                </a:solidFill>
              </a:endParaRPr>
            </a:p>
          </p:txBody>
        </p:sp>
        <p:sp>
          <p:nvSpPr>
            <p:cNvPr id="61" name="Rectangle 62">
              <a:extLst>
                <a:ext uri="{FF2B5EF4-FFF2-40B4-BE49-F238E27FC236}">
                  <a16:creationId xmlns:a16="http://schemas.microsoft.com/office/drawing/2014/main" id="{1FAF4BDF-7177-4077-8A81-BBA6DDF4EB29}"/>
                </a:ext>
              </a:extLst>
            </p:cNvPr>
            <p:cNvSpPr>
              <a:spLocks noChangeArrowheads="1"/>
            </p:cNvSpPr>
            <p:nvPr/>
          </p:nvSpPr>
          <p:spPr bwMode="auto">
            <a:xfrm>
              <a:off x="2172" y="2300"/>
              <a:ext cx="116"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6</a:t>
              </a:r>
              <a:endParaRPr lang="en-US" altLang="zh-CN">
                <a:solidFill>
                  <a:prstClr val="black"/>
                </a:solidFill>
              </a:endParaRPr>
            </a:p>
          </p:txBody>
        </p:sp>
        <p:sp>
          <p:nvSpPr>
            <p:cNvPr id="62" name="Rectangle 63">
              <a:extLst>
                <a:ext uri="{FF2B5EF4-FFF2-40B4-BE49-F238E27FC236}">
                  <a16:creationId xmlns:a16="http://schemas.microsoft.com/office/drawing/2014/main" id="{EB9FA30A-63E0-4012-898F-EAB808CECCF7}"/>
                </a:ext>
              </a:extLst>
            </p:cNvPr>
            <p:cNvSpPr>
              <a:spLocks noChangeArrowheads="1"/>
            </p:cNvSpPr>
            <p:nvPr/>
          </p:nvSpPr>
          <p:spPr bwMode="auto">
            <a:xfrm>
              <a:off x="2621" y="2300"/>
              <a:ext cx="116"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7</a:t>
              </a:r>
              <a:endParaRPr lang="en-US" altLang="zh-CN">
                <a:solidFill>
                  <a:prstClr val="black"/>
                </a:solidFill>
              </a:endParaRPr>
            </a:p>
          </p:txBody>
        </p:sp>
        <p:sp>
          <p:nvSpPr>
            <p:cNvPr id="63" name="Rectangle 64">
              <a:extLst>
                <a:ext uri="{FF2B5EF4-FFF2-40B4-BE49-F238E27FC236}">
                  <a16:creationId xmlns:a16="http://schemas.microsoft.com/office/drawing/2014/main" id="{C034F3AF-09DC-4ED7-933C-FDD085AD38A2}"/>
                </a:ext>
              </a:extLst>
            </p:cNvPr>
            <p:cNvSpPr>
              <a:spLocks noChangeArrowheads="1"/>
            </p:cNvSpPr>
            <p:nvPr/>
          </p:nvSpPr>
          <p:spPr bwMode="auto">
            <a:xfrm>
              <a:off x="3167" y="2300"/>
              <a:ext cx="116"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8</a:t>
              </a:r>
              <a:endParaRPr lang="en-US" altLang="zh-CN">
                <a:solidFill>
                  <a:prstClr val="black"/>
                </a:solidFill>
              </a:endParaRPr>
            </a:p>
          </p:txBody>
        </p:sp>
        <p:sp>
          <p:nvSpPr>
            <p:cNvPr id="64" name="Rectangle 65">
              <a:extLst>
                <a:ext uri="{FF2B5EF4-FFF2-40B4-BE49-F238E27FC236}">
                  <a16:creationId xmlns:a16="http://schemas.microsoft.com/office/drawing/2014/main" id="{44194EE0-7372-4455-8E83-F0B10869118D}"/>
                </a:ext>
              </a:extLst>
            </p:cNvPr>
            <p:cNvSpPr>
              <a:spLocks noChangeArrowheads="1"/>
            </p:cNvSpPr>
            <p:nvPr/>
          </p:nvSpPr>
          <p:spPr bwMode="auto">
            <a:xfrm>
              <a:off x="325" y="3119"/>
              <a:ext cx="116"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9</a:t>
              </a:r>
              <a:endParaRPr lang="en-US" altLang="zh-CN">
                <a:solidFill>
                  <a:prstClr val="black"/>
                </a:solidFill>
              </a:endParaRPr>
            </a:p>
          </p:txBody>
        </p:sp>
        <p:sp>
          <p:nvSpPr>
            <p:cNvPr id="65" name="Rectangle 66">
              <a:extLst>
                <a:ext uri="{FF2B5EF4-FFF2-40B4-BE49-F238E27FC236}">
                  <a16:creationId xmlns:a16="http://schemas.microsoft.com/office/drawing/2014/main" id="{37E4769C-C04A-42BA-B441-49C0E15812B2}"/>
                </a:ext>
              </a:extLst>
            </p:cNvPr>
            <p:cNvSpPr>
              <a:spLocks noChangeArrowheads="1"/>
            </p:cNvSpPr>
            <p:nvPr/>
          </p:nvSpPr>
          <p:spPr bwMode="auto">
            <a:xfrm>
              <a:off x="941" y="3170"/>
              <a:ext cx="232"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600">
                  <a:solidFill>
                    <a:srgbClr val="000000"/>
                  </a:solidFill>
                  <a:latin typeface="Times New Roman" panose="02020603050405020304" pitchFamily="18" charset="0"/>
                </a:rPr>
                <a:t>10</a:t>
              </a:r>
              <a:endParaRPr lang="en-US" altLang="zh-CN">
                <a:solidFill>
                  <a:prstClr val="black"/>
                </a:solidFill>
              </a:endParaRPr>
            </a:p>
          </p:txBody>
        </p:sp>
        <p:sp>
          <p:nvSpPr>
            <p:cNvPr id="66" name="Rectangle 67">
              <a:extLst>
                <a:ext uri="{FF2B5EF4-FFF2-40B4-BE49-F238E27FC236}">
                  <a16:creationId xmlns:a16="http://schemas.microsoft.com/office/drawing/2014/main" id="{737016C3-182F-46F7-8F79-95D17AE49D85}"/>
                </a:ext>
              </a:extLst>
            </p:cNvPr>
            <p:cNvSpPr>
              <a:spLocks noChangeArrowheads="1"/>
            </p:cNvSpPr>
            <p:nvPr/>
          </p:nvSpPr>
          <p:spPr bwMode="auto">
            <a:xfrm>
              <a:off x="589" y="3515"/>
              <a:ext cx="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solidFill>
                  <a:prstClr val="black"/>
                </a:solidFill>
              </a:endParaRPr>
            </a:p>
          </p:txBody>
        </p:sp>
        <p:sp>
          <p:nvSpPr>
            <p:cNvPr id="67" name="Rectangle 68">
              <a:extLst>
                <a:ext uri="{FF2B5EF4-FFF2-40B4-BE49-F238E27FC236}">
                  <a16:creationId xmlns:a16="http://schemas.microsoft.com/office/drawing/2014/main" id="{442D94D5-A7C8-484C-BF02-6B47E5920898}"/>
                </a:ext>
              </a:extLst>
            </p:cNvPr>
            <p:cNvSpPr>
              <a:spLocks noChangeArrowheads="1"/>
            </p:cNvSpPr>
            <p:nvPr/>
          </p:nvSpPr>
          <p:spPr bwMode="auto">
            <a:xfrm>
              <a:off x="729" y="3515"/>
              <a:ext cx="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solidFill>
                  <a:prstClr val="black"/>
                </a:solidFill>
              </a:endParaRPr>
            </a:p>
          </p:txBody>
        </p:sp>
        <p:sp>
          <p:nvSpPr>
            <p:cNvPr id="68" name="Rectangle 69">
              <a:extLst>
                <a:ext uri="{FF2B5EF4-FFF2-40B4-BE49-F238E27FC236}">
                  <a16:creationId xmlns:a16="http://schemas.microsoft.com/office/drawing/2014/main" id="{327528F7-76B2-4A76-B283-E4D3B96EB210}"/>
                </a:ext>
              </a:extLst>
            </p:cNvPr>
            <p:cNvSpPr>
              <a:spLocks noChangeArrowheads="1"/>
            </p:cNvSpPr>
            <p:nvPr/>
          </p:nvSpPr>
          <p:spPr bwMode="auto">
            <a:xfrm>
              <a:off x="800" y="3515"/>
              <a:ext cx="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solidFill>
                  <a:prstClr val="black"/>
                </a:solidFill>
              </a:endParaRPr>
            </a:p>
          </p:txBody>
        </p:sp>
        <p:sp>
          <p:nvSpPr>
            <p:cNvPr id="69" name="Rectangle 70">
              <a:extLst>
                <a:ext uri="{FF2B5EF4-FFF2-40B4-BE49-F238E27FC236}">
                  <a16:creationId xmlns:a16="http://schemas.microsoft.com/office/drawing/2014/main" id="{1EB88147-C3C2-4C77-9E4B-40971FD4218B}"/>
                </a:ext>
              </a:extLst>
            </p:cNvPr>
            <p:cNvSpPr>
              <a:spLocks noChangeArrowheads="1"/>
            </p:cNvSpPr>
            <p:nvPr/>
          </p:nvSpPr>
          <p:spPr bwMode="auto">
            <a:xfrm>
              <a:off x="835" y="3515"/>
              <a:ext cx="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solidFill>
                  <a:prstClr val="black"/>
                </a:solidFill>
              </a:endParaRPr>
            </a:p>
          </p:txBody>
        </p:sp>
        <p:sp>
          <p:nvSpPr>
            <p:cNvPr id="70" name="Rectangle 71">
              <a:extLst>
                <a:ext uri="{FF2B5EF4-FFF2-40B4-BE49-F238E27FC236}">
                  <a16:creationId xmlns:a16="http://schemas.microsoft.com/office/drawing/2014/main" id="{8CFA5C6E-4283-44EE-87CA-F3A72A771244}"/>
                </a:ext>
              </a:extLst>
            </p:cNvPr>
            <p:cNvSpPr>
              <a:spLocks noChangeArrowheads="1"/>
            </p:cNvSpPr>
            <p:nvPr/>
          </p:nvSpPr>
          <p:spPr bwMode="auto">
            <a:xfrm>
              <a:off x="941" y="3515"/>
              <a:ext cx="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solidFill>
                  <a:prstClr val="black"/>
                </a:solidFill>
              </a:endParaRPr>
            </a:p>
          </p:txBody>
        </p:sp>
      </p:grpSp>
    </p:spTree>
    <p:extLst>
      <p:ext uri="{BB962C8B-B14F-4D97-AF65-F5344CB8AC3E}">
        <p14:creationId xmlns:p14="http://schemas.microsoft.com/office/powerpoint/2010/main" val="421239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1000"/>
                                        <p:tgtEl>
                                          <p:spTgt spid="10"/>
                                        </p:tgtEl>
                                      </p:cBhvr>
                                    </p:animEffect>
                                  </p:childTnLst>
                                </p:cTn>
                              </p:par>
                            </p:childTnLst>
                          </p:cTn>
                        </p:par>
                        <p:par>
                          <p:cTn id="8" fill="hold">
                            <p:stCondLst>
                              <p:cond delay="1000"/>
                            </p:stCondLst>
                            <p:childTnLst>
                              <p:par>
                                <p:cTn id="9" presetID="42" presetClass="entr" presetSubtype="0" fill="hold"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盲目搜索</a:t>
            </a:r>
          </a:p>
        </p:txBody>
      </p:sp>
      <p:grpSp>
        <p:nvGrpSpPr>
          <p:cNvPr id="6" name="组合 74">
            <a:extLst>
              <a:ext uri="{FF2B5EF4-FFF2-40B4-BE49-F238E27FC236}">
                <a16:creationId xmlns:a16="http://schemas.microsoft.com/office/drawing/2014/main" id="{2C111E5D-A671-463A-B799-8C0CCAE2550B}"/>
              </a:ext>
            </a:extLst>
          </p:cNvPr>
          <p:cNvGrpSpPr>
            <a:grpSpLocks/>
          </p:cNvGrpSpPr>
          <p:nvPr/>
        </p:nvGrpSpPr>
        <p:grpSpPr bwMode="auto">
          <a:xfrm>
            <a:off x="6629400" y="938984"/>
            <a:ext cx="3962400" cy="2895600"/>
            <a:chOff x="5410200" y="1600200"/>
            <a:chExt cx="3505200" cy="2438400"/>
          </a:xfrm>
        </p:grpSpPr>
        <p:sp>
          <p:nvSpPr>
            <p:cNvPr id="7" name="矩形 6">
              <a:extLst>
                <a:ext uri="{FF2B5EF4-FFF2-40B4-BE49-F238E27FC236}">
                  <a16:creationId xmlns:a16="http://schemas.microsoft.com/office/drawing/2014/main" id="{2DFE1A4E-1CA4-467E-8D55-33FFE36E8D5D}"/>
                </a:ext>
              </a:extLst>
            </p:cNvPr>
            <p:cNvSpPr/>
            <p:nvPr/>
          </p:nvSpPr>
          <p:spPr>
            <a:xfrm>
              <a:off x="5410200" y="1600200"/>
              <a:ext cx="3505200" cy="2438400"/>
            </a:xfrm>
            <a:prstGeom prst="rect">
              <a:avLst/>
            </a:prstGeom>
            <a:solidFill>
              <a:srgbClr val="99CCFF"/>
            </a:solidFill>
            <a:ln>
              <a:solidFill>
                <a:srgbClr val="99CC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8" name="任意多边形 175">
              <a:extLst>
                <a:ext uri="{FF2B5EF4-FFF2-40B4-BE49-F238E27FC236}">
                  <a16:creationId xmlns:a16="http://schemas.microsoft.com/office/drawing/2014/main" id="{97A2B6E2-CD46-4834-A1D5-D4683E626B80}"/>
                </a:ext>
              </a:extLst>
            </p:cNvPr>
            <p:cNvSpPr/>
            <p:nvPr/>
          </p:nvSpPr>
          <p:spPr>
            <a:xfrm>
              <a:off x="5540803" y="2582779"/>
              <a:ext cx="3126032" cy="899694"/>
            </a:xfrm>
            <a:custGeom>
              <a:avLst/>
              <a:gdLst>
                <a:gd name="connsiteX0" fmla="*/ 0 w 3125337"/>
                <a:gd name="connsiteY0" fmla="*/ 545910 h 900752"/>
                <a:gd name="connsiteX1" fmla="*/ 54591 w 3125337"/>
                <a:gd name="connsiteY1" fmla="*/ 846161 h 900752"/>
                <a:gd name="connsiteX2" fmla="*/ 1009934 w 3125337"/>
                <a:gd name="connsiteY2" fmla="*/ 900752 h 900752"/>
                <a:gd name="connsiteX3" fmla="*/ 1160060 w 3125337"/>
                <a:gd name="connsiteY3" fmla="*/ 532262 h 900752"/>
                <a:gd name="connsiteX4" fmla="*/ 1282890 w 3125337"/>
                <a:gd name="connsiteY4" fmla="*/ 313898 h 900752"/>
                <a:gd name="connsiteX5" fmla="*/ 2047164 w 3125337"/>
                <a:gd name="connsiteY5" fmla="*/ 409433 h 900752"/>
                <a:gd name="connsiteX6" fmla="*/ 2988860 w 3125337"/>
                <a:gd name="connsiteY6" fmla="*/ 382137 h 900752"/>
                <a:gd name="connsiteX7" fmla="*/ 3125337 w 3125337"/>
                <a:gd name="connsiteY7" fmla="*/ 204716 h 900752"/>
                <a:gd name="connsiteX8" fmla="*/ 3057099 w 3125337"/>
                <a:gd name="connsiteY8" fmla="*/ 13648 h 900752"/>
                <a:gd name="connsiteX9" fmla="*/ 1897039 w 3125337"/>
                <a:gd name="connsiteY9" fmla="*/ 13648 h 900752"/>
                <a:gd name="connsiteX10" fmla="*/ 1310185 w 3125337"/>
                <a:gd name="connsiteY10" fmla="*/ 0 h 900752"/>
                <a:gd name="connsiteX11" fmla="*/ 1132764 w 3125337"/>
                <a:gd name="connsiteY11" fmla="*/ 68239 h 900752"/>
                <a:gd name="connsiteX12" fmla="*/ 887105 w 3125337"/>
                <a:gd name="connsiteY12" fmla="*/ 423080 h 900752"/>
                <a:gd name="connsiteX13" fmla="*/ 696036 w 3125337"/>
                <a:gd name="connsiteY13" fmla="*/ 573206 h 900752"/>
                <a:gd name="connsiteX14" fmla="*/ 0 w 3125337"/>
                <a:gd name="connsiteY14" fmla="*/ 545910 h 900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25337" h="900752">
                  <a:moveTo>
                    <a:pt x="0" y="545910"/>
                  </a:moveTo>
                  <a:lnTo>
                    <a:pt x="54591" y="846161"/>
                  </a:lnTo>
                  <a:lnTo>
                    <a:pt x="1009934" y="900752"/>
                  </a:lnTo>
                  <a:lnTo>
                    <a:pt x="1160060" y="532262"/>
                  </a:lnTo>
                  <a:lnTo>
                    <a:pt x="1282890" y="313898"/>
                  </a:lnTo>
                  <a:lnTo>
                    <a:pt x="2047164" y="409433"/>
                  </a:lnTo>
                  <a:lnTo>
                    <a:pt x="2988860" y="382137"/>
                  </a:lnTo>
                  <a:lnTo>
                    <a:pt x="3125337" y="204716"/>
                  </a:lnTo>
                  <a:lnTo>
                    <a:pt x="3057099" y="13648"/>
                  </a:lnTo>
                  <a:lnTo>
                    <a:pt x="1897039" y="13648"/>
                  </a:lnTo>
                  <a:lnTo>
                    <a:pt x="1310185" y="0"/>
                  </a:lnTo>
                  <a:lnTo>
                    <a:pt x="1132764" y="68239"/>
                  </a:lnTo>
                  <a:lnTo>
                    <a:pt x="887105" y="423080"/>
                  </a:lnTo>
                  <a:lnTo>
                    <a:pt x="696036" y="573206"/>
                  </a:lnTo>
                  <a:lnTo>
                    <a:pt x="0" y="545910"/>
                  </a:lnTo>
                  <a:close/>
                </a:path>
              </a:pathLst>
            </a:cu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9" name="任意多边形 174">
              <a:extLst>
                <a:ext uri="{FF2B5EF4-FFF2-40B4-BE49-F238E27FC236}">
                  <a16:creationId xmlns:a16="http://schemas.microsoft.com/office/drawing/2014/main" id="{BD5A7AE6-16AE-417B-B468-49E6B9C18C6E}"/>
                </a:ext>
              </a:extLst>
            </p:cNvPr>
            <p:cNvSpPr/>
            <p:nvPr/>
          </p:nvSpPr>
          <p:spPr>
            <a:xfrm>
              <a:off x="5869415" y="1721853"/>
              <a:ext cx="2401399" cy="1270000"/>
            </a:xfrm>
            <a:custGeom>
              <a:avLst/>
              <a:gdLst>
                <a:gd name="connsiteX0" fmla="*/ 2402006 w 2402006"/>
                <a:gd name="connsiteY0" fmla="*/ 709683 h 1269242"/>
                <a:gd name="connsiteX1" fmla="*/ 2374711 w 2402006"/>
                <a:gd name="connsiteY1" fmla="*/ 368489 h 1269242"/>
                <a:gd name="connsiteX2" fmla="*/ 1610436 w 2402006"/>
                <a:gd name="connsiteY2" fmla="*/ 13648 h 1269242"/>
                <a:gd name="connsiteX3" fmla="*/ 1282890 w 2402006"/>
                <a:gd name="connsiteY3" fmla="*/ 0 h 1269242"/>
                <a:gd name="connsiteX4" fmla="*/ 504967 w 2402006"/>
                <a:gd name="connsiteY4" fmla="*/ 286603 h 1269242"/>
                <a:gd name="connsiteX5" fmla="*/ 163773 w 2402006"/>
                <a:gd name="connsiteY5" fmla="*/ 709683 h 1269242"/>
                <a:gd name="connsiteX6" fmla="*/ 0 w 2402006"/>
                <a:gd name="connsiteY6" fmla="*/ 1023582 h 1269242"/>
                <a:gd name="connsiteX7" fmla="*/ 245660 w 2402006"/>
                <a:gd name="connsiteY7" fmla="*/ 1269242 h 1269242"/>
                <a:gd name="connsiteX8" fmla="*/ 491320 w 2402006"/>
                <a:gd name="connsiteY8" fmla="*/ 1214651 h 1269242"/>
                <a:gd name="connsiteX9" fmla="*/ 668741 w 2402006"/>
                <a:gd name="connsiteY9" fmla="*/ 873457 h 1269242"/>
                <a:gd name="connsiteX10" fmla="*/ 914400 w 2402006"/>
                <a:gd name="connsiteY10" fmla="*/ 736979 h 1269242"/>
                <a:gd name="connsiteX11" fmla="*/ 1624084 w 2402006"/>
                <a:gd name="connsiteY11" fmla="*/ 764274 h 1269242"/>
                <a:gd name="connsiteX12" fmla="*/ 2306472 w 2402006"/>
                <a:gd name="connsiteY12" fmla="*/ 750627 h 1269242"/>
                <a:gd name="connsiteX13" fmla="*/ 2402006 w 2402006"/>
                <a:gd name="connsiteY13" fmla="*/ 709683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02006" h="1269242">
                  <a:moveTo>
                    <a:pt x="2402006" y="709683"/>
                  </a:moveTo>
                  <a:lnTo>
                    <a:pt x="2374711" y="368489"/>
                  </a:lnTo>
                  <a:lnTo>
                    <a:pt x="1610436" y="13648"/>
                  </a:lnTo>
                  <a:lnTo>
                    <a:pt x="1282890" y="0"/>
                  </a:lnTo>
                  <a:lnTo>
                    <a:pt x="504967" y="286603"/>
                  </a:lnTo>
                  <a:lnTo>
                    <a:pt x="163773" y="709683"/>
                  </a:lnTo>
                  <a:lnTo>
                    <a:pt x="0" y="1023582"/>
                  </a:lnTo>
                  <a:lnTo>
                    <a:pt x="245660" y="1269242"/>
                  </a:lnTo>
                  <a:lnTo>
                    <a:pt x="491320" y="1214651"/>
                  </a:lnTo>
                  <a:lnTo>
                    <a:pt x="668741" y="873457"/>
                  </a:lnTo>
                  <a:lnTo>
                    <a:pt x="914400" y="736979"/>
                  </a:lnTo>
                  <a:lnTo>
                    <a:pt x="1624084" y="764274"/>
                  </a:lnTo>
                  <a:lnTo>
                    <a:pt x="2306472" y="750627"/>
                  </a:lnTo>
                  <a:lnTo>
                    <a:pt x="2402006" y="709683"/>
                  </a:lnTo>
                  <a:close/>
                </a:path>
              </a:pathLst>
            </a:cu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1" name="椭圆 10">
              <a:extLst>
                <a:ext uri="{FF2B5EF4-FFF2-40B4-BE49-F238E27FC236}">
                  <a16:creationId xmlns:a16="http://schemas.microsoft.com/office/drawing/2014/main" id="{C946D63C-D0CE-4771-A7A3-C69FD6740D12}"/>
                </a:ext>
              </a:extLst>
            </p:cNvPr>
            <p:cNvSpPr/>
            <p:nvPr/>
          </p:nvSpPr>
          <p:spPr>
            <a:xfrm>
              <a:off x="7162800" y="1981200"/>
              <a:ext cx="75834"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2" name="椭圆 11">
              <a:extLst>
                <a:ext uri="{FF2B5EF4-FFF2-40B4-BE49-F238E27FC236}">
                  <a16:creationId xmlns:a16="http://schemas.microsoft.com/office/drawing/2014/main" id="{D57F95E7-F30E-4BF3-B675-4AA4067B9193}"/>
                </a:ext>
              </a:extLst>
            </p:cNvPr>
            <p:cNvSpPr/>
            <p:nvPr/>
          </p:nvSpPr>
          <p:spPr>
            <a:xfrm>
              <a:off x="6400251" y="2362200"/>
              <a:ext cx="77238"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3" name="椭圆 12">
              <a:extLst>
                <a:ext uri="{FF2B5EF4-FFF2-40B4-BE49-F238E27FC236}">
                  <a16:creationId xmlns:a16="http://schemas.microsoft.com/office/drawing/2014/main" id="{B9C16824-3E26-4FBB-A6EE-80108FEFAA7E}"/>
                </a:ext>
              </a:extLst>
            </p:cNvPr>
            <p:cNvSpPr/>
            <p:nvPr/>
          </p:nvSpPr>
          <p:spPr>
            <a:xfrm>
              <a:off x="7162800" y="2362200"/>
              <a:ext cx="75834"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4" name="椭圆 13">
              <a:extLst>
                <a:ext uri="{FF2B5EF4-FFF2-40B4-BE49-F238E27FC236}">
                  <a16:creationId xmlns:a16="http://schemas.microsoft.com/office/drawing/2014/main" id="{FA464851-B501-4AA2-BC15-F50085D9432E}"/>
                </a:ext>
              </a:extLst>
            </p:cNvPr>
            <p:cNvSpPr/>
            <p:nvPr/>
          </p:nvSpPr>
          <p:spPr>
            <a:xfrm>
              <a:off x="7925350" y="2362200"/>
              <a:ext cx="75834"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5" name="椭圆 14">
              <a:extLst>
                <a:ext uri="{FF2B5EF4-FFF2-40B4-BE49-F238E27FC236}">
                  <a16:creationId xmlns:a16="http://schemas.microsoft.com/office/drawing/2014/main" id="{65C0D691-029E-45DB-A1EE-BE548839C50A}"/>
                </a:ext>
              </a:extLst>
            </p:cNvPr>
            <p:cNvSpPr/>
            <p:nvPr/>
          </p:nvSpPr>
          <p:spPr>
            <a:xfrm>
              <a:off x="6172750" y="2819400"/>
              <a:ext cx="75834"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6" name="椭圆 15">
              <a:extLst>
                <a:ext uri="{FF2B5EF4-FFF2-40B4-BE49-F238E27FC236}">
                  <a16:creationId xmlns:a16="http://schemas.microsoft.com/office/drawing/2014/main" id="{16E7160D-02A4-493C-BA0E-7D5093FD3574}"/>
                </a:ext>
              </a:extLst>
            </p:cNvPr>
            <p:cNvSpPr/>
            <p:nvPr/>
          </p:nvSpPr>
          <p:spPr>
            <a:xfrm>
              <a:off x="6629156" y="2819400"/>
              <a:ext cx="75834"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7" name="椭圆 16">
              <a:extLst>
                <a:ext uri="{FF2B5EF4-FFF2-40B4-BE49-F238E27FC236}">
                  <a16:creationId xmlns:a16="http://schemas.microsoft.com/office/drawing/2014/main" id="{B3A0BB22-E055-42E4-A7B4-9F717E69C37D}"/>
                </a:ext>
              </a:extLst>
            </p:cNvPr>
            <p:cNvSpPr/>
            <p:nvPr/>
          </p:nvSpPr>
          <p:spPr>
            <a:xfrm>
              <a:off x="7009729" y="2819400"/>
              <a:ext cx="77238"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8" name="椭圆 17">
              <a:extLst>
                <a:ext uri="{FF2B5EF4-FFF2-40B4-BE49-F238E27FC236}">
                  <a16:creationId xmlns:a16="http://schemas.microsoft.com/office/drawing/2014/main" id="{6B8F5835-9F67-4EBF-8E60-4422CFBC0476}"/>
                </a:ext>
              </a:extLst>
            </p:cNvPr>
            <p:cNvSpPr/>
            <p:nvPr/>
          </p:nvSpPr>
          <p:spPr>
            <a:xfrm>
              <a:off x="7391706" y="2819400"/>
              <a:ext cx="75834"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9" name="椭圆 18">
              <a:extLst>
                <a:ext uri="{FF2B5EF4-FFF2-40B4-BE49-F238E27FC236}">
                  <a16:creationId xmlns:a16="http://schemas.microsoft.com/office/drawing/2014/main" id="{04DD450C-5470-44E8-9CBC-D666B94F1365}"/>
                </a:ext>
              </a:extLst>
            </p:cNvPr>
            <p:cNvSpPr/>
            <p:nvPr/>
          </p:nvSpPr>
          <p:spPr>
            <a:xfrm>
              <a:off x="7848112" y="2819400"/>
              <a:ext cx="77238"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0" name="椭圆 19">
              <a:extLst>
                <a:ext uri="{FF2B5EF4-FFF2-40B4-BE49-F238E27FC236}">
                  <a16:creationId xmlns:a16="http://schemas.microsoft.com/office/drawing/2014/main" id="{76B868B3-ACA6-4072-818C-248C34B189DF}"/>
                </a:ext>
              </a:extLst>
            </p:cNvPr>
            <p:cNvSpPr/>
            <p:nvPr/>
          </p:nvSpPr>
          <p:spPr>
            <a:xfrm>
              <a:off x="8305922" y="2819400"/>
              <a:ext cx="75834"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1" name="椭圆 20">
              <a:extLst>
                <a:ext uri="{FF2B5EF4-FFF2-40B4-BE49-F238E27FC236}">
                  <a16:creationId xmlns:a16="http://schemas.microsoft.com/office/drawing/2014/main" id="{DD1F0D56-F1D9-47AE-AD3B-47F9505D6351}"/>
                </a:ext>
              </a:extLst>
            </p:cNvPr>
            <p:cNvSpPr/>
            <p:nvPr/>
          </p:nvSpPr>
          <p:spPr>
            <a:xfrm>
              <a:off x="5868011" y="3276600"/>
              <a:ext cx="75834"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2" name="椭圆 21">
              <a:extLst>
                <a:ext uri="{FF2B5EF4-FFF2-40B4-BE49-F238E27FC236}">
                  <a16:creationId xmlns:a16="http://schemas.microsoft.com/office/drawing/2014/main" id="{FB7C2F15-7B07-4CCD-8347-E05A149E13B1}"/>
                </a:ext>
              </a:extLst>
            </p:cNvPr>
            <p:cNvSpPr/>
            <p:nvPr/>
          </p:nvSpPr>
          <p:spPr>
            <a:xfrm>
              <a:off x="6400251" y="3276600"/>
              <a:ext cx="77238"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3" name="椭圆 22">
              <a:extLst>
                <a:ext uri="{FF2B5EF4-FFF2-40B4-BE49-F238E27FC236}">
                  <a16:creationId xmlns:a16="http://schemas.microsoft.com/office/drawing/2014/main" id="{3A5B1133-7253-4B2E-9B05-99E8D9D4F20C}"/>
                </a:ext>
              </a:extLst>
            </p:cNvPr>
            <p:cNvSpPr/>
            <p:nvPr/>
          </p:nvSpPr>
          <p:spPr>
            <a:xfrm>
              <a:off x="6782228" y="3276600"/>
              <a:ext cx="75834"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5" name="椭圆 24">
              <a:extLst>
                <a:ext uri="{FF2B5EF4-FFF2-40B4-BE49-F238E27FC236}">
                  <a16:creationId xmlns:a16="http://schemas.microsoft.com/office/drawing/2014/main" id="{E1730FBA-987E-4116-AA19-6266EA990F21}"/>
                </a:ext>
              </a:extLst>
            </p:cNvPr>
            <p:cNvSpPr/>
            <p:nvPr/>
          </p:nvSpPr>
          <p:spPr>
            <a:xfrm>
              <a:off x="7238634" y="3276600"/>
              <a:ext cx="77238"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6" name="椭圆 25">
              <a:extLst>
                <a:ext uri="{FF2B5EF4-FFF2-40B4-BE49-F238E27FC236}">
                  <a16:creationId xmlns:a16="http://schemas.microsoft.com/office/drawing/2014/main" id="{1A83448A-5F7B-4E01-AC58-0E0CA35A568B}"/>
                </a:ext>
              </a:extLst>
            </p:cNvPr>
            <p:cNvSpPr/>
            <p:nvPr/>
          </p:nvSpPr>
          <p:spPr>
            <a:xfrm>
              <a:off x="7696444" y="3276600"/>
              <a:ext cx="75834"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7" name="椭圆 26">
              <a:extLst>
                <a:ext uri="{FF2B5EF4-FFF2-40B4-BE49-F238E27FC236}">
                  <a16:creationId xmlns:a16="http://schemas.microsoft.com/office/drawing/2014/main" id="{4E5785AD-2784-4C47-95F5-E77D758BF3FD}"/>
                </a:ext>
              </a:extLst>
            </p:cNvPr>
            <p:cNvSpPr/>
            <p:nvPr/>
          </p:nvSpPr>
          <p:spPr>
            <a:xfrm>
              <a:off x="8077017" y="3276600"/>
              <a:ext cx="75834"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8" name="椭圆 27">
              <a:extLst>
                <a:ext uri="{FF2B5EF4-FFF2-40B4-BE49-F238E27FC236}">
                  <a16:creationId xmlns:a16="http://schemas.microsoft.com/office/drawing/2014/main" id="{22F674F8-4065-4548-8157-F46568B879AC}"/>
                </a:ext>
              </a:extLst>
            </p:cNvPr>
            <p:cNvSpPr/>
            <p:nvPr/>
          </p:nvSpPr>
          <p:spPr>
            <a:xfrm>
              <a:off x="8534828" y="3276600"/>
              <a:ext cx="75834"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9" name="椭圆 28">
              <a:extLst>
                <a:ext uri="{FF2B5EF4-FFF2-40B4-BE49-F238E27FC236}">
                  <a16:creationId xmlns:a16="http://schemas.microsoft.com/office/drawing/2014/main" id="{BF458576-377C-4BBA-A3E5-22088A9D4172}"/>
                </a:ext>
              </a:extLst>
            </p:cNvPr>
            <p:cNvSpPr/>
            <p:nvPr/>
          </p:nvSpPr>
          <p:spPr>
            <a:xfrm>
              <a:off x="5868011" y="3733800"/>
              <a:ext cx="75834"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30" name="椭圆 29">
              <a:extLst>
                <a:ext uri="{FF2B5EF4-FFF2-40B4-BE49-F238E27FC236}">
                  <a16:creationId xmlns:a16="http://schemas.microsoft.com/office/drawing/2014/main" id="{FC01B6CC-8BA4-428B-9223-7FFB9FCC033C}"/>
                </a:ext>
              </a:extLst>
            </p:cNvPr>
            <p:cNvSpPr/>
            <p:nvPr/>
          </p:nvSpPr>
          <p:spPr>
            <a:xfrm>
              <a:off x="6400251" y="3733800"/>
              <a:ext cx="77238"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31" name="椭圆 30">
              <a:extLst>
                <a:ext uri="{FF2B5EF4-FFF2-40B4-BE49-F238E27FC236}">
                  <a16:creationId xmlns:a16="http://schemas.microsoft.com/office/drawing/2014/main" id="{B908852F-C81D-4769-8B87-E72EE01DC570}"/>
                </a:ext>
              </a:extLst>
            </p:cNvPr>
            <p:cNvSpPr/>
            <p:nvPr/>
          </p:nvSpPr>
          <p:spPr>
            <a:xfrm>
              <a:off x="7696444" y="3733800"/>
              <a:ext cx="75834"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cxnSp>
          <p:nvCxnSpPr>
            <p:cNvPr id="32" name="直接箭头连接符 31">
              <a:extLst>
                <a:ext uri="{FF2B5EF4-FFF2-40B4-BE49-F238E27FC236}">
                  <a16:creationId xmlns:a16="http://schemas.microsoft.com/office/drawing/2014/main" id="{C17A53C5-02B1-4321-B028-3F1258F5D2EA}"/>
                </a:ext>
              </a:extLst>
            </p:cNvPr>
            <p:cNvCxnSpPr>
              <a:stCxn id="11" idx="3"/>
              <a:endCxn id="12" idx="7"/>
            </p:cNvCxnSpPr>
            <p:nvPr/>
          </p:nvCxnSpPr>
          <p:spPr>
            <a:xfrm rot="5400000">
              <a:off x="6657049" y="1855910"/>
              <a:ext cx="326189" cy="70778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91EAE929-3B17-49C7-857F-477F0F7E6BE4}"/>
                </a:ext>
              </a:extLst>
            </p:cNvPr>
            <p:cNvCxnSpPr>
              <a:stCxn id="11" idx="4"/>
              <a:endCxn id="13" idx="0"/>
            </p:cNvCxnSpPr>
            <p:nvPr/>
          </p:nvCxnSpPr>
          <p:spPr>
            <a:xfrm rot="5400000">
              <a:off x="7048317" y="2209733"/>
              <a:ext cx="304800" cy="280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CF3A2FED-3375-4A49-AC8A-765EA29D3065}"/>
                </a:ext>
              </a:extLst>
            </p:cNvPr>
            <p:cNvCxnSpPr>
              <a:stCxn id="11" idx="4"/>
              <a:endCxn id="14" idx="0"/>
            </p:cNvCxnSpPr>
            <p:nvPr/>
          </p:nvCxnSpPr>
          <p:spPr>
            <a:xfrm>
              <a:off x="7238634" y="2057400"/>
              <a:ext cx="724633"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2E9F4564-5956-419C-AF16-0E9D70A1FA37}"/>
                </a:ext>
              </a:extLst>
            </p:cNvPr>
            <p:cNvCxnSpPr>
              <a:stCxn id="12" idx="4"/>
              <a:endCxn id="15" idx="7"/>
            </p:cNvCxnSpPr>
            <p:nvPr/>
          </p:nvCxnSpPr>
          <p:spPr>
            <a:xfrm rot="5400000">
              <a:off x="6142613" y="2533136"/>
              <a:ext cx="391694" cy="2022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3041A1C7-4F53-4760-81E2-B13753C8ADDF}"/>
                </a:ext>
              </a:extLst>
            </p:cNvPr>
            <p:cNvCxnSpPr>
              <a:stCxn id="12" idx="5"/>
              <a:endCxn id="16" idx="1"/>
            </p:cNvCxnSpPr>
            <p:nvPr/>
          </p:nvCxnSpPr>
          <p:spPr>
            <a:xfrm rot="16200000" flipH="1">
              <a:off x="6352127" y="2541832"/>
              <a:ext cx="402389" cy="1741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2AC6737B-06FE-4417-8A1D-9F00923E3335}"/>
                </a:ext>
              </a:extLst>
            </p:cNvPr>
            <p:cNvCxnSpPr>
              <a:stCxn id="13" idx="4"/>
              <a:endCxn id="17" idx="0"/>
            </p:cNvCxnSpPr>
            <p:nvPr/>
          </p:nvCxnSpPr>
          <p:spPr>
            <a:xfrm rot="5400000">
              <a:off x="6934383" y="2553067"/>
              <a:ext cx="381000" cy="15166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55CBB321-AD9B-4D74-86CD-7270278D6313}"/>
                </a:ext>
              </a:extLst>
            </p:cNvPr>
            <p:cNvCxnSpPr>
              <a:stCxn id="13" idx="4"/>
              <a:endCxn id="18" idx="1"/>
            </p:cNvCxnSpPr>
            <p:nvPr/>
          </p:nvCxnSpPr>
          <p:spPr>
            <a:xfrm rot="16200000" flipH="1">
              <a:off x="7105981" y="2533136"/>
              <a:ext cx="391694" cy="2022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30DE85DE-475D-4B69-806B-8CEE7163E512}"/>
                </a:ext>
              </a:extLst>
            </p:cNvPr>
            <p:cNvCxnSpPr>
              <a:stCxn id="14" idx="5"/>
              <a:endCxn id="19" idx="0"/>
            </p:cNvCxnSpPr>
            <p:nvPr/>
          </p:nvCxnSpPr>
          <p:spPr>
            <a:xfrm rot="5400000">
              <a:off x="7742142" y="2571593"/>
              <a:ext cx="391694" cy="1039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E1921656-C62F-45CA-9B12-ECB068901606}"/>
                </a:ext>
              </a:extLst>
            </p:cNvPr>
            <p:cNvCxnSpPr>
              <a:stCxn id="14" idx="5"/>
              <a:endCxn id="20" idx="1"/>
            </p:cNvCxnSpPr>
            <p:nvPr/>
          </p:nvCxnSpPr>
          <p:spPr>
            <a:xfrm rot="16200000" flipH="1">
              <a:off x="7952358" y="2465296"/>
              <a:ext cx="402389" cy="3272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48739D81-B7F5-4228-BDDB-DF20EC76D236}"/>
                </a:ext>
              </a:extLst>
            </p:cNvPr>
            <p:cNvCxnSpPr>
              <a:stCxn id="15" idx="3"/>
              <a:endCxn id="21" idx="7"/>
            </p:cNvCxnSpPr>
            <p:nvPr/>
          </p:nvCxnSpPr>
          <p:spPr>
            <a:xfrm rot="5400000">
              <a:off x="5857103" y="2960413"/>
              <a:ext cx="402389" cy="2513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4F64493F-F421-425F-B0A4-8B84C3EDE7FE}"/>
                </a:ext>
              </a:extLst>
            </p:cNvPr>
            <p:cNvCxnSpPr>
              <a:stCxn id="15" idx="5"/>
              <a:endCxn id="22" idx="2"/>
            </p:cNvCxnSpPr>
            <p:nvPr/>
          </p:nvCxnSpPr>
          <p:spPr>
            <a:xfrm rot="16200000" flipH="1">
              <a:off x="6103568" y="3018687"/>
              <a:ext cx="430463" cy="1629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9C6DB211-4CBE-4A12-AEC0-496E33D7EEF0}"/>
                </a:ext>
              </a:extLst>
            </p:cNvPr>
            <p:cNvCxnSpPr>
              <a:stCxn id="16" idx="4"/>
              <a:endCxn id="22" idx="7"/>
            </p:cNvCxnSpPr>
            <p:nvPr/>
          </p:nvCxnSpPr>
          <p:spPr>
            <a:xfrm rot="5400000">
              <a:off x="6370816" y="2991038"/>
              <a:ext cx="391694" cy="2008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F2A7382C-080D-429D-8117-0836DD63567B}"/>
                </a:ext>
              </a:extLst>
            </p:cNvPr>
            <p:cNvCxnSpPr>
              <a:stCxn id="16" idx="5"/>
              <a:endCxn id="23" idx="0"/>
            </p:cNvCxnSpPr>
            <p:nvPr/>
          </p:nvCxnSpPr>
          <p:spPr>
            <a:xfrm rot="16200000" flipH="1">
              <a:off x="6561805" y="3018261"/>
              <a:ext cx="391694" cy="1249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椭圆 44">
              <a:extLst>
                <a:ext uri="{FF2B5EF4-FFF2-40B4-BE49-F238E27FC236}">
                  <a16:creationId xmlns:a16="http://schemas.microsoft.com/office/drawing/2014/main" id="{6CAE2601-015C-49BB-966E-A0D8F704F0BD}"/>
                </a:ext>
              </a:extLst>
            </p:cNvPr>
            <p:cNvSpPr/>
            <p:nvPr/>
          </p:nvSpPr>
          <p:spPr>
            <a:xfrm>
              <a:off x="6933895" y="3276600"/>
              <a:ext cx="75834"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cxnSp>
          <p:nvCxnSpPr>
            <p:cNvPr id="46" name="直接箭头连接符 45">
              <a:extLst>
                <a:ext uri="{FF2B5EF4-FFF2-40B4-BE49-F238E27FC236}">
                  <a16:creationId xmlns:a16="http://schemas.microsoft.com/office/drawing/2014/main" id="{F9EDA997-186A-4223-B01D-0870487CC7C0}"/>
                </a:ext>
              </a:extLst>
            </p:cNvPr>
            <p:cNvCxnSpPr>
              <a:stCxn id="17" idx="4"/>
              <a:endCxn id="45" idx="0"/>
            </p:cNvCxnSpPr>
            <p:nvPr/>
          </p:nvCxnSpPr>
          <p:spPr>
            <a:xfrm rot="5400000">
              <a:off x="6819931" y="3047481"/>
              <a:ext cx="381000" cy="772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46C810F5-08BB-430D-8B1F-23E5ED2E275D}"/>
                </a:ext>
              </a:extLst>
            </p:cNvPr>
            <p:cNvCxnSpPr>
              <a:stCxn id="18" idx="4"/>
              <a:endCxn id="25" idx="0"/>
            </p:cNvCxnSpPr>
            <p:nvPr/>
          </p:nvCxnSpPr>
          <p:spPr>
            <a:xfrm rot="5400000">
              <a:off x="7162587" y="3009565"/>
              <a:ext cx="381000" cy="1530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3AD822D2-B018-4906-94A1-0054B9846061}"/>
                </a:ext>
              </a:extLst>
            </p:cNvPr>
            <p:cNvCxnSpPr>
              <a:stCxn id="18" idx="5"/>
              <a:endCxn id="26" idx="2"/>
            </p:cNvCxnSpPr>
            <p:nvPr/>
          </p:nvCxnSpPr>
          <p:spPr>
            <a:xfrm rot="16200000" flipH="1">
              <a:off x="7361142" y="2980068"/>
              <a:ext cx="430463" cy="24013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81189ED3-CEAB-4A08-9D63-85BEF116FBBF}"/>
                </a:ext>
              </a:extLst>
            </p:cNvPr>
            <p:cNvCxnSpPr>
              <a:stCxn id="19" idx="4"/>
              <a:endCxn id="26" idx="7"/>
            </p:cNvCxnSpPr>
            <p:nvPr/>
          </p:nvCxnSpPr>
          <p:spPr>
            <a:xfrm rot="5400000">
              <a:off x="7627688" y="3028955"/>
              <a:ext cx="391694" cy="1249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FFC6DC62-E8BF-4F86-B1BD-E0DE90F0B6FF}"/>
                </a:ext>
              </a:extLst>
            </p:cNvPr>
            <p:cNvCxnSpPr>
              <a:stCxn id="19" idx="6"/>
              <a:endCxn id="27" idx="1"/>
            </p:cNvCxnSpPr>
            <p:nvPr/>
          </p:nvCxnSpPr>
          <p:spPr>
            <a:xfrm>
              <a:off x="7925350" y="2858169"/>
              <a:ext cx="162902" cy="4291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01889026-92F3-4A60-A788-F4DF01CEA907}"/>
                </a:ext>
              </a:extLst>
            </p:cNvPr>
            <p:cNvCxnSpPr>
              <a:stCxn id="20" idx="5"/>
              <a:endCxn id="28" idx="1"/>
            </p:cNvCxnSpPr>
            <p:nvPr/>
          </p:nvCxnSpPr>
          <p:spPr>
            <a:xfrm rot="16200000" flipH="1">
              <a:off x="8257097" y="2998330"/>
              <a:ext cx="402389" cy="1755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8EA9C255-6B08-4149-9583-4A7F68E8F654}"/>
                </a:ext>
              </a:extLst>
            </p:cNvPr>
            <p:cNvCxnSpPr>
              <a:stCxn id="21" idx="4"/>
              <a:endCxn id="29" idx="0"/>
            </p:cNvCxnSpPr>
            <p:nvPr/>
          </p:nvCxnSpPr>
          <p:spPr>
            <a:xfrm rot="5400000">
              <a:off x="5715428" y="3543232"/>
              <a:ext cx="381000" cy="280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4601CCA7-2023-4FE7-9D49-0144CB345182}"/>
                </a:ext>
              </a:extLst>
            </p:cNvPr>
            <p:cNvCxnSpPr>
              <a:stCxn id="22" idx="4"/>
              <a:endCxn id="30" idx="0"/>
            </p:cNvCxnSpPr>
            <p:nvPr/>
          </p:nvCxnSpPr>
          <p:spPr>
            <a:xfrm rot="5400000">
              <a:off x="6248369" y="3542531"/>
              <a:ext cx="381000" cy="42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F68CB2ED-02BE-4196-80F5-2C4D29E3A6B3}"/>
                </a:ext>
              </a:extLst>
            </p:cNvPr>
            <p:cNvCxnSpPr>
              <a:stCxn id="26" idx="4"/>
              <a:endCxn id="31" idx="0"/>
            </p:cNvCxnSpPr>
            <p:nvPr/>
          </p:nvCxnSpPr>
          <p:spPr>
            <a:xfrm rot="5400000">
              <a:off x="7543861" y="3543232"/>
              <a:ext cx="381000" cy="280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5" name="TextBox 134">
              <a:extLst>
                <a:ext uri="{FF2B5EF4-FFF2-40B4-BE49-F238E27FC236}">
                  <a16:creationId xmlns:a16="http://schemas.microsoft.com/office/drawing/2014/main" id="{D5DFC8AF-F217-4292-9037-7ED045FC6844}"/>
                </a:ext>
              </a:extLst>
            </p:cNvPr>
            <p:cNvSpPr txBox="1">
              <a:spLocks noChangeArrowheads="1"/>
            </p:cNvSpPr>
            <p:nvPr/>
          </p:nvSpPr>
          <p:spPr bwMode="auto">
            <a:xfrm>
              <a:off x="7162800" y="1752600"/>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A</a:t>
              </a:r>
              <a:endParaRPr lang="zh-CN" altLang="en-US" sz="1400">
                <a:solidFill>
                  <a:prstClr val="black"/>
                </a:solidFill>
              </a:endParaRPr>
            </a:p>
          </p:txBody>
        </p:sp>
        <p:sp>
          <p:nvSpPr>
            <p:cNvPr id="56" name="TextBox 135">
              <a:extLst>
                <a:ext uri="{FF2B5EF4-FFF2-40B4-BE49-F238E27FC236}">
                  <a16:creationId xmlns:a16="http://schemas.microsoft.com/office/drawing/2014/main" id="{0FF02578-913B-44E2-964A-D0FDED12BAF3}"/>
                </a:ext>
              </a:extLst>
            </p:cNvPr>
            <p:cNvSpPr txBox="1">
              <a:spLocks noChangeArrowheads="1"/>
            </p:cNvSpPr>
            <p:nvPr/>
          </p:nvSpPr>
          <p:spPr bwMode="auto">
            <a:xfrm>
              <a:off x="6248400" y="2100263"/>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B</a:t>
              </a:r>
              <a:endParaRPr lang="zh-CN" altLang="en-US" sz="1400">
                <a:solidFill>
                  <a:prstClr val="black"/>
                </a:solidFill>
              </a:endParaRPr>
            </a:p>
          </p:txBody>
        </p:sp>
        <p:sp>
          <p:nvSpPr>
            <p:cNvPr id="57" name="TextBox 136">
              <a:extLst>
                <a:ext uri="{FF2B5EF4-FFF2-40B4-BE49-F238E27FC236}">
                  <a16:creationId xmlns:a16="http://schemas.microsoft.com/office/drawing/2014/main" id="{E080215C-2FCC-49A5-A162-562E0317EE02}"/>
                </a:ext>
              </a:extLst>
            </p:cNvPr>
            <p:cNvSpPr txBox="1">
              <a:spLocks noChangeArrowheads="1"/>
            </p:cNvSpPr>
            <p:nvPr/>
          </p:nvSpPr>
          <p:spPr bwMode="auto">
            <a:xfrm>
              <a:off x="7162800" y="2133600"/>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C</a:t>
              </a:r>
              <a:endParaRPr lang="zh-CN" altLang="en-US" sz="1400">
                <a:solidFill>
                  <a:prstClr val="black"/>
                </a:solidFill>
              </a:endParaRPr>
            </a:p>
          </p:txBody>
        </p:sp>
        <p:sp>
          <p:nvSpPr>
            <p:cNvPr id="58" name="TextBox 155">
              <a:extLst>
                <a:ext uri="{FF2B5EF4-FFF2-40B4-BE49-F238E27FC236}">
                  <a16:creationId xmlns:a16="http://schemas.microsoft.com/office/drawing/2014/main" id="{6D784A98-9079-4083-A81F-4F333457B310}"/>
                </a:ext>
              </a:extLst>
            </p:cNvPr>
            <p:cNvSpPr txBox="1">
              <a:spLocks noChangeArrowheads="1"/>
            </p:cNvSpPr>
            <p:nvPr/>
          </p:nvSpPr>
          <p:spPr bwMode="auto">
            <a:xfrm>
              <a:off x="7924800" y="2133600"/>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D</a:t>
              </a:r>
              <a:endParaRPr lang="zh-CN" altLang="en-US" sz="1400">
                <a:solidFill>
                  <a:prstClr val="black"/>
                </a:solidFill>
              </a:endParaRPr>
            </a:p>
          </p:txBody>
        </p:sp>
        <p:sp>
          <p:nvSpPr>
            <p:cNvPr id="59" name="TextBox 156">
              <a:extLst>
                <a:ext uri="{FF2B5EF4-FFF2-40B4-BE49-F238E27FC236}">
                  <a16:creationId xmlns:a16="http://schemas.microsoft.com/office/drawing/2014/main" id="{97D6B59A-0A9F-48C1-AC2A-ECEA5DB4E05B}"/>
                </a:ext>
              </a:extLst>
            </p:cNvPr>
            <p:cNvSpPr txBox="1">
              <a:spLocks noChangeArrowheads="1"/>
            </p:cNvSpPr>
            <p:nvPr/>
          </p:nvSpPr>
          <p:spPr bwMode="auto">
            <a:xfrm>
              <a:off x="5943600" y="2590800"/>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E</a:t>
              </a:r>
              <a:endParaRPr lang="zh-CN" altLang="en-US" sz="1400">
                <a:solidFill>
                  <a:prstClr val="black"/>
                </a:solidFill>
              </a:endParaRPr>
            </a:p>
          </p:txBody>
        </p:sp>
        <p:sp>
          <p:nvSpPr>
            <p:cNvPr id="60" name="TextBox 157">
              <a:extLst>
                <a:ext uri="{FF2B5EF4-FFF2-40B4-BE49-F238E27FC236}">
                  <a16:creationId xmlns:a16="http://schemas.microsoft.com/office/drawing/2014/main" id="{CF8180F0-1565-4DCB-A406-C527188210EB}"/>
                </a:ext>
              </a:extLst>
            </p:cNvPr>
            <p:cNvSpPr txBox="1">
              <a:spLocks noChangeArrowheads="1"/>
            </p:cNvSpPr>
            <p:nvPr/>
          </p:nvSpPr>
          <p:spPr bwMode="auto">
            <a:xfrm>
              <a:off x="6629400" y="2590800"/>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F</a:t>
              </a:r>
              <a:endParaRPr lang="zh-CN" altLang="en-US" sz="1400">
                <a:solidFill>
                  <a:prstClr val="black"/>
                </a:solidFill>
              </a:endParaRPr>
            </a:p>
          </p:txBody>
        </p:sp>
        <p:sp>
          <p:nvSpPr>
            <p:cNvPr id="61" name="TextBox 158">
              <a:extLst>
                <a:ext uri="{FF2B5EF4-FFF2-40B4-BE49-F238E27FC236}">
                  <a16:creationId xmlns:a16="http://schemas.microsoft.com/office/drawing/2014/main" id="{F918ECDF-8FBE-4A97-A9CE-B42BEF01A573}"/>
                </a:ext>
              </a:extLst>
            </p:cNvPr>
            <p:cNvSpPr txBox="1">
              <a:spLocks noChangeArrowheads="1"/>
            </p:cNvSpPr>
            <p:nvPr/>
          </p:nvSpPr>
          <p:spPr bwMode="auto">
            <a:xfrm>
              <a:off x="6781800" y="2590800"/>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G</a:t>
              </a:r>
              <a:endParaRPr lang="zh-CN" altLang="en-US" sz="1400">
                <a:solidFill>
                  <a:prstClr val="black"/>
                </a:solidFill>
              </a:endParaRPr>
            </a:p>
          </p:txBody>
        </p:sp>
        <p:sp>
          <p:nvSpPr>
            <p:cNvPr id="62" name="TextBox 159">
              <a:extLst>
                <a:ext uri="{FF2B5EF4-FFF2-40B4-BE49-F238E27FC236}">
                  <a16:creationId xmlns:a16="http://schemas.microsoft.com/office/drawing/2014/main" id="{8E157C52-C480-41C0-8EEC-25DEDA98A749}"/>
                </a:ext>
              </a:extLst>
            </p:cNvPr>
            <p:cNvSpPr txBox="1">
              <a:spLocks noChangeArrowheads="1"/>
            </p:cNvSpPr>
            <p:nvPr/>
          </p:nvSpPr>
          <p:spPr bwMode="auto">
            <a:xfrm>
              <a:off x="7391400" y="2590800"/>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H</a:t>
              </a:r>
              <a:endParaRPr lang="zh-CN" altLang="en-US" sz="1400">
                <a:solidFill>
                  <a:prstClr val="black"/>
                </a:solidFill>
              </a:endParaRPr>
            </a:p>
          </p:txBody>
        </p:sp>
        <p:sp>
          <p:nvSpPr>
            <p:cNvPr id="63" name="TextBox 160">
              <a:extLst>
                <a:ext uri="{FF2B5EF4-FFF2-40B4-BE49-F238E27FC236}">
                  <a16:creationId xmlns:a16="http://schemas.microsoft.com/office/drawing/2014/main" id="{3D2941DA-3E8F-4AB6-A3B6-5C72A2DF276D}"/>
                </a:ext>
              </a:extLst>
            </p:cNvPr>
            <p:cNvSpPr txBox="1">
              <a:spLocks noChangeArrowheads="1"/>
            </p:cNvSpPr>
            <p:nvPr/>
          </p:nvSpPr>
          <p:spPr bwMode="auto">
            <a:xfrm>
              <a:off x="7620000" y="2590800"/>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I</a:t>
              </a:r>
              <a:endParaRPr lang="zh-CN" altLang="en-US" sz="1400">
                <a:solidFill>
                  <a:prstClr val="black"/>
                </a:solidFill>
              </a:endParaRPr>
            </a:p>
          </p:txBody>
        </p:sp>
        <p:sp>
          <p:nvSpPr>
            <p:cNvPr id="64" name="TextBox 161">
              <a:extLst>
                <a:ext uri="{FF2B5EF4-FFF2-40B4-BE49-F238E27FC236}">
                  <a16:creationId xmlns:a16="http://schemas.microsoft.com/office/drawing/2014/main" id="{AB507DEF-A8D5-492D-B6FA-146A28FED6AF}"/>
                </a:ext>
              </a:extLst>
            </p:cNvPr>
            <p:cNvSpPr txBox="1">
              <a:spLocks noChangeArrowheads="1"/>
            </p:cNvSpPr>
            <p:nvPr/>
          </p:nvSpPr>
          <p:spPr bwMode="auto">
            <a:xfrm>
              <a:off x="8305800" y="2590800"/>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J</a:t>
              </a:r>
              <a:endParaRPr lang="zh-CN" altLang="en-US" sz="1400">
                <a:solidFill>
                  <a:prstClr val="black"/>
                </a:solidFill>
              </a:endParaRPr>
            </a:p>
          </p:txBody>
        </p:sp>
        <p:sp>
          <p:nvSpPr>
            <p:cNvPr id="65" name="TextBox 162">
              <a:extLst>
                <a:ext uri="{FF2B5EF4-FFF2-40B4-BE49-F238E27FC236}">
                  <a16:creationId xmlns:a16="http://schemas.microsoft.com/office/drawing/2014/main" id="{8BCCB9C4-42C4-4574-8524-0088A74CCC09}"/>
                </a:ext>
              </a:extLst>
            </p:cNvPr>
            <p:cNvSpPr txBox="1">
              <a:spLocks noChangeArrowheads="1"/>
            </p:cNvSpPr>
            <p:nvPr/>
          </p:nvSpPr>
          <p:spPr bwMode="auto">
            <a:xfrm>
              <a:off x="5638800" y="3121025"/>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K</a:t>
              </a:r>
              <a:endParaRPr lang="zh-CN" altLang="en-US" sz="1400">
                <a:solidFill>
                  <a:prstClr val="black"/>
                </a:solidFill>
              </a:endParaRPr>
            </a:p>
          </p:txBody>
        </p:sp>
        <p:sp>
          <p:nvSpPr>
            <p:cNvPr id="66" name="TextBox 163">
              <a:extLst>
                <a:ext uri="{FF2B5EF4-FFF2-40B4-BE49-F238E27FC236}">
                  <a16:creationId xmlns:a16="http://schemas.microsoft.com/office/drawing/2014/main" id="{6454A1CE-80BB-4F62-8BD5-F0FACD0CA95E}"/>
                </a:ext>
              </a:extLst>
            </p:cNvPr>
            <p:cNvSpPr txBox="1">
              <a:spLocks noChangeArrowheads="1"/>
            </p:cNvSpPr>
            <p:nvPr/>
          </p:nvSpPr>
          <p:spPr bwMode="auto">
            <a:xfrm>
              <a:off x="6096000" y="3121025"/>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L</a:t>
              </a:r>
              <a:endParaRPr lang="zh-CN" altLang="en-US" sz="1400">
                <a:solidFill>
                  <a:prstClr val="black"/>
                </a:solidFill>
              </a:endParaRPr>
            </a:p>
          </p:txBody>
        </p:sp>
        <p:sp>
          <p:nvSpPr>
            <p:cNvPr id="67" name="TextBox 164">
              <a:extLst>
                <a:ext uri="{FF2B5EF4-FFF2-40B4-BE49-F238E27FC236}">
                  <a16:creationId xmlns:a16="http://schemas.microsoft.com/office/drawing/2014/main" id="{61DCB313-FDA1-457F-BD3C-31E015BF9C90}"/>
                </a:ext>
              </a:extLst>
            </p:cNvPr>
            <p:cNvSpPr txBox="1">
              <a:spLocks noChangeArrowheads="1"/>
            </p:cNvSpPr>
            <p:nvPr/>
          </p:nvSpPr>
          <p:spPr bwMode="auto">
            <a:xfrm>
              <a:off x="6477000" y="3124200"/>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M</a:t>
              </a:r>
              <a:endParaRPr lang="zh-CN" altLang="en-US" sz="1400">
                <a:solidFill>
                  <a:prstClr val="black"/>
                </a:solidFill>
              </a:endParaRPr>
            </a:p>
          </p:txBody>
        </p:sp>
        <p:sp>
          <p:nvSpPr>
            <p:cNvPr id="68" name="TextBox 165">
              <a:extLst>
                <a:ext uri="{FF2B5EF4-FFF2-40B4-BE49-F238E27FC236}">
                  <a16:creationId xmlns:a16="http://schemas.microsoft.com/office/drawing/2014/main" id="{5AE6858B-8769-4DE3-A40F-B09E510FEB0D}"/>
                </a:ext>
              </a:extLst>
            </p:cNvPr>
            <p:cNvSpPr txBox="1">
              <a:spLocks noChangeArrowheads="1"/>
            </p:cNvSpPr>
            <p:nvPr/>
          </p:nvSpPr>
          <p:spPr bwMode="auto">
            <a:xfrm>
              <a:off x="6934200" y="3124200"/>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N</a:t>
              </a:r>
              <a:endParaRPr lang="zh-CN" altLang="en-US" sz="1400">
                <a:solidFill>
                  <a:prstClr val="black"/>
                </a:solidFill>
              </a:endParaRPr>
            </a:p>
          </p:txBody>
        </p:sp>
        <p:sp>
          <p:nvSpPr>
            <p:cNvPr id="69" name="TextBox 166">
              <a:extLst>
                <a:ext uri="{FF2B5EF4-FFF2-40B4-BE49-F238E27FC236}">
                  <a16:creationId xmlns:a16="http://schemas.microsoft.com/office/drawing/2014/main" id="{FC2B9F07-BB05-4DDF-B083-8FD62F0B08E5}"/>
                </a:ext>
              </a:extLst>
            </p:cNvPr>
            <p:cNvSpPr txBox="1">
              <a:spLocks noChangeArrowheads="1"/>
            </p:cNvSpPr>
            <p:nvPr/>
          </p:nvSpPr>
          <p:spPr bwMode="auto">
            <a:xfrm>
              <a:off x="7315200" y="3124200"/>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O</a:t>
              </a:r>
              <a:endParaRPr lang="zh-CN" altLang="en-US" sz="1400">
                <a:solidFill>
                  <a:prstClr val="black"/>
                </a:solidFill>
              </a:endParaRPr>
            </a:p>
          </p:txBody>
        </p:sp>
        <p:sp>
          <p:nvSpPr>
            <p:cNvPr id="70" name="TextBox 167">
              <a:extLst>
                <a:ext uri="{FF2B5EF4-FFF2-40B4-BE49-F238E27FC236}">
                  <a16:creationId xmlns:a16="http://schemas.microsoft.com/office/drawing/2014/main" id="{3110B3A9-972C-401C-9EE9-E2C8C41A1386}"/>
                </a:ext>
              </a:extLst>
            </p:cNvPr>
            <p:cNvSpPr txBox="1">
              <a:spLocks noChangeArrowheads="1"/>
            </p:cNvSpPr>
            <p:nvPr/>
          </p:nvSpPr>
          <p:spPr bwMode="auto">
            <a:xfrm>
              <a:off x="7772400" y="3124200"/>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P</a:t>
              </a:r>
              <a:endParaRPr lang="zh-CN" altLang="en-US" sz="1400">
                <a:solidFill>
                  <a:prstClr val="black"/>
                </a:solidFill>
              </a:endParaRPr>
            </a:p>
          </p:txBody>
        </p:sp>
        <p:sp>
          <p:nvSpPr>
            <p:cNvPr id="71" name="TextBox 168">
              <a:extLst>
                <a:ext uri="{FF2B5EF4-FFF2-40B4-BE49-F238E27FC236}">
                  <a16:creationId xmlns:a16="http://schemas.microsoft.com/office/drawing/2014/main" id="{FB6D912D-DCEC-49F1-9238-4CC10BB94A68}"/>
                </a:ext>
              </a:extLst>
            </p:cNvPr>
            <p:cNvSpPr txBox="1">
              <a:spLocks noChangeArrowheads="1"/>
            </p:cNvSpPr>
            <p:nvPr/>
          </p:nvSpPr>
          <p:spPr bwMode="auto">
            <a:xfrm>
              <a:off x="8153400" y="3124200"/>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Q</a:t>
              </a:r>
              <a:endParaRPr lang="zh-CN" altLang="en-US" sz="1400">
                <a:solidFill>
                  <a:prstClr val="black"/>
                </a:solidFill>
              </a:endParaRPr>
            </a:p>
          </p:txBody>
        </p:sp>
        <p:sp>
          <p:nvSpPr>
            <p:cNvPr id="72" name="TextBox 169">
              <a:extLst>
                <a:ext uri="{FF2B5EF4-FFF2-40B4-BE49-F238E27FC236}">
                  <a16:creationId xmlns:a16="http://schemas.microsoft.com/office/drawing/2014/main" id="{F8ADE9DD-8870-480D-B5CF-2DC35D683487}"/>
                </a:ext>
              </a:extLst>
            </p:cNvPr>
            <p:cNvSpPr txBox="1">
              <a:spLocks noChangeArrowheads="1"/>
            </p:cNvSpPr>
            <p:nvPr/>
          </p:nvSpPr>
          <p:spPr bwMode="auto">
            <a:xfrm>
              <a:off x="8534400" y="3124200"/>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R</a:t>
              </a:r>
              <a:endParaRPr lang="zh-CN" altLang="en-US" sz="1400">
                <a:solidFill>
                  <a:prstClr val="black"/>
                </a:solidFill>
              </a:endParaRPr>
            </a:p>
          </p:txBody>
        </p:sp>
        <p:sp>
          <p:nvSpPr>
            <p:cNvPr id="73" name="TextBox 170">
              <a:extLst>
                <a:ext uri="{FF2B5EF4-FFF2-40B4-BE49-F238E27FC236}">
                  <a16:creationId xmlns:a16="http://schemas.microsoft.com/office/drawing/2014/main" id="{897633BC-2456-4E3C-AF0D-2722F2550ED1}"/>
                </a:ext>
              </a:extLst>
            </p:cNvPr>
            <p:cNvSpPr txBox="1">
              <a:spLocks noChangeArrowheads="1"/>
            </p:cNvSpPr>
            <p:nvPr/>
          </p:nvSpPr>
          <p:spPr bwMode="auto">
            <a:xfrm>
              <a:off x="5638800" y="3654425"/>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S</a:t>
              </a:r>
              <a:endParaRPr lang="zh-CN" altLang="en-US" sz="1400">
                <a:solidFill>
                  <a:prstClr val="black"/>
                </a:solidFill>
              </a:endParaRPr>
            </a:p>
          </p:txBody>
        </p:sp>
        <p:sp>
          <p:nvSpPr>
            <p:cNvPr id="74" name="TextBox 171">
              <a:extLst>
                <a:ext uri="{FF2B5EF4-FFF2-40B4-BE49-F238E27FC236}">
                  <a16:creationId xmlns:a16="http://schemas.microsoft.com/office/drawing/2014/main" id="{408C0C42-6EAA-4C1C-8C15-0D4B3F7D7968}"/>
                </a:ext>
              </a:extLst>
            </p:cNvPr>
            <p:cNvSpPr txBox="1">
              <a:spLocks noChangeArrowheads="1"/>
            </p:cNvSpPr>
            <p:nvPr/>
          </p:nvSpPr>
          <p:spPr bwMode="auto">
            <a:xfrm>
              <a:off x="6172200" y="3654425"/>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T</a:t>
              </a:r>
              <a:endParaRPr lang="zh-CN" altLang="en-US" sz="1400">
                <a:solidFill>
                  <a:prstClr val="black"/>
                </a:solidFill>
              </a:endParaRPr>
            </a:p>
          </p:txBody>
        </p:sp>
        <p:sp>
          <p:nvSpPr>
            <p:cNvPr id="75" name="TextBox 172">
              <a:extLst>
                <a:ext uri="{FF2B5EF4-FFF2-40B4-BE49-F238E27FC236}">
                  <a16:creationId xmlns:a16="http://schemas.microsoft.com/office/drawing/2014/main" id="{4B5735F8-F510-4679-9E21-A27CA6B3FD6A}"/>
                </a:ext>
              </a:extLst>
            </p:cNvPr>
            <p:cNvSpPr txBox="1">
              <a:spLocks noChangeArrowheads="1"/>
            </p:cNvSpPr>
            <p:nvPr/>
          </p:nvSpPr>
          <p:spPr bwMode="auto">
            <a:xfrm>
              <a:off x="7467600" y="3654425"/>
              <a:ext cx="304800" cy="25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U</a:t>
              </a:r>
              <a:endParaRPr lang="zh-CN" altLang="en-US" sz="1400">
                <a:solidFill>
                  <a:prstClr val="black"/>
                </a:solidFill>
              </a:endParaRPr>
            </a:p>
          </p:txBody>
        </p:sp>
      </p:grpSp>
      <p:sp>
        <p:nvSpPr>
          <p:cNvPr id="76" name="内容占位符 2">
            <a:extLst>
              <a:ext uri="{FF2B5EF4-FFF2-40B4-BE49-F238E27FC236}">
                <a16:creationId xmlns:a16="http://schemas.microsoft.com/office/drawing/2014/main" id="{7C263743-BD6F-4132-9C83-C46C04E89F01}"/>
              </a:ext>
            </a:extLst>
          </p:cNvPr>
          <p:cNvSpPr txBox="1">
            <a:spLocks noChangeArrowheads="1"/>
          </p:cNvSpPr>
          <p:nvPr/>
        </p:nvSpPr>
        <p:spPr bwMode="auto">
          <a:xfrm>
            <a:off x="1524000" y="1371600"/>
            <a:ext cx="80772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lnSpc>
                <a:spcPct val="125000"/>
              </a:lnSpc>
              <a:spcBef>
                <a:spcPct val="20000"/>
              </a:spcBef>
              <a:buClr>
                <a:srgbClr val="EEECE1"/>
              </a:buClr>
            </a:pPr>
            <a:r>
              <a:rPr lang="en-US" altLang="zh-CN" sz="2400" dirty="0">
                <a:solidFill>
                  <a:srgbClr val="0000FF"/>
                </a:solidFill>
                <a:latin typeface="Times New Roman"/>
              </a:rPr>
              <a:t>OPEN=[A];CLOSED=[]</a:t>
            </a:r>
          </a:p>
          <a:p>
            <a:pPr eaLnBrk="0" hangingPunct="0">
              <a:lnSpc>
                <a:spcPct val="125000"/>
              </a:lnSpc>
              <a:spcBef>
                <a:spcPct val="20000"/>
              </a:spcBef>
              <a:buClr>
                <a:srgbClr val="EEECE1"/>
              </a:buClr>
            </a:pPr>
            <a:r>
              <a:rPr lang="en-US" altLang="zh-CN" sz="2400" dirty="0">
                <a:solidFill>
                  <a:srgbClr val="0000FF"/>
                </a:solidFill>
                <a:latin typeface="Times New Roman"/>
              </a:rPr>
              <a:t>OPEN=[B,C,D];CLOSED=[A]</a:t>
            </a:r>
          </a:p>
          <a:p>
            <a:pPr eaLnBrk="0" hangingPunct="0">
              <a:lnSpc>
                <a:spcPct val="125000"/>
              </a:lnSpc>
              <a:spcBef>
                <a:spcPct val="20000"/>
              </a:spcBef>
              <a:buClr>
                <a:srgbClr val="EEECE1"/>
              </a:buClr>
            </a:pPr>
            <a:r>
              <a:rPr lang="en-US" altLang="zh-CN" sz="2400" dirty="0">
                <a:solidFill>
                  <a:srgbClr val="0000FF"/>
                </a:solidFill>
                <a:latin typeface="Times New Roman"/>
              </a:rPr>
              <a:t>OPEN=[C,D,E,F];CLOSED=[B,A]</a:t>
            </a:r>
          </a:p>
          <a:p>
            <a:pPr eaLnBrk="0" hangingPunct="0">
              <a:lnSpc>
                <a:spcPct val="125000"/>
              </a:lnSpc>
              <a:spcBef>
                <a:spcPct val="20000"/>
              </a:spcBef>
              <a:buClr>
                <a:srgbClr val="EEECE1"/>
              </a:buClr>
            </a:pPr>
            <a:r>
              <a:rPr lang="en-US" altLang="zh-CN" sz="2400" dirty="0">
                <a:solidFill>
                  <a:srgbClr val="0000FF"/>
                </a:solidFill>
                <a:latin typeface="Times New Roman"/>
              </a:rPr>
              <a:t>OPEN=[D,E,F,G,H];CLOSED=[C,B,A]</a:t>
            </a:r>
          </a:p>
          <a:p>
            <a:pPr eaLnBrk="0" hangingPunct="0">
              <a:lnSpc>
                <a:spcPct val="125000"/>
              </a:lnSpc>
              <a:spcBef>
                <a:spcPct val="20000"/>
              </a:spcBef>
              <a:buClr>
                <a:srgbClr val="EEECE1"/>
              </a:buClr>
            </a:pPr>
            <a:r>
              <a:rPr lang="en-US" altLang="zh-CN" sz="2400" dirty="0">
                <a:solidFill>
                  <a:srgbClr val="0000FF"/>
                </a:solidFill>
                <a:latin typeface="Times New Roman"/>
              </a:rPr>
              <a:t>OPEN=[E,F,G,H,I,J];CLOSED=[D,C,B,A]</a:t>
            </a:r>
          </a:p>
          <a:p>
            <a:pPr eaLnBrk="0" hangingPunct="0">
              <a:lnSpc>
                <a:spcPct val="125000"/>
              </a:lnSpc>
              <a:spcBef>
                <a:spcPct val="20000"/>
              </a:spcBef>
              <a:buClr>
                <a:srgbClr val="EEECE1"/>
              </a:buClr>
            </a:pPr>
            <a:r>
              <a:rPr lang="en-US" altLang="zh-CN" sz="2400" dirty="0">
                <a:solidFill>
                  <a:srgbClr val="0000FF"/>
                </a:solidFill>
                <a:latin typeface="Times New Roman"/>
              </a:rPr>
              <a:t>OPEN=[F,G,H,I,J,K,L];CLOSED=[E,D,C,B,A]</a:t>
            </a:r>
          </a:p>
          <a:p>
            <a:pPr eaLnBrk="0" hangingPunct="0">
              <a:lnSpc>
                <a:spcPct val="125000"/>
              </a:lnSpc>
              <a:spcBef>
                <a:spcPct val="20000"/>
              </a:spcBef>
              <a:buClr>
                <a:srgbClr val="EEECE1"/>
              </a:buClr>
            </a:pPr>
            <a:r>
              <a:rPr lang="en-US" altLang="zh-CN" sz="2400" dirty="0">
                <a:solidFill>
                  <a:srgbClr val="0000FF"/>
                </a:solidFill>
                <a:latin typeface="Times New Roman"/>
              </a:rPr>
              <a:t>OPEN=[G,H,I,J,K,L,M];CLOSED=[F,E,D,C,B,A]</a:t>
            </a:r>
          </a:p>
          <a:p>
            <a:pPr eaLnBrk="0" hangingPunct="0">
              <a:lnSpc>
                <a:spcPct val="125000"/>
              </a:lnSpc>
              <a:spcBef>
                <a:spcPct val="20000"/>
              </a:spcBef>
              <a:buClr>
                <a:srgbClr val="EEECE1"/>
              </a:buClr>
            </a:pPr>
            <a:r>
              <a:rPr lang="en-US" altLang="zh-CN" sz="2400" dirty="0">
                <a:solidFill>
                  <a:srgbClr val="0000FF"/>
                </a:solidFill>
                <a:latin typeface="Times New Roman"/>
              </a:rPr>
              <a:t>OPEN=[H,I,J,K,L,M,N];CLOSED=[G,F,E,D,C,B,A]</a:t>
            </a:r>
          </a:p>
          <a:p>
            <a:pPr eaLnBrk="0" hangingPunct="0">
              <a:lnSpc>
                <a:spcPct val="125000"/>
              </a:lnSpc>
              <a:spcBef>
                <a:spcPct val="20000"/>
              </a:spcBef>
              <a:buClr>
                <a:srgbClr val="EEECE1"/>
              </a:buClr>
            </a:pPr>
            <a:r>
              <a:rPr lang="en-US" altLang="zh-CN" sz="2400" dirty="0">
                <a:solidFill>
                  <a:prstClr val="black"/>
                </a:solidFill>
                <a:latin typeface="Times New Roman"/>
              </a:rPr>
              <a:t>   </a:t>
            </a:r>
            <a:r>
              <a:rPr lang="en-US" altLang="zh-CN" sz="2400" dirty="0">
                <a:solidFill>
                  <a:prstClr val="black"/>
                </a:solidFill>
                <a:latin typeface="Times New Roman"/>
                <a:ea typeface="黑体"/>
              </a:rPr>
              <a:t>…</a:t>
            </a:r>
            <a:r>
              <a:rPr lang="zh-CN" altLang="en-US" sz="2400" dirty="0">
                <a:solidFill>
                  <a:prstClr val="black"/>
                </a:solidFill>
                <a:latin typeface="Times New Roman"/>
                <a:ea typeface="黑体"/>
              </a:rPr>
              <a:t>以此类推直到找到目标或</a:t>
            </a:r>
            <a:r>
              <a:rPr lang="en-US" altLang="zh-CN" sz="2400" dirty="0">
                <a:solidFill>
                  <a:prstClr val="black"/>
                </a:solidFill>
                <a:latin typeface="Times New Roman"/>
                <a:ea typeface="黑体"/>
              </a:rPr>
              <a:t>OPEN=[]</a:t>
            </a:r>
            <a:endParaRPr lang="zh-CN" altLang="en-US" sz="2400" dirty="0">
              <a:solidFill>
                <a:prstClr val="black"/>
              </a:solidFill>
              <a:latin typeface="Times New Roman"/>
              <a:ea typeface="黑体"/>
            </a:endParaRPr>
          </a:p>
        </p:txBody>
      </p:sp>
    </p:spTree>
    <p:extLst>
      <p:ext uri="{BB962C8B-B14F-4D97-AF65-F5344CB8AC3E}">
        <p14:creationId xmlns:p14="http://schemas.microsoft.com/office/powerpoint/2010/main" val="2061986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6">
                                            <p:txEl>
                                              <p:pRg st="0" end="0"/>
                                            </p:txEl>
                                          </p:spTgt>
                                        </p:tgtEl>
                                        <p:attrNameLst>
                                          <p:attrName>style.visibility</p:attrName>
                                        </p:attrNameLst>
                                      </p:cBhvr>
                                      <p:to>
                                        <p:strVal val="visible"/>
                                      </p:to>
                                    </p:set>
                                    <p:animEffect transition="in" filter="fade">
                                      <p:cBhvr>
                                        <p:cTn id="12" dur="1000"/>
                                        <p:tgtEl>
                                          <p:spTgt spid="76">
                                            <p:txEl>
                                              <p:pRg st="0" end="0"/>
                                            </p:txEl>
                                          </p:spTgt>
                                        </p:tgtEl>
                                      </p:cBhvr>
                                    </p:animEffect>
                                    <p:anim calcmode="lin" valueType="num">
                                      <p:cBhvr>
                                        <p:cTn id="13" dur="1000" fill="hold"/>
                                        <p:tgtEl>
                                          <p:spTgt spid="7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7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6">
                                            <p:txEl>
                                              <p:pRg st="1" end="1"/>
                                            </p:txEl>
                                          </p:spTgt>
                                        </p:tgtEl>
                                        <p:attrNameLst>
                                          <p:attrName>style.visibility</p:attrName>
                                        </p:attrNameLst>
                                      </p:cBhvr>
                                      <p:to>
                                        <p:strVal val="visible"/>
                                      </p:to>
                                    </p:set>
                                    <p:animEffect transition="in" filter="fade">
                                      <p:cBhvr>
                                        <p:cTn id="19" dur="1000"/>
                                        <p:tgtEl>
                                          <p:spTgt spid="76">
                                            <p:txEl>
                                              <p:pRg st="1" end="1"/>
                                            </p:txEl>
                                          </p:spTgt>
                                        </p:tgtEl>
                                      </p:cBhvr>
                                    </p:animEffect>
                                    <p:anim calcmode="lin" valueType="num">
                                      <p:cBhvr>
                                        <p:cTn id="20" dur="1000" fill="hold"/>
                                        <p:tgtEl>
                                          <p:spTgt spid="7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76">
                                            <p:txEl>
                                              <p:pRg st="2" end="2"/>
                                            </p:txEl>
                                          </p:spTgt>
                                        </p:tgtEl>
                                        <p:attrNameLst>
                                          <p:attrName>style.visibility</p:attrName>
                                        </p:attrNameLst>
                                      </p:cBhvr>
                                      <p:to>
                                        <p:strVal val="visible"/>
                                      </p:to>
                                    </p:set>
                                    <p:animEffect transition="in" filter="fade">
                                      <p:cBhvr>
                                        <p:cTn id="26" dur="1000"/>
                                        <p:tgtEl>
                                          <p:spTgt spid="76">
                                            <p:txEl>
                                              <p:pRg st="2" end="2"/>
                                            </p:txEl>
                                          </p:spTgt>
                                        </p:tgtEl>
                                      </p:cBhvr>
                                    </p:animEffect>
                                    <p:anim calcmode="lin" valueType="num">
                                      <p:cBhvr>
                                        <p:cTn id="27" dur="1000" fill="hold"/>
                                        <p:tgtEl>
                                          <p:spTgt spid="7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7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76">
                                            <p:txEl>
                                              <p:pRg st="3" end="3"/>
                                            </p:txEl>
                                          </p:spTgt>
                                        </p:tgtEl>
                                        <p:attrNameLst>
                                          <p:attrName>style.visibility</p:attrName>
                                        </p:attrNameLst>
                                      </p:cBhvr>
                                      <p:to>
                                        <p:strVal val="visible"/>
                                      </p:to>
                                    </p:set>
                                    <p:animEffect transition="in" filter="fade">
                                      <p:cBhvr>
                                        <p:cTn id="33" dur="1000"/>
                                        <p:tgtEl>
                                          <p:spTgt spid="76">
                                            <p:txEl>
                                              <p:pRg st="3" end="3"/>
                                            </p:txEl>
                                          </p:spTgt>
                                        </p:tgtEl>
                                      </p:cBhvr>
                                    </p:animEffect>
                                    <p:anim calcmode="lin" valueType="num">
                                      <p:cBhvr>
                                        <p:cTn id="34" dur="1000" fill="hold"/>
                                        <p:tgtEl>
                                          <p:spTgt spid="76">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7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76">
                                            <p:txEl>
                                              <p:pRg st="4" end="4"/>
                                            </p:txEl>
                                          </p:spTgt>
                                        </p:tgtEl>
                                        <p:attrNameLst>
                                          <p:attrName>style.visibility</p:attrName>
                                        </p:attrNameLst>
                                      </p:cBhvr>
                                      <p:to>
                                        <p:strVal val="visible"/>
                                      </p:to>
                                    </p:set>
                                    <p:animEffect transition="in" filter="fade">
                                      <p:cBhvr>
                                        <p:cTn id="40" dur="1000"/>
                                        <p:tgtEl>
                                          <p:spTgt spid="76">
                                            <p:txEl>
                                              <p:pRg st="4" end="4"/>
                                            </p:txEl>
                                          </p:spTgt>
                                        </p:tgtEl>
                                      </p:cBhvr>
                                    </p:animEffect>
                                    <p:anim calcmode="lin" valueType="num">
                                      <p:cBhvr>
                                        <p:cTn id="41" dur="1000" fill="hold"/>
                                        <p:tgtEl>
                                          <p:spTgt spid="76">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76">
                                            <p:txEl>
                                              <p:pRg st="4" end="4"/>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76">
                                            <p:txEl>
                                              <p:pRg st="5" end="5"/>
                                            </p:txEl>
                                          </p:spTgt>
                                        </p:tgtEl>
                                        <p:attrNameLst>
                                          <p:attrName>style.visibility</p:attrName>
                                        </p:attrNameLst>
                                      </p:cBhvr>
                                      <p:to>
                                        <p:strVal val="visible"/>
                                      </p:to>
                                    </p:set>
                                    <p:animEffect transition="in" filter="fade">
                                      <p:cBhvr>
                                        <p:cTn id="45" dur="1000"/>
                                        <p:tgtEl>
                                          <p:spTgt spid="76">
                                            <p:txEl>
                                              <p:pRg st="5" end="5"/>
                                            </p:txEl>
                                          </p:spTgt>
                                        </p:tgtEl>
                                      </p:cBhvr>
                                    </p:animEffect>
                                    <p:anim calcmode="lin" valueType="num">
                                      <p:cBhvr>
                                        <p:cTn id="46" dur="1000" fill="hold"/>
                                        <p:tgtEl>
                                          <p:spTgt spid="76">
                                            <p:txEl>
                                              <p:pRg st="5" end="5"/>
                                            </p:txEl>
                                          </p:spTgt>
                                        </p:tgtEl>
                                        <p:attrNameLst>
                                          <p:attrName>ppt_x</p:attrName>
                                        </p:attrNameLst>
                                      </p:cBhvr>
                                      <p:tavLst>
                                        <p:tav tm="0">
                                          <p:val>
                                            <p:strVal val="#ppt_x"/>
                                          </p:val>
                                        </p:tav>
                                        <p:tav tm="100000">
                                          <p:val>
                                            <p:strVal val="#ppt_x"/>
                                          </p:val>
                                        </p:tav>
                                      </p:tavLst>
                                    </p:anim>
                                    <p:anim calcmode="lin" valueType="num">
                                      <p:cBhvr>
                                        <p:cTn id="47" dur="1000" fill="hold"/>
                                        <p:tgtEl>
                                          <p:spTgt spid="76">
                                            <p:txEl>
                                              <p:pRg st="5" end="5"/>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76">
                                            <p:txEl>
                                              <p:pRg st="6" end="6"/>
                                            </p:txEl>
                                          </p:spTgt>
                                        </p:tgtEl>
                                        <p:attrNameLst>
                                          <p:attrName>style.visibility</p:attrName>
                                        </p:attrNameLst>
                                      </p:cBhvr>
                                      <p:to>
                                        <p:strVal val="visible"/>
                                      </p:to>
                                    </p:set>
                                    <p:animEffect transition="in" filter="fade">
                                      <p:cBhvr>
                                        <p:cTn id="50" dur="1000"/>
                                        <p:tgtEl>
                                          <p:spTgt spid="76">
                                            <p:txEl>
                                              <p:pRg st="6" end="6"/>
                                            </p:txEl>
                                          </p:spTgt>
                                        </p:tgtEl>
                                      </p:cBhvr>
                                    </p:animEffect>
                                    <p:anim calcmode="lin" valueType="num">
                                      <p:cBhvr>
                                        <p:cTn id="51" dur="1000" fill="hold"/>
                                        <p:tgtEl>
                                          <p:spTgt spid="76">
                                            <p:txEl>
                                              <p:pRg st="6" end="6"/>
                                            </p:txEl>
                                          </p:spTgt>
                                        </p:tgtEl>
                                        <p:attrNameLst>
                                          <p:attrName>ppt_x</p:attrName>
                                        </p:attrNameLst>
                                      </p:cBhvr>
                                      <p:tavLst>
                                        <p:tav tm="0">
                                          <p:val>
                                            <p:strVal val="#ppt_x"/>
                                          </p:val>
                                        </p:tav>
                                        <p:tav tm="100000">
                                          <p:val>
                                            <p:strVal val="#ppt_x"/>
                                          </p:val>
                                        </p:tav>
                                      </p:tavLst>
                                    </p:anim>
                                    <p:anim calcmode="lin" valueType="num">
                                      <p:cBhvr>
                                        <p:cTn id="52" dur="1000" fill="hold"/>
                                        <p:tgtEl>
                                          <p:spTgt spid="76">
                                            <p:txEl>
                                              <p:pRg st="6" end="6"/>
                                            </p:txEl>
                                          </p:spTgt>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76">
                                            <p:txEl>
                                              <p:pRg st="7" end="7"/>
                                            </p:txEl>
                                          </p:spTgt>
                                        </p:tgtEl>
                                        <p:attrNameLst>
                                          <p:attrName>style.visibility</p:attrName>
                                        </p:attrNameLst>
                                      </p:cBhvr>
                                      <p:to>
                                        <p:strVal val="visible"/>
                                      </p:to>
                                    </p:set>
                                    <p:animEffect transition="in" filter="fade">
                                      <p:cBhvr>
                                        <p:cTn id="55" dur="1000"/>
                                        <p:tgtEl>
                                          <p:spTgt spid="76">
                                            <p:txEl>
                                              <p:pRg st="7" end="7"/>
                                            </p:txEl>
                                          </p:spTgt>
                                        </p:tgtEl>
                                      </p:cBhvr>
                                    </p:animEffect>
                                    <p:anim calcmode="lin" valueType="num">
                                      <p:cBhvr>
                                        <p:cTn id="56" dur="1000" fill="hold"/>
                                        <p:tgtEl>
                                          <p:spTgt spid="76">
                                            <p:txEl>
                                              <p:pRg st="7" end="7"/>
                                            </p:txEl>
                                          </p:spTgt>
                                        </p:tgtEl>
                                        <p:attrNameLst>
                                          <p:attrName>ppt_x</p:attrName>
                                        </p:attrNameLst>
                                      </p:cBhvr>
                                      <p:tavLst>
                                        <p:tav tm="0">
                                          <p:val>
                                            <p:strVal val="#ppt_x"/>
                                          </p:val>
                                        </p:tav>
                                        <p:tav tm="100000">
                                          <p:val>
                                            <p:strVal val="#ppt_x"/>
                                          </p:val>
                                        </p:tav>
                                      </p:tavLst>
                                    </p:anim>
                                    <p:anim calcmode="lin" valueType="num">
                                      <p:cBhvr>
                                        <p:cTn id="57" dur="1000" fill="hold"/>
                                        <p:tgtEl>
                                          <p:spTgt spid="7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76">
                                            <p:txEl>
                                              <p:pRg st="8" end="8"/>
                                            </p:txEl>
                                          </p:spTgt>
                                        </p:tgtEl>
                                        <p:attrNameLst>
                                          <p:attrName>style.visibility</p:attrName>
                                        </p:attrNameLst>
                                      </p:cBhvr>
                                      <p:to>
                                        <p:strVal val="visible"/>
                                      </p:to>
                                    </p:set>
                                    <p:animEffect transition="in" filter="fade">
                                      <p:cBhvr>
                                        <p:cTn id="62" dur="1000"/>
                                        <p:tgtEl>
                                          <p:spTgt spid="76">
                                            <p:txEl>
                                              <p:pRg st="8" end="8"/>
                                            </p:txEl>
                                          </p:spTgt>
                                        </p:tgtEl>
                                      </p:cBhvr>
                                    </p:animEffect>
                                    <p:anim calcmode="lin" valueType="num">
                                      <p:cBhvr>
                                        <p:cTn id="63" dur="1000" fill="hold"/>
                                        <p:tgtEl>
                                          <p:spTgt spid="76">
                                            <p:txEl>
                                              <p:pRg st="8" end="8"/>
                                            </p:txEl>
                                          </p:spTgt>
                                        </p:tgtEl>
                                        <p:attrNameLst>
                                          <p:attrName>ppt_x</p:attrName>
                                        </p:attrNameLst>
                                      </p:cBhvr>
                                      <p:tavLst>
                                        <p:tav tm="0">
                                          <p:val>
                                            <p:strVal val="#ppt_x"/>
                                          </p:val>
                                        </p:tav>
                                        <p:tav tm="100000">
                                          <p:val>
                                            <p:strVal val="#ppt_x"/>
                                          </p:val>
                                        </p:tav>
                                      </p:tavLst>
                                    </p:anim>
                                    <p:anim calcmode="lin" valueType="num">
                                      <p:cBhvr>
                                        <p:cTn id="64" dur="1000" fill="hold"/>
                                        <p:tgtEl>
                                          <p:spTgt spid="7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盲目搜索</a:t>
            </a:r>
          </a:p>
        </p:txBody>
      </p:sp>
      <p:sp>
        <p:nvSpPr>
          <p:cNvPr id="10" name="文本框 9">
            <a:extLst>
              <a:ext uri="{FF2B5EF4-FFF2-40B4-BE49-F238E27FC236}">
                <a16:creationId xmlns:a16="http://schemas.microsoft.com/office/drawing/2014/main" id="{7C183DD3-8DEA-4776-A786-113EA8A27F22}"/>
              </a:ext>
            </a:extLst>
          </p:cNvPr>
          <p:cNvSpPr txBox="1"/>
          <p:nvPr/>
        </p:nvSpPr>
        <p:spPr>
          <a:xfrm>
            <a:off x="1852611" y="1004610"/>
            <a:ext cx="8105856" cy="707694"/>
          </a:xfrm>
          <a:prstGeom prst="rect">
            <a:avLst/>
          </a:prstGeom>
          <a:noFill/>
        </p:spPr>
        <p:txBody>
          <a:bodyPr wrap="square">
            <a:spAutoFit/>
          </a:bodyPr>
          <a:lstStyle/>
          <a:p>
            <a:pPr>
              <a:lnSpc>
                <a:spcPct val="150000"/>
              </a:lnSpc>
            </a:pPr>
            <a:r>
              <a:rPr lang="zh-CN" altLang="en-US" sz="3200" dirty="0">
                <a:solidFill>
                  <a:srgbClr val="FF0000"/>
                </a:solidFill>
                <a:latin typeface="方正姚体" panose="02010601030101010101" pitchFamily="2" charset="-122"/>
                <a:ea typeface="方正姚体" panose="02010601030101010101" pitchFamily="2" charset="-122"/>
              </a:rPr>
              <a:t>深度优先搜索策略</a:t>
            </a:r>
          </a:p>
        </p:txBody>
      </p:sp>
      <p:pic>
        <p:nvPicPr>
          <p:cNvPr id="4" name="Picture 6">
            <a:extLst>
              <a:ext uri="{FF2B5EF4-FFF2-40B4-BE49-F238E27FC236}">
                <a16:creationId xmlns:a16="http://schemas.microsoft.com/office/drawing/2014/main" id="{A85223F1-98C9-4EF2-BF6F-193C1FEB6A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3102" y="1633195"/>
            <a:ext cx="2909145" cy="3775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6">
            <a:extLst>
              <a:ext uri="{FF2B5EF4-FFF2-40B4-BE49-F238E27FC236}">
                <a16:creationId xmlns:a16="http://schemas.microsoft.com/office/drawing/2014/main" id="{9F5F0CBF-3A3D-4547-B294-75D077465240}"/>
              </a:ext>
            </a:extLst>
          </p:cNvPr>
          <p:cNvSpPr txBox="1">
            <a:spLocks noChangeArrowheads="1"/>
          </p:cNvSpPr>
          <p:nvPr/>
        </p:nvSpPr>
        <p:spPr bwMode="auto">
          <a:xfrm>
            <a:off x="6669884" y="5266730"/>
            <a:ext cx="3193378" cy="538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12813">
              <a:defRPr>
                <a:solidFill>
                  <a:schemeClr val="tx1"/>
                </a:solidFill>
                <a:latin typeface="Arial" panose="020B0604020202020204" pitchFamily="34" charset="0"/>
                <a:ea typeface="宋体" panose="02010600030101010101" pitchFamily="2" charset="-122"/>
              </a:defRPr>
            </a:lvl1pPr>
            <a:lvl2pPr defTabSz="912813">
              <a:defRPr>
                <a:solidFill>
                  <a:schemeClr val="tx1"/>
                </a:solidFill>
                <a:latin typeface="Arial" panose="020B0604020202020204" pitchFamily="34" charset="0"/>
                <a:ea typeface="宋体" panose="02010600030101010101" pitchFamily="2" charset="-122"/>
              </a:defRPr>
            </a:lvl2pPr>
            <a:lvl3pPr defTabSz="912813">
              <a:defRPr>
                <a:solidFill>
                  <a:schemeClr val="tx1"/>
                </a:solidFill>
                <a:latin typeface="Arial" panose="020B0604020202020204" pitchFamily="34" charset="0"/>
                <a:ea typeface="宋体" panose="02010600030101010101" pitchFamily="2" charset="-122"/>
              </a:defRPr>
            </a:lvl3pPr>
            <a:lvl4pPr defTabSz="912813">
              <a:defRPr>
                <a:solidFill>
                  <a:schemeClr val="tx1"/>
                </a:solidFill>
                <a:latin typeface="Arial" panose="020B0604020202020204" pitchFamily="34" charset="0"/>
                <a:ea typeface="宋体" panose="02010600030101010101" pitchFamily="2" charset="-122"/>
              </a:defRPr>
            </a:lvl4pPr>
            <a:lvl5pPr defTabSz="912813">
              <a:defRPr>
                <a:solidFill>
                  <a:schemeClr val="tx1"/>
                </a:solidFill>
                <a:latin typeface="Arial" panose="020B0604020202020204" pitchFamily="34" charset="0"/>
                <a:ea typeface="宋体" panose="02010600030101010101" pitchFamily="2" charset="-122"/>
              </a:defRPr>
            </a:lvl5pPr>
            <a:lvl6pPr marL="22844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sz="2600" dirty="0">
                <a:solidFill>
                  <a:prstClr val="black"/>
                </a:solidFill>
                <a:latin typeface="黑体"/>
                <a:ea typeface="黑体"/>
              </a:rPr>
              <a:t>深度优先搜索示意图</a:t>
            </a:r>
          </a:p>
        </p:txBody>
      </p:sp>
      <p:sp>
        <p:nvSpPr>
          <p:cNvPr id="6" name="内容占位符 2">
            <a:extLst>
              <a:ext uri="{FF2B5EF4-FFF2-40B4-BE49-F238E27FC236}">
                <a16:creationId xmlns:a16="http://schemas.microsoft.com/office/drawing/2014/main" id="{BCBDD941-0F15-4B49-98D8-6B2B8AEB98FA}"/>
              </a:ext>
            </a:extLst>
          </p:cNvPr>
          <p:cNvSpPr txBox="1">
            <a:spLocks noChangeArrowheads="1"/>
          </p:cNvSpPr>
          <p:nvPr/>
        </p:nvSpPr>
        <p:spPr bwMode="auto">
          <a:xfrm>
            <a:off x="1940387" y="1817815"/>
            <a:ext cx="4724400" cy="386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defTabSz="912813">
              <a:defRPr>
                <a:solidFill>
                  <a:schemeClr val="tx1"/>
                </a:solidFill>
                <a:latin typeface="Arial" panose="020B0604020202020204" pitchFamily="34" charset="0"/>
                <a:ea typeface="宋体" panose="02010600030101010101" pitchFamily="2" charset="-122"/>
              </a:defRPr>
            </a:lvl1pPr>
            <a:lvl2pPr defTabSz="912813">
              <a:defRPr>
                <a:solidFill>
                  <a:schemeClr val="tx1"/>
                </a:solidFill>
                <a:latin typeface="Arial" panose="020B0604020202020204" pitchFamily="34" charset="0"/>
                <a:ea typeface="宋体" panose="02010600030101010101" pitchFamily="2" charset="-122"/>
              </a:defRPr>
            </a:lvl2pPr>
            <a:lvl3pPr defTabSz="912813">
              <a:defRPr>
                <a:solidFill>
                  <a:schemeClr val="tx1"/>
                </a:solidFill>
                <a:latin typeface="Arial" panose="020B0604020202020204" pitchFamily="34" charset="0"/>
                <a:ea typeface="宋体" panose="02010600030101010101" pitchFamily="2" charset="-122"/>
              </a:defRPr>
            </a:lvl3pPr>
            <a:lvl4pPr defTabSz="912813">
              <a:defRPr>
                <a:solidFill>
                  <a:schemeClr val="tx1"/>
                </a:solidFill>
                <a:latin typeface="Arial" panose="020B0604020202020204" pitchFamily="34" charset="0"/>
                <a:ea typeface="宋体" panose="02010600030101010101" pitchFamily="2" charset="-122"/>
              </a:defRPr>
            </a:lvl4pPr>
            <a:lvl5pPr defTabSz="912813">
              <a:defRPr>
                <a:solidFill>
                  <a:schemeClr val="tx1"/>
                </a:solidFill>
                <a:latin typeface="Arial" panose="020B0604020202020204" pitchFamily="34" charset="0"/>
                <a:ea typeface="宋体" panose="02010600030101010101" pitchFamily="2" charset="-122"/>
              </a:defRPr>
            </a:lvl5pPr>
            <a:lvl6pPr marL="22844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indent="0" eaLnBrk="0" hangingPunct="0">
              <a:lnSpc>
                <a:spcPct val="150000"/>
              </a:lnSpc>
              <a:buClr>
                <a:srgbClr val="EEECE1"/>
              </a:buClr>
            </a:pPr>
            <a:r>
              <a:rPr lang="en-US" altLang="zh-CN" sz="2600" dirty="0">
                <a:solidFill>
                  <a:prstClr val="black"/>
                </a:solidFill>
                <a:latin typeface="黑体"/>
                <a:ea typeface="黑体"/>
              </a:rPr>
              <a:t>(1)</a:t>
            </a:r>
            <a:r>
              <a:rPr lang="zh-CN" altLang="en-US" sz="2600" dirty="0">
                <a:solidFill>
                  <a:prstClr val="black"/>
                </a:solidFill>
                <a:latin typeface="黑体"/>
                <a:ea typeface="黑体"/>
                <a:sym typeface="宋体" panose="02010600030101010101" pitchFamily="2" charset="-122"/>
              </a:rPr>
              <a:t>搜索某一个状态，它所有的子状态及其后裔状态都必须先于该状态的兄弟状态被搜索。 </a:t>
            </a:r>
          </a:p>
          <a:p>
            <a:pPr marL="0" indent="0" eaLnBrk="0" hangingPunct="0">
              <a:lnSpc>
                <a:spcPct val="150000"/>
              </a:lnSpc>
              <a:buClr>
                <a:srgbClr val="EEECE1"/>
              </a:buClr>
            </a:pPr>
            <a:r>
              <a:rPr lang="en-US" altLang="zh-CN" sz="2600" dirty="0">
                <a:solidFill>
                  <a:prstClr val="black"/>
                </a:solidFill>
                <a:latin typeface="黑体"/>
                <a:ea typeface="黑体"/>
                <a:sym typeface="宋体" panose="02010600030101010101" pitchFamily="2" charset="-122"/>
              </a:rPr>
              <a:t>(2)</a:t>
            </a:r>
            <a:r>
              <a:rPr lang="zh-CN" altLang="en-US" sz="2600" dirty="0">
                <a:solidFill>
                  <a:prstClr val="black"/>
                </a:solidFill>
                <a:latin typeface="黑体"/>
                <a:ea typeface="黑体"/>
                <a:sym typeface="宋体" panose="02010600030101010101" pitchFamily="2" charset="-122"/>
              </a:rPr>
              <a:t>为保证找到解，应选择合适的深度限制值，或采取不断加大深度限制值的办法，反复搜索，直到找到解。</a:t>
            </a:r>
            <a:endParaRPr lang="en-US" altLang="zh-CN" sz="2600" dirty="0">
              <a:solidFill>
                <a:prstClr val="black"/>
              </a:solidFill>
              <a:latin typeface="黑体"/>
              <a:ea typeface="黑体"/>
            </a:endParaRPr>
          </a:p>
        </p:txBody>
      </p:sp>
    </p:spTree>
    <p:extLst>
      <p:ext uri="{BB962C8B-B14F-4D97-AF65-F5344CB8AC3E}">
        <p14:creationId xmlns:p14="http://schemas.microsoft.com/office/powerpoint/2010/main" val="1206045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1000"/>
                                        <p:tgtEl>
                                          <p:spTgt spid="10"/>
                                        </p:tgtEl>
                                      </p:cBhvr>
                                    </p:animEffect>
                                  </p:childTnLst>
                                </p:cTn>
                              </p:par>
                            </p:childTnLst>
                          </p:cTn>
                        </p:par>
                        <p:par>
                          <p:cTn id="8" fill="hold">
                            <p:stCondLst>
                              <p:cond delay="1000"/>
                            </p:stCondLst>
                            <p:childTnLst>
                              <p:par>
                                <p:cTn id="9" presetID="22" presetClass="entr" presetSubtype="1" fill="hold" nodeType="afterEffect">
                                  <p:stCondLst>
                                    <p:cond delay="25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750"/>
                                        <p:tgtEl>
                                          <p:spTgt spid="4"/>
                                        </p:tgtEl>
                                      </p:cBhvr>
                                    </p:animEffect>
                                  </p:childTnLst>
                                </p:cTn>
                              </p:par>
                            </p:childTnLst>
                          </p:cTn>
                        </p:par>
                        <p:par>
                          <p:cTn id="12" fill="hold">
                            <p:stCondLst>
                              <p:cond delay="2000"/>
                            </p:stCondLst>
                            <p:childTnLst>
                              <p:par>
                                <p:cTn id="13" presetID="10" presetClass="entr" presetSubtype="0" fill="hold" grpId="0" nodeType="afterEffect">
                                  <p:stCondLst>
                                    <p:cond delay="5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0" end="0"/>
                                            </p:txEl>
                                          </p:spTgt>
                                        </p:tgtEl>
                                        <p:attrNameLst>
                                          <p:attrName>style.visibility</p:attrName>
                                        </p:attrNameLst>
                                      </p:cBhvr>
                                      <p:to>
                                        <p:strVal val="visible"/>
                                      </p:to>
                                    </p:set>
                                    <p:animEffect transition="in" filter="fade">
                                      <p:cBhvr>
                                        <p:cTn id="20" dur="500"/>
                                        <p:tgtEl>
                                          <p:spTgt spid="6">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Effect transition="in" filter="fade">
                                      <p:cBhvr>
                                        <p:cTn id="25"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盲目搜索</a:t>
            </a:r>
          </a:p>
        </p:txBody>
      </p:sp>
      <p:sp>
        <p:nvSpPr>
          <p:cNvPr id="10" name="文本框 9">
            <a:extLst>
              <a:ext uri="{FF2B5EF4-FFF2-40B4-BE49-F238E27FC236}">
                <a16:creationId xmlns:a16="http://schemas.microsoft.com/office/drawing/2014/main" id="{7C183DD3-8DEA-4776-A786-113EA8A27F22}"/>
              </a:ext>
            </a:extLst>
          </p:cNvPr>
          <p:cNvSpPr txBox="1"/>
          <p:nvPr/>
        </p:nvSpPr>
        <p:spPr>
          <a:xfrm>
            <a:off x="1852611" y="1004610"/>
            <a:ext cx="8105856" cy="707694"/>
          </a:xfrm>
          <a:prstGeom prst="rect">
            <a:avLst/>
          </a:prstGeom>
          <a:noFill/>
        </p:spPr>
        <p:txBody>
          <a:bodyPr wrap="square">
            <a:spAutoFit/>
          </a:bodyPr>
          <a:lstStyle/>
          <a:p>
            <a:pPr>
              <a:lnSpc>
                <a:spcPct val="150000"/>
              </a:lnSpc>
            </a:pPr>
            <a:r>
              <a:rPr lang="zh-CN" altLang="en-US" sz="3200" dirty="0">
                <a:solidFill>
                  <a:srgbClr val="FF0000"/>
                </a:solidFill>
                <a:latin typeface="方正姚体" panose="02010601030101010101" pitchFamily="2" charset="-122"/>
                <a:ea typeface="方正姚体" panose="02010601030101010101" pitchFamily="2" charset="-122"/>
              </a:rPr>
              <a:t>深度优先搜索策略</a:t>
            </a:r>
          </a:p>
        </p:txBody>
      </p:sp>
      <p:sp>
        <p:nvSpPr>
          <p:cNvPr id="72" name="内容占位符 2">
            <a:extLst>
              <a:ext uri="{FF2B5EF4-FFF2-40B4-BE49-F238E27FC236}">
                <a16:creationId xmlns:a16="http://schemas.microsoft.com/office/drawing/2014/main" id="{705AFE65-61AF-44CB-BFFD-96A3CAAD61D5}"/>
              </a:ext>
            </a:extLst>
          </p:cNvPr>
          <p:cNvSpPr txBox="1">
            <a:spLocks noChangeArrowheads="1"/>
          </p:cNvSpPr>
          <p:nvPr/>
        </p:nvSpPr>
        <p:spPr bwMode="auto">
          <a:xfrm>
            <a:off x="2044506" y="1826453"/>
            <a:ext cx="4656392" cy="386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defTabSz="912813">
              <a:defRPr>
                <a:solidFill>
                  <a:schemeClr val="tx1"/>
                </a:solidFill>
                <a:latin typeface="Arial" panose="020B0604020202020204" pitchFamily="34" charset="0"/>
                <a:ea typeface="宋体" panose="02010600030101010101" pitchFamily="2" charset="-122"/>
              </a:defRPr>
            </a:lvl1pPr>
            <a:lvl2pPr defTabSz="912813">
              <a:defRPr>
                <a:solidFill>
                  <a:schemeClr val="tx1"/>
                </a:solidFill>
                <a:latin typeface="Arial" panose="020B0604020202020204" pitchFamily="34" charset="0"/>
                <a:ea typeface="宋体" panose="02010600030101010101" pitchFamily="2" charset="-122"/>
              </a:defRPr>
            </a:lvl2pPr>
            <a:lvl3pPr defTabSz="912813">
              <a:defRPr>
                <a:solidFill>
                  <a:schemeClr val="tx1"/>
                </a:solidFill>
                <a:latin typeface="Arial" panose="020B0604020202020204" pitchFamily="34" charset="0"/>
                <a:ea typeface="宋体" panose="02010600030101010101" pitchFamily="2" charset="-122"/>
              </a:defRPr>
            </a:lvl3pPr>
            <a:lvl4pPr defTabSz="912813">
              <a:defRPr>
                <a:solidFill>
                  <a:schemeClr val="tx1"/>
                </a:solidFill>
                <a:latin typeface="Arial" panose="020B0604020202020204" pitchFamily="34" charset="0"/>
                <a:ea typeface="宋体" panose="02010600030101010101" pitchFamily="2" charset="-122"/>
              </a:defRPr>
            </a:lvl4pPr>
            <a:lvl5pPr defTabSz="912813">
              <a:defRPr>
                <a:solidFill>
                  <a:schemeClr val="tx1"/>
                </a:solidFill>
                <a:latin typeface="Arial" panose="020B0604020202020204" pitchFamily="34" charset="0"/>
                <a:ea typeface="宋体" panose="02010600030101010101" pitchFamily="2" charset="-122"/>
              </a:defRPr>
            </a:lvl5pPr>
            <a:lvl6pPr marL="22844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indent="0" eaLnBrk="0" hangingPunct="0">
              <a:lnSpc>
                <a:spcPct val="150000"/>
              </a:lnSpc>
              <a:buClr>
                <a:srgbClr val="EEECE1"/>
              </a:buClr>
            </a:pPr>
            <a:r>
              <a:rPr lang="en-US" altLang="zh-CN" sz="2600" dirty="0">
                <a:solidFill>
                  <a:prstClr val="black"/>
                </a:solidFill>
                <a:latin typeface="黑体"/>
                <a:ea typeface="黑体"/>
                <a:sym typeface="宋体" panose="02010600030101010101" pitchFamily="2" charset="-122"/>
              </a:rPr>
              <a:t>(3)</a:t>
            </a:r>
            <a:r>
              <a:rPr lang="zh-CN" altLang="en-US" sz="2600" dirty="0">
                <a:solidFill>
                  <a:prstClr val="black"/>
                </a:solidFill>
                <a:latin typeface="黑体"/>
                <a:ea typeface="黑体"/>
                <a:sym typeface="宋体" panose="02010600030101010101" pitchFamily="2" charset="-122"/>
              </a:rPr>
              <a:t>深度优先搜索并不能保证第一次搜索得到的路径是到这个状态的最短路径。 </a:t>
            </a:r>
          </a:p>
          <a:p>
            <a:pPr marL="0" indent="0" eaLnBrk="0" hangingPunct="0">
              <a:lnSpc>
                <a:spcPct val="150000"/>
              </a:lnSpc>
              <a:buClr>
                <a:srgbClr val="EEECE1"/>
              </a:buClr>
            </a:pPr>
            <a:r>
              <a:rPr lang="en-US" altLang="zh-CN" sz="2600" dirty="0">
                <a:solidFill>
                  <a:prstClr val="black"/>
                </a:solidFill>
                <a:latin typeface="黑体"/>
                <a:ea typeface="黑体"/>
                <a:sym typeface="宋体" panose="02010600030101010101" pitchFamily="2" charset="-122"/>
              </a:rPr>
              <a:t>(4)</a:t>
            </a:r>
            <a:r>
              <a:rPr lang="zh-CN" altLang="en-US" sz="2600" dirty="0">
                <a:solidFill>
                  <a:prstClr val="black"/>
                </a:solidFill>
                <a:latin typeface="黑体"/>
                <a:ea typeface="黑体"/>
                <a:sym typeface="宋体" panose="02010600030101010101" pitchFamily="2" charset="-122"/>
              </a:rPr>
              <a:t>如果路径的长度对解题很关键的话，当算法多次搜索到同一个状态时，它应该保留最短路径。 </a:t>
            </a:r>
          </a:p>
        </p:txBody>
      </p:sp>
      <p:pic>
        <p:nvPicPr>
          <p:cNvPr id="73" name="Picture 6">
            <a:extLst>
              <a:ext uri="{FF2B5EF4-FFF2-40B4-BE49-F238E27FC236}">
                <a16:creationId xmlns:a16="http://schemas.microsoft.com/office/drawing/2014/main" id="{5BF2B772-F3E6-48A8-BCFD-58A9E99E3C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1914" y="1633195"/>
            <a:ext cx="2909145" cy="3775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TextBox 6">
            <a:extLst>
              <a:ext uri="{FF2B5EF4-FFF2-40B4-BE49-F238E27FC236}">
                <a16:creationId xmlns:a16="http://schemas.microsoft.com/office/drawing/2014/main" id="{0F2D974F-692D-490F-8F11-770FE144CA2C}"/>
              </a:ext>
            </a:extLst>
          </p:cNvPr>
          <p:cNvSpPr txBox="1">
            <a:spLocks noChangeArrowheads="1"/>
          </p:cNvSpPr>
          <p:nvPr/>
        </p:nvSpPr>
        <p:spPr bwMode="auto">
          <a:xfrm>
            <a:off x="6821913" y="5238595"/>
            <a:ext cx="3189224" cy="538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12813">
              <a:defRPr>
                <a:solidFill>
                  <a:schemeClr val="tx1"/>
                </a:solidFill>
                <a:latin typeface="Arial" panose="020B0604020202020204" pitchFamily="34" charset="0"/>
                <a:ea typeface="宋体" panose="02010600030101010101" pitchFamily="2" charset="-122"/>
              </a:defRPr>
            </a:lvl1pPr>
            <a:lvl2pPr defTabSz="912813">
              <a:defRPr>
                <a:solidFill>
                  <a:schemeClr val="tx1"/>
                </a:solidFill>
                <a:latin typeface="Arial" panose="020B0604020202020204" pitchFamily="34" charset="0"/>
                <a:ea typeface="宋体" panose="02010600030101010101" pitchFamily="2" charset="-122"/>
              </a:defRPr>
            </a:lvl2pPr>
            <a:lvl3pPr defTabSz="912813">
              <a:defRPr>
                <a:solidFill>
                  <a:schemeClr val="tx1"/>
                </a:solidFill>
                <a:latin typeface="Arial" panose="020B0604020202020204" pitchFamily="34" charset="0"/>
                <a:ea typeface="宋体" panose="02010600030101010101" pitchFamily="2" charset="-122"/>
              </a:defRPr>
            </a:lvl3pPr>
            <a:lvl4pPr defTabSz="912813">
              <a:defRPr>
                <a:solidFill>
                  <a:schemeClr val="tx1"/>
                </a:solidFill>
                <a:latin typeface="Arial" panose="020B0604020202020204" pitchFamily="34" charset="0"/>
                <a:ea typeface="宋体" panose="02010600030101010101" pitchFamily="2" charset="-122"/>
              </a:defRPr>
            </a:lvl4pPr>
            <a:lvl5pPr defTabSz="912813">
              <a:defRPr>
                <a:solidFill>
                  <a:schemeClr val="tx1"/>
                </a:solidFill>
                <a:latin typeface="Arial" panose="020B0604020202020204" pitchFamily="34" charset="0"/>
                <a:ea typeface="宋体" panose="02010600030101010101" pitchFamily="2" charset="-122"/>
              </a:defRPr>
            </a:lvl5pPr>
            <a:lvl6pPr marL="22844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sz="2600" dirty="0">
                <a:solidFill>
                  <a:prstClr val="black"/>
                </a:solidFill>
                <a:latin typeface="黑体"/>
                <a:ea typeface="黑体"/>
              </a:rPr>
              <a:t>深度优先搜索示意图</a:t>
            </a:r>
          </a:p>
        </p:txBody>
      </p:sp>
    </p:spTree>
    <p:extLst>
      <p:ext uri="{BB962C8B-B14F-4D97-AF65-F5344CB8AC3E}">
        <p14:creationId xmlns:p14="http://schemas.microsoft.com/office/powerpoint/2010/main" val="3857477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fade">
                                      <p:cBhvr>
                                        <p:cTn id="7" dur="500"/>
                                        <p:tgtEl>
                                          <p:spTgt spid="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
                                            <p:txEl>
                                              <p:pRg st="1" end="1"/>
                                            </p:txEl>
                                          </p:spTgt>
                                        </p:tgtEl>
                                        <p:attrNameLst>
                                          <p:attrName>style.visibility</p:attrName>
                                        </p:attrNameLst>
                                      </p:cBhvr>
                                      <p:to>
                                        <p:strVal val="visible"/>
                                      </p:to>
                                    </p:set>
                                    <p:animEffect transition="in" filter="fade">
                                      <p:cBhvr>
                                        <p:cTn id="12" dur="500"/>
                                        <p:tgtEl>
                                          <p:spTgt spid="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盲目搜索</a:t>
            </a:r>
          </a:p>
        </p:txBody>
      </p:sp>
      <p:sp>
        <p:nvSpPr>
          <p:cNvPr id="10" name="文本框 9">
            <a:extLst>
              <a:ext uri="{FF2B5EF4-FFF2-40B4-BE49-F238E27FC236}">
                <a16:creationId xmlns:a16="http://schemas.microsoft.com/office/drawing/2014/main" id="{7C183DD3-8DEA-4776-A786-113EA8A27F22}"/>
              </a:ext>
            </a:extLst>
          </p:cNvPr>
          <p:cNvSpPr txBox="1"/>
          <p:nvPr/>
        </p:nvSpPr>
        <p:spPr>
          <a:xfrm>
            <a:off x="1852611" y="1004610"/>
            <a:ext cx="8105856" cy="707694"/>
          </a:xfrm>
          <a:prstGeom prst="rect">
            <a:avLst/>
          </a:prstGeom>
          <a:noFill/>
        </p:spPr>
        <p:txBody>
          <a:bodyPr wrap="square">
            <a:spAutoFit/>
          </a:bodyPr>
          <a:lstStyle/>
          <a:p>
            <a:pPr>
              <a:lnSpc>
                <a:spcPct val="150000"/>
              </a:lnSpc>
            </a:pPr>
            <a:r>
              <a:rPr lang="zh-CN" altLang="en-US" sz="3200" dirty="0">
                <a:solidFill>
                  <a:srgbClr val="FF0000"/>
                </a:solidFill>
                <a:latin typeface="方正姚体" panose="02010601030101010101" pitchFamily="2" charset="-122"/>
                <a:ea typeface="方正姚体" panose="02010601030101010101" pitchFamily="2" charset="-122"/>
              </a:rPr>
              <a:t>深度优先搜索算法</a:t>
            </a:r>
          </a:p>
        </p:txBody>
      </p:sp>
      <p:sp>
        <p:nvSpPr>
          <p:cNvPr id="72" name="内容占位符 2">
            <a:extLst>
              <a:ext uri="{FF2B5EF4-FFF2-40B4-BE49-F238E27FC236}">
                <a16:creationId xmlns:a16="http://schemas.microsoft.com/office/drawing/2014/main" id="{705AFE65-61AF-44CB-BFFD-96A3CAAD61D5}"/>
              </a:ext>
            </a:extLst>
          </p:cNvPr>
          <p:cNvSpPr txBox="1">
            <a:spLocks noChangeArrowheads="1"/>
          </p:cNvSpPr>
          <p:nvPr/>
        </p:nvSpPr>
        <p:spPr bwMode="auto">
          <a:xfrm>
            <a:off x="1931321" y="1734957"/>
            <a:ext cx="8027146" cy="386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defTabSz="912813">
              <a:defRPr>
                <a:solidFill>
                  <a:schemeClr val="tx1"/>
                </a:solidFill>
                <a:latin typeface="Arial" panose="020B0604020202020204" pitchFamily="34" charset="0"/>
                <a:ea typeface="宋体" panose="02010600030101010101" pitchFamily="2" charset="-122"/>
              </a:defRPr>
            </a:lvl1pPr>
            <a:lvl2pPr defTabSz="912813">
              <a:defRPr>
                <a:solidFill>
                  <a:schemeClr val="tx1"/>
                </a:solidFill>
                <a:latin typeface="Arial" panose="020B0604020202020204" pitchFamily="34" charset="0"/>
                <a:ea typeface="宋体" panose="02010600030101010101" pitchFamily="2" charset="-122"/>
              </a:defRPr>
            </a:lvl2pPr>
            <a:lvl3pPr defTabSz="912813">
              <a:defRPr>
                <a:solidFill>
                  <a:schemeClr val="tx1"/>
                </a:solidFill>
                <a:latin typeface="Arial" panose="020B0604020202020204" pitchFamily="34" charset="0"/>
                <a:ea typeface="宋体" panose="02010600030101010101" pitchFamily="2" charset="-122"/>
              </a:defRPr>
            </a:lvl3pPr>
            <a:lvl4pPr defTabSz="912813">
              <a:defRPr>
                <a:solidFill>
                  <a:schemeClr val="tx1"/>
                </a:solidFill>
                <a:latin typeface="Arial" panose="020B0604020202020204" pitchFamily="34" charset="0"/>
                <a:ea typeface="宋体" panose="02010600030101010101" pitchFamily="2" charset="-122"/>
              </a:defRPr>
            </a:lvl4pPr>
            <a:lvl5pPr defTabSz="912813">
              <a:defRPr>
                <a:solidFill>
                  <a:schemeClr val="tx1"/>
                </a:solidFill>
                <a:latin typeface="Arial" panose="020B0604020202020204" pitchFamily="34" charset="0"/>
                <a:ea typeface="宋体" panose="02010600030101010101" pitchFamily="2" charset="-122"/>
              </a:defRPr>
            </a:lvl5pPr>
            <a:lvl6pPr marL="22844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indent="0" eaLnBrk="0" hangingPunct="0">
              <a:lnSpc>
                <a:spcPct val="130000"/>
              </a:lnSpc>
              <a:buClr>
                <a:srgbClr val="EEECE1"/>
              </a:buClr>
            </a:pPr>
            <a:r>
              <a:rPr lang="en-US" altLang="zh-CN" sz="2600" dirty="0">
                <a:solidFill>
                  <a:prstClr val="black"/>
                </a:solidFill>
                <a:latin typeface="Times New Roman"/>
                <a:ea typeface="黑体"/>
                <a:sym typeface="宋体" panose="02010600030101010101" pitchFamily="2" charset="-122"/>
              </a:rPr>
              <a:t>(1)</a:t>
            </a:r>
            <a:r>
              <a:rPr lang="zh-CN" altLang="en-US" sz="2600" dirty="0">
                <a:solidFill>
                  <a:prstClr val="black"/>
                </a:solidFill>
                <a:latin typeface="Times New Roman"/>
                <a:ea typeface="黑体"/>
                <a:sym typeface="宋体" panose="02010600030101010101" pitchFamily="2" charset="-122"/>
              </a:rPr>
              <a:t>把初始节点</a:t>
            </a:r>
            <a:r>
              <a:rPr lang="en-US" altLang="zh-CN" sz="2600" i="1" dirty="0">
                <a:solidFill>
                  <a:prstClr val="black"/>
                </a:solidFill>
                <a:latin typeface="Times New Roman"/>
                <a:ea typeface="黑体"/>
                <a:sym typeface="宋体" panose="02010600030101010101" pitchFamily="2" charset="-122"/>
              </a:rPr>
              <a:t>S</a:t>
            </a:r>
            <a:r>
              <a:rPr lang="en-US" altLang="zh-CN" sz="2600" baseline="-25000" dirty="0">
                <a:solidFill>
                  <a:prstClr val="black"/>
                </a:solidFill>
                <a:latin typeface="Times New Roman"/>
                <a:ea typeface="黑体"/>
                <a:sym typeface="宋体" panose="02010600030101010101" pitchFamily="2" charset="-122"/>
              </a:rPr>
              <a:t>0</a:t>
            </a:r>
            <a:r>
              <a:rPr lang="zh-CN" altLang="en-US" sz="2600" dirty="0">
                <a:solidFill>
                  <a:prstClr val="black"/>
                </a:solidFill>
                <a:latin typeface="Times New Roman"/>
                <a:ea typeface="黑体"/>
                <a:sym typeface="宋体" panose="02010600030101010101" pitchFamily="2" charset="-122"/>
              </a:rPr>
              <a:t>放入</a:t>
            </a:r>
            <a:r>
              <a:rPr lang="en-US" altLang="zh-CN" sz="2600" dirty="0">
                <a:solidFill>
                  <a:prstClr val="black"/>
                </a:solidFill>
                <a:latin typeface="Times New Roman"/>
                <a:ea typeface="黑体"/>
                <a:sym typeface="宋体" panose="02010600030101010101" pitchFamily="2" charset="-122"/>
              </a:rPr>
              <a:t>Open</a:t>
            </a:r>
            <a:r>
              <a:rPr lang="zh-CN" altLang="en-US" sz="2600" dirty="0">
                <a:solidFill>
                  <a:prstClr val="black"/>
                </a:solidFill>
                <a:latin typeface="Times New Roman"/>
                <a:ea typeface="黑体"/>
                <a:sym typeface="宋体" panose="02010600030101010101" pitchFamily="2" charset="-122"/>
              </a:rPr>
              <a:t>表中</a:t>
            </a:r>
          </a:p>
          <a:p>
            <a:pPr marL="0" indent="0" eaLnBrk="0" hangingPunct="0">
              <a:lnSpc>
                <a:spcPct val="130000"/>
              </a:lnSpc>
              <a:buClr>
                <a:srgbClr val="EEECE1"/>
              </a:buClr>
            </a:pPr>
            <a:r>
              <a:rPr lang="en-US" altLang="zh-CN" sz="2600" dirty="0">
                <a:solidFill>
                  <a:prstClr val="black"/>
                </a:solidFill>
                <a:latin typeface="Times New Roman"/>
                <a:ea typeface="黑体"/>
                <a:sym typeface="宋体" panose="02010600030101010101" pitchFamily="2" charset="-122"/>
              </a:rPr>
              <a:t>(2)</a:t>
            </a:r>
            <a:r>
              <a:rPr lang="zh-CN" altLang="en-US" sz="2600" dirty="0">
                <a:solidFill>
                  <a:prstClr val="black"/>
                </a:solidFill>
                <a:latin typeface="Times New Roman"/>
                <a:ea typeface="黑体"/>
                <a:sym typeface="宋体" panose="02010600030101010101" pitchFamily="2" charset="-122"/>
              </a:rPr>
              <a:t>若</a:t>
            </a:r>
            <a:r>
              <a:rPr lang="en-US" altLang="zh-CN" sz="2600" dirty="0">
                <a:solidFill>
                  <a:prstClr val="black"/>
                </a:solidFill>
                <a:latin typeface="Times New Roman"/>
                <a:ea typeface="黑体"/>
                <a:sym typeface="宋体" panose="02010600030101010101" pitchFamily="2" charset="-122"/>
              </a:rPr>
              <a:t>Open</a:t>
            </a:r>
            <a:r>
              <a:rPr lang="zh-CN" altLang="en-US" sz="2600" dirty="0">
                <a:solidFill>
                  <a:prstClr val="black"/>
                </a:solidFill>
                <a:latin typeface="Times New Roman"/>
                <a:ea typeface="黑体"/>
                <a:sym typeface="宋体" panose="02010600030101010101" pitchFamily="2" charset="-122"/>
              </a:rPr>
              <a:t>表为空，则搜索失败，退出。</a:t>
            </a:r>
            <a:endParaRPr lang="en-US" altLang="zh-CN" sz="2600" dirty="0">
              <a:solidFill>
                <a:prstClr val="black"/>
              </a:solidFill>
              <a:latin typeface="Times New Roman"/>
              <a:ea typeface="黑体"/>
              <a:sym typeface="宋体" panose="02010600030101010101" pitchFamily="2" charset="-122"/>
            </a:endParaRPr>
          </a:p>
          <a:p>
            <a:pPr marL="0" indent="0" eaLnBrk="0" hangingPunct="0">
              <a:lnSpc>
                <a:spcPct val="130000"/>
              </a:lnSpc>
              <a:buClr>
                <a:srgbClr val="EEECE1"/>
              </a:buClr>
            </a:pPr>
            <a:r>
              <a:rPr lang="en-US" altLang="zh-CN" sz="2600" dirty="0">
                <a:solidFill>
                  <a:prstClr val="black"/>
                </a:solidFill>
                <a:latin typeface="Times New Roman"/>
                <a:ea typeface="黑体"/>
                <a:sym typeface="宋体" panose="02010600030101010101" pitchFamily="2" charset="-122"/>
              </a:rPr>
              <a:t>(3)</a:t>
            </a:r>
            <a:r>
              <a:rPr lang="zh-CN" altLang="en-US" sz="2600" dirty="0">
                <a:solidFill>
                  <a:prstClr val="black"/>
                </a:solidFill>
                <a:latin typeface="Times New Roman"/>
                <a:ea typeface="黑体"/>
                <a:sym typeface="宋体" panose="02010600030101010101" pitchFamily="2" charset="-122"/>
              </a:rPr>
              <a:t>取</a:t>
            </a:r>
            <a:r>
              <a:rPr lang="en-US" altLang="zh-CN" sz="2600" dirty="0">
                <a:solidFill>
                  <a:prstClr val="black"/>
                </a:solidFill>
                <a:latin typeface="Times New Roman"/>
                <a:ea typeface="黑体"/>
                <a:sym typeface="宋体" panose="02010600030101010101" pitchFamily="2" charset="-122"/>
              </a:rPr>
              <a:t>Open</a:t>
            </a:r>
            <a:r>
              <a:rPr lang="zh-CN" altLang="en-US" sz="2600" dirty="0">
                <a:solidFill>
                  <a:prstClr val="black"/>
                </a:solidFill>
                <a:latin typeface="Times New Roman"/>
                <a:ea typeface="黑体"/>
                <a:sym typeface="宋体" panose="02010600030101010101" pitchFamily="2" charset="-122"/>
              </a:rPr>
              <a:t>表中前面第一个节点</a:t>
            </a:r>
            <a:r>
              <a:rPr lang="en-US" altLang="zh-CN" sz="2600" i="1" dirty="0">
                <a:solidFill>
                  <a:prstClr val="black"/>
                </a:solidFill>
                <a:latin typeface="Times New Roman"/>
                <a:ea typeface="黑体"/>
                <a:sym typeface="宋体" panose="02010600030101010101" pitchFamily="2" charset="-122"/>
              </a:rPr>
              <a:t>N</a:t>
            </a:r>
            <a:r>
              <a:rPr lang="zh-CN" altLang="en-US" sz="2600" dirty="0">
                <a:solidFill>
                  <a:prstClr val="black"/>
                </a:solidFill>
                <a:latin typeface="Times New Roman"/>
                <a:ea typeface="黑体"/>
                <a:sym typeface="宋体" panose="02010600030101010101" pitchFamily="2" charset="-122"/>
              </a:rPr>
              <a:t>放入</a:t>
            </a:r>
            <a:r>
              <a:rPr lang="en-US" altLang="zh-CN" sz="2600" dirty="0">
                <a:solidFill>
                  <a:prstClr val="black"/>
                </a:solidFill>
                <a:latin typeface="Times New Roman"/>
                <a:ea typeface="黑体"/>
                <a:sym typeface="宋体" panose="02010600030101010101" pitchFamily="2" charset="-122"/>
              </a:rPr>
              <a:t>Closed</a:t>
            </a:r>
            <a:r>
              <a:rPr lang="zh-CN" altLang="en-US" sz="2600" dirty="0">
                <a:solidFill>
                  <a:prstClr val="black"/>
                </a:solidFill>
                <a:latin typeface="Times New Roman"/>
                <a:ea typeface="黑体"/>
                <a:sym typeface="宋体" panose="02010600030101010101" pitchFamily="2" charset="-122"/>
              </a:rPr>
              <a:t>表中，并冠以顺序编号</a:t>
            </a:r>
            <a:r>
              <a:rPr lang="en-US" altLang="zh-CN" sz="2600" i="1" dirty="0">
                <a:solidFill>
                  <a:prstClr val="black"/>
                </a:solidFill>
                <a:latin typeface="Times New Roman"/>
                <a:ea typeface="黑体"/>
                <a:sym typeface="宋体" panose="02010600030101010101" pitchFamily="2" charset="-122"/>
              </a:rPr>
              <a:t>n</a:t>
            </a:r>
            <a:r>
              <a:rPr lang="zh-CN" altLang="en-US" sz="2600" dirty="0">
                <a:solidFill>
                  <a:prstClr val="black"/>
                </a:solidFill>
                <a:latin typeface="Times New Roman"/>
                <a:ea typeface="黑体"/>
                <a:sym typeface="宋体" panose="02010600030101010101" pitchFamily="2" charset="-122"/>
              </a:rPr>
              <a:t>。</a:t>
            </a:r>
            <a:endParaRPr lang="en-US" altLang="zh-CN" sz="2600" dirty="0">
              <a:solidFill>
                <a:prstClr val="black"/>
              </a:solidFill>
              <a:latin typeface="Times New Roman"/>
              <a:ea typeface="黑体"/>
              <a:sym typeface="宋体" panose="02010600030101010101" pitchFamily="2" charset="-122"/>
            </a:endParaRPr>
          </a:p>
          <a:p>
            <a:pPr marL="0" indent="0" eaLnBrk="0" hangingPunct="0">
              <a:lnSpc>
                <a:spcPct val="130000"/>
              </a:lnSpc>
              <a:buClr>
                <a:srgbClr val="EEECE1"/>
              </a:buClr>
            </a:pPr>
            <a:r>
              <a:rPr lang="en-US" altLang="zh-CN" sz="2600" dirty="0">
                <a:solidFill>
                  <a:prstClr val="black"/>
                </a:solidFill>
                <a:latin typeface="Times New Roman"/>
                <a:ea typeface="黑体"/>
                <a:sym typeface="宋体" panose="02010600030101010101" pitchFamily="2" charset="-122"/>
              </a:rPr>
              <a:t>(4)</a:t>
            </a:r>
            <a:r>
              <a:rPr lang="zh-CN" altLang="en-US" sz="2600" dirty="0">
                <a:solidFill>
                  <a:prstClr val="black"/>
                </a:solidFill>
                <a:latin typeface="Times New Roman"/>
                <a:ea typeface="黑体"/>
                <a:sym typeface="宋体" panose="02010600030101010101" pitchFamily="2" charset="-122"/>
              </a:rPr>
              <a:t>若目标节点</a:t>
            </a:r>
            <a:r>
              <a:rPr lang="en-US" altLang="zh-CN" sz="2600" i="1" dirty="0">
                <a:solidFill>
                  <a:prstClr val="black"/>
                </a:solidFill>
                <a:latin typeface="Times New Roman"/>
                <a:ea typeface="黑体"/>
                <a:sym typeface="宋体" panose="02010600030101010101" pitchFamily="2" charset="-122"/>
              </a:rPr>
              <a:t>S</a:t>
            </a:r>
            <a:r>
              <a:rPr lang="en-US" altLang="zh-CN" sz="2600" baseline="-25000" dirty="0">
                <a:solidFill>
                  <a:prstClr val="black"/>
                </a:solidFill>
                <a:latin typeface="Times New Roman"/>
                <a:ea typeface="黑体"/>
                <a:sym typeface="宋体" panose="02010600030101010101" pitchFamily="2" charset="-122"/>
              </a:rPr>
              <a:t>g</a:t>
            </a:r>
            <a:r>
              <a:rPr lang="en-US" altLang="zh-CN" sz="2600" dirty="0">
                <a:solidFill>
                  <a:prstClr val="black"/>
                </a:solidFill>
                <a:latin typeface="Times New Roman"/>
                <a:ea typeface="黑体"/>
                <a:sym typeface="宋体" panose="02010600030101010101" pitchFamily="2" charset="-122"/>
              </a:rPr>
              <a:t>=</a:t>
            </a:r>
            <a:r>
              <a:rPr lang="en-US" altLang="zh-CN" sz="2600" i="1" dirty="0">
                <a:solidFill>
                  <a:prstClr val="black"/>
                </a:solidFill>
                <a:latin typeface="Times New Roman"/>
                <a:ea typeface="黑体"/>
                <a:sym typeface="宋体" panose="02010600030101010101" pitchFamily="2" charset="-122"/>
              </a:rPr>
              <a:t>N</a:t>
            </a:r>
            <a:r>
              <a:rPr lang="zh-CN" altLang="en-US" sz="2600" dirty="0">
                <a:solidFill>
                  <a:prstClr val="black"/>
                </a:solidFill>
                <a:latin typeface="Times New Roman"/>
                <a:ea typeface="黑体"/>
                <a:sym typeface="宋体" panose="02010600030101010101" pitchFamily="2" charset="-122"/>
              </a:rPr>
              <a:t>，则搜索成功，结束。</a:t>
            </a:r>
            <a:endParaRPr lang="en-US" altLang="zh-CN" sz="2600" dirty="0">
              <a:solidFill>
                <a:prstClr val="black"/>
              </a:solidFill>
              <a:latin typeface="Times New Roman"/>
              <a:ea typeface="黑体"/>
              <a:sym typeface="宋体" panose="02010600030101010101" pitchFamily="2" charset="-122"/>
            </a:endParaRPr>
          </a:p>
          <a:p>
            <a:pPr marL="0" indent="0" eaLnBrk="0" hangingPunct="0">
              <a:lnSpc>
                <a:spcPct val="130000"/>
              </a:lnSpc>
              <a:buClr>
                <a:srgbClr val="EEECE1"/>
              </a:buClr>
            </a:pPr>
            <a:r>
              <a:rPr lang="en-US" altLang="zh-CN" sz="2600" dirty="0">
                <a:solidFill>
                  <a:prstClr val="black"/>
                </a:solidFill>
                <a:latin typeface="Times New Roman"/>
                <a:ea typeface="黑体"/>
                <a:sym typeface="宋体" panose="02010600030101010101" pitchFamily="2" charset="-122"/>
              </a:rPr>
              <a:t>(5)</a:t>
            </a:r>
            <a:r>
              <a:rPr lang="zh-CN" altLang="en-US" sz="2600" dirty="0">
                <a:solidFill>
                  <a:prstClr val="black"/>
                </a:solidFill>
                <a:latin typeface="Times New Roman"/>
                <a:ea typeface="黑体"/>
                <a:sym typeface="宋体" panose="02010600030101010101" pitchFamily="2" charset="-122"/>
              </a:rPr>
              <a:t>若</a:t>
            </a:r>
            <a:r>
              <a:rPr lang="en-US" altLang="zh-CN" sz="2600" i="1" dirty="0">
                <a:solidFill>
                  <a:prstClr val="black"/>
                </a:solidFill>
                <a:latin typeface="Times New Roman"/>
                <a:ea typeface="黑体"/>
                <a:sym typeface="宋体" panose="02010600030101010101" pitchFamily="2" charset="-122"/>
              </a:rPr>
              <a:t>N</a:t>
            </a:r>
            <a:r>
              <a:rPr lang="zh-CN" altLang="en-US" sz="2600" dirty="0">
                <a:solidFill>
                  <a:prstClr val="black"/>
                </a:solidFill>
                <a:latin typeface="Times New Roman"/>
                <a:ea typeface="黑体"/>
                <a:sym typeface="宋体" panose="02010600030101010101" pitchFamily="2" charset="-122"/>
              </a:rPr>
              <a:t>不可扩展，则转步骤</a:t>
            </a:r>
            <a:r>
              <a:rPr lang="en-US" altLang="zh-CN" sz="2600" dirty="0">
                <a:solidFill>
                  <a:prstClr val="black"/>
                </a:solidFill>
                <a:latin typeface="Times New Roman"/>
                <a:ea typeface="黑体"/>
                <a:sym typeface="宋体" panose="02010600030101010101" pitchFamily="2" charset="-122"/>
              </a:rPr>
              <a:t>(2)</a:t>
            </a:r>
            <a:r>
              <a:rPr lang="zh-CN" altLang="en-US" sz="2600" dirty="0">
                <a:solidFill>
                  <a:prstClr val="black"/>
                </a:solidFill>
                <a:latin typeface="Times New Roman"/>
                <a:ea typeface="黑体"/>
                <a:sym typeface="宋体" panose="02010600030101010101" pitchFamily="2" charset="-122"/>
              </a:rPr>
              <a:t>。</a:t>
            </a:r>
            <a:endParaRPr lang="en-US" altLang="zh-CN" sz="2600" dirty="0">
              <a:solidFill>
                <a:prstClr val="black"/>
              </a:solidFill>
              <a:latin typeface="Times New Roman"/>
              <a:ea typeface="黑体"/>
              <a:sym typeface="宋体" panose="02010600030101010101" pitchFamily="2" charset="-122"/>
            </a:endParaRPr>
          </a:p>
          <a:p>
            <a:pPr marL="0" indent="0" eaLnBrk="0" hangingPunct="0">
              <a:lnSpc>
                <a:spcPct val="130000"/>
              </a:lnSpc>
              <a:buClr>
                <a:srgbClr val="EEECE1"/>
              </a:buClr>
            </a:pPr>
            <a:r>
              <a:rPr lang="en-US" altLang="zh-CN" sz="2600" dirty="0">
                <a:solidFill>
                  <a:prstClr val="black"/>
                </a:solidFill>
                <a:latin typeface="Times New Roman"/>
                <a:ea typeface="黑体"/>
                <a:sym typeface="宋体" panose="02010600030101010101" pitchFamily="2" charset="-122"/>
              </a:rPr>
              <a:t>(6)</a:t>
            </a:r>
            <a:r>
              <a:rPr lang="zh-CN" altLang="en-US" sz="2600" dirty="0">
                <a:solidFill>
                  <a:prstClr val="black"/>
                </a:solidFill>
                <a:latin typeface="Times New Roman"/>
                <a:ea typeface="黑体"/>
                <a:sym typeface="宋体" panose="02010600030101010101" pitchFamily="2" charset="-122"/>
              </a:rPr>
              <a:t>扩展</a:t>
            </a:r>
            <a:r>
              <a:rPr lang="en-US" altLang="zh-CN" sz="2600" i="1" dirty="0">
                <a:solidFill>
                  <a:prstClr val="black"/>
                </a:solidFill>
                <a:latin typeface="Times New Roman"/>
                <a:ea typeface="黑体"/>
                <a:sym typeface="宋体" panose="02010600030101010101" pitchFamily="2" charset="-122"/>
              </a:rPr>
              <a:t>N</a:t>
            </a:r>
            <a:r>
              <a:rPr lang="zh-CN" altLang="en-US" sz="2600" dirty="0">
                <a:solidFill>
                  <a:prstClr val="black"/>
                </a:solidFill>
                <a:latin typeface="Times New Roman"/>
                <a:ea typeface="黑体"/>
                <a:sym typeface="宋体" panose="02010600030101010101" pitchFamily="2" charset="-122"/>
              </a:rPr>
              <a:t>，将其所有子节点配上指向</a:t>
            </a:r>
            <a:r>
              <a:rPr lang="en-US" altLang="zh-CN" sz="2600" dirty="0">
                <a:solidFill>
                  <a:prstClr val="black"/>
                </a:solidFill>
                <a:latin typeface="Times New Roman"/>
                <a:ea typeface="黑体"/>
                <a:sym typeface="宋体" panose="02010600030101010101" pitchFamily="2" charset="-122"/>
              </a:rPr>
              <a:t>N</a:t>
            </a:r>
            <a:r>
              <a:rPr lang="zh-CN" altLang="en-US" sz="2600" dirty="0">
                <a:solidFill>
                  <a:prstClr val="black"/>
                </a:solidFill>
                <a:latin typeface="Times New Roman"/>
                <a:ea typeface="黑体"/>
                <a:sym typeface="宋体" panose="02010600030101010101" pitchFamily="2" charset="-122"/>
              </a:rPr>
              <a:t>的返回指针依次放入</a:t>
            </a:r>
            <a:r>
              <a:rPr lang="en-US" altLang="zh-CN" sz="2600" dirty="0">
                <a:solidFill>
                  <a:prstClr val="black"/>
                </a:solidFill>
                <a:latin typeface="Times New Roman"/>
                <a:ea typeface="黑体"/>
                <a:sym typeface="宋体" panose="02010600030101010101" pitchFamily="2" charset="-122"/>
              </a:rPr>
              <a:t>Open</a:t>
            </a:r>
            <a:r>
              <a:rPr lang="zh-CN" altLang="en-US" sz="2600" dirty="0">
                <a:solidFill>
                  <a:prstClr val="black"/>
                </a:solidFill>
                <a:latin typeface="Times New Roman"/>
                <a:ea typeface="黑体"/>
                <a:sym typeface="宋体" panose="02010600030101010101" pitchFamily="2" charset="-122"/>
              </a:rPr>
              <a:t>表的首部，转步骤</a:t>
            </a:r>
            <a:r>
              <a:rPr lang="en-US" altLang="zh-CN" sz="2600" dirty="0">
                <a:solidFill>
                  <a:prstClr val="black"/>
                </a:solidFill>
                <a:latin typeface="Times New Roman"/>
                <a:ea typeface="黑体"/>
                <a:sym typeface="宋体" panose="02010600030101010101" pitchFamily="2" charset="-122"/>
              </a:rPr>
              <a:t>(2)</a:t>
            </a:r>
            <a:r>
              <a:rPr lang="zh-CN" altLang="en-US" sz="2600" dirty="0">
                <a:solidFill>
                  <a:prstClr val="black"/>
                </a:solidFill>
                <a:latin typeface="Times New Roman"/>
                <a:ea typeface="黑体"/>
                <a:sym typeface="宋体" panose="02010600030101010101" pitchFamily="2" charset="-122"/>
              </a:rPr>
              <a:t>。</a:t>
            </a:r>
            <a:endParaRPr lang="en-US" altLang="zh-CN" sz="2600" dirty="0">
              <a:solidFill>
                <a:prstClr val="black"/>
              </a:solidFill>
              <a:latin typeface="Times New Roman"/>
              <a:ea typeface="黑体"/>
              <a:sym typeface="宋体" panose="02010600030101010101" pitchFamily="2" charset="-122"/>
            </a:endParaRPr>
          </a:p>
        </p:txBody>
      </p:sp>
    </p:spTree>
    <p:extLst>
      <p:ext uri="{BB962C8B-B14F-4D97-AF65-F5344CB8AC3E}">
        <p14:creationId xmlns:p14="http://schemas.microsoft.com/office/powerpoint/2010/main" val="176342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fade">
                                      <p:cBhvr>
                                        <p:cTn id="7" dur="500"/>
                                        <p:tgtEl>
                                          <p:spTgt spid="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
                                            <p:txEl>
                                              <p:pRg st="1" end="1"/>
                                            </p:txEl>
                                          </p:spTgt>
                                        </p:tgtEl>
                                        <p:attrNameLst>
                                          <p:attrName>style.visibility</p:attrName>
                                        </p:attrNameLst>
                                      </p:cBhvr>
                                      <p:to>
                                        <p:strVal val="visible"/>
                                      </p:to>
                                    </p:set>
                                    <p:animEffect transition="in" filter="fade">
                                      <p:cBhvr>
                                        <p:cTn id="12" dur="500"/>
                                        <p:tgtEl>
                                          <p:spTgt spid="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
                                            <p:txEl>
                                              <p:pRg st="2" end="2"/>
                                            </p:txEl>
                                          </p:spTgt>
                                        </p:tgtEl>
                                        <p:attrNameLst>
                                          <p:attrName>style.visibility</p:attrName>
                                        </p:attrNameLst>
                                      </p:cBhvr>
                                      <p:to>
                                        <p:strVal val="visible"/>
                                      </p:to>
                                    </p:set>
                                    <p:animEffect transition="in" filter="fade">
                                      <p:cBhvr>
                                        <p:cTn id="17" dur="500"/>
                                        <p:tgtEl>
                                          <p:spTgt spid="7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2">
                                            <p:txEl>
                                              <p:pRg st="3" end="3"/>
                                            </p:txEl>
                                          </p:spTgt>
                                        </p:tgtEl>
                                        <p:attrNameLst>
                                          <p:attrName>style.visibility</p:attrName>
                                        </p:attrNameLst>
                                      </p:cBhvr>
                                      <p:to>
                                        <p:strVal val="visible"/>
                                      </p:to>
                                    </p:set>
                                    <p:animEffect transition="in" filter="fade">
                                      <p:cBhvr>
                                        <p:cTn id="22" dur="500"/>
                                        <p:tgtEl>
                                          <p:spTgt spid="7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2">
                                            <p:txEl>
                                              <p:pRg st="4" end="4"/>
                                            </p:txEl>
                                          </p:spTgt>
                                        </p:tgtEl>
                                        <p:attrNameLst>
                                          <p:attrName>style.visibility</p:attrName>
                                        </p:attrNameLst>
                                      </p:cBhvr>
                                      <p:to>
                                        <p:strVal val="visible"/>
                                      </p:to>
                                    </p:set>
                                    <p:animEffect transition="in" filter="fade">
                                      <p:cBhvr>
                                        <p:cTn id="27" dur="500"/>
                                        <p:tgtEl>
                                          <p:spTgt spid="7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2">
                                            <p:txEl>
                                              <p:pRg st="5" end="5"/>
                                            </p:txEl>
                                          </p:spTgt>
                                        </p:tgtEl>
                                        <p:attrNameLst>
                                          <p:attrName>style.visibility</p:attrName>
                                        </p:attrNameLst>
                                      </p:cBhvr>
                                      <p:to>
                                        <p:strVal val="visible"/>
                                      </p:to>
                                    </p:set>
                                    <p:animEffect transition="in" filter="fade">
                                      <p:cBhvr>
                                        <p:cTn id="32" dur="500"/>
                                        <p:tgtEl>
                                          <p:spTgt spid="7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盲目搜索</a:t>
            </a:r>
          </a:p>
        </p:txBody>
      </p:sp>
      <p:sp>
        <p:nvSpPr>
          <p:cNvPr id="10" name="文本框 9">
            <a:extLst>
              <a:ext uri="{FF2B5EF4-FFF2-40B4-BE49-F238E27FC236}">
                <a16:creationId xmlns:a16="http://schemas.microsoft.com/office/drawing/2014/main" id="{7C183DD3-8DEA-4776-A786-113EA8A27F22}"/>
              </a:ext>
            </a:extLst>
          </p:cNvPr>
          <p:cNvSpPr txBox="1"/>
          <p:nvPr/>
        </p:nvSpPr>
        <p:spPr>
          <a:xfrm>
            <a:off x="1852611" y="1015920"/>
            <a:ext cx="8105856" cy="707694"/>
          </a:xfrm>
          <a:prstGeom prst="rect">
            <a:avLst/>
          </a:prstGeom>
          <a:noFill/>
        </p:spPr>
        <p:txBody>
          <a:bodyPr wrap="square">
            <a:spAutoFit/>
          </a:bodyPr>
          <a:lstStyle/>
          <a:p>
            <a:pPr>
              <a:lnSpc>
                <a:spcPct val="150000"/>
              </a:lnSpc>
            </a:pPr>
            <a:r>
              <a:rPr lang="zh-CN" altLang="en-US" sz="3200" dirty="0">
                <a:solidFill>
                  <a:srgbClr val="FF0000"/>
                </a:solidFill>
                <a:latin typeface="方正姚体" panose="02010601030101010101" pitchFamily="2" charset="-122"/>
                <a:ea typeface="方正姚体" panose="02010601030101010101" pitchFamily="2" charset="-122"/>
              </a:rPr>
              <a:t>深度优先搜索</a:t>
            </a:r>
          </a:p>
        </p:txBody>
      </p:sp>
      <p:grpSp>
        <p:nvGrpSpPr>
          <p:cNvPr id="4" name="组合 74">
            <a:extLst>
              <a:ext uri="{FF2B5EF4-FFF2-40B4-BE49-F238E27FC236}">
                <a16:creationId xmlns:a16="http://schemas.microsoft.com/office/drawing/2014/main" id="{B876776D-77AF-4462-BED9-573E1E3555D3}"/>
              </a:ext>
            </a:extLst>
          </p:cNvPr>
          <p:cNvGrpSpPr>
            <a:grpSpLocks/>
          </p:cNvGrpSpPr>
          <p:nvPr/>
        </p:nvGrpSpPr>
        <p:grpSpPr bwMode="auto">
          <a:xfrm>
            <a:off x="6819315" y="1094526"/>
            <a:ext cx="3709989" cy="2579077"/>
            <a:chOff x="5638800" y="1295400"/>
            <a:chExt cx="3429000" cy="2438400"/>
          </a:xfrm>
        </p:grpSpPr>
        <p:sp>
          <p:nvSpPr>
            <p:cNvPr id="5" name="矩形 4">
              <a:extLst>
                <a:ext uri="{FF2B5EF4-FFF2-40B4-BE49-F238E27FC236}">
                  <a16:creationId xmlns:a16="http://schemas.microsoft.com/office/drawing/2014/main" id="{2BC22115-4BA5-4430-99B4-EC452859E4AA}"/>
                </a:ext>
              </a:extLst>
            </p:cNvPr>
            <p:cNvSpPr/>
            <p:nvPr/>
          </p:nvSpPr>
          <p:spPr>
            <a:xfrm>
              <a:off x="5638800" y="1295400"/>
              <a:ext cx="3429000" cy="2438400"/>
            </a:xfrm>
            <a:prstGeom prst="rect">
              <a:avLst/>
            </a:prstGeom>
            <a:solidFill>
              <a:srgbClr val="99CCFF"/>
            </a:solidFill>
            <a:ln>
              <a:solidFill>
                <a:srgbClr val="99CC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6" name="任意多边形 68">
              <a:extLst>
                <a:ext uri="{FF2B5EF4-FFF2-40B4-BE49-F238E27FC236}">
                  <a16:creationId xmlns:a16="http://schemas.microsoft.com/office/drawing/2014/main" id="{D06FB628-0111-426D-A609-E69147EC5249}"/>
                </a:ext>
              </a:extLst>
            </p:cNvPr>
            <p:cNvSpPr/>
            <p:nvPr/>
          </p:nvSpPr>
          <p:spPr>
            <a:xfrm>
              <a:off x="6424613" y="1772138"/>
              <a:ext cx="2047425" cy="1336431"/>
            </a:xfrm>
            <a:custGeom>
              <a:avLst/>
              <a:gdLst>
                <a:gd name="connsiteX0" fmla="*/ 0 w 2047164"/>
                <a:gd name="connsiteY0" fmla="*/ 1310185 h 1337481"/>
                <a:gd name="connsiteX1" fmla="*/ 327546 w 2047164"/>
                <a:gd name="connsiteY1" fmla="*/ 1337481 h 1337481"/>
                <a:gd name="connsiteX2" fmla="*/ 614149 w 2047164"/>
                <a:gd name="connsiteY2" fmla="*/ 777923 h 1337481"/>
                <a:gd name="connsiteX3" fmla="*/ 1078173 w 2047164"/>
                <a:gd name="connsiteY3" fmla="*/ 382138 h 1337481"/>
                <a:gd name="connsiteX4" fmla="*/ 1282889 w 2047164"/>
                <a:gd name="connsiteY4" fmla="*/ 313899 h 1337481"/>
                <a:gd name="connsiteX5" fmla="*/ 1869743 w 2047164"/>
                <a:gd name="connsiteY5" fmla="*/ 395785 h 1337481"/>
                <a:gd name="connsiteX6" fmla="*/ 2006220 w 2047164"/>
                <a:gd name="connsiteY6" fmla="*/ 327547 h 1337481"/>
                <a:gd name="connsiteX7" fmla="*/ 2047164 w 2047164"/>
                <a:gd name="connsiteY7" fmla="*/ 95535 h 1337481"/>
                <a:gd name="connsiteX8" fmla="*/ 1828800 w 2047164"/>
                <a:gd name="connsiteY8" fmla="*/ 0 h 1337481"/>
                <a:gd name="connsiteX9" fmla="*/ 1241946 w 2047164"/>
                <a:gd name="connsiteY9" fmla="*/ 109182 h 1337481"/>
                <a:gd name="connsiteX10" fmla="*/ 955343 w 2047164"/>
                <a:gd name="connsiteY10" fmla="*/ 150126 h 1337481"/>
                <a:gd name="connsiteX11" fmla="*/ 518615 w 2047164"/>
                <a:gd name="connsiteY11" fmla="*/ 477672 h 1337481"/>
                <a:gd name="connsiteX12" fmla="*/ 341194 w 2047164"/>
                <a:gd name="connsiteY12" fmla="*/ 696036 h 1337481"/>
                <a:gd name="connsiteX13" fmla="*/ 68238 w 2047164"/>
                <a:gd name="connsiteY13" fmla="*/ 1105469 h 1337481"/>
                <a:gd name="connsiteX14" fmla="*/ 0 w 2047164"/>
                <a:gd name="connsiteY14" fmla="*/ 1310185 h 1337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47164" h="1337481">
                  <a:moveTo>
                    <a:pt x="0" y="1310185"/>
                  </a:moveTo>
                  <a:lnTo>
                    <a:pt x="327546" y="1337481"/>
                  </a:lnTo>
                  <a:lnTo>
                    <a:pt x="614149" y="777923"/>
                  </a:lnTo>
                  <a:lnTo>
                    <a:pt x="1078173" y="382138"/>
                  </a:lnTo>
                  <a:lnTo>
                    <a:pt x="1282889" y="313899"/>
                  </a:lnTo>
                  <a:lnTo>
                    <a:pt x="1869743" y="395785"/>
                  </a:lnTo>
                  <a:lnTo>
                    <a:pt x="2006220" y="327547"/>
                  </a:lnTo>
                  <a:lnTo>
                    <a:pt x="2047164" y="95535"/>
                  </a:lnTo>
                  <a:lnTo>
                    <a:pt x="1828800" y="0"/>
                  </a:lnTo>
                  <a:lnTo>
                    <a:pt x="1241946" y="109182"/>
                  </a:lnTo>
                  <a:lnTo>
                    <a:pt x="955343" y="150126"/>
                  </a:lnTo>
                  <a:lnTo>
                    <a:pt x="518615" y="477672"/>
                  </a:lnTo>
                  <a:lnTo>
                    <a:pt x="341194" y="696036"/>
                  </a:lnTo>
                  <a:lnTo>
                    <a:pt x="68238" y="1105469"/>
                  </a:lnTo>
                  <a:lnTo>
                    <a:pt x="0" y="1310185"/>
                  </a:lnTo>
                  <a:close/>
                </a:path>
              </a:pathLst>
            </a:cu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7" name="任意多边形 67">
              <a:extLst>
                <a:ext uri="{FF2B5EF4-FFF2-40B4-BE49-F238E27FC236}">
                  <a16:creationId xmlns:a16="http://schemas.microsoft.com/office/drawing/2014/main" id="{AF710D8D-6173-4AB2-A1A9-C68853EBCB6C}"/>
                </a:ext>
              </a:extLst>
            </p:cNvPr>
            <p:cNvSpPr/>
            <p:nvPr/>
          </p:nvSpPr>
          <p:spPr>
            <a:xfrm>
              <a:off x="5824807" y="1361831"/>
              <a:ext cx="1950379" cy="2296420"/>
            </a:xfrm>
            <a:custGeom>
              <a:avLst/>
              <a:gdLst>
                <a:gd name="connsiteX0" fmla="*/ 1883391 w 1951630"/>
                <a:gd name="connsiteY0" fmla="*/ 27296 h 2296041"/>
                <a:gd name="connsiteX1" fmla="*/ 1583140 w 1951630"/>
                <a:gd name="connsiteY1" fmla="*/ 0 h 2296041"/>
                <a:gd name="connsiteX2" fmla="*/ 641445 w 1951630"/>
                <a:gd name="connsiteY2" fmla="*/ 395785 h 2296041"/>
                <a:gd name="connsiteX3" fmla="*/ 27296 w 1951630"/>
                <a:gd name="connsiteY3" fmla="*/ 1282890 h 2296041"/>
                <a:gd name="connsiteX4" fmla="*/ 0 w 1951630"/>
                <a:gd name="connsiteY4" fmla="*/ 2101756 h 2296041"/>
                <a:gd name="connsiteX5" fmla="*/ 204717 w 1951630"/>
                <a:gd name="connsiteY5" fmla="*/ 2292824 h 2296041"/>
                <a:gd name="connsiteX6" fmla="*/ 409433 w 1951630"/>
                <a:gd name="connsiteY6" fmla="*/ 2265529 h 2296041"/>
                <a:gd name="connsiteX7" fmla="*/ 545911 w 1951630"/>
                <a:gd name="connsiteY7" fmla="*/ 1978926 h 2296041"/>
                <a:gd name="connsiteX8" fmla="*/ 518615 w 1951630"/>
                <a:gd name="connsiteY8" fmla="*/ 1555845 h 2296041"/>
                <a:gd name="connsiteX9" fmla="*/ 1037230 w 1951630"/>
                <a:gd name="connsiteY9" fmla="*/ 818866 h 2296041"/>
                <a:gd name="connsiteX10" fmla="*/ 1542197 w 1951630"/>
                <a:gd name="connsiteY10" fmla="*/ 477672 h 2296041"/>
                <a:gd name="connsiteX11" fmla="*/ 1951630 w 1951630"/>
                <a:gd name="connsiteY11" fmla="*/ 395785 h 2296041"/>
                <a:gd name="connsiteX12" fmla="*/ 1883391 w 1951630"/>
                <a:gd name="connsiteY12" fmla="*/ 27296 h 2296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51630" h="2296041">
                  <a:moveTo>
                    <a:pt x="1883391" y="27296"/>
                  </a:moveTo>
                  <a:lnTo>
                    <a:pt x="1583140" y="0"/>
                  </a:lnTo>
                  <a:lnTo>
                    <a:pt x="641445" y="395785"/>
                  </a:lnTo>
                  <a:lnTo>
                    <a:pt x="27296" y="1282890"/>
                  </a:lnTo>
                  <a:lnTo>
                    <a:pt x="0" y="2101756"/>
                  </a:lnTo>
                  <a:cubicBezTo>
                    <a:pt x="194286" y="2296041"/>
                    <a:pt x="100998" y="2292824"/>
                    <a:pt x="204717" y="2292824"/>
                  </a:cubicBezTo>
                  <a:lnTo>
                    <a:pt x="409433" y="2265529"/>
                  </a:lnTo>
                  <a:lnTo>
                    <a:pt x="545911" y="1978926"/>
                  </a:lnTo>
                  <a:lnTo>
                    <a:pt x="518615" y="1555845"/>
                  </a:lnTo>
                  <a:lnTo>
                    <a:pt x="1037230" y="818866"/>
                  </a:lnTo>
                  <a:lnTo>
                    <a:pt x="1542197" y="477672"/>
                  </a:lnTo>
                  <a:lnTo>
                    <a:pt x="1951630" y="395785"/>
                  </a:lnTo>
                  <a:lnTo>
                    <a:pt x="1883391" y="27296"/>
                  </a:lnTo>
                  <a:close/>
                </a:path>
              </a:pathLst>
            </a:cu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8" name="椭圆 7">
              <a:extLst>
                <a:ext uri="{FF2B5EF4-FFF2-40B4-BE49-F238E27FC236}">
                  <a16:creationId xmlns:a16="http://schemas.microsoft.com/office/drawing/2014/main" id="{6CD02AF1-D867-42ED-B292-B5A8401BB1FB}"/>
                </a:ext>
              </a:extLst>
            </p:cNvPr>
            <p:cNvSpPr/>
            <p:nvPr/>
          </p:nvSpPr>
          <p:spPr>
            <a:xfrm>
              <a:off x="7391041" y="1614529"/>
              <a:ext cx="76829" cy="755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9" name="椭圆 8">
              <a:extLst>
                <a:ext uri="{FF2B5EF4-FFF2-40B4-BE49-F238E27FC236}">
                  <a16:creationId xmlns:a16="http://schemas.microsoft.com/office/drawing/2014/main" id="{86BBCEE8-4346-4F3B-ACAB-85BCE28531CB}"/>
                </a:ext>
              </a:extLst>
            </p:cNvPr>
            <p:cNvSpPr/>
            <p:nvPr/>
          </p:nvSpPr>
          <p:spPr>
            <a:xfrm>
              <a:off x="6629490" y="1994877"/>
              <a:ext cx="75481" cy="768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1" name="椭圆 10">
              <a:extLst>
                <a:ext uri="{FF2B5EF4-FFF2-40B4-BE49-F238E27FC236}">
                  <a16:creationId xmlns:a16="http://schemas.microsoft.com/office/drawing/2014/main" id="{A4002E68-7366-4896-A2F1-4DB7D6FD01A4}"/>
                </a:ext>
              </a:extLst>
            </p:cNvPr>
            <p:cNvSpPr/>
            <p:nvPr/>
          </p:nvSpPr>
          <p:spPr>
            <a:xfrm>
              <a:off x="7391041" y="1994877"/>
              <a:ext cx="76829" cy="768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2" name="椭圆 11">
              <a:extLst>
                <a:ext uri="{FF2B5EF4-FFF2-40B4-BE49-F238E27FC236}">
                  <a16:creationId xmlns:a16="http://schemas.microsoft.com/office/drawing/2014/main" id="{F2D7B5AC-AEC6-4637-BFC1-B8C85C204AE2}"/>
                </a:ext>
              </a:extLst>
            </p:cNvPr>
            <p:cNvSpPr/>
            <p:nvPr/>
          </p:nvSpPr>
          <p:spPr>
            <a:xfrm>
              <a:off x="8153939" y="1994877"/>
              <a:ext cx="75481" cy="768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3" name="椭圆 12">
              <a:extLst>
                <a:ext uri="{FF2B5EF4-FFF2-40B4-BE49-F238E27FC236}">
                  <a16:creationId xmlns:a16="http://schemas.microsoft.com/office/drawing/2014/main" id="{CCB8171A-A3A8-409E-B48B-107A73D6F752}"/>
                </a:ext>
              </a:extLst>
            </p:cNvPr>
            <p:cNvSpPr/>
            <p:nvPr/>
          </p:nvSpPr>
          <p:spPr>
            <a:xfrm>
              <a:off x="6400351" y="2452077"/>
              <a:ext cx="76829" cy="768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4" name="椭圆 13">
              <a:extLst>
                <a:ext uri="{FF2B5EF4-FFF2-40B4-BE49-F238E27FC236}">
                  <a16:creationId xmlns:a16="http://schemas.microsoft.com/office/drawing/2014/main" id="{FC44085D-D460-4CA3-9B60-F90AC352384C}"/>
                </a:ext>
              </a:extLst>
            </p:cNvPr>
            <p:cNvSpPr/>
            <p:nvPr/>
          </p:nvSpPr>
          <p:spPr>
            <a:xfrm>
              <a:off x="6858629" y="2452077"/>
              <a:ext cx="75481" cy="768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5" name="椭圆 14">
              <a:extLst>
                <a:ext uri="{FF2B5EF4-FFF2-40B4-BE49-F238E27FC236}">
                  <a16:creationId xmlns:a16="http://schemas.microsoft.com/office/drawing/2014/main" id="{61878D0E-3073-484C-8B5A-A1574B90D80F}"/>
                </a:ext>
              </a:extLst>
            </p:cNvPr>
            <p:cNvSpPr/>
            <p:nvPr/>
          </p:nvSpPr>
          <p:spPr>
            <a:xfrm>
              <a:off x="7238731" y="2452077"/>
              <a:ext cx="76829" cy="768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6" name="椭圆 15">
              <a:extLst>
                <a:ext uri="{FF2B5EF4-FFF2-40B4-BE49-F238E27FC236}">
                  <a16:creationId xmlns:a16="http://schemas.microsoft.com/office/drawing/2014/main" id="{CD5C0C0A-5973-48E7-A596-69BC5DF4B02D}"/>
                </a:ext>
              </a:extLst>
            </p:cNvPr>
            <p:cNvSpPr/>
            <p:nvPr/>
          </p:nvSpPr>
          <p:spPr>
            <a:xfrm>
              <a:off x="7620180" y="2452077"/>
              <a:ext cx="75481" cy="768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7" name="椭圆 16">
              <a:extLst>
                <a:ext uri="{FF2B5EF4-FFF2-40B4-BE49-F238E27FC236}">
                  <a16:creationId xmlns:a16="http://schemas.microsoft.com/office/drawing/2014/main" id="{6D164870-73A9-46EB-8634-06EF2D064297}"/>
                </a:ext>
              </a:extLst>
            </p:cNvPr>
            <p:cNvSpPr/>
            <p:nvPr/>
          </p:nvSpPr>
          <p:spPr>
            <a:xfrm>
              <a:off x="8077111" y="2452077"/>
              <a:ext cx="76829" cy="768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8" name="椭圆 17">
              <a:extLst>
                <a:ext uri="{FF2B5EF4-FFF2-40B4-BE49-F238E27FC236}">
                  <a16:creationId xmlns:a16="http://schemas.microsoft.com/office/drawing/2014/main" id="{F8CD152F-8AF3-4DDB-A585-2664A939ECC5}"/>
                </a:ext>
              </a:extLst>
            </p:cNvPr>
            <p:cNvSpPr/>
            <p:nvPr/>
          </p:nvSpPr>
          <p:spPr>
            <a:xfrm>
              <a:off x="8534041" y="2452077"/>
              <a:ext cx="76829" cy="768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19" name="椭圆 18">
              <a:extLst>
                <a:ext uri="{FF2B5EF4-FFF2-40B4-BE49-F238E27FC236}">
                  <a16:creationId xmlns:a16="http://schemas.microsoft.com/office/drawing/2014/main" id="{396BF10F-01FA-48EC-BF41-05B3E0ED384F}"/>
                </a:ext>
              </a:extLst>
            </p:cNvPr>
            <p:cNvSpPr/>
            <p:nvPr/>
          </p:nvSpPr>
          <p:spPr>
            <a:xfrm>
              <a:off x="6095731" y="2909277"/>
              <a:ext cx="76829" cy="768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0" name="椭圆 19">
              <a:extLst>
                <a:ext uri="{FF2B5EF4-FFF2-40B4-BE49-F238E27FC236}">
                  <a16:creationId xmlns:a16="http://schemas.microsoft.com/office/drawing/2014/main" id="{75078738-145C-4F3F-9FE0-667F1BA6FECE}"/>
                </a:ext>
              </a:extLst>
            </p:cNvPr>
            <p:cNvSpPr/>
            <p:nvPr/>
          </p:nvSpPr>
          <p:spPr>
            <a:xfrm>
              <a:off x="6629490" y="2909277"/>
              <a:ext cx="75481" cy="768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1" name="椭圆 20">
              <a:extLst>
                <a:ext uri="{FF2B5EF4-FFF2-40B4-BE49-F238E27FC236}">
                  <a16:creationId xmlns:a16="http://schemas.microsoft.com/office/drawing/2014/main" id="{A593727F-8F0D-4AE3-8EB4-FBA7A4BD9F00}"/>
                </a:ext>
              </a:extLst>
            </p:cNvPr>
            <p:cNvSpPr/>
            <p:nvPr/>
          </p:nvSpPr>
          <p:spPr>
            <a:xfrm>
              <a:off x="7010939" y="2909277"/>
              <a:ext cx="75481" cy="768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2" name="椭圆 21">
              <a:extLst>
                <a:ext uri="{FF2B5EF4-FFF2-40B4-BE49-F238E27FC236}">
                  <a16:creationId xmlns:a16="http://schemas.microsoft.com/office/drawing/2014/main" id="{983AD56A-6C8E-4EB7-97B0-5B60DBE84029}"/>
                </a:ext>
              </a:extLst>
            </p:cNvPr>
            <p:cNvSpPr/>
            <p:nvPr/>
          </p:nvSpPr>
          <p:spPr>
            <a:xfrm>
              <a:off x="7467870" y="2909277"/>
              <a:ext cx="75481" cy="768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3" name="椭圆 22">
              <a:extLst>
                <a:ext uri="{FF2B5EF4-FFF2-40B4-BE49-F238E27FC236}">
                  <a16:creationId xmlns:a16="http://schemas.microsoft.com/office/drawing/2014/main" id="{8F22BEB9-EEE9-40FC-B0D1-85E1009EA6E1}"/>
                </a:ext>
              </a:extLst>
            </p:cNvPr>
            <p:cNvSpPr/>
            <p:nvPr/>
          </p:nvSpPr>
          <p:spPr>
            <a:xfrm>
              <a:off x="7924800" y="2909277"/>
              <a:ext cx="76829" cy="768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5" name="椭圆 24">
              <a:extLst>
                <a:ext uri="{FF2B5EF4-FFF2-40B4-BE49-F238E27FC236}">
                  <a16:creationId xmlns:a16="http://schemas.microsoft.com/office/drawing/2014/main" id="{8B246CC0-2AD8-4352-94D2-86C5F09D38D9}"/>
                </a:ext>
              </a:extLst>
            </p:cNvPr>
            <p:cNvSpPr/>
            <p:nvPr/>
          </p:nvSpPr>
          <p:spPr>
            <a:xfrm>
              <a:off x="8306250" y="2909277"/>
              <a:ext cx="75481" cy="768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6" name="椭圆 25">
              <a:extLst>
                <a:ext uri="{FF2B5EF4-FFF2-40B4-BE49-F238E27FC236}">
                  <a16:creationId xmlns:a16="http://schemas.microsoft.com/office/drawing/2014/main" id="{1E8126FE-0CA0-47F1-94BB-EB4202B73494}"/>
                </a:ext>
              </a:extLst>
            </p:cNvPr>
            <p:cNvSpPr/>
            <p:nvPr/>
          </p:nvSpPr>
          <p:spPr>
            <a:xfrm>
              <a:off x="8763180" y="2909277"/>
              <a:ext cx="75481" cy="768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7" name="椭圆 26">
              <a:extLst>
                <a:ext uri="{FF2B5EF4-FFF2-40B4-BE49-F238E27FC236}">
                  <a16:creationId xmlns:a16="http://schemas.microsoft.com/office/drawing/2014/main" id="{7D143232-A389-4FE4-8DE6-3EA4A019685D}"/>
                </a:ext>
              </a:extLst>
            </p:cNvPr>
            <p:cNvSpPr/>
            <p:nvPr/>
          </p:nvSpPr>
          <p:spPr>
            <a:xfrm>
              <a:off x="6095731" y="3366477"/>
              <a:ext cx="76829" cy="768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8" name="椭圆 27">
              <a:extLst>
                <a:ext uri="{FF2B5EF4-FFF2-40B4-BE49-F238E27FC236}">
                  <a16:creationId xmlns:a16="http://schemas.microsoft.com/office/drawing/2014/main" id="{F0857391-A082-4B6C-942A-B2ABC42CC79A}"/>
                </a:ext>
              </a:extLst>
            </p:cNvPr>
            <p:cNvSpPr/>
            <p:nvPr/>
          </p:nvSpPr>
          <p:spPr>
            <a:xfrm>
              <a:off x="6629490" y="3366477"/>
              <a:ext cx="75481" cy="768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sp>
          <p:nvSpPr>
            <p:cNvPr id="29" name="椭圆 28">
              <a:extLst>
                <a:ext uri="{FF2B5EF4-FFF2-40B4-BE49-F238E27FC236}">
                  <a16:creationId xmlns:a16="http://schemas.microsoft.com/office/drawing/2014/main" id="{E9901391-AF7A-4464-8C56-FA6745EC92D8}"/>
                </a:ext>
              </a:extLst>
            </p:cNvPr>
            <p:cNvSpPr/>
            <p:nvPr/>
          </p:nvSpPr>
          <p:spPr>
            <a:xfrm>
              <a:off x="7924800" y="3366477"/>
              <a:ext cx="76829" cy="768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cxnSp>
          <p:nvCxnSpPr>
            <p:cNvPr id="30" name="直接箭头连接符 29">
              <a:extLst>
                <a:ext uri="{FF2B5EF4-FFF2-40B4-BE49-F238E27FC236}">
                  <a16:creationId xmlns:a16="http://schemas.microsoft.com/office/drawing/2014/main" id="{1A4DEC23-87AA-4443-A2BE-84CE7A3BBCC0}"/>
                </a:ext>
              </a:extLst>
            </p:cNvPr>
            <p:cNvCxnSpPr>
              <a:stCxn id="8" idx="3"/>
              <a:endCxn id="9" idx="7"/>
            </p:cNvCxnSpPr>
            <p:nvPr/>
          </p:nvCxnSpPr>
          <p:spPr>
            <a:xfrm rot="5400000">
              <a:off x="6885209" y="1488636"/>
              <a:ext cx="326943" cy="7089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CA585B04-3179-4784-8C38-4180FE0D93F2}"/>
                </a:ext>
              </a:extLst>
            </p:cNvPr>
            <p:cNvCxnSpPr>
              <a:stCxn id="8" idx="4"/>
              <a:endCxn id="11" idx="0"/>
            </p:cNvCxnSpPr>
            <p:nvPr/>
          </p:nvCxnSpPr>
          <p:spPr>
            <a:xfrm rot="5400000">
              <a:off x="7277055" y="1840456"/>
              <a:ext cx="304800" cy="404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387A389-F534-49F4-9F67-A3B5D05AF1CE}"/>
                </a:ext>
              </a:extLst>
            </p:cNvPr>
            <p:cNvCxnSpPr>
              <a:stCxn id="8" idx="4"/>
              <a:endCxn id="12" idx="0"/>
            </p:cNvCxnSpPr>
            <p:nvPr/>
          </p:nvCxnSpPr>
          <p:spPr>
            <a:xfrm>
              <a:off x="7467870" y="1690077"/>
              <a:ext cx="72381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0B9D6814-6FCA-4BFF-9885-878A11738652}"/>
                </a:ext>
              </a:extLst>
            </p:cNvPr>
            <p:cNvCxnSpPr>
              <a:stCxn id="9" idx="4"/>
              <a:endCxn id="13" idx="7"/>
            </p:cNvCxnSpPr>
            <p:nvPr/>
          </p:nvCxnSpPr>
          <p:spPr>
            <a:xfrm rot="5400000">
              <a:off x="6370778" y="2167347"/>
              <a:ext cx="392072" cy="2008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63309433-31A3-46C3-9497-1003E8BB2927}"/>
                </a:ext>
              </a:extLst>
            </p:cNvPr>
            <p:cNvCxnSpPr>
              <a:stCxn id="9" idx="5"/>
              <a:endCxn id="14" idx="1"/>
            </p:cNvCxnSpPr>
            <p:nvPr/>
          </p:nvCxnSpPr>
          <p:spPr>
            <a:xfrm rot="16200000" flipH="1">
              <a:off x="6579903" y="2174291"/>
              <a:ext cx="403795" cy="1752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E9E249DA-232B-45AA-89FA-3E716DF6DDAF}"/>
                </a:ext>
              </a:extLst>
            </p:cNvPr>
            <p:cNvCxnSpPr>
              <a:stCxn id="11" idx="4"/>
              <a:endCxn id="15" idx="0"/>
            </p:cNvCxnSpPr>
            <p:nvPr/>
          </p:nvCxnSpPr>
          <p:spPr>
            <a:xfrm rot="5400000">
              <a:off x="7163126" y="2185073"/>
              <a:ext cx="380349" cy="1536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B0D75F03-C350-48C1-8B1A-5DE62CB6331A}"/>
                </a:ext>
              </a:extLst>
            </p:cNvPr>
            <p:cNvCxnSpPr>
              <a:stCxn id="11" idx="4"/>
              <a:endCxn id="16" idx="1"/>
            </p:cNvCxnSpPr>
            <p:nvPr/>
          </p:nvCxnSpPr>
          <p:spPr>
            <a:xfrm rot="16200000" flipH="1">
              <a:off x="7334510" y="2167347"/>
              <a:ext cx="392072" cy="20083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79C59FBB-AE03-43C5-AE09-27D9D8E04822}"/>
                </a:ext>
              </a:extLst>
            </p:cNvPr>
            <p:cNvCxnSpPr>
              <a:stCxn id="12" idx="5"/>
              <a:endCxn id="17" idx="0"/>
            </p:cNvCxnSpPr>
            <p:nvPr/>
          </p:nvCxnSpPr>
          <p:spPr>
            <a:xfrm rot="5400000">
              <a:off x="7970709" y="2204148"/>
              <a:ext cx="392071" cy="1037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A322B6C5-CBA0-421A-AD30-5288B8B564A0}"/>
                </a:ext>
              </a:extLst>
            </p:cNvPr>
            <p:cNvCxnSpPr>
              <a:stCxn id="12" idx="5"/>
              <a:endCxn id="18" idx="1"/>
            </p:cNvCxnSpPr>
            <p:nvPr/>
          </p:nvCxnSpPr>
          <p:spPr>
            <a:xfrm rot="16200000" flipH="1">
              <a:off x="8180507" y="2098136"/>
              <a:ext cx="403795" cy="3275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41F94779-38A7-48AB-B6F1-B01D7BFD0F68}"/>
                </a:ext>
              </a:extLst>
            </p:cNvPr>
            <p:cNvCxnSpPr>
              <a:stCxn id="13" idx="3"/>
              <a:endCxn id="19" idx="7"/>
            </p:cNvCxnSpPr>
            <p:nvPr/>
          </p:nvCxnSpPr>
          <p:spPr>
            <a:xfrm rot="5400000">
              <a:off x="6084557" y="2593077"/>
              <a:ext cx="403795" cy="25205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A8BAA666-0E07-40D1-AA75-8D4D99A977AB}"/>
                </a:ext>
              </a:extLst>
            </p:cNvPr>
            <p:cNvCxnSpPr>
              <a:stCxn id="13" idx="5"/>
              <a:endCxn id="20" idx="2"/>
            </p:cNvCxnSpPr>
            <p:nvPr/>
          </p:nvCxnSpPr>
          <p:spPr>
            <a:xfrm rot="16200000" flipH="1">
              <a:off x="6332369" y="2651233"/>
              <a:ext cx="431149" cy="1630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1BF1DE27-D9A9-400F-8B9E-8DF4B1629203}"/>
                </a:ext>
              </a:extLst>
            </p:cNvPr>
            <p:cNvCxnSpPr>
              <a:stCxn id="14" idx="4"/>
              <a:endCxn id="20" idx="7"/>
            </p:cNvCxnSpPr>
            <p:nvPr/>
          </p:nvCxnSpPr>
          <p:spPr>
            <a:xfrm rot="5400000">
              <a:off x="6599244" y="2623874"/>
              <a:ext cx="392071" cy="2021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870810F2-533B-46A8-A8D7-3CB17F3FB134}"/>
                </a:ext>
              </a:extLst>
            </p:cNvPr>
            <p:cNvCxnSpPr>
              <a:stCxn id="14" idx="5"/>
              <a:endCxn id="21" idx="0"/>
            </p:cNvCxnSpPr>
            <p:nvPr/>
          </p:nvCxnSpPr>
          <p:spPr>
            <a:xfrm rot="16200000" flipH="1">
              <a:off x="6789968" y="2650565"/>
              <a:ext cx="392072" cy="1253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3" name="椭圆 42">
              <a:extLst>
                <a:ext uri="{FF2B5EF4-FFF2-40B4-BE49-F238E27FC236}">
                  <a16:creationId xmlns:a16="http://schemas.microsoft.com/office/drawing/2014/main" id="{012FAA33-2BCB-4204-BF72-A919B97FF09F}"/>
                </a:ext>
              </a:extLst>
            </p:cNvPr>
            <p:cNvSpPr/>
            <p:nvPr/>
          </p:nvSpPr>
          <p:spPr>
            <a:xfrm>
              <a:off x="7163250" y="2909277"/>
              <a:ext cx="75481" cy="768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Times New Roman"/>
                <a:ea typeface="黑体"/>
              </a:endParaRPr>
            </a:p>
          </p:txBody>
        </p:sp>
        <p:cxnSp>
          <p:nvCxnSpPr>
            <p:cNvPr id="44" name="直接箭头连接符 43">
              <a:extLst>
                <a:ext uri="{FF2B5EF4-FFF2-40B4-BE49-F238E27FC236}">
                  <a16:creationId xmlns:a16="http://schemas.microsoft.com/office/drawing/2014/main" id="{44125654-DE1C-4104-B9F7-237C356F144B}"/>
                </a:ext>
              </a:extLst>
            </p:cNvPr>
            <p:cNvCxnSpPr>
              <a:stCxn id="15" idx="4"/>
              <a:endCxn id="43" idx="0"/>
            </p:cNvCxnSpPr>
            <p:nvPr/>
          </p:nvCxnSpPr>
          <p:spPr>
            <a:xfrm rot="5400000">
              <a:off x="7048556" y="2681362"/>
              <a:ext cx="380349" cy="7548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8F226C08-5BD2-44A2-B2C9-DD548EEBF29E}"/>
                </a:ext>
              </a:extLst>
            </p:cNvPr>
            <p:cNvCxnSpPr>
              <a:stCxn id="16" idx="4"/>
              <a:endCxn id="22" idx="0"/>
            </p:cNvCxnSpPr>
            <p:nvPr/>
          </p:nvCxnSpPr>
          <p:spPr>
            <a:xfrm rot="5400000">
              <a:off x="7391591" y="2642948"/>
              <a:ext cx="380349" cy="1523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1841ABF4-170A-4B58-8911-C9CEAC0E6703}"/>
                </a:ext>
              </a:extLst>
            </p:cNvPr>
            <p:cNvCxnSpPr>
              <a:stCxn id="16" idx="5"/>
              <a:endCxn id="23" idx="2"/>
            </p:cNvCxnSpPr>
            <p:nvPr/>
          </p:nvCxnSpPr>
          <p:spPr>
            <a:xfrm rot="16200000" flipH="1">
              <a:off x="7589264" y="2612819"/>
              <a:ext cx="431149" cy="2399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5D3FE01E-44A7-490C-9DA0-0341137F8604}"/>
                </a:ext>
              </a:extLst>
            </p:cNvPr>
            <p:cNvCxnSpPr>
              <a:stCxn id="17" idx="4"/>
              <a:endCxn id="23" idx="7"/>
            </p:cNvCxnSpPr>
            <p:nvPr/>
          </p:nvCxnSpPr>
          <p:spPr>
            <a:xfrm rot="5400000">
              <a:off x="7856139" y="2662288"/>
              <a:ext cx="392071" cy="12535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23AD76BE-802D-44F7-A0B4-178AA0A8EBDB}"/>
                </a:ext>
              </a:extLst>
            </p:cNvPr>
            <p:cNvCxnSpPr>
              <a:stCxn id="17" idx="6"/>
              <a:endCxn id="25" idx="1"/>
            </p:cNvCxnSpPr>
            <p:nvPr/>
          </p:nvCxnSpPr>
          <p:spPr>
            <a:xfrm>
              <a:off x="8153939" y="2491154"/>
              <a:ext cx="163094" cy="4298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F8451D9E-BDF4-493F-8B2A-5581B082BCE5}"/>
                </a:ext>
              </a:extLst>
            </p:cNvPr>
            <p:cNvCxnSpPr>
              <a:stCxn id="18" idx="5"/>
              <a:endCxn id="26" idx="1"/>
            </p:cNvCxnSpPr>
            <p:nvPr/>
          </p:nvCxnSpPr>
          <p:spPr>
            <a:xfrm rot="16200000" flipH="1">
              <a:off x="8485127" y="2632165"/>
              <a:ext cx="403795" cy="173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6585F0B6-6F31-46D9-9E9A-0AB1BECFC707}"/>
                </a:ext>
              </a:extLst>
            </p:cNvPr>
            <p:cNvCxnSpPr>
              <a:stCxn id="19" idx="4"/>
              <a:endCxn id="27" idx="0"/>
            </p:cNvCxnSpPr>
            <p:nvPr/>
          </p:nvCxnSpPr>
          <p:spPr>
            <a:xfrm rot="5400000">
              <a:off x="5943971" y="3174280"/>
              <a:ext cx="380349" cy="404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53AC31B8-5A27-46D3-8886-BEF59F195818}"/>
                </a:ext>
              </a:extLst>
            </p:cNvPr>
            <p:cNvCxnSpPr>
              <a:stCxn id="20" idx="4"/>
              <a:endCxn id="28" idx="0"/>
            </p:cNvCxnSpPr>
            <p:nvPr/>
          </p:nvCxnSpPr>
          <p:spPr>
            <a:xfrm rot="5400000">
              <a:off x="6477056" y="3174954"/>
              <a:ext cx="380349" cy="26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3779126A-6BD4-4B93-A91E-EDADE35C0D42}"/>
                </a:ext>
              </a:extLst>
            </p:cNvPr>
            <p:cNvCxnSpPr>
              <a:stCxn id="23" idx="4"/>
              <a:endCxn id="29" idx="0"/>
            </p:cNvCxnSpPr>
            <p:nvPr/>
          </p:nvCxnSpPr>
          <p:spPr>
            <a:xfrm rot="5400000">
              <a:off x="7772367" y="3174954"/>
              <a:ext cx="380349" cy="26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3" name="TextBox 134">
              <a:extLst>
                <a:ext uri="{FF2B5EF4-FFF2-40B4-BE49-F238E27FC236}">
                  <a16:creationId xmlns:a16="http://schemas.microsoft.com/office/drawing/2014/main" id="{CF1569D3-FAA9-458A-8F5F-8937BD649661}"/>
                </a:ext>
              </a:extLst>
            </p:cNvPr>
            <p:cNvSpPr txBox="1">
              <a:spLocks noChangeArrowheads="1"/>
            </p:cNvSpPr>
            <p:nvPr/>
          </p:nvSpPr>
          <p:spPr bwMode="auto">
            <a:xfrm>
              <a:off x="7391400" y="1385888"/>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A</a:t>
              </a:r>
              <a:endParaRPr lang="zh-CN" altLang="en-US" sz="1400">
                <a:solidFill>
                  <a:prstClr val="black"/>
                </a:solidFill>
              </a:endParaRPr>
            </a:p>
          </p:txBody>
        </p:sp>
        <p:sp>
          <p:nvSpPr>
            <p:cNvPr id="54" name="TextBox 135">
              <a:extLst>
                <a:ext uri="{FF2B5EF4-FFF2-40B4-BE49-F238E27FC236}">
                  <a16:creationId xmlns:a16="http://schemas.microsoft.com/office/drawing/2014/main" id="{C679B45D-E1AE-4E0E-A850-63B0A7699AE7}"/>
                </a:ext>
              </a:extLst>
            </p:cNvPr>
            <p:cNvSpPr txBox="1">
              <a:spLocks noChangeArrowheads="1"/>
            </p:cNvSpPr>
            <p:nvPr/>
          </p:nvSpPr>
          <p:spPr bwMode="auto">
            <a:xfrm>
              <a:off x="6477000" y="1731963"/>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B</a:t>
              </a:r>
              <a:endParaRPr lang="zh-CN" altLang="en-US" sz="1400">
                <a:solidFill>
                  <a:prstClr val="black"/>
                </a:solidFill>
              </a:endParaRPr>
            </a:p>
          </p:txBody>
        </p:sp>
        <p:sp>
          <p:nvSpPr>
            <p:cNvPr id="55" name="TextBox 136">
              <a:extLst>
                <a:ext uri="{FF2B5EF4-FFF2-40B4-BE49-F238E27FC236}">
                  <a16:creationId xmlns:a16="http://schemas.microsoft.com/office/drawing/2014/main" id="{AA5E0EE3-4B33-4287-AC5A-D9E42D61AB6B}"/>
                </a:ext>
              </a:extLst>
            </p:cNvPr>
            <p:cNvSpPr txBox="1">
              <a:spLocks noChangeArrowheads="1"/>
            </p:cNvSpPr>
            <p:nvPr/>
          </p:nvSpPr>
          <p:spPr bwMode="auto">
            <a:xfrm>
              <a:off x="7391400" y="1766888"/>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C</a:t>
              </a:r>
              <a:endParaRPr lang="zh-CN" altLang="en-US" sz="1400">
                <a:solidFill>
                  <a:prstClr val="black"/>
                </a:solidFill>
              </a:endParaRPr>
            </a:p>
          </p:txBody>
        </p:sp>
        <p:sp>
          <p:nvSpPr>
            <p:cNvPr id="56" name="TextBox 155">
              <a:extLst>
                <a:ext uri="{FF2B5EF4-FFF2-40B4-BE49-F238E27FC236}">
                  <a16:creationId xmlns:a16="http://schemas.microsoft.com/office/drawing/2014/main" id="{FBA8FD99-5AA3-4595-9789-40CE576A339A}"/>
                </a:ext>
              </a:extLst>
            </p:cNvPr>
            <p:cNvSpPr txBox="1">
              <a:spLocks noChangeArrowheads="1"/>
            </p:cNvSpPr>
            <p:nvPr/>
          </p:nvSpPr>
          <p:spPr bwMode="auto">
            <a:xfrm>
              <a:off x="8153400" y="1766888"/>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D</a:t>
              </a:r>
              <a:endParaRPr lang="zh-CN" altLang="en-US" sz="1400">
                <a:solidFill>
                  <a:prstClr val="black"/>
                </a:solidFill>
              </a:endParaRPr>
            </a:p>
          </p:txBody>
        </p:sp>
        <p:sp>
          <p:nvSpPr>
            <p:cNvPr id="57" name="TextBox 156">
              <a:extLst>
                <a:ext uri="{FF2B5EF4-FFF2-40B4-BE49-F238E27FC236}">
                  <a16:creationId xmlns:a16="http://schemas.microsoft.com/office/drawing/2014/main" id="{DD14F87B-80FB-452A-BCBA-D8DE87178908}"/>
                </a:ext>
              </a:extLst>
            </p:cNvPr>
            <p:cNvSpPr txBox="1">
              <a:spLocks noChangeArrowheads="1"/>
            </p:cNvSpPr>
            <p:nvPr/>
          </p:nvSpPr>
          <p:spPr bwMode="auto">
            <a:xfrm>
              <a:off x="6172200" y="2224088"/>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E</a:t>
              </a:r>
              <a:endParaRPr lang="zh-CN" altLang="en-US" sz="1400">
                <a:solidFill>
                  <a:prstClr val="black"/>
                </a:solidFill>
              </a:endParaRPr>
            </a:p>
          </p:txBody>
        </p:sp>
        <p:sp>
          <p:nvSpPr>
            <p:cNvPr id="58" name="TextBox 157">
              <a:extLst>
                <a:ext uri="{FF2B5EF4-FFF2-40B4-BE49-F238E27FC236}">
                  <a16:creationId xmlns:a16="http://schemas.microsoft.com/office/drawing/2014/main" id="{A20CA7AE-916C-4B03-94F7-937C92D2C326}"/>
                </a:ext>
              </a:extLst>
            </p:cNvPr>
            <p:cNvSpPr txBox="1">
              <a:spLocks noChangeArrowheads="1"/>
            </p:cNvSpPr>
            <p:nvPr/>
          </p:nvSpPr>
          <p:spPr bwMode="auto">
            <a:xfrm>
              <a:off x="6858000" y="2224088"/>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F</a:t>
              </a:r>
              <a:endParaRPr lang="zh-CN" altLang="en-US" sz="1400">
                <a:solidFill>
                  <a:prstClr val="black"/>
                </a:solidFill>
              </a:endParaRPr>
            </a:p>
          </p:txBody>
        </p:sp>
        <p:sp>
          <p:nvSpPr>
            <p:cNvPr id="59" name="TextBox 158">
              <a:extLst>
                <a:ext uri="{FF2B5EF4-FFF2-40B4-BE49-F238E27FC236}">
                  <a16:creationId xmlns:a16="http://schemas.microsoft.com/office/drawing/2014/main" id="{22158661-62C7-4364-9834-824006D60F79}"/>
                </a:ext>
              </a:extLst>
            </p:cNvPr>
            <p:cNvSpPr txBox="1">
              <a:spLocks noChangeArrowheads="1"/>
            </p:cNvSpPr>
            <p:nvPr/>
          </p:nvSpPr>
          <p:spPr bwMode="auto">
            <a:xfrm>
              <a:off x="7010400" y="2224088"/>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G</a:t>
              </a:r>
              <a:endParaRPr lang="zh-CN" altLang="en-US" sz="1400">
                <a:solidFill>
                  <a:prstClr val="black"/>
                </a:solidFill>
              </a:endParaRPr>
            </a:p>
          </p:txBody>
        </p:sp>
        <p:sp>
          <p:nvSpPr>
            <p:cNvPr id="60" name="TextBox 159">
              <a:extLst>
                <a:ext uri="{FF2B5EF4-FFF2-40B4-BE49-F238E27FC236}">
                  <a16:creationId xmlns:a16="http://schemas.microsoft.com/office/drawing/2014/main" id="{6DD6B26B-98BF-445F-8C6E-F769C129B4F2}"/>
                </a:ext>
              </a:extLst>
            </p:cNvPr>
            <p:cNvSpPr txBox="1">
              <a:spLocks noChangeArrowheads="1"/>
            </p:cNvSpPr>
            <p:nvPr/>
          </p:nvSpPr>
          <p:spPr bwMode="auto">
            <a:xfrm>
              <a:off x="7620000" y="2224088"/>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H</a:t>
              </a:r>
              <a:endParaRPr lang="zh-CN" altLang="en-US" sz="1400">
                <a:solidFill>
                  <a:prstClr val="black"/>
                </a:solidFill>
              </a:endParaRPr>
            </a:p>
          </p:txBody>
        </p:sp>
        <p:sp>
          <p:nvSpPr>
            <p:cNvPr id="61" name="TextBox 160">
              <a:extLst>
                <a:ext uri="{FF2B5EF4-FFF2-40B4-BE49-F238E27FC236}">
                  <a16:creationId xmlns:a16="http://schemas.microsoft.com/office/drawing/2014/main" id="{D43CFD8B-0A11-4E81-BB0A-CE1BEE3F87AB}"/>
                </a:ext>
              </a:extLst>
            </p:cNvPr>
            <p:cNvSpPr txBox="1">
              <a:spLocks noChangeArrowheads="1"/>
            </p:cNvSpPr>
            <p:nvPr/>
          </p:nvSpPr>
          <p:spPr bwMode="auto">
            <a:xfrm>
              <a:off x="7848600" y="2224088"/>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I</a:t>
              </a:r>
              <a:endParaRPr lang="zh-CN" altLang="en-US" sz="1400">
                <a:solidFill>
                  <a:prstClr val="black"/>
                </a:solidFill>
              </a:endParaRPr>
            </a:p>
          </p:txBody>
        </p:sp>
        <p:sp>
          <p:nvSpPr>
            <p:cNvPr id="62" name="TextBox 161">
              <a:extLst>
                <a:ext uri="{FF2B5EF4-FFF2-40B4-BE49-F238E27FC236}">
                  <a16:creationId xmlns:a16="http://schemas.microsoft.com/office/drawing/2014/main" id="{335CFD25-9590-40CF-8B6B-865552E6573D}"/>
                </a:ext>
              </a:extLst>
            </p:cNvPr>
            <p:cNvSpPr txBox="1">
              <a:spLocks noChangeArrowheads="1"/>
            </p:cNvSpPr>
            <p:nvPr/>
          </p:nvSpPr>
          <p:spPr bwMode="auto">
            <a:xfrm>
              <a:off x="8534400" y="2224088"/>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J</a:t>
              </a:r>
              <a:endParaRPr lang="zh-CN" altLang="en-US" sz="1400">
                <a:solidFill>
                  <a:prstClr val="black"/>
                </a:solidFill>
              </a:endParaRPr>
            </a:p>
          </p:txBody>
        </p:sp>
        <p:sp>
          <p:nvSpPr>
            <p:cNvPr id="63" name="TextBox 162">
              <a:extLst>
                <a:ext uri="{FF2B5EF4-FFF2-40B4-BE49-F238E27FC236}">
                  <a16:creationId xmlns:a16="http://schemas.microsoft.com/office/drawing/2014/main" id="{211399CB-C677-4862-ACAB-354A8CAD4F0B}"/>
                </a:ext>
              </a:extLst>
            </p:cNvPr>
            <p:cNvSpPr txBox="1">
              <a:spLocks noChangeArrowheads="1"/>
            </p:cNvSpPr>
            <p:nvPr/>
          </p:nvSpPr>
          <p:spPr bwMode="auto">
            <a:xfrm>
              <a:off x="5867400" y="2754313"/>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K</a:t>
              </a:r>
              <a:endParaRPr lang="zh-CN" altLang="en-US" sz="1400">
                <a:solidFill>
                  <a:prstClr val="black"/>
                </a:solidFill>
              </a:endParaRPr>
            </a:p>
          </p:txBody>
        </p:sp>
        <p:sp>
          <p:nvSpPr>
            <p:cNvPr id="64" name="TextBox 163">
              <a:extLst>
                <a:ext uri="{FF2B5EF4-FFF2-40B4-BE49-F238E27FC236}">
                  <a16:creationId xmlns:a16="http://schemas.microsoft.com/office/drawing/2014/main" id="{AD9CB930-492D-4740-A7A9-0F72F3613096}"/>
                </a:ext>
              </a:extLst>
            </p:cNvPr>
            <p:cNvSpPr txBox="1">
              <a:spLocks noChangeArrowheads="1"/>
            </p:cNvSpPr>
            <p:nvPr/>
          </p:nvSpPr>
          <p:spPr bwMode="auto">
            <a:xfrm>
              <a:off x="6324600" y="2754313"/>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L</a:t>
              </a:r>
              <a:endParaRPr lang="zh-CN" altLang="en-US" sz="1400">
                <a:solidFill>
                  <a:prstClr val="black"/>
                </a:solidFill>
              </a:endParaRPr>
            </a:p>
          </p:txBody>
        </p:sp>
        <p:sp>
          <p:nvSpPr>
            <p:cNvPr id="65" name="TextBox 164">
              <a:extLst>
                <a:ext uri="{FF2B5EF4-FFF2-40B4-BE49-F238E27FC236}">
                  <a16:creationId xmlns:a16="http://schemas.microsoft.com/office/drawing/2014/main" id="{D7610184-A32F-4E41-B28E-CFEF4947D0A0}"/>
                </a:ext>
              </a:extLst>
            </p:cNvPr>
            <p:cNvSpPr txBox="1">
              <a:spLocks noChangeArrowheads="1"/>
            </p:cNvSpPr>
            <p:nvPr/>
          </p:nvSpPr>
          <p:spPr bwMode="auto">
            <a:xfrm>
              <a:off x="6705600" y="2757488"/>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M</a:t>
              </a:r>
              <a:endParaRPr lang="zh-CN" altLang="en-US" sz="1400">
                <a:solidFill>
                  <a:prstClr val="black"/>
                </a:solidFill>
              </a:endParaRPr>
            </a:p>
          </p:txBody>
        </p:sp>
        <p:sp>
          <p:nvSpPr>
            <p:cNvPr id="66" name="TextBox 165">
              <a:extLst>
                <a:ext uri="{FF2B5EF4-FFF2-40B4-BE49-F238E27FC236}">
                  <a16:creationId xmlns:a16="http://schemas.microsoft.com/office/drawing/2014/main" id="{CF613B41-DFDC-4385-A727-7F09062D4016}"/>
                </a:ext>
              </a:extLst>
            </p:cNvPr>
            <p:cNvSpPr txBox="1">
              <a:spLocks noChangeArrowheads="1"/>
            </p:cNvSpPr>
            <p:nvPr/>
          </p:nvSpPr>
          <p:spPr bwMode="auto">
            <a:xfrm>
              <a:off x="7162800" y="2757488"/>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N</a:t>
              </a:r>
              <a:endParaRPr lang="zh-CN" altLang="en-US" sz="1400">
                <a:solidFill>
                  <a:prstClr val="black"/>
                </a:solidFill>
              </a:endParaRPr>
            </a:p>
          </p:txBody>
        </p:sp>
        <p:sp>
          <p:nvSpPr>
            <p:cNvPr id="67" name="TextBox 166">
              <a:extLst>
                <a:ext uri="{FF2B5EF4-FFF2-40B4-BE49-F238E27FC236}">
                  <a16:creationId xmlns:a16="http://schemas.microsoft.com/office/drawing/2014/main" id="{274305DE-80A3-47A3-8124-F899FBFB28DF}"/>
                </a:ext>
              </a:extLst>
            </p:cNvPr>
            <p:cNvSpPr txBox="1">
              <a:spLocks noChangeArrowheads="1"/>
            </p:cNvSpPr>
            <p:nvPr/>
          </p:nvSpPr>
          <p:spPr bwMode="auto">
            <a:xfrm>
              <a:off x="7543800" y="2757488"/>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O</a:t>
              </a:r>
              <a:endParaRPr lang="zh-CN" altLang="en-US" sz="1400">
                <a:solidFill>
                  <a:prstClr val="black"/>
                </a:solidFill>
              </a:endParaRPr>
            </a:p>
          </p:txBody>
        </p:sp>
        <p:sp>
          <p:nvSpPr>
            <p:cNvPr id="68" name="TextBox 167">
              <a:extLst>
                <a:ext uri="{FF2B5EF4-FFF2-40B4-BE49-F238E27FC236}">
                  <a16:creationId xmlns:a16="http://schemas.microsoft.com/office/drawing/2014/main" id="{DF50D238-3C44-4EB8-9831-CB381B8949DD}"/>
                </a:ext>
              </a:extLst>
            </p:cNvPr>
            <p:cNvSpPr txBox="1">
              <a:spLocks noChangeArrowheads="1"/>
            </p:cNvSpPr>
            <p:nvPr/>
          </p:nvSpPr>
          <p:spPr bwMode="auto">
            <a:xfrm>
              <a:off x="8001000" y="2757488"/>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P</a:t>
              </a:r>
              <a:endParaRPr lang="zh-CN" altLang="en-US" sz="1400">
                <a:solidFill>
                  <a:prstClr val="black"/>
                </a:solidFill>
              </a:endParaRPr>
            </a:p>
          </p:txBody>
        </p:sp>
        <p:sp>
          <p:nvSpPr>
            <p:cNvPr id="69" name="TextBox 168">
              <a:extLst>
                <a:ext uri="{FF2B5EF4-FFF2-40B4-BE49-F238E27FC236}">
                  <a16:creationId xmlns:a16="http://schemas.microsoft.com/office/drawing/2014/main" id="{AC55C8E6-E273-4B2C-A761-97F1F2F8A7D4}"/>
                </a:ext>
              </a:extLst>
            </p:cNvPr>
            <p:cNvSpPr txBox="1">
              <a:spLocks noChangeArrowheads="1"/>
            </p:cNvSpPr>
            <p:nvPr/>
          </p:nvSpPr>
          <p:spPr bwMode="auto">
            <a:xfrm>
              <a:off x="8382000" y="2757488"/>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Q</a:t>
              </a:r>
              <a:endParaRPr lang="zh-CN" altLang="en-US" sz="1400">
                <a:solidFill>
                  <a:prstClr val="black"/>
                </a:solidFill>
              </a:endParaRPr>
            </a:p>
          </p:txBody>
        </p:sp>
        <p:sp>
          <p:nvSpPr>
            <p:cNvPr id="70" name="TextBox 169">
              <a:extLst>
                <a:ext uri="{FF2B5EF4-FFF2-40B4-BE49-F238E27FC236}">
                  <a16:creationId xmlns:a16="http://schemas.microsoft.com/office/drawing/2014/main" id="{7B50CB51-E449-4359-8F95-0FE864025813}"/>
                </a:ext>
              </a:extLst>
            </p:cNvPr>
            <p:cNvSpPr txBox="1">
              <a:spLocks noChangeArrowheads="1"/>
            </p:cNvSpPr>
            <p:nvPr/>
          </p:nvSpPr>
          <p:spPr bwMode="auto">
            <a:xfrm>
              <a:off x="8763000" y="2757488"/>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R</a:t>
              </a:r>
              <a:endParaRPr lang="zh-CN" altLang="en-US" sz="1400">
                <a:solidFill>
                  <a:prstClr val="black"/>
                </a:solidFill>
              </a:endParaRPr>
            </a:p>
          </p:txBody>
        </p:sp>
        <p:sp>
          <p:nvSpPr>
            <p:cNvPr id="71" name="TextBox 170">
              <a:extLst>
                <a:ext uri="{FF2B5EF4-FFF2-40B4-BE49-F238E27FC236}">
                  <a16:creationId xmlns:a16="http://schemas.microsoft.com/office/drawing/2014/main" id="{DEAAF73D-94B9-44B5-9D8E-9E31D2C744DD}"/>
                </a:ext>
              </a:extLst>
            </p:cNvPr>
            <p:cNvSpPr txBox="1">
              <a:spLocks noChangeArrowheads="1"/>
            </p:cNvSpPr>
            <p:nvPr/>
          </p:nvSpPr>
          <p:spPr bwMode="auto">
            <a:xfrm>
              <a:off x="5867400" y="3287713"/>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S</a:t>
              </a:r>
              <a:endParaRPr lang="zh-CN" altLang="en-US" sz="1400">
                <a:solidFill>
                  <a:prstClr val="black"/>
                </a:solidFill>
              </a:endParaRPr>
            </a:p>
          </p:txBody>
        </p:sp>
        <p:sp>
          <p:nvSpPr>
            <p:cNvPr id="72" name="TextBox 171">
              <a:extLst>
                <a:ext uri="{FF2B5EF4-FFF2-40B4-BE49-F238E27FC236}">
                  <a16:creationId xmlns:a16="http://schemas.microsoft.com/office/drawing/2014/main" id="{556410E8-726E-4AE8-B0AD-D60FEC6C3BE1}"/>
                </a:ext>
              </a:extLst>
            </p:cNvPr>
            <p:cNvSpPr txBox="1">
              <a:spLocks noChangeArrowheads="1"/>
            </p:cNvSpPr>
            <p:nvPr/>
          </p:nvSpPr>
          <p:spPr bwMode="auto">
            <a:xfrm>
              <a:off x="6400800" y="3287713"/>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T</a:t>
              </a:r>
              <a:endParaRPr lang="zh-CN" altLang="en-US" sz="1400">
                <a:solidFill>
                  <a:prstClr val="black"/>
                </a:solidFill>
              </a:endParaRPr>
            </a:p>
          </p:txBody>
        </p:sp>
        <p:sp>
          <p:nvSpPr>
            <p:cNvPr id="73" name="TextBox 172">
              <a:extLst>
                <a:ext uri="{FF2B5EF4-FFF2-40B4-BE49-F238E27FC236}">
                  <a16:creationId xmlns:a16="http://schemas.microsoft.com/office/drawing/2014/main" id="{8D972C1E-888C-424D-B4AD-C71898092066}"/>
                </a:ext>
              </a:extLst>
            </p:cNvPr>
            <p:cNvSpPr txBox="1">
              <a:spLocks noChangeArrowheads="1"/>
            </p:cNvSpPr>
            <p:nvPr/>
          </p:nvSpPr>
          <p:spPr bwMode="auto">
            <a:xfrm>
              <a:off x="7696200" y="3287713"/>
              <a:ext cx="304800" cy="29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a:solidFill>
                    <a:prstClr val="black"/>
                  </a:solidFill>
                </a:rPr>
                <a:t>U</a:t>
              </a:r>
              <a:endParaRPr lang="zh-CN" altLang="en-US" sz="1400">
                <a:solidFill>
                  <a:prstClr val="black"/>
                </a:solidFill>
              </a:endParaRPr>
            </a:p>
          </p:txBody>
        </p:sp>
      </p:grpSp>
      <p:sp>
        <p:nvSpPr>
          <p:cNvPr id="74" name="内容占位符 2">
            <a:extLst>
              <a:ext uri="{FF2B5EF4-FFF2-40B4-BE49-F238E27FC236}">
                <a16:creationId xmlns:a16="http://schemas.microsoft.com/office/drawing/2014/main" id="{88FF7E73-FBE4-4E51-8E85-6044B60B3FB1}"/>
              </a:ext>
            </a:extLst>
          </p:cNvPr>
          <p:cNvSpPr txBox="1">
            <a:spLocks noChangeArrowheads="1"/>
          </p:cNvSpPr>
          <p:nvPr/>
        </p:nvSpPr>
        <p:spPr bwMode="auto">
          <a:xfrm>
            <a:off x="1890621" y="1777982"/>
            <a:ext cx="80772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lnSpc>
                <a:spcPct val="125000"/>
              </a:lnSpc>
              <a:buClr>
                <a:srgbClr val="EEECE1"/>
              </a:buClr>
            </a:pPr>
            <a:r>
              <a:rPr lang="en-US" altLang="zh-CN" sz="2400" b="1" dirty="0">
                <a:solidFill>
                  <a:srgbClr val="0000FF"/>
                </a:solidFill>
                <a:latin typeface="宋体" panose="02010600030101010101" pitchFamily="2" charset="-122"/>
              </a:rPr>
              <a:t>OPEN=[A];CLOSED=[]</a:t>
            </a:r>
          </a:p>
          <a:p>
            <a:pPr eaLnBrk="0" hangingPunct="0">
              <a:lnSpc>
                <a:spcPct val="125000"/>
              </a:lnSpc>
              <a:buClr>
                <a:srgbClr val="EEECE1"/>
              </a:buClr>
            </a:pPr>
            <a:r>
              <a:rPr lang="en-US" altLang="zh-CN" sz="2400" b="1" dirty="0">
                <a:solidFill>
                  <a:srgbClr val="0000FF"/>
                </a:solidFill>
                <a:latin typeface="宋体" panose="02010600030101010101" pitchFamily="2" charset="-122"/>
              </a:rPr>
              <a:t>OPEN=[B,E,K,S];CLOSED=[A]</a:t>
            </a:r>
          </a:p>
          <a:p>
            <a:pPr eaLnBrk="0" hangingPunct="0">
              <a:lnSpc>
                <a:spcPct val="125000"/>
              </a:lnSpc>
              <a:buClr>
                <a:srgbClr val="EEECE1"/>
              </a:buClr>
            </a:pPr>
            <a:r>
              <a:rPr lang="en-US" altLang="zh-CN" sz="2400" b="1" dirty="0">
                <a:solidFill>
                  <a:srgbClr val="0000FF"/>
                </a:solidFill>
                <a:latin typeface="宋体" panose="02010600030101010101" pitchFamily="2" charset="-122"/>
              </a:rPr>
              <a:t>OPEN=[B,L,T];CLOSED=[E,K,S,A]</a:t>
            </a:r>
          </a:p>
          <a:p>
            <a:pPr eaLnBrk="0" hangingPunct="0">
              <a:lnSpc>
                <a:spcPct val="125000"/>
              </a:lnSpc>
              <a:buClr>
                <a:srgbClr val="EEECE1"/>
              </a:buClr>
            </a:pPr>
            <a:r>
              <a:rPr lang="en-US" altLang="zh-CN" sz="2400" dirty="0">
                <a:solidFill>
                  <a:prstClr val="black"/>
                </a:solidFill>
                <a:latin typeface="宋体" panose="02010600030101010101" pitchFamily="2" charset="-122"/>
              </a:rPr>
              <a:t>…</a:t>
            </a:r>
          </a:p>
          <a:p>
            <a:pPr eaLnBrk="0" hangingPunct="0">
              <a:lnSpc>
                <a:spcPct val="125000"/>
              </a:lnSpc>
              <a:buClr>
                <a:srgbClr val="EEECE1"/>
              </a:buClr>
            </a:pPr>
            <a:r>
              <a:rPr lang="zh-CN" altLang="en-US" sz="2400" dirty="0">
                <a:solidFill>
                  <a:prstClr val="black"/>
                </a:solidFill>
                <a:latin typeface="宋体" panose="02010600030101010101" pitchFamily="2" charset="-122"/>
              </a:rPr>
              <a:t>以此类推直到找到目标或</a:t>
            </a:r>
            <a:r>
              <a:rPr lang="en-US" altLang="zh-CN" sz="2400" dirty="0">
                <a:solidFill>
                  <a:prstClr val="black"/>
                </a:solidFill>
                <a:latin typeface="宋体" panose="02010600030101010101" pitchFamily="2" charset="-122"/>
              </a:rPr>
              <a:t>OPEN=[]</a:t>
            </a:r>
            <a:endParaRPr lang="zh-CN" altLang="en-US" sz="2400" dirty="0">
              <a:solidFill>
                <a:prstClr val="black"/>
              </a:solidFill>
              <a:latin typeface="宋体" panose="02010600030101010101" pitchFamily="2" charset="-122"/>
            </a:endParaRPr>
          </a:p>
        </p:txBody>
      </p:sp>
    </p:spTree>
    <p:extLst>
      <p:ext uri="{BB962C8B-B14F-4D97-AF65-F5344CB8AC3E}">
        <p14:creationId xmlns:p14="http://schemas.microsoft.com/office/powerpoint/2010/main" val="3149476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1000"/>
                                        <p:tgtEl>
                                          <p:spTgt spid="1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74">
                                            <p:txEl>
                                              <p:pRg st="0" end="0"/>
                                            </p:txEl>
                                          </p:spTgt>
                                        </p:tgtEl>
                                        <p:attrNameLst>
                                          <p:attrName>style.visibility</p:attrName>
                                        </p:attrNameLst>
                                      </p:cBhvr>
                                      <p:to>
                                        <p:strVal val="visible"/>
                                      </p:to>
                                    </p:set>
                                    <p:animEffect transition="in" filter="fade">
                                      <p:cBhvr>
                                        <p:cTn id="16" dur="1000"/>
                                        <p:tgtEl>
                                          <p:spTgt spid="74">
                                            <p:txEl>
                                              <p:pRg st="0" end="0"/>
                                            </p:txEl>
                                          </p:spTgt>
                                        </p:tgtEl>
                                      </p:cBhvr>
                                    </p:animEffect>
                                    <p:anim calcmode="lin" valueType="num">
                                      <p:cBhvr>
                                        <p:cTn id="17" dur="1000" fill="hold"/>
                                        <p:tgtEl>
                                          <p:spTgt spid="74">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7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74">
                                            <p:txEl>
                                              <p:pRg st="1" end="1"/>
                                            </p:txEl>
                                          </p:spTgt>
                                        </p:tgtEl>
                                        <p:attrNameLst>
                                          <p:attrName>style.visibility</p:attrName>
                                        </p:attrNameLst>
                                      </p:cBhvr>
                                      <p:to>
                                        <p:strVal val="visible"/>
                                      </p:to>
                                    </p:set>
                                    <p:animEffect transition="in" filter="fade">
                                      <p:cBhvr>
                                        <p:cTn id="23" dur="1000"/>
                                        <p:tgtEl>
                                          <p:spTgt spid="74">
                                            <p:txEl>
                                              <p:pRg st="1" end="1"/>
                                            </p:txEl>
                                          </p:spTgt>
                                        </p:tgtEl>
                                      </p:cBhvr>
                                    </p:animEffect>
                                    <p:anim calcmode="lin" valueType="num">
                                      <p:cBhvr>
                                        <p:cTn id="24" dur="1000" fill="hold"/>
                                        <p:tgtEl>
                                          <p:spTgt spid="74">
                                            <p:txEl>
                                              <p:pRg st="1" end="1"/>
                                            </p:txEl>
                                          </p:spTgt>
                                        </p:tgtEl>
                                        <p:attrNameLst>
                                          <p:attrName>ppt_x</p:attrName>
                                        </p:attrNameLst>
                                      </p:cBhvr>
                                      <p:tavLst>
                                        <p:tav tm="0">
                                          <p:val>
                                            <p:strVal val="#ppt_x"/>
                                          </p:val>
                                        </p:tav>
                                        <p:tav tm="100000">
                                          <p:val>
                                            <p:strVal val="#ppt_x"/>
                                          </p:val>
                                        </p:tav>
                                      </p:tavLst>
                                    </p:anim>
                                    <p:anim calcmode="lin" valueType="num">
                                      <p:cBhvr>
                                        <p:cTn id="25" dur="1000" fill="hold"/>
                                        <p:tgtEl>
                                          <p:spTgt spid="7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74">
                                            <p:txEl>
                                              <p:pRg st="2" end="2"/>
                                            </p:txEl>
                                          </p:spTgt>
                                        </p:tgtEl>
                                        <p:attrNameLst>
                                          <p:attrName>style.visibility</p:attrName>
                                        </p:attrNameLst>
                                      </p:cBhvr>
                                      <p:to>
                                        <p:strVal val="visible"/>
                                      </p:to>
                                    </p:set>
                                    <p:animEffect transition="in" filter="fade">
                                      <p:cBhvr>
                                        <p:cTn id="30" dur="1000"/>
                                        <p:tgtEl>
                                          <p:spTgt spid="74">
                                            <p:txEl>
                                              <p:pRg st="2" end="2"/>
                                            </p:txEl>
                                          </p:spTgt>
                                        </p:tgtEl>
                                      </p:cBhvr>
                                    </p:animEffect>
                                    <p:anim calcmode="lin" valueType="num">
                                      <p:cBhvr>
                                        <p:cTn id="31" dur="1000" fill="hold"/>
                                        <p:tgtEl>
                                          <p:spTgt spid="74">
                                            <p:txEl>
                                              <p:pRg st="2" end="2"/>
                                            </p:txEl>
                                          </p:spTgt>
                                        </p:tgtEl>
                                        <p:attrNameLst>
                                          <p:attrName>ppt_x</p:attrName>
                                        </p:attrNameLst>
                                      </p:cBhvr>
                                      <p:tavLst>
                                        <p:tav tm="0">
                                          <p:val>
                                            <p:strVal val="#ppt_x"/>
                                          </p:val>
                                        </p:tav>
                                        <p:tav tm="100000">
                                          <p:val>
                                            <p:strVal val="#ppt_x"/>
                                          </p:val>
                                        </p:tav>
                                      </p:tavLst>
                                    </p:anim>
                                    <p:anim calcmode="lin" valueType="num">
                                      <p:cBhvr>
                                        <p:cTn id="32" dur="1000" fill="hold"/>
                                        <p:tgtEl>
                                          <p:spTgt spid="7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74">
                                            <p:txEl>
                                              <p:pRg st="3" end="3"/>
                                            </p:txEl>
                                          </p:spTgt>
                                        </p:tgtEl>
                                        <p:attrNameLst>
                                          <p:attrName>style.visibility</p:attrName>
                                        </p:attrNameLst>
                                      </p:cBhvr>
                                      <p:to>
                                        <p:strVal val="visible"/>
                                      </p:to>
                                    </p:set>
                                    <p:animEffect transition="in" filter="fade">
                                      <p:cBhvr>
                                        <p:cTn id="37" dur="1000"/>
                                        <p:tgtEl>
                                          <p:spTgt spid="74">
                                            <p:txEl>
                                              <p:pRg st="3" end="3"/>
                                            </p:txEl>
                                          </p:spTgt>
                                        </p:tgtEl>
                                      </p:cBhvr>
                                    </p:animEffect>
                                    <p:anim calcmode="lin" valueType="num">
                                      <p:cBhvr>
                                        <p:cTn id="38" dur="1000" fill="hold"/>
                                        <p:tgtEl>
                                          <p:spTgt spid="74">
                                            <p:txEl>
                                              <p:pRg st="3" end="3"/>
                                            </p:txEl>
                                          </p:spTgt>
                                        </p:tgtEl>
                                        <p:attrNameLst>
                                          <p:attrName>ppt_x</p:attrName>
                                        </p:attrNameLst>
                                      </p:cBhvr>
                                      <p:tavLst>
                                        <p:tav tm="0">
                                          <p:val>
                                            <p:strVal val="#ppt_x"/>
                                          </p:val>
                                        </p:tav>
                                        <p:tav tm="100000">
                                          <p:val>
                                            <p:strVal val="#ppt_x"/>
                                          </p:val>
                                        </p:tav>
                                      </p:tavLst>
                                    </p:anim>
                                    <p:anim calcmode="lin" valueType="num">
                                      <p:cBhvr>
                                        <p:cTn id="39" dur="1000" fill="hold"/>
                                        <p:tgtEl>
                                          <p:spTgt spid="74">
                                            <p:txEl>
                                              <p:pRg st="3" end="3"/>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74">
                                            <p:txEl>
                                              <p:pRg st="4" end="4"/>
                                            </p:txEl>
                                          </p:spTgt>
                                        </p:tgtEl>
                                        <p:attrNameLst>
                                          <p:attrName>style.visibility</p:attrName>
                                        </p:attrNameLst>
                                      </p:cBhvr>
                                      <p:to>
                                        <p:strVal val="visible"/>
                                      </p:to>
                                    </p:set>
                                    <p:animEffect transition="in" filter="fade">
                                      <p:cBhvr>
                                        <p:cTn id="42" dur="1000"/>
                                        <p:tgtEl>
                                          <p:spTgt spid="74">
                                            <p:txEl>
                                              <p:pRg st="4" end="4"/>
                                            </p:txEl>
                                          </p:spTgt>
                                        </p:tgtEl>
                                      </p:cBhvr>
                                    </p:animEffect>
                                    <p:anim calcmode="lin" valueType="num">
                                      <p:cBhvr>
                                        <p:cTn id="43" dur="1000" fill="hold"/>
                                        <p:tgtEl>
                                          <p:spTgt spid="74">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盲目搜索</a:t>
            </a:r>
          </a:p>
        </p:txBody>
      </p:sp>
      <p:sp>
        <p:nvSpPr>
          <p:cNvPr id="10" name="文本框 9">
            <a:extLst>
              <a:ext uri="{FF2B5EF4-FFF2-40B4-BE49-F238E27FC236}">
                <a16:creationId xmlns:a16="http://schemas.microsoft.com/office/drawing/2014/main" id="{7C183DD3-8DEA-4776-A786-113EA8A27F22}"/>
              </a:ext>
            </a:extLst>
          </p:cNvPr>
          <p:cNvSpPr txBox="1"/>
          <p:nvPr/>
        </p:nvSpPr>
        <p:spPr>
          <a:xfrm>
            <a:off x="1931321" y="865162"/>
            <a:ext cx="8105856" cy="784638"/>
          </a:xfrm>
          <a:prstGeom prst="rect">
            <a:avLst/>
          </a:prstGeom>
          <a:noFill/>
        </p:spPr>
        <p:txBody>
          <a:bodyPr wrap="square">
            <a:spAutoFit/>
          </a:bodyPr>
          <a:lstStyle/>
          <a:p>
            <a:pPr>
              <a:lnSpc>
                <a:spcPct val="150000"/>
              </a:lnSpc>
            </a:pPr>
            <a:r>
              <a:rPr lang="zh-CN" altLang="en-US" sz="3600" dirty="0">
                <a:solidFill>
                  <a:srgbClr val="C00000"/>
                </a:solidFill>
                <a:latin typeface="方正姚体" panose="02010601030101010101" pitchFamily="2" charset="-122"/>
                <a:ea typeface="方正姚体" panose="02010601030101010101" pitchFamily="2" charset="-122"/>
              </a:rPr>
              <a:t>深度优先搜索算法</a:t>
            </a:r>
          </a:p>
        </p:txBody>
      </p:sp>
      <p:sp>
        <p:nvSpPr>
          <p:cNvPr id="72" name="内容占位符 2">
            <a:extLst>
              <a:ext uri="{FF2B5EF4-FFF2-40B4-BE49-F238E27FC236}">
                <a16:creationId xmlns:a16="http://schemas.microsoft.com/office/drawing/2014/main" id="{705AFE65-61AF-44CB-BFFD-96A3CAAD61D5}"/>
              </a:ext>
            </a:extLst>
          </p:cNvPr>
          <p:cNvSpPr txBox="1">
            <a:spLocks noChangeArrowheads="1"/>
          </p:cNvSpPr>
          <p:nvPr/>
        </p:nvSpPr>
        <p:spPr bwMode="auto">
          <a:xfrm>
            <a:off x="1931321" y="1734957"/>
            <a:ext cx="8180088" cy="386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defTabSz="912813">
              <a:defRPr>
                <a:solidFill>
                  <a:schemeClr val="tx1"/>
                </a:solidFill>
                <a:latin typeface="Arial" panose="020B0604020202020204" pitchFamily="34" charset="0"/>
                <a:ea typeface="宋体" panose="02010600030101010101" pitchFamily="2" charset="-122"/>
              </a:defRPr>
            </a:lvl1pPr>
            <a:lvl2pPr defTabSz="912813">
              <a:defRPr>
                <a:solidFill>
                  <a:schemeClr val="tx1"/>
                </a:solidFill>
                <a:latin typeface="Arial" panose="020B0604020202020204" pitchFamily="34" charset="0"/>
                <a:ea typeface="宋体" panose="02010600030101010101" pitchFamily="2" charset="-122"/>
              </a:defRPr>
            </a:lvl2pPr>
            <a:lvl3pPr defTabSz="912813">
              <a:defRPr>
                <a:solidFill>
                  <a:schemeClr val="tx1"/>
                </a:solidFill>
                <a:latin typeface="Arial" panose="020B0604020202020204" pitchFamily="34" charset="0"/>
                <a:ea typeface="宋体" panose="02010600030101010101" pitchFamily="2" charset="-122"/>
              </a:defRPr>
            </a:lvl3pPr>
            <a:lvl4pPr defTabSz="912813">
              <a:defRPr>
                <a:solidFill>
                  <a:schemeClr val="tx1"/>
                </a:solidFill>
                <a:latin typeface="Arial" panose="020B0604020202020204" pitchFamily="34" charset="0"/>
                <a:ea typeface="宋体" panose="02010600030101010101" pitchFamily="2" charset="-122"/>
              </a:defRPr>
            </a:lvl4pPr>
            <a:lvl5pPr defTabSz="912813">
              <a:defRPr>
                <a:solidFill>
                  <a:schemeClr val="tx1"/>
                </a:solidFill>
                <a:latin typeface="Arial" panose="020B0604020202020204" pitchFamily="34" charset="0"/>
                <a:ea typeface="宋体" panose="02010600030101010101" pitchFamily="2" charset="-122"/>
              </a:defRPr>
            </a:lvl5pPr>
            <a:lvl6pPr marL="22844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457200" indent="-457200" eaLnBrk="0" hangingPunct="0">
              <a:lnSpc>
                <a:spcPct val="130000"/>
              </a:lnSpc>
              <a:buFont typeface="Arial" panose="020B0604020202020204" pitchFamily="34" charset="0"/>
              <a:buChar char="•"/>
            </a:pPr>
            <a:r>
              <a:rPr lang="zh-CN" altLang="en-US" sz="2600" dirty="0">
                <a:solidFill>
                  <a:prstClr val="black"/>
                </a:solidFill>
                <a:latin typeface="Times New Roman"/>
                <a:ea typeface="黑体"/>
                <a:sym typeface="宋体" panose="02010600030101010101" pitchFamily="2" charset="-122"/>
              </a:rPr>
              <a:t>对于八数码问题，</a:t>
            </a:r>
            <a:endParaRPr lang="en-US" altLang="zh-CN" sz="2600" dirty="0">
              <a:solidFill>
                <a:prstClr val="black"/>
              </a:solidFill>
              <a:latin typeface="Times New Roman"/>
              <a:ea typeface="黑体"/>
              <a:sym typeface="宋体" panose="02010600030101010101" pitchFamily="2" charset="-122"/>
            </a:endParaRPr>
          </a:p>
          <a:p>
            <a:pPr marL="0" indent="0" eaLnBrk="0" hangingPunct="0">
              <a:lnSpc>
                <a:spcPct val="130000"/>
              </a:lnSpc>
              <a:buClr>
                <a:srgbClr val="EEECE1"/>
              </a:buClr>
            </a:pPr>
            <a:r>
              <a:rPr lang="zh-CN" altLang="en-US" sz="2600" dirty="0">
                <a:solidFill>
                  <a:prstClr val="black"/>
                </a:solidFill>
                <a:latin typeface="Times New Roman"/>
                <a:ea typeface="黑体"/>
                <a:sym typeface="宋体" panose="02010600030101010101" pitchFamily="2" charset="-122"/>
              </a:rPr>
              <a:t>应用深度优先搜索策略，</a:t>
            </a:r>
            <a:endParaRPr lang="en-US" altLang="zh-CN" sz="2600" dirty="0">
              <a:solidFill>
                <a:prstClr val="black"/>
              </a:solidFill>
              <a:latin typeface="Times New Roman"/>
              <a:ea typeface="黑体"/>
              <a:sym typeface="宋体" panose="02010600030101010101" pitchFamily="2" charset="-122"/>
            </a:endParaRPr>
          </a:p>
          <a:p>
            <a:pPr marL="0" indent="0" eaLnBrk="0" hangingPunct="0">
              <a:lnSpc>
                <a:spcPct val="130000"/>
              </a:lnSpc>
              <a:buClr>
                <a:srgbClr val="EEECE1"/>
              </a:buClr>
            </a:pPr>
            <a:r>
              <a:rPr lang="zh-CN" altLang="en-US" sz="2600" dirty="0">
                <a:solidFill>
                  <a:prstClr val="black"/>
                </a:solidFill>
                <a:latin typeface="Times New Roman"/>
                <a:ea typeface="黑体"/>
                <a:sym typeface="宋体" panose="02010600030101010101" pitchFamily="2" charset="-122"/>
              </a:rPr>
              <a:t>其搜索树如右图所示</a:t>
            </a:r>
            <a:endParaRPr lang="en-US" altLang="zh-CN" sz="2600" dirty="0">
              <a:solidFill>
                <a:prstClr val="black"/>
              </a:solidFill>
              <a:latin typeface="Times New Roman"/>
              <a:ea typeface="黑体"/>
              <a:sym typeface="宋体" panose="02010600030101010101" pitchFamily="2" charset="-122"/>
            </a:endParaRPr>
          </a:p>
        </p:txBody>
      </p:sp>
      <p:pic>
        <p:nvPicPr>
          <p:cNvPr id="3" name="图片 2">
            <a:extLst>
              <a:ext uri="{FF2B5EF4-FFF2-40B4-BE49-F238E27FC236}">
                <a16:creationId xmlns:a16="http://schemas.microsoft.com/office/drawing/2014/main" id="{A4B7680E-B662-42D9-91A3-0C671CC2A9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50228" y="1043609"/>
            <a:ext cx="4502609" cy="5239715"/>
          </a:xfrm>
          <a:prstGeom prst="rect">
            <a:avLst/>
          </a:prstGeom>
        </p:spPr>
      </p:pic>
    </p:spTree>
    <p:extLst>
      <p:ext uri="{BB962C8B-B14F-4D97-AF65-F5344CB8AC3E}">
        <p14:creationId xmlns:p14="http://schemas.microsoft.com/office/powerpoint/2010/main" val="802714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fade">
                                      <p:cBhvr>
                                        <p:cTn id="7" dur="500"/>
                                        <p:tgtEl>
                                          <p:spTgt spid="72">
                                            <p:txEl>
                                              <p:pRg st="0" end="0"/>
                                            </p:txEl>
                                          </p:spTgt>
                                        </p:tgtEl>
                                      </p:cBhvr>
                                    </p:animEffect>
                                  </p:childTnLst>
                                </p:cTn>
                              </p:par>
                            </p:childTnLst>
                          </p:cTn>
                        </p:par>
                        <p:par>
                          <p:cTn id="8" fill="hold">
                            <p:stCondLst>
                              <p:cond delay="750"/>
                            </p:stCondLst>
                            <p:childTnLst>
                              <p:par>
                                <p:cTn id="9" presetID="10" presetClass="entr" presetSubtype="0" fill="hold" nodeType="afterEffect">
                                  <p:stCondLst>
                                    <p:cond delay="250"/>
                                  </p:stCondLst>
                                  <p:childTnLst>
                                    <p:set>
                                      <p:cBhvr>
                                        <p:cTn id="10" dur="1" fill="hold">
                                          <p:stCondLst>
                                            <p:cond delay="0"/>
                                          </p:stCondLst>
                                        </p:cTn>
                                        <p:tgtEl>
                                          <p:spTgt spid="72">
                                            <p:txEl>
                                              <p:pRg st="1" end="1"/>
                                            </p:txEl>
                                          </p:spTgt>
                                        </p:tgtEl>
                                        <p:attrNameLst>
                                          <p:attrName>style.visibility</p:attrName>
                                        </p:attrNameLst>
                                      </p:cBhvr>
                                      <p:to>
                                        <p:strVal val="visible"/>
                                      </p:to>
                                    </p:set>
                                    <p:animEffect transition="in" filter="fade">
                                      <p:cBhvr>
                                        <p:cTn id="11" dur="500"/>
                                        <p:tgtEl>
                                          <p:spTgt spid="72">
                                            <p:txEl>
                                              <p:pRg st="1" end="1"/>
                                            </p:txEl>
                                          </p:spTgt>
                                        </p:tgtEl>
                                      </p:cBhvr>
                                    </p:animEffect>
                                  </p:childTnLst>
                                </p:cTn>
                              </p:par>
                            </p:childTnLst>
                          </p:cTn>
                        </p:par>
                        <p:par>
                          <p:cTn id="12" fill="hold">
                            <p:stCondLst>
                              <p:cond delay="1500"/>
                            </p:stCondLst>
                            <p:childTnLst>
                              <p:par>
                                <p:cTn id="13" presetID="10" presetClass="entr" presetSubtype="0" fill="hold" nodeType="afterEffect">
                                  <p:stCondLst>
                                    <p:cond delay="250"/>
                                  </p:stCondLst>
                                  <p:childTnLst>
                                    <p:set>
                                      <p:cBhvr>
                                        <p:cTn id="14" dur="1" fill="hold">
                                          <p:stCondLst>
                                            <p:cond delay="0"/>
                                          </p:stCondLst>
                                        </p:cTn>
                                        <p:tgtEl>
                                          <p:spTgt spid="72">
                                            <p:txEl>
                                              <p:pRg st="2" end="2"/>
                                            </p:txEl>
                                          </p:spTgt>
                                        </p:tgtEl>
                                        <p:attrNameLst>
                                          <p:attrName>style.visibility</p:attrName>
                                        </p:attrNameLst>
                                      </p:cBhvr>
                                      <p:to>
                                        <p:strVal val="visible"/>
                                      </p:to>
                                    </p:set>
                                    <p:animEffect transition="in" filter="fade">
                                      <p:cBhvr>
                                        <p:cTn id="15" dur="500"/>
                                        <p:tgtEl>
                                          <p:spTgt spid="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盲目搜索</a:t>
            </a:r>
          </a:p>
        </p:txBody>
      </p:sp>
      <p:sp>
        <p:nvSpPr>
          <p:cNvPr id="10" name="文本框 9">
            <a:extLst>
              <a:ext uri="{FF2B5EF4-FFF2-40B4-BE49-F238E27FC236}">
                <a16:creationId xmlns:a16="http://schemas.microsoft.com/office/drawing/2014/main" id="{7C183DD3-8DEA-4776-A786-113EA8A27F22}"/>
              </a:ext>
            </a:extLst>
          </p:cNvPr>
          <p:cNvSpPr txBox="1"/>
          <p:nvPr/>
        </p:nvSpPr>
        <p:spPr>
          <a:xfrm>
            <a:off x="1852611" y="913232"/>
            <a:ext cx="8105856" cy="784638"/>
          </a:xfrm>
          <a:prstGeom prst="rect">
            <a:avLst/>
          </a:prstGeom>
          <a:noFill/>
        </p:spPr>
        <p:txBody>
          <a:bodyPr wrap="square">
            <a:spAutoFit/>
          </a:bodyPr>
          <a:lstStyle/>
          <a:p>
            <a:pPr>
              <a:lnSpc>
                <a:spcPct val="150000"/>
              </a:lnSpc>
            </a:pPr>
            <a:r>
              <a:rPr lang="zh-CN" altLang="en-US" sz="3600" dirty="0">
                <a:solidFill>
                  <a:srgbClr val="C00000"/>
                </a:solidFill>
                <a:latin typeface="方正姚体" panose="02010601030101010101" pitchFamily="2" charset="-122"/>
                <a:ea typeface="方正姚体" panose="02010601030101010101" pitchFamily="2" charset="-122"/>
              </a:rPr>
              <a:t>深度优先搜索算法</a:t>
            </a:r>
          </a:p>
        </p:txBody>
      </p:sp>
      <p:sp>
        <p:nvSpPr>
          <p:cNvPr id="72" name="内容占位符 2">
            <a:extLst>
              <a:ext uri="{FF2B5EF4-FFF2-40B4-BE49-F238E27FC236}">
                <a16:creationId xmlns:a16="http://schemas.microsoft.com/office/drawing/2014/main" id="{705AFE65-61AF-44CB-BFFD-96A3CAAD61D5}"/>
              </a:ext>
            </a:extLst>
          </p:cNvPr>
          <p:cNvSpPr txBox="1">
            <a:spLocks noChangeArrowheads="1"/>
          </p:cNvSpPr>
          <p:nvPr/>
        </p:nvSpPr>
        <p:spPr bwMode="auto">
          <a:xfrm>
            <a:off x="1931321" y="1854225"/>
            <a:ext cx="8027146" cy="386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defTabSz="912813">
              <a:defRPr>
                <a:solidFill>
                  <a:schemeClr val="tx1"/>
                </a:solidFill>
                <a:latin typeface="Arial" panose="020B0604020202020204" pitchFamily="34" charset="0"/>
                <a:ea typeface="宋体" panose="02010600030101010101" pitchFamily="2" charset="-122"/>
              </a:defRPr>
            </a:lvl1pPr>
            <a:lvl2pPr defTabSz="912813">
              <a:defRPr>
                <a:solidFill>
                  <a:schemeClr val="tx1"/>
                </a:solidFill>
                <a:latin typeface="Arial" panose="020B0604020202020204" pitchFamily="34" charset="0"/>
                <a:ea typeface="宋体" panose="02010600030101010101" pitchFamily="2" charset="-122"/>
              </a:defRPr>
            </a:lvl2pPr>
            <a:lvl3pPr defTabSz="912813">
              <a:defRPr>
                <a:solidFill>
                  <a:schemeClr val="tx1"/>
                </a:solidFill>
                <a:latin typeface="Arial" panose="020B0604020202020204" pitchFamily="34" charset="0"/>
                <a:ea typeface="宋体" panose="02010600030101010101" pitchFamily="2" charset="-122"/>
              </a:defRPr>
            </a:lvl3pPr>
            <a:lvl4pPr defTabSz="912813">
              <a:defRPr>
                <a:solidFill>
                  <a:schemeClr val="tx1"/>
                </a:solidFill>
                <a:latin typeface="Arial" panose="020B0604020202020204" pitchFamily="34" charset="0"/>
                <a:ea typeface="宋体" panose="02010600030101010101" pitchFamily="2" charset="-122"/>
              </a:defRPr>
            </a:lvl4pPr>
            <a:lvl5pPr defTabSz="912813">
              <a:defRPr>
                <a:solidFill>
                  <a:schemeClr val="tx1"/>
                </a:solidFill>
                <a:latin typeface="Arial" panose="020B0604020202020204" pitchFamily="34" charset="0"/>
                <a:ea typeface="宋体" panose="02010600030101010101" pitchFamily="2" charset="-122"/>
              </a:defRPr>
            </a:lvl5pPr>
            <a:lvl6pPr marL="22844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457200" indent="-457200" eaLnBrk="0" hangingPunct="0">
              <a:lnSpc>
                <a:spcPct val="130000"/>
              </a:lnSpc>
              <a:buFont typeface="Arial" panose="020B0604020202020204" pitchFamily="34" charset="0"/>
              <a:buChar char="•"/>
            </a:pPr>
            <a:r>
              <a:rPr lang="zh-CN" altLang="en-US" sz="2600" dirty="0">
                <a:solidFill>
                  <a:prstClr val="black"/>
                </a:solidFill>
                <a:latin typeface="Times New Roman"/>
                <a:ea typeface="黑体"/>
                <a:sym typeface="宋体" panose="02010600030101010101" pitchFamily="2" charset="-122"/>
              </a:rPr>
              <a:t>深度优先搜索也被称为纵向搜索。</a:t>
            </a:r>
            <a:endParaRPr lang="en-US" altLang="zh-CN" sz="2600" dirty="0">
              <a:solidFill>
                <a:prstClr val="black"/>
              </a:solidFill>
              <a:latin typeface="Times New Roman"/>
              <a:ea typeface="黑体"/>
              <a:sym typeface="宋体" panose="02010600030101010101" pitchFamily="2" charset="-122"/>
            </a:endParaRPr>
          </a:p>
          <a:p>
            <a:pPr marL="457200" indent="-457200" eaLnBrk="0" hangingPunct="0">
              <a:lnSpc>
                <a:spcPct val="130000"/>
              </a:lnSpc>
              <a:buFont typeface="Arial" panose="020B0604020202020204" pitchFamily="34" charset="0"/>
              <a:buChar char="•"/>
            </a:pPr>
            <a:r>
              <a:rPr lang="zh-CN" altLang="en-US" sz="2600" dirty="0">
                <a:solidFill>
                  <a:prstClr val="black"/>
                </a:solidFill>
                <a:latin typeface="Times New Roman"/>
                <a:ea typeface="黑体"/>
                <a:sym typeface="宋体" panose="02010600030101010101" pitchFamily="2" charset="-122"/>
              </a:rPr>
              <a:t>由于一个有解的问题树可能含有无穷分支，深度优先搜索如果误入无穷分支（即深度无限），则不可能找到目标节点。</a:t>
            </a:r>
            <a:endParaRPr lang="en-US" altLang="zh-CN" sz="2600" dirty="0">
              <a:solidFill>
                <a:prstClr val="black"/>
              </a:solidFill>
              <a:latin typeface="Times New Roman"/>
              <a:ea typeface="黑体"/>
              <a:sym typeface="宋体" panose="02010600030101010101" pitchFamily="2" charset="-122"/>
            </a:endParaRPr>
          </a:p>
          <a:p>
            <a:pPr marL="457200" indent="-457200" eaLnBrk="0" hangingPunct="0">
              <a:lnSpc>
                <a:spcPct val="130000"/>
              </a:lnSpc>
              <a:buFont typeface="Arial" panose="020B0604020202020204" pitchFamily="34" charset="0"/>
              <a:buChar char="•"/>
            </a:pPr>
            <a:r>
              <a:rPr lang="zh-CN" altLang="en-US" sz="2600" dirty="0">
                <a:solidFill>
                  <a:prstClr val="black"/>
                </a:solidFill>
                <a:latin typeface="Times New Roman"/>
                <a:ea typeface="黑体"/>
                <a:sym typeface="宋体" panose="02010600030101010101" pitchFamily="2" charset="-122"/>
              </a:rPr>
              <a:t>深度优先搜索策略是不完备的。</a:t>
            </a:r>
            <a:endParaRPr lang="en-US" altLang="zh-CN" sz="2600" dirty="0">
              <a:solidFill>
                <a:prstClr val="black"/>
              </a:solidFill>
              <a:latin typeface="Times New Roman"/>
              <a:ea typeface="黑体"/>
              <a:sym typeface="宋体" panose="02010600030101010101" pitchFamily="2" charset="-122"/>
            </a:endParaRPr>
          </a:p>
          <a:p>
            <a:pPr marL="457200" indent="-457200" eaLnBrk="0" hangingPunct="0">
              <a:lnSpc>
                <a:spcPct val="130000"/>
              </a:lnSpc>
              <a:buFont typeface="Arial" panose="020B0604020202020204" pitchFamily="34" charset="0"/>
              <a:buChar char="•"/>
            </a:pPr>
            <a:r>
              <a:rPr lang="zh-CN" altLang="en-US" sz="2600" dirty="0">
                <a:solidFill>
                  <a:prstClr val="black"/>
                </a:solidFill>
                <a:latin typeface="Times New Roman"/>
                <a:ea typeface="黑体"/>
                <a:sym typeface="宋体" panose="02010600030101010101" pitchFamily="2" charset="-122"/>
              </a:rPr>
              <a:t>应用深度优先搜索策略得到的解不一定是最佳解（最佳路径）。</a:t>
            </a:r>
            <a:endParaRPr lang="en-US" altLang="zh-CN" sz="2600" dirty="0">
              <a:solidFill>
                <a:prstClr val="black"/>
              </a:solidFill>
              <a:latin typeface="Times New Roman"/>
              <a:ea typeface="黑体"/>
              <a:sym typeface="宋体" panose="02010600030101010101" pitchFamily="2" charset="-122"/>
            </a:endParaRPr>
          </a:p>
          <a:p>
            <a:pPr marL="0" indent="0" eaLnBrk="0" hangingPunct="0">
              <a:lnSpc>
                <a:spcPct val="130000"/>
              </a:lnSpc>
              <a:buClr>
                <a:srgbClr val="EEECE1"/>
              </a:buClr>
            </a:pPr>
            <a:endParaRPr lang="en-US" altLang="zh-CN" sz="2600" dirty="0">
              <a:solidFill>
                <a:prstClr val="black"/>
              </a:solidFill>
              <a:latin typeface="Times New Roman"/>
              <a:ea typeface="黑体"/>
              <a:sym typeface="宋体" panose="02010600030101010101" pitchFamily="2" charset="-122"/>
            </a:endParaRPr>
          </a:p>
        </p:txBody>
      </p:sp>
    </p:spTree>
    <p:extLst>
      <p:ext uri="{BB962C8B-B14F-4D97-AF65-F5344CB8AC3E}">
        <p14:creationId xmlns:p14="http://schemas.microsoft.com/office/powerpoint/2010/main" val="3754182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fade">
                                      <p:cBhvr>
                                        <p:cTn id="7" dur="500"/>
                                        <p:tgtEl>
                                          <p:spTgt spid="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
                                            <p:txEl>
                                              <p:pRg st="1" end="1"/>
                                            </p:txEl>
                                          </p:spTgt>
                                        </p:tgtEl>
                                        <p:attrNameLst>
                                          <p:attrName>style.visibility</p:attrName>
                                        </p:attrNameLst>
                                      </p:cBhvr>
                                      <p:to>
                                        <p:strVal val="visible"/>
                                      </p:to>
                                    </p:set>
                                    <p:animEffect transition="in" filter="fade">
                                      <p:cBhvr>
                                        <p:cTn id="12" dur="500"/>
                                        <p:tgtEl>
                                          <p:spTgt spid="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
                                            <p:txEl>
                                              <p:pRg st="2" end="2"/>
                                            </p:txEl>
                                          </p:spTgt>
                                        </p:tgtEl>
                                        <p:attrNameLst>
                                          <p:attrName>style.visibility</p:attrName>
                                        </p:attrNameLst>
                                      </p:cBhvr>
                                      <p:to>
                                        <p:strVal val="visible"/>
                                      </p:to>
                                    </p:set>
                                    <p:animEffect transition="in" filter="fade">
                                      <p:cBhvr>
                                        <p:cTn id="17" dur="500"/>
                                        <p:tgtEl>
                                          <p:spTgt spid="7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2">
                                            <p:txEl>
                                              <p:pRg st="3" end="3"/>
                                            </p:txEl>
                                          </p:spTgt>
                                        </p:tgtEl>
                                        <p:attrNameLst>
                                          <p:attrName>style.visibility</p:attrName>
                                        </p:attrNameLst>
                                      </p:cBhvr>
                                      <p:to>
                                        <p:strVal val="visible"/>
                                      </p:to>
                                    </p:set>
                                    <p:animEffect transition="in" filter="fade">
                                      <p:cBhvr>
                                        <p:cTn id="22" dur="500"/>
                                        <p:tgtEl>
                                          <p:spTgt spid="7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盲目搜索</a:t>
            </a:r>
          </a:p>
        </p:txBody>
      </p:sp>
      <p:sp>
        <p:nvSpPr>
          <p:cNvPr id="10" name="文本框 9">
            <a:extLst>
              <a:ext uri="{FF2B5EF4-FFF2-40B4-BE49-F238E27FC236}">
                <a16:creationId xmlns:a16="http://schemas.microsoft.com/office/drawing/2014/main" id="{7C183DD3-8DEA-4776-A786-113EA8A27F22}"/>
              </a:ext>
            </a:extLst>
          </p:cNvPr>
          <p:cNvSpPr txBox="1"/>
          <p:nvPr/>
        </p:nvSpPr>
        <p:spPr>
          <a:xfrm>
            <a:off x="1865863" y="941765"/>
            <a:ext cx="8105856" cy="784638"/>
          </a:xfrm>
          <a:prstGeom prst="rect">
            <a:avLst/>
          </a:prstGeom>
          <a:noFill/>
        </p:spPr>
        <p:txBody>
          <a:bodyPr wrap="square">
            <a:spAutoFit/>
          </a:bodyPr>
          <a:lstStyle/>
          <a:p>
            <a:pPr>
              <a:lnSpc>
                <a:spcPct val="150000"/>
              </a:lnSpc>
            </a:pPr>
            <a:r>
              <a:rPr lang="zh-CN" altLang="en-US" sz="3600" dirty="0">
                <a:solidFill>
                  <a:srgbClr val="C00000"/>
                </a:solidFill>
                <a:latin typeface="方正姚体" panose="02010601030101010101" pitchFamily="2" charset="-122"/>
                <a:ea typeface="方正姚体" panose="02010601030101010101" pitchFamily="2" charset="-122"/>
              </a:rPr>
              <a:t>有界深度优先搜索</a:t>
            </a:r>
          </a:p>
        </p:txBody>
      </p:sp>
      <p:sp>
        <p:nvSpPr>
          <p:cNvPr id="72" name="内容占位符 2">
            <a:extLst>
              <a:ext uri="{FF2B5EF4-FFF2-40B4-BE49-F238E27FC236}">
                <a16:creationId xmlns:a16="http://schemas.microsoft.com/office/drawing/2014/main" id="{705AFE65-61AF-44CB-BFFD-96A3CAAD61D5}"/>
              </a:ext>
            </a:extLst>
          </p:cNvPr>
          <p:cNvSpPr txBox="1">
            <a:spLocks noChangeArrowheads="1"/>
          </p:cNvSpPr>
          <p:nvPr/>
        </p:nvSpPr>
        <p:spPr bwMode="auto">
          <a:xfrm>
            <a:off x="2070467" y="1834347"/>
            <a:ext cx="8027146" cy="421527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1313" indent="-341313" defTabSz="912813">
              <a:defRPr>
                <a:solidFill>
                  <a:schemeClr val="tx1"/>
                </a:solidFill>
                <a:latin typeface="Arial" panose="020B0604020202020204" pitchFamily="34" charset="0"/>
                <a:ea typeface="宋体" panose="02010600030101010101" pitchFamily="2" charset="-122"/>
              </a:defRPr>
            </a:lvl1pPr>
            <a:lvl2pPr defTabSz="912813">
              <a:defRPr>
                <a:solidFill>
                  <a:schemeClr val="tx1"/>
                </a:solidFill>
                <a:latin typeface="Arial" panose="020B0604020202020204" pitchFamily="34" charset="0"/>
                <a:ea typeface="宋体" panose="02010600030101010101" pitchFamily="2" charset="-122"/>
              </a:defRPr>
            </a:lvl2pPr>
            <a:lvl3pPr defTabSz="912813">
              <a:defRPr>
                <a:solidFill>
                  <a:schemeClr val="tx1"/>
                </a:solidFill>
                <a:latin typeface="Arial" panose="020B0604020202020204" pitchFamily="34" charset="0"/>
                <a:ea typeface="宋体" panose="02010600030101010101" pitchFamily="2" charset="-122"/>
              </a:defRPr>
            </a:lvl3pPr>
            <a:lvl4pPr defTabSz="912813">
              <a:defRPr>
                <a:solidFill>
                  <a:schemeClr val="tx1"/>
                </a:solidFill>
                <a:latin typeface="Arial" panose="020B0604020202020204" pitchFamily="34" charset="0"/>
                <a:ea typeface="宋体" panose="02010600030101010101" pitchFamily="2" charset="-122"/>
              </a:defRPr>
            </a:lvl4pPr>
            <a:lvl5pPr defTabSz="912813">
              <a:defRPr>
                <a:solidFill>
                  <a:schemeClr val="tx1"/>
                </a:solidFill>
                <a:latin typeface="Arial" panose="020B0604020202020204" pitchFamily="34" charset="0"/>
                <a:ea typeface="宋体" panose="02010600030101010101" pitchFamily="2" charset="-122"/>
              </a:defRPr>
            </a:lvl5pPr>
            <a:lvl6pPr marL="22844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457200" indent="-457200" eaLnBrk="0" hangingPunct="0">
              <a:lnSpc>
                <a:spcPct val="130000"/>
              </a:lnSpc>
              <a:buFont typeface="Arial" panose="020B0604020202020204" pitchFamily="34" charset="0"/>
              <a:buChar char="•"/>
            </a:pPr>
            <a:r>
              <a:rPr lang="zh-CN" altLang="en-US" sz="2600" dirty="0">
                <a:solidFill>
                  <a:prstClr val="black"/>
                </a:solidFill>
                <a:latin typeface="Times New Roman"/>
                <a:ea typeface="黑体"/>
                <a:sym typeface="宋体" panose="02010600030101010101" pitchFamily="2" charset="-122"/>
              </a:rPr>
              <a:t>宽度优先和深度优先是两种基本的盲目搜索方法。</a:t>
            </a:r>
            <a:endParaRPr lang="en-US" altLang="zh-CN" sz="2600" dirty="0">
              <a:solidFill>
                <a:prstClr val="black"/>
              </a:solidFill>
              <a:latin typeface="Times New Roman"/>
              <a:ea typeface="黑体"/>
              <a:sym typeface="宋体" panose="02010600030101010101" pitchFamily="2" charset="-122"/>
            </a:endParaRPr>
          </a:p>
          <a:p>
            <a:pPr marL="457200" indent="-457200" eaLnBrk="0" hangingPunct="0">
              <a:lnSpc>
                <a:spcPct val="130000"/>
              </a:lnSpc>
              <a:buFont typeface="Arial" panose="020B0604020202020204" pitchFamily="34" charset="0"/>
              <a:buChar char="•"/>
            </a:pPr>
            <a:r>
              <a:rPr lang="zh-CN" altLang="en-US" sz="2600" dirty="0">
                <a:solidFill>
                  <a:prstClr val="black"/>
                </a:solidFill>
                <a:latin typeface="Times New Roman"/>
                <a:ea typeface="黑体"/>
                <a:sym typeface="宋体" panose="02010600030101010101" pitchFamily="2" charset="-122"/>
              </a:rPr>
              <a:t>在此基础上，根据需要加上一定的限制条件，可派生出许多特殊的搜索方法，如有界深度优先搜索。</a:t>
            </a:r>
            <a:endParaRPr lang="en-US" altLang="zh-CN" sz="2600" dirty="0">
              <a:solidFill>
                <a:prstClr val="black"/>
              </a:solidFill>
              <a:latin typeface="Times New Roman"/>
              <a:ea typeface="黑体"/>
              <a:sym typeface="宋体" panose="02010600030101010101" pitchFamily="2" charset="-122"/>
            </a:endParaRPr>
          </a:p>
          <a:p>
            <a:pPr marL="457200" indent="-457200" eaLnBrk="0" hangingPunct="0">
              <a:lnSpc>
                <a:spcPct val="130000"/>
              </a:lnSpc>
              <a:buFont typeface="Arial" panose="020B0604020202020204" pitchFamily="34" charset="0"/>
              <a:buChar char="•"/>
            </a:pPr>
            <a:r>
              <a:rPr lang="zh-CN" altLang="en-US" sz="2600" dirty="0">
                <a:solidFill>
                  <a:prstClr val="black"/>
                </a:solidFill>
                <a:latin typeface="Times New Roman"/>
                <a:ea typeface="黑体"/>
                <a:sym typeface="宋体" panose="02010600030101010101" pitchFamily="2" charset="-122"/>
              </a:rPr>
              <a:t>有界深度优先搜索：给出搜索树的深度限制，当从初始节点出发沿某一分支扩展到一限定深度时，不能再继续向下扩展，而只能改变方向继续搜索。</a:t>
            </a:r>
            <a:endParaRPr lang="en-US" altLang="zh-CN" sz="2600" dirty="0">
              <a:solidFill>
                <a:prstClr val="black"/>
              </a:solidFill>
              <a:latin typeface="Times New Roman"/>
              <a:ea typeface="黑体"/>
              <a:sym typeface="宋体" panose="02010600030101010101" pitchFamily="2" charset="-122"/>
            </a:endParaRPr>
          </a:p>
          <a:p>
            <a:pPr marL="457200" indent="-457200" eaLnBrk="0" hangingPunct="0">
              <a:lnSpc>
                <a:spcPct val="130000"/>
              </a:lnSpc>
              <a:buFont typeface="Arial" panose="020B0604020202020204" pitchFamily="34" charset="0"/>
              <a:buChar char="•"/>
            </a:pPr>
            <a:r>
              <a:rPr lang="zh-CN" altLang="en-US" sz="2600" dirty="0">
                <a:solidFill>
                  <a:prstClr val="black"/>
                </a:solidFill>
                <a:latin typeface="Times New Roman"/>
                <a:ea typeface="黑体"/>
                <a:sym typeface="宋体" panose="02010600030101010101" pitchFamily="2" charset="-122"/>
              </a:rPr>
              <a:t>节点</a:t>
            </a:r>
            <a:r>
              <a:rPr lang="en-US" altLang="zh-CN" sz="2600" dirty="0">
                <a:solidFill>
                  <a:prstClr val="black"/>
                </a:solidFill>
                <a:latin typeface="Times New Roman"/>
                <a:ea typeface="黑体"/>
                <a:sym typeface="宋体" panose="02010600030101010101" pitchFamily="2" charset="-122"/>
              </a:rPr>
              <a:t>x</a:t>
            </a:r>
            <a:r>
              <a:rPr lang="zh-CN" altLang="en-US" sz="2600" dirty="0">
                <a:solidFill>
                  <a:prstClr val="black"/>
                </a:solidFill>
                <a:latin typeface="Times New Roman"/>
                <a:ea typeface="黑体"/>
                <a:sym typeface="宋体" panose="02010600030101010101" pitchFamily="2" charset="-122"/>
              </a:rPr>
              <a:t>的深度（即其位于搜索树的层数）通常用</a:t>
            </a:r>
            <a:r>
              <a:rPr lang="en-US" altLang="zh-CN" sz="2600" dirty="0">
                <a:solidFill>
                  <a:prstClr val="black"/>
                </a:solidFill>
                <a:latin typeface="Times New Roman"/>
                <a:ea typeface="黑体"/>
                <a:sym typeface="宋体" panose="02010600030101010101" pitchFamily="2" charset="-122"/>
              </a:rPr>
              <a:t>d(x)</a:t>
            </a:r>
            <a:r>
              <a:rPr lang="zh-CN" altLang="en-US" sz="2600" dirty="0">
                <a:solidFill>
                  <a:prstClr val="black"/>
                </a:solidFill>
                <a:latin typeface="Times New Roman"/>
                <a:ea typeface="黑体"/>
                <a:sym typeface="宋体" panose="02010600030101010101" pitchFamily="2" charset="-122"/>
              </a:rPr>
              <a:t>表示。</a:t>
            </a:r>
            <a:endParaRPr lang="en-US" altLang="zh-CN" sz="2600" dirty="0">
              <a:solidFill>
                <a:prstClr val="black"/>
              </a:solidFill>
              <a:latin typeface="Times New Roman"/>
              <a:ea typeface="黑体"/>
              <a:sym typeface="宋体" panose="02010600030101010101" pitchFamily="2" charset="-122"/>
            </a:endParaRPr>
          </a:p>
        </p:txBody>
      </p:sp>
    </p:spTree>
    <p:extLst>
      <p:ext uri="{BB962C8B-B14F-4D97-AF65-F5344CB8AC3E}">
        <p14:creationId xmlns:p14="http://schemas.microsoft.com/office/powerpoint/2010/main" val="2415673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
                                            <p:txEl>
                                              <p:pRg st="0" end="0"/>
                                            </p:txEl>
                                          </p:spTgt>
                                        </p:tgtEl>
                                        <p:attrNameLst>
                                          <p:attrName>style.visibility</p:attrName>
                                        </p:attrNameLst>
                                      </p:cBhvr>
                                      <p:to>
                                        <p:strVal val="visible"/>
                                      </p:to>
                                    </p:set>
                                    <p:animEffect transition="in" filter="fade">
                                      <p:cBhvr>
                                        <p:cTn id="12" dur="500"/>
                                        <p:tgtEl>
                                          <p:spTgt spid="7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
                                            <p:txEl>
                                              <p:pRg st="1" end="1"/>
                                            </p:txEl>
                                          </p:spTgt>
                                        </p:tgtEl>
                                        <p:attrNameLst>
                                          <p:attrName>style.visibility</p:attrName>
                                        </p:attrNameLst>
                                      </p:cBhvr>
                                      <p:to>
                                        <p:strVal val="visible"/>
                                      </p:to>
                                    </p:set>
                                    <p:animEffect transition="in" filter="fade">
                                      <p:cBhvr>
                                        <p:cTn id="17" dur="500"/>
                                        <p:tgtEl>
                                          <p:spTgt spid="7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2">
                                            <p:txEl>
                                              <p:pRg st="2" end="2"/>
                                            </p:txEl>
                                          </p:spTgt>
                                        </p:tgtEl>
                                        <p:attrNameLst>
                                          <p:attrName>style.visibility</p:attrName>
                                        </p:attrNameLst>
                                      </p:cBhvr>
                                      <p:to>
                                        <p:strVal val="visible"/>
                                      </p:to>
                                    </p:set>
                                    <p:animEffect transition="in" filter="fade">
                                      <p:cBhvr>
                                        <p:cTn id="22" dur="500"/>
                                        <p:tgtEl>
                                          <p:spTgt spid="7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2">
                                            <p:txEl>
                                              <p:pRg st="3" end="3"/>
                                            </p:txEl>
                                          </p:spTgt>
                                        </p:tgtEl>
                                        <p:attrNameLst>
                                          <p:attrName>style.visibility</p:attrName>
                                        </p:attrNameLst>
                                      </p:cBhvr>
                                      <p:to>
                                        <p:strVal val="visible"/>
                                      </p:to>
                                    </p:set>
                                    <p:animEffect transition="in" filter="fade">
                                      <p:cBhvr>
                                        <p:cTn id="27" dur="500"/>
                                        <p:tgtEl>
                                          <p:spTgt spid="7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盲目搜索</a:t>
            </a:r>
          </a:p>
        </p:txBody>
      </p:sp>
      <p:sp>
        <p:nvSpPr>
          <p:cNvPr id="10" name="文本框 9">
            <a:extLst>
              <a:ext uri="{FF2B5EF4-FFF2-40B4-BE49-F238E27FC236}">
                <a16:creationId xmlns:a16="http://schemas.microsoft.com/office/drawing/2014/main" id="{7C183DD3-8DEA-4776-A786-113EA8A27F22}"/>
              </a:ext>
            </a:extLst>
          </p:cNvPr>
          <p:cNvSpPr txBox="1"/>
          <p:nvPr/>
        </p:nvSpPr>
        <p:spPr>
          <a:xfrm>
            <a:off x="1852611" y="941765"/>
            <a:ext cx="8105856" cy="784638"/>
          </a:xfrm>
          <a:prstGeom prst="rect">
            <a:avLst/>
          </a:prstGeom>
          <a:noFill/>
        </p:spPr>
        <p:txBody>
          <a:bodyPr wrap="square">
            <a:spAutoFit/>
          </a:bodyPr>
          <a:lstStyle/>
          <a:p>
            <a:pPr>
              <a:lnSpc>
                <a:spcPct val="150000"/>
              </a:lnSpc>
            </a:pPr>
            <a:r>
              <a:rPr lang="zh-CN" altLang="en-US" sz="3600" dirty="0">
                <a:solidFill>
                  <a:srgbClr val="C00000"/>
                </a:solidFill>
                <a:latin typeface="方正姚体" panose="02010601030101010101" pitchFamily="2" charset="-122"/>
                <a:ea typeface="方正姚体" panose="02010601030101010101" pitchFamily="2" charset="-122"/>
              </a:rPr>
              <a:t>有界深度优先搜索算法</a:t>
            </a:r>
          </a:p>
        </p:txBody>
      </p:sp>
      <p:sp>
        <p:nvSpPr>
          <p:cNvPr id="72" name="内容占位符 2">
            <a:extLst>
              <a:ext uri="{FF2B5EF4-FFF2-40B4-BE49-F238E27FC236}">
                <a16:creationId xmlns:a16="http://schemas.microsoft.com/office/drawing/2014/main" id="{705AFE65-61AF-44CB-BFFD-96A3CAAD61D5}"/>
              </a:ext>
            </a:extLst>
          </p:cNvPr>
          <p:cNvSpPr txBox="1">
            <a:spLocks noChangeArrowheads="1"/>
          </p:cNvSpPr>
          <p:nvPr/>
        </p:nvSpPr>
        <p:spPr bwMode="auto">
          <a:xfrm>
            <a:off x="2070467" y="1834347"/>
            <a:ext cx="8105596" cy="421527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1313" indent="-341313" defTabSz="912813">
              <a:defRPr>
                <a:solidFill>
                  <a:schemeClr val="tx1"/>
                </a:solidFill>
                <a:latin typeface="Arial" panose="020B0604020202020204" pitchFamily="34" charset="0"/>
                <a:ea typeface="宋体" panose="02010600030101010101" pitchFamily="2" charset="-122"/>
              </a:defRPr>
            </a:lvl1pPr>
            <a:lvl2pPr defTabSz="912813">
              <a:defRPr>
                <a:solidFill>
                  <a:schemeClr val="tx1"/>
                </a:solidFill>
                <a:latin typeface="Arial" panose="020B0604020202020204" pitchFamily="34" charset="0"/>
                <a:ea typeface="宋体" panose="02010600030101010101" pitchFamily="2" charset="-122"/>
              </a:defRPr>
            </a:lvl2pPr>
            <a:lvl3pPr defTabSz="912813">
              <a:defRPr>
                <a:solidFill>
                  <a:schemeClr val="tx1"/>
                </a:solidFill>
                <a:latin typeface="Arial" panose="020B0604020202020204" pitchFamily="34" charset="0"/>
                <a:ea typeface="宋体" panose="02010600030101010101" pitchFamily="2" charset="-122"/>
              </a:defRPr>
            </a:lvl3pPr>
            <a:lvl4pPr defTabSz="912813">
              <a:defRPr>
                <a:solidFill>
                  <a:schemeClr val="tx1"/>
                </a:solidFill>
                <a:latin typeface="Arial" panose="020B0604020202020204" pitchFamily="34" charset="0"/>
                <a:ea typeface="宋体" panose="02010600030101010101" pitchFamily="2" charset="-122"/>
              </a:defRPr>
            </a:lvl4pPr>
            <a:lvl5pPr defTabSz="912813">
              <a:defRPr>
                <a:solidFill>
                  <a:schemeClr val="tx1"/>
                </a:solidFill>
                <a:latin typeface="Arial" panose="020B0604020202020204" pitchFamily="34" charset="0"/>
                <a:ea typeface="宋体" panose="02010600030101010101" pitchFamily="2" charset="-122"/>
              </a:defRPr>
            </a:lvl5pPr>
            <a:lvl6pPr marL="22844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defTabSz="912813"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indent="0" eaLnBrk="0" hangingPunct="0">
              <a:lnSpc>
                <a:spcPct val="120000"/>
              </a:lnSpc>
            </a:pPr>
            <a:r>
              <a:rPr lang="zh-CN" altLang="en-US" sz="2600" dirty="0">
                <a:solidFill>
                  <a:prstClr val="black"/>
                </a:solidFill>
                <a:latin typeface="Times New Roman"/>
                <a:ea typeface="黑体"/>
                <a:sym typeface="宋体" panose="02010600030101010101" pitchFamily="2" charset="-122"/>
              </a:rPr>
              <a:t>（</a:t>
            </a:r>
            <a:r>
              <a:rPr lang="en-US" altLang="zh-CN" sz="2600" dirty="0">
                <a:solidFill>
                  <a:prstClr val="black"/>
                </a:solidFill>
                <a:latin typeface="Times New Roman"/>
                <a:ea typeface="黑体"/>
                <a:sym typeface="宋体" panose="02010600030101010101" pitchFamily="2" charset="-122"/>
              </a:rPr>
              <a:t>1</a:t>
            </a:r>
            <a:r>
              <a:rPr lang="zh-CN" altLang="en-US" sz="2600" dirty="0">
                <a:solidFill>
                  <a:prstClr val="black"/>
                </a:solidFill>
                <a:latin typeface="Times New Roman"/>
                <a:ea typeface="黑体"/>
                <a:sym typeface="宋体" panose="02010600030101010101" pitchFamily="2" charset="-122"/>
              </a:rPr>
              <a:t>）把</a:t>
            </a:r>
            <a:r>
              <a:rPr lang="en-US" altLang="zh-CN" sz="2600" i="1" dirty="0">
                <a:solidFill>
                  <a:prstClr val="black"/>
                </a:solidFill>
                <a:latin typeface="Times New Roman"/>
                <a:ea typeface="黑体"/>
                <a:sym typeface="宋体" panose="02010600030101010101" pitchFamily="2" charset="-122"/>
              </a:rPr>
              <a:t>S</a:t>
            </a:r>
            <a:r>
              <a:rPr lang="en-US" altLang="zh-CN" sz="2600" baseline="-25000" dirty="0">
                <a:solidFill>
                  <a:prstClr val="black"/>
                </a:solidFill>
                <a:latin typeface="Times New Roman"/>
                <a:ea typeface="黑体"/>
                <a:sym typeface="宋体" panose="02010600030101010101" pitchFamily="2" charset="-122"/>
              </a:rPr>
              <a:t>0</a:t>
            </a:r>
            <a:r>
              <a:rPr lang="zh-CN" altLang="en-US" sz="2600" dirty="0">
                <a:solidFill>
                  <a:prstClr val="black"/>
                </a:solidFill>
                <a:latin typeface="Times New Roman"/>
                <a:ea typeface="黑体"/>
                <a:sym typeface="宋体" panose="02010600030101010101" pitchFamily="2" charset="-122"/>
              </a:rPr>
              <a:t>放入</a:t>
            </a:r>
            <a:r>
              <a:rPr lang="en-US" altLang="zh-CN" sz="2600" dirty="0">
                <a:solidFill>
                  <a:prstClr val="black"/>
                </a:solidFill>
                <a:latin typeface="Times New Roman"/>
                <a:ea typeface="黑体"/>
                <a:sym typeface="宋体" panose="02010600030101010101" pitchFamily="2" charset="-122"/>
              </a:rPr>
              <a:t>Open</a:t>
            </a:r>
            <a:r>
              <a:rPr lang="zh-CN" altLang="en-US" sz="2600" dirty="0">
                <a:solidFill>
                  <a:prstClr val="black"/>
                </a:solidFill>
                <a:latin typeface="Times New Roman"/>
                <a:ea typeface="黑体"/>
                <a:sym typeface="宋体" panose="02010600030101010101" pitchFamily="2" charset="-122"/>
              </a:rPr>
              <a:t>表中，置</a:t>
            </a:r>
            <a:r>
              <a:rPr lang="en-US" altLang="zh-CN" sz="2600" i="1" dirty="0">
                <a:solidFill>
                  <a:prstClr val="black"/>
                </a:solidFill>
                <a:latin typeface="Times New Roman"/>
                <a:sym typeface="宋体" panose="02010600030101010101" pitchFamily="2" charset="-122"/>
              </a:rPr>
              <a:t>S</a:t>
            </a:r>
            <a:r>
              <a:rPr lang="en-US" altLang="zh-CN" sz="2600" baseline="-25000" dirty="0">
                <a:solidFill>
                  <a:prstClr val="black"/>
                </a:solidFill>
                <a:sym typeface="宋体" panose="02010600030101010101" pitchFamily="2" charset="-122"/>
              </a:rPr>
              <a:t>0</a:t>
            </a:r>
            <a:r>
              <a:rPr lang="zh-CN" altLang="en-US" sz="2600" dirty="0">
                <a:solidFill>
                  <a:prstClr val="black"/>
                </a:solidFill>
                <a:latin typeface="Times New Roman"/>
                <a:ea typeface="黑体"/>
                <a:sym typeface="宋体" panose="02010600030101010101" pitchFamily="2" charset="-122"/>
              </a:rPr>
              <a:t>的深度</a:t>
            </a:r>
            <a:r>
              <a:rPr lang="en-US" altLang="zh-CN" sz="2600" i="1" dirty="0">
                <a:solidFill>
                  <a:prstClr val="black"/>
                </a:solidFill>
                <a:latin typeface="Times New Roman"/>
                <a:ea typeface="黑体"/>
                <a:sym typeface="宋体" panose="02010600030101010101" pitchFamily="2" charset="-122"/>
              </a:rPr>
              <a:t>d</a:t>
            </a:r>
            <a:r>
              <a:rPr lang="en-US" altLang="zh-CN" sz="2600" dirty="0">
                <a:solidFill>
                  <a:prstClr val="black"/>
                </a:solidFill>
                <a:latin typeface="Times New Roman"/>
                <a:ea typeface="黑体"/>
                <a:sym typeface="宋体" panose="02010600030101010101" pitchFamily="2" charset="-122"/>
              </a:rPr>
              <a:t>(</a:t>
            </a:r>
            <a:r>
              <a:rPr lang="en-US" altLang="zh-CN" sz="2600" i="1" dirty="0">
                <a:solidFill>
                  <a:prstClr val="black"/>
                </a:solidFill>
                <a:latin typeface="Times New Roman"/>
                <a:ea typeface="黑体"/>
                <a:sym typeface="宋体" panose="02010600030101010101" pitchFamily="2" charset="-122"/>
              </a:rPr>
              <a:t>S</a:t>
            </a:r>
            <a:r>
              <a:rPr lang="en-US" altLang="zh-CN" sz="2600" baseline="-25000" dirty="0">
                <a:solidFill>
                  <a:prstClr val="black"/>
                </a:solidFill>
                <a:latin typeface="Times New Roman"/>
                <a:ea typeface="黑体"/>
                <a:sym typeface="宋体" panose="02010600030101010101" pitchFamily="2" charset="-122"/>
              </a:rPr>
              <a:t>0</a:t>
            </a:r>
            <a:r>
              <a:rPr lang="en-US" altLang="zh-CN" sz="2600" dirty="0">
                <a:solidFill>
                  <a:prstClr val="black"/>
                </a:solidFill>
                <a:latin typeface="Times New Roman"/>
                <a:ea typeface="黑体"/>
                <a:sym typeface="宋体" panose="02010600030101010101" pitchFamily="2" charset="-122"/>
              </a:rPr>
              <a:t>)=0</a:t>
            </a:r>
            <a:r>
              <a:rPr lang="zh-CN" altLang="en-US" sz="2600" dirty="0">
                <a:solidFill>
                  <a:prstClr val="black"/>
                </a:solidFill>
                <a:latin typeface="Times New Roman"/>
                <a:ea typeface="黑体"/>
                <a:sym typeface="宋体" panose="02010600030101010101" pitchFamily="2" charset="-122"/>
              </a:rPr>
              <a:t>。</a:t>
            </a:r>
            <a:endParaRPr lang="en-US" altLang="zh-CN" sz="2600" dirty="0">
              <a:solidFill>
                <a:prstClr val="black"/>
              </a:solidFill>
              <a:latin typeface="Times New Roman"/>
              <a:ea typeface="黑体"/>
              <a:sym typeface="宋体" panose="02010600030101010101" pitchFamily="2" charset="-122"/>
            </a:endParaRPr>
          </a:p>
          <a:p>
            <a:pPr marL="0" indent="0" eaLnBrk="0" hangingPunct="0">
              <a:lnSpc>
                <a:spcPct val="120000"/>
              </a:lnSpc>
            </a:pPr>
            <a:r>
              <a:rPr lang="zh-CN" altLang="en-US" sz="2600" dirty="0">
                <a:solidFill>
                  <a:prstClr val="black"/>
                </a:solidFill>
                <a:latin typeface="Times New Roman"/>
                <a:ea typeface="黑体"/>
                <a:sym typeface="宋体" panose="02010600030101010101" pitchFamily="2" charset="-122"/>
              </a:rPr>
              <a:t>（</a:t>
            </a:r>
            <a:r>
              <a:rPr lang="en-US" altLang="zh-CN" sz="2600" dirty="0">
                <a:solidFill>
                  <a:prstClr val="black"/>
                </a:solidFill>
                <a:latin typeface="Times New Roman"/>
                <a:ea typeface="黑体"/>
                <a:sym typeface="宋体" panose="02010600030101010101" pitchFamily="2" charset="-122"/>
              </a:rPr>
              <a:t>2</a:t>
            </a:r>
            <a:r>
              <a:rPr lang="zh-CN" altLang="en-US" sz="2600" dirty="0">
                <a:solidFill>
                  <a:prstClr val="black"/>
                </a:solidFill>
                <a:latin typeface="Times New Roman"/>
                <a:ea typeface="黑体"/>
                <a:sym typeface="宋体" panose="02010600030101010101" pitchFamily="2" charset="-122"/>
              </a:rPr>
              <a:t>）若</a:t>
            </a:r>
            <a:r>
              <a:rPr lang="en-US" altLang="zh-CN" sz="2600" dirty="0">
                <a:solidFill>
                  <a:prstClr val="black"/>
                </a:solidFill>
                <a:latin typeface="Times New Roman"/>
                <a:ea typeface="黑体"/>
                <a:sym typeface="宋体" panose="02010600030101010101" pitchFamily="2" charset="-122"/>
              </a:rPr>
              <a:t>Open</a:t>
            </a:r>
            <a:r>
              <a:rPr lang="zh-CN" altLang="en-US" sz="2600" dirty="0">
                <a:solidFill>
                  <a:prstClr val="black"/>
                </a:solidFill>
                <a:latin typeface="Times New Roman"/>
                <a:ea typeface="黑体"/>
                <a:sym typeface="宋体" panose="02010600030101010101" pitchFamily="2" charset="-122"/>
              </a:rPr>
              <a:t>表为空，则失败，退出。</a:t>
            </a:r>
            <a:endParaRPr lang="en-US" altLang="zh-CN" sz="2600" dirty="0">
              <a:solidFill>
                <a:prstClr val="black"/>
              </a:solidFill>
              <a:latin typeface="Times New Roman"/>
              <a:ea typeface="黑体"/>
              <a:sym typeface="宋体" panose="02010600030101010101" pitchFamily="2" charset="-122"/>
            </a:endParaRPr>
          </a:p>
          <a:p>
            <a:pPr marL="0" indent="0" eaLnBrk="0" hangingPunct="0">
              <a:lnSpc>
                <a:spcPct val="120000"/>
              </a:lnSpc>
            </a:pPr>
            <a:r>
              <a:rPr lang="zh-CN" altLang="en-US" sz="2600" dirty="0">
                <a:solidFill>
                  <a:prstClr val="black"/>
                </a:solidFill>
                <a:latin typeface="Times New Roman"/>
                <a:ea typeface="黑体"/>
                <a:sym typeface="宋体" panose="02010600030101010101" pitchFamily="2" charset="-122"/>
              </a:rPr>
              <a:t>（</a:t>
            </a:r>
            <a:r>
              <a:rPr lang="en-US" altLang="zh-CN" sz="2600" dirty="0">
                <a:solidFill>
                  <a:prstClr val="black"/>
                </a:solidFill>
                <a:latin typeface="Times New Roman"/>
                <a:ea typeface="黑体"/>
                <a:sym typeface="宋体" panose="02010600030101010101" pitchFamily="2" charset="-122"/>
              </a:rPr>
              <a:t>3</a:t>
            </a:r>
            <a:r>
              <a:rPr lang="zh-CN" altLang="en-US" sz="2600" dirty="0">
                <a:solidFill>
                  <a:prstClr val="black"/>
                </a:solidFill>
                <a:latin typeface="Times New Roman"/>
                <a:ea typeface="黑体"/>
                <a:sym typeface="宋体" panose="02010600030101010101" pitchFamily="2" charset="-122"/>
              </a:rPr>
              <a:t>）取</a:t>
            </a:r>
            <a:r>
              <a:rPr lang="en-US" altLang="zh-CN" sz="2600" dirty="0">
                <a:solidFill>
                  <a:prstClr val="black"/>
                </a:solidFill>
                <a:latin typeface="Times New Roman"/>
                <a:ea typeface="黑体"/>
                <a:sym typeface="宋体" panose="02010600030101010101" pitchFamily="2" charset="-122"/>
              </a:rPr>
              <a:t>Open</a:t>
            </a:r>
            <a:r>
              <a:rPr lang="zh-CN" altLang="en-US" sz="2600" dirty="0">
                <a:solidFill>
                  <a:prstClr val="black"/>
                </a:solidFill>
                <a:latin typeface="Times New Roman"/>
                <a:ea typeface="黑体"/>
                <a:sym typeface="宋体" panose="02010600030101010101" pitchFamily="2" charset="-122"/>
              </a:rPr>
              <a:t>表中前面第一个节点</a:t>
            </a:r>
            <a:r>
              <a:rPr lang="en-US" altLang="zh-CN" sz="2600" i="1" dirty="0">
                <a:solidFill>
                  <a:prstClr val="black"/>
                </a:solidFill>
                <a:latin typeface="Times New Roman"/>
                <a:ea typeface="黑体"/>
                <a:sym typeface="宋体" panose="02010600030101010101" pitchFamily="2" charset="-122"/>
              </a:rPr>
              <a:t>N</a:t>
            </a:r>
            <a:r>
              <a:rPr lang="zh-CN" altLang="en-US" sz="2600" dirty="0">
                <a:solidFill>
                  <a:prstClr val="black"/>
                </a:solidFill>
                <a:latin typeface="Times New Roman"/>
                <a:ea typeface="黑体"/>
                <a:sym typeface="宋体" panose="02010600030101010101" pitchFamily="2" charset="-122"/>
              </a:rPr>
              <a:t>，放入</a:t>
            </a:r>
            <a:r>
              <a:rPr lang="en-US" altLang="zh-CN" sz="2600" dirty="0">
                <a:solidFill>
                  <a:prstClr val="black"/>
                </a:solidFill>
                <a:latin typeface="Times New Roman"/>
                <a:ea typeface="黑体"/>
                <a:sym typeface="宋体" panose="02010600030101010101" pitchFamily="2" charset="-122"/>
              </a:rPr>
              <a:t>Closed</a:t>
            </a:r>
            <a:r>
              <a:rPr lang="zh-CN" altLang="en-US" sz="2600" dirty="0">
                <a:solidFill>
                  <a:prstClr val="black"/>
                </a:solidFill>
                <a:latin typeface="Times New Roman"/>
                <a:ea typeface="黑体"/>
                <a:sym typeface="宋体" panose="02010600030101010101" pitchFamily="2" charset="-122"/>
              </a:rPr>
              <a:t>表，并冠以顺序编号</a:t>
            </a:r>
            <a:r>
              <a:rPr lang="en-US" altLang="zh-CN" sz="2600" i="1" dirty="0">
                <a:solidFill>
                  <a:prstClr val="black"/>
                </a:solidFill>
                <a:latin typeface="Times New Roman"/>
                <a:ea typeface="黑体"/>
                <a:sym typeface="宋体" panose="02010600030101010101" pitchFamily="2" charset="-122"/>
              </a:rPr>
              <a:t>n</a:t>
            </a:r>
            <a:r>
              <a:rPr lang="zh-CN" altLang="en-US" sz="2600" dirty="0">
                <a:solidFill>
                  <a:prstClr val="black"/>
                </a:solidFill>
                <a:latin typeface="Times New Roman"/>
                <a:ea typeface="黑体"/>
                <a:sym typeface="宋体" panose="02010600030101010101" pitchFamily="2" charset="-122"/>
              </a:rPr>
              <a:t>。</a:t>
            </a:r>
            <a:endParaRPr lang="en-US" altLang="zh-CN" sz="2600" dirty="0">
              <a:solidFill>
                <a:prstClr val="black"/>
              </a:solidFill>
              <a:latin typeface="Times New Roman"/>
              <a:ea typeface="黑体"/>
              <a:sym typeface="宋体" panose="02010600030101010101" pitchFamily="2" charset="-122"/>
            </a:endParaRPr>
          </a:p>
          <a:p>
            <a:pPr marL="0" indent="0" eaLnBrk="0" hangingPunct="0">
              <a:lnSpc>
                <a:spcPct val="120000"/>
              </a:lnSpc>
            </a:pPr>
            <a:r>
              <a:rPr lang="zh-CN" altLang="en-US" sz="2600" dirty="0">
                <a:solidFill>
                  <a:prstClr val="black"/>
                </a:solidFill>
                <a:latin typeface="Times New Roman"/>
                <a:ea typeface="黑体"/>
                <a:sym typeface="宋体" panose="02010600030101010101" pitchFamily="2" charset="-122"/>
              </a:rPr>
              <a:t>（</a:t>
            </a:r>
            <a:r>
              <a:rPr lang="en-US" altLang="zh-CN" sz="2600" dirty="0">
                <a:solidFill>
                  <a:prstClr val="black"/>
                </a:solidFill>
                <a:latin typeface="Times New Roman"/>
                <a:ea typeface="黑体"/>
                <a:sym typeface="宋体" panose="02010600030101010101" pitchFamily="2" charset="-122"/>
              </a:rPr>
              <a:t>4</a:t>
            </a:r>
            <a:r>
              <a:rPr lang="zh-CN" altLang="en-US" sz="2600" dirty="0">
                <a:solidFill>
                  <a:prstClr val="black"/>
                </a:solidFill>
                <a:latin typeface="Times New Roman"/>
                <a:ea typeface="黑体"/>
                <a:sym typeface="宋体" panose="02010600030101010101" pitchFamily="2" charset="-122"/>
              </a:rPr>
              <a:t>）若目标节点</a:t>
            </a:r>
            <a:r>
              <a:rPr lang="en-US" altLang="zh-CN" sz="2600" i="1" dirty="0">
                <a:solidFill>
                  <a:prstClr val="black"/>
                </a:solidFill>
                <a:latin typeface="Times New Roman"/>
                <a:ea typeface="黑体"/>
                <a:sym typeface="宋体" panose="02010600030101010101" pitchFamily="2" charset="-122"/>
              </a:rPr>
              <a:t>Sg</a:t>
            </a:r>
            <a:r>
              <a:rPr lang="en-US" altLang="zh-CN" sz="2600" dirty="0">
                <a:solidFill>
                  <a:prstClr val="black"/>
                </a:solidFill>
                <a:latin typeface="Times New Roman"/>
                <a:ea typeface="黑体"/>
                <a:sym typeface="宋体" panose="02010600030101010101" pitchFamily="2" charset="-122"/>
              </a:rPr>
              <a:t>=</a:t>
            </a:r>
            <a:r>
              <a:rPr lang="en-US" altLang="zh-CN" sz="2600" i="1" dirty="0">
                <a:solidFill>
                  <a:prstClr val="black"/>
                </a:solidFill>
                <a:latin typeface="Times New Roman"/>
                <a:ea typeface="黑体"/>
                <a:sym typeface="宋体" panose="02010600030101010101" pitchFamily="2" charset="-122"/>
              </a:rPr>
              <a:t>N</a:t>
            </a:r>
            <a:r>
              <a:rPr lang="zh-CN" altLang="en-US" sz="2600" dirty="0">
                <a:solidFill>
                  <a:prstClr val="black"/>
                </a:solidFill>
                <a:latin typeface="Times New Roman"/>
                <a:ea typeface="黑体"/>
                <a:sym typeface="宋体" panose="02010600030101010101" pitchFamily="2" charset="-122"/>
              </a:rPr>
              <a:t>，则成功，结束。</a:t>
            </a:r>
            <a:endParaRPr lang="en-US" altLang="zh-CN" sz="2600" dirty="0">
              <a:solidFill>
                <a:prstClr val="black"/>
              </a:solidFill>
              <a:latin typeface="Times New Roman"/>
              <a:ea typeface="黑体"/>
              <a:sym typeface="宋体" panose="02010600030101010101" pitchFamily="2" charset="-122"/>
            </a:endParaRPr>
          </a:p>
          <a:p>
            <a:pPr marL="0" indent="0" eaLnBrk="0" hangingPunct="0">
              <a:lnSpc>
                <a:spcPct val="120000"/>
              </a:lnSpc>
            </a:pPr>
            <a:r>
              <a:rPr lang="zh-CN" altLang="en-US" sz="2600" dirty="0">
                <a:solidFill>
                  <a:prstClr val="black"/>
                </a:solidFill>
                <a:latin typeface="Times New Roman"/>
                <a:ea typeface="黑体"/>
                <a:sym typeface="宋体" panose="02010600030101010101" pitchFamily="2" charset="-122"/>
              </a:rPr>
              <a:t>（</a:t>
            </a:r>
            <a:r>
              <a:rPr lang="en-US" altLang="zh-CN" sz="2600" dirty="0">
                <a:solidFill>
                  <a:prstClr val="black"/>
                </a:solidFill>
                <a:latin typeface="Times New Roman"/>
                <a:ea typeface="黑体"/>
                <a:sym typeface="宋体" panose="02010600030101010101" pitchFamily="2" charset="-122"/>
              </a:rPr>
              <a:t>5</a:t>
            </a:r>
            <a:r>
              <a:rPr lang="zh-CN" altLang="en-US" sz="2600" dirty="0">
                <a:solidFill>
                  <a:prstClr val="black"/>
                </a:solidFill>
                <a:latin typeface="Times New Roman"/>
                <a:ea typeface="黑体"/>
                <a:sym typeface="宋体" panose="02010600030101010101" pitchFamily="2" charset="-122"/>
              </a:rPr>
              <a:t>）若</a:t>
            </a:r>
            <a:r>
              <a:rPr lang="en-US" altLang="zh-CN" sz="2600" dirty="0">
                <a:solidFill>
                  <a:prstClr val="black"/>
                </a:solidFill>
                <a:latin typeface="Times New Roman"/>
                <a:ea typeface="黑体"/>
                <a:sym typeface="宋体" panose="02010600030101010101" pitchFamily="2" charset="-122"/>
              </a:rPr>
              <a:t>N</a:t>
            </a:r>
            <a:r>
              <a:rPr lang="zh-CN" altLang="en-US" sz="2600" dirty="0">
                <a:solidFill>
                  <a:prstClr val="black"/>
                </a:solidFill>
                <a:latin typeface="Times New Roman"/>
                <a:ea typeface="黑体"/>
                <a:sym typeface="宋体" panose="02010600030101010101" pitchFamily="2" charset="-122"/>
              </a:rPr>
              <a:t>的深度</a:t>
            </a:r>
            <a:r>
              <a:rPr lang="en-US" altLang="zh-CN" sz="2600" i="1" dirty="0">
                <a:solidFill>
                  <a:prstClr val="black"/>
                </a:solidFill>
                <a:latin typeface="Times New Roman"/>
                <a:ea typeface="黑体"/>
                <a:sym typeface="宋体" panose="02010600030101010101" pitchFamily="2" charset="-122"/>
              </a:rPr>
              <a:t>d</a:t>
            </a:r>
            <a:r>
              <a:rPr lang="en-US" altLang="zh-CN" sz="2600" dirty="0">
                <a:solidFill>
                  <a:prstClr val="black"/>
                </a:solidFill>
                <a:latin typeface="Times New Roman"/>
                <a:ea typeface="黑体"/>
                <a:sym typeface="宋体" panose="02010600030101010101" pitchFamily="2" charset="-122"/>
              </a:rPr>
              <a:t>(</a:t>
            </a:r>
            <a:r>
              <a:rPr lang="en-US" altLang="zh-CN" sz="2600" i="1" dirty="0">
                <a:solidFill>
                  <a:prstClr val="black"/>
                </a:solidFill>
                <a:latin typeface="Times New Roman"/>
                <a:ea typeface="黑体"/>
                <a:sym typeface="宋体" panose="02010600030101010101" pitchFamily="2" charset="-122"/>
              </a:rPr>
              <a:t>N</a:t>
            </a:r>
            <a:r>
              <a:rPr lang="en-US" altLang="zh-CN" sz="2600" dirty="0">
                <a:solidFill>
                  <a:prstClr val="black"/>
                </a:solidFill>
                <a:latin typeface="Times New Roman"/>
                <a:ea typeface="黑体"/>
                <a:sym typeface="宋体" panose="02010600030101010101" pitchFamily="2" charset="-122"/>
              </a:rPr>
              <a:t>)=</a:t>
            </a:r>
            <a:r>
              <a:rPr lang="en-US" altLang="zh-CN" sz="2600" i="1" dirty="0">
                <a:solidFill>
                  <a:prstClr val="black"/>
                </a:solidFill>
                <a:latin typeface="Times New Roman"/>
                <a:ea typeface="黑体"/>
                <a:sym typeface="宋体" panose="02010600030101010101" pitchFamily="2" charset="-122"/>
              </a:rPr>
              <a:t>d</a:t>
            </a:r>
            <a:r>
              <a:rPr lang="en-US" altLang="zh-CN" sz="2600" i="1" baseline="-25000" dirty="0">
                <a:solidFill>
                  <a:prstClr val="black"/>
                </a:solidFill>
                <a:latin typeface="Times New Roman"/>
                <a:ea typeface="黑体"/>
                <a:sym typeface="宋体" panose="02010600030101010101" pitchFamily="2" charset="-122"/>
              </a:rPr>
              <a:t>m</a:t>
            </a:r>
            <a:r>
              <a:rPr lang="zh-CN" altLang="en-US" sz="2600" dirty="0">
                <a:solidFill>
                  <a:prstClr val="black"/>
                </a:solidFill>
                <a:latin typeface="Times New Roman"/>
                <a:ea typeface="黑体"/>
                <a:sym typeface="宋体" panose="02010600030101010101" pitchFamily="2" charset="-122"/>
              </a:rPr>
              <a:t>（深度限制值），或若</a:t>
            </a:r>
            <a:r>
              <a:rPr lang="en-US" altLang="zh-CN" sz="2600" i="1" dirty="0">
                <a:solidFill>
                  <a:prstClr val="black"/>
                </a:solidFill>
                <a:latin typeface="Times New Roman"/>
                <a:ea typeface="黑体"/>
                <a:sym typeface="宋体" panose="02010600030101010101" pitchFamily="2" charset="-122"/>
              </a:rPr>
              <a:t>N</a:t>
            </a:r>
            <a:r>
              <a:rPr lang="zh-CN" altLang="en-US" sz="2600" dirty="0">
                <a:solidFill>
                  <a:prstClr val="black"/>
                </a:solidFill>
                <a:latin typeface="Times New Roman"/>
                <a:ea typeface="黑体"/>
                <a:sym typeface="宋体" panose="02010600030101010101" pitchFamily="2" charset="-122"/>
              </a:rPr>
              <a:t>无子节点，则转步骤（</a:t>
            </a:r>
            <a:r>
              <a:rPr lang="en-US" altLang="zh-CN" sz="2600" dirty="0">
                <a:solidFill>
                  <a:prstClr val="black"/>
                </a:solidFill>
                <a:latin typeface="Times New Roman"/>
                <a:ea typeface="黑体"/>
                <a:sym typeface="宋体" panose="02010600030101010101" pitchFamily="2" charset="-122"/>
              </a:rPr>
              <a:t>2</a:t>
            </a:r>
            <a:r>
              <a:rPr lang="zh-CN" altLang="en-US" sz="2600" dirty="0">
                <a:solidFill>
                  <a:prstClr val="black"/>
                </a:solidFill>
                <a:latin typeface="Times New Roman"/>
                <a:ea typeface="黑体"/>
                <a:sym typeface="宋体" panose="02010600030101010101" pitchFamily="2" charset="-122"/>
              </a:rPr>
              <a:t>）</a:t>
            </a:r>
            <a:r>
              <a:rPr lang="en-US" altLang="zh-CN" sz="2600" dirty="0">
                <a:solidFill>
                  <a:prstClr val="black"/>
                </a:solidFill>
                <a:latin typeface="Times New Roman"/>
                <a:ea typeface="黑体"/>
                <a:sym typeface="宋体" panose="02010600030101010101" pitchFamily="2" charset="-122"/>
              </a:rPr>
              <a:t>.</a:t>
            </a:r>
          </a:p>
          <a:p>
            <a:pPr marL="0" indent="0" eaLnBrk="0" hangingPunct="0">
              <a:lnSpc>
                <a:spcPct val="120000"/>
              </a:lnSpc>
            </a:pPr>
            <a:r>
              <a:rPr lang="zh-CN" altLang="en-US" sz="2600" dirty="0">
                <a:solidFill>
                  <a:prstClr val="black"/>
                </a:solidFill>
                <a:latin typeface="Times New Roman"/>
                <a:ea typeface="黑体"/>
                <a:sym typeface="宋体" panose="02010600030101010101" pitchFamily="2" charset="-122"/>
              </a:rPr>
              <a:t>（</a:t>
            </a:r>
            <a:r>
              <a:rPr lang="en-US" altLang="zh-CN" sz="2600" dirty="0">
                <a:solidFill>
                  <a:prstClr val="black"/>
                </a:solidFill>
                <a:latin typeface="Times New Roman"/>
                <a:ea typeface="黑体"/>
                <a:sym typeface="宋体" panose="02010600030101010101" pitchFamily="2" charset="-122"/>
              </a:rPr>
              <a:t>6</a:t>
            </a:r>
            <a:r>
              <a:rPr lang="zh-CN" altLang="en-US" sz="2600" dirty="0">
                <a:solidFill>
                  <a:prstClr val="black"/>
                </a:solidFill>
                <a:latin typeface="Times New Roman"/>
                <a:ea typeface="黑体"/>
                <a:sym typeface="宋体" panose="02010600030101010101" pitchFamily="2" charset="-122"/>
              </a:rPr>
              <a:t>）扩展</a:t>
            </a:r>
            <a:r>
              <a:rPr lang="en-US" altLang="zh-CN" sz="2600" i="1" dirty="0">
                <a:solidFill>
                  <a:prstClr val="black"/>
                </a:solidFill>
                <a:latin typeface="Times New Roman"/>
                <a:ea typeface="黑体"/>
                <a:sym typeface="宋体" panose="02010600030101010101" pitchFamily="2" charset="-122"/>
              </a:rPr>
              <a:t>N</a:t>
            </a:r>
            <a:r>
              <a:rPr lang="zh-CN" altLang="en-US" sz="2600" dirty="0">
                <a:solidFill>
                  <a:prstClr val="black"/>
                </a:solidFill>
                <a:latin typeface="Times New Roman"/>
                <a:ea typeface="黑体"/>
                <a:sym typeface="宋体" panose="02010600030101010101" pitchFamily="2" charset="-122"/>
              </a:rPr>
              <a:t>，将其所有子节点</a:t>
            </a:r>
            <a:r>
              <a:rPr lang="en-US" altLang="zh-CN" sz="2600" i="1" dirty="0">
                <a:solidFill>
                  <a:prstClr val="black"/>
                </a:solidFill>
                <a:latin typeface="Times New Roman"/>
                <a:ea typeface="黑体"/>
                <a:sym typeface="宋体" panose="02010600030101010101" pitchFamily="2" charset="-122"/>
              </a:rPr>
              <a:t>N</a:t>
            </a:r>
            <a:r>
              <a:rPr lang="en-US" altLang="zh-CN" sz="2600" i="1" baseline="-25000" dirty="0">
                <a:solidFill>
                  <a:prstClr val="black"/>
                </a:solidFill>
                <a:latin typeface="Times New Roman"/>
                <a:ea typeface="黑体"/>
                <a:sym typeface="宋体" panose="02010600030101010101" pitchFamily="2" charset="-122"/>
              </a:rPr>
              <a:t>i</a:t>
            </a:r>
            <a:r>
              <a:rPr lang="zh-CN" altLang="en-US" sz="2600" dirty="0">
                <a:solidFill>
                  <a:prstClr val="black"/>
                </a:solidFill>
                <a:latin typeface="Times New Roman"/>
                <a:ea typeface="黑体"/>
                <a:sym typeface="宋体" panose="02010600030101010101" pitchFamily="2" charset="-122"/>
              </a:rPr>
              <a:t>配上指向</a:t>
            </a:r>
            <a:r>
              <a:rPr lang="en-US" altLang="zh-CN" sz="2600" i="1" dirty="0">
                <a:solidFill>
                  <a:prstClr val="black"/>
                </a:solidFill>
                <a:latin typeface="Times New Roman"/>
                <a:ea typeface="黑体"/>
                <a:sym typeface="宋体" panose="02010600030101010101" pitchFamily="2" charset="-122"/>
              </a:rPr>
              <a:t>N</a:t>
            </a:r>
            <a:r>
              <a:rPr lang="zh-CN" altLang="en-US" sz="2600" dirty="0">
                <a:solidFill>
                  <a:prstClr val="black"/>
                </a:solidFill>
                <a:latin typeface="Times New Roman"/>
                <a:ea typeface="黑体"/>
                <a:sym typeface="宋体" panose="02010600030101010101" pitchFamily="2" charset="-122"/>
              </a:rPr>
              <a:t>的返回指针后依次放入</a:t>
            </a:r>
            <a:r>
              <a:rPr lang="en-US" altLang="zh-CN" sz="2600" dirty="0">
                <a:solidFill>
                  <a:prstClr val="black"/>
                </a:solidFill>
                <a:latin typeface="Times New Roman"/>
                <a:ea typeface="黑体"/>
                <a:sym typeface="宋体" panose="02010600030101010101" pitchFamily="2" charset="-122"/>
              </a:rPr>
              <a:t>Open</a:t>
            </a:r>
            <a:r>
              <a:rPr lang="zh-CN" altLang="en-US" sz="2600" dirty="0">
                <a:solidFill>
                  <a:prstClr val="black"/>
                </a:solidFill>
                <a:latin typeface="Times New Roman"/>
                <a:ea typeface="黑体"/>
                <a:sym typeface="宋体" panose="02010600030101010101" pitchFamily="2" charset="-122"/>
              </a:rPr>
              <a:t>表前部，置</a:t>
            </a:r>
            <a:r>
              <a:rPr lang="en-US" altLang="zh-CN" sz="2600" i="1" dirty="0">
                <a:solidFill>
                  <a:prstClr val="black"/>
                </a:solidFill>
                <a:latin typeface="Times New Roman"/>
                <a:ea typeface="黑体"/>
                <a:sym typeface="宋体" panose="02010600030101010101" pitchFamily="2" charset="-122"/>
              </a:rPr>
              <a:t>d</a:t>
            </a:r>
            <a:r>
              <a:rPr lang="en-US" altLang="zh-CN" sz="2600" dirty="0">
                <a:solidFill>
                  <a:prstClr val="black"/>
                </a:solidFill>
                <a:latin typeface="Times New Roman"/>
                <a:ea typeface="黑体"/>
                <a:sym typeface="宋体" panose="02010600030101010101" pitchFamily="2" charset="-122"/>
              </a:rPr>
              <a:t>(</a:t>
            </a:r>
            <a:r>
              <a:rPr lang="en-US" altLang="zh-CN" sz="2600" i="1" dirty="0">
                <a:solidFill>
                  <a:prstClr val="black"/>
                </a:solidFill>
                <a:latin typeface="Times New Roman"/>
                <a:ea typeface="黑体"/>
                <a:sym typeface="宋体" panose="02010600030101010101" pitchFamily="2" charset="-122"/>
              </a:rPr>
              <a:t>N</a:t>
            </a:r>
            <a:r>
              <a:rPr lang="en-US" altLang="zh-CN" sz="2600" i="1" baseline="-25000" dirty="0">
                <a:solidFill>
                  <a:prstClr val="black"/>
                </a:solidFill>
                <a:latin typeface="Times New Roman"/>
                <a:ea typeface="黑体"/>
                <a:sym typeface="宋体" panose="02010600030101010101" pitchFamily="2" charset="-122"/>
              </a:rPr>
              <a:t>i</a:t>
            </a:r>
            <a:r>
              <a:rPr lang="en-US" altLang="zh-CN" sz="2600" dirty="0">
                <a:solidFill>
                  <a:prstClr val="black"/>
                </a:solidFill>
                <a:latin typeface="Times New Roman"/>
                <a:ea typeface="黑体"/>
                <a:sym typeface="宋体" panose="02010600030101010101" pitchFamily="2" charset="-122"/>
              </a:rPr>
              <a:t>)=</a:t>
            </a:r>
            <a:r>
              <a:rPr lang="en-US" altLang="zh-CN" sz="2600" i="1" dirty="0">
                <a:solidFill>
                  <a:prstClr val="black"/>
                </a:solidFill>
                <a:latin typeface="Times New Roman"/>
                <a:ea typeface="黑体"/>
                <a:sym typeface="宋体" panose="02010600030101010101" pitchFamily="2" charset="-122"/>
              </a:rPr>
              <a:t>d</a:t>
            </a:r>
            <a:r>
              <a:rPr lang="en-US" altLang="zh-CN" sz="2600" dirty="0">
                <a:solidFill>
                  <a:prstClr val="black"/>
                </a:solidFill>
                <a:latin typeface="Times New Roman"/>
                <a:ea typeface="黑体"/>
                <a:sym typeface="宋体" panose="02010600030101010101" pitchFamily="2" charset="-122"/>
              </a:rPr>
              <a:t>(</a:t>
            </a:r>
            <a:r>
              <a:rPr lang="en-US" altLang="zh-CN" sz="2600" i="1" dirty="0">
                <a:solidFill>
                  <a:prstClr val="black"/>
                </a:solidFill>
                <a:latin typeface="Times New Roman"/>
                <a:ea typeface="黑体"/>
                <a:sym typeface="宋体" panose="02010600030101010101" pitchFamily="2" charset="-122"/>
              </a:rPr>
              <a:t>N</a:t>
            </a:r>
            <a:r>
              <a:rPr lang="en-US" altLang="zh-CN" sz="2600" dirty="0">
                <a:solidFill>
                  <a:prstClr val="black"/>
                </a:solidFill>
                <a:latin typeface="Times New Roman"/>
                <a:ea typeface="黑体"/>
                <a:sym typeface="宋体" panose="02010600030101010101" pitchFamily="2" charset="-122"/>
              </a:rPr>
              <a:t>)+1</a:t>
            </a:r>
            <a:r>
              <a:rPr lang="zh-CN" altLang="en-US" sz="2600" dirty="0">
                <a:solidFill>
                  <a:prstClr val="black"/>
                </a:solidFill>
                <a:latin typeface="Times New Roman"/>
                <a:ea typeface="黑体"/>
                <a:sym typeface="宋体" panose="02010600030101010101" pitchFamily="2" charset="-122"/>
              </a:rPr>
              <a:t>，转（</a:t>
            </a:r>
            <a:r>
              <a:rPr lang="en-US" altLang="zh-CN" sz="2600" dirty="0">
                <a:solidFill>
                  <a:prstClr val="black"/>
                </a:solidFill>
                <a:latin typeface="Times New Roman"/>
                <a:ea typeface="黑体"/>
                <a:sym typeface="宋体" panose="02010600030101010101" pitchFamily="2" charset="-122"/>
              </a:rPr>
              <a:t>2</a:t>
            </a:r>
            <a:r>
              <a:rPr lang="zh-CN" altLang="en-US" sz="2600" dirty="0">
                <a:solidFill>
                  <a:prstClr val="black"/>
                </a:solidFill>
                <a:latin typeface="Times New Roman"/>
                <a:ea typeface="黑体"/>
                <a:sym typeface="宋体" panose="02010600030101010101" pitchFamily="2" charset="-122"/>
              </a:rPr>
              <a:t>）。</a:t>
            </a:r>
            <a:endParaRPr lang="en-US" altLang="zh-CN" sz="2600" dirty="0">
              <a:solidFill>
                <a:prstClr val="black"/>
              </a:solidFill>
              <a:latin typeface="Times New Roman"/>
              <a:ea typeface="黑体"/>
              <a:sym typeface="宋体" panose="02010600030101010101" pitchFamily="2" charset="-122"/>
            </a:endParaRPr>
          </a:p>
          <a:p>
            <a:pPr marL="0" indent="0" eaLnBrk="0" hangingPunct="0">
              <a:lnSpc>
                <a:spcPct val="120000"/>
              </a:lnSpc>
            </a:pPr>
            <a:endParaRPr lang="en-US" altLang="zh-CN" sz="2600" dirty="0">
              <a:solidFill>
                <a:prstClr val="black"/>
              </a:solidFill>
              <a:latin typeface="Times New Roman"/>
              <a:ea typeface="黑体"/>
              <a:sym typeface="宋体" panose="02010600030101010101" pitchFamily="2" charset="-122"/>
            </a:endParaRPr>
          </a:p>
        </p:txBody>
      </p:sp>
    </p:spTree>
    <p:extLst>
      <p:ext uri="{BB962C8B-B14F-4D97-AF65-F5344CB8AC3E}">
        <p14:creationId xmlns:p14="http://schemas.microsoft.com/office/powerpoint/2010/main" val="97809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
                                            <p:txEl>
                                              <p:pRg st="0" end="0"/>
                                            </p:txEl>
                                          </p:spTgt>
                                        </p:tgtEl>
                                        <p:attrNameLst>
                                          <p:attrName>style.visibility</p:attrName>
                                        </p:attrNameLst>
                                      </p:cBhvr>
                                      <p:to>
                                        <p:strVal val="visible"/>
                                      </p:to>
                                    </p:set>
                                    <p:animEffect transition="in" filter="fade">
                                      <p:cBhvr>
                                        <p:cTn id="12" dur="500"/>
                                        <p:tgtEl>
                                          <p:spTgt spid="7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
                                            <p:txEl>
                                              <p:pRg st="1" end="1"/>
                                            </p:txEl>
                                          </p:spTgt>
                                        </p:tgtEl>
                                        <p:attrNameLst>
                                          <p:attrName>style.visibility</p:attrName>
                                        </p:attrNameLst>
                                      </p:cBhvr>
                                      <p:to>
                                        <p:strVal val="visible"/>
                                      </p:to>
                                    </p:set>
                                    <p:animEffect transition="in" filter="fade">
                                      <p:cBhvr>
                                        <p:cTn id="17" dur="500"/>
                                        <p:tgtEl>
                                          <p:spTgt spid="7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2">
                                            <p:txEl>
                                              <p:pRg st="2" end="2"/>
                                            </p:txEl>
                                          </p:spTgt>
                                        </p:tgtEl>
                                        <p:attrNameLst>
                                          <p:attrName>style.visibility</p:attrName>
                                        </p:attrNameLst>
                                      </p:cBhvr>
                                      <p:to>
                                        <p:strVal val="visible"/>
                                      </p:to>
                                    </p:set>
                                    <p:animEffect transition="in" filter="fade">
                                      <p:cBhvr>
                                        <p:cTn id="22" dur="500"/>
                                        <p:tgtEl>
                                          <p:spTgt spid="7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2">
                                            <p:txEl>
                                              <p:pRg st="3" end="3"/>
                                            </p:txEl>
                                          </p:spTgt>
                                        </p:tgtEl>
                                        <p:attrNameLst>
                                          <p:attrName>style.visibility</p:attrName>
                                        </p:attrNameLst>
                                      </p:cBhvr>
                                      <p:to>
                                        <p:strVal val="visible"/>
                                      </p:to>
                                    </p:set>
                                    <p:animEffect transition="in" filter="fade">
                                      <p:cBhvr>
                                        <p:cTn id="27" dur="500"/>
                                        <p:tgtEl>
                                          <p:spTgt spid="7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2">
                                            <p:txEl>
                                              <p:pRg st="4" end="4"/>
                                            </p:txEl>
                                          </p:spTgt>
                                        </p:tgtEl>
                                        <p:attrNameLst>
                                          <p:attrName>style.visibility</p:attrName>
                                        </p:attrNameLst>
                                      </p:cBhvr>
                                      <p:to>
                                        <p:strVal val="visible"/>
                                      </p:to>
                                    </p:set>
                                    <p:animEffect transition="in" filter="fade">
                                      <p:cBhvr>
                                        <p:cTn id="32" dur="500"/>
                                        <p:tgtEl>
                                          <p:spTgt spid="7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2">
                                            <p:txEl>
                                              <p:pRg st="5" end="5"/>
                                            </p:txEl>
                                          </p:spTgt>
                                        </p:tgtEl>
                                        <p:attrNameLst>
                                          <p:attrName>style.visibility</p:attrName>
                                        </p:attrNameLst>
                                      </p:cBhvr>
                                      <p:to>
                                        <p:strVal val="visible"/>
                                      </p:to>
                                    </p:set>
                                    <p:animEffect transition="in" filter="fade">
                                      <p:cBhvr>
                                        <p:cTn id="37" dur="500"/>
                                        <p:tgtEl>
                                          <p:spTgt spid="7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4B0FCA45-B62A-4C00-BD5E-BC2170B41538}"/>
              </a:ext>
            </a:extLst>
          </p:cNvPr>
          <p:cNvSpPr>
            <a:spLocks noGrp="1"/>
          </p:cNvSpPr>
          <p:nvPr>
            <p:ph type="title"/>
          </p:nvPr>
        </p:nvSpPr>
        <p:spPr>
          <a:xfrm>
            <a:off x="1799707" y="99153"/>
            <a:ext cx="8376356" cy="657727"/>
          </a:xfrm>
        </p:spPr>
        <p:txBody>
          <a:bodyPr/>
          <a:lstStyle/>
          <a:p>
            <a:pPr algn="l">
              <a:lnSpc>
                <a:spcPct val="100000"/>
              </a:lnSpc>
            </a:pPr>
            <a:r>
              <a:rPr lang="zh-CN" altLang="en-US" sz="4000" dirty="0">
                <a:latin typeface="方正姚体" panose="02010601030101010101" pitchFamily="2" charset="-122"/>
                <a:ea typeface="方正姚体" panose="02010601030101010101" pitchFamily="2" charset="-122"/>
                <a:cs typeface="Times New Roman" panose="02020603050405020304" pitchFamily="18" charset="0"/>
              </a:rPr>
              <a:t>盲目搜索</a:t>
            </a:r>
          </a:p>
        </p:txBody>
      </p:sp>
      <p:sp>
        <p:nvSpPr>
          <p:cNvPr id="10" name="文本框 9">
            <a:extLst>
              <a:ext uri="{FF2B5EF4-FFF2-40B4-BE49-F238E27FC236}">
                <a16:creationId xmlns:a16="http://schemas.microsoft.com/office/drawing/2014/main" id="{7C183DD3-8DEA-4776-A786-113EA8A27F22}"/>
              </a:ext>
            </a:extLst>
          </p:cNvPr>
          <p:cNvSpPr txBox="1"/>
          <p:nvPr/>
        </p:nvSpPr>
        <p:spPr>
          <a:xfrm>
            <a:off x="1852611" y="943034"/>
            <a:ext cx="8105856" cy="784638"/>
          </a:xfrm>
          <a:prstGeom prst="rect">
            <a:avLst/>
          </a:prstGeom>
          <a:noFill/>
        </p:spPr>
        <p:txBody>
          <a:bodyPr wrap="square">
            <a:spAutoFit/>
          </a:bodyPr>
          <a:lstStyle/>
          <a:p>
            <a:pPr>
              <a:lnSpc>
                <a:spcPct val="150000"/>
              </a:lnSpc>
            </a:pPr>
            <a:r>
              <a:rPr lang="zh-CN" altLang="en-US" sz="3600" dirty="0">
                <a:solidFill>
                  <a:srgbClr val="C00000"/>
                </a:solidFill>
                <a:latin typeface="方正姚体" panose="02010601030101010101" pitchFamily="2" charset="-122"/>
                <a:ea typeface="方正姚体" panose="02010601030101010101" pitchFamily="2" charset="-122"/>
              </a:rPr>
              <a:t>盲目搜索的不足及改进措施</a:t>
            </a:r>
          </a:p>
        </p:txBody>
      </p:sp>
      <p:sp>
        <p:nvSpPr>
          <p:cNvPr id="74" name="内容占位符 2">
            <a:extLst>
              <a:ext uri="{FF2B5EF4-FFF2-40B4-BE49-F238E27FC236}">
                <a16:creationId xmlns:a16="http://schemas.microsoft.com/office/drawing/2014/main" id="{88FF7E73-FBE4-4E51-8E85-6044B60B3FB1}"/>
              </a:ext>
            </a:extLst>
          </p:cNvPr>
          <p:cNvSpPr txBox="1">
            <a:spLocks noChangeArrowheads="1"/>
          </p:cNvSpPr>
          <p:nvPr/>
        </p:nvSpPr>
        <p:spPr bwMode="auto">
          <a:xfrm>
            <a:off x="2058572" y="1772529"/>
            <a:ext cx="7909249" cy="479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457200" indent="-457200" eaLnBrk="0" hangingPunct="0">
              <a:lnSpc>
                <a:spcPct val="150000"/>
              </a:lnSpc>
              <a:buFont typeface="Arial" panose="020B0604020202020204" pitchFamily="34" charset="0"/>
              <a:buChar char="•"/>
            </a:pPr>
            <a:r>
              <a:rPr lang="zh-CN" altLang="en-US" sz="2800" dirty="0">
                <a:solidFill>
                  <a:prstClr val="black"/>
                </a:solidFill>
                <a:latin typeface="黑体"/>
                <a:ea typeface="黑体"/>
              </a:rPr>
              <a:t>效率低，耗费过多的计算空间与时间</a:t>
            </a:r>
            <a:endParaRPr lang="en-US" altLang="zh-CN" sz="2800" dirty="0">
              <a:solidFill>
                <a:prstClr val="black"/>
              </a:solidFill>
              <a:latin typeface="黑体"/>
              <a:ea typeface="黑体"/>
            </a:endParaRPr>
          </a:p>
          <a:p>
            <a:pPr marL="457200" indent="-457200" eaLnBrk="0" hangingPunct="0">
              <a:lnSpc>
                <a:spcPct val="150000"/>
              </a:lnSpc>
              <a:buFont typeface="Arial" panose="020B0604020202020204" pitchFamily="34" charset="0"/>
              <a:buChar char="•"/>
            </a:pPr>
            <a:r>
              <a:rPr lang="zh-CN" altLang="en-US" sz="2800" dirty="0">
                <a:solidFill>
                  <a:prstClr val="black"/>
                </a:solidFill>
                <a:latin typeface="黑体"/>
                <a:ea typeface="黑体"/>
              </a:rPr>
              <a:t>进行搜索最好结合具体问题领域的特性信息，即</a:t>
            </a:r>
            <a:r>
              <a:rPr lang="zh-CN" altLang="en-US" sz="2800" dirty="0">
                <a:solidFill>
                  <a:srgbClr val="FF0000"/>
                </a:solidFill>
                <a:latin typeface="黑体"/>
                <a:ea typeface="黑体"/>
              </a:rPr>
              <a:t>启发信息</a:t>
            </a:r>
            <a:r>
              <a:rPr lang="zh-CN" altLang="en-US" sz="2800" dirty="0">
                <a:solidFill>
                  <a:prstClr val="black"/>
                </a:solidFill>
                <a:latin typeface="黑体"/>
                <a:ea typeface="黑体"/>
              </a:rPr>
              <a:t>，缩小搜索范围，提高搜索效率。</a:t>
            </a:r>
          </a:p>
        </p:txBody>
      </p:sp>
    </p:spTree>
    <p:extLst>
      <p:ext uri="{BB962C8B-B14F-4D97-AF65-F5344CB8AC3E}">
        <p14:creationId xmlns:p14="http://schemas.microsoft.com/office/powerpoint/2010/main" val="4061462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1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4">
                                            <p:txEl>
                                              <p:pRg st="0" end="0"/>
                                            </p:txEl>
                                          </p:spTgt>
                                        </p:tgtEl>
                                        <p:attrNameLst>
                                          <p:attrName>style.visibility</p:attrName>
                                        </p:attrNameLst>
                                      </p:cBhvr>
                                      <p:to>
                                        <p:strVal val="visible"/>
                                      </p:to>
                                    </p:set>
                                    <p:animEffect transition="in" filter="fade">
                                      <p:cBhvr>
                                        <p:cTn id="12" dur="1000"/>
                                        <p:tgtEl>
                                          <p:spTgt spid="74">
                                            <p:txEl>
                                              <p:pRg st="0" end="0"/>
                                            </p:txEl>
                                          </p:spTgt>
                                        </p:tgtEl>
                                      </p:cBhvr>
                                    </p:animEffect>
                                    <p:anim calcmode="lin" valueType="num">
                                      <p:cBhvr>
                                        <p:cTn id="13" dur="1000" fill="hold"/>
                                        <p:tgtEl>
                                          <p:spTgt spid="7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7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4">
                                            <p:txEl>
                                              <p:pRg st="1" end="1"/>
                                            </p:txEl>
                                          </p:spTgt>
                                        </p:tgtEl>
                                        <p:attrNameLst>
                                          <p:attrName>style.visibility</p:attrName>
                                        </p:attrNameLst>
                                      </p:cBhvr>
                                      <p:to>
                                        <p:strVal val="visible"/>
                                      </p:to>
                                    </p:set>
                                    <p:animEffect transition="in" filter="fade">
                                      <p:cBhvr>
                                        <p:cTn id="19" dur="1000"/>
                                        <p:tgtEl>
                                          <p:spTgt spid="74">
                                            <p:txEl>
                                              <p:pRg st="1" end="1"/>
                                            </p:txEl>
                                          </p:spTgt>
                                        </p:tgtEl>
                                      </p:cBhvr>
                                    </p:animEffect>
                                    <p:anim calcmode="lin" valueType="num">
                                      <p:cBhvr>
                                        <p:cTn id="20" dur="1000" fill="hold"/>
                                        <p:tgtEl>
                                          <p:spTgt spid="74">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日期占位符 1">
            <a:extLst>
              <a:ext uri="{FF2B5EF4-FFF2-40B4-BE49-F238E27FC236}">
                <a16:creationId xmlns:a16="http://schemas.microsoft.com/office/drawing/2014/main" id="{429307A4-718A-4125-935B-86658EA35A8E}"/>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E94614D9-D3A5-4054-B91E-278F9B4B31A2}" type="datetime1">
              <a:rPr lang="zh-CN" altLang="en-US">
                <a:solidFill>
                  <a:srgbClr val="000000"/>
                </a:solidFill>
                <a:latin typeface="Tahoma" panose="020B0604030504040204" pitchFamily="34" charset="0"/>
              </a:rPr>
              <a:pPr/>
              <a:t>2023/4/15</a:t>
            </a:fld>
            <a:endParaRPr lang="zh-CN" altLang="en-US" dirty="0">
              <a:solidFill>
                <a:srgbClr val="000000"/>
              </a:solidFill>
              <a:latin typeface="Tahoma" panose="020B0604030504040204" pitchFamily="34" charset="0"/>
            </a:endParaRPr>
          </a:p>
        </p:txBody>
      </p:sp>
      <p:sp>
        <p:nvSpPr>
          <p:cNvPr id="125954" name="Rectangle 3">
            <a:extLst>
              <a:ext uri="{FF2B5EF4-FFF2-40B4-BE49-F238E27FC236}">
                <a16:creationId xmlns:a16="http://schemas.microsoft.com/office/drawing/2014/main" id="{94690086-901E-4856-AE36-3551CC049626}"/>
              </a:ext>
            </a:extLst>
          </p:cNvPr>
          <p:cNvSpPr>
            <a:spLocks noGrp="1" noChangeArrowheads="1"/>
          </p:cNvSpPr>
          <p:nvPr/>
        </p:nvSpPr>
        <p:spPr bwMode="auto">
          <a:xfrm>
            <a:off x="2552176" y="1090613"/>
            <a:ext cx="7167561"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indent="0" algn="just">
              <a:lnSpc>
                <a:spcPct val="140000"/>
              </a:lnSpc>
              <a:buClr>
                <a:srgbClr val="C0504D"/>
              </a:buClr>
            </a:pPr>
            <a:r>
              <a:rPr lang="zh-CN" altLang="en-US" sz="2800" b="1" dirty="0">
                <a:solidFill>
                  <a:prstClr val="black"/>
                </a:solidFill>
                <a:latin typeface="华文宋体" panose="02010600040101010101" pitchFamily="2" charset="-122"/>
                <a:ea typeface="华文宋体" panose="02010600040101010101" pitchFamily="2" charset="-122"/>
              </a:rPr>
              <a:t>例：</a:t>
            </a:r>
            <a:r>
              <a:rPr lang="zh-CN" altLang="en-US" sz="2800" dirty="0">
                <a:solidFill>
                  <a:prstClr val="black"/>
                </a:solidFill>
                <a:latin typeface="华文宋体" panose="02010600040101010101" pitchFamily="2" charset="-122"/>
                <a:ea typeface="华文宋体" panose="02010600040101010101" pitchFamily="2" charset="-122"/>
              </a:rPr>
              <a:t>通过搬动积木块，从初始状态达到目的状态，即三块积木堆叠在一起。 </a:t>
            </a:r>
          </a:p>
        </p:txBody>
      </p:sp>
      <p:grpSp>
        <p:nvGrpSpPr>
          <p:cNvPr id="125957" name="Group 8">
            <a:extLst>
              <a:ext uri="{FF2B5EF4-FFF2-40B4-BE49-F238E27FC236}">
                <a16:creationId xmlns:a16="http://schemas.microsoft.com/office/drawing/2014/main" id="{D68675E0-2655-4A3B-A853-ABA992AF0B61}"/>
              </a:ext>
            </a:extLst>
          </p:cNvPr>
          <p:cNvGrpSpPr>
            <a:grpSpLocks noChangeAspect="1"/>
          </p:cNvGrpSpPr>
          <p:nvPr/>
        </p:nvGrpSpPr>
        <p:grpSpPr bwMode="auto">
          <a:xfrm>
            <a:off x="2895600" y="2352818"/>
            <a:ext cx="6781800" cy="3098800"/>
            <a:chOff x="480" y="1584"/>
            <a:chExt cx="4272" cy="1952"/>
          </a:xfrm>
        </p:grpSpPr>
        <p:sp>
          <p:nvSpPr>
            <p:cNvPr id="125958" name="AutoShape 7">
              <a:extLst>
                <a:ext uri="{FF2B5EF4-FFF2-40B4-BE49-F238E27FC236}">
                  <a16:creationId xmlns:a16="http://schemas.microsoft.com/office/drawing/2014/main" id="{5BB4D4BD-3A33-4DC3-88AC-E4726BBD03EB}"/>
                </a:ext>
              </a:extLst>
            </p:cNvPr>
            <p:cNvSpPr>
              <a:spLocks noChangeAspect="1" noChangeArrowheads="1" noTextEdit="1"/>
            </p:cNvSpPr>
            <p:nvPr/>
          </p:nvSpPr>
          <p:spPr bwMode="auto">
            <a:xfrm>
              <a:off x="480" y="1584"/>
              <a:ext cx="4272" cy="1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5959" name="Line 9">
              <a:extLst>
                <a:ext uri="{FF2B5EF4-FFF2-40B4-BE49-F238E27FC236}">
                  <a16:creationId xmlns:a16="http://schemas.microsoft.com/office/drawing/2014/main" id="{31B03B23-8A38-4824-99CD-443753C96DBB}"/>
                </a:ext>
              </a:extLst>
            </p:cNvPr>
            <p:cNvSpPr>
              <a:spLocks noChangeShapeType="1"/>
            </p:cNvSpPr>
            <p:nvPr/>
          </p:nvSpPr>
          <p:spPr bwMode="auto">
            <a:xfrm>
              <a:off x="510" y="2724"/>
              <a:ext cx="1734" cy="1"/>
            </a:xfrm>
            <a:prstGeom prst="line">
              <a:avLst/>
            </a:prstGeom>
            <a:noFill/>
            <a:ln w="333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125960" name="Line 10">
              <a:extLst>
                <a:ext uri="{FF2B5EF4-FFF2-40B4-BE49-F238E27FC236}">
                  <a16:creationId xmlns:a16="http://schemas.microsoft.com/office/drawing/2014/main" id="{5AF8ECC4-406D-4187-9C63-53E4224FAC54}"/>
                </a:ext>
              </a:extLst>
            </p:cNvPr>
            <p:cNvSpPr>
              <a:spLocks noChangeShapeType="1"/>
            </p:cNvSpPr>
            <p:nvPr/>
          </p:nvSpPr>
          <p:spPr bwMode="auto">
            <a:xfrm>
              <a:off x="2986" y="2699"/>
              <a:ext cx="1735" cy="1"/>
            </a:xfrm>
            <a:prstGeom prst="line">
              <a:avLst/>
            </a:prstGeom>
            <a:noFill/>
            <a:ln w="333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125961" name="Rectangle 11">
              <a:extLst>
                <a:ext uri="{FF2B5EF4-FFF2-40B4-BE49-F238E27FC236}">
                  <a16:creationId xmlns:a16="http://schemas.microsoft.com/office/drawing/2014/main" id="{96B5A1BF-0EB4-4645-8AAC-7B072DCCF3BE}"/>
                </a:ext>
              </a:extLst>
            </p:cNvPr>
            <p:cNvSpPr>
              <a:spLocks noChangeArrowheads="1"/>
            </p:cNvSpPr>
            <p:nvPr/>
          </p:nvSpPr>
          <p:spPr bwMode="auto">
            <a:xfrm>
              <a:off x="1005" y="2305"/>
              <a:ext cx="347" cy="3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5962" name="Rectangle 12">
              <a:extLst>
                <a:ext uri="{FF2B5EF4-FFF2-40B4-BE49-F238E27FC236}">
                  <a16:creationId xmlns:a16="http://schemas.microsoft.com/office/drawing/2014/main" id="{F1810F49-2C68-4DC6-996B-442D4A31E51B}"/>
                </a:ext>
              </a:extLst>
            </p:cNvPr>
            <p:cNvSpPr>
              <a:spLocks noChangeArrowheads="1"/>
            </p:cNvSpPr>
            <p:nvPr/>
          </p:nvSpPr>
          <p:spPr bwMode="auto">
            <a:xfrm>
              <a:off x="1005" y="2305"/>
              <a:ext cx="347" cy="346"/>
            </a:xfrm>
            <a:prstGeom prst="rect">
              <a:avLst/>
            </a:prstGeom>
            <a:noFill/>
            <a:ln w="333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5963" name="Rectangle 13">
              <a:extLst>
                <a:ext uri="{FF2B5EF4-FFF2-40B4-BE49-F238E27FC236}">
                  <a16:creationId xmlns:a16="http://schemas.microsoft.com/office/drawing/2014/main" id="{77AC8087-B9AF-4845-883C-BD5B31F91B31}"/>
                </a:ext>
              </a:extLst>
            </p:cNvPr>
            <p:cNvSpPr>
              <a:spLocks noChangeArrowheads="1"/>
            </p:cNvSpPr>
            <p:nvPr/>
          </p:nvSpPr>
          <p:spPr bwMode="auto">
            <a:xfrm>
              <a:off x="1126" y="2360"/>
              <a:ext cx="1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600" i="1">
                  <a:solidFill>
                    <a:srgbClr val="000000"/>
                  </a:solidFill>
                  <a:latin typeface="Times New Roman" panose="02020603050405020304" pitchFamily="18" charset="0"/>
                </a:rPr>
                <a:t>B</a:t>
              </a:r>
              <a:endParaRPr lang="en-US" altLang="zh-CN" i="1">
                <a:solidFill>
                  <a:prstClr val="black"/>
                </a:solidFill>
                <a:latin typeface="Times New Roman" panose="02020603050405020304" pitchFamily="18" charset="0"/>
              </a:endParaRPr>
            </a:p>
          </p:txBody>
        </p:sp>
        <p:sp>
          <p:nvSpPr>
            <p:cNvPr id="125964" name="Rectangle 14">
              <a:extLst>
                <a:ext uri="{FF2B5EF4-FFF2-40B4-BE49-F238E27FC236}">
                  <a16:creationId xmlns:a16="http://schemas.microsoft.com/office/drawing/2014/main" id="{DCD8357C-3AE7-472E-8EBF-96181B999FE4}"/>
                </a:ext>
              </a:extLst>
            </p:cNvPr>
            <p:cNvSpPr>
              <a:spLocks noChangeArrowheads="1"/>
            </p:cNvSpPr>
            <p:nvPr/>
          </p:nvSpPr>
          <p:spPr bwMode="auto">
            <a:xfrm>
              <a:off x="1576" y="2305"/>
              <a:ext cx="346" cy="3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5965" name="Rectangle 15">
              <a:extLst>
                <a:ext uri="{FF2B5EF4-FFF2-40B4-BE49-F238E27FC236}">
                  <a16:creationId xmlns:a16="http://schemas.microsoft.com/office/drawing/2014/main" id="{ACCE7FBE-0501-48CF-8FB0-0A96076BC59B}"/>
                </a:ext>
              </a:extLst>
            </p:cNvPr>
            <p:cNvSpPr>
              <a:spLocks noChangeArrowheads="1"/>
            </p:cNvSpPr>
            <p:nvPr/>
          </p:nvSpPr>
          <p:spPr bwMode="auto">
            <a:xfrm>
              <a:off x="1576" y="2305"/>
              <a:ext cx="346" cy="346"/>
            </a:xfrm>
            <a:prstGeom prst="rect">
              <a:avLst/>
            </a:prstGeom>
            <a:noFill/>
            <a:ln w="333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5966" name="Rectangle 16">
              <a:extLst>
                <a:ext uri="{FF2B5EF4-FFF2-40B4-BE49-F238E27FC236}">
                  <a16:creationId xmlns:a16="http://schemas.microsoft.com/office/drawing/2014/main" id="{68D289D3-C020-4EA9-A775-9DC10F5C206E}"/>
                </a:ext>
              </a:extLst>
            </p:cNvPr>
            <p:cNvSpPr>
              <a:spLocks noChangeArrowheads="1"/>
            </p:cNvSpPr>
            <p:nvPr/>
          </p:nvSpPr>
          <p:spPr bwMode="auto">
            <a:xfrm>
              <a:off x="1696" y="2360"/>
              <a:ext cx="1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600" i="1">
                  <a:solidFill>
                    <a:srgbClr val="000000"/>
                  </a:solidFill>
                  <a:latin typeface="Times New Roman" panose="02020603050405020304" pitchFamily="18" charset="0"/>
                </a:rPr>
                <a:t>C</a:t>
              </a:r>
              <a:endParaRPr lang="en-US" altLang="zh-CN" i="1">
                <a:solidFill>
                  <a:prstClr val="black"/>
                </a:solidFill>
                <a:latin typeface="Times New Roman" panose="02020603050405020304" pitchFamily="18" charset="0"/>
              </a:endParaRPr>
            </a:p>
          </p:txBody>
        </p:sp>
        <p:sp>
          <p:nvSpPr>
            <p:cNvPr id="125967" name="Rectangle 17">
              <a:extLst>
                <a:ext uri="{FF2B5EF4-FFF2-40B4-BE49-F238E27FC236}">
                  <a16:creationId xmlns:a16="http://schemas.microsoft.com/office/drawing/2014/main" id="{D3BBFFE1-806C-4AE3-BDF5-AC3BB93CB5FA}"/>
                </a:ext>
              </a:extLst>
            </p:cNvPr>
            <p:cNvSpPr>
              <a:spLocks noChangeArrowheads="1"/>
            </p:cNvSpPr>
            <p:nvPr/>
          </p:nvSpPr>
          <p:spPr bwMode="auto">
            <a:xfrm>
              <a:off x="1005" y="1984"/>
              <a:ext cx="347" cy="3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5968" name="Rectangle 18">
              <a:extLst>
                <a:ext uri="{FF2B5EF4-FFF2-40B4-BE49-F238E27FC236}">
                  <a16:creationId xmlns:a16="http://schemas.microsoft.com/office/drawing/2014/main" id="{5C321CC2-1FE5-49D6-8E62-94E5DBE01A50}"/>
                </a:ext>
              </a:extLst>
            </p:cNvPr>
            <p:cNvSpPr>
              <a:spLocks noChangeArrowheads="1"/>
            </p:cNvSpPr>
            <p:nvPr/>
          </p:nvSpPr>
          <p:spPr bwMode="auto">
            <a:xfrm>
              <a:off x="1005" y="1984"/>
              <a:ext cx="347" cy="346"/>
            </a:xfrm>
            <a:prstGeom prst="rect">
              <a:avLst/>
            </a:prstGeom>
            <a:noFill/>
            <a:ln w="333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5969" name="Rectangle 19">
              <a:extLst>
                <a:ext uri="{FF2B5EF4-FFF2-40B4-BE49-F238E27FC236}">
                  <a16:creationId xmlns:a16="http://schemas.microsoft.com/office/drawing/2014/main" id="{18D29405-17A3-4113-9E0A-851A705850A9}"/>
                </a:ext>
              </a:extLst>
            </p:cNvPr>
            <p:cNvSpPr>
              <a:spLocks noChangeArrowheads="1"/>
            </p:cNvSpPr>
            <p:nvPr/>
          </p:nvSpPr>
          <p:spPr bwMode="auto">
            <a:xfrm>
              <a:off x="1126" y="2039"/>
              <a:ext cx="1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600" i="1">
                  <a:solidFill>
                    <a:srgbClr val="000000"/>
                  </a:solidFill>
                  <a:latin typeface="Times New Roman" panose="02020603050405020304" pitchFamily="18" charset="0"/>
                </a:rPr>
                <a:t>A</a:t>
              </a:r>
              <a:endParaRPr lang="en-US" altLang="zh-CN" i="1">
                <a:solidFill>
                  <a:prstClr val="black"/>
                </a:solidFill>
                <a:latin typeface="Times New Roman" panose="02020603050405020304" pitchFamily="18" charset="0"/>
              </a:endParaRPr>
            </a:p>
          </p:txBody>
        </p:sp>
        <p:sp>
          <p:nvSpPr>
            <p:cNvPr id="125970" name="Rectangle 20">
              <a:extLst>
                <a:ext uri="{FF2B5EF4-FFF2-40B4-BE49-F238E27FC236}">
                  <a16:creationId xmlns:a16="http://schemas.microsoft.com/office/drawing/2014/main" id="{2CD79B5D-A1C7-4841-8028-8A3DFC5B815E}"/>
                </a:ext>
              </a:extLst>
            </p:cNvPr>
            <p:cNvSpPr>
              <a:spLocks noChangeArrowheads="1"/>
            </p:cNvSpPr>
            <p:nvPr/>
          </p:nvSpPr>
          <p:spPr bwMode="auto">
            <a:xfrm>
              <a:off x="3729" y="1614"/>
              <a:ext cx="348" cy="3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5971" name="Rectangle 21">
              <a:extLst>
                <a:ext uri="{FF2B5EF4-FFF2-40B4-BE49-F238E27FC236}">
                  <a16:creationId xmlns:a16="http://schemas.microsoft.com/office/drawing/2014/main" id="{D085BCA4-3734-4BE8-A979-A20EFC48409A}"/>
                </a:ext>
              </a:extLst>
            </p:cNvPr>
            <p:cNvSpPr>
              <a:spLocks noChangeArrowheads="1"/>
            </p:cNvSpPr>
            <p:nvPr/>
          </p:nvSpPr>
          <p:spPr bwMode="auto">
            <a:xfrm>
              <a:off x="3729" y="1614"/>
              <a:ext cx="348" cy="346"/>
            </a:xfrm>
            <a:prstGeom prst="rect">
              <a:avLst/>
            </a:prstGeom>
            <a:noFill/>
            <a:ln w="333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5972" name="Rectangle 22">
              <a:extLst>
                <a:ext uri="{FF2B5EF4-FFF2-40B4-BE49-F238E27FC236}">
                  <a16:creationId xmlns:a16="http://schemas.microsoft.com/office/drawing/2014/main" id="{F2187F66-9C3E-488C-9BF1-25FD1BA3EC45}"/>
                </a:ext>
              </a:extLst>
            </p:cNvPr>
            <p:cNvSpPr>
              <a:spLocks noChangeArrowheads="1"/>
            </p:cNvSpPr>
            <p:nvPr/>
          </p:nvSpPr>
          <p:spPr bwMode="auto">
            <a:xfrm>
              <a:off x="3851" y="1669"/>
              <a:ext cx="1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600" i="1">
                  <a:solidFill>
                    <a:srgbClr val="000000"/>
                  </a:solidFill>
                  <a:latin typeface="Times New Roman" panose="02020603050405020304" pitchFamily="18" charset="0"/>
                </a:rPr>
                <a:t>A</a:t>
              </a:r>
              <a:endParaRPr lang="en-US" altLang="zh-CN" i="1">
                <a:solidFill>
                  <a:prstClr val="black"/>
                </a:solidFill>
                <a:latin typeface="Times New Roman" panose="02020603050405020304" pitchFamily="18" charset="0"/>
              </a:endParaRPr>
            </a:p>
          </p:txBody>
        </p:sp>
        <p:sp>
          <p:nvSpPr>
            <p:cNvPr id="125973" name="Rectangle 23">
              <a:extLst>
                <a:ext uri="{FF2B5EF4-FFF2-40B4-BE49-F238E27FC236}">
                  <a16:creationId xmlns:a16="http://schemas.microsoft.com/office/drawing/2014/main" id="{DBC522C8-8B98-4E48-A4D8-2673CD99A47C}"/>
                </a:ext>
              </a:extLst>
            </p:cNvPr>
            <p:cNvSpPr>
              <a:spLocks noChangeArrowheads="1"/>
            </p:cNvSpPr>
            <p:nvPr/>
          </p:nvSpPr>
          <p:spPr bwMode="auto">
            <a:xfrm>
              <a:off x="3729" y="1960"/>
              <a:ext cx="348" cy="3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5974" name="Rectangle 24">
              <a:extLst>
                <a:ext uri="{FF2B5EF4-FFF2-40B4-BE49-F238E27FC236}">
                  <a16:creationId xmlns:a16="http://schemas.microsoft.com/office/drawing/2014/main" id="{4720580D-11BD-40BA-81DC-2D8A56734A91}"/>
                </a:ext>
              </a:extLst>
            </p:cNvPr>
            <p:cNvSpPr>
              <a:spLocks noChangeArrowheads="1"/>
            </p:cNvSpPr>
            <p:nvPr/>
          </p:nvSpPr>
          <p:spPr bwMode="auto">
            <a:xfrm>
              <a:off x="3729" y="1960"/>
              <a:ext cx="348" cy="345"/>
            </a:xfrm>
            <a:prstGeom prst="rect">
              <a:avLst/>
            </a:prstGeom>
            <a:noFill/>
            <a:ln w="333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5975" name="Rectangle 25">
              <a:extLst>
                <a:ext uri="{FF2B5EF4-FFF2-40B4-BE49-F238E27FC236}">
                  <a16:creationId xmlns:a16="http://schemas.microsoft.com/office/drawing/2014/main" id="{1E0AECE2-38EB-496E-9290-74F8DAC7F5EC}"/>
                </a:ext>
              </a:extLst>
            </p:cNvPr>
            <p:cNvSpPr>
              <a:spLocks noChangeArrowheads="1"/>
            </p:cNvSpPr>
            <p:nvPr/>
          </p:nvSpPr>
          <p:spPr bwMode="auto">
            <a:xfrm>
              <a:off x="3851" y="2014"/>
              <a:ext cx="1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600" i="1">
                  <a:solidFill>
                    <a:srgbClr val="000000"/>
                  </a:solidFill>
                  <a:latin typeface="Times New Roman" panose="02020603050405020304" pitchFamily="18" charset="0"/>
                </a:rPr>
                <a:t>B</a:t>
              </a:r>
              <a:endParaRPr lang="en-US" altLang="zh-CN" i="1">
                <a:solidFill>
                  <a:prstClr val="black"/>
                </a:solidFill>
                <a:latin typeface="Times New Roman" panose="02020603050405020304" pitchFamily="18" charset="0"/>
              </a:endParaRPr>
            </a:p>
          </p:txBody>
        </p:sp>
        <p:sp>
          <p:nvSpPr>
            <p:cNvPr id="125976" name="Rectangle 26">
              <a:extLst>
                <a:ext uri="{FF2B5EF4-FFF2-40B4-BE49-F238E27FC236}">
                  <a16:creationId xmlns:a16="http://schemas.microsoft.com/office/drawing/2014/main" id="{222C2EB9-AB2B-4947-A4CC-461D8DD698F4}"/>
                </a:ext>
              </a:extLst>
            </p:cNvPr>
            <p:cNvSpPr>
              <a:spLocks noChangeArrowheads="1"/>
            </p:cNvSpPr>
            <p:nvPr/>
          </p:nvSpPr>
          <p:spPr bwMode="auto">
            <a:xfrm>
              <a:off x="3729" y="2280"/>
              <a:ext cx="348" cy="3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5977" name="Rectangle 27">
              <a:extLst>
                <a:ext uri="{FF2B5EF4-FFF2-40B4-BE49-F238E27FC236}">
                  <a16:creationId xmlns:a16="http://schemas.microsoft.com/office/drawing/2014/main" id="{D9809911-D58D-460B-8A67-804EC74E7879}"/>
                </a:ext>
              </a:extLst>
            </p:cNvPr>
            <p:cNvSpPr>
              <a:spLocks noChangeArrowheads="1"/>
            </p:cNvSpPr>
            <p:nvPr/>
          </p:nvSpPr>
          <p:spPr bwMode="auto">
            <a:xfrm>
              <a:off x="3729" y="2280"/>
              <a:ext cx="348" cy="346"/>
            </a:xfrm>
            <a:prstGeom prst="rect">
              <a:avLst/>
            </a:prstGeom>
            <a:noFill/>
            <a:ln w="333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5978" name="Rectangle 28">
              <a:extLst>
                <a:ext uri="{FF2B5EF4-FFF2-40B4-BE49-F238E27FC236}">
                  <a16:creationId xmlns:a16="http://schemas.microsoft.com/office/drawing/2014/main" id="{8F3B0A6B-90DB-4F53-9019-BDF98C40AA19}"/>
                </a:ext>
              </a:extLst>
            </p:cNvPr>
            <p:cNvSpPr>
              <a:spLocks noChangeArrowheads="1"/>
            </p:cNvSpPr>
            <p:nvPr/>
          </p:nvSpPr>
          <p:spPr bwMode="auto">
            <a:xfrm>
              <a:off x="3851" y="2335"/>
              <a:ext cx="1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600" i="1">
                  <a:solidFill>
                    <a:srgbClr val="000000"/>
                  </a:solidFill>
                  <a:latin typeface="Times New Roman" panose="02020603050405020304" pitchFamily="18" charset="0"/>
                </a:rPr>
                <a:t>C</a:t>
              </a:r>
              <a:endParaRPr lang="en-US" altLang="zh-CN" i="1">
                <a:solidFill>
                  <a:prstClr val="black"/>
                </a:solidFill>
                <a:latin typeface="Times New Roman" panose="02020603050405020304" pitchFamily="18" charset="0"/>
              </a:endParaRPr>
            </a:p>
          </p:txBody>
        </p:sp>
        <p:sp>
          <p:nvSpPr>
            <p:cNvPr id="125979" name="Rectangle 29">
              <a:extLst>
                <a:ext uri="{FF2B5EF4-FFF2-40B4-BE49-F238E27FC236}">
                  <a16:creationId xmlns:a16="http://schemas.microsoft.com/office/drawing/2014/main" id="{22C3448E-144D-464E-9394-1D7BC26C89AA}"/>
                </a:ext>
              </a:extLst>
            </p:cNvPr>
            <p:cNvSpPr>
              <a:spLocks noChangeArrowheads="1"/>
            </p:cNvSpPr>
            <p:nvPr/>
          </p:nvSpPr>
          <p:spPr bwMode="auto">
            <a:xfrm>
              <a:off x="654" y="2860"/>
              <a:ext cx="98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300">
                  <a:solidFill>
                    <a:srgbClr val="000000"/>
                  </a:solidFill>
                  <a:latin typeface="Times New Roman" panose="02020603050405020304" pitchFamily="18" charset="0"/>
                </a:rPr>
                <a:t>(a) </a:t>
              </a:r>
              <a:r>
                <a:rPr lang="zh-CN" altLang="en-US" sz="2300">
                  <a:solidFill>
                    <a:srgbClr val="000000"/>
                  </a:solidFill>
                  <a:latin typeface="宋体" panose="02010600030101010101" pitchFamily="2" charset="-122"/>
                </a:rPr>
                <a:t>初始状态</a:t>
              </a:r>
              <a:endParaRPr lang="zh-CN" altLang="en-US">
                <a:solidFill>
                  <a:prstClr val="black"/>
                </a:solidFill>
              </a:endParaRPr>
            </a:p>
          </p:txBody>
        </p:sp>
        <p:sp>
          <p:nvSpPr>
            <p:cNvPr id="125980" name="Rectangle 30">
              <a:extLst>
                <a:ext uri="{FF2B5EF4-FFF2-40B4-BE49-F238E27FC236}">
                  <a16:creationId xmlns:a16="http://schemas.microsoft.com/office/drawing/2014/main" id="{2EF13348-B339-49F2-99CF-23B500A69026}"/>
                </a:ext>
              </a:extLst>
            </p:cNvPr>
            <p:cNvSpPr>
              <a:spLocks noChangeArrowheads="1"/>
            </p:cNvSpPr>
            <p:nvPr/>
          </p:nvSpPr>
          <p:spPr bwMode="auto">
            <a:xfrm>
              <a:off x="3378" y="2836"/>
              <a:ext cx="104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300">
                  <a:solidFill>
                    <a:srgbClr val="000000"/>
                  </a:solidFill>
                  <a:latin typeface="Times New Roman" panose="02020603050405020304" pitchFamily="18" charset="0"/>
                </a:rPr>
                <a:t>(b)</a:t>
              </a:r>
              <a:r>
                <a:rPr lang="en-US" altLang="zh-CN" sz="2300">
                  <a:solidFill>
                    <a:srgbClr val="000000"/>
                  </a:solidFill>
                  <a:latin typeface="宋体" panose="02010600030101010101" pitchFamily="2" charset="-122"/>
                </a:rPr>
                <a:t> </a:t>
              </a:r>
              <a:r>
                <a:rPr lang="zh-CN" altLang="en-US" sz="2300">
                  <a:solidFill>
                    <a:srgbClr val="000000"/>
                  </a:solidFill>
                  <a:latin typeface="宋体" panose="02010600030101010101" pitchFamily="2" charset="-122"/>
                </a:rPr>
                <a:t>目的状态</a:t>
              </a:r>
              <a:endParaRPr lang="zh-CN" altLang="en-US">
                <a:solidFill>
                  <a:prstClr val="black"/>
                </a:solidFill>
              </a:endParaRPr>
            </a:p>
          </p:txBody>
        </p:sp>
        <p:sp>
          <p:nvSpPr>
            <p:cNvPr id="125981" name="Rectangle 31">
              <a:extLst>
                <a:ext uri="{FF2B5EF4-FFF2-40B4-BE49-F238E27FC236}">
                  <a16:creationId xmlns:a16="http://schemas.microsoft.com/office/drawing/2014/main" id="{6BF13176-7C69-4007-970F-B51DF013616A}"/>
                </a:ext>
              </a:extLst>
            </p:cNvPr>
            <p:cNvSpPr>
              <a:spLocks noChangeArrowheads="1"/>
            </p:cNvSpPr>
            <p:nvPr/>
          </p:nvSpPr>
          <p:spPr bwMode="auto">
            <a:xfrm>
              <a:off x="1757" y="3273"/>
              <a:ext cx="12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600">
                  <a:solidFill>
                    <a:srgbClr val="000000"/>
                  </a:solidFill>
                  <a:latin typeface="宋体" panose="02010600030101010101" pitchFamily="2" charset="-122"/>
                </a:rPr>
                <a:t>    </a:t>
              </a:r>
              <a:r>
                <a:rPr lang="zh-CN" altLang="en-US" sz="2600" b="1">
                  <a:solidFill>
                    <a:srgbClr val="000000"/>
                  </a:solidFill>
                  <a:latin typeface="宋体" panose="02010600030101010101" pitchFamily="2" charset="-122"/>
                </a:rPr>
                <a:t>积木问题</a:t>
              </a:r>
              <a:endParaRPr lang="zh-CN" altLang="en-US" b="1">
                <a:solidFill>
                  <a:prstClr val="black"/>
                </a:solidFill>
              </a:endParaRPr>
            </a:p>
          </p:txBody>
        </p:sp>
      </p:grpSp>
    </p:spTree>
    <p:extLst>
      <p:ext uri="{BB962C8B-B14F-4D97-AF65-F5344CB8AC3E}">
        <p14:creationId xmlns:p14="http://schemas.microsoft.com/office/powerpoint/2010/main" val="2940587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125954"/>
                                        </p:tgtEl>
                                        <p:attrNameLst>
                                          <p:attrName>style.visibility</p:attrName>
                                        </p:attrNameLst>
                                      </p:cBhvr>
                                      <p:to>
                                        <p:strVal val="visible"/>
                                      </p:to>
                                    </p:set>
                                    <p:animEffect transition="in" filter="fade">
                                      <p:cBhvr>
                                        <p:cTn id="7" dur="500"/>
                                        <p:tgtEl>
                                          <p:spTgt spid="125954"/>
                                        </p:tgtEl>
                                      </p:cBhvr>
                                    </p:animEffect>
                                  </p:childTnLst>
                                </p:cTn>
                              </p:par>
                            </p:childTnLst>
                          </p:cTn>
                        </p:par>
                        <p:par>
                          <p:cTn id="8" fill="hold">
                            <p:stCondLst>
                              <p:cond delay="750"/>
                            </p:stCondLst>
                            <p:childTnLst>
                              <p:par>
                                <p:cTn id="9" presetID="10" presetClass="entr" presetSubtype="0" fill="hold" nodeType="afterEffect">
                                  <p:stCondLst>
                                    <p:cond delay="500"/>
                                  </p:stCondLst>
                                  <p:childTnLst>
                                    <p:set>
                                      <p:cBhvr>
                                        <p:cTn id="10" dur="1" fill="hold">
                                          <p:stCondLst>
                                            <p:cond delay="0"/>
                                          </p:stCondLst>
                                        </p:cTn>
                                        <p:tgtEl>
                                          <p:spTgt spid="125957"/>
                                        </p:tgtEl>
                                        <p:attrNameLst>
                                          <p:attrName>style.visibility</p:attrName>
                                        </p:attrNameLst>
                                      </p:cBhvr>
                                      <p:to>
                                        <p:strVal val="visible"/>
                                      </p:to>
                                    </p:set>
                                    <p:animEffect transition="in" filter="fade">
                                      <p:cBhvr>
                                        <p:cTn id="11" dur="750"/>
                                        <p:tgtEl>
                                          <p:spTgt spid="1259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日期占位符 1">
            <a:extLst>
              <a:ext uri="{FF2B5EF4-FFF2-40B4-BE49-F238E27FC236}">
                <a16:creationId xmlns:a16="http://schemas.microsoft.com/office/drawing/2014/main" id="{1D4F91A0-C399-4B9B-875C-8E5A4B913E14}"/>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48D49856-2C51-4700-929D-712CCC2E1EE2}" type="datetime1">
              <a:rPr lang="zh-CN" altLang="en-US">
                <a:solidFill>
                  <a:srgbClr val="000000"/>
                </a:solidFill>
                <a:latin typeface="Tahoma" panose="020B0604030504040204" pitchFamily="34" charset="0"/>
              </a:rPr>
              <a:pPr/>
              <a:t>2023/4/15</a:t>
            </a:fld>
            <a:endParaRPr lang="zh-CN" altLang="en-US">
              <a:solidFill>
                <a:srgbClr val="000000"/>
              </a:solidFill>
              <a:latin typeface="Tahoma" panose="020B0604030504040204" pitchFamily="34" charset="0"/>
            </a:endParaRPr>
          </a:p>
        </p:txBody>
      </p:sp>
      <p:sp>
        <p:nvSpPr>
          <p:cNvPr id="126978" name="Rectangle 1026">
            <a:extLst>
              <a:ext uri="{FF2B5EF4-FFF2-40B4-BE49-F238E27FC236}">
                <a16:creationId xmlns:a16="http://schemas.microsoft.com/office/drawing/2014/main" id="{B4A8C5F0-28BE-4682-96A7-E26B60213166}"/>
              </a:ext>
            </a:extLst>
          </p:cNvPr>
          <p:cNvSpPr>
            <a:spLocks noGrp="1" noChangeArrowheads="1"/>
          </p:cNvSpPr>
          <p:nvPr/>
        </p:nvSpPr>
        <p:spPr bwMode="auto">
          <a:xfrm>
            <a:off x="2447926" y="1132503"/>
            <a:ext cx="7491413"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20000"/>
              </a:lnSpc>
              <a:spcBef>
                <a:spcPct val="40000"/>
              </a:spcBef>
              <a:buClr>
                <a:srgbClr val="C0504D"/>
              </a:buClr>
              <a:buBlip>
                <a:blip r:embed="rId2"/>
              </a:buBlip>
            </a:pP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操作算子为</a:t>
            </a:r>
            <a:r>
              <a:rPr lang="en-US" altLang="zh-CN" sz="2600"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MOVE</a:t>
            </a: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600"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X</a:t>
            </a: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600"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Y</a:t>
            </a: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）：把积木</a:t>
            </a:r>
            <a:r>
              <a:rPr lang="en-US" altLang="zh-CN" sz="2600"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X </a:t>
            </a: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搬到</a:t>
            </a:r>
            <a:r>
              <a:rPr lang="en-US" altLang="zh-CN" sz="2600"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Y</a:t>
            </a: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（积木或桌面）上面。</a:t>
            </a:r>
          </a:p>
        </p:txBody>
      </p:sp>
      <p:sp>
        <p:nvSpPr>
          <p:cNvPr id="82948" name="AutoShape 1028">
            <a:extLst>
              <a:ext uri="{FF2B5EF4-FFF2-40B4-BE49-F238E27FC236}">
                <a16:creationId xmlns:a16="http://schemas.microsoft.com/office/drawing/2014/main" id="{867A69E0-045B-4127-A4F2-FB9D1A4EE50D}"/>
              </a:ext>
            </a:extLst>
          </p:cNvPr>
          <p:cNvSpPr>
            <a:spLocks/>
          </p:cNvSpPr>
          <p:nvPr/>
        </p:nvSpPr>
        <p:spPr bwMode="auto">
          <a:xfrm>
            <a:off x="2524166" y="2321236"/>
            <a:ext cx="7143668" cy="547893"/>
          </a:xfrm>
          <a:prstGeom prst="borderCallout2">
            <a:avLst>
              <a:gd name="adj1" fmla="val -17205"/>
              <a:gd name="adj2" fmla="val 6839"/>
              <a:gd name="adj3" fmla="val -57114"/>
              <a:gd name="adj4" fmla="val 17279"/>
              <a:gd name="adj5" fmla="val -120323"/>
              <a:gd name="adj6" fmla="val 32272"/>
            </a:avLst>
          </a:prstGeom>
          <a:solidFill>
            <a:srgbClr val="E8E8E8"/>
          </a:solidFill>
          <a:ln w="9525">
            <a:solidFill>
              <a:srgbClr val="80808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en-US" altLang="zh-CN" sz="2600"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MOVE</a:t>
            </a: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600"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a:t>
            </a: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600"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Table</a:t>
            </a: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）：“搬动积木 </a:t>
            </a:r>
            <a:r>
              <a:rPr lang="en-US" altLang="zh-CN" sz="2600"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 </a:t>
            </a: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到桌面上”。</a:t>
            </a:r>
          </a:p>
        </p:txBody>
      </p:sp>
      <p:sp>
        <p:nvSpPr>
          <p:cNvPr id="82949" name="Text Box 1029">
            <a:extLst>
              <a:ext uri="{FF2B5EF4-FFF2-40B4-BE49-F238E27FC236}">
                <a16:creationId xmlns:a16="http://schemas.microsoft.com/office/drawing/2014/main" id="{E31CF571-AC02-43A5-B7FE-56D37F649F1E}"/>
              </a:ext>
            </a:extLst>
          </p:cNvPr>
          <p:cNvSpPr txBox="1">
            <a:spLocks noChangeArrowheads="1"/>
          </p:cNvSpPr>
          <p:nvPr/>
        </p:nvSpPr>
        <p:spPr bwMode="auto">
          <a:xfrm>
            <a:off x="2447926" y="3208601"/>
            <a:ext cx="7667625" cy="2292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spcBef>
                <a:spcPct val="50000"/>
              </a:spcBef>
              <a:buBlip>
                <a:blip r:embed="rId2"/>
              </a:buBlip>
            </a:pPr>
            <a:r>
              <a:rPr lang="en-US" altLang="zh-CN"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操作算子可运用的先决条件：</a:t>
            </a:r>
          </a:p>
          <a:p>
            <a:pPr algn="just">
              <a:spcBef>
                <a:spcPct val="50000"/>
              </a:spcBef>
            </a:pP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）被搬动积木的顶部必须为空。</a:t>
            </a:r>
          </a:p>
          <a:p>
            <a:pPr algn="just">
              <a:spcBef>
                <a:spcPct val="50000"/>
              </a:spcBef>
            </a:pP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2</a:t>
            </a: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）如果</a:t>
            </a:r>
            <a:r>
              <a:rPr lang="en-US" altLang="zh-CN" sz="2600"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Y</a:t>
            </a: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是积木，则积木</a:t>
            </a:r>
            <a:r>
              <a:rPr lang="en-US" altLang="zh-CN" sz="2600" i="1"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Y </a:t>
            </a: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的顶部也必须为空。</a:t>
            </a:r>
          </a:p>
          <a:p>
            <a:pPr algn="just">
              <a:spcBef>
                <a:spcPct val="50000"/>
              </a:spcBef>
            </a:pP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en-US" sz="2600" dirty="0">
                <a:solidFill>
                  <a:prstClr val="black"/>
                </a:solidFill>
                <a:latin typeface="Times New Roman" panose="02020603050405020304" pitchFamily="18" charset="0"/>
                <a:ea typeface="楷体" panose="02010609060101010101" pitchFamily="49" charset="-122"/>
                <a:cs typeface="Times New Roman" panose="02020603050405020304" pitchFamily="18" charset="0"/>
              </a:rPr>
              <a:t>）同一状态下运用操作算子的次数不多于一次。</a:t>
            </a:r>
          </a:p>
        </p:txBody>
      </p:sp>
    </p:spTree>
    <p:extLst>
      <p:ext uri="{BB962C8B-B14F-4D97-AF65-F5344CB8AC3E}">
        <p14:creationId xmlns:p14="http://schemas.microsoft.com/office/powerpoint/2010/main" val="17482792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126978"/>
                                        </p:tgtEl>
                                        <p:attrNameLst>
                                          <p:attrName>style.visibility</p:attrName>
                                        </p:attrNameLst>
                                      </p:cBhvr>
                                      <p:to>
                                        <p:strVal val="visible"/>
                                      </p:to>
                                    </p:set>
                                    <p:animEffect transition="in" filter="fade">
                                      <p:cBhvr>
                                        <p:cTn id="7" dur="500"/>
                                        <p:tgtEl>
                                          <p:spTgt spid="12697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2948"/>
                                        </p:tgtEl>
                                        <p:attrNameLst>
                                          <p:attrName>style.visibility</p:attrName>
                                        </p:attrNameLst>
                                      </p:cBhvr>
                                      <p:to>
                                        <p:strVal val="visible"/>
                                      </p:to>
                                    </p:set>
                                    <p:animEffect transition="in" filter="slide(fromBottom)">
                                      <p:cBhvr>
                                        <p:cTn id="12" dur="500"/>
                                        <p:tgtEl>
                                          <p:spTgt spid="8294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82949"/>
                                        </p:tgtEl>
                                        <p:attrNameLst>
                                          <p:attrName>style.visibility</p:attrName>
                                        </p:attrNameLst>
                                      </p:cBhvr>
                                      <p:to>
                                        <p:strVal val="visible"/>
                                      </p:to>
                                    </p:set>
                                    <p:anim calcmode="lin" valueType="num">
                                      <p:cBhvr>
                                        <p:cTn id="17" dur="500" fill="hold"/>
                                        <p:tgtEl>
                                          <p:spTgt spid="82949"/>
                                        </p:tgtEl>
                                        <p:attrNameLst>
                                          <p:attrName>ppt_x</p:attrName>
                                        </p:attrNameLst>
                                      </p:cBhvr>
                                      <p:tavLst>
                                        <p:tav tm="0">
                                          <p:val>
                                            <p:strVal val="0-#ppt_w/2"/>
                                          </p:val>
                                        </p:tav>
                                        <p:tav tm="100000">
                                          <p:val>
                                            <p:strVal val="#ppt_x"/>
                                          </p:val>
                                        </p:tav>
                                      </p:tavLst>
                                    </p:anim>
                                    <p:anim calcmode="lin" valueType="num">
                                      <p:cBhvr>
                                        <p:cTn id="18" dur="500" fill="hold"/>
                                        <p:tgtEl>
                                          <p:spTgt spid="829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p:bldP spid="82948" grpId="0" bldLvl="0" animBg="1"/>
      <p:bldP spid="8294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日期占位符 1">
            <a:extLst>
              <a:ext uri="{FF2B5EF4-FFF2-40B4-BE49-F238E27FC236}">
                <a16:creationId xmlns:a16="http://schemas.microsoft.com/office/drawing/2014/main" id="{BF6D2D1C-4B7E-4B8E-B83E-08213FE662F5}"/>
              </a:ext>
            </a:extLst>
          </p:cNvPr>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fld id="{44699C86-68A4-472C-B882-CD319ED39AE8}" type="datetime1">
              <a:rPr lang="zh-CN" altLang="en-US">
                <a:solidFill>
                  <a:srgbClr val="000000"/>
                </a:solidFill>
                <a:latin typeface="Tahoma" panose="020B0604030504040204" pitchFamily="34" charset="0"/>
              </a:rPr>
              <a:pPr/>
              <a:t>2023/4/15</a:t>
            </a:fld>
            <a:endParaRPr lang="zh-CN" altLang="en-US">
              <a:solidFill>
                <a:srgbClr val="000000"/>
              </a:solidFill>
              <a:latin typeface="Tahoma" panose="020B0604030504040204" pitchFamily="34" charset="0"/>
            </a:endParaRPr>
          </a:p>
        </p:txBody>
      </p:sp>
      <p:grpSp>
        <p:nvGrpSpPr>
          <p:cNvPr id="128002" name="Group 19">
            <a:extLst>
              <a:ext uri="{FF2B5EF4-FFF2-40B4-BE49-F238E27FC236}">
                <a16:creationId xmlns:a16="http://schemas.microsoft.com/office/drawing/2014/main" id="{306ABACB-8702-4280-A03A-E933D271DB78}"/>
              </a:ext>
            </a:extLst>
          </p:cNvPr>
          <p:cNvGrpSpPr>
            <a:grpSpLocks noChangeAspect="1"/>
          </p:cNvGrpSpPr>
          <p:nvPr/>
        </p:nvGrpSpPr>
        <p:grpSpPr bwMode="auto">
          <a:xfrm>
            <a:off x="2078039" y="1024036"/>
            <a:ext cx="7934325" cy="4965940"/>
            <a:chOff x="185" y="656"/>
            <a:chExt cx="5407" cy="3384"/>
          </a:xfrm>
        </p:grpSpPr>
        <p:sp>
          <p:nvSpPr>
            <p:cNvPr id="128003" name="AutoShape 18">
              <a:extLst>
                <a:ext uri="{FF2B5EF4-FFF2-40B4-BE49-F238E27FC236}">
                  <a16:creationId xmlns:a16="http://schemas.microsoft.com/office/drawing/2014/main" id="{DC70AEBF-4379-4F00-B5F8-4008FA341CEF}"/>
                </a:ext>
              </a:extLst>
            </p:cNvPr>
            <p:cNvSpPr>
              <a:spLocks noChangeAspect="1" noChangeArrowheads="1" noTextEdit="1"/>
            </p:cNvSpPr>
            <p:nvPr/>
          </p:nvSpPr>
          <p:spPr bwMode="auto">
            <a:xfrm>
              <a:off x="258" y="656"/>
              <a:ext cx="5334" cy="3384"/>
            </a:xfrm>
            <a:prstGeom prst="rect">
              <a:avLst/>
            </a:prstGeom>
            <a:solidFill>
              <a:schemeClr val="bg1"/>
            </a:solidFill>
            <a:ln w="9525">
              <a:solidFill>
                <a:srgbClr val="80808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04" name="Rectangle 20">
              <a:extLst>
                <a:ext uri="{FF2B5EF4-FFF2-40B4-BE49-F238E27FC236}">
                  <a16:creationId xmlns:a16="http://schemas.microsoft.com/office/drawing/2014/main" id="{F469190F-16A7-4CDF-A13C-6D699DCEACB3}"/>
                </a:ext>
              </a:extLst>
            </p:cNvPr>
            <p:cNvSpPr>
              <a:spLocks noChangeArrowheads="1"/>
            </p:cNvSpPr>
            <p:nvPr/>
          </p:nvSpPr>
          <p:spPr bwMode="auto">
            <a:xfrm>
              <a:off x="3474" y="720"/>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05" name="Rectangle 21">
              <a:extLst>
                <a:ext uri="{FF2B5EF4-FFF2-40B4-BE49-F238E27FC236}">
                  <a16:creationId xmlns:a16="http://schemas.microsoft.com/office/drawing/2014/main" id="{010833C1-3E88-4E95-8F21-467CEFC1F5B2}"/>
                </a:ext>
              </a:extLst>
            </p:cNvPr>
            <p:cNvSpPr>
              <a:spLocks noChangeArrowheads="1"/>
            </p:cNvSpPr>
            <p:nvPr/>
          </p:nvSpPr>
          <p:spPr bwMode="auto">
            <a:xfrm>
              <a:off x="3474" y="720"/>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06" name="Rectangle 22">
              <a:extLst>
                <a:ext uri="{FF2B5EF4-FFF2-40B4-BE49-F238E27FC236}">
                  <a16:creationId xmlns:a16="http://schemas.microsoft.com/office/drawing/2014/main" id="{D3F3122C-6B56-42DA-A1F8-59BDC0A4C170}"/>
                </a:ext>
              </a:extLst>
            </p:cNvPr>
            <p:cNvSpPr>
              <a:spLocks noChangeArrowheads="1"/>
            </p:cNvSpPr>
            <p:nvPr/>
          </p:nvSpPr>
          <p:spPr bwMode="auto">
            <a:xfrm>
              <a:off x="3535" y="751"/>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A</a:t>
              </a:r>
              <a:endParaRPr lang="en-US" altLang="zh-CN" i="1">
                <a:solidFill>
                  <a:prstClr val="black"/>
                </a:solidFill>
              </a:endParaRPr>
            </a:p>
          </p:txBody>
        </p:sp>
        <p:sp>
          <p:nvSpPr>
            <p:cNvPr id="128007" name="Rectangle 23">
              <a:extLst>
                <a:ext uri="{FF2B5EF4-FFF2-40B4-BE49-F238E27FC236}">
                  <a16:creationId xmlns:a16="http://schemas.microsoft.com/office/drawing/2014/main" id="{7F4F737D-80F0-4AFA-962A-5BF21AFCDE34}"/>
                </a:ext>
              </a:extLst>
            </p:cNvPr>
            <p:cNvSpPr>
              <a:spLocks noChangeArrowheads="1"/>
            </p:cNvSpPr>
            <p:nvPr/>
          </p:nvSpPr>
          <p:spPr bwMode="auto">
            <a:xfrm>
              <a:off x="3579" y="1955"/>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08" name="Rectangle 24">
              <a:extLst>
                <a:ext uri="{FF2B5EF4-FFF2-40B4-BE49-F238E27FC236}">
                  <a16:creationId xmlns:a16="http://schemas.microsoft.com/office/drawing/2014/main" id="{BBB8C80A-19D9-49CC-9095-5296618C6BCB}"/>
                </a:ext>
              </a:extLst>
            </p:cNvPr>
            <p:cNvSpPr>
              <a:spLocks noChangeArrowheads="1"/>
            </p:cNvSpPr>
            <p:nvPr/>
          </p:nvSpPr>
          <p:spPr bwMode="auto">
            <a:xfrm>
              <a:off x="3579" y="1955"/>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09" name="Rectangle 25">
              <a:extLst>
                <a:ext uri="{FF2B5EF4-FFF2-40B4-BE49-F238E27FC236}">
                  <a16:creationId xmlns:a16="http://schemas.microsoft.com/office/drawing/2014/main" id="{90F577B7-B337-46A0-B847-5C527A1C72F6}"/>
                </a:ext>
              </a:extLst>
            </p:cNvPr>
            <p:cNvSpPr>
              <a:spLocks noChangeArrowheads="1"/>
            </p:cNvSpPr>
            <p:nvPr/>
          </p:nvSpPr>
          <p:spPr bwMode="auto">
            <a:xfrm>
              <a:off x="3640" y="1986"/>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B</a:t>
              </a:r>
              <a:endParaRPr lang="en-US" altLang="zh-CN" i="1">
                <a:solidFill>
                  <a:prstClr val="black"/>
                </a:solidFill>
              </a:endParaRPr>
            </a:p>
          </p:txBody>
        </p:sp>
        <p:sp>
          <p:nvSpPr>
            <p:cNvPr id="128010" name="Rectangle 26">
              <a:extLst>
                <a:ext uri="{FF2B5EF4-FFF2-40B4-BE49-F238E27FC236}">
                  <a16:creationId xmlns:a16="http://schemas.microsoft.com/office/drawing/2014/main" id="{1570A864-5527-4AA4-8816-2968A0D9D6FA}"/>
                </a:ext>
              </a:extLst>
            </p:cNvPr>
            <p:cNvSpPr>
              <a:spLocks noChangeArrowheads="1"/>
            </p:cNvSpPr>
            <p:nvPr/>
          </p:nvSpPr>
          <p:spPr bwMode="auto">
            <a:xfrm>
              <a:off x="1715" y="1626"/>
              <a:ext cx="209" cy="19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11" name="Rectangle 27">
              <a:extLst>
                <a:ext uri="{FF2B5EF4-FFF2-40B4-BE49-F238E27FC236}">
                  <a16:creationId xmlns:a16="http://schemas.microsoft.com/office/drawing/2014/main" id="{EDACECA1-178B-44D0-9B05-BF7812595782}"/>
                </a:ext>
              </a:extLst>
            </p:cNvPr>
            <p:cNvSpPr>
              <a:spLocks noChangeArrowheads="1"/>
            </p:cNvSpPr>
            <p:nvPr/>
          </p:nvSpPr>
          <p:spPr bwMode="auto">
            <a:xfrm>
              <a:off x="1715" y="1626"/>
              <a:ext cx="209" cy="191"/>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12" name="Rectangle 28">
              <a:extLst>
                <a:ext uri="{FF2B5EF4-FFF2-40B4-BE49-F238E27FC236}">
                  <a16:creationId xmlns:a16="http://schemas.microsoft.com/office/drawing/2014/main" id="{2A9D7A1C-B156-4C4D-96C9-C951BE566B52}"/>
                </a:ext>
              </a:extLst>
            </p:cNvPr>
            <p:cNvSpPr>
              <a:spLocks noChangeArrowheads="1"/>
            </p:cNvSpPr>
            <p:nvPr/>
          </p:nvSpPr>
          <p:spPr bwMode="auto">
            <a:xfrm>
              <a:off x="1775" y="1656"/>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A</a:t>
              </a:r>
              <a:endParaRPr lang="en-US" altLang="zh-CN" i="1">
                <a:solidFill>
                  <a:prstClr val="black"/>
                </a:solidFill>
              </a:endParaRPr>
            </a:p>
          </p:txBody>
        </p:sp>
        <p:sp>
          <p:nvSpPr>
            <p:cNvPr id="128013" name="Rectangle 29">
              <a:extLst>
                <a:ext uri="{FF2B5EF4-FFF2-40B4-BE49-F238E27FC236}">
                  <a16:creationId xmlns:a16="http://schemas.microsoft.com/office/drawing/2014/main" id="{C4A0499E-5F10-44D6-BC99-6ACF7CD1E831}"/>
                </a:ext>
              </a:extLst>
            </p:cNvPr>
            <p:cNvSpPr>
              <a:spLocks noChangeArrowheads="1"/>
            </p:cNvSpPr>
            <p:nvPr/>
          </p:nvSpPr>
          <p:spPr bwMode="auto">
            <a:xfrm>
              <a:off x="3474" y="940"/>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14" name="Rectangle 30">
              <a:extLst>
                <a:ext uri="{FF2B5EF4-FFF2-40B4-BE49-F238E27FC236}">
                  <a16:creationId xmlns:a16="http://schemas.microsoft.com/office/drawing/2014/main" id="{48AC9165-F81B-4D1A-AA2D-5958E2D059FC}"/>
                </a:ext>
              </a:extLst>
            </p:cNvPr>
            <p:cNvSpPr>
              <a:spLocks noChangeArrowheads="1"/>
            </p:cNvSpPr>
            <p:nvPr/>
          </p:nvSpPr>
          <p:spPr bwMode="auto">
            <a:xfrm>
              <a:off x="3474" y="940"/>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15" name="Rectangle 31">
              <a:extLst>
                <a:ext uri="{FF2B5EF4-FFF2-40B4-BE49-F238E27FC236}">
                  <a16:creationId xmlns:a16="http://schemas.microsoft.com/office/drawing/2014/main" id="{8702753F-E205-4549-B823-8F98751BC056}"/>
                </a:ext>
              </a:extLst>
            </p:cNvPr>
            <p:cNvSpPr>
              <a:spLocks noChangeArrowheads="1"/>
            </p:cNvSpPr>
            <p:nvPr/>
          </p:nvSpPr>
          <p:spPr bwMode="auto">
            <a:xfrm>
              <a:off x="3535" y="970"/>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B</a:t>
              </a:r>
              <a:endParaRPr lang="en-US" altLang="zh-CN" i="1">
                <a:solidFill>
                  <a:prstClr val="black"/>
                </a:solidFill>
              </a:endParaRPr>
            </a:p>
          </p:txBody>
        </p:sp>
        <p:sp>
          <p:nvSpPr>
            <p:cNvPr id="128016" name="Rectangle 32">
              <a:extLst>
                <a:ext uri="{FF2B5EF4-FFF2-40B4-BE49-F238E27FC236}">
                  <a16:creationId xmlns:a16="http://schemas.microsoft.com/office/drawing/2014/main" id="{29134EF9-E90A-4B25-8764-04AAFBBC3A8A}"/>
                </a:ext>
              </a:extLst>
            </p:cNvPr>
            <p:cNvSpPr>
              <a:spLocks noChangeArrowheads="1"/>
            </p:cNvSpPr>
            <p:nvPr/>
          </p:nvSpPr>
          <p:spPr bwMode="auto">
            <a:xfrm>
              <a:off x="3579" y="1721"/>
              <a:ext cx="210" cy="19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17" name="Rectangle 33">
              <a:extLst>
                <a:ext uri="{FF2B5EF4-FFF2-40B4-BE49-F238E27FC236}">
                  <a16:creationId xmlns:a16="http://schemas.microsoft.com/office/drawing/2014/main" id="{EA57F6EA-213D-4EAC-BE49-8A6FAB5813CB}"/>
                </a:ext>
              </a:extLst>
            </p:cNvPr>
            <p:cNvSpPr>
              <a:spLocks noChangeArrowheads="1"/>
            </p:cNvSpPr>
            <p:nvPr/>
          </p:nvSpPr>
          <p:spPr bwMode="auto">
            <a:xfrm>
              <a:off x="3579" y="1721"/>
              <a:ext cx="210" cy="193"/>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18" name="Rectangle 34">
              <a:extLst>
                <a:ext uri="{FF2B5EF4-FFF2-40B4-BE49-F238E27FC236}">
                  <a16:creationId xmlns:a16="http://schemas.microsoft.com/office/drawing/2014/main" id="{1F66DBBC-4996-4D0A-8B9C-B47B0BA30603}"/>
                </a:ext>
              </a:extLst>
            </p:cNvPr>
            <p:cNvSpPr>
              <a:spLocks noChangeArrowheads="1"/>
            </p:cNvSpPr>
            <p:nvPr/>
          </p:nvSpPr>
          <p:spPr bwMode="auto">
            <a:xfrm>
              <a:off x="3640" y="1752"/>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A</a:t>
              </a:r>
              <a:endParaRPr lang="en-US" altLang="zh-CN" i="1">
                <a:solidFill>
                  <a:prstClr val="black"/>
                </a:solidFill>
              </a:endParaRPr>
            </a:p>
          </p:txBody>
        </p:sp>
        <p:sp>
          <p:nvSpPr>
            <p:cNvPr id="128019" name="Rectangle 35">
              <a:extLst>
                <a:ext uri="{FF2B5EF4-FFF2-40B4-BE49-F238E27FC236}">
                  <a16:creationId xmlns:a16="http://schemas.microsoft.com/office/drawing/2014/main" id="{D70B3347-9D59-4101-86FD-DF8833F368AE}"/>
                </a:ext>
              </a:extLst>
            </p:cNvPr>
            <p:cNvSpPr>
              <a:spLocks noChangeArrowheads="1"/>
            </p:cNvSpPr>
            <p:nvPr/>
          </p:nvSpPr>
          <p:spPr bwMode="auto">
            <a:xfrm>
              <a:off x="3789" y="940"/>
              <a:ext cx="209"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20" name="Rectangle 36">
              <a:extLst>
                <a:ext uri="{FF2B5EF4-FFF2-40B4-BE49-F238E27FC236}">
                  <a16:creationId xmlns:a16="http://schemas.microsoft.com/office/drawing/2014/main" id="{4E6FE8D1-EB14-46F0-A132-27A540FC9A37}"/>
                </a:ext>
              </a:extLst>
            </p:cNvPr>
            <p:cNvSpPr>
              <a:spLocks noChangeArrowheads="1"/>
            </p:cNvSpPr>
            <p:nvPr/>
          </p:nvSpPr>
          <p:spPr bwMode="auto">
            <a:xfrm>
              <a:off x="3789" y="940"/>
              <a:ext cx="209"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21" name="Rectangle 37">
              <a:extLst>
                <a:ext uri="{FF2B5EF4-FFF2-40B4-BE49-F238E27FC236}">
                  <a16:creationId xmlns:a16="http://schemas.microsoft.com/office/drawing/2014/main" id="{65C5865C-D466-49AE-B5CC-B011E0E3345E}"/>
                </a:ext>
              </a:extLst>
            </p:cNvPr>
            <p:cNvSpPr>
              <a:spLocks noChangeArrowheads="1"/>
            </p:cNvSpPr>
            <p:nvPr/>
          </p:nvSpPr>
          <p:spPr bwMode="auto">
            <a:xfrm>
              <a:off x="3849" y="970"/>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C</a:t>
              </a:r>
              <a:endParaRPr lang="en-US" altLang="zh-CN" i="1">
                <a:solidFill>
                  <a:prstClr val="black"/>
                </a:solidFill>
              </a:endParaRPr>
            </a:p>
          </p:txBody>
        </p:sp>
        <p:sp>
          <p:nvSpPr>
            <p:cNvPr id="128022" name="Rectangle 38">
              <a:extLst>
                <a:ext uri="{FF2B5EF4-FFF2-40B4-BE49-F238E27FC236}">
                  <a16:creationId xmlns:a16="http://schemas.microsoft.com/office/drawing/2014/main" id="{E0556C36-3C0C-4798-8CC7-DF0F34722DEE}"/>
                </a:ext>
              </a:extLst>
            </p:cNvPr>
            <p:cNvSpPr>
              <a:spLocks noChangeArrowheads="1"/>
            </p:cNvSpPr>
            <p:nvPr/>
          </p:nvSpPr>
          <p:spPr bwMode="auto">
            <a:xfrm>
              <a:off x="3579" y="1489"/>
              <a:ext cx="210" cy="19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23" name="Rectangle 39">
              <a:extLst>
                <a:ext uri="{FF2B5EF4-FFF2-40B4-BE49-F238E27FC236}">
                  <a16:creationId xmlns:a16="http://schemas.microsoft.com/office/drawing/2014/main" id="{CADA3C78-9D5D-4D4A-B365-E6BE3CA0A5C3}"/>
                </a:ext>
              </a:extLst>
            </p:cNvPr>
            <p:cNvSpPr>
              <a:spLocks noChangeArrowheads="1"/>
            </p:cNvSpPr>
            <p:nvPr/>
          </p:nvSpPr>
          <p:spPr bwMode="auto">
            <a:xfrm>
              <a:off x="3579" y="1489"/>
              <a:ext cx="210" cy="191"/>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24" name="Rectangle 40">
              <a:extLst>
                <a:ext uri="{FF2B5EF4-FFF2-40B4-BE49-F238E27FC236}">
                  <a16:creationId xmlns:a16="http://schemas.microsoft.com/office/drawing/2014/main" id="{E646633F-CFE8-4C6B-B875-33CBA086DAAE}"/>
                </a:ext>
              </a:extLst>
            </p:cNvPr>
            <p:cNvSpPr>
              <a:spLocks noChangeArrowheads="1"/>
            </p:cNvSpPr>
            <p:nvPr/>
          </p:nvSpPr>
          <p:spPr bwMode="auto">
            <a:xfrm>
              <a:off x="3640" y="1519"/>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C</a:t>
              </a:r>
              <a:endParaRPr lang="en-US" altLang="zh-CN" i="1">
                <a:solidFill>
                  <a:prstClr val="black"/>
                </a:solidFill>
              </a:endParaRPr>
            </a:p>
          </p:txBody>
        </p:sp>
        <p:sp>
          <p:nvSpPr>
            <p:cNvPr id="128025" name="Rectangle 41">
              <a:extLst>
                <a:ext uri="{FF2B5EF4-FFF2-40B4-BE49-F238E27FC236}">
                  <a16:creationId xmlns:a16="http://schemas.microsoft.com/office/drawing/2014/main" id="{E21AA33E-7708-46F5-953C-971109537451}"/>
                </a:ext>
              </a:extLst>
            </p:cNvPr>
            <p:cNvSpPr>
              <a:spLocks noChangeArrowheads="1"/>
            </p:cNvSpPr>
            <p:nvPr/>
          </p:nvSpPr>
          <p:spPr bwMode="auto">
            <a:xfrm>
              <a:off x="5046" y="1626"/>
              <a:ext cx="209"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26" name="Rectangle 42">
              <a:extLst>
                <a:ext uri="{FF2B5EF4-FFF2-40B4-BE49-F238E27FC236}">
                  <a16:creationId xmlns:a16="http://schemas.microsoft.com/office/drawing/2014/main" id="{E4B3BADE-306E-49A3-9FC0-0B0E24DD64D0}"/>
                </a:ext>
              </a:extLst>
            </p:cNvPr>
            <p:cNvSpPr>
              <a:spLocks noChangeArrowheads="1"/>
            </p:cNvSpPr>
            <p:nvPr/>
          </p:nvSpPr>
          <p:spPr bwMode="auto">
            <a:xfrm>
              <a:off x="5046" y="1626"/>
              <a:ext cx="209"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27" name="Rectangle 43">
              <a:extLst>
                <a:ext uri="{FF2B5EF4-FFF2-40B4-BE49-F238E27FC236}">
                  <a16:creationId xmlns:a16="http://schemas.microsoft.com/office/drawing/2014/main" id="{D77ACB61-828C-4499-B9DF-73F5E7810318}"/>
                </a:ext>
              </a:extLst>
            </p:cNvPr>
            <p:cNvSpPr>
              <a:spLocks noChangeArrowheads="1"/>
            </p:cNvSpPr>
            <p:nvPr/>
          </p:nvSpPr>
          <p:spPr bwMode="auto">
            <a:xfrm>
              <a:off x="5106" y="1656"/>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B</a:t>
              </a:r>
              <a:endParaRPr lang="en-US" altLang="zh-CN" i="1">
                <a:solidFill>
                  <a:prstClr val="black"/>
                </a:solidFill>
              </a:endParaRPr>
            </a:p>
          </p:txBody>
        </p:sp>
        <p:sp>
          <p:nvSpPr>
            <p:cNvPr id="128028" name="Rectangle 44">
              <a:extLst>
                <a:ext uri="{FF2B5EF4-FFF2-40B4-BE49-F238E27FC236}">
                  <a16:creationId xmlns:a16="http://schemas.microsoft.com/office/drawing/2014/main" id="{B8915D7D-2CE2-4A7C-9EBC-2FD3B1682239}"/>
                </a:ext>
              </a:extLst>
            </p:cNvPr>
            <p:cNvSpPr>
              <a:spLocks noChangeArrowheads="1"/>
            </p:cNvSpPr>
            <p:nvPr/>
          </p:nvSpPr>
          <p:spPr bwMode="auto">
            <a:xfrm>
              <a:off x="5360" y="1392"/>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29" name="Rectangle 45">
              <a:extLst>
                <a:ext uri="{FF2B5EF4-FFF2-40B4-BE49-F238E27FC236}">
                  <a16:creationId xmlns:a16="http://schemas.microsoft.com/office/drawing/2014/main" id="{FE40519B-BF7F-456E-AF94-7BCE1154A104}"/>
                </a:ext>
              </a:extLst>
            </p:cNvPr>
            <p:cNvSpPr>
              <a:spLocks noChangeArrowheads="1"/>
            </p:cNvSpPr>
            <p:nvPr/>
          </p:nvSpPr>
          <p:spPr bwMode="auto">
            <a:xfrm>
              <a:off x="5360" y="1392"/>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30" name="Rectangle 46">
              <a:extLst>
                <a:ext uri="{FF2B5EF4-FFF2-40B4-BE49-F238E27FC236}">
                  <a16:creationId xmlns:a16="http://schemas.microsoft.com/office/drawing/2014/main" id="{B1309DB1-942E-456D-A673-1841E8B102E4}"/>
                </a:ext>
              </a:extLst>
            </p:cNvPr>
            <p:cNvSpPr>
              <a:spLocks noChangeArrowheads="1"/>
            </p:cNvSpPr>
            <p:nvPr/>
          </p:nvSpPr>
          <p:spPr bwMode="auto">
            <a:xfrm>
              <a:off x="5421" y="1423"/>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A</a:t>
              </a:r>
              <a:endParaRPr lang="en-US" altLang="zh-CN" i="1">
                <a:solidFill>
                  <a:prstClr val="black"/>
                </a:solidFill>
              </a:endParaRPr>
            </a:p>
          </p:txBody>
        </p:sp>
        <p:sp>
          <p:nvSpPr>
            <p:cNvPr id="128031" name="Rectangle 47">
              <a:extLst>
                <a:ext uri="{FF2B5EF4-FFF2-40B4-BE49-F238E27FC236}">
                  <a16:creationId xmlns:a16="http://schemas.microsoft.com/office/drawing/2014/main" id="{CBE19CF7-CA2B-4CE1-B250-DB5387C09124}"/>
                </a:ext>
              </a:extLst>
            </p:cNvPr>
            <p:cNvSpPr>
              <a:spLocks noChangeArrowheads="1"/>
            </p:cNvSpPr>
            <p:nvPr/>
          </p:nvSpPr>
          <p:spPr bwMode="auto">
            <a:xfrm>
              <a:off x="5360" y="1626"/>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32" name="Rectangle 48">
              <a:extLst>
                <a:ext uri="{FF2B5EF4-FFF2-40B4-BE49-F238E27FC236}">
                  <a16:creationId xmlns:a16="http://schemas.microsoft.com/office/drawing/2014/main" id="{66C0A8D5-A7BA-4111-8734-E54E71C0DE2C}"/>
                </a:ext>
              </a:extLst>
            </p:cNvPr>
            <p:cNvSpPr>
              <a:spLocks noChangeArrowheads="1"/>
            </p:cNvSpPr>
            <p:nvPr/>
          </p:nvSpPr>
          <p:spPr bwMode="auto">
            <a:xfrm>
              <a:off x="5360" y="1626"/>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33" name="Rectangle 49">
              <a:extLst>
                <a:ext uri="{FF2B5EF4-FFF2-40B4-BE49-F238E27FC236}">
                  <a16:creationId xmlns:a16="http://schemas.microsoft.com/office/drawing/2014/main" id="{E56C33FB-9FDF-4641-A8B5-1F6AEB9E879A}"/>
                </a:ext>
              </a:extLst>
            </p:cNvPr>
            <p:cNvSpPr>
              <a:spLocks noChangeArrowheads="1"/>
            </p:cNvSpPr>
            <p:nvPr/>
          </p:nvSpPr>
          <p:spPr bwMode="auto">
            <a:xfrm>
              <a:off x="5421" y="1656"/>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C</a:t>
              </a:r>
              <a:endParaRPr lang="en-US" altLang="zh-CN" i="1">
                <a:solidFill>
                  <a:prstClr val="black"/>
                </a:solidFill>
              </a:endParaRPr>
            </a:p>
          </p:txBody>
        </p:sp>
        <p:sp>
          <p:nvSpPr>
            <p:cNvPr id="128034" name="Rectangle 50">
              <a:extLst>
                <a:ext uri="{FF2B5EF4-FFF2-40B4-BE49-F238E27FC236}">
                  <a16:creationId xmlns:a16="http://schemas.microsoft.com/office/drawing/2014/main" id="{FE37EBBA-598D-45C8-AEB2-954CD046C85E}"/>
                </a:ext>
              </a:extLst>
            </p:cNvPr>
            <p:cNvSpPr>
              <a:spLocks noChangeArrowheads="1"/>
            </p:cNvSpPr>
            <p:nvPr/>
          </p:nvSpPr>
          <p:spPr bwMode="auto">
            <a:xfrm>
              <a:off x="2343" y="1626"/>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35" name="Rectangle 51">
              <a:extLst>
                <a:ext uri="{FF2B5EF4-FFF2-40B4-BE49-F238E27FC236}">
                  <a16:creationId xmlns:a16="http://schemas.microsoft.com/office/drawing/2014/main" id="{C8DD595C-3A05-40F5-A5BC-2E536AFB59F0}"/>
                </a:ext>
              </a:extLst>
            </p:cNvPr>
            <p:cNvSpPr>
              <a:spLocks noChangeArrowheads="1"/>
            </p:cNvSpPr>
            <p:nvPr/>
          </p:nvSpPr>
          <p:spPr bwMode="auto">
            <a:xfrm>
              <a:off x="2343" y="1626"/>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36" name="Rectangle 52">
              <a:extLst>
                <a:ext uri="{FF2B5EF4-FFF2-40B4-BE49-F238E27FC236}">
                  <a16:creationId xmlns:a16="http://schemas.microsoft.com/office/drawing/2014/main" id="{F3EF423C-B067-4E62-BF26-E8E28636C9F0}"/>
                </a:ext>
              </a:extLst>
            </p:cNvPr>
            <p:cNvSpPr>
              <a:spLocks noChangeArrowheads="1"/>
            </p:cNvSpPr>
            <p:nvPr/>
          </p:nvSpPr>
          <p:spPr bwMode="auto">
            <a:xfrm>
              <a:off x="2404" y="1656"/>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C</a:t>
              </a:r>
              <a:endParaRPr lang="en-US" altLang="zh-CN" i="1">
                <a:solidFill>
                  <a:prstClr val="black"/>
                </a:solidFill>
              </a:endParaRPr>
            </a:p>
          </p:txBody>
        </p:sp>
        <p:sp>
          <p:nvSpPr>
            <p:cNvPr id="128037" name="Rectangle 53">
              <a:extLst>
                <a:ext uri="{FF2B5EF4-FFF2-40B4-BE49-F238E27FC236}">
                  <a16:creationId xmlns:a16="http://schemas.microsoft.com/office/drawing/2014/main" id="{E013FCC6-B17E-49F9-ADF6-4B62CB2D4563}"/>
                </a:ext>
              </a:extLst>
            </p:cNvPr>
            <p:cNvSpPr>
              <a:spLocks noChangeArrowheads="1"/>
            </p:cNvSpPr>
            <p:nvPr/>
          </p:nvSpPr>
          <p:spPr bwMode="auto">
            <a:xfrm>
              <a:off x="1066" y="2600"/>
              <a:ext cx="209"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38" name="Rectangle 54">
              <a:extLst>
                <a:ext uri="{FF2B5EF4-FFF2-40B4-BE49-F238E27FC236}">
                  <a16:creationId xmlns:a16="http://schemas.microsoft.com/office/drawing/2014/main" id="{73890BF3-7EA1-4958-A0B3-3F642848E1AE}"/>
                </a:ext>
              </a:extLst>
            </p:cNvPr>
            <p:cNvSpPr>
              <a:spLocks noChangeArrowheads="1"/>
            </p:cNvSpPr>
            <p:nvPr/>
          </p:nvSpPr>
          <p:spPr bwMode="auto">
            <a:xfrm>
              <a:off x="1066" y="2600"/>
              <a:ext cx="209"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39" name="Rectangle 55">
              <a:extLst>
                <a:ext uri="{FF2B5EF4-FFF2-40B4-BE49-F238E27FC236}">
                  <a16:creationId xmlns:a16="http://schemas.microsoft.com/office/drawing/2014/main" id="{C9C4B033-1539-4BCC-8554-9B352031393A}"/>
                </a:ext>
              </a:extLst>
            </p:cNvPr>
            <p:cNvSpPr>
              <a:spLocks noChangeArrowheads="1"/>
            </p:cNvSpPr>
            <p:nvPr/>
          </p:nvSpPr>
          <p:spPr bwMode="auto">
            <a:xfrm>
              <a:off x="1126" y="2630"/>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C</a:t>
              </a:r>
              <a:endParaRPr lang="en-US" altLang="zh-CN" i="1">
                <a:solidFill>
                  <a:prstClr val="black"/>
                </a:solidFill>
              </a:endParaRPr>
            </a:p>
          </p:txBody>
        </p:sp>
        <p:sp>
          <p:nvSpPr>
            <p:cNvPr id="128040" name="Rectangle 56">
              <a:extLst>
                <a:ext uri="{FF2B5EF4-FFF2-40B4-BE49-F238E27FC236}">
                  <a16:creationId xmlns:a16="http://schemas.microsoft.com/office/drawing/2014/main" id="{857D90C3-65F4-46E3-BF8D-875CF8F72C28}"/>
                </a:ext>
              </a:extLst>
            </p:cNvPr>
            <p:cNvSpPr>
              <a:spLocks noChangeArrowheads="1"/>
            </p:cNvSpPr>
            <p:nvPr/>
          </p:nvSpPr>
          <p:spPr bwMode="auto">
            <a:xfrm>
              <a:off x="751" y="2408"/>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41" name="Rectangle 57">
              <a:extLst>
                <a:ext uri="{FF2B5EF4-FFF2-40B4-BE49-F238E27FC236}">
                  <a16:creationId xmlns:a16="http://schemas.microsoft.com/office/drawing/2014/main" id="{A231FA7B-5EED-4A62-89BE-079D9C775058}"/>
                </a:ext>
              </a:extLst>
            </p:cNvPr>
            <p:cNvSpPr>
              <a:spLocks noChangeArrowheads="1"/>
            </p:cNvSpPr>
            <p:nvPr/>
          </p:nvSpPr>
          <p:spPr bwMode="auto">
            <a:xfrm>
              <a:off x="751" y="2408"/>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42" name="Rectangle 58">
              <a:extLst>
                <a:ext uri="{FF2B5EF4-FFF2-40B4-BE49-F238E27FC236}">
                  <a16:creationId xmlns:a16="http://schemas.microsoft.com/office/drawing/2014/main" id="{2ECB6D6E-E373-435D-89C2-D1A848523DB2}"/>
                </a:ext>
              </a:extLst>
            </p:cNvPr>
            <p:cNvSpPr>
              <a:spLocks noChangeArrowheads="1"/>
            </p:cNvSpPr>
            <p:nvPr/>
          </p:nvSpPr>
          <p:spPr bwMode="auto">
            <a:xfrm>
              <a:off x="812" y="2438"/>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B</a:t>
              </a:r>
              <a:endParaRPr lang="en-US" altLang="zh-CN" i="1">
                <a:solidFill>
                  <a:prstClr val="black"/>
                </a:solidFill>
              </a:endParaRPr>
            </a:p>
          </p:txBody>
        </p:sp>
        <p:sp>
          <p:nvSpPr>
            <p:cNvPr id="128043" name="Rectangle 59">
              <a:extLst>
                <a:ext uri="{FF2B5EF4-FFF2-40B4-BE49-F238E27FC236}">
                  <a16:creationId xmlns:a16="http://schemas.microsoft.com/office/drawing/2014/main" id="{65D0EEC2-EA3D-4B6C-AB21-19AA9DA80DC2}"/>
                </a:ext>
              </a:extLst>
            </p:cNvPr>
            <p:cNvSpPr>
              <a:spLocks noChangeArrowheads="1"/>
            </p:cNvSpPr>
            <p:nvPr/>
          </p:nvSpPr>
          <p:spPr bwMode="auto">
            <a:xfrm>
              <a:off x="751" y="2600"/>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44" name="Rectangle 60">
              <a:extLst>
                <a:ext uri="{FF2B5EF4-FFF2-40B4-BE49-F238E27FC236}">
                  <a16:creationId xmlns:a16="http://schemas.microsoft.com/office/drawing/2014/main" id="{5A990E02-2E13-4426-BF8F-0C05E4790BBA}"/>
                </a:ext>
              </a:extLst>
            </p:cNvPr>
            <p:cNvSpPr>
              <a:spLocks noChangeArrowheads="1"/>
            </p:cNvSpPr>
            <p:nvPr/>
          </p:nvSpPr>
          <p:spPr bwMode="auto">
            <a:xfrm>
              <a:off x="751" y="2600"/>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45" name="Rectangle 61">
              <a:extLst>
                <a:ext uri="{FF2B5EF4-FFF2-40B4-BE49-F238E27FC236}">
                  <a16:creationId xmlns:a16="http://schemas.microsoft.com/office/drawing/2014/main" id="{B8362700-EED2-424F-A1A7-79D69957F955}"/>
                </a:ext>
              </a:extLst>
            </p:cNvPr>
            <p:cNvSpPr>
              <a:spLocks noChangeArrowheads="1"/>
            </p:cNvSpPr>
            <p:nvPr/>
          </p:nvSpPr>
          <p:spPr bwMode="auto">
            <a:xfrm>
              <a:off x="812" y="2630"/>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A</a:t>
              </a:r>
              <a:endParaRPr lang="en-US" altLang="zh-CN" i="1">
                <a:solidFill>
                  <a:prstClr val="black"/>
                </a:solidFill>
              </a:endParaRPr>
            </a:p>
          </p:txBody>
        </p:sp>
        <p:sp>
          <p:nvSpPr>
            <p:cNvPr id="128046" name="Rectangle 62">
              <a:extLst>
                <a:ext uri="{FF2B5EF4-FFF2-40B4-BE49-F238E27FC236}">
                  <a16:creationId xmlns:a16="http://schemas.microsoft.com/office/drawing/2014/main" id="{4972FFB6-0C5D-4633-8394-016032EEBF18}"/>
                </a:ext>
              </a:extLst>
            </p:cNvPr>
            <p:cNvSpPr>
              <a:spLocks noChangeArrowheads="1"/>
            </p:cNvSpPr>
            <p:nvPr/>
          </p:nvSpPr>
          <p:spPr bwMode="auto">
            <a:xfrm>
              <a:off x="1694" y="2394"/>
              <a:ext cx="209"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47" name="Rectangle 63">
              <a:extLst>
                <a:ext uri="{FF2B5EF4-FFF2-40B4-BE49-F238E27FC236}">
                  <a16:creationId xmlns:a16="http://schemas.microsoft.com/office/drawing/2014/main" id="{307E6067-8AD2-4034-881F-F2625996747B}"/>
                </a:ext>
              </a:extLst>
            </p:cNvPr>
            <p:cNvSpPr>
              <a:spLocks noChangeArrowheads="1"/>
            </p:cNvSpPr>
            <p:nvPr/>
          </p:nvSpPr>
          <p:spPr bwMode="auto">
            <a:xfrm>
              <a:off x="1694" y="2394"/>
              <a:ext cx="209"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48" name="Rectangle 64">
              <a:extLst>
                <a:ext uri="{FF2B5EF4-FFF2-40B4-BE49-F238E27FC236}">
                  <a16:creationId xmlns:a16="http://schemas.microsoft.com/office/drawing/2014/main" id="{0D0EC02D-7B56-4C0F-9349-51D95EDD6021}"/>
                </a:ext>
              </a:extLst>
            </p:cNvPr>
            <p:cNvSpPr>
              <a:spLocks noChangeArrowheads="1"/>
            </p:cNvSpPr>
            <p:nvPr/>
          </p:nvSpPr>
          <p:spPr bwMode="auto">
            <a:xfrm>
              <a:off x="1754" y="2424"/>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B</a:t>
              </a:r>
              <a:endParaRPr lang="en-US" altLang="zh-CN" i="1">
                <a:solidFill>
                  <a:prstClr val="black"/>
                </a:solidFill>
              </a:endParaRPr>
            </a:p>
          </p:txBody>
        </p:sp>
        <p:sp>
          <p:nvSpPr>
            <p:cNvPr id="128049" name="Rectangle 65">
              <a:extLst>
                <a:ext uri="{FF2B5EF4-FFF2-40B4-BE49-F238E27FC236}">
                  <a16:creationId xmlns:a16="http://schemas.microsoft.com/office/drawing/2014/main" id="{C0917F24-603A-41A0-A75C-028869E581AE}"/>
                </a:ext>
              </a:extLst>
            </p:cNvPr>
            <p:cNvSpPr>
              <a:spLocks noChangeArrowheads="1"/>
            </p:cNvSpPr>
            <p:nvPr/>
          </p:nvSpPr>
          <p:spPr bwMode="auto">
            <a:xfrm>
              <a:off x="1694" y="2586"/>
              <a:ext cx="209"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50" name="Rectangle 66">
              <a:extLst>
                <a:ext uri="{FF2B5EF4-FFF2-40B4-BE49-F238E27FC236}">
                  <a16:creationId xmlns:a16="http://schemas.microsoft.com/office/drawing/2014/main" id="{A400A23D-97CD-4693-A959-EB99F916B110}"/>
                </a:ext>
              </a:extLst>
            </p:cNvPr>
            <p:cNvSpPr>
              <a:spLocks noChangeArrowheads="1"/>
            </p:cNvSpPr>
            <p:nvPr/>
          </p:nvSpPr>
          <p:spPr bwMode="auto">
            <a:xfrm>
              <a:off x="1694" y="2586"/>
              <a:ext cx="209"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51" name="Rectangle 67">
              <a:extLst>
                <a:ext uri="{FF2B5EF4-FFF2-40B4-BE49-F238E27FC236}">
                  <a16:creationId xmlns:a16="http://schemas.microsoft.com/office/drawing/2014/main" id="{D4F85B80-DC4E-41EB-A4ED-24A6F39CBF84}"/>
                </a:ext>
              </a:extLst>
            </p:cNvPr>
            <p:cNvSpPr>
              <a:spLocks noChangeArrowheads="1"/>
            </p:cNvSpPr>
            <p:nvPr/>
          </p:nvSpPr>
          <p:spPr bwMode="auto">
            <a:xfrm>
              <a:off x="1754" y="2617"/>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C</a:t>
              </a:r>
              <a:endParaRPr lang="en-US" altLang="zh-CN" i="1">
                <a:solidFill>
                  <a:prstClr val="black"/>
                </a:solidFill>
              </a:endParaRPr>
            </a:p>
          </p:txBody>
        </p:sp>
        <p:sp>
          <p:nvSpPr>
            <p:cNvPr id="128052" name="Rectangle 68">
              <a:extLst>
                <a:ext uri="{FF2B5EF4-FFF2-40B4-BE49-F238E27FC236}">
                  <a16:creationId xmlns:a16="http://schemas.microsoft.com/office/drawing/2014/main" id="{36386136-A935-4F57-A20D-217B86CBA3D8}"/>
                </a:ext>
              </a:extLst>
            </p:cNvPr>
            <p:cNvSpPr>
              <a:spLocks noChangeArrowheads="1"/>
            </p:cNvSpPr>
            <p:nvPr/>
          </p:nvSpPr>
          <p:spPr bwMode="auto">
            <a:xfrm>
              <a:off x="2008" y="2586"/>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53" name="Rectangle 69">
              <a:extLst>
                <a:ext uri="{FF2B5EF4-FFF2-40B4-BE49-F238E27FC236}">
                  <a16:creationId xmlns:a16="http://schemas.microsoft.com/office/drawing/2014/main" id="{C123D3C8-2BF0-453F-B267-13C372671878}"/>
                </a:ext>
              </a:extLst>
            </p:cNvPr>
            <p:cNvSpPr>
              <a:spLocks noChangeArrowheads="1"/>
            </p:cNvSpPr>
            <p:nvPr/>
          </p:nvSpPr>
          <p:spPr bwMode="auto">
            <a:xfrm>
              <a:off x="2008" y="2586"/>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54" name="Rectangle 70">
              <a:extLst>
                <a:ext uri="{FF2B5EF4-FFF2-40B4-BE49-F238E27FC236}">
                  <a16:creationId xmlns:a16="http://schemas.microsoft.com/office/drawing/2014/main" id="{9009B8FD-6EDF-4C18-9DAC-06C2CFCEAC23}"/>
                </a:ext>
              </a:extLst>
            </p:cNvPr>
            <p:cNvSpPr>
              <a:spLocks noChangeArrowheads="1"/>
            </p:cNvSpPr>
            <p:nvPr/>
          </p:nvSpPr>
          <p:spPr bwMode="auto">
            <a:xfrm>
              <a:off x="2068" y="2617"/>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A</a:t>
              </a:r>
              <a:endParaRPr lang="en-US" altLang="zh-CN" i="1">
                <a:solidFill>
                  <a:prstClr val="black"/>
                </a:solidFill>
              </a:endParaRPr>
            </a:p>
          </p:txBody>
        </p:sp>
        <p:sp>
          <p:nvSpPr>
            <p:cNvPr id="128055" name="Rectangle 71">
              <a:extLst>
                <a:ext uri="{FF2B5EF4-FFF2-40B4-BE49-F238E27FC236}">
                  <a16:creationId xmlns:a16="http://schemas.microsoft.com/office/drawing/2014/main" id="{D1A945C7-527B-4F2C-8C82-4A025348F5B6}"/>
                </a:ext>
              </a:extLst>
            </p:cNvPr>
            <p:cNvSpPr>
              <a:spLocks noChangeArrowheads="1"/>
            </p:cNvSpPr>
            <p:nvPr/>
          </p:nvSpPr>
          <p:spPr bwMode="auto">
            <a:xfrm>
              <a:off x="2029" y="1626"/>
              <a:ext cx="209" cy="19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56" name="Rectangle 72">
              <a:extLst>
                <a:ext uri="{FF2B5EF4-FFF2-40B4-BE49-F238E27FC236}">
                  <a16:creationId xmlns:a16="http://schemas.microsoft.com/office/drawing/2014/main" id="{26508719-A8A3-4876-9C35-E47976522AA5}"/>
                </a:ext>
              </a:extLst>
            </p:cNvPr>
            <p:cNvSpPr>
              <a:spLocks noChangeArrowheads="1"/>
            </p:cNvSpPr>
            <p:nvPr/>
          </p:nvSpPr>
          <p:spPr bwMode="auto">
            <a:xfrm>
              <a:off x="2029" y="1626"/>
              <a:ext cx="209" cy="191"/>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57" name="Rectangle 73">
              <a:extLst>
                <a:ext uri="{FF2B5EF4-FFF2-40B4-BE49-F238E27FC236}">
                  <a16:creationId xmlns:a16="http://schemas.microsoft.com/office/drawing/2014/main" id="{406F0FCE-21D3-4A7C-8E31-91952AC38409}"/>
                </a:ext>
              </a:extLst>
            </p:cNvPr>
            <p:cNvSpPr>
              <a:spLocks noChangeArrowheads="1"/>
            </p:cNvSpPr>
            <p:nvPr/>
          </p:nvSpPr>
          <p:spPr bwMode="auto">
            <a:xfrm>
              <a:off x="2089" y="1656"/>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B</a:t>
              </a:r>
              <a:endParaRPr lang="en-US" altLang="zh-CN" i="1">
                <a:solidFill>
                  <a:prstClr val="black"/>
                </a:solidFill>
              </a:endParaRPr>
            </a:p>
          </p:txBody>
        </p:sp>
        <p:sp>
          <p:nvSpPr>
            <p:cNvPr id="128058" name="Rectangle 74">
              <a:extLst>
                <a:ext uri="{FF2B5EF4-FFF2-40B4-BE49-F238E27FC236}">
                  <a16:creationId xmlns:a16="http://schemas.microsoft.com/office/drawing/2014/main" id="{3E4CDD63-D970-43BF-9E8B-BDA2D66DEABF}"/>
                </a:ext>
              </a:extLst>
            </p:cNvPr>
            <p:cNvSpPr>
              <a:spLocks noChangeArrowheads="1"/>
            </p:cNvSpPr>
            <p:nvPr/>
          </p:nvSpPr>
          <p:spPr bwMode="auto">
            <a:xfrm>
              <a:off x="5255" y="2408"/>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59" name="Rectangle 75">
              <a:extLst>
                <a:ext uri="{FF2B5EF4-FFF2-40B4-BE49-F238E27FC236}">
                  <a16:creationId xmlns:a16="http://schemas.microsoft.com/office/drawing/2014/main" id="{5DCE5674-AABC-43C1-9BC6-99FBBFD3C026}"/>
                </a:ext>
              </a:extLst>
            </p:cNvPr>
            <p:cNvSpPr>
              <a:spLocks noChangeArrowheads="1"/>
            </p:cNvSpPr>
            <p:nvPr/>
          </p:nvSpPr>
          <p:spPr bwMode="auto">
            <a:xfrm>
              <a:off x="5255" y="2408"/>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60" name="Rectangle 76">
              <a:extLst>
                <a:ext uri="{FF2B5EF4-FFF2-40B4-BE49-F238E27FC236}">
                  <a16:creationId xmlns:a16="http://schemas.microsoft.com/office/drawing/2014/main" id="{1645A6A0-AF41-477D-BF9B-D35E950536F5}"/>
                </a:ext>
              </a:extLst>
            </p:cNvPr>
            <p:cNvSpPr>
              <a:spLocks noChangeArrowheads="1"/>
            </p:cNvSpPr>
            <p:nvPr/>
          </p:nvSpPr>
          <p:spPr bwMode="auto">
            <a:xfrm>
              <a:off x="5316" y="2438"/>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A</a:t>
              </a:r>
              <a:endParaRPr lang="en-US" altLang="zh-CN" i="1">
                <a:solidFill>
                  <a:prstClr val="black"/>
                </a:solidFill>
              </a:endParaRPr>
            </a:p>
          </p:txBody>
        </p:sp>
        <p:sp>
          <p:nvSpPr>
            <p:cNvPr id="128061" name="Rectangle 77">
              <a:extLst>
                <a:ext uri="{FF2B5EF4-FFF2-40B4-BE49-F238E27FC236}">
                  <a16:creationId xmlns:a16="http://schemas.microsoft.com/office/drawing/2014/main" id="{7E424FCC-DC76-4A2B-A7C4-F53E615F1DB3}"/>
                </a:ext>
              </a:extLst>
            </p:cNvPr>
            <p:cNvSpPr>
              <a:spLocks noChangeArrowheads="1"/>
            </p:cNvSpPr>
            <p:nvPr/>
          </p:nvSpPr>
          <p:spPr bwMode="auto">
            <a:xfrm>
              <a:off x="2846" y="2408"/>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62" name="Rectangle 78">
              <a:extLst>
                <a:ext uri="{FF2B5EF4-FFF2-40B4-BE49-F238E27FC236}">
                  <a16:creationId xmlns:a16="http://schemas.microsoft.com/office/drawing/2014/main" id="{F00B7073-0DA4-49AC-9897-F0F1015DB046}"/>
                </a:ext>
              </a:extLst>
            </p:cNvPr>
            <p:cNvSpPr>
              <a:spLocks noChangeArrowheads="1"/>
            </p:cNvSpPr>
            <p:nvPr/>
          </p:nvSpPr>
          <p:spPr bwMode="auto">
            <a:xfrm>
              <a:off x="2846" y="2408"/>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63" name="Rectangle 79">
              <a:extLst>
                <a:ext uri="{FF2B5EF4-FFF2-40B4-BE49-F238E27FC236}">
                  <a16:creationId xmlns:a16="http://schemas.microsoft.com/office/drawing/2014/main" id="{5440DD8C-35C9-430A-BE99-731F90F73D61}"/>
                </a:ext>
              </a:extLst>
            </p:cNvPr>
            <p:cNvSpPr>
              <a:spLocks noChangeArrowheads="1"/>
            </p:cNvSpPr>
            <p:nvPr/>
          </p:nvSpPr>
          <p:spPr bwMode="auto">
            <a:xfrm>
              <a:off x="2907" y="2438"/>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C</a:t>
              </a:r>
              <a:endParaRPr lang="en-US" altLang="zh-CN" i="1">
                <a:solidFill>
                  <a:prstClr val="black"/>
                </a:solidFill>
              </a:endParaRPr>
            </a:p>
          </p:txBody>
        </p:sp>
        <p:sp>
          <p:nvSpPr>
            <p:cNvPr id="128064" name="Rectangle 80">
              <a:extLst>
                <a:ext uri="{FF2B5EF4-FFF2-40B4-BE49-F238E27FC236}">
                  <a16:creationId xmlns:a16="http://schemas.microsoft.com/office/drawing/2014/main" id="{8AF1B2CD-FA21-4D3C-B9DB-45935400BEBC}"/>
                </a:ext>
              </a:extLst>
            </p:cNvPr>
            <p:cNvSpPr>
              <a:spLocks noChangeArrowheads="1"/>
            </p:cNvSpPr>
            <p:nvPr/>
          </p:nvSpPr>
          <p:spPr bwMode="auto">
            <a:xfrm>
              <a:off x="5255" y="2174"/>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65" name="Rectangle 81">
              <a:extLst>
                <a:ext uri="{FF2B5EF4-FFF2-40B4-BE49-F238E27FC236}">
                  <a16:creationId xmlns:a16="http://schemas.microsoft.com/office/drawing/2014/main" id="{42AE9FB5-DEBE-4708-B5A2-A7FB670EDC5B}"/>
                </a:ext>
              </a:extLst>
            </p:cNvPr>
            <p:cNvSpPr>
              <a:spLocks noChangeArrowheads="1"/>
            </p:cNvSpPr>
            <p:nvPr/>
          </p:nvSpPr>
          <p:spPr bwMode="auto">
            <a:xfrm>
              <a:off x="5255" y="2174"/>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66" name="Rectangle 82">
              <a:extLst>
                <a:ext uri="{FF2B5EF4-FFF2-40B4-BE49-F238E27FC236}">
                  <a16:creationId xmlns:a16="http://schemas.microsoft.com/office/drawing/2014/main" id="{53E8CBD2-44F7-4AD5-A328-3DCDDB50D372}"/>
                </a:ext>
              </a:extLst>
            </p:cNvPr>
            <p:cNvSpPr>
              <a:spLocks noChangeArrowheads="1"/>
            </p:cNvSpPr>
            <p:nvPr/>
          </p:nvSpPr>
          <p:spPr bwMode="auto">
            <a:xfrm>
              <a:off x="5316" y="2205"/>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B</a:t>
              </a:r>
              <a:endParaRPr lang="en-US" altLang="zh-CN" i="1">
                <a:solidFill>
                  <a:prstClr val="black"/>
                </a:solidFill>
              </a:endParaRPr>
            </a:p>
          </p:txBody>
        </p:sp>
        <p:sp>
          <p:nvSpPr>
            <p:cNvPr id="128067" name="Rectangle 83">
              <a:extLst>
                <a:ext uri="{FF2B5EF4-FFF2-40B4-BE49-F238E27FC236}">
                  <a16:creationId xmlns:a16="http://schemas.microsoft.com/office/drawing/2014/main" id="{88B30B7A-C65A-4B7F-8F6D-0C3A50F3B0AD}"/>
                </a:ext>
              </a:extLst>
            </p:cNvPr>
            <p:cNvSpPr>
              <a:spLocks noChangeArrowheads="1"/>
            </p:cNvSpPr>
            <p:nvPr/>
          </p:nvSpPr>
          <p:spPr bwMode="auto">
            <a:xfrm>
              <a:off x="2846" y="2586"/>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68" name="Rectangle 84">
              <a:extLst>
                <a:ext uri="{FF2B5EF4-FFF2-40B4-BE49-F238E27FC236}">
                  <a16:creationId xmlns:a16="http://schemas.microsoft.com/office/drawing/2014/main" id="{FEC6CCAB-66B9-4DA4-AFAE-04136F52EAC9}"/>
                </a:ext>
              </a:extLst>
            </p:cNvPr>
            <p:cNvSpPr>
              <a:spLocks noChangeArrowheads="1"/>
            </p:cNvSpPr>
            <p:nvPr/>
          </p:nvSpPr>
          <p:spPr bwMode="auto">
            <a:xfrm>
              <a:off x="2846" y="2586"/>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69" name="Rectangle 85">
              <a:extLst>
                <a:ext uri="{FF2B5EF4-FFF2-40B4-BE49-F238E27FC236}">
                  <a16:creationId xmlns:a16="http://schemas.microsoft.com/office/drawing/2014/main" id="{989B4B38-D86E-4A69-8A0E-28B432AEF3BE}"/>
                </a:ext>
              </a:extLst>
            </p:cNvPr>
            <p:cNvSpPr>
              <a:spLocks noChangeArrowheads="1"/>
            </p:cNvSpPr>
            <p:nvPr/>
          </p:nvSpPr>
          <p:spPr bwMode="auto">
            <a:xfrm>
              <a:off x="2907" y="2617"/>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A</a:t>
              </a:r>
              <a:endParaRPr lang="en-US" altLang="zh-CN" i="1">
                <a:solidFill>
                  <a:prstClr val="black"/>
                </a:solidFill>
              </a:endParaRPr>
            </a:p>
          </p:txBody>
        </p:sp>
        <p:sp>
          <p:nvSpPr>
            <p:cNvPr id="128070" name="Rectangle 86">
              <a:extLst>
                <a:ext uri="{FF2B5EF4-FFF2-40B4-BE49-F238E27FC236}">
                  <a16:creationId xmlns:a16="http://schemas.microsoft.com/office/drawing/2014/main" id="{EC2DC12F-AF0C-4421-A29F-442893C6D894}"/>
                </a:ext>
              </a:extLst>
            </p:cNvPr>
            <p:cNvSpPr>
              <a:spLocks noChangeArrowheads="1"/>
            </p:cNvSpPr>
            <p:nvPr/>
          </p:nvSpPr>
          <p:spPr bwMode="auto">
            <a:xfrm>
              <a:off x="4313" y="2586"/>
              <a:ext cx="209"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71" name="Rectangle 87">
              <a:extLst>
                <a:ext uri="{FF2B5EF4-FFF2-40B4-BE49-F238E27FC236}">
                  <a16:creationId xmlns:a16="http://schemas.microsoft.com/office/drawing/2014/main" id="{B4105BA0-B791-4727-94C1-A88781811E57}"/>
                </a:ext>
              </a:extLst>
            </p:cNvPr>
            <p:cNvSpPr>
              <a:spLocks noChangeArrowheads="1"/>
            </p:cNvSpPr>
            <p:nvPr/>
          </p:nvSpPr>
          <p:spPr bwMode="auto">
            <a:xfrm>
              <a:off x="4313" y="2586"/>
              <a:ext cx="209"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72" name="Rectangle 88">
              <a:extLst>
                <a:ext uri="{FF2B5EF4-FFF2-40B4-BE49-F238E27FC236}">
                  <a16:creationId xmlns:a16="http://schemas.microsoft.com/office/drawing/2014/main" id="{7780771F-33EE-421F-9D7A-95A8B71DDAC7}"/>
                </a:ext>
              </a:extLst>
            </p:cNvPr>
            <p:cNvSpPr>
              <a:spLocks noChangeArrowheads="1"/>
            </p:cNvSpPr>
            <p:nvPr/>
          </p:nvSpPr>
          <p:spPr bwMode="auto">
            <a:xfrm>
              <a:off x="4372" y="2617"/>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A</a:t>
              </a:r>
              <a:endParaRPr lang="en-US" altLang="zh-CN" i="1">
                <a:solidFill>
                  <a:prstClr val="black"/>
                </a:solidFill>
              </a:endParaRPr>
            </a:p>
          </p:txBody>
        </p:sp>
        <p:sp>
          <p:nvSpPr>
            <p:cNvPr id="128073" name="Rectangle 89">
              <a:extLst>
                <a:ext uri="{FF2B5EF4-FFF2-40B4-BE49-F238E27FC236}">
                  <a16:creationId xmlns:a16="http://schemas.microsoft.com/office/drawing/2014/main" id="{EC405FDD-F51A-49EC-90B5-D5AC624A8155}"/>
                </a:ext>
              </a:extLst>
            </p:cNvPr>
            <p:cNvSpPr>
              <a:spLocks noChangeArrowheads="1"/>
            </p:cNvSpPr>
            <p:nvPr/>
          </p:nvSpPr>
          <p:spPr bwMode="auto">
            <a:xfrm>
              <a:off x="3998" y="2586"/>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74" name="Rectangle 90">
              <a:extLst>
                <a:ext uri="{FF2B5EF4-FFF2-40B4-BE49-F238E27FC236}">
                  <a16:creationId xmlns:a16="http://schemas.microsoft.com/office/drawing/2014/main" id="{06CE695D-DA44-4C2A-BC38-1FC30415FBD9}"/>
                </a:ext>
              </a:extLst>
            </p:cNvPr>
            <p:cNvSpPr>
              <a:spLocks noChangeArrowheads="1"/>
            </p:cNvSpPr>
            <p:nvPr/>
          </p:nvSpPr>
          <p:spPr bwMode="auto">
            <a:xfrm>
              <a:off x="3998" y="2586"/>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75" name="Rectangle 91">
              <a:extLst>
                <a:ext uri="{FF2B5EF4-FFF2-40B4-BE49-F238E27FC236}">
                  <a16:creationId xmlns:a16="http://schemas.microsoft.com/office/drawing/2014/main" id="{7B1476E2-808F-4F26-B607-9B44E903CB09}"/>
                </a:ext>
              </a:extLst>
            </p:cNvPr>
            <p:cNvSpPr>
              <a:spLocks noChangeArrowheads="1"/>
            </p:cNvSpPr>
            <p:nvPr/>
          </p:nvSpPr>
          <p:spPr bwMode="auto">
            <a:xfrm>
              <a:off x="4059" y="2617"/>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B</a:t>
              </a:r>
              <a:endParaRPr lang="en-US" altLang="zh-CN" i="1">
                <a:solidFill>
                  <a:prstClr val="black"/>
                </a:solidFill>
              </a:endParaRPr>
            </a:p>
          </p:txBody>
        </p:sp>
        <p:sp>
          <p:nvSpPr>
            <p:cNvPr id="128076" name="Rectangle 92">
              <a:extLst>
                <a:ext uri="{FF2B5EF4-FFF2-40B4-BE49-F238E27FC236}">
                  <a16:creationId xmlns:a16="http://schemas.microsoft.com/office/drawing/2014/main" id="{D869AA0E-DBBF-40B2-A4AB-C6A01C2975D2}"/>
                </a:ext>
              </a:extLst>
            </p:cNvPr>
            <p:cNvSpPr>
              <a:spLocks noChangeArrowheads="1"/>
            </p:cNvSpPr>
            <p:nvPr/>
          </p:nvSpPr>
          <p:spPr bwMode="auto">
            <a:xfrm>
              <a:off x="5255" y="2586"/>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77" name="Rectangle 93">
              <a:extLst>
                <a:ext uri="{FF2B5EF4-FFF2-40B4-BE49-F238E27FC236}">
                  <a16:creationId xmlns:a16="http://schemas.microsoft.com/office/drawing/2014/main" id="{08065C1F-534B-4D97-94BB-1CC38AA68F8C}"/>
                </a:ext>
              </a:extLst>
            </p:cNvPr>
            <p:cNvSpPr>
              <a:spLocks noChangeArrowheads="1"/>
            </p:cNvSpPr>
            <p:nvPr/>
          </p:nvSpPr>
          <p:spPr bwMode="auto">
            <a:xfrm>
              <a:off x="5255" y="2586"/>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78" name="Rectangle 94">
              <a:extLst>
                <a:ext uri="{FF2B5EF4-FFF2-40B4-BE49-F238E27FC236}">
                  <a16:creationId xmlns:a16="http://schemas.microsoft.com/office/drawing/2014/main" id="{7FCF5BE4-D8D0-49C8-A888-4E6F544C451B}"/>
                </a:ext>
              </a:extLst>
            </p:cNvPr>
            <p:cNvSpPr>
              <a:spLocks noChangeArrowheads="1"/>
            </p:cNvSpPr>
            <p:nvPr/>
          </p:nvSpPr>
          <p:spPr bwMode="auto">
            <a:xfrm>
              <a:off x="5316" y="2617"/>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C</a:t>
              </a:r>
              <a:endParaRPr lang="en-US" altLang="zh-CN" i="1">
                <a:solidFill>
                  <a:prstClr val="black"/>
                </a:solidFill>
              </a:endParaRPr>
            </a:p>
          </p:txBody>
        </p:sp>
        <p:sp>
          <p:nvSpPr>
            <p:cNvPr id="128079" name="Rectangle 95">
              <a:extLst>
                <a:ext uri="{FF2B5EF4-FFF2-40B4-BE49-F238E27FC236}">
                  <a16:creationId xmlns:a16="http://schemas.microsoft.com/office/drawing/2014/main" id="{43270F92-AD0C-48FC-9F03-672A5D75FA74}"/>
                </a:ext>
              </a:extLst>
            </p:cNvPr>
            <p:cNvSpPr>
              <a:spLocks noChangeArrowheads="1"/>
            </p:cNvSpPr>
            <p:nvPr/>
          </p:nvSpPr>
          <p:spPr bwMode="auto">
            <a:xfrm>
              <a:off x="2532" y="2586"/>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80" name="Rectangle 96">
              <a:extLst>
                <a:ext uri="{FF2B5EF4-FFF2-40B4-BE49-F238E27FC236}">
                  <a16:creationId xmlns:a16="http://schemas.microsoft.com/office/drawing/2014/main" id="{9D5DDD7C-5E73-4A99-BE58-48BDD995A233}"/>
                </a:ext>
              </a:extLst>
            </p:cNvPr>
            <p:cNvSpPr>
              <a:spLocks noChangeArrowheads="1"/>
            </p:cNvSpPr>
            <p:nvPr/>
          </p:nvSpPr>
          <p:spPr bwMode="auto">
            <a:xfrm>
              <a:off x="2532" y="2586"/>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81" name="Rectangle 97">
              <a:extLst>
                <a:ext uri="{FF2B5EF4-FFF2-40B4-BE49-F238E27FC236}">
                  <a16:creationId xmlns:a16="http://schemas.microsoft.com/office/drawing/2014/main" id="{804C8162-D50F-4CD4-8E2A-2220C3EEB1D7}"/>
                </a:ext>
              </a:extLst>
            </p:cNvPr>
            <p:cNvSpPr>
              <a:spLocks noChangeArrowheads="1"/>
            </p:cNvSpPr>
            <p:nvPr/>
          </p:nvSpPr>
          <p:spPr bwMode="auto">
            <a:xfrm>
              <a:off x="2593" y="2617"/>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B</a:t>
              </a:r>
              <a:endParaRPr lang="en-US" altLang="zh-CN" i="1">
                <a:solidFill>
                  <a:prstClr val="black"/>
                </a:solidFill>
              </a:endParaRPr>
            </a:p>
          </p:txBody>
        </p:sp>
        <p:sp>
          <p:nvSpPr>
            <p:cNvPr id="128082" name="Rectangle 98">
              <a:extLst>
                <a:ext uri="{FF2B5EF4-FFF2-40B4-BE49-F238E27FC236}">
                  <a16:creationId xmlns:a16="http://schemas.microsoft.com/office/drawing/2014/main" id="{43B30F58-ED83-48A0-BAC2-9AE81005FF96}"/>
                </a:ext>
              </a:extLst>
            </p:cNvPr>
            <p:cNvSpPr>
              <a:spLocks noChangeArrowheads="1"/>
            </p:cNvSpPr>
            <p:nvPr/>
          </p:nvSpPr>
          <p:spPr bwMode="auto">
            <a:xfrm>
              <a:off x="3998" y="2408"/>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83" name="Rectangle 99">
              <a:extLst>
                <a:ext uri="{FF2B5EF4-FFF2-40B4-BE49-F238E27FC236}">
                  <a16:creationId xmlns:a16="http://schemas.microsoft.com/office/drawing/2014/main" id="{D75D0DB8-3621-4440-ABFE-5E7BAAE9BCF7}"/>
                </a:ext>
              </a:extLst>
            </p:cNvPr>
            <p:cNvSpPr>
              <a:spLocks noChangeArrowheads="1"/>
            </p:cNvSpPr>
            <p:nvPr/>
          </p:nvSpPr>
          <p:spPr bwMode="auto">
            <a:xfrm>
              <a:off x="3998" y="2408"/>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84" name="Rectangle 100">
              <a:extLst>
                <a:ext uri="{FF2B5EF4-FFF2-40B4-BE49-F238E27FC236}">
                  <a16:creationId xmlns:a16="http://schemas.microsoft.com/office/drawing/2014/main" id="{FF87E478-E61A-4492-907A-E53BAA1D3053}"/>
                </a:ext>
              </a:extLst>
            </p:cNvPr>
            <p:cNvSpPr>
              <a:spLocks noChangeArrowheads="1"/>
            </p:cNvSpPr>
            <p:nvPr/>
          </p:nvSpPr>
          <p:spPr bwMode="auto">
            <a:xfrm>
              <a:off x="4059" y="2438"/>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C</a:t>
              </a:r>
              <a:endParaRPr lang="en-US" altLang="zh-CN" i="1">
                <a:solidFill>
                  <a:prstClr val="black"/>
                </a:solidFill>
              </a:endParaRPr>
            </a:p>
          </p:txBody>
        </p:sp>
        <p:sp>
          <p:nvSpPr>
            <p:cNvPr id="128085" name="Rectangle 101">
              <a:extLst>
                <a:ext uri="{FF2B5EF4-FFF2-40B4-BE49-F238E27FC236}">
                  <a16:creationId xmlns:a16="http://schemas.microsoft.com/office/drawing/2014/main" id="{947C040E-4582-40A6-8F0A-6F7BE6BD56ED}"/>
                </a:ext>
              </a:extLst>
            </p:cNvPr>
            <p:cNvSpPr>
              <a:spLocks noChangeArrowheads="1"/>
            </p:cNvSpPr>
            <p:nvPr/>
          </p:nvSpPr>
          <p:spPr bwMode="auto">
            <a:xfrm>
              <a:off x="961" y="3326"/>
              <a:ext cx="209" cy="19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86" name="Rectangle 102">
              <a:extLst>
                <a:ext uri="{FF2B5EF4-FFF2-40B4-BE49-F238E27FC236}">
                  <a16:creationId xmlns:a16="http://schemas.microsoft.com/office/drawing/2014/main" id="{57C22BD7-2736-4D2F-ACD6-96416286E73B}"/>
                </a:ext>
              </a:extLst>
            </p:cNvPr>
            <p:cNvSpPr>
              <a:spLocks noChangeArrowheads="1"/>
            </p:cNvSpPr>
            <p:nvPr/>
          </p:nvSpPr>
          <p:spPr bwMode="auto">
            <a:xfrm>
              <a:off x="961" y="3326"/>
              <a:ext cx="209" cy="193"/>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87" name="Rectangle 103">
              <a:extLst>
                <a:ext uri="{FF2B5EF4-FFF2-40B4-BE49-F238E27FC236}">
                  <a16:creationId xmlns:a16="http://schemas.microsoft.com/office/drawing/2014/main" id="{D63F5DC3-8FE4-4ED0-B9ED-3960C4D39D06}"/>
                </a:ext>
              </a:extLst>
            </p:cNvPr>
            <p:cNvSpPr>
              <a:spLocks noChangeArrowheads="1"/>
            </p:cNvSpPr>
            <p:nvPr/>
          </p:nvSpPr>
          <p:spPr bwMode="auto">
            <a:xfrm>
              <a:off x="1021" y="3358"/>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B</a:t>
              </a:r>
              <a:endParaRPr lang="en-US" altLang="zh-CN" i="1">
                <a:solidFill>
                  <a:prstClr val="black"/>
                </a:solidFill>
              </a:endParaRPr>
            </a:p>
          </p:txBody>
        </p:sp>
        <p:sp>
          <p:nvSpPr>
            <p:cNvPr id="128088" name="Rectangle 104">
              <a:extLst>
                <a:ext uri="{FF2B5EF4-FFF2-40B4-BE49-F238E27FC236}">
                  <a16:creationId xmlns:a16="http://schemas.microsoft.com/office/drawing/2014/main" id="{E6C6B6FE-5EA9-4AF0-803D-093F68A78A9C}"/>
                </a:ext>
              </a:extLst>
            </p:cNvPr>
            <p:cNvSpPr>
              <a:spLocks noChangeArrowheads="1"/>
            </p:cNvSpPr>
            <p:nvPr/>
          </p:nvSpPr>
          <p:spPr bwMode="auto">
            <a:xfrm>
              <a:off x="961" y="3094"/>
              <a:ext cx="209"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89" name="Rectangle 105">
              <a:extLst>
                <a:ext uri="{FF2B5EF4-FFF2-40B4-BE49-F238E27FC236}">
                  <a16:creationId xmlns:a16="http://schemas.microsoft.com/office/drawing/2014/main" id="{B1E4BF8A-5AAA-4469-BFF0-C4133F1FDEC1}"/>
                </a:ext>
              </a:extLst>
            </p:cNvPr>
            <p:cNvSpPr>
              <a:spLocks noChangeArrowheads="1"/>
            </p:cNvSpPr>
            <p:nvPr/>
          </p:nvSpPr>
          <p:spPr bwMode="auto">
            <a:xfrm>
              <a:off x="961" y="3094"/>
              <a:ext cx="209"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90" name="Rectangle 106">
              <a:extLst>
                <a:ext uri="{FF2B5EF4-FFF2-40B4-BE49-F238E27FC236}">
                  <a16:creationId xmlns:a16="http://schemas.microsoft.com/office/drawing/2014/main" id="{52FB093D-5E9C-4088-B9DE-9752CFFD25A4}"/>
                </a:ext>
              </a:extLst>
            </p:cNvPr>
            <p:cNvSpPr>
              <a:spLocks noChangeArrowheads="1"/>
            </p:cNvSpPr>
            <p:nvPr/>
          </p:nvSpPr>
          <p:spPr bwMode="auto">
            <a:xfrm>
              <a:off x="1021" y="3124"/>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C</a:t>
              </a:r>
              <a:endParaRPr lang="en-US" altLang="zh-CN" i="1">
                <a:solidFill>
                  <a:prstClr val="black"/>
                </a:solidFill>
              </a:endParaRPr>
            </a:p>
          </p:txBody>
        </p:sp>
        <p:sp>
          <p:nvSpPr>
            <p:cNvPr id="128091" name="Rectangle 107">
              <a:extLst>
                <a:ext uri="{FF2B5EF4-FFF2-40B4-BE49-F238E27FC236}">
                  <a16:creationId xmlns:a16="http://schemas.microsoft.com/office/drawing/2014/main" id="{3ED4D816-E100-4D53-87EB-C7AAC4C75D46}"/>
                </a:ext>
              </a:extLst>
            </p:cNvPr>
            <p:cNvSpPr>
              <a:spLocks noChangeArrowheads="1"/>
            </p:cNvSpPr>
            <p:nvPr/>
          </p:nvSpPr>
          <p:spPr bwMode="auto">
            <a:xfrm>
              <a:off x="1903" y="3546"/>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92" name="Rectangle 108">
              <a:extLst>
                <a:ext uri="{FF2B5EF4-FFF2-40B4-BE49-F238E27FC236}">
                  <a16:creationId xmlns:a16="http://schemas.microsoft.com/office/drawing/2014/main" id="{B81C661B-669C-4501-B5AB-F87BC83AFF0A}"/>
                </a:ext>
              </a:extLst>
            </p:cNvPr>
            <p:cNvSpPr>
              <a:spLocks noChangeArrowheads="1"/>
            </p:cNvSpPr>
            <p:nvPr/>
          </p:nvSpPr>
          <p:spPr bwMode="auto">
            <a:xfrm>
              <a:off x="1903" y="3546"/>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93" name="Rectangle 109">
              <a:extLst>
                <a:ext uri="{FF2B5EF4-FFF2-40B4-BE49-F238E27FC236}">
                  <a16:creationId xmlns:a16="http://schemas.microsoft.com/office/drawing/2014/main" id="{552D2283-57FE-49ED-A65F-A2CFF3E47D45}"/>
                </a:ext>
              </a:extLst>
            </p:cNvPr>
            <p:cNvSpPr>
              <a:spLocks noChangeArrowheads="1"/>
            </p:cNvSpPr>
            <p:nvPr/>
          </p:nvSpPr>
          <p:spPr bwMode="auto">
            <a:xfrm>
              <a:off x="1964" y="3577"/>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C</a:t>
              </a:r>
              <a:endParaRPr lang="en-US" altLang="zh-CN" i="1">
                <a:solidFill>
                  <a:prstClr val="black"/>
                </a:solidFill>
              </a:endParaRPr>
            </a:p>
          </p:txBody>
        </p:sp>
        <p:sp>
          <p:nvSpPr>
            <p:cNvPr id="128094" name="Rectangle 110">
              <a:extLst>
                <a:ext uri="{FF2B5EF4-FFF2-40B4-BE49-F238E27FC236}">
                  <a16:creationId xmlns:a16="http://schemas.microsoft.com/office/drawing/2014/main" id="{68DE4106-7FC8-43BF-9E98-50052CA5204A}"/>
                </a:ext>
              </a:extLst>
            </p:cNvPr>
            <p:cNvSpPr>
              <a:spLocks noChangeArrowheads="1"/>
            </p:cNvSpPr>
            <p:nvPr/>
          </p:nvSpPr>
          <p:spPr bwMode="auto">
            <a:xfrm>
              <a:off x="1903" y="3094"/>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95" name="Rectangle 111">
              <a:extLst>
                <a:ext uri="{FF2B5EF4-FFF2-40B4-BE49-F238E27FC236}">
                  <a16:creationId xmlns:a16="http://schemas.microsoft.com/office/drawing/2014/main" id="{E47DA97E-393B-430B-848A-229A7D72611D}"/>
                </a:ext>
              </a:extLst>
            </p:cNvPr>
            <p:cNvSpPr>
              <a:spLocks noChangeArrowheads="1"/>
            </p:cNvSpPr>
            <p:nvPr/>
          </p:nvSpPr>
          <p:spPr bwMode="auto">
            <a:xfrm>
              <a:off x="1903" y="3094"/>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96" name="Rectangle 112">
              <a:extLst>
                <a:ext uri="{FF2B5EF4-FFF2-40B4-BE49-F238E27FC236}">
                  <a16:creationId xmlns:a16="http://schemas.microsoft.com/office/drawing/2014/main" id="{74DCBC5B-1C9F-429F-A83C-3733191A538D}"/>
                </a:ext>
              </a:extLst>
            </p:cNvPr>
            <p:cNvSpPr>
              <a:spLocks noChangeArrowheads="1"/>
            </p:cNvSpPr>
            <p:nvPr/>
          </p:nvSpPr>
          <p:spPr bwMode="auto">
            <a:xfrm>
              <a:off x="1964" y="3124"/>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A</a:t>
              </a:r>
              <a:endParaRPr lang="en-US" altLang="zh-CN" i="1">
                <a:solidFill>
                  <a:prstClr val="black"/>
                </a:solidFill>
              </a:endParaRPr>
            </a:p>
          </p:txBody>
        </p:sp>
        <p:sp>
          <p:nvSpPr>
            <p:cNvPr id="128097" name="Rectangle 113">
              <a:extLst>
                <a:ext uri="{FF2B5EF4-FFF2-40B4-BE49-F238E27FC236}">
                  <a16:creationId xmlns:a16="http://schemas.microsoft.com/office/drawing/2014/main" id="{27AA3067-08F0-462E-A185-A075A5E07704}"/>
                </a:ext>
              </a:extLst>
            </p:cNvPr>
            <p:cNvSpPr>
              <a:spLocks noChangeArrowheads="1"/>
            </p:cNvSpPr>
            <p:nvPr/>
          </p:nvSpPr>
          <p:spPr bwMode="auto">
            <a:xfrm>
              <a:off x="1903" y="3326"/>
              <a:ext cx="210" cy="19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98" name="Rectangle 114">
              <a:extLst>
                <a:ext uri="{FF2B5EF4-FFF2-40B4-BE49-F238E27FC236}">
                  <a16:creationId xmlns:a16="http://schemas.microsoft.com/office/drawing/2014/main" id="{3A9A2BE7-BBB5-44C1-B0CA-5D39AC242129}"/>
                </a:ext>
              </a:extLst>
            </p:cNvPr>
            <p:cNvSpPr>
              <a:spLocks noChangeArrowheads="1"/>
            </p:cNvSpPr>
            <p:nvPr/>
          </p:nvSpPr>
          <p:spPr bwMode="auto">
            <a:xfrm>
              <a:off x="1903" y="3326"/>
              <a:ext cx="210" cy="193"/>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099" name="Rectangle 115">
              <a:extLst>
                <a:ext uri="{FF2B5EF4-FFF2-40B4-BE49-F238E27FC236}">
                  <a16:creationId xmlns:a16="http://schemas.microsoft.com/office/drawing/2014/main" id="{7CE41702-6F42-42C8-8B14-F5C6043CAA0A}"/>
                </a:ext>
              </a:extLst>
            </p:cNvPr>
            <p:cNvSpPr>
              <a:spLocks noChangeArrowheads="1"/>
            </p:cNvSpPr>
            <p:nvPr/>
          </p:nvSpPr>
          <p:spPr bwMode="auto">
            <a:xfrm>
              <a:off x="1964" y="3358"/>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B</a:t>
              </a:r>
              <a:endParaRPr lang="en-US" altLang="zh-CN" i="1">
                <a:solidFill>
                  <a:prstClr val="black"/>
                </a:solidFill>
              </a:endParaRPr>
            </a:p>
          </p:txBody>
        </p:sp>
        <p:sp>
          <p:nvSpPr>
            <p:cNvPr id="128100" name="Rectangle 116">
              <a:extLst>
                <a:ext uri="{FF2B5EF4-FFF2-40B4-BE49-F238E27FC236}">
                  <a16:creationId xmlns:a16="http://schemas.microsoft.com/office/drawing/2014/main" id="{9203ED55-10CF-4999-8C99-23572A986795}"/>
                </a:ext>
              </a:extLst>
            </p:cNvPr>
            <p:cNvSpPr>
              <a:spLocks noChangeArrowheads="1"/>
            </p:cNvSpPr>
            <p:nvPr/>
          </p:nvSpPr>
          <p:spPr bwMode="auto">
            <a:xfrm>
              <a:off x="961" y="3546"/>
              <a:ext cx="210"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101" name="Rectangle 117">
              <a:extLst>
                <a:ext uri="{FF2B5EF4-FFF2-40B4-BE49-F238E27FC236}">
                  <a16:creationId xmlns:a16="http://schemas.microsoft.com/office/drawing/2014/main" id="{8CF3E3E4-80DD-4B33-8395-4F0E6F27DC09}"/>
                </a:ext>
              </a:extLst>
            </p:cNvPr>
            <p:cNvSpPr>
              <a:spLocks noChangeArrowheads="1"/>
            </p:cNvSpPr>
            <p:nvPr/>
          </p:nvSpPr>
          <p:spPr bwMode="auto">
            <a:xfrm>
              <a:off x="961" y="3546"/>
              <a:ext cx="210" cy="192"/>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102" name="Rectangle 118">
              <a:extLst>
                <a:ext uri="{FF2B5EF4-FFF2-40B4-BE49-F238E27FC236}">
                  <a16:creationId xmlns:a16="http://schemas.microsoft.com/office/drawing/2014/main" id="{33D8CDA8-CDFD-40F0-9915-C5C8CED2572F}"/>
                </a:ext>
              </a:extLst>
            </p:cNvPr>
            <p:cNvSpPr>
              <a:spLocks noChangeArrowheads="1"/>
            </p:cNvSpPr>
            <p:nvPr/>
          </p:nvSpPr>
          <p:spPr bwMode="auto">
            <a:xfrm>
              <a:off x="1021" y="3577"/>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A</a:t>
              </a:r>
              <a:endParaRPr lang="en-US" altLang="zh-CN" i="1">
                <a:solidFill>
                  <a:prstClr val="black"/>
                </a:solidFill>
              </a:endParaRPr>
            </a:p>
          </p:txBody>
        </p:sp>
        <p:sp>
          <p:nvSpPr>
            <p:cNvPr id="128103" name="Line 119">
              <a:extLst>
                <a:ext uri="{FF2B5EF4-FFF2-40B4-BE49-F238E27FC236}">
                  <a16:creationId xmlns:a16="http://schemas.microsoft.com/office/drawing/2014/main" id="{2C87BB9B-799F-4CF7-AB0E-7FF0E7F858F0}"/>
                </a:ext>
              </a:extLst>
            </p:cNvPr>
            <p:cNvSpPr>
              <a:spLocks noChangeShapeType="1"/>
            </p:cNvSpPr>
            <p:nvPr/>
          </p:nvSpPr>
          <p:spPr bwMode="auto">
            <a:xfrm flipV="1">
              <a:off x="2331" y="1132"/>
              <a:ext cx="1143" cy="449"/>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128104" name="Freeform 120">
              <a:extLst>
                <a:ext uri="{FF2B5EF4-FFF2-40B4-BE49-F238E27FC236}">
                  <a16:creationId xmlns:a16="http://schemas.microsoft.com/office/drawing/2014/main" id="{0B98CC25-1166-46E5-BD03-F0E2874E9A83}"/>
                </a:ext>
              </a:extLst>
            </p:cNvPr>
            <p:cNvSpPr>
              <a:spLocks noChangeArrowheads="1"/>
            </p:cNvSpPr>
            <p:nvPr/>
          </p:nvSpPr>
          <p:spPr bwMode="auto">
            <a:xfrm>
              <a:off x="2217" y="1550"/>
              <a:ext cx="148" cy="76"/>
            </a:xfrm>
            <a:custGeom>
              <a:avLst/>
              <a:gdLst>
                <a:gd name="T0" fmla="*/ 148 w 148"/>
                <a:gd name="T1" fmla="*/ 107 h 150"/>
                <a:gd name="T2" fmla="*/ 0 w 148"/>
                <a:gd name="T3" fmla="*/ 150 h 150"/>
                <a:gd name="T4" fmla="*/ 100 w 148"/>
                <a:gd name="T5" fmla="*/ 0 h 150"/>
                <a:gd name="T6" fmla="*/ 148 w 148"/>
                <a:gd name="T7" fmla="*/ 107 h 150"/>
              </a:gdLst>
              <a:ahLst/>
              <a:cxnLst>
                <a:cxn ang="0">
                  <a:pos x="T0" y="T1"/>
                </a:cxn>
                <a:cxn ang="0">
                  <a:pos x="T2" y="T3"/>
                </a:cxn>
                <a:cxn ang="0">
                  <a:pos x="T4" y="T5"/>
                </a:cxn>
                <a:cxn ang="0">
                  <a:pos x="T6" y="T7"/>
                </a:cxn>
              </a:cxnLst>
              <a:rect l="0" t="0" r="r" b="b"/>
              <a:pathLst>
                <a:path w="148" h="150">
                  <a:moveTo>
                    <a:pt x="148" y="107"/>
                  </a:moveTo>
                  <a:lnTo>
                    <a:pt x="0" y="150"/>
                  </a:lnTo>
                  <a:lnTo>
                    <a:pt x="100" y="0"/>
                  </a:lnTo>
                  <a:lnTo>
                    <a:pt x="148"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105" name="Line 121">
              <a:extLst>
                <a:ext uri="{FF2B5EF4-FFF2-40B4-BE49-F238E27FC236}">
                  <a16:creationId xmlns:a16="http://schemas.microsoft.com/office/drawing/2014/main" id="{65DBB546-CB22-4FAA-B985-0F4E882FCFA9}"/>
                </a:ext>
              </a:extLst>
            </p:cNvPr>
            <p:cNvSpPr>
              <a:spLocks noChangeShapeType="1"/>
            </p:cNvSpPr>
            <p:nvPr/>
          </p:nvSpPr>
          <p:spPr bwMode="auto">
            <a:xfrm flipV="1">
              <a:off x="3684" y="1132"/>
              <a:ext cx="1" cy="270"/>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128106" name="Freeform 122">
              <a:extLst>
                <a:ext uri="{FF2B5EF4-FFF2-40B4-BE49-F238E27FC236}">
                  <a16:creationId xmlns:a16="http://schemas.microsoft.com/office/drawing/2014/main" id="{5DFC45EE-568E-43C9-ADDC-0B39D8E52855}"/>
                </a:ext>
              </a:extLst>
            </p:cNvPr>
            <p:cNvSpPr>
              <a:spLocks noChangeArrowheads="1"/>
            </p:cNvSpPr>
            <p:nvPr/>
          </p:nvSpPr>
          <p:spPr bwMode="auto">
            <a:xfrm>
              <a:off x="3637" y="1394"/>
              <a:ext cx="95" cy="95"/>
            </a:xfrm>
            <a:custGeom>
              <a:avLst/>
              <a:gdLst>
                <a:gd name="T0" fmla="*/ 95 w 95"/>
                <a:gd name="T1" fmla="*/ 0 h 188"/>
                <a:gd name="T2" fmla="*/ 47 w 95"/>
                <a:gd name="T3" fmla="*/ 188 h 188"/>
                <a:gd name="T4" fmla="*/ 0 w 95"/>
                <a:gd name="T5" fmla="*/ 0 h 188"/>
                <a:gd name="T6" fmla="*/ 95 w 95"/>
                <a:gd name="T7" fmla="*/ 0 h 188"/>
              </a:gdLst>
              <a:ahLst/>
              <a:cxnLst>
                <a:cxn ang="0">
                  <a:pos x="T0" y="T1"/>
                </a:cxn>
                <a:cxn ang="0">
                  <a:pos x="T2" y="T3"/>
                </a:cxn>
                <a:cxn ang="0">
                  <a:pos x="T4" y="T5"/>
                </a:cxn>
                <a:cxn ang="0">
                  <a:pos x="T6" y="T7"/>
                </a:cxn>
              </a:cxnLst>
              <a:rect l="0" t="0" r="r" b="b"/>
              <a:pathLst>
                <a:path w="95" h="188">
                  <a:moveTo>
                    <a:pt x="95" y="0"/>
                  </a:moveTo>
                  <a:lnTo>
                    <a:pt x="47" y="188"/>
                  </a:lnTo>
                  <a:lnTo>
                    <a:pt x="0" y="0"/>
                  </a:lnTo>
                  <a:lnTo>
                    <a:pt x="9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107" name="Line 123">
              <a:extLst>
                <a:ext uri="{FF2B5EF4-FFF2-40B4-BE49-F238E27FC236}">
                  <a16:creationId xmlns:a16="http://schemas.microsoft.com/office/drawing/2014/main" id="{60B70155-F6E3-4199-8BEC-1183D1C26F8D}"/>
                </a:ext>
              </a:extLst>
            </p:cNvPr>
            <p:cNvSpPr>
              <a:spLocks noChangeShapeType="1"/>
            </p:cNvSpPr>
            <p:nvPr/>
          </p:nvSpPr>
          <p:spPr bwMode="auto">
            <a:xfrm flipH="1" flipV="1">
              <a:off x="3999" y="1132"/>
              <a:ext cx="1042" cy="44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128108" name="Freeform 124">
              <a:extLst>
                <a:ext uri="{FF2B5EF4-FFF2-40B4-BE49-F238E27FC236}">
                  <a16:creationId xmlns:a16="http://schemas.microsoft.com/office/drawing/2014/main" id="{2217EB42-0E9E-4E74-B01A-50FFFDE6F1EF}"/>
                </a:ext>
              </a:extLst>
            </p:cNvPr>
            <p:cNvSpPr>
              <a:spLocks noChangeArrowheads="1"/>
            </p:cNvSpPr>
            <p:nvPr/>
          </p:nvSpPr>
          <p:spPr bwMode="auto">
            <a:xfrm>
              <a:off x="5004" y="1548"/>
              <a:ext cx="146" cy="78"/>
            </a:xfrm>
            <a:custGeom>
              <a:avLst/>
              <a:gdLst>
                <a:gd name="T0" fmla="*/ 52 w 146"/>
                <a:gd name="T1" fmla="*/ 0 h 155"/>
                <a:gd name="T2" fmla="*/ 146 w 146"/>
                <a:gd name="T3" fmla="*/ 155 h 155"/>
                <a:gd name="T4" fmla="*/ 0 w 146"/>
                <a:gd name="T5" fmla="*/ 105 h 155"/>
                <a:gd name="T6" fmla="*/ 52 w 146"/>
                <a:gd name="T7" fmla="*/ 0 h 155"/>
              </a:gdLst>
              <a:ahLst/>
              <a:cxnLst>
                <a:cxn ang="0">
                  <a:pos x="T0" y="T1"/>
                </a:cxn>
                <a:cxn ang="0">
                  <a:pos x="T2" y="T3"/>
                </a:cxn>
                <a:cxn ang="0">
                  <a:pos x="T4" y="T5"/>
                </a:cxn>
                <a:cxn ang="0">
                  <a:pos x="T6" y="T7"/>
                </a:cxn>
              </a:cxnLst>
              <a:rect l="0" t="0" r="r" b="b"/>
              <a:pathLst>
                <a:path w="146" h="155">
                  <a:moveTo>
                    <a:pt x="52" y="0"/>
                  </a:moveTo>
                  <a:lnTo>
                    <a:pt x="146" y="155"/>
                  </a:lnTo>
                  <a:lnTo>
                    <a:pt x="0" y="105"/>
                  </a:lnTo>
                  <a:lnTo>
                    <a:pt x="5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109" name="Line 125">
              <a:extLst>
                <a:ext uri="{FF2B5EF4-FFF2-40B4-BE49-F238E27FC236}">
                  <a16:creationId xmlns:a16="http://schemas.microsoft.com/office/drawing/2014/main" id="{7A79311E-25C4-4B55-B1BF-11BBA2F48BA7}"/>
                </a:ext>
              </a:extLst>
            </p:cNvPr>
            <p:cNvSpPr>
              <a:spLocks noChangeShapeType="1"/>
            </p:cNvSpPr>
            <p:nvPr/>
          </p:nvSpPr>
          <p:spPr bwMode="auto">
            <a:xfrm flipV="1">
              <a:off x="984" y="1818"/>
              <a:ext cx="1150" cy="540"/>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128110" name="Freeform 126">
              <a:extLst>
                <a:ext uri="{FF2B5EF4-FFF2-40B4-BE49-F238E27FC236}">
                  <a16:creationId xmlns:a16="http://schemas.microsoft.com/office/drawing/2014/main" id="{2E357177-18EF-40FC-A0F3-574DEADA5FE3}"/>
                </a:ext>
              </a:extLst>
            </p:cNvPr>
            <p:cNvSpPr>
              <a:spLocks noChangeArrowheads="1"/>
            </p:cNvSpPr>
            <p:nvPr/>
          </p:nvSpPr>
          <p:spPr bwMode="auto">
            <a:xfrm>
              <a:off x="877" y="2327"/>
              <a:ext cx="145" cy="81"/>
            </a:xfrm>
            <a:custGeom>
              <a:avLst/>
              <a:gdLst>
                <a:gd name="T0" fmla="*/ 145 w 145"/>
                <a:gd name="T1" fmla="*/ 102 h 161"/>
                <a:gd name="T2" fmla="*/ 0 w 145"/>
                <a:gd name="T3" fmla="*/ 161 h 161"/>
                <a:gd name="T4" fmla="*/ 89 w 145"/>
                <a:gd name="T5" fmla="*/ 0 h 161"/>
                <a:gd name="T6" fmla="*/ 145 w 145"/>
                <a:gd name="T7" fmla="*/ 102 h 161"/>
              </a:gdLst>
              <a:ahLst/>
              <a:cxnLst>
                <a:cxn ang="0">
                  <a:pos x="T0" y="T1"/>
                </a:cxn>
                <a:cxn ang="0">
                  <a:pos x="T2" y="T3"/>
                </a:cxn>
                <a:cxn ang="0">
                  <a:pos x="T4" y="T5"/>
                </a:cxn>
                <a:cxn ang="0">
                  <a:pos x="T6" y="T7"/>
                </a:cxn>
              </a:cxnLst>
              <a:rect l="0" t="0" r="r" b="b"/>
              <a:pathLst>
                <a:path w="145" h="161">
                  <a:moveTo>
                    <a:pt x="145" y="102"/>
                  </a:moveTo>
                  <a:lnTo>
                    <a:pt x="0" y="161"/>
                  </a:lnTo>
                  <a:lnTo>
                    <a:pt x="89" y="0"/>
                  </a:lnTo>
                  <a:lnTo>
                    <a:pt x="145"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111" name="Line 127">
              <a:extLst>
                <a:ext uri="{FF2B5EF4-FFF2-40B4-BE49-F238E27FC236}">
                  <a16:creationId xmlns:a16="http://schemas.microsoft.com/office/drawing/2014/main" id="{8E955720-A2F0-4D5B-BCD8-709497C4F943}"/>
                </a:ext>
              </a:extLst>
            </p:cNvPr>
            <p:cNvSpPr>
              <a:spLocks noChangeShapeType="1"/>
            </p:cNvSpPr>
            <p:nvPr/>
          </p:nvSpPr>
          <p:spPr bwMode="auto">
            <a:xfrm flipV="1">
              <a:off x="2134" y="1818"/>
              <a:ext cx="1" cy="51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128112" name="Freeform 128">
              <a:extLst>
                <a:ext uri="{FF2B5EF4-FFF2-40B4-BE49-F238E27FC236}">
                  <a16:creationId xmlns:a16="http://schemas.microsoft.com/office/drawing/2014/main" id="{B5CD1E74-F2C7-419D-8633-55096025D328}"/>
                </a:ext>
              </a:extLst>
            </p:cNvPr>
            <p:cNvSpPr>
              <a:spLocks noChangeArrowheads="1"/>
            </p:cNvSpPr>
            <p:nvPr/>
          </p:nvSpPr>
          <p:spPr bwMode="auto">
            <a:xfrm>
              <a:off x="2086" y="2327"/>
              <a:ext cx="96" cy="94"/>
            </a:xfrm>
            <a:custGeom>
              <a:avLst/>
              <a:gdLst>
                <a:gd name="T0" fmla="*/ 96 w 96"/>
                <a:gd name="T1" fmla="*/ 0 h 189"/>
                <a:gd name="T2" fmla="*/ 48 w 96"/>
                <a:gd name="T3" fmla="*/ 189 h 189"/>
                <a:gd name="T4" fmla="*/ 0 w 96"/>
                <a:gd name="T5" fmla="*/ 0 h 189"/>
                <a:gd name="T6" fmla="*/ 96 w 96"/>
                <a:gd name="T7" fmla="*/ 0 h 189"/>
              </a:gdLst>
              <a:ahLst/>
              <a:cxnLst>
                <a:cxn ang="0">
                  <a:pos x="T0" y="T1"/>
                </a:cxn>
                <a:cxn ang="0">
                  <a:pos x="T2" y="T3"/>
                </a:cxn>
                <a:cxn ang="0">
                  <a:pos x="T4" y="T5"/>
                </a:cxn>
                <a:cxn ang="0">
                  <a:pos x="T6" y="T7"/>
                </a:cxn>
              </a:cxnLst>
              <a:rect l="0" t="0" r="r" b="b"/>
              <a:pathLst>
                <a:path w="96" h="189">
                  <a:moveTo>
                    <a:pt x="96" y="0"/>
                  </a:moveTo>
                  <a:lnTo>
                    <a:pt x="48" y="189"/>
                  </a:lnTo>
                  <a:lnTo>
                    <a:pt x="0" y="0"/>
                  </a:lnTo>
                  <a:lnTo>
                    <a:pt x="9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113" name="Line 129">
              <a:extLst>
                <a:ext uri="{FF2B5EF4-FFF2-40B4-BE49-F238E27FC236}">
                  <a16:creationId xmlns:a16="http://schemas.microsoft.com/office/drawing/2014/main" id="{307FDA76-083A-4471-B3F3-439FB7C15A13}"/>
                </a:ext>
              </a:extLst>
            </p:cNvPr>
            <p:cNvSpPr>
              <a:spLocks noChangeShapeType="1"/>
            </p:cNvSpPr>
            <p:nvPr/>
          </p:nvSpPr>
          <p:spPr bwMode="auto">
            <a:xfrm flipH="1" flipV="1">
              <a:off x="2134" y="1818"/>
              <a:ext cx="630" cy="52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128114" name="Freeform 130">
              <a:extLst>
                <a:ext uri="{FF2B5EF4-FFF2-40B4-BE49-F238E27FC236}">
                  <a16:creationId xmlns:a16="http://schemas.microsoft.com/office/drawing/2014/main" id="{D724CFE2-7B3B-452B-8475-B66155420442}"/>
                </a:ext>
              </a:extLst>
            </p:cNvPr>
            <p:cNvSpPr>
              <a:spLocks noChangeArrowheads="1"/>
            </p:cNvSpPr>
            <p:nvPr/>
          </p:nvSpPr>
          <p:spPr bwMode="auto">
            <a:xfrm>
              <a:off x="2720" y="2314"/>
              <a:ext cx="126" cy="94"/>
            </a:xfrm>
            <a:custGeom>
              <a:avLst/>
              <a:gdLst>
                <a:gd name="T0" fmla="*/ 75 w 126"/>
                <a:gd name="T1" fmla="*/ 0 h 187"/>
                <a:gd name="T2" fmla="*/ 126 w 126"/>
                <a:gd name="T3" fmla="*/ 187 h 187"/>
                <a:gd name="T4" fmla="*/ 0 w 126"/>
                <a:gd name="T5" fmla="*/ 78 h 187"/>
                <a:gd name="T6" fmla="*/ 75 w 126"/>
                <a:gd name="T7" fmla="*/ 0 h 187"/>
              </a:gdLst>
              <a:ahLst/>
              <a:cxnLst>
                <a:cxn ang="0">
                  <a:pos x="T0" y="T1"/>
                </a:cxn>
                <a:cxn ang="0">
                  <a:pos x="T2" y="T3"/>
                </a:cxn>
                <a:cxn ang="0">
                  <a:pos x="T4" y="T5"/>
                </a:cxn>
                <a:cxn ang="0">
                  <a:pos x="T6" y="T7"/>
                </a:cxn>
              </a:cxnLst>
              <a:rect l="0" t="0" r="r" b="b"/>
              <a:pathLst>
                <a:path w="126" h="187">
                  <a:moveTo>
                    <a:pt x="75" y="0"/>
                  </a:moveTo>
                  <a:lnTo>
                    <a:pt x="126" y="187"/>
                  </a:lnTo>
                  <a:lnTo>
                    <a:pt x="0" y="78"/>
                  </a:lnTo>
                  <a:lnTo>
                    <a:pt x="7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115" name="Line 131">
              <a:extLst>
                <a:ext uri="{FF2B5EF4-FFF2-40B4-BE49-F238E27FC236}">
                  <a16:creationId xmlns:a16="http://schemas.microsoft.com/office/drawing/2014/main" id="{0B858748-1893-4BA9-B707-2F5648717F9B}"/>
                </a:ext>
              </a:extLst>
            </p:cNvPr>
            <p:cNvSpPr>
              <a:spLocks noChangeShapeType="1"/>
            </p:cNvSpPr>
            <p:nvPr/>
          </p:nvSpPr>
          <p:spPr bwMode="auto">
            <a:xfrm flipV="1">
              <a:off x="5318" y="1818"/>
              <a:ext cx="1" cy="270"/>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128116" name="Freeform 132">
              <a:extLst>
                <a:ext uri="{FF2B5EF4-FFF2-40B4-BE49-F238E27FC236}">
                  <a16:creationId xmlns:a16="http://schemas.microsoft.com/office/drawing/2014/main" id="{06605E1D-F7CC-4003-BCA2-99706FE23D1B}"/>
                </a:ext>
              </a:extLst>
            </p:cNvPr>
            <p:cNvSpPr>
              <a:spLocks noChangeArrowheads="1"/>
            </p:cNvSpPr>
            <p:nvPr/>
          </p:nvSpPr>
          <p:spPr bwMode="auto">
            <a:xfrm>
              <a:off x="5271" y="2080"/>
              <a:ext cx="96" cy="94"/>
            </a:xfrm>
            <a:custGeom>
              <a:avLst/>
              <a:gdLst>
                <a:gd name="T0" fmla="*/ 96 w 96"/>
                <a:gd name="T1" fmla="*/ 0 h 187"/>
                <a:gd name="T2" fmla="*/ 47 w 96"/>
                <a:gd name="T3" fmla="*/ 187 h 187"/>
                <a:gd name="T4" fmla="*/ 0 w 96"/>
                <a:gd name="T5" fmla="*/ 0 h 187"/>
                <a:gd name="T6" fmla="*/ 96 w 96"/>
                <a:gd name="T7" fmla="*/ 0 h 187"/>
              </a:gdLst>
              <a:ahLst/>
              <a:cxnLst>
                <a:cxn ang="0">
                  <a:pos x="T0" y="T1"/>
                </a:cxn>
                <a:cxn ang="0">
                  <a:pos x="T2" y="T3"/>
                </a:cxn>
                <a:cxn ang="0">
                  <a:pos x="T4" y="T5"/>
                </a:cxn>
                <a:cxn ang="0">
                  <a:pos x="T6" y="T7"/>
                </a:cxn>
              </a:cxnLst>
              <a:rect l="0" t="0" r="r" b="b"/>
              <a:pathLst>
                <a:path w="96" h="187">
                  <a:moveTo>
                    <a:pt x="96" y="0"/>
                  </a:moveTo>
                  <a:lnTo>
                    <a:pt x="47" y="187"/>
                  </a:lnTo>
                  <a:lnTo>
                    <a:pt x="0" y="0"/>
                  </a:lnTo>
                  <a:lnTo>
                    <a:pt x="9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117" name="Line 133">
              <a:extLst>
                <a:ext uri="{FF2B5EF4-FFF2-40B4-BE49-F238E27FC236}">
                  <a16:creationId xmlns:a16="http://schemas.microsoft.com/office/drawing/2014/main" id="{C3DFB098-422D-4EB2-B56D-930FE204A1DF}"/>
                </a:ext>
              </a:extLst>
            </p:cNvPr>
            <p:cNvSpPr>
              <a:spLocks noChangeShapeType="1"/>
            </p:cNvSpPr>
            <p:nvPr/>
          </p:nvSpPr>
          <p:spPr bwMode="auto">
            <a:xfrm flipV="1">
              <a:off x="1045" y="2792"/>
              <a:ext cx="1" cy="21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128118" name="Freeform 134">
              <a:extLst>
                <a:ext uri="{FF2B5EF4-FFF2-40B4-BE49-F238E27FC236}">
                  <a16:creationId xmlns:a16="http://schemas.microsoft.com/office/drawing/2014/main" id="{AF3F2A3F-8457-48FA-826B-48A1C8C56F71}"/>
                </a:ext>
              </a:extLst>
            </p:cNvPr>
            <p:cNvSpPr>
              <a:spLocks noChangeArrowheads="1"/>
            </p:cNvSpPr>
            <p:nvPr/>
          </p:nvSpPr>
          <p:spPr bwMode="auto">
            <a:xfrm>
              <a:off x="997" y="2999"/>
              <a:ext cx="96" cy="95"/>
            </a:xfrm>
            <a:custGeom>
              <a:avLst/>
              <a:gdLst>
                <a:gd name="T0" fmla="*/ 96 w 96"/>
                <a:gd name="T1" fmla="*/ 0 h 188"/>
                <a:gd name="T2" fmla="*/ 48 w 96"/>
                <a:gd name="T3" fmla="*/ 188 h 188"/>
                <a:gd name="T4" fmla="*/ 0 w 96"/>
                <a:gd name="T5" fmla="*/ 0 h 188"/>
                <a:gd name="T6" fmla="*/ 96 w 96"/>
                <a:gd name="T7" fmla="*/ 0 h 188"/>
              </a:gdLst>
              <a:ahLst/>
              <a:cxnLst>
                <a:cxn ang="0">
                  <a:pos x="T0" y="T1"/>
                </a:cxn>
                <a:cxn ang="0">
                  <a:pos x="T2" y="T3"/>
                </a:cxn>
                <a:cxn ang="0">
                  <a:pos x="T4" y="T5"/>
                </a:cxn>
                <a:cxn ang="0">
                  <a:pos x="T6" y="T7"/>
                </a:cxn>
              </a:cxnLst>
              <a:rect l="0" t="0" r="r" b="b"/>
              <a:pathLst>
                <a:path w="96" h="188">
                  <a:moveTo>
                    <a:pt x="96" y="0"/>
                  </a:moveTo>
                  <a:lnTo>
                    <a:pt x="48" y="188"/>
                  </a:lnTo>
                  <a:lnTo>
                    <a:pt x="0" y="0"/>
                  </a:lnTo>
                  <a:lnTo>
                    <a:pt x="9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119" name="Line 135">
              <a:extLst>
                <a:ext uri="{FF2B5EF4-FFF2-40B4-BE49-F238E27FC236}">
                  <a16:creationId xmlns:a16="http://schemas.microsoft.com/office/drawing/2014/main" id="{AAA471ED-4C54-4255-9417-FE89068EFEAE}"/>
                </a:ext>
              </a:extLst>
            </p:cNvPr>
            <p:cNvSpPr>
              <a:spLocks noChangeShapeType="1"/>
            </p:cNvSpPr>
            <p:nvPr/>
          </p:nvSpPr>
          <p:spPr bwMode="auto">
            <a:xfrm flipV="1">
              <a:off x="2008" y="2792"/>
              <a:ext cx="1" cy="21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128120" name="Freeform 136">
              <a:extLst>
                <a:ext uri="{FF2B5EF4-FFF2-40B4-BE49-F238E27FC236}">
                  <a16:creationId xmlns:a16="http://schemas.microsoft.com/office/drawing/2014/main" id="{D1F9CDA2-844F-48B2-B1A5-0E489ADF5911}"/>
                </a:ext>
              </a:extLst>
            </p:cNvPr>
            <p:cNvSpPr>
              <a:spLocks noChangeArrowheads="1"/>
            </p:cNvSpPr>
            <p:nvPr/>
          </p:nvSpPr>
          <p:spPr bwMode="auto">
            <a:xfrm>
              <a:off x="1961" y="2999"/>
              <a:ext cx="95" cy="95"/>
            </a:xfrm>
            <a:custGeom>
              <a:avLst/>
              <a:gdLst>
                <a:gd name="T0" fmla="*/ 95 w 95"/>
                <a:gd name="T1" fmla="*/ 0 h 188"/>
                <a:gd name="T2" fmla="*/ 47 w 95"/>
                <a:gd name="T3" fmla="*/ 188 h 188"/>
                <a:gd name="T4" fmla="*/ 0 w 95"/>
                <a:gd name="T5" fmla="*/ 0 h 188"/>
                <a:gd name="T6" fmla="*/ 95 w 95"/>
                <a:gd name="T7" fmla="*/ 0 h 188"/>
              </a:gdLst>
              <a:ahLst/>
              <a:cxnLst>
                <a:cxn ang="0">
                  <a:pos x="T0" y="T1"/>
                </a:cxn>
                <a:cxn ang="0">
                  <a:pos x="T2" y="T3"/>
                </a:cxn>
                <a:cxn ang="0">
                  <a:pos x="T4" y="T5"/>
                </a:cxn>
                <a:cxn ang="0">
                  <a:pos x="T6" y="T7"/>
                </a:cxn>
              </a:cxnLst>
              <a:rect l="0" t="0" r="r" b="b"/>
              <a:pathLst>
                <a:path w="95" h="188">
                  <a:moveTo>
                    <a:pt x="95" y="0"/>
                  </a:moveTo>
                  <a:lnTo>
                    <a:pt x="47" y="188"/>
                  </a:lnTo>
                  <a:lnTo>
                    <a:pt x="0" y="0"/>
                  </a:lnTo>
                  <a:lnTo>
                    <a:pt x="9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121" name="Rectangle 137">
              <a:extLst>
                <a:ext uri="{FF2B5EF4-FFF2-40B4-BE49-F238E27FC236}">
                  <a16:creationId xmlns:a16="http://schemas.microsoft.com/office/drawing/2014/main" id="{9D780EA3-9A51-49DA-A704-EBED774D03A1}"/>
                </a:ext>
              </a:extLst>
            </p:cNvPr>
            <p:cNvSpPr>
              <a:spLocks noChangeArrowheads="1"/>
            </p:cNvSpPr>
            <p:nvPr/>
          </p:nvSpPr>
          <p:spPr bwMode="auto">
            <a:xfrm>
              <a:off x="1642" y="1204"/>
              <a:ext cx="78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MOVE(A,TABLE)</a:t>
              </a:r>
              <a:endParaRPr lang="en-US" altLang="zh-CN" i="1">
                <a:solidFill>
                  <a:prstClr val="black"/>
                </a:solidFill>
              </a:endParaRPr>
            </a:p>
          </p:txBody>
        </p:sp>
        <p:sp>
          <p:nvSpPr>
            <p:cNvPr id="128122" name="Rectangle 138">
              <a:extLst>
                <a:ext uri="{FF2B5EF4-FFF2-40B4-BE49-F238E27FC236}">
                  <a16:creationId xmlns:a16="http://schemas.microsoft.com/office/drawing/2014/main" id="{A36059D1-F54F-40AF-9783-48F84C3C5795}"/>
                </a:ext>
              </a:extLst>
            </p:cNvPr>
            <p:cNvSpPr>
              <a:spLocks noChangeArrowheads="1"/>
            </p:cNvSpPr>
            <p:nvPr/>
          </p:nvSpPr>
          <p:spPr bwMode="auto">
            <a:xfrm>
              <a:off x="3704" y="1327"/>
              <a:ext cx="54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MOVE(C,A)</a:t>
              </a:r>
              <a:endParaRPr lang="en-US" altLang="zh-CN" i="1">
                <a:solidFill>
                  <a:prstClr val="black"/>
                </a:solidFill>
              </a:endParaRPr>
            </a:p>
          </p:txBody>
        </p:sp>
        <p:sp>
          <p:nvSpPr>
            <p:cNvPr id="128123" name="Rectangle 139">
              <a:extLst>
                <a:ext uri="{FF2B5EF4-FFF2-40B4-BE49-F238E27FC236}">
                  <a16:creationId xmlns:a16="http://schemas.microsoft.com/office/drawing/2014/main" id="{69C67B46-EC39-46FE-B2C2-8FC92D00B0A5}"/>
                </a:ext>
              </a:extLst>
            </p:cNvPr>
            <p:cNvSpPr>
              <a:spLocks noChangeArrowheads="1"/>
            </p:cNvSpPr>
            <p:nvPr/>
          </p:nvSpPr>
          <p:spPr bwMode="auto">
            <a:xfrm>
              <a:off x="4751" y="1231"/>
              <a:ext cx="54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MOVE(A,C)</a:t>
              </a:r>
              <a:endParaRPr lang="en-US" altLang="zh-CN" i="1">
                <a:solidFill>
                  <a:prstClr val="black"/>
                </a:solidFill>
              </a:endParaRPr>
            </a:p>
          </p:txBody>
        </p:sp>
        <p:sp>
          <p:nvSpPr>
            <p:cNvPr id="128124" name="Rectangle 140">
              <a:extLst>
                <a:ext uri="{FF2B5EF4-FFF2-40B4-BE49-F238E27FC236}">
                  <a16:creationId xmlns:a16="http://schemas.microsoft.com/office/drawing/2014/main" id="{E66E8337-9C7F-4C82-8C52-29BC31F4E1AC}"/>
                </a:ext>
              </a:extLst>
            </p:cNvPr>
            <p:cNvSpPr>
              <a:spLocks noChangeArrowheads="1"/>
            </p:cNvSpPr>
            <p:nvPr/>
          </p:nvSpPr>
          <p:spPr bwMode="auto">
            <a:xfrm>
              <a:off x="666" y="1972"/>
              <a:ext cx="54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MOVE(B,A)</a:t>
              </a:r>
              <a:endParaRPr lang="en-US" altLang="zh-CN" i="1">
                <a:solidFill>
                  <a:prstClr val="black"/>
                </a:solidFill>
              </a:endParaRPr>
            </a:p>
          </p:txBody>
        </p:sp>
        <p:sp>
          <p:nvSpPr>
            <p:cNvPr id="128125" name="Rectangle 141">
              <a:extLst>
                <a:ext uri="{FF2B5EF4-FFF2-40B4-BE49-F238E27FC236}">
                  <a16:creationId xmlns:a16="http://schemas.microsoft.com/office/drawing/2014/main" id="{AB8B80CA-0D1F-409D-8521-D3AB5E0860CF}"/>
                </a:ext>
              </a:extLst>
            </p:cNvPr>
            <p:cNvSpPr>
              <a:spLocks noChangeArrowheads="1"/>
            </p:cNvSpPr>
            <p:nvPr/>
          </p:nvSpPr>
          <p:spPr bwMode="auto">
            <a:xfrm>
              <a:off x="1400" y="2123"/>
              <a:ext cx="54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MOVE(B,C)</a:t>
              </a:r>
              <a:endParaRPr lang="en-US" altLang="zh-CN" i="1">
                <a:solidFill>
                  <a:prstClr val="black"/>
                </a:solidFill>
              </a:endParaRPr>
            </a:p>
          </p:txBody>
        </p:sp>
        <p:sp>
          <p:nvSpPr>
            <p:cNvPr id="128126" name="Rectangle 142">
              <a:extLst>
                <a:ext uri="{FF2B5EF4-FFF2-40B4-BE49-F238E27FC236}">
                  <a16:creationId xmlns:a16="http://schemas.microsoft.com/office/drawing/2014/main" id="{D98DDA7C-B434-4BD2-A102-5CC7A5F4EE84}"/>
                </a:ext>
              </a:extLst>
            </p:cNvPr>
            <p:cNvSpPr>
              <a:spLocks noChangeArrowheads="1"/>
            </p:cNvSpPr>
            <p:nvPr/>
          </p:nvSpPr>
          <p:spPr bwMode="auto">
            <a:xfrm>
              <a:off x="2699" y="2227"/>
              <a:ext cx="6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  MOVE(C,A)</a:t>
              </a:r>
              <a:endParaRPr lang="en-US" altLang="zh-CN" i="1">
                <a:solidFill>
                  <a:prstClr val="black"/>
                </a:solidFill>
              </a:endParaRPr>
            </a:p>
          </p:txBody>
        </p:sp>
        <p:sp>
          <p:nvSpPr>
            <p:cNvPr id="128127" name="Line 143">
              <a:extLst>
                <a:ext uri="{FF2B5EF4-FFF2-40B4-BE49-F238E27FC236}">
                  <a16:creationId xmlns:a16="http://schemas.microsoft.com/office/drawing/2014/main" id="{1FFD455D-D4FA-4906-8E59-2423BAC7FAFA}"/>
                </a:ext>
              </a:extLst>
            </p:cNvPr>
            <p:cNvSpPr>
              <a:spLocks noChangeShapeType="1"/>
            </p:cNvSpPr>
            <p:nvPr/>
          </p:nvSpPr>
          <p:spPr bwMode="auto">
            <a:xfrm flipH="1" flipV="1">
              <a:off x="2134" y="1818"/>
              <a:ext cx="1643" cy="563"/>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prstClr val="black"/>
                </a:solidFill>
                <a:latin typeface="Times New Roman"/>
                <a:ea typeface="黑体"/>
              </a:endParaRPr>
            </a:p>
          </p:txBody>
        </p:sp>
        <p:sp>
          <p:nvSpPr>
            <p:cNvPr id="128128" name="Freeform 144">
              <a:extLst>
                <a:ext uri="{FF2B5EF4-FFF2-40B4-BE49-F238E27FC236}">
                  <a16:creationId xmlns:a16="http://schemas.microsoft.com/office/drawing/2014/main" id="{801A40D9-253D-45DB-B93C-EE981679FA02}"/>
                </a:ext>
              </a:extLst>
            </p:cNvPr>
            <p:cNvSpPr>
              <a:spLocks noChangeArrowheads="1"/>
            </p:cNvSpPr>
            <p:nvPr/>
          </p:nvSpPr>
          <p:spPr bwMode="auto">
            <a:xfrm>
              <a:off x="3744" y="2350"/>
              <a:ext cx="150" cy="71"/>
            </a:xfrm>
            <a:custGeom>
              <a:avLst/>
              <a:gdLst>
                <a:gd name="T0" fmla="*/ 44 w 150"/>
                <a:gd name="T1" fmla="*/ 0 h 144"/>
                <a:gd name="T2" fmla="*/ 150 w 150"/>
                <a:gd name="T3" fmla="*/ 144 h 144"/>
                <a:gd name="T4" fmla="*/ 0 w 150"/>
                <a:gd name="T5" fmla="*/ 112 h 144"/>
                <a:gd name="T6" fmla="*/ 44 w 150"/>
                <a:gd name="T7" fmla="*/ 0 h 144"/>
              </a:gdLst>
              <a:ahLst/>
              <a:cxnLst>
                <a:cxn ang="0">
                  <a:pos x="T0" y="T1"/>
                </a:cxn>
                <a:cxn ang="0">
                  <a:pos x="T2" y="T3"/>
                </a:cxn>
                <a:cxn ang="0">
                  <a:pos x="T4" y="T5"/>
                </a:cxn>
                <a:cxn ang="0">
                  <a:pos x="T6" y="T7"/>
                </a:cxn>
              </a:cxnLst>
              <a:rect l="0" t="0" r="r" b="b"/>
              <a:pathLst>
                <a:path w="150" h="144">
                  <a:moveTo>
                    <a:pt x="44" y="0"/>
                  </a:moveTo>
                  <a:lnTo>
                    <a:pt x="150" y="144"/>
                  </a:lnTo>
                  <a:lnTo>
                    <a:pt x="0" y="112"/>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solidFill>
                  <a:prstClr val="black"/>
                </a:solidFill>
              </a:endParaRPr>
            </a:p>
          </p:txBody>
        </p:sp>
        <p:sp>
          <p:nvSpPr>
            <p:cNvPr id="128129" name="Rectangle 145">
              <a:extLst>
                <a:ext uri="{FF2B5EF4-FFF2-40B4-BE49-F238E27FC236}">
                  <a16:creationId xmlns:a16="http://schemas.microsoft.com/office/drawing/2014/main" id="{E7FE4437-32F3-4071-8FD5-043717EABD26}"/>
                </a:ext>
              </a:extLst>
            </p:cNvPr>
            <p:cNvSpPr>
              <a:spLocks noChangeArrowheads="1"/>
            </p:cNvSpPr>
            <p:nvPr/>
          </p:nvSpPr>
          <p:spPr bwMode="auto">
            <a:xfrm>
              <a:off x="2720" y="1930"/>
              <a:ext cx="54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a:solidFill>
                    <a:srgbClr val="000000"/>
                  </a:solidFill>
                  <a:latin typeface="宋体" panose="02010600030101010101" pitchFamily="2" charset="-122"/>
                </a:rPr>
                <a:t>MOVE(C,B)</a:t>
              </a:r>
              <a:endParaRPr lang="en-US" altLang="zh-CN">
                <a:solidFill>
                  <a:prstClr val="black"/>
                </a:solidFill>
              </a:endParaRPr>
            </a:p>
          </p:txBody>
        </p:sp>
        <p:sp>
          <p:nvSpPr>
            <p:cNvPr id="128130" name="Rectangle 146">
              <a:extLst>
                <a:ext uri="{FF2B5EF4-FFF2-40B4-BE49-F238E27FC236}">
                  <a16:creationId xmlns:a16="http://schemas.microsoft.com/office/drawing/2014/main" id="{C81CF94E-7598-42B2-A37A-69538B787F22}"/>
                </a:ext>
              </a:extLst>
            </p:cNvPr>
            <p:cNvSpPr>
              <a:spLocks noChangeArrowheads="1"/>
            </p:cNvSpPr>
            <p:nvPr/>
          </p:nvSpPr>
          <p:spPr bwMode="auto">
            <a:xfrm>
              <a:off x="185" y="2850"/>
              <a:ext cx="60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 MOVE(C,B)</a:t>
              </a:r>
              <a:endParaRPr lang="en-US" altLang="zh-CN" i="1">
                <a:solidFill>
                  <a:prstClr val="black"/>
                </a:solidFill>
              </a:endParaRPr>
            </a:p>
          </p:txBody>
        </p:sp>
        <p:sp>
          <p:nvSpPr>
            <p:cNvPr id="128131" name="Rectangle 147">
              <a:extLst>
                <a:ext uri="{FF2B5EF4-FFF2-40B4-BE49-F238E27FC236}">
                  <a16:creationId xmlns:a16="http://schemas.microsoft.com/office/drawing/2014/main" id="{FEB9A5BD-67D2-49EE-A3CF-5E6EA0F91C11}"/>
                </a:ext>
              </a:extLst>
            </p:cNvPr>
            <p:cNvSpPr>
              <a:spLocks noChangeArrowheads="1"/>
            </p:cNvSpPr>
            <p:nvPr/>
          </p:nvSpPr>
          <p:spPr bwMode="auto">
            <a:xfrm>
              <a:off x="2070" y="2850"/>
              <a:ext cx="54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宋体" panose="02010600030101010101" pitchFamily="2" charset="-122"/>
                </a:rPr>
                <a:t>MOVE(A,B)</a:t>
              </a:r>
              <a:endParaRPr lang="en-US" altLang="zh-CN" i="1">
                <a:solidFill>
                  <a:prstClr val="black"/>
                </a:solidFill>
              </a:endParaRPr>
            </a:p>
          </p:txBody>
        </p:sp>
        <p:sp>
          <p:nvSpPr>
            <p:cNvPr id="128132" name="Rectangle 148">
              <a:extLst>
                <a:ext uri="{FF2B5EF4-FFF2-40B4-BE49-F238E27FC236}">
                  <a16:creationId xmlns:a16="http://schemas.microsoft.com/office/drawing/2014/main" id="{E6DEF4F2-7360-4909-AE99-1F2E1D2836B9}"/>
                </a:ext>
              </a:extLst>
            </p:cNvPr>
            <p:cNvSpPr>
              <a:spLocks noChangeArrowheads="1"/>
            </p:cNvSpPr>
            <p:nvPr/>
          </p:nvSpPr>
          <p:spPr bwMode="auto">
            <a:xfrm>
              <a:off x="3395" y="768"/>
              <a:ext cx="32"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800">
                  <a:solidFill>
                    <a:srgbClr val="000000"/>
                  </a:solidFill>
                  <a:latin typeface="Times New Roman" panose="02020603050405020304" pitchFamily="18" charset="0"/>
                </a:rPr>
                <a:t>0</a:t>
              </a:r>
              <a:endParaRPr lang="en-US" altLang="zh-CN">
                <a:solidFill>
                  <a:prstClr val="black"/>
                </a:solidFill>
              </a:endParaRPr>
            </a:p>
          </p:txBody>
        </p:sp>
        <p:sp>
          <p:nvSpPr>
            <p:cNvPr id="128133" name="Rectangle 149">
              <a:extLst>
                <a:ext uri="{FF2B5EF4-FFF2-40B4-BE49-F238E27FC236}">
                  <a16:creationId xmlns:a16="http://schemas.microsoft.com/office/drawing/2014/main" id="{9F507F46-B870-4F35-9CE4-9FF74B9EF5D5}"/>
                </a:ext>
              </a:extLst>
            </p:cNvPr>
            <p:cNvSpPr>
              <a:spLocks noChangeArrowheads="1"/>
            </p:cNvSpPr>
            <p:nvPr/>
          </p:nvSpPr>
          <p:spPr bwMode="auto">
            <a:xfrm>
              <a:off x="3295" y="696"/>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Times New Roman" panose="02020603050405020304" pitchFamily="18" charset="0"/>
                </a:rPr>
                <a:t>S</a:t>
              </a:r>
              <a:endParaRPr lang="en-US" altLang="zh-CN">
                <a:solidFill>
                  <a:prstClr val="black"/>
                </a:solidFill>
              </a:endParaRPr>
            </a:p>
          </p:txBody>
        </p:sp>
        <p:sp>
          <p:nvSpPr>
            <p:cNvPr id="128134" name="Rectangle 150">
              <a:extLst>
                <a:ext uri="{FF2B5EF4-FFF2-40B4-BE49-F238E27FC236}">
                  <a16:creationId xmlns:a16="http://schemas.microsoft.com/office/drawing/2014/main" id="{479EA8EC-2DEA-4DEF-A83F-51E99215A5CA}"/>
                </a:ext>
              </a:extLst>
            </p:cNvPr>
            <p:cNvSpPr>
              <a:spLocks noChangeArrowheads="1"/>
            </p:cNvSpPr>
            <p:nvPr/>
          </p:nvSpPr>
          <p:spPr bwMode="auto">
            <a:xfrm>
              <a:off x="1613" y="1738"/>
              <a:ext cx="32"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800">
                  <a:solidFill>
                    <a:srgbClr val="000000"/>
                  </a:solidFill>
                  <a:latin typeface="Times New Roman" panose="02020603050405020304" pitchFamily="18" charset="0"/>
                </a:rPr>
                <a:t>1</a:t>
              </a:r>
              <a:endParaRPr lang="en-US" altLang="zh-CN">
                <a:solidFill>
                  <a:prstClr val="black"/>
                </a:solidFill>
              </a:endParaRPr>
            </a:p>
          </p:txBody>
        </p:sp>
        <p:sp>
          <p:nvSpPr>
            <p:cNvPr id="128135" name="Rectangle 151">
              <a:extLst>
                <a:ext uri="{FF2B5EF4-FFF2-40B4-BE49-F238E27FC236}">
                  <a16:creationId xmlns:a16="http://schemas.microsoft.com/office/drawing/2014/main" id="{092FDBC0-E824-46A1-A3C1-97E2C547D92F}"/>
                </a:ext>
              </a:extLst>
            </p:cNvPr>
            <p:cNvSpPr>
              <a:spLocks noChangeArrowheads="1"/>
            </p:cNvSpPr>
            <p:nvPr/>
          </p:nvSpPr>
          <p:spPr bwMode="auto">
            <a:xfrm>
              <a:off x="1523" y="1666"/>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Times New Roman" panose="02020603050405020304" pitchFamily="18" charset="0"/>
                </a:rPr>
                <a:t>S</a:t>
              </a:r>
              <a:endParaRPr lang="en-US" altLang="zh-CN">
                <a:solidFill>
                  <a:prstClr val="black"/>
                </a:solidFill>
              </a:endParaRPr>
            </a:p>
          </p:txBody>
        </p:sp>
        <p:sp>
          <p:nvSpPr>
            <p:cNvPr id="128136" name="Rectangle 152">
              <a:extLst>
                <a:ext uri="{FF2B5EF4-FFF2-40B4-BE49-F238E27FC236}">
                  <a16:creationId xmlns:a16="http://schemas.microsoft.com/office/drawing/2014/main" id="{4003DFAE-BEE9-40C5-B85E-136E8F8B7EE0}"/>
                </a:ext>
              </a:extLst>
            </p:cNvPr>
            <p:cNvSpPr>
              <a:spLocks noChangeArrowheads="1"/>
            </p:cNvSpPr>
            <p:nvPr/>
          </p:nvSpPr>
          <p:spPr bwMode="auto">
            <a:xfrm>
              <a:off x="3495" y="1738"/>
              <a:ext cx="32"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800">
                  <a:solidFill>
                    <a:srgbClr val="000000"/>
                  </a:solidFill>
                  <a:latin typeface="Times New Roman" panose="02020603050405020304" pitchFamily="18" charset="0"/>
                </a:rPr>
                <a:t>2</a:t>
              </a:r>
              <a:endParaRPr lang="en-US" altLang="zh-CN">
                <a:solidFill>
                  <a:prstClr val="black"/>
                </a:solidFill>
              </a:endParaRPr>
            </a:p>
          </p:txBody>
        </p:sp>
        <p:sp>
          <p:nvSpPr>
            <p:cNvPr id="128137" name="Rectangle 153">
              <a:extLst>
                <a:ext uri="{FF2B5EF4-FFF2-40B4-BE49-F238E27FC236}">
                  <a16:creationId xmlns:a16="http://schemas.microsoft.com/office/drawing/2014/main" id="{3DE16F5F-1C25-44E1-9485-01F863495FE4}"/>
                </a:ext>
              </a:extLst>
            </p:cNvPr>
            <p:cNvSpPr>
              <a:spLocks noChangeArrowheads="1"/>
            </p:cNvSpPr>
            <p:nvPr/>
          </p:nvSpPr>
          <p:spPr bwMode="auto">
            <a:xfrm>
              <a:off x="3394" y="1666"/>
              <a:ext cx="6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500" i="1">
                  <a:solidFill>
                    <a:srgbClr val="000000"/>
                  </a:solidFill>
                  <a:latin typeface="Times New Roman" panose="02020603050405020304" pitchFamily="18" charset="0"/>
                </a:rPr>
                <a:t>S</a:t>
              </a:r>
              <a:endParaRPr lang="en-US" altLang="zh-CN">
                <a:solidFill>
                  <a:prstClr val="black"/>
                </a:solidFill>
              </a:endParaRPr>
            </a:p>
          </p:txBody>
        </p:sp>
        <p:sp>
          <p:nvSpPr>
            <p:cNvPr id="128138" name="Rectangle 154">
              <a:extLst>
                <a:ext uri="{FF2B5EF4-FFF2-40B4-BE49-F238E27FC236}">
                  <a16:creationId xmlns:a16="http://schemas.microsoft.com/office/drawing/2014/main" id="{3836A285-36FF-407B-A0AC-C8FB5174F3CC}"/>
                </a:ext>
              </a:extLst>
            </p:cNvPr>
            <p:cNvSpPr>
              <a:spLocks noChangeArrowheads="1"/>
            </p:cNvSpPr>
            <p:nvPr/>
          </p:nvSpPr>
          <p:spPr bwMode="auto">
            <a:xfrm>
              <a:off x="4966" y="1728"/>
              <a:ext cx="32"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800">
                  <a:solidFill>
                    <a:srgbClr val="000000"/>
                  </a:solidFill>
                  <a:latin typeface="Times New Roman" panose="02020603050405020304" pitchFamily="18" charset="0"/>
                </a:rPr>
                <a:t>3</a:t>
              </a:r>
              <a:endParaRPr lang="en-US" altLang="zh-CN">
                <a:solidFill>
                  <a:prstClr val="black"/>
                </a:solidFill>
              </a:endParaRPr>
            </a:p>
          </p:txBody>
        </p:sp>
        <p:sp>
          <p:nvSpPr>
            <p:cNvPr id="128139" name="Rectangle 155">
              <a:extLst>
                <a:ext uri="{FF2B5EF4-FFF2-40B4-BE49-F238E27FC236}">
                  <a16:creationId xmlns:a16="http://schemas.microsoft.com/office/drawing/2014/main" id="{EEE6F5D7-50A6-407B-9B03-80A334242D47}"/>
                </a:ext>
              </a:extLst>
            </p:cNvPr>
            <p:cNvSpPr>
              <a:spLocks noChangeArrowheads="1"/>
            </p:cNvSpPr>
            <p:nvPr/>
          </p:nvSpPr>
          <p:spPr bwMode="auto">
            <a:xfrm>
              <a:off x="4868" y="1656"/>
              <a:ext cx="56"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i="1">
                  <a:solidFill>
                    <a:srgbClr val="000000"/>
                  </a:solidFill>
                  <a:latin typeface="Times New Roman" panose="02020603050405020304" pitchFamily="18" charset="0"/>
                </a:rPr>
                <a:t>S</a:t>
              </a:r>
              <a:endParaRPr lang="en-US" altLang="zh-CN">
                <a:solidFill>
                  <a:prstClr val="black"/>
                </a:solidFill>
              </a:endParaRPr>
            </a:p>
          </p:txBody>
        </p:sp>
        <p:sp>
          <p:nvSpPr>
            <p:cNvPr id="128140" name="Rectangle 156">
              <a:extLst>
                <a:ext uri="{FF2B5EF4-FFF2-40B4-BE49-F238E27FC236}">
                  <a16:creationId xmlns:a16="http://schemas.microsoft.com/office/drawing/2014/main" id="{E7A90FA7-FC8D-495B-9A4F-62AAFA8E79D4}"/>
                </a:ext>
              </a:extLst>
            </p:cNvPr>
            <p:cNvSpPr>
              <a:spLocks noChangeArrowheads="1"/>
            </p:cNvSpPr>
            <p:nvPr/>
          </p:nvSpPr>
          <p:spPr bwMode="auto">
            <a:xfrm>
              <a:off x="661" y="2588"/>
              <a:ext cx="32"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800">
                  <a:solidFill>
                    <a:srgbClr val="000000"/>
                  </a:solidFill>
                  <a:latin typeface="Times New Roman" panose="02020603050405020304" pitchFamily="18" charset="0"/>
                </a:rPr>
                <a:t>4</a:t>
              </a:r>
              <a:endParaRPr lang="en-US" altLang="zh-CN">
                <a:solidFill>
                  <a:prstClr val="black"/>
                </a:solidFill>
              </a:endParaRPr>
            </a:p>
          </p:txBody>
        </p:sp>
        <p:sp>
          <p:nvSpPr>
            <p:cNvPr id="128141" name="Rectangle 157">
              <a:extLst>
                <a:ext uri="{FF2B5EF4-FFF2-40B4-BE49-F238E27FC236}">
                  <a16:creationId xmlns:a16="http://schemas.microsoft.com/office/drawing/2014/main" id="{BBEF6CAF-A242-4FC1-9D21-EE3725E6483D}"/>
                </a:ext>
              </a:extLst>
            </p:cNvPr>
            <p:cNvSpPr>
              <a:spLocks noChangeArrowheads="1"/>
            </p:cNvSpPr>
            <p:nvPr/>
          </p:nvSpPr>
          <p:spPr bwMode="auto">
            <a:xfrm>
              <a:off x="560" y="2516"/>
              <a:ext cx="56"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i="1">
                  <a:solidFill>
                    <a:srgbClr val="000000"/>
                  </a:solidFill>
                  <a:latin typeface="Times New Roman" panose="02020603050405020304" pitchFamily="18" charset="0"/>
                </a:rPr>
                <a:t>S</a:t>
              </a:r>
              <a:endParaRPr lang="en-US" altLang="zh-CN">
                <a:solidFill>
                  <a:prstClr val="black"/>
                </a:solidFill>
              </a:endParaRPr>
            </a:p>
          </p:txBody>
        </p:sp>
        <p:sp>
          <p:nvSpPr>
            <p:cNvPr id="128142" name="Rectangle 158">
              <a:extLst>
                <a:ext uri="{FF2B5EF4-FFF2-40B4-BE49-F238E27FC236}">
                  <a16:creationId xmlns:a16="http://schemas.microsoft.com/office/drawing/2014/main" id="{CCCE8BB6-9BDE-4ECF-B3F7-4EE774A2C0C0}"/>
                </a:ext>
              </a:extLst>
            </p:cNvPr>
            <p:cNvSpPr>
              <a:spLocks noChangeArrowheads="1"/>
            </p:cNvSpPr>
            <p:nvPr/>
          </p:nvSpPr>
          <p:spPr bwMode="auto">
            <a:xfrm>
              <a:off x="1613" y="2588"/>
              <a:ext cx="32"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800">
                  <a:solidFill>
                    <a:srgbClr val="000000"/>
                  </a:solidFill>
                  <a:latin typeface="Times New Roman" panose="02020603050405020304" pitchFamily="18" charset="0"/>
                </a:rPr>
                <a:t>5</a:t>
              </a:r>
              <a:endParaRPr lang="en-US" altLang="zh-CN">
                <a:solidFill>
                  <a:prstClr val="black"/>
                </a:solidFill>
              </a:endParaRPr>
            </a:p>
          </p:txBody>
        </p:sp>
        <p:sp>
          <p:nvSpPr>
            <p:cNvPr id="128143" name="Rectangle 159">
              <a:extLst>
                <a:ext uri="{FF2B5EF4-FFF2-40B4-BE49-F238E27FC236}">
                  <a16:creationId xmlns:a16="http://schemas.microsoft.com/office/drawing/2014/main" id="{B76DC35A-12E4-414A-B7D6-591B047350DE}"/>
                </a:ext>
              </a:extLst>
            </p:cNvPr>
            <p:cNvSpPr>
              <a:spLocks noChangeArrowheads="1"/>
            </p:cNvSpPr>
            <p:nvPr/>
          </p:nvSpPr>
          <p:spPr bwMode="auto">
            <a:xfrm>
              <a:off x="1516" y="2516"/>
              <a:ext cx="56"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i="1">
                  <a:solidFill>
                    <a:srgbClr val="000000"/>
                  </a:solidFill>
                  <a:latin typeface="Times New Roman" panose="02020603050405020304" pitchFamily="18" charset="0"/>
                </a:rPr>
                <a:t>S</a:t>
              </a:r>
              <a:endParaRPr lang="en-US" altLang="zh-CN">
                <a:solidFill>
                  <a:prstClr val="black"/>
                </a:solidFill>
              </a:endParaRPr>
            </a:p>
          </p:txBody>
        </p:sp>
        <p:sp>
          <p:nvSpPr>
            <p:cNvPr id="128144" name="Rectangle 160">
              <a:extLst>
                <a:ext uri="{FF2B5EF4-FFF2-40B4-BE49-F238E27FC236}">
                  <a16:creationId xmlns:a16="http://schemas.microsoft.com/office/drawing/2014/main" id="{E21ECE54-3D54-4150-A23C-7D21187AC6A1}"/>
                </a:ext>
              </a:extLst>
            </p:cNvPr>
            <p:cNvSpPr>
              <a:spLocks noChangeArrowheads="1"/>
            </p:cNvSpPr>
            <p:nvPr/>
          </p:nvSpPr>
          <p:spPr bwMode="auto">
            <a:xfrm>
              <a:off x="2663" y="2501"/>
              <a:ext cx="32"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800">
                  <a:solidFill>
                    <a:srgbClr val="000000"/>
                  </a:solidFill>
                  <a:latin typeface="Times New Roman" panose="02020603050405020304" pitchFamily="18" charset="0"/>
                </a:rPr>
                <a:t>6</a:t>
              </a:r>
              <a:endParaRPr lang="en-US" altLang="zh-CN">
                <a:solidFill>
                  <a:prstClr val="black"/>
                </a:solidFill>
              </a:endParaRPr>
            </a:p>
          </p:txBody>
        </p:sp>
        <p:sp>
          <p:nvSpPr>
            <p:cNvPr id="128145" name="Rectangle 161">
              <a:extLst>
                <a:ext uri="{FF2B5EF4-FFF2-40B4-BE49-F238E27FC236}">
                  <a16:creationId xmlns:a16="http://schemas.microsoft.com/office/drawing/2014/main" id="{E93EC1A2-6452-47A1-AEA4-29E48AE41775}"/>
                </a:ext>
              </a:extLst>
            </p:cNvPr>
            <p:cNvSpPr>
              <a:spLocks noChangeArrowheads="1"/>
            </p:cNvSpPr>
            <p:nvPr/>
          </p:nvSpPr>
          <p:spPr bwMode="auto">
            <a:xfrm>
              <a:off x="2564" y="2429"/>
              <a:ext cx="56"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i="1">
                  <a:solidFill>
                    <a:srgbClr val="000000"/>
                  </a:solidFill>
                  <a:latin typeface="Times New Roman" panose="02020603050405020304" pitchFamily="18" charset="0"/>
                </a:rPr>
                <a:t>S</a:t>
              </a:r>
              <a:endParaRPr lang="en-US" altLang="zh-CN">
                <a:solidFill>
                  <a:prstClr val="black"/>
                </a:solidFill>
              </a:endParaRPr>
            </a:p>
          </p:txBody>
        </p:sp>
        <p:sp>
          <p:nvSpPr>
            <p:cNvPr id="128146" name="Rectangle 162">
              <a:extLst>
                <a:ext uri="{FF2B5EF4-FFF2-40B4-BE49-F238E27FC236}">
                  <a16:creationId xmlns:a16="http://schemas.microsoft.com/office/drawing/2014/main" id="{827A14EA-9EFC-4876-BD29-078C33231FDB}"/>
                </a:ext>
              </a:extLst>
            </p:cNvPr>
            <p:cNvSpPr>
              <a:spLocks noChangeArrowheads="1"/>
            </p:cNvSpPr>
            <p:nvPr/>
          </p:nvSpPr>
          <p:spPr bwMode="auto">
            <a:xfrm>
              <a:off x="3913" y="2551"/>
              <a:ext cx="32"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800">
                  <a:solidFill>
                    <a:srgbClr val="000000"/>
                  </a:solidFill>
                  <a:latin typeface="Times New Roman" panose="02020603050405020304" pitchFamily="18" charset="0"/>
                </a:rPr>
                <a:t>7</a:t>
              </a:r>
              <a:endParaRPr lang="en-US" altLang="zh-CN">
                <a:solidFill>
                  <a:prstClr val="black"/>
                </a:solidFill>
              </a:endParaRPr>
            </a:p>
          </p:txBody>
        </p:sp>
        <p:sp>
          <p:nvSpPr>
            <p:cNvPr id="128147" name="Rectangle 163">
              <a:extLst>
                <a:ext uri="{FF2B5EF4-FFF2-40B4-BE49-F238E27FC236}">
                  <a16:creationId xmlns:a16="http://schemas.microsoft.com/office/drawing/2014/main" id="{8A8CCC9D-61D1-4573-AA25-A40CE73E1137}"/>
                </a:ext>
              </a:extLst>
            </p:cNvPr>
            <p:cNvSpPr>
              <a:spLocks noChangeArrowheads="1"/>
            </p:cNvSpPr>
            <p:nvPr/>
          </p:nvSpPr>
          <p:spPr bwMode="auto">
            <a:xfrm>
              <a:off x="3813" y="2479"/>
              <a:ext cx="56"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i="1">
                  <a:solidFill>
                    <a:srgbClr val="000000"/>
                  </a:solidFill>
                  <a:latin typeface="Times New Roman" panose="02020603050405020304" pitchFamily="18" charset="0"/>
                </a:rPr>
                <a:t>S</a:t>
              </a:r>
              <a:endParaRPr lang="en-US" altLang="zh-CN">
                <a:solidFill>
                  <a:prstClr val="black"/>
                </a:solidFill>
              </a:endParaRPr>
            </a:p>
          </p:txBody>
        </p:sp>
        <p:sp>
          <p:nvSpPr>
            <p:cNvPr id="128148" name="Rectangle 164">
              <a:extLst>
                <a:ext uri="{FF2B5EF4-FFF2-40B4-BE49-F238E27FC236}">
                  <a16:creationId xmlns:a16="http://schemas.microsoft.com/office/drawing/2014/main" id="{9B606A5A-1BAB-482E-AACD-D673FA4C4DAE}"/>
                </a:ext>
              </a:extLst>
            </p:cNvPr>
            <p:cNvSpPr>
              <a:spLocks noChangeArrowheads="1"/>
            </p:cNvSpPr>
            <p:nvPr/>
          </p:nvSpPr>
          <p:spPr bwMode="auto">
            <a:xfrm>
              <a:off x="5173" y="2551"/>
              <a:ext cx="32"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800">
                  <a:solidFill>
                    <a:srgbClr val="000000"/>
                  </a:solidFill>
                  <a:latin typeface="Times New Roman" panose="02020603050405020304" pitchFamily="18" charset="0"/>
                </a:rPr>
                <a:t>8</a:t>
              </a:r>
              <a:endParaRPr lang="en-US" altLang="zh-CN">
                <a:solidFill>
                  <a:prstClr val="black"/>
                </a:solidFill>
              </a:endParaRPr>
            </a:p>
          </p:txBody>
        </p:sp>
        <p:sp>
          <p:nvSpPr>
            <p:cNvPr id="128149" name="Rectangle 165">
              <a:extLst>
                <a:ext uri="{FF2B5EF4-FFF2-40B4-BE49-F238E27FC236}">
                  <a16:creationId xmlns:a16="http://schemas.microsoft.com/office/drawing/2014/main" id="{14BEE015-4C5B-4691-8BE8-7FCD77E42419}"/>
                </a:ext>
              </a:extLst>
            </p:cNvPr>
            <p:cNvSpPr>
              <a:spLocks noChangeArrowheads="1"/>
            </p:cNvSpPr>
            <p:nvPr/>
          </p:nvSpPr>
          <p:spPr bwMode="auto">
            <a:xfrm>
              <a:off x="5077" y="2479"/>
              <a:ext cx="56"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i="1">
                  <a:solidFill>
                    <a:srgbClr val="000000"/>
                  </a:solidFill>
                  <a:latin typeface="Times New Roman" panose="02020603050405020304" pitchFamily="18" charset="0"/>
                </a:rPr>
                <a:t>S</a:t>
              </a:r>
              <a:endParaRPr lang="en-US" altLang="zh-CN">
                <a:solidFill>
                  <a:prstClr val="black"/>
                </a:solidFill>
              </a:endParaRPr>
            </a:p>
          </p:txBody>
        </p:sp>
        <p:sp>
          <p:nvSpPr>
            <p:cNvPr id="128150" name="Rectangle 166">
              <a:extLst>
                <a:ext uri="{FF2B5EF4-FFF2-40B4-BE49-F238E27FC236}">
                  <a16:creationId xmlns:a16="http://schemas.microsoft.com/office/drawing/2014/main" id="{89A13563-4EEA-47F0-B611-5072F7EC3235}"/>
                </a:ext>
              </a:extLst>
            </p:cNvPr>
            <p:cNvSpPr>
              <a:spLocks noChangeArrowheads="1"/>
            </p:cNvSpPr>
            <p:nvPr/>
          </p:nvSpPr>
          <p:spPr bwMode="auto">
            <a:xfrm>
              <a:off x="878" y="3412"/>
              <a:ext cx="32"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800">
                  <a:solidFill>
                    <a:srgbClr val="000000"/>
                  </a:solidFill>
                  <a:latin typeface="Times New Roman" panose="02020603050405020304" pitchFamily="18" charset="0"/>
                </a:rPr>
                <a:t>9</a:t>
              </a:r>
              <a:endParaRPr lang="en-US" altLang="zh-CN">
                <a:solidFill>
                  <a:prstClr val="black"/>
                </a:solidFill>
              </a:endParaRPr>
            </a:p>
          </p:txBody>
        </p:sp>
        <p:sp>
          <p:nvSpPr>
            <p:cNvPr id="128151" name="Rectangle 167">
              <a:extLst>
                <a:ext uri="{FF2B5EF4-FFF2-40B4-BE49-F238E27FC236}">
                  <a16:creationId xmlns:a16="http://schemas.microsoft.com/office/drawing/2014/main" id="{60A6D7C4-3E89-4081-AADD-0C2CDE94DC4B}"/>
                </a:ext>
              </a:extLst>
            </p:cNvPr>
            <p:cNvSpPr>
              <a:spLocks noChangeArrowheads="1"/>
            </p:cNvSpPr>
            <p:nvPr/>
          </p:nvSpPr>
          <p:spPr bwMode="auto">
            <a:xfrm>
              <a:off x="781" y="3339"/>
              <a:ext cx="56"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i="1">
                  <a:solidFill>
                    <a:srgbClr val="000000"/>
                  </a:solidFill>
                  <a:latin typeface="Times New Roman" panose="02020603050405020304" pitchFamily="18" charset="0"/>
                </a:rPr>
                <a:t>S</a:t>
              </a:r>
              <a:endParaRPr lang="en-US" altLang="zh-CN">
                <a:solidFill>
                  <a:prstClr val="black"/>
                </a:solidFill>
              </a:endParaRPr>
            </a:p>
          </p:txBody>
        </p:sp>
        <p:sp>
          <p:nvSpPr>
            <p:cNvPr id="128152" name="Rectangle 168">
              <a:extLst>
                <a:ext uri="{FF2B5EF4-FFF2-40B4-BE49-F238E27FC236}">
                  <a16:creationId xmlns:a16="http://schemas.microsoft.com/office/drawing/2014/main" id="{23BA6DAD-27AB-4C68-83F0-FCE6B66BDFC5}"/>
                </a:ext>
              </a:extLst>
            </p:cNvPr>
            <p:cNvSpPr>
              <a:spLocks noChangeArrowheads="1"/>
            </p:cNvSpPr>
            <p:nvPr/>
          </p:nvSpPr>
          <p:spPr bwMode="auto">
            <a:xfrm>
              <a:off x="1709" y="3412"/>
              <a:ext cx="64"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800">
                  <a:solidFill>
                    <a:srgbClr val="000000"/>
                  </a:solidFill>
                  <a:latin typeface="Times New Roman" panose="02020603050405020304" pitchFamily="18" charset="0"/>
                </a:rPr>
                <a:t>10</a:t>
              </a:r>
              <a:endParaRPr lang="en-US" altLang="zh-CN">
                <a:solidFill>
                  <a:prstClr val="black"/>
                </a:solidFill>
              </a:endParaRPr>
            </a:p>
          </p:txBody>
        </p:sp>
        <p:sp>
          <p:nvSpPr>
            <p:cNvPr id="128153" name="Rectangle 169">
              <a:extLst>
                <a:ext uri="{FF2B5EF4-FFF2-40B4-BE49-F238E27FC236}">
                  <a16:creationId xmlns:a16="http://schemas.microsoft.com/office/drawing/2014/main" id="{133FCCF8-C968-4E34-9F11-DB21A7FC9889}"/>
                </a:ext>
              </a:extLst>
            </p:cNvPr>
            <p:cNvSpPr>
              <a:spLocks noChangeArrowheads="1"/>
            </p:cNvSpPr>
            <p:nvPr/>
          </p:nvSpPr>
          <p:spPr bwMode="auto">
            <a:xfrm>
              <a:off x="1620" y="3339"/>
              <a:ext cx="56"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400" i="1">
                  <a:solidFill>
                    <a:srgbClr val="000000"/>
                  </a:solidFill>
                  <a:latin typeface="Times New Roman" panose="02020603050405020304" pitchFamily="18" charset="0"/>
                </a:rPr>
                <a:t>S</a:t>
              </a:r>
              <a:endParaRPr lang="en-US" altLang="zh-CN">
                <a:solidFill>
                  <a:prstClr val="black"/>
                </a:solidFill>
              </a:endParaRPr>
            </a:p>
          </p:txBody>
        </p:sp>
        <p:sp>
          <p:nvSpPr>
            <p:cNvPr id="128154" name="Rectangle 170">
              <a:extLst>
                <a:ext uri="{FF2B5EF4-FFF2-40B4-BE49-F238E27FC236}">
                  <a16:creationId xmlns:a16="http://schemas.microsoft.com/office/drawing/2014/main" id="{05E458AF-F40B-446B-9E02-A10820638446}"/>
                </a:ext>
              </a:extLst>
            </p:cNvPr>
            <p:cNvSpPr>
              <a:spLocks noChangeArrowheads="1"/>
            </p:cNvSpPr>
            <p:nvPr/>
          </p:nvSpPr>
          <p:spPr bwMode="auto">
            <a:xfrm>
              <a:off x="3838" y="2021"/>
              <a:ext cx="48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1200">
                  <a:solidFill>
                    <a:srgbClr val="000000"/>
                  </a:solidFill>
                  <a:latin typeface="宋体" panose="02010600030101010101" pitchFamily="2" charset="-122"/>
                </a:rPr>
                <a:t>没有后裔，</a:t>
              </a:r>
              <a:endParaRPr lang="zh-CN" altLang="en-US">
                <a:solidFill>
                  <a:prstClr val="black"/>
                </a:solidFill>
              </a:endParaRPr>
            </a:p>
          </p:txBody>
        </p:sp>
        <p:sp>
          <p:nvSpPr>
            <p:cNvPr id="128155" name="Rectangle 171">
              <a:extLst>
                <a:ext uri="{FF2B5EF4-FFF2-40B4-BE49-F238E27FC236}">
                  <a16:creationId xmlns:a16="http://schemas.microsoft.com/office/drawing/2014/main" id="{58FE3F02-8715-4580-B971-68CD2D2D4B37}"/>
                </a:ext>
              </a:extLst>
            </p:cNvPr>
            <p:cNvSpPr>
              <a:spLocks noChangeArrowheads="1"/>
            </p:cNvSpPr>
            <p:nvPr/>
          </p:nvSpPr>
          <p:spPr bwMode="auto">
            <a:xfrm>
              <a:off x="3912" y="2137"/>
              <a:ext cx="38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1200">
                  <a:solidFill>
                    <a:srgbClr val="000000"/>
                  </a:solidFill>
                  <a:latin typeface="宋体" panose="02010600030101010101" pitchFamily="2" charset="-122"/>
                </a:rPr>
                <a:t>失败退出</a:t>
              </a:r>
              <a:endParaRPr lang="zh-CN" altLang="en-US">
                <a:solidFill>
                  <a:prstClr val="black"/>
                </a:solidFill>
              </a:endParaRPr>
            </a:p>
          </p:txBody>
        </p:sp>
        <p:sp>
          <p:nvSpPr>
            <p:cNvPr id="128156" name="Rectangle 172">
              <a:extLst>
                <a:ext uri="{FF2B5EF4-FFF2-40B4-BE49-F238E27FC236}">
                  <a16:creationId xmlns:a16="http://schemas.microsoft.com/office/drawing/2014/main" id="{744EE237-47F7-4AB9-B16D-0AFBE0045E83}"/>
                </a:ext>
              </a:extLst>
            </p:cNvPr>
            <p:cNvSpPr>
              <a:spLocks noChangeArrowheads="1"/>
            </p:cNvSpPr>
            <p:nvPr/>
          </p:nvSpPr>
          <p:spPr bwMode="auto">
            <a:xfrm>
              <a:off x="2456" y="3727"/>
              <a:ext cx="2927"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marL="22844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7416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1988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656013" indent="1588"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800" dirty="0">
                  <a:solidFill>
                    <a:srgbClr val="000000"/>
                  </a:solidFill>
                  <a:latin typeface="楷体" panose="02010609060101010101" pitchFamily="49" charset="-122"/>
                  <a:ea typeface="楷体" panose="02010609060101010101" pitchFamily="49" charset="-122"/>
                </a:rPr>
                <a:t>积木问题的宽度优先搜索树</a:t>
              </a:r>
            </a:p>
          </p:txBody>
        </p:sp>
      </p:grpSp>
    </p:spTree>
    <p:extLst>
      <p:ext uri="{BB962C8B-B14F-4D97-AF65-F5344CB8AC3E}">
        <p14:creationId xmlns:p14="http://schemas.microsoft.com/office/powerpoint/2010/main" val="927857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128002"/>
                                        </p:tgtEl>
                                        <p:attrNameLst>
                                          <p:attrName>style.visibility</p:attrName>
                                        </p:attrNameLst>
                                      </p:cBhvr>
                                      <p:to>
                                        <p:strVal val="visible"/>
                                      </p:to>
                                    </p:set>
                                    <p:animEffect transition="in" filter="fade">
                                      <p:cBhvr>
                                        <p:cTn id="7" dur="750"/>
                                        <p:tgtEl>
                                          <p:spTgt spid="1280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白底灰边-Office2010风格">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黑体+Times">
      <a:majorFont>
        <a:latin typeface="Times New Roman"/>
        <a:ea typeface="黑体"/>
        <a:cs typeface=""/>
      </a:majorFont>
      <a:minorFont>
        <a:latin typeface="Times New Roman"/>
        <a:ea typeface="黑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2262</Words>
  <Application>Microsoft Office PowerPoint</Application>
  <PresentationFormat>宽屏</PresentationFormat>
  <Paragraphs>372</Paragraphs>
  <Slides>37</Slides>
  <Notes>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5</vt:i4>
      </vt:variant>
      <vt:variant>
        <vt:lpstr>幻灯片标题</vt:lpstr>
      </vt:variant>
      <vt:variant>
        <vt:i4>37</vt:i4>
      </vt:variant>
    </vt:vector>
  </HeadingPairs>
  <TitlesOfParts>
    <vt:vector size="58" baseType="lpstr">
      <vt:lpstr>等线</vt:lpstr>
      <vt:lpstr>方正姚体</vt:lpstr>
      <vt:lpstr>黑体</vt:lpstr>
      <vt:lpstr>华光姚体_CNKI</vt:lpstr>
      <vt:lpstr>华文楷体</vt:lpstr>
      <vt:lpstr>华文宋体</vt:lpstr>
      <vt:lpstr>华文行楷</vt:lpstr>
      <vt:lpstr>楷体</vt:lpstr>
      <vt:lpstr>宋体</vt:lpstr>
      <vt:lpstr>微软雅黑</vt:lpstr>
      <vt:lpstr>Arial</vt:lpstr>
      <vt:lpstr>Tahoma</vt:lpstr>
      <vt:lpstr>Times New Roman</vt:lpstr>
      <vt:lpstr>Verdana</vt:lpstr>
      <vt:lpstr>Wingdings</vt:lpstr>
      <vt:lpstr>白底灰边-Office2010风格</vt:lpstr>
      <vt:lpstr>公式</vt:lpstr>
      <vt:lpstr>Paintbrush Picture</vt:lpstr>
      <vt:lpstr>Equation.DSMT4</vt:lpstr>
      <vt:lpstr>位图图像</vt:lpstr>
      <vt:lpstr>Visio</vt:lpstr>
      <vt:lpstr>搜索与求解</vt:lpstr>
      <vt:lpstr>PowerPoint 演示文稿</vt:lpstr>
      <vt:lpstr>人工智能中的搜索</vt:lpstr>
      <vt:lpstr>人工智能中的搜索</vt:lpstr>
      <vt:lpstr>人工智能中的搜索</vt:lpstr>
      <vt:lpstr>人工智能中的搜索</vt:lpstr>
      <vt:lpstr>人工智能中的搜索</vt:lpstr>
      <vt:lpstr>人工智能中的搜索</vt:lpstr>
      <vt:lpstr>人工智能中的搜索</vt:lpstr>
      <vt:lpstr>搜索算法的形式化描述</vt:lpstr>
      <vt:lpstr>搜索算法的形式化描述</vt:lpstr>
      <vt:lpstr>状态空间表示法</vt:lpstr>
      <vt:lpstr>状态空间表示法</vt:lpstr>
      <vt:lpstr>状态空间表示法</vt:lpstr>
      <vt:lpstr>状态空间表示法</vt:lpstr>
      <vt:lpstr>状态空间表示法</vt:lpstr>
      <vt:lpstr>状态空间表示法</vt:lpstr>
      <vt:lpstr>状态空间表示法</vt:lpstr>
      <vt:lpstr>状态空间表示法</vt:lpstr>
      <vt:lpstr>盲目搜索</vt:lpstr>
      <vt:lpstr>盲目搜索</vt:lpstr>
      <vt:lpstr>盲目搜索</vt:lpstr>
      <vt:lpstr>盲目搜索</vt:lpstr>
      <vt:lpstr>盲目搜索</vt:lpstr>
      <vt:lpstr>盲目搜索</vt:lpstr>
      <vt:lpstr>盲目搜索</vt:lpstr>
      <vt:lpstr>盲目搜索</vt:lpstr>
      <vt:lpstr>盲目搜索</vt:lpstr>
      <vt:lpstr>盲目搜索</vt:lpstr>
      <vt:lpstr>盲目搜索</vt:lpstr>
      <vt:lpstr>盲目搜索</vt:lpstr>
      <vt:lpstr>盲目搜索</vt:lpstr>
      <vt:lpstr>盲目搜索</vt:lpstr>
      <vt:lpstr>盲目搜索</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 jiajing</dc:creator>
  <cp:lastModifiedBy>wang jiajing</cp:lastModifiedBy>
  <cp:revision>2</cp:revision>
  <dcterms:created xsi:type="dcterms:W3CDTF">2022-04-21T01:46:52Z</dcterms:created>
  <dcterms:modified xsi:type="dcterms:W3CDTF">2023-04-15T07:30:47Z</dcterms:modified>
</cp:coreProperties>
</file>