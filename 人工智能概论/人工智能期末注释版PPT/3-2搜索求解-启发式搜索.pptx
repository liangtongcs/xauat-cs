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84" r:id="rId3"/>
    <p:sldId id="645" r:id="rId4"/>
    <p:sldId id="830" r:id="rId6"/>
    <p:sldId id="831" r:id="rId7"/>
    <p:sldId id="832" r:id="rId8"/>
    <p:sldId id="833" r:id="rId9"/>
    <p:sldId id="834" r:id="rId10"/>
    <p:sldId id="835" r:id="rId11"/>
    <p:sldId id="650" r:id="rId12"/>
    <p:sldId id="651" r:id="rId13"/>
    <p:sldId id="836" r:id="rId14"/>
    <p:sldId id="837" r:id="rId15"/>
    <p:sldId id="829" r:id="rId16"/>
    <p:sldId id="662" r:id="rId17"/>
    <p:sldId id="838" r:id="rId18"/>
    <p:sldId id="839" r:id="rId19"/>
    <p:sldId id="840" r:id="rId20"/>
    <p:sldId id="841" r:id="rId21"/>
    <p:sldId id="842" r:id="rId22"/>
    <p:sldId id="843" r:id="rId23"/>
    <p:sldId id="844" r:id="rId24"/>
    <p:sldId id="845" r:id="rId25"/>
    <p:sldId id="562" r:id="rId26"/>
    <p:sldId id="563" r:id="rId27"/>
    <p:sldId id="564" r:id="rId28"/>
    <p:sldId id="565" r:id="rId29"/>
    <p:sldId id="566" r:id="rId30"/>
    <p:sldId id="567" r:id="rId31"/>
    <p:sldId id="568" r:id="rId32"/>
    <p:sldId id="569" r:id="rId33"/>
    <p:sldId id="570" r:id="rId34"/>
    <p:sldId id="571" r:id="rId35"/>
    <p:sldId id="846" r:id="rId36"/>
    <p:sldId id="655" r:id="rId37"/>
    <p:sldId id="65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1" Type="http://schemas.openxmlformats.org/officeDocument/2006/relationships/image" Target="../media/image34.wmf"/><Relationship Id="rId10" Type="http://schemas.openxmlformats.org/officeDocument/2006/relationships/image" Target="../media/image3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2" Type="http://schemas.openxmlformats.org/officeDocument/2006/relationships/image" Target="../media/image37.wmf"/><Relationship Id="rId11" Type="http://schemas.openxmlformats.org/officeDocument/2006/relationships/image" Target="../media/image36.wmf"/><Relationship Id="rId10" Type="http://schemas.openxmlformats.org/officeDocument/2006/relationships/image" Target="../media/image35.wmf"/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4" Type="http://schemas.openxmlformats.org/officeDocument/2006/relationships/image" Target="../media/image41.wmf"/><Relationship Id="rId13" Type="http://schemas.openxmlformats.org/officeDocument/2006/relationships/image" Target="../media/image40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5.wmf"/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4" Type="http://schemas.openxmlformats.org/officeDocument/2006/relationships/image" Target="../media/image43.wmf"/><Relationship Id="rId13" Type="http://schemas.openxmlformats.org/officeDocument/2006/relationships/image" Target="../media/image42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5.wmf"/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image" Target="../media/image51.wmf"/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2" Type="http://schemas.openxmlformats.org/officeDocument/2006/relationships/image" Target="../media/image55.wmf"/><Relationship Id="rId11" Type="http://schemas.openxmlformats.org/officeDocument/2006/relationships/image" Target="../media/image54.wmf"/><Relationship Id="rId10" Type="http://schemas.openxmlformats.org/officeDocument/2006/relationships/image" Target="../media/image53.wmf"/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4" Type="http://schemas.openxmlformats.org/officeDocument/2006/relationships/image" Target="../media/image57.wmf"/><Relationship Id="rId13" Type="http://schemas.openxmlformats.org/officeDocument/2006/relationships/image" Target="../media/image56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5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2BA65-E9F6-423D-87E5-7D4DD05FFF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9B9FE-9080-4A8A-BEFE-3058844E30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9458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079DD9-C9D1-C543-AF12-536BB687E807}" type="slidenum"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AE2A54D-7836-4642-8F4F-740282A8D7C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60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771" y="1057014"/>
            <a:ext cx="103632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6371" y="402987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19" y="1057014"/>
            <a:ext cx="103632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3304" y="4027400"/>
            <a:ext cx="9144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B43B8-EC4A-5743-9CA4-764B42BFAC9D}" type="slidenum">
              <a:rPr lang="zh-CN" altLang="en-US"/>
            </a:fld>
            <a:endParaRPr lang="en-US" altLang="zh-CN" sz="135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fld id="{E197ECB9-BA6A-4168-AD85-40BD5A062894}" type="datetime1">
              <a:rPr lang="zh-CN" altLang="en-US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fld id="{014C427B-7373-4FBC-9951-725C9B43A6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400"/>
            <a:ext cx="12192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965" y="906011"/>
            <a:ext cx="11845255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700" y="6660859"/>
            <a:ext cx="27432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1224" y="6660859"/>
            <a:ext cx="6129553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60859"/>
            <a:ext cx="27432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680" indent="-36068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6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920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hyperlink" Target="https://www.icourse163.org/course/ZJU-100337702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9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2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2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6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22.wmf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32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35.bin"/><Relationship Id="rId24" Type="http://schemas.openxmlformats.org/officeDocument/2006/relationships/vmlDrawing" Target="../drawings/vmlDrawing10.vml"/><Relationship Id="rId23" Type="http://schemas.openxmlformats.org/officeDocument/2006/relationships/slideLayout" Target="../slideLayouts/slideLayout13.xml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33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3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46.bin"/><Relationship Id="rId26" Type="http://schemas.openxmlformats.org/officeDocument/2006/relationships/vmlDrawing" Target="../drawings/vmlDrawing11.vml"/><Relationship Id="rId25" Type="http://schemas.openxmlformats.org/officeDocument/2006/relationships/slideLayout" Target="../slideLayouts/slideLayout13.xml"/><Relationship Id="rId24" Type="http://schemas.openxmlformats.org/officeDocument/2006/relationships/image" Target="../media/image37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36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35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53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52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4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23.wmf"/><Relationship Id="rId30" Type="http://schemas.openxmlformats.org/officeDocument/2006/relationships/vmlDrawing" Target="../drawings/vmlDrawing12.vml"/><Relationship Id="rId3" Type="http://schemas.openxmlformats.org/officeDocument/2006/relationships/oleObject" Target="../embeddings/oleObject58.bin"/><Relationship Id="rId29" Type="http://schemas.openxmlformats.org/officeDocument/2006/relationships/slideLayout" Target="../slideLayouts/slideLayout13.xml"/><Relationship Id="rId28" Type="http://schemas.openxmlformats.org/officeDocument/2006/relationships/image" Target="../media/image41.wmf"/><Relationship Id="rId27" Type="http://schemas.openxmlformats.org/officeDocument/2006/relationships/oleObject" Target="../embeddings/oleObject70.bin"/><Relationship Id="rId26" Type="http://schemas.openxmlformats.org/officeDocument/2006/relationships/image" Target="../media/image40.wmf"/><Relationship Id="rId25" Type="http://schemas.openxmlformats.org/officeDocument/2006/relationships/oleObject" Target="../embeddings/oleObject69.bin"/><Relationship Id="rId24" Type="http://schemas.openxmlformats.org/officeDocument/2006/relationships/image" Target="../media/image39.wmf"/><Relationship Id="rId23" Type="http://schemas.openxmlformats.org/officeDocument/2006/relationships/oleObject" Target="../embeddings/oleObject68.bin"/><Relationship Id="rId22" Type="http://schemas.openxmlformats.org/officeDocument/2006/relationships/image" Target="../media/image38.wmf"/><Relationship Id="rId21" Type="http://schemas.openxmlformats.org/officeDocument/2006/relationships/oleObject" Target="../embeddings/oleObject67.bin"/><Relationship Id="rId20" Type="http://schemas.openxmlformats.org/officeDocument/2006/relationships/image" Target="../media/image35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66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65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62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23.wmf"/><Relationship Id="rId30" Type="http://schemas.openxmlformats.org/officeDocument/2006/relationships/vmlDrawing" Target="../drawings/vmlDrawing13.vml"/><Relationship Id="rId3" Type="http://schemas.openxmlformats.org/officeDocument/2006/relationships/oleObject" Target="../embeddings/oleObject72.bin"/><Relationship Id="rId29" Type="http://schemas.openxmlformats.org/officeDocument/2006/relationships/slideLayout" Target="../slideLayouts/slideLayout13.xml"/><Relationship Id="rId28" Type="http://schemas.openxmlformats.org/officeDocument/2006/relationships/image" Target="../media/image43.wmf"/><Relationship Id="rId27" Type="http://schemas.openxmlformats.org/officeDocument/2006/relationships/oleObject" Target="../embeddings/oleObject84.bin"/><Relationship Id="rId26" Type="http://schemas.openxmlformats.org/officeDocument/2006/relationships/image" Target="../media/image42.wmf"/><Relationship Id="rId25" Type="http://schemas.openxmlformats.org/officeDocument/2006/relationships/oleObject" Target="../embeddings/oleObject83.bin"/><Relationship Id="rId24" Type="http://schemas.openxmlformats.org/officeDocument/2006/relationships/image" Target="../media/image39.wmf"/><Relationship Id="rId23" Type="http://schemas.openxmlformats.org/officeDocument/2006/relationships/oleObject" Target="../embeddings/oleObject82.bin"/><Relationship Id="rId22" Type="http://schemas.openxmlformats.org/officeDocument/2006/relationships/image" Target="../media/image38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35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71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86.bin"/><Relationship Id="rId27" Type="http://schemas.openxmlformats.org/officeDocument/2006/relationships/notesSlide" Target="../notesSlides/notesSlide2.xml"/><Relationship Id="rId26" Type="http://schemas.openxmlformats.org/officeDocument/2006/relationships/vmlDrawing" Target="../drawings/vmlDrawing1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55.wmf"/><Relationship Id="rId23" Type="http://schemas.openxmlformats.org/officeDocument/2006/relationships/oleObject" Target="../embeddings/oleObject96.bin"/><Relationship Id="rId22" Type="http://schemas.openxmlformats.org/officeDocument/2006/relationships/image" Target="../media/image54.wmf"/><Relationship Id="rId21" Type="http://schemas.openxmlformats.org/officeDocument/2006/relationships/oleObject" Target="../embeddings/oleObject95.bin"/><Relationship Id="rId20" Type="http://schemas.openxmlformats.org/officeDocument/2006/relationships/image" Target="../media/image53.wmf"/><Relationship Id="rId2" Type="http://schemas.openxmlformats.org/officeDocument/2006/relationships/image" Target="../media/image44.wmf"/><Relationship Id="rId19" Type="http://schemas.openxmlformats.org/officeDocument/2006/relationships/oleObject" Target="../embeddings/oleObject94.bin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93.bin"/><Relationship Id="rId16" Type="http://schemas.openxmlformats.org/officeDocument/2006/relationships/image" Target="../media/image51.wmf"/><Relationship Id="rId15" Type="http://schemas.openxmlformats.org/officeDocument/2006/relationships/oleObject" Target="../embeddings/oleObject92.bin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91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85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23.wmf"/><Relationship Id="rId30" Type="http://schemas.openxmlformats.org/officeDocument/2006/relationships/vmlDrawing" Target="../drawings/vmlDrawing15.vml"/><Relationship Id="rId3" Type="http://schemas.openxmlformats.org/officeDocument/2006/relationships/oleObject" Target="../embeddings/oleObject98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57.wmf"/><Relationship Id="rId27" Type="http://schemas.openxmlformats.org/officeDocument/2006/relationships/oleObject" Target="../embeddings/oleObject110.bin"/><Relationship Id="rId26" Type="http://schemas.openxmlformats.org/officeDocument/2006/relationships/image" Target="../media/image56.wmf"/><Relationship Id="rId25" Type="http://schemas.openxmlformats.org/officeDocument/2006/relationships/oleObject" Target="../embeddings/oleObject109.bin"/><Relationship Id="rId24" Type="http://schemas.openxmlformats.org/officeDocument/2006/relationships/image" Target="../media/image39.wmf"/><Relationship Id="rId23" Type="http://schemas.openxmlformats.org/officeDocument/2006/relationships/oleObject" Target="../embeddings/oleObject108.bin"/><Relationship Id="rId22" Type="http://schemas.openxmlformats.org/officeDocument/2006/relationships/image" Target="../media/image38.wmf"/><Relationship Id="rId21" Type="http://schemas.openxmlformats.org/officeDocument/2006/relationships/oleObject" Target="../embeddings/oleObject107.bin"/><Relationship Id="rId20" Type="http://schemas.openxmlformats.org/officeDocument/2006/relationships/image" Target="../media/image35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106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97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3718" y="2468880"/>
            <a:ext cx="7772400" cy="20955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800" b="1" spc="600" dirty="0"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搜索与求解</a:t>
            </a:r>
            <a:endParaRPr lang="zh-CN" altLang="en-US" sz="8800" spc="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01152" y="530758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《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人工智能导论：模型与算法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》</a:t>
            </a:r>
            <a:endParaRPr lang="zh-CN" altLang="en-US" sz="20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2203718" y="1848864"/>
            <a:ext cx="7772400" cy="1240032"/>
          </a:xfrm>
          <a:prstGeom prst="rect">
            <a:avLst/>
          </a:prstGeom>
        </p:spPr>
        <p:txBody>
          <a:bodyPr vert="horz" lIns="91440" tIns="14400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6600" b="1" spc="60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第 </a:t>
            </a:r>
            <a:r>
              <a:rPr lang="en-US" altLang="zh-CN" sz="6600" b="1" spc="60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3 </a:t>
            </a:r>
            <a:r>
              <a:rPr lang="zh-CN" altLang="en-US" sz="6600" b="1" spc="60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章</a:t>
            </a:r>
            <a:endParaRPr lang="zh-CN" altLang="en-US" sz="6600" spc="600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539115" y="99621"/>
            <a:ext cx="6780609" cy="90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pitchFamily="34" charset="-122"/>
                <a:sym typeface="Times New Roman" panose="02020603050405020304" pitchFamily="18" charset="0"/>
              </a:rPr>
              <a:t>  提纲</a:t>
            </a:r>
            <a:endParaRPr lang="zh-CN" altLang="en-US" sz="4000" b="1" dirty="0">
              <a:solidFill>
                <a:srgbClr val="C00000"/>
              </a:solidFill>
              <a:latin typeface="Times New Roman" panose="02020603050405020304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" name="矩形 7"/>
          <p:cNvSpPr>
            <a:spLocks noChangeArrowheads="1"/>
          </p:cNvSpPr>
          <p:nvPr/>
        </p:nvSpPr>
        <p:spPr bwMode="auto">
          <a:xfrm>
            <a:off x="1757846" y="2449856"/>
            <a:ext cx="7200000" cy="5653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pitchFamily="34" charset="-122"/>
                <a:sym typeface="Calibri" panose="020F0502020204030204" pitchFamily="34" charset="0"/>
              </a:rPr>
              <a:t>二、对抗搜索</a:t>
            </a:r>
            <a:endParaRPr kumimoji="0" lang="zh-CN" altLang="en-US" sz="2800" b="1" dirty="0">
              <a:solidFill>
                <a:srgbClr val="C00000"/>
              </a:solidFill>
              <a:latin typeface="Times New Roman" panose="02020603050405020304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757846" y="1434072"/>
            <a:ext cx="7200000" cy="5653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pitchFamily="34" charset="-122"/>
              </a:rPr>
              <a:t>一、启发搜索</a:t>
            </a:r>
            <a:endParaRPr kumimoji="0" lang="zh-CN" altLang="en-US" sz="2800" b="1" dirty="0">
              <a:solidFill>
                <a:srgbClr val="C00000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7470" y="5611383"/>
            <a:ext cx="7629180" cy="575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zh-CN" altLang="en-US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吴飞，</a:t>
            </a:r>
            <a:r>
              <a:rPr lang="en-US" altLang="zh-CN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人工智能导论：模型与算法</a:t>
            </a:r>
            <a:r>
              <a:rPr lang="en-US" altLang="zh-CN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》</a:t>
            </a:r>
            <a:r>
              <a:rPr lang="zh-CN" altLang="en-US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，高等教育出版社 </a:t>
            </a:r>
            <a:endParaRPr lang="en-US" altLang="zh-CN" dirty="0">
              <a:solidFill>
                <a:prstClr val="black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>
              <a:lnSpc>
                <a:spcPts val="1200"/>
              </a:lnSpc>
            </a:pPr>
            <a:endParaRPr lang="en-US" altLang="zh-CN" dirty="0">
              <a:solidFill>
                <a:prstClr val="black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>
              <a:lnSpc>
                <a:spcPts val="1200"/>
              </a:lnSpc>
            </a:pPr>
            <a:r>
              <a:rPr lang="en-US" altLang="zh-CN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MOOC</a:t>
            </a:r>
            <a:r>
              <a:rPr lang="zh-CN" altLang="en-US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  <a:hlinkClick r:id="rId1"/>
              </a:rPr>
              <a:t>https://www.icourse163.org/course/ZJU-1003377027</a:t>
            </a:r>
            <a:endParaRPr lang="zh-CN" altLang="en-US" dirty="0">
              <a:solidFill>
                <a:prstClr val="black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757846" y="3450555"/>
            <a:ext cx="7200000" cy="5653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Times New Roman" panose="02020603050405020304"/>
                <a:ea typeface="微软雅黑" panose="020B0503020204020204" pitchFamily="34" charset="-122"/>
                <a:sym typeface="Calibri" panose="020F0502020204030204" pitchFamily="34" charset="0"/>
              </a:rPr>
              <a:t>三、蒙特卡洛树搜索</a:t>
            </a:r>
            <a:endParaRPr kumimoji="0" lang="zh-CN" altLang="en-US" sz="2800" b="1" dirty="0">
              <a:solidFill>
                <a:srgbClr val="C00000"/>
              </a:solidFill>
              <a:latin typeface="Times New Roman" panose="02020603050405020304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029680" y="1767648"/>
            <a:ext cx="7768234" cy="419017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en-US" altLang="zh-CN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“</a:t>
            </a:r>
            <a:r>
              <a:rPr lang="zh-CN" altLang="en-US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启发”（</a:t>
            </a:r>
            <a:r>
              <a:rPr lang="en-US" altLang="zh-CN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heuristic</a:t>
            </a:r>
            <a:r>
              <a:rPr lang="zh-CN" altLang="en-US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）：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关于发现和发明操作算子及搜索方法的研究。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1" hangingPunct="1">
              <a:spcBef>
                <a:spcPts val="600"/>
              </a:spcBef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在状态空间搜索中，</a:t>
            </a:r>
            <a:r>
              <a:rPr lang="zh-CN" altLang="en-US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启发式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被定义成一系列操作算子，并能从状态空间中选择最有希望到达问题解的路径。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1" hangingPunct="1">
              <a:spcBef>
                <a:spcPts val="600"/>
              </a:spcBef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zh-CN" altLang="en-US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启发式策略：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利用与问题有关的启发信息进行搜索。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029680" y="1767648"/>
            <a:ext cx="7768234" cy="419017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0504D"/>
              </a:buClr>
              <a:buFont typeface="Wingdings" panose="05000000000000000000" pitchFamily="2" charset="2"/>
              <a:buChar char="Ø"/>
            </a:pPr>
            <a:r>
              <a:rPr lang="zh-CN" altLang="en-US" noProof="1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</a:rPr>
              <a:t>运用启发式策略的两种基本情况： </a:t>
            </a:r>
            <a:endParaRPr lang="zh-CN" altLang="en-US" noProof="1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C0504D"/>
              </a:buClr>
              <a:buNone/>
            </a:pPr>
            <a:r>
              <a:rPr lang="zh-CN" altLang="en-US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en-US" altLang="zh-CN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en-US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）一个问题由于在问题陈述和数据获取方面固有的模糊性，可能会使它没有一个确定的解。 </a:t>
            </a:r>
            <a:endParaRPr lang="zh-CN" altLang="en-US" noProof="1">
              <a:solidFill>
                <a:prstClr val="black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C0504D"/>
              </a:buClr>
              <a:buNone/>
            </a:pPr>
            <a:r>
              <a:rPr lang="zh-CN" altLang="en-US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en-US" altLang="zh-CN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en-US" noProof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）虽然一个问题可能有确定解，但是其状态空间特别大，搜索中生成扩展的状态数会随着搜索的深度呈指数级增长。</a:t>
            </a:r>
            <a:endParaRPr lang="zh-CN" altLang="en-US" noProof="1">
              <a:solidFill>
                <a:prstClr val="black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029680" y="1701389"/>
            <a:ext cx="7768234" cy="17779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30000"/>
              </a:lnSpc>
              <a:spcBef>
                <a:spcPts val="600"/>
              </a:spcBef>
              <a:buClr>
                <a:srgbClr val="C0504D"/>
              </a:buClr>
              <a:buNone/>
            </a:pPr>
            <a:r>
              <a:rPr lang="zh-CN" altLang="en-US" noProof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例题</a:t>
            </a:r>
            <a:r>
              <a:rPr lang="en-US" altLang="zh-CN" noProof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在九宫棋盘上，从空棋盘开始，双方轮流在棋盘上摆各自棋子</a:t>
            </a:r>
            <a:r>
              <a:rPr lang="en-US" altLang="zh-CN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×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或</a:t>
            </a:r>
            <a:r>
              <a:rPr lang="en-US" altLang="zh-CN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Ο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，谁先取得三子一线（一行、一列或一条对角线）的结果就取胜。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5" name="Group 10"/>
          <p:cNvGrpSpPr/>
          <p:nvPr/>
        </p:nvGrpSpPr>
        <p:grpSpPr bwMode="auto">
          <a:xfrm>
            <a:off x="2394086" y="3571451"/>
            <a:ext cx="7319864" cy="2417763"/>
            <a:chOff x="336" y="2087"/>
            <a:chExt cx="5280" cy="1523"/>
          </a:xfrm>
        </p:grpSpPr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336" y="2087"/>
              <a:ext cx="5280" cy="152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§"/>
              </a:pP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  <a:sym typeface="Wingdings 2" panose="05020102010507070707" pitchFamily="18" charset="2"/>
                </a:rPr>
                <a:t>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和 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  <a:sym typeface="Wingdings" panose="05000000000000000000" pitchFamily="2" charset="2"/>
                </a:rPr>
                <a:t>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能够在棋盘中摆成的各种不同的棋局就是问题空间中的不同状态。</a:t>
              </a:r>
              <a:endParaRPr lang="zh-CN" altLang="en-US" sz="26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eaLnBrk="1" hangingPunct="1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§"/>
              </a:pP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9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个位置上摆放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{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空， 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  <a:sym typeface="Wingdings 2" panose="05020102010507070707" pitchFamily="18" charset="2"/>
                </a:rPr>
                <a:t>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， 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  <a:sym typeface="Wingdings" panose="05000000000000000000" pitchFamily="2" charset="2"/>
                </a:rPr>
                <a:t>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}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有 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3</a:t>
              </a:r>
              <a:r>
                <a:rPr lang="en-US" altLang="zh-CN" sz="2600" baseline="300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9</a:t>
              </a:r>
              <a:r>
                <a:rPr lang="en-US" altLang="zh-CN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种棋局。</a:t>
              </a:r>
              <a:endParaRPr lang="zh-CN" altLang="en-US" sz="26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eaLnBrk="1" hangingPunct="1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§"/>
              </a:pP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  <a:cs typeface="Times New Roman" panose="02020603050405020304" pitchFamily="18" charset="0"/>
                </a:rPr>
                <a:t> 可能的走法</a:t>
              </a:r>
              <a:r>
                <a:rPr lang="zh-CN" altLang="en-US" sz="26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：                           。</a:t>
              </a:r>
              <a:endParaRPr lang="zh-CN" altLang="en-US" sz="26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1982" y="3328"/>
            <a:ext cx="117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" r:id="rId2" imgW="951865" imgH="177800" progId="Equation.DSMT4">
                    <p:embed/>
                  </p:oleObj>
                </mc:Choice>
                <mc:Fallback>
                  <p:oleObj name="" r:id="rId2" imgW="951865" imgH="177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3328"/>
                          <a:ext cx="117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80"/>
          <a:stretch>
            <a:fillRect/>
          </a:stretch>
        </p:blipFill>
        <p:spPr bwMode="auto">
          <a:xfrm>
            <a:off x="1884837" y="1901613"/>
            <a:ext cx="8610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69696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246875" y="5483028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prstClr val="black"/>
                </a:solidFill>
              </a:rPr>
              <a:t>          </a:t>
            </a:r>
            <a:r>
              <a:rPr lang="zh-CN" altLang="en-US" sz="2400" b="1">
                <a:solidFill>
                  <a:prstClr val="black"/>
                </a:solidFill>
              </a:rPr>
              <a:t>启发式策略的运用</a:t>
            </a:r>
            <a:endParaRPr lang="zh-CN" altLang="en-US" sz="2400" b="1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256285" y="1062805"/>
          <a:ext cx="7772196" cy="5583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4699635" imgH="3744595" progId="Visio.Drawing.11">
                  <p:embed/>
                </p:oleObj>
              </mc:Choice>
              <mc:Fallback>
                <p:oleObj name="Visio" r:id="rId1" imgW="4699635" imgH="374459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285" y="1062805"/>
                        <a:ext cx="7772196" cy="5583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5"/>
          <p:cNvSpPr txBox="1">
            <a:spLocks noChangeArrowheads="1"/>
          </p:cNvSpPr>
          <p:nvPr/>
        </p:nvSpPr>
        <p:spPr bwMode="auto">
          <a:xfrm>
            <a:off x="4151313" y="5943535"/>
            <a:ext cx="4248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>
                <a:solidFill>
                  <a:prstClr val="black"/>
                </a:solidFill>
              </a:rPr>
              <a:t>启发式搜索下缩减的状态空间</a:t>
            </a:r>
            <a:endParaRPr lang="zh-CN" altLang="en-US" sz="22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4838" y="814041"/>
            <a:ext cx="7913077" cy="784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启发式策略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029680" y="1701388"/>
            <a:ext cx="7768234" cy="2115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600"/>
              </a:spcBef>
              <a:buClr>
                <a:srgbClr val="C0504D"/>
              </a:buClr>
              <a:buFont typeface="Wingdings" panose="05000000000000000000" pitchFamily="2" charset="2"/>
              <a:buChar char="ü"/>
            </a:pP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具体求解中，能够利用与该问题有关的信息来简化搜索过程，此类信息称为</a:t>
            </a:r>
            <a:r>
              <a:rPr lang="zh-CN" altLang="en-US" noProof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启发信息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Clr>
                <a:srgbClr val="C0504D"/>
              </a:buClr>
              <a:buFont typeface="Wingdings" panose="05000000000000000000" pitchFamily="2" charset="2"/>
              <a:buChar char="ü"/>
            </a:pPr>
            <a:r>
              <a:rPr lang="zh-CN" altLang="en-US" noProof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启发式搜索</a:t>
            </a:r>
            <a:r>
              <a:rPr lang="zh-CN" altLang="en-US" noProof="1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：利用启发信息的搜索过程。</a:t>
            </a:r>
            <a:endParaRPr lang="zh-CN" altLang="en-US" noProof="1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77604" y="915518"/>
            <a:ext cx="7913077" cy="1949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在搜索的过程中利用与所求解问题相关的辅助信息，其代表算法为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贪婪最佳优先搜索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Greedy best-first search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A*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搜索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793901" y="2530979"/>
            <a:ext cx="4271281" cy="3588551"/>
            <a:chOff x="135465" y="2087052"/>
            <a:chExt cx="4271281" cy="3588551"/>
          </a:xfrm>
        </p:grpSpPr>
        <p:sp>
          <p:nvSpPr>
            <p:cNvPr id="13" name="矩形 12"/>
            <p:cNvSpPr/>
            <p:nvPr/>
          </p:nvSpPr>
          <p:spPr>
            <a:xfrm>
              <a:off x="135465" y="4844606"/>
              <a:ext cx="427128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问题：寻找从城市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到城市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之间行驶时间最短路线？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707" y="2087052"/>
              <a:ext cx="4131039" cy="2539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椭圆 19"/>
            <p:cNvSpPr/>
            <p:nvPr/>
          </p:nvSpPr>
          <p:spPr>
            <a:xfrm>
              <a:off x="749147" y="2639291"/>
              <a:ext cx="583894" cy="423398"/>
            </a:xfrm>
            <a:prstGeom prst="ellipse">
              <a:avLst/>
            </a:prstGeom>
            <a:solidFill>
              <a:srgbClr val="FFC000">
                <a:alpha val="2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2851533" y="3706091"/>
              <a:ext cx="583894" cy="423398"/>
            </a:xfrm>
            <a:prstGeom prst="ellipse">
              <a:avLst/>
            </a:prstGeom>
            <a:solidFill>
              <a:srgbClr val="FFC000">
                <a:alpha val="2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2116433" y="1275581"/>
              <a:ext cx="7967758" cy="33674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0761"/>
                    <a:gridCol w="4986997"/>
                  </a:tblGrid>
                  <a:tr h="913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辅助信息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所求解问题之外、与所求解问题相关的特定信息或知识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8555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评价函数</a:t>
                          </a:r>
                          <a:endParaRPr lang="en-US" altLang="zh-CN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(evaluation function)</a:t>
                          </a:r>
                          <a:b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sz="2400" b="0" i="1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r>
                            <a:rPr lang="en-US" altLang="zh-CN" sz="2400" b="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CN" sz="2400" b="0" i="1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CN" sz="2400" b="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dirty="0">
                            <a:solidFill>
                              <a:srgbClr val="C00000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从当前节点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黑体" panose="02010609060101010101" charset="-122"/>
                                </a:rPr>
                                <m:t>𝑛</m:t>
                              </m:r>
                            </m:oMath>
                          </a14:m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出发，根据评价函数来选择后续节点</a:t>
                          </a:r>
                          <a:endParaRPr lang="zh-CN" altLang="en-US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265080">
                    <a:tc>
                      <a:txBody>
                        <a:bodyPr/>
                        <a:lstStyle/>
                        <a:p>
                          <a:pPr marL="0" algn="l" defTabSz="685800" rtl="0" eaLnBrk="1" latinLnBrk="0" hangingPunct="1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启发函数</a:t>
                          </a:r>
                          <a:endParaRPr lang="en-US" altLang="zh-CN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l" defTabSz="685800" rtl="0" eaLnBrk="1" latinLnBrk="0" hangingPunct="1"/>
                          <a: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(heuristic</a:t>
                          </a:r>
                          <a:r>
                            <a:rPr lang="en-US" altLang="zh-CN" sz="2400" b="0" baseline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 function)</a:t>
                          </a:r>
                          <a:b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sz="2400" b="0" i="1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altLang="zh-CN" sz="2400" b="0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CN" sz="2400" b="0" i="1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CN" sz="2400" b="0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kern="1200" dirty="0">
                            <a:solidFill>
                              <a:srgbClr val="C00000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计算从节点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黑体" panose="02010609060101010101" charset="-122"/>
                                </a:rPr>
                                <m:t>𝑛</m:t>
                              </m:r>
                            </m:oMath>
                          </a14:m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到目标节点之间所形成路径的最小代价值。这里将两点之间的直线距离作为启发函数。</a:t>
                          </a:r>
                          <a:endParaRPr lang="zh-CN" altLang="en-US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2116433" y="1275581"/>
              <a:ext cx="7967758" cy="33674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0761"/>
                    <a:gridCol w="4986997"/>
                  </a:tblGrid>
                  <a:tr h="91366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辅助信息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所求解问题之外、与所求解问题相关的特定信息或知识</a:t>
                          </a:r>
                          <a:endParaRPr lang="zh-CN" altLang="en-US" sz="2400" b="0" dirty="0">
                            <a:solidFill>
                              <a:schemeClr val="tx1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评价函数</a:t>
                          </a:r>
                          <a:endParaRPr lang="en-US" altLang="zh-CN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(evaluation function)</a:t>
                          </a:r>
                          <a:b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sz="2400" b="0" i="1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f</a:t>
                          </a:r>
                          <a:r>
                            <a:rPr lang="en-US" altLang="zh-CN" sz="2400" b="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CN" sz="2400" b="0" i="1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CN" sz="2400" b="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dirty="0">
                            <a:solidFill>
                              <a:srgbClr val="C00000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  <a:tr h="1265555">
                    <a:tc>
                      <a:txBody>
                        <a:bodyPr/>
                        <a:lstStyle/>
                        <a:p>
                          <a:pPr marL="0" algn="l" defTabSz="685800" rtl="0" eaLnBrk="1" latinLnBrk="0" hangingPunct="1"/>
                          <a:r>
                            <a:rPr lang="zh-CN" altLang="en-US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启发函数</a:t>
                          </a:r>
                          <a:endParaRPr lang="en-US" altLang="zh-CN" sz="2400" b="0" dirty="0"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algn="l" defTabSz="685800" rtl="0" eaLnBrk="1" latinLnBrk="0" hangingPunct="1"/>
                          <a: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(heuristic</a:t>
                          </a:r>
                          <a:r>
                            <a:rPr lang="en-US" altLang="zh-CN" sz="2400" b="0" baseline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 function)</a:t>
                          </a:r>
                          <a:br>
                            <a:rPr lang="en-US" altLang="zh-CN" sz="2400" b="0" dirty="0"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sz="2400" b="0" i="1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altLang="zh-CN" sz="2400" b="0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CN" sz="2400" b="0" i="1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CN" sz="2400" b="0" kern="1200" dirty="0">
                              <a:solidFill>
                                <a:srgbClr val="C00000"/>
                              </a:solidFill>
                              <a:latin typeface="+mn-lt"/>
                              <a:ea typeface="黑体" panose="02010609060101010101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sz="2400" b="0" kern="1200" dirty="0">
                            <a:solidFill>
                              <a:srgbClr val="C00000"/>
                            </a:solidFill>
                            <a:latin typeface="+mn-lt"/>
                            <a:ea typeface="黑体" panose="020106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4" name="矩形 23"/>
          <p:cNvSpPr/>
          <p:nvPr/>
        </p:nvSpPr>
        <p:spPr>
          <a:xfrm>
            <a:off x="2112121" y="4772756"/>
            <a:ext cx="7967759" cy="1303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贪婪最佳优先搜索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Greedy best-first search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                          评价函数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启发函数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509839" y="1637469"/>
            <a:ext cx="7161212" cy="3416393"/>
          </a:xfrm>
          <a:prstGeom prst="rect">
            <a:avLst/>
          </a:prstGeom>
          <a:solidFill>
            <a:srgbClr val="D7F9FD"/>
          </a:solidFill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folHlink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+mn-lt"/>
                <a:ea typeface="+mn-ea"/>
              </a:defRPr>
            </a:lvl9pPr>
          </a:lstStyle>
          <a:p>
            <a:pPr marL="0" indent="355600" eaLnBrk="1" hangingPunct="1">
              <a:lnSpc>
                <a:spcPct val="130000"/>
              </a:lnSpc>
              <a:spcBef>
                <a:spcPts val="0"/>
              </a:spcBef>
              <a:buClr>
                <a:srgbClr val="C0504D"/>
              </a:buClr>
              <a:buFont typeface="Wingdings" panose="05000000000000000000" pitchFamily="2" charset="2"/>
              <a:buChar char="Ø"/>
            </a:pPr>
            <a:r>
              <a:rPr lang="zh-CN" altLang="en-US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评价函数的任务</a:t>
            </a:r>
            <a:r>
              <a:rPr lang="zh-CN" altLang="en-US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就是估计待搜索结点的“有希望”程度，并依次给它们排定次序（在</a:t>
            </a:r>
            <a:r>
              <a:rPr lang="en-US" altLang="zh-CN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表中）。</a:t>
            </a:r>
            <a:endParaRPr lang="en-US" altLang="zh-CN" noProof="1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marL="0" indent="355600" eaLnBrk="1" hangingPunct="1">
              <a:lnSpc>
                <a:spcPct val="130000"/>
              </a:lnSpc>
              <a:spcBef>
                <a:spcPts val="0"/>
              </a:spcBef>
              <a:buClr>
                <a:srgbClr val="C0504D"/>
              </a:buClr>
              <a:buFont typeface="Wingdings" panose="05000000000000000000" pitchFamily="2" charset="2"/>
              <a:buChar char="Ø"/>
            </a:pPr>
            <a:r>
              <a:rPr lang="zh-CN" altLang="en-US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评价函数</a:t>
            </a:r>
            <a:r>
              <a:rPr lang="en-US" altLang="zh-CN" i="1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f</a:t>
            </a:r>
            <a:r>
              <a:rPr lang="en-US" altLang="zh-CN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(</a:t>
            </a:r>
            <a:r>
              <a:rPr lang="en-US" altLang="zh-CN" i="1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n</a:t>
            </a:r>
            <a:r>
              <a:rPr lang="en-US" altLang="zh-CN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rPr>
              <a:t>)</a:t>
            </a:r>
            <a:r>
              <a:rPr lang="zh-CN" altLang="en-US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：从初始结点经过</a:t>
            </a:r>
            <a:r>
              <a:rPr lang="en-US" altLang="zh-CN" i="1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n</a:t>
            </a:r>
            <a:r>
              <a:rPr lang="zh-CN" altLang="en-US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结点到达目的结点的路径的最小代价估计值，其一般形式是</a:t>
            </a:r>
            <a:endParaRPr lang="zh-CN" altLang="en-US" noProof="1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sp>
        <p:nvSpPr>
          <p:cNvPr id="10" name="标注: 弯曲线形(带边框和强调线) 9"/>
          <p:cNvSpPr/>
          <p:nvPr/>
        </p:nvSpPr>
        <p:spPr>
          <a:xfrm>
            <a:off x="2509838" y="5105357"/>
            <a:ext cx="7161212" cy="1117509"/>
          </a:xfrm>
          <a:prstGeom prst="accentBorderCallout2">
            <a:avLst>
              <a:gd name="adj1" fmla="val 48564"/>
              <a:gd name="adj2" fmla="val -1544"/>
              <a:gd name="adj3" fmla="val 48565"/>
              <a:gd name="adj4" fmla="val -4989"/>
              <a:gd name="adj5" fmla="val -17906"/>
              <a:gd name="adj6" fmla="val 28763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rPr>
              <a:t>    的比重越大，越倾向于宽度优先搜索方式</a:t>
            </a:r>
            <a:endParaRPr lang="en-US" altLang="zh-CN" sz="2400" dirty="0">
              <a:solidFill>
                <a:srgbClr val="000066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charset="-122"/>
                <a:ea typeface="黑体" panose="02010609060101010101" charset="-122"/>
              </a:rPr>
              <a:t>的比重越大，表示启发性能越强。</a:t>
            </a:r>
            <a:endParaRPr lang="zh-CN" altLang="en-US" sz="2400" dirty="0">
              <a:solidFill>
                <a:srgbClr val="0000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3677526" y="4481760"/>
          <a:ext cx="3008196" cy="505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2" imgW="1193800" imgH="203200" progId="Equation.3">
                  <p:embed/>
                </p:oleObj>
              </mc:Choice>
              <mc:Fallback>
                <p:oleObj name="公式" r:id="rId2" imgW="11938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526" y="4481760"/>
                        <a:ext cx="3008196" cy="505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/>
          <p:cNvGraphicFramePr>
            <a:graphicFrameLocks noChangeAspect="1"/>
          </p:cNvGraphicFramePr>
          <p:nvPr/>
        </p:nvGraphicFramePr>
        <p:xfrm>
          <a:off x="2533029" y="5181554"/>
          <a:ext cx="769714" cy="476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4" imgW="266065" imgH="165100" progId="Equation.DSMT4">
                  <p:embed/>
                </p:oleObj>
              </mc:Choice>
              <mc:Fallback>
                <p:oleObj name="Equation" r:id="rId4" imgW="266065" imgH="165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029" y="5181554"/>
                        <a:ext cx="769714" cy="476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5"/>
          <p:cNvGraphicFramePr>
            <a:graphicFrameLocks noChangeAspect="1"/>
          </p:cNvGraphicFramePr>
          <p:nvPr/>
        </p:nvGraphicFramePr>
        <p:xfrm>
          <a:off x="2520652" y="5731794"/>
          <a:ext cx="732832" cy="476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6" imgW="254000" imgH="165100" progId="Equation.DSMT4">
                  <p:embed/>
                </p:oleObj>
              </mc:Choice>
              <mc:Fallback>
                <p:oleObj name="Equation" r:id="rId6" imgW="254000" imgH="1651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652" y="5731794"/>
                        <a:ext cx="732832" cy="476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895061" y="92017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启发信息和评价函数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uiExpand="1" build="p"/>
      <p:bldP spid="10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95061" y="920174"/>
            <a:ext cx="6255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评价函数</a:t>
            </a:r>
            <a:r>
              <a:rPr lang="en-US" altLang="zh-CN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——</a:t>
            </a:r>
            <a:r>
              <a:rPr lang="zh-CN" altLang="en-US" sz="360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评估节点重要性</a:t>
            </a:r>
            <a:endParaRPr lang="zh-CN" altLang="en-US" sz="360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73383" y="1746828"/>
            <a:ext cx="8309087" cy="4369051"/>
            <a:chOff x="682513" y="2133600"/>
            <a:chExt cx="8309087" cy="4191000"/>
          </a:xfrm>
        </p:grpSpPr>
        <p:sp>
          <p:nvSpPr>
            <p:cNvPr id="12" name="Oval 3"/>
            <p:cNvSpPr>
              <a:spLocks noChangeArrowheads="1"/>
            </p:cNvSpPr>
            <p:nvPr/>
          </p:nvSpPr>
          <p:spPr bwMode="auto">
            <a:xfrm>
              <a:off x="2819400" y="2209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S</a:t>
              </a:r>
              <a:endParaRPr lang="en-US" altLang="zh-CN" sz="2400" i="1" dirty="0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cxnSp>
          <p:nvCxnSpPr>
            <p:cNvPr id="13" name="AutoShape 4"/>
            <p:cNvCxnSpPr>
              <a:cxnSpLocks noChangeShapeType="1"/>
              <a:stCxn id="12" idx="3"/>
              <a:endCxn id="17" idx="7"/>
            </p:cNvCxnSpPr>
            <p:nvPr/>
          </p:nvCxnSpPr>
          <p:spPr bwMode="auto">
            <a:xfrm flipH="1">
              <a:off x="2306638" y="2535238"/>
              <a:ext cx="568325" cy="263525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1981200" y="2743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3581400" y="2743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cxnSp>
          <p:nvCxnSpPr>
            <p:cNvPr id="20" name="AutoShape 7"/>
            <p:cNvCxnSpPr>
              <a:cxnSpLocks noChangeShapeType="1"/>
              <a:stCxn id="12" idx="4"/>
              <a:endCxn id="21" idx="0"/>
            </p:cNvCxnSpPr>
            <p:nvPr/>
          </p:nvCxnSpPr>
          <p:spPr bwMode="auto">
            <a:xfrm>
              <a:off x="3009900" y="2590800"/>
              <a:ext cx="152400" cy="4572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2971800" y="3048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cxnSp>
          <p:nvCxnSpPr>
            <p:cNvPr id="22" name="AutoShape 9"/>
            <p:cNvCxnSpPr>
              <a:cxnSpLocks noChangeShapeType="1"/>
              <a:stCxn id="12" idx="5"/>
              <a:endCxn id="19" idx="1"/>
            </p:cNvCxnSpPr>
            <p:nvPr/>
          </p:nvCxnSpPr>
          <p:spPr bwMode="auto">
            <a:xfrm>
              <a:off x="3144838" y="2611438"/>
              <a:ext cx="492125" cy="263525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10"/>
            <p:cNvCxnSpPr>
              <a:cxnSpLocks noChangeShapeType="1"/>
              <a:stCxn id="21" idx="4"/>
              <a:endCxn id="24" idx="0"/>
            </p:cNvCxnSpPr>
            <p:nvPr/>
          </p:nvCxnSpPr>
          <p:spPr bwMode="auto">
            <a:xfrm>
              <a:off x="3162300" y="3429000"/>
              <a:ext cx="609600" cy="2286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Oval 11"/>
            <p:cNvSpPr>
              <a:spLocks noChangeArrowheads="1"/>
            </p:cNvSpPr>
            <p:nvPr/>
          </p:nvSpPr>
          <p:spPr bwMode="auto">
            <a:xfrm>
              <a:off x="3581400" y="3657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cxnSp>
          <p:nvCxnSpPr>
            <p:cNvPr id="25" name="AutoShape 12"/>
            <p:cNvCxnSpPr>
              <a:cxnSpLocks noChangeShapeType="1"/>
              <a:stCxn id="21" idx="4"/>
              <a:endCxn id="26" idx="0"/>
            </p:cNvCxnSpPr>
            <p:nvPr/>
          </p:nvCxnSpPr>
          <p:spPr bwMode="auto">
            <a:xfrm flipH="1">
              <a:off x="2552700" y="3429000"/>
              <a:ext cx="609600" cy="2286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Oval 13"/>
            <p:cNvSpPr>
              <a:spLocks noChangeArrowheads="1"/>
            </p:cNvSpPr>
            <p:nvPr/>
          </p:nvSpPr>
          <p:spPr bwMode="auto">
            <a:xfrm>
              <a:off x="2362200" y="3657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cxnSp>
          <p:nvCxnSpPr>
            <p:cNvPr id="27" name="AutoShape 14"/>
            <p:cNvCxnSpPr>
              <a:cxnSpLocks noChangeShapeType="1"/>
              <a:stCxn id="26" idx="4"/>
              <a:endCxn id="30" idx="0"/>
            </p:cNvCxnSpPr>
            <p:nvPr/>
          </p:nvCxnSpPr>
          <p:spPr bwMode="auto">
            <a:xfrm>
              <a:off x="2552700" y="4038600"/>
              <a:ext cx="457200" cy="3810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16"/>
            <p:cNvCxnSpPr>
              <a:cxnSpLocks noChangeShapeType="1"/>
              <a:stCxn id="26" idx="4"/>
              <a:endCxn id="29" idx="0"/>
            </p:cNvCxnSpPr>
            <p:nvPr/>
          </p:nvCxnSpPr>
          <p:spPr bwMode="auto">
            <a:xfrm flipH="1">
              <a:off x="1866900" y="4038600"/>
              <a:ext cx="685800" cy="304800"/>
            </a:xfrm>
            <a:prstGeom prst="straightConnector1">
              <a:avLst/>
            </a:prstGeom>
            <a:noFill/>
            <a:ln w="508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Oval 17"/>
            <p:cNvSpPr>
              <a:spLocks noChangeArrowheads="1"/>
            </p:cNvSpPr>
            <p:nvPr/>
          </p:nvSpPr>
          <p:spPr bwMode="auto">
            <a:xfrm>
              <a:off x="1676400" y="4343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0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30" name="Oval 19"/>
            <p:cNvSpPr>
              <a:spLocks noChangeArrowheads="1"/>
            </p:cNvSpPr>
            <p:nvPr/>
          </p:nvSpPr>
          <p:spPr bwMode="auto">
            <a:xfrm>
              <a:off x="2819400" y="4419600"/>
              <a:ext cx="381000" cy="381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endParaRPr lang="en-US" altLang="zh-CN" sz="2400" i="1" dirty="0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grpSp>
          <p:nvGrpSpPr>
            <p:cNvPr id="31" name="Group 27"/>
            <p:cNvGrpSpPr/>
            <p:nvPr/>
          </p:nvGrpSpPr>
          <p:grpSpPr bwMode="auto">
            <a:xfrm rot="14535917" flipH="1">
              <a:off x="2895600" y="5029200"/>
              <a:ext cx="381000" cy="76200"/>
              <a:chOff x="1152" y="2976"/>
              <a:chExt cx="432" cy="48"/>
            </a:xfrm>
          </p:grpSpPr>
          <p:sp>
            <p:nvSpPr>
              <p:cNvPr id="32" name="Oval 28"/>
              <p:cNvSpPr>
                <a:spLocks noChangeArrowheads="1"/>
              </p:cNvSpPr>
              <p:nvPr/>
            </p:nvSpPr>
            <p:spPr bwMode="auto">
              <a:xfrm>
                <a:off x="1152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33" name="Oval 29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1536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p:grpSp>
        <p:sp>
          <p:nvSpPr>
            <p:cNvPr id="35" name="Oval 31"/>
            <p:cNvSpPr>
              <a:spLocks noChangeArrowheads="1"/>
            </p:cNvSpPr>
            <p:nvPr/>
          </p:nvSpPr>
          <p:spPr bwMode="auto">
            <a:xfrm>
              <a:off x="3124200" y="5334000"/>
              <a:ext cx="533400" cy="457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en-US" altLang="zh-CN" sz="2400" i="1" baseline="-250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</a:rPr>
                <a:t>g</a:t>
              </a:r>
              <a:endParaRPr lang="en-US" altLang="zh-CN" sz="2400" i="1" baseline="-25000" dirty="0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grpSp>
          <p:nvGrpSpPr>
            <p:cNvPr id="36" name="Group 33"/>
            <p:cNvGrpSpPr/>
            <p:nvPr/>
          </p:nvGrpSpPr>
          <p:grpSpPr bwMode="auto">
            <a:xfrm rot="13693743" flipH="1">
              <a:off x="3886200" y="4114800"/>
              <a:ext cx="381000" cy="76200"/>
              <a:chOff x="1152" y="2976"/>
              <a:chExt cx="432" cy="48"/>
            </a:xfrm>
          </p:grpSpPr>
          <p:sp>
            <p:nvSpPr>
              <p:cNvPr id="37" name="Oval 34"/>
              <p:cNvSpPr>
                <a:spLocks noChangeArrowheads="1"/>
              </p:cNvSpPr>
              <p:nvPr/>
            </p:nvSpPr>
            <p:spPr bwMode="auto">
              <a:xfrm>
                <a:off x="1152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38" name="Oval 35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39" name="Oval 36"/>
              <p:cNvSpPr>
                <a:spLocks noChangeArrowheads="1"/>
              </p:cNvSpPr>
              <p:nvPr/>
            </p:nvSpPr>
            <p:spPr bwMode="auto">
              <a:xfrm>
                <a:off x="1536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p:grpSp>
        <p:grpSp>
          <p:nvGrpSpPr>
            <p:cNvPr id="40" name="Group 37"/>
            <p:cNvGrpSpPr/>
            <p:nvPr/>
          </p:nvGrpSpPr>
          <p:grpSpPr bwMode="auto">
            <a:xfrm rot="17377115" flipH="1">
              <a:off x="1447800" y="4876800"/>
              <a:ext cx="381000" cy="76200"/>
              <a:chOff x="1152" y="2976"/>
              <a:chExt cx="432" cy="48"/>
            </a:xfrm>
          </p:grpSpPr>
          <p:sp>
            <p:nvSpPr>
              <p:cNvPr id="41" name="Oval 38"/>
              <p:cNvSpPr>
                <a:spLocks noChangeArrowheads="1"/>
              </p:cNvSpPr>
              <p:nvPr/>
            </p:nvSpPr>
            <p:spPr bwMode="auto">
              <a:xfrm>
                <a:off x="1152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42" name="Oval 39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43" name="Oval 40"/>
              <p:cNvSpPr>
                <a:spLocks noChangeArrowheads="1"/>
              </p:cNvSpPr>
              <p:nvPr/>
            </p:nvSpPr>
            <p:spPr bwMode="auto">
              <a:xfrm>
                <a:off x="1536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p:grpSp>
        <p:sp>
          <p:nvSpPr>
            <p:cNvPr id="44" name="AutoShape 41"/>
            <p:cNvSpPr/>
            <p:nvPr/>
          </p:nvSpPr>
          <p:spPr bwMode="auto">
            <a:xfrm>
              <a:off x="4264025" y="5791200"/>
              <a:ext cx="2481332" cy="533400"/>
            </a:xfrm>
            <a:prstGeom prst="borderCallout1">
              <a:avLst>
                <a:gd name="adj1" fmla="val 21431"/>
                <a:gd name="adj2" fmla="val -3569"/>
                <a:gd name="adj3" fmla="val -13690"/>
                <a:gd name="adj4" fmla="val -2625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4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/>
                  <a:ea typeface="黑体" panose="02010609060101010101" charset="-122"/>
                </a:rPr>
                <a:t>目标状态节点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Symbol" panose="05050102010706020507" pitchFamily="18" charset="2"/>
                </a:rPr>
                <a:t>n</a:t>
              </a:r>
              <a:r>
                <a:rPr lang="en-US" altLang="zh-CN" sz="2400" i="1" baseline="-250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Symbol" panose="05050102010706020507" pitchFamily="18" charset="2"/>
                </a:rPr>
                <a:t>g</a:t>
              </a:r>
              <a:endParaRPr lang="en-US" altLang="zh-CN" sz="2400" i="1" baseline="-25000" dirty="0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p:sp>
          <p:nvSpPr>
            <p:cNvPr id="45" name="AutoShape 42"/>
            <p:cNvSpPr/>
            <p:nvPr/>
          </p:nvSpPr>
          <p:spPr bwMode="auto">
            <a:xfrm>
              <a:off x="4006849" y="2133600"/>
              <a:ext cx="2390775" cy="533400"/>
            </a:xfrm>
            <a:prstGeom prst="borderCallout1">
              <a:avLst>
                <a:gd name="adj1" fmla="val 60238"/>
                <a:gd name="adj2" fmla="val -2916"/>
                <a:gd name="adj3" fmla="val 43452"/>
                <a:gd name="adj4" fmla="val -29551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4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/>
                  <a:ea typeface="黑体" panose="02010609060101010101" charset="-122"/>
                </a:rPr>
                <a:t>初始状态节点</a:t>
              </a:r>
              <a:r>
                <a:rPr lang="en-US" altLang="zh-CN" sz="24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/>
                  <a:ea typeface="黑体" panose="02010609060101010101" charset="-122"/>
                </a:rPr>
                <a:t>S</a:t>
              </a:r>
              <a:endParaRPr lang="en-US" altLang="zh-CN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46" name="AutoShape 43"/>
            <p:cNvSpPr/>
            <p:nvPr/>
          </p:nvSpPr>
          <p:spPr bwMode="auto">
            <a:xfrm>
              <a:off x="4267200" y="4876800"/>
              <a:ext cx="1576388" cy="533400"/>
            </a:xfrm>
            <a:prstGeom prst="borderCallout1">
              <a:avLst>
                <a:gd name="adj1" fmla="val 21431"/>
                <a:gd name="adj2" fmla="val -3569"/>
                <a:gd name="adj3" fmla="val -45714"/>
                <a:gd name="adj4" fmla="val -6261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4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/>
                  <a:ea typeface="黑体" panose="02010609060101010101" charset="-122"/>
                </a:rPr>
                <a:t>节点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endParaRPr lang="en-US" altLang="zh-CN" sz="2400" i="1" baseline="-25000" dirty="0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p:sp>
          <p:nvSpPr>
            <p:cNvPr id="47" name="AutoShape 44"/>
            <p:cNvSpPr/>
            <p:nvPr/>
          </p:nvSpPr>
          <p:spPr bwMode="auto">
            <a:xfrm>
              <a:off x="682513" y="3048000"/>
              <a:ext cx="685800" cy="1516063"/>
            </a:xfrm>
            <a:prstGeom prst="borderCallout1">
              <a:avLst>
                <a:gd name="adj1" fmla="val 25000"/>
                <a:gd name="adj2" fmla="val 103704"/>
                <a:gd name="adj3" fmla="val 12162"/>
                <a:gd name="adj4" fmla="val 16037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搜索图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algn="ctr"/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</a:rPr>
                <a:t>G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5476461" y="2798763"/>
              <a:ext cx="2196548" cy="50170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FF3300"/>
                  </a:solidFill>
                  <a:latin typeface="Times New Roman" panose="02020603050405020304"/>
                  <a:ea typeface="黑体" panose="02010609060101010101" charset="-122"/>
                </a:rPr>
                <a:t>f</a:t>
              </a: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/>
                  <a:ea typeface="黑体" panose="02010609060101010101" charset="-122"/>
                </a:rPr>
                <a:t>(</a:t>
              </a:r>
              <a:r>
                <a:rPr lang="en-US" altLang="zh-CN" sz="2800" i="1" dirty="0">
                  <a:solidFill>
                    <a:srgbClr val="FF33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/>
                  <a:ea typeface="黑体" panose="02010609060101010101" charset="-122"/>
                </a:rPr>
                <a:t>)=</a:t>
              </a:r>
              <a:r>
                <a:rPr lang="en-US" altLang="zh-CN" sz="2000" i="1" dirty="0">
                  <a:solidFill>
                    <a:srgbClr val="0000FF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g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(</a:t>
              </a:r>
              <a:r>
                <a:rPr lang="en-US" altLang="zh-CN" sz="2000" i="1" dirty="0">
                  <a:solidFill>
                    <a:srgbClr val="0000FF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n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)+</a:t>
              </a:r>
              <a:r>
                <a:rPr lang="en-US" altLang="zh-CN" sz="2000" i="1" dirty="0">
                  <a:solidFill>
                    <a:srgbClr val="C0504D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h</a:t>
              </a:r>
              <a:r>
                <a:rPr lang="en-US" altLang="zh-CN" sz="2000" dirty="0">
                  <a:solidFill>
                    <a:srgbClr val="C0504D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(</a:t>
              </a:r>
              <a:r>
                <a:rPr lang="en-US" altLang="zh-CN" sz="2000" i="1" dirty="0">
                  <a:solidFill>
                    <a:srgbClr val="C0504D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n</a:t>
              </a:r>
              <a:r>
                <a:rPr lang="en-US" altLang="zh-CN" sz="2000" dirty="0">
                  <a:solidFill>
                    <a:srgbClr val="C0504D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)</a:t>
              </a:r>
              <a:endParaRPr lang="en-US" altLang="zh-CN" sz="2000" dirty="0">
                <a:solidFill>
                  <a:srgbClr val="C0504D"/>
                </a:solidFill>
                <a:latin typeface="Times New Roman" panose="02020603050405020304"/>
                <a:ea typeface="黑体" panose="02010609060101010101" charset="-122"/>
                <a:sym typeface="宋体" panose="02010600030101010101" pitchFamily="2" charset="-122"/>
              </a:endParaRPr>
            </a:p>
          </p:txBody>
        </p:sp>
        <p:grpSp>
          <p:nvGrpSpPr>
            <p:cNvPr id="51" name="Group 50"/>
            <p:cNvGrpSpPr/>
            <p:nvPr/>
          </p:nvGrpSpPr>
          <p:grpSpPr bwMode="auto">
            <a:xfrm rot="14535917" flipH="1">
              <a:off x="2895600" y="5029200"/>
              <a:ext cx="381000" cy="76200"/>
              <a:chOff x="1152" y="2976"/>
              <a:chExt cx="432" cy="48"/>
            </a:xfrm>
          </p:grpSpPr>
          <p:sp>
            <p:nvSpPr>
              <p:cNvPr id="52" name="Oval 51"/>
              <p:cNvSpPr>
                <a:spLocks noChangeArrowheads="1"/>
              </p:cNvSpPr>
              <p:nvPr/>
            </p:nvSpPr>
            <p:spPr bwMode="auto">
              <a:xfrm>
                <a:off x="1152" y="297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53" name="Oval 52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  <p:sp>
            <p:nvSpPr>
              <p:cNvPr id="54" name="Oval 53"/>
              <p:cNvSpPr>
                <a:spLocks noChangeArrowheads="1"/>
              </p:cNvSpPr>
              <p:nvPr/>
            </p:nvSpPr>
            <p:spPr bwMode="auto">
              <a:xfrm>
                <a:off x="1536" y="2976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2847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7419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1991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656330" indent="1905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0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p:grpSp>
        <p:sp>
          <p:nvSpPr>
            <p:cNvPr id="56" name="AutoShape 43"/>
            <p:cNvSpPr/>
            <p:nvPr/>
          </p:nvSpPr>
          <p:spPr bwMode="auto">
            <a:xfrm>
              <a:off x="4465983" y="3638550"/>
              <a:ext cx="2493617" cy="533400"/>
            </a:xfrm>
            <a:prstGeom prst="borderCallout1">
              <a:avLst>
                <a:gd name="adj1" fmla="val -9523"/>
                <a:gd name="adj2" fmla="val 25027"/>
                <a:gd name="adj3" fmla="val -50714"/>
                <a:gd name="adj4" fmla="val 7164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 sz="2400" noProof="1">
                  <a:solidFill>
                    <a:srgbClr val="0000FF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实际路径代价</a:t>
              </a:r>
              <a:r>
                <a:rPr lang="en-US" altLang="zh-CN" sz="2400" i="1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s</a:t>
              </a:r>
              <a:r>
                <a:rPr lang="en-US" altLang="zh-CN" sz="2400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-</a:t>
              </a:r>
              <a:r>
                <a:rPr lang="en-US" altLang="zh-CN" sz="2400" i="1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n</a:t>
              </a:r>
              <a:r>
                <a:rPr lang="zh-CN" altLang="en-US" sz="2400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 </a:t>
              </a:r>
              <a:endParaRPr lang="zh-CN" altLang="en-US" sz="2400" noProof="1">
                <a:solidFill>
                  <a:srgbClr val="FF0000"/>
                </a:solidFill>
                <a:latin typeface="Times New Roman" panose="02020603050405020304"/>
                <a:ea typeface="黑体" panose="02010609060101010101" charset="-122"/>
                <a:sym typeface="+mn-ea"/>
              </a:endParaRPr>
            </a:p>
            <a:p>
              <a:pPr algn="ctr">
                <a:defRPr/>
              </a:pPr>
              <a:endParaRPr lang="en-US" altLang="zh-CN" sz="24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p:sp>
          <p:nvSpPr>
            <p:cNvPr id="57" name="AutoShape 43"/>
            <p:cNvSpPr/>
            <p:nvPr/>
          </p:nvSpPr>
          <p:spPr bwMode="auto">
            <a:xfrm>
              <a:off x="5764696" y="4267200"/>
              <a:ext cx="3226904" cy="533400"/>
            </a:xfrm>
            <a:prstGeom prst="borderCallout1">
              <a:avLst>
                <a:gd name="adj1" fmla="val -6904"/>
                <a:gd name="adj2" fmla="val 60578"/>
                <a:gd name="adj3" fmla="val -167023"/>
                <a:gd name="adj4" fmla="val 36116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400" noProof="1">
                  <a:solidFill>
                    <a:srgbClr val="0070C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估计最小路径代价</a:t>
              </a:r>
              <a:r>
                <a:rPr lang="en-US" altLang="zh-CN" sz="2400" i="1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n</a:t>
              </a:r>
              <a:r>
                <a:rPr lang="en-US" altLang="zh-CN" sz="2400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-</a:t>
              </a:r>
              <a:r>
                <a:rPr lang="en-US" altLang="zh-CN" sz="2400" i="1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n</a:t>
              </a:r>
              <a:r>
                <a:rPr lang="en-US" altLang="zh-CN" sz="2400" i="1" baseline="-25000" noProof="1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cs typeface="+mn-ea"/>
                  <a:sym typeface="+mn-ea"/>
                </a:rPr>
                <a:t>g</a:t>
              </a:r>
              <a:endParaRPr lang="en-US" altLang="zh-CN" sz="2400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/>
                <a:ea typeface="黑体" panose="02010609060101010101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 bwMode="auto">
          <a:xfrm>
            <a:off x="6271847" y="1317414"/>
            <a:ext cx="3826412" cy="2150378"/>
          </a:xfrm>
          <a:prstGeom prst="roundRect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905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tIns="0" bIns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辅助信息</a:t>
            </a:r>
            <a:r>
              <a:rPr lang="en-US" altLang="zh-CN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启发函数</a:t>
            </a:r>
            <a:r>
              <a:rPr lang="en-US" altLang="zh-CN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：</a:t>
            </a:r>
            <a:endParaRPr lang="en-US" altLang="zh-CN" sz="2800" dirty="0">
              <a:gradFill flip="none" rotWithShape="1">
                <a:gsLst>
                  <a:gs pos="0">
                    <a:prstClr val="black">
                      <a:shade val="30000"/>
                      <a:satMod val="115000"/>
                    </a:prstClr>
                  </a:gs>
                  <a:gs pos="50000">
                    <a:prstClr val="black">
                      <a:shade val="67500"/>
                      <a:satMod val="115000"/>
                    </a:prstClr>
                  </a:gs>
                  <a:gs pos="100000">
                    <a:prstClr val="black">
                      <a:shade val="100000"/>
                      <a:satMod val="115000"/>
                    </a:prstClr>
                  </a:gs>
                </a:gsLst>
                <a:lin ang="16200000" scaled="1"/>
                <a:tileRect/>
              </a:gradFill>
              <a:latin typeface="Times New Roman" panose="02020603050405020304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任意一个城市与终点</a:t>
            </a:r>
            <a:endParaRPr lang="en-US" altLang="zh-CN" sz="2800" dirty="0">
              <a:gradFill flip="none" rotWithShape="1">
                <a:gsLst>
                  <a:gs pos="0">
                    <a:prstClr val="black">
                      <a:shade val="30000"/>
                      <a:satMod val="115000"/>
                    </a:prstClr>
                  </a:gs>
                  <a:gs pos="50000">
                    <a:prstClr val="black">
                      <a:shade val="67500"/>
                      <a:satMod val="115000"/>
                    </a:prstClr>
                  </a:gs>
                  <a:gs pos="100000">
                    <a:prstClr val="black">
                      <a:shade val="100000"/>
                      <a:satMod val="115000"/>
                    </a:prstClr>
                  </a:gs>
                </a:gsLst>
                <a:lin ang="16200000" scaled="1"/>
                <a:tileRect/>
              </a:gradFill>
              <a:latin typeface="Times New Roman" panose="02020603050405020304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城市</a:t>
            </a:r>
            <a:r>
              <a:rPr lang="en-US" altLang="zh-CN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K</a:t>
            </a:r>
            <a:r>
              <a:rPr lang="zh-CN" altLang="en-US" sz="2800" dirty="0">
                <a:gradFill flip="none" rotWithShape="1">
                  <a:gsLst>
                    <a:gs pos="0">
                      <a:prstClr val="black">
                        <a:shade val="30000"/>
                        <a:satMod val="115000"/>
                      </a:prstClr>
                    </a:gs>
                    <a:gs pos="50000">
                      <a:prstClr val="black">
                        <a:shade val="67500"/>
                        <a:satMod val="115000"/>
                      </a:prstClr>
                    </a:gs>
                    <a:gs pos="100000">
                      <a:prstClr val="black"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Times New Roman" panose="02020603050405020304"/>
                <a:ea typeface="微软雅黑" panose="020B0503020204020204" pitchFamily="34" charset="-122"/>
              </a:rPr>
              <a:t>之间的直线距离</a:t>
            </a:r>
            <a:endParaRPr lang="zh-CN" altLang="en-US" sz="2800" dirty="0">
              <a:gradFill flip="none" rotWithShape="1">
                <a:gsLst>
                  <a:gs pos="0">
                    <a:prstClr val="black">
                      <a:shade val="30000"/>
                      <a:satMod val="115000"/>
                    </a:prstClr>
                  </a:gs>
                  <a:gs pos="50000">
                    <a:prstClr val="black">
                      <a:shade val="67500"/>
                      <a:satMod val="115000"/>
                    </a:prstClr>
                  </a:gs>
                  <a:gs pos="100000">
                    <a:prstClr val="black">
                      <a:shade val="100000"/>
                      <a:satMod val="115000"/>
                    </a:prstClr>
                  </a:gs>
                </a:gsLst>
                <a:lin ang="16200000" scaled="1"/>
                <a:tileRect/>
              </a:gra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79424" y="1317415"/>
            <a:ext cx="4392422" cy="2981375"/>
            <a:chOff x="45934" y="3784304"/>
            <a:chExt cx="4271281" cy="2564424"/>
          </a:xfrm>
        </p:grpSpPr>
        <p:grpSp>
          <p:nvGrpSpPr>
            <p:cNvPr id="13" name="组合 12"/>
            <p:cNvGrpSpPr/>
            <p:nvPr/>
          </p:nvGrpSpPr>
          <p:grpSpPr>
            <a:xfrm>
              <a:off x="45934" y="3784304"/>
              <a:ext cx="4271281" cy="2564424"/>
              <a:chOff x="135465" y="2994962"/>
              <a:chExt cx="4271281" cy="2564424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35465" y="4844606"/>
                <a:ext cx="4271281" cy="714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问题：寻找从城市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到城市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之间行驶时间最短路线？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9" name="Picture 2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9147" y="2994962"/>
                <a:ext cx="3009001" cy="1849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2" name="椭圆 21"/>
            <p:cNvSpPr/>
            <p:nvPr/>
          </p:nvSpPr>
          <p:spPr>
            <a:xfrm>
              <a:off x="1017571" y="4133223"/>
              <a:ext cx="583894" cy="423398"/>
            </a:xfrm>
            <a:prstGeom prst="ellipse">
              <a:avLst/>
            </a:prstGeom>
            <a:solidFill>
              <a:srgbClr val="FFC000">
                <a:alpha val="2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2504848" y="4944754"/>
              <a:ext cx="583894" cy="423398"/>
            </a:xfrm>
            <a:prstGeom prst="ellipse">
              <a:avLst/>
            </a:prstGeom>
            <a:solidFill>
              <a:srgbClr val="FFC000">
                <a:alpha val="21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</p:grpSp>
      <p:sp>
        <p:nvSpPr>
          <p:cNvPr id="14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960099" y="4433902"/>
          <a:ext cx="8454680" cy="873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  <a:gridCol w="650360"/>
              </a:tblGrid>
              <a:tr h="4365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lt"/>
                        </a:rPr>
                        <a:t>状态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A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B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C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D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E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F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G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H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I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J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K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L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  <a:tr h="4365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h(n)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13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10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6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12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7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8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5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3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6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3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0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6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3406445" y="5377814"/>
            <a:ext cx="5379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每个状态（城市）所对应启发函数取值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2005748" y="991385"/>
            <a:ext cx="6622441" cy="3796268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8774709" y="2806721"/>
            <a:ext cx="431896" cy="351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128911" y="4815790"/>
                <a:ext cx="7322234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charset="-122"/>
                  </a:rPr>
                  <a:t>算法找到了一条从起始节点到终点节点的路径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A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E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H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J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K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charset="-122"/>
                  </a:rPr>
                  <a:t>，但这条路径并不是最短路径，实际上最短路径为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A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E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G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K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charset="-122"/>
                  </a:rPr>
                  <a:t>。</a:t>
                </a:r>
                <a:endParaRPr lang="zh-CN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911" y="4815790"/>
                <a:ext cx="7322234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5" t="-49" r="6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搜索算法：启发式搜索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有信息搜索</a:t>
            </a:r>
            <a:r>
              <a:rPr lang="en-US" altLang="zh-CN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/>
        </p:nvSpPr>
        <p:spPr bwMode="auto">
          <a:xfrm>
            <a:off x="2032759" y="1060456"/>
            <a:ext cx="8072024" cy="2368544"/>
          </a:xfrm>
          <a:prstGeom prst="rect">
            <a:avLst/>
          </a:prstGeom>
          <a:solidFill>
            <a:srgbClr val="D7F9FD"/>
          </a:solidFill>
          <a:ln>
            <a:noFill/>
          </a:ln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buClr>
                <a:srgbClr val="C0504D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启发式图搜索的关键：</a:t>
            </a:r>
            <a:r>
              <a:rPr lang="zh-CN" altLang="en-US" sz="280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寻找并设计一个与问题有关的    并构造出              ，以    </a:t>
            </a:r>
            <a:endParaRPr lang="en-US" altLang="zh-CN" sz="280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just">
              <a:lnSpc>
                <a:spcPct val="130000"/>
              </a:lnSpc>
              <a:buClr>
                <a:srgbClr val="C0504D"/>
              </a:buClr>
            </a:pPr>
            <a:r>
              <a:rPr lang="zh-CN" altLang="en-US" sz="280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   的大小来排列待扩展状态的次序，选择    值 </a:t>
            </a:r>
            <a:endParaRPr lang="en-US" altLang="zh-CN" sz="280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just">
              <a:lnSpc>
                <a:spcPct val="130000"/>
              </a:lnSpc>
              <a:buClr>
                <a:srgbClr val="C0504D"/>
              </a:buClr>
            </a:pPr>
            <a:r>
              <a:rPr lang="en-US" altLang="zh-CN" sz="280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zh-CN" altLang="en-US" sz="2800" dirty="0">
                <a:solidFill>
                  <a:prstClr val="black"/>
                </a:solidFill>
                <a:latin typeface="黑体" panose="02010609060101010101" charset="-122"/>
                <a:ea typeface="黑体" panose="02010609060101010101" charset="-122"/>
              </a:rPr>
              <a:t>最小者扩展。</a:t>
            </a:r>
            <a:endParaRPr lang="zh-CN" altLang="en-US" sz="2800" dirty="0">
              <a:solidFill>
                <a:prstClr val="black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Text Box 14"/>
          <p:cNvSpPr txBox="1"/>
          <p:nvPr/>
        </p:nvSpPr>
        <p:spPr>
          <a:xfrm>
            <a:off x="2032759" y="3429000"/>
            <a:ext cx="8072024" cy="28136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30000"/>
              </a:lnSpc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Open</a:t>
            </a:r>
            <a:r>
              <a:rPr lang="zh-CN" altLang="en-US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表：</a:t>
            </a:r>
            <a:r>
              <a:rPr lang="zh-CN" altLang="en-US" sz="2800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保留所有已生成而未扩展的状态。</a:t>
            </a:r>
            <a:endParaRPr lang="zh-CN" altLang="en-US" sz="2800" noProof="1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marL="457200" indent="-457200" algn="just">
              <a:lnSpc>
                <a:spcPct val="130000"/>
              </a:lnSpc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Closed</a:t>
            </a:r>
            <a:r>
              <a:rPr lang="zh-CN" altLang="en-US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表：</a:t>
            </a:r>
            <a:r>
              <a:rPr lang="zh-CN" altLang="en-US" sz="2800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记录已扩展过的状态。</a:t>
            </a:r>
            <a:endParaRPr lang="zh-CN" altLang="en-US" sz="2800" noProof="1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marL="457200" indent="-457200" algn="just">
              <a:lnSpc>
                <a:spcPct val="130000"/>
              </a:lnSpc>
              <a:buClr>
                <a:srgbClr val="C0504D"/>
              </a:buClr>
              <a:buFont typeface="Wingdings" panose="05000000000000000000" charset="0"/>
              <a:buChar char="ü"/>
            </a:pPr>
            <a:r>
              <a:rPr lang="zh-CN" altLang="en-US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进入</a:t>
            </a: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Open</a:t>
            </a:r>
            <a:r>
              <a:rPr lang="zh-CN" altLang="en-US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表的状态</a:t>
            </a: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:</a:t>
            </a:r>
            <a:r>
              <a:rPr lang="zh-CN" altLang="en-US" sz="2800" noProof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+mn-ea"/>
              </a:rPr>
              <a:t>根据其估值的大小插入到表中合适的位置，每次从表中优先取出启发估价函数值最小的状态加以扩展。 </a:t>
            </a:r>
            <a:endParaRPr lang="zh-CN" altLang="en-US" sz="2800" noProof="1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3703075" y="1726207"/>
          <a:ext cx="699994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317500" imgH="203200" progId="Equation.3">
                  <p:embed/>
                </p:oleObj>
              </mc:Choice>
              <mc:Fallback>
                <p:oleObj name="" r:id="rId1" imgW="3175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075" y="1726207"/>
                        <a:ext cx="699994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5781035" y="1749573"/>
          <a:ext cx="2514534" cy="432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167765" imgH="203200" progId="Equation.3">
                  <p:embed/>
                </p:oleObj>
              </mc:Choice>
              <mc:Fallback>
                <p:oleObj name="" r:id="rId3" imgW="1167765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035" y="1749573"/>
                        <a:ext cx="2514534" cy="432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8703743" y="2294421"/>
          <a:ext cx="719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342900" imgH="203200" progId="Equation.3">
                  <p:embed/>
                </p:oleObj>
              </mc:Choice>
              <mc:Fallback>
                <p:oleObj name="" r:id="rId5" imgW="3429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743" y="2294421"/>
                        <a:ext cx="7191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/>
        </p:nvGraphicFramePr>
        <p:xfrm>
          <a:off x="9063312" y="1777777"/>
          <a:ext cx="719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342900" imgH="203200" progId="Equation.3">
                  <p:embed/>
                </p:oleObj>
              </mc:Choice>
              <mc:Fallback>
                <p:oleObj name="" r:id="rId7" imgW="3429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3312" y="1777777"/>
                        <a:ext cx="7191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73965" y="926413"/>
            <a:ext cx="8156713" cy="571233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procedure </a:t>
            </a:r>
            <a:r>
              <a:rPr lang="en-US" altLang="zh-CN" sz="2200" dirty="0" err="1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heuristic_search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：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=[start]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：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=[ ]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f(s)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：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=g(s)+h(s)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	*初始化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while open≠[ ] do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begin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从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表中删除第一个状态，称之为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if n=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目的状态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then return(success)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生成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的所有子状态；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if 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没有任何子状态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then continue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for 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的每个子状态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do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case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子状态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is not already on 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or 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  begin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计算该子状态的估价函数值；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将该子状态加到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 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end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 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11017" y="1038314"/>
            <a:ext cx="8001000" cy="525028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case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子状态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is already on 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表：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if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该子状态是沿着一条比在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表已有的更短路径而到达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then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记录更短路径走向及其估价函数值；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case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子状态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is already on 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表：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if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该子状态是沿着一条比在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表已有的更短路径而到达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then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begin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将该子状态从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表移到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记录更短路径走向及其估价函数值；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end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case end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72585" y="1193179"/>
            <a:ext cx="7250319" cy="2570704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将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放入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closed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根据估价函数值，从小到大重新排列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end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			*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open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表中结点已耗尽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return(failure)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；</a:t>
            </a:r>
            <a:endParaRPr lang="zh-CN" altLang="en-US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end.</a:t>
            </a:r>
            <a:endParaRPr lang="en-US" altLang="zh-CN" sz="22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18898" y="1093789"/>
            <a:ext cx="7866615" cy="36215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例题：利用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A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搜索算法求解八数码问题的搜索树，其估价函数定义为</a:t>
            </a:r>
            <a:endParaRPr lang="en-US" altLang="zh-CN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  <a:buClr>
                <a:srgbClr val="0000FF"/>
              </a:buClr>
            </a:pPr>
            <a:r>
              <a:rPr lang="en-US" altLang="zh-CN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 </a:t>
            </a:r>
            <a:endParaRPr lang="en-US" altLang="zh-CN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  <a:buClr>
                <a:srgbClr val="0000FF"/>
              </a:buClr>
            </a:pPr>
            <a:r>
              <a:rPr lang="en-US" altLang="zh-CN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   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：状态的深度，每步为单位代价。</a:t>
            </a:r>
            <a:endParaRPr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  <a:p>
            <a:pPr algn="just">
              <a:lnSpc>
                <a:spcPct val="140000"/>
              </a:lnSpc>
              <a:buClr>
                <a:srgbClr val="0000FF"/>
              </a:buClr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           ：以“不在位”的将牌数作为启发信息的度量。</a:t>
            </a:r>
            <a:endParaRPr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2542925" y="3037649"/>
          <a:ext cx="682316" cy="44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公式" r:id="rId1" imgW="330200" imgH="203200" progId="Equation.3">
                  <p:embed/>
                </p:oleObj>
              </mc:Choice>
              <mc:Fallback>
                <p:oleObj name="公式" r:id="rId1" imgW="330200" imgH="203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925" y="3037649"/>
                        <a:ext cx="682316" cy="44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11144" y="2370543"/>
          <a:ext cx="2813427" cy="48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218565" imgH="203200" progId="Equation.DSMT4">
                  <p:embed/>
                </p:oleObj>
              </mc:Choice>
              <mc:Fallback>
                <p:oleObj name="" r:id="rId3" imgW="1218565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144" y="2370543"/>
                        <a:ext cx="2813427" cy="48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2519428" y="3602003"/>
          <a:ext cx="749947" cy="486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330200" imgH="203200" progId="Equation.3">
                  <p:embed/>
                </p:oleObj>
              </mc:Choice>
              <mc:Fallback>
                <p:oleObj name="公式" r:id="rId5" imgW="330200" imgH="203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428" y="3602003"/>
                        <a:ext cx="749947" cy="486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" r="10909"/>
          <a:stretch>
            <a:fillRect/>
          </a:stretch>
        </p:blipFill>
        <p:spPr bwMode="auto">
          <a:xfrm>
            <a:off x="2133492" y="887896"/>
            <a:ext cx="8077200" cy="5638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37716" y="870836"/>
            <a:ext cx="8642350" cy="5400675"/>
          </a:xfrm>
          <a:prstGeom prst="rect">
            <a:avLst/>
          </a:prstGeom>
        </p:spPr>
        <p:txBody>
          <a:bodyPr/>
          <a:lstStyle>
            <a:lvl1pPr marL="341630" indent="-341630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3200">
                <a:solidFill>
                  <a:srgbClr val="284C6A"/>
                </a:solidFill>
                <a:latin typeface="+mn-lt"/>
                <a:ea typeface="+mn-ea"/>
                <a:cs typeface="+mn-cs"/>
              </a:defRPr>
            </a:lvl1pPr>
            <a:lvl2pPr marL="741680" indent="-284480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Trebuchet MS" panose="020B0603020202020204" pitchFamily="34" charset="0"/>
              <a:buChar char="−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1730" indent="-227330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930" indent="-227330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Trebuchet MS" panose="020B0603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6130" indent="-227330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rgbClr val="EEECE1"/>
              </a:buClr>
              <a:buNone/>
            </a:pP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Open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表和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Closed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表内状态排列的变化情况 </a:t>
            </a:r>
            <a:endParaRPr lang="zh-CN" altLang="en-US" sz="2800" kern="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1" t="42412" r="17188" b="14601"/>
          <a:stretch>
            <a:fillRect/>
          </a:stretch>
        </p:blipFill>
        <p:spPr bwMode="auto">
          <a:xfrm>
            <a:off x="1865243" y="1477618"/>
            <a:ext cx="8305800" cy="4866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12"/>
          <p:cNvGrpSpPr/>
          <p:nvPr/>
        </p:nvGrpSpPr>
        <p:grpSpPr bwMode="auto">
          <a:xfrm>
            <a:off x="1798984" y="2971801"/>
            <a:ext cx="9144000" cy="1951383"/>
            <a:chOff x="457200" y="3124200"/>
            <a:chExt cx="8882270" cy="2169878"/>
          </a:xfrm>
        </p:grpSpPr>
        <p:sp>
          <p:nvSpPr>
            <p:cNvPr id="5" name="矩形 4"/>
            <p:cNvSpPr/>
            <p:nvPr/>
          </p:nvSpPr>
          <p:spPr>
            <a:xfrm>
              <a:off x="533400" y="3200106"/>
              <a:ext cx="8305800" cy="2093971"/>
            </a:xfrm>
            <a:prstGeom prst="rect">
              <a:avLst/>
            </a:prstGeom>
            <a:solidFill>
              <a:srgbClr val="99CCFF"/>
            </a:solidFill>
            <a:ln>
              <a:solidFill>
                <a:srgbClr val="99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6" name="内容占位符 2"/>
            <p:cNvSpPr txBox="1">
              <a:spLocks noChangeArrowheads="1"/>
            </p:cNvSpPr>
            <p:nvPr/>
          </p:nvSpPr>
          <p:spPr bwMode="auto">
            <a:xfrm>
              <a:off x="457200" y="3124200"/>
              <a:ext cx="8882270" cy="2169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1630" indent="-34163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eaLnBrk="0" hangingPunct="0">
                <a:lnSpc>
                  <a:spcPct val="125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评价函数 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f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)=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d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)+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W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/>
                  <a:ea typeface="黑体" panose="02010609060101010101" charset="-122"/>
                  <a:sym typeface="宋体" panose="02010600030101010101" pitchFamily="2" charset="-122"/>
                </a:rPr>
                <a:t>)</a:t>
              </a:r>
              <a:endPara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eaLnBrk="0" hangingPunct="0">
                <a:lnSpc>
                  <a:spcPct val="125000"/>
                </a:lnSpc>
                <a:spcBef>
                  <a:spcPct val="20000"/>
                </a:spcBef>
                <a:buClr>
                  <a:srgbClr val="EEECE1"/>
                </a:buClr>
              </a:pPr>
              <a:r>
                <a:rPr lang="en-US" altLang="zh-CN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	</a:t>
              </a: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</a:t>
              </a:r>
              <a:r>
                <a:rPr lang="en-US" altLang="zh-CN" sz="28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d</a:t>
              </a:r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(</a:t>
              </a:r>
              <a:r>
                <a:rPr lang="en-US" altLang="zh-CN" sz="28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)</a:t>
              </a:r>
              <a:r>
                <a:rPr lang="zh-CN" altLang="en-US" sz="28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：</a:t>
              </a: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搜索树中节点</a:t>
              </a:r>
              <a:r>
                <a:rPr lang="en-US" altLang="zh-CN" sz="2800" i="1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的深度</a:t>
              </a:r>
              <a:endPara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eaLnBrk="0" hangingPunct="0">
                <a:lnSpc>
                  <a:spcPct val="125000"/>
                </a:lnSpc>
                <a:spcBef>
                  <a:spcPct val="20000"/>
                </a:spcBef>
                <a:buClr>
                  <a:srgbClr val="EEECE1"/>
                </a:buClr>
              </a:pP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   </a:t>
              </a:r>
              <a:r>
                <a:rPr lang="en-US" altLang="zh-CN" sz="28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W</a:t>
              </a:r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(</a:t>
              </a:r>
              <a:r>
                <a:rPr lang="en-US" altLang="zh-CN" sz="2800" i="1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/>
                  <a:ea typeface="黑体" panose="02010609060101010101" charset="-122"/>
                </a:rPr>
                <a:t>)</a:t>
              </a: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：计算对应节点</a:t>
              </a:r>
              <a:r>
                <a:rPr lang="en-US" altLang="zh-CN" sz="2800" i="1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n</a:t>
              </a:r>
              <a:r>
                <a:rPr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的数据库中错放的棋子个数</a:t>
              </a:r>
              <a:endPara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</p:grpSp>
      <p:grpSp>
        <p:nvGrpSpPr>
          <p:cNvPr id="7" name="组合 10"/>
          <p:cNvGrpSpPr/>
          <p:nvPr/>
        </p:nvGrpSpPr>
        <p:grpSpPr bwMode="auto">
          <a:xfrm>
            <a:off x="4300332" y="1219199"/>
            <a:ext cx="3591339" cy="1681292"/>
            <a:chOff x="5138531" y="2069014"/>
            <a:chExt cx="3591339" cy="1680703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5334000" y="2069014"/>
              <a:ext cx="1143000" cy="11999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1       3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algn="ctr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7   2  4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algn="ctr"/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6 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 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8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 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5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9" name="TextBox 6"/>
            <p:cNvSpPr txBox="1">
              <a:spLocks noChangeArrowheads="1"/>
            </p:cNvSpPr>
            <p:nvPr/>
          </p:nvSpPr>
          <p:spPr bwMode="auto">
            <a:xfrm>
              <a:off x="7391400" y="2069014"/>
              <a:ext cx="1143000" cy="11999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1  2  3  8      4</a:t>
              </a:r>
              <a:endParaRPr lang="en-US" altLang="zh-CN" sz="24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  <a:p>
              <a:pPr algn="ctr"/>
              <a:r>
                <a:rPr lang="en-US" altLang="zh-CN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7 </a:t>
              </a:r>
              <a:r>
                <a:rPr lang="zh-CN" altLang="en-US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 </a:t>
              </a:r>
              <a:r>
                <a:rPr lang="en-US" altLang="zh-CN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6</a:t>
              </a:r>
              <a:r>
                <a:rPr lang="zh-CN" altLang="en-US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  </a:t>
              </a:r>
              <a:r>
                <a:rPr lang="en-US" altLang="zh-CN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5</a:t>
              </a:r>
              <a:endParaRPr lang="zh-CN" altLang="en-US" sz="24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10" name="TextBox 5"/>
            <p:cNvSpPr txBox="1">
              <a:spLocks noChangeArrowheads="1"/>
            </p:cNvSpPr>
            <p:nvPr/>
          </p:nvSpPr>
          <p:spPr bwMode="auto">
            <a:xfrm>
              <a:off x="7272131" y="3288214"/>
              <a:ext cx="1457739" cy="461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目标棋局</a:t>
              </a:r>
              <a:endParaRPr lang="zh-CN" altLang="en-US" sz="240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5138531" y="3288214"/>
              <a:ext cx="1457739" cy="461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2847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7419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1991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656330" indent="1905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rPr>
                <a:t>起始棋局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endParaRPr>
            </a:p>
          </p:txBody>
        </p:sp>
      </p:grpSp>
      <p:sp>
        <p:nvSpPr>
          <p:cNvPr id="12" name="内容占位符 2"/>
          <p:cNvSpPr txBox="1">
            <a:spLocks noChangeArrowheads="1"/>
          </p:cNvSpPr>
          <p:nvPr/>
        </p:nvSpPr>
        <p:spPr bwMode="auto">
          <a:xfrm>
            <a:off x="1809300" y="505825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630" indent="-341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起始节点棋局 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f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值等于：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</a:rPr>
              <a:t>0+4=4</a:t>
            </a:r>
            <a:endParaRPr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53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4" name="Text Box 3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初始化</a:t>
            </a:r>
            <a:endParaRPr lang="zh-CN" altLang="en-US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51555" name="Text Box 4"/>
          <p:cNvSpPr txBox="1">
            <a:spLocks noChangeArrowheads="1"/>
          </p:cNvSpPr>
          <p:nvPr/>
        </p:nvSpPr>
        <p:spPr bwMode="auto">
          <a:xfrm>
            <a:off x="7620000" y="838200"/>
            <a:ext cx="2362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OPEN:={s4}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51556" name="Text Box 5"/>
          <p:cNvSpPr txBox="1">
            <a:spLocks noChangeArrowheads="1"/>
          </p:cNvSpPr>
          <p:nvPr/>
        </p:nvSpPr>
        <p:spPr bwMode="auto">
          <a:xfrm>
            <a:off x="7620000" y="1600200"/>
            <a:ext cx="2362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577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0355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56" name="AutoShape 4"/>
          <p:cNvCxnSpPr>
            <a:cxnSpLocks noChangeShapeType="1"/>
          </p:cNvCxnSpPr>
          <p:nvPr/>
        </p:nvCxnSpPr>
        <p:spPr bwMode="auto">
          <a:xfrm flipH="1">
            <a:off x="4719638" y="10461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57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12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1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0365" name="Text Box 13"/>
          <p:cNvSpPr txBox="1">
            <a:spLocks noChangeArrowheads="1"/>
          </p:cNvSpPr>
          <p:nvPr/>
        </p:nvSpPr>
        <p:spPr bwMode="auto">
          <a:xfrm>
            <a:off x="7620000" y="2667000"/>
            <a:ext cx="2362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s4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0366" name="Text Box 14"/>
          <p:cNvSpPr txBox="1">
            <a:spLocks noChangeArrowheads="1"/>
          </p:cNvSpPr>
          <p:nvPr/>
        </p:nvSpPr>
        <p:spPr bwMode="auto">
          <a:xfrm>
            <a:off x="7620000" y="914400"/>
            <a:ext cx="2362200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a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b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c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0367" name="Text Box 15"/>
          <p:cNvSpPr txBox="1">
            <a:spLocks noChangeArrowheads="1"/>
          </p:cNvSpPr>
          <p:nvPr/>
        </p:nvSpPr>
        <p:spPr bwMode="auto">
          <a:xfrm>
            <a:off x="7620000" y="914400"/>
            <a:ext cx="2362200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a6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b4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c6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0368" name="Text Box 16"/>
          <p:cNvSpPr txBox="1">
            <a:spLocks noChangeArrowheads="1"/>
          </p:cNvSpPr>
          <p:nvPr/>
        </p:nvSpPr>
        <p:spPr bwMode="auto">
          <a:xfrm>
            <a:off x="7620000" y="914400"/>
            <a:ext cx="2362200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b4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a6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c6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5" grpId="0" animBg="1"/>
      <p:bldP spid="100366" grpId="0" animBg="1"/>
      <p:bldP spid="100367" grpId="0" animBg="1"/>
      <p:bldP spid="10036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01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3602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03" name="AutoShape 4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04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3605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7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8" name="Object 12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9" name="Object 13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0" name="Object 14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1391" name="AutoShape 15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794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2" name="AutoShape 16"/>
          <p:cNvCxnSpPr>
            <a:cxnSpLocks noChangeShapeType="1"/>
          </p:cNvCxnSpPr>
          <p:nvPr/>
        </p:nvCxnSpPr>
        <p:spPr bwMode="auto">
          <a:xfrm>
            <a:off x="4719638" y="2330451"/>
            <a:ext cx="0" cy="3794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3" name="AutoShape 17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14" name="Text Box 21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2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7620000" y="4038601"/>
            <a:ext cx="2590800" cy="10156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CLOSE:={s4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b4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7620000" y="914400"/>
            <a:ext cx="2362200" cy="267765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d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e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i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7620000" y="914400"/>
            <a:ext cx="2362200" cy="267765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d5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e5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i6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7620000" y="914400"/>
            <a:ext cx="2362200" cy="267765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d5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e5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i6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8" grpId="0" animBg="1"/>
      <p:bldP spid="101399" grpId="0" animBg="1"/>
      <p:bldP spid="101400" grpId="0" animBg="1"/>
      <p:bldP spid="10140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625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626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27" name="AutoShape 4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28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4629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2" name="Object 12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3" name="Object 13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4" name="Object 14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635" name="AutoShape 15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36" name="AutoShape 16"/>
          <p:cNvCxnSpPr>
            <a:cxnSpLocks noChangeShapeType="1"/>
          </p:cNvCxnSpPr>
          <p:nvPr/>
        </p:nvCxnSpPr>
        <p:spPr bwMode="auto">
          <a:xfrm>
            <a:off x="4719638" y="2330451"/>
            <a:ext cx="0" cy="3794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637" name="AutoShape 17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2421" name="Object 21"/>
          <p:cNvGraphicFramePr>
            <a:graphicFrameLocks noChangeAspect="1"/>
          </p:cNvGraphicFramePr>
          <p:nvPr/>
        </p:nvGraphicFramePr>
        <p:xfrm>
          <a:off x="15240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77900" imgH="711200" progId="Equation.3">
                  <p:embed/>
                </p:oleObj>
              </mc:Choice>
              <mc:Fallback>
                <p:oleObj name="" r:id="rId15" imgW="977900" imgH="71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2" name="Object 22"/>
          <p:cNvGraphicFramePr>
            <a:graphicFrameLocks noChangeAspect="1"/>
          </p:cNvGraphicFramePr>
          <p:nvPr/>
        </p:nvGraphicFramePr>
        <p:xfrm>
          <a:off x="2862264" y="3886201"/>
          <a:ext cx="13604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977900" imgH="711200" progId="Equation.3">
                  <p:embed/>
                </p:oleObj>
              </mc:Choice>
              <mc:Fallback>
                <p:oleObj name="" r:id="rId17" imgW="977900" imgH="71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3886201"/>
                        <a:ext cx="13604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423" name="AutoShape 23"/>
          <p:cNvCxnSpPr>
            <a:cxnSpLocks noChangeShapeType="1"/>
          </p:cNvCxnSpPr>
          <p:nvPr/>
        </p:nvCxnSpPr>
        <p:spPr bwMode="auto">
          <a:xfrm>
            <a:off x="2967038" y="3711576"/>
            <a:ext cx="57626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24" name="AutoShape 24"/>
          <p:cNvCxnSpPr>
            <a:cxnSpLocks noChangeShapeType="1"/>
          </p:cNvCxnSpPr>
          <p:nvPr/>
        </p:nvCxnSpPr>
        <p:spPr bwMode="auto">
          <a:xfrm flipH="1">
            <a:off x="2205038" y="3711576"/>
            <a:ext cx="7620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642" name="Text Box 27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3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2428" name="Text Box 28"/>
          <p:cNvSpPr txBox="1">
            <a:spLocks noChangeArrowheads="1"/>
          </p:cNvSpPr>
          <p:nvPr/>
        </p:nvSpPr>
        <p:spPr bwMode="auto">
          <a:xfrm>
            <a:off x="7620000" y="4648200"/>
            <a:ext cx="2590800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CLOSE:={s4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 b4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d5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2429" name="Text Box 29"/>
          <p:cNvSpPr txBox="1">
            <a:spLocks noChangeArrowheads="1"/>
          </p:cNvSpPr>
          <p:nvPr/>
        </p:nvSpPr>
        <p:spPr bwMode="auto">
          <a:xfrm>
            <a:off x="7696200" y="990600"/>
            <a:ext cx="2362200" cy="323165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OPEN:={e5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j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k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2430" name="Text Box 30"/>
          <p:cNvSpPr txBox="1">
            <a:spLocks noChangeArrowheads="1"/>
          </p:cNvSpPr>
          <p:nvPr/>
        </p:nvSpPr>
        <p:spPr bwMode="auto">
          <a:xfrm>
            <a:off x="7772400" y="990600"/>
            <a:ext cx="2362200" cy="323165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OPEN:={e5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j7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k6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2431" name="Text Box 31"/>
          <p:cNvSpPr txBox="1">
            <a:spLocks noChangeArrowheads="1"/>
          </p:cNvSpPr>
          <p:nvPr/>
        </p:nvSpPr>
        <p:spPr bwMode="auto">
          <a:xfrm>
            <a:off x="7696200" y="990600"/>
            <a:ext cx="2362200" cy="323165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e5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k6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j7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8" grpId="0" animBg="1"/>
      <p:bldP spid="102429" grpId="0" animBg="1"/>
      <p:bldP spid="102430" grpId="0" animBg="1"/>
      <p:bldP spid="1024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649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5650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1" name="AutoShape 4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2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5653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4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6" name="Object 12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7" name="Object 13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8" name="Object 14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5659" name="AutoShape 15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0" name="AutoShape 16"/>
          <p:cNvCxnSpPr>
            <a:cxnSpLocks noChangeShapeType="1"/>
          </p:cNvCxnSpPr>
          <p:nvPr/>
        </p:nvCxnSpPr>
        <p:spPr bwMode="auto">
          <a:xfrm>
            <a:off x="4719638" y="2330451"/>
            <a:ext cx="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1" name="AutoShape 17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3445" name="Object 21"/>
          <p:cNvGraphicFramePr>
            <a:graphicFrameLocks noChangeAspect="1"/>
          </p:cNvGraphicFramePr>
          <p:nvPr/>
        </p:nvGraphicFramePr>
        <p:xfrm>
          <a:off x="4267201" y="38862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39165" imgH="711200" progId="Equation.3">
                  <p:embed/>
                </p:oleObj>
              </mc:Choice>
              <mc:Fallback>
                <p:oleObj name="" r:id="rId15" imgW="939165" imgH="71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38862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6" name="Object 22"/>
          <p:cNvGraphicFramePr>
            <a:graphicFrameLocks noChangeAspect="1"/>
          </p:cNvGraphicFramePr>
          <p:nvPr/>
        </p:nvGraphicFramePr>
        <p:xfrm>
          <a:off x="5638801" y="3886201"/>
          <a:ext cx="14128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016000" imgH="711200" progId="Equation.3">
                  <p:embed/>
                </p:oleObj>
              </mc:Choice>
              <mc:Fallback>
                <p:oleObj name="" r:id="rId17" imgW="1016000" imgH="71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3886201"/>
                        <a:ext cx="14128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3447" name="AutoShape 23"/>
          <p:cNvCxnSpPr>
            <a:cxnSpLocks noChangeShapeType="1"/>
          </p:cNvCxnSpPr>
          <p:nvPr/>
        </p:nvCxnSpPr>
        <p:spPr bwMode="auto">
          <a:xfrm>
            <a:off x="4719638" y="3711576"/>
            <a:ext cx="20161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48" name="AutoShape 24"/>
          <p:cNvCxnSpPr>
            <a:cxnSpLocks noChangeShapeType="1"/>
          </p:cNvCxnSpPr>
          <p:nvPr/>
        </p:nvCxnSpPr>
        <p:spPr bwMode="auto">
          <a:xfrm>
            <a:off x="4719638" y="3711576"/>
            <a:ext cx="16256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5666" name="Object 27"/>
          <p:cNvGraphicFramePr>
            <a:graphicFrameLocks noChangeAspect="1"/>
          </p:cNvGraphicFramePr>
          <p:nvPr/>
        </p:nvGraphicFramePr>
        <p:xfrm>
          <a:off x="15240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977900" imgH="711200" progId="Equation.3">
                  <p:embed/>
                </p:oleObj>
              </mc:Choice>
              <mc:Fallback>
                <p:oleObj name="" r:id="rId19" imgW="977900" imgH="711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7" name="Object 28"/>
          <p:cNvGraphicFramePr>
            <a:graphicFrameLocks noChangeAspect="1"/>
          </p:cNvGraphicFramePr>
          <p:nvPr/>
        </p:nvGraphicFramePr>
        <p:xfrm>
          <a:off x="2862264" y="3886201"/>
          <a:ext cx="13604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977900" imgH="711200" progId="Equation.3">
                  <p:embed/>
                </p:oleObj>
              </mc:Choice>
              <mc:Fallback>
                <p:oleObj name="" r:id="rId21" imgW="977900" imgH="711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3886201"/>
                        <a:ext cx="13604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5668" name="AutoShape 29"/>
          <p:cNvCxnSpPr>
            <a:cxnSpLocks noChangeShapeType="1"/>
          </p:cNvCxnSpPr>
          <p:nvPr/>
        </p:nvCxnSpPr>
        <p:spPr bwMode="auto">
          <a:xfrm>
            <a:off x="2967038" y="3711576"/>
            <a:ext cx="57626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9" name="AutoShape 30"/>
          <p:cNvCxnSpPr>
            <a:cxnSpLocks noChangeShapeType="1"/>
          </p:cNvCxnSpPr>
          <p:nvPr/>
        </p:nvCxnSpPr>
        <p:spPr bwMode="auto">
          <a:xfrm flipH="1">
            <a:off x="2205038" y="3711576"/>
            <a:ext cx="7620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0" name="Text Box 33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4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3458" name="Text Box 34"/>
          <p:cNvSpPr txBox="1">
            <a:spLocks noChangeArrowheads="1"/>
          </p:cNvSpPr>
          <p:nvPr/>
        </p:nvSpPr>
        <p:spPr bwMode="auto">
          <a:xfrm>
            <a:off x="6629400" y="5029200"/>
            <a:ext cx="40386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CLOSE:={s4,b4,d5,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e5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3459" name="Text Box 35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l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m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3460" name="Text Box 36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l5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m7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3461" name="Text Box 37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l5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m7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8" grpId="0" animBg="1"/>
      <p:bldP spid="103459" grpId="0" animBg="1"/>
      <p:bldP spid="103460" grpId="0" animBg="1"/>
      <p:bldP spid="10346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673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674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75" name="AutoShape 4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76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6677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8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9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0" name="Object 12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1" name="Object 13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2" name="Object 14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683" name="AutoShape 15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4" name="AutoShape 16"/>
          <p:cNvCxnSpPr>
            <a:cxnSpLocks noChangeShapeType="1"/>
          </p:cNvCxnSpPr>
          <p:nvPr/>
        </p:nvCxnSpPr>
        <p:spPr bwMode="auto">
          <a:xfrm>
            <a:off x="4719638" y="2330451"/>
            <a:ext cx="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5" name="AutoShape 17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6686" name="Object 21"/>
          <p:cNvGraphicFramePr>
            <a:graphicFrameLocks noChangeAspect="1"/>
          </p:cNvGraphicFramePr>
          <p:nvPr/>
        </p:nvGraphicFramePr>
        <p:xfrm>
          <a:off x="4267201" y="4192588"/>
          <a:ext cx="13065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39165" imgH="711200" progId="Equation.3">
                  <p:embed/>
                </p:oleObj>
              </mc:Choice>
              <mc:Fallback>
                <p:oleObj name="" r:id="rId15" imgW="939165" imgH="71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4192588"/>
                        <a:ext cx="1306513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7" name="Object 22"/>
          <p:cNvGraphicFramePr>
            <a:graphicFrameLocks noChangeAspect="1"/>
          </p:cNvGraphicFramePr>
          <p:nvPr/>
        </p:nvGraphicFramePr>
        <p:xfrm>
          <a:off x="5902326" y="4192588"/>
          <a:ext cx="14128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016000" imgH="711200" progId="Equation.3">
                  <p:embed/>
                </p:oleObj>
              </mc:Choice>
              <mc:Fallback>
                <p:oleObj name="" r:id="rId17" imgW="1016000" imgH="71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26" y="4192588"/>
                        <a:ext cx="141287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688" name="AutoShape 23"/>
          <p:cNvCxnSpPr>
            <a:cxnSpLocks noChangeShapeType="1"/>
          </p:cNvCxnSpPr>
          <p:nvPr/>
        </p:nvCxnSpPr>
        <p:spPr bwMode="auto">
          <a:xfrm>
            <a:off x="4719638" y="3711576"/>
            <a:ext cx="201612" cy="4683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9" name="AutoShape 24"/>
          <p:cNvCxnSpPr>
            <a:cxnSpLocks noChangeShapeType="1"/>
          </p:cNvCxnSpPr>
          <p:nvPr/>
        </p:nvCxnSpPr>
        <p:spPr bwMode="auto">
          <a:xfrm>
            <a:off x="4719639" y="3711576"/>
            <a:ext cx="1889125" cy="4810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4475" name="Object 27"/>
          <p:cNvGraphicFramePr>
            <a:graphicFrameLocks noChangeAspect="1"/>
          </p:cNvGraphicFramePr>
          <p:nvPr/>
        </p:nvGraphicFramePr>
        <p:xfrm>
          <a:off x="4419600" y="5475288"/>
          <a:ext cx="9906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711200" imgH="939165" progId="Equation.3">
                  <p:embed/>
                </p:oleObj>
              </mc:Choice>
              <mc:Fallback>
                <p:oleObj name="" r:id="rId19" imgW="711200" imgH="93916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75288"/>
                        <a:ext cx="990600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476" name="AutoShape 28"/>
          <p:cNvCxnSpPr>
            <a:cxnSpLocks noChangeShapeType="1"/>
          </p:cNvCxnSpPr>
          <p:nvPr/>
        </p:nvCxnSpPr>
        <p:spPr bwMode="auto">
          <a:xfrm flipH="1">
            <a:off x="4914900" y="5194300"/>
            <a:ext cx="6350" cy="28098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6692" name="Object 30"/>
          <p:cNvGraphicFramePr>
            <a:graphicFrameLocks noChangeAspect="1"/>
          </p:cNvGraphicFramePr>
          <p:nvPr/>
        </p:nvGraphicFramePr>
        <p:xfrm>
          <a:off x="15240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977900" imgH="711200" progId="Equation.3">
                  <p:embed/>
                </p:oleObj>
              </mc:Choice>
              <mc:Fallback>
                <p:oleObj name="" r:id="rId21" imgW="977900" imgH="711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3" name="Object 31"/>
          <p:cNvGraphicFramePr>
            <a:graphicFrameLocks noChangeAspect="1"/>
          </p:cNvGraphicFramePr>
          <p:nvPr/>
        </p:nvGraphicFramePr>
        <p:xfrm>
          <a:off x="2862264" y="3886201"/>
          <a:ext cx="13604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977900" imgH="711200" progId="Equation.3">
                  <p:embed/>
                </p:oleObj>
              </mc:Choice>
              <mc:Fallback>
                <p:oleObj name="" r:id="rId23" imgW="977900" imgH="711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3886201"/>
                        <a:ext cx="13604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694" name="AutoShape 32"/>
          <p:cNvCxnSpPr>
            <a:cxnSpLocks noChangeShapeType="1"/>
          </p:cNvCxnSpPr>
          <p:nvPr/>
        </p:nvCxnSpPr>
        <p:spPr bwMode="auto">
          <a:xfrm>
            <a:off x="2967038" y="3711576"/>
            <a:ext cx="57626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95" name="AutoShape 33"/>
          <p:cNvCxnSpPr>
            <a:cxnSpLocks noChangeShapeType="1"/>
          </p:cNvCxnSpPr>
          <p:nvPr/>
        </p:nvCxnSpPr>
        <p:spPr bwMode="auto">
          <a:xfrm flipH="1">
            <a:off x="2205038" y="3711576"/>
            <a:ext cx="7620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484" name="Text Box 36"/>
          <p:cNvSpPr txBox="1">
            <a:spLocks noChangeArrowheads="1"/>
          </p:cNvSpPr>
          <p:nvPr/>
        </p:nvSpPr>
        <p:spPr bwMode="auto">
          <a:xfrm>
            <a:off x="6019800" y="5486400"/>
            <a:ext cx="4648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CLOSE:={s4,b4,d5,e5,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l5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56697" name="Text Box 37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5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4486" name="Text Box 38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n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4487" name="Text Box 39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n5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4488" name="Text Box 40"/>
          <p:cNvSpPr txBox="1">
            <a:spLocks noChangeArrowheads="1"/>
          </p:cNvSpPr>
          <p:nvPr/>
        </p:nvSpPr>
        <p:spPr bwMode="auto">
          <a:xfrm>
            <a:off x="7467600" y="990600"/>
            <a:ext cx="2362200" cy="37856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n5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84" grpId="0" animBg="1"/>
      <p:bldP spid="104486" grpId="0" animBg="1"/>
      <p:bldP spid="104487" grpId="0" animBg="1"/>
      <p:bldP spid="10448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697" name="Object 2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698" name="AutoShape 3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699" name="AutoShape 4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00" name="AutoShape 5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7701" name="Object 6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2" name="Object 7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3" name="Object 8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4" name="Object 12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5" name="Object 13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6" name="Object 14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707" name="AutoShape 15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08" name="AutoShape 16"/>
          <p:cNvCxnSpPr>
            <a:cxnSpLocks noChangeShapeType="1"/>
          </p:cNvCxnSpPr>
          <p:nvPr/>
        </p:nvCxnSpPr>
        <p:spPr bwMode="auto">
          <a:xfrm>
            <a:off x="4719638" y="2330451"/>
            <a:ext cx="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09" name="AutoShape 17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7710" name="Object 21"/>
          <p:cNvGraphicFramePr>
            <a:graphicFrameLocks noChangeAspect="1"/>
          </p:cNvGraphicFramePr>
          <p:nvPr/>
        </p:nvGraphicFramePr>
        <p:xfrm>
          <a:off x="4267201" y="4040188"/>
          <a:ext cx="13065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39165" imgH="711200" progId="Equation.3">
                  <p:embed/>
                </p:oleObj>
              </mc:Choice>
              <mc:Fallback>
                <p:oleObj name="" r:id="rId15" imgW="939165" imgH="71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4040188"/>
                        <a:ext cx="1306513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1" name="Object 22"/>
          <p:cNvGraphicFramePr>
            <a:graphicFrameLocks noChangeAspect="1"/>
          </p:cNvGraphicFramePr>
          <p:nvPr/>
        </p:nvGraphicFramePr>
        <p:xfrm>
          <a:off x="5749926" y="4116388"/>
          <a:ext cx="14128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016000" imgH="711200" progId="Equation.3">
                  <p:embed/>
                </p:oleObj>
              </mc:Choice>
              <mc:Fallback>
                <p:oleObj name="" r:id="rId17" imgW="1016000" imgH="71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6" y="4116388"/>
                        <a:ext cx="141287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712" name="AutoShape 23"/>
          <p:cNvCxnSpPr>
            <a:cxnSpLocks noChangeShapeType="1"/>
          </p:cNvCxnSpPr>
          <p:nvPr/>
        </p:nvCxnSpPr>
        <p:spPr bwMode="auto">
          <a:xfrm>
            <a:off x="4719638" y="3711576"/>
            <a:ext cx="201612" cy="3159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3" name="AutoShape 24"/>
          <p:cNvCxnSpPr>
            <a:cxnSpLocks noChangeShapeType="1"/>
          </p:cNvCxnSpPr>
          <p:nvPr/>
        </p:nvCxnSpPr>
        <p:spPr bwMode="auto">
          <a:xfrm>
            <a:off x="4719639" y="3711576"/>
            <a:ext cx="1736725" cy="4048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7714" name="Object 27"/>
          <p:cNvGraphicFramePr>
            <a:graphicFrameLocks noChangeAspect="1"/>
          </p:cNvGraphicFramePr>
          <p:nvPr/>
        </p:nvGraphicFramePr>
        <p:xfrm>
          <a:off x="4419600" y="5475288"/>
          <a:ext cx="9906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711200" imgH="939165" progId="Equation.3">
                  <p:embed/>
                </p:oleObj>
              </mc:Choice>
              <mc:Fallback>
                <p:oleObj name="" r:id="rId19" imgW="711200" imgH="93916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75288"/>
                        <a:ext cx="990600" cy="13065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715" name="AutoShape 28"/>
          <p:cNvCxnSpPr>
            <a:cxnSpLocks noChangeShapeType="1"/>
          </p:cNvCxnSpPr>
          <p:nvPr/>
        </p:nvCxnSpPr>
        <p:spPr bwMode="auto">
          <a:xfrm flipH="1">
            <a:off x="4914900" y="5041900"/>
            <a:ext cx="6350" cy="42068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5502" name="Object 30"/>
          <p:cNvGraphicFramePr>
            <a:graphicFrameLocks noChangeAspect="1"/>
          </p:cNvGraphicFramePr>
          <p:nvPr/>
        </p:nvGraphicFramePr>
        <p:xfrm>
          <a:off x="2209800" y="5410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977900" imgH="711200" progId="Equation.3">
                  <p:embed/>
                </p:oleObj>
              </mc:Choice>
              <mc:Fallback>
                <p:oleObj name="" r:id="rId21" imgW="977900" imgH="711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410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03" name="Object 31"/>
          <p:cNvGraphicFramePr>
            <a:graphicFrameLocks noChangeAspect="1"/>
          </p:cNvGraphicFramePr>
          <p:nvPr/>
        </p:nvGraphicFramePr>
        <p:xfrm>
          <a:off x="5749925" y="5411788"/>
          <a:ext cx="137795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989965" imgH="711200" progId="Equation.3">
                  <p:embed/>
                </p:oleObj>
              </mc:Choice>
              <mc:Fallback>
                <p:oleObj name="" r:id="rId23" imgW="989965" imgH="711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5411788"/>
                        <a:ext cx="137795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5504" name="AutoShape 32"/>
          <p:cNvCxnSpPr>
            <a:cxnSpLocks noChangeShapeType="1"/>
          </p:cNvCxnSpPr>
          <p:nvPr/>
        </p:nvCxnSpPr>
        <p:spPr bwMode="auto">
          <a:xfrm flipH="1" flipV="1">
            <a:off x="3570288" y="5905500"/>
            <a:ext cx="836612" cy="2238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5" name="AutoShape 33"/>
          <p:cNvCxnSpPr>
            <a:cxnSpLocks noChangeShapeType="1"/>
          </p:cNvCxnSpPr>
          <p:nvPr/>
        </p:nvCxnSpPr>
        <p:spPr bwMode="auto">
          <a:xfrm flipV="1">
            <a:off x="5422901" y="5907088"/>
            <a:ext cx="327025" cy="2222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7720" name="Object 36"/>
          <p:cNvGraphicFramePr>
            <a:graphicFrameLocks noChangeAspect="1"/>
          </p:cNvGraphicFramePr>
          <p:nvPr/>
        </p:nvGraphicFramePr>
        <p:xfrm>
          <a:off x="15240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5" imgW="977900" imgH="711200" progId="Equation.3">
                  <p:embed/>
                </p:oleObj>
              </mc:Choice>
              <mc:Fallback>
                <p:oleObj name="" r:id="rId25" imgW="977900" imgH="7112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21" name="Object 37"/>
          <p:cNvGraphicFramePr>
            <a:graphicFrameLocks noChangeAspect="1"/>
          </p:cNvGraphicFramePr>
          <p:nvPr/>
        </p:nvGraphicFramePr>
        <p:xfrm>
          <a:off x="2862264" y="3886201"/>
          <a:ext cx="13604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7" imgW="977900" imgH="711200" progId="Equation.3">
                  <p:embed/>
                </p:oleObj>
              </mc:Choice>
              <mc:Fallback>
                <p:oleObj name="" r:id="rId27" imgW="977900" imgH="7112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3886201"/>
                        <a:ext cx="13604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722" name="AutoShape 38"/>
          <p:cNvCxnSpPr>
            <a:cxnSpLocks noChangeShapeType="1"/>
          </p:cNvCxnSpPr>
          <p:nvPr/>
        </p:nvCxnSpPr>
        <p:spPr bwMode="auto">
          <a:xfrm>
            <a:off x="2967038" y="3711576"/>
            <a:ext cx="57626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23" name="AutoShape 39"/>
          <p:cNvCxnSpPr>
            <a:cxnSpLocks noChangeShapeType="1"/>
          </p:cNvCxnSpPr>
          <p:nvPr/>
        </p:nvCxnSpPr>
        <p:spPr bwMode="auto">
          <a:xfrm flipH="1">
            <a:off x="2205038" y="3711576"/>
            <a:ext cx="7620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4" name="Text Box 42"/>
          <p:cNvSpPr txBox="1">
            <a:spLocks noChangeArrowheads="1"/>
          </p:cNvSpPr>
          <p:nvPr/>
        </p:nvSpPr>
        <p:spPr bwMode="auto">
          <a:xfrm>
            <a:off x="7620000" y="228600"/>
            <a:ext cx="1219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6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5515" name="Text Box 43"/>
          <p:cNvSpPr txBox="1">
            <a:spLocks noChangeArrowheads="1"/>
          </p:cNvSpPr>
          <p:nvPr/>
        </p:nvSpPr>
        <p:spPr bwMode="auto">
          <a:xfrm>
            <a:off x="7010400" y="5257801"/>
            <a:ext cx="3657600" cy="10156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CLOSE:={s4,b4,d5,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	e5,l5,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n5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5516" name="Text Box 44"/>
          <p:cNvSpPr txBox="1">
            <a:spLocks noChangeArrowheads="1"/>
          </p:cNvSpPr>
          <p:nvPr/>
        </p:nvSpPr>
        <p:spPr bwMode="auto">
          <a:xfrm>
            <a:off x="7620000" y="762000"/>
            <a:ext cx="2362200" cy="43396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o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g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5517" name="Text Box 45"/>
          <p:cNvSpPr txBox="1">
            <a:spLocks noChangeArrowheads="1"/>
          </p:cNvSpPr>
          <p:nvPr/>
        </p:nvSpPr>
        <p:spPr bwMode="auto">
          <a:xfrm>
            <a:off x="7620000" y="762000"/>
            <a:ext cx="2362200" cy="43396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o7</a:t>
            </a:r>
            <a:endParaRPr lang="en-US" altLang="zh-CN" sz="2400" b="1">
              <a:solidFill>
                <a:srgbClr val="0099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g5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5518" name="Text Box 46"/>
          <p:cNvSpPr txBox="1">
            <a:spLocks noChangeArrowheads="1"/>
          </p:cNvSpPr>
          <p:nvPr/>
        </p:nvSpPr>
        <p:spPr bwMode="auto">
          <a:xfrm>
            <a:off x="7620000" y="762000"/>
            <a:ext cx="2362200" cy="43396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OPEN:={</a:t>
            </a:r>
            <a:r>
              <a:rPr lang="en-US" altLang="zh-CN" sz="2400" b="1">
                <a:solidFill>
                  <a:srgbClr val="0000FF"/>
                </a:solidFill>
                <a:latin typeface="Verdana" panose="020B0604030504040204" pitchFamily="34" charset="0"/>
              </a:rPr>
              <a:t>g5</a:t>
            </a:r>
            <a:endParaRPr lang="en-US" altLang="zh-CN" sz="2400" b="1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a6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c6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i6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k6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j7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 m7</a:t>
            </a:r>
            <a:endParaRPr lang="en-US" altLang="zh-CN" sz="2400" b="1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	     </a:t>
            </a:r>
            <a:r>
              <a:rPr lang="en-US" altLang="zh-CN" sz="2400" b="1">
                <a:solidFill>
                  <a:srgbClr val="009900"/>
                </a:solidFill>
                <a:latin typeface="Verdana" panose="020B0604030504040204" pitchFamily="34" charset="0"/>
              </a:rPr>
              <a:t> o7</a:t>
            </a:r>
            <a:r>
              <a:rPr lang="en-US" altLang="zh-CN" sz="2400" b="1">
                <a:solidFill>
                  <a:srgbClr val="FF3300"/>
                </a:solidFill>
                <a:latin typeface="Verdana" panose="020B0604030504040204" pitchFamily="34" charset="0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en-US" altLang="zh-CN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15" grpId="0" animBg="1"/>
      <p:bldP spid="105516" grpId="0" animBg="1"/>
      <p:bldP spid="105517" grpId="0" animBg="1"/>
      <p:bldP spid="1055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Text Box 42"/>
          <p:cNvSpPr txBox="1">
            <a:spLocks noChangeArrowheads="1"/>
          </p:cNvSpPr>
          <p:nvPr/>
        </p:nvSpPr>
        <p:spPr bwMode="auto">
          <a:xfrm>
            <a:off x="7239000" y="152400"/>
            <a:ext cx="25908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latin typeface="Verdana" panose="020B0604030504040204" pitchFamily="34" charset="0"/>
                <a:ea typeface="黑体" panose="02010609060101010101" charset="-122"/>
              </a:rPr>
              <a:t>7</a:t>
            </a:r>
            <a:endParaRPr lang="en-US" altLang="zh-CN" sz="2400" b="1">
              <a:solidFill>
                <a:srgbClr val="00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sp>
        <p:nvSpPr>
          <p:cNvPr id="106539" name="Text Box 43"/>
          <p:cNvSpPr txBox="1">
            <a:spLocks noChangeArrowheads="1"/>
          </p:cNvSpPr>
          <p:nvPr/>
        </p:nvSpPr>
        <p:spPr bwMode="auto">
          <a:xfrm>
            <a:off x="7315200" y="1066800"/>
            <a:ext cx="25908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charset="-122"/>
              </a:rPr>
              <a:t>成功结束</a:t>
            </a:r>
            <a:endParaRPr lang="zh-CN" altLang="en-US" sz="2400" b="1">
              <a:solidFill>
                <a:srgbClr val="FF0000"/>
              </a:solidFill>
              <a:latin typeface="Verdana" panose="020B0604030504040204" pitchFamily="34" charset="0"/>
              <a:ea typeface="黑体" panose="02010609060101010101" charset="-122"/>
            </a:endParaRPr>
          </a:p>
        </p:txBody>
      </p:sp>
      <p:graphicFrame>
        <p:nvGraphicFramePr>
          <p:cNvPr id="158723" name="Object 44"/>
          <p:cNvGraphicFramePr>
            <a:graphicFrameLocks noChangeAspect="1"/>
          </p:cNvGraphicFramePr>
          <p:nvPr/>
        </p:nvGraphicFramePr>
        <p:xfrm>
          <a:off x="4090988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724" name="AutoShape 45"/>
          <p:cNvCxnSpPr>
            <a:cxnSpLocks noChangeShapeType="1"/>
          </p:cNvCxnSpPr>
          <p:nvPr/>
        </p:nvCxnSpPr>
        <p:spPr bwMode="auto">
          <a:xfrm flipH="1">
            <a:off x="2967038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42" name="AutoShape 46"/>
          <p:cNvCxnSpPr>
            <a:cxnSpLocks noChangeShapeType="1"/>
          </p:cNvCxnSpPr>
          <p:nvPr/>
        </p:nvCxnSpPr>
        <p:spPr bwMode="auto">
          <a:xfrm flipH="1">
            <a:off x="4719638" y="1033464"/>
            <a:ext cx="4762" cy="2825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726" name="AutoShape 47"/>
          <p:cNvCxnSpPr>
            <a:cxnSpLocks noChangeShapeType="1"/>
          </p:cNvCxnSpPr>
          <p:nvPr/>
        </p:nvCxnSpPr>
        <p:spPr bwMode="auto">
          <a:xfrm>
            <a:off x="4764088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8727" name="Object 48"/>
          <p:cNvGraphicFramePr>
            <a:graphicFrameLocks noChangeAspect="1"/>
          </p:cNvGraphicFramePr>
          <p:nvPr/>
        </p:nvGraphicFramePr>
        <p:xfrm>
          <a:off x="22860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49"/>
          <p:cNvGraphicFramePr>
            <a:graphicFrameLocks noChangeAspect="1"/>
          </p:cNvGraphicFramePr>
          <p:nvPr/>
        </p:nvGraphicFramePr>
        <p:xfrm>
          <a:off x="4038600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9" name="Object 50"/>
          <p:cNvGraphicFramePr>
            <a:graphicFrameLocks noChangeAspect="1"/>
          </p:cNvGraphicFramePr>
          <p:nvPr/>
        </p:nvGraphicFramePr>
        <p:xfrm>
          <a:off x="5648325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0" name="Object 51"/>
          <p:cNvGraphicFramePr>
            <a:graphicFrameLocks noChangeAspect="1"/>
          </p:cNvGraphicFramePr>
          <p:nvPr/>
        </p:nvGraphicFramePr>
        <p:xfrm>
          <a:off x="4048125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1" name="Object 52"/>
          <p:cNvGraphicFramePr>
            <a:graphicFrameLocks noChangeAspect="1"/>
          </p:cNvGraphicFramePr>
          <p:nvPr/>
        </p:nvGraphicFramePr>
        <p:xfrm>
          <a:off x="2286000" y="2709863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09863"/>
                        <a:ext cx="136048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2" name="Object 53"/>
          <p:cNvGraphicFramePr>
            <a:graphicFrameLocks noChangeAspect="1"/>
          </p:cNvGraphicFramePr>
          <p:nvPr/>
        </p:nvGraphicFramePr>
        <p:xfrm>
          <a:off x="5638801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733" name="AutoShape 54"/>
          <p:cNvCxnSpPr>
            <a:cxnSpLocks noChangeShapeType="1"/>
          </p:cNvCxnSpPr>
          <p:nvPr/>
        </p:nvCxnSpPr>
        <p:spPr bwMode="auto">
          <a:xfrm flipH="1">
            <a:off x="2967038" y="2330451"/>
            <a:ext cx="175260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51" name="AutoShape 55"/>
          <p:cNvCxnSpPr>
            <a:cxnSpLocks noChangeShapeType="1"/>
          </p:cNvCxnSpPr>
          <p:nvPr/>
        </p:nvCxnSpPr>
        <p:spPr bwMode="auto">
          <a:xfrm>
            <a:off x="4719638" y="2330451"/>
            <a:ext cx="0" cy="3667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735" name="AutoShape 56"/>
          <p:cNvCxnSpPr>
            <a:cxnSpLocks noChangeShapeType="1"/>
          </p:cNvCxnSpPr>
          <p:nvPr/>
        </p:nvCxnSpPr>
        <p:spPr bwMode="auto">
          <a:xfrm>
            <a:off x="4719638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8736" name="Object 57"/>
          <p:cNvGraphicFramePr>
            <a:graphicFrameLocks noChangeAspect="1"/>
          </p:cNvGraphicFramePr>
          <p:nvPr/>
        </p:nvGraphicFramePr>
        <p:xfrm>
          <a:off x="4267201" y="4040188"/>
          <a:ext cx="13065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39165" imgH="711200" progId="Equation.3">
                  <p:embed/>
                </p:oleObj>
              </mc:Choice>
              <mc:Fallback>
                <p:oleObj name="" r:id="rId15" imgW="939165" imgH="7112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4040188"/>
                        <a:ext cx="1306513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7" name="Object 58"/>
          <p:cNvGraphicFramePr>
            <a:graphicFrameLocks noChangeAspect="1"/>
          </p:cNvGraphicFramePr>
          <p:nvPr/>
        </p:nvGraphicFramePr>
        <p:xfrm>
          <a:off x="5749926" y="4116388"/>
          <a:ext cx="14128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016000" imgH="711200" progId="Equation.3">
                  <p:embed/>
                </p:oleObj>
              </mc:Choice>
              <mc:Fallback>
                <p:oleObj name="" r:id="rId17" imgW="1016000" imgH="7112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6" y="4116388"/>
                        <a:ext cx="141287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555" name="AutoShape 59"/>
          <p:cNvCxnSpPr>
            <a:cxnSpLocks noChangeShapeType="1"/>
          </p:cNvCxnSpPr>
          <p:nvPr/>
        </p:nvCxnSpPr>
        <p:spPr bwMode="auto">
          <a:xfrm>
            <a:off x="4719638" y="3711576"/>
            <a:ext cx="201612" cy="3159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739" name="AutoShape 60"/>
          <p:cNvCxnSpPr>
            <a:cxnSpLocks noChangeShapeType="1"/>
          </p:cNvCxnSpPr>
          <p:nvPr/>
        </p:nvCxnSpPr>
        <p:spPr bwMode="auto">
          <a:xfrm>
            <a:off x="4719639" y="3711576"/>
            <a:ext cx="1736725" cy="40481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8740" name="Object 61"/>
          <p:cNvGraphicFramePr>
            <a:graphicFrameLocks noChangeAspect="1"/>
          </p:cNvGraphicFramePr>
          <p:nvPr/>
        </p:nvGraphicFramePr>
        <p:xfrm>
          <a:off x="4419600" y="5475288"/>
          <a:ext cx="9906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711200" imgH="939165" progId="Equation.3">
                  <p:embed/>
                </p:oleObj>
              </mc:Choice>
              <mc:Fallback>
                <p:oleObj name="" r:id="rId19" imgW="711200" imgH="939165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75288"/>
                        <a:ext cx="990600" cy="13065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558" name="AutoShape 62"/>
          <p:cNvCxnSpPr>
            <a:cxnSpLocks noChangeShapeType="1"/>
          </p:cNvCxnSpPr>
          <p:nvPr/>
        </p:nvCxnSpPr>
        <p:spPr bwMode="auto">
          <a:xfrm flipH="1">
            <a:off x="4914900" y="5041900"/>
            <a:ext cx="6350" cy="42068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8742" name="Object 63"/>
          <p:cNvGraphicFramePr>
            <a:graphicFrameLocks noChangeAspect="1"/>
          </p:cNvGraphicFramePr>
          <p:nvPr/>
        </p:nvGraphicFramePr>
        <p:xfrm>
          <a:off x="2209800" y="5410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977900" imgH="711200" progId="Equation.3">
                  <p:embed/>
                </p:oleObj>
              </mc:Choice>
              <mc:Fallback>
                <p:oleObj name="" r:id="rId21" imgW="977900" imgH="7112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410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3" name="Object 64"/>
          <p:cNvGraphicFramePr>
            <a:graphicFrameLocks noChangeAspect="1"/>
          </p:cNvGraphicFramePr>
          <p:nvPr/>
        </p:nvGraphicFramePr>
        <p:xfrm>
          <a:off x="6781800" y="5562601"/>
          <a:ext cx="13779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989965" imgH="711200" progId="Equation.3">
                  <p:embed/>
                </p:oleObj>
              </mc:Choice>
              <mc:Fallback>
                <p:oleObj name="" r:id="rId23" imgW="989965" imgH="7112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562601"/>
                        <a:ext cx="1377950" cy="989013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744" name="AutoShape 65"/>
          <p:cNvCxnSpPr>
            <a:cxnSpLocks noChangeShapeType="1"/>
          </p:cNvCxnSpPr>
          <p:nvPr/>
        </p:nvCxnSpPr>
        <p:spPr bwMode="auto">
          <a:xfrm flipH="1" flipV="1">
            <a:off x="3570288" y="5905500"/>
            <a:ext cx="836612" cy="2238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62" name="AutoShape 66"/>
          <p:cNvCxnSpPr>
            <a:cxnSpLocks noChangeShapeType="1"/>
          </p:cNvCxnSpPr>
          <p:nvPr/>
        </p:nvCxnSpPr>
        <p:spPr bwMode="auto">
          <a:xfrm flipV="1">
            <a:off x="5422900" y="6057900"/>
            <a:ext cx="1346200" cy="71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8746" name="Object 67"/>
          <p:cNvGraphicFramePr>
            <a:graphicFrameLocks noChangeAspect="1"/>
          </p:cNvGraphicFramePr>
          <p:nvPr/>
        </p:nvGraphicFramePr>
        <p:xfrm>
          <a:off x="15240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5" imgW="977900" imgH="711200" progId="Equation.3">
                  <p:embed/>
                </p:oleObj>
              </mc:Choice>
              <mc:Fallback>
                <p:oleObj name="" r:id="rId25" imgW="977900" imgH="7112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7" name="Object 68"/>
          <p:cNvGraphicFramePr>
            <a:graphicFrameLocks noChangeAspect="1"/>
          </p:cNvGraphicFramePr>
          <p:nvPr/>
        </p:nvGraphicFramePr>
        <p:xfrm>
          <a:off x="2862264" y="3886201"/>
          <a:ext cx="13604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7" imgW="977900" imgH="711200" progId="Equation.3">
                  <p:embed/>
                </p:oleObj>
              </mc:Choice>
              <mc:Fallback>
                <p:oleObj name="" r:id="rId27" imgW="977900" imgH="7112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3886201"/>
                        <a:ext cx="13604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748" name="AutoShape 69"/>
          <p:cNvCxnSpPr>
            <a:cxnSpLocks noChangeShapeType="1"/>
          </p:cNvCxnSpPr>
          <p:nvPr/>
        </p:nvCxnSpPr>
        <p:spPr bwMode="auto">
          <a:xfrm>
            <a:off x="2967038" y="3711576"/>
            <a:ext cx="576262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749" name="AutoShape 70"/>
          <p:cNvCxnSpPr>
            <a:cxnSpLocks noChangeShapeType="1"/>
          </p:cNvCxnSpPr>
          <p:nvPr/>
        </p:nvCxnSpPr>
        <p:spPr bwMode="auto">
          <a:xfrm flipH="1">
            <a:off x="2205038" y="3711576"/>
            <a:ext cx="762000" cy="1746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6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6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6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6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6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6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06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06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0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0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10656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10655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1065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1065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10654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745" name="AutoShape 2"/>
          <p:cNvCxnSpPr>
            <a:cxnSpLocks noChangeShapeType="1"/>
          </p:cNvCxnSpPr>
          <p:nvPr/>
        </p:nvCxnSpPr>
        <p:spPr bwMode="auto">
          <a:xfrm flipH="1">
            <a:off x="4338638" y="1003301"/>
            <a:ext cx="1643062" cy="3587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46" name="AutoShape 3"/>
          <p:cNvCxnSpPr>
            <a:cxnSpLocks noChangeShapeType="1"/>
          </p:cNvCxnSpPr>
          <p:nvPr/>
        </p:nvCxnSpPr>
        <p:spPr bwMode="auto">
          <a:xfrm>
            <a:off x="5981700" y="1003301"/>
            <a:ext cx="109538" cy="346075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47" name="AutoShape 4"/>
          <p:cNvCxnSpPr>
            <a:cxnSpLocks noChangeShapeType="1"/>
          </p:cNvCxnSpPr>
          <p:nvPr/>
        </p:nvCxnSpPr>
        <p:spPr bwMode="auto">
          <a:xfrm>
            <a:off x="5981700" y="1003301"/>
            <a:ext cx="1709738" cy="35877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9748" name="Object 5"/>
          <p:cNvGraphicFramePr>
            <a:graphicFrameLocks noChangeAspect="1"/>
          </p:cNvGraphicFramePr>
          <p:nvPr/>
        </p:nvGraphicFramePr>
        <p:xfrm>
          <a:off x="3843338" y="1362076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711200" imgH="711200" progId="Equation.3">
                  <p:embed/>
                </p:oleObj>
              </mc:Choice>
              <mc:Fallback>
                <p:oleObj name="" r:id="rId1" imgW="7112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1362076"/>
                        <a:ext cx="9890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9" name="Object 6"/>
          <p:cNvGraphicFramePr>
            <a:graphicFrameLocks noChangeAspect="1"/>
          </p:cNvGraphicFramePr>
          <p:nvPr/>
        </p:nvGraphicFramePr>
        <p:xfrm>
          <a:off x="5595938" y="1362076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711200" imgH="711200" progId="Equation.3">
                  <p:embed/>
                </p:oleObj>
              </mc:Choice>
              <mc:Fallback>
                <p:oleObj name="" r:id="rId3" imgW="7112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1362076"/>
                        <a:ext cx="989012" cy="9890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7"/>
          <p:cNvGraphicFramePr>
            <a:graphicFrameLocks noChangeAspect="1"/>
          </p:cNvGraphicFramePr>
          <p:nvPr/>
        </p:nvGraphicFramePr>
        <p:xfrm>
          <a:off x="7196138" y="1362076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711200" imgH="711200" progId="Equation.3">
                  <p:embed/>
                </p:oleObj>
              </mc:Choice>
              <mc:Fallback>
                <p:oleObj name="" r:id="rId5" imgW="7112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138" y="1362076"/>
                        <a:ext cx="9890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Object 8"/>
          <p:cNvGraphicFramePr>
            <a:graphicFrameLocks noChangeAspect="1"/>
          </p:cNvGraphicFramePr>
          <p:nvPr/>
        </p:nvGraphicFramePr>
        <p:xfrm>
          <a:off x="5595938" y="2743201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711200" imgH="711200" progId="Equation.3">
                  <p:embed/>
                </p:oleObj>
              </mc:Choice>
              <mc:Fallback>
                <p:oleObj name="" r:id="rId7" imgW="7112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2743201"/>
                        <a:ext cx="989012" cy="9890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9"/>
          <p:cNvGraphicFramePr>
            <a:graphicFrameLocks noChangeAspect="1"/>
          </p:cNvGraphicFramePr>
          <p:nvPr/>
        </p:nvGraphicFramePr>
        <p:xfrm>
          <a:off x="3843338" y="2743201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711200" imgH="711200" progId="Equation.3">
                  <p:embed/>
                </p:oleObj>
              </mc:Choice>
              <mc:Fallback>
                <p:oleObj name="" r:id="rId9" imgW="711200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2743201"/>
                        <a:ext cx="9890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3" name="Object 10"/>
          <p:cNvGraphicFramePr>
            <a:graphicFrameLocks noChangeAspect="1"/>
          </p:cNvGraphicFramePr>
          <p:nvPr/>
        </p:nvGraphicFramePr>
        <p:xfrm>
          <a:off x="7196138" y="2743201"/>
          <a:ext cx="9890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711200" imgH="711200" progId="Equation.3">
                  <p:embed/>
                </p:oleObj>
              </mc:Choice>
              <mc:Fallback>
                <p:oleObj name="" r:id="rId11" imgW="711200" imgH="71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138" y="2743201"/>
                        <a:ext cx="9890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754" name="AutoShape 11"/>
          <p:cNvCxnSpPr>
            <a:cxnSpLocks noChangeShapeType="1"/>
          </p:cNvCxnSpPr>
          <p:nvPr/>
        </p:nvCxnSpPr>
        <p:spPr bwMode="auto">
          <a:xfrm flipH="1">
            <a:off x="4338638" y="2363788"/>
            <a:ext cx="1752600" cy="379412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55" name="AutoShape 12"/>
          <p:cNvCxnSpPr>
            <a:cxnSpLocks noChangeShapeType="1"/>
          </p:cNvCxnSpPr>
          <p:nvPr/>
        </p:nvCxnSpPr>
        <p:spPr bwMode="auto">
          <a:xfrm>
            <a:off x="6091238" y="2363788"/>
            <a:ext cx="0" cy="366712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56" name="AutoShape 13"/>
          <p:cNvCxnSpPr>
            <a:cxnSpLocks noChangeShapeType="1"/>
          </p:cNvCxnSpPr>
          <p:nvPr/>
        </p:nvCxnSpPr>
        <p:spPr bwMode="auto">
          <a:xfrm>
            <a:off x="6091238" y="2363788"/>
            <a:ext cx="1600200" cy="379412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9757" name="Object 14"/>
          <p:cNvGraphicFramePr>
            <a:graphicFrameLocks noChangeAspect="1"/>
          </p:cNvGraphicFramePr>
          <p:nvPr/>
        </p:nvGraphicFramePr>
        <p:xfrm>
          <a:off x="4724401" y="4114801"/>
          <a:ext cx="9890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711200" imgH="711200" progId="Equation.3">
                  <p:embed/>
                </p:oleObj>
              </mc:Choice>
              <mc:Fallback>
                <p:oleObj name="" r:id="rId13" imgW="711200" imgH="71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4114801"/>
                        <a:ext cx="989013" cy="9890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8" name="Object 15"/>
          <p:cNvGraphicFramePr>
            <a:graphicFrameLocks noChangeAspect="1"/>
          </p:cNvGraphicFramePr>
          <p:nvPr/>
        </p:nvGraphicFramePr>
        <p:xfrm>
          <a:off x="7196138" y="4081463"/>
          <a:ext cx="98901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711200" imgH="711200" progId="Equation.3">
                  <p:embed/>
                </p:oleObj>
              </mc:Choice>
              <mc:Fallback>
                <p:oleObj name="" r:id="rId15" imgW="7112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138" y="4081463"/>
                        <a:ext cx="98901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759" name="AutoShape 16"/>
          <p:cNvCxnSpPr>
            <a:cxnSpLocks noChangeShapeType="1"/>
          </p:cNvCxnSpPr>
          <p:nvPr/>
        </p:nvCxnSpPr>
        <p:spPr bwMode="auto">
          <a:xfrm flipH="1">
            <a:off x="5219700" y="3744914"/>
            <a:ext cx="871538" cy="357187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60" name="AutoShape 17"/>
          <p:cNvCxnSpPr>
            <a:cxnSpLocks noChangeShapeType="1"/>
          </p:cNvCxnSpPr>
          <p:nvPr/>
        </p:nvCxnSpPr>
        <p:spPr bwMode="auto">
          <a:xfrm>
            <a:off x="6091238" y="3744913"/>
            <a:ext cx="1600200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9761" name="Object 18"/>
          <p:cNvGraphicFramePr>
            <a:graphicFrameLocks noChangeAspect="1"/>
          </p:cNvGraphicFramePr>
          <p:nvPr/>
        </p:nvGraphicFramePr>
        <p:xfrm>
          <a:off x="5607051" y="5564188"/>
          <a:ext cx="9890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711200" imgH="711200" progId="Equation.3">
                  <p:embed/>
                </p:oleObj>
              </mc:Choice>
              <mc:Fallback>
                <p:oleObj name="" r:id="rId17" imgW="711200" imgH="71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1" y="5564188"/>
                        <a:ext cx="989013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762" name="AutoShape 19"/>
          <p:cNvCxnSpPr>
            <a:cxnSpLocks noChangeShapeType="1"/>
          </p:cNvCxnSpPr>
          <p:nvPr/>
        </p:nvCxnSpPr>
        <p:spPr bwMode="auto">
          <a:xfrm>
            <a:off x="5219700" y="5116514"/>
            <a:ext cx="882650" cy="434975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9763" name="Object 20"/>
          <p:cNvGraphicFramePr>
            <a:graphicFrameLocks noChangeAspect="1"/>
          </p:cNvGraphicFramePr>
          <p:nvPr/>
        </p:nvGraphicFramePr>
        <p:xfrm>
          <a:off x="3733801" y="5562601"/>
          <a:ext cx="9890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711200" imgH="711200" progId="Equation.3">
                  <p:embed/>
                </p:oleObj>
              </mc:Choice>
              <mc:Fallback>
                <p:oleObj name="" r:id="rId19" imgW="711200" imgH="711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5562601"/>
                        <a:ext cx="9890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4" name="Object 21"/>
          <p:cNvGraphicFramePr>
            <a:graphicFrameLocks noChangeAspect="1"/>
          </p:cNvGraphicFramePr>
          <p:nvPr/>
        </p:nvGraphicFramePr>
        <p:xfrm>
          <a:off x="7620001" y="5564188"/>
          <a:ext cx="9890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711200" imgH="711200" progId="Equation.3">
                  <p:embed/>
                </p:oleObj>
              </mc:Choice>
              <mc:Fallback>
                <p:oleObj name="" r:id="rId21" imgW="711200" imgH="71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5564188"/>
                        <a:ext cx="989013" cy="989012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765" name="AutoShape 22"/>
          <p:cNvCxnSpPr>
            <a:cxnSpLocks noChangeShapeType="1"/>
          </p:cNvCxnSpPr>
          <p:nvPr/>
        </p:nvCxnSpPr>
        <p:spPr bwMode="auto">
          <a:xfrm flipH="1" flipV="1">
            <a:off x="4722814" y="6057900"/>
            <a:ext cx="871537" cy="158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766" name="AutoShape 23"/>
          <p:cNvCxnSpPr>
            <a:cxnSpLocks noChangeShapeType="1"/>
          </p:cNvCxnSpPr>
          <p:nvPr/>
        </p:nvCxnSpPr>
        <p:spPr bwMode="auto">
          <a:xfrm>
            <a:off x="6608764" y="6059488"/>
            <a:ext cx="998537" cy="0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9767" name="Object 24"/>
          <p:cNvGraphicFramePr>
            <a:graphicFrameLocks noChangeAspect="1"/>
          </p:cNvGraphicFramePr>
          <p:nvPr/>
        </p:nvGraphicFramePr>
        <p:xfrm>
          <a:off x="5486400" y="0"/>
          <a:ext cx="990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711200" imgH="711200" progId="Equation.3">
                  <p:embed/>
                </p:oleObj>
              </mc:Choice>
              <mc:Fallback>
                <p:oleObj name="" r:id="rId23" imgW="711200" imgH="711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0"/>
                        <a:ext cx="990600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8" name="Rectangle 25"/>
          <p:cNvSpPr>
            <a:spLocks noChangeArrowheads="1"/>
          </p:cNvSpPr>
          <p:nvPr/>
        </p:nvSpPr>
        <p:spPr bwMode="auto">
          <a:xfrm>
            <a:off x="1828800" y="4143376"/>
            <a:ext cx="2603500" cy="5191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Times New Roman" panose="02020603050405020304"/>
                <a:ea typeface="黑体" panose="02010609060101010101" charset="-122"/>
              </a:rPr>
              <a:t>最理想搜索图</a:t>
            </a: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/>
                <a:ea typeface="黑体" panose="02010609060101010101" charset="-122"/>
              </a:rPr>
              <a:t>G</a:t>
            </a:r>
            <a:endParaRPr lang="en-US" altLang="zh-CN" sz="2800" i="1" dirty="0">
              <a:solidFill>
                <a:srgbClr val="FFFFFF"/>
              </a:solidFill>
              <a:latin typeface="Times New Roman" panose="02020603050405020304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86" name="Oval 42"/>
          <p:cNvSpPr>
            <a:spLocks noChangeArrowheads="1"/>
          </p:cNvSpPr>
          <p:nvPr/>
        </p:nvSpPr>
        <p:spPr bwMode="auto">
          <a:xfrm>
            <a:off x="2362200" y="2362200"/>
            <a:ext cx="3276600" cy="32004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8587" name="Text Box 43"/>
          <p:cNvSpPr txBox="1">
            <a:spLocks noChangeArrowheads="1"/>
          </p:cNvSpPr>
          <p:nvPr/>
        </p:nvSpPr>
        <p:spPr bwMode="auto">
          <a:xfrm>
            <a:off x="1766888" y="5562600"/>
            <a:ext cx="1662113" cy="52322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2847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7419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1991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656330" indent="190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判断失误</a:t>
            </a:r>
            <a:endParaRPr lang="zh-CN" altLang="en-US" sz="28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61795" name="Object 44"/>
          <p:cNvGraphicFramePr>
            <a:graphicFrameLocks noChangeAspect="1"/>
          </p:cNvGraphicFramePr>
          <p:nvPr/>
        </p:nvGraphicFramePr>
        <p:xfrm>
          <a:off x="5605463" y="0"/>
          <a:ext cx="13446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65200" imgH="711200" progId="Equation.3">
                  <p:embed/>
                </p:oleObj>
              </mc:Choice>
              <mc:Fallback>
                <p:oleObj name="" r:id="rId1" imgW="965200" imgH="7112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0"/>
                        <a:ext cx="1344612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796" name="AutoShape 45"/>
          <p:cNvCxnSpPr>
            <a:cxnSpLocks noChangeShapeType="1"/>
          </p:cNvCxnSpPr>
          <p:nvPr/>
        </p:nvCxnSpPr>
        <p:spPr bwMode="auto">
          <a:xfrm flipH="1">
            <a:off x="4481513" y="1003300"/>
            <a:ext cx="17970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797" name="AutoShape 46"/>
          <p:cNvCxnSpPr>
            <a:cxnSpLocks noChangeShapeType="1"/>
          </p:cNvCxnSpPr>
          <p:nvPr/>
        </p:nvCxnSpPr>
        <p:spPr bwMode="auto">
          <a:xfrm flipH="1">
            <a:off x="6234113" y="1033464"/>
            <a:ext cx="4762" cy="282575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798" name="AutoShape 47"/>
          <p:cNvCxnSpPr>
            <a:cxnSpLocks noChangeShapeType="1"/>
          </p:cNvCxnSpPr>
          <p:nvPr/>
        </p:nvCxnSpPr>
        <p:spPr bwMode="auto">
          <a:xfrm>
            <a:off x="6278563" y="1003300"/>
            <a:ext cx="1555750" cy="3254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1799" name="Object 48"/>
          <p:cNvGraphicFramePr>
            <a:graphicFrameLocks noChangeAspect="1"/>
          </p:cNvGraphicFramePr>
          <p:nvPr/>
        </p:nvGraphicFramePr>
        <p:xfrm>
          <a:off x="3800475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977900" imgH="711200" progId="Equation.3">
                  <p:embed/>
                </p:oleObj>
              </mc:Choice>
              <mc:Fallback>
                <p:oleObj name="" r:id="rId3" imgW="977900" imgH="71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0" name="Object 49"/>
          <p:cNvGraphicFramePr>
            <a:graphicFrameLocks noChangeAspect="1"/>
          </p:cNvGraphicFramePr>
          <p:nvPr/>
        </p:nvGraphicFramePr>
        <p:xfrm>
          <a:off x="5553075" y="132873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977900" imgH="711200" progId="Equation.3">
                  <p:embed/>
                </p:oleObj>
              </mc:Choice>
              <mc:Fallback>
                <p:oleObj name="" r:id="rId5" imgW="977900" imgH="7112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32873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1" name="Object 50"/>
          <p:cNvGraphicFramePr>
            <a:graphicFrameLocks noChangeAspect="1"/>
          </p:cNvGraphicFramePr>
          <p:nvPr/>
        </p:nvGraphicFramePr>
        <p:xfrm>
          <a:off x="7162800" y="1328738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65200" imgH="711200" progId="Equation.3">
                  <p:embed/>
                </p:oleObj>
              </mc:Choice>
              <mc:Fallback>
                <p:oleObj name="" r:id="rId7" imgW="965200" imgH="7112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328738"/>
                        <a:ext cx="134143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2" name="Object 51"/>
          <p:cNvGraphicFramePr>
            <a:graphicFrameLocks noChangeAspect="1"/>
          </p:cNvGraphicFramePr>
          <p:nvPr/>
        </p:nvGraphicFramePr>
        <p:xfrm>
          <a:off x="5562600" y="2709863"/>
          <a:ext cx="13414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965200" imgH="711200" progId="Equation.3">
                  <p:embed/>
                </p:oleObj>
              </mc:Choice>
              <mc:Fallback>
                <p:oleObj name="" r:id="rId9" imgW="965200" imgH="7112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709863"/>
                        <a:ext cx="1341438" cy="989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3" name="Object 52"/>
          <p:cNvGraphicFramePr>
            <a:graphicFrameLocks noChangeAspect="1"/>
          </p:cNvGraphicFramePr>
          <p:nvPr/>
        </p:nvGraphicFramePr>
        <p:xfrm>
          <a:off x="3352800" y="26670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977900" imgH="711200" progId="Equation.3">
                  <p:embed/>
                </p:oleObj>
              </mc:Choice>
              <mc:Fallback>
                <p:oleObj name="" r:id="rId11" imgW="977900" imgH="7112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67001"/>
                        <a:ext cx="1360488" cy="9890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4" name="Object 53"/>
          <p:cNvGraphicFramePr>
            <a:graphicFrameLocks noChangeAspect="1"/>
          </p:cNvGraphicFramePr>
          <p:nvPr/>
        </p:nvGraphicFramePr>
        <p:xfrm>
          <a:off x="7153276" y="26670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3" imgW="939165" imgH="711200" progId="Equation.3">
                  <p:embed/>
                </p:oleObj>
              </mc:Choice>
              <mc:Fallback>
                <p:oleObj name="" r:id="rId13" imgW="939165" imgH="7112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276" y="2667001"/>
                        <a:ext cx="130651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805" name="AutoShape 54"/>
          <p:cNvCxnSpPr>
            <a:cxnSpLocks noChangeShapeType="1"/>
          </p:cNvCxnSpPr>
          <p:nvPr/>
        </p:nvCxnSpPr>
        <p:spPr bwMode="auto">
          <a:xfrm flipH="1">
            <a:off x="4033839" y="2330450"/>
            <a:ext cx="2200275" cy="3238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806" name="AutoShape 55"/>
          <p:cNvCxnSpPr>
            <a:cxnSpLocks noChangeShapeType="1"/>
          </p:cNvCxnSpPr>
          <p:nvPr/>
        </p:nvCxnSpPr>
        <p:spPr bwMode="auto">
          <a:xfrm>
            <a:off x="6234113" y="2330451"/>
            <a:ext cx="0" cy="366713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807" name="AutoShape 56"/>
          <p:cNvCxnSpPr>
            <a:cxnSpLocks noChangeShapeType="1"/>
          </p:cNvCxnSpPr>
          <p:nvPr/>
        </p:nvCxnSpPr>
        <p:spPr bwMode="auto">
          <a:xfrm>
            <a:off x="6234113" y="2330450"/>
            <a:ext cx="1573212" cy="336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1808" name="Object 57"/>
          <p:cNvGraphicFramePr>
            <a:graphicFrameLocks noChangeAspect="1"/>
          </p:cNvGraphicFramePr>
          <p:nvPr/>
        </p:nvGraphicFramePr>
        <p:xfrm>
          <a:off x="6248401" y="4038601"/>
          <a:ext cx="13065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939165" imgH="711200" progId="Equation.3">
                  <p:embed/>
                </p:oleObj>
              </mc:Choice>
              <mc:Fallback>
                <p:oleObj name="" r:id="rId15" imgW="939165" imgH="7112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038601"/>
                        <a:ext cx="1306513" cy="9890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9" name="Object 58"/>
          <p:cNvGraphicFramePr>
            <a:graphicFrameLocks noChangeAspect="1"/>
          </p:cNvGraphicFramePr>
          <p:nvPr/>
        </p:nvGraphicFramePr>
        <p:xfrm>
          <a:off x="8305801" y="3962401"/>
          <a:ext cx="14128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016000" imgH="711200" progId="Equation.3">
                  <p:embed/>
                </p:oleObj>
              </mc:Choice>
              <mc:Fallback>
                <p:oleObj name="" r:id="rId17" imgW="1016000" imgH="7112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1" y="3962401"/>
                        <a:ext cx="14128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810" name="AutoShape 59"/>
          <p:cNvCxnSpPr>
            <a:cxnSpLocks noChangeShapeType="1"/>
          </p:cNvCxnSpPr>
          <p:nvPr/>
        </p:nvCxnSpPr>
        <p:spPr bwMode="auto">
          <a:xfrm>
            <a:off x="6234114" y="3711576"/>
            <a:ext cx="668337" cy="314325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811" name="AutoShape 60"/>
          <p:cNvCxnSpPr>
            <a:cxnSpLocks noChangeShapeType="1"/>
          </p:cNvCxnSpPr>
          <p:nvPr/>
        </p:nvCxnSpPr>
        <p:spPr bwMode="auto">
          <a:xfrm>
            <a:off x="6234114" y="3711576"/>
            <a:ext cx="2778125" cy="2508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1812" name="Object 61"/>
          <p:cNvGraphicFramePr>
            <a:graphicFrameLocks noChangeAspect="1"/>
          </p:cNvGraphicFramePr>
          <p:nvPr/>
        </p:nvGraphicFramePr>
        <p:xfrm>
          <a:off x="5934075" y="5475288"/>
          <a:ext cx="9906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711200" imgH="939165" progId="Equation.3">
                  <p:embed/>
                </p:oleObj>
              </mc:Choice>
              <mc:Fallback>
                <p:oleObj name="" r:id="rId19" imgW="711200" imgH="939165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5475288"/>
                        <a:ext cx="990600" cy="13065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813" name="AutoShape 62"/>
          <p:cNvCxnSpPr>
            <a:cxnSpLocks noChangeShapeType="1"/>
          </p:cNvCxnSpPr>
          <p:nvPr/>
        </p:nvCxnSpPr>
        <p:spPr bwMode="auto">
          <a:xfrm flipH="1">
            <a:off x="6429376" y="5040314"/>
            <a:ext cx="473075" cy="422275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1814" name="Object 63"/>
          <p:cNvGraphicFramePr>
            <a:graphicFrameLocks noChangeAspect="1"/>
          </p:cNvGraphicFramePr>
          <p:nvPr/>
        </p:nvGraphicFramePr>
        <p:xfrm>
          <a:off x="3724275" y="5640388"/>
          <a:ext cx="136048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977900" imgH="711200" progId="Equation.3">
                  <p:embed/>
                </p:oleObj>
              </mc:Choice>
              <mc:Fallback>
                <p:oleObj name="" r:id="rId21" imgW="977900" imgH="7112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275" y="5640388"/>
                        <a:ext cx="1360488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5" name="Object 64"/>
          <p:cNvGraphicFramePr>
            <a:graphicFrameLocks noChangeAspect="1"/>
          </p:cNvGraphicFramePr>
          <p:nvPr/>
        </p:nvGraphicFramePr>
        <p:xfrm>
          <a:off x="8296275" y="5562601"/>
          <a:ext cx="13779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989965" imgH="711200" progId="Equation.3">
                  <p:embed/>
                </p:oleObj>
              </mc:Choice>
              <mc:Fallback>
                <p:oleObj name="" r:id="rId23" imgW="989965" imgH="7112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6275" y="5562601"/>
                        <a:ext cx="1377950" cy="989013"/>
                      </a:xfrm>
                      <a:prstGeom prst="rect">
                        <a:avLst/>
                      </a:prstGeom>
                      <a:solidFill>
                        <a:srgbClr val="66FF66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816" name="AutoShape 65"/>
          <p:cNvCxnSpPr>
            <a:cxnSpLocks noChangeShapeType="1"/>
          </p:cNvCxnSpPr>
          <p:nvPr/>
        </p:nvCxnSpPr>
        <p:spPr bwMode="auto">
          <a:xfrm flipH="1">
            <a:off x="5084763" y="6129338"/>
            <a:ext cx="836612" cy="63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817" name="AutoShape 66"/>
          <p:cNvCxnSpPr>
            <a:cxnSpLocks noChangeShapeType="1"/>
          </p:cNvCxnSpPr>
          <p:nvPr/>
        </p:nvCxnSpPr>
        <p:spPr bwMode="auto">
          <a:xfrm flipV="1">
            <a:off x="6937375" y="6057900"/>
            <a:ext cx="1346200" cy="71438"/>
          </a:xfrm>
          <a:prstGeom prst="straightConnector1">
            <a:avLst/>
          </a:prstGeom>
          <a:noFill/>
          <a:ln w="101600">
            <a:solidFill>
              <a:srgbClr val="FF0000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1818" name="Object 67"/>
          <p:cNvGraphicFramePr>
            <a:graphicFrameLocks noChangeAspect="1"/>
          </p:cNvGraphicFramePr>
          <p:nvPr/>
        </p:nvGraphicFramePr>
        <p:xfrm>
          <a:off x="27432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5" imgW="977900" imgH="711200" progId="Equation.3">
                  <p:embed/>
                </p:oleObj>
              </mc:Choice>
              <mc:Fallback>
                <p:oleObj name="" r:id="rId25" imgW="977900" imgH="7112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9" name="Object 68"/>
          <p:cNvGraphicFramePr>
            <a:graphicFrameLocks noChangeAspect="1"/>
          </p:cNvGraphicFramePr>
          <p:nvPr/>
        </p:nvGraphicFramePr>
        <p:xfrm>
          <a:off x="4114800" y="3886201"/>
          <a:ext cx="1360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7" imgW="977900" imgH="711200" progId="Equation.3">
                  <p:embed/>
                </p:oleObj>
              </mc:Choice>
              <mc:Fallback>
                <p:oleObj name="" r:id="rId27" imgW="977900" imgH="7112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886201"/>
                        <a:ext cx="1360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820" name="AutoShape 69"/>
          <p:cNvCxnSpPr>
            <a:cxnSpLocks noChangeShapeType="1"/>
          </p:cNvCxnSpPr>
          <p:nvPr/>
        </p:nvCxnSpPr>
        <p:spPr bwMode="auto">
          <a:xfrm>
            <a:off x="4033838" y="3668714"/>
            <a:ext cx="762000" cy="217487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1821" name="AutoShape 70"/>
          <p:cNvCxnSpPr>
            <a:cxnSpLocks noChangeShapeType="1"/>
          </p:cNvCxnSpPr>
          <p:nvPr/>
        </p:nvCxnSpPr>
        <p:spPr bwMode="auto">
          <a:xfrm flipH="1">
            <a:off x="3424238" y="3668714"/>
            <a:ext cx="609600" cy="217487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1000"/>
                                        <p:tgtEl>
                                          <p:spTgt spid="1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6" grpId="0" animBg="1"/>
      <p:bldP spid="10858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04429" y="2297516"/>
            <a:ext cx="7140575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Wingdings" panose="05000000000000000000" charset="0"/>
              <a:buChar char="ü"/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评价函数 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f*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b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</a:b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	 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2800" kern="0" baseline="3000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(x)=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g</a:t>
            </a:r>
            <a:r>
              <a:rPr lang="en-US" altLang="zh-CN" sz="2800" kern="0" baseline="3000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)+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0" baseline="3000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 </a:t>
            </a:r>
            <a:endParaRPr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04429" y="3623035"/>
            <a:ext cx="7140575" cy="1712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2800" kern="0" baseline="30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：经由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的实际最短路径代价</a:t>
            </a:r>
            <a:endParaRPr lang="zh-CN" altLang="en-US" sz="2800" kern="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g</a:t>
            </a:r>
            <a:r>
              <a:rPr lang="en-US" altLang="zh-CN" sz="2800" kern="0" baseline="30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：初始状态结点到结点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的实际代价</a:t>
            </a:r>
            <a:endParaRPr lang="zh-CN" altLang="en-US" sz="2800" kern="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0" baseline="30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：结点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到目标状态的实际代价</a:t>
            </a:r>
            <a:endParaRPr lang="zh-CN" altLang="en-US" sz="2800" kern="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04430" y="1095479"/>
            <a:ext cx="7750175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Wingdings" panose="05000000000000000000" charset="0"/>
              <a:buChar char="ü"/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算法中评价函数 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f 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b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</a:b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	  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(x)=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g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)+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srgbClr val="0000FF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 </a:t>
            </a:r>
            <a:endParaRPr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04429" y="5504349"/>
            <a:ext cx="7140575" cy="59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若对于任意 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，总有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)≤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0" baseline="3000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0" dirty="0">
                <a:solidFill>
                  <a:prstClr val="black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，称为</a:t>
            </a:r>
            <a:r>
              <a:rPr lang="en-US" altLang="zh-CN" sz="2800" kern="0" dirty="0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A*</a:t>
            </a:r>
            <a:r>
              <a:rPr lang="zh-CN" altLang="en-US" sz="2800" kern="0" dirty="0">
                <a:solidFill>
                  <a:srgbClr val="C00000"/>
                </a:solidFill>
                <a:latin typeface="Times New Roman" panose="02020603050405020304"/>
                <a:ea typeface="黑体" panose="02010609060101010101" charset="-122"/>
                <a:cs typeface="Times New Roman" panose="02020603050405020304" pitchFamily="18" charset="0"/>
              </a:rPr>
              <a:t>算法。</a:t>
            </a:r>
            <a:endParaRPr lang="zh-CN" altLang="en-US" sz="2800" kern="0" dirty="0">
              <a:solidFill>
                <a:srgbClr val="C00000"/>
              </a:solidFill>
              <a:latin typeface="Times New Roman" panose="02020603050405020304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030008" y="1228719"/>
                <a:ext cx="8321905" cy="2769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FF0000"/>
                    </a:solidFill>
                    <a:latin typeface="黑体" panose="02010609060101010101" charset="-122"/>
                    <a:ea typeface="黑体" panose="02010609060101010101" charset="-122"/>
                  </a:rPr>
                  <a:t>定义评价函数：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charset="-122"/>
                          </a:rPr>
                          <m:t>𝑛</m:t>
                        </m:r>
                      </m:e>
                    </m:d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g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charset="-122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+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ℎ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𝑛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g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表示从起始节点到节点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的开销代价值，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ℎ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表示从节点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到目标节点路径中所估算的最小开销代价值。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可视为经过节点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𝑛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、具有最小开销代价值的路径。</a:t>
                </a:r>
                <a:endParaRPr lang="en-US" altLang="zh-CN" sz="2400" dirty="0">
                  <a:solidFill>
                    <a:prstClr val="black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008" y="1228719"/>
                <a:ext cx="8321905" cy="2769989"/>
              </a:xfrm>
              <a:prstGeom prst="rect">
                <a:avLst/>
              </a:prstGeom>
              <a:blipFill rotWithShape="1">
                <a:blip r:embed="rId1"/>
                <a:stretch>
                  <a:fillRect l="-7" t="-23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296196" y="3815789"/>
                <a:ext cx="7823164" cy="2032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zh-CN" sz="2400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  <m:t>评价函数</m:t>
                          </m:r>
                        </m:lim>
                      </m:limLow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/>
                        </a:rPr>
                        <m:t>=</m:t>
                      </m:r>
                      <m:limLow>
                        <m:limLow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起始节点到节点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代价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当前最小代价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</m:eqArr>
                        </m:lim>
                      </m:limLow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/>
                        </a:rPr>
                        <m:t>+    </m:t>
                      </m:r>
                      <m:limLow>
                        <m:limLow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ℎ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节点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到目标结点代价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lang="zh-CN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后续估计最小代价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zh-CN" altLang="zh-CN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196" y="3815789"/>
                <a:ext cx="7823164" cy="2032095"/>
              </a:xfrm>
              <a:prstGeom prst="rect">
                <a:avLst/>
              </a:prstGeom>
              <a:blipFill rotWithShape="1">
                <a:blip r:embed="rId2"/>
                <a:stretch>
                  <a:fillRect t="-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994453" y="844048"/>
            <a:ext cx="8249480" cy="5424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7142923" y="5277266"/>
                <a:ext cx="347206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charset="-122"/>
                  </a:rPr>
                  <a:t>最短路径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A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E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G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 panose="02040503050406030204"/>
                      </a:rPr>
                      <m:t>K</m:t>
                    </m:r>
                  </m:oMath>
                </a14:m>
                <a:endParaRPr lang="zh-CN" altLang="en-US" sz="24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23" y="5277266"/>
                <a:ext cx="3472069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3" t="-90" r="10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3"/>
          <p:cNvSpPr txBox="1"/>
          <p:nvPr/>
        </p:nvSpPr>
        <p:spPr>
          <a:xfrm>
            <a:off x="1524000" y="159991"/>
            <a:ext cx="9144000" cy="65405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61925" algn="l" defTabSz="6858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0" dirty="0">
                <a:solidFill>
                  <a:prstClr val="black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搜索算法：</a:t>
            </a:r>
            <a:r>
              <a:rPr lang="en-US" altLang="zh-CN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A*</a:t>
            </a:r>
            <a:r>
              <a:rPr lang="zh-CN" altLang="en-US" sz="4300" b="0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0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035" y="843915"/>
            <a:ext cx="3021965" cy="2006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50620" y="5899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10+3=13---&gt;6+4+3=AE+EH+3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WPS 演示</Application>
  <PresentationFormat>宽屏</PresentationFormat>
  <Paragraphs>466</Paragraphs>
  <Slides>35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110</vt:i4>
      </vt:variant>
      <vt:variant>
        <vt:lpstr>幻灯片标题</vt:lpstr>
      </vt:variant>
      <vt:variant>
        <vt:i4>35</vt:i4>
      </vt:variant>
    </vt:vector>
  </HeadingPairs>
  <TitlesOfParts>
    <vt:vector size="168" baseType="lpstr">
      <vt:lpstr>Arial</vt:lpstr>
      <vt:lpstr>宋体</vt:lpstr>
      <vt:lpstr>Wingdings</vt:lpstr>
      <vt:lpstr>Tahoma</vt:lpstr>
      <vt:lpstr>华文行楷</vt:lpstr>
      <vt:lpstr>微软雅黑</vt:lpstr>
      <vt:lpstr>Times New Roman</vt:lpstr>
      <vt:lpstr>黑体</vt:lpstr>
      <vt:lpstr>Verdana</vt:lpstr>
      <vt:lpstr>Times New Roman</vt:lpstr>
      <vt:lpstr>Calibri</vt:lpstr>
      <vt:lpstr>华光姚体_CNKI</vt:lpstr>
      <vt:lpstr>方正姚体</vt:lpstr>
      <vt:lpstr>Wingdings</vt:lpstr>
      <vt:lpstr>楷体</vt:lpstr>
      <vt:lpstr>Wingdings 2</vt:lpstr>
      <vt:lpstr>Cambria Math</vt:lpstr>
      <vt:lpstr>Arial Unicode MS</vt:lpstr>
      <vt:lpstr>等线</vt:lpstr>
      <vt:lpstr>Symbol</vt:lpstr>
      <vt:lpstr>Cambria Math</vt:lpstr>
      <vt:lpstr>Trebuchet MS</vt:lpstr>
      <vt:lpstr>白底灰边-Office2010风格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搜索与求解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jiajing</dc:creator>
  <cp:lastModifiedBy>梁桐</cp:lastModifiedBy>
  <cp:revision>3</cp:revision>
  <dcterms:created xsi:type="dcterms:W3CDTF">2022-04-21T01:48:00Z</dcterms:created>
  <dcterms:modified xsi:type="dcterms:W3CDTF">2025-06-16T03:08:44Z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E23F442BD8184B18B1DD79E0582DF3F3_12</vt:lpwstr>
  </property>
  <property fmtid="{D5CDD505-2E9C-101B-9397-08002B2CF9AE}" pid="3" name="KSOProductBuildVer">
    <vt:lpwstr>2052-12.1.0.19770</vt:lpwstr>
  </property>
</Properties>
</file>