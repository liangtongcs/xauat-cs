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663" r:id="rId3"/>
    <p:sldId id="664" r:id="rId5"/>
    <p:sldId id="665" r:id="rId6"/>
    <p:sldId id="673" r:id="rId7"/>
    <p:sldId id="852" r:id="rId8"/>
    <p:sldId id="853" r:id="rId9"/>
    <p:sldId id="854" r:id="rId10"/>
    <p:sldId id="666" r:id="rId11"/>
    <p:sldId id="874" r:id="rId12"/>
    <p:sldId id="855" r:id="rId13"/>
    <p:sldId id="858" r:id="rId14"/>
    <p:sldId id="859" r:id="rId15"/>
    <p:sldId id="860" r:id="rId16"/>
    <p:sldId id="856" r:id="rId17"/>
    <p:sldId id="857" r:id="rId18"/>
    <p:sldId id="861" r:id="rId19"/>
    <p:sldId id="862" r:id="rId20"/>
    <p:sldId id="863" r:id="rId21"/>
    <p:sldId id="864" r:id="rId22"/>
    <p:sldId id="672" r:id="rId23"/>
    <p:sldId id="866" r:id="rId24"/>
    <p:sldId id="867" r:id="rId25"/>
    <p:sldId id="868" r:id="rId26"/>
    <p:sldId id="865" r:id="rId27"/>
    <p:sldId id="869" r:id="rId28"/>
    <p:sldId id="674" r:id="rId29"/>
    <p:sldId id="870" r:id="rId30"/>
    <p:sldId id="871" r:id="rId31"/>
    <p:sldId id="675" r:id="rId32"/>
    <p:sldId id="872" r:id="rId33"/>
    <p:sldId id="873"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2" autoAdjust="0"/>
    <p:restoredTop sz="94660"/>
  </p:normalViewPr>
  <p:slideViewPr>
    <p:cSldViewPr snapToGrid="0">
      <p:cViewPr varScale="1">
        <p:scale>
          <a:sx n="68" d="100"/>
          <a:sy n="68" d="100"/>
        </p:scale>
        <p:origin x="648"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C55CDA-6706-4521-BF34-6D12A596F35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CCE8D2-6FF8-4C0D-B8D2-FCF33CBC61F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ChangeArrowheads="1" noTextEdit="1"/>
          </p:cNvSpPr>
          <p:nvPr>
            <p:ph type="sldImg"/>
          </p:nvPr>
        </p:nvSpPr>
        <p:spPr>
          <a:xfrm>
            <a:off x="1143000" y="685800"/>
            <a:ext cx="4572000" cy="3429000"/>
          </a:xfrm>
        </p:spPr>
      </p:sp>
      <p:sp>
        <p:nvSpPr>
          <p:cNvPr id="19458" name="备注占位符 2"/>
          <p:cNvSpPr>
            <a:spLocks noGrp="1" noChangeArrowheads="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灯片编号占位符 3"/>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DA079DD9-C9D1-C543-AF12-536BB687E807}" type="slidenum">
              <a:rPr kumimoji="0" lang="en-US" altLang="zh-CN" sz="2800" b="0" i="0" u="none" strike="noStrike" kern="1200" cap="none" spc="0" normalizeH="0" baseline="0" noProof="0" smtClean="0">
                <a:ln>
                  <a:noFill/>
                </a:ln>
                <a:solidFill>
                  <a:prstClr val="black"/>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A42E54B1-0884-4633-8327-893DAA1E511F}"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845B6709-067F-4154-9C9A-D56718F28438}"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5D8D4C65-E77B-45F2-BD81-CFF9643C0CCF}"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7181A378-AD84-4E06-B1B5-6D5F5ACB78A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a:prstGeom prst="rect">
            <a:avLst/>
          </a:prstGeom>
        </p:spPr>
        <p:txBody>
          <a:bodyPr/>
          <a:lstStyle/>
          <a:p>
            <a:r>
              <a:rPr lang="zh-CN" altLang="en-US"/>
              <a:t>单击此处编辑母版标题样式</a:t>
            </a:r>
            <a:endParaRPr lang="zh-CN" altLang="en-US"/>
          </a:p>
        </p:txBody>
      </p:sp>
      <p:sp>
        <p:nvSpPr>
          <p:cNvPr id="3" name="Rectangle 2"/>
          <p:cNvSpPr>
            <a:spLocks noGrp="1" noChangeArrowheads="1"/>
          </p:cNvSpPr>
          <p:nvPr>
            <p:ph type="sldNum" sz="quarter" idx="10"/>
          </p:nvPr>
        </p:nvSpPr>
        <p:spPr/>
        <p:txBody>
          <a:bodyPr/>
          <a:lstStyle>
            <a:lvl1pPr>
              <a:defRPr/>
            </a:lvl1pPr>
          </a:lstStyle>
          <a:p>
            <a:pPr>
              <a:defRPr/>
            </a:pPr>
            <a:fld id="{564B43B8-EC4A-5743-9CA4-764B42BFAC9D}" type="slidenum">
              <a:rPr lang="zh-CN" altLang="en-US"/>
            </a:fld>
            <a:endParaRPr lang="en-US" altLang="zh-CN" sz="135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81A378-AD84-4E06-B1B5-6D5F5ACB78AE}" type="datetime1">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84F5B-1672-4D3F-9FEC-5DF89A7B791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3" y="2"/>
            <a:ext cx="6780609" cy="90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r>
              <a:rPr lang="zh-CN" altLang="en-US" sz="4000" b="1" dirty="0">
                <a:solidFill>
                  <a:srgbClr val="C00000"/>
                </a:solidFill>
                <a:latin typeface="方正姚体" panose="02010601030101010101" pitchFamily="2" charset="-122"/>
                <a:ea typeface="方正姚体" panose="02010601030101010101" pitchFamily="2" charset="-122"/>
                <a:sym typeface="Times New Roman" panose="02020603050405020304" pitchFamily="18" charset="0"/>
              </a:rPr>
              <a:t>  提纲</a:t>
            </a:r>
            <a:endParaRPr lang="zh-CN" altLang="en-US" sz="4000" b="1" dirty="0">
              <a:solidFill>
                <a:srgbClr val="C00000"/>
              </a:solidFill>
              <a:latin typeface="方正姚体" panose="02010601030101010101" pitchFamily="2" charset="-122"/>
              <a:ea typeface="方正姚体" panose="02010601030101010101" pitchFamily="2" charset="-122"/>
              <a:sym typeface="Times New Roman" panose="02020603050405020304" pitchFamily="18" charset="0"/>
            </a:endParaRPr>
          </a:p>
        </p:txBody>
      </p:sp>
      <p:sp>
        <p:nvSpPr>
          <p:cNvPr id="22" name="矩形 7"/>
          <p:cNvSpPr>
            <a:spLocks noChangeArrowheads="1"/>
          </p:cNvSpPr>
          <p:nvPr/>
        </p:nvSpPr>
        <p:spPr bwMode="auto">
          <a:xfrm>
            <a:off x="233847" y="2449856"/>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panose="02020603050405020304"/>
                <a:ea typeface="微软雅黑" panose="020B0503020204020204" pitchFamily="34" charset="-122"/>
                <a:sym typeface="Calibri" panose="020F0502020204030204" pitchFamily="34" charset="0"/>
              </a:rPr>
              <a:t>二、对抗搜索</a:t>
            </a:r>
            <a:endParaRPr kumimoji="0" lang="zh-CN" altLang="en-US" sz="2800" b="1" dirty="0">
              <a:solidFill>
                <a:srgbClr val="C00000"/>
              </a:solidFill>
              <a:latin typeface="Times New Roman" panose="02020603050405020304"/>
              <a:ea typeface="微软雅黑" panose="020B0503020204020204" pitchFamily="34" charset="-122"/>
              <a:sym typeface="Calibri" panose="020F0502020204030204" pitchFamily="34" charset="0"/>
            </a:endParaRPr>
          </a:p>
        </p:txBody>
      </p:sp>
      <p:sp>
        <p:nvSpPr>
          <p:cNvPr id="24" name="矩形 7"/>
          <p:cNvSpPr>
            <a:spLocks noChangeArrowheads="1"/>
          </p:cNvSpPr>
          <p:nvPr/>
        </p:nvSpPr>
        <p:spPr bwMode="auto">
          <a:xfrm>
            <a:off x="233847" y="1434072"/>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panose="02020603050405020304"/>
                <a:ea typeface="微软雅黑" panose="020B0503020204020204" pitchFamily="34" charset="-122"/>
              </a:rPr>
              <a:t>一、启发搜索</a:t>
            </a:r>
            <a:endParaRPr kumimoji="0" lang="zh-CN" altLang="en-US" sz="2800" b="1" dirty="0">
              <a:solidFill>
                <a:srgbClr val="C00000"/>
              </a:solidFill>
              <a:latin typeface="Times New Roman" panose="02020603050405020304"/>
              <a:ea typeface="微软雅黑" panose="020B0503020204020204" pitchFamily="34" charset="-122"/>
            </a:endParaRPr>
          </a:p>
        </p:txBody>
      </p:sp>
      <p:sp>
        <p:nvSpPr>
          <p:cNvPr id="6" name="矩形 7"/>
          <p:cNvSpPr>
            <a:spLocks noChangeArrowheads="1"/>
          </p:cNvSpPr>
          <p:nvPr/>
        </p:nvSpPr>
        <p:spPr bwMode="auto">
          <a:xfrm>
            <a:off x="233847" y="3450556"/>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panose="02020603050405020304"/>
                <a:ea typeface="微软雅黑" panose="020B0503020204020204" pitchFamily="34" charset="-122"/>
                <a:sym typeface="Calibri" panose="020F0502020204030204" pitchFamily="34" charset="0"/>
              </a:rPr>
              <a:t>三、蒙特卡洛树搜索</a:t>
            </a:r>
            <a:endParaRPr kumimoji="0" lang="zh-CN" altLang="en-US" sz="2800" b="1" dirty="0">
              <a:solidFill>
                <a:srgbClr val="C00000"/>
              </a:solidFill>
              <a:latin typeface="Times New Roman" panose="02020603050405020304"/>
              <a:ea typeface="微软雅黑" panose="020B0503020204020204" pitchFamily="34" charset="-122"/>
              <a:sym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57810" y="899789"/>
            <a:ext cx="8242852" cy="3246530"/>
          </a:xfrm>
          <a:prstGeom prst="rect">
            <a:avLst/>
          </a:prstGeom>
        </p:spPr>
        <p:txBody>
          <a:bodyPr wrap="square">
            <a:spAutoFit/>
          </a:bodyPr>
          <a:lstStyle/>
          <a:p>
            <a:pPr marL="457200" indent="-457200">
              <a:lnSpc>
                <a:spcPct val="15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对抗搜索也称为博弈搜索</a:t>
            </a:r>
            <a:r>
              <a:rPr lang="en-US" altLang="zh-CN" sz="2800" dirty="0">
                <a:solidFill>
                  <a:prstClr val="black"/>
                </a:solidFill>
                <a:latin typeface="Times New Roman" panose="02020603050405020304"/>
                <a:ea typeface="黑体" panose="02010609060101010101" charset="-122"/>
                <a:cs typeface="Times New Roman" panose="02020603050405020304" pitchFamily="18" charset="0"/>
              </a:rPr>
              <a:t>(Game Search)</a:t>
            </a:r>
            <a:endParaRPr lang="en-US" altLang="zh-CN" sz="2800" dirty="0">
              <a:solidFill>
                <a:prstClr val="black"/>
              </a:solidFill>
              <a:latin typeface="Times New Roman" panose="02020603050405020304"/>
              <a:ea typeface="黑体" panose="02010609060101010101" charset="-122"/>
              <a:cs typeface="Times New Roman" panose="02020603050405020304" pitchFamily="18" charset="0"/>
            </a:endParaRPr>
          </a:p>
          <a:p>
            <a:pPr marL="457200" indent="-457200">
              <a:lnSpc>
                <a:spcPct val="15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在竞争的环境中，智能体</a:t>
            </a:r>
            <a:r>
              <a:rPr lang="en-US" altLang="zh-CN" sz="2800" dirty="0">
                <a:solidFill>
                  <a:prstClr val="black"/>
                </a:solidFill>
                <a:latin typeface="Times New Roman" panose="02020603050405020304"/>
                <a:ea typeface="黑体" panose="02010609060101010101" charset="-122"/>
                <a:cs typeface="Times New Roman" panose="02020603050405020304" pitchFamily="18" charset="0"/>
              </a:rPr>
              <a:t>(agents)</a:t>
            </a: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之间通过竞争实现相反的利益，一方</a:t>
            </a:r>
            <a:r>
              <a:rPr lang="zh-CN" altLang="en-US" sz="2800" dirty="0">
                <a:solidFill>
                  <a:srgbClr val="C00000"/>
                </a:solidFill>
                <a:latin typeface="Times New Roman" panose="02020603050405020304"/>
                <a:ea typeface="黑体" panose="02010609060101010101" charset="-122"/>
                <a:cs typeface="Times New Roman" panose="02020603050405020304" pitchFamily="18" charset="0"/>
              </a:rPr>
              <a:t>最大化</a:t>
            </a: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这个利益，另一方</a:t>
            </a:r>
            <a:r>
              <a:rPr lang="zh-CN" altLang="en-US" sz="2800" dirty="0">
                <a:solidFill>
                  <a:srgbClr val="C00000"/>
                </a:solidFill>
                <a:latin typeface="Times New Roman" panose="02020603050405020304"/>
                <a:ea typeface="黑体" panose="02010609060101010101" charset="-122"/>
                <a:cs typeface="Times New Roman" panose="02020603050405020304" pitchFamily="18" charset="0"/>
              </a:rPr>
              <a:t>最小化</a:t>
            </a: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这个利益。</a:t>
            </a:r>
            <a:endParaRPr lang="zh-CN" altLang="en-US" sz="2800" dirty="0">
              <a:solidFill>
                <a:prstClr val="black"/>
              </a:solidFill>
              <a:latin typeface="Times New Roman" panose="02020603050405020304"/>
              <a:ea typeface="黑体" panose="02010609060101010101" charset="-122"/>
              <a:cs typeface="Times New Roman" panose="02020603050405020304" pitchFamily="18" charset="0"/>
            </a:endParaRPr>
          </a:p>
          <a:p>
            <a:pPr marL="457200" indent="-457200">
              <a:lnSpc>
                <a:spcPct val="150000"/>
              </a:lnSpc>
              <a:buFont typeface="Wingdings" panose="05000000000000000000" pitchFamily="2" charset="2"/>
              <a:buChar char="Ø"/>
            </a:pPr>
            <a:endParaRPr lang="zh-CN" altLang="en-US" sz="2800" dirty="0">
              <a:solidFill>
                <a:prstClr val="black"/>
              </a:solidFill>
              <a:latin typeface="Times New Roman" panose="02020603050405020304"/>
              <a:ea typeface="黑体" panose="02010609060101010101" charset="-122"/>
              <a:cs typeface="Times New Roman" panose="02020603050405020304" pitchFamily="18" charset="0"/>
            </a:endParaRPr>
          </a:p>
        </p:txBody>
      </p:sp>
      <p:sp>
        <p:nvSpPr>
          <p:cNvPr id="15" name="矩形 14"/>
          <p:cNvSpPr/>
          <p:nvPr/>
        </p:nvSpPr>
        <p:spPr>
          <a:xfrm>
            <a:off x="1303547" y="3629065"/>
            <a:ext cx="2407223" cy="2221762"/>
          </a:xfrm>
          <a:prstGeom prst="rect">
            <a:avLst/>
          </a:prstGeom>
          <a:ln w="28575">
            <a:solidFill>
              <a:schemeClr val="accent5">
                <a:lumMod val="75000"/>
              </a:schemeClr>
            </a:solidFill>
          </a:ln>
        </p:spPr>
        <p:txBody>
          <a:bodyPr wrap="square">
            <a:spAutoFit/>
          </a:bodyPr>
          <a:lstStyle/>
          <a:p>
            <a:pPr>
              <a:lnSpc>
                <a:spcPct val="150000"/>
              </a:lnSpc>
            </a:pPr>
            <a:r>
              <a:rPr lang="zh-CN" altLang="en-US" sz="2400" dirty="0">
                <a:solidFill>
                  <a:prstClr val="black"/>
                </a:solidFill>
                <a:latin typeface="黑体" panose="02010609060101010101" charset="-122"/>
                <a:ea typeface="黑体" panose="02010609060101010101" charset="-122"/>
              </a:rPr>
              <a:t>狭路相逢勇者胜</a:t>
            </a:r>
            <a:endParaRPr lang="en-US" altLang="zh-CN" sz="2400" dirty="0">
              <a:solidFill>
                <a:prstClr val="black"/>
              </a:solidFill>
              <a:latin typeface="黑体" panose="02010609060101010101" charset="-122"/>
              <a:ea typeface="黑体" panose="02010609060101010101" charset="-122"/>
            </a:endParaRPr>
          </a:p>
          <a:p>
            <a:pPr>
              <a:lnSpc>
                <a:spcPct val="150000"/>
              </a:lnSpc>
            </a:pPr>
            <a:r>
              <a:rPr lang="zh-CN" altLang="en-US" sz="2400" dirty="0">
                <a:solidFill>
                  <a:prstClr val="black"/>
                </a:solidFill>
                <a:latin typeface="黑体" panose="02010609060101010101" charset="-122"/>
                <a:ea typeface="黑体" panose="02010609060101010101" charset="-122"/>
              </a:rPr>
              <a:t>勇者相逢智者胜</a:t>
            </a:r>
            <a:endParaRPr lang="en-US" altLang="zh-CN" sz="2400" dirty="0">
              <a:solidFill>
                <a:prstClr val="black"/>
              </a:solidFill>
              <a:latin typeface="黑体" panose="02010609060101010101" charset="-122"/>
              <a:ea typeface="黑体" panose="02010609060101010101" charset="-122"/>
            </a:endParaRPr>
          </a:p>
          <a:p>
            <a:pPr>
              <a:lnSpc>
                <a:spcPct val="150000"/>
              </a:lnSpc>
            </a:pPr>
            <a:r>
              <a:rPr lang="zh-CN" altLang="en-US" sz="2400" dirty="0">
                <a:solidFill>
                  <a:prstClr val="black"/>
                </a:solidFill>
                <a:latin typeface="黑体" panose="02010609060101010101" charset="-122"/>
                <a:ea typeface="黑体" panose="02010609060101010101" charset="-122"/>
              </a:rPr>
              <a:t>智者相逢德者胜</a:t>
            </a:r>
            <a:endParaRPr lang="en-US" altLang="zh-CN" sz="2400" dirty="0">
              <a:solidFill>
                <a:prstClr val="black"/>
              </a:solidFill>
              <a:latin typeface="黑体" panose="02010609060101010101" charset="-122"/>
              <a:ea typeface="黑体" panose="02010609060101010101" charset="-122"/>
            </a:endParaRPr>
          </a:p>
          <a:p>
            <a:pPr>
              <a:lnSpc>
                <a:spcPct val="150000"/>
              </a:lnSpc>
            </a:pPr>
            <a:r>
              <a:rPr lang="zh-CN" altLang="en-US" sz="2400" dirty="0">
                <a:solidFill>
                  <a:prstClr val="black"/>
                </a:solidFill>
                <a:latin typeface="黑体" panose="02010609060101010101" charset="-122"/>
                <a:ea typeface="黑体" panose="02010609060101010101" charset="-122"/>
              </a:rPr>
              <a:t>德者相逢道者</a:t>
            </a:r>
            <a:r>
              <a:rPr lang="zh-CN" altLang="en-US" sz="2400" b="1" dirty="0">
                <a:solidFill>
                  <a:srgbClr val="C00000"/>
                </a:solidFill>
                <a:latin typeface="黑体" panose="02010609060101010101" charset="-122"/>
                <a:ea typeface="黑体" panose="02010609060101010101" charset="-122"/>
              </a:rPr>
              <a:t>胜</a:t>
            </a:r>
            <a:endParaRPr lang="zh-CN" altLang="en-US" sz="2400" b="1" dirty="0">
              <a:solidFill>
                <a:srgbClr val="C00000"/>
              </a:solidFill>
              <a:latin typeface="黑体" panose="02010609060101010101" charset="-122"/>
              <a:ea typeface="黑体" panose="02010609060101010101" charset="-122"/>
            </a:endParaRPr>
          </a:p>
        </p:txBody>
      </p:sp>
      <p:grpSp>
        <p:nvGrpSpPr>
          <p:cNvPr id="2" name="组合 1"/>
          <p:cNvGrpSpPr/>
          <p:nvPr/>
        </p:nvGrpSpPr>
        <p:grpSpPr>
          <a:xfrm>
            <a:off x="4898759" y="3360452"/>
            <a:ext cx="2998401" cy="2619887"/>
            <a:chOff x="4898756" y="3055655"/>
            <a:chExt cx="2998401" cy="2619886"/>
          </a:xfrm>
        </p:grpSpPr>
        <p:sp>
          <p:nvSpPr>
            <p:cNvPr id="20" name="圆角矩形 19"/>
            <p:cNvSpPr/>
            <p:nvPr/>
          </p:nvSpPr>
          <p:spPr bwMode="auto">
            <a:xfrm>
              <a:off x="5360934" y="5300542"/>
              <a:ext cx="1065066" cy="374999"/>
            </a:xfrm>
            <a:prstGeom prst="roundRect">
              <a:avLst/>
            </a:prstGeom>
            <a:ln>
              <a:headEnd type="none" w="med" len="med"/>
              <a:tailEnd type="none" w="med" len="med"/>
            </a:ln>
            <a:scene3d>
              <a:camera prst="orthographicFront"/>
              <a:lightRig rig="threePt" dir="t"/>
            </a:scene3d>
            <a:sp3d>
              <a:bevelT w="190500" h="63500"/>
            </a:sp3d>
          </p:spPr>
          <p:style>
            <a:lnRef idx="1">
              <a:schemeClr val="accent1"/>
            </a:lnRef>
            <a:fillRef idx="2">
              <a:schemeClr val="accent1"/>
            </a:fillRef>
            <a:effectRef idx="1">
              <a:schemeClr val="accent1"/>
            </a:effectRef>
            <a:fontRef idx="minor">
              <a:schemeClr val="dk1"/>
            </a:fontRef>
          </p:style>
          <p:txBody>
            <a:bodyPr wrap="none" tIns="0" bIns="0" anchor="ctr"/>
            <a:lstStyle/>
            <a:p>
              <a:pPr algn="ctr">
                <a:defRPr/>
              </a:pPr>
              <a:r>
                <a:rPr lang="zh-CN" altLang="en-US" dirty="0">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latin typeface="微软雅黑" panose="020B0503020204020204" pitchFamily="34" charset="-122"/>
                  <a:ea typeface="微软雅黑" panose="020B0503020204020204" pitchFamily="34" charset="-122"/>
                </a:rPr>
                <a:t>智能体</a:t>
              </a:r>
              <a:endParaRPr lang="zh-CN" altLang="en-US" dirty="0">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latin typeface="微软雅黑" panose="020B0503020204020204" pitchFamily="34" charset="-122"/>
                <a:ea typeface="微软雅黑" panose="020B0503020204020204" pitchFamily="34" charset="-122"/>
              </a:endParaRPr>
            </a:p>
          </p:txBody>
        </p:sp>
        <p:sp>
          <p:nvSpPr>
            <p:cNvPr id="27" name="圆角矩形 95"/>
            <p:cNvSpPr/>
            <p:nvPr/>
          </p:nvSpPr>
          <p:spPr bwMode="auto">
            <a:xfrm>
              <a:off x="4898756" y="3938299"/>
              <a:ext cx="1989422" cy="892175"/>
            </a:xfrm>
            <a:prstGeom prst="roundRect">
              <a:avLst>
                <a:gd name="adj" fmla="val 16667"/>
              </a:avLst>
            </a:prstGeom>
            <a:solidFill>
              <a:srgbClr val="FF0000"/>
            </a:solidFill>
            <a:ln w="9525">
              <a:solidFill>
                <a:schemeClr val="accent2"/>
              </a:solidFill>
              <a:round/>
            </a:ln>
            <a:effectLst/>
          </p:spPr>
          <p:txBody>
            <a:bodyPr wrap="none" tIns="0" bIns="0" anchor="ct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9pPr>
            </a:lstStyle>
            <a:p>
              <a:pPr algn="ctr">
                <a:defRPr/>
              </a:pPr>
              <a:r>
                <a:rPr lang="zh-CN" altLang="en-US"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目标</a:t>
              </a:r>
              <a:endParaRPr lang="en-US" altLang="zh-CN"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圆角矩形 27"/>
            <p:cNvSpPr/>
            <p:nvPr/>
          </p:nvSpPr>
          <p:spPr bwMode="auto">
            <a:xfrm>
              <a:off x="5353698" y="3055655"/>
              <a:ext cx="1065066" cy="374999"/>
            </a:xfrm>
            <a:prstGeom prst="roundRect">
              <a:avLst/>
            </a:prstGeom>
            <a:ln>
              <a:headEnd type="none" w="med" len="med"/>
              <a:tailEnd type="none" w="med" len="med"/>
            </a:ln>
            <a:scene3d>
              <a:camera prst="orthographicFront"/>
              <a:lightRig rig="threePt" dir="t"/>
            </a:scene3d>
            <a:sp3d>
              <a:bevelT w="190500" h="63500"/>
            </a:sp3d>
          </p:spPr>
          <p:style>
            <a:lnRef idx="1">
              <a:schemeClr val="accent1"/>
            </a:lnRef>
            <a:fillRef idx="2">
              <a:schemeClr val="accent1"/>
            </a:fillRef>
            <a:effectRef idx="1">
              <a:schemeClr val="accent1"/>
            </a:effectRef>
            <a:fontRef idx="minor">
              <a:schemeClr val="dk1"/>
            </a:fontRef>
          </p:style>
          <p:txBody>
            <a:bodyPr wrap="none" tIns="0" bIns="0" anchor="ctr"/>
            <a:lstStyle/>
            <a:p>
              <a:pPr algn="ctr">
                <a:defRPr/>
              </a:pPr>
              <a:r>
                <a:rPr lang="zh-CN" altLang="en-US" dirty="0">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latin typeface="微软雅黑" panose="020B0503020204020204" pitchFamily="34" charset="-122"/>
                  <a:ea typeface="微软雅黑" panose="020B0503020204020204" pitchFamily="34" charset="-122"/>
                </a:rPr>
                <a:t>对手</a:t>
              </a:r>
              <a:endParaRPr lang="zh-CN" altLang="en-US" dirty="0">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latin typeface="微软雅黑" panose="020B0503020204020204" pitchFamily="34" charset="-122"/>
                <a:ea typeface="微软雅黑" panose="020B0503020204020204" pitchFamily="34" charset="-122"/>
              </a:endParaRPr>
            </a:p>
          </p:txBody>
        </p:sp>
        <p:sp>
          <p:nvSpPr>
            <p:cNvPr id="9" name="上箭头 8"/>
            <p:cNvSpPr/>
            <p:nvPr/>
          </p:nvSpPr>
          <p:spPr>
            <a:xfrm>
              <a:off x="5791868" y="4907897"/>
              <a:ext cx="257547" cy="392647"/>
            </a:xfrm>
            <a:prstGeom prst="up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400" dirty="0">
                <a:solidFill>
                  <a:prstClr val="black"/>
                </a:solidFill>
                <a:latin typeface="Times New Roman" panose="02020603050405020304"/>
                <a:ea typeface="黑体" panose="02010609060101010101" charset="-122"/>
              </a:endParaRPr>
            </a:p>
          </p:txBody>
        </p:sp>
        <p:sp>
          <p:nvSpPr>
            <p:cNvPr id="10" name="下箭头 9"/>
            <p:cNvSpPr/>
            <p:nvPr/>
          </p:nvSpPr>
          <p:spPr>
            <a:xfrm>
              <a:off x="5791868" y="3529673"/>
              <a:ext cx="257547" cy="408627"/>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400" dirty="0">
                <a:solidFill>
                  <a:prstClr val="black"/>
                </a:solidFill>
                <a:latin typeface="Times New Roman" panose="02020603050405020304"/>
                <a:ea typeface="黑体" panose="02010609060101010101" charset="-122"/>
              </a:endParaRPr>
            </a:p>
          </p:txBody>
        </p:sp>
        <p:sp>
          <p:nvSpPr>
            <p:cNvPr id="11" name="矩形 10"/>
            <p:cNvSpPr/>
            <p:nvPr/>
          </p:nvSpPr>
          <p:spPr>
            <a:xfrm>
              <a:off x="6173608" y="4863108"/>
              <a:ext cx="1723549" cy="461665"/>
            </a:xfrm>
            <a:prstGeom prst="rect">
              <a:avLst/>
            </a:prstGeom>
          </p:spPr>
          <p:txBody>
            <a:bodyPr wrap="none">
              <a:spAutoFit/>
            </a:bodyPr>
            <a:lstStyle/>
            <a:p>
              <a:r>
                <a:rPr lang="zh-CN" altLang="en-US" sz="2400" dirty="0">
                  <a:solidFill>
                    <a:prstClr val="black"/>
                  </a:solidFill>
                  <a:latin typeface="黑体" panose="02010609060101010101" charset="-122"/>
                  <a:ea typeface="黑体" panose="02010609060101010101" charset="-122"/>
                </a:rPr>
                <a:t>最大化利益</a:t>
              </a:r>
              <a:endParaRPr lang="zh-CN" altLang="en-US" sz="2400" dirty="0">
                <a:solidFill>
                  <a:prstClr val="black"/>
                </a:solidFill>
                <a:latin typeface="黑体" panose="02010609060101010101" charset="-122"/>
                <a:ea typeface="黑体" panose="02010609060101010101" charset="-122"/>
              </a:endParaRPr>
            </a:p>
          </p:txBody>
        </p:sp>
        <p:sp>
          <p:nvSpPr>
            <p:cNvPr id="30" name="矩形 29"/>
            <p:cNvSpPr/>
            <p:nvPr/>
          </p:nvSpPr>
          <p:spPr>
            <a:xfrm>
              <a:off x="6151031" y="3507095"/>
              <a:ext cx="1723549" cy="461665"/>
            </a:xfrm>
            <a:prstGeom prst="rect">
              <a:avLst/>
            </a:prstGeom>
          </p:spPr>
          <p:txBody>
            <a:bodyPr wrap="none">
              <a:spAutoFit/>
            </a:bodyPr>
            <a:lstStyle/>
            <a:p>
              <a:r>
                <a:rPr lang="zh-CN" altLang="en-US" sz="2400" dirty="0">
                  <a:solidFill>
                    <a:prstClr val="black"/>
                  </a:solidFill>
                  <a:latin typeface="黑体" panose="02010609060101010101" charset="-122"/>
                  <a:ea typeface="黑体" panose="02010609060101010101" charset="-122"/>
                </a:rPr>
                <a:t>最小化利益</a:t>
              </a:r>
              <a:endParaRPr lang="zh-CN" altLang="en-US" sz="2400" dirty="0">
                <a:solidFill>
                  <a:prstClr val="black"/>
                </a:solidFill>
                <a:latin typeface="黑体" panose="02010609060101010101" charset="-122"/>
                <a:ea typeface="黑体" panose="02010609060101010101" charset="-122"/>
              </a:endParaRPr>
            </a:p>
          </p:txBody>
        </p:sp>
      </p:grpSp>
      <p:sp>
        <p:nvSpPr>
          <p:cNvPr id="14"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(Adversarial Search)</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1000"/>
                                        <p:tgtEl>
                                          <p:spTgt spid="15"/>
                                        </p:tgtEl>
                                      </p:cBhvr>
                                    </p:animEffect>
                                    <p:anim calcmode="lin" valueType="num">
                                      <p:cBhvr>
                                        <p:cTn id="17" dur="1000" fill="hold"/>
                                        <p:tgtEl>
                                          <p:spTgt spid="15"/>
                                        </p:tgtEl>
                                        <p:attrNameLst>
                                          <p:attrName>ppt_x</p:attrName>
                                        </p:attrNameLst>
                                      </p:cBhvr>
                                      <p:tavLst>
                                        <p:tav tm="0">
                                          <p:val>
                                            <p:strVal val="#ppt_x"/>
                                          </p:val>
                                        </p:tav>
                                        <p:tav tm="100000">
                                          <p:val>
                                            <p:strVal val="#ppt_x"/>
                                          </p:val>
                                        </p:tav>
                                      </p:tavLst>
                                    </p:anim>
                                    <p:anim calcmode="lin" valueType="num">
                                      <p:cBhvr>
                                        <p:cTn id="18" dur="1000" fill="hold"/>
                                        <p:tgtEl>
                                          <p:spTgt spid="15"/>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16" presetClass="entr" presetSubtype="21" fill="hold" nodeType="afterEffect">
                                  <p:stCondLst>
                                    <p:cond delay="50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内容占位符 3"/>
          <p:cNvSpPr>
            <a:spLocks noGrp="1"/>
          </p:cNvSpPr>
          <p:nvPr>
            <p:ph idx="1"/>
          </p:nvPr>
        </p:nvSpPr>
        <p:spPr>
          <a:xfrm>
            <a:off x="410819" y="1102111"/>
            <a:ext cx="8322367" cy="4298348"/>
          </a:xfrm>
        </p:spPr>
        <p:txBody>
          <a:bodyPr>
            <a:noAutofit/>
          </a:bodyPr>
          <a:lstStyle/>
          <a:p>
            <a:pPr algn="just">
              <a:lnSpc>
                <a:spcPct val="150000"/>
              </a:lnSpc>
              <a:spcBef>
                <a:spcPts val="0"/>
              </a:spcBef>
              <a:buFont typeface="Wingdings" panose="05000000000000000000" pitchFamily="2" charset="2"/>
              <a:buChar char="Ø"/>
            </a:pPr>
            <a:r>
              <a:rPr lang="zh-CN" altLang="en-US" sz="2800" dirty="0">
                <a:solidFill>
                  <a:srgbClr val="C00000"/>
                </a:solidFill>
                <a:cs typeface="Times New Roman" panose="02020603050405020304" pitchFamily="18" charset="0"/>
              </a:rPr>
              <a:t>最小最大搜索</a:t>
            </a:r>
            <a:r>
              <a:rPr lang="en-US" altLang="zh-CN" sz="2800" dirty="0">
                <a:solidFill>
                  <a:srgbClr val="C00000"/>
                </a:solidFill>
                <a:cs typeface="Times New Roman" panose="02020603050405020304" pitchFamily="18" charset="0"/>
              </a:rPr>
              <a:t>(Minimax Search):</a:t>
            </a:r>
            <a:r>
              <a:rPr lang="en-US" altLang="zh-CN" sz="2800" dirty="0">
                <a:cs typeface="Times New Roman" panose="02020603050405020304" pitchFamily="18" charset="0"/>
              </a:rPr>
              <a:t> </a:t>
            </a:r>
            <a:r>
              <a:rPr lang="zh-CN" altLang="en-US" sz="2800" dirty="0">
                <a:cs typeface="Times New Roman" panose="02020603050405020304" pitchFamily="18" charset="0"/>
              </a:rPr>
              <a:t>在对抗搜索中一种让玩家来计算最优策略的方法。</a:t>
            </a:r>
            <a:endParaRPr lang="en-US" altLang="zh-CN" sz="2800" dirty="0">
              <a:cs typeface="Times New Roman" panose="02020603050405020304" pitchFamily="18" charset="0"/>
            </a:endParaRPr>
          </a:p>
          <a:p>
            <a:pPr algn="just">
              <a:lnSpc>
                <a:spcPct val="150000"/>
              </a:lnSpc>
              <a:spcBef>
                <a:spcPts val="0"/>
              </a:spcBef>
              <a:buFont typeface="Wingdings" panose="05000000000000000000" pitchFamily="2" charset="2"/>
              <a:buChar char="Ø"/>
            </a:pPr>
            <a:r>
              <a:rPr lang="en-US" altLang="zh-CN" sz="2800" dirty="0">
                <a:solidFill>
                  <a:srgbClr val="C00000"/>
                </a:solidFill>
                <a:cs typeface="Times New Roman" panose="02020603050405020304" pitchFamily="18" charset="0"/>
              </a:rPr>
              <a:t>Alpha-Beta</a:t>
            </a:r>
            <a:r>
              <a:rPr lang="zh-CN" altLang="en-US" sz="2800" dirty="0">
                <a:solidFill>
                  <a:srgbClr val="C00000"/>
                </a:solidFill>
                <a:cs typeface="Times New Roman" panose="02020603050405020304" pitchFamily="18" charset="0"/>
              </a:rPr>
              <a:t>剪枝搜索</a:t>
            </a:r>
            <a:r>
              <a:rPr lang="en-US" altLang="zh-CN" sz="2800" dirty="0">
                <a:solidFill>
                  <a:srgbClr val="C00000"/>
                </a:solidFill>
                <a:cs typeface="Times New Roman" panose="02020603050405020304" pitchFamily="18" charset="0"/>
              </a:rPr>
              <a:t>(Pruning Search): </a:t>
            </a:r>
            <a:r>
              <a:rPr lang="zh-CN" altLang="en-US" sz="2800" dirty="0">
                <a:cs typeface="Times New Roman" panose="02020603050405020304" pitchFamily="18" charset="0"/>
              </a:rPr>
              <a:t>一种对最小最大搜索进行改进的算法，即在搜索过程中可剪除无需搜索的分支节点，且不影响搜索结果。</a:t>
            </a:r>
            <a:endParaRPr lang="en-US" altLang="zh-CN" sz="2800" dirty="0">
              <a:cs typeface="Times New Roman" panose="02020603050405020304" pitchFamily="18" charset="0"/>
            </a:endParaRPr>
          </a:p>
          <a:p>
            <a:pPr algn="just">
              <a:lnSpc>
                <a:spcPct val="150000"/>
              </a:lnSpc>
              <a:spcBef>
                <a:spcPts val="0"/>
              </a:spcBef>
              <a:buFont typeface="Wingdings" panose="05000000000000000000" pitchFamily="2" charset="2"/>
              <a:buChar char="Ø"/>
            </a:pPr>
            <a:r>
              <a:rPr lang="zh-CN" altLang="en-US" sz="2800" dirty="0">
                <a:solidFill>
                  <a:srgbClr val="C00000"/>
                </a:solidFill>
                <a:cs typeface="Times New Roman" panose="02020603050405020304" pitchFamily="18" charset="0"/>
              </a:rPr>
              <a:t>蒙特卡洛树搜索</a:t>
            </a:r>
            <a:r>
              <a:rPr lang="en-US" altLang="zh-CN" sz="2800" dirty="0">
                <a:solidFill>
                  <a:srgbClr val="C00000"/>
                </a:solidFill>
                <a:cs typeface="Times New Roman" panose="02020603050405020304" pitchFamily="18" charset="0"/>
              </a:rPr>
              <a:t>(Monte-Carlo Tree Search):</a:t>
            </a:r>
            <a:r>
              <a:rPr lang="en-US" altLang="zh-CN" sz="2800" dirty="0">
                <a:cs typeface="Times New Roman" panose="02020603050405020304" pitchFamily="18" charset="0"/>
              </a:rPr>
              <a:t> </a:t>
            </a:r>
            <a:r>
              <a:rPr lang="zh-CN" altLang="en-US" sz="2800" dirty="0">
                <a:cs typeface="Times New Roman" panose="02020603050405020304" pitchFamily="18" charset="0"/>
              </a:rPr>
              <a:t>通过采样</a:t>
            </a:r>
            <a:r>
              <a:rPr lang="zh-CN" altLang="en-US" sz="2800" dirty="0">
                <a:ea typeface="黑体" panose="02010609060101010101" charset="-122"/>
                <a:cs typeface="Times New Roman" panose="02020603050405020304" pitchFamily="18" charset="0"/>
              </a:rPr>
              <a:t>而非穷举的方法来实现搜索。</a:t>
            </a:r>
            <a:endParaRPr lang="en-US" altLang="zh-CN" sz="2800" dirty="0">
              <a:cs typeface="Times New Roman" panose="02020603050405020304" pitchFamily="18" charset="0"/>
            </a:endParaRPr>
          </a:p>
        </p:txBody>
      </p:sp>
      <p:sp>
        <p:nvSpPr>
          <p:cNvPr id="6" name="标题 3"/>
          <p:cNvSpPr txBox="1"/>
          <p:nvPr/>
        </p:nvSpPr>
        <p:spPr>
          <a:xfrm>
            <a:off x="0" y="131858"/>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25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75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75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7081" y="998868"/>
            <a:ext cx="8163339" cy="5030351"/>
          </a:xfrm>
          <a:prstGeom prst="rect">
            <a:avLst/>
          </a:prstGeom>
        </p:spPr>
        <p:txBody>
          <a:bodyPr wrap="square">
            <a:spAutoFit/>
          </a:bodyPr>
          <a:lstStyle/>
          <a:p>
            <a:pPr marL="457200" indent="-457200">
              <a:lnSpc>
                <a:spcPct val="15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本节主要讨论</a:t>
            </a:r>
            <a:r>
              <a:rPr lang="zh-CN" altLang="en-US" sz="2800" dirty="0">
                <a:solidFill>
                  <a:srgbClr val="FF0000"/>
                </a:solidFill>
                <a:latin typeface="Times New Roman" panose="02020603050405020304"/>
                <a:ea typeface="黑体" panose="02010609060101010101" charset="-122"/>
                <a:cs typeface="Times New Roman" panose="02020603050405020304" pitchFamily="18" charset="0"/>
              </a:rPr>
              <a:t>确定的、全局可观察的、竞争对手轮流行动、零和游戏（</a:t>
            </a:r>
            <a:r>
              <a:rPr lang="en-US" altLang="zh-CN" sz="2800" dirty="0">
                <a:solidFill>
                  <a:srgbClr val="FF0000"/>
                </a:solidFill>
                <a:latin typeface="Times New Roman" panose="02020603050405020304"/>
                <a:ea typeface="黑体" panose="02010609060101010101" charset="-122"/>
                <a:cs typeface="Times New Roman" panose="02020603050405020304" pitchFamily="18" charset="0"/>
              </a:rPr>
              <a:t>zero-sum</a:t>
            </a:r>
            <a:r>
              <a:rPr lang="zh-CN" altLang="en-US" sz="2800" dirty="0">
                <a:solidFill>
                  <a:srgbClr val="FF0000"/>
                </a:solidFill>
                <a:latin typeface="Times New Roman" panose="02020603050405020304"/>
                <a:ea typeface="黑体" panose="02010609060101010101" charset="-122"/>
                <a:cs typeface="Times New Roman" panose="02020603050405020304" pitchFamily="18" charset="0"/>
              </a:rPr>
              <a:t>）</a:t>
            </a: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下的</a:t>
            </a:r>
            <a:r>
              <a:rPr lang="zh-CN" altLang="en-US" sz="2800" dirty="0">
                <a:solidFill>
                  <a:srgbClr val="FF0000"/>
                </a:solidFill>
                <a:latin typeface="Times New Roman" panose="02020603050405020304"/>
                <a:ea typeface="黑体" panose="02010609060101010101" charset="-122"/>
                <a:cs typeface="Times New Roman" panose="02020603050405020304" pitchFamily="18" charset="0"/>
              </a:rPr>
              <a:t>对抗搜索</a:t>
            </a: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a:t>
            </a:r>
            <a:endParaRPr lang="en-US" altLang="zh-CN" sz="2800" dirty="0">
              <a:solidFill>
                <a:prstClr val="black"/>
              </a:solidFill>
              <a:latin typeface="Times New Roman" panose="02020603050405020304"/>
              <a:ea typeface="黑体" panose="02010609060101010101" charset="-122"/>
              <a:cs typeface="Times New Roman" panose="02020603050405020304" pitchFamily="18" charset="0"/>
            </a:endParaRPr>
          </a:p>
          <a:p>
            <a:pPr marL="457200" indent="-457200">
              <a:lnSpc>
                <a:spcPct val="150000"/>
              </a:lnSpc>
              <a:buFont typeface="Wingdings" panose="05000000000000000000" pitchFamily="2" charset="2"/>
              <a:buChar char="Ø"/>
            </a:pPr>
            <a:endParaRPr lang="en-US" altLang="zh-CN" sz="2800" dirty="0">
              <a:solidFill>
                <a:prstClr val="black"/>
              </a:solidFill>
              <a:latin typeface="Times New Roman" panose="02020603050405020304"/>
              <a:ea typeface="黑体" panose="02010609060101010101" charset="-122"/>
              <a:cs typeface="Times New Roman" panose="02020603050405020304" pitchFamily="18" charset="0"/>
            </a:endParaRPr>
          </a:p>
          <a:p>
            <a:pPr>
              <a:lnSpc>
                <a:spcPct val="150000"/>
              </a:lnSpc>
            </a:pPr>
            <a:endParaRPr lang="en-US" altLang="zh-CN" sz="2800" dirty="0">
              <a:solidFill>
                <a:prstClr val="black"/>
              </a:solidFill>
              <a:latin typeface="Times New Roman" panose="02020603050405020304"/>
              <a:ea typeface="黑体" panose="02010609060101010101" charset="-122"/>
              <a:cs typeface="Times New Roman" panose="02020603050405020304" pitchFamily="18" charset="0"/>
            </a:endParaRPr>
          </a:p>
          <a:p>
            <a:pPr>
              <a:lnSpc>
                <a:spcPct val="150000"/>
              </a:lnSpc>
            </a:pPr>
            <a:endParaRPr lang="en-US" altLang="zh-CN" sz="2800" dirty="0">
              <a:solidFill>
                <a:prstClr val="black"/>
              </a:solidFill>
              <a:latin typeface="Times New Roman" panose="02020603050405020304"/>
              <a:ea typeface="黑体" panose="02010609060101010101" charset="-122"/>
              <a:cs typeface="Times New Roman" panose="02020603050405020304" pitchFamily="18" charset="0"/>
            </a:endParaRPr>
          </a:p>
          <a:p>
            <a:pPr marL="457200" indent="-457200">
              <a:lnSpc>
                <a:spcPct val="150000"/>
              </a:lnSpc>
              <a:buFont typeface="Wingdings" panose="05000000000000000000" pitchFamily="2" charset="2"/>
              <a:buChar char="Ø"/>
            </a:pPr>
            <a:endParaRPr lang="en-US" altLang="zh-CN" sz="2800" dirty="0">
              <a:solidFill>
                <a:prstClr val="black"/>
              </a:solidFill>
              <a:latin typeface="Times New Roman" panose="02020603050405020304"/>
              <a:ea typeface="黑体" panose="02010609060101010101" charset="-122"/>
              <a:cs typeface="Times New Roman" panose="02020603050405020304" pitchFamily="18" charset="0"/>
            </a:endParaRPr>
          </a:p>
          <a:p>
            <a:pPr marL="457200" indent="-457200">
              <a:lnSpc>
                <a:spcPct val="130000"/>
              </a:lnSpc>
              <a:buFont typeface="Wingdings" panose="05000000000000000000" pitchFamily="2" charset="2"/>
              <a:buChar char="Ø"/>
            </a:pP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两人对决游戏</a:t>
            </a:r>
            <a:r>
              <a:rPr lang="en-US" altLang="zh-CN" sz="2800" dirty="0">
                <a:solidFill>
                  <a:prstClr val="black"/>
                </a:solidFill>
                <a:latin typeface="Times New Roman" panose="02020603050405020304"/>
                <a:ea typeface="黑体" panose="02010609060101010101" charset="-122"/>
                <a:cs typeface="Times New Roman" panose="02020603050405020304" pitchFamily="18" charset="0"/>
              </a:rPr>
              <a:t> (MAX-MIN, MAX</a:t>
            </a: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先走</a:t>
            </a:r>
            <a:r>
              <a:rPr lang="en-US" altLang="zh-CN" sz="2800" dirty="0">
                <a:solidFill>
                  <a:prstClr val="black"/>
                </a:solidFill>
                <a:latin typeface="Times New Roman" panose="02020603050405020304"/>
                <a:ea typeface="黑体" panose="02010609060101010101" charset="-122"/>
                <a:cs typeface="Times New Roman" panose="02020603050405020304" pitchFamily="18" charset="0"/>
              </a:rPr>
              <a:t>) </a:t>
            </a:r>
            <a:r>
              <a:rPr lang="zh-CN" altLang="en-US" sz="2800" dirty="0">
                <a:solidFill>
                  <a:prstClr val="black"/>
                </a:solidFill>
                <a:latin typeface="Times New Roman" panose="02020603050405020304"/>
                <a:ea typeface="黑体" panose="02010609060101010101" charset="-122"/>
                <a:cs typeface="Times New Roman" panose="02020603050405020304" pitchFamily="18" charset="0"/>
              </a:rPr>
              <a:t>可如下进行形式化描述，从而将其转换为对抗搜索问题。</a:t>
            </a:r>
            <a:endParaRPr lang="zh-CN" altLang="en-US" sz="2800" dirty="0">
              <a:solidFill>
                <a:prstClr val="black"/>
              </a:solidFill>
              <a:latin typeface="Times New Roman" panose="02020603050405020304"/>
              <a:ea typeface="黑体" panose="02010609060101010101" charset="-122"/>
              <a:cs typeface="Times New Roman" panose="02020603050405020304" pitchFamily="18" charset="0"/>
            </a:endParaRPr>
          </a:p>
        </p:txBody>
      </p:sp>
      <p:sp>
        <p:nvSpPr>
          <p:cNvPr id="3" name="卷形: 水平 2"/>
          <p:cNvSpPr/>
          <p:nvPr/>
        </p:nvSpPr>
        <p:spPr>
          <a:xfrm>
            <a:off x="862449" y="2202875"/>
            <a:ext cx="7692737" cy="2833255"/>
          </a:xfrm>
          <a:prstGeom prst="horizontalScroll">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zh-CN" altLang="en-US" sz="2400" dirty="0">
                <a:ln w="0"/>
                <a:solidFill>
                  <a:srgbClr val="0070C0"/>
                </a:solidFill>
                <a:latin typeface="Times New Roman" panose="02020603050405020304"/>
                <a:ea typeface="黑体" panose="02010609060101010101" charset="-122"/>
              </a:rPr>
              <a:t>所谓“二人零和、全信息、非偶然”博弈指</a:t>
            </a:r>
            <a:r>
              <a:rPr lang="zh-CN" altLang="en-US" sz="2400" dirty="0">
                <a:ln w="0"/>
                <a:solidFill>
                  <a:srgbClr val="0070C0"/>
                </a:solidFill>
                <a:latin typeface="Times New Roman" panose="02020603050405020304"/>
                <a:ea typeface="黑体" panose="02010609060101010101" charset="-122"/>
                <a:sym typeface="Wingdings" panose="05000000000000000000" pitchFamily="2" charset="2"/>
              </a:rPr>
              <a:t>：</a:t>
            </a:r>
            <a:br>
              <a:rPr lang="en-US" altLang="zh-CN" sz="2400" dirty="0">
                <a:ln w="0"/>
                <a:solidFill>
                  <a:srgbClr val="0070C0"/>
                </a:solidFill>
                <a:latin typeface="Times New Roman" panose="02020603050405020304"/>
                <a:ea typeface="黑体" panose="02010609060101010101" charset="-122"/>
                <a:sym typeface="Wingdings" panose="05000000000000000000" pitchFamily="2" charset="2"/>
              </a:rPr>
            </a:br>
            <a:r>
              <a:rPr lang="zh-CN" altLang="en-US" sz="2400" dirty="0">
                <a:ln w="0"/>
                <a:solidFill>
                  <a:srgbClr val="0070C0"/>
                </a:solidFill>
                <a:latin typeface="Times New Roman" panose="02020603050405020304"/>
                <a:ea typeface="黑体" panose="02010609060101010101" charset="-122"/>
                <a:sym typeface="Wingdings" panose="05000000000000000000" pitchFamily="2" charset="2"/>
              </a:rPr>
              <a:t>（</a:t>
            </a:r>
            <a:r>
              <a:rPr lang="en-US" altLang="zh-CN" sz="2400" dirty="0">
                <a:ln w="0"/>
                <a:solidFill>
                  <a:srgbClr val="0070C0"/>
                </a:solidFill>
                <a:latin typeface="Times New Roman" panose="02020603050405020304"/>
                <a:ea typeface="黑体" panose="02010609060101010101" charset="-122"/>
                <a:sym typeface="Wingdings" panose="05000000000000000000" pitchFamily="2" charset="2"/>
              </a:rPr>
              <a:t>1</a:t>
            </a:r>
            <a:r>
              <a:rPr lang="zh-CN" altLang="en-US" sz="2400" dirty="0">
                <a:ln w="0"/>
                <a:solidFill>
                  <a:srgbClr val="0070C0"/>
                </a:solidFill>
                <a:latin typeface="Times New Roman" panose="02020603050405020304"/>
                <a:ea typeface="黑体" panose="02010609060101010101" charset="-122"/>
                <a:sym typeface="Wingdings" panose="05000000000000000000" pitchFamily="2" charset="2"/>
              </a:rPr>
              <a:t>）对弈</a:t>
            </a:r>
            <a:r>
              <a:rPr lang="en-US" altLang="zh-CN" sz="2400" dirty="0">
                <a:ln w="0"/>
                <a:solidFill>
                  <a:srgbClr val="0070C0"/>
                </a:solidFill>
                <a:latin typeface="Times New Roman" panose="02020603050405020304"/>
                <a:ea typeface="黑体" panose="02010609060101010101" charset="-122"/>
                <a:sym typeface="Wingdings" panose="05000000000000000000" pitchFamily="2" charset="2"/>
              </a:rPr>
              <a:t>A</a:t>
            </a:r>
            <a:r>
              <a:rPr lang="zh-CN" altLang="en-US" sz="2400" dirty="0">
                <a:ln w="0"/>
                <a:solidFill>
                  <a:srgbClr val="0070C0"/>
                </a:solidFill>
                <a:latin typeface="Times New Roman" panose="02020603050405020304"/>
                <a:ea typeface="黑体" panose="02010609060101010101" charset="-122"/>
                <a:sym typeface="Wingdings" panose="05000000000000000000" pitchFamily="2" charset="2"/>
              </a:rPr>
              <a:t>、</a:t>
            </a:r>
            <a:r>
              <a:rPr lang="en-US" altLang="zh-CN" sz="2400" dirty="0">
                <a:ln w="0"/>
                <a:solidFill>
                  <a:srgbClr val="0070C0"/>
                </a:solidFill>
                <a:latin typeface="Times New Roman" panose="02020603050405020304"/>
                <a:ea typeface="黑体" panose="02010609060101010101" charset="-122"/>
                <a:sym typeface="Wingdings" panose="05000000000000000000" pitchFamily="2" charset="2"/>
              </a:rPr>
              <a:t>B</a:t>
            </a:r>
            <a:r>
              <a:rPr lang="zh-CN" altLang="en-US" sz="2400" dirty="0">
                <a:ln w="0"/>
                <a:solidFill>
                  <a:srgbClr val="0070C0"/>
                </a:solidFill>
                <a:latin typeface="Times New Roman" panose="02020603050405020304"/>
                <a:ea typeface="黑体" panose="02010609060101010101" charset="-122"/>
                <a:sym typeface="Wingdings" panose="05000000000000000000" pitchFamily="2" charset="2"/>
              </a:rPr>
              <a:t>双方轮流采取行动，结果仅有</a:t>
            </a:r>
            <a:r>
              <a:rPr lang="en-US" altLang="zh-CN" sz="2400" dirty="0">
                <a:ln w="0"/>
                <a:solidFill>
                  <a:srgbClr val="0070C0"/>
                </a:solidFill>
                <a:latin typeface="Times New Roman" panose="02020603050405020304"/>
                <a:ea typeface="黑体" panose="02010609060101010101" charset="-122"/>
                <a:sym typeface="Wingdings" panose="05000000000000000000" pitchFamily="2" charset="2"/>
              </a:rPr>
              <a:t>3</a:t>
            </a:r>
            <a:r>
              <a:rPr lang="zh-CN" altLang="en-US" sz="2400" dirty="0">
                <a:ln w="0"/>
                <a:solidFill>
                  <a:srgbClr val="0070C0"/>
                </a:solidFill>
                <a:latin typeface="Times New Roman" panose="02020603050405020304"/>
                <a:ea typeface="黑体" panose="02010609060101010101" charset="-122"/>
                <a:sym typeface="Wingdings" panose="05000000000000000000" pitchFamily="2" charset="2"/>
              </a:rPr>
              <a:t>种；</a:t>
            </a:r>
            <a:endParaRPr lang="en-US" altLang="zh-CN" sz="2400" dirty="0">
              <a:ln w="0"/>
              <a:solidFill>
                <a:srgbClr val="0070C0"/>
              </a:solidFill>
              <a:latin typeface="Times New Roman" panose="02020603050405020304"/>
              <a:ea typeface="黑体" panose="02010609060101010101" charset="-122"/>
              <a:sym typeface="Wingdings" panose="05000000000000000000" pitchFamily="2" charset="2"/>
            </a:endParaRPr>
          </a:p>
          <a:p>
            <a:pPr algn="just"/>
            <a:r>
              <a:rPr lang="zh-CN" altLang="en-US" sz="2400" dirty="0">
                <a:ln w="0"/>
                <a:solidFill>
                  <a:srgbClr val="0070C0"/>
                </a:solidFill>
                <a:latin typeface="Times New Roman" panose="02020603050405020304"/>
                <a:ea typeface="黑体" panose="02010609060101010101" charset="-122"/>
                <a:sym typeface="Wingdings" panose="05000000000000000000" pitchFamily="2" charset="2"/>
              </a:rPr>
              <a:t>（</a:t>
            </a:r>
            <a:r>
              <a:rPr lang="en-US" altLang="zh-CN" sz="2400" dirty="0">
                <a:ln w="0"/>
                <a:solidFill>
                  <a:srgbClr val="0070C0"/>
                </a:solidFill>
                <a:latin typeface="Times New Roman" panose="02020603050405020304"/>
                <a:ea typeface="黑体" panose="02010609060101010101" charset="-122"/>
                <a:sym typeface="Wingdings" panose="05000000000000000000" pitchFamily="2" charset="2"/>
              </a:rPr>
              <a:t>2</a:t>
            </a:r>
            <a:r>
              <a:rPr lang="zh-CN" altLang="en-US" sz="2400" dirty="0">
                <a:ln w="0"/>
                <a:solidFill>
                  <a:srgbClr val="0070C0"/>
                </a:solidFill>
                <a:latin typeface="Times New Roman" panose="02020603050405020304"/>
                <a:ea typeface="黑体" panose="02010609060101010101" charset="-122"/>
                <a:sym typeface="Wingdings" panose="05000000000000000000" pitchFamily="2" charset="2"/>
              </a:rPr>
              <a:t>）对弈中，任何一方都了解当前格局及历史；</a:t>
            </a:r>
            <a:endParaRPr lang="en-US" altLang="zh-CN" sz="2400" dirty="0">
              <a:ln w="0"/>
              <a:solidFill>
                <a:srgbClr val="0070C0"/>
              </a:solidFill>
              <a:latin typeface="Times New Roman" panose="02020603050405020304"/>
              <a:ea typeface="黑体" panose="02010609060101010101" charset="-122"/>
              <a:sym typeface="Wingdings" panose="05000000000000000000" pitchFamily="2" charset="2"/>
            </a:endParaRPr>
          </a:p>
          <a:p>
            <a:pPr algn="just"/>
            <a:r>
              <a:rPr lang="zh-CN" altLang="en-US" sz="2400" dirty="0">
                <a:ln w="0"/>
                <a:solidFill>
                  <a:srgbClr val="0070C0"/>
                </a:solidFill>
                <a:latin typeface="Times New Roman" panose="02020603050405020304"/>
                <a:ea typeface="黑体" panose="02010609060101010101" charset="-122"/>
                <a:sym typeface="Wingdings" panose="05000000000000000000" pitchFamily="2" charset="2"/>
              </a:rPr>
              <a:t>（</a:t>
            </a:r>
            <a:r>
              <a:rPr lang="en-US" altLang="zh-CN" sz="2400" dirty="0">
                <a:ln w="0"/>
                <a:solidFill>
                  <a:srgbClr val="0070C0"/>
                </a:solidFill>
                <a:latin typeface="Times New Roman" panose="02020603050405020304"/>
                <a:ea typeface="黑体" panose="02010609060101010101" charset="-122"/>
                <a:sym typeface="Wingdings" panose="05000000000000000000" pitchFamily="2" charset="2"/>
              </a:rPr>
              <a:t>3</a:t>
            </a:r>
            <a:r>
              <a:rPr lang="zh-CN" altLang="en-US" sz="2400" dirty="0">
                <a:ln w="0"/>
                <a:solidFill>
                  <a:srgbClr val="0070C0"/>
                </a:solidFill>
                <a:latin typeface="Times New Roman" panose="02020603050405020304"/>
                <a:ea typeface="黑体" panose="02010609060101010101" charset="-122"/>
                <a:sym typeface="Wingdings" panose="05000000000000000000" pitchFamily="2" charset="2"/>
              </a:rPr>
              <a:t>）任何一方在采取行动前根据当前情况，进行得失分析，选取对自己最有利而对对方最不利的对策。</a:t>
            </a:r>
            <a:endParaRPr lang="zh-CN" altLang="en-US" sz="2400" dirty="0">
              <a:ln w="0"/>
              <a:solidFill>
                <a:srgbClr val="0070C0"/>
              </a:solidFill>
              <a:latin typeface="Times New Roman" panose="02020603050405020304"/>
              <a:ea typeface="黑体" panose="02010609060101010101" charset="-122"/>
            </a:endParaRPr>
          </a:p>
        </p:txBody>
      </p:sp>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75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fade">
                                      <p:cBhvr>
                                        <p:cTn id="1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nvGraphicFramePr>
            <p:xfrm>
              <a:off x="545502" y="1073975"/>
              <a:ext cx="8053002" cy="5140771"/>
            </p:xfrm>
            <a:graphic>
              <a:graphicData uri="http://schemas.openxmlformats.org/drawingml/2006/table">
                <a:tbl>
                  <a:tblPr firstRow="1" bandRow="1">
                    <a:tableStyleId>{5C22544A-7EE6-4342-B048-85BDC9FD1C3A}</a:tableStyleId>
                  </a:tblPr>
                  <a:tblGrid>
                    <a:gridCol w="1468831"/>
                    <a:gridCol w="6584171"/>
                  </a:tblGrid>
                  <a:tr h="927291">
                    <a:tc>
                      <a:txBody>
                        <a:bodyPr/>
                        <a:lstStyle/>
                        <a:p>
                          <a:pPr algn="ctr">
                            <a:lnSpc>
                              <a:spcPct val="120000"/>
                            </a:lnSpc>
                          </a:pPr>
                          <a:r>
                            <a:rPr lang="zh-CN" altLang="en-US" sz="2400" b="0" kern="1200" dirty="0">
                              <a:solidFill>
                                <a:srgbClr val="C00000"/>
                              </a:solidFill>
                              <a:latin typeface="+mn-lt"/>
                              <a:ea typeface="+mn-ea"/>
                              <a:cs typeface="Times New Roman" panose="02020603050405020304" pitchFamily="18" charset="0"/>
                            </a:rPr>
                            <a:t>状态</a:t>
                          </a:r>
                          <a:endParaRPr lang="zh-CN" altLang="en-US" sz="2400" b="0" kern="1200" dirty="0">
                            <a:solidFill>
                              <a:srgbClr val="C00000"/>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zh-CN" sz="2400" b="0" kern="1200" dirty="0">
                              <a:solidFill>
                                <a:schemeClr val="tx1"/>
                              </a:solidFill>
                              <a:effectLst/>
                              <a:latin typeface="+mn-lt"/>
                              <a:ea typeface="+mn-ea"/>
                              <a:cs typeface="+mn-cs"/>
                            </a:rPr>
                            <a:t>状态</a:t>
                          </a:r>
                          <a14:m>
                            <m:oMath xmlns:m="http://schemas.openxmlformats.org/officeDocument/2006/math">
                              <m:r>
                                <a:rPr lang="en-US" altLang="zh-CN" sz="2400" b="0" i="1" kern="1200">
                                  <a:solidFill>
                                    <a:schemeClr val="tx1"/>
                                  </a:solidFill>
                                  <a:effectLst/>
                                  <a:latin typeface="Cambria Math" panose="02040503050406030204" pitchFamily="18" charset="0"/>
                                  <a:ea typeface="+mn-ea"/>
                                  <a:cs typeface="+mn-cs"/>
                                </a:rPr>
                                <m:t>𝑠</m:t>
                              </m:r>
                            </m:oMath>
                          </a14:m>
                          <a:r>
                            <a:rPr lang="zh-CN" altLang="zh-CN" sz="2400" b="0" kern="1200" dirty="0">
                              <a:solidFill>
                                <a:schemeClr val="tx1"/>
                              </a:solidFill>
                              <a:effectLst/>
                              <a:latin typeface="+mn-lt"/>
                              <a:ea typeface="+mn-ea"/>
                              <a:cs typeface="+mn-cs"/>
                            </a:rPr>
                            <a:t>包括当前的游戏局面和当前行动的智能体。函数</a:t>
                          </a:r>
                          <a14:m>
                            <m:oMath xmlns:m="http://schemas.openxmlformats.org/officeDocument/2006/math">
                              <m:r>
                                <a:rPr lang="en-US" altLang="zh-CN" sz="2400" b="0" i="1" kern="1200">
                                  <a:solidFill>
                                    <a:schemeClr val="tx1"/>
                                  </a:solidFill>
                                  <a:effectLst/>
                                  <a:latin typeface="Cambria Math" panose="02040503050406030204" pitchFamily="18" charset="0"/>
                                  <a:ea typeface="+mn-ea"/>
                                  <a:cs typeface="+mn-cs"/>
                                </a:rPr>
                                <m:t>𝑝𝑙𝑎𝑦𝑒𝑟</m:t>
                              </m:r>
                              <m:r>
                                <a:rPr lang="en-US" altLang="zh-CN" sz="2400" b="0" i="1" kern="1200">
                                  <a:solidFill>
                                    <a:schemeClr val="tx1"/>
                                  </a:solidFill>
                                  <a:effectLst/>
                                  <a:latin typeface="Cambria Math" panose="02040503050406030204" pitchFamily="18" charset="0"/>
                                  <a:ea typeface="+mn-ea"/>
                                  <a:cs typeface="+mn-cs"/>
                                </a:rPr>
                                <m:t>(</m:t>
                              </m:r>
                              <m:r>
                                <a:rPr lang="en-US" altLang="zh-CN" sz="2400" b="0" i="1" kern="1200">
                                  <a:solidFill>
                                    <a:schemeClr val="tx1"/>
                                  </a:solidFill>
                                  <a:effectLst/>
                                  <a:latin typeface="Cambria Math" panose="02040503050406030204" pitchFamily="18" charset="0"/>
                                  <a:ea typeface="+mn-ea"/>
                                  <a:cs typeface="+mn-cs"/>
                                </a:rPr>
                                <m:t>𝑠</m:t>
                              </m:r>
                              <m:r>
                                <a:rPr lang="en-US" altLang="zh-CN" sz="2400" b="0" i="1" kern="1200">
                                  <a:solidFill>
                                    <a:schemeClr val="tx1"/>
                                  </a:solidFill>
                                  <a:effectLst/>
                                  <a:latin typeface="Cambria Math" panose="02040503050406030204" pitchFamily="18" charset="0"/>
                                  <a:ea typeface="+mn-ea"/>
                                  <a:cs typeface="+mn-cs"/>
                                </a:rPr>
                                <m:t>)</m:t>
                              </m:r>
                            </m:oMath>
                          </a14:m>
                          <a:r>
                            <a:rPr lang="zh-CN" altLang="zh-CN" sz="2400" b="0" kern="1200" dirty="0">
                              <a:solidFill>
                                <a:schemeClr val="tx1"/>
                              </a:solidFill>
                              <a:effectLst/>
                              <a:latin typeface="+mn-lt"/>
                              <a:ea typeface="+mn-ea"/>
                              <a:cs typeface="+mn-cs"/>
                            </a:rPr>
                            <a:t>给出状态</a:t>
                          </a:r>
                          <a14:m>
                            <m:oMath xmlns:m="http://schemas.openxmlformats.org/officeDocument/2006/math">
                              <m:r>
                                <a:rPr lang="en-US" altLang="zh-CN" sz="2400" b="0" i="1" kern="1200">
                                  <a:solidFill>
                                    <a:schemeClr val="tx1"/>
                                  </a:solidFill>
                                  <a:effectLst/>
                                  <a:latin typeface="Cambria Math" panose="02040503050406030204" pitchFamily="18" charset="0"/>
                                  <a:ea typeface="+mn-ea"/>
                                  <a:cs typeface="+mn-cs"/>
                                </a:rPr>
                                <m:t>𝑠</m:t>
                              </m:r>
                            </m:oMath>
                          </a14:m>
                          <a:r>
                            <a:rPr lang="zh-CN" altLang="zh-CN" sz="2400" b="0" kern="1200" dirty="0">
                              <a:solidFill>
                                <a:schemeClr val="tx1"/>
                              </a:solidFill>
                              <a:effectLst/>
                              <a:latin typeface="+mn-lt"/>
                              <a:ea typeface="+mn-ea"/>
                              <a:cs typeface="+mn-cs"/>
                            </a:rPr>
                            <a:t>下行动的智能体。</a:t>
                          </a:r>
                          <a:endParaRPr lang="zh-CN" altLang="zh-CN" sz="2400" b="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27291">
                    <a:tc>
                      <a:txBody>
                        <a:bodyPr/>
                        <a:lstStyle/>
                        <a:p>
                          <a:pPr algn="ctr">
                            <a:lnSpc>
                              <a:spcPct val="120000"/>
                            </a:lnSpc>
                          </a:pPr>
                          <a:r>
                            <a:rPr lang="zh-CN" altLang="en-US" sz="2400" b="0" kern="1200" dirty="0">
                              <a:solidFill>
                                <a:srgbClr val="C00000"/>
                              </a:solidFill>
                              <a:latin typeface="+mn-lt"/>
                              <a:ea typeface="+mn-ea"/>
                              <a:cs typeface="Times New Roman" panose="02020603050405020304" pitchFamily="18" charset="0"/>
                            </a:rPr>
                            <a:t>动作</a:t>
                          </a:r>
                          <a:endParaRPr lang="zh-CN" altLang="en-US" sz="2400" b="0" kern="1200" dirty="0">
                            <a:solidFill>
                              <a:srgbClr val="C00000"/>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20000"/>
                            </a:lnSpc>
                          </a:pPr>
                          <a:r>
                            <a:rPr lang="zh-CN" altLang="zh-CN" sz="2400" kern="1200" dirty="0">
                              <a:solidFill>
                                <a:schemeClr val="dk1"/>
                              </a:solidFill>
                              <a:effectLst/>
                              <a:latin typeface="+mn-lt"/>
                              <a:ea typeface="+mn-ea"/>
                              <a:cs typeface="+mn-cs"/>
                            </a:rPr>
                            <a:t>给定状态</a:t>
                          </a:r>
                          <a14:m>
                            <m:oMath xmlns:m="http://schemas.openxmlformats.org/officeDocument/2006/math">
                              <m:r>
                                <a:rPr lang="en-US" altLang="zh-CN" sz="2400" i="1" kern="1200">
                                  <a:solidFill>
                                    <a:schemeClr val="dk1"/>
                                  </a:solidFill>
                                  <a:effectLst/>
                                  <a:latin typeface="Cambria Math" panose="02040503050406030204" pitchFamily="18" charset="0"/>
                                  <a:ea typeface="+mn-ea"/>
                                  <a:cs typeface="+mn-cs"/>
                                </a:rPr>
                                <m:t>𝑠</m:t>
                              </m:r>
                            </m:oMath>
                          </a14:m>
                          <a:r>
                            <a:rPr lang="zh-CN" altLang="zh-CN" sz="2400" kern="1200" dirty="0">
                              <a:solidFill>
                                <a:schemeClr val="dk1"/>
                              </a:solidFill>
                              <a:effectLst/>
                              <a:latin typeface="+mn-lt"/>
                              <a:ea typeface="+mn-ea"/>
                              <a:cs typeface="+mn-cs"/>
                            </a:rPr>
                            <a:t>，动作指的是</a:t>
                          </a:r>
                          <a14:m>
                            <m:oMath xmlns:m="http://schemas.openxmlformats.org/officeDocument/2006/math">
                              <m:r>
                                <m:rPr>
                                  <m:sty m:val="p"/>
                                </m:rPr>
                                <a:rPr lang="en-US" altLang="zh-CN" sz="2400" kern="1200">
                                  <a:solidFill>
                                    <a:schemeClr val="dk1"/>
                                  </a:solidFill>
                                  <a:effectLst/>
                                  <a:latin typeface="Cambria Math" panose="02040503050406030204" pitchFamily="18" charset="0"/>
                                  <a:ea typeface="+mn-ea"/>
                                  <a:cs typeface="+mn-cs"/>
                                </a:rPr>
                                <m:t>player</m:t>
                              </m:r>
                              <m:r>
                                <a:rPr lang="en-US" altLang="zh-CN" sz="2400" kern="1200">
                                  <a:solidFill>
                                    <a:schemeClr val="dk1"/>
                                  </a:solidFill>
                                  <a:effectLst/>
                                  <a:latin typeface="Cambria Math" panose="02040503050406030204" pitchFamily="18" charset="0"/>
                                  <a:ea typeface="+mn-ea"/>
                                  <a:cs typeface="+mn-cs"/>
                                </a:rPr>
                                <m:t>(</m:t>
                              </m:r>
                              <m:r>
                                <a:rPr lang="en-US" altLang="zh-CN" sz="2400" i="1" kern="1200">
                                  <a:solidFill>
                                    <a:schemeClr val="dk1"/>
                                  </a:solidFill>
                                  <a:effectLst/>
                                  <a:latin typeface="Cambria Math" panose="02040503050406030204" pitchFamily="18" charset="0"/>
                                  <a:ea typeface="+mn-ea"/>
                                  <a:cs typeface="+mn-cs"/>
                                </a:rPr>
                                <m:t>𝑠</m:t>
                              </m:r>
                              <m:r>
                                <a:rPr lang="en-US" altLang="zh-CN" sz="2400" i="1" kern="1200">
                                  <a:solidFill>
                                    <a:schemeClr val="dk1"/>
                                  </a:solidFill>
                                  <a:effectLst/>
                                  <a:latin typeface="Cambria Math" panose="02040503050406030204" pitchFamily="18" charset="0"/>
                                  <a:ea typeface="+mn-ea"/>
                                  <a:cs typeface="+mn-cs"/>
                                </a:rPr>
                                <m:t>)</m:t>
                              </m:r>
                            </m:oMath>
                          </a14:m>
                          <a:r>
                            <a:rPr lang="zh-CN" altLang="zh-CN" sz="2400" kern="1200" dirty="0">
                              <a:solidFill>
                                <a:schemeClr val="dk1"/>
                              </a:solidFill>
                              <a:effectLst/>
                              <a:latin typeface="+mn-lt"/>
                              <a:ea typeface="+mn-ea"/>
                              <a:cs typeface="+mn-cs"/>
                            </a:rPr>
                            <a:t>在当前局面下可以采取的操作</a:t>
                          </a:r>
                          <a14:m>
                            <m:oMath xmlns:m="http://schemas.openxmlformats.org/officeDocument/2006/math">
                              <m:r>
                                <a:rPr lang="en-US" altLang="zh-CN" sz="2400" i="1" kern="1200">
                                  <a:solidFill>
                                    <a:schemeClr val="dk1"/>
                                  </a:solidFill>
                                  <a:effectLst/>
                                  <a:latin typeface="Cambria Math" panose="02040503050406030204" pitchFamily="18" charset="0"/>
                                  <a:ea typeface="+mn-ea"/>
                                  <a:cs typeface="+mn-cs"/>
                                </a:rPr>
                                <m:t>𝑎</m:t>
                              </m:r>
                            </m:oMath>
                          </a14:m>
                          <a:r>
                            <a:rPr lang="zh-CN" altLang="zh-CN" sz="2400" kern="1200" dirty="0">
                              <a:solidFill>
                                <a:schemeClr val="dk1"/>
                              </a:solidFill>
                              <a:effectLst/>
                              <a:latin typeface="+mn-lt"/>
                              <a:ea typeface="+mn-ea"/>
                              <a:cs typeface="+mn-cs"/>
                            </a:rPr>
                            <a:t>，记动作集合为</a:t>
                          </a:r>
                          <a14:m>
                            <m:oMath xmlns:m="http://schemas.openxmlformats.org/officeDocument/2006/math">
                              <m:r>
                                <m:rPr>
                                  <m:sty m:val="p"/>
                                </m:rPr>
                                <a:rPr lang="en-US" altLang="zh-CN" sz="2400" kern="1200">
                                  <a:solidFill>
                                    <a:schemeClr val="dk1"/>
                                  </a:solidFill>
                                  <a:effectLst/>
                                  <a:latin typeface="Cambria Math" panose="02040503050406030204" pitchFamily="18" charset="0"/>
                                  <a:ea typeface="+mn-ea"/>
                                  <a:cs typeface="+mn-cs"/>
                                </a:rPr>
                                <m:t>actions</m:t>
                              </m:r>
                              <m:d>
                                <m:dPr>
                                  <m:ctrlPr>
                                    <a:rPr lang="zh-CN" altLang="zh-CN" sz="2400" i="1" kern="1200">
                                      <a:solidFill>
                                        <a:schemeClr val="dk1"/>
                                      </a:solidFill>
                                      <a:effectLst/>
                                      <a:latin typeface="Cambria Math" panose="02040503050406030204" pitchFamily="18" charset="0"/>
                                      <a:ea typeface="+mn-ea"/>
                                      <a:cs typeface="+mn-cs"/>
                                    </a:rPr>
                                  </m:ctrlPr>
                                </m:dPr>
                                <m:e>
                                  <m:r>
                                    <a:rPr lang="en-US" altLang="zh-CN" sz="2400" i="1" kern="1200">
                                      <a:solidFill>
                                        <a:schemeClr val="dk1"/>
                                      </a:solidFill>
                                      <a:effectLst/>
                                      <a:latin typeface="Cambria Math" panose="02040503050406030204" pitchFamily="18" charset="0"/>
                                      <a:ea typeface="+mn-ea"/>
                                      <a:cs typeface="+mn-cs"/>
                                    </a:rPr>
                                    <m:t>𝑠</m:t>
                                  </m:r>
                                </m:e>
                              </m:d>
                            </m:oMath>
                          </a14:m>
                          <a:r>
                            <a:rPr lang="zh-CN" altLang="zh-CN" sz="2400" kern="1200" dirty="0">
                              <a:solidFill>
                                <a:schemeClr val="dk1"/>
                              </a:solidFill>
                              <a:effectLst/>
                              <a:latin typeface="+mn-lt"/>
                              <a:ea typeface="+mn-ea"/>
                              <a:cs typeface="+mn-cs"/>
                            </a:rPr>
                            <a:t>。</a:t>
                          </a:r>
                          <a:endParaRPr lang="zh-CN" altLang="zh-CN" sz="24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366203">
                    <a:tc>
                      <a:txBody>
                        <a:bodyPr/>
                        <a:lstStyle/>
                        <a:p>
                          <a:pPr marL="0" marR="0" indent="0" algn="ctr" defTabSz="685800" rtl="0" eaLnBrk="1" fontAlgn="auto" latinLnBrk="0" hangingPunct="1">
                            <a:lnSpc>
                              <a:spcPct val="120000"/>
                            </a:lnSpc>
                            <a:spcBef>
                              <a:spcPts val="0"/>
                            </a:spcBef>
                            <a:spcAft>
                              <a:spcPts val="0"/>
                            </a:spcAft>
                            <a:buClrTx/>
                            <a:buSzTx/>
                            <a:buFontTx/>
                            <a:buNone/>
                            <a:defRPr/>
                          </a:pPr>
                          <a:r>
                            <a:rPr lang="zh-CN" altLang="en-US" sz="2400" b="0" kern="1200" dirty="0">
                              <a:solidFill>
                                <a:srgbClr val="C00000"/>
                              </a:solidFill>
                              <a:latin typeface="+mn-lt"/>
                              <a:ea typeface="+mn-ea"/>
                              <a:cs typeface="Times New Roman" panose="02020603050405020304" pitchFamily="18" charset="0"/>
                            </a:rPr>
                            <a:t>状态转移</a:t>
                          </a:r>
                          <a:endParaRPr lang="zh-CN" altLang="en-US" sz="2400" b="0" kern="1200" dirty="0">
                            <a:solidFill>
                              <a:srgbClr val="C00000"/>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20000"/>
                            </a:lnSpc>
                          </a:pPr>
                          <a:r>
                            <a:rPr lang="zh-CN" altLang="zh-CN" sz="2400" kern="1200" dirty="0">
                              <a:solidFill>
                                <a:schemeClr val="dk1"/>
                              </a:solidFill>
                              <a:effectLst/>
                              <a:latin typeface="+mn-lt"/>
                              <a:ea typeface="+mn-ea"/>
                              <a:cs typeface="+mn-cs"/>
                            </a:rPr>
                            <a:t>给定状态</a:t>
                          </a:r>
                          <a14:m>
                            <m:oMath xmlns:m="http://schemas.openxmlformats.org/officeDocument/2006/math">
                              <m:r>
                                <a:rPr lang="en-US" altLang="zh-CN" sz="2400" i="1" kern="1200">
                                  <a:solidFill>
                                    <a:schemeClr val="dk1"/>
                                  </a:solidFill>
                                  <a:effectLst/>
                                  <a:latin typeface="Cambria Math" panose="02040503050406030204" pitchFamily="18" charset="0"/>
                                  <a:ea typeface="+mn-ea"/>
                                  <a:cs typeface="+mn-cs"/>
                                </a:rPr>
                                <m:t>𝑠</m:t>
                              </m:r>
                            </m:oMath>
                          </a14:m>
                          <a:r>
                            <a:rPr lang="zh-CN" altLang="zh-CN" sz="2400" kern="1200" dirty="0">
                              <a:solidFill>
                                <a:schemeClr val="dk1"/>
                              </a:solidFill>
                              <a:effectLst/>
                              <a:latin typeface="+mn-lt"/>
                              <a:ea typeface="+mn-ea"/>
                              <a:cs typeface="+mn-cs"/>
                            </a:rPr>
                            <a:t>和动作</a:t>
                          </a:r>
                          <a14:m>
                            <m:oMath xmlns:m="http://schemas.openxmlformats.org/officeDocument/2006/math">
                              <m:r>
                                <a:rPr lang="en-US" altLang="zh-CN" sz="2400" i="1" kern="1200">
                                  <a:solidFill>
                                    <a:schemeClr val="dk1"/>
                                  </a:solidFill>
                                  <a:effectLst/>
                                  <a:latin typeface="Cambria Math" panose="02040503050406030204" pitchFamily="18" charset="0"/>
                                  <a:ea typeface="+mn-ea"/>
                                  <a:cs typeface="+mn-cs"/>
                                </a:rPr>
                                <m:t>𝑎</m:t>
                              </m:r>
                              <m:r>
                                <a:rPr lang="en-US" altLang="zh-CN" sz="2400" i="1" kern="1200">
                                  <a:solidFill>
                                    <a:schemeClr val="dk1"/>
                                  </a:solidFill>
                                  <a:effectLst/>
                                  <a:latin typeface="Cambria Math" panose="02040503050406030204" pitchFamily="18" charset="0"/>
                                  <a:ea typeface="+mn-ea"/>
                                  <a:cs typeface="+mn-cs"/>
                                </a:rPr>
                                <m:t>∈</m:t>
                              </m:r>
                              <m:r>
                                <m:rPr>
                                  <m:sty m:val="p"/>
                                </m:rPr>
                                <a:rPr lang="en-US" altLang="zh-CN" sz="2400" kern="1200">
                                  <a:solidFill>
                                    <a:schemeClr val="dk1"/>
                                  </a:solidFill>
                                  <a:effectLst/>
                                  <a:latin typeface="Cambria Math" panose="02040503050406030204" pitchFamily="18" charset="0"/>
                                  <a:ea typeface="+mn-ea"/>
                                  <a:cs typeface="+mn-cs"/>
                                </a:rPr>
                                <m:t>actions</m:t>
                              </m:r>
                              <m:r>
                                <a:rPr lang="en-US" altLang="zh-CN" sz="2400" i="1" kern="1200">
                                  <a:solidFill>
                                    <a:schemeClr val="dk1"/>
                                  </a:solidFill>
                                  <a:effectLst/>
                                  <a:latin typeface="Cambria Math" panose="02040503050406030204" pitchFamily="18" charset="0"/>
                                  <a:ea typeface="+mn-ea"/>
                                  <a:cs typeface="+mn-cs"/>
                                </a:rPr>
                                <m:t>(</m:t>
                              </m:r>
                              <m:r>
                                <a:rPr lang="en-US" altLang="zh-CN" sz="2400" i="1" kern="1200">
                                  <a:solidFill>
                                    <a:schemeClr val="dk1"/>
                                  </a:solidFill>
                                  <a:effectLst/>
                                  <a:latin typeface="Cambria Math" panose="02040503050406030204" pitchFamily="18" charset="0"/>
                                  <a:ea typeface="+mn-ea"/>
                                  <a:cs typeface="+mn-cs"/>
                                </a:rPr>
                                <m:t>𝑠</m:t>
                              </m:r>
                              <m:r>
                                <a:rPr lang="en-US" altLang="zh-CN" sz="2400" i="1" kern="1200">
                                  <a:solidFill>
                                    <a:schemeClr val="dk1"/>
                                  </a:solidFill>
                                  <a:effectLst/>
                                  <a:latin typeface="Cambria Math" panose="02040503050406030204" pitchFamily="18" charset="0"/>
                                  <a:ea typeface="+mn-ea"/>
                                  <a:cs typeface="+mn-cs"/>
                                </a:rPr>
                                <m:t>)</m:t>
                              </m:r>
                            </m:oMath>
                          </a14:m>
                          <a:r>
                            <a:rPr lang="zh-CN" altLang="zh-CN" sz="2400" kern="1200" dirty="0">
                              <a:solidFill>
                                <a:schemeClr val="dk1"/>
                              </a:solidFill>
                              <a:effectLst/>
                              <a:latin typeface="+mn-lt"/>
                              <a:ea typeface="+mn-ea"/>
                              <a:cs typeface="+mn-cs"/>
                            </a:rPr>
                            <a:t>，状态转移函数</a:t>
                          </a:r>
                          <a14:m>
                            <m:oMath xmlns:m="http://schemas.openxmlformats.org/officeDocument/2006/math">
                              <m:r>
                                <m:rPr>
                                  <m:sty m:val="p"/>
                                </m:rPr>
                                <a:rPr lang="en-US" altLang="zh-CN" sz="2400" kern="1200">
                                  <a:solidFill>
                                    <a:schemeClr val="dk1"/>
                                  </a:solidFill>
                                  <a:effectLst/>
                                  <a:latin typeface="Cambria Math" panose="02040503050406030204" pitchFamily="18" charset="0"/>
                                  <a:ea typeface="+mn-ea"/>
                                  <a:cs typeface="+mn-cs"/>
                                </a:rPr>
                                <m:t>result</m:t>
                              </m:r>
                              <m:r>
                                <a:rPr lang="en-US" altLang="zh-CN" sz="2400" kern="1200">
                                  <a:solidFill>
                                    <a:schemeClr val="dk1"/>
                                  </a:solidFill>
                                  <a:effectLst/>
                                  <a:latin typeface="Cambria Math" panose="02040503050406030204" pitchFamily="18" charset="0"/>
                                  <a:ea typeface="+mn-ea"/>
                                  <a:cs typeface="+mn-cs"/>
                                </a:rPr>
                                <m:t>(</m:t>
                              </m:r>
                              <m:r>
                                <a:rPr lang="en-US" altLang="zh-CN" sz="2400" i="1" kern="1200">
                                  <a:solidFill>
                                    <a:schemeClr val="dk1"/>
                                  </a:solidFill>
                                  <a:effectLst/>
                                  <a:latin typeface="Cambria Math" panose="02040503050406030204" pitchFamily="18" charset="0"/>
                                  <a:ea typeface="+mn-ea"/>
                                  <a:cs typeface="+mn-cs"/>
                                </a:rPr>
                                <m:t>𝑠</m:t>
                              </m:r>
                              <m:r>
                                <a:rPr lang="en-US" altLang="zh-CN" sz="2400" i="1" kern="1200">
                                  <a:solidFill>
                                    <a:schemeClr val="dk1"/>
                                  </a:solidFill>
                                  <a:effectLst/>
                                  <a:latin typeface="Cambria Math" panose="02040503050406030204" pitchFamily="18" charset="0"/>
                                  <a:ea typeface="+mn-ea"/>
                                  <a:cs typeface="+mn-cs"/>
                                </a:rPr>
                                <m:t>,</m:t>
                              </m:r>
                              <m:r>
                                <a:rPr lang="en-US" altLang="zh-CN" sz="2400" i="1" kern="1200">
                                  <a:solidFill>
                                    <a:schemeClr val="dk1"/>
                                  </a:solidFill>
                                  <a:effectLst/>
                                  <a:latin typeface="Cambria Math" panose="02040503050406030204" pitchFamily="18" charset="0"/>
                                  <a:ea typeface="+mn-ea"/>
                                  <a:cs typeface="+mn-cs"/>
                                </a:rPr>
                                <m:t>𝑎</m:t>
                              </m:r>
                              <m:r>
                                <a:rPr lang="en-US" altLang="zh-CN" sz="2400" i="1" kern="1200">
                                  <a:solidFill>
                                    <a:schemeClr val="dk1"/>
                                  </a:solidFill>
                                  <a:effectLst/>
                                  <a:latin typeface="Cambria Math" panose="02040503050406030204" pitchFamily="18" charset="0"/>
                                  <a:ea typeface="+mn-ea"/>
                                  <a:cs typeface="+mn-cs"/>
                                </a:rPr>
                                <m:t>)</m:t>
                              </m:r>
                            </m:oMath>
                          </a14:m>
                          <a:r>
                            <a:rPr lang="zh-CN" altLang="zh-CN" sz="2400" kern="1200" dirty="0">
                              <a:solidFill>
                                <a:schemeClr val="dk1"/>
                              </a:solidFill>
                              <a:effectLst/>
                              <a:latin typeface="+mn-lt"/>
                              <a:ea typeface="+mn-ea"/>
                              <a:cs typeface="+mn-cs"/>
                            </a:rPr>
                            <a:t>决定了在</a:t>
                          </a:r>
                          <a14:m>
                            <m:oMath xmlns:m="http://schemas.openxmlformats.org/officeDocument/2006/math">
                              <m:r>
                                <a:rPr lang="en-US" altLang="zh-CN" sz="2400" i="1" kern="1200">
                                  <a:solidFill>
                                    <a:schemeClr val="dk1"/>
                                  </a:solidFill>
                                  <a:effectLst/>
                                  <a:latin typeface="Cambria Math" panose="02040503050406030204" pitchFamily="18" charset="0"/>
                                  <a:ea typeface="+mn-ea"/>
                                  <a:cs typeface="+mn-cs"/>
                                </a:rPr>
                                <m:t>𝑠</m:t>
                              </m:r>
                            </m:oMath>
                          </a14:m>
                          <a:r>
                            <a:rPr lang="zh-CN" altLang="zh-CN" sz="2400" kern="1200" dirty="0">
                              <a:solidFill>
                                <a:schemeClr val="dk1"/>
                              </a:solidFill>
                              <a:effectLst/>
                              <a:latin typeface="+mn-lt"/>
                              <a:ea typeface="+mn-ea"/>
                              <a:cs typeface="+mn-cs"/>
                            </a:rPr>
                            <a:t>状态采取</a:t>
                          </a:r>
                          <a14:m>
                            <m:oMath xmlns:m="http://schemas.openxmlformats.org/officeDocument/2006/math">
                              <m:r>
                                <a:rPr lang="en-US" altLang="zh-CN" sz="2400" i="1" kern="1200">
                                  <a:solidFill>
                                    <a:schemeClr val="dk1"/>
                                  </a:solidFill>
                                  <a:effectLst/>
                                  <a:latin typeface="Cambria Math" panose="02040503050406030204" pitchFamily="18" charset="0"/>
                                  <a:ea typeface="+mn-ea"/>
                                  <a:cs typeface="+mn-cs"/>
                                </a:rPr>
                                <m:t>𝑎</m:t>
                              </m:r>
                            </m:oMath>
                          </a14:m>
                          <a:r>
                            <a:rPr lang="zh-CN" altLang="zh-CN" sz="2400" kern="1200" dirty="0">
                              <a:solidFill>
                                <a:schemeClr val="dk1"/>
                              </a:solidFill>
                              <a:effectLst/>
                              <a:latin typeface="+mn-lt"/>
                              <a:ea typeface="+mn-ea"/>
                              <a:cs typeface="+mn-cs"/>
                            </a:rPr>
                            <a:t>动作后所得后继状态。</a:t>
                          </a:r>
                          <a:endParaRPr lang="zh-CN" altLang="zh-CN" sz="24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27291">
                    <a:tc>
                      <a:txBody>
                        <a:bodyPr/>
                        <a:lstStyle/>
                        <a:p>
                          <a:pPr marL="0" marR="0" indent="0" algn="l" defTabSz="685800" rtl="0" eaLnBrk="1" fontAlgn="auto" latinLnBrk="0" hangingPunct="1">
                            <a:lnSpc>
                              <a:spcPct val="120000"/>
                            </a:lnSpc>
                            <a:spcBef>
                              <a:spcPts val="0"/>
                            </a:spcBef>
                            <a:spcAft>
                              <a:spcPts val="0"/>
                            </a:spcAft>
                            <a:buClrTx/>
                            <a:buSzTx/>
                            <a:buFontTx/>
                            <a:buNone/>
                            <a:defRPr/>
                          </a:pPr>
                          <a:r>
                            <a:rPr lang="zh-CN" altLang="en-US" sz="2400" b="0" kern="1200" dirty="0">
                              <a:solidFill>
                                <a:srgbClr val="C00000"/>
                              </a:solidFill>
                              <a:latin typeface="+mn-lt"/>
                              <a:ea typeface="+mn-ea"/>
                              <a:cs typeface="Times New Roman" panose="02020603050405020304" pitchFamily="18" charset="0"/>
                            </a:rPr>
                            <a:t>终局状态检测</a:t>
                          </a:r>
                          <a:endParaRPr lang="zh-CN" altLang="en-US" sz="2400" b="0" i="1" kern="1200" dirty="0">
                            <a:solidFill>
                              <a:srgbClr val="C00000"/>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20000"/>
                            </a:lnSpc>
                          </a:pPr>
                          <a:r>
                            <a:rPr lang="zh-CN" altLang="zh-CN" sz="2400" kern="1200" dirty="0">
                              <a:solidFill>
                                <a:schemeClr val="dk1"/>
                              </a:solidFill>
                              <a:effectLst/>
                              <a:latin typeface="+mn-lt"/>
                              <a:ea typeface="+mn-ea"/>
                              <a:cs typeface="+mn-cs"/>
                            </a:rPr>
                            <a:t>终止状态检测函数</a:t>
                          </a:r>
                          <a14:m>
                            <m:oMath xmlns:m="http://schemas.openxmlformats.org/officeDocument/2006/math">
                              <m:r>
                                <m:rPr>
                                  <m:sty m:val="p"/>
                                </m:rPr>
                                <a:rPr lang="en-US" altLang="zh-CN" sz="2400" kern="1200">
                                  <a:solidFill>
                                    <a:schemeClr val="dk1"/>
                                  </a:solidFill>
                                  <a:effectLst/>
                                  <a:latin typeface="Cambria Math" panose="02040503050406030204" pitchFamily="18" charset="0"/>
                                  <a:ea typeface="+mn-ea"/>
                                  <a:cs typeface="+mn-cs"/>
                                </a:rPr>
                                <m:t>terminal</m:t>
                              </m:r>
                              <m:r>
                                <a:rPr lang="en-US" altLang="zh-CN" sz="2400" kern="1200">
                                  <a:solidFill>
                                    <a:schemeClr val="dk1"/>
                                  </a:solidFill>
                                  <a:effectLst/>
                                  <a:latin typeface="Cambria Math" panose="02040503050406030204" pitchFamily="18" charset="0"/>
                                  <a:ea typeface="+mn-ea"/>
                                  <a:cs typeface="+mn-cs"/>
                                </a:rPr>
                                <m:t>_</m:t>
                              </m:r>
                              <m:r>
                                <m:rPr>
                                  <m:sty m:val="p"/>
                                </m:rPr>
                                <a:rPr lang="en-US" altLang="zh-CN" sz="2400" kern="1200">
                                  <a:solidFill>
                                    <a:schemeClr val="dk1"/>
                                  </a:solidFill>
                                  <a:effectLst/>
                                  <a:latin typeface="Cambria Math" panose="02040503050406030204" pitchFamily="18" charset="0"/>
                                  <a:ea typeface="+mn-ea"/>
                                  <a:cs typeface="+mn-cs"/>
                                </a:rPr>
                                <m:t>test</m:t>
                              </m:r>
                              <m:r>
                                <a:rPr lang="en-US" altLang="zh-CN" sz="2400" kern="1200">
                                  <a:solidFill>
                                    <a:schemeClr val="dk1"/>
                                  </a:solidFill>
                                  <a:effectLst/>
                                  <a:latin typeface="Cambria Math" panose="02040503050406030204" pitchFamily="18" charset="0"/>
                                  <a:ea typeface="+mn-ea"/>
                                  <a:cs typeface="+mn-cs"/>
                                </a:rPr>
                                <m:t>(</m:t>
                              </m:r>
                              <m:r>
                                <m:rPr>
                                  <m:sty m:val="p"/>
                                </m:rPr>
                                <a:rPr lang="en-US" altLang="zh-CN" sz="2400" kern="1200">
                                  <a:solidFill>
                                    <a:schemeClr val="dk1"/>
                                  </a:solidFill>
                                  <a:effectLst/>
                                  <a:latin typeface="Cambria Math" panose="02040503050406030204" pitchFamily="18" charset="0"/>
                                  <a:ea typeface="+mn-ea"/>
                                  <a:cs typeface="+mn-cs"/>
                                </a:rPr>
                                <m:t>s</m:t>
                              </m:r>
                              <m:r>
                                <a:rPr lang="en-US" altLang="zh-CN" sz="2400" kern="1200">
                                  <a:solidFill>
                                    <a:schemeClr val="dk1"/>
                                  </a:solidFill>
                                  <a:effectLst/>
                                  <a:latin typeface="Cambria Math" panose="02040503050406030204" pitchFamily="18" charset="0"/>
                                  <a:ea typeface="+mn-ea"/>
                                  <a:cs typeface="+mn-cs"/>
                                </a:rPr>
                                <m:t>)</m:t>
                              </m:r>
                            </m:oMath>
                          </a14:m>
                          <a:r>
                            <a:rPr lang="zh-CN" altLang="zh-CN" sz="2400" kern="1200" dirty="0">
                              <a:solidFill>
                                <a:schemeClr val="dk1"/>
                              </a:solidFill>
                              <a:effectLst/>
                              <a:latin typeface="+mn-lt"/>
                              <a:ea typeface="+mn-ea"/>
                              <a:cs typeface="+mn-cs"/>
                            </a:rPr>
                            <a:t>用于测试游戏是否在状态</a:t>
                          </a:r>
                          <a14:m>
                            <m:oMath xmlns:m="http://schemas.openxmlformats.org/officeDocument/2006/math">
                              <m:r>
                                <a:rPr lang="en-US" altLang="zh-CN" sz="2400" i="1" kern="1200">
                                  <a:solidFill>
                                    <a:schemeClr val="dk1"/>
                                  </a:solidFill>
                                  <a:effectLst/>
                                  <a:latin typeface="Cambria Math" panose="02040503050406030204" pitchFamily="18" charset="0"/>
                                  <a:ea typeface="+mn-ea"/>
                                  <a:cs typeface="+mn-cs"/>
                                </a:rPr>
                                <m:t>𝑠</m:t>
                              </m:r>
                            </m:oMath>
                          </a14:m>
                          <a:r>
                            <a:rPr lang="zh-CN" altLang="zh-CN" sz="2400" kern="1200" dirty="0">
                              <a:solidFill>
                                <a:schemeClr val="dk1"/>
                              </a:solidFill>
                              <a:effectLst/>
                              <a:latin typeface="+mn-lt"/>
                              <a:ea typeface="+mn-ea"/>
                              <a:cs typeface="+mn-cs"/>
                            </a:rPr>
                            <a:t>结束。</a:t>
                          </a:r>
                          <a:endParaRPr lang="zh-CN" altLang="zh-CN" sz="24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27291">
                    <a:tc>
                      <a:txBody>
                        <a:bodyPr/>
                        <a:lstStyle/>
                        <a:p>
                          <a:pPr marL="0" marR="0" indent="0" algn="ctr" defTabSz="685800" rtl="0" eaLnBrk="1" fontAlgn="auto" latinLnBrk="0" hangingPunct="1">
                            <a:lnSpc>
                              <a:spcPct val="120000"/>
                            </a:lnSpc>
                            <a:spcBef>
                              <a:spcPts val="0"/>
                            </a:spcBef>
                            <a:spcAft>
                              <a:spcPts val="0"/>
                            </a:spcAft>
                            <a:buClrTx/>
                            <a:buSzTx/>
                            <a:buFontTx/>
                            <a:buNone/>
                            <a:defRPr/>
                          </a:pPr>
                          <a:r>
                            <a:rPr lang="zh-CN" altLang="en-US" sz="2400" b="0" kern="1200" dirty="0">
                              <a:solidFill>
                                <a:srgbClr val="C00000"/>
                              </a:solidFill>
                              <a:latin typeface="+mn-lt"/>
                              <a:ea typeface="+mn-ea"/>
                              <a:cs typeface="Times New Roman" panose="02020603050405020304" pitchFamily="18" charset="0"/>
                            </a:rPr>
                            <a:t>终局得分</a:t>
                          </a:r>
                          <a:endParaRPr lang="zh-CN" altLang="en-US" sz="2400" b="0" i="1" kern="1200" dirty="0">
                            <a:solidFill>
                              <a:srgbClr val="C00000"/>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685800" rtl="0" eaLnBrk="1" fontAlgn="auto" latinLnBrk="0" hangingPunct="1">
                            <a:lnSpc>
                              <a:spcPct val="120000"/>
                            </a:lnSpc>
                            <a:spcBef>
                              <a:spcPts val="0"/>
                            </a:spcBef>
                            <a:spcAft>
                              <a:spcPts val="0"/>
                            </a:spcAft>
                            <a:buClrTx/>
                            <a:buSzTx/>
                            <a:buFontTx/>
                            <a:buNone/>
                            <a:defRPr/>
                          </a:pPr>
                          <a:r>
                            <a:rPr lang="zh-CN" altLang="zh-CN" sz="2400" kern="1200" dirty="0">
                              <a:solidFill>
                                <a:schemeClr val="dk1"/>
                              </a:solidFill>
                              <a:effectLst/>
                              <a:latin typeface="+mn-lt"/>
                              <a:ea typeface="+mn-ea"/>
                              <a:cs typeface="+mn-cs"/>
                            </a:rPr>
                            <a:t>终局得分</a:t>
                          </a:r>
                          <a14:m>
                            <m:oMath xmlns:m="http://schemas.openxmlformats.org/officeDocument/2006/math">
                              <m:r>
                                <m:rPr>
                                  <m:sty m:val="p"/>
                                </m:rPr>
                                <a:rPr lang="en-US" altLang="zh-CN" sz="2400" kern="1200">
                                  <a:solidFill>
                                    <a:schemeClr val="dk1"/>
                                  </a:solidFill>
                                  <a:effectLst/>
                                  <a:latin typeface="Cambria Math" panose="02040503050406030204" pitchFamily="18" charset="0"/>
                                  <a:ea typeface="+mn-ea"/>
                                  <a:cs typeface="+mn-cs"/>
                                </a:rPr>
                                <m:t>utility</m:t>
                              </m:r>
                              <m:r>
                                <a:rPr lang="en-US" altLang="zh-CN" sz="2400" kern="1200">
                                  <a:solidFill>
                                    <a:schemeClr val="dk1"/>
                                  </a:solidFill>
                                  <a:effectLst/>
                                  <a:latin typeface="Cambria Math" panose="02040503050406030204" pitchFamily="18" charset="0"/>
                                  <a:ea typeface="+mn-ea"/>
                                  <a:cs typeface="+mn-cs"/>
                                </a:rPr>
                                <m:t>(</m:t>
                              </m:r>
                              <m:r>
                                <a:rPr lang="en-US" altLang="zh-CN" sz="2400" i="1" kern="1200">
                                  <a:solidFill>
                                    <a:schemeClr val="dk1"/>
                                  </a:solidFill>
                                  <a:effectLst/>
                                  <a:latin typeface="Cambria Math" panose="02040503050406030204" pitchFamily="18" charset="0"/>
                                  <a:ea typeface="+mn-ea"/>
                                  <a:cs typeface="+mn-cs"/>
                                </a:rPr>
                                <m:t>𝑠</m:t>
                              </m:r>
                              <m:r>
                                <a:rPr lang="en-US" altLang="zh-CN" sz="2400" i="1" kern="1200">
                                  <a:solidFill>
                                    <a:schemeClr val="dk1"/>
                                  </a:solidFill>
                                  <a:effectLst/>
                                  <a:latin typeface="Cambria Math" panose="02040503050406030204" pitchFamily="18" charset="0"/>
                                  <a:ea typeface="+mn-ea"/>
                                  <a:cs typeface="+mn-cs"/>
                                </a:rPr>
                                <m:t>,</m:t>
                              </m:r>
                              <m:r>
                                <a:rPr lang="en-US" altLang="zh-CN" sz="2400" i="1" kern="1200">
                                  <a:solidFill>
                                    <a:schemeClr val="dk1"/>
                                  </a:solidFill>
                                  <a:effectLst/>
                                  <a:latin typeface="Cambria Math" panose="02040503050406030204" pitchFamily="18" charset="0"/>
                                  <a:ea typeface="+mn-ea"/>
                                  <a:cs typeface="+mn-cs"/>
                                </a:rPr>
                                <m:t>𝑝</m:t>
                              </m:r>
                              <m:r>
                                <a:rPr lang="en-US" altLang="zh-CN" sz="2400" i="1" kern="1200">
                                  <a:solidFill>
                                    <a:schemeClr val="dk1"/>
                                  </a:solidFill>
                                  <a:effectLst/>
                                  <a:latin typeface="Cambria Math" panose="02040503050406030204" pitchFamily="18" charset="0"/>
                                  <a:ea typeface="+mn-ea"/>
                                  <a:cs typeface="+mn-cs"/>
                                </a:rPr>
                                <m:t>)</m:t>
                              </m:r>
                            </m:oMath>
                          </a14:m>
                          <a:r>
                            <a:rPr lang="zh-CN" altLang="zh-CN" sz="2400" kern="1200" dirty="0">
                              <a:solidFill>
                                <a:schemeClr val="dk1"/>
                              </a:solidFill>
                              <a:effectLst/>
                              <a:latin typeface="+mn-lt"/>
                              <a:ea typeface="+mn-ea"/>
                              <a:cs typeface="+mn-cs"/>
                            </a:rPr>
                            <a:t>表示在终局状态</a:t>
                          </a:r>
                          <a14:m>
                            <m:oMath xmlns:m="http://schemas.openxmlformats.org/officeDocument/2006/math">
                              <m:r>
                                <a:rPr lang="en-US" altLang="zh-CN" sz="2400" i="1" kern="1200">
                                  <a:solidFill>
                                    <a:schemeClr val="dk1"/>
                                  </a:solidFill>
                                  <a:effectLst/>
                                  <a:latin typeface="Cambria Math" panose="02040503050406030204" pitchFamily="18" charset="0"/>
                                  <a:ea typeface="+mn-ea"/>
                                  <a:cs typeface="+mn-cs"/>
                                </a:rPr>
                                <m:t>𝑠</m:t>
                              </m:r>
                            </m:oMath>
                          </a14:m>
                          <a:r>
                            <a:rPr lang="zh-CN" altLang="zh-CN" sz="2400" kern="1200" dirty="0">
                              <a:solidFill>
                                <a:schemeClr val="dk1"/>
                              </a:solidFill>
                              <a:effectLst/>
                              <a:latin typeface="+mn-lt"/>
                              <a:ea typeface="+mn-ea"/>
                              <a:cs typeface="+mn-cs"/>
                            </a:rPr>
                            <a:t>时玩家</a:t>
                          </a:r>
                          <a14:m>
                            <m:oMath xmlns:m="http://schemas.openxmlformats.org/officeDocument/2006/math">
                              <m:r>
                                <a:rPr lang="en-US" altLang="zh-CN" sz="2400" i="1" kern="1200">
                                  <a:solidFill>
                                    <a:schemeClr val="dk1"/>
                                  </a:solidFill>
                                  <a:effectLst/>
                                  <a:latin typeface="Cambria Math" panose="02040503050406030204" pitchFamily="18" charset="0"/>
                                  <a:ea typeface="+mn-ea"/>
                                  <a:cs typeface="+mn-cs"/>
                                </a:rPr>
                                <m:t>𝑝</m:t>
                              </m:r>
                            </m:oMath>
                          </a14:m>
                          <a:r>
                            <a:rPr lang="zh-CN" altLang="zh-CN" sz="2400" kern="1200" dirty="0">
                              <a:solidFill>
                                <a:schemeClr val="dk1"/>
                              </a:solidFill>
                              <a:effectLst/>
                              <a:latin typeface="+mn-lt"/>
                              <a:ea typeface="+mn-ea"/>
                              <a:cs typeface="+mn-cs"/>
                            </a:rPr>
                            <a:t>的得分。</a:t>
                          </a:r>
                          <a:endParaRPr lang="zh-CN" altLang="en-US" sz="2400" b="0" kern="1200" dirty="0">
                            <a:solidFill>
                              <a:schemeClr val="dk1"/>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mc:Choice>
        <mc:Fallback xmlns="">
          <p:graphicFrame>
            <p:nvGraphicFramePr>
              <p:cNvPr id="6" name="表格 5"/>
              <p:cNvGraphicFramePr>
                <a:graphicFrameLocks noGrp="1"/>
              </p:cNvGraphicFramePr>
              <p:nvPr/>
            </p:nvGraphicFramePr>
            <p:xfrm>
              <a:off x="545502" y="1073975"/>
              <a:ext cx="8053002" cy="5140771"/>
            </p:xfrm>
            <a:graphic>
              <a:graphicData uri="http://schemas.openxmlformats.org/drawingml/2006/table">
                <a:tbl>
                  <a:tblPr firstRow="1" bandRow="1">
                    <a:tableStyleId>{5C22544A-7EE6-4342-B048-85BDC9FD1C3A}</a:tableStyleId>
                  </a:tblPr>
                  <a:tblGrid>
                    <a:gridCol w="1468831"/>
                    <a:gridCol w="6584171"/>
                  </a:tblGrid>
                  <a:tr h="969010">
                    <a:tc>
                      <a:txBody>
                        <a:bodyPr/>
                        <a:lstStyle/>
                        <a:p>
                          <a:pPr algn="ctr">
                            <a:lnSpc>
                              <a:spcPct val="120000"/>
                            </a:lnSpc>
                          </a:pPr>
                          <a:r>
                            <a:rPr lang="zh-CN" altLang="en-US" sz="2400" b="0" kern="1200" dirty="0">
                              <a:solidFill>
                                <a:srgbClr val="C00000"/>
                              </a:solidFill>
                              <a:latin typeface="+mn-lt"/>
                              <a:ea typeface="+mn-ea"/>
                              <a:cs typeface="Times New Roman" panose="02020603050405020304" pitchFamily="18" charset="0"/>
                            </a:rPr>
                            <a:t>状态</a:t>
                          </a:r>
                          <a:endParaRPr lang="zh-CN" altLang="en-US" sz="2400" b="0" kern="1200" dirty="0">
                            <a:solidFill>
                              <a:srgbClr val="C00000"/>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969010">
                    <a:tc>
                      <a:txBody>
                        <a:bodyPr/>
                        <a:lstStyle/>
                        <a:p>
                          <a:pPr algn="ctr">
                            <a:lnSpc>
                              <a:spcPct val="120000"/>
                            </a:lnSpc>
                          </a:pPr>
                          <a:r>
                            <a:rPr lang="zh-CN" altLang="en-US" sz="2400" b="0" kern="1200" dirty="0">
                              <a:solidFill>
                                <a:srgbClr val="C00000"/>
                              </a:solidFill>
                              <a:latin typeface="+mn-lt"/>
                              <a:ea typeface="+mn-ea"/>
                              <a:cs typeface="Times New Roman" panose="02020603050405020304" pitchFamily="18" charset="0"/>
                            </a:rPr>
                            <a:t>动作</a:t>
                          </a:r>
                          <a:endParaRPr lang="zh-CN" altLang="en-US" sz="2400" b="0" kern="1200" dirty="0">
                            <a:solidFill>
                              <a:srgbClr val="C00000"/>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1407795">
                    <a:tc>
                      <a:txBody>
                        <a:bodyPr/>
                        <a:lstStyle/>
                        <a:p>
                          <a:pPr marL="0" marR="0" indent="0" algn="ctr" defTabSz="685800" rtl="0" eaLnBrk="1" fontAlgn="auto" latinLnBrk="0" hangingPunct="1">
                            <a:lnSpc>
                              <a:spcPct val="120000"/>
                            </a:lnSpc>
                            <a:spcBef>
                              <a:spcPts val="0"/>
                            </a:spcBef>
                            <a:spcAft>
                              <a:spcPts val="0"/>
                            </a:spcAft>
                            <a:buClrTx/>
                            <a:buSzTx/>
                            <a:buFontTx/>
                            <a:buNone/>
                            <a:defRPr/>
                          </a:pPr>
                          <a:r>
                            <a:rPr lang="zh-CN" altLang="en-US" sz="2400" b="0" kern="1200" dirty="0">
                              <a:solidFill>
                                <a:srgbClr val="C00000"/>
                              </a:solidFill>
                              <a:latin typeface="+mn-lt"/>
                              <a:ea typeface="+mn-ea"/>
                              <a:cs typeface="Times New Roman" panose="02020603050405020304" pitchFamily="18" charset="0"/>
                            </a:rPr>
                            <a:t>状态转移</a:t>
                          </a:r>
                          <a:endParaRPr lang="zh-CN" altLang="en-US" sz="2400" b="0" kern="1200" dirty="0">
                            <a:solidFill>
                              <a:srgbClr val="C00000"/>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969010">
                    <a:tc>
                      <a:txBody>
                        <a:bodyPr/>
                        <a:lstStyle/>
                        <a:p>
                          <a:pPr marL="0" marR="0" indent="0" algn="l" defTabSz="685800" rtl="0" eaLnBrk="1" fontAlgn="auto" latinLnBrk="0" hangingPunct="1">
                            <a:lnSpc>
                              <a:spcPct val="120000"/>
                            </a:lnSpc>
                            <a:spcBef>
                              <a:spcPts val="0"/>
                            </a:spcBef>
                            <a:spcAft>
                              <a:spcPts val="0"/>
                            </a:spcAft>
                            <a:buClrTx/>
                            <a:buSzTx/>
                            <a:buFontTx/>
                            <a:buNone/>
                            <a:defRPr/>
                          </a:pPr>
                          <a:r>
                            <a:rPr lang="zh-CN" altLang="en-US" sz="2400" b="0" kern="1200" dirty="0">
                              <a:solidFill>
                                <a:srgbClr val="C00000"/>
                              </a:solidFill>
                              <a:latin typeface="+mn-lt"/>
                              <a:ea typeface="+mn-ea"/>
                              <a:cs typeface="Times New Roman" panose="02020603050405020304" pitchFamily="18" charset="0"/>
                            </a:rPr>
                            <a:t>终局状态检测</a:t>
                          </a:r>
                          <a:endParaRPr lang="zh-CN" altLang="en-US" sz="2400" b="0" i="1" kern="1200" dirty="0">
                            <a:solidFill>
                              <a:srgbClr val="C00000"/>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969010">
                    <a:tc>
                      <a:txBody>
                        <a:bodyPr/>
                        <a:lstStyle/>
                        <a:p>
                          <a:pPr marL="0" marR="0" indent="0" algn="ctr" defTabSz="685800" rtl="0" eaLnBrk="1" fontAlgn="auto" latinLnBrk="0" hangingPunct="1">
                            <a:lnSpc>
                              <a:spcPct val="120000"/>
                            </a:lnSpc>
                            <a:spcBef>
                              <a:spcPts val="0"/>
                            </a:spcBef>
                            <a:spcAft>
                              <a:spcPts val="0"/>
                            </a:spcAft>
                            <a:buClrTx/>
                            <a:buSzTx/>
                            <a:buFontTx/>
                            <a:buNone/>
                            <a:defRPr/>
                          </a:pPr>
                          <a:r>
                            <a:rPr lang="zh-CN" altLang="en-US" sz="2400" b="0" kern="1200" dirty="0">
                              <a:solidFill>
                                <a:srgbClr val="C00000"/>
                              </a:solidFill>
                              <a:latin typeface="+mn-lt"/>
                              <a:ea typeface="+mn-ea"/>
                              <a:cs typeface="Times New Roman" panose="02020603050405020304" pitchFamily="18" charset="0"/>
                            </a:rPr>
                            <a:t>终局得分</a:t>
                          </a:r>
                          <a:endParaRPr lang="zh-CN" altLang="en-US" sz="2400" b="0" i="1" kern="1200" dirty="0">
                            <a:solidFill>
                              <a:srgbClr val="C00000"/>
                            </a:solidFill>
                            <a:latin typeface="+mn-lt"/>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bl>
              </a:graphicData>
            </a:graphic>
          </p:graphicFrame>
        </mc:Fallback>
      </mc:AlternateContent>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05253" y="1154234"/>
            <a:ext cx="8056859" cy="5054269"/>
          </a:xfrm>
          <a:prstGeom prst="rect">
            <a:avLst/>
          </a:prstGeom>
        </p:spPr>
        <p:txBody>
          <a:bodyPr wrap="square">
            <a:spAutoFit/>
          </a:bodyPr>
          <a:lstStyle/>
          <a:p>
            <a:pPr marL="457200" indent="-457200">
              <a:lnSpc>
                <a:spcPct val="130000"/>
              </a:lnSpc>
              <a:buFont typeface="Arial" panose="020B0604020202020204" pitchFamily="34" charset="0"/>
              <a:buChar char="•"/>
            </a:pPr>
            <a:r>
              <a:rPr lang="zh-CN" altLang="en-US" sz="2800" dirty="0">
                <a:solidFill>
                  <a:prstClr val="black"/>
                </a:solidFill>
                <a:latin typeface="黑体" panose="02010609060101010101" charset="-122"/>
                <a:ea typeface="黑体" panose="02010609060101010101" charset="-122"/>
              </a:rPr>
              <a:t>所谓</a:t>
            </a:r>
            <a:r>
              <a:rPr lang="zh-CN" altLang="en-US" sz="2800" dirty="0">
                <a:solidFill>
                  <a:srgbClr val="FF0000"/>
                </a:solidFill>
                <a:latin typeface="黑体" panose="02010609060101010101" charset="-122"/>
                <a:ea typeface="黑体" panose="02010609060101010101" charset="-122"/>
              </a:rPr>
              <a:t>零和博弈</a:t>
            </a:r>
            <a:r>
              <a:rPr lang="zh-CN" altLang="en-US" sz="2800" dirty="0">
                <a:solidFill>
                  <a:prstClr val="black"/>
                </a:solidFill>
                <a:latin typeface="黑体" panose="02010609060101010101" charset="-122"/>
                <a:ea typeface="黑体" panose="02010609060101010101" charset="-122"/>
              </a:rPr>
              <a:t>是博弈论的一个概念，属非合作博弈。</a:t>
            </a:r>
            <a:endParaRPr lang="en-US" altLang="zh-CN" sz="2800" dirty="0">
              <a:solidFill>
                <a:prstClr val="black"/>
              </a:solidFill>
              <a:latin typeface="黑体" panose="02010609060101010101" charset="-122"/>
              <a:ea typeface="黑体" panose="02010609060101010101" charset="-122"/>
            </a:endParaRPr>
          </a:p>
          <a:p>
            <a:pPr marL="457200" indent="-457200">
              <a:lnSpc>
                <a:spcPct val="130000"/>
              </a:lnSpc>
              <a:buFont typeface="Arial" panose="020B0604020202020204" pitchFamily="34" charset="0"/>
              <a:buChar char="•"/>
            </a:pPr>
            <a:r>
              <a:rPr lang="zh-CN" altLang="en-US" sz="2800" dirty="0">
                <a:solidFill>
                  <a:prstClr val="black"/>
                </a:solidFill>
                <a:latin typeface="黑体" panose="02010609060101010101" charset="-122"/>
                <a:ea typeface="黑体" panose="02010609060101010101" charset="-122"/>
              </a:rPr>
              <a:t>参与博弈的各方，在严格竞争下，一方的收益必然意味着另一方的损失，博弈各方的收益和损失相加总和永远为“零”，双方</a:t>
            </a:r>
            <a:r>
              <a:rPr lang="zh-CN" altLang="en-US" sz="2800" dirty="0">
                <a:solidFill>
                  <a:srgbClr val="FF0000"/>
                </a:solidFill>
                <a:latin typeface="黑体" panose="02010609060101010101" charset="-122"/>
                <a:ea typeface="黑体" panose="02010609060101010101" charset="-122"/>
              </a:rPr>
              <a:t>不存在合作</a:t>
            </a:r>
            <a:r>
              <a:rPr lang="zh-CN" altLang="en-US" sz="2800" dirty="0">
                <a:solidFill>
                  <a:prstClr val="black"/>
                </a:solidFill>
                <a:latin typeface="黑体" panose="02010609060101010101" charset="-122"/>
                <a:ea typeface="黑体" panose="02010609060101010101" charset="-122"/>
              </a:rPr>
              <a:t>的可能。</a:t>
            </a:r>
            <a:endParaRPr lang="en-US" altLang="zh-CN" sz="2800" dirty="0">
              <a:solidFill>
                <a:prstClr val="black"/>
              </a:solidFill>
              <a:latin typeface="黑体" panose="02010609060101010101" charset="-122"/>
              <a:ea typeface="黑体" panose="02010609060101010101" charset="-122"/>
            </a:endParaRPr>
          </a:p>
          <a:p>
            <a:pPr marL="457200" indent="-457200">
              <a:lnSpc>
                <a:spcPct val="130000"/>
              </a:lnSpc>
              <a:buFont typeface="Arial" panose="020B0604020202020204" pitchFamily="34" charset="0"/>
              <a:buChar char="•"/>
            </a:pPr>
            <a:r>
              <a:rPr lang="zh-CN" altLang="en-US" sz="2800" dirty="0">
                <a:solidFill>
                  <a:prstClr val="black"/>
                </a:solidFill>
                <a:latin typeface="黑体" panose="02010609060101010101" charset="-122"/>
                <a:ea typeface="黑体" panose="02010609060101010101" charset="-122"/>
              </a:rPr>
              <a:t>与“零和”对应，“</a:t>
            </a:r>
            <a:r>
              <a:rPr lang="zh-CN" altLang="en-US" sz="2800" dirty="0">
                <a:solidFill>
                  <a:srgbClr val="FF0000"/>
                </a:solidFill>
                <a:latin typeface="黑体" panose="02010609060101010101" charset="-122"/>
                <a:ea typeface="黑体" panose="02010609060101010101" charset="-122"/>
              </a:rPr>
              <a:t>双赢博弈</a:t>
            </a:r>
            <a:r>
              <a:rPr lang="zh-CN" altLang="en-US" sz="2800" dirty="0">
                <a:solidFill>
                  <a:prstClr val="black"/>
                </a:solidFill>
                <a:latin typeface="黑体" panose="02010609060101010101" charset="-122"/>
                <a:ea typeface="黑体" panose="02010609060101010101" charset="-122"/>
              </a:rPr>
              <a:t>”的基本理论就是“利己”不“损人”，通过谈判、合作达到</a:t>
            </a:r>
            <a:r>
              <a:rPr lang="zh-CN" altLang="en-US" sz="2800" dirty="0">
                <a:solidFill>
                  <a:srgbClr val="FF0000"/>
                </a:solidFill>
                <a:latin typeface="黑体" panose="02010609060101010101" charset="-122"/>
                <a:ea typeface="黑体" panose="02010609060101010101" charset="-122"/>
              </a:rPr>
              <a:t>皆大欢喜</a:t>
            </a:r>
            <a:r>
              <a:rPr lang="zh-CN" altLang="en-US" sz="2800" dirty="0">
                <a:solidFill>
                  <a:prstClr val="black"/>
                </a:solidFill>
                <a:latin typeface="黑体" panose="02010609060101010101" charset="-122"/>
                <a:ea typeface="黑体" panose="02010609060101010101" charset="-122"/>
              </a:rPr>
              <a:t>的结果。</a:t>
            </a:r>
            <a:endParaRPr lang="zh-CN" altLang="en-US" sz="2800" dirty="0">
              <a:solidFill>
                <a:prstClr val="black"/>
              </a:solidFill>
              <a:latin typeface="黑体" panose="02010609060101010101" charset="-122"/>
              <a:ea typeface="黑体" panose="02010609060101010101" charset="-122"/>
            </a:endParaRPr>
          </a:p>
        </p:txBody>
      </p:sp>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5" name="矩形 4"/>
          <p:cNvSpPr/>
          <p:nvPr/>
        </p:nvSpPr>
        <p:spPr>
          <a:xfrm>
            <a:off x="505253" y="1154233"/>
            <a:ext cx="8056859" cy="3222998"/>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zh-CN" altLang="en-US" sz="2800" dirty="0">
                <a:solidFill>
                  <a:prstClr val="black"/>
                </a:solidFill>
                <a:latin typeface="黑体" panose="02010609060101010101" charset="-122"/>
                <a:ea typeface="黑体" panose="02010609060101010101" charset="-122"/>
              </a:rPr>
              <a:t>在二人博弈问题中，为了从众多可供选择的行动方案中选出一个对自己最为有利的行动方案，需要对当前情况以及将要发生的情况进行分析，从中选出最优走步。</a:t>
            </a:r>
            <a:endParaRPr lang="en-US" altLang="zh-CN" sz="2800" dirty="0">
              <a:solidFill>
                <a:prstClr val="black"/>
              </a:solidFill>
              <a:latin typeface="黑体" panose="02010609060101010101" charset="-122"/>
              <a:ea typeface="黑体" panose="02010609060101010101" charset="-122"/>
            </a:endParaRPr>
          </a:p>
          <a:p>
            <a:pPr marL="457200" indent="-457200" algn="just">
              <a:lnSpc>
                <a:spcPct val="150000"/>
              </a:lnSpc>
              <a:buFont typeface="Arial" panose="020B0604020202020204" pitchFamily="34" charset="0"/>
              <a:buChar char="•"/>
            </a:pPr>
            <a:r>
              <a:rPr lang="zh-CN" altLang="en-US" sz="2800" dirty="0">
                <a:solidFill>
                  <a:prstClr val="black"/>
                </a:solidFill>
                <a:latin typeface="黑体" panose="02010609060101010101" charset="-122"/>
                <a:ea typeface="黑体" panose="02010609060101010101" charset="-122"/>
              </a:rPr>
              <a:t>最常用的分析方法</a:t>
            </a:r>
            <a:r>
              <a:rPr lang="en-US" altLang="zh-CN" sz="2800" dirty="0">
                <a:solidFill>
                  <a:prstClr val="black"/>
                </a:solidFill>
                <a:latin typeface="黑体" panose="02010609060101010101" charset="-122"/>
                <a:ea typeface="黑体" panose="02010609060101010101" charset="-122"/>
              </a:rPr>
              <a:t>——</a:t>
            </a:r>
            <a:r>
              <a:rPr lang="zh-CN" altLang="en-US" sz="2800" dirty="0">
                <a:solidFill>
                  <a:srgbClr val="FF0000"/>
                </a:solidFill>
                <a:latin typeface="黑体" panose="02010609060101010101" charset="-122"/>
                <a:ea typeface="黑体" panose="02010609060101010101" charset="-122"/>
              </a:rPr>
              <a:t>最小最大搜索算法</a:t>
            </a:r>
            <a:endParaRPr lang="en-US" altLang="zh-CN" sz="2800" dirty="0">
              <a:solidFill>
                <a:srgbClr val="FF0000"/>
              </a:soli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p:nvPicPr>
        <p:blipFill>
          <a:blip r:embed="rId1"/>
          <a:stretch>
            <a:fillRect/>
          </a:stretch>
        </p:blipFill>
        <p:spPr>
          <a:xfrm>
            <a:off x="928259" y="915375"/>
            <a:ext cx="5606951" cy="3282552"/>
          </a:xfrm>
          <a:prstGeom prst="rect">
            <a:avLst/>
          </a:prstGeom>
        </p:spPr>
      </p:pic>
      <mc:AlternateContent xmlns:mc="http://schemas.openxmlformats.org/markup-compatibility/2006">
        <mc:Choice xmlns:a14="http://schemas.microsoft.com/office/drawing/2010/main" Requires="a14">
          <p:sp>
            <p:nvSpPr>
              <p:cNvPr id="3" name="矩形 2"/>
              <p:cNvSpPr/>
              <p:nvPr/>
            </p:nvSpPr>
            <p:spPr>
              <a:xfrm>
                <a:off x="332327" y="4121936"/>
                <a:ext cx="5859888" cy="1820691"/>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fr-FR" altLang="zh-CN" sz="2400">
                          <a:solidFill>
                            <a:prstClr val="black"/>
                          </a:solidFill>
                          <a:latin typeface="Cambria Math" panose="02040503050406030204" pitchFamily="18" charset="0"/>
                        </a:rPr>
                        <m:t>minimax</m:t>
                      </m:r>
                      <m:d>
                        <m:dPr>
                          <m:ctrlPr>
                            <a:rPr lang="zh-CN" altLang="zh-CN" sz="2400" i="1">
                              <a:solidFill>
                                <a:prstClr val="black"/>
                              </a:solidFill>
                              <a:latin typeface="Cambria Math" panose="02040503050406030204" pitchFamily="18" charset="0"/>
                            </a:rPr>
                          </m:ctrlPr>
                        </m:dPr>
                        <m:e>
                          <m:r>
                            <m:rPr>
                              <m:sty m:val="p"/>
                            </m:rPr>
                            <a:rPr lang="fr-FR" altLang="zh-CN" sz="2400">
                              <a:solidFill>
                                <a:prstClr val="black"/>
                              </a:solidFill>
                              <a:latin typeface="Cambria Math" panose="02040503050406030204" pitchFamily="18" charset="0"/>
                            </a:rPr>
                            <m:t>s</m:t>
                          </m:r>
                        </m:e>
                      </m:d>
                      <m:r>
                        <a:rPr lang="fr-FR" altLang="zh-CN" sz="2400">
                          <a:solidFill>
                            <a:prstClr val="black"/>
                          </a:solidFill>
                          <a:latin typeface="Cambria Math" panose="02040503050406030204" pitchFamily="18" charset="0"/>
                        </a:rPr>
                        <m:t>=</m:t>
                      </m:r>
                      <m:d>
                        <m:dPr>
                          <m:begChr m:val="{"/>
                          <m:endChr m:val=""/>
                          <m:ctrlPr>
                            <a:rPr lang="zh-CN" altLang="zh-CN" sz="2400" i="1">
                              <a:solidFill>
                                <a:prstClr val="black"/>
                              </a:solidFill>
                              <a:latin typeface="Cambria Math" panose="02040503050406030204" pitchFamily="18" charset="0"/>
                            </a:rPr>
                          </m:ctrlPr>
                        </m:dPr>
                        <m:e>
                          <m:eqArr>
                            <m:eqArrPr>
                              <m:ctrlPr>
                                <a:rPr lang="zh-CN" altLang="zh-CN" sz="2400" i="1">
                                  <a:solidFill>
                                    <a:prstClr val="black"/>
                                  </a:solidFill>
                                  <a:latin typeface="Cambria Math" panose="02040503050406030204" pitchFamily="18" charset="0"/>
                                </a:rPr>
                              </m:ctrlPr>
                            </m:eqArrPr>
                            <m:e>
                              <m:r>
                                <m:rPr>
                                  <m:sty m:val="p"/>
                                </m:rPr>
                                <a:rPr lang="en-US" altLang="zh-CN" sz="2400">
                                  <a:solidFill>
                                    <a:prstClr val="black"/>
                                  </a:solidFill>
                                  <a:latin typeface="Cambria Math" panose="02040503050406030204" pitchFamily="18" charset="0"/>
                                </a:rPr>
                                <m:t>utility</m:t>
                              </m:r>
                              <m:d>
                                <m:dPr>
                                  <m:begChr m:val="（"/>
                                  <m:endChr m:val="）"/>
                                  <m:ctrlPr>
                                    <a:rPr lang="zh-CN"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𝑠</m:t>
                                  </m:r>
                                </m:e>
                              </m:d>
                              <m:r>
                                <a:rPr lang="en-US" altLang="zh-CN" sz="2400" i="1">
                                  <a:solidFill>
                                    <a:prstClr val="black"/>
                                  </a:solidFill>
                                  <a:latin typeface="Cambria Math" panose="02040503050406030204" pitchFamily="18" charset="0"/>
                                </a:rPr>
                                <m:t>,                                     </m:t>
                              </m:r>
                              <m:r>
                                <a:rPr lang="fr-FR" altLang="zh-CN" sz="2400" i="1">
                                  <a:solidFill>
                                    <a:prstClr val="black"/>
                                  </a:solidFill>
                                  <a:latin typeface="Cambria Math" panose="02040503050406030204" pitchFamily="18" charset="0"/>
                                </a:rPr>
                                <m:t>                </m:t>
                              </m:r>
                              <m:r>
                                <m:rPr>
                                  <m:sty m:val="p"/>
                                </m:rPr>
                                <a:rPr lang="fr-FR" altLang="zh-CN" sz="2400">
                                  <a:solidFill>
                                    <a:prstClr val="black"/>
                                  </a:solidFill>
                                  <a:latin typeface="Cambria Math" panose="02040503050406030204" pitchFamily="18" charset="0"/>
                                </a:rPr>
                                <m:t>if</m:t>
                              </m:r>
                              <m:r>
                                <a:rPr lang="fr-FR" altLang="zh-CN" sz="2400">
                                  <a:solidFill>
                                    <a:prstClr val="black"/>
                                  </a:solidFill>
                                  <a:latin typeface="Cambria Math" panose="02040503050406030204" pitchFamily="18" charset="0"/>
                                </a:rPr>
                                <m:t> </m:t>
                              </m:r>
                              <m:r>
                                <m:rPr>
                                  <m:sty m:val="p"/>
                                </m:rPr>
                                <a:rPr lang="fr-FR" altLang="zh-CN" sz="2400">
                                  <a:solidFill>
                                    <a:prstClr val="black"/>
                                  </a:solidFill>
                                  <a:latin typeface="Cambria Math" panose="02040503050406030204" pitchFamily="18" charset="0"/>
                                </a:rPr>
                                <m:t>terminal</m:t>
                              </m:r>
                              <m:r>
                                <a:rPr lang="en-US" altLang="zh-CN" sz="2400">
                                  <a:solidFill>
                                    <a:prstClr val="black"/>
                                  </a:solidFill>
                                  <a:latin typeface="Cambria Math" panose="02040503050406030204" pitchFamily="18" charset="0"/>
                                </a:rPr>
                                <m:t>_</m:t>
                              </m:r>
                              <m:r>
                                <m:rPr>
                                  <m:sty m:val="p"/>
                                </m:rPr>
                                <a:rPr lang="en-US" altLang="zh-CN" sz="2400">
                                  <a:solidFill>
                                    <a:prstClr val="black"/>
                                  </a:solidFill>
                                  <a:latin typeface="Cambria Math" panose="02040503050406030204" pitchFamily="18" charset="0"/>
                                </a:rPr>
                                <m:t>test</m:t>
                              </m:r>
                              <m:r>
                                <a:rPr lang="en-US" altLang="zh-CN" sz="240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m:t>
                              </m:r>
                              <m:r>
                                <a:rPr lang="en-US" altLang="zh-CN" sz="2400">
                                  <a:solidFill>
                                    <a:prstClr val="black"/>
                                  </a:solidFill>
                                  <a:latin typeface="Cambria Math" panose="02040503050406030204" pitchFamily="18" charset="0"/>
                                </a:rPr>
                                <m:t>)</m:t>
                              </m:r>
                            </m:e>
                            <m:e>
                              <m:sSub>
                                <m:sSubPr>
                                  <m:ctrlPr>
                                    <a:rPr lang="zh-CN" altLang="zh-CN" sz="2400" i="1">
                                      <a:solidFill>
                                        <a:prstClr val="black"/>
                                      </a:solidFill>
                                      <a:latin typeface="Cambria Math" panose="02040503050406030204" pitchFamily="18" charset="0"/>
                                    </a:rPr>
                                  </m:ctrlPr>
                                </m:sSubPr>
                                <m:e>
                                  <m:r>
                                    <m:rPr>
                                      <m:sty m:val="p"/>
                                    </m:rPr>
                                    <a:rPr lang="en-US" altLang="zh-CN" sz="2400">
                                      <a:solidFill>
                                        <a:prstClr val="black"/>
                                      </a:solidFill>
                                      <a:latin typeface="Cambria Math" panose="02040503050406030204" pitchFamily="18" charset="0"/>
                                    </a:rPr>
                                    <m:t>max</m:t>
                                  </m:r>
                                </m:e>
                                <m:sub>
                                  <m:r>
                                    <a:rPr lang="en-US" altLang="zh-CN" sz="2400" i="1">
                                      <a:solidFill>
                                        <a:prstClr val="black"/>
                                      </a:solidFill>
                                      <a:latin typeface="Cambria Math" panose="02040503050406030204" pitchFamily="18" charset="0"/>
                                    </a:rPr>
                                    <m:t>𝑎</m:t>
                                  </m:r>
                                  <m:r>
                                    <a:rPr lang="fr-FR" altLang="zh-CN" sz="2400" i="1">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actions</m:t>
                                  </m:r>
                                  <m:d>
                                    <m:dPr>
                                      <m:ctrlPr>
                                        <a:rPr lang="zh-CN"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𝑠</m:t>
                                      </m:r>
                                    </m:e>
                                  </m:d>
                                </m:sub>
                              </m:sSub>
                              <m:r>
                                <m:rPr>
                                  <m:sty m:val="p"/>
                                </m:rPr>
                                <a:rPr lang="en-US" altLang="zh-CN" sz="2400">
                                  <a:solidFill>
                                    <a:prstClr val="black"/>
                                  </a:solidFill>
                                  <a:latin typeface="Cambria Math" panose="02040503050406030204" pitchFamily="18" charset="0"/>
                                </a:rPr>
                                <m:t>minimax</m:t>
                              </m:r>
                              <m:d>
                                <m:dPr>
                                  <m:ctrlPr>
                                    <a:rPr lang="zh-CN" altLang="zh-CN" sz="2400" i="1">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result</m:t>
                                  </m:r>
                                  <m:d>
                                    <m:dPr>
                                      <m:ctrlPr>
                                        <a:rPr lang="zh-CN"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𝑠</m:t>
                                      </m:r>
                                      <m:r>
                                        <a:rPr lang="fr-FR"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𝑎</m:t>
                                      </m:r>
                                    </m:e>
                                  </m:d>
                                </m:e>
                              </m:d>
                              <m:r>
                                <a:rPr lang="en-US" altLang="zh-CN" sz="2400" i="1">
                                  <a:solidFill>
                                    <a:prstClr val="black"/>
                                  </a:solidFill>
                                  <a:latin typeface="Cambria Math" panose="02040503050406030204" pitchFamily="18" charset="0"/>
                                </a:rPr>
                                <m:t>,</m:t>
                              </m:r>
                              <m:r>
                                <a:rPr lang="fr-FR" altLang="zh-CN" sz="2400" i="1">
                                  <a:solidFill>
                                    <a:prstClr val="black"/>
                                  </a:solidFill>
                                  <a:latin typeface="Cambria Math" panose="02040503050406030204" pitchFamily="18" charset="0"/>
                                </a:rPr>
                                <m:t>   </m:t>
                              </m:r>
                              <m:r>
                                <m:rPr>
                                  <m:sty m:val="p"/>
                                </m:rPr>
                                <a:rPr lang="fr-FR" altLang="zh-CN" sz="2400">
                                  <a:solidFill>
                                    <a:prstClr val="black"/>
                                  </a:solidFill>
                                  <a:latin typeface="Cambria Math" panose="02040503050406030204" pitchFamily="18" charset="0"/>
                                </a:rPr>
                                <m:t>if</m:t>
                              </m:r>
                              <m:r>
                                <a:rPr lang="fr-FR" altLang="zh-CN" sz="2400" i="1">
                                  <a:solidFill>
                                    <a:prstClr val="black"/>
                                  </a:solidFill>
                                  <a:latin typeface="Cambria Math" panose="02040503050406030204" pitchFamily="18" charset="0"/>
                                </a:rPr>
                                <m:t> </m:t>
                              </m:r>
                              <m:r>
                                <m:rPr>
                                  <m:sty m:val="p"/>
                                </m:rPr>
                                <a:rPr lang="en-US" altLang="zh-CN" sz="2400">
                                  <a:solidFill>
                                    <a:prstClr val="black"/>
                                  </a:solidFill>
                                  <a:latin typeface="Cambria Math" panose="02040503050406030204" pitchFamily="18" charset="0"/>
                                </a:rPr>
                                <m:t>player</m:t>
                              </m:r>
                              <m:d>
                                <m:dPr>
                                  <m:ctrlPr>
                                    <a:rPr lang="zh-CN"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𝑠</m:t>
                                  </m:r>
                                </m:e>
                              </m:d>
                              <m:r>
                                <a:rPr lang="fr-FR"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𝑀𝐴𝑋</m:t>
                              </m:r>
                            </m:e>
                            <m:e>
                              <m:r>
                                <m:rPr>
                                  <m:sty m:val="p"/>
                                </m:rPr>
                                <a:rPr lang="en-US" altLang="zh-CN" sz="2400">
                                  <a:solidFill>
                                    <a:prstClr val="black"/>
                                  </a:solidFill>
                                  <a:latin typeface="Cambria Math" panose="02040503050406030204" pitchFamily="18" charset="0"/>
                                </a:rPr>
                                <m:t>m</m:t>
                              </m:r>
                              <m:sSub>
                                <m:sSubPr>
                                  <m:ctrlPr>
                                    <a:rPr lang="zh-CN" altLang="zh-CN" sz="2400" i="1">
                                      <a:solidFill>
                                        <a:prstClr val="black"/>
                                      </a:solidFill>
                                      <a:latin typeface="Cambria Math" panose="02040503050406030204" pitchFamily="18" charset="0"/>
                                    </a:rPr>
                                  </m:ctrlPr>
                                </m:sSubPr>
                                <m:e>
                                  <m:r>
                                    <m:rPr>
                                      <m:sty m:val="p"/>
                                    </m:rPr>
                                    <a:rPr lang="en-US" altLang="zh-CN" sz="2400">
                                      <a:solidFill>
                                        <a:prstClr val="black"/>
                                      </a:solidFill>
                                      <a:latin typeface="Cambria Math" panose="02040503050406030204" pitchFamily="18" charset="0"/>
                                    </a:rPr>
                                    <m:t>in</m:t>
                                  </m:r>
                                </m:e>
                                <m:sub>
                                  <m:r>
                                    <a:rPr lang="en-US" altLang="zh-CN" sz="2400" i="1">
                                      <a:solidFill>
                                        <a:prstClr val="black"/>
                                      </a:solidFill>
                                      <a:latin typeface="Cambria Math" panose="02040503050406030204" pitchFamily="18" charset="0"/>
                                    </a:rPr>
                                    <m:t>𝑎</m:t>
                                  </m:r>
                                  <m:r>
                                    <a:rPr lang="fr-FR" altLang="zh-CN" sz="240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actions</m:t>
                                  </m:r>
                                  <m:d>
                                    <m:dPr>
                                      <m:ctrlPr>
                                        <a:rPr lang="zh-CN" altLang="zh-CN" sz="2400" i="1">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s</m:t>
                                      </m:r>
                                    </m:e>
                                  </m:d>
                                </m:sub>
                              </m:sSub>
                              <m:r>
                                <m:rPr>
                                  <m:sty m:val="p"/>
                                </m:rPr>
                                <a:rPr lang="en-US" altLang="zh-CN" sz="2400">
                                  <a:solidFill>
                                    <a:prstClr val="black"/>
                                  </a:solidFill>
                                  <a:latin typeface="Cambria Math" panose="02040503050406030204" pitchFamily="18" charset="0"/>
                                </a:rPr>
                                <m:t>minimax</m:t>
                              </m:r>
                              <m:d>
                                <m:dPr>
                                  <m:ctrlPr>
                                    <a:rPr lang="zh-CN" altLang="zh-CN" sz="2400" i="1">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result</m:t>
                                  </m:r>
                                  <m:d>
                                    <m:dPr>
                                      <m:ctrlPr>
                                        <a:rPr lang="zh-CN"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𝑠</m:t>
                                      </m:r>
                                      <m:r>
                                        <a:rPr lang="fr-FR"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𝑎</m:t>
                                      </m:r>
                                    </m:e>
                                  </m:d>
                                </m:e>
                              </m:d>
                              <m:r>
                                <a:rPr lang="fr-FR" altLang="zh-CN" sz="2400" i="1">
                                  <a:solidFill>
                                    <a:prstClr val="black"/>
                                  </a:solidFill>
                                  <a:latin typeface="Cambria Math" panose="02040503050406030204" pitchFamily="18" charset="0"/>
                                </a:rPr>
                                <m:t>,   </m:t>
                              </m:r>
                              <m:r>
                                <m:rPr>
                                  <m:sty m:val="p"/>
                                </m:rPr>
                                <a:rPr lang="fr-FR" altLang="zh-CN" sz="2400">
                                  <a:solidFill>
                                    <a:prstClr val="black"/>
                                  </a:solidFill>
                                  <a:latin typeface="Cambria Math" panose="02040503050406030204" pitchFamily="18" charset="0"/>
                                </a:rPr>
                                <m:t>if</m:t>
                              </m:r>
                              <m:r>
                                <a:rPr lang="fr-FR" altLang="zh-CN" sz="2400" i="1">
                                  <a:solidFill>
                                    <a:prstClr val="black"/>
                                  </a:solidFill>
                                  <a:latin typeface="Cambria Math" panose="02040503050406030204" pitchFamily="18" charset="0"/>
                                </a:rPr>
                                <m:t> </m:t>
                              </m:r>
                              <m:r>
                                <m:rPr>
                                  <m:sty m:val="p"/>
                                </m:rPr>
                                <a:rPr lang="en-US" altLang="zh-CN" sz="2400">
                                  <a:solidFill>
                                    <a:prstClr val="black"/>
                                  </a:solidFill>
                                  <a:latin typeface="Cambria Math" panose="02040503050406030204" pitchFamily="18" charset="0"/>
                                </a:rPr>
                                <m:t>player</m:t>
                              </m:r>
                              <m:d>
                                <m:dPr>
                                  <m:ctrlPr>
                                    <a:rPr lang="zh-CN"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𝑠</m:t>
                                  </m:r>
                                </m:e>
                              </m:d>
                              <m:r>
                                <a:rPr lang="fr-FR"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𝑀𝐼𝑁</m:t>
                              </m:r>
                            </m:e>
                          </m:eqArr>
                        </m:e>
                      </m:d>
                    </m:oMath>
                  </m:oMathPara>
                </a14:m>
                <a:endParaRPr lang="zh-CN" altLang="zh-CN" sz="2400" dirty="0">
                  <a:solidFill>
                    <a:prstClr val="black"/>
                  </a:solidFill>
                  <a:latin typeface="Times New Roman" panose="02020603050405020304"/>
                  <a:ea typeface="黑体" panose="02010609060101010101" charset="-122"/>
                </a:endParaRPr>
              </a:p>
            </p:txBody>
          </p:sp>
        </mc:Choice>
        <mc:Fallback>
          <p:sp>
            <p:nvSpPr>
              <p:cNvPr id="3" name="矩形 2"/>
              <p:cNvSpPr>
                <a:spLocks noRot="1" noChangeAspect="1" noMove="1" noResize="1" noEditPoints="1" noAdjustHandles="1" noChangeArrowheads="1" noChangeShapeType="1" noTextEdit="1"/>
              </p:cNvSpPr>
              <p:nvPr/>
            </p:nvSpPr>
            <p:spPr>
              <a:xfrm>
                <a:off x="332327" y="4121936"/>
                <a:ext cx="5859888" cy="1820691"/>
              </a:xfrm>
              <a:prstGeom prst="rect">
                <a:avLst/>
              </a:prstGeom>
              <a:blipFill rotWithShape="1">
                <a:blip r:embed="rId2"/>
                <a:stretch>
                  <a:fillRect l="-4" t="-8" r="-39092" b="16"/>
                </a:stretch>
              </a:blipFill>
            </p:spPr>
            <p:txBody>
              <a:bodyPr/>
              <a:lstStyle/>
              <a:p>
                <a:r>
                  <a:rPr lang="zh-CN" altLang="en-US">
                    <a:noFill/>
                  </a:rPr>
                  <a:t> </a:t>
                </a:r>
              </a:p>
            </p:txBody>
          </p:sp>
        </mc:Fallback>
      </mc:AlternateContent>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2" name="爆炸形: 14 pt  1"/>
          <p:cNvSpPr/>
          <p:nvPr/>
        </p:nvSpPr>
        <p:spPr>
          <a:xfrm>
            <a:off x="6535209" y="1420091"/>
            <a:ext cx="2320637" cy="1759528"/>
          </a:xfrm>
          <a:prstGeom prst="irregularSeal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800" dirty="0">
                <a:solidFill>
                  <a:prstClr val="black"/>
                </a:solidFill>
                <a:latin typeface="Times New Roman" panose="02020603050405020304"/>
                <a:ea typeface="黑体" panose="02010609060101010101" charset="-122"/>
              </a:rPr>
              <a:t>与或图</a:t>
            </a:r>
            <a:endParaRPr lang="zh-CN" altLang="en-US" sz="2800" dirty="0">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Vertic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5" name="文本框 4"/>
          <p:cNvSpPr txBox="1"/>
          <p:nvPr/>
        </p:nvSpPr>
        <p:spPr>
          <a:xfrm>
            <a:off x="555674" y="1004387"/>
            <a:ext cx="8032652" cy="5254324"/>
          </a:xfrm>
          <a:prstGeom prst="rect">
            <a:avLst/>
          </a:prstGeom>
          <a:noFill/>
        </p:spPr>
        <p:txBody>
          <a:bodyPr wrap="square">
            <a:spAutoFit/>
          </a:bodyPr>
          <a:lstStyle/>
          <a:p>
            <a:pPr algn="just">
              <a:lnSpc>
                <a:spcPct val="150000"/>
              </a:lnSpc>
            </a:pPr>
            <a:r>
              <a:rPr lang="zh-CN" altLang="en-US" sz="3200" b="1" dirty="0">
                <a:solidFill>
                  <a:srgbClr val="FF0000"/>
                </a:solidFill>
                <a:latin typeface="黑体" panose="02010609060101010101" charset="-122"/>
                <a:ea typeface="黑体" panose="02010609060101010101" charset="-122"/>
              </a:rPr>
              <a:t>与或图</a:t>
            </a:r>
            <a:endParaRPr lang="en-US" altLang="zh-CN" sz="3200" b="1" dirty="0">
              <a:solidFill>
                <a:srgbClr val="FF0000"/>
              </a:solidFill>
              <a:latin typeface="黑体" panose="02010609060101010101" charset="-122"/>
              <a:ea typeface="黑体" panose="02010609060101010101" charset="-122"/>
            </a:endParaRPr>
          </a:p>
          <a:p>
            <a:pPr marL="457200" indent="-457200" algn="just">
              <a:lnSpc>
                <a:spcPct val="150000"/>
              </a:lnSpc>
              <a:buFont typeface="Arial" panose="020B0604020202020204" pitchFamily="34" charset="0"/>
              <a:buChar char="•"/>
            </a:pPr>
            <a:r>
              <a:rPr lang="zh-CN" altLang="en-US" sz="2800" dirty="0">
                <a:latin typeface="黑体" panose="02010609060101010101" charset="-122"/>
                <a:ea typeface="黑体" panose="02010609060101010101" charset="-122"/>
              </a:rPr>
              <a:t>由</a:t>
            </a:r>
            <a:r>
              <a:rPr lang="zh-CN" altLang="en-US" sz="2800" dirty="0">
                <a:solidFill>
                  <a:srgbClr val="FF0000"/>
                </a:solidFill>
                <a:latin typeface="黑体" panose="02010609060101010101" charset="-122"/>
                <a:ea typeface="黑体" panose="02010609060101010101" charset="-122"/>
              </a:rPr>
              <a:t>与节点</a:t>
            </a:r>
            <a:r>
              <a:rPr lang="zh-CN" altLang="en-US" sz="2800" dirty="0">
                <a:latin typeface="黑体" panose="02010609060101010101" charset="-122"/>
                <a:ea typeface="黑体" panose="02010609060101010101" charset="-122"/>
              </a:rPr>
              <a:t>及</a:t>
            </a:r>
            <a:r>
              <a:rPr lang="zh-CN" altLang="en-US" sz="2800" dirty="0">
                <a:solidFill>
                  <a:srgbClr val="FF0000"/>
                </a:solidFill>
                <a:latin typeface="黑体" panose="02010609060101010101" charset="-122"/>
                <a:ea typeface="黑体" panose="02010609060101010101" charset="-122"/>
              </a:rPr>
              <a:t>或节点</a:t>
            </a:r>
            <a:r>
              <a:rPr lang="zh-CN" altLang="en-US" sz="2800" dirty="0">
                <a:latin typeface="黑体" panose="02010609060101010101" charset="-122"/>
                <a:ea typeface="黑体" panose="02010609060101010101" charset="-122"/>
              </a:rPr>
              <a:t>组成的结构图。</a:t>
            </a:r>
            <a:endParaRPr lang="en-US" altLang="zh-CN" sz="2800" dirty="0">
              <a:latin typeface="黑体" panose="02010609060101010101" charset="-122"/>
              <a:ea typeface="黑体" panose="02010609060101010101" charset="-122"/>
            </a:endParaRPr>
          </a:p>
          <a:p>
            <a:pPr algn="just">
              <a:lnSpc>
                <a:spcPct val="150000"/>
              </a:lnSpc>
            </a:pPr>
            <a:r>
              <a:rPr lang="zh-CN" altLang="en-US" sz="2800" dirty="0">
                <a:latin typeface="黑体" panose="02010609060101010101" charset="-122"/>
                <a:ea typeface="黑体" panose="02010609060101010101" charset="-122"/>
              </a:rPr>
              <a:t> </a:t>
            </a:r>
            <a:endParaRPr lang="en-US" altLang="zh-CN" sz="2800" dirty="0">
              <a:latin typeface="黑体" panose="02010609060101010101" charset="-122"/>
              <a:ea typeface="黑体" panose="02010609060101010101" charset="-122"/>
            </a:endParaRPr>
          </a:p>
          <a:p>
            <a:pPr marL="457200" indent="-457200" algn="just">
              <a:lnSpc>
                <a:spcPct val="150000"/>
              </a:lnSpc>
              <a:buFont typeface="Arial" panose="020B0604020202020204" pitchFamily="34" charset="0"/>
              <a:buChar char="•"/>
            </a:pPr>
            <a:r>
              <a:rPr lang="zh-CN" altLang="en-US" sz="2800" dirty="0">
                <a:latin typeface="黑体" panose="02010609060101010101" charset="-122"/>
                <a:ea typeface="黑体" panose="02010609060101010101" charset="-122"/>
              </a:rPr>
              <a:t>用一个类似图的结构来表示把问题归约为后继问题的替换集合，这种结构图叫做</a:t>
            </a:r>
            <a:r>
              <a:rPr lang="zh-CN" altLang="en-US" sz="2800" dirty="0">
                <a:solidFill>
                  <a:srgbClr val="FF0000"/>
                </a:solidFill>
                <a:latin typeface="黑体" panose="02010609060101010101" charset="-122"/>
                <a:ea typeface="黑体" panose="02010609060101010101" charset="-122"/>
              </a:rPr>
              <a:t>问题归约图</a:t>
            </a:r>
            <a:r>
              <a:rPr lang="zh-CN" altLang="en-US" sz="2800" dirty="0">
                <a:latin typeface="黑体" panose="02010609060101010101" charset="-122"/>
                <a:ea typeface="黑体" panose="02010609060101010101" charset="-122"/>
              </a:rPr>
              <a:t>，或</a:t>
            </a:r>
            <a:r>
              <a:rPr lang="zh-CN" altLang="en-US" sz="2800" dirty="0">
                <a:solidFill>
                  <a:srgbClr val="FF0000"/>
                </a:solidFill>
                <a:latin typeface="黑体" panose="02010609060101010101" charset="-122"/>
                <a:ea typeface="黑体" panose="02010609060101010101" charset="-122"/>
              </a:rPr>
              <a:t>与或图</a:t>
            </a:r>
            <a:r>
              <a:rPr lang="zh-CN" altLang="en-US" sz="2800" dirty="0">
                <a:latin typeface="黑体" panose="02010609060101010101" charset="-122"/>
                <a:ea typeface="黑体" panose="02010609060101010101" charset="-122"/>
              </a:rPr>
              <a:t>。</a:t>
            </a:r>
            <a:endParaRPr lang="zh-CN" altLang="en-US" sz="2800" dirty="0">
              <a:latin typeface="黑体" panose="02010609060101010101" charset="-122"/>
              <a:ea typeface="黑体" panose="02010609060101010101" charset="-122"/>
            </a:endParaRPr>
          </a:p>
          <a:p>
            <a:pPr marL="457200" indent="-457200" algn="just">
              <a:lnSpc>
                <a:spcPct val="150000"/>
              </a:lnSpc>
              <a:buFont typeface="Arial" panose="020B0604020202020204" pitchFamily="34" charset="0"/>
              <a:buChar char="•"/>
            </a:pPr>
            <a:r>
              <a:rPr lang="zh-CN" altLang="en-US" sz="2800" dirty="0">
                <a:latin typeface="黑体" panose="02010609060101010101" charset="-122"/>
                <a:ea typeface="黑体" panose="02010609060101010101" charset="-122"/>
              </a:rPr>
              <a:t>一种系统地将问题分解为互相独立的小问题，然后分而解决的方法。</a:t>
            </a:r>
            <a:endParaRPr lang="zh-CN" altLang="en-US" sz="2800" dirty="0">
              <a:latin typeface="黑体" panose="02010609060101010101" charset="-122"/>
              <a:ea typeface="黑体" panose="02010609060101010101" charset="-122"/>
            </a:endParaRPr>
          </a:p>
        </p:txBody>
      </p:sp>
      <p:sp>
        <p:nvSpPr>
          <p:cNvPr id="6" name="对话气泡: 圆角矩形 5"/>
          <p:cNvSpPr/>
          <p:nvPr/>
        </p:nvSpPr>
        <p:spPr>
          <a:xfrm>
            <a:off x="2060917" y="1252027"/>
            <a:ext cx="6421899" cy="443133"/>
          </a:xfrm>
          <a:prstGeom prst="wedgeRoundRectCallout">
            <a:avLst>
              <a:gd name="adj1" fmla="val -36253"/>
              <a:gd name="adj2" fmla="val 8313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t>只要解决某个问题就可解决其父辈问题的节点集合</a:t>
            </a:r>
            <a:endParaRPr lang="zh-CN" altLang="en-US" sz="2200" dirty="0"/>
          </a:p>
        </p:txBody>
      </p:sp>
      <p:sp>
        <p:nvSpPr>
          <p:cNvPr id="8" name="对话气泡: 圆角矩形 7"/>
          <p:cNvSpPr/>
          <p:nvPr/>
        </p:nvSpPr>
        <p:spPr>
          <a:xfrm>
            <a:off x="1080868" y="2475917"/>
            <a:ext cx="7401949" cy="658838"/>
          </a:xfrm>
          <a:prstGeom prst="wedgeRoundRectCallout">
            <a:avLst>
              <a:gd name="adj1" fmla="val -35845"/>
              <a:gd name="adj2" fmla="val -6962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200" dirty="0"/>
              <a:t>只有解决所有子问题，才能解决其父辈问题的节点集合，各个结点之间用一端小圆弧连接标记</a:t>
            </a:r>
            <a:endParaRPr lang="zh-CN" alt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500"/>
                                        <p:tgtEl>
                                          <p:spTgt spid="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fade">
                                      <p:cBhvr>
                                        <p:cTn id="32" dur="500"/>
                                        <p:tgtEl>
                                          <p:spTgt spid="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fade">
                                      <p:cBhvr>
                                        <p:cTn id="3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5" name="矩形 4"/>
          <p:cNvSpPr/>
          <p:nvPr/>
        </p:nvSpPr>
        <p:spPr>
          <a:xfrm>
            <a:off x="543572" y="948624"/>
            <a:ext cx="8056859" cy="633828"/>
          </a:xfrm>
          <a:prstGeom prst="rect">
            <a:avLst/>
          </a:prstGeom>
        </p:spPr>
        <p:txBody>
          <a:bodyPr wrap="square">
            <a:spAutoFit/>
          </a:bodyPr>
          <a:lstStyle/>
          <a:p>
            <a:pPr>
              <a:lnSpc>
                <a:spcPct val="130000"/>
              </a:lnSpc>
            </a:pPr>
            <a:r>
              <a:rPr lang="zh-CN" altLang="en-US" sz="3200" dirty="0">
                <a:solidFill>
                  <a:srgbClr val="C00000"/>
                </a:solidFill>
                <a:latin typeface="方正姚体" panose="02010601030101010101" pitchFamily="2" charset="-122"/>
                <a:ea typeface="方正姚体" panose="02010601030101010101" pitchFamily="2" charset="-122"/>
              </a:rPr>
              <a:t>最小最大搜索算法的基本思想</a:t>
            </a:r>
            <a:endParaRPr lang="en-US" altLang="zh-CN" sz="3200" dirty="0">
              <a:solidFill>
                <a:srgbClr val="C00000"/>
              </a:solidFill>
              <a:latin typeface="方正姚体" panose="02010601030101010101" pitchFamily="2" charset="-122"/>
              <a:ea typeface="方正姚体" panose="02010601030101010101" pitchFamily="2" charset="-122"/>
            </a:endParaRPr>
          </a:p>
        </p:txBody>
      </p:sp>
      <p:sp>
        <p:nvSpPr>
          <p:cNvPr id="4" name="矩形 3"/>
          <p:cNvSpPr/>
          <p:nvPr/>
        </p:nvSpPr>
        <p:spPr>
          <a:xfrm>
            <a:off x="543573" y="1690890"/>
            <a:ext cx="8056859" cy="4494115"/>
          </a:xfrm>
          <a:prstGeom prst="rect">
            <a:avLst/>
          </a:prstGeom>
        </p:spPr>
        <p:txBody>
          <a:bodyPr wrap="square">
            <a:spAutoFit/>
          </a:bodyPr>
          <a:lstStyle/>
          <a:p>
            <a:pPr algn="just">
              <a:lnSpc>
                <a:spcPct val="130000"/>
              </a:lnSpc>
            </a:pPr>
            <a:r>
              <a:rPr lang="zh-CN" altLang="en-US" sz="2800" dirty="0">
                <a:solidFill>
                  <a:prstClr val="black"/>
                </a:solidFill>
                <a:latin typeface="黑体" panose="02010609060101010101" charset="-122"/>
                <a:ea typeface="黑体" panose="02010609060101010101" charset="-122"/>
              </a:rPr>
              <a:t>（</a:t>
            </a:r>
            <a:r>
              <a:rPr lang="en-US" altLang="zh-CN" sz="2800" dirty="0">
                <a:solidFill>
                  <a:prstClr val="black"/>
                </a:solidFill>
                <a:latin typeface="黑体" panose="02010609060101010101" charset="-122"/>
                <a:ea typeface="黑体" panose="02010609060101010101" charset="-122"/>
              </a:rPr>
              <a:t>1</a:t>
            </a:r>
            <a:r>
              <a:rPr lang="zh-CN" altLang="en-US" sz="2800" dirty="0">
                <a:solidFill>
                  <a:prstClr val="black"/>
                </a:solidFill>
                <a:latin typeface="黑体" panose="02010609060101010101" charset="-122"/>
                <a:ea typeface="黑体" panose="02010609060101010101" charset="-122"/>
              </a:rPr>
              <a:t>）设博弈双方中一方为</a:t>
            </a:r>
            <a:r>
              <a:rPr lang="en-US" altLang="zh-CN" sz="2800" dirty="0">
                <a:solidFill>
                  <a:prstClr val="black"/>
                </a:solidFill>
                <a:latin typeface="黑体" panose="02010609060101010101" charset="-122"/>
                <a:ea typeface="黑体" panose="02010609060101010101" charset="-122"/>
              </a:rPr>
              <a:t>A</a:t>
            </a:r>
            <a:r>
              <a:rPr lang="zh-CN" altLang="en-US" sz="2800" dirty="0">
                <a:solidFill>
                  <a:prstClr val="black"/>
                </a:solidFill>
                <a:latin typeface="黑体" panose="02010609060101010101" charset="-122"/>
                <a:ea typeface="黑体" panose="02010609060101010101" charset="-122"/>
              </a:rPr>
              <a:t>，另一方为</a:t>
            </a:r>
            <a:r>
              <a:rPr lang="en-US" altLang="zh-CN" sz="2800" dirty="0">
                <a:solidFill>
                  <a:prstClr val="black"/>
                </a:solidFill>
                <a:latin typeface="黑体" panose="02010609060101010101" charset="-122"/>
                <a:ea typeface="黑体" panose="02010609060101010101" charset="-122"/>
              </a:rPr>
              <a:t>B</a:t>
            </a:r>
            <a:r>
              <a:rPr lang="zh-CN" altLang="en-US" sz="2800" dirty="0">
                <a:solidFill>
                  <a:prstClr val="black"/>
                </a:solidFill>
                <a:latin typeface="黑体" panose="02010609060101010101" charset="-122"/>
                <a:ea typeface="黑体" panose="02010609060101010101" charset="-122"/>
              </a:rPr>
              <a:t>。为其中一方（如</a:t>
            </a:r>
            <a:r>
              <a:rPr lang="en-US" altLang="zh-CN" sz="2800" dirty="0">
                <a:solidFill>
                  <a:prstClr val="black"/>
                </a:solidFill>
                <a:latin typeface="黑体" panose="02010609060101010101" charset="-122"/>
                <a:ea typeface="黑体" panose="02010609060101010101" charset="-122"/>
              </a:rPr>
              <a:t>A</a:t>
            </a:r>
            <a:r>
              <a:rPr lang="zh-CN" altLang="en-US" sz="2800" dirty="0">
                <a:solidFill>
                  <a:prstClr val="black"/>
                </a:solidFill>
                <a:latin typeface="黑体" panose="02010609060101010101" charset="-122"/>
                <a:ea typeface="黑体" panose="02010609060101010101" charset="-122"/>
              </a:rPr>
              <a:t>）寻找一个最优行动方案。</a:t>
            </a:r>
            <a:endParaRPr lang="en-US" altLang="zh-CN" sz="2800" dirty="0">
              <a:solidFill>
                <a:prstClr val="black"/>
              </a:solidFill>
              <a:latin typeface="黑体" panose="02010609060101010101" charset="-122"/>
              <a:ea typeface="黑体" panose="02010609060101010101" charset="-122"/>
            </a:endParaRPr>
          </a:p>
          <a:p>
            <a:pPr algn="just">
              <a:lnSpc>
                <a:spcPct val="130000"/>
              </a:lnSpc>
            </a:pPr>
            <a:r>
              <a:rPr lang="zh-CN" altLang="en-US" sz="2800" dirty="0">
                <a:solidFill>
                  <a:prstClr val="black"/>
                </a:solidFill>
                <a:latin typeface="黑体" panose="02010609060101010101" charset="-122"/>
                <a:ea typeface="黑体" panose="02010609060101010101" charset="-122"/>
              </a:rPr>
              <a:t>（</a:t>
            </a:r>
            <a:r>
              <a:rPr lang="en-US" altLang="zh-CN" sz="2800" dirty="0">
                <a:solidFill>
                  <a:prstClr val="black"/>
                </a:solidFill>
                <a:latin typeface="黑体" panose="02010609060101010101" charset="-122"/>
                <a:ea typeface="黑体" panose="02010609060101010101" charset="-122"/>
              </a:rPr>
              <a:t>2</a:t>
            </a:r>
            <a:r>
              <a:rPr lang="zh-CN" altLang="en-US" sz="2800" dirty="0">
                <a:solidFill>
                  <a:prstClr val="black"/>
                </a:solidFill>
                <a:latin typeface="黑体" panose="02010609060101010101" charset="-122"/>
                <a:ea typeface="黑体" panose="02010609060101010101" charset="-122"/>
              </a:rPr>
              <a:t>）为了找到当前最优行动方案，需要对各个可能的方案所产生的后果进行比较。即考虑每一方案实施后对方可能采取的所有行动，并计算可能得分。</a:t>
            </a:r>
            <a:endParaRPr lang="en-US" altLang="zh-CN" sz="2800" dirty="0">
              <a:solidFill>
                <a:prstClr val="black"/>
              </a:solidFill>
              <a:latin typeface="黑体" panose="02010609060101010101" charset="-122"/>
              <a:ea typeface="黑体" panose="02010609060101010101" charset="-122"/>
            </a:endParaRPr>
          </a:p>
          <a:p>
            <a:pPr algn="just">
              <a:lnSpc>
                <a:spcPct val="130000"/>
              </a:lnSpc>
            </a:pPr>
            <a:r>
              <a:rPr lang="zh-CN" altLang="en-US" sz="2800" dirty="0">
                <a:solidFill>
                  <a:prstClr val="black"/>
                </a:solidFill>
                <a:latin typeface="黑体" panose="02010609060101010101" charset="-122"/>
                <a:ea typeface="黑体" panose="02010609060101010101" charset="-122"/>
              </a:rPr>
              <a:t>（</a:t>
            </a:r>
            <a:r>
              <a:rPr lang="en-US" altLang="zh-CN" sz="2800" dirty="0">
                <a:solidFill>
                  <a:prstClr val="black"/>
                </a:solidFill>
                <a:latin typeface="黑体" panose="02010609060101010101" charset="-122"/>
                <a:ea typeface="黑体" panose="02010609060101010101" charset="-122"/>
              </a:rPr>
              <a:t>3</a:t>
            </a:r>
            <a:r>
              <a:rPr lang="zh-CN" altLang="en-US" sz="2800" dirty="0">
                <a:solidFill>
                  <a:prstClr val="black"/>
                </a:solidFill>
                <a:latin typeface="黑体" panose="02010609060101010101" charset="-122"/>
                <a:ea typeface="黑体" panose="02010609060101010101" charset="-122"/>
              </a:rPr>
              <a:t>）为计算得分，需要根据问题的特性信息定义一个评估函数，用来估算当前博弈树端节点的得分。此时估算出来的得分称为静态估值。</a:t>
            </a:r>
            <a:endParaRPr lang="en-US" altLang="zh-CN" sz="2800" dirty="0">
              <a:solidFill>
                <a:prstClr val="black"/>
              </a:soli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43572" y="948624"/>
            <a:ext cx="8056859" cy="633828"/>
          </a:xfrm>
          <a:prstGeom prst="rect">
            <a:avLst/>
          </a:prstGeom>
        </p:spPr>
        <p:txBody>
          <a:bodyPr wrap="square">
            <a:spAutoFit/>
          </a:bodyPr>
          <a:lstStyle/>
          <a:p>
            <a:pPr>
              <a:lnSpc>
                <a:spcPct val="130000"/>
              </a:lnSpc>
            </a:pPr>
            <a:r>
              <a:rPr lang="zh-CN" altLang="en-US" sz="3200" dirty="0">
                <a:solidFill>
                  <a:srgbClr val="C00000"/>
                </a:solidFill>
                <a:latin typeface="方正姚体" panose="02010601030101010101" pitchFamily="2" charset="-122"/>
                <a:ea typeface="方正姚体" panose="02010601030101010101" pitchFamily="2" charset="-122"/>
              </a:rPr>
              <a:t>最小最大搜索算法的基本思想</a:t>
            </a:r>
            <a:endParaRPr lang="en-US" altLang="zh-CN" sz="3200" dirty="0">
              <a:solidFill>
                <a:srgbClr val="C00000"/>
              </a:solidFill>
              <a:latin typeface="方正姚体" panose="02010601030101010101" pitchFamily="2" charset="-122"/>
              <a:ea typeface="方正姚体" panose="02010601030101010101" pitchFamily="2" charset="-122"/>
            </a:endParaRPr>
          </a:p>
        </p:txBody>
      </p:sp>
      <p:sp>
        <p:nvSpPr>
          <p:cNvPr id="6" name="矩形 5"/>
          <p:cNvSpPr/>
          <p:nvPr/>
        </p:nvSpPr>
        <p:spPr>
          <a:xfrm>
            <a:off x="543573" y="1690890"/>
            <a:ext cx="8056859" cy="3373809"/>
          </a:xfrm>
          <a:prstGeom prst="rect">
            <a:avLst/>
          </a:prstGeom>
        </p:spPr>
        <p:txBody>
          <a:bodyPr wrap="square">
            <a:spAutoFit/>
          </a:bodyPr>
          <a:lstStyle/>
          <a:p>
            <a:pPr algn="just">
              <a:lnSpc>
                <a:spcPct val="130000"/>
              </a:lnSpc>
            </a:pPr>
            <a:r>
              <a:rPr lang="zh-CN" altLang="en-US" sz="2800" dirty="0">
                <a:solidFill>
                  <a:prstClr val="black"/>
                </a:solidFill>
                <a:latin typeface="黑体" panose="02010609060101010101" charset="-122"/>
                <a:ea typeface="黑体" panose="02010609060101010101" charset="-122"/>
              </a:rPr>
              <a:t>（</a:t>
            </a:r>
            <a:r>
              <a:rPr lang="en-US" altLang="zh-CN" sz="2800" dirty="0">
                <a:solidFill>
                  <a:prstClr val="black"/>
                </a:solidFill>
                <a:latin typeface="黑体" panose="02010609060101010101" charset="-122"/>
                <a:ea typeface="黑体" panose="02010609060101010101" charset="-122"/>
              </a:rPr>
              <a:t>4</a:t>
            </a:r>
            <a:r>
              <a:rPr lang="zh-CN" altLang="en-US" sz="2800" dirty="0">
                <a:solidFill>
                  <a:prstClr val="black"/>
                </a:solidFill>
                <a:latin typeface="黑体" panose="02010609060101010101" charset="-122"/>
                <a:ea typeface="黑体" panose="02010609060101010101" charset="-122"/>
              </a:rPr>
              <a:t>）当端节点的估值计算出来后，再推算出父节点的得分，</a:t>
            </a:r>
            <a:r>
              <a:rPr lang="zh-CN" altLang="en-US" sz="2800" dirty="0">
                <a:solidFill>
                  <a:srgbClr val="FF0000"/>
                </a:solidFill>
                <a:latin typeface="黑体" panose="02010609060101010101" charset="-122"/>
                <a:ea typeface="黑体" panose="02010609060101010101" charset="-122"/>
              </a:rPr>
              <a:t>推算方法</a:t>
            </a:r>
            <a:r>
              <a:rPr lang="zh-CN" altLang="en-US" sz="2800" dirty="0">
                <a:solidFill>
                  <a:prstClr val="black"/>
                </a:solidFill>
                <a:latin typeface="黑体" panose="02010609060101010101" charset="-122"/>
                <a:ea typeface="黑体" panose="02010609060101010101" charset="-122"/>
              </a:rPr>
              <a:t>是：对“或”节点，选其子节点中一个最大的得分作为父节点的得分，即为自己选择最有利的方案；对“与”节点，选其子节点中一个最小的得分最为父节点的得分，即立足于最坏的情况。这样计算出的父节点的得分被称为</a:t>
            </a:r>
            <a:r>
              <a:rPr lang="zh-CN" altLang="en-US" sz="2800" dirty="0">
                <a:solidFill>
                  <a:srgbClr val="C00000"/>
                </a:solidFill>
                <a:latin typeface="黑体" panose="02010609060101010101" charset="-122"/>
                <a:ea typeface="黑体" panose="02010609060101010101" charset="-122"/>
              </a:rPr>
              <a:t>倒推值</a:t>
            </a:r>
            <a:r>
              <a:rPr lang="zh-CN" altLang="en-US" sz="2800" dirty="0">
                <a:solidFill>
                  <a:prstClr val="black"/>
                </a:solidFill>
                <a:latin typeface="黑体" panose="02010609060101010101" charset="-122"/>
                <a:ea typeface="黑体" panose="02010609060101010101" charset="-122"/>
              </a:rPr>
              <a:t>。</a:t>
            </a:r>
            <a:endParaRPr lang="en-US" altLang="zh-CN" sz="2800" dirty="0">
              <a:solidFill>
                <a:prstClr val="black"/>
              </a:soli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43572" y="948624"/>
            <a:ext cx="8056859" cy="633828"/>
          </a:xfrm>
          <a:prstGeom prst="rect">
            <a:avLst/>
          </a:prstGeom>
        </p:spPr>
        <p:txBody>
          <a:bodyPr wrap="square">
            <a:spAutoFit/>
          </a:bodyPr>
          <a:lstStyle/>
          <a:p>
            <a:pPr>
              <a:lnSpc>
                <a:spcPct val="130000"/>
              </a:lnSpc>
            </a:pPr>
            <a:r>
              <a:rPr lang="zh-CN" altLang="en-US" sz="3200" dirty="0">
                <a:solidFill>
                  <a:srgbClr val="C00000"/>
                </a:solidFill>
                <a:latin typeface="方正姚体" panose="02010601030101010101" pitchFamily="2" charset="-122"/>
                <a:ea typeface="方正姚体" panose="02010601030101010101" pitchFamily="2" charset="-122"/>
              </a:rPr>
              <a:t>最小最大搜索算法的基本思想</a:t>
            </a:r>
            <a:endParaRPr lang="en-US" altLang="zh-CN" sz="3200" dirty="0">
              <a:solidFill>
                <a:srgbClr val="C00000"/>
              </a:solidFill>
              <a:latin typeface="方正姚体" panose="02010601030101010101" pitchFamily="2" charset="-122"/>
              <a:ea typeface="方正姚体" panose="02010601030101010101" pitchFamily="2" charset="-122"/>
            </a:endParaRPr>
          </a:p>
        </p:txBody>
      </p:sp>
      <p:sp>
        <p:nvSpPr>
          <p:cNvPr id="6" name="矩形 5"/>
          <p:cNvSpPr/>
          <p:nvPr/>
        </p:nvSpPr>
        <p:spPr>
          <a:xfrm>
            <a:off x="543573" y="1690890"/>
            <a:ext cx="8056859" cy="1133195"/>
          </a:xfrm>
          <a:prstGeom prst="rect">
            <a:avLst/>
          </a:prstGeom>
        </p:spPr>
        <p:txBody>
          <a:bodyPr wrap="square">
            <a:spAutoFit/>
          </a:bodyPr>
          <a:lstStyle/>
          <a:p>
            <a:pPr algn="just">
              <a:lnSpc>
                <a:spcPct val="130000"/>
              </a:lnSpc>
            </a:pPr>
            <a:r>
              <a:rPr lang="zh-CN" altLang="en-US" sz="2800" dirty="0">
                <a:solidFill>
                  <a:prstClr val="black"/>
                </a:solidFill>
                <a:latin typeface="黑体" panose="02010609060101010101" charset="-122"/>
                <a:ea typeface="黑体" panose="02010609060101010101" charset="-122"/>
              </a:rPr>
              <a:t>（</a:t>
            </a:r>
            <a:r>
              <a:rPr lang="en-US" altLang="zh-CN" sz="2800" dirty="0">
                <a:solidFill>
                  <a:prstClr val="black"/>
                </a:solidFill>
                <a:latin typeface="黑体" panose="02010609060101010101" charset="-122"/>
                <a:ea typeface="黑体" panose="02010609060101010101" charset="-122"/>
              </a:rPr>
              <a:t>5</a:t>
            </a:r>
            <a:r>
              <a:rPr lang="zh-CN" altLang="en-US" sz="2800" dirty="0">
                <a:solidFill>
                  <a:prstClr val="black"/>
                </a:solidFill>
                <a:latin typeface="黑体" panose="02010609060101010101" charset="-122"/>
                <a:ea typeface="黑体" panose="02010609060101010101" charset="-122"/>
              </a:rPr>
              <a:t>）如果一个行动方案能获得较大的倒推值，则它就是当前最好的行动方案。</a:t>
            </a:r>
            <a:endParaRPr lang="en-US" altLang="zh-CN" sz="2800" dirty="0">
              <a:solidFill>
                <a:prstClr val="black"/>
              </a:soli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43572" y="948624"/>
            <a:ext cx="8056859" cy="633828"/>
          </a:xfrm>
          <a:prstGeom prst="rect">
            <a:avLst/>
          </a:prstGeom>
        </p:spPr>
        <p:txBody>
          <a:bodyPr wrap="square">
            <a:spAutoFit/>
          </a:bodyPr>
          <a:lstStyle/>
          <a:p>
            <a:pPr>
              <a:lnSpc>
                <a:spcPct val="130000"/>
              </a:lnSpc>
            </a:pPr>
            <a:r>
              <a:rPr lang="zh-CN" altLang="en-US" sz="3200" dirty="0">
                <a:solidFill>
                  <a:srgbClr val="C00000"/>
                </a:solidFill>
                <a:latin typeface="方正姚体" panose="02010601030101010101" pitchFamily="2" charset="-122"/>
                <a:ea typeface="方正姚体" panose="02010601030101010101" pitchFamily="2" charset="-122"/>
              </a:rPr>
              <a:t>最小最大搜索算法的基本思想</a:t>
            </a:r>
            <a:endParaRPr lang="en-US" altLang="zh-CN" sz="3200" dirty="0">
              <a:solidFill>
                <a:srgbClr val="C00000"/>
              </a:solidFill>
              <a:latin typeface="方正姚体" panose="02010601030101010101" pitchFamily="2" charset="-122"/>
              <a:ea typeface="方正姚体" panose="02010601030101010101" pitchFamily="2" charset="-122"/>
            </a:endParaRPr>
          </a:p>
        </p:txBody>
      </p:sp>
      <p:sp>
        <p:nvSpPr>
          <p:cNvPr id="6" name="矩形 5"/>
          <p:cNvSpPr/>
          <p:nvPr/>
        </p:nvSpPr>
        <p:spPr>
          <a:xfrm>
            <a:off x="3300630" y="5267664"/>
            <a:ext cx="2712247" cy="504369"/>
          </a:xfrm>
          <a:prstGeom prst="rect">
            <a:avLst/>
          </a:prstGeom>
        </p:spPr>
        <p:txBody>
          <a:bodyPr wrap="square">
            <a:spAutoFit/>
          </a:bodyPr>
          <a:lstStyle/>
          <a:p>
            <a:pPr>
              <a:lnSpc>
                <a:spcPct val="130000"/>
              </a:lnSpc>
            </a:pPr>
            <a:r>
              <a:rPr lang="zh-CN" altLang="en-US" sz="2400" dirty="0">
                <a:solidFill>
                  <a:prstClr val="black"/>
                </a:solidFill>
                <a:latin typeface="黑体" panose="02010609060101010101" charset="-122"/>
                <a:ea typeface="黑体" panose="02010609060101010101" charset="-122"/>
              </a:rPr>
              <a:t>倒推值的计算示例</a:t>
            </a:r>
            <a:endParaRPr lang="en-US" altLang="zh-CN" sz="2400" dirty="0">
              <a:solidFill>
                <a:prstClr val="black"/>
              </a:solidFill>
              <a:latin typeface="黑体" panose="02010609060101010101" charset="-122"/>
              <a:ea typeface="黑体" panose="02010609060101010101" charset="-122"/>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884511"/>
            <a:ext cx="9144000" cy="30889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childTnLst>
                          </p:cTn>
                        </p:par>
                        <p:par>
                          <p:cTn id="8" fill="hold">
                            <p:stCondLst>
                              <p:cond delay="1500"/>
                            </p:stCondLst>
                            <p:childTnLst>
                              <p:par>
                                <p:cTn id="9" presetID="10" presetClass="entr" presetSubtype="0" fill="hold" nodeType="afterEffect">
                                  <p:stCondLst>
                                    <p:cond delay="5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5" name="矩形 4"/>
          <p:cNvSpPr/>
          <p:nvPr/>
        </p:nvSpPr>
        <p:spPr>
          <a:xfrm>
            <a:off x="505253" y="1154234"/>
            <a:ext cx="8056859" cy="4494115"/>
          </a:xfrm>
          <a:prstGeom prst="rect">
            <a:avLst/>
          </a:prstGeom>
        </p:spPr>
        <p:txBody>
          <a:bodyPr wrap="square">
            <a:spAutoFit/>
          </a:bodyPr>
          <a:lstStyle/>
          <a:p>
            <a:pPr marL="457200" indent="-457200" algn="just">
              <a:lnSpc>
                <a:spcPct val="130000"/>
              </a:lnSpc>
              <a:buFont typeface="Arial" panose="020B0604020202020204" pitchFamily="34" charset="0"/>
              <a:buChar char="•"/>
            </a:pPr>
            <a:r>
              <a:rPr lang="zh-CN" altLang="en-US" sz="2800" dirty="0">
                <a:solidFill>
                  <a:prstClr val="black"/>
                </a:solidFill>
                <a:latin typeface="黑体" panose="02010609060101010101" charset="-122"/>
                <a:ea typeface="黑体" panose="02010609060101010101" charset="-122"/>
              </a:rPr>
              <a:t>博弈问题中，每一个格局可供选择的行动方案都有很多，会生成庞大的博弈树。例如，西洋跳棋完整的博弈树约有</a:t>
            </a:r>
            <a:r>
              <a:rPr lang="en-US" altLang="zh-CN" sz="2800" dirty="0">
                <a:solidFill>
                  <a:prstClr val="black"/>
                </a:solidFill>
                <a:latin typeface="黑体" panose="02010609060101010101" charset="-122"/>
                <a:ea typeface="黑体" panose="02010609060101010101" charset="-122"/>
              </a:rPr>
              <a:t>10</a:t>
            </a:r>
            <a:r>
              <a:rPr lang="en-US" altLang="zh-CN" sz="2800" baseline="30000" dirty="0">
                <a:solidFill>
                  <a:prstClr val="black"/>
                </a:solidFill>
                <a:latin typeface="黑体" panose="02010609060101010101" charset="-122"/>
                <a:ea typeface="黑体" panose="02010609060101010101" charset="-122"/>
              </a:rPr>
              <a:t>40</a:t>
            </a:r>
            <a:r>
              <a:rPr lang="zh-CN" altLang="en-US" sz="2800" dirty="0">
                <a:solidFill>
                  <a:prstClr val="black"/>
                </a:solidFill>
                <a:latin typeface="黑体" panose="02010609060101010101" charset="-122"/>
                <a:ea typeface="黑体" panose="02010609060101010101" charset="-122"/>
              </a:rPr>
              <a:t>个节点。</a:t>
            </a:r>
            <a:endParaRPr lang="en-US" altLang="zh-CN" sz="2800" dirty="0">
              <a:solidFill>
                <a:prstClr val="black"/>
              </a:solidFill>
              <a:latin typeface="黑体" panose="02010609060101010101" charset="-122"/>
              <a:ea typeface="黑体" panose="02010609060101010101" charset="-122"/>
            </a:endParaRPr>
          </a:p>
          <a:p>
            <a:pPr marL="457200" indent="-457200" algn="just">
              <a:lnSpc>
                <a:spcPct val="130000"/>
              </a:lnSpc>
              <a:buFont typeface="Arial" panose="020B0604020202020204" pitchFamily="34" charset="0"/>
              <a:buChar char="•"/>
            </a:pPr>
            <a:r>
              <a:rPr lang="zh-CN" altLang="en-US" sz="2800" dirty="0">
                <a:solidFill>
                  <a:prstClr val="black"/>
                </a:solidFill>
                <a:latin typeface="黑体" panose="02010609060101010101" charset="-122"/>
                <a:ea typeface="黑体" panose="02010609060101010101" charset="-122"/>
              </a:rPr>
              <a:t>利用完整的博弈树进行最小最大搜索比较困难，因此可采用只生成一定深度的博弈树，从中找出当前最好行动方案的方法。</a:t>
            </a:r>
            <a:endParaRPr lang="en-US" altLang="zh-CN" sz="2800" dirty="0">
              <a:solidFill>
                <a:prstClr val="black"/>
              </a:solidFill>
              <a:latin typeface="黑体" panose="02010609060101010101" charset="-122"/>
              <a:ea typeface="黑体" panose="02010609060101010101" charset="-122"/>
            </a:endParaRPr>
          </a:p>
          <a:p>
            <a:pPr marL="457200" indent="-457200" algn="just">
              <a:lnSpc>
                <a:spcPct val="130000"/>
              </a:lnSpc>
              <a:buFont typeface="Arial" panose="020B0604020202020204" pitchFamily="34" charset="0"/>
              <a:buChar char="•"/>
            </a:pPr>
            <a:r>
              <a:rPr lang="zh-CN" altLang="en-US" sz="2800" dirty="0">
                <a:solidFill>
                  <a:prstClr val="black"/>
                </a:solidFill>
                <a:latin typeface="黑体" panose="02010609060101010101" charset="-122"/>
                <a:ea typeface="黑体" panose="02010609060101010101" charset="-122"/>
              </a:rPr>
              <a:t>深度的选择，当然是越大越好，但往往受计算机存储空间限制，需根据实际情况而定。</a:t>
            </a:r>
            <a:endParaRPr lang="en-US" altLang="zh-CN" sz="2800" dirty="0">
              <a:solidFill>
                <a:prstClr val="black"/>
              </a:soli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5" name="矩形 4"/>
          <p:cNvSpPr/>
          <p:nvPr/>
        </p:nvSpPr>
        <p:spPr>
          <a:xfrm>
            <a:off x="543573" y="1154233"/>
            <a:ext cx="8056859" cy="1693349"/>
          </a:xfrm>
          <a:prstGeom prst="rect">
            <a:avLst/>
          </a:prstGeom>
        </p:spPr>
        <p:txBody>
          <a:bodyPr wrap="square">
            <a:spAutoFit/>
          </a:bodyPr>
          <a:lstStyle/>
          <a:p>
            <a:pPr marL="457200" indent="-457200">
              <a:lnSpc>
                <a:spcPct val="130000"/>
              </a:lnSpc>
              <a:buFont typeface="Arial" panose="020B0604020202020204" pitchFamily="34" charset="0"/>
              <a:buChar char="•"/>
            </a:pPr>
            <a:r>
              <a:rPr lang="zh-CN" altLang="en-US" sz="2800" dirty="0">
                <a:solidFill>
                  <a:srgbClr val="FF0000"/>
                </a:solidFill>
                <a:latin typeface="黑体" panose="02010609060101010101" charset="-122"/>
                <a:ea typeface="黑体" panose="02010609060101010101" charset="-122"/>
              </a:rPr>
              <a:t>例 一字棋游戏。</a:t>
            </a:r>
            <a:r>
              <a:rPr lang="zh-CN" altLang="en-US" sz="2800" dirty="0">
                <a:solidFill>
                  <a:prstClr val="black"/>
                </a:solidFill>
                <a:latin typeface="黑体" panose="02010609060101010101" charset="-122"/>
                <a:ea typeface="黑体" panose="02010609060101010101" charset="-122"/>
              </a:rPr>
              <a:t>图中所示的</a:t>
            </a:r>
            <a:r>
              <a:rPr lang="en-US" altLang="zh-CN" sz="2800" dirty="0">
                <a:solidFill>
                  <a:prstClr val="black"/>
                </a:solidFill>
                <a:latin typeface="黑体" panose="02010609060101010101" charset="-122"/>
                <a:ea typeface="黑体" panose="02010609060101010101" charset="-122"/>
              </a:rPr>
              <a:t>9</a:t>
            </a:r>
            <a:r>
              <a:rPr lang="zh-CN" altLang="en-US" sz="2800" dirty="0">
                <a:solidFill>
                  <a:prstClr val="black"/>
                </a:solidFill>
                <a:latin typeface="黑体" panose="02010609060101010101" charset="-122"/>
                <a:ea typeface="黑体" panose="02010609060101010101" charset="-122"/>
              </a:rPr>
              <a:t>个空格，由</a:t>
            </a:r>
            <a:r>
              <a:rPr lang="en-US" altLang="zh-CN" sz="2800" dirty="0">
                <a:solidFill>
                  <a:prstClr val="black"/>
                </a:solidFill>
                <a:latin typeface="黑体" panose="02010609060101010101" charset="-122"/>
                <a:ea typeface="黑体" panose="02010609060101010101" charset="-122"/>
              </a:rPr>
              <a:t>A</a:t>
            </a:r>
            <a:r>
              <a:rPr lang="zh-CN" altLang="en-US" sz="2800" dirty="0">
                <a:solidFill>
                  <a:prstClr val="black"/>
                </a:solidFill>
                <a:latin typeface="黑体" panose="02010609060101010101" charset="-122"/>
                <a:ea typeface="黑体" panose="02010609060101010101" charset="-122"/>
              </a:rPr>
              <a:t>、</a:t>
            </a:r>
            <a:r>
              <a:rPr lang="en-US" altLang="zh-CN" sz="2800" dirty="0">
                <a:solidFill>
                  <a:prstClr val="black"/>
                </a:solidFill>
                <a:latin typeface="黑体" panose="02010609060101010101" charset="-122"/>
                <a:ea typeface="黑体" panose="02010609060101010101" charset="-122"/>
              </a:rPr>
              <a:t>B</a:t>
            </a:r>
            <a:r>
              <a:rPr lang="zh-CN" altLang="en-US" sz="2800" dirty="0">
                <a:solidFill>
                  <a:prstClr val="black"/>
                </a:solidFill>
                <a:latin typeface="黑体" panose="02010609060101010101" charset="-122"/>
                <a:ea typeface="黑体" panose="02010609060101010101" charset="-122"/>
              </a:rPr>
              <a:t>二人对弈，谁先使自己的棋子构成“三子成一线”，即取得胜利。</a:t>
            </a:r>
            <a:endParaRPr lang="en-US" altLang="zh-CN" sz="2800" dirty="0">
              <a:solidFill>
                <a:prstClr val="black"/>
              </a:solidFill>
              <a:latin typeface="黑体" panose="02010609060101010101" charset="-122"/>
              <a:ea typeface="黑体" panose="02010609060101010101" charset="-122"/>
            </a:endParaRPr>
          </a:p>
        </p:txBody>
      </p:sp>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b="12018"/>
          <a:stretch>
            <a:fillRect/>
          </a:stretch>
        </p:blipFill>
        <p:spPr>
          <a:xfrm>
            <a:off x="1530930" y="2994363"/>
            <a:ext cx="6082145" cy="2055623"/>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矩形 5"/>
          <p:cNvSpPr/>
          <p:nvPr/>
        </p:nvSpPr>
        <p:spPr>
          <a:xfrm>
            <a:off x="4097263" y="5199402"/>
            <a:ext cx="1458412" cy="504369"/>
          </a:xfrm>
          <a:prstGeom prst="rect">
            <a:avLst/>
          </a:prstGeom>
        </p:spPr>
        <p:txBody>
          <a:bodyPr wrap="square">
            <a:spAutoFit/>
          </a:bodyPr>
          <a:lstStyle/>
          <a:p>
            <a:pPr>
              <a:lnSpc>
                <a:spcPct val="130000"/>
              </a:lnSpc>
            </a:pPr>
            <a:r>
              <a:rPr lang="zh-CN" altLang="en-US" sz="2400" dirty="0">
                <a:solidFill>
                  <a:prstClr val="black"/>
                </a:solidFill>
                <a:latin typeface="黑体" panose="02010609060101010101" charset="-122"/>
                <a:ea typeface="黑体" panose="02010609060101010101" charset="-122"/>
              </a:rPr>
              <a:t>一字棋</a:t>
            </a:r>
            <a:endParaRPr lang="en-US" altLang="zh-CN" sz="2400" dirty="0">
              <a:solidFill>
                <a:prstClr val="black"/>
              </a:soli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0" presetClass="entr" presetSubtype="0" fill="hold" nodeType="afterEffect">
                                  <p:stCondLst>
                                    <p:cond delay="50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fade">
                                      <p:cBhvr>
                                        <p:cTn id="18"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54186" y="893620"/>
            <a:ext cx="8046247" cy="5851525"/>
          </a:xfrm>
          <a:prstGeom prst="rect">
            <a:avLst/>
          </a:prstGeom>
        </p:spPr>
        <p:txBody>
          <a:bodyPr wrap="square">
            <a:spAutoFit/>
          </a:bodyPr>
          <a:lstStyle/>
          <a:p>
            <a:pPr marL="457200" indent="-457200" algn="just">
              <a:lnSpc>
                <a:spcPct val="130000"/>
              </a:lnSpc>
              <a:buFont typeface="Arial" panose="020B0604020202020204" pitchFamily="34" charset="0"/>
              <a:buChar char="•"/>
            </a:pPr>
            <a:r>
              <a:rPr lang="zh-CN" altLang="en-US" sz="2800" dirty="0">
                <a:solidFill>
                  <a:srgbClr val="FF0000"/>
                </a:solidFill>
                <a:latin typeface="Times New Roman" panose="02020603050405020304"/>
                <a:ea typeface="黑体" panose="02010609060101010101" charset="-122"/>
              </a:rPr>
              <a:t>例 一字棋游戏。</a:t>
            </a:r>
            <a:endParaRPr lang="en-US" altLang="zh-CN" sz="2800" dirty="0">
              <a:solidFill>
                <a:prstClr val="black"/>
              </a:solidFill>
              <a:latin typeface="Times New Roman" panose="02020603050405020304"/>
              <a:ea typeface="黑体" panose="02010609060101010101" charset="-122"/>
            </a:endParaRPr>
          </a:p>
          <a:p>
            <a:pPr algn="just">
              <a:lnSpc>
                <a:spcPct val="130000"/>
              </a:lnSpc>
            </a:pPr>
            <a:r>
              <a:rPr lang="zh-CN" altLang="en-US" sz="2600" dirty="0">
                <a:solidFill>
                  <a:prstClr val="black"/>
                </a:solidFill>
                <a:latin typeface="Times New Roman" panose="02020603050405020304"/>
                <a:ea typeface="黑体" panose="02010609060101010101" charset="-122"/>
              </a:rPr>
              <a:t>     设</a:t>
            </a:r>
            <a:r>
              <a:rPr lang="en-US" altLang="zh-CN" sz="2600" i="1" dirty="0">
                <a:solidFill>
                  <a:prstClr val="black"/>
                </a:solidFill>
                <a:latin typeface="Times New Roman" panose="02020603050405020304"/>
                <a:ea typeface="黑体" panose="02010609060101010101" charset="-122"/>
              </a:rPr>
              <a:t>A</a:t>
            </a:r>
            <a:r>
              <a:rPr lang="zh-CN" altLang="en-US" sz="2600" dirty="0">
                <a:solidFill>
                  <a:prstClr val="black"/>
                </a:solidFill>
                <a:latin typeface="Times New Roman" panose="02020603050405020304"/>
                <a:ea typeface="黑体" panose="02010609060101010101" charset="-122"/>
              </a:rPr>
              <a:t>的棋子用</a:t>
            </a:r>
            <a:r>
              <a:rPr lang="en-US" altLang="zh-CN" sz="2600" i="1" dirty="0">
                <a:solidFill>
                  <a:prstClr val="black"/>
                </a:solidFill>
                <a:latin typeface="Times New Roman" panose="02020603050405020304"/>
                <a:ea typeface="黑体" panose="02010609060101010101" charset="-122"/>
              </a:rPr>
              <a:t>a</a:t>
            </a:r>
            <a:r>
              <a:rPr lang="zh-CN" altLang="en-US" sz="2600" dirty="0">
                <a:solidFill>
                  <a:prstClr val="black"/>
                </a:solidFill>
                <a:latin typeface="Times New Roman" panose="02020603050405020304"/>
                <a:ea typeface="黑体" panose="02010609060101010101" charset="-122"/>
              </a:rPr>
              <a:t>表示，</a:t>
            </a:r>
            <a:r>
              <a:rPr lang="en-US" altLang="zh-CN" sz="2600" i="1" dirty="0">
                <a:solidFill>
                  <a:prstClr val="black"/>
                </a:solidFill>
                <a:latin typeface="Times New Roman" panose="02020603050405020304"/>
                <a:ea typeface="黑体" panose="02010609060101010101" charset="-122"/>
              </a:rPr>
              <a:t>B</a:t>
            </a:r>
            <a:r>
              <a:rPr lang="zh-CN" altLang="en-US" sz="2600" dirty="0">
                <a:solidFill>
                  <a:prstClr val="black"/>
                </a:solidFill>
                <a:latin typeface="Times New Roman" panose="02020603050405020304"/>
                <a:ea typeface="黑体" panose="02010609060101010101" charset="-122"/>
              </a:rPr>
              <a:t>的棋子用</a:t>
            </a:r>
            <a:r>
              <a:rPr lang="en-US" altLang="zh-CN" sz="2600" i="1" dirty="0">
                <a:solidFill>
                  <a:prstClr val="black"/>
                </a:solidFill>
                <a:latin typeface="Times New Roman" panose="02020603050405020304"/>
                <a:ea typeface="黑体" panose="02010609060101010101" charset="-122"/>
              </a:rPr>
              <a:t>b</a:t>
            </a:r>
            <a:r>
              <a:rPr lang="zh-CN" altLang="en-US" sz="2600" dirty="0">
                <a:solidFill>
                  <a:prstClr val="black"/>
                </a:solidFill>
                <a:latin typeface="Times New Roman" panose="02020603050405020304"/>
                <a:ea typeface="黑体" panose="02010609060101010101" charset="-122"/>
              </a:rPr>
              <a:t>表示。为避免生成过大的博弈树，假设每次仅扩展两层。评价函数定义如下：</a:t>
            </a:r>
            <a:endParaRPr lang="en-US" altLang="zh-CN" sz="2600" dirty="0">
              <a:solidFill>
                <a:prstClr val="black"/>
              </a:solidFill>
              <a:latin typeface="Times New Roman" panose="02020603050405020304"/>
              <a:ea typeface="黑体" panose="02010609060101010101" charset="-122"/>
            </a:endParaRPr>
          </a:p>
          <a:p>
            <a:pPr algn="just">
              <a:lnSpc>
                <a:spcPct val="130000"/>
              </a:lnSpc>
            </a:pPr>
            <a:r>
              <a:rPr lang="zh-CN" altLang="en-US" sz="2600" dirty="0">
                <a:solidFill>
                  <a:prstClr val="black"/>
                </a:solidFill>
                <a:latin typeface="Times New Roman" panose="02020603050405020304"/>
                <a:ea typeface="黑体" panose="02010609060101010101" charset="-122"/>
              </a:rPr>
              <a:t>     设棋局为</a:t>
            </a:r>
            <a:r>
              <a:rPr lang="en-US" altLang="zh-CN" sz="2600" i="1" dirty="0">
                <a:solidFill>
                  <a:prstClr val="black"/>
                </a:solidFill>
                <a:latin typeface="Times New Roman" panose="02020603050405020304"/>
                <a:ea typeface="黑体" panose="02010609060101010101" charset="-122"/>
              </a:rPr>
              <a:t>P</a:t>
            </a:r>
            <a:r>
              <a:rPr lang="zh-CN" altLang="en-US" sz="2600" dirty="0">
                <a:solidFill>
                  <a:prstClr val="black"/>
                </a:solidFill>
                <a:latin typeface="Times New Roman" panose="02020603050405020304"/>
                <a:ea typeface="黑体" panose="02010609060101010101" charset="-122"/>
              </a:rPr>
              <a:t>，评价函数为</a:t>
            </a:r>
            <a:r>
              <a:rPr lang="en-US" altLang="zh-CN" sz="2600" i="1" dirty="0">
                <a:solidFill>
                  <a:prstClr val="black"/>
                </a:solidFill>
                <a:latin typeface="Times New Roman" panose="02020603050405020304"/>
                <a:ea typeface="黑体" panose="02010609060101010101" charset="-122"/>
              </a:rPr>
              <a:t>e</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P</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a:t>
            </a:r>
            <a:endParaRPr lang="en-US" altLang="zh-CN" sz="2600" dirty="0">
              <a:solidFill>
                <a:prstClr val="black"/>
              </a:solidFill>
              <a:latin typeface="Times New Roman" panose="02020603050405020304"/>
              <a:ea typeface="黑体" panose="02010609060101010101" charset="-122"/>
            </a:endParaRPr>
          </a:p>
          <a:p>
            <a:pPr algn="just">
              <a:lnSpc>
                <a:spcPct val="130000"/>
              </a:lnSpc>
            </a:pPr>
            <a:r>
              <a:rPr lang="zh-CN" altLang="en-US" sz="2600" dirty="0">
                <a:solidFill>
                  <a:prstClr val="black"/>
                </a:solidFill>
                <a:latin typeface="Times New Roman" panose="02020603050405020304"/>
                <a:ea typeface="黑体" panose="02010609060101010101" charset="-122"/>
              </a:rPr>
              <a:t>（</a:t>
            </a:r>
            <a:r>
              <a:rPr lang="en-US" altLang="zh-CN" sz="2600" dirty="0">
                <a:solidFill>
                  <a:prstClr val="black"/>
                </a:solidFill>
                <a:latin typeface="Times New Roman" panose="02020603050405020304"/>
                <a:ea typeface="黑体" panose="02010609060101010101" charset="-122"/>
              </a:rPr>
              <a:t>1</a:t>
            </a:r>
            <a:r>
              <a:rPr lang="zh-CN" altLang="en-US" sz="2600" dirty="0">
                <a:solidFill>
                  <a:prstClr val="black"/>
                </a:solidFill>
                <a:latin typeface="Times New Roman" panose="02020603050405020304"/>
                <a:ea typeface="黑体" panose="02010609060101010101" charset="-122"/>
              </a:rPr>
              <a:t>）若</a:t>
            </a:r>
            <a:r>
              <a:rPr lang="en-US" altLang="zh-CN" sz="2600" i="1" dirty="0">
                <a:solidFill>
                  <a:prstClr val="black"/>
                </a:solidFill>
                <a:latin typeface="Times New Roman" panose="02020603050405020304"/>
                <a:ea typeface="黑体" panose="02010609060101010101" charset="-122"/>
              </a:rPr>
              <a:t> P</a:t>
            </a:r>
            <a:r>
              <a:rPr lang="zh-CN" altLang="en-US" sz="2600" dirty="0">
                <a:solidFill>
                  <a:prstClr val="black"/>
                </a:solidFill>
                <a:latin typeface="Times New Roman" panose="02020603050405020304"/>
                <a:ea typeface="黑体" panose="02010609060101010101" charset="-122"/>
              </a:rPr>
              <a:t>是</a:t>
            </a:r>
            <a:r>
              <a:rPr lang="en-US" altLang="zh-CN" sz="2600" i="1" dirty="0">
                <a:solidFill>
                  <a:prstClr val="black"/>
                </a:solidFill>
                <a:latin typeface="Times New Roman" panose="02020603050405020304"/>
                <a:ea typeface="黑体" panose="02010609060101010101" charset="-122"/>
              </a:rPr>
              <a:t>A</a:t>
            </a:r>
            <a:r>
              <a:rPr lang="zh-CN" altLang="en-US" sz="2600" dirty="0">
                <a:solidFill>
                  <a:prstClr val="black"/>
                </a:solidFill>
                <a:latin typeface="Times New Roman" panose="02020603050405020304"/>
                <a:ea typeface="黑体" panose="02010609060101010101" charset="-122"/>
              </a:rPr>
              <a:t>必胜的棋局，则</a:t>
            </a:r>
            <a:r>
              <a:rPr lang="en-US" altLang="zh-CN" sz="2600" i="1" dirty="0">
                <a:solidFill>
                  <a:prstClr val="black"/>
                </a:solidFill>
                <a:latin typeface="Times New Roman" panose="02020603050405020304"/>
                <a:ea typeface="黑体" panose="02010609060101010101" charset="-122"/>
              </a:rPr>
              <a:t>e</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P</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a:t>
            </a:r>
            <a:endParaRPr lang="en-US" altLang="zh-CN" sz="2600" dirty="0">
              <a:solidFill>
                <a:prstClr val="black"/>
              </a:solidFill>
              <a:latin typeface="Times New Roman" panose="02020603050405020304"/>
              <a:ea typeface="黑体" panose="02010609060101010101" charset="-122"/>
            </a:endParaRPr>
          </a:p>
          <a:p>
            <a:pPr algn="just">
              <a:lnSpc>
                <a:spcPct val="130000"/>
              </a:lnSpc>
            </a:pPr>
            <a:r>
              <a:rPr lang="zh-CN" altLang="en-US" sz="2600" dirty="0">
                <a:solidFill>
                  <a:prstClr val="black"/>
                </a:solidFill>
                <a:latin typeface="Times New Roman" panose="02020603050405020304"/>
                <a:ea typeface="黑体" panose="02010609060101010101" charset="-122"/>
              </a:rPr>
              <a:t>（</a:t>
            </a:r>
            <a:r>
              <a:rPr lang="en-US" altLang="zh-CN" sz="2600" dirty="0">
                <a:solidFill>
                  <a:prstClr val="black"/>
                </a:solidFill>
                <a:latin typeface="Times New Roman" panose="02020603050405020304"/>
                <a:ea typeface="黑体" panose="02010609060101010101" charset="-122"/>
              </a:rPr>
              <a:t>2</a:t>
            </a:r>
            <a:r>
              <a:rPr lang="zh-CN" altLang="en-US" sz="2600" dirty="0">
                <a:solidFill>
                  <a:prstClr val="black"/>
                </a:solidFill>
                <a:latin typeface="Times New Roman" panose="02020603050405020304"/>
                <a:ea typeface="黑体" panose="02010609060101010101" charset="-122"/>
              </a:rPr>
              <a:t>）若</a:t>
            </a:r>
            <a:r>
              <a:rPr lang="en-US" altLang="zh-CN" sz="2600" i="1" dirty="0">
                <a:solidFill>
                  <a:prstClr val="black"/>
                </a:solidFill>
                <a:latin typeface="Times New Roman" panose="02020603050405020304"/>
                <a:ea typeface="黑体" panose="02010609060101010101" charset="-122"/>
              </a:rPr>
              <a:t>P</a:t>
            </a:r>
            <a:r>
              <a:rPr lang="zh-CN" altLang="en-US" sz="2600" dirty="0">
                <a:solidFill>
                  <a:prstClr val="black"/>
                </a:solidFill>
                <a:latin typeface="Times New Roman" panose="02020603050405020304"/>
                <a:ea typeface="黑体" panose="02010609060101010101" charset="-122"/>
              </a:rPr>
              <a:t>是</a:t>
            </a:r>
            <a:r>
              <a:rPr lang="en-US" altLang="zh-CN" sz="2600" i="1" dirty="0">
                <a:solidFill>
                  <a:prstClr val="black"/>
                </a:solidFill>
                <a:latin typeface="Times New Roman" panose="02020603050405020304"/>
                <a:ea typeface="黑体" panose="02010609060101010101" charset="-122"/>
              </a:rPr>
              <a:t>B</a:t>
            </a:r>
            <a:r>
              <a:rPr lang="zh-CN" altLang="en-US" sz="2600" dirty="0">
                <a:solidFill>
                  <a:prstClr val="black"/>
                </a:solidFill>
                <a:latin typeface="Times New Roman" panose="02020603050405020304"/>
                <a:ea typeface="黑体" panose="02010609060101010101" charset="-122"/>
              </a:rPr>
              <a:t>必胜的棋局，则</a:t>
            </a:r>
            <a:r>
              <a:rPr lang="en-US" altLang="zh-CN" sz="2600" i="1" dirty="0">
                <a:solidFill>
                  <a:prstClr val="black"/>
                </a:solidFill>
                <a:latin typeface="Times New Roman" panose="02020603050405020304"/>
                <a:ea typeface="黑体" panose="02010609060101010101" charset="-122"/>
              </a:rPr>
              <a:t>e</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P</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a:t>
            </a:r>
            <a:endParaRPr lang="en-US" altLang="zh-CN" sz="2600" dirty="0">
              <a:solidFill>
                <a:prstClr val="black"/>
              </a:solidFill>
              <a:latin typeface="Times New Roman" panose="02020603050405020304"/>
              <a:ea typeface="黑体" panose="02010609060101010101" charset="-122"/>
            </a:endParaRPr>
          </a:p>
          <a:p>
            <a:pPr algn="just">
              <a:lnSpc>
                <a:spcPct val="130000"/>
              </a:lnSpc>
            </a:pPr>
            <a:r>
              <a:rPr lang="zh-CN" altLang="en-US" sz="2600" dirty="0">
                <a:solidFill>
                  <a:prstClr val="black"/>
                </a:solidFill>
                <a:latin typeface="Times New Roman" panose="02020603050405020304"/>
                <a:ea typeface="黑体" panose="02010609060101010101" charset="-122"/>
              </a:rPr>
              <a:t>（</a:t>
            </a:r>
            <a:r>
              <a:rPr lang="en-US" altLang="zh-CN" sz="2600" dirty="0">
                <a:solidFill>
                  <a:prstClr val="black"/>
                </a:solidFill>
                <a:latin typeface="Times New Roman" panose="02020603050405020304"/>
                <a:ea typeface="黑体" panose="02010609060101010101" charset="-122"/>
              </a:rPr>
              <a:t>3</a:t>
            </a:r>
            <a:r>
              <a:rPr lang="zh-CN" altLang="en-US" sz="2600" dirty="0">
                <a:solidFill>
                  <a:prstClr val="black"/>
                </a:solidFill>
                <a:latin typeface="Times New Roman" panose="02020603050405020304"/>
                <a:ea typeface="黑体" panose="02010609060101010101" charset="-122"/>
              </a:rPr>
              <a:t>）若</a:t>
            </a:r>
            <a:r>
              <a:rPr lang="en-US" altLang="zh-CN" sz="2600" i="1" dirty="0">
                <a:solidFill>
                  <a:prstClr val="black"/>
                </a:solidFill>
                <a:latin typeface="Times New Roman" panose="02020603050405020304"/>
                <a:ea typeface="黑体" panose="02010609060101010101" charset="-122"/>
              </a:rPr>
              <a:t>P</a:t>
            </a:r>
            <a:r>
              <a:rPr lang="zh-CN" altLang="en-US" sz="2600" dirty="0">
                <a:solidFill>
                  <a:prstClr val="black"/>
                </a:solidFill>
                <a:latin typeface="Times New Roman" panose="02020603050405020304"/>
                <a:ea typeface="黑体" panose="02010609060101010101" charset="-122"/>
              </a:rPr>
              <a:t>是胜负未定的棋局，则</a:t>
            </a:r>
            <a:r>
              <a:rPr lang="en-US" altLang="zh-CN" sz="2600" i="1" dirty="0">
                <a:solidFill>
                  <a:prstClr val="black"/>
                </a:solidFill>
                <a:latin typeface="Times New Roman" panose="02020603050405020304"/>
                <a:ea typeface="黑体" panose="02010609060101010101" charset="-122"/>
              </a:rPr>
              <a:t>e</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P</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 e</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P</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 e</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P</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a:t>
            </a:r>
            <a:endParaRPr lang="en-US" altLang="zh-CN" sz="2600" dirty="0">
              <a:solidFill>
                <a:prstClr val="black"/>
              </a:solidFill>
              <a:latin typeface="Times New Roman" panose="02020603050405020304"/>
              <a:ea typeface="黑体" panose="02010609060101010101" charset="-122"/>
            </a:endParaRPr>
          </a:p>
          <a:p>
            <a:pPr algn="just">
              <a:lnSpc>
                <a:spcPct val="130000"/>
              </a:lnSpc>
            </a:pPr>
            <a:r>
              <a:rPr lang="en-US" altLang="zh-CN" sz="2600" i="1" dirty="0">
                <a:solidFill>
                  <a:prstClr val="black"/>
                </a:solidFill>
                <a:latin typeface="Times New Roman" panose="02020603050405020304"/>
                <a:ea typeface="黑体" panose="02010609060101010101" charset="-122"/>
              </a:rPr>
              <a:t>e</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P</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表示棋局</a:t>
            </a:r>
            <a:r>
              <a:rPr lang="en-US" altLang="zh-CN" sz="2600" i="1" dirty="0">
                <a:solidFill>
                  <a:prstClr val="black"/>
                </a:solidFill>
                <a:latin typeface="Times New Roman" panose="02020603050405020304"/>
                <a:ea typeface="黑体" panose="02010609060101010101" charset="-122"/>
              </a:rPr>
              <a:t>P</a:t>
            </a:r>
            <a:r>
              <a:rPr lang="zh-CN" altLang="en-US" sz="2600" dirty="0">
                <a:solidFill>
                  <a:prstClr val="black"/>
                </a:solidFill>
                <a:latin typeface="Times New Roman" panose="02020603050405020304"/>
                <a:ea typeface="黑体" panose="02010609060101010101" charset="-122"/>
              </a:rPr>
              <a:t>上有可能使</a:t>
            </a:r>
            <a:r>
              <a:rPr lang="en-US" altLang="zh-CN" sz="2600" i="1" dirty="0">
                <a:solidFill>
                  <a:prstClr val="black"/>
                </a:solidFill>
                <a:latin typeface="Times New Roman" panose="02020603050405020304"/>
                <a:ea typeface="黑体" panose="02010609060101010101" charset="-122"/>
              </a:rPr>
              <a:t>a</a:t>
            </a:r>
            <a:r>
              <a:rPr lang="zh-CN" altLang="en-US" sz="2600" dirty="0">
                <a:solidFill>
                  <a:prstClr val="black"/>
                </a:solidFill>
                <a:latin typeface="Times New Roman" panose="02020603050405020304"/>
                <a:ea typeface="黑体" panose="02010609060101010101" charset="-122"/>
              </a:rPr>
              <a:t>成为三子一线的数目；</a:t>
            </a:r>
            <a:endParaRPr lang="en-US" altLang="zh-CN" sz="2600" dirty="0">
              <a:solidFill>
                <a:prstClr val="black"/>
              </a:solidFill>
              <a:latin typeface="Times New Roman" panose="02020603050405020304"/>
              <a:ea typeface="黑体" panose="02010609060101010101" charset="-122"/>
            </a:endParaRPr>
          </a:p>
          <a:p>
            <a:pPr algn="just">
              <a:lnSpc>
                <a:spcPct val="130000"/>
              </a:lnSpc>
            </a:pPr>
            <a:r>
              <a:rPr lang="en-US" altLang="zh-CN" sz="2600" i="1" dirty="0">
                <a:solidFill>
                  <a:prstClr val="black"/>
                </a:solidFill>
                <a:latin typeface="Times New Roman" panose="02020603050405020304"/>
                <a:ea typeface="黑体" panose="02010609060101010101" charset="-122"/>
              </a:rPr>
              <a:t>e</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P</a:t>
            </a:r>
            <a:r>
              <a:rPr lang="en-US" altLang="zh-CN" sz="2600" dirty="0">
                <a:solidFill>
                  <a:prstClr val="black"/>
                </a:solidFill>
                <a:latin typeface="Times New Roman" panose="02020603050405020304"/>
                <a:ea typeface="黑体" panose="02010609060101010101" charset="-122"/>
              </a:rPr>
              <a:t>)</a:t>
            </a:r>
            <a:r>
              <a:rPr lang="zh-CN" altLang="en-US" sz="2600" dirty="0">
                <a:solidFill>
                  <a:prstClr val="black"/>
                </a:solidFill>
                <a:latin typeface="Times New Roman" panose="02020603050405020304"/>
                <a:ea typeface="黑体" panose="02010609060101010101" charset="-122"/>
              </a:rPr>
              <a:t>表示棋局</a:t>
            </a:r>
            <a:r>
              <a:rPr lang="en-US" altLang="zh-CN" sz="2600" i="1" dirty="0">
                <a:solidFill>
                  <a:prstClr val="black"/>
                </a:solidFill>
                <a:latin typeface="Times New Roman" panose="02020603050405020304"/>
                <a:ea typeface="黑体" panose="02010609060101010101" charset="-122"/>
              </a:rPr>
              <a:t>P</a:t>
            </a:r>
            <a:r>
              <a:rPr lang="zh-CN" altLang="en-US" sz="2600" dirty="0">
                <a:solidFill>
                  <a:prstClr val="black"/>
                </a:solidFill>
                <a:latin typeface="Times New Roman" panose="02020603050405020304"/>
                <a:ea typeface="黑体" panose="02010609060101010101" charset="-122"/>
              </a:rPr>
              <a:t>上有可能使</a:t>
            </a:r>
            <a:r>
              <a:rPr lang="en-US" altLang="zh-CN" sz="2600" i="1" dirty="0">
                <a:solidFill>
                  <a:prstClr val="black"/>
                </a:solidFill>
                <a:latin typeface="Times New Roman" panose="02020603050405020304"/>
                <a:ea typeface="黑体" panose="02010609060101010101" charset="-122"/>
              </a:rPr>
              <a:t>b</a:t>
            </a:r>
            <a:r>
              <a:rPr lang="zh-CN" altLang="en-US" sz="2600" dirty="0">
                <a:solidFill>
                  <a:prstClr val="black"/>
                </a:solidFill>
                <a:latin typeface="Times New Roman" panose="02020603050405020304"/>
                <a:ea typeface="黑体" panose="02010609060101010101" charset="-122"/>
              </a:rPr>
              <a:t>成为三子一线的数目。</a:t>
            </a:r>
            <a:endParaRPr lang="zh-CN" altLang="en-US" sz="2600" dirty="0">
              <a:solidFill>
                <a:prstClr val="black"/>
              </a:solidFill>
              <a:latin typeface="Times New Roman" panose="02020603050405020304"/>
              <a:ea typeface="黑体" panose="02010609060101010101" charset="-122"/>
            </a:endParaRPr>
          </a:p>
          <a:p>
            <a:pPr algn="just">
              <a:lnSpc>
                <a:spcPct val="130000"/>
              </a:lnSpc>
            </a:pPr>
            <a:r>
              <a:rPr lang="zh-CN" altLang="en-US" sz="2600" dirty="0">
                <a:solidFill>
                  <a:prstClr val="black"/>
                </a:solidFill>
                <a:highlight>
                  <a:srgbClr val="FFFF00"/>
                </a:highlight>
                <a:latin typeface="Times New Roman" panose="02020603050405020304"/>
                <a:ea typeface="黑体" panose="02010609060101010101" charset="-122"/>
              </a:rPr>
              <a:t>数目就是空格的个数</a:t>
            </a:r>
            <a:endParaRPr lang="zh-CN" altLang="en-US" sz="2600" dirty="0">
              <a:solidFill>
                <a:prstClr val="black"/>
              </a:solidFill>
              <a:highlight>
                <a:srgbClr val="FFFF00"/>
              </a:highlight>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5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矩形 3"/>
          <p:cNvSpPr/>
          <p:nvPr/>
        </p:nvSpPr>
        <p:spPr>
          <a:xfrm>
            <a:off x="554186" y="900548"/>
            <a:ext cx="8046247" cy="4757713"/>
          </a:xfrm>
          <a:prstGeom prst="rect">
            <a:avLst/>
          </a:prstGeom>
        </p:spPr>
        <p:txBody>
          <a:bodyPr wrap="square">
            <a:spAutoFit/>
          </a:bodyPr>
          <a:lstStyle/>
          <a:p>
            <a:pPr marL="457200" indent="-457200">
              <a:lnSpc>
                <a:spcPct val="130000"/>
              </a:lnSpc>
              <a:buFont typeface="Arial" panose="020B0604020202020204" pitchFamily="34" charset="0"/>
              <a:buChar char="•"/>
            </a:pPr>
            <a:r>
              <a:rPr lang="zh-CN" altLang="en-US" sz="2800" dirty="0">
                <a:solidFill>
                  <a:srgbClr val="FF0000"/>
                </a:solidFill>
                <a:latin typeface="Times New Roman" panose="02020603050405020304"/>
                <a:ea typeface="黑体" panose="02010609060101010101" charset="-122"/>
              </a:rPr>
              <a:t>例 一字棋游戏。</a:t>
            </a:r>
            <a:endParaRPr lang="en-US" altLang="zh-CN" sz="2800" dirty="0">
              <a:solidFill>
                <a:prstClr val="black"/>
              </a:solidFill>
              <a:latin typeface="Times New Roman" panose="02020603050405020304"/>
              <a:ea typeface="黑体" panose="02010609060101010101" charset="-122"/>
            </a:endParaRPr>
          </a:p>
          <a:p>
            <a:pPr>
              <a:lnSpc>
                <a:spcPct val="130000"/>
              </a:lnSpc>
            </a:pPr>
            <a:r>
              <a:rPr lang="zh-CN" altLang="en-US" sz="2600" dirty="0">
                <a:solidFill>
                  <a:prstClr val="black"/>
                </a:solidFill>
                <a:latin typeface="Times New Roman" panose="02020603050405020304"/>
                <a:ea typeface="黑体" panose="02010609060101010101" charset="-122"/>
              </a:rPr>
              <a:t>     对于一字棋图</a:t>
            </a:r>
            <a:r>
              <a:rPr lang="en-US" altLang="zh-CN" sz="2600" dirty="0">
                <a:solidFill>
                  <a:prstClr val="black"/>
                </a:solidFill>
                <a:latin typeface="Times New Roman" panose="02020603050405020304"/>
                <a:ea typeface="黑体" panose="02010609060101010101" charset="-122"/>
              </a:rPr>
              <a:t>(b)</a:t>
            </a:r>
            <a:r>
              <a:rPr lang="zh-CN" altLang="en-US" sz="2600" dirty="0">
                <a:solidFill>
                  <a:prstClr val="black"/>
                </a:solidFill>
                <a:latin typeface="Times New Roman" panose="02020603050405020304"/>
                <a:ea typeface="黑体" panose="02010609060101010101" charset="-122"/>
              </a:rPr>
              <a:t>所示的棋局，则</a:t>
            </a:r>
            <a:endParaRPr lang="en-US" altLang="zh-CN" sz="2600" dirty="0">
              <a:solidFill>
                <a:prstClr val="black"/>
              </a:solidFill>
              <a:latin typeface="Times New Roman" panose="02020603050405020304"/>
              <a:ea typeface="黑体" panose="02010609060101010101" charset="-122"/>
            </a:endParaRPr>
          </a:p>
          <a:p>
            <a:pPr algn="ctr">
              <a:lnSpc>
                <a:spcPct val="130000"/>
              </a:lnSpc>
            </a:pPr>
            <a:endParaRPr lang="en-US" altLang="zh-CN" sz="2600" i="1" dirty="0">
              <a:solidFill>
                <a:prstClr val="black"/>
              </a:solidFill>
              <a:latin typeface="Times New Roman" panose="02020603050405020304"/>
              <a:ea typeface="黑体" panose="02010609060101010101" charset="-122"/>
            </a:endParaRPr>
          </a:p>
          <a:p>
            <a:pPr algn="ctr">
              <a:lnSpc>
                <a:spcPct val="130000"/>
              </a:lnSpc>
            </a:pPr>
            <a:endParaRPr lang="en-US" altLang="zh-CN" sz="2600" i="1" dirty="0">
              <a:solidFill>
                <a:prstClr val="black"/>
              </a:solidFill>
              <a:latin typeface="Times New Roman" panose="02020603050405020304"/>
              <a:ea typeface="黑体" panose="02010609060101010101" charset="-122"/>
            </a:endParaRPr>
          </a:p>
          <a:p>
            <a:pPr algn="ctr">
              <a:lnSpc>
                <a:spcPct val="130000"/>
              </a:lnSpc>
            </a:pPr>
            <a:endParaRPr lang="en-US" altLang="zh-CN" sz="2600" i="1" dirty="0">
              <a:solidFill>
                <a:prstClr val="black"/>
              </a:solidFill>
              <a:latin typeface="Times New Roman" panose="02020603050405020304"/>
              <a:ea typeface="黑体" panose="02010609060101010101" charset="-122"/>
            </a:endParaRPr>
          </a:p>
          <a:p>
            <a:pPr algn="ctr">
              <a:lnSpc>
                <a:spcPct val="130000"/>
              </a:lnSpc>
            </a:pPr>
            <a:endParaRPr lang="en-US" altLang="zh-CN" sz="2600" i="1" dirty="0">
              <a:solidFill>
                <a:prstClr val="black"/>
              </a:solidFill>
              <a:latin typeface="Times New Roman" panose="02020603050405020304"/>
              <a:ea typeface="黑体" panose="02010609060101010101" charset="-122"/>
            </a:endParaRPr>
          </a:p>
          <a:p>
            <a:pPr algn="ctr">
              <a:lnSpc>
                <a:spcPct val="130000"/>
              </a:lnSpc>
            </a:pPr>
            <a:r>
              <a:rPr lang="en-US" altLang="zh-CN" sz="2600" i="1" dirty="0">
                <a:solidFill>
                  <a:prstClr val="black"/>
                </a:solidFill>
                <a:latin typeface="Times New Roman" panose="02020603050405020304"/>
                <a:ea typeface="黑体" panose="02010609060101010101" charset="-122"/>
              </a:rPr>
              <a:t>e</a:t>
            </a:r>
            <a:r>
              <a:rPr lang="en-US" altLang="zh-CN" sz="2600" dirty="0">
                <a:solidFill>
                  <a:prstClr val="black"/>
                </a:solidFill>
                <a:latin typeface="Times New Roman" panose="02020603050405020304"/>
                <a:ea typeface="黑体" panose="02010609060101010101" charset="-122"/>
              </a:rPr>
              <a:t>(</a:t>
            </a:r>
            <a:r>
              <a:rPr lang="en-US" altLang="zh-CN" sz="2600" i="1" dirty="0">
                <a:solidFill>
                  <a:prstClr val="black"/>
                </a:solidFill>
                <a:latin typeface="Times New Roman" panose="02020603050405020304"/>
                <a:ea typeface="黑体" panose="02010609060101010101" charset="-122"/>
              </a:rPr>
              <a:t>P</a:t>
            </a:r>
            <a:r>
              <a:rPr lang="en-US" altLang="zh-CN" sz="2600" dirty="0">
                <a:solidFill>
                  <a:prstClr val="black"/>
                </a:solidFill>
                <a:latin typeface="Times New Roman" panose="02020603050405020304"/>
                <a:ea typeface="黑体" panose="02010609060101010101" charset="-122"/>
              </a:rPr>
              <a:t>)=6-2=4</a:t>
            </a:r>
            <a:endParaRPr lang="en-US" altLang="zh-CN" sz="2600" dirty="0">
              <a:solidFill>
                <a:prstClr val="black"/>
              </a:solidFill>
              <a:latin typeface="Times New Roman" panose="02020603050405020304"/>
              <a:ea typeface="黑体" panose="02010609060101010101" charset="-122"/>
            </a:endParaRPr>
          </a:p>
          <a:p>
            <a:pPr>
              <a:lnSpc>
                <a:spcPct val="130000"/>
              </a:lnSpc>
            </a:pPr>
            <a:r>
              <a:rPr lang="en-US" altLang="zh-CN" sz="2600" dirty="0">
                <a:solidFill>
                  <a:prstClr val="black"/>
                </a:solidFill>
                <a:latin typeface="Times New Roman" panose="02020603050405020304"/>
                <a:ea typeface="黑体" panose="02010609060101010101" charset="-122"/>
              </a:rPr>
              <a:t>     </a:t>
            </a:r>
            <a:r>
              <a:rPr lang="zh-CN" altLang="en-US" sz="2600" dirty="0">
                <a:solidFill>
                  <a:prstClr val="black"/>
                </a:solidFill>
                <a:latin typeface="Times New Roman" panose="02020603050405020304"/>
                <a:ea typeface="黑体" panose="02010609060101010101" charset="-122"/>
              </a:rPr>
              <a:t>假定具有对称性的两个棋局算作一个棋局，且</a:t>
            </a:r>
            <a:r>
              <a:rPr lang="en-US" altLang="zh-CN" sz="2600" dirty="0">
                <a:solidFill>
                  <a:prstClr val="black"/>
                </a:solidFill>
                <a:latin typeface="Times New Roman" panose="02020603050405020304"/>
                <a:ea typeface="黑体" panose="02010609060101010101" charset="-122"/>
              </a:rPr>
              <a:t>A</a:t>
            </a:r>
            <a:r>
              <a:rPr lang="zh-CN" altLang="en-US" sz="2600" dirty="0">
                <a:solidFill>
                  <a:prstClr val="black"/>
                </a:solidFill>
                <a:latin typeface="Times New Roman" panose="02020603050405020304"/>
                <a:ea typeface="黑体" panose="02010609060101010101" charset="-122"/>
              </a:rPr>
              <a:t>先走棋，为了</a:t>
            </a:r>
            <a:r>
              <a:rPr lang="en-US" altLang="zh-CN" sz="2600" dirty="0">
                <a:solidFill>
                  <a:prstClr val="black"/>
                </a:solidFill>
                <a:latin typeface="Times New Roman" panose="02020603050405020304"/>
                <a:ea typeface="黑体" panose="02010609060101010101" charset="-122"/>
              </a:rPr>
              <a:t>A</a:t>
            </a:r>
            <a:r>
              <a:rPr lang="zh-CN" altLang="en-US" sz="2600" dirty="0">
                <a:solidFill>
                  <a:prstClr val="black"/>
                </a:solidFill>
                <a:latin typeface="Times New Roman" panose="02020603050405020304"/>
                <a:ea typeface="黑体" panose="02010609060101010101" charset="-122"/>
              </a:rPr>
              <a:t>的第一着走棋而生成的博弈树如图所示。</a:t>
            </a:r>
            <a:endParaRPr lang="en-US" altLang="zh-CN" sz="2600" dirty="0">
              <a:solidFill>
                <a:prstClr val="black"/>
              </a:solidFill>
              <a:latin typeface="Times New Roman" panose="02020603050405020304"/>
              <a:ea typeface="黑体" panose="02010609060101010101" charset="-122"/>
            </a:endParaRPr>
          </a:p>
        </p:txBody>
      </p:sp>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b="12018"/>
          <a:stretch>
            <a:fillRect/>
          </a:stretch>
        </p:blipFill>
        <p:spPr>
          <a:xfrm>
            <a:off x="1717966" y="2052252"/>
            <a:ext cx="6082145" cy="2055623"/>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5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fade">
                                      <p:cBhvr>
                                        <p:cTn id="17" dur="500"/>
                                        <p:tgtEl>
                                          <p:spTgt spid="4">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867266"/>
            <a:ext cx="9144000" cy="4846379"/>
          </a:xfrm>
          <a:prstGeom prst="rect">
            <a:avLst/>
          </a:prstGeom>
        </p:spPr>
      </p:pic>
      <p:sp>
        <p:nvSpPr>
          <p:cNvPr id="6" name="矩形 5"/>
          <p:cNvSpPr/>
          <p:nvPr/>
        </p:nvSpPr>
        <p:spPr>
          <a:xfrm>
            <a:off x="817422" y="2376060"/>
            <a:ext cx="464127" cy="504369"/>
          </a:xfrm>
          <a:prstGeom prst="rect">
            <a:avLst/>
          </a:prstGeom>
        </p:spPr>
        <p:txBody>
          <a:bodyPr wrap="square">
            <a:spAutoFit/>
          </a:bodyPr>
          <a:lstStyle/>
          <a:p>
            <a:pPr>
              <a:lnSpc>
                <a:spcPct val="130000"/>
              </a:lnSpc>
            </a:pPr>
            <a:r>
              <a:rPr lang="en-US" altLang="zh-CN" sz="2400" dirty="0">
                <a:solidFill>
                  <a:srgbClr val="FF0000"/>
                </a:solidFill>
                <a:latin typeface="黑体" panose="02010609060101010101" charset="-122"/>
                <a:ea typeface="黑体" panose="02010609060101010101" charset="-122"/>
              </a:rPr>
              <a:t>A</a:t>
            </a:r>
            <a:endParaRPr lang="en-US" altLang="zh-CN" sz="2400" dirty="0">
              <a:solidFill>
                <a:srgbClr val="FF0000"/>
              </a:solidFill>
              <a:latin typeface="黑体" panose="02010609060101010101" charset="-122"/>
              <a:ea typeface="黑体" panose="02010609060101010101" charset="-122"/>
            </a:endParaRPr>
          </a:p>
        </p:txBody>
      </p:sp>
      <p:sp>
        <p:nvSpPr>
          <p:cNvPr id="7" name="矩形 6"/>
          <p:cNvSpPr/>
          <p:nvPr/>
        </p:nvSpPr>
        <p:spPr>
          <a:xfrm>
            <a:off x="2705100" y="5713645"/>
            <a:ext cx="3733800" cy="504369"/>
          </a:xfrm>
          <a:prstGeom prst="rect">
            <a:avLst/>
          </a:prstGeom>
        </p:spPr>
        <p:txBody>
          <a:bodyPr wrap="square">
            <a:spAutoFit/>
          </a:bodyPr>
          <a:lstStyle/>
          <a:p>
            <a:pPr>
              <a:lnSpc>
                <a:spcPct val="130000"/>
              </a:lnSpc>
            </a:pPr>
            <a:r>
              <a:rPr lang="zh-CN" altLang="en-US" sz="2400" dirty="0">
                <a:solidFill>
                  <a:prstClr val="black"/>
                </a:solidFill>
                <a:latin typeface="黑体" panose="02010609060101010101" charset="-122"/>
                <a:ea typeface="黑体" panose="02010609060101010101" charset="-122"/>
              </a:rPr>
              <a:t>一字棋最小最大搜索示例</a:t>
            </a:r>
            <a:endParaRPr lang="en-US" altLang="zh-CN" sz="2400" dirty="0">
              <a:solidFill>
                <a:prstClr val="black"/>
              </a:solidFill>
              <a:latin typeface="黑体" panose="02010609060101010101" charset="-122"/>
              <a:ea typeface="黑体" panose="02010609060101010101" charset="-122"/>
            </a:endParaRPr>
          </a:p>
        </p:txBody>
      </p:sp>
      <p:sp>
        <p:nvSpPr>
          <p:cNvPr id="4" name="椭圆 3"/>
          <p:cNvSpPr/>
          <p:nvPr/>
        </p:nvSpPr>
        <p:spPr>
          <a:xfrm>
            <a:off x="7176657" y="2119745"/>
            <a:ext cx="1330036" cy="928256"/>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solidFill>
                <a:prstClr val="black"/>
              </a:solidFill>
              <a:latin typeface="Times New Roman" panose="02020603050405020304"/>
              <a:ea typeface="黑体" panose="02010609060101010101" charset="-122"/>
            </a:endParaRPr>
          </a:p>
        </p:txBody>
      </p:sp>
      <p:sp>
        <p:nvSpPr>
          <p:cNvPr id="10" name="矩形 9"/>
          <p:cNvSpPr/>
          <p:nvPr/>
        </p:nvSpPr>
        <p:spPr>
          <a:xfrm>
            <a:off x="438959" y="1075748"/>
            <a:ext cx="2408148" cy="1200329"/>
          </a:xfrm>
          <a:prstGeom prst="rect">
            <a:avLst/>
          </a:prstGeom>
        </p:spPr>
        <p:txBody>
          <a:bodyPr wrap="square">
            <a:spAutoFit/>
          </a:bodyPr>
          <a:lstStyle/>
          <a:p>
            <a:r>
              <a:rPr lang="zh-CN" altLang="en-US" sz="2400" dirty="0">
                <a:solidFill>
                  <a:srgbClr val="4BACC6">
                    <a:lumMod val="50000"/>
                  </a:srgbClr>
                </a:solidFill>
                <a:latin typeface="黑体" panose="02010609060101010101" charset="-122"/>
                <a:ea typeface="黑体" panose="02010609060101010101" charset="-122"/>
              </a:rPr>
              <a:t>节点旁数字表示相应节点的静态估值或倒推值</a:t>
            </a:r>
            <a:endParaRPr lang="en-US" altLang="zh-CN" sz="2400" dirty="0">
              <a:solidFill>
                <a:srgbClr val="4BACC6">
                  <a:lumMod val="50000"/>
                </a:srgbClr>
              </a:solidFill>
              <a:latin typeface="黑体" panose="02010609060101010101" charset="-122"/>
              <a:ea typeface="黑体" panose="02010609060101010101" charset="-122"/>
            </a:endParaRPr>
          </a:p>
        </p:txBody>
      </p:sp>
      <p:sp>
        <p:nvSpPr>
          <p:cNvPr id="11" name="矩形 10"/>
          <p:cNvSpPr/>
          <p:nvPr/>
        </p:nvSpPr>
        <p:spPr>
          <a:xfrm>
            <a:off x="99526" y="3172692"/>
            <a:ext cx="454659" cy="504369"/>
          </a:xfrm>
          <a:prstGeom prst="rect">
            <a:avLst/>
          </a:prstGeom>
        </p:spPr>
        <p:txBody>
          <a:bodyPr wrap="square">
            <a:spAutoFit/>
          </a:bodyPr>
          <a:lstStyle/>
          <a:p>
            <a:pPr>
              <a:lnSpc>
                <a:spcPct val="130000"/>
              </a:lnSpc>
            </a:pPr>
            <a:r>
              <a:rPr lang="en-US" altLang="zh-CN" sz="2400" dirty="0">
                <a:solidFill>
                  <a:srgbClr val="FF0000"/>
                </a:solidFill>
                <a:latin typeface="黑体" panose="02010609060101010101" charset="-122"/>
                <a:ea typeface="黑体" panose="02010609060101010101" charset="-122"/>
              </a:rPr>
              <a:t>B</a:t>
            </a:r>
            <a:endParaRPr lang="en-US" altLang="zh-CN" sz="2400" dirty="0">
              <a:solidFill>
                <a:srgbClr val="FF0000"/>
              </a:solidFill>
              <a:latin typeface="黑体" panose="02010609060101010101" charset="-122"/>
              <a:ea typeface="黑体" panose="02010609060101010101" charset="-122"/>
            </a:endParaRPr>
          </a:p>
        </p:txBody>
      </p:sp>
      <p:sp>
        <p:nvSpPr>
          <p:cNvPr id="12" name="矩形 11"/>
          <p:cNvSpPr/>
          <p:nvPr/>
        </p:nvSpPr>
        <p:spPr>
          <a:xfrm>
            <a:off x="2738817" y="4821384"/>
            <a:ext cx="454659" cy="504369"/>
          </a:xfrm>
          <a:prstGeom prst="rect">
            <a:avLst/>
          </a:prstGeom>
        </p:spPr>
        <p:txBody>
          <a:bodyPr wrap="square">
            <a:spAutoFit/>
          </a:bodyPr>
          <a:lstStyle/>
          <a:p>
            <a:pPr>
              <a:lnSpc>
                <a:spcPct val="130000"/>
              </a:lnSpc>
            </a:pPr>
            <a:r>
              <a:rPr lang="en-US" altLang="zh-CN" sz="2400" dirty="0">
                <a:solidFill>
                  <a:srgbClr val="FF0000"/>
                </a:solidFill>
                <a:latin typeface="黑体" panose="02010609060101010101" charset="-122"/>
                <a:ea typeface="黑体" panose="02010609060101010101" charset="-122"/>
              </a:rPr>
              <a:t>A</a:t>
            </a:r>
            <a:endParaRPr lang="en-US" altLang="zh-CN" sz="2400" dirty="0">
              <a:solidFill>
                <a:srgbClr val="FF0000"/>
              </a:solidFill>
              <a:latin typeface="黑体" panose="02010609060101010101" charset="-122"/>
              <a:ea typeface="黑体" panose="02010609060101010101" charset="-122"/>
            </a:endParaRPr>
          </a:p>
        </p:txBody>
      </p:sp>
      <p:sp>
        <p:nvSpPr>
          <p:cNvPr id="13" name="椭圆 12"/>
          <p:cNvSpPr/>
          <p:nvPr/>
        </p:nvSpPr>
        <p:spPr>
          <a:xfrm>
            <a:off x="6664038" y="3616036"/>
            <a:ext cx="1330036" cy="928256"/>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1000"/>
                                        <p:tgtEl>
                                          <p:spTgt spid="3"/>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500"/>
                                        <p:tgtEl>
                                          <p:spTgt spid="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par>
                          <p:cTn id="22" fill="hold">
                            <p:stCondLst>
                              <p:cond delay="500"/>
                            </p:stCondLst>
                            <p:childTnLst>
                              <p:par>
                                <p:cTn id="23" presetID="10" presetClass="entr" presetSubtype="0" fill="hold" grpId="0" nodeType="afterEffect">
                                  <p:stCondLst>
                                    <p:cond delay="50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1">
                                            <p:txEl>
                                              <p:pRg st="0" end="0"/>
                                            </p:txEl>
                                          </p:spTgt>
                                        </p:tgtEl>
                                        <p:attrNameLst>
                                          <p:attrName>style.visibility</p:attrName>
                                        </p:attrNameLst>
                                      </p:cBhvr>
                                      <p:to>
                                        <p:strVal val="visible"/>
                                      </p:to>
                                    </p:set>
                                    <p:animEffect transition="in" filter="fade">
                                      <p:cBhvr>
                                        <p:cTn id="30" dur="500"/>
                                        <p:tgtEl>
                                          <p:spTgt spid="11">
                                            <p:txEl>
                                              <p:pRg st="0" end="0"/>
                                            </p:txEl>
                                          </p:spTgt>
                                        </p:tgtEl>
                                      </p:cBhvr>
                                    </p:animEffect>
                                  </p:childTnLst>
                                </p:cTn>
                              </p:par>
                            </p:childTnLst>
                          </p:cTn>
                        </p:par>
                        <p:par>
                          <p:cTn id="31" fill="hold">
                            <p:stCondLst>
                              <p:cond delay="500"/>
                            </p:stCondLst>
                            <p:childTnLst>
                              <p:par>
                                <p:cTn id="32" presetID="10" presetClass="entr" presetSubtype="0" fill="hold" grpId="0" nodeType="after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animEffect transition="in" filter="fade">
                                      <p:cBhvr>
                                        <p:cTn id="39"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8036" y="1036627"/>
            <a:ext cx="8007928" cy="2595839"/>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zh-CN" altLang="en-US" sz="2800" dirty="0">
                <a:solidFill>
                  <a:prstClr val="black"/>
                </a:solidFill>
                <a:latin typeface="Times New Roman" panose="02020603050405020304"/>
                <a:ea typeface="黑体" panose="02010609060101010101" charset="-122"/>
              </a:rPr>
              <a:t>最大最小搜索算法，实际上是先生成一棵博弈树，然后再计算其倒推值。该做法效率较低。</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Arial" panose="020B0604020202020204" pitchFamily="34" charset="0"/>
              <a:buChar char="•"/>
            </a:pPr>
            <a:r>
              <a:rPr lang="zh-CN" altLang="en-US" sz="2800" dirty="0">
                <a:solidFill>
                  <a:prstClr val="black"/>
                </a:solidFill>
                <a:latin typeface="Times New Roman" panose="02020603050405020304"/>
                <a:ea typeface="黑体" panose="02010609060101010101" charset="-122"/>
              </a:rPr>
              <a:t>在此基础上，提出了</a:t>
            </a:r>
            <a:r>
              <a:rPr lang="en-US" altLang="zh-CN" sz="2800" dirty="0">
                <a:solidFill>
                  <a:srgbClr val="FF0000"/>
                </a:solidFill>
                <a:latin typeface="Times New Roman" panose="02020603050405020304"/>
                <a:ea typeface="黑体" panose="02010609060101010101" charset="-122"/>
              </a:rPr>
              <a:t>Alpha-Beta</a:t>
            </a:r>
            <a:r>
              <a:rPr lang="zh-CN" altLang="en-US" sz="2800" dirty="0">
                <a:solidFill>
                  <a:srgbClr val="FF0000"/>
                </a:solidFill>
                <a:latin typeface="Times New Roman" panose="02020603050405020304"/>
                <a:ea typeface="黑体" panose="02010609060101010101" charset="-122"/>
              </a:rPr>
              <a:t>（</a:t>
            </a:r>
            <a:r>
              <a:rPr lang="el-GR" altLang="zh-CN" sz="2800" dirty="0">
                <a:solidFill>
                  <a:srgbClr val="FF0000"/>
                </a:solidFill>
                <a:latin typeface="Times New Roman" panose="02020603050405020304"/>
                <a:ea typeface="黑体" panose="02010609060101010101" charset="-122"/>
              </a:rPr>
              <a:t>α</a:t>
            </a:r>
            <a:r>
              <a:rPr lang="en-US" altLang="zh-CN" sz="2800" dirty="0">
                <a:solidFill>
                  <a:srgbClr val="FF0000"/>
                </a:solidFill>
                <a:latin typeface="Times New Roman" panose="02020603050405020304"/>
                <a:ea typeface="黑体" panose="02010609060101010101" charset="-122"/>
              </a:rPr>
              <a:t>-</a:t>
            </a:r>
            <a:r>
              <a:rPr lang="el-GR" altLang="zh-CN" sz="2800" dirty="0">
                <a:solidFill>
                  <a:srgbClr val="FF0000"/>
                </a:solidFill>
                <a:latin typeface="Times New Roman" panose="02020603050405020304"/>
                <a:ea typeface="黑体" panose="02010609060101010101" charset="-122"/>
              </a:rPr>
              <a:t>β</a:t>
            </a:r>
            <a:r>
              <a:rPr lang="zh-CN" altLang="en-US" sz="2800" dirty="0">
                <a:solidFill>
                  <a:srgbClr val="FF0000"/>
                </a:solidFill>
                <a:latin typeface="Times New Roman" panose="02020603050405020304"/>
                <a:ea typeface="黑体" panose="02010609060101010101" charset="-122"/>
              </a:rPr>
              <a:t>）剪枝</a:t>
            </a:r>
            <a:r>
              <a:rPr lang="zh-CN" altLang="en-US" sz="2800" dirty="0">
                <a:solidFill>
                  <a:prstClr val="black"/>
                </a:solidFill>
                <a:latin typeface="Times New Roman" panose="02020603050405020304"/>
                <a:ea typeface="黑体" panose="02010609060101010101" charset="-122"/>
              </a:rPr>
              <a:t>搜索技术。</a:t>
            </a:r>
            <a:endParaRPr lang="zh-CN" altLang="zh-CN" sz="2800" dirty="0">
              <a:solidFill>
                <a:prstClr val="black"/>
              </a:solidFill>
              <a:latin typeface="Times New Roman" panose="02020603050405020304"/>
              <a:ea typeface="黑体" panose="02010609060101010101" charset="-122"/>
            </a:endParaRPr>
          </a:p>
        </p:txBody>
      </p:sp>
      <p:sp>
        <p:nvSpPr>
          <p:cNvPr id="11"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对抗搜索：最小最大搜索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75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8" name="矩形 7"/>
          <p:cNvSpPr/>
          <p:nvPr/>
        </p:nvSpPr>
        <p:spPr>
          <a:xfrm>
            <a:off x="568036" y="1036626"/>
            <a:ext cx="8007928" cy="5181162"/>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altLang="zh-CN" sz="2800" dirty="0">
                <a:solidFill>
                  <a:prstClr val="black"/>
                </a:solidFill>
                <a:latin typeface="Times New Roman" panose="02020603050405020304"/>
                <a:ea typeface="黑体" panose="02010609060101010101" charset="-122"/>
              </a:rPr>
              <a:t>Alpha-Beta</a:t>
            </a:r>
            <a:r>
              <a:rPr lang="zh-CN" altLang="en-US" sz="2800" dirty="0">
                <a:solidFill>
                  <a:prstClr val="black"/>
                </a:solidFill>
                <a:latin typeface="Times New Roman" panose="02020603050405020304"/>
                <a:ea typeface="黑体" panose="02010609060101010101" charset="-122"/>
              </a:rPr>
              <a:t>剪枝搜索算法在</a:t>
            </a:r>
            <a:r>
              <a:rPr lang="en-US" altLang="zh-CN" sz="2800" dirty="0">
                <a:solidFill>
                  <a:prstClr val="black"/>
                </a:solidFill>
                <a:latin typeface="Times New Roman" panose="02020603050405020304"/>
                <a:ea typeface="黑体" panose="02010609060101010101" charset="-122"/>
              </a:rPr>
              <a:t>Minimax</a:t>
            </a:r>
            <a:r>
              <a:rPr lang="zh-CN" altLang="en-US" sz="2800" dirty="0">
                <a:solidFill>
                  <a:prstClr val="black"/>
                </a:solidFill>
                <a:latin typeface="Times New Roman" panose="02020603050405020304"/>
                <a:ea typeface="黑体" panose="02010609060101010101" charset="-122"/>
              </a:rPr>
              <a:t>算法中</a:t>
            </a:r>
            <a:r>
              <a:rPr lang="zh-CN" altLang="en-US" sz="2800" dirty="0">
                <a:solidFill>
                  <a:srgbClr val="FF0000"/>
                </a:solidFill>
                <a:latin typeface="Times New Roman" panose="02020603050405020304"/>
                <a:ea typeface="黑体" panose="02010609060101010101" charset="-122"/>
              </a:rPr>
              <a:t>减少被搜索的节点数</a:t>
            </a:r>
            <a:r>
              <a:rPr lang="zh-CN" altLang="en-US" sz="2800" dirty="0">
                <a:solidFill>
                  <a:prstClr val="black"/>
                </a:solidFill>
                <a:latin typeface="Times New Roman" panose="02020603050405020304"/>
                <a:ea typeface="黑体" panose="02010609060101010101" charset="-122"/>
              </a:rPr>
              <a:t>，即保证得到与原</a:t>
            </a:r>
            <a:r>
              <a:rPr lang="en-US" altLang="zh-CN" sz="2800" dirty="0">
                <a:solidFill>
                  <a:prstClr val="black"/>
                </a:solidFill>
                <a:latin typeface="Times New Roman" panose="02020603050405020304"/>
                <a:ea typeface="黑体" panose="02010609060101010101" charset="-122"/>
              </a:rPr>
              <a:t>Minimax</a:t>
            </a:r>
            <a:r>
              <a:rPr lang="zh-CN" altLang="en-US" sz="2800" dirty="0">
                <a:solidFill>
                  <a:prstClr val="black"/>
                </a:solidFill>
                <a:latin typeface="Times New Roman" panose="02020603050405020304"/>
                <a:ea typeface="黑体" panose="02010609060101010101" charset="-122"/>
              </a:rPr>
              <a:t>算法同样的搜索结果，剪去不影响最终结果的搜索分枝。</a:t>
            </a:r>
            <a:endParaRPr lang="en-US" altLang="zh-CN" sz="2800" dirty="0">
              <a:solidFill>
                <a:prstClr val="black"/>
              </a:solidFill>
              <a:latin typeface="Times New Roman" panose="02020603050405020304"/>
              <a:ea typeface="黑体" panose="02010609060101010101" charset="-122"/>
            </a:endParaRPr>
          </a:p>
          <a:p>
            <a:pPr marL="457200" indent="-457200" algn="just">
              <a:lnSpc>
                <a:spcPct val="150000"/>
              </a:lnSpc>
              <a:buFont typeface="Arial" panose="020B0604020202020204" pitchFamily="34" charset="0"/>
              <a:buChar char="•"/>
            </a:pPr>
            <a:r>
              <a:rPr lang="zh-CN" altLang="en-US" sz="2800" dirty="0">
                <a:solidFill>
                  <a:srgbClr val="FF0000"/>
                </a:solidFill>
                <a:latin typeface="Times New Roman" panose="02020603050405020304"/>
                <a:ea typeface="黑体" panose="02010609060101010101" charset="-122"/>
              </a:rPr>
              <a:t>基本思想：</a:t>
            </a:r>
            <a:r>
              <a:rPr lang="zh-CN" altLang="en-US" sz="2800" dirty="0">
                <a:solidFill>
                  <a:prstClr val="black"/>
                </a:solidFill>
                <a:latin typeface="Times New Roman" panose="02020603050405020304"/>
                <a:ea typeface="黑体" panose="02010609060101010101" charset="-122"/>
              </a:rPr>
              <a:t>边生成博弈树边计算评估各节点的倒推值，并根据评估出的倒推值范围，及时停止扩展那些已无必要再扩展的子节点，节约机器开销，提高搜索效率。</a:t>
            </a:r>
            <a:endParaRPr lang="zh-CN" altLang="en-US" sz="2800" dirty="0">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75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75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8" name="矩形 7"/>
          <p:cNvSpPr/>
          <p:nvPr/>
        </p:nvSpPr>
        <p:spPr>
          <a:xfrm>
            <a:off x="568036" y="1036627"/>
            <a:ext cx="8007928" cy="4534831"/>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l-GR" altLang="zh-CN" sz="2800" dirty="0">
                <a:solidFill>
                  <a:srgbClr val="FF0000"/>
                </a:solidFill>
                <a:latin typeface="Times New Roman" panose="02020603050405020304"/>
                <a:ea typeface="黑体" panose="02010609060101010101" charset="-122"/>
              </a:rPr>
              <a:t>α</a:t>
            </a:r>
            <a:r>
              <a:rPr lang="en-US" altLang="zh-CN" sz="2800" dirty="0">
                <a:solidFill>
                  <a:srgbClr val="FF0000"/>
                </a:solidFill>
                <a:latin typeface="Times New Roman" panose="02020603050405020304"/>
                <a:ea typeface="黑体" panose="02010609060101010101" charset="-122"/>
              </a:rPr>
              <a:t>-</a:t>
            </a:r>
            <a:r>
              <a:rPr lang="el-GR" altLang="zh-CN" sz="2800" dirty="0">
                <a:solidFill>
                  <a:srgbClr val="FF0000"/>
                </a:solidFill>
                <a:latin typeface="Times New Roman" panose="02020603050405020304"/>
                <a:ea typeface="黑体" panose="02010609060101010101" charset="-122"/>
              </a:rPr>
              <a:t>β</a:t>
            </a:r>
            <a:r>
              <a:rPr lang="zh-CN" altLang="en-US" sz="2800" dirty="0">
                <a:solidFill>
                  <a:srgbClr val="FF0000"/>
                </a:solidFill>
                <a:latin typeface="Times New Roman" panose="02020603050405020304"/>
                <a:ea typeface="黑体" panose="02010609060101010101" charset="-122"/>
              </a:rPr>
              <a:t>剪枝方法：</a:t>
            </a:r>
            <a:endParaRPr lang="en-US" altLang="zh-CN" sz="2800" dirty="0">
              <a:solidFill>
                <a:srgbClr val="FF0000"/>
              </a:solidFill>
              <a:latin typeface="Times New Roman" panose="02020603050405020304"/>
              <a:ea typeface="黑体" panose="02010609060101010101" charset="-122"/>
            </a:endParaRPr>
          </a:p>
          <a:p>
            <a:pPr algn="just">
              <a:lnSpc>
                <a:spcPct val="150000"/>
              </a:lnSpc>
            </a:pPr>
            <a:r>
              <a:rPr lang="zh-CN" altLang="en-US" sz="2800" dirty="0">
                <a:solidFill>
                  <a:prstClr val="black"/>
                </a:solidFill>
                <a:latin typeface="Times New Roman" panose="02020603050405020304"/>
                <a:ea typeface="黑体" panose="02010609060101010101" charset="-122"/>
              </a:rPr>
              <a:t>（</a:t>
            </a:r>
            <a:r>
              <a:rPr lang="en-US" altLang="zh-CN" sz="2800" dirty="0">
                <a:solidFill>
                  <a:prstClr val="black"/>
                </a:solidFill>
                <a:latin typeface="Times New Roman" panose="02020603050405020304"/>
                <a:ea typeface="黑体" panose="02010609060101010101" charset="-122"/>
              </a:rPr>
              <a:t>1</a:t>
            </a:r>
            <a:r>
              <a:rPr lang="zh-CN" altLang="en-US" sz="2800" dirty="0">
                <a:solidFill>
                  <a:prstClr val="black"/>
                </a:solidFill>
                <a:latin typeface="Times New Roman" panose="02020603050405020304"/>
                <a:ea typeface="黑体" panose="02010609060101010101" charset="-122"/>
              </a:rPr>
              <a:t>）对于一个与节点</a:t>
            </a:r>
            <a:r>
              <a:rPr lang="en-US" altLang="zh-CN" sz="2800" dirty="0">
                <a:solidFill>
                  <a:prstClr val="black"/>
                </a:solidFill>
                <a:latin typeface="Times New Roman" panose="02020603050405020304"/>
                <a:ea typeface="黑体" panose="02010609060101010101" charset="-122"/>
              </a:rPr>
              <a:t>Min</a:t>
            </a:r>
            <a:r>
              <a:rPr lang="zh-CN" altLang="en-US" sz="2800" dirty="0">
                <a:solidFill>
                  <a:prstClr val="black"/>
                </a:solidFill>
                <a:latin typeface="Times New Roman" panose="02020603050405020304"/>
                <a:ea typeface="黑体" panose="02010609060101010101" charset="-122"/>
              </a:rPr>
              <a:t>，若能估计出其倒推值的上确界</a:t>
            </a:r>
            <a:r>
              <a:rPr lang="el-GR" altLang="zh-CN" sz="2800" dirty="0">
                <a:solidFill>
                  <a:prstClr val="black"/>
                </a:solidFill>
                <a:latin typeface="Times New Roman" panose="02020603050405020304"/>
                <a:ea typeface="黑体" panose="02010609060101010101" charset="-122"/>
              </a:rPr>
              <a:t>β</a:t>
            </a:r>
            <a:r>
              <a:rPr lang="zh-CN" altLang="en-US" sz="2800" dirty="0">
                <a:solidFill>
                  <a:prstClr val="black"/>
                </a:solidFill>
                <a:latin typeface="Times New Roman" panose="02020603050405020304"/>
                <a:ea typeface="黑体" panose="02010609060101010101" charset="-122"/>
              </a:rPr>
              <a:t>，并且这个</a:t>
            </a:r>
            <a:r>
              <a:rPr lang="el-GR" altLang="zh-CN" sz="2800" dirty="0">
                <a:solidFill>
                  <a:prstClr val="black"/>
                </a:solidFill>
                <a:latin typeface="Times New Roman" panose="02020603050405020304"/>
                <a:ea typeface="黑体" panose="02010609060101010101" charset="-122"/>
              </a:rPr>
              <a:t>β</a:t>
            </a:r>
            <a:r>
              <a:rPr lang="zh-CN" altLang="en-US" sz="2800" dirty="0">
                <a:solidFill>
                  <a:prstClr val="black"/>
                </a:solidFill>
                <a:latin typeface="Times New Roman" panose="02020603050405020304"/>
                <a:ea typeface="黑体" panose="02010609060101010101" charset="-122"/>
              </a:rPr>
              <a:t>值不大于</a:t>
            </a:r>
            <a:r>
              <a:rPr lang="en-US" altLang="zh-CN" sz="2800" dirty="0">
                <a:solidFill>
                  <a:prstClr val="black"/>
                </a:solidFill>
                <a:latin typeface="Times New Roman" panose="02020603050405020304"/>
                <a:ea typeface="黑体" panose="02010609060101010101" charset="-122"/>
              </a:rPr>
              <a:t>Min</a:t>
            </a:r>
            <a:r>
              <a:rPr lang="zh-CN" altLang="en-US" sz="2800" dirty="0">
                <a:solidFill>
                  <a:prstClr val="black"/>
                </a:solidFill>
                <a:latin typeface="Times New Roman" panose="02020603050405020304"/>
                <a:ea typeface="黑体" panose="02010609060101010101" charset="-122"/>
              </a:rPr>
              <a:t>的父节点（一定是或节点）的估计倒推值的下确界</a:t>
            </a:r>
            <a:r>
              <a:rPr lang="el-GR" altLang="zh-CN" sz="2800" dirty="0">
                <a:solidFill>
                  <a:prstClr val="black"/>
                </a:solidFill>
                <a:latin typeface="Times New Roman" panose="02020603050405020304"/>
                <a:ea typeface="黑体" panose="02010609060101010101" charset="-122"/>
              </a:rPr>
              <a:t>α</a:t>
            </a:r>
            <a:r>
              <a:rPr lang="zh-CN" altLang="en-US" sz="2800" dirty="0">
                <a:solidFill>
                  <a:prstClr val="black"/>
                </a:solidFill>
                <a:latin typeface="Times New Roman" panose="02020603050405020304"/>
                <a:ea typeface="黑体" panose="02010609060101010101" charset="-122"/>
              </a:rPr>
              <a:t>，即</a:t>
            </a:r>
            <a:r>
              <a:rPr lang="el-GR" altLang="zh-CN" sz="2800" dirty="0">
                <a:solidFill>
                  <a:prstClr val="black"/>
                </a:solidFill>
                <a:latin typeface="Times New Roman" panose="02020603050405020304"/>
                <a:ea typeface="黑体" panose="02010609060101010101" charset="-122"/>
              </a:rPr>
              <a:t>α≥β</a:t>
            </a:r>
            <a:r>
              <a:rPr lang="zh-CN" altLang="en-US" sz="2800" dirty="0">
                <a:solidFill>
                  <a:prstClr val="black"/>
                </a:solidFill>
                <a:latin typeface="Times New Roman" panose="02020603050405020304"/>
                <a:ea typeface="黑体" panose="02010609060101010101" charset="-122"/>
              </a:rPr>
              <a:t>，则不必再扩展该</a:t>
            </a:r>
            <a:r>
              <a:rPr lang="en-US" altLang="zh-CN" sz="2800" dirty="0">
                <a:solidFill>
                  <a:prstClr val="black"/>
                </a:solidFill>
                <a:latin typeface="Times New Roman" panose="02020603050405020304"/>
                <a:ea typeface="黑体" panose="02010609060101010101" charset="-122"/>
              </a:rPr>
              <a:t>Min</a:t>
            </a:r>
            <a:r>
              <a:rPr lang="zh-CN" altLang="en-US" sz="2800" dirty="0">
                <a:solidFill>
                  <a:prstClr val="black"/>
                </a:solidFill>
                <a:latin typeface="Times New Roman" panose="02020603050405020304"/>
                <a:ea typeface="黑体" panose="02010609060101010101" charset="-122"/>
              </a:rPr>
              <a:t>节点的其余子节点。</a:t>
            </a:r>
            <a:endParaRPr lang="en-US" altLang="zh-CN" sz="2800">
              <a:solidFill>
                <a:prstClr val="black"/>
              </a:solidFill>
              <a:latin typeface="Times New Roman" panose="02020603050405020304"/>
              <a:ea typeface="黑体" panose="02010609060101010101" charset="-122"/>
            </a:endParaRPr>
          </a:p>
          <a:p>
            <a:pPr algn="just">
              <a:lnSpc>
                <a:spcPct val="150000"/>
              </a:lnSpc>
            </a:pPr>
            <a:r>
              <a:rPr lang="zh-CN" altLang="en-US" sz="2800">
                <a:solidFill>
                  <a:prstClr val="black"/>
                </a:solidFill>
                <a:latin typeface="Times New Roman" panose="02020603050405020304"/>
                <a:ea typeface="黑体" panose="02010609060101010101" charset="-122"/>
              </a:rPr>
              <a:t>（</a:t>
            </a:r>
            <a:r>
              <a:rPr lang="zh-CN" altLang="en-US" sz="2800" dirty="0">
                <a:solidFill>
                  <a:prstClr val="black"/>
                </a:solidFill>
                <a:latin typeface="Times New Roman" panose="02020603050405020304"/>
                <a:ea typeface="黑体" panose="02010609060101010101" charset="-122"/>
              </a:rPr>
              <a:t>因为这些节点的估值对</a:t>
            </a:r>
            <a:r>
              <a:rPr lang="en-US" altLang="zh-CN" sz="2800" dirty="0">
                <a:solidFill>
                  <a:prstClr val="black"/>
                </a:solidFill>
                <a:latin typeface="Times New Roman" panose="02020603050405020304"/>
                <a:ea typeface="黑体" panose="02010609060101010101" charset="-122"/>
              </a:rPr>
              <a:t>Min</a:t>
            </a:r>
            <a:r>
              <a:rPr lang="zh-CN" altLang="en-US" sz="2800" dirty="0">
                <a:solidFill>
                  <a:prstClr val="black"/>
                </a:solidFill>
                <a:latin typeface="Times New Roman" panose="02020603050405020304"/>
                <a:ea typeface="黑体" panose="02010609060101010101" charset="-122"/>
              </a:rPr>
              <a:t>父节点的倒推值已无任何影响）。这一过程称为</a:t>
            </a:r>
            <a:r>
              <a:rPr lang="el-GR" altLang="zh-CN" sz="2800" dirty="0">
                <a:solidFill>
                  <a:prstClr val="black"/>
                </a:solidFill>
                <a:latin typeface="Times New Roman" panose="02020603050405020304"/>
                <a:ea typeface="黑体" panose="02010609060101010101" charset="-122"/>
              </a:rPr>
              <a:t>α</a:t>
            </a:r>
            <a:r>
              <a:rPr lang="zh-CN" altLang="en-US" sz="2800" dirty="0">
                <a:solidFill>
                  <a:prstClr val="black"/>
                </a:solidFill>
                <a:latin typeface="Times New Roman" panose="02020603050405020304"/>
                <a:ea typeface="黑体" panose="02010609060101010101" charset="-122"/>
              </a:rPr>
              <a:t>剪枝。</a:t>
            </a:r>
            <a:endParaRPr lang="zh-CN" altLang="en-US" sz="2800" dirty="0">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75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75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75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8" name="矩形 7"/>
          <p:cNvSpPr/>
          <p:nvPr/>
        </p:nvSpPr>
        <p:spPr>
          <a:xfrm>
            <a:off x="568036" y="1036627"/>
            <a:ext cx="8007928" cy="4534831"/>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l-GR" altLang="zh-CN" sz="2800" dirty="0">
                <a:solidFill>
                  <a:srgbClr val="FF0000"/>
                </a:solidFill>
                <a:latin typeface="Times New Roman" panose="02020603050405020304"/>
                <a:ea typeface="黑体" panose="02010609060101010101" charset="-122"/>
              </a:rPr>
              <a:t>α</a:t>
            </a:r>
            <a:r>
              <a:rPr lang="en-US" altLang="zh-CN" sz="2800" dirty="0">
                <a:solidFill>
                  <a:srgbClr val="FF0000"/>
                </a:solidFill>
                <a:latin typeface="Times New Roman" panose="02020603050405020304"/>
                <a:ea typeface="黑体" panose="02010609060101010101" charset="-122"/>
              </a:rPr>
              <a:t>-</a:t>
            </a:r>
            <a:r>
              <a:rPr lang="el-GR" altLang="zh-CN" sz="2800" dirty="0">
                <a:solidFill>
                  <a:srgbClr val="FF0000"/>
                </a:solidFill>
                <a:latin typeface="Times New Roman" panose="02020603050405020304"/>
                <a:ea typeface="黑体" panose="02010609060101010101" charset="-122"/>
              </a:rPr>
              <a:t>β</a:t>
            </a:r>
            <a:r>
              <a:rPr lang="zh-CN" altLang="en-US" sz="2800" dirty="0">
                <a:solidFill>
                  <a:srgbClr val="FF0000"/>
                </a:solidFill>
                <a:latin typeface="Times New Roman" panose="02020603050405020304"/>
                <a:ea typeface="黑体" panose="02010609060101010101" charset="-122"/>
              </a:rPr>
              <a:t>剪枝方法：</a:t>
            </a:r>
            <a:endParaRPr lang="en-US" altLang="zh-CN" sz="2800" dirty="0">
              <a:solidFill>
                <a:srgbClr val="FF0000"/>
              </a:solidFill>
              <a:latin typeface="Times New Roman" panose="02020603050405020304"/>
              <a:ea typeface="黑体" panose="02010609060101010101" charset="-122"/>
            </a:endParaRPr>
          </a:p>
          <a:p>
            <a:pPr algn="just">
              <a:lnSpc>
                <a:spcPct val="150000"/>
              </a:lnSpc>
            </a:pPr>
            <a:r>
              <a:rPr lang="zh-CN" altLang="en-US" sz="2800" dirty="0">
                <a:solidFill>
                  <a:prstClr val="black"/>
                </a:solidFill>
                <a:latin typeface="Times New Roman" panose="02020603050405020304"/>
                <a:ea typeface="黑体" panose="02010609060101010101" charset="-122"/>
              </a:rPr>
              <a:t>（</a:t>
            </a:r>
            <a:r>
              <a:rPr lang="en-US" altLang="zh-CN" sz="2800" dirty="0">
                <a:solidFill>
                  <a:prstClr val="black"/>
                </a:solidFill>
                <a:latin typeface="Times New Roman" panose="02020603050405020304"/>
                <a:ea typeface="黑体" panose="02010609060101010101" charset="-122"/>
              </a:rPr>
              <a:t>2</a:t>
            </a:r>
            <a:r>
              <a:rPr lang="zh-CN" altLang="en-US" sz="2800" dirty="0">
                <a:solidFill>
                  <a:prstClr val="black"/>
                </a:solidFill>
                <a:latin typeface="Times New Roman" panose="02020603050405020304"/>
                <a:ea typeface="黑体" panose="02010609060101010101" charset="-122"/>
              </a:rPr>
              <a:t>）对于一个与节点</a:t>
            </a:r>
            <a:r>
              <a:rPr lang="en-US" altLang="zh-CN" sz="2800" dirty="0">
                <a:solidFill>
                  <a:prstClr val="black"/>
                </a:solidFill>
                <a:latin typeface="Times New Roman" panose="02020603050405020304"/>
                <a:ea typeface="黑体" panose="02010609060101010101" charset="-122"/>
              </a:rPr>
              <a:t>Max</a:t>
            </a:r>
            <a:r>
              <a:rPr lang="zh-CN" altLang="en-US" sz="2800" dirty="0">
                <a:solidFill>
                  <a:prstClr val="black"/>
                </a:solidFill>
                <a:latin typeface="Times New Roman" panose="02020603050405020304"/>
                <a:ea typeface="黑体" panose="02010609060101010101" charset="-122"/>
              </a:rPr>
              <a:t>，若能估计出其倒推值的下确界</a:t>
            </a:r>
            <a:r>
              <a:rPr lang="el-GR" altLang="zh-CN" sz="2800" dirty="0">
                <a:solidFill>
                  <a:prstClr val="black"/>
                </a:solidFill>
                <a:latin typeface="Times New Roman" panose="02020603050405020304"/>
                <a:ea typeface="黑体" panose="02010609060101010101" charset="-122"/>
              </a:rPr>
              <a:t>α</a:t>
            </a:r>
            <a:r>
              <a:rPr lang="zh-CN" altLang="en-US" sz="2800" dirty="0">
                <a:solidFill>
                  <a:prstClr val="black"/>
                </a:solidFill>
                <a:latin typeface="Times New Roman" panose="02020603050405020304"/>
                <a:ea typeface="黑体" panose="02010609060101010101" charset="-122"/>
              </a:rPr>
              <a:t>，并且这个</a:t>
            </a:r>
            <a:r>
              <a:rPr lang="el-GR" altLang="zh-CN" sz="2800" dirty="0">
                <a:solidFill>
                  <a:prstClr val="black"/>
                </a:solidFill>
                <a:latin typeface="Times New Roman" panose="02020603050405020304"/>
                <a:ea typeface="黑体" panose="02010609060101010101" charset="-122"/>
              </a:rPr>
              <a:t>α</a:t>
            </a:r>
            <a:r>
              <a:rPr lang="zh-CN" altLang="en-US" sz="2800" dirty="0">
                <a:solidFill>
                  <a:prstClr val="black"/>
                </a:solidFill>
                <a:latin typeface="Times New Roman" panose="02020603050405020304"/>
                <a:ea typeface="黑体" panose="02010609060101010101" charset="-122"/>
              </a:rPr>
              <a:t>值不小于</a:t>
            </a:r>
            <a:r>
              <a:rPr lang="en-US" altLang="zh-CN" sz="2800" dirty="0">
                <a:solidFill>
                  <a:prstClr val="black"/>
                </a:solidFill>
                <a:latin typeface="Times New Roman" panose="02020603050405020304"/>
                <a:ea typeface="黑体" panose="02010609060101010101" charset="-122"/>
              </a:rPr>
              <a:t>Max</a:t>
            </a:r>
            <a:r>
              <a:rPr lang="zh-CN" altLang="en-US" sz="2800" dirty="0">
                <a:solidFill>
                  <a:prstClr val="black"/>
                </a:solidFill>
                <a:latin typeface="Times New Roman" panose="02020603050405020304"/>
                <a:ea typeface="黑体" panose="02010609060101010101" charset="-122"/>
              </a:rPr>
              <a:t>的父节点（一定是与节点）的估计倒推值的上确界</a:t>
            </a:r>
            <a:r>
              <a:rPr lang="el-GR" altLang="zh-CN" sz="2800" dirty="0">
                <a:solidFill>
                  <a:prstClr val="black"/>
                </a:solidFill>
                <a:latin typeface="Times New Roman" panose="02020603050405020304"/>
                <a:ea typeface="黑体" panose="02010609060101010101" charset="-122"/>
              </a:rPr>
              <a:t>β</a:t>
            </a:r>
            <a:r>
              <a:rPr lang="zh-CN" altLang="en-US" sz="2800" dirty="0">
                <a:solidFill>
                  <a:prstClr val="black"/>
                </a:solidFill>
                <a:latin typeface="Times New Roman" panose="02020603050405020304"/>
                <a:ea typeface="黑体" panose="02010609060101010101" charset="-122"/>
              </a:rPr>
              <a:t>，即</a:t>
            </a:r>
            <a:r>
              <a:rPr lang="el-GR" altLang="zh-CN" sz="2800" dirty="0">
                <a:solidFill>
                  <a:prstClr val="black"/>
                </a:solidFill>
                <a:latin typeface="Times New Roman" panose="02020603050405020304"/>
                <a:ea typeface="黑体" panose="02010609060101010101" charset="-122"/>
              </a:rPr>
              <a:t>α≥β</a:t>
            </a:r>
            <a:r>
              <a:rPr lang="zh-CN" altLang="en-US" sz="2800" dirty="0">
                <a:solidFill>
                  <a:prstClr val="black"/>
                </a:solidFill>
                <a:latin typeface="Times New Roman" panose="02020603050405020304"/>
                <a:ea typeface="黑体" panose="02010609060101010101" charset="-122"/>
              </a:rPr>
              <a:t>，则不必再扩展该</a:t>
            </a:r>
            <a:r>
              <a:rPr lang="en-US" altLang="zh-CN" sz="2800" dirty="0">
                <a:solidFill>
                  <a:prstClr val="black"/>
                </a:solidFill>
                <a:latin typeface="Times New Roman" panose="02020603050405020304"/>
                <a:ea typeface="黑体" panose="02010609060101010101" charset="-122"/>
              </a:rPr>
              <a:t>Max</a:t>
            </a:r>
            <a:r>
              <a:rPr lang="zh-CN" altLang="en-US" sz="2800" dirty="0">
                <a:solidFill>
                  <a:prstClr val="black"/>
                </a:solidFill>
                <a:latin typeface="Times New Roman" panose="02020603050405020304"/>
                <a:ea typeface="黑体" panose="02010609060101010101" charset="-122"/>
              </a:rPr>
              <a:t>节点的其余子节点。</a:t>
            </a:r>
            <a:endParaRPr lang="en-US" altLang="zh-CN" sz="2800" dirty="0">
              <a:solidFill>
                <a:prstClr val="black"/>
              </a:solidFill>
              <a:latin typeface="Times New Roman" panose="02020603050405020304"/>
              <a:ea typeface="黑体" panose="02010609060101010101" charset="-122"/>
            </a:endParaRPr>
          </a:p>
          <a:p>
            <a:pPr algn="just">
              <a:lnSpc>
                <a:spcPct val="150000"/>
              </a:lnSpc>
            </a:pPr>
            <a:r>
              <a:rPr lang="zh-CN" altLang="en-US" sz="2800" dirty="0">
                <a:solidFill>
                  <a:prstClr val="black"/>
                </a:solidFill>
                <a:latin typeface="Times New Roman" panose="02020603050405020304"/>
                <a:ea typeface="黑体" panose="02010609060101010101" charset="-122"/>
              </a:rPr>
              <a:t>（因为这些节点的估值对</a:t>
            </a:r>
            <a:r>
              <a:rPr lang="en-US" altLang="zh-CN" sz="2800" dirty="0">
                <a:solidFill>
                  <a:prstClr val="black"/>
                </a:solidFill>
                <a:latin typeface="Times New Roman" panose="02020603050405020304"/>
                <a:ea typeface="黑体" panose="02010609060101010101" charset="-122"/>
              </a:rPr>
              <a:t>Max</a:t>
            </a:r>
            <a:r>
              <a:rPr lang="zh-CN" altLang="en-US" sz="2800" dirty="0">
                <a:solidFill>
                  <a:prstClr val="black"/>
                </a:solidFill>
                <a:latin typeface="Times New Roman" panose="02020603050405020304"/>
                <a:ea typeface="黑体" panose="02010609060101010101" charset="-122"/>
              </a:rPr>
              <a:t>父节点的倒推值已无任何影响）。这一过程称为</a:t>
            </a:r>
            <a:r>
              <a:rPr lang="el-GR" altLang="zh-CN" sz="2800" dirty="0">
                <a:solidFill>
                  <a:prstClr val="black"/>
                </a:solidFill>
                <a:latin typeface="Times New Roman" panose="02020603050405020304"/>
                <a:ea typeface="黑体" panose="02010609060101010101" charset="-122"/>
              </a:rPr>
              <a:t>β</a:t>
            </a:r>
            <a:r>
              <a:rPr lang="zh-CN" altLang="en-US" sz="2800" dirty="0">
                <a:solidFill>
                  <a:prstClr val="black"/>
                </a:solidFill>
                <a:latin typeface="Times New Roman" panose="02020603050405020304"/>
                <a:ea typeface="黑体" panose="02010609060101010101" charset="-122"/>
              </a:rPr>
              <a:t>剪枝。</a:t>
            </a:r>
            <a:endParaRPr lang="zh-CN" altLang="en-US" sz="2800" dirty="0">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75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75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484420" y="814044"/>
            <a:ext cx="5495407" cy="5351615"/>
          </a:xfrm>
          <a:prstGeom prst="rect">
            <a:avLst/>
          </a:prstGeom>
        </p:spPr>
      </p:pic>
      <p:sp>
        <p:nvSpPr>
          <p:cNvPr id="11"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8" name="矩形 7"/>
          <p:cNvSpPr/>
          <p:nvPr/>
        </p:nvSpPr>
        <p:spPr>
          <a:xfrm>
            <a:off x="568036" y="1036627"/>
            <a:ext cx="8007928" cy="1303177"/>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zh-CN" altLang="en-US" sz="2800" dirty="0">
                <a:solidFill>
                  <a:srgbClr val="FF0000"/>
                </a:solidFill>
                <a:latin typeface="Times New Roman" panose="02020603050405020304"/>
                <a:ea typeface="黑体" panose="02010609060101010101" charset="-122"/>
              </a:rPr>
              <a:t>使用</a:t>
            </a:r>
            <a:r>
              <a:rPr lang="el-GR" altLang="zh-CN" sz="2800" dirty="0">
                <a:solidFill>
                  <a:srgbClr val="FF0000"/>
                </a:solidFill>
                <a:latin typeface="Times New Roman" panose="02020603050405020304"/>
                <a:ea typeface="黑体" panose="02010609060101010101" charset="-122"/>
              </a:rPr>
              <a:t>α</a:t>
            </a:r>
            <a:r>
              <a:rPr lang="en-US" altLang="zh-CN" sz="2800" dirty="0">
                <a:solidFill>
                  <a:srgbClr val="FF0000"/>
                </a:solidFill>
                <a:latin typeface="Times New Roman" panose="02020603050405020304"/>
                <a:ea typeface="黑体" panose="02010609060101010101" charset="-122"/>
              </a:rPr>
              <a:t>-</a:t>
            </a:r>
            <a:r>
              <a:rPr lang="el-GR" altLang="zh-CN" sz="2800" dirty="0">
                <a:solidFill>
                  <a:srgbClr val="FF0000"/>
                </a:solidFill>
                <a:latin typeface="Times New Roman" panose="02020603050405020304"/>
                <a:ea typeface="黑体" panose="02010609060101010101" charset="-122"/>
              </a:rPr>
              <a:t>β</a:t>
            </a:r>
            <a:r>
              <a:rPr lang="zh-CN" altLang="en-US" sz="2800" dirty="0">
                <a:solidFill>
                  <a:srgbClr val="FF0000"/>
                </a:solidFill>
                <a:latin typeface="Times New Roman" panose="02020603050405020304"/>
                <a:ea typeface="黑体" panose="02010609060101010101" charset="-122"/>
              </a:rPr>
              <a:t>剪枝</a:t>
            </a:r>
            <a:endParaRPr lang="en-US" altLang="zh-CN" sz="2800" dirty="0">
              <a:solidFill>
                <a:srgbClr val="FF0000"/>
              </a:solidFill>
              <a:latin typeface="Times New Roman" panose="02020603050405020304"/>
              <a:ea typeface="黑体" panose="02010609060101010101" charset="-122"/>
            </a:endParaRPr>
          </a:p>
          <a:p>
            <a:pPr algn="just">
              <a:lnSpc>
                <a:spcPct val="150000"/>
              </a:lnSpc>
            </a:pPr>
            <a:r>
              <a:rPr lang="zh-CN" altLang="en-US" sz="2800" dirty="0">
                <a:solidFill>
                  <a:srgbClr val="FF0000"/>
                </a:solidFill>
                <a:latin typeface="Times New Roman" panose="02020603050405020304"/>
                <a:ea typeface="黑体" panose="02010609060101010101" charset="-122"/>
              </a:rPr>
              <a:t>技术的博弈树搜索</a:t>
            </a:r>
            <a:endParaRPr lang="en-US" altLang="zh-CN" sz="2800" dirty="0">
              <a:solidFill>
                <a:srgbClr val="FF0000"/>
              </a:solidFill>
              <a:latin typeface="Times New Roman" panose="02020603050405020304"/>
              <a:ea typeface="黑体" panose="02010609060101010101" charset="-122"/>
            </a:endParaRPr>
          </a:p>
        </p:txBody>
      </p:sp>
      <p:sp>
        <p:nvSpPr>
          <p:cNvPr id="4" name="文本框 3"/>
          <p:cNvSpPr txBox="1"/>
          <p:nvPr/>
        </p:nvSpPr>
        <p:spPr>
          <a:xfrm>
            <a:off x="659130" y="2743200"/>
            <a:ext cx="3048000" cy="645160"/>
          </a:xfrm>
          <a:prstGeom prst="rect">
            <a:avLst/>
          </a:prstGeom>
          <a:noFill/>
        </p:spPr>
        <p:txBody>
          <a:bodyPr wrap="square" rtlCol="0">
            <a:spAutoFit/>
          </a:bodyPr>
          <a:p>
            <a:r>
              <a:rPr lang="zh-CN" altLang="en-US"/>
              <a:t>注意大小于号</a:t>
            </a:r>
            <a:r>
              <a:rPr lang="zh-CN" altLang="en-US"/>
              <a:t>标注地点，</a:t>
            </a:r>
            <a:endParaRPr lang="zh-CN" altLang="en-US"/>
          </a:p>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p:nvPr/>
        </p:nvPicPr>
        <p:blipFill>
          <a:blip r:embed="rId1"/>
          <a:stretch>
            <a:fillRect/>
          </a:stretch>
        </p:blipFill>
        <p:spPr>
          <a:xfrm>
            <a:off x="4776066" y="3838743"/>
            <a:ext cx="4229100" cy="2129791"/>
          </a:xfrm>
          <a:prstGeom prst="rect">
            <a:avLst/>
          </a:prstGeom>
        </p:spPr>
      </p:pic>
      <mc:AlternateContent xmlns:mc="http://schemas.openxmlformats.org/markup-compatibility/2006">
        <mc:Choice xmlns:a14="http://schemas.microsoft.com/office/drawing/2010/main" Requires="a14">
          <p:sp>
            <p:nvSpPr>
              <p:cNvPr id="4" name="TextBox 3"/>
              <p:cNvSpPr txBox="1"/>
              <p:nvPr/>
            </p:nvSpPr>
            <p:spPr>
              <a:xfrm>
                <a:off x="259935" y="4016461"/>
                <a:ext cx="5253336" cy="1008546"/>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r>
                        <m:rPr>
                          <m:sty m:val="p"/>
                        </m:rPr>
                        <a:rPr lang="en-US" altLang="zh-CN" sz="2000">
                          <a:solidFill>
                            <a:prstClr val="black"/>
                          </a:solidFill>
                          <a:latin typeface="Cambria Math" panose="02040503050406030204"/>
                        </a:rPr>
                        <m:t>minimax</m:t>
                      </m:r>
                      <m:d>
                        <m:dPr>
                          <m:ctrlPr>
                            <a:rPr lang="zh-CN" altLang="zh-CN" sz="2000" i="1">
                              <a:solidFill>
                                <a:prstClr val="black"/>
                              </a:solidFill>
                              <a:latin typeface="Cambria Math" panose="02040503050406030204" pitchFamily="18" charset="0"/>
                            </a:rPr>
                          </m:ctrlPr>
                        </m:dPr>
                        <m:e>
                          <m:r>
                            <a:rPr lang="en-US" altLang="zh-CN" sz="2000" i="1">
                              <a:solidFill>
                                <a:prstClr val="black"/>
                              </a:solidFill>
                              <a:latin typeface="Cambria Math" panose="02040503050406030204"/>
                            </a:rPr>
                            <m:t>𝐴</m:t>
                          </m:r>
                        </m:e>
                      </m:d>
                      <m:r>
                        <m:rPr>
                          <m:aln/>
                        </m:rPr>
                        <a:rPr lang="en-US" altLang="zh-CN" sz="2000" i="1">
                          <a:solidFill>
                            <a:prstClr val="black"/>
                          </a:solidFill>
                          <a:latin typeface="Cambria Math" panose="02040503050406030204"/>
                        </a:rPr>
                        <m:t>=</m:t>
                      </m:r>
                      <m:func>
                        <m:funcPr>
                          <m:ctrlPr>
                            <a:rPr lang="zh-CN"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a:rPr>
                            <m:t>max</m:t>
                          </m:r>
                        </m:fName>
                        <m:e>
                          <m:d>
                            <m:dPr>
                              <m:ctrlPr>
                                <a:rPr lang="zh-CN" altLang="zh-CN" sz="2000" i="1">
                                  <a:solidFill>
                                    <a:prstClr val="black"/>
                                  </a:solidFill>
                                  <a:latin typeface="Cambria Math" panose="02040503050406030204" pitchFamily="18" charset="0"/>
                                </a:rPr>
                              </m:ctrlPr>
                            </m:dPr>
                            <m:e>
                              <m:func>
                                <m:funcPr>
                                  <m:ctrlPr>
                                    <a:rPr lang="zh-CN"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a:rPr>
                                    <m:t>min</m:t>
                                  </m:r>
                                </m:fName>
                                <m:e>
                                  <m:d>
                                    <m:dPr>
                                      <m:ctrlPr>
                                        <a:rPr lang="zh-CN" altLang="zh-CN" sz="2000" i="1">
                                          <a:solidFill>
                                            <a:prstClr val="black"/>
                                          </a:solidFill>
                                          <a:latin typeface="Cambria Math" panose="02040503050406030204" pitchFamily="18" charset="0"/>
                                        </a:rPr>
                                      </m:ctrlPr>
                                    </m:dPr>
                                    <m:e>
                                      <m:r>
                                        <a:rPr lang="en-US" altLang="zh-CN" sz="2000">
                                          <a:solidFill>
                                            <a:prstClr val="black"/>
                                          </a:solidFill>
                                          <a:latin typeface="Cambria Math" panose="02040503050406030204"/>
                                        </a:rPr>
                                        <m:t>3</m:t>
                                      </m:r>
                                      <m:r>
                                        <a:rPr lang="en-US" altLang="zh-CN" sz="2000">
                                          <a:solidFill>
                                            <a:prstClr val="black"/>
                                          </a:solidFill>
                                          <a:latin typeface="Cambria Math" panose="02040503050406030204"/>
                                        </a:rPr>
                                        <m:t>,</m:t>
                                      </m:r>
                                      <m:r>
                                        <a:rPr lang="en-US" altLang="zh-CN" sz="2000">
                                          <a:solidFill>
                                            <a:prstClr val="black"/>
                                          </a:solidFill>
                                          <a:latin typeface="Cambria Math" panose="02040503050406030204"/>
                                        </a:rPr>
                                        <m:t>9</m:t>
                                      </m:r>
                                      <m:r>
                                        <a:rPr lang="en-US" altLang="zh-CN" sz="2000">
                                          <a:solidFill>
                                            <a:prstClr val="black"/>
                                          </a:solidFill>
                                          <a:latin typeface="Cambria Math" panose="02040503050406030204"/>
                                        </a:rPr>
                                        <m:t>,</m:t>
                                      </m:r>
                                      <m:r>
                                        <a:rPr lang="en-US" altLang="zh-CN" sz="2000">
                                          <a:solidFill>
                                            <a:prstClr val="black"/>
                                          </a:solidFill>
                                          <a:latin typeface="Cambria Math" panose="02040503050406030204"/>
                                        </a:rPr>
                                        <m:t>10</m:t>
                                      </m:r>
                                    </m:e>
                                  </m:d>
                                </m:e>
                              </m:func>
                              <m:r>
                                <a:rPr lang="en-US" altLang="zh-CN" sz="2000">
                                  <a:solidFill>
                                    <a:prstClr val="black"/>
                                  </a:solidFill>
                                  <a:latin typeface="Cambria Math" panose="02040503050406030204"/>
                                </a:rPr>
                                <m:t>,</m:t>
                              </m:r>
                              <m:func>
                                <m:funcPr>
                                  <m:ctrlPr>
                                    <a:rPr lang="zh-CN"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a:rPr>
                                    <m:t>min</m:t>
                                  </m:r>
                                </m:fName>
                                <m:e>
                                  <m:d>
                                    <m:dPr>
                                      <m:ctrlPr>
                                        <a:rPr lang="zh-CN" altLang="zh-CN" sz="2000" i="1">
                                          <a:solidFill>
                                            <a:prstClr val="black"/>
                                          </a:solidFill>
                                          <a:latin typeface="Cambria Math" panose="02040503050406030204" pitchFamily="18" charset="0"/>
                                        </a:rPr>
                                      </m:ctrlPr>
                                    </m:dPr>
                                    <m:e>
                                      <m:r>
                                        <a:rPr lang="en-US" altLang="zh-CN" sz="2000">
                                          <a:solidFill>
                                            <a:prstClr val="black"/>
                                          </a:solidFill>
                                          <a:latin typeface="Cambria Math" panose="02040503050406030204"/>
                                        </a:rPr>
                                        <m:t>2</m:t>
                                      </m:r>
                                      <m:r>
                                        <a:rPr lang="en-US" altLang="zh-CN" sz="2000">
                                          <a:solidFill>
                                            <a:prstClr val="black"/>
                                          </a:solidFill>
                                          <a:latin typeface="Cambria Math" panose="02040503050406030204"/>
                                        </a:rPr>
                                        <m:t>,</m:t>
                                      </m:r>
                                      <m:r>
                                        <m:rPr>
                                          <m:sty m:val="p"/>
                                        </m:rPr>
                                        <a:rPr lang="en-US" altLang="zh-CN" sz="2000">
                                          <a:solidFill>
                                            <a:prstClr val="black"/>
                                          </a:solidFill>
                                          <a:latin typeface="Cambria Math" panose="02040503050406030204"/>
                                        </a:rPr>
                                        <m:t>x</m:t>
                                      </m:r>
                                      <m:r>
                                        <a:rPr lang="en-US" altLang="zh-CN" sz="2000">
                                          <a:solidFill>
                                            <a:prstClr val="black"/>
                                          </a:solidFill>
                                          <a:latin typeface="Cambria Math" panose="02040503050406030204"/>
                                        </a:rPr>
                                        <m:t>,</m:t>
                                      </m:r>
                                      <m:r>
                                        <m:rPr>
                                          <m:sty m:val="p"/>
                                        </m:rPr>
                                        <a:rPr lang="en-US" altLang="zh-CN" sz="2000">
                                          <a:solidFill>
                                            <a:prstClr val="black"/>
                                          </a:solidFill>
                                          <a:latin typeface="Cambria Math" panose="02040503050406030204"/>
                                        </a:rPr>
                                        <m:t>y</m:t>
                                      </m:r>
                                    </m:e>
                                  </m:d>
                                </m:e>
                              </m:func>
                              <m:r>
                                <a:rPr lang="en-US" altLang="zh-CN" sz="2000">
                                  <a:solidFill>
                                    <a:prstClr val="black"/>
                                  </a:solidFill>
                                  <a:latin typeface="Cambria Math" panose="02040503050406030204"/>
                                </a:rPr>
                                <m:t>,</m:t>
                              </m:r>
                              <m:func>
                                <m:funcPr>
                                  <m:ctrlPr>
                                    <a:rPr lang="zh-CN"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a:rPr>
                                    <m:t>min</m:t>
                                  </m:r>
                                </m:fName>
                                <m:e>
                                  <m:d>
                                    <m:dPr>
                                      <m:ctrlPr>
                                        <a:rPr lang="zh-CN" altLang="zh-CN" sz="2000" i="1">
                                          <a:solidFill>
                                            <a:prstClr val="black"/>
                                          </a:solidFill>
                                          <a:latin typeface="Cambria Math" panose="02040503050406030204" pitchFamily="18" charset="0"/>
                                        </a:rPr>
                                      </m:ctrlPr>
                                    </m:dPr>
                                    <m:e>
                                      <m:r>
                                        <a:rPr lang="en-US" altLang="zh-CN" sz="2000">
                                          <a:solidFill>
                                            <a:prstClr val="black"/>
                                          </a:solidFill>
                                          <a:latin typeface="Cambria Math" panose="02040503050406030204"/>
                                        </a:rPr>
                                        <m:t>10</m:t>
                                      </m:r>
                                      <m:r>
                                        <a:rPr lang="en-US" altLang="zh-CN" sz="2000">
                                          <a:solidFill>
                                            <a:prstClr val="black"/>
                                          </a:solidFill>
                                          <a:latin typeface="Cambria Math" panose="02040503050406030204"/>
                                        </a:rPr>
                                        <m:t>,</m:t>
                                      </m:r>
                                      <m:r>
                                        <a:rPr lang="en-US" altLang="zh-CN" sz="2000">
                                          <a:solidFill>
                                            <a:prstClr val="black"/>
                                          </a:solidFill>
                                          <a:latin typeface="Cambria Math" panose="02040503050406030204"/>
                                        </a:rPr>
                                        <m:t>5</m:t>
                                      </m:r>
                                      <m:r>
                                        <a:rPr lang="en-US" altLang="zh-CN" sz="2000">
                                          <a:solidFill>
                                            <a:prstClr val="black"/>
                                          </a:solidFill>
                                          <a:latin typeface="Cambria Math" panose="02040503050406030204"/>
                                        </a:rPr>
                                        <m:t>,</m:t>
                                      </m:r>
                                      <m:r>
                                        <a:rPr lang="en-US" altLang="zh-CN" sz="2000">
                                          <a:solidFill>
                                            <a:prstClr val="black"/>
                                          </a:solidFill>
                                          <a:latin typeface="Cambria Math" panose="02040503050406030204"/>
                                        </a:rPr>
                                        <m:t>1</m:t>
                                      </m:r>
                                    </m:e>
                                  </m:d>
                                </m:e>
                              </m:func>
                            </m:e>
                          </m:d>
                        </m:e>
                      </m:func>
                    </m:oMath>
                    <m:oMath xmlns:m="http://schemas.openxmlformats.org/officeDocument/2006/math">
                      <m:r>
                        <m:rPr>
                          <m:aln/>
                        </m:rPr>
                        <a:rPr lang="en-US" altLang="zh-CN" sz="2000" i="1">
                          <a:solidFill>
                            <a:prstClr val="black"/>
                          </a:solidFill>
                          <a:latin typeface="Cambria Math" panose="02040503050406030204"/>
                        </a:rPr>
                        <m:t>=</m:t>
                      </m:r>
                      <m:r>
                        <m:rPr>
                          <m:sty m:val="p"/>
                        </m:rPr>
                        <a:rPr lang="en-US" altLang="zh-CN" sz="2000">
                          <a:solidFill>
                            <a:prstClr val="black"/>
                          </a:solidFill>
                          <a:latin typeface="Cambria Math" panose="02040503050406030204"/>
                        </a:rPr>
                        <m:t>max</m:t>
                      </m:r>
                      <m:r>
                        <a:rPr lang="en-US" altLang="zh-CN" sz="2000">
                          <a:solidFill>
                            <a:prstClr val="black"/>
                          </a:solidFill>
                          <a:latin typeface="Cambria Math" panose="02040503050406030204"/>
                        </a:rPr>
                        <m:t>(</m:t>
                      </m:r>
                      <m:r>
                        <a:rPr lang="en-US" altLang="zh-CN" sz="2000">
                          <a:solidFill>
                            <a:prstClr val="black"/>
                          </a:solidFill>
                          <a:latin typeface="Cambria Math" panose="02040503050406030204"/>
                        </a:rPr>
                        <m:t>3</m:t>
                      </m:r>
                      <m:r>
                        <a:rPr lang="en-US" altLang="zh-CN" sz="2000">
                          <a:solidFill>
                            <a:prstClr val="black"/>
                          </a:solidFill>
                          <a:latin typeface="Cambria Math" panose="02040503050406030204"/>
                        </a:rPr>
                        <m:t>,</m:t>
                      </m:r>
                      <m:func>
                        <m:funcPr>
                          <m:ctrlPr>
                            <a:rPr lang="zh-CN"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a:rPr>
                            <m:t>min</m:t>
                          </m:r>
                        </m:fName>
                        <m:e>
                          <m:d>
                            <m:dPr>
                              <m:ctrlPr>
                                <a:rPr lang="zh-CN" altLang="zh-CN" sz="2000" i="1">
                                  <a:solidFill>
                                    <a:prstClr val="black"/>
                                  </a:solidFill>
                                  <a:latin typeface="Cambria Math" panose="02040503050406030204" pitchFamily="18" charset="0"/>
                                </a:rPr>
                              </m:ctrlPr>
                            </m:dPr>
                            <m:e>
                              <m:r>
                                <a:rPr lang="en-US" altLang="zh-CN" sz="2000">
                                  <a:solidFill>
                                    <a:prstClr val="black"/>
                                  </a:solidFill>
                                  <a:latin typeface="Cambria Math" panose="02040503050406030204"/>
                                </a:rPr>
                                <m:t>2</m:t>
                              </m:r>
                              <m:r>
                                <a:rPr lang="en-US" altLang="zh-CN" sz="2000">
                                  <a:solidFill>
                                    <a:prstClr val="black"/>
                                  </a:solidFill>
                                  <a:latin typeface="Cambria Math" panose="02040503050406030204"/>
                                </a:rPr>
                                <m:t>,</m:t>
                              </m:r>
                              <m:r>
                                <m:rPr>
                                  <m:sty m:val="p"/>
                                </m:rPr>
                                <a:rPr lang="en-US" altLang="zh-CN" sz="2000">
                                  <a:solidFill>
                                    <a:prstClr val="black"/>
                                  </a:solidFill>
                                  <a:latin typeface="Cambria Math" panose="02040503050406030204"/>
                                </a:rPr>
                                <m:t>x</m:t>
                              </m:r>
                              <m:r>
                                <a:rPr lang="en-US" altLang="zh-CN" sz="2000">
                                  <a:solidFill>
                                    <a:prstClr val="black"/>
                                  </a:solidFill>
                                  <a:latin typeface="Cambria Math" panose="02040503050406030204"/>
                                </a:rPr>
                                <m:t>,</m:t>
                              </m:r>
                              <m:r>
                                <m:rPr>
                                  <m:sty m:val="p"/>
                                </m:rPr>
                                <a:rPr lang="en-US" altLang="zh-CN" sz="2000">
                                  <a:solidFill>
                                    <a:prstClr val="black"/>
                                  </a:solidFill>
                                  <a:latin typeface="Cambria Math" panose="02040503050406030204"/>
                                </a:rPr>
                                <m:t>y</m:t>
                              </m:r>
                            </m:e>
                          </m:d>
                        </m:e>
                      </m:func>
                      <m:r>
                        <a:rPr lang="en-US" altLang="zh-CN" sz="2000">
                          <a:solidFill>
                            <a:prstClr val="black"/>
                          </a:solidFill>
                          <a:latin typeface="Cambria Math" panose="02040503050406030204"/>
                        </a:rPr>
                        <m:t>,</m:t>
                      </m:r>
                      <m:r>
                        <a:rPr lang="en-US" altLang="zh-CN" sz="2000">
                          <a:solidFill>
                            <a:prstClr val="black"/>
                          </a:solidFill>
                          <a:latin typeface="Cambria Math" panose="02040503050406030204"/>
                        </a:rPr>
                        <m:t>1</m:t>
                      </m:r>
                      <m:r>
                        <a:rPr lang="en-US" altLang="zh-CN" sz="2000">
                          <a:solidFill>
                            <a:prstClr val="black"/>
                          </a:solidFill>
                          <a:latin typeface="Cambria Math" panose="02040503050406030204"/>
                        </a:rPr>
                        <m:t>)</m:t>
                      </m:r>
                    </m:oMath>
                  </m:oMathPara>
                </a14:m>
                <a:endParaRPr lang="zh-CN" altLang="zh-CN" sz="2000" dirty="0">
                  <a:solidFill>
                    <a:prstClr val="black"/>
                  </a:solidFill>
                  <a:latin typeface="Times New Roman" panose="02020603050405020304"/>
                  <a:ea typeface="黑体" panose="02010609060101010101" charset="-122"/>
                </a:endParaRPr>
              </a:p>
            </p:txBody>
          </p:sp>
        </mc:Choice>
        <mc:Fallback>
          <p:sp>
            <p:nvSpPr>
              <p:cNvPr id="4" name="TextBox 3"/>
              <p:cNvSpPr txBox="1">
                <a:spLocks noRot="1" noChangeAspect="1" noMove="1" noResize="1" noEditPoints="1" noAdjustHandles="1" noChangeArrowheads="1" noChangeShapeType="1" noTextEdit="1"/>
              </p:cNvSpPr>
              <p:nvPr/>
            </p:nvSpPr>
            <p:spPr>
              <a:xfrm>
                <a:off x="259935" y="4016461"/>
                <a:ext cx="5253336" cy="1008546"/>
              </a:xfrm>
              <a:prstGeom prst="rect">
                <a:avLst/>
              </a:prstGeom>
              <a:blipFill rotWithShape="1">
                <a:blip r:embed="rId2"/>
                <a:stretch>
                  <a:fillRect l="-4" t="-9" r="4" b="25"/>
                </a:stretch>
              </a:blipFill>
            </p:spPr>
            <p:txBody>
              <a:bodyPr/>
              <a:lstStyle/>
              <a:p>
                <a:r>
                  <a:rPr lang="zh-CN" altLang="en-US">
                    <a:noFill/>
                  </a:rPr>
                  <a:t> </a:t>
                </a:r>
              </a:p>
            </p:txBody>
          </p:sp>
        </mc:Fallback>
      </mc:AlternateContent>
      <p:sp>
        <p:nvSpPr>
          <p:cNvPr id="11"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8" name="图片 7"/>
          <p:cNvPicPr/>
          <p:nvPr/>
        </p:nvPicPr>
        <p:blipFill>
          <a:blip r:embed="rId3"/>
          <a:stretch>
            <a:fillRect/>
          </a:stretch>
        </p:blipFill>
        <p:spPr>
          <a:xfrm>
            <a:off x="259936" y="1181891"/>
            <a:ext cx="4972944" cy="2482639"/>
          </a:xfrm>
          <a:prstGeom prst="rect">
            <a:avLst/>
          </a:prstGeom>
        </p:spPr>
      </p:pic>
      <p:sp>
        <p:nvSpPr>
          <p:cNvPr id="6" name="箭头: 右弧形 5"/>
          <p:cNvSpPr/>
          <p:nvPr/>
        </p:nvSpPr>
        <p:spPr>
          <a:xfrm rot="19431717">
            <a:off x="6262221" y="1459814"/>
            <a:ext cx="1256787" cy="1910876"/>
          </a:xfrm>
          <a:prstGeom prst="curved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p:nvPr/>
            </p:nvSpPr>
            <p:spPr>
              <a:xfrm>
                <a:off x="436946" y="1155628"/>
                <a:ext cx="8270113" cy="3881768"/>
              </a:xfrm>
              <a:prstGeom prst="rect">
                <a:avLst/>
              </a:prstGeom>
            </p:spPr>
            <p:txBody>
              <a:bodyPr wrap="square">
                <a:spAutoFit/>
              </a:bodyPr>
              <a:lstStyle/>
              <a:p>
                <a:pPr marL="342900" indent="-342900" algn="just">
                  <a:lnSpc>
                    <a:spcPct val="130000"/>
                  </a:lnSpc>
                  <a:buFont typeface="Arial" panose="020B0604020202020204" pitchFamily="34" charset="0"/>
                  <a:buChar char="•"/>
                </a:pPr>
                <a:r>
                  <a:rPr lang="zh-CN" altLang="zh-CN" sz="2400" dirty="0">
                    <a:solidFill>
                      <a:prstClr val="black"/>
                    </a:solidFill>
                    <a:latin typeface="Times New Roman" panose="02020603050405020304"/>
                    <a:ea typeface="黑体" panose="02010609060101010101" charset="-122"/>
                  </a:rPr>
                  <a:t>由于</a:t>
                </a:r>
                <a14:m>
                  <m:oMath xmlns:m="http://schemas.openxmlformats.org/officeDocument/2006/math">
                    <m:func>
                      <m:funcPr>
                        <m:ctrlPr>
                          <a:rPr lang="zh-CN" altLang="zh-CN" sz="2400" i="1">
                            <a:solidFill>
                              <a:prstClr val="black"/>
                            </a:solidFill>
                            <a:latin typeface="Cambria Math" panose="02040503050406030204" pitchFamily="18" charset="0"/>
                          </a:rPr>
                        </m:ctrlPr>
                      </m:funcPr>
                      <m:fName>
                        <m:r>
                          <m:rPr>
                            <m:sty m:val="p"/>
                          </m:rPr>
                          <a:rPr lang="en-US" altLang="zh-CN" sz="2400">
                            <a:solidFill>
                              <a:prstClr val="black"/>
                            </a:solidFill>
                            <a:latin typeface="Cambria Math" panose="02040503050406030204"/>
                          </a:rPr>
                          <m:t>min</m:t>
                        </m:r>
                      </m:fName>
                      <m:e>
                        <m:d>
                          <m:dPr>
                            <m:ctrlPr>
                              <a:rPr lang="zh-CN" altLang="zh-CN" sz="2400" i="1">
                                <a:solidFill>
                                  <a:prstClr val="black"/>
                                </a:solidFill>
                                <a:latin typeface="Cambria Math" panose="02040503050406030204" pitchFamily="18" charset="0"/>
                              </a:rPr>
                            </m:ctrlPr>
                          </m:dPr>
                          <m:e>
                            <m:r>
                              <a:rPr lang="en-US" altLang="zh-CN" sz="2400">
                                <a:solidFill>
                                  <a:prstClr val="black"/>
                                </a:solidFill>
                                <a:latin typeface="Cambria Math" panose="02040503050406030204"/>
                              </a:rPr>
                              <m:t>2</m:t>
                            </m:r>
                            <m:r>
                              <a:rPr lang="en-US" altLang="zh-CN" sz="2400">
                                <a:solidFill>
                                  <a:prstClr val="black"/>
                                </a:solidFill>
                                <a:latin typeface="Cambria Math" panose="02040503050406030204"/>
                              </a:rPr>
                              <m:t>,</m:t>
                            </m:r>
                            <m:r>
                              <m:rPr>
                                <m:sty m:val="p"/>
                              </m:rPr>
                              <a:rPr lang="en-US" altLang="zh-CN" sz="2400">
                                <a:solidFill>
                                  <a:prstClr val="black"/>
                                </a:solidFill>
                                <a:latin typeface="Cambria Math" panose="02040503050406030204"/>
                              </a:rPr>
                              <m:t>x</m:t>
                            </m:r>
                            <m:r>
                              <a:rPr lang="en-US" altLang="zh-CN" sz="2400">
                                <a:solidFill>
                                  <a:prstClr val="black"/>
                                </a:solidFill>
                                <a:latin typeface="Cambria Math" panose="02040503050406030204"/>
                              </a:rPr>
                              <m:t>,</m:t>
                            </m:r>
                            <m:r>
                              <m:rPr>
                                <m:sty m:val="p"/>
                              </m:rPr>
                              <a:rPr lang="en-US" altLang="zh-CN" sz="2400">
                                <a:solidFill>
                                  <a:prstClr val="black"/>
                                </a:solidFill>
                                <a:latin typeface="Cambria Math" panose="02040503050406030204"/>
                              </a:rPr>
                              <m:t>y</m:t>
                            </m:r>
                          </m:e>
                        </m:d>
                      </m:e>
                    </m:func>
                  </m:oMath>
                </a14:m>
                <a:r>
                  <a:rPr lang="zh-CN" altLang="zh-CN" sz="2400" dirty="0">
                    <a:solidFill>
                      <a:prstClr val="black"/>
                    </a:solidFill>
                    <a:latin typeface="Times New Roman" panose="02020603050405020304"/>
                    <a:ea typeface="黑体" panose="02010609060101010101" charset="-122"/>
                  </a:rPr>
                  <a:t>的值小于</a:t>
                </a:r>
                <a:endParaRPr lang="en-US" altLang="zh-CN" sz="2400" dirty="0">
                  <a:solidFill>
                    <a:prstClr val="black"/>
                  </a:solidFill>
                  <a:latin typeface="Times New Roman" panose="02020603050405020304"/>
                  <a:ea typeface="黑体" panose="02010609060101010101" charset="-122"/>
                </a:endParaRPr>
              </a:p>
              <a:p>
                <a:pPr algn="just">
                  <a:lnSpc>
                    <a:spcPct val="130000"/>
                  </a:lnSpc>
                </a:pPr>
                <a:r>
                  <a:rPr lang="zh-CN" altLang="zh-CN" sz="2400" dirty="0">
                    <a:solidFill>
                      <a:prstClr val="black"/>
                    </a:solidFill>
                    <a:latin typeface="Times New Roman" panose="02020603050405020304"/>
                    <a:ea typeface="黑体" panose="02010609060101010101" charset="-122"/>
                  </a:rPr>
                  <a:t>等于</a:t>
                </a:r>
                <a:r>
                  <a:rPr lang="en-US" altLang="zh-CN" sz="2400" dirty="0">
                    <a:solidFill>
                      <a:prstClr val="black"/>
                    </a:solidFill>
                    <a:latin typeface="Times New Roman" panose="02020603050405020304"/>
                    <a:ea typeface="黑体" panose="02010609060101010101" charset="-122"/>
                  </a:rPr>
                  <a:t>2</a:t>
                </a:r>
                <a:r>
                  <a:rPr lang="zh-CN" altLang="zh-CN" sz="2400" dirty="0">
                    <a:solidFill>
                      <a:prstClr val="black"/>
                    </a:solidFill>
                    <a:latin typeface="Times New Roman" panose="02020603050405020304"/>
                    <a:ea typeface="黑体" panose="02010609060101010101" charset="-122"/>
                  </a:rPr>
                  <a:t>，所以即使不知道</a:t>
                </a:r>
                <a14:m>
                  <m:oMath xmlns:m="http://schemas.openxmlformats.org/officeDocument/2006/math">
                    <m:r>
                      <a:rPr lang="en-US" altLang="zh-CN" sz="2400" i="1">
                        <a:solidFill>
                          <a:prstClr val="black"/>
                        </a:solidFill>
                        <a:latin typeface="Cambria Math" panose="02040503050406030204"/>
                      </a:rPr>
                      <m:t>𝑥</m:t>
                    </m:r>
                  </m:oMath>
                </a14:m>
                <a:r>
                  <a:rPr lang="zh-CN" altLang="zh-CN" sz="2400" dirty="0">
                    <a:solidFill>
                      <a:prstClr val="black"/>
                    </a:solidFill>
                    <a:latin typeface="Times New Roman" panose="02020603050405020304"/>
                    <a:ea typeface="黑体" panose="02010609060101010101" charset="-122"/>
                  </a:rPr>
                  <a:t>和</a:t>
                </a:r>
                <a14:m>
                  <m:oMath xmlns:m="http://schemas.openxmlformats.org/officeDocument/2006/math">
                    <m:r>
                      <a:rPr lang="en-US" altLang="zh-CN" sz="2400" i="1">
                        <a:solidFill>
                          <a:prstClr val="black"/>
                        </a:solidFill>
                        <a:latin typeface="Cambria Math" panose="02040503050406030204"/>
                      </a:rPr>
                      <m:t>𝑦</m:t>
                    </m:r>
                  </m:oMath>
                </a14:m>
                <a:endParaRPr lang="en-US" altLang="zh-CN" sz="2400" dirty="0">
                  <a:solidFill>
                    <a:prstClr val="black"/>
                  </a:solidFill>
                  <a:latin typeface="Times New Roman" panose="02020603050405020304"/>
                  <a:ea typeface="黑体" panose="02010609060101010101" charset="-122"/>
                </a:endParaRPr>
              </a:p>
              <a:p>
                <a:pPr algn="just">
                  <a:lnSpc>
                    <a:spcPct val="130000"/>
                  </a:lnSpc>
                </a:pPr>
                <a:r>
                  <a:rPr lang="zh-CN" altLang="zh-CN" sz="2400" dirty="0">
                    <a:solidFill>
                      <a:prstClr val="black"/>
                    </a:solidFill>
                    <a:latin typeface="Times New Roman" panose="02020603050405020304"/>
                    <a:ea typeface="黑体" panose="02010609060101010101" charset="-122"/>
                  </a:rPr>
                  <a:t>的值，根节点的分数也可以算</a:t>
                </a:r>
                <a:endParaRPr lang="en-US" altLang="zh-CN" sz="2400" dirty="0">
                  <a:solidFill>
                    <a:prstClr val="black"/>
                  </a:solidFill>
                  <a:latin typeface="Times New Roman" panose="02020603050405020304"/>
                  <a:ea typeface="黑体" panose="02010609060101010101" charset="-122"/>
                </a:endParaRPr>
              </a:p>
              <a:p>
                <a:pPr algn="just">
                  <a:lnSpc>
                    <a:spcPct val="130000"/>
                  </a:lnSpc>
                </a:pPr>
                <a:r>
                  <a:rPr lang="zh-CN" altLang="zh-CN" sz="2400" dirty="0">
                    <a:solidFill>
                      <a:prstClr val="black"/>
                    </a:solidFill>
                    <a:latin typeface="Times New Roman" panose="02020603050405020304"/>
                    <a:ea typeface="黑体" panose="02010609060101010101" charset="-122"/>
                  </a:rPr>
                  <a:t>出来等于</a:t>
                </a:r>
                <a:r>
                  <a:rPr lang="en-US" altLang="zh-CN" sz="2400" dirty="0">
                    <a:solidFill>
                      <a:prstClr val="black"/>
                    </a:solidFill>
                    <a:latin typeface="Times New Roman" panose="02020603050405020304"/>
                    <a:ea typeface="黑体" panose="02010609060101010101" charset="-122"/>
                  </a:rPr>
                  <a:t>3</a:t>
                </a:r>
                <a:r>
                  <a:rPr lang="zh-CN" altLang="zh-CN" sz="2400" dirty="0">
                    <a:solidFill>
                      <a:prstClr val="black"/>
                    </a:solidFill>
                    <a:latin typeface="Times New Roman" panose="02020603050405020304"/>
                    <a:ea typeface="黑体" panose="02010609060101010101" charset="-122"/>
                  </a:rPr>
                  <a:t>。也就是说，算法</a:t>
                </a:r>
                <a:endParaRPr lang="en-US" altLang="zh-CN" sz="2400" dirty="0">
                  <a:solidFill>
                    <a:prstClr val="black"/>
                  </a:solidFill>
                  <a:latin typeface="Times New Roman" panose="02020603050405020304"/>
                  <a:ea typeface="黑体" panose="02010609060101010101" charset="-122"/>
                </a:endParaRPr>
              </a:p>
              <a:p>
                <a:pPr algn="just">
                  <a:lnSpc>
                    <a:spcPct val="130000"/>
                  </a:lnSpc>
                </a:pPr>
                <a:r>
                  <a:rPr lang="zh-CN" altLang="zh-CN" sz="2400" dirty="0">
                    <a:solidFill>
                      <a:prstClr val="black"/>
                    </a:solidFill>
                    <a:latin typeface="Times New Roman" panose="02020603050405020304"/>
                    <a:ea typeface="黑体" panose="02010609060101010101" charset="-122"/>
                  </a:rPr>
                  <a:t>没有必要计算动作</a:t>
                </a:r>
                <a14:m>
                  <m:oMath xmlns:m="http://schemas.openxmlformats.org/officeDocument/2006/math">
                    <m:sSub>
                      <m:sSubPr>
                        <m:ctrlPr>
                          <a:rPr lang="zh-CN"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a:rPr>
                          <m:t>𝑐</m:t>
                        </m:r>
                      </m:e>
                      <m:sub>
                        <m:r>
                          <a:rPr lang="en-US" altLang="zh-CN" sz="2400" i="1">
                            <a:solidFill>
                              <a:prstClr val="black"/>
                            </a:solidFill>
                            <a:latin typeface="Cambria Math" panose="02040503050406030204"/>
                          </a:rPr>
                          <m:t>2</m:t>
                        </m:r>
                      </m:sub>
                    </m:sSub>
                  </m:oMath>
                </a14:m>
                <a:r>
                  <a:rPr lang="zh-CN" altLang="zh-CN" sz="2400" dirty="0">
                    <a:solidFill>
                      <a:prstClr val="black"/>
                    </a:solidFill>
                    <a:latin typeface="Times New Roman" panose="02020603050405020304"/>
                    <a:ea typeface="黑体" panose="02010609060101010101" charset="-122"/>
                  </a:rPr>
                  <a:t>和</a:t>
                </a:r>
                <a14:m>
                  <m:oMath xmlns:m="http://schemas.openxmlformats.org/officeDocument/2006/math">
                    <m:sSub>
                      <m:sSubPr>
                        <m:ctrlPr>
                          <a:rPr lang="zh-CN"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a:rPr>
                          <m:t>𝑐</m:t>
                        </m:r>
                      </m:e>
                      <m:sub>
                        <m:r>
                          <a:rPr lang="en-US" altLang="zh-CN" sz="2400" i="1">
                            <a:solidFill>
                              <a:prstClr val="black"/>
                            </a:solidFill>
                            <a:latin typeface="Cambria Math" panose="02040503050406030204"/>
                          </a:rPr>
                          <m:t>3</m:t>
                        </m:r>
                      </m:sub>
                    </m:sSub>
                  </m:oMath>
                </a14:m>
                <a:r>
                  <a:rPr lang="zh-CN" altLang="zh-CN" sz="2400" dirty="0">
                    <a:solidFill>
                      <a:prstClr val="black"/>
                    </a:solidFill>
                    <a:latin typeface="Times New Roman" panose="02020603050405020304"/>
                    <a:ea typeface="黑体" panose="02010609060101010101" charset="-122"/>
                  </a:rPr>
                  <a:t>对应</a:t>
                </a:r>
                <a:endParaRPr lang="en-US" altLang="zh-CN" sz="2400" dirty="0">
                  <a:solidFill>
                    <a:prstClr val="black"/>
                  </a:solidFill>
                  <a:latin typeface="Times New Roman" panose="02020603050405020304"/>
                  <a:ea typeface="黑体" panose="02010609060101010101" charset="-122"/>
                </a:endParaRPr>
              </a:p>
              <a:p>
                <a:pPr algn="just">
                  <a:lnSpc>
                    <a:spcPct val="130000"/>
                  </a:lnSpc>
                </a:pPr>
                <a:r>
                  <a:rPr lang="zh-CN" altLang="zh-CN" sz="2400" dirty="0">
                    <a:solidFill>
                      <a:prstClr val="black"/>
                    </a:solidFill>
                    <a:latin typeface="Times New Roman" panose="02020603050405020304"/>
                    <a:ea typeface="黑体" panose="02010609060101010101" charset="-122"/>
                  </a:rPr>
                  <a:t>的两个子树在游戏结束时所得</a:t>
                </a:r>
                <a:endParaRPr lang="en-US" altLang="zh-CN" sz="2400" dirty="0">
                  <a:solidFill>
                    <a:prstClr val="black"/>
                  </a:solidFill>
                  <a:latin typeface="Times New Roman" panose="02020603050405020304"/>
                  <a:ea typeface="黑体" panose="02010609060101010101" charset="-122"/>
                </a:endParaRPr>
              </a:p>
              <a:p>
                <a:pPr algn="just">
                  <a:lnSpc>
                    <a:spcPct val="130000"/>
                  </a:lnSpc>
                </a:pPr>
                <a:r>
                  <a:rPr lang="zh-CN" altLang="zh-CN" sz="2400" dirty="0">
                    <a:solidFill>
                      <a:prstClr val="black"/>
                    </a:solidFill>
                    <a:latin typeface="Times New Roman" panose="02020603050405020304"/>
                    <a:ea typeface="黑体" panose="02010609060101010101" charset="-122"/>
                  </a:rPr>
                  <a:t>分数，就能决定在根节点采取动作</a:t>
                </a:r>
                <a14:m>
                  <m:oMath xmlns:m="http://schemas.openxmlformats.org/officeDocument/2006/math">
                    <m:sSub>
                      <m:sSubPr>
                        <m:ctrlPr>
                          <a:rPr lang="zh-CN"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a:rPr>
                          <m:t>𝑎</m:t>
                        </m:r>
                      </m:e>
                      <m:sub>
                        <m:r>
                          <a:rPr lang="en-US" altLang="zh-CN" sz="2400" i="1">
                            <a:solidFill>
                              <a:prstClr val="black"/>
                            </a:solidFill>
                            <a:latin typeface="Cambria Math" panose="02040503050406030204"/>
                          </a:rPr>
                          <m:t>1</m:t>
                        </m:r>
                      </m:sub>
                    </m:sSub>
                  </m:oMath>
                </a14:m>
                <a:r>
                  <a:rPr lang="zh-CN" altLang="zh-CN" sz="2400" dirty="0">
                    <a:solidFill>
                      <a:prstClr val="black"/>
                    </a:solidFill>
                    <a:latin typeface="Times New Roman" panose="02020603050405020304"/>
                    <a:ea typeface="黑体" panose="02010609060101010101" charset="-122"/>
                  </a:rPr>
                  <a:t>从而在游戏结束时可获得收益</a:t>
                </a:r>
                <a:r>
                  <a:rPr lang="en-US" altLang="zh-CN" sz="2400" dirty="0">
                    <a:solidFill>
                      <a:prstClr val="black"/>
                    </a:solidFill>
                    <a:latin typeface="Times New Roman" panose="02020603050405020304"/>
                    <a:ea typeface="黑体" panose="02010609060101010101" charset="-122"/>
                  </a:rPr>
                  <a:t>3</a:t>
                </a:r>
                <a:r>
                  <a:rPr lang="zh-CN" altLang="zh-CN" sz="2400" dirty="0">
                    <a:solidFill>
                      <a:prstClr val="black"/>
                    </a:solidFill>
                    <a:latin typeface="Times New Roman" panose="02020603050405020304"/>
                    <a:ea typeface="黑体" panose="02010609060101010101" charset="-122"/>
                  </a:rPr>
                  <a:t>，因此动作</a:t>
                </a:r>
                <a14:m>
                  <m:oMath xmlns:m="http://schemas.openxmlformats.org/officeDocument/2006/math">
                    <m:sSub>
                      <m:sSubPr>
                        <m:ctrlPr>
                          <a:rPr lang="zh-CN"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a:rPr>
                          <m:t>𝑐</m:t>
                        </m:r>
                      </m:e>
                      <m:sub>
                        <m:r>
                          <a:rPr lang="en-US" altLang="zh-CN" sz="2400" i="1">
                            <a:solidFill>
                              <a:prstClr val="black"/>
                            </a:solidFill>
                            <a:latin typeface="Cambria Math" panose="02040503050406030204"/>
                          </a:rPr>
                          <m:t>2</m:t>
                        </m:r>
                      </m:sub>
                    </m:sSub>
                  </m:oMath>
                </a14:m>
                <a:r>
                  <a:rPr lang="zh-CN" altLang="zh-CN" sz="2400" dirty="0">
                    <a:solidFill>
                      <a:prstClr val="black"/>
                    </a:solidFill>
                    <a:latin typeface="Times New Roman" panose="02020603050405020304"/>
                    <a:ea typeface="黑体" panose="02010609060101010101" charset="-122"/>
                  </a:rPr>
                  <a:t>和</a:t>
                </a:r>
                <a14:m>
                  <m:oMath xmlns:m="http://schemas.openxmlformats.org/officeDocument/2006/math">
                    <m:sSub>
                      <m:sSubPr>
                        <m:ctrlPr>
                          <a:rPr lang="zh-CN"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a:rPr>
                          <m:t>𝑐</m:t>
                        </m:r>
                      </m:e>
                      <m:sub>
                        <m:r>
                          <a:rPr lang="en-US" altLang="zh-CN" sz="2400" i="1">
                            <a:solidFill>
                              <a:prstClr val="black"/>
                            </a:solidFill>
                            <a:latin typeface="Cambria Math" panose="02040503050406030204"/>
                          </a:rPr>
                          <m:t>3</m:t>
                        </m:r>
                      </m:sub>
                    </m:sSub>
                  </m:oMath>
                </a14:m>
                <a:r>
                  <a:rPr lang="zh-CN" altLang="zh-CN" sz="2400" dirty="0">
                    <a:solidFill>
                      <a:prstClr val="black"/>
                    </a:solidFill>
                    <a:latin typeface="Times New Roman" panose="02020603050405020304"/>
                    <a:ea typeface="黑体" panose="02010609060101010101" charset="-122"/>
                  </a:rPr>
                  <a:t>所对应子树可以被剪枝。</a:t>
                </a:r>
                <a:endParaRPr lang="zh-CN" altLang="zh-CN" sz="2400" dirty="0">
                  <a:solidFill>
                    <a:prstClr val="black"/>
                  </a:solidFill>
                  <a:latin typeface="Times New Roman" panose="02020603050405020304"/>
                  <a:ea typeface="黑体" panose="02010609060101010101" charset="-122"/>
                </a:endParaRPr>
              </a:p>
            </p:txBody>
          </p:sp>
        </mc:Choice>
        <mc:Fallback>
          <p:sp>
            <p:nvSpPr>
              <p:cNvPr id="3" name="矩形 2"/>
              <p:cNvSpPr>
                <a:spLocks noRot="1" noChangeAspect="1" noMove="1" noResize="1" noEditPoints="1" noAdjustHandles="1" noChangeArrowheads="1" noChangeShapeType="1" noTextEdit="1"/>
              </p:cNvSpPr>
              <p:nvPr/>
            </p:nvSpPr>
            <p:spPr>
              <a:xfrm>
                <a:off x="436946" y="1155628"/>
                <a:ext cx="8270113" cy="3881768"/>
              </a:xfrm>
              <a:prstGeom prst="rect">
                <a:avLst/>
              </a:prstGeom>
              <a:blipFill rotWithShape="1">
                <a:blip r:embed="rId1"/>
                <a:stretch>
                  <a:fillRect l="-1" t="-15" r="7" b="15"/>
                </a:stretch>
              </a:blipFill>
            </p:spPr>
            <p:txBody>
              <a:bodyPr/>
              <a:lstStyle/>
              <a:p>
                <a:r>
                  <a:rPr lang="zh-CN" altLang="en-US">
                    <a:noFill/>
                  </a:rPr>
                  <a:t> </a:t>
                </a:r>
              </a:p>
            </p:txBody>
          </p:sp>
        </mc:Fallback>
      </mc:AlternateContent>
      <p:pic>
        <p:nvPicPr>
          <p:cNvPr id="10" name="图片 9"/>
          <p:cNvPicPr/>
          <p:nvPr/>
        </p:nvPicPr>
        <p:blipFill>
          <a:blip r:embed="rId2"/>
          <a:stretch>
            <a:fillRect/>
          </a:stretch>
        </p:blipFill>
        <p:spPr>
          <a:xfrm>
            <a:off x="4627419" y="1155631"/>
            <a:ext cx="4405456" cy="2689007"/>
          </a:xfrm>
          <a:prstGeom prst="rect">
            <a:avLst/>
          </a:prstGeom>
        </p:spPr>
      </p:pic>
      <p:sp>
        <p:nvSpPr>
          <p:cNvPr id="11"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0" y="2570018"/>
            <a:ext cx="9144000" cy="3723396"/>
          </a:xfrm>
          <a:prstGeom prst="rect">
            <a:avLst/>
          </a:prstGeom>
        </p:spPr>
      </p:pic>
      <p:pic>
        <p:nvPicPr>
          <p:cNvPr id="5" name="图片 4"/>
          <p:cNvPicPr>
            <a:picLocks noChangeAspect="1"/>
          </p:cNvPicPr>
          <p:nvPr/>
        </p:nvPicPr>
        <p:blipFill>
          <a:blip r:embed="rId2"/>
          <a:stretch>
            <a:fillRect/>
          </a:stretch>
        </p:blipFill>
        <p:spPr>
          <a:xfrm>
            <a:off x="0" y="1250835"/>
            <a:ext cx="9144000" cy="1031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Horizontal)">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3"/>
          <p:cNvSpPr txBox="1"/>
          <p:nvPr/>
        </p:nvSpPr>
        <p:spPr>
          <a:xfrm>
            <a:off x="0" y="125356"/>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0" y="1489369"/>
            <a:ext cx="9144000" cy="37282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AD84F5B-1672-4D3F-9FEC-5DF89A7B7912}" type="slidenum">
              <a:rPr lang="zh-CN" altLang="en-US">
                <a:latin typeface="Times New Roman" panose="02020603050405020304"/>
                <a:ea typeface="黑体" panose="02010609060101010101" charset="-122"/>
              </a:rPr>
            </a:fld>
            <a:endParaRPr lang="zh-CN" altLang="en-US">
              <a:latin typeface="Times New Roman" panose="02020603050405020304"/>
              <a:ea typeface="黑体" panose="02010609060101010101" charset="-122"/>
            </a:endParaRPr>
          </a:p>
        </p:txBody>
      </p:sp>
      <p:pic>
        <p:nvPicPr>
          <p:cNvPr id="6" name="图片 5"/>
          <p:cNvPicPr>
            <a:picLocks noChangeAspect="1"/>
          </p:cNvPicPr>
          <p:nvPr/>
        </p:nvPicPr>
        <p:blipFill>
          <a:blip r:embed="rId1"/>
          <a:stretch>
            <a:fillRect/>
          </a:stretch>
        </p:blipFill>
        <p:spPr>
          <a:xfrm>
            <a:off x="0" y="1330040"/>
            <a:ext cx="9144000" cy="4343237"/>
          </a:xfrm>
          <a:prstGeom prst="rect">
            <a:avLst/>
          </a:prstGeom>
        </p:spPr>
      </p:pic>
      <p:sp>
        <p:nvSpPr>
          <p:cNvPr id="7" name="标题 3"/>
          <p:cNvSpPr txBox="1"/>
          <p:nvPr/>
        </p:nvSpPr>
        <p:spPr>
          <a:xfrm>
            <a:off x="0" y="125356"/>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9" name="矩形 38"/>
          <p:cNvSpPr/>
          <p:nvPr/>
        </p:nvSpPr>
        <p:spPr>
          <a:xfrm>
            <a:off x="436946" y="920103"/>
            <a:ext cx="8270113" cy="5073440"/>
          </a:xfrm>
          <a:prstGeom prst="rect">
            <a:avLst/>
          </a:prstGeom>
        </p:spPr>
        <p:txBody>
          <a:bodyPr wrap="square">
            <a:spAutoFit/>
          </a:bodyPr>
          <a:lstStyle/>
          <a:p>
            <a:pPr marL="342900" indent="-342900">
              <a:lnSpc>
                <a:spcPct val="130000"/>
              </a:lnSpc>
              <a:buFont typeface="Arial" panose="020B0604020202020204" pitchFamily="34" charset="0"/>
              <a:buChar char="•"/>
            </a:pPr>
            <a:r>
              <a:rPr lang="zh-CN" altLang="en-US" sz="2800" dirty="0">
                <a:solidFill>
                  <a:srgbClr val="FF0000"/>
                </a:solidFill>
                <a:latin typeface="Times New Roman" panose="02020603050405020304"/>
                <a:ea typeface="黑体" panose="02010609060101010101" charset="-122"/>
              </a:rPr>
              <a:t>𝛼</a:t>
            </a:r>
            <a:r>
              <a:rPr lang="zh-CN" altLang="en-US" sz="2800" dirty="0">
                <a:solidFill>
                  <a:prstClr val="black"/>
                </a:solidFill>
                <a:latin typeface="Times New Roman" panose="02020603050405020304"/>
                <a:ea typeface="黑体" panose="02010609060101010101" charset="-122"/>
              </a:rPr>
              <a:t> 为可能解法的最大上界</a:t>
            </a:r>
            <a:endParaRPr lang="zh-CN" altLang="en-US" sz="2800" dirty="0">
              <a:solidFill>
                <a:prstClr val="black"/>
              </a:solidFill>
              <a:latin typeface="Times New Roman" panose="02020603050405020304"/>
              <a:ea typeface="黑体" panose="02010609060101010101" charset="-122"/>
            </a:endParaRPr>
          </a:p>
          <a:p>
            <a:pPr marL="342900" indent="-342900">
              <a:lnSpc>
                <a:spcPct val="130000"/>
              </a:lnSpc>
              <a:buFont typeface="Arial" panose="020B0604020202020204" pitchFamily="34" charset="0"/>
              <a:buChar char="•"/>
            </a:pPr>
            <a:r>
              <a:rPr lang="zh-CN" altLang="en-US" sz="2800" dirty="0">
                <a:solidFill>
                  <a:srgbClr val="FF0000"/>
                </a:solidFill>
                <a:latin typeface="Times New Roman" panose="02020603050405020304"/>
                <a:ea typeface="黑体" panose="02010609060101010101" charset="-122"/>
              </a:rPr>
              <a:t>𝛽</a:t>
            </a:r>
            <a:r>
              <a:rPr lang="zh-CN" altLang="en-US" sz="2800" dirty="0">
                <a:solidFill>
                  <a:prstClr val="black"/>
                </a:solidFill>
                <a:latin typeface="Times New Roman" panose="02020603050405020304"/>
                <a:ea typeface="黑体" panose="02010609060101010101" charset="-122"/>
              </a:rPr>
              <a:t> 为可能解法的最小下界</a:t>
            </a:r>
            <a:endParaRPr lang="zh-CN" altLang="en-US" sz="2800" dirty="0">
              <a:solidFill>
                <a:prstClr val="black"/>
              </a:solidFill>
              <a:latin typeface="Times New Roman" panose="02020603050405020304"/>
              <a:ea typeface="黑体" panose="02010609060101010101" charset="-122"/>
            </a:endParaRPr>
          </a:p>
          <a:p>
            <a:pPr marL="342900" indent="-342900">
              <a:lnSpc>
                <a:spcPct val="130000"/>
              </a:lnSpc>
              <a:buFont typeface="Arial" panose="020B0604020202020204" pitchFamily="34" charset="0"/>
              <a:buChar char="•"/>
            </a:pPr>
            <a:r>
              <a:rPr lang="zh-CN" altLang="en-US" sz="2800" dirty="0">
                <a:solidFill>
                  <a:prstClr val="black"/>
                </a:solidFill>
                <a:latin typeface="Times New Roman" panose="02020603050405020304"/>
                <a:ea typeface="黑体" panose="02010609060101010101" charset="-122"/>
              </a:rPr>
              <a:t>如果节点 𝑁 是可能解法路径中的一个节点，则其产生的收益一定满足如下条件：</a:t>
            </a:r>
            <a:endParaRPr lang="zh-CN" altLang="en-US" sz="2800" dirty="0">
              <a:solidFill>
                <a:prstClr val="black"/>
              </a:solidFill>
              <a:latin typeface="Times New Roman" panose="02020603050405020304"/>
              <a:ea typeface="黑体" panose="02010609060101010101" charset="-122"/>
            </a:endParaRPr>
          </a:p>
          <a:p>
            <a:pPr>
              <a:lnSpc>
                <a:spcPct val="130000"/>
              </a:lnSpc>
            </a:pPr>
            <a:r>
              <a:rPr lang="zh-CN" altLang="en-US" sz="2800" dirty="0">
                <a:solidFill>
                  <a:prstClr val="black"/>
                </a:solidFill>
                <a:latin typeface="Times New Roman" panose="02020603050405020304"/>
                <a:ea typeface="黑体" panose="02010609060101010101" charset="-122"/>
              </a:rPr>
              <a:t> </a:t>
            </a:r>
            <a:r>
              <a:rPr lang="zh-CN" altLang="en-US" sz="2800" dirty="0">
                <a:solidFill>
                  <a:srgbClr val="FF0000"/>
                </a:solidFill>
                <a:latin typeface="Times New Roman" panose="02020603050405020304"/>
                <a:ea typeface="黑体" panose="02010609060101010101" charset="-122"/>
              </a:rPr>
              <a:t>𝛼 ≤ 𝑟𝑒𝑤𝑎𝑟𝑑</a:t>
            </a:r>
            <a:r>
              <a:rPr lang="en-US" altLang="zh-CN" sz="2800" dirty="0">
                <a:solidFill>
                  <a:srgbClr val="FF0000"/>
                </a:solidFill>
                <a:latin typeface="Times New Roman" panose="02020603050405020304"/>
                <a:ea typeface="黑体" panose="02010609060101010101" charset="-122"/>
              </a:rPr>
              <a:t>(</a:t>
            </a:r>
            <a:r>
              <a:rPr lang="zh-CN" altLang="en-US" sz="2800" dirty="0">
                <a:solidFill>
                  <a:srgbClr val="FF0000"/>
                </a:solidFill>
                <a:latin typeface="Times New Roman" panose="02020603050405020304"/>
                <a:ea typeface="黑体" panose="02010609060101010101" charset="-122"/>
              </a:rPr>
              <a:t>𝑁</a:t>
            </a:r>
            <a:r>
              <a:rPr lang="en-US" altLang="zh-CN" sz="2800" dirty="0">
                <a:solidFill>
                  <a:srgbClr val="FF0000"/>
                </a:solidFill>
                <a:latin typeface="Times New Roman" panose="02020603050405020304"/>
                <a:ea typeface="黑体" panose="02010609060101010101" charset="-122"/>
              </a:rPr>
              <a:t>) ≤ </a:t>
            </a:r>
            <a:r>
              <a:rPr lang="zh-CN" altLang="en-US" sz="2800" dirty="0">
                <a:solidFill>
                  <a:srgbClr val="FF0000"/>
                </a:solidFill>
                <a:latin typeface="Times New Roman" panose="02020603050405020304"/>
                <a:ea typeface="黑体" panose="02010609060101010101" charset="-122"/>
              </a:rPr>
              <a:t>𝛽</a:t>
            </a:r>
            <a:r>
              <a:rPr lang="zh-CN" altLang="en-US" sz="2800" dirty="0">
                <a:solidFill>
                  <a:prstClr val="black"/>
                </a:solidFill>
                <a:latin typeface="Times New Roman" panose="02020603050405020304"/>
                <a:ea typeface="黑体" panose="02010609060101010101" charset="-122"/>
              </a:rPr>
              <a:t>，𝑟𝑒𝑤𝑎𝑟𝑑</a:t>
            </a:r>
            <a:r>
              <a:rPr lang="en-US" altLang="zh-CN" sz="2800" dirty="0">
                <a:solidFill>
                  <a:prstClr val="black"/>
                </a:solidFill>
                <a:latin typeface="Times New Roman" panose="02020603050405020304"/>
                <a:ea typeface="黑体" panose="02010609060101010101" charset="-122"/>
              </a:rPr>
              <a:t>(</a:t>
            </a:r>
            <a:r>
              <a:rPr lang="zh-CN" altLang="en-US" sz="2800" dirty="0">
                <a:solidFill>
                  <a:prstClr val="black"/>
                </a:solidFill>
                <a:latin typeface="Times New Roman" panose="02020603050405020304"/>
                <a:ea typeface="黑体" panose="02010609060101010101" charset="-122"/>
              </a:rPr>
              <a:t>𝑁</a:t>
            </a:r>
            <a:r>
              <a:rPr lang="en-US" altLang="zh-CN" sz="2800" dirty="0">
                <a:solidFill>
                  <a:prstClr val="black"/>
                </a:solidFill>
                <a:latin typeface="Times New Roman" panose="02020603050405020304"/>
                <a:ea typeface="黑体" panose="02010609060101010101" charset="-122"/>
              </a:rPr>
              <a:t>)</a:t>
            </a:r>
            <a:r>
              <a:rPr lang="zh-CN" altLang="en-US" sz="2800" dirty="0">
                <a:solidFill>
                  <a:prstClr val="black"/>
                </a:solidFill>
                <a:latin typeface="Times New Roman" panose="02020603050405020304"/>
                <a:ea typeface="黑体" panose="02010609060101010101" charset="-122"/>
              </a:rPr>
              <a:t>是节点𝑁产生的收益</a:t>
            </a:r>
            <a:endParaRPr lang="en-US" altLang="zh-CN" sz="2800" dirty="0">
              <a:solidFill>
                <a:prstClr val="black"/>
              </a:solidFill>
              <a:latin typeface="Times New Roman" panose="02020603050405020304"/>
              <a:ea typeface="黑体" panose="02010609060101010101" charset="-122"/>
            </a:endParaRPr>
          </a:p>
          <a:p>
            <a:pPr marL="457200" indent="-457200">
              <a:lnSpc>
                <a:spcPct val="130000"/>
              </a:lnSpc>
              <a:buFont typeface="Arial" panose="020B0604020202020204" pitchFamily="34" charset="0"/>
              <a:buChar char="•"/>
            </a:pPr>
            <a:r>
              <a:rPr lang="zh-CN" altLang="en-US" sz="2800" dirty="0">
                <a:solidFill>
                  <a:prstClr val="black"/>
                </a:solidFill>
                <a:latin typeface="Times New Roman" panose="02020603050405020304"/>
                <a:ea typeface="黑体" panose="02010609060101010101" charset="-122"/>
              </a:rPr>
              <a:t>每个节点有两个值，分别是𝛼和𝛽。节点的𝛼和𝛽值在搜索过程中不断变化。其中，𝛼从</a:t>
            </a:r>
            <a:r>
              <a:rPr lang="en-US" altLang="zh-CN" sz="2800" dirty="0">
                <a:solidFill>
                  <a:prstClr val="black"/>
                </a:solidFill>
                <a:latin typeface="Times New Roman" panose="02020603050405020304"/>
                <a:ea typeface="黑体" panose="02010609060101010101" charset="-122"/>
              </a:rPr>
              <a:t>−∞</a:t>
            </a:r>
            <a:r>
              <a:rPr lang="zh-CN" altLang="en-US" sz="2800" dirty="0">
                <a:solidFill>
                  <a:prstClr val="black"/>
                </a:solidFill>
                <a:latin typeface="Times New Roman" panose="02020603050405020304"/>
                <a:ea typeface="黑体" panose="02010609060101010101" charset="-122"/>
              </a:rPr>
              <a:t>逐渐增加、𝛽从</a:t>
            </a:r>
            <a:r>
              <a:rPr lang="en-US" altLang="zh-CN" sz="2800" dirty="0">
                <a:solidFill>
                  <a:prstClr val="black"/>
                </a:solidFill>
                <a:latin typeface="Times New Roman" panose="02020603050405020304"/>
                <a:ea typeface="黑体" panose="02010609060101010101" charset="-122"/>
              </a:rPr>
              <a:t>+∞</a:t>
            </a:r>
            <a:r>
              <a:rPr lang="zh-CN" altLang="en-US" sz="2800" dirty="0">
                <a:solidFill>
                  <a:prstClr val="black"/>
                </a:solidFill>
                <a:latin typeface="Times New Roman" panose="02020603050405020304"/>
                <a:ea typeface="黑体" panose="02010609060101010101" charset="-122"/>
              </a:rPr>
              <a:t>逐渐减少。如果一个节点中𝛼 </a:t>
            </a:r>
            <a:r>
              <a:rPr lang="en-US" altLang="zh-CN" sz="2800" dirty="0">
                <a:solidFill>
                  <a:prstClr val="black"/>
                </a:solidFill>
                <a:latin typeface="Times New Roman" panose="02020603050405020304"/>
                <a:ea typeface="黑体" panose="02010609060101010101" charset="-122"/>
              </a:rPr>
              <a:t>&gt; </a:t>
            </a:r>
            <a:r>
              <a:rPr lang="zh-CN" altLang="en-US" sz="2800" dirty="0">
                <a:solidFill>
                  <a:prstClr val="black"/>
                </a:solidFill>
                <a:latin typeface="Times New Roman" panose="02020603050405020304"/>
                <a:ea typeface="黑体" panose="02010609060101010101" charset="-122"/>
              </a:rPr>
              <a:t>𝛽，则该节点的后续节点可剪枝。</a:t>
            </a:r>
            <a:endParaRPr lang="zh-CN" altLang="en-US" sz="2800" dirty="0">
              <a:solidFill>
                <a:prstClr val="black"/>
              </a:solidFill>
              <a:latin typeface="Times New Roman" panose="02020603050405020304"/>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fade">
                                      <p:cBhvr>
                                        <p:cTn id="7" dur="500"/>
                                        <p:tgtEl>
                                          <p:spTgt spid="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xEl>
                                              <p:pRg st="1" end="1"/>
                                            </p:txEl>
                                          </p:spTgt>
                                        </p:tgtEl>
                                        <p:attrNameLst>
                                          <p:attrName>style.visibility</p:attrName>
                                        </p:attrNameLst>
                                      </p:cBhvr>
                                      <p:to>
                                        <p:strVal val="visible"/>
                                      </p:to>
                                    </p:set>
                                    <p:animEffect transition="in" filter="fade">
                                      <p:cBhvr>
                                        <p:cTn id="12" dur="500"/>
                                        <p:tgtEl>
                                          <p:spTgt spid="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xEl>
                                              <p:pRg st="2" end="2"/>
                                            </p:txEl>
                                          </p:spTgt>
                                        </p:tgtEl>
                                        <p:attrNameLst>
                                          <p:attrName>style.visibility</p:attrName>
                                        </p:attrNameLst>
                                      </p:cBhvr>
                                      <p:to>
                                        <p:strVal val="visible"/>
                                      </p:to>
                                    </p:set>
                                    <p:animEffect transition="in" filter="fade">
                                      <p:cBhvr>
                                        <p:cTn id="17" dur="500"/>
                                        <p:tgtEl>
                                          <p:spTgt spid="39">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500"/>
                                  </p:stCondLst>
                                  <p:childTnLst>
                                    <p:set>
                                      <p:cBhvr>
                                        <p:cTn id="20" dur="1" fill="hold">
                                          <p:stCondLst>
                                            <p:cond delay="0"/>
                                          </p:stCondLst>
                                        </p:cTn>
                                        <p:tgtEl>
                                          <p:spTgt spid="39">
                                            <p:txEl>
                                              <p:pRg st="3" end="3"/>
                                            </p:txEl>
                                          </p:spTgt>
                                        </p:tgtEl>
                                        <p:attrNameLst>
                                          <p:attrName>style.visibility</p:attrName>
                                        </p:attrNameLst>
                                      </p:cBhvr>
                                      <p:to>
                                        <p:strVal val="visible"/>
                                      </p:to>
                                    </p:set>
                                    <p:animEffect transition="in" filter="fade">
                                      <p:cBhvr>
                                        <p:cTn id="21" dur="500"/>
                                        <p:tgtEl>
                                          <p:spTgt spid="3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9">
                                            <p:txEl>
                                              <p:pRg st="4" end="4"/>
                                            </p:txEl>
                                          </p:spTgt>
                                        </p:tgtEl>
                                        <p:attrNameLst>
                                          <p:attrName>style.visibility</p:attrName>
                                        </p:attrNameLst>
                                      </p:cBhvr>
                                      <p:to>
                                        <p:strVal val="visible"/>
                                      </p:to>
                                    </p:set>
                                    <p:animEffect transition="in" filter="fade">
                                      <p:cBhvr>
                                        <p:cTn id="26" dur="500"/>
                                        <p:tgtEl>
                                          <p:spTgt spid="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3" name="图片 2"/>
          <p:cNvPicPr>
            <a:picLocks noChangeAspect="1"/>
          </p:cNvPicPr>
          <p:nvPr/>
        </p:nvPicPr>
        <p:blipFill rotWithShape="1">
          <a:blip r:embed="rId1"/>
          <a:srcRect t="12388"/>
          <a:stretch>
            <a:fillRect/>
          </a:stretch>
        </p:blipFill>
        <p:spPr>
          <a:xfrm>
            <a:off x="0" y="1136078"/>
            <a:ext cx="9144000" cy="467390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标题 3"/>
          <p:cNvSpPr txBox="1"/>
          <p:nvPr/>
        </p:nvSpPr>
        <p:spPr>
          <a:xfrm>
            <a:off x="0" y="159993"/>
            <a:ext cx="9144000" cy="654051"/>
          </a:xfrm>
          <a:prstGeom prst="rect">
            <a:avLst/>
          </a:prstGeom>
        </p:spPr>
        <p:txBody>
          <a:bodyPr>
            <a:normAutofit fontScale="92500" lnSpcReduction="10000"/>
          </a:bodyPr>
          <a:lstStyle>
            <a:lvl1pPr marL="161925" algn="l" defTabSz="685800" rtl="0" eaLnBrk="1" latinLnBrk="0" hangingPunct="1">
              <a:spcBef>
                <a:spcPct val="0"/>
              </a:spcBef>
              <a:buNone/>
              <a:defRPr sz="4000" b="1" kern="1200" baseline="0">
                <a:solidFill>
                  <a:schemeClr val="tx1"/>
                </a:solidFill>
                <a:latin typeface="微软雅黑" panose="020B0503020204020204" pitchFamily="34" charset="-122"/>
                <a:ea typeface="微软雅黑" panose="020B0503020204020204" pitchFamily="34" charset="-122"/>
                <a:cs typeface="+mj-cs"/>
              </a:defRPr>
            </a:lvl1pPr>
          </a:lstStyle>
          <a:p>
            <a:r>
              <a:rPr lang="zh-CN" altLang="en-US" b="0" dirty="0">
                <a:solidFill>
                  <a:prstClr val="black"/>
                </a:solidFill>
                <a:latin typeface="方正姚体" panose="02010601030101010101" pitchFamily="2" charset="-122"/>
                <a:ea typeface="方正姚体" panose="02010601030101010101" pitchFamily="2" charset="-122"/>
              </a:rPr>
              <a:t> </a:t>
            </a:r>
            <a:r>
              <a:rPr lang="en-US" altLang="zh-CN"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对抗搜索：</a:t>
            </a:r>
            <a:r>
              <a:rPr lang="en-US" altLang="zh-CN"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Alpha-Beta </a:t>
            </a:r>
            <a:r>
              <a:rPr lang="zh-CN" altLang="en-US" sz="4300"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剪枝搜索</a:t>
            </a:r>
            <a:endParaRPr lang="zh-CN" altLang="en-US" b="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0" y="1184565"/>
            <a:ext cx="9144000" cy="4489284"/>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3822</Words>
  <Application>WPS 演示</Application>
  <PresentationFormat>全屏显示(4:3)</PresentationFormat>
  <Paragraphs>236</Paragraphs>
  <Slides>31</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31</vt:i4>
      </vt:variant>
    </vt:vector>
  </HeadingPairs>
  <TitlesOfParts>
    <vt:vector size="50" baseType="lpstr">
      <vt:lpstr>Arial</vt:lpstr>
      <vt:lpstr>宋体</vt:lpstr>
      <vt:lpstr>Wingdings</vt:lpstr>
      <vt:lpstr>Verdana</vt:lpstr>
      <vt:lpstr>方正姚体</vt:lpstr>
      <vt:lpstr>Times New Roman</vt:lpstr>
      <vt:lpstr>Times New Roman</vt:lpstr>
      <vt:lpstr>微软雅黑</vt:lpstr>
      <vt:lpstr>Calibri</vt:lpstr>
      <vt:lpstr>黑体</vt:lpstr>
      <vt:lpstr>Cambria Math</vt:lpstr>
      <vt:lpstr>Arial Unicode MS</vt:lpstr>
      <vt:lpstr>等线 Light</vt:lpstr>
      <vt:lpstr>Calibri Light</vt:lpstr>
      <vt:lpstr>等线</vt:lpstr>
      <vt:lpstr>Cambria Math</vt:lpstr>
      <vt:lpstr>BatangChe</vt:lpstr>
      <vt:lpstr>AMGDT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jiajing</dc:creator>
  <cp:lastModifiedBy>梁桐</cp:lastModifiedBy>
  <cp:revision>4</cp:revision>
  <dcterms:created xsi:type="dcterms:W3CDTF">2022-04-21T01:49:00Z</dcterms:created>
  <dcterms:modified xsi:type="dcterms:W3CDTF">2025-06-16T10:22:04Z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CE0DC57DD3A944A1B03F606F96A8DE01_12</vt:lpwstr>
  </property>
  <property fmtid="{D5CDD505-2E9C-101B-9397-08002B2CF9AE}" pid="3" name="KSOProductBuildVer">
    <vt:lpwstr>2052-12.1.0.19770</vt:lpwstr>
  </property>
</Properties>
</file>