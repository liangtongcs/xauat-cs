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784" r:id="rId3"/>
    <p:sldId id="676" r:id="rId4"/>
    <p:sldId id="677" r:id="rId6"/>
    <p:sldId id="880" r:id="rId7"/>
    <p:sldId id="882" r:id="rId8"/>
    <p:sldId id="883" r:id="rId9"/>
    <p:sldId id="678" r:id="rId10"/>
    <p:sldId id="679" r:id="rId11"/>
    <p:sldId id="884" r:id="rId12"/>
    <p:sldId id="885" r:id="rId13"/>
    <p:sldId id="680" r:id="rId14"/>
    <p:sldId id="886" r:id="rId15"/>
    <p:sldId id="892" r:id="rId16"/>
    <p:sldId id="681" r:id="rId17"/>
    <p:sldId id="887" r:id="rId18"/>
    <p:sldId id="682" r:id="rId19"/>
    <p:sldId id="683" r:id="rId20"/>
    <p:sldId id="889" r:id="rId21"/>
    <p:sldId id="893" r:id="rId22"/>
    <p:sldId id="890" r:id="rId23"/>
    <p:sldId id="684" r:id="rId24"/>
    <p:sldId id="685" r:id="rId25"/>
    <p:sldId id="686" r:id="rId26"/>
    <p:sldId id="891" r:id="rId27"/>
    <p:sldId id="687" r:id="rId28"/>
    <p:sldId id="894"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autoAdjust="0"/>
    <p:restoredTop sz="94660"/>
  </p:normalViewPr>
  <p:slideViewPr>
    <p:cSldViewPr snapToGrid="0">
      <p:cViewPr varScale="1">
        <p:scale>
          <a:sx n="68" d="100"/>
          <a:sy n="68" d="100"/>
        </p:scale>
        <p:origin x="648"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D819E7-7361-494F-8B3B-D059BB1998B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9F9ECB-EFFE-400E-9C7A-14AEE42C6CB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ChangeArrowheads="1" noTextEdit="1"/>
          </p:cNvSpPr>
          <p:nvPr>
            <p:ph type="sldImg"/>
          </p:nvPr>
        </p:nvSpPr>
        <p:spPr>
          <a:xfrm>
            <a:off x="1143000" y="685800"/>
            <a:ext cx="4572000" cy="3429000"/>
          </a:xfrm>
        </p:spPr>
      </p:sp>
      <p:sp>
        <p:nvSpPr>
          <p:cNvPr id="19458" name="备注占位符 2"/>
          <p:cNvSpPr>
            <a:spLocks noGrp="1" noChangeArrowheads="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59" name="灯片编号占位符 3"/>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DA079DD9-C9D1-C543-AF12-536BB687E807}" type="slidenum">
              <a:rPr kumimoji="0" lang="en-US" altLang="zh-CN" sz="2800" b="0" i="0" u="none" strike="noStrike" kern="1200" cap="none" spc="0" normalizeH="0" baseline="0" noProof="0" smtClean="0">
                <a:ln>
                  <a:noFill/>
                </a:ln>
                <a:solidFill>
                  <a:prstClr val="black"/>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7181A378-AD84-4E06-B1B5-6D5F5ACB78A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zh-CN" altLang="en-US"/>
              <a:t>单击此处编辑母版标题样式</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A42E54B1-0884-4633-8327-893DAA1E511F}"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zh-CN" altLang="en-US"/>
              <a:t>单击此处编辑母版标题样式</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7181A378-AD84-4E06-B1B5-6D5F5ACB78AE}"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2" name="Content Placeholder 3"/>
          <p:cNvSpPr>
            <a:spLocks noGrp="1"/>
          </p:cNvSpPr>
          <p:nvPr>
            <p:ph sz="quarter" idx="13"/>
          </p:nvPr>
        </p:nvSpPr>
        <p:spPr>
          <a:xfrm>
            <a:off x="685331" y="3051013"/>
            <a:ext cx="3829520" cy="27401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3" name="Content Placeholder 5"/>
          <p:cNvSpPr>
            <a:spLocks noGrp="1"/>
          </p:cNvSpPr>
          <p:nvPr>
            <p:ph sz="quarter" idx="14"/>
          </p:nvPr>
        </p:nvSpPr>
        <p:spPr>
          <a:xfrm>
            <a:off x="4629150" y="3051013"/>
            <a:ext cx="3829051" cy="27401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7181A378-AD84-4E06-B1B5-6D5F5ACB78AE}" type="datetime1">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76C0FCEF-073A-4FC7-8BAD-A662F97179A2}" type="datetime1">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zh-CN" altLang="en-US"/>
              <a:t>单击此处编辑母版标题样式</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7181A378-AD84-4E06-B1B5-6D5F5ACB78AE}"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5D8D4C65-E77B-45F2-BD81-CFF9643C0CCF}"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7181A378-AD84-4E06-B1B5-6D5F5ACB78AE}"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7181A378-AD84-4E06-B1B5-6D5F5ACB78AE}"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7181A378-AD84-4E06-B1B5-6D5F5ACB78AE}"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7181A378-AD84-4E06-B1B5-6D5F5ACB78AE}"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3" name="Date Placeholder 2"/>
          <p:cNvSpPr>
            <a:spLocks noGrp="1"/>
          </p:cNvSpPr>
          <p:nvPr>
            <p:ph type="dt" sz="half" idx="10"/>
          </p:nvPr>
        </p:nvSpPr>
        <p:spPr/>
        <p:txBody>
          <a:bodyPr/>
          <a:lstStyle/>
          <a:p>
            <a:fld id="{7181A378-AD84-4E06-B1B5-6D5F5ACB78AE}" type="datetime1">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3" name="Date Placeholder 2"/>
          <p:cNvSpPr>
            <a:spLocks noGrp="1"/>
          </p:cNvSpPr>
          <p:nvPr>
            <p:ph type="dt" sz="half" idx="10"/>
          </p:nvPr>
        </p:nvSpPr>
        <p:spPr/>
        <p:txBody>
          <a:bodyPr/>
          <a:lstStyle/>
          <a:p>
            <a:fld id="{7181A378-AD84-4E06-B1B5-6D5F5ACB78AE}" type="datetime1">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7181A378-AD84-4E06-B1B5-6D5F5ACB78A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zh-CN" altLang="en-US"/>
              <a:t>单击此处编辑母版标题样式</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7181A378-AD84-4E06-B1B5-6D5F5ACB78A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a:prstGeom prst="rect">
            <a:avLst/>
          </a:prstGeom>
        </p:spPr>
        <p:txBody>
          <a:bodyPr/>
          <a:lstStyle/>
          <a:p>
            <a:r>
              <a:rPr lang="zh-CN" altLang="en-US"/>
              <a:t>单击此处编辑母版标题样式</a:t>
            </a:r>
            <a:endParaRPr lang="zh-CN" altLang="en-US"/>
          </a:p>
        </p:txBody>
      </p:sp>
      <p:sp>
        <p:nvSpPr>
          <p:cNvPr id="3" name="Rectangle 2"/>
          <p:cNvSpPr>
            <a:spLocks noGrp="1" noChangeArrowheads="1"/>
          </p:cNvSpPr>
          <p:nvPr>
            <p:ph type="sldNum" sz="quarter" idx="10"/>
          </p:nvPr>
        </p:nvSpPr>
        <p:spPr/>
        <p:txBody>
          <a:bodyPr/>
          <a:lstStyle>
            <a:lvl1pPr>
              <a:defRPr/>
            </a:lvl1pPr>
          </a:lstStyle>
          <a:p>
            <a:pPr>
              <a:defRPr/>
            </a:pPr>
            <a:fld id="{564B43B8-EC4A-5743-9CA4-764B42BFAC9D}" type="slidenum">
              <a:rPr lang="zh-CN" altLang="en-US"/>
            </a:fld>
            <a:endParaRPr lang="en-US" altLang="zh-CN" sz="135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3.pn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7181A378-AD84-4E06-B1B5-6D5F5ACB78AE}" type="datetime1">
              <a:rPr lang="zh-CN" altLang="en-US" smtClean="0"/>
            </a:fld>
            <a:endParaRPr lang="zh-CN" alt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zh-CN" alt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5AD84F5B-1672-4D3F-9FEC-5DF89A7B791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14.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16.png"/><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18.png"/><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79719" y="2468886"/>
            <a:ext cx="7772400" cy="2095500"/>
          </a:xfrm>
        </p:spPr>
        <p:txBody>
          <a:bodyPr>
            <a:normAutofit/>
          </a:bodyPr>
          <a:lstStyle/>
          <a:p>
            <a:pPr algn="ctr">
              <a:lnSpc>
                <a:spcPct val="100000"/>
              </a:lnSpc>
            </a:pPr>
            <a:r>
              <a:rPr lang="zh-CN" altLang="en-US" sz="8800" b="1" spc="600" dirty="0">
                <a:latin typeface="华文行楷" panose="02010800040101010101" pitchFamily="2" charset="-122"/>
                <a:ea typeface="华文行楷" panose="02010800040101010101" pitchFamily="2" charset="-122"/>
                <a:cs typeface="微软雅黑" panose="020B0503020204020204" pitchFamily="34" charset="-122"/>
              </a:rPr>
              <a:t>搜索与求解</a:t>
            </a:r>
            <a:endParaRPr lang="zh-CN" altLang="en-US" sz="8800" spc="600" dirty="0">
              <a:latin typeface="华文行楷" panose="02010800040101010101" pitchFamily="2" charset="-122"/>
              <a:ea typeface="华文行楷" panose="02010800040101010101" pitchFamily="2" charset="-122"/>
            </a:endParaRPr>
          </a:p>
        </p:txBody>
      </p:sp>
      <p:sp>
        <p:nvSpPr>
          <p:cNvPr id="5" name="矩形 4"/>
          <p:cNvSpPr/>
          <p:nvPr/>
        </p:nvSpPr>
        <p:spPr>
          <a:xfrm>
            <a:off x="4877161" y="530764"/>
            <a:ext cx="3775393" cy="400110"/>
          </a:xfrm>
          <a:prstGeom prst="rect">
            <a:avLst/>
          </a:prstGeom>
        </p:spPr>
        <p:txBody>
          <a:bodyPr wrap="none">
            <a:spAutoFit/>
          </a:bodyPr>
          <a:lstStyle/>
          <a:p>
            <a:r>
              <a:rPr lang="en-US" altLang="zh-CN" sz="2000" dirty="0">
                <a:solidFill>
                  <a:prstClr val="black"/>
                </a:solidFill>
                <a:latin typeface="Times New Roman" panose="02020603050405020304"/>
                <a:ea typeface="黑体" panose="02010609060101010101" charset="-122"/>
              </a:rPr>
              <a:t>《</a:t>
            </a:r>
            <a:r>
              <a:rPr lang="zh-CN" altLang="en-US" sz="2000" dirty="0">
                <a:solidFill>
                  <a:prstClr val="black"/>
                </a:solidFill>
                <a:latin typeface="Times New Roman" panose="02020603050405020304"/>
                <a:ea typeface="黑体" panose="02010609060101010101" charset="-122"/>
              </a:rPr>
              <a:t>人工智能导论：模型与算法</a:t>
            </a:r>
            <a:r>
              <a:rPr lang="en-US" altLang="zh-CN" sz="2000" dirty="0">
                <a:solidFill>
                  <a:prstClr val="black"/>
                </a:solidFill>
                <a:latin typeface="Times New Roman" panose="02020603050405020304"/>
                <a:ea typeface="黑体" panose="02010609060101010101" charset="-122"/>
              </a:rPr>
              <a:t>》</a:t>
            </a:r>
            <a:endParaRPr lang="zh-CN" altLang="en-US" sz="2000" dirty="0">
              <a:solidFill>
                <a:prstClr val="black"/>
              </a:solidFill>
              <a:latin typeface="Times New Roman" panose="02020603050405020304"/>
              <a:ea typeface="黑体" panose="02010609060101010101" charset="-122"/>
            </a:endParaRPr>
          </a:p>
        </p:txBody>
      </p:sp>
      <p:sp>
        <p:nvSpPr>
          <p:cNvPr id="8" name="标题 1"/>
          <p:cNvSpPr txBox="1"/>
          <p:nvPr/>
        </p:nvSpPr>
        <p:spPr>
          <a:xfrm>
            <a:off x="679719" y="1848864"/>
            <a:ext cx="7772400" cy="1240032"/>
          </a:xfrm>
          <a:prstGeom prst="rect">
            <a:avLst/>
          </a:prstGeom>
        </p:spPr>
        <p:txBody>
          <a:bodyPr vert="horz" lIns="91440" tIns="144000" rIns="91440" bIns="45720" rtlCol="0" anchor="b">
            <a:normAutofit/>
          </a:bodyPr>
          <a:lstStyle>
            <a:lvl1pPr algn="ctr" defTabSz="914400" rtl="0" eaLnBrk="1" latinLnBrk="0" hangingPunct="1">
              <a:lnSpc>
                <a:spcPct val="90000"/>
              </a:lnSpc>
              <a:spcBef>
                <a:spcPct val="0"/>
              </a:spcBef>
              <a:buNone/>
              <a:defRPr sz="4800" kern="1200">
                <a:solidFill>
                  <a:srgbClr val="C00000"/>
                </a:solidFill>
                <a:latin typeface="+mj-lt"/>
                <a:ea typeface="+mj-ea"/>
                <a:cs typeface="+mj-cs"/>
              </a:defRPr>
            </a:lvl1pPr>
          </a:lstStyle>
          <a:p>
            <a:pPr>
              <a:lnSpc>
                <a:spcPct val="100000"/>
              </a:lnSpc>
            </a:pPr>
            <a:r>
              <a:rPr lang="zh-CN" altLang="en-US"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第 </a:t>
            </a:r>
            <a:r>
              <a:rPr lang="en-US" altLang="zh-CN"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3 </a:t>
            </a:r>
            <a:r>
              <a:rPr lang="zh-CN" altLang="en-US"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章</a:t>
            </a:r>
            <a:endParaRPr lang="zh-CN" altLang="en-US" sz="6600" spc="600" dirty="0">
              <a:solidFill>
                <a:prstClr val="black"/>
              </a:solidFill>
              <a:latin typeface="华文行楷" panose="02010800040101010101" pitchFamily="2" charset="-122"/>
              <a:ea typeface="华文行楷" panose="020108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9" y="2"/>
            <a:ext cx="6780609" cy="90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r>
              <a:rPr lang="zh-CN" altLang="en-US" sz="4400" b="1" dirty="0">
                <a:solidFill>
                  <a:srgbClr val="C00000"/>
                </a:solidFill>
                <a:latin typeface="方正姚体" panose="02010601030101010101" pitchFamily="2" charset="-122"/>
                <a:ea typeface="方正姚体" panose="02010601030101010101" pitchFamily="2" charset="-122"/>
                <a:sym typeface="Times New Roman" panose="02020603050405020304" pitchFamily="18" charset="0"/>
              </a:rPr>
              <a:t>  提纲</a:t>
            </a:r>
            <a:endParaRPr lang="zh-CN" altLang="en-US" sz="4400" b="1" dirty="0">
              <a:solidFill>
                <a:srgbClr val="C00000"/>
              </a:solidFill>
              <a:latin typeface="方正姚体" panose="02010601030101010101" pitchFamily="2" charset="-122"/>
              <a:ea typeface="方正姚体" panose="02010601030101010101" pitchFamily="2" charset="-122"/>
              <a:sym typeface="Times New Roman" panose="02020603050405020304" pitchFamily="18" charset="0"/>
            </a:endParaRPr>
          </a:p>
        </p:txBody>
      </p:sp>
      <p:sp>
        <p:nvSpPr>
          <p:cNvPr id="22" name="矩形 7"/>
          <p:cNvSpPr>
            <a:spLocks noChangeArrowheads="1"/>
          </p:cNvSpPr>
          <p:nvPr/>
        </p:nvSpPr>
        <p:spPr bwMode="auto">
          <a:xfrm>
            <a:off x="944267" y="2492066"/>
            <a:ext cx="7200000" cy="632866"/>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3200" b="1" dirty="0">
                <a:latin typeface="Times New Roman" panose="02020603050405020304"/>
                <a:ea typeface="微软雅黑" panose="020B0503020204020204" pitchFamily="34" charset="-122"/>
                <a:sym typeface="Calibri" panose="020F0502020204030204" pitchFamily="34" charset="0"/>
              </a:rPr>
              <a:t>二、对抗搜索</a:t>
            </a:r>
            <a:endParaRPr kumimoji="0" lang="zh-CN" altLang="en-US" sz="3200" b="1" dirty="0">
              <a:latin typeface="Times New Roman" panose="02020603050405020304"/>
              <a:ea typeface="微软雅黑" panose="020B0503020204020204" pitchFamily="34" charset="-122"/>
              <a:sym typeface="Calibri" panose="020F0502020204030204" pitchFamily="34" charset="0"/>
            </a:endParaRPr>
          </a:p>
        </p:txBody>
      </p:sp>
      <p:sp>
        <p:nvSpPr>
          <p:cNvPr id="24" name="矩形 7"/>
          <p:cNvSpPr>
            <a:spLocks noChangeArrowheads="1"/>
          </p:cNvSpPr>
          <p:nvPr/>
        </p:nvSpPr>
        <p:spPr bwMode="auto">
          <a:xfrm>
            <a:off x="944267" y="1476282"/>
            <a:ext cx="7200000" cy="632866"/>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3200" b="1" dirty="0">
                <a:latin typeface="Times New Roman" panose="02020603050405020304"/>
                <a:ea typeface="微软雅黑" panose="020B0503020204020204" pitchFamily="34" charset="-122"/>
              </a:rPr>
              <a:t>一、启发搜索</a:t>
            </a:r>
            <a:endParaRPr kumimoji="0" lang="zh-CN" altLang="en-US" sz="3200" b="1" dirty="0">
              <a:latin typeface="Times New Roman" panose="02020603050405020304"/>
              <a:ea typeface="微软雅黑" panose="020B0503020204020204" pitchFamily="34" charset="-122"/>
            </a:endParaRPr>
          </a:p>
        </p:txBody>
      </p:sp>
      <p:sp>
        <p:nvSpPr>
          <p:cNvPr id="6" name="矩形 7"/>
          <p:cNvSpPr>
            <a:spLocks noChangeArrowheads="1"/>
          </p:cNvSpPr>
          <p:nvPr/>
        </p:nvSpPr>
        <p:spPr bwMode="auto">
          <a:xfrm>
            <a:off x="944267" y="3492766"/>
            <a:ext cx="7200000" cy="632866"/>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3200" b="1" dirty="0">
                <a:solidFill>
                  <a:srgbClr val="C00000"/>
                </a:solidFill>
                <a:latin typeface="Times New Roman" panose="02020603050405020304"/>
                <a:ea typeface="微软雅黑" panose="020B0503020204020204" pitchFamily="34" charset="-122"/>
                <a:sym typeface="Calibri" panose="020F0502020204030204" pitchFamily="34" charset="0"/>
              </a:rPr>
              <a:t>三、蒙特卡洛树搜索</a:t>
            </a:r>
            <a:endParaRPr kumimoji="0" lang="zh-CN" altLang="en-US" sz="3200" b="1" dirty="0">
              <a:solidFill>
                <a:srgbClr val="C00000"/>
              </a:solidFill>
              <a:latin typeface="Times New Roman" panose="02020603050405020304"/>
              <a:ea typeface="微软雅黑" panose="020B0503020204020204" pitchFamily="34" charset="-122"/>
              <a:sym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594919" y="1421465"/>
                <a:ext cx="7943161" cy="5181162"/>
              </a:xfrm>
              <a:prstGeom prst="rect">
                <a:avLst/>
              </a:prstGeom>
            </p:spPr>
            <p:txBody>
              <a:bodyPr wrap="square">
                <a:spAutoFit/>
              </a:bodyPr>
              <a:lstStyle/>
              <a:p>
                <a:pPr algn="just">
                  <a:lnSpc>
                    <a:spcPct val="150000"/>
                  </a:lnSpc>
                </a:pPr>
                <a:r>
                  <a:rPr lang="zh-CN" altLang="zh-CN" sz="2800" dirty="0">
                    <a:solidFill>
                      <a:prstClr val="black"/>
                    </a:solidFill>
                    <a:latin typeface="Times New Roman" panose="02020603050405020304"/>
                    <a:ea typeface="黑体" panose="02010609060101010101" charset="-122"/>
                  </a:rPr>
                  <a:t>先考虑一个简化问题：</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50000"/>
                  </a:lnSpc>
                  <a:buFont typeface="Arial" panose="020B0604020202020204" pitchFamily="34" charset="0"/>
                  <a:buChar char="•"/>
                </a:pPr>
                <a:r>
                  <a:rPr lang="zh-CN" altLang="zh-CN" sz="2800" dirty="0">
                    <a:solidFill>
                      <a:prstClr val="black"/>
                    </a:solidFill>
                    <a:latin typeface="Times New Roman" panose="02020603050405020304"/>
                    <a:ea typeface="黑体" panose="02010609060101010101" charset="-122"/>
                  </a:rPr>
                  <a:t>假设有</a:t>
                </a:r>
                <a14:m>
                  <m:oMath xmlns:m="http://schemas.openxmlformats.org/officeDocument/2006/math">
                    <m:r>
                      <a:rPr lang="en-US" altLang="zh-CN" sz="2800" i="1">
                        <a:solidFill>
                          <a:prstClr val="black"/>
                        </a:solidFill>
                        <a:latin typeface="Cambria Math" panose="02040503050406030204"/>
                      </a:rPr>
                      <m:t>𝐾</m:t>
                    </m:r>
                  </m:oMath>
                </a14:m>
                <a:r>
                  <a:rPr lang="zh-CN" altLang="zh-CN" sz="2800" dirty="0">
                    <a:solidFill>
                      <a:prstClr val="black"/>
                    </a:solidFill>
                    <a:latin typeface="Times New Roman" panose="02020603050405020304"/>
                    <a:ea typeface="黑体" panose="02010609060101010101" charset="-122"/>
                  </a:rPr>
                  <a:t>个赌博机，每个赌博机有一个臂膀。</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50000"/>
                  </a:lnSpc>
                  <a:buFont typeface="Arial" panose="020B0604020202020204" pitchFamily="34" charset="0"/>
                  <a:buChar char="•"/>
                </a:pPr>
                <a:r>
                  <a:rPr lang="zh-CN" altLang="zh-CN" sz="2800" dirty="0">
                    <a:solidFill>
                      <a:prstClr val="black"/>
                    </a:solidFill>
                    <a:latin typeface="Times New Roman" panose="02020603050405020304"/>
                    <a:ea typeface="黑体" panose="02010609060101010101" charset="-122"/>
                  </a:rPr>
                  <a:t>每次转动一个赌博机臂膀，赌博机则会随机吐出一些硬币或不吐出硬币，将所吐出的硬币的币值用收益分数来表示。</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50000"/>
                  </a:lnSpc>
                  <a:buFont typeface="Arial" panose="020B0604020202020204" pitchFamily="34" charset="0"/>
                  <a:buChar char="•"/>
                </a:pPr>
                <a:r>
                  <a:rPr lang="zh-CN" altLang="zh-CN" sz="2800" dirty="0">
                    <a:solidFill>
                      <a:prstClr val="black"/>
                    </a:solidFill>
                    <a:latin typeface="Times New Roman" panose="02020603050405020304"/>
                    <a:ea typeface="黑体" panose="02010609060101010101" charset="-122"/>
                  </a:rPr>
                  <a:t>假设给智能体</a:t>
                </a:r>
                <a14:m>
                  <m:oMath xmlns:m="http://schemas.openxmlformats.org/officeDocument/2006/math">
                    <m:r>
                      <a:rPr lang="en-US" altLang="zh-CN" sz="2800" i="1">
                        <a:solidFill>
                          <a:prstClr val="black"/>
                        </a:solidFill>
                        <a:latin typeface="Cambria Math" panose="02040503050406030204"/>
                      </a:rPr>
                      <m:t>𝜏</m:t>
                    </m:r>
                    <m:r>
                      <a:rPr lang="en-US" altLang="zh-CN" sz="2800">
                        <a:solidFill>
                          <a:prstClr val="black"/>
                        </a:solidFill>
                        <a:latin typeface="Cambria Math" panose="02040503050406030204"/>
                      </a:rPr>
                      <m:t>(</m:t>
                    </m:r>
                    <m:r>
                      <m:rPr>
                        <m:sty m:val="p"/>
                      </m:rPr>
                      <a:rPr lang="en-US" altLang="zh-CN" sz="2800">
                        <a:solidFill>
                          <a:prstClr val="black"/>
                        </a:solidFill>
                        <a:latin typeface="Cambria Math" panose="02040503050406030204"/>
                      </a:rPr>
                      <m:t>τ</m:t>
                    </m:r>
                    <m:r>
                      <a:rPr lang="en-US" altLang="zh-CN" sz="2800">
                        <a:solidFill>
                          <a:prstClr val="black"/>
                        </a:solidFill>
                        <a:latin typeface="Cambria Math" panose="02040503050406030204"/>
                      </a:rPr>
                      <m:t>&gt;</m:t>
                    </m:r>
                    <m:r>
                      <m:rPr>
                        <m:sty m:val="p"/>
                      </m:rPr>
                      <a:rPr lang="en-US" altLang="zh-CN" sz="2800">
                        <a:solidFill>
                          <a:prstClr val="black"/>
                        </a:solidFill>
                        <a:latin typeface="Cambria Math" panose="02040503050406030204"/>
                      </a:rPr>
                      <m:t>K</m:t>
                    </m:r>
                    <m:r>
                      <a:rPr lang="en-US" altLang="zh-CN" sz="2800">
                        <a:solidFill>
                          <a:prstClr val="black"/>
                        </a:solidFill>
                        <a:latin typeface="Cambria Math" panose="02040503050406030204"/>
                      </a:rPr>
                      <m:t>)</m:t>
                    </m:r>
                  </m:oMath>
                </a14:m>
                <a:r>
                  <a:rPr lang="zh-CN" altLang="zh-CN" sz="2800" dirty="0">
                    <a:solidFill>
                      <a:prstClr val="black"/>
                    </a:solidFill>
                    <a:latin typeface="Times New Roman" panose="02020603050405020304"/>
                    <a:ea typeface="黑体" panose="02010609060101010101" charset="-122"/>
                  </a:rPr>
                  <a:t>次转动臂膀的机会，智能体如何选择赌博机、转动</a:t>
                </a:r>
                <a14:m>
                  <m:oMath xmlns:m="http://schemas.openxmlformats.org/officeDocument/2006/math">
                    <m:r>
                      <a:rPr lang="en-US" altLang="zh-CN" sz="2800" i="1">
                        <a:solidFill>
                          <a:prstClr val="black"/>
                        </a:solidFill>
                        <a:latin typeface="Cambria Math" panose="02040503050406030204"/>
                      </a:rPr>
                      <m:t>𝜏</m:t>
                    </m:r>
                  </m:oMath>
                </a14:m>
                <a:r>
                  <a:rPr lang="zh-CN" altLang="zh-CN" sz="2800" dirty="0">
                    <a:solidFill>
                      <a:prstClr val="black"/>
                    </a:solidFill>
                    <a:latin typeface="Times New Roman" panose="02020603050405020304"/>
                    <a:ea typeface="黑体" panose="02010609060101010101" charset="-122"/>
                  </a:rPr>
                  <a:t>次赌博机臂膀，能够获得更多的收益分数呢？</a:t>
                </a:r>
                <a:endParaRPr lang="en-US" altLang="zh-CN" sz="2800" dirty="0">
                  <a:solidFill>
                    <a:prstClr val="black"/>
                  </a:solidFill>
                  <a:latin typeface="Times New Roman" panose="02020603050405020304"/>
                  <a:ea typeface="黑体" panose="02010609060101010101" charset="-122"/>
                </a:endParaRPr>
              </a:p>
            </p:txBody>
          </p:sp>
        </mc:Choice>
        <mc:Fallback>
          <p:sp>
            <p:nvSpPr>
              <p:cNvPr id="2" name="矩形 1"/>
              <p:cNvSpPr>
                <a:spLocks noRot="1" noChangeAspect="1" noMove="1" noResize="1" noEditPoints="1" noAdjustHandles="1" noChangeArrowheads="1" noChangeShapeType="1" noTextEdit="1"/>
              </p:cNvSpPr>
              <p:nvPr/>
            </p:nvSpPr>
            <p:spPr>
              <a:xfrm>
                <a:off x="594919" y="1421465"/>
                <a:ext cx="7943161" cy="5181162"/>
              </a:xfrm>
              <a:prstGeom prst="rect">
                <a:avLst/>
              </a:prstGeom>
              <a:blipFill rotWithShape="1">
                <a:blip r:embed="rId1"/>
                <a:stretch>
                  <a:fillRect l="-7" t="-6" r="6" b="10"/>
                </a:stretch>
              </a:blipFill>
            </p:spPr>
            <p:txBody>
              <a:bodyPr/>
              <a:lstStyle/>
              <a:p>
                <a:r>
                  <a:rPr lang="zh-CN" altLang="en-US">
                    <a:noFill/>
                  </a:rPr>
                  <a:t> </a:t>
                </a:r>
              </a:p>
            </p:txBody>
          </p:sp>
        </mc:Fallback>
      </mc:AlternateContent>
      <p:sp>
        <p:nvSpPr>
          <p:cNvPr id="6" name="标题 3"/>
          <p:cNvSpPr txBox="1"/>
          <p:nvPr/>
        </p:nvSpPr>
        <p:spPr>
          <a:xfrm>
            <a:off x="0" y="441350"/>
            <a:ext cx="9144000" cy="654051"/>
          </a:xfrm>
          <a:prstGeom prst="rect">
            <a:avLst/>
          </a:prstGeom>
        </p:spPr>
        <p:txBody>
          <a:bodyPr>
            <a:noAutofit/>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594919" y="1140108"/>
                <a:ext cx="7943161" cy="5181162"/>
              </a:xfrm>
              <a:prstGeom prst="rect">
                <a:avLst/>
              </a:prstGeom>
            </p:spPr>
            <p:txBody>
              <a:bodyPr wrap="square">
                <a:spAutoFit/>
              </a:bodyPr>
              <a:lstStyle/>
              <a:p>
                <a:pPr algn="just">
                  <a:lnSpc>
                    <a:spcPct val="150000"/>
                  </a:lnSpc>
                </a:pPr>
                <a:r>
                  <a:rPr lang="zh-CN" altLang="en-US" sz="2800" dirty="0">
                    <a:solidFill>
                      <a:prstClr val="black"/>
                    </a:solidFill>
                    <a:latin typeface="Times New Roman" panose="02020603050405020304"/>
                    <a:ea typeface="黑体" panose="02010609060101010101" charset="-122"/>
                  </a:rPr>
                  <a:t>方法：</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50000"/>
                  </a:lnSpc>
                  <a:buFont typeface="Arial" panose="020B0604020202020204" pitchFamily="34" charset="0"/>
                  <a:buChar char="•"/>
                </a:pPr>
                <a:r>
                  <a:rPr lang="zh-CN" altLang="zh-CN" sz="2800" dirty="0">
                    <a:solidFill>
                      <a:prstClr val="black"/>
                    </a:solidFill>
                    <a:latin typeface="Times New Roman" panose="02020603050405020304"/>
                    <a:ea typeface="黑体" panose="02010609060101010101" charset="-122"/>
                  </a:rPr>
                  <a:t>智能体先把</a:t>
                </a:r>
                <a14:m>
                  <m:oMath xmlns:m="http://schemas.openxmlformats.org/officeDocument/2006/math">
                    <m:r>
                      <a:rPr lang="en-US" altLang="zh-CN" sz="2800" i="1">
                        <a:solidFill>
                          <a:prstClr val="black"/>
                        </a:solidFill>
                        <a:latin typeface="Cambria Math" panose="02040503050406030204"/>
                      </a:rPr>
                      <m:t>𝐾</m:t>
                    </m:r>
                  </m:oMath>
                </a14:m>
                <a:r>
                  <a:rPr lang="zh-CN" altLang="zh-CN" sz="2800" dirty="0">
                    <a:solidFill>
                      <a:prstClr val="black"/>
                    </a:solidFill>
                    <a:latin typeface="Times New Roman" panose="02020603050405020304"/>
                    <a:ea typeface="黑体" panose="02010609060101010101" charset="-122"/>
                  </a:rPr>
                  <a:t>个赌博机臂膀依次转动一遍，观察在摇动每个赌博机臂膀时的收益分数</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50000"/>
                  </a:lnSpc>
                  <a:buFont typeface="Arial" panose="020B0604020202020204" pitchFamily="34" charset="0"/>
                  <a:buChar char="•"/>
                </a:pPr>
                <a:r>
                  <a:rPr lang="zh-CN" altLang="zh-CN" sz="2800" dirty="0">
                    <a:solidFill>
                      <a:prstClr val="black"/>
                    </a:solidFill>
                    <a:latin typeface="Times New Roman" panose="02020603050405020304"/>
                    <a:ea typeface="黑体" panose="02010609060101010101" charset="-122"/>
                  </a:rPr>
                  <a:t>转动收益分数高的赌博机臂膀。</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50000"/>
                  </a:lnSpc>
                  <a:buFont typeface="Arial" panose="020B0604020202020204" pitchFamily="34" charset="0"/>
                  <a:buChar char="•"/>
                </a:pPr>
                <a:r>
                  <a:rPr lang="zh-CN" altLang="zh-CN" sz="2800" dirty="0">
                    <a:solidFill>
                      <a:prstClr val="black"/>
                    </a:solidFill>
                    <a:latin typeface="Times New Roman" panose="02020603050405020304"/>
                    <a:ea typeface="黑体" panose="02010609060101010101" charset="-122"/>
                  </a:rPr>
                  <a:t>由于从每个赌博机获得的收益分数是随机的，显然刚刚给用户带来可观收益分数的赌博机在下一次摇动其臂膀时就可能不会获得可观收益分数了，因此这一方法不可取。</a:t>
                </a:r>
                <a:endParaRPr lang="zh-CN" altLang="zh-CN" sz="2800" dirty="0">
                  <a:solidFill>
                    <a:prstClr val="black"/>
                  </a:solidFill>
                  <a:latin typeface="Times New Roman" panose="02020603050405020304"/>
                  <a:ea typeface="黑体" panose="02010609060101010101" charset="-122"/>
                </a:endParaRPr>
              </a:p>
            </p:txBody>
          </p:sp>
        </mc:Choice>
        <mc:Fallback>
          <p:sp>
            <p:nvSpPr>
              <p:cNvPr id="2" name="矩形 1"/>
              <p:cNvSpPr>
                <a:spLocks noRot="1" noChangeAspect="1" noMove="1" noResize="1" noEditPoints="1" noAdjustHandles="1" noChangeArrowheads="1" noChangeShapeType="1" noTextEdit="1"/>
              </p:cNvSpPr>
              <p:nvPr/>
            </p:nvSpPr>
            <p:spPr>
              <a:xfrm>
                <a:off x="594919" y="1140108"/>
                <a:ext cx="7943161" cy="5181162"/>
              </a:xfrm>
              <a:prstGeom prst="rect">
                <a:avLst/>
              </a:prstGeom>
              <a:blipFill rotWithShape="1">
                <a:blip r:embed="rId1"/>
                <a:stretch>
                  <a:fillRect l="-7" t="-5" r="6" b="9"/>
                </a:stretch>
              </a:blipFill>
            </p:spPr>
            <p:txBody>
              <a:bodyPr/>
              <a:lstStyle/>
              <a:p>
                <a:r>
                  <a:rPr lang="zh-CN" altLang="en-US">
                    <a:noFill/>
                  </a:rPr>
                  <a:t> </a:t>
                </a:r>
              </a:p>
            </p:txBody>
          </p:sp>
        </mc:Fallback>
      </mc:AlternateContent>
      <p:sp>
        <p:nvSpPr>
          <p:cNvPr id="6" name="标题 3"/>
          <p:cNvSpPr txBox="1"/>
          <p:nvPr/>
        </p:nvSpPr>
        <p:spPr>
          <a:xfrm>
            <a:off x="0" y="159993"/>
            <a:ext cx="9144000" cy="654051"/>
          </a:xfrm>
          <a:prstGeom prst="rect">
            <a:avLst/>
          </a:prstGeom>
        </p:spPr>
        <p:txBody>
          <a:bodyPr>
            <a:noAutofit/>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1065" y="1070830"/>
            <a:ext cx="7943161" cy="4580998"/>
          </a:xfrm>
          <a:prstGeom prst="rect">
            <a:avLst/>
          </a:prstGeom>
        </p:spPr>
        <p:txBody>
          <a:bodyPr wrap="square">
            <a:spAutoFit/>
          </a:bodyPr>
          <a:lstStyle/>
          <a:p>
            <a:pPr algn="just">
              <a:lnSpc>
                <a:spcPct val="15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a:t>
            </a:r>
            <a:r>
              <a:rPr lang="en-US" altLang="zh-CN" sz="3000" dirty="0">
                <a:solidFill>
                  <a:srgbClr val="FF0000"/>
                </a:solidFill>
                <a:latin typeface="方正姚体" panose="02010601030101010101" pitchFamily="2" charset="-122"/>
                <a:ea typeface="方正姚体" panose="02010601030101010101" pitchFamily="2" charset="-122"/>
              </a:rPr>
              <a:t>(Monte Carlo tree search</a:t>
            </a:r>
            <a:r>
              <a:rPr lang="zh-CN" altLang="en-US" sz="3000" dirty="0">
                <a:solidFill>
                  <a:srgbClr val="FF0000"/>
                </a:solidFill>
                <a:latin typeface="方正姚体" panose="02010601030101010101" pitchFamily="2" charset="-122"/>
                <a:ea typeface="方正姚体" panose="02010601030101010101" pitchFamily="2" charset="-122"/>
              </a:rPr>
              <a:t>，</a:t>
            </a:r>
            <a:r>
              <a:rPr lang="en-US" altLang="zh-CN" sz="3000" dirty="0">
                <a:solidFill>
                  <a:srgbClr val="FF0000"/>
                </a:solidFill>
                <a:latin typeface="方正姚体" panose="02010601030101010101" pitchFamily="2" charset="-122"/>
                <a:ea typeface="方正姚体" panose="02010601030101010101" pitchFamily="2" charset="-122"/>
              </a:rPr>
              <a:t>MCTS)</a:t>
            </a:r>
            <a:endParaRPr lang="en-US" altLang="zh-CN" sz="3000" dirty="0">
              <a:solidFill>
                <a:prstClr val="black"/>
              </a:solidFill>
              <a:latin typeface="方正姚体" panose="02010601030101010101" pitchFamily="2" charset="-122"/>
              <a:ea typeface="方正姚体" panose="02010601030101010101" pitchFamily="2" charset="-122"/>
            </a:endParaRPr>
          </a:p>
          <a:p>
            <a:pPr marL="457200" indent="-457200" algn="just">
              <a:lnSpc>
                <a:spcPct val="15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rPr>
              <a:t>以概率和统计理论方法为基础，通过随机地对游戏进行推演来逐渐建立一棵不对称的搜索树的过程，又称随机抽样或统计试验方法。</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5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rPr>
              <a:t>该方法将所求解的问题同一定的概率模型相联系，用电子计算机实现</a:t>
            </a:r>
            <a:r>
              <a:rPr lang="zh-CN" altLang="en-US" sz="2800" dirty="0">
                <a:solidFill>
                  <a:srgbClr val="FF0000"/>
                </a:solidFill>
                <a:latin typeface="Times New Roman" panose="02020603050405020304"/>
                <a:ea typeface="黑体" panose="02010609060101010101" charset="-122"/>
              </a:rPr>
              <a:t>统计模拟或抽样</a:t>
            </a:r>
            <a:r>
              <a:rPr lang="zh-CN" altLang="en-US" sz="2800" dirty="0">
                <a:solidFill>
                  <a:prstClr val="black"/>
                </a:solidFill>
                <a:latin typeface="Times New Roman" panose="02020603050405020304"/>
                <a:ea typeface="黑体" panose="02010609060101010101" charset="-122"/>
              </a:rPr>
              <a:t>，以获得问题的近似解。</a:t>
            </a:r>
            <a:endParaRPr lang="en-US" altLang="zh-CN" sz="2800" dirty="0">
              <a:solidFill>
                <a:prstClr val="black"/>
              </a:solidFill>
              <a:latin typeface="Times New Roman" panose="02020603050405020304"/>
              <a:ea typeface="黑体" panose="02010609060101010101" charset="-122"/>
            </a:endParaRPr>
          </a:p>
        </p:txBody>
      </p:sp>
      <p:sp>
        <p:nvSpPr>
          <p:cNvPr id="6" name="标题 3"/>
          <p:cNvSpPr txBox="1"/>
          <p:nvPr/>
        </p:nvSpPr>
        <p:spPr>
          <a:xfrm>
            <a:off x="0" y="159993"/>
            <a:ext cx="9144000" cy="654051"/>
          </a:xfrm>
          <a:prstGeom prst="rect">
            <a:avLst/>
          </a:prstGeom>
        </p:spPr>
        <p:txBody>
          <a:bodyPr>
            <a:noAutofit/>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75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75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94919" y="1050051"/>
            <a:ext cx="7943161" cy="5250412"/>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a:t>
            </a:r>
            <a:r>
              <a:rPr lang="en-US" altLang="zh-CN" sz="3000" dirty="0">
                <a:solidFill>
                  <a:srgbClr val="FF0000"/>
                </a:solidFill>
                <a:latin typeface="方正姚体" panose="02010601030101010101" pitchFamily="2" charset="-122"/>
                <a:ea typeface="方正姚体" panose="02010601030101010101" pitchFamily="2" charset="-122"/>
              </a:rPr>
              <a:t>(Monte Carlo tree search</a:t>
            </a:r>
            <a:r>
              <a:rPr lang="zh-CN" altLang="en-US" sz="3000" dirty="0">
                <a:solidFill>
                  <a:srgbClr val="FF0000"/>
                </a:solidFill>
                <a:latin typeface="方正姚体" panose="02010601030101010101" pitchFamily="2" charset="-122"/>
                <a:ea typeface="方正姚体" panose="02010601030101010101" pitchFamily="2" charset="-122"/>
              </a:rPr>
              <a:t>，</a:t>
            </a:r>
            <a:r>
              <a:rPr lang="en-US" altLang="zh-CN" sz="3000" dirty="0">
                <a:solidFill>
                  <a:srgbClr val="FF0000"/>
                </a:solidFill>
                <a:latin typeface="方正姚体" panose="02010601030101010101" pitchFamily="2" charset="-122"/>
                <a:ea typeface="方正姚体" panose="02010601030101010101" pitchFamily="2" charset="-122"/>
              </a:rPr>
              <a:t>MCTS)</a:t>
            </a:r>
            <a:endParaRPr lang="en-US" altLang="zh-CN" sz="3000" dirty="0">
              <a:solidFill>
                <a:prstClr val="black"/>
              </a:solidFill>
              <a:latin typeface="方正姚体" panose="02010601030101010101" pitchFamily="2" charset="-122"/>
              <a:ea typeface="方正姚体" panose="02010601030101010101" pitchFamily="2" charset="-122"/>
            </a:endParaRPr>
          </a:p>
          <a:p>
            <a:pPr marL="457200" indent="-457200" algn="just">
              <a:lnSpc>
                <a:spcPct val="120000"/>
              </a:lnSpc>
              <a:buFont typeface="Arial" panose="020B0604020202020204" pitchFamily="34" charset="0"/>
              <a:buChar char="•"/>
            </a:pPr>
            <a:r>
              <a:rPr lang="zh-CN" altLang="en-US" sz="2800" dirty="0">
                <a:solidFill>
                  <a:prstClr val="black"/>
                </a:solidFill>
                <a:latin typeface="Times New Roman" panose="02020603050405020304"/>
                <a:ea typeface="黑体" panose="02010609060101010101" charset="-122"/>
              </a:rPr>
              <a:t>采样越多，越近似最优解。</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20000"/>
              </a:lnSpc>
              <a:buFont typeface="Arial" panose="020B0604020202020204" pitchFamily="34" charset="0"/>
              <a:buChar char="•"/>
            </a:pPr>
            <a:r>
              <a:rPr lang="zh-CN" altLang="en-US" sz="2800" dirty="0">
                <a:solidFill>
                  <a:prstClr val="black"/>
                </a:solidFill>
                <a:latin typeface="Times New Roman" panose="02020603050405020304"/>
                <a:ea typeface="黑体" panose="02010609060101010101" charset="-122"/>
              </a:rPr>
              <a:t>假如筐里有</a:t>
            </a:r>
            <a:r>
              <a:rPr lang="en-US" altLang="zh-CN" sz="2800" dirty="0">
                <a:solidFill>
                  <a:prstClr val="black"/>
                </a:solidFill>
                <a:latin typeface="Times New Roman" panose="02020603050405020304"/>
                <a:ea typeface="黑体" panose="02010609060101010101" charset="-122"/>
              </a:rPr>
              <a:t>100</a:t>
            </a:r>
            <a:r>
              <a:rPr lang="zh-CN" altLang="en-US" sz="2800" dirty="0">
                <a:solidFill>
                  <a:prstClr val="black"/>
                </a:solidFill>
                <a:latin typeface="Times New Roman" panose="02020603050405020304"/>
                <a:ea typeface="黑体" panose="02010609060101010101" charset="-122"/>
              </a:rPr>
              <a:t>个苹果，每次闭眼拿</a:t>
            </a:r>
            <a:r>
              <a:rPr lang="en-US" altLang="zh-CN" sz="2800" dirty="0">
                <a:solidFill>
                  <a:prstClr val="black"/>
                </a:solidFill>
                <a:latin typeface="Times New Roman" panose="02020603050405020304"/>
                <a:ea typeface="黑体" panose="02010609060101010101" charset="-122"/>
              </a:rPr>
              <a:t>1</a:t>
            </a:r>
            <a:r>
              <a:rPr lang="zh-CN" altLang="en-US" sz="2800" dirty="0">
                <a:solidFill>
                  <a:prstClr val="black"/>
                </a:solidFill>
                <a:latin typeface="Times New Roman" panose="02020603050405020304"/>
                <a:ea typeface="黑体" panose="02010609060101010101" charset="-122"/>
              </a:rPr>
              <a:t>个，挑出最大的。</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20000"/>
              </a:lnSpc>
              <a:buFont typeface="Arial" panose="020B0604020202020204" pitchFamily="34" charset="0"/>
              <a:buChar char="•"/>
            </a:pPr>
            <a:r>
              <a:rPr lang="zh-CN" altLang="en-US" sz="2800" dirty="0">
                <a:solidFill>
                  <a:prstClr val="black"/>
                </a:solidFill>
                <a:latin typeface="Times New Roman" panose="02020603050405020304"/>
                <a:ea typeface="黑体" panose="02010609060101010101" charset="-122"/>
              </a:rPr>
              <a:t>随机拿</a:t>
            </a:r>
            <a:r>
              <a:rPr lang="en-US" altLang="zh-CN" sz="2800" dirty="0">
                <a:solidFill>
                  <a:prstClr val="black"/>
                </a:solidFill>
                <a:latin typeface="Times New Roman" panose="02020603050405020304"/>
                <a:ea typeface="黑体" panose="02010609060101010101" charset="-122"/>
              </a:rPr>
              <a:t>1</a:t>
            </a:r>
            <a:r>
              <a:rPr lang="zh-CN" altLang="en-US" sz="2800" dirty="0">
                <a:solidFill>
                  <a:prstClr val="black"/>
                </a:solidFill>
                <a:latin typeface="Times New Roman" panose="02020603050405020304"/>
                <a:ea typeface="黑体" panose="02010609060101010101" charset="-122"/>
              </a:rPr>
              <a:t>个，再随机拿</a:t>
            </a:r>
            <a:r>
              <a:rPr lang="en-US" altLang="zh-CN" sz="2800" dirty="0">
                <a:solidFill>
                  <a:prstClr val="black"/>
                </a:solidFill>
                <a:latin typeface="Times New Roman" panose="02020603050405020304"/>
                <a:ea typeface="黑体" panose="02010609060101010101" charset="-122"/>
              </a:rPr>
              <a:t>1</a:t>
            </a:r>
            <a:r>
              <a:rPr lang="zh-CN" altLang="en-US" sz="2800" dirty="0">
                <a:solidFill>
                  <a:prstClr val="black"/>
                </a:solidFill>
                <a:latin typeface="Times New Roman" panose="02020603050405020304"/>
                <a:ea typeface="黑体" panose="02010609060101010101" charset="-122"/>
              </a:rPr>
              <a:t>个跟它比，留下大的，再随机拿</a:t>
            </a:r>
            <a:r>
              <a:rPr lang="en-US" altLang="zh-CN" sz="2800" dirty="0">
                <a:solidFill>
                  <a:prstClr val="black"/>
                </a:solidFill>
                <a:latin typeface="Times New Roman" panose="02020603050405020304"/>
                <a:ea typeface="黑体" panose="02010609060101010101" charset="-122"/>
              </a:rPr>
              <a:t>1</a:t>
            </a:r>
            <a:r>
              <a:rPr lang="zh-CN" altLang="en-US" sz="2800" dirty="0">
                <a:solidFill>
                  <a:prstClr val="black"/>
                </a:solidFill>
                <a:latin typeface="Times New Roman" panose="02020603050405020304"/>
                <a:ea typeface="黑体" panose="02010609060101010101" charset="-122"/>
              </a:rPr>
              <a:t>个</a:t>
            </a:r>
            <a:r>
              <a:rPr lang="en-US" altLang="zh-CN" sz="2800" dirty="0">
                <a:solidFill>
                  <a:prstClr val="black"/>
                </a:solidFill>
                <a:latin typeface="Times New Roman" panose="02020603050405020304"/>
                <a:ea typeface="黑体" panose="02010609060101010101" charset="-122"/>
              </a:rPr>
              <a:t>……</a:t>
            </a:r>
            <a:r>
              <a:rPr lang="zh-CN" altLang="en-US" sz="2800" dirty="0">
                <a:solidFill>
                  <a:prstClr val="black"/>
                </a:solidFill>
                <a:latin typeface="Times New Roman" panose="02020603050405020304"/>
                <a:ea typeface="黑体" panose="02010609060101010101" charset="-122"/>
              </a:rPr>
              <a:t>每拿一次，留下的苹果都至少不比上次的小。次数越多，挑出的苹果就越大。但除非拿</a:t>
            </a:r>
            <a:r>
              <a:rPr lang="en-US" altLang="zh-CN" sz="2800" dirty="0">
                <a:solidFill>
                  <a:prstClr val="black"/>
                </a:solidFill>
                <a:latin typeface="Times New Roman" panose="02020603050405020304"/>
                <a:ea typeface="黑体" panose="02010609060101010101" charset="-122"/>
              </a:rPr>
              <a:t>100</a:t>
            </a:r>
            <a:r>
              <a:rPr lang="zh-CN" altLang="en-US" sz="2800" dirty="0">
                <a:solidFill>
                  <a:prstClr val="black"/>
                </a:solidFill>
                <a:latin typeface="Times New Roman" panose="02020603050405020304"/>
                <a:ea typeface="黑体" panose="02010609060101010101" charset="-122"/>
              </a:rPr>
              <a:t>次，否则无法肯定挑出最大的。该方法属于蒙特卡罗算法，</a:t>
            </a:r>
            <a:r>
              <a:rPr lang="zh-CN" altLang="en-US" sz="2800" dirty="0">
                <a:solidFill>
                  <a:srgbClr val="FF0000"/>
                </a:solidFill>
                <a:latin typeface="Times New Roman" panose="02020603050405020304"/>
                <a:ea typeface="黑体" panose="02010609060101010101" charset="-122"/>
              </a:rPr>
              <a:t>样本容量足够大，则最接近所要求解的概率</a:t>
            </a:r>
            <a:r>
              <a:rPr lang="zh-CN" altLang="en-US" sz="2800" dirty="0">
                <a:solidFill>
                  <a:prstClr val="black"/>
                </a:solidFill>
                <a:latin typeface="Times New Roman" panose="02020603050405020304"/>
                <a:ea typeface="黑体" panose="02010609060101010101" charset="-122"/>
              </a:rPr>
              <a:t>。</a:t>
            </a:r>
            <a:endParaRPr lang="en-US" altLang="zh-CN" sz="2800" dirty="0">
              <a:solidFill>
                <a:prstClr val="black"/>
              </a:solidFill>
              <a:latin typeface="Times New Roman" panose="02020603050405020304"/>
              <a:ea typeface="黑体" panose="02010609060101010101" charset="-122"/>
            </a:endParaRPr>
          </a:p>
        </p:txBody>
      </p:sp>
      <p:sp>
        <p:nvSpPr>
          <p:cNvPr id="6" name="标题 3"/>
          <p:cNvSpPr txBox="1"/>
          <p:nvPr/>
        </p:nvSpPr>
        <p:spPr>
          <a:xfrm>
            <a:off x="0" y="159993"/>
            <a:ext cx="9144000" cy="654051"/>
          </a:xfrm>
          <a:prstGeom prst="rect">
            <a:avLst/>
          </a:prstGeom>
        </p:spPr>
        <p:txBody>
          <a:bodyPr>
            <a:noAutofit/>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75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p:nvPr/>
            </p:nvSpPr>
            <p:spPr>
              <a:xfrm>
                <a:off x="594910" y="1629234"/>
                <a:ext cx="7943163" cy="4509889"/>
              </a:xfrm>
              <a:prstGeom prst="rect">
                <a:avLst/>
              </a:prstGeom>
            </p:spPr>
            <p:txBody>
              <a:bodyPr wrap="square">
                <a:spAutoFit/>
              </a:bodyPr>
              <a:lstStyle/>
              <a:p>
                <a:pPr marL="457200" indent="-457200" algn="just">
                  <a:lnSpc>
                    <a:spcPct val="130000"/>
                  </a:lnSpc>
                  <a:buFont typeface="Wingdings" panose="05000000000000000000" pitchFamily="2" charset="2"/>
                  <a:buChar char="Ø"/>
                </a:pPr>
                <a:r>
                  <a:rPr lang="zh-CN" altLang="zh-CN" sz="2800" dirty="0">
                    <a:solidFill>
                      <a:srgbClr val="FF0000"/>
                    </a:solidFill>
                    <a:latin typeface="黑体" panose="02010609060101010101" charset="-122"/>
                    <a:ea typeface="黑体" panose="02010609060101010101" charset="-122"/>
                  </a:rPr>
                  <a:t>状态</a:t>
                </a:r>
                <a:r>
                  <a:rPr lang="zh-CN" altLang="en-US" sz="2800" dirty="0">
                    <a:solidFill>
                      <a:srgbClr val="FF0000"/>
                    </a:solidFill>
                    <a:latin typeface="黑体" panose="02010609060101010101" charset="-122"/>
                    <a:ea typeface="黑体" panose="02010609060101010101" charset="-122"/>
                  </a:rPr>
                  <a:t>：</a:t>
                </a:r>
                <a:r>
                  <a:rPr lang="zh-CN" altLang="zh-CN" sz="2800" dirty="0">
                    <a:solidFill>
                      <a:prstClr val="black"/>
                    </a:solidFill>
                    <a:latin typeface="黑体" panose="02010609060101010101" charset="-122"/>
                    <a:ea typeface="黑体" panose="02010609060101010101" charset="-122"/>
                  </a:rPr>
                  <a:t>每个被摇动的臂膀即为一个状态，记</a:t>
                </a:r>
                <a14:m>
                  <m:oMath xmlns:m="http://schemas.openxmlformats.org/officeDocument/2006/math">
                    <m:r>
                      <a:rPr lang="en-US" altLang="zh-CN" sz="2800" i="1">
                        <a:solidFill>
                          <a:prstClr val="black"/>
                        </a:solidFill>
                        <a:latin typeface="Cambria Math" panose="02040503050406030204" pitchFamily="18" charset="0"/>
                      </a:rPr>
                      <m:t>𝐾</m:t>
                    </m:r>
                  </m:oMath>
                </a14:m>
                <a:r>
                  <a:rPr lang="zh-CN" altLang="zh-CN" sz="2800" dirty="0">
                    <a:solidFill>
                      <a:prstClr val="black"/>
                    </a:solidFill>
                    <a:latin typeface="黑体" panose="02010609060101010101" charset="-122"/>
                    <a:ea typeface="黑体" panose="02010609060101010101" charset="-122"/>
                  </a:rPr>
                  <a:t>个状态分别为</a:t>
                </a:r>
                <a14:m>
                  <m:oMath xmlns:m="http://schemas.openxmlformats.org/officeDocument/2006/math">
                    <m:r>
                      <a:rPr lang="en-US" altLang="zh-CN" sz="2800" i="1">
                        <a:solidFill>
                          <a:prstClr val="black"/>
                        </a:solidFill>
                        <a:latin typeface="Cambria Math" panose="02040503050406030204" pitchFamily="18" charset="0"/>
                      </a:rPr>
                      <m:t>{</m:t>
                    </m:r>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𝑠</m:t>
                        </m:r>
                      </m:e>
                      <m:sub>
                        <m:r>
                          <a:rPr lang="en-US" altLang="zh-CN" sz="2800" i="1">
                            <a:solidFill>
                              <a:prstClr val="black"/>
                            </a:solidFill>
                            <a:latin typeface="Cambria Math" panose="02040503050406030204" pitchFamily="18" charset="0"/>
                          </a:rPr>
                          <m:t>1</m:t>
                        </m:r>
                      </m:sub>
                    </m:sSub>
                    <m:r>
                      <a:rPr lang="en-US" altLang="zh-CN" sz="2800" i="1">
                        <a:solidFill>
                          <a:prstClr val="black"/>
                        </a:solidFill>
                        <a:latin typeface="Cambria Math" panose="02040503050406030204" pitchFamily="18" charset="0"/>
                      </a:rPr>
                      <m:t>,</m:t>
                    </m:r>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𝑠</m:t>
                        </m:r>
                      </m:e>
                      <m:sub>
                        <m:r>
                          <a:rPr lang="en-US" altLang="zh-CN" sz="2800" i="1">
                            <a:solidFill>
                              <a:prstClr val="black"/>
                            </a:solidFill>
                            <a:latin typeface="Cambria Math" panose="02040503050406030204" pitchFamily="18" charset="0"/>
                          </a:rPr>
                          <m:t>2</m:t>
                        </m:r>
                      </m:sub>
                    </m:sSub>
                    <m:r>
                      <a:rPr lang="en-US" altLang="zh-CN" sz="2800" i="1">
                        <a:solidFill>
                          <a:prstClr val="black"/>
                        </a:solidFill>
                        <a:latin typeface="Cambria Math" panose="02040503050406030204" pitchFamily="18" charset="0"/>
                      </a:rPr>
                      <m:t>,⋯,</m:t>
                    </m:r>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𝑠</m:t>
                        </m:r>
                      </m:e>
                      <m:sub>
                        <m:r>
                          <a:rPr lang="en-US" altLang="zh-CN" sz="2800" i="1">
                            <a:solidFill>
                              <a:prstClr val="black"/>
                            </a:solidFill>
                            <a:latin typeface="Cambria Math" panose="02040503050406030204" pitchFamily="18" charset="0"/>
                          </a:rPr>
                          <m:t>𝐾</m:t>
                        </m:r>
                      </m:sub>
                    </m:sSub>
                    <m:r>
                      <a:rPr lang="en-US" altLang="zh-CN" sz="2800" i="1">
                        <a:solidFill>
                          <a:prstClr val="black"/>
                        </a:solidFill>
                        <a:latin typeface="Cambria Math" panose="02040503050406030204" pitchFamily="18" charset="0"/>
                      </a:rPr>
                      <m:t>}</m:t>
                    </m:r>
                  </m:oMath>
                </a14:m>
                <a:r>
                  <a:rPr lang="zh-CN" altLang="zh-CN" sz="2800" dirty="0">
                    <a:solidFill>
                      <a:prstClr val="black"/>
                    </a:solidFill>
                    <a:latin typeface="黑体" panose="02010609060101010101" charset="-122"/>
                    <a:ea typeface="黑体" panose="02010609060101010101" charset="-122"/>
                  </a:rPr>
                  <a:t>，没有摇动任何臂膀的初始状态记为</a:t>
                </a:r>
                <a14:m>
                  <m:oMath xmlns:m="http://schemas.openxmlformats.org/officeDocument/2006/math">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𝑠</m:t>
                        </m:r>
                      </m:e>
                      <m:sub>
                        <m:r>
                          <a:rPr lang="en-US" altLang="zh-CN" sz="2800" i="1">
                            <a:solidFill>
                              <a:prstClr val="black"/>
                            </a:solidFill>
                            <a:latin typeface="Cambria Math" panose="02040503050406030204" pitchFamily="18" charset="0"/>
                          </a:rPr>
                          <m:t>0</m:t>
                        </m:r>
                      </m:sub>
                    </m:sSub>
                  </m:oMath>
                </a14:m>
                <a:r>
                  <a:rPr lang="zh-CN" altLang="zh-CN" sz="2800" dirty="0">
                    <a:solidFill>
                      <a:prstClr val="black"/>
                    </a:solidFill>
                    <a:latin typeface="黑体" panose="02010609060101010101" charset="-122"/>
                    <a:ea typeface="黑体" panose="02010609060101010101" charset="-122"/>
                  </a:rPr>
                  <a:t>。</a:t>
                </a:r>
                <a:endParaRPr lang="zh-CN" altLang="zh-CN" sz="2800" dirty="0">
                  <a:solidFill>
                    <a:prstClr val="black"/>
                  </a:solidFill>
                  <a:latin typeface="黑体" panose="02010609060101010101" charset="-122"/>
                  <a:ea typeface="黑体" panose="02010609060101010101" charset="-122"/>
                </a:endParaRPr>
              </a:p>
              <a:p>
                <a:pPr marL="457200" indent="-457200" algn="just">
                  <a:lnSpc>
                    <a:spcPct val="130000"/>
                  </a:lnSpc>
                  <a:buFont typeface="Wingdings" panose="05000000000000000000" pitchFamily="2" charset="2"/>
                  <a:buChar char="Ø"/>
                </a:pPr>
                <a:r>
                  <a:rPr lang="zh-CN" altLang="zh-CN" sz="2800" dirty="0">
                    <a:solidFill>
                      <a:srgbClr val="FF0000"/>
                    </a:solidFill>
                    <a:latin typeface="黑体" panose="02010609060101010101" charset="-122"/>
                    <a:ea typeface="黑体" panose="02010609060101010101" charset="-122"/>
                  </a:rPr>
                  <a:t>动作</a:t>
                </a:r>
                <a:r>
                  <a:rPr lang="zh-CN" altLang="en-US" sz="2800" dirty="0">
                    <a:solidFill>
                      <a:srgbClr val="FF0000"/>
                    </a:solidFill>
                    <a:latin typeface="黑体" panose="02010609060101010101" charset="-122"/>
                    <a:ea typeface="黑体" panose="02010609060101010101" charset="-122"/>
                  </a:rPr>
                  <a:t>：</a:t>
                </a:r>
                <a:r>
                  <a:rPr lang="zh-CN" altLang="zh-CN" sz="2800" dirty="0">
                    <a:solidFill>
                      <a:prstClr val="black"/>
                    </a:solidFill>
                    <a:latin typeface="黑体" panose="02010609060101010101" charset="-122"/>
                    <a:ea typeface="黑体" panose="02010609060101010101" charset="-122"/>
                  </a:rPr>
                  <a:t>对应着摇动一个赌博机的臂膀，在多臂赌博机问题中，任意状态下的动作集合都为</a:t>
                </a:r>
                <a14:m>
                  <m:oMath xmlns:m="http://schemas.openxmlformats.org/officeDocument/2006/math">
                    <m:r>
                      <a:rPr lang="en-US" altLang="zh-CN" sz="2800" i="1">
                        <a:solidFill>
                          <a:prstClr val="black"/>
                        </a:solidFill>
                        <a:latin typeface="Cambria Math" panose="02040503050406030204" pitchFamily="18" charset="0"/>
                      </a:rPr>
                      <m:t>{</m:t>
                    </m:r>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𝑎</m:t>
                        </m:r>
                      </m:e>
                      <m:sub>
                        <m:r>
                          <a:rPr lang="en-US" altLang="zh-CN" sz="2800" i="1">
                            <a:solidFill>
                              <a:prstClr val="black"/>
                            </a:solidFill>
                            <a:latin typeface="Cambria Math" panose="02040503050406030204" pitchFamily="18" charset="0"/>
                          </a:rPr>
                          <m:t>1</m:t>
                        </m:r>
                      </m:sub>
                    </m:sSub>
                    <m:r>
                      <a:rPr lang="en-US" altLang="zh-CN" sz="2800" i="1">
                        <a:solidFill>
                          <a:prstClr val="black"/>
                        </a:solidFill>
                        <a:latin typeface="Cambria Math" panose="02040503050406030204" pitchFamily="18" charset="0"/>
                      </a:rPr>
                      <m:t>,</m:t>
                    </m:r>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𝑎</m:t>
                        </m:r>
                      </m:e>
                      <m:sub>
                        <m:r>
                          <a:rPr lang="en-US" altLang="zh-CN" sz="2800" i="1">
                            <a:solidFill>
                              <a:prstClr val="black"/>
                            </a:solidFill>
                            <a:latin typeface="Cambria Math" panose="02040503050406030204" pitchFamily="18" charset="0"/>
                          </a:rPr>
                          <m:t>2</m:t>
                        </m:r>
                      </m:sub>
                    </m:sSub>
                    <m:r>
                      <a:rPr lang="en-US" altLang="zh-CN" sz="2800" i="1">
                        <a:solidFill>
                          <a:prstClr val="black"/>
                        </a:solidFill>
                        <a:latin typeface="Cambria Math" panose="02040503050406030204" pitchFamily="18" charset="0"/>
                      </a:rPr>
                      <m:t>⋯,</m:t>
                    </m:r>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𝑎</m:t>
                        </m:r>
                      </m:e>
                      <m:sub>
                        <m:r>
                          <a:rPr lang="en-US" altLang="zh-CN" sz="2800" i="1">
                            <a:solidFill>
                              <a:prstClr val="black"/>
                            </a:solidFill>
                            <a:latin typeface="Cambria Math" panose="02040503050406030204" pitchFamily="18" charset="0"/>
                          </a:rPr>
                          <m:t>𝐾</m:t>
                        </m:r>
                      </m:sub>
                    </m:sSub>
                    <m:r>
                      <a:rPr lang="en-US" altLang="zh-CN" sz="2800" i="1">
                        <a:solidFill>
                          <a:prstClr val="black"/>
                        </a:solidFill>
                        <a:latin typeface="Cambria Math" panose="02040503050406030204" pitchFamily="18" charset="0"/>
                      </a:rPr>
                      <m:t>}</m:t>
                    </m:r>
                  </m:oMath>
                </a14:m>
                <a:r>
                  <a:rPr lang="zh-CN" altLang="zh-CN" sz="2800" dirty="0">
                    <a:solidFill>
                      <a:prstClr val="black"/>
                    </a:solidFill>
                    <a:latin typeface="黑体" panose="02010609060101010101" charset="-122"/>
                    <a:ea typeface="黑体" panose="02010609060101010101" charset="-122"/>
                  </a:rPr>
                  <a:t>，分别对应摇动某个赌博机臂膀。</a:t>
                </a:r>
                <a:endParaRPr lang="zh-CN" altLang="zh-CN" sz="2800" dirty="0">
                  <a:solidFill>
                    <a:prstClr val="black"/>
                  </a:solidFill>
                  <a:latin typeface="黑体" panose="02010609060101010101" charset="-122"/>
                  <a:ea typeface="黑体" panose="02010609060101010101" charset="-122"/>
                </a:endParaRPr>
              </a:p>
              <a:p>
                <a:pPr marL="457200" indent="-457200" algn="just">
                  <a:lnSpc>
                    <a:spcPct val="130000"/>
                  </a:lnSpc>
                  <a:buFont typeface="Wingdings" panose="05000000000000000000" pitchFamily="2" charset="2"/>
                  <a:buChar char="Ø"/>
                </a:pPr>
                <a:r>
                  <a:rPr lang="zh-CN" altLang="zh-CN" sz="2800" dirty="0">
                    <a:solidFill>
                      <a:srgbClr val="FF0000"/>
                    </a:solidFill>
                    <a:latin typeface="黑体" panose="02010609060101010101" charset="-122"/>
                    <a:ea typeface="黑体" panose="02010609060101010101" charset="-122"/>
                  </a:rPr>
                  <a:t>状态转移</a:t>
                </a:r>
                <a:r>
                  <a:rPr lang="zh-CN" altLang="en-US" sz="2800" dirty="0">
                    <a:solidFill>
                      <a:srgbClr val="FF0000"/>
                    </a:solidFill>
                    <a:latin typeface="黑体" panose="02010609060101010101" charset="-122"/>
                    <a:ea typeface="黑体" panose="02010609060101010101" charset="-122"/>
                  </a:rPr>
                  <a:t>：</a:t>
                </a:r>
                <a:r>
                  <a:rPr lang="zh-CN" altLang="zh-CN" sz="2800" dirty="0">
                    <a:solidFill>
                      <a:prstClr val="black"/>
                    </a:solidFill>
                    <a:latin typeface="黑体" panose="02010609060101010101" charset="-122"/>
                    <a:ea typeface="黑体" panose="02010609060101010101" charset="-122"/>
                  </a:rPr>
                  <a:t>选择动作</a:t>
                </a:r>
                <a14:m>
                  <m:oMath xmlns:m="http://schemas.openxmlformats.org/officeDocument/2006/math">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𝑎</m:t>
                        </m:r>
                      </m:e>
                      <m:sub>
                        <m:r>
                          <a:rPr lang="en-US" altLang="zh-CN" sz="2800" i="1">
                            <a:solidFill>
                              <a:prstClr val="black"/>
                            </a:solidFill>
                            <a:latin typeface="Cambria Math" panose="02040503050406030204" pitchFamily="18" charset="0"/>
                          </a:rPr>
                          <m:t>𝑖</m:t>
                        </m:r>
                      </m:sub>
                    </m:sSub>
                    <m:r>
                      <a:rPr lang="en-US" altLang="zh-CN" sz="2800" i="1">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1</m:t>
                    </m:r>
                    <m:r>
                      <a:rPr lang="en-US" altLang="zh-CN" sz="2800" i="1">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𝑖</m:t>
                    </m:r>
                    <m:r>
                      <a:rPr lang="en-US" altLang="zh-CN" sz="2800" i="1">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𝐾</m:t>
                    </m:r>
                    <m:r>
                      <a:rPr lang="en-US" altLang="zh-CN" sz="2800" i="1">
                        <a:solidFill>
                          <a:prstClr val="black"/>
                        </a:solidFill>
                        <a:latin typeface="Cambria Math" panose="02040503050406030204" pitchFamily="18" charset="0"/>
                      </a:rPr>
                      <m:t>)</m:t>
                    </m:r>
                  </m:oMath>
                </a14:m>
                <a:r>
                  <a:rPr lang="zh-CN" altLang="zh-CN" sz="2800" dirty="0">
                    <a:solidFill>
                      <a:prstClr val="black"/>
                    </a:solidFill>
                    <a:latin typeface="黑体" panose="02010609060101010101" charset="-122"/>
                    <a:ea typeface="黑体" panose="02010609060101010101" charset="-122"/>
                  </a:rPr>
                  <a:t>后，将相应的改变为</a:t>
                </a:r>
                <a14:m>
                  <m:oMath xmlns:m="http://schemas.openxmlformats.org/officeDocument/2006/math">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𝑠</m:t>
                        </m:r>
                      </m:e>
                      <m:sub>
                        <m:r>
                          <a:rPr lang="en-US" altLang="zh-CN" sz="2800" i="1">
                            <a:solidFill>
                              <a:prstClr val="black"/>
                            </a:solidFill>
                            <a:latin typeface="Cambria Math" panose="02040503050406030204" pitchFamily="18" charset="0"/>
                          </a:rPr>
                          <m:t>𝑖</m:t>
                        </m:r>
                      </m:sub>
                    </m:sSub>
                  </m:oMath>
                </a14:m>
                <a:r>
                  <a:rPr lang="zh-CN" altLang="zh-CN" sz="2800" dirty="0">
                    <a:solidFill>
                      <a:prstClr val="black"/>
                    </a:solidFill>
                    <a:latin typeface="黑体" panose="02010609060101010101" charset="-122"/>
                    <a:ea typeface="黑体" panose="02010609060101010101" charset="-122"/>
                  </a:rPr>
                  <a:t>。</a:t>
                </a:r>
                <a:endParaRPr lang="zh-CN" altLang="zh-CN" sz="2800" dirty="0">
                  <a:solidFill>
                    <a:prstClr val="black"/>
                  </a:solidFill>
                  <a:latin typeface="黑体" panose="02010609060101010101" charset="-122"/>
                  <a:ea typeface="黑体" panose="02010609060101010101" charset="-122"/>
                </a:endParaRPr>
              </a:p>
            </p:txBody>
          </p:sp>
        </mc:Choice>
        <mc:Fallback>
          <p:sp>
            <p:nvSpPr>
              <p:cNvPr id="3" name="矩形 2"/>
              <p:cNvSpPr>
                <a:spLocks noRot="1" noChangeAspect="1" noMove="1" noResize="1" noEditPoints="1" noAdjustHandles="1" noChangeArrowheads="1" noChangeShapeType="1" noTextEdit="1"/>
              </p:cNvSpPr>
              <p:nvPr/>
            </p:nvSpPr>
            <p:spPr>
              <a:xfrm>
                <a:off x="594910" y="1629234"/>
                <a:ext cx="7943163" cy="4509889"/>
              </a:xfrm>
              <a:prstGeom prst="rect">
                <a:avLst/>
              </a:prstGeom>
              <a:blipFill rotWithShape="1">
                <a:blip r:embed="rId1"/>
                <a:stretch>
                  <a:fillRect l="-7" t="-10" r="6" b="13"/>
                </a:stretch>
              </a:blipFill>
            </p:spPr>
            <p:txBody>
              <a:bodyPr/>
              <a:lstStyle/>
              <a:p>
                <a:r>
                  <a:rPr lang="zh-CN" altLang="en-US">
                    <a:noFill/>
                  </a:rPr>
                  <a:t> </a:t>
                </a:r>
              </a:p>
            </p:txBody>
          </p:sp>
        </mc:Fallback>
      </mc:AlternateContent>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1050046"/>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蒙特卡洛树搜索的形式化描述</a:t>
            </a:r>
            <a:endParaRPr lang="en-US" altLang="zh-CN" sz="3000" dirty="0">
              <a:solidFill>
                <a:prstClr val="black"/>
              </a:solidFill>
              <a:latin typeface="方正姚体" panose="02010601030101010101" pitchFamily="2" charset="-122"/>
              <a:ea typeface="方正姚体" panose="02010601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barn(inVertical)">
                                      <p:cBhvr>
                                        <p:cTn id="24" dur="7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594918" y="1651988"/>
                <a:ext cx="7943161" cy="3947363"/>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zh-CN" sz="2800" dirty="0">
                    <a:solidFill>
                      <a:srgbClr val="FF0000"/>
                    </a:solidFill>
                    <a:latin typeface="Times New Roman" panose="02020603050405020304"/>
                    <a:ea typeface="黑体" panose="02010609060101010101" charset="-122"/>
                  </a:rPr>
                  <a:t>奖励</a:t>
                </a:r>
                <a:r>
                  <a:rPr lang="zh-CN" altLang="en-US" sz="2800" dirty="0">
                    <a:solidFill>
                      <a:srgbClr val="FF0000"/>
                    </a:solidFill>
                    <a:latin typeface="Times New Roman" panose="02020603050405020304"/>
                    <a:ea typeface="黑体" panose="02010609060101010101" charset="-122"/>
                  </a:rPr>
                  <a:t>：</a:t>
                </a:r>
                <a:r>
                  <a:rPr lang="zh-CN" altLang="zh-CN" sz="2800" dirty="0">
                    <a:solidFill>
                      <a:prstClr val="black"/>
                    </a:solidFill>
                    <a:latin typeface="Times New Roman" panose="02020603050405020304"/>
                    <a:ea typeface="黑体" panose="02010609060101010101" charset="-122"/>
                  </a:rPr>
                  <a:t>假设从第</a:t>
                </a:r>
                <a14:m>
                  <m:oMath xmlns:m="http://schemas.openxmlformats.org/officeDocument/2006/math">
                    <m:r>
                      <a:rPr lang="en-US" altLang="zh-CN" sz="2800" i="1">
                        <a:solidFill>
                          <a:prstClr val="black"/>
                        </a:solidFill>
                        <a:latin typeface="Cambria Math" panose="02040503050406030204" pitchFamily="18" charset="0"/>
                      </a:rPr>
                      <m:t>𝑖</m:t>
                    </m:r>
                  </m:oMath>
                </a14:m>
                <a:r>
                  <a:rPr lang="zh-CN" altLang="zh-CN" sz="2800" dirty="0">
                    <a:solidFill>
                      <a:prstClr val="black"/>
                    </a:solidFill>
                    <a:latin typeface="Times New Roman" panose="02020603050405020304"/>
                    <a:ea typeface="黑体" panose="02010609060101010101" charset="-122"/>
                  </a:rPr>
                  <a:t>个赌博机获得收益分数的分布为</a:t>
                </a:r>
                <a14:m>
                  <m:oMath xmlns:m="http://schemas.openxmlformats.org/officeDocument/2006/math">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𝐷</m:t>
                        </m:r>
                      </m:e>
                      <m:sub>
                        <m:r>
                          <a:rPr lang="en-US" altLang="zh-CN" sz="2800" i="1">
                            <a:solidFill>
                              <a:prstClr val="black"/>
                            </a:solidFill>
                            <a:latin typeface="Cambria Math" panose="02040503050406030204" pitchFamily="18" charset="0"/>
                          </a:rPr>
                          <m:t>𝑖</m:t>
                        </m:r>
                      </m:sub>
                    </m:sSub>
                  </m:oMath>
                </a14:m>
                <a:r>
                  <a:rPr lang="zh-CN" altLang="zh-CN" sz="2800" dirty="0">
                    <a:solidFill>
                      <a:prstClr val="black"/>
                    </a:solidFill>
                    <a:latin typeface="Times New Roman" panose="02020603050405020304"/>
                    <a:ea typeface="黑体" panose="02010609060101010101" charset="-122"/>
                  </a:rPr>
                  <a:t>，其均值为</a:t>
                </a:r>
                <a14:m>
                  <m:oMath xmlns:m="http://schemas.openxmlformats.org/officeDocument/2006/math">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𝜇</m:t>
                        </m:r>
                      </m:e>
                      <m:sub>
                        <m:r>
                          <a:rPr lang="en-US" altLang="zh-CN" sz="2800" i="1">
                            <a:solidFill>
                              <a:prstClr val="black"/>
                            </a:solidFill>
                            <a:latin typeface="Cambria Math" panose="02040503050406030204" pitchFamily="18" charset="0"/>
                          </a:rPr>
                          <m:t>𝑖</m:t>
                        </m:r>
                      </m:sub>
                    </m:sSub>
                  </m:oMath>
                </a14:m>
                <a:r>
                  <a:rPr lang="zh-CN" altLang="zh-CN" sz="2800" dirty="0">
                    <a:solidFill>
                      <a:prstClr val="black"/>
                    </a:solidFill>
                    <a:latin typeface="Times New Roman" panose="02020603050405020304"/>
                    <a:ea typeface="黑体" panose="02010609060101010101" charset="-122"/>
                  </a:rPr>
                  <a:t>。如果智能体在第</a:t>
                </a:r>
                <a14:m>
                  <m:oMath xmlns:m="http://schemas.openxmlformats.org/officeDocument/2006/math">
                    <m:r>
                      <a:rPr lang="en-US" altLang="zh-CN" sz="2800" i="1">
                        <a:solidFill>
                          <a:prstClr val="black"/>
                        </a:solidFill>
                        <a:latin typeface="Cambria Math" panose="02040503050406030204" pitchFamily="18" charset="0"/>
                      </a:rPr>
                      <m:t>𝑡</m:t>
                    </m:r>
                  </m:oMath>
                </a14:m>
                <a:r>
                  <a:rPr lang="zh-CN" altLang="zh-CN" sz="2800" dirty="0">
                    <a:solidFill>
                      <a:prstClr val="black"/>
                    </a:solidFill>
                    <a:latin typeface="Times New Roman" panose="02020603050405020304"/>
                    <a:ea typeface="黑体" panose="02010609060101010101" charset="-122"/>
                  </a:rPr>
                  <a:t>次行动中选择转动了第</a:t>
                </a:r>
                <a14:m>
                  <m:oMath xmlns:m="http://schemas.openxmlformats.org/officeDocument/2006/math">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𝑙</m:t>
                        </m:r>
                      </m:e>
                      <m:sub>
                        <m:r>
                          <a:rPr lang="en-US" altLang="zh-CN" sz="2800" i="1">
                            <a:solidFill>
                              <a:prstClr val="black"/>
                            </a:solidFill>
                            <a:latin typeface="Cambria Math" panose="02040503050406030204" pitchFamily="18" charset="0"/>
                          </a:rPr>
                          <m:t>𝑡</m:t>
                        </m:r>
                      </m:sub>
                    </m:sSub>
                  </m:oMath>
                </a14:m>
                <a:r>
                  <a:rPr lang="zh-CN" altLang="zh-CN" sz="2800" dirty="0">
                    <a:solidFill>
                      <a:prstClr val="black"/>
                    </a:solidFill>
                    <a:latin typeface="Times New Roman" panose="02020603050405020304"/>
                    <a:ea typeface="黑体" panose="02010609060101010101" charset="-122"/>
                  </a:rPr>
                  <a:t>个赌博机臂膀，那么智能体在第</a:t>
                </a:r>
                <a14:m>
                  <m:oMath xmlns:m="http://schemas.openxmlformats.org/officeDocument/2006/math">
                    <m:r>
                      <a:rPr lang="en-US" altLang="zh-CN" sz="2800" i="1">
                        <a:solidFill>
                          <a:prstClr val="black"/>
                        </a:solidFill>
                        <a:latin typeface="Cambria Math" panose="02040503050406030204" pitchFamily="18" charset="0"/>
                      </a:rPr>
                      <m:t>𝑡</m:t>
                    </m:r>
                  </m:oMath>
                </a14:m>
                <a:r>
                  <a:rPr lang="zh-CN" altLang="zh-CN" sz="2800" dirty="0">
                    <a:solidFill>
                      <a:prstClr val="black"/>
                    </a:solidFill>
                    <a:latin typeface="Times New Roman" panose="02020603050405020304"/>
                    <a:ea typeface="黑体" panose="02010609060101010101" charset="-122"/>
                  </a:rPr>
                  <a:t>次行动中所得收益分数</a:t>
                </a:r>
                <a14:m>
                  <m:oMath xmlns:m="http://schemas.openxmlformats.org/officeDocument/2006/math">
                    <m:sSub>
                      <m:sSubPr>
                        <m:ctrlPr>
                          <a:rPr lang="zh-CN" altLang="zh-CN" sz="2800" i="1">
                            <a:solidFill>
                              <a:prstClr val="black"/>
                            </a:solidFill>
                            <a:latin typeface="Cambria Math" panose="02040503050406030204" pitchFamily="18" charset="0"/>
                          </a:rPr>
                        </m:ctrlPr>
                      </m:sSubPr>
                      <m:e>
                        <m:acc>
                          <m:accPr>
                            <m:ctrlPr>
                              <a:rPr lang="zh-CN" altLang="zh-CN" sz="2800" i="1">
                                <a:solidFill>
                                  <a:prstClr val="black"/>
                                </a:solidFill>
                                <a:latin typeface="Cambria Math" panose="02040503050406030204" pitchFamily="18" charset="0"/>
                              </a:rPr>
                            </m:ctrlPr>
                          </m:accPr>
                          <m:e>
                            <m:r>
                              <a:rPr lang="en-US" altLang="zh-CN" sz="2800" i="1">
                                <a:solidFill>
                                  <a:prstClr val="black"/>
                                </a:solidFill>
                                <a:latin typeface="Cambria Math" panose="02040503050406030204" pitchFamily="18" charset="0"/>
                              </a:rPr>
                              <m:t>𝑟</m:t>
                            </m:r>
                          </m:e>
                        </m:acc>
                      </m:e>
                      <m:sub>
                        <m:r>
                          <a:rPr lang="en-US" altLang="zh-CN" sz="2800" i="1">
                            <a:solidFill>
                              <a:prstClr val="black"/>
                            </a:solidFill>
                            <a:latin typeface="Cambria Math" panose="02040503050406030204" pitchFamily="18" charset="0"/>
                          </a:rPr>
                          <m:t>𝑡</m:t>
                        </m:r>
                      </m:sub>
                    </m:sSub>
                  </m:oMath>
                </a14:m>
                <a:r>
                  <a:rPr lang="zh-CN" altLang="zh-CN" sz="2800" dirty="0">
                    <a:solidFill>
                      <a:prstClr val="black"/>
                    </a:solidFill>
                    <a:latin typeface="Times New Roman" panose="02020603050405020304"/>
                    <a:ea typeface="黑体" panose="02010609060101010101" charset="-122"/>
                  </a:rPr>
                  <a:t>服从分布</a:t>
                </a:r>
                <a14:m>
                  <m:oMath xmlns:m="http://schemas.openxmlformats.org/officeDocument/2006/math">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𝐷</m:t>
                        </m:r>
                      </m:e>
                      <m:sub>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𝑙</m:t>
                            </m:r>
                          </m:e>
                          <m:sub>
                            <m:r>
                              <a:rPr lang="en-US" altLang="zh-CN" sz="2800" i="1">
                                <a:solidFill>
                                  <a:prstClr val="black"/>
                                </a:solidFill>
                                <a:latin typeface="Cambria Math" panose="02040503050406030204" pitchFamily="18" charset="0"/>
                              </a:rPr>
                              <m:t>𝑡</m:t>
                            </m:r>
                          </m:sub>
                        </m:sSub>
                      </m:sub>
                    </m:sSub>
                  </m:oMath>
                </a14:m>
                <a:r>
                  <a:rPr lang="zh-CN" altLang="zh-CN" sz="2800" dirty="0">
                    <a:solidFill>
                      <a:prstClr val="black"/>
                    </a:solidFill>
                    <a:latin typeface="Times New Roman" panose="02020603050405020304"/>
                    <a:ea typeface="黑体" panose="02010609060101010101" charset="-122"/>
                  </a:rPr>
                  <a:t>，</a:t>
                </a:r>
                <a14:m>
                  <m:oMath xmlns:m="http://schemas.openxmlformats.org/officeDocument/2006/math">
                    <m:sSub>
                      <m:sSubPr>
                        <m:ctrlPr>
                          <a:rPr lang="zh-CN" altLang="zh-CN" sz="2800" i="1" smtClean="0">
                            <a:solidFill>
                              <a:srgbClr val="FF0000"/>
                            </a:solidFill>
                            <a:latin typeface="Cambria Math" panose="02040503050406030204" pitchFamily="18" charset="0"/>
                          </a:rPr>
                        </m:ctrlPr>
                      </m:sSubPr>
                      <m:e>
                        <m:acc>
                          <m:accPr>
                            <m:ctrlPr>
                              <a:rPr lang="zh-CN" altLang="zh-CN" sz="2800" i="1" smtClean="0">
                                <a:solidFill>
                                  <a:srgbClr val="FF0000"/>
                                </a:solidFill>
                                <a:latin typeface="Cambria Math" panose="02040503050406030204" pitchFamily="18" charset="0"/>
                              </a:rPr>
                            </m:ctrlPr>
                          </m:accPr>
                          <m:e>
                            <m:r>
                              <a:rPr lang="en-US" altLang="zh-CN" sz="2800" i="1">
                                <a:solidFill>
                                  <a:srgbClr val="FF0000"/>
                                </a:solidFill>
                                <a:latin typeface="Cambria Math" panose="02040503050406030204" pitchFamily="18" charset="0"/>
                              </a:rPr>
                              <m:t>𝑟</m:t>
                            </m:r>
                          </m:e>
                        </m:acc>
                      </m:e>
                      <m:sub>
                        <m:r>
                          <a:rPr lang="en-US" altLang="zh-CN" sz="2800" i="1">
                            <a:solidFill>
                              <a:srgbClr val="FF0000"/>
                            </a:solidFill>
                            <a:latin typeface="Cambria Math" panose="02040503050406030204" pitchFamily="18" charset="0"/>
                          </a:rPr>
                          <m:t>𝑡</m:t>
                        </m:r>
                      </m:sub>
                    </m:sSub>
                  </m:oMath>
                </a14:m>
                <a:r>
                  <a:rPr lang="zh-CN" altLang="zh-CN" sz="2800" dirty="0">
                    <a:solidFill>
                      <a:prstClr val="black"/>
                    </a:solidFill>
                    <a:latin typeface="Times New Roman" panose="02020603050405020304"/>
                    <a:ea typeface="黑体" panose="02010609060101010101" charset="-122"/>
                  </a:rPr>
                  <a:t>被称为第</a:t>
                </a:r>
                <a14:m>
                  <m:oMath xmlns:m="http://schemas.openxmlformats.org/officeDocument/2006/math">
                    <m:r>
                      <a:rPr lang="en-US" altLang="zh-CN" sz="2800" i="1">
                        <a:solidFill>
                          <a:prstClr val="black"/>
                        </a:solidFill>
                        <a:latin typeface="Cambria Math" panose="02040503050406030204" pitchFamily="18" charset="0"/>
                      </a:rPr>
                      <m:t>𝑡</m:t>
                    </m:r>
                  </m:oMath>
                </a14:m>
                <a:r>
                  <a:rPr lang="zh-CN" altLang="zh-CN" sz="2800" dirty="0">
                    <a:solidFill>
                      <a:prstClr val="black"/>
                    </a:solidFill>
                    <a:latin typeface="Times New Roman" panose="02020603050405020304"/>
                    <a:ea typeface="黑体" panose="02010609060101010101" charset="-122"/>
                  </a:rPr>
                  <a:t>次行动的奖励。</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50000"/>
                  </a:lnSpc>
                  <a:buFont typeface="Wingdings" panose="05000000000000000000" pitchFamily="2" charset="2"/>
                  <a:buChar char="Ø"/>
                </a:pPr>
                <a:r>
                  <a:rPr lang="zh-CN" altLang="zh-CN" sz="2800" dirty="0">
                    <a:solidFill>
                      <a:prstClr val="black"/>
                    </a:solidFill>
                    <a:latin typeface="Times New Roman" panose="02020603050405020304"/>
                    <a:ea typeface="黑体" panose="02010609060101010101" charset="-122"/>
                  </a:rPr>
                  <a:t>一般假定奖励是有界的，取值范围为</a:t>
                </a:r>
                <a14:m>
                  <m:oMath xmlns:m="http://schemas.openxmlformats.org/officeDocument/2006/math">
                    <m:r>
                      <a:rPr lang="en-US" altLang="zh-CN" sz="2800" i="1">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0</m:t>
                    </m:r>
                    <m:r>
                      <a:rPr lang="en-US" altLang="zh-CN" sz="2800" i="1">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1</m:t>
                    </m:r>
                    <m:r>
                      <a:rPr lang="en-US" altLang="zh-CN" sz="2800" i="1">
                        <a:solidFill>
                          <a:prstClr val="black"/>
                        </a:solidFill>
                        <a:latin typeface="Cambria Math" panose="02040503050406030204" pitchFamily="18" charset="0"/>
                      </a:rPr>
                      <m:t>]</m:t>
                    </m:r>
                  </m:oMath>
                </a14:m>
                <a:r>
                  <a:rPr lang="zh-CN" altLang="zh-CN" sz="2800" dirty="0">
                    <a:solidFill>
                      <a:prstClr val="black"/>
                    </a:solidFill>
                    <a:latin typeface="Times New Roman" panose="02020603050405020304"/>
                    <a:ea typeface="黑体" panose="02010609060101010101" charset="-122"/>
                  </a:rPr>
                  <a:t>。</a:t>
                </a:r>
                <a:endParaRPr lang="en-US" altLang="zh-CN" sz="2800" dirty="0">
                  <a:solidFill>
                    <a:prstClr val="black"/>
                  </a:solidFill>
                  <a:latin typeface="Times New Roman" panose="02020603050405020304"/>
                  <a:ea typeface="黑体" panose="02010609060101010101" charset="-122"/>
                </a:endParaRPr>
              </a:p>
            </p:txBody>
          </p:sp>
        </mc:Choice>
        <mc:Fallback>
          <p:sp>
            <p:nvSpPr>
              <p:cNvPr id="2" name="矩形 1"/>
              <p:cNvSpPr>
                <a:spLocks noRot="1" noChangeAspect="1" noMove="1" noResize="1" noEditPoints="1" noAdjustHandles="1" noChangeArrowheads="1" noChangeShapeType="1" noTextEdit="1"/>
              </p:cNvSpPr>
              <p:nvPr/>
            </p:nvSpPr>
            <p:spPr>
              <a:xfrm>
                <a:off x="594918" y="1651988"/>
                <a:ext cx="7943161" cy="3947363"/>
              </a:xfrm>
              <a:prstGeom prst="rect">
                <a:avLst/>
              </a:prstGeom>
              <a:blipFill rotWithShape="1">
                <a:blip r:embed="rId1"/>
                <a:stretch>
                  <a:fillRect l="-7" t="-9" r="6" b="14"/>
                </a:stretch>
              </a:blipFill>
            </p:spPr>
            <p:txBody>
              <a:bodyPr/>
              <a:lstStyle/>
              <a:p>
                <a:r>
                  <a:rPr lang="zh-CN" altLang="en-US">
                    <a:noFill/>
                  </a:rPr>
                  <a:t> </a:t>
                </a:r>
              </a:p>
            </p:txBody>
          </p:sp>
        </mc:Fallback>
      </mc:AlternateContent>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1050046"/>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蒙特卡洛树搜索的形式化描述</a:t>
            </a:r>
            <a:endParaRPr lang="en-US" altLang="zh-CN" sz="3000" dirty="0">
              <a:solidFill>
                <a:prstClr val="black"/>
              </a:solidFill>
              <a:latin typeface="方正姚体" panose="02010601030101010101" pitchFamily="2" charset="-122"/>
              <a:ea typeface="方正姚体" panose="02010601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624878" y="1663583"/>
                <a:ext cx="7883236" cy="4794711"/>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zh-CN" sz="2800" dirty="0">
                    <a:solidFill>
                      <a:srgbClr val="FF0000"/>
                    </a:solidFill>
                    <a:latin typeface="Times New Roman" panose="02020603050405020304"/>
                    <a:ea typeface="黑体" panose="02010609060101010101" charset="-122"/>
                  </a:rPr>
                  <a:t>悔值（</a:t>
                </a:r>
                <a:r>
                  <a:rPr lang="en-US" altLang="zh-CN" sz="2800" dirty="0">
                    <a:solidFill>
                      <a:srgbClr val="FF0000"/>
                    </a:solidFill>
                    <a:latin typeface="Times New Roman" panose="02020603050405020304"/>
                    <a:ea typeface="黑体" panose="02010609060101010101" charset="-122"/>
                  </a:rPr>
                  <a:t>regret</a:t>
                </a:r>
                <a:r>
                  <a:rPr lang="zh-CN" altLang="zh-CN" sz="2800" dirty="0">
                    <a:solidFill>
                      <a:srgbClr val="FF0000"/>
                    </a:solidFill>
                    <a:latin typeface="Times New Roman" panose="02020603050405020304"/>
                    <a:ea typeface="黑体" panose="02010609060101010101" charset="-122"/>
                  </a:rPr>
                  <a:t>）函数</a:t>
                </a:r>
                <a:r>
                  <a:rPr lang="zh-CN" altLang="en-US" sz="2800" dirty="0">
                    <a:solidFill>
                      <a:srgbClr val="FF0000"/>
                    </a:solidFill>
                    <a:latin typeface="Times New Roman" panose="02020603050405020304"/>
                    <a:ea typeface="黑体" panose="02010609060101010101" charset="-122"/>
                  </a:rPr>
                  <a:t>：</a:t>
                </a:r>
                <a:r>
                  <a:rPr lang="zh-CN" altLang="zh-CN" sz="2800" dirty="0">
                    <a:solidFill>
                      <a:prstClr val="black"/>
                    </a:solidFill>
                    <a:latin typeface="Times New Roman" panose="02020603050405020304"/>
                    <a:ea typeface="黑体" panose="02010609060101010101" charset="-122"/>
                  </a:rPr>
                  <a:t>根据智能体前</a:t>
                </a:r>
                <a14:m>
                  <m:oMath xmlns:m="http://schemas.openxmlformats.org/officeDocument/2006/math">
                    <m:r>
                      <a:rPr lang="en-US" altLang="zh-CN" sz="2800" i="1">
                        <a:solidFill>
                          <a:prstClr val="black"/>
                        </a:solidFill>
                        <a:latin typeface="Cambria Math" panose="02040503050406030204" pitchFamily="18" charset="0"/>
                      </a:rPr>
                      <m:t>𝑇</m:t>
                    </m:r>
                  </m:oMath>
                </a14:m>
                <a:r>
                  <a:rPr lang="zh-CN" altLang="zh-CN" sz="2800" dirty="0">
                    <a:solidFill>
                      <a:prstClr val="black"/>
                    </a:solidFill>
                    <a:latin typeface="Times New Roman" panose="02020603050405020304"/>
                    <a:ea typeface="黑体" panose="02010609060101010101" charset="-122"/>
                  </a:rPr>
                  <a:t>次动作，定义悔值函数：</a:t>
                </a:r>
                <a14:m>
                  <m:oMath xmlns:m="http://schemas.openxmlformats.org/officeDocument/2006/math">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𝜌</m:t>
                        </m:r>
                      </m:e>
                      <m:sub>
                        <m:r>
                          <a:rPr lang="en-US" altLang="zh-CN" sz="2800" i="1">
                            <a:solidFill>
                              <a:prstClr val="black"/>
                            </a:solidFill>
                            <a:latin typeface="Cambria Math" panose="02040503050406030204" pitchFamily="18" charset="0"/>
                          </a:rPr>
                          <m:t>𝑇</m:t>
                        </m:r>
                      </m:sub>
                    </m:sSub>
                    <m:r>
                      <a:rPr lang="en-US" altLang="zh-CN" sz="2800" i="1">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𝑇</m:t>
                    </m:r>
                    <m:sSup>
                      <m:sSupPr>
                        <m:ctrlPr>
                          <a:rPr lang="zh-CN" altLang="zh-CN" sz="2800" i="1">
                            <a:solidFill>
                              <a:prstClr val="black"/>
                            </a:solidFill>
                            <a:latin typeface="Cambria Math" panose="02040503050406030204" pitchFamily="18" charset="0"/>
                          </a:rPr>
                        </m:ctrlPr>
                      </m:sSupPr>
                      <m:e>
                        <m:r>
                          <a:rPr lang="en-US" altLang="zh-CN" sz="2800" i="1">
                            <a:solidFill>
                              <a:prstClr val="black"/>
                            </a:solidFill>
                            <a:latin typeface="Cambria Math" panose="02040503050406030204" pitchFamily="18" charset="0"/>
                          </a:rPr>
                          <m:t>𝜇</m:t>
                        </m:r>
                      </m:e>
                      <m:sup>
                        <m:r>
                          <a:rPr lang="en-US" altLang="zh-CN" sz="2800" i="1">
                            <a:solidFill>
                              <a:prstClr val="black"/>
                            </a:solidFill>
                            <a:latin typeface="Cambria Math" panose="02040503050406030204" pitchFamily="18" charset="0"/>
                          </a:rPr>
                          <m:t>∗</m:t>
                        </m:r>
                      </m:sup>
                    </m:sSup>
                    <m:r>
                      <a:rPr lang="en-US" altLang="zh-CN" sz="2800" i="1">
                        <a:solidFill>
                          <a:prstClr val="black"/>
                        </a:solidFill>
                        <a:latin typeface="Cambria Math" panose="02040503050406030204" pitchFamily="18" charset="0"/>
                      </a:rPr>
                      <m:t>−</m:t>
                    </m:r>
                    <m:nary>
                      <m:naryPr>
                        <m:chr m:val="∑"/>
                        <m:limLoc m:val="undOvr"/>
                        <m:ctrlPr>
                          <a:rPr lang="zh-CN" altLang="zh-CN" sz="2800" i="1">
                            <a:solidFill>
                              <a:prstClr val="black"/>
                            </a:solidFill>
                            <a:latin typeface="Cambria Math" panose="02040503050406030204" pitchFamily="18" charset="0"/>
                          </a:rPr>
                        </m:ctrlPr>
                      </m:naryPr>
                      <m:sub>
                        <m:r>
                          <a:rPr lang="en-US" altLang="zh-CN" sz="2800" i="1">
                            <a:solidFill>
                              <a:prstClr val="black"/>
                            </a:solidFill>
                            <a:latin typeface="Cambria Math" panose="02040503050406030204" pitchFamily="18" charset="0"/>
                          </a:rPr>
                          <m:t>𝑡</m:t>
                        </m:r>
                        <m:r>
                          <a:rPr lang="en-US" altLang="zh-CN" sz="2800" i="1">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1</m:t>
                        </m:r>
                      </m:sub>
                      <m:sup>
                        <m:r>
                          <a:rPr lang="en-US" altLang="zh-CN" sz="2800" i="1">
                            <a:solidFill>
                              <a:prstClr val="black"/>
                            </a:solidFill>
                            <a:latin typeface="Cambria Math" panose="02040503050406030204" pitchFamily="18" charset="0"/>
                          </a:rPr>
                          <m:t>𝑇</m:t>
                        </m:r>
                      </m:sup>
                      <m:e>
                        <m:sSub>
                          <m:sSubPr>
                            <m:ctrlPr>
                              <a:rPr lang="zh-CN" altLang="zh-CN" sz="2800" i="1">
                                <a:solidFill>
                                  <a:prstClr val="black"/>
                                </a:solidFill>
                                <a:latin typeface="Cambria Math" panose="02040503050406030204" pitchFamily="18" charset="0"/>
                              </a:rPr>
                            </m:ctrlPr>
                          </m:sSubPr>
                          <m:e>
                            <m:acc>
                              <m:accPr>
                                <m:ctrlPr>
                                  <a:rPr lang="zh-CN" altLang="zh-CN" sz="2800" i="1">
                                    <a:solidFill>
                                      <a:prstClr val="black"/>
                                    </a:solidFill>
                                    <a:latin typeface="Cambria Math" panose="02040503050406030204" pitchFamily="18" charset="0"/>
                                  </a:rPr>
                                </m:ctrlPr>
                              </m:accPr>
                              <m:e>
                                <m:r>
                                  <a:rPr lang="en-US" altLang="zh-CN" sz="2800" i="1">
                                    <a:solidFill>
                                      <a:prstClr val="black"/>
                                    </a:solidFill>
                                    <a:latin typeface="Cambria Math" panose="02040503050406030204" pitchFamily="18" charset="0"/>
                                  </a:rPr>
                                  <m:t>𝑟</m:t>
                                </m:r>
                              </m:e>
                            </m:acc>
                          </m:e>
                          <m:sub>
                            <m:r>
                              <a:rPr lang="en-US" altLang="zh-CN" sz="2800" i="1">
                                <a:solidFill>
                                  <a:prstClr val="black"/>
                                </a:solidFill>
                                <a:latin typeface="Cambria Math" panose="02040503050406030204" pitchFamily="18" charset="0"/>
                              </a:rPr>
                              <m:t>𝑡</m:t>
                            </m:r>
                          </m:sub>
                        </m:sSub>
                      </m:e>
                    </m:nary>
                    <m:r>
                      <a:rPr lang="en-US" altLang="zh-CN" sz="2800">
                        <a:solidFill>
                          <a:prstClr val="black"/>
                        </a:solidFill>
                        <a:latin typeface="Cambria Math" panose="02040503050406030204" pitchFamily="18" charset="0"/>
                      </a:rPr>
                      <m:t> </m:t>
                    </m:r>
                  </m:oMath>
                </a14:m>
                <a:endParaRPr lang="en-US" altLang="zh-CN" sz="2800" dirty="0">
                  <a:solidFill>
                    <a:prstClr val="black"/>
                  </a:solidFill>
                  <a:latin typeface="Times New Roman" panose="02020603050405020304"/>
                  <a:ea typeface="黑体" panose="02010609060101010101" charset="-122"/>
                </a:endParaRPr>
              </a:p>
              <a:p>
                <a:pPr algn="just">
                  <a:lnSpc>
                    <a:spcPct val="150000"/>
                  </a:lnSpc>
                </a:pPr>
                <a:r>
                  <a:rPr lang="en-US" altLang="zh-CN" sz="2800" dirty="0">
                    <a:solidFill>
                      <a:prstClr val="black"/>
                    </a:solidFill>
                    <a:latin typeface="Times New Roman" panose="02020603050405020304"/>
                    <a:ea typeface="黑体" panose="02010609060101010101" charset="-122"/>
                  </a:rPr>
                  <a:t>     </a:t>
                </a:r>
                <a:r>
                  <a:rPr lang="zh-CN" altLang="zh-CN" sz="2800" dirty="0">
                    <a:solidFill>
                      <a:prstClr val="black"/>
                    </a:solidFill>
                    <a:latin typeface="Times New Roman" panose="02020603050405020304"/>
                    <a:ea typeface="黑体" panose="02010609060101010101" charset="-122"/>
                  </a:rPr>
                  <a:t>其中</a:t>
                </a:r>
                <a14:m>
                  <m:oMath xmlns:m="http://schemas.openxmlformats.org/officeDocument/2006/math">
                    <m:func>
                      <m:funcPr>
                        <m:ctrlPr>
                          <a:rPr lang="zh-CN" altLang="zh-CN" sz="2800" i="1">
                            <a:solidFill>
                              <a:prstClr val="black"/>
                            </a:solidFill>
                            <a:latin typeface="Cambria Math" panose="02040503050406030204" pitchFamily="18" charset="0"/>
                          </a:rPr>
                        </m:ctrlPr>
                      </m:funcPr>
                      <m:fName>
                        <m:sSup>
                          <m:sSupPr>
                            <m:ctrlPr>
                              <a:rPr lang="zh-CN" altLang="zh-CN" sz="2800" i="1">
                                <a:solidFill>
                                  <a:prstClr val="black"/>
                                </a:solidFill>
                                <a:latin typeface="Cambria Math" panose="02040503050406030204" pitchFamily="18" charset="0"/>
                              </a:rPr>
                            </m:ctrlPr>
                          </m:sSupPr>
                          <m:e>
                            <m:r>
                              <a:rPr lang="en-US" altLang="zh-CN" sz="2800" i="1">
                                <a:solidFill>
                                  <a:prstClr val="black"/>
                                </a:solidFill>
                                <a:latin typeface="Cambria Math" panose="02040503050406030204" pitchFamily="18" charset="0"/>
                              </a:rPr>
                              <m:t>𝜇</m:t>
                            </m:r>
                          </m:e>
                          <m:sup>
                            <m:r>
                              <a:rPr lang="en-US" altLang="zh-CN" sz="2800" i="1">
                                <a:solidFill>
                                  <a:prstClr val="black"/>
                                </a:solidFill>
                                <a:latin typeface="Cambria Math" panose="02040503050406030204" pitchFamily="18" charset="0"/>
                              </a:rPr>
                              <m:t>∗</m:t>
                            </m:r>
                          </m:sup>
                        </m:sSup>
                        <m:r>
                          <a:rPr lang="en-US" altLang="zh-CN" sz="2800" i="1">
                            <a:solidFill>
                              <a:prstClr val="black"/>
                            </a:solidFill>
                            <a:latin typeface="Cambria Math" panose="02040503050406030204" pitchFamily="18" charset="0"/>
                          </a:rPr>
                          <m:t>=</m:t>
                        </m:r>
                        <m:limLow>
                          <m:limLowPr>
                            <m:ctrlPr>
                              <a:rPr lang="zh-CN" altLang="zh-CN" sz="2800" i="1">
                                <a:solidFill>
                                  <a:prstClr val="black"/>
                                </a:solidFill>
                                <a:latin typeface="Cambria Math" panose="02040503050406030204" pitchFamily="18" charset="0"/>
                              </a:rPr>
                            </m:ctrlPr>
                          </m:limLowPr>
                          <m:e>
                            <m:r>
                              <a:rPr lang="en-US" altLang="zh-CN" sz="2800" i="1">
                                <a:solidFill>
                                  <a:prstClr val="black"/>
                                </a:solidFill>
                                <a:latin typeface="Cambria Math" panose="02040503050406030204" pitchFamily="18" charset="0"/>
                              </a:rPr>
                              <m:t>𝑚𝑎𝑥</m:t>
                            </m:r>
                          </m:e>
                          <m:lim>
                            <m:r>
                              <a:rPr lang="en-US" altLang="zh-CN" sz="2800" i="1">
                                <a:solidFill>
                                  <a:prstClr val="black"/>
                                </a:solidFill>
                                <a:latin typeface="Cambria Math" panose="02040503050406030204" pitchFamily="18" charset="0"/>
                              </a:rPr>
                              <m:t>𝑖</m:t>
                            </m:r>
                            <m:r>
                              <a:rPr lang="en-US" altLang="zh-CN" sz="2800">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1</m:t>
                            </m:r>
                            <m:r>
                              <a:rPr lang="en-US" altLang="zh-CN" sz="2800">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𝐾</m:t>
                            </m:r>
                          </m:lim>
                        </m:limLow>
                      </m:fName>
                      <m:e>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𝜇</m:t>
                            </m:r>
                          </m:e>
                          <m:sub>
                            <m:r>
                              <a:rPr lang="en-US" altLang="zh-CN" sz="2800" i="1">
                                <a:solidFill>
                                  <a:prstClr val="black"/>
                                </a:solidFill>
                                <a:latin typeface="Cambria Math" panose="02040503050406030204" pitchFamily="18" charset="0"/>
                              </a:rPr>
                              <m:t>𝑖</m:t>
                            </m:r>
                          </m:sub>
                        </m:sSub>
                      </m:e>
                    </m:func>
                  </m:oMath>
                </a14:m>
                <a:r>
                  <a:rPr lang="zh-CN" altLang="zh-CN" sz="2800" dirty="0">
                    <a:solidFill>
                      <a:prstClr val="black"/>
                    </a:solidFill>
                    <a:latin typeface="Times New Roman" panose="02020603050405020304"/>
                    <a:ea typeface="黑体" panose="02010609060101010101" charset="-122"/>
                  </a:rPr>
                  <a:t>。为了尽量减少悔恨，每次操作时，智能体应总是转动能够给出最大期望奖励的赌博机臂膀，但智能体并不知道哪个臂膀的奖励期望最大。将</a:t>
                </a:r>
                <a14:m>
                  <m:oMath xmlns:m="http://schemas.openxmlformats.org/officeDocument/2006/math">
                    <m:r>
                      <a:rPr lang="en-US" altLang="zh-CN" sz="2800" i="1">
                        <a:solidFill>
                          <a:prstClr val="black"/>
                        </a:solidFill>
                        <a:latin typeface="Cambria Math" panose="02040503050406030204" pitchFamily="18" charset="0"/>
                      </a:rPr>
                      <m:t>𝑇</m:t>
                    </m:r>
                  </m:oMath>
                </a14:m>
                <a:r>
                  <a:rPr lang="zh-CN" altLang="zh-CN" sz="2800" dirty="0">
                    <a:solidFill>
                      <a:prstClr val="black"/>
                    </a:solidFill>
                    <a:latin typeface="Times New Roman" panose="02020603050405020304"/>
                    <a:ea typeface="黑体" panose="02010609060101010101" charset="-122"/>
                  </a:rPr>
                  <a:t>次操作中最优策略的期望得分减去智能体的实际得分，就是悔值函数</a:t>
                </a:r>
                <a:r>
                  <a:rPr lang="zh-CN" altLang="en-US" sz="2800" dirty="0">
                    <a:solidFill>
                      <a:prstClr val="black"/>
                    </a:solidFill>
                    <a:latin typeface="Times New Roman" panose="02020603050405020304"/>
                    <a:ea typeface="黑体" panose="02010609060101010101" charset="-122"/>
                  </a:rPr>
                  <a:t>值</a:t>
                </a:r>
                <a:r>
                  <a:rPr lang="zh-CN" altLang="zh-CN" sz="2800" dirty="0">
                    <a:solidFill>
                      <a:prstClr val="black"/>
                    </a:solidFill>
                    <a:latin typeface="Times New Roman" panose="02020603050405020304"/>
                    <a:ea typeface="黑体" panose="02010609060101010101" charset="-122"/>
                  </a:rPr>
                  <a:t>。</a:t>
                </a:r>
                <a:endParaRPr lang="zh-CN" altLang="zh-CN" sz="2800" dirty="0">
                  <a:solidFill>
                    <a:prstClr val="black"/>
                  </a:solidFill>
                  <a:latin typeface="Times New Roman" panose="02020603050405020304"/>
                  <a:ea typeface="黑体" panose="02010609060101010101" charset="-122"/>
                </a:endParaRPr>
              </a:p>
            </p:txBody>
          </p:sp>
        </mc:Choice>
        <mc:Fallback>
          <p:sp>
            <p:nvSpPr>
              <p:cNvPr id="2" name="矩形 1"/>
              <p:cNvSpPr>
                <a:spLocks noRot="1" noChangeAspect="1" noMove="1" noResize="1" noEditPoints="1" noAdjustHandles="1" noChangeArrowheads="1" noChangeShapeType="1" noTextEdit="1"/>
              </p:cNvSpPr>
              <p:nvPr/>
            </p:nvSpPr>
            <p:spPr>
              <a:xfrm>
                <a:off x="624878" y="1663583"/>
                <a:ext cx="7883236" cy="4794711"/>
              </a:xfrm>
              <a:prstGeom prst="rect">
                <a:avLst/>
              </a:prstGeom>
              <a:blipFill rotWithShape="1">
                <a:blip r:embed="rId1"/>
                <a:stretch>
                  <a:fillRect t="-11" r="5" b="-2615"/>
                </a:stretch>
              </a:blipFill>
            </p:spPr>
            <p:txBody>
              <a:bodyPr/>
              <a:lstStyle/>
              <a:p>
                <a:r>
                  <a:rPr lang="zh-CN" altLang="en-US">
                    <a:noFill/>
                  </a:rPr>
                  <a:t> </a:t>
                </a:r>
              </a:p>
            </p:txBody>
          </p:sp>
        </mc:Fallback>
      </mc:AlternateContent>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1050046"/>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蒙特卡洛树搜索的形式化描述</a:t>
            </a:r>
            <a:endParaRPr lang="en-US" altLang="zh-CN" sz="3000" dirty="0">
              <a:solidFill>
                <a:prstClr val="black"/>
              </a:solidFill>
              <a:latin typeface="方正姚体" panose="02010601030101010101" pitchFamily="2" charset="-122"/>
              <a:ea typeface="方正姚体" panose="02010601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75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624878" y="1663589"/>
                <a:ext cx="7883236" cy="2855718"/>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zh-CN" sz="2800" dirty="0">
                    <a:solidFill>
                      <a:srgbClr val="FF0000"/>
                    </a:solidFill>
                    <a:latin typeface="Times New Roman" panose="02020603050405020304"/>
                    <a:ea typeface="黑体" panose="02010609060101010101" charset="-122"/>
                  </a:rPr>
                  <a:t>悔值（</a:t>
                </a:r>
                <a:r>
                  <a:rPr lang="en-US" altLang="zh-CN" sz="2800" dirty="0">
                    <a:solidFill>
                      <a:srgbClr val="FF0000"/>
                    </a:solidFill>
                    <a:latin typeface="Times New Roman" panose="02020603050405020304"/>
                    <a:ea typeface="黑体" panose="02010609060101010101" charset="-122"/>
                  </a:rPr>
                  <a:t>regret</a:t>
                </a:r>
                <a:r>
                  <a:rPr lang="zh-CN" altLang="zh-CN" sz="2800" dirty="0">
                    <a:solidFill>
                      <a:srgbClr val="FF0000"/>
                    </a:solidFill>
                    <a:latin typeface="Times New Roman" panose="02020603050405020304"/>
                    <a:ea typeface="黑体" panose="02010609060101010101" charset="-122"/>
                  </a:rPr>
                  <a:t>）函数</a:t>
                </a:r>
                <a:r>
                  <a:rPr lang="zh-CN" altLang="en-US" sz="2800" dirty="0">
                    <a:solidFill>
                      <a:srgbClr val="FF0000"/>
                    </a:solidFill>
                    <a:latin typeface="Times New Roman" panose="02020603050405020304"/>
                    <a:ea typeface="黑体" panose="02010609060101010101" charset="-122"/>
                  </a:rPr>
                  <a:t>：</a:t>
                </a:r>
                <a14:m>
                  <m:oMath xmlns:m="http://schemas.openxmlformats.org/officeDocument/2006/math">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𝜌</m:t>
                        </m:r>
                      </m:e>
                      <m:sub>
                        <m:r>
                          <a:rPr lang="en-US" altLang="zh-CN" sz="2800" i="1">
                            <a:solidFill>
                              <a:prstClr val="black"/>
                            </a:solidFill>
                            <a:latin typeface="Cambria Math" panose="02040503050406030204" pitchFamily="18" charset="0"/>
                          </a:rPr>
                          <m:t>𝑇</m:t>
                        </m:r>
                      </m:sub>
                    </m:sSub>
                    <m:r>
                      <a:rPr lang="en-US" altLang="zh-CN" sz="2800" i="1">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𝑇</m:t>
                    </m:r>
                    <m:sSup>
                      <m:sSupPr>
                        <m:ctrlPr>
                          <a:rPr lang="zh-CN" altLang="zh-CN" sz="2800" i="1">
                            <a:solidFill>
                              <a:prstClr val="black"/>
                            </a:solidFill>
                            <a:latin typeface="Cambria Math" panose="02040503050406030204" pitchFamily="18" charset="0"/>
                          </a:rPr>
                        </m:ctrlPr>
                      </m:sSupPr>
                      <m:e>
                        <m:r>
                          <a:rPr lang="en-US" altLang="zh-CN" sz="2800" i="1">
                            <a:solidFill>
                              <a:prstClr val="black"/>
                            </a:solidFill>
                            <a:latin typeface="Cambria Math" panose="02040503050406030204" pitchFamily="18" charset="0"/>
                          </a:rPr>
                          <m:t>𝜇</m:t>
                        </m:r>
                      </m:e>
                      <m:sup>
                        <m:r>
                          <a:rPr lang="en-US" altLang="zh-CN" sz="2800" i="1">
                            <a:solidFill>
                              <a:prstClr val="black"/>
                            </a:solidFill>
                            <a:latin typeface="Cambria Math" panose="02040503050406030204" pitchFamily="18" charset="0"/>
                          </a:rPr>
                          <m:t>∗</m:t>
                        </m:r>
                      </m:sup>
                    </m:sSup>
                    <m:r>
                      <a:rPr lang="en-US" altLang="zh-CN" sz="2800" i="1">
                        <a:solidFill>
                          <a:prstClr val="black"/>
                        </a:solidFill>
                        <a:latin typeface="Cambria Math" panose="02040503050406030204" pitchFamily="18" charset="0"/>
                      </a:rPr>
                      <m:t>−</m:t>
                    </m:r>
                    <m:nary>
                      <m:naryPr>
                        <m:chr m:val="∑"/>
                        <m:limLoc m:val="undOvr"/>
                        <m:ctrlPr>
                          <a:rPr lang="zh-CN" altLang="zh-CN" sz="2800" i="1">
                            <a:solidFill>
                              <a:prstClr val="black"/>
                            </a:solidFill>
                            <a:latin typeface="Cambria Math" panose="02040503050406030204" pitchFamily="18" charset="0"/>
                          </a:rPr>
                        </m:ctrlPr>
                      </m:naryPr>
                      <m:sub>
                        <m:r>
                          <a:rPr lang="en-US" altLang="zh-CN" sz="2800" i="1">
                            <a:solidFill>
                              <a:prstClr val="black"/>
                            </a:solidFill>
                            <a:latin typeface="Cambria Math" panose="02040503050406030204" pitchFamily="18" charset="0"/>
                          </a:rPr>
                          <m:t>𝑡</m:t>
                        </m:r>
                        <m:r>
                          <a:rPr lang="en-US" altLang="zh-CN" sz="2800" i="1">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1</m:t>
                        </m:r>
                      </m:sub>
                      <m:sup>
                        <m:r>
                          <a:rPr lang="en-US" altLang="zh-CN" sz="2800" i="1">
                            <a:solidFill>
                              <a:prstClr val="black"/>
                            </a:solidFill>
                            <a:latin typeface="Cambria Math" panose="02040503050406030204" pitchFamily="18" charset="0"/>
                          </a:rPr>
                          <m:t>𝑇</m:t>
                        </m:r>
                      </m:sup>
                      <m:e>
                        <m:sSub>
                          <m:sSubPr>
                            <m:ctrlPr>
                              <a:rPr lang="zh-CN" altLang="zh-CN" sz="2800" i="1">
                                <a:solidFill>
                                  <a:prstClr val="black"/>
                                </a:solidFill>
                                <a:latin typeface="Cambria Math" panose="02040503050406030204" pitchFamily="18" charset="0"/>
                              </a:rPr>
                            </m:ctrlPr>
                          </m:sSubPr>
                          <m:e>
                            <m:acc>
                              <m:accPr>
                                <m:ctrlPr>
                                  <a:rPr lang="zh-CN" altLang="zh-CN" sz="2800" i="1">
                                    <a:solidFill>
                                      <a:prstClr val="black"/>
                                    </a:solidFill>
                                    <a:latin typeface="Cambria Math" panose="02040503050406030204" pitchFamily="18" charset="0"/>
                                  </a:rPr>
                                </m:ctrlPr>
                              </m:accPr>
                              <m:e>
                                <m:r>
                                  <a:rPr lang="en-US" altLang="zh-CN" sz="2800" i="1">
                                    <a:solidFill>
                                      <a:prstClr val="black"/>
                                    </a:solidFill>
                                    <a:latin typeface="Cambria Math" panose="02040503050406030204" pitchFamily="18" charset="0"/>
                                  </a:rPr>
                                  <m:t>𝑟</m:t>
                                </m:r>
                              </m:e>
                            </m:acc>
                          </m:e>
                          <m:sub>
                            <m:r>
                              <a:rPr lang="en-US" altLang="zh-CN" sz="2800" i="1">
                                <a:solidFill>
                                  <a:prstClr val="black"/>
                                </a:solidFill>
                                <a:latin typeface="Cambria Math" panose="02040503050406030204" pitchFamily="18" charset="0"/>
                              </a:rPr>
                              <m:t>𝑡</m:t>
                            </m:r>
                          </m:sub>
                        </m:sSub>
                      </m:e>
                    </m:nary>
                    <m:r>
                      <a:rPr lang="en-US" altLang="zh-CN" sz="2800">
                        <a:solidFill>
                          <a:prstClr val="black"/>
                        </a:solidFill>
                        <a:latin typeface="Cambria Math" panose="02040503050406030204" pitchFamily="18" charset="0"/>
                      </a:rPr>
                      <m:t> </m:t>
                    </m:r>
                  </m:oMath>
                </a14:m>
                <a:endParaRPr lang="en-US" altLang="zh-CN" sz="2800" dirty="0">
                  <a:solidFill>
                    <a:prstClr val="black"/>
                  </a:solidFill>
                  <a:latin typeface="Times New Roman" panose="02020603050405020304"/>
                  <a:ea typeface="黑体" panose="02010609060101010101" charset="-122"/>
                </a:endParaRPr>
              </a:p>
              <a:p>
                <a:pPr algn="just">
                  <a:lnSpc>
                    <a:spcPct val="150000"/>
                  </a:lnSpc>
                </a:pPr>
                <a:r>
                  <a:rPr lang="en-US" altLang="zh-CN" sz="2800" dirty="0">
                    <a:solidFill>
                      <a:prstClr val="black"/>
                    </a:solidFill>
                    <a:latin typeface="Times New Roman" panose="02020603050405020304"/>
                    <a:ea typeface="黑体" panose="02010609060101010101" charset="-122"/>
                  </a:rPr>
                  <a:t>     </a:t>
                </a:r>
                <a:r>
                  <a:rPr lang="zh-CN" altLang="zh-CN" sz="2800" dirty="0">
                    <a:solidFill>
                      <a:prstClr val="black"/>
                    </a:solidFill>
                    <a:latin typeface="Times New Roman" panose="02020603050405020304"/>
                    <a:ea typeface="黑体" panose="02010609060101010101" charset="-122"/>
                  </a:rPr>
                  <a:t>其中</a:t>
                </a:r>
                <a14:m>
                  <m:oMath xmlns:m="http://schemas.openxmlformats.org/officeDocument/2006/math">
                    <m:func>
                      <m:funcPr>
                        <m:ctrlPr>
                          <a:rPr lang="zh-CN" altLang="zh-CN" sz="2800" i="1">
                            <a:solidFill>
                              <a:prstClr val="black"/>
                            </a:solidFill>
                            <a:latin typeface="Cambria Math" panose="02040503050406030204" pitchFamily="18" charset="0"/>
                          </a:rPr>
                        </m:ctrlPr>
                      </m:funcPr>
                      <m:fName>
                        <m:sSup>
                          <m:sSupPr>
                            <m:ctrlPr>
                              <a:rPr lang="zh-CN" altLang="zh-CN" sz="2800" i="1">
                                <a:solidFill>
                                  <a:prstClr val="black"/>
                                </a:solidFill>
                                <a:latin typeface="Cambria Math" panose="02040503050406030204" pitchFamily="18" charset="0"/>
                              </a:rPr>
                            </m:ctrlPr>
                          </m:sSupPr>
                          <m:e>
                            <m:r>
                              <a:rPr lang="en-US" altLang="zh-CN" sz="2800" i="1">
                                <a:solidFill>
                                  <a:prstClr val="black"/>
                                </a:solidFill>
                                <a:latin typeface="Cambria Math" panose="02040503050406030204" pitchFamily="18" charset="0"/>
                              </a:rPr>
                              <m:t>𝜇</m:t>
                            </m:r>
                          </m:e>
                          <m:sup>
                            <m:r>
                              <a:rPr lang="en-US" altLang="zh-CN" sz="2800" i="1">
                                <a:solidFill>
                                  <a:prstClr val="black"/>
                                </a:solidFill>
                                <a:latin typeface="Cambria Math" panose="02040503050406030204" pitchFamily="18" charset="0"/>
                              </a:rPr>
                              <m:t>∗</m:t>
                            </m:r>
                          </m:sup>
                        </m:sSup>
                        <m:r>
                          <a:rPr lang="en-US" altLang="zh-CN" sz="2800" i="1">
                            <a:solidFill>
                              <a:prstClr val="black"/>
                            </a:solidFill>
                            <a:latin typeface="Cambria Math" panose="02040503050406030204" pitchFamily="18" charset="0"/>
                          </a:rPr>
                          <m:t>=</m:t>
                        </m:r>
                        <m:limLow>
                          <m:limLowPr>
                            <m:ctrlPr>
                              <a:rPr lang="zh-CN" altLang="zh-CN" sz="2800" i="1">
                                <a:solidFill>
                                  <a:prstClr val="black"/>
                                </a:solidFill>
                                <a:latin typeface="Cambria Math" panose="02040503050406030204" pitchFamily="18" charset="0"/>
                              </a:rPr>
                            </m:ctrlPr>
                          </m:limLowPr>
                          <m:e>
                            <m:r>
                              <a:rPr lang="en-US" altLang="zh-CN" sz="2800" i="1">
                                <a:solidFill>
                                  <a:prstClr val="black"/>
                                </a:solidFill>
                                <a:latin typeface="Cambria Math" panose="02040503050406030204" pitchFamily="18" charset="0"/>
                              </a:rPr>
                              <m:t>𝑚𝑎𝑥</m:t>
                            </m:r>
                          </m:e>
                          <m:lim>
                            <m:r>
                              <a:rPr lang="en-US" altLang="zh-CN" sz="2800" i="1">
                                <a:solidFill>
                                  <a:prstClr val="black"/>
                                </a:solidFill>
                                <a:latin typeface="Cambria Math" panose="02040503050406030204" pitchFamily="18" charset="0"/>
                              </a:rPr>
                              <m:t>𝑖</m:t>
                            </m:r>
                            <m:r>
                              <a:rPr lang="en-US" altLang="zh-CN" sz="2800">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1</m:t>
                            </m:r>
                            <m:r>
                              <a:rPr lang="en-US" altLang="zh-CN" sz="2800">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𝐾</m:t>
                            </m:r>
                          </m:lim>
                        </m:limLow>
                      </m:fName>
                      <m:e>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𝜇</m:t>
                            </m:r>
                          </m:e>
                          <m:sub>
                            <m:r>
                              <a:rPr lang="en-US" altLang="zh-CN" sz="2800" i="1">
                                <a:solidFill>
                                  <a:prstClr val="black"/>
                                </a:solidFill>
                                <a:latin typeface="Cambria Math" panose="02040503050406030204" pitchFamily="18" charset="0"/>
                              </a:rPr>
                              <m:t>𝑖</m:t>
                            </m:r>
                          </m:sub>
                        </m:sSub>
                      </m:e>
                    </m:func>
                  </m:oMath>
                </a14:m>
                <a:r>
                  <a:rPr lang="zh-CN" altLang="zh-CN" sz="2800" dirty="0">
                    <a:solidFill>
                      <a:prstClr val="black"/>
                    </a:solidFill>
                    <a:latin typeface="Times New Roman" panose="02020603050405020304"/>
                    <a:ea typeface="黑体" panose="02010609060101010101" charset="-122"/>
                  </a:rPr>
                  <a:t>。</a:t>
                </a:r>
                <a:endParaRPr lang="en-US" altLang="zh-CN" sz="2800" dirty="0">
                  <a:solidFill>
                    <a:prstClr val="black"/>
                  </a:solidFill>
                  <a:latin typeface="Times New Roman" panose="02020603050405020304"/>
                  <a:ea typeface="黑体" panose="02010609060101010101" charset="-122"/>
                </a:endParaRPr>
              </a:p>
              <a:p>
                <a:pPr algn="just">
                  <a:lnSpc>
                    <a:spcPct val="150000"/>
                  </a:lnSpc>
                </a:pPr>
                <a:r>
                  <a:rPr lang="en-US" altLang="zh-CN" sz="2800" dirty="0">
                    <a:solidFill>
                      <a:prstClr val="black"/>
                    </a:solidFill>
                    <a:latin typeface="Times New Roman" panose="02020603050405020304"/>
                    <a:ea typeface="黑体" panose="02010609060101010101" charset="-122"/>
                  </a:rPr>
                  <a:t>     </a:t>
                </a:r>
                <a:r>
                  <a:rPr lang="zh-CN" altLang="zh-CN" sz="2800" dirty="0">
                    <a:solidFill>
                      <a:srgbClr val="C00000"/>
                    </a:solidFill>
                    <a:latin typeface="Times New Roman" panose="02020603050405020304"/>
                    <a:ea typeface="黑体" panose="02010609060101010101" charset="-122"/>
                  </a:rPr>
                  <a:t>问题求解的目标</a:t>
                </a:r>
                <a:r>
                  <a:rPr lang="zh-CN" altLang="zh-CN" sz="2800" dirty="0">
                    <a:solidFill>
                      <a:prstClr val="black"/>
                    </a:solidFill>
                    <a:latin typeface="Times New Roman" panose="02020603050405020304"/>
                    <a:ea typeface="黑体" panose="02010609060101010101" charset="-122"/>
                  </a:rPr>
                  <a:t>为</a:t>
                </a:r>
                <a:r>
                  <a:rPr lang="zh-CN" altLang="zh-CN" sz="2800" dirty="0">
                    <a:solidFill>
                      <a:srgbClr val="C00000"/>
                    </a:solidFill>
                    <a:latin typeface="Times New Roman" panose="02020603050405020304"/>
                    <a:ea typeface="黑体" panose="02010609060101010101" charset="-122"/>
                  </a:rPr>
                  <a:t>最小化悔值函数的期望</a:t>
                </a:r>
                <a:r>
                  <a:rPr lang="zh-CN" altLang="zh-CN" sz="2800" dirty="0">
                    <a:solidFill>
                      <a:prstClr val="black"/>
                    </a:solidFill>
                    <a:latin typeface="Times New Roman" panose="02020603050405020304"/>
                    <a:ea typeface="黑体" panose="02010609060101010101" charset="-122"/>
                  </a:rPr>
                  <a:t>，该悔值函数的取值取决于智能体所采取的策略。</a:t>
                </a:r>
                <a:endParaRPr lang="zh-CN" altLang="zh-CN" sz="2800" dirty="0">
                  <a:solidFill>
                    <a:prstClr val="black"/>
                  </a:solidFill>
                  <a:latin typeface="Times New Roman" panose="02020603050405020304"/>
                  <a:ea typeface="黑体" panose="02010609060101010101" charset="-122"/>
                </a:endParaRPr>
              </a:p>
            </p:txBody>
          </p:sp>
        </mc:Choice>
        <mc:Fallback>
          <p:sp>
            <p:nvSpPr>
              <p:cNvPr id="2" name="矩形 1"/>
              <p:cNvSpPr>
                <a:spLocks noRot="1" noChangeAspect="1" noMove="1" noResize="1" noEditPoints="1" noAdjustHandles="1" noChangeArrowheads="1" noChangeShapeType="1" noTextEdit="1"/>
              </p:cNvSpPr>
              <p:nvPr/>
            </p:nvSpPr>
            <p:spPr>
              <a:xfrm>
                <a:off x="624878" y="1663589"/>
                <a:ext cx="7883236" cy="2855718"/>
              </a:xfrm>
              <a:prstGeom prst="rect">
                <a:avLst/>
              </a:prstGeom>
              <a:blipFill rotWithShape="1">
                <a:blip r:embed="rId1"/>
                <a:stretch>
                  <a:fillRect t="-18" r="5" b="-5047"/>
                </a:stretch>
              </a:blipFill>
            </p:spPr>
            <p:txBody>
              <a:bodyPr/>
              <a:lstStyle/>
              <a:p>
                <a:r>
                  <a:rPr lang="zh-CN" altLang="en-US">
                    <a:noFill/>
                  </a:rPr>
                  <a:t> </a:t>
                </a:r>
              </a:p>
            </p:txBody>
          </p:sp>
        </mc:Fallback>
      </mc:AlternateContent>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1050046"/>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蒙特卡洛树搜索的形式化描述</a:t>
            </a:r>
            <a:endParaRPr lang="en-US" altLang="zh-CN" sz="3000" dirty="0">
              <a:solidFill>
                <a:prstClr val="black"/>
              </a:solidFill>
              <a:latin typeface="方正姚体" panose="02010601030101010101" pitchFamily="2" charset="-122"/>
              <a:ea typeface="方正姚体" panose="02010601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p:nvPr/>
            </p:nvSpPr>
            <p:spPr>
              <a:xfrm>
                <a:off x="594910" y="1564133"/>
                <a:ext cx="8015691" cy="4999446"/>
              </a:xfrm>
              <a:prstGeom prst="rect">
                <a:avLst/>
              </a:prstGeom>
            </p:spPr>
            <p:txBody>
              <a:bodyPr wrap="square">
                <a:spAutoFit/>
              </a:bodyPr>
              <a:lstStyle/>
              <a:p>
                <a:pPr marL="342900" indent="-342900" algn="just">
                  <a:lnSpc>
                    <a:spcPct val="120000"/>
                  </a:lnSpc>
                  <a:spcBef>
                    <a:spcPts val="600"/>
                  </a:spcBef>
                  <a:buFont typeface="Wingdings" panose="05000000000000000000" pitchFamily="2" charset="2"/>
                  <a:buChar char="Ø"/>
                </a:pPr>
                <a:r>
                  <a:rPr lang="zh-CN" altLang="zh-CN" sz="2800" dirty="0">
                    <a:solidFill>
                      <a:srgbClr val="FF0000"/>
                    </a:solidFill>
                    <a:latin typeface="Times New Roman" panose="02020603050405020304"/>
                    <a:ea typeface="黑体" panose="02010609060101010101" charset="-122"/>
                  </a:rPr>
                  <a:t>贪心算法</a:t>
                </a:r>
                <a:r>
                  <a:rPr lang="zh-CN" altLang="en-US" sz="2800" dirty="0">
                    <a:solidFill>
                      <a:srgbClr val="FF0000"/>
                    </a:solidFill>
                    <a:latin typeface="Times New Roman" panose="02020603050405020304"/>
                    <a:ea typeface="黑体" panose="02010609060101010101" charset="-122"/>
                  </a:rPr>
                  <a:t>策略：</a:t>
                </a:r>
                <a:endParaRPr lang="en-US" altLang="zh-CN" sz="2800" dirty="0">
                  <a:solidFill>
                    <a:srgbClr val="FF0000"/>
                  </a:solidFill>
                  <a:latin typeface="Times New Roman" panose="02020603050405020304"/>
                  <a:ea typeface="黑体" panose="02010609060101010101" charset="-122"/>
                </a:endParaRPr>
              </a:p>
              <a:p>
                <a:pPr marL="457200" indent="-457200" algn="just">
                  <a:lnSpc>
                    <a:spcPct val="120000"/>
                  </a:lnSpc>
                  <a:spcBef>
                    <a:spcPts val="600"/>
                  </a:spcBef>
                  <a:buFont typeface="Arial" panose="020B0604020202020204" pitchFamily="34" charset="0"/>
                  <a:buChar char="•"/>
                </a:pPr>
                <a:r>
                  <a:rPr lang="zh-CN" altLang="zh-CN" sz="2600" dirty="0">
                    <a:solidFill>
                      <a:prstClr val="black"/>
                    </a:solidFill>
                    <a:latin typeface="Times New Roman" panose="02020603050405020304"/>
                    <a:ea typeface="黑体" panose="02010609060101010101" charset="-122"/>
                  </a:rPr>
                  <a:t>智能体记录每次摇动</a:t>
                </a:r>
                <a:r>
                  <a:rPr lang="zh-CN" altLang="en-US" sz="2600" dirty="0">
                    <a:solidFill>
                      <a:prstClr val="black"/>
                    </a:solidFill>
                    <a:latin typeface="Times New Roman" panose="02020603050405020304"/>
                    <a:ea typeface="黑体" panose="02010609060101010101" charset="-122"/>
                  </a:rPr>
                  <a:t>的</a:t>
                </a:r>
                <a:r>
                  <a:rPr lang="zh-CN" altLang="zh-CN" sz="2600" dirty="0">
                    <a:solidFill>
                      <a:prstClr val="black"/>
                    </a:solidFill>
                    <a:latin typeface="Times New Roman" panose="02020603050405020304"/>
                    <a:ea typeface="黑体" panose="02010609060101010101" charset="-122"/>
                  </a:rPr>
                  <a:t>赌博机臂膀和获得的相应收益分数。</a:t>
                </a:r>
                <a:endParaRPr lang="en-US" altLang="zh-CN" sz="2600" dirty="0">
                  <a:solidFill>
                    <a:prstClr val="black"/>
                  </a:solidFill>
                  <a:latin typeface="Times New Roman" panose="02020603050405020304"/>
                  <a:ea typeface="黑体" panose="02010609060101010101" charset="-122"/>
                </a:endParaRPr>
              </a:p>
              <a:p>
                <a:pPr marL="457200" indent="-457200" algn="just">
                  <a:lnSpc>
                    <a:spcPct val="120000"/>
                  </a:lnSpc>
                  <a:spcBef>
                    <a:spcPts val="600"/>
                  </a:spcBef>
                  <a:buFont typeface="Arial" panose="020B0604020202020204" pitchFamily="34" charset="0"/>
                  <a:buChar char="•"/>
                </a:pPr>
                <a:r>
                  <a:rPr lang="zh-CN" altLang="zh-CN" sz="2600" dirty="0">
                    <a:solidFill>
                      <a:prstClr val="black"/>
                    </a:solidFill>
                    <a:latin typeface="Times New Roman" panose="02020603050405020304"/>
                    <a:ea typeface="黑体" panose="02010609060101010101" charset="-122"/>
                  </a:rPr>
                  <a:t>给定第</a:t>
                </a:r>
                <a14:m>
                  <m:oMath xmlns:m="http://schemas.openxmlformats.org/officeDocument/2006/math">
                    <m:r>
                      <a:rPr lang="en-US" altLang="zh-CN" sz="2600" i="1">
                        <a:solidFill>
                          <a:prstClr val="black"/>
                        </a:solidFill>
                        <a:latin typeface="Cambria Math" panose="02040503050406030204"/>
                      </a:rPr>
                      <m:t>𝑖</m:t>
                    </m:r>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1</m:t>
                    </m:r>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𝑖</m:t>
                    </m:r>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𝐾</m:t>
                    </m:r>
                    <m:r>
                      <a:rPr lang="en-US" altLang="zh-CN" sz="2600" i="1">
                        <a:solidFill>
                          <a:prstClr val="black"/>
                        </a:solidFill>
                        <a:latin typeface="Cambria Math" panose="02040503050406030204"/>
                      </a:rPr>
                      <m:t>)</m:t>
                    </m:r>
                  </m:oMath>
                </a14:m>
                <a:r>
                  <a:rPr lang="zh-CN" altLang="zh-CN" sz="2600" dirty="0">
                    <a:solidFill>
                      <a:prstClr val="black"/>
                    </a:solidFill>
                    <a:latin typeface="Times New Roman" panose="02020603050405020304"/>
                    <a:ea typeface="黑体" panose="02010609060101010101" charset="-122"/>
                  </a:rPr>
                  <a:t>个赌博机，记过去</a:t>
                </a:r>
                <a14:m>
                  <m:oMath xmlns:m="http://schemas.openxmlformats.org/officeDocument/2006/math">
                    <m:r>
                      <a:rPr lang="en-US" altLang="zh-CN" sz="2600" i="1">
                        <a:solidFill>
                          <a:prstClr val="black"/>
                        </a:solidFill>
                        <a:latin typeface="Cambria Math" panose="02040503050406030204"/>
                      </a:rPr>
                      <m:t>𝑡</m:t>
                    </m:r>
                    <m:r>
                      <a:rPr lang="en-US" altLang="zh-CN" sz="2600" i="1">
                        <a:solidFill>
                          <a:prstClr val="black"/>
                        </a:solidFill>
                        <a:latin typeface="Cambria Math" panose="02040503050406030204" pitchFamily="18" charset="0"/>
                      </a:rPr>
                      <m:t>−</m:t>
                    </m:r>
                    <m:r>
                      <a:rPr lang="en-US" altLang="zh-CN" sz="2600" i="1">
                        <a:solidFill>
                          <a:prstClr val="black"/>
                        </a:solidFill>
                        <a:latin typeface="Cambria Math" panose="02040503050406030204"/>
                      </a:rPr>
                      <m:t>1</m:t>
                    </m:r>
                  </m:oMath>
                </a14:m>
                <a:r>
                  <a:rPr lang="zh-CN" altLang="zh-CN" sz="2600" dirty="0">
                    <a:solidFill>
                      <a:prstClr val="black"/>
                    </a:solidFill>
                    <a:latin typeface="Times New Roman" panose="02020603050405020304"/>
                    <a:ea typeface="黑体" panose="02010609060101010101" charset="-122"/>
                  </a:rPr>
                  <a:t>次摇动赌博机臂膀中，共摇动第</a:t>
                </a:r>
                <a14:m>
                  <m:oMath xmlns:m="http://schemas.openxmlformats.org/officeDocument/2006/math">
                    <m:r>
                      <a:rPr lang="en-US" altLang="zh-CN" sz="2600" i="1">
                        <a:solidFill>
                          <a:prstClr val="black"/>
                        </a:solidFill>
                        <a:latin typeface="Cambria Math" panose="02040503050406030204"/>
                      </a:rPr>
                      <m:t>𝑖</m:t>
                    </m:r>
                  </m:oMath>
                </a14:m>
                <a:r>
                  <a:rPr lang="zh-CN" altLang="zh-CN" sz="2600" dirty="0">
                    <a:solidFill>
                      <a:prstClr val="black"/>
                    </a:solidFill>
                    <a:latin typeface="Times New Roman" panose="02020603050405020304"/>
                    <a:ea typeface="黑体" panose="02010609060101010101" charset="-122"/>
                  </a:rPr>
                  <a:t>个赌博机的次数为</a:t>
                </a:r>
                <a14:m>
                  <m:oMath xmlns:m="http://schemas.openxmlformats.org/officeDocument/2006/math">
                    <m:sSub>
                      <m:sSubPr>
                        <m:ctrlPr>
                          <a:rPr lang="zh-CN" altLang="zh-CN" sz="2600" i="1">
                            <a:solidFill>
                              <a:prstClr val="black"/>
                            </a:solidFill>
                            <a:latin typeface="Cambria Math" panose="02040503050406030204" pitchFamily="18" charset="0"/>
                          </a:rPr>
                        </m:ctrlPr>
                      </m:sSubPr>
                      <m:e>
                        <m:r>
                          <a:rPr lang="en-US" altLang="zh-CN" sz="2600" i="1">
                            <a:solidFill>
                              <a:prstClr val="black"/>
                            </a:solidFill>
                            <a:latin typeface="Cambria Math" panose="02040503050406030204"/>
                          </a:rPr>
                          <m:t>𝑇</m:t>
                        </m:r>
                      </m:e>
                      <m:sub>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𝑖</m:t>
                        </m:r>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𝑡</m:t>
                        </m:r>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1</m:t>
                        </m:r>
                        <m:r>
                          <a:rPr lang="en-US" altLang="zh-CN" sz="2600" i="1">
                            <a:solidFill>
                              <a:prstClr val="black"/>
                            </a:solidFill>
                            <a:latin typeface="Cambria Math" panose="02040503050406030204"/>
                          </a:rPr>
                          <m:t>)</m:t>
                        </m:r>
                      </m:sub>
                    </m:sSub>
                  </m:oMath>
                </a14:m>
                <a:r>
                  <a:rPr lang="zh-CN" altLang="zh-CN" sz="2600" dirty="0">
                    <a:solidFill>
                      <a:prstClr val="black"/>
                    </a:solidFill>
                    <a:latin typeface="Times New Roman" panose="02020603050405020304"/>
                    <a:ea typeface="黑体" panose="02010609060101010101" charset="-122"/>
                  </a:rPr>
                  <a:t>。</a:t>
                </a:r>
                <a:endParaRPr lang="en-US" altLang="zh-CN" sz="2600" dirty="0">
                  <a:solidFill>
                    <a:prstClr val="black"/>
                  </a:solidFill>
                  <a:latin typeface="Times New Roman" panose="02020603050405020304"/>
                  <a:ea typeface="黑体" panose="02010609060101010101" charset="-122"/>
                </a:endParaRPr>
              </a:p>
              <a:p>
                <a:pPr marL="457200" indent="-457200" algn="just">
                  <a:lnSpc>
                    <a:spcPct val="120000"/>
                  </a:lnSpc>
                  <a:spcBef>
                    <a:spcPts val="600"/>
                  </a:spcBef>
                  <a:buFont typeface="Arial" panose="020B0604020202020204" pitchFamily="34" charset="0"/>
                  <a:buChar char="•"/>
                </a:pPr>
                <a:r>
                  <a:rPr lang="zh-CN" altLang="zh-CN" sz="2600" dirty="0">
                    <a:solidFill>
                      <a:prstClr val="black"/>
                    </a:solidFill>
                    <a:latin typeface="Times New Roman" panose="02020603050405020304"/>
                    <a:ea typeface="黑体" panose="02010609060101010101" charset="-122"/>
                  </a:rPr>
                  <a:t>计算得到第</a:t>
                </a:r>
                <a14:m>
                  <m:oMath xmlns:m="http://schemas.openxmlformats.org/officeDocument/2006/math">
                    <m:r>
                      <a:rPr lang="en-US" altLang="zh-CN" sz="2600" i="1">
                        <a:solidFill>
                          <a:prstClr val="black"/>
                        </a:solidFill>
                        <a:latin typeface="Cambria Math" panose="02040503050406030204"/>
                      </a:rPr>
                      <m:t>𝑖</m:t>
                    </m:r>
                  </m:oMath>
                </a14:m>
                <a:r>
                  <a:rPr lang="zh-CN" altLang="zh-CN" sz="2600" dirty="0">
                    <a:solidFill>
                      <a:prstClr val="black"/>
                    </a:solidFill>
                    <a:latin typeface="Times New Roman" panose="02020603050405020304"/>
                    <a:ea typeface="黑体" panose="02010609060101010101" charset="-122"/>
                  </a:rPr>
                  <a:t>个赌博机过去</a:t>
                </a:r>
                <a14:m>
                  <m:oMath xmlns:m="http://schemas.openxmlformats.org/officeDocument/2006/math">
                    <m:sSub>
                      <m:sSubPr>
                        <m:ctrlPr>
                          <a:rPr lang="zh-CN" altLang="zh-CN" sz="2600" i="1">
                            <a:solidFill>
                              <a:prstClr val="black"/>
                            </a:solidFill>
                            <a:latin typeface="Cambria Math" panose="02040503050406030204" pitchFamily="18" charset="0"/>
                          </a:rPr>
                        </m:ctrlPr>
                      </m:sSubPr>
                      <m:e>
                        <m:r>
                          <a:rPr lang="en-US" altLang="zh-CN" sz="2600" i="1">
                            <a:solidFill>
                              <a:prstClr val="black"/>
                            </a:solidFill>
                            <a:latin typeface="Cambria Math" panose="02040503050406030204"/>
                          </a:rPr>
                          <m:t>𝑇</m:t>
                        </m:r>
                      </m:e>
                      <m:sub>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𝑖</m:t>
                        </m:r>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𝑡</m:t>
                        </m:r>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1</m:t>
                        </m:r>
                        <m:r>
                          <a:rPr lang="en-US" altLang="zh-CN" sz="2600" i="1">
                            <a:solidFill>
                              <a:prstClr val="black"/>
                            </a:solidFill>
                            <a:latin typeface="Cambria Math" panose="02040503050406030204"/>
                          </a:rPr>
                          <m:t>)</m:t>
                        </m:r>
                      </m:sub>
                    </m:sSub>
                  </m:oMath>
                </a14:m>
                <a:r>
                  <a:rPr lang="zh-CN" altLang="zh-CN" sz="2600" dirty="0">
                    <a:solidFill>
                      <a:prstClr val="black"/>
                    </a:solidFill>
                    <a:latin typeface="Times New Roman" panose="02020603050405020304"/>
                    <a:ea typeface="黑体" panose="02010609060101010101" charset="-122"/>
                  </a:rPr>
                  <a:t>次被摇动过程中的收益分数平均值</a:t>
                </a:r>
                <a14:m>
                  <m:oMath xmlns:m="http://schemas.openxmlformats.org/officeDocument/2006/math">
                    <m:sSub>
                      <m:sSubPr>
                        <m:ctrlPr>
                          <a:rPr lang="zh-CN" altLang="zh-CN" sz="2600" i="1">
                            <a:solidFill>
                              <a:prstClr val="black"/>
                            </a:solidFill>
                            <a:latin typeface="Cambria Math" panose="02040503050406030204" pitchFamily="18" charset="0"/>
                          </a:rPr>
                        </m:ctrlPr>
                      </m:sSubPr>
                      <m:e>
                        <m:acc>
                          <m:accPr>
                            <m:chr m:val="̅"/>
                            <m:ctrlPr>
                              <a:rPr lang="zh-CN" altLang="zh-CN" sz="2600" i="1">
                                <a:solidFill>
                                  <a:prstClr val="black"/>
                                </a:solidFill>
                                <a:latin typeface="Cambria Math" panose="02040503050406030204" pitchFamily="18" charset="0"/>
                              </a:rPr>
                            </m:ctrlPr>
                          </m:accPr>
                          <m:e>
                            <m:r>
                              <a:rPr lang="en-US" altLang="zh-CN" sz="2600" i="1">
                                <a:solidFill>
                                  <a:prstClr val="black"/>
                                </a:solidFill>
                                <a:latin typeface="Cambria Math" panose="02040503050406030204"/>
                              </a:rPr>
                              <m:t>𝑥</m:t>
                            </m:r>
                          </m:e>
                        </m:acc>
                      </m:e>
                      <m:sub>
                        <m:r>
                          <a:rPr lang="en-US" altLang="zh-CN" sz="2600" i="1">
                            <a:solidFill>
                              <a:prstClr val="black"/>
                            </a:solidFill>
                            <a:latin typeface="Cambria Math" panose="02040503050406030204"/>
                          </a:rPr>
                          <m:t>𝑖</m:t>
                        </m:r>
                        <m:r>
                          <a:rPr lang="en-US" altLang="zh-CN" sz="2600" i="1">
                            <a:solidFill>
                              <a:prstClr val="black"/>
                            </a:solidFill>
                            <a:latin typeface="Cambria Math" panose="02040503050406030204"/>
                          </a:rPr>
                          <m:t>,</m:t>
                        </m:r>
                        <m:sSub>
                          <m:sSubPr>
                            <m:ctrlPr>
                              <a:rPr lang="zh-CN" altLang="zh-CN" sz="2600" i="1">
                                <a:solidFill>
                                  <a:prstClr val="black"/>
                                </a:solidFill>
                                <a:latin typeface="Cambria Math" panose="02040503050406030204" pitchFamily="18" charset="0"/>
                              </a:rPr>
                            </m:ctrlPr>
                          </m:sSubPr>
                          <m:e>
                            <m:r>
                              <a:rPr lang="en-US" altLang="zh-CN" sz="2600" i="1">
                                <a:solidFill>
                                  <a:prstClr val="black"/>
                                </a:solidFill>
                                <a:latin typeface="Cambria Math" panose="02040503050406030204"/>
                              </a:rPr>
                              <m:t>𝑇</m:t>
                            </m:r>
                          </m:e>
                          <m:sub>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𝑖</m:t>
                            </m:r>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𝑡</m:t>
                            </m:r>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1</m:t>
                            </m:r>
                            <m:r>
                              <a:rPr lang="en-US" altLang="zh-CN" sz="2600" i="1">
                                <a:solidFill>
                                  <a:prstClr val="black"/>
                                </a:solidFill>
                                <a:latin typeface="Cambria Math" panose="02040503050406030204"/>
                              </a:rPr>
                              <m:t>)</m:t>
                            </m:r>
                          </m:sub>
                        </m:sSub>
                      </m:sub>
                    </m:sSub>
                  </m:oMath>
                </a14:m>
                <a:r>
                  <a:rPr lang="zh-CN" altLang="zh-CN" sz="2600" dirty="0">
                    <a:solidFill>
                      <a:prstClr val="black"/>
                    </a:solidFill>
                    <a:latin typeface="Times New Roman" panose="02020603050405020304"/>
                    <a:ea typeface="黑体" panose="02010609060101010101" charset="-122"/>
                  </a:rPr>
                  <a:t>。</a:t>
                </a:r>
                <a:endParaRPr lang="en-US" altLang="zh-CN" sz="2600" dirty="0">
                  <a:solidFill>
                    <a:prstClr val="black"/>
                  </a:solidFill>
                  <a:latin typeface="Times New Roman" panose="02020603050405020304"/>
                  <a:ea typeface="黑体" panose="02010609060101010101" charset="-122"/>
                </a:endParaRPr>
              </a:p>
              <a:p>
                <a:pPr marL="457200" indent="-457200" algn="just">
                  <a:lnSpc>
                    <a:spcPct val="120000"/>
                  </a:lnSpc>
                  <a:spcBef>
                    <a:spcPts val="600"/>
                  </a:spcBef>
                  <a:buFont typeface="Arial" panose="020B0604020202020204" pitchFamily="34" charset="0"/>
                  <a:buChar char="•"/>
                </a:pPr>
                <a:r>
                  <a:rPr lang="zh-CN" altLang="zh-CN" sz="2600" dirty="0">
                    <a:solidFill>
                      <a:prstClr val="black"/>
                    </a:solidFill>
                    <a:latin typeface="Times New Roman" panose="02020603050405020304"/>
                    <a:ea typeface="黑体" panose="02010609060101010101" charset="-122"/>
                  </a:rPr>
                  <a:t>智能体在第</a:t>
                </a:r>
                <a14:m>
                  <m:oMath xmlns:m="http://schemas.openxmlformats.org/officeDocument/2006/math">
                    <m:r>
                      <a:rPr lang="en-US" altLang="zh-CN" sz="2600" i="1">
                        <a:solidFill>
                          <a:prstClr val="black"/>
                        </a:solidFill>
                        <a:latin typeface="Cambria Math" panose="02040503050406030204"/>
                      </a:rPr>
                      <m:t>𝑡</m:t>
                    </m:r>
                  </m:oMath>
                </a14:m>
                <a:r>
                  <a:rPr lang="zh-CN" altLang="zh-CN" sz="2600" dirty="0">
                    <a:solidFill>
                      <a:prstClr val="black"/>
                    </a:solidFill>
                    <a:latin typeface="Times New Roman" panose="02020603050405020304"/>
                    <a:ea typeface="黑体" panose="02010609060101010101" charset="-122"/>
                  </a:rPr>
                  <a:t>步，选择</a:t>
                </a:r>
                <a14:m>
                  <m:oMath xmlns:m="http://schemas.openxmlformats.org/officeDocument/2006/math">
                    <m:sSub>
                      <m:sSubPr>
                        <m:ctrlPr>
                          <a:rPr lang="zh-CN" altLang="zh-CN" sz="2600" i="1">
                            <a:solidFill>
                              <a:prstClr val="black"/>
                            </a:solidFill>
                            <a:latin typeface="Cambria Math" panose="02040503050406030204" pitchFamily="18" charset="0"/>
                          </a:rPr>
                        </m:ctrlPr>
                      </m:sSubPr>
                      <m:e>
                        <m:acc>
                          <m:accPr>
                            <m:chr m:val="̅"/>
                            <m:ctrlPr>
                              <a:rPr lang="zh-CN" altLang="zh-CN" sz="2600" i="1">
                                <a:solidFill>
                                  <a:prstClr val="black"/>
                                </a:solidFill>
                                <a:latin typeface="Cambria Math" panose="02040503050406030204" pitchFamily="18" charset="0"/>
                              </a:rPr>
                            </m:ctrlPr>
                          </m:accPr>
                          <m:e>
                            <m:r>
                              <a:rPr lang="en-US" altLang="zh-CN" sz="2600" i="1">
                                <a:solidFill>
                                  <a:prstClr val="black"/>
                                </a:solidFill>
                                <a:latin typeface="Cambria Math" panose="02040503050406030204"/>
                              </a:rPr>
                              <m:t>𝑥</m:t>
                            </m:r>
                          </m:e>
                        </m:acc>
                      </m:e>
                      <m:sub>
                        <m:r>
                          <a:rPr lang="en-US" altLang="zh-CN" sz="2600" i="1">
                            <a:solidFill>
                              <a:prstClr val="black"/>
                            </a:solidFill>
                            <a:latin typeface="Cambria Math" panose="02040503050406030204"/>
                          </a:rPr>
                          <m:t>𝑖</m:t>
                        </m:r>
                        <m:r>
                          <a:rPr lang="en-US" altLang="zh-CN" sz="2600" i="1">
                            <a:solidFill>
                              <a:prstClr val="black"/>
                            </a:solidFill>
                            <a:latin typeface="Cambria Math" panose="02040503050406030204"/>
                          </a:rPr>
                          <m:t>,</m:t>
                        </m:r>
                        <m:sSub>
                          <m:sSubPr>
                            <m:ctrlPr>
                              <a:rPr lang="zh-CN" altLang="zh-CN" sz="2600" i="1">
                                <a:solidFill>
                                  <a:prstClr val="black"/>
                                </a:solidFill>
                                <a:latin typeface="Cambria Math" panose="02040503050406030204" pitchFamily="18" charset="0"/>
                              </a:rPr>
                            </m:ctrlPr>
                          </m:sSubPr>
                          <m:e>
                            <m:r>
                              <a:rPr lang="en-US" altLang="zh-CN" sz="2600" i="1">
                                <a:solidFill>
                                  <a:prstClr val="black"/>
                                </a:solidFill>
                                <a:latin typeface="Cambria Math" panose="02040503050406030204"/>
                              </a:rPr>
                              <m:t>𝑇</m:t>
                            </m:r>
                          </m:e>
                          <m:sub>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𝑖</m:t>
                            </m:r>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𝑡</m:t>
                            </m:r>
                            <m:r>
                              <a:rPr lang="en-US" altLang="zh-CN" sz="2600" i="1">
                                <a:solidFill>
                                  <a:prstClr val="black"/>
                                </a:solidFill>
                                <a:latin typeface="Cambria Math" panose="02040503050406030204"/>
                              </a:rPr>
                              <m:t>−</m:t>
                            </m:r>
                            <m:r>
                              <a:rPr lang="en-US" altLang="zh-CN" sz="2600" i="1">
                                <a:solidFill>
                                  <a:prstClr val="black"/>
                                </a:solidFill>
                                <a:latin typeface="Cambria Math" panose="02040503050406030204"/>
                              </a:rPr>
                              <m:t>1</m:t>
                            </m:r>
                            <m:r>
                              <a:rPr lang="en-US" altLang="zh-CN" sz="2600" i="1">
                                <a:solidFill>
                                  <a:prstClr val="black"/>
                                </a:solidFill>
                                <a:latin typeface="Cambria Math" panose="02040503050406030204"/>
                              </a:rPr>
                              <m:t>)</m:t>
                            </m:r>
                          </m:sub>
                        </m:sSub>
                      </m:sub>
                    </m:sSub>
                  </m:oMath>
                </a14:m>
                <a:r>
                  <a:rPr lang="zh-CN" altLang="zh-CN" sz="2600" dirty="0">
                    <a:solidFill>
                      <a:prstClr val="black"/>
                    </a:solidFill>
                    <a:latin typeface="Times New Roman" panose="02020603050405020304"/>
                    <a:ea typeface="黑体" panose="02010609060101010101" charset="-122"/>
                  </a:rPr>
                  <a:t>值最大的赌博机臂膀进行摇动。</a:t>
                </a:r>
                <a:endParaRPr lang="en-US" altLang="zh-CN" sz="2600" dirty="0">
                  <a:solidFill>
                    <a:prstClr val="black"/>
                  </a:solidFill>
                  <a:latin typeface="Times New Roman" panose="02020603050405020304"/>
                  <a:ea typeface="黑体" panose="02010609060101010101" charset="-122"/>
                </a:endParaRPr>
              </a:p>
            </p:txBody>
          </p:sp>
        </mc:Choice>
        <mc:Fallback>
          <p:sp>
            <p:nvSpPr>
              <p:cNvPr id="3" name="矩形 2"/>
              <p:cNvSpPr>
                <a:spLocks noRot="1" noChangeAspect="1" noMove="1" noResize="1" noEditPoints="1" noAdjustHandles="1" noChangeArrowheads="1" noChangeShapeType="1" noTextEdit="1"/>
              </p:cNvSpPr>
              <p:nvPr/>
            </p:nvSpPr>
            <p:spPr>
              <a:xfrm>
                <a:off x="594910" y="1564133"/>
                <a:ext cx="8015691" cy="4999446"/>
              </a:xfrm>
              <a:prstGeom prst="rect">
                <a:avLst/>
              </a:prstGeom>
              <a:blipFill rotWithShape="1">
                <a:blip r:embed="rId1"/>
                <a:stretch>
                  <a:fillRect l="-7" t="-3" r="-2337" b="4"/>
                </a:stretch>
              </a:blipFill>
            </p:spPr>
            <p:txBody>
              <a:bodyPr/>
              <a:lstStyle/>
              <a:p>
                <a:r>
                  <a:rPr lang="zh-CN" altLang="en-US">
                    <a:noFill/>
                  </a:rPr>
                  <a:t> </a:t>
                </a:r>
              </a:p>
            </p:txBody>
          </p:sp>
        </mc:Fallback>
      </mc:AlternateContent>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959990"/>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蒙特卡洛树搜索中采取的策略</a:t>
            </a:r>
            <a:endParaRPr lang="en-US" altLang="zh-CN" sz="3000" dirty="0">
              <a:solidFill>
                <a:prstClr val="black"/>
              </a:solidFill>
              <a:latin typeface="方正姚体" panose="02010601030101010101" pitchFamily="2" charset="-122"/>
              <a:ea typeface="方正姚体" panose="02010601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2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25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25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25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25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94913" y="1697773"/>
            <a:ext cx="8008763" cy="2595839"/>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zh-CN" sz="2800" dirty="0">
                <a:solidFill>
                  <a:srgbClr val="FF0000"/>
                </a:solidFill>
                <a:latin typeface="Times New Roman" panose="02020603050405020304"/>
                <a:ea typeface="黑体" panose="02010609060101010101" charset="-122"/>
              </a:rPr>
              <a:t>贪心算法</a:t>
            </a:r>
            <a:r>
              <a:rPr lang="zh-CN" altLang="en-US" sz="2800" dirty="0">
                <a:solidFill>
                  <a:srgbClr val="FF0000"/>
                </a:solidFill>
                <a:latin typeface="Times New Roman" panose="02020603050405020304"/>
                <a:ea typeface="黑体" panose="02010609060101010101" charset="-122"/>
              </a:rPr>
              <a:t>策略缺陷：</a:t>
            </a:r>
            <a:r>
              <a:rPr lang="zh-CN" altLang="en-US" sz="2800" dirty="0">
                <a:solidFill>
                  <a:prstClr val="black"/>
                </a:solidFill>
                <a:latin typeface="Times New Roman" panose="02020603050405020304"/>
                <a:ea typeface="黑体" panose="02010609060101010101" charset="-122"/>
              </a:rPr>
              <a:t>忽略了其他从未摇动或很少摇动的赌博机，而失去了可能的机会。</a:t>
            </a:r>
            <a:endParaRPr lang="en-US" altLang="zh-CN" sz="2800" dirty="0">
              <a:solidFill>
                <a:prstClr val="black"/>
              </a:solidFill>
              <a:latin typeface="Times New Roman" panose="02020603050405020304"/>
              <a:ea typeface="黑体" panose="02010609060101010101" charset="-122"/>
            </a:endParaRPr>
          </a:p>
          <a:p>
            <a:pPr marL="342900" indent="-342900" algn="just">
              <a:lnSpc>
                <a:spcPct val="150000"/>
              </a:lnSpc>
              <a:buFont typeface="Wingdings" panose="05000000000000000000" pitchFamily="2" charset="2"/>
              <a:buChar char="Ø"/>
            </a:pPr>
            <a:r>
              <a:rPr lang="zh-CN" altLang="zh-CN" sz="2800" dirty="0">
                <a:solidFill>
                  <a:prstClr val="black"/>
                </a:solidFill>
                <a:latin typeface="Times New Roman" panose="02020603050405020304"/>
                <a:ea typeface="黑体" panose="02010609060101010101" charset="-122"/>
              </a:rPr>
              <a:t>上述困境体现了</a:t>
            </a:r>
            <a:r>
              <a:rPr lang="zh-CN" altLang="zh-CN" sz="2800" b="1" dirty="0">
                <a:solidFill>
                  <a:srgbClr val="FF0000"/>
                </a:solidFill>
                <a:latin typeface="Times New Roman" panose="02020603050405020304"/>
                <a:ea typeface="黑体" panose="02010609060101010101" charset="-122"/>
              </a:rPr>
              <a:t>探索</a:t>
            </a:r>
            <a:r>
              <a:rPr lang="zh-CN" altLang="zh-CN" sz="2800" dirty="0">
                <a:solidFill>
                  <a:srgbClr val="FF0000"/>
                </a:solidFill>
                <a:latin typeface="Times New Roman" panose="02020603050405020304"/>
                <a:ea typeface="黑体" panose="02010609060101010101" charset="-122"/>
              </a:rPr>
              <a:t>（</a:t>
            </a:r>
            <a:r>
              <a:rPr lang="en-US" altLang="zh-CN" sz="2800" dirty="0">
                <a:solidFill>
                  <a:srgbClr val="FF0000"/>
                </a:solidFill>
                <a:latin typeface="Times New Roman" panose="02020603050405020304"/>
                <a:ea typeface="黑体" panose="02010609060101010101" charset="-122"/>
              </a:rPr>
              <a:t>exploration</a:t>
            </a:r>
            <a:r>
              <a:rPr lang="zh-CN" altLang="zh-CN" sz="2800" dirty="0">
                <a:solidFill>
                  <a:srgbClr val="FF0000"/>
                </a:solidFill>
                <a:latin typeface="Times New Roman" panose="02020603050405020304"/>
                <a:ea typeface="黑体" panose="02010609060101010101" charset="-122"/>
              </a:rPr>
              <a:t>）</a:t>
            </a:r>
            <a:r>
              <a:rPr lang="zh-CN" altLang="zh-CN" sz="2800" dirty="0">
                <a:solidFill>
                  <a:prstClr val="black"/>
                </a:solidFill>
                <a:latin typeface="Times New Roman" panose="02020603050405020304"/>
                <a:ea typeface="黑体" panose="02010609060101010101" charset="-122"/>
              </a:rPr>
              <a:t>和</a:t>
            </a:r>
            <a:r>
              <a:rPr lang="zh-CN" altLang="zh-CN" sz="2800" b="1" dirty="0">
                <a:solidFill>
                  <a:srgbClr val="FF0000"/>
                </a:solidFill>
                <a:latin typeface="Times New Roman" panose="02020603050405020304"/>
                <a:ea typeface="黑体" panose="02010609060101010101" charset="-122"/>
              </a:rPr>
              <a:t>利用</a:t>
            </a:r>
            <a:r>
              <a:rPr lang="zh-CN" altLang="zh-CN" sz="2800" dirty="0">
                <a:solidFill>
                  <a:srgbClr val="FF0000"/>
                </a:solidFill>
                <a:latin typeface="Times New Roman" panose="02020603050405020304"/>
                <a:ea typeface="黑体" panose="02010609060101010101" charset="-122"/>
              </a:rPr>
              <a:t>（</a:t>
            </a:r>
            <a:r>
              <a:rPr lang="en-US" altLang="zh-CN" sz="2800" dirty="0">
                <a:solidFill>
                  <a:srgbClr val="FF0000"/>
                </a:solidFill>
                <a:latin typeface="Times New Roman" panose="02020603050405020304"/>
                <a:ea typeface="黑体" panose="02010609060101010101" charset="-122"/>
              </a:rPr>
              <a:t>exploitation</a:t>
            </a:r>
            <a:r>
              <a:rPr lang="zh-CN" altLang="zh-CN" sz="2800" dirty="0">
                <a:solidFill>
                  <a:srgbClr val="FF0000"/>
                </a:solidFill>
                <a:latin typeface="Times New Roman" panose="02020603050405020304"/>
                <a:ea typeface="黑体" panose="02010609060101010101" charset="-122"/>
              </a:rPr>
              <a:t>）</a:t>
            </a:r>
            <a:r>
              <a:rPr lang="zh-CN" altLang="zh-CN" sz="2800" dirty="0">
                <a:solidFill>
                  <a:prstClr val="black"/>
                </a:solidFill>
                <a:latin typeface="Times New Roman" panose="02020603050405020304"/>
                <a:ea typeface="黑体" panose="02010609060101010101" charset="-122"/>
              </a:rPr>
              <a:t>之间存在对立关系。</a:t>
            </a:r>
            <a:endParaRPr lang="en-US" altLang="zh-CN" sz="2800" dirty="0">
              <a:solidFill>
                <a:prstClr val="black"/>
              </a:solidFill>
              <a:latin typeface="Times New Roman" panose="02020603050405020304"/>
              <a:ea typeface="黑体" panose="02010609060101010101" charset="-122"/>
            </a:endParaRPr>
          </a:p>
        </p:txBody>
      </p:sp>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959990"/>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蒙特卡洛树搜索中采取的策略</a:t>
            </a:r>
            <a:endParaRPr lang="en-US" altLang="zh-CN" sz="3000" dirty="0">
              <a:solidFill>
                <a:prstClr val="black"/>
              </a:solidFill>
              <a:latin typeface="方正姚体" panose="02010601030101010101" pitchFamily="2" charset="-122"/>
              <a:ea typeface="方正姚体" panose="02010601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25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7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94913" y="1732946"/>
            <a:ext cx="8008763" cy="3888500"/>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zh-CN" sz="2800" dirty="0">
                <a:solidFill>
                  <a:prstClr val="black"/>
                </a:solidFill>
                <a:latin typeface="Times New Roman" panose="02020603050405020304"/>
                <a:ea typeface="黑体" panose="02010609060101010101" charset="-122"/>
              </a:rPr>
              <a:t>贪心算法基本上是</a:t>
            </a:r>
            <a:r>
              <a:rPr lang="zh-CN" altLang="zh-CN" sz="2800" dirty="0">
                <a:solidFill>
                  <a:srgbClr val="C00000"/>
                </a:solidFill>
                <a:latin typeface="Times New Roman" panose="02020603050405020304"/>
                <a:ea typeface="黑体" panose="02010609060101010101" charset="-122"/>
              </a:rPr>
              <a:t>利用</a:t>
            </a:r>
            <a:r>
              <a:rPr lang="zh-CN" altLang="zh-CN" sz="2800" dirty="0">
                <a:solidFill>
                  <a:prstClr val="black"/>
                </a:solidFill>
                <a:latin typeface="Times New Roman" panose="02020603050405020304"/>
                <a:ea typeface="黑体" panose="02010609060101010101" charset="-122"/>
              </a:rPr>
              <a:t>从已有尝试结果中所得估计来指导后续动作，问题</a:t>
            </a:r>
            <a:r>
              <a:rPr lang="zh-CN" altLang="en-US" sz="2800" dirty="0">
                <a:solidFill>
                  <a:prstClr val="black"/>
                </a:solidFill>
                <a:latin typeface="Times New Roman" panose="02020603050405020304"/>
                <a:ea typeface="黑体" panose="02010609060101010101" charset="-122"/>
              </a:rPr>
              <a:t>在于</a:t>
            </a:r>
            <a:r>
              <a:rPr lang="zh-CN" altLang="zh-CN" sz="2800" dirty="0">
                <a:solidFill>
                  <a:prstClr val="black"/>
                </a:solidFill>
                <a:latin typeface="Times New Roman" panose="02020603050405020304"/>
                <a:ea typeface="黑体" panose="02010609060101010101" charset="-122"/>
              </a:rPr>
              <a:t>所得估计往往不能准确反映</a:t>
            </a:r>
            <a:r>
              <a:rPr lang="zh-CN" altLang="zh-CN" sz="2800" dirty="0">
                <a:solidFill>
                  <a:srgbClr val="FF0000"/>
                </a:solidFill>
                <a:latin typeface="Times New Roman" panose="02020603050405020304"/>
                <a:ea typeface="黑体" panose="02010609060101010101" charset="-122"/>
              </a:rPr>
              <a:t>未被</a:t>
            </a:r>
            <a:r>
              <a:rPr lang="zh-CN" altLang="zh-CN" sz="2800" dirty="0">
                <a:solidFill>
                  <a:prstClr val="black"/>
                </a:solidFill>
                <a:latin typeface="Times New Roman" panose="02020603050405020304"/>
                <a:ea typeface="黑体" panose="02010609060101010101" charset="-122"/>
              </a:rPr>
              <a:t>（大量）</a:t>
            </a:r>
            <a:r>
              <a:rPr lang="zh-CN" altLang="zh-CN" sz="2800" dirty="0">
                <a:solidFill>
                  <a:srgbClr val="FF0000"/>
                </a:solidFill>
                <a:latin typeface="Times New Roman" panose="02020603050405020304"/>
                <a:ea typeface="黑体" panose="02010609060101010101" charset="-122"/>
              </a:rPr>
              <a:t>探索</a:t>
            </a:r>
            <a:r>
              <a:rPr lang="zh-CN" altLang="zh-CN" sz="2800" dirty="0">
                <a:solidFill>
                  <a:prstClr val="black"/>
                </a:solidFill>
                <a:latin typeface="Times New Roman" panose="02020603050405020304"/>
                <a:ea typeface="黑体" panose="02010609060101010101" charset="-122"/>
              </a:rPr>
              <a:t>过的动作。</a:t>
            </a:r>
            <a:endParaRPr lang="en-US" altLang="zh-CN" sz="2800" dirty="0">
              <a:solidFill>
                <a:prstClr val="black"/>
              </a:solidFill>
              <a:latin typeface="Times New Roman" panose="02020603050405020304"/>
              <a:ea typeface="黑体" panose="02010609060101010101" charset="-122"/>
            </a:endParaRPr>
          </a:p>
          <a:p>
            <a:pPr marL="342900" indent="-342900" algn="just">
              <a:lnSpc>
                <a:spcPct val="150000"/>
              </a:lnSpc>
              <a:buFont typeface="Wingdings" panose="05000000000000000000" pitchFamily="2" charset="2"/>
              <a:buChar char="Ø"/>
            </a:pPr>
            <a:r>
              <a:rPr lang="zh-CN" altLang="zh-CN" sz="2800" dirty="0">
                <a:solidFill>
                  <a:prstClr val="black"/>
                </a:solidFill>
                <a:latin typeface="Times New Roman" panose="02020603050405020304"/>
                <a:ea typeface="黑体" panose="02010609060101010101" charset="-122"/>
              </a:rPr>
              <a:t>需要在贪心算法中增加一个能够改变其“惯性”的内在动力，以使得贪心算法能够访问那些尚未被（充分）访问过的空间。</a:t>
            </a:r>
            <a:endParaRPr lang="zh-CN" altLang="zh-CN" sz="2800" dirty="0">
              <a:solidFill>
                <a:prstClr val="black"/>
              </a:solidFill>
              <a:latin typeface="Times New Roman" panose="02020603050405020304"/>
              <a:ea typeface="黑体" panose="02010609060101010101" charset="-122"/>
            </a:endParaRPr>
          </a:p>
        </p:txBody>
      </p:sp>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959990"/>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蒙特卡洛树搜索中采取的策略</a:t>
            </a:r>
            <a:endParaRPr lang="en-US" altLang="zh-CN" sz="3000" dirty="0">
              <a:solidFill>
                <a:prstClr val="black"/>
              </a:solidFill>
              <a:latin typeface="方正姚体" panose="02010601030101010101" pitchFamily="2" charset="-122"/>
              <a:ea typeface="方正姚体" panose="02010601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25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7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594919" y="1608467"/>
                <a:ext cx="8014855" cy="3377848"/>
              </a:xfrm>
              <a:prstGeom prst="rect">
                <a:avLst/>
              </a:prstGeom>
            </p:spPr>
            <p:txBody>
              <a:bodyPr wrap="square">
                <a:spAutoFit/>
              </a:bodyPr>
              <a:lstStyle/>
              <a:p>
                <a:pPr algn="just">
                  <a:lnSpc>
                    <a:spcPct val="150000"/>
                  </a:lnSpc>
                </a:pPr>
                <a14:m>
                  <m:oMath xmlns:m="http://schemas.openxmlformats.org/officeDocument/2006/math">
                    <m:r>
                      <a:rPr lang="en-US" altLang="zh-CN" sz="2800" i="1">
                        <a:solidFill>
                          <a:srgbClr val="FF0000"/>
                        </a:solidFill>
                        <a:latin typeface="Cambria Math" panose="02040503050406030204"/>
                      </a:rPr>
                      <m:t>𝜖</m:t>
                    </m:r>
                  </m:oMath>
                </a14:m>
                <a:r>
                  <a:rPr lang="en-US" altLang="zh-CN" sz="2800" dirty="0">
                    <a:solidFill>
                      <a:srgbClr val="FF0000"/>
                    </a:solidFill>
                    <a:latin typeface="Times New Roman" panose="02020603050405020304"/>
                    <a:ea typeface="黑体" panose="02010609060101010101" charset="-122"/>
                  </a:rPr>
                  <a:t>-</a:t>
                </a:r>
                <a:r>
                  <a:rPr lang="zh-CN" altLang="zh-CN" sz="2800" dirty="0">
                    <a:solidFill>
                      <a:srgbClr val="FF0000"/>
                    </a:solidFill>
                    <a:latin typeface="Times New Roman" panose="02020603050405020304"/>
                    <a:ea typeface="黑体" panose="02010609060101010101" charset="-122"/>
                  </a:rPr>
                  <a:t>贪心算法</a:t>
                </a:r>
                <a:r>
                  <a:rPr lang="zh-CN" altLang="en-US" sz="2800" dirty="0">
                    <a:solidFill>
                      <a:srgbClr val="FF0000"/>
                    </a:solidFill>
                    <a:latin typeface="Times New Roman" panose="02020603050405020304"/>
                    <a:ea typeface="黑体" panose="02010609060101010101" charset="-122"/>
                  </a:rPr>
                  <a:t>：</a:t>
                </a:r>
                <a:r>
                  <a:rPr lang="zh-CN" altLang="zh-CN" sz="2800" dirty="0">
                    <a:solidFill>
                      <a:prstClr val="black"/>
                    </a:solidFill>
                    <a:latin typeface="Times New Roman" panose="02020603050405020304"/>
                    <a:ea typeface="黑体" panose="02010609060101010101" charset="-122"/>
                  </a:rPr>
                  <a:t>在探索与利用</a:t>
                </a:r>
                <a:r>
                  <a:rPr lang="zh-CN" altLang="en-US" sz="2800" dirty="0">
                    <a:solidFill>
                      <a:prstClr val="black"/>
                    </a:solidFill>
                    <a:latin typeface="Times New Roman" panose="02020603050405020304"/>
                    <a:ea typeface="黑体" panose="02010609060101010101" charset="-122"/>
                  </a:rPr>
                  <a:t>之</a:t>
                </a:r>
                <a:r>
                  <a:rPr lang="zh-CN" altLang="zh-CN" sz="2800" dirty="0">
                    <a:solidFill>
                      <a:prstClr val="black"/>
                    </a:solidFill>
                    <a:latin typeface="Times New Roman" panose="02020603050405020304"/>
                    <a:ea typeface="黑体" panose="02010609060101010101" charset="-122"/>
                  </a:rPr>
                  <a:t>间进行平衡。在第</a:t>
                </a:r>
                <a14:m>
                  <m:oMath xmlns:m="http://schemas.openxmlformats.org/officeDocument/2006/math">
                    <m:r>
                      <a:rPr lang="en-US" altLang="zh-CN" sz="2800" i="1">
                        <a:solidFill>
                          <a:prstClr val="black"/>
                        </a:solidFill>
                        <a:latin typeface="Cambria Math" panose="02040503050406030204"/>
                      </a:rPr>
                      <m:t>𝑡</m:t>
                    </m:r>
                  </m:oMath>
                </a14:m>
                <a:r>
                  <a:rPr lang="zh-CN" altLang="zh-CN" sz="2800" dirty="0">
                    <a:solidFill>
                      <a:prstClr val="black"/>
                    </a:solidFill>
                    <a:latin typeface="Times New Roman" panose="02020603050405020304"/>
                    <a:ea typeface="黑体" panose="02010609060101010101" charset="-122"/>
                  </a:rPr>
                  <a:t>步，</a:t>
                </a:r>
                <a14:m>
                  <m:oMath xmlns:m="http://schemas.openxmlformats.org/officeDocument/2006/math">
                    <m:r>
                      <a:rPr lang="en-US" altLang="zh-CN" sz="2800" i="1">
                        <a:solidFill>
                          <a:prstClr val="black"/>
                        </a:solidFill>
                        <a:latin typeface="Cambria Math" panose="02040503050406030204"/>
                      </a:rPr>
                      <m:t>𝜖</m:t>
                    </m:r>
                  </m:oMath>
                </a14:m>
                <a:r>
                  <a:rPr lang="en-US" altLang="zh-CN" sz="2800" dirty="0">
                    <a:solidFill>
                      <a:prstClr val="black"/>
                    </a:solidFill>
                    <a:latin typeface="Times New Roman" panose="02020603050405020304"/>
                    <a:ea typeface="黑体" panose="02010609060101010101" charset="-122"/>
                  </a:rPr>
                  <a:t>-</a:t>
                </a:r>
                <a:r>
                  <a:rPr lang="zh-CN" altLang="zh-CN" sz="2800" dirty="0">
                    <a:solidFill>
                      <a:prstClr val="black"/>
                    </a:solidFill>
                    <a:latin typeface="Times New Roman" panose="02020603050405020304"/>
                    <a:ea typeface="黑体" panose="02010609060101010101" charset="-122"/>
                  </a:rPr>
                  <a:t>贪心算法按照如下机制选择摇动赌博机：</a:t>
                </a:r>
                <a:endParaRPr lang="en-US" altLang="zh-CN" sz="2800" dirty="0">
                  <a:solidFill>
                    <a:prstClr val="black"/>
                  </a:solidFill>
                  <a:latin typeface="Times New Roman" panose="02020603050405020304"/>
                  <a:ea typeface="黑体" panose="02010609060101010101" charset="-122"/>
                </a:endParaRPr>
              </a:p>
              <a:p>
                <a:pPr algn="just">
                  <a:lnSpc>
                    <a:spcPct val="150000"/>
                  </a:lnSpc>
                </a:pPr>
                <a:endParaRPr lang="en-US" altLang="zh-CN" sz="2400" i="1" dirty="0">
                  <a:solidFill>
                    <a:prstClr val="black"/>
                  </a:solidFill>
                  <a:latin typeface="Cambria Math" panose="020405030504060302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a:rPr>
                            <m:t>𝑙</m:t>
                          </m:r>
                        </m:e>
                        <m:sub>
                          <m:r>
                            <a:rPr lang="en-US" altLang="zh-CN" sz="2400" i="1">
                              <a:solidFill>
                                <a:prstClr val="black"/>
                              </a:solidFill>
                              <a:latin typeface="Cambria Math" panose="02040503050406030204"/>
                            </a:rPr>
                            <m:t>𝑡</m:t>
                          </m:r>
                        </m:sub>
                      </m:sSub>
                      <m:r>
                        <a:rPr lang="en-US" altLang="zh-CN" sz="2400">
                          <a:solidFill>
                            <a:prstClr val="black"/>
                          </a:solidFill>
                          <a:latin typeface="Cambria Math" panose="02040503050406030204"/>
                        </a:rPr>
                        <m:t>=</m:t>
                      </m:r>
                      <m:d>
                        <m:dPr>
                          <m:begChr m:val="{"/>
                          <m:endChr m:val=""/>
                          <m:ctrlPr>
                            <a:rPr lang="zh-CN" altLang="zh-CN" sz="2400" i="1">
                              <a:solidFill>
                                <a:prstClr val="black"/>
                              </a:solidFill>
                              <a:latin typeface="Cambria Math" panose="02040503050406030204" pitchFamily="18" charset="0"/>
                            </a:rPr>
                          </m:ctrlPr>
                        </m:dPr>
                        <m:e>
                          <m:eqArr>
                            <m:eqArrPr>
                              <m:ctrlPr>
                                <a:rPr lang="zh-CN" altLang="zh-CN" sz="2400" i="1">
                                  <a:solidFill>
                                    <a:prstClr val="black"/>
                                  </a:solidFill>
                                  <a:latin typeface="Cambria Math" panose="02040503050406030204" pitchFamily="18" charset="0"/>
                                </a:rPr>
                              </m:ctrlPr>
                            </m:eqArrPr>
                            <m:e>
                              <m:sSub>
                                <m:sSubPr>
                                  <m:ctrlPr>
                                    <a:rPr lang="zh-CN" altLang="zh-CN" sz="2400" i="1">
                                      <a:solidFill>
                                        <a:prstClr val="black"/>
                                      </a:solidFill>
                                      <a:latin typeface="Cambria Math" panose="02040503050406030204" pitchFamily="18" charset="0"/>
                                    </a:rPr>
                                  </m:ctrlPr>
                                </m:sSubPr>
                                <m:e>
                                  <m:r>
                                    <m:rPr>
                                      <m:sty m:val="p"/>
                                    </m:rPr>
                                    <a:rPr lang="en-US" altLang="zh-CN" sz="2400">
                                      <a:solidFill>
                                        <a:prstClr val="black"/>
                                      </a:solidFill>
                                      <a:latin typeface="Cambria Math" panose="02040503050406030204"/>
                                    </a:rPr>
                                    <m:t>argmax</m:t>
                                  </m:r>
                                </m:e>
                                <m:sub>
                                  <m:r>
                                    <a:rPr lang="en-US" altLang="zh-CN" sz="2400" i="1">
                                      <a:solidFill>
                                        <a:prstClr val="black"/>
                                      </a:solidFill>
                                      <a:latin typeface="Cambria Math" panose="02040503050406030204"/>
                                    </a:rPr>
                                    <m:t>𝑖</m:t>
                                  </m:r>
                                </m:sub>
                              </m:sSub>
                              <m:r>
                                <a:rPr lang="en-US" altLang="zh-CN" sz="2400">
                                  <a:solidFill>
                                    <a:prstClr val="black"/>
                                  </a:solidFill>
                                  <a:latin typeface="Cambria Math" panose="02040503050406030204"/>
                                </a:rPr>
                                <m:t> </m:t>
                              </m:r>
                              <m:sSub>
                                <m:sSubPr>
                                  <m:ctrlPr>
                                    <a:rPr lang="zh-CN" altLang="zh-CN" sz="2400" i="1">
                                      <a:solidFill>
                                        <a:prstClr val="black"/>
                                      </a:solidFill>
                                      <a:latin typeface="Cambria Math" panose="02040503050406030204" pitchFamily="18" charset="0"/>
                                    </a:rPr>
                                  </m:ctrlPr>
                                </m:sSubPr>
                                <m:e>
                                  <m:acc>
                                    <m:accPr>
                                      <m:chr m:val="̅"/>
                                      <m:ctrlPr>
                                        <a:rPr lang="zh-CN" altLang="zh-CN" sz="2400" i="1">
                                          <a:solidFill>
                                            <a:prstClr val="black"/>
                                          </a:solidFill>
                                          <a:latin typeface="Cambria Math" panose="02040503050406030204" pitchFamily="18" charset="0"/>
                                        </a:rPr>
                                      </m:ctrlPr>
                                    </m:accPr>
                                    <m:e>
                                      <m:r>
                                        <a:rPr lang="en-US" altLang="zh-CN" sz="2400" i="1">
                                          <a:solidFill>
                                            <a:prstClr val="black"/>
                                          </a:solidFill>
                                          <a:latin typeface="Cambria Math" panose="02040503050406030204"/>
                                        </a:rPr>
                                        <m:t>𝑥</m:t>
                                      </m:r>
                                    </m:e>
                                  </m:acc>
                                </m:e>
                                <m:sub>
                                  <m:r>
                                    <a:rPr lang="en-US" altLang="zh-CN" sz="2400" i="1">
                                      <a:solidFill>
                                        <a:prstClr val="black"/>
                                      </a:solidFill>
                                      <a:latin typeface="Cambria Math" panose="02040503050406030204"/>
                                    </a:rPr>
                                    <m:t>𝑖</m:t>
                                  </m:r>
                                  <m:r>
                                    <a:rPr lang="en-US" altLang="zh-CN" sz="2400" i="1">
                                      <a:solidFill>
                                        <a:prstClr val="black"/>
                                      </a:solidFill>
                                      <a:latin typeface="Cambria Math" panose="02040503050406030204"/>
                                    </a:rPr>
                                    <m:t>,</m:t>
                                  </m:r>
                                  <m:sSub>
                                    <m:sSubPr>
                                      <m:ctrlPr>
                                        <a:rPr lang="zh-CN"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a:rPr>
                                        <m:t>𝑇</m:t>
                                      </m:r>
                                    </m:e>
                                    <m:sub>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𝑖</m:t>
                                      </m:r>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𝑡</m:t>
                                      </m:r>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1</m:t>
                                      </m:r>
                                      <m:r>
                                        <a:rPr lang="en-US" altLang="zh-CN" sz="2400" i="1">
                                          <a:solidFill>
                                            <a:prstClr val="black"/>
                                          </a:solidFill>
                                          <a:latin typeface="Cambria Math" panose="02040503050406030204"/>
                                        </a:rPr>
                                        <m:t>)</m:t>
                                      </m:r>
                                    </m:sub>
                                  </m:sSub>
                                </m:sub>
                              </m:sSub>
                              <m:r>
                                <a:rPr lang="en-US" altLang="zh-CN" sz="2400">
                                  <a:solidFill>
                                    <a:prstClr val="black"/>
                                  </a:solidFill>
                                  <a:latin typeface="Cambria Math" panose="02040503050406030204"/>
                                </a:rPr>
                                <m:t>,                </m:t>
                              </m:r>
                              <m:r>
                                <a:rPr lang="zh-CN" altLang="zh-CN" sz="2400">
                                  <a:solidFill>
                                    <a:prstClr val="black"/>
                                  </a:solidFill>
                                  <a:latin typeface="Cambria Math" panose="02040503050406030204"/>
                                </a:rPr>
                                <m:t>以</m:t>
                              </m:r>
                              <m:r>
                                <a:rPr lang="en-US" altLang="zh-CN" sz="2400">
                                  <a:solidFill>
                                    <a:prstClr val="black"/>
                                  </a:solidFill>
                                  <a:latin typeface="Cambria Math" panose="02040503050406030204"/>
                                </a:rPr>
                                <m:t>1</m:t>
                              </m:r>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𝜖</m:t>
                              </m:r>
                              <m:r>
                                <a:rPr lang="zh-CN" altLang="zh-CN" sz="2400">
                                  <a:solidFill>
                                    <a:prstClr val="black"/>
                                  </a:solidFill>
                                  <a:latin typeface="Cambria Math" panose="02040503050406030204"/>
                                </a:rPr>
                                <m:t>的概率</m:t>
                              </m:r>
                              <m:r>
                                <a:rPr lang="en-US" altLang="zh-CN" sz="2400">
                                  <a:solidFill>
                                    <a:prstClr val="black"/>
                                  </a:solidFill>
                                  <a:latin typeface="Cambria Math" panose="02040503050406030204"/>
                                </a:rPr>
                                <m:t>    </m:t>
                              </m:r>
                            </m:e>
                            <m:e>
                              <m:r>
                                <a:rPr lang="zh-CN" altLang="zh-CN" sz="2400">
                                  <a:solidFill>
                                    <a:prstClr val="black"/>
                                  </a:solidFill>
                                  <a:latin typeface="Cambria Math" panose="02040503050406030204"/>
                                </a:rPr>
                                <m:t>随机的</m:t>
                              </m:r>
                              <m:r>
                                <a:rPr lang="en-US" altLang="zh-CN" sz="2400" i="1">
                                  <a:solidFill>
                                    <a:prstClr val="black"/>
                                  </a:solidFill>
                                  <a:latin typeface="Cambria Math" panose="02040503050406030204"/>
                                </a:rPr>
                                <m:t>𝑖</m:t>
                              </m:r>
                              <m:r>
                                <a:rPr lang="en-US" altLang="zh-CN" sz="2400">
                                  <a:solidFill>
                                    <a:prstClr val="black"/>
                                  </a:solidFill>
                                  <a:latin typeface="Cambria Math" panose="02040503050406030204"/>
                                </a:rPr>
                                <m:t>∈</m:t>
                              </m:r>
                              <m:d>
                                <m:dPr>
                                  <m:begChr m:val="{"/>
                                  <m:endChr m:val="}"/>
                                  <m:ctrlPr>
                                    <a:rPr lang="zh-CN" altLang="zh-CN" sz="2400" i="1">
                                      <a:solidFill>
                                        <a:prstClr val="black"/>
                                      </a:solidFill>
                                      <a:latin typeface="Cambria Math" panose="02040503050406030204" pitchFamily="18" charset="0"/>
                                    </a:rPr>
                                  </m:ctrlPr>
                                </m:dPr>
                                <m:e>
                                  <m:r>
                                    <a:rPr lang="en-US" altLang="zh-CN" sz="2400">
                                      <a:solidFill>
                                        <a:prstClr val="black"/>
                                      </a:solidFill>
                                      <a:latin typeface="Cambria Math" panose="02040503050406030204"/>
                                    </a:rPr>
                                    <m:t>1</m:t>
                                  </m:r>
                                  <m:r>
                                    <a:rPr lang="en-US" altLang="zh-CN" sz="2400">
                                      <a:solidFill>
                                        <a:prstClr val="black"/>
                                      </a:solidFill>
                                      <a:latin typeface="Cambria Math" panose="02040503050406030204"/>
                                    </a:rPr>
                                    <m:t>,</m:t>
                                  </m:r>
                                  <m:r>
                                    <a:rPr lang="en-US" altLang="zh-CN" sz="2400">
                                      <a:solidFill>
                                        <a:prstClr val="black"/>
                                      </a:solidFill>
                                      <a:latin typeface="Cambria Math" panose="02040503050406030204"/>
                                    </a:rPr>
                                    <m:t>2</m:t>
                                  </m:r>
                                  <m:r>
                                    <a:rPr lang="en-US" altLang="zh-CN" sz="2400">
                                      <a:solidFill>
                                        <a:prstClr val="black"/>
                                      </a:solidFill>
                                      <a:latin typeface="Cambria Math" panose="02040503050406030204"/>
                                    </a:rPr>
                                    <m:t>,⋯,</m:t>
                                  </m:r>
                                  <m:r>
                                    <a:rPr lang="en-US" altLang="zh-CN" sz="2400" i="1">
                                      <a:solidFill>
                                        <a:prstClr val="black"/>
                                      </a:solidFill>
                                      <a:latin typeface="Cambria Math" panose="02040503050406030204"/>
                                    </a:rPr>
                                    <m:t>𝐾</m:t>
                                  </m:r>
                                </m:e>
                              </m:d>
                              <m:r>
                                <a:rPr lang="en-US" altLang="zh-CN" sz="2400">
                                  <a:solidFill>
                                    <a:prstClr val="black"/>
                                  </a:solidFill>
                                  <a:latin typeface="Cambria Math" panose="02040503050406030204"/>
                                </a:rPr>
                                <m:t>,                 </m:t>
                              </m:r>
                              <m:r>
                                <a:rPr lang="zh-CN" altLang="zh-CN" sz="2400">
                                  <a:solidFill>
                                    <a:prstClr val="black"/>
                                  </a:solidFill>
                                  <a:latin typeface="Cambria Math" panose="02040503050406030204"/>
                                </a:rPr>
                                <m:t>以</m:t>
                              </m:r>
                              <m:r>
                                <a:rPr lang="en-US" altLang="zh-CN" sz="2400" i="1">
                                  <a:solidFill>
                                    <a:prstClr val="black"/>
                                  </a:solidFill>
                                  <a:latin typeface="Cambria Math" panose="02040503050406030204"/>
                                </a:rPr>
                                <m:t>𝜖</m:t>
                              </m:r>
                              <m:r>
                                <a:rPr lang="zh-CN" altLang="zh-CN" sz="2400">
                                  <a:solidFill>
                                    <a:prstClr val="black"/>
                                  </a:solidFill>
                                  <a:latin typeface="Cambria Math" panose="02040503050406030204"/>
                                </a:rPr>
                                <m:t>的概率</m:t>
                              </m:r>
                              <m:r>
                                <a:rPr lang="en-US" altLang="zh-CN" sz="2400">
                                  <a:solidFill>
                                    <a:prstClr val="black"/>
                                  </a:solidFill>
                                  <a:latin typeface="Cambria Math" panose="02040503050406030204"/>
                                </a:rPr>
                                <m:t>             </m:t>
                              </m:r>
                            </m:e>
                          </m:eqArr>
                        </m:e>
                      </m:d>
                    </m:oMath>
                  </m:oMathPara>
                </a14:m>
                <a:endParaRPr lang="zh-CN" altLang="zh-CN" sz="2400" dirty="0">
                  <a:solidFill>
                    <a:prstClr val="black"/>
                  </a:solidFill>
                  <a:latin typeface="Times New Roman" panose="02020603050405020304"/>
                  <a:ea typeface="黑体" panose="02010609060101010101" charset="-122"/>
                </a:endParaRPr>
              </a:p>
            </p:txBody>
          </p:sp>
        </mc:Choice>
        <mc:Fallback>
          <p:sp>
            <p:nvSpPr>
              <p:cNvPr id="2" name="矩形 1"/>
              <p:cNvSpPr>
                <a:spLocks noRot="1" noChangeAspect="1" noMove="1" noResize="1" noEditPoints="1" noAdjustHandles="1" noChangeArrowheads="1" noChangeShapeType="1" noTextEdit="1"/>
              </p:cNvSpPr>
              <p:nvPr/>
            </p:nvSpPr>
            <p:spPr>
              <a:xfrm>
                <a:off x="594919" y="1608467"/>
                <a:ext cx="8014855" cy="3377848"/>
              </a:xfrm>
              <a:prstGeom prst="rect">
                <a:avLst/>
              </a:prstGeom>
              <a:blipFill rotWithShape="1">
                <a:blip r:embed="rId1"/>
                <a:stretch>
                  <a:fillRect l="-7" r="6" b="9"/>
                </a:stretch>
              </a:blipFill>
            </p:spPr>
            <p:txBody>
              <a:bodyPr/>
              <a:lstStyle/>
              <a:p>
                <a:r>
                  <a:rPr lang="zh-CN" altLang="en-US">
                    <a:noFill/>
                  </a:rPr>
                  <a:t> </a:t>
                </a:r>
              </a:p>
            </p:txBody>
          </p:sp>
        </mc:Fallback>
      </mc:AlternateContent>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959990"/>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蒙特卡洛树搜索中采取的策略</a:t>
            </a:r>
            <a:endParaRPr lang="en-US" altLang="zh-CN" sz="3000" dirty="0">
              <a:solidFill>
                <a:prstClr val="black"/>
              </a:solidFill>
              <a:latin typeface="方正姚体" panose="02010601030101010101" pitchFamily="2" charset="-122"/>
              <a:ea typeface="方正姚体" panose="02010601030101010101" pitchFamily="2" charset="-122"/>
            </a:endParaRPr>
          </a:p>
        </p:txBody>
      </p:sp>
      <p:sp>
        <p:nvSpPr>
          <p:cNvPr id="3" name="对话气泡: 圆角矩形 2"/>
          <p:cNvSpPr/>
          <p:nvPr/>
        </p:nvSpPr>
        <p:spPr>
          <a:xfrm>
            <a:off x="780757" y="3158938"/>
            <a:ext cx="7638757" cy="540123"/>
          </a:xfrm>
          <a:prstGeom prst="wedgeRoundRectCallout">
            <a:avLst>
              <a:gd name="adj1" fmla="val -5756"/>
              <a:gd name="adj2" fmla="val 7447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选择过去𝑡−</a:t>
            </a:r>
            <a:r>
              <a:rPr lang="en-US" altLang="zh-CN" sz="2400" dirty="0"/>
              <a:t>1</a:t>
            </a:r>
            <a:r>
              <a:rPr lang="zh-CN" altLang="en-US" sz="2400" dirty="0"/>
              <a:t>次行动中所得平均收益分数最高的赌博机</a:t>
            </a:r>
            <a:endParaRPr lang="zh-CN" altLang="en-US" sz="2400" dirty="0"/>
          </a:p>
        </p:txBody>
      </p:sp>
      <p:sp>
        <p:nvSpPr>
          <p:cNvPr id="5" name="对话气泡: 圆角矩形 4"/>
          <p:cNvSpPr/>
          <p:nvPr/>
        </p:nvSpPr>
        <p:spPr>
          <a:xfrm>
            <a:off x="844422" y="5132750"/>
            <a:ext cx="4494628" cy="582121"/>
          </a:xfrm>
          <a:prstGeom prst="wedgeRoundRectCallout">
            <a:avLst>
              <a:gd name="adj1" fmla="val 1360"/>
              <a:gd name="adj2" fmla="val -7683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随机选择一个赌博机进行摇动</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childTnLst>
                          </p:cTn>
                        </p:par>
                        <p:par>
                          <p:cTn id="8" fill="hold">
                            <p:stCondLst>
                              <p:cond delay="1500"/>
                            </p:stCondLst>
                            <p:childTnLst>
                              <p:par>
                                <p:cTn id="9" presetID="10" presetClass="entr" presetSubtype="0" fill="hold" nodeType="afterEffect">
                                  <p:stCondLst>
                                    <p:cond delay="500"/>
                                  </p:stCondLst>
                                  <p:childTnLst>
                                    <p:set>
                                      <p:cBhvr>
                                        <p:cTn id="10" dur="1" fill="hold">
                                          <p:stCondLst>
                                            <p:cond delay="0"/>
                                          </p:stCondLst>
                                        </p:cTn>
                                        <p:tgtEl>
                                          <p:spTgt spid="2">
                                            <p:txEl>
                                              <p:pRg st="2" end="2"/>
                                            </p:txEl>
                                          </p:spTgt>
                                        </p:tgtEl>
                                        <p:attrNameLst>
                                          <p:attrName>style.visibility</p:attrName>
                                        </p:attrNameLst>
                                      </p:cBhvr>
                                      <p:to>
                                        <p:strVal val="visible"/>
                                      </p:to>
                                    </p:set>
                                    <p:animEffect transition="in" filter="fade">
                                      <p:cBhvr>
                                        <p:cTn id="11" dur="1000"/>
                                        <p:tgtEl>
                                          <p:spTgt spid="2">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594919" y="1623709"/>
                <a:ext cx="7943161" cy="3242170"/>
              </a:xfrm>
              <a:prstGeom prst="rect">
                <a:avLst/>
              </a:prstGeom>
            </p:spPr>
            <p:txBody>
              <a:bodyPr wrap="square">
                <a:spAutoFit/>
              </a:bodyPr>
              <a:lstStyle/>
              <a:p>
                <a:pPr algn="just">
                  <a:lnSpc>
                    <a:spcPct val="150000"/>
                  </a:lnSpc>
                </a:pPr>
                <a14:m>
                  <m:oMath xmlns:m="http://schemas.openxmlformats.org/officeDocument/2006/math">
                    <m:r>
                      <a:rPr lang="en-US" altLang="zh-CN" sz="2800" b="0" i="1">
                        <a:solidFill>
                          <a:srgbClr val="FF0000"/>
                        </a:solidFill>
                        <a:latin typeface="Cambria Math" panose="02040503050406030204"/>
                      </a:rPr>
                      <m:t>𝜖</m:t>
                    </m:r>
                  </m:oMath>
                </a14:m>
                <a:r>
                  <a:rPr lang="en-US" altLang="zh-CN" sz="2800" dirty="0">
                    <a:solidFill>
                      <a:srgbClr val="FF0000"/>
                    </a:solidFill>
                    <a:latin typeface="Times New Roman" panose="02020603050405020304"/>
                    <a:ea typeface="黑体" panose="02010609060101010101" charset="-122"/>
                  </a:rPr>
                  <a:t>-</a:t>
                </a:r>
                <a:r>
                  <a:rPr lang="zh-CN" altLang="zh-CN" sz="2800" dirty="0">
                    <a:solidFill>
                      <a:srgbClr val="FF0000"/>
                    </a:solidFill>
                    <a:latin typeface="Times New Roman" panose="02020603050405020304"/>
                    <a:ea typeface="黑体" panose="02010609060101010101" charset="-122"/>
                  </a:rPr>
                  <a:t>贪心算法</a:t>
                </a:r>
                <a:r>
                  <a:rPr lang="zh-CN" altLang="en-US" sz="2800" dirty="0">
                    <a:solidFill>
                      <a:srgbClr val="FF0000"/>
                    </a:solidFill>
                    <a:latin typeface="Times New Roman" panose="02020603050405020304"/>
                    <a:ea typeface="黑体" panose="02010609060101010101" charset="-122"/>
                  </a:rPr>
                  <a:t>缺陷：</a:t>
                </a:r>
                <a:r>
                  <a:rPr lang="zh-CN" altLang="en-US" sz="2800" dirty="0">
                    <a:solidFill>
                      <a:prstClr val="black"/>
                    </a:solidFill>
                    <a:latin typeface="Times New Roman" panose="02020603050405020304"/>
                    <a:ea typeface="黑体" panose="02010609060101010101" charset="-122"/>
                  </a:rPr>
                  <a:t>与被探索的次数无关。可能</a:t>
                </a:r>
                <a:r>
                  <a:rPr lang="zh-CN" altLang="zh-CN" sz="2800" dirty="0">
                    <a:solidFill>
                      <a:prstClr val="black"/>
                    </a:solidFill>
                    <a:latin typeface="Times New Roman" panose="02020603050405020304"/>
                    <a:ea typeface="黑体" panose="02010609060101010101" charset="-122"/>
                  </a:rPr>
                  <a:t>存在一个给出更好奖励期望的动作，但因为智能体对其探索次数少而认为其期望奖励小。因此，需要对那些探索次数少或几乎没有被探索过的动作赋予更高的优先级。</a:t>
                </a:r>
                <a:endParaRPr lang="zh-CN" altLang="zh-CN" sz="2800" dirty="0">
                  <a:solidFill>
                    <a:prstClr val="black"/>
                  </a:solidFill>
                  <a:latin typeface="Times New Roman" panose="02020603050405020304"/>
                  <a:ea typeface="黑体" panose="02010609060101010101" charset="-122"/>
                </a:endParaRPr>
              </a:p>
            </p:txBody>
          </p:sp>
        </mc:Choice>
        <mc:Fallback>
          <p:sp>
            <p:nvSpPr>
              <p:cNvPr id="2" name="矩形 1"/>
              <p:cNvSpPr>
                <a:spLocks noRot="1" noChangeAspect="1" noMove="1" noResize="1" noEditPoints="1" noAdjustHandles="1" noChangeArrowheads="1" noChangeShapeType="1" noTextEdit="1"/>
              </p:cNvSpPr>
              <p:nvPr/>
            </p:nvSpPr>
            <p:spPr>
              <a:xfrm>
                <a:off x="594919" y="1623709"/>
                <a:ext cx="7943161" cy="3242170"/>
              </a:xfrm>
              <a:prstGeom prst="rect">
                <a:avLst/>
              </a:prstGeom>
              <a:blipFill rotWithShape="1">
                <a:blip r:embed="rId1"/>
                <a:stretch>
                  <a:fillRect l="-7" r="6" b="-121"/>
                </a:stretch>
              </a:blipFill>
            </p:spPr>
            <p:txBody>
              <a:bodyPr/>
              <a:lstStyle/>
              <a:p>
                <a:r>
                  <a:rPr lang="zh-CN" altLang="en-US">
                    <a:noFill/>
                  </a:rPr>
                  <a:t> </a:t>
                </a:r>
              </a:p>
            </p:txBody>
          </p:sp>
        </mc:Fallback>
      </mc:AlternateContent>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959990"/>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蒙特卡洛树搜索中采取的策略</a:t>
            </a:r>
            <a:endParaRPr lang="en-US" altLang="zh-CN" sz="3000" dirty="0">
              <a:solidFill>
                <a:prstClr val="black"/>
              </a:solidFill>
              <a:latin typeface="方正姚体" panose="02010601030101010101" pitchFamily="2" charset="-122"/>
              <a:ea typeface="方正姚体" panose="02010601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605937" y="1639371"/>
                <a:ext cx="7879980" cy="4111703"/>
              </a:xfrm>
              <a:prstGeom prst="rect">
                <a:avLst/>
              </a:prstGeom>
            </p:spPr>
            <p:txBody>
              <a:bodyPr wrap="square">
                <a:spAutoFit/>
              </a:bodyPr>
              <a:lstStyle/>
              <a:p>
                <a:pPr algn="just">
                  <a:lnSpc>
                    <a:spcPct val="150000"/>
                  </a:lnSpc>
                </a:pPr>
                <a:r>
                  <a:rPr lang="zh-CN" altLang="zh-CN" sz="2800" dirty="0">
                    <a:solidFill>
                      <a:srgbClr val="FF0000"/>
                    </a:solidFill>
                    <a:latin typeface="Times New Roman" panose="02020603050405020304"/>
                    <a:ea typeface="黑体" panose="02010609060101010101" charset="-122"/>
                  </a:rPr>
                  <a:t>上限置信区间算法</a:t>
                </a:r>
                <a:r>
                  <a:rPr lang="en-US" altLang="zh-CN" sz="2800" dirty="0">
                    <a:solidFill>
                      <a:srgbClr val="FF0000"/>
                    </a:solidFill>
                    <a:latin typeface="Times New Roman" panose="02020603050405020304"/>
                    <a:ea typeface="黑体" panose="02010609060101010101" charset="-122"/>
                  </a:rPr>
                  <a:t>(</a:t>
                </a:r>
                <a:r>
                  <a:rPr lang="en-US" altLang="zh-CN" sz="2600" dirty="0">
                    <a:solidFill>
                      <a:srgbClr val="FF0000"/>
                    </a:solidFill>
                    <a:latin typeface="Times New Roman" panose="02020603050405020304"/>
                    <a:ea typeface="黑体" panose="02010609060101010101" charset="-122"/>
                  </a:rPr>
                  <a:t>Upper Confidence Bounds, UCB1</a:t>
                </a:r>
                <a:r>
                  <a:rPr lang="en-US" altLang="zh-CN" sz="2800" dirty="0">
                    <a:solidFill>
                      <a:srgbClr val="FF0000"/>
                    </a:solidFill>
                    <a:latin typeface="Times New Roman" panose="02020603050405020304"/>
                    <a:ea typeface="黑体" panose="02010609060101010101" charset="-122"/>
                  </a:rPr>
                  <a:t>)</a:t>
                </a:r>
                <a:endParaRPr lang="en-US" altLang="zh-CN" sz="2800" dirty="0">
                  <a:solidFill>
                    <a:srgbClr val="FF0000"/>
                  </a:solidFill>
                  <a:latin typeface="Times New Roman" panose="02020603050405020304"/>
                  <a:ea typeface="黑体" panose="02010609060101010101" charset="-122"/>
                </a:endParaRPr>
              </a:p>
              <a:p>
                <a:pPr algn="just">
                  <a:lnSpc>
                    <a:spcPct val="150000"/>
                  </a:lnSpc>
                  <a:spcAft>
                    <a:spcPts val="3000"/>
                  </a:spcAft>
                </a:pPr>
                <a:r>
                  <a:rPr lang="zh-CN" altLang="zh-CN" sz="2800" dirty="0">
                    <a:solidFill>
                      <a:prstClr val="black"/>
                    </a:solidFill>
                    <a:latin typeface="Times New Roman" panose="02020603050405020304"/>
                    <a:ea typeface="黑体" panose="02010609060101010101" charset="-122"/>
                  </a:rPr>
                  <a:t>在第</a:t>
                </a:r>
                <a14:m>
                  <m:oMath xmlns:m="http://schemas.openxmlformats.org/officeDocument/2006/math">
                    <m:r>
                      <a:rPr lang="en-US" altLang="zh-CN" sz="2800" i="1">
                        <a:solidFill>
                          <a:prstClr val="black"/>
                        </a:solidFill>
                        <a:latin typeface="Cambria Math" panose="02040503050406030204"/>
                      </a:rPr>
                      <m:t>𝑡</m:t>
                    </m:r>
                  </m:oMath>
                </a14:m>
                <a:r>
                  <a:rPr lang="zh-CN" altLang="zh-CN" sz="2800" dirty="0">
                    <a:solidFill>
                      <a:prstClr val="black"/>
                    </a:solidFill>
                    <a:latin typeface="Times New Roman" panose="02020603050405020304"/>
                    <a:ea typeface="黑体" panose="02010609060101010101" charset="-122"/>
                  </a:rPr>
                  <a:t>次时选择使得</a:t>
                </a:r>
                <a:r>
                  <a:rPr lang="zh-CN" altLang="en-US" sz="2800" dirty="0">
                    <a:solidFill>
                      <a:prstClr val="black"/>
                    </a:solidFill>
                    <a:latin typeface="Times New Roman" panose="02020603050405020304"/>
                    <a:ea typeface="黑体" panose="02010609060101010101" charset="-122"/>
                  </a:rPr>
                  <a:t>下</a:t>
                </a:r>
                <a:r>
                  <a:rPr lang="zh-CN" altLang="zh-CN" sz="2800" dirty="0">
                    <a:solidFill>
                      <a:prstClr val="black"/>
                    </a:solidFill>
                    <a:latin typeface="Times New Roman" panose="02020603050405020304"/>
                    <a:ea typeface="黑体" panose="02010609060101010101" charset="-122"/>
                  </a:rPr>
                  <a:t>式取值最大的动作</a:t>
                </a:r>
                <a14:m>
                  <m:oMath xmlns:m="http://schemas.openxmlformats.org/officeDocument/2006/math">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a:rPr>
                          <m:t>𝑎</m:t>
                        </m:r>
                      </m:e>
                      <m:sub>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a:rPr>
                              <m:t>𝑙</m:t>
                            </m:r>
                          </m:e>
                          <m:sub>
                            <m:r>
                              <a:rPr lang="en-US" altLang="zh-CN" sz="2800" i="1">
                                <a:solidFill>
                                  <a:prstClr val="black"/>
                                </a:solidFill>
                                <a:latin typeface="Cambria Math" panose="02040503050406030204"/>
                              </a:rPr>
                              <m:t>𝑡</m:t>
                            </m:r>
                          </m:sub>
                        </m:sSub>
                      </m:sub>
                    </m:sSub>
                  </m:oMath>
                </a14:m>
                <a:r>
                  <a:rPr lang="zh-CN" altLang="zh-CN" sz="2800" dirty="0">
                    <a:solidFill>
                      <a:prstClr val="black"/>
                    </a:solidFill>
                    <a:latin typeface="Times New Roman" panose="02020603050405020304"/>
                    <a:ea typeface="黑体" panose="02010609060101010101" charset="-122"/>
                  </a:rPr>
                  <a:t>，其中</a:t>
                </a:r>
                <a14:m>
                  <m:oMath xmlns:m="http://schemas.openxmlformats.org/officeDocument/2006/math">
                    <m:sSub>
                      <m:sSubPr>
                        <m:ctrlPr>
                          <a:rPr lang="zh-CN"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a:rPr>
                          <m:t>𝑙</m:t>
                        </m:r>
                      </m:e>
                      <m:sub>
                        <m:r>
                          <a:rPr lang="en-US" altLang="zh-CN" sz="2800" i="1">
                            <a:solidFill>
                              <a:prstClr val="black"/>
                            </a:solidFill>
                            <a:latin typeface="Cambria Math" panose="02040503050406030204"/>
                          </a:rPr>
                          <m:t>𝑡</m:t>
                        </m:r>
                      </m:sub>
                    </m:sSub>
                  </m:oMath>
                </a14:m>
                <a:r>
                  <a:rPr lang="zh-CN" altLang="zh-CN" sz="2800" dirty="0">
                    <a:solidFill>
                      <a:prstClr val="black"/>
                    </a:solidFill>
                    <a:latin typeface="Times New Roman" panose="02020603050405020304"/>
                    <a:ea typeface="黑体" panose="02010609060101010101" charset="-122"/>
                  </a:rPr>
                  <a:t>由如下式子计算得到：</a:t>
                </a:r>
                <a:endParaRPr lang="zh-CN" altLang="zh-CN" sz="2800" dirty="0">
                  <a:solidFill>
                    <a:prstClr val="black"/>
                  </a:solidFill>
                  <a:latin typeface="Times New Roman" panose="02020603050405020304"/>
                  <a:ea typeface="黑体" panose="02010609060101010101" charset="-122"/>
                </a:endParaRPr>
              </a:p>
              <a:p>
                <a:pPr algn="just">
                  <a:lnSpc>
                    <a:spcPct val="150000"/>
                  </a:lnSpc>
                  <a:spcBef>
                    <a:spcPts val="1800"/>
                  </a:spcBef>
                </a:pPr>
                <a14:m>
                  <m:oMathPara xmlns:m="http://schemas.openxmlformats.org/officeDocument/2006/math">
                    <m:oMathParaPr>
                      <m:jc m:val="centerGroup"/>
                    </m:oMathParaPr>
                    <m:oMath xmlns:m="http://schemas.openxmlformats.org/officeDocument/2006/math">
                      <m:sSub>
                        <m:sSubPr>
                          <m:ctrlPr>
                            <a:rPr lang="zh-CN"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a:rPr>
                            <m:t>𝑙</m:t>
                          </m:r>
                        </m:e>
                        <m:sub>
                          <m:r>
                            <a:rPr lang="en-US" altLang="zh-CN" sz="2400" i="1">
                              <a:solidFill>
                                <a:prstClr val="black"/>
                              </a:solidFill>
                              <a:latin typeface="Cambria Math" panose="02040503050406030204"/>
                            </a:rPr>
                            <m:t>𝑡</m:t>
                          </m:r>
                        </m:sub>
                      </m:sSub>
                      <m:r>
                        <a:rPr lang="en-US" altLang="zh-CN" sz="2400">
                          <a:solidFill>
                            <a:prstClr val="black"/>
                          </a:solidFill>
                          <a:latin typeface="Cambria Math" panose="02040503050406030204"/>
                        </a:rPr>
                        <m:t>=</m:t>
                      </m:r>
                      <m:sSub>
                        <m:sSubPr>
                          <m:ctrlPr>
                            <a:rPr lang="zh-CN" altLang="zh-CN" sz="2400" i="1">
                              <a:solidFill>
                                <a:prstClr val="black"/>
                              </a:solidFill>
                              <a:latin typeface="Cambria Math" panose="02040503050406030204" pitchFamily="18" charset="0"/>
                            </a:rPr>
                          </m:ctrlPr>
                        </m:sSubPr>
                        <m:e>
                          <m:r>
                            <m:rPr>
                              <m:sty m:val="p"/>
                            </m:rPr>
                            <a:rPr lang="en-US" altLang="zh-CN" sz="2400">
                              <a:solidFill>
                                <a:prstClr val="black"/>
                              </a:solidFill>
                              <a:latin typeface="Cambria Math" panose="02040503050406030204"/>
                            </a:rPr>
                            <m:t>argmax</m:t>
                          </m:r>
                        </m:e>
                        <m:sub>
                          <m:r>
                            <a:rPr lang="en-US" altLang="zh-CN" sz="2400" i="1">
                              <a:solidFill>
                                <a:prstClr val="black"/>
                              </a:solidFill>
                              <a:latin typeface="Cambria Math" panose="02040503050406030204"/>
                            </a:rPr>
                            <m:t>𝑖</m:t>
                          </m:r>
                        </m:sub>
                      </m:sSub>
                      <m:r>
                        <a:rPr lang="en-US" altLang="zh-CN" sz="2400" i="1">
                          <a:solidFill>
                            <a:prstClr val="black"/>
                          </a:solidFill>
                          <a:latin typeface="Cambria Math" panose="02040503050406030204"/>
                        </a:rPr>
                        <m:t> </m:t>
                      </m:r>
                      <m:sSub>
                        <m:sSubPr>
                          <m:ctrlPr>
                            <a:rPr lang="zh-CN" altLang="zh-CN" sz="2400" i="1">
                              <a:solidFill>
                                <a:prstClr val="black"/>
                              </a:solidFill>
                              <a:latin typeface="Cambria Math" panose="02040503050406030204" pitchFamily="18" charset="0"/>
                            </a:rPr>
                          </m:ctrlPr>
                        </m:sSubPr>
                        <m:e>
                          <m:acc>
                            <m:accPr>
                              <m:chr m:val="̅"/>
                              <m:ctrlPr>
                                <a:rPr lang="zh-CN" altLang="zh-CN" sz="2400" i="1">
                                  <a:solidFill>
                                    <a:prstClr val="black"/>
                                  </a:solidFill>
                                  <a:latin typeface="Cambria Math" panose="02040503050406030204" pitchFamily="18" charset="0"/>
                                </a:rPr>
                              </m:ctrlPr>
                            </m:accPr>
                            <m:e>
                              <m:r>
                                <a:rPr lang="en-US" altLang="zh-CN" sz="2400" i="1">
                                  <a:solidFill>
                                    <a:prstClr val="black"/>
                                  </a:solidFill>
                                  <a:latin typeface="Cambria Math" panose="02040503050406030204"/>
                                </a:rPr>
                                <m:t>𝑥</m:t>
                              </m:r>
                            </m:e>
                          </m:acc>
                        </m:e>
                        <m:sub>
                          <m:r>
                            <a:rPr lang="en-US" altLang="zh-CN" sz="2400" i="1">
                              <a:solidFill>
                                <a:prstClr val="black"/>
                              </a:solidFill>
                              <a:latin typeface="Cambria Math" panose="02040503050406030204"/>
                            </a:rPr>
                            <m:t>𝑖</m:t>
                          </m:r>
                          <m:r>
                            <a:rPr lang="en-US" altLang="zh-CN" sz="2400" i="1">
                              <a:solidFill>
                                <a:prstClr val="black"/>
                              </a:solidFill>
                              <a:latin typeface="Cambria Math" panose="02040503050406030204"/>
                            </a:rPr>
                            <m:t>,</m:t>
                          </m:r>
                          <m:sSub>
                            <m:sSubPr>
                              <m:ctrlPr>
                                <a:rPr lang="zh-CN"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a:rPr>
                                <m:t>𝑇</m:t>
                              </m:r>
                            </m:e>
                            <m:sub>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𝑖</m:t>
                              </m:r>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𝑡</m:t>
                              </m:r>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1</m:t>
                              </m:r>
                              <m:r>
                                <a:rPr lang="en-US" altLang="zh-CN" sz="2400" i="1">
                                  <a:solidFill>
                                    <a:prstClr val="black"/>
                                  </a:solidFill>
                                  <a:latin typeface="Cambria Math" panose="02040503050406030204"/>
                                </a:rPr>
                                <m:t>)</m:t>
                              </m:r>
                            </m:sub>
                          </m:sSub>
                        </m:sub>
                      </m:sSub>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𝐶</m:t>
                      </m:r>
                      <m:rad>
                        <m:radPr>
                          <m:degHide m:val="on"/>
                          <m:ctrlPr>
                            <a:rPr lang="zh-CN" altLang="zh-CN" sz="2400" i="1">
                              <a:solidFill>
                                <a:prstClr val="black"/>
                              </a:solidFill>
                              <a:latin typeface="Cambria Math" panose="02040503050406030204" pitchFamily="18" charset="0"/>
                            </a:rPr>
                          </m:ctrlPr>
                        </m:radPr>
                        <m:deg/>
                        <m:e>
                          <m:f>
                            <m:fPr>
                              <m:ctrlPr>
                                <a:rPr lang="zh-CN"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a:rPr>
                                <m:t>2</m:t>
                              </m:r>
                              <m:func>
                                <m:funcPr>
                                  <m:ctrlPr>
                                    <a:rPr lang="zh-CN" altLang="zh-CN" sz="2400" i="1">
                                      <a:solidFill>
                                        <a:prstClr val="black"/>
                                      </a:solidFill>
                                      <a:latin typeface="Cambria Math" panose="02040503050406030204" pitchFamily="18" charset="0"/>
                                    </a:rPr>
                                  </m:ctrlPr>
                                </m:funcPr>
                                <m:fName>
                                  <m:r>
                                    <m:rPr>
                                      <m:sty m:val="p"/>
                                    </m:rPr>
                                    <a:rPr lang="en-US" altLang="zh-CN" sz="2400">
                                      <a:solidFill>
                                        <a:prstClr val="black"/>
                                      </a:solidFill>
                                      <a:latin typeface="Cambria Math" panose="02040503050406030204"/>
                                    </a:rPr>
                                    <m:t>ln</m:t>
                                  </m:r>
                                </m:fName>
                                <m:e>
                                  <m:r>
                                    <a:rPr lang="en-US" altLang="zh-CN" sz="2400" i="1">
                                      <a:solidFill>
                                        <a:prstClr val="black"/>
                                      </a:solidFill>
                                      <a:latin typeface="Cambria Math" panose="02040503050406030204"/>
                                    </a:rPr>
                                    <m:t>𝑡</m:t>
                                  </m:r>
                                </m:e>
                              </m:func>
                            </m:num>
                            <m:den>
                              <m:sSub>
                                <m:sSubPr>
                                  <m:ctrlPr>
                                    <a:rPr lang="zh-CN"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a:rPr>
                                    <m:t>𝑇</m:t>
                                  </m:r>
                                </m:e>
                                <m:sub>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𝑖</m:t>
                                  </m:r>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𝑡</m:t>
                                  </m:r>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1</m:t>
                                  </m:r>
                                  <m:r>
                                    <a:rPr lang="en-US" altLang="zh-CN" sz="2400" i="1">
                                      <a:solidFill>
                                        <a:prstClr val="black"/>
                                      </a:solidFill>
                                      <a:latin typeface="Cambria Math" panose="02040503050406030204"/>
                                    </a:rPr>
                                    <m:t>)</m:t>
                                  </m:r>
                                </m:sub>
                              </m:sSub>
                            </m:den>
                          </m:f>
                        </m:e>
                      </m:rad>
                    </m:oMath>
                  </m:oMathPara>
                </a14:m>
                <a:endParaRPr lang="zh-CN" altLang="zh-CN" sz="2400" dirty="0">
                  <a:solidFill>
                    <a:prstClr val="black"/>
                  </a:solidFill>
                  <a:latin typeface="Times New Roman" panose="02020603050405020304"/>
                  <a:ea typeface="黑体" panose="02010609060101010101" charset="-122"/>
                </a:endParaRPr>
              </a:p>
            </p:txBody>
          </p:sp>
        </mc:Choice>
        <mc:Fallback>
          <p:sp>
            <p:nvSpPr>
              <p:cNvPr id="2" name="矩形 1"/>
              <p:cNvSpPr>
                <a:spLocks noRot="1" noChangeAspect="1" noMove="1" noResize="1" noEditPoints="1" noAdjustHandles="1" noChangeArrowheads="1" noChangeShapeType="1" noTextEdit="1"/>
              </p:cNvSpPr>
              <p:nvPr/>
            </p:nvSpPr>
            <p:spPr>
              <a:xfrm>
                <a:off x="605937" y="1639371"/>
                <a:ext cx="7879980" cy="4111703"/>
              </a:xfrm>
              <a:prstGeom prst="rect">
                <a:avLst/>
              </a:prstGeom>
              <a:blipFill rotWithShape="1">
                <a:blip r:embed="rId1"/>
                <a:stretch>
                  <a:fillRect l="-2" t="-11" r="5" b="13"/>
                </a:stretch>
              </a:blipFill>
            </p:spPr>
            <p:txBody>
              <a:bodyPr/>
              <a:lstStyle/>
              <a:p>
                <a:r>
                  <a:rPr lang="zh-CN" altLang="en-US">
                    <a:noFill/>
                  </a:rPr>
                  <a:t> </a:t>
                </a:r>
              </a:p>
            </p:txBody>
          </p:sp>
        </mc:Fallback>
      </mc:AlternateContent>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6" name="矩形 5"/>
          <p:cNvSpPr/>
          <p:nvPr/>
        </p:nvSpPr>
        <p:spPr>
          <a:xfrm>
            <a:off x="594919" y="959990"/>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蒙特卡洛树搜索中采取的策略</a:t>
            </a:r>
            <a:endParaRPr lang="en-US" altLang="zh-CN" sz="3000" dirty="0">
              <a:solidFill>
                <a:prstClr val="black"/>
              </a:solidFill>
              <a:latin typeface="方正姚体" panose="02010601030101010101" pitchFamily="2" charset="-122"/>
              <a:ea typeface="方正姚体" panose="02010601030101010101" pitchFamily="2" charset="-122"/>
            </a:endParaRPr>
          </a:p>
        </p:txBody>
      </p:sp>
      <p:sp>
        <p:nvSpPr>
          <p:cNvPr id="3" name="对话气泡: 圆角矩形 2"/>
          <p:cNvSpPr/>
          <p:nvPr/>
        </p:nvSpPr>
        <p:spPr>
          <a:xfrm>
            <a:off x="747120" y="3707578"/>
            <a:ext cx="7638757" cy="885524"/>
          </a:xfrm>
          <a:prstGeom prst="wedgeRoundRectCallout">
            <a:avLst>
              <a:gd name="adj1" fmla="val -1060"/>
              <a:gd name="adj2" fmla="val 3931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r>
              <a:rPr lang="zh-CN" altLang="en-US" sz="2400" dirty="0"/>
              <a:t>过去𝑡次对动作𝑎</a:t>
            </a:r>
            <a:r>
              <a:rPr lang="zh-CN" altLang="en-US" sz="2400" baseline="-25000" dirty="0"/>
              <a:t>𝑖</a:t>
            </a:r>
            <a:r>
              <a:rPr lang="zh-CN" altLang="en-US" sz="2400" dirty="0"/>
              <a:t>探索了𝑇</a:t>
            </a:r>
            <a:r>
              <a:rPr lang="en-US" altLang="zh-CN" sz="2400" baseline="-25000" dirty="0"/>
              <a:t>(</a:t>
            </a:r>
            <a:r>
              <a:rPr lang="zh-CN" altLang="en-US" sz="2400" baseline="-25000" dirty="0"/>
              <a:t>𝑖</a:t>
            </a:r>
            <a:r>
              <a:rPr lang="en-US" altLang="zh-CN" sz="2400" baseline="-25000" dirty="0"/>
              <a:t>,</a:t>
            </a:r>
            <a:r>
              <a:rPr lang="zh-CN" altLang="en-US" sz="2400" baseline="-25000" dirty="0"/>
              <a:t>𝑡−</a:t>
            </a:r>
            <a:r>
              <a:rPr lang="en-US" altLang="zh-CN" sz="2400" baseline="-25000" dirty="0"/>
              <a:t>1)</a:t>
            </a:r>
            <a:r>
              <a:rPr lang="zh-CN" altLang="en-US" sz="2400" dirty="0"/>
              <a:t>次，对应摇动第𝑖个赌博机的臂膀𝑇</a:t>
            </a:r>
            <a:r>
              <a:rPr lang="en-US" altLang="zh-CN" sz="2400" baseline="-25000" dirty="0"/>
              <a:t>(</a:t>
            </a:r>
            <a:r>
              <a:rPr lang="zh-CN" altLang="en-US" sz="2400" baseline="-25000" dirty="0"/>
              <a:t>𝑖</a:t>
            </a:r>
            <a:r>
              <a:rPr lang="en-US" altLang="zh-CN" sz="2400" baseline="-25000" dirty="0"/>
              <a:t>,</a:t>
            </a:r>
            <a:r>
              <a:rPr lang="zh-CN" altLang="en-US" sz="2400" baseline="-25000" dirty="0"/>
              <a:t>𝑡−</a:t>
            </a:r>
            <a:r>
              <a:rPr lang="en-US" altLang="zh-CN" sz="2400" baseline="-25000" dirty="0"/>
              <a:t>1)</a:t>
            </a:r>
            <a:r>
              <a:rPr lang="zh-CN" altLang="en-US" sz="2400" dirty="0"/>
              <a:t>次</a:t>
            </a:r>
            <a:endParaRPr lang="en-US" altLang="zh-CN" sz="2400" dirty="0"/>
          </a:p>
        </p:txBody>
      </p:sp>
      <mc:AlternateContent xmlns:mc="http://schemas.openxmlformats.org/markup-compatibility/2006">
        <mc:Choice xmlns:a14="http://schemas.microsoft.com/office/drawing/2010/main" Requires="a14">
          <p:sp>
            <p:nvSpPr>
              <p:cNvPr id="4" name="对话气泡: 圆角矩形 3"/>
              <p:cNvSpPr/>
              <p:nvPr/>
            </p:nvSpPr>
            <p:spPr>
              <a:xfrm>
                <a:off x="747121" y="5787606"/>
                <a:ext cx="6188252" cy="540123"/>
              </a:xfrm>
              <a:prstGeom prst="wedgeRoundRectCallout">
                <a:avLst>
                  <a:gd name="adj1" fmla="val 1887"/>
                  <a:gd name="adj2" fmla="val 2629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执行动作𝑎</a:t>
                </a:r>
                <a:r>
                  <a:rPr lang="zh-CN" altLang="en-US" sz="2400" baseline="-25000" dirty="0"/>
                  <a:t>𝑖</a:t>
                </a:r>
                <a:r>
                  <a:rPr lang="zh-CN" altLang="en-US" sz="2400" dirty="0"/>
                  <a:t>所收到收益分数的均值为</a:t>
                </a:r>
                <a14:m>
                  <m:oMath xmlns:m="http://schemas.openxmlformats.org/officeDocument/2006/math">
                    <m:sSub>
                      <m:sSubPr>
                        <m:ctrlPr>
                          <a:rPr lang="zh-CN" altLang="zh-CN" sz="2400" i="1">
                            <a:latin typeface="Cambria Math" panose="02040503050406030204" pitchFamily="18" charset="0"/>
                          </a:rPr>
                        </m:ctrlPr>
                      </m:sSubPr>
                      <m:e>
                        <m:acc>
                          <m:accPr>
                            <m:chr m:val="̅"/>
                            <m:ctrlPr>
                              <a:rPr lang="zh-CN" altLang="zh-CN" sz="2400" i="1">
                                <a:latin typeface="Cambria Math" panose="02040503050406030204" pitchFamily="18" charset="0"/>
                              </a:rPr>
                            </m:ctrlPr>
                          </m:accPr>
                          <m:e>
                            <m:r>
                              <a:rPr lang="en-US" altLang="zh-CN" sz="2400" i="1">
                                <a:latin typeface="Cambria Math" panose="02040503050406030204"/>
                              </a:rPr>
                              <m:t>𝑥</m:t>
                            </m:r>
                          </m:e>
                        </m:acc>
                      </m:e>
                      <m:sub>
                        <m:r>
                          <a:rPr lang="en-US" altLang="zh-CN" sz="2400" i="1">
                            <a:latin typeface="Cambria Math" panose="02040503050406030204"/>
                          </a:rPr>
                          <m:t>𝑖</m:t>
                        </m:r>
                        <m:r>
                          <a:rPr lang="en-US" altLang="zh-CN" sz="2400" i="1">
                            <a:latin typeface="Cambria Math" panose="02040503050406030204"/>
                          </a:rPr>
                          <m:t>,</m:t>
                        </m:r>
                        <m:sSub>
                          <m:sSubPr>
                            <m:ctrlPr>
                              <a:rPr lang="zh-CN" altLang="zh-CN" sz="2400" i="1">
                                <a:latin typeface="Cambria Math" panose="02040503050406030204" pitchFamily="18" charset="0"/>
                              </a:rPr>
                            </m:ctrlPr>
                          </m:sSubPr>
                          <m:e>
                            <m:r>
                              <a:rPr lang="en-US" altLang="zh-CN" sz="2400" i="1">
                                <a:latin typeface="Cambria Math" panose="02040503050406030204"/>
                              </a:rPr>
                              <m:t>𝑇</m:t>
                            </m:r>
                          </m:e>
                          <m:sub>
                            <m:r>
                              <a:rPr lang="en-US" altLang="zh-CN" sz="2400" i="1">
                                <a:latin typeface="Cambria Math" panose="02040503050406030204"/>
                              </a:rPr>
                              <m:t>(</m:t>
                            </m:r>
                            <m:r>
                              <a:rPr lang="en-US" altLang="zh-CN" sz="2400" i="1">
                                <a:latin typeface="Cambria Math" panose="02040503050406030204"/>
                              </a:rPr>
                              <m:t>𝑖</m:t>
                            </m:r>
                            <m:r>
                              <a:rPr lang="en-US" altLang="zh-CN" sz="2400" i="1">
                                <a:latin typeface="Cambria Math" panose="02040503050406030204"/>
                              </a:rPr>
                              <m:t>,</m:t>
                            </m:r>
                            <m:r>
                              <a:rPr lang="en-US" altLang="zh-CN" sz="2400" i="1">
                                <a:latin typeface="Cambria Math" panose="02040503050406030204"/>
                              </a:rPr>
                              <m:t>𝑡</m:t>
                            </m:r>
                            <m:r>
                              <a:rPr lang="en-US" altLang="zh-CN" sz="2400" i="1">
                                <a:latin typeface="Cambria Math" panose="02040503050406030204"/>
                              </a:rPr>
                              <m:t>−</m:t>
                            </m:r>
                            <m:r>
                              <a:rPr lang="en-US" altLang="zh-CN" sz="2400" i="1">
                                <a:latin typeface="Cambria Math" panose="02040503050406030204"/>
                              </a:rPr>
                              <m:t>1</m:t>
                            </m:r>
                            <m:r>
                              <a:rPr lang="en-US" altLang="zh-CN" sz="2400" i="1">
                                <a:latin typeface="Cambria Math" panose="02040503050406030204"/>
                              </a:rPr>
                              <m:t>)</m:t>
                            </m:r>
                          </m:sub>
                        </m:sSub>
                      </m:sub>
                    </m:sSub>
                  </m:oMath>
                </a14:m>
                <a:endParaRPr lang="en-US" altLang="zh-CN" sz="2400" dirty="0"/>
              </a:p>
            </p:txBody>
          </p:sp>
        </mc:Choice>
        <mc:Fallback>
          <p:sp>
            <p:nvSpPr>
              <p:cNvPr id="4" name="对话气泡: 圆角矩形 3"/>
              <p:cNvSpPr>
                <a:spLocks noRot="1" noChangeAspect="1" noMove="1" noResize="1" noEditPoints="1" noAdjustHandles="1" noChangeArrowheads="1" noChangeShapeType="1" noTextEdit="1"/>
              </p:cNvSpPr>
              <p:nvPr/>
            </p:nvSpPr>
            <p:spPr>
              <a:xfrm>
                <a:off x="747121" y="5787606"/>
                <a:ext cx="6188252" cy="540123"/>
              </a:xfrm>
              <a:prstGeom prst="wedgeRoundRectCallout">
                <a:avLst>
                  <a:gd name="adj1" fmla="val 1887"/>
                  <a:gd name="adj2" fmla="val 26293"/>
                  <a:gd name="adj3" fmla="val 16667"/>
                </a:avLst>
              </a:prstGeom>
              <a:blipFill rotWithShape="1">
                <a:blip r:embed="rId2"/>
                <a:stretch>
                  <a:fillRect l="-129" t="-31195" r="-125" b="-13529"/>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8" name="文本框 7"/>
          <p:cNvSpPr txBox="1"/>
          <p:nvPr/>
        </p:nvSpPr>
        <p:spPr>
          <a:xfrm>
            <a:off x="330835" y="6473825"/>
            <a:ext cx="8430260" cy="645160"/>
          </a:xfrm>
          <a:prstGeom prst="rect">
            <a:avLst/>
          </a:prstGeom>
          <a:noFill/>
        </p:spPr>
        <p:txBody>
          <a:bodyPr wrap="square" rtlCol="0">
            <a:spAutoFit/>
          </a:bodyPr>
          <a:p>
            <a:r>
              <a:rPr lang="zh-CN" altLang="en-US">
                <a:highlight>
                  <a:srgbClr val="FFFF00"/>
                </a:highlight>
              </a:rPr>
              <a:t>左侧为所有子节点中</a:t>
            </a:r>
            <a:r>
              <a:rPr lang="zh-CN" altLang="en-US">
                <a:highlight>
                  <a:srgbClr val="FFFF00"/>
                </a:highlight>
              </a:rPr>
              <a:t>平均受益最大的，右侧为被访问次数较少的节点乘以探索常数，</a:t>
            </a:r>
            <a:r>
              <a:rPr lang="en-US" altLang="zh-CN">
                <a:highlight>
                  <a:srgbClr val="FFFF00"/>
                </a:highlight>
              </a:rPr>
              <a:t>C</a:t>
            </a:r>
            <a:r>
              <a:rPr lang="zh-CN" altLang="en-US">
                <a:highlight>
                  <a:srgbClr val="FFFF00"/>
                </a:highlight>
              </a:rPr>
              <a:t>越大，越容易探索未访问节点，</a:t>
            </a:r>
            <a:r>
              <a:rPr lang="en-US" altLang="zh-CN">
                <a:highlight>
                  <a:srgbClr val="FFFF00"/>
                </a:highlight>
              </a:rPr>
              <a:t>T(i,t-1)</a:t>
            </a:r>
            <a:r>
              <a:rPr lang="zh-CN" altLang="en-US">
                <a:highlight>
                  <a:srgbClr val="FFFF00"/>
                </a:highlight>
              </a:rPr>
              <a:t>是截至</a:t>
            </a:r>
            <a:r>
              <a:rPr lang="en-US" altLang="zh-CN">
                <a:highlight>
                  <a:srgbClr val="FFFF00"/>
                </a:highlight>
              </a:rPr>
              <a:t>t-1</a:t>
            </a:r>
            <a:r>
              <a:rPr lang="zh-CN" altLang="en-US">
                <a:highlight>
                  <a:srgbClr val="FFFF00"/>
                </a:highlight>
              </a:rPr>
              <a:t>时间内</a:t>
            </a:r>
            <a:r>
              <a:rPr lang="en-US" altLang="zh-CN">
                <a:highlight>
                  <a:srgbClr val="FFFF00"/>
                </a:highlight>
              </a:rPr>
              <a:t>i</a:t>
            </a:r>
            <a:r>
              <a:rPr lang="zh-CN" altLang="en-US">
                <a:highlight>
                  <a:srgbClr val="FFFF00"/>
                </a:highlight>
              </a:rPr>
              <a:t>节点的被访问次数</a:t>
            </a:r>
            <a:endParaRPr lang="zh-CN" altLang="en-US">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10" presetClass="entr" presetSubtype="0" fill="hold" nodeType="afterEffect">
                                  <p:stCondLst>
                                    <p:cond delay="50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fade">
                                      <p:cBhvr>
                                        <p:cTn id="20" dur="500"/>
                                        <p:tgtEl>
                                          <p:spTgt spid="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28864" y="1594614"/>
            <a:ext cx="7542939" cy="3888500"/>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zh-CN" sz="2800" dirty="0">
                <a:solidFill>
                  <a:srgbClr val="FF0000"/>
                </a:solidFill>
                <a:latin typeface="Times New Roman" panose="02020603050405020304"/>
                <a:ea typeface="黑体" panose="02010609060101010101" charset="-122"/>
              </a:rPr>
              <a:t>选择</a:t>
            </a:r>
            <a:r>
              <a:rPr lang="en-US" altLang="zh-CN" sz="2800" dirty="0">
                <a:solidFill>
                  <a:srgbClr val="FF0000"/>
                </a:solidFill>
                <a:latin typeface="Times New Roman" panose="02020603050405020304"/>
                <a:ea typeface="黑体" panose="02010609060101010101" charset="-122"/>
              </a:rPr>
              <a:t>(selection)</a:t>
            </a:r>
            <a:r>
              <a:rPr lang="zh-CN" altLang="en-US" sz="2800" dirty="0">
                <a:solidFill>
                  <a:srgbClr val="FF0000"/>
                </a:solidFill>
                <a:latin typeface="Times New Roman" panose="02020603050405020304"/>
                <a:ea typeface="黑体" panose="02010609060101010101" charset="-122"/>
              </a:rPr>
              <a:t>：</a:t>
            </a:r>
            <a:endParaRPr lang="en-US" altLang="zh-CN" sz="2800" dirty="0">
              <a:solidFill>
                <a:prstClr val="black"/>
              </a:solidFill>
              <a:latin typeface="Times New Roman" panose="02020603050405020304"/>
              <a:ea typeface="黑体" panose="02010609060101010101" charset="-122"/>
            </a:endParaRPr>
          </a:p>
          <a:p>
            <a:pPr marL="457200" indent="-274955" algn="just">
              <a:lnSpc>
                <a:spcPct val="150000"/>
              </a:lnSpc>
              <a:buFont typeface="Arial" panose="020B0604020202020204" pitchFamily="34" charset="0"/>
              <a:buChar char="•"/>
            </a:pPr>
            <a:r>
              <a:rPr lang="zh-CN" altLang="zh-CN" sz="2800" dirty="0">
                <a:solidFill>
                  <a:prstClr val="black"/>
                </a:solidFill>
                <a:latin typeface="Times New Roman" panose="02020603050405020304"/>
                <a:ea typeface="黑体" panose="02010609060101010101" charset="-122"/>
              </a:rPr>
              <a:t>算法从搜索树的根节点开始，</a:t>
            </a:r>
            <a:r>
              <a:rPr lang="zh-CN" altLang="zh-CN" sz="2800" dirty="0">
                <a:solidFill>
                  <a:srgbClr val="FF0000"/>
                </a:solidFill>
                <a:latin typeface="Times New Roman" panose="02020603050405020304"/>
                <a:ea typeface="黑体" panose="02010609060101010101" charset="-122"/>
              </a:rPr>
              <a:t>向下递归选择</a:t>
            </a:r>
            <a:r>
              <a:rPr lang="zh-CN" altLang="zh-CN" sz="2800" dirty="0">
                <a:solidFill>
                  <a:prstClr val="black"/>
                </a:solidFill>
                <a:latin typeface="Times New Roman" panose="02020603050405020304"/>
                <a:ea typeface="黑体" panose="02010609060101010101" charset="-122"/>
              </a:rPr>
              <a:t>子节点，直至到达叶子节点或者到达具有还未被扩展过的子节点的节点</a:t>
            </a:r>
            <a:r>
              <a:rPr lang="en-US" altLang="zh-CN" sz="2800" i="1" dirty="0">
                <a:solidFill>
                  <a:prstClr val="black"/>
                </a:solidFill>
                <a:latin typeface="Times New Roman" panose="02020603050405020304"/>
                <a:ea typeface="黑体" panose="02010609060101010101" charset="-122"/>
              </a:rPr>
              <a:t>L</a:t>
            </a:r>
            <a:r>
              <a:rPr lang="zh-CN" altLang="zh-CN" sz="2800" dirty="0">
                <a:solidFill>
                  <a:prstClr val="black"/>
                </a:solidFill>
                <a:latin typeface="Times New Roman" panose="02020603050405020304"/>
                <a:ea typeface="黑体" panose="02010609060101010101" charset="-122"/>
              </a:rPr>
              <a:t>。</a:t>
            </a:r>
            <a:endParaRPr lang="en-US" altLang="zh-CN" sz="2800" dirty="0">
              <a:solidFill>
                <a:prstClr val="black"/>
              </a:solidFill>
              <a:latin typeface="Times New Roman" panose="02020603050405020304"/>
              <a:ea typeface="黑体" panose="02010609060101010101" charset="-122"/>
            </a:endParaRPr>
          </a:p>
          <a:p>
            <a:pPr marL="457200" indent="-274955" algn="just">
              <a:lnSpc>
                <a:spcPct val="150000"/>
              </a:lnSpc>
              <a:buFont typeface="Arial" panose="020B0604020202020204" pitchFamily="34" charset="0"/>
              <a:buChar char="•"/>
            </a:pPr>
            <a:r>
              <a:rPr lang="zh-CN" altLang="zh-CN" sz="2800" dirty="0">
                <a:solidFill>
                  <a:prstClr val="black"/>
                </a:solidFill>
                <a:latin typeface="Times New Roman" panose="02020603050405020304"/>
                <a:ea typeface="黑体" panose="02010609060101010101" charset="-122"/>
              </a:rPr>
              <a:t>在递归选择过程中记录下每个节点被选择次数和每个节点得到的奖励均值。</a:t>
            </a:r>
            <a:endParaRPr lang="en-US" altLang="zh-CN" sz="2800" dirty="0">
              <a:solidFill>
                <a:prstClr val="black"/>
              </a:solidFill>
              <a:latin typeface="Times New Roman" panose="02020603050405020304"/>
              <a:ea typeface="黑体" panose="02010609060101010101" charset="-122"/>
            </a:endParaRPr>
          </a:p>
        </p:txBody>
      </p:sp>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959990"/>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蒙特卡洛树搜索步骤</a:t>
            </a:r>
            <a:endParaRPr lang="en-US" altLang="zh-CN" sz="3000" dirty="0">
              <a:solidFill>
                <a:prstClr val="black"/>
              </a:solidFill>
              <a:latin typeface="方正姚体" panose="02010601030101010101" pitchFamily="2" charset="-122"/>
              <a:ea typeface="方正姚体" panose="02010601030101010101" pitchFamily="2" charset="-122"/>
            </a:endParaRPr>
          </a:p>
        </p:txBody>
      </p:sp>
      <p:sp>
        <p:nvSpPr>
          <p:cNvPr id="2" name="对话气泡: 圆角矩形 1"/>
          <p:cNvSpPr/>
          <p:nvPr/>
        </p:nvSpPr>
        <p:spPr>
          <a:xfrm>
            <a:off x="5394959" y="1671284"/>
            <a:ext cx="2616591" cy="540123"/>
          </a:xfrm>
          <a:prstGeom prst="wedgeRoundRectCallout">
            <a:avLst>
              <a:gd name="adj1" fmla="val -5756"/>
              <a:gd name="adj2" fmla="val 7447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由</a:t>
            </a:r>
            <a:r>
              <a:rPr lang="en-US" altLang="zh-CN" sz="2400" dirty="0"/>
              <a:t>UCB1</a:t>
            </a:r>
            <a:r>
              <a:rPr lang="zh-CN" altLang="en-US" sz="2400" dirty="0"/>
              <a:t>算法实现</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25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up)">
                                      <p:cBhvr>
                                        <p:cTn id="14" dur="750"/>
                                        <p:tgtEl>
                                          <p:spTgt spid="5">
                                            <p:txEl>
                                              <p:pRg st="0" end="0"/>
                                            </p:txEl>
                                          </p:spTgt>
                                        </p:tgtEl>
                                      </p:cBhvr>
                                    </p:animEffect>
                                  </p:childTnLst>
                                </p:cTn>
                              </p:par>
                            </p:childTnLst>
                          </p:cTn>
                        </p:par>
                        <p:par>
                          <p:cTn id="15" fill="hold">
                            <p:stCondLst>
                              <p:cond delay="1250"/>
                            </p:stCondLst>
                            <p:childTnLst>
                              <p:par>
                                <p:cTn id="16" presetID="22" presetClass="entr" presetSubtype="1" fill="hold" nodeType="afterEffect">
                                  <p:stCondLst>
                                    <p:cond delay="50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wipe(up)">
                                      <p:cBhvr>
                                        <p:cTn id="18" dur="1000"/>
                                        <p:tgtEl>
                                          <p:spTgt spid="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25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wipe(up)">
                                      <p:cBhvr>
                                        <p:cTn id="28" dur="1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28864" y="1594614"/>
            <a:ext cx="7669548" cy="1949508"/>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zh-CN" sz="2800" dirty="0">
                <a:solidFill>
                  <a:srgbClr val="FF0000"/>
                </a:solidFill>
                <a:latin typeface="Times New Roman" panose="02020603050405020304"/>
                <a:ea typeface="黑体" panose="02010609060101010101" charset="-122"/>
              </a:rPr>
              <a:t>扩展</a:t>
            </a:r>
            <a:r>
              <a:rPr lang="en-US" altLang="zh-CN" sz="2800" dirty="0">
                <a:solidFill>
                  <a:srgbClr val="FF0000"/>
                </a:solidFill>
                <a:latin typeface="Times New Roman" panose="02020603050405020304"/>
                <a:ea typeface="黑体" panose="02010609060101010101" charset="-122"/>
              </a:rPr>
              <a:t>(expansion)</a:t>
            </a:r>
            <a:r>
              <a:rPr lang="zh-CN" altLang="zh-CN" sz="2800" dirty="0">
                <a:solidFill>
                  <a:srgbClr val="FF0000"/>
                </a:solidFill>
                <a:latin typeface="Times New Roman" panose="02020603050405020304"/>
                <a:ea typeface="黑体" panose="02010609060101010101" charset="-122"/>
              </a:rPr>
              <a:t>：</a:t>
            </a:r>
            <a:r>
              <a:rPr lang="zh-CN" altLang="zh-CN" sz="2800" dirty="0">
                <a:solidFill>
                  <a:prstClr val="black"/>
                </a:solidFill>
                <a:latin typeface="Times New Roman" panose="02020603050405020304"/>
                <a:ea typeface="黑体" panose="02010609060101010101" charset="-122"/>
              </a:rPr>
              <a:t>如果节点</a:t>
            </a:r>
            <a:r>
              <a:rPr lang="en-US" altLang="zh-CN" sz="2800" i="1" dirty="0">
                <a:solidFill>
                  <a:prstClr val="black"/>
                </a:solidFill>
                <a:latin typeface="Times New Roman" panose="02020603050405020304"/>
                <a:ea typeface="黑体" panose="02010609060101010101" charset="-122"/>
              </a:rPr>
              <a:t>L</a:t>
            </a:r>
            <a:r>
              <a:rPr lang="zh-CN" altLang="zh-CN" sz="2800" dirty="0">
                <a:solidFill>
                  <a:prstClr val="black"/>
                </a:solidFill>
                <a:latin typeface="Times New Roman" panose="02020603050405020304"/>
                <a:ea typeface="黑体" panose="02010609060101010101" charset="-122"/>
              </a:rPr>
              <a:t>不是一个终止节点（或对抗搜索的终局节点），则随机扩展它的一个未被扩展过的后继边缘节点</a:t>
            </a:r>
            <a:r>
              <a:rPr lang="en-US" altLang="zh-CN" sz="2800" i="1" dirty="0">
                <a:solidFill>
                  <a:prstClr val="black"/>
                </a:solidFill>
                <a:latin typeface="Times New Roman" panose="02020603050405020304"/>
                <a:ea typeface="黑体" panose="02010609060101010101" charset="-122"/>
              </a:rPr>
              <a:t>M</a:t>
            </a:r>
            <a:r>
              <a:rPr lang="zh-CN" altLang="zh-CN" sz="2800" dirty="0">
                <a:solidFill>
                  <a:prstClr val="black"/>
                </a:solidFill>
                <a:latin typeface="Times New Roman" panose="02020603050405020304"/>
                <a:ea typeface="黑体" panose="02010609060101010101" charset="-122"/>
              </a:rPr>
              <a:t>。</a:t>
            </a:r>
            <a:endParaRPr lang="en-US" altLang="zh-CN" sz="2800" dirty="0">
              <a:solidFill>
                <a:prstClr val="black"/>
              </a:solidFill>
              <a:latin typeface="Times New Roman" panose="02020603050405020304"/>
              <a:ea typeface="黑体" panose="02010609060101010101" charset="-122"/>
            </a:endParaRPr>
          </a:p>
        </p:txBody>
      </p:sp>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959990"/>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蒙特卡洛树搜索步骤</a:t>
            </a:r>
            <a:endParaRPr lang="en-US" altLang="zh-CN" sz="3000" dirty="0">
              <a:solidFill>
                <a:prstClr val="black"/>
              </a:solidFill>
              <a:latin typeface="方正姚体" panose="02010601030101010101" pitchFamily="2" charset="-122"/>
              <a:ea typeface="方正姚体" panose="02010601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28864" y="1594614"/>
            <a:ext cx="7809208" cy="2595839"/>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zh-CN" sz="2800" dirty="0">
                <a:solidFill>
                  <a:srgbClr val="FF0000"/>
                </a:solidFill>
                <a:latin typeface="Times New Roman" panose="02020603050405020304"/>
                <a:ea typeface="黑体" panose="02010609060101010101" charset="-122"/>
              </a:rPr>
              <a:t>模拟</a:t>
            </a:r>
            <a:r>
              <a:rPr lang="en-US" altLang="zh-CN" sz="2800" dirty="0">
                <a:solidFill>
                  <a:srgbClr val="FF0000"/>
                </a:solidFill>
                <a:latin typeface="Times New Roman" panose="02020603050405020304"/>
                <a:ea typeface="黑体" panose="02010609060101010101" charset="-122"/>
              </a:rPr>
              <a:t>(simulation)</a:t>
            </a:r>
            <a:r>
              <a:rPr lang="zh-CN" altLang="zh-CN" sz="2800" dirty="0">
                <a:solidFill>
                  <a:srgbClr val="FF0000"/>
                </a:solidFill>
                <a:latin typeface="Times New Roman" panose="02020603050405020304"/>
                <a:ea typeface="黑体" panose="02010609060101010101" charset="-122"/>
              </a:rPr>
              <a:t>：</a:t>
            </a:r>
            <a:r>
              <a:rPr lang="zh-CN" altLang="zh-CN" sz="2800" dirty="0">
                <a:solidFill>
                  <a:prstClr val="black"/>
                </a:solidFill>
                <a:latin typeface="Times New Roman" panose="02020603050405020304"/>
                <a:ea typeface="黑体" panose="02010609060101010101" charset="-122"/>
              </a:rPr>
              <a:t>从节点</a:t>
            </a:r>
            <a:r>
              <a:rPr lang="en-US" altLang="zh-CN" sz="2800" i="1" dirty="0">
                <a:solidFill>
                  <a:prstClr val="black"/>
                </a:solidFill>
                <a:latin typeface="Times New Roman" panose="02020603050405020304"/>
                <a:ea typeface="黑体" panose="02010609060101010101" charset="-122"/>
              </a:rPr>
              <a:t>M</a:t>
            </a:r>
            <a:r>
              <a:rPr lang="zh-CN" altLang="zh-CN" sz="2800" dirty="0">
                <a:solidFill>
                  <a:prstClr val="black"/>
                </a:solidFill>
                <a:latin typeface="Times New Roman" panose="02020603050405020304"/>
                <a:ea typeface="黑体" panose="02010609060101010101" charset="-122"/>
              </a:rPr>
              <a:t>出发，</a:t>
            </a:r>
            <a:r>
              <a:rPr lang="zh-CN" altLang="zh-CN" sz="2800" dirty="0">
                <a:solidFill>
                  <a:srgbClr val="FF0000"/>
                </a:solidFill>
                <a:latin typeface="Times New Roman" panose="02020603050405020304"/>
                <a:ea typeface="黑体" panose="02010609060101010101" charset="-122"/>
              </a:rPr>
              <a:t>模拟扩展</a:t>
            </a:r>
            <a:r>
              <a:rPr lang="zh-CN" altLang="zh-CN" sz="2800" dirty="0">
                <a:solidFill>
                  <a:prstClr val="black"/>
                </a:solidFill>
                <a:latin typeface="Times New Roman" panose="02020603050405020304"/>
                <a:ea typeface="黑体" panose="02010609060101010101" charset="-122"/>
              </a:rPr>
              <a:t>搜索树，直到找到一个终止节点。</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50000"/>
              </a:lnSpc>
              <a:buFont typeface="Wingdings" panose="05000000000000000000" pitchFamily="2" charset="2"/>
              <a:buChar char="Ø"/>
            </a:pPr>
            <a:r>
              <a:rPr lang="zh-CN" altLang="zh-CN" sz="2800" dirty="0">
                <a:solidFill>
                  <a:prstClr val="black"/>
                </a:solidFill>
                <a:latin typeface="Times New Roman" panose="02020603050405020304"/>
                <a:ea typeface="黑体" panose="02010609060101010101" charset="-122"/>
              </a:rPr>
              <a:t>模拟过程通常使用比较简单的策略，例如</a:t>
            </a:r>
            <a:r>
              <a:rPr lang="zh-CN" altLang="zh-CN" sz="2800" dirty="0">
                <a:solidFill>
                  <a:srgbClr val="FF0000"/>
                </a:solidFill>
                <a:latin typeface="Times New Roman" panose="02020603050405020304"/>
                <a:ea typeface="黑体" panose="02010609060101010101" charset="-122"/>
              </a:rPr>
              <a:t>随机策略</a:t>
            </a:r>
            <a:r>
              <a:rPr lang="zh-CN" altLang="zh-CN" sz="2800" dirty="0">
                <a:solidFill>
                  <a:prstClr val="black"/>
                </a:solidFill>
                <a:latin typeface="Times New Roman" panose="02020603050405020304"/>
                <a:ea typeface="黑体" panose="02010609060101010101" charset="-122"/>
              </a:rPr>
              <a:t>。</a:t>
            </a:r>
            <a:endParaRPr lang="en-US" altLang="zh-CN" sz="2800" dirty="0">
              <a:solidFill>
                <a:prstClr val="black"/>
              </a:solidFill>
              <a:latin typeface="Times New Roman" panose="02020603050405020304"/>
              <a:ea typeface="黑体" panose="02010609060101010101" charset="-122"/>
            </a:endParaRPr>
          </a:p>
        </p:txBody>
      </p:sp>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959990"/>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蒙特卡洛树搜索步骤</a:t>
            </a:r>
            <a:endParaRPr lang="en-US" altLang="zh-CN" sz="3000" dirty="0">
              <a:solidFill>
                <a:prstClr val="black"/>
              </a:solidFill>
              <a:latin typeface="方正姚体" panose="02010601030101010101" pitchFamily="2" charset="-122"/>
              <a:ea typeface="方正姚体" panose="02010601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28864" y="1594616"/>
            <a:ext cx="7809208" cy="2595839"/>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zh-CN" sz="2800" dirty="0">
                <a:solidFill>
                  <a:srgbClr val="FF0000"/>
                </a:solidFill>
                <a:latin typeface="Times New Roman" panose="02020603050405020304"/>
                <a:ea typeface="黑体" panose="02010609060101010101" charset="-122"/>
              </a:rPr>
              <a:t>反向传播（</a:t>
            </a:r>
            <a:r>
              <a:rPr lang="en-US" altLang="zh-CN" sz="2800" dirty="0">
                <a:solidFill>
                  <a:srgbClr val="FF0000"/>
                </a:solidFill>
                <a:latin typeface="Times New Roman" panose="02020603050405020304"/>
                <a:ea typeface="黑体" panose="02010609060101010101" charset="-122"/>
              </a:rPr>
              <a:t>Back Propagation</a:t>
            </a:r>
            <a:r>
              <a:rPr lang="zh-CN" altLang="zh-CN" sz="2800" dirty="0">
                <a:solidFill>
                  <a:srgbClr val="FF0000"/>
                </a:solidFill>
                <a:latin typeface="Times New Roman" panose="02020603050405020304"/>
                <a:ea typeface="黑体" panose="02010609060101010101" charset="-122"/>
              </a:rPr>
              <a:t>）：</a:t>
            </a:r>
            <a:r>
              <a:rPr lang="zh-CN" altLang="zh-CN" sz="2800" dirty="0">
                <a:solidFill>
                  <a:prstClr val="black"/>
                </a:solidFill>
                <a:latin typeface="Times New Roman" panose="02020603050405020304"/>
                <a:ea typeface="黑体" panose="02010609060101010101" charset="-122"/>
              </a:rPr>
              <a:t>用模拟所得结果（终止节点的代价或游戏终局分数）回溯更新模拟路径中</a:t>
            </a:r>
            <a:r>
              <a:rPr lang="en-US" altLang="zh-CN" sz="2800" dirty="0">
                <a:solidFill>
                  <a:prstClr val="black"/>
                </a:solidFill>
                <a:latin typeface="Times New Roman" panose="02020603050405020304"/>
                <a:ea typeface="黑体" panose="02010609060101010101" charset="-122"/>
              </a:rPr>
              <a:t>M</a:t>
            </a:r>
            <a:r>
              <a:rPr lang="zh-CN" altLang="zh-CN" sz="2800" dirty="0">
                <a:solidFill>
                  <a:prstClr val="black"/>
                </a:solidFill>
                <a:latin typeface="Times New Roman" panose="02020603050405020304"/>
                <a:ea typeface="黑体" panose="02010609060101010101" charset="-122"/>
              </a:rPr>
              <a:t>以上（含</a:t>
            </a:r>
            <a:r>
              <a:rPr lang="en-US" altLang="zh-CN" sz="2800" dirty="0">
                <a:solidFill>
                  <a:prstClr val="black"/>
                </a:solidFill>
                <a:latin typeface="Times New Roman" panose="02020603050405020304"/>
                <a:ea typeface="黑体" panose="02010609060101010101" charset="-122"/>
              </a:rPr>
              <a:t>M</a:t>
            </a:r>
            <a:r>
              <a:rPr lang="zh-CN" altLang="zh-CN" sz="2800" dirty="0">
                <a:solidFill>
                  <a:prstClr val="black"/>
                </a:solidFill>
                <a:latin typeface="Times New Roman" panose="02020603050405020304"/>
                <a:ea typeface="黑体" panose="02010609060101010101" charset="-122"/>
              </a:rPr>
              <a:t>）节点的奖励均值和被访问次数。</a:t>
            </a:r>
            <a:endParaRPr lang="zh-CN" altLang="zh-CN" sz="2800" dirty="0">
              <a:solidFill>
                <a:prstClr val="black"/>
              </a:solidFill>
              <a:latin typeface="Times New Roman" panose="02020603050405020304"/>
              <a:ea typeface="黑体" panose="02010609060101010101" charset="-122"/>
            </a:endParaRPr>
          </a:p>
        </p:txBody>
      </p:sp>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94919" y="959990"/>
            <a:ext cx="7943161" cy="565348"/>
          </a:xfrm>
          <a:prstGeom prst="rect">
            <a:avLst/>
          </a:prstGeom>
        </p:spPr>
        <p:txBody>
          <a:bodyPr wrap="square">
            <a:spAutoFit/>
          </a:bodyPr>
          <a:lstStyle/>
          <a:p>
            <a:pPr algn="just">
              <a:lnSpc>
                <a:spcPct val="120000"/>
              </a:lnSpc>
            </a:pPr>
            <a:r>
              <a:rPr lang="zh-CN" altLang="en-US" sz="3000" dirty="0">
                <a:solidFill>
                  <a:srgbClr val="FF0000"/>
                </a:solidFill>
                <a:latin typeface="方正姚体" panose="02010601030101010101" pitchFamily="2" charset="-122"/>
                <a:ea typeface="方正姚体" panose="02010601030101010101" pitchFamily="2" charset="-122"/>
              </a:rPr>
              <a:t>蒙特卡洛树搜索步骤</a:t>
            </a:r>
            <a:endParaRPr lang="en-US" altLang="zh-CN" sz="3000" dirty="0">
              <a:solidFill>
                <a:prstClr val="black"/>
              </a:solidFill>
              <a:latin typeface="方正姚体" panose="02010601030101010101" pitchFamily="2" charset="-122"/>
              <a:ea typeface="方正姚体" panose="02010601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rotWithShape="1">
          <a:blip r:embed="rId1"/>
          <a:srcRect r="54443"/>
          <a:stretch>
            <a:fillRect/>
          </a:stretch>
        </p:blipFill>
        <p:spPr>
          <a:xfrm>
            <a:off x="731521" y="3826183"/>
            <a:ext cx="2709894" cy="2871824"/>
          </a:xfrm>
          <a:prstGeom prst="rect">
            <a:avLst/>
          </a:prstGeom>
        </p:spPr>
      </p:pic>
      <p:pic>
        <p:nvPicPr>
          <p:cNvPr id="4" name="图片 3"/>
          <p:cNvPicPr/>
          <p:nvPr/>
        </p:nvPicPr>
        <p:blipFill rotWithShape="1">
          <a:blip r:embed="rId2"/>
          <a:srcRect r="61344"/>
          <a:stretch>
            <a:fillRect/>
          </a:stretch>
        </p:blipFill>
        <p:spPr>
          <a:xfrm>
            <a:off x="731521" y="814044"/>
            <a:ext cx="2709894" cy="2871824"/>
          </a:xfrm>
          <a:prstGeom prst="rect">
            <a:avLst/>
          </a:prstGeom>
        </p:spPr>
      </p:pic>
      <p:sp>
        <p:nvSpPr>
          <p:cNvPr id="7"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2" name="图片 1"/>
          <p:cNvPicPr/>
          <p:nvPr/>
        </p:nvPicPr>
        <p:blipFill rotWithShape="1">
          <a:blip r:embed="rId1"/>
          <a:srcRect l="50363"/>
          <a:stretch>
            <a:fillRect/>
          </a:stretch>
        </p:blipFill>
        <p:spPr>
          <a:xfrm>
            <a:off x="4621237" y="3797818"/>
            <a:ext cx="2952613" cy="2871824"/>
          </a:xfrm>
          <a:prstGeom prst="rect">
            <a:avLst/>
          </a:prstGeom>
        </p:spPr>
      </p:pic>
      <p:pic>
        <p:nvPicPr>
          <p:cNvPr id="3" name="图片 2"/>
          <p:cNvPicPr/>
          <p:nvPr/>
        </p:nvPicPr>
        <p:blipFill rotWithShape="1">
          <a:blip r:embed="rId2"/>
          <a:srcRect l="39779"/>
          <a:stretch>
            <a:fillRect/>
          </a:stretch>
        </p:blipFill>
        <p:spPr>
          <a:xfrm>
            <a:off x="4072812" y="814044"/>
            <a:ext cx="3896325" cy="28718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rotWithShape="1">
          <a:blip r:embed="rId1"/>
          <a:srcRect t="1" r="69359" b="39574"/>
          <a:stretch>
            <a:fillRect/>
          </a:stretch>
        </p:blipFill>
        <p:spPr>
          <a:xfrm>
            <a:off x="793216" y="948132"/>
            <a:ext cx="2421251" cy="2118626"/>
          </a:xfrm>
          <a:prstGeom prst="rect">
            <a:avLst/>
          </a:prstGeom>
        </p:spPr>
      </p:pic>
      <mc:AlternateContent xmlns:mc="http://schemas.openxmlformats.org/markup-compatibility/2006">
        <mc:Choice xmlns:a14="http://schemas.microsoft.com/office/drawing/2010/main" Requires="a14">
          <p:sp>
            <p:nvSpPr>
              <p:cNvPr id="2" name="矩形 1"/>
              <p:cNvSpPr/>
              <p:nvPr/>
            </p:nvSpPr>
            <p:spPr>
              <a:xfrm>
                <a:off x="536863" y="3066758"/>
                <a:ext cx="8070273" cy="3487943"/>
              </a:xfrm>
              <a:prstGeom prst="rect">
                <a:avLst/>
              </a:prstGeom>
            </p:spPr>
            <p:txBody>
              <a:bodyPr wrap="square">
                <a:spAutoFit/>
              </a:bodyPr>
              <a:lstStyle/>
              <a:p>
                <a:pPr algn="just">
                  <a:lnSpc>
                    <a:spcPct val="150000"/>
                  </a:lnSpc>
                </a:pPr>
                <a:r>
                  <a:rPr lang="zh-CN" altLang="zh-CN" sz="2400" dirty="0">
                    <a:solidFill>
                      <a:prstClr val="black"/>
                    </a:solidFill>
                    <a:latin typeface="Times New Roman" panose="02020603050405020304"/>
                    <a:ea typeface="黑体" panose="02010609060101010101" charset="-122"/>
                  </a:rPr>
                  <a:t>计算第二层节点的</a:t>
                </a:r>
                <a:r>
                  <a:rPr lang="en-US" altLang="zh-CN" sz="2400" dirty="0">
                    <a:solidFill>
                      <a:prstClr val="black"/>
                    </a:solidFill>
                    <a:latin typeface="Times New Roman" panose="02020603050405020304"/>
                    <a:ea typeface="黑体" panose="02010609060101010101" charset="-122"/>
                  </a:rPr>
                  <a:t>UCB</a:t>
                </a:r>
                <a:r>
                  <a:rPr lang="zh-CN" altLang="zh-CN" sz="2400" dirty="0">
                    <a:solidFill>
                      <a:prstClr val="black"/>
                    </a:solidFill>
                    <a:latin typeface="Times New Roman" panose="02020603050405020304"/>
                    <a:ea typeface="黑体" panose="02010609060101010101" charset="-122"/>
                  </a:rPr>
                  <a:t>值：</a:t>
                </a:r>
                <a:endParaRPr lang="en-US" altLang="zh-CN" sz="2400" dirty="0">
                  <a:solidFill>
                    <a:prstClr val="black"/>
                  </a:solidFill>
                  <a:latin typeface="Times New Roman" panose="02020603050405020304"/>
                  <a:ea typeface="黑体" panose="02010609060101010101" charset="-122"/>
                </a:endParaRPr>
              </a:p>
              <a:p>
                <a:pPr marL="342900" indent="-342900" algn="just">
                  <a:lnSpc>
                    <a:spcPct val="120000"/>
                  </a:lnSpc>
                  <a:buFont typeface="Arial" panose="020B0604020202020204" pitchFamily="34" charset="0"/>
                  <a:buChar char="•"/>
                </a:pPr>
                <a:r>
                  <a:rPr lang="zh-CN" altLang="zh-CN" sz="2400" dirty="0">
                    <a:solidFill>
                      <a:prstClr val="black"/>
                    </a:solidFill>
                    <a:latin typeface="Times New Roman" panose="02020603050405020304"/>
                    <a:ea typeface="黑体" panose="02010609060101010101" charset="-122"/>
                  </a:rPr>
                  <a:t>左侧节点为</a:t>
                </a:r>
                <a14:m>
                  <m:oMath xmlns:m="http://schemas.openxmlformats.org/officeDocument/2006/math">
                    <m:f>
                      <m:fPr>
                        <m:ctrlPr>
                          <a:rPr lang="zh-CN"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a:rPr>
                          <m:t>10</m:t>
                        </m:r>
                      </m:num>
                      <m:den>
                        <m:r>
                          <a:rPr lang="en-US" altLang="zh-CN" sz="2400" i="1">
                            <a:solidFill>
                              <a:prstClr val="black"/>
                            </a:solidFill>
                            <a:latin typeface="Cambria Math" panose="02040503050406030204"/>
                          </a:rPr>
                          <m:t>1</m:t>
                        </m:r>
                      </m:den>
                    </m:f>
                    <m:r>
                      <a:rPr lang="en-US" altLang="zh-CN" sz="2400" i="1">
                        <a:solidFill>
                          <a:prstClr val="black"/>
                        </a:solidFill>
                        <a:latin typeface="Cambria Math" panose="02040503050406030204"/>
                      </a:rPr>
                      <m:t>+</m:t>
                    </m:r>
                    <m:rad>
                      <m:radPr>
                        <m:degHide m:val="on"/>
                        <m:ctrlPr>
                          <a:rPr lang="zh-CN" altLang="zh-CN" sz="2400" i="1">
                            <a:solidFill>
                              <a:prstClr val="black"/>
                            </a:solidFill>
                            <a:latin typeface="Cambria Math" panose="02040503050406030204" pitchFamily="18" charset="0"/>
                          </a:rPr>
                        </m:ctrlPr>
                      </m:radPr>
                      <m:deg/>
                      <m:e>
                        <m:f>
                          <m:fPr>
                            <m:ctrlPr>
                              <a:rPr lang="zh-CN"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a:rPr>
                              <m:t>2</m:t>
                            </m:r>
                            <m:func>
                              <m:funcPr>
                                <m:ctrlPr>
                                  <a:rPr lang="zh-CN" altLang="zh-CN" sz="2400" i="1">
                                    <a:solidFill>
                                      <a:prstClr val="black"/>
                                    </a:solidFill>
                                    <a:latin typeface="Cambria Math" panose="02040503050406030204" pitchFamily="18" charset="0"/>
                                  </a:rPr>
                                </m:ctrlPr>
                              </m:funcPr>
                              <m:fName>
                                <m:r>
                                  <m:rPr>
                                    <m:sty m:val="p"/>
                                  </m:rPr>
                                  <a:rPr lang="en-US" altLang="zh-CN" sz="2400">
                                    <a:solidFill>
                                      <a:prstClr val="black"/>
                                    </a:solidFill>
                                    <a:latin typeface="Cambria Math" panose="02040503050406030204"/>
                                  </a:rPr>
                                  <m:t>ln</m:t>
                                </m:r>
                              </m:fName>
                              <m:e>
                                <m:r>
                                  <a:rPr lang="en-US" altLang="zh-CN" sz="2400" i="1">
                                    <a:solidFill>
                                      <a:prstClr val="black"/>
                                    </a:solidFill>
                                    <a:latin typeface="Cambria Math" panose="02040503050406030204"/>
                                  </a:rPr>
                                  <m:t>2</m:t>
                                </m:r>
                              </m:e>
                            </m:func>
                          </m:num>
                          <m:den>
                            <m:r>
                              <a:rPr lang="en-US" altLang="zh-CN" sz="2400" i="1">
                                <a:solidFill>
                                  <a:prstClr val="black"/>
                                </a:solidFill>
                                <a:latin typeface="Cambria Math" panose="02040503050406030204"/>
                              </a:rPr>
                              <m:t>1</m:t>
                            </m:r>
                          </m:den>
                        </m:f>
                      </m:e>
                    </m:rad>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11</m:t>
                    </m:r>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18</m:t>
                    </m:r>
                  </m:oMath>
                </a14:m>
                <a:endParaRPr lang="en-US" altLang="zh-CN" sz="2400" dirty="0">
                  <a:solidFill>
                    <a:prstClr val="black"/>
                  </a:solidFill>
                  <a:latin typeface="Times New Roman" panose="02020603050405020304"/>
                  <a:ea typeface="黑体" panose="02010609060101010101" charset="-122"/>
                </a:endParaRPr>
              </a:p>
              <a:p>
                <a:pPr marL="342900" indent="-342900" algn="just">
                  <a:lnSpc>
                    <a:spcPct val="120000"/>
                  </a:lnSpc>
                  <a:buFont typeface="Arial" panose="020B0604020202020204" pitchFamily="34" charset="0"/>
                  <a:buChar char="•"/>
                </a:pPr>
                <a:r>
                  <a:rPr lang="zh-CN" altLang="zh-CN" sz="2400" dirty="0">
                    <a:solidFill>
                      <a:prstClr val="black"/>
                    </a:solidFill>
                    <a:latin typeface="Times New Roman" panose="02020603050405020304"/>
                    <a:ea typeface="黑体" panose="02010609060101010101" charset="-122"/>
                  </a:rPr>
                  <a:t>右侧节点为</a:t>
                </a:r>
                <a14:m>
                  <m:oMath xmlns:m="http://schemas.openxmlformats.org/officeDocument/2006/math">
                    <m:f>
                      <m:fPr>
                        <m:ctrlPr>
                          <a:rPr lang="zh-CN"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a:rPr>
                          <m:t>5</m:t>
                        </m:r>
                      </m:num>
                      <m:den>
                        <m:r>
                          <a:rPr lang="en-US" altLang="zh-CN" sz="2400" i="1">
                            <a:solidFill>
                              <a:prstClr val="black"/>
                            </a:solidFill>
                            <a:latin typeface="Cambria Math" panose="02040503050406030204"/>
                          </a:rPr>
                          <m:t>1</m:t>
                        </m:r>
                      </m:den>
                    </m:f>
                    <m:r>
                      <a:rPr lang="en-US" altLang="zh-CN" sz="2400" i="1">
                        <a:solidFill>
                          <a:prstClr val="black"/>
                        </a:solidFill>
                        <a:latin typeface="Cambria Math" panose="02040503050406030204"/>
                      </a:rPr>
                      <m:t>+</m:t>
                    </m:r>
                    <m:rad>
                      <m:radPr>
                        <m:degHide m:val="on"/>
                        <m:ctrlPr>
                          <a:rPr lang="zh-CN" altLang="zh-CN" sz="2400" i="1">
                            <a:solidFill>
                              <a:prstClr val="black"/>
                            </a:solidFill>
                            <a:latin typeface="Cambria Math" panose="02040503050406030204" pitchFamily="18" charset="0"/>
                          </a:rPr>
                        </m:ctrlPr>
                      </m:radPr>
                      <m:deg/>
                      <m:e>
                        <m:f>
                          <m:fPr>
                            <m:ctrlPr>
                              <a:rPr lang="zh-CN"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a:rPr>
                              <m:t>2</m:t>
                            </m:r>
                            <m:func>
                              <m:funcPr>
                                <m:ctrlPr>
                                  <a:rPr lang="zh-CN" altLang="zh-CN" sz="2400" i="1">
                                    <a:solidFill>
                                      <a:prstClr val="black"/>
                                    </a:solidFill>
                                    <a:latin typeface="Cambria Math" panose="02040503050406030204" pitchFamily="18" charset="0"/>
                                  </a:rPr>
                                </m:ctrlPr>
                              </m:funcPr>
                              <m:fName>
                                <m:r>
                                  <m:rPr>
                                    <m:sty m:val="p"/>
                                  </m:rPr>
                                  <a:rPr lang="en-US" altLang="zh-CN" sz="2400">
                                    <a:solidFill>
                                      <a:prstClr val="black"/>
                                    </a:solidFill>
                                    <a:latin typeface="Cambria Math" panose="02040503050406030204"/>
                                  </a:rPr>
                                  <m:t>ln</m:t>
                                </m:r>
                              </m:fName>
                              <m:e>
                                <m:r>
                                  <a:rPr lang="en-US" altLang="zh-CN" sz="2400" i="1">
                                    <a:solidFill>
                                      <a:prstClr val="black"/>
                                    </a:solidFill>
                                    <a:latin typeface="Cambria Math" panose="02040503050406030204"/>
                                  </a:rPr>
                                  <m:t>2</m:t>
                                </m:r>
                              </m:e>
                            </m:func>
                          </m:num>
                          <m:den>
                            <m:r>
                              <a:rPr lang="en-US" altLang="zh-CN" sz="2400" i="1">
                                <a:solidFill>
                                  <a:prstClr val="black"/>
                                </a:solidFill>
                                <a:latin typeface="Cambria Math" panose="02040503050406030204"/>
                              </a:rPr>
                              <m:t>1</m:t>
                            </m:r>
                          </m:den>
                        </m:f>
                      </m:e>
                    </m:rad>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6</m:t>
                    </m:r>
                    <m:r>
                      <a:rPr lang="en-US" altLang="zh-CN" sz="2400" i="1">
                        <a:solidFill>
                          <a:prstClr val="black"/>
                        </a:solidFill>
                        <a:latin typeface="Cambria Math" panose="02040503050406030204"/>
                      </a:rPr>
                      <m:t>.</m:t>
                    </m:r>
                    <m:r>
                      <a:rPr lang="en-US" altLang="zh-CN" sz="2400" i="1">
                        <a:solidFill>
                          <a:prstClr val="black"/>
                        </a:solidFill>
                        <a:latin typeface="Cambria Math" panose="02040503050406030204"/>
                      </a:rPr>
                      <m:t>18</m:t>
                    </m:r>
                  </m:oMath>
                </a14:m>
                <a:endParaRPr lang="en-US" altLang="zh-CN" sz="2400" dirty="0">
                  <a:solidFill>
                    <a:prstClr val="black"/>
                  </a:solidFill>
                  <a:latin typeface="Times New Roman" panose="02020603050405020304"/>
                  <a:ea typeface="黑体" panose="02010609060101010101" charset="-122"/>
                </a:endParaRPr>
              </a:p>
              <a:p>
                <a:pPr marL="342900" indent="-342900" algn="just">
                  <a:lnSpc>
                    <a:spcPct val="150000"/>
                  </a:lnSpc>
                  <a:buFont typeface="Arial" panose="020B0604020202020204" pitchFamily="34" charset="0"/>
                  <a:buChar char="•"/>
                </a:pPr>
                <a:r>
                  <a:rPr lang="zh-CN" altLang="zh-CN" sz="2400" dirty="0">
                    <a:solidFill>
                      <a:prstClr val="black"/>
                    </a:solidFill>
                    <a:latin typeface="Times New Roman" panose="02020603050405020304"/>
                    <a:ea typeface="黑体" panose="02010609060101010101" charset="-122"/>
                  </a:rPr>
                  <a:t>算法选择第二层左侧节点</a:t>
                </a:r>
                <a:r>
                  <a:rPr lang="en-US" altLang="zh-CN" sz="2400" i="1" dirty="0">
                    <a:solidFill>
                      <a:prstClr val="black"/>
                    </a:solidFill>
                    <a:latin typeface="Times New Roman" panose="02020603050405020304"/>
                    <a:ea typeface="黑体" panose="02010609060101010101" charset="-122"/>
                  </a:rPr>
                  <a:t>L</a:t>
                </a:r>
                <a:r>
                  <a:rPr lang="zh-CN" altLang="zh-CN" sz="2400" dirty="0">
                    <a:solidFill>
                      <a:prstClr val="black"/>
                    </a:solidFill>
                    <a:latin typeface="Times New Roman" panose="02020603050405020304"/>
                    <a:ea typeface="黑体" panose="02010609060101010101" charset="-122"/>
                  </a:rPr>
                  <a:t>，由于该节点有尚未扩展的子节点，因此选择阶段结束。</a:t>
                </a:r>
                <a:endParaRPr lang="zh-CN" altLang="en-US" sz="2400" dirty="0">
                  <a:solidFill>
                    <a:prstClr val="black"/>
                  </a:solidFill>
                  <a:latin typeface="Times New Roman" panose="02020603050405020304"/>
                  <a:ea typeface="黑体" panose="02010609060101010101" charset="-122"/>
                </a:endParaRPr>
              </a:p>
            </p:txBody>
          </p:sp>
        </mc:Choice>
        <mc:Fallback>
          <p:sp>
            <p:nvSpPr>
              <p:cNvPr id="2" name="矩形 1"/>
              <p:cNvSpPr>
                <a:spLocks noRot="1" noChangeAspect="1" noMove="1" noResize="1" noEditPoints="1" noAdjustHandles="1" noChangeArrowheads="1" noChangeShapeType="1" noTextEdit="1"/>
              </p:cNvSpPr>
              <p:nvPr/>
            </p:nvSpPr>
            <p:spPr>
              <a:xfrm>
                <a:off x="536863" y="3066758"/>
                <a:ext cx="8070273" cy="3487943"/>
              </a:xfrm>
              <a:prstGeom prst="rect">
                <a:avLst/>
              </a:prstGeom>
              <a:blipFill rotWithShape="1">
                <a:blip r:embed="rId2"/>
                <a:stretch>
                  <a:fillRect l="-4" t="-10" r="4" b="7"/>
                </a:stretch>
              </a:blipFill>
            </p:spPr>
            <p:txBody>
              <a:bodyPr/>
              <a:lstStyle/>
              <a:p>
                <a:r>
                  <a:rPr lang="zh-CN" altLang="en-US">
                    <a:noFill/>
                  </a:rPr>
                  <a:t> </a:t>
                </a:r>
              </a:p>
            </p:txBody>
          </p:sp>
        </mc:Fallback>
      </mc:AlternateContent>
      <p:sp>
        <p:nvSpPr>
          <p:cNvPr id="7"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p:cTn id="7" dur="1250" fill="hold"/>
                                        <p:tgtEl>
                                          <p:spTgt spid="5"/>
                                        </p:tgtEl>
                                        <p:attrNameLst>
                                          <p:attrName>ppt_w</p:attrName>
                                        </p:attrNameLst>
                                      </p:cBhvr>
                                      <p:tavLst>
                                        <p:tav tm="0">
                                          <p:val>
                                            <p:fltVal val="0"/>
                                          </p:val>
                                        </p:tav>
                                        <p:tav tm="100000">
                                          <p:val>
                                            <p:strVal val="#ppt_w"/>
                                          </p:val>
                                        </p:tav>
                                      </p:tavLst>
                                    </p:anim>
                                    <p:anim calcmode="lin" valueType="num">
                                      <p:cBhvr>
                                        <p:cTn id="8" dur="1250" fill="hold"/>
                                        <p:tgtEl>
                                          <p:spTgt spid="5"/>
                                        </p:tgtEl>
                                        <p:attrNameLst>
                                          <p:attrName>ppt_h</p:attrName>
                                        </p:attrNameLst>
                                      </p:cBhvr>
                                      <p:tavLst>
                                        <p:tav tm="0">
                                          <p:val>
                                            <p:fltVal val="0"/>
                                          </p:val>
                                        </p:tav>
                                        <p:tav tm="100000">
                                          <p:val>
                                            <p:strVal val="#ppt_h"/>
                                          </p:val>
                                        </p:tav>
                                      </p:tavLst>
                                    </p:anim>
                                    <p:animEffect transition="in" filter="fade">
                                      <p:cBhvr>
                                        <p:cTn id="9" dur="125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500"/>
                                        <p:tgtEl>
                                          <p:spTgt spid="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500"/>
                                        <p:tgtEl>
                                          <p:spTgt spid="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Effect transition="in" filter="fade">
                                      <p:cBhvr>
                                        <p:cTn id="24" dur="500"/>
                                        <p:tgtEl>
                                          <p:spTgt spid="2">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Effect transition="in" filter="fade">
                                      <p:cBhvr>
                                        <p:cTn id="29"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61118" y="3362946"/>
            <a:ext cx="8070273" cy="279223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zh-CN" sz="2400" dirty="0">
                <a:solidFill>
                  <a:prstClr val="black"/>
                </a:solidFill>
                <a:latin typeface="Times New Roman" panose="02020603050405020304"/>
                <a:ea typeface="黑体" panose="02010609060101010101" charset="-122"/>
              </a:rPr>
              <a:t>随机扩展</a:t>
            </a:r>
            <a:r>
              <a:rPr lang="en-US" altLang="zh-CN" sz="2400" i="1" dirty="0">
                <a:solidFill>
                  <a:prstClr val="black"/>
                </a:solidFill>
                <a:latin typeface="Times New Roman" panose="02020603050405020304"/>
                <a:ea typeface="黑体" panose="02010609060101010101" charset="-122"/>
              </a:rPr>
              <a:t>L</a:t>
            </a:r>
            <a:r>
              <a:rPr lang="zh-CN" altLang="zh-CN" sz="2400" dirty="0">
                <a:solidFill>
                  <a:prstClr val="black"/>
                </a:solidFill>
                <a:latin typeface="Times New Roman" panose="02020603050405020304"/>
                <a:ea typeface="黑体" panose="02010609060101010101" charset="-122"/>
              </a:rPr>
              <a:t>的子节点</a:t>
            </a:r>
            <a:r>
              <a:rPr lang="en-US" altLang="zh-CN" sz="2400" i="1" dirty="0">
                <a:solidFill>
                  <a:prstClr val="black"/>
                </a:solidFill>
                <a:latin typeface="Times New Roman" panose="02020603050405020304"/>
                <a:ea typeface="黑体" panose="02010609060101010101" charset="-122"/>
              </a:rPr>
              <a:t>C</a:t>
            </a:r>
            <a:r>
              <a:rPr lang="zh-CN" altLang="zh-CN" sz="2400" dirty="0">
                <a:solidFill>
                  <a:prstClr val="black"/>
                </a:solidFill>
                <a:latin typeface="Times New Roman" panose="02020603050405020304"/>
                <a:ea typeface="黑体" panose="02010609060101010101" charset="-122"/>
              </a:rPr>
              <a:t>，将其总分数和被访问次数初始化为</a:t>
            </a:r>
            <a:r>
              <a:rPr lang="en-US" altLang="zh-CN" sz="2400" dirty="0">
                <a:solidFill>
                  <a:prstClr val="black"/>
                </a:solidFill>
                <a:latin typeface="Times New Roman" panose="02020603050405020304"/>
                <a:ea typeface="黑体" panose="02010609060101010101" charset="-122"/>
              </a:rPr>
              <a:t>0</a:t>
            </a:r>
            <a:r>
              <a:rPr lang="zh-CN" altLang="zh-CN" sz="2400" dirty="0">
                <a:solidFill>
                  <a:prstClr val="black"/>
                </a:solidFill>
                <a:latin typeface="Times New Roman" panose="02020603050405020304"/>
                <a:ea typeface="黑体" panose="02010609060101010101" charset="-122"/>
              </a:rPr>
              <a:t>。</a:t>
            </a:r>
            <a:endParaRPr lang="en-US" altLang="zh-CN" sz="2400" dirty="0">
              <a:solidFill>
                <a:prstClr val="black"/>
              </a:solidFill>
              <a:latin typeface="Times New Roman" panose="02020603050405020304"/>
              <a:ea typeface="黑体" panose="02010609060101010101" charset="-122"/>
            </a:endParaRPr>
          </a:p>
          <a:p>
            <a:pPr marL="342900" indent="-342900" algn="just">
              <a:lnSpc>
                <a:spcPct val="150000"/>
              </a:lnSpc>
              <a:buFont typeface="Arial" panose="020B0604020202020204" pitchFamily="34" charset="0"/>
              <a:buChar char="•"/>
            </a:pPr>
            <a:r>
              <a:rPr lang="zh-CN" altLang="zh-CN" sz="2400" dirty="0">
                <a:solidFill>
                  <a:prstClr val="black"/>
                </a:solidFill>
                <a:latin typeface="Times New Roman" panose="02020603050405020304"/>
                <a:ea typeface="黑体" panose="02010609060101010101" charset="-122"/>
              </a:rPr>
              <a:t>为清晰展示算法选择扩展的节点，图</a:t>
            </a:r>
            <a:r>
              <a:rPr lang="en-US" altLang="zh-CN" sz="2400" dirty="0">
                <a:solidFill>
                  <a:prstClr val="black"/>
                </a:solidFill>
                <a:latin typeface="Times New Roman" panose="02020603050405020304"/>
                <a:ea typeface="黑体" panose="02010609060101010101" charset="-122"/>
              </a:rPr>
              <a:t>(b)</a:t>
            </a:r>
            <a:r>
              <a:rPr lang="zh-CN" altLang="zh-CN" sz="2400" dirty="0">
                <a:solidFill>
                  <a:prstClr val="black"/>
                </a:solidFill>
                <a:latin typeface="Times New Roman" panose="02020603050405020304"/>
                <a:ea typeface="黑体" panose="02010609060101010101" charset="-122"/>
              </a:rPr>
              <a:t>画出了</a:t>
            </a:r>
            <a:r>
              <a:rPr lang="en-US" altLang="zh-CN" sz="2400" i="1" dirty="0">
                <a:solidFill>
                  <a:prstClr val="black"/>
                </a:solidFill>
                <a:latin typeface="Times New Roman" panose="02020603050405020304"/>
                <a:ea typeface="黑体" panose="02010609060101010101" charset="-122"/>
              </a:rPr>
              <a:t>L</a:t>
            </a:r>
            <a:r>
              <a:rPr lang="zh-CN" altLang="zh-CN" sz="2400" dirty="0">
                <a:solidFill>
                  <a:prstClr val="black"/>
                </a:solidFill>
                <a:latin typeface="Times New Roman" panose="02020603050405020304"/>
                <a:ea typeface="黑体" panose="02010609060101010101" charset="-122"/>
              </a:rPr>
              <a:t>的其他未被扩展的子节点，并标记其</a:t>
            </a:r>
            <a:r>
              <a:rPr lang="en-US" altLang="zh-CN" sz="2400" dirty="0">
                <a:solidFill>
                  <a:prstClr val="black"/>
                </a:solidFill>
                <a:latin typeface="Times New Roman" panose="02020603050405020304"/>
                <a:ea typeface="黑体" panose="02010609060101010101" charset="-122"/>
              </a:rPr>
              <a:t>UCB</a:t>
            </a:r>
            <a:r>
              <a:rPr lang="zh-CN" altLang="zh-CN" sz="2400" dirty="0">
                <a:solidFill>
                  <a:prstClr val="black"/>
                </a:solidFill>
                <a:latin typeface="Times New Roman" panose="02020603050405020304"/>
                <a:ea typeface="黑体" panose="02010609060101010101" charset="-122"/>
              </a:rPr>
              <a:t>值为正无穷，表示算法下次访问到</a:t>
            </a:r>
            <a:r>
              <a:rPr lang="en-US" altLang="zh-CN" sz="2400" i="1" dirty="0">
                <a:solidFill>
                  <a:prstClr val="black"/>
                </a:solidFill>
                <a:latin typeface="Times New Roman" panose="02020603050405020304"/>
                <a:ea typeface="黑体" panose="02010609060101010101" charset="-122"/>
              </a:rPr>
              <a:t>L</a:t>
            </a:r>
            <a:r>
              <a:rPr lang="zh-CN" altLang="zh-CN" sz="2400" dirty="0">
                <a:solidFill>
                  <a:prstClr val="black"/>
                </a:solidFill>
                <a:latin typeface="Times New Roman" panose="02020603050405020304"/>
                <a:ea typeface="黑体" panose="02010609060101010101" charset="-122"/>
              </a:rPr>
              <a:t>时必然扩展这些未被扩展的节点。</a:t>
            </a:r>
            <a:endParaRPr lang="zh-CN" altLang="zh-CN" sz="2400" dirty="0">
              <a:solidFill>
                <a:prstClr val="black"/>
              </a:solidFill>
              <a:latin typeface="Times New Roman" panose="02020603050405020304"/>
              <a:ea typeface="黑体" panose="02010609060101010101" charset="-122"/>
            </a:endParaRPr>
          </a:p>
        </p:txBody>
      </p:sp>
      <p:sp>
        <p:nvSpPr>
          <p:cNvPr id="7"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6" name="图片 5"/>
          <p:cNvPicPr/>
          <p:nvPr/>
        </p:nvPicPr>
        <p:blipFill rotWithShape="1">
          <a:blip r:embed="rId1"/>
          <a:srcRect l="31102" r="45067" b="36164"/>
          <a:stretch>
            <a:fillRect/>
          </a:stretch>
        </p:blipFill>
        <p:spPr>
          <a:xfrm>
            <a:off x="4192172" y="888324"/>
            <a:ext cx="1807699" cy="2238241"/>
          </a:xfrm>
          <a:prstGeom prst="rect">
            <a:avLst/>
          </a:prstGeom>
        </p:spPr>
      </p:pic>
      <p:pic>
        <p:nvPicPr>
          <p:cNvPr id="2" name="图片 1"/>
          <p:cNvPicPr/>
          <p:nvPr/>
        </p:nvPicPr>
        <p:blipFill rotWithShape="1">
          <a:blip r:embed="rId1"/>
          <a:srcRect t="1" r="69359" b="39574"/>
          <a:stretch>
            <a:fillRect/>
          </a:stretch>
        </p:blipFill>
        <p:spPr>
          <a:xfrm>
            <a:off x="793216" y="948132"/>
            <a:ext cx="2421251" cy="2118626"/>
          </a:xfrm>
          <a:prstGeom prst="rect">
            <a:avLst/>
          </a:prstGeom>
        </p:spPr>
      </p:pic>
      <p:sp>
        <p:nvSpPr>
          <p:cNvPr id="4" name="箭头: 上 3"/>
          <p:cNvSpPr/>
          <p:nvPr/>
        </p:nvSpPr>
        <p:spPr>
          <a:xfrm rot="5400000">
            <a:off x="3305908" y="1765495"/>
            <a:ext cx="583809" cy="51347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1000"/>
                            </p:stCondLst>
                            <p:childTnLst>
                              <p:par>
                                <p:cTn id="9" presetID="22" presetClass="entr" presetSubtype="8" fill="hold"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2000"/>
                            </p:stCondLst>
                            <p:childTnLst>
                              <p:par>
                                <p:cTn id="13" presetID="10" presetClass="entr" presetSubtype="0" fill="hold" nodeType="afterEffect">
                                  <p:stCondLst>
                                    <p:cond delay="50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95748" y="4429004"/>
            <a:ext cx="7945581" cy="1130246"/>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zh-CN" altLang="zh-CN" sz="2400" dirty="0">
                <a:solidFill>
                  <a:prstClr val="black"/>
                </a:solidFill>
                <a:latin typeface="Times New Roman" panose="02020603050405020304"/>
                <a:ea typeface="黑体" panose="02010609060101010101" charset="-122"/>
              </a:rPr>
              <a:t>采用随机策略模拟游戏直至完成游戏。当游戏完成时，终局得分为</a:t>
            </a:r>
            <a:r>
              <a:rPr lang="en-US" altLang="zh-CN" sz="2400" dirty="0">
                <a:solidFill>
                  <a:prstClr val="black"/>
                </a:solidFill>
                <a:latin typeface="Times New Roman" panose="02020603050405020304"/>
                <a:ea typeface="黑体" panose="02010609060101010101" charset="-122"/>
              </a:rPr>
              <a:t>3</a:t>
            </a:r>
            <a:r>
              <a:rPr lang="zh-CN" altLang="zh-CN" sz="2400" dirty="0">
                <a:solidFill>
                  <a:prstClr val="black"/>
                </a:solidFill>
                <a:latin typeface="Times New Roman" panose="02020603050405020304"/>
                <a:ea typeface="黑体" panose="02010609060101010101" charset="-122"/>
              </a:rPr>
              <a:t>。</a:t>
            </a:r>
            <a:endParaRPr lang="zh-CN" altLang="zh-CN" sz="2400" dirty="0">
              <a:solidFill>
                <a:prstClr val="black"/>
              </a:solidFill>
              <a:latin typeface="Times New Roman" panose="02020603050405020304"/>
              <a:ea typeface="黑体" panose="02010609060101010101" charset="-122"/>
            </a:endParaRPr>
          </a:p>
        </p:txBody>
      </p:sp>
      <p:sp>
        <p:nvSpPr>
          <p:cNvPr id="7"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6" name="图片 5"/>
          <p:cNvPicPr/>
          <p:nvPr/>
        </p:nvPicPr>
        <p:blipFill rotWithShape="1">
          <a:blip r:embed="rId1"/>
          <a:srcRect r="44974" b="32955"/>
          <a:stretch>
            <a:fillRect/>
          </a:stretch>
        </p:blipFill>
        <p:spPr>
          <a:xfrm>
            <a:off x="793217" y="948131"/>
            <a:ext cx="4158612" cy="2350743"/>
          </a:xfrm>
          <a:prstGeom prst="rect">
            <a:avLst/>
          </a:prstGeom>
        </p:spPr>
      </p:pic>
      <p:pic>
        <p:nvPicPr>
          <p:cNvPr id="2" name="图片 1"/>
          <p:cNvPicPr/>
          <p:nvPr/>
        </p:nvPicPr>
        <p:blipFill rotWithShape="1">
          <a:blip r:embed="rId1"/>
          <a:srcRect l="54591" r="21676"/>
          <a:stretch>
            <a:fillRect/>
          </a:stretch>
        </p:blipFill>
        <p:spPr>
          <a:xfrm>
            <a:off x="5999872" y="764807"/>
            <a:ext cx="1793631" cy="3506220"/>
          </a:xfrm>
          <a:prstGeom prst="rect">
            <a:avLst/>
          </a:prstGeom>
        </p:spPr>
      </p:pic>
      <p:sp>
        <p:nvSpPr>
          <p:cNvPr id="4" name="箭头: 上 3"/>
          <p:cNvSpPr/>
          <p:nvPr/>
        </p:nvSpPr>
        <p:spPr>
          <a:xfrm rot="5400000">
            <a:off x="5183946" y="1866766"/>
            <a:ext cx="583809" cy="51347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1000"/>
                            </p:stCondLst>
                            <p:childTnLst>
                              <p:par>
                                <p:cTn id="9" presetID="22" presetClass="entr" presetSubtype="8" fill="hold" nodeType="afterEffect">
                                  <p:stCondLst>
                                    <p:cond delay="50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2000"/>
                            </p:stCondLst>
                            <p:childTnLst>
                              <p:par>
                                <p:cTn id="13" presetID="10" presetClass="entr" presetSubtype="0" fill="hold" grpId="0" nodeType="afterEffect">
                                  <p:stCondLst>
                                    <p:cond delay="50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6" name="图片 5"/>
          <p:cNvPicPr/>
          <p:nvPr/>
        </p:nvPicPr>
        <p:blipFill rotWithShape="1">
          <a:blip r:embed="rId1"/>
          <a:srcRect r="22452"/>
          <a:stretch>
            <a:fillRect/>
          </a:stretch>
        </p:blipFill>
        <p:spPr>
          <a:xfrm>
            <a:off x="328984" y="922008"/>
            <a:ext cx="5860802" cy="3506220"/>
          </a:xfrm>
          <a:prstGeom prst="rect">
            <a:avLst/>
          </a:prstGeom>
        </p:spPr>
      </p:pic>
      <p:sp>
        <p:nvSpPr>
          <p:cNvPr id="2" name="矩形 1"/>
          <p:cNvSpPr/>
          <p:nvPr/>
        </p:nvSpPr>
        <p:spPr>
          <a:xfrm>
            <a:off x="705418" y="4437716"/>
            <a:ext cx="7733164" cy="234224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sz="2000" i="1" dirty="0">
                <a:solidFill>
                  <a:prstClr val="black"/>
                </a:solidFill>
                <a:latin typeface="Times New Roman" panose="02020603050405020304"/>
                <a:ea typeface="黑体" panose="02010609060101010101" charset="-122"/>
              </a:rPr>
              <a:t>C</a:t>
            </a:r>
            <a:r>
              <a:rPr lang="zh-CN" altLang="zh-CN" sz="2000" dirty="0">
                <a:solidFill>
                  <a:prstClr val="black"/>
                </a:solidFill>
                <a:latin typeface="Times New Roman" panose="02020603050405020304"/>
                <a:ea typeface="黑体" panose="02010609060101010101" charset="-122"/>
              </a:rPr>
              <a:t>节点的总分更新为</a:t>
            </a:r>
            <a:r>
              <a:rPr lang="en-US" altLang="zh-CN" sz="2000" dirty="0">
                <a:solidFill>
                  <a:prstClr val="black"/>
                </a:solidFill>
                <a:latin typeface="Times New Roman" panose="02020603050405020304"/>
                <a:ea typeface="黑体" panose="02010609060101010101" charset="-122"/>
              </a:rPr>
              <a:t>-3</a:t>
            </a:r>
            <a:r>
              <a:rPr lang="zh-CN" altLang="zh-CN" sz="2000" dirty="0">
                <a:solidFill>
                  <a:prstClr val="black"/>
                </a:solidFill>
                <a:latin typeface="Times New Roman" panose="02020603050405020304"/>
                <a:ea typeface="黑体" panose="02010609060101010101" charset="-122"/>
              </a:rPr>
              <a:t>，被访问次数更新为</a:t>
            </a:r>
            <a:r>
              <a:rPr lang="en-US" altLang="zh-CN" sz="2000" dirty="0">
                <a:solidFill>
                  <a:prstClr val="black"/>
                </a:solidFill>
                <a:latin typeface="Times New Roman" panose="02020603050405020304"/>
                <a:ea typeface="黑体" panose="02010609060101010101" charset="-122"/>
              </a:rPr>
              <a:t>1</a:t>
            </a:r>
            <a:r>
              <a:rPr lang="zh-CN" altLang="zh-CN" sz="2000" dirty="0">
                <a:solidFill>
                  <a:prstClr val="black"/>
                </a:solidFill>
                <a:latin typeface="Times New Roman" panose="02020603050405020304"/>
                <a:ea typeface="黑体" panose="02010609060101010101" charset="-122"/>
              </a:rPr>
              <a:t>；</a:t>
            </a:r>
            <a:endParaRPr lang="en-US" altLang="zh-CN" sz="2000" dirty="0">
              <a:solidFill>
                <a:prstClr val="black"/>
              </a:solidFill>
              <a:latin typeface="Times New Roman" panose="02020603050405020304"/>
              <a:ea typeface="黑体" panose="02010609060101010101" charset="-122"/>
            </a:endParaRPr>
          </a:p>
          <a:p>
            <a:pPr marL="342900" indent="-342900" algn="just">
              <a:lnSpc>
                <a:spcPct val="150000"/>
              </a:lnSpc>
              <a:buFont typeface="Arial" panose="020B0604020202020204" pitchFamily="34" charset="0"/>
              <a:buChar char="•"/>
            </a:pPr>
            <a:r>
              <a:rPr lang="en-US" altLang="zh-CN" sz="2000" i="1" dirty="0">
                <a:solidFill>
                  <a:prstClr val="black"/>
                </a:solidFill>
                <a:latin typeface="Times New Roman" panose="02020603050405020304"/>
                <a:ea typeface="黑体" panose="02010609060101010101" charset="-122"/>
              </a:rPr>
              <a:t>L</a:t>
            </a:r>
            <a:r>
              <a:rPr lang="zh-CN" altLang="zh-CN" sz="2000" dirty="0">
                <a:solidFill>
                  <a:prstClr val="black"/>
                </a:solidFill>
                <a:latin typeface="Times New Roman" panose="02020603050405020304"/>
                <a:ea typeface="黑体" panose="02010609060101010101" charset="-122"/>
              </a:rPr>
              <a:t>节点的总分更新为</a:t>
            </a:r>
            <a:r>
              <a:rPr lang="en-US" altLang="zh-CN" sz="2000" dirty="0">
                <a:solidFill>
                  <a:prstClr val="black"/>
                </a:solidFill>
                <a:latin typeface="Times New Roman" panose="02020603050405020304"/>
                <a:ea typeface="黑体" panose="02010609060101010101" charset="-122"/>
              </a:rPr>
              <a:t>13</a:t>
            </a:r>
            <a:r>
              <a:rPr lang="zh-CN" altLang="zh-CN" sz="2000" dirty="0">
                <a:solidFill>
                  <a:prstClr val="black"/>
                </a:solidFill>
                <a:latin typeface="Times New Roman" panose="02020603050405020304"/>
                <a:ea typeface="黑体" panose="02010609060101010101" charset="-122"/>
              </a:rPr>
              <a:t>，被访问次数更新为</a:t>
            </a:r>
            <a:r>
              <a:rPr lang="en-US" altLang="zh-CN" sz="2000" dirty="0">
                <a:solidFill>
                  <a:prstClr val="black"/>
                </a:solidFill>
                <a:latin typeface="Times New Roman" panose="02020603050405020304"/>
                <a:ea typeface="黑体" panose="02010609060101010101" charset="-122"/>
              </a:rPr>
              <a:t>2</a:t>
            </a:r>
            <a:r>
              <a:rPr lang="zh-CN" altLang="zh-CN" sz="2000" dirty="0">
                <a:solidFill>
                  <a:prstClr val="black"/>
                </a:solidFill>
                <a:latin typeface="Times New Roman" panose="02020603050405020304"/>
                <a:ea typeface="黑体" panose="02010609060101010101" charset="-122"/>
              </a:rPr>
              <a:t>；</a:t>
            </a:r>
            <a:endParaRPr lang="en-US" altLang="zh-CN" sz="2000" dirty="0">
              <a:solidFill>
                <a:prstClr val="black"/>
              </a:solidFill>
              <a:latin typeface="Times New Roman" panose="02020603050405020304"/>
              <a:ea typeface="黑体" panose="02010609060101010101" charset="-122"/>
            </a:endParaRPr>
          </a:p>
          <a:p>
            <a:pPr marL="342900" indent="-342900" algn="just">
              <a:lnSpc>
                <a:spcPct val="150000"/>
              </a:lnSpc>
              <a:buFont typeface="Arial" panose="020B0604020202020204" pitchFamily="34" charset="0"/>
              <a:buChar char="•"/>
            </a:pPr>
            <a:r>
              <a:rPr lang="zh-CN" altLang="zh-CN" sz="2000" dirty="0">
                <a:solidFill>
                  <a:prstClr val="black"/>
                </a:solidFill>
                <a:latin typeface="Times New Roman" panose="02020603050405020304"/>
                <a:ea typeface="黑体" panose="02010609060101010101" charset="-122"/>
              </a:rPr>
              <a:t>根节点的总分更新为</a:t>
            </a:r>
            <a:r>
              <a:rPr lang="en-US" altLang="zh-CN" sz="2000" dirty="0">
                <a:solidFill>
                  <a:prstClr val="black"/>
                </a:solidFill>
                <a:latin typeface="Times New Roman" panose="02020603050405020304"/>
                <a:ea typeface="黑体" panose="02010609060101010101" charset="-122"/>
              </a:rPr>
              <a:t>-18</a:t>
            </a:r>
            <a:r>
              <a:rPr lang="zh-CN" altLang="zh-CN" sz="2000" dirty="0">
                <a:solidFill>
                  <a:prstClr val="black"/>
                </a:solidFill>
                <a:latin typeface="Times New Roman" panose="02020603050405020304"/>
                <a:ea typeface="黑体" panose="02010609060101010101" charset="-122"/>
              </a:rPr>
              <a:t>，被访问次数更新为</a:t>
            </a:r>
            <a:r>
              <a:rPr lang="en-US" altLang="zh-CN" sz="2000" dirty="0">
                <a:solidFill>
                  <a:prstClr val="black"/>
                </a:solidFill>
                <a:latin typeface="Times New Roman" panose="02020603050405020304"/>
                <a:ea typeface="黑体" panose="02010609060101010101" charset="-122"/>
              </a:rPr>
              <a:t>3</a:t>
            </a:r>
            <a:r>
              <a:rPr lang="zh-CN" altLang="zh-CN" sz="2000" dirty="0">
                <a:solidFill>
                  <a:prstClr val="black"/>
                </a:solidFill>
                <a:latin typeface="Times New Roman" panose="02020603050405020304"/>
                <a:ea typeface="黑体" panose="02010609060101010101" charset="-122"/>
              </a:rPr>
              <a:t>。</a:t>
            </a:r>
            <a:endParaRPr lang="en-US" altLang="zh-CN" sz="2000" dirty="0">
              <a:solidFill>
                <a:prstClr val="black"/>
              </a:solidFill>
              <a:latin typeface="Times New Roman" panose="02020603050405020304"/>
              <a:ea typeface="黑体" panose="02010609060101010101" charset="-122"/>
            </a:endParaRPr>
          </a:p>
          <a:p>
            <a:pPr marL="342900" indent="-342900" algn="just">
              <a:lnSpc>
                <a:spcPct val="150000"/>
              </a:lnSpc>
              <a:buFont typeface="Arial" panose="020B0604020202020204" pitchFamily="34" charset="0"/>
              <a:buChar char="•"/>
            </a:pPr>
            <a:r>
              <a:rPr lang="zh-CN" altLang="zh-CN" sz="2000" dirty="0">
                <a:solidFill>
                  <a:prstClr val="black"/>
                </a:solidFill>
                <a:latin typeface="Times New Roman" panose="02020603050405020304"/>
                <a:ea typeface="黑体" panose="02010609060101010101" charset="-122"/>
              </a:rPr>
              <a:t>更新时，将</a:t>
            </a:r>
            <a:r>
              <a:rPr lang="en-US" altLang="zh-CN" sz="2000" dirty="0">
                <a:solidFill>
                  <a:prstClr val="black"/>
                </a:solidFill>
                <a:latin typeface="Times New Roman" panose="02020603050405020304"/>
                <a:ea typeface="黑体" panose="02010609060101010101" charset="-122"/>
              </a:rPr>
              <a:t>MIN</a:t>
            </a:r>
            <a:r>
              <a:rPr lang="zh-CN" altLang="zh-CN" sz="2000" dirty="0">
                <a:solidFill>
                  <a:prstClr val="black"/>
                </a:solidFill>
                <a:latin typeface="Times New Roman" panose="02020603050405020304"/>
                <a:ea typeface="黑体" panose="02010609060101010101" charset="-122"/>
              </a:rPr>
              <a:t>层节点现有总分加上终局得分分数，</a:t>
            </a:r>
            <a:r>
              <a:rPr lang="en-US" altLang="zh-CN" sz="2000" dirty="0">
                <a:solidFill>
                  <a:prstClr val="black"/>
                </a:solidFill>
                <a:latin typeface="Times New Roman" panose="02020603050405020304"/>
                <a:ea typeface="黑体" panose="02010609060101010101" charset="-122"/>
              </a:rPr>
              <a:t> MAX</a:t>
            </a:r>
            <a:r>
              <a:rPr lang="zh-CN" altLang="zh-CN" sz="2000" dirty="0">
                <a:solidFill>
                  <a:prstClr val="black"/>
                </a:solidFill>
                <a:latin typeface="Times New Roman" panose="02020603050405020304"/>
                <a:ea typeface="黑体" panose="02010609060101010101" charset="-122"/>
              </a:rPr>
              <a:t>层节点现有总分减去终局得分分数。</a:t>
            </a:r>
            <a:endParaRPr lang="zh-CN" altLang="zh-CN" sz="2000" dirty="0">
              <a:solidFill>
                <a:prstClr val="black"/>
              </a:solidFill>
              <a:latin typeface="Times New Roman" panose="02020603050405020304"/>
              <a:ea typeface="黑体" panose="02010609060101010101" charset="-122"/>
            </a:endParaRPr>
          </a:p>
        </p:txBody>
      </p:sp>
      <p:pic>
        <p:nvPicPr>
          <p:cNvPr id="3" name="图片 2"/>
          <p:cNvPicPr/>
          <p:nvPr/>
        </p:nvPicPr>
        <p:blipFill rotWithShape="1">
          <a:blip r:embed="rId1"/>
          <a:srcRect l="77021"/>
          <a:stretch>
            <a:fillRect/>
          </a:stretch>
        </p:blipFill>
        <p:spPr>
          <a:xfrm>
            <a:off x="6963508" y="922008"/>
            <a:ext cx="1736627" cy="3506220"/>
          </a:xfrm>
          <a:prstGeom prst="rect">
            <a:avLst/>
          </a:prstGeom>
        </p:spPr>
      </p:pic>
      <p:sp>
        <p:nvSpPr>
          <p:cNvPr id="4" name="箭头: 上 3"/>
          <p:cNvSpPr/>
          <p:nvPr/>
        </p:nvSpPr>
        <p:spPr>
          <a:xfrm rot="5400000">
            <a:off x="6344530" y="1979307"/>
            <a:ext cx="583809" cy="51347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1000"/>
                            </p:stCondLst>
                            <p:childTnLst>
                              <p:par>
                                <p:cTn id="9" presetID="22" presetClass="entr" presetSubtype="8" fill="hold" nodeType="afterEffect">
                                  <p:stCondLst>
                                    <p:cond delay="50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2000"/>
                            </p:stCondLst>
                            <p:childTnLst>
                              <p:par>
                                <p:cTn id="13" presetID="10" presetClass="entr" presetSubtype="0" fill="hold" nodeType="afterEffect">
                                  <p:stCondLst>
                                    <p:cond delay="50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fade">
                                      <p:cBhvr>
                                        <p:cTn id="15" dur="500"/>
                                        <p:tgtEl>
                                          <p:spTgt spid="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fade">
                                      <p:cBhvr>
                                        <p:cTn id="20" dur="500"/>
                                        <p:tgtEl>
                                          <p:spTgt spid="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fade">
                                      <p:cBhvr>
                                        <p:cTn id="25" dur="500"/>
                                        <p:tgtEl>
                                          <p:spTgt spid="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
                                            <p:txEl>
                                              <p:pRg st="3" end="3"/>
                                            </p:txEl>
                                          </p:spTgt>
                                        </p:tgtEl>
                                        <p:attrNameLst>
                                          <p:attrName>style.visibility</p:attrName>
                                        </p:attrNameLst>
                                      </p:cBhvr>
                                      <p:to>
                                        <p:strVal val="visible"/>
                                      </p:to>
                                    </p:set>
                                    <p:animEffect transition="in" filter="fade">
                                      <p:cBhvr>
                                        <p:cTn id="30"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对抗搜索：蒙特卡洛树搜索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6" name="图片 5"/>
          <p:cNvPicPr/>
          <p:nvPr/>
        </p:nvPicPr>
        <p:blipFill>
          <a:blip r:embed="rId1"/>
          <a:stretch>
            <a:fillRect/>
          </a:stretch>
        </p:blipFill>
        <p:spPr>
          <a:xfrm>
            <a:off x="793216" y="948131"/>
            <a:ext cx="7557571" cy="3506220"/>
          </a:xfrm>
          <a:prstGeom prst="rect">
            <a:avLst/>
          </a:prstGeom>
        </p:spPr>
      </p:pic>
      <p:sp>
        <p:nvSpPr>
          <p:cNvPr id="8" name="文本框 7"/>
          <p:cNvSpPr txBox="1"/>
          <p:nvPr/>
        </p:nvSpPr>
        <p:spPr>
          <a:xfrm>
            <a:off x="708806" y="4554722"/>
            <a:ext cx="7845104" cy="1961243"/>
          </a:xfrm>
          <a:prstGeom prst="rect">
            <a:avLst/>
          </a:prstGeom>
          <a:noFill/>
        </p:spPr>
        <p:txBody>
          <a:bodyPr wrap="square">
            <a:spAutoFit/>
          </a:bodyPr>
          <a:lstStyle/>
          <a:p>
            <a:pPr marL="342900" indent="-342900" algn="just">
              <a:lnSpc>
                <a:spcPct val="130000"/>
              </a:lnSpc>
              <a:buFont typeface="Arial" panose="020B0604020202020204" pitchFamily="34" charset="0"/>
              <a:buChar char="•"/>
            </a:pPr>
            <a:r>
              <a:rPr lang="zh-CN" altLang="zh-CN" sz="2400" dirty="0">
                <a:solidFill>
                  <a:prstClr val="black"/>
                </a:solidFill>
                <a:latin typeface="Times New Roman" panose="02020603050405020304"/>
                <a:ea typeface="黑体" panose="02010609060101010101" charset="-122"/>
              </a:rPr>
              <a:t>对抗搜索中，</a:t>
            </a:r>
            <a:r>
              <a:rPr lang="en-US" altLang="zh-CN" sz="2400" dirty="0">
                <a:solidFill>
                  <a:prstClr val="black"/>
                </a:solidFill>
                <a:latin typeface="Times New Roman" panose="02020603050405020304"/>
                <a:ea typeface="黑体" panose="02010609060101010101" charset="-122"/>
              </a:rPr>
              <a:t>MIN</a:t>
            </a:r>
            <a:r>
              <a:rPr lang="zh-CN" altLang="zh-CN" sz="2400" dirty="0">
                <a:solidFill>
                  <a:prstClr val="black"/>
                </a:solidFill>
                <a:latin typeface="Times New Roman" panose="02020603050405020304"/>
                <a:ea typeface="黑体" panose="02010609060101010101" charset="-122"/>
              </a:rPr>
              <a:t>期望最小化终局得分，在</a:t>
            </a:r>
            <a:r>
              <a:rPr lang="en-US" altLang="zh-CN" sz="2400" dirty="0">
                <a:solidFill>
                  <a:prstClr val="black"/>
                </a:solidFill>
                <a:latin typeface="Times New Roman" panose="02020603050405020304"/>
                <a:ea typeface="黑体" panose="02010609060101010101" charset="-122"/>
              </a:rPr>
              <a:t>MIN</a:t>
            </a:r>
            <a:r>
              <a:rPr lang="zh-CN" altLang="zh-CN" sz="2400" dirty="0">
                <a:solidFill>
                  <a:prstClr val="black"/>
                </a:solidFill>
                <a:latin typeface="Times New Roman" panose="02020603050405020304"/>
                <a:ea typeface="黑体" panose="02010609060101010101" charset="-122"/>
              </a:rPr>
              <a:t>层选择其子节点时，其目标是选择奖励最小的节点</a:t>
            </a:r>
            <a:r>
              <a:rPr lang="zh-CN" altLang="en-US" sz="2400" dirty="0">
                <a:solidFill>
                  <a:prstClr val="black"/>
                </a:solidFill>
                <a:latin typeface="Times New Roman" panose="02020603050405020304"/>
                <a:ea typeface="黑体" panose="02010609060101010101" charset="-122"/>
              </a:rPr>
              <a:t>。</a:t>
            </a:r>
            <a:endParaRPr lang="en-US" altLang="zh-CN" sz="2400" dirty="0">
              <a:solidFill>
                <a:prstClr val="black"/>
              </a:solidFill>
              <a:latin typeface="Times New Roman" panose="02020603050405020304"/>
              <a:ea typeface="黑体" panose="02010609060101010101" charset="-122"/>
            </a:endParaRPr>
          </a:p>
          <a:p>
            <a:pPr marL="342900" indent="-342900" algn="just">
              <a:lnSpc>
                <a:spcPct val="130000"/>
              </a:lnSpc>
              <a:buFont typeface="Arial" panose="020B0604020202020204" pitchFamily="34" charset="0"/>
              <a:buChar char="•"/>
            </a:pPr>
            <a:r>
              <a:rPr lang="zh-CN" altLang="zh-CN" sz="2400" dirty="0">
                <a:solidFill>
                  <a:prstClr val="black"/>
                </a:solidFill>
                <a:latin typeface="Times New Roman" panose="02020603050405020304"/>
                <a:ea typeface="黑体" panose="02010609060101010101" charset="-122"/>
              </a:rPr>
              <a:t>为了统一使用</a:t>
            </a:r>
            <a:r>
              <a:rPr lang="en-US" altLang="zh-CN" sz="2400" dirty="0">
                <a:solidFill>
                  <a:prstClr val="black"/>
                </a:solidFill>
                <a:latin typeface="Times New Roman" panose="02020603050405020304"/>
                <a:ea typeface="黑体" panose="02010609060101010101" charset="-122"/>
              </a:rPr>
              <a:t>UCB1</a:t>
            </a:r>
            <a:r>
              <a:rPr lang="zh-CN" altLang="zh-CN" sz="2400" dirty="0">
                <a:solidFill>
                  <a:prstClr val="black"/>
                </a:solidFill>
                <a:latin typeface="Times New Roman" panose="02020603050405020304"/>
                <a:ea typeface="黑体" panose="02010609060101010101" charset="-122"/>
              </a:rPr>
              <a:t>算法求解，算法将</a:t>
            </a:r>
            <a:r>
              <a:rPr lang="en-US" altLang="zh-CN" sz="2400" dirty="0">
                <a:solidFill>
                  <a:prstClr val="black"/>
                </a:solidFill>
                <a:latin typeface="Times New Roman" panose="02020603050405020304"/>
                <a:ea typeface="黑体" panose="02010609060101010101" charset="-122"/>
              </a:rPr>
              <a:t>MIN</a:t>
            </a:r>
            <a:r>
              <a:rPr lang="zh-CN" altLang="zh-CN" sz="2400" dirty="0">
                <a:solidFill>
                  <a:prstClr val="black"/>
                </a:solidFill>
                <a:latin typeface="Times New Roman" panose="02020603050405020304"/>
                <a:ea typeface="黑体" panose="02010609060101010101" charset="-122"/>
              </a:rPr>
              <a:t>层的子节点（即</a:t>
            </a:r>
            <a:r>
              <a:rPr lang="en-US" altLang="zh-CN" sz="2400" dirty="0">
                <a:solidFill>
                  <a:prstClr val="black"/>
                </a:solidFill>
                <a:latin typeface="Times New Roman" panose="02020603050405020304"/>
                <a:ea typeface="黑体" panose="02010609060101010101" charset="-122"/>
              </a:rPr>
              <a:t>MAX</a:t>
            </a:r>
            <a:r>
              <a:rPr lang="zh-CN" altLang="zh-CN" sz="2400" dirty="0">
                <a:solidFill>
                  <a:prstClr val="black"/>
                </a:solidFill>
                <a:latin typeface="Times New Roman" panose="02020603050405020304"/>
                <a:ea typeface="黑体" panose="02010609060101010101" charset="-122"/>
              </a:rPr>
              <a:t>层节点）的总分记为其相反数。</a:t>
            </a:r>
            <a:endParaRPr lang="zh-CN" altLang="en-US" sz="2400" dirty="0">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水滴">
  <a:themeElements>
    <a:clrScheme name="水滴">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水滴">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水滴">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水滴</Template>
  <TotalTime>0</TotalTime>
  <Words>3681</Words>
  <Application>WPS 演示</Application>
  <PresentationFormat>全屏显示(4:3)</PresentationFormat>
  <Paragraphs>186</Paragraphs>
  <Slides>26</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26</vt:i4>
      </vt:variant>
    </vt:vector>
  </HeadingPairs>
  <TitlesOfParts>
    <vt:vector size="45" baseType="lpstr">
      <vt:lpstr>Arial</vt:lpstr>
      <vt:lpstr>宋体</vt:lpstr>
      <vt:lpstr>Wingdings</vt:lpstr>
      <vt:lpstr>华文行楷</vt:lpstr>
      <vt:lpstr>微软雅黑</vt:lpstr>
      <vt:lpstr>Times New Roman</vt:lpstr>
      <vt:lpstr>黑体</vt:lpstr>
      <vt:lpstr>Verdana</vt:lpstr>
      <vt:lpstr>方正姚体</vt:lpstr>
      <vt:lpstr>Times New Roman</vt:lpstr>
      <vt:lpstr>Calibri</vt:lpstr>
      <vt:lpstr>Cambria Math</vt:lpstr>
      <vt:lpstr>Cambria Math</vt:lpstr>
      <vt:lpstr>Arial Unicode MS</vt:lpstr>
      <vt:lpstr>Tw Cen MT</vt:lpstr>
      <vt:lpstr>等线</vt:lpstr>
      <vt:lpstr>BatangChe</vt:lpstr>
      <vt:lpstr>AMGDT</vt:lpstr>
      <vt:lpstr>水滴</vt:lpstr>
      <vt:lpstr>搜索与求解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搜索与求解</dc:title>
  <dc:creator>wang jiajing</dc:creator>
  <cp:lastModifiedBy>梁桐</cp:lastModifiedBy>
  <cp:revision>11</cp:revision>
  <dcterms:created xsi:type="dcterms:W3CDTF">2023-04-28T04:08:00Z</dcterms:created>
  <dcterms:modified xsi:type="dcterms:W3CDTF">2025-06-16T11:34:46Z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130E5802975B45D78708A3D1E3FCBE3B_12</vt:lpwstr>
  </property>
  <property fmtid="{D5CDD505-2E9C-101B-9397-08002B2CF9AE}" pid="3" name="KSOProductBuildVer">
    <vt:lpwstr>2052-12.1.0.19770</vt:lpwstr>
  </property>
</Properties>
</file>