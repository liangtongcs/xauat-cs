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sldIdLst>
    <p:sldId id="784" r:id="rId3"/>
    <p:sldId id="645" r:id="rId4"/>
    <p:sldId id="785" r:id="rId6"/>
    <p:sldId id="786" r:id="rId7"/>
    <p:sldId id="787" r:id="rId8"/>
    <p:sldId id="788" r:id="rId9"/>
    <p:sldId id="789" r:id="rId10"/>
    <p:sldId id="790" r:id="rId11"/>
    <p:sldId id="791" r:id="rId12"/>
    <p:sldId id="792" r:id="rId13"/>
    <p:sldId id="793" r:id="rId14"/>
    <p:sldId id="794" r:id="rId15"/>
    <p:sldId id="795" r:id="rId16"/>
    <p:sldId id="796" r:id="rId17"/>
    <p:sldId id="797" r:id="rId18"/>
    <p:sldId id="798" r:id="rId19"/>
    <p:sldId id="799" r:id="rId20"/>
    <p:sldId id="800" r:id="rId21"/>
    <p:sldId id="801" r:id="rId22"/>
    <p:sldId id="802" r:id="rId23"/>
    <p:sldId id="803" r:id="rId24"/>
    <p:sldId id="804" r:id="rId25"/>
    <p:sldId id="805" r:id="rId26"/>
    <p:sldId id="806" r:id="rId27"/>
    <p:sldId id="807" r:id="rId28"/>
    <p:sldId id="808" r:id="rId29"/>
    <p:sldId id="809" r:id="rId30"/>
    <p:sldId id="810" r:id="rId31"/>
    <p:sldId id="811" r:id="rId32"/>
    <p:sldId id="812" r:id="rId33"/>
    <p:sldId id="813" r:id="rId34"/>
    <p:sldId id="814" r:id="rId35"/>
    <p:sldId id="816" r:id="rId36"/>
    <p:sldId id="815" r:id="rId37"/>
    <p:sldId id="817" r:id="rId38"/>
    <p:sldId id="818" r:id="rId3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22" autoAdjust="0"/>
    <p:restoredTop sz="94660"/>
  </p:normalViewPr>
  <p:slideViewPr>
    <p:cSldViewPr snapToGrid="0">
      <p:cViewPr varScale="1">
        <p:scale>
          <a:sx n="69" d="100"/>
          <a:sy n="69" d="100"/>
        </p:scale>
        <p:origin x="45" y="39"/>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notesMaster" Target="notesMasters/notesMaster1.xml"/><Relationship Id="rId42" Type="http://schemas.openxmlformats.org/officeDocument/2006/relationships/tableStyles" Target="tableStyles.xml"/><Relationship Id="rId41" Type="http://schemas.openxmlformats.org/officeDocument/2006/relationships/viewProps" Target="viewProps.xml"/><Relationship Id="rId40" Type="http://schemas.openxmlformats.org/officeDocument/2006/relationships/presProps" Target="presProps.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9.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4.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76DEE2F-A509-4616-B7F5-B730FF555C4E}"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F149E01-3F66-4AD3-9EEA-793FF86F7D9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幻灯片图像占位符 1"/>
          <p:cNvSpPr>
            <a:spLocks noGrp="1" noRot="1" noChangeAspect="1" noChangeArrowheads="1" noTextEdit="1"/>
          </p:cNvSpPr>
          <p:nvPr>
            <p:ph type="sldImg"/>
          </p:nvPr>
        </p:nvSpPr>
        <p:spPr>
          <a:xfrm>
            <a:off x="1143000" y="685800"/>
            <a:ext cx="4572000" cy="3429000"/>
          </a:xfrm>
        </p:spPr>
      </p:sp>
      <p:sp>
        <p:nvSpPr>
          <p:cNvPr id="19458" name="备注占位符 2"/>
          <p:cNvSpPr>
            <a:spLocks noGrp="1" noChangeArrowheads="1"/>
          </p:cNvSpPr>
          <p:nvPr>
            <p:ph type="body" idx="1"/>
          </p:nvPr>
        </p:nvSpPr>
        <p:spPr bwMode="auto">
          <a:xfrm>
            <a:off x="685800" y="4343400"/>
            <a:ext cx="5486400" cy="411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9459" name="灯片编号占位符 3"/>
          <p:cNvSpPr>
            <a:spLocks noGrp="1"/>
          </p:cNvSpPr>
          <p:nvPr>
            <p:ph type="sldNum" sz="quarter" idx="5"/>
          </p:nvPr>
        </p:nvSpPr>
        <p:spPr>
          <a:noFill/>
          <a:extLst>
            <a:ext uri="{91240B29-F687-4F45-9708-019B960494DF}">
              <a14:hiddenLine xmlns:a14="http://schemas.microsoft.com/office/drawing/2010/main" w="9525">
                <a:solidFill>
                  <a:srgbClr val="000000"/>
                </a:solidFill>
                <a:miter lim="800000"/>
                <a:headEnd/>
                <a:tailEnd/>
              </a14:hiddenLine>
            </a:ext>
          </a:extLst>
        </p:spPr>
        <p:txBody>
          <a:bodyPr/>
          <a:lstStyle>
            <a:lvl1pPr>
              <a:defRPr sz="2800">
                <a:solidFill>
                  <a:schemeClr val="tx1"/>
                </a:solidFill>
                <a:latin typeface="Verdana" panose="020B0604030504040204" pitchFamily="34" charset="0"/>
                <a:ea typeface="宋体" panose="02010600030101010101" pitchFamily="2" charset="-122"/>
              </a:defRPr>
            </a:lvl1pPr>
            <a:lvl2pPr marL="742950" indent="-285750">
              <a:defRPr sz="2800">
                <a:solidFill>
                  <a:schemeClr val="tx1"/>
                </a:solidFill>
                <a:latin typeface="Verdana" panose="020B0604030504040204" pitchFamily="34" charset="0"/>
                <a:ea typeface="宋体" panose="02010600030101010101" pitchFamily="2" charset="-122"/>
              </a:defRPr>
            </a:lvl2pPr>
            <a:lvl3pPr marL="1143000" indent="-228600">
              <a:defRPr sz="2800">
                <a:solidFill>
                  <a:schemeClr val="tx1"/>
                </a:solidFill>
                <a:latin typeface="Verdana" panose="020B0604030504040204" pitchFamily="34" charset="0"/>
                <a:ea typeface="宋体" panose="02010600030101010101" pitchFamily="2" charset="-122"/>
              </a:defRPr>
            </a:lvl3pPr>
            <a:lvl4pPr marL="1600200" indent="-228600">
              <a:defRPr sz="2800">
                <a:solidFill>
                  <a:schemeClr val="tx1"/>
                </a:solidFill>
                <a:latin typeface="Verdana" panose="020B0604030504040204" pitchFamily="34" charset="0"/>
                <a:ea typeface="宋体" panose="02010600030101010101" pitchFamily="2" charset="-122"/>
              </a:defRPr>
            </a:lvl4pPr>
            <a:lvl5pPr marL="2057400" indent="-228600">
              <a:defRPr sz="28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Verdana" panose="020B0604030504040204" pitchFamily="34" charset="0"/>
                <a:ea typeface="宋体" panose="02010600030101010101" pitchFamily="2" charset="-122"/>
              </a:defRPr>
            </a:lvl9pPr>
          </a:lstStyle>
          <a:p>
            <a:pPr marL="0" marR="0" lvl="0" indent="0" algn="r" defTabSz="914400" rtl="0" eaLnBrk="1" fontAlgn="auto" latinLnBrk="0" hangingPunct="1">
              <a:lnSpc>
                <a:spcPct val="100000"/>
              </a:lnSpc>
              <a:spcBef>
                <a:spcPts val="0"/>
              </a:spcBef>
              <a:spcAft>
                <a:spcPts val="0"/>
              </a:spcAft>
              <a:buClrTx/>
              <a:buSzTx/>
              <a:buFontTx/>
              <a:buNone/>
              <a:defRPr/>
            </a:pPr>
            <a:fld id="{DA079DD9-C9D1-C543-AF12-536BB687E807}" type="slidenum">
              <a:rPr kumimoji="0" lang="en-US" altLang="zh-CN" sz="2800" b="0" i="0" u="none" strike="noStrike" kern="1200" cap="none" spc="0" normalizeH="0" baseline="0" noProof="0" smtClean="0">
                <a:ln>
                  <a:noFill/>
                </a:ln>
                <a:solidFill>
                  <a:prstClr val="black"/>
                </a:solidFill>
                <a:effectLst/>
                <a:uLnTx/>
                <a:uFillTx/>
                <a:latin typeface="Verdana" panose="020B0604030504040204" pitchFamily="34" charset="0"/>
                <a:ea typeface="宋体" panose="02010600030101010101" pitchFamily="2" charset="-122"/>
                <a:cs typeface="+mn-cs"/>
              </a:rPr>
            </a:fld>
            <a:endParaRPr kumimoji="0" lang="en-US" altLang="zh-CN" sz="12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936771" y="1057014"/>
            <a:ext cx="10363200" cy="1535184"/>
          </a:xfrm>
        </p:spPr>
        <p:txBody>
          <a:bodyPr anchor="b">
            <a:normAutofit/>
          </a:bodyPr>
          <a:lstStyle>
            <a:lvl1pPr algn="ctr">
              <a:defRPr sz="4800"/>
            </a:lvl1pPr>
          </a:lstStyle>
          <a:p>
            <a:r>
              <a:rPr lang="zh-CN" altLang="en-US"/>
              <a:t>单击此处编辑母版标题样式</a:t>
            </a:r>
            <a:endParaRPr lang="en-US" dirty="0"/>
          </a:p>
        </p:txBody>
      </p:sp>
      <p:sp>
        <p:nvSpPr>
          <p:cNvPr id="3" name="Subtitle 2"/>
          <p:cNvSpPr>
            <a:spLocks noGrp="1"/>
          </p:cNvSpPr>
          <p:nvPr>
            <p:ph type="subTitle" idx="1"/>
          </p:nvPr>
        </p:nvSpPr>
        <p:spPr>
          <a:xfrm>
            <a:off x="1546371" y="402987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D95AFABB-F632-4F91-92AF-0E2D2EA81731}" type="datetime1">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AD84F5B-1672-4D3F-9FEC-5DF89A7B7912}"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10"/>
          </p:nvPr>
        </p:nvSpPr>
        <p:spPr/>
        <p:txBody>
          <a:bodyPr/>
          <a:lstStyle/>
          <a:p>
            <a:fld id="{8E03C160-1CF6-4197-853C-5DD8144FA9BE}" type="datetime1">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AD84F5B-1672-4D3F-9FEC-5DF89A7B7912}"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932519" y="1057014"/>
            <a:ext cx="10363200" cy="1533600"/>
          </a:xfrm>
        </p:spPr>
        <p:txBody>
          <a:bodyPr anchor="b"/>
          <a:lstStyle>
            <a:lvl1pPr>
              <a:defRPr sz="4800"/>
            </a:lvl1pPr>
          </a:lstStyle>
          <a:p>
            <a:r>
              <a:rPr lang="zh-CN" altLang="en-US"/>
              <a:t>单击此处编辑母版标题样式</a:t>
            </a:r>
            <a:endParaRPr lang="en-US" dirty="0"/>
          </a:p>
        </p:txBody>
      </p:sp>
      <p:sp>
        <p:nvSpPr>
          <p:cNvPr id="3" name="Text Placeholder 2"/>
          <p:cNvSpPr>
            <a:spLocks noGrp="1"/>
          </p:cNvSpPr>
          <p:nvPr>
            <p:ph type="body" idx="1"/>
          </p:nvPr>
        </p:nvSpPr>
        <p:spPr>
          <a:xfrm>
            <a:off x="1553304" y="4027400"/>
            <a:ext cx="9144000" cy="1656000"/>
          </a:xfrm>
        </p:spPr>
        <p:txBody>
          <a:bodyPr/>
          <a:lstStyle>
            <a:lvl1pPr marL="0" indent="0" algn="ctr">
              <a:buNone/>
              <a:defRPr sz="2400">
                <a:solidFill>
                  <a:srgbClr val="002060"/>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Date Placeholder 3"/>
          <p:cNvSpPr>
            <a:spLocks noGrp="1"/>
          </p:cNvSpPr>
          <p:nvPr>
            <p:ph type="dt" sz="half" idx="10"/>
          </p:nvPr>
        </p:nvSpPr>
        <p:spPr/>
        <p:txBody>
          <a:bodyPr/>
          <a:lstStyle/>
          <a:p>
            <a:fld id="{A42E54B1-0884-4633-8327-893DAA1E511F}" type="datetime1">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AD84F5B-1672-4D3F-9FEC-5DF89A7B7912}"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5" name="Date Placeholder 4"/>
          <p:cNvSpPr>
            <a:spLocks noGrp="1"/>
          </p:cNvSpPr>
          <p:nvPr>
            <p:ph type="dt" sz="half" idx="10"/>
          </p:nvPr>
        </p:nvSpPr>
        <p:spPr/>
        <p:txBody>
          <a:bodyPr/>
          <a:lstStyle/>
          <a:p>
            <a:fld id="{0A1650BB-E4E8-4483-82DA-D58DEBC4998C}" type="datetime1">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5AD84F5B-1672-4D3F-9FEC-5DF89A7B7912}"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7"/>
            <a:ext cx="105156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Content Placeholder 3"/>
          <p:cNvSpPr>
            <a:spLocks noGrp="1"/>
          </p:cNvSpPr>
          <p:nvPr>
            <p:ph sz="half" idx="2"/>
          </p:nvPr>
        </p:nvSpPr>
        <p:spPr>
          <a:xfrm>
            <a:off x="839789" y="2505075"/>
            <a:ext cx="5157787"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Content Placeholder 5"/>
          <p:cNvSpPr>
            <a:spLocks noGrp="1"/>
          </p:cNvSpPr>
          <p:nvPr>
            <p:ph sz="quarter" idx="4"/>
          </p:nvPr>
        </p:nvSpPr>
        <p:spPr>
          <a:xfrm>
            <a:off x="6172201" y="2505075"/>
            <a:ext cx="5183188"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7" name="Date Placeholder 6"/>
          <p:cNvSpPr>
            <a:spLocks noGrp="1"/>
          </p:cNvSpPr>
          <p:nvPr>
            <p:ph type="dt" sz="half" idx="10"/>
          </p:nvPr>
        </p:nvSpPr>
        <p:spPr/>
        <p:txBody>
          <a:bodyPr/>
          <a:lstStyle/>
          <a:p>
            <a:fld id="{26604BCF-E610-4FCE-ADC3-9F4D58E19C5C}" type="datetime1">
              <a:rPr lang="zh-CN" altLang="en-US" smtClean="0"/>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5AD84F5B-1672-4D3F-9FEC-5DF89A7B7912}"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ACBA7D6D-E156-4C2B-9FF2-B27706CE389A}" type="datetime1">
              <a:rPr lang="zh-CN" altLang="en-US" smtClean="0"/>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5AD84F5B-1672-4D3F-9FEC-5DF89A7B7912}"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6C0FCEF-073A-4FC7-8BAD-A662F97179A2}" type="datetime1">
              <a:rPr lang="zh-CN" altLang="en-US" smtClean="0"/>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5AD84F5B-1672-4D3F-9FEC-5DF89A7B7912}"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Date Placeholder 4"/>
          <p:cNvSpPr>
            <a:spLocks noGrp="1"/>
          </p:cNvSpPr>
          <p:nvPr>
            <p:ph type="dt" sz="half" idx="10"/>
          </p:nvPr>
        </p:nvSpPr>
        <p:spPr/>
        <p:txBody>
          <a:bodyPr/>
          <a:lstStyle/>
          <a:p>
            <a:fld id="{845B6709-067F-4154-9C9A-D56718F28438}" type="datetime1">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5AD84F5B-1672-4D3F-9FEC-5DF89A7B7912}"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183188" y="987427"/>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Date Placeholder 4"/>
          <p:cNvSpPr>
            <a:spLocks noGrp="1"/>
          </p:cNvSpPr>
          <p:nvPr>
            <p:ph type="dt" sz="half" idx="10"/>
          </p:nvPr>
        </p:nvSpPr>
        <p:spPr/>
        <p:txBody>
          <a:bodyPr/>
          <a:lstStyle/>
          <a:p>
            <a:fld id="{5D8D4C65-E77B-45F2-BD81-CFF9643C0CCF}" type="datetime1">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5AD84F5B-1672-4D3F-9FEC-5DF89A7B7912}"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10"/>
          </p:nvPr>
        </p:nvSpPr>
        <p:spPr/>
        <p:txBody>
          <a:bodyPr/>
          <a:lstStyle/>
          <a:p>
            <a:fld id="{AF906368-F392-4465-AD91-AE646936C52B}" type="datetime1">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AD84F5B-1672-4D3F-9FEC-5DF89A7B7912}"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838201" y="365125"/>
            <a:ext cx="7734300" cy="5811838"/>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10"/>
          </p:nvPr>
        </p:nvSpPr>
        <p:spPr/>
        <p:txBody>
          <a:bodyPr/>
          <a:lstStyle/>
          <a:p>
            <a:fld id="{813AE443-EA00-4061-899C-73E3EB4E23B9}" type="datetime1">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AD84F5B-1672-4D3F-9FEC-5DF89A7B7912}"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9"/>
            <a:ext cx="10972800" cy="1143000"/>
          </a:xfrm>
          <a:prstGeom prst="rect">
            <a:avLst/>
          </a:prstGeom>
        </p:spPr>
        <p:txBody>
          <a:bodyPr/>
          <a:lstStyle/>
          <a:p>
            <a:r>
              <a:rPr lang="zh-CN" altLang="en-US"/>
              <a:t>单击此处编辑母版标题样式</a:t>
            </a:r>
            <a:endParaRPr lang="zh-CN" altLang="en-US"/>
          </a:p>
        </p:txBody>
      </p:sp>
      <p:sp>
        <p:nvSpPr>
          <p:cNvPr id="3" name="Rectangle 2"/>
          <p:cNvSpPr>
            <a:spLocks noGrp="1" noChangeArrowheads="1"/>
          </p:cNvSpPr>
          <p:nvPr>
            <p:ph type="sldNum" sz="quarter" idx="10"/>
          </p:nvPr>
        </p:nvSpPr>
        <p:spPr/>
        <p:txBody>
          <a:bodyPr/>
          <a:lstStyle>
            <a:lvl1pPr>
              <a:defRPr/>
            </a:lvl1pPr>
          </a:lstStyle>
          <a:p>
            <a:pPr>
              <a:defRPr/>
            </a:pPr>
            <a:fld id="{564B43B8-EC4A-5743-9CA4-764B42BFAC9D}" type="slidenum">
              <a:rPr lang="zh-CN" altLang="en-US"/>
            </a:fld>
            <a:endParaRPr lang="en-US" altLang="zh-CN" sz="1350"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2.png"/><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0" y="4400"/>
            <a:ext cx="12192000" cy="817721"/>
          </a:xfrm>
          <a:prstGeom prst="rect">
            <a:avLst/>
          </a:prstGeom>
        </p:spPr>
        <p:txBody>
          <a:bodyPr vert="horz" lIns="91440" tIns="144000" rIns="91440" bIns="45720" rtlCol="0" anchor="ctr">
            <a:noAutofit/>
          </a:bodyPr>
          <a:lstStyle/>
          <a:p>
            <a:r>
              <a:rPr lang="zh-CN" altLang="en-US" dirty="0"/>
              <a:t>单击此处编辑母版标题样式</a:t>
            </a:r>
            <a:endParaRPr lang="en-US" dirty="0"/>
          </a:p>
        </p:txBody>
      </p:sp>
      <p:sp>
        <p:nvSpPr>
          <p:cNvPr id="3" name="Text Placeholder 2"/>
          <p:cNvSpPr>
            <a:spLocks noGrp="1"/>
          </p:cNvSpPr>
          <p:nvPr>
            <p:ph type="body" idx="1"/>
          </p:nvPr>
        </p:nvSpPr>
        <p:spPr>
          <a:xfrm>
            <a:off x="178965" y="906011"/>
            <a:ext cx="11845255" cy="5637402"/>
          </a:xfrm>
          <a:prstGeom prst="rect">
            <a:avLst/>
          </a:prstGeom>
        </p:spPr>
        <p:txBody>
          <a:bodyPr vert="horz" lIns="91440" tIns="45720" rIns="91440" bIns="45720" rtlCol="0">
            <a:no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dirty="0"/>
          </a:p>
        </p:txBody>
      </p:sp>
      <p:sp>
        <p:nvSpPr>
          <p:cNvPr id="4" name="Date Placeholder 3"/>
          <p:cNvSpPr>
            <a:spLocks noGrp="1"/>
          </p:cNvSpPr>
          <p:nvPr>
            <p:ph type="dt" sz="half" idx="2"/>
          </p:nvPr>
        </p:nvSpPr>
        <p:spPr>
          <a:xfrm>
            <a:off x="-700" y="6660859"/>
            <a:ext cx="2743200" cy="197140"/>
          </a:xfrm>
          <a:prstGeom prst="rect">
            <a:avLst/>
          </a:prstGeom>
        </p:spPr>
        <p:txBody>
          <a:bodyPr vert="horz" lIns="91440" tIns="36000" rIns="91440" bIns="45720" rtlCol="0" anchor="ctr"/>
          <a:lstStyle>
            <a:lvl1pPr algn="l">
              <a:defRPr sz="1200" b="1">
                <a:solidFill>
                  <a:srgbClr val="002060"/>
                </a:solidFill>
              </a:defRPr>
            </a:lvl1pPr>
          </a:lstStyle>
          <a:p>
            <a:fld id="{7181A378-AD84-4E06-B1B5-6D5F5ACB78AE}" type="datetime1">
              <a:rPr lang="zh-CN" altLang="en-US" smtClean="0"/>
            </a:fld>
            <a:endParaRPr lang="zh-CN" altLang="en-US"/>
          </a:p>
        </p:txBody>
      </p:sp>
      <p:sp>
        <p:nvSpPr>
          <p:cNvPr id="5" name="Footer Placeholder 4"/>
          <p:cNvSpPr>
            <a:spLocks noGrp="1"/>
          </p:cNvSpPr>
          <p:nvPr>
            <p:ph type="ftr" sz="quarter" idx="3"/>
          </p:nvPr>
        </p:nvSpPr>
        <p:spPr>
          <a:xfrm>
            <a:off x="3031224" y="6660859"/>
            <a:ext cx="6129553" cy="197140"/>
          </a:xfrm>
          <a:prstGeom prst="rect">
            <a:avLst/>
          </a:prstGeom>
        </p:spPr>
        <p:txBody>
          <a:bodyPr vert="horz" lIns="91440" tIns="36000" rIns="91440" bIns="45720" rtlCol="0" anchor="ctr"/>
          <a:lstStyle>
            <a:lvl1pPr algn="ctr">
              <a:defRPr sz="1200" b="0">
                <a:solidFill>
                  <a:srgbClr val="002060"/>
                </a:solidFill>
              </a:defRPr>
            </a:lvl1pPr>
          </a:lstStyle>
          <a:p>
            <a:endParaRPr lang="zh-CN" altLang="en-US"/>
          </a:p>
        </p:txBody>
      </p:sp>
      <p:sp>
        <p:nvSpPr>
          <p:cNvPr id="6" name="Slide Number Placeholder 5"/>
          <p:cNvSpPr>
            <a:spLocks noGrp="1"/>
          </p:cNvSpPr>
          <p:nvPr>
            <p:ph type="sldNum" sz="quarter" idx="4"/>
          </p:nvPr>
        </p:nvSpPr>
        <p:spPr>
          <a:xfrm>
            <a:off x="9448800" y="6660859"/>
            <a:ext cx="2743200" cy="197140"/>
          </a:xfrm>
          <a:prstGeom prst="rect">
            <a:avLst/>
          </a:prstGeom>
        </p:spPr>
        <p:txBody>
          <a:bodyPr vert="horz" lIns="91440" tIns="36000" rIns="91440" bIns="45720" rtlCol="0" anchor="ctr"/>
          <a:lstStyle>
            <a:lvl1pPr algn="r">
              <a:defRPr sz="1200" b="1">
                <a:solidFill>
                  <a:srgbClr val="002060"/>
                </a:solidFill>
              </a:defRPr>
            </a:lvl1pPr>
          </a:lstStyle>
          <a:p>
            <a:fld id="{5AD84F5B-1672-4D3F-9FEC-5DF89A7B7912}"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ctr" defTabSz="914400" rtl="0" eaLnBrk="1" latinLnBrk="0" hangingPunct="1">
        <a:lnSpc>
          <a:spcPct val="90000"/>
        </a:lnSpc>
        <a:spcBef>
          <a:spcPct val="0"/>
        </a:spcBef>
        <a:buNone/>
        <a:defRPr sz="3600" kern="1200">
          <a:solidFill>
            <a:srgbClr val="C00000"/>
          </a:solidFill>
          <a:latin typeface="+mj-lt"/>
          <a:ea typeface="+mj-ea"/>
          <a:cs typeface="+mj-cs"/>
        </a:defRPr>
      </a:lvl1pPr>
    </p:titleStyle>
    <p:bodyStyle>
      <a:lvl1pPr marL="360680" indent="-360680" algn="l" defTabSz="914400" rtl="0" eaLnBrk="1" latinLnBrk="0" hangingPunct="1">
        <a:lnSpc>
          <a:spcPct val="130000"/>
        </a:lnSpc>
        <a:spcBef>
          <a:spcPts val="1000"/>
        </a:spcBef>
        <a:buSzPct val="85000"/>
        <a:buFont typeface="Wingdings" panose="05000000000000000000" pitchFamily="2" charset="2"/>
        <a:buChar char="n"/>
        <a:defRPr sz="2400" kern="1200">
          <a:solidFill>
            <a:srgbClr val="002060"/>
          </a:solidFill>
          <a:latin typeface="+mn-lt"/>
          <a:ea typeface="+mn-ea"/>
          <a:cs typeface="+mn-cs"/>
        </a:defRPr>
      </a:lvl1pPr>
      <a:lvl2pPr marL="720725" indent="-360680" algn="l" defTabSz="914400" rtl="0" eaLnBrk="1" latinLnBrk="0" hangingPunct="1">
        <a:lnSpc>
          <a:spcPct val="130000"/>
        </a:lnSpc>
        <a:spcBef>
          <a:spcPts val="500"/>
        </a:spcBef>
        <a:buSzPct val="85000"/>
        <a:buFont typeface="Wingdings" panose="05000000000000000000" pitchFamily="2" charset="2"/>
        <a:buChar char="u"/>
        <a:defRPr sz="2000" kern="1200">
          <a:solidFill>
            <a:srgbClr val="002060"/>
          </a:solidFill>
          <a:latin typeface="+mn-lt"/>
          <a:ea typeface="+mn-ea"/>
          <a:cs typeface="+mn-cs"/>
        </a:defRPr>
      </a:lvl2pPr>
      <a:lvl3pPr marL="990600" indent="-269875" algn="l" defTabSz="914400" rtl="0" eaLnBrk="1" latinLnBrk="0" hangingPunct="1">
        <a:lnSpc>
          <a:spcPct val="130000"/>
        </a:lnSpc>
        <a:spcBef>
          <a:spcPts val="500"/>
        </a:spcBef>
        <a:buSzPct val="85000"/>
        <a:buFont typeface="Wingdings" panose="05000000000000000000" pitchFamily="2" charset="2"/>
        <a:buChar char="l"/>
        <a:defRPr sz="1800" kern="1200">
          <a:solidFill>
            <a:srgbClr val="002060"/>
          </a:solidFill>
          <a:latin typeface="+mn-lt"/>
          <a:ea typeface="+mn-ea"/>
          <a:cs typeface="+mn-cs"/>
        </a:defRPr>
      </a:lvl3pPr>
      <a:lvl4pPr marL="1259205" indent="-268605" algn="l" defTabSz="914400" rtl="0" eaLnBrk="1" latinLnBrk="0" hangingPunct="1">
        <a:lnSpc>
          <a:spcPct val="130000"/>
        </a:lnSpc>
        <a:spcBef>
          <a:spcPts val="500"/>
        </a:spcBef>
        <a:buSzPct val="85000"/>
        <a:buFont typeface="Wingdings" panose="05000000000000000000" pitchFamily="2" charset="2"/>
        <a:buChar char="p"/>
        <a:defRPr sz="1600" kern="1200">
          <a:solidFill>
            <a:srgbClr val="002060"/>
          </a:solidFill>
          <a:latin typeface="+mn-lt"/>
          <a:ea typeface="+mn-ea"/>
          <a:cs typeface="+mn-cs"/>
        </a:defRPr>
      </a:lvl4pPr>
      <a:lvl5pPr marL="1527175" indent="-268605" algn="l" defTabSz="914400" rtl="0" eaLnBrk="1" latinLnBrk="0" hangingPunct="1">
        <a:lnSpc>
          <a:spcPct val="130000"/>
        </a:lnSpc>
        <a:spcBef>
          <a:spcPts val="500"/>
        </a:spcBef>
        <a:buSzPct val="85000"/>
        <a:buFont typeface="Wingdings" panose="05000000000000000000" pitchFamily="2" charset="2"/>
        <a:buChar char="Ø"/>
        <a:defRPr sz="1600" kern="1200">
          <a:solidFill>
            <a:srgbClr val="00206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2.xml"/><Relationship Id="rId1" Type="http://schemas.openxmlformats.org/officeDocument/2006/relationships/hyperlink" Target="https://www.icourse163.org/course/ZJU-1003377027"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png"/><Relationship Id="rId1" Type="http://schemas.openxmlformats.org/officeDocument/2006/relationships/tags" Target="../tags/tag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tags" Target="../tags/tag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7.png"/><Relationship Id="rId1" Type="http://schemas.openxmlformats.org/officeDocument/2006/relationships/image" Target="../media/image8.png"/></Relationships>
</file>

<file path=ppt/slides/_rels/slide17.xml.rels><?xml version="1.0" encoding="UTF-8" standalone="yes"?>
<Relationships xmlns="http://schemas.openxmlformats.org/package/2006/relationships"><Relationship Id="rId6" Type="http://schemas.openxmlformats.org/officeDocument/2006/relationships/vmlDrawing" Target="../drawings/vmlDrawing1.vml"/><Relationship Id="rId5" Type="http://schemas.openxmlformats.org/officeDocument/2006/relationships/slideLayout" Target="../slideLayouts/slideLayout2.xml"/><Relationship Id="rId4" Type="http://schemas.openxmlformats.org/officeDocument/2006/relationships/image" Target="../media/image10.png"/><Relationship Id="rId3" Type="http://schemas.openxmlformats.org/officeDocument/2006/relationships/image" Target="../media/image9.wmf"/><Relationship Id="rId2" Type="http://schemas.openxmlformats.org/officeDocument/2006/relationships/oleObject" Target="../embeddings/oleObject1.bin"/><Relationship Id="rId1" Type="http://schemas.openxmlformats.org/officeDocument/2006/relationships/image" Target="../media/image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2.png"/><Relationship Id="rId1" Type="http://schemas.openxmlformats.org/officeDocument/2006/relationships/image" Target="../media/image11.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21.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2.xml"/><Relationship Id="rId2" Type="http://schemas.openxmlformats.org/officeDocument/2006/relationships/image" Target="../media/image14.wmf"/><Relationship Id="rId1" Type="http://schemas.openxmlformats.org/officeDocument/2006/relationships/oleObject" Target="../embeddings/oleObject2.bin"/></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6.png"/><Relationship Id="rId1" Type="http://schemas.openxmlformats.org/officeDocument/2006/relationships/image" Target="../media/image15.pn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9.png"/><Relationship Id="rId1" Type="http://schemas.openxmlformats.org/officeDocument/2006/relationships/tags" Target="../tags/tag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0.png"/></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0.png"/></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2.png"/></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3.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2277460" y="2780349"/>
            <a:ext cx="7772400" cy="2095500"/>
          </a:xfrm>
        </p:spPr>
        <p:txBody>
          <a:bodyPr>
            <a:normAutofit/>
          </a:bodyPr>
          <a:lstStyle/>
          <a:p>
            <a:pPr algn="ctr">
              <a:lnSpc>
                <a:spcPct val="100000"/>
              </a:lnSpc>
            </a:pPr>
            <a:r>
              <a:rPr lang="zh-CN" altLang="en-US" sz="8800" b="1" spc="600" dirty="0">
                <a:latin typeface="华文行楷" panose="02010800040101010101" pitchFamily="2" charset="-122"/>
                <a:ea typeface="华文行楷" panose="02010800040101010101" pitchFamily="2" charset="-122"/>
                <a:cs typeface="微软雅黑" panose="020B0503020204020204" pitchFamily="34" charset="-122"/>
              </a:rPr>
              <a:t>深度学习</a:t>
            </a:r>
            <a:endParaRPr lang="zh-CN" altLang="en-US" sz="8800" spc="600" dirty="0">
              <a:latin typeface="华文行楷" panose="02010800040101010101" pitchFamily="2" charset="-122"/>
              <a:ea typeface="华文行楷" panose="02010800040101010101" pitchFamily="2" charset="-122"/>
            </a:endParaRPr>
          </a:p>
        </p:txBody>
      </p:sp>
      <p:sp>
        <p:nvSpPr>
          <p:cNvPr id="5" name="矩形 4"/>
          <p:cNvSpPr/>
          <p:nvPr/>
        </p:nvSpPr>
        <p:spPr>
          <a:xfrm>
            <a:off x="6401152" y="530758"/>
            <a:ext cx="3775393" cy="400110"/>
          </a:xfrm>
          <a:prstGeom prst="rect">
            <a:avLst/>
          </a:prstGeom>
        </p:spPr>
        <p:txBody>
          <a:bodyPr wrap="none">
            <a:spAutoFit/>
          </a:bodyPr>
          <a:lstStyle/>
          <a:p>
            <a:r>
              <a:rPr lang="en-US" altLang="zh-CN" sz="2000" dirty="0">
                <a:solidFill>
                  <a:prstClr val="black"/>
                </a:solidFill>
                <a:latin typeface="Times New Roman" panose="02020603050405020304"/>
                <a:ea typeface="黑体" panose="02010609060101010101" charset="-122"/>
              </a:rPr>
              <a:t>《</a:t>
            </a:r>
            <a:r>
              <a:rPr lang="zh-CN" altLang="en-US" sz="2000" dirty="0">
                <a:solidFill>
                  <a:prstClr val="black"/>
                </a:solidFill>
                <a:latin typeface="Times New Roman" panose="02020603050405020304"/>
                <a:ea typeface="黑体" panose="02010609060101010101" charset="-122"/>
              </a:rPr>
              <a:t>人工智能导论：模型与算法</a:t>
            </a:r>
            <a:r>
              <a:rPr lang="en-US" altLang="zh-CN" sz="2000" dirty="0">
                <a:solidFill>
                  <a:prstClr val="black"/>
                </a:solidFill>
                <a:latin typeface="Times New Roman" panose="02020603050405020304"/>
                <a:ea typeface="黑体" panose="02010609060101010101" charset="-122"/>
              </a:rPr>
              <a:t>》</a:t>
            </a:r>
            <a:endParaRPr lang="zh-CN" altLang="en-US" sz="2000" dirty="0">
              <a:solidFill>
                <a:prstClr val="black"/>
              </a:solidFill>
              <a:latin typeface="Times New Roman" panose="02020603050405020304"/>
              <a:ea typeface="黑体" panose="02010609060101010101" charset="-122"/>
            </a:endParaRPr>
          </a:p>
        </p:txBody>
      </p:sp>
      <p:sp>
        <p:nvSpPr>
          <p:cNvPr id="8" name="标题 1"/>
          <p:cNvSpPr txBox="1"/>
          <p:nvPr/>
        </p:nvSpPr>
        <p:spPr>
          <a:xfrm>
            <a:off x="2203718" y="1435909"/>
            <a:ext cx="7772400" cy="1240032"/>
          </a:xfrm>
          <a:prstGeom prst="rect">
            <a:avLst/>
          </a:prstGeom>
        </p:spPr>
        <p:txBody>
          <a:bodyPr vert="horz" lIns="91440" tIns="144000" rIns="91440" bIns="45720" rtlCol="0" anchor="b">
            <a:normAutofit/>
          </a:bodyPr>
          <a:lstStyle>
            <a:lvl1pPr algn="ctr" defTabSz="914400" rtl="0" eaLnBrk="1" latinLnBrk="0" hangingPunct="1">
              <a:lnSpc>
                <a:spcPct val="90000"/>
              </a:lnSpc>
              <a:spcBef>
                <a:spcPct val="0"/>
              </a:spcBef>
              <a:buNone/>
              <a:defRPr sz="4800" kern="1200">
                <a:solidFill>
                  <a:srgbClr val="C00000"/>
                </a:solidFill>
                <a:latin typeface="+mj-lt"/>
                <a:ea typeface="+mj-ea"/>
                <a:cs typeface="+mj-cs"/>
              </a:defRPr>
            </a:lvl1pPr>
          </a:lstStyle>
          <a:p>
            <a:pPr>
              <a:lnSpc>
                <a:spcPct val="100000"/>
              </a:lnSpc>
            </a:pPr>
            <a:r>
              <a:rPr lang="zh-CN" altLang="en-US" sz="6600" b="1" spc="600" dirty="0">
                <a:solidFill>
                  <a:prstClr val="black"/>
                </a:solidFill>
                <a:latin typeface="华文行楷" panose="02010800040101010101" pitchFamily="2" charset="-122"/>
                <a:ea typeface="华文行楷" panose="02010800040101010101" pitchFamily="2" charset="-122"/>
                <a:cs typeface="微软雅黑" panose="020B0503020204020204" pitchFamily="34" charset="-122"/>
              </a:rPr>
              <a:t>第 </a:t>
            </a:r>
            <a:r>
              <a:rPr lang="en-US" altLang="zh-CN" sz="6600" b="1" spc="600" dirty="0">
                <a:solidFill>
                  <a:prstClr val="black"/>
                </a:solidFill>
                <a:latin typeface="华文行楷" panose="02010800040101010101" pitchFamily="2" charset="-122"/>
                <a:ea typeface="华文行楷" panose="02010800040101010101" pitchFamily="2" charset="-122"/>
                <a:cs typeface="微软雅黑" panose="020B0503020204020204" pitchFamily="34" charset="-122"/>
              </a:rPr>
              <a:t>6 </a:t>
            </a:r>
            <a:r>
              <a:rPr lang="zh-CN" altLang="en-US" sz="6600" b="1" spc="600" dirty="0">
                <a:solidFill>
                  <a:prstClr val="black"/>
                </a:solidFill>
                <a:latin typeface="华文行楷" panose="02010800040101010101" pitchFamily="2" charset="-122"/>
                <a:ea typeface="华文行楷" panose="02010800040101010101" pitchFamily="2" charset="-122"/>
                <a:cs typeface="微软雅黑" panose="020B0503020204020204" pitchFamily="34" charset="-122"/>
              </a:rPr>
              <a:t>章</a:t>
            </a:r>
            <a:endParaRPr lang="zh-CN" altLang="en-US" sz="6600" spc="600" dirty="0">
              <a:solidFill>
                <a:prstClr val="black"/>
              </a:solidFill>
              <a:latin typeface="华文行楷" panose="02010800040101010101" pitchFamily="2" charset="-122"/>
              <a:ea typeface="华文行楷" panose="02010800040101010101" pitchFamily="2"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3"/>
          <p:cNvSpPr>
            <a:spLocks noChangeArrowheads="1"/>
          </p:cNvSpPr>
          <p:nvPr/>
        </p:nvSpPr>
        <p:spPr bwMode="auto">
          <a:xfrm>
            <a:off x="1524001" y="2864"/>
            <a:ext cx="6780609" cy="9080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800">
                <a:solidFill>
                  <a:schemeClr val="tx1"/>
                </a:solidFill>
                <a:latin typeface="Verdana" panose="020B0604030504040204" pitchFamily="34" charset="0"/>
                <a:ea typeface="宋体" panose="02010600030101010101" pitchFamily="2" charset="-122"/>
              </a:defRPr>
            </a:lvl1pPr>
            <a:lvl2pPr marL="742950" indent="-285750">
              <a:defRPr sz="2800">
                <a:solidFill>
                  <a:schemeClr val="tx1"/>
                </a:solidFill>
                <a:latin typeface="Verdana" panose="020B0604030504040204" pitchFamily="34" charset="0"/>
                <a:ea typeface="宋体" panose="02010600030101010101" pitchFamily="2" charset="-122"/>
              </a:defRPr>
            </a:lvl2pPr>
            <a:lvl3pPr marL="1143000" indent="-228600">
              <a:defRPr sz="2800">
                <a:solidFill>
                  <a:schemeClr val="tx1"/>
                </a:solidFill>
                <a:latin typeface="Verdana" panose="020B0604030504040204" pitchFamily="34" charset="0"/>
                <a:ea typeface="宋体" panose="02010600030101010101" pitchFamily="2" charset="-122"/>
              </a:defRPr>
            </a:lvl3pPr>
            <a:lvl4pPr marL="1600200" indent="-228600">
              <a:defRPr sz="2800">
                <a:solidFill>
                  <a:schemeClr val="tx1"/>
                </a:solidFill>
                <a:latin typeface="Verdana" panose="020B0604030504040204" pitchFamily="34" charset="0"/>
                <a:ea typeface="宋体" panose="02010600030101010101" pitchFamily="2" charset="-122"/>
              </a:defRPr>
            </a:lvl4pPr>
            <a:lvl5pPr marL="2057400" indent="-228600">
              <a:defRPr sz="28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Verdana" panose="020B0604030504040204" pitchFamily="34" charset="0"/>
                <a:ea typeface="宋体" panose="02010600030101010101" pitchFamily="2" charset="-122"/>
              </a:defRPr>
            </a:lvl9pPr>
          </a:lstStyle>
          <a:p>
            <a:r>
              <a:rPr lang="zh-CN" altLang="en-US" sz="4000" b="1" dirty="0">
                <a:solidFill>
                  <a:srgbClr val="C00000"/>
                </a:solidFill>
                <a:latin typeface="Times New Roman" panose="02020603050405020304"/>
                <a:ea typeface="微软雅黑" panose="020B0503020204020204" pitchFamily="34" charset="-122"/>
                <a:sym typeface="Times New Roman" panose="02020603050405020304" pitchFamily="18" charset="0"/>
              </a:rPr>
              <a:t>  提纲</a:t>
            </a:r>
            <a:endParaRPr lang="zh-CN" altLang="en-US" sz="4000" b="1" dirty="0">
              <a:solidFill>
                <a:srgbClr val="C00000"/>
              </a:solidFill>
              <a:latin typeface="Times New Roman" panose="02020603050405020304"/>
              <a:ea typeface="微软雅黑" panose="020B0503020204020204" pitchFamily="34" charset="-122"/>
              <a:sym typeface="Times New Roman" panose="02020603050405020304" pitchFamily="18" charset="0"/>
            </a:endParaRPr>
          </a:p>
        </p:txBody>
      </p:sp>
      <p:sp>
        <p:nvSpPr>
          <p:cNvPr id="22" name="矩形 7"/>
          <p:cNvSpPr>
            <a:spLocks noChangeArrowheads="1"/>
          </p:cNvSpPr>
          <p:nvPr/>
        </p:nvSpPr>
        <p:spPr bwMode="auto">
          <a:xfrm>
            <a:off x="1834965" y="3015204"/>
            <a:ext cx="7200000" cy="565348"/>
          </a:xfrm>
          <a:prstGeom prst="rect">
            <a:avLst/>
          </a:prstGeom>
          <a:solidFill>
            <a:schemeClr val="bg1">
              <a:lumMod val="85000"/>
            </a:schemeClr>
          </a:solidFill>
          <a:ln>
            <a:noFill/>
          </a:ln>
        </p:spPr>
        <p:txBody>
          <a:bodyPr wrap="squar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pPr>
              <a:lnSpc>
                <a:spcPct val="120000"/>
              </a:lnSpc>
            </a:pPr>
            <a:r>
              <a:rPr kumimoji="0" lang="zh-CN" altLang="en-US" sz="2800" b="1" dirty="0">
                <a:solidFill>
                  <a:srgbClr val="C00000"/>
                </a:solidFill>
                <a:latin typeface="Times New Roman" panose="02020603050405020304"/>
                <a:ea typeface="微软雅黑" panose="020B0503020204020204" pitchFamily="34" charset="-122"/>
                <a:sym typeface="Calibri" panose="020F0502020204030204" pitchFamily="34" charset="0"/>
              </a:rPr>
              <a:t>二、卷积神经网络</a:t>
            </a:r>
            <a:endParaRPr kumimoji="0" lang="zh-CN" altLang="en-US" sz="2800" b="1" dirty="0">
              <a:solidFill>
                <a:srgbClr val="C00000"/>
              </a:solidFill>
              <a:latin typeface="Times New Roman" panose="02020603050405020304"/>
              <a:ea typeface="微软雅黑" panose="020B0503020204020204" pitchFamily="34" charset="-122"/>
              <a:sym typeface="Calibri" panose="020F0502020204030204" pitchFamily="34" charset="0"/>
            </a:endParaRPr>
          </a:p>
        </p:txBody>
      </p:sp>
      <p:sp>
        <p:nvSpPr>
          <p:cNvPr id="24" name="矩形 7"/>
          <p:cNvSpPr>
            <a:spLocks noChangeArrowheads="1"/>
          </p:cNvSpPr>
          <p:nvPr/>
        </p:nvSpPr>
        <p:spPr bwMode="auto">
          <a:xfrm>
            <a:off x="1757846" y="1716746"/>
            <a:ext cx="7200000" cy="565348"/>
          </a:xfrm>
          <a:prstGeom prst="rect">
            <a:avLst/>
          </a:prstGeom>
          <a:solidFill>
            <a:schemeClr val="bg1">
              <a:lumMod val="85000"/>
            </a:schemeClr>
          </a:solidFill>
          <a:ln>
            <a:noFill/>
          </a:ln>
        </p:spPr>
        <p:txBody>
          <a:bodyPr wrap="squar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pPr>
              <a:lnSpc>
                <a:spcPct val="120000"/>
              </a:lnSpc>
            </a:pPr>
            <a:r>
              <a:rPr kumimoji="0" lang="zh-CN" altLang="en-US" sz="2800" b="1" dirty="0">
                <a:solidFill>
                  <a:srgbClr val="C00000"/>
                </a:solidFill>
                <a:latin typeface="Times New Roman" panose="02020603050405020304"/>
                <a:ea typeface="微软雅黑" panose="020B0503020204020204" pitchFamily="34" charset="-122"/>
              </a:rPr>
              <a:t>一、前馈神经网络</a:t>
            </a:r>
            <a:endParaRPr kumimoji="0" lang="zh-CN" altLang="en-US" sz="2800" b="1" dirty="0">
              <a:solidFill>
                <a:srgbClr val="C00000"/>
              </a:solidFill>
              <a:latin typeface="Times New Roman" panose="02020603050405020304"/>
              <a:ea typeface="微软雅黑" panose="020B0503020204020204" pitchFamily="34" charset="-122"/>
            </a:endParaRPr>
          </a:p>
        </p:txBody>
      </p:sp>
      <p:sp>
        <p:nvSpPr>
          <p:cNvPr id="2" name="矩形 1"/>
          <p:cNvSpPr/>
          <p:nvPr/>
        </p:nvSpPr>
        <p:spPr>
          <a:xfrm>
            <a:off x="2157470" y="5611382"/>
            <a:ext cx="7629180" cy="566822"/>
          </a:xfrm>
          <a:prstGeom prst="rect">
            <a:avLst/>
          </a:prstGeom>
        </p:spPr>
        <p:txBody>
          <a:bodyPr wrap="square">
            <a:spAutoFit/>
          </a:bodyPr>
          <a:lstStyle/>
          <a:p>
            <a:pPr>
              <a:lnSpc>
                <a:spcPts val="1200"/>
              </a:lnSpc>
            </a:pPr>
            <a:r>
              <a:rPr lang="zh-CN" altLang="en-US" dirty="0">
                <a:solidFill>
                  <a:prstClr val="black"/>
                </a:solidFill>
                <a:latin typeface="Times New Roman" panose="02020603050405020304"/>
                <a:ea typeface="黑体" panose="02010609060101010101" charset="-122"/>
              </a:rPr>
              <a:t>吴飞，</a:t>
            </a:r>
            <a:r>
              <a:rPr lang="en-US" altLang="zh-CN" dirty="0">
                <a:solidFill>
                  <a:prstClr val="black"/>
                </a:solidFill>
                <a:latin typeface="Times New Roman" panose="02020603050405020304"/>
                <a:ea typeface="黑体" panose="02010609060101010101" charset="-122"/>
              </a:rPr>
              <a:t>《</a:t>
            </a:r>
            <a:r>
              <a:rPr lang="zh-CN" altLang="en-US" dirty="0">
                <a:solidFill>
                  <a:prstClr val="black"/>
                </a:solidFill>
                <a:latin typeface="Times New Roman" panose="02020603050405020304"/>
                <a:ea typeface="黑体" panose="02010609060101010101" charset="-122"/>
              </a:rPr>
              <a:t>人工智能导论：模型与算法</a:t>
            </a:r>
            <a:r>
              <a:rPr lang="en-US" altLang="zh-CN" dirty="0">
                <a:solidFill>
                  <a:prstClr val="black"/>
                </a:solidFill>
                <a:latin typeface="Times New Roman" panose="02020603050405020304"/>
                <a:ea typeface="黑体" panose="02010609060101010101" charset="-122"/>
              </a:rPr>
              <a:t>》</a:t>
            </a:r>
            <a:r>
              <a:rPr lang="zh-CN" altLang="en-US" dirty="0">
                <a:solidFill>
                  <a:prstClr val="black"/>
                </a:solidFill>
                <a:latin typeface="Times New Roman" panose="02020603050405020304"/>
                <a:ea typeface="黑体" panose="02010609060101010101" charset="-122"/>
              </a:rPr>
              <a:t>，高等教育出版社 </a:t>
            </a:r>
            <a:endParaRPr lang="en-US" altLang="zh-CN" dirty="0">
              <a:solidFill>
                <a:prstClr val="black"/>
              </a:solidFill>
              <a:latin typeface="Times New Roman" panose="02020603050405020304"/>
              <a:ea typeface="黑体" panose="02010609060101010101" charset="-122"/>
            </a:endParaRPr>
          </a:p>
          <a:p>
            <a:pPr>
              <a:lnSpc>
                <a:spcPts val="1200"/>
              </a:lnSpc>
            </a:pPr>
            <a:endParaRPr lang="en-US" altLang="zh-CN" dirty="0">
              <a:solidFill>
                <a:prstClr val="black"/>
              </a:solidFill>
              <a:latin typeface="Times New Roman" panose="02020603050405020304"/>
              <a:ea typeface="黑体" panose="02010609060101010101" charset="-122"/>
            </a:endParaRPr>
          </a:p>
          <a:p>
            <a:pPr>
              <a:lnSpc>
                <a:spcPts val="1200"/>
              </a:lnSpc>
            </a:pPr>
            <a:r>
              <a:rPr lang="en-US" altLang="zh-CN" dirty="0">
                <a:solidFill>
                  <a:prstClr val="black"/>
                </a:solidFill>
                <a:latin typeface="Times New Roman" panose="02020603050405020304"/>
                <a:ea typeface="黑体" panose="02010609060101010101" charset="-122"/>
              </a:rPr>
              <a:t>MOOC</a:t>
            </a:r>
            <a:r>
              <a:rPr lang="zh-CN" altLang="en-US" dirty="0">
                <a:solidFill>
                  <a:prstClr val="black"/>
                </a:solidFill>
                <a:latin typeface="Times New Roman" panose="02020603050405020304"/>
                <a:ea typeface="黑体" panose="02010609060101010101" charset="-122"/>
              </a:rPr>
              <a:t>：</a:t>
            </a:r>
            <a:r>
              <a:rPr lang="en-US" altLang="zh-CN" dirty="0">
                <a:solidFill>
                  <a:prstClr val="black"/>
                </a:solidFill>
                <a:latin typeface="Times New Roman" panose="02020603050405020304"/>
                <a:ea typeface="黑体" panose="02010609060101010101" charset="-122"/>
                <a:hlinkClick r:id="rId1"/>
              </a:rPr>
              <a:t>https://www.icourse163.org/course/ZJU-1003377027</a:t>
            </a:r>
            <a:endParaRPr lang="zh-CN" altLang="en-US" dirty="0">
              <a:solidFill>
                <a:prstClr val="black"/>
              </a:solidFill>
              <a:latin typeface="Times New Roman" panose="02020603050405020304"/>
              <a:ea typeface="黑体" panose="02010609060101010101" charset="-122"/>
            </a:endParaRPr>
          </a:p>
        </p:txBody>
      </p:sp>
      <p:sp>
        <p:nvSpPr>
          <p:cNvPr id="8" name="矩形 7"/>
          <p:cNvSpPr>
            <a:spLocks noChangeArrowheads="1"/>
          </p:cNvSpPr>
          <p:nvPr/>
        </p:nvSpPr>
        <p:spPr bwMode="auto">
          <a:xfrm>
            <a:off x="1834965" y="4082004"/>
            <a:ext cx="7200000" cy="565348"/>
          </a:xfrm>
          <a:prstGeom prst="rect">
            <a:avLst/>
          </a:prstGeom>
          <a:solidFill>
            <a:schemeClr val="bg1">
              <a:lumMod val="85000"/>
            </a:schemeClr>
          </a:solidFill>
          <a:ln>
            <a:noFill/>
          </a:ln>
        </p:spPr>
        <p:txBody>
          <a:bodyPr wrap="squar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pPr>
              <a:lnSpc>
                <a:spcPct val="120000"/>
              </a:lnSpc>
            </a:pPr>
            <a:r>
              <a:rPr kumimoji="0" lang="zh-CN" altLang="en-US" sz="2800" b="1" dirty="0">
                <a:solidFill>
                  <a:srgbClr val="C00000"/>
                </a:solidFill>
                <a:latin typeface="Times New Roman" panose="02020603050405020304"/>
                <a:ea typeface="微软雅黑" panose="020B0503020204020204" pitchFamily="34" charset="-122"/>
                <a:sym typeface="Calibri" panose="020F0502020204030204" pitchFamily="34" charset="0"/>
              </a:rPr>
              <a:t>三、若干应用</a:t>
            </a:r>
            <a:endParaRPr kumimoji="0" lang="zh-CN" altLang="en-US" sz="2800" b="1" dirty="0">
              <a:solidFill>
                <a:srgbClr val="C00000"/>
              </a:solidFill>
              <a:latin typeface="Times New Roman" panose="02020603050405020304"/>
              <a:ea typeface="微软雅黑" panose="020B0503020204020204" pitchFamily="34" charset="-122"/>
              <a:sym typeface="Calibri" panose="020F050202020403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a:spLocks noGrp="1"/>
          </p:cNvSpPr>
          <p:nvPr>
            <p:ph type="title"/>
          </p:nvPr>
        </p:nvSpPr>
        <p:spPr>
          <a:xfrm>
            <a:off x="1916315" y="131079"/>
            <a:ext cx="7962648" cy="657727"/>
          </a:xfrm>
        </p:spPr>
        <p:txBody>
          <a:bodyPr/>
          <a:lstStyle/>
          <a:p>
            <a:pPr algn="l"/>
            <a:r>
              <a:rPr lang="zh-CN" altLang="en-US" sz="4000" dirty="0">
                <a:latin typeface="方正姚体" panose="02010601030101010101" pitchFamily="2" charset="-122"/>
                <a:ea typeface="方正姚体" panose="02010601030101010101" pitchFamily="2" charset="-122"/>
                <a:cs typeface="Times New Roman" panose="02020603050405020304" pitchFamily="18" charset="0"/>
              </a:rPr>
              <a:t>人工神经网络简介</a:t>
            </a:r>
            <a:endParaRPr lang="zh-CN" altLang="en-US" sz="4000" dirty="0">
              <a:latin typeface="方正姚体" panose="02010601030101010101" pitchFamily="2" charset="-122"/>
              <a:ea typeface="方正姚体" panose="02010601030101010101" pitchFamily="2" charset="-122"/>
              <a:cs typeface="Times New Roman" panose="02020603050405020304" pitchFamily="18" charset="0"/>
            </a:endParaRPr>
          </a:p>
        </p:txBody>
      </p:sp>
      <p:sp>
        <p:nvSpPr>
          <p:cNvPr id="32" name="矩形 31"/>
          <p:cNvSpPr/>
          <p:nvPr/>
        </p:nvSpPr>
        <p:spPr>
          <a:xfrm>
            <a:off x="2122792" y="1116600"/>
            <a:ext cx="7962648" cy="5073440"/>
          </a:xfrm>
          <a:prstGeom prst="rect">
            <a:avLst/>
          </a:prstGeom>
          <a:ln>
            <a:solidFill>
              <a:srgbClr val="C00000"/>
            </a:solidFill>
          </a:ln>
        </p:spPr>
        <p:txBody>
          <a:bodyPr wrap="square">
            <a:spAutoFit/>
          </a:bodyPr>
          <a:lstStyle/>
          <a:p>
            <a:pPr marL="323850" indent="-342900" algn="just">
              <a:lnSpc>
                <a:spcPct val="130000"/>
              </a:lnSpc>
              <a:buFont typeface="Wingdings" panose="05000000000000000000" pitchFamily="2" charset="2"/>
              <a:buChar char="Ø"/>
            </a:pPr>
            <a:r>
              <a:rPr lang="zh-CN" altLang="en-US" sz="2800" dirty="0">
                <a:solidFill>
                  <a:prstClr val="black"/>
                </a:solidFill>
                <a:latin typeface="Times New Roman" panose="02020603050405020304"/>
                <a:ea typeface="黑体" panose="02010609060101010101" charset="-122"/>
              </a:rPr>
              <a:t>人 工 神 经 网 络：</a:t>
            </a:r>
            <a:r>
              <a:rPr lang="en-US" altLang="zh-CN" sz="2800" dirty="0">
                <a:solidFill>
                  <a:prstClr val="black"/>
                </a:solidFill>
                <a:latin typeface="Times New Roman" panose="02020603050405020304"/>
                <a:ea typeface="黑体" panose="02010609060101010101" charset="-122"/>
              </a:rPr>
              <a:t>Artificial Neural Networks</a:t>
            </a:r>
            <a:r>
              <a:rPr lang="zh-CN" altLang="en-US" sz="2800" dirty="0">
                <a:solidFill>
                  <a:prstClr val="black"/>
                </a:solidFill>
                <a:latin typeface="Times New Roman" panose="02020603050405020304"/>
                <a:ea typeface="黑体" panose="02010609060101010101" charset="-122"/>
              </a:rPr>
              <a:t>，从信息处理角度建立起来的一种计算模型。模拟生物神经元结构来建立基本的信息处理单元</a:t>
            </a:r>
            <a:r>
              <a:rPr lang="en-US" altLang="zh-CN" sz="2800" dirty="0">
                <a:solidFill>
                  <a:prstClr val="black"/>
                </a:solidFill>
                <a:latin typeface="Times New Roman" panose="02020603050405020304"/>
                <a:ea typeface="黑体" panose="02010609060101010101" charset="-122"/>
              </a:rPr>
              <a:t>--</a:t>
            </a:r>
            <a:r>
              <a:rPr lang="zh-CN" altLang="en-US" sz="2800" dirty="0">
                <a:solidFill>
                  <a:prstClr val="black"/>
                </a:solidFill>
                <a:latin typeface="Times New Roman" panose="02020603050405020304"/>
                <a:ea typeface="黑体" panose="02010609060101010101" charset="-122"/>
              </a:rPr>
              <a:t>人工神经元，然后将大量的人工神经元相互连接成网络进行信息传递并最终产生结果输出。</a:t>
            </a:r>
            <a:endParaRPr lang="zh-CN" altLang="en-US" sz="2800" dirty="0">
              <a:solidFill>
                <a:prstClr val="black"/>
              </a:solidFill>
              <a:latin typeface="Times New Roman" panose="02020603050405020304"/>
              <a:ea typeface="黑体" panose="02010609060101010101" charset="-122"/>
            </a:endParaRPr>
          </a:p>
          <a:p>
            <a:pPr marL="323850" indent="-342900" algn="just">
              <a:lnSpc>
                <a:spcPct val="130000"/>
              </a:lnSpc>
              <a:buFont typeface="Wingdings" panose="05000000000000000000" pitchFamily="2" charset="2"/>
              <a:buChar char="Ø"/>
            </a:pPr>
            <a:r>
              <a:rPr lang="zh-CN" altLang="en-US" sz="2800" dirty="0">
                <a:solidFill>
                  <a:prstClr val="black"/>
                </a:solidFill>
                <a:latin typeface="Times New Roman" panose="02020603050405020304"/>
                <a:ea typeface="黑体" panose="02010609060101010101" charset="-122"/>
              </a:rPr>
              <a:t>人工智能三大流派思想中连接主义流派的基础。</a:t>
            </a:r>
            <a:endParaRPr lang="zh-CN" altLang="en-US" sz="2800" dirty="0">
              <a:solidFill>
                <a:prstClr val="black"/>
              </a:solidFill>
              <a:latin typeface="Times New Roman" panose="02020603050405020304"/>
              <a:ea typeface="黑体" panose="02010609060101010101" charset="-122"/>
            </a:endParaRPr>
          </a:p>
          <a:p>
            <a:pPr marL="323850" indent="-342900" algn="just">
              <a:lnSpc>
                <a:spcPct val="130000"/>
              </a:lnSpc>
              <a:buFont typeface="Wingdings" panose="05000000000000000000" pitchFamily="2" charset="2"/>
              <a:buChar char="Ø"/>
            </a:pPr>
            <a:r>
              <a:rPr lang="zh-CN" altLang="en-US" sz="2800" dirty="0">
                <a:solidFill>
                  <a:prstClr val="black"/>
                </a:solidFill>
                <a:latin typeface="Times New Roman" panose="02020603050405020304"/>
                <a:ea typeface="黑体" panose="02010609060101010101" charset="-122"/>
              </a:rPr>
              <a:t>人工神经网络通常需要通过大量的数据来学习并获得人的知识（规律），才能输出（计算出）正确结果，是机器学习算法中的一个分支。</a:t>
            </a:r>
            <a:endParaRPr lang="zh-CN" altLang="en-US" sz="2800" dirty="0">
              <a:solidFill>
                <a:prstClr val="black"/>
              </a:solidFill>
              <a:latin typeface="Times New Roman" panose="02020603050405020304"/>
              <a:ea typeface="黑体" panose="02010609060101010101"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500"/>
                                  </p:stCondLst>
                                  <p:childTnLst>
                                    <p:set>
                                      <p:cBhvr>
                                        <p:cTn id="6" dur="1" fill="hold">
                                          <p:stCondLst>
                                            <p:cond delay="0"/>
                                          </p:stCondLst>
                                        </p:cTn>
                                        <p:tgtEl>
                                          <p:spTgt spid="32"/>
                                        </p:tgtEl>
                                        <p:attrNameLst>
                                          <p:attrName>style.visibility</p:attrName>
                                        </p:attrNameLst>
                                      </p:cBhvr>
                                      <p:to>
                                        <p:strVal val="visible"/>
                                      </p:to>
                                    </p:set>
                                    <p:animEffect transition="in" filter="fade">
                                      <p:cBhvr>
                                        <p:cTn id="7" dur="500"/>
                                        <p:tgtEl>
                                          <p:spTgt spid="32"/>
                                        </p:tgtEl>
                                      </p:cBhvr>
                                    </p:animEffect>
                                  </p:childTnLst>
                                </p:cTn>
                              </p:par>
                              <p:par>
                                <p:cTn id="8" presetID="10" presetClass="entr" presetSubtype="0" fill="hold" nodeType="withEffect">
                                  <p:stCondLst>
                                    <p:cond delay="500"/>
                                  </p:stCondLst>
                                  <p:childTnLst>
                                    <p:set>
                                      <p:cBhvr>
                                        <p:cTn id="9" dur="1" fill="hold">
                                          <p:stCondLst>
                                            <p:cond delay="0"/>
                                          </p:stCondLst>
                                        </p:cTn>
                                        <p:tgtEl>
                                          <p:spTgt spid="32">
                                            <p:txEl>
                                              <p:pRg st="0" end="0"/>
                                            </p:txEl>
                                          </p:spTgt>
                                        </p:tgtEl>
                                        <p:attrNameLst>
                                          <p:attrName>style.visibility</p:attrName>
                                        </p:attrNameLst>
                                      </p:cBhvr>
                                      <p:to>
                                        <p:strVal val="visible"/>
                                      </p:to>
                                    </p:set>
                                    <p:animEffect transition="in" filter="fade">
                                      <p:cBhvr>
                                        <p:cTn id="10" dur="500"/>
                                        <p:tgtEl>
                                          <p:spTgt spid="32">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2">
                                            <p:txEl>
                                              <p:pRg st="1" end="1"/>
                                            </p:txEl>
                                          </p:spTgt>
                                        </p:tgtEl>
                                        <p:attrNameLst>
                                          <p:attrName>style.visibility</p:attrName>
                                        </p:attrNameLst>
                                      </p:cBhvr>
                                      <p:to>
                                        <p:strVal val="visible"/>
                                      </p:to>
                                    </p:set>
                                    <p:animEffect transition="in" filter="fade">
                                      <p:cBhvr>
                                        <p:cTn id="15" dur="500"/>
                                        <p:tgtEl>
                                          <p:spTgt spid="32">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2">
                                            <p:txEl>
                                              <p:pRg st="2" end="2"/>
                                            </p:txEl>
                                          </p:spTgt>
                                        </p:tgtEl>
                                        <p:attrNameLst>
                                          <p:attrName>style.visibility</p:attrName>
                                        </p:attrNameLst>
                                      </p:cBhvr>
                                      <p:to>
                                        <p:strVal val="visible"/>
                                      </p:to>
                                    </p:set>
                                    <p:animEffect transition="in" filter="fade">
                                      <p:cBhvr>
                                        <p:cTn id="20" dur="500"/>
                                        <p:tgtEl>
                                          <p:spTgt spid="3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a:spLocks noGrp="1"/>
          </p:cNvSpPr>
          <p:nvPr>
            <p:ph type="title"/>
          </p:nvPr>
        </p:nvSpPr>
        <p:spPr>
          <a:xfrm>
            <a:off x="1916315" y="131079"/>
            <a:ext cx="7962648" cy="657727"/>
          </a:xfrm>
        </p:spPr>
        <p:txBody>
          <a:bodyPr/>
          <a:lstStyle/>
          <a:p>
            <a:pPr algn="l"/>
            <a:r>
              <a:rPr lang="zh-CN" altLang="en-US" sz="4000" dirty="0">
                <a:latin typeface="方正姚体" panose="02010601030101010101" pitchFamily="2" charset="-122"/>
                <a:ea typeface="方正姚体" panose="02010601030101010101" pitchFamily="2" charset="-122"/>
                <a:cs typeface="Times New Roman" panose="02020603050405020304" pitchFamily="18" charset="0"/>
              </a:rPr>
              <a:t>人工神经网络简介</a:t>
            </a:r>
            <a:endParaRPr lang="zh-CN" altLang="en-US" sz="4000" dirty="0">
              <a:latin typeface="方正姚体" panose="02010601030101010101" pitchFamily="2" charset="-122"/>
              <a:ea typeface="方正姚体" panose="02010601030101010101" pitchFamily="2" charset="-122"/>
              <a:cs typeface="Times New Roman" panose="02020603050405020304" pitchFamily="18" charset="0"/>
            </a:endParaRPr>
          </a:p>
        </p:txBody>
      </p:sp>
      <p:sp>
        <p:nvSpPr>
          <p:cNvPr id="32" name="矩形 31"/>
          <p:cNvSpPr/>
          <p:nvPr/>
        </p:nvSpPr>
        <p:spPr>
          <a:xfrm>
            <a:off x="2122050" y="1777761"/>
            <a:ext cx="2226266" cy="3953133"/>
          </a:xfrm>
          <a:prstGeom prst="rect">
            <a:avLst/>
          </a:prstGeom>
          <a:ln>
            <a:solidFill>
              <a:srgbClr val="C00000"/>
            </a:solidFill>
          </a:ln>
        </p:spPr>
        <p:txBody>
          <a:bodyPr wrap="square">
            <a:spAutoFit/>
          </a:bodyPr>
          <a:lstStyle/>
          <a:p>
            <a:pPr marL="323850" indent="-342900" algn="just">
              <a:lnSpc>
                <a:spcPct val="130000"/>
              </a:lnSpc>
              <a:buFont typeface="Wingdings" panose="05000000000000000000" pitchFamily="2" charset="2"/>
              <a:buChar char="Ø"/>
            </a:pPr>
            <a:r>
              <a:rPr lang="zh-CN" altLang="en-US" sz="2800" dirty="0">
                <a:solidFill>
                  <a:prstClr val="black"/>
                </a:solidFill>
                <a:latin typeface="Times New Roman" panose="02020603050405020304"/>
                <a:ea typeface="黑体" panose="02010609060101010101" charset="-122"/>
              </a:rPr>
              <a:t>人的知识可从两个维度（是否可统计、是否可推理）分成四类。</a:t>
            </a:r>
            <a:endParaRPr lang="zh-CN" altLang="en-US" sz="2800" dirty="0">
              <a:solidFill>
                <a:prstClr val="black"/>
              </a:solidFill>
              <a:latin typeface="Times New Roman" panose="02020603050405020304"/>
              <a:ea typeface="黑体" panose="02010609060101010101" charset="-122"/>
            </a:endParaRPr>
          </a:p>
        </p:txBody>
      </p:sp>
      <p:sp>
        <p:nvSpPr>
          <p:cNvPr id="5" name="文本框 4"/>
          <p:cNvSpPr txBox="1"/>
          <p:nvPr/>
        </p:nvSpPr>
        <p:spPr>
          <a:xfrm>
            <a:off x="2048309" y="918373"/>
            <a:ext cx="3310272" cy="707694"/>
          </a:xfrm>
          <a:prstGeom prst="rect">
            <a:avLst/>
          </a:prstGeom>
          <a:noFill/>
        </p:spPr>
        <p:txBody>
          <a:bodyPr wrap="square">
            <a:spAutoFit/>
          </a:bodyPr>
          <a:lstStyle/>
          <a:p>
            <a:pPr marL="0" lvl="1">
              <a:lnSpc>
                <a:spcPct val="150000"/>
              </a:lnSpc>
              <a:spcAft>
                <a:spcPts val="600"/>
              </a:spcAft>
            </a:pPr>
            <a:r>
              <a:rPr lang="zh-CN" altLang="en-US" sz="3200" dirty="0">
                <a:solidFill>
                  <a:srgbClr val="C00000"/>
                </a:solidFill>
                <a:latin typeface="方正姚体" panose="02010601030101010101" pitchFamily="2" charset="-122"/>
                <a:ea typeface="方正姚体" panose="02010601030101010101" pitchFamily="2" charset="-122"/>
                <a:cs typeface="+mn-ea"/>
                <a:sym typeface="+mn-lt"/>
              </a:rPr>
              <a:t>知识的维度</a:t>
            </a:r>
            <a:endParaRPr lang="zh-CN" altLang="en-US" sz="3200" dirty="0">
              <a:solidFill>
                <a:srgbClr val="C00000"/>
              </a:solidFill>
              <a:latin typeface="方正姚体" panose="02010601030101010101" pitchFamily="2" charset="-122"/>
              <a:ea typeface="方正姚体" panose="02010601030101010101" pitchFamily="2" charset="-122"/>
              <a:cs typeface="+mn-ea"/>
              <a:sym typeface="+mn-lt"/>
            </a:endParaRPr>
          </a:p>
        </p:txBody>
      </p:sp>
      <p:pic>
        <p:nvPicPr>
          <p:cNvPr id="6" name="图片 64"/>
          <p:cNvPicPr>
            <a:picLocks noChangeAspect="1"/>
          </p:cNvPicPr>
          <p:nvPr>
            <p:custDataLst>
              <p:tags r:id="rId1"/>
            </p:custDataLst>
          </p:nvPr>
        </p:nvPicPr>
        <p:blipFill>
          <a:blip r:embed="rId2"/>
          <a:srcRect t="1975" r="789" b="1510"/>
          <a:stretch>
            <a:fillRect/>
          </a:stretch>
        </p:blipFill>
        <p:spPr>
          <a:xfrm>
            <a:off x="4484206" y="1777761"/>
            <a:ext cx="5947821" cy="3953133"/>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2"/>
                                        </p:tgtEl>
                                        <p:attrNameLst>
                                          <p:attrName>style.visibility</p:attrName>
                                        </p:attrNameLst>
                                      </p:cBhvr>
                                      <p:to>
                                        <p:strVal val="visible"/>
                                      </p:to>
                                    </p:set>
                                    <p:animEffect transition="in" filter="fade">
                                      <p:cBhvr>
                                        <p:cTn id="12" dur="500"/>
                                        <p:tgtEl>
                                          <p:spTgt spid="32"/>
                                        </p:tgtEl>
                                      </p:cBhvr>
                                    </p:animEffect>
                                  </p:childTnLst>
                                </p:cTn>
                              </p:par>
                              <p:par>
                                <p:cTn id="13" presetID="10" presetClass="entr" presetSubtype="0" fill="hold" nodeType="withEffect">
                                  <p:stCondLst>
                                    <p:cond delay="0"/>
                                  </p:stCondLst>
                                  <p:childTnLst>
                                    <p:set>
                                      <p:cBhvr>
                                        <p:cTn id="14" dur="1" fill="hold">
                                          <p:stCondLst>
                                            <p:cond delay="0"/>
                                          </p:stCondLst>
                                        </p:cTn>
                                        <p:tgtEl>
                                          <p:spTgt spid="32">
                                            <p:txEl>
                                              <p:pRg st="0" end="0"/>
                                            </p:txEl>
                                          </p:spTgt>
                                        </p:tgtEl>
                                        <p:attrNameLst>
                                          <p:attrName>style.visibility</p:attrName>
                                        </p:attrNameLst>
                                      </p:cBhvr>
                                      <p:to>
                                        <p:strVal val="visible"/>
                                      </p:to>
                                    </p:set>
                                    <p:animEffect transition="in" filter="fade">
                                      <p:cBhvr>
                                        <p:cTn id="15" dur="500"/>
                                        <p:tgtEl>
                                          <p:spTgt spid="32">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nodeType="click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fade">
                                      <p:cBhvr>
                                        <p:cTn id="20" dur="1000"/>
                                        <p:tgtEl>
                                          <p:spTgt spid="6"/>
                                        </p:tgtEl>
                                      </p:cBhvr>
                                    </p:animEffect>
                                    <p:anim calcmode="lin" valueType="num">
                                      <p:cBhvr>
                                        <p:cTn id="21" dur="1000" fill="hold"/>
                                        <p:tgtEl>
                                          <p:spTgt spid="6"/>
                                        </p:tgtEl>
                                        <p:attrNameLst>
                                          <p:attrName>ppt_x</p:attrName>
                                        </p:attrNameLst>
                                      </p:cBhvr>
                                      <p:tavLst>
                                        <p:tav tm="0">
                                          <p:val>
                                            <p:strVal val="#ppt_x"/>
                                          </p:val>
                                        </p:tav>
                                        <p:tav tm="100000">
                                          <p:val>
                                            <p:strVal val="#ppt_x"/>
                                          </p:val>
                                        </p:tav>
                                      </p:tavLst>
                                    </p:anim>
                                    <p:anim calcmode="lin" valueType="num">
                                      <p:cBhvr>
                                        <p:cTn id="22"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P spid="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a:spLocks noGrp="1"/>
          </p:cNvSpPr>
          <p:nvPr>
            <p:ph type="title"/>
          </p:nvPr>
        </p:nvSpPr>
        <p:spPr>
          <a:xfrm>
            <a:off x="1916315" y="131079"/>
            <a:ext cx="7962648" cy="657727"/>
          </a:xfrm>
        </p:spPr>
        <p:txBody>
          <a:bodyPr/>
          <a:lstStyle/>
          <a:p>
            <a:pPr algn="l"/>
            <a:r>
              <a:rPr lang="zh-CN" altLang="en-US" sz="4000" dirty="0">
                <a:latin typeface="方正姚体" panose="02010601030101010101" pitchFamily="2" charset="-122"/>
                <a:ea typeface="方正姚体" panose="02010601030101010101" pitchFamily="2" charset="-122"/>
                <a:cs typeface="Times New Roman" panose="02020603050405020304" pitchFamily="18" charset="0"/>
              </a:rPr>
              <a:t>人工神经网络简介</a:t>
            </a:r>
            <a:endParaRPr lang="zh-CN" altLang="en-US" sz="4000" dirty="0">
              <a:latin typeface="方正姚体" panose="02010601030101010101" pitchFamily="2" charset="-122"/>
              <a:ea typeface="方正姚体" panose="02010601030101010101" pitchFamily="2" charset="-122"/>
              <a:cs typeface="Times New Roman" panose="02020603050405020304" pitchFamily="18" charset="0"/>
            </a:endParaRPr>
          </a:p>
        </p:txBody>
      </p:sp>
      <p:sp>
        <p:nvSpPr>
          <p:cNvPr id="32" name="矩形 31"/>
          <p:cNvSpPr/>
          <p:nvPr/>
        </p:nvSpPr>
        <p:spPr>
          <a:xfrm>
            <a:off x="2114676" y="1681895"/>
            <a:ext cx="7962648" cy="4507644"/>
          </a:xfrm>
          <a:prstGeom prst="rect">
            <a:avLst/>
          </a:prstGeom>
          <a:ln>
            <a:solidFill>
              <a:srgbClr val="C00000"/>
            </a:solidFill>
          </a:ln>
        </p:spPr>
        <p:txBody>
          <a:bodyPr wrap="square">
            <a:spAutoFit/>
          </a:bodyPr>
          <a:lstStyle/>
          <a:p>
            <a:pPr marL="323850" indent="-342900" algn="just">
              <a:lnSpc>
                <a:spcPct val="140000"/>
              </a:lnSpc>
              <a:buFont typeface="Wingdings" panose="05000000000000000000" pitchFamily="2" charset="2"/>
              <a:buChar char="Ø"/>
            </a:pPr>
            <a:r>
              <a:rPr lang="zh-CN" altLang="en-US" sz="2600" dirty="0">
                <a:solidFill>
                  <a:prstClr val="black"/>
                </a:solidFill>
                <a:latin typeface="Times New Roman" panose="02020603050405020304"/>
                <a:ea typeface="黑体" panose="02010609060101010101" charset="-122"/>
              </a:rPr>
              <a:t>对于</a:t>
            </a:r>
            <a:r>
              <a:rPr lang="zh-CN" altLang="en-US" sz="2600" dirty="0">
                <a:solidFill>
                  <a:srgbClr val="C00000"/>
                </a:solidFill>
                <a:latin typeface="Times New Roman" panose="02020603050405020304"/>
                <a:ea typeface="黑体" panose="02010609060101010101" charset="-122"/>
              </a:rPr>
              <a:t>可统计、可推理</a:t>
            </a:r>
            <a:r>
              <a:rPr lang="zh-CN" altLang="en-US" sz="2600" dirty="0">
                <a:solidFill>
                  <a:prstClr val="black"/>
                </a:solidFill>
                <a:latin typeface="Times New Roman" panose="02020603050405020304"/>
                <a:ea typeface="黑体" panose="02010609060101010101" charset="-122"/>
              </a:rPr>
              <a:t>的部分知识，不管用经典机器学习方法还是人工神经网络方法都能找到答案；</a:t>
            </a:r>
            <a:endParaRPr lang="zh-CN" altLang="en-US" sz="2600" dirty="0">
              <a:solidFill>
                <a:prstClr val="black"/>
              </a:solidFill>
              <a:latin typeface="Times New Roman" panose="02020603050405020304"/>
              <a:ea typeface="黑体" panose="02010609060101010101" charset="-122"/>
            </a:endParaRPr>
          </a:p>
          <a:p>
            <a:pPr marL="323850" indent="-342900" algn="just">
              <a:lnSpc>
                <a:spcPct val="140000"/>
              </a:lnSpc>
              <a:buFont typeface="Wingdings" panose="05000000000000000000" pitchFamily="2" charset="2"/>
              <a:buChar char="Ø"/>
            </a:pPr>
            <a:r>
              <a:rPr lang="zh-CN" altLang="en-US" sz="2600" dirty="0">
                <a:solidFill>
                  <a:prstClr val="black"/>
                </a:solidFill>
                <a:latin typeface="Times New Roman" panose="02020603050405020304"/>
                <a:ea typeface="黑体" panose="02010609060101010101" charset="-122"/>
              </a:rPr>
              <a:t>对</a:t>
            </a:r>
            <a:r>
              <a:rPr lang="zh-CN" altLang="en-US" sz="2600" dirty="0">
                <a:solidFill>
                  <a:srgbClr val="C00000"/>
                </a:solidFill>
                <a:latin typeface="Times New Roman" panose="02020603050405020304"/>
                <a:ea typeface="黑体" panose="02010609060101010101" charset="-122"/>
              </a:rPr>
              <a:t>可推理不可统计</a:t>
            </a:r>
            <a:r>
              <a:rPr lang="zh-CN" altLang="en-US" sz="2600" dirty="0">
                <a:solidFill>
                  <a:prstClr val="black"/>
                </a:solidFill>
                <a:latin typeface="Times New Roman" panose="02020603050405020304"/>
                <a:ea typeface="黑体" panose="02010609060101010101" charset="-122"/>
              </a:rPr>
              <a:t>的部分知识，可以用举一反三的办法，经典机器学习算法在这个领域取得大量成果；</a:t>
            </a:r>
            <a:endParaRPr lang="zh-CN" altLang="en-US" sz="2600" dirty="0">
              <a:solidFill>
                <a:prstClr val="black"/>
              </a:solidFill>
              <a:latin typeface="Times New Roman" panose="02020603050405020304"/>
              <a:ea typeface="黑体" panose="02010609060101010101" charset="-122"/>
            </a:endParaRPr>
          </a:p>
          <a:p>
            <a:pPr marL="323850" indent="-342900" algn="just">
              <a:lnSpc>
                <a:spcPct val="140000"/>
              </a:lnSpc>
              <a:buFont typeface="Wingdings" panose="05000000000000000000" pitchFamily="2" charset="2"/>
              <a:buChar char="Ø"/>
            </a:pPr>
            <a:r>
              <a:rPr lang="zh-CN" altLang="en-US" sz="2600" dirty="0">
                <a:solidFill>
                  <a:prstClr val="black"/>
                </a:solidFill>
                <a:latin typeface="Times New Roman" panose="02020603050405020304"/>
                <a:ea typeface="黑体" panose="02010609060101010101" charset="-122"/>
              </a:rPr>
              <a:t>对</a:t>
            </a:r>
            <a:r>
              <a:rPr lang="zh-CN" altLang="en-US" sz="2600" dirty="0">
                <a:solidFill>
                  <a:srgbClr val="C00000"/>
                </a:solidFill>
                <a:latin typeface="Times New Roman" panose="02020603050405020304"/>
                <a:ea typeface="黑体" panose="02010609060101010101" charset="-122"/>
              </a:rPr>
              <a:t>可统计不可推理</a:t>
            </a:r>
            <a:r>
              <a:rPr lang="zh-CN" altLang="en-US" sz="2600" dirty="0">
                <a:solidFill>
                  <a:prstClr val="black"/>
                </a:solidFill>
                <a:latin typeface="Times New Roman" panose="02020603050405020304"/>
                <a:ea typeface="黑体" panose="02010609060101010101" charset="-122"/>
              </a:rPr>
              <a:t>的部分知识可以采用模糊识别的方法，神经网络方法在此领域取得了大量成就。</a:t>
            </a:r>
            <a:endParaRPr lang="zh-CN" altLang="en-US" sz="2600" dirty="0">
              <a:solidFill>
                <a:prstClr val="black"/>
              </a:solidFill>
              <a:latin typeface="Times New Roman" panose="02020603050405020304"/>
              <a:ea typeface="黑体" panose="02010609060101010101" charset="-122"/>
            </a:endParaRPr>
          </a:p>
          <a:p>
            <a:pPr marL="323850" indent="-342900" algn="just">
              <a:lnSpc>
                <a:spcPct val="140000"/>
              </a:lnSpc>
              <a:buFont typeface="Wingdings" panose="05000000000000000000" pitchFamily="2" charset="2"/>
              <a:buChar char="Ø"/>
            </a:pPr>
            <a:r>
              <a:rPr lang="zh-CN" altLang="en-US" sz="2600" dirty="0">
                <a:solidFill>
                  <a:prstClr val="black"/>
                </a:solidFill>
                <a:latin typeface="Times New Roman" panose="02020603050405020304"/>
                <a:ea typeface="黑体" panose="02010609060101010101" charset="-122"/>
              </a:rPr>
              <a:t>对既</a:t>
            </a:r>
            <a:r>
              <a:rPr lang="zh-CN" altLang="en-US" sz="2600" dirty="0">
                <a:solidFill>
                  <a:srgbClr val="C00000"/>
                </a:solidFill>
                <a:latin typeface="Times New Roman" panose="02020603050405020304"/>
                <a:ea typeface="黑体" panose="02010609060101010101" charset="-122"/>
              </a:rPr>
              <a:t>不可统计也不可推理</a:t>
            </a:r>
            <a:r>
              <a:rPr lang="zh-CN" altLang="en-US" sz="2600" dirty="0">
                <a:solidFill>
                  <a:prstClr val="black"/>
                </a:solidFill>
                <a:latin typeface="Times New Roman" panose="02020603050405020304"/>
                <a:ea typeface="黑体" panose="02010609060101010101" charset="-122"/>
              </a:rPr>
              <a:t>的部分知识则依赖人的顿悟，很难使用具体方法处理。</a:t>
            </a:r>
            <a:endParaRPr lang="zh-CN" altLang="en-US" sz="2600" dirty="0">
              <a:solidFill>
                <a:prstClr val="black"/>
              </a:solidFill>
              <a:latin typeface="Times New Roman" panose="02020603050405020304"/>
              <a:ea typeface="黑体" panose="02010609060101010101" charset="-122"/>
            </a:endParaRPr>
          </a:p>
        </p:txBody>
      </p:sp>
      <p:sp>
        <p:nvSpPr>
          <p:cNvPr id="5" name="文本框 4"/>
          <p:cNvSpPr txBox="1"/>
          <p:nvPr/>
        </p:nvSpPr>
        <p:spPr>
          <a:xfrm>
            <a:off x="2048309" y="881503"/>
            <a:ext cx="3310272" cy="707694"/>
          </a:xfrm>
          <a:prstGeom prst="rect">
            <a:avLst/>
          </a:prstGeom>
          <a:noFill/>
        </p:spPr>
        <p:txBody>
          <a:bodyPr wrap="square">
            <a:spAutoFit/>
          </a:bodyPr>
          <a:lstStyle/>
          <a:p>
            <a:pPr marL="0" lvl="1">
              <a:lnSpc>
                <a:spcPct val="150000"/>
              </a:lnSpc>
              <a:spcAft>
                <a:spcPts val="600"/>
              </a:spcAft>
            </a:pPr>
            <a:r>
              <a:rPr lang="zh-CN" altLang="en-US" sz="3200" dirty="0">
                <a:solidFill>
                  <a:srgbClr val="C00000"/>
                </a:solidFill>
                <a:latin typeface="方正姚体" panose="02010601030101010101" pitchFamily="2" charset="-122"/>
                <a:ea typeface="方正姚体" panose="02010601030101010101" pitchFamily="2" charset="-122"/>
                <a:cs typeface="+mn-ea"/>
                <a:sym typeface="+mn-lt"/>
              </a:rPr>
              <a:t>知识的维度</a:t>
            </a:r>
            <a:endParaRPr lang="zh-CN" altLang="en-US" sz="3200" dirty="0">
              <a:solidFill>
                <a:srgbClr val="C00000"/>
              </a:solidFill>
              <a:latin typeface="方正姚体" panose="02010601030101010101" pitchFamily="2" charset="-122"/>
              <a:ea typeface="方正姚体" panose="02010601030101010101" pitchFamily="2" charset="-122"/>
              <a:cs typeface="+mn-ea"/>
              <a:sym typeface="+mn-l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500"/>
                                  </p:stCondLst>
                                  <p:childTnLst>
                                    <p:set>
                                      <p:cBhvr>
                                        <p:cTn id="6" dur="1" fill="hold">
                                          <p:stCondLst>
                                            <p:cond delay="0"/>
                                          </p:stCondLst>
                                        </p:cTn>
                                        <p:tgtEl>
                                          <p:spTgt spid="32"/>
                                        </p:tgtEl>
                                        <p:attrNameLst>
                                          <p:attrName>style.visibility</p:attrName>
                                        </p:attrNameLst>
                                      </p:cBhvr>
                                      <p:to>
                                        <p:strVal val="visible"/>
                                      </p:to>
                                    </p:set>
                                    <p:animEffect transition="in" filter="fade">
                                      <p:cBhvr>
                                        <p:cTn id="7" dur="500"/>
                                        <p:tgtEl>
                                          <p:spTgt spid="32"/>
                                        </p:tgtEl>
                                      </p:cBhvr>
                                    </p:animEffect>
                                  </p:childTnLst>
                                </p:cTn>
                              </p:par>
                              <p:par>
                                <p:cTn id="8" presetID="10" presetClass="entr" presetSubtype="0" fill="hold" nodeType="withEffect">
                                  <p:stCondLst>
                                    <p:cond delay="500"/>
                                  </p:stCondLst>
                                  <p:childTnLst>
                                    <p:set>
                                      <p:cBhvr>
                                        <p:cTn id="9" dur="1" fill="hold">
                                          <p:stCondLst>
                                            <p:cond delay="0"/>
                                          </p:stCondLst>
                                        </p:cTn>
                                        <p:tgtEl>
                                          <p:spTgt spid="32">
                                            <p:txEl>
                                              <p:pRg st="0" end="0"/>
                                            </p:txEl>
                                          </p:spTgt>
                                        </p:tgtEl>
                                        <p:attrNameLst>
                                          <p:attrName>style.visibility</p:attrName>
                                        </p:attrNameLst>
                                      </p:cBhvr>
                                      <p:to>
                                        <p:strVal val="visible"/>
                                      </p:to>
                                    </p:set>
                                    <p:animEffect transition="in" filter="fade">
                                      <p:cBhvr>
                                        <p:cTn id="10" dur="500"/>
                                        <p:tgtEl>
                                          <p:spTgt spid="32">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2">
                                            <p:txEl>
                                              <p:pRg st="1" end="1"/>
                                            </p:txEl>
                                          </p:spTgt>
                                        </p:tgtEl>
                                        <p:attrNameLst>
                                          <p:attrName>style.visibility</p:attrName>
                                        </p:attrNameLst>
                                      </p:cBhvr>
                                      <p:to>
                                        <p:strVal val="visible"/>
                                      </p:to>
                                    </p:set>
                                    <p:animEffect transition="in" filter="fade">
                                      <p:cBhvr>
                                        <p:cTn id="15" dur="500"/>
                                        <p:tgtEl>
                                          <p:spTgt spid="32">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2">
                                            <p:txEl>
                                              <p:pRg st="2" end="2"/>
                                            </p:txEl>
                                          </p:spTgt>
                                        </p:tgtEl>
                                        <p:attrNameLst>
                                          <p:attrName>style.visibility</p:attrName>
                                        </p:attrNameLst>
                                      </p:cBhvr>
                                      <p:to>
                                        <p:strVal val="visible"/>
                                      </p:to>
                                    </p:set>
                                    <p:animEffect transition="in" filter="fade">
                                      <p:cBhvr>
                                        <p:cTn id="20" dur="500"/>
                                        <p:tgtEl>
                                          <p:spTgt spid="32">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32">
                                            <p:txEl>
                                              <p:pRg st="3" end="3"/>
                                            </p:txEl>
                                          </p:spTgt>
                                        </p:tgtEl>
                                        <p:attrNameLst>
                                          <p:attrName>style.visibility</p:attrName>
                                        </p:attrNameLst>
                                      </p:cBhvr>
                                      <p:to>
                                        <p:strVal val="visible"/>
                                      </p:to>
                                    </p:set>
                                    <p:animEffect transition="in" filter="fade">
                                      <p:cBhvr>
                                        <p:cTn id="25" dur="500"/>
                                        <p:tgtEl>
                                          <p:spTgt spid="3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a:spLocks noGrp="1"/>
          </p:cNvSpPr>
          <p:nvPr>
            <p:ph type="title"/>
          </p:nvPr>
        </p:nvSpPr>
        <p:spPr>
          <a:xfrm>
            <a:off x="1916315" y="131079"/>
            <a:ext cx="7962648" cy="657727"/>
          </a:xfrm>
        </p:spPr>
        <p:txBody>
          <a:bodyPr/>
          <a:lstStyle/>
          <a:p>
            <a:pPr algn="l"/>
            <a:r>
              <a:rPr lang="zh-CN" altLang="en-US" sz="4000" dirty="0">
                <a:latin typeface="方正姚体" panose="02010601030101010101" pitchFamily="2" charset="-122"/>
                <a:ea typeface="方正姚体" panose="02010601030101010101" pitchFamily="2" charset="-122"/>
                <a:cs typeface="Times New Roman" panose="02020603050405020304" pitchFamily="18" charset="0"/>
              </a:rPr>
              <a:t>人工神经网络简介</a:t>
            </a:r>
            <a:endParaRPr lang="zh-CN" altLang="en-US" sz="4000" dirty="0">
              <a:latin typeface="方正姚体" panose="02010601030101010101" pitchFamily="2" charset="-122"/>
              <a:ea typeface="方正姚体" panose="02010601030101010101" pitchFamily="2" charset="-122"/>
              <a:cs typeface="Times New Roman" panose="02020603050405020304" pitchFamily="18" charset="0"/>
            </a:endParaRPr>
          </a:p>
        </p:txBody>
      </p:sp>
      <p:sp>
        <p:nvSpPr>
          <p:cNvPr id="32" name="矩形 31"/>
          <p:cNvSpPr/>
          <p:nvPr/>
        </p:nvSpPr>
        <p:spPr>
          <a:xfrm>
            <a:off x="2114676" y="1733516"/>
            <a:ext cx="7962648" cy="1596847"/>
          </a:xfrm>
          <a:prstGeom prst="rect">
            <a:avLst/>
          </a:prstGeom>
          <a:ln>
            <a:solidFill>
              <a:srgbClr val="C00000"/>
            </a:solidFill>
          </a:ln>
        </p:spPr>
        <p:txBody>
          <a:bodyPr wrap="square">
            <a:spAutoFit/>
          </a:bodyPr>
          <a:lstStyle/>
          <a:p>
            <a:pPr marL="323850" indent="-342900" algn="just">
              <a:lnSpc>
                <a:spcPct val="130000"/>
              </a:lnSpc>
              <a:buFont typeface="Wingdings" panose="05000000000000000000" pitchFamily="2" charset="2"/>
              <a:buChar char="Ø"/>
            </a:pPr>
            <a:r>
              <a:rPr lang="zh-CN" altLang="en-US" sz="2600" dirty="0">
                <a:solidFill>
                  <a:prstClr val="black"/>
                </a:solidFill>
                <a:latin typeface="Times New Roman" panose="02020603050405020304"/>
                <a:ea typeface="黑体" panose="02010609060101010101" charset="-122"/>
              </a:rPr>
              <a:t>整个神经网络按层次划分，每层包含一定数量的神经元实现信息处理，上一层神经元的处理结果作为下一层神经元的输入。层数较多，称为</a:t>
            </a:r>
            <a:r>
              <a:rPr lang="zh-CN" altLang="en-US" sz="2600" dirty="0">
                <a:solidFill>
                  <a:srgbClr val="C00000"/>
                </a:solidFill>
                <a:latin typeface="Times New Roman" panose="02020603050405020304"/>
                <a:ea typeface="黑体" panose="02010609060101010101" charset="-122"/>
              </a:rPr>
              <a:t>深度学习</a:t>
            </a:r>
            <a:r>
              <a:rPr lang="zh-CN" altLang="en-US" sz="2600" dirty="0">
                <a:solidFill>
                  <a:prstClr val="black"/>
                </a:solidFill>
                <a:latin typeface="Times New Roman" panose="02020603050405020304"/>
                <a:ea typeface="黑体" panose="02010609060101010101" charset="-122"/>
              </a:rPr>
              <a:t>。</a:t>
            </a:r>
            <a:endParaRPr lang="zh-CN" altLang="en-US" sz="2600" dirty="0">
              <a:solidFill>
                <a:prstClr val="black"/>
              </a:solidFill>
              <a:latin typeface="Times New Roman" panose="02020603050405020304"/>
              <a:ea typeface="黑体" panose="02010609060101010101" charset="-122"/>
            </a:endParaRPr>
          </a:p>
        </p:txBody>
      </p:sp>
      <p:sp>
        <p:nvSpPr>
          <p:cNvPr id="5" name="文本框 4"/>
          <p:cNvSpPr txBox="1"/>
          <p:nvPr/>
        </p:nvSpPr>
        <p:spPr>
          <a:xfrm>
            <a:off x="2048309" y="881503"/>
            <a:ext cx="4755615" cy="707694"/>
          </a:xfrm>
          <a:prstGeom prst="rect">
            <a:avLst/>
          </a:prstGeom>
          <a:noFill/>
        </p:spPr>
        <p:txBody>
          <a:bodyPr wrap="square">
            <a:spAutoFit/>
          </a:bodyPr>
          <a:lstStyle/>
          <a:p>
            <a:pPr marL="0" lvl="1">
              <a:lnSpc>
                <a:spcPct val="150000"/>
              </a:lnSpc>
              <a:spcAft>
                <a:spcPts val="600"/>
              </a:spcAft>
            </a:pPr>
            <a:r>
              <a:rPr lang="zh-CN" altLang="en-US" sz="3200" dirty="0">
                <a:solidFill>
                  <a:srgbClr val="C00000"/>
                </a:solidFill>
                <a:latin typeface="方正姚体" panose="02010601030101010101" pitchFamily="2" charset="-122"/>
                <a:ea typeface="方正姚体" panose="02010601030101010101" pitchFamily="2" charset="-122"/>
                <a:cs typeface="+mn-ea"/>
                <a:sym typeface="+mn-lt"/>
              </a:rPr>
              <a:t>神经网络结构与深度学习</a:t>
            </a:r>
            <a:endParaRPr lang="zh-CN" altLang="en-US" sz="3200" dirty="0">
              <a:solidFill>
                <a:srgbClr val="C00000"/>
              </a:solidFill>
              <a:latin typeface="方正姚体" panose="02010601030101010101" pitchFamily="2" charset="-122"/>
              <a:ea typeface="方正姚体" panose="02010601030101010101" pitchFamily="2" charset="-122"/>
              <a:cs typeface="+mn-ea"/>
              <a:sym typeface="+mn-lt"/>
            </a:endParaRPr>
          </a:p>
        </p:txBody>
      </p:sp>
      <p:pic>
        <p:nvPicPr>
          <p:cNvPr id="6" name="图片 1" descr="f05fa5b7fe0366622bf21424a1e4646"/>
          <p:cNvPicPr>
            <a:picLocks noChangeAspect="1"/>
          </p:cNvPicPr>
          <p:nvPr>
            <p:custDataLst>
              <p:tags r:id="rId1"/>
            </p:custDataLst>
          </p:nvPr>
        </p:nvPicPr>
        <p:blipFill>
          <a:blip r:embed="rId2" cstate="print"/>
          <a:srcRect l="313" t="1972" r="1794" b="14411"/>
          <a:stretch>
            <a:fillRect/>
          </a:stretch>
        </p:blipFill>
        <p:spPr>
          <a:xfrm>
            <a:off x="3015614" y="3429000"/>
            <a:ext cx="6716163" cy="283763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50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750"/>
                                        <p:tgtEl>
                                          <p:spTgt spid="5"/>
                                        </p:tgtEl>
                                      </p:cBhvr>
                                    </p:animEffect>
                                  </p:childTnLst>
                                </p:cTn>
                              </p:par>
                            </p:childTnLst>
                          </p:cTn>
                        </p:par>
                        <p:par>
                          <p:cTn id="8" fill="hold">
                            <p:stCondLst>
                              <p:cond delay="1500"/>
                            </p:stCondLst>
                            <p:childTnLst>
                              <p:par>
                                <p:cTn id="9" presetID="10" presetClass="entr" presetSubtype="0" fill="hold" grpId="0" nodeType="afterEffect">
                                  <p:stCondLst>
                                    <p:cond delay="500"/>
                                  </p:stCondLst>
                                  <p:childTnLst>
                                    <p:set>
                                      <p:cBhvr>
                                        <p:cTn id="10" dur="1" fill="hold">
                                          <p:stCondLst>
                                            <p:cond delay="0"/>
                                          </p:stCondLst>
                                        </p:cTn>
                                        <p:tgtEl>
                                          <p:spTgt spid="32"/>
                                        </p:tgtEl>
                                        <p:attrNameLst>
                                          <p:attrName>style.visibility</p:attrName>
                                        </p:attrNameLst>
                                      </p:cBhvr>
                                      <p:to>
                                        <p:strVal val="visible"/>
                                      </p:to>
                                    </p:set>
                                    <p:animEffect transition="in" filter="fade">
                                      <p:cBhvr>
                                        <p:cTn id="11" dur="500"/>
                                        <p:tgtEl>
                                          <p:spTgt spid="32"/>
                                        </p:tgtEl>
                                      </p:cBhvr>
                                    </p:animEffect>
                                  </p:childTnLst>
                                </p:cTn>
                              </p:par>
                              <p:par>
                                <p:cTn id="12" presetID="10" presetClass="entr" presetSubtype="0" fill="hold" nodeType="withEffect">
                                  <p:stCondLst>
                                    <p:cond delay="500"/>
                                  </p:stCondLst>
                                  <p:childTnLst>
                                    <p:set>
                                      <p:cBhvr>
                                        <p:cTn id="13" dur="1" fill="hold">
                                          <p:stCondLst>
                                            <p:cond delay="0"/>
                                          </p:stCondLst>
                                        </p:cTn>
                                        <p:tgtEl>
                                          <p:spTgt spid="32">
                                            <p:txEl>
                                              <p:pRg st="0" end="0"/>
                                            </p:txEl>
                                          </p:spTgt>
                                        </p:tgtEl>
                                        <p:attrNameLst>
                                          <p:attrName>style.visibility</p:attrName>
                                        </p:attrNameLst>
                                      </p:cBhvr>
                                      <p:to>
                                        <p:strVal val="visible"/>
                                      </p:to>
                                    </p:set>
                                    <p:animEffect transition="in" filter="fade">
                                      <p:cBhvr>
                                        <p:cTn id="14" dur="500"/>
                                        <p:tgtEl>
                                          <p:spTgt spid="32">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1000"/>
                                        <p:tgtEl>
                                          <p:spTgt spid="6"/>
                                        </p:tgtEl>
                                      </p:cBhvr>
                                    </p:animEffect>
                                    <p:anim calcmode="lin" valueType="num">
                                      <p:cBhvr>
                                        <p:cTn id="20" dur="1000" fill="hold"/>
                                        <p:tgtEl>
                                          <p:spTgt spid="6"/>
                                        </p:tgtEl>
                                        <p:attrNameLst>
                                          <p:attrName>ppt_x</p:attrName>
                                        </p:attrNameLst>
                                      </p:cBhvr>
                                      <p:tavLst>
                                        <p:tav tm="0">
                                          <p:val>
                                            <p:strVal val="#ppt_x"/>
                                          </p:val>
                                        </p:tav>
                                        <p:tav tm="100000">
                                          <p:val>
                                            <p:strVal val="#ppt_x"/>
                                          </p:val>
                                        </p:tav>
                                      </p:tavLst>
                                    </p:anim>
                                    <p:anim calcmode="lin" valueType="num">
                                      <p:cBhvr>
                                        <p:cTn id="21"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P spid="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a:spLocks noGrp="1"/>
          </p:cNvSpPr>
          <p:nvPr>
            <p:ph type="title"/>
          </p:nvPr>
        </p:nvSpPr>
        <p:spPr>
          <a:xfrm>
            <a:off x="1916315" y="131079"/>
            <a:ext cx="7962648" cy="657727"/>
          </a:xfrm>
        </p:spPr>
        <p:txBody>
          <a:bodyPr/>
          <a:lstStyle/>
          <a:p>
            <a:pPr algn="l"/>
            <a:r>
              <a:rPr lang="zh-CN" altLang="en-US" sz="4000" dirty="0">
                <a:latin typeface="方正姚体" panose="02010601030101010101" pitchFamily="2" charset="-122"/>
                <a:ea typeface="方正姚体" panose="02010601030101010101" pitchFamily="2" charset="-122"/>
                <a:cs typeface="Times New Roman" panose="02020603050405020304" pitchFamily="18" charset="0"/>
              </a:rPr>
              <a:t>人工神经网络简介</a:t>
            </a:r>
            <a:endParaRPr lang="zh-CN" altLang="en-US" sz="4000" dirty="0">
              <a:latin typeface="方正姚体" panose="02010601030101010101" pitchFamily="2" charset="-122"/>
              <a:ea typeface="方正姚体" panose="02010601030101010101" pitchFamily="2" charset="-122"/>
              <a:cs typeface="Times New Roman" panose="02020603050405020304" pitchFamily="18" charset="0"/>
            </a:endParaRPr>
          </a:p>
        </p:txBody>
      </p:sp>
      <p:sp>
        <p:nvSpPr>
          <p:cNvPr id="32" name="矩形 31"/>
          <p:cNvSpPr/>
          <p:nvPr/>
        </p:nvSpPr>
        <p:spPr>
          <a:xfrm>
            <a:off x="2114676" y="1733516"/>
            <a:ext cx="7962648" cy="4197559"/>
          </a:xfrm>
          <a:prstGeom prst="rect">
            <a:avLst/>
          </a:prstGeom>
          <a:ln>
            <a:solidFill>
              <a:srgbClr val="C00000"/>
            </a:solidFill>
          </a:ln>
        </p:spPr>
        <p:txBody>
          <a:bodyPr wrap="square">
            <a:spAutoFit/>
          </a:bodyPr>
          <a:lstStyle/>
          <a:p>
            <a:pPr marL="323850" indent="-342900" algn="just">
              <a:lnSpc>
                <a:spcPct val="130000"/>
              </a:lnSpc>
              <a:buFont typeface="Wingdings" panose="05000000000000000000" pitchFamily="2" charset="2"/>
              <a:buChar char="Ø"/>
            </a:pPr>
            <a:r>
              <a:rPr lang="zh-CN" altLang="en-US" sz="2600" dirty="0">
                <a:solidFill>
                  <a:prstClr val="black"/>
                </a:solidFill>
                <a:latin typeface="Times New Roman" panose="02020603050405020304"/>
                <a:ea typeface="黑体" panose="02010609060101010101" charset="-122"/>
              </a:rPr>
              <a:t>机器学习是人工智能研究领域的一部分，是实现人工智能的算法。</a:t>
            </a:r>
            <a:endParaRPr lang="zh-CN" altLang="en-US" sz="2600" dirty="0">
              <a:solidFill>
                <a:prstClr val="black"/>
              </a:solidFill>
              <a:latin typeface="Times New Roman" panose="02020603050405020304"/>
              <a:ea typeface="黑体" panose="02010609060101010101" charset="-122"/>
            </a:endParaRPr>
          </a:p>
          <a:p>
            <a:pPr marL="323850" indent="-342900" algn="just">
              <a:lnSpc>
                <a:spcPct val="130000"/>
              </a:lnSpc>
              <a:buFont typeface="Wingdings" panose="05000000000000000000" pitchFamily="2" charset="2"/>
              <a:buChar char="Ø"/>
            </a:pPr>
            <a:r>
              <a:rPr lang="zh-CN" altLang="en-US" sz="2600" dirty="0">
                <a:solidFill>
                  <a:prstClr val="black"/>
                </a:solidFill>
                <a:latin typeface="Times New Roman" panose="02020603050405020304"/>
                <a:ea typeface="黑体" panose="02010609060101010101" charset="-122"/>
              </a:rPr>
              <a:t>人工神经网络算法是众多机器学习算法中的一个分支，又可以分为浅层神经网络（实现浅层学习）和深层神经网络（实现深度学习）。</a:t>
            </a:r>
            <a:endParaRPr lang="zh-CN" altLang="en-US" sz="2600" dirty="0">
              <a:solidFill>
                <a:prstClr val="black"/>
              </a:solidFill>
              <a:latin typeface="Times New Roman" panose="02020603050405020304"/>
              <a:ea typeface="黑体" panose="02010609060101010101" charset="-122"/>
            </a:endParaRPr>
          </a:p>
          <a:p>
            <a:pPr marL="323850" indent="-342900" algn="just">
              <a:lnSpc>
                <a:spcPct val="130000"/>
              </a:lnSpc>
              <a:buFont typeface="Wingdings" panose="05000000000000000000" pitchFamily="2" charset="2"/>
              <a:buChar char="Ø"/>
            </a:pPr>
            <a:r>
              <a:rPr lang="zh-CN" altLang="en-US" sz="2600" dirty="0">
                <a:solidFill>
                  <a:prstClr val="black"/>
                </a:solidFill>
                <a:latin typeface="Times New Roman" panose="02020603050405020304"/>
                <a:ea typeface="黑体" panose="02010609060101010101" charset="-122"/>
              </a:rPr>
              <a:t>由于深度学习算法处理出来的结果具有非常高的准确度，达到或接近人的智能程度，从而掀起了当前人工智能新高潮。。</a:t>
            </a:r>
            <a:endParaRPr lang="zh-CN" altLang="en-US" sz="2600" dirty="0">
              <a:solidFill>
                <a:prstClr val="black"/>
              </a:solidFill>
              <a:latin typeface="Times New Roman" panose="02020603050405020304"/>
              <a:ea typeface="黑体" panose="02010609060101010101" charset="-122"/>
            </a:endParaRPr>
          </a:p>
        </p:txBody>
      </p:sp>
      <p:sp>
        <p:nvSpPr>
          <p:cNvPr id="5" name="文本框 4"/>
          <p:cNvSpPr txBox="1"/>
          <p:nvPr/>
        </p:nvSpPr>
        <p:spPr>
          <a:xfrm>
            <a:off x="2048309" y="881503"/>
            <a:ext cx="6746647" cy="707694"/>
          </a:xfrm>
          <a:prstGeom prst="rect">
            <a:avLst/>
          </a:prstGeom>
          <a:noFill/>
        </p:spPr>
        <p:txBody>
          <a:bodyPr wrap="square">
            <a:spAutoFit/>
          </a:bodyPr>
          <a:lstStyle/>
          <a:p>
            <a:pPr marL="0" lvl="1">
              <a:lnSpc>
                <a:spcPct val="150000"/>
              </a:lnSpc>
              <a:spcAft>
                <a:spcPts val="600"/>
              </a:spcAft>
            </a:pPr>
            <a:r>
              <a:rPr lang="zh-CN" altLang="en-US" sz="3200" dirty="0">
                <a:solidFill>
                  <a:srgbClr val="C00000"/>
                </a:solidFill>
                <a:latin typeface="方正姚体" panose="02010601030101010101" pitchFamily="2" charset="-122"/>
                <a:ea typeface="方正姚体" panose="02010601030101010101" pitchFamily="2" charset="-122"/>
                <a:cs typeface="+mn-ea"/>
                <a:sym typeface="+mn-lt"/>
              </a:rPr>
              <a:t>人工智能、机器学习与深度学习关系</a:t>
            </a:r>
            <a:endParaRPr lang="zh-CN" altLang="en-US" sz="3200" dirty="0">
              <a:solidFill>
                <a:srgbClr val="C00000"/>
              </a:solidFill>
              <a:latin typeface="方正姚体" panose="02010601030101010101" pitchFamily="2" charset="-122"/>
              <a:ea typeface="方正姚体" panose="02010601030101010101" pitchFamily="2" charset="-122"/>
              <a:cs typeface="+mn-ea"/>
              <a:sym typeface="+mn-l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50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par>
                          <p:cTn id="8" fill="hold">
                            <p:stCondLst>
                              <p:cond delay="1000"/>
                            </p:stCondLst>
                            <p:childTnLst>
                              <p:par>
                                <p:cTn id="9" presetID="10" presetClass="entr" presetSubtype="0" fill="hold" grpId="0" nodeType="afterEffect">
                                  <p:stCondLst>
                                    <p:cond delay="500"/>
                                  </p:stCondLst>
                                  <p:childTnLst>
                                    <p:set>
                                      <p:cBhvr>
                                        <p:cTn id="10" dur="1" fill="hold">
                                          <p:stCondLst>
                                            <p:cond delay="0"/>
                                          </p:stCondLst>
                                        </p:cTn>
                                        <p:tgtEl>
                                          <p:spTgt spid="32"/>
                                        </p:tgtEl>
                                        <p:attrNameLst>
                                          <p:attrName>style.visibility</p:attrName>
                                        </p:attrNameLst>
                                      </p:cBhvr>
                                      <p:to>
                                        <p:strVal val="visible"/>
                                      </p:to>
                                    </p:set>
                                    <p:animEffect transition="in" filter="fade">
                                      <p:cBhvr>
                                        <p:cTn id="11" dur="500"/>
                                        <p:tgtEl>
                                          <p:spTgt spid="32"/>
                                        </p:tgtEl>
                                      </p:cBhvr>
                                    </p:animEffect>
                                  </p:childTnLst>
                                </p:cTn>
                              </p:par>
                              <p:par>
                                <p:cTn id="12" presetID="10" presetClass="entr" presetSubtype="0" fill="hold" nodeType="withEffect">
                                  <p:stCondLst>
                                    <p:cond delay="500"/>
                                  </p:stCondLst>
                                  <p:childTnLst>
                                    <p:set>
                                      <p:cBhvr>
                                        <p:cTn id="13" dur="1" fill="hold">
                                          <p:stCondLst>
                                            <p:cond delay="0"/>
                                          </p:stCondLst>
                                        </p:cTn>
                                        <p:tgtEl>
                                          <p:spTgt spid="32">
                                            <p:txEl>
                                              <p:pRg st="0" end="0"/>
                                            </p:txEl>
                                          </p:spTgt>
                                        </p:tgtEl>
                                        <p:attrNameLst>
                                          <p:attrName>style.visibility</p:attrName>
                                        </p:attrNameLst>
                                      </p:cBhvr>
                                      <p:to>
                                        <p:strVal val="visible"/>
                                      </p:to>
                                    </p:set>
                                    <p:animEffect transition="in" filter="fade">
                                      <p:cBhvr>
                                        <p:cTn id="14" dur="500"/>
                                        <p:tgtEl>
                                          <p:spTgt spid="32">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32">
                                            <p:txEl>
                                              <p:pRg st="1" end="1"/>
                                            </p:txEl>
                                          </p:spTgt>
                                        </p:tgtEl>
                                        <p:attrNameLst>
                                          <p:attrName>style.visibility</p:attrName>
                                        </p:attrNameLst>
                                      </p:cBhvr>
                                      <p:to>
                                        <p:strVal val="visible"/>
                                      </p:to>
                                    </p:set>
                                    <p:animEffect transition="in" filter="fade">
                                      <p:cBhvr>
                                        <p:cTn id="19" dur="500"/>
                                        <p:tgtEl>
                                          <p:spTgt spid="32">
                                            <p:txEl>
                                              <p:pRg st="1" end="1"/>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32">
                                            <p:txEl>
                                              <p:pRg st="2" end="2"/>
                                            </p:txEl>
                                          </p:spTgt>
                                        </p:tgtEl>
                                        <p:attrNameLst>
                                          <p:attrName>style.visibility</p:attrName>
                                        </p:attrNameLst>
                                      </p:cBhvr>
                                      <p:to>
                                        <p:strVal val="visible"/>
                                      </p:to>
                                    </p:set>
                                    <p:animEffect transition="in" filter="fade">
                                      <p:cBhvr>
                                        <p:cTn id="24" dur="500"/>
                                        <p:tgtEl>
                                          <p:spTgt spid="3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P spid="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a:spLocks noGrp="1"/>
          </p:cNvSpPr>
          <p:nvPr>
            <p:ph type="title"/>
          </p:nvPr>
        </p:nvSpPr>
        <p:spPr>
          <a:xfrm>
            <a:off x="1916315" y="131079"/>
            <a:ext cx="7962648" cy="657727"/>
          </a:xfrm>
        </p:spPr>
        <p:txBody>
          <a:bodyPr/>
          <a:lstStyle/>
          <a:p>
            <a:pPr algn="l"/>
            <a:r>
              <a:rPr lang="zh-CN" altLang="en-US" sz="4000" dirty="0">
                <a:latin typeface="方正姚体" panose="02010601030101010101" pitchFamily="2" charset="-122"/>
                <a:ea typeface="方正姚体" panose="02010601030101010101" pitchFamily="2" charset="-122"/>
                <a:cs typeface="Times New Roman" panose="02020603050405020304" pitchFamily="18" charset="0"/>
              </a:rPr>
              <a:t>人工神经网络简介</a:t>
            </a:r>
            <a:endParaRPr lang="zh-CN" altLang="en-US" sz="4000" dirty="0">
              <a:latin typeface="方正姚体" panose="02010601030101010101" pitchFamily="2" charset="-122"/>
              <a:ea typeface="方正姚体" panose="02010601030101010101" pitchFamily="2" charset="-122"/>
              <a:cs typeface="Times New Roman" panose="02020603050405020304" pitchFamily="18" charset="0"/>
            </a:endParaRPr>
          </a:p>
        </p:txBody>
      </p:sp>
      <p:sp>
        <p:nvSpPr>
          <p:cNvPr id="5" name="文本框 4"/>
          <p:cNvSpPr txBox="1"/>
          <p:nvPr/>
        </p:nvSpPr>
        <p:spPr>
          <a:xfrm>
            <a:off x="2048309" y="881503"/>
            <a:ext cx="6746647" cy="707694"/>
          </a:xfrm>
          <a:prstGeom prst="rect">
            <a:avLst/>
          </a:prstGeom>
          <a:noFill/>
        </p:spPr>
        <p:txBody>
          <a:bodyPr wrap="square">
            <a:spAutoFit/>
          </a:bodyPr>
          <a:lstStyle/>
          <a:p>
            <a:pPr marL="0" lvl="1">
              <a:lnSpc>
                <a:spcPct val="150000"/>
              </a:lnSpc>
              <a:spcAft>
                <a:spcPts val="600"/>
              </a:spcAft>
            </a:pPr>
            <a:r>
              <a:rPr lang="zh-CN" altLang="en-US" sz="3200" dirty="0">
                <a:solidFill>
                  <a:srgbClr val="C00000"/>
                </a:solidFill>
                <a:latin typeface="方正姚体" panose="02010601030101010101" pitchFamily="2" charset="-122"/>
                <a:ea typeface="方正姚体" panose="02010601030101010101" pitchFamily="2" charset="-122"/>
                <a:cs typeface="+mn-ea"/>
                <a:sym typeface="+mn-lt"/>
              </a:rPr>
              <a:t>人工智能、机器学习与深度学习关系</a:t>
            </a:r>
            <a:endParaRPr lang="zh-CN" altLang="en-US" sz="3200" dirty="0">
              <a:solidFill>
                <a:srgbClr val="C00000"/>
              </a:solidFill>
              <a:latin typeface="方正姚体" panose="02010601030101010101" pitchFamily="2" charset="-122"/>
              <a:ea typeface="方正姚体" panose="02010601030101010101" pitchFamily="2" charset="-122"/>
              <a:cs typeface="+mn-ea"/>
              <a:sym typeface="+mn-lt"/>
            </a:endParaRPr>
          </a:p>
        </p:txBody>
      </p:sp>
      <p:pic>
        <p:nvPicPr>
          <p:cNvPr id="7" name="图片 6"/>
          <p:cNvPicPr>
            <a:picLocks noChangeAspect="1"/>
          </p:cNvPicPr>
          <p:nvPr/>
        </p:nvPicPr>
        <p:blipFill>
          <a:blip r:embed="rId1"/>
          <a:srcRect l="902" t="7945" r="196" b="4182"/>
          <a:stretch>
            <a:fillRect/>
          </a:stretch>
        </p:blipFill>
        <p:spPr>
          <a:xfrm>
            <a:off x="3236980" y="1681896"/>
            <a:ext cx="5718040" cy="441945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25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750"/>
                                        <p:tgtEl>
                                          <p:spTgt spid="7"/>
                                        </p:tgtEl>
                                      </p:cBhvr>
                                    </p:animEffect>
                                    <p:anim calcmode="lin" valueType="num">
                                      <p:cBhvr>
                                        <p:cTn id="8" dur="750" fill="hold"/>
                                        <p:tgtEl>
                                          <p:spTgt spid="7"/>
                                        </p:tgtEl>
                                        <p:attrNameLst>
                                          <p:attrName>ppt_x</p:attrName>
                                        </p:attrNameLst>
                                      </p:cBhvr>
                                      <p:tavLst>
                                        <p:tav tm="0">
                                          <p:val>
                                            <p:strVal val="#ppt_x"/>
                                          </p:val>
                                        </p:tav>
                                        <p:tav tm="100000">
                                          <p:val>
                                            <p:strVal val="#ppt_x"/>
                                          </p:val>
                                        </p:tav>
                                      </p:tavLst>
                                    </p:anim>
                                    <p:anim calcmode="lin" valueType="num">
                                      <p:cBhvr>
                                        <p:cTn id="9" dur="75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a:spLocks noGrp="1"/>
          </p:cNvSpPr>
          <p:nvPr>
            <p:ph type="title"/>
          </p:nvPr>
        </p:nvSpPr>
        <p:spPr>
          <a:xfrm>
            <a:off x="1916315" y="131079"/>
            <a:ext cx="7962648" cy="657727"/>
          </a:xfrm>
        </p:spPr>
        <p:txBody>
          <a:bodyPr/>
          <a:lstStyle/>
          <a:p>
            <a:pPr algn="l"/>
            <a:r>
              <a:rPr lang="zh-CN" altLang="en-US" sz="4000" dirty="0">
                <a:latin typeface="方正姚体" panose="02010601030101010101" pitchFamily="2" charset="-122"/>
                <a:ea typeface="方正姚体" panose="02010601030101010101" pitchFamily="2" charset="-122"/>
                <a:cs typeface="Times New Roman" panose="02020603050405020304" pitchFamily="18" charset="0"/>
              </a:rPr>
              <a:t>人工神经网络简介</a:t>
            </a:r>
            <a:endParaRPr lang="zh-CN" altLang="en-US" sz="4000" dirty="0">
              <a:latin typeface="方正姚体" panose="02010601030101010101" pitchFamily="2" charset="-122"/>
              <a:ea typeface="方正姚体" panose="02010601030101010101" pitchFamily="2" charset="-122"/>
              <a:cs typeface="Times New Roman" panose="02020603050405020304" pitchFamily="18" charset="0"/>
            </a:endParaRPr>
          </a:p>
        </p:txBody>
      </p:sp>
      <p:sp>
        <p:nvSpPr>
          <p:cNvPr id="32" name="矩形 31"/>
          <p:cNvSpPr/>
          <p:nvPr/>
        </p:nvSpPr>
        <p:spPr>
          <a:xfrm>
            <a:off x="2114676" y="1681897"/>
            <a:ext cx="7962648" cy="4717702"/>
          </a:xfrm>
          <a:prstGeom prst="rect">
            <a:avLst/>
          </a:prstGeom>
          <a:ln>
            <a:solidFill>
              <a:srgbClr val="C00000"/>
            </a:solidFill>
          </a:ln>
        </p:spPr>
        <p:txBody>
          <a:bodyPr wrap="square">
            <a:spAutoFit/>
          </a:bodyPr>
          <a:lstStyle/>
          <a:p>
            <a:pPr marL="323850" indent="-342900" algn="just">
              <a:lnSpc>
                <a:spcPct val="130000"/>
              </a:lnSpc>
              <a:buFont typeface="Wingdings" panose="05000000000000000000" pitchFamily="2" charset="2"/>
              <a:buChar char="Ø"/>
            </a:pPr>
            <a:r>
              <a:rPr lang="zh-CN" altLang="en-US" sz="2600" dirty="0">
                <a:solidFill>
                  <a:srgbClr val="FF0000"/>
                </a:solidFill>
                <a:latin typeface="Times New Roman" panose="02020603050405020304"/>
                <a:ea typeface="黑体" panose="02010609060101010101" charset="-122"/>
              </a:rPr>
              <a:t>启蒙时期（</a:t>
            </a:r>
            <a:r>
              <a:rPr lang="en-US" altLang="zh-CN" sz="2600" dirty="0">
                <a:solidFill>
                  <a:srgbClr val="FF0000"/>
                </a:solidFill>
                <a:latin typeface="Times New Roman" panose="02020603050405020304"/>
                <a:ea typeface="黑体" panose="02010609060101010101" charset="-122"/>
              </a:rPr>
              <a:t>1890-1969</a:t>
            </a:r>
            <a:r>
              <a:rPr lang="zh-CN" altLang="en-US" sz="2600" dirty="0">
                <a:solidFill>
                  <a:srgbClr val="FF0000"/>
                </a:solidFill>
                <a:latin typeface="Times New Roman" panose="02020603050405020304"/>
                <a:ea typeface="黑体" panose="02010609060101010101" charset="-122"/>
              </a:rPr>
              <a:t>）</a:t>
            </a:r>
            <a:endParaRPr lang="zh-CN" altLang="en-US" sz="2600" dirty="0">
              <a:solidFill>
                <a:prstClr val="black"/>
              </a:solidFill>
              <a:latin typeface="Times New Roman" panose="02020603050405020304"/>
              <a:ea typeface="黑体" panose="02010609060101010101" charset="-122"/>
            </a:endParaRPr>
          </a:p>
          <a:p>
            <a:pPr marL="323850" indent="-147955" algn="just">
              <a:lnSpc>
                <a:spcPct val="130000"/>
              </a:lnSpc>
              <a:buFont typeface="Arial" panose="020B0604020202020204" pitchFamily="34" charset="0"/>
              <a:buChar char="•"/>
            </a:pPr>
            <a:r>
              <a:rPr lang="en-US" altLang="zh-CN" sz="2600" dirty="0">
                <a:solidFill>
                  <a:prstClr val="black"/>
                </a:solidFill>
                <a:latin typeface="Times New Roman" panose="02020603050405020304"/>
                <a:ea typeface="黑体" panose="02010609060101010101" charset="-122"/>
              </a:rPr>
              <a:t>1890</a:t>
            </a:r>
            <a:r>
              <a:rPr lang="zh-CN" altLang="en-US" sz="2600" dirty="0">
                <a:solidFill>
                  <a:prstClr val="black"/>
                </a:solidFill>
                <a:latin typeface="Times New Roman" panose="02020603050405020304"/>
                <a:ea typeface="黑体" panose="02010609060101010101" charset="-122"/>
              </a:rPr>
              <a:t>年，第一部详细论述人脑结构及功能的专著</a:t>
            </a:r>
            <a:r>
              <a:rPr lang="en-US" altLang="zh-CN" sz="2600" dirty="0">
                <a:solidFill>
                  <a:prstClr val="black"/>
                </a:solidFill>
                <a:latin typeface="Times New Roman" panose="02020603050405020304"/>
                <a:ea typeface="黑体" panose="02010609060101010101" charset="-122"/>
              </a:rPr>
              <a:t>《</a:t>
            </a:r>
            <a:r>
              <a:rPr lang="zh-CN" altLang="en-US" sz="2600" dirty="0">
                <a:solidFill>
                  <a:prstClr val="black"/>
                </a:solidFill>
                <a:latin typeface="Times New Roman" panose="02020603050405020304"/>
                <a:ea typeface="黑体" panose="02010609060101010101" charset="-122"/>
              </a:rPr>
              <a:t>心理学原理</a:t>
            </a:r>
            <a:r>
              <a:rPr lang="en-US" altLang="zh-CN" sz="2600" dirty="0">
                <a:solidFill>
                  <a:prstClr val="black"/>
                </a:solidFill>
                <a:latin typeface="Times New Roman" panose="02020603050405020304"/>
                <a:ea typeface="黑体" panose="02010609060101010101" charset="-122"/>
              </a:rPr>
              <a:t>》</a:t>
            </a:r>
            <a:r>
              <a:rPr lang="zh-CN" altLang="en-US" sz="2600" dirty="0">
                <a:solidFill>
                  <a:prstClr val="black"/>
                </a:solidFill>
                <a:latin typeface="Times New Roman" panose="02020603050405020304"/>
                <a:ea typeface="黑体" panose="02010609060101010101" charset="-122"/>
              </a:rPr>
              <a:t>出版。</a:t>
            </a:r>
            <a:endParaRPr lang="zh-CN" altLang="en-US" sz="2600" dirty="0">
              <a:solidFill>
                <a:prstClr val="black"/>
              </a:solidFill>
              <a:latin typeface="Times New Roman" panose="02020603050405020304"/>
              <a:ea typeface="黑体" panose="02010609060101010101" charset="-122"/>
            </a:endParaRPr>
          </a:p>
          <a:p>
            <a:pPr marL="323850" indent="-147955" algn="just">
              <a:lnSpc>
                <a:spcPct val="130000"/>
              </a:lnSpc>
              <a:buFont typeface="Arial" panose="020B0604020202020204" pitchFamily="34" charset="0"/>
              <a:buChar char="•"/>
            </a:pPr>
            <a:r>
              <a:rPr lang="en-US" altLang="zh-CN" sz="2600" dirty="0">
                <a:solidFill>
                  <a:prstClr val="black"/>
                </a:solidFill>
                <a:latin typeface="Times New Roman" panose="02020603050405020304"/>
                <a:ea typeface="黑体" panose="02010609060101010101" charset="-122"/>
              </a:rPr>
              <a:t>1943</a:t>
            </a:r>
            <a:r>
              <a:rPr lang="zh-CN" altLang="en-US" sz="2600" dirty="0">
                <a:solidFill>
                  <a:prstClr val="black"/>
                </a:solidFill>
                <a:latin typeface="Times New Roman" panose="02020603050405020304"/>
                <a:ea typeface="黑体" panose="02010609060101010101" charset="-122"/>
              </a:rPr>
              <a:t>年，提出人工神经元的数学模型</a:t>
            </a:r>
            <a:r>
              <a:rPr lang="en-US" altLang="zh-CN" sz="2600" dirty="0">
                <a:solidFill>
                  <a:prstClr val="black"/>
                </a:solidFill>
                <a:latin typeface="Times New Roman" panose="02020603050405020304"/>
                <a:ea typeface="黑体" panose="02010609060101010101" charset="-122"/>
              </a:rPr>
              <a:t>——</a:t>
            </a:r>
            <a:r>
              <a:rPr lang="en-US" altLang="zh-CN" sz="2600" dirty="0">
                <a:solidFill>
                  <a:srgbClr val="FF0000"/>
                </a:solidFill>
                <a:latin typeface="Times New Roman" panose="02020603050405020304"/>
                <a:ea typeface="黑体" panose="02010609060101010101" charset="-122"/>
              </a:rPr>
              <a:t>M-P</a:t>
            </a:r>
            <a:r>
              <a:rPr lang="zh-CN" altLang="en-US" sz="2600" dirty="0">
                <a:solidFill>
                  <a:srgbClr val="FF0000"/>
                </a:solidFill>
                <a:latin typeface="Times New Roman" panose="02020603050405020304"/>
                <a:ea typeface="黑体" panose="02010609060101010101" charset="-122"/>
              </a:rPr>
              <a:t>模型</a:t>
            </a:r>
            <a:r>
              <a:rPr lang="zh-CN" altLang="en-US" sz="2600" dirty="0">
                <a:solidFill>
                  <a:prstClr val="black"/>
                </a:solidFill>
                <a:latin typeface="Times New Roman" panose="02020603050405020304"/>
                <a:ea typeface="黑体" panose="02010609060101010101" charset="-122"/>
              </a:rPr>
              <a:t>。</a:t>
            </a:r>
            <a:endParaRPr lang="zh-CN" altLang="en-US" sz="2600" dirty="0">
              <a:solidFill>
                <a:prstClr val="black"/>
              </a:solidFill>
              <a:latin typeface="Times New Roman" panose="02020603050405020304"/>
              <a:ea typeface="黑体" panose="02010609060101010101" charset="-122"/>
            </a:endParaRPr>
          </a:p>
          <a:p>
            <a:pPr marL="323850" indent="-147955" algn="just">
              <a:lnSpc>
                <a:spcPct val="130000"/>
              </a:lnSpc>
              <a:buFont typeface="Arial" panose="020B0604020202020204" pitchFamily="34" charset="0"/>
              <a:buChar char="•"/>
            </a:pPr>
            <a:r>
              <a:rPr lang="en-US" altLang="zh-CN" sz="2600" dirty="0">
                <a:solidFill>
                  <a:prstClr val="black"/>
                </a:solidFill>
                <a:latin typeface="Times New Roman" panose="02020603050405020304"/>
                <a:ea typeface="黑体" panose="02010609060101010101" charset="-122"/>
              </a:rPr>
              <a:t>1949</a:t>
            </a:r>
            <a:r>
              <a:rPr lang="zh-CN" altLang="en-US" sz="2600" dirty="0">
                <a:solidFill>
                  <a:prstClr val="black"/>
                </a:solidFill>
                <a:latin typeface="Times New Roman" panose="02020603050405020304"/>
                <a:ea typeface="黑体" panose="02010609060101010101" charset="-122"/>
              </a:rPr>
              <a:t>年，出版</a:t>
            </a:r>
            <a:r>
              <a:rPr lang="en-US" altLang="zh-CN" sz="2600" dirty="0">
                <a:solidFill>
                  <a:prstClr val="black"/>
                </a:solidFill>
                <a:latin typeface="Times New Roman" panose="02020603050405020304"/>
                <a:ea typeface="黑体" panose="02010609060101010101" charset="-122"/>
              </a:rPr>
              <a:t>《The Organization of Behavior》</a:t>
            </a:r>
            <a:r>
              <a:rPr lang="zh-CN" altLang="en-US" sz="2600" dirty="0">
                <a:solidFill>
                  <a:prstClr val="black"/>
                </a:solidFill>
                <a:latin typeface="Times New Roman" panose="02020603050405020304"/>
                <a:ea typeface="黑体" panose="02010609060101010101" charset="-122"/>
              </a:rPr>
              <a:t>（行为组织学）论著，书中提出了突触连接强度可变的设想。</a:t>
            </a:r>
            <a:endParaRPr lang="zh-CN" altLang="en-US" sz="2600" dirty="0">
              <a:solidFill>
                <a:prstClr val="black"/>
              </a:solidFill>
              <a:latin typeface="Times New Roman" panose="02020603050405020304"/>
              <a:ea typeface="黑体" panose="02010609060101010101" charset="-122"/>
            </a:endParaRPr>
          </a:p>
          <a:p>
            <a:pPr marL="323850" indent="-147955" algn="just">
              <a:lnSpc>
                <a:spcPct val="130000"/>
              </a:lnSpc>
              <a:buFont typeface="Arial" panose="020B0604020202020204" pitchFamily="34" charset="0"/>
              <a:buChar char="•"/>
            </a:pPr>
            <a:r>
              <a:rPr lang="en-US" altLang="zh-CN" sz="2600" dirty="0">
                <a:solidFill>
                  <a:prstClr val="black"/>
                </a:solidFill>
                <a:latin typeface="Times New Roman" panose="02020603050405020304"/>
                <a:ea typeface="黑体" panose="02010609060101010101" charset="-122"/>
              </a:rPr>
              <a:t>1958</a:t>
            </a:r>
            <a:r>
              <a:rPr lang="zh-CN" altLang="en-US" sz="2600" dirty="0">
                <a:solidFill>
                  <a:prstClr val="black"/>
                </a:solidFill>
                <a:latin typeface="Times New Roman" panose="02020603050405020304"/>
                <a:ea typeface="黑体" panose="02010609060101010101" charset="-122"/>
              </a:rPr>
              <a:t>年，发明了一种称为</a:t>
            </a:r>
            <a:r>
              <a:rPr lang="zh-CN" altLang="en-US" sz="2600" dirty="0">
                <a:solidFill>
                  <a:srgbClr val="FF0000"/>
                </a:solidFill>
                <a:latin typeface="Times New Roman" panose="02020603050405020304"/>
                <a:ea typeface="黑体" panose="02010609060101010101" charset="-122"/>
              </a:rPr>
              <a:t>感知机</a:t>
            </a:r>
            <a:r>
              <a:rPr lang="zh-CN" altLang="en-US" sz="2600" dirty="0">
                <a:solidFill>
                  <a:prstClr val="black"/>
                </a:solidFill>
                <a:latin typeface="Times New Roman" panose="02020603050405020304"/>
                <a:ea typeface="黑体" panose="02010609060101010101" charset="-122"/>
              </a:rPr>
              <a:t>（</a:t>
            </a:r>
            <a:r>
              <a:rPr lang="en-US" altLang="zh-CN" sz="2600" dirty="0">
                <a:solidFill>
                  <a:prstClr val="black"/>
                </a:solidFill>
                <a:latin typeface="Times New Roman" panose="02020603050405020304"/>
                <a:ea typeface="黑体" panose="02010609060101010101" charset="-122"/>
              </a:rPr>
              <a:t>Perceptron</a:t>
            </a:r>
            <a:r>
              <a:rPr lang="zh-CN" altLang="en-US" sz="2600" dirty="0">
                <a:solidFill>
                  <a:prstClr val="black"/>
                </a:solidFill>
                <a:latin typeface="Times New Roman" panose="02020603050405020304"/>
                <a:ea typeface="黑体" panose="02010609060101010101" charset="-122"/>
              </a:rPr>
              <a:t>）的人工神经网络模型。</a:t>
            </a:r>
            <a:endParaRPr lang="zh-CN" altLang="en-US" sz="2600" dirty="0">
              <a:solidFill>
                <a:prstClr val="black"/>
              </a:solidFill>
              <a:latin typeface="Times New Roman" panose="02020603050405020304"/>
              <a:ea typeface="黑体" panose="02010609060101010101" charset="-122"/>
            </a:endParaRPr>
          </a:p>
        </p:txBody>
      </p:sp>
      <p:sp>
        <p:nvSpPr>
          <p:cNvPr id="5" name="文本框 4"/>
          <p:cNvSpPr txBox="1"/>
          <p:nvPr/>
        </p:nvSpPr>
        <p:spPr>
          <a:xfrm>
            <a:off x="2048309" y="881503"/>
            <a:ext cx="6746647" cy="707694"/>
          </a:xfrm>
          <a:prstGeom prst="rect">
            <a:avLst/>
          </a:prstGeom>
          <a:noFill/>
        </p:spPr>
        <p:txBody>
          <a:bodyPr wrap="square">
            <a:spAutoFit/>
          </a:bodyPr>
          <a:lstStyle/>
          <a:p>
            <a:pPr marL="0" lvl="1">
              <a:lnSpc>
                <a:spcPct val="150000"/>
              </a:lnSpc>
              <a:spcAft>
                <a:spcPts val="600"/>
              </a:spcAft>
            </a:pPr>
            <a:r>
              <a:rPr lang="zh-CN" altLang="en-US" sz="3200" dirty="0">
                <a:solidFill>
                  <a:srgbClr val="C00000"/>
                </a:solidFill>
                <a:latin typeface="方正姚体" panose="02010601030101010101" pitchFamily="2" charset="-122"/>
                <a:ea typeface="方正姚体" panose="02010601030101010101" pitchFamily="2" charset="-122"/>
                <a:cs typeface="+mn-ea"/>
                <a:sym typeface="+mn-lt"/>
              </a:rPr>
              <a:t>人工神经网络发展历史</a:t>
            </a:r>
            <a:endParaRPr lang="zh-CN" altLang="en-US" sz="3200" dirty="0">
              <a:solidFill>
                <a:srgbClr val="C00000"/>
              </a:solidFill>
              <a:latin typeface="方正姚体" panose="02010601030101010101" pitchFamily="2" charset="-122"/>
              <a:ea typeface="方正姚体" panose="02010601030101010101" pitchFamily="2" charset="-122"/>
              <a:cs typeface="+mn-ea"/>
              <a:sym typeface="+mn-l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50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par>
                          <p:cTn id="8" fill="hold">
                            <p:stCondLst>
                              <p:cond delay="1000"/>
                            </p:stCondLst>
                            <p:childTnLst>
                              <p:par>
                                <p:cTn id="9" presetID="10" presetClass="entr" presetSubtype="0" fill="hold" grpId="0" nodeType="afterEffect">
                                  <p:stCondLst>
                                    <p:cond delay="500"/>
                                  </p:stCondLst>
                                  <p:childTnLst>
                                    <p:set>
                                      <p:cBhvr>
                                        <p:cTn id="10" dur="1" fill="hold">
                                          <p:stCondLst>
                                            <p:cond delay="0"/>
                                          </p:stCondLst>
                                        </p:cTn>
                                        <p:tgtEl>
                                          <p:spTgt spid="32"/>
                                        </p:tgtEl>
                                        <p:attrNameLst>
                                          <p:attrName>style.visibility</p:attrName>
                                        </p:attrNameLst>
                                      </p:cBhvr>
                                      <p:to>
                                        <p:strVal val="visible"/>
                                      </p:to>
                                    </p:set>
                                    <p:animEffect transition="in" filter="fade">
                                      <p:cBhvr>
                                        <p:cTn id="11" dur="500"/>
                                        <p:tgtEl>
                                          <p:spTgt spid="32"/>
                                        </p:tgtEl>
                                      </p:cBhvr>
                                    </p:animEffect>
                                  </p:childTnLst>
                                </p:cTn>
                              </p:par>
                              <p:par>
                                <p:cTn id="12" presetID="10" presetClass="entr" presetSubtype="0" fill="hold" nodeType="withEffect">
                                  <p:stCondLst>
                                    <p:cond delay="500"/>
                                  </p:stCondLst>
                                  <p:childTnLst>
                                    <p:set>
                                      <p:cBhvr>
                                        <p:cTn id="13" dur="1" fill="hold">
                                          <p:stCondLst>
                                            <p:cond delay="0"/>
                                          </p:stCondLst>
                                        </p:cTn>
                                        <p:tgtEl>
                                          <p:spTgt spid="32">
                                            <p:txEl>
                                              <p:pRg st="0" end="0"/>
                                            </p:txEl>
                                          </p:spTgt>
                                        </p:tgtEl>
                                        <p:attrNameLst>
                                          <p:attrName>style.visibility</p:attrName>
                                        </p:attrNameLst>
                                      </p:cBhvr>
                                      <p:to>
                                        <p:strVal val="visible"/>
                                      </p:to>
                                    </p:set>
                                    <p:animEffect transition="in" filter="fade">
                                      <p:cBhvr>
                                        <p:cTn id="14" dur="500"/>
                                        <p:tgtEl>
                                          <p:spTgt spid="32">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32">
                                            <p:txEl>
                                              <p:pRg st="1" end="1"/>
                                            </p:txEl>
                                          </p:spTgt>
                                        </p:tgtEl>
                                        <p:attrNameLst>
                                          <p:attrName>style.visibility</p:attrName>
                                        </p:attrNameLst>
                                      </p:cBhvr>
                                      <p:to>
                                        <p:strVal val="visible"/>
                                      </p:to>
                                    </p:set>
                                    <p:animEffect transition="in" filter="fade">
                                      <p:cBhvr>
                                        <p:cTn id="19" dur="500"/>
                                        <p:tgtEl>
                                          <p:spTgt spid="32">
                                            <p:txEl>
                                              <p:pRg st="1" end="1"/>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32">
                                            <p:txEl>
                                              <p:pRg st="2" end="2"/>
                                            </p:txEl>
                                          </p:spTgt>
                                        </p:tgtEl>
                                        <p:attrNameLst>
                                          <p:attrName>style.visibility</p:attrName>
                                        </p:attrNameLst>
                                      </p:cBhvr>
                                      <p:to>
                                        <p:strVal val="visible"/>
                                      </p:to>
                                    </p:set>
                                    <p:animEffect transition="in" filter="fade">
                                      <p:cBhvr>
                                        <p:cTn id="24" dur="500"/>
                                        <p:tgtEl>
                                          <p:spTgt spid="32">
                                            <p:txEl>
                                              <p:pRg st="2" end="2"/>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32">
                                            <p:txEl>
                                              <p:pRg st="3" end="3"/>
                                            </p:txEl>
                                          </p:spTgt>
                                        </p:tgtEl>
                                        <p:attrNameLst>
                                          <p:attrName>style.visibility</p:attrName>
                                        </p:attrNameLst>
                                      </p:cBhvr>
                                      <p:to>
                                        <p:strVal val="visible"/>
                                      </p:to>
                                    </p:set>
                                    <p:animEffect transition="in" filter="fade">
                                      <p:cBhvr>
                                        <p:cTn id="29" dur="500"/>
                                        <p:tgtEl>
                                          <p:spTgt spid="32">
                                            <p:txEl>
                                              <p:pRg st="3" end="3"/>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32">
                                            <p:txEl>
                                              <p:pRg st="4" end="4"/>
                                            </p:txEl>
                                          </p:spTgt>
                                        </p:tgtEl>
                                        <p:attrNameLst>
                                          <p:attrName>style.visibility</p:attrName>
                                        </p:attrNameLst>
                                      </p:cBhvr>
                                      <p:to>
                                        <p:strVal val="visible"/>
                                      </p:to>
                                    </p:set>
                                    <p:animEffect transition="in" filter="fade">
                                      <p:cBhvr>
                                        <p:cTn id="34" dur="500"/>
                                        <p:tgtEl>
                                          <p:spTgt spid="3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P spid="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a:spLocks noGrp="1"/>
          </p:cNvSpPr>
          <p:nvPr>
            <p:ph type="title"/>
          </p:nvPr>
        </p:nvSpPr>
        <p:spPr>
          <a:xfrm>
            <a:off x="1916315" y="131079"/>
            <a:ext cx="7962648" cy="657727"/>
          </a:xfrm>
        </p:spPr>
        <p:txBody>
          <a:bodyPr/>
          <a:lstStyle/>
          <a:p>
            <a:pPr algn="l"/>
            <a:r>
              <a:rPr lang="zh-CN" altLang="en-US" sz="4000" dirty="0">
                <a:latin typeface="方正姚体" panose="02010601030101010101" pitchFamily="2" charset="-122"/>
                <a:ea typeface="方正姚体" panose="02010601030101010101" pitchFamily="2" charset="-122"/>
                <a:cs typeface="Times New Roman" panose="02020603050405020304" pitchFamily="18" charset="0"/>
              </a:rPr>
              <a:t>人工神经网络简介</a:t>
            </a:r>
            <a:endParaRPr lang="zh-CN" altLang="en-US" sz="4000" dirty="0">
              <a:latin typeface="方正姚体" panose="02010601030101010101" pitchFamily="2" charset="-122"/>
              <a:ea typeface="方正姚体" panose="02010601030101010101" pitchFamily="2" charset="-122"/>
              <a:cs typeface="Times New Roman" panose="02020603050405020304" pitchFamily="18" charset="0"/>
            </a:endParaRPr>
          </a:p>
        </p:txBody>
      </p:sp>
      <p:sp>
        <p:nvSpPr>
          <p:cNvPr id="32" name="矩形 31"/>
          <p:cNvSpPr/>
          <p:nvPr/>
        </p:nvSpPr>
        <p:spPr>
          <a:xfrm>
            <a:off x="2114676" y="1711394"/>
            <a:ext cx="7962648" cy="3947491"/>
          </a:xfrm>
          <a:prstGeom prst="rect">
            <a:avLst/>
          </a:prstGeom>
          <a:ln>
            <a:solidFill>
              <a:srgbClr val="C00000"/>
            </a:solidFill>
          </a:ln>
        </p:spPr>
        <p:txBody>
          <a:bodyPr wrap="square">
            <a:spAutoFit/>
          </a:bodyPr>
          <a:lstStyle/>
          <a:p>
            <a:pPr marL="323850" indent="-342900" algn="just">
              <a:lnSpc>
                <a:spcPct val="140000"/>
              </a:lnSpc>
              <a:buFont typeface="Wingdings" panose="05000000000000000000" pitchFamily="2" charset="2"/>
              <a:buChar char="Ø"/>
            </a:pPr>
            <a:r>
              <a:rPr lang="zh-CN" altLang="en-US" sz="2600" dirty="0">
                <a:solidFill>
                  <a:srgbClr val="FF0000"/>
                </a:solidFill>
                <a:latin typeface="Times New Roman" panose="02020603050405020304"/>
                <a:ea typeface="黑体" panose="02010609060101010101" charset="-122"/>
              </a:rPr>
              <a:t>低潮时期（</a:t>
            </a:r>
            <a:r>
              <a:rPr lang="en-US" altLang="zh-CN" sz="2600" dirty="0">
                <a:solidFill>
                  <a:srgbClr val="FF0000"/>
                </a:solidFill>
                <a:latin typeface="Times New Roman" panose="02020603050405020304"/>
                <a:ea typeface="黑体" panose="02010609060101010101" charset="-122"/>
              </a:rPr>
              <a:t>1969-1982</a:t>
            </a:r>
            <a:r>
              <a:rPr lang="zh-CN" altLang="en-US" sz="2600" dirty="0">
                <a:solidFill>
                  <a:srgbClr val="FF0000"/>
                </a:solidFill>
                <a:latin typeface="Times New Roman" panose="02020603050405020304"/>
                <a:ea typeface="黑体" panose="02010609060101010101" charset="-122"/>
              </a:rPr>
              <a:t>）</a:t>
            </a:r>
            <a:endParaRPr lang="zh-CN" altLang="en-US" sz="2600" dirty="0">
              <a:solidFill>
                <a:srgbClr val="FF0000"/>
              </a:solidFill>
              <a:latin typeface="Times New Roman" panose="02020603050405020304"/>
              <a:ea typeface="黑体" panose="02010609060101010101" charset="-122"/>
            </a:endParaRPr>
          </a:p>
          <a:p>
            <a:pPr marL="323850" indent="-147955" algn="just">
              <a:lnSpc>
                <a:spcPct val="140000"/>
              </a:lnSpc>
              <a:buFont typeface="Arial" panose="020B0604020202020204" pitchFamily="34" charset="0"/>
              <a:buChar char="•"/>
            </a:pPr>
            <a:r>
              <a:rPr lang="en-US" altLang="zh-CN" sz="2600" dirty="0">
                <a:solidFill>
                  <a:prstClr val="black"/>
                </a:solidFill>
                <a:latin typeface="Times New Roman" panose="02020603050405020304"/>
                <a:ea typeface="黑体" panose="02010609060101010101" charset="-122"/>
              </a:rPr>
              <a:t>1969</a:t>
            </a:r>
            <a:r>
              <a:rPr lang="zh-CN" altLang="en-US" sz="2600" dirty="0">
                <a:solidFill>
                  <a:prstClr val="black"/>
                </a:solidFill>
                <a:latin typeface="Times New Roman" panose="02020603050405020304"/>
                <a:ea typeface="黑体" panose="02010609060101010101" charset="-122"/>
              </a:rPr>
              <a:t>年，符号主义派的代表人物指出神经网络的两个关键问题：简单神经网络只能用于线性问题的求解，无法解决</a:t>
            </a:r>
            <a:r>
              <a:rPr lang="zh-CN" altLang="en-US" sz="2600" dirty="0">
                <a:solidFill>
                  <a:srgbClr val="FF0000"/>
                </a:solidFill>
                <a:latin typeface="Times New Roman" panose="02020603050405020304"/>
                <a:ea typeface="黑体" panose="02010609060101010101" charset="-122"/>
              </a:rPr>
              <a:t>异或问题等非线性可分问题</a:t>
            </a:r>
            <a:r>
              <a:rPr lang="zh-CN" altLang="en-US" sz="2600" dirty="0">
                <a:solidFill>
                  <a:prstClr val="black"/>
                </a:solidFill>
                <a:latin typeface="Times New Roman" panose="02020603050405020304"/>
                <a:ea typeface="黑体" panose="02010609060101010101" charset="-122"/>
              </a:rPr>
              <a:t>。</a:t>
            </a:r>
            <a:endParaRPr lang="en-US" altLang="zh-CN" sz="2600" dirty="0">
              <a:solidFill>
                <a:prstClr val="black"/>
              </a:solidFill>
              <a:latin typeface="Times New Roman" panose="02020603050405020304"/>
              <a:ea typeface="黑体" panose="02010609060101010101" charset="-122"/>
            </a:endParaRPr>
          </a:p>
          <a:p>
            <a:pPr marL="323850" indent="-147955" algn="just">
              <a:lnSpc>
                <a:spcPct val="140000"/>
              </a:lnSpc>
              <a:buFont typeface="Arial" panose="020B0604020202020204" pitchFamily="34" charset="0"/>
              <a:buChar char="•"/>
            </a:pPr>
            <a:r>
              <a:rPr lang="en-US" altLang="zh-CN" sz="2600" dirty="0">
                <a:solidFill>
                  <a:prstClr val="black"/>
                </a:solidFill>
                <a:latin typeface="Times New Roman" panose="02020603050405020304"/>
                <a:ea typeface="黑体" panose="02010609060101010101" charset="-122"/>
              </a:rPr>
              <a:t>1974 </a:t>
            </a:r>
            <a:r>
              <a:rPr lang="zh-CN" altLang="en-US" sz="2600" dirty="0">
                <a:solidFill>
                  <a:prstClr val="black"/>
                </a:solidFill>
                <a:latin typeface="Times New Roman" panose="02020603050405020304"/>
                <a:ea typeface="黑体" panose="02010609060101010101" charset="-122"/>
              </a:rPr>
              <a:t>年，保罗</a:t>
            </a:r>
            <a:r>
              <a:rPr lang="en-US" altLang="zh-CN" sz="2600" dirty="0">
                <a:solidFill>
                  <a:prstClr val="black"/>
                </a:solidFill>
                <a:latin typeface="Times New Roman" panose="02020603050405020304"/>
                <a:ea typeface="黑体" panose="02010609060101010101" charset="-122"/>
              </a:rPr>
              <a:t>·</a:t>
            </a:r>
            <a:r>
              <a:rPr lang="zh-CN" altLang="en-US" sz="2600" dirty="0">
                <a:solidFill>
                  <a:prstClr val="black"/>
                </a:solidFill>
                <a:latin typeface="Times New Roman" panose="02020603050405020304"/>
                <a:ea typeface="黑体" panose="02010609060101010101" charset="-122"/>
              </a:rPr>
              <a:t>沃博斯在其博士论文中首次提出了反向传播算法并构建反馈神经网络，可以构建多层神经网络并能解决异或等问题，但并没有引起重视。</a:t>
            </a:r>
            <a:endParaRPr lang="zh-CN" altLang="en-US" sz="2600" dirty="0">
              <a:solidFill>
                <a:prstClr val="black"/>
              </a:solidFill>
              <a:latin typeface="Times New Roman" panose="02020603050405020304"/>
              <a:ea typeface="黑体" panose="02010609060101010101" charset="-122"/>
            </a:endParaRPr>
          </a:p>
        </p:txBody>
      </p:sp>
      <p:sp>
        <p:nvSpPr>
          <p:cNvPr id="5" name="文本框 4"/>
          <p:cNvSpPr txBox="1"/>
          <p:nvPr/>
        </p:nvSpPr>
        <p:spPr>
          <a:xfrm>
            <a:off x="2048309" y="881503"/>
            <a:ext cx="6746647" cy="707694"/>
          </a:xfrm>
          <a:prstGeom prst="rect">
            <a:avLst/>
          </a:prstGeom>
          <a:noFill/>
        </p:spPr>
        <p:txBody>
          <a:bodyPr wrap="square">
            <a:spAutoFit/>
          </a:bodyPr>
          <a:lstStyle/>
          <a:p>
            <a:pPr marL="0" lvl="1">
              <a:lnSpc>
                <a:spcPct val="150000"/>
              </a:lnSpc>
              <a:spcAft>
                <a:spcPts val="600"/>
              </a:spcAft>
            </a:pPr>
            <a:r>
              <a:rPr lang="zh-CN" altLang="en-US" sz="3200" dirty="0">
                <a:solidFill>
                  <a:srgbClr val="C00000"/>
                </a:solidFill>
                <a:latin typeface="方正姚体" panose="02010601030101010101" pitchFamily="2" charset="-122"/>
                <a:ea typeface="方正姚体" panose="02010601030101010101" pitchFamily="2" charset="-122"/>
                <a:cs typeface="+mn-ea"/>
                <a:sym typeface="+mn-lt"/>
              </a:rPr>
              <a:t>人工神经网络发展历史</a:t>
            </a:r>
            <a:endParaRPr lang="zh-CN" altLang="en-US" sz="3200" dirty="0">
              <a:solidFill>
                <a:srgbClr val="C00000"/>
              </a:solidFill>
              <a:latin typeface="方正姚体" panose="02010601030101010101" pitchFamily="2" charset="-122"/>
              <a:ea typeface="方正姚体" panose="02010601030101010101" pitchFamily="2" charset="-122"/>
              <a:cs typeface="+mn-ea"/>
              <a:sym typeface="+mn-l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500"/>
                                  </p:stCondLst>
                                  <p:childTnLst>
                                    <p:set>
                                      <p:cBhvr>
                                        <p:cTn id="6" dur="1" fill="hold">
                                          <p:stCondLst>
                                            <p:cond delay="0"/>
                                          </p:stCondLst>
                                        </p:cTn>
                                        <p:tgtEl>
                                          <p:spTgt spid="32"/>
                                        </p:tgtEl>
                                        <p:attrNameLst>
                                          <p:attrName>style.visibility</p:attrName>
                                        </p:attrNameLst>
                                      </p:cBhvr>
                                      <p:to>
                                        <p:strVal val="visible"/>
                                      </p:to>
                                    </p:set>
                                    <p:animEffect transition="in" filter="fade">
                                      <p:cBhvr>
                                        <p:cTn id="7" dur="500"/>
                                        <p:tgtEl>
                                          <p:spTgt spid="32"/>
                                        </p:tgtEl>
                                      </p:cBhvr>
                                    </p:animEffect>
                                  </p:childTnLst>
                                </p:cTn>
                              </p:par>
                              <p:par>
                                <p:cTn id="8" presetID="10" presetClass="entr" presetSubtype="0" fill="hold" nodeType="withEffect">
                                  <p:stCondLst>
                                    <p:cond delay="500"/>
                                  </p:stCondLst>
                                  <p:childTnLst>
                                    <p:set>
                                      <p:cBhvr>
                                        <p:cTn id="9" dur="1" fill="hold">
                                          <p:stCondLst>
                                            <p:cond delay="0"/>
                                          </p:stCondLst>
                                        </p:cTn>
                                        <p:tgtEl>
                                          <p:spTgt spid="32">
                                            <p:txEl>
                                              <p:pRg st="0" end="0"/>
                                            </p:txEl>
                                          </p:spTgt>
                                        </p:tgtEl>
                                        <p:attrNameLst>
                                          <p:attrName>style.visibility</p:attrName>
                                        </p:attrNameLst>
                                      </p:cBhvr>
                                      <p:to>
                                        <p:strVal val="visible"/>
                                      </p:to>
                                    </p:set>
                                    <p:animEffect transition="in" filter="fade">
                                      <p:cBhvr>
                                        <p:cTn id="10" dur="500"/>
                                        <p:tgtEl>
                                          <p:spTgt spid="32">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2">
                                            <p:txEl>
                                              <p:pRg st="1" end="1"/>
                                            </p:txEl>
                                          </p:spTgt>
                                        </p:tgtEl>
                                        <p:attrNameLst>
                                          <p:attrName>style.visibility</p:attrName>
                                        </p:attrNameLst>
                                      </p:cBhvr>
                                      <p:to>
                                        <p:strVal val="visible"/>
                                      </p:to>
                                    </p:set>
                                    <p:animEffect transition="in" filter="fade">
                                      <p:cBhvr>
                                        <p:cTn id="15" dur="500"/>
                                        <p:tgtEl>
                                          <p:spTgt spid="32">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2">
                                            <p:txEl>
                                              <p:pRg st="2" end="2"/>
                                            </p:txEl>
                                          </p:spTgt>
                                        </p:tgtEl>
                                        <p:attrNameLst>
                                          <p:attrName>style.visibility</p:attrName>
                                        </p:attrNameLst>
                                      </p:cBhvr>
                                      <p:to>
                                        <p:strVal val="visible"/>
                                      </p:to>
                                    </p:set>
                                    <p:animEffect transition="in" filter="fade">
                                      <p:cBhvr>
                                        <p:cTn id="20" dur="500"/>
                                        <p:tgtEl>
                                          <p:spTgt spid="3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a:spLocks noGrp="1"/>
          </p:cNvSpPr>
          <p:nvPr>
            <p:ph type="title"/>
          </p:nvPr>
        </p:nvSpPr>
        <p:spPr>
          <a:xfrm>
            <a:off x="1916315" y="131079"/>
            <a:ext cx="7962648" cy="657727"/>
          </a:xfrm>
        </p:spPr>
        <p:txBody>
          <a:bodyPr/>
          <a:lstStyle/>
          <a:p>
            <a:pPr algn="l"/>
            <a:r>
              <a:rPr lang="zh-CN" altLang="en-US" sz="4000" dirty="0">
                <a:latin typeface="方正姚体" panose="02010601030101010101" pitchFamily="2" charset="-122"/>
                <a:ea typeface="方正姚体" panose="02010601030101010101" pitchFamily="2" charset="-122"/>
                <a:cs typeface="Times New Roman" panose="02020603050405020304" pitchFamily="18" charset="0"/>
              </a:rPr>
              <a:t>人工神经网络简介</a:t>
            </a:r>
            <a:endParaRPr lang="zh-CN" altLang="en-US" sz="4000" dirty="0">
              <a:latin typeface="方正姚体" panose="02010601030101010101" pitchFamily="2" charset="-122"/>
              <a:ea typeface="方正姚体" panose="02010601030101010101" pitchFamily="2" charset="-122"/>
              <a:cs typeface="Times New Roman" panose="02020603050405020304" pitchFamily="18" charset="0"/>
            </a:endParaRPr>
          </a:p>
        </p:txBody>
      </p:sp>
      <p:sp>
        <p:nvSpPr>
          <p:cNvPr id="32" name="矩形 31"/>
          <p:cNvSpPr/>
          <p:nvPr/>
        </p:nvSpPr>
        <p:spPr>
          <a:xfrm>
            <a:off x="2114676" y="1733515"/>
            <a:ext cx="7962648" cy="4507644"/>
          </a:xfrm>
          <a:prstGeom prst="rect">
            <a:avLst/>
          </a:prstGeom>
          <a:ln>
            <a:solidFill>
              <a:srgbClr val="C00000"/>
            </a:solidFill>
          </a:ln>
        </p:spPr>
        <p:txBody>
          <a:bodyPr wrap="square">
            <a:spAutoFit/>
          </a:bodyPr>
          <a:lstStyle/>
          <a:p>
            <a:pPr marL="323850" indent="-342900" algn="just">
              <a:lnSpc>
                <a:spcPct val="140000"/>
              </a:lnSpc>
              <a:buFont typeface="Wingdings" panose="05000000000000000000" pitchFamily="2" charset="2"/>
              <a:buChar char="Ø"/>
            </a:pPr>
            <a:r>
              <a:rPr lang="zh-CN" altLang="en-US" sz="2600" dirty="0">
                <a:solidFill>
                  <a:srgbClr val="FF0000"/>
                </a:solidFill>
                <a:latin typeface="Times New Roman" panose="02020603050405020304"/>
                <a:ea typeface="黑体" panose="02010609060101010101" charset="-122"/>
              </a:rPr>
              <a:t>复兴时期（</a:t>
            </a:r>
            <a:r>
              <a:rPr lang="en-US" altLang="zh-CN" sz="2600" dirty="0">
                <a:solidFill>
                  <a:srgbClr val="FF0000"/>
                </a:solidFill>
                <a:latin typeface="Times New Roman" panose="02020603050405020304"/>
                <a:ea typeface="黑体" panose="02010609060101010101" charset="-122"/>
              </a:rPr>
              <a:t>1982-1986</a:t>
            </a:r>
            <a:r>
              <a:rPr lang="zh-CN" altLang="en-US" sz="2600" dirty="0">
                <a:solidFill>
                  <a:srgbClr val="FF0000"/>
                </a:solidFill>
                <a:latin typeface="Times New Roman" panose="02020603050405020304"/>
                <a:ea typeface="黑体" panose="02010609060101010101" charset="-122"/>
              </a:rPr>
              <a:t>）</a:t>
            </a:r>
            <a:endParaRPr lang="zh-CN" altLang="en-US" sz="2600" dirty="0">
              <a:solidFill>
                <a:srgbClr val="FF0000"/>
              </a:solidFill>
              <a:latin typeface="Times New Roman" panose="02020603050405020304"/>
              <a:ea typeface="黑体" panose="02010609060101010101" charset="-122"/>
            </a:endParaRPr>
          </a:p>
          <a:p>
            <a:pPr marL="323850" indent="-147955" algn="just">
              <a:lnSpc>
                <a:spcPct val="140000"/>
              </a:lnSpc>
              <a:buFont typeface="Arial" panose="020B0604020202020204" pitchFamily="34" charset="0"/>
              <a:buChar char="•"/>
            </a:pPr>
            <a:r>
              <a:rPr lang="en-US" altLang="zh-CN" sz="2600" dirty="0">
                <a:solidFill>
                  <a:prstClr val="black"/>
                </a:solidFill>
                <a:latin typeface="Times New Roman" panose="02020603050405020304"/>
                <a:ea typeface="黑体" panose="02010609060101010101" charset="-122"/>
              </a:rPr>
              <a:t>1982</a:t>
            </a:r>
            <a:r>
              <a:rPr lang="zh-CN" altLang="en-US" sz="2600" dirty="0">
                <a:solidFill>
                  <a:prstClr val="black"/>
                </a:solidFill>
                <a:latin typeface="Times New Roman" panose="02020603050405020304"/>
                <a:ea typeface="黑体" panose="02010609060101010101" charset="-122"/>
              </a:rPr>
              <a:t>年，物理学的动力学思想引入到神经网络中， 提出</a:t>
            </a:r>
            <a:r>
              <a:rPr lang="en-US" altLang="zh-CN" sz="2600" dirty="0" err="1">
                <a:solidFill>
                  <a:srgbClr val="FF0000"/>
                </a:solidFill>
                <a:latin typeface="Times New Roman" panose="02020603050405020304"/>
                <a:ea typeface="黑体" panose="02010609060101010101" charset="-122"/>
              </a:rPr>
              <a:t>Hopfiled</a:t>
            </a:r>
            <a:r>
              <a:rPr lang="zh-CN" altLang="en-US" sz="2600" dirty="0">
                <a:solidFill>
                  <a:srgbClr val="FF0000"/>
                </a:solidFill>
                <a:latin typeface="Times New Roman" panose="02020603050405020304"/>
                <a:ea typeface="黑体" panose="02010609060101010101" charset="-122"/>
              </a:rPr>
              <a:t>神经网络</a:t>
            </a:r>
            <a:r>
              <a:rPr lang="zh-CN" altLang="en-US" sz="2600" dirty="0">
                <a:solidFill>
                  <a:prstClr val="black"/>
                </a:solidFill>
                <a:latin typeface="Times New Roman" panose="02020603050405020304"/>
                <a:ea typeface="黑体" panose="02010609060101010101" charset="-122"/>
              </a:rPr>
              <a:t>。</a:t>
            </a:r>
            <a:endParaRPr lang="zh-CN" altLang="en-US" sz="2600" dirty="0">
              <a:solidFill>
                <a:prstClr val="black"/>
              </a:solidFill>
              <a:latin typeface="Times New Roman" panose="02020603050405020304"/>
              <a:ea typeface="黑体" panose="02010609060101010101" charset="-122"/>
            </a:endParaRPr>
          </a:p>
          <a:p>
            <a:pPr marL="323850" indent="-147955" algn="just">
              <a:lnSpc>
                <a:spcPct val="140000"/>
              </a:lnSpc>
              <a:buFont typeface="Arial" panose="020B0604020202020204" pitchFamily="34" charset="0"/>
              <a:buChar char="•"/>
            </a:pPr>
            <a:r>
              <a:rPr lang="en-US" altLang="zh-CN" sz="2600" dirty="0">
                <a:solidFill>
                  <a:prstClr val="black"/>
                </a:solidFill>
                <a:latin typeface="Times New Roman" panose="02020603050405020304"/>
                <a:ea typeface="黑体" panose="02010609060101010101" charset="-122"/>
              </a:rPr>
              <a:t>1986</a:t>
            </a:r>
            <a:r>
              <a:rPr lang="zh-CN" altLang="en-US" sz="2600" dirty="0">
                <a:solidFill>
                  <a:prstClr val="black"/>
                </a:solidFill>
                <a:latin typeface="Times New Roman" panose="02020603050405020304"/>
                <a:ea typeface="黑体" panose="02010609060101010101" charset="-122"/>
              </a:rPr>
              <a:t>年，自然杂志上发表论文</a:t>
            </a:r>
            <a:r>
              <a:rPr lang="en-US" altLang="zh-CN" sz="2600" dirty="0">
                <a:solidFill>
                  <a:prstClr val="black"/>
                </a:solidFill>
                <a:latin typeface="Times New Roman" panose="02020603050405020304"/>
                <a:ea typeface="黑体" panose="02010609060101010101" charset="-122"/>
              </a:rPr>
              <a:t>《</a:t>
            </a:r>
            <a:r>
              <a:rPr lang="zh-CN" altLang="en-US" sz="2600" dirty="0">
                <a:solidFill>
                  <a:prstClr val="black"/>
                </a:solidFill>
                <a:latin typeface="Times New Roman" panose="02020603050405020304"/>
                <a:ea typeface="黑体" panose="02010609060101010101" charset="-122"/>
              </a:rPr>
              <a:t>通过反向传播算法实现表征学习</a:t>
            </a:r>
            <a:r>
              <a:rPr lang="en-US" altLang="zh-CN" sz="2600" dirty="0">
                <a:solidFill>
                  <a:prstClr val="black"/>
                </a:solidFill>
                <a:latin typeface="Times New Roman" panose="02020603050405020304"/>
                <a:ea typeface="黑体" panose="02010609060101010101" charset="-122"/>
              </a:rPr>
              <a:t>》</a:t>
            </a:r>
            <a:r>
              <a:rPr lang="zh-CN" altLang="en-US" sz="2600" dirty="0">
                <a:solidFill>
                  <a:prstClr val="black"/>
                </a:solidFill>
                <a:latin typeface="Times New Roman" panose="02020603050405020304"/>
                <a:ea typeface="黑体" panose="02010609060101010101" charset="-122"/>
              </a:rPr>
              <a:t>（</a:t>
            </a:r>
            <a:r>
              <a:rPr lang="en-US" altLang="zh-CN" sz="2600" dirty="0">
                <a:solidFill>
                  <a:prstClr val="black"/>
                </a:solidFill>
                <a:latin typeface="Times New Roman" panose="02020603050405020304"/>
                <a:ea typeface="黑体" panose="02010609060101010101" charset="-122"/>
              </a:rPr>
              <a:t>Learning representations by Back-propagating Errors</a:t>
            </a:r>
            <a:r>
              <a:rPr lang="zh-CN" altLang="en-US" sz="2600" dirty="0">
                <a:solidFill>
                  <a:prstClr val="black"/>
                </a:solidFill>
                <a:latin typeface="Times New Roman" panose="02020603050405020304"/>
                <a:ea typeface="黑体" panose="02010609060101010101" charset="-122"/>
              </a:rPr>
              <a:t>），论证了“误差反向传播”算法是切实可操作的训练多层神经网络的方法，</a:t>
            </a:r>
            <a:r>
              <a:rPr lang="zh-CN" altLang="en-US" sz="2600" dirty="0">
                <a:solidFill>
                  <a:srgbClr val="FF0000"/>
                </a:solidFill>
                <a:latin typeface="Times New Roman" panose="02020603050405020304"/>
                <a:ea typeface="黑体" panose="02010609060101010101" charset="-122"/>
              </a:rPr>
              <a:t>多层神经网络</a:t>
            </a:r>
            <a:r>
              <a:rPr lang="zh-CN" altLang="en-US" sz="2600" dirty="0">
                <a:solidFill>
                  <a:prstClr val="black"/>
                </a:solidFill>
                <a:latin typeface="Times New Roman" panose="02020603050405020304"/>
                <a:ea typeface="黑体" panose="02010609060101010101" charset="-122"/>
              </a:rPr>
              <a:t>的有效性再次得到学术界的普遍认可。</a:t>
            </a:r>
            <a:endParaRPr lang="zh-CN" altLang="en-US" sz="2600" dirty="0">
              <a:solidFill>
                <a:prstClr val="black"/>
              </a:solidFill>
              <a:latin typeface="Times New Roman" panose="02020603050405020304"/>
              <a:ea typeface="黑体" panose="02010609060101010101" charset="-122"/>
            </a:endParaRPr>
          </a:p>
        </p:txBody>
      </p:sp>
      <p:sp>
        <p:nvSpPr>
          <p:cNvPr id="5" name="文本框 4"/>
          <p:cNvSpPr txBox="1"/>
          <p:nvPr/>
        </p:nvSpPr>
        <p:spPr>
          <a:xfrm>
            <a:off x="2048309" y="881503"/>
            <a:ext cx="6746647" cy="707694"/>
          </a:xfrm>
          <a:prstGeom prst="rect">
            <a:avLst/>
          </a:prstGeom>
          <a:noFill/>
        </p:spPr>
        <p:txBody>
          <a:bodyPr wrap="square">
            <a:spAutoFit/>
          </a:bodyPr>
          <a:lstStyle/>
          <a:p>
            <a:pPr marL="0" lvl="1">
              <a:lnSpc>
                <a:spcPct val="150000"/>
              </a:lnSpc>
              <a:spcAft>
                <a:spcPts val="600"/>
              </a:spcAft>
            </a:pPr>
            <a:r>
              <a:rPr lang="zh-CN" altLang="en-US" sz="3200" dirty="0">
                <a:solidFill>
                  <a:srgbClr val="C00000"/>
                </a:solidFill>
                <a:latin typeface="方正姚体" panose="02010601030101010101" pitchFamily="2" charset="-122"/>
                <a:ea typeface="方正姚体" panose="02010601030101010101" pitchFamily="2" charset="-122"/>
                <a:cs typeface="+mn-ea"/>
                <a:sym typeface="+mn-lt"/>
              </a:rPr>
              <a:t>人工神经网络发展历史</a:t>
            </a:r>
            <a:endParaRPr lang="zh-CN" altLang="en-US" sz="3200" dirty="0">
              <a:solidFill>
                <a:srgbClr val="C00000"/>
              </a:solidFill>
              <a:latin typeface="方正姚体" panose="02010601030101010101" pitchFamily="2" charset="-122"/>
              <a:ea typeface="方正姚体" panose="02010601030101010101" pitchFamily="2" charset="-122"/>
              <a:cs typeface="+mn-ea"/>
              <a:sym typeface="+mn-l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500"/>
                                  </p:stCondLst>
                                  <p:childTnLst>
                                    <p:set>
                                      <p:cBhvr>
                                        <p:cTn id="6" dur="1" fill="hold">
                                          <p:stCondLst>
                                            <p:cond delay="0"/>
                                          </p:stCondLst>
                                        </p:cTn>
                                        <p:tgtEl>
                                          <p:spTgt spid="32"/>
                                        </p:tgtEl>
                                        <p:attrNameLst>
                                          <p:attrName>style.visibility</p:attrName>
                                        </p:attrNameLst>
                                      </p:cBhvr>
                                      <p:to>
                                        <p:strVal val="visible"/>
                                      </p:to>
                                    </p:set>
                                    <p:animEffect transition="in" filter="fade">
                                      <p:cBhvr>
                                        <p:cTn id="7" dur="500"/>
                                        <p:tgtEl>
                                          <p:spTgt spid="32"/>
                                        </p:tgtEl>
                                      </p:cBhvr>
                                    </p:animEffect>
                                  </p:childTnLst>
                                </p:cTn>
                              </p:par>
                              <p:par>
                                <p:cTn id="8" presetID="10" presetClass="entr" presetSubtype="0" fill="hold" nodeType="withEffect">
                                  <p:stCondLst>
                                    <p:cond delay="500"/>
                                  </p:stCondLst>
                                  <p:childTnLst>
                                    <p:set>
                                      <p:cBhvr>
                                        <p:cTn id="9" dur="1" fill="hold">
                                          <p:stCondLst>
                                            <p:cond delay="0"/>
                                          </p:stCondLst>
                                        </p:cTn>
                                        <p:tgtEl>
                                          <p:spTgt spid="32">
                                            <p:txEl>
                                              <p:pRg st="0" end="0"/>
                                            </p:txEl>
                                          </p:spTgt>
                                        </p:tgtEl>
                                        <p:attrNameLst>
                                          <p:attrName>style.visibility</p:attrName>
                                        </p:attrNameLst>
                                      </p:cBhvr>
                                      <p:to>
                                        <p:strVal val="visible"/>
                                      </p:to>
                                    </p:set>
                                    <p:animEffect transition="in" filter="fade">
                                      <p:cBhvr>
                                        <p:cTn id="10" dur="500"/>
                                        <p:tgtEl>
                                          <p:spTgt spid="32">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2">
                                            <p:txEl>
                                              <p:pRg st="1" end="1"/>
                                            </p:txEl>
                                          </p:spTgt>
                                        </p:tgtEl>
                                        <p:attrNameLst>
                                          <p:attrName>style.visibility</p:attrName>
                                        </p:attrNameLst>
                                      </p:cBhvr>
                                      <p:to>
                                        <p:strVal val="visible"/>
                                      </p:to>
                                    </p:set>
                                    <p:animEffect transition="in" filter="fade">
                                      <p:cBhvr>
                                        <p:cTn id="15" dur="500"/>
                                        <p:tgtEl>
                                          <p:spTgt spid="32">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2">
                                            <p:txEl>
                                              <p:pRg st="2" end="2"/>
                                            </p:txEl>
                                          </p:spTgt>
                                        </p:tgtEl>
                                        <p:attrNameLst>
                                          <p:attrName>style.visibility</p:attrName>
                                        </p:attrNameLst>
                                      </p:cBhvr>
                                      <p:to>
                                        <p:strVal val="visible"/>
                                      </p:to>
                                    </p:set>
                                    <p:animEffect transition="in" filter="fade">
                                      <p:cBhvr>
                                        <p:cTn id="20" dur="500"/>
                                        <p:tgtEl>
                                          <p:spTgt spid="3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a:spLocks noGrp="1"/>
          </p:cNvSpPr>
          <p:nvPr>
            <p:ph type="title"/>
          </p:nvPr>
        </p:nvSpPr>
        <p:spPr>
          <a:xfrm>
            <a:off x="1916315" y="131079"/>
            <a:ext cx="7962648" cy="657727"/>
          </a:xfrm>
        </p:spPr>
        <p:txBody>
          <a:bodyPr/>
          <a:lstStyle/>
          <a:p>
            <a:pPr algn="l"/>
            <a:r>
              <a:rPr lang="zh-CN" altLang="en-US" sz="4000" dirty="0">
                <a:latin typeface="方正姚体" panose="02010601030101010101" pitchFamily="2" charset="-122"/>
                <a:ea typeface="方正姚体" panose="02010601030101010101" pitchFamily="2" charset="-122"/>
                <a:cs typeface="Times New Roman" panose="02020603050405020304" pitchFamily="18" charset="0"/>
              </a:rPr>
              <a:t>人工神经网络简介</a:t>
            </a:r>
            <a:endParaRPr lang="zh-CN" altLang="en-US" sz="4000" dirty="0">
              <a:latin typeface="方正姚体" panose="02010601030101010101" pitchFamily="2" charset="-122"/>
              <a:ea typeface="方正姚体" panose="02010601030101010101" pitchFamily="2" charset="-122"/>
              <a:cs typeface="Times New Roman" panose="02020603050405020304" pitchFamily="18" charset="0"/>
            </a:endParaRPr>
          </a:p>
        </p:txBody>
      </p:sp>
      <p:sp>
        <p:nvSpPr>
          <p:cNvPr id="32" name="矩形 31"/>
          <p:cNvSpPr/>
          <p:nvPr/>
        </p:nvSpPr>
        <p:spPr>
          <a:xfrm>
            <a:off x="2114676" y="1733515"/>
            <a:ext cx="7962648" cy="4361900"/>
          </a:xfrm>
          <a:prstGeom prst="rect">
            <a:avLst/>
          </a:prstGeom>
          <a:ln>
            <a:solidFill>
              <a:srgbClr val="C00000"/>
            </a:solidFill>
          </a:ln>
        </p:spPr>
        <p:txBody>
          <a:bodyPr wrap="square">
            <a:spAutoFit/>
          </a:bodyPr>
          <a:lstStyle/>
          <a:p>
            <a:pPr marL="323850" indent="-342900" algn="just">
              <a:lnSpc>
                <a:spcPct val="130000"/>
              </a:lnSpc>
              <a:buFont typeface="Wingdings" panose="05000000000000000000" pitchFamily="2" charset="2"/>
              <a:buChar char="Ø"/>
            </a:pPr>
            <a:r>
              <a:rPr lang="zh-CN" altLang="en-US" sz="2400" dirty="0">
                <a:solidFill>
                  <a:srgbClr val="FF0000"/>
                </a:solidFill>
                <a:latin typeface="Times New Roman" panose="02020603050405020304"/>
                <a:ea typeface="黑体" panose="02010609060101010101" charset="-122"/>
              </a:rPr>
              <a:t>新时期（</a:t>
            </a:r>
            <a:r>
              <a:rPr lang="en-US" altLang="zh-CN" sz="2400" dirty="0">
                <a:solidFill>
                  <a:srgbClr val="FF0000"/>
                </a:solidFill>
                <a:latin typeface="Times New Roman" panose="02020603050405020304"/>
                <a:ea typeface="黑体" panose="02010609060101010101" charset="-122"/>
              </a:rPr>
              <a:t>1986</a:t>
            </a:r>
            <a:r>
              <a:rPr lang="zh-CN" altLang="en-US" sz="2400" dirty="0">
                <a:solidFill>
                  <a:srgbClr val="FF0000"/>
                </a:solidFill>
                <a:latin typeface="Times New Roman" panose="02020603050405020304"/>
                <a:ea typeface="黑体" panose="02010609060101010101" charset="-122"/>
              </a:rPr>
              <a:t>至今）</a:t>
            </a:r>
            <a:endParaRPr lang="zh-CN" altLang="en-US" sz="2400" dirty="0">
              <a:solidFill>
                <a:srgbClr val="FF0000"/>
              </a:solidFill>
              <a:latin typeface="Times New Roman" panose="02020603050405020304"/>
              <a:ea typeface="黑体" panose="02010609060101010101" charset="-122"/>
            </a:endParaRPr>
          </a:p>
          <a:p>
            <a:pPr marL="323850" indent="-147955" algn="just">
              <a:lnSpc>
                <a:spcPct val="130000"/>
              </a:lnSpc>
              <a:buFont typeface="Arial" panose="020B0604020202020204" pitchFamily="34" charset="0"/>
              <a:buChar char="•"/>
            </a:pPr>
            <a:r>
              <a:rPr lang="en-US" altLang="zh-CN" sz="2400" dirty="0">
                <a:solidFill>
                  <a:prstClr val="black"/>
                </a:solidFill>
                <a:latin typeface="Times New Roman" panose="02020603050405020304"/>
                <a:ea typeface="黑体" panose="02010609060101010101" charset="-122"/>
              </a:rPr>
              <a:t>1987</a:t>
            </a:r>
            <a:r>
              <a:rPr lang="zh-CN" altLang="en-US" sz="2400" dirty="0">
                <a:solidFill>
                  <a:prstClr val="black"/>
                </a:solidFill>
                <a:latin typeface="Times New Roman" panose="02020603050405020304"/>
                <a:ea typeface="黑体" panose="02010609060101010101" charset="-122"/>
              </a:rPr>
              <a:t>年</a:t>
            </a:r>
            <a:r>
              <a:rPr lang="en-US" altLang="zh-CN" sz="2400" dirty="0">
                <a:solidFill>
                  <a:prstClr val="black"/>
                </a:solidFill>
                <a:latin typeface="Times New Roman" panose="02020603050405020304"/>
                <a:ea typeface="黑体" panose="02010609060101010101" charset="-122"/>
              </a:rPr>
              <a:t>6</a:t>
            </a:r>
            <a:r>
              <a:rPr lang="zh-CN" altLang="en-US" sz="2400" dirty="0">
                <a:solidFill>
                  <a:prstClr val="black"/>
                </a:solidFill>
                <a:latin typeface="Times New Roman" panose="02020603050405020304"/>
                <a:ea typeface="黑体" panose="02010609060101010101" charset="-122"/>
              </a:rPr>
              <a:t>月，首届国际神经网络学术会议召开，成立了国际神经网络学会（</a:t>
            </a:r>
            <a:r>
              <a:rPr lang="en-US" altLang="zh-CN" sz="2400" dirty="0">
                <a:solidFill>
                  <a:prstClr val="black"/>
                </a:solidFill>
                <a:latin typeface="Times New Roman" panose="02020603050405020304"/>
                <a:ea typeface="黑体" panose="02010609060101010101" charset="-122"/>
              </a:rPr>
              <a:t>INNS</a:t>
            </a:r>
            <a:r>
              <a:rPr lang="zh-CN" altLang="en-US" sz="2400" dirty="0">
                <a:solidFill>
                  <a:prstClr val="black"/>
                </a:solidFill>
                <a:latin typeface="Times New Roman" panose="02020603050405020304"/>
                <a:ea typeface="黑体" panose="02010609060101010101" charset="-122"/>
              </a:rPr>
              <a:t>）。</a:t>
            </a:r>
            <a:endParaRPr lang="zh-CN" altLang="en-US" sz="2400" dirty="0">
              <a:solidFill>
                <a:prstClr val="black"/>
              </a:solidFill>
              <a:latin typeface="Times New Roman" panose="02020603050405020304"/>
              <a:ea typeface="黑体" panose="02010609060101010101" charset="-122"/>
            </a:endParaRPr>
          </a:p>
          <a:p>
            <a:pPr marL="323850" indent="-147955" algn="just">
              <a:lnSpc>
                <a:spcPct val="130000"/>
              </a:lnSpc>
              <a:buFont typeface="Arial" panose="020B0604020202020204" pitchFamily="34" charset="0"/>
              <a:buChar char="•"/>
            </a:pPr>
            <a:r>
              <a:rPr lang="en-US" altLang="zh-CN" sz="2400" dirty="0">
                <a:solidFill>
                  <a:prstClr val="black"/>
                </a:solidFill>
                <a:latin typeface="Times New Roman" panose="02020603050405020304"/>
                <a:ea typeface="黑体" panose="02010609060101010101" charset="-122"/>
              </a:rPr>
              <a:t>1980</a:t>
            </a:r>
            <a:r>
              <a:rPr lang="zh-CN" altLang="en-US" sz="2400" dirty="0">
                <a:solidFill>
                  <a:prstClr val="black"/>
                </a:solidFill>
                <a:latin typeface="Times New Roman" panose="02020603050405020304"/>
                <a:ea typeface="黑体" panose="02010609060101010101" charset="-122"/>
              </a:rPr>
              <a:t>年代末，提出简单的</a:t>
            </a:r>
            <a:r>
              <a:rPr lang="zh-CN" altLang="en-US" sz="2400" dirty="0">
                <a:solidFill>
                  <a:srgbClr val="FF0000"/>
                </a:solidFill>
                <a:latin typeface="Times New Roman" panose="02020603050405020304"/>
                <a:ea typeface="黑体" panose="02010609060101010101" charset="-122"/>
              </a:rPr>
              <a:t>循环神经网络</a:t>
            </a:r>
            <a:r>
              <a:rPr lang="zh-CN" altLang="en-US" sz="2400" dirty="0">
                <a:solidFill>
                  <a:prstClr val="black"/>
                </a:solidFill>
                <a:latin typeface="Times New Roman" panose="02020603050405020304"/>
                <a:ea typeface="黑体" panose="02010609060101010101" charset="-122"/>
              </a:rPr>
              <a:t>（</a:t>
            </a:r>
            <a:r>
              <a:rPr lang="en-US" altLang="zh-CN" sz="2400" dirty="0">
                <a:solidFill>
                  <a:srgbClr val="FF0000"/>
                </a:solidFill>
                <a:latin typeface="Times New Roman" panose="02020603050405020304"/>
                <a:ea typeface="黑体" panose="02010609060101010101" charset="-122"/>
              </a:rPr>
              <a:t>RNN</a:t>
            </a:r>
            <a:r>
              <a:rPr lang="zh-CN" altLang="en-US" sz="2400" dirty="0">
                <a:solidFill>
                  <a:prstClr val="black"/>
                </a:solidFill>
                <a:latin typeface="Times New Roman" panose="02020603050405020304"/>
                <a:ea typeface="黑体" panose="02010609060101010101" charset="-122"/>
              </a:rPr>
              <a:t>）。</a:t>
            </a:r>
            <a:endParaRPr lang="zh-CN" altLang="en-US" sz="2400" dirty="0">
              <a:solidFill>
                <a:prstClr val="black"/>
              </a:solidFill>
              <a:latin typeface="Times New Roman" panose="02020603050405020304"/>
              <a:ea typeface="黑体" panose="02010609060101010101" charset="-122"/>
            </a:endParaRPr>
          </a:p>
          <a:p>
            <a:pPr marL="323850" indent="-147955" algn="just">
              <a:lnSpc>
                <a:spcPct val="130000"/>
              </a:lnSpc>
              <a:buFont typeface="Arial" panose="020B0604020202020204" pitchFamily="34" charset="0"/>
              <a:buChar char="•"/>
            </a:pPr>
            <a:r>
              <a:rPr lang="en-US" altLang="zh-CN" sz="2400" dirty="0">
                <a:solidFill>
                  <a:prstClr val="black"/>
                </a:solidFill>
                <a:latin typeface="Times New Roman" panose="02020603050405020304"/>
                <a:ea typeface="黑体" panose="02010609060101010101" charset="-122"/>
              </a:rPr>
              <a:t>1989</a:t>
            </a:r>
            <a:r>
              <a:rPr lang="zh-CN" altLang="en-US" sz="2400" dirty="0">
                <a:solidFill>
                  <a:prstClr val="black"/>
                </a:solidFill>
                <a:latin typeface="Times New Roman" panose="02020603050405020304"/>
                <a:ea typeface="黑体" panose="02010609060101010101" charset="-122"/>
              </a:rPr>
              <a:t>年，使用</a:t>
            </a:r>
            <a:r>
              <a:rPr lang="en-US" altLang="zh-CN" sz="2400" dirty="0">
                <a:solidFill>
                  <a:prstClr val="black"/>
                </a:solidFill>
                <a:latin typeface="Times New Roman" panose="02020603050405020304"/>
                <a:ea typeface="黑体" panose="02010609060101010101" charset="-122"/>
              </a:rPr>
              <a:t>BP</a:t>
            </a:r>
            <a:r>
              <a:rPr lang="zh-CN" altLang="en-US" sz="2400" dirty="0">
                <a:solidFill>
                  <a:prstClr val="black"/>
                </a:solidFill>
                <a:latin typeface="Times New Roman" panose="02020603050405020304"/>
                <a:ea typeface="黑体" panose="02010609060101010101" charset="-122"/>
              </a:rPr>
              <a:t>算法训练深度神经网络识别手写邮编，该神经网络被命名为</a:t>
            </a:r>
            <a:r>
              <a:rPr lang="en-US" altLang="zh-CN" sz="2400" dirty="0" err="1">
                <a:solidFill>
                  <a:srgbClr val="FF0000"/>
                </a:solidFill>
                <a:latin typeface="Times New Roman" panose="02020603050405020304"/>
                <a:ea typeface="黑体" panose="02010609060101010101" charset="-122"/>
              </a:rPr>
              <a:t>LeNet</a:t>
            </a:r>
            <a:r>
              <a:rPr lang="zh-CN" altLang="en-US" sz="2400" dirty="0">
                <a:solidFill>
                  <a:prstClr val="black"/>
                </a:solidFill>
                <a:latin typeface="Times New Roman" panose="02020603050405020304"/>
                <a:ea typeface="黑体" panose="02010609060101010101" charset="-122"/>
              </a:rPr>
              <a:t>，最早的</a:t>
            </a:r>
            <a:r>
              <a:rPr lang="zh-CN" altLang="en-US" sz="2400" dirty="0">
                <a:solidFill>
                  <a:srgbClr val="FF0000"/>
                </a:solidFill>
                <a:latin typeface="Times New Roman" panose="02020603050405020304"/>
                <a:ea typeface="黑体" panose="02010609060101010101" charset="-122"/>
              </a:rPr>
              <a:t>卷积神经网络</a:t>
            </a:r>
            <a:r>
              <a:rPr lang="zh-CN" altLang="en-US" sz="2400" dirty="0">
                <a:solidFill>
                  <a:prstClr val="black"/>
                </a:solidFill>
                <a:latin typeface="Times New Roman" panose="02020603050405020304"/>
                <a:ea typeface="黑体" panose="02010609060101010101" charset="-122"/>
              </a:rPr>
              <a:t>之一</a:t>
            </a:r>
            <a:r>
              <a:rPr lang="en-US" altLang="zh-CN" sz="2400" dirty="0">
                <a:solidFill>
                  <a:prstClr val="black"/>
                </a:solidFill>
                <a:latin typeface="Times New Roman" panose="02020603050405020304"/>
                <a:ea typeface="黑体" panose="02010609060101010101" charset="-122"/>
              </a:rPr>
              <a:t>(</a:t>
            </a:r>
            <a:r>
              <a:rPr lang="en-US" altLang="zh-CN" sz="2400" dirty="0">
                <a:solidFill>
                  <a:srgbClr val="FF0000"/>
                </a:solidFill>
                <a:latin typeface="Times New Roman" panose="02020603050405020304"/>
                <a:ea typeface="黑体" panose="02010609060101010101" charset="-122"/>
              </a:rPr>
              <a:t>CNN</a:t>
            </a:r>
            <a:r>
              <a:rPr lang="en-US" altLang="zh-CN" sz="2400" dirty="0">
                <a:solidFill>
                  <a:prstClr val="black"/>
                </a:solidFill>
                <a:latin typeface="Times New Roman" panose="02020603050405020304"/>
                <a:ea typeface="黑体" panose="02010609060101010101" charset="-122"/>
              </a:rPr>
              <a:t>)</a:t>
            </a:r>
            <a:r>
              <a:rPr lang="zh-CN" altLang="en-US" sz="2400" dirty="0">
                <a:solidFill>
                  <a:prstClr val="black"/>
                </a:solidFill>
                <a:latin typeface="Times New Roman" panose="02020603050405020304"/>
                <a:ea typeface="黑体" panose="02010609060101010101" charset="-122"/>
              </a:rPr>
              <a:t> 。</a:t>
            </a:r>
            <a:endParaRPr lang="zh-CN" altLang="en-US" sz="2400" dirty="0">
              <a:solidFill>
                <a:prstClr val="black"/>
              </a:solidFill>
              <a:latin typeface="Times New Roman" panose="02020603050405020304"/>
              <a:ea typeface="黑体" panose="02010609060101010101" charset="-122"/>
            </a:endParaRPr>
          </a:p>
          <a:p>
            <a:pPr marL="323850" indent="-147955" algn="just">
              <a:lnSpc>
                <a:spcPct val="130000"/>
              </a:lnSpc>
              <a:buFont typeface="Arial" panose="020B0604020202020204" pitchFamily="34" charset="0"/>
              <a:buChar char="•"/>
            </a:pPr>
            <a:r>
              <a:rPr lang="en-US" altLang="zh-CN" sz="2400" dirty="0">
                <a:solidFill>
                  <a:prstClr val="black"/>
                </a:solidFill>
                <a:latin typeface="Times New Roman" panose="02020603050405020304"/>
                <a:ea typeface="黑体" panose="02010609060101010101" charset="-122"/>
              </a:rPr>
              <a:t>1997</a:t>
            </a:r>
            <a:r>
              <a:rPr lang="zh-CN" altLang="en-US" sz="2400" dirty="0">
                <a:solidFill>
                  <a:prstClr val="black"/>
                </a:solidFill>
                <a:latin typeface="Times New Roman" panose="02020603050405020304"/>
                <a:ea typeface="黑体" panose="02010609060101010101" charset="-122"/>
              </a:rPr>
              <a:t>年，提出</a:t>
            </a:r>
            <a:r>
              <a:rPr lang="zh-CN" altLang="en-US" sz="2400" dirty="0">
                <a:solidFill>
                  <a:srgbClr val="FF0000"/>
                </a:solidFill>
                <a:latin typeface="Times New Roman" panose="02020603050405020304"/>
                <a:ea typeface="黑体" panose="02010609060101010101" charset="-122"/>
              </a:rPr>
              <a:t>长短期记忆人工神经网络</a:t>
            </a:r>
            <a:r>
              <a:rPr lang="zh-CN" altLang="en-US" sz="2400" dirty="0">
                <a:solidFill>
                  <a:prstClr val="black"/>
                </a:solidFill>
                <a:latin typeface="Times New Roman" panose="02020603050405020304"/>
                <a:ea typeface="黑体" panose="02010609060101010101" charset="-122"/>
              </a:rPr>
              <a:t>（</a:t>
            </a:r>
            <a:r>
              <a:rPr lang="en-US" altLang="zh-CN" sz="2400" dirty="0">
                <a:solidFill>
                  <a:srgbClr val="FF0000"/>
                </a:solidFill>
                <a:latin typeface="Times New Roman" panose="02020603050405020304"/>
                <a:ea typeface="黑体" panose="02010609060101010101" charset="-122"/>
              </a:rPr>
              <a:t>LSTM</a:t>
            </a:r>
            <a:r>
              <a:rPr lang="zh-CN" altLang="en-US" sz="2400" dirty="0">
                <a:solidFill>
                  <a:prstClr val="black"/>
                </a:solidFill>
                <a:latin typeface="Times New Roman" panose="02020603050405020304"/>
                <a:ea typeface="黑体" panose="02010609060101010101" charset="-122"/>
              </a:rPr>
              <a:t>），解决了一般</a:t>
            </a:r>
            <a:r>
              <a:rPr lang="en-US" altLang="zh-CN" sz="2400" dirty="0">
                <a:solidFill>
                  <a:prstClr val="black"/>
                </a:solidFill>
                <a:latin typeface="Times New Roman" panose="02020603050405020304"/>
                <a:ea typeface="黑体" panose="02010609060101010101" charset="-122"/>
              </a:rPr>
              <a:t>RNN</a:t>
            </a:r>
            <a:r>
              <a:rPr lang="zh-CN" altLang="en-US" sz="2400" dirty="0">
                <a:solidFill>
                  <a:prstClr val="black"/>
                </a:solidFill>
                <a:latin typeface="Times New Roman" panose="02020603050405020304"/>
                <a:ea typeface="黑体" panose="02010609060101010101" charset="-122"/>
              </a:rPr>
              <a:t>存在的长期依赖问题。</a:t>
            </a:r>
            <a:endParaRPr lang="zh-CN" altLang="en-US" sz="2400" dirty="0">
              <a:solidFill>
                <a:prstClr val="black"/>
              </a:solidFill>
              <a:latin typeface="Times New Roman" panose="02020603050405020304"/>
              <a:ea typeface="黑体" panose="02010609060101010101" charset="-122"/>
            </a:endParaRPr>
          </a:p>
        </p:txBody>
      </p:sp>
      <p:sp>
        <p:nvSpPr>
          <p:cNvPr id="5" name="文本框 4"/>
          <p:cNvSpPr txBox="1"/>
          <p:nvPr/>
        </p:nvSpPr>
        <p:spPr>
          <a:xfrm>
            <a:off x="2048309" y="881503"/>
            <a:ext cx="6746647" cy="707694"/>
          </a:xfrm>
          <a:prstGeom prst="rect">
            <a:avLst/>
          </a:prstGeom>
          <a:noFill/>
        </p:spPr>
        <p:txBody>
          <a:bodyPr wrap="square">
            <a:spAutoFit/>
          </a:bodyPr>
          <a:lstStyle/>
          <a:p>
            <a:pPr marL="0" lvl="1">
              <a:lnSpc>
                <a:spcPct val="150000"/>
              </a:lnSpc>
              <a:spcAft>
                <a:spcPts val="600"/>
              </a:spcAft>
            </a:pPr>
            <a:r>
              <a:rPr lang="zh-CN" altLang="en-US" sz="3200" dirty="0">
                <a:solidFill>
                  <a:srgbClr val="C00000"/>
                </a:solidFill>
                <a:latin typeface="方正姚体" panose="02010601030101010101" pitchFamily="2" charset="-122"/>
                <a:ea typeface="方正姚体" panose="02010601030101010101" pitchFamily="2" charset="-122"/>
                <a:cs typeface="+mn-ea"/>
                <a:sym typeface="+mn-lt"/>
              </a:rPr>
              <a:t>人工神经网络发展历史</a:t>
            </a:r>
            <a:endParaRPr lang="zh-CN" altLang="en-US" sz="3200" dirty="0">
              <a:solidFill>
                <a:srgbClr val="C00000"/>
              </a:solidFill>
              <a:latin typeface="方正姚体" panose="02010601030101010101" pitchFamily="2" charset="-122"/>
              <a:ea typeface="方正姚体" panose="02010601030101010101" pitchFamily="2" charset="-122"/>
              <a:cs typeface="+mn-ea"/>
              <a:sym typeface="+mn-l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500"/>
                                  </p:stCondLst>
                                  <p:childTnLst>
                                    <p:set>
                                      <p:cBhvr>
                                        <p:cTn id="6" dur="1" fill="hold">
                                          <p:stCondLst>
                                            <p:cond delay="0"/>
                                          </p:stCondLst>
                                        </p:cTn>
                                        <p:tgtEl>
                                          <p:spTgt spid="32"/>
                                        </p:tgtEl>
                                        <p:attrNameLst>
                                          <p:attrName>style.visibility</p:attrName>
                                        </p:attrNameLst>
                                      </p:cBhvr>
                                      <p:to>
                                        <p:strVal val="visible"/>
                                      </p:to>
                                    </p:set>
                                    <p:animEffect transition="in" filter="fade">
                                      <p:cBhvr>
                                        <p:cTn id="7" dur="500"/>
                                        <p:tgtEl>
                                          <p:spTgt spid="32"/>
                                        </p:tgtEl>
                                      </p:cBhvr>
                                    </p:animEffect>
                                  </p:childTnLst>
                                </p:cTn>
                              </p:par>
                              <p:par>
                                <p:cTn id="8" presetID="10" presetClass="entr" presetSubtype="0" fill="hold" nodeType="withEffect">
                                  <p:stCondLst>
                                    <p:cond delay="500"/>
                                  </p:stCondLst>
                                  <p:childTnLst>
                                    <p:set>
                                      <p:cBhvr>
                                        <p:cTn id="9" dur="1" fill="hold">
                                          <p:stCondLst>
                                            <p:cond delay="0"/>
                                          </p:stCondLst>
                                        </p:cTn>
                                        <p:tgtEl>
                                          <p:spTgt spid="32">
                                            <p:txEl>
                                              <p:pRg st="0" end="0"/>
                                            </p:txEl>
                                          </p:spTgt>
                                        </p:tgtEl>
                                        <p:attrNameLst>
                                          <p:attrName>style.visibility</p:attrName>
                                        </p:attrNameLst>
                                      </p:cBhvr>
                                      <p:to>
                                        <p:strVal val="visible"/>
                                      </p:to>
                                    </p:set>
                                    <p:animEffect transition="in" filter="fade">
                                      <p:cBhvr>
                                        <p:cTn id="10" dur="500"/>
                                        <p:tgtEl>
                                          <p:spTgt spid="32">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2">
                                            <p:txEl>
                                              <p:pRg st="1" end="1"/>
                                            </p:txEl>
                                          </p:spTgt>
                                        </p:tgtEl>
                                        <p:attrNameLst>
                                          <p:attrName>style.visibility</p:attrName>
                                        </p:attrNameLst>
                                      </p:cBhvr>
                                      <p:to>
                                        <p:strVal val="visible"/>
                                      </p:to>
                                    </p:set>
                                    <p:animEffect transition="in" filter="fade">
                                      <p:cBhvr>
                                        <p:cTn id="15" dur="500"/>
                                        <p:tgtEl>
                                          <p:spTgt spid="32">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2">
                                            <p:txEl>
                                              <p:pRg st="2" end="2"/>
                                            </p:txEl>
                                          </p:spTgt>
                                        </p:tgtEl>
                                        <p:attrNameLst>
                                          <p:attrName>style.visibility</p:attrName>
                                        </p:attrNameLst>
                                      </p:cBhvr>
                                      <p:to>
                                        <p:strVal val="visible"/>
                                      </p:to>
                                    </p:set>
                                    <p:animEffect transition="in" filter="fade">
                                      <p:cBhvr>
                                        <p:cTn id="20" dur="500"/>
                                        <p:tgtEl>
                                          <p:spTgt spid="32">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32">
                                            <p:txEl>
                                              <p:pRg st="3" end="3"/>
                                            </p:txEl>
                                          </p:spTgt>
                                        </p:tgtEl>
                                        <p:attrNameLst>
                                          <p:attrName>style.visibility</p:attrName>
                                        </p:attrNameLst>
                                      </p:cBhvr>
                                      <p:to>
                                        <p:strVal val="visible"/>
                                      </p:to>
                                    </p:set>
                                    <p:animEffect transition="in" filter="fade">
                                      <p:cBhvr>
                                        <p:cTn id="25" dur="500"/>
                                        <p:tgtEl>
                                          <p:spTgt spid="32">
                                            <p:txEl>
                                              <p:pRg st="3" end="3"/>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32">
                                            <p:txEl>
                                              <p:pRg st="4" end="4"/>
                                            </p:txEl>
                                          </p:spTgt>
                                        </p:tgtEl>
                                        <p:attrNameLst>
                                          <p:attrName>style.visibility</p:attrName>
                                        </p:attrNameLst>
                                      </p:cBhvr>
                                      <p:to>
                                        <p:strVal val="visible"/>
                                      </p:to>
                                    </p:set>
                                    <p:animEffect transition="in" filter="fade">
                                      <p:cBhvr>
                                        <p:cTn id="30" dur="500"/>
                                        <p:tgtEl>
                                          <p:spTgt spid="3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a:spLocks noGrp="1"/>
          </p:cNvSpPr>
          <p:nvPr>
            <p:ph type="title"/>
          </p:nvPr>
        </p:nvSpPr>
        <p:spPr>
          <a:xfrm>
            <a:off x="1916315" y="131079"/>
            <a:ext cx="7962648" cy="657727"/>
          </a:xfrm>
        </p:spPr>
        <p:txBody>
          <a:bodyPr/>
          <a:lstStyle/>
          <a:p>
            <a:pPr algn="l"/>
            <a:r>
              <a:rPr lang="zh-CN" altLang="en-US" sz="4000" dirty="0">
                <a:latin typeface="方正姚体" panose="02010601030101010101" pitchFamily="2" charset="-122"/>
                <a:ea typeface="方正姚体" panose="02010601030101010101" pitchFamily="2" charset="-122"/>
                <a:cs typeface="Times New Roman" panose="02020603050405020304" pitchFamily="18" charset="0"/>
              </a:rPr>
              <a:t>人工神经网络简介</a:t>
            </a:r>
            <a:endParaRPr lang="zh-CN" altLang="en-US" sz="4000" dirty="0">
              <a:latin typeface="方正姚体" panose="02010601030101010101" pitchFamily="2" charset="-122"/>
              <a:ea typeface="方正姚体" panose="02010601030101010101" pitchFamily="2" charset="-122"/>
              <a:cs typeface="Times New Roman" panose="02020603050405020304" pitchFamily="18" charset="0"/>
            </a:endParaRPr>
          </a:p>
        </p:txBody>
      </p:sp>
      <p:sp>
        <p:nvSpPr>
          <p:cNvPr id="32" name="矩形 31"/>
          <p:cNvSpPr/>
          <p:nvPr/>
        </p:nvSpPr>
        <p:spPr>
          <a:xfrm>
            <a:off x="2114676" y="1733515"/>
            <a:ext cx="7962648" cy="4361900"/>
          </a:xfrm>
          <a:prstGeom prst="rect">
            <a:avLst/>
          </a:prstGeom>
          <a:ln>
            <a:solidFill>
              <a:srgbClr val="C00000"/>
            </a:solidFill>
          </a:ln>
        </p:spPr>
        <p:txBody>
          <a:bodyPr wrap="square">
            <a:spAutoFit/>
          </a:bodyPr>
          <a:lstStyle/>
          <a:p>
            <a:pPr marL="323850" indent="-342900" algn="just">
              <a:lnSpc>
                <a:spcPct val="130000"/>
              </a:lnSpc>
              <a:buFont typeface="Wingdings" panose="05000000000000000000" pitchFamily="2" charset="2"/>
              <a:buChar char="Ø"/>
            </a:pPr>
            <a:r>
              <a:rPr lang="zh-CN" altLang="en-US" sz="2400" dirty="0">
                <a:solidFill>
                  <a:srgbClr val="FF0000"/>
                </a:solidFill>
                <a:latin typeface="Times New Roman" panose="02020603050405020304"/>
                <a:ea typeface="黑体" panose="02010609060101010101" charset="-122"/>
              </a:rPr>
              <a:t>新时期（</a:t>
            </a:r>
            <a:r>
              <a:rPr lang="en-US" altLang="zh-CN" sz="2400" dirty="0">
                <a:solidFill>
                  <a:srgbClr val="FF0000"/>
                </a:solidFill>
                <a:latin typeface="Times New Roman" panose="02020603050405020304"/>
                <a:ea typeface="黑体" panose="02010609060101010101" charset="-122"/>
              </a:rPr>
              <a:t>1986</a:t>
            </a:r>
            <a:r>
              <a:rPr lang="zh-CN" altLang="en-US" sz="2400" dirty="0">
                <a:solidFill>
                  <a:srgbClr val="FF0000"/>
                </a:solidFill>
                <a:latin typeface="Times New Roman" panose="02020603050405020304"/>
                <a:ea typeface="黑体" panose="02010609060101010101" charset="-122"/>
              </a:rPr>
              <a:t>至今）</a:t>
            </a:r>
            <a:endParaRPr lang="zh-CN" altLang="en-US" sz="2400" dirty="0">
              <a:solidFill>
                <a:srgbClr val="FF0000"/>
              </a:solidFill>
              <a:latin typeface="Times New Roman" panose="02020603050405020304"/>
              <a:ea typeface="黑体" panose="02010609060101010101" charset="-122"/>
            </a:endParaRPr>
          </a:p>
          <a:p>
            <a:pPr marL="323850" indent="-147955" algn="just">
              <a:lnSpc>
                <a:spcPct val="130000"/>
              </a:lnSpc>
              <a:buFont typeface="Arial" panose="020B0604020202020204" pitchFamily="34" charset="0"/>
              <a:buChar char="•"/>
            </a:pPr>
            <a:r>
              <a:rPr lang="en-US" altLang="zh-CN" sz="2400" dirty="0">
                <a:solidFill>
                  <a:prstClr val="black"/>
                </a:solidFill>
                <a:latin typeface="Times New Roman" panose="02020603050405020304"/>
                <a:ea typeface="黑体" panose="02010609060101010101" charset="-122"/>
              </a:rPr>
              <a:t>2006</a:t>
            </a:r>
            <a:r>
              <a:rPr lang="zh-CN" altLang="en-US" sz="2400" dirty="0">
                <a:solidFill>
                  <a:prstClr val="black"/>
                </a:solidFill>
                <a:latin typeface="Times New Roman" panose="02020603050405020304"/>
                <a:ea typeface="黑体" panose="02010609060101010101" charset="-122"/>
              </a:rPr>
              <a:t>年，提出深度置信网络</a:t>
            </a:r>
            <a:r>
              <a:rPr lang="en-US" altLang="zh-CN" sz="2400" dirty="0">
                <a:solidFill>
                  <a:prstClr val="black"/>
                </a:solidFill>
                <a:latin typeface="Times New Roman" panose="02020603050405020304"/>
                <a:ea typeface="黑体" panose="02010609060101010101" charset="-122"/>
              </a:rPr>
              <a:t>(DBN)</a:t>
            </a:r>
            <a:r>
              <a:rPr lang="zh-CN" altLang="en-US" sz="2400" dirty="0">
                <a:solidFill>
                  <a:prstClr val="black"/>
                </a:solidFill>
                <a:latin typeface="Times New Roman" panose="02020603050405020304"/>
                <a:ea typeface="黑体" panose="02010609060101010101" charset="-122"/>
              </a:rPr>
              <a:t>，用于建立一个观察数据和标签之间的联合分布。</a:t>
            </a:r>
            <a:endParaRPr lang="zh-CN" altLang="en-US" sz="2400" dirty="0">
              <a:solidFill>
                <a:prstClr val="black"/>
              </a:solidFill>
              <a:latin typeface="Times New Roman" panose="02020603050405020304"/>
              <a:ea typeface="黑体" panose="02010609060101010101" charset="-122"/>
            </a:endParaRPr>
          </a:p>
          <a:p>
            <a:pPr marL="323850" indent="-147955" algn="just">
              <a:lnSpc>
                <a:spcPct val="130000"/>
              </a:lnSpc>
              <a:buFont typeface="Arial" panose="020B0604020202020204" pitchFamily="34" charset="0"/>
              <a:buChar char="•"/>
            </a:pPr>
            <a:r>
              <a:rPr lang="en-US" altLang="zh-CN" sz="2400" dirty="0">
                <a:solidFill>
                  <a:prstClr val="black"/>
                </a:solidFill>
                <a:latin typeface="Times New Roman" panose="02020603050405020304"/>
                <a:ea typeface="黑体" panose="02010609060101010101" charset="-122"/>
              </a:rPr>
              <a:t>2012</a:t>
            </a:r>
            <a:r>
              <a:rPr lang="zh-CN" altLang="en-US" sz="2400" dirty="0">
                <a:solidFill>
                  <a:prstClr val="black"/>
                </a:solidFill>
                <a:latin typeface="Times New Roman" panose="02020603050405020304"/>
                <a:ea typeface="黑体" panose="02010609060101010101" charset="-122"/>
              </a:rPr>
              <a:t>年，开发了</a:t>
            </a:r>
            <a:r>
              <a:rPr lang="en-US" altLang="zh-CN" sz="2400" dirty="0" err="1">
                <a:solidFill>
                  <a:prstClr val="black"/>
                </a:solidFill>
                <a:latin typeface="Times New Roman" panose="02020603050405020304"/>
                <a:ea typeface="黑体" panose="02010609060101010101" charset="-122"/>
              </a:rPr>
              <a:t>Alexnet</a:t>
            </a:r>
            <a:r>
              <a:rPr lang="zh-CN" altLang="en-US" sz="2400" dirty="0">
                <a:solidFill>
                  <a:prstClr val="black"/>
                </a:solidFill>
                <a:latin typeface="Times New Roman" panose="02020603050405020304"/>
                <a:ea typeface="黑体" panose="02010609060101010101" charset="-122"/>
              </a:rPr>
              <a:t>深度卷积网络。</a:t>
            </a:r>
            <a:endParaRPr lang="zh-CN" altLang="en-US" sz="2400" dirty="0">
              <a:solidFill>
                <a:prstClr val="black"/>
              </a:solidFill>
              <a:latin typeface="Times New Roman" panose="02020603050405020304"/>
              <a:ea typeface="黑体" panose="02010609060101010101" charset="-122"/>
            </a:endParaRPr>
          </a:p>
          <a:p>
            <a:pPr marL="323850" indent="-147955" algn="just">
              <a:lnSpc>
                <a:spcPct val="130000"/>
              </a:lnSpc>
              <a:buFont typeface="Arial" panose="020B0604020202020204" pitchFamily="34" charset="0"/>
              <a:buChar char="•"/>
            </a:pPr>
            <a:r>
              <a:rPr lang="en-US" altLang="zh-CN" sz="2400" dirty="0">
                <a:solidFill>
                  <a:prstClr val="black"/>
                </a:solidFill>
                <a:latin typeface="Times New Roman" panose="02020603050405020304"/>
                <a:ea typeface="黑体" panose="02010609060101010101" charset="-122"/>
              </a:rPr>
              <a:t>2014</a:t>
            </a:r>
            <a:r>
              <a:rPr lang="zh-CN" altLang="en-US" sz="2400" dirty="0">
                <a:solidFill>
                  <a:prstClr val="black"/>
                </a:solidFill>
                <a:latin typeface="Times New Roman" panose="02020603050405020304"/>
                <a:ea typeface="黑体" panose="02010609060101010101" charset="-122"/>
              </a:rPr>
              <a:t>年，提出生成对抗网络（</a:t>
            </a:r>
            <a:r>
              <a:rPr lang="en-US" altLang="zh-CN" sz="2400" dirty="0">
                <a:solidFill>
                  <a:prstClr val="black"/>
                </a:solidFill>
                <a:latin typeface="Times New Roman" panose="02020603050405020304"/>
                <a:ea typeface="黑体" panose="02010609060101010101" charset="-122"/>
              </a:rPr>
              <a:t>GAN</a:t>
            </a:r>
            <a:r>
              <a:rPr lang="zh-CN" altLang="en-US" sz="2400" dirty="0">
                <a:solidFill>
                  <a:prstClr val="black"/>
                </a:solidFill>
                <a:latin typeface="Times New Roman" panose="02020603050405020304"/>
                <a:ea typeface="黑体" panose="02010609060101010101" charset="-122"/>
              </a:rPr>
              <a:t>），一种非监督式学习方法，通过让两个神经网络相互博弈的方式进行学习。</a:t>
            </a:r>
            <a:endParaRPr lang="zh-CN" altLang="en-US" sz="2400" dirty="0">
              <a:solidFill>
                <a:prstClr val="black"/>
              </a:solidFill>
              <a:latin typeface="Times New Roman" panose="02020603050405020304"/>
              <a:ea typeface="黑体" panose="02010609060101010101" charset="-122"/>
            </a:endParaRPr>
          </a:p>
          <a:p>
            <a:pPr marL="323850" indent="-147955" algn="just">
              <a:lnSpc>
                <a:spcPct val="130000"/>
              </a:lnSpc>
              <a:buFont typeface="Arial" panose="020B0604020202020204" pitchFamily="34" charset="0"/>
              <a:buChar char="•"/>
            </a:pPr>
            <a:r>
              <a:rPr lang="en-US" altLang="zh-CN" sz="2400" dirty="0">
                <a:solidFill>
                  <a:prstClr val="black"/>
                </a:solidFill>
                <a:latin typeface="Times New Roman" panose="02020603050405020304"/>
                <a:ea typeface="黑体" panose="02010609060101010101" charset="-122"/>
              </a:rPr>
              <a:t>2015</a:t>
            </a:r>
            <a:r>
              <a:rPr lang="zh-CN" altLang="en-US" sz="2400" dirty="0">
                <a:solidFill>
                  <a:prstClr val="black"/>
                </a:solidFill>
                <a:latin typeface="Times New Roman" panose="02020603050405020304"/>
                <a:ea typeface="黑体" panose="02010609060101010101" charset="-122"/>
              </a:rPr>
              <a:t>年，提出残差网络（</a:t>
            </a:r>
            <a:r>
              <a:rPr lang="en-US" altLang="zh-CN" sz="2400" dirty="0" err="1">
                <a:solidFill>
                  <a:prstClr val="black"/>
                </a:solidFill>
                <a:latin typeface="Times New Roman" panose="02020603050405020304"/>
                <a:ea typeface="黑体" panose="02010609060101010101" charset="-122"/>
              </a:rPr>
              <a:t>ResNet</a:t>
            </a:r>
            <a:r>
              <a:rPr lang="zh-CN" altLang="en-US" sz="2400" dirty="0">
                <a:solidFill>
                  <a:prstClr val="black"/>
                </a:solidFill>
                <a:latin typeface="Times New Roman" panose="02020603050405020304"/>
                <a:ea typeface="黑体" panose="02010609060101010101" charset="-122"/>
              </a:rPr>
              <a:t>），该网络易优化，且能够通过相当的深度来提高准确率。</a:t>
            </a:r>
            <a:endParaRPr lang="zh-CN" altLang="en-US" sz="2400" dirty="0">
              <a:solidFill>
                <a:prstClr val="black"/>
              </a:solidFill>
              <a:latin typeface="Times New Roman" panose="02020603050405020304"/>
              <a:ea typeface="黑体" panose="02010609060101010101" charset="-122"/>
            </a:endParaRPr>
          </a:p>
          <a:p>
            <a:pPr marL="323850" indent="-147955" algn="just">
              <a:lnSpc>
                <a:spcPct val="130000"/>
              </a:lnSpc>
              <a:buFont typeface="Arial" panose="020B0604020202020204" pitchFamily="34" charset="0"/>
              <a:buChar char="•"/>
            </a:pPr>
            <a:r>
              <a:rPr lang="en-US" altLang="zh-CN" sz="2400" dirty="0">
                <a:solidFill>
                  <a:prstClr val="black"/>
                </a:solidFill>
                <a:latin typeface="Times New Roman" panose="02020603050405020304"/>
                <a:ea typeface="黑体" panose="02010609060101010101" charset="-122"/>
              </a:rPr>
              <a:t>2017</a:t>
            </a:r>
            <a:r>
              <a:rPr lang="zh-CN" altLang="en-US" sz="2400" dirty="0">
                <a:solidFill>
                  <a:prstClr val="black"/>
                </a:solidFill>
                <a:latin typeface="Times New Roman" panose="02020603050405020304"/>
                <a:ea typeface="黑体" panose="02010609060101010101" charset="-122"/>
              </a:rPr>
              <a:t>年</a:t>
            </a:r>
            <a:r>
              <a:rPr lang="en-US" altLang="zh-CN" sz="2400" dirty="0">
                <a:solidFill>
                  <a:prstClr val="black"/>
                </a:solidFill>
                <a:latin typeface="Times New Roman" panose="02020603050405020304"/>
                <a:ea typeface="黑体" panose="02010609060101010101" charset="-122"/>
              </a:rPr>
              <a:t>11</a:t>
            </a:r>
            <a:r>
              <a:rPr lang="zh-CN" altLang="en-US" sz="2400" dirty="0">
                <a:solidFill>
                  <a:prstClr val="black"/>
                </a:solidFill>
                <a:latin typeface="Times New Roman" panose="02020603050405020304"/>
                <a:ea typeface="黑体" panose="02010609060101010101" charset="-122"/>
              </a:rPr>
              <a:t>月，提出胶囊网络。</a:t>
            </a:r>
            <a:endParaRPr lang="zh-CN" altLang="en-US" sz="2400" dirty="0">
              <a:solidFill>
                <a:prstClr val="black"/>
              </a:solidFill>
              <a:latin typeface="Times New Roman" panose="02020603050405020304"/>
              <a:ea typeface="黑体" panose="02010609060101010101" charset="-122"/>
            </a:endParaRPr>
          </a:p>
        </p:txBody>
      </p:sp>
      <p:sp>
        <p:nvSpPr>
          <p:cNvPr id="5" name="文本框 4"/>
          <p:cNvSpPr txBox="1"/>
          <p:nvPr/>
        </p:nvSpPr>
        <p:spPr>
          <a:xfrm>
            <a:off x="2048309" y="881503"/>
            <a:ext cx="6746647" cy="707694"/>
          </a:xfrm>
          <a:prstGeom prst="rect">
            <a:avLst/>
          </a:prstGeom>
          <a:noFill/>
        </p:spPr>
        <p:txBody>
          <a:bodyPr wrap="square">
            <a:spAutoFit/>
          </a:bodyPr>
          <a:lstStyle/>
          <a:p>
            <a:pPr marL="0" lvl="1">
              <a:lnSpc>
                <a:spcPct val="150000"/>
              </a:lnSpc>
              <a:spcAft>
                <a:spcPts val="600"/>
              </a:spcAft>
            </a:pPr>
            <a:r>
              <a:rPr lang="zh-CN" altLang="en-US" sz="3200" dirty="0">
                <a:solidFill>
                  <a:srgbClr val="C00000"/>
                </a:solidFill>
                <a:latin typeface="方正姚体" panose="02010601030101010101" pitchFamily="2" charset="-122"/>
                <a:ea typeface="方正姚体" panose="02010601030101010101" pitchFamily="2" charset="-122"/>
                <a:cs typeface="+mn-ea"/>
                <a:sym typeface="+mn-lt"/>
              </a:rPr>
              <a:t>人工神经网络发展历史</a:t>
            </a:r>
            <a:endParaRPr lang="zh-CN" altLang="en-US" sz="3200" dirty="0">
              <a:solidFill>
                <a:srgbClr val="C00000"/>
              </a:solidFill>
              <a:latin typeface="方正姚体" panose="02010601030101010101" pitchFamily="2" charset="-122"/>
              <a:ea typeface="方正姚体" panose="02010601030101010101" pitchFamily="2" charset="-122"/>
              <a:cs typeface="+mn-ea"/>
              <a:sym typeface="+mn-l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500"/>
                                  </p:stCondLst>
                                  <p:childTnLst>
                                    <p:set>
                                      <p:cBhvr>
                                        <p:cTn id="6" dur="1" fill="hold">
                                          <p:stCondLst>
                                            <p:cond delay="0"/>
                                          </p:stCondLst>
                                        </p:cTn>
                                        <p:tgtEl>
                                          <p:spTgt spid="32">
                                            <p:txEl>
                                              <p:pRg st="1" end="1"/>
                                            </p:txEl>
                                          </p:spTgt>
                                        </p:tgtEl>
                                        <p:attrNameLst>
                                          <p:attrName>style.visibility</p:attrName>
                                        </p:attrNameLst>
                                      </p:cBhvr>
                                      <p:to>
                                        <p:strVal val="visible"/>
                                      </p:to>
                                    </p:set>
                                    <p:animEffect transition="in" filter="fade">
                                      <p:cBhvr>
                                        <p:cTn id="7" dur="750"/>
                                        <p:tgtEl>
                                          <p:spTgt spid="3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2">
                                            <p:txEl>
                                              <p:pRg st="2" end="2"/>
                                            </p:txEl>
                                          </p:spTgt>
                                        </p:tgtEl>
                                        <p:attrNameLst>
                                          <p:attrName>style.visibility</p:attrName>
                                        </p:attrNameLst>
                                      </p:cBhvr>
                                      <p:to>
                                        <p:strVal val="visible"/>
                                      </p:to>
                                    </p:set>
                                    <p:animEffect transition="in" filter="fade">
                                      <p:cBhvr>
                                        <p:cTn id="12" dur="500"/>
                                        <p:tgtEl>
                                          <p:spTgt spid="32">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2">
                                            <p:txEl>
                                              <p:pRg st="3" end="3"/>
                                            </p:txEl>
                                          </p:spTgt>
                                        </p:tgtEl>
                                        <p:attrNameLst>
                                          <p:attrName>style.visibility</p:attrName>
                                        </p:attrNameLst>
                                      </p:cBhvr>
                                      <p:to>
                                        <p:strVal val="visible"/>
                                      </p:to>
                                    </p:set>
                                    <p:animEffect transition="in" filter="fade">
                                      <p:cBhvr>
                                        <p:cTn id="17" dur="500"/>
                                        <p:tgtEl>
                                          <p:spTgt spid="32">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2">
                                            <p:txEl>
                                              <p:pRg st="4" end="4"/>
                                            </p:txEl>
                                          </p:spTgt>
                                        </p:tgtEl>
                                        <p:attrNameLst>
                                          <p:attrName>style.visibility</p:attrName>
                                        </p:attrNameLst>
                                      </p:cBhvr>
                                      <p:to>
                                        <p:strVal val="visible"/>
                                      </p:to>
                                    </p:set>
                                    <p:animEffect transition="in" filter="fade">
                                      <p:cBhvr>
                                        <p:cTn id="22" dur="500"/>
                                        <p:tgtEl>
                                          <p:spTgt spid="32">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2">
                                            <p:txEl>
                                              <p:charRg st="178" end="194"/>
                                            </p:txEl>
                                          </p:spTgt>
                                        </p:tgtEl>
                                        <p:attrNameLst>
                                          <p:attrName>style.visibility</p:attrName>
                                        </p:attrNameLst>
                                      </p:cBhvr>
                                      <p:to>
                                        <p:strVal val="visible"/>
                                      </p:to>
                                    </p:set>
                                    <p:animEffect transition="in" filter="fade">
                                      <p:cBhvr>
                                        <p:cTn id="27" dur="500"/>
                                        <p:tgtEl>
                                          <p:spTgt spid="32">
                                            <p:txEl>
                                              <p:charRg st="178" end="19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a:spLocks noGrp="1"/>
          </p:cNvSpPr>
          <p:nvPr>
            <p:ph type="title"/>
          </p:nvPr>
        </p:nvSpPr>
        <p:spPr>
          <a:xfrm>
            <a:off x="1916315" y="131079"/>
            <a:ext cx="7962648" cy="657727"/>
          </a:xfrm>
        </p:spPr>
        <p:txBody>
          <a:bodyPr/>
          <a:lstStyle/>
          <a:p>
            <a:pPr algn="l"/>
            <a:r>
              <a:rPr lang="zh-CN" altLang="en-US" sz="4000" dirty="0">
                <a:latin typeface="方正姚体" panose="02010601030101010101" pitchFamily="2" charset="-122"/>
                <a:ea typeface="方正姚体" panose="02010601030101010101" pitchFamily="2" charset="-122"/>
                <a:cs typeface="Times New Roman" panose="02020603050405020304" pitchFamily="18" charset="0"/>
              </a:rPr>
              <a:t>人工神经网络简介</a:t>
            </a:r>
            <a:endParaRPr lang="zh-CN" altLang="en-US" sz="4000" dirty="0">
              <a:latin typeface="方正姚体" panose="02010601030101010101" pitchFamily="2" charset="-122"/>
              <a:ea typeface="方正姚体" panose="02010601030101010101" pitchFamily="2" charset="-122"/>
              <a:cs typeface="Times New Roman" panose="02020603050405020304" pitchFamily="18" charset="0"/>
            </a:endParaRPr>
          </a:p>
        </p:txBody>
      </p:sp>
      <p:sp>
        <p:nvSpPr>
          <p:cNvPr id="32" name="矩形 31"/>
          <p:cNvSpPr/>
          <p:nvPr/>
        </p:nvSpPr>
        <p:spPr>
          <a:xfrm>
            <a:off x="2114676" y="1733516"/>
            <a:ext cx="7962648" cy="1076705"/>
          </a:xfrm>
          <a:prstGeom prst="rect">
            <a:avLst/>
          </a:prstGeom>
          <a:ln>
            <a:solidFill>
              <a:srgbClr val="C00000"/>
            </a:solidFill>
          </a:ln>
        </p:spPr>
        <p:txBody>
          <a:bodyPr wrap="square">
            <a:spAutoFit/>
          </a:bodyPr>
          <a:lstStyle/>
          <a:p>
            <a:pPr marL="323850" indent="-342900" algn="just">
              <a:lnSpc>
                <a:spcPct val="130000"/>
              </a:lnSpc>
              <a:buFont typeface="Wingdings" panose="05000000000000000000" pitchFamily="2" charset="2"/>
              <a:buChar char="Ø"/>
            </a:pPr>
            <a:r>
              <a:rPr lang="zh-CN" altLang="en-US" sz="2600" dirty="0">
                <a:solidFill>
                  <a:srgbClr val="FF0000"/>
                </a:solidFill>
                <a:latin typeface="Times New Roman" panose="02020603050405020304"/>
                <a:ea typeface="黑体" panose="02010609060101010101" charset="-122"/>
              </a:rPr>
              <a:t>生物神经元</a:t>
            </a:r>
            <a:endParaRPr lang="zh-CN" altLang="en-US" sz="2600" dirty="0">
              <a:solidFill>
                <a:srgbClr val="FF0000"/>
              </a:solidFill>
              <a:latin typeface="Times New Roman" panose="02020603050405020304"/>
              <a:ea typeface="黑体" panose="02010609060101010101" charset="-122"/>
            </a:endParaRPr>
          </a:p>
          <a:p>
            <a:pPr marL="175895" algn="just">
              <a:lnSpc>
                <a:spcPct val="130000"/>
              </a:lnSpc>
            </a:pPr>
            <a:r>
              <a:rPr lang="zh-CN" altLang="en-US" sz="2600" dirty="0">
                <a:solidFill>
                  <a:prstClr val="black"/>
                </a:solidFill>
                <a:latin typeface="Times New Roman" panose="02020603050405020304"/>
                <a:ea typeface="黑体" panose="02010609060101010101" charset="-122"/>
              </a:rPr>
              <a:t>一种神经细胞，包含多个树突、一个轴突、细胞体。</a:t>
            </a:r>
            <a:endParaRPr lang="zh-CN" altLang="en-US" sz="2600" dirty="0">
              <a:solidFill>
                <a:prstClr val="black"/>
              </a:solidFill>
              <a:latin typeface="Times New Roman" panose="02020603050405020304"/>
              <a:ea typeface="黑体" panose="02010609060101010101" charset="-122"/>
            </a:endParaRPr>
          </a:p>
        </p:txBody>
      </p:sp>
      <p:sp>
        <p:nvSpPr>
          <p:cNvPr id="5" name="文本框 4"/>
          <p:cNvSpPr txBox="1"/>
          <p:nvPr/>
        </p:nvSpPr>
        <p:spPr>
          <a:xfrm>
            <a:off x="2048309" y="881503"/>
            <a:ext cx="6746647" cy="707694"/>
          </a:xfrm>
          <a:prstGeom prst="rect">
            <a:avLst/>
          </a:prstGeom>
          <a:noFill/>
        </p:spPr>
        <p:txBody>
          <a:bodyPr wrap="square">
            <a:spAutoFit/>
          </a:bodyPr>
          <a:lstStyle/>
          <a:p>
            <a:pPr marL="0" lvl="1">
              <a:lnSpc>
                <a:spcPct val="150000"/>
              </a:lnSpc>
              <a:spcAft>
                <a:spcPts val="600"/>
              </a:spcAft>
            </a:pPr>
            <a:r>
              <a:rPr lang="en-US" altLang="zh-CN" sz="3200" dirty="0">
                <a:solidFill>
                  <a:srgbClr val="C00000"/>
                </a:solidFill>
                <a:latin typeface="方正姚体" panose="02010601030101010101" pitchFamily="2" charset="-122"/>
                <a:ea typeface="方正姚体" panose="02010601030101010101" pitchFamily="2" charset="-122"/>
                <a:cs typeface="+mn-ea"/>
                <a:sym typeface="+mn-lt"/>
              </a:rPr>
              <a:t>M-P</a:t>
            </a:r>
            <a:r>
              <a:rPr lang="zh-CN" altLang="en-US" sz="3200" dirty="0">
                <a:solidFill>
                  <a:srgbClr val="C00000"/>
                </a:solidFill>
                <a:latin typeface="方正姚体" panose="02010601030101010101" pitchFamily="2" charset="-122"/>
                <a:ea typeface="方正姚体" panose="02010601030101010101" pitchFamily="2" charset="-122"/>
                <a:cs typeface="+mn-ea"/>
                <a:sym typeface="+mn-lt"/>
              </a:rPr>
              <a:t>模型</a:t>
            </a:r>
            <a:endParaRPr lang="zh-CN" altLang="en-US" sz="3200" dirty="0">
              <a:solidFill>
                <a:srgbClr val="C00000"/>
              </a:solidFill>
              <a:latin typeface="方正姚体" panose="02010601030101010101" pitchFamily="2" charset="-122"/>
              <a:ea typeface="方正姚体" panose="02010601030101010101" pitchFamily="2" charset="-122"/>
              <a:cs typeface="+mn-ea"/>
              <a:sym typeface="+mn-lt"/>
            </a:endParaRPr>
          </a:p>
        </p:txBody>
      </p:sp>
      <p:pic>
        <p:nvPicPr>
          <p:cNvPr id="6" name="图片 52"/>
          <p:cNvPicPr>
            <a:picLocks noChangeAspect="1"/>
          </p:cNvPicPr>
          <p:nvPr/>
        </p:nvPicPr>
        <p:blipFill>
          <a:blip r:embed="rId1"/>
          <a:stretch>
            <a:fillRect/>
          </a:stretch>
        </p:blipFill>
        <p:spPr>
          <a:xfrm>
            <a:off x="2813465" y="2810221"/>
            <a:ext cx="6168349" cy="3663803"/>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50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75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2"/>
                                        </p:tgtEl>
                                        <p:attrNameLst>
                                          <p:attrName>style.visibility</p:attrName>
                                        </p:attrNameLst>
                                      </p:cBhvr>
                                      <p:to>
                                        <p:strVal val="visible"/>
                                      </p:to>
                                    </p:set>
                                    <p:animEffect transition="in" filter="fade">
                                      <p:cBhvr>
                                        <p:cTn id="12" dur="500"/>
                                        <p:tgtEl>
                                          <p:spTgt spid="32"/>
                                        </p:tgtEl>
                                      </p:cBhvr>
                                    </p:animEffect>
                                  </p:childTnLst>
                                </p:cTn>
                              </p:par>
                              <p:par>
                                <p:cTn id="13" presetID="10" presetClass="entr" presetSubtype="0" fill="hold" nodeType="withEffect">
                                  <p:stCondLst>
                                    <p:cond delay="0"/>
                                  </p:stCondLst>
                                  <p:childTnLst>
                                    <p:set>
                                      <p:cBhvr>
                                        <p:cTn id="14" dur="1" fill="hold">
                                          <p:stCondLst>
                                            <p:cond delay="0"/>
                                          </p:stCondLst>
                                        </p:cTn>
                                        <p:tgtEl>
                                          <p:spTgt spid="32">
                                            <p:txEl>
                                              <p:pRg st="0" end="0"/>
                                            </p:txEl>
                                          </p:spTgt>
                                        </p:tgtEl>
                                        <p:attrNameLst>
                                          <p:attrName>style.visibility</p:attrName>
                                        </p:attrNameLst>
                                      </p:cBhvr>
                                      <p:to>
                                        <p:strVal val="visible"/>
                                      </p:to>
                                    </p:set>
                                    <p:animEffect transition="in" filter="fade">
                                      <p:cBhvr>
                                        <p:cTn id="15" dur="500"/>
                                        <p:tgtEl>
                                          <p:spTgt spid="32">
                                            <p:txEl>
                                              <p:pRg st="0" end="0"/>
                                            </p:txEl>
                                          </p:spTgt>
                                        </p:tgtEl>
                                      </p:cBhvr>
                                    </p:animEffect>
                                  </p:childTnLst>
                                </p:cTn>
                              </p:par>
                            </p:childTnLst>
                          </p:cTn>
                        </p:par>
                        <p:par>
                          <p:cTn id="16" fill="hold">
                            <p:stCondLst>
                              <p:cond delay="500"/>
                            </p:stCondLst>
                            <p:childTnLst>
                              <p:par>
                                <p:cTn id="17" presetID="10" presetClass="entr" presetSubtype="0" fill="hold" nodeType="afterEffect">
                                  <p:stCondLst>
                                    <p:cond delay="500"/>
                                  </p:stCondLst>
                                  <p:childTnLst>
                                    <p:set>
                                      <p:cBhvr>
                                        <p:cTn id="18" dur="1" fill="hold">
                                          <p:stCondLst>
                                            <p:cond delay="0"/>
                                          </p:stCondLst>
                                        </p:cTn>
                                        <p:tgtEl>
                                          <p:spTgt spid="32">
                                            <p:txEl>
                                              <p:pRg st="1" end="1"/>
                                            </p:txEl>
                                          </p:spTgt>
                                        </p:tgtEl>
                                        <p:attrNameLst>
                                          <p:attrName>style.visibility</p:attrName>
                                        </p:attrNameLst>
                                      </p:cBhvr>
                                      <p:to>
                                        <p:strVal val="visible"/>
                                      </p:to>
                                    </p:set>
                                    <p:animEffect transition="in" filter="fade">
                                      <p:cBhvr>
                                        <p:cTn id="19" dur="500"/>
                                        <p:tgtEl>
                                          <p:spTgt spid="32">
                                            <p:txEl>
                                              <p:pRg st="1" end="1"/>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fade">
                                      <p:cBhvr>
                                        <p:cTn id="24" dur="1000"/>
                                        <p:tgtEl>
                                          <p:spTgt spid="6"/>
                                        </p:tgtEl>
                                      </p:cBhvr>
                                    </p:animEffect>
                                    <p:anim calcmode="lin" valueType="num">
                                      <p:cBhvr>
                                        <p:cTn id="25" dur="1000" fill="hold"/>
                                        <p:tgtEl>
                                          <p:spTgt spid="6"/>
                                        </p:tgtEl>
                                        <p:attrNameLst>
                                          <p:attrName>ppt_x</p:attrName>
                                        </p:attrNameLst>
                                      </p:cBhvr>
                                      <p:tavLst>
                                        <p:tav tm="0">
                                          <p:val>
                                            <p:strVal val="#ppt_x"/>
                                          </p:val>
                                        </p:tav>
                                        <p:tav tm="100000">
                                          <p:val>
                                            <p:strVal val="#ppt_x"/>
                                          </p:val>
                                        </p:tav>
                                      </p:tavLst>
                                    </p:anim>
                                    <p:anim calcmode="lin" valueType="num">
                                      <p:cBhvr>
                                        <p:cTn id="26"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P spid="5"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a:spLocks noGrp="1"/>
          </p:cNvSpPr>
          <p:nvPr>
            <p:ph type="title"/>
          </p:nvPr>
        </p:nvSpPr>
        <p:spPr>
          <a:xfrm>
            <a:off x="1916315" y="131079"/>
            <a:ext cx="7962648" cy="657727"/>
          </a:xfrm>
        </p:spPr>
        <p:txBody>
          <a:bodyPr/>
          <a:lstStyle/>
          <a:p>
            <a:pPr algn="l"/>
            <a:r>
              <a:rPr lang="zh-CN" altLang="en-US" sz="4000" dirty="0">
                <a:latin typeface="方正姚体" panose="02010601030101010101" pitchFamily="2" charset="-122"/>
                <a:ea typeface="方正姚体" panose="02010601030101010101" pitchFamily="2" charset="-122"/>
                <a:cs typeface="Times New Roman" panose="02020603050405020304" pitchFamily="18" charset="0"/>
              </a:rPr>
              <a:t>人工神经网络简介</a:t>
            </a:r>
            <a:endParaRPr lang="zh-CN" altLang="en-US" sz="4000" dirty="0">
              <a:latin typeface="方正姚体" panose="02010601030101010101" pitchFamily="2" charset="-122"/>
              <a:ea typeface="方正姚体" panose="02010601030101010101" pitchFamily="2" charset="-122"/>
              <a:cs typeface="Times New Roman" panose="02020603050405020304" pitchFamily="18" charset="0"/>
            </a:endParaRPr>
          </a:p>
        </p:txBody>
      </p:sp>
      <p:sp>
        <p:nvSpPr>
          <p:cNvPr id="32" name="矩形 31"/>
          <p:cNvSpPr/>
          <p:nvPr/>
        </p:nvSpPr>
        <p:spPr>
          <a:xfrm>
            <a:off x="2114676" y="1733516"/>
            <a:ext cx="7962648" cy="1076705"/>
          </a:xfrm>
          <a:prstGeom prst="rect">
            <a:avLst/>
          </a:prstGeom>
          <a:ln>
            <a:noFill/>
          </a:ln>
        </p:spPr>
        <p:txBody>
          <a:bodyPr wrap="square">
            <a:spAutoFit/>
          </a:bodyPr>
          <a:lstStyle/>
          <a:p>
            <a:pPr marL="323850" indent="-342900" algn="just">
              <a:lnSpc>
                <a:spcPct val="130000"/>
              </a:lnSpc>
              <a:buFont typeface="Wingdings" panose="05000000000000000000" pitchFamily="2" charset="2"/>
              <a:buChar char="Ø"/>
            </a:pPr>
            <a:r>
              <a:rPr lang="zh-CN" altLang="en-US" sz="2600" dirty="0">
                <a:solidFill>
                  <a:prstClr val="black"/>
                </a:solidFill>
                <a:latin typeface="Times New Roman" panose="02020603050405020304"/>
                <a:ea typeface="黑体" panose="02010609060101010101" charset="-122"/>
              </a:rPr>
              <a:t>神经元的数学模型</a:t>
            </a:r>
            <a:endParaRPr lang="en-US" altLang="zh-CN" sz="2600" dirty="0">
              <a:solidFill>
                <a:prstClr val="black"/>
              </a:solidFill>
              <a:latin typeface="Times New Roman" panose="02020603050405020304"/>
              <a:ea typeface="黑体" panose="02010609060101010101" charset="-122"/>
            </a:endParaRPr>
          </a:p>
          <a:p>
            <a:pPr marL="323850" indent="-342900" algn="just">
              <a:lnSpc>
                <a:spcPct val="130000"/>
              </a:lnSpc>
              <a:buFont typeface="Wingdings" panose="05000000000000000000" pitchFamily="2" charset="2"/>
              <a:buChar char="Ø"/>
            </a:pPr>
            <a:r>
              <a:rPr lang="zh-CN" altLang="en-US" sz="2600" dirty="0">
                <a:solidFill>
                  <a:prstClr val="black"/>
                </a:solidFill>
                <a:latin typeface="Times New Roman" panose="02020603050405020304"/>
                <a:ea typeface="黑体" panose="02010609060101010101" charset="-122"/>
              </a:rPr>
              <a:t>模仿生物神经系统的结构和工作原理。</a:t>
            </a:r>
            <a:endParaRPr lang="zh-CN" altLang="en-US" sz="2600" dirty="0">
              <a:solidFill>
                <a:prstClr val="black"/>
              </a:solidFill>
              <a:latin typeface="Times New Roman" panose="02020603050405020304"/>
              <a:ea typeface="黑体" panose="02010609060101010101" charset="-122"/>
            </a:endParaRPr>
          </a:p>
        </p:txBody>
      </p:sp>
      <p:sp>
        <p:nvSpPr>
          <p:cNvPr id="5" name="文本框 4"/>
          <p:cNvSpPr txBox="1"/>
          <p:nvPr/>
        </p:nvSpPr>
        <p:spPr>
          <a:xfrm>
            <a:off x="2048309" y="881503"/>
            <a:ext cx="6746647" cy="707694"/>
          </a:xfrm>
          <a:prstGeom prst="rect">
            <a:avLst/>
          </a:prstGeom>
          <a:noFill/>
        </p:spPr>
        <p:txBody>
          <a:bodyPr wrap="square">
            <a:spAutoFit/>
          </a:bodyPr>
          <a:lstStyle/>
          <a:p>
            <a:pPr marL="0" lvl="1">
              <a:lnSpc>
                <a:spcPct val="150000"/>
              </a:lnSpc>
              <a:spcAft>
                <a:spcPts val="600"/>
              </a:spcAft>
            </a:pPr>
            <a:r>
              <a:rPr lang="en-US" altLang="zh-CN" sz="3200" dirty="0">
                <a:solidFill>
                  <a:srgbClr val="C00000"/>
                </a:solidFill>
                <a:latin typeface="方正姚体" panose="02010601030101010101" pitchFamily="2" charset="-122"/>
                <a:ea typeface="方正姚体" panose="02010601030101010101" pitchFamily="2" charset="-122"/>
                <a:cs typeface="+mn-ea"/>
                <a:sym typeface="+mn-lt"/>
              </a:rPr>
              <a:t>M-P</a:t>
            </a:r>
            <a:r>
              <a:rPr lang="zh-CN" altLang="en-US" sz="3200" dirty="0">
                <a:solidFill>
                  <a:srgbClr val="C00000"/>
                </a:solidFill>
                <a:latin typeface="方正姚体" panose="02010601030101010101" pitchFamily="2" charset="-122"/>
                <a:ea typeface="方正姚体" panose="02010601030101010101" pitchFamily="2" charset="-122"/>
                <a:cs typeface="+mn-ea"/>
                <a:sym typeface="+mn-lt"/>
              </a:rPr>
              <a:t>模型</a:t>
            </a:r>
            <a:endParaRPr lang="zh-CN" altLang="en-US" sz="3200" dirty="0">
              <a:solidFill>
                <a:srgbClr val="C00000"/>
              </a:solidFill>
              <a:latin typeface="方正姚体" panose="02010601030101010101" pitchFamily="2" charset="-122"/>
              <a:ea typeface="方正姚体" panose="02010601030101010101" pitchFamily="2" charset="-122"/>
              <a:cs typeface="+mn-ea"/>
              <a:sym typeface="+mn-lt"/>
            </a:endParaRPr>
          </a:p>
        </p:txBody>
      </p:sp>
      <p:pic>
        <p:nvPicPr>
          <p:cNvPr id="7" name="图片 51"/>
          <p:cNvPicPr>
            <a:picLocks noChangeAspect="1"/>
          </p:cNvPicPr>
          <p:nvPr/>
        </p:nvPicPr>
        <p:blipFill>
          <a:blip r:embed="rId1"/>
          <a:srcRect l="3082" b="752"/>
          <a:stretch>
            <a:fillRect/>
          </a:stretch>
        </p:blipFill>
        <p:spPr>
          <a:xfrm>
            <a:off x="2609997" y="2954538"/>
            <a:ext cx="6972006" cy="333565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500"/>
                                  </p:stCondLst>
                                  <p:childTnLst>
                                    <p:set>
                                      <p:cBhvr>
                                        <p:cTn id="6" dur="1" fill="hold">
                                          <p:stCondLst>
                                            <p:cond delay="0"/>
                                          </p:stCondLst>
                                        </p:cTn>
                                        <p:tgtEl>
                                          <p:spTgt spid="32">
                                            <p:txEl>
                                              <p:pRg st="0" end="0"/>
                                            </p:txEl>
                                          </p:spTgt>
                                        </p:tgtEl>
                                        <p:attrNameLst>
                                          <p:attrName>style.visibility</p:attrName>
                                        </p:attrNameLst>
                                      </p:cBhvr>
                                      <p:to>
                                        <p:strVal val="visible"/>
                                      </p:to>
                                    </p:set>
                                    <p:animEffect transition="in" filter="fade">
                                      <p:cBhvr>
                                        <p:cTn id="7" dur="750"/>
                                        <p:tgtEl>
                                          <p:spTgt spid="32">
                                            <p:txEl>
                                              <p:pRg st="0" end="0"/>
                                            </p:txEl>
                                          </p:spTgt>
                                        </p:tgtEl>
                                      </p:cBhvr>
                                    </p:animEffect>
                                  </p:childTnLst>
                                </p:cTn>
                              </p:par>
                            </p:childTnLst>
                          </p:cTn>
                        </p:par>
                        <p:par>
                          <p:cTn id="8" fill="hold">
                            <p:stCondLst>
                              <p:cond delay="1500"/>
                            </p:stCondLst>
                            <p:childTnLst>
                              <p:par>
                                <p:cTn id="9" presetID="10" presetClass="entr" presetSubtype="0" fill="hold" nodeType="afterEffect">
                                  <p:stCondLst>
                                    <p:cond delay="500"/>
                                  </p:stCondLst>
                                  <p:childTnLst>
                                    <p:set>
                                      <p:cBhvr>
                                        <p:cTn id="10" dur="1" fill="hold">
                                          <p:stCondLst>
                                            <p:cond delay="0"/>
                                          </p:stCondLst>
                                        </p:cTn>
                                        <p:tgtEl>
                                          <p:spTgt spid="32">
                                            <p:txEl>
                                              <p:pRg st="1" end="1"/>
                                            </p:txEl>
                                          </p:spTgt>
                                        </p:tgtEl>
                                        <p:attrNameLst>
                                          <p:attrName>style.visibility</p:attrName>
                                        </p:attrNameLst>
                                      </p:cBhvr>
                                      <p:to>
                                        <p:strVal val="visible"/>
                                      </p:to>
                                    </p:set>
                                    <p:animEffect transition="in" filter="fade">
                                      <p:cBhvr>
                                        <p:cTn id="11" dur="500"/>
                                        <p:tgtEl>
                                          <p:spTgt spid="32">
                                            <p:txEl>
                                              <p:pRg st="1" end="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42" presetClass="entr" presetSubtype="0" fill="hold"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1000"/>
                                        <p:tgtEl>
                                          <p:spTgt spid="7"/>
                                        </p:tgtEl>
                                      </p:cBhvr>
                                    </p:animEffect>
                                    <p:anim calcmode="lin" valueType="num">
                                      <p:cBhvr>
                                        <p:cTn id="17" dur="1000" fill="hold"/>
                                        <p:tgtEl>
                                          <p:spTgt spid="7"/>
                                        </p:tgtEl>
                                        <p:attrNameLst>
                                          <p:attrName>ppt_x</p:attrName>
                                        </p:attrNameLst>
                                      </p:cBhvr>
                                      <p:tavLst>
                                        <p:tav tm="0">
                                          <p:val>
                                            <p:strVal val="#ppt_x"/>
                                          </p:val>
                                        </p:tav>
                                        <p:tav tm="100000">
                                          <p:val>
                                            <p:strVal val="#ppt_x"/>
                                          </p:val>
                                        </p:tav>
                                      </p:tavLst>
                                    </p:anim>
                                    <p:anim calcmode="lin" valueType="num">
                                      <p:cBhvr>
                                        <p:cTn id="18"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a:spLocks noGrp="1"/>
          </p:cNvSpPr>
          <p:nvPr>
            <p:ph type="title"/>
          </p:nvPr>
        </p:nvSpPr>
        <p:spPr>
          <a:xfrm>
            <a:off x="1916315" y="131079"/>
            <a:ext cx="7962648" cy="657727"/>
          </a:xfrm>
        </p:spPr>
        <p:txBody>
          <a:bodyPr/>
          <a:lstStyle/>
          <a:p>
            <a:pPr algn="l"/>
            <a:r>
              <a:rPr lang="zh-CN" altLang="en-US" sz="4000" dirty="0">
                <a:latin typeface="方正姚体" panose="02010601030101010101" pitchFamily="2" charset="-122"/>
                <a:ea typeface="方正姚体" panose="02010601030101010101" pitchFamily="2" charset="-122"/>
                <a:cs typeface="Times New Roman" panose="02020603050405020304" pitchFamily="18" charset="0"/>
              </a:rPr>
              <a:t>人工神经网络简介</a:t>
            </a:r>
            <a:endParaRPr lang="zh-CN" altLang="en-US" sz="4000" dirty="0">
              <a:latin typeface="方正姚体" panose="02010601030101010101" pitchFamily="2" charset="-122"/>
              <a:ea typeface="方正姚体" panose="02010601030101010101" pitchFamily="2" charset="-122"/>
              <a:cs typeface="Times New Roman" panose="02020603050405020304" pitchFamily="18" charset="0"/>
            </a:endParaRPr>
          </a:p>
        </p:txBody>
      </p:sp>
      <mc:AlternateContent xmlns:mc="http://schemas.openxmlformats.org/markup-compatibility/2006">
        <mc:Choice xmlns:a14="http://schemas.microsoft.com/office/drawing/2010/main" Requires="a14">
          <p:sp>
            <p:nvSpPr>
              <p:cNvPr id="32" name="矩形 31"/>
              <p:cNvSpPr/>
              <p:nvPr/>
            </p:nvSpPr>
            <p:spPr>
              <a:xfrm>
                <a:off x="2114676" y="1737294"/>
                <a:ext cx="7962648" cy="4783617"/>
              </a:xfrm>
              <a:prstGeom prst="rect">
                <a:avLst/>
              </a:prstGeom>
              <a:ln>
                <a:noFill/>
              </a:ln>
            </p:spPr>
            <p:txBody>
              <a:bodyPr wrap="square">
                <a:spAutoFit/>
              </a:bodyPr>
              <a:lstStyle/>
              <a:p>
                <a:pPr marL="323850" indent="-342900" algn="just">
                  <a:lnSpc>
                    <a:spcPct val="140000"/>
                  </a:lnSpc>
                  <a:buFont typeface="Wingdings" panose="05000000000000000000" pitchFamily="2" charset="2"/>
                  <a:buChar char="Ø"/>
                </a:pPr>
                <a:r>
                  <a:rPr lang="zh-CN" altLang="en-US" sz="2400" dirty="0">
                    <a:solidFill>
                      <a:prstClr val="black"/>
                    </a:solidFill>
                    <a:latin typeface="Times New Roman" panose="02020603050405020304"/>
                    <a:ea typeface="黑体" panose="02010609060101010101" charset="-122"/>
                  </a:rPr>
                  <a:t>在</a:t>
                </a:r>
                <a:r>
                  <a:rPr lang="en-US" altLang="zh-CN" sz="2400" dirty="0">
                    <a:solidFill>
                      <a:prstClr val="black"/>
                    </a:solidFill>
                    <a:latin typeface="Times New Roman" panose="02020603050405020304"/>
                    <a:ea typeface="黑体" panose="02010609060101010101" charset="-122"/>
                  </a:rPr>
                  <a:t>M-P</a:t>
                </a:r>
                <a:r>
                  <a:rPr lang="zh-CN" altLang="en-US" sz="2400" dirty="0">
                    <a:solidFill>
                      <a:prstClr val="black"/>
                    </a:solidFill>
                    <a:latin typeface="Times New Roman" panose="02020603050405020304"/>
                    <a:ea typeface="黑体" panose="02010609060101010101" charset="-122"/>
                  </a:rPr>
                  <a:t>模型中，一个神经元</a:t>
                </a:r>
                <a:endParaRPr lang="en-US" altLang="zh-CN" sz="2400" dirty="0">
                  <a:solidFill>
                    <a:prstClr val="black"/>
                  </a:solidFill>
                  <a:latin typeface="Times New Roman" panose="02020603050405020304"/>
                  <a:ea typeface="黑体" panose="02010609060101010101" charset="-122"/>
                </a:endParaRPr>
              </a:p>
              <a:p>
                <a:pPr algn="just">
                  <a:lnSpc>
                    <a:spcPct val="140000"/>
                  </a:lnSpc>
                </a:pPr>
                <a:r>
                  <a:rPr lang="zh-CN" altLang="en-US" sz="2400" dirty="0">
                    <a:solidFill>
                      <a:prstClr val="black"/>
                    </a:solidFill>
                    <a:latin typeface="Times New Roman" panose="02020603050405020304"/>
                    <a:ea typeface="黑体" panose="02010609060101010101" charset="-122"/>
                  </a:rPr>
                  <a:t>可以从多个神经元接收信号， </a:t>
                </a:r>
                <a:endParaRPr lang="en-US" altLang="zh-CN" sz="2400" dirty="0">
                  <a:solidFill>
                    <a:prstClr val="black"/>
                  </a:solidFill>
                  <a:latin typeface="Times New Roman" panose="02020603050405020304"/>
                  <a:ea typeface="黑体" panose="02010609060101010101" charset="-122"/>
                </a:endParaRPr>
              </a:p>
              <a:p>
                <a:pPr algn="just">
                  <a:lnSpc>
                    <a:spcPct val="140000"/>
                  </a:lnSpc>
                </a:pPr>
                <a:r>
                  <a:rPr lang="en-US" altLang="zh-CN" sz="2400" i="1" dirty="0">
                    <a:solidFill>
                      <a:prstClr val="black"/>
                    </a:solidFill>
                    <a:latin typeface="Times New Roman" panose="02020603050405020304"/>
                    <a:ea typeface="黑体" panose="02010609060101010101" charset="-122"/>
                  </a:rPr>
                  <a:t>x</a:t>
                </a:r>
                <a:r>
                  <a:rPr lang="en-US" altLang="zh-CN" sz="2400" i="1" baseline="-25000" dirty="0">
                    <a:solidFill>
                      <a:prstClr val="black"/>
                    </a:solidFill>
                    <a:latin typeface="Times New Roman" panose="02020603050405020304"/>
                    <a:ea typeface="黑体" panose="02010609060101010101" charset="-122"/>
                  </a:rPr>
                  <a:t>i</a:t>
                </a:r>
                <a:r>
                  <a:rPr lang="zh-CN" altLang="en-US" sz="2400" dirty="0">
                    <a:solidFill>
                      <a:prstClr val="black"/>
                    </a:solidFill>
                    <a:latin typeface="Times New Roman" panose="02020603050405020304"/>
                    <a:ea typeface="黑体" panose="02010609060101010101" charset="-122"/>
                  </a:rPr>
                  <a:t>表示从第</a:t>
                </a:r>
                <a:r>
                  <a:rPr lang="en-US" altLang="zh-CN" sz="2400" i="1" dirty="0" err="1">
                    <a:solidFill>
                      <a:prstClr val="black"/>
                    </a:solidFill>
                    <a:latin typeface="Times New Roman" panose="02020603050405020304"/>
                    <a:ea typeface="黑体" panose="02010609060101010101" charset="-122"/>
                  </a:rPr>
                  <a:t>i</a:t>
                </a:r>
                <a:r>
                  <a:rPr lang="zh-CN" altLang="en-US" sz="2400" dirty="0">
                    <a:solidFill>
                      <a:prstClr val="black"/>
                    </a:solidFill>
                    <a:latin typeface="Times New Roman" panose="02020603050405020304"/>
                    <a:ea typeface="黑体" panose="02010609060101010101" charset="-122"/>
                  </a:rPr>
                  <a:t>个神经元传来的信号强度值。信号经突触传递给树突，突触的连接强度（传递能力）用</a:t>
                </a:r>
                <a:r>
                  <a:rPr lang="en-US" altLang="zh-CN" sz="2400" i="1" dirty="0" err="1">
                    <a:solidFill>
                      <a:prstClr val="black"/>
                    </a:solidFill>
                    <a:latin typeface="Times New Roman" panose="02020603050405020304"/>
                    <a:ea typeface="黑体" panose="02010609060101010101" charset="-122"/>
                  </a:rPr>
                  <a:t>w</a:t>
                </a:r>
                <a:r>
                  <a:rPr lang="en-US" altLang="zh-CN" sz="2400" i="1" baseline="-25000" dirty="0" err="1">
                    <a:solidFill>
                      <a:prstClr val="black"/>
                    </a:solidFill>
                    <a:latin typeface="Times New Roman" panose="02020603050405020304"/>
                    <a:ea typeface="黑体" panose="02010609060101010101" charset="-122"/>
                  </a:rPr>
                  <a:t>i</a:t>
                </a:r>
                <a:r>
                  <a:rPr lang="zh-CN" altLang="en-US" sz="2400" dirty="0">
                    <a:solidFill>
                      <a:prstClr val="black"/>
                    </a:solidFill>
                    <a:latin typeface="Times New Roman" panose="02020603050405020304"/>
                    <a:ea typeface="黑体" panose="02010609060101010101" charset="-122"/>
                  </a:rPr>
                  <a:t>表示，树突传入的信号强度计算为</a:t>
                </a:r>
                <a:r>
                  <a:rPr lang="en-US" altLang="zh-CN" sz="2400" i="1" dirty="0" err="1">
                    <a:solidFill>
                      <a:prstClr val="black"/>
                    </a:solidFill>
                    <a:latin typeface="Times New Roman" panose="02020603050405020304"/>
                    <a:ea typeface="黑体" panose="02010609060101010101" charset="-122"/>
                  </a:rPr>
                  <a:t>w</a:t>
                </a:r>
                <a:r>
                  <a:rPr lang="en-US" altLang="zh-CN" sz="2400" i="1" baseline="-25000" dirty="0" err="1">
                    <a:solidFill>
                      <a:prstClr val="black"/>
                    </a:solidFill>
                    <a:latin typeface="Times New Roman" panose="02020603050405020304"/>
                    <a:ea typeface="黑体" panose="02010609060101010101" charset="-122"/>
                  </a:rPr>
                  <a:t>i</a:t>
                </a:r>
                <a:r>
                  <a:rPr lang="en-US" altLang="zh-CN" sz="2400" dirty="0">
                    <a:solidFill>
                      <a:prstClr val="black"/>
                    </a:solidFill>
                    <a:latin typeface="Times New Roman" panose="02020603050405020304"/>
                    <a:ea typeface="黑体" panose="02010609060101010101" charset="-122"/>
                  </a:rPr>
                  <a:t>*</a:t>
                </a:r>
                <a:r>
                  <a:rPr lang="en-US" altLang="zh-CN" sz="2400" i="1" dirty="0">
                    <a:solidFill>
                      <a:prstClr val="black"/>
                    </a:solidFill>
                    <a:latin typeface="Times New Roman" panose="02020603050405020304"/>
                    <a:ea typeface="黑体" panose="02010609060101010101" charset="-122"/>
                  </a:rPr>
                  <a:t>x</a:t>
                </a:r>
                <a:r>
                  <a:rPr lang="en-US" altLang="zh-CN" sz="2400" i="1" baseline="-25000" dirty="0">
                    <a:solidFill>
                      <a:prstClr val="black"/>
                    </a:solidFill>
                    <a:latin typeface="Times New Roman" panose="02020603050405020304"/>
                    <a:ea typeface="黑体" panose="02010609060101010101" charset="-122"/>
                  </a:rPr>
                  <a:t>i</a:t>
                </a:r>
                <a:r>
                  <a:rPr lang="zh-CN" altLang="en-US" sz="2400" dirty="0">
                    <a:solidFill>
                      <a:prstClr val="black"/>
                    </a:solidFill>
                    <a:latin typeface="Times New Roman" panose="02020603050405020304"/>
                    <a:ea typeface="黑体" panose="02010609060101010101" charset="-122"/>
                  </a:rPr>
                  <a:t>；在细胞体中，对各个树突传来的信号进行汇集和处理：</a:t>
                </a:r>
                <a:r>
                  <a:rPr lang="zh-CN" altLang="en-US" sz="2400" dirty="0">
                    <a:solidFill>
                      <a:srgbClr val="C00000"/>
                    </a:solidFill>
                    <a:latin typeface="Times New Roman" panose="02020603050405020304"/>
                    <a:ea typeface="黑体" panose="02010609060101010101" charset="-122"/>
                  </a:rPr>
                  <a:t>汇集</a:t>
                </a:r>
                <a:r>
                  <a:rPr lang="zh-CN" altLang="en-US" sz="2400" dirty="0">
                    <a:solidFill>
                      <a:prstClr val="black"/>
                    </a:solidFill>
                    <a:latin typeface="Times New Roman" panose="02020603050405020304"/>
                    <a:ea typeface="黑体" panose="02010609060101010101" charset="-122"/>
                  </a:rPr>
                  <a:t>是对输入信号直接相加</a:t>
                </a:r>
                <a14:m>
                  <m:oMath xmlns:m="http://schemas.openxmlformats.org/officeDocument/2006/math">
                    <m:nary>
                      <m:naryPr>
                        <m:chr m:val="∑"/>
                        <m:ctrlPr>
                          <a:rPr lang="zh-CN" altLang="en-US" sz="2400" i="1">
                            <a:solidFill>
                              <a:prstClr val="black"/>
                            </a:solidFill>
                            <a:latin typeface="Cambria Math" panose="02040503050406030204" pitchFamily="18" charset="0"/>
                          </a:rPr>
                        </m:ctrlPr>
                      </m:naryPr>
                      <m:sub>
                        <m:r>
                          <m:rPr>
                            <m:brk m:alnAt="23"/>
                          </m:rPr>
                          <a:rPr lang="en-US" altLang="zh-CN" sz="2400" i="1">
                            <a:solidFill>
                              <a:prstClr val="black"/>
                            </a:solidFill>
                            <a:latin typeface="Cambria Math" panose="02040503050406030204" pitchFamily="18" charset="0"/>
                          </a:rPr>
                          <m:t>𝑖</m:t>
                        </m:r>
                        <m:r>
                          <a:rPr lang="en-US" altLang="zh-CN" sz="2400" i="1">
                            <a:solidFill>
                              <a:prstClr val="black"/>
                            </a:solidFill>
                            <a:latin typeface="Cambria Math" panose="02040503050406030204" pitchFamily="18" charset="0"/>
                          </a:rPr>
                          <m:t>=</m:t>
                        </m:r>
                        <m:r>
                          <a:rPr lang="en-US" altLang="zh-CN" sz="2400" i="1">
                            <a:solidFill>
                              <a:prstClr val="black"/>
                            </a:solidFill>
                            <a:latin typeface="Cambria Math" panose="02040503050406030204" pitchFamily="18" charset="0"/>
                          </a:rPr>
                          <m:t>1</m:t>
                        </m:r>
                      </m:sub>
                      <m:sup>
                        <m:r>
                          <a:rPr lang="en-US" altLang="zh-CN" sz="2400" i="1">
                            <a:solidFill>
                              <a:prstClr val="black"/>
                            </a:solidFill>
                            <a:latin typeface="Cambria Math" panose="02040503050406030204" pitchFamily="18" charset="0"/>
                          </a:rPr>
                          <m:t>𝑛</m:t>
                        </m:r>
                      </m:sup>
                      <m:e>
                        <m:sSub>
                          <m:sSubPr>
                            <m:ctrlPr>
                              <a:rPr lang="en-US" altLang="zh-CN" sz="2400" i="1">
                                <a:solidFill>
                                  <a:prstClr val="black"/>
                                </a:solidFill>
                                <a:latin typeface="Cambria Math" panose="02040503050406030204" pitchFamily="18" charset="0"/>
                              </a:rPr>
                            </m:ctrlPr>
                          </m:sSubPr>
                          <m:e>
                            <m:r>
                              <a:rPr lang="en-US" altLang="zh-CN" sz="2400" i="1">
                                <a:solidFill>
                                  <a:prstClr val="black"/>
                                </a:solidFill>
                                <a:latin typeface="Cambria Math" panose="02040503050406030204" pitchFamily="18" charset="0"/>
                              </a:rPr>
                              <m:t>𝑤</m:t>
                            </m:r>
                          </m:e>
                          <m:sub>
                            <m:r>
                              <a:rPr lang="en-US" altLang="zh-CN" sz="2400" i="1">
                                <a:solidFill>
                                  <a:prstClr val="black"/>
                                </a:solidFill>
                                <a:latin typeface="Cambria Math" panose="02040503050406030204" pitchFamily="18" charset="0"/>
                              </a:rPr>
                              <m:t>𝑖</m:t>
                            </m:r>
                          </m:sub>
                        </m:sSub>
                        <m:sSub>
                          <m:sSubPr>
                            <m:ctrlPr>
                              <a:rPr lang="en-US" altLang="zh-CN" sz="2400" i="1">
                                <a:solidFill>
                                  <a:prstClr val="black"/>
                                </a:solidFill>
                                <a:latin typeface="Cambria Math" panose="02040503050406030204" pitchFamily="18" charset="0"/>
                              </a:rPr>
                            </m:ctrlPr>
                          </m:sSubPr>
                          <m:e>
                            <m:r>
                              <a:rPr lang="en-US" altLang="zh-CN" sz="2400" i="1">
                                <a:solidFill>
                                  <a:prstClr val="black"/>
                                </a:solidFill>
                                <a:latin typeface="Cambria Math" panose="02040503050406030204" pitchFamily="18" charset="0"/>
                              </a:rPr>
                              <m:t>𝑥</m:t>
                            </m:r>
                          </m:e>
                          <m:sub>
                            <m:r>
                              <a:rPr lang="en-US" altLang="zh-CN" sz="2400" i="1">
                                <a:solidFill>
                                  <a:prstClr val="black"/>
                                </a:solidFill>
                                <a:latin typeface="Cambria Math" panose="02040503050406030204" pitchFamily="18" charset="0"/>
                              </a:rPr>
                              <m:t>𝑖</m:t>
                            </m:r>
                          </m:sub>
                        </m:sSub>
                      </m:e>
                    </m:nary>
                  </m:oMath>
                </a14:m>
                <a:r>
                  <a:rPr lang="zh-CN" altLang="en-US" sz="2400" dirty="0">
                    <a:solidFill>
                      <a:prstClr val="black"/>
                    </a:solidFill>
                    <a:latin typeface="Times New Roman" panose="02020603050405020304"/>
                    <a:ea typeface="黑体" panose="02010609060101010101" charset="-122"/>
                  </a:rPr>
                  <a:t>；</a:t>
                </a:r>
                <a:r>
                  <a:rPr lang="zh-CN" altLang="en-US" sz="2400" dirty="0">
                    <a:solidFill>
                      <a:srgbClr val="C00000"/>
                    </a:solidFill>
                    <a:latin typeface="Times New Roman" panose="02020603050405020304"/>
                    <a:ea typeface="黑体" panose="02010609060101010101" charset="-122"/>
                  </a:rPr>
                  <a:t>处理</a:t>
                </a:r>
                <a:r>
                  <a:rPr lang="zh-CN" altLang="en-US" sz="2400" dirty="0">
                    <a:solidFill>
                      <a:prstClr val="black"/>
                    </a:solidFill>
                    <a:latin typeface="Times New Roman" panose="02020603050405020304"/>
                    <a:ea typeface="黑体" panose="02010609060101010101" charset="-122"/>
                  </a:rPr>
                  <a:t>则是根据预先设定的阈值</a:t>
                </a:r>
                <a:r>
                  <a:rPr lang="en-US" altLang="zh-CN" sz="2400" i="1" dirty="0">
                    <a:solidFill>
                      <a:prstClr val="black"/>
                    </a:solidFill>
                    <a:latin typeface="Times New Roman" panose="02020603050405020304"/>
                    <a:ea typeface="黑体" panose="02010609060101010101" charset="-122"/>
                  </a:rPr>
                  <a:t>θ</a:t>
                </a:r>
                <a:r>
                  <a:rPr lang="zh-CN" altLang="en-US" sz="2400" dirty="0">
                    <a:solidFill>
                      <a:prstClr val="black"/>
                    </a:solidFill>
                    <a:latin typeface="Times New Roman" panose="02020603050405020304"/>
                    <a:ea typeface="黑体" panose="02010609060101010101" charset="-122"/>
                  </a:rPr>
                  <a:t>，如果汇集后的信号强度大于该阈值就通过轴突产生冲动（输出值</a:t>
                </a:r>
                <a:r>
                  <a:rPr lang="en-US" altLang="zh-CN" sz="2400" dirty="0">
                    <a:solidFill>
                      <a:prstClr val="black"/>
                    </a:solidFill>
                    <a:latin typeface="Times New Roman" panose="02020603050405020304"/>
                    <a:ea typeface="黑体" panose="02010609060101010101" charset="-122"/>
                  </a:rPr>
                  <a:t>1</a:t>
                </a:r>
                <a:r>
                  <a:rPr lang="zh-CN" altLang="en-US" sz="2400" dirty="0">
                    <a:solidFill>
                      <a:prstClr val="black"/>
                    </a:solidFill>
                    <a:latin typeface="Times New Roman" panose="02020603050405020304"/>
                    <a:ea typeface="黑体" panose="02010609060101010101" charset="-122"/>
                  </a:rPr>
                  <a:t>），否则不产生（输出</a:t>
                </a:r>
                <a:r>
                  <a:rPr lang="en-US" altLang="zh-CN" sz="2400" dirty="0">
                    <a:solidFill>
                      <a:prstClr val="black"/>
                    </a:solidFill>
                    <a:latin typeface="Times New Roman" panose="02020603050405020304"/>
                    <a:ea typeface="黑体" panose="02010609060101010101" charset="-122"/>
                  </a:rPr>
                  <a:t>0</a:t>
                </a:r>
                <a:r>
                  <a:rPr lang="zh-CN" altLang="en-US" sz="2400" dirty="0">
                    <a:solidFill>
                      <a:prstClr val="black"/>
                    </a:solidFill>
                    <a:latin typeface="Times New Roman" panose="02020603050405020304"/>
                    <a:ea typeface="黑体" panose="02010609060101010101" charset="-122"/>
                  </a:rPr>
                  <a:t>）</a:t>
                </a:r>
                <a:endParaRPr lang="zh-CN" altLang="en-US" sz="2400" dirty="0">
                  <a:solidFill>
                    <a:prstClr val="black"/>
                  </a:solidFill>
                  <a:latin typeface="Times New Roman" panose="02020603050405020304"/>
                  <a:ea typeface="黑体" panose="02010609060101010101" charset="-122"/>
                </a:endParaRPr>
              </a:p>
            </p:txBody>
          </p:sp>
        </mc:Choice>
        <mc:Fallback>
          <p:sp>
            <p:nvSpPr>
              <p:cNvPr id="32" name="矩形 31"/>
              <p:cNvSpPr>
                <a:spLocks noRot="1" noChangeAspect="1" noMove="1" noResize="1" noEditPoints="1" noAdjustHandles="1" noChangeArrowheads="1" noChangeShapeType="1" noTextEdit="1"/>
              </p:cNvSpPr>
              <p:nvPr/>
            </p:nvSpPr>
            <p:spPr>
              <a:xfrm>
                <a:off x="2114676" y="1737294"/>
                <a:ext cx="7962648" cy="4783617"/>
              </a:xfrm>
              <a:prstGeom prst="rect">
                <a:avLst/>
              </a:prstGeom>
              <a:blipFill rotWithShape="1">
                <a:blip r:embed="rId1"/>
                <a:stretch>
                  <a:fillRect l="-2" t="-12" r="6" b="2"/>
                </a:stretch>
              </a:blipFill>
              <a:ln>
                <a:noFill/>
              </a:ln>
            </p:spPr>
            <p:txBody>
              <a:bodyPr/>
              <a:lstStyle/>
              <a:p>
                <a:r>
                  <a:rPr lang="zh-CN" altLang="en-US">
                    <a:noFill/>
                  </a:rPr>
                  <a:t> </a:t>
                </a:r>
              </a:p>
            </p:txBody>
          </p:sp>
        </mc:Fallback>
      </mc:AlternateContent>
      <p:sp>
        <p:nvSpPr>
          <p:cNvPr id="5" name="文本框 4"/>
          <p:cNvSpPr txBox="1"/>
          <p:nvPr/>
        </p:nvSpPr>
        <p:spPr>
          <a:xfrm>
            <a:off x="2048309" y="881503"/>
            <a:ext cx="6746647" cy="707694"/>
          </a:xfrm>
          <a:prstGeom prst="rect">
            <a:avLst/>
          </a:prstGeom>
          <a:noFill/>
        </p:spPr>
        <p:txBody>
          <a:bodyPr wrap="square">
            <a:spAutoFit/>
          </a:bodyPr>
          <a:lstStyle/>
          <a:p>
            <a:pPr marL="0" lvl="1">
              <a:lnSpc>
                <a:spcPct val="150000"/>
              </a:lnSpc>
              <a:spcAft>
                <a:spcPts val="600"/>
              </a:spcAft>
            </a:pPr>
            <a:r>
              <a:rPr lang="en-US" altLang="zh-CN" sz="3200" dirty="0">
                <a:solidFill>
                  <a:srgbClr val="C00000"/>
                </a:solidFill>
                <a:latin typeface="方正姚体" panose="02010601030101010101" pitchFamily="2" charset="-122"/>
                <a:ea typeface="方正姚体" panose="02010601030101010101" pitchFamily="2" charset="-122"/>
                <a:cs typeface="+mn-ea"/>
                <a:sym typeface="+mn-lt"/>
              </a:rPr>
              <a:t>M-P</a:t>
            </a:r>
            <a:r>
              <a:rPr lang="zh-CN" altLang="en-US" sz="3200" dirty="0">
                <a:solidFill>
                  <a:srgbClr val="C00000"/>
                </a:solidFill>
                <a:latin typeface="方正姚体" panose="02010601030101010101" pitchFamily="2" charset="-122"/>
                <a:ea typeface="方正姚体" panose="02010601030101010101" pitchFamily="2" charset="-122"/>
                <a:cs typeface="+mn-ea"/>
                <a:sym typeface="+mn-lt"/>
              </a:rPr>
              <a:t>模型</a:t>
            </a:r>
            <a:endParaRPr lang="zh-CN" altLang="en-US" sz="3200" dirty="0">
              <a:solidFill>
                <a:srgbClr val="C00000"/>
              </a:solidFill>
              <a:latin typeface="方正姚体" panose="02010601030101010101" pitchFamily="2" charset="-122"/>
              <a:ea typeface="方正姚体" panose="02010601030101010101" pitchFamily="2" charset="-122"/>
              <a:cs typeface="+mn-ea"/>
              <a:sym typeface="+mn-lt"/>
            </a:endParaRPr>
          </a:p>
        </p:txBody>
      </p:sp>
      <p:pic>
        <p:nvPicPr>
          <p:cNvPr id="7" name="图片 51"/>
          <p:cNvPicPr>
            <a:picLocks noChangeAspect="1"/>
          </p:cNvPicPr>
          <p:nvPr/>
        </p:nvPicPr>
        <p:blipFill>
          <a:blip r:embed="rId2"/>
          <a:srcRect l="3082" b="752"/>
          <a:stretch>
            <a:fillRect/>
          </a:stretch>
        </p:blipFill>
        <p:spPr>
          <a:xfrm>
            <a:off x="6406966" y="975002"/>
            <a:ext cx="3736726" cy="1874397"/>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500"/>
                                  </p:stCondLst>
                                  <p:childTnLst>
                                    <p:set>
                                      <p:cBhvr>
                                        <p:cTn id="6" dur="1" fill="hold">
                                          <p:stCondLst>
                                            <p:cond delay="0"/>
                                          </p:stCondLst>
                                        </p:cTn>
                                        <p:tgtEl>
                                          <p:spTgt spid="32"/>
                                        </p:tgtEl>
                                        <p:attrNameLst>
                                          <p:attrName>style.visibility</p:attrName>
                                        </p:attrNameLst>
                                      </p:cBhvr>
                                      <p:to>
                                        <p:strVal val="visible"/>
                                      </p:to>
                                    </p:set>
                                    <p:animEffect transition="in" filter="fade">
                                      <p:cBhvr>
                                        <p:cTn id="7" dur="1000"/>
                                        <p:tgtEl>
                                          <p:spTgt spid="32"/>
                                        </p:tgtEl>
                                      </p:cBhvr>
                                    </p:animEffect>
                                    <p:anim calcmode="lin" valueType="num">
                                      <p:cBhvr>
                                        <p:cTn id="8" dur="1000" fill="hold"/>
                                        <p:tgtEl>
                                          <p:spTgt spid="32"/>
                                        </p:tgtEl>
                                        <p:attrNameLst>
                                          <p:attrName>ppt_x</p:attrName>
                                        </p:attrNameLst>
                                      </p:cBhvr>
                                      <p:tavLst>
                                        <p:tav tm="0">
                                          <p:val>
                                            <p:strVal val="#ppt_x"/>
                                          </p:val>
                                        </p:tav>
                                        <p:tav tm="100000">
                                          <p:val>
                                            <p:strVal val="#ppt_x"/>
                                          </p:val>
                                        </p:tav>
                                      </p:tavLst>
                                    </p:anim>
                                    <p:anim calcmode="lin" valueType="num">
                                      <p:cBhvr>
                                        <p:cTn id="9" dur="1000" fill="hold"/>
                                        <p:tgtEl>
                                          <p:spTgt spid="3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a:spLocks noGrp="1"/>
          </p:cNvSpPr>
          <p:nvPr>
            <p:ph type="title"/>
          </p:nvPr>
        </p:nvSpPr>
        <p:spPr>
          <a:xfrm>
            <a:off x="1916315" y="131079"/>
            <a:ext cx="7962648" cy="657727"/>
          </a:xfrm>
        </p:spPr>
        <p:txBody>
          <a:bodyPr/>
          <a:lstStyle/>
          <a:p>
            <a:pPr algn="l"/>
            <a:r>
              <a:rPr lang="zh-CN" altLang="en-US" sz="4000" dirty="0">
                <a:latin typeface="方正姚体" panose="02010601030101010101" pitchFamily="2" charset="-122"/>
                <a:ea typeface="方正姚体" panose="02010601030101010101" pitchFamily="2" charset="-122"/>
                <a:cs typeface="Times New Roman" panose="02020603050405020304" pitchFamily="18" charset="0"/>
              </a:rPr>
              <a:t>人工神经网络简介</a:t>
            </a:r>
            <a:endParaRPr lang="zh-CN" altLang="en-US" sz="4000" dirty="0">
              <a:latin typeface="方正姚体" panose="02010601030101010101" pitchFamily="2" charset="-122"/>
              <a:ea typeface="方正姚体" panose="02010601030101010101" pitchFamily="2" charset="-122"/>
              <a:cs typeface="Times New Roman" panose="02020603050405020304" pitchFamily="18" charset="0"/>
            </a:endParaRPr>
          </a:p>
        </p:txBody>
      </p:sp>
      <p:sp>
        <p:nvSpPr>
          <p:cNvPr id="32" name="矩形 31"/>
          <p:cNvSpPr/>
          <p:nvPr/>
        </p:nvSpPr>
        <p:spPr>
          <a:xfrm>
            <a:off x="2114676" y="1737294"/>
            <a:ext cx="7962648" cy="4171719"/>
          </a:xfrm>
          <a:prstGeom prst="rect">
            <a:avLst/>
          </a:prstGeom>
          <a:ln>
            <a:noFill/>
          </a:ln>
        </p:spPr>
        <p:txBody>
          <a:bodyPr wrap="square">
            <a:spAutoFit/>
          </a:bodyPr>
          <a:lstStyle/>
          <a:p>
            <a:pPr marL="323850" indent="-342900" algn="just">
              <a:lnSpc>
                <a:spcPct val="140000"/>
              </a:lnSpc>
              <a:buFont typeface="Wingdings" panose="05000000000000000000" pitchFamily="2" charset="2"/>
              <a:buChar char="Ø"/>
            </a:pPr>
            <a:r>
              <a:rPr lang="en-US" altLang="zh-CN" sz="2400" dirty="0">
                <a:solidFill>
                  <a:prstClr val="black"/>
                </a:solidFill>
                <a:latin typeface="Times New Roman" panose="02020603050405020304"/>
                <a:ea typeface="黑体" panose="02010609060101010101" charset="-122"/>
              </a:rPr>
              <a:t>M-P</a:t>
            </a:r>
            <a:r>
              <a:rPr lang="zh-CN" altLang="en-US" sz="2400" dirty="0">
                <a:solidFill>
                  <a:prstClr val="black"/>
                </a:solidFill>
                <a:latin typeface="Times New Roman" panose="02020603050405020304"/>
                <a:ea typeface="黑体" panose="02010609060101010101" charset="-122"/>
              </a:rPr>
              <a:t>模型最终输出可以描述为</a:t>
            </a:r>
            <a:endParaRPr lang="en-US" altLang="zh-CN" sz="2400" dirty="0">
              <a:solidFill>
                <a:prstClr val="black"/>
              </a:solidFill>
              <a:latin typeface="Times New Roman" panose="02020603050405020304"/>
              <a:ea typeface="黑体" panose="02010609060101010101" charset="-122"/>
            </a:endParaRPr>
          </a:p>
          <a:p>
            <a:pPr marL="323850" indent="-342900" algn="just">
              <a:lnSpc>
                <a:spcPct val="140000"/>
              </a:lnSpc>
              <a:buFont typeface="Wingdings" panose="05000000000000000000" pitchFamily="2" charset="2"/>
              <a:buChar char="Ø"/>
            </a:pPr>
            <a:endParaRPr lang="en-US" altLang="zh-CN" sz="2400" dirty="0">
              <a:solidFill>
                <a:prstClr val="black"/>
              </a:solidFill>
              <a:latin typeface="Times New Roman" panose="02020603050405020304"/>
              <a:ea typeface="黑体" panose="02010609060101010101" charset="-122"/>
            </a:endParaRPr>
          </a:p>
          <a:p>
            <a:pPr marL="323850" indent="-342900" algn="just">
              <a:lnSpc>
                <a:spcPct val="140000"/>
              </a:lnSpc>
              <a:buFont typeface="Wingdings" panose="05000000000000000000" pitchFamily="2" charset="2"/>
              <a:buChar char="Ø"/>
            </a:pPr>
            <a:endParaRPr lang="en-US" altLang="zh-CN" sz="2400" dirty="0">
              <a:solidFill>
                <a:prstClr val="black"/>
              </a:solidFill>
              <a:latin typeface="Times New Roman" panose="02020603050405020304"/>
              <a:ea typeface="黑体" panose="02010609060101010101" charset="-122"/>
            </a:endParaRPr>
          </a:p>
          <a:p>
            <a:pPr marL="323850" indent="-342900" algn="just">
              <a:lnSpc>
                <a:spcPct val="140000"/>
              </a:lnSpc>
              <a:buFont typeface="Wingdings" panose="05000000000000000000" pitchFamily="2" charset="2"/>
              <a:buChar char="Ø"/>
            </a:pPr>
            <a:r>
              <a:rPr lang="zh-CN" altLang="en-US" sz="2400" dirty="0">
                <a:solidFill>
                  <a:prstClr val="black"/>
                </a:solidFill>
                <a:latin typeface="Times New Roman" panose="02020603050405020304"/>
                <a:ea typeface="黑体" panose="02010609060101010101" charset="-122"/>
              </a:rPr>
              <a:t>函数</a:t>
            </a:r>
            <a:r>
              <a:rPr lang="en-US" altLang="zh-CN" sz="2400" i="1" dirty="0">
                <a:solidFill>
                  <a:prstClr val="black"/>
                </a:solidFill>
                <a:latin typeface="Times New Roman" panose="02020603050405020304"/>
                <a:ea typeface="黑体" panose="02010609060101010101" charset="-122"/>
              </a:rPr>
              <a:t>f</a:t>
            </a:r>
            <a:r>
              <a:rPr lang="en-US" altLang="zh-CN" sz="2400" dirty="0">
                <a:solidFill>
                  <a:prstClr val="black"/>
                </a:solidFill>
                <a:latin typeface="Times New Roman" panose="02020603050405020304"/>
                <a:ea typeface="黑体" panose="02010609060101010101" charset="-122"/>
              </a:rPr>
              <a:t>(</a:t>
            </a:r>
            <a:r>
              <a:rPr lang="en-US" altLang="zh-CN" sz="2400" i="1" dirty="0">
                <a:solidFill>
                  <a:prstClr val="black"/>
                </a:solidFill>
                <a:latin typeface="Times New Roman" panose="02020603050405020304"/>
                <a:ea typeface="黑体" panose="02010609060101010101" charset="-122"/>
              </a:rPr>
              <a:t>x</a:t>
            </a:r>
            <a:r>
              <a:rPr lang="en-US" altLang="zh-CN" sz="2400" dirty="0">
                <a:solidFill>
                  <a:prstClr val="black"/>
                </a:solidFill>
                <a:latin typeface="Times New Roman" panose="02020603050405020304"/>
                <a:ea typeface="黑体" panose="02010609060101010101" charset="-122"/>
              </a:rPr>
              <a:t>)</a:t>
            </a:r>
            <a:r>
              <a:rPr lang="zh-CN" altLang="en-US" sz="2400" dirty="0">
                <a:solidFill>
                  <a:prstClr val="black"/>
                </a:solidFill>
                <a:latin typeface="Times New Roman" panose="02020603050405020304"/>
                <a:ea typeface="黑体" panose="02010609060101010101" charset="-122"/>
              </a:rPr>
              <a:t>是阶跃函数：当刺激强度大于该神经元的阈值，则该神经元表现兴奋状态，输出</a:t>
            </a:r>
            <a:r>
              <a:rPr lang="en-US" altLang="zh-CN" sz="2400" i="1" dirty="0">
                <a:solidFill>
                  <a:prstClr val="black"/>
                </a:solidFill>
                <a:latin typeface="Times New Roman" panose="02020603050405020304"/>
                <a:ea typeface="黑体" panose="02010609060101010101" charset="-122"/>
              </a:rPr>
              <a:t>y</a:t>
            </a:r>
            <a:r>
              <a:rPr lang="en-US" altLang="zh-CN" sz="2400" dirty="0">
                <a:solidFill>
                  <a:prstClr val="black"/>
                </a:solidFill>
                <a:latin typeface="Times New Roman" panose="02020603050405020304"/>
                <a:ea typeface="黑体" panose="02010609060101010101" charset="-122"/>
              </a:rPr>
              <a:t>=1</a:t>
            </a:r>
            <a:r>
              <a:rPr lang="zh-CN" altLang="en-US" sz="2400" dirty="0">
                <a:solidFill>
                  <a:prstClr val="black"/>
                </a:solidFill>
                <a:latin typeface="Times New Roman" panose="02020603050405020304"/>
                <a:ea typeface="黑体" panose="02010609060101010101" charset="-122"/>
              </a:rPr>
              <a:t>；反之则表现出抑制状态，输出</a:t>
            </a:r>
            <a:r>
              <a:rPr lang="en-US" altLang="zh-CN" sz="2400" i="1" dirty="0">
                <a:solidFill>
                  <a:prstClr val="black"/>
                </a:solidFill>
                <a:latin typeface="Times New Roman" panose="02020603050405020304"/>
                <a:ea typeface="黑体" panose="02010609060101010101" charset="-122"/>
              </a:rPr>
              <a:t>y</a:t>
            </a:r>
            <a:r>
              <a:rPr lang="en-US" altLang="zh-CN" sz="2400" dirty="0">
                <a:solidFill>
                  <a:prstClr val="black"/>
                </a:solidFill>
                <a:latin typeface="Times New Roman" panose="02020603050405020304"/>
                <a:ea typeface="黑体" panose="02010609060101010101" charset="-122"/>
              </a:rPr>
              <a:t>=0</a:t>
            </a:r>
            <a:r>
              <a:rPr lang="zh-CN" altLang="en-US" sz="2400" dirty="0">
                <a:solidFill>
                  <a:prstClr val="black"/>
                </a:solidFill>
                <a:latin typeface="Times New Roman" panose="02020603050405020304"/>
                <a:ea typeface="黑体" panose="02010609060101010101" charset="-122"/>
              </a:rPr>
              <a:t>。</a:t>
            </a:r>
            <a:endParaRPr lang="zh-CN" altLang="en-US" sz="2400" dirty="0">
              <a:solidFill>
                <a:prstClr val="black"/>
              </a:solidFill>
              <a:latin typeface="Times New Roman" panose="02020603050405020304"/>
              <a:ea typeface="黑体" panose="02010609060101010101" charset="-122"/>
            </a:endParaRPr>
          </a:p>
          <a:p>
            <a:pPr marL="323850" indent="-342900" algn="just">
              <a:lnSpc>
                <a:spcPct val="140000"/>
              </a:lnSpc>
              <a:buFont typeface="Wingdings" panose="05000000000000000000" pitchFamily="2" charset="2"/>
              <a:buChar char="Ø"/>
            </a:pPr>
            <a:endParaRPr lang="en-US" altLang="zh-CN" sz="2400" dirty="0">
              <a:solidFill>
                <a:prstClr val="black"/>
              </a:solidFill>
              <a:latin typeface="Times New Roman" panose="02020603050405020304"/>
              <a:ea typeface="黑体" panose="02010609060101010101" charset="-122"/>
            </a:endParaRPr>
          </a:p>
          <a:p>
            <a:pPr algn="just">
              <a:lnSpc>
                <a:spcPct val="140000"/>
              </a:lnSpc>
            </a:pPr>
            <a:endParaRPr lang="zh-CN" altLang="en-US" sz="2400" dirty="0">
              <a:solidFill>
                <a:prstClr val="black"/>
              </a:solidFill>
              <a:latin typeface="Times New Roman" panose="02020603050405020304"/>
              <a:ea typeface="黑体" panose="02010609060101010101" charset="-122"/>
            </a:endParaRPr>
          </a:p>
        </p:txBody>
      </p:sp>
      <p:sp>
        <p:nvSpPr>
          <p:cNvPr id="5" name="文本框 4"/>
          <p:cNvSpPr txBox="1"/>
          <p:nvPr/>
        </p:nvSpPr>
        <p:spPr>
          <a:xfrm>
            <a:off x="2048309" y="881503"/>
            <a:ext cx="6746647" cy="707694"/>
          </a:xfrm>
          <a:prstGeom prst="rect">
            <a:avLst/>
          </a:prstGeom>
          <a:noFill/>
        </p:spPr>
        <p:txBody>
          <a:bodyPr wrap="square">
            <a:spAutoFit/>
          </a:bodyPr>
          <a:lstStyle/>
          <a:p>
            <a:pPr marL="0" lvl="1">
              <a:lnSpc>
                <a:spcPct val="150000"/>
              </a:lnSpc>
              <a:spcAft>
                <a:spcPts val="600"/>
              </a:spcAft>
            </a:pPr>
            <a:r>
              <a:rPr lang="en-US" altLang="zh-CN" sz="3200" dirty="0">
                <a:solidFill>
                  <a:srgbClr val="C00000"/>
                </a:solidFill>
                <a:latin typeface="方正姚体" panose="02010601030101010101" pitchFamily="2" charset="-122"/>
                <a:ea typeface="方正姚体" panose="02010601030101010101" pitchFamily="2" charset="-122"/>
                <a:cs typeface="+mn-ea"/>
                <a:sym typeface="+mn-lt"/>
              </a:rPr>
              <a:t>M-P</a:t>
            </a:r>
            <a:r>
              <a:rPr lang="zh-CN" altLang="en-US" sz="3200" dirty="0">
                <a:solidFill>
                  <a:srgbClr val="C00000"/>
                </a:solidFill>
                <a:latin typeface="方正姚体" panose="02010601030101010101" pitchFamily="2" charset="-122"/>
                <a:ea typeface="方正姚体" panose="02010601030101010101" pitchFamily="2" charset="-122"/>
                <a:cs typeface="+mn-ea"/>
                <a:sym typeface="+mn-lt"/>
              </a:rPr>
              <a:t>模型</a:t>
            </a:r>
            <a:endParaRPr lang="zh-CN" altLang="en-US" sz="3200" dirty="0">
              <a:solidFill>
                <a:srgbClr val="C00000"/>
              </a:solidFill>
              <a:latin typeface="方正姚体" panose="02010601030101010101" pitchFamily="2" charset="-122"/>
              <a:ea typeface="方正姚体" panose="02010601030101010101" pitchFamily="2" charset="-122"/>
              <a:cs typeface="+mn-ea"/>
              <a:sym typeface="+mn-lt"/>
            </a:endParaRPr>
          </a:p>
        </p:txBody>
      </p:sp>
      <p:pic>
        <p:nvPicPr>
          <p:cNvPr id="7" name="图片 51"/>
          <p:cNvPicPr>
            <a:picLocks noChangeAspect="1"/>
          </p:cNvPicPr>
          <p:nvPr/>
        </p:nvPicPr>
        <p:blipFill>
          <a:blip r:embed="rId1"/>
          <a:srcRect l="3082" b="752"/>
          <a:stretch>
            <a:fillRect/>
          </a:stretch>
        </p:blipFill>
        <p:spPr>
          <a:xfrm>
            <a:off x="6406966" y="975002"/>
            <a:ext cx="3736726" cy="1874397"/>
          </a:xfrm>
          <a:prstGeom prst="rect">
            <a:avLst/>
          </a:prstGeom>
          <a:noFill/>
          <a:ln>
            <a:noFill/>
          </a:ln>
        </p:spPr>
      </p:pic>
      <p:graphicFrame>
        <p:nvGraphicFramePr>
          <p:cNvPr id="6" name="对象 -2147482619"/>
          <p:cNvGraphicFramePr>
            <a:graphicFrameLocks noChangeAspect="1"/>
          </p:cNvGraphicFramePr>
          <p:nvPr/>
        </p:nvGraphicFramePr>
        <p:xfrm>
          <a:off x="3154681" y="2308869"/>
          <a:ext cx="2735920" cy="935113"/>
        </p:xfrm>
        <a:graphic>
          <a:graphicData uri="http://schemas.openxmlformats.org/presentationml/2006/ole">
            <mc:AlternateContent xmlns:mc="http://schemas.openxmlformats.org/markup-compatibility/2006">
              <mc:Choice xmlns:v="urn:schemas-microsoft-com:vml" Requires="v">
                <p:oleObj spid="_x0000_s1026" name="" r:id="rId2" imgW="1257300" imgH="431800" progId="Equation.3">
                  <p:embed/>
                </p:oleObj>
              </mc:Choice>
              <mc:Fallback>
                <p:oleObj name="" r:id="rId2" imgW="1257300" imgH="431800" progId="Equation.3">
                  <p:embed/>
                  <p:pic>
                    <p:nvPicPr>
                      <p:cNvPr id="0" name="对象 -2147482619"/>
                      <p:cNvPicPr/>
                      <p:nvPr/>
                    </p:nvPicPr>
                    <p:blipFill>
                      <a:blip r:embed="rId3"/>
                      <a:stretch>
                        <a:fillRect/>
                      </a:stretch>
                    </p:blipFill>
                    <p:spPr>
                      <a:xfrm>
                        <a:off x="3154681" y="2308869"/>
                        <a:ext cx="2735920" cy="935113"/>
                      </a:xfrm>
                      <a:prstGeom prst="rect">
                        <a:avLst/>
                      </a:prstGeom>
                      <a:noFill/>
                      <a:ln w="38100">
                        <a:noFill/>
                        <a:miter/>
                      </a:ln>
                    </p:spPr>
                  </p:pic>
                </p:oleObj>
              </mc:Fallback>
            </mc:AlternateContent>
          </a:graphicData>
        </a:graphic>
      </p:graphicFrame>
      <p:pic>
        <p:nvPicPr>
          <p:cNvPr id="10" name="图片 65"/>
          <p:cNvPicPr>
            <a:picLocks noChangeAspect="1"/>
          </p:cNvPicPr>
          <p:nvPr/>
        </p:nvPicPr>
        <p:blipFill>
          <a:blip r:embed="rId4"/>
          <a:srcRect r="1348" b="19031"/>
          <a:stretch>
            <a:fillRect/>
          </a:stretch>
        </p:blipFill>
        <p:spPr>
          <a:xfrm>
            <a:off x="6927483" y="4497706"/>
            <a:ext cx="2951480" cy="171005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500"/>
                                  </p:stCondLst>
                                  <p:childTnLst>
                                    <p:set>
                                      <p:cBhvr>
                                        <p:cTn id="6" dur="1" fill="hold">
                                          <p:stCondLst>
                                            <p:cond delay="0"/>
                                          </p:stCondLst>
                                        </p:cTn>
                                        <p:tgtEl>
                                          <p:spTgt spid="32"/>
                                        </p:tgtEl>
                                        <p:attrNameLst>
                                          <p:attrName>style.visibility</p:attrName>
                                        </p:attrNameLst>
                                      </p:cBhvr>
                                      <p:to>
                                        <p:strVal val="visible"/>
                                      </p:to>
                                    </p:set>
                                    <p:animEffect transition="in" filter="fade">
                                      <p:cBhvr>
                                        <p:cTn id="7" dur="1000"/>
                                        <p:tgtEl>
                                          <p:spTgt spid="32"/>
                                        </p:tgtEl>
                                      </p:cBhvr>
                                    </p:animEffect>
                                    <p:anim calcmode="lin" valueType="num">
                                      <p:cBhvr>
                                        <p:cTn id="8" dur="1000" fill="hold"/>
                                        <p:tgtEl>
                                          <p:spTgt spid="32"/>
                                        </p:tgtEl>
                                        <p:attrNameLst>
                                          <p:attrName>ppt_x</p:attrName>
                                        </p:attrNameLst>
                                      </p:cBhvr>
                                      <p:tavLst>
                                        <p:tav tm="0">
                                          <p:val>
                                            <p:strVal val="#ppt_x"/>
                                          </p:val>
                                        </p:tav>
                                        <p:tav tm="100000">
                                          <p:val>
                                            <p:strVal val="#ppt_x"/>
                                          </p:val>
                                        </p:tav>
                                      </p:tavLst>
                                    </p:anim>
                                    <p:anim calcmode="lin" valueType="num">
                                      <p:cBhvr>
                                        <p:cTn id="9" dur="1000" fill="hold"/>
                                        <p:tgtEl>
                                          <p:spTgt spid="32"/>
                                        </p:tgtEl>
                                        <p:attrNameLst>
                                          <p:attrName>ppt_y</p:attrName>
                                        </p:attrNameLst>
                                      </p:cBhvr>
                                      <p:tavLst>
                                        <p:tav tm="0">
                                          <p:val>
                                            <p:strVal val="#ppt_y+.1"/>
                                          </p:val>
                                        </p:tav>
                                        <p:tav tm="100000">
                                          <p:val>
                                            <p:strVal val="#ppt_y"/>
                                          </p:val>
                                        </p:tav>
                                      </p:tavLst>
                                    </p:anim>
                                  </p:childTnLst>
                                </p:cTn>
                              </p:par>
                            </p:childTnLst>
                          </p:cTn>
                        </p:par>
                        <p:par>
                          <p:cTn id="10" fill="hold">
                            <p:stCondLst>
                              <p:cond delay="1500"/>
                            </p:stCondLst>
                            <p:childTnLst>
                              <p:par>
                                <p:cTn id="11" presetID="10" presetClass="entr" presetSubtype="0" fill="hold" nodeType="afterEffect">
                                  <p:stCondLst>
                                    <p:cond delay="50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a:spLocks noGrp="1"/>
          </p:cNvSpPr>
          <p:nvPr>
            <p:ph type="title"/>
          </p:nvPr>
        </p:nvSpPr>
        <p:spPr>
          <a:xfrm>
            <a:off x="1916315" y="131079"/>
            <a:ext cx="7962648" cy="657727"/>
          </a:xfrm>
        </p:spPr>
        <p:txBody>
          <a:bodyPr/>
          <a:lstStyle/>
          <a:p>
            <a:pPr algn="l"/>
            <a:r>
              <a:rPr lang="zh-CN" altLang="en-US" sz="4000" dirty="0">
                <a:latin typeface="方正姚体" panose="02010601030101010101" pitchFamily="2" charset="-122"/>
                <a:ea typeface="方正姚体" panose="02010601030101010101" pitchFamily="2" charset="-122"/>
                <a:cs typeface="Times New Roman" panose="02020603050405020304" pitchFamily="18" charset="0"/>
              </a:rPr>
              <a:t>人工神经网络简介</a:t>
            </a:r>
            <a:endParaRPr lang="zh-CN" altLang="en-US" sz="4000" dirty="0">
              <a:latin typeface="方正姚体" panose="02010601030101010101" pitchFamily="2" charset="-122"/>
              <a:ea typeface="方正姚体" panose="02010601030101010101" pitchFamily="2" charset="-122"/>
              <a:cs typeface="Times New Roman" panose="02020603050405020304" pitchFamily="18" charset="0"/>
            </a:endParaRPr>
          </a:p>
        </p:txBody>
      </p:sp>
      <p:sp>
        <p:nvSpPr>
          <p:cNvPr id="32" name="矩形 31"/>
          <p:cNvSpPr/>
          <p:nvPr/>
        </p:nvSpPr>
        <p:spPr>
          <a:xfrm>
            <a:off x="2114676" y="1715522"/>
            <a:ext cx="7962648" cy="3037498"/>
          </a:xfrm>
          <a:prstGeom prst="rect">
            <a:avLst/>
          </a:prstGeom>
          <a:ln>
            <a:noFill/>
          </a:ln>
        </p:spPr>
        <p:txBody>
          <a:bodyPr wrap="square">
            <a:spAutoFit/>
          </a:bodyPr>
          <a:lstStyle/>
          <a:p>
            <a:pPr marL="323850" indent="-342900" algn="just">
              <a:lnSpc>
                <a:spcPct val="140000"/>
              </a:lnSpc>
              <a:buFont typeface="Wingdings" panose="05000000000000000000" pitchFamily="2" charset="2"/>
              <a:buChar char="Ø"/>
            </a:pPr>
            <a:r>
              <a:rPr lang="zh-CN" altLang="en-US" sz="2800" dirty="0">
                <a:solidFill>
                  <a:prstClr val="black"/>
                </a:solidFill>
                <a:latin typeface="Times New Roman" panose="02020603050405020304"/>
                <a:ea typeface="黑体" panose="02010609060101010101" charset="-122"/>
              </a:rPr>
              <a:t>在</a:t>
            </a:r>
            <a:r>
              <a:rPr lang="en-US" altLang="zh-CN" sz="2800" dirty="0">
                <a:solidFill>
                  <a:prstClr val="black"/>
                </a:solidFill>
                <a:latin typeface="Times New Roman" panose="02020603050405020304"/>
                <a:ea typeface="黑体" panose="02010609060101010101" charset="-122"/>
              </a:rPr>
              <a:t>M-P</a:t>
            </a:r>
            <a:r>
              <a:rPr lang="zh-CN" altLang="en-US" sz="2800" dirty="0">
                <a:solidFill>
                  <a:prstClr val="black"/>
                </a:solidFill>
                <a:latin typeface="Times New Roman" panose="02020603050405020304"/>
                <a:ea typeface="黑体" panose="02010609060101010101" charset="-122"/>
              </a:rPr>
              <a:t>模型中，函数</a:t>
            </a:r>
            <a:r>
              <a:rPr lang="en-US" altLang="zh-CN" sz="2800" i="1" dirty="0">
                <a:solidFill>
                  <a:prstClr val="black"/>
                </a:solidFill>
                <a:latin typeface="Times New Roman" panose="02020603050405020304"/>
                <a:ea typeface="黑体" panose="02010609060101010101" charset="-122"/>
              </a:rPr>
              <a:t>f</a:t>
            </a:r>
            <a:r>
              <a:rPr lang="en-US" altLang="zh-CN" sz="2800" dirty="0">
                <a:solidFill>
                  <a:prstClr val="black"/>
                </a:solidFill>
                <a:latin typeface="Times New Roman" panose="02020603050405020304"/>
                <a:ea typeface="黑体" panose="02010609060101010101" charset="-122"/>
              </a:rPr>
              <a:t>(</a:t>
            </a:r>
            <a:r>
              <a:rPr lang="en-US" altLang="zh-CN" sz="2800" i="1" dirty="0">
                <a:solidFill>
                  <a:prstClr val="black"/>
                </a:solidFill>
                <a:latin typeface="Times New Roman" panose="02020603050405020304"/>
                <a:ea typeface="黑体" panose="02010609060101010101" charset="-122"/>
              </a:rPr>
              <a:t>x</a:t>
            </a:r>
            <a:r>
              <a:rPr lang="en-US" altLang="zh-CN" sz="2800" dirty="0">
                <a:solidFill>
                  <a:prstClr val="black"/>
                </a:solidFill>
                <a:latin typeface="Times New Roman" panose="02020603050405020304"/>
                <a:ea typeface="黑体" panose="02010609060101010101" charset="-122"/>
              </a:rPr>
              <a:t>)</a:t>
            </a:r>
            <a:r>
              <a:rPr lang="zh-CN" altLang="en-US" sz="2800" dirty="0">
                <a:solidFill>
                  <a:prstClr val="black"/>
                </a:solidFill>
                <a:latin typeface="Times New Roman" panose="02020603050405020304"/>
                <a:ea typeface="黑体" panose="02010609060101010101" charset="-122"/>
              </a:rPr>
              <a:t>也被称作激活函数；</a:t>
            </a:r>
            <a:endParaRPr lang="en-US" altLang="zh-CN" sz="2800" dirty="0">
              <a:solidFill>
                <a:prstClr val="black"/>
              </a:solidFill>
              <a:latin typeface="Times New Roman" panose="02020603050405020304"/>
              <a:ea typeface="黑体" panose="02010609060101010101" charset="-122"/>
            </a:endParaRPr>
          </a:p>
          <a:p>
            <a:pPr marL="323850" indent="-342900" algn="just">
              <a:lnSpc>
                <a:spcPct val="140000"/>
              </a:lnSpc>
              <a:buFont typeface="Wingdings" panose="05000000000000000000" pitchFamily="2" charset="2"/>
              <a:buChar char="Ø"/>
            </a:pPr>
            <a:r>
              <a:rPr lang="en-US" altLang="zh-CN" sz="2800" i="1" dirty="0" err="1">
                <a:solidFill>
                  <a:prstClr val="black"/>
                </a:solidFill>
                <a:latin typeface="Times New Roman" panose="02020603050405020304"/>
                <a:ea typeface="黑体" panose="02010609060101010101" charset="-122"/>
              </a:rPr>
              <a:t>w</a:t>
            </a:r>
            <a:r>
              <a:rPr lang="en-US" altLang="zh-CN" sz="2800" i="1" baseline="-25000" dirty="0" err="1">
                <a:solidFill>
                  <a:prstClr val="black"/>
                </a:solidFill>
                <a:latin typeface="Times New Roman" panose="02020603050405020304"/>
                <a:ea typeface="黑体" panose="02010609060101010101" charset="-122"/>
              </a:rPr>
              <a:t>i</a:t>
            </a:r>
            <a:r>
              <a:rPr lang="zh-CN" altLang="en-US" sz="2800" dirty="0">
                <a:solidFill>
                  <a:prstClr val="black"/>
                </a:solidFill>
                <a:latin typeface="Times New Roman" panose="02020603050405020304"/>
                <a:ea typeface="黑体" panose="02010609060101010101" charset="-122"/>
              </a:rPr>
              <a:t>被称为权值</a:t>
            </a:r>
            <a:endParaRPr lang="en-US" altLang="zh-CN" sz="2800" dirty="0">
              <a:solidFill>
                <a:prstClr val="black"/>
              </a:solidFill>
              <a:latin typeface="Times New Roman" panose="02020603050405020304"/>
              <a:ea typeface="黑体" panose="02010609060101010101" charset="-122"/>
            </a:endParaRPr>
          </a:p>
          <a:p>
            <a:pPr marL="323850" indent="-342900" algn="just">
              <a:lnSpc>
                <a:spcPct val="140000"/>
              </a:lnSpc>
              <a:buFont typeface="Wingdings" panose="05000000000000000000" pitchFamily="2" charset="2"/>
              <a:buChar char="Ø"/>
            </a:pPr>
            <a:r>
              <a:rPr lang="en-US" altLang="zh-CN" sz="2800" i="1" dirty="0">
                <a:solidFill>
                  <a:prstClr val="black"/>
                </a:solidFill>
                <a:latin typeface="Times New Roman" panose="02020603050405020304"/>
                <a:ea typeface="黑体" panose="02010609060101010101" charset="-122"/>
              </a:rPr>
              <a:t>θ</a:t>
            </a:r>
            <a:r>
              <a:rPr lang="zh-CN" altLang="en-US" sz="2800" dirty="0">
                <a:solidFill>
                  <a:prstClr val="black"/>
                </a:solidFill>
                <a:latin typeface="Times New Roman" panose="02020603050405020304"/>
                <a:ea typeface="黑体" panose="02010609060101010101" charset="-122"/>
              </a:rPr>
              <a:t>被称为偏置（即上面的阈值）。</a:t>
            </a:r>
            <a:endParaRPr lang="en-US" altLang="zh-CN" sz="2800" dirty="0">
              <a:solidFill>
                <a:prstClr val="black"/>
              </a:solidFill>
              <a:latin typeface="Times New Roman" panose="02020603050405020304"/>
              <a:ea typeface="黑体" panose="02010609060101010101" charset="-122"/>
            </a:endParaRPr>
          </a:p>
          <a:p>
            <a:pPr marL="323850" indent="-342900" algn="just">
              <a:lnSpc>
                <a:spcPct val="140000"/>
              </a:lnSpc>
              <a:buFont typeface="Wingdings" panose="05000000000000000000" pitchFamily="2" charset="2"/>
              <a:buChar char="Ø"/>
            </a:pPr>
            <a:r>
              <a:rPr lang="zh-CN" altLang="en-US" sz="2800" dirty="0">
                <a:solidFill>
                  <a:prstClr val="black"/>
                </a:solidFill>
                <a:latin typeface="Times New Roman" panose="02020603050405020304"/>
                <a:ea typeface="黑体" panose="02010609060101010101" charset="-122"/>
              </a:rPr>
              <a:t>这些权值和偏置参数，都需要人为设定。</a:t>
            </a:r>
            <a:endParaRPr lang="en-US" altLang="zh-CN" sz="2800" dirty="0">
              <a:solidFill>
                <a:prstClr val="black"/>
              </a:solidFill>
              <a:latin typeface="Times New Roman" panose="02020603050405020304"/>
              <a:ea typeface="黑体" panose="02010609060101010101" charset="-122"/>
            </a:endParaRPr>
          </a:p>
          <a:p>
            <a:pPr marL="342900" indent="-342900" algn="just">
              <a:lnSpc>
                <a:spcPct val="140000"/>
              </a:lnSpc>
              <a:buFont typeface="Wingdings" panose="05000000000000000000" pitchFamily="2" charset="2"/>
              <a:buChar char="Ø"/>
            </a:pPr>
            <a:r>
              <a:rPr lang="en-US" altLang="zh-CN" sz="2800" dirty="0">
                <a:solidFill>
                  <a:srgbClr val="C00000"/>
                </a:solidFill>
                <a:latin typeface="Times New Roman" panose="02020603050405020304"/>
                <a:ea typeface="黑体" panose="02010609060101010101" charset="-122"/>
              </a:rPr>
              <a:t>M-P</a:t>
            </a:r>
            <a:r>
              <a:rPr lang="zh-CN" altLang="en-US" sz="2800" dirty="0">
                <a:solidFill>
                  <a:srgbClr val="C00000"/>
                </a:solidFill>
                <a:latin typeface="Times New Roman" panose="02020603050405020304"/>
                <a:ea typeface="黑体" panose="02010609060101010101" charset="-122"/>
              </a:rPr>
              <a:t>模型并没有学习能力</a:t>
            </a:r>
            <a:endParaRPr lang="en-US" altLang="zh-CN" sz="2800" dirty="0">
              <a:solidFill>
                <a:srgbClr val="C00000"/>
              </a:solidFill>
              <a:latin typeface="Times New Roman" panose="02020603050405020304"/>
              <a:ea typeface="黑体" panose="02010609060101010101" charset="-122"/>
            </a:endParaRPr>
          </a:p>
        </p:txBody>
      </p:sp>
      <p:sp>
        <p:nvSpPr>
          <p:cNvPr id="5" name="文本框 4"/>
          <p:cNvSpPr txBox="1"/>
          <p:nvPr/>
        </p:nvSpPr>
        <p:spPr>
          <a:xfrm>
            <a:off x="2048309" y="881503"/>
            <a:ext cx="6746647" cy="707694"/>
          </a:xfrm>
          <a:prstGeom prst="rect">
            <a:avLst/>
          </a:prstGeom>
          <a:noFill/>
        </p:spPr>
        <p:txBody>
          <a:bodyPr wrap="square">
            <a:spAutoFit/>
          </a:bodyPr>
          <a:lstStyle/>
          <a:p>
            <a:pPr marL="0" lvl="1">
              <a:lnSpc>
                <a:spcPct val="150000"/>
              </a:lnSpc>
              <a:spcAft>
                <a:spcPts val="600"/>
              </a:spcAft>
            </a:pPr>
            <a:r>
              <a:rPr lang="en-US" altLang="zh-CN" sz="3200" dirty="0">
                <a:solidFill>
                  <a:srgbClr val="C00000"/>
                </a:solidFill>
                <a:latin typeface="方正姚体" panose="02010601030101010101" pitchFamily="2" charset="-122"/>
                <a:ea typeface="方正姚体" panose="02010601030101010101" pitchFamily="2" charset="-122"/>
                <a:cs typeface="+mn-ea"/>
                <a:sym typeface="+mn-lt"/>
              </a:rPr>
              <a:t>M-P</a:t>
            </a:r>
            <a:r>
              <a:rPr lang="zh-CN" altLang="en-US" sz="3200" dirty="0">
                <a:solidFill>
                  <a:srgbClr val="C00000"/>
                </a:solidFill>
                <a:latin typeface="方正姚体" panose="02010601030101010101" pitchFamily="2" charset="-122"/>
                <a:ea typeface="方正姚体" panose="02010601030101010101" pitchFamily="2" charset="-122"/>
                <a:cs typeface="+mn-ea"/>
                <a:sym typeface="+mn-lt"/>
              </a:rPr>
              <a:t>模型</a:t>
            </a:r>
            <a:endParaRPr lang="zh-CN" altLang="en-US" sz="3200" dirty="0">
              <a:solidFill>
                <a:srgbClr val="C00000"/>
              </a:solidFill>
              <a:latin typeface="方正姚体" panose="02010601030101010101" pitchFamily="2" charset="-122"/>
              <a:ea typeface="方正姚体" panose="02010601030101010101" pitchFamily="2" charset="-122"/>
              <a:cs typeface="+mn-ea"/>
              <a:sym typeface="+mn-l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500"/>
                                  </p:stCondLst>
                                  <p:childTnLst>
                                    <p:set>
                                      <p:cBhvr>
                                        <p:cTn id="6" dur="1" fill="hold">
                                          <p:stCondLst>
                                            <p:cond delay="0"/>
                                          </p:stCondLst>
                                        </p:cTn>
                                        <p:tgtEl>
                                          <p:spTgt spid="32">
                                            <p:txEl>
                                              <p:pRg st="0" end="0"/>
                                            </p:txEl>
                                          </p:spTgt>
                                        </p:tgtEl>
                                        <p:attrNameLst>
                                          <p:attrName>style.visibility</p:attrName>
                                        </p:attrNameLst>
                                      </p:cBhvr>
                                      <p:to>
                                        <p:strVal val="visible"/>
                                      </p:to>
                                    </p:set>
                                    <p:animEffect transition="in" filter="fade">
                                      <p:cBhvr>
                                        <p:cTn id="7" dur="500"/>
                                        <p:tgtEl>
                                          <p:spTgt spid="3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2">
                                            <p:txEl>
                                              <p:pRg st="1" end="1"/>
                                            </p:txEl>
                                          </p:spTgt>
                                        </p:tgtEl>
                                        <p:attrNameLst>
                                          <p:attrName>style.visibility</p:attrName>
                                        </p:attrNameLst>
                                      </p:cBhvr>
                                      <p:to>
                                        <p:strVal val="visible"/>
                                      </p:to>
                                    </p:set>
                                    <p:animEffect transition="in" filter="fade">
                                      <p:cBhvr>
                                        <p:cTn id="12" dur="500"/>
                                        <p:tgtEl>
                                          <p:spTgt spid="3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2">
                                            <p:txEl>
                                              <p:pRg st="2" end="2"/>
                                            </p:txEl>
                                          </p:spTgt>
                                        </p:tgtEl>
                                        <p:attrNameLst>
                                          <p:attrName>style.visibility</p:attrName>
                                        </p:attrNameLst>
                                      </p:cBhvr>
                                      <p:to>
                                        <p:strVal val="visible"/>
                                      </p:to>
                                    </p:set>
                                    <p:animEffect transition="in" filter="fade">
                                      <p:cBhvr>
                                        <p:cTn id="17" dur="500"/>
                                        <p:tgtEl>
                                          <p:spTgt spid="3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2">
                                            <p:txEl>
                                              <p:pRg st="3" end="3"/>
                                            </p:txEl>
                                          </p:spTgt>
                                        </p:tgtEl>
                                        <p:attrNameLst>
                                          <p:attrName>style.visibility</p:attrName>
                                        </p:attrNameLst>
                                      </p:cBhvr>
                                      <p:to>
                                        <p:strVal val="visible"/>
                                      </p:to>
                                    </p:set>
                                    <p:animEffect transition="in" filter="fade">
                                      <p:cBhvr>
                                        <p:cTn id="22" dur="500"/>
                                        <p:tgtEl>
                                          <p:spTgt spid="3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2">
                                            <p:txEl>
                                              <p:pRg st="4" end="4"/>
                                            </p:txEl>
                                          </p:spTgt>
                                        </p:tgtEl>
                                        <p:attrNameLst>
                                          <p:attrName>style.visibility</p:attrName>
                                        </p:attrNameLst>
                                      </p:cBhvr>
                                      <p:to>
                                        <p:strVal val="visible"/>
                                      </p:to>
                                    </p:set>
                                    <p:animEffect transition="in" filter="fade">
                                      <p:cBhvr>
                                        <p:cTn id="27" dur="500"/>
                                        <p:tgtEl>
                                          <p:spTgt spid="3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a:spLocks noGrp="1"/>
          </p:cNvSpPr>
          <p:nvPr>
            <p:ph type="title"/>
          </p:nvPr>
        </p:nvSpPr>
        <p:spPr>
          <a:xfrm>
            <a:off x="1916315" y="131079"/>
            <a:ext cx="7962648" cy="657727"/>
          </a:xfrm>
        </p:spPr>
        <p:txBody>
          <a:bodyPr/>
          <a:lstStyle/>
          <a:p>
            <a:pPr algn="l"/>
            <a:r>
              <a:rPr lang="zh-CN" altLang="en-US" sz="4000" dirty="0">
                <a:latin typeface="方正姚体" panose="02010601030101010101" pitchFamily="2" charset="-122"/>
                <a:ea typeface="方正姚体" panose="02010601030101010101" pitchFamily="2" charset="-122"/>
                <a:cs typeface="Times New Roman" panose="02020603050405020304" pitchFamily="18" charset="0"/>
              </a:rPr>
              <a:t>人工神经网络简介</a:t>
            </a:r>
            <a:endParaRPr lang="zh-CN" altLang="en-US" sz="4000" dirty="0">
              <a:latin typeface="方正姚体" panose="02010601030101010101" pitchFamily="2" charset="-122"/>
              <a:ea typeface="方正姚体" panose="02010601030101010101" pitchFamily="2" charset="-122"/>
              <a:cs typeface="Times New Roman" panose="02020603050405020304" pitchFamily="18" charset="0"/>
            </a:endParaRPr>
          </a:p>
        </p:txBody>
      </p:sp>
      <p:sp>
        <p:nvSpPr>
          <p:cNvPr id="5" name="文本框 4"/>
          <p:cNvSpPr txBox="1"/>
          <p:nvPr/>
        </p:nvSpPr>
        <p:spPr>
          <a:xfrm>
            <a:off x="2048308" y="881503"/>
            <a:ext cx="7962648" cy="707694"/>
          </a:xfrm>
          <a:prstGeom prst="rect">
            <a:avLst/>
          </a:prstGeom>
          <a:noFill/>
        </p:spPr>
        <p:txBody>
          <a:bodyPr wrap="square">
            <a:spAutoFit/>
          </a:bodyPr>
          <a:lstStyle/>
          <a:p>
            <a:pPr marL="0" lvl="1">
              <a:lnSpc>
                <a:spcPct val="150000"/>
              </a:lnSpc>
              <a:spcAft>
                <a:spcPts val="600"/>
              </a:spcAft>
            </a:pPr>
            <a:r>
              <a:rPr lang="en-US" altLang="zh-CN" sz="3200" dirty="0">
                <a:solidFill>
                  <a:srgbClr val="C00000"/>
                </a:solidFill>
                <a:latin typeface="方正姚体" panose="02010601030101010101" pitchFamily="2" charset="-122"/>
                <a:ea typeface="方正姚体" panose="02010601030101010101" pitchFamily="2" charset="-122"/>
                <a:cs typeface="+mn-ea"/>
                <a:sym typeface="+mn-lt"/>
              </a:rPr>
              <a:t>M-P</a:t>
            </a:r>
            <a:r>
              <a:rPr lang="zh-CN" altLang="en-US" sz="3200" dirty="0">
                <a:solidFill>
                  <a:srgbClr val="C00000"/>
                </a:solidFill>
                <a:latin typeface="方正姚体" panose="02010601030101010101" pitchFamily="2" charset="-122"/>
                <a:ea typeface="方正姚体" panose="02010601030101010101" pitchFamily="2" charset="-122"/>
                <a:cs typeface="+mn-ea"/>
                <a:sym typeface="+mn-lt"/>
              </a:rPr>
              <a:t>模型实现与门电路逻辑运算的应用案例</a:t>
            </a:r>
            <a:endParaRPr lang="zh-CN" altLang="en-US" sz="3200" dirty="0">
              <a:solidFill>
                <a:srgbClr val="C00000"/>
              </a:solidFill>
              <a:latin typeface="方正姚体" panose="02010601030101010101" pitchFamily="2" charset="-122"/>
              <a:ea typeface="方正姚体" panose="02010601030101010101" pitchFamily="2" charset="-122"/>
              <a:cs typeface="+mn-ea"/>
              <a:sym typeface="+mn-lt"/>
            </a:endParaRPr>
          </a:p>
        </p:txBody>
      </p:sp>
      <p:pic>
        <p:nvPicPr>
          <p:cNvPr id="6" name="图片 5"/>
          <p:cNvPicPr>
            <a:picLocks noChangeAspect="1"/>
          </p:cNvPicPr>
          <p:nvPr/>
        </p:nvPicPr>
        <p:blipFill rotWithShape="1">
          <a:blip r:embed="rId1"/>
          <a:srcRect t="17290"/>
          <a:stretch>
            <a:fillRect/>
          </a:stretch>
        </p:blipFill>
        <p:spPr>
          <a:xfrm>
            <a:off x="7607482" y="1783495"/>
            <a:ext cx="2731135" cy="1921730"/>
          </a:xfrm>
          <a:prstGeom prst="rect">
            <a:avLst/>
          </a:prstGeom>
        </p:spPr>
      </p:pic>
      <p:pic>
        <p:nvPicPr>
          <p:cNvPr id="9" name="图片 51"/>
          <p:cNvPicPr>
            <a:picLocks noChangeAspect="1"/>
          </p:cNvPicPr>
          <p:nvPr/>
        </p:nvPicPr>
        <p:blipFill>
          <a:blip r:embed="rId2"/>
          <a:stretch>
            <a:fillRect/>
          </a:stretch>
        </p:blipFill>
        <p:spPr>
          <a:xfrm>
            <a:off x="7319920" y="4273846"/>
            <a:ext cx="3348081" cy="1276350"/>
          </a:xfrm>
          <a:prstGeom prst="rect">
            <a:avLst/>
          </a:prstGeom>
          <a:noFill/>
          <a:ln>
            <a:noFill/>
          </a:ln>
        </p:spPr>
      </p:pic>
      <p:sp>
        <p:nvSpPr>
          <p:cNvPr id="10" name="文本框 9"/>
          <p:cNvSpPr txBox="1"/>
          <p:nvPr/>
        </p:nvSpPr>
        <p:spPr>
          <a:xfrm>
            <a:off x="2048308" y="1619861"/>
            <a:ext cx="5404778" cy="4650568"/>
          </a:xfrm>
          <a:prstGeom prst="rect">
            <a:avLst/>
          </a:prstGeom>
          <a:noFill/>
          <a:ln w="9525">
            <a:noFill/>
          </a:ln>
        </p:spPr>
        <p:txBody>
          <a:bodyPr wrap="square">
            <a:spAutoFit/>
          </a:bodyPr>
          <a:lstStyle/>
          <a:p>
            <a:pPr marL="342900" indent="-342900" algn="just">
              <a:lnSpc>
                <a:spcPct val="150000"/>
              </a:lnSpc>
              <a:buFont typeface="Wingdings" panose="05000000000000000000" pitchFamily="2" charset="2"/>
              <a:buChar char="Ø"/>
            </a:pPr>
            <a:r>
              <a:rPr lang="en-US" sz="2000" dirty="0">
                <a:solidFill>
                  <a:srgbClr val="000000"/>
                </a:solidFill>
                <a:latin typeface="Times New Roman" panose="02020603050405020304"/>
                <a:ea typeface="宋体" panose="02010600030101010101" pitchFamily="2" charset="-122"/>
              </a:rPr>
              <a:t>设置</a:t>
            </a:r>
            <a:r>
              <a:rPr lang="en-US" sz="2000" i="1" dirty="0">
                <a:solidFill>
                  <a:srgbClr val="000000"/>
                </a:solidFill>
                <a:latin typeface="Times New Roman" panose="02020603050405020304"/>
                <a:ea typeface="宋体" panose="02010600030101010101" pitchFamily="2" charset="-122"/>
              </a:rPr>
              <a:t>w</a:t>
            </a:r>
            <a:r>
              <a:rPr lang="en-US" sz="2000" baseline="-25000" dirty="0">
                <a:solidFill>
                  <a:srgbClr val="000000"/>
                </a:solidFill>
                <a:latin typeface="Times New Roman" panose="02020603050405020304"/>
                <a:ea typeface="宋体" panose="02010600030101010101" pitchFamily="2" charset="-122"/>
              </a:rPr>
              <a:t>1</a:t>
            </a:r>
            <a:r>
              <a:rPr lang="en-US" sz="2000" dirty="0">
                <a:solidFill>
                  <a:srgbClr val="000000"/>
                </a:solidFill>
                <a:latin typeface="Times New Roman" panose="02020603050405020304"/>
                <a:ea typeface="宋体" panose="02010600030101010101" pitchFamily="2" charset="-122"/>
              </a:rPr>
              <a:t>=0.5，</a:t>
            </a:r>
            <a:r>
              <a:rPr lang="en-US" sz="2000" i="1" dirty="0">
                <a:solidFill>
                  <a:srgbClr val="000000"/>
                </a:solidFill>
                <a:latin typeface="Times New Roman" panose="02020603050405020304"/>
                <a:ea typeface="宋体" panose="02010600030101010101" pitchFamily="2" charset="-122"/>
              </a:rPr>
              <a:t>w</a:t>
            </a:r>
            <a:r>
              <a:rPr lang="en-US" sz="2000" baseline="-25000" dirty="0">
                <a:solidFill>
                  <a:srgbClr val="000000"/>
                </a:solidFill>
                <a:latin typeface="Times New Roman" panose="02020603050405020304"/>
                <a:ea typeface="宋体" panose="02010600030101010101" pitchFamily="2" charset="-122"/>
              </a:rPr>
              <a:t>2</a:t>
            </a:r>
            <a:r>
              <a:rPr lang="en-US" sz="2000" dirty="0">
                <a:solidFill>
                  <a:srgbClr val="000000"/>
                </a:solidFill>
                <a:latin typeface="Times New Roman" panose="02020603050405020304"/>
                <a:ea typeface="宋体" panose="02010600030101010101" pitchFamily="2" charset="-122"/>
              </a:rPr>
              <a:t>=0.5，</a:t>
            </a:r>
            <a:r>
              <a:rPr lang="en-US" sz="2000" i="1" dirty="0">
                <a:solidFill>
                  <a:srgbClr val="000000"/>
                </a:solidFill>
                <a:latin typeface="Times New Roman" panose="02020603050405020304"/>
                <a:ea typeface="宋体" panose="02010600030101010101" pitchFamily="2" charset="-122"/>
              </a:rPr>
              <a:t>θ</a:t>
            </a:r>
            <a:r>
              <a:rPr lang="en-US" sz="2000" dirty="0">
                <a:solidFill>
                  <a:srgbClr val="000000"/>
                </a:solidFill>
                <a:latin typeface="Times New Roman" panose="02020603050405020304"/>
                <a:ea typeface="宋体" panose="02010600030101010101" pitchFamily="2" charset="-122"/>
              </a:rPr>
              <a:t>=0.8，实现与门电路的逻辑运算</a:t>
            </a:r>
            <a:r>
              <a:rPr lang="zh-CN" altLang="en-US" sz="2000" dirty="0">
                <a:solidFill>
                  <a:srgbClr val="000000"/>
                </a:solidFill>
                <a:latin typeface="Times New Roman" panose="02020603050405020304"/>
                <a:ea typeface="宋体" panose="02010600030101010101" pitchFamily="2" charset="-122"/>
              </a:rPr>
              <a:t>：</a:t>
            </a:r>
            <a:endParaRPr lang="en-US" sz="2000" dirty="0">
              <a:solidFill>
                <a:srgbClr val="000000"/>
              </a:solidFill>
              <a:latin typeface="Times New Roman" panose="02020603050405020304"/>
              <a:ea typeface="宋体" panose="02010600030101010101" pitchFamily="2" charset="-122"/>
            </a:endParaRPr>
          </a:p>
          <a:p>
            <a:pPr algn="just">
              <a:lnSpc>
                <a:spcPct val="150000"/>
              </a:lnSpc>
            </a:pPr>
            <a:r>
              <a:rPr lang="en-US" sz="2000" dirty="0">
                <a:solidFill>
                  <a:srgbClr val="000000"/>
                </a:solidFill>
                <a:latin typeface="Times New Roman" panose="02020603050405020304"/>
                <a:ea typeface="宋体" panose="02010600030101010101" pitchFamily="2" charset="-122"/>
              </a:rPr>
              <a:t>1</a:t>
            </a:r>
            <a:r>
              <a:rPr lang="zh-CN" altLang="en-US" sz="2000" dirty="0">
                <a:solidFill>
                  <a:srgbClr val="000000"/>
                </a:solidFill>
                <a:latin typeface="Times New Roman" panose="02020603050405020304"/>
                <a:ea typeface="宋体" panose="02010600030101010101" pitchFamily="2" charset="-122"/>
              </a:rPr>
              <a:t>）</a:t>
            </a:r>
            <a:r>
              <a:rPr lang="en-US" sz="2000" i="1" dirty="0">
                <a:solidFill>
                  <a:srgbClr val="000000"/>
                </a:solidFill>
                <a:latin typeface="Times New Roman" panose="02020603050405020304"/>
                <a:ea typeface="宋体" panose="02010600030101010101" pitchFamily="2" charset="-122"/>
              </a:rPr>
              <a:t>x</a:t>
            </a:r>
            <a:r>
              <a:rPr lang="en-US" sz="2000" baseline="-25000" dirty="0">
                <a:solidFill>
                  <a:srgbClr val="000000"/>
                </a:solidFill>
                <a:latin typeface="Times New Roman" panose="02020603050405020304"/>
                <a:ea typeface="宋体" panose="02010600030101010101" pitchFamily="2" charset="-122"/>
              </a:rPr>
              <a:t>1</a:t>
            </a:r>
            <a:r>
              <a:rPr lang="en-US" sz="2000" dirty="0">
                <a:solidFill>
                  <a:srgbClr val="000000"/>
                </a:solidFill>
                <a:latin typeface="Times New Roman" panose="02020603050405020304"/>
                <a:ea typeface="宋体" panose="02010600030101010101" pitchFamily="2" charset="-122"/>
              </a:rPr>
              <a:t>,</a:t>
            </a:r>
            <a:r>
              <a:rPr lang="en-US" sz="2000" i="1" dirty="0">
                <a:solidFill>
                  <a:srgbClr val="000000"/>
                </a:solidFill>
                <a:latin typeface="Times New Roman" panose="02020603050405020304"/>
                <a:ea typeface="宋体" panose="02010600030101010101" pitchFamily="2" charset="-122"/>
              </a:rPr>
              <a:t>x</a:t>
            </a:r>
            <a:r>
              <a:rPr lang="en-US" sz="2000" baseline="-25000" dirty="0">
                <a:solidFill>
                  <a:srgbClr val="000000"/>
                </a:solidFill>
                <a:latin typeface="Times New Roman" panose="02020603050405020304"/>
                <a:ea typeface="宋体" panose="02010600030101010101" pitchFamily="2" charset="-122"/>
              </a:rPr>
              <a:t>2</a:t>
            </a:r>
            <a:r>
              <a:rPr lang="zh-CN" altLang="en-US" sz="2000" dirty="0">
                <a:solidFill>
                  <a:srgbClr val="000000"/>
                </a:solidFill>
                <a:latin typeface="Times New Roman" panose="02020603050405020304"/>
                <a:ea typeface="宋体" panose="02010600030101010101" pitchFamily="2" charset="-122"/>
              </a:rPr>
              <a:t>分别输入</a:t>
            </a:r>
            <a:r>
              <a:rPr lang="en-US" sz="2000" dirty="0">
                <a:solidFill>
                  <a:srgbClr val="000000"/>
                </a:solidFill>
                <a:latin typeface="Times New Roman" panose="02020603050405020304"/>
                <a:ea typeface="宋体" panose="02010600030101010101" pitchFamily="2" charset="-122"/>
              </a:rPr>
              <a:t>0</a:t>
            </a:r>
            <a:r>
              <a:rPr lang="en-US" altLang="zh-CN" sz="2000" dirty="0">
                <a:solidFill>
                  <a:srgbClr val="000000"/>
                </a:solidFill>
                <a:latin typeface="Times New Roman" panose="02020603050405020304"/>
                <a:ea typeface="宋体" panose="02010600030101010101" pitchFamily="2" charset="-122"/>
              </a:rPr>
              <a:t>,</a:t>
            </a:r>
            <a:r>
              <a:rPr lang="en-US" sz="2000" dirty="0">
                <a:solidFill>
                  <a:srgbClr val="000000"/>
                </a:solidFill>
                <a:latin typeface="Times New Roman" panose="02020603050405020304"/>
                <a:ea typeface="宋体" panose="02010600030101010101" pitchFamily="2" charset="-122"/>
              </a:rPr>
              <a:t>0</a:t>
            </a:r>
            <a:r>
              <a:rPr lang="zh-CN" altLang="en-US" sz="2000" dirty="0">
                <a:solidFill>
                  <a:srgbClr val="000000"/>
                </a:solidFill>
                <a:latin typeface="Times New Roman" panose="02020603050405020304"/>
                <a:ea typeface="宋体" panose="02010600030101010101" pitchFamily="2" charset="-122"/>
              </a:rPr>
              <a:t>时，</a:t>
            </a:r>
            <a:r>
              <a:rPr lang="en-US" sz="2000" dirty="0">
                <a:solidFill>
                  <a:srgbClr val="000000"/>
                </a:solidFill>
                <a:latin typeface="Times New Roman" panose="02020603050405020304"/>
                <a:ea typeface="宋体" panose="02010600030101010101" pitchFamily="2" charset="-122"/>
              </a:rPr>
              <a:t>M-P</a:t>
            </a:r>
            <a:r>
              <a:rPr lang="zh-CN" altLang="en-US" sz="2000" dirty="0">
                <a:solidFill>
                  <a:srgbClr val="000000"/>
                </a:solidFill>
                <a:latin typeface="Times New Roman" panose="02020603050405020304"/>
                <a:ea typeface="宋体" panose="02010600030101010101" pitchFamily="2" charset="-122"/>
              </a:rPr>
              <a:t>模型输出值为</a:t>
            </a:r>
            <a:r>
              <a:rPr lang="en-US" sz="2000" dirty="0">
                <a:solidFill>
                  <a:srgbClr val="000000"/>
                </a:solidFill>
                <a:latin typeface="Times New Roman" panose="02020603050405020304"/>
                <a:ea typeface="宋体" panose="02010600030101010101" pitchFamily="2" charset="-122"/>
              </a:rPr>
              <a:t>0</a:t>
            </a:r>
            <a:r>
              <a:rPr lang="zh-CN" altLang="en-US" sz="2000" dirty="0">
                <a:solidFill>
                  <a:srgbClr val="000000"/>
                </a:solidFill>
                <a:latin typeface="Times New Roman" panose="02020603050405020304"/>
                <a:ea typeface="宋体" panose="02010600030101010101" pitchFamily="2" charset="-122"/>
              </a:rPr>
              <a:t>，</a:t>
            </a:r>
            <a:r>
              <a:rPr lang="en-US" sz="2000" i="1" dirty="0">
                <a:solidFill>
                  <a:srgbClr val="000000"/>
                </a:solidFill>
                <a:latin typeface="Times New Roman" panose="02020603050405020304"/>
                <a:ea typeface="宋体" panose="02010600030101010101" pitchFamily="2" charset="-122"/>
              </a:rPr>
              <a:t>y</a:t>
            </a:r>
            <a:r>
              <a:rPr lang="en-US" sz="2000" dirty="0">
                <a:solidFill>
                  <a:srgbClr val="000000"/>
                </a:solidFill>
                <a:latin typeface="Times New Roman" panose="02020603050405020304"/>
                <a:ea typeface="宋体" panose="02010600030101010101" pitchFamily="2" charset="-122"/>
              </a:rPr>
              <a:t>=</a:t>
            </a:r>
            <a:r>
              <a:rPr lang="en-US" sz="2000" i="1" dirty="0">
                <a:solidFill>
                  <a:srgbClr val="000000"/>
                </a:solidFill>
                <a:latin typeface="Times New Roman" panose="02020603050405020304"/>
                <a:ea typeface="宋体" panose="02010600030101010101" pitchFamily="2" charset="-122"/>
              </a:rPr>
              <a:t>f</a:t>
            </a:r>
            <a:r>
              <a:rPr lang="en-US" sz="2000" dirty="0">
                <a:solidFill>
                  <a:srgbClr val="000000"/>
                </a:solidFill>
                <a:latin typeface="Times New Roman" panose="02020603050405020304"/>
                <a:ea typeface="宋体" panose="02010600030101010101" pitchFamily="2" charset="-122"/>
              </a:rPr>
              <a:t>(</a:t>
            </a:r>
            <a:r>
              <a:rPr lang="en-US" sz="2000" i="1" dirty="0">
                <a:solidFill>
                  <a:srgbClr val="000000"/>
                </a:solidFill>
                <a:latin typeface="Times New Roman" panose="02020603050405020304"/>
                <a:ea typeface="宋体" panose="02010600030101010101" pitchFamily="2" charset="-122"/>
              </a:rPr>
              <a:t>w</a:t>
            </a:r>
            <a:r>
              <a:rPr lang="en-US" sz="2000" baseline="-25000" dirty="0">
                <a:solidFill>
                  <a:srgbClr val="000000"/>
                </a:solidFill>
                <a:latin typeface="Times New Roman" panose="02020603050405020304"/>
                <a:ea typeface="宋体" panose="02010600030101010101" pitchFamily="2" charset="-122"/>
              </a:rPr>
              <a:t>1</a:t>
            </a:r>
            <a:r>
              <a:rPr lang="en-US" sz="2000" i="1" dirty="0">
                <a:solidFill>
                  <a:srgbClr val="000000"/>
                </a:solidFill>
                <a:latin typeface="Times New Roman" panose="02020603050405020304"/>
                <a:ea typeface="宋体" panose="02010600030101010101" pitchFamily="2" charset="-122"/>
              </a:rPr>
              <a:t>x</a:t>
            </a:r>
            <a:r>
              <a:rPr lang="en-US" sz="2000" baseline="-25000" dirty="0">
                <a:solidFill>
                  <a:srgbClr val="000000"/>
                </a:solidFill>
                <a:latin typeface="Times New Roman" panose="02020603050405020304"/>
                <a:ea typeface="宋体" panose="02010600030101010101" pitchFamily="2" charset="-122"/>
              </a:rPr>
              <a:t>1</a:t>
            </a:r>
            <a:r>
              <a:rPr lang="en-US" sz="2000" dirty="0">
                <a:solidFill>
                  <a:srgbClr val="000000"/>
                </a:solidFill>
                <a:latin typeface="Times New Roman" panose="02020603050405020304"/>
                <a:ea typeface="宋体" panose="02010600030101010101" pitchFamily="2" charset="-122"/>
              </a:rPr>
              <a:t>+</a:t>
            </a:r>
            <a:r>
              <a:rPr lang="en-US" sz="2000" i="1" dirty="0">
                <a:solidFill>
                  <a:srgbClr val="000000"/>
                </a:solidFill>
                <a:latin typeface="Times New Roman" panose="02020603050405020304"/>
                <a:ea typeface="宋体" panose="02010600030101010101" pitchFamily="2" charset="-122"/>
              </a:rPr>
              <a:t>w</a:t>
            </a:r>
            <a:r>
              <a:rPr lang="en-US" sz="2000" baseline="-25000" dirty="0">
                <a:solidFill>
                  <a:srgbClr val="000000"/>
                </a:solidFill>
                <a:latin typeface="Times New Roman" panose="02020603050405020304"/>
                <a:ea typeface="宋体" panose="02010600030101010101" pitchFamily="2" charset="-122"/>
              </a:rPr>
              <a:t>2</a:t>
            </a:r>
            <a:r>
              <a:rPr lang="en-US" sz="2000" i="1" dirty="0">
                <a:solidFill>
                  <a:srgbClr val="000000"/>
                </a:solidFill>
                <a:latin typeface="Times New Roman" panose="02020603050405020304"/>
                <a:ea typeface="宋体" panose="02010600030101010101" pitchFamily="2" charset="-122"/>
              </a:rPr>
              <a:t>x</a:t>
            </a:r>
            <a:r>
              <a:rPr lang="en-US" sz="2000" baseline="-25000" dirty="0">
                <a:solidFill>
                  <a:srgbClr val="000000"/>
                </a:solidFill>
                <a:latin typeface="Times New Roman" panose="02020603050405020304"/>
                <a:ea typeface="宋体" panose="02010600030101010101" pitchFamily="2" charset="-122"/>
              </a:rPr>
              <a:t>2</a:t>
            </a:r>
            <a:r>
              <a:rPr lang="en-US" sz="2000" dirty="0">
                <a:solidFill>
                  <a:srgbClr val="000000"/>
                </a:solidFill>
                <a:latin typeface="Times New Roman" panose="02020603050405020304"/>
                <a:ea typeface="宋体" panose="02010600030101010101" pitchFamily="2" charset="-122"/>
              </a:rPr>
              <a:t>-</a:t>
            </a:r>
            <a:r>
              <a:rPr lang="en-US" sz="2000" i="1" dirty="0">
                <a:solidFill>
                  <a:srgbClr val="000000"/>
                </a:solidFill>
                <a:latin typeface="Times New Roman" panose="02020603050405020304"/>
                <a:ea typeface="宋体" panose="02010600030101010101" pitchFamily="2" charset="-122"/>
              </a:rPr>
              <a:t>θ</a:t>
            </a:r>
            <a:r>
              <a:rPr lang="en-US" sz="2000" dirty="0">
                <a:solidFill>
                  <a:srgbClr val="000000"/>
                </a:solidFill>
                <a:latin typeface="Times New Roman" panose="02020603050405020304"/>
                <a:ea typeface="宋体" panose="02010600030101010101" pitchFamily="2" charset="-122"/>
              </a:rPr>
              <a:t>)=</a:t>
            </a:r>
            <a:r>
              <a:rPr lang="en-US" sz="2000" i="1" dirty="0">
                <a:solidFill>
                  <a:srgbClr val="000000"/>
                </a:solidFill>
                <a:latin typeface="Times New Roman" panose="02020603050405020304"/>
                <a:ea typeface="宋体" panose="02010600030101010101" pitchFamily="2" charset="-122"/>
              </a:rPr>
              <a:t>f</a:t>
            </a:r>
            <a:r>
              <a:rPr lang="en-US" sz="2000" dirty="0">
                <a:solidFill>
                  <a:srgbClr val="000000"/>
                </a:solidFill>
                <a:latin typeface="Times New Roman" panose="02020603050405020304"/>
                <a:ea typeface="宋体" panose="02010600030101010101" pitchFamily="2" charset="-122"/>
              </a:rPr>
              <a:t>(0.5*0+0.5*0-0.8)=f(-0.8)=0</a:t>
            </a:r>
            <a:r>
              <a:rPr lang="zh-CN" altLang="en-US" sz="2000" dirty="0">
                <a:solidFill>
                  <a:srgbClr val="000000"/>
                </a:solidFill>
                <a:latin typeface="Times New Roman" panose="02020603050405020304"/>
                <a:ea typeface="宋体" panose="02010600030101010101" pitchFamily="2" charset="-122"/>
              </a:rPr>
              <a:t>；</a:t>
            </a:r>
            <a:endParaRPr lang="en-US" sz="2000" dirty="0">
              <a:solidFill>
                <a:srgbClr val="000000"/>
              </a:solidFill>
              <a:latin typeface="Times New Roman" panose="02020603050405020304"/>
              <a:ea typeface="宋体" panose="02010600030101010101" pitchFamily="2" charset="-122"/>
            </a:endParaRPr>
          </a:p>
          <a:p>
            <a:pPr algn="just">
              <a:lnSpc>
                <a:spcPct val="150000"/>
              </a:lnSpc>
            </a:pPr>
            <a:r>
              <a:rPr lang="en-US" sz="2000" dirty="0">
                <a:solidFill>
                  <a:srgbClr val="000000"/>
                </a:solidFill>
                <a:latin typeface="Times New Roman" panose="02020603050405020304"/>
                <a:ea typeface="宋体" panose="02010600030101010101" pitchFamily="2" charset="-122"/>
              </a:rPr>
              <a:t>2</a:t>
            </a:r>
            <a:r>
              <a:rPr lang="zh-CN" altLang="en-US" sz="2000" dirty="0">
                <a:solidFill>
                  <a:srgbClr val="000000"/>
                </a:solidFill>
                <a:latin typeface="Times New Roman" panose="02020603050405020304"/>
                <a:ea typeface="宋体" panose="02010600030101010101" pitchFamily="2" charset="-122"/>
              </a:rPr>
              <a:t>）</a:t>
            </a:r>
            <a:r>
              <a:rPr lang="en-US" sz="2000" i="1" dirty="0">
                <a:solidFill>
                  <a:srgbClr val="000000"/>
                </a:solidFill>
                <a:latin typeface="Times New Roman" panose="02020603050405020304"/>
                <a:ea typeface="宋体" panose="02010600030101010101" pitchFamily="2" charset="-122"/>
              </a:rPr>
              <a:t>x</a:t>
            </a:r>
            <a:r>
              <a:rPr lang="en-US" sz="2000" baseline="-25000" dirty="0">
                <a:solidFill>
                  <a:srgbClr val="000000"/>
                </a:solidFill>
                <a:latin typeface="Times New Roman" panose="02020603050405020304"/>
                <a:ea typeface="宋体" panose="02010600030101010101" pitchFamily="2" charset="-122"/>
              </a:rPr>
              <a:t>1</a:t>
            </a:r>
            <a:r>
              <a:rPr lang="en-US" sz="2000" dirty="0">
                <a:solidFill>
                  <a:srgbClr val="000000"/>
                </a:solidFill>
                <a:latin typeface="Times New Roman" panose="02020603050405020304"/>
                <a:ea typeface="宋体" panose="02010600030101010101" pitchFamily="2" charset="-122"/>
              </a:rPr>
              <a:t>,</a:t>
            </a:r>
            <a:r>
              <a:rPr lang="en-US" sz="2000" i="1" dirty="0">
                <a:solidFill>
                  <a:srgbClr val="000000"/>
                </a:solidFill>
                <a:latin typeface="Times New Roman" panose="02020603050405020304"/>
                <a:ea typeface="宋体" panose="02010600030101010101" pitchFamily="2" charset="-122"/>
              </a:rPr>
              <a:t>x</a:t>
            </a:r>
            <a:r>
              <a:rPr lang="en-US" sz="2000" baseline="-25000" dirty="0">
                <a:solidFill>
                  <a:srgbClr val="000000"/>
                </a:solidFill>
                <a:latin typeface="Times New Roman" panose="02020603050405020304"/>
                <a:ea typeface="宋体" panose="02010600030101010101" pitchFamily="2" charset="-122"/>
              </a:rPr>
              <a:t>2</a:t>
            </a:r>
            <a:r>
              <a:rPr lang="zh-CN" altLang="en-US" sz="2000" dirty="0">
                <a:solidFill>
                  <a:srgbClr val="000000"/>
                </a:solidFill>
                <a:latin typeface="Times New Roman" panose="02020603050405020304"/>
                <a:ea typeface="宋体" panose="02010600030101010101" pitchFamily="2" charset="-122"/>
              </a:rPr>
              <a:t>分别输入</a:t>
            </a:r>
            <a:r>
              <a:rPr lang="en-US" sz="2000" dirty="0">
                <a:solidFill>
                  <a:srgbClr val="000000"/>
                </a:solidFill>
                <a:latin typeface="Times New Roman" panose="02020603050405020304"/>
                <a:ea typeface="宋体" panose="02010600030101010101" pitchFamily="2" charset="-122"/>
              </a:rPr>
              <a:t>0,1</a:t>
            </a:r>
            <a:r>
              <a:rPr lang="zh-CN" altLang="en-US" sz="2000" dirty="0">
                <a:solidFill>
                  <a:srgbClr val="000000"/>
                </a:solidFill>
                <a:latin typeface="Times New Roman" panose="02020603050405020304"/>
                <a:ea typeface="宋体" panose="02010600030101010101" pitchFamily="2" charset="-122"/>
              </a:rPr>
              <a:t>时，</a:t>
            </a:r>
            <a:r>
              <a:rPr lang="en-US" sz="2000" dirty="0">
                <a:solidFill>
                  <a:srgbClr val="000000"/>
                </a:solidFill>
                <a:latin typeface="Times New Roman" panose="02020603050405020304"/>
                <a:ea typeface="宋体" panose="02010600030101010101" pitchFamily="2" charset="-122"/>
              </a:rPr>
              <a:t>M-P</a:t>
            </a:r>
            <a:r>
              <a:rPr lang="zh-CN" altLang="en-US" sz="2000" dirty="0">
                <a:solidFill>
                  <a:srgbClr val="000000"/>
                </a:solidFill>
                <a:latin typeface="Times New Roman" panose="02020603050405020304"/>
                <a:ea typeface="宋体" panose="02010600030101010101" pitchFamily="2" charset="-122"/>
              </a:rPr>
              <a:t>模型输出值为</a:t>
            </a:r>
            <a:r>
              <a:rPr lang="en-US" sz="2000" dirty="0">
                <a:solidFill>
                  <a:srgbClr val="000000"/>
                </a:solidFill>
                <a:latin typeface="Times New Roman" panose="02020603050405020304"/>
                <a:ea typeface="宋体" panose="02010600030101010101" pitchFamily="2" charset="-122"/>
              </a:rPr>
              <a:t>0</a:t>
            </a:r>
            <a:r>
              <a:rPr lang="zh-CN" altLang="en-US" sz="2000" dirty="0">
                <a:solidFill>
                  <a:srgbClr val="000000"/>
                </a:solidFill>
                <a:latin typeface="Times New Roman" panose="02020603050405020304"/>
                <a:ea typeface="宋体" panose="02010600030101010101" pitchFamily="2" charset="-122"/>
              </a:rPr>
              <a:t>，</a:t>
            </a:r>
            <a:r>
              <a:rPr lang="en-US" sz="2000" i="1" dirty="0">
                <a:solidFill>
                  <a:srgbClr val="000000"/>
                </a:solidFill>
                <a:latin typeface="Times New Roman" panose="02020603050405020304"/>
                <a:ea typeface="宋体" panose="02010600030101010101" pitchFamily="2" charset="-122"/>
              </a:rPr>
              <a:t>y</a:t>
            </a:r>
            <a:r>
              <a:rPr lang="en-US" sz="2000" dirty="0">
                <a:solidFill>
                  <a:srgbClr val="000000"/>
                </a:solidFill>
                <a:latin typeface="Times New Roman" panose="02020603050405020304"/>
                <a:ea typeface="宋体" panose="02010600030101010101" pitchFamily="2" charset="-122"/>
              </a:rPr>
              <a:t>=</a:t>
            </a:r>
            <a:r>
              <a:rPr lang="en-US" sz="2000" i="1" dirty="0">
                <a:solidFill>
                  <a:srgbClr val="000000"/>
                </a:solidFill>
                <a:latin typeface="Times New Roman" panose="02020603050405020304"/>
                <a:ea typeface="宋体" panose="02010600030101010101" pitchFamily="2" charset="-122"/>
              </a:rPr>
              <a:t>f</a:t>
            </a:r>
            <a:r>
              <a:rPr lang="en-US" sz="2000" dirty="0">
                <a:solidFill>
                  <a:srgbClr val="000000"/>
                </a:solidFill>
                <a:latin typeface="Times New Roman" panose="02020603050405020304"/>
                <a:ea typeface="宋体" panose="02010600030101010101" pitchFamily="2" charset="-122"/>
              </a:rPr>
              <a:t>(</a:t>
            </a:r>
            <a:r>
              <a:rPr lang="en-US" sz="2000" i="1" dirty="0">
                <a:solidFill>
                  <a:srgbClr val="000000"/>
                </a:solidFill>
                <a:latin typeface="Times New Roman" panose="02020603050405020304"/>
                <a:ea typeface="宋体" panose="02010600030101010101" pitchFamily="2" charset="-122"/>
              </a:rPr>
              <a:t>w</a:t>
            </a:r>
            <a:r>
              <a:rPr lang="en-US" sz="2000" baseline="-25000" dirty="0">
                <a:solidFill>
                  <a:srgbClr val="000000"/>
                </a:solidFill>
                <a:latin typeface="Times New Roman" panose="02020603050405020304"/>
                <a:ea typeface="宋体" panose="02010600030101010101" pitchFamily="2" charset="-122"/>
              </a:rPr>
              <a:t>1</a:t>
            </a:r>
            <a:r>
              <a:rPr lang="en-US" sz="2000" i="1" dirty="0">
                <a:solidFill>
                  <a:srgbClr val="000000"/>
                </a:solidFill>
                <a:latin typeface="Times New Roman" panose="02020603050405020304"/>
                <a:ea typeface="宋体" panose="02010600030101010101" pitchFamily="2" charset="-122"/>
              </a:rPr>
              <a:t>x</a:t>
            </a:r>
            <a:r>
              <a:rPr lang="en-US" sz="2000" baseline="-25000" dirty="0">
                <a:solidFill>
                  <a:srgbClr val="000000"/>
                </a:solidFill>
                <a:latin typeface="Times New Roman" panose="02020603050405020304"/>
                <a:ea typeface="宋体" panose="02010600030101010101" pitchFamily="2" charset="-122"/>
              </a:rPr>
              <a:t>1</a:t>
            </a:r>
            <a:r>
              <a:rPr lang="en-US" sz="2000" dirty="0">
                <a:solidFill>
                  <a:srgbClr val="000000"/>
                </a:solidFill>
                <a:latin typeface="Times New Roman" panose="02020603050405020304"/>
                <a:ea typeface="宋体" panose="02010600030101010101" pitchFamily="2" charset="-122"/>
              </a:rPr>
              <a:t>+</a:t>
            </a:r>
            <a:r>
              <a:rPr lang="en-US" sz="2000" i="1" dirty="0">
                <a:solidFill>
                  <a:srgbClr val="000000"/>
                </a:solidFill>
                <a:latin typeface="Times New Roman" panose="02020603050405020304"/>
                <a:ea typeface="宋体" panose="02010600030101010101" pitchFamily="2" charset="-122"/>
              </a:rPr>
              <a:t>w</a:t>
            </a:r>
            <a:r>
              <a:rPr lang="en-US" sz="2000" baseline="-25000" dirty="0">
                <a:solidFill>
                  <a:srgbClr val="000000"/>
                </a:solidFill>
                <a:latin typeface="Times New Roman" panose="02020603050405020304"/>
                <a:ea typeface="宋体" panose="02010600030101010101" pitchFamily="2" charset="-122"/>
              </a:rPr>
              <a:t>2</a:t>
            </a:r>
            <a:r>
              <a:rPr lang="en-US" sz="2000" i="1" dirty="0">
                <a:solidFill>
                  <a:srgbClr val="000000"/>
                </a:solidFill>
                <a:latin typeface="Times New Roman" panose="02020603050405020304"/>
                <a:ea typeface="宋体" panose="02010600030101010101" pitchFamily="2" charset="-122"/>
              </a:rPr>
              <a:t>x</a:t>
            </a:r>
            <a:r>
              <a:rPr lang="en-US" sz="2000" baseline="-25000" dirty="0">
                <a:solidFill>
                  <a:srgbClr val="000000"/>
                </a:solidFill>
                <a:latin typeface="Times New Roman" panose="02020603050405020304"/>
                <a:ea typeface="宋体" panose="02010600030101010101" pitchFamily="2" charset="-122"/>
              </a:rPr>
              <a:t>2</a:t>
            </a:r>
            <a:r>
              <a:rPr lang="en-US" sz="2000" dirty="0">
                <a:solidFill>
                  <a:srgbClr val="000000"/>
                </a:solidFill>
                <a:latin typeface="Times New Roman" panose="02020603050405020304"/>
                <a:ea typeface="宋体" panose="02010600030101010101" pitchFamily="2" charset="-122"/>
              </a:rPr>
              <a:t>-</a:t>
            </a:r>
            <a:r>
              <a:rPr lang="en-US" sz="2000" i="1" dirty="0">
                <a:solidFill>
                  <a:srgbClr val="000000"/>
                </a:solidFill>
                <a:latin typeface="Times New Roman" panose="02020603050405020304"/>
                <a:ea typeface="宋体" panose="02010600030101010101" pitchFamily="2" charset="-122"/>
              </a:rPr>
              <a:t>θ</a:t>
            </a:r>
            <a:r>
              <a:rPr lang="en-US" sz="2000" dirty="0">
                <a:solidFill>
                  <a:srgbClr val="000000"/>
                </a:solidFill>
                <a:latin typeface="Times New Roman" panose="02020603050405020304"/>
                <a:ea typeface="宋体" panose="02010600030101010101" pitchFamily="2" charset="-122"/>
              </a:rPr>
              <a:t>)=</a:t>
            </a:r>
            <a:r>
              <a:rPr lang="en-US" sz="2000" i="1" dirty="0">
                <a:solidFill>
                  <a:srgbClr val="000000"/>
                </a:solidFill>
                <a:latin typeface="Times New Roman" panose="02020603050405020304"/>
                <a:ea typeface="宋体" panose="02010600030101010101" pitchFamily="2" charset="-122"/>
              </a:rPr>
              <a:t>f</a:t>
            </a:r>
            <a:r>
              <a:rPr lang="en-US" sz="2000" dirty="0">
                <a:solidFill>
                  <a:srgbClr val="000000"/>
                </a:solidFill>
                <a:latin typeface="Times New Roman" panose="02020603050405020304"/>
                <a:ea typeface="宋体" panose="02010600030101010101" pitchFamily="2" charset="-122"/>
              </a:rPr>
              <a:t>(0.5*0+0.5*1-0.8)=</a:t>
            </a:r>
            <a:r>
              <a:rPr lang="en-US" sz="2000" i="1" dirty="0">
                <a:solidFill>
                  <a:srgbClr val="000000"/>
                </a:solidFill>
                <a:latin typeface="Times New Roman" panose="02020603050405020304"/>
                <a:ea typeface="宋体" panose="02010600030101010101" pitchFamily="2" charset="-122"/>
              </a:rPr>
              <a:t>f</a:t>
            </a:r>
            <a:r>
              <a:rPr lang="en-US" sz="2000" dirty="0">
                <a:solidFill>
                  <a:srgbClr val="000000"/>
                </a:solidFill>
                <a:latin typeface="Times New Roman" panose="02020603050405020304"/>
                <a:ea typeface="宋体" panose="02010600030101010101" pitchFamily="2" charset="-122"/>
              </a:rPr>
              <a:t>(-0.3)=0</a:t>
            </a:r>
            <a:r>
              <a:rPr lang="zh-CN" altLang="en-US" sz="2000" dirty="0">
                <a:solidFill>
                  <a:srgbClr val="000000"/>
                </a:solidFill>
                <a:latin typeface="Times New Roman" panose="02020603050405020304"/>
                <a:ea typeface="宋体" panose="02010600030101010101" pitchFamily="2" charset="-122"/>
              </a:rPr>
              <a:t>；</a:t>
            </a:r>
            <a:endParaRPr lang="en-US" sz="2000" dirty="0">
              <a:solidFill>
                <a:srgbClr val="000000"/>
              </a:solidFill>
              <a:latin typeface="Times New Roman" panose="02020603050405020304"/>
              <a:ea typeface="宋体" panose="02010600030101010101" pitchFamily="2" charset="-122"/>
            </a:endParaRPr>
          </a:p>
          <a:p>
            <a:pPr algn="just">
              <a:lnSpc>
                <a:spcPct val="150000"/>
              </a:lnSpc>
            </a:pPr>
            <a:r>
              <a:rPr lang="en-US" sz="2000" dirty="0">
                <a:solidFill>
                  <a:srgbClr val="000000"/>
                </a:solidFill>
                <a:latin typeface="Times New Roman" panose="02020603050405020304"/>
                <a:ea typeface="宋体" panose="02010600030101010101" pitchFamily="2" charset="-122"/>
              </a:rPr>
              <a:t>3</a:t>
            </a:r>
            <a:r>
              <a:rPr lang="zh-CN" altLang="en-US" sz="2000" dirty="0">
                <a:solidFill>
                  <a:srgbClr val="000000"/>
                </a:solidFill>
                <a:latin typeface="Times New Roman" panose="02020603050405020304"/>
                <a:ea typeface="宋体" panose="02010600030101010101" pitchFamily="2" charset="-122"/>
              </a:rPr>
              <a:t>）</a:t>
            </a:r>
            <a:r>
              <a:rPr lang="en-US" sz="2000" i="1" dirty="0">
                <a:solidFill>
                  <a:srgbClr val="000000"/>
                </a:solidFill>
                <a:latin typeface="Times New Roman" panose="02020603050405020304"/>
                <a:ea typeface="宋体" panose="02010600030101010101" pitchFamily="2" charset="-122"/>
              </a:rPr>
              <a:t>x</a:t>
            </a:r>
            <a:r>
              <a:rPr lang="en-US" sz="2000" baseline="-25000" dirty="0">
                <a:solidFill>
                  <a:srgbClr val="000000"/>
                </a:solidFill>
                <a:latin typeface="Times New Roman" panose="02020603050405020304"/>
                <a:ea typeface="宋体" panose="02010600030101010101" pitchFamily="2" charset="-122"/>
              </a:rPr>
              <a:t>1</a:t>
            </a:r>
            <a:r>
              <a:rPr lang="en-US" sz="2000" dirty="0">
                <a:solidFill>
                  <a:srgbClr val="000000"/>
                </a:solidFill>
                <a:latin typeface="Times New Roman" panose="02020603050405020304"/>
                <a:ea typeface="宋体" panose="02010600030101010101" pitchFamily="2" charset="-122"/>
              </a:rPr>
              <a:t>,</a:t>
            </a:r>
            <a:r>
              <a:rPr lang="en-US" sz="2000" i="1" dirty="0">
                <a:solidFill>
                  <a:srgbClr val="000000"/>
                </a:solidFill>
                <a:latin typeface="Times New Roman" panose="02020603050405020304"/>
                <a:ea typeface="宋体" panose="02010600030101010101" pitchFamily="2" charset="-122"/>
              </a:rPr>
              <a:t>x</a:t>
            </a:r>
            <a:r>
              <a:rPr lang="en-US" sz="2000" baseline="-25000" dirty="0">
                <a:solidFill>
                  <a:srgbClr val="000000"/>
                </a:solidFill>
                <a:latin typeface="Times New Roman" panose="02020603050405020304"/>
                <a:ea typeface="宋体" panose="02010600030101010101" pitchFamily="2" charset="-122"/>
              </a:rPr>
              <a:t>2</a:t>
            </a:r>
            <a:r>
              <a:rPr lang="zh-CN" altLang="en-US" sz="2000" dirty="0">
                <a:solidFill>
                  <a:srgbClr val="000000"/>
                </a:solidFill>
                <a:latin typeface="Times New Roman" panose="02020603050405020304"/>
                <a:ea typeface="宋体" panose="02010600030101010101" pitchFamily="2" charset="-122"/>
              </a:rPr>
              <a:t>分别输入</a:t>
            </a:r>
            <a:r>
              <a:rPr lang="en-US" sz="2000" dirty="0">
                <a:solidFill>
                  <a:srgbClr val="000000"/>
                </a:solidFill>
                <a:latin typeface="Times New Roman" panose="02020603050405020304"/>
                <a:ea typeface="宋体" panose="02010600030101010101" pitchFamily="2" charset="-122"/>
              </a:rPr>
              <a:t>1</a:t>
            </a:r>
            <a:r>
              <a:rPr lang="en-US" altLang="zh-CN" sz="2000" dirty="0">
                <a:solidFill>
                  <a:srgbClr val="000000"/>
                </a:solidFill>
                <a:latin typeface="Times New Roman" panose="02020603050405020304"/>
                <a:ea typeface="宋体" panose="02010600030101010101" pitchFamily="2" charset="-122"/>
              </a:rPr>
              <a:t>,</a:t>
            </a:r>
            <a:r>
              <a:rPr lang="en-US" sz="2000" dirty="0">
                <a:solidFill>
                  <a:srgbClr val="000000"/>
                </a:solidFill>
                <a:latin typeface="Times New Roman" panose="02020603050405020304"/>
                <a:ea typeface="宋体" panose="02010600030101010101" pitchFamily="2" charset="-122"/>
              </a:rPr>
              <a:t>0</a:t>
            </a:r>
            <a:r>
              <a:rPr lang="zh-CN" altLang="en-US" sz="2000" dirty="0">
                <a:solidFill>
                  <a:srgbClr val="000000"/>
                </a:solidFill>
                <a:latin typeface="Times New Roman" panose="02020603050405020304"/>
                <a:ea typeface="宋体" panose="02010600030101010101" pitchFamily="2" charset="-122"/>
              </a:rPr>
              <a:t>时，</a:t>
            </a:r>
            <a:r>
              <a:rPr lang="en-US" sz="2000" dirty="0">
                <a:solidFill>
                  <a:srgbClr val="000000"/>
                </a:solidFill>
                <a:latin typeface="Times New Roman" panose="02020603050405020304"/>
                <a:ea typeface="宋体" panose="02010600030101010101" pitchFamily="2" charset="-122"/>
              </a:rPr>
              <a:t>M-P</a:t>
            </a:r>
            <a:r>
              <a:rPr lang="zh-CN" altLang="en-US" sz="2000" dirty="0">
                <a:solidFill>
                  <a:srgbClr val="000000"/>
                </a:solidFill>
                <a:latin typeface="Times New Roman" panose="02020603050405020304"/>
                <a:ea typeface="宋体" panose="02010600030101010101" pitchFamily="2" charset="-122"/>
              </a:rPr>
              <a:t>模型输出值为 </a:t>
            </a:r>
            <a:r>
              <a:rPr lang="en-US" sz="2000" dirty="0">
                <a:solidFill>
                  <a:srgbClr val="000000"/>
                </a:solidFill>
                <a:latin typeface="Times New Roman" panose="02020603050405020304"/>
                <a:ea typeface="宋体" panose="02010600030101010101" pitchFamily="2" charset="-122"/>
              </a:rPr>
              <a:t>0</a:t>
            </a:r>
            <a:r>
              <a:rPr lang="zh-CN" altLang="en-US" sz="2000" dirty="0">
                <a:solidFill>
                  <a:srgbClr val="000000"/>
                </a:solidFill>
                <a:latin typeface="Times New Roman" panose="02020603050405020304"/>
                <a:ea typeface="宋体" panose="02010600030101010101" pitchFamily="2" charset="-122"/>
              </a:rPr>
              <a:t>，</a:t>
            </a:r>
            <a:r>
              <a:rPr lang="en-US" sz="2000" dirty="0">
                <a:solidFill>
                  <a:srgbClr val="000000"/>
                </a:solidFill>
                <a:latin typeface="Times New Roman" panose="02020603050405020304"/>
                <a:ea typeface="宋体" panose="02010600030101010101" pitchFamily="2" charset="-122"/>
              </a:rPr>
              <a:t>  </a:t>
            </a:r>
            <a:r>
              <a:rPr lang="en-US" sz="2000" i="1" dirty="0">
                <a:solidFill>
                  <a:srgbClr val="000000"/>
                </a:solidFill>
                <a:latin typeface="Times New Roman" panose="02020603050405020304"/>
                <a:ea typeface="宋体" panose="02010600030101010101" pitchFamily="2" charset="-122"/>
              </a:rPr>
              <a:t>y</a:t>
            </a:r>
            <a:r>
              <a:rPr lang="en-US" sz="2000" dirty="0">
                <a:solidFill>
                  <a:srgbClr val="000000"/>
                </a:solidFill>
                <a:latin typeface="Times New Roman" panose="02020603050405020304"/>
                <a:ea typeface="宋体" panose="02010600030101010101" pitchFamily="2" charset="-122"/>
              </a:rPr>
              <a:t>=</a:t>
            </a:r>
            <a:r>
              <a:rPr lang="en-US" sz="2000" i="1" dirty="0">
                <a:solidFill>
                  <a:srgbClr val="000000"/>
                </a:solidFill>
                <a:latin typeface="Times New Roman" panose="02020603050405020304"/>
                <a:ea typeface="宋体" panose="02010600030101010101" pitchFamily="2" charset="-122"/>
              </a:rPr>
              <a:t>f</a:t>
            </a:r>
            <a:r>
              <a:rPr lang="en-US" sz="2000" dirty="0">
                <a:solidFill>
                  <a:srgbClr val="000000"/>
                </a:solidFill>
                <a:latin typeface="Times New Roman" panose="02020603050405020304"/>
                <a:ea typeface="宋体" panose="02010600030101010101" pitchFamily="2" charset="-122"/>
              </a:rPr>
              <a:t>(</a:t>
            </a:r>
            <a:r>
              <a:rPr lang="en-US" sz="2000" i="1" dirty="0">
                <a:solidFill>
                  <a:srgbClr val="000000"/>
                </a:solidFill>
                <a:latin typeface="Times New Roman" panose="02020603050405020304"/>
                <a:ea typeface="宋体" panose="02010600030101010101" pitchFamily="2" charset="-122"/>
              </a:rPr>
              <a:t>w</a:t>
            </a:r>
            <a:r>
              <a:rPr lang="en-US" sz="2000" baseline="-25000" dirty="0">
                <a:solidFill>
                  <a:srgbClr val="000000"/>
                </a:solidFill>
                <a:latin typeface="Times New Roman" panose="02020603050405020304"/>
                <a:ea typeface="宋体" panose="02010600030101010101" pitchFamily="2" charset="-122"/>
              </a:rPr>
              <a:t>1</a:t>
            </a:r>
            <a:r>
              <a:rPr lang="en-US" sz="2000" i="1" dirty="0">
                <a:solidFill>
                  <a:srgbClr val="000000"/>
                </a:solidFill>
                <a:latin typeface="Times New Roman" panose="02020603050405020304"/>
                <a:ea typeface="宋体" panose="02010600030101010101" pitchFamily="2" charset="-122"/>
              </a:rPr>
              <a:t>x</a:t>
            </a:r>
            <a:r>
              <a:rPr lang="en-US" sz="2000" baseline="-25000" dirty="0">
                <a:solidFill>
                  <a:srgbClr val="000000"/>
                </a:solidFill>
                <a:latin typeface="Times New Roman" panose="02020603050405020304"/>
                <a:ea typeface="宋体" panose="02010600030101010101" pitchFamily="2" charset="-122"/>
              </a:rPr>
              <a:t>1</a:t>
            </a:r>
            <a:r>
              <a:rPr lang="en-US" sz="2000" dirty="0">
                <a:solidFill>
                  <a:srgbClr val="000000"/>
                </a:solidFill>
                <a:latin typeface="Times New Roman" panose="02020603050405020304"/>
                <a:ea typeface="宋体" panose="02010600030101010101" pitchFamily="2" charset="-122"/>
              </a:rPr>
              <a:t>+</a:t>
            </a:r>
            <a:r>
              <a:rPr lang="en-US" sz="2000" i="1" dirty="0">
                <a:solidFill>
                  <a:srgbClr val="000000"/>
                </a:solidFill>
                <a:latin typeface="Times New Roman" panose="02020603050405020304"/>
                <a:ea typeface="宋体" panose="02010600030101010101" pitchFamily="2" charset="-122"/>
              </a:rPr>
              <a:t>w</a:t>
            </a:r>
            <a:r>
              <a:rPr lang="en-US" sz="2000" baseline="-25000" dirty="0">
                <a:solidFill>
                  <a:srgbClr val="000000"/>
                </a:solidFill>
                <a:latin typeface="Times New Roman" panose="02020603050405020304"/>
                <a:ea typeface="宋体" panose="02010600030101010101" pitchFamily="2" charset="-122"/>
              </a:rPr>
              <a:t>2</a:t>
            </a:r>
            <a:r>
              <a:rPr lang="en-US" sz="2000" i="1" dirty="0">
                <a:solidFill>
                  <a:srgbClr val="000000"/>
                </a:solidFill>
                <a:latin typeface="Times New Roman" panose="02020603050405020304"/>
                <a:ea typeface="宋体" panose="02010600030101010101" pitchFamily="2" charset="-122"/>
              </a:rPr>
              <a:t>x</a:t>
            </a:r>
            <a:r>
              <a:rPr lang="en-US" sz="2000" baseline="-25000" dirty="0">
                <a:solidFill>
                  <a:srgbClr val="000000"/>
                </a:solidFill>
                <a:latin typeface="Times New Roman" panose="02020603050405020304"/>
                <a:ea typeface="宋体" panose="02010600030101010101" pitchFamily="2" charset="-122"/>
              </a:rPr>
              <a:t>2</a:t>
            </a:r>
            <a:r>
              <a:rPr lang="en-US" sz="2000" dirty="0">
                <a:solidFill>
                  <a:srgbClr val="000000"/>
                </a:solidFill>
                <a:latin typeface="Times New Roman" panose="02020603050405020304"/>
                <a:ea typeface="宋体" panose="02010600030101010101" pitchFamily="2" charset="-122"/>
              </a:rPr>
              <a:t>-</a:t>
            </a:r>
            <a:r>
              <a:rPr lang="en-US" sz="2000" i="1" dirty="0">
                <a:solidFill>
                  <a:srgbClr val="000000"/>
                </a:solidFill>
                <a:latin typeface="Times New Roman" panose="02020603050405020304"/>
                <a:ea typeface="宋体" panose="02010600030101010101" pitchFamily="2" charset="-122"/>
              </a:rPr>
              <a:t>θ</a:t>
            </a:r>
            <a:r>
              <a:rPr lang="en-US" sz="2000" dirty="0">
                <a:solidFill>
                  <a:srgbClr val="000000"/>
                </a:solidFill>
                <a:latin typeface="Times New Roman" panose="02020603050405020304"/>
                <a:ea typeface="宋体" panose="02010600030101010101" pitchFamily="2" charset="-122"/>
              </a:rPr>
              <a:t>)=</a:t>
            </a:r>
            <a:r>
              <a:rPr lang="en-US" sz="2000" i="1" dirty="0">
                <a:solidFill>
                  <a:srgbClr val="000000"/>
                </a:solidFill>
                <a:latin typeface="Times New Roman" panose="02020603050405020304"/>
                <a:ea typeface="宋体" panose="02010600030101010101" pitchFamily="2" charset="-122"/>
              </a:rPr>
              <a:t>f</a:t>
            </a:r>
            <a:r>
              <a:rPr lang="en-US" sz="2000" dirty="0">
                <a:solidFill>
                  <a:srgbClr val="000000"/>
                </a:solidFill>
                <a:latin typeface="Times New Roman" panose="02020603050405020304"/>
                <a:ea typeface="宋体" panose="02010600030101010101" pitchFamily="2" charset="-122"/>
              </a:rPr>
              <a:t>(0.5*1+0.5*0-0.8)=</a:t>
            </a:r>
            <a:r>
              <a:rPr lang="en-US" sz="2000" i="1" dirty="0">
                <a:solidFill>
                  <a:srgbClr val="000000"/>
                </a:solidFill>
                <a:latin typeface="Times New Roman" panose="02020603050405020304"/>
                <a:ea typeface="宋体" panose="02010600030101010101" pitchFamily="2" charset="-122"/>
              </a:rPr>
              <a:t>f</a:t>
            </a:r>
            <a:r>
              <a:rPr lang="en-US" sz="2000" dirty="0">
                <a:solidFill>
                  <a:srgbClr val="000000"/>
                </a:solidFill>
                <a:latin typeface="Times New Roman" panose="02020603050405020304"/>
                <a:ea typeface="宋体" panose="02010600030101010101" pitchFamily="2" charset="-122"/>
              </a:rPr>
              <a:t>(-0.3)=0</a:t>
            </a:r>
            <a:r>
              <a:rPr lang="zh-CN" altLang="en-US" sz="2000" dirty="0">
                <a:solidFill>
                  <a:srgbClr val="000000"/>
                </a:solidFill>
                <a:latin typeface="Times New Roman" panose="02020603050405020304"/>
                <a:ea typeface="宋体" panose="02010600030101010101" pitchFamily="2" charset="-122"/>
              </a:rPr>
              <a:t>；</a:t>
            </a:r>
            <a:endParaRPr lang="en-US" sz="2000" dirty="0">
              <a:solidFill>
                <a:srgbClr val="000000"/>
              </a:solidFill>
              <a:latin typeface="Times New Roman" panose="02020603050405020304"/>
              <a:ea typeface="宋体" panose="02010600030101010101" pitchFamily="2" charset="-122"/>
            </a:endParaRPr>
          </a:p>
          <a:p>
            <a:pPr algn="just">
              <a:lnSpc>
                <a:spcPct val="150000"/>
              </a:lnSpc>
            </a:pPr>
            <a:r>
              <a:rPr lang="en-US" sz="2000" dirty="0">
                <a:solidFill>
                  <a:srgbClr val="000000"/>
                </a:solidFill>
                <a:latin typeface="Times New Roman" panose="02020603050405020304"/>
                <a:ea typeface="宋体" panose="02010600030101010101" pitchFamily="2" charset="-122"/>
              </a:rPr>
              <a:t>4</a:t>
            </a:r>
            <a:r>
              <a:rPr lang="zh-CN" altLang="en-US" sz="2000" dirty="0">
                <a:solidFill>
                  <a:srgbClr val="000000"/>
                </a:solidFill>
                <a:latin typeface="Times New Roman" panose="02020603050405020304"/>
                <a:ea typeface="宋体" panose="02010600030101010101" pitchFamily="2" charset="-122"/>
              </a:rPr>
              <a:t>）</a:t>
            </a:r>
            <a:r>
              <a:rPr lang="en-US" sz="2000" i="1" dirty="0">
                <a:solidFill>
                  <a:srgbClr val="000000"/>
                </a:solidFill>
                <a:latin typeface="Times New Roman" panose="02020603050405020304"/>
                <a:ea typeface="宋体" panose="02010600030101010101" pitchFamily="2" charset="-122"/>
              </a:rPr>
              <a:t>x</a:t>
            </a:r>
            <a:r>
              <a:rPr lang="en-US" sz="2000" baseline="-25000" dirty="0">
                <a:solidFill>
                  <a:srgbClr val="000000"/>
                </a:solidFill>
                <a:latin typeface="Times New Roman" panose="02020603050405020304"/>
                <a:ea typeface="宋体" panose="02010600030101010101" pitchFamily="2" charset="-122"/>
              </a:rPr>
              <a:t>1</a:t>
            </a:r>
            <a:r>
              <a:rPr lang="en-US" sz="2000" dirty="0">
                <a:solidFill>
                  <a:srgbClr val="000000"/>
                </a:solidFill>
                <a:latin typeface="Times New Roman" panose="02020603050405020304"/>
                <a:ea typeface="宋体" panose="02010600030101010101" pitchFamily="2" charset="-122"/>
              </a:rPr>
              <a:t>,</a:t>
            </a:r>
            <a:r>
              <a:rPr lang="en-US" sz="2000" i="1" dirty="0">
                <a:solidFill>
                  <a:srgbClr val="000000"/>
                </a:solidFill>
                <a:latin typeface="Times New Roman" panose="02020603050405020304"/>
                <a:ea typeface="宋体" panose="02010600030101010101" pitchFamily="2" charset="-122"/>
              </a:rPr>
              <a:t>x</a:t>
            </a:r>
            <a:r>
              <a:rPr lang="en-US" sz="2000" baseline="-25000" dirty="0">
                <a:solidFill>
                  <a:srgbClr val="000000"/>
                </a:solidFill>
                <a:latin typeface="Times New Roman" panose="02020603050405020304"/>
                <a:ea typeface="宋体" panose="02010600030101010101" pitchFamily="2" charset="-122"/>
              </a:rPr>
              <a:t>2</a:t>
            </a:r>
            <a:r>
              <a:rPr lang="zh-CN" altLang="en-US" sz="2000" dirty="0">
                <a:solidFill>
                  <a:srgbClr val="000000"/>
                </a:solidFill>
                <a:latin typeface="Times New Roman" panose="02020603050405020304"/>
                <a:ea typeface="宋体" panose="02010600030101010101" pitchFamily="2" charset="-122"/>
              </a:rPr>
              <a:t>分别输入</a:t>
            </a:r>
            <a:r>
              <a:rPr lang="en-US" sz="2000" dirty="0">
                <a:solidFill>
                  <a:srgbClr val="000000"/>
                </a:solidFill>
                <a:latin typeface="Times New Roman" panose="02020603050405020304"/>
                <a:ea typeface="宋体" panose="02010600030101010101" pitchFamily="2" charset="-122"/>
              </a:rPr>
              <a:t>1,1</a:t>
            </a:r>
            <a:r>
              <a:rPr lang="zh-CN" altLang="en-US" sz="2000" dirty="0">
                <a:solidFill>
                  <a:srgbClr val="000000"/>
                </a:solidFill>
                <a:latin typeface="Times New Roman" panose="02020603050405020304"/>
                <a:ea typeface="宋体" panose="02010600030101010101" pitchFamily="2" charset="-122"/>
              </a:rPr>
              <a:t>时，</a:t>
            </a:r>
            <a:r>
              <a:rPr lang="en-US" sz="2000" dirty="0">
                <a:solidFill>
                  <a:srgbClr val="000000"/>
                </a:solidFill>
                <a:latin typeface="Times New Roman" panose="02020603050405020304"/>
                <a:ea typeface="宋体" panose="02010600030101010101" pitchFamily="2" charset="-122"/>
              </a:rPr>
              <a:t>M-P</a:t>
            </a:r>
            <a:r>
              <a:rPr lang="zh-CN" altLang="en-US" sz="2000" dirty="0">
                <a:solidFill>
                  <a:srgbClr val="000000"/>
                </a:solidFill>
                <a:latin typeface="Times New Roman" panose="02020603050405020304"/>
                <a:ea typeface="宋体" panose="02010600030101010101" pitchFamily="2" charset="-122"/>
              </a:rPr>
              <a:t>模型输出值为</a:t>
            </a:r>
            <a:r>
              <a:rPr lang="en-US" sz="2000" dirty="0">
                <a:solidFill>
                  <a:srgbClr val="000000"/>
                </a:solidFill>
                <a:latin typeface="Times New Roman" panose="02020603050405020304"/>
                <a:ea typeface="宋体" panose="02010600030101010101" pitchFamily="2" charset="-122"/>
              </a:rPr>
              <a:t>1</a:t>
            </a:r>
            <a:r>
              <a:rPr lang="zh-CN" altLang="en-US" sz="2000" dirty="0">
                <a:solidFill>
                  <a:srgbClr val="000000"/>
                </a:solidFill>
                <a:latin typeface="Times New Roman" panose="02020603050405020304"/>
                <a:ea typeface="宋体" panose="02010600030101010101" pitchFamily="2" charset="-122"/>
              </a:rPr>
              <a:t>，</a:t>
            </a:r>
            <a:r>
              <a:rPr lang="en-US" sz="2000" dirty="0">
                <a:solidFill>
                  <a:srgbClr val="000000"/>
                </a:solidFill>
                <a:latin typeface="Times New Roman" panose="02020603050405020304"/>
                <a:ea typeface="宋体" panose="02010600030101010101" pitchFamily="2" charset="-122"/>
              </a:rPr>
              <a:t> </a:t>
            </a:r>
            <a:r>
              <a:rPr lang="en-US" sz="2000" i="1" dirty="0">
                <a:solidFill>
                  <a:srgbClr val="000000"/>
                </a:solidFill>
                <a:latin typeface="Times New Roman" panose="02020603050405020304"/>
                <a:ea typeface="宋体" panose="02010600030101010101" pitchFamily="2" charset="-122"/>
              </a:rPr>
              <a:t>y</a:t>
            </a:r>
            <a:r>
              <a:rPr lang="en-US" sz="2000" dirty="0">
                <a:solidFill>
                  <a:srgbClr val="000000"/>
                </a:solidFill>
                <a:latin typeface="Times New Roman" panose="02020603050405020304"/>
                <a:ea typeface="宋体" panose="02010600030101010101" pitchFamily="2" charset="-122"/>
              </a:rPr>
              <a:t>=</a:t>
            </a:r>
            <a:r>
              <a:rPr lang="en-US" sz="2000" i="1" dirty="0">
                <a:solidFill>
                  <a:srgbClr val="000000"/>
                </a:solidFill>
                <a:latin typeface="Times New Roman" panose="02020603050405020304"/>
                <a:ea typeface="宋体" panose="02010600030101010101" pitchFamily="2" charset="-122"/>
              </a:rPr>
              <a:t>f</a:t>
            </a:r>
            <a:r>
              <a:rPr lang="en-US" sz="2000" dirty="0">
                <a:solidFill>
                  <a:srgbClr val="000000"/>
                </a:solidFill>
                <a:latin typeface="Times New Roman" panose="02020603050405020304"/>
                <a:ea typeface="宋体" panose="02010600030101010101" pitchFamily="2" charset="-122"/>
              </a:rPr>
              <a:t>(</a:t>
            </a:r>
            <a:r>
              <a:rPr lang="en-US" sz="2000" i="1" dirty="0">
                <a:solidFill>
                  <a:srgbClr val="000000"/>
                </a:solidFill>
                <a:latin typeface="Times New Roman" panose="02020603050405020304"/>
                <a:ea typeface="宋体" panose="02010600030101010101" pitchFamily="2" charset="-122"/>
              </a:rPr>
              <a:t>w</a:t>
            </a:r>
            <a:r>
              <a:rPr lang="en-US" sz="2000" baseline="-25000" dirty="0">
                <a:solidFill>
                  <a:srgbClr val="000000"/>
                </a:solidFill>
                <a:latin typeface="Times New Roman" panose="02020603050405020304"/>
                <a:ea typeface="宋体" panose="02010600030101010101" pitchFamily="2" charset="-122"/>
              </a:rPr>
              <a:t>1</a:t>
            </a:r>
            <a:r>
              <a:rPr lang="en-US" sz="2000" i="1" dirty="0">
                <a:solidFill>
                  <a:srgbClr val="000000"/>
                </a:solidFill>
                <a:latin typeface="Times New Roman" panose="02020603050405020304"/>
                <a:ea typeface="宋体" panose="02010600030101010101" pitchFamily="2" charset="-122"/>
              </a:rPr>
              <a:t>x</a:t>
            </a:r>
            <a:r>
              <a:rPr lang="en-US" sz="2000" baseline="-25000" dirty="0">
                <a:solidFill>
                  <a:srgbClr val="000000"/>
                </a:solidFill>
                <a:latin typeface="Times New Roman" panose="02020603050405020304"/>
                <a:ea typeface="宋体" panose="02010600030101010101" pitchFamily="2" charset="-122"/>
              </a:rPr>
              <a:t>1</a:t>
            </a:r>
            <a:r>
              <a:rPr lang="en-US" sz="2000" dirty="0">
                <a:solidFill>
                  <a:srgbClr val="000000"/>
                </a:solidFill>
                <a:latin typeface="Times New Roman" panose="02020603050405020304"/>
                <a:ea typeface="宋体" panose="02010600030101010101" pitchFamily="2" charset="-122"/>
              </a:rPr>
              <a:t>+</a:t>
            </a:r>
            <a:r>
              <a:rPr lang="en-US" sz="2000" i="1" dirty="0">
                <a:solidFill>
                  <a:srgbClr val="000000"/>
                </a:solidFill>
                <a:latin typeface="Times New Roman" panose="02020603050405020304"/>
                <a:ea typeface="宋体" panose="02010600030101010101" pitchFamily="2" charset="-122"/>
              </a:rPr>
              <a:t>w</a:t>
            </a:r>
            <a:r>
              <a:rPr lang="en-US" sz="2000" baseline="-25000" dirty="0">
                <a:solidFill>
                  <a:srgbClr val="000000"/>
                </a:solidFill>
                <a:latin typeface="Times New Roman" panose="02020603050405020304"/>
                <a:ea typeface="宋体" panose="02010600030101010101" pitchFamily="2" charset="-122"/>
              </a:rPr>
              <a:t>2</a:t>
            </a:r>
            <a:r>
              <a:rPr lang="en-US" sz="2000" i="1" dirty="0">
                <a:solidFill>
                  <a:srgbClr val="000000"/>
                </a:solidFill>
                <a:latin typeface="Times New Roman" panose="02020603050405020304"/>
                <a:ea typeface="宋体" panose="02010600030101010101" pitchFamily="2" charset="-122"/>
              </a:rPr>
              <a:t>x</a:t>
            </a:r>
            <a:r>
              <a:rPr lang="en-US" sz="2000" baseline="-25000" dirty="0">
                <a:solidFill>
                  <a:srgbClr val="000000"/>
                </a:solidFill>
                <a:latin typeface="Times New Roman" panose="02020603050405020304"/>
                <a:ea typeface="宋体" panose="02010600030101010101" pitchFamily="2" charset="-122"/>
              </a:rPr>
              <a:t>2</a:t>
            </a:r>
            <a:r>
              <a:rPr lang="en-US" sz="2000" dirty="0">
                <a:solidFill>
                  <a:srgbClr val="000000"/>
                </a:solidFill>
                <a:latin typeface="Times New Roman" panose="02020603050405020304"/>
                <a:ea typeface="宋体" panose="02010600030101010101" pitchFamily="2" charset="-122"/>
              </a:rPr>
              <a:t>-</a:t>
            </a:r>
            <a:r>
              <a:rPr lang="en-US" sz="2000" i="1" dirty="0">
                <a:solidFill>
                  <a:srgbClr val="000000"/>
                </a:solidFill>
                <a:latin typeface="Times New Roman" panose="02020603050405020304"/>
                <a:ea typeface="宋体" panose="02010600030101010101" pitchFamily="2" charset="-122"/>
              </a:rPr>
              <a:t>θ</a:t>
            </a:r>
            <a:r>
              <a:rPr lang="en-US" sz="2000" dirty="0">
                <a:solidFill>
                  <a:srgbClr val="000000"/>
                </a:solidFill>
                <a:latin typeface="Times New Roman" panose="02020603050405020304"/>
                <a:ea typeface="宋体" panose="02010600030101010101" pitchFamily="2" charset="-122"/>
              </a:rPr>
              <a:t>)=</a:t>
            </a:r>
            <a:r>
              <a:rPr lang="en-US" sz="2000" i="1" dirty="0">
                <a:solidFill>
                  <a:srgbClr val="000000"/>
                </a:solidFill>
                <a:latin typeface="Times New Roman" panose="02020603050405020304"/>
                <a:ea typeface="宋体" panose="02010600030101010101" pitchFamily="2" charset="-122"/>
              </a:rPr>
              <a:t>f</a:t>
            </a:r>
            <a:r>
              <a:rPr lang="en-US" sz="2000" dirty="0">
                <a:solidFill>
                  <a:srgbClr val="000000"/>
                </a:solidFill>
                <a:latin typeface="Times New Roman" panose="02020603050405020304"/>
                <a:ea typeface="宋体" panose="02010600030101010101" pitchFamily="2" charset="-122"/>
              </a:rPr>
              <a:t>(0.5*1+0.5*1-0.8)=</a:t>
            </a:r>
            <a:r>
              <a:rPr lang="en-US" sz="2000" i="1" dirty="0">
                <a:solidFill>
                  <a:srgbClr val="000000"/>
                </a:solidFill>
                <a:latin typeface="Times New Roman" panose="02020603050405020304"/>
                <a:ea typeface="宋体" panose="02010600030101010101" pitchFamily="2" charset="-122"/>
              </a:rPr>
              <a:t>f</a:t>
            </a:r>
            <a:r>
              <a:rPr lang="en-US" sz="2000" dirty="0">
                <a:solidFill>
                  <a:srgbClr val="000000"/>
                </a:solidFill>
                <a:latin typeface="Times New Roman" panose="02020603050405020304"/>
                <a:ea typeface="宋体" panose="02010600030101010101" pitchFamily="2" charset="-122"/>
              </a:rPr>
              <a:t>(0.2)=1</a:t>
            </a:r>
            <a:r>
              <a:rPr lang="zh-CN" altLang="en-US" sz="2000" dirty="0">
                <a:solidFill>
                  <a:srgbClr val="000000"/>
                </a:solidFill>
                <a:latin typeface="Times New Roman" panose="02020603050405020304"/>
                <a:ea typeface="宋体" panose="02010600030101010101" pitchFamily="2" charset="-122"/>
              </a:rPr>
              <a:t>。</a:t>
            </a:r>
            <a:endParaRPr lang="zh-CN" altLang="en-US" sz="2000" dirty="0">
              <a:solidFill>
                <a:prstClr val="black"/>
              </a:solidFill>
              <a:latin typeface="Times New Roman" panose="02020603050405020304"/>
              <a:ea typeface="黑体" panose="02010609060101010101" charset="-122"/>
            </a:endParaRPr>
          </a:p>
        </p:txBody>
      </p:sp>
      <p:sp>
        <p:nvSpPr>
          <p:cNvPr id="2" name="文本框 1"/>
          <p:cNvSpPr txBox="1"/>
          <p:nvPr/>
        </p:nvSpPr>
        <p:spPr>
          <a:xfrm>
            <a:off x="8247334" y="3715586"/>
            <a:ext cx="1451428" cy="369332"/>
          </a:xfrm>
          <a:prstGeom prst="rect">
            <a:avLst/>
          </a:prstGeom>
          <a:noFill/>
        </p:spPr>
        <p:txBody>
          <a:bodyPr wrap="square" rtlCol="0">
            <a:spAutoFit/>
          </a:bodyPr>
          <a:lstStyle/>
          <a:p>
            <a:r>
              <a:rPr lang="zh-CN" altLang="en-US" dirty="0">
                <a:solidFill>
                  <a:prstClr val="black"/>
                </a:solidFill>
                <a:latin typeface="Times New Roman" panose="02020603050405020304"/>
                <a:ea typeface="黑体" panose="02010609060101010101" charset="-122"/>
              </a:rPr>
              <a:t>与门真值表</a:t>
            </a:r>
            <a:endParaRPr lang="zh-CN" altLang="en-US" dirty="0">
              <a:solidFill>
                <a:prstClr val="black"/>
              </a:solidFill>
              <a:latin typeface="Times New Roman" panose="02020603050405020304"/>
              <a:ea typeface="黑体" panose="02010609060101010101" charset="-122"/>
            </a:endParaRPr>
          </a:p>
        </p:txBody>
      </p:sp>
      <p:sp>
        <p:nvSpPr>
          <p:cNvPr id="11" name="文本框 10"/>
          <p:cNvSpPr txBox="1"/>
          <p:nvPr/>
        </p:nvSpPr>
        <p:spPr>
          <a:xfrm>
            <a:off x="8193315" y="5554459"/>
            <a:ext cx="2145301" cy="646331"/>
          </a:xfrm>
          <a:prstGeom prst="rect">
            <a:avLst/>
          </a:prstGeom>
          <a:noFill/>
        </p:spPr>
        <p:txBody>
          <a:bodyPr wrap="square" rtlCol="0">
            <a:spAutoFit/>
          </a:bodyPr>
          <a:lstStyle/>
          <a:p>
            <a:r>
              <a:rPr lang="zh-CN" altLang="en-US" dirty="0">
                <a:solidFill>
                  <a:prstClr val="black"/>
                </a:solidFill>
                <a:latin typeface="Times New Roman" panose="02020603050405020304"/>
                <a:ea typeface="黑体" panose="02010609060101010101" charset="-122"/>
              </a:rPr>
              <a:t>实现与门电路逻辑运算的</a:t>
            </a:r>
            <a:r>
              <a:rPr lang="en-US" altLang="zh-CN" dirty="0">
                <a:solidFill>
                  <a:prstClr val="black"/>
                </a:solidFill>
                <a:latin typeface="Times New Roman" panose="02020603050405020304"/>
                <a:ea typeface="黑体" panose="02010609060101010101" charset="-122"/>
              </a:rPr>
              <a:t>M-P</a:t>
            </a:r>
            <a:r>
              <a:rPr lang="zh-CN" altLang="en-US" dirty="0">
                <a:solidFill>
                  <a:prstClr val="black"/>
                </a:solidFill>
                <a:latin typeface="Times New Roman" panose="02020603050405020304"/>
                <a:ea typeface="黑体" panose="02010609060101010101" charset="-122"/>
              </a:rPr>
              <a:t>模型</a:t>
            </a:r>
            <a:endParaRPr lang="zh-CN" altLang="en-US" dirty="0">
              <a:solidFill>
                <a:prstClr val="black"/>
              </a:solidFill>
              <a:latin typeface="Times New Roman" panose="02020603050405020304"/>
              <a:ea typeface="黑体" panose="02010609060101010101"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50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750"/>
                                        <p:tgtEl>
                                          <p:spTgt spid="5"/>
                                        </p:tgtEl>
                                      </p:cBhvr>
                                    </p:animEffect>
                                  </p:childTnLst>
                                </p:cTn>
                              </p:par>
                            </p:childTnLst>
                          </p:cTn>
                        </p:par>
                        <p:par>
                          <p:cTn id="8" fill="hold">
                            <p:stCondLst>
                              <p:cond delay="1500"/>
                            </p:stCondLst>
                            <p:childTnLst>
                              <p:par>
                                <p:cTn id="9" presetID="42" presetClass="entr" presetSubtype="0" fill="hold"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1000"/>
                                        <p:tgtEl>
                                          <p:spTgt spid="6"/>
                                        </p:tgtEl>
                                      </p:cBhvr>
                                    </p:animEffect>
                                    <p:anim calcmode="lin" valueType="num">
                                      <p:cBhvr>
                                        <p:cTn id="12" dur="1000" fill="hold"/>
                                        <p:tgtEl>
                                          <p:spTgt spid="6"/>
                                        </p:tgtEl>
                                        <p:attrNameLst>
                                          <p:attrName>ppt_x</p:attrName>
                                        </p:attrNameLst>
                                      </p:cBhvr>
                                      <p:tavLst>
                                        <p:tav tm="0">
                                          <p:val>
                                            <p:strVal val="#ppt_x"/>
                                          </p:val>
                                        </p:tav>
                                        <p:tav tm="100000">
                                          <p:val>
                                            <p:strVal val="#ppt_x"/>
                                          </p:val>
                                        </p:tav>
                                      </p:tavLst>
                                    </p:anim>
                                    <p:anim calcmode="lin" valueType="num">
                                      <p:cBhvr>
                                        <p:cTn id="13" dur="1000" fill="hold"/>
                                        <p:tgtEl>
                                          <p:spTgt spid="6"/>
                                        </p:tgtEl>
                                        <p:attrNameLst>
                                          <p:attrName>ppt_y</p:attrName>
                                        </p:attrNameLst>
                                      </p:cBhvr>
                                      <p:tavLst>
                                        <p:tav tm="0">
                                          <p:val>
                                            <p:strVal val="#ppt_y+.1"/>
                                          </p:val>
                                        </p:tav>
                                        <p:tav tm="100000">
                                          <p:val>
                                            <p:strVal val="#ppt_y"/>
                                          </p:val>
                                        </p:tav>
                                      </p:tavLst>
                                    </p:anim>
                                  </p:childTnLst>
                                </p:cTn>
                              </p:par>
                              <p:par>
                                <p:cTn id="14" presetID="42" presetClass="entr" presetSubtype="0" fill="hold" grpId="0" nodeType="with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fade">
                                      <p:cBhvr>
                                        <p:cTn id="16" dur="1000"/>
                                        <p:tgtEl>
                                          <p:spTgt spid="2"/>
                                        </p:tgtEl>
                                      </p:cBhvr>
                                    </p:animEffect>
                                    <p:anim calcmode="lin" valueType="num">
                                      <p:cBhvr>
                                        <p:cTn id="17" dur="1000" fill="hold"/>
                                        <p:tgtEl>
                                          <p:spTgt spid="2"/>
                                        </p:tgtEl>
                                        <p:attrNameLst>
                                          <p:attrName>ppt_x</p:attrName>
                                        </p:attrNameLst>
                                      </p:cBhvr>
                                      <p:tavLst>
                                        <p:tav tm="0">
                                          <p:val>
                                            <p:strVal val="#ppt_x"/>
                                          </p:val>
                                        </p:tav>
                                        <p:tav tm="100000">
                                          <p:val>
                                            <p:strVal val="#ppt_x"/>
                                          </p:val>
                                        </p:tav>
                                      </p:tavLst>
                                    </p:anim>
                                    <p:anim calcmode="lin" valueType="num">
                                      <p:cBhvr>
                                        <p:cTn id="18"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0">
                                            <p:txEl>
                                              <p:pRg st="0" end="0"/>
                                            </p:txEl>
                                          </p:spTgt>
                                        </p:tgtEl>
                                        <p:attrNameLst>
                                          <p:attrName>style.visibility</p:attrName>
                                        </p:attrNameLst>
                                      </p:cBhvr>
                                      <p:to>
                                        <p:strVal val="visible"/>
                                      </p:to>
                                    </p:set>
                                    <p:animEffect transition="in" filter="fade">
                                      <p:cBhvr>
                                        <p:cTn id="23" dur="500"/>
                                        <p:tgtEl>
                                          <p:spTgt spid="10">
                                            <p:txEl>
                                              <p:pRg st="0" end="0"/>
                                            </p:txEl>
                                          </p:spTgt>
                                        </p:tgtEl>
                                      </p:cBhvr>
                                    </p:animEffect>
                                  </p:childTnLst>
                                </p:cTn>
                              </p:par>
                            </p:childTnLst>
                          </p:cTn>
                        </p:par>
                        <p:par>
                          <p:cTn id="24" fill="hold">
                            <p:stCondLst>
                              <p:cond delay="500"/>
                            </p:stCondLst>
                            <p:childTnLst>
                              <p:par>
                                <p:cTn id="25" presetID="42" presetClass="entr" presetSubtype="0" fill="hold" nodeType="after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1000"/>
                                        <p:tgtEl>
                                          <p:spTgt spid="9"/>
                                        </p:tgtEl>
                                      </p:cBhvr>
                                    </p:animEffect>
                                    <p:anim calcmode="lin" valueType="num">
                                      <p:cBhvr>
                                        <p:cTn id="28" dur="1000" fill="hold"/>
                                        <p:tgtEl>
                                          <p:spTgt spid="9"/>
                                        </p:tgtEl>
                                        <p:attrNameLst>
                                          <p:attrName>ppt_x</p:attrName>
                                        </p:attrNameLst>
                                      </p:cBhvr>
                                      <p:tavLst>
                                        <p:tav tm="0">
                                          <p:val>
                                            <p:strVal val="#ppt_x"/>
                                          </p:val>
                                        </p:tav>
                                        <p:tav tm="100000">
                                          <p:val>
                                            <p:strVal val="#ppt_x"/>
                                          </p:val>
                                        </p:tav>
                                      </p:tavLst>
                                    </p:anim>
                                    <p:anim calcmode="lin" valueType="num">
                                      <p:cBhvr>
                                        <p:cTn id="29" dur="1000" fill="hold"/>
                                        <p:tgtEl>
                                          <p:spTgt spid="9"/>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1000"/>
                                        <p:tgtEl>
                                          <p:spTgt spid="11"/>
                                        </p:tgtEl>
                                      </p:cBhvr>
                                    </p:animEffect>
                                    <p:anim calcmode="lin" valueType="num">
                                      <p:cBhvr>
                                        <p:cTn id="33" dur="1000" fill="hold"/>
                                        <p:tgtEl>
                                          <p:spTgt spid="11"/>
                                        </p:tgtEl>
                                        <p:attrNameLst>
                                          <p:attrName>ppt_x</p:attrName>
                                        </p:attrNameLst>
                                      </p:cBhvr>
                                      <p:tavLst>
                                        <p:tav tm="0">
                                          <p:val>
                                            <p:strVal val="#ppt_x"/>
                                          </p:val>
                                        </p:tav>
                                        <p:tav tm="100000">
                                          <p:val>
                                            <p:strVal val="#ppt_x"/>
                                          </p:val>
                                        </p:tav>
                                      </p:tavLst>
                                    </p:anim>
                                    <p:anim calcmode="lin" valueType="num">
                                      <p:cBhvr>
                                        <p:cTn id="34"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10">
                                            <p:txEl>
                                              <p:pRg st="1" end="1"/>
                                            </p:txEl>
                                          </p:spTgt>
                                        </p:tgtEl>
                                        <p:attrNameLst>
                                          <p:attrName>style.visibility</p:attrName>
                                        </p:attrNameLst>
                                      </p:cBhvr>
                                      <p:to>
                                        <p:strVal val="visible"/>
                                      </p:to>
                                    </p:set>
                                    <p:animEffect transition="in" filter="fade">
                                      <p:cBhvr>
                                        <p:cTn id="39" dur="500"/>
                                        <p:tgtEl>
                                          <p:spTgt spid="10">
                                            <p:txEl>
                                              <p:pRg st="1" end="1"/>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10">
                                            <p:txEl>
                                              <p:pRg st="2" end="2"/>
                                            </p:txEl>
                                          </p:spTgt>
                                        </p:tgtEl>
                                        <p:attrNameLst>
                                          <p:attrName>style.visibility</p:attrName>
                                        </p:attrNameLst>
                                      </p:cBhvr>
                                      <p:to>
                                        <p:strVal val="visible"/>
                                      </p:to>
                                    </p:set>
                                    <p:animEffect transition="in" filter="fade">
                                      <p:cBhvr>
                                        <p:cTn id="44" dur="500"/>
                                        <p:tgtEl>
                                          <p:spTgt spid="10">
                                            <p:txEl>
                                              <p:pRg st="2" end="2"/>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10">
                                            <p:txEl>
                                              <p:pRg st="3" end="3"/>
                                            </p:txEl>
                                          </p:spTgt>
                                        </p:tgtEl>
                                        <p:attrNameLst>
                                          <p:attrName>style.visibility</p:attrName>
                                        </p:attrNameLst>
                                      </p:cBhvr>
                                      <p:to>
                                        <p:strVal val="visible"/>
                                      </p:to>
                                    </p:set>
                                    <p:animEffect transition="in" filter="fade">
                                      <p:cBhvr>
                                        <p:cTn id="49" dur="500"/>
                                        <p:tgtEl>
                                          <p:spTgt spid="10">
                                            <p:txEl>
                                              <p:pRg st="3" end="3"/>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nodeType="clickEffect">
                                  <p:stCondLst>
                                    <p:cond delay="0"/>
                                  </p:stCondLst>
                                  <p:childTnLst>
                                    <p:set>
                                      <p:cBhvr>
                                        <p:cTn id="53" dur="1" fill="hold">
                                          <p:stCondLst>
                                            <p:cond delay="0"/>
                                          </p:stCondLst>
                                        </p:cTn>
                                        <p:tgtEl>
                                          <p:spTgt spid="10">
                                            <p:txEl>
                                              <p:pRg st="4" end="4"/>
                                            </p:txEl>
                                          </p:spTgt>
                                        </p:tgtEl>
                                        <p:attrNameLst>
                                          <p:attrName>style.visibility</p:attrName>
                                        </p:attrNameLst>
                                      </p:cBhvr>
                                      <p:to>
                                        <p:strVal val="visible"/>
                                      </p:to>
                                    </p:set>
                                    <p:animEffect transition="in" filter="fade">
                                      <p:cBhvr>
                                        <p:cTn id="54" dur="500"/>
                                        <p:tgtEl>
                                          <p:spTgt spid="10">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2" grpId="0"/>
      <p:bldP spid="11"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a:spLocks noGrp="1"/>
          </p:cNvSpPr>
          <p:nvPr>
            <p:ph type="title"/>
          </p:nvPr>
        </p:nvSpPr>
        <p:spPr>
          <a:xfrm>
            <a:off x="1916315" y="131079"/>
            <a:ext cx="7962648" cy="657727"/>
          </a:xfrm>
        </p:spPr>
        <p:txBody>
          <a:bodyPr/>
          <a:lstStyle/>
          <a:p>
            <a:pPr algn="l"/>
            <a:r>
              <a:rPr lang="zh-CN" altLang="en-US" sz="4000" dirty="0">
                <a:latin typeface="方正姚体" panose="02010601030101010101" pitchFamily="2" charset="-122"/>
                <a:ea typeface="方正姚体" panose="02010601030101010101" pitchFamily="2" charset="-122"/>
                <a:cs typeface="Times New Roman" panose="02020603050405020304" pitchFamily="18" charset="0"/>
              </a:rPr>
              <a:t>人工神经网络简介</a:t>
            </a:r>
            <a:endParaRPr lang="zh-CN" altLang="en-US" sz="4000" dirty="0">
              <a:latin typeface="方正姚体" panose="02010601030101010101" pitchFamily="2" charset="-122"/>
              <a:ea typeface="方正姚体" panose="02010601030101010101" pitchFamily="2" charset="-122"/>
              <a:cs typeface="Times New Roman" panose="02020603050405020304" pitchFamily="18" charset="0"/>
            </a:endParaRPr>
          </a:p>
        </p:txBody>
      </p:sp>
      <p:sp>
        <p:nvSpPr>
          <p:cNvPr id="32" name="矩形 31"/>
          <p:cNvSpPr/>
          <p:nvPr/>
        </p:nvSpPr>
        <p:spPr>
          <a:xfrm>
            <a:off x="2114676" y="1733515"/>
            <a:ext cx="7962648" cy="2637132"/>
          </a:xfrm>
          <a:prstGeom prst="rect">
            <a:avLst/>
          </a:prstGeom>
          <a:ln>
            <a:noFill/>
          </a:ln>
        </p:spPr>
        <p:txBody>
          <a:bodyPr wrap="square">
            <a:spAutoFit/>
          </a:bodyPr>
          <a:lstStyle/>
          <a:p>
            <a:pPr marL="323850" indent="-342900" algn="just">
              <a:lnSpc>
                <a:spcPct val="130000"/>
              </a:lnSpc>
              <a:buFont typeface="Wingdings" panose="05000000000000000000" pitchFamily="2" charset="2"/>
              <a:buChar char="Ø"/>
            </a:pPr>
            <a:r>
              <a:rPr lang="zh-CN" altLang="en-US" sz="2600" dirty="0">
                <a:solidFill>
                  <a:prstClr val="black"/>
                </a:solidFill>
                <a:latin typeface="Times New Roman" panose="02020603050405020304"/>
                <a:ea typeface="黑体" panose="02010609060101010101" charset="-122"/>
              </a:rPr>
              <a:t>感知机是一种人工神经网络，其结构与</a:t>
            </a:r>
            <a:r>
              <a:rPr lang="en-US" altLang="zh-CN" sz="2600" dirty="0">
                <a:solidFill>
                  <a:prstClr val="black"/>
                </a:solidFill>
                <a:latin typeface="Times New Roman" panose="02020603050405020304"/>
                <a:ea typeface="黑体" panose="02010609060101010101" charset="-122"/>
              </a:rPr>
              <a:t>M-P</a:t>
            </a:r>
            <a:r>
              <a:rPr lang="zh-CN" altLang="en-US" sz="2600" dirty="0">
                <a:solidFill>
                  <a:prstClr val="black"/>
                </a:solidFill>
                <a:latin typeface="Times New Roman" panose="02020603050405020304"/>
                <a:ea typeface="黑体" panose="02010609060101010101" charset="-122"/>
              </a:rPr>
              <a:t>模型基本一致。</a:t>
            </a:r>
            <a:endParaRPr lang="en-US" altLang="zh-CN" sz="2600" dirty="0">
              <a:solidFill>
                <a:prstClr val="black"/>
              </a:solidFill>
              <a:latin typeface="Times New Roman" panose="02020603050405020304"/>
              <a:ea typeface="黑体" panose="02010609060101010101" charset="-122"/>
            </a:endParaRPr>
          </a:p>
          <a:p>
            <a:pPr marL="323850" indent="-342900" algn="just">
              <a:lnSpc>
                <a:spcPct val="130000"/>
              </a:lnSpc>
              <a:buFont typeface="Wingdings" panose="05000000000000000000" pitchFamily="2" charset="2"/>
              <a:buChar char="Ø"/>
            </a:pPr>
            <a:r>
              <a:rPr lang="zh-CN" altLang="en-US" sz="2600" dirty="0">
                <a:solidFill>
                  <a:prstClr val="black"/>
                </a:solidFill>
                <a:latin typeface="Times New Roman" panose="02020603050405020304"/>
                <a:ea typeface="黑体" panose="02010609060101010101" charset="-122"/>
              </a:rPr>
              <a:t>包含输入数据，神经元处理层，输出数据三个部分。由于处理数据的神经元只有一层，因此也称为单层感知机。</a:t>
            </a:r>
            <a:endParaRPr lang="zh-CN" altLang="en-US" sz="2600" dirty="0">
              <a:solidFill>
                <a:prstClr val="black"/>
              </a:solidFill>
              <a:latin typeface="Times New Roman" panose="02020603050405020304"/>
              <a:ea typeface="黑体" panose="02010609060101010101" charset="-122"/>
            </a:endParaRPr>
          </a:p>
        </p:txBody>
      </p:sp>
      <p:sp>
        <p:nvSpPr>
          <p:cNvPr id="5" name="文本框 4"/>
          <p:cNvSpPr txBox="1"/>
          <p:nvPr/>
        </p:nvSpPr>
        <p:spPr>
          <a:xfrm>
            <a:off x="2048309" y="881503"/>
            <a:ext cx="6746647" cy="707694"/>
          </a:xfrm>
          <a:prstGeom prst="rect">
            <a:avLst/>
          </a:prstGeom>
          <a:noFill/>
        </p:spPr>
        <p:txBody>
          <a:bodyPr wrap="square">
            <a:spAutoFit/>
          </a:bodyPr>
          <a:lstStyle/>
          <a:p>
            <a:pPr marL="0" lvl="1">
              <a:lnSpc>
                <a:spcPct val="150000"/>
              </a:lnSpc>
              <a:spcAft>
                <a:spcPts val="600"/>
              </a:spcAft>
            </a:pPr>
            <a:r>
              <a:rPr lang="zh-CN" altLang="en-US" sz="3200" dirty="0">
                <a:solidFill>
                  <a:srgbClr val="C00000"/>
                </a:solidFill>
                <a:latin typeface="方正姚体" panose="02010601030101010101" pitchFamily="2" charset="-122"/>
                <a:ea typeface="方正姚体" panose="02010601030101010101" pitchFamily="2" charset="-122"/>
                <a:cs typeface="+mn-ea"/>
                <a:sym typeface="+mn-lt"/>
              </a:rPr>
              <a:t>感知机模型</a:t>
            </a:r>
            <a:endParaRPr lang="zh-CN" altLang="en-US" sz="3200" dirty="0">
              <a:solidFill>
                <a:srgbClr val="C00000"/>
              </a:solidFill>
              <a:latin typeface="方正姚体" panose="02010601030101010101" pitchFamily="2" charset="-122"/>
              <a:ea typeface="方正姚体" panose="02010601030101010101" pitchFamily="2" charset="-122"/>
              <a:cs typeface="+mn-ea"/>
              <a:sym typeface="+mn-lt"/>
            </a:endParaRPr>
          </a:p>
        </p:txBody>
      </p:sp>
      <p:pic>
        <p:nvPicPr>
          <p:cNvPr id="7" name="图片 50"/>
          <p:cNvPicPr>
            <a:picLocks noChangeAspect="1"/>
          </p:cNvPicPr>
          <p:nvPr/>
        </p:nvPicPr>
        <p:blipFill>
          <a:blip r:embed="rId1"/>
          <a:srcRect l="1008" t="7357" b="6299"/>
          <a:stretch>
            <a:fillRect/>
          </a:stretch>
        </p:blipFill>
        <p:spPr>
          <a:xfrm>
            <a:off x="4056743" y="3995848"/>
            <a:ext cx="4642813" cy="2492038"/>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50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750"/>
                                        <p:tgtEl>
                                          <p:spTgt spid="5"/>
                                        </p:tgtEl>
                                      </p:cBhvr>
                                    </p:animEffect>
                                  </p:childTnLst>
                                </p:cTn>
                              </p:par>
                            </p:childTnLst>
                          </p:cTn>
                        </p:par>
                        <p:par>
                          <p:cTn id="8" fill="hold">
                            <p:stCondLst>
                              <p:cond delay="1500"/>
                            </p:stCondLst>
                            <p:childTnLst>
                              <p:par>
                                <p:cTn id="9" presetID="10" presetClass="entr" presetSubtype="0" fill="hold" nodeType="afterEffect">
                                  <p:stCondLst>
                                    <p:cond delay="500"/>
                                  </p:stCondLst>
                                  <p:childTnLst>
                                    <p:set>
                                      <p:cBhvr>
                                        <p:cTn id="10" dur="1" fill="hold">
                                          <p:stCondLst>
                                            <p:cond delay="0"/>
                                          </p:stCondLst>
                                        </p:cTn>
                                        <p:tgtEl>
                                          <p:spTgt spid="32">
                                            <p:txEl>
                                              <p:pRg st="0" end="0"/>
                                            </p:txEl>
                                          </p:spTgt>
                                        </p:tgtEl>
                                        <p:attrNameLst>
                                          <p:attrName>style.visibility</p:attrName>
                                        </p:attrNameLst>
                                      </p:cBhvr>
                                      <p:to>
                                        <p:strVal val="visible"/>
                                      </p:to>
                                    </p:set>
                                    <p:animEffect transition="in" filter="fade">
                                      <p:cBhvr>
                                        <p:cTn id="11" dur="500"/>
                                        <p:tgtEl>
                                          <p:spTgt spid="32">
                                            <p:txEl>
                                              <p:pRg st="0" end="0"/>
                                            </p:txEl>
                                          </p:spTgt>
                                        </p:tgtEl>
                                      </p:cBhvr>
                                    </p:animEffect>
                                  </p:childTnLst>
                                </p:cTn>
                              </p:par>
                            </p:childTnLst>
                          </p:cTn>
                        </p:par>
                        <p:par>
                          <p:cTn id="12" fill="hold">
                            <p:stCondLst>
                              <p:cond delay="2500"/>
                            </p:stCondLst>
                            <p:childTnLst>
                              <p:par>
                                <p:cTn id="13" presetID="10" presetClass="entr" presetSubtype="0" fill="hold" nodeType="afterEffect">
                                  <p:stCondLst>
                                    <p:cond delay="500"/>
                                  </p:stCondLst>
                                  <p:childTnLst>
                                    <p:set>
                                      <p:cBhvr>
                                        <p:cTn id="14" dur="1" fill="hold">
                                          <p:stCondLst>
                                            <p:cond delay="0"/>
                                          </p:stCondLst>
                                        </p:cTn>
                                        <p:tgtEl>
                                          <p:spTgt spid="32">
                                            <p:txEl>
                                              <p:pRg st="1" end="1"/>
                                            </p:txEl>
                                          </p:spTgt>
                                        </p:tgtEl>
                                        <p:attrNameLst>
                                          <p:attrName>style.visibility</p:attrName>
                                        </p:attrNameLst>
                                      </p:cBhvr>
                                      <p:to>
                                        <p:strVal val="visible"/>
                                      </p:to>
                                    </p:set>
                                    <p:animEffect transition="in" filter="fade">
                                      <p:cBhvr>
                                        <p:cTn id="15" dur="500"/>
                                        <p:tgtEl>
                                          <p:spTgt spid="32">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1000"/>
                                        <p:tgtEl>
                                          <p:spTgt spid="7"/>
                                        </p:tgtEl>
                                      </p:cBhvr>
                                    </p:animEffect>
                                    <p:anim calcmode="lin" valueType="num">
                                      <p:cBhvr>
                                        <p:cTn id="21" dur="1000" fill="hold"/>
                                        <p:tgtEl>
                                          <p:spTgt spid="7"/>
                                        </p:tgtEl>
                                        <p:attrNameLst>
                                          <p:attrName>ppt_x</p:attrName>
                                        </p:attrNameLst>
                                      </p:cBhvr>
                                      <p:tavLst>
                                        <p:tav tm="0">
                                          <p:val>
                                            <p:strVal val="#ppt_x"/>
                                          </p:val>
                                        </p:tav>
                                        <p:tav tm="100000">
                                          <p:val>
                                            <p:strVal val="#ppt_x"/>
                                          </p:val>
                                        </p:tav>
                                      </p:tavLst>
                                    </p:anim>
                                    <p:anim calcmode="lin" valueType="num">
                                      <p:cBhvr>
                                        <p:cTn id="22"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a:spLocks noGrp="1"/>
          </p:cNvSpPr>
          <p:nvPr>
            <p:ph type="title"/>
          </p:nvPr>
        </p:nvSpPr>
        <p:spPr>
          <a:xfrm>
            <a:off x="1916315" y="131079"/>
            <a:ext cx="7962648" cy="657727"/>
          </a:xfrm>
        </p:spPr>
        <p:txBody>
          <a:bodyPr/>
          <a:lstStyle/>
          <a:p>
            <a:pPr algn="l"/>
            <a:r>
              <a:rPr lang="zh-CN" altLang="en-US" sz="4000" dirty="0">
                <a:latin typeface="方正姚体" panose="02010601030101010101" pitchFamily="2" charset="-122"/>
                <a:ea typeface="方正姚体" panose="02010601030101010101" pitchFamily="2" charset="-122"/>
                <a:cs typeface="Times New Roman" panose="02020603050405020304" pitchFamily="18" charset="0"/>
              </a:rPr>
              <a:t>人工神经网络简介</a:t>
            </a:r>
            <a:endParaRPr lang="zh-CN" altLang="en-US" sz="4000" dirty="0">
              <a:latin typeface="方正姚体" panose="02010601030101010101" pitchFamily="2" charset="-122"/>
              <a:ea typeface="方正姚体" panose="02010601030101010101" pitchFamily="2" charset="-122"/>
              <a:cs typeface="Times New Roman" panose="02020603050405020304" pitchFamily="18" charset="0"/>
            </a:endParaRPr>
          </a:p>
        </p:txBody>
      </p:sp>
      <p:sp>
        <p:nvSpPr>
          <p:cNvPr id="32" name="矩形 31"/>
          <p:cNvSpPr/>
          <p:nvPr/>
        </p:nvSpPr>
        <p:spPr>
          <a:xfrm>
            <a:off x="2114676" y="1733516"/>
            <a:ext cx="7962648" cy="2157001"/>
          </a:xfrm>
          <a:prstGeom prst="rect">
            <a:avLst/>
          </a:prstGeom>
          <a:ln>
            <a:noFill/>
          </a:ln>
        </p:spPr>
        <p:txBody>
          <a:bodyPr wrap="square">
            <a:spAutoFit/>
          </a:bodyPr>
          <a:lstStyle/>
          <a:p>
            <a:pPr marL="323850" indent="-342900" algn="just">
              <a:lnSpc>
                <a:spcPct val="130000"/>
              </a:lnSpc>
              <a:buFont typeface="Wingdings" panose="05000000000000000000" pitchFamily="2" charset="2"/>
              <a:buChar char="Ø"/>
            </a:pPr>
            <a:r>
              <a:rPr lang="zh-CN" altLang="en-US" sz="2600" dirty="0">
                <a:solidFill>
                  <a:prstClr val="black"/>
                </a:solidFill>
                <a:latin typeface="Times New Roman" panose="02020603050405020304"/>
                <a:ea typeface="黑体" panose="02010609060101010101" charset="-122"/>
              </a:rPr>
              <a:t>感知机模型中，把偏置进行了等价替换：增加一个值为</a:t>
            </a:r>
            <a:r>
              <a:rPr lang="en-US" altLang="zh-CN" sz="2600" dirty="0">
                <a:solidFill>
                  <a:prstClr val="black"/>
                </a:solidFill>
                <a:latin typeface="Times New Roman" panose="02020603050405020304"/>
                <a:ea typeface="黑体" panose="02010609060101010101" charset="-122"/>
              </a:rPr>
              <a:t>1</a:t>
            </a:r>
            <a:r>
              <a:rPr lang="zh-CN" altLang="en-US" sz="2600" dirty="0">
                <a:solidFill>
                  <a:prstClr val="black"/>
                </a:solidFill>
                <a:latin typeface="Times New Roman" panose="02020603050405020304"/>
                <a:ea typeface="黑体" panose="02010609060101010101" charset="-122"/>
              </a:rPr>
              <a:t>的固定输入，对其设置权值</a:t>
            </a:r>
            <a:r>
              <a:rPr lang="en-US" altLang="zh-CN" sz="2600" i="1" dirty="0">
                <a:solidFill>
                  <a:prstClr val="black"/>
                </a:solidFill>
                <a:latin typeface="Times New Roman" panose="02020603050405020304"/>
                <a:ea typeface="黑体" panose="02010609060101010101" charset="-122"/>
              </a:rPr>
              <a:t>b</a:t>
            </a:r>
            <a:r>
              <a:rPr lang="zh-CN" altLang="en-US" sz="2600" dirty="0">
                <a:solidFill>
                  <a:prstClr val="black"/>
                </a:solidFill>
                <a:latin typeface="Times New Roman" panose="02020603050405020304"/>
                <a:ea typeface="黑体" panose="02010609060101010101" charset="-122"/>
              </a:rPr>
              <a:t>。在神经元进行求和运算时可以等价地用</a:t>
            </a:r>
            <a:r>
              <a:rPr lang="en-US" altLang="zh-CN" sz="2600" dirty="0">
                <a:solidFill>
                  <a:prstClr val="black"/>
                </a:solidFill>
                <a:latin typeface="Times New Roman" panose="02020603050405020304"/>
                <a:ea typeface="黑体" panose="02010609060101010101" charset="-122"/>
              </a:rPr>
              <a:t>1</a:t>
            </a:r>
            <a:r>
              <a:rPr lang="en-US" altLang="zh-CN" sz="2600" i="1" dirty="0">
                <a:solidFill>
                  <a:prstClr val="black"/>
                </a:solidFill>
                <a:latin typeface="Times New Roman" panose="02020603050405020304"/>
                <a:ea typeface="黑体" panose="02010609060101010101" charset="-122"/>
              </a:rPr>
              <a:t>b</a:t>
            </a:r>
            <a:r>
              <a:rPr lang="zh-CN" altLang="en-US" sz="2600" dirty="0">
                <a:solidFill>
                  <a:prstClr val="black"/>
                </a:solidFill>
                <a:latin typeface="Times New Roman" panose="02020603050405020304"/>
                <a:ea typeface="黑体" panose="02010609060101010101" charset="-122"/>
              </a:rPr>
              <a:t>替换原</a:t>
            </a:r>
            <a:r>
              <a:rPr lang="en-US" altLang="zh-CN" sz="2600" dirty="0">
                <a:solidFill>
                  <a:prstClr val="black"/>
                </a:solidFill>
                <a:latin typeface="Times New Roman" panose="02020603050405020304"/>
                <a:ea typeface="黑体" panose="02010609060101010101" charset="-122"/>
              </a:rPr>
              <a:t>M-P</a:t>
            </a:r>
            <a:r>
              <a:rPr lang="zh-CN" altLang="en-US" sz="2600" dirty="0">
                <a:solidFill>
                  <a:prstClr val="black"/>
                </a:solidFill>
                <a:latin typeface="Times New Roman" panose="02020603050405020304"/>
                <a:ea typeface="黑体" panose="02010609060101010101" charset="-122"/>
              </a:rPr>
              <a:t>模型公式中的减去阈值</a:t>
            </a:r>
            <a:r>
              <a:rPr lang="en-US" altLang="zh-CN" sz="2800" i="1" dirty="0">
                <a:solidFill>
                  <a:srgbClr val="000000"/>
                </a:solidFill>
                <a:latin typeface="Times New Roman" panose="02020603050405020304"/>
                <a:ea typeface="宋体" panose="02010600030101010101" pitchFamily="2" charset="-122"/>
              </a:rPr>
              <a:t>θ</a:t>
            </a:r>
            <a:r>
              <a:rPr lang="zh-CN" altLang="en-US" sz="2600" dirty="0">
                <a:solidFill>
                  <a:prstClr val="black"/>
                </a:solidFill>
                <a:latin typeface="Times New Roman" panose="02020603050405020304"/>
                <a:ea typeface="黑体" panose="02010609060101010101" charset="-122"/>
              </a:rPr>
              <a:t>。</a:t>
            </a:r>
            <a:endParaRPr lang="zh-CN" altLang="en-US" sz="2600" dirty="0">
              <a:solidFill>
                <a:prstClr val="black"/>
              </a:solidFill>
              <a:latin typeface="Times New Roman" panose="02020603050405020304"/>
              <a:ea typeface="黑体" panose="02010609060101010101" charset="-122"/>
            </a:endParaRPr>
          </a:p>
        </p:txBody>
      </p:sp>
      <p:sp>
        <p:nvSpPr>
          <p:cNvPr id="5" name="文本框 4"/>
          <p:cNvSpPr txBox="1"/>
          <p:nvPr/>
        </p:nvSpPr>
        <p:spPr>
          <a:xfrm>
            <a:off x="2048309" y="881503"/>
            <a:ext cx="6746647" cy="707694"/>
          </a:xfrm>
          <a:prstGeom prst="rect">
            <a:avLst/>
          </a:prstGeom>
          <a:noFill/>
        </p:spPr>
        <p:txBody>
          <a:bodyPr wrap="square">
            <a:spAutoFit/>
          </a:bodyPr>
          <a:lstStyle/>
          <a:p>
            <a:pPr marL="0" lvl="1">
              <a:lnSpc>
                <a:spcPct val="150000"/>
              </a:lnSpc>
              <a:spcAft>
                <a:spcPts val="600"/>
              </a:spcAft>
            </a:pPr>
            <a:r>
              <a:rPr lang="zh-CN" altLang="en-US" sz="3200" dirty="0">
                <a:solidFill>
                  <a:srgbClr val="C00000"/>
                </a:solidFill>
                <a:latin typeface="方正姚体" panose="02010601030101010101" pitchFamily="2" charset="-122"/>
                <a:ea typeface="方正姚体" panose="02010601030101010101" pitchFamily="2" charset="-122"/>
                <a:cs typeface="+mn-ea"/>
                <a:sym typeface="+mn-lt"/>
              </a:rPr>
              <a:t>感知机模型</a:t>
            </a:r>
            <a:endParaRPr lang="zh-CN" altLang="en-US" sz="3200" dirty="0">
              <a:solidFill>
                <a:srgbClr val="C00000"/>
              </a:solidFill>
              <a:latin typeface="方正姚体" panose="02010601030101010101" pitchFamily="2" charset="-122"/>
              <a:ea typeface="方正姚体" panose="02010601030101010101" pitchFamily="2" charset="-122"/>
              <a:cs typeface="+mn-ea"/>
              <a:sym typeface="+mn-lt"/>
            </a:endParaRPr>
          </a:p>
        </p:txBody>
      </p:sp>
      <p:graphicFrame>
        <p:nvGraphicFramePr>
          <p:cNvPr id="9" name="对象 -2147482612"/>
          <p:cNvGraphicFramePr>
            <a:graphicFrameLocks noChangeAspect="1"/>
          </p:cNvGraphicFramePr>
          <p:nvPr/>
        </p:nvGraphicFramePr>
        <p:xfrm>
          <a:off x="4290287" y="4034834"/>
          <a:ext cx="2983480" cy="1059680"/>
        </p:xfrm>
        <a:graphic>
          <a:graphicData uri="http://schemas.openxmlformats.org/presentationml/2006/ole">
            <mc:AlternateContent xmlns:mc="http://schemas.openxmlformats.org/markup-compatibility/2006">
              <mc:Choice xmlns:v="urn:schemas-microsoft-com:vml" Requires="v">
                <p:oleObj spid="_x0000_s2050" name="" r:id="rId1" imgW="1206500" imgH="431800" progId="Equation.3">
                  <p:embed/>
                </p:oleObj>
              </mc:Choice>
              <mc:Fallback>
                <p:oleObj name="" r:id="rId1" imgW="1206500" imgH="431800" progId="Equation.3">
                  <p:embed/>
                  <p:pic>
                    <p:nvPicPr>
                      <p:cNvPr id="0" name="对象 -2147482612"/>
                      <p:cNvPicPr/>
                      <p:nvPr/>
                    </p:nvPicPr>
                    <p:blipFill>
                      <a:blip r:embed="rId2"/>
                      <a:stretch>
                        <a:fillRect/>
                      </a:stretch>
                    </p:blipFill>
                    <p:spPr>
                      <a:xfrm>
                        <a:off x="4290287" y="4034834"/>
                        <a:ext cx="2983480" cy="1059680"/>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500"/>
                                  </p:stCondLst>
                                  <p:childTnLst>
                                    <p:set>
                                      <p:cBhvr>
                                        <p:cTn id="6" dur="1" fill="hold">
                                          <p:stCondLst>
                                            <p:cond delay="0"/>
                                          </p:stCondLst>
                                        </p:cTn>
                                        <p:tgtEl>
                                          <p:spTgt spid="32">
                                            <p:txEl>
                                              <p:pRg st="0" end="0"/>
                                            </p:txEl>
                                          </p:spTgt>
                                        </p:tgtEl>
                                        <p:attrNameLst>
                                          <p:attrName>style.visibility</p:attrName>
                                        </p:attrNameLst>
                                      </p:cBhvr>
                                      <p:to>
                                        <p:strVal val="visible"/>
                                      </p:to>
                                    </p:set>
                                    <p:animEffect transition="in" filter="fade">
                                      <p:cBhvr>
                                        <p:cTn id="7" dur="500"/>
                                        <p:tgtEl>
                                          <p:spTgt spid="32">
                                            <p:txEl>
                                              <p:pRg st="0" end="0"/>
                                            </p:txEl>
                                          </p:spTgt>
                                        </p:tgtEl>
                                      </p:cBhvr>
                                    </p:animEffect>
                                  </p:childTnLst>
                                </p:cTn>
                              </p:par>
                            </p:childTnLst>
                          </p:cTn>
                        </p:par>
                        <p:par>
                          <p:cTn id="8" fill="hold">
                            <p:stCondLst>
                              <p:cond delay="1000"/>
                            </p:stCondLst>
                            <p:childTnLst>
                              <p:par>
                                <p:cTn id="9" presetID="10" presetClass="entr" presetSubtype="0" fill="hold"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75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a:spLocks noGrp="1"/>
          </p:cNvSpPr>
          <p:nvPr>
            <p:ph type="title"/>
          </p:nvPr>
        </p:nvSpPr>
        <p:spPr>
          <a:xfrm>
            <a:off x="1916315" y="131079"/>
            <a:ext cx="7962648" cy="657727"/>
          </a:xfrm>
        </p:spPr>
        <p:txBody>
          <a:bodyPr/>
          <a:lstStyle/>
          <a:p>
            <a:pPr algn="l"/>
            <a:r>
              <a:rPr lang="zh-CN" altLang="en-US" sz="4000" dirty="0">
                <a:latin typeface="方正姚体" panose="02010601030101010101" pitchFamily="2" charset="-122"/>
                <a:ea typeface="方正姚体" panose="02010601030101010101" pitchFamily="2" charset="-122"/>
                <a:cs typeface="Times New Roman" panose="02020603050405020304" pitchFamily="18" charset="0"/>
              </a:rPr>
              <a:t>人工神经网络简介</a:t>
            </a:r>
            <a:endParaRPr lang="zh-CN" altLang="en-US" sz="4000" dirty="0">
              <a:latin typeface="方正姚体" panose="02010601030101010101" pitchFamily="2" charset="-122"/>
              <a:ea typeface="方正姚体" panose="02010601030101010101" pitchFamily="2" charset="-122"/>
              <a:cs typeface="Times New Roman" panose="02020603050405020304" pitchFamily="18" charset="0"/>
            </a:endParaRPr>
          </a:p>
        </p:txBody>
      </p:sp>
      <p:sp>
        <p:nvSpPr>
          <p:cNvPr id="32" name="矩形 31"/>
          <p:cNvSpPr/>
          <p:nvPr/>
        </p:nvSpPr>
        <p:spPr>
          <a:xfrm>
            <a:off x="2114676" y="1652401"/>
            <a:ext cx="4969467" cy="4886338"/>
          </a:xfrm>
          <a:prstGeom prst="rect">
            <a:avLst/>
          </a:prstGeom>
          <a:ln>
            <a:noFill/>
          </a:ln>
        </p:spPr>
        <p:txBody>
          <a:bodyPr wrap="square">
            <a:spAutoFit/>
          </a:bodyPr>
          <a:lstStyle/>
          <a:p>
            <a:pPr marL="323850" indent="-342900" algn="just">
              <a:lnSpc>
                <a:spcPct val="130000"/>
              </a:lnSpc>
              <a:buFont typeface="Wingdings" panose="05000000000000000000" pitchFamily="2" charset="2"/>
              <a:buChar char="Ø"/>
            </a:pPr>
            <a:r>
              <a:rPr lang="zh-CN" altLang="en-US" sz="2200" dirty="0">
                <a:solidFill>
                  <a:prstClr val="black"/>
                </a:solidFill>
                <a:latin typeface="Times New Roman" panose="02020603050405020304"/>
                <a:ea typeface="黑体" panose="02010609060101010101" charset="-122"/>
              </a:rPr>
              <a:t>右图的感知机模型在</a:t>
            </a:r>
            <a:r>
              <a:rPr lang="en-US" altLang="zh-CN" sz="2200" i="1" dirty="0">
                <a:solidFill>
                  <a:prstClr val="black"/>
                </a:solidFill>
                <a:latin typeface="Times New Roman" panose="02020603050405020304"/>
                <a:ea typeface="黑体" panose="02010609060101010101" charset="-122"/>
              </a:rPr>
              <a:t>w</a:t>
            </a:r>
            <a:r>
              <a:rPr lang="en-US" altLang="zh-CN" sz="2200" baseline="-25000" dirty="0">
                <a:solidFill>
                  <a:prstClr val="black"/>
                </a:solidFill>
                <a:latin typeface="Times New Roman" panose="02020603050405020304"/>
                <a:ea typeface="黑体" panose="02010609060101010101" charset="-122"/>
              </a:rPr>
              <a:t>1</a:t>
            </a:r>
            <a:r>
              <a:rPr lang="en-US" altLang="zh-CN" sz="2200" dirty="0">
                <a:solidFill>
                  <a:prstClr val="black"/>
                </a:solidFill>
                <a:latin typeface="Times New Roman" panose="02020603050405020304"/>
                <a:ea typeface="黑体" panose="02010609060101010101" charset="-122"/>
              </a:rPr>
              <a:t>=0.5</a:t>
            </a:r>
            <a:r>
              <a:rPr lang="zh-CN" altLang="en-US" sz="2200" dirty="0">
                <a:solidFill>
                  <a:prstClr val="black"/>
                </a:solidFill>
                <a:latin typeface="Times New Roman" panose="02020603050405020304"/>
                <a:ea typeface="黑体" panose="02010609060101010101" charset="-122"/>
              </a:rPr>
              <a:t>，</a:t>
            </a:r>
            <a:r>
              <a:rPr lang="en-US" altLang="zh-CN" sz="2200" i="1" dirty="0">
                <a:solidFill>
                  <a:prstClr val="black"/>
                </a:solidFill>
                <a:latin typeface="Times New Roman" panose="02020603050405020304"/>
                <a:ea typeface="黑体" panose="02010609060101010101" charset="-122"/>
              </a:rPr>
              <a:t>w</a:t>
            </a:r>
            <a:r>
              <a:rPr lang="en-US" altLang="zh-CN" sz="2200" baseline="-25000" dirty="0">
                <a:solidFill>
                  <a:prstClr val="black"/>
                </a:solidFill>
                <a:latin typeface="Times New Roman" panose="02020603050405020304"/>
                <a:ea typeface="黑体" panose="02010609060101010101" charset="-122"/>
              </a:rPr>
              <a:t>2</a:t>
            </a:r>
            <a:r>
              <a:rPr lang="en-US" altLang="zh-CN" sz="2200" dirty="0">
                <a:solidFill>
                  <a:prstClr val="black"/>
                </a:solidFill>
                <a:latin typeface="Times New Roman" panose="02020603050405020304"/>
                <a:ea typeface="黑体" panose="02010609060101010101" charset="-122"/>
              </a:rPr>
              <a:t>=0.5</a:t>
            </a:r>
            <a:r>
              <a:rPr lang="zh-CN" altLang="en-US" sz="2200" dirty="0">
                <a:solidFill>
                  <a:prstClr val="black"/>
                </a:solidFill>
                <a:latin typeface="Times New Roman" panose="02020603050405020304"/>
                <a:ea typeface="黑体" panose="02010609060101010101" charset="-122"/>
              </a:rPr>
              <a:t>，</a:t>
            </a:r>
            <a:r>
              <a:rPr lang="en-US" altLang="zh-CN" sz="2200" i="1" dirty="0">
                <a:solidFill>
                  <a:prstClr val="black"/>
                </a:solidFill>
                <a:latin typeface="Times New Roman" panose="02020603050405020304"/>
                <a:ea typeface="黑体" panose="02010609060101010101" charset="-122"/>
              </a:rPr>
              <a:t>b</a:t>
            </a:r>
            <a:r>
              <a:rPr lang="en-US" altLang="zh-CN" sz="2200" dirty="0">
                <a:solidFill>
                  <a:prstClr val="black"/>
                </a:solidFill>
                <a:latin typeface="Times New Roman" panose="02020603050405020304"/>
                <a:ea typeface="黑体" panose="02010609060101010101" charset="-122"/>
              </a:rPr>
              <a:t>=-0.8</a:t>
            </a:r>
            <a:r>
              <a:rPr lang="zh-CN" altLang="en-US" sz="2200" dirty="0">
                <a:solidFill>
                  <a:prstClr val="black"/>
                </a:solidFill>
                <a:latin typeface="Times New Roman" panose="02020603050405020304"/>
                <a:ea typeface="黑体" panose="02010609060101010101" charset="-122"/>
              </a:rPr>
              <a:t>时实现逻辑与门电路计算。</a:t>
            </a:r>
            <a:endParaRPr lang="en-US" altLang="zh-CN" sz="2200" dirty="0">
              <a:solidFill>
                <a:prstClr val="black"/>
              </a:solidFill>
              <a:latin typeface="Times New Roman" panose="02020603050405020304"/>
              <a:ea typeface="黑体" panose="02010609060101010101" charset="-122"/>
            </a:endParaRPr>
          </a:p>
          <a:p>
            <a:pPr marL="323850" indent="-342900" algn="just">
              <a:lnSpc>
                <a:spcPct val="130000"/>
              </a:lnSpc>
              <a:buFont typeface="Wingdings" panose="05000000000000000000" pitchFamily="2" charset="2"/>
              <a:buChar char="Ø"/>
            </a:pPr>
            <a:r>
              <a:rPr lang="zh-CN" altLang="en-US" sz="2200" dirty="0">
                <a:solidFill>
                  <a:prstClr val="black"/>
                </a:solidFill>
                <a:latin typeface="Times New Roman" panose="02020603050405020304"/>
                <a:ea typeface="黑体" panose="02010609060101010101" charset="-122"/>
              </a:rPr>
              <a:t>与门电路的计算可看作是把平面中</a:t>
            </a:r>
            <a:r>
              <a:rPr lang="en-US" altLang="zh-CN" sz="2200" dirty="0">
                <a:solidFill>
                  <a:prstClr val="black"/>
                </a:solidFill>
                <a:latin typeface="Times New Roman" panose="02020603050405020304"/>
                <a:ea typeface="黑体" panose="02010609060101010101" charset="-122"/>
              </a:rPr>
              <a:t>4</a:t>
            </a:r>
            <a:r>
              <a:rPr lang="zh-CN" altLang="en-US" sz="2200" dirty="0">
                <a:solidFill>
                  <a:prstClr val="black"/>
                </a:solidFill>
                <a:latin typeface="Times New Roman" panose="02020603050405020304"/>
                <a:ea typeface="黑体" panose="02010609060101010101" charset="-122"/>
              </a:rPr>
              <a:t>个点</a:t>
            </a:r>
            <a:r>
              <a:rPr lang="en-US" altLang="zh-CN" sz="2200" dirty="0">
                <a:solidFill>
                  <a:prstClr val="black"/>
                </a:solidFill>
                <a:latin typeface="Times New Roman" panose="02020603050405020304"/>
                <a:ea typeface="黑体" panose="02010609060101010101" charset="-122"/>
              </a:rPr>
              <a:t>(1,1), (1,0), (0,1), (0,0)</a:t>
            </a:r>
            <a:r>
              <a:rPr lang="zh-CN" altLang="en-US" sz="2200" dirty="0">
                <a:solidFill>
                  <a:prstClr val="black"/>
                </a:solidFill>
                <a:latin typeface="Times New Roman" panose="02020603050405020304"/>
                <a:ea typeface="黑体" panose="02010609060101010101" charset="-122"/>
              </a:rPr>
              <a:t>分为</a:t>
            </a:r>
            <a:r>
              <a:rPr lang="en-US" altLang="zh-CN" sz="2200" dirty="0">
                <a:solidFill>
                  <a:prstClr val="black"/>
                </a:solidFill>
                <a:latin typeface="Times New Roman" panose="02020603050405020304"/>
                <a:ea typeface="黑体" panose="02010609060101010101" charset="-122"/>
              </a:rPr>
              <a:t>2</a:t>
            </a:r>
            <a:r>
              <a:rPr lang="zh-CN" altLang="en-US" sz="2200" dirty="0">
                <a:solidFill>
                  <a:prstClr val="black"/>
                </a:solidFill>
                <a:latin typeface="Times New Roman" panose="02020603050405020304"/>
                <a:ea typeface="黑体" panose="02010609060101010101" charset="-122"/>
              </a:rPr>
              <a:t>类：</a:t>
            </a:r>
            <a:r>
              <a:rPr lang="en-US" altLang="zh-CN" sz="2200" dirty="0">
                <a:solidFill>
                  <a:prstClr val="black"/>
                </a:solidFill>
                <a:latin typeface="Times New Roman" panose="02020603050405020304"/>
                <a:ea typeface="黑体" panose="02010609060101010101" charset="-122"/>
              </a:rPr>
              <a:t>(1,1)</a:t>
            </a:r>
            <a:r>
              <a:rPr lang="zh-CN" altLang="en-US" sz="2200" dirty="0">
                <a:solidFill>
                  <a:prstClr val="black"/>
                </a:solidFill>
                <a:latin typeface="Times New Roman" panose="02020603050405020304"/>
                <a:ea typeface="黑体" panose="02010609060101010101" charset="-122"/>
              </a:rPr>
              <a:t>属于一类，其他三个点属于一类（通过输出值</a:t>
            </a:r>
            <a:r>
              <a:rPr lang="en-US" altLang="zh-CN" sz="2200" dirty="0">
                <a:solidFill>
                  <a:prstClr val="black"/>
                </a:solidFill>
                <a:latin typeface="Times New Roman" panose="02020603050405020304"/>
                <a:ea typeface="黑体" panose="02010609060101010101" charset="-122"/>
              </a:rPr>
              <a:t>y=1</a:t>
            </a:r>
            <a:r>
              <a:rPr lang="zh-CN" altLang="en-US" sz="2200" dirty="0">
                <a:solidFill>
                  <a:prstClr val="black"/>
                </a:solidFill>
                <a:latin typeface="Times New Roman" panose="02020603050405020304"/>
                <a:ea typeface="黑体" panose="02010609060101010101" charset="-122"/>
              </a:rPr>
              <a:t>，</a:t>
            </a:r>
            <a:r>
              <a:rPr lang="en-US" altLang="zh-CN" sz="2200" i="1" dirty="0">
                <a:solidFill>
                  <a:prstClr val="black"/>
                </a:solidFill>
                <a:latin typeface="Times New Roman" panose="02020603050405020304"/>
                <a:ea typeface="黑体" panose="02010609060101010101" charset="-122"/>
              </a:rPr>
              <a:t>y</a:t>
            </a:r>
            <a:r>
              <a:rPr lang="en-US" altLang="zh-CN" sz="2200" dirty="0">
                <a:solidFill>
                  <a:prstClr val="black"/>
                </a:solidFill>
                <a:latin typeface="Times New Roman" panose="02020603050405020304"/>
                <a:ea typeface="黑体" panose="02010609060101010101" charset="-122"/>
              </a:rPr>
              <a:t>=0</a:t>
            </a:r>
            <a:r>
              <a:rPr lang="zh-CN" altLang="en-US" sz="2200" dirty="0">
                <a:solidFill>
                  <a:prstClr val="black"/>
                </a:solidFill>
                <a:latin typeface="Times New Roman" panose="02020603050405020304"/>
                <a:ea typeface="黑体" panose="02010609060101010101" charset="-122"/>
              </a:rPr>
              <a:t>分类）。而感知机对输入数据的处理，可以理解为平面中划分这两个类别的一条直线 </a:t>
            </a:r>
            <a:r>
              <a:rPr lang="en-US" altLang="zh-CN" sz="2200" dirty="0">
                <a:solidFill>
                  <a:prstClr val="black"/>
                </a:solidFill>
                <a:latin typeface="Times New Roman" panose="02020603050405020304"/>
                <a:ea typeface="黑体" panose="02010609060101010101" charset="-122"/>
              </a:rPr>
              <a:t>(L: 0.5*1+0.5*2-0.8=0) </a:t>
            </a:r>
            <a:r>
              <a:rPr lang="zh-CN" altLang="en-US" sz="2200" dirty="0">
                <a:solidFill>
                  <a:prstClr val="black"/>
                </a:solidFill>
                <a:latin typeface="Times New Roman" panose="02020603050405020304"/>
                <a:ea typeface="黑体" panose="02010609060101010101" charset="-122"/>
              </a:rPr>
              <a:t>，再通过阶跃函数表示直线的上下两部分，将两类不同输出分开。</a:t>
            </a:r>
            <a:endParaRPr lang="zh-CN" altLang="en-US" sz="2200" dirty="0">
              <a:solidFill>
                <a:prstClr val="black"/>
              </a:solidFill>
              <a:latin typeface="Times New Roman" panose="02020603050405020304"/>
              <a:ea typeface="黑体" panose="02010609060101010101" charset="-122"/>
            </a:endParaRPr>
          </a:p>
        </p:txBody>
      </p:sp>
      <p:sp>
        <p:nvSpPr>
          <p:cNvPr id="5" name="文本框 4"/>
          <p:cNvSpPr txBox="1"/>
          <p:nvPr/>
        </p:nvSpPr>
        <p:spPr>
          <a:xfrm>
            <a:off x="2048309" y="881503"/>
            <a:ext cx="6746647" cy="707694"/>
          </a:xfrm>
          <a:prstGeom prst="rect">
            <a:avLst/>
          </a:prstGeom>
          <a:noFill/>
        </p:spPr>
        <p:txBody>
          <a:bodyPr wrap="square">
            <a:spAutoFit/>
          </a:bodyPr>
          <a:lstStyle/>
          <a:p>
            <a:pPr marL="0" lvl="1">
              <a:lnSpc>
                <a:spcPct val="150000"/>
              </a:lnSpc>
              <a:spcAft>
                <a:spcPts val="600"/>
              </a:spcAft>
            </a:pPr>
            <a:r>
              <a:rPr lang="zh-CN" altLang="en-US" sz="3200" dirty="0">
                <a:solidFill>
                  <a:srgbClr val="C00000"/>
                </a:solidFill>
                <a:latin typeface="方正姚体" panose="02010601030101010101" pitchFamily="2" charset="-122"/>
                <a:ea typeface="方正姚体" panose="02010601030101010101" pitchFamily="2" charset="-122"/>
                <a:cs typeface="+mn-ea"/>
                <a:sym typeface="+mn-lt"/>
              </a:rPr>
              <a:t>感知机工作过程</a:t>
            </a:r>
            <a:endParaRPr lang="zh-CN" altLang="en-US" sz="3200" dirty="0">
              <a:solidFill>
                <a:srgbClr val="C00000"/>
              </a:solidFill>
              <a:latin typeface="方正姚体" panose="02010601030101010101" pitchFamily="2" charset="-122"/>
              <a:ea typeface="方正姚体" panose="02010601030101010101" pitchFamily="2" charset="-122"/>
              <a:cs typeface="+mn-ea"/>
              <a:sym typeface="+mn-lt"/>
            </a:endParaRPr>
          </a:p>
        </p:txBody>
      </p:sp>
      <p:pic>
        <p:nvPicPr>
          <p:cNvPr id="6" name="图片 49"/>
          <p:cNvPicPr>
            <a:picLocks noChangeAspect="1"/>
          </p:cNvPicPr>
          <p:nvPr/>
        </p:nvPicPr>
        <p:blipFill>
          <a:blip r:embed="rId1"/>
          <a:srcRect l="232" t="5526" r="2600" b="6967"/>
          <a:stretch>
            <a:fillRect/>
          </a:stretch>
        </p:blipFill>
        <p:spPr>
          <a:xfrm>
            <a:off x="7063484" y="1589198"/>
            <a:ext cx="3325495" cy="1448435"/>
          </a:xfrm>
          <a:prstGeom prst="rect">
            <a:avLst/>
          </a:prstGeom>
          <a:noFill/>
          <a:ln>
            <a:noFill/>
          </a:ln>
        </p:spPr>
      </p:pic>
      <p:pic>
        <p:nvPicPr>
          <p:cNvPr id="7" name="图片 67"/>
          <p:cNvPicPr>
            <a:picLocks noChangeAspect="1"/>
          </p:cNvPicPr>
          <p:nvPr/>
        </p:nvPicPr>
        <p:blipFill>
          <a:blip r:embed="rId2"/>
          <a:stretch>
            <a:fillRect/>
          </a:stretch>
        </p:blipFill>
        <p:spPr>
          <a:xfrm>
            <a:off x="7239695" y="3647216"/>
            <a:ext cx="2973070" cy="244792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25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par>
                          <p:cTn id="8" fill="hold">
                            <p:stCondLst>
                              <p:cond delay="750"/>
                            </p:stCondLst>
                            <p:childTnLst>
                              <p:par>
                                <p:cTn id="9" presetID="10" presetClass="entr" presetSubtype="0" fill="hold" nodeType="afterEffect">
                                  <p:stCondLst>
                                    <p:cond delay="500"/>
                                  </p:stCondLst>
                                  <p:childTnLst>
                                    <p:set>
                                      <p:cBhvr>
                                        <p:cTn id="10" dur="1" fill="hold">
                                          <p:stCondLst>
                                            <p:cond delay="0"/>
                                          </p:stCondLst>
                                        </p:cTn>
                                        <p:tgtEl>
                                          <p:spTgt spid="32">
                                            <p:txEl>
                                              <p:pRg st="0" end="0"/>
                                            </p:txEl>
                                          </p:spTgt>
                                        </p:tgtEl>
                                        <p:attrNameLst>
                                          <p:attrName>style.visibility</p:attrName>
                                        </p:attrNameLst>
                                      </p:cBhvr>
                                      <p:to>
                                        <p:strVal val="visible"/>
                                      </p:to>
                                    </p:set>
                                    <p:animEffect transition="in" filter="fade">
                                      <p:cBhvr>
                                        <p:cTn id="11" dur="500"/>
                                        <p:tgtEl>
                                          <p:spTgt spid="32">
                                            <p:txEl>
                                              <p:pRg st="0" end="0"/>
                                            </p:txEl>
                                          </p:spTgt>
                                        </p:tgtEl>
                                      </p:cBhvr>
                                    </p:animEffect>
                                  </p:childTnLst>
                                </p:cTn>
                              </p:par>
                            </p:childTnLst>
                          </p:cTn>
                        </p:par>
                        <p:par>
                          <p:cTn id="12" fill="hold">
                            <p:stCondLst>
                              <p:cond delay="1750"/>
                            </p:stCondLst>
                            <p:childTnLst>
                              <p:par>
                                <p:cTn id="13" presetID="10" presetClass="entr" presetSubtype="0" fill="hold" nodeType="afterEffect">
                                  <p:stCondLst>
                                    <p:cond delay="50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750"/>
                                        <p:tgtEl>
                                          <p:spTgt spid="6"/>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2">
                                            <p:txEl>
                                              <p:pRg st="1" end="1"/>
                                            </p:txEl>
                                          </p:spTgt>
                                        </p:tgtEl>
                                        <p:attrNameLst>
                                          <p:attrName>style.visibility</p:attrName>
                                        </p:attrNameLst>
                                      </p:cBhvr>
                                      <p:to>
                                        <p:strVal val="visible"/>
                                      </p:to>
                                    </p:set>
                                    <p:animEffect transition="in" filter="fade">
                                      <p:cBhvr>
                                        <p:cTn id="20" dur="500"/>
                                        <p:tgtEl>
                                          <p:spTgt spid="32">
                                            <p:txEl>
                                              <p:pRg st="1" end="1"/>
                                            </p:txEl>
                                          </p:spTgt>
                                        </p:tgtEl>
                                      </p:cBhvr>
                                    </p:animEffect>
                                  </p:childTnLst>
                                </p:cTn>
                              </p:par>
                            </p:childTnLst>
                          </p:cTn>
                        </p:par>
                        <p:par>
                          <p:cTn id="21" fill="hold">
                            <p:stCondLst>
                              <p:cond delay="500"/>
                            </p:stCondLst>
                            <p:childTnLst>
                              <p:par>
                                <p:cTn id="22" presetID="10" presetClass="entr" presetSubtype="0" fill="hold" nodeType="afterEffect">
                                  <p:stCondLst>
                                    <p:cond delay="500"/>
                                  </p:stCondLst>
                                  <p:childTnLst>
                                    <p:set>
                                      <p:cBhvr>
                                        <p:cTn id="23" dur="1" fill="hold">
                                          <p:stCondLst>
                                            <p:cond delay="0"/>
                                          </p:stCondLst>
                                        </p:cTn>
                                        <p:tgtEl>
                                          <p:spTgt spid="7"/>
                                        </p:tgtEl>
                                        <p:attrNameLst>
                                          <p:attrName>style.visibility</p:attrName>
                                        </p:attrNameLst>
                                      </p:cBhvr>
                                      <p:to>
                                        <p:strVal val="visible"/>
                                      </p:to>
                                    </p:set>
                                    <p:animEffect transition="in" filter="fade">
                                      <p:cBhvr>
                                        <p:cTn id="24" dur="75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a:spLocks noGrp="1"/>
          </p:cNvSpPr>
          <p:nvPr>
            <p:ph type="title"/>
          </p:nvPr>
        </p:nvSpPr>
        <p:spPr>
          <a:xfrm>
            <a:off x="1916315" y="131079"/>
            <a:ext cx="7962648" cy="657727"/>
          </a:xfrm>
        </p:spPr>
        <p:txBody>
          <a:bodyPr/>
          <a:lstStyle/>
          <a:p>
            <a:pPr algn="l"/>
            <a:r>
              <a:rPr lang="zh-CN" altLang="en-US" sz="4000" dirty="0">
                <a:latin typeface="方正姚体" panose="02010601030101010101" pitchFamily="2" charset="-122"/>
                <a:ea typeface="方正姚体" panose="02010601030101010101" pitchFamily="2" charset="-122"/>
                <a:cs typeface="Times New Roman" panose="02020603050405020304" pitchFamily="18" charset="0"/>
              </a:rPr>
              <a:t>人工神经网络简介</a:t>
            </a:r>
            <a:endParaRPr lang="zh-CN" altLang="en-US" sz="4000" dirty="0">
              <a:latin typeface="方正姚体" panose="02010601030101010101" pitchFamily="2" charset="-122"/>
              <a:ea typeface="方正姚体" panose="02010601030101010101" pitchFamily="2" charset="-122"/>
              <a:cs typeface="Times New Roman" panose="02020603050405020304" pitchFamily="18" charset="0"/>
            </a:endParaRPr>
          </a:p>
        </p:txBody>
      </p:sp>
      <mc:AlternateContent xmlns:mc="http://schemas.openxmlformats.org/markup-compatibility/2006">
        <mc:Choice xmlns:a14="http://schemas.microsoft.com/office/drawing/2010/main" Requires="a14">
          <p:sp>
            <p:nvSpPr>
              <p:cNvPr id="32" name="矩形 31"/>
              <p:cNvSpPr/>
              <p:nvPr/>
            </p:nvSpPr>
            <p:spPr>
              <a:xfrm>
                <a:off x="2114675" y="1652402"/>
                <a:ext cx="8066628" cy="4402231"/>
              </a:xfrm>
              <a:prstGeom prst="rect">
                <a:avLst/>
              </a:prstGeom>
              <a:ln>
                <a:noFill/>
              </a:ln>
            </p:spPr>
            <p:txBody>
              <a:bodyPr wrap="square">
                <a:spAutoFit/>
              </a:bodyPr>
              <a:lstStyle/>
              <a:p>
                <a:pPr marL="323850" indent="-342900" algn="just">
                  <a:lnSpc>
                    <a:spcPct val="130000"/>
                  </a:lnSpc>
                  <a:buFont typeface="Wingdings" panose="05000000000000000000" pitchFamily="2" charset="2"/>
                  <a:buChar char="Ø"/>
                </a:pPr>
                <a:r>
                  <a:rPr lang="zh-CN" altLang="en-US" sz="2600" dirty="0">
                    <a:solidFill>
                      <a:srgbClr val="FF0000"/>
                    </a:solidFill>
                    <a:latin typeface="Times New Roman" panose="02020603050405020304"/>
                    <a:ea typeface="黑体" panose="02010609060101010101" charset="-122"/>
                  </a:rPr>
                  <a:t>感知机学习过程和权值更新规则</a:t>
                </a:r>
                <a:endParaRPr lang="zh-CN" altLang="en-US" sz="2600" dirty="0">
                  <a:solidFill>
                    <a:srgbClr val="FF0000"/>
                  </a:solidFill>
                  <a:latin typeface="Times New Roman" panose="02020603050405020304"/>
                  <a:ea typeface="黑体" panose="02010609060101010101" charset="-122"/>
                </a:endParaRPr>
              </a:p>
              <a:p>
                <a:pPr algn="just">
                  <a:lnSpc>
                    <a:spcPct val="130000"/>
                  </a:lnSpc>
                </a:pPr>
                <a:r>
                  <a:rPr lang="en-US" altLang="zh-CN" sz="2600" i="1" dirty="0">
                    <a:solidFill>
                      <a:prstClr val="black"/>
                    </a:solidFill>
                    <a:latin typeface="Times New Roman" panose="02020603050405020304"/>
                    <a:ea typeface="黑体" panose="02010609060101010101" charset="-122"/>
                  </a:rPr>
                  <a:t>Step</a:t>
                </a:r>
                <a:r>
                  <a:rPr lang="en-US" altLang="zh-CN" sz="2600" dirty="0">
                    <a:solidFill>
                      <a:prstClr val="black"/>
                    </a:solidFill>
                    <a:latin typeface="Times New Roman" panose="02020603050405020304"/>
                    <a:ea typeface="黑体" panose="02010609060101010101" charset="-122"/>
                  </a:rPr>
                  <a:t>1</a:t>
                </a:r>
                <a:r>
                  <a:rPr lang="zh-CN" altLang="en-US" sz="2600" dirty="0">
                    <a:solidFill>
                      <a:prstClr val="black"/>
                    </a:solidFill>
                    <a:latin typeface="Times New Roman" panose="02020603050405020304"/>
                    <a:ea typeface="黑体" panose="02010609060101010101" charset="-122"/>
                  </a:rPr>
                  <a:t>：随机初始化权值</a:t>
                </a:r>
                <a:r>
                  <a:rPr lang="en-US" altLang="zh-CN" sz="2600" i="1" dirty="0">
                    <a:solidFill>
                      <a:prstClr val="black"/>
                    </a:solidFill>
                    <a:latin typeface="Times New Roman" panose="02020603050405020304"/>
                    <a:ea typeface="黑体" panose="02010609060101010101" charset="-122"/>
                  </a:rPr>
                  <a:t>W</a:t>
                </a:r>
                <a:r>
                  <a:rPr lang="en-US" altLang="zh-CN" sz="2600" dirty="0">
                    <a:solidFill>
                      <a:prstClr val="black"/>
                    </a:solidFill>
                    <a:latin typeface="Times New Roman" panose="02020603050405020304"/>
                    <a:ea typeface="黑体" panose="02010609060101010101" charset="-122"/>
                  </a:rPr>
                  <a:t>(</a:t>
                </a:r>
                <a:r>
                  <a:rPr lang="en-US" altLang="zh-CN" sz="2600" i="1" dirty="0">
                    <a:solidFill>
                      <a:prstClr val="black"/>
                    </a:solidFill>
                    <a:latin typeface="Times New Roman" panose="02020603050405020304"/>
                    <a:ea typeface="黑体" panose="02010609060101010101" charset="-122"/>
                  </a:rPr>
                  <a:t>w</a:t>
                </a:r>
                <a:r>
                  <a:rPr lang="en-US" altLang="zh-CN" sz="2600" baseline="-25000" dirty="0">
                    <a:solidFill>
                      <a:prstClr val="black"/>
                    </a:solidFill>
                    <a:latin typeface="Times New Roman" panose="02020603050405020304"/>
                    <a:ea typeface="黑体" panose="02010609060101010101" charset="-122"/>
                  </a:rPr>
                  <a:t>0</a:t>
                </a:r>
                <a:r>
                  <a:rPr lang="en-US" altLang="zh-CN" sz="2600" dirty="0">
                    <a:solidFill>
                      <a:prstClr val="black"/>
                    </a:solidFill>
                    <a:latin typeface="Times New Roman" panose="02020603050405020304"/>
                    <a:ea typeface="黑体" panose="02010609060101010101" charset="-122"/>
                  </a:rPr>
                  <a:t>,</a:t>
                </a:r>
                <a:r>
                  <a:rPr lang="en-US" altLang="zh-CN" sz="2600" i="1" dirty="0">
                    <a:solidFill>
                      <a:prstClr val="black"/>
                    </a:solidFill>
                    <a:latin typeface="Times New Roman" panose="02020603050405020304"/>
                    <a:ea typeface="黑体" panose="02010609060101010101" charset="-122"/>
                  </a:rPr>
                  <a:t>w</a:t>
                </a:r>
                <a:r>
                  <a:rPr lang="en-US" altLang="zh-CN" sz="2600" baseline="-25000" dirty="0">
                    <a:solidFill>
                      <a:prstClr val="black"/>
                    </a:solidFill>
                    <a:latin typeface="Times New Roman" panose="02020603050405020304"/>
                    <a:ea typeface="黑体" panose="02010609060101010101" charset="-122"/>
                  </a:rPr>
                  <a:t>1</a:t>
                </a:r>
                <a:r>
                  <a:rPr lang="en-US" altLang="zh-CN" sz="2600" dirty="0">
                    <a:solidFill>
                      <a:prstClr val="black"/>
                    </a:solidFill>
                    <a:latin typeface="Times New Roman" panose="02020603050405020304"/>
                    <a:ea typeface="黑体" panose="02010609060101010101" charset="-122"/>
                  </a:rPr>
                  <a:t>,</a:t>
                </a:r>
                <a:r>
                  <a:rPr lang="en-US" altLang="zh-CN" sz="2600" i="1" dirty="0">
                    <a:solidFill>
                      <a:prstClr val="black"/>
                    </a:solidFill>
                    <a:latin typeface="Times New Roman" panose="02020603050405020304"/>
                    <a:ea typeface="黑体" panose="02010609060101010101" charset="-122"/>
                  </a:rPr>
                  <a:t>w</a:t>
                </a:r>
                <a:r>
                  <a:rPr lang="en-US" altLang="zh-CN" sz="2600" baseline="-25000" dirty="0">
                    <a:solidFill>
                      <a:prstClr val="black"/>
                    </a:solidFill>
                    <a:latin typeface="Times New Roman" panose="02020603050405020304"/>
                    <a:ea typeface="黑体" panose="02010609060101010101" charset="-122"/>
                  </a:rPr>
                  <a:t>2</a:t>
                </a:r>
                <a:r>
                  <a:rPr lang="en-US" altLang="zh-CN" sz="2600" dirty="0">
                    <a:solidFill>
                      <a:prstClr val="black"/>
                    </a:solidFill>
                    <a:latin typeface="Times New Roman" panose="02020603050405020304"/>
                    <a:ea typeface="黑体" panose="02010609060101010101" charset="-122"/>
                  </a:rPr>
                  <a:t>,...</a:t>
                </a:r>
                <a:r>
                  <a:rPr lang="en-US" altLang="zh-CN" sz="2600" i="1" dirty="0" err="1">
                    <a:solidFill>
                      <a:prstClr val="black"/>
                    </a:solidFill>
                    <a:latin typeface="Times New Roman" panose="02020603050405020304"/>
                    <a:ea typeface="黑体" panose="02010609060101010101" charset="-122"/>
                  </a:rPr>
                  <a:t>w</a:t>
                </a:r>
                <a:r>
                  <a:rPr lang="en-US" altLang="zh-CN" sz="2600" i="1" baseline="-25000" dirty="0" err="1">
                    <a:solidFill>
                      <a:prstClr val="black"/>
                    </a:solidFill>
                    <a:latin typeface="Times New Roman" panose="02020603050405020304"/>
                    <a:ea typeface="黑体" panose="02010609060101010101" charset="-122"/>
                  </a:rPr>
                  <a:t>n</a:t>
                </a:r>
                <a:r>
                  <a:rPr lang="en-US" altLang="zh-CN" sz="2600" dirty="0">
                    <a:solidFill>
                      <a:prstClr val="black"/>
                    </a:solidFill>
                    <a:latin typeface="Times New Roman" panose="02020603050405020304"/>
                    <a:ea typeface="黑体" panose="02010609060101010101" charset="-122"/>
                  </a:rPr>
                  <a:t>)</a:t>
                </a:r>
                <a:r>
                  <a:rPr lang="zh-CN" altLang="en-US" sz="2600" dirty="0">
                    <a:solidFill>
                      <a:prstClr val="black"/>
                    </a:solidFill>
                    <a:latin typeface="Times New Roman" panose="02020603050405020304"/>
                    <a:ea typeface="黑体" panose="02010609060101010101" charset="-122"/>
                  </a:rPr>
                  <a:t>（用</a:t>
                </a:r>
                <a:r>
                  <a:rPr lang="en-US" altLang="zh-CN" sz="2600" i="1" dirty="0">
                    <a:solidFill>
                      <a:prstClr val="black"/>
                    </a:solidFill>
                    <a:latin typeface="Times New Roman" panose="02020603050405020304"/>
                    <a:ea typeface="黑体" panose="02010609060101010101" charset="-122"/>
                  </a:rPr>
                  <a:t>w</a:t>
                </a:r>
                <a:r>
                  <a:rPr lang="en-US" altLang="zh-CN" sz="2600" baseline="-25000" dirty="0">
                    <a:solidFill>
                      <a:prstClr val="black"/>
                    </a:solidFill>
                    <a:latin typeface="Times New Roman" panose="02020603050405020304"/>
                    <a:ea typeface="黑体" panose="02010609060101010101" charset="-122"/>
                  </a:rPr>
                  <a:t>0</a:t>
                </a:r>
                <a:r>
                  <a:rPr lang="zh-CN" altLang="en-US" sz="2600" dirty="0">
                    <a:solidFill>
                      <a:prstClr val="black"/>
                    </a:solidFill>
                    <a:latin typeface="Times New Roman" panose="02020603050405020304"/>
                    <a:ea typeface="黑体" panose="02010609060101010101" charset="-122"/>
                  </a:rPr>
                  <a:t>代替</a:t>
                </a:r>
                <a:r>
                  <a:rPr lang="en-US" altLang="zh-CN" sz="2600" i="1" dirty="0">
                    <a:solidFill>
                      <a:prstClr val="black"/>
                    </a:solidFill>
                    <a:latin typeface="Times New Roman" panose="02020603050405020304"/>
                    <a:ea typeface="黑体" panose="02010609060101010101" charset="-122"/>
                  </a:rPr>
                  <a:t>b</a:t>
                </a:r>
                <a:r>
                  <a:rPr lang="zh-CN" altLang="en-US" sz="2600" dirty="0">
                    <a:solidFill>
                      <a:prstClr val="black"/>
                    </a:solidFill>
                    <a:latin typeface="Times New Roman" panose="02020603050405020304"/>
                    <a:ea typeface="黑体" panose="02010609060101010101" charset="-122"/>
                  </a:rPr>
                  <a:t>）。</a:t>
                </a:r>
                <a:endParaRPr lang="zh-CN" altLang="en-US" sz="2600" dirty="0">
                  <a:solidFill>
                    <a:prstClr val="black"/>
                  </a:solidFill>
                  <a:latin typeface="Times New Roman" panose="02020603050405020304"/>
                  <a:ea typeface="黑体" panose="02010609060101010101" charset="-122"/>
                </a:endParaRPr>
              </a:p>
              <a:p>
                <a:pPr algn="just">
                  <a:lnSpc>
                    <a:spcPct val="130000"/>
                  </a:lnSpc>
                </a:pPr>
                <a:r>
                  <a:rPr lang="en-US" altLang="zh-CN" sz="2600" i="1" dirty="0">
                    <a:solidFill>
                      <a:prstClr val="black"/>
                    </a:solidFill>
                    <a:latin typeface="Times New Roman" panose="02020603050405020304"/>
                    <a:ea typeface="黑体" panose="02010609060101010101" charset="-122"/>
                  </a:rPr>
                  <a:t>Step</a:t>
                </a:r>
                <a:r>
                  <a:rPr lang="en-US" altLang="zh-CN" sz="2600" dirty="0">
                    <a:solidFill>
                      <a:prstClr val="black"/>
                    </a:solidFill>
                    <a:latin typeface="Times New Roman" panose="02020603050405020304"/>
                    <a:ea typeface="黑体" panose="02010609060101010101" charset="-122"/>
                  </a:rPr>
                  <a:t>2</a:t>
                </a:r>
                <a:r>
                  <a:rPr lang="zh-CN" altLang="en-US" sz="2600" dirty="0">
                    <a:solidFill>
                      <a:prstClr val="black"/>
                    </a:solidFill>
                    <a:latin typeface="Times New Roman" panose="02020603050405020304"/>
                    <a:ea typeface="黑体" panose="02010609060101010101" charset="-122"/>
                  </a:rPr>
                  <a:t>：输入一个样本</a:t>
                </a:r>
                <a:r>
                  <a:rPr lang="en-US" altLang="zh-CN" sz="2600" dirty="0">
                    <a:solidFill>
                      <a:prstClr val="black"/>
                    </a:solidFill>
                    <a:latin typeface="Times New Roman" panose="02020603050405020304"/>
                    <a:ea typeface="黑体" panose="02010609060101010101" charset="-122"/>
                  </a:rPr>
                  <a:t>(1,</a:t>
                </a:r>
                <a:r>
                  <a:rPr lang="en-US" altLang="zh-CN" sz="2600" i="1" dirty="0">
                    <a:solidFill>
                      <a:prstClr val="black"/>
                    </a:solidFill>
                    <a:latin typeface="Times New Roman" panose="02020603050405020304"/>
                    <a:ea typeface="黑体" panose="02010609060101010101" charset="-122"/>
                  </a:rPr>
                  <a:t> x</a:t>
                </a:r>
                <a:r>
                  <a:rPr lang="en-US" altLang="zh-CN" sz="2600" baseline="-25000" dirty="0">
                    <a:solidFill>
                      <a:prstClr val="black"/>
                    </a:solidFill>
                    <a:latin typeface="Times New Roman" panose="02020603050405020304"/>
                    <a:ea typeface="黑体" panose="02010609060101010101" charset="-122"/>
                  </a:rPr>
                  <a:t>1</a:t>
                </a:r>
                <a:r>
                  <a:rPr lang="en-US" altLang="zh-CN" sz="2600" dirty="0">
                    <a:solidFill>
                      <a:prstClr val="black"/>
                    </a:solidFill>
                    <a:latin typeface="Times New Roman" panose="02020603050405020304"/>
                    <a:ea typeface="黑体" panose="02010609060101010101" charset="-122"/>
                  </a:rPr>
                  <a:t>,</a:t>
                </a:r>
                <a:r>
                  <a:rPr lang="en-US" altLang="zh-CN" sz="2600" i="1" dirty="0">
                    <a:solidFill>
                      <a:prstClr val="black"/>
                    </a:solidFill>
                    <a:latin typeface="Times New Roman" panose="02020603050405020304"/>
                    <a:ea typeface="黑体" panose="02010609060101010101" charset="-122"/>
                  </a:rPr>
                  <a:t> x</a:t>
                </a:r>
                <a:r>
                  <a:rPr lang="en-US" altLang="zh-CN" sz="2600" baseline="-25000" dirty="0">
                    <a:solidFill>
                      <a:prstClr val="black"/>
                    </a:solidFill>
                    <a:latin typeface="Times New Roman" panose="02020603050405020304"/>
                    <a:ea typeface="黑体" panose="02010609060101010101" charset="-122"/>
                  </a:rPr>
                  <a:t>2</a:t>
                </a:r>
                <a:r>
                  <a:rPr lang="en-US" altLang="zh-CN" sz="2600" dirty="0">
                    <a:solidFill>
                      <a:prstClr val="black"/>
                    </a:solidFill>
                    <a:latin typeface="Times New Roman" panose="02020603050405020304"/>
                    <a:ea typeface="黑体" panose="02010609060101010101" charset="-122"/>
                  </a:rPr>
                  <a:t>,…</a:t>
                </a:r>
                <a:r>
                  <a:rPr lang="en-US" altLang="zh-CN" sz="2600" i="1" dirty="0" err="1">
                    <a:solidFill>
                      <a:prstClr val="black"/>
                    </a:solidFill>
                    <a:latin typeface="Times New Roman" panose="02020603050405020304"/>
                    <a:ea typeface="黑体" panose="02010609060101010101" charset="-122"/>
                  </a:rPr>
                  <a:t>x</a:t>
                </a:r>
                <a:r>
                  <a:rPr lang="en-US" altLang="zh-CN" sz="2600" i="1" baseline="-25000" dirty="0" err="1">
                    <a:solidFill>
                      <a:prstClr val="black"/>
                    </a:solidFill>
                    <a:latin typeface="Times New Roman" panose="02020603050405020304"/>
                    <a:ea typeface="黑体" panose="02010609060101010101" charset="-122"/>
                  </a:rPr>
                  <a:t>n</a:t>
                </a:r>
                <a:r>
                  <a:rPr lang="en-US" altLang="zh-CN" sz="2600" dirty="0">
                    <a:solidFill>
                      <a:prstClr val="black"/>
                    </a:solidFill>
                    <a:latin typeface="Times New Roman" panose="02020603050405020304"/>
                    <a:ea typeface="黑体" panose="02010609060101010101" charset="-122"/>
                  </a:rPr>
                  <a:t>)</a:t>
                </a:r>
                <a:r>
                  <a:rPr lang="zh-CN" altLang="en-US" sz="2600" dirty="0">
                    <a:solidFill>
                      <a:prstClr val="black"/>
                    </a:solidFill>
                    <a:latin typeface="Times New Roman" panose="02020603050405020304"/>
                    <a:ea typeface="黑体" panose="02010609060101010101" charset="-122"/>
                  </a:rPr>
                  <a:t>和对应的期望结果</a:t>
                </a:r>
                <a:r>
                  <a:rPr lang="en-US" altLang="zh-CN" sz="2600" i="1" dirty="0">
                    <a:solidFill>
                      <a:prstClr val="black"/>
                    </a:solidFill>
                    <a:latin typeface="Times New Roman" panose="02020603050405020304"/>
                    <a:ea typeface="黑体" panose="02010609060101010101" charset="-122"/>
                  </a:rPr>
                  <a:t>y</a:t>
                </a:r>
                <a:r>
                  <a:rPr lang="zh-CN" altLang="en-US" sz="2600" dirty="0">
                    <a:solidFill>
                      <a:prstClr val="black"/>
                    </a:solidFill>
                    <a:latin typeface="Times New Roman" panose="02020603050405020304"/>
                    <a:ea typeface="黑体" panose="02010609060101010101" charset="-122"/>
                  </a:rPr>
                  <a:t>。其中</a:t>
                </a:r>
                <a:r>
                  <a:rPr lang="en-US" altLang="zh-CN" sz="2600" dirty="0">
                    <a:solidFill>
                      <a:prstClr val="black"/>
                    </a:solidFill>
                    <a:latin typeface="Times New Roman" panose="02020603050405020304"/>
                    <a:ea typeface="黑体" panose="02010609060101010101" charset="-122"/>
                  </a:rPr>
                  <a:t>1</a:t>
                </a:r>
                <a:r>
                  <a:rPr lang="zh-CN" altLang="en-US" sz="2600" dirty="0">
                    <a:solidFill>
                      <a:prstClr val="black"/>
                    </a:solidFill>
                    <a:latin typeface="Times New Roman" panose="02020603050405020304"/>
                    <a:ea typeface="黑体" panose="02010609060101010101" charset="-122"/>
                  </a:rPr>
                  <a:t>与</a:t>
                </a:r>
                <a:r>
                  <a:rPr lang="en-US" altLang="zh-CN" sz="2600" i="1" dirty="0">
                    <a:solidFill>
                      <a:prstClr val="black"/>
                    </a:solidFill>
                    <a:latin typeface="Times New Roman" panose="02020603050405020304"/>
                    <a:ea typeface="黑体" panose="02010609060101010101" charset="-122"/>
                  </a:rPr>
                  <a:t>w</a:t>
                </a:r>
                <a:r>
                  <a:rPr lang="en-US" altLang="zh-CN" sz="2600" baseline="-25000" dirty="0">
                    <a:solidFill>
                      <a:prstClr val="black"/>
                    </a:solidFill>
                    <a:latin typeface="Times New Roman" panose="02020603050405020304"/>
                    <a:ea typeface="黑体" panose="02010609060101010101" charset="-122"/>
                  </a:rPr>
                  <a:t>0</a:t>
                </a:r>
                <a:r>
                  <a:rPr lang="zh-CN" altLang="en-US" sz="2600" dirty="0">
                    <a:solidFill>
                      <a:prstClr val="black"/>
                    </a:solidFill>
                    <a:latin typeface="Times New Roman" panose="02020603050405020304"/>
                    <a:ea typeface="黑体" panose="02010609060101010101" charset="-122"/>
                  </a:rPr>
                  <a:t>相乘表示偏置值，传入神经元。二分类中，一般用</a:t>
                </a:r>
                <a:r>
                  <a:rPr lang="en-US" altLang="zh-CN" sz="2600" i="1" dirty="0">
                    <a:solidFill>
                      <a:prstClr val="black"/>
                    </a:solidFill>
                    <a:latin typeface="Times New Roman" panose="02020603050405020304"/>
                    <a:ea typeface="黑体" panose="02010609060101010101" charset="-122"/>
                  </a:rPr>
                  <a:t>y</a:t>
                </a:r>
                <a:r>
                  <a:rPr lang="en-US" altLang="zh-CN" sz="2600" dirty="0">
                    <a:solidFill>
                      <a:prstClr val="black"/>
                    </a:solidFill>
                    <a:latin typeface="Times New Roman" panose="02020603050405020304"/>
                    <a:ea typeface="黑体" panose="02010609060101010101" charset="-122"/>
                  </a:rPr>
                  <a:t>=1</a:t>
                </a:r>
                <a:r>
                  <a:rPr lang="zh-CN" altLang="en-US" sz="2600" dirty="0">
                    <a:solidFill>
                      <a:prstClr val="black"/>
                    </a:solidFill>
                    <a:latin typeface="Times New Roman" panose="02020603050405020304"/>
                    <a:ea typeface="黑体" panose="02010609060101010101" charset="-122"/>
                  </a:rPr>
                  <a:t>表示一类，用</a:t>
                </a:r>
                <a:r>
                  <a:rPr lang="en-US" altLang="zh-CN" sz="2600" i="1" dirty="0">
                    <a:solidFill>
                      <a:prstClr val="black"/>
                    </a:solidFill>
                    <a:latin typeface="Times New Roman" panose="02020603050405020304"/>
                    <a:ea typeface="黑体" panose="02010609060101010101" charset="-122"/>
                  </a:rPr>
                  <a:t>y</a:t>
                </a:r>
                <a:r>
                  <a:rPr lang="en-US" altLang="zh-CN" sz="2600" dirty="0">
                    <a:solidFill>
                      <a:prstClr val="black"/>
                    </a:solidFill>
                    <a:latin typeface="Times New Roman" panose="02020603050405020304"/>
                    <a:ea typeface="黑体" panose="02010609060101010101" charset="-122"/>
                  </a:rPr>
                  <a:t>=0/-1</a:t>
                </a:r>
                <a:r>
                  <a:rPr lang="zh-CN" altLang="en-US" sz="2600" dirty="0">
                    <a:solidFill>
                      <a:prstClr val="black"/>
                    </a:solidFill>
                    <a:latin typeface="Times New Roman" panose="02020603050405020304"/>
                    <a:ea typeface="黑体" panose="02010609060101010101" charset="-122"/>
                  </a:rPr>
                  <a:t>表示另一类。</a:t>
                </a:r>
                <a:endParaRPr lang="zh-CN" altLang="en-US" sz="2600" dirty="0">
                  <a:solidFill>
                    <a:prstClr val="black"/>
                  </a:solidFill>
                  <a:latin typeface="Times New Roman" panose="02020603050405020304"/>
                  <a:ea typeface="黑体" panose="02010609060101010101" charset="-122"/>
                </a:endParaRPr>
              </a:p>
              <a:p>
                <a:pPr algn="just">
                  <a:lnSpc>
                    <a:spcPct val="130000"/>
                  </a:lnSpc>
                </a:pPr>
                <a:r>
                  <a:rPr lang="en-US" altLang="zh-CN" sz="2600" i="1" dirty="0">
                    <a:solidFill>
                      <a:prstClr val="black"/>
                    </a:solidFill>
                    <a:latin typeface="Times New Roman" panose="02020603050405020304"/>
                    <a:ea typeface="黑体" panose="02010609060101010101" charset="-122"/>
                  </a:rPr>
                  <a:t>Step</a:t>
                </a:r>
                <a:r>
                  <a:rPr lang="en-US" altLang="zh-CN" sz="2600" dirty="0">
                    <a:solidFill>
                      <a:prstClr val="black"/>
                    </a:solidFill>
                    <a:latin typeface="Times New Roman" panose="02020603050405020304"/>
                    <a:ea typeface="黑体" panose="02010609060101010101" charset="-122"/>
                  </a:rPr>
                  <a:t>3</a:t>
                </a:r>
                <a:r>
                  <a:rPr lang="zh-CN" altLang="en-US" sz="2600" dirty="0">
                    <a:solidFill>
                      <a:prstClr val="black"/>
                    </a:solidFill>
                    <a:latin typeface="Times New Roman" panose="02020603050405020304"/>
                    <a:ea typeface="黑体" panose="02010609060101010101" charset="-122"/>
                  </a:rPr>
                  <a:t>：根据公式计算感知机输出结果𝑦</a:t>
                </a:r>
                <a:r>
                  <a:rPr lang="zh-CN" altLang="en-US" sz="2600" baseline="-25000" dirty="0">
                    <a:solidFill>
                      <a:prstClr val="black"/>
                    </a:solidFill>
                    <a:latin typeface="Times New Roman" panose="02020603050405020304"/>
                    <a:ea typeface="黑体" panose="02010609060101010101" charset="-122"/>
                  </a:rPr>
                  <a:t>𝑜𝑢𝑡</a:t>
                </a:r>
                <a:endParaRPr lang="en-US" altLang="zh-CN" sz="2600" baseline="-25000" dirty="0">
                  <a:solidFill>
                    <a:prstClr val="black"/>
                  </a:solidFill>
                  <a:latin typeface="Times New Roman" panose="02020603050405020304"/>
                  <a:ea typeface="黑体" panose="02010609060101010101" charset="-122"/>
                </a:endParaRPr>
              </a:p>
              <a:p>
                <a:pPr algn="just"/>
                <a14:m>
                  <m:oMathPara xmlns:m="http://schemas.openxmlformats.org/officeDocument/2006/math">
                    <m:oMathParaPr>
                      <m:jc m:val="centerGroup"/>
                    </m:oMathParaPr>
                    <m:oMath xmlns:m="http://schemas.openxmlformats.org/officeDocument/2006/math">
                      <m:sSub>
                        <m:sSubPr>
                          <m:ctrlPr>
                            <a:rPr lang="en-US" altLang="zh-CN" sz="2400" i="1">
                              <a:solidFill>
                                <a:prstClr val="black"/>
                              </a:solidFill>
                              <a:latin typeface="Cambria Math" panose="02040503050406030204" pitchFamily="18" charset="0"/>
                            </a:rPr>
                          </m:ctrlPr>
                        </m:sSubPr>
                        <m:e>
                          <m:r>
                            <a:rPr lang="en-US" altLang="zh-CN" sz="2400" i="1">
                              <a:solidFill>
                                <a:prstClr val="black"/>
                              </a:solidFill>
                              <a:latin typeface="Cambria Math" panose="02040503050406030204" pitchFamily="18" charset="0"/>
                            </a:rPr>
                            <m:t>𝑦</m:t>
                          </m:r>
                        </m:e>
                        <m:sub>
                          <m:r>
                            <a:rPr lang="en-US" altLang="zh-CN" sz="2400" i="1">
                              <a:solidFill>
                                <a:prstClr val="black"/>
                              </a:solidFill>
                              <a:latin typeface="Cambria Math" panose="02040503050406030204" pitchFamily="18" charset="0"/>
                            </a:rPr>
                            <m:t>𝑜𝑢𝑡</m:t>
                          </m:r>
                        </m:sub>
                      </m:sSub>
                      <m:r>
                        <a:rPr lang="en-US" altLang="zh-CN" sz="2400" i="1">
                          <a:solidFill>
                            <a:prstClr val="black"/>
                          </a:solidFill>
                          <a:latin typeface="Cambria Math" panose="02040503050406030204" pitchFamily="18" charset="0"/>
                        </a:rPr>
                        <m:t>=</m:t>
                      </m:r>
                      <m:r>
                        <a:rPr lang="en-US" altLang="zh-CN" sz="2400" i="1">
                          <a:solidFill>
                            <a:prstClr val="black"/>
                          </a:solidFill>
                          <a:latin typeface="Cambria Math" panose="02040503050406030204" pitchFamily="18" charset="0"/>
                        </a:rPr>
                        <m:t>𝑓</m:t>
                      </m:r>
                      <m:d>
                        <m:dPr>
                          <m:ctrlPr>
                            <a:rPr lang="en-US" altLang="zh-CN" sz="2400" i="1">
                              <a:solidFill>
                                <a:prstClr val="black"/>
                              </a:solidFill>
                              <a:latin typeface="Cambria Math" panose="02040503050406030204" pitchFamily="18" charset="0"/>
                            </a:rPr>
                          </m:ctrlPr>
                        </m:dPr>
                        <m:e>
                          <m:nary>
                            <m:naryPr>
                              <m:chr m:val="∑"/>
                              <m:ctrlPr>
                                <a:rPr lang="en-US" altLang="zh-CN" sz="2400" i="1">
                                  <a:solidFill>
                                    <a:prstClr val="black"/>
                                  </a:solidFill>
                                  <a:latin typeface="Cambria Math" panose="02040503050406030204" pitchFamily="18" charset="0"/>
                                </a:rPr>
                              </m:ctrlPr>
                            </m:naryPr>
                            <m:sub>
                              <m:r>
                                <m:rPr>
                                  <m:brk m:alnAt="23"/>
                                </m:rPr>
                                <a:rPr lang="en-US" altLang="zh-CN" sz="2400" i="1">
                                  <a:solidFill>
                                    <a:prstClr val="black"/>
                                  </a:solidFill>
                                  <a:latin typeface="Cambria Math" panose="02040503050406030204" pitchFamily="18" charset="0"/>
                                </a:rPr>
                                <m:t>𝑖</m:t>
                              </m:r>
                              <m:r>
                                <a:rPr lang="en-US" altLang="zh-CN" sz="2400" i="1">
                                  <a:solidFill>
                                    <a:prstClr val="black"/>
                                  </a:solidFill>
                                  <a:latin typeface="Cambria Math" panose="02040503050406030204" pitchFamily="18" charset="0"/>
                                </a:rPr>
                                <m:t>=</m:t>
                              </m:r>
                              <m:r>
                                <a:rPr lang="en-US" altLang="zh-CN" sz="2400" i="1">
                                  <a:solidFill>
                                    <a:prstClr val="black"/>
                                  </a:solidFill>
                                  <a:latin typeface="Cambria Math" panose="02040503050406030204" pitchFamily="18" charset="0"/>
                                </a:rPr>
                                <m:t>0</m:t>
                              </m:r>
                            </m:sub>
                            <m:sup>
                              <m:r>
                                <a:rPr lang="en-US" altLang="zh-CN" sz="2400" i="1">
                                  <a:solidFill>
                                    <a:prstClr val="black"/>
                                  </a:solidFill>
                                  <a:latin typeface="Cambria Math" panose="02040503050406030204" pitchFamily="18" charset="0"/>
                                </a:rPr>
                                <m:t>𝑛</m:t>
                              </m:r>
                            </m:sup>
                            <m:e>
                              <m:sSub>
                                <m:sSubPr>
                                  <m:ctrlPr>
                                    <a:rPr lang="en-US" altLang="zh-CN" sz="2400" i="1">
                                      <a:solidFill>
                                        <a:prstClr val="black"/>
                                      </a:solidFill>
                                      <a:latin typeface="Cambria Math" panose="02040503050406030204" pitchFamily="18" charset="0"/>
                                    </a:rPr>
                                  </m:ctrlPr>
                                </m:sSubPr>
                                <m:e>
                                  <m:r>
                                    <a:rPr lang="en-US" altLang="zh-CN" sz="2400" i="1">
                                      <a:solidFill>
                                        <a:prstClr val="black"/>
                                      </a:solidFill>
                                      <a:latin typeface="Cambria Math" panose="02040503050406030204" pitchFamily="18" charset="0"/>
                                    </a:rPr>
                                    <m:t>𝑤</m:t>
                                  </m:r>
                                </m:e>
                                <m:sub>
                                  <m:r>
                                    <a:rPr lang="en-US" altLang="zh-CN" sz="2400" i="1">
                                      <a:solidFill>
                                        <a:prstClr val="black"/>
                                      </a:solidFill>
                                      <a:latin typeface="Cambria Math" panose="02040503050406030204" pitchFamily="18" charset="0"/>
                                    </a:rPr>
                                    <m:t>𝑖</m:t>
                                  </m:r>
                                </m:sub>
                              </m:sSub>
                            </m:e>
                          </m:nary>
                          <m:r>
                            <a:rPr lang="en-US" altLang="zh-CN" sz="2400" i="1">
                              <a:solidFill>
                                <a:prstClr val="black"/>
                              </a:solidFill>
                              <a:latin typeface="Cambria Math" panose="02040503050406030204" pitchFamily="18" charset="0"/>
                              <a:ea typeface="Cambria Math" panose="02040503050406030204" pitchFamily="18" charset="0"/>
                            </a:rPr>
                            <m:t>∙</m:t>
                          </m:r>
                          <m:sSub>
                            <m:sSubPr>
                              <m:ctrlPr>
                                <a:rPr lang="en-US" altLang="zh-CN" sz="2400" i="1">
                                  <a:solidFill>
                                    <a:prstClr val="black"/>
                                  </a:solidFill>
                                  <a:latin typeface="Cambria Math" panose="02040503050406030204" pitchFamily="18" charset="0"/>
                                  <a:ea typeface="Cambria Math" panose="02040503050406030204" pitchFamily="18" charset="0"/>
                                </a:rPr>
                              </m:ctrlPr>
                            </m:sSubPr>
                            <m:e>
                              <m:r>
                                <a:rPr lang="en-US" altLang="zh-CN" sz="2400" i="1">
                                  <a:solidFill>
                                    <a:prstClr val="black"/>
                                  </a:solidFill>
                                  <a:latin typeface="Cambria Math" panose="02040503050406030204" pitchFamily="18" charset="0"/>
                                  <a:ea typeface="Cambria Math" panose="02040503050406030204" pitchFamily="18" charset="0"/>
                                </a:rPr>
                                <m:t>𝑥</m:t>
                              </m:r>
                            </m:e>
                            <m:sub>
                              <m:r>
                                <a:rPr lang="en-US" altLang="zh-CN" sz="2400" i="1">
                                  <a:solidFill>
                                    <a:prstClr val="black"/>
                                  </a:solidFill>
                                  <a:latin typeface="Cambria Math" panose="02040503050406030204" pitchFamily="18" charset="0"/>
                                  <a:ea typeface="Cambria Math" panose="02040503050406030204" pitchFamily="18" charset="0"/>
                                </a:rPr>
                                <m:t>𝑖</m:t>
                              </m:r>
                            </m:sub>
                          </m:sSub>
                        </m:e>
                      </m:d>
                    </m:oMath>
                  </m:oMathPara>
                </a14:m>
                <a:endParaRPr lang="en-US" altLang="zh-CN" sz="2600" dirty="0">
                  <a:solidFill>
                    <a:prstClr val="black"/>
                  </a:solidFill>
                  <a:latin typeface="Times New Roman" panose="02020603050405020304"/>
                  <a:ea typeface="黑体" panose="02010609060101010101" charset="-122"/>
                </a:endParaRPr>
              </a:p>
            </p:txBody>
          </p:sp>
        </mc:Choice>
        <mc:Fallback>
          <p:sp>
            <p:nvSpPr>
              <p:cNvPr id="32" name="矩形 31"/>
              <p:cNvSpPr>
                <a:spLocks noRot="1" noChangeAspect="1" noMove="1" noResize="1" noEditPoints="1" noAdjustHandles="1" noChangeArrowheads="1" noChangeShapeType="1" noTextEdit="1"/>
              </p:cNvSpPr>
              <p:nvPr/>
            </p:nvSpPr>
            <p:spPr>
              <a:xfrm>
                <a:off x="2114675" y="1652402"/>
                <a:ext cx="8066628" cy="4402231"/>
              </a:xfrm>
              <a:prstGeom prst="rect">
                <a:avLst/>
              </a:prstGeom>
              <a:blipFill rotWithShape="1">
                <a:blip r:embed="rId1"/>
                <a:stretch>
                  <a:fillRect l="-2" t="-3" r="-2160" b="12"/>
                </a:stretch>
              </a:blipFill>
              <a:ln>
                <a:noFill/>
              </a:ln>
            </p:spPr>
            <p:txBody>
              <a:bodyPr/>
              <a:lstStyle/>
              <a:p>
                <a:r>
                  <a:rPr lang="zh-CN" altLang="en-US">
                    <a:noFill/>
                  </a:rPr>
                  <a:t> </a:t>
                </a:r>
              </a:p>
            </p:txBody>
          </p:sp>
        </mc:Fallback>
      </mc:AlternateContent>
      <p:sp>
        <p:nvSpPr>
          <p:cNvPr id="5" name="文本框 4"/>
          <p:cNvSpPr txBox="1"/>
          <p:nvPr/>
        </p:nvSpPr>
        <p:spPr>
          <a:xfrm>
            <a:off x="2048309" y="881503"/>
            <a:ext cx="6746647" cy="707694"/>
          </a:xfrm>
          <a:prstGeom prst="rect">
            <a:avLst/>
          </a:prstGeom>
          <a:noFill/>
        </p:spPr>
        <p:txBody>
          <a:bodyPr wrap="square">
            <a:spAutoFit/>
          </a:bodyPr>
          <a:lstStyle/>
          <a:p>
            <a:pPr marL="0" lvl="1">
              <a:lnSpc>
                <a:spcPct val="150000"/>
              </a:lnSpc>
              <a:spcAft>
                <a:spcPts val="600"/>
              </a:spcAft>
            </a:pPr>
            <a:r>
              <a:rPr lang="zh-CN" altLang="en-US" sz="3200" dirty="0">
                <a:solidFill>
                  <a:srgbClr val="C00000"/>
                </a:solidFill>
                <a:latin typeface="方正姚体" panose="02010601030101010101" pitchFamily="2" charset="-122"/>
                <a:ea typeface="方正姚体" panose="02010601030101010101" pitchFamily="2" charset="-122"/>
                <a:cs typeface="+mn-ea"/>
                <a:sym typeface="+mn-lt"/>
              </a:rPr>
              <a:t>感知机的学习过程</a:t>
            </a:r>
            <a:endParaRPr lang="zh-CN" altLang="en-US" sz="3200" dirty="0">
              <a:solidFill>
                <a:srgbClr val="C00000"/>
              </a:solidFill>
              <a:latin typeface="方正姚体" panose="02010601030101010101" pitchFamily="2" charset="-122"/>
              <a:ea typeface="方正姚体" panose="02010601030101010101" pitchFamily="2" charset="-122"/>
              <a:cs typeface="+mn-ea"/>
              <a:sym typeface="+mn-l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50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par>
                          <p:cTn id="8" fill="hold">
                            <p:stCondLst>
                              <p:cond delay="1000"/>
                            </p:stCondLst>
                            <p:childTnLst>
                              <p:par>
                                <p:cTn id="9" presetID="10" presetClass="entr" presetSubtype="0" fill="hold" nodeType="afterEffect">
                                  <p:stCondLst>
                                    <p:cond delay="500"/>
                                  </p:stCondLst>
                                  <p:childTnLst>
                                    <p:set>
                                      <p:cBhvr>
                                        <p:cTn id="10" dur="1" fill="hold">
                                          <p:stCondLst>
                                            <p:cond delay="0"/>
                                          </p:stCondLst>
                                        </p:cTn>
                                        <p:tgtEl>
                                          <p:spTgt spid="32">
                                            <p:txEl>
                                              <p:pRg st="0" end="0"/>
                                            </p:txEl>
                                          </p:spTgt>
                                        </p:tgtEl>
                                        <p:attrNameLst>
                                          <p:attrName>style.visibility</p:attrName>
                                        </p:attrNameLst>
                                      </p:cBhvr>
                                      <p:to>
                                        <p:strVal val="visible"/>
                                      </p:to>
                                    </p:set>
                                    <p:animEffect transition="in" filter="fade">
                                      <p:cBhvr>
                                        <p:cTn id="11" dur="500"/>
                                        <p:tgtEl>
                                          <p:spTgt spid="32">
                                            <p:txEl>
                                              <p:pRg st="0" end="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32">
                                            <p:txEl>
                                              <p:pRg st="1" end="1"/>
                                            </p:txEl>
                                          </p:spTgt>
                                        </p:tgtEl>
                                        <p:attrNameLst>
                                          <p:attrName>style.visibility</p:attrName>
                                        </p:attrNameLst>
                                      </p:cBhvr>
                                      <p:to>
                                        <p:strVal val="visible"/>
                                      </p:to>
                                    </p:set>
                                    <p:animEffect transition="in" filter="fade">
                                      <p:cBhvr>
                                        <p:cTn id="16" dur="500"/>
                                        <p:tgtEl>
                                          <p:spTgt spid="32">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32">
                                            <p:txEl>
                                              <p:pRg st="2" end="2"/>
                                            </p:txEl>
                                          </p:spTgt>
                                        </p:tgtEl>
                                        <p:attrNameLst>
                                          <p:attrName>style.visibility</p:attrName>
                                        </p:attrNameLst>
                                      </p:cBhvr>
                                      <p:to>
                                        <p:strVal val="visible"/>
                                      </p:to>
                                    </p:set>
                                    <p:animEffect transition="in" filter="fade">
                                      <p:cBhvr>
                                        <p:cTn id="21" dur="500"/>
                                        <p:tgtEl>
                                          <p:spTgt spid="32">
                                            <p:txEl>
                                              <p:pRg st="2" end="2"/>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32">
                                            <p:txEl>
                                              <p:pRg st="3" end="3"/>
                                            </p:txEl>
                                          </p:spTgt>
                                        </p:tgtEl>
                                        <p:attrNameLst>
                                          <p:attrName>style.visibility</p:attrName>
                                        </p:attrNameLst>
                                      </p:cBhvr>
                                      <p:to>
                                        <p:strVal val="visible"/>
                                      </p:to>
                                    </p:set>
                                    <p:animEffect transition="in" filter="fade">
                                      <p:cBhvr>
                                        <p:cTn id="26" dur="500"/>
                                        <p:tgtEl>
                                          <p:spTgt spid="32">
                                            <p:txEl>
                                              <p:pRg st="3" end="3"/>
                                            </p:txEl>
                                          </p:spTgt>
                                        </p:tgtEl>
                                      </p:cBhvr>
                                    </p:animEffect>
                                  </p:childTnLst>
                                </p:cTn>
                              </p:par>
                            </p:childTnLst>
                          </p:cTn>
                        </p:par>
                        <p:par>
                          <p:cTn id="27" fill="hold">
                            <p:stCondLst>
                              <p:cond delay="500"/>
                            </p:stCondLst>
                            <p:childTnLst>
                              <p:par>
                                <p:cTn id="28" presetID="10" presetClass="entr" presetSubtype="0" fill="hold" nodeType="afterEffect">
                                  <p:stCondLst>
                                    <p:cond delay="250"/>
                                  </p:stCondLst>
                                  <p:childTnLst>
                                    <p:set>
                                      <p:cBhvr>
                                        <p:cTn id="29" dur="1" fill="hold">
                                          <p:stCondLst>
                                            <p:cond delay="0"/>
                                          </p:stCondLst>
                                        </p:cTn>
                                        <p:tgtEl>
                                          <p:spTgt spid="32">
                                            <p:txEl>
                                              <p:pRg st="4" end="4"/>
                                            </p:txEl>
                                          </p:spTgt>
                                        </p:tgtEl>
                                        <p:attrNameLst>
                                          <p:attrName>style.visibility</p:attrName>
                                        </p:attrNameLst>
                                      </p:cBhvr>
                                      <p:to>
                                        <p:strVal val="visible"/>
                                      </p:to>
                                    </p:set>
                                    <p:animEffect transition="in" filter="fade">
                                      <p:cBhvr>
                                        <p:cTn id="30" dur="500"/>
                                        <p:tgtEl>
                                          <p:spTgt spid="3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a:spLocks noGrp="1"/>
          </p:cNvSpPr>
          <p:nvPr>
            <p:ph type="title"/>
          </p:nvPr>
        </p:nvSpPr>
        <p:spPr>
          <a:xfrm>
            <a:off x="1916315" y="131079"/>
            <a:ext cx="7962648" cy="657727"/>
          </a:xfrm>
        </p:spPr>
        <p:txBody>
          <a:bodyPr/>
          <a:lstStyle/>
          <a:p>
            <a:pPr algn="l"/>
            <a:r>
              <a:rPr lang="zh-CN" altLang="en-US" sz="4000" dirty="0">
                <a:latin typeface="方正姚体" panose="02010601030101010101" pitchFamily="2" charset="-122"/>
                <a:ea typeface="方正姚体" panose="02010601030101010101" pitchFamily="2" charset="-122"/>
                <a:cs typeface="Times New Roman" panose="02020603050405020304" pitchFamily="18" charset="0"/>
              </a:rPr>
              <a:t>人工神经网络简介</a:t>
            </a:r>
            <a:endParaRPr lang="zh-CN" altLang="en-US" sz="4000" dirty="0">
              <a:latin typeface="方正姚体" panose="02010601030101010101" pitchFamily="2" charset="-122"/>
              <a:ea typeface="方正姚体" panose="02010601030101010101" pitchFamily="2" charset="-122"/>
              <a:cs typeface="Times New Roman" panose="02020603050405020304" pitchFamily="18" charset="0"/>
            </a:endParaRPr>
          </a:p>
        </p:txBody>
      </p:sp>
      <mc:AlternateContent xmlns:mc="http://schemas.openxmlformats.org/markup-compatibility/2006">
        <mc:Choice xmlns:a14="http://schemas.microsoft.com/office/drawing/2010/main" Requires="a14">
          <p:sp>
            <p:nvSpPr>
              <p:cNvPr id="32" name="矩形 31"/>
              <p:cNvSpPr/>
              <p:nvPr/>
            </p:nvSpPr>
            <p:spPr>
              <a:xfrm>
                <a:off x="2114675" y="1652401"/>
                <a:ext cx="8066628" cy="4717702"/>
              </a:xfrm>
              <a:prstGeom prst="rect">
                <a:avLst/>
              </a:prstGeom>
              <a:ln>
                <a:noFill/>
              </a:ln>
            </p:spPr>
            <p:txBody>
              <a:bodyPr wrap="square">
                <a:spAutoFit/>
              </a:bodyPr>
              <a:lstStyle/>
              <a:p>
                <a:pPr marL="323850" indent="-342900" algn="just">
                  <a:lnSpc>
                    <a:spcPct val="130000"/>
                  </a:lnSpc>
                  <a:buFont typeface="Wingdings" panose="05000000000000000000" pitchFamily="2" charset="2"/>
                  <a:buChar char="Ø"/>
                </a:pPr>
                <a:r>
                  <a:rPr lang="zh-CN" altLang="en-US" sz="2600" dirty="0">
                    <a:solidFill>
                      <a:srgbClr val="FF0000"/>
                    </a:solidFill>
                    <a:latin typeface="Times New Roman" panose="02020603050405020304"/>
                    <a:ea typeface="黑体" panose="02010609060101010101" charset="-122"/>
                  </a:rPr>
                  <a:t>感知机学习过程和权值更新规则</a:t>
                </a:r>
                <a:endParaRPr lang="zh-CN" altLang="en-US" sz="2600" dirty="0">
                  <a:solidFill>
                    <a:srgbClr val="FF0000"/>
                  </a:solidFill>
                  <a:latin typeface="Times New Roman" panose="02020603050405020304"/>
                  <a:ea typeface="黑体" panose="02010609060101010101" charset="-122"/>
                </a:endParaRPr>
              </a:p>
              <a:p>
                <a:pPr algn="just">
                  <a:lnSpc>
                    <a:spcPct val="130000"/>
                  </a:lnSpc>
                </a:pPr>
                <a:r>
                  <a:rPr lang="en-US" altLang="zh-CN" sz="2600" i="1" dirty="0">
                    <a:solidFill>
                      <a:prstClr val="black"/>
                    </a:solidFill>
                    <a:latin typeface="Times New Roman" panose="02020603050405020304"/>
                    <a:ea typeface="黑体" panose="02010609060101010101" charset="-122"/>
                  </a:rPr>
                  <a:t>Step</a:t>
                </a:r>
                <a:r>
                  <a:rPr lang="en-US" altLang="zh-CN" sz="2600" dirty="0">
                    <a:solidFill>
                      <a:prstClr val="black"/>
                    </a:solidFill>
                    <a:latin typeface="Times New Roman" panose="02020603050405020304"/>
                    <a:ea typeface="黑体" panose="02010609060101010101" charset="-122"/>
                  </a:rPr>
                  <a:t>4</a:t>
                </a:r>
                <a:r>
                  <a:rPr lang="zh-CN" altLang="en-US" sz="2600" dirty="0">
                    <a:solidFill>
                      <a:prstClr val="black"/>
                    </a:solidFill>
                    <a:latin typeface="Times New Roman" panose="02020603050405020304"/>
                    <a:ea typeface="黑体" panose="02010609060101010101" charset="-122"/>
                  </a:rPr>
                  <a:t>：若该点被分类错误，则存在误差</a:t>
                </a:r>
                <a:r>
                  <a:rPr lang="en-US" altLang="zh-CN" sz="2600" dirty="0">
                    <a:solidFill>
                      <a:prstClr val="black"/>
                    </a:solidFill>
                    <a:latin typeface="Times New Roman" panose="02020603050405020304"/>
                    <a:ea typeface="黑体" panose="02010609060101010101" charset="-122"/>
                  </a:rPr>
                  <a:t>(</a:t>
                </a:r>
                <a:r>
                  <a:rPr lang="en-US" altLang="zh-CN" sz="2600" i="1" dirty="0">
                    <a:solidFill>
                      <a:prstClr val="black"/>
                    </a:solidFill>
                    <a:latin typeface="Times New Roman" panose="02020603050405020304"/>
                    <a:ea typeface="黑体" panose="02010609060101010101" charset="-122"/>
                  </a:rPr>
                  <a:t>ε</a:t>
                </a:r>
                <a:r>
                  <a:rPr lang="en-US" altLang="zh-CN" sz="2600" dirty="0">
                    <a:solidFill>
                      <a:prstClr val="black"/>
                    </a:solidFill>
                    <a:latin typeface="Times New Roman" panose="02020603050405020304"/>
                    <a:ea typeface="黑体" panose="02010609060101010101" charset="-122"/>
                  </a:rPr>
                  <a:t>=</a:t>
                </a:r>
                <a:r>
                  <a:rPr lang="en-US" altLang="zh-CN" sz="2600" i="1" dirty="0">
                    <a:solidFill>
                      <a:prstClr val="black"/>
                    </a:solidFill>
                    <a:latin typeface="Times New Roman" panose="02020603050405020304"/>
                    <a:ea typeface="黑体" panose="02010609060101010101" charset="-122"/>
                  </a:rPr>
                  <a:t>y</a:t>
                </a:r>
                <a:r>
                  <a:rPr lang="en-US" altLang="zh-CN" sz="2600" dirty="0">
                    <a:solidFill>
                      <a:prstClr val="black"/>
                    </a:solidFill>
                    <a:latin typeface="Times New Roman" panose="02020603050405020304"/>
                    <a:ea typeface="黑体" panose="02010609060101010101" charset="-122"/>
                  </a:rPr>
                  <a:t>-</a:t>
                </a:r>
                <a:r>
                  <a:rPr lang="en-US" altLang="zh-CN" sz="2600" i="1" dirty="0">
                    <a:solidFill>
                      <a:prstClr val="black"/>
                    </a:solidFill>
                    <a:latin typeface="Times New Roman" panose="02020603050405020304"/>
                    <a:ea typeface="黑体" panose="02010609060101010101" charset="-122"/>
                  </a:rPr>
                  <a:t>y</a:t>
                </a:r>
                <a:r>
                  <a:rPr lang="en-US" altLang="zh-CN" sz="2600" i="1" baseline="-25000" dirty="0">
                    <a:solidFill>
                      <a:prstClr val="black"/>
                    </a:solidFill>
                    <a:latin typeface="Times New Roman" panose="02020603050405020304"/>
                    <a:ea typeface="黑体" panose="02010609060101010101" charset="-122"/>
                  </a:rPr>
                  <a:t>out</a:t>
                </a:r>
                <a:r>
                  <a:rPr lang="en-US" altLang="zh-CN" sz="2600" dirty="0">
                    <a:solidFill>
                      <a:prstClr val="black"/>
                    </a:solidFill>
                    <a:latin typeface="Times New Roman" panose="02020603050405020304"/>
                    <a:ea typeface="黑体" panose="02010609060101010101" charset="-122"/>
                  </a:rPr>
                  <a:t>≠0)</a:t>
                </a:r>
                <a:r>
                  <a:rPr lang="zh-CN" altLang="en-US" sz="2600" dirty="0">
                    <a:solidFill>
                      <a:prstClr val="black"/>
                    </a:solidFill>
                    <a:latin typeface="Times New Roman" panose="02020603050405020304"/>
                    <a:ea typeface="黑体" panose="02010609060101010101" charset="-122"/>
                  </a:rPr>
                  <a:t>，以误差为基础对每个权值</a:t>
                </a:r>
                <a14:m>
                  <m:oMath xmlns:m="http://schemas.openxmlformats.org/officeDocument/2006/math">
                    <m:sSub>
                      <m:sSubPr>
                        <m:ctrlPr>
                          <a:rPr lang="en-US" altLang="zh-CN" sz="2600" i="1">
                            <a:solidFill>
                              <a:prstClr val="black"/>
                            </a:solidFill>
                            <a:latin typeface="Cambria Math" panose="02040503050406030204" pitchFamily="18" charset="0"/>
                          </a:rPr>
                        </m:ctrlPr>
                      </m:sSubPr>
                      <m:e>
                        <m:r>
                          <a:rPr lang="en-US" altLang="zh-CN" sz="2600" i="1">
                            <a:solidFill>
                              <a:prstClr val="black"/>
                            </a:solidFill>
                            <a:latin typeface="Cambria Math" panose="02040503050406030204" pitchFamily="18" charset="0"/>
                          </a:rPr>
                          <m:t>𝑤</m:t>
                        </m:r>
                      </m:e>
                      <m:sub>
                        <m:r>
                          <a:rPr lang="en-US" altLang="zh-CN" sz="2600" i="1">
                            <a:solidFill>
                              <a:prstClr val="black"/>
                            </a:solidFill>
                            <a:latin typeface="Cambria Math" panose="02040503050406030204" pitchFamily="18" charset="0"/>
                          </a:rPr>
                          <m:t>𝑖</m:t>
                        </m:r>
                      </m:sub>
                    </m:sSub>
                    <m:r>
                      <a:rPr lang="en-US" altLang="zh-CN" sz="2600" i="1">
                        <a:solidFill>
                          <a:prstClr val="black"/>
                        </a:solidFill>
                        <a:latin typeface="Cambria Math" panose="02040503050406030204" pitchFamily="18" charset="0"/>
                      </a:rPr>
                      <m:t> </m:t>
                    </m:r>
                    <m:r>
                      <a:rPr lang="en-US" altLang="zh-CN" sz="2600">
                        <a:solidFill>
                          <a:prstClr val="black"/>
                        </a:solidFill>
                        <a:latin typeface="Cambria Math" panose="02040503050406030204" pitchFamily="18" charset="0"/>
                      </a:rPr>
                      <m:t>(</m:t>
                    </m:r>
                  </m:oMath>
                </a14:m>
                <a:r>
                  <a:rPr lang="en-US" altLang="zh-CN" sz="2600" dirty="0">
                    <a:solidFill>
                      <a:prstClr val="black"/>
                    </a:solidFill>
                    <a:latin typeface="Times New Roman" panose="02020603050405020304"/>
                    <a:ea typeface="黑体" panose="02010609060101010101" charset="-122"/>
                  </a:rPr>
                  <a:t>0 ≤ </a:t>
                </a:r>
                <a:r>
                  <a:rPr lang="en-US" altLang="zh-CN" sz="2600" i="1" dirty="0" err="1">
                    <a:solidFill>
                      <a:prstClr val="black"/>
                    </a:solidFill>
                    <a:latin typeface="Times New Roman" panose="02020603050405020304"/>
                    <a:ea typeface="黑体" panose="02010609060101010101" charset="-122"/>
                  </a:rPr>
                  <a:t>i</a:t>
                </a:r>
                <a:r>
                  <a:rPr lang="en-US" altLang="zh-CN" sz="2600" dirty="0">
                    <a:solidFill>
                      <a:prstClr val="black"/>
                    </a:solidFill>
                    <a:latin typeface="Times New Roman" panose="02020603050405020304"/>
                    <a:ea typeface="黑体" panose="02010609060101010101" charset="-122"/>
                  </a:rPr>
                  <a:t> ≤ </a:t>
                </a:r>
                <a:r>
                  <a:rPr lang="en-US" altLang="zh-CN" sz="2600" i="1" dirty="0">
                    <a:solidFill>
                      <a:prstClr val="black"/>
                    </a:solidFill>
                    <a:latin typeface="Times New Roman" panose="02020603050405020304"/>
                    <a:ea typeface="黑体" panose="02010609060101010101" charset="-122"/>
                  </a:rPr>
                  <a:t>n</a:t>
                </a:r>
                <a:r>
                  <a:rPr lang="zh-CN" altLang="en-US" sz="2600" dirty="0">
                    <a:solidFill>
                      <a:prstClr val="black"/>
                    </a:solidFill>
                    <a:latin typeface="Times New Roman" panose="02020603050405020304"/>
                    <a:ea typeface="黑体" panose="02010609060101010101" charset="-122"/>
                  </a:rPr>
                  <a:t>）按以下规则进行调整（称为学习规则）：</a:t>
                </a:r>
                <a:endParaRPr lang="zh-CN" altLang="en-US" sz="2600" dirty="0">
                  <a:solidFill>
                    <a:prstClr val="black"/>
                  </a:solidFill>
                  <a:latin typeface="Times New Roman" panose="02020603050405020304"/>
                  <a:ea typeface="黑体" panose="02010609060101010101" charset="-122"/>
                </a:endParaRPr>
              </a:p>
              <a:p>
                <a:pPr algn="just">
                  <a:lnSpc>
                    <a:spcPct val="130000"/>
                  </a:lnSpc>
                </a:pPr>
                <a14:m>
                  <m:oMathPara xmlns:m="http://schemas.openxmlformats.org/officeDocument/2006/math">
                    <m:oMathParaPr>
                      <m:jc m:val="centerGroup"/>
                    </m:oMathParaPr>
                    <m:oMath xmlns:m="http://schemas.openxmlformats.org/officeDocument/2006/math">
                      <m:r>
                        <a:rPr lang="en-US" altLang="zh-CN" sz="2600" i="1">
                          <a:solidFill>
                            <a:prstClr val="black"/>
                          </a:solidFill>
                          <a:latin typeface="Cambria Math" panose="02040503050406030204" pitchFamily="18" charset="0"/>
                          <a:ea typeface="Cambria Math" panose="02040503050406030204" pitchFamily="18" charset="0"/>
                        </a:rPr>
                        <m:t>∆</m:t>
                      </m:r>
                      <m:sSub>
                        <m:sSubPr>
                          <m:ctrlPr>
                            <a:rPr lang="en-US" altLang="zh-CN" sz="2600" i="1">
                              <a:solidFill>
                                <a:prstClr val="black"/>
                              </a:solidFill>
                              <a:latin typeface="Cambria Math" panose="02040503050406030204" pitchFamily="18" charset="0"/>
                              <a:ea typeface="Cambria Math" panose="02040503050406030204" pitchFamily="18" charset="0"/>
                            </a:rPr>
                          </m:ctrlPr>
                        </m:sSubPr>
                        <m:e>
                          <m:r>
                            <a:rPr lang="en-US" altLang="zh-CN" sz="2600" i="1">
                              <a:solidFill>
                                <a:prstClr val="black"/>
                              </a:solidFill>
                              <a:latin typeface="Cambria Math" panose="02040503050406030204" pitchFamily="18" charset="0"/>
                              <a:ea typeface="Cambria Math" panose="02040503050406030204" pitchFamily="18" charset="0"/>
                            </a:rPr>
                            <m:t>𝑤</m:t>
                          </m:r>
                        </m:e>
                        <m:sub>
                          <m:r>
                            <a:rPr lang="en-US" altLang="zh-CN" sz="2600" i="1">
                              <a:solidFill>
                                <a:prstClr val="black"/>
                              </a:solidFill>
                              <a:latin typeface="Cambria Math" panose="02040503050406030204" pitchFamily="18" charset="0"/>
                              <a:ea typeface="Cambria Math" panose="02040503050406030204" pitchFamily="18" charset="0"/>
                            </a:rPr>
                            <m:t>𝑖</m:t>
                          </m:r>
                        </m:sub>
                      </m:sSub>
                      <m:r>
                        <a:rPr lang="en-US" altLang="zh-CN" sz="2600" i="1">
                          <a:solidFill>
                            <a:prstClr val="black"/>
                          </a:solidFill>
                          <a:latin typeface="Cambria Math" panose="02040503050406030204" pitchFamily="18" charset="0"/>
                          <a:ea typeface="Cambria Math" panose="02040503050406030204" pitchFamily="18" charset="0"/>
                        </a:rPr>
                        <m:t>=</m:t>
                      </m:r>
                      <m:r>
                        <a:rPr lang="zh-CN" altLang="en-US" sz="2600" i="1">
                          <a:solidFill>
                            <a:prstClr val="black"/>
                          </a:solidFill>
                          <a:latin typeface="Cambria Math" panose="02040503050406030204" pitchFamily="18" charset="0"/>
                          <a:ea typeface="Cambria Math" panose="02040503050406030204" pitchFamily="18" charset="0"/>
                        </a:rPr>
                        <m:t>𝜂</m:t>
                      </m:r>
                      <m:r>
                        <a:rPr lang="en-US" altLang="zh-CN" sz="2600" i="1">
                          <a:solidFill>
                            <a:prstClr val="black"/>
                          </a:solidFill>
                          <a:latin typeface="Cambria Math" panose="02040503050406030204" pitchFamily="18" charset="0"/>
                          <a:ea typeface="Cambria Math" panose="02040503050406030204" pitchFamily="18" charset="0"/>
                        </a:rPr>
                        <m:t>∗</m:t>
                      </m:r>
                      <m:d>
                        <m:dPr>
                          <m:ctrlPr>
                            <a:rPr lang="en-US" altLang="zh-CN" sz="2600" i="1">
                              <a:solidFill>
                                <a:prstClr val="black"/>
                              </a:solidFill>
                              <a:latin typeface="Cambria Math" panose="02040503050406030204" pitchFamily="18" charset="0"/>
                              <a:ea typeface="Cambria Math" panose="02040503050406030204" pitchFamily="18" charset="0"/>
                            </a:rPr>
                          </m:ctrlPr>
                        </m:dPr>
                        <m:e>
                          <m:r>
                            <a:rPr lang="en-US" altLang="zh-CN" sz="2600" i="1">
                              <a:solidFill>
                                <a:prstClr val="black"/>
                              </a:solidFill>
                              <a:latin typeface="Cambria Math" panose="02040503050406030204" pitchFamily="18" charset="0"/>
                              <a:ea typeface="Cambria Math" panose="02040503050406030204" pitchFamily="18" charset="0"/>
                            </a:rPr>
                            <m:t>𝑦</m:t>
                          </m:r>
                          <m:r>
                            <a:rPr lang="en-US" altLang="zh-CN" sz="2600" i="1">
                              <a:solidFill>
                                <a:prstClr val="black"/>
                              </a:solidFill>
                              <a:latin typeface="Cambria Math" panose="02040503050406030204" pitchFamily="18" charset="0"/>
                              <a:ea typeface="Cambria Math" panose="02040503050406030204" pitchFamily="18" charset="0"/>
                            </a:rPr>
                            <m:t>−</m:t>
                          </m:r>
                          <m:sSub>
                            <m:sSubPr>
                              <m:ctrlPr>
                                <a:rPr lang="en-US" altLang="zh-CN" sz="2600" i="1">
                                  <a:solidFill>
                                    <a:prstClr val="black"/>
                                  </a:solidFill>
                                  <a:latin typeface="Cambria Math" panose="02040503050406030204" pitchFamily="18" charset="0"/>
                                  <a:ea typeface="Cambria Math" panose="02040503050406030204" pitchFamily="18" charset="0"/>
                                </a:rPr>
                              </m:ctrlPr>
                            </m:sSubPr>
                            <m:e>
                              <m:r>
                                <a:rPr lang="en-US" altLang="zh-CN" sz="2600" i="1">
                                  <a:solidFill>
                                    <a:prstClr val="black"/>
                                  </a:solidFill>
                                  <a:latin typeface="Cambria Math" panose="02040503050406030204" pitchFamily="18" charset="0"/>
                                  <a:ea typeface="Cambria Math" panose="02040503050406030204" pitchFamily="18" charset="0"/>
                                </a:rPr>
                                <m:t>𝑦</m:t>
                              </m:r>
                            </m:e>
                            <m:sub>
                              <m:r>
                                <a:rPr lang="en-US" altLang="zh-CN" sz="2600" i="1">
                                  <a:solidFill>
                                    <a:prstClr val="black"/>
                                  </a:solidFill>
                                  <a:latin typeface="Cambria Math" panose="02040503050406030204" pitchFamily="18" charset="0"/>
                                  <a:ea typeface="Cambria Math" panose="02040503050406030204" pitchFamily="18" charset="0"/>
                                </a:rPr>
                                <m:t>𝑜𝑢𝑡</m:t>
                              </m:r>
                            </m:sub>
                          </m:sSub>
                        </m:e>
                      </m:d>
                      <m:r>
                        <a:rPr lang="en-US" altLang="zh-CN" sz="2600" i="1">
                          <a:solidFill>
                            <a:prstClr val="black"/>
                          </a:solidFill>
                          <a:latin typeface="Cambria Math" panose="02040503050406030204" pitchFamily="18" charset="0"/>
                          <a:ea typeface="Cambria Math" panose="02040503050406030204" pitchFamily="18" charset="0"/>
                        </a:rPr>
                        <m:t>∗</m:t>
                      </m:r>
                      <m:sSub>
                        <m:sSubPr>
                          <m:ctrlPr>
                            <a:rPr lang="en-US" altLang="zh-CN" sz="2600" i="1">
                              <a:solidFill>
                                <a:prstClr val="black"/>
                              </a:solidFill>
                              <a:latin typeface="Cambria Math" panose="02040503050406030204" pitchFamily="18" charset="0"/>
                              <a:ea typeface="Cambria Math" panose="02040503050406030204" pitchFamily="18" charset="0"/>
                            </a:rPr>
                          </m:ctrlPr>
                        </m:sSubPr>
                        <m:e>
                          <m:r>
                            <a:rPr lang="en-US" altLang="zh-CN" sz="2600" i="1">
                              <a:solidFill>
                                <a:prstClr val="black"/>
                              </a:solidFill>
                              <a:latin typeface="Cambria Math" panose="02040503050406030204" pitchFamily="18" charset="0"/>
                              <a:ea typeface="Cambria Math" panose="02040503050406030204" pitchFamily="18" charset="0"/>
                            </a:rPr>
                            <m:t>𝑥</m:t>
                          </m:r>
                        </m:e>
                        <m:sub>
                          <m:r>
                            <a:rPr lang="en-US" altLang="zh-CN" sz="2600" i="1">
                              <a:solidFill>
                                <a:prstClr val="black"/>
                              </a:solidFill>
                              <a:latin typeface="Cambria Math" panose="02040503050406030204" pitchFamily="18" charset="0"/>
                              <a:ea typeface="Cambria Math" panose="02040503050406030204" pitchFamily="18" charset="0"/>
                            </a:rPr>
                            <m:t>𝑖</m:t>
                          </m:r>
                        </m:sub>
                      </m:sSub>
                    </m:oMath>
                  </m:oMathPara>
                </a14:m>
                <a:endParaRPr lang="en-US" altLang="zh-CN" sz="2600" dirty="0">
                  <a:solidFill>
                    <a:prstClr val="black"/>
                  </a:solidFill>
                  <a:latin typeface="Times New Roman" panose="02020603050405020304"/>
                  <a:ea typeface="黑体" panose="02010609060101010101" charset="-122"/>
                </a:endParaRPr>
              </a:p>
              <a:p>
                <a:pPr algn="ctr">
                  <a:lnSpc>
                    <a:spcPct val="130000"/>
                  </a:lnSpc>
                </a:pPr>
                <a14:m>
                  <m:oMath xmlns:m="http://schemas.openxmlformats.org/officeDocument/2006/math">
                    <m:sSub>
                      <m:sSubPr>
                        <m:ctrlPr>
                          <a:rPr lang="en-US" altLang="zh-CN" sz="2600" i="1">
                            <a:solidFill>
                              <a:prstClr val="black"/>
                            </a:solidFill>
                            <a:latin typeface="Cambria Math" panose="02040503050406030204" pitchFamily="18" charset="0"/>
                            <a:ea typeface="Cambria Math" panose="02040503050406030204" pitchFamily="18" charset="0"/>
                          </a:rPr>
                        </m:ctrlPr>
                      </m:sSubPr>
                      <m:e>
                        <m:r>
                          <a:rPr lang="en-US" altLang="zh-CN" sz="2600" i="1">
                            <a:solidFill>
                              <a:prstClr val="black"/>
                            </a:solidFill>
                            <a:latin typeface="Cambria Math" panose="02040503050406030204" pitchFamily="18" charset="0"/>
                            <a:ea typeface="Cambria Math" panose="02040503050406030204" pitchFamily="18" charset="0"/>
                          </a:rPr>
                          <m:t>𝑤</m:t>
                        </m:r>
                      </m:e>
                      <m:sub>
                        <m:r>
                          <a:rPr lang="en-US" altLang="zh-CN" sz="2600" i="1">
                            <a:solidFill>
                              <a:prstClr val="black"/>
                            </a:solidFill>
                            <a:latin typeface="Cambria Math" panose="02040503050406030204" pitchFamily="18" charset="0"/>
                            <a:ea typeface="Cambria Math" panose="02040503050406030204" pitchFamily="18" charset="0"/>
                          </a:rPr>
                          <m:t>𝑖</m:t>
                        </m:r>
                      </m:sub>
                    </m:sSub>
                    <m:r>
                      <a:rPr lang="en-US" altLang="zh-CN" sz="2600" i="1">
                        <a:solidFill>
                          <a:prstClr val="black"/>
                        </a:solidFill>
                        <a:latin typeface="Cambria Math" panose="02040503050406030204" pitchFamily="18" charset="0"/>
                        <a:ea typeface="Cambria Math" panose="02040503050406030204" pitchFamily="18" charset="0"/>
                      </a:rPr>
                      <m:t>←</m:t>
                    </m:r>
                  </m:oMath>
                </a14:m>
                <a:r>
                  <a:rPr lang="en-US" altLang="zh-CN" sz="2600" dirty="0">
                    <a:solidFill>
                      <a:prstClr val="black"/>
                    </a:solidFill>
                    <a:latin typeface="Times New Roman" panose="02020603050405020304"/>
                    <a:ea typeface="Cambria Math" panose="02040503050406030204" pitchFamily="18" charset="0"/>
                  </a:rPr>
                  <a:t> </a:t>
                </a:r>
                <a14:m>
                  <m:oMath xmlns:m="http://schemas.openxmlformats.org/officeDocument/2006/math">
                    <m:sSub>
                      <m:sSubPr>
                        <m:ctrlPr>
                          <a:rPr lang="en-US" altLang="zh-CN" sz="2600" i="1">
                            <a:solidFill>
                              <a:prstClr val="black"/>
                            </a:solidFill>
                            <a:latin typeface="Cambria Math" panose="02040503050406030204" pitchFamily="18" charset="0"/>
                            <a:ea typeface="Cambria Math" panose="02040503050406030204" pitchFamily="18" charset="0"/>
                          </a:rPr>
                        </m:ctrlPr>
                      </m:sSubPr>
                      <m:e>
                        <m:r>
                          <a:rPr lang="en-US" altLang="zh-CN" sz="2600" i="1">
                            <a:solidFill>
                              <a:prstClr val="black"/>
                            </a:solidFill>
                            <a:latin typeface="Cambria Math" panose="02040503050406030204" pitchFamily="18" charset="0"/>
                            <a:ea typeface="Cambria Math" panose="02040503050406030204" pitchFamily="18" charset="0"/>
                          </a:rPr>
                          <m:t>𝑤</m:t>
                        </m:r>
                      </m:e>
                      <m:sub>
                        <m:r>
                          <a:rPr lang="en-US" altLang="zh-CN" sz="2600" i="1">
                            <a:solidFill>
                              <a:prstClr val="black"/>
                            </a:solidFill>
                            <a:latin typeface="Cambria Math" panose="02040503050406030204" pitchFamily="18" charset="0"/>
                            <a:ea typeface="Cambria Math" panose="02040503050406030204" pitchFamily="18" charset="0"/>
                          </a:rPr>
                          <m:t>𝑖</m:t>
                        </m:r>
                      </m:sub>
                    </m:sSub>
                    <m:r>
                      <a:rPr lang="en-US" altLang="zh-CN" sz="2600" i="1">
                        <a:solidFill>
                          <a:prstClr val="black"/>
                        </a:solidFill>
                        <a:latin typeface="Cambria Math" panose="02040503050406030204" pitchFamily="18" charset="0"/>
                        <a:ea typeface="Cambria Math" panose="02040503050406030204" pitchFamily="18" charset="0"/>
                      </a:rPr>
                      <m:t>+</m:t>
                    </m:r>
                    <m:sSub>
                      <m:sSubPr>
                        <m:ctrlPr>
                          <a:rPr lang="en-US" altLang="zh-CN" sz="2600" i="1">
                            <a:solidFill>
                              <a:prstClr val="black"/>
                            </a:solidFill>
                            <a:latin typeface="Cambria Math" panose="02040503050406030204" pitchFamily="18" charset="0"/>
                            <a:ea typeface="Cambria Math" panose="02040503050406030204" pitchFamily="18" charset="0"/>
                          </a:rPr>
                        </m:ctrlPr>
                      </m:sSubPr>
                      <m:e>
                        <m:r>
                          <a:rPr lang="en-US" altLang="zh-CN" sz="2600" i="1">
                            <a:solidFill>
                              <a:prstClr val="black"/>
                            </a:solidFill>
                            <a:latin typeface="Cambria Math" panose="02040503050406030204" pitchFamily="18" charset="0"/>
                            <a:ea typeface="Cambria Math" panose="02040503050406030204" pitchFamily="18" charset="0"/>
                          </a:rPr>
                          <m:t>∆</m:t>
                        </m:r>
                        <m:r>
                          <a:rPr lang="en-US" altLang="zh-CN" sz="2600" i="1">
                            <a:solidFill>
                              <a:prstClr val="black"/>
                            </a:solidFill>
                            <a:latin typeface="Cambria Math" panose="02040503050406030204" pitchFamily="18" charset="0"/>
                            <a:ea typeface="Cambria Math" panose="02040503050406030204" pitchFamily="18" charset="0"/>
                          </a:rPr>
                          <m:t>𝑤</m:t>
                        </m:r>
                      </m:e>
                      <m:sub>
                        <m:r>
                          <a:rPr lang="en-US" altLang="zh-CN" sz="2600" i="1">
                            <a:solidFill>
                              <a:prstClr val="black"/>
                            </a:solidFill>
                            <a:latin typeface="Cambria Math" panose="02040503050406030204" pitchFamily="18" charset="0"/>
                            <a:ea typeface="Cambria Math" panose="02040503050406030204" pitchFamily="18" charset="0"/>
                          </a:rPr>
                          <m:t>𝑖</m:t>
                        </m:r>
                      </m:sub>
                    </m:sSub>
                  </m:oMath>
                </a14:m>
                <a:endParaRPr lang="zh-CN" altLang="en-US" sz="2600" dirty="0">
                  <a:solidFill>
                    <a:prstClr val="black"/>
                  </a:solidFill>
                  <a:latin typeface="Times New Roman" panose="02020603050405020304"/>
                  <a:ea typeface="黑体" panose="02010609060101010101" charset="-122"/>
                </a:endParaRPr>
              </a:p>
              <a:p>
                <a:pPr algn="just">
                  <a:lnSpc>
                    <a:spcPct val="130000"/>
                  </a:lnSpc>
                </a:pPr>
                <a:r>
                  <a:rPr lang="en-US" altLang="zh-CN" sz="2600" i="1" dirty="0">
                    <a:solidFill>
                      <a:prstClr val="black"/>
                    </a:solidFill>
                    <a:latin typeface="Times New Roman" panose="02020603050405020304"/>
                    <a:ea typeface="黑体" panose="02010609060101010101" charset="-122"/>
                  </a:rPr>
                  <a:t>Step</a:t>
                </a:r>
                <a:r>
                  <a:rPr lang="en-US" altLang="zh-CN" sz="2600" dirty="0">
                    <a:solidFill>
                      <a:prstClr val="black"/>
                    </a:solidFill>
                    <a:latin typeface="Times New Roman" panose="02020603050405020304"/>
                    <a:ea typeface="黑体" panose="02010609060101010101" charset="-122"/>
                  </a:rPr>
                  <a:t>5</a:t>
                </a:r>
                <a:r>
                  <a:rPr lang="zh-CN" altLang="en-US" sz="2600" dirty="0">
                    <a:solidFill>
                      <a:prstClr val="black"/>
                    </a:solidFill>
                    <a:latin typeface="Times New Roman" panose="02020603050405020304"/>
                    <a:ea typeface="黑体" panose="02010609060101010101" charset="-122"/>
                  </a:rPr>
                  <a:t>：如果所有的样本分类的输出均正确即成功分类，则训练过程结束。若有任一个样本输出错误，则都将导致权值调整，并且再次逐个输入所有样本进行训练。</a:t>
                </a:r>
                <a:endParaRPr lang="zh-CN" altLang="en-US" sz="2600" dirty="0">
                  <a:solidFill>
                    <a:prstClr val="black"/>
                  </a:solidFill>
                  <a:latin typeface="Times New Roman" panose="02020603050405020304"/>
                  <a:ea typeface="黑体" panose="02010609060101010101" charset="-122"/>
                </a:endParaRPr>
              </a:p>
            </p:txBody>
          </p:sp>
        </mc:Choice>
        <mc:Fallback>
          <p:sp>
            <p:nvSpPr>
              <p:cNvPr id="32" name="矩形 31"/>
              <p:cNvSpPr>
                <a:spLocks noRot="1" noChangeAspect="1" noMove="1" noResize="1" noEditPoints="1" noAdjustHandles="1" noChangeArrowheads="1" noChangeShapeType="1" noTextEdit="1"/>
              </p:cNvSpPr>
              <p:nvPr/>
            </p:nvSpPr>
            <p:spPr>
              <a:xfrm>
                <a:off x="2114675" y="1652401"/>
                <a:ext cx="8066628" cy="4717702"/>
              </a:xfrm>
              <a:prstGeom prst="rect">
                <a:avLst/>
              </a:prstGeom>
              <a:blipFill rotWithShape="1">
                <a:blip r:embed="rId1"/>
                <a:stretch>
                  <a:fillRect l="-2" t="-3" r="-279" b="9"/>
                </a:stretch>
              </a:blipFill>
              <a:ln>
                <a:noFill/>
              </a:ln>
            </p:spPr>
            <p:txBody>
              <a:bodyPr/>
              <a:lstStyle/>
              <a:p>
                <a:r>
                  <a:rPr lang="zh-CN" altLang="en-US">
                    <a:noFill/>
                  </a:rPr>
                  <a:t> </a:t>
                </a:r>
              </a:p>
            </p:txBody>
          </p:sp>
        </mc:Fallback>
      </mc:AlternateContent>
      <p:sp>
        <p:nvSpPr>
          <p:cNvPr id="5" name="文本框 4"/>
          <p:cNvSpPr txBox="1"/>
          <p:nvPr/>
        </p:nvSpPr>
        <p:spPr>
          <a:xfrm>
            <a:off x="2048309" y="881503"/>
            <a:ext cx="6746647" cy="707694"/>
          </a:xfrm>
          <a:prstGeom prst="rect">
            <a:avLst/>
          </a:prstGeom>
          <a:noFill/>
        </p:spPr>
        <p:txBody>
          <a:bodyPr wrap="square">
            <a:spAutoFit/>
          </a:bodyPr>
          <a:lstStyle/>
          <a:p>
            <a:pPr marL="0" lvl="1">
              <a:lnSpc>
                <a:spcPct val="150000"/>
              </a:lnSpc>
              <a:spcAft>
                <a:spcPts val="600"/>
              </a:spcAft>
            </a:pPr>
            <a:r>
              <a:rPr lang="zh-CN" altLang="en-US" sz="3200" dirty="0">
                <a:solidFill>
                  <a:srgbClr val="C00000"/>
                </a:solidFill>
                <a:latin typeface="方正姚体" panose="02010601030101010101" pitchFamily="2" charset="-122"/>
                <a:ea typeface="方正姚体" panose="02010601030101010101" pitchFamily="2" charset="-122"/>
                <a:cs typeface="+mn-ea"/>
                <a:sym typeface="+mn-lt"/>
              </a:rPr>
              <a:t>感知机的学习过程</a:t>
            </a:r>
            <a:endParaRPr lang="zh-CN" altLang="en-US" sz="3200" dirty="0">
              <a:solidFill>
                <a:srgbClr val="C00000"/>
              </a:solidFill>
              <a:latin typeface="方正姚体" panose="02010601030101010101" pitchFamily="2" charset="-122"/>
              <a:ea typeface="方正姚体" panose="02010601030101010101" pitchFamily="2" charset="-122"/>
              <a:cs typeface="+mn-ea"/>
              <a:sym typeface="+mn-l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500"/>
                                  </p:stCondLst>
                                  <p:childTnLst>
                                    <p:set>
                                      <p:cBhvr>
                                        <p:cTn id="6" dur="1" fill="hold">
                                          <p:stCondLst>
                                            <p:cond delay="0"/>
                                          </p:stCondLst>
                                        </p:cTn>
                                        <p:tgtEl>
                                          <p:spTgt spid="32">
                                            <p:txEl>
                                              <p:pRg st="1" end="1"/>
                                            </p:txEl>
                                          </p:spTgt>
                                        </p:tgtEl>
                                        <p:attrNameLst>
                                          <p:attrName>style.visibility</p:attrName>
                                        </p:attrNameLst>
                                      </p:cBhvr>
                                      <p:to>
                                        <p:strVal val="visible"/>
                                      </p:to>
                                    </p:set>
                                    <p:animEffect transition="in" filter="fade">
                                      <p:cBhvr>
                                        <p:cTn id="7" dur="500"/>
                                        <p:tgtEl>
                                          <p:spTgt spid="32">
                                            <p:txEl>
                                              <p:pRg st="1" end="1"/>
                                            </p:txEl>
                                          </p:spTgt>
                                        </p:tgtEl>
                                      </p:cBhvr>
                                    </p:animEffect>
                                  </p:childTnLst>
                                </p:cTn>
                              </p:par>
                            </p:childTnLst>
                          </p:cTn>
                        </p:par>
                        <p:par>
                          <p:cTn id="8" fill="hold">
                            <p:stCondLst>
                              <p:cond delay="1000"/>
                            </p:stCondLst>
                            <p:childTnLst>
                              <p:par>
                                <p:cTn id="9" presetID="10" presetClass="entr" presetSubtype="0" fill="hold" nodeType="afterEffect">
                                  <p:stCondLst>
                                    <p:cond delay="500"/>
                                  </p:stCondLst>
                                  <p:childTnLst>
                                    <p:set>
                                      <p:cBhvr>
                                        <p:cTn id="10" dur="1" fill="hold">
                                          <p:stCondLst>
                                            <p:cond delay="0"/>
                                          </p:stCondLst>
                                        </p:cTn>
                                        <p:tgtEl>
                                          <p:spTgt spid="32">
                                            <p:txEl>
                                              <p:pRg st="2" end="2"/>
                                            </p:txEl>
                                          </p:spTgt>
                                        </p:tgtEl>
                                        <p:attrNameLst>
                                          <p:attrName>style.visibility</p:attrName>
                                        </p:attrNameLst>
                                      </p:cBhvr>
                                      <p:to>
                                        <p:strVal val="visible"/>
                                      </p:to>
                                    </p:set>
                                    <p:animEffect transition="in" filter="fade">
                                      <p:cBhvr>
                                        <p:cTn id="11" dur="500"/>
                                        <p:tgtEl>
                                          <p:spTgt spid="32">
                                            <p:txEl>
                                              <p:pRg st="2" end="2"/>
                                            </p:txEl>
                                          </p:spTgt>
                                        </p:tgtEl>
                                      </p:cBhvr>
                                    </p:animEffect>
                                  </p:childTnLst>
                                </p:cTn>
                              </p:par>
                            </p:childTnLst>
                          </p:cTn>
                        </p:par>
                        <p:par>
                          <p:cTn id="12" fill="hold">
                            <p:stCondLst>
                              <p:cond delay="2000"/>
                            </p:stCondLst>
                            <p:childTnLst>
                              <p:par>
                                <p:cTn id="13" presetID="10" presetClass="entr" presetSubtype="0" fill="hold" nodeType="afterEffect">
                                  <p:stCondLst>
                                    <p:cond delay="500"/>
                                  </p:stCondLst>
                                  <p:childTnLst>
                                    <p:set>
                                      <p:cBhvr>
                                        <p:cTn id="14" dur="1" fill="hold">
                                          <p:stCondLst>
                                            <p:cond delay="0"/>
                                          </p:stCondLst>
                                        </p:cTn>
                                        <p:tgtEl>
                                          <p:spTgt spid="32">
                                            <p:txEl>
                                              <p:pRg st="3" end="3"/>
                                            </p:txEl>
                                          </p:spTgt>
                                        </p:tgtEl>
                                        <p:attrNameLst>
                                          <p:attrName>style.visibility</p:attrName>
                                        </p:attrNameLst>
                                      </p:cBhvr>
                                      <p:to>
                                        <p:strVal val="visible"/>
                                      </p:to>
                                    </p:set>
                                    <p:animEffect transition="in" filter="fade">
                                      <p:cBhvr>
                                        <p:cTn id="15" dur="500"/>
                                        <p:tgtEl>
                                          <p:spTgt spid="32">
                                            <p:txEl>
                                              <p:pRg st="3" end="3"/>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2">
                                            <p:txEl>
                                              <p:pRg st="4" end="4"/>
                                            </p:txEl>
                                          </p:spTgt>
                                        </p:tgtEl>
                                        <p:attrNameLst>
                                          <p:attrName>style.visibility</p:attrName>
                                        </p:attrNameLst>
                                      </p:cBhvr>
                                      <p:to>
                                        <p:strVal val="visible"/>
                                      </p:to>
                                    </p:set>
                                    <p:animEffect transition="in" filter="fade">
                                      <p:cBhvr>
                                        <p:cTn id="20" dur="500"/>
                                        <p:tgtEl>
                                          <p:spTgt spid="3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a:spLocks noGrp="1"/>
          </p:cNvSpPr>
          <p:nvPr>
            <p:ph type="title"/>
          </p:nvPr>
        </p:nvSpPr>
        <p:spPr>
          <a:xfrm>
            <a:off x="1916315" y="131079"/>
            <a:ext cx="7962648" cy="657727"/>
          </a:xfrm>
        </p:spPr>
        <p:txBody>
          <a:bodyPr/>
          <a:lstStyle/>
          <a:p>
            <a:pPr algn="l"/>
            <a:r>
              <a:rPr lang="zh-CN" altLang="en-US" sz="4000" dirty="0">
                <a:latin typeface="方正姚体" panose="02010601030101010101" pitchFamily="2" charset="-122"/>
                <a:ea typeface="方正姚体" panose="02010601030101010101" pitchFamily="2" charset="-122"/>
                <a:cs typeface="Times New Roman" panose="02020603050405020304" pitchFamily="18" charset="0"/>
              </a:rPr>
              <a:t>人工神经网络简介</a:t>
            </a:r>
            <a:endParaRPr lang="zh-CN" altLang="en-US" sz="4000" dirty="0">
              <a:latin typeface="方正姚体" panose="02010601030101010101" pitchFamily="2" charset="-122"/>
              <a:ea typeface="方正姚体" panose="02010601030101010101" pitchFamily="2" charset="-122"/>
              <a:cs typeface="Times New Roman" panose="02020603050405020304" pitchFamily="18" charset="0"/>
            </a:endParaRPr>
          </a:p>
        </p:txBody>
      </p:sp>
      <p:sp>
        <p:nvSpPr>
          <p:cNvPr id="32" name="矩形 31"/>
          <p:cNvSpPr/>
          <p:nvPr/>
        </p:nvSpPr>
        <p:spPr>
          <a:xfrm>
            <a:off x="2114675" y="1652402"/>
            <a:ext cx="8066628" cy="4401911"/>
          </a:xfrm>
          <a:prstGeom prst="rect">
            <a:avLst/>
          </a:prstGeom>
          <a:ln>
            <a:noFill/>
          </a:ln>
        </p:spPr>
        <p:txBody>
          <a:bodyPr wrap="square">
            <a:spAutoFit/>
          </a:bodyPr>
          <a:lstStyle/>
          <a:p>
            <a:pPr marL="323850" indent="-342900" algn="just">
              <a:lnSpc>
                <a:spcPct val="130000"/>
              </a:lnSpc>
              <a:buFont typeface="Wingdings" panose="05000000000000000000" pitchFamily="2" charset="2"/>
              <a:buChar char="Ø"/>
            </a:pPr>
            <a:r>
              <a:rPr lang="zh-CN" altLang="en-US" sz="2600" dirty="0">
                <a:solidFill>
                  <a:srgbClr val="FF0000"/>
                </a:solidFill>
                <a:latin typeface="Times New Roman" panose="02020603050405020304"/>
                <a:ea typeface="黑体" panose="02010609060101010101" charset="-122"/>
              </a:rPr>
              <a:t>感知机学习过程原理</a:t>
            </a:r>
            <a:endParaRPr lang="zh-CN" altLang="en-US" sz="2600" dirty="0">
              <a:solidFill>
                <a:srgbClr val="FF0000"/>
              </a:solidFill>
              <a:latin typeface="Times New Roman" panose="02020603050405020304"/>
              <a:ea typeface="黑体" panose="02010609060101010101" charset="-122"/>
            </a:endParaRPr>
          </a:p>
          <a:p>
            <a:pPr algn="just">
              <a:lnSpc>
                <a:spcPct val="130000"/>
              </a:lnSpc>
            </a:pPr>
            <a:r>
              <a:rPr lang="zh-CN" altLang="en-US" sz="2400" dirty="0">
                <a:solidFill>
                  <a:prstClr val="black"/>
                </a:solidFill>
                <a:latin typeface="Times New Roman" panose="02020603050405020304"/>
                <a:ea typeface="黑体" panose="02010609060101010101" charset="-122"/>
              </a:rPr>
              <a:t>    权值调整是以减小误差为依据的，因此能够有效的学习到合理的权值参数。</a:t>
            </a:r>
            <a:endParaRPr lang="zh-CN" altLang="en-US" sz="2400" dirty="0">
              <a:solidFill>
                <a:prstClr val="black"/>
              </a:solidFill>
              <a:latin typeface="Times New Roman" panose="02020603050405020304"/>
              <a:ea typeface="黑体" panose="02010609060101010101" charset="-122"/>
            </a:endParaRPr>
          </a:p>
          <a:p>
            <a:pPr algn="just">
              <a:lnSpc>
                <a:spcPct val="130000"/>
              </a:lnSpc>
            </a:pPr>
            <a:r>
              <a:rPr lang="en-US" altLang="zh-CN" sz="2400" dirty="0">
                <a:solidFill>
                  <a:prstClr val="black"/>
                </a:solidFill>
                <a:latin typeface="Times New Roman" panose="02020603050405020304"/>
                <a:ea typeface="黑体" panose="02010609060101010101" charset="-122"/>
              </a:rPr>
              <a:t>1.</a:t>
            </a:r>
            <a:r>
              <a:rPr lang="zh-CN" altLang="en-US" sz="2400" dirty="0">
                <a:solidFill>
                  <a:prstClr val="black"/>
                </a:solidFill>
                <a:latin typeface="Times New Roman" panose="02020603050405020304"/>
                <a:ea typeface="黑体" panose="02010609060101010101" charset="-122"/>
              </a:rPr>
              <a:t>对某个样本错误进行权值参数调整，可能引起其他原本分类正确的点出错。所以每次调整之后，要把所有样本都要重新进行依次计算。</a:t>
            </a:r>
            <a:endParaRPr lang="zh-CN" altLang="en-US" sz="2400" dirty="0">
              <a:solidFill>
                <a:prstClr val="black"/>
              </a:solidFill>
              <a:latin typeface="Times New Roman" panose="02020603050405020304"/>
              <a:ea typeface="黑体" panose="02010609060101010101" charset="-122"/>
            </a:endParaRPr>
          </a:p>
          <a:p>
            <a:pPr algn="just">
              <a:lnSpc>
                <a:spcPct val="130000"/>
              </a:lnSpc>
            </a:pPr>
            <a:r>
              <a:rPr lang="en-US" altLang="zh-CN" sz="2400" dirty="0">
                <a:solidFill>
                  <a:prstClr val="black"/>
                </a:solidFill>
                <a:latin typeface="Times New Roman" panose="02020603050405020304"/>
                <a:ea typeface="黑体" panose="02010609060101010101" charset="-122"/>
              </a:rPr>
              <a:t>2.</a:t>
            </a:r>
            <a:r>
              <a:rPr lang="zh-CN" altLang="en-US" sz="2400" dirty="0">
                <a:solidFill>
                  <a:prstClr val="black"/>
                </a:solidFill>
                <a:latin typeface="Times New Roman" panose="02020603050405020304"/>
                <a:ea typeface="黑体" panose="02010609060101010101" charset="-122"/>
              </a:rPr>
              <a:t>合适的学习率对于训练来说非常重要。学习率大，调整力度大，可能让分割直线调整过头，引起其他点错误，从而引起分割直线来回振荡调整。</a:t>
            </a:r>
            <a:endParaRPr lang="zh-CN" altLang="en-US" sz="2400" dirty="0">
              <a:solidFill>
                <a:prstClr val="black"/>
              </a:solidFill>
              <a:latin typeface="Times New Roman" panose="02020603050405020304"/>
              <a:ea typeface="黑体" panose="02010609060101010101" charset="-122"/>
            </a:endParaRPr>
          </a:p>
        </p:txBody>
      </p:sp>
      <p:sp>
        <p:nvSpPr>
          <p:cNvPr id="5" name="文本框 4"/>
          <p:cNvSpPr txBox="1"/>
          <p:nvPr/>
        </p:nvSpPr>
        <p:spPr>
          <a:xfrm>
            <a:off x="2048309" y="881503"/>
            <a:ext cx="6746647" cy="707694"/>
          </a:xfrm>
          <a:prstGeom prst="rect">
            <a:avLst/>
          </a:prstGeom>
          <a:noFill/>
        </p:spPr>
        <p:txBody>
          <a:bodyPr wrap="square">
            <a:spAutoFit/>
          </a:bodyPr>
          <a:lstStyle/>
          <a:p>
            <a:pPr marL="0" lvl="1">
              <a:lnSpc>
                <a:spcPct val="150000"/>
              </a:lnSpc>
              <a:spcAft>
                <a:spcPts val="600"/>
              </a:spcAft>
            </a:pPr>
            <a:r>
              <a:rPr lang="zh-CN" altLang="en-US" sz="3200" dirty="0">
                <a:solidFill>
                  <a:srgbClr val="C00000"/>
                </a:solidFill>
                <a:latin typeface="方正姚体" panose="02010601030101010101" pitchFamily="2" charset="-122"/>
                <a:ea typeface="方正姚体" panose="02010601030101010101" pitchFamily="2" charset="-122"/>
                <a:cs typeface="+mn-ea"/>
                <a:sym typeface="+mn-lt"/>
              </a:rPr>
              <a:t>感知机的学习过程</a:t>
            </a:r>
            <a:endParaRPr lang="zh-CN" altLang="en-US" sz="3200" dirty="0">
              <a:solidFill>
                <a:srgbClr val="C00000"/>
              </a:solidFill>
              <a:latin typeface="方正姚体" panose="02010601030101010101" pitchFamily="2" charset="-122"/>
              <a:ea typeface="方正姚体" panose="02010601030101010101" pitchFamily="2" charset="-122"/>
              <a:cs typeface="+mn-ea"/>
              <a:sym typeface="+mn-l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2">
                                            <p:txEl>
                                              <p:pRg st="0" end="0"/>
                                            </p:txEl>
                                          </p:spTgt>
                                        </p:tgtEl>
                                        <p:attrNameLst>
                                          <p:attrName>style.visibility</p:attrName>
                                        </p:attrNameLst>
                                      </p:cBhvr>
                                      <p:to>
                                        <p:strVal val="visible"/>
                                      </p:to>
                                    </p:set>
                                    <p:animEffect transition="in" filter="fade">
                                      <p:cBhvr>
                                        <p:cTn id="7" dur="500"/>
                                        <p:tgtEl>
                                          <p:spTgt spid="32">
                                            <p:txEl>
                                              <p:pRg st="0" end="0"/>
                                            </p:txEl>
                                          </p:spTgt>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32">
                                            <p:txEl>
                                              <p:pRg st="1" end="1"/>
                                            </p:txEl>
                                          </p:spTgt>
                                        </p:tgtEl>
                                        <p:attrNameLst>
                                          <p:attrName>style.visibility</p:attrName>
                                        </p:attrNameLst>
                                      </p:cBhvr>
                                      <p:to>
                                        <p:strVal val="visible"/>
                                      </p:to>
                                    </p:set>
                                    <p:animEffect transition="in" filter="fade">
                                      <p:cBhvr>
                                        <p:cTn id="11" dur="500"/>
                                        <p:tgtEl>
                                          <p:spTgt spid="32">
                                            <p:txEl>
                                              <p:pRg st="1" end="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32">
                                            <p:txEl>
                                              <p:pRg st="2" end="2"/>
                                            </p:txEl>
                                          </p:spTgt>
                                        </p:tgtEl>
                                        <p:attrNameLst>
                                          <p:attrName>style.visibility</p:attrName>
                                        </p:attrNameLst>
                                      </p:cBhvr>
                                      <p:to>
                                        <p:strVal val="visible"/>
                                      </p:to>
                                    </p:set>
                                    <p:animEffect transition="in" filter="fade">
                                      <p:cBhvr>
                                        <p:cTn id="16" dur="500"/>
                                        <p:tgtEl>
                                          <p:spTgt spid="32">
                                            <p:txEl>
                                              <p:pRg st="2" end="2"/>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32">
                                            <p:txEl>
                                              <p:pRg st="3" end="3"/>
                                            </p:txEl>
                                          </p:spTgt>
                                        </p:tgtEl>
                                        <p:attrNameLst>
                                          <p:attrName>style.visibility</p:attrName>
                                        </p:attrNameLst>
                                      </p:cBhvr>
                                      <p:to>
                                        <p:strVal val="visible"/>
                                      </p:to>
                                    </p:set>
                                    <p:animEffect transition="in" filter="fade">
                                      <p:cBhvr>
                                        <p:cTn id="21" dur="500"/>
                                        <p:tgtEl>
                                          <p:spTgt spid="3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a:spLocks noGrp="1"/>
          </p:cNvSpPr>
          <p:nvPr>
            <p:ph type="title"/>
          </p:nvPr>
        </p:nvSpPr>
        <p:spPr>
          <a:xfrm>
            <a:off x="1916315" y="131079"/>
            <a:ext cx="7962648" cy="657727"/>
          </a:xfrm>
        </p:spPr>
        <p:txBody>
          <a:bodyPr/>
          <a:lstStyle/>
          <a:p>
            <a:pPr algn="l"/>
            <a:r>
              <a:rPr lang="zh-CN" altLang="en-US" sz="4000" dirty="0">
                <a:latin typeface="方正姚体" panose="02010601030101010101" pitchFamily="2" charset="-122"/>
                <a:ea typeface="方正姚体" panose="02010601030101010101" pitchFamily="2" charset="-122"/>
                <a:cs typeface="Times New Roman" panose="02020603050405020304" pitchFamily="18" charset="0"/>
              </a:rPr>
              <a:t>人工神经网络简介</a:t>
            </a:r>
            <a:endParaRPr lang="zh-CN" altLang="en-US" sz="4000" dirty="0">
              <a:latin typeface="方正姚体" panose="02010601030101010101" pitchFamily="2" charset="-122"/>
              <a:ea typeface="方正姚体" panose="02010601030101010101" pitchFamily="2" charset="-122"/>
              <a:cs typeface="Times New Roman" panose="02020603050405020304" pitchFamily="18" charset="0"/>
            </a:endParaRPr>
          </a:p>
        </p:txBody>
      </p:sp>
      <p:sp>
        <p:nvSpPr>
          <p:cNvPr id="32" name="矩形 31"/>
          <p:cNvSpPr/>
          <p:nvPr/>
        </p:nvSpPr>
        <p:spPr>
          <a:xfrm>
            <a:off x="2114675" y="1652402"/>
            <a:ext cx="8066628" cy="3921779"/>
          </a:xfrm>
          <a:prstGeom prst="rect">
            <a:avLst/>
          </a:prstGeom>
          <a:ln>
            <a:noFill/>
          </a:ln>
        </p:spPr>
        <p:txBody>
          <a:bodyPr wrap="square">
            <a:spAutoFit/>
          </a:bodyPr>
          <a:lstStyle/>
          <a:p>
            <a:pPr marL="323850" indent="-342900" algn="just">
              <a:lnSpc>
                <a:spcPct val="130000"/>
              </a:lnSpc>
              <a:buFont typeface="Wingdings" panose="05000000000000000000" pitchFamily="2" charset="2"/>
              <a:buChar char="Ø"/>
            </a:pPr>
            <a:r>
              <a:rPr lang="zh-CN" altLang="en-US" sz="2600" dirty="0">
                <a:solidFill>
                  <a:srgbClr val="FF0000"/>
                </a:solidFill>
                <a:latin typeface="Times New Roman" panose="02020603050405020304"/>
                <a:ea typeface="黑体" panose="02010609060101010101" charset="-122"/>
              </a:rPr>
              <a:t>感知机学习过程原理</a:t>
            </a:r>
            <a:endParaRPr lang="zh-CN" altLang="en-US" sz="2600" dirty="0">
              <a:solidFill>
                <a:srgbClr val="FF0000"/>
              </a:solidFill>
              <a:latin typeface="Times New Roman" panose="02020603050405020304"/>
              <a:ea typeface="黑体" panose="02010609060101010101" charset="-122"/>
            </a:endParaRPr>
          </a:p>
          <a:p>
            <a:pPr algn="just">
              <a:lnSpc>
                <a:spcPct val="130000"/>
              </a:lnSpc>
            </a:pPr>
            <a:r>
              <a:rPr lang="zh-CN" altLang="en-US" sz="2400" dirty="0">
                <a:solidFill>
                  <a:prstClr val="black"/>
                </a:solidFill>
                <a:latin typeface="Times New Roman" panose="02020603050405020304"/>
                <a:ea typeface="黑体" panose="02010609060101010101" charset="-122"/>
              </a:rPr>
              <a:t>    权值调整是以减小误差为依据的，因此能够有效的学习到合理的权值参数。</a:t>
            </a:r>
            <a:endParaRPr lang="zh-CN" altLang="en-US" sz="2400" dirty="0">
              <a:solidFill>
                <a:prstClr val="black"/>
              </a:solidFill>
              <a:latin typeface="Times New Roman" panose="02020603050405020304"/>
              <a:ea typeface="黑体" panose="02010609060101010101" charset="-122"/>
            </a:endParaRPr>
          </a:p>
          <a:p>
            <a:pPr algn="just">
              <a:lnSpc>
                <a:spcPct val="130000"/>
              </a:lnSpc>
            </a:pPr>
            <a:r>
              <a:rPr lang="en-US" altLang="zh-CN" sz="2400" dirty="0">
                <a:solidFill>
                  <a:prstClr val="black"/>
                </a:solidFill>
                <a:latin typeface="Times New Roman" panose="02020603050405020304"/>
                <a:ea typeface="黑体" panose="02010609060101010101" charset="-122"/>
              </a:rPr>
              <a:t>3.</a:t>
            </a:r>
            <a:r>
              <a:rPr lang="zh-CN" altLang="en-US" sz="2400" dirty="0">
                <a:solidFill>
                  <a:prstClr val="black"/>
                </a:solidFill>
                <a:latin typeface="Times New Roman" panose="02020603050405020304"/>
                <a:ea typeface="黑体" panose="02010609060101010101" charset="-122"/>
              </a:rPr>
              <a:t>能线性分割这些点的直线非常多，根据初始参数和学习率，最终得到的权值参数结果不唯一。</a:t>
            </a:r>
            <a:endParaRPr lang="zh-CN" altLang="en-US" sz="2400" dirty="0">
              <a:solidFill>
                <a:prstClr val="black"/>
              </a:solidFill>
              <a:latin typeface="Times New Roman" panose="02020603050405020304"/>
              <a:ea typeface="黑体" panose="02010609060101010101" charset="-122"/>
            </a:endParaRPr>
          </a:p>
          <a:p>
            <a:pPr algn="just">
              <a:lnSpc>
                <a:spcPct val="130000"/>
              </a:lnSpc>
            </a:pPr>
            <a:r>
              <a:rPr lang="en-US" altLang="zh-CN" sz="2400" dirty="0">
                <a:solidFill>
                  <a:prstClr val="black"/>
                </a:solidFill>
                <a:latin typeface="Times New Roman" panose="02020603050405020304"/>
                <a:ea typeface="黑体" panose="02010609060101010101" charset="-122"/>
              </a:rPr>
              <a:t>5.</a:t>
            </a:r>
            <a:r>
              <a:rPr lang="zh-CN" altLang="en-US" sz="2400" dirty="0">
                <a:solidFill>
                  <a:prstClr val="black"/>
                </a:solidFill>
                <a:latin typeface="Times New Roman" panose="02020603050405020304"/>
                <a:ea typeface="黑体" panose="02010609060101010101" charset="-122"/>
              </a:rPr>
              <a:t>如果这些点本身不是用一条直线可以分割的（非线性可分），即没有一条直线能把这些点正确分开，那么这个学习过程无法终止。因此，它无法解决线性不可分问题。</a:t>
            </a:r>
            <a:endParaRPr lang="zh-CN" altLang="en-US" sz="2400" dirty="0">
              <a:solidFill>
                <a:prstClr val="black"/>
              </a:solidFill>
              <a:latin typeface="Times New Roman" panose="02020603050405020304"/>
              <a:ea typeface="黑体" panose="02010609060101010101" charset="-122"/>
            </a:endParaRPr>
          </a:p>
        </p:txBody>
      </p:sp>
      <p:sp>
        <p:nvSpPr>
          <p:cNvPr id="5" name="文本框 4"/>
          <p:cNvSpPr txBox="1"/>
          <p:nvPr/>
        </p:nvSpPr>
        <p:spPr>
          <a:xfrm>
            <a:off x="2048309" y="881503"/>
            <a:ext cx="6746647" cy="707694"/>
          </a:xfrm>
          <a:prstGeom prst="rect">
            <a:avLst/>
          </a:prstGeom>
          <a:noFill/>
        </p:spPr>
        <p:txBody>
          <a:bodyPr wrap="square">
            <a:spAutoFit/>
          </a:bodyPr>
          <a:lstStyle/>
          <a:p>
            <a:pPr marL="0" lvl="1">
              <a:lnSpc>
                <a:spcPct val="150000"/>
              </a:lnSpc>
              <a:spcAft>
                <a:spcPts val="600"/>
              </a:spcAft>
            </a:pPr>
            <a:r>
              <a:rPr lang="zh-CN" altLang="en-US" sz="3200" dirty="0">
                <a:solidFill>
                  <a:srgbClr val="C00000"/>
                </a:solidFill>
                <a:latin typeface="方正姚体" panose="02010601030101010101" pitchFamily="2" charset="-122"/>
                <a:ea typeface="方正姚体" panose="02010601030101010101" pitchFamily="2" charset="-122"/>
                <a:cs typeface="+mn-ea"/>
                <a:sym typeface="+mn-lt"/>
              </a:rPr>
              <a:t>感知机的学习过程</a:t>
            </a:r>
            <a:endParaRPr lang="zh-CN" altLang="en-US" sz="3200" dirty="0">
              <a:solidFill>
                <a:srgbClr val="C00000"/>
              </a:solidFill>
              <a:latin typeface="方正姚体" panose="02010601030101010101" pitchFamily="2" charset="-122"/>
              <a:ea typeface="方正姚体" panose="02010601030101010101" pitchFamily="2" charset="-122"/>
              <a:cs typeface="+mn-ea"/>
              <a:sym typeface="+mn-l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2">
                                            <p:txEl>
                                              <p:pRg st="2" end="2"/>
                                            </p:txEl>
                                          </p:spTgt>
                                        </p:tgtEl>
                                        <p:attrNameLst>
                                          <p:attrName>style.visibility</p:attrName>
                                        </p:attrNameLst>
                                      </p:cBhvr>
                                      <p:to>
                                        <p:strVal val="visible"/>
                                      </p:to>
                                    </p:set>
                                    <p:animEffect transition="in" filter="fade">
                                      <p:cBhvr>
                                        <p:cTn id="7" dur="500"/>
                                        <p:tgtEl>
                                          <p:spTgt spid="32">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2">
                                            <p:txEl>
                                              <p:pRg st="3" end="3"/>
                                            </p:txEl>
                                          </p:spTgt>
                                        </p:tgtEl>
                                        <p:attrNameLst>
                                          <p:attrName>style.visibility</p:attrName>
                                        </p:attrNameLst>
                                      </p:cBhvr>
                                      <p:to>
                                        <p:strVal val="visible"/>
                                      </p:to>
                                    </p:set>
                                    <p:animEffect transition="in" filter="fade">
                                      <p:cBhvr>
                                        <p:cTn id="12" dur="500"/>
                                        <p:tgtEl>
                                          <p:spTgt spid="3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a:spLocks noGrp="1"/>
          </p:cNvSpPr>
          <p:nvPr>
            <p:ph type="title"/>
          </p:nvPr>
        </p:nvSpPr>
        <p:spPr>
          <a:xfrm>
            <a:off x="1916315" y="131079"/>
            <a:ext cx="7962648" cy="657727"/>
          </a:xfrm>
        </p:spPr>
        <p:txBody>
          <a:bodyPr/>
          <a:lstStyle/>
          <a:p>
            <a:pPr algn="l"/>
            <a:r>
              <a:rPr lang="zh-CN" altLang="en-US" sz="4000" dirty="0">
                <a:latin typeface="方正姚体" panose="02010601030101010101" pitchFamily="2" charset="-122"/>
                <a:ea typeface="方正姚体" panose="02010601030101010101" pitchFamily="2" charset="-122"/>
                <a:cs typeface="Times New Roman" panose="02020603050405020304" pitchFamily="18" charset="0"/>
              </a:rPr>
              <a:t>人工神经网络简介</a:t>
            </a:r>
            <a:endParaRPr lang="zh-CN" altLang="en-US" sz="4000" dirty="0">
              <a:latin typeface="方正姚体" panose="02010601030101010101" pitchFamily="2" charset="-122"/>
              <a:ea typeface="方正姚体" panose="02010601030101010101" pitchFamily="2" charset="-122"/>
              <a:cs typeface="Times New Roman" panose="02020603050405020304" pitchFamily="18" charset="0"/>
            </a:endParaRPr>
          </a:p>
        </p:txBody>
      </p:sp>
      <p:sp>
        <p:nvSpPr>
          <p:cNvPr id="32" name="矩形 31"/>
          <p:cNvSpPr/>
          <p:nvPr/>
        </p:nvSpPr>
        <p:spPr>
          <a:xfrm>
            <a:off x="2114675" y="1652402"/>
            <a:ext cx="8066628" cy="4401911"/>
          </a:xfrm>
          <a:prstGeom prst="rect">
            <a:avLst/>
          </a:prstGeom>
          <a:ln>
            <a:noFill/>
          </a:ln>
        </p:spPr>
        <p:txBody>
          <a:bodyPr wrap="square">
            <a:spAutoFit/>
          </a:bodyPr>
          <a:lstStyle/>
          <a:p>
            <a:pPr marL="323850" indent="-342900" algn="just">
              <a:lnSpc>
                <a:spcPct val="130000"/>
              </a:lnSpc>
              <a:buFont typeface="Wingdings" panose="05000000000000000000" pitchFamily="2" charset="2"/>
              <a:buChar char="Ø"/>
            </a:pPr>
            <a:r>
              <a:rPr lang="zh-CN" altLang="en-US" sz="2600" dirty="0">
                <a:solidFill>
                  <a:srgbClr val="FF0000"/>
                </a:solidFill>
                <a:latin typeface="Times New Roman" panose="02020603050405020304"/>
                <a:ea typeface="黑体" panose="02010609060101010101" charset="-122"/>
              </a:rPr>
              <a:t>区分苹果和香蕉</a:t>
            </a:r>
            <a:endParaRPr lang="zh-CN" altLang="en-US" sz="2400" dirty="0">
              <a:solidFill>
                <a:prstClr val="black"/>
              </a:solidFill>
              <a:latin typeface="Times New Roman" panose="02020603050405020304"/>
              <a:ea typeface="黑体" panose="02010609060101010101" charset="-122"/>
            </a:endParaRPr>
          </a:p>
          <a:p>
            <a:pPr algn="just">
              <a:lnSpc>
                <a:spcPct val="130000"/>
              </a:lnSpc>
            </a:pPr>
            <a:r>
              <a:rPr lang="zh-CN" altLang="en-US" sz="2400" dirty="0">
                <a:solidFill>
                  <a:prstClr val="black"/>
                </a:solidFill>
                <a:latin typeface="Times New Roman" panose="02020603050405020304"/>
                <a:ea typeface="黑体" panose="02010609060101010101" charset="-122"/>
              </a:rPr>
              <a:t>     首先用三个特征来对这两种水果进行描述，</a:t>
            </a:r>
            <a:r>
              <a:rPr lang="en-US" altLang="zh-CN" sz="2400" i="1" dirty="0">
                <a:solidFill>
                  <a:prstClr val="black"/>
                </a:solidFill>
                <a:latin typeface="Times New Roman" panose="02020603050405020304"/>
                <a:ea typeface="黑体" panose="02010609060101010101" charset="-122"/>
              </a:rPr>
              <a:t>x</a:t>
            </a:r>
            <a:r>
              <a:rPr lang="en-US" altLang="zh-CN" sz="2400" baseline="-25000" dirty="0">
                <a:solidFill>
                  <a:prstClr val="black"/>
                </a:solidFill>
                <a:latin typeface="Times New Roman" panose="02020603050405020304"/>
                <a:ea typeface="黑体" panose="02010609060101010101" charset="-122"/>
              </a:rPr>
              <a:t>1</a:t>
            </a:r>
            <a:r>
              <a:rPr lang="zh-CN" altLang="en-US" sz="2400" dirty="0">
                <a:solidFill>
                  <a:prstClr val="black"/>
                </a:solidFill>
                <a:latin typeface="Times New Roman" panose="02020603050405020304"/>
                <a:ea typeface="黑体" panose="02010609060101010101" charset="-122"/>
              </a:rPr>
              <a:t>为颜色，</a:t>
            </a:r>
            <a:r>
              <a:rPr lang="en-US" altLang="zh-CN" sz="2400" i="1" dirty="0">
                <a:solidFill>
                  <a:prstClr val="black"/>
                </a:solidFill>
                <a:latin typeface="Times New Roman" panose="02020603050405020304"/>
                <a:ea typeface="黑体" panose="02010609060101010101" charset="-122"/>
              </a:rPr>
              <a:t>x</a:t>
            </a:r>
            <a:r>
              <a:rPr lang="en-US" altLang="zh-CN" sz="2400" baseline="-25000" dirty="0">
                <a:solidFill>
                  <a:prstClr val="black"/>
                </a:solidFill>
                <a:latin typeface="Times New Roman" panose="02020603050405020304"/>
                <a:ea typeface="黑体" panose="02010609060101010101" charset="-122"/>
              </a:rPr>
              <a:t>2</a:t>
            </a:r>
            <a:r>
              <a:rPr lang="zh-CN" altLang="en-US" sz="2400" dirty="0">
                <a:solidFill>
                  <a:prstClr val="black"/>
                </a:solidFill>
                <a:latin typeface="Times New Roman" panose="02020603050405020304"/>
                <a:ea typeface="黑体" panose="02010609060101010101" charset="-122"/>
              </a:rPr>
              <a:t>为形状，</a:t>
            </a:r>
            <a:r>
              <a:rPr lang="en-US" altLang="zh-CN" sz="2400" i="1" dirty="0">
                <a:solidFill>
                  <a:prstClr val="black"/>
                </a:solidFill>
                <a:latin typeface="Times New Roman" panose="02020603050405020304"/>
                <a:ea typeface="黑体" panose="02010609060101010101" charset="-122"/>
              </a:rPr>
              <a:t>x</a:t>
            </a:r>
            <a:r>
              <a:rPr lang="en-US" altLang="zh-CN" sz="2400" baseline="-25000" dirty="0">
                <a:solidFill>
                  <a:prstClr val="black"/>
                </a:solidFill>
                <a:latin typeface="Times New Roman" panose="02020603050405020304"/>
                <a:ea typeface="黑体" panose="02010609060101010101" charset="-122"/>
              </a:rPr>
              <a:t>3</a:t>
            </a:r>
            <a:r>
              <a:rPr lang="zh-CN" altLang="en-US" sz="2400" dirty="0">
                <a:solidFill>
                  <a:prstClr val="black"/>
                </a:solidFill>
                <a:latin typeface="Times New Roman" panose="02020603050405020304"/>
                <a:ea typeface="黑体" panose="02010609060101010101" charset="-122"/>
              </a:rPr>
              <a:t>为水分含量；其中水果颜色越红则</a:t>
            </a:r>
            <a:r>
              <a:rPr lang="en-US" altLang="zh-CN" sz="2400" i="1" dirty="0">
                <a:solidFill>
                  <a:prstClr val="black"/>
                </a:solidFill>
                <a:latin typeface="Times New Roman" panose="02020603050405020304"/>
                <a:ea typeface="黑体" panose="02010609060101010101" charset="-122"/>
              </a:rPr>
              <a:t>x</a:t>
            </a:r>
            <a:r>
              <a:rPr lang="en-US" altLang="zh-CN" sz="2400" baseline="-25000" dirty="0">
                <a:solidFill>
                  <a:prstClr val="black"/>
                </a:solidFill>
                <a:latin typeface="Times New Roman" panose="02020603050405020304"/>
                <a:ea typeface="黑体" panose="02010609060101010101" charset="-122"/>
              </a:rPr>
              <a:t>1</a:t>
            </a:r>
            <a:r>
              <a:rPr lang="zh-CN" altLang="en-US" sz="2400" dirty="0">
                <a:solidFill>
                  <a:prstClr val="black"/>
                </a:solidFill>
                <a:latin typeface="Times New Roman" panose="02020603050405020304"/>
                <a:ea typeface="黑体" panose="02010609060101010101" charset="-122"/>
              </a:rPr>
              <a:t>数值越大、最大为</a:t>
            </a:r>
            <a:r>
              <a:rPr lang="en-US" altLang="zh-CN" sz="2400" dirty="0">
                <a:solidFill>
                  <a:prstClr val="black"/>
                </a:solidFill>
                <a:latin typeface="Times New Roman" panose="02020603050405020304"/>
                <a:ea typeface="黑体" panose="02010609060101010101" charset="-122"/>
              </a:rPr>
              <a:t>1</a:t>
            </a:r>
            <a:r>
              <a:rPr lang="zh-CN" altLang="en-US" sz="2400" dirty="0">
                <a:solidFill>
                  <a:prstClr val="black"/>
                </a:solidFill>
                <a:latin typeface="Times New Roman" panose="02020603050405020304"/>
                <a:ea typeface="黑体" panose="02010609060101010101" charset="-122"/>
              </a:rPr>
              <a:t>，越黄则数值越小、最小为</a:t>
            </a:r>
            <a:r>
              <a:rPr lang="en-US" altLang="zh-CN" sz="2400" dirty="0">
                <a:solidFill>
                  <a:prstClr val="black"/>
                </a:solidFill>
                <a:latin typeface="Times New Roman" panose="02020603050405020304"/>
                <a:ea typeface="黑体" panose="02010609060101010101" charset="-122"/>
              </a:rPr>
              <a:t>-1</a:t>
            </a:r>
            <a:r>
              <a:rPr lang="zh-CN" altLang="en-US" sz="2400" dirty="0">
                <a:solidFill>
                  <a:prstClr val="black"/>
                </a:solidFill>
                <a:latin typeface="Times New Roman" panose="02020603050405020304"/>
                <a:ea typeface="黑体" panose="02010609060101010101" charset="-122"/>
              </a:rPr>
              <a:t>；当水果为圆形时，</a:t>
            </a:r>
            <a:r>
              <a:rPr lang="en-US" altLang="zh-CN" sz="2400" i="1" dirty="0">
                <a:solidFill>
                  <a:prstClr val="black"/>
                </a:solidFill>
                <a:latin typeface="Times New Roman" panose="02020603050405020304"/>
                <a:ea typeface="黑体" panose="02010609060101010101" charset="-122"/>
              </a:rPr>
              <a:t> x</a:t>
            </a:r>
            <a:r>
              <a:rPr lang="en-US" altLang="zh-CN" sz="2400" baseline="-25000" dirty="0">
                <a:solidFill>
                  <a:prstClr val="black"/>
                </a:solidFill>
                <a:latin typeface="Times New Roman" panose="02020603050405020304"/>
                <a:ea typeface="黑体" panose="02010609060101010101" charset="-122"/>
              </a:rPr>
              <a:t>2</a:t>
            </a:r>
            <a:r>
              <a:rPr lang="zh-CN" altLang="en-US" sz="2400" dirty="0">
                <a:solidFill>
                  <a:prstClr val="black"/>
                </a:solidFill>
                <a:latin typeface="Times New Roman" panose="02020603050405020304"/>
                <a:ea typeface="黑体" panose="02010609060101010101" charset="-122"/>
              </a:rPr>
              <a:t>数值越大、最大为</a:t>
            </a:r>
            <a:r>
              <a:rPr lang="en-US" altLang="zh-CN" sz="2400" dirty="0">
                <a:solidFill>
                  <a:prstClr val="black"/>
                </a:solidFill>
                <a:latin typeface="Times New Roman" panose="02020603050405020304"/>
                <a:ea typeface="黑体" panose="02010609060101010101" charset="-122"/>
              </a:rPr>
              <a:t>1</a:t>
            </a:r>
            <a:r>
              <a:rPr lang="zh-CN" altLang="en-US" sz="2400" dirty="0">
                <a:solidFill>
                  <a:prstClr val="black"/>
                </a:solidFill>
                <a:latin typeface="Times New Roman" panose="02020603050405020304"/>
                <a:ea typeface="黑体" panose="02010609060101010101" charset="-122"/>
              </a:rPr>
              <a:t>，长条形数值小、最小为</a:t>
            </a:r>
            <a:r>
              <a:rPr lang="en-US" altLang="zh-CN" sz="2400" dirty="0">
                <a:solidFill>
                  <a:prstClr val="black"/>
                </a:solidFill>
                <a:latin typeface="Times New Roman" panose="02020603050405020304"/>
                <a:ea typeface="黑体" panose="02010609060101010101" charset="-122"/>
              </a:rPr>
              <a:t>-1</a:t>
            </a:r>
            <a:r>
              <a:rPr lang="zh-CN" altLang="en-US" sz="2400" dirty="0">
                <a:solidFill>
                  <a:prstClr val="black"/>
                </a:solidFill>
                <a:latin typeface="Times New Roman" panose="02020603050405020304"/>
                <a:ea typeface="黑体" panose="02010609060101010101" charset="-122"/>
              </a:rPr>
              <a:t>；含水分越多</a:t>
            </a:r>
            <a:r>
              <a:rPr lang="en-US" altLang="zh-CN" sz="2400" i="1" dirty="0">
                <a:solidFill>
                  <a:prstClr val="black"/>
                </a:solidFill>
                <a:latin typeface="Times New Roman" panose="02020603050405020304"/>
                <a:ea typeface="黑体" panose="02010609060101010101" charset="-122"/>
              </a:rPr>
              <a:t>x</a:t>
            </a:r>
            <a:r>
              <a:rPr lang="en-US" altLang="zh-CN" sz="2400" baseline="-25000" dirty="0">
                <a:solidFill>
                  <a:prstClr val="black"/>
                </a:solidFill>
                <a:latin typeface="Times New Roman" panose="02020603050405020304"/>
                <a:ea typeface="黑体" panose="02010609060101010101" charset="-122"/>
              </a:rPr>
              <a:t>3</a:t>
            </a:r>
            <a:r>
              <a:rPr lang="zh-CN" altLang="en-US" sz="2400" dirty="0">
                <a:solidFill>
                  <a:prstClr val="black"/>
                </a:solidFill>
                <a:latin typeface="Times New Roman" panose="02020603050405020304"/>
                <a:ea typeface="黑体" panose="02010609060101010101" charset="-122"/>
              </a:rPr>
              <a:t>数值越大、最大为</a:t>
            </a:r>
            <a:r>
              <a:rPr lang="en-US" altLang="zh-CN" sz="2400" dirty="0">
                <a:solidFill>
                  <a:prstClr val="black"/>
                </a:solidFill>
                <a:latin typeface="Times New Roman" panose="02020603050405020304"/>
                <a:ea typeface="黑体" panose="02010609060101010101" charset="-122"/>
              </a:rPr>
              <a:t>1</a:t>
            </a:r>
            <a:r>
              <a:rPr lang="zh-CN" altLang="en-US" sz="2400" dirty="0">
                <a:solidFill>
                  <a:prstClr val="black"/>
                </a:solidFill>
                <a:latin typeface="Times New Roman" panose="02020603050405020304"/>
                <a:ea typeface="黑体" panose="02010609060101010101" charset="-122"/>
              </a:rPr>
              <a:t>，反之则数值越小、最小为</a:t>
            </a:r>
            <a:r>
              <a:rPr lang="en-US" altLang="zh-CN" sz="2400" dirty="0">
                <a:solidFill>
                  <a:prstClr val="black"/>
                </a:solidFill>
                <a:latin typeface="Times New Roman" panose="02020603050405020304"/>
                <a:ea typeface="黑体" panose="02010609060101010101" charset="-122"/>
              </a:rPr>
              <a:t>-1</a:t>
            </a:r>
            <a:r>
              <a:rPr lang="zh-CN" altLang="en-US" sz="2400" dirty="0">
                <a:solidFill>
                  <a:prstClr val="black"/>
                </a:solidFill>
                <a:latin typeface="Times New Roman" panose="02020603050405020304"/>
                <a:ea typeface="黑体" panose="02010609060101010101" charset="-122"/>
              </a:rPr>
              <a:t>。</a:t>
            </a:r>
            <a:endParaRPr lang="zh-CN" altLang="en-US" sz="2400" dirty="0">
              <a:solidFill>
                <a:prstClr val="black"/>
              </a:solidFill>
              <a:latin typeface="Times New Roman" panose="02020603050405020304"/>
              <a:ea typeface="黑体" panose="02010609060101010101" charset="-122"/>
            </a:endParaRPr>
          </a:p>
          <a:p>
            <a:pPr algn="just">
              <a:lnSpc>
                <a:spcPct val="130000"/>
              </a:lnSpc>
            </a:pPr>
            <a:r>
              <a:rPr lang="zh-CN" altLang="en-US" sz="2400" dirty="0">
                <a:solidFill>
                  <a:prstClr val="black"/>
                </a:solidFill>
                <a:latin typeface="Times New Roman" panose="02020603050405020304"/>
                <a:ea typeface="黑体" panose="02010609060101010101" charset="-122"/>
              </a:rPr>
              <a:t>      最终某一苹果和某一香蕉的特征值如下表所示，即越红、越圆、含水越多的更可能是苹果（用类别</a:t>
            </a:r>
            <a:r>
              <a:rPr lang="en-US" altLang="zh-CN" sz="2400" dirty="0">
                <a:solidFill>
                  <a:prstClr val="black"/>
                </a:solidFill>
                <a:latin typeface="Times New Roman" panose="02020603050405020304"/>
                <a:ea typeface="黑体" panose="02010609060101010101" charset="-122"/>
              </a:rPr>
              <a:t>1</a:t>
            </a:r>
            <a:r>
              <a:rPr lang="zh-CN" altLang="en-US" sz="2400" dirty="0">
                <a:solidFill>
                  <a:prstClr val="black"/>
                </a:solidFill>
                <a:latin typeface="Times New Roman" panose="02020603050405020304"/>
                <a:ea typeface="黑体" panose="02010609060101010101" charset="-122"/>
              </a:rPr>
              <a:t>表示），反之更可能是香蕉（用类别</a:t>
            </a:r>
            <a:r>
              <a:rPr lang="en-US" altLang="zh-CN" sz="2400" dirty="0">
                <a:solidFill>
                  <a:prstClr val="black"/>
                </a:solidFill>
                <a:latin typeface="Times New Roman" panose="02020603050405020304"/>
                <a:ea typeface="黑体" panose="02010609060101010101" charset="-122"/>
              </a:rPr>
              <a:t>0</a:t>
            </a:r>
            <a:r>
              <a:rPr lang="zh-CN" altLang="en-US" sz="2400" dirty="0">
                <a:solidFill>
                  <a:prstClr val="black"/>
                </a:solidFill>
                <a:latin typeface="Times New Roman" panose="02020603050405020304"/>
                <a:ea typeface="黑体" panose="02010609060101010101" charset="-122"/>
              </a:rPr>
              <a:t>表示）。</a:t>
            </a:r>
            <a:endParaRPr lang="zh-CN" altLang="en-US" sz="2400" dirty="0">
              <a:solidFill>
                <a:prstClr val="black"/>
              </a:solidFill>
              <a:latin typeface="Times New Roman" panose="02020603050405020304"/>
              <a:ea typeface="黑体" panose="02010609060101010101" charset="-122"/>
            </a:endParaRPr>
          </a:p>
        </p:txBody>
      </p:sp>
      <p:sp>
        <p:nvSpPr>
          <p:cNvPr id="5" name="文本框 4"/>
          <p:cNvSpPr txBox="1"/>
          <p:nvPr/>
        </p:nvSpPr>
        <p:spPr>
          <a:xfrm>
            <a:off x="2048309" y="881503"/>
            <a:ext cx="6746647" cy="707694"/>
          </a:xfrm>
          <a:prstGeom prst="rect">
            <a:avLst/>
          </a:prstGeom>
          <a:noFill/>
        </p:spPr>
        <p:txBody>
          <a:bodyPr wrap="square">
            <a:spAutoFit/>
          </a:bodyPr>
          <a:lstStyle/>
          <a:p>
            <a:pPr marL="0" lvl="1">
              <a:lnSpc>
                <a:spcPct val="150000"/>
              </a:lnSpc>
              <a:spcAft>
                <a:spcPts val="600"/>
              </a:spcAft>
            </a:pPr>
            <a:r>
              <a:rPr lang="zh-CN" altLang="en-US" sz="3200" dirty="0">
                <a:solidFill>
                  <a:srgbClr val="C00000"/>
                </a:solidFill>
                <a:latin typeface="方正姚体" panose="02010601030101010101" pitchFamily="2" charset="-122"/>
                <a:ea typeface="方正姚体" panose="02010601030101010101" pitchFamily="2" charset="-122"/>
                <a:cs typeface="+mn-ea"/>
                <a:sym typeface="+mn-lt"/>
              </a:rPr>
              <a:t>感知机分类案例</a:t>
            </a:r>
            <a:endParaRPr lang="zh-CN" altLang="en-US" sz="3200" dirty="0">
              <a:solidFill>
                <a:srgbClr val="C00000"/>
              </a:solidFill>
              <a:latin typeface="方正姚体" panose="02010601030101010101" pitchFamily="2" charset="-122"/>
              <a:ea typeface="方正姚体" panose="02010601030101010101" pitchFamily="2" charset="-122"/>
              <a:cs typeface="+mn-ea"/>
              <a:sym typeface="+mn-l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par>
                          <p:cTn id="8" fill="hold">
                            <p:stCondLst>
                              <p:cond delay="500"/>
                            </p:stCondLst>
                            <p:childTnLst>
                              <p:par>
                                <p:cTn id="9" presetID="10" presetClass="entr" presetSubtype="0" fill="hold" nodeType="afterEffect">
                                  <p:stCondLst>
                                    <p:cond delay="250"/>
                                  </p:stCondLst>
                                  <p:childTnLst>
                                    <p:set>
                                      <p:cBhvr>
                                        <p:cTn id="10" dur="1" fill="hold">
                                          <p:stCondLst>
                                            <p:cond delay="0"/>
                                          </p:stCondLst>
                                        </p:cTn>
                                        <p:tgtEl>
                                          <p:spTgt spid="32">
                                            <p:txEl>
                                              <p:pRg st="0" end="0"/>
                                            </p:txEl>
                                          </p:spTgt>
                                        </p:tgtEl>
                                        <p:attrNameLst>
                                          <p:attrName>style.visibility</p:attrName>
                                        </p:attrNameLst>
                                      </p:cBhvr>
                                      <p:to>
                                        <p:strVal val="visible"/>
                                      </p:to>
                                    </p:set>
                                    <p:animEffect transition="in" filter="fade">
                                      <p:cBhvr>
                                        <p:cTn id="11" dur="500"/>
                                        <p:tgtEl>
                                          <p:spTgt spid="32">
                                            <p:txEl>
                                              <p:pRg st="0" end="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32">
                                            <p:txEl>
                                              <p:pRg st="1" end="1"/>
                                            </p:txEl>
                                          </p:spTgt>
                                        </p:tgtEl>
                                        <p:attrNameLst>
                                          <p:attrName>style.visibility</p:attrName>
                                        </p:attrNameLst>
                                      </p:cBhvr>
                                      <p:to>
                                        <p:strVal val="visible"/>
                                      </p:to>
                                    </p:set>
                                    <p:animEffect transition="in" filter="fade">
                                      <p:cBhvr>
                                        <p:cTn id="16" dur="500"/>
                                        <p:tgtEl>
                                          <p:spTgt spid="32">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32">
                                            <p:txEl>
                                              <p:pRg st="2" end="2"/>
                                            </p:txEl>
                                          </p:spTgt>
                                        </p:tgtEl>
                                        <p:attrNameLst>
                                          <p:attrName>style.visibility</p:attrName>
                                        </p:attrNameLst>
                                      </p:cBhvr>
                                      <p:to>
                                        <p:strVal val="visible"/>
                                      </p:to>
                                    </p:set>
                                    <p:animEffect transition="in" filter="fade">
                                      <p:cBhvr>
                                        <p:cTn id="21" dur="500"/>
                                        <p:tgtEl>
                                          <p:spTgt spid="3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a:spLocks noGrp="1"/>
          </p:cNvSpPr>
          <p:nvPr>
            <p:ph type="title"/>
          </p:nvPr>
        </p:nvSpPr>
        <p:spPr>
          <a:xfrm>
            <a:off x="1916315" y="131079"/>
            <a:ext cx="7962648" cy="657727"/>
          </a:xfrm>
        </p:spPr>
        <p:txBody>
          <a:bodyPr/>
          <a:lstStyle/>
          <a:p>
            <a:pPr algn="l"/>
            <a:r>
              <a:rPr lang="zh-CN" altLang="en-US" sz="4000" dirty="0">
                <a:latin typeface="方正姚体" panose="02010601030101010101" pitchFamily="2" charset="-122"/>
                <a:ea typeface="方正姚体" panose="02010601030101010101" pitchFamily="2" charset="-122"/>
                <a:cs typeface="Times New Roman" panose="02020603050405020304" pitchFamily="18" charset="0"/>
              </a:rPr>
              <a:t>人工神经网络简介</a:t>
            </a:r>
            <a:endParaRPr lang="zh-CN" altLang="en-US" sz="4000" dirty="0">
              <a:latin typeface="方正姚体" panose="02010601030101010101" pitchFamily="2" charset="-122"/>
              <a:ea typeface="方正姚体" panose="02010601030101010101" pitchFamily="2" charset="-122"/>
              <a:cs typeface="Times New Roman" panose="02020603050405020304" pitchFamily="18" charset="0"/>
            </a:endParaRPr>
          </a:p>
        </p:txBody>
      </p:sp>
      <p:sp>
        <p:nvSpPr>
          <p:cNvPr id="32" name="矩形 31"/>
          <p:cNvSpPr/>
          <p:nvPr/>
        </p:nvSpPr>
        <p:spPr>
          <a:xfrm>
            <a:off x="2114675" y="1652401"/>
            <a:ext cx="8066628" cy="1044710"/>
          </a:xfrm>
          <a:prstGeom prst="rect">
            <a:avLst/>
          </a:prstGeom>
          <a:ln>
            <a:noFill/>
          </a:ln>
        </p:spPr>
        <p:txBody>
          <a:bodyPr wrap="square">
            <a:spAutoFit/>
          </a:bodyPr>
          <a:lstStyle/>
          <a:p>
            <a:pPr marL="323850" indent="-342900" algn="just">
              <a:lnSpc>
                <a:spcPct val="130000"/>
              </a:lnSpc>
              <a:buFont typeface="Wingdings" panose="05000000000000000000" pitchFamily="2" charset="2"/>
              <a:buChar char="Ø"/>
            </a:pPr>
            <a:r>
              <a:rPr lang="zh-CN" altLang="en-US" sz="2600" dirty="0">
                <a:solidFill>
                  <a:srgbClr val="FF0000"/>
                </a:solidFill>
                <a:latin typeface="Times New Roman" panose="02020603050405020304"/>
                <a:ea typeface="黑体" panose="02010609060101010101" charset="-122"/>
              </a:rPr>
              <a:t>区分苹果和香蕉</a:t>
            </a:r>
            <a:endParaRPr lang="zh-CN" altLang="en-US" sz="2400" dirty="0">
              <a:solidFill>
                <a:prstClr val="black"/>
              </a:solidFill>
              <a:latin typeface="Times New Roman" panose="02020603050405020304"/>
              <a:ea typeface="黑体" panose="02010609060101010101" charset="-122"/>
            </a:endParaRPr>
          </a:p>
          <a:p>
            <a:pPr algn="just">
              <a:lnSpc>
                <a:spcPct val="130000"/>
              </a:lnSpc>
            </a:pPr>
            <a:r>
              <a:rPr lang="zh-CN" altLang="en-US" sz="2400" dirty="0">
                <a:solidFill>
                  <a:prstClr val="black"/>
                </a:solidFill>
                <a:latin typeface="Times New Roman" panose="02020603050405020304"/>
                <a:ea typeface="黑体" panose="02010609060101010101" charset="-122"/>
              </a:rPr>
              <a:t>     </a:t>
            </a:r>
            <a:endParaRPr lang="zh-CN" altLang="en-US" sz="2400" dirty="0">
              <a:solidFill>
                <a:prstClr val="black"/>
              </a:solidFill>
              <a:latin typeface="Times New Roman" panose="02020603050405020304"/>
              <a:ea typeface="黑体" panose="02010609060101010101" charset="-122"/>
            </a:endParaRPr>
          </a:p>
        </p:txBody>
      </p:sp>
      <p:sp>
        <p:nvSpPr>
          <p:cNvPr id="5" name="文本框 4"/>
          <p:cNvSpPr txBox="1"/>
          <p:nvPr/>
        </p:nvSpPr>
        <p:spPr>
          <a:xfrm>
            <a:off x="2048309" y="881503"/>
            <a:ext cx="6746647" cy="707694"/>
          </a:xfrm>
          <a:prstGeom prst="rect">
            <a:avLst/>
          </a:prstGeom>
          <a:noFill/>
        </p:spPr>
        <p:txBody>
          <a:bodyPr wrap="square">
            <a:spAutoFit/>
          </a:bodyPr>
          <a:lstStyle/>
          <a:p>
            <a:pPr marL="0" lvl="1">
              <a:lnSpc>
                <a:spcPct val="150000"/>
              </a:lnSpc>
              <a:spcAft>
                <a:spcPts val="600"/>
              </a:spcAft>
            </a:pPr>
            <a:r>
              <a:rPr lang="zh-CN" altLang="en-US" sz="3200" dirty="0">
                <a:solidFill>
                  <a:srgbClr val="C00000"/>
                </a:solidFill>
                <a:latin typeface="方正姚体" panose="02010601030101010101" pitchFamily="2" charset="-122"/>
                <a:ea typeface="方正姚体" panose="02010601030101010101" pitchFamily="2" charset="-122"/>
                <a:cs typeface="+mn-ea"/>
                <a:sym typeface="+mn-lt"/>
              </a:rPr>
              <a:t>感知机分类案例</a:t>
            </a:r>
            <a:endParaRPr lang="zh-CN" altLang="en-US" sz="3200" dirty="0">
              <a:solidFill>
                <a:srgbClr val="C00000"/>
              </a:solidFill>
              <a:latin typeface="方正姚体" panose="02010601030101010101" pitchFamily="2" charset="-122"/>
              <a:ea typeface="方正姚体" panose="02010601030101010101" pitchFamily="2" charset="-122"/>
              <a:cs typeface="+mn-ea"/>
              <a:sym typeface="+mn-lt"/>
            </a:endParaRPr>
          </a:p>
        </p:txBody>
      </p:sp>
      <p:pic>
        <p:nvPicPr>
          <p:cNvPr id="6" name="图片 5"/>
          <p:cNvPicPr>
            <a:picLocks noChangeAspect="1"/>
          </p:cNvPicPr>
          <p:nvPr>
            <p:custDataLst>
              <p:tags r:id="rId1"/>
            </p:custDataLst>
          </p:nvPr>
        </p:nvPicPr>
        <p:blipFill rotWithShape="1">
          <a:blip r:embed="rId2"/>
          <a:srcRect t="7431"/>
          <a:stretch>
            <a:fillRect/>
          </a:stretch>
        </p:blipFill>
        <p:spPr>
          <a:xfrm>
            <a:off x="2473522" y="2219021"/>
            <a:ext cx="7244956" cy="336324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50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75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a:spLocks noGrp="1"/>
          </p:cNvSpPr>
          <p:nvPr>
            <p:ph type="title"/>
          </p:nvPr>
        </p:nvSpPr>
        <p:spPr>
          <a:xfrm>
            <a:off x="1916315" y="131079"/>
            <a:ext cx="7962648" cy="657727"/>
          </a:xfrm>
        </p:spPr>
        <p:txBody>
          <a:bodyPr/>
          <a:lstStyle/>
          <a:p>
            <a:pPr algn="l"/>
            <a:r>
              <a:rPr lang="zh-CN" altLang="en-US" sz="4000" dirty="0">
                <a:latin typeface="方正姚体" panose="02010601030101010101" pitchFamily="2" charset="-122"/>
                <a:ea typeface="方正姚体" panose="02010601030101010101" pitchFamily="2" charset="-122"/>
                <a:cs typeface="Times New Roman" panose="02020603050405020304" pitchFamily="18" charset="0"/>
              </a:rPr>
              <a:t>人工神经网络简介</a:t>
            </a:r>
            <a:endParaRPr lang="zh-CN" altLang="en-US" sz="4000" dirty="0">
              <a:latin typeface="方正姚体" panose="02010601030101010101" pitchFamily="2" charset="-122"/>
              <a:ea typeface="方正姚体" panose="02010601030101010101" pitchFamily="2" charset="-122"/>
              <a:cs typeface="Times New Roman" panose="02020603050405020304" pitchFamily="18" charset="0"/>
            </a:endParaRPr>
          </a:p>
        </p:txBody>
      </p:sp>
      <p:sp>
        <p:nvSpPr>
          <p:cNvPr id="32" name="矩形 31"/>
          <p:cNvSpPr/>
          <p:nvPr/>
        </p:nvSpPr>
        <p:spPr>
          <a:xfrm>
            <a:off x="2114675" y="1652401"/>
            <a:ext cx="8066628" cy="4610558"/>
          </a:xfrm>
          <a:prstGeom prst="rect">
            <a:avLst/>
          </a:prstGeom>
          <a:ln>
            <a:noFill/>
          </a:ln>
        </p:spPr>
        <p:txBody>
          <a:bodyPr wrap="square">
            <a:spAutoFit/>
          </a:bodyPr>
          <a:lstStyle/>
          <a:p>
            <a:pPr marL="323850" indent="-342900" algn="just">
              <a:lnSpc>
                <a:spcPct val="130000"/>
              </a:lnSpc>
              <a:buFont typeface="Wingdings" panose="05000000000000000000" pitchFamily="2" charset="2"/>
              <a:buChar char="Ø"/>
            </a:pPr>
            <a:r>
              <a:rPr lang="zh-CN" altLang="en-US" sz="2800" dirty="0">
                <a:solidFill>
                  <a:srgbClr val="FF0000"/>
                </a:solidFill>
                <a:latin typeface="Times New Roman" panose="02020603050405020304"/>
                <a:ea typeface="黑体" panose="02010609060101010101" charset="-122"/>
              </a:rPr>
              <a:t>区分苹果和香蕉</a:t>
            </a:r>
            <a:endParaRPr lang="zh-CN" altLang="en-US" sz="2400" dirty="0">
              <a:solidFill>
                <a:prstClr val="black"/>
              </a:solidFill>
              <a:latin typeface="Times New Roman" panose="02020603050405020304"/>
              <a:ea typeface="黑体" panose="02010609060101010101" charset="-122"/>
            </a:endParaRPr>
          </a:p>
          <a:p>
            <a:pPr marL="342900" indent="-342900" algn="just">
              <a:lnSpc>
                <a:spcPct val="130000"/>
              </a:lnSpc>
              <a:buFont typeface="Arial" panose="020B0604020202020204" pitchFamily="34" charset="0"/>
              <a:buChar char="•"/>
            </a:pPr>
            <a:r>
              <a:rPr lang="zh-CN" altLang="en-US" sz="2000" dirty="0">
                <a:solidFill>
                  <a:prstClr val="black"/>
                </a:solidFill>
                <a:latin typeface="Times New Roman" panose="02020603050405020304"/>
                <a:ea typeface="黑体" panose="02010609060101010101" charset="-122"/>
              </a:rPr>
              <a:t>建立一个简单的感知机模型</a:t>
            </a:r>
            <a:r>
              <a:rPr lang="en-US" altLang="zh-CN" sz="2000" i="1" dirty="0">
                <a:solidFill>
                  <a:prstClr val="black"/>
                </a:solidFill>
                <a:latin typeface="Times New Roman" panose="02020603050405020304"/>
                <a:ea typeface="黑体" panose="02010609060101010101" charset="-122"/>
              </a:rPr>
              <a:t>y</a:t>
            </a:r>
            <a:r>
              <a:rPr lang="en-US" altLang="zh-CN" sz="2000" dirty="0">
                <a:solidFill>
                  <a:prstClr val="black"/>
                </a:solidFill>
                <a:latin typeface="Times New Roman" panose="02020603050405020304"/>
                <a:ea typeface="黑体" panose="02010609060101010101" charset="-122"/>
              </a:rPr>
              <a:t>=</a:t>
            </a:r>
            <a:r>
              <a:rPr lang="en-US" altLang="zh-CN" sz="2000" i="1" dirty="0">
                <a:solidFill>
                  <a:prstClr val="black"/>
                </a:solidFill>
                <a:latin typeface="Times New Roman" panose="02020603050405020304"/>
                <a:ea typeface="黑体" panose="02010609060101010101" charset="-122"/>
              </a:rPr>
              <a:t>f</a:t>
            </a:r>
            <a:r>
              <a:rPr lang="en-US" altLang="zh-CN" sz="2000" dirty="0">
                <a:solidFill>
                  <a:prstClr val="black"/>
                </a:solidFill>
                <a:latin typeface="Times New Roman" panose="02020603050405020304"/>
                <a:ea typeface="黑体" panose="02010609060101010101" charset="-122"/>
              </a:rPr>
              <a:t>(</a:t>
            </a:r>
            <a:r>
              <a:rPr lang="en-US" altLang="zh-CN" sz="2000" i="1" dirty="0">
                <a:solidFill>
                  <a:prstClr val="black"/>
                </a:solidFill>
                <a:latin typeface="Times New Roman" panose="02020603050405020304"/>
                <a:ea typeface="黑体" panose="02010609060101010101" charset="-122"/>
              </a:rPr>
              <a:t>w</a:t>
            </a:r>
            <a:r>
              <a:rPr lang="en-US" altLang="zh-CN" sz="2000" baseline="-25000" dirty="0">
                <a:solidFill>
                  <a:prstClr val="black"/>
                </a:solidFill>
                <a:latin typeface="Times New Roman" panose="02020603050405020304"/>
                <a:ea typeface="黑体" panose="02010609060101010101" charset="-122"/>
              </a:rPr>
              <a:t>1</a:t>
            </a:r>
            <a:r>
              <a:rPr lang="en-US" altLang="zh-CN" sz="2000" i="1" dirty="0">
                <a:solidFill>
                  <a:prstClr val="black"/>
                </a:solidFill>
                <a:latin typeface="Times New Roman" panose="02020603050405020304"/>
                <a:ea typeface="黑体" panose="02010609060101010101" charset="-122"/>
              </a:rPr>
              <a:t>x</a:t>
            </a:r>
            <a:r>
              <a:rPr lang="en-US" altLang="zh-CN" sz="2000" baseline="-25000" dirty="0">
                <a:solidFill>
                  <a:prstClr val="black"/>
                </a:solidFill>
                <a:latin typeface="Times New Roman" panose="02020603050405020304"/>
                <a:ea typeface="黑体" panose="02010609060101010101" charset="-122"/>
              </a:rPr>
              <a:t>1</a:t>
            </a:r>
            <a:r>
              <a:rPr lang="en-US" altLang="zh-CN" sz="2000" dirty="0">
                <a:solidFill>
                  <a:prstClr val="black"/>
                </a:solidFill>
                <a:latin typeface="Times New Roman" panose="02020603050405020304"/>
                <a:ea typeface="黑体" panose="02010609060101010101" charset="-122"/>
              </a:rPr>
              <a:t>+</a:t>
            </a:r>
            <a:r>
              <a:rPr lang="en-US" altLang="zh-CN" sz="2000" i="1" dirty="0">
                <a:solidFill>
                  <a:prstClr val="black"/>
                </a:solidFill>
                <a:latin typeface="Times New Roman" panose="02020603050405020304"/>
                <a:ea typeface="黑体" panose="02010609060101010101" charset="-122"/>
              </a:rPr>
              <a:t>w</a:t>
            </a:r>
            <a:r>
              <a:rPr lang="en-US" altLang="zh-CN" sz="2000" baseline="-25000" dirty="0">
                <a:solidFill>
                  <a:prstClr val="black"/>
                </a:solidFill>
                <a:latin typeface="Times New Roman" panose="02020603050405020304"/>
                <a:ea typeface="黑体" panose="02010609060101010101" charset="-122"/>
              </a:rPr>
              <a:t>2</a:t>
            </a:r>
            <a:r>
              <a:rPr lang="en-US" altLang="zh-CN" sz="2000" i="1" dirty="0">
                <a:solidFill>
                  <a:prstClr val="black"/>
                </a:solidFill>
                <a:latin typeface="Times New Roman" panose="02020603050405020304"/>
                <a:ea typeface="黑体" panose="02010609060101010101" charset="-122"/>
              </a:rPr>
              <a:t>x</a:t>
            </a:r>
            <a:r>
              <a:rPr lang="en-US" altLang="zh-CN" sz="2000" baseline="-25000" dirty="0">
                <a:solidFill>
                  <a:prstClr val="black"/>
                </a:solidFill>
                <a:latin typeface="Times New Roman" panose="02020603050405020304"/>
                <a:ea typeface="黑体" panose="02010609060101010101" charset="-122"/>
              </a:rPr>
              <a:t>2</a:t>
            </a:r>
            <a:r>
              <a:rPr lang="en-US" altLang="zh-CN" sz="2000" dirty="0">
                <a:solidFill>
                  <a:prstClr val="black"/>
                </a:solidFill>
                <a:latin typeface="Times New Roman" panose="02020603050405020304"/>
                <a:ea typeface="黑体" panose="02010609060101010101" charset="-122"/>
              </a:rPr>
              <a:t>+</a:t>
            </a:r>
            <a:r>
              <a:rPr lang="en-US" altLang="zh-CN" sz="2000" i="1" dirty="0">
                <a:solidFill>
                  <a:prstClr val="black"/>
                </a:solidFill>
                <a:latin typeface="Times New Roman" panose="02020603050405020304"/>
                <a:ea typeface="黑体" panose="02010609060101010101" charset="-122"/>
              </a:rPr>
              <a:t>w</a:t>
            </a:r>
            <a:r>
              <a:rPr lang="en-US" altLang="zh-CN" sz="2000" baseline="-25000" dirty="0">
                <a:solidFill>
                  <a:prstClr val="black"/>
                </a:solidFill>
                <a:latin typeface="Times New Roman" panose="02020603050405020304"/>
                <a:ea typeface="黑体" panose="02010609060101010101" charset="-122"/>
              </a:rPr>
              <a:t>3</a:t>
            </a:r>
            <a:r>
              <a:rPr lang="en-US" altLang="zh-CN" sz="2000" i="1" dirty="0">
                <a:solidFill>
                  <a:prstClr val="black"/>
                </a:solidFill>
                <a:latin typeface="Times New Roman" panose="02020603050405020304"/>
                <a:ea typeface="黑体" panose="02010609060101010101" charset="-122"/>
              </a:rPr>
              <a:t>x</a:t>
            </a:r>
            <a:r>
              <a:rPr lang="en-US" altLang="zh-CN" sz="2000" baseline="-25000" dirty="0">
                <a:solidFill>
                  <a:prstClr val="black"/>
                </a:solidFill>
                <a:latin typeface="Times New Roman" panose="02020603050405020304"/>
                <a:ea typeface="黑体" panose="02010609060101010101" charset="-122"/>
              </a:rPr>
              <a:t>3</a:t>
            </a:r>
            <a:r>
              <a:rPr lang="en-US" altLang="zh-CN" sz="2000" dirty="0">
                <a:solidFill>
                  <a:prstClr val="black"/>
                </a:solidFill>
                <a:latin typeface="Times New Roman" panose="02020603050405020304"/>
                <a:ea typeface="黑体" panose="02010609060101010101" charset="-122"/>
              </a:rPr>
              <a:t>)</a:t>
            </a:r>
            <a:r>
              <a:rPr lang="zh-CN" altLang="en-US" sz="2000" dirty="0">
                <a:solidFill>
                  <a:prstClr val="black"/>
                </a:solidFill>
                <a:latin typeface="Times New Roman" panose="02020603050405020304"/>
                <a:ea typeface="黑体" panose="02010609060101010101" charset="-122"/>
              </a:rPr>
              <a:t>，即存在三个输入和一个输出（设置偏置</a:t>
            </a:r>
            <a:r>
              <a:rPr lang="en-US" altLang="zh-CN" sz="2000" i="1" dirty="0">
                <a:solidFill>
                  <a:prstClr val="black"/>
                </a:solidFill>
                <a:latin typeface="Times New Roman" panose="02020603050405020304"/>
                <a:ea typeface="黑体" panose="02010609060101010101" charset="-122"/>
              </a:rPr>
              <a:t>b</a:t>
            </a:r>
            <a:r>
              <a:rPr lang="zh-CN" altLang="en-US" sz="2000" dirty="0">
                <a:solidFill>
                  <a:prstClr val="black"/>
                </a:solidFill>
                <a:latin typeface="Times New Roman" panose="02020603050405020304"/>
                <a:ea typeface="黑体" panose="02010609060101010101" charset="-122"/>
              </a:rPr>
              <a:t>为</a:t>
            </a:r>
            <a:r>
              <a:rPr lang="en-US" altLang="zh-CN" sz="2000" dirty="0">
                <a:solidFill>
                  <a:prstClr val="black"/>
                </a:solidFill>
                <a:latin typeface="Times New Roman" panose="02020603050405020304"/>
                <a:ea typeface="黑体" panose="02010609060101010101" charset="-122"/>
              </a:rPr>
              <a:t>0</a:t>
            </a:r>
            <a:r>
              <a:rPr lang="zh-CN" altLang="en-US" sz="2000" dirty="0">
                <a:solidFill>
                  <a:prstClr val="black"/>
                </a:solidFill>
                <a:latin typeface="Times New Roman" panose="02020603050405020304"/>
                <a:ea typeface="黑体" panose="02010609060101010101" charset="-122"/>
              </a:rPr>
              <a:t>，因此该模型中需训练的权值参数为：</a:t>
            </a:r>
            <a:r>
              <a:rPr lang="en-US" altLang="zh-CN" sz="2000" i="1" dirty="0">
                <a:solidFill>
                  <a:prstClr val="black"/>
                </a:solidFill>
                <a:latin typeface="Times New Roman" panose="02020603050405020304"/>
                <a:ea typeface="黑体" panose="02010609060101010101" charset="-122"/>
              </a:rPr>
              <a:t>w</a:t>
            </a:r>
            <a:r>
              <a:rPr lang="en-US" altLang="zh-CN" sz="2000" baseline="-25000" dirty="0">
                <a:solidFill>
                  <a:prstClr val="black"/>
                </a:solidFill>
                <a:latin typeface="Times New Roman" panose="02020603050405020304"/>
                <a:ea typeface="黑体" panose="02010609060101010101" charset="-122"/>
              </a:rPr>
              <a:t>1</a:t>
            </a:r>
            <a:r>
              <a:rPr lang="en-US" altLang="zh-CN" sz="2000" i="1" dirty="0">
                <a:solidFill>
                  <a:prstClr val="black"/>
                </a:solidFill>
                <a:latin typeface="Times New Roman" panose="02020603050405020304"/>
                <a:ea typeface="黑体" panose="02010609060101010101" charset="-122"/>
              </a:rPr>
              <a:t>w</a:t>
            </a:r>
            <a:r>
              <a:rPr lang="en-US" altLang="zh-CN" sz="2000" baseline="-25000" dirty="0">
                <a:solidFill>
                  <a:prstClr val="black"/>
                </a:solidFill>
                <a:latin typeface="Times New Roman" panose="02020603050405020304"/>
                <a:ea typeface="黑体" panose="02010609060101010101" charset="-122"/>
              </a:rPr>
              <a:t>2</a:t>
            </a:r>
            <a:r>
              <a:rPr lang="en-US" altLang="zh-CN" sz="2000" i="1" dirty="0">
                <a:solidFill>
                  <a:prstClr val="black"/>
                </a:solidFill>
                <a:latin typeface="Times New Roman" panose="02020603050405020304"/>
                <a:ea typeface="黑体" panose="02010609060101010101" charset="-122"/>
              </a:rPr>
              <a:t>w</a:t>
            </a:r>
            <a:r>
              <a:rPr lang="en-US" altLang="zh-CN" sz="2000" baseline="-25000" dirty="0">
                <a:solidFill>
                  <a:prstClr val="black"/>
                </a:solidFill>
                <a:latin typeface="Times New Roman" panose="02020603050405020304"/>
                <a:ea typeface="黑体" panose="02010609060101010101" charset="-122"/>
              </a:rPr>
              <a:t>3</a:t>
            </a:r>
            <a:r>
              <a:rPr lang="zh-CN" altLang="en-US" sz="2000" dirty="0">
                <a:solidFill>
                  <a:prstClr val="black"/>
                </a:solidFill>
                <a:latin typeface="Times New Roman" panose="02020603050405020304"/>
                <a:ea typeface="黑体" panose="02010609060101010101" charset="-122"/>
              </a:rPr>
              <a:t>，使用简单阶跃函数为感知机的激活函数）。</a:t>
            </a:r>
            <a:endParaRPr lang="zh-CN" altLang="en-US" sz="2000" dirty="0">
              <a:solidFill>
                <a:prstClr val="black"/>
              </a:solidFill>
              <a:latin typeface="Times New Roman" panose="02020603050405020304"/>
              <a:ea typeface="黑体" panose="02010609060101010101" charset="-122"/>
            </a:endParaRPr>
          </a:p>
          <a:p>
            <a:pPr marL="342900" indent="-342900" algn="just">
              <a:lnSpc>
                <a:spcPct val="130000"/>
              </a:lnSpc>
              <a:buFont typeface="Arial" panose="020B0604020202020204" pitchFamily="34" charset="0"/>
              <a:buChar char="•"/>
            </a:pPr>
            <a:r>
              <a:rPr lang="zh-CN" altLang="en-US" sz="2000" dirty="0">
                <a:solidFill>
                  <a:prstClr val="black"/>
                </a:solidFill>
                <a:latin typeface="Times New Roman" panose="02020603050405020304"/>
                <a:ea typeface="黑体" panose="02010609060101010101" charset="-122"/>
              </a:rPr>
              <a:t>通过一定训练，网络的权值分别为</a:t>
            </a:r>
            <a:r>
              <a:rPr lang="en-US" altLang="zh-CN" sz="2000" i="1" dirty="0">
                <a:solidFill>
                  <a:prstClr val="black"/>
                </a:solidFill>
                <a:latin typeface="Times New Roman" panose="02020603050405020304"/>
                <a:ea typeface="黑体" panose="02010609060101010101" charset="-122"/>
              </a:rPr>
              <a:t>w</a:t>
            </a:r>
            <a:r>
              <a:rPr lang="en-US" altLang="zh-CN" sz="2000" baseline="-25000" dirty="0">
                <a:solidFill>
                  <a:prstClr val="black"/>
                </a:solidFill>
                <a:latin typeface="Times New Roman" panose="02020603050405020304"/>
                <a:ea typeface="黑体" panose="02010609060101010101" charset="-122"/>
              </a:rPr>
              <a:t>1</a:t>
            </a:r>
            <a:r>
              <a:rPr lang="en-US" altLang="zh-CN" sz="2000" dirty="0">
                <a:solidFill>
                  <a:prstClr val="black"/>
                </a:solidFill>
                <a:latin typeface="Times New Roman" panose="02020603050405020304"/>
                <a:ea typeface="黑体" panose="02010609060101010101" charset="-122"/>
              </a:rPr>
              <a:t>=1</a:t>
            </a:r>
            <a:r>
              <a:rPr lang="zh-CN" altLang="en-US" sz="2000" dirty="0">
                <a:solidFill>
                  <a:prstClr val="black"/>
                </a:solidFill>
                <a:latin typeface="Times New Roman" panose="02020603050405020304"/>
                <a:ea typeface="黑体" panose="02010609060101010101" charset="-122"/>
              </a:rPr>
              <a:t>，</a:t>
            </a:r>
            <a:r>
              <a:rPr lang="en-US" altLang="zh-CN" sz="2000" i="1" dirty="0">
                <a:solidFill>
                  <a:prstClr val="black"/>
                </a:solidFill>
                <a:latin typeface="Times New Roman" panose="02020603050405020304"/>
                <a:ea typeface="黑体" panose="02010609060101010101" charset="-122"/>
              </a:rPr>
              <a:t>w</a:t>
            </a:r>
            <a:r>
              <a:rPr lang="en-US" altLang="zh-CN" sz="2000" baseline="-25000" dirty="0">
                <a:solidFill>
                  <a:prstClr val="black"/>
                </a:solidFill>
                <a:latin typeface="Times New Roman" panose="02020603050405020304"/>
                <a:ea typeface="黑体" panose="02010609060101010101" charset="-122"/>
              </a:rPr>
              <a:t>2</a:t>
            </a:r>
            <a:r>
              <a:rPr lang="en-US" altLang="zh-CN" sz="2000" dirty="0">
                <a:solidFill>
                  <a:prstClr val="black"/>
                </a:solidFill>
                <a:latin typeface="Times New Roman" panose="02020603050405020304"/>
                <a:ea typeface="黑体" panose="02010609060101010101" charset="-122"/>
              </a:rPr>
              <a:t>=1</a:t>
            </a:r>
            <a:r>
              <a:rPr lang="zh-CN" altLang="en-US" sz="2000" dirty="0">
                <a:solidFill>
                  <a:prstClr val="black"/>
                </a:solidFill>
                <a:latin typeface="Times New Roman" panose="02020603050405020304"/>
                <a:ea typeface="黑体" panose="02010609060101010101" charset="-122"/>
              </a:rPr>
              <a:t>，</a:t>
            </a:r>
            <a:r>
              <a:rPr lang="en-US" altLang="zh-CN" sz="2000" i="1" dirty="0">
                <a:solidFill>
                  <a:prstClr val="black"/>
                </a:solidFill>
                <a:latin typeface="Times New Roman" panose="02020603050405020304"/>
                <a:ea typeface="黑体" panose="02010609060101010101" charset="-122"/>
              </a:rPr>
              <a:t>w</a:t>
            </a:r>
            <a:r>
              <a:rPr lang="en-US" altLang="zh-CN" sz="2000" baseline="-25000" dirty="0">
                <a:solidFill>
                  <a:prstClr val="black"/>
                </a:solidFill>
                <a:latin typeface="Times New Roman" panose="02020603050405020304"/>
                <a:ea typeface="黑体" panose="02010609060101010101" charset="-122"/>
              </a:rPr>
              <a:t>3</a:t>
            </a:r>
            <a:r>
              <a:rPr lang="en-US" altLang="zh-CN" sz="2000" dirty="0">
                <a:solidFill>
                  <a:prstClr val="black"/>
                </a:solidFill>
                <a:latin typeface="Times New Roman" panose="02020603050405020304"/>
                <a:ea typeface="黑体" panose="02010609060101010101" charset="-122"/>
              </a:rPr>
              <a:t>=1</a:t>
            </a:r>
            <a:r>
              <a:rPr lang="zh-CN" altLang="en-US" sz="2000" dirty="0">
                <a:solidFill>
                  <a:prstClr val="black"/>
                </a:solidFill>
                <a:latin typeface="Times New Roman" panose="02020603050405020304"/>
                <a:ea typeface="黑体" panose="02010609060101010101" charset="-122"/>
              </a:rPr>
              <a:t>（这个数据不唯一，可以通过训练得到）：</a:t>
            </a:r>
            <a:endParaRPr lang="zh-CN" altLang="en-US" sz="2000" dirty="0">
              <a:solidFill>
                <a:prstClr val="black"/>
              </a:solidFill>
              <a:latin typeface="Times New Roman" panose="02020603050405020304"/>
              <a:ea typeface="黑体" panose="02010609060101010101" charset="-122"/>
            </a:endParaRPr>
          </a:p>
          <a:p>
            <a:pPr marL="342900" indent="-342900" algn="just">
              <a:lnSpc>
                <a:spcPct val="130000"/>
              </a:lnSpc>
              <a:buFont typeface="Arial" panose="020B0604020202020204" pitchFamily="34" charset="0"/>
              <a:buChar char="•"/>
            </a:pPr>
            <a:r>
              <a:rPr lang="zh-CN" altLang="en-US" sz="2000" dirty="0">
                <a:solidFill>
                  <a:prstClr val="black"/>
                </a:solidFill>
                <a:latin typeface="Times New Roman" panose="02020603050405020304"/>
                <a:ea typeface="黑体" panose="02010609060101010101" charset="-122"/>
              </a:rPr>
              <a:t>当输入</a:t>
            </a:r>
            <a:r>
              <a:rPr lang="en-US" altLang="zh-CN" sz="2000" i="1" dirty="0">
                <a:solidFill>
                  <a:prstClr val="black"/>
                </a:solidFill>
                <a:latin typeface="Times New Roman" panose="02020603050405020304"/>
                <a:ea typeface="黑体" panose="02010609060101010101" charset="-122"/>
              </a:rPr>
              <a:t>x</a:t>
            </a:r>
            <a:r>
              <a:rPr lang="en-US" altLang="zh-CN" sz="2000" baseline="-25000" dirty="0">
                <a:solidFill>
                  <a:prstClr val="black"/>
                </a:solidFill>
                <a:latin typeface="Times New Roman" panose="02020603050405020304"/>
                <a:ea typeface="黑体" panose="02010609060101010101" charset="-122"/>
              </a:rPr>
              <a:t>1</a:t>
            </a:r>
            <a:r>
              <a:rPr lang="en-US" altLang="zh-CN" sz="2000" dirty="0">
                <a:solidFill>
                  <a:prstClr val="black"/>
                </a:solidFill>
                <a:latin typeface="Times New Roman" panose="02020603050405020304"/>
                <a:ea typeface="黑体" panose="02010609060101010101" charset="-122"/>
              </a:rPr>
              <a:t>,</a:t>
            </a:r>
            <a:r>
              <a:rPr lang="en-US" altLang="zh-CN" sz="2000" i="1" dirty="0">
                <a:solidFill>
                  <a:prstClr val="black"/>
                </a:solidFill>
                <a:latin typeface="Times New Roman" panose="02020603050405020304"/>
                <a:ea typeface="黑体" panose="02010609060101010101" charset="-122"/>
              </a:rPr>
              <a:t> x</a:t>
            </a:r>
            <a:r>
              <a:rPr lang="en-US" altLang="zh-CN" sz="2000" baseline="-25000" dirty="0">
                <a:solidFill>
                  <a:prstClr val="black"/>
                </a:solidFill>
                <a:latin typeface="Times New Roman" panose="02020603050405020304"/>
                <a:ea typeface="黑体" panose="02010609060101010101" charset="-122"/>
              </a:rPr>
              <a:t>2</a:t>
            </a:r>
            <a:r>
              <a:rPr lang="en-US" altLang="zh-CN" sz="2000" dirty="0">
                <a:solidFill>
                  <a:prstClr val="black"/>
                </a:solidFill>
                <a:latin typeface="Times New Roman" panose="02020603050405020304"/>
                <a:ea typeface="黑体" panose="02010609060101010101" charset="-122"/>
              </a:rPr>
              <a:t>,</a:t>
            </a:r>
            <a:r>
              <a:rPr lang="en-US" altLang="zh-CN" sz="2000" i="1" dirty="0">
                <a:solidFill>
                  <a:prstClr val="black"/>
                </a:solidFill>
                <a:latin typeface="Times New Roman" panose="02020603050405020304"/>
                <a:ea typeface="黑体" panose="02010609060101010101" charset="-122"/>
              </a:rPr>
              <a:t> x</a:t>
            </a:r>
            <a:r>
              <a:rPr lang="en-US" altLang="zh-CN" sz="2000" baseline="-25000" dirty="0">
                <a:solidFill>
                  <a:prstClr val="black"/>
                </a:solidFill>
                <a:latin typeface="Times New Roman" panose="02020603050405020304"/>
                <a:ea typeface="黑体" panose="02010609060101010101" charset="-122"/>
              </a:rPr>
              <a:t>3</a:t>
            </a:r>
            <a:r>
              <a:rPr lang="zh-CN" altLang="en-US" sz="2000" dirty="0">
                <a:solidFill>
                  <a:prstClr val="black"/>
                </a:solidFill>
                <a:latin typeface="Times New Roman" panose="02020603050405020304"/>
                <a:ea typeface="黑体" panose="02010609060101010101" charset="-122"/>
              </a:rPr>
              <a:t>分别为</a:t>
            </a:r>
            <a:r>
              <a:rPr lang="en-US" altLang="zh-CN" sz="2000" dirty="0">
                <a:solidFill>
                  <a:prstClr val="black"/>
                </a:solidFill>
                <a:latin typeface="Times New Roman" panose="02020603050405020304"/>
                <a:ea typeface="黑体" panose="02010609060101010101" charset="-122"/>
              </a:rPr>
              <a:t>1,1,1</a:t>
            </a:r>
            <a:r>
              <a:rPr lang="zh-CN" altLang="en-US" sz="2000" dirty="0">
                <a:solidFill>
                  <a:prstClr val="black"/>
                </a:solidFill>
                <a:latin typeface="Times New Roman" panose="02020603050405020304"/>
                <a:ea typeface="黑体" panose="02010609060101010101" charset="-122"/>
              </a:rPr>
              <a:t>时：</a:t>
            </a:r>
            <a:endParaRPr lang="zh-CN" altLang="en-US" sz="2000" dirty="0">
              <a:solidFill>
                <a:prstClr val="black"/>
              </a:solidFill>
              <a:latin typeface="Times New Roman" panose="02020603050405020304"/>
              <a:ea typeface="黑体" panose="02010609060101010101" charset="-122"/>
            </a:endParaRPr>
          </a:p>
          <a:p>
            <a:pPr marL="342900" indent="-342900" algn="just">
              <a:lnSpc>
                <a:spcPct val="130000"/>
              </a:lnSpc>
              <a:buFont typeface="Arial" panose="020B0604020202020204" pitchFamily="34" charset="0"/>
              <a:buChar char="•"/>
            </a:pPr>
            <a:r>
              <a:rPr lang="en-US" altLang="zh-CN" sz="2000" i="1" dirty="0">
                <a:solidFill>
                  <a:prstClr val="black"/>
                </a:solidFill>
                <a:latin typeface="Times New Roman" panose="02020603050405020304"/>
                <a:ea typeface="黑体" panose="02010609060101010101" charset="-122"/>
              </a:rPr>
              <a:t>y</a:t>
            </a:r>
            <a:r>
              <a:rPr lang="en-US" altLang="zh-CN" sz="2000" dirty="0">
                <a:solidFill>
                  <a:prstClr val="black"/>
                </a:solidFill>
                <a:latin typeface="Times New Roman" panose="02020603050405020304"/>
                <a:ea typeface="黑体" panose="02010609060101010101" charset="-122"/>
              </a:rPr>
              <a:t>=</a:t>
            </a:r>
            <a:r>
              <a:rPr lang="en-US" altLang="zh-CN" sz="2000" i="1" dirty="0">
                <a:solidFill>
                  <a:prstClr val="black"/>
                </a:solidFill>
                <a:latin typeface="Times New Roman" panose="02020603050405020304"/>
                <a:ea typeface="黑体" panose="02010609060101010101" charset="-122"/>
              </a:rPr>
              <a:t>f</a:t>
            </a:r>
            <a:r>
              <a:rPr lang="en-US" altLang="zh-CN" sz="2000" dirty="0">
                <a:solidFill>
                  <a:prstClr val="black"/>
                </a:solidFill>
                <a:latin typeface="Times New Roman" panose="02020603050405020304"/>
                <a:ea typeface="黑体" panose="02010609060101010101" charset="-122"/>
              </a:rPr>
              <a:t>(</a:t>
            </a:r>
            <a:r>
              <a:rPr lang="en-US" altLang="zh-CN" sz="2000" i="1" dirty="0">
                <a:solidFill>
                  <a:prstClr val="black"/>
                </a:solidFill>
                <a:latin typeface="Times New Roman" panose="02020603050405020304"/>
                <a:ea typeface="黑体" panose="02010609060101010101" charset="-122"/>
              </a:rPr>
              <a:t>w</a:t>
            </a:r>
            <a:r>
              <a:rPr lang="en-US" altLang="zh-CN" sz="2000" baseline="-25000" dirty="0">
                <a:solidFill>
                  <a:prstClr val="black"/>
                </a:solidFill>
                <a:latin typeface="Times New Roman" panose="02020603050405020304"/>
                <a:ea typeface="黑体" panose="02010609060101010101" charset="-122"/>
              </a:rPr>
              <a:t>1</a:t>
            </a:r>
            <a:r>
              <a:rPr lang="en-US" altLang="zh-CN" sz="2000" i="1" dirty="0">
                <a:solidFill>
                  <a:prstClr val="black"/>
                </a:solidFill>
                <a:latin typeface="Times New Roman" panose="02020603050405020304"/>
                <a:ea typeface="黑体" panose="02010609060101010101" charset="-122"/>
              </a:rPr>
              <a:t>x</a:t>
            </a:r>
            <a:r>
              <a:rPr lang="en-US" altLang="zh-CN" sz="2000" baseline="-25000" dirty="0">
                <a:solidFill>
                  <a:prstClr val="black"/>
                </a:solidFill>
                <a:latin typeface="Times New Roman" panose="02020603050405020304"/>
                <a:ea typeface="黑体" panose="02010609060101010101" charset="-122"/>
              </a:rPr>
              <a:t>1</a:t>
            </a:r>
            <a:r>
              <a:rPr lang="en-US" altLang="zh-CN" sz="2000" dirty="0">
                <a:solidFill>
                  <a:prstClr val="black"/>
                </a:solidFill>
                <a:latin typeface="Times New Roman" panose="02020603050405020304"/>
                <a:ea typeface="黑体" panose="02010609060101010101" charset="-122"/>
              </a:rPr>
              <a:t>+</a:t>
            </a:r>
            <a:r>
              <a:rPr lang="en-US" altLang="zh-CN" sz="2000" i="1" dirty="0">
                <a:solidFill>
                  <a:prstClr val="black"/>
                </a:solidFill>
                <a:latin typeface="Times New Roman" panose="02020603050405020304"/>
                <a:ea typeface="黑体" panose="02010609060101010101" charset="-122"/>
              </a:rPr>
              <a:t>w</a:t>
            </a:r>
            <a:r>
              <a:rPr lang="en-US" altLang="zh-CN" sz="2000" baseline="-25000" dirty="0">
                <a:solidFill>
                  <a:prstClr val="black"/>
                </a:solidFill>
                <a:latin typeface="Times New Roman" panose="02020603050405020304"/>
                <a:ea typeface="黑体" panose="02010609060101010101" charset="-122"/>
              </a:rPr>
              <a:t>2</a:t>
            </a:r>
            <a:r>
              <a:rPr lang="en-US" altLang="zh-CN" sz="2000" i="1" dirty="0">
                <a:solidFill>
                  <a:prstClr val="black"/>
                </a:solidFill>
                <a:latin typeface="Times New Roman" panose="02020603050405020304"/>
                <a:ea typeface="黑体" panose="02010609060101010101" charset="-122"/>
              </a:rPr>
              <a:t>x</a:t>
            </a:r>
            <a:r>
              <a:rPr lang="en-US" altLang="zh-CN" sz="2000" baseline="-25000" dirty="0">
                <a:solidFill>
                  <a:prstClr val="black"/>
                </a:solidFill>
                <a:latin typeface="Times New Roman" panose="02020603050405020304"/>
                <a:ea typeface="黑体" panose="02010609060101010101" charset="-122"/>
              </a:rPr>
              <a:t>2</a:t>
            </a:r>
            <a:r>
              <a:rPr lang="en-US" altLang="zh-CN" sz="2000" dirty="0">
                <a:solidFill>
                  <a:prstClr val="black"/>
                </a:solidFill>
                <a:latin typeface="Times New Roman" panose="02020603050405020304"/>
                <a:ea typeface="黑体" panose="02010609060101010101" charset="-122"/>
              </a:rPr>
              <a:t>+</a:t>
            </a:r>
            <a:r>
              <a:rPr lang="en-US" altLang="zh-CN" sz="2000" i="1" dirty="0">
                <a:solidFill>
                  <a:prstClr val="black"/>
                </a:solidFill>
                <a:latin typeface="Times New Roman" panose="02020603050405020304"/>
                <a:ea typeface="黑体" panose="02010609060101010101" charset="-122"/>
              </a:rPr>
              <a:t>w</a:t>
            </a:r>
            <a:r>
              <a:rPr lang="en-US" altLang="zh-CN" sz="2000" baseline="-25000" dirty="0">
                <a:solidFill>
                  <a:prstClr val="black"/>
                </a:solidFill>
                <a:latin typeface="Times New Roman" panose="02020603050405020304"/>
                <a:ea typeface="黑体" panose="02010609060101010101" charset="-122"/>
              </a:rPr>
              <a:t>3</a:t>
            </a:r>
            <a:r>
              <a:rPr lang="en-US" altLang="zh-CN" sz="2000" i="1" dirty="0">
                <a:solidFill>
                  <a:prstClr val="black"/>
                </a:solidFill>
                <a:latin typeface="Times New Roman" panose="02020603050405020304"/>
                <a:ea typeface="黑体" panose="02010609060101010101" charset="-122"/>
              </a:rPr>
              <a:t>x</a:t>
            </a:r>
            <a:r>
              <a:rPr lang="en-US" altLang="zh-CN" sz="2000" baseline="-25000" dirty="0">
                <a:solidFill>
                  <a:prstClr val="black"/>
                </a:solidFill>
                <a:latin typeface="Times New Roman" panose="02020603050405020304"/>
                <a:ea typeface="黑体" panose="02010609060101010101" charset="-122"/>
              </a:rPr>
              <a:t>3</a:t>
            </a:r>
            <a:r>
              <a:rPr lang="en-US" altLang="zh-CN" sz="2000" dirty="0">
                <a:solidFill>
                  <a:prstClr val="black"/>
                </a:solidFill>
                <a:latin typeface="Times New Roman" panose="02020603050405020304"/>
                <a:ea typeface="黑体" panose="02010609060101010101" charset="-122"/>
              </a:rPr>
              <a:t>+b)=</a:t>
            </a:r>
            <a:r>
              <a:rPr lang="en-US" altLang="zh-CN" sz="2000" i="1" dirty="0">
                <a:solidFill>
                  <a:prstClr val="black"/>
                </a:solidFill>
                <a:latin typeface="Times New Roman" panose="02020603050405020304"/>
                <a:ea typeface="黑体" panose="02010609060101010101" charset="-122"/>
              </a:rPr>
              <a:t>f</a:t>
            </a:r>
            <a:r>
              <a:rPr lang="en-US" altLang="zh-CN" sz="2000" dirty="0">
                <a:solidFill>
                  <a:prstClr val="black"/>
                </a:solidFill>
                <a:latin typeface="Times New Roman" panose="02020603050405020304"/>
                <a:ea typeface="黑体" panose="02010609060101010101" charset="-122"/>
              </a:rPr>
              <a:t>(1*1+1*1+1*1)=</a:t>
            </a:r>
            <a:r>
              <a:rPr lang="en-US" altLang="zh-CN" sz="2000" i="1" dirty="0">
                <a:solidFill>
                  <a:prstClr val="black"/>
                </a:solidFill>
                <a:latin typeface="Times New Roman" panose="02020603050405020304"/>
                <a:ea typeface="黑体" panose="02010609060101010101" charset="-122"/>
              </a:rPr>
              <a:t>f</a:t>
            </a:r>
            <a:r>
              <a:rPr lang="en-US" altLang="zh-CN" sz="2000" dirty="0">
                <a:solidFill>
                  <a:prstClr val="black"/>
                </a:solidFill>
                <a:latin typeface="Times New Roman" panose="02020603050405020304"/>
                <a:ea typeface="黑体" panose="02010609060101010101" charset="-122"/>
              </a:rPr>
              <a:t>(3)=1</a:t>
            </a:r>
            <a:r>
              <a:rPr lang="zh-CN" altLang="en-US" sz="2000" dirty="0">
                <a:solidFill>
                  <a:prstClr val="black"/>
                </a:solidFill>
                <a:latin typeface="Times New Roman" panose="02020603050405020304"/>
                <a:ea typeface="黑体" panose="02010609060101010101" charset="-122"/>
              </a:rPr>
              <a:t>，输出为</a:t>
            </a:r>
            <a:r>
              <a:rPr lang="en-US" altLang="zh-CN" sz="2000" dirty="0">
                <a:solidFill>
                  <a:prstClr val="black"/>
                </a:solidFill>
                <a:latin typeface="Times New Roman" panose="02020603050405020304"/>
                <a:ea typeface="黑体" panose="02010609060101010101" charset="-122"/>
              </a:rPr>
              <a:t>1</a:t>
            </a:r>
            <a:r>
              <a:rPr lang="zh-CN" altLang="en-US" sz="2000" dirty="0">
                <a:solidFill>
                  <a:prstClr val="black"/>
                </a:solidFill>
                <a:latin typeface="Times New Roman" panose="02020603050405020304"/>
                <a:ea typeface="黑体" panose="02010609060101010101" charset="-122"/>
              </a:rPr>
              <a:t>；</a:t>
            </a:r>
            <a:endParaRPr lang="zh-CN" altLang="en-US" sz="2000" dirty="0">
              <a:solidFill>
                <a:prstClr val="black"/>
              </a:solidFill>
              <a:latin typeface="Times New Roman" panose="02020603050405020304"/>
              <a:ea typeface="黑体" panose="02010609060101010101" charset="-122"/>
            </a:endParaRPr>
          </a:p>
          <a:p>
            <a:pPr marL="342900" indent="-342900" algn="just">
              <a:lnSpc>
                <a:spcPct val="130000"/>
              </a:lnSpc>
              <a:buFont typeface="Arial" panose="020B0604020202020204" pitchFamily="34" charset="0"/>
              <a:buChar char="•"/>
            </a:pPr>
            <a:r>
              <a:rPr lang="zh-CN" altLang="en-US" sz="2000" dirty="0">
                <a:solidFill>
                  <a:prstClr val="black"/>
                </a:solidFill>
                <a:latin typeface="Times New Roman" panose="02020603050405020304"/>
                <a:ea typeface="黑体" panose="02010609060101010101" charset="-122"/>
              </a:rPr>
              <a:t>当输入</a:t>
            </a:r>
            <a:r>
              <a:rPr lang="en-US" altLang="zh-CN" sz="2000" i="1" dirty="0">
                <a:solidFill>
                  <a:prstClr val="black"/>
                </a:solidFill>
                <a:latin typeface="Times New Roman" panose="02020603050405020304"/>
                <a:ea typeface="黑体" panose="02010609060101010101" charset="-122"/>
              </a:rPr>
              <a:t>x</a:t>
            </a:r>
            <a:r>
              <a:rPr lang="en-US" altLang="zh-CN" sz="2000" baseline="-25000" dirty="0">
                <a:solidFill>
                  <a:prstClr val="black"/>
                </a:solidFill>
                <a:latin typeface="Times New Roman" panose="02020603050405020304"/>
                <a:ea typeface="黑体" panose="02010609060101010101" charset="-122"/>
              </a:rPr>
              <a:t>1</a:t>
            </a:r>
            <a:r>
              <a:rPr lang="en-US" altLang="zh-CN" sz="2000" dirty="0">
                <a:solidFill>
                  <a:prstClr val="black"/>
                </a:solidFill>
                <a:latin typeface="Times New Roman" panose="02020603050405020304"/>
                <a:ea typeface="黑体" panose="02010609060101010101" charset="-122"/>
              </a:rPr>
              <a:t>,</a:t>
            </a:r>
            <a:r>
              <a:rPr lang="en-US" altLang="zh-CN" sz="2000" i="1" dirty="0">
                <a:solidFill>
                  <a:prstClr val="black"/>
                </a:solidFill>
                <a:latin typeface="Times New Roman" panose="02020603050405020304"/>
                <a:ea typeface="黑体" panose="02010609060101010101" charset="-122"/>
              </a:rPr>
              <a:t> x</a:t>
            </a:r>
            <a:r>
              <a:rPr lang="en-US" altLang="zh-CN" sz="2000" baseline="-25000" dirty="0">
                <a:solidFill>
                  <a:prstClr val="black"/>
                </a:solidFill>
                <a:latin typeface="Times New Roman" panose="02020603050405020304"/>
                <a:ea typeface="黑体" panose="02010609060101010101" charset="-122"/>
              </a:rPr>
              <a:t>2</a:t>
            </a:r>
            <a:r>
              <a:rPr lang="en-US" altLang="zh-CN" sz="2000" dirty="0">
                <a:solidFill>
                  <a:prstClr val="black"/>
                </a:solidFill>
                <a:latin typeface="Times New Roman" panose="02020603050405020304"/>
                <a:ea typeface="黑体" panose="02010609060101010101" charset="-122"/>
              </a:rPr>
              <a:t>,</a:t>
            </a:r>
            <a:r>
              <a:rPr lang="en-US" altLang="zh-CN" sz="2000" i="1" dirty="0">
                <a:solidFill>
                  <a:prstClr val="black"/>
                </a:solidFill>
                <a:latin typeface="Times New Roman" panose="02020603050405020304"/>
                <a:ea typeface="黑体" panose="02010609060101010101" charset="-122"/>
              </a:rPr>
              <a:t> x</a:t>
            </a:r>
            <a:r>
              <a:rPr lang="en-US" altLang="zh-CN" sz="2000" baseline="-25000" dirty="0">
                <a:solidFill>
                  <a:prstClr val="black"/>
                </a:solidFill>
                <a:latin typeface="Times New Roman" panose="02020603050405020304"/>
                <a:ea typeface="黑体" panose="02010609060101010101" charset="-122"/>
              </a:rPr>
              <a:t>3</a:t>
            </a:r>
            <a:r>
              <a:rPr lang="zh-CN" altLang="en-US" sz="2000" dirty="0">
                <a:solidFill>
                  <a:prstClr val="black"/>
                </a:solidFill>
                <a:latin typeface="Times New Roman" panose="02020603050405020304"/>
                <a:ea typeface="黑体" panose="02010609060101010101" charset="-122"/>
              </a:rPr>
              <a:t>分别为</a:t>
            </a:r>
            <a:r>
              <a:rPr lang="en-US" altLang="zh-CN" sz="2000" dirty="0">
                <a:solidFill>
                  <a:prstClr val="black"/>
                </a:solidFill>
                <a:latin typeface="Times New Roman" panose="02020603050405020304"/>
                <a:ea typeface="黑体" panose="02010609060101010101" charset="-122"/>
              </a:rPr>
              <a:t>-1,-1,-1</a:t>
            </a:r>
            <a:r>
              <a:rPr lang="zh-CN" altLang="en-US" sz="2000" dirty="0">
                <a:solidFill>
                  <a:prstClr val="black"/>
                </a:solidFill>
                <a:latin typeface="Times New Roman" panose="02020603050405020304"/>
                <a:ea typeface="黑体" panose="02010609060101010101" charset="-122"/>
              </a:rPr>
              <a:t>：</a:t>
            </a:r>
            <a:endParaRPr lang="zh-CN" altLang="en-US" sz="2000" dirty="0">
              <a:solidFill>
                <a:prstClr val="black"/>
              </a:solidFill>
              <a:latin typeface="Times New Roman" panose="02020603050405020304"/>
              <a:ea typeface="黑体" panose="02010609060101010101" charset="-122"/>
            </a:endParaRPr>
          </a:p>
          <a:p>
            <a:pPr marL="342900" indent="-342900" algn="just">
              <a:lnSpc>
                <a:spcPct val="130000"/>
              </a:lnSpc>
              <a:buFont typeface="Arial" panose="020B0604020202020204" pitchFamily="34" charset="0"/>
              <a:buChar char="•"/>
            </a:pPr>
            <a:r>
              <a:rPr lang="en-US" altLang="zh-CN" sz="2000" i="1" dirty="0">
                <a:solidFill>
                  <a:prstClr val="black"/>
                </a:solidFill>
                <a:latin typeface="Times New Roman" panose="02020603050405020304"/>
                <a:ea typeface="黑体" panose="02010609060101010101" charset="-122"/>
              </a:rPr>
              <a:t>y</a:t>
            </a:r>
            <a:r>
              <a:rPr lang="en-US" altLang="zh-CN" sz="2000" dirty="0">
                <a:solidFill>
                  <a:prstClr val="black"/>
                </a:solidFill>
                <a:latin typeface="Times New Roman" panose="02020603050405020304"/>
                <a:ea typeface="黑体" panose="02010609060101010101" charset="-122"/>
              </a:rPr>
              <a:t>=</a:t>
            </a:r>
            <a:r>
              <a:rPr lang="en-US" altLang="zh-CN" sz="2000" i="1" dirty="0">
                <a:solidFill>
                  <a:prstClr val="black"/>
                </a:solidFill>
                <a:latin typeface="Times New Roman" panose="02020603050405020304"/>
                <a:ea typeface="黑体" panose="02010609060101010101" charset="-122"/>
              </a:rPr>
              <a:t>f</a:t>
            </a:r>
            <a:r>
              <a:rPr lang="en-US" altLang="zh-CN" sz="2000" dirty="0">
                <a:solidFill>
                  <a:prstClr val="black"/>
                </a:solidFill>
                <a:latin typeface="Times New Roman" panose="02020603050405020304"/>
                <a:ea typeface="黑体" panose="02010609060101010101" charset="-122"/>
              </a:rPr>
              <a:t>(</a:t>
            </a:r>
            <a:r>
              <a:rPr lang="en-US" altLang="zh-CN" sz="2000" i="1" dirty="0">
                <a:solidFill>
                  <a:prstClr val="black"/>
                </a:solidFill>
                <a:latin typeface="Times New Roman" panose="02020603050405020304"/>
                <a:ea typeface="黑体" panose="02010609060101010101" charset="-122"/>
              </a:rPr>
              <a:t>w</a:t>
            </a:r>
            <a:r>
              <a:rPr lang="en-US" altLang="zh-CN" sz="2000" baseline="-25000" dirty="0">
                <a:solidFill>
                  <a:prstClr val="black"/>
                </a:solidFill>
                <a:latin typeface="Times New Roman" panose="02020603050405020304"/>
                <a:ea typeface="黑体" panose="02010609060101010101" charset="-122"/>
              </a:rPr>
              <a:t>1</a:t>
            </a:r>
            <a:r>
              <a:rPr lang="en-US" altLang="zh-CN" sz="2000" i="1" dirty="0">
                <a:solidFill>
                  <a:prstClr val="black"/>
                </a:solidFill>
                <a:latin typeface="Times New Roman" panose="02020603050405020304"/>
                <a:ea typeface="黑体" panose="02010609060101010101" charset="-122"/>
              </a:rPr>
              <a:t>x</a:t>
            </a:r>
            <a:r>
              <a:rPr lang="en-US" altLang="zh-CN" sz="2000" baseline="-25000" dirty="0">
                <a:solidFill>
                  <a:prstClr val="black"/>
                </a:solidFill>
                <a:latin typeface="Times New Roman" panose="02020603050405020304"/>
                <a:ea typeface="黑体" panose="02010609060101010101" charset="-122"/>
              </a:rPr>
              <a:t>1</a:t>
            </a:r>
            <a:r>
              <a:rPr lang="en-US" altLang="zh-CN" sz="2000" dirty="0">
                <a:solidFill>
                  <a:prstClr val="black"/>
                </a:solidFill>
                <a:latin typeface="Times New Roman" panose="02020603050405020304"/>
                <a:ea typeface="黑体" panose="02010609060101010101" charset="-122"/>
              </a:rPr>
              <a:t>+</a:t>
            </a:r>
            <a:r>
              <a:rPr lang="en-US" altLang="zh-CN" sz="2000" i="1" dirty="0">
                <a:solidFill>
                  <a:prstClr val="black"/>
                </a:solidFill>
                <a:latin typeface="Times New Roman" panose="02020603050405020304"/>
                <a:ea typeface="黑体" panose="02010609060101010101" charset="-122"/>
              </a:rPr>
              <a:t>w</a:t>
            </a:r>
            <a:r>
              <a:rPr lang="en-US" altLang="zh-CN" sz="2000" baseline="-25000" dirty="0">
                <a:solidFill>
                  <a:prstClr val="black"/>
                </a:solidFill>
                <a:latin typeface="Times New Roman" panose="02020603050405020304"/>
                <a:ea typeface="黑体" panose="02010609060101010101" charset="-122"/>
              </a:rPr>
              <a:t>2</a:t>
            </a:r>
            <a:r>
              <a:rPr lang="en-US" altLang="zh-CN" sz="2000" i="1" dirty="0">
                <a:solidFill>
                  <a:prstClr val="black"/>
                </a:solidFill>
                <a:latin typeface="Times New Roman" panose="02020603050405020304"/>
                <a:ea typeface="黑体" panose="02010609060101010101" charset="-122"/>
              </a:rPr>
              <a:t>x</a:t>
            </a:r>
            <a:r>
              <a:rPr lang="en-US" altLang="zh-CN" sz="2000" baseline="-25000" dirty="0">
                <a:solidFill>
                  <a:prstClr val="black"/>
                </a:solidFill>
                <a:latin typeface="Times New Roman" panose="02020603050405020304"/>
                <a:ea typeface="黑体" panose="02010609060101010101" charset="-122"/>
              </a:rPr>
              <a:t>2</a:t>
            </a:r>
            <a:r>
              <a:rPr lang="en-US" altLang="zh-CN" sz="2000" dirty="0">
                <a:solidFill>
                  <a:prstClr val="black"/>
                </a:solidFill>
                <a:latin typeface="Times New Roman" panose="02020603050405020304"/>
                <a:ea typeface="黑体" panose="02010609060101010101" charset="-122"/>
              </a:rPr>
              <a:t>+</a:t>
            </a:r>
            <a:r>
              <a:rPr lang="en-US" altLang="zh-CN" sz="2000" i="1" dirty="0">
                <a:solidFill>
                  <a:prstClr val="black"/>
                </a:solidFill>
                <a:latin typeface="Times New Roman" panose="02020603050405020304"/>
                <a:ea typeface="黑体" panose="02010609060101010101" charset="-122"/>
              </a:rPr>
              <a:t>w</a:t>
            </a:r>
            <a:r>
              <a:rPr lang="en-US" altLang="zh-CN" sz="2000" baseline="-25000" dirty="0">
                <a:solidFill>
                  <a:prstClr val="black"/>
                </a:solidFill>
                <a:latin typeface="Times New Roman" panose="02020603050405020304"/>
                <a:ea typeface="黑体" panose="02010609060101010101" charset="-122"/>
              </a:rPr>
              <a:t>3</a:t>
            </a:r>
            <a:r>
              <a:rPr lang="en-US" altLang="zh-CN" sz="2000" i="1" dirty="0">
                <a:solidFill>
                  <a:prstClr val="black"/>
                </a:solidFill>
                <a:latin typeface="Times New Roman" panose="02020603050405020304"/>
                <a:ea typeface="黑体" panose="02010609060101010101" charset="-122"/>
              </a:rPr>
              <a:t>x</a:t>
            </a:r>
            <a:r>
              <a:rPr lang="en-US" altLang="zh-CN" sz="2000" baseline="-25000" dirty="0">
                <a:solidFill>
                  <a:prstClr val="black"/>
                </a:solidFill>
                <a:latin typeface="Times New Roman" panose="02020603050405020304"/>
                <a:ea typeface="黑体" panose="02010609060101010101" charset="-122"/>
              </a:rPr>
              <a:t>3</a:t>
            </a:r>
            <a:r>
              <a:rPr lang="en-US" altLang="zh-CN" sz="2000" dirty="0">
                <a:solidFill>
                  <a:prstClr val="black"/>
                </a:solidFill>
                <a:latin typeface="Times New Roman" panose="02020603050405020304"/>
                <a:ea typeface="黑体" panose="02010609060101010101" charset="-122"/>
              </a:rPr>
              <a:t>+b =</a:t>
            </a:r>
            <a:r>
              <a:rPr lang="en-US" altLang="zh-CN" sz="2000" i="1" dirty="0">
                <a:solidFill>
                  <a:prstClr val="black"/>
                </a:solidFill>
                <a:latin typeface="Times New Roman" panose="02020603050405020304"/>
                <a:ea typeface="黑体" panose="02010609060101010101" charset="-122"/>
              </a:rPr>
              <a:t>f</a:t>
            </a:r>
            <a:r>
              <a:rPr lang="en-US" altLang="zh-CN" sz="2000" dirty="0">
                <a:solidFill>
                  <a:prstClr val="black"/>
                </a:solidFill>
                <a:latin typeface="Times New Roman" panose="02020603050405020304"/>
                <a:ea typeface="黑体" panose="02010609060101010101" charset="-122"/>
              </a:rPr>
              <a:t>(1*-1+1*-1+1*-1)=</a:t>
            </a:r>
            <a:r>
              <a:rPr lang="en-US" altLang="zh-CN" sz="2000" i="1" dirty="0">
                <a:solidFill>
                  <a:prstClr val="black"/>
                </a:solidFill>
                <a:latin typeface="Times New Roman" panose="02020603050405020304"/>
                <a:ea typeface="黑体" panose="02010609060101010101" charset="-122"/>
              </a:rPr>
              <a:t>f</a:t>
            </a:r>
            <a:r>
              <a:rPr lang="en-US" altLang="zh-CN" sz="2000" dirty="0">
                <a:solidFill>
                  <a:prstClr val="black"/>
                </a:solidFill>
                <a:latin typeface="Times New Roman" panose="02020603050405020304"/>
                <a:ea typeface="黑体" panose="02010609060101010101" charset="-122"/>
              </a:rPr>
              <a:t>(-3)=0</a:t>
            </a:r>
            <a:r>
              <a:rPr lang="zh-CN" altLang="en-US" sz="2000" dirty="0">
                <a:solidFill>
                  <a:prstClr val="black"/>
                </a:solidFill>
                <a:latin typeface="Times New Roman" panose="02020603050405020304"/>
                <a:ea typeface="黑体" panose="02010609060101010101" charset="-122"/>
              </a:rPr>
              <a:t>，输出为</a:t>
            </a:r>
            <a:r>
              <a:rPr lang="en-US" altLang="zh-CN" sz="2000" dirty="0">
                <a:solidFill>
                  <a:prstClr val="black"/>
                </a:solidFill>
                <a:latin typeface="Times New Roman" panose="02020603050405020304"/>
                <a:ea typeface="黑体" panose="02010609060101010101" charset="-122"/>
              </a:rPr>
              <a:t>0</a:t>
            </a:r>
            <a:r>
              <a:rPr lang="zh-CN" altLang="en-US" sz="2000" dirty="0">
                <a:solidFill>
                  <a:prstClr val="black"/>
                </a:solidFill>
                <a:latin typeface="Times New Roman" panose="02020603050405020304"/>
                <a:ea typeface="黑体" panose="02010609060101010101" charset="-122"/>
              </a:rPr>
              <a:t>；</a:t>
            </a:r>
            <a:endParaRPr lang="zh-CN" altLang="en-US" sz="2000" dirty="0">
              <a:solidFill>
                <a:prstClr val="black"/>
              </a:solidFill>
              <a:latin typeface="Times New Roman" panose="02020603050405020304"/>
              <a:ea typeface="黑体" panose="02010609060101010101" charset="-122"/>
            </a:endParaRPr>
          </a:p>
          <a:p>
            <a:pPr marL="342900" indent="-342900" algn="just">
              <a:lnSpc>
                <a:spcPct val="130000"/>
              </a:lnSpc>
              <a:buFont typeface="Arial" panose="020B0604020202020204" pitchFamily="34" charset="0"/>
              <a:buChar char="•"/>
            </a:pPr>
            <a:r>
              <a:rPr lang="zh-CN" altLang="en-US" sz="2000" dirty="0">
                <a:solidFill>
                  <a:prstClr val="black"/>
                </a:solidFill>
                <a:latin typeface="Times New Roman" panose="02020603050405020304"/>
                <a:ea typeface="黑体" panose="02010609060101010101" charset="-122"/>
              </a:rPr>
              <a:t>根据感知机不同的输出，实现了对该样本中苹果和香蕉的分类。</a:t>
            </a:r>
            <a:endParaRPr lang="zh-CN" altLang="en-US" sz="2000" dirty="0">
              <a:solidFill>
                <a:prstClr val="black"/>
              </a:solidFill>
              <a:latin typeface="Times New Roman" panose="02020603050405020304"/>
              <a:ea typeface="黑体" panose="02010609060101010101" charset="-122"/>
            </a:endParaRPr>
          </a:p>
        </p:txBody>
      </p:sp>
      <p:sp>
        <p:nvSpPr>
          <p:cNvPr id="5" name="文本框 4"/>
          <p:cNvSpPr txBox="1"/>
          <p:nvPr/>
        </p:nvSpPr>
        <p:spPr>
          <a:xfrm>
            <a:off x="2048309" y="881503"/>
            <a:ext cx="6746647" cy="707694"/>
          </a:xfrm>
          <a:prstGeom prst="rect">
            <a:avLst/>
          </a:prstGeom>
          <a:noFill/>
        </p:spPr>
        <p:txBody>
          <a:bodyPr wrap="square">
            <a:spAutoFit/>
          </a:bodyPr>
          <a:lstStyle/>
          <a:p>
            <a:pPr marL="0" lvl="1">
              <a:lnSpc>
                <a:spcPct val="150000"/>
              </a:lnSpc>
              <a:spcAft>
                <a:spcPts val="600"/>
              </a:spcAft>
            </a:pPr>
            <a:r>
              <a:rPr lang="zh-CN" altLang="en-US" sz="3200" dirty="0">
                <a:solidFill>
                  <a:srgbClr val="C00000"/>
                </a:solidFill>
                <a:latin typeface="方正姚体" panose="02010601030101010101" pitchFamily="2" charset="-122"/>
                <a:ea typeface="方正姚体" panose="02010601030101010101" pitchFamily="2" charset="-122"/>
                <a:cs typeface="+mn-ea"/>
                <a:sym typeface="+mn-lt"/>
              </a:rPr>
              <a:t>感知机分类案例</a:t>
            </a:r>
            <a:endParaRPr lang="zh-CN" altLang="en-US" sz="3200" dirty="0">
              <a:solidFill>
                <a:srgbClr val="C00000"/>
              </a:solidFill>
              <a:latin typeface="方正姚体" panose="02010601030101010101" pitchFamily="2" charset="-122"/>
              <a:ea typeface="方正姚体" panose="02010601030101010101" pitchFamily="2" charset="-122"/>
              <a:cs typeface="+mn-ea"/>
              <a:sym typeface="+mn-l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500"/>
                                  </p:stCondLst>
                                  <p:childTnLst>
                                    <p:set>
                                      <p:cBhvr>
                                        <p:cTn id="6" dur="1" fill="hold">
                                          <p:stCondLst>
                                            <p:cond delay="0"/>
                                          </p:stCondLst>
                                        </p:cTn>
                                        <p:tgtEl>
                                          <p:spTgt spid="32">
                                            <p:txEl>
                                              <p:pRg st="1" end="1"/>
                                            </p:txEl>
                                          </p:spTgt>
                                        </p:tgtEl>
                                        <p:attrNameLst>
                                          <p:attrName>style.visibility</p:attrName>
                                        </p:attrNameLst>
                                      </p:cBhvr>
                                      <p:to>
                                        <p:strVal val="visible"/>
                                      </p:to>
                                    </p:set>
                                    <p:animEffect transition="in" filter="fade">
                                      <p:cBhvr>
                                        <p:cTn id="7" dur="750"/>
                                        <p:tgtEl>
                                          <p:spTgt spid="3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2">
                                            <p:txEl>
                                              <p:pRg st="2" end="2"/>
                                            </p:txEl>
                                          </p:spTgt>
                                        </p:tgtEl>
                                        <p:attrNameLst>
                                          <p:attrName>style.visibility</p:attrName>
                                        </p:attrNameLst>
                                      </p:cBhvr>
                                      <p:to>
                                        <p:strVal val="visible"/>
                                      </p:to>
                                    </p:set>
                                    <p:animEffect transition="in" filter="fade">
                                      <p:cBhvr>
                                        <p:cTn id="12" dur="500"/>
                                        <p:tgtEl>
                                          <p:spTgt spid="32">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2">
                                            <p:txEl>
                                              <p:pRg st="3" end="3"/>
                                            </p:txEl>
                                          </p:spTgt>
                                        </p:tgtEl>
                                        <p:attrNameLst>
                                          <p:attrName>style.visibility</p:attrName>
                                        </p:attrNameLst>
                                      </p:cBhvr>
                                      <p:to>
                                        <p:strVal val="visible"/>
                                      </p:to>
                                    </p:set>
                                    <p:animEffect transition="in" filter="fade">
                                      <p:cBhvr>
                                        <p:cTn id="17" dur="500"/>
                                        <p:tgtEl>
                                          <p:spTgt spid="32">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2">
                                            <p:txEl>
                                              <p:pRg st="4" end="4"/>
                                            </p:txEl>
                                          </p:spTgt>
                                        </p:tgtEl>
                                        <p:attrNameLst>
                                          <p:attrName>style.visibility</p:attrName>
                                        </p:attrNameLst>
                                      </p:cBhvr>
                                      <p:to>
                                        <p:strVal val="visible"/>
                                      </p:to>
                                    </p:set>
                                    <p:animEffect transition="in" filter="fade">
                                      <p:cBhvr>
                                        <p:cTn id="22" dur="500"/>
                                        <p:tgtEl>
                                          <p:spTgt spid="32">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2">
                                            <p:txEl>
                                              <p:pRg st="5" end="5"/>
                                            </p:txEl>
                                          </p:spTgt>
                                        </p:tgtEl>
                                        <p:attrNameLst>
                                          <p:attrName>style.visibility</p:attrName>
                                        </p:attrNameLst>
                                      </p:cBhvr>
                                      <p:to>
                                        <p:strVal val="visible"/>
                                      </p:to>
                                    </p:set>
                                    <p:animEffect transition="in" filter="fade">
                                      <p:cBhvr>
                                        <p:cTn id="27" dur="500"/>
                                        <p:tgtEl>
                                          <p:spTgt spid="32">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2">
                                            <p:txEl>
                                              <p:pRg st="6" end="6"/>
                                            </p:txEl>
                                          </p:spTgt>
                                        </p:tgtEl>
                                        <p:attrNameLst>
                                          <p:attrName>style.visibility</p:attrName>
                                        </p:attrNameLst>
                                      </p:cBhvr>
                                      <p:to>
                                        <p:strVal val="visible"/>
                                      </p:to>
                                    </p:set>
                                    <p:animEffect transition="in" filter="fade">
                                      <p:cBhvr>
                                        <p:cTn id="32" dur="500"/>
                                        <p:tgtEl>
                                          <p:spTgt spid="32">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2">
                                            <p:txEl>
                                              <p:pRg st="7" end="7"/>
                                            </p:txEl>
                                          </p:spTgt>
                                        </p:tgtEl>
                                        <p:attrNameLst>
                                          <p:attrName>style.visibility</p:attrName>
                                        </p:attrNameLst>
                                      </p:cBhvr>
                                      <p:to>
                                        <p:strVal val="visible"/>
                                      </p:to>
                                    </p:set>
                                    <p:animEffect transition="in" filter="fade">
                                      <p:cBhvr>
                                        <p:cTn id="37" dur="500"/>
                                        <p:tgtEl>
                                          <p:spTgt spid="32">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89"/>
          <p:cNvPicPr>
            <a:picLocks noChangeAspect="1"/>
          </p:cNvPicPr>
          <p:nvPr/>
        </p:nvPicPr>
        <p:blipFill>
          <a:blip r:embed="rId1"/>
          <a:stretch>
            <a:fillRect/>
          </a:stretch>
        </p:blipFill>
        <p:spPr>
          <a:xfrm>
            <a:off x="4910981" y="1589198"/>
            <a:ext cx="5765135" cy="3566795"/>
          </a:xfrm>
          <a:prstGeom prst="rect">
            <a:avLst/>
          </a:prstGeom>
          <a:noFill/>
          <a:ln>
            <a:noFill/>
          </a:ln>
        </p:spPr>
      </p:pic>
      <p:sp>
        <p:nvSpPr>
          <p:cNvPr id="8" name="标题 1"/>
          <p:cNvSpPr>
            <a:spLocks noGrp="1"/>
          </p:cNvSpPr>
          <p:nvPr>
            <p:ph type="title"/>
          </p:nvPr>
        </p:nvSpPr>
        <p:spPr>
          <a:xfrm>
            <a:off x="1916315" y="131079"/>
            <a:ext cx="7962648" cy="657727"/>
          </a:xfrm>
        </p:spPr>
        <p:txBody>
          <a:bodyPr/>
          <a:lstStyle/>
          <a:p>
            <a:pPr algn="l"/>
            <a:r>
              <a:rPr lang="zh-CN" altLang="en-US" sz="4000" dirty="0">
                <a:latin typeface="方正姚体" panose="02010601030101010101" pitchFamily="2" charset="-122"/>
                <a:ea typeface="方正姚体" panose="02010601030101010101" pitchFamily="2" charset="-122"/>
                <a:cs typeface="Times New Roman" panose="02020603050405020304" pitchFamily="18" charset="0"/>
              </a:rPr>
              <a:t>人工神经网络简介</a:t>
            </a:r>
            <a:endParaRPr lang="zh-CN" altLang="en-US" sz="4000" dirty="0">
              <a:latin typeface="方正姚体" panose="02010601030101010101" pitchFamily="2" charset="-122"/>
              <a:ea typeface="方正姚体" panose="02010601030101010101" pitchFamily="2" charset="-122"/>
              <a:cs typeface="Times New Roman" panose="02020603050405020304" pitchFamily="18" charset="0"/>
            </a:endParaRPr>
          </a:p>
        </p:txBody>
      </p:sp>
      <p:sp>
        <p:nvSpPr>
          <p:cNvPr id="32" name="矩形 31"/>
          <p:cNvSpPr/>
          <p:nvPr/>
        </p:nvSpPr>
        <p:spPr>
          <a:xfrm>
            <a:off x="2114675" y="1652401"/>
            <a:ext cx="3044802" cy="4441922"/>
          </a:xfrm>
          <a:prstGeom prst="rect">
            <a:avLst/>
          </a:prstGeom>
          <a:ln>
            <a:noFill/>
          </a:ln>
        </p:spPr>
        <p:txBody>
          <a:bodyPr wrap="square">
            <a:spAutoFit/>
          </a:bodyPr>
          <a:lstStyle/>
          <a:p>
            <a:pPr marL="323850" indent="-342900" algn="just">
              <a:lnSpc>
                <a:spcPct val="130000"/>
              </a:lnSpc>
              <a:buFont typeface="Wingdings" panose="05000000000000000000" pitchFamily="2" charset="2"/>
              <a:buChar char="Ø"/>
            </a:pPr>
            <a:r>
              <a:rPr lang="zh-CN" altLang="en-US" sz="2800" dirty="0">
                <a:solidFill>
                  <a:srgbClr val="FF0000"/>
                </a:solidFill>
                <a:latin typeface="Times New Roman" panose="02020603050405020304"/>
                <a:ea typeface="黑体" panose="02010609060101010101" charset="-122"/>
              </a:rPr>
              <a:t>区分苹果和香蕉</a:t>
            </a:r>
            <a:endParaRPr lang="zh-CN" altLang="en-US" sz="2400" dirty="0">
              <a:solidFill>
                <a:prstClr val="black"/>
              </a:solidFill>
              <a:latin typeface="Times New Roman" panose="02020603050405020304"/>
              <a:ea typeface="黑体" panose="02010609060101010101" charset="-122"/>
            </a:endParaRPr>
          </a:p>
          <a:p>
            <a:pPr algn="just">
              <a:lnSpc>
                <a:spcPct val="130000"/>
              </a:lnSpc>
            </a:pPr>
            <a:r>
              <a:rPr lang="zh-CN" altLang="en-US" sz="2000" dirty="0">
                <a:solidFill>
                  <a:prstClr val="black"/>
                </a:solidFill>
                <a:latin typeface="Times New Roman" panose="02020603050405020304"/>
                <a:ea typeface="黑体" panose="02010609060101010101" charset="-122"/>
              </a:rPr>
              <a:t>     </a:t>
            </a:r>
            <a:r>
              <a:rPr lang="zh-CN" altLang="en-US" sz="2400" dirty="0">
                <a:solidFill>
                  <a:prstClr val="black"/>
                </a:solidFill>
                <a:latin typeface="Times New Roman" panose="02020603050405020304"/>
                <a:ea typeface="黑体" panose="02010609060101010101" charset="-122"/>
              </a:rPr>
              <a:t>在三维图中可以清楚地看出这两点被一平面分隔开，即感知机明确的区分开苹果和香蕉。通过颜色、形状、含水率的特征，样本被分类为苹果或香蕉。 </a:t>
            </a:r>
            <a:endParaRPr lang="zh-CN" altLang="en-US" sz="2000" dirty="0">
              <a:solidFill>
                <a:prstClr val="black"/>
              </a:solidFill>
              <a:latin typeface="Times New Roman" panose="02020603050405020304"/>
              <a:ea typeface="黑体" panose="02010609060101010101" charset="-122"/>
            </a:endParaRPr>
          </a:p>
        </p:txBody>
      </p:sp>
      <p:sp>
        <p:nvSpPr>
          <p:cNvPr id="5" name="文本框 4"/>
          <p:cNvSpPr txBox="1"/>
          <p:nvPr/>
        </p:nvSpPr>
        <p:spPr>
          <a:xfrm>
            <a:off x="2048309" y="881503"/>
            <a:ext cx="6746647" cy="707694"/>
          </a:xfrm>
          <a:prstGeom prst="rect">
            <a:avLst/>
          </a:prstGeom>
          <a:noFill/>
        </p:spPr>
        <p:txBody>
          <a:bodyPr wrap="square">
            <a:spAutoFit/>
          </a:bodyPr>
          <a:lstStyle/>
          <a:p>
            <a:pPr marL="0" lvl="1">
              <a:lnSpc>
                <a:spcPct val="150000"/>
              </a:lnSpc>
              <a:spcAft>
                <a:spcPts val="600"/>
              </a:spcAft>
            </a:pPr>
            <a:r>
              <a:rPr lang="zh-CN" altLang="en-US" sz="3200" dirty="0">
                <a:solidFill>
                  <a:srgbClr val="C00000"/>
                </a:solidFill>
                <a:latin typeface="方正姚体" panose="02010601030101010101" pitchFamily="2" charset="-122"/>
                <a:ea typeface="方正姚体" panose="02010601030101010101" pitchFamily="2" charset="-122"/>
                <a:cs typeface="+mn-ea"/>
                <a:sym typeface="+mn-lt"/>
              </a:rPr>
              <a:t>感知机分类案例</a:t>
            </a:r>
            <a:endParaRPr lang="zh-CN" altLang="en-US" sz="3200" dirty="0">
              <a:solidFill>
                <a:srgbClr val="C00000"/>
              </a:solidFill>
              <a:latin typeface="方正姚体" panose="02010601030101010101" pitchFamily="2" charset="-122"/>
              <a:ea typeface="方正姚体" panose="02010601030101010101" pitchFamily="2" charset="-122"/>
              <a:cs typeface="+mn-ea"/>
              <a:sym typeface="+mn-l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25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75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2">
                                            <p:txEl>
                                              <p:pRg st="1" end="1"/>
                                            </p:txEl>
                                          </p:spTgt>
                                        </p:tgtEl>
                                        <p:attrNameLst>
                                          <p:attrName>style.visibility</p:attrName>
                                        </p:attrNameLst>
                                      </p:cBhvr>
                                      <p:to>
                                        <p:strVal val="visible"/>
                                      </p:to>
                                    </p:set>
                                    <p:animEffect transition="in" filter="fade">
                                      <p:cBhvr>
                                        <p:cTn id="12" dur="750"/>
                                        <p:tgtEl>
                                          <p:spTgt spid="3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89"/>
          <p:cNvPicPr>
            <a:picLocks noChangeAspect="1"/>
          </p:cNvPicPr>
          <p:nvPr/>
        </p:nvPicPr>
        <p:blipFill>
          <a:blip r:embed="rId1"/>
          <a:stretch>
            <a:fillRect/>
          </a:stretch>
        </p:blipFill>
        <p:spPr>
          <a:xfrm>
            <a:off x="6240124" y="960968"/>
            <a:ext cx="4427877" cy="2739455"/>
          </a:xfrm>
          <a:prstGeom prst="rect">
            <a:avLst/>
          </a:prstGeom>
          <a:noFill/>
          <a:ln>
            <a:noFill/>
          </a:ln>
        </p:spPr>
      </p:pic>
      <p:sp>
        <p:nvSpPr>
          <p:cNvPr id="8" name="标题 1"/>
          <p:cNvSpPr>
            <a:spLocks noGrp="1"/>
          </p:cNvSpPr>
          <p:nvPr>
            <p:ph type="title"/>
          </p:nvPr>
        </p:nvSpPr>
        <p:spPr>
          <a:xfrm>
            <a:off x="1916315" y="131079"/>
            <a:ext cx="7962648" cy="657727"/>
          </a:xfrm>
        </p:spPr>
        <p:txBody>
          <a:bodyPr/>
          <a:lstStyle/>
          <a:p>
            <a:pPr algn="l"/>
            <a:r>
              <a:rPr lang="zh-CN" altLang="en-US" sz="4000" dirty="0">
                <a:latin typeface="方正姚体" panose="02010601030101010101" pitchFamily="2" charset="-122"/>
                <a:ea typeface="方正姚体" panose="02010601030101010101" pitchFamily="2" charset="-122"/>
                <a:cs typeface="Times New Roman" panose="02020603050405020304" pitchFamily="18" charset="0"/>
              </a:rPr>
              <a:t>人工神经网络简介</a:t>
            </a:r>
            <a:endParaRPr lang="zh-CN" altLang="en-US" sz="4000" dirty="0">
              <a:latin typeface="方正姚体" panose="02010601030101010101" pitchFamily="2" charset="-122"/>
              <a:ea typeface="方正姚体" panose="02010601030101010101" pitchFamily="2" charset="-122"/>
              <a:cs typeface="Times New Roman" panose="02020603050405020304" pitchFamily="18" charset="0"/>
            </a:endParaRPr>
          </a:p>
        </p:txBody>
      </p:sp>
      <p:sp>
        <p:nvSpPr>
          <p:cNvPr id="32" name="矩形 31"/>
          <p:cNvSpPr/>
          <p:nvPr/>
        </p:nvSpPr>
        <p:spPr>
          <a:xfrm>
            <a:off x="2114675" y="1652401"/>
            <a:ext cx="7985512" cy="4237570"/>
          </a:xfrm>
          <a:prstGeom prst="rect">
            <a:avLst/>
          </a:prstGeom>
          <a:ln>
            <a:noFill/>
          </a:ln>
        </p:spPr>
        <p:txBody>
          <a:bodyPr wrap="square">
            <a:spAutoFit/>
          </a:bodyPr>
          <a:lstStyle/>
          <a:p>
            <a:pPr marL="323850" indent="-342900" algn="just">
              <a:lnSpc>
                <a:spcPct val="130000"/>
              </a:lnSpc>
              <a:buFont typeface="Wingdings" panose="05000000000000000000" pitchFamily="2" charset="2"/>
              <a:buChar char="Ø"/>
            </a:pPr>
            <a:r>
              <a:rPr lang="zh-CN" altLang="en-US" sz="2800" dirty="0">
                <a:solidFill>
                  <a:srgbClr val="FF0000"/>
                </a:solidFill>
                <a:latin typeface="Times New Roman" panose="02020603050405020304"/>
                <a:ea typeface="黑体" panose="02010609060101010101" charset="-122"/>
              </a:rPr>
              <a:t>区分苹果和香蕉</a:t>
            </a:r>
            <a:endParaRPr lang="zh-CN" altLang="en-US" sz="2400" dirty="0">
              <a:solidFill>
                <a:prstClr val="black"/>
              </a:solidFill>
              <a:latin typeface="Times New Roman" panose="02020603050405020304"/>
              <a:ea typeface="黑体" panose="02010609060101010101" charset="-122"/>
            </a:endParaRPr>
          </a:p>
          <a:p>
            <a:pPr algn="just">
              <a:lnSpc>
                <a:spcPct val="130000"/>
              </a:lnSpc>
            </a:pPr>
            <a:r>
              <a:rPr lang="zh-CN" altLang="en-US" sz="2600" dirty="0">
                <a:solidFill>
                  <a:prstClr val="black"/>
                </a:solidFill>
                <a:latin typeface="Times New Roman" panose="02020603050405020304"/>
                <a:ea typeface="黑体" panose="02010609060101010101" charset="-122"/>
              </a:rPr>
              <a:t>    由于香蕉和苹果的本质</a:t>
            </a:r>
            <a:endParaRPr lang="en-US" altLang="zh-CN" sz="2600" dirty="0">
              <a:solidFill>
                <a:prstClr val="black"/>
              </a:solidFill>
              <a:latin typeface="Times New Roman" panose="02020603050405020304"/>
              <a:ea typeface="黑体" panose="02010609060101010101" charset="-122"/>
            </a:endParaRPr>
          </a:p>
          <a:p>
            <a:pPr algn="just">
              <a:lnSpc>
                <a:spcPct val="130000"/>
              </a:lnSpc>
            </a:pPr>
            <a:r>
              <a:rPr lang="zh-CN" altLang="en-US" sz="2600" dirty="0">
                <a:solidFill>
                  <a:prstClr val="black"/>
                </a:solidFill>
                <a:latin typeface="Times New Roman" panose="02020603050405020304"/>
                <a:ea typeface="黑体" panose="02010609060101010101" charset="-122"/>
              </a:rPr>
              <a:t>不同，相应的特征值会有</a:t>
            </a:r>
            <a:endParaRPr lang="en-US" altLang="zh-CN" sz="2600" dirty="0">
              <a:solidFill>
                <a:prstClr val="black"/>
              </a:solidFill>
              <a:latin typeface="Times New Roman" panose="02020603050405020304"/>
              <a:ea typeface="黑体" panose="02010609060101010101" charset="-122"/>
            </a:endParaRPr>
          </a:p>
          <a:p>
            <a:pPr algn="just">
              <a:lnSpc>
                <a:spcPct val="130000"/>
              </a:lnSpc>
            </a:pPr>
            <a:r>
              <a:rPr lang="zh-CN" altLang="en-US" sz="2600" dirty="0">
                <a:solidFill>
                  <a:prstClr val="black"/>
                </a:solidFill>
                <a:latin typeface="Times New Roman" panose="02020603050405020304"/>
                <a:ea typeface="黑体" panose="02010609060101010101" charset="-122"/>
              </a:rPr>
              <a:t>所差距，相同品种的数据</a:t>
            </a:r>
            <a:endParaRPr lang="en-US" altLang="zh-CN" sz="2600" dirty="0">
              <a:solidFill>
                <a:prstClr val="black"/>
              </a:solidFill>
              <a:latin typeface="Times New Roman" panose="02020603050405020304"/>
              <a:ea typeface="黑体" panose="02010609060101010101" charset="-122"/>
            </a:endParaRPr>
          </a:p>
          <a:p>
            <a:pPr algn="just">
              <a:lnSpc>
                <a:spcPct val="130000"/>
              </a:lnSpc>
            </a:pPr>
            <a:r>
              <a:rPr lang="zh-CN" altLang="en-US" sz="2600" dirty="0">
                <a:solidFill>
                  <a:prstClr val="black"/>
                </a:solidFill>
                <a:latin typeface="Times New Roman" panose="02020603050405020304"/>
                <a:ea typeface="黑体" panose="02010609060101010101" charset="-122"/>
              </a:rPr>
              <a:t>会趋于聚集，而不同品种的数据差距会相对大些，最终通过这些特征可以实现了两者的分类。当用更多的苹果和香蕉的实际数据来训练感知机时，随着不断学习，这个平面将发生一定的变化，分类也会更加精确。</a:t>
            </a:r>
            <a:endParaRPr lang="zh-CN" altLang="en-US" sz="2600" dirty="0">
              <a:solidFill>
                <a:prstClr val="black"/>
              </a:solidFill>
              <a:latin typeface="Times New Roman" panose="02020603050405020304"/>
              <a:ea typeface="黑体" panose="02010609060101010101" charset="-122"/>
            </a:endParaRPr>
          </a:p>
        </p:txBody>
      </p:sp>
      <p:sp>
        <p:nvSpPr>
          <p:cNvPr id="5" name="文本框 4"/>
          <p:cNvSpPr txBox="1"/>
          <p:nvPr/>
        </p:nvSpPr>
        <p:spPr>
          <a:xfrm>
            <a:off x="2048309" y="881503"/>
            <a:ext cx="6746647" cy="707694"/>
          </a:xfrm>
          <a:prstGeom prst="rect">
            <a:avLst/>
          </a:prstGeom>
          <a:noFill/>
        </p:spPr>
        <p:txBody>
          <a:bodyPr wrap="square">
            <a:spAutoFit/>
          </a:bodyPr>
          <a:lstStyle/>
          <a:p>
            <a:pPr marL="0" lvl="1">
              <a:lnSpc>
                <a:spcPct val="150000"/>
              </a:lnSpc>
              <a:spcAft>
                <a:spcPts val="600"/>
              </a:spcAft>
            </a:pPr>
            <a:r>
              <a:rPr lang="zh-CN" altLang="en-US" sz="3200" dirty="0">
                <a:solidFill>
                  <a:srgbClr val="C00000"/>
                </a:solidFill>
                <a:latin typeface="方正姚体" panose="02010601030101010101" pitchFamily="2" charset="-122"/>
                <a:ea typeface="方正姚体" panose="02010601030101010101" pitchFamily="2" charset="-122"/>
                <a:cs typeface="+mn-ea"/>
                <a:sym typeface="+mn-lt"/>
              </a:rPr>
              <a:t>感知机分类案例</a:t>
            </a:r>
            <a:endParaRPr lang="zh-CN" altLang="en-US" sz="3200" dirty="0">
              <a:solidFill>
                <a:srgbClr val="C00000"/>
              </a:solidFill>
              <a:latin typeface="方正姚体" panose="02010601030101010101" pitchFamily="2" charset="-122"/>
              <a:ea typeface="方正姚体" panose="02010601030101010101" pitchFamily="2" charset="-122"/>
              <a:cs typeface="+mn-ea"/>
              <a:sym typeface="+mn-l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500"/>
                                  </p:stCondLst>
                                  <p:childTnLst>
                                    <p:set>
                                      <p:cBhvr>
                                        <p:cTn id="6" dur="1" fill="hold">
                                          <p:stCondLst>
                                            <p:cond delay="0"/>
                                          </p:stCondLst>
                                        </p:cTn>
                                        <p:tgtEl>
                                          <p:spTgt spid="32">
                                            <p:txEl>
                                              <p:pRg st="1" end="1"/>
                                            </p:txEl>
                                          </p:spTgt>
                                        </p:tgtEl>
                                        <p:attrNameLst>
                                          <p:attrName>style.visibility</p:attrName>
                                        </p:attrNameLst>
                                      </p:cBhvr>
                                      <p:to>
                                        <p:strVal val="visible"/>
                                      </p:to>
                                    </p:set>
                                    <p:animEffect transition="in" filter="fade">
                                      <p:cBhvr>
                                        <p:cTn id="7" dur="750"/>
                                        <p:tgtEl>
                                          <p:spTgt spid="32">
                                            <p:txEl>
                                              <p:pRg st="1" end="1"/>
                                            </p:txEl>
                                          </p:spTgt>
                                        </p:tgtEl>
                                      </p:cBhvr>
                                    </p:animEffect>
                                  </p:childTnLst>
                                </p:cTn>
                              </p:par>
                              <p:par>
                                <p:cTn id="8" presetID="10" presetClass="entr" presetSubtype="0" fill="hold" nodeType="withEffect">
                                  <p:stCondLst>
                                    <p:cond delay="500"/>
                                  </p:stCondLst>
                                  <p:childTnLst>
                                    <p:set>
                                      <p:cBhvr>
                                        <p:cTn id="9" dur="1" fill="hold">
                                          <p:stCondLst>
                                            <p:cond delay="0"/>
                                          </p:stCondLst>
                                        </p:cTn>
                                        <p:tgtEl>
                                          <p:spTgt spid="32">
                                            <p:txEl>
                                              <p:pRg st="2" end="2"/>
                                            </p:txEl>
                                          </p:spTgt>
                                        </p:tgtEl>
                                        <p:attrNameLst>
                                          <p:attrName>style.visibility</p:attrName>
                                        </p:attrNameLst>
                                      </p:cBhvr>
                                      <p:to>
                                        <p:strVal val="visible"/>
                                      </p:to>
                                    </p:set>
                                    <p:animEffect transition="in" filter="fade">
                                      <p:cBhvr>
                                        <p:cTn id="10" dur="750"/>
                                        <p:tgtEl>
                                          <p:spTgt spid="32">
                                            <p:txEl>
                                              <p:pRg st="2" end="2"/>
                                            </p:txEl>
                                          </p:spTgt>
                                        </p:tgtEl>
                                      </p:cBhvr>
                                    </p:animEffect>
                                  </p:childTnLst>
                                </p:cTn>
                              </p:par>
                              <p:par>
                                <p:cTn id="11" presetID="10" presetClass="entr" presetSubtype="0" fill="hold" nodeType="withEffect">
                                  <p:stCondLst>
                                    <p:cond delay="500"/>
                                  </p:stCondLst>
                                  <p:childTnLst>
                                    <p:set>
                                      <p:cBhvr>
                                        <p:cTn id="12" dur="1" fill="hold">
                                          <p:stCondLst>
                                            <p:cond delay="0"/>
                                          </p:stCondLst>
                                        </p:cTn>
                                        <p:tgtEl>
                                          <p:spTgt spid="32">
                                            <p:txEl>
                                              <p:pRg st="3" end="3"/>
                                            </p:txEl>
                                          </p:spTgt>
                                        </p:tgtEl>
                                        <p:attrNameLst>
                                          <p:attrName>style.visibility</p:attrName>
                                        </p:attrNameLst>
                                      </p:cBhvr>
                                      <p:to>
                                        <p:strVal val="visible"/>
                                      </p:to>
                                    </p:set>
                                    <p:animEffect transition="in" filter="fade">
                                      <p:cBhvr>
                                        <p:cTn id="13" dur="750"/>
                                        <p:tgtEl>
                                          <p:spTgt spid="32">
                                            <p:txEl>
                                              <p:pRg st="3" end="3"/>
                                            </p:txEl>
                                          </p:spTgt>
                                        </p:tgtEl>
                                      </p:cBhvr>
                                    </p:animEffect>
                                  </p:childTnLst>
                                </p:cTn>
                              </p:par>
                              <p:par>
                                <p:cTn id="14" presetID="10" presetClass="entr" presetSubtype="0" fill="hold" nodeType="withEffect">
                                  <p:stCondLst>
                                    <p:cond delay="500"/>
                                  </p:stCondLst>
                                  <p:childTnLst>
                                    <p:set>
                                      <p:cBhvr>
                                        <p:cTn id="15" dur="1" fill="hold">
                                          <p:stCondLst>
                                            <p:cond delay="0"/>
                                          </p:stCondLst>
                                        </p:cTn>
                                        <p:tgtEl>
                                          <p:spTgt spid="32">
                                            <p:txEl>
                                              <p:pRg st="4" end="4"/>
                                            </p:txEl>
                                          </p:spTgt>
                                        </p:tgtEl>
                                        <p:attrNameLst>
                                          <p:attrName>style.visibility</p:attrName>
                                        </p:attrNameLst>
                                      </p:cBhvr>
                                      <p:to>
                                        <p:strVal val="visible"/>
                                      </p:to>
                                    </p:set>
                                    <p:animEffect transition="in" filter="fade">
                                      <p:cBhvr>
                                        <p:cTn id="16" dur="750"/>
                                        <p:tgtEl>
                                          <p:spTgt spid="3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a:spLocks noGrp="1"/>
          </p:cNvSpPr>
          <p:nvPr>
            <p:ph type="title"/>
          </p:nvPr>
        </p:nvSpPr>
        <p:spPr>
          <a:xfrm>
            <a:off x="1916315" y="131079"/>
            <a:ext cx="7962648" cy="657727"/>
          </a:xfrm>
        </p:spPr>
        <p:txBody>
          <a:bodyPr/>
          <a:lstStyle/>
          <a:p>
            <a:pPr algn="l"/>
            <a:r>
              <a:rPr lang="zh-CN" altLang="en-US" sz="4000" dirty="0">
                <a:latin typeface="方正姚体" panose="02010601030101010101" pitchFamily="2" charset="-122"/>
                <a:ea typeface="方正姚体" panose="02010601030101010101" pitchFamily="2" charset="-122"/>
                <a:cs typeface="Times New Roman" panose="02020603050405020304" pitchFamily="18" charset="0"/>
              </a:rPr>
              <a:t>人工神经网络简介</a:t>
            </a:r>
            <a:endParaRPr lang="zh-CN" altLang="en-US" sz="4000" dirty="0">
              <a:latin typeface="方正姚体" panose="02010601030101010101" pitchFamily="2" charset="-122"/>
              <a:ea typeface="方正姚体" panose="02010601030101010101" pitchFamily="2" charset="-122"/>
              <a:cs typeface="Times New Roman" panose="02020603050405020304" pitchFamily="18" charset="0"/>
            </a:endParaRPr>
          </a:p>
        </p:txBody>
      </p:sp>
      <p:sp>
        <p:nvSpPr>
          <p:cNvPr id="32" name="矩形 31"/>
          <p:cNvSpPr/>
          <p:nvPr/>
        </p:nvSpPr>
        <p:spPr>
          <a:xfrm>
            <a:off x="2114676" y="1652402"/>
            <a:ext cx="4608131" cy="4197559"/>
          </a:xfrm>
          <a:prstGeom prst="rect">
            <a:avLst/>
          </a:prstGeom>
          <a:ln>
            <a:noFill/>
          </a:ln>
        </p:spPr>
        <p:txBody>
          <a:bodyPr wrap="square">
            <a:spAutoFit/>
          </a:bodyPr>
          <a:lstStyle/>
          <a:p>
            <a:pPr marL="323850" indent="-342900" algn="just">
              <a:lnSpc>
                <a:spcPct val="130000"/>
              </a:lnSpc>
              <a:buFont typeface="Wingdings" panose="05000000000000000000" pitchFamily="2" charset="2"/>
              <a:buChar char="Ø"/>
            </a:pPr>
            <a:r>
              <a:rPr lang="zh-CN" altLang="en-US" sz="2600" dirty="0">
                <a:solidFill>
                  <a:srgbClr val="FF0000"/>
                </a:solidFill>
                <a:latin typeface="Times New Roman" panose="02020603050405020304"/>
                <a:ea typeface="黑体" panose="02010609060101010101" charset="-122"/>
              </a:rPr>
              <a:t>疑问：</a:t>
            </a:r>
            <a:r>
              <a:rPr lang="zh-CN" altLang="en-US" sz="2600" dirty="0">
                <a:solidFill>
                  <a:prstClr val="black"/>
                </a:solidFill>
                <a:latin typeface="Times New Roman" panose="02020603050405020304"/>
                <a:ea typeface="黑体" panose="02010609060101010101" charset="-122"/>
              </a:rPr>
              <a:t>单层感知机如何解决异或问题？</a:t>
            </a:r>
            <a:endParaRPr lang="en-US" altLang="zh-CN" sz="2600" dirty="0">
              <a:solidFill>
                <a:prstClr val="black"/>
              </a:solidFill>
              <a:latin typeface="Times New Roman" panose="02020603050405020304"/>
              <a:ea typeface="黑体" panose="02010609060101010101" charset="-122"/>
            </a:endParaRPr>
          </a:p>
          <a:p>
            <a:pPr marL="323850" indent="-342900" algn="just">
              <a:lnSpc>
                <a:spcPct val="130000"/>
              </a:lnSpc>
              <a:buFont typeface="Wingdings" panose="05000000000000000000" pitchFamily="2" charset="2"/>
              <a:buChar char="Ø"/>
            </a:pPr>
            <a:r>
              <a:rPr lang="zh-CN" altLang="en-US" sz="2600" dirty="0">
                <a:solidFill>
                  <a:prstClr val="black"/>
                </a:solidFill>
                <a:latin typeface="Times New Roman" panose="02020603050405020304"/>
                <a:ea typeface="黑体" panose="02010609060101010101" charset="-122"/>
              </a:rPr>
              <a:t>由感知机的几何意义可知，单层感知机通过超平面来进行分类，无法解决线性不可分问题。</a:t>
            </a:r>
            <a:endParaRPr lang="en-US" altLang="zh-CN" sz="2600" dirty="0">
              <a:solidFill>
                <a:prstClr val="black"/>
              </a:solidFill>
              <a:latin typeface="Times New Roman" panose="02020603050405020304"/>
              <a:ea typeface="黑体" panose="02010609060101010101" charset="-122"/>
            </a:endParaRPr>
          </a:p>
          <a:p>
            <a:pPr marL="457200" indent="-457200" algn="just">
              <a:lnSpc>
                <a:spcPct val="130000"/>
              </a:lnSpc>
              <a:buFont typeface="Wingdings" panose="05000000000000000000" pitchFamily="2" charset="2"/>
              <a:buChar char="Ø"/>
            </a:pPr>
            <a:r>
              <a:rPr lang="zh-CN" altLang="en-US" sz="2600" dirty="0">
                <a:solidFill>
                  <a:prstClr val="black"/>
                </a:solidFill>
                <a:latin typeface="Times New Roman" panose="02020603050405020304"/>
                <a:ea typeface="黑体" panose="02010609060101010101" charset="-122"/>
              </a:rPr>
              <a:t>无论直线怎么变动也无法分割两种类型。</a:t>
            </a:r>
            <a:endParaRPr lang="zh-CN" altLang="en-US" sz="2600" dirty="0">
              <a:solidFill>
                <a:prstClr val="black"/>
              </a:solidFill>
              <a:latin typeface="Times New Roman" panose="02020603050405020304"/>
              <a:ea typeface="黑体" panose="02010609060101010101" charset="-122"/>
            </a:endParaRPr>
          </a:p>
        </p:txBody>
      </p:sp>
      <p:sp>
        <p:nvSpPr>
          <p:cNvPr id="5" name="文本框 4"/>
          <p:cNvSpPr txBox="1"/>
          <p:nvPr/>
        </p:nvSpPr>
        <p:spPr>
          <a:xfrm>
            <a:off x="2048309" y="881503"/>
            <a:ext cx="6746647" cy="707694"/>
          </a:xfrm>
          <a:prstGeom prst="rect">
            <a:avLst/>
          </a:prstGeom>
          <a:noFill/>
        </p:spPr>
        <p:txBody>
          <a:bodyPr wrap="square">
            <a:spAutoFit/>
          </a:bodyPr>
          <a:lstStyle/>
          <a:p>
            <a:pPr marL="0" lvl="1">
              <a:lnSpc>
                <a:spcPct val="150000"/>
              </a:lnSpc>
              <a:spcAft>
                <a:spcPts val="600"/>
              </a:spcAft>
            </a:pPr>
            <a:r>
              <a:rPr lang="zh-CN" altLang="en-US" sz="3200" dirty="0">
                <a:solidFill>
                  <a:srgbClr val="C00000"/>
                </a:solidFill>
                <a:latin typeface="方正姚体" panose="02010601030101010101" pitchFamily="2" charset="-122"/>
                <a:ea typeface="方正姚体" panose="02010601030101010101" pitchFamily="2" charset="-122"/>
                <a:cs typeface="+mn-ea"/>
                <a:sym typeface="+mn-lt"/>
              </a:rPr>
              <a:t>多层感知机</a:t>
            </a:r>
            <a:endParaRPr lang="zh-CN" altLang="en-US" sz="3200" dirty="0">
              <a:solidFill>
                <a:srgbClr val="C00000"/>
              </a:solidFill>
              <a:latin typeface="方正姚体" panose="02010601030101010101" pitchFamily="2" charset="-122"/>
              <a:ea typeface="方正姚体" panose="02010601030101010101" pitchFamily="2" charset="-122"/>
              <a:cs typeface="+mn-ea"/>
              <a:sym typeface="+mn-lt"/>
            </a:endParaRPr>
          </a:p>
        </p:txBody>
      </p:sp>
      <p:pic>
        <p:nvPicPr>
          <p:cNvPr id="7" name="图片 78" descr="图片4"/>
          <p:cNvPicPr>
            <a:picLocks noChangeAspect="1"/>
          </p:cNvPicPr>
          <p:nvPr/>
        </p:nvPicPr>
        <p:blipFill>
          <a:blip r:embed="rId1"/>
          <a:srcRect l="-996" t="5672" r="6972" b="214"/>
          <a:stretch>
            <a:fillRect/>
          </a:stretch>
        </p:blipFill>
        <p:spPr>
          <a:xfrm>
            <a:off x="6529484" y="1589198"/>
            <a:ext cx="4138517" cy="2832161"/>
          </a:xfrm>
          <a:prstGeom prst="rect">
            <a:avLst/>
          </a:prstGeom>
        </p:spPr>
      </p:pic>
      <p:sp>
        <p:nvSpPr>
          <p:cNvPr id="2" name="文本框 1"/>
          <p:cNvSpPr txBox="1"/>
          <p:nvPr/>
        </p:nvSpPr>
        <p:spPr>
          <a:xfrm>
            <a:off x="7157885" y="4539063"/>
            <a:ext cx="3274141" cy="1365374"/>
          </a:xfrm>
          <a:prstGeom prst="rect">
            <a:avLst/>
          </a:prstGeom>
          <a:solidFill>
            <a:srgbClr val="FFE1E1"/>
          </a:solidFill>
        </p:spPr>
        <p:txBody>
          <a:bodyPr wrap="square" rtlCol="0">
            <a:spAutoFit/>
          </a:bodyPr>
          <a:lstStyle/>
          <a:p>
            <a:pPr algn="just">
              <a:lnSpc>
                <a:spcPct val="130000"/>
              </a:lnSpc>
            </a:pPr>
            <a:r>
              <a:rPr lang="zh-CN" altLang="en-US" sz="2200" dirty="0">
                <a:solidFill>
                  <a:prstClr val="black"/>
                </a:solidFill>
                <a:latin typeface="Times New Roman" panose="02020603050405020304"/>
                <a:ea typeface="黑体" panose="02010609060101010101" charset="-122"/>
              </a:rPr>
              <a:t>对感知机学习能力产生怀疑，造成人工神经领域发展的长年停滞及低潮</a:t>
            </a:r>
            <a:endParaRPr lang="zh-CN" altLang="en-US" sz="2200" dirty="0">
              <a:solidFill>
                <a:prstClr val="black"/>
              </a:solidFill>
              <a:latin typeface="Times New Roman" panose="02020603050405020304"/>
              <a:ea typeface="黑体" panose="02010609060101010101"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50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750"/>
                                        <p:tgtEl>
                                          <p:spTgt spid="5"/>
                                        </p:tgtEl>
                                      </p:cBhvr>
                                    </p:animEffect>
                                  </p:childTnLst>
                                </p:cTn>
                              </p:par>
                              <p:par>
                                <p:cTn id="8" presetID="10" presetClass="entr" presetSubtype="0" fill="hold" nodeType="withEffect">
                                  <p:stCondLst>
                                    <p:cond delay="500"/>
                                  </p:stCondLst>
                                  <p:childTnLst>
                                    <p:set>
                                      <p:cBhvr>
                                        <p:cTn id="9" dur="1" fill="hold">
                                          <p:stCondLst>
                                            <p:cond delay="0"/>
                                          </p:stCondLst>
                                        </p:cTn>
                                        <p:tgtEl>
                                          <p:spTgt spid="32">
                                            <p:txEl>
                                              <p:pRg st="0" end="0"/>
                                            </p:txEl>
                                          </p:spTgt>
                                        </p:tgtEl>
                                        <p:attrNameLst>
                                          <p:attrName>style.visibility</p:attrName>
                                        </p:attrNameLst>
                                      </p:cBhvr>
                                      <p:to>
                                        <p:strVal val="visible"/>
                                      </p:to>
                                    </p:set>
                                    <p:animEffect transition="in" filter="fade">
                                      <p:cBhvr>
                                        <p:cTn id="10" dur="750"/>
                                        <p:tgtEl>
                                          <p:spTgt spid="32">
                                            <p:txEl>
                                              <p:pRg st="0" end="0"/>
                                            </p:txEl>
                                          </p:spTgt>
                                        </p:tgtEl>
                                      </p:cBhvr>
                                    </p:animEffect>
                                  </p:childTnLst>
                                </p:cTn>
                              </p:par>
                            </p:childTnLst>
                          </p:cTn>
                        </p:par>
                        <p:par>
                          <p:cTn id="11" fill="hold">
                            <p:stCondLst>
                              <p:cond delay="1500"/>
                            </p:stCondLst>
                            <p:childTnLst>
                              <p:par>
                                <p:cTn id="12" presetID="42" presetClass="entr" presetSubtype="0" fill="hold" nodeType="after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750"/>
                                        <p:tgtEl>
                                          <p:spTgt spid="7"/>
                                        </p:tgtEl>
                                      </p:cBhvr>
                                    </p:animEffect>
                                    <p:anim calcmode="lin" valueType="num">
                                      <p:cBhvr>
                                        <p:cTn id="15" dur="750" fill="hold"/>
                                        <p:tgtEl>
                                          <p:spTgt spid="7"/>
                                        </p:tgtEl>
                                        <p:attrNameLst>
                                          <p:attrName>ppt_x</p:attrName>
                                        </p:attrNameLst>
                                      </p:cBhvr>
                                      <p:tavLst>
                                        <p:tav tm="0">
                                          <p:val>
                                            <p:strVal val="#ppt_x"/>
                                          </p:val>
                                        </p:tav>
                                        <p:tav tm="100000">
                                          <p:val>
                                            <p:strVal val="#ppt_x"/>
                                          </p:val>
                                        </p:tav>
                                      </p:tavLst>
                                    </p:anim>
                                    <p:anim calcmode="lin" valueType="num">
                                      <p:cBhvr>
                                        <p:cTn id="16" dur="75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32">
                                            <p:txEl>
                                              <p:pRg st="1" end="1"/>
                                            </p:txEl>
                                          </p:spTgt>
                                        </p:tgtEl>
                                        <p:attrNameLst>
                                          <p:attrName>style.visibility</p:attrName>
                                        </p:attrNameLst>
                                      </p:cBhvr>
                                      <p:to>
                                        <p:strVal val="visible"/>
                                      </p:to>
                                    </p:set>
                                    <p:animEffect transition="in" filter="fade">
                                      <p:cBhvr>
                                        <p:cTn id="21" dur="750"/>
                                        <p:tgtEl>
                                          <p:spTgt spid="32">
                                            <p:txEl>
                                              <p:pRg st="1" end="1"/>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32">
                                            <p:txEl>
                                              <p:pRg st="2" end="2"/>
                                            </p:txEl>
                                          </p:spTgt>
                                        </p:tgtEl>
                                        <p:attrNameLst>
                                          <p:attrName>style.visibility</p:attrName>
                                        </p:attrNameLst>
                                      </p:cBhvr>
                                      <p:to>
                                        <p:strVal val="visible"/>
                                      </p:to>
                                    </p:set>
                                    <p:animEffect transition="in" filter="fade">
                                      <p:cBhvr>
                                        <p:cTn id="26" dur="750"/>
                                        <p:tgtEl>
                                          <p:spTgt spid="32">
                                            <p:txEl>
                                              <p:pRg st="2" end="2"/>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2"/>
                                        </p:tgtEl>
                                        <p:attrNameLst>
                                          <p:attrName>style.visibility</p:attrName>
                                        </p:attrNameLst>
                                      </p:cBhvr>
                                      <p:to>
                                        <p:strVal val="visible"/>
                                      </p:to>
                                    </p:set>
                                    <p:animEffect transition="in" filter="fade">
                                      <p:cBhvr>
                                        <p:cTn id="31"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2"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a:spLocks noGrp="1"/>
          </p:cNvSpPr>
          <p:nvPr>
            <p:ph type="title"/>
          </p:nvPr>
        </p:nvSpPr>
        <p:spPr>
          <a:xfrm>
            <a:off x="1916315" y="131079"/>
            <a:ext cx="7962648" cy="657727"/>
          </a:xfrm>
        </p:spPr>
        <p:txBody>
          <a:bodyPr/>
          <a:lstStyle/>
          <a:p>
            <a:pPr algn="l"/>
            <a:r>
              <a:rPr lang="zh-CN" altLang="en-US" sz="4000" dirty="0">
                <a:latin typeface="方正姚体" panose="02010601030101010101" pitchFamily="2" charset="-122"/>
                <a:ea typeface="方正姚体" panose="02010601030101010101" pitchFamily="2" charset="-122"/>
                <a:cs typeface="Times New Roman" panose="02020603050405020304" pitchFamily="18" charset="0"/>
              </a:rPr>
              <a:t>人工神经网络简介</a:t>
            </a:r>
            <a:endParaRPr lang="zh-CN" altLang="en-US" sz="4000" dirty="0">
              <a:latin typeface="方正姚体" panose="02010601030101010101" pitchFamily="2" charset="-122"/>
              <a:ea typeface="方正姚体" panose="02010601030101010101" pitchFamily="2" charset="-122"/>
              <a:cs typeface="Times New Roman" panose="02020603050405020304" pitchFamily="18" charset="0"/>
            </a:endParaRPr>
          </a:p>
        </p:txBody>
      </p:sp>
      <p:sp>
        <p:nvSpPr>
          <p:cNvPr id="32" name="矩形 31"/>
          <p:cNvSpPr/>
          <p:nvPr/>
        </p:nvSpPr>
        <p:spPr>
          <a:xfrm>
            <a:off x="2114675" y="1652401"/>
            <a:ext cx="7985512" cy="2116990"/>
          </a:xfrm>
          <a:prstGeom prst="rect">
            <a:avLst/>
          </a:prstGeom>
          <a:ln>
            <a:noFill/>
          </a:ln>
        </p:spPr>
        <p:txBody>
          <a:bodyPr wrap="square">
            <a:spAutoFit/>
          </a:bodyPr>
          <a:lstStyle/>
          <a:p>
            <a:pPr marL="457200" indent="-457200" algn="just">
              <a:lnSpc>
                <a:spcPct val="130000"/>
              </a:lnSpc>
              <a:buFont typeface="Wingdings" panose="05000000000000000000" pitchFamily="2" charset="2"/>
              <a:buChar char="Ø"/>
            </a:pPr>
            <a:r>
              <a:rPr lang="zh-CN" altLang="en-US" sz="2600" dirty="0">
                <a:solidFill>
                  <a:prstClr val="black"/>
                </a:solidFill>
                <a:latin typeface="Times New Roman" panose="02020603050405020304"/>
                <a:ea typeface="黑体" panose="02010609060101010101" charset="-122"/>
              </a:rPr>
              <a:t>随着研究进行，人们发现在输入层与输出层之间增加</a:t>
            </a:r>
            <a:r>
              <a:rPr lang="zh-CN" altLang="en-US" sz="2600" dirty="0">
                <a:solidFill>
                  <a:srgbClr val="FF0000"/>
                </a:solidFill>
                <a:latin typeface="Times New Roman" panose="02020603050405020304"/>
                <a:ea typeface="黑体" panose="02010609060101010101" charset="-122"/>
              </a:rPr>
              <a:t>隐含层</a:t>
            </a:r>
            <a:r>
              <a:rPr lang="zh-CN" altLang="en-US" sz="2600" dirty="0">
                <a:solidFill>
                  <a:prstClr val="black"/>
                </a:solidFill>
                <a:latin typeface="Times New Roman" panose="02020603050405020304"/>
                <a:ea typeface="黑体" panose="02010609060101010101" charset="-122"/>
              </a:rPr>
              <a:t>，构成一种多层神经网络结构，可以解决非线性分类的问题，增强感知机的分类能力，即</a:t>
            </a:r>
            <a:r>
              <a:rPr lang="zh-CN" altLang="en-US" sz="2600" dirty="0">
                <a:solidFill>
                  <a:srgbClr val="FF0000"/>
                </a:solidFill>
                <a:latin typeface="Times New Roman" panose="02020603050405020304"/>
                <a:ea typeface="黑体" panose="02010609060101010101" charset="-122"/>
              </a:rPr>
              <a:t>多层感知机（</a:t>
            </a:r>
            <a:r>
              <a:rPr lang="en-US" altLang="zh-CN" sz="2600" dirty="0">
                <a:solidFill>
                  <a:srgbClr val="FF0000"/>
                </a:solidFill>
                <a:latin typeface="Times New Roman" panose="02020603050405020304"/>
                <a:ea typeface="黑体" panose="02010609060101010101" charset="-122"/>
              </a:rPr>
              <a:t>MLP</a:t>
            </a:r>
            <a:r>
              <a:rPr lang="zh-CN" altLang="en-US" sz="2600" dirty="0">
                <a:solidFill>
                  <a:srgbClr val="FF0000"/>
                </a:solidFill>
                <a:latin typeface="Times New Roman" panose="02020603050405020304"/>
                <a:ea typeface="黑体" panose="02010609060101010101" charset="-122"/>
              </a:rPr>
              <a:t>）</a:t>
            </a:r>
            <a:r>
              <a:rPr lang="zh-CN" altLang="en-US" sz="2600" dirty="0">
                <a:solidFill>
                  <a:prstClr val="black"/>
                </a:solidFill>
                <a:latin typeface="Times New Roman" panose="02020603050405020304"/>
                <a:ea typeface="黑体" panose="02010609060101010101" charset="-122"/>
              </a:rPr>
              <a:t>。</a:t>
            </a:r>
            <a:endParaRPr lang="zh-CN" altLang="en-US" sz="2600" dirty="0">
              <a:solidFill>
                <a:prstClr val="black"/>
              </a:solidFill>
              <a:latin typeface="Times New Roman" panose="02020603050405020304"/>
              <a:ea typeface="黑体" panose="02010609060101010101" charset="-122"/>
            </a:endParaRPr>
          </a:p>
        </p:txBody>
      </p:sp>
      <p:sp>
        <p:nvSpPr>
          <p:cNvPr id="5" name="文本框 4"/>
          <p:cNvSpPr txBox="1"/>
          <p:nvPr/>
        </p:nvSpPr>
        <p:spPr>
          <a:xfrm>
            <a:off x="2048309" y="881503"/>
            <a:ext cx="6746647" cy="707694"/>
          </a:xfrm>
          <a:prstGeom prst="rect">
            <a:avLst/>
          </a:prstGeom>
          <a:noFill/>
        </p:spPr>
        <p:txBody>
          <a:bodyPr wrap="square">
            <a:spAutoFit/>
          </a:bodyPr>
          <a:lstStyle/>
          <a:p>
            <a:pPr marL="0" lvl="1">
              <a:lnSpc>
                <a:spcPct val="150000"/>
              </a:lnSpc>
              <a:spcAft>
                <a:spcPts val="600"/>
              </a:spcAft>
            </a:pPr>
            <a:r>
              <a:rPr lang="zh-CN" altLang="en-US" sz="3200" dirty="0">
                <a:solidFill>
                  <a:srgbClr val="C00000"/>
                </a:solidFill>
                <a:latin typeface="方正姚体" panose="02010601030101010101" pitchFamily="2" charset="-122"/>
                <a:ea typeface="方正姚体" panose="02010601030101010101" pitchFamily="2" charset="-122"/>
                <a:cs typeface="+mn-ea"/>
                <a:sym typeface="+mn-lt"/>
              </a:rPr>
              <a:t>多层感知机</a:t>
            </a:r>
            <a:endParaRPr lang="zh-CN" altLang="en-US" sz="3200" dirty="0">
              <a:solidFill>
                <a:srgbClr val="C00000"/>
              </a:solidFill>
              <a:latin typeface="方正姚体" panose="02010601030101010101" pitchFamily="2" charset="-122"/>
              <a:ea typeface="方正姚体" panose="02010601030101010101" pitchFamily="2" charset="-122"/>
              <a:cs typeface="+mn-ea"/>
              <a:sym typeface="+mn-lt"/>
            </a:endParaRPr>
          </a:p>
        </p:txBody>
      </p:sp>
      <p:pic>
        <p:nvPicPr>
          <p:cNvPr id="6" name="图片 91"/>
          <p:cNvPicPr>
            <a:picLocks noChangeAspect="1"/>
          </p:cNvPicPr>
          <p:nvPr/>
        </p:nvPicPr>
        <p:blipFill>
          <a:blip r:embed="rId1"/>
          <a:srcRect l="226" t="7356"/>
          <a:stretch>
            <a:fillRect/>
          </a:stretch>
        </p:blipFill>
        <p:spPr>
          <a:xfrm>
            <a:off x="2917185" y="3832595"/>
            <a:ext cx="6637849" cy="2419816"/>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500"/>
                                  </p:stCondLst>
                                  <p:childTnLst>
                                    <p:set>
                                      <p:cBhvr>
                                        <p:cTn id="6" dur="1" fill="hold">
                                          <p:stCondLst>
                                            <p:cond delay="0"/>
                                          </p:stCondLst>
                                        </p:cTn>
                                        <p:tgtEl>
                                          <p:spTgt spid="32">
                                            <p:txEl>
                                              <p:pRg st="0" end="0"/>
                                            </p:txEl>
                                          </p:spTgt>
                                        </p:tgtEl>
                                        <p:attrNameLst>
                                          <p:attrName>style.visibility</p:attrName>
                                        </p:attrNameLst>
                                      </p:cBhvr>
                                      <p:to>
                                        <p:strVal val="visible"/>
                                      </p:to>
                                    </p:set>
                                    <p:animEffect transition="in" filter="fade">
                                      <p:cBhvr>
                                        <p:cTn id="7" dur="750"/>
                                        <p:tgtEl>
                                          <p:spTgt spid="3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1000"/>
                                        <p:tgtEl>
                                          <p:spTgt spid="6"/>
                                        </p:tgtEl>
                                      </p:cBhvr>
                                    </p:animEffect>
                                    <p:anim calcmode="lin" valueType="num">
                                      <p:cBhvr>
                                        <p:cTn id="13" dur="1000" fill="hold"/>
                                        <p:tgtEl>
                                          <p:spTgt spid="6"/>
                                        </p:tgtEl>
                                        <p:attrNameLst>
                                          <p:attrName>ppt_x</p:attrName>
                                        </p:attrNameLst>
                                      </p:cBhvr>
                                      <p:tavLst>
                                        <p:tav tm="0">
                                          <p:val>
                                            <p:strVal val="#ppt_x"/>
                                          </p:val>
                                        </p:tav>
                                        <p:tav tm="100000">
                                          <p:val>
                                            <p:strVal val="#ppt_x"/>
                                          </p:val>
                                        </p:tav>
                                      </p:tavLst>
                                    </p:anim>
                                    <p:anim calcmode="lin" valueType="num">
                                      <p:cBhvr>
                                        <p:cTn id="14"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a:spLocks noGrp="1"/>
          </p:cNvSpPr>
          <p:nvPr>
            <p:ph type="title"/>
          </p:nvPr>
        </p:nvSpPr>
        <p:spPr>
          <a:xfrm>
            <a:off x="1916315" y="131079"/>
            <a:ext cx="7962648" cy="657727"/>
          </a:xfrm>
        </p:spPr>
        <p:txBody>
          <a:bodyPr/>
          <a:lstStyle/>
          <a:p>
            <a:pPr algn="l"/>
            <a:r>
              <a:rPr lang="zh-CN" altLang="en-US" sz="4000" dirty="0">
                <a:latin typeface="方正姚体" panose="02010601030101010101" pitchFamily="2" charset="-122"/>
                <a:ea typeface="方正姚体" panose="02010601030101010101" pitchFamily="2" charset="-122"/>
                <a:cs typeface="Times New Roman" panose="02020603050405020304" pitchFamily="18" charset="0"/>
              </a:rPr>
              <a:t>人工神经网络简介</a:t>
            </a:r>
            <a:endParaRPr lang="zh-CN" altLang="en-US" sz="4000" dirty="0">
              <a:latin typeface="方正姚体" panose="02010601030101010101" pitchFamily="2" charset="-122"/>
              <a:ea typeface="方正姚体" panose="02010601030101010101" pitchFamily="2" charset="-122"/>
              <a:cs typeface="Times New Roman" panose="02020603050405020304" pitchFamily="18" charset="0"/>
            </a:endParaRPr>
          </a:p>
        </p:txBody>
      </p:sp>
      <p:sp>
        <p:nvSpPr>
          <p:cNvPr id="32" name="矩形 31"/>
          <p:cNvSpPr/>
          <p:nvPr/>
        </p:nvSpPr>
        <p:spPr>
          <a:xfrm>
            <a:off x="2114675" y="1652402"/>
            <a:ext cx="7985512" cy="1596847"/>
          </a:xfrm>
          <a:prstGeom prst="rect">
            <a:avLst/>
          </a:prstGeom>
          <a:ln>
            <a:noFill/>
          </a:ln>
        </p:spPr>
        <p:txBody>
          <a:bodyPr wrap="square">
            <a:spAutoFit/>
          </a:bodyPr>
          <a:lstStyle/>
          <a:p>
            <a:pPr marL="457200" indent="-457200" algn="just">
              <a:lnSpc>
                <a:spcPct val="130000"/>
              </a:lnSpc>
              <a:buFont typeface="Wingdings" panose="05000000000000000000" pitchFamily="2" charset="2"/>
              <a:buChar char="Ø"/>
            </a:pPr>
            <a:r>
              <a:rPr lang="zh-CN" altLang="en-US" sz="2600" dirty="0">
                <a:solidFill>
                  <a:prstClr val="black"/>
                </a:solidFill>
                <a:latin typeface="Times New Roman" panose="02020603050405020304"/>
                <a:ea typeface="黑体" panose="02010609060101010101" charset="-122"/>
              </a:rPr>
              <a:t>二层感知机结构下图所示，设置权值参数</a:t>
            </a:r>
            <a:r>
              <a:rPr lang="zh-CN" altLang="en-US" sz="2600" i="1" dirty="0">
                <a:solidFill>
                  <a:prstClr val="black"/>
                </a:solidFill>
                <a:latin typeface="Times New Roman" panose="02020603050405020304"/>
                <a:ea typeface="黑体" panose="02010609060101010101" charset="-122"/>
              </a:rPr>
              <a:t>w</a:t>
            </a:r>
            <a:r>
              <a:rPr lang="zh-CN" altLang="en-US" sz="2600" baseline="-25000" dirty="0">
                <a:solidFill>
                  <a:prstClr val="black"/>
                </a:solidFill>
                <a:latin typeface="Times New Roman" panose="02020603050405020304"/>
                <a:ea typeface="黑体" panose="02010609060101010101" charset="-122"/>
              </a:rPr>
              <a:t>11</a:t>
            </a:r>
            <a:r>
              <a:rPr lang="zh-CN" altLang="en-US" sz="2600" dirty="0">
                <a:solidFill>
                  <a:prstClr val="black"/>
                </a:solidFill>
                <a:latin typeface="Times New Roman" panose="02020603050405020304"/>
                <a:ea typeface="黑体" panose="02010609060101010101" charset="-122"/>
              </a:rPr>
              <a:t>=1，</a:t>
            </a:r>
            <a:r>
              <a:rPr lang="zh-CN" altLang="en-US" sz="2600" i="1" dirty="0">
                <a:solidFill>
                  <a:prstClr val="black"/>
                </a:solidFill>
                <a:latin typeface="Times New Roman" panose="02020603050405020304"/>
                <a:ea typeface="黑体" panose="02010609060101010101" charset="-122"/>
              </a:rPr>
              <a:t>w</a:t>
            </a:r>
            <a:r>
              <a:rPr lang="zh-CN" altLang="en-US" sz="2600" baseline="-25000" dirty="0">
                <a:solidFill>
                  <a:prstClr val="black"/>
                </a:solidFill>
                <a:latin typeface="Times New Roman" panose="02020603050405020304"/>
                <a:ea typeface="黑体" panose="02010609060101010101" charset="-122"/>
              </a:rPr>
              <a:t>21</a:t>
            </a:r>
            <a:r>
              <a:rPr lang="zh-CN" altLang="en-US" sz="2600" dirty="0">
                <a:solidFill>
                  <a:prstClr val="black"/>
                </a:solidFill>
                <a:latin typeface="Times New Roman" panose="02020603050405020304"/>
                <a:ea typeface="黑体" panose="02010609060101010101" charset="-122"/>
              </a:rPr>
              <a:t>=1，</a:t>
            </a:r>
            <a:r>
              <a:rPr lang="zh-CN" altLang="en-US" sz="2600" i="1" dirty="0">
                <a:solidFill>
                  <a:prstClr val="black"/>
                </a:solidFill>
                <a:latin typeface="Times New Roman" panose="02020603050405020304"/>
                <a:ea typeface="黑体" panose="02010609060101010101" charset="-122"/>
              </a:rPr>
              <a:t>w</a:t>
            </a:r>
            <a:r>
              <a:rPr lang="zh-CN" altLang="en-US" sz="2600" baseline="-25000" dirty="0">
                <a:solidFill>
                  <a:prstClr val="black"/>
                </a:solidFill>
                <a:latin typeface="Times New Roman" panose="02020603050405020304"/>
                <a:ea typeface="黑体" panose="02010609060101010101" charset="-122"/>
              </a:rPr>
              <a:t>12</a:t>
            </a:r>
            <a:r>
              <a:rPr lang="zh-CN" altLang="en-US" sz="2600" dirty="0">
                <a:solidFill>
                  <a:prstClr val="black"/>
                </a:solidFill>
                <a:latin typeface="Times New Roman" panose="02020603050405020304"/>
                <a:ea typeface="黑体" panose="02010609060101010101" charset="-122"/>
              </a:rPr>
              <a:t>=</a:t>
            </a:r>
            <a:r>
              <a:rPr lang="en-US" altLang="zh-CN" sz="2600" dirty="0">
                <a:solidFill>
                  <a:prstClr val="black"/>
                </a:solidFill>
                <a:latin typeface="Times New Roman" panose="02020603050405020304"/>
                <a:ea typeface="黑体" panose="02010609060101010101" charset="-122"/>
              </a:rPr>
              <a:t>-</a:t>
            </a:r>
            <a:r>
              <a:rPr lang="zh-CN" altLang="en-US" sz="2600" dirty="0">
                <a:solidFill>
                  <a:prstClr val="black"/>
                </a:solidFill>
                <a:latin typeface="Times New Roman" panose="02020603050405020304"/>
                <a:ea typeface="黑体" panose="02010609060101010101" charset="-122"/>
              </a:rPr>
              <a:t>1，</a:t>
            </a:r>
            <a:r>
              <a:rPr lang="zh-CN" altLang="en-US" sz="2600" i="1" dirty="0">
                <a:solidFill>
                  <a:prstClr val="black"/>
                </a:solidFill>
                <a:latin typeface="Times New Roman" panose="02020603050405020304"/>
                <a:ea typeface="黑体" panose="02010609060101010101" charset="-122"/>
              </a:rPr>
              <a:t>w</a:t>
            </a:r>
            <a:r>
              <a:rPr lang="zh-CN" altLang="en-US" sz="2600" baseline="-25000" dirty="0">
                <a:solidFill>
                  <a:prstClr val="black"/>
                </a:solidFill>
                <a:latin typeface="Times New Roman" panose="02020603050405020304"/>
                <a:ea typeface="黑体" panose="02010609060101010101" charset="-122"/>
              </a:rPr>
              <a:t>22</a:t>
            </a:r>
            <a:r>
              <a:rPr lang="zh-CN" altLang="en-US" sz="2600" dirty="0">
                <a:solidFill>
                  <a:prstClr val="black"/>
                </a:solidFill>
                <a:latin typeface="Times New Roman" panose="02020603050405020304"/>
                <a:ea typeface="黑体" panose="02010609060101010101" charset="-122"/>
              </a:rPr>
              <a:t>=-1，</a:t>
            </a:r>
            <a:r>
              <a:rPr lang="zh-CN" altLang="en-US" sz="2600" i="1" dirty="0">
                <a:solidFill>
                  <a:prstClr val="black"/>
                </a:solidFill>
                <a:latin typeface="Times New Roman" panose="02020603050405020304"/>
                <a:ea typeface="黑体" panose="02010609060101010101" charset="-122"/>
              </a:rPr>
              <a:t>w</a:t>
            </a:r>
            <a:r>
              <a:rPr lang="zh-CN" altLang="en-US" sz="2600" baseline="-25000" dirty="0">
                <a:solidFill>
                  <a:prstClr val="black"/>
                </a:solidFill>
                <a:latin typeface="Times New Roman" panose="02020603050405020304"/>
                <a:ea typeface="黑体" panose="02010609060101010101" charset="-122"/>
              </a:rPr>
              <a:t>3</a:t>
            </a:r>
            <a:r>
              <a:rPr lang="zh-CN" altLang="en-US" sz="2600" dirty="0">
                <a:solidFill>
                  <a:prstClr val="black"/>
                </a:solidFill>
                <a:latin typeface="Times New Roman" panose="02020603050405020304"/>
                <a:ea typeface="黑体" panose="02010609060101010101" charset="-122"/>
              </a:rPr>
              <a:t>=1，</a:t>
            </a:r>
            <a:r>
              <a:rPr lang="zh-CN" altLang="en-US" sz="2600" i="1" dirty="0">
                <a:solidFill>
                  <a:prstClr val="black"/>
                </a:solidFill>
                <a:latin typeface="Times New Roman" panose="02020603050405020304"/>
                <a:ea typeface="黑体" panose="02010609060101010101" charset="-122"/>
              </a:rPr>
              <a:t>w</a:t>
            </a:r>
            <a:r>
              <a:rPr lang="zh-CN" altLang="en-US" sz="2600" baseline="-25000" dirty="0">
                <a:solidFill>
                  <a:prstClr val="black"/>
                </a:solidFill>
                <a:latin typeface="Times New Roman" panose="02020603050405020304"/>
                <a:ea typeface="黑体" panose="02010609060101010101" charset="-122"/>
              </a:rPr>
              <a:t>4</a:t>
            </a:r>
            <a:r>
              <a:rPr lang="zh-CN" altLang="en-US" sz="2600" dirty="0">
                <a:solidFill>
                  <a:prstClr val="black"/>
                </a:solidFill>
                <a:latin typeface="Times New Roman" panose="02020603050405020304"/>
                <a:ea typeface="黑体" panose="02010609060101010101" charset="-122"/>
              </a:rPr>
              <a:t>=1，</a:t>
            </a:r>
            <a:r>
              <a:rPr lang="zh-CN" altLang="en-US" sz="2600" i="1" dirty="0">
                <a:solidFill>
                  <a:prstClr val="black"/>
                </a:solidFill>
                <a:latin typeface="Times New Roman" panose="02020603050405020304"/>
                <a:ea typeface="黑体" panose="02010609060101010101" charset="-122"/>
              </a:rPr>
              <a:t>b</a:t>
            </a:r>
            <a:r>
              <a:rPr lang="zh-CN" altLang="en-US" sz="2600" baseline="-25000" dirty="0">
                <a:solidFill>
                  <a:prstClr val="black"/>
                </a:solidFill>
                <a:latin typeface="Times New Roman" panose="02020603050405020304"/>
                <a:ea typeface="黑体" panose="02010609060101010101" charset="-122"/>
              </a:rPr>
              <a:t>1</a:t>
            </a:r>
            <a:r>
              <a:rPr lang="zh-CN" altLang="en-US" sz="2600" dirty="0">
                <a:solidFill>
                  <a:prstClr val="black"/>
                </a:solidFill>
                <a:latin typeface="Times New Roman" panose="02020603050405020304"/>
                <a:ea typeface="黑体" panose="02010609060101010101" charset="-122"/>
              </a:rPr>
              <a:t>=-0.5，</a:t>
            </a:r>
            <a:r>
              <a:rPr lang="zh-CN" altLang="en-US" sz="2600" i="1" dirty="0">
                <a:solidFill>
                  <a:prstClr val="black"/>
                </a:solidFill>
                <a:latin typeface="Times New Roman" panose="02020603050405020304"/>
                <a:ea typeface="黑体" panose="02010609060101010101" charset="-122"/>
              </a:rPr>
              <a:t>b</a:t>
            </a:r>
            <a:r>
              <a:rPr lang="zh-CN" altLang="en-US" sz="2600" baseline="-25000" dirty="0">
                <a:solidFill>
                  <a:prstClr val="black"/>
                </a:solidFill>
                <a:latin typeface="Times New Roman" panose="02020603050405020304"/>
                <a:ea typeface="黑体" panose="02010609060101010101" charset="-122"/>
              </a:rPr>
              <a:t>2</a:t>
            </a:r>
            <a:r>
              <a:rPr lang="zh-CN" altLang="en-US" sz="2600" dirty="0">
                <a:solidFill>
                  <a:prstClr val="black"/>
                </a:solidFill>
                <a:latin typeface="Times New Roman" panose="02020603050405020304"/>
                <a:ea typeface="黑体" panose="02010609060101010101" charset="-122"/>
              </a:rPr>
              <a:t>= 1.5，</a:t>
            </a:r>
            <a:r>
              <a:rPr lang="zh-CN" altLang="en-US" sz="2600" i="1" dirty="0">
                <a:solidFill>
                  <a:prstClr val="black"/>
                </a:solidFill>
                <a:latin typeface="Times New Roman" panose="02020603050405020304"/>
                <a:ea typeface="黑体" panose="02010609060101010101" charset="-122"/>
              </a:rPr>
              <a:t>b</a:t>
            </a:r>
            <a:r>
              <a:rPr lang="zh-CN" altLang="en-US" sz="2600" baseline="-25000" dirty="0">
                <a:solidFill>
                  <a:prstClr val="black"/>
                </a:solidFill>
                <a:latin typeface="Times New Roman" panose="02020603050405020304"/>
                <a:ea typeface="黑体" panose="02010609060101010101" charset="-122"/>
              </a:rPr>
              <a:t>3</a:t>
            </a:r>
            <a:r>
              <a:rPr lang="zh-CN" altLang="en-US" sz="2600" dirty="0">
                <a:solidFill>
                  <a:prstClr val="black"/>
                </a:solidFill>
                <a:latin typeface="Times New Roman" panose="02020603050405020304"/>
                <a:ea typeface="黑体" panose="02010609060101010101" charset="-122"/>
              </a:rPr>
              <a:t>= -1.5，激活函数</a:t>
            </a:r>
            <a:r>
              <a:rPr lang="zh-CN" altLang="en-US" sz="2600" i="1" dirty="0">
                <a:solidFill>
                  <a:prstClr val="black"/>
                </a:solidFill>
                <a:latin typeface="Times New Roman" panose="02020603050405020304"/>
                <a:ea typeface="黑体" panose="02010609060101010101" charset="-122"/>
              </a:rPr>
              <a:t>f</a:t>
            </a:r>
            <a:r>
              <a:rPr lang="zh-CN" altLang="en-US" sz="2600" dirty="0">
                <a:solidFill>
                  <a:prstClr val="black"/>
                </a:solidFill>
                <a:latin typeface="Times New Roman" panose="02020603050405020304"/>
                <a:ea typeface="黑体" panose="02010609060101010101" charset="-122"/>
              </a:rPr>
              <a:t>(x)为阶跃函数。</a:t>
            </a:r>
            <a:endParaRPr lang="zh-CN" altLang="en-US" sz="2600" dirty="0">
              <a:solidFill>
                <a:prstClr val="black"/>
              </a:solidFill>
              <a:latin typeface="Times New Roman" panose="02020603050405020304"/>
              <a:ea typeface="黑体" panose="02010609060101010101" charset="-122"/>
            </a:endParaRPr>
          </a:p>
        </p:txBody>
      </p:sp>
      <p:sp>
        <p:nvSpPr>
          <p:cNvPr id="5" name="文本框 4"/>
          <p:cNvSpPr txBox="1"/>
          <p:nvPr/>
        </p:nvSpPr>
        <p:spPr>
          <a:xfrm>
            <a:off x="2048309" y="881503"/>
            <a:ext cx="6746647" cy="707694"/>
          </a:xfrm>
          <a:prstGeom prst="rect">
            <a:avLst/>
          </a:prstGeom>
          <a:noFill/>
        </p:spPr>
        <p:txBody>
          <a:bodyPr wrap="square">
            <a:spAutoFit/>
          </a:bodyPr>
          <a:lstStyle/>
          <a:p>
            <a:pPr marL="0" lvl="1">
              <a:lnSpc>
                <a:spcPct val="150000"/>
              </a:lnSpc>
              <a:spcAft>
                <a:spcPts val="600"/>
              </a:spcAft>
            </a:pPr>
            <a:r>
              <a:rPr lang="zh-CN" altLang="en-US" sz="3200" dirty="0">
                <a:solidFill>
                  <a:srgbClr val="C00000"/>
                </a:solidFill>
                <a:latin typeface="方正姚体" panose="02010601030101010101" pitchFamily="2" charset="-122"/>
                <a:ea typeface="方正姚体" panose="02010601030101010101" pitchFamily="2" charset="-122"/>
                <a:cs typeface="+mn-ea"/>
                <a:sym typeface="+mn-lt"/>
              </a:rPr>
              <a:t>多层感知机实现异或运算</a:t>
            </a:r>
            <a:endParaRPr lang="zh-CN" altLang="en-US" sz="3200" dirty="0">
              <a:solidFill>
                <a:srgbClr val="C00000"/>
              </a:solidFill>
              <a:latin typeface="方正姚体" panose="02010601030101010101" pitchFamily="2" charset="-122"/>
              <a:ea typeface="方正姚体" panose="02010601030101010101" pitchFamily="2" charset="-122"/>
              <a:cs typeface="+mn-ea"/>
              <a:sym typeface="+mn-lt"/>
            </a:endParaRPr>
          </a:p>
        </p:txBody>
      </p:sp>
      <p:pic>
        <p:nvPicPr>
          <p:cNvPr id="9" name="图片 26" descr="85ef1711d82fbc66180fc6d00850b76"/>
          <p:cNvPicPr>
            <a:picLocks noChangeAspect="1"/>
          </p:cNvPicPr>
          <p:nvPr/>
        </p:nvPicPr>
        <p:blipFill>
          <a:blip r:embed="rId1"/>
          <a:stretch>
            <a:fillRect/>
          </a:stretch>
        </p:blipFill>
        <p:spPr>
          <a:xfrm>
            <a:off x="2940491" y="3212078"/>
            <a:ext cx="6311019" cy="326803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75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2">
                                            <p:txEl>
                                              <p:pRg st="0" end="0"/>
                                            </p:txEl>
                                          </p:spTgt>
                                        </p:tgtEl>
                                        <p:attrNameLst>
                                          <p:attrName>style.visibility</p:attrName>
                                        </p:attrNameLst>
                                      </p:cBhvr>
                                      <p:to>
                                        <p:strVal val="visible"/>
                                      </p:to>
                                    </p:set>
                                    <p:animEffect transition="in" filter="fade">
                                      <p:cBhvr>
                                        <p:cTn id="12" dur="750"/>
                                        <p:tgtEl>
                                          <p:spTgt spid="32">
                                            <p:txEl>
                                              <p:pRg st="0" end="0"/>
                                            </p:txEl>
                                          </p:spTgt>
                                        </p:tgtEl>
                                      </p:cBhvr>
                                    </p:animEffect>
                                  </p:childTnLst>
                                </p:cTn>
                              </p:par>
                            </p:childTnLst>
                          </p:cTn>
                        </p:par>
                        <p:par>
                          <p:cTn id="13" fill="hold">
                            <p:stCondLst>
                              <p:cond delay="1000"/>
                            </p:stCondLst>
                            <p:childTnLst>
                              <p:par>
                                <p:cTn id="14" presetID="42" presetClass="entr" presetSubtype="0" fill="hold" nodeType="afterEffect">
                                  <p:stCondLst>
                                    <p:cond delay="100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1000"/>
                                        <p:tgtEl>
                                          <p:spTgt spid="9"/>
                                        </p:tgtEl>
                                      </p:cBhvr>
                                    </p:animEffect>
                                    <p:anim calcmode="lin" valueType="num">
                                      <p:cBhvr>
                                        <p:cTn id="17" dur="1000" fill="hold"/>
                                        <p:tgtEl>
                                          <p:spTgt spid="9"/>
                                        </p:tgtEl>
                                        <p:attrNameLst>
                                          <p:attrName>ppt_x</p:attrName>
                                        </p:attrNameLst>
                                      </p:cBhvr>
                                      <p:tavLst>
                                        <p:tav tm="0">
                                          <p:val>
                                            <p:strVal val="#ppt_x"/>
                                          </p:val>
                                        </p:tav>
                                        <p:tav tm="100000">
                                          <p:val>
                                            <p:strVal val="#ppt_x"/>
                                          </p:val>
                                        </p:tav>
                                      </p:tavLst>
                                    </p:anim>
                                    <p:anim calcmode="lin" valueType="num">
                                      <p:cBhvr>
                                        <p:cTn id="18"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a:spLocks noGrp="1"/>
          </p:cNvSpPr>
          <p:nvPr>
            <p:ph type="title"/>
          </p:nvPr>
        </p:nvSpPr>
        <p:spPr>
          <a:xfrm>
            <a:off x="1916315" y="131079"/>
            <a:ext cx="7962648" cy="657727"/>
          </a:xfrm>
        </p:spPr>
        <p:txBody>
          <a:bodyPr/>
          <a:lstStyle/>
          <a:p>
            <a:pPr algn="l"/>
            <a:r>
              <a:rPr lang="zh-CN" altLang="en-US" sz="4000" dirty="0">
                <a:latin typeface="方正姚体" panose="02010601030101010101" pitchFamily="2" charset="-122"/>
                <a:ea typeface="方正姚体" panose="02010601030101010101" pitchFamily="2" charset="-122"/>
                <a:cs typeface="Times New Roman" panose="02020603050405020304" pitchFamily="18" charset="0"/>
              </a:rPr>
              <a:t>人工神经网络简介</a:t>
            </a:r>
            <a:endParaRPr lang="zh-CN" altLang="en-US" sz="4000" dirty="0">
              <a:latin typeface="方正姚体" panose="02010601030101010101" pitchFamily="2" charset="-122"/>
              <a:ea typeface="方正姚体" panose="02010601030101010101" pitchFamily="2" charset="-122"/>
              <a:cs typeface="Times New Roman" panose="02020603050405020304" pitchFamily="18" charset="0"/>
            </a:endParaRPr>
          </a:p>
        </p:txBody>
      </p:sp>
      <p:sp>
        <p:nvSpPr>
          <p:cNvPr id="5" name="文本框 4"/>
          <p:cNvSpPr txBox="1"/>
          <p:nvPr/>
        </p:nvSpPr>
        <p:spPr>
          <a:xfrm>
            <a:off x="2048309" y="881503"/>
            <a:ext cx="6746647" cy="707694"/>
          </a:xfrm>
          <a:prstGeom prst="rect">
            <a:avLst/>
          </a:prstGeom>
          <a:noFill/>
        </p:spPr>
        <p:txBody>
          <a:bodyPr wrap="square">
            <a:spAutoFit/>
          </a:bodyPr>
          <a:lstStyle/>
          <a:p>
            <a:pPr marL="0" lvl="1">
              <a:lnSpc>
                <a:spcPct val="150000"/>
              </a:lnSpc>
              <a:spcAft>
                <a:spcPts val="600"/>
              </a:spcAft>
            </a:pPr>
            <a:r>
              <a:rPr lang="zh-CN" altLang="en-US" sz="3200" dirty="0">
                <a:solidFill>
                  <a:srgbClr val="C00000"/>
                </a:solidFill>
                <a:latin typeface="方正姚体" panose="02010601030101010101" pitchFamily="2" charset="-122"/>
                <a:ea typeface="方正姚体" panose="02010601030101010101" pitchFamily="2" charset="-122"/>
                <a:cs typeface="+mn-ea"/>
                <a:sym typeface="+mn-lt"/>
              </a:rPr>
              <a:t>多层感知机实现异或运算</a:t>
            </a:r>
            <a:endParaRPr lang="zh-CN" altLang="en-US" sz="3200" dirty="0">
              <a:solidFill>
                <a:srgbClr val="C00000"/>
              </a:solidFill>
              <a:latin typeface="方正姚体" panose="02010601030101010101" pitchFamily="2" charset="-122"/>
              <a:ea typeface="方正姚体" panose="02010601030101010101" pitchFamily="2" charset="-122"/>
              <a:cs typeface="+mn-ea"/>
              <a:sym typeface="+mn-lt"/>
            </a:endParaRPr>
          </a:p>
        </p:txBody>
      </p:sp>
      <p:sp>
        <p:nvSpPr>
          <p:cNvPr id="7" name="文本框 6"/>
          <p:cNvSpPr txBox="1"/>
          <p:nvPr/>
        </p:nvSpPr>
        <p:spPr>
          <a:xfrm>
            <a:off x="2048308" y="1648770"/>
            <a:ext cx="7962648" cy="4632807"/>
          </a:xfrm>
          <a:prstGeom prst="rect">
            <a:avLst/>
          </a:prstGeom>
          <a:noFill/>
        </p:spPr>
        <p:txBody>
          <a:bodyPr wrap="square">
            <a:spAutoFit/>
          </a:bodyPr>
          <a:lstStyle/>
          <a:p>
            <a:pPr marL="431800" lvl="1" indent="-342900">
              <a:lnSpc>
                <a:spcPct val="150000"/>
              </a:lnSpc>
              <a:spcAft>
                <a:spcPts val="600"/>
              </a:spcAft>
              <a:buFont typeface="Arial" panose="020B0604020202020204" pitchFamily="34" charset="0"/>
              <a:buChar char="•"/>
            </a:pPr>
            <a:r>
              <a:rPr lang="zh-CN" altLang="en-US" sz="2200" dirty="0">
                <a:solidFill>
                  <a:srgbClr val="000000"/>
                </a:solidFill>
                <a:latin typeface="Times New Roman" panose="02020603050405020304"/>
                <a:ea typeface="黑体" panose="02010609060101010101" charset="-122"/>
                <a:cs typeface="+mn-ea"/>
              </a:rPr>
              <a:t>将样本</a:t>
            </a:r>
            <a:r>
              <a:rPr lang="en-US" altLang="zh-CN" sz="2200" i="1" dirty="0">
                <a:solidFill>
                  <a:srgbClr val="000000"/>
                </a:solidFill>
                <a:latin typeface="Times New Roman" panose="02020603050405020304"/>
                <a:ea typeface="黑体" panose="02010609060101010101" charset="-122"/>
                <a:cs typeface="+mn-ea"/>
              </a:rPr>
              <a:t>x</a:t>
            </a:r>
            <a:r>
              <a:rPr lang="en-US" altLang="zh-CN" sz="2200" baseline="-25000" dirty="0">
                <a:solidFill>
                  <a:srgbClr val="000000"/>
                </a:solidFill>
                <a:latin typeface="Times New Roman" panose="02020603050405020304"/>
                <a:ea typeface="黑体" panose="02010609060101010101" charset="-122"/>
                <a:cs typeface="+mn-ea"/>
              </a:rPr>
              <a:t>1</a:t>
            </a:r>
            <a:r>
              <a:rPr lang="en-US" altLang="zh-CN" sz="2200" dirty="0">
                <a:solidFill>
                  <a:srgbClr val="000000"/>
                </a:solidFill>
                <a:latin typeface="Times New Roman" panose="02020603050405020304"/>
                <a:ea typeface="黑体" panose="02010609060101010101" charset="-122"/>
                <a:cs typeface="+mn-ea"/>
              </a:rPr>
              <a:t>,</a:t>
            </a:r>
            <a:r>
              <a:rPr lang="en-US" altLang="zh-CN" sz="2200" i="1" dirty="0">
                <a:solidFill>
                  <a:srgbClr val="000000"/>
                </a:solidFill>
                <a:latin typeface="Times New Roman" panose="02020603050405020304"/>
                <a:ea typeface="黑体" panose="02010609060101010101" charset="-122"/>
                <a:cs typeface="+mn-ea"/>
              </a:rPr>
              <a:t>x</a:t>
            </a:r>
            <a:r>
              <a:rPr lang="en-US" altLang="zh-CN" sz="2200" baseline="-25000" dirty="0">
                <a:solidFill>
                  <a:srgbClr val="000000"/>
                </a:solidFill>
                <a:latin typeface="Times New Roman" panose="02020603050405020304"/>
                <a:ea typeface="黑体" panose="02010609060101010101" charset="-122"/>
                <a:cs typeface="+mn-ea"/>
              </a:rPr>
              <a:t>2</a:t>
            </a:r>
            <a:r>
              <a:rPr lang="en-US" altLang="zh-CN" sz="2200" dirty="0">
                <a:solidFill>
                  <a:srgbClr val="000000"/>
                </a:solidFill>
                <a:latin typeface="Times New Roman" panose="02020603050405020304"/>
                <a:ea typeface="黑体" panose="02010609060101010101" charset="-122"/>
                <a:cs typeface="+mn-ea"/>
              </a:rPr>
              <a:t>=</a:t>
            </a:r>
            <a:r>
              <a:rPr lang="zh-CN" altLang="en-US" sz="2200" dirty="0">
                <a:solidFill>
                  <a:srgbClr val="000000"/>
                </a:solidFill>
                <a:latin typeface="Times New Roman" panose="02020603050405020304"/>
                <a:ea typeface="黑体" panose="02010609060101010101" charset="-122"/>
                <a:cs typeface="+mn-ea"/>
              </a:rPr>
              <a:t>（</a:t>
            </a:r>
            <a:r>
              <a:rPr lang="en-US" altLang="zh-CN" sz="2200" dirty="0">
                <a:solidFill>
                  <a:srgbClr val="000000"/>
                </a:solidFill>
                <a:latin typeface="Times New Roman" panose="02020603050405020304"/>
                <a:ea typeface="黑体" panose="02010609060101010101" charset="-122"/>
                <a:cs typeface="+mn-ea"/>
              </a:rPr>
              <a:t>0</a:t>
            </a:r>
            <a:r>
              <a:rPr lang="zh-CN" altLang="en-US" sz="2200" dirty="0">
                <a:solidFill>
                  <a:srgbClr val="000000"/>
                </a:solidFill>
                <a:latin typeface="Times New Roman" panose="02020603050405020304"/>
                <a:ea typeface="黑体" panose="02010609060101010101" charset="-122"/>
                <a:cs typeface="+mn-ea"/>
              </a:rPr>
              <a:t>，</a:t>
            </a:r>
            <a:r>
              <a:rPr lang="en-US" altLang="zh-CN" sz="2200" dirty="0">
                <a:solidFill>
                  <a:srgbClr val="000000"/>
                </a:solidFill>
                <a:latin typeface="Times New Roman" panose="02020603050405020304"/>
                <a:ea typeface="黑体" panose="02010609060101010101" charset="-122"/>
                <a:cs typeface="+mn-ea"/>
              </a:rPr>
              <a:t>0</a:t>
            </a:r>
            <a:r>
              <a:rPr lang="zh-CN" altLang="en-US" sz="2200" dirty="0">
                <a:solidFill>
                  <a:srgbClr val="000000"/>
                </a:solidFill>
                <a:latin typeface="Times New Roman" panose="02020603050405020304"/>
                <a:ea typeface="黑体" panose="02010609060101010101" charset="-122"/>
                <a:cs typeface="+mn-ea"/>
              </a:rPr>
              <a:t>）输入模型，输出</a:t>
            </a:r>
            <a:r>
              <a:rPr lang="en-US" altLang="zh-CN" sz="2200" i="1" dirty="0">
                <a:solidFill>
                  <a:srgbClr val="000000"/>
                </a:solidFill>
                <a:latin typeface="Times New Roman" panose="02020603050405020304"/>
                <a:ea typeface="黑体" panose="02010609060101010101" charset="-122"/>
                <a:cs typeface="+mn-ea"/>
              </a:rPr>
              <a:t>y</a:t>
            </a:r>
            <a:r>
              <a:rPr lang="en-US" altLang="zh-CN" sz="2200" dirty="0">
                <a:solidFill>
                  <a:srgbClr val="000000"/>
                </a:solidFill>
                <a:latin typeface="Times New Roman" panose="02020603050405020304"/>
                <a:ea typeface="黑体" panose="02010609060101010101" charset="-122"/>
                <a:cs typeface="+mn-ea"/>
              </a:rPr>
              <a:t>=0</a:t>
            </a:r>
            <a:r>
              <a:rPr lang="zh-CN" altLang="en-US" sz="2200" dirty="0">
                <a:solidFill>
                  <a:srgbClr val="000000"/>
                </a:solidFill>
                <a:latin typeface="Times New Roman" panose="02020603050405020304"/>
                <a:ea typeface="黑体" panose="02010609060101010101" charset="-122"/>
                <a:cs typeface="+mn-ea"/>
              </a:rPr>
              <a:t>，计算如下：</a:t>
            </a:r>
            <a:endParaRPr lang="zh-CN" altLang="en-US" sz="2200" dirty="0">
              <a:solidFill>
                <a:srgbClr val="000000"/>
              </a:solidFill>
              <a:latin typeface="Times New Roman" panose="02020603050405020304"/>
              <a:ea typeface="黑体" panose="02010609060101010101" charset="-122"/>
              <a:cs typeface="+mn-ea"/>
            </a:endParaRPr>
          </a:p>
          <a:p>
            <a:pPr marL="88900" lvl="1">
              <a:lnSpc>
                <a:spcPct val="150000"/>
              </a:lnSpc>
              <a:spcAft>
                <a:spcPts val="600"/>
              </a:spcAft>
            </a:pPr>
            <a:r>
              <a:rPr lang="zh-CN" altLang="en-US" sz="2200" dirty="0">
                <a:solidFill>
                  <a:srgbClr val="000000"/>
                </a:solidFill>
                <a:latin typeface="Times New Roman" panose="02020603050405020304"/>
                <a:ea typeface="黑体" panose="02010609060101010101" charset="-122"/>
                <a:cs typeface="+mn-ea"/>
              </a:rPr>
              <a:t>神经元</a:t>
            </a:r>
            <a:r>
              <a:rPr lang="en-US" altLang="zh-CN" sz="2200" dirty="0">
                <a:solidFill>
                  <a:srgbClr val="000000"/>
                </a:solidFill>
                <a:latin typeface="Times New Roman" panose="02020603050405020304"/>
                <a:ea typeface="黑体" panose="02010609060101010101" charset="-122"/>
                <a:cs typeface="+mn-ea"/>
              </a:rPr>
              <a:t>1</a:t>
            </a:r>
            <a:r>
              <a:rPr lang="zh-CN" altLang="en-US" sz="2200" dirty="0">
                <a:solidFill>
                  <a:srgbClr val="000000"/>
                </a:solidFill>
                <a:latin typeface="Times New Roman" panose="02020603050405020304"/>
                <a:ea typeface="黑体" panose="02010609060101010101" charset="-122"/>
                <a:cs typeface="+mn-ea"/>
              </a:rPr>
              <a:t>输出</a:t>
            </a:r>
            <a:r>
              <a:rPr lang="en-US" altLang="zh-CN" sz="2200" i="1" dirty="0">
                <a:solidFill>
                  <a:srgbClr val="000000"/>
                </a:solidFill>
                <a:latin typeface="Times New Roman" panose="02020603050405020304"/>
                <a:ea typeface="黑体" panose="02010609060101010101" charset="-122"/>
                <a:cs typeface="+mn-ea"/>
              </a:rPr>
              <a:t>s</a:t>
            </a:r>
            <a:r>
              <a:rPr lang="en-US" altLang="zh-CN" sz="2200" baseline="-25000" dirty="0">
                <a:solidFill>
                  <a:srgbClr val="000000"/>
                </a:solidFill>
                <a:latin typeface="Times New Roman" panose="02020603050405020304"/>
                <a:ea typeface="黑体" panose="02010609060101010101" charset="-122"/>
                <a:cs typeface="+mn-ea"/>
              </a:rPr>
              <a:t>1</a:t>
            </a:r>
            <a:r>
              <a:rPr lang="en-US" altLang="zh-CN" sz="2200" dirty="0">
                <a:solidFill>
                  <a:srgbClr val="000000"/>
                </a:solidFill>
                <a:latin typeface="Times New Roman" panose="02020603050405020304"/>
                <a:ea typeface="黑体" panose="02010609060101010101" charset="-122"/>
                <a:cs typeface="+mn-ea"/>
              </a:rPr>
              <a:t> = </a:t>
            </a:r>
            <a:r>
              <a:rPr lang="en-US" altLang="zh-CN" sz="2200" i="1" dirty="0">
                <a:solidFill>
                  <a:srgbClr val="000000"/>
                </a:solidFill>
                <a:latin typeface="Times New Roman" panose="02020603050405020304"/>
                <a:ea typeface="黑体" panose="02010609060101010101" charset="-122"/>
                <a:cs typeface="+mn-ea"/>
              </a:rPr>
              <a:t>f</a:t>
            </a:r>
            <a:r>
              <a:rPr lang="en-US" altLang="zh-CN" sz="2200" dirty="0">
                <a:solidFill>
                  <a:srgbClr val="000000"/>
                </a:solidFill>
                <a:latin typeface="Times New Roman" panose="02020603050405020304"/>
                <a:ea typeface="黑体" panose="02010609060101010101" charset="-122"/>
                <a:cs typeface="+mn-ea"/>
              </a:rPr>
              <a:t>(</a:t>
            </a:r>
            <a:r>
              <a:rPr lang="en-US" altLang="zh-CN" sz="2200" i="1" dirty="0">
                <a:solidFill>
                  <a:srgbClr val="000000"/>
                </a:solidFill>
                <a:latin typeface="Times New Roman" panose="02020603050405020304"/>
                <a:ea typeface="黑体" panose="02010609060101010101" charset="-122"/>
                <a:cs typeface="+mn-ea"/>
              </a:rPr>
              <a:t>w</a:t>
            </a:r>
            <a:r>
              <a:rPr lang="en-US" altLang="zh-CN" sz="2200" baseline="-25000" dirty="0">
                <a:solidFill>
                  <a:srgbClr val="000000"/>
                </a:solidFill>
                <a:latin typeface="Times New Roman" panose="02020603050405020304"/>
                <a:ea typeface="黑体" panose="02010609060101010101" charset="-122"/>
                <a:cs typeface="+mn-ea"/>
              </a:rPr>
              <a:t>11</a:t>
            </a:r>
            <a:r>
              <a:rPr lang="en-US" altLang="zh-CN" sz="2200" i="1" dirty="0">
                <a:solidFill>
                  <a:srgbClr val="000000"/>
                </a:solidFill>
                <a:latin typeface="Times New Roman" panose="02020603050405020304"/>
                <a:ea typeface="黑体" panose="02010609060101010101" charset="-122"/>
                <a:cs typeface="+mn-ea"/>
              </a:rPr>
              <a:t>x</a:t>
            </a:r>
            <a:r>
              <a:rPr lang="en-US" altLang="zh-CN" sz="2200" baseline="-25000" dirty="0">
                <a:solidFill>
                  <a:srgbClr val="000000"/>
                </a:solidFill>
                <a:latin typeface="Times New Roman" panose="02020603050405020304"/>
                <a:ea typeface="黑体" panose="02010609060101010101" charset="-122"/>
                <a:cs typeface="+mn-ea"/>
              </a:rPr>
              <a:t>1</a:t>
            </a:r>
            <a:r>
              <a:rPr lang="en-US" altLang="zh-CN" sz="2200" dirty="0">
                <a:solidFill>
                  <a:srgbClr val="000000"/>
                </a:solidFill>
                <a:latin typeface="Times New Roman" panose="02020603050405020304"/>
                <a:ea typeface="黑体" panose="02010609060101010101" charset="-122"/>
                <a:cs typeface="+mn-ea"/>
              </a:rPr>
              <a:t>+</a:t>
            </a:r>
            <a:r>
              <a:rPr lang="en-US" altLang="zh-CN" sz="2200" i="1" dirty="0">
                <a:solidFill>
                  <a:srgbClr val="000000"/>
                </a:solidFill>
                <a:latin typeface="Times New Roman" panose="02020603050405020304"/>
                <a:ea typeface="黑体" panose="02010609060101010101" charset="-122"/>
                <a:cs typeface="+mn-ea"/>
              </a:rPr>
              <a:t>w</a:t>
            </a:r>
            <a:r>
              <a:rPr lang="en-US" altLang="zh-CN" sz="2200" baseline="-25000" dirty="0">
                <a:solidFill>
                  <a:srgbClr val="000000"/>
                </a:solidFill>
                <a:latin typeface="Times New Roman" panose="02020603050405020304"/>
                <a:ea typeface="黑体" panose="02010609060101010101" charset="-122"/>
                <a:cs typeface="+mn-ea"/>
              </a:rPr>
              <a:t>21</a:t>
            </a:r>
            <a:r>
              <a:rPr lang="en-US" altLang="zh-CN" sz="2200" i="1" dirty="0">
                <a:solidFill>
                  <a:srgbClr val="000000"/>
                </a:solidFill>
                <a:latin typeface="Times New Roman" panose="02020603050405020304"/>
                <a:ea typeface="黑体" panose="02010609060101010101" charset="-122"/>
                <a:cs typeface="+mn-ea"/>
              </a:rPr>
              <a:t>x</a:t>
            </a:r>
            <a:r>
              <a:rPr lang="en-US" altLang="zh-CN" sz="2200" baseline="-25000" dirty="0">
                <a:solidFill>
                  <a:srgbClr val="000000"/>
                </a:solidFill>
                <a:latin typeface="Times New Roman" panose="02020603050405020304"/>
                <a:ea typeface="黑体" panose="02010609060101010101" charset="-122"/>
                <a:cs typeface="+mn-ea"/>
              </a:rPr>
              <a:t>2</a:t>
            </a:r>
            <a:r>
              <a:rPr lang="en-US" altLang="zh-CN" sz="2200" dirty="0">
                <a:solidFill>
                  <a:srgbClr val="000000"/>
                </a:solidFill>
                <a:latin typeface="Times New Roman" panose="02020603050405020304"/>
                <a:ea typeface="黑体" panose="02010609060101010101" charset="-122"/>
                <a:cs typeface="+mn-ea"/>
              </a:rPr>
              <a:t>+</a:t>
            </a:r>
            <a:r>
              <a:rPr lang="en-US" altLang="zh-CN" sz="2200" i="1" dirty="0">
                <a:solidFill>
                  <a:srgbClr val="000000"/>
                </a:solidFill>
                <a:latin typeface="Times New Roman" panose="02020603050405020304"/>
                <a:ea typeface="黑体" panose="02010609060101010101" charset="-122"/>
                <a:cs typeface="+mn-ea"/>
              </a:rPr>
              <a:t>b</a:t>
            </a:r>
            <a:r>
              <a:rPr lang="en-US" altLang="zh-CN" sz="2200" baseline="-25000" dirty="0">
                <a:solidFill>
                  <a:srgbClr val="000000"/>
                </a:solidFill>
                <a:latin typeface="Times New Roman" panose="02020603050405020304"/>
                <a:ea typeface="黑体" panose="02010609060101010101" charset="-122"/>
                <a:cs typeface="+mn-ea"/>
              </a:rPr>
              <a:t>1</a:t>
            </a:r>
            <a:r>
              <a:rPr lang="en-US" altLang="zh-CN" sz="2200" dirty="0">
                <a:solidFill>
                  <a:srgbClr val="000000"/>
                </a:solidFill>
                <a:latin typeface="Times New Roman" panose="02020603050405020304"/>
                <a:ea typeface="黑体" panose="02010609060101010101" charset="-122"/>
                <a:cs typeface="+mn-ea"/>
              </a:rPr>
              <a:t>) =</a:t>
            </a:r>
            <a:r>
              <a:rPr lang="en-US" altLang="zh-CN" sz="2200" i="1" dirty="0">
                <a:solidFill>
                  <a:srgbClr val="000000"/>
                </a:solidFill>
                <a:latin typeface="Times New Roman" panose="02020603050405020304"/>
                <a:ea typeface="黑体" panose="02010609060101010101" charset="-122"/>
                <a:cs typeface="+mn-ea"/>
              </a:rPr>
              <a:t>f</a:t>
            </a:r>
            <a:r>
              <a:rPr lang="en-US" altLang="zh-CN" sz="2200" dirty="0">
                <a:solidFill>
                  <a:srgbClr val="000000"/>
                </a:solidFill>
                <a:latin typeface="Times New Roman" panose="02020603050405020304"/>
                <a:ea typeface="黑体" panose="02010609060101010101" charset="-122"/>
                <a:cs typeface="+mn-ea"/>
              </a:rPr>
              <a:t> ( 1*0 + 1*0 - 0.5) = 0</a:t>
            </a:r>
            <a:endParaRPr lang="en-US" altLang="zh-CN" sz="2200" dirty="0">
              <a:solidFill>
                <a:srgbClr val="000000"/>
              </a:solidFill>
              <a:latin typeface="Times New Roman" panose="02020603050405020304"/>
              <a:ea typeface="黑体" panose="02010609060101010101" charset="-122"/>
              <a:cs typeface="+mn-ea"/>
            </a:endParaRPr>
          </a:p>
          <a:p>
            <a:pPr marL="88900" lvl="1">
              <a:lnSpc>
                <a:spcPct val="150000"/>
              </a:lnSpc>
              <a:spcAft>
                <a:spcPts val="600"/>
              </a:spcAft>
            </a:pPr>
            <a:r>
              <a:rPr lang="zh-CN" altLang="en-US" sz="2200" dirty="0">
                <a:solidFill>
                  <a:srgbClr val="000000"/>
                </a:solidFill>
                <a:latin typeface="Times New Roman" panose="02020603050405020304"/>
                <a:ea typeface="黑体" panose="02010609060101010101" charset="-122"/>
                <a:cs typeface="+mn-ea"/>
              </a:rPr>
              <a:t>神经元</a:t>
            </a:r>
            <a:r>
              <a:rPr lang="en-US" altLang="zh-CN" sz="2200" dirty="0">
                <a:solidFill>
                  <a:srgbClr val="000000"/>
                </a:solidFill>
                <a:latin typeface="Times New Roman" panose="02020603050405020304"/>
                <a:ea typeface="黑体" panose="02010609060101010101" charset="-122"/>
                <a:cs typeface="+mn-ea"/>
              </a:rPr>
              <a:t>2</a:t>
            </a:r>
            <a:r>
              <a:rPr lang="zh-CN" altLang="en-US" sz="2200" dirty="0">
                <a:solidFill>
                  <a:srgbClr val="000000"/>
                </a:solidFill>
                <a:latin typeface="Times New Roman" panose="02020603050405020304"/>
                <a:ea typeface="黑体" panose="02010609060101010101" charset="-122"/>
                <a:cs typeface="+mn-ea"/>
              </a:rPr>
              <a:t>输出</a:t>
            </a:r>
            <a:r>
              <a:rPr lang="en-US" altLang="zh-CN" sz="2200" i="1" dirty="0">
                <a:solidFill>
                  <a:srgbClr val="000000"/>
                </a:solidFill>
                <a:latin typeface="Times New Roman" panose="02020603050405020304"/>
                <a:ea typeface="黑体" panose="02010609060101010101" charset="-122"/>
                <a:cs typeface="+mn-ea"/>
              </a:rPr>
              <a:t>s</a:t>
            </a:r>
            <a:r>
              <a:rPr lang="en-US" altLang="zh-CN" sz="2200" baseline="-25000" dirty="0">
                <a:solidFill>
                  <a:srgbClr val="000000"/>
                </a:solidFill>
                <a:latin typeface="Times New Roman" panose="02020603050405020304"/>
                <a:ea typeface="黑体" panose="02010609060101010101" charset="-122"/>
                <a:cs typeface="+mn-ea"/>
              </a:rPr>
              <a:t>2</a:t>
            </a:r>
            <a:r>
              <a:rPr lang="en-US" altLang="zh-CN" sz="2200" dirty="0">
                <a:solidFill>
                  <a:srgbClr val="000000"/>
                </a:solidFill>
                <a:latin typeface="Times New Roman" panose="02020603050405020304"/>
                <a:ea typeface="黑体" panose="02010609060101010101" charset="-122"/>
                <a:cs typeface="+mn-ea"/>
              </a:rPr>
              <a:t> = </a:t>
            </a:r>
            <a:r>
              <a:rPr lang="en-US" altLang="zh-CN" sz="2200" i="1" dirty="0">
                <a:solidFill>
                  <a:srgbClr val="000000"/>
                </a:solidFill>
                <a:latin typeface="Times New Roman" panose="02020603050405020304"/>
                <a:ea typeface="黑体" panose="02010609060101010101" charset="-122"/>
                <a:cs typeface="+mn-ea"/>
              </a:rPr>
              <a:t>f</a:t>
            </a:r>
            <a:r>
              <a:rPr lang="en-US" altLang="zh-CN" sz="2200" dirty="0">
                <a:solidFill>
                  <a:srgbClr val="000000"/>
                </a:solidFill>
                <a:latin typeface="Times New Roman" panose="02020603050405020304"/>
                <a:ea typeface="黑体" panose="02010609060101010101" charset="-122"/>
                <a:cs typeface="+mn-ea"/>
              </a:rPr>
              <a:t>(</a:t>
            </a:r>
            <a:r>
              <a:rPr lang="en-US" altLang="zh-CN" sz="2200" i="1" dirty="0">
                <a:solidFill>
                  <a:srgbClr val="000000"/>
                </a:solidFill>
                <a:latin typeface="Times New Roman" panose="02020603050405020304"/>
                <a:ea typeface="黑体" panose="02010609060101010101" charset="-122"/>
                <a:cs typeface="+mn-ea"/>
              </a:rPr>
              <a:t>w</a:t>
            </a:r>
            <a:r>
              <a:rPr lang="en-US" altLang="zh-CN" sz="2200" baseline="-25000" dirty="0">
                <a:solidFill>
                  <a:srgbClr val="000000"/>
                </a:solidFill>
                <a:latin typeface="Times New Roman" panose="02020603050405020304"/>
                <a:ea typeface="黑体" panose="02010609060101010101" charset="-122"/>
                <a:cs typeface="+mn-ea"/>
              </a:rPr>
              <a:t>12</a:t>
            </a:r>
            <a:r>
              <a:rPr lang="en-US" altLang="zh-CN" sz="2200" i="1" dirty="0">
                <a:solidFill>
                  <a:srgbClr val="000000"/>
                </a:solidFill>
                <a:latin typeface="Times New Roman" panose="02020603050405020304"/>
                <a:ea typeface="黑体" panose="02010609060101010101" charset="-122"/>
                <a:cs typeface="+mn-ea"/>
              </a:rPr>
              <a:t>x</a:t>
            </a:r>
            <a:r>
              <a:rPr lang="en-US" altLang="zh-CN" sz="2200" baseline="-25000" dirty="0">
                <a:solidFill>
                  <a:srgbClr val="000000"/>
                </a:solidFill>
                <a:latin typeface="Times New Roman" panose="02020603050405020304"/>
                <a:ea typeface="黑体" panose="02010609060101010101" charset="-122"/>
                <a:cs typeface="+mn-ea"/>
              </a:rPr>
              <a:t>1</a:t>
            </a:r>
            <a:r>
              <a:rPr lang="en-US" altLang="zh-CN" sz="2200" dirty="0">
                <a:solidFill>
                  <a:srgbClr val="000000"/>
                </a:solidFill>
                <a:latin typeface="Times New Roman" panose="02020603050405020304"/>
                <a:ea typeface="黑体" panose="02010609060101010101" charset="-122"/>
                <a:cs typeface="+mn-ea"/>
              </a:rPr>
              <a:t>+</a:t>
            </a:r>
            <a:r>
              <a:rPr lang="en-US" altLang="zh-CN" sz="2200" i="1" dirty="0">
                <a:solidFill>
                  <a:srgbClr val="000000"/>
                </a:solidFill>
                <a:latin typeface="Times New Roman" panose="02020603050405020304"/>
                <a:ea typeface="黑体" panose="02010609060101010101" charset="-122"/>
                <a:cs typeface="+mn-ea"/>
              </a:rPr>
              <a:t>w</a:t>
            </a:r>
            <a:r>
              <a:rPr lang="en-US" altLang="zh-CN" sz="2200" baseline="-25000" dirty="0">
                <a:solidFill>
                  <a:srgbClr val="000000"/>
                </a:solidFill>
                <a:latin typeface="Times New Roman" panose="02020603050405020304"/>
                <a:ea typeface="黑体" panose="02010609060101010101" charset="-122"/>
                <a:cs typeface="+mn-ea"/>
              </a:rPr>
              <a:t>22</a:t>
            </a:r>
            <a:r>
              <a:rPr lang="en-US" altLang="zh-CN" sz="2200" i="1" dirty="0">
                <a:solidFill>
                  <a:srgbClr val="000000"/>
                </a:solidFill>
                <a:latin typeface="Times New Roman" panose="02020603050405020304"/>
                <a:ea typeface="黑体" panose="02010609060101010101" charset="-122"/>
                <a:cs typeface="+mn-ea"/>
              </a:rPr>
              <a:t>x</a:t>
            </a:r>
            <a:r>
              <a:rPr lang="en-US" altLang="zh-CN" sz="2200" baseline="-25000" dirty="0">
                <a:solidFill>
                  <a:srgbClr val="000000"/>
                </a:solidFill>
                <a:latin typeface="Times New Roman" panose="02020603050405020304"/>
                <a:ea typeface="黑体" panose="02010609060101010101" charset="-122"/>
                <a:cs typeface="+mn-ea"/>
              </a:rPr>
              <a:t>2</a:t>
            </a:r>
            <a:r>
              <a:rPr lang="en-US" altLang="zh-CN" sz="2200" dirty="0">
                <a:solidFill>
                  <a:srgbClr val="000000"/>
                </a:solidFill>
                <a:latin typeface="Times New Roman" panose="02020603050405020304"/>
                <a:ea typeface="黑体" panose="02010609060101010101" charset="-122"/>
                <a:cs typeface="+mn-ea"/>
              </a:rPr>
              <a:t>+</a:t>
            </a:r>
            <a:r>
              <a:rPr lang="en-US" altLang="zh-CN" sz="2200" i="1" dirty="0">
                <a:solidFill>
                  <a:srgbClr val="000000"/>
                </a:solidFill>
                <a:latin typeface="Times New Roman" panose="02020603050405020304"/>
                <a:ea typeface="黑体" panose="02010609060101010101" charset="-122"/>
                <a:cs typeface="+mn-ea"/>
              </a:rPr>
              <a:t>b</a:t>
            </a:r>
            <a:r>
              <a:rPr lang="en-US" altLang="zh-CN" sz="2200" baseline="-25000" dirty="0">
                <a:solidFill>
                  <a:srgbClr val="000000"/>
                </a:solidFill>
                <a:latin typeface="Times New Roman" panose="02020603050405020304"/>
                <a:ea typeface="黑体" panose="02010609060101010101" charset="-122"/>
                <a:cs typeface="+mn-ea"/>
              </a:rPr>
              <a:t>2</a:t>
            </a:r>
            <a:r>
              <a:rPr lang="en-US" altLang="zh-CN" sz="2200" dirty="0">
                <a:solidFill>
                  <a:srgbClr val="000000"/>
                </a:solidFill>
                <a:latin typeface="Times New Roman" panose="02020603050405020304"/>
                <a:ea typeface="黑体" panose="02010609060101010101" charset="-122"/>
                <a:cs typeface="+mn-ea"/>
              </a:rPr>
              <a:t>) = </a:t>
            </a:r>
            <a:r>
              <a:rPr lang="en-US" altLang="zh-CN" sz="2200" i="1" dirty="0">
                <a:solidFill>
                  <a:srgbClr val="000000"/>
                </a:solidFill>
                <a:latin typeface="Times New Roman" panose="02020603050405020304"/>
                <a:ea typeface="黑体" panose="02010609060101010101" charset="-122"/>
                <a:cs typeface="+mn-ea"/>
              </a:rPr>
              <a:t>f</a:t>
            </a:r>
            <a:r>
              <a:rPr lang="en-US" altLang="zh-CN" sz="2200" dirty="0">
                <a:solidFill>
                  <a:srgbClr val="000000"/>
                </a:solidFill>
                <a:latin typeface="Times New Roman" panose="02020603050405020304"/>
                <a:ea typeface="黑体" panose="02010609060101010101" charset="-122"/>
                <a:cs typeface="+mn-ea"/>
              </a:rPr>
              <a:t>(-1*0 + -1*0 + 1.5) = 1</a:t>
            </a:r>
            <a:endParaRPr lang="en-US" altLang="zh-CN" sz="2200" dirty="0">
              <a:solidFill>
                <a:srgbClr val="000000"/>
              </a:solidFill>
              <a:latin typeface="Times New Roman" panose="02020603050405020304"/>
              <a:ea typeface="黑体" panose="02010609060101010101" charset="-122"/>
              <a:cs typeface="+mn-ea"/>
            </a:endParaRPr>
          </a:p>
          <a:p>
            <a:pPr marL="88900" lvl="1">
              <a:lnSpc>
                <a:spcPct val="150000"/>
              </a:lnSpc>
              <a:spcAft>
                <a:spcPts val="600"/>
              </a:spcAft>
            </a:pPr>
            <a:r>
              <a:rPr lang="zh-CN" altLang="en-US" sz="2200" dirty="0">
                <a:solidFill>
                  <a:srgbClr val="000000"/>
                </a:solidFill>
                <a:latin typeface="Times New Roman" panose="02020603050405020304"/>
                <a:ea typeface="黑体" panose="02010609060101010101" charset="-122"/>
                <a:cs typeface="+mn-ea"/>
              </a:rPr>
              <a:t>神经元</a:t>
            </a:r>
            <a:r>
              <a:rPr lang="en-US" altLang="zh-CN" sz="2200" dirty="0">
                <a:solidFill>
                  <a:srgbClr val="000000"/>
                </a:solidFill>
                <a:latin typeface="Times New Roman" panose="02020603050405020304"/>
                <a:ea typeface="黑体" panose="02010609060101010101" charset="-122"/>
                <a:cs typeface="+mn-ea"/>
              </a:rPr>
              <a:t>3</a:t>
            </a:r>
            <a:r>
              <a:rPr lang="zh-CN" altLang="en-US" sz="2200" dirty="0">
                <a:solidFill>
                  <a:srgbClr val="000000"/>
                </a:solidFill>
                <a:latin typeface="Times New Roman" panose="02020603050405020304"/>
                <a:ea typeface="黑体" panose="02010609060101010101" charset="-122"/>
                <a:cs typeface="+mn-ea"/>
              </a:rPr>
              <a:t>输出</a:t>
            </a:r>
            <a:r>
              <a:rPr lang="en-US" altLang="zh-CN" sz="2200" i="1" dirty="0">
                <a:solidFill>
                  <a:srgbClr val="000000"/>
                </a:solidFill>
                <a:latin typeface="Times New Roman" panose="02020603050405020304"/>
                <a:ea typeface="黑体" panose="02010609060101010101" charset="-122"/>
                <a:cs typeface="+mn-ea"/>
              </a:rPr>
              <a:t>y</a:t>
            </a:r>
            <a:r>
              <a:rPr lang="en-US" altLang="zh-CN" sz="2200" dirty="0">
                <a:solidFill>
                  <a:srgbClr val="000000"/>
                </a:solidFill>
                <a:latin typeface="Times New Roman" panose="02020603050405020304"/>
                <a:ea typeface="黑体" panose="02010609060101010101" charset="-122"/>
                <a:cs typeface="+mn-ea"/>
              </a:rPr>
              <a:t>= </a:t>
            </a:r>
            <a:r>
              <a:rPr lang="en-US" altLang="zh-CN" sz="2200" i="1" dirty="0">
                <a:solidFill>
                  <a:srgbClr val="000000"/>
                </a:solidFill>
                <a:latin typeface="Times New Roman" panose="02020603050405020304"/>
                <a:ea typeface="黑体" panose="02010609060101010101" charset="-122"/>
                <a:cs typeface="+mn-ea"/>
              </a:rPr>
              <a:t>f</a:t>
            </a:r>
            <a:r>
              <a:rPr lang="en-US" altLang="zh-CN" sz="2200" dirty="0">
                <a:solidFill>
                  <a:srgbClr val="000000"/>
                </a:solidFill>
                <a:latin typeface="Times New Roman" panose="02020603050405020304"/>
                <a:ea typeface="黑体" panose="02010609060101010101" charset="-122"/>
                <a:cs typeface="+mn-ea"/>
              </a:rPr>
              <a:t>(</a:t>
            </a:r>
            <a:r>
              <a:rPr lang="en-US" altLang="zh-CN" sz="2200" i="1" dirty="0">
                <a:solidFill>
                  <a:srgbClr val="000000"/>
                </a:solidFill>
                <a:latin typeface="Times New Roman" panose="02020603050405020304"/>
                <a:ea typeface="黑体" panose="02010609060101010101" charset="-122"/>
                <a:cs typeface="+mn-ea"/>
              </a:rPr>
              <a:t>w</a:t>
            </a:r>
            <a:r>
              <a:rPr lang="en-US" altLang="zh-CN" sz="2200" baseline="-25000" dirty="0">
                <a:solidFill>
                  <a:srgbClr val="000000"/>
                </a:solidFill>
                <a:latin typeface="Times New Roman" panose="02020603050405020304"/>
                <a:ea typeface="黑体" panose="02010609060101010101" charset="-122"/>
                <a:cs typeface="+mn-ea"/>
              </a:rPr>
              <a:t>3</a:t>
            </a:r>
            <a:r>
              <a:rPr lang="en-US" altLang="zh-CN" sz="2200" i="1" dirty="0">
                <a:solidFill>
                  <a:srgbClr val="000000"/>
                </a:solidFill>
                <a:latin typeface="Times New Roman" panose="02020603050405020304"/>
                <a:ea typeface="黑体" panose="02010609060101010101" charset="-122"/>
                <a:cs typeface="+mn-ea"/>
              </a:rPr>
              <a:t>s</a:t>
            </a:r>
            <a:r>
              <a:rPr lang="en-US" altLang="zh-CN" sz="2200" baseline="-25000" dirty="0">
                <a:solidFill>
                  <a:srgbClr val="000000"/>
                </a:solidFill>
                <a:latin typeface="Times New Roman" panose="02020603050405020304"/>
                <a:ea typeface="黑体" panose="02010609060101010101" charset="-122"/>
                <a:cs typeface="+mn-ea"/>
              </a:rPr>
              <a:t>1</a:t>
            </a:r>
            <a:r>
              <a:rPr lang="en-US" altLang="zh-CN" sz="2200" dirty="0">
                <a:solidFill>
                  <a:srgbClr val="000000"/>
                </a:solidFill>
                <a:latin typeface="Times New Roman" panose="02020603050405020304"/>
                <a:ea typeface="黑体" panose="02010609060101010101" charset="-122"/>
                <a:cs typeface="+mn-ea"/>
              </a:rPr>
              <a:t>+</a:t>
            </a:r>
            <a:r>
              <a:rPr lang="en-US" altLang="zh-CN" sz="2200" i="1" dirty="0">
                <a:solidFill>
                  <a:srgbClr val="000000"/>
                </a:solidFill>
                <a:latin typeface="Times New Roman" panose="02020603050405020304"/>
                <a:ea typeface="黑体" panose="02010609060101010101" charset="-122"/>
                <a:cs typeface="+mn-ea"/>
              </a:rPr>
              <a:t>w</a:t>
            </a:r>
            <a:r>
              <a:rPr lang="en-US" altLang="zh-CN" sz="2200" baseline="-25000" dirty="0">
                <a:solidFill>
                  <a:srgbClr val="000000"/>
                </a:solidFill>
                <a:latin typeface="Times New Roman" panose="02020603050405020304"/>
                <a:ea typeface="黑体" panose="02010609060101010101" charset="-122"/>
                <a:cs typeface="+mn-ea"/>
              </a:rPr>
              <a:t>4</a:t>
            </a:r>
            <a:r>
              <a:rPr lang="en-US" altLang="zh-CN" sz="2200" i="1" dirty="0">
                <a:solidFill>
                  <a:srgbClr val="000000"/>
                </a:solidFill>
                <a:latin typeface="Times New Roman" panose="02020603050405020304"/>
                <a:ea typeface="黑体" panose="02010609060101010101" charset="-122"/>
                <a:cs typeface="+mn-ea"/>
              </a:rPr>
              <a:t>s</a:t>
            </a:r>
            <a:r>
              <a:rPr lang="en-US" altLang="zh-CN" sz="2200" baseline="-25000" dirty="0">
                <a:solidFill>
                  <a:srgbClr val="000000"/>
                </a:solidFill>
                <a:latin typeface="Times New Roman" panose="02020603050405020304"/>
                <a:ea typeface="黑体" panose="02010609060101010101" charset="-122"/>
                <a:cs typeface="+mn-ea"/>
              </a:rPr>
              <a:t>2</a:t>
            </a:r>
            <a:r>
              <a:rPr lang="en-US" altLang="zh-CN" sz="2200" dirty="0">
                <a:solidFill>
                  <a:srgbClr val="000000"/>
                </a:solidFill>
                <a:latin typeface="Times New Roman" panose="02020603050405020304"/>
                <a:ea typeface="黑体" panose="02010609060101010101" charset="-122"/>
                <a:cs typeface="+mn-ea"/>
              </a:rPr>
              <a:t>+</a:t>
            </a:r>
            <a:r>
              <a:rPr lang="en-US" altLang="zh-CN" sz="2200" i="1" dirty="0">
                <a:solidFill>
                  <a:srgbClr val="000000"/>
                </a:solidFill>
                <a:latin typeface="Times New Roman" panose="02020603050405020304"/>
                <a:ea typeface="黑体" panose="02010609060101010101" charset="-122"/>
                <a:cs typeface="+mn-ea"/>
              </a:rPr>
              <a:t>b</a:t>
            </a:r>
            <a:r>
              <a:rPr lang="en-US" altLang="zh-CN" sz="2200" baseline="-25000" dirty="0">
                <a:solidFill>
                  <a:srgbClr val="000000"/>
                </a:solidFill>
                <a:latin typeface="Times New Roman" panose="02020603050405020304"/>
                <a:ea typeface="黑体" panose="02010609060101010101" charset="-122"/>
                <a:cs typeface="+mn-ea"/>
              </a:rPr>
              <a:t>3</a:t>
            </a:r>
            <a:r>
              <a:rPr lang="en-US" altLang="zh-CN" sz="2200" dirty="0">
                <a:solidFill>
                  <a:srgbClr val="000000"/>
                </a:solidFill>
                <a:latin typeface="Times New Roman" panose="02020603050405020304"/>
                <a:ea typeface="黑体" panose="02010609060101010101" charset="-122"/>
                <a:cs typeface="+mn-ea"/>
              </a:rPr>
              <a:t>) = </a:t>
            </a:r>
            <a:r>
              <a:rPr lang="en-US" altLang="zh-CN" sz="2200" i="1" dirty="0">
                <a:solidFill>
                  <a:srgbClr val="000000"/>
                </a:solidFill>
                <a:latin typeface="Times New Roman" panose="02020603050405020304"/>
                <a:ea typeface="黑体" panose="02010609060101010101" charset="-122"/>
                <a:cs typeface="+mn-ea"/>
              </a:rPr>
              <a:t>f</a:t>
            </a:r>
            <a:r>
              <a:rPr lang="en-US" altLang="zh-CN" sz="2200" dirty="0">
                <a:solidFill>
                  <a:srgbClr val="000000"/>
                </a:solidFill>
                <a:latin typeface="Times New Roman" panose="02020603050405020304"/>
                <a:ea typeface="黑体" panose="02010609060101010101" charset="-122"/>
                <a:cs typeface="+mn-ea"/>
              </a:rPr>
              <a:t>(1*0 + 1*1 - 1.5) = 0</a:t>
            </a:r>
            <a:endParaRPr lang="en-US" altLang="zh-CN" sz="2200" dirty="0">
              <a:solidFill>
                <a:srgbClr val="000000"/>
              </a:solidFill>
              <a:latin typeface="Times New Roman" panose="02020603050405020304"/>
              <a:ea typeface="黑体" panose="02010609060101010101" charset="-122"/>
              <a:cs typeface="+mn-ea"/>
            </a:endParaRPr>
          </a:p>
          <a:p>
            <a:pPr marL="431800" lvl="1" indent="-342900">
              <a:lnSpc>
                <a:spcPct val="150000"/>
              </a:lnSpc>
              <a:spcAft>
                <a:spcPts val="600"/>
              </a:spcAft>
              <a:buFont typeface="Arial" panose="020B0604020202020204" pitchFamily="34" charset="0"/>
              <a:buChar char="•"/>
            </a:pPr>
            <a:r>
              <a:rPr lang="zh-CN" altLang="en-US" sz="2200" dirty="0">
                <a:solidFill>
                  <a:srgbClr val="000000"/>
                </a:solidFill>
                <a:latin typeface="Times New Roman" panose="02020603050405020304"/>
                <a:ea typeface="黑体" panose="02010609060101010101" charset="-122"/>
                <a:cs typeface="+mn-ea"/>
              </a:rPr>
              <a:t>将样本</a:t>
            </a:r>
            <a:r>
              <a:rPr lang="en-US" altLang="zh-CN" sz="2200" i="1" dirty="0">
                <a:solidFill>
                  <a:srgbClr val="000000"/>
                </a:solidFill>
                <a:latin typeface="Times New Roman" panose="02020603050405020304"/>
                <a:ea typeface="黑体" panose="02010609060101010101" charset="-122"/>
                <a:cs typeface="+mn-ea"/>
              </a:rPr>
              <a:t>x</a:t>
            </a:r>
            <a:r>
              <a:rPr lang="en-US" altLang="zh-CN" sz="2200" baseline="-25000" dirty="0">
                <a:solidFill>
                  <a:srgbClr val="000000"/>
                </a:solidFill>
                <a:latin typeface="Times New Roman" panose="02020603050405020304"/>
                <a:ea typeface="黑体" panose="02010609060101010101" charset="-122"/>
                <a:cs typeface="+mn-ea"/>
              </a:rPr>
              <a:t>1</a:t>
            </a:r>
            <a:r>
              <a:rPr lang="en-US" altLang="zh-CN" sz="2200" dirty="0">
                <a:solidFill>
                  <a:srgbClr val="000000"/>
                </a:solidFill>
                <a:latin typeface="Times New Roman" panose="02020603050405020304"/>
                <a:ea typeface="黑体" panose="02010609060101010101" charset="-122"/>
                <a:cs typeface="+mn-ea"/>
              </a:rPr>
              <a:t>,</a:t>
            </a:r>
            <a:r>
              <a:rPr lang="en-US" altLang="zh-CN" sz="2200" i="1" dirty="0">
                <a:solidFill>
                  <a:srgbClr val="000000"/>
                </a:solidFill>
                <a:latin typeface="Times New Roman" panose="02020603050405020304"/>
                <a:ea typeface="黑体" panose="02010609060101010101" charset="-122"/>
                <a:cs typeface="+mn-ea"/>
              </a:rPr>
              <a:t>x</a:t>
            </a:r>
            <a:r>
              <a:rPr lang="en-US" altLang="zh-CN" sz="2200" baseline="-25000" dirty="0">
                <a:solidFill>
                  <a:srgbClr val="000000"/>
                </a:solidFill>
                <a:latin typeface="Times New Roman" panose="02020603050405020304"/>
                <a:ea typeface="黑体" panose="02010609060101010101" charset="-122"/>
                <a:cs typeface="+mn-ea"/>
              </a:rPr>
              <a:t>2</a:t>
            </a:r>
            <a:r>
              <a:rPr lang="en-US" altLang="zh-CN" sz="2200" dirty="0">
                <a:solidFill>
                  <a:srgbClr val="000000"/>
                </a:solidFill>
                <a:latin typeface="Times New Roman" panose="02020603050405020304"/>
                <a:ea typeface="黑体" panose="02010609060101010101" charset="-122"/>
                <a:cs typeface="+mn-ea"/>
              </a:rPr>
              <a:t>=</a:t>
            </a:r>
            <a:r>
              <a:rPr lang="zh-CN" altLang="en-US" sz="2200" dirty="0">
                <a:solidFill>
                  <a:srgbClr val="000000"/>
                </a:solidFill>
                <a:latin typeface="Times New Roman" panose="02020603050405020304"/>
                <a:ea typeface="黑体" panose="02010609060101010101" charset="-122"/>
                <a:cs typeface="+mn-ea"/>
              </a:rPr>
              <a:t>（</a:t>
            </a:r>
            <a:r>
              <a:rPr lang="en-US" altLang="zh-CN" sz="2200" dirty="0">
                <a:solidFill>
                  <a:srgbClr val="000000"/>
                </a:solidFill>
                <a:latin typeface="Times New Roman" panose="02020603050405020304"/>
                <a:ea typeface="黑体" panose="02010609060101010101" charset="-122"/>
                <a:cs typeface="+mn-ea"/>
              </a:rPr>
              <a:t>0</a:t>
            </a:r>
            <a:r>
              <a:rPr lang="zh-CN" altLang="en-US" sz="2200" dirty="0">
                <a:solidFill>
                  <a:srgbClr val="000000"/>
                </a:solidFill>
                <a:latin typeface="Times New Roman" panose="02020603050405020304"/>
                <a:ea typeface="黑体" panose="02010609060101010101" charset="-122"/>
                <a:cs typeface="+mn-ea"/>
              </a:rPr>
              <a:t>，</a:t>
            </a:r>
            <a:r>
              <a:rPr lang="en-US" altLang="zh-CN" sz="2200" dirty="0">
                <a:solidFill>
                  <a:srgbClr val="000000"/>
                </a:solidFill>
                <a:latin typeface="Times New Roman" panose="02020603050405020304"/>
                <a:ea typeface="黑体" panose="02010609060101010101" charset="-122"/>
                <a:cs typeface="+mn-ea"/>
              </a:rPr>
              <a:t>1</a:t>
            </a:r>
            <a:r>
              <a:rPr lang="zh-CN" altLang="en-US" sz="2200" dirty="0">
                <a:solidFill>
                  <a:srgbClr val="000000"/>
                </a:solidFill>
                <a:latin typeface="Times New Roman" panose="02020603050405020304"/>
                <a:ea typeface="黑体" panose="02010609060101010101" charset="-122"/>
                <a:cs typeface="+mn-ea"/>
              </a:rPr>
              <a:t>）输入模型，输出</a:t>
            </a:r>
            <a:r>
              <a:rPr lang="en-US" altLang="zh-CN" sz="2200" i="1" dirty="0">
                <a:solidFill>
                  <a:srgbClr val="000000"/>
                </a:solidFill>
                <a:latin typeface="Times New Roman" panose="02020603050405020304"/>
                <a:ea typeface="黑体" panose="02010609060101010101" charset="-122"/>
                <a:cs typeface="+mn-ea"/>
              </a:rPr>
              <a:t>y</a:t>
            </a:r>
            <a:r>
              <a:rPr lang="en-US" altLang="zh-CN" sz="2200" dirty="0">
                <a:solidFill>
                  <a:srgbClr val="000000"/>
                </a:solidFill>
                <a:latin typeface="Times New Roman" panose="02020603050405020304"/>
                <a:ea typeface="黑体" panose="02010609060101010101" charset="-122"/>
                <a:cs typeface="+mn-ea"/>
              </a:rPr>
              <a:t>=1</a:t>
            </a:r>
            <a:r>
              <a:rPr lang="zh-CN" altLang="en-US" sz="2200" dirty="0">
                <a:solidFill>
                  <a:srgbClr val="000000"/>
                </a:solidFill>
                <a:latin typeface="Times New Roman" panose="02020603050405020304"/>
                <a:ea typeface="黑体" panose="02010609060101010101" charset="-122"/>
                <a:cs typeface="+mn-ea"/>
              </a:rPr>
              <a:t>，计算如下：</a:t>
            </a:r>
            <a:endParaRPr lang="zh-CN" altLang="en-US" sz="2200" dirty="0">
              <a:solidFill>
                <a:srgbClr val="000000"/>
              </a:solidFill>
              <a:latin typeface="Times New Roman" panose="02020603050405020304"/>
              <a:ea typeface="黑体" panose="02010609060101010101" charset="-122"/>
              <a:cs typeface="+mn-ea"/>
            </a:endParaRPr>
          </a:p>
          <a:p>
            <a:pPr marL="88900" lvl="1">
              <a:lnSpc>
                <a:spcPct val="150000"/>
              </a:lnSpc>
              <a:spcAft>
                <a:spcPts val="600"/>
              </a:spcAft>
            </a:pPr>
            <a:r>
              <a:rPr lang="en-US" altLang="zh-CN" sz="2200" i="1" dirty="0">
                <a:solidFill>
                  <a:srgbClr val="000000"/>
                </a:solidFill>
                <a:latin typeface="Times New Roman" panose="02020603050405020304"/>
                <a:ea typeface="黑体" panose="02010609060101010101" charset="-122"/>
                <a:cs typeface="+mn-ea"/>
              </a:rPr>
              <a:t>s</a:t>
            </a:r>
            <a:r>
              <a:rPr lang="en-US" altLang="zh-CN" sz="2200" baseline="-25000" dirty="0">
                <a:solidFill>
                  <a:srgbClr val="000000"/>
                </a:solidFill>
                <a:latin typeface="Times New Roman" panose="02020603050405020304"/>
                <a:ea typeface="黑体" panose="02010609060101010101" charset="-122"/>
                <a:cs typeface="+mn-ea"/>
              </a:rPr>
              <a:t>1</a:t>
            </a:r>
            <a:r>
              <a:rPr lang="en-US" altLang="zh-CN" sz="2200" dirty="0">
                <a:solidFill>
                  <a:srgbClr val="000000"/>
                </a:solidFill>
                <a:latin typeface="Times New Roman" panose="02020603050405020304"/>
                <a:ea typeface="黑体" panose="02010609060101010101" charset="-122"/>
                <a:cs typeface="+mn-ea"/>
              </a:rPr>
              <a:t> = </a:t>
            </a:r>
            <a:r>
              <a:rPr lang="en-US" altLang="zh-CN" sz="2200" i="1" dirty="0">
                <a:solidFill>
                  <a:srgbClr val="000000"/>
                </a:solidFill>
                <a:latin typeface="Times New Roman" panose="02020603050405020304"/>
                <a:ea typeface="黑体" panose="02010609060101010101" charset="-122"/>
                <a:cs typeface="+mn-ea"/>
              </a:rPr>
              <a:t>f</a:t>
            </a:r>
            <a:r>
              <a:rPr lang="en-US" altLang="zh-CN" sz="2200" dirty="0">
                <a:solidFill>
                  <a:srgbClr val="000000"/>
                </a:solidFill>
                <a:latin typeface="Times New Roman" panose="02020603050405020304"/>
                <a:ea typeface="黑体" panose="02010609060101010101" charset="-122"/>
                <a:cs typeface="+mn-ea"/>
              </a:rPr>
              <a:t>(</a:t>
            </a:r>
            <a:r>
              <a:rPr lang="en-US" altLang="zh-CN" sz="2200" i="1" dirty="0">
                <a:solidFill>
                  <a:srgbClr val="000000"/>
                </a:solidFill>
                <a:latin typeface="Times New Roman" panose="02020603050405020304"/>
                <a:ea typeface="黑体" panose="02010609060101010101" charset="-122"/>
                <a:cs typeface="+mn-ea"/>
              </a:rPr>
              <a:t>w</a:t>
            </a:r>
            <a:r>
              <a:rPr lang="en-US" altLang="zh-CN" sz="2200" baseline="-25000" dirty="0">
                <a:solidFill>
                  <a:srgbClr val="000000"/>
                </a:solidFill>
                <a:latin typeface="Times New Roman" panose="02020603050405020304"/>
                <a:ea typeface="黑体" panose="02010609060101010101" charset="-122"/>
                <a:cs typeface="+mn-ea"/>
              </a:rPr>
              <a:t>11</a:t>
            </a:r>
            <a:r>
              <a:rPr lang="en-US" altLang="zh-CN" sz="2200" i="1" dirty="0">
                <a:solidFill>
                  <a:srgbClr val="000000"/>
                </a:solidFill>
                <a:latin typeface="Times New Roman" panose="02020603050405020304"/>
                <a:ea typeface="黑体" panose="02010609060101010101" charset="-122"/>
                <a:cs typeface="+mn-ea"/>
              </a:rPr>
              <a:t>x</a:t>
            </a:r>
            <a:r>
              <a:rPr lang="en-US" altLang="zh-CN" sz="2200" baseline="-25000" dirty="0">
                <a:solidFill>
                  <a:srgbClr val="000000"/>
                </a:solidFill>
                <a:latin typeface="Times New Roman" panose="02020603050405020304"/>
                <a:ea typeface="黑体" panose="02010609060101010101" charset="-122"/>
                <a:cs typeface="+mn-ea"/>
              </a:rPr>
              <a:t>1</a:t>
            </a:r>
            <a:r>
              <a:rPr lang="en-US" altLang="zh-CN" sz="2200" dirty="0">
                <a:solidFill>
                  <a:srgbClr val="000000"/>
                </a:solidFill>
                <a:latin typeface="Times New Roman" panose="02020603050405020304"/>
                <a:ea typeface="黑体" panose="02010609060101010101" charset="-122"/>
                <a:cs typeface="+mn-ea"/>
              </a:rPr>
              <a:t>+</a:t>
            </a:r>
            <a:r>
              <a:rPr lang="en-US" altLang="zh-CN" sz="2200" i="1" dirty="0">
                <a:solidFill>
                  <a:srgbClr val="000000"/>
                </a:solidFill>
                <a:latin typeface="Times New Roman" panose="02020603050405020304"/>
                <a:ea typeface="黑体" panose="02010609060101010101" charset="-122"/>
                <a:cs typeface="+mn-ea"/>
              </a:rPr>
              <a:t>w</a:t>
            </a:r>
            <a:r>
              <a:rPr lang="en-US" altLang="zh-CN" sz="2200" baseline="-25000" dirty="0">
                <a:solidFill>
                  <a:srgbClr val="000000"/>
                </a:solidFill>
                <a:latin typeface="Times New Roman" panose="02020603050405020304"/>
                <a:ea typeface="黑体" panose="02010609060101010101" charset="-122"/>
                <a:cs typeface="+mn-ea"/>
              </a:rPr>
              <a:t>21</a:t>
            </a:r>
            <a:r>
              <a:rPr lang="en-US" altLang="zh-CN" sz="2200" i="1" dirty="0">
                <a:solidFill>
                  <a:srgbClr val="000000"/>
                </a:solidFill>
                <a:latin typeface="Times New Roman" panose="02020603050405020304"/>
                <a:ea typeface="黑体" panose="02010609060101010101" charset="-122"/>
                <a:cs typeface="+mn-ea"/>
              </a:rPr>
              <a:t>x</a:t>
            </a:r>
            <a:r>
              <a:rPr lang="en-US" altLang="zh-CN" sz="2200" baseline="-25000" dirty="0">
                <a:solidFill>
                  <a:srgbClr val="000000"/>
                </a:solidFill>
                <a:latin typeface="Times New Roman" panose="02020603050405020304"/>
                <a:ea typeface="黑体" panose="02010609060101010101" charset="-122"/>
                <a:cs typeface="+mn-ea"/>
              </a:rPr>
              <a:t>2</a:t>
            </a:r>
            <a:r>
              <a:rPr lang="en-US" altLang="zh-CN" sz="2200" dirty="0">
                <a:solidFill>
                  <a:srgbClr val="000000"/>
                </a:solidFill>
                <a:latin typeface="Times New Roman" panose="02020603050405020304"/>
                <a:ea typeface="黑体" panose="02010609060101010101" charset="-122"/>
                <a:cs typeface="+mn-ea"/>
              </a:rPr>
              <a:t>+</a:t>
            </a:r>
            <a:r>
              <a:rPr lang="en-US" altLang="zh-CN" sz="2200" i="1" dirty="0">
                <a:solidFill>
                  <a:srgbClr val="000000"/>
                </a:solidFill>
                <a:latin typeface="Times New Roman" panose="02020603050405020304"/>
                <a:ea typeface="黑体" panose="02010609060101010101" charset="-122"/>
                <a:cs typeface="+mn-ea"/>
              </a:rPr>
              <a:t>b</a:t>
            </a:r>
            <a:r>
              <a:rPr lang="en-US" altLang="zh-CN" sz="2200" baseline="-25000" dirty="0">
                <a:solidFill>
                  <a:srgbClr val="000000"/>
                </a:solidFill>
                <a:latin typeface="Times New Roman" panose="02020603050405020304"/>
                <a:ea typeface="黑体" panose="02010609060101010101" charset="-122"/>
                <a:cs typeface="+mn-ea"/>
              </a:rPr>
              <a:t>1</a:t>
            </a:r>
            <a:r>
              <a:rPr lang="en-US" altLang="zh-CN" sz="2200" dirty="0">
                <a:solidFill>
                  <a:srgbClr val="000000"/>
                </a:solidFill>
                <a:latin typeface="Times New Roman" panose="02020603050405020304"/>
                <a:ea typeface="黑体" panose="02010609060101010101" charset="-122"/>
                <a:cs typeface="+mn-ea"/>
              </a:rPr>
              <a:t>)=</a:t>
            </a:r>
            <a:r>
              <a:rPr lang="en-US" altLang="zh-CN" sz="2200" i="1" dirty="0">
                <a:solidFill>
                  <a:srgbClr val="000000"/>
                </a:solidFill>
                <a:latin typeface="Times New Roman" panose="02020603050405020304"/>
                <a:ea typeface="黑体" panose="02010609060101010101" charset="-122"/>
                <a:cs typeface="+mn-ea"/>
              </a:rPr>
              <a:t>f</a:t>
            </a:r>
            <a:r>
              <a:rPr lang="en-US" altLang="zh-CN" sz="2200" dirty="0">
                <a:solidFill>
                  <a:srgbClr val="000000"/>
                </a:solidFill>
                <a:latin typeface="Times New Roman" panose="02020603050405020304"/>
                <a:ea typeface="黑体" panose="02010609060101010101" charset="-122"/>
                <a:cs typeface="+mn-ea"/>
              </a:rPr>
              <a:t>(1*0 + 1*1 - 0.5) = 1</a:t>
            </a:r>
            <a:endParaRPr lang="en-US" altLang="zh-CN" sz="2200" dirty="0">
              <a:solidFill>
                <a:srgbClr val="000000"/>
              </a:solidFill>
              <a:latin typeface="Times New Roman" panose="02020603050405020304"/>
              <a:ea typeface="黑体" panose="02010609060101010101" charset="-122"/>
              <a:cs typeface="+mn-ea"/>
            </a:endParaRPr>
          </a:p>
          <a:p>
            <a:pPr marL="88900" lvl="1">
              <a:lnSpc>
                <a:spcPct val="150000"/>
              </a:lnSpc>
              <a:spcAft>
                <a:spcPts val="600"/>
              </a:spcAft>
            </a:pPr>
            <a:r>
              <a:rPr lang="en-US" altLang="zh-CN" sz="2200" i="1" dirty="0">
                <a:solidFill>
                  <a:srgbClr val="000000"/>
                </a:solidFill>
                <a:latin typeface="Times New Roman" panose="02020603050405020304"/>
                <a:ea typeface="黑体" panose="02010609060101010101" charset="-122"/>
                <a:cs typeface="+mn-ea"/>
              </a:rPr>
              <a:t>s</a:t>
            </a:r>
            <a:r>
              <a:rPr lang="en-US" altLang="zh-CN" sz="2200" baseline="-25000" dirty="0">
                <a:solidFill>
                  <a:srgbClr val="000000"/>
                </a:solidFill>
                <a:latin typeface="Times New Roman" panose="02020603050405020304"/>
                <a:ea typeface="黑体" panose="02010609060101010101" charset="-122"/>
                <a:cs typeface="+mn-ea"/>
              </a:rPr>
              <a:t>2 </a:t>
            </a:r>
            <a:r>
              <a:rPr lang="en-US" altLang="zh-CN" sz="2200" dirty="0">
                <a:solidFill>
                  <a:srgbClr val="000000"/>
                </a:solidFill>
                <a:latin typeface="Times New Roman" panose="02020603050405020304"/>
                <a:ea typeface="黑体" panose="02010609060101010101" charset="-122"/>
                <a:cs typeface="+mn-ea"/>
              </a:rPr>
              <a:t>= </a:t>
            </a:r>
            <a:r>
              <a:rPr lang="en-US" altLang="zh-CN" sz="2200" i="1" dirty="0">
                <a:solidFill>
                  <a:srgbClr val="000000"/>
                </a:solidFill>
                <a:latin typeface="Times New Roman" panose="02020603050405020304"/>
                <a:ea typeface="黑体" panose="02010609060101010101" charset="-122"/>
                <a:cs typeface="+mn-ea"/>
              </a:rPr>
              <a:t>f</a:t>
            </a:r>
            <a:r>
              <a:rPr lang="en-US" altLang="zh-CN" sz="2200" dirty="0">
                <a:solidFill>
                  <a:srgbClr val="000000"/>
                </a:solidFill>
                <a:latin typeface="Times New Roman" panose="02020603050405020304"/>
                <a:ea typeface="黑体" panose="02010609060101010101" charset="-122"/>
                <a:cs typeface="+mn-ea"/>
              </a:rPr>
              <a:t>(</a:t>
            </a:r>
            <a:r>
              <a:rPr lang="en-US" altLang="zh-CN" sz="2200" i="1" dirty="0">
                <a:solidFill>
                  <a:srgbClr val="000000"/>
                </a:solidFill>
                <a:latin typeface="Times New Roman" panose="02020603050405020304"/>
                <a:ea typeface="黑体" panose="02010609060101010101" charset="-122"/>
                <a:cs typeface="+mn-ea"/>
              </a:rPr>
              <a:t>w</a:t>
            </a:r>
            <a:r>
              <a:rPr lang="en-US" altLang="zh-CN" sz="2200" baseline="-25000" dirty="0">
                <a:solidFill>
                  <a:srgbClr val="000000"/>
                </a:solidFill>
                <a:latin typeface="Times New Roman" panose="02020603050405020304"/>
                <a:ea typeface="黑体" panose="02010609060101010101" charset="-122"/>
                <a:cs typeface="+mn-ea"/>
              </a:rPr>
              <a:t>12</a:t>
            </a:r>
            <a:r>
              <a:rPr lang="en-US" altLang="zh-CN" sz="2200" i="1" dirty="0">
                <a:solidFill>
                  <a:srgbClr val="000000"/>
                </a:solidFill>
                <a:latin typeface="Times New Roman" panose="02020603050405020304"/>
                <a:ea typeface="黑体" panose="02010609060101010101" charset="-122"/>
                <a:cs typeface="+mn-ea"/>
              </a:rPr>
              <a:t>x</a:t>
            </a:r>
            <a:r>
              <a:rPr lang="en-US" altLang="zh-CN" sz="2200" baseline="-25000" dirty="0">
                <a:solidFill>
                  <a:srgbClr val="000000"/>
                </a:solidFill>
                <a:latin typeface="Times New Roman" panose="02020603050405020304"/>
                <a:ea typeface="黑体" panose="02010609060101010101" charset="-122"/>
                <a:cs typeface="+mn-ea"/>
              </a:rPr>
              <a:t>1</a:t>
            </a:r>
            <a:r>
              <a:rPr lang="en-US" altLang="zh-CN" sz="2200" dirty="0">
                <a:solidFill>
                  <a:srgbClr val="000000"/>
                </a:solidFill>
                <a:latin typeface="Times New Roman" panose="02020603050405020304"/>
                <a:ea typeface="黑体" panose="02010609060101010101" charset="-122"/>
                <a:cs typeface="+mn-ea"/>
              </a:rPr>
              <a:t>+</a:t>
            </a:r>
            <a:r>
              <a:rPr lang="en-US" altLang="zh-CN" sz="2200" i="1" dirty="0">
                <a:solidFill>
                  <a:srgbClr val="000000"/>
                </a:solidFill>
                <a:latin typeface="Times New Roman" panose="02020603050405020304"/>
                <a:ea typeface="黑体" panose="02010609060101010101" charset="-122"/>
                <a:cs typeface="+mn-ea"/>
              </a:rPr>
              <a:t>w</a:t>
            </a:r>
            <a:r>
              <a:rPr lang="en-US" altLang="zh-CN" sz="2200" baseline="-25000" dirty="0">
                <a:solidFill>
                  <a:srgbClr val="000000"/>
                </a:solidFill>
                <a:latin typeface="Times New Roman" panose="02020603050405020304"/>
                <a:ea typeface="黑体" panose="02010609060101010101" charset="-122"/>
                <a:cs typeface="+mn-ea"/>
              </a:rPr>
              <a:t>22</a:t>
            </a:r>
            <a:r>
              <a:rPr lang="en-US" altLang="zh-CN" sz="2200" i="1" dirty="0">
                <a:solidFill>
                  <a:srgbClr val="000000"/>
                </a:solidFill>
                <a:latin typeface="Times New Roman" panose="02020603050405020304"/>
                <a:ea typeface="黑体" panose="02010609060101010101" charset="-122"/>
                <a:cs typeface="+mn-ea"/>
              </a:rPr>
              <a:t>x</a:t>
            </a:r>
            <a:r>
              <a:rPr lang="en-US" altLang="zh-CN" sz="2200" baseline="-25000" dirty="0">
                <a:solidFill>
                  <a:srgbClr val="000000"/>
                </a:solidFill>
                <a:latin typeface="Times New Roman" panose="02020603050405020304"/>
                <a:ea typeface="黑体" panose="02010609060101010101" charset="-122"/>
                <a:cs typeface="+mn-ea"/>
              </a:rPr>
              <a:t>2</a:t>
            </a:r>
            <a:r>
              <a:rPr lang="en-US" altLang="zh-CN" sz="2200" dirty="0">
                <a:solidFill>
                  <a:srgbClr val="000000"/>
                </a:solidFill>
                <a:latin typeface="Times New Roman" panose="02020603050405020304"/>
                <a:ea typeface="黑体" panose="02010609060101010101" charset="-122"/>
                <a:cs typeface="+mn-ea"/>
              </a:rPr>
              <a:t>+</a:t>
            </a:r>
            <a:r>
              <a:rPr lang="en-US" altLang="zh-CN" sz="2200" i="1" dirty="0">
                <a:solidFill>
                  <a:srgbClr val="000000"/>
                </a:solidFill>
                <a:latin typeface="Times New Roman" panose="02020603050405020304"/>
                <a:ea typeface="黑体" panose="02010609060101010101" charset="-122"/>
                <a:cs typeface="+mn-ea"/>
              </a:rPr>
              <a:t>b</a:t>
            </a:r>
            <a:r>
              <a:rPr lang="en-US" altLang="zh-CN" sz="2200" baseline="-25000" dirty="0">
                <a:solidFill>
                  <a:srgbClr val="000000"/>
                </a:solidFill>
                <a:latin typeface="Times New Roman" panose="02020603050405020304"/>
                <a:ea typeface="黑体" panose="02010609060101010101" charset="-122"/>
                <a:cs typeface="+mn-ea"/>
              </a:rPr>
              <a:t>2</a:t>
            </a:r>
            <a:r>
              <a:rPr lang="en-US" altLang="zh-CN" sz="2200" dirty="0">
                <a:solidFill>
                  <a:srgbClr val="000000"/>
                </a:solidFill>
                <a:latin typeface="Times New Roman" panose="02020603050405020304"/>
                <a:ea typeface="黑体" panose="02010609060101010101" charset="-122"/>
                <a:cs typeface="+mn-ea"/>
              </a:rPr>
              <a:t>)=</a:t>
            </a:r>
            <a:r>
              <a:rPr lang="en-US" altLang="zh-CN" sz="2200" i="1" dirty="0">
                <a:solidFill>
                  <a:srgbClr val="000000"/>
                </a:solidFill>
                <a:latin typeface="Times New Roman" panose="02020603050405020304"/>
                <a:ea typeface="黑体" panose="02010609060101010101" charset="-122"/>
                <a:cs typeface="+mn-ea"/>
              </a:rPr>
              <a:t>f</a:t>
            </a:r>
            <a:r>
              <a:rPr lang="en-US" altLang="zh-CN" sz="2200" dirty="0">
                <a:solidFill>
                  <a:srgbClr val="000000"/>
                </a:solidFill>
                <a:latin typeface="Times New Roman" panose="02020603050405020304"/>
                <a:ea typeface="黑体" panose="02010609060101010101" charset="-122"/>
                <a:cs typeface="+mn-ea"/>
              </a:rPr>
              <a:t>(-1*0 + -1*1 + 1.5) = 1</a:t>
            </a:r>
            <a:endParaRPr lang="en-US" altLang="zh-CN" sz="2200" dirty="0">
              <a:solidFill>
                <a:srgbClr val="000000"/>
              </a:solidFill>
              <a:latin typeface="Times New Roman" panose="02020603050405020304"/>
              <a:ea typeface="黑体" panose="02010609060101010101" charset="-122"/>
              <a:cs typeface="+mn-ea"/>
            </a:endParaRPr>
          </a:p>
          <a:p>
            <a:pPr marL="88900" lvl="1">
              <a:lnSpc>
                <a:spcPct val="150000"/>
              </a:lnSpc>
              <a:spcAft>
                <a:spcPts val="600"/>
              </a:spcAft>
            </a:pPr>
            <a:r>
              <a:rPr lang="en-US" altLang="zh-CN" sz="2200" i="1" dirty="0">
                <a:solidFill>
                  <a:srgbClr val="000000"/>
                </a:solidFill>
                <a:latin typeface="Times New Roman" panose="02020603050405020304"/>
                <a:ea typeface="黑体" panose="02010609060101010101" charset="-122"/>
                <a:cs typeface="+mn-ea"/>
              </a:rPr>
              <a:t>y</a:t>
            </a:r>
            <a:r>
              <a:rPr lang="en-US" altLang="zh-CN" sz="2200" dirty="0">
                <a:solidFill>
                  <a:srgbClr val="000000"/>
                </a:solidFill>
                <a:latin typeface="Times New Roman" panose="02020603050405020304"/>
                <a:ea typeface="黑体" panose="02010609060101010101" charset="-122"/>
                <a:cs typeface="+mn-ea"/>
              </a:rPr>
              <a:t> = </a:t>
            </a:r>
            <a:r>
              <a:rPr lang="en-US" altLang="zh-CN" sz="2200" i="1" dirty="0">
                <a:solidFill>
                  <a:srgbClr val="000000"/>
                </a:solidFill>
                <a:latin typeface="Times New Roman" panose="02020603050405020304"/>
                <a:ea typeface="黑体" panose="02010609060101010101" charset="-122"/>
                <a:cs typeface="+mn-ea"/>
              </a:rPr>
              <a:t>f</a:t>
            </a:r>
            <a:r>
              <a:rPr lang="en-US" altLang="zh-CN" sz="2200" dirty="0">
                <a:solidFill>
                  <a:srgbClr val="000000"/>
                </a:solidFill>
                <a:latin typeface="Times New Roman" panose="02020603050405020304"/>
                <a:ea typeface="黑体" panose="02010609060101010101" charset="-122"/>
                <a:cs typeface="+mn-ea"/>
              </a:rPr>
              <a:t>(</a:t>
            </a:r>
            <a:r>
              <a:rPr lang="en-US" altLang="zh-CN" sz="2200" i="1" dirty="0">
                <a:solidFill>
                  <a:srgbClr val="000000"/>
                </a:solidFill>
                <a:latin typeface="Times New Roman" panose="02020603050405020304"/>
                <a:ea typeface="黑体" panose="02010609060101010101" charset="-122"/>
                <a:cs typeface="+mn-ea"/>
              </a:rPr>
              <a:t>w</a:t>
            </a:r>
            <a:r>
              <a:rPr lang="en-US" altLang="zh-CN" sz="2200" baseline="-25000" dirty="0">
                <a:solidFill>
                  <a:srgbClr val="000000"/>
                </a:solidFill>
                <a:latin typeface="Times New Roman" panose="02020603050405020304"/>
                <a:ea typeface="黑体" panose="02010609060101010101" charset="-122"/>
                <a:cs typeface="+mn-ea"/>
              </a:rPr>
              <a:t>3</a:t>
            </a:r>
            <a:r>
              <a:rPr lang="en-US" altLang="zh-CN" sz="2200" i="1" dirty="0">
                <a:solidFill>
                  <a:srgbClr val="000000"/>
                </a:solidFill>
                <a:latin typeface="Times New Roman" panose="02020603050405020304"/>
                <a:ea typeface="黑体" panose="02010609060101010101" charset="-122"/>
                <a:cs typeface="+mn-ea"/>
              </a:rPr>
              <a:t>s</a:t>
            </a:r>
            <a:r>
              <a:rPr lang="en-US" altLang="zh-CN" sz="2200" baseline="-25000" dirty="0">
                <a:solidFill>
                  <a:srgbClr val="000000"/>
                </a:solidFill>
                <a:latin typeface="Times New Roman" panose="02020603050405020304"/>
                <a:ea typeface="黑体" panose="02010609060101010101" charset="-122"/>
                <a:cs typeface="+mn-ea"/>
              </a:rPr>
              <a:t>1</a:t>
            </a:r>
            <a:r>
              <a:rPr lang="en-US" altLang="zh-CN" sz="2200" dirty="0">
                <a:solidFill>
                  <a:srgbClr val="000000"/>
                </a:solidFill>
                <a:latin typeface="Times New Roman" panose="02020603050405020304"/>
                <a:ea typeface="黑体" panose="02010609060101010101" charset="-122"/>
                <a:cs typeface="+mn-ea"/>
              </a:rPr>
              <a:t>+</a:t>
            </a:r>
            <a:r>
              <a:rPr lang="en-US" altLang="zh-CN" sz="2200" i="1" dirty="0">
                <a:solidFill>
                  <a:srgbClr val="000000"/>
                </a:solidFill>
                <a:latin typeface="Times New Roman" panose="02020603050405020304"/>
                <a:ea typeface="黑体" panose="02010609060101010101" charset="-122"/>
                <a:cs typeface="+mn-ea"/>
              </a:rPr>
              <a:t>w</a:t>
            </a:r>
            <a:r>
              <a:rPr lang="en-US" altLang="zh-CN" sz="2200" baseline="-25000" dirty="0">
                <a:solidFill>
                  <a:srgbClr val="000000"/>
                </a:solidFill>
                <a:latin typeface="Times New Roman" panose="02020603050405020304"/>
                <a:ea typeface="黑体" panose="02010609060101010101" charset="-122"/>
                <a:cs typeface="+mn-ea"/>
              </a:rPr>
              <a:t>4</a:t>
            </a:r>
            <a:r>
              <a:rPr lang="en-US" altLang="zh-CN" sz="2200" i="1" dirty="0">
                <a:solidFill>
                  <a:srgbClr val="000000"/>
                </a:solidFill>
                <a:latin typeface="Times New Roman" panose="02020603050405020304"/>
                <a:ea typeface="黑体" panose="02010609060101010101" charset="-122"/>
                <a:cs typeface="+mn-ea"/>
              </a:rPr>
              <a:t>s</a:t>
            </a:r>
            <a:r>
              <a:rPr lang="en-US" altLang="zh-CN" sz="2200" baseline="-25000" dirty="0">
                <a:solidFill>
                  <a:srgbClr val="000000"/>
                </a:solidFill>
                <a:latin typeface="Times New Roman" panose="02020603050405020304"/>
                <a:ea typeface="黑体" panose="02010609060101010101" charset="-122"/>
                <a:cs typeface="+mn-ea"/>
              </a:rPr>
              <a:t>2</a:t>
            </a:r>
            <a:r>
              <a:rPr lang="en-US" altLang="zh-CN" sz="2200" dirty="0">
                <a:solidFill>
                  <a:srgbClr val="000000"/>
                </a:solidFill>
                <a:latin typeface="Times New Roman" panose="02020603050405020304"/>
                <a:ea typeface="黑体" panose="02010609060101010101" charset="-122"/>
                <a:cs typeface="+mn-ea"/>
              </a:rPr>
              <a:t>+</a:t>
            </a:r>
            <a:r>
              <a:rPr lang="en-US" altLang="zh-CN" sz="2200" i="1" dirty="0">
                <a:solidFill>
                  <a:srgbClr val="000000"/>
                </a:solidFill>
                <a:latin typeface="Times New Roman" panose="02020603050405020304"/>
                <a:ea typeface="黑体" panose="02010609060101010101" charset="-122"/>
                <a:cs typeface="+mn-ea"/>
              </a:rPr>
              <a:t>b</a:t>
            </a:r>
            <a:r>
              <a:rPr lang="en-US" altLang="zh-CN" sz="2200" baseline="-25000" dirty="0">
                <a:solidFill>
                  <a:srgbClr val="000000"/>
                </a:solidFill>
                <a:latin typeface="Times New Roman" panose="02020603050405020304"/>
                <a:ea typeface="黑体" panose="02010609060101010101" charset="-122"/>
                <a:cs typeface="+mn-ea"/>
              </a:rPr>
              <a:t>3</a:t>
            </a:r>
            <a:r>
              <a:rPr lang="en-US" altLang="zh-CN" sz="2200" dirty="0">
                <a:solidFill>
                  <a:srgbClr val="000000"/>
                </a:solidFill>
                <a:latin typeface="Times New Roman" panose="02020603050405020304"/>
                <a:ea typeface="黑体" panose="02010609060101010101" charset="-122"/>
                <a:cs typeface="+mn-ea"/>
              </a:rPr>
              <a:t>)=</a:t>
            </a:r>
            <a:r>
              <a:rPr lang="en-US" altLang="zh-CN" sz="2200" i="1" dirty="0">
                <a:solidFill>
                  <a:srgbClr val="000000"/>
                </a:solidFill>
                <a:latin typeface="Times New Roman" panose="02020603050405020304"/>
                <a:ea typeface="黑体" panose="02010609060101010101" charset="-122"/>
                <a:cs typeface="+mn-ea"/>
              </a:rPr>
              <a:t>f</a:t>
            </a:r>
            <a:r>
              <a:rPr lang="en-US" altLang="zh-CN" sz="2200" dirty="0">
                <a:solidFill>
                  <a:srgbClr val="000000"/>
                </a:solidFill>
                <a:latin typeface="Times New Roman" panose="02020603050405020304"/>
                <a:ea typeface="黑体" panose="02010609060101010101" charset="-122"/>
                <a:cs typeface="+mn-ea"/>
              </a:rPr>
              <a:t>(1*1 + 1*1 - 1.5) = 1</a:t>
            </a:r>
            <a:endParaRPr lang="en-US" altLang="zh-CN" sz="2200" dirty="0">
              <a:solidFill>
                <a:srgbClr val="000000"/>
              </a:solidFill>
              <a:latin typeface="Times New Roman" panose="02020603050405020304"/>
              <a:ea typeface="黑体" panose="02010609060101010101" charset="-122"/>
              <a:cs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25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1000"/>
                                        <p:tgtEl>
                                          <p:spTgt spid="7">
                                            <p:txEl>
                                              <p:pRg st="0" end="0"/>
                                            </p:txEl>
                                          </p:spTgt>
                                        </p:tgtEl>
                                      </p:cBhvr>
                                    </p:animEffect>
                                    <p:anim calcmode="lin" valueType="num">
                                      <p:cBhvr>
                                        <p:cTn id="8"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par>
                          <p:cTn id="10" fill="hold">
                            <p:stCondLst>
                              <p:cond delay="1250"/>
                            </p:stCondLst>
                            <p:childTnLst>
                              <p:par>
                                <p:cTn id="11" presetID="42" presetClass="entr" presetSubtype="0" fill="hold" nodeType="afterEffect">
                                  <p:stCondLst>
                                    <p:cond delay="250"/>
                                  </p:stCondLst>
                                  <p:childTnLst>
                                    <p:set>
                                      <p:cBhvr>
                                        <p:cTn id="12" dur="1" fill="hold">
                                          <p:stCondLst>
                                            <p:cond delay="0"/>
                                          </p:stCondLst>
                                        </p:cTn>
                                        <p:tgtEl>
                                          <p:spTgt spid="7">
                                            <p:txEl>
                                              <p:pRg st="1" end="1"/>
                                            </p:txEl>
                                          </p:spTgt>
                                        </p:tgtEl>
                                        <p:attrNameLst>
                                          <p:attrName>style.visibility</p:attrName>
                                        </p:attrNameLst>
                                      </p:cBhvr>
                                      <p:to>
                                        <p:strVal val="visible"/>
                                      </p:to>
                                    </p:set>
                                    <p:animEffect transition="in" filter="fade">
                                      <p:cBhvr>
                                        <p:cTn id="13" dur="1000"/>
                                        <p:tgtEl>
                                          <p:spTgt spid="7">
                                            <p:txEl>
                                              <p:pRg st="1" end="1"/>
                                            </p:txEl>
                                          </p:spTgt>
                                        </p:tgtEl>
                                      </p:cBhvr>
                                    </p:animEffect>
                                    <p:anim calcmode="lin" valueType="num">
                                      <p:cBhvr>
                                        <p:cTn id="14"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15"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par>
                          <p:cTn id="16" fill="hold">
                            <p:stCondLst>
                              <p:cond delay="2500"/>
                            </p:stCondLst>
                            <p:childTnLst>
                              <p:par>
                                <p:cTn id="17" presetID="42" presetClass="entr" presetSubtype="0" fill="hold" nodeType="afterEffect">
                                  <p:stCondLst>
                                    <p:cond delay="250"/>
                                  </p:stCondLst>
                                  <p:childTnLst>
                                    <p:set>
                                      <p:cBhvr>
                                        <p:cTn id="18" dur="1" fill="hold">
                                          <p:stCondLst>
                                            <p:cond delay="0"/>
                                          </p:stCondLst>
                                        </p:cTn>
                                        <p:tgtEl>
                                          <p:spTgt spid="7">
                                            <p:txEl>
                                              <p:pRg st="2" end="2"/>
                                            </p:txEl>
                                          </p:spTgt>
                                        </p:tgtEl>
                                        <p:attrNameLst>
                                          <p:attrName>style.visibility</p:attrName>
                                        </p:attrNameLst>
                                      </p:cBhvr>
                                      <p:to>
                                        <p:strVal val="visible"/>
                                      </p:to>
                                    </p:set>
                                    <p:animEffect transition="in" filter="fade">
                                      <p:cBhvr>
                                        <p:cTn id="19" dur="1000"/>
                                        <p:tgtEl>
                                          <p:spTgt spid="7">
                                            <p:txEl>
                                              <p:pRg st="2" end="2"/>
                                            </p:txEl>
                                          </p:spTgt>
                                        </p:tgtEl>
                                      </p:cBhvr>
                                    </p:animEffect>
                                    <p:anim calcmode="lin" valueType="num">
                                      <p:cBhvr>
                                        <p:cTn id="20"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par>
                          <p:cTn id="22" fill="hold">
                            <p:stCondLst>
                              <p:cond delay="3750"/>
                            </p:stCondLst>
                            <p:childTnLst>
                              <p:par>
                                <p:cTn id="23" presetID="42" presetClass="entr" presetSubtype="0" fill="hold" nodeType="afterEffect">
                                  <p:stCondLst>
                                    <p:cond delay="250"/>
                                  </p:stCondLst>
                                  <p:childTnLst>
                                    <p:set>
                                      <p:cBhvr>
                                        <p:cTn id="24" dur="1" fill="hold">
                                          <p:stCondLst>
                                            <p:cond delay="0"/>
                                          </p:stCondLst>
                                        </p:cTn>
                                        <p:tgtEl>
                                          <p:spTgt spid="7">
                                            <p:txEl>
                                              <p:pRg st="3" end="3"/>
                                            </p:txEl>
                                          </p:spTgt>
                                        </p:tgtEl>
                                        <p:attrNameLst>
                                          <p:attrName>style.visibility</p:attrName>
                                        </p:attrNameLst>
                                      </p:cBhvr>
                                      <p:to>
                                        <p:strVal val="visible"/>
                                      </p:to>
                                    </p:set>
                                    <p:animEffect transition="in" filter="fade">
                                      <p:cBhvr>
                                        <p:cTn id="25" dur="1000"/>
                                        <p:tgtEl>
                                          <p:spTgt spid="7">
                                            <p:txEl>
                                              <p:pRg st="3" end="3"/>
                                            </p:txEl>
                                          </p:spTgt>
                                        </p:tgtEl>
                                      </p:cBhvr>
                                    </p:animEffect>
                                    <p:anim calcmode="lin" valueType="num">
                                      <p:cBhvr>
                                        <p:cTn id="2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2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42" presetClass="entr" presetSubtype="0" fill="hold" nodeType="clickEffect">
                                  <p:stCondLst>
                                    <p:cond delay="0"/>
                                  </p:stCondLst>
                                  <p:childTnLst>
                                    <p:set>
                                      <p:cBhvr>
                                        <p:cTn id="31" dur="1" fill="hold">
                                          <p:stCondLst>
                                            <p:cond delay="0"/>
                                          </p:stCondLst>
                                        </p:cTn>
                                        <p:tgtEl>
                                          <p:spTgt spid="7">
                                            <p:txEl>
                                              <p:pRg st="4" end="4"/>
                                            </p:txEl>
                                          </p:spTgt>
                                        </p:tgtEl>
                                        <p:attrNameLst>
                                          <p:attrName>style.visibility</p:attrName>
                                        </p:attrNameLst>
                                      </p:cBhvr>
                                      <p:to>
                                        <p:strVal val="visible"/>
                                      </p:to>
                                    </p:set>
                                    <p:animEffect transition="in" filter="fade">
                                      <p:cBhvr>
                                        <p:cTn id="32" dur="1000"/>
                                        <p:tgtEl>
                                          <p:spTgt spid="7">
                                            <p:txEl>
                                              <p:pRg st="4" end="4"/>
                                            </p:txEl>
                                          </p:spTgt>
                                        </p:tgtEl>
                                      </p:cBhvr>
                                    </p:animEffect>
                                    <p:anim calcmode="lin" valueType="num">
                                      <p:cBhvr>
                                        <p:cTn id="3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3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par>
                          <p:cTn id="35" fill="hold">
                            <p:stCondLst>
                              <p:cond delay="1000"/>
                            </p:stCondLst>
                            <p:childTnLst>
                              <p:par>
                                <p:cTn id="36" presetID="42" presetClass="entr" presetSubtype="0" fill="hold" nodeType="afterEffect">
                                  <p:stCondLst>
                                    <p:cond delay="250"/>
                                  </p:stCondLst>
                                  <p:childTnLst>
                                    <p:set>
                                      <p:cBhvr>
                                        <p:cTn id="37" dur="1" fill="hold">
                                          <p:stCondLst>
                                            <p:cond delay="0"/>
                                          </p:stCondLst>
                                        </p:cTn>
                                        <p:tgtEl>
                                          <p:spTgt spid="7">
                                            <p:txEl>
                                              <p:pRg st="5" end="5"/>
                                            </p:txEl>
                                          </p:spTgt>
                                        </p:tgtEl>
                                        <p:attrNameLst>
                                          <p:attrName>style.visibility</p:attrName>
                                        </p:attrNameLst>
                                      </p:cBhvr>
                                      <p:to>
                                        <p:strVal val="visible"/>
                                      </p:to>
                                    </p:set>
                                    <p:animEffect transition="in" filter="fade">
                                      <p:cBhvr>
                                        <p:cTn id="38" dur="1000"/>
                                        <p:tgtEl>
                                          <p:spTgt spid="7">
                                            <p:txEl>
                                              <p:pRg st="5" end="5"/>
                                            </p:txEl>
                                          </p:spTgt>
                                        </p:tgtEl>
                                      </p:cBhvr>
                                    </p:animEffect>
                                    <p:anim calcmode="lin" valueType="num">
                                      <p:cBhvr>
                                        <p:cTn id="39"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40"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par>
                          <p:cTn id="41" fill="hold">
                            <p:stCondLst>
                              <p:cond delay="2250"/>
                            </p:stCondLst>
                            <p:childTnLst>
                              <p:par>
                                <p:cTn id="42" presetID="42" presetClass="entr" presetSubtype="0" fill="hold" nodeType="afterEffect">
                                  <p:stCondLst>
                                    <p:cond delay="250"/>
                                  </p:stCondLst>
                                  <p:childTnLst>
                                    <p:set>
                                      <p:cBhvr>
                                        <p:cTn id="43" dur="1" fill="hold">
                                          <p:stCondLst>
                                            <p:cond delay="0"/>
                                          </p:stCondLst>
                                        </p:cTn>
                                        <p:tgtEl>
                                          <p:spTgt spid="7">
                                            <p:txEl>
                                              <p:pRg st="6" end="6"/>
                                            </p:txEl>
                                          </p:spTgt>
                                        </p:tgtEl>
                                        <p:attrNameLst>
                                          <p:attrName>style.visibility</p:attrName>
                                        </p:attrNameLst>
                                      </p:cBhvr>
                                      <p:to>
                                        <p:strVal val="visible"/>
                                      </p:to>
                                    </p:set>
                                    <p:animEffect transition="in" filter="fade">
                                      <p:cBhvr>
                                        <p:cTn id="44" dur="1000"/>
                                        <p:tgtEl>
                                          <p:spTgt spid="7">
                                            <p:txEl>
                                              <p:pRg st="6" end="6"/>
                                            </p:txEl>
                                          </p:spTgt>
                                        </p:tgtEl>
                                      </p:cBhvr>
                                    </p:animEffect>
                                    <p:anim calcmode="lin" valueType="num">
                                      <p:cBhvr>
                                        <p:cTn id="45"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46"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par>
                          <p:cTn id="47" fill="hold">
                            <p:stCondLst>
                              <p:cond delay="3500"/>
                            </p:stCondLst>
                            <p:childTnLst>
                              <p:par>
                                <p:cTn id="48" presetID="42" presetClass="entr" presetSubtype="0" fill="hold" nodeType="afterEffect">
                                  <p:stCondLst>
                                    <p:cond delay="250"/>
                                  </p:stCondLst>
                                  <p:childTnLst>
                                    <p:set>
                                      <p:cBhvr>
                                        <p:cTn id="49" dur="1" fill="hold">
                                          <p:stCondLst>
                                            <p:cond delay="0"/>
                                          </p:stCondLst>
                                        </p:cTn>
                                        <p:tgtEl>
                                          <p:spTgt spid="7">
                                            <p:txEl>
                                              <p:pRg st="7" end="7"/>
                                            </p:txEl>
                                          </p:spTgt>
                                        </p:tgtEl>
                                        <p:attrNameLst>
                                          <p:attrName>style.visibility</p:attrName>
                                        </p:attrNameLst>
                                      </p:cBhvr>
                                      <p:to>
                                        <p:strVal val="visible"/>
                                      </p:to>
                                    </p:set>
                                    <p:animEffect transition="in" filter="fade">
                                      <p:cBhvr>
                                        <p:cTn id="50" dur="1000"/>
                                        <p:tgtEl>
                                          <p:spTgt spid="7">
                                            <p:txEl>
                                              <p:pRg st="7" end="7"/>
                                            </p:txEl>
                                          </p:spTgt>
                                        </p:tgtEl>
                                      </p:cBhvr>
                                    </p:animEffect>
                                    <p:anim calcmode="lin" valueType="num">
                                      <p:cBhvr>
                                        <p:cTn id="51" dur="1000" fill="hold"/>
                                        <p:tgtEl>
                                          <p:spTgt spid="7">
                                            <p:txEl>
                                              <p:pRg st="7" end="7"/>
                                            </p:txEl>
                                          </p:spTgt>
                                        </p:tgtEl>
                                        <p:attrNameLst>
                                          <p:attrName>ppt_x</p:attrName>
                                        </p:attrNameLst>
                                      </p:cBhvr>
                                      <p:tavLst>
                                        <p:tav tm="0">
                                          <p:val>
                                            <p:strVal val="#ppt_x"/>
                                          </p:val>
                                        </p:tav>
                                        <p:tav tm="100000">
                                          <p:val>
                                            <p:strVal val="#ppt_x"/>
                                          </p:val>
                                        </p:tav>
                                      </p:tavLst>
                                    </p:anim>
                                    <p:anim calcmode="lin" valueType="num">
                                      <p:cBhvr>
                                        <p:cTn id="52" dur="1000" fill="hold"/>
                                        <p:tgtEl>
                                          <p:spTgt spid="7">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a:spLocks noGrp="1"/>
          </p:cNvSpPr>
          <p:nvPr>
            <p:ph type="title"/>
          </p:nvPr>
        </p:nvSpPr>
        <p:spPr>
          <a:xfrm>
            <a:off x="1916315" y="131079"/>
            <a:ext cx="7962648" cy="657727"/>
          </a:xfrm>
        </p:spPr>
        <p:txBody>
          <a:bodyPr/>
          <a:lstStyle/>
          <a:p>
            <a:pPr algn="l"/>
            <a:r>
              <a:rPr lang="zh-CN" altLang="en-US" sz="4000" dirty="0">
                <a:latin typeface="方正姚体" panose="02010601030101010101" pitchFamily="2" charset="-122"/>
                <a:ea typeface="方正姚体" panose="02010601030101010101" pitchFamily="2" charset="-122"/>
                <a:cs typeface="Times New Roman" panose="02020603050405020304" pitchFamily="18" charset="0"/>
              </a:rPr>
              <a:t>人工神经网络简介</a:t>
            </a:r>
            <a:endParaRPr lang="zh-CN" altLang="en-US" sz="4000" dirty="0">
              <a:latin typeface="方正姚体" panose="02010601030101010101" pitchFamily="2" charset="-122"/>
              <a:ea typeface="方正姚体" panose="02010601030101010101" pitchFamily="2" charset="-122"/>
              <a:cs typeface="Times New Roman" panose="02020603050405020304" pitchFamily="18" charset="0"/>
            </a:endParaRPr>
          </a:p>
        </p:txBody>
      </p:sp>
      <p:sp>
        <p:nvSpPr>
          <p:cNvPr id="5" name="文本框 4"/>
          <p:cNvSpPr txBox="1"/>
          <p:nvPr/>
        </p:nvSpPr>
        <p:spPr>
          <a:xfrm>
            <a:off x="2048309" y="881503"/>
            <a:ext cx="6746647" cy="707694"/>
          </a:xfrm>
          <a:prstGeom prst="rect">
            <a:avLst/>
          </a:prstGeom>
          <a:noFill/>
        </p:spPr>
        <p:txBody>
          <a:bodyPr wrap="square">
            <a:spAutoFit/>
          </a:bodyPr>
          <a:lstStyle/>
          <a:p>
            <a:pPr marL="0" lvl="1">
              <a:lnSpc>
                <a:spcPct val="150000"/>
              </a:lnSpc>
              <a:spcAft>
                <a:spcPts val="600"/>
              </a:spcAft>
            </a:pPr>
            <a:r>
              <a:rPr lang="zh-CN" altLang="en-US" sz="3200" dirty="0">
                <a:solidFill>
                  <a:srgbClr val="C00000"/>
                </a:solidFill>
                <a:latin typeface="方正姚体" panose="02010601030101010101" pitchFamily="2" charset="-122"/>
                <a:ea typeface="方正姚体" panose="02010601030101010101" pitchFamily="2" charset="-122"/>
                <a:cs typeface="+mn-ea"/>
                <a:sym typeface="+mn-lt"/>
              </a:rPr>
              <a:t>多层感知机实现异或运算</a:t>
            </a:r>
            <a:endParaRPr lang="zh-CN" altLang="en-US" sz="3200" dirty="0">
              <a:solidFill>
                <a:srgbClr val="C00000"/>
              </a:solidFill>
              <a:latin typeface="方正姚体" panose="02010601030101010101" pitchFamily="2" charset="-122"/>
              <a:ea typeface="方正姚体" panose="02010601030101010101" pitchFamily="2" charset="-122"/>
              <a:cs typeface="+mn-ea"/>
              <a:sym typeface="+mn-lt"/>
            </a:endParaRPr>
          </a:p>
        </p:txBody>
      </p:sp>
      <p:sp>
        <p:nvSpPr>
          <p:cNvPr id="7" name="文本框 6"/>
          <p:cNvSpPr txBox="1"/>
          <p:nvPr/>
        </p:nvSpPr>
        <p:spPr>
          <a:xfrm>
            <a:off x="2048308" y="1630278"/>
            <a:ext cx="7962648" cy="4632807"/>
          </a:xfrm>
          <a:prstGeom prst="rect">
            <a:avLst/>
          </a:prstGeom>
          <a:noFill/>
        </p:spPr>
        <p:txBody>
          <a:bodyPr wrap="square">
            <a:spAutoFit/>
          </a:bodyPr>
          <a:lstStyle/>
          <a:p>
            <a:pPr marL="431800" lvl="1" indent="-342900">
              <a:lnSpc>
                <a:spcPct val="150000"/>
              </a:lnSpc>
              <a:spcAft>
                <a:spcPts val="600"/>
              </a:spcAft>
              <a:buFont typeface="Arial" panose="020B0604020202020204" pitchFamily="34" charset="0"/>
              <a:buChar char="•"/>
            </a:pPr>
            <a:r>
              <a:rPr lang="zh-CN" altLang="en-US" sz="2200" dirty="0">
                <a:solidFill>
                  <a:srgbClr val="000000"/>
                </a:solidFill>
                <a:latin typeface="Times New Roman" panose="02020603050405020304"/>
                <a:ea typeface="黑体" panose="02010609060101010101" charset="-122"/>
                <a:cs typeface="+mn-ea"/>
              </a:rPr>
              <a:t>将样本</a:t>
            </a:r>
            <a:r>
              <a:rPr lang="en-US" altLang="zh-CN" sz="2200" i="1" dirty="0">
                <a:solidFill>
                  <a:srgbClr val="000000"/>
                </a:solidFill>
                <a:latin typeface="Times New Roman" panose="02020603050405020304"/>
                <a:ea typeface="黑体" panose="02010609060101010101" charset="-122"/>
                <a:cs typeface="+mn-ea"/>
              </a:rPr>
              <a:t>x</a:t>
            </a:r>
            <a:r>
              <a:rPr lang="en-US" altLang="zh-CN" sz="2200" baseline="-25000" dirty="0">
                <a:solidFill>
                  <a:srgbClr val="000000"/>
                </a:solidFill>
                <a:latin typeface="Times New Roman" panose="02020603050405020304"/>
                <a:ea typeface="黑体" panose="02010609060101010101" charset="-122"/>
                <a:cs typeface="+mn-ea"/>
              </a:rPr>
              <a:t>1,</a:t>
            </a:r>
            <a:r>
              <a:rPr lang="en-US" altLang="zh-CN" sz="2200" i="1" dirty="0">
                <a:solidFill>
                  <a:srgbClr val="000000"/>
                </a:solidFill>
                <a:latin typeface="Times New Roman" panose="02020603050405020304"/>
                <a:ea typeface="黑体" panose="02010609060101010101" charset="-122"/>
                <a:cs typeface="+mn-ea"/>
              </a:rPr>
              <a:t>x</a:t>
            </a:r>
            <a:r>
              <a:rPr lang="en-US" altLang="zh-CN" sz="2200" baseline="-25000" dirty="0">
                <a:solidFill>
                  <a:srgbClr val="000000"/>
                </a:solidFill>
                <a:latin typeface="Times New Roman" panose="02020603050405020304"/>
                <a:ea typeface="黑体" panose="02010609060101010101" charset="-122"/>
                <a:cs typeface="+mn-ea"/>
              </a:rPr>
              <a:t>2</a:t>
            </a:r>
            <a:r>
              <a:rPr lang="en-US" altLang="zh-CN" sz="2200" dirty="0">
                <a:solidFill>
                  <a:srgbClr val="000000"/>
                </a:solidFill>
                <a:latin typeface="Times New Roman" panose="02020603050405020304"/>
                <a:ea typeface="黑体" panose="02010609060101010101" charset="-122"/>
                <a:cs typeface="+mn-ea"/>
              </a:rPr>
              <a:t>=</a:t>
            </a:r>
            <a:r>
              <a:rPr lang="zh-CN" altLang="en-US" sz="2200" dirty="0">
                <a:solidFill>
                  <a:srgbClr val="000000"/>
                </a:solidFill>
                <a:latin typeface="Times New Roman" panose="02020603050405020304"/>
                <a:ea typeface="黑体" panose="02010609060101010101" charset="-122"/>
                <a:cs typeface="+mn-ea"/>
              </a:rPr>
              <a:t>（</a:t>
            </a:r>
            <a:r>
              <a:rPr lang="en-US" altLang="zh-CN" sz="2200" dirty="0">
                <a:solidFill>
                  <a:srgbClr val="000000"/>
                </a:solidFill>
                <a:latin typeface="Times New Roman" panose="02020603050405020304"/>
                <a:ea typeface="黑体" panose="02010609060101010101" charset="-122"/>
                <a:cs typeface="+mn-ea"/>
              </a:rPr>
              <a:t>1</a:t>
            </a:r>
            <a:r>
              <a:rPr lang="zh-CN" altLang="en-US" sz="2200" dirty="0">
                <a:solidFill>
                  <a:srgbClr val="000000"/>
                </a:solidFill>
                <a:latin typeface="Times New Roman" panose="02020603050405020304"/>
                <a:ea typeface="黑体" panose="02010609060101010101" charset="-122"/>
                <a:cs typeface="+mn-ea"/>
              </a:rPr>
              <a:t>，</a:t>
            </a:r>
            <a:r>
              <a:rPr lang="en-US" altLang="zh-CN" sz="2200" dirty="0">
                <a:solidFill>
                  <a:srgbClr val="000000"/>
                </a:solidFill>
                <a:latin typeface="Times New Roman" panose="02020603050405020304"/>
                <a:ea typeface="黑体" panose="02010609060101010101" charset="-122"/>
                <a:cs typeface="+mn-ea"/>
              </a:rPr>
              <a:t>0</a:t>
            </a:r>
            <a:r>
              <a:rPr lang="zh-CN" altLang="en-US" sz="2200" dirty="0">
                <a:solidFill>
                  <a:srgbClr val="000000"/>
                </a:solidFill>
                <a:latin typeface="Times New Roman" panose="02020603050405020304"/>
                <a:ea typeface="黑体" panose="02010609060101010101" charset="-122"/>
                <a:cs typeface="+mn-ea"/>
              </a:rPr>
              <a:t>）输入模型，输出</a:t>
            </a:r>
            <a:r>
              <a:rPr lang="en-US" altLang="zh-CN" sz="2200" i="1" dirty="0">
                <a:solidFill>
                  <a:srgbClr val="000000"/>
                </a:solidFill>
                <a:latin typeface="Times New Roman" panose="02020603050405020304"/>
                <a:ea typeface="黑体" panose="02010609060101010101" charset="-122"/>
                <a:cs typeface="+mn-ea"/>
              </a:rPr>
              <a:t>y</a:t>
            </a:r>
            <a:r>
              <a:rPr lang="en-US" altLang="zh-CN" sz="2200" dirty="0">
                <a:solidFill>
                  <a:srgbClr val="000000"/>
                </a:solidFill>
                <a:latin typeface="Times New Roman" panose="02020603050405020304"/>
                <a:ea typeface="黑体" panose="02010609060101010101" charset="-122"/>
                <a:cs typeface="+mn-ea"/>
              </a:rPr>
              <a:t>=1</a:t>
            </a:r>
            <a:r>
              <a:rPr lang="zh-CN" altLang="en-US" sz="2200" dirty="0">
                <a:solidFill>
                  <a:srgbClr val="000000"/>
                </a:solidFill>
                <a:latin typeface="Times New Roman" panose="02020603050405020304"/>
                <a:ea typeface="黑体" panose="02010609060101010101" charset="-122"/>
                <a:cs typeface="+mn-ea"/>
              </a:rPr>
              <a:t>，计算如下：</a:t>
            </a:r>
            <a:endParaRPr lang="zh-CN" altLang="en-US" sz="2200" dirty="0">
              <a:solidFill>
                <a:srgbClr val="000000"/>
              </a:solidFill>
              <a:latin typeface="Times New Roman" panose="02020603050405020304"/>
              <a:ea typeface="黑体" panose="02010609060101010101" charset="-122"/>
              <a:cs typeface="+mn-ea"/>
            </a:endParaRPr>
          </a:p>
          <a:p>
            <a:pPr marL="88900" lvl="1">
              <a:lnSpc>
                <a:spcPct val="150000"/>
              </a:lnSpc>
              <a:spcAft>
                <a:spcPts val="600"/>
              </a:spcAft>
            </a:pPr>
            <a:r>
              <a:rPr lang="en-US" altLang="zh-CN" sz="2200" i="1" dirty="0">
                <a:solidFill>
                  <a:srgbClr val="000000"/>
                </a:solidFill>
                <a:latin typeface="Times New Roman" panose="02020603050405020304"/>
                <a:ea typeface="黑体" panose="02010609060101010101" charset="-122"/>
                <a:cs typeface="+mn-ea"/>
              </a:rPr>
              <a:t>s</a:t>
            </a:r>
            <a:r>
              <a:rPr lang="en-US" altLang="zh-CN" sz="2200" baseline="-25000" dirty="0">
                <a:solidFill>
                  <a:srgbClr val="000000"/>
                </a:solidFill>
                <a:latin typeface="Times New Roman" panose="02020603050405020304"/>
                <a:ea typeface="黑体" panose="02010609060101010101" charset="-122"/>
                <a:cs typeface="+mn-ea"/>
              </a:rPr>
              <a:t>1</a:t>
            </a:r>
            <a:r>
              <a:rPr lang="en-US" altLang="zh-CN" sz="2200" dirty="0">
                <a:solidFill>
                  <a:srgbClr val="000000"/>
                </a:solidFill>
                <a:latin typeface="Times New Roman" panose="02020603050405020304"/>
                <a:ea typeface="黑体" panose="02010609060101010101" charset="-122"/>
                <a:cs typeface="+mn-ea"/>
              </a:rPr>
              <a:t> = </a:t>
            </a:r>
            <a:r>
              <a:rPr lang="en-US" altLang="zh-CN" sz="2200" i="1" dirty="0">
                <a:solidFill>
                  <a:srgbClr val="000000"/>
                </a:solidFill>
                <a:latin typeface="Times New Roman" panose="02020603050405020304"/>
                <a:ea typeface="黑体" panose="02010609060101010101" charset="-122"/>
                <a:cs typeface="+mn-ea"/>
              </a:rPr>
              <a:t>f</a:t>
            </a:r>
            <a:r>
              <a:rPr lang="en-US" altLang="zh-CN" sz="2200" dirty="0">
                <a:solidFill>
                  <a:srgbClr val="000000"/>
                </a:solidFill>
                <a:latin typeface="Times New Roman" panose="02020603050405020304"/>
                <a:ea typeface="黑体" panose="02010609060101010101" charset="-122"/>
                <a:cs typeface="+mn-ea"/>
              </a:rPr>
              <a:t>(</a:t>
            </a:r>
            <a:r>
              <a:rPr lang="en-US" altLang="zh-CN" sz="2200" i="1" dirty="0">
                <a:solidFill>
                  <a:srgbClr val="000000"/>
                </a:solidFill>
                <a:latin typeface="Times New Roman" panose="02020603050405020304"/>
                <a:ea typeface="黑体" panose="02010609060101010101" charset="-122"/>
                <a:cs typeface="+mn-ea"/>
              </a:rPr>
              <a:t>w</a:t>
            </a:r>
            <a:r>
              <a:rPr lang="en-US" altLang="zh-CN" sz="2200" baseline="-25000" dirty="0">
                <a:solidFill>
                  <a:srgbClr val="000000"/>
                </a:solidFill>
                <a:latin typeface="Times New Roman" panose="02020603050405020304"/>
                <a:ea typeface="黑体" panose="02010609060101010101" charset="-122"/>
                <a:cs typeface="+mn-ea"/>
              </a:rPr>
              <a:t>11</a:t>
            </a:r>
            <a:r>
              <a:rPr lang="en-US" altLang="zh-CN" sz="2200" i="1" dirty="0">
                <a:solidFill>
                  <a:srgbClr val="000000"/>
                </a:solidFill>
                <a:latin typeface="Times New Roman" panose="02020603050405020304"/>
                <a:ea typeface="黑体" panose="02010609060101010101" charset="-122"/>
                <a:cs typeface="+mn-ea"/>
              </a:rPr>
              <a:t>x</a:t>
            </a:r>
            <a:r>
              <a:rPr lang="en-US" altLang="zh-CN" sz="2200" baseline="-25000" dirty="0">
                <a:solidFill>
                  <a:srgbClr val="000000"/>
                </a:solidFill>
                <a:latin typeface="Times New Roman" panose="02020603050405020304"/>
                <a:ea typeface="黑体" panose="02010609060101010101" charset="-122"/>
                <a:cs typeface="+mn-ea"/>
              </a:rPr>
              <a:t>1</a:t>
            </a:r>
            <a:r>
              <a:rPr lang="en-US" altLang="zh-CN" sz="2200" dirty="0">
                <a:solidFill>
                  <a:srgbClr val="000000"/>
                </a:solidFill>
                <a:latin typeface="Times New Roman" panose="02020603050405020304"/>
                <a:ea typeface="黑体" panose="02010609060101010101" charset="-122"/>
                <a:cs typeface="+mn-ea"/>
              </a:rPr>
              <a:t>+</a:t>
            </a:r>
            <a:r>
              <a:rPr lang="en-US" altLang="zh-CN" sz="2200" i="1" dirty="0">
                <a:solidFill>
                  <a:srgbClr val="000000"/>
                </a:solidFill>
                <a:latin typeface="Times New Roman" panose="02020603050405020304"/>
                <a:ea typeface="黑体" panose="02010609060101010101" charset="-122"/>
                <a:cs typeface="+mn-ea"/>
              </a:rPr>
              <a:t>w</a:t>
            </a:r>
            <a:r>
              <a:rPr lang="en-US" altLang="zh-CN" sz="2200" baseline="-25000" dirty="0">
                <a:solidFill>
                  <a:srgbClr val="000000"/>
                </a:solidFill>
                <a:latin typeface="Times New Roman" panose="02020603050405020304"/>
                <a:ea typeface="黑体" panose="02010609060101010101" charset="-122"/>
                <a:cs typeface="+mn-ea"/>
              </a:rPr>
              <a:t>21</a:t>
            </a:r>
            <a:r>
              <a:rPr lang="en-US" altLang="zh-CN" sz="2200" i="1" dirty="0">
                <a:solidFill>
                  <a:srgbClr val="000000"/>
                </a:solidFill>
                <a:latin typeface="Times New Roman" panose="02020603050405020304"/>
                <a:ea typeface="黑体" panose="02010609060101010101" charset="-122"/>
                <a:cs typeface="+mn-ea"/>
              </a:rPr>
              <a:t>x</a:t>
            </a:r>
            <a:r>
              <a:rPr lang="en-US" altLang="zh-CN" sz="2200" baseline="-25000" dirty="0">
                <a:solidFill>
                  <a:srgbClr val="000000"/>
                </a:solidFill>
                <a:latin typeface="Times New Roman" panose="02020603050405020304"/>
                <a:ea typeface="黑体" panose="02010609060101010101" charset="-122"/>
                <a:cs typeface="+mn-ea"/>
              </a:rPr>
              <a:t>2</a:t>
            </a:r>
            <a:r>
              <a:rPr lang="en-US" altLang="zh-CN" sz="2200" dirty="0">
                <a:solidFill>
                  <a:srgbClr val="000000"/>
                </a:solidFill>
                <a:latin typeface="Times New Roman" panose="02020603050405020304"/>
                <a:ea typeface="黑体" panose="02010609060101010101" charset="-122"/>
                <a:cs typeface="+mn-ea"/>
              </a:rPr>
              <a:t>+</a:t>
            </a:r>
            <a:r>
              <a:rPr lang="en-US" altLang="zh-CN" sz="2200" i="1" dirty="0">
                <a:solidFill>
                  <a:srgbClr val="000000"/>
                </a:solidFill>
                <a:latin typeface="Times New Roman" panose="02020603050405020304"/>
                <a:ea typeface="黑体" panose="02010609060101010101" charset="-122"/>
                <a:cs typeface="+mn-ea"/>
              </a:rPr>
              <a:t>b</a:t>
            </a:r>
            <a:r>
              <a:rPr lang="en-US" altLang="zh-CN" sz="2200" baseline="-25000" dirty="0">
                <a:solidFill>
                  <a:srgbClr val="000000"/>
                </a:solidFill>
                <a:latin typeface="Times New Roman" panose="02020603050405020304"/>
                <a:ea typeface="黑体" panose="02010609060101010101" charset="-122"/>
                <a:cs typeface="+mn-ea"/>
              </a:rPr>
              <a:t>1</a:t>
            </a:r>
            <a:r>
              <a:rPr lang="en-US" altLang="zh-CN" sz="2200" dirty="0">
                <a:solidFill>
                  <a:srgbClr val="000000"/>
                </a:solidFill>
                <a:latin typeface="Times New Roman" panose="02020603050405020304"/>
                <a:ea typeface="黑体" panose="02010609060101010101" charset="-122"/>
                <a:cs typeface="+mn-ea"/>
              </a:rPr>
              <a:t>) = </a:t>
            </a:r>
            <a:r>
              <a:rPr lang="en-US" altLang="zh-CN" sz="2200" i="1" dirty="0">
                <a:solidFill>
                  <a:srgbClr val="000000"/>
                </a:solidFill>
                <a:latin typeface="Times New Roman" panose="02020603050405020304"/>
                <a:ea typeface="黑体" panose="02010609060101010101" charset="-122"/>
                <a:cs typeface="+mn-ea"/>
              </a:rPr>
              <a:t>f</a:t>
            </a:r>
            <a:r>
              <a:rPr lang="en-US" altLang="zh-CN" sz="2200" dirty="0">
                <a:solidFill>
                  <a:srgbClr val="000000"/>
                </a:solidFill>
                <a:latin typeface="Times New Roman" panose="02020603050405020304"/>
                <a:ea typeface="黑体" panose="02010609060101010101" charset="-122"/>
                <a:cs typeface="+mn-ea"/>
              </a:rPr>
              <a:t>(1*1+1*0-0.5) = 1</a:t>
            </a:r>
            <a:endParaRPr lang="en-US" altLang="zh-CN" sz="2200" dirty="0">
              <a:solidFill>
                <a:srgbClr val="000000"/>
              </a:solidFill>
              <a:latin typeface="Times New Roman" panose="02020603050405020304"/>
              <a:ea typeface="黑体" panose="02010609060101010101" charset="-122"/>
              <a:cs typeface="+mn-ea"/>
            </a:endParaRPr>
          </a:p>
          <a:p>
            <a:pPr marL="88900" lvl="1">
              <a:lnSpc>
                <a:spcPct val="150000"/>
              </a:lnSpc>
              <a:spcAft>
                <a:spcPts val="600"/>
              </a:spcAft>
            </a:pPr>
            <a:r>
              <a:rPr lang="en-US" altLang="zh-CN" sz="2200" i="1" dirty="0">
                <a:solidFill>
                  <a:srgbClr val="000000"/>
                </a:solidFill>
                <a:latin typeface="Times New Roman" panose="02020603050405020304"/>
                <a:ea typeface="黑体" panose="02010609060101010101" charset="-122"/>
                <a:cs typeface="+mn-ea"/>
              </a:rPr>
              <a:t>s</a:t>
            </a:r>
            <a:r>
              <a:rPr lang="en-US" altLang="zh-CN" sz="2200" baseline="-25000" dirty="0">
                <a:solidFill>
                  <a:srgbClr val="000000"/>
                </a:solidFill>
                <a:latin typeface="Times New Roman" panose="02020603050405020304"/>
                <a:ea typeface="黑体" panose="02010609060101010101" charset="-122"/>
                <a:cs typeface="+mn-ea"/>
              </a:rPr>
              <a:t>2</a:t>
            </a:r>
            <a:r>
              <a:rPr lang="en-US" altLang="zh-CN" sz="2200" dirty="0">
                <a:solidFill>
                  <a:srgbClr val="000000"/>
                </a:solidFill>
                <a:latin typeface="Times New Roman" panose="02020603050405020304"/>
                <a:ea typeface="黑体" panose="02010609060101010101" charset="-122"/>
                <a:cs typeface="+mn-ea"/>
              </a:rPr>
              <a:t> = </a:t>
            </a:r>
            <a:r>
              <a:rPr lang="en-US" altLang="zh-CN" sz="2200" i="1" dirty="0">
                <a:solidFill>
                  <a:srgbClr val="000000"/>
                </a:solidFill>
                <a:latin typeface="Times New Roman" panose="02020603050405020304"/>
                <a:ea typeface="黑体" panose="02010609060101010101" charset="-122"/>
                <a:cs typeface="+mn-ea"/>
              </a:rPr>
              <a:t>f</a:t>
            </a:r>
            <a:r>
              <a:rPr lang="en-US" altLang="zh-CN" sz="2200" dirty="0">
                <a:solidFill>
                  <a:srgbClr val="000000"/>
                </a:solidFill>
                <a:latin typeface="Times New Roman" panose="02020603050405020304"/>
                <a:ea typeface="黑体" panose="02010609060101010101" charset="-122"/>
                <a:cs typeface="+mn-ea"/>
              </a:rPr>
              <a:t>(</a:t>
            </a:r>
            <a:r>
              <a:rPr lang="en-US" altLang="zh-CN" sz="2200" i="1" dirty="0">
                <a:solidFill>
                  <a:srgbClr val="000000"/>
                </a:solidFill>
                <a:latin typeface="Times New Roman" panose="02020603050405020304"/>
                <a:ea typeface="黑体" panose="02010609060101010101" charset="-122"/>
                <a:cs typeface="+mn-ea"/>
              </a:rPr>
              <a:t>w</a:t>
            </a:r>
            <a:r>
              <a:rPr lang="en-US" altLang="zh-CN" sz="2200" baseline="-25000" dirty="0">
                <a:solidFill>
                  <a:srgbClr val="000000"/>
                </a:solidFill>
                <a:latin typeface="Times New Roman" panose="02020603050405020304"/>
                <a:ea typeface="黑体" panose="02010609060101010101" charset="-122"/>
                <a:cs typeface="+mn-ea"/>
              </a:rPr>
              <a:t>12</a:t>
            </a:r>
            <a:r>
              <a:rPr lang="en-US" altLang="zh-CN" sz="2200" i="1" dirty="0">
                <a:solidFill>
                  <a:srgbClr val="000000"/>
                </a:solidFill>
                <a:latin typeface="Times New Roman" panose="02020603050405020304"/>
                <a:ea typeface="黑体" panose="02010609060101010101" charset="-122"/>
                <a:cs typeface="+mn-ea"/>
              </a:rPr>
              <a:t>x</a:t>
            </a:r>
            <a:r>
              <a:rPr lang="en-US" altLang="zh-CN" sz="2200" baseline="-25000" dirty="0">
                <a:solidFill>
                  <a:srgbClr val="000000"/>
                </a:solidFill>
                <a:latin typeface="Times New Roman" panose="02020603050405020304"/>
                <a:ea typeface="黑体" panose="02010609060101010101" charset="-122"/>
                <a:cs typeface="+mn-ea"/>
              </a:rPr>
              <a:t>1</a:t>
            </a:r>
            <a:r>
              <a:rPr lang="en-US" altLang="zh-CN" sz="2200" dirty="0">
                <a:solidFill>
                  <a:srgbClr val="000000"/>
                </a:solidFill>
                <a:latin typeface="Times New Roman" panose="02020603050405020304"/>
                <a:ea typeface="黑体" panose="02010609060101010101" charset="-122"/>
                <a:cs typeface="+mn-ea"/>
              </a:rPr>
              <a:t>+</a:t>
            </a:r>
            <a:r>
              <a:rPr lang="en-US" altLang="zh-CN" sz="2200" i="1" dirty="0">
                <a:solidFill>
                  <a:srgbClr val="000000"/>
                </a:solidFill>
                <a:latin typeface="Times New Roman" panose="02020603050405020304"/>
                <a:ea typeface="黑体" panose="02010609060101010101" charset="-122"/>
                <a:cs typeface="+mn-ea"/>
              </a:rPr>
              <a:t>w</a:t>
            </a:r>
            <a:r>
              <a:rPr lang="en-US" altLang="zh-CN" sz="2200" baseline="-25000" dirty="0">
                <a:solidFill>
                  <a:srgbClr val="000000"/>
                </a:solidFill>
                <a:latin typeface="Times New Roman" panose="02020603050405020304"/>
                <a:ea typeface="黑体" panose="02010609060101010101" charset="-122"/>
                <a:cs typeface="+mn-ea"/>
              </a:rPr>
              <a:t>22</a:t>
            </a:r>
            <a:r>
              <a:rPr lang="en-US" altLang="zh-CN" sz="2200" i="1" dirty="0">
                <a:solidFill>
                  <a:srgbClr val="000000"/>
                </a:solidFill>
                <a:latin typeface="Times New Roman" panose="02020603050405020304"/>
                <a:ea typeface="黑体" panose="02010609060101010101" charset="-122"/>
                <a:cs typeface="+mn-ea"/>
              </a:rPr>
              <a:t>x</a:t>
            </a:r>
            <a:r>
              <a:rPr lang="en-US" altLang="zh-CN" sz="2200" baseline="-25000" dirty="0">
                <a:solidFill>
                  <a:srgbClr val="000000"/>
                </a:solidFill>
                <a:latin typeface="Times New Roman" panose="02020603050405020304"/>
                <a:ea typeface="黑体" panose="02010609060101010101" charset="-122"/>
                <a:cs typeface="+mn-ea"/>
              </a:rPr>
              <a:t>2</a:t>
            </a:r>
            <a:r>
              <a:rPr lang="en-US" altLang="zh-CN" sz="2200" dirty="0">
                <a:solidFill>
                  <a:srgbClr val="000000"/>
                </a:solidFill>
                <a:latin typeface="Times New Roman" panose="02020603050405020304"/>
                <a:ea typeface="黑体" panose="02010609060101010101" charset="-122"/>
                <a:cs typeface="+mn-ea"/>
              </a:rPr>
              <a:t>+</a:t>
            </a:r>
            <a:r>
              <a:rPr lang="en-US" altLang="zh-CN" sz="2200" i="1" dirty="0">
                <a:solidFill>
                  <a:srgbClr val="000000"/>
                </a:solidFill>
                <a:latin typeface="Times New Roman" panose="02020603050405020304"/>
                <a:ea typeface="黑体" panose="02010609060101010101" charset="-122"/>
                <a:cs typeface="+mn-ea"/>
              </a:rPr>
              <a:t>b</a:t>
            </a:r>
            <a:r>
              <a:rPr lang="en-US" altLang="zh-CN" sz="2200" baseline="-25000" dirty="0">
                <a:solidFill>
                  <a:srgbClr val="000000"/>
                </a:solidFill>
                <a:latin typeface="Times New Roman" panose="02020603050405020304"/>
                <a:ea typeface="黑体" panose="02010609060101010101" charset="-122"/>
                <a:cs typeface="+mn-ea"/>
              </a:rPr>
              <a:t>2</a:t>
            </a:r>
            <a:r>
              <a:rPr lang="en-US" altLang="zh-CN" sz="2200" dirty="0">
                <a:solidFill>
                  <a:srgbClr val="000000"/>
                </a:solidFill>
                <a:latin typeface="Times New Roman" panose="02020603050405020304"/>
                <a:ea typeface="黑体" panose="02010609060101010101" charset="-122"/>
                <a:cs typeface="+mn-ea"/>
              </a:rPr>
              <a:t>) = </a:t>
            </a:r>
            <a:r>
              <a:rPr lang="en-US" altLang="zh-CN" sz="2200" i="1" dirty="0">
                <a:solidFill>
                  <a:srgbClr val="000000"/>
                </a:solidFill>
                <a:latin typeface="Times New Roman" panose="02020603050405020304"/>
                <a:ea typeface="黑体" panose="02010609060101010101" charset="-122"/>
                <a:cs typeface="+mn-ea"/>
              </a:rPr>
              <a:t>f</a:t>
            </a:r>
            <a:r>
              <a:rPr lang="en-US" altLang="zh-CN" sz="2200" dirty="0">
                <a:solidFill>
                  <a:srgbClr val="000000"/>
                </a:solidFill>
                <a:latin typeface="Times New Roman" panose="02020603050405020304"/>
                <a:ea typeface="黑体" panose="02010609060101010101" charset="-122"/>
                <a:cs typeface="+mn-ea"/>
              </a:rPr>
              <a:t>(-1*1+-1*0+1.5) = 1</a:t>
            </a:r>
            <a:endParaRPr lang="en-US" altLang="zh-CN" sz="2200" dirty="0">
              <a:solidFill>
                <a:srgbClr val="000000"/>
              </a:solidFill>
              <a:latin typeface="Times New Roman" panose="02020603050405020304"/>
              <a:ea typeface="黑体" panose="02010609060101010101" charset="-122"/>
              <a:cs typeface="+mn-ea"/>
            </a:endParaRPr>
          </a:p>
          <a:p>
            <a:pPr marL="88900" lvl="1">
              <a:lnSpc>
                <a:spcPct val="150000"/>
              </a:lnSpc>
              <a:spcAft>
                <a:spcPts val="600"/>
              </a:spcAft>
            </a:pPr>
            <a:r>
              <a:rPr lang="en-US" altLang="zh-CN" sz="2200" i="1" dirty="0">
                <a:solidFill>
                  <a:srgbClr val="000000"/>
                </a:solidFill>
                <a:latin typeface="Times New Roman" panose="02020603050405020304"/>
                <a:ea typeface="黑体" panose="02010609060101010101" charset="-122"/>
                <a:cs typeface="+mn-ea"/>
              </a:rPr>
              <a:t>y</a:t>
            </a:r>
            <a:r>
              <a:rPr lang="en-US" altLang="zh-CN" sz="2200" dirty="0">
                <a:solidFill>
                  <a:srgbClr val="000000"/>
                </a:solidFill>
                <a:latin typeface="Times New Roman" panose="02020603050405020304"/>
                <a:ea typeface="黑体" panose="02010609060101010101" charset="-122"/>
                <a:cs typeface="+mn-ea"/>
              </a:rPr>
              <a:t>= </a:t>
            </a:r>
            <a:r>
              <a:rPr lang="en-US" altLang="zh-CN" sz="2200" i="1" dirty="0">
                <a:solidFill>
                  <a:srgbClr val="000000"/>
                </a:solidFill>
                <a:latin typeface="Times New Roman" panose="02020603050405020304"/>
                <a:ea typeface="黑体" panose="02010609060101010101" charset="-122"/>
                <a:cs typeface="+mn-ea"/>
              </a:rPr>
              <a:t>f</a:t>
            </a:r>
            <a:r>
              <a:rPr lang="en-US" altLang="zh-CN" sz="2200" dirty="0">
                <a:solidFill>
                  <a:srgbClr val="000000"/>
                </a:solidFill>
                <a:latin typeface="Times New Roman" panose="02020603050405020304"/>
                <a:ea typeface="黑体" panose="02010609060101010101" charset="-122"/>
                <a:cs typeface="+mn-ea"/>
              </a:rPr>
              <a:t>(</a:t>
            </a:r>
            <a:r>
              <a:rPr lang="en-US" altLang="zh-CN" sz="2200" i="1" dirty="0">
                <a:solidFill>
                  <a:srgbClr val="000000"/>
                </a:solidFill>
                <a:latin typeface="Times New Roman" panose="02020603050405020304"/>
                <a:ea typeface="黑体" panose="02010609060101010101" charset="-122"/>
                <a:cs typeface="+mn-ea"/>
              </a:rPr>
              <a:t>w</a:t>
            </a:r>
            <a:r>
              <a:rPr lang="en-US" altLang="zh-CN" sz="2200" baseline="-25000" dirty="0">
                <a:solidFill>
                  <a:srgbClr val="000000"/>
                </a:solidFill>
                <a:latin typeface="Times New Roman" panose="02020603050405020304"/>
                <a:ea typeface="黑体" panose="02010609060101010101" charset="-122"/>
                <a:cs typeface="+mn-ea"/>
              </a:rPr>
              <a:t>3</a:t>
            </a:r>
            <a:r>
              <a:rPr lang="en-US" altLang="zh-CN" sz="2200" i="1" dirty="0">
                <a:solidFill>
                  <a:srgbClr val="000000"/>
                </a:solidFill>
                <a:latin typeface="Times New Roman" panose="02020603050405020304"/>
                <a:ea typeface="黑体" panose="02010609060101010101" charset="-122"/>
                <a:cs typeface="+mn-ea"/>
              </a:rPr>
              <a:t>s</a:t>
            </a:r>
            <a:r>
              <a:rPr lang="en-US" altLang="zh-CN" sz="2200" baseline="-25000" dirty="0">
                <a:solidFill>
                  <a:srgbClr val="000000"/>
                </a:solidFill>
                <a:latin typeface="Times New Roman" panose="02020603050405020304"/>
                <a:ea typeface="黑体" panose="02010609060101010101" charset="-122"/>
                <a:cs typeface="+mn-ea"/>
              </a:rPr>
              <a:t>1</a:t>
            </a:r>
            <a:r>
              <a:rPr lang="en-US" altLang="zh-CN" sz="2200" dirty="0">
                <a:solidFill>
                  <a:srgbClr val="000000"/>
                </a:solidFill>
                <a:latin typeface="Times New Roman" panose="02020603050405020304"/>
                <a:ea typeface="黑体" panose="02010609060101010101" charset="-122"/>
                <a:cs typeface="+mn-ea"/>
              </a:rPr>
              <a:t>+</a:t>
            </a:r>
            <a:r>
              <a:rPr lang="en-US" altLang="zh-CN" sz="2200" i="1" dirty="0">
                <a:solidFill>
                  <a:srgbClr val="000000"/>
                </a:solidFill>
                <a:latin typeface="Times New Roman" panose="02020603050405020304"/>
                <a:ea typeface="黑体" panose="02010609060101010101" charset="-122"/>
                <a:cs typeface="+mn-ea"/>
              </a:rPr>
              <a:t>w</a:t>
            </a:r>
            <a:r>
              <a:rPr lang="en-US" altLang="zh-CN" sz="2200" baseline="-25000" dirty="0">
                <a:solidFill>
                  <a:srgbClr val="000000"/>
                </a:solidFill>
                <a:latin typeface="Times New Roman" panose="02020603050405020304"/>
                <a:ea typeface="黑体" panose="02010609060101010101" charset="-122"/>
                <a:cs typeface="+mn-ea"/>
              </a:rPr>
              <a:t>4</a:t>
            </a:r>
            <a:r>
              <a:rPr lang="en-US" altLang="zh-CN" sz="2200" i="1" dirty="0">
                <a:solidFill>
                  <a:srgbClr val="000000"/>
                </a:solidFill>
                <a:latin typeface="Times New Roman" panose="02020603050405020304"/>
                <a:ea typeface="黑体" panose="02010609060101010101" charset="-122"/>
                <a:cs typeface="+mn-ea"/>
              </a:rPr>
              <a:t>s</a:t>
            </a:r>
            <a:r>
              <a:rPr lang="en-US" altLang="zh-CN" sz="2200" baseline="-25000" dirty="0">
                <a:solidFill>
                  <a:srgbClr val="000000"/>
                </a:solidFill>
                <a:latin typeface="Times New Roman" panose="02020603050405020304"/>
                <a:ea typeface="黑体" panose="02010609060101010101" charset="-122"/>
                <a:cs typeface="+mn-ea"/>
              </a:rPr>
              <a:t>2</a:t>
            </a:r>
            <a:r>
              <a:rPr lang="en-US" altLang="zh-CN" sz="2200" dirty="0">
                <a:solidFill>
                  <a:srgbClr val="000000"/>
                </a:solidFill>
                <a:latin typeface="Times New Roman" panose="02020603050405020304"/>
                <a:ea typeface="黑体" panose="02010609060101010101" charset="-122"/>
                <a:cs typeface="+mn-ea"/>
              </a:rPr>
              <a:t>+</a:t>
            </a:r>
            <a:r>
              <a:rPr lang="en-US" altLang="zh-CN" sz="2200" i="1" dirty="0">
                <a:solidFill>
                  <a:srgbClr val="000000"/>
                </a:solidFill>
                <a:latin typeface="Times New Roman" panose="02020603050405020304"/>
                <a:ea typeface="黑体" panose="02010609060101010101" charset="-122"/>
                <a:cs typeface="+mn-ea"/>
              </a:rPr>
              <a:t>b</a:t>
            </a:r>
            <a:r>
              <a:rPr lang="en-US" altLang="zh-CN" sz="2200" baseline="-25000" dirty="0">
                <a:solidFill>
                  <a:srgbClr val="000000"/>
                </a:solidFill>
                <a:latin typeface="Times New Roman" panose="02020603050405020304"/>
                <a:ea typeface="黑体" panose="02010609060101010101" charset="-122"/>
                <a:cs typeface="+mn-ea"/>
              </a:rPr>
              <a:t>3</a:t>
            </a:r>
            <a:r>
              <a:rPr lang="en-US" altLang="zh-CN" sz="2200" dirty="0">
                <a:solidFill>
                  <a:srgbClr val="000000"/>
                </a:solidFill>
                <a:latin typeface="Times New Roman" panose="02020603050405020304"/>
                <a:ea typeface="黑体" panose="02010609060101010101" charset="-122"/>
                <a:cs typeface="+mn-ea"/>
              </a:rPr>
              <a:t>) = </a:t>
            </a:r>
            <a:r>
              <a:rPr lang="en-US" altLang="zh-CN" sz="2200" i="1" dirty="0">
                <a:solidFill>
                  <a:srgbClr val="000000"/>
                </a:solidFill>
                <a:latin typeface="Times New Roman" panose="02020603050405020304"/>
                <a:ea typeface="黑体" panose="02010609060101010101" charset="-122"/>
                <a:cs typeface="+mn-ea"/>
              </a:rPr>
              <a:t>f</a:t>
            </a:r>
            <a:r>
              <a:rPr lang="en-US" altLang="zh-CN" sz="2200" dirty="0">
                <a:solidFill>
                  <a:srgbClr val="000000"/>
                </a:solidFill>
                <a:latin typeface="Times New Roman" panose="02020603050405020304"/>
                <a:ea typeface="黑体" panose="02010609060101010101" charset="-122"/>
                <a:cs typeface="+mn-ea"/>
              </a:rPr>
              <a:t>(1*1+1*1-1.5) = 1</a:t>
            </a:r>
            <a:endParaRPr lang="en-US" altLang="zh-CN" sz="2200" dirty="0">
              <a:solidFill>
                <a:srgbClr val="000000"/>
              </a:solidFill>
              <a:latin typeface="Times New Roman" panose="02020603050405020304"/>
              <a:ea typeface="黑体" panose="02010609060101010101" charset="-122"/>
              <a:cs typeface="+mn-ea"/>
            </a:endParaRPr>
          </a:p>
          <a:p>
            <a:pPr marL="431800" lvl="1" indent="-342900">
              <a:lnSpc>
                <a:spcPct val="150000"/>
              </a:lnSpc>
              <a:spcAft>
                <a:spcPts val="600"/>
              </a:spcAft>
              <a:buFont typeface="Arial" panose="020B0604020202020204" pitchFamily="34" charset="0"/>
              <a:buChar char="•"/>
            </a:pPr>
            <a:r>
              <a:rPr lang="zh-CN" altLang="en-US" sz="2200" dirty="0">
                <a:solidFill>
                  <a:srgbClr val="000000"/>
                </a:solidFill>
                <a:latin typeface="Times New Roman" panose="02020603050405020304"/>
                <a:ea typeface="黑体" panose="02010609060101010101" charset="-122"/>
                <a:cs typeface="+mn-ea"/>
              </a:rPr>
              <a:t>将样本</a:t>
            </a:r>
            <a:r>
              <a:rPr lang="en-US" altLang="zh-CN" sz="2200" dirty="0">
                <a:solidFill>
                  <a:srgbClr val="000000"/>
                </a:solidFill>
                <a:latin typeface="Times New Roman" panose="02020603050405020304"/>
                <a:ea typeface="黑体" panose="02010609060101010101" charset="-122"/>
                <a:cs typeface="+mn-ea"/>
              </a:rPr>
              <a:t>x</a:t>
            </a:r>
            <a:r>
              <a:rPr lang="en-US" altLang="zh-CN" sz="2200" baseline="-25000" dirty="0">
                <a:solidFill>
                  <a:srgbClr val="000000"/>
                </a:solidFill>
                <a:latin typeface="Times New Roman" panose="02020603050405020304"/>
                <a:ea typeface="黑体" panose="02010609060101010101" charset="-122"/>
                <a:cs typeface="+mn-ea"/>
              </a:rPr>
              <a:t>1</a:t>
            </a:r>
            <a:r>
              <a:rPr lang="zh-CN" altLang="en-US" sz="2200" dirty="0">
                <a:solidFill>
                  <a:srgbClr val="000000"/>
                </a:solidFill>
                <a:latin typeface="Times New Roman" panose="02020603050405020304"/>
                <a:ea typeface="黑体" panose="02010609060101010101" charset="-122"/>
                <a:cs typeface="+mn-ea"/>
              </a:rPr>
              <a:t>，</a:t>
            </a:r>
            <a:r>
              <a:rPr lang="en-US" altLang="zh-CN" sz="2200" dirty="0">
                <a:solidFill>
                  <a:srgbClr val="000000"/>
                </a:solidFill>
                <a:latin typeface="Times New Roman" panose="02020603050405020304"/>
                <a:ea typeface="黑体" panose="02010609060101010101" charset="-122"/>
                <a:cs typeface="+mn-ea"/>
              </a:rPr>
              <a:t>x</a:t>
            </a:r>
            <a:r>
              <a:rPr lang="en-US" altLang="zh-CN" sz="2200" baseline="-25000" dirty="0">
                <a:solidFill>
                  <a:srgbClr val="000000"/>
                </a:solidFill>
                <a:latin typeface="Times New Roman" panose="02020603050405020304"/>
                <a:ea typeface="黑体" panose="02010609060101010101" charset="-122"/>
                <a:cs typeface="+mn-ea"/>
              </a:rPr>
              <a:t>2</a:t>
            </a:r>
            <a:r>
              <a:rPr lang="en-US" altLang="zh-CN" sz="2200" dirty="0">
                <a:solidFill>
                  <a:srgbClr val="000000"/>
                </a:solidFill>
                <a:latin typeface="Times New Roman" panose="02020603050405020304"/>
                <a:ea typeface="黑体" panose="02010609060101010101" charset="-122"/>
                <a:cs typeface="+mn-ea"/>
              </a:rPr>
              <a:t>=</a:t>
            </a:r>
            <a:r>
              <a:rPr lang="zh-CN" altLang="en-US" sz="2200" dirty="0">
                <a:solidFill>
                  <a:srgbClr val="000000"/>
                </a:solidFill>
                <a:latin typeface="Times New Roman" panose="02020603050405020304"/>
                <a:ea typeface="黑体" panose="02010609060101010101" charset="-122"/>
                <a:cs typeface="+mn-ea"/>
              </a:rPr>
              <a:t>（</a:t>
            </a:r>
            <a:r>
              <a:rPr lang="en-US" altLang="zh-CN" sz="2200" dirty="0">
                <a:solidFill>
                  <a:srgbClr val="000000"/>
                </a:solidFill>
                <a:latin typeface="Times New Roman" panose="02020603050405020304"/>
                <a:ea typeface="黑体" panose="02010609060101010101" charset="-122"/>
                <a:cs typeface="+mn-ea"/>
              </a:rPr>
              <a:t>1</a:t>
            </a:r>
            <a:r>
              <a:rPr lang="zh-CN" altLang="en-US" sz="2200" dirty="0">
                <a:solidFill>
                  <a:srgbClr val="000000"/>
                </a:solidFill>
                <a:latin typeface="Times New Roman" panose="02020603050405020304"/>
                <a:ea typeface="黑体" panose="02010609060101010101" charset="-122"/>
                <a:cs typeface="+mn-ea"/>
              </a:rPr>
              <a:t>，</a:t>
            </a:r>
            <a:r>
              <a:rPr lang="en-US" altLang="zh-CN" sz="2200" dirty="0">
                <a:solidFill>
                  <a:srgbClr val="000000"/>
                </a:solidFill>
                <a:latin typeface="Times New Roman" panose="02020603050405020304"/>
                <a:ea typeface="黑体" panose="02010609060101010101" charset="-122"/>
                <a:cs typeface="+mn-ea"/>
              </a:rPr>
              <a:t>1</a:t>
            </a:r>
            <a:r>
              <a:rPr lang="zh-CN" altLang="en-US" sz="2200" dirty="0">
                <a:solidFill>
                  <a:srgbClr val="000000"/>
                </a:solidFill>
                <a:latin typeface="Times New Roman" panose="02020603050405020304"/>
                <a:ea typeface="黑体" panose="02010609060101010101" charset="-122"/>
                <a:cs typeface="+mn-ea"/>
              </a:rPr>
              <a:t>）输入模型，输出</a:t>
            </a:r>
            <a:r>
              <a:rPr lang="en-US" altLang="zh-CN" sz="2200" dirty="0">
                <a:solidFill>
                  <a:srgbClr val="000000"/>
                </a:solidFill>
                <a:latin typeface="Times New Roman" panose="02020603050405020304"/>
                <a:ea typeface="黑体" panose="02010609060101010101" charset="-122"/>
                <a:cs typeface="+mn-ea"/>
              </a:rPr>
              <a:t>y=0</a:t>
            </a:r>
            <a:r>
              <a:rPr lang="zh-CN" altLang="en-US" sz="2200" dirty="0">
                <a:solidFill>
                  <a:srgbClr val="000000"/>
                </a:solidFill>
                <a:latin typeface="Times New Roman" panose="02020603050405020304"/>
                <a:ea typeface="黑体" panose="02010609060101010101" charset="-122"/>
                <a:cs typeface="+mn-ea"/>
              </a:rPr>
              <a:t>，计算如下：</a:t>
            </a:r>
            <a:endParaRPr lang="zh-CN" altLang="en-US" sz="2200" dirty="0">
              <a:solidFill>
                <a:srgbClr val="000000"/>
              </a:solidFill>
              <a:latin typeface="Times New Roman" panose="02020603050405020304"/>
              <a:ea typeface="黑体" panose="02010609060101010101" charset="-122"/>
              <a:cs typeface="+mn-ea"/>
            </a:endParaRPr>
          </a:p>
          <a:p>
            <a:pPr marL="88900" lvl="1">
              <a:lnSpc>
                <a:spcPct val="150000"/>
              </a:lnSpc>
              <a:spcAft>
                <a:spcPts val="600"/>
              </a:spcAft>
            </a:pPr>
            <a:r>
              <a:rPr lang="en-US" altLang="zh-CN" sz="2200" i="1" dirty="0">
                <a:solidFill>
                  <a:srgbClr val="000000"/>
                </a:solidFill>
                <a:latin typeface="Times New Roman" panose="02020603050405020304"/>
                <a:ea typeface="黑体" panose="02010609060101010101" charset="-122"/>
                <a:cs typeface="+mn-ea"/>
              </a:rPr>
              <a:t>s</a:t>
            </a:r>
            <a:r>
              <a:rPr lang="en-US" altLang="zh-CN" sz="2200" baseline="-25000" dirty="0">
                <a:solidFill>
                  <a:srgbClr val="000000"/>
                </a:solidFill>
                <a:latin typeface="Times New Roman" panose="02020603050405020304"/>
                <a:ea typeface="黑体" panose="02010609060101010101" charset="-122"/>
                <a:cs typeface="+mn-ea"/>
              </a:rPr>
              <a:t>1</a:t>
            </a:r>
            <a:r>
              <a:rPr lang="en-US" altLang="zh-CN" sz="2200" dirty="0">
                <a:solidFill>
                  <a:srgbClr val="000000"/>
                </a:solidFill>
                <a:latin typeface="Times New Roman" panose="02020603050405020304"/>
                <a:ea typeface="黑体" panose="02010609060101010101" charset="-122"/>
                <a:cs typeface="+mn-ea"/>
              </a:rPr>
              <a:t> = </a:t>
            </a:r>
            <a:r>
              <a:rPr lang="en-US" altLang="zh-CN" sz="2200" i="1" dirty="0">
                <a:solidFill>
                  <a:srgbClr val="000000"/>
                </a:solidFill>
                <a:latin typeface="Times New Roman" panose="02020603050405020304"/>
                <a:ea typeface="黑体" panose="02010609060101010101" charset="-122"/>
                <a:cs typeface="+mn-ea"/>
              </a:rPr>
              <a:t>f</a:t>
            </a:r>
            <a:r>
              <a:rPr lang="en-US" altLang="zh-CN" sz="2200" dirty="0">
                <a:solidFill>
                  <a:srgbClr val="000000"/>
                </a:solidFill>
                <a:latin typeface="Times New Roman" panose="02020603050405020304"/>
                <a:ea typeface="黑体" panose="02010609060101010101" charset="-122"/>
                <a:cs typeface="+mn-ea"/>
              </a:rPr>
              <a:t>(</a:t>
            </a:r>
            <a:r>
              <a:rPr lang="en-US" altLang="zh-CN" sz="2200" i="1" dirty="0">
                <a:solidFill>
                  <a:srgbClr val="000000"/>
                </a:solidFill>
                <a:latin typeface="Times New Roman" panose="02020603050405020304"/>
                <a:ea typeface="黑体" panose="02010609060101010101" charset="-122"/>
                <a:cs typeface="+mn-ea"/>
              </a:rPr>
              <a:t>w</a:t>
            </a:r>
            <a:r>
              <a:rPr lang="en-US" altLang="zh-CN" sz="2200" baseline="-25000" dirty="0">
                <a:solidFill>
                  <a:srgbClr val="000000"/>
                </a:solidFill>
                <a:latin typeface="Times New Roman" panose="02020603050405020304"/>
                <a:ea typeface="黑体" panose="02010609060101010101" charset="-122"/>
                <a:cs typeface="+mn-ea"/>
              </a:rPr>
              <a:t>11</a:t>
            </a:r>
            <a:r>
              <a:rPr lang="en-US" altLang="zh-CN" sz="2200" i="1" dirty="0">
                <a:solidFill>
                  <a:srgbClr val="000000"/>
                </a:solidFill>
                <a:latin typeface="Times New Roman" panose="02020603050405020304"/>
                <a:ea typeface="黑体" panose="02010609060101010101" charset="-122"/>
                <a:cs typeface="+mn-ea"/>
              </a:rPr>
              <a:t>x</a:t>
            </a:r>
            <a:r>
              <a:rPr lang="en-US" altLang="zh-CN" sz="2200" baseline="-25000" dirty="0">
                <a:solidFill>
                  <a:srgbClr val="000000"/>
                </a:solidFill>
                <a:latin typeface="Times New Roman" panose="02020603050405020304"/>
                <a:ea typeface="黑体" panose="02010609060101010101" charset="-122"/>
                <a:cs typeface="+mn-ea"/>
              </a:rPr>
              <a:t>1</a:t>
            </a:r>
            <a:r>
              <a:rPr lang="en-US" altLang="zh-CN" sz="2200" dirty="0">
                <a:solidFill>
                  <a:srgbClr val="000000"/>
                </a:solidFill>
                <a:latin typeface="Times New Roman" panose="02020603050405020304"/>
                <a:ea typeface="黑体" panose="02010609060101010101" charset="-122"/>
                <a:cs typeface="+mn-ea"/>
              </a:rPr>
              <a:t>+</a:t>
            </a:r>
            <a:r>
              <a:rPr lang="en-US" altLang="zh-CN" sz="2200" i="1" dirty="0">
                <a:solidFill>
                  <a:srgbClr val="000000"/>
                </a:solidFill>
                <a:latin typeface="Times New Roman" panose="02020603050405020304"/>
                <a:ea typeface="黑体" panose="02010609060101010101" charset="-122"/>
                <a:cs typeface="+mn-ea"/>
              </a:rPr>
              <a:t>w</a:t>
            </a:r>
            <a:r>
              <a:rPr lang="en-US" altLang="zh-CN" sz="2200" baseline="-25000" dirty="0">
                <a:solidFill>
                  <a:srgbClr val="000000"/>
                </a:solidFill>
                <a:latin typeface="Times New Roman" panose="02020603050405020304"/>
                <a:ea typeface="黑体" panose="02010609060101010101" charset="-122"/>
                <a:cs typeface="+mn-ea"/>
              </a:rPr>
              <a:t>21</a:t>
            </a:r>
            <a:r>
              <a:rPr lang="en-US" altLang="zh-CN" sz="2200" i="1" dirty="0">
                <a:solidFill>
                  <a:srgbClr val="000000"/>
                </a:solidFill>
                <a:latin typeface="Times New Roman" panose="02020603050405020304"/>
                <a:ea typeface="黑体" panose="02010609060101010101" charset="-122"/>
                <a:cs typeface="+mn-ea"/>
              </a:rPr>
              <a:t>x</a:t>
            </a:r>
            <a:r>
              <a:rPr lang="en-US" altLang="zh-CN" sz="2200" baseline="-25000" dirty="0">
                <a:solidFill>
                  <a:srgbClr val="000000"/>
                </a:solidFill>
                <a:latin typeface="Times New Roman" panose="02020603050405020304"/>
                <a:ea typeface="黑体" panose="02010609060101010101" charset="-122"/>
                <a:cs typeface="+mn-ea"/>
              </a:rPr>
              <a:t>2</a:t>
            </a:r>
            <a:r>
              <a:rPr lang="en-US" altLang="zh-CN" sz="2200" dirty="0">
                <a:solidFill>
                  <a:srgbClr val="000000"/>
                </a:solidFill>
                <a:latin typeface="Times New Roman" panose="02020603050405020304"/>
                <a:ea typeface="黑体" panose="02010609060101010101" charset="-122"/>
                <a:cs typeface="+mn-ea"/>
              </a:rPr>
              <a:t>+</a:t>
            </a:r>
            <a:r>
              <a:rPr lang="en-US" altLang="zh-CN" sz="2200" i="1" dirty="0">
                <a:solidFill>
                  <a:srgbClr val="000000"/>
                </a:solidFill>
                <a:latin typeface="Times New Roman" panose="02020603050405020304"/>
                <a:ea typeface="黑体" panose="02010609060101010101" charset="-122"/>
                <a:cs typeface="+mn-ea"/>
              </a:rPr>
              <a:t>b</a:t>
            </a:r>
            <a:r>
              <a:rPr lang="en-US" altLang="zh-CN" sz="2200" baseline="-25000" dirty="0">
                <a:solidFill>
                  <a:srgbClr val="000000"/>
                </a:solidFill>
                <a:latin typeface="Times New Roman" panose="02020603050405020304"/>
                <a:ea typeface="黑体" panose="02010609060101010101" charset="-122"/>
                <a:cs typeface="+mn-ea"/>
              </a:rPr>
              <a:t>1</a:t>
            </a:r>
            <a:r>
              <a:rPr lang="en-US" altLang="zh-CN" sz="2200" dirty="0">
                <a:solidFill>
                  <a:srgbClr val="000000"/>
                </a:solidFill>
                <a:latin typeface="Times New Roman" panose="02020603050405020304"/>
                <a:ea typeface="黑体" panose="02010609060101010101" charset="-122"/>
                <a:cs typeface="+mn-ea"/>
              </a:rPr>
              <a:t>)= f(1*1+1*1-0.5) = 1</a:t>
            </a:r>
            <a:endParaRPr lang="en-US" altLang="zh-CN" sz="2200" dirty="0">
              <a:solidFill>
                <a:srgbClr val="000000"/>
              </a:solidFill>
              <a:latin typeface="Times New Roman" panose="02020603050405020304"/>
              <a:ea typeface="黑体" panose="02010609060101010101" charset="-122"/>
              <a:cs typeface="+mn-ea"/>
            </a:endParaRPr>
          </a:p>
          <a:p>
            <a:pPr marL="88900" lvl="1">
              <a:lnSpc>
                <a:spcPct val="150000"/>
              </a:lnSpc>
              <a:spcAft>
                <a:spcPts val="600"/>
              </a:spcAft>
            </a:pPr>
            <a:r>
              <a:rPr lang="en-US" altLang="zh-CN" sz="2200" i="1" dirty="0">
                <a:solidFill>
                  <a:srgbClr val="000000"/>
                </a:solidFill>
                <a:latin typeface="Times New Roman" panose="02020603050405020304"/>
                <a:ea typeface="黑体" panose="02010609060101010101" charset="-122"/>
                <a:cs typeface="+mn-ea"/>
              </a:rPr>
              <a:t>s</a:t>
            </a:r>
            <a:r>
              <a:rPr lang="en-US" altLang="zh-CN" sz="2200" baseline="-25000" dirty="0">
                <a:solidFill>
                  <a:srgbClr val="000000"/>
                </a:solidFill>
                <a:latin typeface="Times New Roman" panose="02020603050405020304"/>
                <a:ea typeface="黑体" panose="02010609060101010101" charset="-122"/>
                <a:cs typeface="+mn-ea"/>
              </a:rPr>
              <a:t>2 </a:t>
            </a:r>
            <a:r>
              <a:rPr lang="en-US" altLang="zh-CN" sz="2200" dirty="0">
                <a:solidFill>
                  <a:srgbClr val="000000"/>
                </a:solidFill>
                <a:latin typeface="Times New Roman" panose="02020603050405020304"/>
                <a:ea typeface="黑体" panose="02010609060101010101" charset="-122"/>
                <a:cs typeface="+mn-ea"/>
              </a:rPr>
              <a:t>= </a:t>
            </a:r>
            <a:r>
              <a:rPr lang="en-US" altLang="zh-CN" sz="2200" i="1" dirty="0">
                <a:solidFill>
                  <a:srgbClr val="000000"/>
                </a:solidFill>
                <a:latin typeface="Times New Roman" panose="02020603050405020304"/>
                <a:ea typeface="黑体" panose="02010609060101010101" charset="-122"/>
                <a:cs typeface="+mn-ea"/>
              </a:rPr>
              <a:t>f</a:t>
            </a:r>
            <a:r>
              <a:rPr lang="en-US" altLang="zh-CN" sz="2200" dirty="0">
                <a:solidFill>
                  <a:srgbClr val="000000"/>
                </a:solidFill>
                <a:latin typeface="Times New Roman" panose="02020603050405020304"/>
                <a:ea typeface="黑体" panose="02010609060101010101" charset="-122"/>
                <a:cs typeface="+mn-ea"/>
              </a:rPr>
              <a:t>(</a:t>
            </a:r>
            <a:r>
              <a:rPr lang="en-US" altLang="zh-CN" sz="2200" i="1" dirty="0">
                <a:solidFill>
                  <a:srgbClr val="000000"/>
                </a:solidFill>
                <a:latin typeface="Times New Roman" panose="02020603050405020304"/>
                <a:ea typeface="黑体" panose="02010609060101010101" charset="-122"/>
                <a:cs typeface="+mn-ea"/>
              </a:rPr>
              <a:t>w</a:t>
            </a:r>
            <a:r>
              <a:rPr lang="en-US" altLang="zh-CN" sz="2200" baseline="-25000" dirty="0">
                <a:solidFill>
                  <a:srgbClr val="000000"/>
                </a:solidFill>
                <a:latin typeface="Times New Roman" panose="02020603050405020304"/>
                <a:ea typeface="黑体" panose="02010609060101010101" charset="-122"/>
                <a:cs typeface="+mn-ea"/>
              </a:rPr>
              <a:t>12</a:t>
            </a:r>
            <a:r>
              <a:rPr lang="en-US" altLang="zh-CN" sz="2200" i="1" dirty="0">
                <a:solidFill>
                  <a:srgbClr val="000000"/>
                </a:solidFill>
                <a:latin typeface="Times New Roman" panose="02020603050405020304"/>
                <a:ea typeface="黑体" panose="02010609060101010101" charset="-122"/>
                <a:cs typeface="+mn-ea"/>
              </a:rPr>
              <a:t>x</a:t>
            </a:r>
            <a:r>
              <a:rPr lang="en-US" altLang="zh-CN" sz="2200" baseline="-25000" dirty="0">
                <a:solidFill>
                  <a:srgbClr val="000000"/>
                </a:solidFill>
                <a:latin typeface="Times New Roman" panose="02020603050405020304"/>
                <a:ea typeface="黑体" panose="02010609060101010101" charset="-122"/>
                <a:cs typeface="+mn-ea"/>
              </a:rPr>
              <a:t>1</a:t>
            </a:r>
            <a:r>
              <a:rPr lang="en-US" altLang="zh-CN" sz="2200" dirty="0">
                <a:solidFill>
                  <a:srgbClr val="000000"/>
                </a:solidFill>
                <a:latin typeface="Times New Roman" panose="02020603050405020304"/>
                <a:ea typeface="黑体" panose="02010609060101010101" charset="-122"/>
                <a:cs typeface="+mn-ea"/>
              </a:rPr>
              <a:t>+</a:t>
            </a:r>
            <a:r>
              <a:rPr lang="en-US" altLang="zh-CN" sz="2200" i="1" dirty="0">
                <a:solidFill>
                  <a:srgbClr val="000000"/>
                </a:solidFill>
                <a:latin typeface="Times New Roman" panose="02020603050405020304"/>
                <a:ea typeface="黑体" panose="02010609060101010101" charset="-122"/>
                <a:cs typeface="+mn-ea"/>
              </a:rPr>
              <a:t>w</a:t>
            </a:r>
            <a:r>
              <a:rPr lang="en-US" altLang="zh-CN" sz="2200" baseline="-25000" dirty="0">
                <a:solidFill>
                  <a:srgbClr val="000000"/>
                </a:solidFill>
                <a:latin typeface="Times New Roman" panose="02020603050405020304"/>
                <a:ea typeface="黑体" panose="02010609060101010101" charset="-122"/>
                <a:cs typeface="+mn-ea"/>
              </a:rPr>
              <a:t>22</a:t>
            </a:r>
            <a:r>
              <a:rPr lang="en-US" altLang="zh-CN" sz="2200" i="1" dirty="0">
                <a:solidFill>
                  <a:srgbClr val="000000"/>
                </a:solidFill>
                <a:latin typeface="Times New Roman" panose="02020603050405020304"/>
                <a:ea typeface="黑体" panose="02010609060101010101" charset="-122"/>
                <a:cs typeface="+mn-ea"/>
              </a:rPr>
              <a:t>x</a:t>
            </a:r>
            <a:r>
              <a:rPr lang="en-US" altLang="zh-CN" sz="2200" baseline="-25000" dirty="0">
                <a:solidFill>
                  <a:srgbClr val="000000"/>
                </a:solidFill>
                <a:latin typeface="Times New Roman" panose="02020603050405020304"/>
                <a:ea typeface="黑体" panose="02010609060101010101" charset="-122"/>
                <a:cs typeface="+mn-ea"/>
              </a:rPr>
              <a:t>2</a:t>
            </a:r>
            <a:r>
              <a:rPr lang="en-US" altLang="zh-CN" sz="2200" dirty="0">
                <a:solidFill>
                  <a:srgbClr val="000000"/>
                </a:solidFill>
                <a:latin typeface="Times New Roman" panose="02020603050405020304"/>
                <a:ea typeface="黑体" panose="02010609060101010101" charset="-122"/>
                <a:cs typeface="+mn-ea"/>
              </a:rPr>
              <a:t>+</a:t>
            </a:r>
            <a:r>
              <a:rPr lang="en-US" altLang="zh-CN" sz="2200" i="1" dirty="0">
                <a:solidFill>
                  <a:srgbClr val="000000"/>
                </a:solidFill>
                <a:latin typeface="Times New Roman" panose="02020603050405020304"/>
                <a:ea typeface="黑体" panose="02010609060101010101" charset="-122"/>
                <a:cs typeface="+mn-ea"/>
              </a:rPr>
              <a:t>b</a:t>
            </a:r>
            <a:r>
              <a:rPr lang="en-US" altLang="zh-CN" sz="2200" baseline="-25000" dirty="0">
                <a:solidFill>
                  <a:srgbClr val="000000"/>
                </a:solidFill>
                <a:latin typeface="Times New Roman" panose="02020603050405020304"/>
                <a:ea typeface="黑体" panose="02010609060101010101" charset="-122"/>
                <a:cs typeface="+mn-ea"/>
              </a:rPr>
              <a:t>2</a:t>
            </a:r>
            <a:r>
              <a:rPr lang="en-US" altLang="zh-CN" sz="2200" dirty="0">
                <a:solidFill>
                  <a:srgbClr val="000000"/>
                </a:solidFill>
                <a:latin typeface="Times New Roman" panose="02020603050405020304"/>
                <a:ea typeface="黑体" panose="02010609060101010101" charset="-122"/>
                <a:cs typeface="+mn-ea"/>
              </a:rPr>
              <a:t>)= f(-1*1+-1*1+1.5) = 0</a:t>
            </a:r>
            <a:endParaRPr lang="en-US" altLang="zh-CN" sz="2200" dirty="0">
              <a:solidFill>
                <a:srgbClr val="000000"/>
              </a:solidFill>
              <a:latin typeface="Times New Roman" panose="02020603050405020304"/>
              <a:ea typeface="黑体" panose="02010609060101010101" charset="-122"/>
              <a:cs typeface="+mn-ea"/>
            </a:endParaRPr>
          </a:p>
          <a:p>
            <a:pPr marL="88900" lvl="1">
              <a:lnSpc>
                <a:spcPct val="150000"/>
              </a:lnSpc>
              <a:spcAft>
                <a:spcPts val="600"/>
              </a:spcAft>
            </a:pPr>
            <a:r>
              <a:rPr lang="en-US" altLang="zh-CN" sz="2200" i="1" dirty="0">
                <a:solidFill>
                  <a:srgbClr val="000000"/>
                </a:solidFill>
                <a:latin typeface="Times New Roman" panose="02020603050405020304"/>
                <a:ea typeface="黑体" panose="02010609060101010101" charset="-122"/>
                <a:cs typeface="+mn-ea"/>
              </a:rPr>
              <a:t>y</a:t>
            </a:r>
            <a:r>
              <a:rPr lang="en-US" altLang="zh-CN" sz="2200" dirty="0">
                <a:solidFill>
                  <a:srgbClr val="000000"/>
                </a:solidFill>
                <a:latin typeface="Times New Roman" panose="02020603050405020304"/>
                <a:ea typeface="黑体" panose="02010609060101010101" charset="-122"/>
                <a:cs typeface="+mn-ea"/>
              </a:rPr>
              <a:t> = </a:t>
            </a:r>
            <a:r>
              <a:rPr lang="en-US" altLang="zh-CN" sz="2200" i="1" dirty="0">
                <a:solidFill>
                  <a:srgbClr val="000000"/>
                </a:solidFill>
                <a:latin typeface="Times New Roman" panose="02020603050405020304"/>
                <a:ea typeface="黑体" panose="02010609060101010101" charset="-122"/>
                <a:cs typeface="+mn-ea"/>
              </a:rPr>
              <a:t>f</a:t>
            </a:r>
            <a:r>
              <a:rPr lang="en-US" altLang="zh-CN" sz="2200" dirty="0">
                <a:solidFill>
                  <a:srgbClr val="000000"/>
                </a:solidFill>
                <a:latin typeface="Times New Roman" panose="02020603050405020304"/>
                <a:ea typeface="黑体" panose="02010609060101010101" charset="-122"/>
                <a:cs typeface="+mn-ea"/>
              </a:rPr>
              <a:t>(</a:t>
            </a:r>
            <a:r>
              <a:rPr lang="en-US" altLang="zh-CN" sz="2200" i="1" dirty="0">
                <a:solidFill>
                  <a:srgbClr val="000000"/>
                </a:solidFill>
                <a:latin typeface="Times New Roman" panose="02020603050405020304"/>
                <a:ea typeface="黑体" panose="02010609060101010101" charset="-122"/>
                <a:cs typeface="+mn-ea"/>
              </a:rPr>
              <a:t>w</a:t>
            </a:r>
            <a:r>
              <a:rPr lang="en-US" altLang="zh-CN" sz="2200" baseline="-25000" dirty="0">
                <a:solidFill>
                  <a:srgbClr val="000000"/>
                </a:solidFill>
                <a:latin typeface="Times New Roman" panose="02020603050405020304"/>
                <a:ea typeface="黑体" panose="02010609060101010101" charset="-122"/>
                <a:cs typeface="+mn-ea"/>
              </a:rPr>
              <a:t>3</a:t>
            </a:r>
            <a:r>
              <a:rPr lang="en-US" altLang="zh-CN" sz="2200" i="1" dirty="0">
                <a:solidFill>
                  <a:srgbClr val="000000"/>
                </a:solidFill>
                <a:latin typeface="Times New Roman" panose="02020603050405020304"/>
                <a:ea typeface="黑体" panose="02010609060101010101" charset="-122"/>
                <a:cs typeface="+mn-ea"/>
              </a:rPr>
              <a:t>s</a:t>
            </a:r>
            <a:r>
              <a:rPr lang="en-US" altLang="zh-CN" sz="2200" baseline="-25000" dirty="0">
                <a:solidFill>
                  <a:srgbClr val="000000"/>
                </a:solidFill>
                <a:latin typeface="Times New Roman" panose="02020603050405020304"/>
                <a:ea typeface="黑体" panose="02010609060101010101" charset="-122"/>
                <a:cs typeface="+mn-ea"/>
              </a:rPr>
              <a:t>1</a:t>
            </a:r>
            <a:r>
              <a:rPr lang="en-US" altLang="zh-CN" sz="2200" dirty="0">
                <a:solidFill>
                  <a:srgbClr val="000000"/>
                </a:solidFill>
                <a:latin typeface="Times New Roman" panose="02020603050405020304"/>
                <a:ea typeface="黑体" panose="02010609060101010101" charset="-122"/>
                <a:cs typeface="+mn-ea"/>
              </a:rPr>
              <a:t>+</a:t>
            </a:r>
            <a:r>
              <a:rPr lang="en-US" altLang="zh-CN" sz="2200" i="1" dirty="0">
                <a:solidFill>
                  <a:srgbClr val="000000"/>
                </a:solidFill>
                <a:latin typeface="Times New Roman" panose="02020603050405020304"/>
                <a:ea typeface="黑体" panose="02010609060101010101" charset="-122"/>
                <a:cs typeface="+mn-ea"/>
              </a:rPr>
              <a:t>w</a:t>
            </a:r>
            <a:r>
              <a:rPr lang="en-US" altLang="zh-CN" sz="2200" baseline="-25000" dirty="0">
                <a:solidFill>
                  <a:srgbClr val="000000"/>
                </a:solidFill>
                <a:latin typeface="Times New Roman" panose="02020603050405020304"/>
                <a:ea typeface="黑体" panose="02010609060101010101" charset="-122"/>
                <a:cs typeface="+mn-ea"/>
              </a:rPr>
              <a:t>4</a:t>
            </a:r>
            <a:r>
              <a:rPr lang="en-US" altLang="zh-CN" sz="2200" i="1" dirty="0">
                <a:solidFill>
                  <a:srgbClr val="000000"/>
                </a:solidFill>
                <a:latin typeface="Times New Roman" panose="02020603050405020304"/>
                <a:ea typeface="黑体" panose="02010609060101010101" charset="-122"/>
                <a:cs typeface="+mn-ea"/>
              </a:rPr>
              <a:t>s</a:t>
            </a:r>
            <a:r>
              <a:rPr lang="en-US" altLang="zh-CN" sz="2200" baseline="-25000" dirty="0">
                <a:solidFill>
                  <a:srgbClr val="000000"/>
                </a:solidFill>
                <a:latin typeface="Times New Roman" panose="02020603050405020304"/>
                <a:ea typeface="黑体" panose="02010609060101010101" charset="-122"/>
                <a:cs typeface="+mn-ea"/>
              </a:rPr>
              <a:t>2</a:t>
            </a:r>
            <a:r>
              <a:rPr lang="en-US" altLang="zh-CN" sz="2200" dirty="0">
                <a:solidFill>
                  <a:srgbClr val="000000"/>
                </a:solidFill>
                <a:latin typeface="Times New Roman" panose="02020603050405020304"/>
                <a:ea typeface="黑体" panose="02010609060101010101" charset="-122"/>
                <a:cs typeface="+mn-ea"/>
              </a:rPr>
              <a:t>+</a:t>
            </a:r>
            <a:r>
              <a:rPr lang="en-US" altLang="zh-CN" sz="2200" i="1" dirty="0">
                <a:solidFill>
                  <a:srgbClr val="000000"/>
                </a:solidFill>
                <a:latin typeface="Times New Roman" panose="02020603050405020304"/>
                <a:ea typeface="黑体" panose="02010609060101010101" charset="-122"/>
                <a:cs typeface="+mn-ea"/>
              </a:rPr>
              <a:t>b</a:t>
            </a:r>
            <a:r>
              <a:rPr lang="en-US" altLang="zh-CN" sz="2200" baseline="-25000" dirty="0">
                <a:solidFill>
                  <a:srgbClr val="000000"/>
                </a:solidFill>
                <a:latin typeface="Times New Roman" panose="02020603050405020304"/>
                <a:ea typeface="黑体" panose="02010609060101010101" charset="-122"/>
                <a:cs typeface="+mn-ea"/>
              </a:rPr>
              <a:t>3</a:t>
            </a:r>
            <a:r>
              <a:rPr lang="en-US" altLang="zh-CN" sz="2200" dirty="0">
                <a:solidFill>
                  <a:srgbClr val="000000"/>
                </a:solidFill>
                <a:latin typeface="Times New Roman" panose="02020603050405020304"/>
                <a:ea typeface="黑体" panose="02010609060101010101" charset="-122"/>
                <a:cs typeface="+mn-ea"/>
              </a:rPr>
              <a:t>)= f(1*1+1*0-1.5) = 0</a:t>
            </a:r>
            <a:endParaRPr lang="zh-CN" altLang="en-US" sz="2200" dirty="0">
              <a:solidFill>
                <a:prstClr val="black"/>
              </a:solidFill>
              <a:latin typeface="Times New Roman" panose="02020603050405020304"/>
              <a:ea typeface="黑体" panose="02010609060101010101"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25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750"/>
                                        <p:tgtEl>
                                          <p:spTgt spid="7">
                                            <p:txEl>
                                              <p:pRg st="0" end="0"/>
                                            </p:txEl>
                                          </p:spTgt>
                                        </p:tgtEl>
                                      </p:cBhvr>
                                    </p:animEffect>
                                  </p:childTnLst>
                                </p:cTn>
                              </p:par>
                            </p:childTnLst>
                          </p:cTn>
                        </p:par>
                        <p:par>
                          <p:cTn id="8" fill="hold">
                            <p:stCondLst>
                              <p:cond delay="1250"/>
                            </p:stCondLst>
                            <p:childTnLst>
                              <p:par>
                                <p:cTn id="9" presetID="10" presetClass="entr" presetSubtype="0" fill="hold" nodeType="afterEffect">
                                  <p:stCondLst>
                                    <p:cond delay="250"/>
                                  </p:stCondLst>
                                  <p:childTnLst>
                                    <p:set>
                                      <p:cBhvr>
                                        <p:cTn id="10" dur="1" fill="hold">
                                          <p:stCondLst>
                                            <p:cond delay="0"/>
                                          </p:stCondLst>
                                        </p:cTn>
                                        <p:tgtEl>
                                          <p:spTgt spid="7">
                                            <p:txEl>
                                              <p:pRg st="1" end="1"/>
                                            </p:txEl>
                                          </p:spTgt>
                                        </p:tgtEl>
                                        <p:attrNameLst>
                                          <p:attrName>style.visibility</p:attrName>
                                        </p:attrNameLst>
                                      </p:cBhvr>
                                      <p:to>
                                        <p:strVal val="visible"/>
                                      </p:to>
                                    </p:set>
                                    <p:animEffect transition="in" filter="fade">
                                      <p:cBhvr>
                                        <p:cTn id="11" dur="750"/>
                                        <p:tgtEl>
                                          <p:spTgt spid="7">
                                            <p:txEl>
                                              <p:pRg st="1" end="1"/>
                                            </p:txEl>
                                          </p:spTgt>
                                        </p:tgtEl>
                                      </p:cBhvr>
                                    </p:animEffect>
                                  </p:childTnLst>
                                </p:cTn>
                              </p:par>
                            </p:childTnLst>
                          </p:cTn>
                        </p:par>
                        <p:par>
                          <p:cTn id="12" fill="hold">
                            <p:stCondLst>
                              <p:cond delay="2500"/>
                            </p:stCondLst>
                            <p:childTnLst>
                              <p:par>
                                <p:cTn id="13" presetID="10" presetClass="entr" presetSubtype="0" fill="hold" nodeType="afterEffect">
                                  <p:stCondLst>
                                    <p:cond delay="250"/>
                                  </p:stCondLst>
                                  <p:childTnLst>
                                    <p:set>
                                      <p:cBhvr>
                                        <p:cTn id="14" dur="1" fill="hold">
                                          <p:stCondLst>
                                            <p:cond delay="0"/>
                                          </p:stCondLst>
                                        </p:cTn>
                                        <p:tgtEl>
                                          <p:spTgt spid="7">
                                            <p:txEl>
                                              <p:pRg st="2" end="2"/>
                                            </p:txEl>
                                          </p:spTgt>
                                        </p:tgtEl>
                                        <p:attrNameLst>
                                          <p:attrName>style.visibility</p:attrName>
                                        </p:attrNameLst>
                                      </p:cBhvr>
                                      <p:to>
                                        <p:strVal val="visible"/>
                                      </p:to>
                                    </p:set>
                                    <p:animEffect transition="in" filter="fade">
                                      <p:cBhvr>
                                        <p:cTn id="15" dur="750"/>
                                        <p:tgtEl>
                                          <p:spTgt spid="7">
                                            <p:txEl>
                                              <p:pRg st="2" end="2"/>
                                            </p:txEl>
                                          </p:spTgt>
                                        </p:tgtEl>
                                      </p:cBhvr>
                                    </p:animEffect>
                                  </p:childTnLst>
                                </p:cTn>
                              </p:par>
                            </p:childTnLst>
                          </p:cTn>
                        </p:par>
                        <p:par>
                          <p:cTn id="16" fill="hold">
                            <p:stCondLst>
                              <p:cond delay="3750"/>
                            </p:stCondLst>
                            <p:childTnLst>
                              <p:par>
                                <p:cTn id="17" presetID="10" presetClass="entr" presetSubtype="0" fill="hold" nodeType="afterEffect">
                                  <p:stCondLst>
                                    <p:cond delay="250"/>
                                  </p:stCondLst>
                                  <p:childTnLst>
                                    <p:set>
                                      <p:cBhvr>
                                        <p:cTn id="18" dur="1" fill="hold">
                                          <p:stCondLst>
                                            <p:cond delay="0"/>
                                          </p:stCondLst>
                                        </p:cTn>
                                        <p:tgtEl>
                                          <p:spTgt spid="7">
                                            <p:txEl>
                                              <p:pRg st="3" end="3"/>
                                            </p:txEl>
                                          </p:spTgt>
                                        </p:tgtEl>
                                        <p:attrNameLst>
                                          <p:attrName>style.visibility</p:attrName>
                                        </p:attrNameLst>
                                      </p:cBhvr>
                                      <p:to>
                                        <p:strVal val="visible"/>
                                      </p:to>
                                    </p:set>
                                    <p:animEffect transition="in" filter="fade">
                                      <p:cBhvr>
                                        <p:cTn id="19" dur="750"/>
                                        <p:tgtEl>
                                          <p:spTgt spid="7">
                                            <p:txEl>
                                              <p:pRg st="3" end="3"/>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7">
                                            <p:txEl>
                                              <p:pRg st="4" end="4"/>
                                            </p:txEl>
                                          </p:spTgt>
                                        </p:tgtEl>
                                        <p:attrNameLst>
                                          <p:attrName>style.visibility</p:attrName>
                                        </p:attrNameLst>
                                      </p:cBhvr>
                                      <p:to>
                                        <p:strVal val="visible"/>
                                      </p:to>
                                    </p:set>
                                    <p:animEffect transition="in" filter="fade">
                                      <p:cBhvr>
                                        <p:cTn id="24" dur="750"/>
                                        <p:tgtEl>
                                          <p:spTgt spid="7">
                                            <p:txEl>
                                              <p:pRg st="4" end="4"/>
                                            </p:txEl>
                                          </p:spTgt>
                                        </p:tgtEl>
                                      </p:cBhvr>
                                    </p:animEffect>
                                  </p:childTnLst>
                                </p:cTn>
                              </p:par>
                            </p:childTnLst>
                          </p:cTn>
                        </p:par>
                        <p:par>
                          <p:cTn id="25" fill="hold">
                            <p:stCondLst>
                              <p:cond delay="1000"/>
                            </p:stCondLst>
                            <p:childTnLst>
                              <p:par>
                                <p:cTn id="26" presetID="10" presetClass="entr" presetSubtype="0" fill="hold" nodeType="afterEffect">
                                  <p:stCondLst>
                                    <p:cond delay="250"/>
                                  </p:stCondLst>
                                  <p:childTnLst>
                                    <p:set>
                                      <p:cBhvr>
                                        <p:cTn id="27" dur="1" fill="hold">
                                          <p:stCondLst>
                                            <p:cond delay="0"/>
                                          </p:stCondLst>
                                        </p:cTn>
                                        <p:tgtEl>
                                          <p:spTgt spid="7">
                                            <p:txEl>
                                              <p:pRg st="5" end="5"/>
                                            </p:txEl>
                                          </p:spTgt>
                                        </p:tgtEl>
                                        <p:attrNameLst>
                                          <p:attrName>style.visibility</p:attrName>
                                        </p:attrNameLst>
                                      </p:cBhvr>
                                      <p:to>
                                        <p:strVal val="visible"/>
                                      </p:to>
                                    </p:set>
                                    <p:animEffect transition="in" filter="fade">
                                      <p:cBhvr>
                                        <p:cTn id="28" dur="750"/>
                                        <p:tgtEl>
                                          <p:spTgt spid="7">
                                            <p:txEl>
                                              <p:pRg st="5" end="5"/>
                                            </p:txEl>
                                          </p:spTgt>
                                        </p:tgtEl>
                                      </p:cBhvr>
                                    </p:animEffect>
                                  </p:childTnLst>
                                </p:cTn>
                              </p:par>
                            </p:childTnLst>
                          </p:cTn>
                        </p:par>
                        <p:par>
                          <p:cTn id="29" fill="hold">
                            <p:stCondLst>
                              <p:cond delay="2250"/>
                            </p:stCondLst>
                            <p:childTnLst>
                              <p:par>
                                <p:cTn id="30" presetID="10" presetClass="entr" presetSubtype="0" fill="hold" nodeType="afterEffect">
                                  <p:stCondLst>
                                    <p:cond delay="250"/>
                                  </p:stCondLst>
                                  <p:childTnLst>
                                    <p:set>
                                      <p:cBhvr>
                                        <p:cTn id="31" dur="1" fill="hold">
                                          <p:stCondLst>
                                            <p:cond delay="0"/>
                                          </p:stCondLst>
                                        </p:cTn>
                                        <p:tgtEl>
                                          <p:spTgt spid="7">
                                            <p:txEl>
                                              <p:pRg st="6" end="6"/>
                                            </p:txEl>
                                          </p:spTgt>
                                        </p:tgtEl>
                                        <p:attrNameLst>
                                          <p:attrName>style.visibility</p:attrName>
                                        </p:attrNameLst>
                                      </p:cBhvr>
                                      <p:to>
                                        <p:strVal val="visible"/>
                                      </p:to>
                                    </p:set>
                                    <p:animEffect transition="in" filter="fade">
                                      <p:cBhvr>
                                        <p:cTn id="32" dur="750"/>
                                        <p:tgtEl>
                                          <p:spTgt spid="7">
                                            <p:txEl>
                                              <p:pRg st="6" end="6"/>
                                            </p:txEl>
                                          </p:spTgt>
                                        </p:tgtEl>
                                      </p:cBhvr>
                                    </p:animEffect>
                                  </p:childTnLst>
                                </p:cTn>
                              </p:par>
                            </p:childTnLst>
                          </p:cTn>
                        </p:par>
                        <p:par>
                          <p:cTn id="33" fill="hold">
                            <p:stCondLst>
                              <p:cond delay="3500"/>
                            </p:stCondLst>
                            <p:childTnLst>
                              <p:par>
                                <p:cTn id="34" presetID="10" presetClass="entr" presetSubtype="0" fill="hold" nodeType="afterEffect">
                                  <p:stCondLst>
                                    <p:cond delay="250"/>
                                  </p:stCondLst>
                                  <p:childTnLst>
                                    <p:set>
                                      <p:cBhvr>
                                        <p:cTn id="35" dur="1" fill="hold">
                                          <p:stCondLst>
                                            <p:cond delay="0"/>
                                          </p:stCondLst>
                                        </p:cTn>
                                        <p:tgtEl>
                                          <p:spTgt spid="7">
                                            <p:txEl>
                                              <p:pRg st="7" end="7"/>
                                            </p:txEl>
                                          </p:spTgt>
                                        </p:tgtEl>
                                        <p:attrNameLst>
                                          <p:attrName>style.visibility</p:attrName>
                                        </p:attrNameLst>
                                      </p:cBhvr>
                                      <p:to>
                                        <p:strVal val="visible"/>
                                      </p:to>
                                    </p:set>
                                    <p:animEffect transition="in" filter="fade">
                                      <p:cBhvr>
                                        <p:cTn id="36" dur="750"/>
                                        <p:tgtEl>
                                          <p:spTgt spid="7">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p="http://schemas.openxmlformats.org/presentationml/2006/main">
  <p:tag name="KSO_WM_UNIT_PLACING_PICTURE_USER_VIEWPORT" val="{&quot;height&quot;:4357,&quot;width&quot;:7420}"/>
</p:tagLst>
</file>

<file path=ppt/tags/tag2.xml><?xml version="1.0" encoding="utf-8"?>
<p:tagLst xmlns:p="http://schemas.openxmlformats.org/presentationml/2006/main">
  <p:tag name="KSO_WM_UNIT_PLACING_PICTURE_USER_VIEWPORT" val="{&quot;height&quot;:3435,&quot;width&quot;:8130}"/>
</p:tagLst>
</file>

<file path=ppt/tags/tag3.xml><?xml version="1.0" encoding="utf-8"?>
<p:tagLst xmlns:p="http://schemas.openxmlformats.org/presentationml/2006/main">
  <p:tag name="KSO_WM_UNIT_PLACING_PICTURE_USER_VIEWPORT" val="{&quot;height&quot;:3280,&quot;width&quot;:6540}"/>
</p:tagLst>
</file>

<file path=ppt/theme/theme1.xml><?xml version="1.0" encoding="utf-8"?>
<a:theme xmlns:a="http://schemas.openxmlformats.org/drawingml/2006/main" name="白底灰边-Office2010风格">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黑体+Times">
      <a:majorFont>
        <a:latin typeface="Times New Roman"/>
        <a:ea typeface="黑体"/>
        <a:cs typeface=""/>
      </a:majorFont>
      <a:minorFont>
        <a:latin typeface="Times New Roman"/>
        <a:ea typeface="黑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5788</Words>
  <Application>WPS 演示</Application>
  <PresentationFormat>宽屏</PresentationFormat>
  <Paragraphs>312</Paragraphs>
  <Slides>36</Slides>
  <Notes>1</Notes>
  <HiddenSlides>0</HiddenSlides>
  <MMClips>0</MMClips>
  <ScaleCrop>false</ScaleCrop>
  <HeadingPairs>
    <vt:vector size="8" baseType="variant">
      <vt:variant>
        <vt:lpstr>已用的字体</vt:lpstr>
      </vt:variant>
      <vt:variant>
        <vt:i4>16</vt:i4>
      </vt:variant>
      <vt:variant>
        <vt:lpstr>主题</vt:lpstr>
      </vt:variant>
      <vt:variant>
        <vt:i4>1</vt:i4>
      </vt:variant>
      <vt:variant>
        <vt:lpstr>嵌入 OLE 服务器</vt:lpstr>
      </vt:variant>
      <vt:variant>
        <vt:i4>2</vt:i4>
      </vt:variant>
      <vt:variant>
        <vt:lpstr>幻灯片标题</vt:lpstr>
      </vt:variant>
      <vt:variant>
        <vt:i4>36</vt:i4>
      </vt:variant>
    </vt:vector>
  </HeadingPairs>
  <TitlesOfParts>
    <vt:vector size="55" baseType="lpstr">
      <vt:lpstr>Arial</vt:lpstr>
      <vt:lpstr>宋体</vt:lpstr>
      <vt:lpstr>Wingdings</vt:lpstr>
      <vt:lpstr>华文行楷</vt:lpstr>
      <vt:lpstr>微软雅黑</vt:lpstr>
      <vt:lpstr>Times New Roman</vt:lpstr>
      <vt:lpstr>黑体</vt:lpstr>
      <vt:lpstr>Verdana</vt:lpstr>
      <vt:lpstr>Times New Roman</vt:lpstr>
      <vt:lpstr>Calibri</vt:lpstr>
      <vt:lpstr>方正姚体</vt:lpstr>
      <vt:lpstr>Arial Unicode MS</vt:lpstr>
      <vt:lpstr>等线</vt:lpstr>
      <vt:lpstr>Cambria Math</vt:lpstr>
      <vt:lpstr>BatangChe</vt:lpstr>
      <vt:lpstr>AMGDT</vt:lpstr>
      <vt:lpstr>白底灰边-Office2010风格</vt:lpstr>
      <vt:lpstr>Equation.3</vt:lpstr>
      <vt:lpstr>Equation.3</vt:lpstr>
      <vt:lpstr>深度学习</vt:lpstr>
      <vt:lpstr>PowerPoint 演示文稿</vt:lpstr>
      <vt:lpstr>人工神经网络简介</vt:lpstr>
      <vt:lpstr>人工神经网络简介</vt:lpstr>
      <vt:lpstr>人工神经网络简介</vt:lpstr>
      <vt:lpstr>人工神经网络简介</vt:lpstr>
      <vt:lpstr>人工神经网络简介</vt:lpstr>
      <vt:lpstr>人工神经网络简介</vt:lpstr>
      <vt:lpstr>人工神经网络简介</vt:lpstr>
      <vt:lpstr>人工神经网络简介</vt:lpstr>
      <vt:lpstr>人工神经网络简介</vt:lpstr>
      <vt:lpstr>人工神经网络简介</vt:lpstr>
      <vt:lpstr>人工神经网络简介</vt:lpstr>
      <vt:lpstr>人工神经网络简介</vt:lpstr>
      <vt:lpstr>人工神经网络简介</vt:lpstr>
      <vt:lpstr>人工神经网络简介</vt:lpstr>
      <vt:lpstr>人工神经网络简介</vt:lpstr>
      <vt:lpstr>人工神经网络简介</vt:lpstr>
      <vt:lpstr>人工神经网络简介</vt:lpstr>
      <vt:lpstr>人工神经网络简介</vt:lpstr>
      <vt:lpstr>人工神经网络简介</vt:lpstr>
      <vt:lpstr>人工神经网络简介</vt:lpstr>
      <vt:lpstr>人工神经网络简介</vt:lpstr>
      <vt:lpstr>人工神经网络简介</vt:lpstr>
      <vt:lpstr>人工神经网络简介</vt:lpstr>
      <vt:lpstr>人工神经网络简介</vt:lpstr>
      <vt:lpstr>人工神经网络简介</vt:lpstr>
      <vt:lpstr>人工神经网络简介</vt:lpstr>
      <vt:lpstr>人工神经网络简介</vt:lpstr>
      <vt:lpstr>人工神经网络简介</vt:lpstr>
      <vt:lpstr>人工神经网络简介</vt:lpstr>
      <vt:lpstr>人工神经网络简介</vt:lpstr>
      <vt:lpstr>人工神经网络简介</vt:lpstr>
      <vt:lpstr>人工神经网络简介</vt:lpstr>
      <vt:lpstr>人工神经网络简介</vt:lpstr>
      <vt:lpstr>人工神经网络简介</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深度学习</dc:title>
  <dc:creator>wang jiajing</dc:creator>
  <cp:lastModifiedBy>梁桐</cp:lastModifiedBy>
  <cp:revision>2</cp:revision>
  <dcterms:created xsi:type="dcterms:W3CDTF">2022-05-11T07:01:00Z</dcterms:created>
  <dcterms:modified xsi:type="dcterms:W3CDTF">2025-06-18T14:03:59Z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46428AB85D5F4A6DB08CBC7E7ABDA03B_12</vt:lpwstr>
  </property>
  <property fmtid="{D5CDD505-2E9C-101B-9397-08002B2CF9AE}" pid="3" name="KSOProductBuildVer">
    <vt:lpwstr>2052-12.1.0.19770</vt:lpwstr>
  </property>
</Properties>
</file>