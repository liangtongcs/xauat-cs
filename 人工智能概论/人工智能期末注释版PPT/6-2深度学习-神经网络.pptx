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 id="2147483732" r:id="rId2"/>
  </p:sldMasterIdLst>
  <p:notesMasterIdLst>
    <p:notesMasterId r:id="rId73"/>
  </p:notesMasterIdLst>
  <p:sldIdLst>
    <p:sldId id="784" r:id="rId3"/>
    <p:sldId id="645" r:id="rId4"/>
    <p:sldId id="785" r:id="rId5"/>
    <p:sldId id="786" r:id="rId6"/>
    <p:sldId id="787" r:id="rId7"/>
    <p:sldId id="788" r:id="rId8"/>
    <p:sldId id="789" r:id="rId9"/>
    <p:sldId id="790" r:id="rId10"/>
    <p:sldId id="791" r:id="rId11"/>
    <p:sldId id="792" r:id="rId12"/>
    <p:sldId id="793" r:id="rId13"/>
    <p:sldId id="794" r:id="rId14"/>
    <p:sldId id="795" r:id="rId15"/>
    <p:sldId id="796" r:id="rId16"/>
    <p:sldId id="797" r:id="rId17"/>
    <p:sldId id="798" r:id="rId18"/>
    <p:sldId id="799" r:id="rId19"/>
    <p:sldId id="800" r:id="rId20"/>
    <p:sldId id="801" r:id="rId21"/>
    <p:sldId id="802" r:id="rId22"/>
    <p:sldId id="803" r:id="rId23"/>
    <p:sldId id="804" r:id="rId24"/>
    <p:sldId id="805" r:id="rId25"/>
    <p:sldId id="806" r:id="rId26"/>
    <p:sldId id="807" r:id="rId27"/>
    <p:sldId id="808" r:id="rId28"/>
    <p:sldId id="809" r:id="rId29"/>
    <p:sldId id="810" r:id="rId30"/>
    <p:sldId id="811" r:id="rId31"/>
    <p:sldId id="812" r:id="rId32"/>
    <p:sldId id="813" r:id="rId33"/>
    <p:sldId id="814" r:id="rId34"/>
    <p:sldId id="816" r:id="rId35"/>
    <p:sldId id="815" r:id="rId36"/>
    <p:sldId id="817" r:id="rId37"/>
    <p:sldId id="818" r:id="rId38"/>
    <p:sldId id="819" r:id="rId39"/>
    <p:sldId id="820" r:id="rId40"/>
    <p:sldId id="821" r:id="rId41"/>
    <p:sldId id="822" r:id="rId42"/>
    <p:sldId id="823" r:id="rId43"/>
    <p:sldId id="824" r:id="rId44"/>
    <p:sldId id="825" r:id="rId45"/>
    <p:sldId id="826" r:id="rId46"/>
    <p:sldId id="827" r:id="rId47"/>
    <p:sldId id="828" r:id="rId48"/>
    <p:sldId id="829" r:id="rId49"/>
    <p:sldId id="830" r:id="rId50"/>
    <p:sldId id="831" r:id="rId51"/>
    <p:sldId id="832" r:id="rId52"/>
    <p:sldId id="833" r:id="rId53"/>
    <p:sldId id="834" r:id="rId54"/>
    <p:sldId id="835" r:id="rId55"/>
    <p:sldId id="836" r:id="rId56"/>
    <p:sldId id="837" r:id="rId57"/>
    <p:sldId id="838" r:id="rId58"/>
    <p:sldId id="666" r:id="rId59"/>
    <p:sldId id="665" r:id="rId60"/>
    <p:sldId id="646" r:id="rId61"/>
    <p:sldId id="647" r:id="rId62"/>
    <p:sldId id="648" r:id="rId63"/>
    <p:sldId id="652" r:id="rId64"/>
    <p:sldId id="654" r:id="rId65"/>
    <p:sldId id="657" r:id="rId66"/>
    <p:sldId id="658" r:id="rId67"/>
    <p:sldId id="659" r:id="rId68"/>
    <p:sldId id="660" r:id="rId69"/>
    <p:sldId id="661" r:id="rId70"/>
    <p:sldId id="662" r:id="rId71"/>
    <p:sldId id="663"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autoAdjust="0"/>
    <p:restoredTop sz="94660"/>
  </p:normalViewPr>
  <p:slideViewPr>
    <p:cSldViewPr snapToGrid="0">
      <p:cViewPr varScale="1">
        <p:scale>
          <a:sx n="63" d="100"/>
          <a:sy n="63" d="100"/>
        </p:scale>
        <p:origin x="12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6DEE2F-A509-4616-B7F5-B730FF555C4E}" type="datetimeFigureOut">
              <a:rPr lang="zh-CN" altLang="en-US" smtClean="0"/>
              <a:t>2022/5/16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149E01-3F66-4AD3-9EEA-793FF86F7D9D}" type="slidenum">
              <a:rPr lang="zh-CN" altLang="en-US" smtClean="0"/>
              <a:t>‹#›</a:t>
            </a:fld>
            <a:endParaRPr lang="zh-CN" altLang="en-US"/>
          </a:p>
        </p:txBody>
      </p:sp>
    </p:spTree>
    <p:extLst>
      <p:ext uri="{BB962C8B-B14F-4D97-AF65-F5344CB8AC3E}">
        <p14:creationId xmlns:p14="http://schemas.microsoft.com/office/powerpoint/2010/main" val="2428919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F0670441-C6A9-7F49-A2C8-16691D6F2E3C}"/>
              </a:ext>
            </a:extLst>
          </p:cNvPr>
          <p:cNvSpPr>
            <a:spLocks noGrp="1" noRot="1" noChangeAspect="1" noChangeArrowheads="1" noTextEdit="1"/>
          </p:cNvSpPr>
          <p:nvPr>
            <p:ph type="sldImg"/>
          </p:nvPr>
        </p:nvSpPr>
        <p:spPr>
          <a:xfrm>
            <a:off x="1143000" y="685800"/>
            <a:ext cx="4572000" cy="3429000"/>
          </a:xfrm>
        </p:spPr>
      </p:sp>
      <p:sp>
        <p:nvSpPr>
          <p:cNvPr id="19458" name="备注占位符 2">
            <a:extLst>
              <a:ext uri="{FF2B5EF4-FFF2-40B4-BE49-F238E27FC236}">
                <a16:creationId xmlns:a16="http://schemas.microsoft.com/office/drawing/2014/main" id="{B21E9F01-8798-6A4D-AA37-CEB31BA3C86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a:extLst>
              <a:ext uri="{FF2B5EF4-FFF2-40B4-BE49-F238E27FC236}">
                <a16:creationId xmlns:a16="http://schemas.microsoft.com/office/drawing/2014/main" id="{469D7743-928C-4B49-8889-B7DA5F9122F1}"/>
              </a:ext>
            </a:extLst>
          </p:cNvPr>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A079DD9-C9D1-C543-AF12-536BB687E807}" type="slidenum">
              <a:rPr kumimoji="0" lang="en-US" altLang="zh-CN" sz="28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A6875F-43A8-4ED5-AEB4-81822FC3459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228236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37368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4011340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929696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25480603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Content Placeholder 3"/>
          <p:cNvSpPr>
            <a:spLocks noGrp="1"/>
          </p:cNvSpPr>
          <p:nvPr>
            <p:ph sz="quarter" idx="13"/>
          </p:nvPr>
        </p:nvSpPr>
        <p:spPr>
          <a:xfrm>
            <a:off x="685331" y="3051013"/>
            <a:ext cx="3829520" cy="27401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3" name="Content Placeholder 5"/>
          <p:cNvSpPr>
            <a:spLocks noGrp="1"/>
          </p:cNvSpPr>
          <p:nvPr>
            <p:ph sz="quarter" idx="14"/>
          </p:nvPr>
        </p:nvSpPr>
        <p:spPr>
          <a:xfrm>
            <a:off x="4629150" y="3051013"/>
            <a:ext cx="3829051" cy="27401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87328814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2022/5/16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40244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76C0FCEF-073A-4FC7-8BAD-A662F97179A2}" type="datetime1">
              <a:rPr lang="zh-CN" altLang="en-US" smtClean="0"/>
              <a:t>2022/5/16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011270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zh-CN" altLang="en-US"/>
              <a:t>单击此处编辑母版标题样式</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0971528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16836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34856344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6131765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3305457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53453991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4453795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156660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33421274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zh-CN" altLang="en-US"/>
              <a:t>单击此处编辑母版标题样式</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181A378-AD84-4E06-B1B5-6D5F5ACB78AE}"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084091393"/>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p>
        </p:txBody>
      </p:sp>
      <p:sp>
        <p:nvSpPr>
          <p:cNvPr id="3" name="Rectangle 2">
            <a:extLst>
              <a:ext uri="{FF2B5EF4-FFF2-40B4-BE49-F238E27FC236}">
                <a16:creationId xmlns:a16="http://schemas.microsoft.com/office/drawing/2014/main" id="{272A2613-5BCB-3A4E-85A0-87ECABA2EAEC}"/>
              </a:ext>
            </a:extLst>
          </p:cNvPr>
          <p:cNvSpPr>
            <a:spLocks noGrp="1" noChangeArrowheads="1"/>
          </p:cNvSpPr>
          <p:nvPr>
            <p:ph type="sldNum" sz="quarter" idx="10"/>
          </p:nvPr>
        </p:nvSpPr>
        <p:spPr>
          <a:ln/>
        </p:spPr>
        <p:txBody>
          <a:bodyPr/>
          <a:lstStyle>
            <a:lvl1pPr>
              <a:defRPr/>
            </a:lvl1pPr>
          </a:lstStyle>
          <a:p>
            <a:pPr>
              <a:defRPr/>
            </a:pPr>
            <a:fld id="{564B43B8-EC4A-5743-9CA4-764B42BFAC9D}" type="slidenum">
              <a:rPr lang="zh-CN" altLang="en-US"/>
              <a:pPr>
                <a:defRPr/>
              </a:pPr>
              <a:t>‹#›</a:t>
            </a:fld>
            <a:endParaRPr lang="en-US" altLang="zh-CN" sz="1351" dirty="0"/>
          </a:p>
        </p:txBody>
      </p:sp>
    </p:spTree>
    <p:extLst>
      <p:ext uri="{BB962C8B-B14F-4D97-AF65-F5344CB8AC3E}">
        <p14:creationId xmlns:p14="http://schemas.microsoft.com/office/powerpoint/2010/main" val="3257010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E03C160-1CF6-4197-853C-5DD8144FA9BE}" type="datetime1">
              <a:rPr lang="zh-CN" altLang="en-US" smtClean="0"/>
              <a:t>2022/5/16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6293969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257856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4077430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54369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677448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2022/5/16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42710069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2022/5/16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2973280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2022/5/16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40403469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9844435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2022/5/16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8224036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8620547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2022/5/16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9483259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p>
        </p:txBody>
      </p:sp>
      <p:sp>
        <p:nvSpPr>
          <p:cNvPr id="3" name="Rectangle 2">
            <a:extLst>
              <a:ext uri="{FF2B5EF4-FFF2-40B4-BE49-F238E27FC236}">
                <a16:creationId xmlns:a16="http://schemas.microsoft.com/office/drawing/2014/main" id="{272A2613-5BCB-3A4E-85A0-87ECABA2EAEC}"/>
              </a:ext>
            </a:extLst>
          </p:cNvPr>
          <p:cNvSpPr>
            <a:spLocks noGrp="1" noChangeArrowheads="1"/>
          </p:cNvSpPr>
          <p:nvPr>
            <p:ph type="sldNum" sz="quarter" idx="10"/>
          </p:nvPr>
        </p:nvSpPr>
        <p:spPr>
          <a:ln/>
        </p:spPr>
        <p:txBody>
          <a:bodyPr/>
          <a:lstStyle>
            <a:lvl1pPr>
              <a:defRPr/>
            </a:lvl1pPr>
          </a:lstStyle>
          <a:p>
            <a:pPr>
              <a:defRPr/>
            </a:pPr>
            <a:fld id="{564B43B8-EC4A-5743-9CA4-764B42BFAC9D}" type="slidenum">
              <a:rPr lang="zh-CN" altLang="en-US"/>
              <a:pPr>
                <a:defRPr/>
              </a:pPr>
              <a:t>‹#›</a:t>
            </a:fld>
            <a:endParaRPr lang="en-US" altLang="zh-CN" sz="1350" dirty="0"/>
          </a:p>
        </p:txBody>
      </p:sp>
    </p:spTree>
    <p:extLst>
      <p:ext uri="{BB962C8B-B14F-4D97-AF65-F5344CB8AC3E}">
        <p14:creationId xmlns:p14="http://schemas.microsoft.com/office/powerpoint/2010/main" val="2731294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7181A378-AD84-4E06-B1B5-6D5F5ACB78AE}" type="datetime1">
              <a:rPr lang="zh-CN" altLang="en-US" smtClean="0"/>
              <a:t>2022/5/16</a:t>
            </a:fld>
            <a:endParaRPr lang="zh-CN"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zh-CN"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7571042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2022/5/16</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61151929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course163.org/course/ZJU-1003377027"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9.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0.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9.xml"/><Relationship Id="rId1" Type="http://schemas.openxmlformats.org/officeDocument/2006/relationships/vmlDrawing" Target="../drawings/vmlDrawing1.vml"/><Relationship Id="rId6" Type="http://schemas.openxmlformats.org/officeDocument/2006/relationships/image" Target="../media/image12.png"/><Relationship Id="rId5" Type="http://schemas.openxmlformats.org/officeDocument/2006/relationships/image" Target="../media/image11.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9.xml"/><Relationship Id="rId1" Type="http://schemas.openxmlformats.org/officeDocument/2006/relationships/vmlDrawing" Target="../drawings/vmlDrawing2.vml"/><Relationship Id="rId4" Type="http://schemas.openxmlformats.org/officeDocument/2006/relationships/image" Target="../media/image16.wmf"/></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1.xml"/><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1.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7.png"/><Relationship Id="rId1" Type="http://schemas.openxmlformats.org/officeDocument/2006/relationships/slideLayout" Target="../slideLayouts/slideLayout21.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63.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image" Target="../media/image560.png"/><Relationship Id="rId3" Type="http://schemas.openxmlformats.org/officeDocument/2006/relationships/image" Target="../media/image450.png"/><Relationship Id="rId7" Type="http://schemas.openxmlformats.org/officeDocument/2006/relationships/image" Target="../media/image490.png"/><Relationship Id="rId12" Type="http://schemas.openxmlformats.org/officeDocument/2006/relationships/image" Target="../media/image550.png"/><Relationship Id="rId2" Type="http://schemas.openxmlformats.org/officeDocument/2006/relationships/image" Target="../media/image440.png"/><Relationship Id="rId16" Type="http://schemas.openxmlformats.org/officeDocument/2006/relationships/image" Target="../media/image71.png"/><Relationship Id="rId1" Type="http://schemas.openxmlformats.org/officeDocument/2006/relationships/slideLayout" Target="../slideLayouts/slideLayout21.xml"/><Relationship Id="rId6" Type="http://schemas.openxmlformats.org/officeDocument/2006/relationships/image" Target="../media/image480.png"/><Relationship Id="rId11" Type="http://schemas.openxmlformats.org/officeDocument/2006/relationships/image" Target="../media/image540.png"/><Relationship Id="rId5" Type="http://schemas.openxmlformats.org/officeDocument/2006/relationships/image" Target="../media/image470.png"/><Relationship Id="rId15" Type="http://schemas.openxmlformats.org/officeDocument/2006/relationships/image" Target="../media/image580.png"/><Relationship Id="rId10" Type="http://schemas.openxmlformats.org/officeDocument/2006/relationships/image" Target="../media/image530.png"/><Relationship Id="rId4" Type="http://schemas.openxmlformats.org/officeDocument/2006/relationships/image" Target="../media/image460.png"/><Relationship Id="rId9" Type="http://schemas.openxmlformats.org/officeDocument/2006/relationships/image" Target="../media/image520.png"/><Relationship Id="rId14" Type="http://schemas.openxmlformats.org/officeDocument/2006/relationships/image" Target="../media/image570.png"/></Relationships>
</file>

<file path=ppt/slides/_rels/slide6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80.png"/><Relationship Id="rId5" Type="http://schemas.openxmlformats.org/officeDocument/2006/relationships/image" Target="../media/image2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61831-9E67-496F-9B9A-2CE49AE8E3C4}"/>
              </a:ext>
            </a:extLst>
          </p:cNvPr>
          <p:cNvSpPr>
            <a:spLocks noGrp="1"/>
          </p:cNvSpPr>
          <p:nvPr>
            <p:ph type="ctrTitle"/>
          </p:nvPr>
        </p:nvSpPr>
        <p:spPr>
          <a:xfrm>
            <a:off x="753460" y="2780351"/>
            <a:ext cx="7772400" cy="2095500"/>
          </a:xfrm>
        </p:spPr>
        <p:txBody>
          <a:bodyPr>
            <a:normAutofit/>
          </a:bodyPr>
          <a:lstStyle/>
          <a:p>
            <a:pPr algn="ctr">
              <a:lnSpc>
                <a:spcPct val="100000"/>
              </a:lnSpc>
            </a:pP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深度学习</a:t>
            </a:r>
            <a:endParaRPr lang="zh-CN" altLang="en-US" sz="8800" spc="600" dirty="0">
              <a:latin typeface="华文行楷" panose="02010800040101010101" pitchFamily="2" charset="-122"/>
              <a:ea typeface="华文行楷" panose="02010800040101010101" pitchFamily="2" charset="-122"/>
            </a:endParaRPr>
          </a:p>
        </p:txBody>
      </p:sp>
      <p:sp>
        <p:nvSpPr>
          <p:cNvPr id="5" name="矩形 4">
            <a:extLst>
              <a:ext uri="{FF2B5EF4-FFF2-40B4-BE49-F238E27FC236}">
                <a16:creationId xmlns:a16="http://schemas.microsoft.com/office/drawing/2014/main" id="{A9DA1139-08A0-4FE0-810D-C0A7552784E0}"/>
              </a:ext>
            </a:extLst>
          </p:cNvPr>
          <p:cNvSpPr/>
          <p:nvPr/>
        </p:nvSpPr>
        <p:spPr>
          <a:xfrm>
            <a:off x="4877159" y="530760"/>
            <a:ext cx="3775393" cy="400110"/>
          </a:xfrm>
          <a:prstGeom prst="rect">
            <a:avLst/>
          </a:prstGeom>
        </p:spPr>
        <p:txBody>
          <a:bodyPr wrap="none">
            <a:spAutoFit/>
          </a:bodyPr>
          <a:lstStyle/>
          <a:p>
            <a:r>
              <a:rPr lang="en-US" altLang="zh-CN" sz="2000" dirty="0">
                <a:solidFill>
                  <a:prstClr val="black"/>
                </a:solidFill>
                <a:latin typeface="Times New Roman"/>
                <a:ea typeface="黑体"/>
              </a:rPr>
              <a:t>《</a:t>
            </a:r>
            <a:r>
              <a:rPr lang="zh-CN" altLang="en-US" sz="2000" dirty="0">
                <a:solidFill>
                  <a:prstClr val="black"/>
                </a:solidFill>
                <a:latin typeface="Times New Roman"/>
                <a:ea typeface="黑体"/>
              </a:rPr>
              <a:t>人工智能导论：模型与算法</a:t>
            </a:r>
            <a:r>
              <a:rPr lang="en-US" altLang="zh-CN" sz="2000" dirty="0">
                <a:solidFill>
                  <a:prstClr val="black"/>
                </a:solidFill>
                <a:latin typeface="Times New Roman"/>
                <a:ea typeface="黑体"/>
              </a:rPr>
              <a:t>》</a:t>
            </a:r>
            <a:endParaRPr lang="zh-CN" altLang="en-US" sz="2000" dirty="0">
              <a:solidFill>
                <a:prstClr val="black"/>
              </a:solidFill>
              <a:latin typeface="Times New Roman"/>
              <a:ea typeface="黑体"/>
            </a:endParaRPr>
          </a:p>
        </p:txBody>
      </p:sp>
      <p:sp>
        <p:nvSpPr>
          <p:cNvPr id="8" name="标题 1">
            <a:extLst>
              <a:ext uri="{FF2B5EF4-FFF2-40B4-BE49-F238E27FC236}">
                <a16:creationId xmlns:a16="http://schemas.microsoft.com/office/drawing/2014/main" id="{32E5F975-BF95-4957-9230-657C928CF581}"/>
              </a:ext>
            </a:extLst>
          </p:cNvPr>
          <p:cNvSpPr txBox="1">
            <a:spLocks/>
          </p:cNvSpPr>
          <p:nvPr/>
        </p:nvSpPr>
        <p:spPr>
          <a:xfrm>
            <a:off x="679719" y="1435909"/>
            <a:ext cx="7772400" cy="1240032"/>
          </a:xfrm>
          <a:prstGeom prst="rect">
            <a:avLst/>
          </a:prstGeom>
        </p:spPr>
        <p:txBody>
          <a:bodyPr vert="horz" lIns="91440" tIns="144000" rIns="91440" bIns="45720" rtlCol="0" anchor="b">
            <a:normAutofit/>
          </a:bodyPr>
          <a:lstStyle>
            <a:lvl1pPr algn="ctr" defTabSz="914400" rtl="0" eaLnBrk="1" latinLnBrk="0" hangingPunct="1">
              <a:lnSpc>
                <a:spcPct val="90000"/>
              </a:lnSpc>
              <a:spcBef>
                <a:spcPct val="0"/>
              </a:spcBef>
              <a:buNone/>
              <a:defRPr sz="4800" kern="1200">
                <a:solidFill>
                  <a:srgbClr val="C00000"/>
                </a:solidFill>
                <a:latin typeface="+mj-lt"/>
                <a:ea typeface="+mj-ea"/>
                <a:cs typeface="+mj-cs"/>
              </a:defRPr>
            </a:lvl1pPr>
          </a:lstStyle>
          <a:p>
            <a:pPr>
              <a:lnSpc>
                <a:spcPct val="100000"/>
              </a:lnSpc>
            </a:pP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第 </a:t>
            </a:r>
            <a:r>
              <a:rPr lang="en-US" altLang="zh-CN"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6 </a:t>
            </a: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章</a:t>
            </a:r>
            <a:endParaRPr lang="zh-CN" altLang="en-US" sz="6600" spc="600" dirty="0">
              <a:solidFill>
                <a:prstClr val="black"/>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427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6A300084-DFA3-084C-B2F2-40059E9D0BA3}"/>
              </a:ext>
            </a:extLst>
          </p:cNvPr>
          <p:cNvSpPr>
            <a:spLocks noChangeArrowheads="1"/>
          </p:cNvSpPr>
          <p:nvPr/>
        </p:nvSpPr>
        <p:spPr bwMode="auto">
          <a:xfrm>
            <a:off x="6" y="2869"/>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r>
              <a:rPr lang="zh-CN" altLang="en-US" sz="4000" b="1" dirty="0">
                <a:solidFill>
                  <a:srgbClr val="C00000"/>
                </a:solidFill>
                <a:latin typeface="Times New Roman"/>
                <a:ea typeface="微软雅黑" panose="020B0503020204020204" pitchFamily="34" charset="-122"/>
                <a:sym typeface="Times New Roman" panose="02020603050405020304" pitchFamily="18" charset="0"/>
              </a:rPr>
              <a:t>  提纲</a:t>
            </a:r>
          </a:p>
        </p:txBody>
      </p:sp>
      <p:sp>
        <p:nvSpPr>
          <p:cNvPr id="22" name="矩形 7"/>
          <p:cNvSpPr>
            <a:spLocks noChangeArrowheads="1"/>
          </p:cNvSpPr>
          <p:nvPr/>
        </p:nvSpPr>
        <p:spPr bwMode="auto">
          <a:xfrm>
            <a:off x="310965" y="3015204"/>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a:ea typeface="微软雅黑" panose="020B0503020204020204" pitchFamily="34" charset="-122"/>
                <a:sym typeface="Calibri" panose="020F0502020204030204" pitchFamily="34" charset="0"/>
              </a:rPr>
              <a:t>二、卷积神经网络</a:t>
            </a:r>
          </a:p>
        </p:txBody>
      </p:sp>
      <p:sp>
        <p:nvSpPr>
          <p:cNvPr id="24" name="矩形 7"/>
          <p:cNvSpPr>
            <a:spLocks noChangeArrowheads="1"/>
          </p:cNvSpPr>
          <p:nvPr/>
        </p:nvSpPr>
        <p:spPr bwMode="auto">
          <a:xfrm>
            <a:off x="233847" y="1716748"/>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a:ea typeface="微软雅黑" panose="020B0503020204020204" pitchFamily="34" charset="-122"/>
              </a:rPr>
              <a:t>一、前馈神经网络</a:t>
            </a:r>
          </a:p>
        </p:txBody>
      </p:sp>
      <p:sp>
        <p:nvSpPr>
          <p:cNvPr id="2" name="矩形 1"/>
          <p:cNvSpPr/>
          <p:nvPr/>
        </p:nvSpPr>
        <p:spPr>
          <a:xfrm>
            <a:off x="633471" y="5611383"/>
            <a:ext cx="7629180" cy="566822"/>
          </a:xfrm>
          <a:prstGeom prst="rect">
            <a:avLst/>
          </a:prstGeom>
        </p:spPr>
        <p:txBody>
          <a:bodyPr wrap="square">
            <a:spAutoFit/>
          </a:bodyPr>
          <a:lstStyle/>
          <a:p>
            <a:pPr>
              <a:lnSpc>
                <a:spcPts val="1200"/>
              </a:lnSpc>
            </a:pPr>
            <a:r>
              <a:rPr lang="zh-CN" altLang="en-US" dirty="0">
                <a:solidFill>
                  <a:prstClr val="black"/>
                </a:solidFill>
                <a:latin typeface="Times New Roman"/>
                <a:ea typeface="黑体"/>
              </a:rPr>
              <a:t>吴飞，</a:t>
            </a:r>
            <a:r>
              <a:rPr lang="en-US" altLang="zh-CN" dirty="0">
                <a:solidFill>
                  <a:prstClr val="black"/>
                </a:solidFill>
                <a:latin typeface="Times New Roman"/>
                <a:ea typeface="黑体"/>
              </a:rPr>
              <a:t>《</a:t>
            </a:r>
            <a:r>
              <a:rPr lang="zh-CN" altLang="en-US" dirty="0">
                <a:solidFill>
                  <a:prstClr val="black"/>
                </a:solidFill>
                <a:latin typeface="Times New Roman"/>
                <a:ea typeface="黑体"/>
              </a:rPr>
              <a:t>人工智能导论：模型与算法</a:t>
            </a:r>
            <a:r>
              <a:rPr lang="en-US" altLang="zh-CN" dirty="0">
                <a:solidFill>
                  <a:prstClr val="black"/>
                </a:solidFill>
                <a:latin typeface="Times New Roman"/>
                <a:ea typeface="黑体"/>
              </a:rPr>
              <a:t>》</a:t>
            </a:r>
            <a:r>
              <a:rPr lang="zh-CN" altLang="en-US" dirty="0">
                <a:solidFill>
                  <a:prstClr val="black"/>
                </a:solidFill>
                <a:latin typeface="Times New Roman"/>
                <a:ea typeface="黑体"/>
              </a:rPr>
              <a:t>，高等教育出版社 </a:t>
            </a:r>
            <a:endParaRPr lang="en-US" altLang="zh-CN" dirty="0">
              <a:solidFill>
                <a:prstClr val="black"/>
              </a:solidFill>
              <a:latin typeface="Times New Roman"/>
              <a:ea typeface="黑体"/>
            </a:endParaRPr>
          </a:p>
          <a:p>
            <a:pPr>
              <a:lnSpc>
                <a:spcPts val="1200"/>
              </a:lnSpc>
            </a:pPr>
            <a:endParaRPr lang="en-US" altLang="zh-CN" dirty="0">
              <a:solidFill>
                <a:prstClr val="black"/>
              </a:solidFill>
              <a:latin typeface="Times New Roman"/>
              <a:ea typeface="黑体"/>
            </a:endParaRPr>
          </a:p>
          <a:p>
            <a:pPr>
              <a:lnSpc>
                <a:spcPts val="1200"/>
              </a:lnSpc>
            </a:pPr>
            <a:r>
              <a:rPr lang="en-US" altLang="zh-CN" dirty="0">
                <a:solidFill>
                  <a:prstClr val="black"/>
                </a:solidFill>
                <a:latin typeface="Times New Roman"/>
                <a:ea typeface="黑体"/>
              </a:rPr>
              <a:t>MOOC</a:t>
            </a:r>
            <a:r>
              <a:rPr lang="zh-CN" altLang="en-US" dirty="0">
                <a:solidFill>
                  <a:prstClr val="black"/>
                </a:solidFill>
                <a:latin typeface="Times New Roman"/>
                <a:ea typeface="黑体"/>
              </a:rPr>
              <a:t>：</a:t>
            </a:r>
            <a:r>
              <a:rPr lang="en-US" altLang="zh-CN" dirty="0">
                <a:solidFill>
                  <a:prstClr val="black"/>
                </a:solidFill>
                <a:latin typeface="Times New Roman"/>
                <a:ea typeface="黑体"/>
                <a:hlinkClick r:id="rId3"/>
              </a:rPr>
              <a:t>https://www.icourse163.org/course/ZJU-1003377027</a:t>
            </a:r>
            <a:endParaRPr lang="zh-CN" altLang="en-US" dirty="0">
              <a:solidFill>
                <a:prstClr val="black"/>
              </a:solidFill>
              <a:latin typeface="Times New Roman"/>
              <a:ea typeface="黑体"/>
            </a:endParaRPr>
          </a:p>
        </p:txBody>
      </p:sp>
      <p:sp>
        <p:nvSpPr>
          <p:cNvPr id="8" name="矩形 7"/>
          <p:cNvSpPr>
            <a:spLocks noChangeArrowheads="1"/>
          </p:cNvSpPr>
          <p:nvPr/>
        </p:nvSpPr>
        <p:spPr bwMode="auto">
          <a:xfrm>
            <a:off x="310965" y="4082004"/>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a:ea typeface="微软雅黑" panose="020B0503020204020204" pitchFamily="34" charset="-122"/>
                <a:sym typeface="Calibri" panose="020F0502020204030204" pitchFamily="34" charset="0"/>
              </a:rPr>
              <a:t>三、若干应用</a:t>
            </a:r>
          </a:p>
        </p:txBody>
      </p:sp>
    </p:spTree>
    <p:extLst>
      <p:ext uri="{BB962C8B-B14F-4D97-AF65-F5344CB8AC3E}">
        <p14:creationId xmlns:p14="http://schemas.microsoft.com/office/powerpoint/2010/main" val="1808346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358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8792" y="1421400"/>
            <a:ext cx="7962648" cy="5073440"/>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800" dirty="0">
                <a:solidFill>
                  <a:prstClr val="black"/>
                </a:solidFill>
                <a:latin typeface="Times New Roman"/>
                <a:ea typeface="黑体"/>
              </a:rPr>
              <a:t>人 工 神 经 网 络：</a:t>
            </a:r>
            <a:r>
              <a:rPr lang="en-US" altLang="zh-CN" sz="2800" dirty="0">
                <a:solidFill>
                  <a:prstClr val="black"/>
                </a:solidFill>
                <a:latin typeface="Times New Roman"/>
                <a:ea typeface="黑体"/>
              </a:rPr>
              <a:t>Artificial Neural Networks</a:t>
            </a:r>
            <a:r>
              <a:rPr lang="zh-CN" altLang="en-US" sz="2800" dirty="0">
                <a:solidFill>
                  <a:prstClr val="black"/>
                </a:solidFill>
                <a:latin typeface="Times New Roman"/>
                <a:ea typeface="黑体"/>
              </a:rPr>
              <a:t>，从信息处理角度建立起来的一种计算模型。模拟生物神经元结构来建立基本的信息处理单元</a:t>
            </a:r>
            <a:r>
              <a:rPr lang="en-US" altLang="zh-CN" sz="2800" dirty="0">
                <a:solidFill>
                  <a:prstClr val="black"/>
                </a:solidFill>
                <a:latin typeface="Times New Roman"/>
                <a:ea typeface="黑体"/>
              </a:rPr>
              <a:t>--</a:t>
            </a:r>
            <a:r>
              <a:rPr lang="zh-CN" altLang="en-US" sz="2800" dirty="0">
                <a:solidFill>
                  <a:prstClr val="black"/>
                </a:solidFill>
                <a:latin typeface="Times New Roman"/>
                <a:ea typeface="黑体"/>
              </a:rPr>
              <a:t>人工神经元，然后将大量的人工神经元相互连接成网络进行信息传递并最终产生结果输出。</a:t>
            </a:r>
          </a:p>
          <a:p>
            <a:pPr marL="323835" indent="-342882" algn="just">
              <a:lnSpc>
                <a:spcPct val="130000"/>
              </a:lnSpc>
              <a:buFont typeface="Wingdings" panose="05000000000000000000" pitchFamily="2" charset="2"/>
              <a:buChar char="Ø"/>
            </a:pPr>
            <a:r>
              <a:rPr lang="zh-CN" altLang="en-US" sz="2800" dirty="0">
                <a:solidFill>
                  <a:prstClr val="black"/>
                </a:solidFill>
                <a:latin typeface="Times New Roman"/>
                <a:ea typeface="黑体"/>
              </a:rPr>
              <a:t>人工智能三大流派思想中连接主义流派的基础。</a:t>
            </a:r>
          </a:p>
          <a:p>
            <a:pPr marL="323835" indent="-342882" algn="just">
              <a:lnSpc>
                <a:spcPct val="130000"/>
              </a:lnSpc>
              <a:buFont typeface="Wingdings" panose="05000000000000000000" pitchFamily="2" charset="2"/>
              <a:buChar char="Ø"/>
            </a:pPr>
            <a:r>
              <a:rPr lang="zh-CN" altLang="en-US" sz="2800" dirty="0">
                <a:solidFill>
                  <a:prstClr val="black"/>
                </a:solidFill>
                <a:latin typeface="Times New Roman"/>
                <a:ea typeface="黑体"/>
              </a:rPr>
              <a:t>人工神经网络通常需要通过大量的数据来学习并获得人的知识（规律），才能输出（计算出）正确结果，是机器学习算法中的一个分支。</a:t>
            </a:r>
          </a:p>
        </p:txBody>
      </p:sp>
    </p:spTree>
    <p:extLst>
      <p:ext uri="{BB962C8B-B14F-4D97-AF65-F5344CB8AC3E}">
        <p14:creationId xmlns:p14="http://schemas.microsoft.com/office/powerpoint/2010/main" val="124894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866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8053" y="2133364"/>
            <a:ext cx="2226267" cy="3953133"/>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800" dirty="0">
                <a:solidFill>
                  <a:prstClr val="black"/>
                </a:solidFill>
                <a:latin typeface="Times New Roman"/>
                <a:ea typeface="黑体"/>
              </a:rPr>
              <a:t>人的知识可从两个维度（是否可统计、是否可推理）分成四类。</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09" y="1273973"/>
            <a:ext cx="3310272"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知识的维度</a:t>
            </a:r>
          </a:p>
        </p:txBody>
      </p:sp>
      <p:pic>
        <p:nvPicPr>
          <p:cNvPr id="6" name="图片 64">
            <a:extLst>
              <a:ext uri="{FF2B5EF4-FFF2-40B4-BE49-F238E27FC236}">
                <a16:creationId xmlns:a16="http://schemas.microsoft.com/office/drawing/2014/main" id="{39D63A8D-5957-F4C2-37BB-32734B4C782C}"/>
              </a:ext>
            </a:extLst>
          </p:cNvPr>
          <p:cNvPicPr>
            <a:picLocks noChangeAspect="1"/>
          </p:cNvPicPr>
          <p:nvPr>
            <p:custDataLst>
              <p:tags r:id="rId1"/>
            </p:custDataLst>
          </p:nvPr>
        </p:nvPicPr>
        <p:blipFill>
          <a:blip r:embed="rId3"/>
          <a:srcRect t="1975" r="789" b="1510"/>
          <a:stretch>
            <a:fillRect/>
          </a:stretch>
        </p:blipFill>
        <p:spPr>
          <a:xfrm>
            <a:off x="2960211" y="2133365"/>
            <a:ext cx="5947821" cy="3953133"/>
          </a:xfrm>
          <a:prstGeom prst="rect">
            <a:avLst/>
          </a:prstGeom>
          <a:noFill/>
          <a:ln>
            <a:noFill/>
          </a:ln>
        </p:spPr>
      </p:pic>
    </p:spTree>
    <p:extLst>
      <p:ext uri="{BB962C8B-B14F-4D97-AF65-F5344CB8AC3E}">
        <p14:creationId xmlns:p14="http://schemas.microsoft.com/office/powerpoint/2010/main" val="75809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fade">
                                      <p:cBhvr>
                                        <p:cTn id="15" dur="500"/>
                                        <p:tgtEl>
                                          <p:spTgt spid="3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0540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1956216"/>
            <a:ext cx="7962648" cy="4507644"/>
          </a:xfrm>
          <a:prstGeom prst="rect">
            <a:avLst/>
          </a:prstGeom>
          <a:ln>
            <a:solidFill>
              <a:srgbClr val="C00000"/>
            </a:solidFill>
          </a:ln>
        </p:spPr>
        <p:txBody>
          <a:bodyPr wrap="square">
            <a:spAutoFit/>
          </a:bodyPr>
          <a:lstStyle/>
          <a:p>
            <a:pPr marL="323835" indent="-342882" algn="just">
              <a:lnSpc>
                <a:spcPct val="140000"/>
              </a:lnSpc>
              <a:buFont typeface="Wingdings" panose="05000000000000000000" pitchFamily="2" charset="2"/>
              <a:buChar char="Ø"/>
            </a:pPr>
            <a:r>
              <a:rPr lang="zh-CN" altLang="en-US" sz="2600" dirty="0">
                <a:solidFill>
                  <a:prstClr val="black"/>
                </a:solidFill>
                <a:latin typeface="Times New Roman"/>
                <a:ea typeface="黑体"/>
              </a:rPr>
              <a:t>对于</a:t>
            </a:r>
            <a:r>
              <a:rPr lang="zh-CN" altLang="en-US" sz="2600" dirty="0">
                <a:solidFill>
                  <a:srgbClr val="C00000"/>
                </a:solidFill>
                <a:latin typeface="Times New Roman"/>
                <a:ea typeface="黑体"/>
              </a:rPr>
              <a:t>可统计、可推理</a:t>
            </a:r>
            <a:r>
              <a:rPr lang="zh-CN" altLang="en-US" sz="2600" dirty="0">
                <a:solidFill>
                  <a:prstClr val="black"/>
                </a:solidFill>
                <a:latin typeface="Times New Roman"/>
                <a:ea typeface="黑体"/>
              </a:rPr>
              <a:t>的部分知识，不管用经典机器学习方法还是人工神经网络方法都能找到答案；</a:t>
            </a:r>
          </a:p>
          <a:p>
            <a:pPr marL="323835" indent="-342882" algn="just">
              <a:lnSpc>
                <a:spcPct val="140000"/>
              </a:lnSpc>
              <a:buFont typeface="Wingdings" panose="05000000000000000000" pitchFamily="2" charset="2"/>
              <a:buChar char="Ø"/>
            </a:pPr>
            <a:r>
              <a:rPr lang="zh-CN" altLang="en-US" sz="2600" dirty="0">
                <a:solidFill>
                  <a:prstClr val="black"/>
                </a:solidFill>
                <a:latin typeface="Times New Roman"/>
                <a:ea typeface="黑体"/>
              </a:rPr>
              <a:t>对</a:t>
            </a:r>
            <a:r>
              <a:rPr lang="zh-CN" altLang="en-US" sz="2600" dirty="0">
                <a:solidFill>
                  <a:srgbClr val="C00000"/>
                </a:solidFill>
                <a:latin typeface="Times New Roman"/>
                <a:ea typeface="黑体"/>
              </a:rPr>
              <a:t>可推理不可统计</a:t>
            </a:r>
            <a:r>
              <a:rPr lang="zh-CN" altLang="en-US" sz="2600" dirty="0">
                <a:solidFill>
                  <a:prstClr val="black"/>
                </a:solidFill>
                <a:latin typeface="Times New Roman"/>
                <a:ea typeface="黑体"/>
              </a:rPr>
              <a:t>的部分知识，可以用举一反三的办法，经典机器学习算法在这个领域取得大量成果；</a:t>
            </a:r>
          </a:p>
          <a:p>
            <a:pPr marL="323835" indent="-342882" algn="just">
              <a:lnSpc>
                <a:spcPct val="140000"/>
              </a:lnSpc>
              <a:buFont typeface="Wingdings" panose="05000000000000000000" pitchFamily="2" charset="2"/>
              <a:buChar char="Ø"/>
            </a:pPr>
            <a:r>
              <a:rPr lang="zh-CN" altLang="en-US" sz="2600" dirty="0">
                <a:solidFill>
                  <a:prstClr val="black"/>
                </a:solidFill>
                <a:latin typeface="Times New Roman"/>
                <a:ea typeface="黑体"/>
              </a:rPr>
              <a:t>对</a:t>
            </a:r>
            <a:r>
              <a:rPr lang="zh-CN" altLang="en-US" sz="2600" dirty="0">
                <a:solidFill>
                  <a:srgbClr val="C00000"/>
                </a:solidFill>
                <a:latin typeface="Times New Roman"/>
                <a:ea typeface="黑体"/>
              </a:rPr>
              <a:t>可统计不可推理</a:t>
            </a:r>
            <a:r>
              <a:rPr lang="zh-CN" altLang="en-US" sz="2600" dirty="0">
                <a:solidFill>
                  <a:prstClr val="black"/>
                </a:solidFill>
                <a:latin typeface="Times New Roman"/>
                <a:ea typeface="黑体"/>
              </a:rPr>
              <a:t>的部分知识可以采用模糊识别的方法，神经网络方法在此领域取得了大量成就。</a:t>
            </a:r>
          </a:p>
          <a:p>
            <a:pPr marL="323835" indent="-342882" algn="just">
              <a:lnSpc>
                <a:spcPct val="140000"/>
              </a:lnSpc>
              <a:buFont typeface="Wingdings" panose="05000000000000000000" pitchFamily="2" charset="2"/>
              <a:buChar char="Ø"/>
            </a:pPr>
            <a:r>
              <a:rPr lang="zh-CN" altLang="en-US" sz="2600" dirty="0">
                <a:solidFill>
                  <a:prstClr val="black"/>
                </a:solidFill>
                <a:latin typeface="Times New Roman"/>
                <a:ea typeface="黑体"/>
              </a:rPr>
              <a:t>对既</a:t>
            </a:r>
            <a:r>
              <a:rPr lang="zh-CN" altLang="en-US" sz="2600" dirty="0">
                <a:solidFill>
                  <a:srgbClr val="C00000"/>
                </a:solidFill>
                <a:latin typeface="Times New Roman"/>
                <a:ea typeface="黑体"/>
              </a:rPr>
              <a:t>不可统计也不可推理</a:t>
            </a:r>
            <a:r>
              <a:rPr lang="zh-CN" altLang="en-US" sz="2600" dirty="0">
                <a:solidFill>
                  <a:prstClr val="black"/>
                </a:solidFill>
                <a:latin typeface="Times New Roman"/>
                <a:ea typeface="黑体"/>
              </a:rPr>
              <a:t>的部分知识则依赖人的顿悟，很难使用具体方法处理。</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09" y="1155823"/>
            <a:ext cx="3310272"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知识的维度</a:t>
            </a:r>
          </a:p>
        </p:txBody>
      </p:sp>
    </p:spTree>
    <p:extLst>
      <p:ext uri="{BB962C8B-B14F-4D97-AF65-F5344CB8AC3E}">
        <p14:creationId xmlns:p14="http://schemas.microsoft.com/office/powerpoint/2010/main" val="3288839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xEl>
                                              <p:pRg st="3" end="3"/>
                                            </p:txEl>
                                          </p:spTgt>
                                        </p:tgtEl>
                                        <p:attrNameLst>
                                          <p:attrName>style.visibility</p:attrName>
                                        </p:attrNameLst>
                                      </p:cBhvr>
                                      <p:to>
                                        <p:strVal val="visible"/>
                                      </p:to>
                                    </p:set>
                                    <p:animEffect transition="in" filter="fade">
                                      <p:cBhvr>
                                        <p:cTn id="25" dur="5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6476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1967201"/>
            <a:ext cx="7962648" cy="1596847"/>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整个神经网络按层次划分，每层包含一定数量的神经元实现信息处理，上一层神经元的处理结果作为下一层神经元的输入。层数较多，称为</a:t>
            </a:r>
            <a:r>
              <a:rPr lang="zh-CN" altLang="en-US" sz="2600" dirty="0">
                <a:solidFill>
                  <a:srgbClr val="C00000"/>
                </a:solidFill>
                <a:latin typeface="Times New Roman"/>
                <a:ea typeface="黑体"/>
              </a:rPr>
              <a:t>深度学习</a:t>
            </a:r>
            <a:r>
              <a:rPr lang="zh-CN" altLang="en-US" sz="2600" dirty="0">
                <a:solidFill>
                  <a:prstClr val="black"/>
                </a:solidFill>
                <a:latin typeface="Times New Roman"/>
                <a:ea typeface="黑体"/>
              </a:rPr>
              <a:t>。</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15183"/>
            <a:ext cx="4755615"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神经网络结构与深度学习</a:t>
            </a:r>
          </a:p>
        </p:txBody>
      </p:sp>
      <p:pic>
        <p:nvPicPr>
          <p:cNvPr id="6" name="图片 1" descr="f05fa5b7fe0366622bf21424a1e4646">
            <a:extLst>
              <a:ext uri="{FF2B5EF4-FFF2-40B4-BE49-F238E27FC236}">
                <a16:creationId xmlns:a16="http://schemas.microsoft.com/office/drawing/2014/main" id="{A256545F-9394-2863-7A5C-9D0CEA36FBE5}"/>
              </a:ext>
            </a:extLst>
          </p:cNvPr>
          <p:cNvPicPr>
            <a:picLocks noChangeAspect="1"/>
          </p:cNvPicPr>
          <p:nvPr>
            <p:custDataLst>
              <p:tags r:id="rId1"/>
            </p:custDataLst>
          </p:nvPr>
        </p:nvPicPr>
        <p:blipFill>
          <a:blip r:embed="rId3" cstate="print"/>
          <a:srcRect l="313" t="1972" r="1794" b="14411"/>
          <a:stretch>
            <a:fillRect/>
          </a:stretch>
        </p:blipFill>
        <p:spPr>
          <a:xfrm>
            <a:off x="1491618" y="3662686"/>
            <a:ext cx="6716163" cy="2837631"/>
          </a:xfrm>
          <a:prstGeom prst="rect">
            <a:avLst/>
          </a:prstGeom>
        </p:spPr>
      </p:pic>
    </p:spTree>
    <p:extLst>
      <p:ext uri="{BB962C8B-B14F-4D97-AF65-F5344CB8AC3E}">
        <p14:creationId xmlns:p14="http://schemas.microsoft.com/office/powerpoint/2010/main" val="276752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1250"/>
                            </p:stCondLst>
                            <p:childTnLst>
                              <p:par>
                                <p:cT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500"/>
                                  </p:stCondLst>
                                  <p:childTnLst>
                                    <p:set>
                                      <p:cBhvr>
                                        <p:cTn id="13" dur="1" fill="hold">
                                          <p:stCondLst>
                                            <p:cond delay="0"/>
                                          </p:stCondLst>
                                        </p:cTn>
                                        <p:tgtEl>
                                          <p:spTgt spid="32">
                                            <p:txEl>
                                              <p:pRg st="0" end="0"/>
                                            </p:txEl>
                                          </p:spTgt>
                                        </p:tgtEl>
                                        <p:attrNameLst>
                                          <p:attrName>style.visibility</p:attrName>
                                        </p:attrNameLst>
                                      </p:cBhvr>
                                      <p:to>
                                        <p:strVal val="visible"/>
                                      </p:to>
                                    </p:set>
                                    <p:animEffect transition="in" filter="fade">
                                      <p:cBhvr>
                                        <p:cTn id="14" dur="500"/>
                                        <p:tgtEl>
                                          <p:spTgt spid="3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604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48480"/>
            <a:ext cx="7962648" cy="4197559"/>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机器学习是人工智能研究领域的一部分，是实现人工智能的算法。</a:t>
            </a:r>
          </a:p>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人工神经网络算法是众多机器学习算法中的一个分支，又可以分为浅层神经网络（实现浅层学习）和深层神经网络（实现深度学习）。</a:t>
            </a:r>
          </a:p>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由于深度学习算法处理出来的结果具有非常高的准确度，达到或接近人的智能程度，从而掀起了当前人工智能新高潮。。</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9646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人工智能、机器学习与深度学习关系</a:t>
            </a:r>
          </a:p>
        </p:txBody>
      </p:sp>
    </p:spTree>
    <p:extLst>
      <p:ext uri="{BB962C8B-B14F-4D97-AF65-F5344CB8AC3E}">
        <p14:creationId xmlns:p14="http://schemas.microsoft.com/office/powerpoint/2010/main" val="288840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500"/>
                                  </p:stCondLst>
                                  <p:childTnLst>
                                    <p:set>
                                      <p:cBhvr>
                                        <p:cTn id="13" dur="1" fill="hold">
                                          <p:stCondLst>
                                            <p:cond delay="0"/>
                                          </p:stCondLst>
                                        </p:cTn>
                                        <p:tgtEl>
                                          <p:spTgt spid="32">
                                            <p:txEl>
                                              <p:pRg st="0" end="0"/>
                                            </p:txEl>
                                          </p:spTgt>
                                        </p:tgtEl>
                                        <p:attrNameLst>
                                          <p:attrName>style.visibility</p:attrName>
                                        </p:attrNameLst>
                                      </p:cBhvr>
                                      <p:to>
                                        <p:strVal val="visible"/>
                                      </p:to>
                                    </p:set>
                                    <p:animEffect transition="in" filter="fade">
                                      <p:cBhvr>
                                        <p:cTn id="14" dur="500"/>
                                        <p:tgtEl>
                                          <p:spTgt spid="3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2">
                                            <p:txEl>
                                              <p:pRg st="1" end="1"/>
                                            </p:txEl>
                                          </p:spTgt>
                                        </p:tgtEl>
                                        <p:attrNameLst>
                                          <p:attrName>style.visibility</p:attrName>
                                        </p:attrNameLst>
                                      </p:cBhvr>
                                      <p:to>
                                        <p:strVal val="visible"/>
                                      </p:to>
                                    </p:set>
                                    <p:animEffect transition="in" filter="fade">
                                      <p:cBhvr>
                                        <p:cTn id="19" dur="500"/>
                                        <p:tgtEl>
                                          <p:spTgt spid="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2">
                                            <p:txEl>
                                              <p:pRg st="2" end="2"/>
                                            </p:txEl>
                                          </p:spTgt>
                                        </p:tgtEl>
                                        <p:attrNameLst>
                                          <p:attrName>style.visibility</p:attrName>
                                        </p:attrNameLst>
                                      </p:cBhvr>
                                      <p:to>
                                        <p:strVal val="visible"/>
                                      </p:to>
                                    </p:set>
                                    <p:animEffect transition="in" filter="fade">
                                      <p:cBhvr>
                                        <p:cTn id="24"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358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863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人工智能、机器学习与深度学习关系</a:t>
            </a:r>
          </a:p>
        </p:txBody>
      </p:sp>
      <p:pic>
        <p:nvPicPr>
          <p:cNvPr id="7" name="图片 6">
            <a:extLst>
              <a:ext uri="{FF2B5EF4-FFF2-40B4-BE49-F238E27FC236}">
                <a16:creationId xmlns:a16="http://schemas.microsoft.com/office/drawing/2014/main" id="{C5BB9565-9BC6-E94E-795B-41EC34F565B4}"/>
              </a:ext>
            </a:extLst>
          </p:cNvPr>
          <p:cNvPicPr>
            <a:picLocks noChangeAspect="1"/>
          </p:cNvPicPr>
          <p:nvPr/>
        </p:nvPicPr>
        <p:blipFill>
          <a:blip r:embed="rId2"/>
          <a:srcRect l="902" t="7945" r="196" b="4182"/>
          <a:stretch>
            <a:fillRect/>
          </a:stretch>
        </p:blipFill>
        <p:spPr>
          <a:xfrm>
            <a:off x="1712980" y="1986703"/>
            <a:ext cx="5738685" cy="4435411"/>
          </a:xfrm>
          <a:prstGeom prst="rect">
            <a:avLst/>
          </a:prstGeom>
          <a:noFill/>
          <a:ln>
            <a:noFill/>
          </a:ln>
        </p:spPr>
      </p:pic>
    </p:spTree>
    <p:extLst>
      <p:ext uri="{BB962C8B-B14F-4D97-AF65-F5344CB8AC3E}">
        <p14:creationId xmlns:p14="http://schemas.microsoft.com/office/powerpoint/2010/main" val="50512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7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850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1935897"/>
            <a:ext cx="7962648" cy="4717702"/>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启蒙时期（</a:t>
            </a:r>
            <a:r>
              <a:rPr lang="en-US" altLang="zh-CN" sz="2600" dirty="0">
                <a:solidFill>
                  <a:srgbClr val="FF0000"/>
                </a:solidFill>
                <a:latin typeface="Times New Roman"/>
                <a:ea typeface="黑体"/>
              </a:rPr>
              <a:t>1890-1969</a:t>
            </a:r>
            <a:r>
              <a:rPr lang="zh-CN" altLang="en-US" sz="2600" dirty="0">
                <a:solidFill>
                  <a:srgbClr val="FF0000"/>
                </a:solidFill>
                <a:latin typeface="Times New Roman"/>
                <a:ea typeface="黑体"/>
              </a:rPr>
              <a:t>）</a:t>
            </a:r>
            <a:endParaRPr lang="zh-CN" altLang="en-US" sz="2600" dirty="0">
              <a:solidFill>
                <a:prstClr val="black"/>
              </a:solidFill>
              <a:latin typeface="Times New Roman"/>
              <a:ea typeface="黑体"/>
            </a:endParaRPr>
          </a:p>
          <a:p>
            <a:pPr marL="323835" indent="-147631" algn="just">
              <a:lnSpc>
                <a:spcPct val="130000"/>
              </a:lnSpc>
              <a:buFont typeface="Arial" panose="020B0604020202020204" pitchFamily="34" charset="0"/>
              <a:buChar char="•"/>
            </a:pPr>
            <a:r>
              <a:rPr lang="en-US" altLang="zh-CN" sz="2600" dirty="0">
                <a:solidFill>
                  <a:prstClr val="black"/>
                </a:solidFill>
                <a:latin typeface="Times New Roman"/>
                <a:ea typeface="黑体"/>
              </a:rPr>
              <a:t>1890</a:t>
            </a:r>
            <a:r>
              <a:rPr lang="zh-CN" altLang="en-US" sz="2600" dirty="0">
                <a:solidFill>
                  <a:prstClr val="black"/>
                </a:solidFill>
                <a:latin typeface="Times New Roman"/>
                <a:ea typeface="黑体"/>
              </a:rPr>
              <a:t>年，第一部详细论述人脑结构及功能的专著</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心理学原理</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出版。</a:t>
            </a:r>
          </a:p>
          <a:p>
            <a:pPr marL="323835" indent="-147631" algn="just">
              <a:lnSpc>
                <a:spcPct val="130000"/>
              </a:lnSpc>
              <a:buFont typeface="Arial" panose="020B0604020202020204" pitchFamily="34" charset="0"/>
              <a:buChar char="•"/>
            </a:pPr>
            <a:r>
              <a:rPr lang="en-US" altLang="zh-CN" sz="2600" dirty="0">
                <a:solidFill>
                  <a:prstClr val="black"/>
                </a:solidFill>
                <a:latin typeface="Times New Roman"/>
                <a:ea typeface="黑体"/>
              </a:rPr>
              <a:t>1943</a:t>
            </a:r>
            <a:r>
              <a:rPr lang="zh-CN" altLang="en-US" sz="2600" dirty="0">
                <a:solidFill>
                  <a:prstClr val="black"/>
                </a:solidFill>
                <a:latin typeface="Times New Roman"/>
                <a:ea typeface="黑体"/>
              </a:rPr>
              <a:t>年，提出人工神经元的数学模型</a:t>
            </a:r>
            <a:r>
              <a:rPr lang="en-US" altLang="zh-CN" sz="2600" dirty="0">
                <a:solidFill>
                  <a:prstClr val="black"/>
                </a:solidFill>
                <a:latin typeface="Times New Roman"/>
                <a:ea typeface="黑体"/>
              </a:rPr>
              <a:t>——</a:t>
            </a:r>
            <a:r>
              <a:rPr lang="en-US" altLang="zh-CN" sz="2600" dirty="0">
                <a:solidFill>
                  <a:srgbClr val="FF0000"/>
                </a:solidFill>
                <a:latin typeface="Times New Roman"/>
                <a:ea typeface="黑体"/>
              </a:rPr>
              <a:t>M-P</a:t>
            </a:r>
            <a:r>
              <a:rPr lang="zh-CN" altLang="en-US" sz="2600" dirty="0">
                <a:solidFill>
                  <a:srgbClr val="FF0000"/>
                </a:solidFill>
                <a:latin typeface="Times New Roman"/>
                <a:ea typeface="黑体"/>
              </a:rPr>
              <a:t>模型</a:t>
            </a:r>
            <a:r>
              <a:rPr lang="zh-CN" altLang="en-US" sz="2600" dirty="0">
                <a:solidFill>
                  <a:prstClr val="black"/>
                </a:solidFill>
                <a:latin typeface="Times New Roman"/>
                <a:ea typeface="黑体"/>
              </a:rPr>
              <a:t>。</a:t>
            </a:r>
          </a:p>
          <a:p>
            <a:pPr marL="323835" indent="-147631" algn="just">
              <a:lnSpc>
                <a:spcPct val="130000"/>
              </a:lnSpc>
              <a:buFont typeface="Arial" panose="020B0604020202020204" pitchFamily="34" charset="0"/>
              <a:buChar char="•"/>
            </a:pPr>
            <a:r>
              <a:rPr lang="en-US" altLang="zh-CN" sz="2600" dirty="0">
                <a:solidFill>
                  <a:prstClr val="black"/>
                </a:solidFill>
                <a:latin typeface="Times New Roman"/>
                <a:ea typeface="黑体"/>
              </a:rPr>
              <a:t>1949</a:t>
            </a:r>
            <a:r>
              <a:rPr lang="zh-CN" altLang="en-US" sz="2600" dirty="0">
                <a:solidFill>
                  <a:prstClr val="black"/>
                </a:solidFill>
                <a:latin typeface="Times New Roman"/>
                <a:ea typeface="黑体"/>
              </a:rPr>
              <a:t>年，出版</a:t>
            </a:r>
            <a:r>
              <a:rPr lang="en-US" altLang="zh-CN" sz="2600" dirty="0">
                <a:solidFill>
                  <a:prstClr val="black"/>
                </a:solidFill>
                <a:latin typeface="Times New Roman"/>
                <a:ea typeface="黑体"/>
              </a:rPr>
              <a:t>《The Organization of Behavior》</a:t>
            </a:r>
            <a:r>
              <a:rPr lang="zh-CN" altLang="en-US" sz="2600" dirty="0">
                <a:solidFill>
                  <a:prstClr val="black"/>
                </a:solidFill>
                <a:latin typeface="Times New Roman"/>
                <a:ea typeface="黑体"/>
              </a:rPr>
              <a:t>（行为组织学）论著，书中提出了突触连接强度可变的设想。</a:t>
            </a:r>
          </a:p>
          <a:p>
            <a:pPr marL="323835" indent="-147631" algn="just">
              <a:lnSpc>
                <a:spcPct val="130000"/>
              </a:lnSpc>
              <a:buFont typeface="Arial" panose="020B0604020202020204" pitchFamily="34" charset="0"/>
              <a:buChar char="•"/>
            </a:pPr>
            <a:r>
              <a:rPr lang="en-US" altLang="zh-CN" sz="2600" dirty="0">
                <a:solidFill>
                  <a:prstClr val="black"/>
                </a:solidFill>
                <a:latin typeface="Times New Roman"/>
                <a:ea typeface="黑体"/>
              </a:rPr>
              <a:t>1958</a:t>
            </a:r>
            <a:r>
              <a:rPr lang="zh-CN" altLang="en-US" sz="2600" dirty="0">
                <a:solidFill>
                  <a:prstClr val="black"/>
                </a:solidFill>
                <a:latin typeface="Times New Roman"/>
                <a:ea typeface="黑体"/>
              </a:rPr>
              <a:t>年，发明了一种称为</a:t>
            </a:r>
            <a:r>
              <a:rPr lang="zh-CN" altLang="en-US" sz="2600" dirty="0">
                <a:solidFill>
                  <a:srgbClr val="FF0000"/>
                </a:solidFill>
                <a:latin typeface="Times New Roman"/>
                <a:ea typeface="黑体"/>
              </a:rPr>
              <a:t>感知机</a:t>
            </a:r>
            <a:r>
              <a:rPr lang="zh-CN" altLang="en-US" sz="2600" dirty="0">
                <a:solidFill>
                  <a:prstClr val="black"/>
                </a:solidFill>
                <a:latin typeface="Times New Roman"/>
                <a:ea typeface="黑体"/>
              </a:rPr>
              <a:t>（</a:t>
            </a:r>
            <a:r>
              <a:rPr lang="en-US" altLang="zh-CN" sz="2600" dirty="0">
                <a:solidFill>
                  <a:prstClr val="black"/>
                </a:solidFill>
                <a:latin typeface="Times New Roman"/>
                <a:ea typeface="黑体"/>
              </a:rPr>
              <a:t>Perceptron</a:t>
            </a:r>
            <a:r>
              <a:rPr lang="zh-CN" altLang="en-US" sz="2600" dirty="0">
                <a:solidFill>
                  <a:prstClr val="black"/>
                </a:solidFill>
                <a:latin typeface="Times New Roman"/>
                <a:ea typeface="黑体"/>
              </a:rPr>
              <a:t>）的人工神经网络模型。</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35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p>
        </p:txBody>
      </p:sp>
    </p:spTree>
    <p:extLst>
      <p:ext uri="{BB962C8B-B14F-4D97-AF65-F5344CB8AC3E}">
        <p14:creationId xmlns:p14="http://schemas.microsoft.com/office/powerpoint/2010/main" val="57232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500"/>
                                  </p:stCondLst>
                                  <p:childTnLst>
                                    <p:set>
                                      <p:cBhvr>
                                        <p:cTn id="13" dur="1" fill="hold">
                                          <p:stCondLst>
                                            <p:cond delay="0"/>
                                          </p:stCondLst>
                                        </p:cTn>
                                        <p:tgtEl>
                                          <p:spTgt spid="32">
                                            <p:txEl>
                                              <p:pRg st="0" end="0"/>
                                            </p:txEl>
                                          </p:spTgt>
                                        </p:tgtEl>
                                        <p:attrNameLst>
                                          <p:attrName>style.visibility</p:attrName>
                                        </p:attrNameLst>
                                      </p:cBhvr>
                                      <p:to>
                                        <p:strVal val="visible"/>
                                      </p:to>
                                    </p:set>
                                    <p:animEffect transition="in" filter="fade">
                                      <p:cBhvr>
                                        <p:cTn id="14" dur="500"/>
                                        <p:tgtEl>
                                          <p:spTgt spid="3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2">
                                            <p:txEl>
                                              <p:pRg st="1" end="1"/>
                                            </p:txEl>
                                          </p:spTgt>
                                        </p:tgtEl>
                                        <p:attrNameLst>
                                          <p:attrName>style.visibility</p:attrName>
                                        </p:attrNameLst>
                                      </p:cBhvr>
                                      <p:to>
                                        <p:strVal val="visible"/>
                                      </p:to>
                                    </p:set>
                                    <p:animEffect transition="in" filter="fade">
                                      <p:cBhvr>
                                        <p:cTn id="19" dur="500"/>
                                        <p:tgtEl>
                                          <p:spTgt spid="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2">
                                            <p:txEl>
                                              <p:pRg st="2" end="2"/>
                                            </p:txEl>
                                          </p:spTgt>
                                        </p:tgtEl>
                                        <p:attrNameLst>
                                          <p:attrName>style.visibility</p:attrName>
                                        </p:attrNameLst>
                                      </p:cBhvr>
                                      <p:to>
                                        <p:strVal val="visible"/>
                                      </p:to>
                                    </p:set>
                                    <p:animEffect transition="in" filter="fade">
                                      <p:cBhvr>
                                        <p:cTn id="24" dur="500"/>
                                        <p:tgtEl>
                                          <p:spTgt spid="32">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2">
                                            <p:txEl>
                                              <p:pRg st="3" end="3"/>
                                            </p:txEl>
                                          </p:spTgt>
                                        </p:tgtEl>
                                        <p:attrNameLst>
                                          <p:attrName>style.visibility</p:attrName>
                                        </p:attrNameLst>
                                      </p:cBhvr>
                                      <p:to>
                                        <p:strVal val="visible"/>
                                      </p:to>
                                    </p:set>
                                    <p:animEffect transition="in" filter="fade">
                                      <p:cBhvr>
                                        <p:cTn id="29" dur="500"/>
                                        <p:tgtEl>
                                          <p:spTgt spid="32">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2">
                                            <p:txEl>
                                              <p:pRg st="4" end="4"/>
                                            </p:txEl>
                                          </p:spTgt>
                                        </p:tgtEl>
                                        <p:attrNameLst>
                                          <p:attrName>style.visibility</p:attrName>
                                        </p:attrNameLst>
                                      </p:cBhvr>
                                      <p:to>
                                        <p:strVal val="visible"/>
                                      </p:to>
                                    </p:set>
                                    <p:animEffect transition="in" filter="fade">
                                      <p:cBhvr>
                                        <p:cTn id="34"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9684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77158"/>
            <a:ext cx="7962648" cy="3947491"/>
          </a:xfrm>
          <a:prstGeom prst="rect">
            <a:avLst/>
          </a:prstGeom>
          <a:ln>
            <a:solidFill>
              <a:srgbClr val="C00000"/>
            </a:solidFill>
          </a:ln>
        </p:spPr>
        <p:txBody>
          <a:bodyPr wrap="square">
            <a:spAutoFit/>
          </a:bodyPr>
          <a:lstStyle/>
          <a:p>
            <a:pPr marL="323835" indent="-342882" algn="just">
              <a:lnSpc>
                <a:spcPct val="140000"/>
              </a:lnSpc>
              <a:buFont typeface="Wingdings" panose="05000000000000000000" pitchFamily="2" charset="2"/>
              <a:buChar char="Ø"/>
            </a:pPr>
            <a:r>
              <a:rPr lang="zh-CN" altLang="en-US" sz="2600" dirty="0">
                <a:solidFill>
                  <a:srgbClr val="FF0000"/>
                </a:solidFill>
                <a:latin typeface="Times New Roman"/>
                <a:ea typeface="黑体"/>
              </a:rPr>
              <a:t>低潮时期（</a:t>
            </a:r>
            <a:r>
              <a:rPr lang="en-US" altLang="zh-CN" sz="2600" dirty="0">
                <a:solidFill>
                  <a:srgbClr val="FF0000"/>
                </a:solidFill>
                <a:latin typeface="Times New Roman"/>
                <a:ea typeface="黑体"/>
              </a:rPr>
              <a:t>1969-1982</a:t>
            </a:r>
            <a:r>
              <a:rPr lang="zh-CN" altLang="en-US" sz="2600" dirty="0">
                <a:solidFill>
                  <a:srgbClr val="FF0000"/>
                </a:solidFill>
                <a:latin typeface="Times New Roman"/>
                <a:ea typeface="黑体"/>
              </a:rPr>
              <a:t>）</a:t>
            </a:r>
          </a:p>
          <a:p>
            <a:pPr marL="323835" indent="-147631" algn="just">
              <a:lnSpc>
                <a:spcPct val="140000"/>
              </a:lnSpc>
              <a:buFont typeface="Arial" panose="020B0604020202020204" pitchFamily="34" charset="0"/>
              <a:buChar char="•"/>
            </a:pPr>
            <a:r>
              <a:rPr lang="en-US" altLang="zh-CN" sz="2600" dirty="0">
                <a:solidFill>
                  <a:prstClr val="black"/>
                </a:solidFill>
                <a:latin typeface="Times New Roman"/>
                <a:ea typeface="黑体"/>
              </a:rPr>
              <a:t>1969</a:t>
            </a:r>
            <a:r>
              <a:rPr lang="zh-CN" altLang="en-US" sz="2600" dirty="0">
                <a:solidFill>
                  <a:prstClr val="black"/>
                </a:solidFill>
                <a:latin typeface="Times New Roman"/>
                <a:ea typeface="黑体"/>
              </a:rPr>
              <a:t>年，符号主义派的代表人物指出神经网络的两个关键问题：简单神经网络只能用于线性问题的求解，无法解决</a:t>
            </a:r>
            <a:r>
              <a:rPr lang="zh-CN" altLang="en-US" sz="2600" dirty="0">
                <a:solidFill>
                  <a:srgbClr val="FF0000"/>
                </a:solidFill>
                <a:latin typeface="Times New Roman"/>
                <a:ea typeface="黑体"/>
              </a:rPr>
              <a:t>异或问题等非线性可分问题</a:t>
            </a:r>
            <a:r>
              <a:rPr lang="zh-CN" altLang="en-US" sz="2600" dirty="0">
                <a:solidFill>
                  <a:prstClr val="black"/>
                </a:solidFill>
                <a:latin typeface="Times New Roman"/>
                <a:ea typeface="黑体"/>
              </a:rPr>
              <a:t>。</a:t>
            </a:r>
            <a:endParaRPr lang="en-US" altLang="zh-CN" sz="2600" dirty="0">
              <a:solidFill>
                <a:prstClr val="black"/>
              </a:solidFill>
              <a:latin typeface="Times New Roman"/>
              <a:ea typeface="黑体"/>
            </a:endParaRPr>
          </a:p>
          <a:p>
            <a:pPr marL="323835" indent="-147631" algn="just">
              <a:lnSpc>
                <a:spcPct val="140000"/>
              </a:lnSpc>
              <a:buFont typeface="Arial" panose="020B0604020202020204" pitchFamily="34" charset="0"/>
              <a:buChar char="•"/>
            </a:pPr>
            <a:r>
              <a:rPr lang="en-US" altLang="zh-CN" sz="2600" dirty="0">
                <a:solidFill>
                  <a:prstClr val="black"/>
                </a:solidFill>
                <a:latin typeface="Times New Roman"/>
                <a:ea typeface="黑体"/>
              </a:rPr>
              <a:t>1974 </a:t>
            </a:r>
            <a:r>
              <a:rPr lang="zh-CN" altLang="en-US" sz="2600" dirty="0">
                <a:solidFill>
                  <a:prstClr val="black"/>
                </a:solidFill>
                <a:latin typeface="Times New Roman"/>
                <a:ea typeface="黑体"/>
              </a:rPr>
              <a:t>年，保罗</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沃博斯在其博士论文中首次提出了反向传播算法并构建反馈神经网络，可以构建多层神经网络并能解决异或等问题，但并没有引起重视。</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24726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p>
        </p:txBody>
      </p:sp>
    </p:spTree>
    <p:extLst>
      <p:ext uri="{BB962C8B-B14F-4D97-AF65-F5344CB8AC3E}">
        <p14:creationId xmlns:p14="http://schemas.microsoft.com/office/powerpoint/2010/main" val="2475181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0540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07835"/>
            <a:ext cx="7962648" cy="4507644"/>
          </a:xfrm>
          <a:prstGeom prst="rect">
            <a:avLst/>
          </a:prstGeom>
          <a:ln>
            <a:solidFill>
              <a:srgbClr val="C00000"/>
            </a:solidFill>
          </a:ln>
        </p:spPr>
        <p:txBody>
          <a:bodyPr wrap="square">
            <a:spAutoFit/>
          </a:bodyPr>
          <a:lstStyle/>
          <a:p>
            <a:pPr marL="323835" indent="-342882" algn="just">
              <a:lnSpc>
                <a:spcPct val="140000"/>
              </a:lnSpc>
              <a:buFont typeface="Wingdings" panose="05000000000000000000" pitchFamily="2" charset="2"/>
              <a:buChar char="Ø"/>
            </a:pPr>
            <a:r>
              <a:rPr lang="zh-CN" altLang="en-US" sz="2600" dirty="0">
                <a:solidFill>
                  <a:srgbClr val="FF0000"/>
                </a:solidFill>
                <a:latin typeface="Times New Roman"/>
                <a:ea typeface="黑体"/>
              </a:rPr>
              <a:t>复兴时期（</a:t>
            </a:r>
            <a:r>
              <a:rPr lang="en-US" altLang="zh-CN" sz="2600" dirty="0">
                <a:solidFill>
                  <a:srgbClr val="FF0000"/>
                </a:solidFill>
                <a:latin typeface="Times New Roman"/>
                <a:ea typeface="黑体"/>
              </a:rPr>
              <a:t>1982-1986</a:t>
            </a:r>
            <a:r>
              <a:rPr lang="zh-CN" altLang="en-US" sz="2600" dirty="0">
                <a:solidFill>
                  <a:srgbClr val="FF0000"/>
                </a:solidFill>
                <a:latin typeface="Times New Roman"/>
                <a:ea typeface="黑体"/>
              </a:rPr>
              <a:t>）</a:t>
            </a:r>
          </a:p>
          <a:p>
            <a:pPr marL="323835" indent="-147631" algn="just">
              <a:lnSpc>
                <a:spcPct val="140000"/>
              </a:lnSpc>
              <a:buFont typeface="Arial" panose="020B0604020202020204" pitchFamily="34" charset="0"/>
              <a:buChar char="•"/>
            </a:pPr>
            <a:r>
              <a:rPr lang="en-US" altLang="zh-CN" sz="2600" dirty="0">
                <a:solidFill>
                  <a:prstClr val="black"/>
                </a:solidFill>
                <a:latin typeface="Times New Roman"/>
                <a:ea typeface="黑体"/>
              </a:rPr>
              <a:t>1982</a:t>
            </a:r>
            <a:r>
              <a:rPr lang="zh-CN" altLang="en-US" sz="2600" dirty="0">
                <a:solidFill>
                  <a:prstClr val="black"/>
                </a:solidFill>
                <a:latin typeface="Times New Roman"/>
                <a:ea typeface="黑体"/>
              </a:rPr>
              <a:t>年，物理学的动力学思想引入到神经网络中， 提出</a:t>
            </a:r>
            <a:r>
              <a:rPr lang="en-US" altLang="zh-CN" sz="2600" dirty="0" err="1">
                <a:solidFill>
                  <a:srgbClr val="FF0000"/>
                </a:solidFill>
                <a:latin typeface="Times New Roman"/>
                <a:ea typeface="黑体"/>
              </a:rPr>
              <a:t>Hopfiled</a:t>
            </a:r>
            <a:r>
              <a:rPr lang="zh-CN" altLang="en-US" sz="2600" dirty="0">
                <a:solidFill>
                  <a:srgbClr val="FF0000"/>
                </a:solidFill>
                <a:latin typeface="Times New Roman"/>
                <a:ea typeface="黑体"/>
              </a:rPr>
              <a:t>神经网络</a:t>
            </a:r>
            <a:r>
              <a:rPr lang="zh-CN" altLang="en-US" sz="2600" dirty="0">
                <a:solidFill>
                  <a:prstClr val="black"/>
                </a:solidFill>
                <a:latin typeface="Times New Roman"/>
                <a:ea typeface="黑体"/>
              </a:rPr>
              <a:t>。</a:t>
            </a:r>
          </a:p>
          <a:p>
            <a:pPr marL="323835" indent="-147631" algn="just">
              <a:lnSpc>
                <a:spcPct val="140000"/>
              </a:lnSpc>
              <a:buFont typeface="Arial" panose="020B0604020202020204" pitchFamily="34" charset="0"/>
              <a:buChar char="•"/>
            </a:pPr>
            <a:r>
              <a:rPr lang="en-US" altLang="zh-CN" sz="2600" dirty="0">
                <a:solidFill>
                  <a:prstClr val="black"/>
                </a:solidFill>
                <a:latin typeface="Times New Roman"/>
                <a:ea typeface="黑体"/>
              </a:rPr>
              <a:t>1986</a:t>
            </a:r>
            <a:r>
              <a:rPr lang="zh-CN" altLang="en-US" sz="2600" dirty="0">
                <a:solidFill>
                  <a:prstClr val="black"/>
                </a:solidFill>
                <a:latin typeface="Times New Roman"/>
                <a:ea typeface="黑体"/>
              </a:rPr>
              <a:t>年，自然杂志上发表论文</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通过反向传播算法实现表征学习</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a:t>
            </a:r>
            <a:r>
              <a:rPr lang="en-US" altLang="zh-CN" sz="2600" dirty="0">
                <a:solidFill>
                  <a:prstClr val="black"/>
                </a:solidFill>
                <a:latin typeface="Times New Roman"/>
                <a:ea typeface="黑体"/>
              </a:rPr>
              <a:t>Learning representations by Back-propagating Errors</a:t>
            </a:r>
            <a:r>
              <a:rPr lang="zh-CN" altLang="en-US" sz="2600" dirty="0">
                <a:solidFill>
                  <a:prstClr val="black"/>
                </a:solidFill>
                <a:latin typeface="Times New Roman"/>
                <a:ea typeface="黑体"/>
              </a:rPr>
              <a:t>），论证了“误差反向传播”算法是切实可操作的训练多层神经网络的方法，</a:t>
            </a:r>
            <a:r>
              <a:rPr lang="zh-CN" altLang="en-US" sz="2600" dirty="0">
                <a:solidFill>
                  <a:srgbClr val="FF0000"/>
                </a:solidFill>
                <a:latin typeface="Times New Roman"/>
                <a:ea typeface="黑体"/>
              </a:rPr>
              <a:t>多层神经网络</a:t>
            </a:r>
            <a:r>
              <a:rPr lang="zh-CN" altLang="en-US" sz="2600" dirty="0">
                <a:solidFill>
                  <a:prstClr val="black"/>
                </a:solidFill>
                <a:latin typeface="Times New Roman"/>
                <a:ea typeface="黑体"/>
              </a:rPr>
              <a:t>的有效性再次得到学术界的普遍认可。</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5582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p>
        </p:txBody>
      </p:sp>
    </p:spTree>
    <p:extLst>
      <p:ext uri="{BB962C8B-B14F-4D97-AF65-F5344CB8AC3E}">
        <p14:creationId xmlns:p14="http://schemas.microsoft.com/office/powerpoint/2010/main" val="19696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5620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58636"/>
            <a:ext cx="7962648" cy="4361900"/>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400" dirty="0">
                <a:solidFill>
                  <a:srgbClr val="FF0000"/>
                </a:solidFill>
                <a:latin typeface="Times New Roman"/>
                <a:ea typeface="黑体"/>
              </a:rPr>
              <a:t>新时期（</a:t>
            </a:r>
            <a:r>
              <a:rPr lang="en-US" altLang="zh-CN" sz="2400" dirty="0">
                <a:solidFill>
                  <a:srgbClr val="FF0000"/>
                </a:solidFill>
                <a:latin typeface="Times New Roman"/>
                <a:ea typeface="黑体"/>
              </a:rPr>
              <a:t>1986</a:t>
            </a:r>
            <a:r>
              <a:rPr lang="zh-CN" altLang="en-US" sz="2400" dirty="0">
                <a:solidFill>
                  <a:srgbClr val="FF0000"/>
                </a:solidFill>
                <a:latin typeface="Times New Roman"/>
                <a:ea typeface="黑体"/>
              </a:rPr>
              <a:t>至今）</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1987</a:t>
            </a:r>
            <a:r>
              <a:rPr lang="zh-CN" altLang="en-US" sz="2400" dirty="0">
                <a:solidFill>
                  <a:prstClr val="black"/>
                </a:solidFill>
                <a:latin typeface="Times New Roman"/>
                <a:ea typeface="黑体"/>
              </a:rPr>
              <a:t>年</a:t>
            </a:r>
            <a:r>
              <a:rPr lang="en-US" altLang="zh-CN" sz="2400" dirty="0">
                <a:solidFill>
                  <a:prstClr val="black"/>
                </a:solidFill>
                <a:latin typeface="Times New Roman"/>
                <a:ea typeface="黑体"/>
              </a:rPr>
              <a:t>6</a:t>
            </a:r>
            <a:r>
              <a:rPr lang="zh-CN" altLang="en-US" sz="2400" dirty="0">
                <a:solidFill>
                  <a:prstClr val="black"/>
                </a:solidFill>
                <a:latin typeface="Times New Roman"/>
                <a:ea typeface="黑体"/>
              </a:rPr>
              <a:t>月，首届国际神经网络学术会议召开，成立了国际神经网络学会（</a:t>
            </a:r>
            <a:r>
              <a:rPr lang="en-US" altLang="zh-CN" sz="2400" dirty="0">
                <a:solidFill>
                  <a:prstClr val="black"/>
                </a:solidFill>
                <a:latin typeface="Times New Roman"/>
                <a:ea typeface="黑体"/>
              </a:rPr>
              <a:t>INNS</a:t>
            </a:r>
            <a:r>
              <a:rPr lang="zh-CN" altLang="en-US" sz="2400" dirty="0">
                <a:solidFill>
                  <a:prstClr val="black"/>
                </a:solidFill>
                <a:latin typeface="Times New Roman"/>
                <a:ea typeface="黑体"/>
              </a:rPr>
              <a:t>）。</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1980</a:t>
            </a:r>
            <a:r>
              <a:rPr lang="zh-CN" altLang="en-US" sz="2400" dirty="0">
                <a:solidFill>
                  <a:prstClr val="black"/>
                </a:solidFill>
                <a:latin typeface="Times New Roman"/>
                <a:ea typeface="黑体"/>
              </a:rPr>
              <a:t>年代末，提出简单的</a:t>
            </a:r>
            <a:r>
              <a:rPr lang="zh-CN" altLang="en-US" sz="2400" dirty="0">
                <a:solidFill>
                  <a:srgbClr val="FF0000"/>
                </a:solidFill>
                <a:latin typeface="Times New Roman"/>
                <a:ea typeface="黑体"/>
              </a:rPr>
              <a:t>循环神经网络</a:t>
            </a:r>
            <a:r>
              <a:rPr lang="zh-CN" altLang="en-US" sz="2400" dirty="0">
                <a:solidFill>
                  <a:prstClr val="black"/>
                </a:solidFill>
                <a:latin typeface="Times New Roman"/>
                <a:ea typeface="黑体"/>
              </a:rPr>
              <a:t>（</a:t>
            </a:r>
            <a:r>
              <a:rPr lang="en-US" altLang="zh-CN" sz="2400" dirty="0">
                <a:solidFill>
                  <a:srgbClr val="FF0000"/>
                </a:solidFill>
                <a:latin typeface="Times New Roman"/>
                <a:ea typeface="黑体"/>
              </a:rPr>
              <a:t>RNN</a:t>
            </a:r>
            <a:r>
              <a:rPr lang="zh-CN" altLang="en-US" sz="2400" dirty="0">
                <a:solidFill>
                  <a:prstClr val="black"/>
                </a:solidFill>
                <a:latin typeface="Times New Roman"/>
                <a:ea typeface="黑体"/>
              </a:rPr>
              <a:t>）。</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1989</a:t>
            </a:r>
            <a:r>
              <a:rPr lang="zh-CN" altLang="en-US" sz="2400" dirty="0">
                <a:solidFill>
                  <a:prstClr val="black"/>
                </a:solidFill>
                <a:latin typeface="Times New Roman"/>
                <a:ea typeface="黑体"/>
              </a:rPr>
              <a:t>年，使用</a:t>
            </a:r>
            <a:r>
              <a:rPr lang="en-US" altLang="zh-CN" sz="2400" dirty="0">
                <a:solidFill>
                  <a:prstClr val="black"/>
                </a:solidFill>
                <a:latin typeface="Times New Roman"/>
                <a:ea typeface="黑体"/>
              </a:rPr>
              <a:t>BP</a:t>
            </a:r>
            <a:r>
              <a:rPr lang="zh-CN" altLang="en-US" sz="2400" dirty="0">
                <a:solidFill>
                  <a:prstClr val="black"/>
                </a:solidFill>
                <a:latin typeface="Times New Roman"/>
                <a:ea typeface="黑体"/>
              </a:rPr>
              <a:t>算法训练深度神经网络识别手写邮编，该神经网络被命名为</a:t>
            </a:r>
            <a:r>
              <a:rPr lang="en-US" altLang="zh-CN" sz="2400" dirty="0" err="1">
                <a:solidFill>
                  <a:srgbClr val="FF0000"/>
                </a:solidFill>
                <a:latin typeface="Times New Roman"/>
                <a:ea typeface="黑体"/>
              </a:rPr>
              <a:t>LeNet</a:t>
            </a:r>
            <a:r>
              <a:rPr lang="zh-CN" altLang="en-US" sz="2400" dirty="0">
                <a:solidFill>
                  <a:prstClr val="black"/>
                </a:solidFill>
                <a:latin typeface="Times New Roman"/>
                <a:ea typeface="黑体"/>
              </a:rPr>
              <a:t>，最早的</a:t>
            </a:r>
            <a:r>
              <a:rPr lang="zh-CN" altLang="en-US" sz="2400" dirty="0">
                <a:solidFill>
                  <a:srgbClr val="FF0000"/>
                </a:solidFill>
                <a:latin typeface="Times New Roman"/>
                <a:ea typeface="黑体"/>
              </a:rPr>
              <a:t>卷积神经网络</a:t>
            </a:r>
            <a:r>
              <a:rPr lang="zh-CN" altLang="en-US" sz="2400" dirty="0">
                <a:solidFill>
                  <a:prstClr val="black"/>
                </a:solidFill>
                <a:latin typeface="Times New Roman"/>
                <a:ea typeface="黑体"/>
              </a:rPr>
              <a:t>之一</a:t>
            </a:r>
            <a:r>
              <a:rPr lang="en-US" altLang="zh-CN" sz="2400" dirty="0">
                <a:solidFill>
                  <a:prstClr val="black"/>
                </a:solidFill>
                <a:latin typeface="Times New Roman"/>
                <a:ea typeface="黑体"/>
              </a:rPr>
              <a:t>(</a:t>
            </a:r>
            <a:r>
              <a:rPr lang="en-US" altLang="zh-CN" sz="2400" dirty="0">
                <a:solidFill>
                  <a:srgbClr val="FF0000"/>
                </a:solidFill>
                <a:latin typeface="Times New Roman"/>
                <a:ea typeface="黑体"/>
              </a:rPr>
              <a:t>CNN</a:t>
            </a:r>
            <a:r>
              <a:rPr lang="en-US" altLang="zh-CN" sz="2400" dirty="0">
                <a:solidFill>
                  <a:prstClr val="black"/>
                </a:solidFill>
                <a:latin typeface="Times New Roman"/>
                <a:ea typeface="黑体"/>
              </a:rPr>
              <a:t>)</a:t>
            </a:r>
            <a:r>
              <a:rPr lang="zh-CN" altLang="en-US" sz="2400" dirty="0">
                <a:solidFill>
                  <a:prstClr val="black"/>
                </a:solidFill>
                <a:latin typeface="Times New Roman"/>
                <a:ea typeface="黑体"/>
              </a:rPr>
              <a:t> 。</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1997</a:t>
            </a:r>
            <a:r>
              <a:rPr lang="zh-CN" altLang="en-US" sz="2400" dirty="0">
                <a:solidFill>
                  <a:prstClr val="black"/>
                </a:solidFill>
                <a:latin typeface="Times New Roman"/>
                <a:ea typeface="黑体"/>
              </a:rPr>
              <a:t>年，提出</a:t>
            </a:r>
            <a:r>
              <a:rPr lang="zh-CN" altLang="en-US" sz="2400" dirty="0">
                <a:solidFill>
                  <a:srgbClr val="FF0000"/>
                </a:solidFill>
                <a:latin typeface="Times New Roman"/>
                <a:ea typeface="黑体"/>
              </a:rPr>
              <a:t>长短期记忆人工神经网络</a:t>
            </a:r>
            <a:r>
              <a:rPr lang="zh-CN" altLang="en-US" sz="2400" dirty="0">
                <a:solidFill>
                  <a:prstClr val="black"/>
                </a:solidFill>
                <a:latin typeface="Times New Roman"/>
                <a:ea typeface="黑体"/>
              </a:rPr>
              <a:t>（</a:t>
            </a:r>
            <a:r>
              <a:rPr lang="en-US" altLang="zh-CN" sz="2400" dirty="0">
                <a:solidFill>
                  <a:srgbClr val="FF0000"/>
                </a:solidFill>
                <a:latin typeface="Times New Roman"/>
                <a:ea typeface="黑体"/>
              </a:rPr>
              <a:t>LSTM</a:t>
            </a:r>
            <a:r>
              <a:rPr lang="zh-CN" altLang="en-US" sz="2400" dirty="0">
                <a:solidFill>
                  <a:prstClr val="black"/>
                </a:solidFill>
                <a:latin typeface="Times New Roman"/>
                <a:ea typeface="黑体"/>
              </a:rPr>
              <a:t>），解决了一般</a:t>
            </a:r>
            <a:r>
              <a:rPr lang="en-US" altLang="zh-CN" sz="2400" dirty="0">
                <a:solidFill>
                  <a:prstClr val="black"/>
                </a:solidFill>
                <a:latin typeface="Times New Roman"/>
                <a:ea typeface="黑体"/>
              </a:rPr>
              <a:t>RNN</a:t>
            </a:r>
            <a:r>
              <a:rPr lang="zh-CN" altLang="en-US" sz="2400" dirty="0">
                <a:solidFill>
                  <a:prstClr val="black"/>
                </a:solidFill>
                <a:latin typeface="Times New Roman"/>
                <a:ea typeface="黑体"/>
              </a:rPr>
              <a:t>存在的长期依赖问题。</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20662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p>
        </p:txBody>
      </p:sp>
    </p:spTree>
    <p:extLst>
      <p:ext uri="{BB962C8B-B14F-4D97-AF65-F5344CB8AC3E}">
        <p14:creationId xmlns:p14="http://schemas.microsoft.com/office/powerpoint/2010/main" val="498567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2" end="2"/>
                                            </p:txEl>
                                          </p:spTgt>
                                        </p:tgtEl>
                                        <p:attrNameLst>
                                          <p:attrName>style.visibility</p:attrName>
                                        </p:attrNameLst>
                                      </p:cBhvr>
                                      <p:to>
                                        <p:strVal val="visible"/>
                                      </p:to>
                                    </p:set>
                                    <p:animEffect transition="in" filter="fade">
                                      <p:cBhvr>
                                        <p:cTn id="20" dur="500"/>
                                        <p:tgtEl>
                                          <p:spTgt spid="3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xEl>
                                              <p:pRg st="3" end="3"/>
                                            </p:txEl>
                                          </p:spTgt>
                                        </p:tgtEl>
                                        <p:attrNameLst>
                                          <p:attrName>style.visibility</p:attrName>
                                        </p:attrNameLst>
                                      </p:cBhvr>
                                      <p:to>
                                        <p:strVal val="visible"/>
                                      </p:to>
                                    </p:set>
                                    <p:animEffect transition="in" filter="fade">
                                      <p:cBhvr>
                                        <p:cTn id="25" dur="500"/>
                                        <p:tgtEl>
                                          <p:spTgt spid="3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2">
                                            <p:txEl>
                                              <p:pRg st="4" end="4"/>
                                            </p:txEl>
                                          </p:spTgt>
                                        </p:tgtEl>
                                        <p:attrNameLst>
                                          <p:attrName>style.visibility</p:attrName>
                                        </p:attrNameLst>
                                      </p:cBhvr>
                                      <p:to>
                                        <p:strVal val="visible"/>
                                      </p:to>
                                    </p:set>
                                    <p:animEffect transition="in" filter="fade">
                                      <p:cBhvr>
                                        <p:cTn id="30"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604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48475"/>
            <a:ext cx="7962648" cy="4361900"/>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400" dirty="0">
                <a:solidFill>
                  <a:srgbClr val="FF0000"/>
                </a:solidFill>
                <a:latin typeface="Times New Roman"/>
                <a:ea typeface="黑体"/>
              </a:rPr>
              <a:t>新时期（</a:t>
            </a:r>
            <a:r>
              <a:rPr lang="en-US" altLang="zh-CN" sz="2400" dirty="0">
                <a:solidFill>
                  <a:srgbClr val="FF0000"/>
                </a:solidFill>
                <a:latin typeface="Times New Roman"/>
                <a:ea typeface="黑体"/>
              </a:rPr>
              <a:t>1986</a:t>
            </a:r>
            <a:r>
              <a:rPr lang="zh-CN" altLang="en-US" sz="2400" dirty="0">
                <a:solidFill>
                  <a:srgbClr val="FF0000"/>
                </a:solidFill>
                <a:latin typeface="Times New Roman"/>
                <a:ea typeface="黑体"/>
              </a:rPr>
              <a:t>至今）</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2006</a:t>
            </a:r>
            <a:r>
              <a:rPr lang="zh-CN" altLang="en-US" sz="2400" dirty="0">
                <a:solidFill>
                  <a:prstClr val="black"/>
                </a:solidFill>
                <a:latin typeface="Times New Roman"/>
                <a:ea typeface="黑体"/>
              </a:rPr>
              <a:t>年，提出深度置信网络</a:t>
            </a:r>
            <a:r>
              <a:rPr lang="en-US" altLang="zh-CN" sz="2400" dirty="0">
                <a:solidFill>
                  <a:prstClr val="black"/>
                </a:solidFill>
                <a:latin typeface="Times New Roman"/>
                <a:ea typeface="黑体"/>
              </a:rPr>
              <a:t>(DBN)</a:t>
            </a:r>
            <a:r>
              <a:rPr lang="zh-CN" altLang="en-US" sz="2400" dirty="0">
                <a:solidFill>
                  <a:prstClr val="black"/>
                </a:solidFill>
                <a:latin typeface="Times New Roman"/>
                <a:ea typeface="黑体"/>
              </a:rPr>
              <a:t>，用于建立一个观察数据和标签之间的联合分布。</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2012</a:t>
            </a:r>
            <a:r>
              <a:rPr lang="zh-CN" altLang="en-US" sz="2400" dirty="0">
                <a:solidFill>
                  <a:prstClr val="black"/>
                </a:solidFill>
                <a:latin typeface="Times New Roman"/>
                <a:ea typeface="黑体"/>
              </a:rPr>
              <a:t>年，开发了</a:t>
            </a:r>
            <a:r>
              <a:rPr lang="en-US" altLang="zh-CN" sz="2400" dirty="0" err="1">
                <a:solidFill>
                  <a:prstClr val="black"/>
                </a:solidFill>
                <a:latin typeface="Times New Roman"/>
                <a:ea typeface="黑体"/>
              </a:rPr>
              <a:t>Alexnet</a:t>
            </a:r>
            <a:r>
              <a:rPr lang="zh-CN" altLang="en-US" sz="2400" dirty="0">
                <a:solidFill>
                  <a:prstClr val="black"/>
                </a:solidFill>
                <a:latin typeface="Times New Roman"/>
                <a:ea typeface="黑体"/>
              </a:rPr>
              <a:t>深度卷积网络。</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2014</a:t>
            </a:r>
            <a:r>
              <a:rPr lang="zh-CN" altLang="en-US" sz="2400" dirty="0">
                <a:solidFill>
                  <a:prstClr val="black"/>
                </a:solidFill>
                <a:latin typeface="Times New Roman"/>
                <a:ea typeface="黑体"/>
              </a:rPr>
              <a:t>年，提出生成对抗网络（</a:t>
            </a:r>
            <a:r>
              <a:rPr lang="en-US" altLang="zh-CN" sz="2400" dirty="0">
                <a:solidFill>
                  <a:prstClr val="black"/>
                </a:solidFill>
                <a:latin typeface="Times New Roman"/>
                <a:ea typeface="黑体"/>
              </a:rPr>
              <a:t>GAN</a:t>
            </a:r>
            <a:r>
              <a:rPr lang="zh-CN" altLang="en-US" sz="2400" dirty="0">
                <a:solidFill>
                  <a:prstClr val="black"/>
                </a:solidFill>
                <a:latin typeface="Times New Roman"/>
                <a:ea typeface="黑体"/>
              </a:rPr>
              <a:t>），一种非监督式学习方法，通过让两个神经网络相互博弈的方式进行学习。</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2015</a:t>
            </a:r>
            <a:r>
              <a:rPr lang="zh-CN" altLang="en-US" sz="2400" dirty="0">
                <a:solidFill>
                  <a:prstClr val="black"/>
                </a:solidFill>
                <a:latin typeface="Times New Roman"/>
                <a:ea typeface="黑体"/>
              </a:rPr>
              <a:t>年，提出残差网络（</a:t>
            </a:r>
            <a:r>
              <a:rPr lang="en-US" altLang="zh-CN" sz="2400" dirty="0" err="1">
                <a:solidFill>
                  <a:prstClr val="black"/>
                </a:solidFill>
                <a:latin typeface="Times New Roman"/>
                <a:ea typeface="黑体"/>
              </a:rPr>
              <a:t>ResNet</a:t>
            </a:r>
            <a:r>
              <a:rPr lang="zh-CN" altLang="en-US" sz="2400" dirty="0">
                <a:solidFill>
                  <a:prstClr val="black"/>
                </a:solidFill>
                <a:latin typeface="Times New Roman"/>
                <a:ea typeface="黑体"/>
              </a:rPr>
              <a:t>），该网络易优化，且能够通过相当的深度来提高准确率。</a:t>
            </a:r>
          </a:p>
          <a:p>
            <a:pPr marL="323835" indent="-147631" algn="just">
              <a:lnSpc>
                <a:spcPct val="130000"/>
              </a:lnSpc>
              <a:buFont typeface="Arial" panose="020B0604020202020204" pitchFamily="34" charset="0"/>
              <a:buChar char="•"/>
            </a:pPr>
            <a:r>
              <a:rPr lang="en-US" altLang="zh-CN" sz="2400" dirty="0">
                <a:solidFill>
                  <a:prstClr val="black"/>
                </a:solidFill>
                <a:latin typeface="Times New Roman"/>
                <a:ea typeface="黑体"/>
              </a:rPr>
              <a:t>2017</a:t>
            </a:r>
            <a:r>
              <a:rPr lang="zh-CN" altLang="en-US" sz="2400" dirty="0">
                <a:solidFill>
                  <a:prstClr val="black"/>
                </a:solidFill>
                <a:latin typeface="Times New Roman"/>
                <a:ea typeface="黑体"/>
              </a:rPr>
              <a:t>年</a:t>
            </a:r>
            <a:r>
              <a:rPr lang="en-US" altLang="zh-CN" sz="2400" dirty="0">
                <a:solidFill>
                  <a:prstClr val="black"/>
                </a:solidFill>
                <a:latin typeface="Times New Roman"/>
                <a:ea typeface="黑体"/>
              </a:rPr>
              <a:t>11</a:t>
            </a:r>
            <a:r>
              <a:rPr lang="zh-CN" altLang="en-US" sz="2400" dirty="0">
                <a:solidFill>
                  <a:prstClr val="black"/>
                </a:solidFill>
                <a:latin typeface="Times New Roman"/>
                <a:ea typeface="黑体"/>
              </a:rPr>
              <a:t>月，提出胶囊网络。</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9646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人工神经网络发展历史</a:t>
            </a:r>
          </a:p>
        </p:txBody>
      </p:sp>
    </p:spTree>
    <p:extLst>
      <p:ext uri="{BB962C8B-B14F-4D97-AF65-F5344CB8AC3E}">
        <p14:creationId xmlns:p14="http://schemas.microsoft.com/office/powerpoint/2010/main" val="235596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750"/>
                                        <p:tgtEl>
                                          <p:spTgt spid="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5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3" end="3"/>
                                            </p:txEl>
                                          </p:spTgt>
                                        </p:tgtEl>
                                        <p:attrNameLst>
                                          <p:attrName>style.visibility</p:attrName>
                                        </p:attrNameLst>
                                      </p:cBhvr>
                                      <p:to>
                                        <p:strVal val="visible"/>
                                      </p:to>
                                    </p:set>
                                    <p:animEffect transition="in" filter="fade">
                                      <p:cBhvr>
                                        <p:cTn id="17" dur="500"/>
                                        <p:tgtEl>
                                          <p:spTgt spid="3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4" end="4"/>
                                            </p:txEl>
                                          </p:spTgt>
                                        </p:tgtEl>
                                        <p:attrNameLst>
                                          <p:attrName>style.visibility</p:attrName>
                                        </p:attrNameLst>
                                      </p:cBhvr>
                                      <p:to>
                                        <p:strVal val="visible"/>
                                      </p:to>
                                    </p:set>
                                    <p:animEffect transition="in" filter="fade">
                                      <p:cBhvr>
                                        <p:cTn id="22" dur="500"/>
                                        <p:tgtEl>
                                          <p:spTgt spid="3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charRg st="178" end="194"/>
                                            </p:txEl>
                                          </p:spTgt>
                                        </p:tgtEl>
                                        <p:attrNameLst>
                                          <p:attrName>style.visibility</p:attrName>
                                        </p:attrNameLst>
                                      </p:cBhvr>
                                      <p:to>
                                        <p:strVal val="visible"/>
                                      </p:to>
                                    </p:set>
                                    <p:animEffect transition="in" filter="fade">
                                      <p:cBhvr>
                                        <p:cTn id="27" dur="500"/>
                                        <p:tgtEl>
                                          <p:spTgt spid="32">
                                            <p:txEl>
                                              <p:charRg st="178" end="19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7492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1977361"/>
            <a:ext cx="7962648" cy="1076705"/>
          </a:xfrm>
          <a:prstGeom prst="rect">
            <a:avLst/>
          </a:prstGeom>
          <a:ln>
            <a:solidFill>
              <a:srgbClr val="C00000"/>
            </a:solid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生物神经元</a:t>
            </a:r>
          </a:p>
          <a:p>
            <a:pPr marL="176204" algn="just">
              <a:lnSpc>
                <a:spcPct val="130000"/>
              </a:lnSpc>
            </a:pPr>
            <a:r>
              <a:rPr lang="zh-CN" altLang="en-US" sz="2600" dirty="0">
                <a:solidFill>
                  <a:prstClr val="black"/>
                </a:solidFill>
                <a:latin typeface="Times New Roman"/>
                <a:ea typeface="黑体"/>
              </a:rPr>
              <a:t>一种神经细胞，包含多个树突、一个轴突、细胞体。</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2534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p>
        </p:txBody>
      </p:sp>
      <p:pic>
        <p:nvPicPr>
          <p:cNvPr id="6" name="图片 52">
            <a:extLst>
              <a:ext uri="{FF2B5EF4-FFF2-40B4-BE49-F238E27FC236}">
                <a16:creationId xmlns:a16="http://schemas.microsoft.com/office/drawing/2014/main" id="{9E33C2CC-98FD-E34C-9386-1BA54190D54A}"/>
              </a:ext>
            </a:extLst>
          </p:cNvPr>
          <p:cNvPicPr>
            <a:picLocks noChangeAspect="1"/>
          </p:cNvPicPr>
          <p:nvPr/>
        </p:nvPicPr>
        <p:blipFill>
          <a:blip r:embed="rId2"/>
          <a:stretch>
            <a:fillRect/>
          </a:stretch>
        </p:blipFill>
        <p:spPr>
          <a:xfrm>
            <a:off x="1289469" y="3054066"/>
            <a:ext cx="5883491" cy="3494606"/>
          </a:xfrm>
          <a:prstGeom prst="rect">
            <a:avLst/>
          </a:prstGeom>
          <a:noFill/>
          <a:ln>
            <a:noFill/>
          </a:ln>
        </p:spPr>
      </p:pic>
    </p:spTree>
    <p:extLst>
      <p:ext uri="{BB962C8B-B14F-4D97-AF65-F5344CB8AC3E}">
        <p14:creationId xmlns:p14="http://schemas.microsoft.com/office/powerpoint/2010/main" val="143803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fade">
                                      <p:cBhvr>
                                        <p:cTn id="15" dur="500"/>
                                        <p:tgtEl>
                                          <p:spTgt spid="32">
                                            <p:txEl>
                                              <p:pRg st="0" end="0"/>
                                            </p:txEl>
                                          </p:spTgt>
                                        </p:tgtEl>
                                      </p:cBhvr>
                                    </p:animEffect>
                                  </p:childTnLst>
                                </p:cTn>
                              </p:par>
                            </p:childTnLst>
                          </p:cTn>
                        </p:par>
                        <p:par>
                          <p:cTn id="16" fill="hold">
                            <p:stCondLst>
                              <p:cond delay="500"/>
                            </p:stCondLst>
                            <p:childTnLst>
                              <p:par>
                                <p:cTn id="17" presetID="10" presetClass="entr" presetSubtype="0" fill="hold" nodeType="afterEffect">
                                  <p:stCondLst>
                                    <p:cond delay="500"/>
                                  </p:stCondLst>
                                  <p:childTnLst>
                                    <p:set>
                                      <p:cBhvr>
                                        <p:cTn id="18" dur="1" fill="hold">
                                          <p:stCondLst>
                                            <p:cond delay="0"/>
                                          </p:stCondLst>
                                        </p:cTn>
                                        <p:tgtEl>
                                          <p:spTgt spid="32">
                                            <p:txEl>
                                              <p:pRg st="1" end="1"/>
                                            </p:txEl>
                                          </p:spTgt>
                                        </p:tgtEl>
                                        <p:attrNameLst>
                                          <p:attrName>style.visibility</p:attrName>
                                        </p:attrNameLst>
                                      </p:cBhvr>
                                      <p:to>
                                        <p:strVal val="visible"/>
                                      </p:to>
                                    </p:set>
                                    <p:animEffect transition="in" filter="fade">
                                      <p:cBhvr>
                                        <p:cTn id="19" dur="500"/>
                                        <p:tgtEl>
                                          <p:spTgt spid="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2572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28160"/>
            <a:ext cx="7962648" cy="1076705"/>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神经元的数学模型</a:t>
            </a:r>
            <a:endParaRPr lang="en-US" altLang="zh-CN" sz="2600" dirty="0">
              <a:solidFill>
                <a:prstClr val="black"/>
              </a:solidFill>
              <a:latin typeface="Times New Roman"/>
              <a:ea typeface="黑体"/>
            </a:endParaRPr>
          </a:p>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模仿生物神经系统的结构和工作原理。</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7614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p>
        </p:txBody>
      </p:sp>
      <p:pic>
        <p:nvPicPr>
          <p:cNvPr id="7" name="图片 51">
            <a:extLst>
              <a:ext uri="{FF2B5EF4-FFF2-40B4-BE49-F238E27FC236}">
                <a16:creationId xmlns:a16="http://schemas.microsoft.com/office/drawing/2014/main" id="{90DC3702-2062-B960-E76F-DEE94AAFD002}"/>
              </a:ext>
            </a:extLst>
          </p:cNvPr>
          <p:cNvPicPr>
            <a:picLocks noChangeAspect="1"/>
          </p:cNvPicPr>
          <p:nvPr/>
        </p:nvPicPr>
        <p:blipFill>
          <a:blip r:embed="rId2"/>
          <a:srcRect l="3082" b="752"/>
          <a:stretch>
            <a:fillRect/>
          </a:stretch>
        </p:blipFill>
        <p:spPr>
          <a:xfrm>
            <a:off x="1086003" y="3249181"/>
            <a:ext cx="6972007" cy="3335651"/>
          </a:xfrm>
          <a:prstGeom prst="rect">
            <a:avLst/>
          </a:prstGeom>
          <a:noFill/>
          <a:ln>
            <a:noFill/>
          </a:ln>
        </p:spPr>
      </p:pic>
    </p:spTree>
    <p:extLst>
      <p:ext uri="{BB962C8B-B14F-4D97-AF65-F5344CB8AC3E}">
        <p14:creationId xmlns:p14="http://schemas.microsoft.com/office/powerpoint/2010/main" val="295968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750"/>
                                        <p:tgtEl>
                                          <p:spTgt spid="32">
                                            <p:txEl>
                                              <p:pRg st="0" end="0"/>
                                            </p:txEl>
                                          </p:spTgt>
                                        </p:tgtEl>
                                      </p:cBhvr>
                                    </p:animEffect>
                                  </p:childTnLst>
                                </p:cTn>
                              </p:par>
                            </p:childTnLst>
                          </p:cTn>
                        </p:par>
                        <p:par>
                          <p:cTn id="8" fill="hold">
                            <p:stCondLst>
                              <p:cond delay="1250"/>
                            </p:stCondLst>
                            <p:childTnLst>
                              <p:par>
                                <p:cTn id="9" presetID="10" presetClass="entr" presetSubtype="0" fill="hold" nodeType="afterEffect">
                                  <p:stCondLst>
                                    <p:cond delay="500"/>
                                  </p:stCondLst>
                                  <p:childTnLst>
                                    <p:set>
                                      <p:cBhvr>
                                        <p:cTn id="10" dur="1" fill="hold">
                                          <p:stCondLst>
                                            <p:cond delay="0"/>
                                          </p:stCondLst>
                                        </p:cTn>
                                        <p:tgtEl>
                                          <p:spTgt spid="32">
                                            <p:txEl>
                                              <p:pRg st="1" end="1"/>
                                            </p:txEl>
                                          </p:spTgt>
                                        </p:tgtEl>
                                        <p:attrNameLst>
                                          <p:attrName>style.visibility</p:attrName>
                                        </p:attrNameLst>
                                      </p:cBhvr>
                                      <p:to>
                                        <p:strVal val="visible"/>
                                      </p:to>
                                    </p:set>
                                    <p:animEffect transition="in" filter="fade">
                                      <p:cBhvr>
                                        <p:cTn id="11" dur="500"/>
                                        <p:tgtEl>
                                          <p:spTgt spid="3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6476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A2D5D130-9918-D803-D4FB-1CC3E5696391}"/>
                  </a:ext>
                </a:extLst>
              </p:cNvPr>
              <p:cNvSpPr/>
              <p:nvPr/>
            </p:nvSpPr>
            <p:spPr>
              <a:xfrm>
                <a:off x="590676" y="1970976"/>
                <a:ext cx="7962648" cy="4686860"/>
              </a:xfrm>
              <a:prstGeom prst="rect">
                <a:avLst/>
              </a:prstGeom>
              <a:ln>
                <a:noFill/>
              </a:ln>
            </p:spPr>
            <p:txBody>
              <a:bodyPr wrap="square">
                <a:spAutoFit/>
              </a:bodyPr>
              <a:lstStyle/>
              <a:p>
                <a:pPr marL="323835" indent="-342882" algn="just">
                  <a:lnSpc>
                    <a:spcPct val="140000"/>
                  </a:lnSpc>
                  <a:buFont typeface="Wingdings" panose="05000000000000000000" pitchFamily="2" charset="2"/>
                  <a:buChar char="Ø"/>
                </a:pPr>
                <a:r>
                  <a:rPr lang="zh-CN" altLang="en-US" sz="2400" dirty="0">
                    <a:solidFill>
                      <a:prstClr val="black"/>
                    </a:solidFill>
                    <a:latin typeface="Times New Roman"/>
                    <a:ea typeface="黑体"/>
                  </a:rPr>
                  <a:t>在</a:t>
                </a:r>
                <a:r>
                  <a:rPr lang="en-US" altLang="zh-CN" sz="2400" dirty="0">
                    <a:solidFill>
                      <a:prstClr val="black"/>
                    </a:solidFill>
                    <a:latin typeface="Times New Roman"/>
                    <a:ea typeface="黑体"/>
                  </a:rPr>
                  <a:t>M-P</a:t>
                </a:r>
                <a:r>
                  <a:rPr lang="zh-CN" altLang="en-US" sz="2400" dirty="0">
                    <a:solidFill>
                      <a:prstClr val="black"/>
                    </a:solidFill>
                    <a:latin typeface="Times New Roman"/>
                    <a:ea typeface="黑体"/>
                  </a:rPr>
                  <a:t>模型中，一个神经元</a:t>
                </a:r>
                <a:endParaRPr lang="en-US" altLang="zh-CN" sz="2400" dirty="0">
                  <a:solidFill>
                    <a:prstClr val="black"/>
                  </a:solidFill>
                  <a:latin typeface="Times New Roman"/>
                  <a:ea typeface="黑体"/>
                </a:endParaRPr>
              </a:p>
              <a:p>
                <a:pPr algn="just">
                  <a:lnSpc>
                    <a:spcPct val="140000"/>
                  </a:lnSpc>
                </a:pPr>
                <a:r>
                  <a:rPr lang="zh-CN" altLang="en-US" sz="2400" dirty="0">
                    <a:solidFill>
                      <a:prstClr val="black"/>
                    </a:solidFill>
                    <a:latin typeface="Times New Roman"/>
                    <a:ea typeface="黑体"/>
                  </a:rPr>
                  <a:t>可以从多个神经元接收信号， </a:t>
                </a:r>
                <a:endParaRPr lang="en-US" altLang="zh-CN" sz="2400" dirty="0">
                  <a:solidFill>
                    <a:prstClr val="black"/>
                  </a:solidFill>
                  <a:latin typeface="Times New Roman"/>
                  <a:ea typeface="黑体"/>
                </a:endParaRPr>
              </a:p>
              <a:p>
                <a:pPr algn="just">
                  <a:lnSpc>
                    <a:spcPct val="140000"/>
                  </a:lnSpc>
                </a:pPr>
                <a:r>
                  <a:rPr lang="en-US" altLang="zh-CN" sz="2400" i="1" dirty="0">
                    <a:solidFill>
                      <a:prstClr val="black"/>
                    </a:solidFill>
                    <a:latin typeface="Times New Roman"/>
                    <a:ea typeface="黑体"/>
                  </a:rPr>
                  <a:t>x</a:t>
                </a:r>
                <a:r>
                  <a:rPr lang="en-US" altLang="zh-CN" sz="2400" i="1" baseline="-25000" dirty="0">
                    <a:solidFill>
                      <a:prstClr val="black"/>
                    </a:solidFill>
                    <a:latin typeface="Times New Roman"/>
                    <a:ea typeface="黑体"/>
                  </a:rPr>
                  <a:t>i</a:t>
                </a:r>
                <a:r>
                  <a:rPr lang="zh-CN" altLang="en-US" sz="2400" dirty="0">
                    <a:solidFill>
                      <a:prstClr val="black"/>
                    </a:solidFill>
                    <a:latin typeface="Times New Roman"/>
                    <a:ea typeface="黑体"/>
                  </a:rPr>
                  <a:t>表示从第</a:t>
                </a:r>
                <a:r>
                  <a:rPr lang="en-US" altLang="zh-CN" sz="2400" i="1" dirty="0" err="1">
                    <a:solidFill>
                      <a:prstClr val="black"/>
                    </a:solidFill>
                    <a:latin typeface="Times New Roman"/>
                    <a:ea typeface="黑体"/>
                  </a:rPr>
                  <a:t>i</a:t>
                </a:r>
                <a:r>
                  <a:rPr lang="zh-CN" altLang="en-US" sz="2400" dirty="0">
                    <a:solidFill>
                      <a:prstClr val="black"/>
                    </a:solidFill>
                    <a:latin typeface="Times New Roman"/>
                    <a:ea typeface="黑体"/>
                  </a:rPr>
                  <a:t>个神经元传来的信号强度值。信号经突触传递给树突，突触的连接强度（传递能力）用</a:t>
                </a:r>
                <a:r>
                  <a:rPr lang="en-US" altLang="zh-CN" sz="2400" i="1" dirty="0" err="1">
                    <a:solidFill>
                      <a:prstClr val="black"/>
                    </a:solidFill>
                    <a:latin typeface="Times New Roman"/>
                    <a:ea typeface="黑体"/>
                  </a:rPr>
                  <a:t>w</a:t>
                </a:r>
                <a:r>
                  <a:rPr lang="en-US" altLang="zh-CN" sz="2400" i="1" baseline="-25000" dirty="0" err="1">
                    <a:solidFill>
                      <a:prstClr val="black"/>
                    </a:solidFill>
                    <a:latin typeface="Times New Roman"/>
                    <a:ea typeface="黑体"/>
                  </a:rPr>
                  <a:t>i</a:t>
                </a:r>
                <a:r>
                  <a:rPr lang="zh-CN" altLang="en-US" sz="2400" dirty="0">
                    <a:solidFill>
                      <a:prstClr val="black"/>
                    </a:solidFill>
                    <a:latin typeface="Times New Roman"/>
                    <a:ea typeface="黑体"/>
                  </a:rPr>
                  <a:t>表示，树突传入的信号强度计算为</a:t>
                </a:r>
                <a:r>
                  <a:rPr lang="en-US" altLang="zh-CN" sz="2400" i="1" dirty="0" err="1">
                    <a:solidFill>
                      <a:prstClr val="black"/>
                    </a:solidFill>
                    <a:latin typeface="Times New Roman"/>
                    <a:ea typeface="黑体"/>
                  </a:rPr>
                  <a:t>w</a:t>
                </a:r>
                <a:r>
                  <a:rPr lang="en-US" altLang="zh-CN" sz="2400" i="1" baseline="-25000" dirty="0" err="1">
                    <a:solidFill>
                      <a:prstClr val="black"/>
                    </a:solidFill>
                    <a:latin typeface="Times New Roman"/>
                    <a:ea typeface="黑体"/>
                  </a:rPr>
                  <a:t>i</a:t>
                </a:r>
                <a:r>
                  <a:rPr lang="en-US" altLang="zh-CN" sz="2400" dirty="0">
                    <a:solidFill>
                      <a:prstClr val="black"/>
                    </a:solidFill>
                    <a:latin typeface="Times New Roman"/>
                    <a:ea typeface="黑体"/>
                  </a:rPr>
                  <a:t>*</a:t>
                </a:r>
                <a:r>
                  <a:rPr lang="en-US" altLang="zh-CN" sz="2400" i="1" dirty="0">
                    <a:solidFill>
                      <a:prstClr val="black"/>
                    </a:solidFill>
                    <a:latin typeface="Times New Roman"/>
                    <a:ea typeface="黑体"/>
                  </a:rPr>
                  <a:t>x</a:t>
                </a:r>
                <a:r>
                  <a:rPr lang="en-US" altLang="zh-CN" sz="2400" i="1" baseline="-25000" dirty="0">
                    <a:solidFill>
                      <a:prstClr val="black"/>
                    </a:solidFill>
                    <a:latin typeface="Times New Roman"/>
                    <a:ea typeface="黑体"/>
                  </a:rPr>
                  <a:t>i</a:t>
                </a:r>
                <a:r>
                  <a:rPr lang="zh-CN" altLang="en-US" sz="2400" dirty="0">
                    <a:solidFill>
                      <a:prstClr val="black"/>
                    </a:solidFill>
                    <a:latin typeface="Times New Roman"/>
                    <a:ea typeface="黑体"/>
                  </a:rPr>
                  <a:t>；在细胞体中，对各个树突传来的信号进行汇集和处理：</a:t>
                </a:r>
                <a:r>
                  <a:rPr lang="zh-CN" altLang="en-US" sz="2400" dirty="0">
                    <a:solidFill>
                      <a:srgbClr val="C00000"/>
                    </a:solidFill>
                    <a:latin typeface="Times New Roman"/>
                    <a:ea typeface="黑体"/>
                  </a:rPr>
                  <a:t>汇集</a:t>
                </a:r>
                <a:r>
                  <a:rPr lang="zh-CN" altLang="en-US" sz="2400" dirty="0">
                    <a:solidFill>
                      <a:prstClr val="black"/>
                    </a:solidFill>
                    <a:latin typeface="Times New Roman"/>
                    <a:ea typeface="黑体"/>
                  </a:rPr>
                  <a:t>是对输入信号直接相加</a:t>
                </a:r>
                <a14:m>
                  <m:oMath xmlns:m="http://schemas.openxmlformats.org/officeDocument/2006/math">
                    <m:nary>
                      <m:naryPr>
                        <m:chr m:val="∑"/>
                        <m:ctrlPr>
                          <a:rPr lang="zh-CN" altLang="en-US" sz="2400" i="1">
                            <a:solidFill>
                              <a:prstClr val="black"/>
                            </a:solidFill>
                            <a:latin typeface="Cambria Math" panose="02040503050406030204" pitchFamily="18" charset="0"/>
                          </a:rPr>
                        </m:ctrlPr>
                      </m:naryPr>
                      <m:sub>
                        <m:r>
                          <m:rPr>
                            <m:brk m:alnAt="23"/>
                          </m:rPr>
                          <a:rPr lang="en-US" altLang="zh-CN" sz="2400" i="1">
                            <a:solidFill>
                              <a:prstClr val="black"/>
                            </a:solidFill>
                            <a:latin typeface="Cambria Math" panose="02040503050406030204" pitchFamily="18" charset="0"/>
                          </a:rPr>
                          <m:t>𝑖</m:t>
                        </m:r>
                        <m:r>
                          <a:rPr lang="en-US" altLang="zh-CN" sz="2400" i="1">
                            <a:solidFill>
                              <a:prstClr val="black"/>
                            </a:solidFill>
                            <a:latin typeface="Cambria Math" panose="02040503050406030204" pitchFamily="18" charset="0"/>
                          </a:rPr>
                          <m:t>=1</m:t>
                        </m:r>
                      </m:sub>
                      <m:sup>
                        <m:r>
                          <a:rPr lang="en-US" altLang="zh-CN" sz="2400" i="1">
                            <a:solidFill>
                              <a:prstClr val="black"/>
                            </a:solidFill>
                            <a:latin typeface="Cambria Math" panose="02040503050406030204" pitchFamily="18" charset="0"/>
                          </a:rPr>
                          <m:t>𝑛</m:t>
                        </m:r>
                      </m:sup>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𝑤</m:t>
                            </m:r>
                          </m:e>
                          <m:sub>
                            <m:r>
                              <a:rPr lang="en-US" altLang="zh-CN" sz="2400" i="1">
                                <a:solidFill>
                                  <a:prstClr val="black"/>
                                </a:solidFill>
                                <a:latin typeface="Cambria Math" panose="02040503050406030204" pitchFamily="18" charset="0"/>
                              </a:rPr>
                              <m:t>𝑖</m:t>
                            </m:r>
                          </m:sub>
                        </m:sSub>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𝑥</m:t>
                            </m:r>
                          </m:e>
                          <m:sub>
                            <m:r>
                              <a:rPr lang="en-US" altLang="zh-CN" sz="2400" i="1">
                                <a:solidFill>
                                  <a:prstClr val="black"/>
                                </a:solidFill>
                                <a:latin typeface="Cambria Math" panose="02040503050406030204" pitchFamily="18" charset="0"/>
                              </a:rPr>
                              <m:t>𝑖</m:t>
                            </m:r>
                          </m:sub>
                        </m:sSub>
                      </m:e>
                    </m:nary>
                  </m:oMath>
                </a14:m>
                <a:r>
                  <a:rPr lang="zh-CN" altLang="en-US" sz="2400" dirty="0">
                    <a:solidFill>
                      <a:prstClr val="black"/>
                    </a:solidFill>
                    <a:latin typeface="Times New Roman"/>
                    <a:ea typeface="黑体"/>
                  </a:rPr>
                  <a:t>；</a:t>
                </a:r>
                <a:r>
                  <a:rPr lang="zh-CN" altLang="en-US" sz="2400" dirty="0">
                    <a:solidFill>
                      <a:srgbClr val="C00000"/>
                    </a:solidFill>
                    <a:latin typeface="Times New Roman"/>
                    <a:ea typeface="黑体"/>
                  </a:rPr>
                  <a:t>处理</a:t>
                </a:r>
                <a:r>
                  <a:rPr lang="zh-CN" altLang="en-US" sz="2400" dirty="0">
                    <a:solidFill>
                      <a:prstClr val="black"/>
                    </a:solidFill>
                    <a:latin typeface="Times New Roman"/>
                    <a:ea typeface="黑体"/>
                  </a:rPr>
                  <a:t>则是根据预先设定的阈值</a:t>
                </a:r>
                <a:r>
                  <a:rPr lang="en-US" altLang="zh-CN" sz="2400" i="1" dirty="0">
                    <a:solidFill>
                      <a:prstClr val="black"/>
                    </a:solidFill>
                    <a:latin typeface="Times New Roman"/>
                    <a:ea typeface="黑体"/>
                  </a:rPr>
                  <a:t>θ</a:t>
                </a:r>
                <a:r>
                  <a:rPr lang="zh-CN" altLang="en-US" sz="2400" dirty="0">
                    <a:solidFill>
                      <a:prstClr val="black"/>
                    </a:solidFill>
                    <a:latin typeface="Times New Roman"/>
                    <a:ea typeface="黑体"/>
                  </a:rPr>
                  <a:t>，如果汇集后的信号强度大于该阈值就通过轴突产生冲动（输出值</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），否则不产生（输出</a:t>
                </a:r>
                <a:r>
                  <a:rPr lang="en-US" altLang="zh-CN" sz="2400" dirty="0">
                    <a:solidFill>
                      <a:prstClr val="black"/>
                    </a:solidFill>
                    <a:latin typeface="Times New Roman"/>
                    <a:ea typeface="黑体"/>
                  </a:rPr>
                  <a:t>0</a:t>
                </a:r>
                <a:r>
                  <a:rPr lang="zh-CN" altLang="en-US" sz="2400" dirty="0">
                    <a:solidFill>
                      <a:prstClr val="black"/>
                    </a:solidFill>
                    <a:latin typeface="Times New Roman"/>
                    <a:ea typeface="黑体"/>
                  </a:rPr>
                  <a:t>）</a:t>
                </a:r>
              </a:p>
            </p:txBody>
          </p:sp>
        </mc:Choice>
        <mc:Fallback xmlns="">
          <p:sp>
            <p:nvSpPr>
              <p:cNvPr id="32" name="矩形 31">
                <a:extLst>
                  <a:ext uri="{FF2B5EF4-FFF2-40B4-BE49-F238E27FC236}">
                    <a16:creationId xmlns:a16="http://schemas.microsoft.com/office/drawing/2014/main" id="{A2D5D130-9918-D803-D4FB-1CC3E5696391}"/>
                  </a:ext>
                </a:extLst>
              </p:cNvPr>
              <p:cNvSpPr>
                <a:spLocks noRot="1" noChangeAspect="1" noMove="1" noResize="1" noEditPoints="1" noAdjustHandles="1" noChangeArrowheads="1" noChangeShapeType="1" noTextEdit="1"/>
              </p:cNvSpPr>
              <p:nvPr/>
            </p:nvSpPr>
            <p:spPr>
              <a:xfrm>
                <a:off x="590676" y="1970976"/>
                <a:ext cx="7962648" cy="4686860"/>
              </a:xfrm>
              <a:prstGeom prst="rect">
                <a:avLst/>
              </a:prstGeom>
              <a:blipFill>
                <a:blip r:embed="rId2"/>
                <a:stretch>
                  <a:fillRect l="-5972" r="-1149" b="-2081"/>
                </a:stretch>
              </a:blipFill>
              <a:ln>
                <a:no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8B5D582-45B9-5D18-3D83-080084D1C838}"/>
              </a:ext>
            </a:extLst>
          </p:cNvPr>
          <p:cNvSpPr txBox="1"/>
          <p:nvPr/>
        </p:nvSpPr>
        <p:spPr>
          <a:xfrm>
            <a:off x="524315" y="111518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p>
        </p:txBody>
      </p:sp>
      <p:pic>
        <p:nvPicPr>
          <p:cNvPr id="7" name="图片 51">
            <a:extLst>
              <a:ext uri="{FF2B5EF4-FFF2-40B4-BE49-F238E27FC236}">
                <a16:creationId xmlns:a16="http://schemas.microsoft.com/office/drawing/2014/main" id="{90DC3702-2062-B960-E76F-DEE94AAFD002}"/>
              </a:ext>
            </a:extLst>
          </p:cNvPr>
          <p:cNvPicPr>
            <a:picLocks noChangeAspect="1"/>
          </p:cNvPicPr>
          <p:nvPr/>
        </p:nvPicPr>
        <p:blipFill>
          <a:blip r:embed="rId3"/>
          <a:srcRect l="3082" b="752"/>
          <a:stretch>
            <a:fillRect/>
          </a:stretch>
        </p:blipFill>
        <p:spPr>
          <a:xfrm>
            <a:off x="4882971" y="1208687"/>
            <a:ext cx="3736727" cy="1874397"/>
          </a:xfrm>
          <a:prstGeom prst="rect">
            <a:avLst/>
          </a:prstGeom>
          <a:noFill/>
          <a:ln>
            <a:noFill/>
          </a:ln>
        </p:spPr>
      </p:pic>
    </p:spTree>
    <p:extLst>
      <p:ext uri="{BB962C8B-B14F-4D97-AF65-F5344CB8AC3E}">
        <p14:creationId xmlns:p14="http://schemas.microsoft.com/office/powerpoint/2010/main" val="1651097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0540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11616"/>
            <a:ext cx="7962648" cy="4171719"/>
          </a:xfrm>
          <a:prstGeom prst="rect">
            <a:avLst/>
          </a:prstGeom>
          <a:ln>
            <a:noFill/>
          </a:ln>
        </p:spPr>
        <p:txBody>
          <a:bodyPr wrap="square">
            <a:spAutoFit/>
          </a:bodyPr>
          <a:lstStyle/>
          <a:p>
            <a:pPr marL="323835" indent="-342882" algn="just">
              <a:lnSpc>
                <a:spcPct val="140000"/>
              </a:lnSpc>
              <a:buFont typeface="Wingdings" panose="05000000000000000000" pitchFamily="2" charset="2"/>
              <a:buChar char="Ø"/>
            </a:pPr>
            <a:r>
              <a:rPr lang="en-US" altLang="zh-CN" sz="2400" dirty="0">
                <a:solidFill>
                  <a:prstClr val="black"/>
                </a:solidFill>
                <a:latin typeface="Times New Roman"/>
                <a:ea typeface="黑体"/>
              </a:rPr>
              <a:t>M-P</a:t>
            </a:r>
            <a:r>
              <a:rPr lang="zh-CN" altLang="en-US" sz="2400" dirty="0">
                <a:solidFill>
                  <a:prstClr val="black"/>
                </a:solidFill>
                <a:latin typeface="Times New Roman"/>
                <a:ea typeface="黑体"/>
              </a:rPr>
              <a:t>模型最终输出可以描述为</a:t>
            </a:r>
            <a:endParaRPr lang="en-US" altLang="zh-CN" sz="2400" dirty="0">
              <a:solidFill>
                <a:prstClr val="black"/>
              </a:solidFill>
              <a:latin typeface="Times New Roman"/>
              <a:ea typeface="黑体"/>
            </a:endParaRPr>
          </a:p>
          <a:p>
            <a:pPr marL="323835" indent="-342882" algn="just">
              <a:lnSpc>
                <a:spcPct val="140000"/>
              </a:lnSpc>
              <a:buFont typeface="Wingdings" panose="05000000000000000000" pitchFamily="2" charset="2"/>
              <a:buChar char="Ø"/>
            </a:pPr>
            <a:endParaRPr lang="en-US" altLang="zh-CN" sz="2400" dirty="0">
              <a:solidFill>
                <a:prstClr val="black"/>
              </a:solidFill>
              <a:latin typeface="Times New Roman"/>
              <a:ea typeface="黑体"/>
            </a:endParaRPr>
          </a:p>
          <a:p>
            <a:pPr marL="323835" indent="-342882" algn="just">
              <a:lnSpc>
                <a:spcPct val="140000"/>
              </a:lnSpc>
              <a:buFont typeface="Wingdings" panose="05000000000000000000" pitchFamily="2" charset="2"/>
              <a:buChar char="Ø"/>
            </a:pPr>
            <a:endParaRPr lang="en-US" altLang="zh-CN" sz="2400" dirty="0">
              <a:solidFill>
                <a:prstClr val="black"/>
              </a:solidFill>
              <a:latin typeface="Times New Roman"/>
              <a:ea typeface="黑体"/>
            </a:endParaRPr>
          </a:p>
          <a:p>
            <a:pPr marL="323835" indent="-342882" algn="just">
              <a:lnSpc>
                <a:spcPct val="140000"/>
              </a:lnSpc>
              <a:buFont typeface="Wingdings" panose="05000000000000000000" pitchFamily="2" charset="2"/>
              <a:buChar char="Ø"/>
            </a:pPr>
            <a:r>
              <a:rPr lang="zh-CN" altLang="en-US" sz="2400" dirty="0">
                <a:solidFill>
                  <a:prstClr val="black"/>
                </a:solidFill>
                <a:latin typeface="Times New Roman"/>
                <a:ea typeface="黑体"/>
              </a:rPr>
              <a:t>函数</a:t>
            </a:r>
            <a:r>
              <a:rPr lang="en-US" altLang="zh-CN" sz="2400" i="1" dirty="0">
                <a:solidFill>
                  <a:prstClr val="black"/>
                </a:solidFill>
                <a:latin typeface="Times New Roman"/>
                <a:ea typeface="黑体"/>
              </a:rPr>
              <a:t>f</a:t>
            </a:r>
            <a:r>
              <a:rPr lang="en-US" altLang="zh-CN" sz="2400" dirty="0">
                <a:solidFill>
                  <a:prstClr val="black"/>
                </a:solidFill>
                <a:latin typeface="Times New Roman"/>
                <a:ea typeface="黑体"/>
              </a:rPr>
              <a:t>(</a:t>
            </a:r>
            <a:r>
              <a:rPr lang="en-US" altLang="zh-CN" sz="2400" i="1" dirty="0">
                <a:solidFill>
                  <a:prstClr val="black"/>
                </a:solidFill>
                <a:latin typeface="Times New Roman"/>
                <a:ea typeface="黑体"/>
              </a:rPr>
              <a:t>x</a:t>
            </a:r>
            <a:r>
              <a:rPr lang="en-US" altLang="zh-CN" sz="2400" dirty="0">
                <a:solidFill>
                  <a:prstClr val="black"/>
                </a:solidFill>
                <a:latin typeface="Times New Roman"/>
                <a:ea typeface="黑体"/>
              </a:rPr>
              <a:t>)</a:t>
            </a:r>
            <a:r>
              <a:rPr lang="zh-CN" altLang="en-US" sz="2400" dirty="0">
                <a:solidFill>
                  <a:prstClr val="black"/>
                </a:solidFill>
                <a:latin typeface="Times New Roman"/>
                <a:ea typeface="黑体"/>
              </a:rPr>
              <a:t>是阶跃函数：当刺激强度大于该神经元的阈值，则该神经元表现兴奋状态，输出</a:t>
            </a:r>
            <a:r>
              <a:rPr lang="en-US" altLang="zh-CN" sz="2400" i="1" dirty="0">
                <a:solidFill>
                  <a:prstClr val="black"/>
                </a:solidFill>
                <a:latin typeface="Times New Roman"/>
                <a:ea typeface="黑体"/>
              </a:rPr>
              <a:t>y</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；反之则表现出抑制状态，输出</a:t>
            </a:r>
            <a:r>
              <a:rPr lang="en-US" altLang="zh-CN" sz="2400" i="1" dirty="0">
                <a:solidFill>
                  <a:prstClr val="black"/>
                </a:solidFill>
                <a:latin typeface="Times New Roman"/>
                <a:ea typeface="黑体"/>
              </a:rPr>
              <a:t>y</a:t>
            </a:r>
            <a:r>
              <a:rPr lang="en-US" altLang="zh-CN" sz="2400" dirty="0">
                <a:solidFill>
                  <a:prstClr val="black"/>
                </a:solidFill>
                <a:latin typeface="Times New Roman"/>
                <a:ea typeface="黑体"/>
              </a:rPr>
              <a:t>=0</a:t>
            </a:r>
            <a:r>
              <a:rPr lang="zh-CN" altLang="en-US" sz="2400" dirty="0">
                <a:solidFill>
                  <a:prstClr val="black"/>
                </a:solidFill>
                <a:latin typeface="Times New Roman"/>
                <a:ea typeface="黑体"/>
              </a:rPr>
              <a:t>。</a:t>
            </a:r>
          </a:p>
          <a:p>
            <a:pPr marL="323835" indent="-342882" algn="just">
              <a:lnSpc>
                <a:spcPct val="140000"/>
              </a:lnSpc>
              <a:buFont typeface="Wingdings" panose="05000000000000000000" pitchFamily="2" charset="2"/>
              <a:buChar char="Ø"/>
            </a:pPr>
            <a:endParaRPr lang="en-US" altLang="zh-CN" sz="2400" dirty="0">
              <a:solidFill>
                <a:prstClr val="black"/>
              </a:solidFill>
              <a:latin typeface="Times New Roman"/>
              <a:ea typeface="黑体"/>
            </a:endParaRPr>
          </a:p>
          <a:p>
            <a:pPr algn="just">
              <a:lnSpc>
                <a:spcPct val="140000"/>
              </a:lnSpc>
            </a:pPr>
            <a:endParaRPr lang="zh-CN" altLang="en-US" sz="2400" dirty="0">
              <a:solidFill>
                <a:prstClr val="black"/>
              </a:solidFill>
              <a:latin typeface="Times New Roman"/>
              <a:ea typeface="黑体"/>
            </a:endParaRP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5582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p>
        </p:txBody>
      </p:sp>
      <p:pic>
        <p:nvPicPr>
          <p:cNvPr id="7" name="图片 51">
            <a:extLst>
              <a:ext uri="{FF2B5EF4-FFF2-40B4-BE49-F238E27FC236}">
                <a16:creationId xmlns:a16="http://schemas.microsoft.com/office/drawing/2014/main" id="{90DC3702-2062-B960-E76F-DEE94AAFD002}"/>
              </a:ext>
            </a:extLst>
          </p:cNvPr>
          <p:cNvPicPr>
            <a:picLocks noChangeAspect="1"/>
          </p:cNvPicPr>
          <p:nvPr/>
        </p:nvPicPr>
        <p:blipFill>
          <a:blip r:embed="rId3"/>
          <a:srcRect l="3082" b="752"/>
          <a:stretch>
            <a:fillRect/>
          </a:stretch>
        </p:blipFill>
        <p:spPr>
          <a:xfrm>
            <a:off x="4882971" y="1249327"/>
            <a:ext cx="3736727" cy="1874397"/>
          </a:xfrm>
          <a:prstGeom prst="rect">
            <a:avLst/>
          </a:prstGeom>
          <a:noFill/>
          <a:ln>
            <a:noFill/>
          </a:ln>
        </p:spPr>
      </p:pic>
      <p:graphicFrame>
        <p:nvGraphicFramePr>
          <p:cNvPr id="6" name="对象 -2147482619">
            <a:extLst>
              <a:ext uri="{FF2B5EF4-FFF2-40B4-BE49-F238E27FC236}">
                <a16:creationId xmlns:a16="http://schemas.microsoft.com/office/drawing/2014/main" id="{2A9AB9F1-C278-62D8-B258-A2606C85612C}"/>
              </a:ext>
            </a:extLst>
          </p:cNvPr>
          <p:cNvGraphicFramePr>
            <a:graphicFrameLocks noChangeAspect="1"/>
          </p:cNvGraphicFramePr>
          <p:nvPr>
            <p:extLst>
              <p:ext uri="{D42A27DB-BD31-4B8C-83A1-F6EECF244321}">
                <p14:modId xmlns:p14="http://schemas.microsoft.com/office/powerpoint/2010/main" val="673854412"/>
              </p:ext>
            </p:extLst>
          </p:nvPr>
        </p:nvGraphicFramePr>
        <p:xfrm>
          <a:off x="1630681" y="2583194"/>
          <a:ext cx="2735920" cy="935113"/>
        </p:xfrm>
        <a:graphic>
          <a:graphicData uri="http://schemas.openxmlformats.org/presentationml/2006/ole">
            <mc:AlternateContent xmlns:mc="http://schemas.openxmlformats.org/markup-compatibility/2006">
              <mc:Choice xmlns:v="urn:schemas-microsoft-com:vml" Requires="v">
                <p:oleObj spid="_x0000_s1042" r:id="rId4" imgW="1257300" imgH="431800" progId="Equation.3">
                  <p:embed/>
                </p:oleObj>
              </mc:Choice>
              <mc:Fallback>
                <p:oleObj r:id="rId4" imgW="1257300" imgH="431800" progId="Equation.3">
                  <p:embed/>
                  <p:pic>
                    <p:nvPicPr>
                      <p:cNvPr id="6" name="对象 -2147482619">
                        <a:extLst>
                          <a:ext uri="{FF2B5EF4-FFF2-40B4-BE49-F238E27FC236}">
                            <a16:creationId xmlns:a16="http://schemas.microsoft.com/office/drawing/2014/main" id="{2A9AB9F1-C278-62D8-B258-A2606C85612C}"/>
                          </a:ext>
                        </a:extLst>
                      </p:cNvPr>
                      <p:cNvPicPr/>
                      <p:nvPr/>
                    </p:nvPicPr>
                    <p:blipFill>
                      <a:blip r:embed="rId5"/>
                      <a:stretch>
                        <a:fillRect/>
                      </a:stretch>
                    </p:blipFill>
                    <p:spPr>
                      <a:xfrm>
                        <a:off x="1630681" y="2583194"/>
                        <a:ext cx="2735920" cy="935113"/>
                      </a:xfrm>
                      <a:prstGeom prst="rect">
                        <a:avLst/>
                      </a:prstGeom>
                      <a:noFill/>
                      <a:ln w="38100">
                        <a:noFill/>
                        <a:miter/>
                      </a:ln>
                    </p:spPr>
                  </p:pic>
                </p:oleObj>
              </mc:Fallback>
            </mc:AlternateContent>
          </a:graphicData>
        </a:graphic>
      </p:graphicFrame>
      <p:pic>
        <p:nvPicPr>
          <p:cNvPr id="10" name="图片 65">
            <a:extLst>
              <a:ext uri="{FF2B5EF4-FFF2-40B4-BE49-F238E27FC236}">
                <a16:creationId xmlns:a16="http://schemas.microsoft.com/office/drawing/2014/main" id="{A1FF9A29-09FB-B51A-95AF-B5ED725CCAAF}"/>
              </a:ext>
            </a:extLst>
          </p:cNvPr>
          <p:cNvPicPr>
            <a:picLocks noChangeAspect="1"/>
          </p:cNvPicPr>
          <p:nvPr/>
        </p:nvPicPr>
        <p:blipFill>
          <a:blip r:embed="rId6"/>
          <a:srcRect r="1348" b="19031"/>
          <a:stretch>
            <a:fillRect/>
          </a:stretch>
        </p:blipFill>
        <p:spPr>
          <a:xfrm>
            <a:off x="5403483" y="4772031"/>
            <a:ext cx="2951480" cy="1710055"/>
          </a:xfrm>
          <a:prstGeom prst="rect">
            <a:avLst/>
          </a:prstGeom>
          <a:noFill/>
          <a:ln>
            <a:noFill/>
          </a:ln>
        </p:spPr>
      </p:pic>
    </p:spTree>
    <p:extLst>
      <p:ext uri="{BB962C8B-B14F-4D97-AF65-F5344CB8AC3E}">
        <p14:creationId xmlns:p14="http://schemas.microsoft.com/office/powerpoint/2010/main" val="162442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10" presetClass="entr" presetSubtype="0" fill="hold" nodeType="after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6636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50804"/>
            <a:ext cx="7962648" cy="3037498"/>
          </a:xfrm>
          <a:prstGeom prst="rect">
            <a:avLst/>
          </a:prstGeom>
          <a:ln>
            <a:noFill/>
          </a:ln>
        </p:spPr>
        <p:txBody>
          <a:bodyPr wrap="square">
            <a:spAutoFit/>
          </a:bodyPr>
          <a:lstStyle/>
          <a:p>
            <a:pPr marL="323835" indent="-342882" algn="just">
              <a:lnSpc>
                <a:spcPct val="140000"/>
              </a:lnSpc>
              <a:buFont typeface="Wingdings" panose="05000000000000000000" pitchFamily="2" charset="2"/>
              <a:buChar char="Ø"/>
            </a:pPr>
            <a:r>
              <a:rPr lang="zh-CN" altLang="en-US" sz="2800" dirty="0">
                <a:solidFill>
                  <a:prstClr val="black"/>
                </a:solidFill>
                <a:latin typeface="Times New Roman"/>
                <a:ea typeface="黑体"/>
              </a:rPr>
              <a:t>在</a:t>
            </a:r>
            <a:r>
              <a:rPr lang="en-US" altLang="zh-CN" sz="2800" dirty="0">
                <a:solidFill>
                  <a:prstClr val="black"/>
                </a:solidFill>
                <a:latin typeface="Times New Roman"/>
                <a:ea typeface="黑体"/>
              </a:rPr>
              <a:t>M-P</a:t>
            </a:r>
            <a:r>
              <a:rPr lang="zh-CN" altLang="en-US" sz="2800" dirty="0">
                <a:solidFill>
                  <a:prstClr val="black"/>
                </a:solidFill>
                <a:latin typeface="Times New Roman"/>
                <a:ea typeface="黑体"/>
              </a:rPr>
              <a:t>模型中，函数</a:t>
            </a:r>
            <a:r>
              <a:rPr lang="en-US" altLang="zh-CN" sz="2800" i="1" dirty="0">
                <a:solidFill>
                  <a:prstClr val="black"/>
                </a:solidFill>
                <a:latin typeface="Times New Roman"/>
                <a:ea typeface="黑体"/>
              </a:rPr>
              <a:t>f</a:t>
            </a:r>
            <a:r>
              <a:rPr lang="en-US" altLang="zh-CN" sz="2800" dirty="0">
                <a:solidFill>
                  <a:prstClr val="black"/>
                </a:solidFill>
                <a:latin typeface="Times New Roman"/>
                <a:ea typeface="黑体"/>
              </a:rPr>
              <a:t>(</a:t>
            </a:r>
            <a:r>
              <a:rPr lang="en-US" altLang="zh-CN" sz="2800" i="1" dirty="0">
                <a:solidFill>
                  <a:prstClr val="black"/>
                </a:solidFill>
                <a:latin typeface="Times New Roman"/>
                <a:ea typeface="黑体"/>
              </a:rPr>
              <a:t>x</a:t>
            </a:r>
            <a:r>
              <a:rPr lang="en-US" altLang="zh-CN" sz="2800" dirty="0">
                <a:solidFill>
                  <a:prstClr val="black"/>
                </a:solidFill>
                <a:latin typeface="Times New Roman"/>
                <a:ea typeface="黑体"/>
              </a:rPr>
              <a:t>)</a:t>
            </a:r>
            <a:r>
              <a:rPr lang="zh-CN" altLang="en-US" sz="2800" dirty="0">
                <a:solidFill>
                  <a:prstClr val="black"/>
                </a:solidFill>
                <a:latin typeface="Times New Roman"/>
                <a:ea typeface="黑体"/>
              </a:rPr>
              <a:t>也被称作激活函数；</a:t>
            </a:r>
            <a:endParaRPr lang="en-US" altLang="zh-CN" sz="2800" dirty="0">
              <a:solidFill>
                <a:prstClr val="black"/>
              </a:solidFill>
              <a:latin typeface="Times New Roman"/>
              <a:ea typeface="黑体"/>
            </a:endParaRPr>
          </a:p>
          <a:p>
            <a:pPr marL="323835" indent="-342882" algn="just">
              <a:lnSpc>
                <a:spcPct val="140000"/>
              </a:lnSpc>
              <a:buFont typeface="Wingdings" panose="05000000000000000000" pitchFamily="2" charset="2"/>
              <a:buChar char="Ø"/>
            </a:pPr>
            <a:r>
              <a:rPr lang="en-US" altLang="zh-CN" sz="2800" i="1" dirty="0" err="1">
                <a:solidFill>
                  <a:prstClr val="black"/>
                </a:solidFill>
                <a:latin typeface="Times New Roman"/>
                <a:ea typeface="黑体"/>
              </a:rPr>
              <a:t>w</a:t>
            </a:r>
            <a:r>
              <a:rPr lang="en-US" altLang="zh-CN" sz="2800" i="1" baseline="-25000" dirty="0" err="1">
                <a:solidFill>
                  <a:prstClr val="black"/>
                </a:solidFill>
                <a:latin typeface="Times New Roman"/>
                <a:ea typeface="黑体"/>
              </a:rPr>
              <a:t>i</a:t>
            </a:r>
            <a:r>
              <a:rPr lang="zh-CN" altLang="en-US" sz="2800" dirty="0">
                <a:solidFill>
                  <a:prstClr val="black"/>
                </a:solidFill>
                <a:latin typeface="Times New Roman"/>
                <a:ea typeface="黑体"/>
              </a:rPr>
              <a:t>被称为权值</a:t>
            </a:r>
            <a:endParaRPr lang="en-US" altLang="zh-CN" sz="2800" dirty="0">
              <a:solidFill>
                <a:prstClr val="black"/>
              </a:solidFill>
              <a:latin typeface="Times New Roman"/>
              <a:ea typeface="黑体"/>
            </a:endParaRPr>
          </a:p>
          <a:p>
            <a:pPr marL="323835" indent="-342882" algn="just">
              <a:lnSpc>
                <a:spcPct val="140000"/>
              </a:lnSpc>
              <a:buFont typeface="Wingdings" panose="05000000000000000000" pitchFamily="2" charset="2"/>
              <a:buChar char="Ø"/>
            </a:pPr>
            <a:r>
              <a:rPr lang="en-US" altLang="zh-CN" sz="2800" i="1" dirty="0">
                <a:solidFill>
                  <a:prstClr val="black"/>
                </a:solidFill>
                <a:latin typeface="Times New Roman"/>
                <a:ea typeface="黑体"/>
              </a:rPr>
              <a:t>θ</a:t>
            </a:r>
            <a:r>
              <a:rPr lang="zh-CN" altLang="en-US" sz="2800" dirty="0">
                <a:solidFill>
                  <a:prstClr val="black"/>
                </a:solidFill>
                <a:latin typeface="Times New Roman"/>
                <a:ea typeface="黑体"/>
              </a:rPr>
              <a:t>被称为偏置（即上面的阈值）。</a:t>
            </a:r>
            <a:endParaRPr lang="en-US" altLang="zh-CN" sz="2800" dirty="0">
              <a:solidFill>
                <a:prstClr val="black"/>
              </a:solidFill>
              <a:latin typeface="Times New Roman"/>
              <a:ea typeface="黑体"/>
            </a:endParaRPr>
          </a:p>
          <a:p>
            <a:pPr marL="323835" indent="-342882" algn="just">
              <a:lnSpc>
                <a:spcPct val="140000"/>
              </a:lnSpc>
              <a:buFont typeface="Wingdings" panose="05000000000000000000" pitchFamily="2" charset="2"/>
              <a:buChar char="Ø"/>
            </a:pPr>
            <a:r>
              <a:rPr lang="zh-CN" altLang="en-US" sz="2800" dirty="0">
                <a:solidFill>
                  <a:prstClr val="black"/>
                </a:solidFill>
                <a:latin typeface="Times New Roman"/>
                <a:ea typeface="黑体"/>
              </a:rPr>
              <a:t>这些权值和偏置参数，都需要人为设定。</a:t>
            </a:r>
            <a:endParaRPr lang="en-US" altLang="zh-CN" sz="2800" dirty="0">
              <a:solidFill>
                <a:prstClr val="black"/>
              </a:solidFill>
              <a:latin typeface="Times New Roman"/>
              <a:ea typeface="黑体"/>
            </a:endParaRPr>
          </a:p>
          <a:p>
            <a:pPr marL="342882" indent="-342882" algn="just">
              <a:lnSpc>
                <a:spcPct val="140000"/>
              </a:lnSpc>
              <a:buFont typeface="Wingdings" panose="05000000000000000000" pitchFamily="2" charset="2"/>
              <a:buChar char="Ø"/>
            </a:pPr>
            <a:r>
              <a:rPr lang="en-US" altLang="zh-CN" sz="2800" dirty="0">
                <a:solidFill>
                  <a:srgbClr val="C00000"/>
                </a:solidFill>
                <a:latin typeface="Times New Roman"/>
                <a:ea typeface="黑体"/>
              </a:rPr>
              <a:t>M-P</a:t>
            </a:r>
            <a:r>
              <a:rPr lang="zh-CN" altLang="en-US" sz="2800" dirty="0">
                <a:solidFill>
                  <a:srgbClr val="C00000"/>
                </a:solidFill>
                <a:latin typeface="Times New Roman"/>
                <a:ea typeface="黑体"/>
              </a:rPr>
              <a:t>模型并没有学习能力</a:t>
            </a:r>
            <a:endParaRPr lang="en-US" altLang="zh-CN" sz="2800" dirty="0">
              <a:solidFill>
                <a:srgbClr val="C00000"/>
              </a:solidFill>
              <a:latin typeface="Times New Roman"/>
              <a:ea typeface="黑体"/>
            </a:endParaRP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216783"/>
            <a:ext cx="6746647"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a:t>
            </a:r>
          </a:p>
        </p:txBody>
      </p:sp>
    </p:spTree>
    <p:extLst>
      <p:ext uri="{BB962C8B-B14F-4D97-AF65-F5344CB8AC3E}">
        <p14:creationId xmlns:p14="http://schemas.microsoft.com/office/powerpoint/2010/main" val="142415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fad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fade">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pRg st="4" end="4"/>
                                            </p:txEl>
                                          </p:spTgt>
                                        </p:tgtEl>
                                        <p:attrNameLst>
                                          <p:attrName>style.visibility</p:attrName>
                                        </p:attrNameLst>
                                      </p:cBhvr>
                                      <p:to>
                                        <p:strVal val="visible"/>
                                      </p:to>
                                    </p:set>
                                    <p:animEffect transition="in" filter="fade">
                                      <p:cBhvr>
                                        <p:cTn id="27"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850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08" y="1135503"/>
            <a:ext cx="7962648" cy="707694"/>
          </a:xfrm>
          <a:prstGeom prst="rect">
            <a:avLst/>
          </a:prstGeom>
          <a:noFill/>
        </p:spPr>
        <p:txBody>
          <a:bodyPr wrap="square">
            <a:spAutoFit/>
          </a:bodyPr>
          <a:lstStyle/>
          <a:p>
            <a:pPr marL="0" lvl="1">
              <a:lnSpc>
                <a:spcPct val="150000"/>
              </a:lnSpc>
              <a:spcAft>
                <a:spcPts val="600"/>
              </a:spcAft>
            </a:pPr>
            <a:r>
              <a:rPr lang="en-US" altLang="zh-CN" sz="3200" dirty="0">
                <a:solidFill>
                  <a:srgbClr val="C00000"/>
                </a:solidFill>
                <a:latin typeface="方正姚体" panose="02010601030101010101" pitchFamily="2" charset="-122"/>
                <a:ea typeface="方正姚体" panose="02010601030101010101" pitchFamily="2" charset="-122"/>
                <a:cs typeface="+mn-ea"/>
                <a:sym typeface="+mn-lt"/>
              </a:rPr>
              <a:t>M-P</a:t>
            </a: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模型实现与门电路逻辑运算的应用案例</a:t>
            </a:r>
          </a:p>
        </p:txBody>
      </p:sp>
      <p:pic>
        <p:nvPicPr>
          <p:cNvPr id="6" name="图片 5">
            <a:extLst>
              <a:ext uri="{FF2B5EF4-FFF2-40B4-BE49-F238E27FC236}">
                <a16:creationId xmlns:a16="http://schemas.microsoft.com/office/drawing/2014/main" id="{E680019B-1512-13CD-5430-BEE578A164B1}"/>
              </a:ext>
            </a:extLst>
          </p:cNvPr>
          <p:cNvPicPr>
            <a:picLocks noChangeAspect="1"/>
          </p:cNvPicPr>
          <p:nvPr/>
        </p:nvPicPr>
        <p:blipFill rotWithShape="1">
          <a:blip r:embed="rId2"/>
          <a:srcRect t="17290"/>
          <a:stretch/>
        </p:blipFill>
        <p:spPr>
          <a:xfrm>
            <a:off x="6083487" y="2037498"/>
            <a:ext cx="2731135" cy="1921731"/>
          </a:xfrm>
          <a:prstGeom prst="rect">
            <a:avLst/>
          </a:prstGeom>
        </p:spPr>
      </p:pic>
      <p:pic>
        <p:nvPicPr>
          <p:cNvPr id="9" name="图片 51">
            <a:extLst>
              <a:ext uri="{FF2B5EF4-FFF2-40B4-BE49-F238E27FC236}">
                <a16:creationId xmlns:a16="http://schemas.microsoft.com/office/drawing/2014/main" id="{DE3ADF32-B09E-4BF2-06B6-4E2ED38D6009}"/>
              </a:ext>
            </a:extLst>
          </p:cNvPr>
          <p:cNvPicPr>
            <a:picLocks noChangeAspect="1"/>
          </p:cNvPicPr>
          <p:nvPr/>
        </p:nvPicPr>
        <p:blipFill>
          <a:blip r:embed="rId3"/>
          <a:stretch>
            <a:fillRect/>
          </a:stretch>
        </p:blipFill>
        <p:spPr>
          <a:xfrm>
            <a:off x="5795926" y="4527851"/>
            <a:ext cx="3348081" cy="1276351"/>
          </a:xfrm>
          <a:prstGeom prst="rect">
            <a:avLst/>
          </a:prstGeom>
          <a:noFill/>
          <a:ln>
            <a:noFill/>
          </a:ln>
        </p:spPr>
      </p:pic>
      <p:sp>
        <p:nvSpPr>
          <p:cNvPr id="10" name="文本框 9">
            <a:extLst>
              <a:ext uri="{FF2B5EF4-FFF2-40B4-BE49-F238E27FC236}">
                <a16:creationId xmlns:a16="http://schemas.microsoft.com/office/drawing/2014/main" id="{13A6F2E6-9D30-7125-E0F4-603B2C2F6F34}"/>
              </a:ext>
            </a:extLst>
          </p:cNvPr>
          <p:cNvSpPr txBox="1"/>
          <p:nvPr/>
        </p:nvSpPr>
        <p:spPr>
          <a:xfrm>
            <a:off x="524312" y="1873861"/>
            <a:ext cx="5404779" cy="4650568"/>
          </a:xfrm>
          <a:prstGeom prst="rect">
            <a:avLst/>
          </a:prstGeom>
          <a:noFill/>
          <a:ln w="9525">
            <a:noFill/>
          </a:ln>
        </p:spPr>
        <p:txBody>
          <a:bodyPr wrap="square">
            <a:spAutoFit/>
          </a:bodyPr>
          <a:lstStyle/>
          <a:p>
            <a:pPr marL="342882" indent="-342882" algn="just">
              <a:lnSpc>
                <a:spcPct val="150000"/>
              </a:lnSpc>
              <a:buFont typeface="Wingdings" panose="05000000000000000000" pitchFamily="2" charset="2"/>
              <a:buChar char="Ø"/>
            </a:pPr>
            <a:r>
              <a:rPr lang="en-US" sz="2000" dirty="0">
                <a:solidFill>
                  <a:srgbClr val="000000"/>
                </a:solidFill>
                <a:latin typeface="Times New Roman"/>
                <a:ea typeface="宋体" panose="02010600030101010101" pitchFamily="2" charset="-122"/>
              </a:rPr>
              <a:t>设置</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=0.5，</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2</a:t>
            </a:r>
            <a:r>
              <a:rPr lang="en-US" sz="2000" dirty="0">
                <a:solidFill>
                  <a:srgbClr val="000000"/>
                </a:solidFill>
                <a:latin typeface="Times New Roman"/>
                <a:ea typeface="宋体" panose="02010600030101010101" pitchFamily="2" charset="-122"/>
              </a:rPr>
              <a:t>=0.5，</a:t>
            </a:r>
            <a:r>
              <a:rPr lang="en-US" sz="2000" i="1" dirty="0">
                <a:solidFill>
                  <a:srgbClr val="000000"/>
                </a:solidFill>
                <a:latin typeface="Times New Roman"/>
                <a:ea typeface="宋体" panose="02010600030101010101" pitchFamily="2" charset="-122"/>
              </a:rPr>
              <a:t>θ</a:t>
            </a:r>
            <a:r>
              <a:rPr lang="en-US" sz="2000" dirty="0">
                <a:solidFill>
                  <a:srgbClr val="000000"/>
                </a:solidFill>
                <a:latin typeface="Times New Roman"/>
                <a:ea typeface="宋体" panose="02010600030101010101" pitchFamily="2" charset="-122"/>
              </a:rPr>
              <a:t>=0.8，实现与门电路的逻辑运算</a:t>
            </a:r>
            <a:r>
              <a:rPr lang="zh-CN" altLang="en-US" sz="2000" dirty="0">
                <a:solidFill>
                  <a:srgbClr val="000000"/>
                </a:solidFill>
                <a:latin typeface="Times New Roman"/>
                <a:ea typeface="宋体" panose="02010600030101010101" pitchFamily="2" charset="-122"/>
              </a:rPr>
              <a:t>：</a:t>
            </a:r>
            <a:endParaRPr lang="en-US" sz="2000" dirty="0">
              <a:solidFill>
                <a:srgbClr val="000000"/>
              </a:solidFill>
              <a:latin typeface="Times New Roman"/>
              <a:ea typeface="宋体" panose="02010600030101010101" pitchFamily="2" charset="-122"/>
            </a:endParaRPr>
          </a:p>
          <a:p>
            <a:pPr algn="just">
              <a:lnSpc>
                <a:spcPct val="150000"/>
              </a:lnSpc>
            </a:pPr>
            <a:r>
              <a:rPr lang="en-US" sz="2000" dirty="0">
                <a:solidFill>
                  <a:srgbClr val="000000"/>
                </a:solidFill>
                <a:latin typeface="Times New Roman"/>
                <a:ea typeface="宋体" panose="02010600030101010101" pitchFamily="2" charset="-122"/>
              </a:rPr>
              <a:t>1</a:t>
            </a:r>
            <a:r>
              <a:rPr lang="zh-CN" alt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zh-CN" altLang="en-US" sz="2000" dirty="0">
                <a:solidFill>
                  <a:srgbClr val="000000"/>
                </a:solidFill>
                <a:latin typeface="Times New Roman"/>
                <a:ea typeface="宋体" panose="02010600030101010101" pitchFamily="2" charset="-122"/>
              </a:rPr>
              <a:t>分别输入</a:t>
            </a:r>
            <a:r>
              <a:rPr lang="en-US" sz="2000" dirty="0">
                <a:solidFill>
                  <a:srgbClr val="000000"/>
                </a:solidFill>
                <a:latin typeface="Times New Roman"/>
                <a:ea typeface="宋体" panose="02010600030101010101" pitchFamily="2" charset="-122"/>
              </a:rPr>
              <a:t>0</a:t>
            </a:r>
            <a:r>
              <a:rPr lang="en-US" altLang="zh-CN" sz="2000" dirty="0">
                <a:solidFill>
                  <a:srgbClr val="000000"/>
                </a:solidFill>
                <a:latin typeface="Times New Roman"/>
                <a:ea typeface="宋体" panose="02010600030101010101" pitchFamily="2" charset="-122"/>
              </a:rPr>
              <a:t>,</a:t>
            </a:r>
            <a:r>
              <a:rPr lang="en-US" sz="2000" dirty="0">
                <a:solidFill>
                  <a:srgbClr val="000000"/>
                </a:solidFill>
                <a:latin typeface="Times New Roman"/>
                <a:ea typeface="宋体" panose="02010600030101010101" pitchFamily="2" charset="-122"/>
              </a:rPr>
              <a:t>0</a:t>
            </a:r>
            <a:r>
              <a:rPr lang="zh-CN" altLang="en-US" sz="2000" dirty="0">
                <a:solidFill>
                  <a:srgbClr val="000000"/>
                </a:solidFill>
                <a:latin typeface="Times New Roman"/>
                <a:ea typeface="宋体" panose="02010600030101010101" pitchFamily="2" charset="-122"/>
              </a:rPr>
              <a:t>时，</a:t>
            </a:r>
            <a:r>
              <a:rPr lang="en-US" sz="2000" dirty="0">
                <a:solidFill>
                  <a:srgbClr val="000000"/>
                </a:solidFill>
                <a:latin typeface="Times New Roman"/>
                <a:ea typeface="宋体" panose="02010600030101010101" pitchFamily="2" charset="-122"/>
              </a:rPr>
              <a:t>M-P</a:t>
            </a:r>
            <a:r>
              <a:rPr lang="zh-CN" altLang="en-US" sz="2000" dirty="0">
                <a:solidFill>
                  <a:srgbClr val="000000"/>
                </a:solidFill>
                <a:latin typeface="Times New Roman"/>
                <a:ea typeface="宋体" panose="02010600030101010101" pitchFamily="2" charset="-122"/>
              </a:rPr>
              <a:t>模型输出值为</a:t>
            </a:r>
            <a:r>
              <a:rPr lang="en-US" sz="2000" dirty="0">
                <a:solidFill>
                  <a:srgbClr val="000000"/>
                </a:solidFill>
                <a:latin typeface="Times New Roman"/>
                <a:ea typeface="宋体" panose="02010600030101010101" pitchFamily="2" charset="-122"/>
              </a:rPr>
              <a:t>0</a:t>
            </a:r>
            <a:r>
              <a:rPr lang="zh-CN" alt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y</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1</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2</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θ</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(0.5*0+0.5*0-0.8)=f(-0.8)=0</a:t>
            </a:r>
            <a:r>
              <a:rPr lang="zh-CN" altLang="en-US" sz="2000" dirty="0">
                <a:solidFill>
                  <a:srgbClr val="000000"/>
                </a:solidFill>
                <a:latin typeface="Times New Roman"/>
                <a:ea typeface="宋体" panose="02010600030101010101" pitchFamily="2" charset="-122"/>
              </a:rPr>
              <a:t>；</a:t>
            </a:r>
            <a:endParaRPr lang="en-US" sz="2000" dirty="0">
              <a:solidFill>
                <a:srgbClr val="000000"/>
              </a:solidFill>
              <a:latin typeface="Times New Roman"/>
              <a:ea typeface="宋体" panose="02010600030101010101" pitchFamily="2" charset="-122"/>
            </a:endParaRPr>
          </a:p>
          <a:p>
            <a:pPr algn="just">
              <a:lnSpc>
                <a:spcPct val="150000"/>
              </a:lnSpc>
            </a:pPr>
            <a:r>
              <a:rPr lang="en-US" sz="2000" dirty="0">
                <a:solidFill>
                  <a:srgbClr val="000000"/>
                </a:solidFill>
                <a:latin typeface="Times New Roman"/>
                <a:ea typeface="宋体" panose="02010600030101010101" pitchFamily="2" charset="-122"/>
              </a:rPr>
              <a:t>2</a:t>
            </a:r>
            <a:r>
              <a:rPr lang="zh-CN" alt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zh-CN" altLang="en-US" sz="2000" dirty="0">
                <a:solidFill>
                  <a:srgbClr val="000000"/>
                </a:solidFill>
                <a:latin typeface="Times New Roman"/>
                <a:ea typeface="宋体" panose="02010600030101010101" pitchFamily="2" charset="-122"/>
              </a:rPr>
              <a:t>分别输入</a:t>
            </a:r>
            <a:r>
              <a:rPr lang="en-US" sz="2000" dirty="0">
                <a:solidFill>
                  <a:srgbClr val="000000"/>
                </a:solidFill>
                <a:latin typeface="Times New Roman"/>
                <a:ea typeface="宋体" panose="02010600030101010101" pitchFamily="2" charset="-122"/>
              </a:rPr>
              <a:t>0,1</a:t>
            </a:r>
            <a:r>
              <a:rPr lang="zh-CN" altLang="en-US" sz="2000" dirty="0">
                <a:solidFill>
                  <a:srgbClr val="000000"/>
                </a:solidFill>
                <a:latin typeface="Times New Roman"/>
                <a:ea typeface="宋体" panose="02010600030101010101" pitchFamily="2" charset="-122"/>
              </a:rPr>
              <a:t>时，</a:t>
            </a:r>
            <a:r>
              <a:rPr lang="en-US" sz="2000" dirty="0">
                <a:solidFill>
                  <a:srgbClr val="000000"/>
                </a:solidFill>
                <a:latin typeface="Times New Roman"/>
                <a:ea typeface="宋体" panose="02010600030101010101" pitchFamily="2" charset="-122"/>
              </a:rPr>
              <a:t>M-P</a:t>
            </a:r>
            <a:r>
              <a:rPr lang="zh-CN" altLang="en-US" sz="2000" dirty="0">
                <a:solidFill>
                  <a:srgbClr val="000000"/>
                </a:solidFill>
                <a:latin typeface="Times New Roman"/>
                <a:ea typeface="宋体" panose="02010600030101010101" pitchFamily="2" charset="-122"/>
              </a:rPr>
              <a:t>模型输出值为</a:t>
            </a:r>
            <a:r>
              <a:rPr lang="en-US" sz="2000" dirty="0">
                <a:solidFill>
                  <a:srgbClr val="000000"/>
                </a:solidFill>
                <a:latin typeface="Times New Roman"/>
                <a:ea typeface="宋体" panose="02010600030101010101" pitchFamily="2" charset="-122"/>
              </a:rPr>
              <a:t>0</a:t>
            </a:r>
            <a:r>
              <a:rPr lang="zh-CN" alt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y</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1</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2</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θ</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(0.5*0+0.5*1-0.8)=</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(-0.3)=0</a:t>
            </a:r>
            <a:r>
              <a:rPr lang="zh-CN" altLang="en-US" sz="2000" dirty="0">
                <a:solidFill>
                  <a:srgbClr val="000000"/>
                </a:solidFill>
                <a:latin typeface="Times New Roman"/>
                <a:ea typeface="宋体" panose="02010600030101010101" pitchFamily="2" charset="-122"/>
              </a:rPr>
              <a:t>；</a:t>
            </a:r>
            <a:endParaRPr lang="en-US" sz="2000" dirty="0">
              <a:solidFill>
                <a:srgbClr val="000000"/>
              </a:solidFill>
              <a:latin typeface="Times New Roman"/>
              <a:ea typeface="宋体" panose="02010600030101010101" pitchFamily="2" charset="-122"/>
            </a:endParaRPr>
          </a:p>
          <a:p>
            <a:pPr algn="just">
              <a:lnSpc>
                <a:spcPct val="150000"/>
              </a:lnSpc>
            </a:pPr>
            <a:r>
              <a:rPr lang="en-US" sz="2000" dirty="0">
                <a:solidFill>
                  <a:srgbClr val="000000"/>
                </a:solidFill>
                <a:latin typeface="Times New Roman"/>
                <a:ea typeface="宋体" panose="02010600030101010101" pitchFamily="2" charset="-122"/>
              </a:rPr>
              <a:t>3</a:t>
            </a:r>
            <a:r>
              <a:rPr lang="zh-CN" alt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zh-CN" altLang="en-US" sz="2000" dirty="0">
                <a:solidFill>
                  <a:srgbClr val="000000"/>
                </a:solidFill>
                <a:latin typeface="Times New Roman"/>
                <a:ea typeface="宋体" panose="02010600030101010101" pitchFamily="2" charset="-122"/>
              </a:rPr>
              <a:t>分别输入</a:t>
            </a:r>
            <a:r>
              <a:rPr lang="en-US" sz="2000" dirty="0">
                <a:solidFill>
                  <a:srgbClr val="000000"/>
                </a:solidFill>
                <a:latin typeface="Times New Roman"/>
                <a:ea typeface="宋体" panose="02010600030101010101" pitchFamily="2" charset="-122"/>
              </a:rPr>
              <a:t>1</a:t>
            </a:r>
            <a:r>
              <a:rPr lang="en-US" altLang="zh-CN" sz="2000" dirty="0">
                <a:solidFill>
                  <a:srgbClr val="000000"/>
                </a:solidFill>
                <a:latin typeface="Times New Roman"/>
                <a:ea typeface="宋体" panose="02010600030101010101" pitchFamily="2" charset="-122"/>
              </a:rPr>
              <a:t>,</a:t>
            </a:r>
            <a:r>
              <a:rPr lang="en-US" sz="2000" dirty="0">
                <a:solidFill>
                  <a:srgbClr val="000000"/>
                </a:solidFill>
                <a:latin typeface="Times New Roman"/>
                <a:ea typeface="宋体" panose="02010600030101010101" pitchFamily="2" charset="-122"/>
              </a:rPr>
              <a:t>0</a:t>
            </a:r>
            <a:r>
              <a:rPr lang="zh-CN" altLang="en-US" sz="2000" dirty="0">
                <a:solidFill>
                  <a:srgbClr val="000000"/>
                </a:solidFill>
                <a:latin typeface="Times New Roman"/>
                <a:ea typeface="宋体" panose="02010600030101010101" pitchFamily="2" charset="-122"/>
              </a:rPr>
              <a:t>时，</a:t>
            </a:r>
            <a:r>
              <a:rPr lang="en-US" sz="2000" dirty="0">
                <a:solidFill>
                  <a:srgbClr val="000000"/>
                </a:solidFill>
                <a:latin typeface="Times New Roman"/>
                <a:ea typeface="宋体" panose="02010600030101010101" pitchFamily="2" charset="-122"/>
              </a:rPr>
              <a:t>M-P</a:t>
            </a:r>
            <a:r>
              <a:rPr lang="zh-CN" altLang="en-US" sz="2000" dirty="0">
                <a:solidFill>
                  <a:srgbClr val="000000"/>
                </a:solidFill>
                <a:latin typeface="Times New Roman"/>
                <a:ea typeface="宋体" panose="02010600030101010101" pitchFamily="2" charset="-122"/>
              </a:rPr>
              <a:t>模型输出值为 </a:t>
            </a:r>
            <a:r>
              <a:rPr lang="en-US" sz="2000" dirty="0">
                <a:solidFill>
                  <a:srgbClr val="000000"/>
                </a:solidFill>
                <a:latin typeface="Times New Roman"/>
                <a:ea typeface="宋体" panose="02010600030101010101" pitchFamily="2" charset="-122"/>
              </a:rPr>
              <a:t>0</a:t>
            </a:r>
            <a:r>
              <a:rPr lang="zh-CN" altLang="en-US" sz="2000" dirty="0">
                <a:solidFill>
                  <a:srgbClr val="000000"/>
                </a:solidFill>
                <a:latin typeface="Times New Roman"/>
                <a:ea typeface="宋体" panose="02010600030101010101" pitchFamily="2" charset="-122"/>
              </a:rPr>
              <a:t>，</a:t>
            </a:r>
            <a:r>
              <a:rPr lang="en-US" sz="2000" dirty="0">
                <a:solidFill>
                  <a:srgbClr val="000000"/>
                </a:solidFill>
                <a:latin typeface="Times New Roman"/>
                <a:ea typeface="宋体" panose="02010600030101010101" pitchFamily="2" charset="-122"/>
              </a:rPr>
              <a:t>  </a:t>
            </a:r>
            <a:r>
              <a:rPr lang="en-US" sz="2000" i="1" dirty="0">
                <a:solidFill>
                  <a:srgbClr val="000000"/>
                </a:solidFill>
                <a:latin typeface="Times New Roman"/>
                <a:ea typeface="宋体" panose="02010600030101010101" pitchFamily="2" charset="-122"/>
              </a:rPr>
              <a:t>y</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1</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2</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θ</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(0.5*1+0.5*0-0.8)=</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(-0.3)=0</a:t>
            </a:r>
            <a:r>
              <a:rPr lang="zh-CN" altLang="en-US" sz="2000" dirty="0">
                <a:solidFill>
                  <a:srgbClr val="000000"/>
                </a:solidFill>
                <a:latin typeface="Times New Roman"/>
                <a:ea typeface="宋体" panose="02010600030101010101" pitchFamily="2" charset="-122"/>
              </a:rPr>
              <a:t>；</a:t>
            </a:r>
            <a:endParaRPr lang="en-US" sz="2000" dirty="0">
              <a:solidFill>
                <a:srgbClr val="000000"/>
              </a:solidFill>
              <a:latin typeface="Times New Roman"/>
              <a:ea typeface="宋体" panose="02010600030101010101" pitchFamily="2" charset="-122"/>
            </a:endParaRPr>
          </a:p>
          <a:p>
            <a:pPr algn="just">
              <a:lnSpc>
                <a:spcPct val="150000"/>
              </a:lnSpc>
            </a:pPr>
            <a:r>
              <a:rPr lang="en-US" sz="2000" dirty="0">
                <a:solidFill>
                  <a:srgbClr val="000000"/>
                </a:solidFill>
                <a:latin typeface="Times New Roman"/>
                <a:ea typeface="宋体" panose="02010600030101010101" pitchFamily="2" charset="-122"/>
              </a:rPr>
              <a:t>4</a:t>
            </a:r>
            <a:r>
              <a:rPr lang="zh-CN" alt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zh-CN" altLang="en-US" sz="2000" dirty="0">
                <a:solidFill>
                  <a:srgbClr val="000000"/>
                </a:solidFill>
                <a:latin typeface="Times New Roman"/>
                <a:ea typeface="宋体" panose="02010600030101010101" pitchFamily="2" charset="-122"/>
              </a:rPr>
              <a:t>分别输入</a:t>
            </a:r>
            <a:r>
              <a:rPr lang="en-US" sz="2000" dirty="0">
                <a:solidFill>
                  <a:srgbClr val="000000"/>
                </a:solidFill>
                <a:latin typeface="Times New Roman"/>
                <a:ea typeface="宋体" panose="02010600030101010101" pitchFamily="2" charset="-122"/>
              </a:rPr>
              <a:t>1,1</a:t>
            </a:r>
            <a:r>
              <a:rPr lang="zh-CN" altLang="en-US" sz="2000" dirty="0">
                <a:solidFill>
                  <a:srgbClr val="000000"/>
                </a:solidFill>
                <a:latin typeface="Times New Roman"/>
                <a:ea typeface="宋体" panose="02010600030101010101" pitchFamily="2" charset="-122"/>
              </a:rPr>
              <a:t>时，</a:t>
            </a:r>
            <a:r>
              <a:rPr lang="en-US" sz="2000" dirty="0">
                <a:solidFill>
                  <a:srgbClr val="000000"/>
                </a:solidFill>
                <a:latin typeface="Times New Roman"/>
                <a:ea typeface="宋体" panose="02010600030101010101" pitchFamily="2" charset="-122"/>
              </a:rPr>
              <a:t>M-P</a:t>
            </a:r>
            <a:r>
              <a:rPr lang="zh-CN" altLang="en-US" sz="2000" dirty="0">
                <a:solidFill>
                  <a:srgbClr val="000000"/>
                </a:solidFill>
                <a:latin typeface="Times New Roman"/>
                <a:ea typeface="宋体" panose="02010600030101010101" pitchFamily="2" charset="-122"/>
              </a:rPr>
              <a:t>模型输出值为</a:t>
            </a:r>
            <a:r>
              <a:rPr lang="en-US" sz="2000" dirty="0">
                <a:solidFill>
                  <a:srgbClr val="000000"/>
                </a:solidFill>
                <a:latin typeface="Times New Roman"/>
                <a:ea typeface="宋体" panose="02010600030101010101" pitchFamily="2" charset="-122"/>
              </a:rPr>
              <a:t>1</a:t>
            </a:r>
            <a:r>
              <a:rPr lang="zh-CN" altLang="en-US" sz="2000" dirty="0">
                <a:solidFill>
                  <a:srgbClr val="000000"/>
                </a:solidFill>
                <a:latin typeface="Times New Roman"/>
                <a:ea typeface="宋体" panose="02010600030101010101" pitchFamily="2" charset="-122"/>
              </a:rPr>
              <a:t>，</a:t>
            </a:r>
            <a:r>
              <a:rPr lang="en-US" sz="2000" dirty="0">
                <a:solidFill>
                  <a:srgbClr val="000000"/>
                </a:solidFill>
                <a:latin typeface="Times New Roman"/>
                <a:ea typeface="宋体" panose="02010600030101010101" pitchFamily="2" charset="-122"/>
              </a:rPr>
              <a:t> </a:t>
            </a:r>
            <a:r>
              <a:rPr lang="en-US" sz="2000" i="1" dirty="0">
                <a:solidFill>
                  <a:srgbClr val="000000"/>
                </a:solidFill>
                <a:latin typeface="Times New Roman"/>
                <a:ea typeface="宋体" panose="02010600030101010101" pitchFamily="2" charset="-122"/>
              </a:rPr>
              <a:t>y</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1</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1</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w</a:t>
            </a:r>
            <a:r>
              <a:rPr lang="en-US" sz="2000" baseline="-25000" dirty="0">
                <a:solidFill>
                  <a:srgbClr val="000000"/>
                </a:solidFill>
                <a:latin typeface="Times New Roman"/>
                <a:ea typeface="宋体" panose="02010600030101010101" pitchFamily="2" charset="-122"/>
              </a:rPr>
              <a:t>2</a:t>
            </a:r>
            <a:r>
              <a:rPr lang="en-US" sz="2000" i="1" dirty="0">
                <a:solidFill>
                  <a:srgbClr val="000000"/>
                </a:solidFill>
                <a:latin typeface="Times New Roman"/>
                <a:ea typeface="宋体" panose="02010600030101010101" pitchFamily="2" charset="-122"/>
              </a:rPr>
              <a:t>x</a:t>
            </a:r>
            <a:r>
              <a:rPr lang="en-US" sz="2000" baseline="-25000" dirty="0">
                <a:solidFill>
                  <a:srgbClr val="000000"/>
                </a:solidFill>
                <a:latin typeface="Times New Roman"/>
                <a:ea typeface="宋体" panose="02010600030101010101" pitchFamily="2" charset="-122"/>
              </a:rPr>
              <a:t>2</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θ</a:t>
            </a:r>
            <a:r>
              <a:rPr lang="en-US" sz="2000" dirty="0">
                <a:solidFill>
                  <a:srgbClr val="000000"/>
                </a:solidFill>
                <a:latin typeface="Times New Roman"/>
                <a:ea typeface="宋体" panose="02010600030101010101" pitchFamily="2" charset="-122"/>
              </a:rPr>
              <a:t>)=</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(0.5*1+0.5*1-0.8)=</a:t>
            </a:r>
            <a:r>
              <a:rPr lang="en-US" sz="2000" i="1" dirty="0">
                <a:solidFill>
                  <a:srgbClr val="000000"/>
                </a:solidFill>
                <a:latin typeface="Times New Roman"/>
                <a:ea typeface="宋体" panose="02010600030101010101" pitchFamily="2" charset="-122"/>
              </a:rPr>
              <a:t>f</a:t>
            </a:r>
            <a:r>
              <a:rPr lang="en-US" sz="2000" dirty="0">
                <a:solidFill>
                  <a:srgbClr val="000000"/>
                </a:solidFill>
                <a:latin typeface="Times New Roman"/>
                <a:ea typeface="宋体" panose="02010600030101010101" pitchFamily="2" charset="-122"/>
              </a:rPr>
              <a:t>(0.2)=1</a:t>
            </a:r>
            <a:r>
              <a:rPr lang="zh-CN" altLang="en-US" sz="2000" dirty="0">
                <a:solidFill>
                  <a:srgbClr val="000000"/>
                </a:solidFill>
                <a:latin typeface="Times New Roman"/>
                <a:ea typeface="宋体" panose="02010600030101010101" pitchFamily="2" charset="-122"/>
              </a:rPr>
              <a:t>。</a:t>
            </a:r>
            <a:endParaRPr lang="zh-CN" altLang="en-US" sz="2000" dirty="0">
              <a:solidFill>
                <a:prstClr val="black"/>
              </a:solidFill>
              <a:latin typeface="Times New Roman"/>
              <a:ea typeface="黑体"/>
            </a:endParaRPr>
          </a:p>
        </p:txBody>
      </p:sp>
      <p:sp>
        <p:nvSpPr>
          <p:cNvPr id="2" name="文本框 1">
            <a:extLst>
              <a:ext uri="{FF2B5EF4-FFF2-40B4-BE49-F238E27FC236}">
                <a16:creationId xmlns:a16="http://schemas.microsoft.com/office/drawing/2014/main" id="{4A8A76C3-D4D2-F6D6-3E55-48C809F2C3DD}"/>
              </a:ext>
            </a:extLst>
          </p:cNvPr>
          <p:cNvSpPr txBox="1"/>
          <p:nvPr/>
        </p:nvSpPr>
        <p:spPr>
          <a:xfrm>
            <a:off x="6723335" y="3969586"/>
            <a:ext cx="1451428" cy="369332"/>
          </a:xfrm>
          <a:prstGeom prst="rect">
            <a:avLst/>
          </a:prstGeom>
          <a:noFill/>
        </p:spPr>
        <p:txBody>
          <a:bodyPr wrap="square" rtlCol="0">
            <a:spAutoFit/>
          </a:bodyPr>
          <a:lstStyle/>
          <a:p>
            <a:r>
              <a:rPr lang="zh-CN" altLang="en-US" dirty="0">
                <a:solidFill>
                  <a:prstClr val="black"/>
                </a:solidFill>
                <a:latin typeface="Times New Roman"/>
                <a:ea typeface="黑体"/>
              </a:rPr>
              <a:t>与门真值表</a:t>
            </a:r>
          </a:p>
        </p:txBody>
      </p:sp>
      <p:sp>
        <p:nvSpPr>
          <p:cNvPr id="11" name="文本框 10">
            <a:extLst>
              <a:ext uri="{FF2B5EF4-FFF2-40B4-BE49-F238E27FC236}">
                <a16:creationId xmlns:a16="http://schemas.microsoft.com/office/drawing/2014/main" id="{002D77EB-F3DC-9FD0-6393-CF365D09533A}"/>
              </a:ext>
            </a:extLst>
          </p:cNvPr>
          <p:cNvSpPr txBox="1"/>
          <p:nvPr/>
        </p:nvSpPr>
        <p:spPr>
          <a:xfrm>
            <a:off x="6669320" y="5808464"/>
            <a:ext cx="2145301" cy="646331"/>
          </a:xfrm>
          <a:prstGeom prst="rect">
            <a:avLst/>
          </a:prstGeom>
          <a:noFill/>
        </p:spPr>
        <p:txBody>
          <a:bodyPr wrap="square" rtlCol="0">
            <a:spAutoFit/>
          </a:bodyPr>
          <a:lstStyle/>
          <a:p>
            <a:r>
              <a:rPr lang="zh-CN" altLang="en-US" dirty="0">
                <a:solidFill>
                  <a:prstClr val="black"/>
                </a:solidFill>
                <a:latin typeface="Times New Roman"/>
                <a:ea typeface="黑体"/>
              </a:rPr>
              <a:t>实现与门电路逻辑运算的</a:t>
            </a:r>
            <a:r>
              <a:rPr lang="en-US" altLang="zh-CN" dirty="0">
                <a:solidFill>
                  <a:prstClr val="black"/>
                </a:solidFill>
                <a:latin typeface="Times New Roman"/>
                <a:ea typeface="黑体"/>
              </a:rPr>
              <a:t>M-P</a:t>
            </a:r>
            <a:r>
              <a:rPr lang="zh-CN" altLang="en-US" dirty="0">
                <a:solidFill>
                  <a:prstClr val="black"/>
                </a:solidFill>
                <a:latin typeface="Times New Roman"/>
                <a:ea typeface="黑体"/>
              </a:rPr>
              <a:t>模型</a:t>
            </a:r>
          </a:p>
        </p:txBody>
      </p:sp>
    </p:spTree>
    <p:extLst>
      <p:ext uri="{BB962C8B-B14F-4D97-AF65-F5344CB8AC3E}">
        <p14:creationId xmlns:p14="http://schemas.microsoft.com/office/powerpoint/2010/main" val="320270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125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500"/>
                                        <p:tgtEl>
                                          <p:spTgt spid="10">
                                            <p:txEl>
                                              <p:pRg st="0" end="0"/>
                                            </p:txEl>
                                          </p:spTgt>
                                        </p:tgtEl>
                                      </p:cBhvr>
                                    </p:animEffect>
                                  </p:childTnLst>
                                </p:cTn>
                              </p:par>
                            </p:childTnLst>
                          </p:cTn>
                        </p:par>
                        <p:par>
                          <p:cTn id="24" fill="hold">
                            <p:stCondLst>
                              <p:cond delay="500"/>
                            </p:stCondLst>
                            <p:childTnLst>
                              <p:par>
                                <p:cTn id="25" presetID="42"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
                                            <p:txEl>
                                              <p:pRg st="1" end="1"/>
                                            </p:txEl>
                                          </p:spTgt>
                                        </p:tgtEl>
                                        <p:attrNameLst>
                                          <p:attrName>style.visibility</p:attrName>
                                        </p:attrNameLst>
                                      </p:cBhvr>
                                      <p:to>
                                        <p:strVal val="visible"/>
                                      </p:to>
                                    </p:set>
                                    <p:animEffect transition="in" filter="fade">
                                      <p:cBhvr>
                                        <p:cTn id="39" dur="500"/>
                                        <p:tgtEl>
                                          <p:spTgt spid="10">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
                                            <p:txEl>
                                              <p:pRg st="2" end="2"/>
                                            </p:txEl>
                                          </p:spTgt>
                                        </p:tgtEl>
                                        <p:attrNameLst>
                                          <p:attrName>style.visibility</p:attrName>
                                        </p:attrNameLst>
                                      </p:cBhvr>
                                      <p:to>
                                        <p:strVal val="visible"/>
                                      </p:to>
                                    </p:set>
                                    <p:animEffect transition="in" filter="fade">
                                      <p:cBhvr>
                                        <p:cTn id="44" dur="500"/>
                                        <p:tgtEl>
                                          <p:spTgt spid="10">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500"/>
                                        <p:tgtEl>
                                          <p:spTgt spid="10">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0">
                                            <p:txEl>
                                              <p:pRg st="4" end="4"/>
                                            </p:txEl>
                                          </p:spTgt>
                                        </p:tgtEl>
                                        <p:attrNameLst>
                                          <p:attrName>style.visibility</p:attrName>
                                        </p:attrNameLst>
                                      </p:cBhvr>
                                      <p:to>
                                        <p:strVal val="visible"/>
                                      </p:to>
                                    </p:set>
                                    <p:animEffect transition="in" filter="fade">
                                      <p:cBhvr>
                                        <p:cTn id="54"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1310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1733517"/>
            <a:ext cx="7962648" cy="2637132"/>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感知机是一种人工神经网络，其结构与</a:t>
            </a:r>
            <a:r>
              <a:rPr lang="en-US" altLang="zh-CN" sz="2600" dirty="0">
                <a:solidFill>
                  <a:prstClr val="black"/>
                </a:solidFill>
                <a:latin typeface="Times New Roman"/>
                <a:ea typeface="黑体"/>
              </a:rPr>
              <a:t>M-P</a:t>
            </a:r>
            <a:r>
              <a:rPr lang="zh-CN" altLang="en-US" sz="2600" dirty="0">
                <a:solidFill>
                  <a:prstClr val="black"/>
                </a:solidFill>
                <a:latin typeface="Times New Roman"/>
                <a:ea typeface="黑体"/>
              </a:rPr>
              <a:t>模型基本一致。</a:t>
            </a:r>
            <a:endParaRPr lang="en-US" altLang="zh-CN" sz="2600" dirty="0">
              <a:solidFill>
                <a:prstClr val="black"/>
              </a:solidFill>
              <a:latin typeface="Times New Roman"/>
              <a:ea typeface="黑体"/>
            </a:endParaRPr>
          </a:p>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包含输入数据，神经元处理层，输出数据三个部分。由于处理数据的神经元只有一层，因此也称为单层感知机。</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881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感知机模型</a:t>
            </a:r>
          </a:p>
        </p:txBody>
      </p:sp>
      <p:pic>
        <p:nvPicPr>
          <p:cNvPr id="7" name="图片 50">
            <a:extLst>
              <a:ext uri="{FF2B5EF4-FFF2-40B4-BE49-F238E27FC236}">
                <a16:creationId xmlns:a16="http://schemas.microsoft.com/office/drawing/2014/main" id="{09341DF5-C6FD-7B51-5260-CE721D77AC3E}"/>
              </a:ext>
            </a:extLst>
          </p:cNvPr>
          <p:cNvPicPr>
            <a:picLocks noChangeAspect="1"/>
          </p:cNvPicPr>
          <p:nvPr/>
        </p:nvPicPr>
        <p:blipFill>
          <a:blip r:embed="rId2"/>
          <a:srcRect l="1008" t="7357" b="6299"/>
          <a:stretch>
            <a:fillRect/>
          </a:stretch>
        </p:blipFill>
        <p:spPr>
          <a:xfrm>
            <a:off x="2532748" y="3995854"/>
            <a:ext cx="4642813" cy="2492039"/>
          </a:xfrm>
          <a:prstGeom prst="rect">
            <a:avLst/>
          </a:prstGeom>
          <a:noFill/>
          <a:ln>
            <a:noFill/>
          </a:ln>
        </p:spPr>
      </p:pic>
    </p:spTree>
    <p:extLst>
      <p:ext uri="{BB962C8B-B14F-4D97-AF65-F5344CB8AC3E}">
        <p14:creationId xmlns:p14="http://schemas.microsoft.com/office/powerpoint/2010/main" val="46078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1250"/>
                            </p:stCondLst>
                            <p:childTnLst>
                              <p:par>
                                <p:cTn id="9" presetID="10" presetClass="entr" presetSubtype="0" fill="hold" nodeType="afterEffect">
                                  <p:stCondLst>
                                    <p:cond delay="50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par>
                          <p:cTn id="12" fill="hold">
                            <p:stCondLst>
                              <p:cond delay="2250"/>
                            </p:stCondLst>
                            <p:childTnLst>
                              <p:par>
                                <p:cTn id="13" presetID="10" presetClass="entr" presetSubtype="0" fill="hold" nodeType="afterEffect">
                                  <p:stCondLst>
                                    <p:cond delay="500"/>
                                  </p:stCondLst>
                                  <p:childTnLst>
                                    <p:set>
                                      <p:cBhvr>
                                        <p:cTn id="14" dur="1" fill="hold">
                                          <p:stCondLst>
                                            <p:cond delay="0"/>
                                          </p:stCondLst>
                                        </p:cTn>
                                        <p:tgtEl>
                                          <p:spTgt spid="32">
                                            <p:txEl>
                                              <p:pRg st="1" end="1"/>
                                            </p:txEl>
                                          </p:spTgt>
                                        </p:tgtEl>
                                        <p:attrNameLst>
                                          <p:attrName>style.visibility</p:attrName>
                                        </p:attrNameLst>
                                      </p:cBhvr>
                                      <p:to>
                                        <p:strVal val="visible"/>
                                      </p:to>
                                    </p:set>
                                    <p:animEffect transition="in" filter="fade">
                                      <p:cBhvr>
                                        <p:cTn id="15" dur="500"/>
                                        <p:tgtEl>
                                          <p:spTgt spid="3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604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6" y="2048483"/>
            <a:ext cx="7962648" cy="2157001"/>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感知机模型中，把偏置进行了等价替换：增加一个值为</a:t>
            </a:r>
            <a:r>
              <a:rPr lang="en-US" altLang="zh-CN" sz="2600" dirty="0">
                <a:solidFill>
                  <a:prstClr val="black"/>
                </a:solidFill>
                <a:latin typeface="Times New Roman"/>
                <a:ea typeface="黑体"/>
              </a:rPr>
              <a:t>1</a:t>
            </a:r>
            <a:r>
              <a:rPr lang="zh-CN" altLang="en-US" sz="2600" dirty="0">
                <a:solidFill>
                  <a:prstClr val="black"/>
                </a:solidFill>
                <a:latin typeface="Times New Roman"/>
                <a:ea typeface="黑体"/>
              </a:rPr>
              <a:t>的固定输入，对其设置权值</a:t>
            </a:r>
            <a:r>
              <a:rPr lang="en-US" altLang="zh-CN" sz="2600" i="1" dirty="0">
                <a:solidFill>
                  <a:prstClr val="black"/>
                </a:solidFill>
                <a:latin typeface="Times New Roman"/>
                <a:ea typeface="黑体"/>
              </a:rPr>
              <a:t>b</a:t>
            </a:r>
            <a:r>
              <a:rPr lang="zh-CN" altLang="en-US" sz="2600" dirty="0">
                <a:solidFill>
                  <a:prstClr val="black"/>
                </a:solidFill>
                <a:latin typeface="Times New Roman"/>
                <a:ea typeface="黑体"/>
              </a:rPr>
              <a:t>。在神经元进行求和运算时可以等价地用</a:t>
            </a:r>
            <a:r>
              <a:rPr lang="en-US" altLang="zh-CN" sz="2600" dirty="0">
                <a:solidFill>
                  <a:prstClr val="black"/>
                </a:solidFill>
                <a:latin typeface="Times New Roman"/>
                <a:ea typeface="黑体"/>
              </a:rPr>
              <a:t>1</a:t>
            </a:r>
            <a:r>
              <a:rPr lang="en-US" altLang="zh-CN" sz="2600" i="1" dirty="0">
                <a:solidFill>
                  <a:prstClr val="black"/>
                </a:solidFill>
                <a:latin typeface="Times New Roman"/>
                <a:ea typeface="黑体"/>
              </a:rPr>
              <a:t>b</a:t>
            </a:r>
            <a:r>
              <a:rPr lang="zh-CN" altLang="en-US" sz="2600" dirty="0">
                <a:solidFill>
                  <a:prstClr val="black"/>
                </a:solidFill>
                <a:latin typeface="Times New Roman"/>
                <a:ea typeface="黑体"/>
              </a:rPr>
              <a:t>替换原</a:t>
            </a:r>
            <a:r>
              <a:rPr lang="en-US" altLang="zh-CN" sz="2600" dirty="0">
                <a:solidFill>
                  <a:prstClr val="black"/>
                </a:solidFill>
                <a:latin typeface="Times New Roman"/>
                <a:ea typeface="黑体"/>
              </a:rPr>
              <a:t>M-P</a:t>
            </a:r>
            <a:r>
              <a:rPr lang="zh-CN" altLang="en-US" sz="2600" dirty="0">
                <a:solidFill>
                  <a:prstClr val="black"/>
                </a:solidFill>
                <a:latin typeface="Times New Roman"/>
                <a:ea typeface="黑体"/>
              </a:rPr>
              <a:t>模型公式中的减去阈值</a:t>
            </a:r>
            <a:r>
              <a:rPr lang="en-US" altLang="zh-CN" sz="2800" i="1" dirty="0">
                <a:solidFill>
                  <a:srgbClr val="000000"/>
                </a:solidFill>
                <a:latin typeface="Times New Roman"/>
                <a:ea typeface="宋体" panose="02010600030101010101" pitchFamily="2" charset="-122"/>
              </a:rPr>
              <a:t>θ</a:t>
            </a:r>
            <a:r>
              <a:rPr lang="zh-CN" altLang="en-US" sz="2600" dirty="0">
                <a:solidFill>
                  <a:prstClr val="black"/>
                </a:solidFill>
                <a:latin typeface="Times New Roman"/>
                <a:ea typeface="黑体"/>
              </a:rPr>
              <a:t>。</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9646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感知机模型</a:t>
            </a:r>
          </a:p>
        </p:txBody>
      </p:sp>
      <p:graphicFrame>
        <p:nvGraphicFramePr>
          <p:cNvPr id="9" name="对象 -2147482612">
            <a:extLst>
              <a:ext uri="{FF2B5EF4-FFF2-40B4-BE49-F238E27FC236}">
                <a16:creationId xmlns:a16="http://schemas.microsoft.com/office/drawing/2014/main" id="{B6463894-0EA9-4777-DFC3-39209362763E}"/>
              </a:ext>
            </a:extLst>
          </p:cNvPr>
          <p:cNvGraphicFramePr>
            <a:graphicFrameLocks noChangeAspect="1"/>
          </p:cNvGraphicFramePr>
          <p:nvPr>
            <p:extLst>
              <p:ext uri="{D42A27DB-BD31-4B8C-83A1-F6EECF244321}">
                <p14:modId xmlns:p14="http://schemas.microsoft.com/office/powerpoint/2010/main" val="3988012184"/>
              </p:ext>
            </p:extLst>
          </p:nvPr>
        </p:nvGraphicFramePr>
        <p:xfrm>
          <a:off x="2766287" y="4349795"/>
          <a:ext cx="2983480" cy="1059680"/>
        </p:xfrm>
        <a:graphic>
          <a:graphicData uri="http://schemas.openxmlformats.org/presentationml/2006/ole">
            <mc:AlternateContent xmlns:mc="http://schemas.openxmlformats.org/markup-compatibility/2006">
              <mc:Choice xmlns:v="urn:schemas-microsoft-com:vml" Requires="v">
                <p:oleObj spid="_x0000_s2066" r:id="rId3" imgW="1206500" imgH="431800" progId="Equation.3">
                  <p:embed/>
                </p:oleObj>
              </mc:Choice>
              <mc:Fallback>
                <p:oleObj r:id="rId3" imgW="1206500" imgH="431800" progId="Equation.3">
                  <p:embed/>
                  <p:pic>
                    <p:nvPicPr>
                      <p:cNvPr id="9" name="对象 -2147482612">
                        <a:extLst>
                          <a:ext uri="{FF2B5EF4-FFF2-40B4-BE49-F238E27FC236}">
                            <a16:creationId xmlns:a16="http://schemas.microsoft.com/office/drawing/2014/main" id="{B6463894-0EA9-4777-DFC3-39209362763E}"/>
                          </a:ext>
                        </a:extLst>
                      </p:cNvPr>
                      <p:cNvPicPr/>
                      <p:nvPr/>
                    </p:nvPicPr>
                    <p:blipFill>
                      <a:blip r:embed="rId4"/>
                      <a:stretch>
                        <a:fillRect/>
                      </a:stretch>
                    </p:blipFill>
                    <p:spPr>
                      <a:xfrm>
                        <a:off x="2766287" y="4349795"/>
                        <a:ext cx="2983480" cy="105968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67500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4444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81" y="1865763"/>
            <a:ext cx="4969467" cy="4886338"/>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200" dirty="0">
                <a:solidFill>
                  <a:prstClr val="black"/>
                </a:solidFill>
                <a:latin typeface="Times New Roman"/>
                <a:ea typeface="黑体"/>
              </a:rPr>
              <a:t>右图的感知机模型在</a:t>
            </a:r>
            <a:r>
              <a:rPr lang="en-US" altLang="zh-CN" sz="2200" i="1" dirty="0">
                <a:solidFill>
                  <a:prstClr val="black"/>
                </a:solidFill>
                <a:latin typeface="Times New Roman"/>
                <a:ea typeface="黑体"/>
              </a:rPr>
              <a:t>w</a:t>
            </a:r>
            <a:r>
              <a:rPr lang="en-US" altLang="zh-CN" sz="2200" baseline="-25000" dirty="0">
                <a:solidFill>
                  <a:prstClr val="black"/>
                </a:solidFill>
                <a:latin typeface="Times New Roman"/>
                <a:ea typeface="黑体"/>
              </a:rPr>
              <a:t>1</a:t>
            </a:r>
            <a:r>
              <a:rPr lang="en-US" altLang="zh-CN" sz="2200" dirty="0">
                <a:solidFill>
                  <a:prstClr val="black"/>
                </a:solidFill>
                <a:latin typeface="Times New Roman"/>
                <a:ea typeface="黑体"/>
              </a:rPr>
              <a:t>=0.5</a:t>
            </a:r>
            <a:r>
              <a:rPr lang="zh-CN" altLang="en-US" sz="2200" dirty="0">
                <a:solidFill>
                  <a:prstClr val="black"/>
                </a:solidFill>
                <a:latin typeface="Times New Roman"/>
                <a:ea typeface="黑体"/>
              </a:rPr>
              <a:t>，</a:t>
            </a:r>
            <a:r>
              <a:rPr lang="en-US" altLang="zh-CN" sz="2200" i="1" dirty="0">
                <a:solidFill>
                  <a:prstClr val="black"/>
                </a:solidFill>
                <a:latin typeface="Times New Roman"/>
                <a:ea typeface="黑体"/>
              </a:rPr>
              <a:t>w</a:t>
            </a:r>
            <a:r>
              <a:rPr lang="en-US" altLang="zh-CN" sz="2200" baseline="-25000" dirty="0">
                <a:solidFill>
                  <a:prstClr val="black"/>
                </a:solidFill>
                <a:latin typeface="Times New Roman"/>
                <a:ea typeface="黑体"/>
              </a:rPr>
              <a:t>2</a:t>
            </a:r>
            <a:r>
              <a:rPr lang="en-US" altLang="zh-CN" sz="2200" dirty="0">
                <a:solidFill>
                  <a:prstClr val="black"/>
                </a:solidFill>
                <a:latin typeface="Times New Roman"/>
                <a:ea typeface="黑体"/>
              </a:rPr>
              <a:t>=0.5</a:t>
            </a:r>
            <a:r>
              <a:rPr lang="zh-CN" altLang="en-US" sz="2200" dirty="0">
                <a:solidFill>
                  <a:prstClr val="black"/>
                </a:solidFill>
                <a:latin typeface="Times New Roman"/>
                <a:ea typeface="黑体"/>
              </a:rPr>
              <a:t>，</a:t>
            </a:r>
            <a:r>
              <a:rPr lang="en-US" altLang="zh-CN" sz="2200" i="1" dirty="0">
                <a:solidFill>
                  <a:prstClr val="black"/>
                </a:solidFill>
                <a:latin typeface="Times New Roman"/>
                <a:ea typeface="黑体"/>
              </a:rPr>
              <a:t>b</a:t>
            </a:r>
            <a:r>
              <a:rPr lang="en-US" altLang="zh-CN" sz="2200" dirty="0">
                <a:solidFill>
                  <a:prstClr val="black"/>
                </a:solidFill>
                <a:latin typeface="Times New Roman"/>
                <a:ea typeface="黑体"/>
              </a:rPr>
              <a:t>=-0.8</a:t>
            </a:r>
            <a:r>
              <a:rPr lang="zh-CN" altLang="en-US" sz="2200" dirty="0">
                <a:solidFill>
                  <a:prstClr val="black"/>
                </a:solidFill>
                <a:latin typeface="Times New Roman"/>
                <a:ea typeface="黑体"/>
              </a:rPr>
              <a:t>时实现逻辑与门电路计算。</a:t>
            </a:r>
            <a:endParaRPr lang="en-US" altLang="zh-CN" sz="2200" dirty="0">
              <a:solidFill>
                <a:prstClr val="black"/>
              </a:solidFill>
              <a:latin typeface="Times New Roman"/>
              <a:ea typeface="黑体"/>
            </a:endParaRPr>
          </a:p>
          <a:p>
            <a:pPr marL="323835" indent="-342882" algn="just">
              <a:lnSpc>
                <a:spcPct val="130000"/>
              </a:lnSpc>
              <a:buFont typeface="Wingdings" panose="05000000000000000000" pitchFamily="2" charset="2"/>
              <a:buChar char="Ø"/>
            </a:pPr>
            <a:r>
              <a:rPr lang="zh-CN" altLang="en-US" sz="2200" dirty="0">
                <a:solidFill>
                  <a:prstClr val="black"/>
                </a:solidFill>
                <a:latin typeface="Times New Roman"/>
                <a:ea typeface="黑体"/>
              </a:rPr>
              <a:t>与门电路的计算可看作是把平面中</a:t>
            </a:r>
            <a:r>
              <a:rPr lang="en-US" altLang="zh-CN" sz="2200" dirty="0">
                <a:solidFill>
                  <a:prstClr val="black"/>
                </a:solidFill>
                <a:latin typeface="Times New Roman"/>
                <a:ea typeface="黑体"/>
              </a:rPr>
              <a:t>4</a:t>
            </a:r>
            <a:r>
              <a:rPr lang="zh-CN" altLang="en-US" sz="2200" dirty="0">
                <a:solidFill>
                  <a:prstClr val="black"/>
                </a:solidFill>
                <a:latin typeface="Times New Roman"/>
                <a:ea typeface="黑体"/>
              </a:rPr>
              <a:t>个点</a:t>
            </a:r>
            <a:r>
              <a:rPr lang="en-US" altLang="zh-CN" sz="2200" dirty="0">
                <a:solidFill>
                  <a:prstClr val="black"/>
                </a:solidFill>
                <a:latin typeface="Times New Roman"/>
                <a:ea typeface="黑体"/>
              </a:rPr>
              <a:t>(1,1), (1,0), (0,1), (0,0)</a:t>
            </a:r>
            <a:r>
              <a:rPr lang="zh-CN" altLang="en-US" sz="2200" dirty="0">
                <a:solidFill>
                  <a:prstClr val="black"/>
                </a:solidFill>
                <a:latin typeface="Times New Roman"/>
                <a:ea typeface="黑体"/>
              </a:rPr>
              <a:t>分为</a:t>
            </a:r>
            <a:r>
              <a:rPr lang="en-US" altLang="zh-CN" sz="2200" dirty="0">
                <a:solidFill>
                  <a:prstClr val="black"/>
                </a:solidFill>
                <a:latin typeface="Times New Roman"/>
                <a:ea typeface="黑体"/>
              </a:rPr>
              <a:t>2</a:t>
            </a:r>
            <a:r>
              <a:rPr lang="zh-CN" altLang="en-US" sz="2200" dirty="0">
                <a:solidFill>
                  <a:prstClr val="black"/>
                </a:solidFill>
                <a:latin typeface="Times New Roman"/>
                <a:ea typeface="黑体"/>
              </a:rPr>
              <a:t>类：</a:t>
            </a:r>
            <a:r>
              <a:rPr lang="en-US" altLang="zh-CN" sz="2200" dirty="0">
                <a:solidFill>
                  <a:prstClr val="black"/>
                </a:solidFill>
                <a:latin typeface="Times New Roman"/>
                <a:ea typeface="黑体"/>
              </a:rPr>
              <a:t>(1,1)</a:t>
            </a:r>
            <a:r>
              <a:rPr lang="zh-CN" altLang="en-US" sz="2200" dirty="0">
                <a:solidFill>
                  <a:prstClr val="black"/>
                </a:solidFill>
                <a:latin typeface="Times New Roman"/>
                <a:ea typeface="黑体"/>
              </a:rPr>
              <a:t>属于一类，其他三个点属于一类（通过输出值</a:t>
            </a:r>
            <a:r>
              <a:rPr lang="en-US" altLang="zh-CN" sz="2200" dirty="0">
                <a:solidFill>
                  <a:prstClr val="black"/>
                </a:solidFill>
                <a:latin typeface="Times New Roman"/>
                <a:ea typeface="黑体"/>
              </a:rPr>
              <a:t>y=1</a:t>
            </a:r>
            <a:r>
              <a:rPr lang="zh-CN" altLang="en-US" sz="2200" dirty="0">
                <a:solidFill>
                  <a:prstClr val="black"/>
                </a:solidFill>
                <a:latin typeface="Times New Roman"/>
                <a:ea typeface="黑体"/>
              </a:rPr>
              <a:t>，</a:t>
            </a:r>
            <a:r>
              <a:rPr lang="en-US" altLang="zh-CN" sz="2200" i="1" dirty="0">
                <a:solidFill>
                  <a:prstClr val="black"/>
                </a:solidFill>
                <a:latin typeface="Times New Roman"/>
                <a:ea typeface="黑体"/>
              </a:rPr>
              <a:t>y</a:t>
            </a:r>
            <a:r>
              <a:rPr lang="en-US" altLang="zh-CN" sz="2200" dirty="0">
                <a:solidFill>
                  <a:prstClr val="black"/>
                </a:solidFill>
                <a:latin typeface="Times New Roman"/>
                <a:ea typeface="黑体"/>
              </a:rPr>
              <a:t>=0</a:t>
            </a:r>
            <a:r>
              <a:rPr lang="zh-CN" altLang="en-US" sz="2200" dirty="0">
                <a:solidFill>
                  <a:prstClr val="black"/>
                </a:solidFill>
                <a:latin typeface="Times New Roman"/>
                <a:ea typeface="黑体"/>
              </a:rPr>
              <a:t>分类）。而感知机对输入数据的处理，可以理解为平面中划分这两个类别的一条直线 </a:t>
            </a:r>
            <a:r>
              <a:rPr lang="en-US" altLang="zh-CN" sz="2200" dirty="0">
                <a:solidFill>
                  <a:prstClr val="black"/>
                </a:solidFill>
                <a:latin typeface="Times New Roman"/>
                <a:ea typeface="黑体"/>
              </a:rPr>
              <a:t>(L: 0.5*1+0.5*2-0.8=0) </a:t>
            </a:r>
            <a:r>
              <a:rPr lang="zh-CN" altLang="en-US" sz="2200" dirty="0">
                <a:solidFill>
                  <a:prstClr val="black"/>
                </a:solidFill>
                <a:latin typeface="Times New Roman"/>
                <a:ea typeface="黑体"/>
              </a:rPr>
              <a:t>，再通过阶跃函数表示直线的上下两部分，将两类不同输出分开。</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09486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感知机工作过程</a:t>
            </a:r>
          </a:p>
        </p:txBody>
      </p:sp>
      <p:pic>
        <p:nvPicPr>
          <p:cNvPr id="6" name="图片 49">
            <a:extLst>
              <a:ext uri="{FF2B5EF4-FFF2-40B4-BE49-F238E27FC236}">
                <a16:creationId xmlns:a16="http://schemas.microsoft.com/office/drawing/2014/main" id="{F1293E35-9A53-2834-5665-66BB8A2AC62F}"/>
              </a:ext>
            </a:extLst>
          </p:cNvPr>
          <p:cNvPicPr>
            <a:picLocks noChangeAspect="1"/>
          </p:cNvPicPr>
          <p:nvPr/>
        </p:nvPicPr>
        <p:blipFill>
          <a:blip r:embed="rId2"/>
          <a:srcRect l="232" t="5526" r="2600" b="6967"/>
          <a:stretch>
            <a:fillRect/>
          </a:stretch>
        </p:blipFill>
        <p:spPr>
          <a:xfrm>
            <a:off x="5539491" y="1802562"/>
            <a:ext cx="3325495" cy="1448435"/>
          </a:xfrm>
          <a:prstGeom prst="rect">
            <a:avLst/>
          </a:prstGeom>
          <a:noFill/>
          <a:ln>
            <a:noFill/>
          </a:ln>
        </p:spPr>
      </p:pic>
      <p:pic>
        <p:nvPicPr>
          <p:cNvPr id="7" name="图片 67">
            <a:extLst>
              <a:ext uri="{FF2B5EF4-FFF2-40B4-BE49-F238E27FC236}">
                <a16:creationId xmlns:a16="http://schemas.microsoft.com/office/drawing/2014/main" id="{046BBF98-EB4B-D23F-9EDB-8C17432DC4B4}"/>
              </a:ext>
            </a:extLst>
          </p:cNvPr>
          <p:cNvPicPr>
            <a:picLocks noChangeAspect="1"/>
          </p:cNvPicPr>
          <p:nvPr/>
        </p:nvPicPr>
        <p:blipFill>
          <a:blip r:embed="rId3"/>
          <a:stretch>
            <a:fillRect/>
          </a:stretch>
        </p:blipFill>
        <p:spPr>
          <a:xfrm>
            <a:off x="5715699" y="3860580"/>
            <a:ext cx="2973071" cy="2447925"/>
          </a:xfrm>
          <a:prstGeom prst="rect">
            <a:avLst/>
          </a:prstGeom>
          <a:noFill/>
          <a:ln>
            <a:noFill/>
          </a:ln>
        </p:spPr>
      </p:pic>
    </p:spTree>
    <p:extLst>
      <p:ext uri="{BB962C8B-B14F-4D97-AF65-F5344CB8AC3E}">
        <p14:creationId xmlns:p14="http://schemas.microsoft.com/office/powerpoint/2010/main" val="420614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750"/>
                            </p:stCondLst>
                            <p:childTnLst>
                              <p:par>
                                <p:cTn id="9" presetID="10" presetClass="entr" presetSubtype="0" fill="hold" nodeType="afterEffect">
                                  <p:stCondLst>
                                    <p:cond delay="50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par>
                          <p:cTn id="12" fill="hold">
                            <p:stCondLst>
                              <p:cond delay="1750"/>
                            </p:stCondLst>
                            <p:childTnLst>
                              <p:par>
                                <p:cTn id="13" presetID="10" presetClass="entr" presetSubtype="0" fill="hold"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75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1" end="1"/>
                                            </p:txEl>
                                          </p:spTgt>
                                        </p:tgtEl>
                                        <p:attrNameLst>
                                          <p:attrName>style.visibility</p:attrName>
                                        </p:attrNameLst>
                                      </p:cBhvr>
                                      <p:to>
                                        <p:strVal val="visible"/>
                                      </p:to>
                                    </p:set>
                                    <p:animEffect transition="in" filter="fade">
                                      <p:cBhvr>
                                        <p:cTn id="20" dur="500"/>
                                        <p:tgtEl>
                                          <p:spTgt spid="32">
                                            <p:txEl>
                                              <p:pRg st="1" end="1"/>
                                            </p:txEl>
                                          </p:spTgt>
                                        </p:tgtEl>
                                      </p:cBhvr>
                                    </p:animEffect>
                                  </p:childTnLst>
                                </p:cTn>
                              </p:par>
                            </p:childTnLst>
                          </p:cTn>
                        </p:par>
                        <p:par>
                          <p:cTn id="21" fill="hold">
                            <p:stCondLst>
                              <p:cond delay="500"/>
                            </p:stCondLst>
                            <p:childTnLst>
                              <p:par>
                                <p:cTn id="22" presetID="10" presetClass="entr" presetSubtype="0" fill="hold" nodeType="afterEffect">
                                  <p:stCondLst>
                                    <p:cond delay="5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1556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A2D5D130-9918-D803-D4FB-1CC3E5696391}"/>
                  </a:ext>
                </a:extLst>
              </p:cNvPr>
              <p:cNvSpPr/>
              <p:nvPr/>
            </p:nvSpPr>
            <p:spPr>
              <a:xfrm>
                <a:off x="590675" y="1936886"/>
                <a:ext cx="8066628" cy="4221733"/>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感知机学习过程和权值更新规则</a:t>
                </a:r>
              </a:p>
              <a:p>
                <a:pPr algn="just">
                  <a:lnSpc>
                    <a:spcPct val="130000"/>
                  </a:lnSpc>
                </a:pPr>
                <a:r>
                  <a:rPr lang="en-US" altLang="zh-CN" sz="2600" i="1" dirty="0">
                    <a:solidFill>
                      <a:prstClr val="black"/>
                    </a:solidFill>
                    <a:latin typeface="Times New Roman"/>
                    <a:ea typeface="黑体"/>
                  </a:rPr>
                  <a:t>Step</a:t>
                </a:r>
                <a:r>
                  <a:rPr lang="en-US" altLang="zh-CN" sz="2600" dirty="0">
                    <a:solidFill>
                      <a:prstClr val="black"/>
                    </a:solidFill>
                    <a:latin typeface="Times New Roman"/>
                    <a:ea typeface="黑体"/>
                  </a:rPr>
                  <a:t>1</a:t>
                </a:r>
                <a:r>
                  <a:rPr lang="zh-CN" altLang="en-US" sz="2600" dirty="0">
                    <a:solidFill>
                      <a:prstClr val="black"/>
                    </a:solidFill>
                    <a:latin typeface="Times New Roman"/>
                    <a:ea typeface="黑体"/>
                  </a:rPr>
                  <a:t>：随机初始化权值</a:t>
                </a:r>
                <a:r>
                  <a:rPr lang="en-US" altLang="zh-CN" sz="2600" i="1" dirty="0">
                    <a:solidFill>
                      <a:prstClr val="black"/>
                    </a:solidFill>
                    <a:latin typeface="Times New Roman"/>
                    <a:ea typeface="黑体"/>
                  </a:rPr>
                  <a:t>W</a:t>
                </a:r>
                <a:r>
                  <a:rPr lang="en-US" altLang="zh-CN" sz="2600" dirty="0">
                    <a:solidFill>
                      <a:prstClr val="black"/>
                    </a:solidFill>
                    <a:latin typeface="Times New Roman"/>
                    <a:ea typeface="黑体"/>
                  </a:rPr>
                  <a:t>(</a:t>
                </a:r>
                <a:r>
                  <a:rPr lang="en-US" altLang="zh-CN" sz="2600" i="1" dirty="0">
                    <a:solidFill>
                      <a:prstClr val="black"/>
                    </a:solidFill>
                    <a:latin typeface="Times New Roman"/>
                    <a:ea typeface="黑体"/>
                  </a:rPr>
                  <a:t>w</a:t>
                </a:r>
                <a:r>
                  <a:rPr lang="en-US" altLang="zh-CN" sz="2600" baseline="-25000" dirty="0">
                    <a:solidFill>
                      <a:prstClr val="black"/>
                    </a:solidFill>
                    <a:latin typeface="Times New Roman"/>
                    <a:ea typeface="黑体"/>
                  </a:rPr>
                  <a:t>0</a:t>
                </a:r>
                <a:r>
                  <a:rPr lang="en-US" altLang="zh-CN" sz="2600" dirty="0">
                    <a:solidFill>
                      <a:prstClr val="black"/>
                    </a:solidFill>
                    <a:latin typeface="Times New Roman"/>
                    <a:ea typeface="黑体"/>
                  </a:rPr>
                  <a:t>,</a:t>
                </a:r>
                <a:r>
                  <a:rPr lang="en-US" altLang="zh-CN" sz="2600" i="1" dirty="0">
                    <a:solidFill>
                      <a:prstClr val="black"/>
                    </a:solidFill>
                    <a:latin typeface="Times New Roman"/>
                    <a:ea typeface="黑体"/>
                  </a:rPr>
                  <a:t>w</a:t>
                </a:r>
                <a:r>
                  <a:rPr lang="en-US" altLang="zh-CN" sz="2600" baseline="-25000" dirty="0">
                    <a:solidFill>
                      <a:prstClr val="black"/>
                    </a:solidFill>
                    <a:latin typeface="Times New Roman"/>
                    <a:ea typeface="黑体"/>
                  </a:rPr>
                  <a:t>1</a:t>
                </a:r>
                <a:r>
                  <a:rPr lang="en-US" altLang="zh-CN" sz="2600" dirty="0">
                    <a:solidFill>
                      <a:prstClr val="black"/>
                    </a:solidFill>
                    <a:latin typeface="Times New Roman"/>
                    <a:ea typeface="黑体"/>
                  </a:rPr>
                  <a:t>,</a:t>
                </a:r>
                <a:r>
                  <a:rPr lang="en-US" altLang="zh-CN" sz="2600" i="1" dirty="0">
                    <a:solidFill>
                      <a:prstClr val="black"/>
                    </a:solidFill>
                    <a:latin typeface="Times New Roman"/>
                    <a:ea typeface="黑体"/>
                  </a:rPr>
                  <a:t>w</a:t>
                </a:r>
                <a:r>
                  <a:rPr lang="en-US" altLang="zh-CN" sz="2600" baseline="-25000" dirty="0">
                    <a:solidFill>
                      <a:prstClr val="black"/>
                    </a:solidFill>
                    <a:latin typeface="Times New Roman"/>
                    <a:ea typeface="黑体"/>
                  </a:rPr>
                  <a:t>2</a:t>
                </a:r>
                <a:r>
                  <a:rPr lang="en-US" altLang="zh-CN" sz="2600" dirty="0">
                    <a:solidFill>
                      <a:prstClr val="black"/>
                    </a:solidFill>
                    <a:latin typeface="Times New Roman"/>
                    <a:ea typeface="黑体"/>
                  </a:rPr>
                  <a:t>,...</a:t>
                </a:r>
                <a:r>
                  <a:rPr lang="en-US" altLang="zh-CN" sz="2600" i="1" dirty="0" err="1">
                    <a:solidFill>
                      <a:prstClr val="black"/>
                    </a:solidFill>
                    <a:latin typeface="Times New Roman"/>
                    <a:ea typeface="黑体"/>
                  </a:rPr>
                  <a:t>w</a:t>
                </a:r>
                <a:r>
                  <a:rPr lang="en-US" altLang="zh-CN" sz="2600" i="1" baseline="-25000" dirty="0" err="1">
                    <a:solidFill>
                      <a:prstClr val="black"/>
                    </a:solidFill>
                    <a:latin typeface="Times New Roman"/>
                    <a:ea typeface="黑体"/>
                  </a:rPr>
                  <a:t>n</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（用</a:t>
                </a:r>
                <a:r>
                  <a:rPr lang="en-US" altLang="zh-CN" sz="2600" i="1" dirty="0">
                    <a:solidFill>
                      <a:prstClr val="black"/>
                    </a:solidFill>
                    <a:latin typeface="Times New Roman"/>
                    <a:ea typeface="黑体"/>
                  </a:rPr>
                  <a:t>w</a:t>
                </a:r>
                <a:r>
                  <a:rPr lang="en-US" altLang="zh-CN" sz="2600" baseline="-25000" dirty="0">
                    <a:solidFill>
                      <a:prstClr val="black"/>
                    </a:solidFill>
                    <a:latin typeface="Times New Roman"/>
                    <a:ea typeface="黑体"/>
                  </a:rPr>
                  <a:t>0</a:t>
                </a:r>
                <a:r>
                  <a:rPr lang="zh-CN" altLang="en-US" sz="2600" dirty="0">
                    <a:solidFill>
                      <a:prstClr val="black"/>
                    </a:solidFill>
                    <a:latin typeface="Times New Roman"/>
                    <a:ea typeface="黑体"/>
                  </a:rPr>
                  <a:t>代替</a:t>
                </a:r>
                <a:r>
                  <a:rPr lang="en-US" altLang="zh-CN" sz="2600" i="1" dirty="0">
                    <a:solidFill>
                      <a:prstClr val="black"/>
                    </a:solidFill>
                    <a:latin typeface="Times New Roman"/>
                    <a:ea typeface="黑体"/>
                  </a:rPr>
                  <a:t>b</a:t>
                </a:r>
                <a:r>
                  <a:rPr lang="zh-CN" altLang="en-US" sz="2600" dirty="0">
                    <a:solidFill>
                      <a:prstClr val="black"/>
                    </a:solidFill>
                    <a:latin typeface="Times New Roman"/>
                    <a:ea typeface="黑体"/>
                  </a:rPr>
                  <a:t>）。</a:t>
                </a:r>
              </a:p>
              <a:p>
                <a:pPr algn="just">
                  <a:lnSpc>
                    <a:spcPct val="130000"/>
                  </a:lnSpc>
                </a:pPr>
                <a:r>
                  <a:rPr lang="en-US" altLang="zh-CN" sz="2600" i="1" dirty="0">
                    <a:solidFill>
                      <a:prstClr val="black"/>
                    </a:solidFill>
                    <a:latin typeface="Times New Roman"/>
                    <a:ea typeface="黑体"/>
                  </a:rPr>
                  <a:t>Step</a:t>
                </a:r>
                <a:r>
                  <a:rPr lang="en-US" altLang="zh-CN" sz="2600" dirty="0">
                    <a:solidFill>
                      <a:prstClr val="black"/>
                    </a:solidFill>
                    <a:latin typeface="Times New Roman"/>
                    <a:ea typeface="黑体"/>
                  </a:rPr>
                  <a:t>2</a:t>
                </a:r>
                <a:r>
                  <a:rPr lang="zh-CN" altLang="en-US" sz="2600" dirty="0">
                    <a:solidFill>
                      <a:prstClr val="black"/>
                    </a:solidFill>
                    <a:latin typeface="Times New Roman"/>
                    <a:ea typeface="黑体"/>
                  </a:rPr>
                  <a:t>：输入一个样本</a:t>
                </a:r>
                <a:r>
                  <a:rPr lang="en-US" altLang="zh-CN" sz="2600" dirty="0">
                    <a:solidFill>
                      <a:prstClr val="black"/>
                    </a:solidFill>
                    <a:latin typeface="Times New Roman"/>
                    <a:ea typeface="黑体"/>
                  </a:rPr>
                  <a:t>(1,</a:t>
                </a:r>
                <a:r>
                  <a:rPr lang="en-US" altLang="zh-CN" sz="2600" i="1" dirty="0">
                    <a:solidFill>
                      <a:prstClr val="black"/>
                    </a:solidFill>
                    <a:latin typeface="Times New Roman"/>
                    <a:ea typeface="黑体"/>
                  </a:rPr>
                  <a:t> x</a:t>
                </a:r>
                <a:r>
                  <a:rPr lang="en-US" altLang="zh-CN" sz="2600" baseline="-25000" dirty="0">
                    <a:solidFill>
                      <a:prstClr val="black"/>
                    </a:solidFill>
                    <a:latin typeface="Times New Roman"/>
                    <a:ea typeface="黑体"/>
                  </a:rPr>
                  <a:t>1</a:t>
                </a:r>
                <a:r>
                  <a:rPr lang="en-US" altLang="zh-CN" sz="2600" dirty="0">
                    <a:solidFill>
                      <a:prstClr val="black"/>
                    </a:solidFill>
                    <a:latin typeface="Times New Roman"/>
                    <a:ea typeface="黑体"/>
                  </a:rPr>
                  <a:t>,</a:t>
                </a:r>
                <a:r>
                  <a:rPr lang="en-US" altLang="zh-CN" sz="2600" i="1" dirty="0">
                    <a:solidFill>
                      <a:prstClr val="black"/>
                    </a:solidFill>
                    <a:latin typeface="Times New Roman"/>
                    <a:ea typeface="黑体"/>
                  </a:rPr>
                  <a:t> x</a:t>
                </a:r>
                <a:r>
                  <a:rPr lang="en-US" altLang="zh-CN" sz="2600" baseline="-25000" dirty="0">
                    <a:solidFill>
                      <a:prstClr val="black"/>
                    </a:solidFill>
                    <a:latin typeface="Times New Roman"/>
                    <a:ea typeface="黑体"/>
                  </a:rPr>
                  <a:t>2</a:t>
                </a:r>
                <a:r>
                  <a:rPr lang="en-US" altLang="zh-CN" sz="2600" dirty="0">
                    <a:solidFill>
                      <a:prstClr val="black"/>
                    </a:solidFill>
                    <a:latin typeface="Times New Roman"/>
                    <a:ea typeface="黑体"/>
                  </a:rPr>
                  <a:t>,…</a:t>
                </a:r>
                <a:r>
                  <a:rPr lang="en-US" altLang="zh-CN" sz="2600" i="1" dirty="0" err="1">
                    <a:solidFill>
                      <a:prstClr val="black"/>
                    </a:solidFill>
                    <a:latin typeface="Times New Roman"/>
                    <a:ea typeface="黑体"/>
                  </a:rPr>
                  <a:t>x</a:t>
                </a:r>
                <a:r>
                  <a:rPr lang="en-US" altLang="zh-CN" sz="2600" i="1" baseline="-25000" dirty="0" err="1">
                    <a:solidFill>
                      <a:prstClr val="black"/>
                    </a:solidFill>
                    <a:latin typeface="Times New Roman"/>
                    <a:ea typeface="黑体"/>
                  </a:rPr>
                  <a:t>n</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和对应的期望结果</a:t>
                </a:r>
                <a:r>
                  <a:rPr lang="en-US" altLang="zh-CN" sz="2600" i="1" dirty="0">
                    <a:solidFill>
                      <a:prstClr val="black"/>
                    </a:solidFill>
                    <a:latin typeface="Times New Roman"/>
                    <a:ea typeface="黑体"/>
                  </a:rPr>
                  <a:t>y</a:t>
                </a:r>
                <a:r>
                  <a:rPr lang="zh-CN" altLang="en-US" sz="2600" dirty="0">
                    <a:solidFill>
                      <a:prstClr val="black"/>
                    </a:solidFill>
                    <a:latin typeface="Times New Roman"/>
                    <a:ea typeface="黑体"/>
                  </a:rPr>
                  <a:t>。其中</a:t>
                </a:r>
                <a:r>
                  <a:rPr lang="en-US" altLang="zh-CN" sz="2600" dirty="0">
                    <a:solidFill>
                      <a:prstClr val="black"/>
                    </a:solidFill>
                    <a:latin typeface="Times New Roman"/>
                    <a:ea typeface="黑体"/>
                  </a:rPr>
                  <a:t>1</a:t>
                </a:r>
                <a:r>
                  <a:rPr lang="zh-CN" altLang="en-US" sz="2600" dirty="0">
                    <a:solidFill>
                      <a:prstClr val="black"/>
                    </a:solidFill>
                    <a:latin typeface="Times New Roman"/>
                    <a:ea typeface="黑体"/>
                  </a:rPr>
                  <a:t>与</a:t>
                </a:r>
                <a:r>
                  <a:rPr lang="en-US" altLang="zh-CN" sz="2600" i="1" dirty="0">
                    <a:solidFill>
                      <a:prstClr val="black"/>
                    </a:solidFill>
                    <a:latin typeface="Times New Roman"/>
                    <a:ea typeface="黑体"/>
                  </a:rPr>
                  <a:t>w</a:t>
                </a:r>
                <a:r>
                  <a:rPr lang="en-US" altLang="zh-CN" sz="2600" baseline="-25000" dirty="0">
                    <a:solidFill>
                      <a:prstClr val="black"/>
                    </a:solidFill>
                    <a:latin typeface="Times New Roman"/>
                    <a:ea typeface="黑体"/>
                  </a:rPr>
                  <a:t>0</a:t>
                </a:r>
                <a:r>
                  <a:rPr lang="zh-CN" altLang="en-US" sz="2600" dirty="0">
                    <a:solidFill>
                      <a:prstClr val="black"/>
                    </a:solidFill>
                    <a:latin typeface="Times New Roman"/>
                    <a:ea typeface="黑体"/>
                  </a:rPr>
                  <a:t>相乘表示偏置值，传入神经元。二分类中，一般用</a:t>
                </a:r>
                <a:r>
                  <a:rPr lang="en-US" altLang="zh-CN" sz="2600" i="1" dirty="0">
                    <a:solidFill>
                      <a:prstClr val="black"/>
                    </a:solidFill>
                    <a:latin typeface="Times New Roman"/>
                    <a:ea typeface="黑体"/>
                  </a:rPr>
                  <a:t>y</a:t>
                </a:r>
                <a:r>
                  <a:rPr lang="en-US" altLang="zh-CN" sz="2600" dirty="0">
                    <a:solidFill>
                      <a:prstClr val="black"/>
                    </a:solidFill>
                    <a:latin typeface="Times New Roman"/>
                    <a:ea typeface="黑体"/>
                  </a:rPr>
                  <a:t>=1</a:t>
                </a:r>
                <a:r>
                  <a:rPr lang="zh-CN" altLang="en-US" sz="2600" dirty="0">
                    <a:solidFill>
                      <a:prstClr val="black"/>
                    </a:solidFill>
                    <a:latin typeface="Times New Roman"/>
                    <a:ea typeface="黑体"/>
                  </a:rPr>
                  <a:t>表示一类，用</a:t>
                </a:r>
                <a:r>
                  <a:rPr lang="en-US" altLang="zh-CN" sz="2600" i="1" dirty="0">
                    <a:solidFill>
                      <a:prstClr val="black"/>
                    </a:solidFill>
                    <a:latin typeface="Times New Roman"/>
                    <a:ea typeface="黑体"/>
                  </a:rPr>
                  <a:t>y</a:t>
                </a:r>
                <a:r>
                  <a:rPr lang="en-US" altLang="zh-CN" sz="2600" dirty="0">
                    <a:solidFill>
                      <a:prstClr val="black"/>
                    </a:solidFill>
                    <a:latin typeface="Times New Roman"/>
                    <a:ea typeface="黑体"/>
                  </a:rPr>
                  <a:t>=0/-1</a:t>
                </a:r>
                <a:r>
                  <a:rPr lang="zh-CN" altLang="en-US" sz="2600" dirty="0">
                    <a:solidFill>
                      <a:prstClr val="black"/>
                    </a:solidFill>
                    <a:latin typeface="Times New Roman"/>
                    <a:ea typeface="黑体"/>
                  </a:rPr>
                  <a:t>表示另一类。</a:t>
                </a:r>
              </a:p>
              <a:p>
                <a:pPr algn="just">
                  <a:lnSpc>
                    <a:spcPct val="130000"/>
                  </a:lnSpc>
                </a:pPr>
                <a:r>
                  <a:rPr lang="en-US" altLang="zh-CN" sz="2600" i="1" dirty="0">
                    <a:solidFill>
                      <a:prstClr val="black"/>
                    </a:solidFill>
                    <a:latin typeface="Times New Roman"/>
                    <a:ea typeface="黑体"/>
                  </a:rPr>
                  <a:t>Step</a:t>
                </a:r>
                <a:r>
                  <a:rPr lang="en-US" altLang="zh-CN" sz="2600" dirty="0">
                    <a:solidFill>
                      <a:prstClr val="black"/>
                    </a:solidFill>
                    <a:latin typeface="Times New Roman"/>
                    <a:ea typeface="黑体"/>
                  </a:rPr>
                  <a:t>3</a:t>
                </a:r>
                <a:r>
                  <a:rPr lang="zh-CN" altLang="en-US" sz="2600" dirty="0">
                    <a:solidFill>
                      <a:prstClr val="black"/>
                    </a:solidFill>
                    <a:latin typeface="Times New Roman"/>
                    <a:ea typeface="黑体"/>
                  </a:rPr>
                  <a:t>：根据公式计算感知机输出结果𝑦</a:t>
                </a:r>
                <a:r>
                  <a:rPr lang="zh-CN" altLang="en-US" sz="2600" baseline="-25000" dirty="0">
                    <a:solidFill>
                      <a:prstClr val="black"/>
                    </a:solidFill>
                    <a:latin typeface="Times New Roman"/>
                    <a:ea typeface="黑体"/>
                  </a:rPr>
                  <a:t>𝑜𝑢𝑡</a:t>
                </a:r>
                <a:endParaRPr lang="en-US" altLang="zh-CN" sz="2600" baseline="-25000" dirty="0">
                  <a:solidFill>
                    <a:prstClr val="black"/>
                  </a:solidFill>
                  <a:latin typeface="Times New Roman"/>
                  <a:ea typeface="黑体"/>
                </a:endParaRPr>
              </a:p>
              <a:p>
                <a:pPr algn="just"/>
                <a14:m>
                  <m:oMathPara xmlns:m="http://schemas.openxmlformats.org/officeDocument/2006/math">
                    <m:oMathParaPr>
                      <m:jc m:val="centerGroup"/>
                    </m:oMathParaPr>
                    <m:oMath xmlns:m="http://schemas.openxmlformats.org/officeDocument/2006/math">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𝑦</m:t>
                          </m:r>
                        </m:e>
                        <m:sub>
                          <m:r>
                            <a:rPr lang="en-US" altLang="zh-CN" sz="2400" i="1">
                              <a:solidFill>
                                <a:prstClr val="black"/>
                              </a:solidFill>
                              <a:latin typeface="Cambria Math" panose="02040503050406030204" pitchFamily="18" charset="0"/>
                            </a:rPr>
                            <m:t>𝑜𝑢𝑡</m:t>
                          </m:r>
                        </m:sub>
                      </m:sSub>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𝑓</m:t>
                      </m:r>
                      <m:d>
                        <m:dPr>
                          <m:ctrlPr>
                            <a:rPr lang="en-US" altLang="zh-CN" sz="2400" i="1">
                              <a:solidFill>
                                <a:prstClr val="black"/>
                              </a:solidFill>
                              <a:latin typeface="Cambria Math" panose="02040503050406030204" pitchFamily="18" charset="0"/>
                            </a:rPr>
                          </m:ctrlPr>
                        </m:dPr>
                        <m:e>
                          <m:nary>
                            <m:naryPr>
                              <m:chr m:val="∑"/>
                              <m:ctrlPr>
                                <a:rPr lang="en-US" altLang="zh-CN" sz="2400" i="1">
                                  <a:solidFill>
                                    <a:prstClr val="black"/>
                                  </a:solidFill>
                                  <a:latin typeface="Cambria Math" panose="02040503050406030204" pitchFamily="18" charset="0"/>
                                </a:rPr>
                              </m:ctrlPr>
                            </m:naryPr>
                            <m:sub>
                              <m:r>
                                <m:rPr>
                                  <m:brk m:alnAt="23"/>
                                </m:rPr>
                                <a:rPr lang="en-US" altLang="zh-CN" sz="2400" i="1">
                                  <a:solidFill>
                                    <a:prstClr val="black"/>
                                  </a:solidFill>
                                  <a:latin typeface="Cambria Math" panose="02040503050406030204" pitchFamily="18" charset="0"/>
                                </a:rPr>
                                <m:t>𝑖</m:t>
                              </m:r>
                              <m:r>
                                <a:rPr lang="en-US" altLang="zh-CN" sz="2400" i="1">
                                  <a:solidFill>
                                    <a:prstClr val="black"/>
                                  </a:solidFill>
                                  <a:latin typeface="Cambria Math" panose="02040503050406030204" pitchFamily="18" charset="0"/>
                                </a:rPr>
                                <m:t>=0</m:t>
                              </m:r>
                            </m:sub>
                            <m:sup>
                              <m:r>
                                <a:rPr lang="en-US" altLang="zh-CN" sz="2400" i="1">
                                  <a:solidFill>
                                    <a:prstClr val="black"/>
                                  </a:solidFill>
                                  <a:latin typeface="Cambria Math" panose="02040503050406030204" pitchFamily="18" charset="0"/>
                                </a:rPr>
                                <m:t>𝑛</m:t>
                              </m:r>
                            </m:sup>
                            <m:e>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𝑤</m:t>
                                  </m:r>
                                </m:e>
                                <m:sub>
                                  <m:r>
                                    <a:rPr lang="en-US" altLang="zh-CN" sz="2400" i="1">
                                      <a:solidFill>
                                        <a:prstClr val="black"/>
                                      </a:solidFill>
                                      <a:latin typeface="Cambria Math" panose="02040503050406030204" pitchFamily="18" charset="0"/>
                                    </a:rPr>
                                    <m:t>𝑖</m:t>
                                  </m:r>
                                </m:sub>
                              </m:sSub>
                            </m:e>
                          </m:nary>
                          <m:r>
                            <a:rPr lang="en-US" altLang="zh-CN" sz="2400" i="1">
                              <a:solidFill>
                                <a:prstClr val="black"/>
                              </a:solidFill>
                              <a:latin typeface="Cambria Math" panose="02040503050406030204" pitchFamily="18" charset="0"/>
                              <a:ea typeface="Cambria Math" panose="02040503050406030204" pitchFamily="18" charset="0"/>
                            </a:rPr>
                            <m:t>∙</m:t>
                          </m:r>
                          <m:sSub>
                            <m:sSubPr>
                              <m:ctrlPr>
                                <a:rPr lang="en-US" altLang="zh-CN" sz="2400" i="1">
                                  <a:solidFill>
                                    <a:prstClr val="black"/>
                                  </a:solidFill>
                                  <a:latin typeface="Cambria Math" panose="02040503050406030204" pitchFamily="18" charset="0"/>
                                  <a:ea typeface="Cambria Math" panose="02040503050406030204" pitchFamily="18" charset="0"/>
                                </a:rPr>
                              </m:ctrlPr>
                            </m:sSubPr>
                            <m:e>
                              <m:r>
                                <a:rPr lang="en-US" altLang="zh-CN" sz="2400" i="1">
                                  <a:solidFill>
                                    <a:prstClr val="black"/>
                                  </a:solidFill>
                                  <a:latin typeface="Cambria Math" panose="02040503050406030204" pitchFamily="18" charset="0"/>
                                  <a:ea typeface="Cambria Math" panose="02040503050406030204" pitchFamily="18" charset="0"/>
                                </a:rPr>
                                <m:t>𝑥</m:t>
                              </m:r>
                            </m:e>
                            <m:sub>
                              <m:r>
                                <a:rPr lang="en-US" altLang="zh-CN" sz="2400" i="1">
                                  <a:solidFill>
                                    <a:prstClr val="black"/>
                                  </a:solidFill>
                                  <a:latin typeface="Cambria Math" panose="02040503050406030204" pitchFamily="18" charset="0"/>
                                  <a:ea typeface="Cambria Math" panose="02040503050406030204" pitchFamily="18" charset="0"/>
                                </a:rPr>
                                <m:t>𝑖</m:t>
                              </m:r>
                            </m:sub>
                          </m:sSub>
                        </m:e>
                      </m:d>
                    </m:oMath>
                  </m:oMathPara>
                </a14:m>
                <a:endParaRPr lang="en-US" altLang="zh-CN" sz="2600" dirty="0">
                  <a:solidFill>
                    <a:prstClr val="black"/>
                  </a:solidFill>
                  <a:latin typeface="Times New Roman"/>
                  <a:ea typeface="黑体"/>
                </a:endParaRPr>
              </a:p>
            </p:txBody>
          </p:sp>
        </mc:Choice>
        <mc:Fallback xmlns="">
          <p:sp>
            <p:nvSpPr>
              <p:cNvPr id="32" name="矩形 31">
                <a:extLst>
                  <a:ext uri="{FF2B5EF4-FFF2-40B4-BE49-F238E27FC236}">
                    <a16:creationId xmlns:a16="http://schemas.microsoft.com/office/drawing/2014/main" id="{A2D5D130-9918-D803-D4FB-1CC3E5696391}"/>
                  </a:ext>
                </a:extLst>
              </p:cNvPr>
              <p:cNvSpPr>
                <a:spLocks noRot="1" noChangeAspect="1" noMove="1" noResize="1" noEditPoints="1" noAdjustHandles="1" noChangeArrowheads="1" noChangeShapeType="1" noTextEdit="1"/>
              </p:cNvSpPr>
              <p:nvPr/>
            </p:nvSpPr>
            <p:spPr>
              <a:xfrm>
                <a:off x="590675" y="1936886"/>
                <a:ext cx="8066628" cy="4221733"/>
              </a:xfrm>
              <a:prstGeom prst="rect">
                <a:avLst/>
              </a:prstGeom>
              <a:blipFill>
                <a:blip r:embed="rId2"/>
                <a:stretch>
                  <a:fillRect l="-1361" t="-289" r="-5518"/>
                </a:stretch>
              </a:blipFill>
              <a:ln>
                <a:no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8B5D582-45B9-5D18-3D83-080084D1C838}"/>
              </a:ext>
            </a:extLst>
          </p:cNvPr>
          <p:cNvSpPr txBox="1"/>
          <p:nvPr/>
        </p:nvSpPr>
        <p:spPr>
          <a:xfrm>
            <a:off x="524315" y="116598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p>
        </p:txBody>
      </p:sp>
    </p:spTree>
    <p:extLst>
      <p:ext uri="{BB962C8B-B14F-4D97-AF65-F5344CB8AC3E}">
        <p14:creationId xmlns:p14="http://schemas.microsoft.com/office/powerpoint/2010/main" val="176641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xEl>
                                              <p:pRg st="1" end="1"/>
                                            </p:txEl>
                                          </p:spTgt>
                                        </p:tgtEl>
                                        <p:attrNameLst>
                                          <p:attrName>style.visibility</p:attrName>
                                        </p:attrNameLst>
                                      </p:cBhvr>
                                      <p:to>
                                        <p:strVal val="visible"/>
                                      </p:to>
                                    </p:set>
                                    <p:animEffect transition="in" filter="fade">
                                      <p:cBhvr>
                                        <p:cTn id="16" dur="500"/>
                                        <p:tgtEl>
                                          <p:spTgt spid="3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2" end="2"/>
                                            </p:txEl>
                                          </p:spTgt>
                                        </p:tgtEl>
                                        <p:attrNameLst>
                                          <p:attrName>style.visibility</p:attrName>
                                        </p:attrNameLst>
                                      </p:cBhvr>
                                      <p:to>
                                        <p:strVal val="visible"/>
                                      </p:to>
                                    </p:set>
                                    <p:animEffect transition="in" filter="fade">
                                      <p:cBhvr>
                                        <p:cTn id="21" dur="500"/>
                                        <p:tgtEl>
                                          <p:spTgt spid="3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xEl>
                                              <p:pRg st="3" end="3"/>
                                            </p:txEl>
                                          </p:spTgt>
                                        </p:tgtEl>
                                        <p:attrNameLst>
                                          <p:attrName>style.visibility</p:attrName>
                                        </p:attrNameLst>
                                      </p:cBhvr>
                                      <p:to>
                                        <p:strVal val="visible"/>
                                      </p:to>
                                    </p:set>
                                    <p:animEffect transition="in" filter="fade">
                                      <p:cBhvr>
                                        <p:cTn id="26" dur="500"/>
                                        <p:tgtEl>
                                          <p:spTgt spid="32">
                                            <p:txEl>
                                              <p:pRg st="3" end="3"/>
                                            </p:txEl>
                                          </p:spTgt>
                                        </p:tgtEl>
                                      </p:cBhvr>
                                    </p:animEffect>
                                  </p:childTnLst>
                                </p:cTn>
                              </p:par>
                            </p:childTnLst>
                          </p:cTn>
                        </p:par>
                        <p:par>
                          <p:cTn id="27" fill="hold">
                            <p:stCondLst>
                              <p:cond delay="500"/>
                            </p:stCondLst>
                            <p:childTnLst>
                              <p:par>
                                <p:cTn id="28" presetID="10" presetClass="entr" presetSubtype="0" fill="hold" nodeType="afterEffect">
                                  <p:stCondLst>
                                    <p:cond delay="250"/>
                                  </p:stCondLst>
                                  <p:childTnLst>
                                    <p:set>
                                      <p:cBhvr>
                                        <p:cTn id="29" dur="1" fill="hold">
                                          <p:stCondLst>
                                            <p:cond delay="0"/>
                                          </p:stCondLst>
                                        </p:cTn>
                                        <p:tgtEl>
                                          <p:spTgt spid="32">
                                            <p:txEl>
                                              <p:pRg st="4" end="4"/>
                                            </p:txEl>
                                          </p:spTgt>
                                        </p:tgtEl>
                                        <p:attrNameLst>
                                          <p:attrName>style.visibility</p:attrName>
                                        </p:attrNameLst>
                                      </p:cBhvr>
                                      <p:to>
                                        <p:strVal val="visible"/>
                                      </p:to>
                                    </p:set>
                                    <p:animEffect transition="in" filter="fade">
                                      <p:cBhvr>
                                        <p:cTn id="30"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7492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A2D5D130-9918-D803-D4FB-1CC3E5696391}"/>
                  </a:ext>
                </a:extLst>
              </p:cNvPr>
              <p:cNvSpPr/>
              <p:nvPr/>
            </p:nvSpPr>
            <p:spPr>
              <a:xfrm>
                <a:off x="590675" y="1896243"/>
                <a:ext cx="8066628" cy="4717702"/>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感知机学习过程和权值更新规则</a:t>
                </a:r>
              </a:p>
              <a:p>
                <a:pPr algn="just">
                  <a:lnSpc>
                    <a:spcPct val="130000"/>
                  </a:lnSpc>
                </a:pPr>
                <a:r>
                  <a:rPr lang="en-US" altLang="zh-CN" sz="2600" i="1" dirty="0">
                    <a:solidFill>
                      <a:prstClr val="black"/>
                    </a:solidFill>
                    <a:latin typeface="Times New Roman"/>
                    <a:ea typeface="黑体"/>
                  </a:rPr>
                  <a:t>Step</a:t>
                </a:r>
                <a:r>
                  <a:rPr lang="en-US" altLang="zh-CN" sz="2600" dirty="0">
                    <a:solidFill>
                      <a:prstClr val="black"/>
                    </a:solidFill>
                    <a:latin typeface="Times New Roman"/>
                    <a:ea typeface="黑体"/>
                  </a:rPr>
                  <a:t>4</a:t>
                </a:r>
                <a:r>
                  <a:rPr lang="zh-CN" altLang="en-US" sz="2600" dirty="0">
                    <a:solidFill>
                      <a:prstClr val="black"/>
                    </a:solidFill>
                    <a:latin typeface="Times New Roman"/>
                    <a:ea typeface="黑体"/>
                  </a:rPr>
                  <a:t>：若该点被分类错误，则存在误差</a:t>
                </a:r>
                <a:r>
                  <a:rPr lang="en-US" altLang="zh-CN" sz="2600" dirty="0">
                    <a:solidFill>
                      <a:prstClr val="black"/>
                    </a:solidFill>
                    <a:latin typeface="Times New Roman"/>
                    <a:ea typeface="黑体"/>
                  </a:rPr>
                  <a:t>(</a:t>
                </a:r>
                <a:r>
                  <a:rPr lang="en-US" altLang="zh-CN" sz="2600" i="1" dirty="0">
                    <a:solidFill>
                      <a:prstClr val="black"/>
                    </a:solidFill>
                    <a:latin typeface="Times New Roman"/>
                    <a:ea typeface="黑体"/>
                  </a:rPr>
                  <a:t>ε</a:t>
                </a:r>
                <a:r>
                  <a:rPr lang="en-US" altLang="zh-CN" sz="2600" dirty="0">
                    <a:solidFill>
                      <a:prstClr val="black"/>
                    </a:solidFill>
                    <a:latin typeface="Times New Roman"/>
                    <a:ea typeface="黑体"/>
                  </a:rPr>
                  <a:t>=</a:t>
                </a:r>
                <a:r>
                  <a:rPr lang="en-US" altLang="zh-CN" sz="2600" i="1" dirty="0">
                    <a:solidFill>
                      <a:prstClr val="black"/>
                    </a:solidFill>
                    <a:latin typeface="Times New Roman"/>
                    <a:ea typeface="黑体"/>
                  </a:rPr>
                  <a:t>y</a:t>
                </a:r>
                <a:r>
                  <a:rPr lang="en-US" altLang="zh-CN" sz="2600" dirty="0">
                    <a:solidFill>
                      <a:prstClr val="black"/>
                    </a:solidFill>
                    <a:latin typeface="Times New Roman"/>
                    <a:ea typeface="黑体"/>
                  </a:rPr>
                  <a:t>-</a:t>
                </a:r>
                <a:r>
                  <a:rPr lang="en-US" altLang="zh-CN" sz="2600" i="1" dirty="0">
                    <a:solidFill>
                      <a:prstClr val="black"/>
                    </a:solidFill>
                    <a:latin typeface="Times New Roman"/>
                    <a:ea typeface="黑体"/>
                  </a:rPr>
                  <a:t>y</a:t>
                </a:r>
                <a:r>
                  <a:rPr lang="en-US" altLang="zh-CN" sz="2600" i="1" baseline="-25000" dirty="0">
                    <a:solidFill>
                      <a:prstClr val="black"/>
                    </a:solidFill>
                    <a:latin typeface="Times New Roman"/>
                    <a:ea typeface="黑体"/>
                  </a:rPr>
                  <a:t>out</a:t>
                </a:r>
                <a:r>
                  <a:rPr lang="en-US" altLang="zh-CN" sz="2600" dirty="0">
                    <a:solidFill>
                      <a:prstClr val="black"/>
                    </a:solidFill>
                    <a:latin typeface="Times New Roman"/>
                    <a:ea typeface="黑体"/>
                  </a:rPr>
                  <a:t>≠0)</a:t>
                </a:r>
                <a:r>
                  <a:rPr lang="zh-CN" altLang="en-US" sz="2600" dirty="0">
                    <a:solidFill>
                      <a:prstClr val="black"/>
                    </a:solidFill>
                    <a:latin typeface="Times New Roman"/>
                    <a:ea typeface="黑体"/>
                  </a:rPr>
                  <a:t>，以误差为基础对每个权值</a:t>
                </a:r>
                <a14:m>
                  <m:oMath xmlns:m="http://schemas.openxmlformats.org/officeDocument/2006/math">
                    <m:sSub>
                      <m:sSubPr>
                        <m:ctrlPr>
                          <a:rPr lang="en-US" altLang="zh-CN" sz="2600" i="1">
                            <a:solidFill>
                              <a:prstClr val="black"/>
                            </a:solidFill>
                            <a:latin typeface="Cambria Math" panose="02040503050406030204" pitchFamily="18" charset="0"/>
                          </a:rPr>
                        </m:ctrlPr>
                      </m:sSubPr>
                      <m:e>
                        <m:r>
                          <a:rPr lang="en-US" altLang="zh-CN" sz="2600" i="1">
                            <a:solidFill>
                              <a:prstClr val="black"/>
                            </a:solidFill>
                            <a:latin typeface="Cambria Math" panose="02040503050406030204" pitchFamily="18" charset="0"/>
                          </a:rPr>
                          <m:t>𝑤</m:t>
                        </m:r>
                      </m:e>
                      <m:sub>
                        <m:r>
                          <a:rPr lang="en-US" altLang="zh-CN" sz="2600" i="1">
                            <a:solidFill>
                              <a:prstClr val="black"/>
                            </a:solidFill>
                            <a:latin typeface="Cambria Math" panose="02040503050406030204" pitchFamily="18" charset="0"/>
                          </a:rPr>
                          <m:t>𝑖</m:t>
                        </m:r>
                      </m:sub>
                    </m:sSub>
                    <m:r>
                      <a:rPr lang="en-US" altLang="zh-CN" sz="2600" i="1">
                        <a:solidFill>
                          <a:prstClr val="black"/>
                        </a:solidFill>
                        <a:latin typeface="Cambria Math" panose="02040503050406030204" pitchFamily="18" charset="0"/>
                      </a:rPr>
                      <m:t> </m:t>
                    </m:r>
                    <m:r>
                      <a:rPr lang="en-US" altLang="zh-CN" sz="2600">
                        <a:solidFill>
                          <a:prstClr val="black"/>
                        </a:solidFill>
                        <a:latin typeface="Cambria Math" panose="02040503050406030204" pitchFamily="18" charset="0"/>
                      </a:rPr>
                      <m:t>(</m:t>
                    </m:r>
                  </m:oMath>
                </a14:m>
                <a:r>
                  <a:rPr lang="en-US" altLang="zh-CN" sz="2600" dirty="0">
                    <a:solidFill>
                      <a:prstClr val="black"/>
                    </a:solidFill>
                    <a:latin typeface="Times New Roman"/>
                    <a:ea typeface="黑体"/>
                  </a:rPr>
                  <a:t>0 ≤ </a:t>
                </a:r>
                <a:r>
                  <a:rPr lang="en-US" altLang="zh-CN" sz="2600" i="1" dirty="0" err="1">
                    <a:solidFill>
                      <a:prstClr val="black"/>
                    </a:solidFill>
                    <a:latin typeface="Times New Roman"/>
                    <a:ea typeface="黑体"/>
                  </a:rPr>
                  <a:t>i</a:t>
                </a:r>
                <a:r>
                  <a:rPr lang="en-US" altLang="zh-CN" sz="2600" dirty="0">
                    <a:solidFill>
                      <a:prstClr val="black"/>
                    </a:solidFill>
                    <a:latin typeface="Times New Roman"/>
                    <a:ea typeface="黑体"/>
                  </a:rPr>
                  <a:t> ≤ </a:t>
                </a:r>
                <a:r>
                  <a:rPr lang="en-US" altLang="zh-CN" sz="2600" i="1" dirty="0">
                    <a:solidFill>
                      <a:prstClr val="black"/>
                    </a:solidFill>
                    <a:latin typeface="Times New Roman"/>
                    <a:ea typeface="黑体"/>
                  </a:rPr>
                  <a:t>n</a:t>
                </a:r>
                <a:r>
                  <a:rPr lang="zh-CN" altLang="en-US" sz="2600" dirty="0">
                    <a:solidFill>
                      <a:prstClr val="black"/>
                    </a:solidFill>
                    <a:latin typeface="Times New Roman"/>
                    <a:ea typeface="黑体"/>
                  </a:rPr>
                  <a:t>）按以下规则进行调整（称为学习规则）：</a:t>
                </a:r>
              </a:p>
              <a:p>
                <a:pPr algn="just">
                  <a:lnSpc>
                    <a:spcPct val="130000"/>
                  </a:lnSpc>
                </a:pPr>
                <a14:m>
                  <m:oMathPara xmlns:m="http://schemas.openxmlformats.org/officeDocument/2006/math">
                    <m:oMathParaPr>
                      <m:jc m:val="centerGroup"/>
                    </m:oMathParaPr>
                    <m:oMath xmlns:m="http://schemas.openxmlformats.org/officeDocument/2006/math">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r>
                        <a:rPr lang="en-US" altLang="zh-CN" sz="2600" i="1">
                          <a:solidFill>
                            <a:prstClr val="black"/>
                          </a:solidFill>
                          <a:latin typeface="Cambria Math" panose="02040503050406030204" pitchFamily="18" charset="0"/>
                          <a:ea typeface="Cambria Math" panose="02040503050406030204" pitchFamily="18" charset="0"/>
                        </a:rPr>
                        <m:t>=</m:t>
                      </m:r>
                      <m:r>
                        <a:rPr lang="zh-CN" altLang="en-US" sz="2600" i="1">
                          <a:solidFill>
                            <a:prstClr val="black"/>
                          </a:solidFill>
                          <a:latin typeface="Cambria Math" panose="02040503050406030204" pitchFamily="18" charset="0"/>
                          <a:ea typeface="Cambria Math" panose="02040503050406030204" pitchFamily="18" charset="0"/>
                        </a:rPr>
                        <m:t>𝜂</m:t>
                      </m:r>
                      <m:r>
                        <a:rPr lang="en-US" altLang="zh-CN" sz="2600" i="1">
                          <a:solidFill>
                            <a:prstClr val="black"/>
                          </a:solidFill>
                          <a:latin typeface="Cambria Math" panose="02040503050406030204" pitchFamily="18" charset="0"/>
                          <a:ea typeface="Cambria Math" panose="02040503050406030204" pitchFamily="18" charset="0"/>
                        </a:rPr>
                        <m:t>∗</m:t>
                      </m:r>
                      <m:d>
                        <m:dPr>
                          <m:ctrlPr>
                            <a:rPr lang="en-US" altLang="zh-CN" sz="2600" i="1">
                              <a:solidFill>
                                <a:prstClr val="black"/>
                              </a:solidFill>
                              <a:latin typeface="Cambria Math" panose="02040503050406030204" pitchFamily="18" charset="0"/>
                              <a:ea typeface="Cambria Math" panose="02040503050406030204" pitchFamily="18" charset="0"/>
                            </a:rPr>
                          </m:ctrlPr>
                        </m:dPr>
                        <m:e>
                          <m:r>
                            <a:rPr lang="en-US" altLang="zh-CN" sz="2600" i="1">
                              <a:solidFill>
                                <a:prstClr val="black"/>
                              </a:solidFill>
                              <a:latin typeface="Cambria Math" panose="02040503050406030204" pitchFamily="18" charset="0"/>
                              <a:ea typeface="Cambria Math" panose="02040503050406030204" pitchFamily="18" charset="0"/>
                            </a:rPr>
                            <m:t>𝑦</m:t>
                          </m:r>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𝑦</m:t>
                              </m:r>
                            </m:e>
                            <m:sub>
                              <m:r>
                                <a:rPr lang="en-US" altLang="zh-CN" sz="2600" i="1">
                                  <a:solidFill>
                                    <a:prstClr val="black"/>
                                  </a:solidFill>
                                  <a:latin typeface="Cambria Math" panose="02040503050406030204" pitchFamily="18" charset="0"/>
                                  <a:ea typeface="Cambria Math" panose="02040503050406030204" pitchFamily="18" charset="0"/>
                                </a:rPr>
                                <m:t>𝑜𝑢𝑡</m:t>
                              </m:r>
                            </m:sub>
                          </m:sSub>
                        </m:e>
                      </m:d>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𝑥</m:t>
                          </m:r>
                        </m:e>
                        <m:sub>
                          <m:r>
                            <a:rPr lang="en-US" altLang="zh-CN" sz="2600" i="1">
                              <a:solidFill>
                                <a:prstClr val="black"/>
                              </a:solidFill>
                              <a:latin typeface="Cambria Math" panose="02040503050406030204" pitchFamily="18" charset="0"/>
                              <a:ea typeface="Cambria Math" panose="02040503050406030204" pitchFamily="18" charset="0"/>
                            </a:rPr>
                            <m:t>𝑖</m:t>
                          </m:r>
                        </m:sub>
                      </m:sSub>
                    </m:oMath>
                  </m:oMathPara>
                </a14:m>
                <a:endParaRPr lang="en-US" altLang="zh-CN" sz="2600" dirty="0">
                  <a:solidFill>
                    <a:prstClr val="black"/>
                  </a:solidFill>
                  <a:latin typeface="Times New Roman"/>
                  <a:ea typeface="黑体"/>
                </a:endParaRPr>
              </a:p>
              <a:p>
                <a:pPr algn="ctr">
                  <a:lnSpc>
                    <a:spcPct val="130000"/>
                  </a:lnSpc>
                </a:pPr>
                <a14:m>
                  <m:oMath xmlns:m="http://schemas.openxmlformats.org/officeDocument/2006/math">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r>
                      <a:rPr lang="en-US" altLang="zh-CN" sz="2600" i="1">
                        <a:solidFill>
                          <a:prstClr val="black"/>
                        </a:solidFill>
                        <a:latin typeface="Cambria Math" panose="02040503050406030204" pitchFamily="18" charset="0"/>
                        <a:ea typeface="Cambria Math" panose="02040503050406030204" pitchFamily="18" charset="0"/>
                      </a:rPr>
                      <m:t>←</m:t>
                    </m:r>
                  </m:oMath>
                </a14:m>
                <a:r>
                  <a:rPr lang="en-US" altLang="zh-CN" sz="2600" dirty="0">
                    <a:solidFill>
                      <a:prstClr val="black"/>
                    </a:solidFill>
                    <a:latin typeface="Times New Roman"/>
                    <a:ea typeface="Cambria Math" panose="02040503050406030204" pitchFamily="18" charset="0"/>
                  </a:rPr>
                  <a:t> </a:t>
                </a:r>
                <a14:m>
                  <m:oMath xmlns:m="http://schemas.openxmlformats.org/officeDocument/2006/math">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r>
                      <a:rPr lang="en-US" altLang="zh-CN" sz="2600" i="1">
                        <a:solidFill>
                          <a:prstClr val="black"/>
                        </a:solidFill>
                        <a:latin typeface="Cambria Math" panose="02040503050406030204" pitchFamily="18" charset="0"/>
                        <a:ea typeface="Cambria Math" panose="02040503050406030204" pitchFamily="18" charset="0"/>
                      </a:rPr>
                      <m:t>+</m:t>
                    </m:r>
                    <m:sSub>
                      <m:sSubPr>
                        <m:ctrlPr>
                          <a:rPr lang="en-US" altLang="zh-CN" sz="2600" i="1">
                            <a:solidFill>
                              <a:prstClr val="black"/>
                            </a:solidFill>
                            <a:latin typeface="Cambria Math" panose="02040503050406030204" pitchFamily="18" charset="0"/>
                            <a:ea typeface="Cambria Math" panose="02040503050406030204" pitchFamily="18" charset="0"/>
                          </a:rPr>
                        </m:ctrlPr>
                      </m:sSubPr>
                      <m:e>
                        <m:r>
                          <a:rPr lang="en-US" altLang="zh-CN" sz="2600" i="1">
                            <a:solidFill>
                              <a:prstClr val="black"/>
                            </a:solidFill>
                            <a:latin typeface="Cambria Math" panose="02040503050406030204" pitchFamily="18" charset="0"/>
                            <a:ea typeface="Cambria Math" panose="02040503050406030204" pitchFamily="18" charset="0"/>
                          </a:rPr>
                          <m:t>∆</m:t>
                        </m:r>
                        <m:r>
                          <a:rPr lang="en-US" altLang="zh-CN" sz="2600" i="1">
                            <a:solidFill>
                              <a:prstClr val="black"/>
                            </a:solidFill>
                            <a:latin typeface="Cambria Math" panose="02040503050406030204" pitchFamily="18" charset="0"/>
                            <a:ea typeface="Cambria Math" panose="02040503050406030204" pitchFamily="18" charset="0"/>
                          </a:rPr>
                          <m:t>𝑤</m:t>
                        </m:r>
                      </m:e>
                      <m:sub>
                        <m:r>
                          <a:rPr lang="en-US" altLang="zh-CN" sz="2600" i="1">
                            <a:solidFill>
                              <a:prstClr val="black"/>
                            </a:solidFill>
                            <a:latin typeface="Cambria Math" panose="02040503050406030204" pitchFamily="18" charset="0"/>
                            <a:ea typeface="Cambria Math" panose="02040503050406030204" pitchFamily="18" charset="0"/>
                          </a:rPr>
                          <m:t>𝑖</m:t>
                        </m:r>
                      </m:sub>
                    </m:sSub>
                  </m:oMath>
                </a14:m>
                <a:endParaRPr lang="zh-CN" altLang="en-US" sz="2600" dirty="0">
                  <a:solidFill>
                    <a:prstClr val="black"/>
                  </a:solidFill>
                  <a:latin typeface="Times New Roman"/>
                  <a:ea typeface="黑体"/>
                </a:endParaRPr>
              </a:p>
              <a:p>
                <a:pPr algn="just">
                  <a:lnSpc>
                    <a:spcPct val="130000"/>
                  </a:lnSpc>
                </a:pPr>
                <a:r>
                  <a:rPr lang="en-US" altLang="zh-CN" sz="2600" i="1" dirty="0">
                    <a:solidFill>
                      <a:prstClr val="black"/>
                    </a:solidFill>
                    <a:latin typeface="Times New Roman"/>
                    <a:ea typeface="黑体"/>
                  </a:rPr>
                  <a:t>Step</a:t>
                </a:r>
                <a:r>
                  <a:rPr lang="en-US" altLang="zh-CN" sz="2600" dirty="0">
                    <a:solidFill>
                      <a:prstClr val="black"/>
                    </a:solidFill>
                    <a:latin typeface="Times New Roman"/>
                    <a:ea typeface="黑体"/>
                  </a:rPr>
                  <a:t>5</a:t>
                </a:r>
                <a:r>
                  <a:rPr lang="zh-CN" altLang="en-US" sz="2600" dirty="0">
                    <a:solidFill>
                      <a:prstClr val="black"/>
                    </a:solidFill>
                    <a:latin typeface="Times New Roman"/>
                    <a:ea typeface="黑体"/>
                  </a:rPr>
                  <a:t>：如果所有的样本分类的输出均正确即成功分类，则训练过程结束。若有任一个样本输出错误，则都将导致权值调整，并且再次逐个输入所有样本进行训练。</a:t>
                </a:r>
              </a:p>
            </p:txBody>
          </p:sp>
        </mc:Choice>
        <mc:Fallback xmlns="">
          <p:sp>
            <p:nvSpPr>
              <p:cNvPr id="32" name="矩形 31">
                <a:extLst>
                  <a:ext uri="{FF2B5EF4-FFF2-40B4-BE49-F238E27FC236}">
                    <a16:creationId xmlns:a16="http://schemas.microsoft.com/office/drawing/2014/main" id="{A2D5D130-9918-D803-D4FB-1CC3E5696391}"/>
                  </a:ext>
                </a:extLst>
              </p:cNvPr>
              <p:cNvSpPr>
                <a:spLocks noRot="1" noChangeAspect="1" noMove="1" noResize="1" noEditPoints="1" noAdjustHandles="1" noChangeArrowheads="1" noChangeShapeType="1" noTextEdit="1"/>
              </p:cNvSpPr>
              <p:nvPr/>
            </p:nvSpPr>
            <p:spPr>
              <a:xfrm>
                <a:off x="590675" y="1896243"/>
                <a:ext cx="8066628" cy="4717702"/>
              </a:xfrm>
              <a:prstGeom prst="rect">
                <a:avLst/>
              </a:prstGeom>
              <a:blipFill>
                <a:blip r:embed="rId2"/>
                <a:stretch>
                  <a:fillRect l="-1361" t="-129" r="-5518" b="-2067"/>
                </a:stretch>
              </a:blipFill>
              <a:ln>
                <a:no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8B5D582-45B9-5D18-3D83-080084D1C838}"/>
              </a:ext>
            </a:extLst>
          </p:cNvPr>
          <p:cNvSpPr txBox="1"/>
          <p:nvPr/>
        </p:nvSpPr>
        <p:spPr>
          <a:xfrm>
            <a:off x="524315" y="112534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p>
        </p:txBody>
      </p:sp>
    </p:spTree>
    <p:extLst>
      <p:ext uri="{BB962C8B-B14F-4D97-AF65-F5344CB8AC3E}">
        <p14:creationId xmlns:p14="http://schemas.microsoft.com/office/powerpoint/2010/main" val="198100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500"/>
                                        <p:tgtEl>
                                          <p:spTgt spid="32">
                                            <p:txEl>
                                              <p:pRg st="1" end="1"/>
                                            </p:txEl>
                                          </p:spTgt>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32">
                                            <p:txEl>
                                              <p:pRg st="2" end="2"/>
                                            </p:txEl>
                                          </p:spTgt>
                                        </p:tgtEl>
                                        <p:attrNameLst>
                                          <p:attrName>style.visibility</p:attrName>
                                        </p:attrNameLst>
                                      </p:cBhvr>
                                      <p:to>
                                        <p:strVal val="visible"/>
                                      </p:to>
                                    </p:set>
                                    <p:animEffect transition="in" filter="fade">
                                      <p:cBhvr>
                                        <p:cTn id="11" dur="500"/>
                                        <p:tgtEl>
                                          <p:spTgt spid="32">
                                            <p:txEl>
                                              <p:pRg st="2" end="2"/>
                                            </p:txEl>
                                          </p:spTgt>
                                        </p:tgtEl>
                                      </p:cBhvr>
                                    </p:animEffect>
                                  </p:childTnLst>
                                </p:cTn>
                              </p:par>
                            </p:childTnLst>
                          </p:cTn>
                        </p:par>
                        <p:par>
                          <p:cTn id="12" fill="hold">
                            <p:stCondLst>
                              <p:cond delay="2000"/>
                            </p:stCondLst>
                            <p:childTnLst>
                              <p:par>
                                <p:cTn id="13" presetID="10" presetClass="entr" presetSubtype="0" fill="hold" nodeType="afterEffect">
                                  <p:stCondLst>
                                    <p:cond delay="500"/>
                                  </p:stCondLst>
                                  <p:childTnLst>
                                    <p:set>
                                      <p:cBhvr>
                                        <p:cTn id="14" dur="1" fill="hold">
                                          <p:stCondLst>
                                            <p:cond delay="0"/>
                                          </p:stCondLst>
                                        </p:cTn>
                                        <p:tgtEl>
                                          <p:spTgt spid="32">
                                            <p:txEl>
                                              <p:pRg st="3" end="3"/>
                                            </p:txEl>
                                          </p:spTgt>
                                        </p:tgtEl>
                                        <p:attrNameLst>
                                          <p:attrName>style.visibility</p:attrName>
                                        </p:attrNameLst>
                                      </p:cBhvr>
                                      <p:to>
                                        <p:strVal val="visible"/>
                                      </p:to>
                                    </p:set>
                                    <p:animEffect transition="in" filter="fade">
                                      <p:cBhvr>
                                        <p:cTn id="15" dur="500"/>
                                        <p:tgtEl>
                                          <p:spTgt spid="3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4" end="4"/>
                                            </p:txEl>
                                          </p:spTgt>
                                        </p:tgtEl>
                                        <p:attrNameLst>
                                          <p:attrName>style.visibility</p:attrName>
                                        </p:attrNameLst>
                                      </p:cBhvr>
                                      <p:to>
                                        <p:strVal val="visible"/>
                                      </p:to>
                                    </p:set>
                                    <p:animEffect transition="in" filter="fade">
                                      <p:cBhvr>
                                        <p:cTn id="20"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6636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987687"/>
            <a:ext cx="8066628" cy="4401911"/>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感知机学习过程原理</a:t>
            </a:r>
          </a:p>
          <a:p>
            <a:pPr algn="just">
              <a:lnSpc>
                <a:spcPct val="130000"/>
              </a:lnSpc>
            </a:pPr>
            <a:r>
              <a:rPr lang="zh-CN" altLang="en-US" sz="2400" dirty="0">
                <a:solidFill>
                  <a:prstClr val="black"/>
                </a:solidFill>
                <a:latin typeface="Times New Roman"/>
                <a:ea typeface="黑体"/>
              </a:rPr>
              <a:t>    权值调整是以减小误差为依据的，因此能够有效的学习到合理的权值参数。</a:t>
            </a:r>
          </a:p>
          <a:p>
            <a:pPr algn="just">
              <a:lnSpc>
                <a:spcPct val="130000"/>
              </a:lnSpc>
            </a:pP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、对某个样本错误进行权值参数调整，可能引起其他原本分类正确的点出错。所以每次调整之后，要把所有样本都要重新进行依次计算。</a:t>
            </a:r>
          </a:p>
          <a:p>
            <a:pPr algn="just">
              <a:lnSpc>
                <a:spcPct val="130000"/>
              </a:lnSpc>
            </a:pPr>
            <a:r>
              <a:rPr lang="en-US" altLang="zh-CN" sz="2400" dirty="0">
                <a:solidFill>
                  <a:prstClr val="black"/>
                </a:solidFill>
                <a:latin typeface="Times New Roman"/>
                <a:ea typeface="黑体"/>
              </a:rPr>
              <a:t>2</a:t>
            </a:r>
            <a:r>
              <a:rPr lang="zh-CN" altLang="en-US" sz="2400" dirty="0">
                <a:solidFill>
                  <a:prstClr val="black"/>
                </a:solidFill>
                <a:latin typeface="Times New Roman"/>
                <a:ea typeface="黑体"/>
              </a:rPr>
              <a:t>、合适的学习率对于训练来说非常重要。学习率大，调整力度大，可能让分割直线调整过头，引起其他点错误，从而引起分割直线来回振荡调整。</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21678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p>
        </p:txBody>
      </p:sp>
    </p:spTree>
    <p:extLst>
      <p:ext uri="{BB962C8B-B14F-4D97-AF65-F5344CB8AC3E}">
        <p14:creationId xmlns:p14="http://schemas.microsoft.com/office/powerpoint/2010/main" val="275348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xEl>
                                              <p:pRg st="1" end="1"/>
                                            </p:txEl>
                                          </p:spTgt>
                                        </p:tgtEl>
                                        <p:attrNameLst>
                                          <p:attrName>style.visibility</p:attrName>
                                        </p:attrNameLst>
                                      </p:cBhvr>
                                      <p:to>
                                        <p:strVal val="visible"/>
                                      </p:to>
                                    </p:set>
                                    <p:animEffect transition="in" filter="fade">
                                      <p:cBhvr>
                                        <p:cTn id="11" dur="500"/>
                                        <p:tgtEl>
                                          <p:spTgt spid="3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xEl>
                                              <p:pRg st="2" end="2"/>
                                            </p:txEl>
                                          </p:spTgt>
                                        </p:tgtEl>
                                        <p:attrNameLst>
                                          <p:attrName>style.visibility</p:attrName>
                                        </p:attrNameLst>
                                      </p:cBhvr>
                                      <p:to>
                                        <p:strVal val="visible"/>
                                      </p:to>
                                    </p:set>
                                    <p:animEffect transition="in" filter="fade">
                                      <p:cBhvr>
                                        <p:cTn id="16" dur="500"/>
                                        <p:tgtEl>
                                          <p:spTgt spid="3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3" end="3"/>
                                            </p:txEl>
                                          </p:spTgt>
                                        </p:tgtEl>
                                        <p:attrNameLst>
                                          <p:attrName>style.visibility</p:attrName>
                                        </p:attrNameLst>
                                      </p:cBhvr>
                                      <p:to>
                                        <p:strVal val="visible"/>
                                      </p:to>
                                    </p:set>
                                    <p:animEffect transition="in" filter="fade">
                                      <p:cBhvr>
                                        <p:cTn id="21" dur="5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358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957207"/>
            <a:ext cx="8066628" cy="3921779"/>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感知机学习过程原理</a:t>
            </a:r>
          </a:p>
          <a:p>
            <a:pPr algn="just">
              <a:lnSpc>
                <a:spcPct val="130000"/>
              </a:lnSpc>
            </a:pPr>
            <a:r>
              <a:rPr lang="zh-CN" altLang="en-US" sz="2400" dirty="0">
                <a:solidFill>
                  <a:prstClr val="black"/>
                </a:solidFill>
                <a:latin typeface="Times New Roman"/>
                <a:ea typeface="黑体"/>
              </a:rPr>
              <a:t>    权值调整是以减小误差为依据的，因此能够有效的学习到合理的权值参数。</a:t>
            </a:r>
          </a:p>
          <a:p>
            <a:pPr algn="just">
              <a:lnSpc>
                <a:spcPct val="130000"/>
              </a:lnSpc>
            </a:pPr>
            <a:r>
              <a:rPr lang="en-US" altLang="zh-CN" sz="2400" dirty="0">
                <a:solidFill>
                  <a:prstClr val="black"/>
                </a:solidFill>
                <a:latin typeface="Times New Roman"/>
                <a:ea typeface="黑体"/>
              </a:rPr>
              <a:t>3</a:t>
            </a:r>
            <a:r>
              <a:rPr lang="zh-CN" altLang="en-US" sz="2400" dirty="0">
                <a:solidFill>
                  <a:prstClr val="black"/>
                </a:solidFill>
                <a:latin typeface="Times New Roman"/>
                <a:ea typeface="黑体"/>
              </a:rPr>
              <a:t>、能线性分割这些点的直线非常多，根据初始参数和学习率，最终得到的权值参数结果不唯一。</a:t>
            </a:r>
          </a:p>
          <a:p>
            <a:pPr algn="just">
              <a:lnSpc>
                <a:spcPct val="130000"/>
              </a:lnSpc>
            </a:pPr>
            <a:r>
              <a:rPr lang="en-US" altLang="zh-CN" sz="2400" dirty="0">
                <a:solidFill>
                  <a:prstClr val="black"/>
                </a:solidFill>
                <a:latin typeface="Times New Roman"/>
                <a:ea typeface="黑体"/>
              </a:rPr>
              <a:t>4</a:t>
            </a:r>
            <a:r>
              <a:rPr lang="zh-CN" altLang="en-US" sz="2400" dirty="0">
                <a:solidFill>
                  <a:prstClr val="black"/>
                </a:solidFill>
                <a:latin typeface="Times New Roman"/>
                <a:ea typeface="黑体"/>
              </a:rPr>
              <a:t>、如果这些点本身不是用一条直线可以分割的（非线性可分），即没有一条直线能把这些点正确分开，那么这个学习过程无法终止。因此，它无法解决线性不可分问题。</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863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感知机的学习过程</a:t>
            </a:r>
          </a:p>
        </p:txBody>
      </p:sp>
    </p:spTree>
    <p:extLst>
      <p:ext uri="{BB962C8B-B14F-4D97-AF65-F5344CB8AC3E}">
        <p14:creationId xmlns:p14="http://schemas.microsoft.com/office/powerpoint/2010/main" val="68819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2" end="2"/>
                                            </p:txEl>
                                          </p:spTgt>
                                        </p:tgtEl>
                                        <p:attrNameLst>
                                          <p:attrName>style.visibility</p:attrName>
                                        </p:attrNameLst>
                                      </p:cBhvr>
                                      <p:to>
                                        <p:strVal val="visible"/>
                                      </p:to>
                                    </p:set>
                                    <p:animEffect transition="in" filter="fade">
                                      <p:cBhvr>
                                        <p:cTn id="7" dur="500"/>
                                        <p:tgtEl>
                                          <p:spTgt spid="3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3" end="3"/>
                                            </p:txEl>
                                          </p:spTgt>
                                        </p:tgtEl>
                                        <p:attrNameLst>
                                          <p:attrName>style.visibility</p:attrName>
                                        </p:attrNameLst>
                                      </p:cBhvr>
                                      <p:to>
                                        <p:strVal val="visible"/>
                                      </p:to>
                                    </p:set>
                                    <p:animEffect transition="in" filter="fade">
                                      <p:cBhvr>
                                        <p:cTn id="12" dur="5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2572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947047"/>
            <a:ext cx="8066628" cy="4401911"/>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区分苹果和香蕉</a:t>
            </a:r>
            <a:endParaRPr lang="zh-CN" altLang="en-US" sz="2400" dirty="0">
              <a:solidFill>
                <a:prstClr val="black"/>
              </a:solidFill>
              <a:latin typeface="Times New Roman"/>
              <a:ea typeface="黑体"/>
            </a:endParaRPr>
          </a:p>
          <a:p>
            <a:pPr algn="just">
              <a:lnSpc>
                <a:spcPct val="130000"/>
              </a:lnSpc>
            </a:pPr>
            <a:r>
              <a:rPr lang="zh-CN" altLang="en-US" sz="2400" dirty="0">
                <a:solidFill>
                  <a:prstClr val="black"/>
                </a:solidFill>
                <a:latin typeface="Times New Roman"/>
                <a:ea typeface="黑体"/>
              </a:rPr>
              <a:t>     首先用三个特征来对这两种水果进行描述，</a:t>
            </a:r>
            <a:r>
              <a:rPr lang="en-US" altLang="zh-CN" sz="2400" i="1" dirty="0">
                <a:solidFill>
                  <a:prstClr val="black"/>
                </a:solidFill>
                <a:latin typeface="Times New Roman"/>
                <a:ea typeface="黑体"/>
              </a:rPr>
              <a:t>x</a:t>
            </a:r>
            <a:r>
              <a:rPr lang="en-US" altLang="zh-CN" sz="2400" baseline="-25000" dirty="0">
                <a:solidFill>
                  <a:prstClr val="black"/>
                </a:solidFill>
                <a:latin typeface="Times New Roman"/>
                <a:ea typeface="黑体"/>
              </a:rPr>
              <a:t>1</a:t>
            </a:r>
            <a:r>
              <a:rPr lang="zh-CN" altLang="en-US" sz="2400" dirty="0">
                <a:solidFill>
                  <a:prstClr val="black"/>
                </a:solidFill>
                <a:latin typeface="Times New Roman"/>
                <a:ea typeface="黑体"/>
              </a:rPr>
              <a:t>为颜色，</a:t>
            </a:r>
            <a:r>
              <a:rPr lang="en-US" altLang="zh-CN" sz="2400" i="1" dirty="0">
                <a:solidFill>
                  <a:prstClr val="black"/>
                </a:solidFill>
                <a:latin typeface="Times New Roman"/>
                <a:ea typeface="黑体"/>
              </a:rPr>
              <a:t>x</a:t>
            </a:r>
            <a:r>
              <a:rPr lang="en-US" altLang="zh-CN" sz="2400" baseline="-25000" dirty="0">
                <a:solidFill>
                  <a:prstClr val="black"/>
                </a:solidFill>
                <a:latin typeface="Times New Roman"/>
                <a:ea typeface="黑体"/>
              </a:rPr>
              <a:t>2</a:t>
            </a:r>
            <a:r>
              <a:rPr lang="zh-CN" altLang="en-US" sz="2400" dirty="0">
                <a:solidFill>
                  <a:prstClr val="black"/>
                </a:solidFill>
                <a:latin typeface="Times New Roman"/>
                <a:ea typeface="黑体"/>
              </a:rPr>
              <a:t>为形状，</a:t>
            </a:r>
            <a:r>
              <a:rPr lang="en-US" altLang="zh-CN" sz="2400" i="1" dirty="0">
                <a:solidFill>
                  <a:prstClr val="black"/>
                </a:solidFill>
                <a:latin typeface="Times New Roman"/>
                <a:ea typeface="黑体"/>
              </a:rPr>
              <a:t>x</a:t>
            </a:r>
            <a:r>
              <a:rPr lang="en-US" altLang="zh-CN" sz="2400" baseline="-25000" dirty="0">
                <a:solidFill>
                  <a:prstClr val="black"/>
                </a:solidFill>
                <a:latin typeface="Times New Roman"/>
                <a:ea typeface="黑体"/>
              </a:rPr>
              <a:t>3</a:t>
            </a:r>
            <a:r>
              <a:rPr lang="zh-CN" altLang="en-US" sz="2400" dirty="0">
                <a:solidFill>
                  <a:prstClr val="black"/>
                </a:solidFill>
                <a:latin typeface="Times New Roman"/>
                <a:ea typeface="黑体"/>
              </a:rPr>
              <a:t>为水分含量；其中水果颜色越红则</a:t>
            </a:r>
            <a:r>
              <a:rPr lang="en-US" altLang="zh-CN" sz="2400" i="1" dirty="0">
                <a:solidFill>
                  <a:prstClr val="black"/>
                </a:solidFill>
                <a:latin typeface="Times New Roman"/>
                <a:ea typeface="黑体"/>
              </a:rPr>
              <a:t>x</a:t>
            </a:r>
            <a:r>
              <a:rPr lang="en-US" altLang="zh-CN" sz="2400" baseline="-25000" dirty="0">
                <a:solidFill>
                  <a:prstClr val="black"/>
                </a:solidFill>
                <a:latin typeface="Times New Roman"/>
                <a:ea typeface="黑体"/>
              </a:rPr>
              <a:t>1</a:t>
            </a:r>
            <a:r>
              <a:rPr lang="zh-CN" altLang="en-US" sz="2400" dirty="0">
                <a:solidFill>
                  <a:prstClr val="black"/>
                </a:solidFill>
                <a:latin typeface="Times New Roman"/>
                <a:ea typeface="黑体"/>
              </a:rPr>
              <a:t>数值越大、最大为</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，越黄则数值越小、最小为</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；当水果为圆形时，</a:t>
            </a:r>
            <a:r>
              <a:rPr lang="en-US" altLang="zh-CN" sz="2400" i="1" dirty="0">
                <a:solidFill>
                  <a:prstClr val="black"/>
                </a:solidFill>
                <a:latin typeface="Times New Roman"/>
                <a:ea typeface="黑体"/>
              </a:rPr>
              <a:t> x</a:t>
            </a:r>
            <a:r>
              <a:rPr lang="en-US" altLang="zh-CN" sz="2400" baseline="-25000" dirty="0">
                <a:solidFill>
                  <a:prstClr val="black"/>
                </a:solidFill>
                <a:latin typeface="Times New Roman"/>
                <a:ea typeface="黑体"/>
              </a:rPr>
              <a:t>2</a:t>
            </a:r>
            <a:r>
              <a:rPr lang="zh-CN" altLang="en-US" sz="2400" dirty="0">
                <a:solidFill>
                  <a:prstClr val="black"/>
                </a:solidFill>
                <a:latin typeface="Times New Roman"/>
                <a:ea typeface="黑体"/>
              </a:rPr>
              <a:t>数值越大、最大为</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，长条形数值小、最小为</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；含水分越多</a:t>
            </a:r>
            <a:r>
              <a:rPr lang="en-US" altLang="zh-CN" sz="2400" i="1" dirty="0">
                <a:solidFill>
                  <a:prstClr val="black"/>
                </a:solidFill>
                <a:latin typeface="Times New Roman"/>
                <a:ea typeface="黑体"/>
              </a:rPr>
              <a:t>x</a:t>
            </a:r>
            <a:r>
              <a:rPr lang="en-US" altLang="zh-CN" sz="2400" baseline="-25000" dirty="0">
                <a:solidFill>
                  <a:prstClr val="black"/>
                </a:solidFill>
                <a:latin typeface="Times New Roman"/>
                <a:ea typeface="黑体"/>
              </a:rPr>
              <a:t>3</a:t>
            </a:r>
            <a:r>
              <a:rPr lang="zh-CN" altLang="en-US" sz="2400" dirty="0">
                <a:solidFill>
                  <a:prstClr val="black"/>
                </a:solidFill>
                <a:latin typeface="Times New Roman"/>
                <a:ea typeface="黑体"/>
              </a:rPr>
              <a:t>数值越大、最大为</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，反之则数值越小、最小为</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a:t>
            </a:r>
          </a:p>
          <a:p>
            <a:pPr algn="just">
              <a:lnSpc>
                <a:spcPct val="130000"/>
              </a:lnSpc>
            </a:pPr>
            <a:r>
              <a:rPr lang="zh-CN" altLang="en-US" sz="2400" dirty="0">
                <a:solidFill>
                  <a:prstClr val="black"/>
                </a:solidFill>
                <a:latin typeface="Times New Roman"/>
                <a:ea typeface="黑体"/>
              </a:rPr>
              <a:t>      最终某一苹果和某一香蕉的特征值如下表所示，即越红、越圆、含水越多的更可能是苹果（用类别</a:t>
            </a:r>
            <a:r>
              <a:rPr lang="en-US" altLang="zh-CN" sz="2400" dirty="0">
                <a:solidFill>
                  <a:prstClr val="black"/>
                </a:solidFill>
                <a:latin typeface="Times New Roman"/>
                <a:ea typeface="黑体"/>
              </a:rPr>
              <a:t>1</a:t>
            </a:r>
            <a:r>
              <a:rPr lang="zh-CN" altLang="en-US" sz="2400" dirty="0">
                <a:solidFill>
                  <a:prstClr val="black"/>
                </a:solidFill>
                <a:latin typeface="Times New Roman"/>
                <a:ea typeface="黑体"/>
              </a:rPr>
              <a:t>表示），反之更可能是香蕉（用类别</a:t>
            </a:r>
            <a:r>
              <a:rPr lang="en-US" altLang="zh-CN" sz="2400" dirty="0">
                <a:solidFill>
                  <a:prstClr val="black"/>
                </a:solidFill>
                <a:latin typeface="Times New Roman"/>
                <a:ea typeface="黑体"/>
              </a:rPr>
              <a:t>0</a:t>
            </a:r>
            <a:r>
              <a:rPr lang="zh-CN" altLang="en-US" sz="2400" dirty="0">
                <a:solidFill>
                  <a:prstClr val="black"/>
                </a:solidFill>
                <a:latin typeface="Times New Roman"/>
                <a:ea typeface="黑体"/>
              </a:rPr>
              <a:t>表示）。</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7614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p>
        </p:txBody>
      </p:sp>
    </p:spTree>
    <p:extLst>
      <p:ext uri="{BB962C8B-B14F-4D97-AF65-F5344CB8AC3E}">
        <p14:creationId xmlns:p14="http://schemas.microsoft.com/office/powerpoint/2010/main" val="68193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25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xEl>
                                              <p:pRg st="1" end="1"/>
                                            </p:txEl>
                                          </p:spTgt>
                                        </p:tgtEl>
                                        <p:attrNameLst>
                                          <p:attrName>style.visibility</p:attrName>
                                        </p:attrNameLst>
                                      </p:cBhvr>
                                      <p:to>
                                        <p:strVal val="visible"/>
                                      </p:to>
                                    </p:set>
                                    <p:animEffect transition="in" filter="fade">
                                      <p:cBhvr>
                                        <p:cTn id="16" dur="500"/>
                                        <p:tgtEl>
                                          <p:spTgt spid="3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2" end="2"/>
                                            </p:txEl>
                                          </p:spTgt>
                                        </p:tgtEl>
                                        <p:attrNameLst>
                                          <p:attrName>style.visibility</p:attrName>
                                        </p:attrNameLst>
                                      </p:cBhvr>
                                      <p:to>
                                        <p:strVal val="visible"/>
                                      </p:to>
                                    </p:set>
                                    <p:animEffect transition="in" filter="fade">
                                      <p:cBhvr>
                                        <p:cTn id="21"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5620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977521"/>
            <a:ext cx="8066628" cy="1044710"/>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区分苹果和香蕉</a:t>
            </a:r>
            <a:endParaRPr lang="zh-CN" altLang="en-US" sz="2400" dirty="0">
              <a:solidFill>
                <a:prstClr val="black"/>
              </a:solidFill>
              <a:latin typeface="Times New Roman"/>
              <a:ea typeface="黑体"/>
            </a:endParaRPr>
          </a:p>
          <a:p>
            <a:pPr algn="just">
              <a:lnSpc>
                <a:spcPct val="130000"/>
              </a:lnSpc>
            </a:pPr>
            <a:r>
              <a:rPr lang="zh-CN" altLang="en-US" sz="2400" dirty="0">
                <a:solidFill>
                  <a:prstClr val="black"/>
                </a:solidFill>
                <a:latin typeface="Times New Roman"/>
                <a:ea typeface="黑体"/>
              </a:rPr>
              <a:t>     </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20662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p>
        </p:txBody>
      </p:sp>
      <p:pic>
        <p:nvPicPr>
          <p:cNvPr id="6" name="图片 5">
            <a:extLst>
              <a:ext uri="{FF2B5EF4-FFF2-40B4-BE49-F238E27FC236}">
                <a16:creationId xmlns:a16="http://schemas.microsoft.com/office/drawing/2014/main" id="{75059687-21F0-FB8F-AC95-55596F5FC7F9}"/>
              </a:ext>
            </a:extLst>
          </p:cNvPr>
          <p:cNvPicPr>
            <a:picLocks noChangeAspect="1"/>
          </p:cNvPicPr>
          <p:nvPr>
            <p:custDataLst>
              <p:tags r:id="rId1"/>
            </p:custDataLst>
          </p:nvPr>
        </p:nvPicPr>
        <p:blipFill rotWithShape="1">
          <a:blip r:embed="rId3"/>
          <a:srcRect t="7431"/>
          <a:stretch/>
        </p:blipFill>
        <p:spPr>
          <a:xfrm>
            <a:off x="696425" y="2544142"/>
            <a:ext cx="7498054" cy="3480737"/>
          </a:xfrm>
          <a:prstGeom prst="rect">
            <a:avLst/>
          </a:prstGeom>
        </p:spPr>
      </p:pic>
    </p:spTree>
    <p:extLst>
      <p:ext uri="{BB962C8B-B14F-4D97-AF65-F5344CB8AC3E}">
        <p14:creationId xmlns:p14="http://schemas.microsoft.com/office/powerpoint/2010/main" val="395794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1556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936881"/>
            <a:ext cx="8066628" cy="4610558"/>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800" dirty="0">
                <a:solidFill>
                  <a:srgbClr val="FF0000"/>
                </a:solidFill>
                <a:latin typeface="Times New Roman"/>
                <a:ea typeface="黑体"/>
              </a:rPr>
              <a:t>区分苹果和香蕉</a:t>
            </a:r>
            <a:endParaRPr lang="zh-CN" altLang="en-US" sz="2400" dirty="0">
              <a:solidFill>
                <a:prstClr val="black"/>
              </a:solidFill>
              <a:latin typeface="Times New Roman"/>
              <a:ea typeface="黑体"/>
            </a:endParaRPr>
          </a:p>
          <a:p>
            <a:pPr marL="342882" indent="-342882" algn="just">
              <a:lnSpc>
                <a:spcPct val="130000"/>
              </a:lnSpc>
              <a:buFont typeface="Arial" panose="020B0604020202020204" pitchFamily="34" charset="0"/>
              <a:buChar char="•"/>
            </a:pPr>
            <a:r>
              <a:rPr lang="zh-CN" altLang="en-US" sz="2000" dirty="0">
                <a:solidFill>
                  <a:prstClr val="black"/>
                </a:solidFill>
                <a:latin typeface="Times New Roman"/>
                <a:ea typeface="黑体"/>
              </a:rPr>
              <a:t>建立一个简单的感知机模型</a:t>
            </a:r>
            <a:r>
              <a:rPr lang="en-US" altLang="zh-CN" sz="2000" i="1" dirty="0">
                <a:solidFill>
                  <a:prstClr val="black"/>
                </a:solidFill>
                <a:latin typeface="Times New Roman"/>
                <a:ea typeface="黑体"/>
              </a:rPr>
              <a:t>y</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f</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1</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1</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2</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2</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3</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3</a:t>
            </a:r>
            <a:r>
              <a:rPr lang="en-US" altLang="zh-CN" sz="2000" dirty="0">
                <a:solidFill>
                  <a:prstClr val="black"/>
                </a:solidFill>
                <a:latin typeface="Times New Roman"/>
                <a:ea typeface="黑体"/>
              </a:rPr>
              <a:t>)</a:t>
            </a:r>
            <a:r>
              <a:rPr lang="zh-CN" altLang="en-US" sz="2000" dirty="0">
                <a:solidFill>
                  <a:prstClr val="black"/>
                </a:solidFill>
                <a:latin typeface="Times New Roman"/>
                <a:ea typeface="黑体"/>
              </a:rPr>
              <a:t>，即存在三个输入和一个输出（设置偏置</a:t>
            </a:r>
            <a:r>
              <a:rPr lang="en-US" altLang="zh-CN" sz="2000" i="1" dirty="0">
                <a:solidFill>
                  <a:prstClr val="black"/>
                </a:solidFill>
                <a:latin typeface="Times New Roman"/>
                <a:ea typeface="黑体"/>
              </a:rPr>
              <a:t>b</a:t>
            </a:r>
            <a:r>
              <a:rPr lang="zh-CN" altLang="en-US" sz="2000" dirty="0">
                <a:solidFill>
                  <a:prstClr val="black"/>
                </a:solidFill>
                <a:latin typeface="Times New Roman"/>
                <a:ea typeface="黑体"/>
              </a:rPr>
              <a:t>为</a:t>
            </a:r>
            <a:r>
              <a:rPr lang="en-US" altLang="zh-CN" sz="2000" dirty="0">
                <a:solidFill>
                  <a:prstClr val="black"/>
                </a:solidFill>
                <a:latin typeface="Times New Roman"/>
                <a:ea typeface="黑体"/>
              </a:rPr>
              <a:t>0</a:t>
            </a:r>
            <a:r>
              <a:rPr lang="zh-CN" altLang="en-US" sz="2000" dirty="0">
                <a:solidFill>
                  <a:prstClr val="black"/>
                </a:solidFill>
                <a:latin typeface="Times New Roman"/>
                <a:ea typeface="黑体"/>
              </a:rPr>
              <a:t>，因此该模型中需训练的权值参数为：</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1</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2</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3</a:t>
            </a:r>
            <a:r>
              <a:rPr lang="zh-CN" altLang="en-US" sz="2000" dirty="0">
                <a:solidFill>
                  <a:prstClr val="black"/>
                </a:solidFill>
                <a:latin typeface="Times New Roman"/>
                <a:ea typeface="黑体"/>
              </a:rPr>
              <a:t>，使用简单阶跃函数为感知机的激活函数）。</a:t>
            </a:r>
          </a:p>
          <a:p>
            <a:pPr marL="342882" indent="-342882" algn="just">
              <a:lnSpc>
                <a:spcPct val="130000"/>
              </a:lnSpc>
              <a:buFont typeface="Arial" panose="020B0604020202020204" pitchFamily="34" charset="0"/>
              <a:buChar char="•"/>
            </a:pPr>
            <a:r>
              <a:rPr lang="zh-CN" altLang="en-US" sz="2000" dirty="0">
                <a:solidFill>
                  <a:prstClr val="black"/>
                </a:solidFill>
                <a:latin typeface="Times New Roman"/>
                <a:ea typeface="黑体"/>
              </a:rPr>
              <a:t>通过一定训练，网络的权值分别为</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1</a:t>
            </a:r>
            <a:r>
              <a:rPr lang="en-US" altLang="zh-CN" sz="2000" dirty="0">
                <a:solidFill>
                  <a:prstClr val="black"/>
                </a:solidFill>
                <a:latin typeface="Times New Roman"/>
                <a:ea typeface="黑体"/>
              </a:rPr>
              <a:t>=1</a:t>
            </a:r>
            <a:r>
              <a:rPr lang="zh-CN" altLang="en-US"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2</a:t>
            </a:r>
            <a:r>
              <a:rPr lang="en-US" altLang="zh-CN" sz="2000" dirty="0">
                <a:solidFill>
                  <a:prstClr val="black"/>
                </a:solidFill>
                <a:latin typeface="Times New Roman"/>
                <a:ea typeface="黑体"/>
              </a:rPr>
              <a:t>=1</a:t>
            </a:r>
            <a:r>
              <a:rPr lang="zh-CN" altLang="en-US"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3</a:t>
            </a:r>
            <a:r>
              <a:rPr lang="en-US" altLang="zh-CN" sz="2000" dirty="0">
                <a:solidFill>
                  <a:prstClr val="black"/>
                </a:solidFill>
                <a:latin typeface="Times New Roman"/>
                <a:ea typeface="黑体"/>
              </a:rPr>
              <a:t>=1</a:t>
            </a:r>
            <a:r>
              <a:rPr lang="zh-CN" altLang="en-US" sz="2000" dirty="0">
                <a:solidFill>
                  <a:prstClr val="black"/>
                </a:solidFill>
                <a:latin typeface="Times New Roman"/>
                <a:ea typeface="黑体"/>
              </a:rPr>
              <a:t>（这个数据不唯一，可以通过训练得到）：</a:t>
            </a:r>
          </a:p>
          <a:p>
            <a:pPr marL="342882" indent="-342882" algn="just">
              <a:lnSpc>
                <a:spcPct val="130000"/>
              </a:lnSpc>
              <a:buFont typeface="Arial" panose="020B0604020202020204" pitchFamily="34" charset="0"/>
              <a:buChar char="•"/>
            </a:pPr>
            <a:r>
              <a:rPr lang="zh-CN" altLang="en-US" sz="2000" dirty="0">
                <a:solidFill>
                  <a:prstClr val="black"/>
                </a:solidFill>
                <a:latin typeface="Times New Roman"/>
                <a:ea typeface="黑体"/>
              </a:rPr>
              <a:t>当输入</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1</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 x</a:t>
            </a:r>
            <a:r>
              <a:rPr lang="en-US" altLang="zh-CN" sz="2000" baseline="-25000" dirty="0">
                <a:solidFill>
                  <a:prstClr val="black"/>
                </a:solidFill>
                <a:latin typeface="Times New Roman"/>
                <a:ea typeface="黑体"/>
              </a:rPr>
              <a:t>2</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 x</a:t>
            </a:r>
            <a:r>
              <a:rPr lang="en-US" altLang="zh-CN" sz="2000" baseline="-25000" dirty="0">
                <a:solidFill>
                  <a:prstClr val="black"/>
                </a:solidFill>
                <a:latin typeface="Times New Roman"/>
                <a:ea typeface="黑体"/>
              </a:rPr>
              <a:t>3</a:t>
            </a:r>
            <a:r>
              <a:rPr lang="zh-CN" altLang="en-US" sz="2000" dirty="0">
                <a:solidFill>
                  <a:prstClr val="black"/>
                </a:solidFill>
                <a:latin typeface="Times New Roman"/>
                <a:ea typeface="黑体"/>
              </a:rPr>
              <a:t>分别为</a:t>
            </a:r>
            <a:r>
              <a:rPr lang="en-US" altLang="zh-CN" sz="2000" dirty="0">
                <a:solidFill>
                  <a:prstClr val="black"/>
                </a:solidFill>
                <a:latin typeface="Times New Roman"/>
                <a:ea typeface="黑体"/>
              </a:rPr>
              <a:t>1,1,1</a:t>
            </a:r>
            <a:r>
              <a:rPr lang="zh-CN" altLang="en-US" sz="2000" dirty="0">
                <a:solidFill>
                  <a:prstClr val="black"/>
                </a:solidFill>
                <a:latin typeface="Times New Roman"/>
                <a:ea typeface="黑体"/>
              </a:rPr>
              <a:t>时：</a:t>
            </a:r>
          </a:p>
          <a:p>
            <a:pPr marL="342882" indent="-342882" algn="just">
              <a:lnSpc>
                <a:spcPct val="130000"/>
              </a:lnSpc>
              <a:buFont typeface="Arial" panose="020B0604020202020204" pitchFamily="34" charset="0"/>
              <a:buChar char="•"/>
            </a:pPr>
            <a:r>
              <a:rPr lang="en-US" altLang="zh-CN" sz="2000" i="1" dirty="0">
                <a:solidFill>
                  <a:prstClr val="black"/>
                </a:solidFill>
                <a:latin typeface="Times New Roman"/>
                <a:ea typeface="黑体"/>
              </a:rPr>
              <a:t>y</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f</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1</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1</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2</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2</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3</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3</a:t>
            </a:r>
            <a:r>
              <a:rPr lang="en-US" altLang="zh-CN" sz="2000" dirty="0">
                <a:solidFill>
                  <a:prstClr val="black"/>
                </a:solidFill>
                <a:latin typeface="Times New Roman"/>
                <a:ea typeface="黑体"/>
              </a:rPr>
              <a:t>+b)=</a:t>
            </a:r>
            <a:r>
              <a:rPr lang="en-US" altLang="zh-CN" sz="2000" i="1" dirty="0">
                <a:solidFill>
                  <a:prstClr val="black"/>
                </a:solidFill>
                <a:latin typeface="Times New Roman"/>
                <a:ea typeface="黑体"/>
              </a:rPr>
              <a:t>f</a:t>
            </a:r>
            <a:r>
              <a:rPr lang="en-US" altLang="zh-CN" sz="2000" dirty="0">
                <a:solidFill>
                  <a:prstClr val="black"/>
                </a:solidFill>
                <a:latin typeface="Times New Roman"/>
                <a:ea typeface="黑体"/>
              </a:rPr>
              <a:t>(1*1+1*1+1*1)=</a:t>
            </a:r>
            <a:r>
              <a:rPr lang="en-US" altLang="zh-CN" sz="2000" i="1" dirty="0">
                <a:solidFill>
                  <a:prstClr val="black"/>
                </a:solidFill>
                <a:latin typeface="Times New Roman"/>
                <a:ea typeface="黑体"/>
              </a:rPr>
              <a:t>f</a:t>
            </a:r>
            <a:r>
              <a:rPr lang="en-US" altLang="zh-CN" sz="2000" dirty="0">
                <a:solidFill>
                  <a:prstClr val="black"/>
                </a:solidFill>
                <a:latin typeface="Times New Roman"/>
                <a:ea typeface="黑体"/>
              </a:rPr>
              <a:t>(3)=1</a:t>
            </a:r>
            <a:r>
              <a:rPr lang="zh-CN" altLang="en-US" sz="2000" dirty="0">
                <a:solidFill>
                  <a:prstClr val="black"/>
                </a:solidFill>
                <a:latin typeface="Times New Roman"/>
                <a:ea typeface="黑体"/>
              </a:rPr>
              <a:t>，输出为</a:t>
            </a:r>
            <a:r>
              <a:rPr lang="en-US" altLang="zh-CN" sz="2000" dirty="0">
                <a:solidFill>
                  <a:prstClr val="black"/>
                </a:solidFill>
                <a:latin typeface="Times New Roman"/>
                <a:ea typeface="黑体"/>
              </a:rPr>
              <a:t>1</a:t>
            </a:r>
            <a:r>
              <a:rPr lang="zh-CN" altLang="en-US" sz="2000" dirty="0">
                <a:solidFill>
                  <a:prstClr val="black"/>
                </a:solidFill>
                <a:latin typeface="Times New Roman"/>
                <a:ea typeface="黑体"/>
              </a:rPr>
              <a:t>；</a:t>
            </a:r>
          </a:p>
          <a:p>
            <a:pPr marL="342882" indent="-342882" algn="just">
              <a:lnSpc>
                <a:spcPct val="130000"/>
              </a:lnSpc>
              <a:buFont typeface="Arial" panose="020B0604020202020204" pitchFamily="34" charset="0"/>
              <a:buChar char="•"/>
            </a:pPr>
            <a:r>
              <a:rPr lang="zh-CN" altLang="en-US" sz="2000" dirty="0">
                <a:solidFill>
                  <a:prstClr val="black"/>
                </a:solidFill>
                <a:latin typeface="Times New Roman"/>
                <a:ea typeface="黑体"/>
              </a:rPr>
              <a:t>当输入</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1</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 x</a:t>
            </a:r>
            <a:r>
              <a:rPr lang="en-US" altLang="zh-CN" sz="2000" baseline="-25000" dirty="0">
                <a:solidFill>
                  <a:prstClr val="black"/>
                </a:solidFill>
                <a:latin typeface="Times New Roman"/>
                <a:ea typeface="黑体"/>
              </a:rPr>
              <a:t>2</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 x</a:t>
            </a:r>
            <a:r>
              <a:rPr lang="en-US" altLang="zh-CN" sz="2000" baseline="-25000" dirty="0">
                <a:solidFill>
                  <a:prstClr val="black"/>
                </a:solidFill>
                <a:latin typeface="Times New Roman"/>
                <a:ea typeface="黑体"/>
              </a:rPr>
              <a:t>3</a:t>
            </a:r>
            <a:r>
              <a:rPr lang="zh-CN" altLang="en-US" sz="2000" dirty="0">
                <a:solidFill>
                  <a:prstClr val="black"/>
                </a:solidFill>
                <a:latin typeface="Times New Roman"/>
                <a:ea typeface="黑体"/>
              </a:rPr>
              <a:t>分别为</a:t>
            </a:r>
            <a:r>
              <a:rPr lang="en-US" altLang="zh-CN" sz="2000" dirty="0">
                <a:solidFill>
                  <a:prstClr val="black"/>
                </a:solidFill>
                <a:latin typeface="Times New Roman"/>
                <a:ea typeface="黑体"/>
              </a:rPr>
              <a:t>-1,-1,-1</a:t>
            </a:r>
            <a:r>
              <a:rPr lang="zh-CN" altLang="en-US" sz="2000" dirty="0">
                <a:solidFill>
                  <a:prstClr val="black"/>
                </a:solidFill>
                <a:latin typeface="Times New Roman"/>
                <a:ea typeface="黑体"/>
              </a:rPr>
              <a:t>：</a:t>
            </a:r>
          </a:p>
          <a:p>
            <a:pPr marL="342882" indent="-342882" algn="just">
              <a:lnSpc>
                <a:spcPct val="130000"/>
              </a:lnSpc>
              <a:buFont typeface="Arial" panose="020B0604020202020204" pitchFamily="34" charset="0"/>
              <a:buChar char="•"/>
            </a:pPr>
            <a:r>
              <a:rPr lang="en-US" altLang="zh-CN" sz="2000" i="1" dirty="0">
                <a:solidFill>
                  <a:prstClr val="black"/>
                </a:solidFill>
                <a:latin typeface="Times New Roman"/>
                <a:ea typeface="黑体"/>
              </a:rPr>
              <a:t>y</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f</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1</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1</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2</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2</a:t>
            </a:r>
            <a:r>
              <a:rPr lang="en-US" altLang="zh-CN" sz="2000" dirty="0">
                <a:solidFill>
                  <a:prstClr val="black"/>
                </a:solidFill>
                <a:latin typeface="Times New Roman"/>
                <a:ea typeface="黑体"/>
              </a:rPr>
              <a:t>+</a:t>
            </a:r>
            <a:r>
              <a:rPr lang="en-US" altLang="zh-CN" sz="2000" i="1" dirty="0">
                <a:solidFill>
                  <a:prstClr val="black"/>
                </a:solidFill>
                <a:latin typeface="Times New Roman"/>
                <a:ea typeface="黑体"/>
              </a:rPr>
              <a:t>w</a:t>
            </a:r>
            <a:r>
              <a:rPr lang="en-US" altLang="zh-CN" sz="2000" baseline="-25000" dirty="0">
                <a:solidFill>
                  <a:prstClr val="black"/>
                </a:solidFill>
                <a:latin typeface="Times New Roman"/>
                <a:ea typeface="黑体"/>
              </a:rPr>
              <a:t>3</a:t>
            </a:r>
            <a:r>
              <a:rPr lang="en-US" altLang="zh-CN" sz="2000" i="1" dirty="0">
                <a:solidFill>
                  <a:prstClr val="black"/>
                </a:solidFill>
                <a:latin typeface="Times New Roman"/>
                <a:ea typeface="黑体"/>
              </a:rPr>
              <a:t>x</a:t>
            </a:r>
            <a:r>
              <a:rPr lang="en-US" altLang="zh-CN" sz="2000" baseline="-25000" dirty="0">
                <a:solidFill>
                  <a:prstClr val="black"/>
                </a:solidFill>
                <a:latin typeface="Times New Roman"/>
                <a:ea typeface="黑体"/>
              </a:rPr>
              <a:t>3</a:t>
            </a:r>
            <a:r>
              <a:rPr lang="en-US" altLang="zh-CN" sz="2000" dirty="0">
                <a:solidFill>
                  <a:prstClr val="black"/>
                </a:solidFill>
                <a:latin typeface="Times New Roman"/>
                <a:ea typeface="黑体"/>
              </a:rPr>
              <a:t>+b =</a:t>
            </a:r>
            <a:r>
              <a:rPr lang="en-US" altLang="zh-CN" sz="2000" i="1" dirty="0">
                <a:solidFill>
                  <a:prstClr val="black"/>
                </a:solidFill>
                <a:latin typeface="Times New Roman"/>
                <a:ea typeface="黑体"/>
              </a:rPr>
              <a:t>f</a:t>
            </a:r>
            <a:r>
              <a:rPr lang="en-US" altLang="zh-CN" sz="2000" dirty="0">
                <a:solidFill>
                  <a:prstClr val="black"/>
                </a:solidFill>
                <a:latin typeface="Times New Roman"/>
                <a:ea typeface="黑体"/>
              </a:rPr>
              <a:t>(1*-1+1*-1+1*-1)=</a:t>
            </a:r>
            <a:r>
              <a:rPr lang="en-US" altLang="zh-CN" sz="2000" i="1" dirty="0">
                <a:solidFill>
                  <a:prstClr val="black"/>
                </a:solidFill>
                <a:latin typeface="Times New Roman"/>
                <a:ea typeface="黑体"/>
              </a:rPr>
              <a:t>f</a:t>
            </a:r>
            <a:r>
              <a:rPr lang="en-US" altLang="zh-CN" sz="2000" dirty="0">
                <a:solidFill>
                  <a:prstClr val="black"/>
                </a:solidFill>
                <a:latin typeface="Times New Roman"/>
                <a:ea typeface="黑体"/>
              </a:rPr>
              <a:t>(-3)=0</a:t>
            </a:r>
            <a:r>
              <a:rPr lang="zh-CN" altLang="en-US" sz="2000" dirty="0">
                <a:solidFill>
                  <a:prstClr val="black"/>
                </a:solidFill>
                <a:latin typeface="Times New Roman"/>
                <a:ea typeface="黑体"/>
              </a:rPr>
              <a:t>，输出为</a:t>
            </a:r>
            <a:r>
              <a:rPr lang="en-US" altLang="zh-CN" sz="2000" dirty="0">
                <a:solidFill>
                  <a:prstClr val="black"/>
                </a:solidFill>
                <a:latin typeface="Times New Roman"/>
                <a:ea typeface="黑体"/>
              </a:rPr>
              <a:t>0</a:t>
            </a:r>
            <a:r>
              <a:rPr lang="zh-CN" altLang="en-US" sz="2000" dirty="0">
                <a:solidFill>
                  <a:prstClr val="black"/>
                </a:solidFill>
                <a:latin typeface="Times New Roman"/>
                <a:ea typeface="黑体"/>
              </a:rPr>
              <a:t>；</a:t>
            </a:r>
          </a:p>
          <a:p>
            <a:pPr marL="342882" indent="-342882" algn="just">
              <a:lnSpc>
                <a:spcPct val="130000"/>
              </a:lnSpc>
              <a:buFont typeface="Arial" panose="020B0604020202020204" pitchFamily="34" charset="0"/>
              <a:buChar char="•"/>
            </a:pPr>
            <a:r>
              <a:rPr lang="zh-CN" altLang="en-US" sz="2000" dirty="0">
                <a:solidFill>
                  <a:prstClr val="black"/>
                </a:solidFill>
                <a:latin typeface="Times New Roman"/>
                <a:ea typeface="黑体"/>
              </a:rPr>
              <a:t>根据感知机不同的输出，实现了对该样本中苹果和香蕉的分类。</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6598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p>
        </p:txBody>
      </p:sp>
    </p:spTree>
    <p:extLst>
      <p:ext uri="{BB962C8B-B14F-4D97-AF65-F5344CB8AC3E}">
        <p14:creationId xmlns:p14="http://schemas.microsoft.com/office/powerpoint/2010/main" val="164986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750"/>
                                        <p:tgtEl>
                                          <p:spTgt spid="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5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3" end="3"/>
                                            </p:txEl>
                                          </p:spTgt>
                                        </p:tgtEl>
                                        <p:attrNameLst>
                                          <p:attrName>style.visibility</p:attrName>
                                        </p:attrNameLst>
                                      </p:cBhvr>
                                      <p:to>
                                        <p:strVal val="visible"/>
                                      </p:to>
                                    </p:set>
                                    <p:animEffect transition="in" filter="fade">
                                      <p:cBhvr>
                                        <p:cTn id="17" dur="500"/>
                                        <p:tgtEl>
                                          <p:spTgt spid="3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4" end="4"/>
                                            </p:txEl>
                                          </p:spTgt>
                                        </p:tgtEl>
                                        <p:attrNameLst>
                                          <p:attrName>style.visibility</p:attrName>
                                        </p:attrNameLst>
                                      </p:cBhvr>
                                      <p:to>
                                        <p:strVal val="visible"/>
                                      </p:to>
                                    </p:set>
                                    <p:animEffect transition="in" filter="fade">
                                      <p:cBhvr>
                                        <p:cTn id="22" dur="500"/>
                                        <p:tgtEl>
                                          <p:spTgt spid="3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pRg st="5" end="5"/>
                                            </p:txEl>
                                          </p:spTgt>
                                        </p:tgtEl>
                                        <p:attrNameLst>
                                          <p:attrName>style.visibility</p:attrName>
                                        </p:attrNameLst>
                                      </p:cBhvr>
                                      <p:to>
                                        <p:strVal val="visible"/>
                                      </p:to>
                                    </p:set>
                                    <p:animEffect transition="in" filter="fade">
                                      <p:cBhvr>
                                        <p:cTn id="27" dur="500"/>
                                        <p:tgtEl>
                                          <p:spTgt spid="3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xEl>
                                              <p:pRg st="6" end="6"/>
                                            </p:txEl>
                                          </p:spTgt>
                                        </p:tgtEl>
                                        <p:attrNameLst>
                                          <p:attrName>style.visibility</p:attrName>
                                        </p:attrNameLst>
                                      </p:cBhvr>
                                      <p:to>
                                        <p:strVal val="visible"/>
                                      </p:to>
                                    </p:set>
                                    <p:animEffect transition="in" filter="fade">
                                      <p:cBhvr>
                                        <p:cTn id="32" dur="500"/>
                                        <p:tgtEl>
                                          <p:spTgt spid="3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xEl>
                                              <p:pRg st="7" end="7"/>
                                            </p:txEl>
                                          </p:spTgt>
                                        </p:tgtEl>
                                        <p:attrNameLst>
                                          <p:attrName>style.visibility</p:attrName>
                                        </p:attrNameLst>
                                      </p:cBhvr>
                                      <p:to>
                                        <p:strVal val="visible"/>
                                      </p:to>
                                    </p:set>
                                    <p:animEffect transition="in" filter="fade">
                                      <p:cBhvr>
                                        <p:cTn id="37" dur="500"/>
                                        <p:tgtEl>
                                          <p:spTgt spid="3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89">
            <a:extLst>
              <a:ext uri="{FF2B5EF4-FFF2-40B4-BE49-F238E27FC236}">
                <a16:creationId xmlns:a16="http://schemas.microsoft.com/office/drawing/2014/main" id="{D2578675-F2FF-F5BF-4BCA-48352188AEB8}"/>
              </a:ext>
            </a:extLst>
          </p:cNvPr>
          <p:cNvPicPr>
            <a:picLocks noChangeAspect="1"/>
          </p:cNvPicPr>
          <p:nvPr/>
        </p:nvPicPr>
        <p:blipFill>
          <a:blip r:embed="rId2"/>
          <a:stretch>
            <a:fillRect/>
          </a:stretch>
        </p:blipFill>
        <p:spPr>
          <a:xfrm>
            <a:off x="3386987" y="1883842"/>
            <a:ext cx="5765135" cy="3566795"/>
          </a:xfrm>
          <a:prstGeom prst="rect">
            <a:avLst/>
          </a:prstGeom>
          <a:noFill/>
          <a:ln>
            <a:noFill/>
          </a:ln>
        </p:spPr>
      </p:pic>
      <p:sp>
        <p:nvSpPr>
          <p:cNvPr id="8" name="标题 1"/>
          <p:cNvSpPr>
            <a:spLocks noGrp="1"/>
          </p:cNvSpPr>
          <p:nvPr>
            <p:ph type="title"/>
          </p:nvPr>
        </p:nvSpPr>
        <p:spPr>
          <a:xfrm>
            <a:off x="392315" y="42572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8" y="1947043"/>
            <a:ext cx="3044803" cy="4441922"/>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800" dirty="0">
                <a:solidFill>
                  <a:srgbClr val="FF0000"/>
                </a:solidFill>
                <a:latin typeface="Times New Roman"/>
                <a:ea typeface="黑体"/>
              </a:rPr>
              <a:t>区分苹果和香蕉</a:t>
            </a:r>
            <a:endParaRPr lang="zh-CN" altLang="en-US" sz="2400" dirty="0">
              <a:solidFill>
                <a:prstClr val="black"/>
              </a:solidFill>
              <a:latin typeface="Times New Roman"/>
              <a:ea typeface="黑体"/>
            </a:endParaRPr>
          </a:p>
          <a:p>
            <a:pPr algn="just">
              <a:lnSpc>
                <a:spcPct val="130000"/>
              </a:lnSpc>
            </a:pPr>
            <a:r>
              <a:rPr lang="zh-CN" altLang="en-US" sz="2000" dirty="0">
                <a:solidFill>
                  <a:prstClr val="black"/>
                </a:solidFill>
                <a:latin typeface="Times New Roman"/>
                <a:ea typeface="黑体"/>
              </a:rPr>
              <a:t>     </a:t>
            </a:r>
            <a:r>
              <a:rPr lang="zh-CN" altLang="en-US" sz="2400" dirty="0">
                <a:solidFill>
                  <a:prstClr val="black"/>
                </a:solidFill>
                <a:latin typeface="Times New Roman"/>
                <a:ea typeface="黑体"/>
              </a:rPr>
              <a:t>在三维图中可以清楚地看出这两点被一平面分隔开，即感知机明确的区分开苹果和香蕉。通过颜色、形状、含水率的特征，样本被分类为苹果或香蕉。 </a:t>
            </a:r>
            <a:endParaRPr lang="zh-CN" altLang="en-US" sz="2000" dirty="0">
              <a:solidFill>
                <a:prstClr val="black"/>
              </a:solidFill>
              <a:latin typeface="Times New Roman"/>
              <a:ea typeface="黑体"/>
            </a:endParaRP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7614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p>
        </p:txBody>
      </p:sp>
    </p:spTree>
    <p:extLst>
      <p:ext uri="{BB962C8B-B14F-4D97-AF65-F5344CB8AC3E}">
        <p14:creationId xmlns:p14="http://schemas.microsoft.com/office/powerpoint/2010/main" val="301759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750"/>
                                        <p:tgtEl>
                                          <p:spTgt spid="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89">
            <a:extLst>
              <a:ext uri="{FF2B5EF4-FFF2-40B4-BE49-F238E27FC236}">
                <a16:creationId xmlns:a16="http://schemas.microsoft.com/office/drawing/2014/main" id="{D2578675-F2FF-F5BF-4BCA-48352188AEB8}"/>
              </a:ext>
            </a:extLst>
          </p:cNvPr>
          <p:cNvPicPr>
            <a:picLocks noChangeAspect="1"/>
          </p:cNvPicPr>
          <p:nvPr/>
        </p:nvPicPr>
        <p:blipFill>
          <a:blip r:embed="rId2"/>
          <a:stretch>
            <a:fillRect/>
          </a:stretch>
        </p:blipFill>
        <p:spPr>
          <a:xfrm>
            <a:off x="4716128" y="1275935"/>
            <a:ext cx="4427877" cy="2739455"/>
          </a:xfrm>
          <a:prstGeom prst="rect">
            <a:avLst/>
          </a:prstGeom>
          <a:noFill/>
          <a:ln>
            <a:noFill/>
          </a:ln>
        </p:spPr>
      </p:pic>
      <p:sp>
        <p:nvSpPr>
          <p:cNvPr id="8" name="标题 1"/>
          <p:cNvSpPr>
            <a:spLocks noGrp="1"/>
          </p:cNvSpPr>
          <p:nvPr>
            <p:ph type="title"/>
          </p:nvPr>
        </p:nvSpPr>
        <p:spPr>
          <a:xfrm>
            <a:off x="392315" y="44604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967362"/>
            <a:ext cx="7985512" cy="4237570"/>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800" dirty="0">
                <a:solidFill>
                  <a:srgbClr val="FF0000"/>
                </a:solidFill>
                <a:latin typeface="Times New Roman"/>
                <a:ea typeface="黑体"/>
              </a:rPr>
              <a:t>区分苹果和香蕉</a:t>
            </a:r>
            <a:endParaRPr lang="zh-CN" altLang="en-US" sz="2400" dirty="0">
              <a:solidFill>
                <a:prstClr val="black"/>
              </a:solidFill>
              <a:latin typeface="Times New Roman"/>
              <a:ea typeface="黑体"/>
            </a:endParaRPr>
          </a:p>
          <a:p>
            <a:pPr algn="just">
              <a:lnSpc>
                <a:spcPct val="130000"/>
              </a:lnSpc>
            </a:pPr>
            <a:r>
              <a:rPr lang="zh-CN" altLang="en-US" sz="2600" dirty="0">
                <a:solidFill>
                  <a:prstClr val="black"/>
                </a:solidFill>
                <a:latin typeface="Times New Roman"/>
                <a:ea typeface="黑体"/>
              </a:rPr>
              <a:t>    由于香蕉和苹果的本质</a:t>
            </a:r>
            <a:endParaRPr lang="en-US" altLang="zh-CN" sz="2600" dirty="0">
              <a:solidFill>
                <a:prstClr val="black"/>
              </a:solidFill>
              <a:latin typeface="Times New Roman"/>
              <a:ea typeface="黑体"/>
            </a:endParaRPr>
          </a:p>
          <a:p>
            <a:pPr algn="just">
              <a:lnSpc>
                <a:spcPct val="130000"/>
              </a:lnSpc>
            </a:pPr>
            <a:r>
              <a:rPr lang="zh-CN" altLang="en-US" sz="2600" dirty="0">
                <a:solidFill>
                  <a:prstClr val="black"/>
                </a:solidFill>
                <a:latin typeface="Times New Roman"/>
                <a:ea typeface="黑体"/>
              </a:rPr>
              <a:t>不同，相应的特征值会有</a:t>
            </a:r>
            <a:endParaRPr lang="en-US" altLang="zh-CN" sz="2600" dirty="0">
              <a:solidFill>
                <a:prstClr val="black"/>
              </a:solidFill>
              <a:latin typeface="Times New Roman"/>
              <a:ea typeface="黑体"/>
            </a:endParaRPr>
          </a:p>
          <a:p>
            <a:pPr algn="just">
              <a:lnSpc>
                <a:spcPct val="130000"/>
              </a:lnSpc>
            </a:pPr>
            <a:r>
              <a:rPr lang="zh-CN" altLang="en-US" sz="2600" dirty="0">
                <a:solidFill>
                  <a:prstClr val="black"/>
                </a:solidFill>
                <a:latin typeface="Times New Roman"/>
                <a:ea typeface="黑体"/>
              </a:rPr>
              <a:t>所差距，相同品种的数据</a:t>
            </a:r>
            <a:endParaRPr lang="en-US" altLang="zh-CN" sz="2600" dirty="0">
              <a:solidFill>
                <a:prstClr val="black"/>
              </a:solidFill>
              <a:latin typeface="Times New Roman"/>
              <a:ea typeface="黑体"/>
            </a:endParaRPr>
          </a:p>
          <a:p>
            <a:pPr algn="just">
              <a:lnSpc>
                <a:spcPct val="130000"/>
              </a:lnSpc>
            </a:pPr>
            <a:r>
              <a:rPr lang="zh-CN" altLang="en-US" sz="2600" dirty="0">
                <a:solidFill>
                  <a:prstClr val="black"/>
                </a:solidFill>
                <a:latin typeface="Times New Roman"/>
                <a:ea typeface="黑体"/>
              </a:rPr>
              <a:t>会趋于聚集，而不同品种的数据差距会相对大些，最终通过这些特征可以实现了两者的分类。当用更多的苹果和香蕉的实际数据来训练感知机时，随着不断学习，这个平面将发生一定的变化，分类也会更加精确。</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9646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感知机分类案例</a:t>
            </a:r>
          </a:p>
        </p:txBody>
      </p:sp>
    </p:spTree>
    <p:extLst>
      <p:ext uri="{BB962C8B-B14F-4D97-AF65-F5344CB8AC3E}">
        <p14:creationId xmlns:p14="http://schemas.microsoft.com/office/powerpoint/2010/main" val="338732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750"/>
                                        <p:tgtEl>
                                          <p:spTgt spid="32">
                                            <p:txEl>
                                              <p:pRg st="1" end="1"/>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2" end="2"/>
                                            </p:txEl>
                                          </p:spTgt>
                                        </p:tgtEl>
                                        <p:attrNameLst>
                                          <p:attrName>style.visibility</p:attrName>
                                        </p:attrNameLst>
                                      </p:cBhvr>
                                      <p:to>
                                        <p:strVal val="visible"/>
                                      </p:to>
                                    </p:set>
                                    <p:animEffect transition="in" filter="fade">
                                      <p:cBhvr>
                                        <p:cTn id="10" dur="750"/>
                                        <p:tgtEl>
                                          <p:spTgt spid="32">
                                            <p:txEl>
                                              <p:pRg st="2" end="2"/>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32">
                                            <p:txEl>
                                              <p:pRg st="3" end="3"/>
                                            </p:txEl>
                                          </p:spTgt>
                                        </p:tgtEl>
                                        <p:attrNameLst>
                                          <p:attrName>style.visibility</p:attrName>
                                        </p:attrNameLst>
                                      </p:cBhvr>
                                      <p:to>
                                        <p:strVal val="visible"/>
                                      </p:to>
                                    </p:set>
                                    <p:animEffect transition="in" filter="fade">
                                      <p:cBhvr>
                                        <p:cTn id="13" dur="750"/>
                                        <p:tgtEl>
                                          <p:spTgt spid="32">
                                            <p:txEl>
                                              <p:pRg st="3" end="3"/>
                                            </p:txEl>
                                          </p:spTgt>
                                        </p:tgtEl>
                                      </p:cBhvr>
                                    </p:animEffect>
                                  </p:childTnLst>
                                </p:cTn>
                              </p:par>
                              <p:par>
                                <p:cTn id="14" presetID="10" presetClass="entr" presetSubtype="0" fill="hold" nodeType="withEffect">
                                  <p:stCondLst>
                                    <p:cond delay="500"/>
                                  </p:stCondLst>
                                  <p:childTnLst>
                                    <p:set>
                                      <p:cBhvr>
                                        <p:cTn id="15" dur="1" fill="hold">
                                          <p:stCondLst>
                                            <p:cond delay="0"/>
                                          </p:stCondLst>
                                        </p:cTn>
                                        <p:tgtEl>
                                          <p:spTgt spid="32">
                                            <p:txEl>
                                              <p:pRg st="4" end="4"/>
                                            </p:txEl>
                                          </p:spTgt>
                                        </p:tgtEl>
                                        <p:attrNameLst>
                                          <p:attrName>style.visibility</p:attrName>
                                        </p:attrNameLst>
                                      </p:cBhvr>
                                      <p:to>
                                        <p:strVal val="visible"/>
                                      </p:to>
                                    </p:set>
                                    <p:animEffect transition="in" filter="fade">
                                      <p:cBhvr>
                                        <p:cTn id="16" dur="75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5620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81" y="1977526"/>
            <a:ext cx="4414807" cy="4197559"/>
          </a:xfrm>
          <a:prstGeom prst="rect">
            <a:avLst/>
          </a:prstGeom>
          <a:ln>
            <a:noFill/>
          </a:ln>
        </p:spPr>
        <p:txBody>
          <a:bodyPr wrap="square">
            <a:spAutoFit/>
          </a:bodyPr>
          <a:lstStyle/>
          <a:p>
            <a:pPr marL="323835" indent="-342882" algn="just">
              <a:lnSpc>
                <a:spcPct val="130000"/>
              </a:lnSpc>
              <a:buFont typeface="Wingdings" panose="05000000000000000000" pitchFamily="2" charset="2"/>
              <a:buChar char="Ø"/>
            </a:pPr>
            <a:r>
              <a:rPr lang="zh-CN" altLang="en-US" sz="2600" dirty="0">
                <a:solidFill>
                  <a:srgbClr val="FF0000"/>
                </a:solidFill>
                <a:latin typeface="Times New Roman"/>
                <a:ea typeface="黑体"/>
              </a:rPr>
              <a:t>疑问：</a:t>
            </a:r>
            <a:r>
              <a:rPr lang="zh-CN" altLang="en-US" sz="2600" dirty="0">
                <a:solidFill>
                  <a:prstClr val="black"/>
                </a:solidFill>
                <a:latin typeface="Times New Roman"/>
                <a:ea typeface="黑体"/>
              </a:rPr>
              <a:t>单层感知机如何解决异或问题？</a:t>
            </a:r>
            <a:endParaRPr lang="en-US" altLang="zh-CN" sz="2600" dirty="0">
              <a:solidFill>
                <a:prstClr val="black"/>
              </a:solidFill>
              <a:latin typeface="Times New Roman"/>
              <a:ea typeface="黑体"/>
            </a:endParaRPr>
          </a:p>
          <a:p>
            <a:pPr marL="323835" indent="-342882" algn="just">
              <a:lnSpc>
                <a:spcPct val="130000"/>
              </a:lnSpc>
              <a:buFont typeface="Wingdings" panose="05000000000000000000" pitchFamily="2" charset="2"/>
              <a:buChar char="Ø"/>
            </a:pPr>
            <a:r>
              <a:rPr lang="zh-CN" altLang="en-US" sz="2600" dirty="0">
                <a:solidFill>
                  <a:prstClr val="black"/>
                </a:solidFill>
                <a:latin typeface="Times New Roman"/>
                <a:ea typeface="黑体"/>
              </a:rPr>
              <a:t>由感知机的几何意义可知，单层感知机通过超平面来进行分类，无法解决线性不可分问题。</a:t>
            </a:r>
            <a:endParaRPr lang="en-US" altLang="zh-CN" sz="2600" dirty="0">
              <a:solidFill>
                <a:prstClr val="black"/>
              </a:solidFill>
              <a:latin typeface="Times New Roman"/>
              <a:ea typeface="黑体"/>
            </a:endParaRPr>
          </a:p>
          <a:p>
            <a:pPr marL="457178" indent="-457178" algn="just">
              <a:lnSpc>
                <a:spcPct val="130000"/>
              </a:lnSpc>
              <a:buFont typeface="Wingdings" panose="05000000000000000000" pitchFamily="2" charset="2"/>
              <a:buChar char="Ø"/>
            </a:pPr>
            <a:r>
              <a:rPr lang="zh-CN" altLang="en-US" sz="2600" dirty="0">
                <a:solidFill>
                  <a:prstClr val="black"/>
                </a:solidFill>
                <a:latin typeface="Times New Roman"/>
                <a:ea typeface="黑体"/>
              </a:rPr>
              <a:t>无论直线怎么变动也无法分割两种类型。</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20662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a:t>
            </a:r>
          </a:p>
        </p:txBody>
      </p:sp>
      <p:pic>
        <p:nvPicPr>
          <p:cNvPr id="7" name="图片 78" descr="图片4">
            <a:extLst>
              <a:ext uri="{FF2B5EF4-FFF2-40B4-BE49-F238E27FC236}">
                <a16:creationId xmlns:a16="http://schemas.microsoft.com/office/drawing/2014/main" id="{5C895291-7155-6A82-EC5C-05F95BB7C52E}"/>
              </a:ext>
            </a:extLst>
          </p:cNvPr>
          <p:cNvPicPr>
            <a:picLocks noChangeAspect="1"/>
          </p:cNvPicPr>
          <p:nvPr/>
        </p:nvPicPr>
        <p:blipFill>
          <a:blip r:embed="rId2"/>
          <a:srcRect l="-996" t="5672" r="6972" b="214"/>
          <a:stretch>
            <a:fillRect/>
          </a:stretch>
        </p:blipFill>
        <p:spPr>
          <a:xfrm>
            <a:off x="5005488" y="1914325"/>
            <a:ext cx="4138517" cy="2832161"/>
          </a:xfrm>
          <a:prstGeom prst="rect">
            <a:avLst/>
          </a:prstGeom>
        </p:spPr>
      </p:pic>
      <p:sp>
        <p:nvSpPr>
          <p:cNvPr id="2" name="文本框 1">
            <a:extLst>
              <a:ext uri="{FF2B5EF4-FFF2-40B4-BE49-F238E27FC236}">
                <a16:creationId xmlns:a16="http://schemas.microsoft.com/office/drawing/2014/main" id="{93611780-4EFC-B3BE-61C1-9847B94A43B7}"/>
              </a:ext>
            </a:extLst>
          </p:cNvPr>
          <p:cNvSpPr txBox="1"/>
          <p:nvPr/>
        </p:nvSpPr>
        <p:spPr>
          <a:xfrm>
            <a:off x="5633889" y="4864183"/>
            <a:ext cx="3274141" cy="1365374"/>
          </a:xfrm>
          <a:prstGeom prst="rect">
            <a:avLst/>
          </a:prstGeom>
          <a:solidFill>
            <a:srgbClr val="FFE1E1"/>
          </a:solidFill>
        </p:spPr>
        <p:txBody>
          <a:bodyPr wrap="square" rtlCol="0">
            <a:spAutoFit/>
          </a:bodyPr>
          <a:lstStyle/>
          <a:p>
            <a:pPr algn="just">
              <a:lnSpc>
                <a:spcPct val="130000"/>
              </a:lnSpc>
            </a:pPr>
            <a:r>
              <a:rPr lang="zh-CN" altLang="en-US" sz="2200" dirty="0">
                <a:solidFill>
                  <a:prstClr val="black"/>
                </a:solidFill>
                <a:latin typeface="Times New Roman"/>
                <a:ea typeface="黑体"/>
              </a:rPr>
              <a:t>对感知机学习能力产生怀疑，造成人工神经领域发展的长年停滞及低潮</a:t>
            </a:r>
          </a:p>
        </p:txBody>
      </p:sp>
    </p:spTree>
    <p:extLst>
      <p:ext uri="{BB962C8B-B14F-4D97-AF65-F5344CB8AC3E}">
        <p14:creationId xmlns:p14="http://schemas.microsoft.com/office/powerpoint/2010/main" val="223342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par>
                                <p:cTn id="8" presetID="10" presetClass="entr" presetSubtype="0" fill="hold" nodeType="withEffect">
                                  <p:stCondLst>
                                    <p:cond delay="50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750"/>
                                        <p:tgtEl>
                                          <p:spTgt spid="32">
                                            <p:txEl>
                                              <p:pRg st="0" end="0"/>
                                            </p:txEl>
                                          </p:spTgt>
                                        </p:tgtEl>
                                      </p:cBhvr>
                                    </p:animEffect>
                                  </p:childTnLst>
                                </p:cTn>
                              </p:par>
                            </p:childTnLst>
                          </p:cTn>
                        </p:par>
                        <p:par>
                          <p:cTn id="11" fill="hold">
                            <p:stCondLst>
                              <p:cond delay="1250"/>
                            </p:stCondLst>
                            <p:childTnLst>
                              <p:par>
                                <p:cTn id="12" presetID="42" presetClass="entr" presetSubtype="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anim calcmode="lin" valueType="num">
                                      <p:cBhvr>
                                        <p:cTn id="15" dur="750" fill="hold"/>
                                        <p:tgtEl>
                                          <p:spTgt spid="7"/>
                                        </p:tgtEl>
                                        <p:attrNameLst>
                                          <p:attrName>ppt_x</p:attrName>
                                        </p:attrNameLst>
                                      </p:cBhvr>
                                      <p:tavLst>
                                        <p:tav tm="0">
                                          <p:val>
                                            <p:strVal val="#ppt_x"/>
                                          </p:val>
                                        </p:tav>
                                        <p:tav tm="100000">
                                          <p:val>
                                            <p:strVal val="#ppt_x"/>
                                          </p:val>
                                        </p:tav>
                                      </p:tavLst>
                                    </p:anim>
                                    <p:anim calcmode="lin" valueType="num">
                                      <p:cBhvr>
                                        <p:cTn id="16" dur="7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
                                            <p:txEl>
                                              <p:pRg st="1" end="1"/>
                                            </p:txEl>
                                          </p:spTgt>
                                        </p:tgtEl>
                                        <p:attrNameLst>
                                          <p:attrName>style.visibility</p:attrName>
                                        </p:attrNameLst>
                                      </p:cBhvr>
                                      <p:to>
                                        <p:strVal val="visible"/>
                                      </p:to>
                                    </p:set>
                                    <p:animEffect transition="in" filter="fade">
                                      <p:cBhvr>
                                        <p:cTn id="21" dur="750"/>
                                        <p:tgtEl>
                                          <p:spTgt spid="3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xEl>
                                              <p:pRg st="2" end="2"/>
                                            </p:txEl>
                                          </p:spTgt>
                                        </p:tgtEl>
                                        <p:attrNameLst>
                                          <p:attrName>style.visibility</p:attrName>
                                        </p:attrNameLst>
                                      </p:cBhvr>
                                      <p:to>
                                        <p:strVal val="visible"/>
                                      </p:to>
                                    </p:set>
                                    <p:animEffect transition="in" filter="fade">
                                      <p:cBhvr>
                                        <p:cTn id="26" dur="750"/>
                                        <p:tgtEl>
                                          <p:spTgt spid="3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8508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906401"/>
            <a:ext cx="7985512" cy="2116990"/>
          </a:xfrm>
          <a:prstGeom prst="rect">
            <a:avLst/>
          </a:prstGeom>
          <a:ln>
            <a:noFill/>
          </a:ln>
        </p:spPr>
        <p:txBody>
          <a:bodyPr wrap="square">
            <a:spAutoFit/>
          </a:bodyPr>
          <a:lstStyle/>
          <a:p>
            <a:pPr marL="457178" indent="-457178" algn="just">
              <a:lnSpc>
                <a:spcPct val="130000"/>
              </a:lnSpc>
              <a:buFont typeface="Wingdings" panose="05000000000000000000" pitchFamily="2" charset="2"/>
              <a:buChar char="Ø"/>
            </a:pPr>
            <a:r>
              <a:rPr lang="zh-CN" altLang="en-US" sz="2600" dirty="0">
                <a:solidFill>
                  <a:prstClr val="black"/>
                </a:solidFill>
                <a:latin typeface="Times New Roman"/>
                <a:ea typeface="黑体"/>
              </a:rPr>
              <a:t>随着研究进行，人们发现在输入层与输出层之间增加</a:t>
            </a:r>
            <a:r>
              <a:rPr lang="zh-CN" altLang="en-US" sz="2600" dirty="0">
                <a:solidFill>
                  <a:srgbClr val="FF0000"/>
                </a:solidFill>
                <a:latin typeface="Times New Roman"/>
                <a:ea typeface="黑体"/>
              </a:rPr>
              <a:t>隐含层</a:t>
            </a:r>
            <a:r>
              <a:rPr lang="zh-CN" altLang="en-US" sz="2600" dirty="0">
                <a:solidFill>
                  <a:prstClr val="black"/>
                </a:solidFill>
                <a:latin typeface="Times New Roman"/>
                <a:ea typeface="黑体"/>
              </a:rPr>
              <a:t>，构成一种多层神经网络结构，可以解决非线性分类的问题，增强感知机的分类能力，即</a:t>
            </a:r>
            <a:r>
              <a:rPr lang="zh-CN" altLang="en-US" sz="2600" dirty="0">
                <a:solidFill>
                  <a:srgbClr val="FF0000"/>
                </a:solidFill>
                <a:latin typeface="Times New Roman"/>
                <a:ea typeface="黑体"/>
              </a:rPr>
              <a:t>多层感知机（</a:t>
            </a:r>
            <a:r>
              <a:rPr lang="en-US" altLang="zh-CN" sz="2600" dirty="0">
                <a:solidFill>
                  <a:srgbClr val="FF0000"/>
                </a:solidFill>
                <a:latin typeface="Times New Roman"/>
                <a:ea typeface="黑体"/>
              </a:rPr>
              <a:t>MLP</a:t>
            </a:r>
            <a:r>
              <a:rPr lang="zh-CN" altLang="en-US" sz="2600" dirty="0">
                <a:solidFill>
                  <a:srgbClr val="FF0000"/>
                </a:solidFill>
                <a:latin typeface="Times New Roman"/>
                <a:ea typeface="黑体"/>
              </a:rPr>
              <a:t>）</a:t>
            </a:r>
            <a:r>
              <a:rPr lang="zh-CN" altLang="en-US" sz="2600" dirty="0">
                <a:solidFill>
                  <a:prstClr val="black"/>
                </a:solidFill>
                <a:latin typeface="Times New Roman"/>
                <a:ea typeface="黑体"/>
              </a:rPr>
              <a:t>。</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3550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a:t>
            </a:r>
          </a:p>
        </p:txBody>
      </p:sp>
      <p:pic>
        <p:nvPicPr>
          <p:cNvPr id="6" name="图片 91">
            <a:extLst>
              <a:ext uri="{FF2B5EF4-FFF2-40B4-BE49-F238E27FC236}">
                <a16:creationId xmlns:a16="http://schemas.microsoft.com/office/drawing/2014/main" id="{0F99B851-5DE9-6DEE-D118-11D39270B199}"/>
              </a:ext>
            </a:extLst>
          </p:cNvPr>
          <p:cNvPicPr>
            <a:picLocks noChangeAspect="1"/>
          </p:cNvPicPr>
          <p:nvPr/>
        </p:nvPicPr>
        <p:blipFill>
          <a:blip r:embed="rId2"/>
          <a:srcRect l="226" t="7356"/>
          <a:stretch>
            <a:fillRect/>
          </a:stretch>
        </p:blipFill>
        <p:spPr>
          <a:xfrm>
            <a:off x="1393190" y="4086595"/>
            <a:ext cx="6637849" cy="2419816"/>
          </a:xfrm>
          <a:prstGeom prst="rect">
            <a:avLst/>
          </a:prstGeom>
          <a:noFill/>
          <a:ln>
            <a:noFill/>
          </a:ln>
        </p:spPr>
      </p:pic>
    </p:spTree>
    <p:extLst>
      <p:ext uri="{BB962C8B-B14F-4D97-AF65-F5344CB8AC3E}">
        <p14:creationId xmlns:p14="http://schemas.microsoft.com/office/powerpoint/2010/main" val="253627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75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2412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32" name="矩形 31">
            <a:extLst>
              <a:ext uri="{FF2B5EF4-FFF2-40B4-BE49-F238E27FC236}">
                <a16:creationId xmlns:a16="http://schemas.microsoft.com/office/drawing/2014/main" id="{A2D5D130-9918-D803-D4FB-1CC3E5696391}"/>
              </a:ext>
            </a:extLst>
          </p:cNvPr>
          <p:cNvSpPr/>
          <p:nvPr/>
        </p:nvSpPr>
        <p:spPr>
          <a:xfrm>
            <a:off x="590675" y="1845447"/>
            <a:ext cx="7985512" cy="1596847"/>
          </a:xfrm>
          <a:prstGeom prst="rect">
            <a:avLst/>
          </a:prstGeom>
          <a:ln>
            <a:noFill/>
          </a:ln>
        </p:spPr>
        <p:txBody>
          <a:bodyPr wrap="square">
            <a:spAutoFit/>
          </a:bodyPr>
          <a:lstStyle/>
          <a:p>
            <a:pPr marL="457178" indent="-457178" algn="just">
              <a:lnSpc>
                <a:spcPct val="130000"/>
              </a:lnSpc>
              <a:buFont typeface="Wingdings" panose="05000000000000000000" pitchFamily="2" charset="2"/>
              <a:buChar char="Ø"/>
            </a:pPr>
            <a:r>
              <a:rPr lang="zh-CN" altLang="en-US" sz="2600" dirty="0">
                <a:solidFill>
                  <a:prstClr val="black"/>
                </a:solidFill>
                <a:latin typeface="Times New Roman"/>
                <a:ea typeface="黑体"/>
              </a:rPr>
              <a:t>二层感知机结构下图所示，设置权值参数</a:t>
            </a:r>
            <a:r>
              <a:rPr lang="zh-CN" altLang="en-US" sz="2600" i="1" dirty="0">
                <a:solidFill>
                  <a:prstClr val="black"/>
                </a:solidFill>
                <a:latin typeface="Times New Roman"/>
                <a:ea typeface="黑体"/>
              </a:rPr>
              <a:t>w</a:t>
            </a:r>
            <a:r>
              <a:rPr lang="zh-CN" altLang="en-US" sz="2600" baseline="-25000" dirty="0">
                <a:solidFill>
                  <a:prstClr val="black"/>
                </a:solidFill>
                <a:latin typeface="Times New Roman"/>
                <a:ea typeface="黑体"/>
              </a:rPr>
              <a:t>11</a:t>
            </a:r>
            <a:r>
              <a:rPr lang="zh-CN" altLang="en-US" sz="2600" dirty="0">
                <a:solidFill>
                  <a:prstClr val="black"/>
                </a:solidFill>
                <a:latin typeface="Times New Roman"/>
                <a:ea typeface="黑体"/>
              </a:rPr>
              <a:t>=1，</a:t>
            </a:r>
            <a:r>
              <a:rPr lang="zh-CN" altLang="en-US" sz="2600" i="1" dirty="0">
                <a:solidFill>
                  <a:prstClr val="black"/>
                </a:solidFill>
                <a:latin typeface="Times New Roman"/>
                <a:ea typeface="黑体"/>
              </a:rPr>
              <a:t>w</a:t>
            </a:r>
            <a:r>
              <a:rPr lang="zh-CN" altLang="en-US" sz="2600" baseline="-25000" dirty="0">
                <a:solidFill>
                  <a:prstClr val="black"/>
                </a:solidFill>
                <a:latin typeface="Times New Roman"/>
                <a:ea typeface="黑体"/>
              </a:rPr>
              <a:t>21</a:t>
            </a:r>
            <a:r>
              <a:rPr lang="zh-CN" altLang="en-US" sz="2600" dirty="0">
                <a:solidFill>
                  <a:prstClr val="black"/>
                </a:solidFill>
                <a:latin typeface="Times New Roman"/>
                <a:ea typeface="黑体"/>
              </a:rPr>
              <a:t>=1，</a:t>
            </a:r>
            <a:r>
              <a:rPr lang="zh-CN" altLang="en-US" sz="2600" i="1" dirty="0">
                <a:solidFill>
                  <a:prstClr val="black"/>
                </a:solidFill>
                <a:latin typeface="Times New Roman"/>
                <a:ea typeface="黑体"/>
              </a:rPr>
              <a:t>w</a:t>
            </a:r>
            <a:r>
              <a:rPr lang="zh-CN" altLang="en-US" sz="2600" baseline="-25000" dirty="0">
                <a:solidFill>
                  <a:prstClr val="black"/>
                </a:solidFill>
                <a:latin typeface="Times New Roman"/>
                <a:ea typeface="黑体"/>
              </a:rPr>
              <a:t>12</a:t>
            </a:r>
            <a:r>
              <a:rPr lang="zh-CN" altLang="en-US" sz="2600" dirty="0">
                <a:solidFill>
                  <a:prstClr val="black"/>
                </a:solidFill>
                <a:latin typeface="Times New Roman"/>
                <a:ea typeface="黑体"/>
              </a:rPr>
              <a:t>=</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1，</a:t>
            </a:r>
            <a:r>
              <a:rPr lang="zh-CN" altLang="en-US" sz="2600" i="1" dirty="0">
                <a:solidFill>
                  <a:prstClr val="black"/>
                </a:solidFill>
                <a:latin typeface="Times New Roman"/>
                <a:ea typeface="黑体"/>
              </a:rPr>
              <a:t>w</a:t>
            </a:r>
            <a:r>
              <a:rPr lang="zh-CN" altLang="en-US" sz="2600" baseline="-25000" dirty="0">
                <a:solidFill>
                  <a:prstClr val="black"/>
                </a:solidFill>
                <a:latin typeface="Times New Roman"/>
                <a:ea typeface="黑体"/>
              </a:rPr>
              <a:t>22</a:t>
            </a:r>
            <a:r>
              <a:rPr lang="zh-CN" altLang="en-US" sz="2600" dirty="0">
                <a:solidFill>
                  <a:prstClr val="black"/>
                </a:solidFill>
                <a:latin typeface="Times New Roman"/>
                <a:ea typeface="黑体"/>
              </a:rPr>
              <a:t>=-1，</a:t>
            </a:r>
            <a:r>
              <a:rPr lang="zh-CN" altLang="en-US" sz="2600" i="1" dirty="0">
                <a:solidFill>
                  <a:prstClr val="black"/>
                </a:solidFill>
                <a:latin typeface="Times New Roman"/>
                <a:ea typeface="黑体"/>
              </a:rPr>
              <a:t>w</a:t>
            </a:r>
            <a:r>
              <a:rPr lang="zh-CN" altLang="en-US" sz="2600" baseline="-25000" dirty="0">
                <a:solidFill>
                  <a:prstClr val="black"/>
                </a:solidFill>
                <a:latin typeface="Times New Roman"/>
                <a:ea typeface="黑体"/>
              </a:rPr>
              <a:t>3</a:t>
            </a:r>
            <a:r>
              <a:rPr lang="zh-CN" altLang="en-US" sz="2600" dirty="0">
                <a:solidFill>
                  <a:prstClr val="black"/>
                </a:solidFill>
                <a:latin typeface="Times New Roman"/>
                <a:ea typeface="黑体"/>
              </a:rPr>
              <a:t>=1，</a:t>
            </a:r>
            <a:r>
              <a:rPr lang="zh-CN" altLang="en-US" sz="2600" i="1" dirty="0">
                <a:solidFill>
                  <a:prstClr val="black"/>
                </a:solidFill>
                <a:latin typeface="Times New Roman"/>
                <a:ea typeface="黑体"/>
              </a:rPr>
              <a:t>w</a:t>
            </a:r>
            <a:r>
              <a:rPr lang="zh-CN" altLang="en-US" sz="2600" baseline="-25000" dirty="0">
                <a:solidFill>
                  <a:prstClr val="black"/>
                </a:solidFill>
                <a:latin typeface="Times New Roman"/>
                <a:ea typeface="黑体"/>
              </a:rPr>
              <a:t>4</a:t>
            </a:r>
            <a:r>
              <a:rPr lang="zh-CN" altLang="en-US" sz="2600" dirty="0">
                <a:solidFill>
                  <a:prstClr val="black"/>
                </a:solidFill>
                <a:latin typeface="Times New Roman"/>
                <a:ea typeface="黑体"/>
              </a:rPr>
              <a:t>=1，</a:t>
            </a:r>
            <a:r>
              <a:rPr lang="zh-CN" altLang="en-US" sz="2600" i="1" dirty="0">
                <a:solidFill>
                  <a:prstClr val="black"/>
                </a:solidFill>
                <a:latin typeface="Times New Roman"/>
                <a:ea typeface="黑体"/>
              </a:rPr>
              <a:t>b</a:t>
            </a:r>
            <a:r>
              <a:rPr lang="zh-CN" altLang="en-US" sz="2600" baseline="-25000" dirty="0">
                <a:solidFill>
                  <a:prstClr val="black"/>
                </a:solidFill>
                <a:latin typeface="Times New Roman"/>
                <a:ea typeface="黑体"/>
              </a:rPr>
              <a:t>1</a:t>
            </a:r>
            <a:r>
              <a:rPr lang="zh-CN" altLang="en-US" sz="2600" dirty="0">
                <a:solidFill>
                  <a:prstClr val="black"/>
                </a:solidFill>
                <a:latin typeface="Times New Roman"/>
                <a:ea typeface="黑体"/>
              </a:rPr>
              <a:t>=-0.5，</a:t>
            </a:r>
            <a:r>
              <a:rPr lang="zh-CN" altLang="en-US" sz="2600" i="1" dirty="0">
                <a:solidFill>
                  <a:prstClr val="black"/>
                </a:solidFill>
                <a:latin typeface="Times New Roman"/>
                <a:ea typeface="黑体"/>
              </a:rPr>
              <a:t>b</a:t>
            </a:r>
            <a:r>
              <a:rPr lang="zh-CN" altLang="en-US" sz="2600" baseline="-25000" dirty="0">
                <a:solidFill>
                  <a:prstClr val="black"/>
                </a:solidFill>
                <a:latin typeface="Times New Roman"/>
                <a:ea typeface="黑体"/>
              </a:rPr>
              <a:t>2</a:t>
            </a:r>
            <a:r>
              <a:rPr lang="zh-CN" altLang="en-US" sz="2600" dirty="0">
                <a:solidFill>
                  <a:prstClr val="black"/>
                </a:solidFill>
                <a:latin typeface="Times New Roman"/>
                <a:ea typeface="黑体"/>
              </a:rPr>
              <a:t>= 1.5，</a:t>
            </a:r>
            <a:r>
              <a:rPr lang="zh-CN" altLang="en-US" sz="2600" i="1" dirty="0">
                <a:solidFill>
                  <a:prstClr val="black"/>
                </a:solidFill>
                <a:latin typeface="Times New Roman"/>
                <a:ea typeface="黑体"/>
              </a:rPr>
              <a:t>b</a:t>
            </a:r>
            <a:r>
              <a:rPr lang="zh-CN" altLang="en-US" sz="2600" baseline="-25000" dirty="0">
                <a:solidFill>
                  <a:prstClr val="black"/>
                </a:solidFill>
                <a:latin typeface="Times New Roman"/>
                <a:ea typeface="黑体"/>
              </a:rPr>
              <a:t>3</a:t>
            </a:r>
            <a:r>
              <a:rPr lang="zh-CN" altLang="en-US" sz="2600" dirty="0">
                <a:solidFill>
                  <a:prstClr val="black"/>
                </a:solidFill>
                <a:latin typeface="Times New Roman"/>
                <a:ea typeface="黑体"/>
              </a:rPr>
              <a:t>= -1.5，激活函数</a:t>
            </a:r>
            <a:r>
              <a:rPr lang="zh-CN" altLang="en-US" sz="2600" i="1" dirty="0">
                <a:solidFill>
                  <a:prstClr val="black"/>
                </a:solidFill>
                <a:latin typeface="Times New Roman"/>
                <a:ea typeface="黑体"/>
              </a:rPr>
              <a:t>f</a:t>
            </a:r>
            <a:r>
              <a:rPr lang="zh-CN" altLang="en-US" sz="2600" dirty="0">
                <a:solidFill>
                  <a:prstClr val="black"/>
                </a:solidFill>
                <a:latin typeface="Times New Roman"/>
                <a:ea typeface="黑体"/>
              </a:rPr>
              <a:t>(x)为阶跃函数。</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07454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多层感知机实现异或运算</a:t>
            </a:r>
          </a:p>
        </p:txBody>
      </p:sp>
      <p:pic>
        <p:nvPicPr>
          <p:cNvPr id="9" name="图片 26" descr="85ef1711d82fbc66180fc6d00850b76">
            <a:extLst>
              <a:ext uri="{FF2B5EF4-FFF2-40B4-BE49-F238E27FC236}">
                <a16:creationId xmlns:a16="http://schemas.microsoft.com/office/drawing/2014/main" id="{961186B6-F1C2-C34D-BABF-7155055DD094}"/>
              </a:ext>
            </a:extLst>
          </p:cNvPr>
          <p:cNvPicPr>
            <a:picLocks noChangeAspect="1"/>
          </p:cNvPicPr>
          <p:nvPr/>
        </p:nvPicPr>
        <p:blipFill>
          <a:blip r:embed="rId2"/>
          <a:stretch>
            <a:fillRect/>
          </a:stretch>
        </p:blipFill>
        <p:spPr>
          <a:xfrm>
            <a:off x="1416496" y="3405121"/>
            <a:ext cx="6311019" cy="3268035"/>
          </a:xfrm>
          <a:prstGeom prst="rect">
            <a:avLst/>
          </a:prstGeom>
        </p:spPr>
      </p:pic>
    </p:spTree>
    <p:extLst>
      <p:ext uri="{BB962C8B-B14F-4D97-AF65-F5344CB8AC3E}">
        <p14:creationId xmlns:p14="http://schemas.microsoft.com/office/powerpoint/2010/main" val="11432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animEffect transition="in" filter="fade">
                                      <p:cBhvr>
                                        <p:cTn id="12" dur="750"/>
                                        <p:tgtEl>
                                          <p:spTgt spid="32">
                                            <p:txEl>
                                              <p:pRg st="0" end="0"/>
                                            </p:txEl>
                                          </p:spTgt>
                                        </p:tgtEl>
                                      </p:cBhvr>
                                    </p:animEffect>
                                  </p:childTnLst>
                                </p:cTn>
                              </p:par>
                            </p:childTnLst>
                          </p:cTn>
                        </p:par>
                        <p:par>
                          <p:cTn id="13" fill="hold">
                            <p:stCondLst>
                              <p:cond delay="750"/>
                            </p:stCondLst>
                            <p:childTnLst>
                              <p:par>
                                <p:cTn id="14" presetID="42" presetClass="entr" presetSubtype="0" fill="hold" nodeType="afterEffect">
                                  <p:stCondLst>
                                    <p:cond delay="10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anim calcmode="lin" valueType="num">
                                      <p:cBhvr>
                                        <p:cTn id="17" dur="1000" fill="hold"/>
                                        <p:tgtEl>
                                          <p:spTgt spid="9"/>
                                        </p:tgtEl>
                                        <p:attrNameLst>
                                          <p:attrName>ppt_x</p:attrName>
                                        </p:attrNameLst>
                                      </p:cBhvr>
                                      <p:tavLst>
                                        <p:tav tm="0">
                                          <p:val>
                                            <p:strVal val="#ppt_x"/>
                                          </p:val>
                                        </p:tav>
                                        <p:tav tm="100000">
                                          <p:val>
                                            <p:strVal val="#ppt_x"/>
                                          </p:val>
                                        </p:tav>
                                      </p:tavLst>
                                    </p:anim>
                                    <p:anim calcmode="lin" valueType="num">
                                      <p:cBhvr>
                                        <p:cTn id="1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39524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4566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多层感知机实现异或运算</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08" y="1912937"/>
            <a:ext cx="7962648" cy="4632807"/>
          </a:xfrm>
          <a:prstGeom prst="rect">
            <a:avLst/>
          </a:prstGeom>
          <a:noFill/>
        </p:spPr>
        <p:txBody>
          <a:bodyPr wrap="square">
            <a:spAutoFit/>
          </a:bodyPr>
          <a:lstStyle/>
          <a:p>
            <a:pPr marL="431797" lvl="1" indent="-342900">
              <a:lnSpc>
                <a:spcPct val="150000"/>
              </a:lnSpc>
              <a:spcAft>
                <a:spcPts val="600"/>
              </a:spcAft>
              <a:buFont typeface="Wingdings" panose="05000000000000000000" pitchFamily="2" charset="2"/>
              <a:buChar char="Ø"/>
            </a:pPr>
            <a:r>
              <a:rPr lang="zh-CN" altLang="en-US" sz="2200" dirty="0">
                <a:solidFill>
                  <a:srgbClr val="000000"/>
                </a:solidFill>
                <a:latin typeface="Times New Roman"/>
                <a:ea typeface="黑体"/>
                <a:cs typeface="+mn-ea"/>
              </a:rPr>
              <a:t>将样本</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0</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0</a:t>
            </a:r>
            <a:r>
              <a:rPr lang="zh-CN" altLang="en-US" sz="2200" dirty="0">
                <a:solidFill>
                  <a:srgbClr val="000000"/>
                </a:solidFill>
                <a:latin typeface="Times New Roman"/>
                <a:ea typeface="黑体"/>
                <a:cs typeface="+mn-ea"/>
              </a:rPr>
              <a:t>）输入模型，输出</a:t>
            </a:r>
            <a:r>
              <a:rPr lang="en-US" altLang="zh-CN" sz="2200" i="1" dirty="0">
                <a:solidFill>
                  <a:srgbClr val="000000"/>
                </a:solidFill>
                <a:latin typeface="Times New Roman"/>
                <a:ea typeface="黑体"/>
                <a:cs typeface="+mn-ea"/>
              </a:rPr>
              <a:t>y</a:t>
            </a:r>
            <a:r>
              <a:rPr lang="en-US" altLang="zh-CN" sz="2200" dirty="0">
                <a:solidFill>
                  <a:srgbClr val="000000"/>
                </a:solidFill>
                <a:latin typeface="Times New Roman"/>
                <a:ea typeface="黑体"/>
                <a:cs typeface="+mn-ea"/>
              </a:rPr>
              <a:t>=0</a:t>
            </a:r>
            <a:r>
              <a:rPr lang="zh-CN" altLang="en-US" sz="2200" dirty="0">
                <a:solidFill>
                  <a:srgbClr val="000000"/>
                </a:solidFill>
                <a:latin typeface="Times New Roman"/>
                <a:ea typeface="黑体"/>
                <a:cs typeface="+mn-ea"/>
              </a:rPr>
              <a:t>，计算如下：</a:t>
            </a:r>
          </a:p>
          <a:p>
            <a:pPr marL="87313" lvl="1" indent="360363">
              <a:lnSpc>
                <a:spcPct val="150000"/>
              </a:lnSpc>
              <a:spcAft>
                <a:spcPts val="600"/>
              </a:spcAft>
            </a:pPr>
            <a:r>
              <a:rPr lang="zh-CN" altLang="en-US" sz="2200" dirty="0">
                <a:solidFill>
                  <a:srgbClr val="000000"/>
                </a:solidFill>
                <a:latin typeface="Times New Roman"/>
                <a:ea typeface="黑体"/>
                <a:cs typeface="+mn-ea"/>
              </a:rPr>
              <a:t>神经元</a:t>
            </a:r>
            <a:r>
              <a:rPr lang="en-US" altLang="zh-CN" sz="22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输出</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 ( 1*0 + 1*0 - 0.5) = 0</a:t>
            </a:r>
          </a:p>
          <a:p>
            <a:pPr marL="87313" lvl="1" indent="360363">
              <a:lnSpc>
                <a:spcPct val="150000"/>
              </a:lnSpc>
              <a:spcAft>
                <a:spcPts val="600"/>
              </a:spcAft>
            </a:pPr>
            <a:r>
              <a:rPr lang="zh-CN" altLang="en-US" sz="2200" dirty="0">
                <a:solidFill>
                  <a:srgbClr val="000000"/>
                </a:solidFill>
                <a:latin typeface="Times New Roman"/>
                <a:ea typeface="黑体"/>
                <a:cs typeface="+mn-ea"/>
              </a:rPr>
              <a:t>神经元</a:t>
            </a:r>
            <a:r>
              <a:rPr lang="en-US" altLang="zh-CN" sz="2200" dirty="0">
                <a:solidFill>
                  <a:srgbClr val="000000"/>
                </a:solidFill>
                <a:latin typeface="Times New Roman"/>
                <a:ea typeface="黑体"/>
                <a:cs typeface="+mn-ea"/>
              </a:rPr>
              <a:t>2</a:t>
            </a:r>
            <a:r>
              <a:rPr lang="zh-CN" altLang="en-US" sz="2200" dirty="0">
                <a:solidFill>
                  <a:srgbClr val="000000"/>
                </a:solidFill>
                <a:latin typeface="Times New Roman"/>
                <a:ea typeface="黑体"/>
                <a:cs typeface="+mn-ea"/>
              </a:rPr>
              <a:t>输出</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(-1*0 + -1*0 + 1.5) = 1</a:t>
            </a:r>
          </a:p>
          <a:p>
            <a:pPr marL="87313" lvl="1" indent="360363">
              <a:lnSpc>
                <a:spcPct val="150000"/>
              </a:lnSpc>
              <a:spcAft>
                <a:spcPts val="600"/>
              </a:spcAft>
            </a:pPr>
            <a:r>
              <a:rPr lang="zh-CN" altLang="en-US" sz="2200" dirty="0">
                <a:solidFill>
                  <a:srgbClr val="000000"/>
                </a:solidFill>
                <a:latin typeface="Times New Roman"/>
                <a:ea typeface="黑体"/>
                <a:cs typeface="+mn-ea"/>
              </a:rPr>
              <a:t>神经元</a:t>
            </a:r>
            <a:r>
              <a:rPr lang="en-US" altLang="zh-CN" sz="2200" dirty="0">
                <a:solidFill>
                  <a:srgbClr val="000000"/>
                </a:solidFill>
                <a:latin typeface="Times New Roman"/>
                <a:ea typeface="黑体"/>
                <a:cs typeface="+mn-ea"/>
              </a:rPr>
              <a:t>3</a:t>
            </a:r>
            <a:r>
              <a:rPr lang="zh-CN" altLang="en-US" sz="2200" dirty="0">
                <a:solidFill>
                  <a:srgbClr val="000000"/>
                </a:solidFill>
                <a:latin typeface="Times New Roman"/>
                <a:ea typeface="黑体"/>
                <a:cs typeface="+mn-ea"/>
              </a:rPr>
              <a:t>输出</a:t>
            </a:r>
            <a:r>
              <a:rPr lang="en-US" altLang="zh-CN" sz="2200" i="1" dirty="0">
                <a:solidFill>
                  <a:srgbClr val="000000"/>
                </a:solidFill>
                <a:latin typeface="Times New Roman"/>
                <a:ea typeface="黑体"/>
                <a:cs typeface="+mn-ea"/>
              </a:rPr>
              <a:t>y</a:t>
            </a:r>
            <a:r>
              <a:rPr lang="en-US" altLang="zh-CN" sz="2200" dirty="0">
                <a:solidFill>
                  <a:srgbClr val="000000"/>
                </a:solidFill>
                <a:latin typeface="Times New Roman"/>
                <a:ea typeface="黑体"/>
                <a:cs typeface="+mn-ea"/>
              </a:rPr>
              <a:t>=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3</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4</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3</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(1*0 + 1*1 - 1.5) = 0</a:t>
            </a:r>
          </a:p>
          <a:p>
            <a:pPr marL="431797" lvl="1" indent="-342900">
              <a:lnSpc>
                <a:spcPct val="150000"/>
              </a:lnSpc>
              <a:spcAft>
                <a:spcPts val="600"/>
              </a:spcAft>
              <a:buFont typeface="Wingdings" panose="05000000000000000000" pitchFamily="2" charset="2"/>
              <a:buChar char="Ø"/>
            </a:pPr>
            <a:r>
              <a:rPr lang="zh-CN" altLang="en-US" sz="2200" dirty="0">
                <a:solidFill>
                  <a:srgbClr val="000000"/>
                </a:solidFill>
                <a:latin typeface="Times New Roman"/>
                <a:ea typeface="黑体"/>
                <a:cs typeface="+mn-ea"/>
              </a:rPr>
              <a:t>将样本</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0</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）输入模型，输出</a:t>
            </a:r>
            <a:r>
              <a:rPr lang="en-US" altLang="zh-CN" sz="2200" i="1" dirty="0">
                <a:solidFill>
                  <a:srgbClr val="000000"/>
                </a:solidFill>
                <a:latin typeface="Times New Roman"/>
                <a:ea typeface="黑体"/>
                <a:cs typeface="+mn-ea"/>
              </a:rPr>
              <a:t>y</a:t>
            </a:r>
            <a:r>
              <a:rPr lang="en-US" altLang="zh-CN" sz="22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，计算如下：</a:t>
            </a:r>
          </a:p>
          <a:p>
            <a:pPr marL="87313" lvl="1" indent="360363">
              <a:lnSpc>
                <a:spcPct val="150000"/>
              </a:lnSpc>
              <a:spcAft>
                <a:spcPts val="600"/>
              </a:spcAft>
            </a:pP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(1*0 + 1*1 - 0.5) = 1</a:t>
            </a:r>
          </a:p>
          <a:p>
            <a:pPr marL="87313" lvl="1" indent="360363">
              <a:lnSpc>
                <a:spcPct val="150000"/>
              </a:lnSpc>
              <a:spcAft>
                <a:spcPts val="600"/>
              </a:spcAft>
            </a:pP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 </a:t>
            </a:r>
            <a:r>
              <a:rPr lang="en-US" altLang="zh-CN" sz="2200" dirty="0">
                <a:solidFill>
                  <a:srgbClr val="000000"/>
                </a:solidFill>
                <a:latin typeface="Times New Roman"/>
                <a:ea typeface="黑体"/>
                <a:cs typeface="+mn-ea"/>
              </a:rPr>
              <a:t>=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(-1*0 + -1*1 + 1.5) = 1</a:t>
            </a:r>
          </a:p>
          <a:p>
            <a:pPr marL="87313" lvl="1" indent="360363">
              <a:lnSpc>
                <a:spcPct val="150000"/>
              </a:lnSpc>
              <a:spcAft>
                <a:spcPts val="600"/>
              </a:spcAft>
            </a:pPr>
            <a:r>
              <a:rPr lang="en-US" altLang="zh-CN" sz="2200" i="1" dirty="0">
                <a:solidFill>
                  <a:srgbClr val="000000"/>
                </a:solidFill>
                <a:latin typeface="Times New Roman"/>
                <a:ea typeface="黑体"/>
                <a:cs typeface="+mn-ea"/>
              </a:rPr>
              <a:t>y</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3</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4</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3</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(1*1 + 1*1 - 1.5) = 1</a:t>
            </a:r>
          </a:p>
        </p:txBody>
      </p:sp>
    </p:spTree>
    <p:extLst>
      <p:ext uri="{BB962C8B-B14F-4D97-AF65-F5344CB8AC3E}">
        <p14:creationId xmlns:p14="http://schemas.microsoft.com/office/powerpoint/2010/main" val="306123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42" presetClass="entr" presetSubtype="0" fill="hold" nodeType="afterEffect">
                                  <p:stCondLst>
                                    <p:cond delay="25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1000"/>
                                        <p:tgtEl>
                                          <p:spTgt spid="7">
                                            <p:txEl>
                                              <p:pRg st="1" end="1"/>
                                            </p:txEl>
                                          </p:spTgt>
                                        </p:tgtEl>
                                      </p:cBhvr>
                                    </p:animEffect>
                                    <p:anim calcmode="lin" valueType="num">
                                      <p:cBhvr>
                                        <p:cTn id="1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500"/>
                            </p:stCondLst>
                            <p:childTnLst>
                              <p:par>
                                <p:cTn id="17" presetID="42" presetClass="entr" presetSubtype="0" fill="hold" nodeType="afterEffect">
                                  <p:stCondLst>
                                    <p:cond delay="25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750"/>
                            </p:stCondLst>
                            <p:childTnLst>
                              <p:par>
                                <p:cTn id="23" presetID="42" presetClass="entr" presetSubtype="0" fill="hold" nodeType="afterEffect">
                                  <p:stCondLst>
                                    <p:cond delay="25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1000"/>
                                        <p:tgtEl>
                                          <p:spTgt spid="7">
                                            <p:txEl>
                                              <p:pRg st="3" end="3"/>
                                            </p:txEl>
                                          </p:spTgt>
                                        </p:tgtEl>
                                      </p:cBhvr>
                                    </p:animEffect>
                                    <p:anim calcmode="lin" valueType="num">
                                      <p:cBhvr>
                                        <p:cTn id="2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fade">
                                      <p:cBhvr>
                                        <p:cTn id="32" dur="1000"/>
                                        <p:tgtEl>
                                          <p:spTgt spid="7">
                                            <p:txEl>
                                              <p:pRg st="4" end="4"/>
                                            </p:txEl>
                                          </p:spTgt>
                                        </p:tgtEl>
                                      </p:cBhvr>
                                    </p:animEffect>
                                    <p:anim calcmode="lin" valueType="num">
                                      <p:cBhvr>
                                        <p:cTn id="3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42" presetClass="entr" presetSubtype="0" fill="hold" nodeType="afterEffect">
                                  <p:stCondLst>
                                    <p:cond delay="250"/>
                                  </p:stCondLst>
                                  <p:childTnLst>
                                    <p:set>
                                      <p:cBhvr>
                                        <p:cTn id="37" dur="1" fill="hold">
                                          <p:stCondLst>
                                            <p:cond delay="0"/>
                                          </p:stCondLst>
                                        </p:cTn>
                                        <p:tgtEl>
                                          <p:spTgt spid="7">
                                            <p:txEl>
                                              <p:pRg st="5" end="5"/>
                                            </p:txEl>
                                          </p:spTgt>
                                        </p:tgtEl>
                                        <p:attrNameLst>
                                          <p:attrName>style.visibility</p:attrName>
                                        </p:attrNameLst>
                                      </p:cBhvr>
                                      <p:to>
                                        <p:strVal val="visible"/>
                                      </p:to>
                                    </p:set>
                                    <p:animEffect transition="in" filter="fade">
                                      <p:cBhvr>
                                        <p:cTn id="38" dur="1000"/>
                                        <p:tgtEl>
                                          <p:spTgt spid="7">
                                            <p:txEl>
                                              <p:pRg st="5" end="5"/>
                                            </p:txEl>
                                          </p:spTgt>
                                        </p:tgtEl>
                                      </p:cBhvr>
                                    </p:animEffect>
                                    <p:anim calcmode="lin" valueType="num">
                                      <p:cBhvr>
                                        <p:cTn id="39"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par>
                          <p:cTn id="41" fill="hold">
                            <p:stCondLst>
                              <p:cond delay="2250"/>
                            </p:stCondLst>
                            <p:childTnLst>
                              <p:par>
                                <p:cTn id="42" presetID="42" presetClass="entr" presetSubtype="0" fill="hold" nodeType="afterEffect">
                                  <p:stCondLst>
                                    <p:cond delay="25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par>
                          <p:cTn id="47" fill="hold">
                            <p:stCondLst>
                              <p:cond delay="3500"/>
                            </p:stCondLst>
                            <p:childTnLst>
                              <p:par>
                                <p:cTn id="48" presetID="42" presetClass="entr" presetSubtype="0" fill="hold" nodeType="afterEffect">
                                  <p:stCondLst>
                                    <p:cond delay="250"/>
                                  </p:stCondLst>
                                  <p:childTnLst>
                                    <p:set>
                                      <p:cBhvr>
                                        <p:cTn id="49" dur="1" fill="hold">
                                          <p:stCondLst>
                                            <p:cond delay="0"/>
                                          </p:stCondLst>
                                        </p:cTn>
                                        <p:tgtEl>
                                          <p:spTgt spid="7">
                                            <p:txEl>
                                              <p:pRg st="7" end="7"/>
                                            </p:txEl>
                                          </p:spTgt>
                                        </p:tgtEl>
                                        <p:attrNameLst>
                                          <p:attrName>style.visibility</p:attrName>
                                        </p:attrNameLst>
                                      </p:cBhvr>
                                      <p:to>
                                        <p:strVal val="visible"/>
                                      </p:to>
                                    </p:set>
                                    <p:animEffect transition="in" filter="fade">
                                      <p:cBhvr>
                                        <p:cTn id="50" dur="1000"/>
                                        <p:tgtEl>
                                          <p:spTgt spid="7">
                                            <p:txEl>
                                              <p:pRg st="7" end="7"/>
                                            </p:txEl>
                                          </p:spTgt>
                                        </p:tgtEl>
                                      </p:cBhvr>
                                    </p:animEffect>
                                    <p:anim calcmode="lin" valueType="num">
                                      <p:cBhvr>
                                        <p:cTn id="51"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25726"/>
            <a:ext cx="7962648"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人工神经网络简介</a:t>
            </a:r>
          </a:p>
        </p:txBody>
      </p:sp>
      <p:sp>
        <p:nvSpPr>
          <p:cNvPr id="5" name="文本框 4">
            <a:extLst>
              <a:ext uri="{FF2B5EF4-FFF2-40B4-BE49-F238E27FC236}">
                <a16:creationId xmlns:a16="http://schemas.microsoft.com/office/drawing/2014/main" id="{B8B5D582-45B9-5D18-3D83-080084D1C838}"/>
              </a:ext>
            </a:extLst>
          </p:cNvPr>
          <p:cNvSpPr txBox="1"/>
          <p:nvPr/>
        </p:nvSpPr>
        <p:spPr>
          <a:xfrm>
            <a:off x="524315" y="1155823"/>
            <a:ext cx="6746647" cy="707694"/>
          </a:xfrm>
          <a:prstGeom prst="rect">
            <a:avLst/>
          </a:prstGeom>
          <a:noFill/>
        </p:spPr>
        <p:txBody>
          <a:bodyPr wrap="square">
            <a:spAutoFit/>
          </a:bodyPr>
          <a:lstStyle/>
          <a:p>
            <a:pPr marL="0" lvl="1">
              <a:lnSpc>
                <a:spcPct val="150000"/>
              </a:lnSpc>
              <a:spcAft>
                <a:spcPts val="600"/>
              </a:spcAft>
            </a:pPr>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多层感知机实现异或运算</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08" y="1904603"/>
            <a:ext cx="7962648" cy="4632807"/>
          </a:xfrm>
          <a:prstGeom prst="rect">
            <a:avLst/>
          </a:prstGeom>
          <a:noFill/>
        </p:spPr>
        <p:txBody>
          <a:bodyPr wrap="square">
            <a:spAutoFit/>
          </a:bodyPr>
          <a:lstStyle/>
          <a:p>
            <a:pPr marL="431797" lvl="1" indent="-342900">
              <a:lnSpc>
                <a:spcPct val="150000"/>
              </a:lnSpc>
              <a:spcAft>
                <a:spcPts val="600"/>
              </a:spcAft>
              <a:buFont typeface="Wingdings" panose="05000000000000000000" pitchFamily="2" charset="2"/>
              <a:buChar char="Ø"/>
            </a:pPr>
            <a:r>
              <a:rPr lang="zh-CN" altLang="en-US" sz="2200" dirty="0">
                <a:solidFill>
                  <a:srgbClr val="000000"/>
                </a:solidFill>
                <a:latin typeface="Times New Roman"/>
                <a:ea typeface="黑体"/>
                <a:cs typeface="+mn-ea"/>
              </a:rPr>
              <a:t>将样本</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0</a:t>
            </a:r>
            <a:r>
              <a:rPr lang="zh-CN" altLang="en-US" sz="2200" dirty="0">
                <a:solidFill>
                  <a:srgbClr val="000000"/>
                </a:solidFill>
                <a:latin typeface="Times New Roman"/>
                <a:ea typeface="黑体"/>
                <a:cs typeface="+mn-ea"/>
              </a:rPr>
              <a:t>）输入模型，输出</a:t>
            </a:r>
            <a:r>
              <a:rPr lang="en-US" altLang="zh-CN" sz="2200" i="1" dirty="0">
                <a:solidFill>
                  <a:srgbClr val="000000"/>
                </a:solidFill>
                <a:latin typeface="Times New Roman"/>
                <a:ea typeface="黑体"/>
                <a:cs typeface="+mn-ea"/>
              </a:rPr>
              <a:t>y</a:t>
            </a:r>
            <a:r>
              <a:rPr lang="en-US" altLang="zh-CN" sz="22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，计算如下：</a:t>
            </a:r>
          </a:p>
          <a:p>
            <a:pPr marL="87313" lvl="1" indent="360363">
              <a:lnSpc>
                <a:spcPct val="150000"/>
              </a:lnSpc>
              <a:spcAft>
                <a:spcPts val="600"/>
              </a:spcAft>
            </a:pP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(1*1+1*0-0.5) = 1</a:t>
            </a:r>
          </a:p>
          <a:p>
            <a:pPr marL="87313" lvl="1" indent="360363">
              <a:lnSpc>
                <a:spcPct val="150000"/>
              </a:lnSpc>
              <a:spcAft>
                <a:spcPts val="600"/>
              </a:spcAft>
            </a:pP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(-1*1+-1*0+1.5) = 1</a:t>
            </a:r>
          </a:p>
          <a:p>
            <a:pPr marL="87313" lvl="1" indent="360363">
              <a:lnSpc>
                <a:spcPct val="150000"/>
              </a:lnSpc>
              <a:spcAft>
                <a:spcPts val="600"/>
              </a:spcAft>
            </a:pPr>
            <a:r>
              <a:rPr lang="en-US" altLang="zh-CN" sz="2200" i="1" dirty="0">
                <a:solidFill>
                  <a:srgbClr val="000000"/>
                </a:solidFill>
                <a:latin typeface="Times New Roman"/>
                <a:ea typeface="黑体"/>
                <a:cs typeface="+mn-ea"/>
              </a:rPr>
              <a:t>y</a:t>
            </a:r>
            <a:r>
              <a:rPr lang="en-US" altLang="zh-CN" sz="2200" dirty="0">
                <a:solidFill>
                  <a:srgbClr val="000000"/>
                </a:solidFill>
                <a:latin typeface="Times New Roman"/>
                <a:ea typeface="黑体"/>
                <a:cs typeface="+mn-ea"/>
              </a:rPr>
              <a:t>=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3</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4</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3</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(1*1+1*1-1.5) = 1</a:t>
            </a:r>
          </a:p>
          <a:p>
            <a:pPr marL="431797" lvl="1" indent="-342900">
              <a:lnSpc>
                <a:spcPct val="150000"/>
              </a:lnSpc>
              <a:spcAft>
                <a:spcPts val="600"/>
              </a:spcAft>
              <a:buFont typeface="Wingdings" panose="05000000000000000000" pitchFamily="2" charset="2"/>
              <a:buChar char="Ø"/>
            </a:pPr>
            <a:r>
              <a:rPr lang="zh-CN" altLang="en-US" sz="2200" dirty="0">
                <a:solidFill>
                  <a:srgbClr val="000000"/>
                </a:solidFill>
                <a:latin typeface="Times New Roman"/>
                <a:ea typeface="黑体"/>
                <a:cs typeface="+mn-ea"/>
              </a:rPr>
              <a:t>将样本</a:t>
            </a:r>
            <a:r>
              <a:rPr lang="en-US" altLang="zh-CN" sz="2200"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a:t>
            </a:r>
            <a:r>
              <a:rPr lang="en-US" altLang="zh-CN" sz="2200" dirty="0">
                <a:solidFill>
                  <a:srgbClr val="000000"/>
                </a:solidFill>
                <a:latin typeface="Times New Roman"/>
                <a:ea typeface="黑体"/>
                <a:cs typeface="+mn-ea"/>
              </a:rPr>
              <a:t>1</a:t>
            </a:r>
            <a:r>
              <a:rPr lang="zh-CN" altLang="en-US" sz="2200" dirty="0">
                <a:solidFill>
                  <a:srgbClr val="000000"/>
                </a:solidFill>
                <a:latin typeface="Times New Roman"/>
                <a:ea typeface="黑体"/>
                <a:cs typeface="+mn-ea"/>
              </a:rPr>
              <a:t>）输入模型，输出</a:t>
            </a:r>
            <a:r>
              <a:rPr lang="en-US" altLang="zh-CN" sz="2200" dirty="0">
                <a:solidFill>
                  <a:srgbClr val="000000"/>
                </a:solidFill>
                <a:latin typeface="Times New Roman"/>
                <a:ea typeface="黑体"/>
                <a:cs typeface="+mn-ea"/>
              </a:rPr>
              <a:t>y=0</a:t>
            </a:r>
            <a:r>
              <a:rPr lang="zh-CN" altLang="en-US" sz="2200" dirty="0">
                <a:solidFill>
                  <a:srgbClr val="000000"/>
                </a:solidFill>
                <a:latin typeface="Times New Roman"/>
                <a:ea typeface="黑体"/>
                <a:cs typeface="+mn-ea"/>
              </a:rPr>
              <a:t>，计算如下：</a:t>
            </a:r>
          </a:p>
          <a:p>
            <a:pPr marL="87313" lvl="1" indent="360363">
              <a:lnSpc>
                <a:spcPct val="150000"/>
              </a:lnSpc>
              <a:spcAft>
                <a:spcPts val="600"/>
              </a:spcAft>
            </a:pP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21</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 f(1*1+1*1-0.5) = 1</a:t>
            </a:r>
          </a:p>
          <a:p>
            <a:pPr marL="87313" lvl="1" indent="360363">
              <a:lnSpc>
                <a:spcPct val="150000"/>
              </a:lnSpc>
              <a:spcAft>
                <a:spcPts val="600"/>
              </a:spcAft>
            </a:pP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 </a:t>
            </a:r>
            <a:r>
              <a:rPr lang="en-US" altLang="zh-CN" sz="2200" dirty="0">
                <a:solidFill>
                  <a:srgbClr val="000000"/>
                </a:solidFill>
                <a:latin typeface="Times New Roman"/>
                <a:ea typeface="黑体"/>
                <a:cs typeface="+mn-ea"/>
              </a:rPr>
              <a:t>=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12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22</a:t>
            </a:r>
            <a:r>
              <a:rPr lang="en-US" altLang="zh-CN" sz="2200" i="1" dirty="0">
                <a:solidFill>
                  <a:srgbClr val="000000"/>
                </a:solidFill>
                <a:latin typeface="Times New Roman"/>
                <a:ea typeface="黑体"/>
                <a:cs typeface="+mn-ea"/>
              </a:rPr>
              <a:t>x</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 f(-1*1+-1*1+1.5) = 0</a:t>
            </a:r>
          </a:p>
          <a:p>
            <a:pPr marL="87313" lvl="1" indent="360363">
              <a:lnSpc>
                <a:spcPct val="150000"/>
              </a:lnSpc>
              <a:spcAft>
                <a:spcPts val="600"/>
              </a:spcAft>
            </a:pPr>
            <a:r>
              <a:rPr lang="en-US" altLang="zh-CN" sz="2200" i="1" dirty="0">
                <a:solidFill>
                  <a:srgbClr val="000000"/>
                </a:solidFill>
                <a:latin typeface="Times New Roman"/>
                <a:ea typeface="黑体"/>
                <a:cs typeface="+mn-ea"/>
              </a:rPr>
              <a:t>y</a:t>
            </a:r>
            <a:r>
              <a:rPr lang="en-US" altLang="zh-CN" sz="2200" dirty="0">
                <a:solidFill>
                  <a:srgbClr val="000000"/>
                </a:solidFill>
                <a:latin typeface="Times New Roman"/>
                <a:ea typeface="黑体"/>
                <a:cs typeface="+mn-ea"/>
              </a:rPr>
              <a:t> = </a:t>
            </a:r>
            <a:r>
              <a:rPr lang="en-US" altLang="zh-CN" sz="2200" i="1" dirty="0">
                <a:solidFill>
                  <a:srgbClr val="000000"/>
                </a:solidFill>
                <a:latin typeface="Times New Roman"/>
                <a:ea typeface="黑体"/>
                <a:cs typeface="+mn-ea"/>
              </a:rPr>
              <a:t>f</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3</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1</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w</a:t>
            </a:r>
            <a:r>
              <a:rPr lang="en-US" altLang="zh-CN" sz="2200" baseline="-25000" dirty="0">
                <a:solidFill>
                  <a:srgbClr val="000000"/>
                </a:solidFill>
                <a:latin typeface="Times New Roman"/>
                <a:ea typeface="黑体"/>
                <a:cs typeface="+mn-ea"/>
              </a:rPr>
              <a:t>4</a:t>
            </a:r>
            <a:r>
              <a:rPr lang="en-US" altLang="zh-CN" sz="2200" i="1" dirty="0">
                <a:solidFill>
                  <a:srgbClr val="000000"/>
                </a:solidFill>
                <a:latin typeface="Times New Roman"/>
                <a:ea typeface="黑体"/>
                <a:cs typeface="+mn-ea"/>
              </a:rPr>
              <a:t>s</a:t>
            </a:r>
            <a:r>
              <a:rPr lang="en-US" altLang="zh-CN" sz="2200" baseline="-25000" dirty="0">
                <a:solidFill>
                  <a:srgbClr val="000000"/>
                </a:solidFill>
                <a:latin typeface="Times New Roman"/>
                <a:ea typeface="黑体"/>
                <a:cs typeface="+mn-ea"/>
              </a:rPr>
              <a:t>2</a:t>
            </a:r>
            <a:r>
              <a:rPr lang="en-US" altLang="zh-CN" sz="2200" dirty="0">
                <a:solidFill>
                  <a:srgbClr val="000000"/>
                </a:solidFill>
                <a:latin typeface="Times New Roman"/>
                <a:ea typeface="黑体"/>
                <a:cs typeface="+mn-ea"/>
              </a:rPr>
              <a:t>+</a:t>
            </a:r>
            <a:r>
              <a:rPr lang="en-US" altLang="zh-CN" sz="2200" i="1" dirty="0">
                <a:solidFill>
                  <a:srgbClr val="000000"/>
                </a:solidFill>
                <a:latin typeface="Times New Roman"/>
                <a:ea typeface="黑体"/>
                <a:cs typeface="+mn-ea"/>
              </a:rPr>
              <a:t>b</a:t>
            </a:r>
            <a:r>
              <a:rPr lang="en-US" altLang="zh-CN" sz="2200" baseline="-25000" dirty="0">
                <a:solidFill>
                  <a:srgbClr val="000000"/>
                </a:solidFill>
                <a:latin typeface="Times New Roman"/>
                <a:ea typeface="黑体"/>
                <a:cs typeface="+mn-ea"/>
              </a:rPr>
              <a:t>3</a:t>
            </a:r>
            <a:r>
              <a:rPr lang="en-US" altLang="zh-CN" sz="2200" dirty="0">
                <a:solidFill>
                  <a:srgbClr val="000000"/>
                </a:solidFill>
                <a:latin typeface="Times New Roman"/>
                <a:ea typeface="黑体"/>
                <a:cs typeface="+mn-ea"/>
              </a:rPr>
              <a:t>)= f(1*1+1*0-1.5) = 0</a:t>
            </a:r>
            <a:endParaRPr lang="zh-CN" altLang="en-US" sz="2200" dirty="0">
              <a:solidFill>
                <a:prstClr val="black"/>
              </a:solidFill>
              <a:latin typeface="Times New Roman"/>
              <a:ea typeface="黑体"/>
            </a:endParaRPr>
          </a:p>
        </p:txBody>
      </p:sp>
    </p:spTree>
    <p:extLst>
      <p:ext uri="{BB962C8B-B14F-4D97-AF65-F5344CB8AC3E}">
        <p14:creationId xmlns:p14="http://schemas.microsoft.com/office/powerpoint/2010/main" val="1798964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50"/>
                                        <p:tgtEl>
                                          <p:spTgt spid="7">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25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750"/>
                                        <p:tgtEl>
                                          <p:spTgt spid="7">
                                            <p:txEl>
                                              <p:pRg st="1" end="1"/>
                                            </p:txEl>
                                          </p:spTgt>
                                        </p:tgtEl>
                                      </p:cBhvr>
                                    </p:animEffect>
                                  </p:childTnLst>
                                </p:cTn>
                              </p:par>
                            </p:childTnLst>
                          </p:cTn>
                        </p:par>
                        <p:par>
                          <p:cTn id="12" fill="hold">
                            <p:stCondLst>
                              <p:cond delay="2000"/>
                            </p:stCondLst>
                            <p:childTnLst>
                              <p:par>
                                <p:cTn id="13" presetID="10" presetClass="entr" presetSubtype="0" fill="hold" nodeType="afterEffect">
                                  <p:stCondLst>
                                    <p:cond delay="25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750"/>
                                        <p:tgtEl>
                                          <p:spTgt spid="7">
                                            <p:txEl>
                                              <p:pRg st="2" end="2"/>
                                            </p:txEl>
                                          </p:spTgt>
                                        </p:tgtEl>
                                      </p:cBhvr>
                                    </p:animEffect>
                                  </p:childTnLst>
                                </p:cTn>
                              </p:par>
                            </p:childTnLst>
                          </p:cTn>
                        </p:par>
                        <p:par>
                          <p:cTn id="16" fill="hold">
                            <p:stCondLst>
                              <p:cond delay="3000"/>
                            </p:stCondLst>
                            <p:childTnLst>
                              <p:par>
                                <p:cTn id="17" presetID="10" presetClass="entr" presetSubtype="0" fill="hold" nodeType="afterEffect">
                                  <p:stCondLst>
                                    <p:cond delay="25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750"/>
                                        <p:tgtEl>
                                          <p:spTgt spid="7">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750"/>
                                        <p:tgtEl>
                                          <p:spTgt spid="7">
                                            <p:txEl>
                                              <p:pRg st="4" end="4"/>
                                            </p:txEl>
                                          </p:spTgt>
                                        </p:tgtEl>
                                      </p:cBhvr>
                                    </p:animEffect>
                                  </p:childTnLst>
                                </p:cTn>
                              </p:par>
                            </p:childTnLst>
                          </p:cTn>
                        </p:par>
                        <p:par>
                          <p:cTn id="25" fill="hold">
                            <p:stCondLst>
                              <p:cond delay="750"/>
                            </p:stCondLst>
                            <p:childTnLst>
                              <p:par>
                                <p:cTn id="26" presetID="10" presetClass="entr" presetSubtype="0" fill="hold" nodeType="afterEffect">
                                  <p:stCondLst>
                                    <p:cond delay="25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750"/>
                                        <p:tgtEl>
                                          <p:spTgt spid="7">
                                            <p:txEl>
                                              <p:pRg st="5" end="5"/>
                                            </p:txEl>
                                          </p:spTgt>
                                        </p:tgtEl>
                                      </p:cBhvr>
                                    </p:animEffect>
                                  </p:childTnLst>
                                </p:cTn>
                              </p:par>
                            </p:childTnLst>
                          </p:cTn>
                        </p:par>
                        <p:par>
                          <p:cTn id="29" fill="hold">
                            <p:stCondLst>
                              <p:cond delay="1750"/>
                            </p:stCondLst>
                            <p:childTnLst>
                              <p:par>
                                <p:cTn id="30" presetID="10" presetClass="entr" presetSubtype="0" fill="hold" nodeType="afterEffect">
                                  <p:stCondLst>
                                    <p:cond delay="25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750"/>
                                        <p:tgtEl>
                                          <p:spTgt spid="7">
                                            <p:txEl>
                                              <p:pRg st="6" end="6"/>
                                            </p:txEl>
                                          </p:spTgt>
                                        </p:tgtEl>
                                      </p:cBhvr>
                                    </p:animEffect>
                                  </p:childTnLst>
                                </p:cTn>
                              </p:par>
                            </p:childTnLst>
                          </p:cTn>
                        </p:par>
                        <p:par>
                          <p:cTn id="33" fill="hold">
                            <p:stCondLst>
                              <p:cond delay="2750"/>
                            </p:stCondLst>
                            <p:childTnLst>
                              <p:par>
                                <p:cTn id="34" presetID="10" presetClass="entr" presetSubtype="0" fill="hold" nodeType="afterEffect">
                                  <p:stCondLst>
                                    <p:cond delay="25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75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5959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239240"/>
            <a:ext cx="7962648" cy="5150384"/>
          </a:xfrm>
          <a:prstGeom prst="rect">
            <a:avLst/>
          </a:prstGeom>
          <a:noFill/>
        </p:spPr>
        <p:txBody>
          <a:bodyPr wrap="square">
            <a:spAutoFit/>
          </a:bodyPr>
          <a:lstStyle/>
          <a:p>
            <a:pPr marL="431797" lvl="1" indent="-342900" algn="just">
              <a:lnSpc>
                <a:spcPct val="130000"/>
              </a:lnSpc>
              <a:spcAft>
                <a:spcPts val="600"/>
              </a:spcAft>
              <a:buFont typeface="Wingdings" panose="05000000000000000000" pitchFamily="2" charset="2"/>
              <a:buChar char="Ø"/>
            </a:pPr>
            <a:r>
              <a:rPr lang="zh-CN" altLang="en-US" sz="2800" dirty="0">
                <a:solidFill>
                  <a:srgbClr val="FF0000"/>
                </a:solidFill>
                <a:latin typeface="Times New Roman"/>
                <a:ea typeface="黑体"/>
                <a:cs typeface="+mn-ea"/>
              </a:rPr>
              <a:t>定义： </a:t>
            </a:r>
            <a:r>
              <a:rPr lang="zh-CN" altLang="en-US" sz="2800" dirty="0">
                <a:solidFill>
                  <a:srgbClr val="000000"/>
                </a:solidFill>
                <a:latin typeface="Times New Roman"/>
                <a:ea typeface="黑体"/>
                <a:cs typeface="+mn-ea"/>
              </a:rPr>
              <a:t>多层神经网络（</a:t>
            </a:r>
            <a:r>
              <a:rPr lang="en-US" altLang="zh-CN" sz="2800" dirty="0">
                <a:solidFill>
                  <a:srgbClr val="000000"/>
                </a:solidFill>
                <a:latin typeface="Times New Roman"/>
                <a:ea typeface="黑体"/>
                <a:cs typeface="+mn-ea"/>
              </a:rPr>
              <a:t>Multilayer neural network</a:t>
            </a:r>
            <a:r>
              <a:rPr lang="zh-CN" altLang="en-US" sz="2800" dirty="0">
                <a:solidFill>
                  <a:srgbClr val="000000"/>
                </a:solidFill>
                <a:latin typeface="Times New Roman"/>
                <a:ea typeface="黑体"/>
                <a:cs typeface="+mn-ea"/>
              </a:rPr>
              <a:t>，常被称为多层感知机）的计算过程和感知机类似，通过输入数据来</a:t>
            </a:r>
            <a:r>
              <a:rPr lang="zh-CN" altLang="en-US" sz="2800" dirty="0">
                <a:solidFill>
                  <a:srgbClr val="FF0000"/>
                </a:solidFill>
                <a:latin typeface="Times New Roman"/>
                <a:ea typeface="黑体"/>
                <a:cs typeface="+mn-ea"/>
              </a:rPr>
              <a:t>前向计算</a:t>
            </a:r>
            <a:r>
              <a:rPr lang="zh-CN" altLang="en-US" sz="2800" dirty="0">
                <a:solidFill>
                  <a:srgbClr val="000000"/>
                </a:solidFill>
                <a:latin typeface="Times New Roman"/>
                <a:ea typeface="黑体"/>
                <a:cs typeface="+mn-ea"/>
              </a:rPr>
              <a:t>各个神经元输出，并传递到下一层作为输入，最终得出结果。</a:t>
            </a:r>
          </a:p>
          <a:p>
            <a:pPr marL="431797" lvl="1" indent="-342900" algn="just">
              <a:lnSpc>
                <a:spcPct val="130000"/>
              </a:lnSpc>
              <a:spcAft>
                <a:spcPts val="600"/>
              </a:spcAft>
              <a:buFont typeface="Wingdings" panose="05000000000000000000" pitchFamily="2" charset="2"/>
              <a:buChar char="Ø"/>
            </a:pPr>
            <a:r>
              <a:rPr lang="zh-CN" altLang="en-US" sz="2800" dirty="0">
                <a:solidFill>
                  <a:srgbClr val="FF0000"/>
                </a:solidFill>
                <a:latin typeface="Times New Roman"/>
                <a:ea typeface="黑体"/>
                <a:cs typeface="+mn-ea"/>
              </a:rPr>
              <a:t>核心：</a:t>
            </a:r>
            <a:r>
              <a:rPr lang="zh-CN" altLang="en-US" sz="2800" dirty="0">
                <a:solidFill>
                  <a:srgbClr val="000000"/>
                </a:solidFill>
                <a:latin typeface="Times New Roman"/>
                <a:ea typeface="黑体"/>
                <a:cs typeface="+mn-ea"/>
              </a:rPr>
              <a:t>采用</a:t>
            </a:r>
            <a:r>
              <a:rPr lang="zh-CN" altLang="en-US" sz="2800" dirty="0">
                <a:solidFill>
                  <a:srgbClr val="FF0000"/>
                </a:solidFill>
                <a:latin typeface="Times New Roman"/>
                <a:ea typeface="黑体"/>
                <a:cs typeface="+mn-ea"/>
              </a:rPr>
              <a:t>反向传播算法（</a:t>
            </a:r>
            <a:r>
              <a:rPr lang="en-US" altLang="zh-CN" sz="2800" dirty="0">
                <a:solidFill>
                  <a:srgbClr val="FF0000"/>
                </a:solidFill>
                <a:latin typeface="Times New Roman"/>
                <a:ea typeface="黑体"/>
                <a:cs typeface="+mn-ea"/>
              </a:rPr>
              <a:t>BP</a:t>
            </a:r>
            <a:r>
              <a:rPr lang="zh-CN" altLang="en-US" sz="2800" dirty="0">
                <a:solidFill>
                  <a:srgbClr val="FF0000"/>
                </a:solidFill>
                <a:latin typeface="Times New Roman"/>
                <a:ea typeface="黑体"/>
                <a:cs typeface="+mn-ea"/>
              </a:rPr>
              <a:t>算法）</a:t>
            </a:r>
            <a:r>
              <a:rPr lang="zh-CN" altLang="en-US" sz="2800" dirty="0">
                <a:solidFill>
                  <a:srgbClr val="000000"/>
                </a:solidFill>
                <a:latin typeface="Times New Roman"/>
                <a:ea typeface="黑体"/>
                <a:cs typeface="+mn-ea"/>
              </a:rPr>
              <a:t>来训练各层神经元的权值参数（即学习）。而</a:t>
            </a:r>
            <a:r>
              <a:rPr lang="en-US" altLang="zh-CN" sz="2800" dirty="0">
                <a:solidFill>
                  <a:srgbClr val="000000"/>
                </a:solidFill>
                <a:latin typeface="Times New Roman"/>
                <a:ea typeface="黑体"/>
                <a:cs typeface="+mn-ea"/>
              </a:rPr>
              <a:t>BP</a:t>
            </a:r>
            <a:r>
              <a:rPr lang="zh-CN" altLang="en-US" sz="2800" dirty="0">
                <a:solidFill>
                  <a:srgbClr val="000000"/>
                </a:solidFill>
                <a:latin typeface="Times New Roman"/>
                <a:ea typeface="黑体"/>
                <a:cs typeface="+mn-ea"/>
              </a:rPr>
              <a:t>算法的关键是使用了一个重要的数学概念</a:t>
            </a:r>
            <a:r>
              <a:rPr lang="en-US" altLang="zh-CN" sz="2800" dirty="0">
                <a:solidFill>
                  <a:srgbClr val="000000"/>
                </a:solidFill>
                <a:latin typeface="Times New Roman"/>
                <a:ea typeface="黑体"/>
                <a:cs typeface="+mn-ea"/>
              </a:rPr>
              <a:t>——</a:t>
            </a:r>
            <a:r>
              <a:rPr lang="zh-CN" altLang="en-US" sz="2800" dirty="0">
                <a:solidFill>
                  <a:srgbClr val="000000"/>
                </a:solidFill>
                <a:latin typeface="Times New Roman"/>
                <a:ea typeface="黑体"/>
                <a:cs typeface="+mn-ea"/>
              </a:rPr>
              <a:t>梯度</a:t>
            </a:r>
            <a:r>
              <a:rPr lang="en-US" altLang="zh-CN" sz="2800" dirty="0">
                <a:solidFill>
                  <a:srgbClr val="000000"/>
                </a:solidFill>
                <a:latin typeface="Times New Roman"/>
                <a:ea typeface="黑体"/>
                <a:cs typeface="+mn-ea"/>
              </a:rPr>
              <a:t>(Gradient)</a:t>
            </a:r>
            <a:r>
              <a:rPr lang="zh-CN" altLang="en-US" sz="2800" dirty="0">
                <a:solidFill>
                  <a:srgbClr val="000000"/>
                </a:solidFill>
                <a:latin typeface="Times New Roman"/>
                <a:ea typeface="黑体"/>
                <a:cs typeface="+mn-ea"/>
              </a:rPr>
              <a:t>，而梯度又是由偏导数构成。 </a:t>
            </a:r>
            <a:endParaRPr lang="zh-CN" altLang="en-US" sz="2800" dirty="0">
              <a:solidFill>
                <a:prstClr val="black"/>
              </a:solidFill>
              <a:latin typeface="Times New Roman"/>
              <a:ea typeface="黑体"/>
            </a:endParaRPr>
          </a:p>
        </p:txBody>
      </p:sp>
    </p:spTree>
    <p:extLst>
      <p:ext uri="{BB962C8B-B14F-4D97-AF65-F5344CB8AC3E}">
        <p14:creationId xmlns:p14="http://schemas.microsoft.com/office/powerpoint/2010/main" val="120399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75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5510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2011400"/>
            <a:ext cx="8071045" cy="4428392"/>
          </a:xfrm>
          <a:prstGeom prst="rect">
            <a:avLst/>
          </a:prstGeom>
          <a:noFill/>
        </p:spPr>
        <p:txBody>
          <a:bodyPr wrap="square">
            <a:spAutoFit/>
          </a:bodyPr>
          <a:lstStyle/>
          <a:p>
            <a:pPr marL="431797" lvl="1" indent="-342900" algn="just">
              <a:lnSpc>
                <a:spcPct val="130000"/>
              </a:lnSpc>
              <a:spcAft>
                <a:spcPts val="600"/>
              </a:spcAft>
              <a:buFont typeface="Wingdings" panose="05000000000000000000" pitchFamily="2" charset="2"/>
              <a:buChar char="Ø"/>
            </a:pPr>
            <a:r>
              <a:rPr lang="zh-CN" altLang="en-US" sz="2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梯度：</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函数在某点的导数</a:t>
            </a:r>
            <a:endParaRPr lang="en-US" altLang="zh-CN" sz="2600" dirty="0">
              <a:latin typeface="Times New Roman" panose="02020603050405020304" pitchFamily="18" charset="0"/>
              <a:ea typeface="黑体" panose="02010609060101010101" pitchFamily="49" charset="-122"/>
              <a:cs typeface="Times New Roman" panose="02020603050405020304" pitchFamily="18" charset="0"/>
            </a:endParaRPr>
          </a:p>
          <a:p>
            <a:pPr marL="88897" lvl="1" algn="just">
              <a:lnSpc>
                <a:spcPct val="130000"/>
              </a:lnSpc>
              <a:spcAft>
                <a:spcPts val="600"/>
              </a:spcAft>
            </a:pP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    表示函数值在这一点附近的</a:t>
            </a:r>
            <a:endParaRPr lang="en-US" altLang="zh-CN" sz="2600" dirty="0">
              <a:latin typeface="Times New Roman" panose="02020603050405020304" pitchFamily="18" charset="0"/>
              <a:ea typeface="黑体" panose="02010609060101010101" pitchFamily="49" charset="-122"/>
              <a:cs typeface="Times New Roman" panose="02020603050405020304" pitchFamily="18" charset="0"/>
            </a:endParaRPr>
          </a:p>
          <a:p>
            <a:pPr marL="88897" lvl="1" algn="just">
              <a:lnSpc>
                <a:spcPct val="130000"/>
              </a:lnSpc>
              <a:spcAft>
                <a:spcPts val="600"/>
              </a:spcAft>
            </a:pP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    变化率。</a:t>
            </a:r>
          </a:p>
          <a:p>
            <a:pPr marL="431797" lvl="1" indent="-342900" algn="just">
              <a:lnSpc>
                <a:spcPct val="130000"/>
              </a:lnSpc>
              <a:spcAft>
                <a:spcPts val="600"/>
              </a:spcAft>
              <a:buFont typeface="Wingdings" panose="05000000000000000000" pitchFamily="2" charset="2"/>
              <a:buChar char="Ø"/>
            </a:pP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以一元二次函数为例，右图是该函数在二维平面中的图像，并在图上分别画出了</a:t>
            </a:r>
            <a:r>
              <a:rPr lang="en-US" altLang="zh-CN" sz="2600" dirty="0">
                <a:latin typeface="Times New Roman" panose="02020603050405020304" pitchFamily="18" charset="0"/>
                <a:ea typeface="黑体" panose="02010609060101010101" pitchFamily="49" charset="-122"/>
                <a:cs typeface="Times New Roman" panose="02020603050405020304" pitchFamily="18" charset="0"/>
              </a:rPr>
              <a:t>(1,1)</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600" dirty="0">
                <a:latin typeface="Times New Roman" panose="02020603050405020304" pitchFamily="18" charset="0"/>
                <a:ea typeface="黑体" panose="02010609060101010101" pitchFamily="49" charset="-122"/>
                <a:cs typeface="Times New Roman" panose="02020603050405020304" pitchFamily="18" charset="0"/>
              </a:rPr>
              <a:t>(15,225)</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两点处的切线，每个点位置的导数值也就是在该点切线的斜率。该函数的导数用</a:t>
            </a:r>
            <a:r>
              <a:rPr lang="en-US" altLang="zh-CN" sz="2600" dirty="0">
                <a:latin typeface="Times New Roman" panose="02020603050405020304" pitchFamily="18" charset="0"/>
                <a:ea typeface="黑体" panose="02010609060101010101" pitchFamily="49" charset="-122"/>
                <a:cs typeface="Times New Roman" panose="02020603050405020304" pitchFamily="18" charset="0"/>
              </a:rPr>
              <a:t>y’</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表示，根据求导公式有：在点</a:t>
            </a:r>
            <a:r>
              <a:rPr lang="en-US" altLang="zh-CN" sz="2600" dirty="0">
                <a:latin typeface="Times New Roman" panose="02020603050405020304" pitchFamily="18" charset="0"/>
                <a:ea typeface="黑体" panose="02010609060101010101" pitchFamily="49" charset="-122"/>
                <a:cs typeface="Times New Roman" panose="02020603050405020304" pitchFamily="18" charset="0"/>
              </a:rPr>
              <a:t>x=15</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处的导数值为</a:t>
            </a:r>
            <a:r>
              <a:rPr lang="en-US" altLang="zh-CN" sz="2600" dirty="0">
                <a:latin typeface="Times New Roman" panose="02020603050405020304" pitchFamily="18" charset="0"/>
                <a:ea typeface="黑体" panose="02010609060101010101" pitchFamily="49" charset="-122"/>
                <a:cs typeface="Times New Roman" panose="02020603050405020304" pitchFamily="18" charset="0"/>
              </a:rPr>
              <a:t>30</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；点</a:t>
            </a:r>
            <a:r>
              <a:rPr lang="en-US" altLang="zh-CN" sz="2600" dirty="0">
                <a:latin typeface="Times New Roman" panose="02020603050405020304" pitchFamily="18" charset="0"/>
                <a:ea typeface="黑体" panose="02010609060101010101" pitchFamily="49" charset="-122"/>
                <a:cs typeface="Times New Roman" panose="02020603050405020304" pitchFamily="18" charset="0"/>
              </a:rPr>
              <a:t>x=1</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处的导数值为</a:t>
            </a:r>
            <a:r>
              <a:rPr lang="en-US" altLang="zh-CN" sz="26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600" dirty="0">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5" y="1317693"/>
            <a:ext cx="4572000"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梯度</a:t>
            </a:r>
            <a:endParaRPr lang="zh-CN" altLang="en-US" sz="3200" dirty="0">
              <a:solidFill>
                <a:srgbClr val="C00000"/>
              </a:solidFill>
              <a:latin typeface="方正姚体" panose="02010601030101010101" pitchFamily="2" charset="-122"/>
              <a:ea typeface="方正姚体" panose="02010601030101010101" pitchFamily="2" charset="-122"/>
            </a:endParaRPr>
          </a:p>
        </p:txBody>
      </p:sp>
      <p:pic>
        <p:nvPicPr>
          <p:cNvPr id="6" name="图片 38">
            <a:extLst>
              <a:ext uri="{FF2B5EF4-FFF2-40B4-BE49-F238E27FC236}">
                <a16:creationId xmlns:a16="http://schemas.microsoft.com/office/drawing/2014/main" id="{93DC689A-7200-5405-D6A0-05DCDF5179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915297" y="592829"/>
            <a:ext cx="4228703" cy="2810772"/>
          </a:xfrm>
          <a:prstGeom prst="rect">
            <a:avLst/>
          </a:prstGeom>
          <a:noFill/>
          <a:ln>
            <a:noFill/>
          </a:ln>
        </p:spPr>
      </p:pic>
    </p:spTree>
    <p:extLst>
      <p:ext uri="{BB962C8B-B14F-4D97-AF65-F5344CB8AC3E}">
        <p14:creationId xmlns:p14="http://schemas.microsoft.com/office/powerpoint/2010/main" val="187688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anim calcmode="lin" valueType="num">
                                      <p:cBhvr>
                                        <p:cTn id="8" dur="750" fill="hold"/>
                                        <p:tgtEl>
                                          <p:spTgt spid="5"/>
                                        </p:tgtEl>
                                        <p:attrNameLst>
                                          <p:attrName>ppt_x</p:attrName>
                                        </p:attrNameLst>
                                      </p:cBhvr>
                                      <p:tavLst>
                                        <p:tav tm="0">
                                          <p:val>
                                            <p:strVal val="#ppt_x"/>
                                          </p:val>
                                        </p:tav>
                                        <p:tav tm="100000">
                                          <p:val>
                                            <p:strVal val="#ppt_x"/>
                                          </p:val>
                                        </p:tav>
                                      </p:tavLst>
                                    </p:anim>
                                    <p:anim calcmode="lin" valueType="num">
                                      <p:cBhvr>
                                        <p:cTn id="9" dur="75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1000"/>
                                        <p:tgtEl>
                                          <p:spTgt spid="7">
                                            <p:txEl>
                                              <p:pRg st="0" end="0"/>
                                            </p:txEl>
                                          </p:spTgt>
                                        </p:tgtEl>
                                      </p:cBhvr>
                                    </p:animEffect>
                                  </p:childTnLst>
                                </p:cTn>
                              </p:par>
                              <p:par>
                                <p:cTn id="14" presetID="10" presetClass="entr" presetSubtype="0" fill="hold" nodeType="withEffect">
                                  <p:stCondLst>
                                    <p:cond delay="250"/>
                                  </p:stCondLst>
                                  <p:childTnLst>
                                    <p:set>
                                      <p:cBhvr>
                                        <p:cTn id="15" dur="1" fill="hold">
                                          <p:stCondLst>
                                            <p:cond delay="0"/>
                                          </p:stCondLst>
                                        </p:cTn>
                                        <p:tgtEl>
                                          <p:spTgt spid="7">
                                            <p:txEl>
                                              <p:pRg st="1" end="1"/>
                                            </p:txEl>
                                          </p:spTgt>
                                        </p:tgtEl>
                                        <p:attrNameLst>
                                          <p:attrName>style.visibility</p:attrName>
                                        </p:attrNameLst>
                                      </p:cBhvr>
                                      <p:to>
                                        <p:strVal val="visible"/>
                                      </p:to>
                                    </p:set>
                                    <p:animEffect transition="in" filter="fade">
                                      <p:cBhvr>
                                        <p:cTn id="16" dur="1000"/>
                                        <p:tgtEl>
                                          <p:spTgt spid="7">
                                            <p:txEl>
                                              <p:pRg st="1" end="1"/>
                                            </p:txEl>
                                          </p:spTgt>
                                        </p:tgtEl>
                                      </p:cBhvr>
                                    </p:animEffect>
                                  </p:childTnLst>
                                </p:cTn>
                              </p:par>
                              <p:par>
                                <p:cTn id="17" presetID="10" presetClass="entr" presetSubtype="0" fill="hold" nodeType="withEffect">
                                  <p:stCondLst>
                                    <p:cond delay="25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750"/>
                                        <p:tgtEl>
                                          <p:spTgt spid="7">
                                            <p:txEl>
                                              <p:pRg st="3" end="3"/>
                                            </p:txEl>
                                          </p:spTgt>
                                        </p:tgtEl>
                                      </p:cBhvr>
                                    </p:animEffect>
                                  </p:childTnLst>
                                </p:cTn>
                              </p:par>
                            </p:childTnLst>
                          </p:cTn>
                        </p:par>
                        <p:par>
                          <p:cTn id="25" fill="hold">
                            <p:stCondLst>
                              <p:cond delay="750"/>
                            </p:stCondLst>
                            <p:childTnLst>
                              <p:par>
                                <p:cTn id="26" presetID="42" presetClass="entr" presetSubtype="0" fill="hold" nodeType="afterEffect">
                                  <p:stCondLst>
                                    <p:cond delay="5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6" y="1909800"/>
                <a:ext cx="7962648" cy="4249946"/>
              </a:xfrm>
              <a:prstGeom prst="rect">
                <a:avLst/>
              </a:prstGeom>
              <a:noFill/>
            </p:spPr>
            <p:txBody>
              <a:bodyPr wrap="square">
                <a:spAutoFit/>
              </a:bodyPr>
              <a:lstStyle/>
              <a:p>
                <a:pPr marL="431797" lvl="1" indent="-342900" algn="just">
                  <a:lnSpc>
                    <a:spcPct val="150000"/>
                  </a:lnSpc>
                  <a:spcAft>
                    <a:spcPts val="600"/>
                  </a:spcAft>
                  <a:buFont typeface="Wingdings" panose="05000000000000000000" pitchFamily="2" charset="2"/>
                  <a:buChar char="Ø"/>
                </a:pPr>
                <a:r>
                  <a:rPr lang="zh-CN" altLang="en-US" sz="2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梯度的求解：</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多元函数的梯度的求解与其偏导数有关，形式上看，梯度就是把多元函数的各个变量的偏导数放在一起构成的向量。</a:t>
                </a:r>
              </a:p>
              <a:p>
                <a:pPr marL="431797" lvl="1" indent="-342900" algn="just">
                  <a:lnSpc>
                    <a:spcPct val="150000"/>
                  </a:lnSpc>
                  <a:spcAft>
                    <a:spcPts val="600"/>
                  </a:spcAft>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以二元函数𝑓</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𝑥</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𝑦</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为例，其梯度表达式为</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88897" lvl="1" algn="just">
                  <a:lnSpc>
                    <a:spcPct val="150000"/>
                  </a:lnSpc>
                  <a:spcAft>
                    <a:spcPts val="600"/>
                  </a:spcAft>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𝑔𝑟𝑎𝑑</m:t>
                      </m:r>
                      <m:d>
                        <m:dPr>
                          <m:ctrlP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ctrlPr>
                        </m:dPr>
                        <m:e>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𝑓</m:t>
                          </m:r>
                        </m:e>
                      </m:d>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f>
                        <m:fPr>
                          <m:ctrlP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ctrlPr>
                        </m:fPr>
                        <m:num>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𝑓</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𝑥</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𝑦</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num>
                        <m:den>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𝑥</m:t>
                          </m:r>
                        </m:den>
                      </m:f>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f>
                        <m:fPr>
                          <m:ctrlP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ctrlPr>
                        </m:fPr>
                        <m:num>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𝑓</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𝑥</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𝑦</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num>
                        <m:den>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𝑦</m:t>
                          </m:r>
                        </m:den>
                      </m:f>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oMath>
                  </m:oMathPara>
                </a14:m>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6" y="1909800"/>
                <a:ext cx="7962648" cy="4249946"/>
              </a:xfrm>
              <a:prstGeom prst="rect">
                <a:avLst/>
              </a:prstGeom>
              <a:blipFill>
                <a:blip r:embed="rId2"/>
                <a:stretch>
                  <a:fillRect l="-153" r="-160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5" y="1216093"/>
            <a:ext cx="4572000"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梯度</a:t>
            </a:r>
            <a:endParaRPr lang="zh-CN" altLang="en-US" sz="3200" dirty="0">
              <a:solidFill>
                <a:srgbClr val="C00000"/>
              </a:solidFill>
              <a:latin typeface="方正姚体" panose="02010601030101010101" pitchFamily="2" charset="-122"/>
              <a:ea typeface="方正姚体" panose="02010601030101010101" pitchFamily="2" charset="-122"/>
            </a:endParaRPr>
          </a:p>
        </p:txBody>
      </p:sp>
    </p:spTree>
    <p:extLst>
      <p:ext uri="{BB962C8B-B14F-4D97-AF65-F5344CB8AC3E}">
        <p14:creationId xmlns:p14="http://schemas.microsoft.com/office/powerpoint/2010/main" val="361556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childTnLst>
                                </p:cTn>
                              </p:par>
                            </p:childTnLst>
                          </p:cTn>
                        </p:par>
                        <p:par>
                          <p:cTn id="13" fill="hold">
                            <p:stCondLst>
                              <p:cond delay="1000"/>
                            </p:stCondLst>
                            <p:childTnLst>
                              <p:par>
                                <p:cTn id="14" presetID="10" presetClass="entr" presetSubtype="0" fill="hold" nodeType="afterEffect">
                                  <p:stCondLst>
                                    <p:cond delay="25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fade">
                                      <p:cBhvr>
                                        <p:cTn id="16"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230582"/>
              </a:xfrm>
              <a:prstGeom prst="rect">
                <a:avLst/>
              </a:prstGeom>
              <a:noFill/>
              <a:ln w="12700">
                <a:solidFill>
                  <a:srgbClr val="C00000"/>
                </a:solidFill>
              </a:ln>
            </p:spPr>
            <p:txBody>
              <a:bodyPr wrap="square">
                <a:spAutoFit/>
              </a:bodyPr>
              <a:lstStyle/>
              <a:p>
                <a:pPr marL="431797" lvl="1" indent="-342900" algn="just">
                  <a:lnSpc>
                    <a:spcPct val="130000"/>
                  </a:lnSpc>
                  <a:spcAft>
                    <a:spcPts val="600"/>
                  </a:spcAft>
                  <a:buFont typeface="Wingdings" panose="05000000000000000000" pitchFamily="2" charset="2"/>
                  <a:buChar char="Ø"/>
                </a:pPr>
                <a:r>
                  <a:rPr lang="zh-CN" altLang="en-US" sz="2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梯度的求解：</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多元函数的梯度的求解与其偏导数有关，形式上看，梯度就是把多元函数的各个变量的偏导数放在一起构成的向量。</a:t>
                </a:r>
              </a:p>
              <a:p>
                <a:pPr marL="431797" lvl="1" indent="-342900" algn="just">
                  <a:lnSpc>
                    <a:spcPct val="130000"/>
                  </a:lnSpc>
                  <a:spcAft>
                    <a:spcPts val="600"/>
                  </a:spcAft>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以二元函数𝑓</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𝑥</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𝑦</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为例，其梯度表达式为</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88897" lvl="1" algn="just">
                  <a:lnSpc>
                    <a:spcPct val="130000"/>
                  </a:lnSpc>
                  <a:spcAft>
                    <a:spcPts val="600"/>
                  </a:spcAft>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𝑔𝑟𝑎𝑑</m:t>
                      </m:r>
                      <m:d>
                        <m:dPr>
                          <m:ctrlP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ctrlPr>
                        </m:dPr>
                        <m:e>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𝑓</m:t>
                          </m:r>
                        </m:e>
                      </m:d>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f>
                        <m:fPr>
                          <m:ctrlP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ctrlPr>
                        </m:fPr>
                        <m:num>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𝑓</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𝑥</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𝑦</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num>
                        <m:den>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𝑥</m:t>
                          </m:r>
                        </m:den>
                      </m:f>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f>
                        <m:fPr>
                          <m:ctrlP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ctrlPr>
                        </m:fPr>
                        <m:num>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𝑓</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𝑥</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𝑦</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num>
                        <m:den>
                          <m:r>
                            <a:rPr lang="zh-CN" altLang="en-US" sz="2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𝑦</m:t>
                          </m:r>
                        </m:den>
                      </m:f>
                      <m:r>
                        <a:rPr lang="en-US" altLang="zh-CN" sz="2800" b="0" i="1" smtClean="0">
                          <a:latin typeface="Cambria Math" panose="02040503050406030204" pitchFamily="18" charset="0"/>
                          <a:ea typeface="黑体" panose="02010609060101010101" pitchFamily="49" charset="-122"/>
                          <a:cs typeface="Times New Roman" panose="02020603050405020304" pitchFamily="18" charset="0"/>
                        </a:rPr>
                        <m:t>)</m:t>
                      </m:r>
                    </m:oMath>
                  </m:oMathPara>
                </a14:m>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a:p>
                <a:pPr marL="546097" lvl="1" indent="-457200" algn="just">
                  <a:lnSpc>
                    <a:spcPct val="130000"/>
                  </a:lnSpc>
                  <a:spcAft>
                    <a:spcPts val="600"/>
                  </a:spcAft>
                  <a:buFont typeface="Wingdings" panose="05000000000000000000" pitchFamily="2" charset="2"/>
                  <a:buChar char="Ø"/>
                </a:pPr>
                <a:r>
                  <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lt"/>
                  </a:rPr>
                  <a:t>尝试计算</a:t>
                </a:r>
                <a14:m>
                  <m:oMath xmlns:m="http://schemas.openxmlformats.org/officeDocument/2006/math">
                    <m:r>
                      <a:rPr lang="en-US" altLang="zh-CN" sz="2800" i="1">
                        <a:solidFill>
                          <a:srgbClr val="000000"/>
                        </a:solidFill>
                        <a:latin typeface="Cambria Math" panose="02040503050406030204" pitchFamily="18" charset="0"/>
                        <a:cs typeface="+mn-ea"/>
                        <a:sym typeface="+mn-lt"/>
                      </a:rPr>
                      <m:t>𝑓</m:t>
                    </m:r>
                    <m:d>
                      <m:dPr>
                        <m:ctrlPr>
                          <a:rPr lang="en-US" altLang="zh-CN" sz="2800" i="1">
                            <a:solidFill>
                              <a:srgbClr val="000000"/>
                            </a:solidFill>
                            <a:latin typeface="Cambria Math" panose="02040503050406030204" pitchFamily="18" charset="0"/>
                            <a:cs typeface="+mn-ea"/>
                            <a:sym typeface="+mn-lt"/>
                          </a:rPr>
                        </m:ctrlPr>
                      </m:dPr>
                      <m:e>
                        <m:r>
                          <a:rPr lang="en-US" altLang="zh-CN" sz="2800" i="1">
                            <a:solidFill>
                              <a:srgbClr val="000000"/>
                            </a:solidFill>
                            <a:latin typeface="Cambria Math" panose="02040503050406030204" pitchFamily="18" charset="0"/>
                            <a:cs typeface="+mn-ea"/>
                            <a:sym typeface="+mn-lt"/>
                          </a:rPr>
                          <m:t>𝑥</m:t>
                        </m:r>
                        <m:r>
                          <a:rPr lang="en-US" altLang="zh-CN" sz="2800" i="1">
                            <a:solidFill>
                              <a:srgbClr val="000000"/>
                            </a:solidFill>
                            <a:latin typeface="Cambria Math" panose="02040503050406030204" pitchFamily="18" charset="0"/>
                            <a:cs typeface="+mn-ea"/>
                            <a:sym typeface="+mn-lt"/>
                          </a:rPr>
                          <m:t>,</m:t>
                        </m:r>
                        <m:r>
                          <a:rPr lang="en-US" altLang="zh-CN" sz="2800" i="1">
                            <a:solidFill>
                              <a:srgbClr val="000000"/>
                            </a:solidFill>
                            <a:latin typeface="Cambria Math" panose="02040503050406030204" pitchFamily="18" charset="0"/>
                            <a:cs typeface="+mn-ea"/>
                            <a:sym typeface="+mn-lt"/>
                          </a:rPr>
                          <m:t>𝑦</m:t>
                        </m:r>
                      </m:e>
                    </m:d>
                    <m:r>
                      <a:rPr lang="en-US" altLang="zh-CN" sz="2800" i="1">
                        <a:solidFill>
                          <a:srgbClr val="000000"/>
                        </a:solidFill>
                        <a:latin typeface="Cambria Math" panose="02040503050406030204" pitchFamily="18" charset="0"/>
                        <a:cs typeface="+mn-ea"/>
                        <a:sym typeface="+mn-lt"/>
                      </a:rPr>
                      <m:t>=</m:t>
                    </m:r>
                    <m:sSup>
                      <m:sSupPr>
                        <m:ctrlPr>
                          <a:rPr lang="en-US" altLang="zh-CN" sz="2800" i="1">
                            <a:solidFill>
                              <a:srgbClr val="000000"/>
                            </a:solidFill>
                            <a:latin typeface="Cambria Math" panose="02040503050406030204" pitchFamily="18" charset="0"/>
                            <a:cs typeface="+mn-ea"/>
                            <a:sym typeface="+mn-lt"/>
                          </a:rPr>
                        </m:ctrlPr>
                      </m:sSupPr>
                      <m:e>
                        <m:r>
                          <a:rPr lang="en-US" altLang="zh-CN" sz="2800" i="1">
                            <a:solidFill>
                              <a:srgbClr val="000000"/>
                            </a:solidFill>
                            <a:latin typeface="Cambria Math" panose="02040503050406030204" pitchFamily="18" charset="0"/>
                            <a:cs typeface="+mn-ea"/>
                            <a:sym typeface="+mn-lt"/>
                          </a:rPr>
                          <m:t>𝑥</m:t>
                        </m:r>
                      </m:e>
                      <m:sup>
                        <m:r>
                          <a:rPr lang="en-US" altLang="zh-CN" sz="2800" i="1">
                            <a:solidFill>
                              <a:srgbClr val="000000"/>
                            </a:solidFill>
                            <a:latin typeface="Cambria Math" panose="02040503050406030204" pitchFamily="18" charset="0"/>
                            <a:cs typeface="+mn-ea"/>
                            <a:sym typeface="+mn-lt"/>
                          </a:rPr>
                          <m:t>2</m:t>
                        </m:r>
                      </m:sup>
                    </m:sSup>
                    <m:r>
                      <a:rPr lang="en-US" altLang="zh-CN" sz="2800" i="1">
                        <a:solidFill>
                          <a:srgbClr val="000000"/>
                        </a:solidFill>
                        <a:latin typeface="Cambria Math" panose="02040503050406030204" pitchFamily="18" charset="0"/>
                        <a:cs typeface="+mn-ea"/>
                        <a:sym typeface="+mn-lt"/>
                      </a:rPr>
                      <m:t>+</m:t>
                    </m:r>
                    <m:sSup>
                      <m:sSupPr>
                        <m:ctrlPr>
                          <a:rPr lang="en-US" altLang="zh-CN" sz="2800" i="1">
                            <a:solidFill>
                              <a:srgbClr val="000000"/>
                            </a:solidFill>
                            <a:latin typeface="Cambria Math" panose="02040503050406030204" pitchFamily="18" charset="0"/>
                            <a:cs typeface="+mn-ea"/>
                            <a:sym typeface="+mn-lt"/>
                          </a:rPr>
                        </m:ctrlPr>
                      </m:sSupPr>
                      <m:e>
                        <m:r>
                          <a:rPr lang="en-US" altLang="zh-CN" sz="2800" i="1">
                            <a:solidFill>
                              <a:srgbClr val="000000"/>
                            </a:solidFill>
                            <a:latin typeface="Cambria Math" panose="02040503050406030204" pitchFamily="18" charset="0"/>
                            <a:cs typeface="+mn-ea"/>
                            <a:sym typeface="+mn-lt"/>
                          </a:rPr>
                          <m:t>𝑦</m:t>
                        </m:r>
                      </m:e>
                      <m:sup>
                        <m:r>
                          <a:rPr lang="en-US" altLang="zh-CN" sz="2800" i="1">
                            <a:solidFill>
                              <a:srgbClr val="000000"/>
                            </a:solidFill>
                            <a:latin typeface="Cambria Math" panose="02040503050406030204" pitchFamily="18" charset="0"/>
                            <a:cs typeface="+mn-ea"/>
                            <a:sym typeface="+mn-lt"/>
                          </a:rPr>
                          <m:t>2</m:t>
                        </m:r>
                      </m:sup>
                    </m:sSup>
                    <m:r>
                      <a:rPr lang="en-US" altLang="zh-CN" sz="2800" i="1">
                        <a:solidFill>
                          <a:srgbClr val="000000"/>
                        </a:solidFill>
                        <a:latin typeface="Cambria Math" panose="02040503050406030204" pitchFamily="18" charset="0"/>
                        <a:cs typeface="+mn-ea"/>
                        <a:sym typeface="+mn-lt"/>
                      </a:rPr>
                      <m:t>+</m:t>
                    </m:r>
                    <m:r>
                      <a:rPr lang="en-US" altLang="zh-CN" sz="2800" i="1">
                        <a:solidFill>
                          <a:srgbClr val="000000"/>
                        </a:solidFill>
                        <a:latin typeface="Cambria Math" panose="02040503050406030204" pitchFamily="18" charset="0"/>
                        <a:cs typeface="+mn-ea"/>
                        <a:sym typeface="+mn-lt"/>
                      </a:rPr>
                      <m:t>𝑥𝑦</m:t>
                    </m:r>
                  </m:oMath>
                </a14:m>
                <a:r>
                  <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lt"/>
                  </a:rPr>
                  <a:t>的梯度</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5" y="1909800"/>
                <a:ext cx="8111685" cy="4230582"/>
              </a:xfrm>
              <a:prstGeom prst="rect">
                <a:avLst/>
              </a:prstGeom>
              <a:blipFill>
                <a:blip r:embed="rId2"/>
                <a:stretch>
                  <a:fillRect l="-75" t="-144" r="-1500" b="-2443"/>
                </a:stretch>
              </a:blipFill>
              <a:ln w="12700">
                <a:solidFill>
                  <a:srgbClr val="C00000"/>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5" y="1216093"/>
            <a:ext cx="4572000"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梯度</a:t>
            </a:r>
            <a:endParaRPr lang="zh-CN" altLang="en-US" sz="3200" dirty="0">
              <a:solidFill>
                <a:srgbClr val="C00000"/>
              </a:solidFill>
              <a:latin typeface="方正姚体" panose="02010601030101010101" pitchFamily="2" charset="-122"/>
              <a:ea typeface="方正姚体" panose="02010601030101010101" pitchFamily="2" charset="-122"/>
            </a:endParaRPr>
          </a:p>
        </p:txBody>
      </p:sp>
    </p:spTree>
    <p:extLst>
      <p:ext uri="{BB962C8B-B14F-4D97-AF65-F5344CB8AC3E}">
        <p14:creationId xmlns:p14="http://schemas.microsoft.com/office/powerpoint/2010/main" val="84745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childTnLst>
                                </p:cTn>
                              </p:par>
                            </p:childTnLst>
                          </p:cTn>
                        </p:par>
                        <p:par>
                          <p:cTn id="13" fill="hold">
                            <p:stCondLst>
                              <p:cond delay="1000"/>
                            </p:stCondLst>
                            <p:childTnLst>
                              <p:par>
                                <p:cTn id="14" presetID="10" presetClass="entr" presetSubtype="0" fill="hold" nodeType="afterEffect">
                                  <p:stCondLst>
                                    <p:cond delay="25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fade">
                                      <p:cBhvr>
                                        <p:cTn id="16" dur="1000"/>
                                        <p:tgtEl>
                                          <p:spTgt spid="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52325" cy="4878515"/>
              </a:xfrm>
              <a:prstGeom prst="rect">
                <a:avLst/>
              </a:prstGeom>
              <a:noFill/>
              <a:ln w="12700">
                <a:solidFill>
                  <a:srgbClr val="C00000"/>
                </a:solidFill>
              </a:ln>
            </p:spPr>
            <p:txBody>
              <a:bodyPr wrap="square">
                <a:spAutoFit/>
              </a:bodyPr>
              <a:lstStyle/>
              <a:p>
                <a:pPr marL="432000" lvl="1" indent="-457200" algn="just">
                  <a:lnSpc>
                    <a:spcPct val="140000"/>
                  </a:lnSpc>
                  <a:spcAft>
                    <a:spcPts val="600"/>
                  </a:spcAft>
                  <a:buFont typeface="Wingdings" panose="05000000000000000000" pitchFamily="2" charset="2"/>
                  <a:buChar char="Ø"/>
                </a:pP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以二元函数</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2800" i="1" kern="100">
                        <a:solidFill>
                          <a:srgbClr val="000000"/>
                        </a:solidFill>
                        <a:latin typeface="Cambria Math" panose="02040503050406030204" pitchFamily="18" charset="0"/>
                        <a:cs typeface="Times New Roman" panose="02020603050405020304" pitchFamily="18" charset="0"/>
                      </a:rPr>
                      <m:t> </m:t>
                    </m:r>
                    <m:r>
                      <a:rPr lang="en-US" altLang="zh-CN" sz="2800" i="1" kern="100">
                        <a:solidFill>
                          <a:srgbClr val="000000"/>
                        </a:solidFill>
                        <a:latin typeface="Cambria Math" panose="02040503050406030204" pitchFamily="18" charset="0"/>
                        <a:cs typeface="Times New Roman" panose="02020603050405020304" pitchFamily="18" charset="0"/>
                      </a:rPr>
                      <m:t>𝑓</m:t>
                    </m:r>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r>
                      <a:rPr lang="en-US" altLang="zh-CN" sz="2800" i="1" kern="100">
                        <a:solidFill>
                          <a:srgbClr val="000000"/>
                        </a:solidFill>
                        <a:latin typeface="Cambria Math" panose="02040503050406030204" pitchFamily="18" charset="0"/>
                        <a:cs typeface="Times New Roman" panose="02020603050405020304" pitchFamily="18" charset="0"/>
                      </a:rPr>
                      <m:t>)</m:t>
                    </m:r>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为例，用</a:t>
                </a:r>
                <a14:m>
                  <m:oMath xmlns:m="http://schemas.openxmlformats.org/officeDocument/2006/math">
                    <m:f>
                      <m:fPr>
                        <m:ctrlPr>
                          <a:rPr lang="zh-CN" altLang="zh-CN" sz="2800" i="1">
                            <a:solidFill>
                              <a:srgbClr val="000000"/>
                            </a:solidFill>
                            <a:latin typeface="Cambria Math" panose="02040503050406030204" pitchFamily="18" charset="0"/>
                          </a:rPr>
                        </m:ctrlPr>
                      </m:fPr>
                      <m:num>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𝑓</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r>
                          <a:rPr lang="en-US" altLang="zh-CN" sz="2800" kern="100">
                            <a:solidFill>
                              <a:srgbClr val="000000"/>
                            </a:solidFill>
                            <a:latin typeface="Cambria Math" panose="02040503050406030204" pitchFamily="18" charset="0"/>
                            <a:cs typeface="Times New Roman" panose="02020603050405020304" pitchFamily="18" charset="0"/>
                          </a:rPr>
                          <m:t>)</m:t>
                        </m:r>
                      </m:num>
                      <m:den>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den>
                    </m:f>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表示函数</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i="1" kern="1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kern="1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i="1" kern="1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关于</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的偏导数，其几何含义就是在函数</a:t>
                </a:r>
                <a14:m>
                  <m:oMath xmlns:m="http://schemas.openxmlformats.org/officeDocument/2006/math">
                    <m:r>
                      <a:rPr lang="en-US" altLang="zh-CN" sz="2800" i="1" kern="100">
                        <a:solidFill>
                          <a:srgbClr val="000000"/>
                        </a:solidFill>
                        <a:latin typeface="Cambria Math" panose="02040503050406030204" pitchFamily="18" charset="0"/>
                        <a:cs typeface="Times New Roman" panose="02020603050405020304" pitchFamily="18" charset="0"/>
                      </a:rPr>
                      <m:t>𝑧</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𝑓</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r>
                      <a:rPr lang="en-US" altLang="zh-CN" sz="2800" kern="100">
                        <a:solidFill>
                          <a:srgbClr val="000000"/>
                        </a:solidFill>
                        <a:latin typeface="Cambria Math" panose="02040503050406030204" pitchFamily="18" charset="0"/>
                        <a:cs typeface="Times New Roman" panose="02020603050405020304" pitchFamily="18" charset="0"/>
                      </a:rPr>
                      <m:t>)</m:t>
                    </m:r>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的三维几何图中，</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固定为某个值时（</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方向不变），函数值</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沿</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轴方向的变化率；用</a:t>
                </a:r>
                <a14:m>
                  <m:oMath xmlns:m="http://schemas.openxmlformats.org/officeDocument/2006/math">
                    <m:f>
                      <m:fPr>
                        <m:ctrlPr>
                          <a:rPr lang="zh-CN" altLang="zh-CN" sz="2800" i="1">
                            <a:solidFill>
                              <a:srgbClr val="000000"/>
                            </a:solidFill>
                            <a:latin typeface="Cambria Math" panose="02040503050406030204" pitchFamily="18" charset="0"/>
                          </a:rPr>
                        </m:ctrlPr>
                      </m:fPr>
                      <m:num>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𝑓</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r>
                          <a:rPr lang="en-US" altLang="zh-CN" sz="2800" kern="100">
                            <a:solidFill>
                              <a:srgbClr val="000000"/>
                            </a:solidFill>
                            <a:latin typeface="Cambria Math" panose="02040503050406030204" pitchFamily="18" charset="0"/>
                            <a:cs typeface="Times New Roman" panose="02020603050405020304" pitchFamily="18" charset="0"/>
                          </a:rPr>
                          <m:t>)</m:t>
                        </m:r>
                      </m:num>
                      <m:den>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den>
                    </m:f>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表示函数</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关于</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的偏导数，指在</a:t>
                </a:r>
                <a14:m>
                  <m:oMath xmlns:m="http://schemas.openxmlformats.org/officeDocument/2006/math">
                    <m:r>
                      <m:rPr>
                        <m:nor/>
                      </m:rP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m:t>x</m:t>
                    </m:r>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固定为某个值时（</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方向不变</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，函数值</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沿</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轴方向的变化率。</a:t>
                </a:r>
                <a:endPar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lt"/>
                </a:endParaRP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5" y="1909800"/>
                <a:ext cx="8152325" cy="4878515"/>
              </a:xfrm>
              <a:prstGeom prst="rect">
                <a:avLst/>
              </a:prstGeom>
              <a:blipFill>
                <a:blip r:embed="rId2"/>
                <a:stretch>
                  <a:fillRect l="-1195" r="-1494" b="-1993"/>
                </a:stretch>
              </a:blipFill>
              <a:ln w="12700">
                <a:solidFill>
                  <a:srgbClr val="C00000"/>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5" y="1216093"/>
            <a:ext cx="4572000"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偏导数</a:t>
            </a:r>
          </a:p>
        </p:txBody>
      </p:sp>
    </p:spTree>
    <p:extLst>
      <p:ext uri="{BB962C8B-B14F-4D97-AF65-F5344CB8AC3E}">
        <p14:creationId xmlns:p14="http://schemas.microsoft.com/office/powerpoint/2010/main" val="237492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072590"/>
              </a:xfrm>
              <a:prstGeom prst="rect">
                <a:avLst/>
              </a:prstGeom>
              <a:noFill/>
              <a:ln w="12700">
                <a:solidFill>
                  <a:srgbClr val="C00000"/>
                </a:solidFill>
              </a:ln>
            </p:spPr>
            <p:txBody>
              <a:bodyPr wrap="square">
                <a:spAutoFit/>
              </a:bodyPr>
              <a:lstStyle/>
              <a:p>
                <a:pPr marL="431800" lvl="1" indent="-431800" algn="just">
                  <a:lnSpc>
                    <a:spcPct val="150000"/>
                  </a:lnSpc>
                  <a:spcAft>
                    <a:spcPts val="600"/>
                  </a:spcAft>
                  <a:buFont typeface="Wingdings" panose="05000000000000000000" pitchFamily="2" charset="2"/>
                  <a:buChar char="Ø"/>
                </a:pPr>
                <a:r>
                  <a:rPr lang="zh-CN" altLang="zh-CN" sz="2800" dirty="0">
                    <a:latin typeface="Times New Roman" panose="02020603050405020304" pitchFamily="18" charset="0"/>
                    <a:ea typeface="黑体" panose="02010609060101010101" pitchFamily="49" charset="-122"/>
                    <a:cs typeface="Times New Roman" panose="02020603050405020304" pitchFamily="18" charset="0"/>
                  </a:rPr>
                  <a:t>以二元函数</a:t>
                </a:r>
                <a14:m>
                  <m:oMath xmlns:m="http://schemas.openxmlformats.org/officeDocument/2006/math">
                    <m:r>
                      <a:rPr lang="en-US" altLang="zh-CN" sz="2800" i="1">
                        <a:latin typeface="Cambria Math" panose="02040503050406030204" pitchFamily="18" charset="0"/>
                      </a:rPr>
                      <m:t>𝑧</m:t>
                    </m:r>
                    <m:r>
                      <a:rPr lang="en-US" altLang="zh-CN" sz="2800">
                        <a:latin typeface="Cambria Math" panose="02040503050406030204" pitchFamily="18" charset="0"/>
                      </a:rPr>
                      <m:t>=</m:t>
                    </m:r>
                    <m:r>
                      <a:rPr lang="en-US" altLang="zh-CN" sz="2800" i="1">
                        <a:latin typeface="Cambria Math" panose="02040503050406030204" pitchFamily="18" charset="0"/>
                      </a:rPr>
                      <m:t>𝑓</m:t>
                    </m:r>
                    <m:r>
                      <a:rPr lang="en-US" altLang="zh-CN" sz="2800" i="1">
                        <a:latin typeface="Cambria Math" panose="02040503050406030204" pitchFamily="18" charset="0"/>
                      </a:rPr>
                      <m:t>(</m:t>
                    </m:r>
                    <m:r>
                      <a:rPr lang="en-US" altLang="zh-CN" sz="2800" i="1">
                        <a:latin typeface="Cambria Math" panose="02040503050406030204" pitchFamily="18" charset="0"/>
                      </a:rPr>
                      <m:t>𝑥</m:t>
                    </m:r>
                    <m:r>
                      <a:rPr lang="en-US" altLang="zh-CN" sz="2800" i="1">
                        <a:latin typeface="Cambria Math" panose="02040503050406030204" pitchFamily="18" charset="0"/>
                      </a:rPr>
                      <m:t>,</m:t>
                    </m:r>
                    <m:r>
                      <a:rPr lang="en-US" altLang="zh-CN" sz="2800" i="1">
                        <a:latin typeface="Cambria Math" panose="02040503050406030204" pitchFamily="18" charset="0"/>
                      </a:rPr>
                      <m:t>𝑦</m:t>
                    </m:r>
                    <m:r>
                      <a:rPr lang="en-US" altLang="zh-CN" sz="2800" i="1">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𝑥</m:t>
                        </m:r>
                      </m:e>
                      <m:sup>
                        <m:r>
                          <a:rPr lang="en-US" altLang="zh-CN" sz="2800" i="1">
                            <a:latin typeface="Cambria Math" panose="02040503050406030204" pitchFamily="18" charset="0"/>
                          </a:rPr>
                          <m:t>2</m:t>
                        </m:r>
                      </m:sup>
                    </m:sSup>
                    <m:r>
                      <a:rPr lang="en-US" altLang="zh-CN" sz="2800" i="1">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𝑦</m:t>
                        </m:r>
                      </m:e>
                      <m:sup>
                        <m:r>
                          <a:rPr lang="en-US" altLang="zh-CN" sz="2800" i="1">
                            <a:latin typeface="Cambria Math" panose="02040503050406030204" pitchFamily="18" charset="0"/>
                          </a:rPr>
                          <m:t>2</m:t>
                        </m:r>
                      </m:sup>
                    </m:sSup>
                    <m:r>
                      <a:rPr lang="en-US" altLang="zh-CN" sz="2800" i="1">
                        <a:latin typeface="Cambria Math" panose="02040503050406030204" pitchFamily="18" charset="0"/>
                      </a:rPr>
                      <m:t>+</m:t>
                    </m:r>
                    <m:r>
                      <a:rPr lang="en-US" altLang="zh-CN" sz="2800" i="1">
                        <a:latin typeface="Cambria Math" panose="02040503050406030204" pitchFamily="18" charset="0"/>
                      </a:rPr>
                      <m:t>𝑥𝑦</m:t>
                    </m:r>
                  </m:oMath>
                </a14:m>
                <a:r>
                  <a:rPr lang="zh-CN" altLang="zh-CN" sz="2800" dirty="0">
                    <a:latin typeface="Times New Roman" panose="02020603050405020304" pitchFamily="18" charset="0"/>
                    <a:ea typeface="黑体" panose="02010609060101010101" pitchFamily="49" charset="-122"/>
                    <a:cs typeface="Times New Roman" panose="02020603050405020304" pitchFamily="18" charset="0"/>
                  </a:rPr>
                  <a:t>为例</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431800" lvl="1" indent="-431800" algn="just">
                  <a:lnSpc>
                    <a:spcPct val="150000"/>
                  </a:lnSpc>
                  <a:spcAft>
                    <a:spcPts val="600"/>
                  </a:spcAft>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计算</a:t>
                </a:r>
                <a:r>
                  <a:rPr lang="en-US" altLang="zh-CN" sz="2800" i="1" dirty="0">
                    <a:latin typeface="Times New Roman" panose="02020603050405020304" pitchFamily="18" charset="0"/>
                    <a:ea typeface="黑体" panose="02010609060101010101" pitchFamily="49" charset="-122"/>
                    <a:cs typeface="Times New Roman" panose="02020603050405020304" pitchFamily="18" charset="0"/>
                  </a:rPr>
                  <a:t>z</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对</a:t>
                </a:r>
                <a:r>
                  <a:rPr lang="en-US" altLang="zh-CN" sz="280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的偏导数，就是</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把</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看作常数，对</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求导得</a:t>
                </a:r>
                <a14:m>
                  <m:oMath xmlns:m="http://schemas.openxmlformats.org/officeDocument/2006/math">
                    <m:f>
                      <m:fPr>
                        <m:ctrlPr>
                          <a:rPr lang="zh-CN" altLang="zh-CN" sz="2800" i="1">
                            <a:solidFill>
                              <a:srgbClr val="000000"/>
                            </a:solidFill>
                            <a:latin typeface="Cambria Math" panose="02040503050406030204" pitchFamily="18" charset="0"/>
                            <a:ea typeface="Cambria Math" panose="02040503050406030204" pitchFamily="18" charset="0"/>
                          </a:rPr>
                        </m:ctrlPr>
                      </m:fPr>
                      <m:num>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𝑓</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r>
                          <a:rPr lang="en-US" altLang="zh-CN" sz="2800" kern="100">
                            <a:solidFill>
                              <a:srgbClr val="000000"/>
                            </a:solidFill>
                            <a:latin typeface="Cambria Math" panose="02040503050406030204" pitchFamily="18" charset="0"/>
                            <a:cs typeface="Times New Roman" panose="02020603050405020304" pitchFamily="18" charset="0"/>
                          </a:rPr>
                          <m:t>)</m:t>
                        </m:r>
                      </m:num>
                      <m:den>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den>
                    </m:f>
                    <m:r>
                      <a:rPr lang="en-US" altLang="zh-CN" sz="2800" kern="100">
                        <a:solidFill>
                          <a:srgbClr val="000000"/>
                        </a:solidFill>
                        <a:latin typeface="Cambria Math" panose="02040503050406030204" pitchFamily="18" charset="0"/>
                        <a:cs typeface="Times New Roman" panose="02020603050405020304" pitchFamily="18" charset="0"/>
                      </a:rPr>
                      <m:t>=2</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431800" lvl="1" indent="-431800" algn="just">
                  <a:lnSpc>
                    <a:spcPct val="150000"/>
                  </a:lnSpc>
                  <a:spcAft>
                    <a:spcPts val="600"/>
                  </a:spcAft>
                  <a:buFont typeface="Wingdings" panose="05000000000000000000" pitchFamily="2" charset="2"/>
                  <a:buChar char="Ø"/>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计算</a:t>
                </a:r>
                <a:r>
                  <a:rPr lang="en-US" altLang="zh-CN" sz="2800" i="1" dirty="0">
                    <a:latin typeface="Times New Roman" panose="02020603050405020304" pitchFamily="18" charset="0"/>
                    <a:ea typeface="黑体" panose="02010609060101010101" pitchFamily="49" charset="-122"/>
                    <a:cs typeface="Times New Roman" panose="02020603050405020304" pitchFamily="18" charset="0"/>
                  </a:rPr>
                  <a:t>z</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对</a:t>
                </a:r>
                <a:r>
                  <a:rPr lang="en-US" altLang="zh-CN" sz="2800" i="1" dirty="0">
                    <a:latin typeface="Times New Roman" panose="02020603050405020304" pitchFamily="18" charset="0"/>
                    <a:ea typeface="黑体" panose="02010609060101010101" pitchFamily="49" charset="-122"/>
                    <a:cs typeface="Times New Roman" panose="02020603050405020304" pitchFamily="18" charset="0"/>
                  </a:rPr>
                  <a:t>y</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的偏导数，就是</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把</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看作常数，对</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求导得</a:t>
                </a:r>
                <a14:m>
                  <m:oMath xmlns:m="http://schemas.openxmlformats.org/officeDocument/2006/math">
                    <m:f>
                      <m:fPr>
                        <m:ctrlPr>
                          <a:rPr lang="zh-CN" altLang="zh-CN" sz="2800" i="1">
                            <a:solidFill>
                              <a:srgbClr val="000000"/>
                            </a:solidFill>
                            <a:latin typeface="Cambria Math" panose="02040503050406030204" pitchFamily="18" charset="0"/>
                            <a:ea typeface="Cambria Math" panose="02040503050406030204" pitchFamily="18" charset="0"/>
                          </a:rPr>
                        </m:ctrlPr>
                      </m:fPr>
                      <m:num>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𝑓</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r>
                          <a:rPr lang="en-US" altLang="zh-CN" sz="2800" kern="100">
                            <a:solidFill>
                              <a:srgbClr val="000000"/>
                            </a:solidFill>
                            <a:latin typeface="Cambria Math" panose="02040503050406030204" pitchFamily="18" charset="0"/>
                            <a:cs typeface="Times New Roman" panose="02020603050405020304" pitchFamily="18" charset="0"/>
                          </a:rPr>
                          <m:t>)</m:t>
                        </m:r>
                      </m:num>
                      <m:den>
                        <m:r>
                          <a:rPr lang="en-US"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den>
                    </m:f>
                    <m:r>
                      <a:rPr lang="en-US" altLang="zh-CN" sz="2800"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r>
                      <a:rPr lang="en-US" altLang="zh-CN" sz="2800" kern="100">
                        <a:solidFill>
                          <a:srgbClr val="000000"/>
                        </a:solidFill>
                        <a:latin typeface="Cambria Math" panose="02040503050406030204" pitchFamily="18" charset="0"/>
                        <a:cs typeface="Times New Roman" panose="02020603050405020304" pitchFamily="18" charset="0"/>
                      </a:rPr>
                      <m:t>+2</m:t>
                    </m:r>
                    <m:r>
                      <a:rPr lang="en-US" altLang="zh-CN" sz="2800" i="1" kern="100">
                        <a:solidFill>
                          <a:srgbClr val="000000"/>
                        </a:solidFill>
                        <a:latin typeface="Cambria Math" panose="02040503050406030204" pitchFamily="18" charset="0"/>
                        <a:cs typeface="Times New Roman" panose="02020603050405020304" pitchFamily="18" charset="0"/>
                      </a:rPr>
                      <m:t>𝑦</m:t>
                    </m:r>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lt"/>
                </a:endParaRP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5" y="1909800"/>
                <a:ext cx="8111685" cy="4072590"/>
              </a:xfrm>
              <a:prstGeom prst="rect">
                <a:avLst/>
              </a:prstGeom>
              <a:blipFill>
                <a:blip r:embed="rId2"/>
                <a:stretch>
                  <a:fillRect l="-1200" r="-1500"/>
                </a:stretch>
              </a:blipFill>
              <a:ln w="12700">
                <a:solidFill>
                  <a:srgbClr val="C00000"/>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5" y="1216093"/>
            <a:ext cx="4572000"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偏导数计算</a:t>
            </a:r>
          </a:p>
        </p:txBody>
      </p:sp>
    </p:spTree>
    <p:extLst>
      <p:ext uri="{BB962C8B-B14F-4D97-AF65-F5344CB8AC3E}">
        <p14:creationId xmlns:p14="http://schemas.microsoft.com/office/powerpoint/2010/main" val="16548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1000"/>
                                        <p:tgtEl>
                                          <p:spTgt spid="7">
                                            <p:txEl>
                                              <p:pRg st="1" end="1"/>
                                            </p:txEl>
                                          </p:spTgt>
                                        </p:tgtEl>
                                      </p:cBhvr>
                                    </p:animEffect>
                                    <p:anim calcmode="lin" valueType="num">
                                      <p:cBhvr>
                                        <p:cTn id="2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1000"/>
                                        <p:tgtEl>
                                          <p:spTgt spid="7">
                                            <p:txEl>
                                              <p:pRg st="2" end="2"/>
                                            </p:txEl>
                                          </p:spTgt>
                                        </p:tgtEl>
                                      </p:cBhvr>
                                    </p:animEffect>
                                    <p:anim calcmode="lin" valueType="num">
                                      <p:cBhvr>
                                        <p:cTn id="3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551759"/>
              </a:xfrm>
              <a:prstGeom prst="rect">
                <a:avLst/>
              </a:prstGeom>
              <a:noFill/>
              <a:ln w="12700">
                <a:solidFill>
                  <a:srgbClr val="C00000"/>
                </a:solidFill>
              </a:ln>
            </p:spPr>
            <p:txBody>
              <a:bodyPr wrap="square">
                <a:spAutoFit/>
              </a:bodyPr>
              <a:lstStyle/>
              <a:p>
                <a:pPr marL="447675" lvl="1" indent="-447675" algn="just">
                  <a:lnSpc>
                    <a:spcPct val="140000"/>
                  </a:lnSpc>
                  <a:spcAft>
                    <a:spcPts val="600"/>
                  </a:spcAft>
                  <a:buFont typeface="Wingdings" panose="05000000000000000000" pitchFamily="2" charset="2"/>
                  <a:buChar char="Ø"/>
                </a:pP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当给</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点的</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分别加上一</a:t>
                </a:r>
                <a:endPar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个数值</a:t>
                </a:r>
                <a14:m>
                  <m:oMath xmlns:m="http://schemas.openxmlformats.org/officeDocument/2006/math">
                    <m:r>
                      <a:rPr lang="zh-CN"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14:m>
                  <m:oMath xmlns:m="http://schemas.openxmlformats.org/officeDocument/2006/math">
                    <m:r>
                      <a:rPr lang="zh-CN"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oMath>
                </a14:m>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，得到一个</a:t>
                </a:r>
                <a:endPar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新点</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，其在水平面上的坐标为（</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zh-CN"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oMath>
                </a14:m>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zh-CN"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oMath>
                </a14:m>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p>
              <a:p>
                <a:pPr marL="0" lvl="1" algn="just">
                  <a:lnSpc>
                    <a:spcPct val="140000"/>
                  </a:lnSpc>
                  <a:spcAft>
                    <a:spcPts val="600"/>
                  </a:spcAft>
                </a:pP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那么在三维图中可以标记点</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14:m>
                  <m:oMath xmlns:m="http://schemas.openxmlformats.org/officeDocument/2006/math">
                    <m:r>
                      <a:rPr lang="zh-CN"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𝑥</m:t>
                    </m:r>
                  </m:oMath>
                </a14:m>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14:m>
                  <m:oMath xmlns:m="http://schemas.openxmlformats.org/officeDocument/2006/math">
                    <m:r>
                      <a:rPr lang="zh-CN" altLang="zh-CN" sz="2800" i="1" kern="100">
                        <a:solidFill>
                          <a:srgbClr val="000000"/>
                        </a:solidFill>
                        <a:latin typeface="Cambria Math" panose="02040503050406030204" pitchFamily="18" charset="0"/>
                        <a:cs typeface="Times New Roman" panose="02020603050405020304" pitchFamily="18" charset="0"/>
                      </a:rPr>
                      <m:t>∆</m:t>
                    </m:r>
                    <m:r>
                      <a:rPr lang="en-US" altLang="zh-CN" sz="2800" i="1" kern="100">
                        <a:solidFill>
                          <a:srgbClr val="000000"/>
                        </a:solidFill>
                        <a:latin typeface="Cambria Math" panose="02040503050406030204" pitchFamily="18" charset="0"/>
                        <a:cs typeface="Times New Roman" panose="02020603050405020304" pitchFamily="18" charset="0"/>
                      </a:rPr>
                      <m:t>𝑦</m:t>
                    </m:r>
                  </m:oMath>
                </a14:m>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sSub>
                      <m:sSubPr>
                        <m:ctrlPr>
                          <a:rPr lang="zh-CN" altLang="zh-CN" sz="2800" i="1">
                            <a:solidFill>
                              <a:srgbClr val="000000"/>
                            </a:solidFill>
                            <a:latin typeface="Cambria Math" panose="02040503050406030204" pitchFamily="18" charset="0"/>
                            <a:ea typeface="Cambria Math" panose="02040503050406030204" pitchFamily="18" charset="0"/>
                          </a:rPr>
                        </m:ctrlPr>
                      </m:sSubPr>
                      <m:e>
                        <m:r>
                          <a:rPr lang="en-US" altLang="zh-CN" sz="2800" i="1" kern="100">
                            <a:solidFill>
                              <a:srgbClr val="000000"/>
                            </a:solidFill>
                            <a:latin typeface="Cambria Math" panose="02040503050406030204" pitchFamily="18" charset="0"/>
                            <a:cs typeface="Times New Roman" panose="02020603050405020304" pitchFamily="18" charset="0"/>
                          </a:rPr>
                          <m:t>𝑍</m:t>
                        </m:r>
                      </m:e>
                      <m:sub>
                        <m:r>
                          <a:rPr lang="en-US" altLang="zh-CN" sz="2800" i="1" kern="100">
                            <a:solidFill>
                              <a:srgbClr val="000000"/>
                            </a:solidFill>
                            <a:latin typeface="Cambria Math" panose="02040503050406030204" pitchFamily="18" charset="0"/>
                            <a:cs typeface="Times New Roman" panose="02020603050405020304" pitchFamily="18" charset="0"/>
                          </a:rPr>
                          <m:t>𝑛𝑒𝑤</m:t>
                        </m:r>
                      </m:sub>
                    </m:sSub>
                  </m:oMath>
                </a14:m>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。这个过程可以看作从</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点移动</a:t>
                </a:r>
                <a:endPar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到了</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点，如果</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z</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值大于</a:t>
                </a:r>
                <a:r>
                  <a:rPr lang="en-US" altLang="zh-CN" sz="28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，则是往水池高</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处走，反之则是往水池底部走，差值为高度变化值。</a:t>
                </a:r>
                <a:endParaRPr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lt"/>
                </a:endParaRP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5" y="1909800"/>
                <a:ext cx="8111685" cy="4551759"/>
              </a:xfrm>
              <a:prstGeom prst="rect">
                <a:avLst/>
              </a:prstGeom>
              <a:blipFill>
                <a:blip r:embed="rId2"/>
                <a:stretch>
                  <a:fillRect l="-1425" r="-5926" b="-2270"/>
                </a:stretch>
              </a:blipFill>
              <a:ln w="12700">
                <a:solidFill>
                  <a:srgbClr val="C00000"/>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函数值随自变量变化而变化</a:t>
            </a:r>
          </a:p>
        </p:txBody>
      </p:sp>
      <p:grpSp>
        <p:nvGrpSpPr>
          <p:cNvPr id="6" name="组合 5">
            <a:extLst>
              <a:ext uri="{FF2B5EF4-FFF2-40B4-BE49-F238E27FC236}">
                <a16:creationId xmlns:a16="http://schemas.microsoft.com/office/drawing/2014/main" id="{86173705-8CCC-2193-CCB3-5D3EEBEBC3A2}"/>
              </a:ext>
            </a:extLst>
          </p:cNvPr>
          <p:cNvGrpSpPr/>
          <p:nvPr/>
        </p:nvGrpSpPr>
        <p:grpSpPr>
          <a:xfrm>
            <a:off x="5231764" y="0"/>
            <a:ext cx="3912236" cy="3431533"/>
            <a:chOff x="6715125" y="1939323"/>
            <a:chExt cx="5014912" cy="3489928"/>
          </a:xfrm>
        </p:grpSpPr>
        <p:pic>
          <p:nvPicPr>
            <p:cNvPr id="9" name="图片 8">
              <a:extLst>
                <a:ext uri="{FF2B5EF4-FFF2-40B4-BE49-F238E27FC236}">
                  <a16:creationId xmlns:a16="http://schemas.microsoft.com/office/drawing/2014/main" id="{50413531-6A68-5ECE-95B0-76CD2F37DFAD}"/>
                </a:ext>
              </a:extLst>
            </p:cNvPr>
            <p:cNvPicPr/>
            <p:nvPr/>
          </p:nvPicPr>
          <p:blipFill rotWithShape="1">
            <a:blip r:embed="rId3">
              <a:extLst>
                <a:ext uri="{28A0092B-C50C-407E-A947-70E740481C1C}">
                  <a14:useLocalDpi xmlns:a14="http://schemas.microsoft.com/office/drawing/2010/main" val="0"/>
                </a:ext>
              </a:extLst>
            </a:blip>
            <a:srcRect l="2571" r="2402" b="204"/>
            <a:stretch>
              <a:fillRect/>
            </a:stretch>
          </p:blipFill>
          <p:spPr>
            <a:xfrm>
              <a:off x="6715125" y="1939323"/>
              <a:ext cx="5014912" cy="3489928"/>
            </a:xfrm>
            <a:prstGeom prst="rect">
              <a:avLst/>
            </a:prstGeom>
            <a:noFill/>
            <a:ln>
              <a:noFill/>
            </a:ln>
          </p:spPr>
        </p:pic>
        <p:sp>
          <p:nvSpPr>
            <p:cNvPr id="10" name="流程图: 接点 9">
              <a:extLst>
                <a:ext uri="{FF2B5EF4-FFF2-40B4-BE49-F238E27FC236}">
                  <a16:creationId xmlns:a16="http://schemas.microsoft.com/office/drawing/2014/main" id="{8C47B2F6-BC32-ABE5-A80F-D1B53782BCE4}"/>
                </a:ext>
              </a:extLst>
            </p:cNvPr>
            <p:cNvSpPr/>
            <p:nvPr/>
          </p:nvSpPr>
          <p:spPr>
            <a:xfrm>
              <a:off x="9362449" y="4352509"/>
              <a:ext cx="67542" cy="67542"/>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流程图: 接点 10">
              <a:extLst>
                <a:ext uri="{FF2B5EF4-FFF2-40B4-BE49-F238E27FC236}">
                  <a16:creationId xmlns:a16="http://schemas.microsoft.com/office/drawing/2014/main" id="{9DAF5770-9734-4D59-44E2-B388A03250A0}"/>
                </a:ext>
              </a:extLst>
            </p:cNvPr>
            <p:cNvSpPr/>
            <p:nvPr/>
          </p:nvSpPr>
          <p:spPr>
            <a:xfrm>
              <a:off x="9741350" y="4230424"/>
              <a:ext cx="67542" cy="67542"/>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左 11">
              <a:extLst>
                <a:ext uri="{FF2B5EF4-FFF2-40B4-BE49-F238E27FC236}">
                  <a16:creationId xmlns:a16="http://schemas.microsoft.com/office/drawing/2014/main" id="{5B4B0A14-2FFF-550E-35F2-6ED1B08120AA}"/>
                </a:ext>
              </a:extLst>
            </p:cNvPr>
            <p:cNvSpPr/>
            <p:nvPr/>
          </p:nvSpPr>
          <p:spPr>
            <a:xfrm rot="20588705">
              <a:off x="9400759" y="4282190"/>
              <a:ext cx="369823" cy="86095"/>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385535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000"/>
                                        <p:tgtEl>
                                          <p:spTgt spid="7">
                                            <p:txEl>
                                              <p:pRg st="1" end="1"/>
                                            </p:txEl>
                                          </p:spTgt>
                                        </p:tgtEl>
                                      </p:cBhvr>
                                    </p:animEffect>
                                    <p:anim calcmode="lin" valueType="num">
                                      <p:cBhvr>
                                        <p:cTn id="2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1000"/>
                                        <p:tgtEl>
                                          <p:spTgt spid="7">
                                            <p:txEl>
                                              <p:pRg st="2" end="2"/>
                                            </p:txEl>
                                          </p:spTgt>
                                        </p:tgtEl>
                                      </p:cBhvr>
                                    </p:animEffect>
                                    <p:anim calcmode="lin" valueType="num">
                                      <p:cBhvr>
                                        <p:cTn id="2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fade">
                                      <p:cBhvr>
                                        <p:cTn id="32" dur="1000"/>
                                        <p:tgtEl>
                                          <p:spTgt spid="7">
                                            <p:txEl>
                                              <p:pRg st="3" end="3"/>
                                            </p:txEl>
                                          </p:spTgt>
                                        </p:tgtEl>
                                      </p:cBhvr>
                                    </p:animEffect>
                                    <p:anim calcmode="lin" valueType="num">
                                      <p:cBhvr>
                                        <p:cTn id="3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fade">
                                      <p:cBhvr>
                                        <p:cTn id="37" dur="1000"/>
                                        <p:tgtEl>
                                          <p:spTgt spid="7">
                                            <p:txEl>
                                              <p:pRg st="4" end="4"/>
                                            </p:txEl>
                                          </p:spTgt>
                                        </p:tgtEl>
                                      </p:cBhvr>
                                    </p:animEffect>
                                    <p:anim calcmode="lin" valueType="num">
                                      <p:cBhvr>
                                        <p:cTn id="3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40" fill="hold">
                            <p:stCondLst>
                              <p:cond delay="1000"/>
                            </p:stCondLst>
                            <p:childTnLst>
                              <p:par>
                                <p:cTn id="41" presetID="42" presetClass="entr" presetSubtype="0" fill="hold" nodeType="afterEffect">
                                  <p:stCondLst>
                                    <p:cond delay="50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1000"/>
                                        <p:tgtEl>
                                          <p:spTgt spid="6"/>
                                        </p:tgtEl>
                                      </p:cBhvr>
                                    </p:animEffect>
                                    <p:anim calcmode="lin" valueType="num">
                                      <p:cBhvr>
                                        <p:cTn id="44" dur="1000" fill="hold"/>
                                        <p:tgtEl>
                                          <p:spTgt spid="6"/>
                                        </p:tgtEl>
                                        <p:attrNameLst>
                                          <p:attrName>ppt_x</p:attrName>
                                        </p:attrNameLst>
                                      </p:cBhvr>
                                      <p:tavLst>
                                        <p:tav tm="0">
                                          <p:val>
                                            <p:strVal val="#ppt_x"/>
                                          </p:val>
                                        </p:tav>
                                        <p:tav tm="100000">
                                          <p:val>
                                            <p:strVal val="#ppt_x"/>
                                          </p:val>
                                        </p:tav>
                                      </p:tavLst>
                                    </p:anim>
                                    <p:anim calcmode="lin" valueType="num">
                                      <p:cBhvr>
                                        <p:cTn id="4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656846"/>
          </a:xfrm>
          <a:prstGeom prst="rect">
            <a:avLst/>
          </a:prstGeom>
          <a:noFill/>
          <a:ln w="12700">
            <a:solidFill>
              <a:srgbClr val="C00000"/>
            </a:solidFill>
          </a:ln>
        </p:spPr>
        <p:txBody>
          <a:bodyPr wrap="square">
            <a:spAutoFit/>
          </a:bodyPr>
          <a:lstStyle/>
          <a:p>
            <a:pPr marL="447675" lvl="1" indent="-447675" algn="just">
              <a:lnSpc>
                <a:spcPct val="150000"/>
              </a:lnSpc>
              <a:spcAft>
                <a:spcPts val="600"/>
              </a:spcAft>
              <a:buFont typeface="Wingdings" panose="05000000000000000000" pitchFamily="2" charset="2"/>
              <a:buChar char="Ø"/>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梯度方向是函数值增加最快的方向。</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函数值随自变量的变化而变化</a:t>
            </a:r>
          </a:p>
        </p:txBody>
      </p:sp>
      <p:grpSp>
        <p:nvGrpSpPr>
          <p:cNvPr id="13" name="组合 12">
            <a:extLst>
              <a:ext uri="{FF2B5EF4-FFF2-40B4-BE49-F238E27FC236}">
                <a16:creationId xmlns:a16="http://schemas.microsoft.com/office/drawing/2014/main" id="{D05E94FE-710B-FEA7-9CF8-4EE112009F57}"/>
              </a:ext>
            </a:extLst>
          </p:cNvPr>
          <p:cNvGrpSpPr/>
          <p:nvPr/>
        </p:nvGrpSpPr>
        <p:grpSpPr>
          <a:xfrm>
            <a:off x="2143124" y="2603507"/>
            <a:ext cx="4887596" cy="4061453"/>
            <a:chOff x="6715125" y="1939323"/>
            <a:chExt cx="5014912" cy="3489928"/>
          </a:xfrm>
        </p:grpSpPr>
        <p:pic>
          <p:nvPicPr>
            <p:cNvPr id="14" name="图片 13">
              <a:extLst>
                <a:ext uri="{FF2B5EF4-FFF2-40B4-BE49-F238E27FC236}">
                  <a16:creationId xmlns:a16="http://schemas.microsoft.com/office/drawing/2014/main" id="{A9E49562-9DA4-8BE0-B013-4CFDB63DBDCD}"/>
                </a:ext>
              </a:extLst>
            </p:cNvPr>
            <p:cNvPicPr/>
            <p:nvPr/>
          </p:nvPicPr>
          <p:blipFill rotWithShape="1">
            <a:blip r:embed="rId2">
              <a:extLst>
                <a:ext uri="{28A0092B-C50C-407E-A947-70E740481C1C}">
                  <a14:useLocalDpi xmlns:a14="http://schemas.microsoft.com/office/drawing/2010/main" val="0"/>
                </a:ext>
              </a:extLst>
            </a:blip>
            <a:srcRect l="2571" r="2402" b="204"/>
            <a:stretch>
              <a:fillRect/>
            </a:stretch>
          </p:blipFill>
          <p:spPr>
            <a:xfrm>
              <a:off x="6715125" y="1939323"/>
              <a:ext cx="5014912" cy="3489928"/>
            </a:xfrm>
            <a:prstGeom prst="rect">
              <a:avLst/>
            </a:prstGeom>
            <a:noFill/>
            <a:ln>
              <a:noFill/>
            </a:ln>
          </p:spPr>
        </p:pic>
        <p:sp>
          <p:nvSpPr>
            <p:cNvPr id="15" name="流程图: 接点 14">
              <a:extLst>
                <a:ext uri="{FF2B5EF4-FFF2-40B4-BE49-F238E27FC236}">
                  <a16:creationId xmlns:a16="http://schemas.microsoft.com/office/drawing/2014/main" id="{7D198CB0-CD59-3802-A79D-2865A563C042}"/>
                </a:ext>
              </a:extLst>
            </p:cNvPr>
            <p:cNvSpPr/>
            <p:nvPr/>
          </p:nvSpPr>
          <p:spPr>
            <a:xfrm>
              <a:off x="9362449" y="4352509"/>
              <a:ext cx="67542" cy="67542"/>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流程图: 接点 15">
              <a:extLst>
                <a:ext uri="{FF2B5EF4-FFF2-40B4-BE49-F238E27FC236}">
                  <a16:creationId xmlns:a16="http://schemas.microsoft.com/office/drawing/2014/main" id="{4CB19527-FA08-097C-99B7-F7B41E9029B6}"/>
                </a:ext>
              </a:extLst>
            </p:cNvPr>
            <p:cNvSpPr/>
            <p:nvPr/>
          </p:nvSpPr>
          <p:spPr>
            <a:xfrm>
              <a:off x="9741350" y="4230424"/>
              <a:ext cx="67542" cy="67542"/>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左 16">
              <a:extLst>
                <a:ext uri="{FF2B5EF4-FFF2-40B4-BE49-F238E27FC236}">
                  <a16:creationId xmlns:a16="http://schemas.microsoft.com/office/drawing/2014/main" id="{09CB4452-694D-E45A-1939-11D330AA2AEC}"/>
                </a:ext>
              </a:extLst>
            </p:cNvPr>
            <p:cNvSpPr/>
            <p:nvPr/>
          </p:nvSpPr>
          <p:spPr>
            <a:xfrm rot="20588705">
              <a:off x="9400759" y="4282190"/>
              <a:ext cx="369823" cy="86095"/>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79840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3888500"/>
          </a:xfrm>
          <a:prstGeom prst="rect">
            <a:avLst/>
          </a:prstGeom>
          <a:noFill/>
          <a:ln w="12700">
            <a:solidFill>
              <a:srgbClr val="C00000"/>
            </a:solidFill>
          </a:ln>
        </p:spPr>
        <p:txBody>
          <a:bodyPr wrap="square">
            <a:spAutoFit/>
          </a:bodyPr>
          <a:lstStyle/>
          <a:p>
            <a:pPr marL="447675" lvl="1" indent="-447675" algn="just">
              <a:lnSpc>
                <a:spcPct val="150000"/>
              </a:lnSpc>
              <a:spcAft>
                <a:spcPts val="600"/>
              </a:spcAft>
              <a:buFont typeface="Wingdings" panose="05000000000000000000" pitchFamily="2" charset="2"/>
              <a:buChar char="Ø"/>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每一个神经元都和感知机模型一致，都包含对输入数据进行加权乘法的</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权值</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含偏置</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求和</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运算、</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激活函数</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三个部分，激活函数输出结果为该神经元的输出。每个输入都连接到神经网络中第一层的所有神经元，每个神经元的输出也连接到下一层所有神经元，因此也称为</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全连接神经网络</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多层神经网络的结构</a:t>
            </a:r>
          </a:p>
        </p:txBody>
      </p:sp>
    </p:spTree>
    <p:extLst>
      <p:ext uri="{BB962C8B-B14F-4D97-AF65-F5344CB8AC3E}">
        <p14:creationId xmlns:p14="http://schemas.microsoft.com/office/powerpoint/2010/main" val="46920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多层神经网络的结构</a:t>
            </a:r>
          </a:p>
        </p:txBody>
      </p:sp>
      <p:pic>
        <p:nvPicPr>
          <p:cNvPr id="6" name="图片 1" descr="f05fa5b7fe0366622bf21424a1e4646">
            <a:extLst>
              <a:ext uri="{FF2B5EF4-FFF2-40B4-BE49-F238E27FC236}">
                <a16:creationId xmlns:a16="http://schemas.microsoft.com/office/drawing/2014/main" id="{8361EAD3-47E8-A5AC-4E1A-F9C9C3F10A52}"/>
              </a:ext>
            </a:extLst>
          </p:cNvPr>
          <p:cNvPicPr>
            <a:picLocks noChangeAspect="1"/>
          </p:cNvPicPr>
          <p:nvPr>
            <p:custDataLst>
              <p:tags r:id="rId1"/>
            </p:custDataLst>
          </p:nvPr>
        </p:nvPicPr>
        <p:blipFill>
          <a:blip r:embed="rId3" cstate="print"/>
          <a:srcRect l="313" t="1972" r="1794" b="14411"/>
          <a:stretch>
            <a:fillRect/>
          </a:stretch>
        </p:blipFill>
        <p:spPr>
          <a:xfrm>
            <a:off x="539420" y="2006407"/>
            <a:ext cx="8106740" cy="3425160"/>
          </a:xfrm>
          <a:prstGeom prst="rect">
            <a:avLst/>
          </a:prstGeom>
        </p:spPr>
      </p:pic>
    </p:spTree>
    <p:extLst>
      <p:ext uri="{BB962C8B-B14F-4D97-AF65-F5344CB8AC3E}">
        <p14:creationId xmlns:p14="http://schemas.microsoft.com/office/powerpoint/2010/main" val="4741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796313"/>
              </a:xfrm>
              <a:prstGeom prst="rect">
                <a:avLst/>
              </a:prstGeom>
              <a:noFill/>
              <a:ln w="12700">
                <a:solidFill>
                  <a:srgbClr val="C00000"/>
                </a:solidFill>
              </a:ln>
            </p:spPr>
            <p:txBody>
              <a:bodyPr wrap="square">
                <a:spAutoFit/>
              </a:bodyPr>
              <a:lstStyle/>
              <a:p>
                <a:pPr marL="447675" lvl="1" indent="-447675" algn="just">
                  <a:lnSpc>
                    <a:spcPct val="140000"/>
                  </a:lnSpc>
                  <a:spcAft>
                    <a:spcPts val="600"/>
                  </a:spcAft>
                  <a:buFont typeface="Wingdings" panose="05000000000000000000" pitchFamily="2" charset="2"/>
                  <a:buChar char="Ø"/>
                </a:pP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激活函数</a:t>
                </a:r>
                <a:endParaRPr lang="en-US" altLang="zh-CN"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多层神经网络为便于采用</a:t>
                </a:r>
                <a:endPar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BP</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算法进行权值参数学习，采用</a:t>
                </a:r>
                <a:r>
                  <a:rPr lang="en-US" altLang="zh-CN"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Sigmoid</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函数，</a:t>
                </a:r>
                <a:endParaRPr lang="en-US" altLang="zh-CN"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spcAft>
                    <a:spcPts val="600"/>
                  </a:spcAft>
                </a:pPr>
                <a14:m>
                  <m:oMathPara xmlns:m="http://schemas.openxmlformats.org/officeDocument/2006/math">
                    <m:oMathParaPr>
                      <m:jc m:val="centerGroup"/>
                    </m:oMathParaPr>
                    <m:oMath xmlns:m="http://schemas.openxmlformats.org/officeDocument/2006/math">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𝑓</m:t>
                      </m:r>
                      <m:d>
                        <m:dPr>
                          <m:ctrlP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dPr>
                        <m:e>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𝑥</m:t>
                          </m:r>
                        </m:e>
                      </m:d>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f>
                        <m:fPr>
                          <m:ctrlP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fPr>
                        <m:num>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1</m:t>
                          </m:r>
                        </m:num>
                        <m:den>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1−</m:t>
                          </m:r>
                          <m:sSup>
                            <m:sSupPr>
                              <m:ctrlP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𝑒</m:t>
                              </m:r>
                            </m:e>
                            <m:sup>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𝑥</m:t>
                              </m:r>
                            </m:sup>
                          </m:sSup>
                        </m:den>
                      </m:f>
                      <m:r>
                        <a:rPr lang="en-US" altLang="zh-CN" sz="2400" b="0" i="0"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          </m:t>
                      </m:r>
                      <m:sSup>
                        <m:sSupPr>
                          <m:ctrlP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𝑓</m:t>
                          </m:r>
                        </m:e>
                        <m:sup>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sup>
                      </m:sSup>
                      <m:d>
                        <m:dPr>
                          <m:ctrlP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dPr>
                        <m:e>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𝑥</m:t>
                          </m:r>
                        </m:e>
                      </m:d>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𝑓</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𝑥</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)(1−</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𝑓</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𝑥</m:t>
                      </m:r>
                      <m:r>
                        <a:rPr lang="en-US" altLang="zh-CN" sz="2400" b="0" i="1"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0" kern="10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 </m:t>
                      </m:r>
                    </m:oMath>
                  </m:oMathPara>
                </a14:m>
                <a:endPar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447675" lvl="1" indent="-447675" algn="just">
                  <a:lnSpc>
                    <a:spcPct val="140000"/>
                  </a:lnSpc>
                  <a:spcAft>
                    <a:spcPts val="600"/>
                  </a:spcAft>
                  <a:buFont typeface="Wingdings" panose="05000000000000000000" pitchFamily="2" charset="2"/>
                  <a:buChar char="Ø"/>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选取</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Sigmoid</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函数作为激活函数的优点</a:t>
                </a:r>
              </a:p>
              <a:p>
                <a:pPr marL="0" lvl="1" algn="just">
                  <a:lnSpc>
                    <a:spcPct val="140000"/>
                  </a:lnSpc>
                  <a:spcAft>
                    <a:spcPts val="600"/>
                  </a:spcAft>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）把输出值限定在</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(0,1)</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之间，便于调节；</a:t>
                </a:r>
              </a:p>
              <a:p>
                <a:pPr marL="0" lvl="1" algn="just">
                  <a:lnSpc>
                    <a:spcPct val="140000"/>
                  </a:lnSpc>
                  <a:spcAft>
                    <a:spcPts val="600"/>
                  </a:spcAft>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）该函数的求导形式简单，便于计算梯度。</a:t>
                </a: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5" y="1909800"/>
                <a:ext cx="8111685" cy="4796313"/>
              </a:xfrm>
              <a:prstGeom prst="rect">
                <a:avLst/>
              </a:prstGeom>
              <a:blipFill>
                <a:blip r:embed="rId2"/>
                <a:stretch>
                  <a:fillRect l="-1425" b="-2535"/>
                </a:stretch>
              </a:blipFill>
              <a:ln w="12700">
                <a:solidFill>
                  <a:srgbClr val="C00000"/>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多层神经网络的结构</a:t>
            </a:r>
          </a:p>
        </p:txBody>
      </p:sp>
      <p:pic>
        <p:nvPicPr>
          <p:cNvPr id="6" name="图片 5">
            <a:extLst>
              <a:ext uri="{FF2B5EF4-FFF2-40B4-BE49-F238E27FC236}">
                <a16:creationId xmlns:a16="http://schemas.microsoft.com/office/drawing/2014/main" id="{704D14F3-80B5-794F-E1FF-1C0AD2C85AA2}"/>
              </a:ext>
            </a:extLst>
          </p:cNvPr>
          <p:cNvPicPr/>
          <p:nvPr/>
        </p:nvPicPr>
        <p:blipFill>
          <a:blip r:embed="rId3">
            <a:extLst>
              <a:ext uri="{28A0092B-C50C-407E-A947-70E740481C1C}">
                <a14:useLocalDpi xmlns:a14="http://schemas.microsoft.com/office/drawing/2010/main" val="0"/>
              </a:ext>
            </a:extLst>
          </a:blip>
          <a:srcRect/>
          <a:stretch>
            <a:fillRect/>
          </a:stretch>
        </p:blipFill>
        <p:spPr>
          <a:xfrm>
            <a:off x="5065915" y="449434"/>
            <a:ext cx="3641205" cy="2653380"/>
          </a:xfrm>
          <a:prstGeom prst="rect">
            <a:avLst/>
          </a:prstGeom>
          <a:noFill/>
          <a:ln>
            <a:noFill/>
          </a:ln>
        </p:spPr>
      </p:pic>
      <p:sp>
        <p:nvSpPr>
          <p:cNvPr id="2" name="箭头: 右 1">
            <a:extLst>
              <a:ext uri="{FF2B5EF4-FFF2-40B4-BE49-F238E27FC236}">
                <a16:creationId xmlns:a16="http://schemas.microsoft.com/office/drawing/2014/main" id="{26284481-D26A-1C69-3CB9-47D76D170A54}"/>
              </a:ext>
            </a:extLst>
          </p:cNvPr>
          <p:cNvSpPr/>
          <p:nvPr/>
        </p:nvSpPr>
        <p:spPr>
          <a:xfrm>
            <a:off x="3933883" y="4236836"/>
            <a:ext cx="268085" cy="254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639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anim calcmode="lin" valueType="num">
                                      <p:cBhvr>
                                        <p:cTn id="1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0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1000"/>
                                        <p:tgtEl>
                                          <p:spTgt spid="7">
                                            <p:txEl>
                                              <p:pRg st="2" end="2"/>
                                            </p:txEl>
                                          </p:spTgt>
                                        </p:tgtEl>
                                      </p:cBhvr>
                                    </p:animEffect>
                                    <p:anim calcmode="lin" valueType="num">
                                      <p:cBhvr>
                                        <p:cTn id="2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25" fill="hold">
                            <p:stCondLst>
                              <p:cond delay="1500"/>
                            </p:stCondLst>
                            <p:childTnLst>
                              <p:par>
                                <p:cTn id="26" presetID="42" presetClass="entr" presetSubtype="0" fill="hold" nodeType="afterEffect">
                                  <p:stCondLst>
                                    <p:cond delay="50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1" presetID="10" presetClass="entr" presetSubtype="0" fill="hold" grpId="0" nodeType="withEffect">
                                  <p:stCondLst>
                                    <p:cond delay="150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par>
                          <p:cTn id="34" fill="hold">
                            <p:stCondLst>
                              <p:cond delay="3500"/>
                            </p:stCondLst>
                            <p:childTnLst>
                              <p:par>
                                <p:cTn id="35" presetID="42" presetClass="entr" presetSubtype="0" fill="hold" nodeType="afterEffect">
                                  <p:stCondLst>
                                    <p:cond delay="50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fade">
                                      <p:cBhvr>
                                        <p:cTn id="44" dur="1000"/>
                                        <p:tgtEl>
                                          <p:spTgt spid="7">
                                            <p:txEl>
                                              <p:pRg st="4" end="4"/>
                                            </p:txEl>
                                          </p:spTgt>
                                        </p:tgtEl>
                                      </p:cBhvr>
                                    </p:animEffect>
                                    <p:anim calcmode="lin" valueType="num">
                                      <p:cBhvr>
                                        <p:cTn id="4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7">
                                            <p:txEl>
                                              <p:pRg st="5" end="5"/>
                                            </p:txEl>
                                          </p:spTgt>
                                        </p:tgtEl>
                                        <p:attrNameLst>
                                          <p:attrName>style.visibility</p:attrName>
                                        </p:attrNameLst>
                                      </p:cBhvr>
                                      <p:to>
                                        <p:strVal val="visible"/>
                                      </p:to>
                                    </p:set>
                                    <p:animEffect transition="in" filter="fade">
                                      <p:cBhvr>
                                        <p:cTn id="51" dur="1000"/>
                                        <p:tgtEl>
                                          <p:spTgt spid="7">
                                            <p:txEl>
                                              <p:pRg st="5" end="5"/>
                                            </p:txEl>
                                          </p:spTgt>
                                        </p:tgtEl>
                                      </p:cBhvr>
                                    </p:animEffect>
                                    <p:anim calcmode="lin" valueType="num">
                                      <p:cBhvr>
                                        <p:cTn id="5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7">
                                            <p:txEl>
                                              <p:pRg st="6" end="6"/>
                                            </p:txEl>
                                          </p:spTgt>
                                        </p:tgtEl>
                                        <p:attrNameLst>
                                          <p:attrName>style.visibility</p:attrName>
                                        </p:attrNameLst>
                                      </p:cBhvr>
                                      <p:to>
                                        <p:strVal val="visible"/>
                                      </p:to>
                                    </p:set>
                                    <p:animEffect transition="in" filter="fade">
                                      <p:cBhvr>
                                        <p:cTn id="58" dur="1000"/>
                                        <p:tgtEl>
                                          <p:spTgt spid="7">
                                            <p:txEl>
                                              <p:pRg st="6" end="6"/>
                                            </p:txEl>
                                          </p:spTgt>
                                        </p:tgtEl>
                                      </p:cBhvr>
                                    </p:animEffect>
                                    <p:anim calcmode="lin" valueType="num">
                                      <p:cBhvr>
                                        <p:cTn id="5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6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2588144"/>
          </a:xfrm>
          <a:prstGeom prst="rect">
            <a:avLst/>
          </a:prstGeom>
          <a:noFill/>
          <a:ln w="12700">
            <a:solidFill>
              <a:srgbClr val="C00000"/>
            </a:solidFill>
          </a:ln>
        </p:spPr>
        <p:txBody>
          <a:bodyPr wrap="square">
            <a:spAutoFit/>
          </a:bodyPr>
          <a:lstStyle/>
          <a:p>
            <a:pPr marL="447675" lvl="1" indent="-447675" algn="just">
              <a:lnSpc>
                <a:spcPct val="140000"/>
              </a:lnSpc>
              <a:spcAft>
                <a:spcPts val="600"/>
              </a:spcAft>
              <a:buFont typeface="Wingdings" panose="05000000000000000000" pitchFamily="2" charset="2"/>
              <a:buChar char="Ø"/>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分为两部分：</a:t>
            </a:r>
            <a:endPar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正向（前向）传播</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得出网络</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输出</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0" lvl="1" algn="just">
              <a:lnSpc>
                <a:spcPct val="140000"/>
              </a:lnSpc>
              <a:spcAft>
                <a:spcPts val="600"/>
              </a:spcAft>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）利用</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误差反向传播算法</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BP</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算法）进行</a:t>
            </a: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权值参数调整</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的学习过程。</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多层神经网络的工作过程</a:t>
            </a:r>
          </a:p>
        </p:txBody>
      </p:sp>
    </p:spTree>
    <p:extLst>
      <p:ext uri="{BB962C8B-B14F-4D97-AF65-F5344CB8AC3E}">
        <p14:creationId xmlns:p14="http://schemas.microsoft.com/office/powerpoint/2010/main" val="380997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10" presetClass="entr" presetSubtype="0" fill="hold" grpId="0" nodeType="after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42" presetClass="entr" presetSubtype="0" fill="hold" nodeType="withEffect">
                                  <p:stCondLst>
                                    <p:cond delay="50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fade">
                                      <p:cBhvr>
                                        <p:cTn id="16" dur="1000"/>
                                        <p:tgtEl>
                                          <p:spTgt spid="7">
                                            <p:txEl>
                                              <p:pRg st="0" end="0"/>
                                            </p:txEl>
                                          </p:spTgt>
                                        </p:tgtEl>
                                      </p:cBhvr>
                                    </p:animEffect>
                                    <p:anim calcmode="lin" valueType="num">
                                      <p:cBhvr>
                                        <p:cTn id="1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Effect transition="in" filter="fade">
                                      <p:cBhvr>
                                        <p:cTn id="23" dur="1000"/>
                                        <p:tgtEl>
                                          <p:spTgt spid="7">
                                            <p:txEl>
                                              <p:pRg st="1" end="1"/>
                                            </p:txEl>
                                          </p:spTgt>
                                        </p:tgtEl>
                                      </p:cBhvr>
                                    </p:animEffect>
                                    <p:anim calcmode="lin" valueType="num">
                                      <p:cBhvr>
                                        <p:cTn id="2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animEffect transition="in" filter="fade">
                                      <p:cBhvr>
                                        <p:cTn id="30" dur="1000"/>
                                        <p:tgtEl>
                                          <p:spTgt spid="7">
                                            <p:txEl>
                                              <p:pRg st="2" end="2"/>
                                            </p:txEl>
                                          </p:spTgt>
                                        </p:tgtEl>
                                      </p:cBhvr>
                                    </p:animEffect>
                                    <p:anim calcmode="lin" valueType="num">
                                      <p:cBhvr>
                                        <p:cTn id="31"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474815"/>
          </a:xfrm>
          <a:prstGeom prst="rect">
            <a:avLst/>
          </a:prstGeom>
          <a:noFill/>
          <a:ln w="12700">
            <a:solidFill>
              <a:srgbClr val="C00000"/>
            </a:solidFill>
          </a:ln>
        </p:spPr>
        <p:txBody>
          <a:bodyPr wrap="square">
            <a:spAutoFit/>
          </a:bodyPr>
          <a:lstStyle/>
          <a:p>
            <a:pPr marL="447675" lvl="1" indent="-447675" algn="just">
              <a:lnSpc>
                <a:spcPct val="140000"/>
              </a:lnSpc>
              <a:spcAft>
                <a:spcPts val="600"/>
              </a:spcAft>
              <a:buFont typeface="Wingdings" panose="05000000000000000000" pitchFamily="2" charset="2"/>
              <a:buChar char="Ø"/>
            </a:pP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前向传播</a:t>
            </a:r>
            <a:endParaRPr lang="en-US" altLang="zh-CN"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每个神经元的正向计算过程和感知机模型神经元一致，差异表现在激活函数</a:t>
            </a:r>
            <a:endPar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en-US" altLang="zh-CN"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p>
          <a:p>
            <a:pPr marL="0" lvl="1" algn="just">
              <a:lnSpc>
                <a:spcPct val="140000"/>
              </a:lnSpc>
              <a:spcAft>
                <a:spcPts val="600"/>
              </a:spcAft>
            </a:pP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根据上面的公式，从第一层神经网络开始，逐层计算每个神经元输出，最终得到最后一层神经元的输出值。</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多层神经网络的工作过程</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4C9ABAE-59BE-9A5B-6225-3F195505F72A}"/>
                  </a:ext>
                </a:extLst>
              </p:cNvPr>
              <p:cNvSpPr txBox="1"/>
              <p:nvPr/>
            </p:nvSpPr>
            <p:spPr>
              <a:xfrm>
                <a:off x="609600" y="3957358"/>
                <a:ext cx="8128000" cy="678584"/>
              </a:xfrm>
              <a:prstGeom prst="rect">
                <a:avLst/>
              </a:prstGeom>
              <a:noFill/>
            </p:spPr>
            <p:txBody>
              <a:bodyPr wrap="square" lIns="0" tIns="0" rIns="0" bIns="0" rtlCol="0">
                <a:spAutoFit/>
              </a:bodyPr>
              <a:lstStyle/>
              <a:p>
                <a14:m>
                  <m:oMath xmlns:m="http://schemas.openxmlformats.org/officeDocument/2006/math">
                    <m:r>
                      <a:rPr lang="en-US" altLang="zh-CN" sz="2200" i="1" dirty="0" smtClean="0">
                        <a:latin typeface="Cambria Math" panose="02040503050406030204" pitchFamily="18" charset="0"/>
                      </a:rPr>
                      <m:t>𝑦</m:t>
                    </m:r>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𝑠𝑖𝑔𝑚𝑜𝑖𝑑</m:t>
                    </m:r>
                    <m:d>
                      <m:dPr>
                        <m:ctrlPr>
                          <a:rPr lang="en-US" altLang="zh-CN" sz="2200" b="0" i="1" dirty="0" smtClean="0">
                            <a:latin typeface="Cambria Math" panose="02040503050406030204" pitchFamily="18" charset="0"/>
                          </a:rPr>
                        </m:ctrlPr>
                      </m:dPr>
                      <m:e>
                        <m:nary>
                          <m:naryPr>
                            <m:chr m:val="∑"/>
                            <m:ctrlPr>
                              <a:rPr lang="en-US" altLang="zh-CN" sz="2200" b="0" i="1" dirty="0" smtClean="0">
                                <a:latin typeface="Cambria Math" panose="02040503050406030204" pitchFamily="18" charset="0"/>
                              </a:rPr>
                            </m:ctrlPr>
                          </m:naryPr>
                          <m:sub>
                            <m:r>
                              <m:rPr>
                                <m:brk m:alnAt="23"/>
                              </m:rPr>
                              <a:rPr lang="en-US" altLang="zh-CN" sz="2200" b="0" i="1" dirty="0" smtClean="0">
                                <a:latin typeface="Cambria Math" panose="02040503050406030204" pitchFamily="18" charset="0"/>
                              </a:rPr>
                              <m:t>𝑖</m:t>
                            </m:r>
                            <m:r>
                              <a:rPr lang="en-US" altLang="zh-CN" sz="2200" b="0" i="1" dirty="0" smtClean="0">
                                <a:latin typeface="Cambria Math" panose="02040503050406030204" pitchFamily="18" charset="0"/>
                              </a:rPr>
                              <m:t>=1</m:t>
                            </m:r>
                          </m:sub>
                          <m:sup>
                            <m:r>
                              <a:rPr lang="en-US" altLang="zh-CN" sz="2200" b="0" i="1" dirty="0" smtClean="0">
                                <a:latin typeface="Cambria Math" panose="02040503050406030204" pitchFamily="18" charset="0"/>
                              </a:rPr>
                              <m:t>𝑛</m:t>
                            </m:r>
                          </m:sup>
                          <m:e>
                            <m:sSub>
                              <m:sSubPr>
                                <m:ctrlPr>
                                  <a:rPr lang="en-US" altLang="zh-CN" sz="2200" b="0" i="1" dirty="0" smtClean="0">
                                    <a:latin typeface="Cambria Math" panose="02040503050406030204" pitchFamily="18" charset="0"/>
                                  </a:rPr>
                                </m:ctrlPr>
                              </m:sSubPr>
                              <m:e>
                                <m:r>
                                  <a:rPr lang="en-US" altLang="zh-CN" sz="2200" b="0" i="1" dirty="0" smtClean="0">
                                    <a:latin typeface="Cambria Math" panose="02040503050406030204" pitchFamily="18" charset="0"/>
                                  </a:rPr>
                                  <m:t>𝑤</m:t>
                                </m:r>
                              </m:e>
                              <m:sub>
                                <m:r>
                                  <a:rPr lang="en-US" altLang="zh-CN" sz="2200" b="0" i="1" dirty="0" smtClean="0">
                                    <a:latin typeface="Cambria Math" panose="02040503050406030204" pitchFamily="18" charset="0"/>
                                  </a:rPr>
                                  <m:t>𝑖</m:t>
                                </m:r>
                              </m:sub>
                            </m:sSub>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𝑥</m:t>
                                </m:r>
                              </m:e>
                              <m:sub>
                                <m:r>
                                  <a:rPr lang="en-US" altLang="zh-CN" sz="2200" i="1" dirty="0">
                                    <a:latin typeface="Cambria Math" panose="02040503050406030204" pitchFamily="18" charset="0"/>
                                  </a:rPr>
                                  <m:t>𝑖</m:t>
                                </m:r>
                              </m:sub>
                            </m:sSub>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𝑏</m:t>
                            </m:r>
                          </m:e>
                        </m:nary>
                      </m:e>
                    </m:d>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𝑠𝑖𝑔𝑚𝑜𝑖𝑑</m:t>
                    </m:r>
                    <m:r>
                      <a:rPr lang="en-US" altLang="zh-CN" sz="2200" b="0" i="1" dirty="0" smtClean="0">
                        <a:latin typeface="Cambria Math" panose="02040503050406030204" pitchFamily="18" charset="0"/>
                      </a:rPr>
                      <m:t>(</m:t>
                    </m:r>
                    <m:nary>
                      <m:naryPr>
                        <m:chr m:val="∑"/>
                        <m:ctrlPr>
                          <a:rPr lang="en-US" altLang="zh-CN" sz="2200" i="1" dirty="0" smtClean="0">
                            <a:latin typeface="Cambria Math" panose="02040503050406030204" pitchFamily="18" charset="0"/>
                          </a:rPr>
                        </m:ctrlPr>
                      </m:naryPr>
                      <m:sub>
                        <m:r>
                          <m:rPr>
                            <m:brk m:alnAt="23"/>
                          </m:rPr>
                          <a:rPr lang="en-US" altLang="zh-CN" sz="2200" i="1" dirty="0">
                            <a:latin typeface="Cambria Math" panose="02040503050406030204" pitchFamily="18" charset="0"/>
                          </a:rPr>
                          <m:t>𝑖</m:t>
                        </m:r>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0</m:t>
                        </m:r>
                      </m:sub>
                      <m:sup>
                        <m:r>
                          <a:rPr lang="en-US" altLang="zh-CN" sz="2200" i="1" dirty="0">
                            <a:latin typeface="Cambria Math" panose="02040503050406030204" pitchFamily="18" charset="0"/>
                          </a:rPr>
                          <m:t>𝑛</m:t>
                        </m:r>
                      </m:sup>
                      <m:e>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𝑤</m:t>
                            </m:r>
                          </m:e>
                          <m:sub>
                            <m:r>
                              <a:rPr lang="en-US" altLang="zh-CN" sz="2200" i="1" dirty="0">
                                <a:latin typeface="Cambria Math" panose="02040503050406030204" pitchFamily="18" charset="0"/>
                              </a:rPr>
                              <m:t>𝑖</m:t>
                            </m:r>
                          </m:sub>
                        </m:sSub>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𝑥</m:t>
                            </m:r>
                          </m:e>
                          <m:sub>
                            <m:r>
                              <a:rPr lang="en-US" altLang="zh-CN" sz="2200" i="1" dirty="0">
                                <a:latin typeface="Cambria Math" panose="02040503050406030204" pitchFamily="18" charset="0"/>
                              </a:rPr>
                              <m:t>𝑖</m:t>
                            </m:r>
                          </m:sub>
                        </m:sSub>
                      </m:e>
                    </m:nary>
                    <m:r>
                      <a:rPr lang="en-US" altLang="zh-CN" sz="2200" b="0" i="1" dirty="0" smtClean="0">
                        <a:latin typeface="Cambria Math" panose="02040503050406030204" pitchFamily="18" charset="0"/>
                      </a:rPr>
                      <m:t>)</m:t>
                    </m:r>
                  </m:oMath>
                </a14:m>
                <a:r>
                  <a:rPr lang="zh-CN" altLang="en-US" sz="2200" dirty="0"/>
                  <a:t>，其中，</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𝑥</m:t>
                        </m:r>
                      </m:e>
                      <m:sub>
                        <m:r>
                          <a:rPr lang="en-US" altLang="zh-CN" sz="2200" i="1" dirty="0">
                            <a:latin typeface="Cambria Math" panose="02040503050406030204" pitchFamily="18" charset="0"/>
                          </a:rPr>
                          <m:t>0</m:t>
                        </m:r>
                      </m:sub>
                    </m:sSub>
                    <m:r>
                      <a:rPr lang="en-US" altLang="zh-CN" sz="2200" i="1" dirty="0">
                        <a:latin typeface="Cambria Math" panose="02040503050406030204" pitchFamily="18" charset="0"/>
                      </a:rPr>
                      <m:t>=1</m:t>
                    </m:r>
                  </m:oMath>
                </a14:m>
                <a:endParaRPr lang="zh-CN" altLang="en-US" sz="2200" dirty="0"/>
              </a:p>
              <a:p>
                <a:endParaRPr lang="zh-CN" altLang="en-US" sz="2200" dirty="0"/>
              </a:p>
            </p:txBody>
          </p:sp>
        </mc:Choice>
        <mc:Fallback xmlns="">
          <p:sp>
            <p:nvSpPr>
              <p:cNvPr id="6" name="文本框 5">
                <a:extLst>
                  <a:ext uri="{FF2B5EF4-FFF2-40B4-BE49-F238E27FC236}">
                    <a16:creationId xmlns:a16="http://schemas.microsoft.com/office/drawing/2014/main" id="{B4C9ABAE-59BE-9A5B-6225-3F195505F72A}"/>
                  </a:ext>
                </a:extLst>
              </p:cNvPr>
              <p:cNvSpPr txBox="1">
                <a:spLocks noRot="1" noChangeAspect="1" noMove="1" noResize="1" noEditPoints="1" noAdjustHandles="1" noChangeArrowheads="1" noChangeShapeType="1" noTextEdit="1"/>
              </p:cNvSpPr>
              <p:nvPr/>
            </p:nvSpPr>
            <p:spPr>
              <a:xfrm>
                <a:off x="609600" y="3957358"/>
                <a:ext cx="8128000" cy="678584"/>
              </a:xfrm>
              <a:prstGeom prst="rect">
                <a:avLst/>
              </a:prstGeom>
              <a:blipFill>
                <a:blip r:embed="rId2"/>
                <a:stretch>
                  <a:fillRect l="-1200" t="-86486" r="-75" b="-792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8197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nodeType="afterEffect">
                                  <p:stCondLst>
                                    <p:cond delay="50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1000"/>
                                        <p:tgtEl>
                                          <p:spTgt spid="7">
                                            <p:txEl>
                                              <p:pRg st="1" end="1"/>
                                            </p:txEl>
                                          </p:spTgt>
                                        </p:tgtEl>
                                      </p:cBhvr>
                                    </p:animEffect>
                                    <p:anim calcmode="lin" valueType="num">
                                      <p:cBhvr>
                                        <p:cTn id="19"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21" fill="hold">
                            <p:stCondLst>
                              <p:cond delay="3000"/>
                            </p:stCondLst>
                            <p:childTnLst>
                              <p:par>
                                <p:cTn id="22" presetID="42" presetClass="entr" presetSubtype="0" fill="hold" nodeType="afterEffect">
                                  <p:stCondLst>
                                    <p:cond delay="50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42" presetClass="entr" presetSubtype="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fade">
                                      <p:cBhvr>
                                        <p:cTn id="37" dur="1000"/>
                                        <p:tgtEl>
                                          <p:spTgt spid="7">
                                            <p:txEl>
                                              <p:pRg st="3" end="3"/>
                                            </p:txEl>
                                          </p:spTgt>
                                        </p:tgtEl>
                                      </p:cBhvr>
                                    </p:animEffect>
                                    <p:anim calcmode="lin" valueType="num">
                                      <p:cBhvr>
                                        <p:cTn id="3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221412"/>
          </a:xfrm>
          <a:prstGeom prst="rect">
            <a:avLst/>
          </a:prstGeom>
          <a:noFill/>
          <a:ln w="12700">
            <a:solidFill>
              <a:srgbClr val="C00000"/>
            </a:solidFill>
          </a:ln>
        </p:spPr>
        <p:txBody>
          <a:bodyPr wrap="square">
            <a:spAutoFit/>
          </a:bodyPr>
          <a:lstStyle/>
          <a:p>
            <a:pPr marL="447675" lvl="1" indent="-447675" algn="just">
              <a:lnSpc>
                <a:spcPct val="140000"/>
              </a:lnSpc>
              <a:spcAft>
                <a:spcPts val="600"/>
              </a:spcAft>
              <a:buFont typeface="Wingdings" panose="05000000000000000000" pitchFamily="2" charset="2"/>
              <a:buChar char="Ø"/>
            </a:pP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反向传播具体学习过程</a:t>
            </a:r>
            <a:endParaRPr lang="en-US" altLang="zh-CN"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确定训练数据集，其中的每一个样本都由输入信息和期望的输出结果两部分组成。</a:t>
            </a:r>
          </a:p>
          <a:p>
            <a:pPr marL="0" lvl="1" algn="just">
              <a:lnSpc>
                <a:spcPct val="140000"/>
              </a:lnSpc>
              <a:spcAft>
                <a:spcPts val="600"/>
              </a:spcAft>
            </a:pP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从训练集中选取任一样本，把样本的输入信息作为网络输入。</a:t>
            </a:r>
          </a:p>
          <a:p>
            <a:pPr marL="0" lvl="1" algn="just">
              <a:lnSpc>
                <a:spcPct val="140000"/>
              </a:lnSpc>
              <a:spcAft>
                <a:spcPts val="600"/>
              </a:spcAft>
            </a:pP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进行正向传播，逐层计算出各个神经元处理后的结果，最终得到最后一层神经元的输出结果。</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多层神经网络的工作过程</a:t>
            </a:r>
          </a:p>
        </p:txBody>
      </p:sp>
    </p:spTree>
    <p:extLst>
      <p:ext uri="{BB962C8B-B14F-4D97-AF65-F5344CB8AC3E}">
        <p14:creationId xmlns:p14="http://schemas.microsoft.com/office/powerpoint/2010/main" val="422109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nodeType="afterEffect">
                                  <p:stCondLst>
                                    <p:cond delay="50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1000"/>
                                        <p:tgtEl>
                                          <p:spTgt spid="7">
                                            <p:txEl>
                                              <p:pRg st="1" end="1"/>
                                            </p:txEl>
                                          </p:spTgt>
                                        </p:tgtEl>
                                      </p:cBhvr>
                                    </p:animEffect>
                                    <p:anim calcmode="lin" valueType="num">
                                      <p:cBhvr>
                                        <p:cTn id="19"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000"/>
                                        <p:tgtEl>
                                          <p:spTgt spid="7">
                                            <p:txEl>
                                              <p:pRg st="2" end="2"/>
                                            </p:txEl>
                                          </p:spTgt>
                                        </p:tgtEl>
                                      </p:cBhvr>
                                    </p:animEffect>
                                    <p:anim calcmode="lin" valueType="num">
                                      <p:cBhvr>
                                        <p:cTn id="26"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fade">
                                      <p:cBhvr>
                                        <p:cTn id="32" dur="1000"/>
                                        <p:tgtEl>
                                          <p:spTgt spid="7">
                                            <p:txEl>
                                              <p:pRg st="3" end="3"/>
                                            </p:txEl>
                                          </p:spTgt>
                                        </p:tgtEl>
                                      </p:cBhvr>
                                    </p:animEffect>
                                    <p:anim calcmode="lin" valueType="num">
                                      <p:cBhvr>
                                        <p:cTn id="3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221412"/>
          </a:xfrm>
          <a:prstGeom prst="rect">
            <a:avLst/>
          </a:prstGeom>
          <a:noFill/>
          <a:ln w="12700">
            <a:solidFill>
              <a:srgbClr val="C00000"/>
            </a:solidFill>
          </a:ln>
        </p:spPr>
        <p:txBody>
          <a:bodyPr wrap="square">
            <a:spAutoFit/>
          </a:bodyPr>
          <a:lstStyle/>
          <a:p>
            <a:pPr marL="447675" lvl="1" indent="-447675" algn="just">
              <a:lnSpc>
                <a:spcPct val="140000"/>
              </a:lnSpc>
              <a:spcAft>
                <a:spcPts val="600"/>
              </a:spcAft>
              <a:buFont typeface="Wingdings" panose="05000000000000000000" pitchFamily="2" charset="2"/>
              <a:buChar char="Ø"/>
            </a:pP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反向传播具体学习过程</a:t>
            </a:r>
            <a:endParaRPr lang="en-US" altLang="zh-CN"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计算神经网络最后一层神经元的输出结果与期望的输出结果的误差。</a:t>
            </a:r>
          </a:p>
          <a:p>
            <a:pPr marL="0" lvl="1" algn="just">
              <a:lnSpc>
                <a:spcPct val="140000"/>
              </a:lnSpc>
              <a:spcAft>
                <a:spcPts val="600"/>
              </a:spcAft>
            </a:pP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根据上面得到的总误差</a:t>
            </a:r>
            <a:r>
              <a:rPr lang="en-US" altLang="zh-CN" sz="26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，采用梯度的概念对网络中所有权值参数进行调整，使得调整后的网络总误差减小。</a:t>
            </a:r>
          </a:p>
          <a:p>
            <a:pPr marL="0" lvl="1" algn="just">
              <a:lnSpc>
                <a:spcPct val="140000"/>
              </a:lnSpc>
              <a:spcAft>
                <a:spcPts val="600"/>
              </a:spcAft>
            </a:pP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对训练样本集中的每一个样本重复</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(3)-(5)</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的步骤，直到对整个训练样本集的总误差达到要求时为止。</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5551365"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多层神经网络的工作过程</a:t>
            </a:r>
          </a:p>
        </p:txBody>
      </p:sp>
    </p:spTree>
    <p:extLst>
      <p:ext uri="{BB962C8B-B14F-4D97-AF65-F5344CB8AC3E}">
        <p14:creationId xmlns:p14="http://schemas.microsoft.com/office/powerpoint/2010/main" val="72423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anim calcmode="lin" valueType="num">
                                      <p:cBhvr>
                                        <p:cTn id="2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1826910"/>
          </a:xfrm>
          <a:prstGeom prst="rect">
            <a:avLst/>
          </a:prstGeom>
          <a:noFill/>
          <a:ln w="12700">
            <a:solidFill>
              <a:srgbClr val="C00000"/>
            </a:solidFill>
          </a:ln>
        </p:spPr>
        <p:txBody>
          <a:bodyPr wrap="square">
            <a:spAutoFit/>
          </a:bodyPr>
          <a:lstStyle/>
          <a:p>
            <a:pPr marL="447675" lvl="1" indent="-447675" algn="just">
              <a:lnSpc>
                <a:spcPct val="140000"/>
              </a:lnSpc>
              <a:spcAft>
                <a:spcPts val="600"/>
              </a:spcAft>
              <a:buFont typeface="Wingdings" panose="05000000000000000000" pitchFamily="2" charset="2"/>
              <a:buChar char="Ø"/>
            </a:pPr>
            <a:r>
              <a:rPr lang="zh-CN" altLang="en-US" sz="28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异或运算</a:t>
            </a:r>
          </a:p>
          <a:p>
            <a:pPr marL="0" lvl="1" algn="just">
              <a:lnSpc>
                <a:spcPct val="140000"/>
              </a:lnSpc>
              <a:spcAft>
                <a:spcPts val="600"/>
              </a:spcAft>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运算规则：输入</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个值分别为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或</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，如果同为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或</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，结果为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（表示假）；如果两个值不同，则结果为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6435286"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实现异或运算的多层神经网络案例</a:t>
            </a:r>
          </a:p>
        </p:txBody>
      </p:sp>
      <p:pic>
        <p:nvPicPr>
          <p:cNvPr id="6" name="图片 5">
            <a:extLst>
              <a:ext uri="{FF2B5EF4-FFF2-40B4-BE49-F238E27FC236}">
                <a16:creationId xmlns:a16="http://schemas.microsoft.com/office/drawing/2014/main" id="{A5F3C0FA-0B12-94A3-D7A4-9270ED760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8846" y="3825322"/>
            <a:ext cx="4242621" cy="2970557"/>
          </a:xfrm>
          <a:prstGeom prst="rect">
            <a:avLst/>
          </a:prstGeom>
        </p:spPr>
      </p:pic>
    </p:spTree>
    <p:extLst>
      <p:ext uri="{BB962C8B-B14F-4D97-AF65-F5344CB8AC3E}">
        <p14:creationId xmlns:p14="http://schemas.microsoft.com/office/powerpoint/2010/main" val="100500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25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par>
                          <p:cTn id="13" fill="hold">
                            <p:stCondLst>
                              <p:cond delay="1250"/>
                            </p:stCondLst>
                            <p:childTnLst>
                              <p:par>
                                <p:cTn id="14" presetID="42" presetClass="entr" presetSubtype="0" fill="hold" nodeType="afterEffect">
                                  <p:stCondLst>
                                    <p:cond delay="7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661533"/>
          </a:xfrm>
          <a:prstGeom prst="rect">
            <a:avLst/>
          </a:prstGeom>
          <a:noFill/>
          <a:ln w="12700">
            <a:solidFill>
              <a:srgbClr val="C00000"/>
            </a:solidFill>
          </a:ln>
        </p:spPr>
        <p:txBody>
          <a:bodyPr wrap="square">
            <a:spAutoFit/>
          </a:bodyPr>
          <a:lstStyle/>
          <a:p>
            <a:pPr marL="263525" lvl="1" indent="-263525" algn="just">
              <a:lnSpc>
                <a:spcPct val="140000"/>
              </a:lnSpc>
              <a:spcAft>
                <a:spcPts val="600"/>
              </a:spcAft>
              <a:buFont typeface="Arial" panose="020B0604020202020204" pitchFamily="34" charset="0"/>
              <a:buChar char="•"/>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每个输入数据为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或者</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263525" lvl="1" indent="-263525" algn="just">
              <a:lnSpc>
                <a:spcPct val="140000"/>
              </a:lnSpc>
              <a:spcAft>
                <a:spcPts val="600"/>
              </a:spcAft>
              <a:buFont typeface="Arial" panose="020B0604020202020204" pitchFamily="34" charset="0"/>
              <a:buChar char="•"/>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在网络训练时，用</a:t>
            </a:r>
            <a:r>
              <a:rPr lang="en-US" altLang="zh-CN" sz="26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作为输入数据是类别</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的期望输出值（标签值），并同时期望此时</a:t>
            </a:r>
            <a:r>
              <a:rPr lang="en-US" altLang="zh-CN" sz="26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输出尽量为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，则类别</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的期望输出是</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[oy1,oy2]=[1,0]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，以此计算误差；</a:t>
            </a:r>
          </a:p>
          <a:p>
            <a:pPr marL="263525" lvl="1" indent="-263525" algn="just">
              <a:lnSpc>
                <a:spcPct val="140000"/>
              </a:lnSpc>
              <a:spcAft>
                <a:spcPts val="600"/>
              </a:spcAft>
              <a:buFont typeface="Arial" panose="020B0604020202020204" pitchFamily="34" charset="0"/>
              <a:buChar char="•"/>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sz="26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作为类别</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的期望输出值（标签值），并期望此时</a:t>
            </a:r>
            <a:r>
              <a:rPr lang="en-US" altLang="zh-CN" sz="2600" i="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输出尽量为</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，则类别</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的期望输出是</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[oy1,oy2]=[0,1]</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，以此计算误差。</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6435286"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实现异或运算的多层神经网络案例</a:t>
            </a:r>
          </a:p>
        </p:txBody>
      </p:sp>
      <p:pic>
        <p:nvPicPr>
          <p:cNvPr id="9" name="图片 8">
            <a:extLst>
              <a:ext uri="{FF2B5EF4-FFF2-40B4-BE49-F238E27FC236}">
                <a16:creationId xmlns:a16="http://schemas.microsoft.com/office/drawing/2014/main" id="{06428258-D370-E998-3280-CAAEF4A69D7D}"/>
              </a:ext>
            </a:extLst>
          </p:cNvPr>
          <p:cNvPicPr>
            <a:picLocks noChangeAspect="1"/>
          </p:cNvPicPr>
          <p:nvPr/>
        </p:nvPicPr>
        <p:blipFill>
          <a:blip r:embed="rId2"/>
          <a:stretch>
            <a:fillRect/>
          </a:stretch>
        </p:blipFill>
        <p:spPr>
          <a:xfrm>
            <a:off x="4553481" y="95063"/>
            <a:ext cx="4076283" cy="2627817"/>
          </a:xfrm>
          <a:prstGeom prst="rect">
            <a:avLst/>
          </a:prstGeom>
        </p:spPr>
      </p:pic>
    </p:spTree>
    <p:extLst>
      <p:ext uri="{BB962C8B-B14F-4D97-AF65-F5344CB8AC3E}">
        <p14:creationId xmlns:p14="http://schemas.microsoft.com/office/powerpoint/2010/main" val="317248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10" presetClass="entr" presetSubtype="0" fill="hold" grpId="0" nodeType="after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childTnLst>
                          </p:cTn>
                        </p:par>
                        <p:par>
                          <p:cTn id="14" fill="hold">
                            <p:stCondLst>
                              <p:cond delay="3000"/>
                            </p:stCondLst>
                            <p:childTnLst>
                              <p:par>
                                <p:cTn id="15" presetID="42" presetClass="entr" presetSubtype="0" fill="hold" nodeType="afterEffect">
                                  <p:stCondLst>
                                    <p:cond delay="50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1000"/>
                                        <p:tgtEl>
                                          <p:spTgt spid="7">
                                            <p:txEl>
                                              <p:pRg st="1" end="1"/>
                                            </p:txEl>
                                          </p:spTgt>
                                        </p:tgtEl>
                                      </p:cBhvr>
                                    </p:animEffect>
                                    <p:anim calcmode="lin" valueType="num">
                                      <p:cBhvr>
                                        <p:cTn id="2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1000"/>
                                        <p:tgtEl>
                                          <p:spTgt spid="7">
                                            <p:txEl>
                                              <p:pRg st="2" end="2"/>
                                            </p:txEl>
                                          </p:spTgt>
                                        </p:tgtEl>
                                      </p:cBhvr>
                                    </p:animEffect>
                                    <p:anim calcmode="lin" valueType="num">
                                      <p:cBhvr>
                                        <p:cTn id="3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3315395"/>
              </a:xfrm>
              <a:prstGeom prst="rect">
                <a:avLst/>
              </a:prstGeom>
              <a:noFill/>
              <a:ln w="12700">
                <a:solidFill>
                  <a:srgbClr val="C00000"/>
                </a:solidFill>
              </a:ln>
            </p:spPr>
            <p:txBody>
              <a:bodyPr wrap="square">
                <a:spAutoFit/>
              </a:bodyPr>
              <a:lstStyle/>
              <a:p>
                <a:pPr marL="263525" lvl="1" indent="-263525" algn="just">
                  <a:lnSpc>
                    <a:spcPct val="140000"/>
                  </a:lnSpc>
                  <a:spcAft>
                    <a:spcPts val="600"/>
                  </a:spcAft>
                  <a:buFont typeface="Arial" panose="020B0604020202020204" pitchFamily="34" charset="0"/>
                  <a:buChar char="•"/>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从输入层到隐含层的输出</a:t>
                </a:r>
                <a:endPar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𝑖h</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0_</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𝐻</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𝑥</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_</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𝐻</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𝑥</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_</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𝐻</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oMath>
                  </m:oMathPara>
                </a14:m>
                <a:endPar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𝑖h</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0_</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𝐻</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𝑥</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1_</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𝐻</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𝑥</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2_</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𝐻</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oMath>
                  </m:oMathPara>
                </a14:m>
                <a:endPar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h</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𝑓</m:t>
                      </m:r>
                      <m:d>
                        <m:dPr>
                          <m:ctrlP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𝑖h</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e>
                      </m:d>
                    </m:oMath>
                  </m:oMathPara>
                </a14:m>
                <a:endParaRPr lang="en-US" altLang="zh-CN" sz="2600" b="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𝑜h</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𝑓</m:t>
                      </m:r>
                      <m:d>
                        <m:d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𝑖h</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e>
                      </m:d>
                    </m:oMath>
                  </m:oMathPara>
                </a14:m>
                <a:endPar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5" y="1909800"/>
                <a:ext cx="8111685" cy="3315395"/>
              </a:xfrm>
              <a:prstGeom prst="rect">
                <a:avLst/>
              </a:prstGeom>
              <a:blipFill>
                <a:blip r:embed="rId2"/>
                <a:stretch>
                  <a:fillRect l="-1050"/>
                </a:stretch>
              </a:blipFill>
              <a:ln w="12700">
                <a:solidFill>
                  <a:srgbClr val="C00000"/>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6435286"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实现异或运算的多层神经网络案例</a:t>
            </a:r>
          </a:p>
        </p:txBody>
      </p:sp>
    </p:spTree>
    <p:extLst>
      <p:ext uri="{BB962C8B-B14F-4D97-AF65-F5344CB8AC3E}">
        <p14:creationId xmlns:p14="http://schemas.microsoft.com/office/powerpoint/2010/main" val="2582471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42" presetClass="entr" presetSubtype="0" fill="hold" nodeType="withEffect">
                                  <p:stCondLst>
                                    <p:cond delay="50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1000"/>
                                        <p:tgtEl>
                                          <p:spTgt spid="7">
                                            <p:txEl>
                                              <p:pRg st="0" end="0"/>
                                            </p:txEl>
                                          </p:spTgt>
                                        </p:tgtEl>
                                      </p:cBhvr>
                                    </p:animEffect>
                                    <p:anim calcmode="lin" valueType="num">
                                      <p:cBhvr>
                                        <p:cTn id="1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anim calcmode="lin" valueType="num">
                                      <p:cBhvr>
                                        <p:cTn id="1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1000"/>
                                        <p:tgtEl>
                                          <p:spTgt spid="7">
                                            <p:txEl>
                                              <p:pRg st="3" end="3"/>
                                            </p:txEl>
                                          </p:spTgt>
                                        </p:tgtEl>
                                      </p:cBhvr>
                                    </p:animEffect>
                                    <p:anim calcmode="lin" valueType="num">
                                      <p:cBhvr>
                                        <p:cTn id="3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1000"/>
                                        <p:tgtEl>
                                          <p:spTgt spid="7">
                                            <p:txEl>
                                              <p:pRg st="4" end="4"/>
                                            </p:txEl>
                                          </p:spTgt>
                                        </p:tgtEl>
                                      </p:cBhvr>
                                    </p:animEffect>
                                    <p:anim calcmode="lin" valueType="num">
                                      <p:cBhvr>
                                        <p:cTn id="3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3315395"/>
              </a:xfrm>
              <a:prstGeom prst="rect">
                <a:avLst/>
              </a:prstGeom>
              <a:noFill/>
              <a:ln w="12700">
                <a:solidFill>
                  <a:srgbClr val="C00000"/>
                </a:solidFill>
              </a:ln>
            </p:spPr>
            <p:txBody>
              <a:bodyPr wrap="square">
                <a:spAutoFit/>
              </a:bodyPr>
              <a:lstStyle/>
              <a:p>
                <a:pPr marL="263525" lvl="1" indent="-263525" algn="just">
                  <a:lnSpc>
                    <a:spcPct val="140000"/>
                  </a:lnSpc>
                  <a:spcAft>
                    <a:spcPts val="600"/>
                  </a:spcAft>
                  <a:buFont typeface="Arial" panose="020B0604020202020204" pitchFamily="34" charset="0"/>
                  <a:buChar char="•"/>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从隐含层到输出层的输出</a:t>
                </a: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𝑖𝑦</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0_</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𝑌</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𝑜h</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_</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𝑌</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𝑜h</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_</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𝑌</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oMath>
                  </m:oMathPara>
                </a14:m>
                <a:endPar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𝑦</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0_</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𝑌</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𝑜h</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1_</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𝑌</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𝑜h</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𝑤</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r>
                            <a:rPr lang="en-US" altLang="zh-CN" sz="260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_</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𝑌</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oMath>
                  </m:oMathPara>
                </a14:m>
                <a:endPar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𝑜𝑦</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𝑓</m:t>
                      </m:r>
                      <m:d>
                        <m:dPr>
                          <m:ctrlP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𝑦</m:t>
                              </m:r>
                            </m:e>
                            <m: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1</m:t>
                              </m:r>
                            </m:sub>
                          </m:sSub>
                        </m:e>
                      </m:d>
                    </m:oMath>
                  </m:oMathPara>
                </a14:m>
                <a:endParaRPr lang="en-US" altLang="zh-CN" sz="2600" b="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𝑜</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𝑦</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𝑓</m:t>
                      </m:r>
                      <m:d>
                        <m:d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600" i="1" kern="10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𝑖</m:t>
                              </m:r>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𝑦</m:t>
                              </m:r>
                            </m:e>
                            <m:sub>
                              <m:r>
                                <a:rPr lang="en-US" altLang="zh-CN" sz="2600" b="0" i="1" kern="100" smtClean="0">
                                  <a:solidFill>
                                    <a:srgbClr val="000000"/>
                                  </a:solidFill>
                                  <a:latin typeface="Cambria Math" panose="02040503050406030204" pitchFamily="18" charset="0"/>
                                  <a:ea typeface="黑体" panose="02010609060101010101" pitchFamily="49" charset="-122"/>
                                  <a:cs typeface="Times New Roman" panose="02020603050405020304" pitchFamily="18" charset="0"/>
                                </a:rPr>
                                <m:t>2</m:t>
                              </m:r>
                            </m:sub>
                          </m:sSub>
                        </m:e>
                      </m:d>
                    </m:oMath>
                  </m:oMathPara>
                </a14:m>
                <a:endPar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663A0465-7C1B-C760-5EE4-F6FBBFB5D1EA}"/>
                  </a:ext>
                </a:extLst>
              </p:cNvPr>
              <p:cNvSpPr txBox="1">
                <a:spLocks noRot="1" noChangeAspect="1" noMove="1" noResize="1" noEditPoints="1" noAdjustHandles="1" noChangeArrowheads="1" noChangeShapeType="1" noTextEdit="1"/>
              </p:cNvSpPr>
              <p:nvPr/>
            </p:nvSpPr>
            <p:spPr>
              <a:xfrm>
                <a:off x="524315" y="1909800"/>
                <a:ext cx="8111685" cy="3315395"/>
              </a:xfrm>
              <a:prstGeom prst="rect">
                <a:avLst/>
              </a:prstGeom>
              <a:blipFill>
                <a:blip r:embed="rId2"/>
                <a:stretch>
                  <a:fillRect l="-1050"/>
                </a:stretch>
              </a:blipFill>
              <a:ln w="12700">
                <a:solidFill>
                  <a:srgbClr val="C00000"/>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6435286"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实现异或运算的多层神经网络案例</a:t>
            </a:r>
          </a:p>
        </p:txBody>
      </p:sp>
    </p:spTree>
    <p:extLst>
      <p:ext uri="{BB962C8B-B14F-4D97-AF65-F5344CB8AC3E}">
        <p14:creationId xmlns:p14="http://schemas.microsoft.com/office/powerpoint/2010/main" val="64030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1000"/>
                                        <p:tgtEl>
                                          <p:spTgt spid="7">
                                            <p:txEl>
                                              <p:pRg st="0" end="0"/>
                                            </p:txEl>
                                          </p:spTgt>
                                        </p:tgtEl>
                                      </p:cBhvr>
                                    </p:animEffect>
                                    <p:anim calcmode="lin" valueType="num">
                                      <p:cBhvr>
                                        <p:cTn id="1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anim calcmode="lin" valueType="num">
                                      <p:cBhvr>
                                        <p:cTn id="1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1000"/>
                                        <p:tgtEl>
                                          <p:spTgt spid="7">
                                            <p:txEl>
                                              <p:pRg st="3" end="3"/>
                                            </p:txEl>
                                          </p:spTgt>
                                        </p:tgtEl>
                                      </p:cBhvr>
                                    </p:animEffect>
                                    <p:anim calcmode="lin" valueType="num">
                                      <p:cBhvr>
                                        <p:cTn id="3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1000"/>
                                        <p:tgtEl>
                                          <p:spTgt spid="7">
                                            <p:txEl>
                                              <p:pRg st="4" end="4"/>
                                            </p:txEl>
                                          </p:spTgt>
                                        </p:tgtEl>
                                      </p:cBhvr>
                                    </p:animEffect>
                                    <p:anim calcmode="lin" valueType="num">
                                      <p:cBhvr>
                                        <p:cTn id="3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392315" y="449434"/>
            <a:ext cx="7962648" cy="657727"/>
          </a:xfrm>
        </p:spPr>
        <p:txBody>
          <a:bodyPr/>
          <a:lstStyle/>
          <a:p>
            <a:pPr algn="l"/>
            <a:r>
              <a:rPr lang="zh-CN" altLang="en-US" sz="4000" dirty="0">
                <a:solidFill>
                  <a:srgbClr val="C00000"/>
                </a:solidFill>
                <a:latin typeface="方正姚体" panose="02010601030101010101" pitchFamily="2" charset="-122"/>
                <a:ea typeface="方正姚体" panose="02010601030101010101" pitchFamily="2" charset="-122"/>
                <a:cs typeface="Times New Roman" panose="02020603050405020304" pitchFamily="18" charset="0"/>
              </a:rPr>
              <a:t>多层神经网络</a:t>
            </a:r>
          </a:p>
        </p:txBody>
      </p:sp>
      <p:sp>
        <p:nvSpPr>
          <p:cNvPr id="7" name="文本框 6">
            <a:extLst>
              <a:ext uri="{FF2B5EF4-FFF2-40B4-BE49-F238E27FC236}">
                <a16:creationId xmlns:a16="http://schemas.microsoft.com/office/drawing/2014/main" id="{663A0465-7C1B-C760-5EE4-F6FBBFB5D1EA}"/>
              </a:ext>
            </a:extLst>
          </p:cNvPr>
          <p:cNvSpPr txBox="1"/>
          <p:nvPr/>
        </p:nvSpPr>
        <p:spPr>
          <a:xfrm>
            <a:off x="524315" y="1909800"/>
            <a:ext cx="8111685" cy="4584588"/>
          </a:xfrm>
          <a:prstGeom prst="rect">
            <a:avLst/>
          </a:prstGeom>
          <a:noFill/>
          <a:ln w="12700">
            <a:solidFill>
              <a:srgbClr val="C00000"/>
            </a:solidFill>
          </a:ln>
        </p:spPr>
        <p:txBody>
          <a:bodyPr wrap="square">
            <a:spAutoFit/>
          </a:bodyPr>
          <a:lstStyle/>
          <a:p>
            <a:pPr marL="263525" lvl="1" indent="-263525" algn="just">
              <a:lnSpc>
                <a:spcPct val="140000"/>
              </a:lnSpc>
              <a:spcAft>
                <a:spcPts val="600"/>
              </a:spcAft>
              <a:buFont typeface="Arial" panose="020B0604020202020204" pitchFamily="34" charset="0"/>
              <a:buChar char="•"/>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梯度消失与梯度爆炸的原因</a:t>
            </a:r>
            <a:endPar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1" algn="just">
              <a:lnSpc>
                <a:spcPct val="140000"/>
              </a:lnSpc>
              <a:spcAft>
                <a:spcPts val="600"/>
              </a:spcAft>
            </a:pP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在训练过程中，需要计算最终的误差评估函数对所有神经元权值参数的偏导数，而根据链式传递法则可知，误差评估函数对前面层次神经元的权值参数的偏导数是由误差评估函数对后面各层神经元输出计算公式的偏导数的连续乘积计算得来，当存在非常多网络层次时，各层神经元函数的偏导数连续相乘的结果就会接近</a:t>
            </a:r>
            <a:r>
              <a:rPr lang="en-US" altLang="zh-CN"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或者非常大，这两种情况分别称为梯度消失和梯度爆炸。</a:t>
            </a:r>
          </a:p>
        </p:txBody>
      </p:sp>
      <p:sp>
        <p:nvSpPr>
          <p:cNvPr id="5" name="文本框 4">
            <a:extLst>
              <a:ext uri="{FF2B5EF4-FFF2-40B4-BE49-F238E27FC236}">
                <a16:creationId xmlns:a16="http://schemas.microsoft.com/office/drawing/2014/main" id="{C50717D5-A87A-027F-09D9-53E2C991533B}"/>
              </a:ext>
            </a:extLst>
          </p:cNvPr>
          <p:cNvSpPr txBox="1"/>
          <p:nvPr/>
        </p:nvSpPr>
        <p:spPr>
          <a:xfrm>
            <a:off x="524314" y="1216093"/>
            <a:ext cx="6435286" cy="584775"/>
          </a:xfrm>
          <a:prstGeom prst="rect">
            <a:avLst/>
          </a:prstGeom>
          <a:noFill/>
        </p:spPr>
        <p:txBody>
          <a:bodyPr wrap="square">
            <a:spAutoFit/>
          </a:bodyPr>
          <a:lstStyle/>
          <a:p>
            <a:r>
              <a:rPr lang="zh-CN" altLang="en-US" sz="3200" dirty="0">
                <a:solidFill>
                  <a:srgbClr val="C00000"/>
                </a:solidFill>
                <a:latin typeface="方正姚体" panose="02010601030101010101" pitchFamily="2" charset="-122"/>
                <a:ea typeface="方正姚体" panose="02010601030101010101" pitchFamily="2" charset="-122"/>
                <a:cs typeface="+mn-ea"/>
                <a:sym typeface="+mn-lt"/>
              </a:rPr>
              <a:t>梯度消失与梯度爆炸问题</a:t>
            </a:r>
          </a:p>
        </p:txBody>
      </p:sp>
    </p:spTree>
    <p:extLst>
      <p:ext uri="{BB962C8B-B14F-4D97-AF65-F5344CB8AC3E}">
        <p14:creationId xmlns:p14="http://schemas.microsoft.com/office/powerpoint/2010/main" val="324974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232763" y="117223"/>
            <a:ext cx="837635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 浅层学习  </a:t>
            </a:r>
            <a:r>
              <a:rPr lang="en-US" altLang="zh-CN" sz="4400" dirty="0">
                <a:latin typeface="方正姚体" panose="02010601030101010101" pitchFamily="2" charset="-122"/>
                <a:ea typeface="方正姚体" panose="02010601030101010101" pitchFamily="2" charset="-122"/>
                <a:cs typeface="Times New Roman" panose="02020603050405020304" pitchFamily="18" charset="0"/>
              </a:rPr>
              <a:t>Versus  </a:t>
            </a:r>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深度学习</a:t>
            </a:r>
          </a:p>
        </p:txBody>
      </p:sp>
      <p:grpSp>
        <p:nvGrpSpPr>
          <p:cNvPr id="4" name="组合 3">
            <a:extLst>
              <a:ext uri="{FF2B5EF4-FFF2-40B4-BE49-F238E27FC236}">
                <a16:creationId xmlns:a16="http://schemas.microsoft.com/office/drawing/2014/main" id="{A53E53CD-D0B5-7999-F452-4B3C5AFF7794}"/>
              </a:ext>
            </a:extLst>
          </p:cNvPr>
          <p:cNvGrpSpPr/>
          <p:nvPr/>
        </p:nvGrpSpPr>
        <p:grpSpPr>
          <a:xfrm>
            <a:off x="231776" y="1272069"/>
            <a:ext cx="6906155" cy="2182282"/>
            <a:chOff x="231776" y="1272069"/>
            <a:chExt cx="6906155" cy="2182282"/>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6" y="1272071"/>
              <a:ext cx="3654424" cy="153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5642" y="1272071"/>
              <a:ext cx="857250"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3406" y="1272069"/>
              <a:ext cx="1914525"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圆角矩形 25"/>
            <p:cNvSpPr/>
            <p:nvPr/>
          </p:nvSpPr>
          <p:spPr bwMode="auto">
            <a:xfrm>
              <a:off x="424947" y="2808772"/>
              <a:ext cx="582586" cy="453672"/>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图像</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p:txBody>
        </p:sp>
        <p:sp>
          <p:nvSpPr>
            <p:cNvPr id="27" name="圆角矩形 26"/>
            <p:cNvSpPr/>
            <p:nvPr/>
          </p:nvSpPr>
          <p:spPr bwMode="auto">
            <a:xfrm>
              <a:off x="1253067" y="2741036"/>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稠密</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信息点</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p:txBody>
        </p:sp>
        <p:sp>
          <p:nvSpPr>
            <p:cNvPr id="28" name="圆角矩形 27"/>
            <p:cNvSpPr/>
            <p:nvPr/>
          </p:nvSpPr>
          <p:spPr bwMode="auto">
            <a:xfrm>
              <a:off x="2263776" y="2741035"/>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信息点</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表达</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p:txBody>
        </p:sp>
        <p:sp>
          <p:nvSpPr>
            <p:cNvPr id="29" name="圆角矩形 28"/>
            <p:cNvSpPr/>
            <p:nvPr/>
          </p:nvSpPr>
          <p:spPr bwMode="auto">
            <a:xfrm>
              <a:off x="3184523" y="2732568"/>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视觉</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词典</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p:txBody>
        </p:sp>
        <p:sp>
          <p:nvSpPr>
            <p:cNvPr id="30" name="圆角矩形 29"/>
            <p:cNvSpPr/>
            <p:nvPr/>
          </p:nvSpPr>
          <p:spPr bwMode="auto">
            <a:xfrm>
              <a:off x="4163482" y="2718456"/>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视觉</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单词</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p:txBody>
        </p:sp>
        <p:sp>
          <p:nvSpPr>
            <p:cNvPr id="31" name="圆角矩形 30"/>
            <p:cNvSpPr/>
            <p:nvPr/>
          </p:nvSpPr>
          <p:spPr bwMode="auto">
            <a:xfrm>
              <a:off x="5289547" y="2741036"/>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金字塔</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模型</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p:txBody>
        </p:sp>
        <p:sp>
          <p:nvSpPr>
            <p:cNvPr id="35" name="圆角矩形 34"/>
            <p:cNvSpPr/>
            <p:nvPr/>
          </p:nvSpPr>
          <p:spPr bwMode="auto">
            <a:xfrm>
              <a:off x="6247335" y="2741036"/>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black"/>
                  </a:solidFill>
                  <a:effectLst/>
                  <a:uLnTx/>
                  <a:uFillTx/>
                  <a:latin typeface="+mn-ea"/>
                  <a:cs typeface="Times New Roman" panose="02020603050405020304" pitchFamily="18" charset="0"/>
                </a:rPr>
                <a:t>直方图</a:t>
              </a:r>
              <a:endParaRPr kumimoji="0" lang="en-US" altLang="zh-CN"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p:txBody>
        </p:sp>
      </p:grpSp>
      <p:sp>
        <p:nvSpPr>
          <p:cNvPr id="2" name="右箭头 1"/>
          <p:cNvSpPr/>
          <p:nvPr/>
        </p:nvSpPr>
        <p:spPr>
          <a:xfrm>
            <a:off x="7112552" y="1978082"/>
            <a:ext cx="473603" cy="40640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38" name="圆角矩形 37"/>
          <p:cNvSpPr/>
          <p:nvPr/>
        </p:nvSpPr>
        <p:spPr bwMode="auto">
          <a:xfrm>
            <a:off x="7670851" y="1273474"/>
            <a:ext cx="1288933" cy="181561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marR="0" lvl="1" indent="0" algn="ctr" defTabSz="914400" rtl="0" eaLnBrk="1" fontAlgn="base" latinLnBrk="0" hangingPunct="1">
              <a:lnSpc>
                <a:spcPct val="130000"/>
              </a:lnSpc>
              <a:spcBef>
                <a:spcPct val="0"/>
              </a:spcBef>
              <a:spcAft>
                <a:spcPct val="0"/>
              </a:spcAft>
              <a:buClr>
                <a:srgbClr val="FF0000"/>
              </a:buClr>
              <a:buSzTx/>
              <a:buFontTx/>
              <a:buNone/>
              <a:tabLst/>
              <a:defRPr/>
            </a:pPr>
            <a:r>
              <a:rPr kumimoji="0" lang="zh-CN" altLang="en-US" sz="2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识别</a:t>
            </a:r>
            <a:endParaRPr kumimoji="0" lang="en-US" altLang="zh-CN" sz="2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30000"/>
              </a:lnSpc>
              <a:spcBef>
                <a:spcPct val="0"/>
              </a:spcBef>
              <a:spcAft>
                <a:spcPct val="0"/>
              </a:spcAft>
              <a:buClr>
                <a:srgbClr val="FF0000"/>
              </a:buClr>
              <a:buSzTx/>
              <a:buFontTx/>
              <a:buNone/>
              <a:tabLst/>
              <a:defRPr/>
            </a:pPr>
            <a:r>
              <a:rPr kumimoji="0" lang="zh-CN" altLang="en-US" sz="2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分类</a:t>
            </a:r>
            <a:endParaRPr kumimoji="0" lang="en-US" altLang="zh-CN" sz="2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30000"/>
              </a:lnSpc>
              <a:spcBef>
                <a:spcPct val="0"/>
              </a:spcBef>
              <a:spcAft>
                <a:spcPct val="0"/>
              </a:spcAft>
              <a:buClr>
                <a:srgbClr val="FF0000"/>
              </a:buClr>
              <a:buSzTx/>
              <a:buFontTx/>
              <a:buNone/>
              <a:tabLst/>
              <a:defRPr/>
            </a:pPr>
            <a:r>
              <a:rPr kumimoji="0" lang="zh-CN" altLang="en-US" sz="2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聚类</a:t>
            </a:r>
          </a:p>
        </p:txBody>
      </p:sp>
      <p:sp>
        <p:nvSpPr>
          <p:cNvPr id="3" name="减号 2"/>
          <p:cNvSpPr/>
          <p:nvPr/>
        </p:nvSpPr>
        <p:spPr>
          <a:xfrm>
            <a:off x="-609599" y="3369411"/>
            <a:ext cx="8615891" cy="790223"/>
          </a:xfrm>
          <a:prstGeom prst="mathMinus">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grpSp>
        <p:nvGrpSpPr>
          <p:cNvPr id="40" name="组合 23"/>
          <p:cNvGrpSpPr>
            <a:grpSpLocks/>
          </p:cNvGrpSpPr>
          <p:nvPr/>
        </p:nvGrpSpPr>
        <p:grpSpPr bwMode="auto">
          <a:xfrm>
            <a:off x="424947" y="3929872"/>
            <a:ext cx="8054975" cy="2489365"/>
            <a:chOff x="388938" y="1476602"/>
            <a:chExt cx="8054975" cy="1868212"/>
          </a:xfrm>
        </p:grpSpPr>
        <p:pic>
          <p:nvPicPr>
            <p:cNvPr id="4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288" y="1675227"/>
              <a:ext cx="1062037" cy="90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 name="Freeform 121"/>
            <p:cNvSpPr>
              <a:spLocks/>
            </p:cNvSpPr>
            <p:nvPr/>
          </p:nvSpPr>
          <p:spPr bwMode="auto">
            <a:xfrm>
              <a:off x="6742113" y="1643404"/>
              <a:ext cx="500062" cy="1089025"/>
            </a:xfrm>
            <a:custGeom>
              <a:avLst/>
              <a:gdLst>
                <a:gd name="T0" fmla="*/ 2147483647 w 946"/>
                <a:gd name="T1" fmla="*/ 0 h 6087"/>
                <a:gd name="T2" fmla="*/ 2147483647 w 946"/>
                <a:gd name="T3" fmla="*/ 2147483647 h 6087"/>
                <a:gd name="T4" fmla="*/ 2147483647 w 946"/>
                <a:gd name="T5" fmla="*/ 2147483647 h 6087"/>
                <a:gd name="T6" fmla="*/ 2147483647 w 946"/>
                <a:gd name="T7" fmla="*/ 2147483647 h 6087"/>
                <a:gd name="T8" fmla="*/ 2147483647 w 946"/>
                <a:gd name="T9" fmla="*/ 2147483647 h 6087"/>
                <a:gd name="T10" fmla="*/ 2147483647 w 946"/>
                <a:gd name="T11" fmla="*/ 2147483647 h 6087"/>
                <a:gd name="T12" fmla="*/ 2147483647 w 946"/>
                <a:gd name="T13" fmla="*/ 2147483647 h 6087"/>
                <a:gd name="T14" fmla="*/ 2147483647 w 946"/>
                <a:gd name="T15" fmla="*/ 2147483647 h 6087"/>
                <a:gd name="T16" fmla="*/ 2147483647 w 946"/>
                <a:gd name="T17" fmla="*/ 2147483647 h 6087"/>
                <a:gd name="T18" fmla="*/ 2147483647 w 946"/>
                <a:gd name="T19" fmla="*/ 2147483647 h 6087"/>
                <a:gd name="T20" fmla="*/ 2147483647 w 946"/>
                <a:gd name="T21" fmla="*/ 2147483647 h 6087"/>
                <a:gd name="T22" fmla="*/ 2147483647 w 946"/>
                <a:gd name="T23" fmla="*/ 2147483647 h 6087"/>
                <a:gd name="T24" fmla="*/ 2147483647 w 946"/>
                <a:gd name="T25" fmla="*/ 2147483647 h 6087"/>
                <a:gd name="T26" fmla="*/ 2147483647 w 946"/>
                <a:gd name="T27" fmla="*/ 2147483647 h 6087"/>
                <a:gd name="T28" fmla="*/ 2147483647 w 946"/>
                <a:gd name="T29" fmla="*/ 2147483647 h 6087"/>
                <a:gd name="T30" fmla="*/ 2147483647 w 946"/>
                <a:gd name="T31" fmla="*/ 2147483647 h 6087"/>
                <a:gd name="T32" fmla="*/ 2147483647 w 946"/>
                <a:gd name="T33" fmla="*/ 2147483647 h 6087"/>
                <a:gd name="T34" fmla="*/ 2147483647 w 946"/>
                <a:gd name="T35" fmla="*/ 2147483647 h 6087"/>
                <a:gd name="T36" fmla="*/ 2147483647 w 946"/>
                <a:gd name="T37" fmla="*/ 2147483647 h 6087"/>
                <a:gd name="T38" fmla="*/ 2147483647 w 946"/>
                <a:gd name="T39" fmla="*/ 2147483647 h 6087"/>
                <a:gd name="T40" fmla="*/ 2147483647 w 946"/>
                <a:gd name="T41" fmla="*/ 2147483647 h 6087"/>
                <a:gd name="T42" fmla="*/ 2147483647 w 946"/>
                <a:gd name="T43" fmla="*/ 2147483647 h 6087"/>
                <a:gd name="T44" fmla="*/ 2147483647 w 946"/>
                <a:gd name="T45" fmla="*/ 2147483647 h 6087"/>
                <a:gd name="T46" fmla="*/ 2147483647 w 946"/>
                <a:gd name="T47" fmla="*/ 2147483647 h 6087"/>
                <a:gd name="T48" fmla="*/ 2147483647 w 946"/>
                <a:gd name="T49" fmla="*/ 2147483647 h 6087"/>
                <a:gd name="T50" fmla="*/ 0 w 946"/>
                <a:gd name="T51" fmla="*/ 2147483647 h 6087"/>
                <a:gd name="T52" fmla="*/ 0 w 946"/>
                <a:gd name="T53" fmla="*/ 2147483647 h 6087"/>
                <a:gd name="T54" fmla="*/ 2147483647 w 946"/>
                <a:gd name="T55" fmla="*/ 2147483647 h 6087"/>
                <a:gd name="T56" fmla="*/ 2147483647 w 946"/>
                <a:gd name="T57" fmla="*/ 2147483647 h 6087"/>
                <a:gd name="T58" fmla="*/ 2147483647 w 946"/>
                <a:gd name="T59" fmla="*/ 2147483647 h 6087"/>
                <a:gd name="T60" fmla="*/ 2147483647 w 946"/>
                <a:gd name="T61" fmla="*/ 2147483647 h 6087"/>
                <a:gd name="T62" fmla="*/ 2147483647 w 946"/>
                <a:gd name="T63" fmla="*/ 2147483647 h 6087"/>
                <a:gd name="T64" fmla="*/ 2147483647 w 946"/>
                <a:gd name="T65" fmla="*/ 2147483647 h 6087"/>
                <a:gd name="T66" fmla="*/ 2147483647 w 946"/>
                <a:gd name="T67" fmla="*/ 2147483647 h 608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46" h="6087">
                  <a:moveTo>
                    <a:pt x="184" y="0"/>
                  </a:moveTo>
                  <a:lnTo>
                    <a:pt x="762" y="0"/>
                  </a:lnTo>
                  <a:lnTo>
                    <a:pt x="781" y="1"/>
                  </a:lnTo>
                  <a:lnTo>
                    <a:pt x="799" y="4"/>
                  </a:lnTo>
                  <a:lnTo>
                    <a:pt x="817" y="10"/>
                  </a:lnTo>
                  <a:lnTo>
                    <a:pt x="833" y="18"/>
                  </a:lnTo>
                  <a:lnTo>
                    <a:pt x="850" y="27"/>
                  </a:lnTo>
                  <a:lnTo>
                    <a:pt x="865" y="38"/>
                  </a:lnTo>
                  <a:lnTo>
                    <a:pt x="879" y="52"/>
                  </a:lnTo>
                  <a:lnTo>
                    <a:pt x="892" y="67"/>
                  </a:lnTo>
                  <a:lnTo>
                    <a:pt x="904" y="82"/>
                  </a:lnTo>
                  <a:lnTo>
                    <a:pt x="914" y="100"/>
                  </a:lnTo>
                  <a:lnTo>
                    <a:pt x="923" y="119"/>
                  </a:lnTo>
                  <a:lnTo>
                    <a:pt x="931" y="139"/>
                  </a:lnTo>
                  <a:lnTo>
                    <a:pt x="938" y="160"/>
                  </a:lnTo>
                  <a:lnTo>
                    <a:pt x="943" y="181"/>
                  </a:lnTo>
                  <a:lnTo>
                    <a:pt x="945" y="204"/>
                  </a:lnTo>
                  <a:lnTo>
                    <a:pt x="946" y="228"/>
                  </a:lnTo>
                  <a:lnTo>
                    <a:pt x="946" y="5859"/>
                  </a:lnTo>
                  <a:lnTo>
                    <a:pt x="945" y="5882"/>
                  </a:lnTo>
                  <a:lnTo>
                    <a:pt x="943" y="5905"/>
                  </a:lnTo>
                  <a:lnTo>
                    <a:pt x="938" y="5926"/>
                  </a:lnTo>
                  <a:lnTo>
                    <a:pt x="931" y="5946"/>
                  </a:lnTo>
                  <a:lnTo>
                    <a:pt x="923" y="5967"/>
                  </a:lnTo>
                  <a:lnTo>
                    <a:pt x="914" y="5986"/>
                  </a:lnTo>
                  <a:lnTo>
                    <a:pt x="904" y="6003"/>
                  </a:lnTo>
                  <a:lnTo>
                    <a:pt x="892" y="6020"/>
                  </a:lnTo>
                  <a:lnTo>
                    <a:pt x="879" y="6034"/>
                  </a:lnTo>
                  <a:lnTo>
                    <a:pt x="865" y="6048"/>
                  </a:lnTo>
                  <a:lnTo>
                    <a:pt x="850" y="6059"/>
                  </a:lnTo>
                  <a:lnTo>
                    <a:pt x="833" y="6068"/>
                  </a:lnTo>
                  <a:lnTo>
                    <a:pt x="817" y="6075"/>
                  </a:lnTo>
                  <a:lnTo>
                    <a:pt x="799" y="6082"/>
                  </a:lnTo>
                  <a:lnTo>
                    <a:pt x="781" y="6086"/>
                  </a:lnTo>
                  <a:lnTo>
                    <a:pt x="762" y="6087"/>
                  </a:lnTo>
                  <a:lnTo>
                    <a:pt x="184" y="6087"/>
                  </a:lnTo>
                  <a:lnTo>
                    <a:pt x="165" y="6086"/>
                  </a:lnTo>
                  <a:lnTo>
                    <a:pt x="147" y="6082"/>
                  </a:lnTo>
                  <a:lnTo>
                    <a:pt x="129" y="6075"/>
                  </a:lnTo>
                  <a:lnTo>
                    <a:pt x="113" y="6068"/>
                  </a:lnTo>
                  <a:lnTo>
                    <a:pt x="97" y="6059"/>
                  </a:lnTo>
                  <a:lnTo>
                    <a:pt x="81" y="6048"/>
                  </a:lnTo>
                  <a:lnTo>
                    <a:pt x="67" y="6034"/>
                  </a:lnTo>
                  <a:lnTo>
                    <a:pt x="54" y="6020"/>
                  </a:lnTo>
                  <a:lnTo>
                    <a:pt x="42" y="6003"/>
                  </a:lnTo>
                  <a:lnTo>
                    <a:pt x="31" y="5986"/>
                  </a:lnTo>
                  <a:lnTo>
                    <a:pt x="22" y="5967"/>
                  </a:lnTo>
                  <a:lnTo>
                    <a:pt x="15" y="5946"/>
                  </a:lnTo>
                  <a:lnTo>
                    <a:pt x="9" y="5926"/>
                  </a:lnTo>
                  <a:lnTo>
                    <a:pt x="4" y="5905"/>
                  </a:lnTo>
                  <a:lnTo>
                    <a:pt x="0" y="5882"/>
                  </a:lnTo>
                  <a:lnTo>
                    <a:pt x="0" y="5859"/>
                  </a:lnTo>
                  <a:lnTo>
                    <a:pt x="0" y="228"/>
                  </a:lnTo>
                  <a:lnTo>
                    <a:pt x="0" y="204"/>
                  </a:lnTo>
                  <a:lnTo>
                    <a:pt x="4" y="181"/>
                  </a:lnTo>
                  <a:lnTo>
                    <a:pt x="9" y="160"/>
                  </a:lnTo>
                  <a:lnTo>
                    <a:pt x="15" y="139"/>
                  </a:lnTo>
                  <a:lnTo>
                    <a:pt x="22" y="119"/>
                  </a:lnTo>
                  <a:lnTo>
                    <a:pt x="31" y="100"/>
                  </a:lnTo>
                  <a:lnTo>
                    <a:pt x="42" y="82"/>
                  </a:lnTo>
                  <a:lnTo>
                    <a:pt x="54" y="67"/>
                  </a:lnTo>
                  <a:lnTo>
                    <a:pt x="67" y="52"/>
                  </a:lnTo>
                  <a:lnTo>
                    <a:pt x="81" y="38"/>
                  </a:lnTo>
                  <a:lnTo>
                    <a:pt x="97" y="27"/>
                  </a:lnTo>
                  <a:lnTo>
                    <a:pt x="113" y="18"/>
                  </a:lnTo>
                  <a:lnTo>
                    <a:pt x="129" y="10"/>
                  </a:lnTo>
                  <a:lnTo>
                    <a:pt x="147" y="4"/>
                  </a:lnTo>
                  <a:lnTo>
                    <a:pt x="165" y="1"/>
                  </a:lnTo>
                  <a:lnTo>
                    <a:pt x="184" y="0"/>
                  </a:lnTo>
                  <a:close/>
                </a:path>
              </a:pathLst>
            </a:custGeom>
            <a:solidFill>
              <a:srgbClr val="F587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47" name="Freeform 122"/>
            <p:cNvSpPr>
              <a:spLocks noEditPoints="1"/>
            </p:cNvSpPr>
            <p:nvPr/>
          </p:nvSpPr>
          <p:spPr bwMode="auto">
            <a:xfrm>
              <a:off x="6731000" y="1720850"/>
              <a:ext cx="503238" cy="1090613"/>
            </a:xfrm>
            <a:custGeom>
              <a:avLst/>
              <a:gdLst>
                <a:gd name="T0" fmla="*/ 2147483647 w 952"/>
                <a:gd name="T1" fmla="*/ 2147483647 h 6093"/>
                <a:gd name="T2" fmla="*/ 2147483647 w 952"/>
                <a:gd name="T3" fmla="*/ 0 h 6093"/>
                <a:gd name="T4" fmla="*/ 2147483647 w 952"/>
                <a:gd name="T5" fmla="*/ 2147483647 h 6093"/>
                <a:gd name="T6" fmla="*/ 2147483647 w 952"/>
                <a:gd name="T7" fmla="*/ 2147483647 h 6093"/>
                <a:gd name="T8" fmla="*/ 2147483647 w 952"/>
                <a:gd name="T9" fmla="*/ 2147483647 h 6093"/>
                <a:gd name="T10" fmla="*/ 2147483647 w 952"/>
                <a:gd name="T11" fmla="*/ 2147483647 h 6093"/>
                <a:gd name="T12" fmla="*/ 2147483647 w 952"/>
                <a:gd name="T13" fmla="*/ 2147483647 h 6093"/>
                <a:gd name="T14" fmla="*/ 2147483647 w 952"/>
                <a:gd name="T15" fmla="*/ 0 h 6093"/>
                <a:gd name="T16" fmla="*/ 2147483647 w 952"/>
                <a:gd name="T17" fmla="*/ 2147483647 h 6093"/>
                <a:gd name="T18" fmla="*/ 2147483647 w 952"/>
                <a:gd name="T19" fmla="*/ 2147483647 h 6093"/>
                <a:gd name="T20" fmla="*/ 2147483647 w 952"/>
                <a:gd name="T21" fmla="*/ 2147483647 h 6093"/>
                <a:gd name="T22" fmla="*/ 2147483647 w 952"/>
                <a:gd name="T23" fmla="*/ 2147483647 h 6093"/>
                <a:gd name="T24" fmla="*/ 2147483647 w 952"/>
                <a:gd name="T25" fmla="*/ 2147483647 h 6093"/>
                <a:gd name="T26" fmla="*/ 2147483647 w 952"/>
                <a:gd name="T27" fmla="*/ 2147483647 h 6093"/>
                <a:gd name="T28" fmla="*/ 2147483647 w 952"/>
                <a:gd name="T29" fmla="*/ 2147483647 h 6093"/>
                <a:gd name="T30" fmla="*/ 2147483647 w 952"/>
                <a:gd name="T31" fmla="*/ 2147483647 h 6093"/>
                <a:gd name="T32" fmla="*/ 2147483647 w 952"/>
                <a:gd name="T33" fmla="*/ 2147483647 h 6093"/>
                <a:gd name="T34" fmla="*/ 2147483647 w 952"/>
                <a:gd name="T35" fmla="*/ 2147483647 h 6093"/>
                <a:gd name="T36" fmla="*/ 2147483647 w 952"/>
                <a:gd name="T37" fmla="*/ 2147483647 h 6093"/>
                <a:gd name="T38" fmla="*/ 2147483647 w 952"/>
                <a:gd name="T39" fmla="*/ 2147483647 h 6093"/>
                <a:gd name="T40" fmla="*/ 2147483647 w 952"/>
                <a:gd name="T41" fmla="*/ 2147483647 h 6093"/>
                <a:gd name="T42" fmla="*/ 2147483647 w 952"/>
                <a:gd name="T43" fmla="*/ 2147483647 h 6093"/>
                <a:gd name="T44" fmla="*/ 2147483647 w 952"/>
                <a:gd name="T45" fmla="*/ 2147483647 h 6093"/>
                <a:gd name="T46" fmla="*/ 2147483647 w 952"/>
                <a:gd name="T47" fmla="*/ 2147483647 h 6093"/>
                <a:gd name="T48" fmla="*/ 2147483647 w 952"/>
                <a:gd name="T49" fmla="*/ 2147483647 h 6093"/>
                <a:gd name="T50" fmla="*/ 2147483647 w 952"/>
                <a:gd name="T51" fmla="*/ 2147483647 h 6093"/>
                <a:gd name="T52" fmla="*/ 2147483647 w 952"/>
                <a:gd name="T53" fmla="*/ 2147483647 h 6093"/>
                <a:gd name="T54" fmla="*/ 2147483647 w 952"/>
                <a:gd name="T55" fmla="*/ 2147483647 h 6093"/>
                <a:gd name="T56" fmla="*/ 2147483647 w 952"/>
                <a:gd name="T57" fmla="*/ 2147483647 h 6093"/>
                <a:gd name="T58" fmla="*/ 2147483647 w 952"/>
                <a:gd name="T59" fmla="*/ 2147483647 h 6093"/>
                <a:gd name="T60" fmla="*/ 2147483647 w 952"/>
                <a:gd name="T61" fmla="*/ 2147483647 h 6093"/>
                <a:gd name="T62" fmla="*/ 2147483647 w 952"/>
                <a:gd name="T63" fmla="*/ 2147483647 h 6093"/>
                <a:gd name="T64" fmla="*/ 2147483647 w 952"/>
                <a:gd name="T65" fmla="*/ 2147483647 h 6093"/>
                <a:gd name="T66" fmla="*/ 2147483647 w 952"/>
                <a:gd name="T67" fmla="*/ 2147483647 h 6093"/>
                <a:gd name="T68" fmla="*/ 2147483647 w 952"/>
                <a:gd name="T69" fmla="*/ 2147483647 h 6093"/>
                <a:gd name="T70" fmla="*/ 2147483647 w 952"/>
                <a:gd name="T71" fmla="*/ 2147483647 h 6093"/>
                <a:gd name="T72" fmla="*/ 2147483647 w 952"/>
                <a:gd name="T73" fmla="*/ 2147483647 h 6093"/>
                <a:gd name="T74" fmla="*/ 2147483647 w 952"/>
                <a:gd name="T75" fmla="*/ 2147483647 h 6093"/>
                <a:gd name="T76" fmla="*/ 2147483647 w 952"/>
                <a:gd name="T77" fmla="*/ 2147483647 h 6093"/>
                <a:gd name="T78" fmla="*/ 2147483647 w 952"/>
                <a:gd name="T79" fmla="*/ 2147483647 h 6093"/>
                <a:gd name="T80" fmla="*/ 2147483647 w 952"/>
                <a:gd name="T81" fmla="*/ 2147483647 h 6093"/>
                <a:gd name="T82" fmla="*/ 2147483647 w 952"/>
                <a:gd name="T83" fmla="*/ 2147483647 h 6093"/>
                <a:gd name="T84" fmla="*/ 2147483647 w 952"/>
                <a:gd name="T85" fmla="*/ 2147483647 h 6093"/>
                <a:gd name="T86" fmla="*/ 2147483647 w 952"/>
                <a:gd name="T87" fmla="*/ 2147483647 h 6093"/>
                <a:gd name="T88" fmla="*/ 0 w 952"/>
                <a:gd name="T89" fmla="*/ 2147483647 h 6093"/>
                <a:gd name="T90" fmla="*/ 2147483647 w 952"/>
                <a:gd name="T91" fmla="*/ 2147483647 h 6093"/>
                <a:gd name="T92" fmla="*/ 2147483647 w 952"/>
                <a:gd name="T93" fmla="*/ 2147483647 h 6093"/>
                <a:gd name="T94" fmla="*/ 2147483647 w 952"/>
                <a:gd name="T95" fmla="*/ 2147483647 h 6093"/>
                <a:gd name="T96" fmla="*/ 2147483647 w 952"/>
                <a:gd name="T97" fmla="*/ 2147483647 h 6093"/>
                <a:gd name="T98" fmla="*/ 2147483647 w 952"/>
                <a:gd name="T99" fmla="*/ 2147483647 h 6093"/>
                <a:gd name="T100" fmla="*/ 0 w 952"/>
                <a:gd name="T101" fmla="*/ 2147483647 h 6093"/>
                <a:gd name="T102" fmla="*/ 2147483647 w 952"/>
                <a:gd name="T103" fmla="*/ 2147483647 h 6093"/>
                <a:gd name="T104" fmla="*/ 2147483647 w 952"/>
                <a:gd name="T105" fmla="*/ 2147483647 h 6093"/>
                <a:gd name="T106" fmla="*/ 2147483647 w 952"/>
                <a:gd name="T107" fmla="*/ 0 h 6093"/>
                <a:gd name="T108" fmla="*/ 2147483647 w 952"/>
                <a:gd name="T109" fmla="*/ 2147483647 h 6093"/>
                <a:gd name="T110" fmla="*/ 2147483647 w 952"/>
                <a:gd name="T111" fmla="*/ 2147483647 h 6093"/>
                <a:gd name="T112" fmla="*/ 2147483647 w 952"/>
                <a:gd name="T113" fmla="*/ 2147483647 h 60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2" h="6093">
                  <a:moveTo>
                    <a:pt x="187" y="0"/>
                  </a:moveTo>
                  <a:lnTo>
                    <a:pt x="765" y="0"/>
                  </a:lnTo>
                  <a:lnTo>
                    <a:pt x="765" y="7"/>
                  </a:lnTo>
                  <a:lnTo>
                    <a:pt x="187" y="7"/>
                  </a:lnTo>
                  <a:lnTo>
                    <a:pt x="187" y="0"/>
                  </a:lnTo>
                  <a:close/>
                  <a:moveTo>
                    <a:pt x="765" y="0"/>
                  </a:moveTo>
                  <a:lnTo>
                    <a:pt x="784" y="2"/>
                  </a:lnTo>
                  <a:lnTo>
                    <a:pt x="803" y="5"/>
                  </a:lnTo>
                  <a:lnTo>
                    <a:pt x="820" y="10"/>
                  </a:lnTo>
                  <a:lnTo>
                    <a:pt x="837" y="18"/>
                  </a:lnTo>
                  <a:lnTo>
                    <a:pt x="854" y="28"/>
                  </a:lnTo>
                  <a:lnTo>
                    <a:pt x="869" y="40"/>
                  </a:lnTo>
                  <a:lnTo>
                    <a:pt x="883" y="53"/>
                  </a:lnTo>
                  <a:lnTo>
                    <a:pt x="897" y="69"/>
                  </a:lnTo>
                  <a:lnTo>
                    <a:pt x="894" y="72"/>
                  </a:lnTo>
                  <a:lnTo>
                    <a:pt x="880" y="59"/>
                  </a:lnTo>
                  <a:lnTo>
                    <a:pt x="866" y="46"/>
                  </a:lnTo>
                  <a:lnTo>
                    <a:pt x="852" y="34"/>
                  </a:lnTo>
                  <a:lnTo>
                    <a:pt x="835" y="24"/>
                  </a:lnTo>
                  <a:lnTo>
                    <a:pt x="819" y="17"/>
                  </a:lnTo>
                  <a:lnTo>
                    <a:pt x="802" y="12"/>
                  </a:lnTo>
                  <a:lnTo>
                    <a:pt x="783" y="8"/>
                  </a:lnTo>
                  <a:lnTo>
                    <a:pt x="765" y="7"/>
                  </a:lnTo>
                  <a:lnTo>
                    <a:pt x="765" y="0"/>
                  </a:lnTo>
                  <a:close/>
                  <a:moveTo>
                    <a:pt x="897" y="69"/>
                  </a:moveTo>
                  <a:lnTo>
                    <a:pt x="909" y="85"/>
                  </a:lnTo>
                  <a:lnTo>
                    <a:pt x="920" y="103"/>
                  </a:lnTo>
                  <a:lnTo>
                    <a:pt x="929" y="122"/>
                  </a:lnTo>
                  <a:lnTo>
                    <a:pt x="936" y="142"/>
                  </a:lnTo>
                  <a:lnTo>
                    <a:pt x="944" y="162"/>
                  </a:lnTo>
                  <a:lnTo>
                    <a:pt x="948" y="185"/>
                  </a:lnTo>
                  <a:lnTo>
                    <a:pt x="951" y="208"/>
                  </a:lnTo>
                  <a:lnTo>
                    <a:pt x="952" y="232"/>
                  </a:lnTo>
                  <a:lnTo>
                    <a:pt x="947" y="232"/>
                  </a:lnTo>
                  <a:lnTo>
                    <a:pt x="946" y="209"/>
                  </a:lnTo>
                  <a:lnTo>
                    <a:pt x="943" y="186"/>
                  </a:lnTo>
                  <a:lnTo>
                    <a:pt x="938" y="165"/>
                  </a:lnTo>
                  <a:lnTo>
                    <a:pt x="932" y="145"/>
                  </a:lnTo>
                  <a:lnTo>
                    <a:pt x="924" y="124"/>
                  </a:lnTo>
                  <a:lnTo>
                    <a:pt x="915" y="107"/>
                  </a:lnTo>
                  <a:lnTo>
                    <a:pt x="905" y="89"/>
                  </a:lnTo>
                  <a:lnTo>
                    <a:pt x="894" y="72"/>
                  </a:lnTo>
                  <a:lnTo>
                    <a:pt x="897" y="69"/>
                  </a:lnTo>
                  <a:close/>
                  <a:moveTo>
                    <a:pt x="952" y="232"/>
                  </a:moveTo>
                  <a:lnTo>
                    <a:pt x="952" y="5863"/>
                  </a:lnTo>
                  <a:lnTo>
                    <a:pt x="947" y="5863"/>
                  </a:lnTo>
                  <a:lnTo>
                    <a:pt x="947" y="232"/>
                  </a:lnTo>
                  <a:lnTo>
                    <a:pt x="952" y="232"/>
                  </a:lnTo>
                  <a:close/>
                  <a:moveTo>
                    <a:pt x="952" y="5863"/>
                  </a:moveTo>
                  <a:lnTo>
                    <a:pt x="951" y="5886"/>
                  </a:lnTo>
                  <a:lnTo>
                    <a:pt x="948" y="5909"/>
                  </a:lnTo>
                  <a:lnTo>
                    <a:pt x="944" y="5931"/>
                  </a:lnTo>
                  <a:lnTo>
                    <a:pt x="936" y="5952"/>
                  </a:lnTo>
                  <a:lnTo>
                    <a:pt x="929" y="5972"/>
                  </a:lnTo>
                  <a:lnTo>
                    <a:pt x="920" y="5991"/>
                  </a:lnTo>
                  <a:lnTo>
                    <a:pt x="909" y="6010"/>
                  </a:lnTo>
                  <a:lnTo>
                    <a:pt x="897" y="6026"/>
                  </a:lnTo>
                  <a:lnTo>
                    <a:pt x="894" y="6021"/>
                  </a:lnTo>
                  <a:lnTo>
                    <a:pt x="905" y="6005"/>
                  </a:lnTo>
                  <a:lnTo>
                    <a:pt x="915" y="5988"/>
                  </a:lnTo>
                  <a:lnTo>
                    <a:pt x="924" y="5969"/>
                  </a:lnTo>
                  <a:lnTo>
                    <a:pt x="932" y="5949"/>
                  </a:lnTo>
                  <a:lnTo>
                    <a:pt x="938" y="5929"/>
                  </a:lnTo>
                  <a:lnTo>
                    <a:pt x="943" y="5907"/>
                  </a:lnTo>
                  <a:lnTo>
                    <a:pt x="946" y="5886"/>
                  </a:lnTo>
                  <a:lnTo>
                    <a:pt x="947" y="5863"/>
                  </a:lnTo>
                  <a:lnTo>
                    <a:pt x="952" y="5863"/>
                  </a:lnTo>
                  <a:close/>
                  <a:moveTo>
                    <a:pt x="897" y="6026"/>
                  </a:moveTo>
                  <a:lnTo>
                    <a:pt x="883" y="6040"/>
                  </a:lnTo>
                  <a:lnTo>
                    <a:pt x="869" y="6054"/>
                  </a:lnTo>
                  <a:lnTo>
                    <a:pt x="854" y="6066"/>
                  </a:lnTo>
                  <a:lnTo>
                    <a:pt x="837" y="6076"/>
                  </a:lnTo>
                  <a:lnTo>
                    <a:pt x="820" y="6083"/>
                  </a:lnTo>
                  <a:lnTo>
                    <a:pt x="803" y="6088"/>
                  </a:lnTo>
                  <a:lnTo>
                    <a:pt x="784" y="6092"/>
                  </a:lnTo>
                  <a:lnTo>
                    <a:pt x="765" y="6093"/>
                  </a:lnTo>
                  <a:lnTo>
                    <a:pt x="765" y="6087"/>
                  </a:lnTo>
                  <a:lnTo>
                    <a:pt x="783" y="6086"/>
                  </a:lnTo>
                  <a:lnTo>
                    <a:pt x="802" y="6082"/>
                  </a:lnTo>
                  <a:lnTo>
                    <a:pt x="819" y="6077"/>
                  </a:lnTo>
                  <a:lnTo>
                    <a:pt x="835" y="6069"/>
                  </a:lnTo>
                  <a:lnTo>
                    <a:pt x="852" y="6059"/>
                  </a:lnTo>
                  <a:lnTo>
                    <a:pt x="866" y="6049"/>
                  </a:lnTo>
                  <a:lnTo>
                    <a:pt x="880" y="6035"/>
                  </a:lnTo>
                  <a:lnTo>
                    <a:pt x="894" y="6021"/>
                  </a:lnTo>
                  <a:lnTo>
                    <a:pt x="897" y="6026"/>
                  </a:lnTo>
                  <a:close/>
                  <a:moveTo>
                    <a:pt x="765" y="6093"/>
                  </a:moveTo>
                  <a:lnTo>
                    <a:pt x="187" y="6093"/>
                  </a:lnTo>
                  <a:lnTo>
                    <a:pt x="187" y="6087"/>
                  </a:lnTo>
                  <a:lnTo>
                    <a:pt x="765" y="6087"/>
                  </a:lnTo>
                  <a:lnTo>
                    <a:pt x="765" y="6093"/>
                  </a:lnTo>
                  <a:close/>
                  <a:moveTo>
                    <a:pt x="187" y="6093"/>
                  </a:moveTo>
                  <a:lnTo>
                    <a:pt x="168" y="6092"/>
                  </a:lnTo>
                  <a:lnTo>
                    <a:pt x="150" y="6088"/>
                  </a:lnTo>
                  <a:lnTo>
                    <a:pt x="131" y="6083"/>
                  </a:lnTo>
                  <a:lnTo>
                    <a:pt x="115" y="6076"/>
                  </a:lnTo>
                  <a:lnTo>
                    <a:pt x="99" y="6066"/>
                  </a:lnTo>
                  <a:lnTo>
                    <a:pt x="83" y="6054"/>
                  </a:lnTo>
                  <a:lnTo>
                    <a:pt x="69" y="6040"/>
                  </a:lnTo>
                  <a:lnTo>
                    <a:pt x="56" y="6026"/>
                  </a:lnTo>
                  <a:lnTo>
                    <a:pt x="59" y="6021"/>
                  </a:lnTo>
                  <a:lnTo>
                    <a:pt x="72" y="6035"/>
                  </a:lnTo>
                  <a:lnTo>
                    <a:pt x="86" y="6049"/>
                  </a:lnTo>
                  <a:lnTo>
                    <a:pt x="101" y="6059"/>
                  </a:lnTo>
                  <a:lnTo>
                    <a:pt x="117" y="6069"/>
                  </a:lnTo>
                  <a:lnTo>
                    <a:pt x="133" y="6077"/>
                  </a:lnTo>
                  <a:lnTo>
                    <a:pt x="151" y="6082"/>
                  </a:lnTo>
                  <a:lnTo>
                    <a:pt x="168" y="6086"/>
                  </a:lnTo>
                  <a:lnTo>
                    <a:pt x="187" y="6087"/>
                  </a:lnTo>
                  <a:lnTo>
                    <a:pt x="187" y="6093"/>
                  </a:lnTo>
                  <a:close/>
                  <a:moveTo>
                    <a:pt x="56" y="6026"/>
                  </a:moveTo>
                  <a:lnTo>
                    <a:pt x="43" y="6010"/>
                  </a:lnTo>
                  <a:lnTo>
                    <a:pt x="32" y="5991"/>
                  </a:lnTo>
                  <a:lnTo>
                    <a:pt x="23" y="5972"/>
                  </a:lnTo>
                  <a:lnTo>
                    <a:pt x="15" y="5952"/>
                  </a:lnTo>
                  <a:lnTo>
                    <a:pt x="9" y="5931"/>
                  </a:lnTo>
                  <a:lnTo>
                    <a:pt x="4" y="5909"/>
                  </a:lnTo>
                  <a:lnTo>
                    <a:pt x="1" y="5886"/>
                  </a:lnTo>
                  <a:lnTo>
                    <a:pt x="0" y="5863"/>
                  </a:lnTo>
                  <a:lnTo>
                    <a:pt x="6" y="5863"/>
                  </a:lnTo>
                  <a:lnTo>
                    <a:pt x="7" y="5886"/>
                  </a:lnTo>
                  <a:lnTo>
                    <a:pt x="10" y="5907"/>
                  </a:lnTo>
                  <a:lnTo>
                    <a:pt x="14" y="5929"/>
                  </a:lnTo>
                  <a:lnTo>
                    <a:pt x="20" y="5949"/>
                  </a:lnTo>
                  <a:lnTo>
                    <a:pt x="28" y="5969"/>
                  </a:lnTo>
                  <a:lnTo>
                    <a:pt x="37" y="5988"/>
                  </a:lnTo>
                  <a:lnTo>
                    <a:pt x="47" y="6005"/>
                  </a:lnTo>
                  <a:lnTo>
                    <a:pt x="59" y="6021"/>
                  </a:lnTo>
                  <a:lnTo>
                    <a:pt x="56" y="6026"/>
                  </a:lnTo>
                  <a:close/>
                  <a:moveTo>
                    <a:pt x="0" y="5863"/>
                  </a:moveTo>
                  <a:lnTo>
                    <a:pt x="0" y="232"/>
                  </a:lnTo>
                  <a:lnTo>
                    <a:pt x="6" y="232"/>
                  </a:lnTo>
                  <a:lnTo>
                    <a:pt x="6" y="5863"/>
                  </a:lnTo>
                  <a:lnTo>
                    <a:pt x="0" y="5863"/>
                  </a:lnTo>
                  <a:close/>
                  <a:moveTo>
                    <a:pt x="0" y="232"/>
                  </a:moveTo>
                  <a:lnTo>
                    <a:pt x="1" y="208"/>
                  </a:lnTo>
                  <a:lnTo>
                    <a:pt x="4" y="185"/>
                  </a:lnTo>
                  <a:lnTo>
                    <a:pt x="9" y="162"/>
                  </a:lnTo>
                  <a:lnTo>
                    <a:pt x="15" y="142"/>
                  </a:lnTo>
                  <a:lnTo>
                    <a:pt x="23" y="122"/>
                  </a:lnTo>
                  <a:lnTo>
                    <a:pt x="32" y="103"/>
                  </a:lnTo>
                  <a:lnTo>
                    <a:pt x="43" y="85"/>
                  </a:lnTo>
                  <a:lnTo>
                    <a:pt x="56" y="69"/>
                  </a:lnTo>
                  <a:lnTo>
                    <a:pt x="59" y="72"/>
                  </a:lnTo>
                  <a:lnTo>
                    <a:pt x="47" y="89"/>
                  </a:lnTo>
                  <a:lnTo>
                    <a:pt x="37" y="107"/>
                  </a:lnTo>
                  <a:lnTo>
                    <a:pt x="28" y="124"/>
                  </a:lnTo>
                  <a:lnTo>
                    <a:pt x="20" y="145"/>
                  </a:lnTo>
                  <a:lnTo>
                    <a:pt x="14" y="165"/>
                  </a:lnTo>
                  <a:lnTo>
                    <a:pt x="10" y="186"/>
                  </a:lnTo>
                  <a:lnTo>
                    <a:pt x="7" y="209"/>
                  </a:lnTo>
                  <a:lnTo>
                    <a:pt x="6" y="232"/>
                  </a:lnTo>
                  <a:lnTo>
                    <a:pt x="0" y="232"/>
                  </a:lnTo>
                  <a:close/>
                  <a:moveTo>
                    <a:pt x="56" y="69"/>
                  </a:moveTo>
                  <a:lnTo>
                    <a:pt x="69" y="53"/>
                  </a:lnTo>
                  <a:lnTo>
                    <a:pt x="83" y="40"/>
                  </a:lnTo>
                  <a:lnTo>
                    <a:pt x="99" y="28"/>
                  </a:lnTo>
                  <a:lnTo>
                    <a:pt x="115" y="18"/>
                  </a:lnTo>
                  <a:lnTo>
                    <a:pt x="131" y="10"/>
                  </a:lnTo>
                  <a:lnTo>
                    <a:pt x="150" y="5"/>
                  </a:lnTo>
                  <a:lnTo>
                    <a:pt x="168" y="2"/>
                  </a:lnTo>
                  <a:lnTo>
                    <a:pt x="187" y="0"/>
                  </a:lnTo>
                  <a:lnTo>
                    <a:pt x="187" y="7"/>
                  </a:lnTo>
                  <a:lnTo>
                    <a:pt x="168" y="8"/>
                  </a:lnTo>
                  <a:lnTo>
                    <a:pt x="151" y="12"/>
                  </a:lnTo>
                  <a:lnTo>
                    <a:pt x="133" y="17"/>
                  </a:lnTo>
                  <a:lnTo>
                    <a:pt x="117" y="24"/>
                  </a:lnTo>
                  <a:lnTo>
                    <a:pt x="101" y="34"/>
                  </a:lnTo>
                  <a:lnTo>
                    <a:pt x="86" y="46"/>
                  </a:lnTo>
                  <a:lnTo>
                    <a:pt x="72" y="59"/>
                  </a:lnTo>
                  <a:lnTo>
                    <a:pt x="59" y="72"/>
                  </a:lnTo>
                  <a:lnTo>
                    <a:pt x="56" y="69"/>
                  </a:lnTo>
                  <a:close/>
                </a:path>
              </a:pathLst>
            </a:custGeom>
            <a:solidFill>
              <a:srgbClr val="3734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48" name="Freeform 127"/>
            <p:cNvSpPr>
              <a:spLocks/>
            </p:cNvSpPr>
            <p:nvPr/>
          </p:nvSpPr>
          <p:spPr bwMode="auto">
            <a:xfrm>
              <a:off x="6858000" y="2490788"/>
              <a:ext cx="249238" cy="193675"/>
            </a:xfrm>
            <a:custGeom>
              <a:avLst/>
              <a:gdLst>
                <a:gd name="T0" fmla="*/ 2147483647 w 473"/>
                <a:gd name="T1" fmla="*/ 2147483647 h 586"/>
                <a:gd name="T2" fmla="*/ 2147483647 w 473"/>
                <a:gd name="T3" fmla="*/ 2147483647 h 586"/>
                <a:gd name="T4" fmla="*/ 2147483647 w 473"/>
                <a:gd name="T5" fmla="*/ 2147483647 h 586"/>
                <a:gd name="T6" fmla="*/ 2147483647 w 473"/>
                <a:gd name="T7" fmla="*/ 2147483647 h 586"/>
                <a:gd name="T8" fmla="*/ 2147483647 w 473"/>
                <a:gd name="T9" fmla="*/ 2147483647 h 586"/>
                <a:gd name="T10" fmla="*/ 2147483647 w 473"/>
                <a:gd name="T11" fmla="*/ 2147483647 h 586"/>
                <a:gd name="T12" fmla="*/ 2147483647 w 473"/>
                <a:gd name="T13" fmla="*/ 2147483647 h 586"/>
                <a:gd name="T14" fmla="*/ 2147483647 w 473"/>
                <a:gd name="T15" fmla="*/ 2147483647 h 586"/>
                <a:gd name="T16" fmla="*/ 2147483647 w 473"/>
                <a:gd name="T17" fmla="*/ 2147483647 h 586"/>
                <a:gd name="T18" fmla="*/ 2147483647 w 473"/>
                <a:gd name="T19" fmla="*/ 2147483647 h 586"/>
                <a:gd name="T20" fmla="*/ 2147483647 w 473"/>
                <a:gd name="T21" fmla="*/ 2147483647 h 586"/>
                <a:gd name="T22" fmla="*/ 2147483647 w 473"/>
                <a:gd name="T23" fmla="*/ 2147483647 h 586"/>
                <a:gd name="T24" fmla="*/ 2147483647 w 473"/>
                <a:gd name="T25" fmla="*/ 2147483647 h 586"/>
                <a:gd name="T26" fmla="*/ 2147483647 w 473"/>
                <a:gd name="T27" fmla="*/ 2147483647 h 586"/>
                <a:gd name="T28" fmla="*/ 2147483647 w 473"/>
                <a:gd name="T29" fmla="*/ 2147483647 h 586"/>
                <a:gd name="T30" fmla="*/ 2147483647 w 473"/>
                <a:gd name="T31" fmla="*/ 2147483647 h 586"/>
                <a:gd name="T32" fmla="*/ 2147483647 w 473"/>
                <a:gd name="T33" fmla="*/ 2147483647 h 586"/>
                <a:gd name="T34" fmla="*/ 2147483647 w 473"/>
                <a:gd name="T35" fmla="*/ 2147483647 h 586"/>
                <a:gd name="T36" fmla="*/ 2147483647 w 473"/>
                <a:gd name="T37" fmla="*/ 2147483647 h 586"/>
                <a:gd name="T38" fmla="*/ 2147483647 w 473"/>
                <a:gd name="T39" fmla="*/ 2147483647 h 586"/>
                <a:gd name="T40" fmla="*/ 2147483647 w 473"/>
                <a:gd name="T41" fmla="*/ 2147483647 h 586"/>
                <a:gd name="T42" fmla="*/ 2147483647 w 473"/>
                <a:gd name="T43" fmla="*/ 2147483647 h 586"/>
                <a:gd name="T44" fmla="*/ 2147483647 w 473"/>
                <a:gd name="T45" fmla="*/ 2147483647 h 586"/>
                <a:gd name="T46" fmla="*/ 2147483647 w 473"/>
                <a:gd name="T47" fmla="*/ 2147483647 h 586"/>
                <a:gd name="T48" fmla="*/ 2147483647 w 473"/>
                <a:gd name="T49" fmla="*/ 2147483647 h 586"/>
                <a:gd name="T50" fmla="*/ 2147483647 w 473"/>
                <a:gd name="T51" fmla="*/ 2147483647 h 586"/>
                <a:gd name="T52" fmla="*/ 2147483647 w 473"/>
                <a:gd name="T53" fmla="*/ 2147483647 h 586"/>
                <a:gd name="T54" fmla="*/ 2147483647 w 473"/>
                <a:gd name="T55" fmla="*/ 2147483647 h 586"/>
                <a:gd name="T56" fmla="*/ 2147483647 w 473"/>
                <a:gd name="T57" fmla="*/ 2147483647 h 586"/>
                <a:gd name="T58" fmla="*/ 2147483647 w 473"/>
                <a:gd name="T59" fmla="*/ 2147483647 h 586"/>
                <a:gd name="T60" fmla="*/ 2147483647 w 473"/>
                <a:gd name="T61" fmla="*/ 2147483647 h 586"/>
                <a:gd name="T62" fmla="*/ 0 w 473"/>
                <a:gd name="T63" fmla="*/ 2147483647 h 586"/>
                <a:gd name="T64" fmla="*/ 2147483647 w 473"/>
                <a:gd name="T65" fmla="*/ 2147483647 h 586"/>
                <a:gd name="T66" fmla="*/ 2147483647 w 473"/>
                <a:gd name="T67" fmla="*/ 2147483647 h 586"/>
                <a:gd name="T68" fmla="*/ 2147483647 w 473"/>
                <a:gd name="T69" fmla="*/ 2147483647 h 586"/>
                <a:gd name="T70" fmla="*/ 2147483647 w 473"/>
                <a:gd name="T71" fmla="*/ 2147483647 h 586"/>
                <a:gd name="T72" fmla="*/ 2147483647 w 473"/>
                <a:gd name="T73" fmla="*/ 2147483647 h 586"/>
                <a:gd name="T74" fmla="*/ 2147483647 w 473"/>
                <a:gd name="T75" fmla="*/ 2147483647 h 586"/>
                <a:gd name="T76" fmla="*/ 2147483647 w 473"/>
                <a:gd name="T77" fmla="*/ 2147483647 h 586"/>
                <a:gd name="T78" fmla="*/ 2147483647 w 473"/>
                <a:gd name="T79" fmla="*/ 2147483647 h 586"/>
                <a:gd name="T80" fmla="*/ 2147483647 w 473"/>
                <a:gd name="T81" fmla="*/ 2147483647 h 586"/>
                <a:gd name="T82" fmla="*/ 2147483647 w 473"/>
                <a:gd name="T83" fmla="*/ 2147483647 h 586"/>
                <a:gd name="T84" fmla="*/ 2147483647 w 473"/>
                <a:gd name="T85" fmla="*/ 0 h 58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73" h="586">
                  <a:moveTo>
                    <a:pt x="236" y="0"/>
                  </a:moveTo>
                  <a:lnTo>
                    <a:pt x="248" y="2"/>
                  </a:lnTo>
                  <a:lnTo>
                    <a:pt x="260" y="3"/>
                  </a:lnTo>
                  <a:lnTo>
                    <a:pt x="272" y="4"/>
                  </a:lnTo>
                  <a:lnTo>
                    <a:pt x="284" y="7"/>
                  </a:lnTo>
                  <a:lnTo>
                    <a:pt x="295" y="10"/>
                  </a:lnTo>
                  <a:lnTo>
                    <a:pt x="306" y="14"/>
                  </a:lnTo>
                  <a:lnTo>
                    <a:pt x="317" y="18"/>
                  </a:lnTo>
                  <a:lnTo>
                    <a:pt x="328" y="24"/>
                  </a:lnTo>
                  <a:lnTo>
                    <a:pt x="339" y="29"/>
                  </a:lnTo>
                  <a:lnTo>
                    <a:pt x="349" y="36"/>
                  </a:lnTo>
                  <a:lnTo>
                    <a:pt x="358" y="43"/>
                  </a:lnTo>
                  <a:lnTo>
                    <a:pt x="368" y="51"/>
                  </a:lnTo>
                  <a:lnTo>
                    <a:pt x="378" y="59"/>
                  </a:lnTo>
                  <a:lnTo>
                    <a:pt x="387" y="67"/>
                  </a:lnTo>
                  <a:lnTo>
                    <a:pt x="395" y="76"/>
                  </a:lnTo>
                  <a:lnTo>
                    <a:pt x="403" y="86"/>
                  </a:lnTo>
                  <a:lnTo>
                    <a:pt x="411" y="97"/>
                  </a:lnTo>
                  <a:lnTo>
                    <a:pt x="418" y="108"/>
                  </a:lnTo>
                  <a:lnTo>
                    <a:pt x="426" y="118"/>
                  </a:lnTo>
                  <a:lnTo>
                    <a:pt x="432" y="129"/>
                  </a:lnTo>
                  <a:lnTo>
                    <a:pt x="438" y="142"/>
                  </a:lnTo>
                  <a:lnTo>
                    <a:pt x="444" y="154"/>
                  </a:lnTo>
                  <a:lnTo>
                    <a:pt x="449" y="166"/>
                  </a:lnTo>
                  <a:lnTo>
                    <a:pt x="454" y="180"/>
                  </a:lnTo>
                  <a:lnTo>
                    <a:pt x="458" y="193"/>
                  </a:lnTo>
                  <a:lnTo>
                    <a:pt x="461" y="207"/>
                  </a:lnTo>
                  <a:lnTo>
                    <a:pt x="466" y="221"/>
                  </a:lnTo>
                  <a:lnTo>
                    <a:pt x="468" y="235"/>
                  </a:lnTo>
                  <a:lnTo>
                    <a:pt x="470" y="250"/>
                  </a:lnTo>
                  <a:lnTo>
                    <a:pt x="472" y="264"/>
                  </a:lnTo>
                  <a:lnTo>
                    <a:pt x="472" y="279"/>
                  </a:lnTo>
                  <a:lnTo>
                    <a:pt x="473" y="294"/>
                  </a:lnTo>
                  <a:lnTo>
                    <a:pt x="472" y="309"/>
                  </a:lnTo>
                  <a:lnTo>
                    <a:pt x="472" y="323"/>
                  </a:lnTo>
                  <a:lnTo>
                    <a:pt x="470" y="338"/>
                  </a:lnTo>
                  <a:lnTo>
                    <a:pt x="468" y="352"/>
                  </a:lnTo>
                  <a:lnTo>
                    <a:pt x="466" y="367"/>
                  </a:lnTo>
                  <a:lnTo>
                    <a:pt x="461" y="381"/>
                  </a:lnTo>
                  <a:lnTo>
                    <a:pt x="458" y="394"/>
                  </a:lnTo>
                  <a:lnTo>
                    <a:pt x="454" y="408"/>
                  </a:lnTo>
                  <a:lnTo>
                    <a:pt x="449" y="421"/>
                  </a:lnTo>
                  <a:lnTo>
                    <a:pt x="444" y="433"/>
                  </a:lnTo>
                  <a:lnTo>
                    <a:pt x="438" y="446"/>
                  </a:lnTo>
                  <a:lnTo>
                    <a:pt x="432" y="457"/>
                  </a:lnTo>
                  <a:lnTo>
                    <a:pt x="426" y="469"/>
                  </a:lnTo>
                  <a:lnTo>
                    <a:pt x="418" y="480"/>
                  </a:lnTo>
                  <a:lnTo>
                    <a:pt x="411" y="490"/>
                  </a:lnTo>
                  <a:lnTo>
                    <a:pt x="403" y="500"/>
                  </a:lnTo>
                  <a:lnTo>
                    <a:pt x="395" y="511"/>
                  </a:lnTo>
                  <a:lnTo>
                    <a:pt x="387" y="519"/>
                  </a:lnTo>
                  <a:lnTo>
                    <a:pt x="378" y="528"/>
                  </a:lnTo>
                  <a:lnTo>
                    <a:pt x="368" y="537"/>
                  </a:lnTo>
                  <a:lnTo>
                    <a:pt x="358" y="545"/>
                  </a:lnTo>
                  <a:lnTo>
                    <a:pt x="349" y="551"/>
                  </a:lnTo>
                  <a:lnTo>
                    <a:pt x="339" y="557"/>
                  </a:lnTo>
                  <a:lnTo>
                    <a:pt x="328" y="564"/>
                  </a:lnTo>
                  <a:lnTo>
                    <a:pt x="317" y="569"/>
                  </a:lnTo>
                  <a:lnTo>
                    <a:pt x="306" y="574"/>
                  </a:lnTo>
                  <a:lnTo>
                    <a:pt x="295" y="578"/>
                  </a:lnTo>
                  <a:lnTo>
                    <a:pt x="284" y="580"/>
                  </a:lnTo>
                  <a:lnTo>
                    <a:pt x="272" y="584"/>
                  </a:lnTo>
                  <a:lnTo>
                    <a:pt x="260" y="585"/>
                  </a:lnTo>
                  <a:lnTo>
                    <a:pt x="248" y="586"/>
                  </a:lnTo>
                  <a:lnTo>
                    <a:pt x="236" y="586"/>
                  </a:lnTo>
                  <a:lnTo>
                    <a:pt x="223" y="586"/>
                  </a:lnTo>
                  <a:lnTo>
                    <a:pt x="212" y="585"/>
                  </a:lnTo>
                  <a:lnTo>
                    <a:pt x="200" y="584"/>
                  </a:lnTo>
                  <a:lnTo>
                    <a:pt x="189" y="580"/>
                  </a:lnTo>
                  <a:lnTo>
                    <a:pt x="177" y="578"/>
                  </a:lnTo>
                  <a:lnTo>
                    <a:pt x="166" y="574"/>
                  </a:lnTo>
                  <a:lnTo>
                    <a:pt x="155" y="569"/>
                  </a:lnTo>
                  <a:lnTo>
                    <a:pt x="144" y="564"/>
                  </a:lnTo>
                  <a:lnTo>
                    <a:pt x="133" y="557"/>
                  </a:lnTo>
                  <a:lnTo>
                    <a:pt x="123" y="551"/>
                  </a:lnTo>
                  <a:lnTo>
                    <a:pt x="113" y="545"/>
                  </a:lnTo>
                  <a:lnTo>
                    <a:pt x="104" y="537"/>
                  </a:lnTo>
                  <a:lnTo>
                    <a:pt x="95" y="528"/>
                  </a:lnTo>
                  <a:lnTo>
                    <a:pt x="85" y="519"/>
                  </a:lnTo>
                  <a:lnTo>
                    <a:pt x="77" y="511"/>
                  </a:lnTo>
                  <a:lnTo>
                    <a:pt x="69" y="500"/>
                  </a:lnTo>
                  <a:lnTo>
                    <a:pt x="61" y="490"/>
                  </a:lnTo>
                  <a:lnTo>
                    <a:pt x="54" y="480"/>
                  </a:lnTo>
                  <a:lnTo>
                    <a:pt x="47" y="469"/>
                  </a:lnTo>
                  <a:lnTo>
                    <a:pt x="39" y="457"/>
                  </a:lnTo>
                  <a:lnTo>
                    <a:pt x="33" y="446"/>
                  </a:lnTo>
                  <a:lnTo>
                    <a:pt x="28" y="433"/>
                  </a:lnTo>
                  <a:lnTo>
                    <a:pt x="23" y="421"/>
                  </a:lnTo>
                  <a:lnTo>
                    <a:pt x="18" y="408"/>
                  </a:lnTo>
                  <a:lnTo>
                    <a:pt x="14" y="394"/>
                  </a:lnTo>
                  <a:lnTo>
                    <a:pt x="10" y="381"/>
                  </a:lnTo>
                  <a:lnTo>
                    <a:pt x="7" y="367"/>
                  </a:lnTo>
                  <a:lnTo>
                    <a:pt x="5" y="352"/>
                  </a:lnTo>
                  <a:lnTo>
                    <a:pt x="3" y="338"/>
                  </a:lnTo>
                  <a:lnTo>
                    <a:pt x="1" y="323"/>
                  </a:lnTo>
                  <a:lnTo>
                    <a:pt x="0" y="309"/>
                  </a:lnTo>
                  <a:lnTo>
                    <a:pt x="0" y="294"/>
                  </a:lnTo>
                  <a:lnTo>
                    <a:pt x="0" y="279"/>
                  </a:lnTo>
                  <a:lnTo>
                    <a:pt x="1" y="264"/>
                  </a:lnTo>
                  <a:lnTo>
                    <a:pt x="3" y="250"/>
                  </a:lnTo>
                  <a:lnTo>
                    <a:pt x="5" y="235"/>
                  </a:lnTo>
                  <a:lnTo>
                    <a:pt x="7" y="221"/>
                  </a:lnTo>
                  <a:lnTo>
                    <a:pt x="10" y="207"/>
                  </a:lnTo>
                  <a:lnTo>
                    <a:pt x="14" y="193"/>
                  </a:lnTo>
                  <a:lnTo>
                    <a:pt x="18" y="180"/>
                  </a:lnTo>
                  <a:lnTo>
                    <a:pt x="23" y="166"/>
                  </a:lnTo>
                  <a:lnTo>
                    <a:pt x="28" y="154"/>
                  </a:lnTo>
                  <a:lnTo>
                    <a:pt x="33" y="142"/>
                  </a:lnTo>
                  <a:lnTo>
                    <a:pt x="39" y="129"/>
                  </a:lnTo>
                  <a:lnTo>
                    <a:pt x="47" y="118"/>
                  </a:lnTo>
                  <a:lnTo>
                    <a:pt x="54" y="108"/>
                  </a:lnTo>
                  <a:lnTo>
                    <a:pt x="61" y="97"/>
                  </a:lnTo>
                  <a:lnTo>
                    <a:pt x="69" y="86"/>
                  </a:lnTo>
                  <a:lnTo>
                    <a:pt x="77" y="76"/>
                  </a:lnTo>
                  <a:lnTo>
                    <a:pt x="85" y="67"/>
                  </a:lnTo>
                  <a:lnTo>
                    <a:pt x="95" y="59"/>
                  </a:lnTo>
                  <a:lnTo>
                    <a:pt x="104" y="51"/>
                  </a:lnTo>
                  <a:lnTo>
                    <a:pt x="113" y="43"/>
                  </a:lnTo>
                  <a:lnTo>
                    <a:pt x="123" y="36"/>
                  </a:lnTo>
                  <a:lnTo>
                    <a:pt x="133" y="29"/>
                  </a:lnTo>
                  <a:lnTo>
                    <a:pt x="144" y="24"/>
                  </a:lnTo>
                  <a:lnTo>
                    <a:pt x="155" y="18"/>
                  </a:lnTo>
                  <a:lnTo>
                    <a:pt x="166" y="14"/>
                  </a:lnTo>
                  <a:lnTo>
                    <a:pt x="177" y="10"/>
                  </a:lnTo>
                  <a:lnTo>
                    <a:pt x="189" y="7"/>
                  </a:lnTo>
                  <a:lnTo>
                    <a:pt x="200" y="4"/>
                  </a:lnTo>
                  <a:lnTo>
                    <a:pt x="212" y="3"/>
                  </a:lnTo>
                  <a:lnTo>
                    <a:pt x="223" y="2"/>
                  </a:lnTo>
                  <a:lnTo>
                    <a:pt x="236" y="0"/>
                  </a:lnTo>
                  <a:close/>
                </a:path>
              </a:pathLst>
            </a:custGeom>
            <a:solidFill>
              <a:srgbClr val="FFCC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49" name="Freeform 128"/>
            <p:cNvSpPr>
              <a:spLocks noEditPoints="1"/>
            </p:cNvSpPr>
            <p:nvPr/>
          </p:nvSpPr>
          <p:spPr bwMode="auto">
            <a:xfrm>
              <a:off x="6854825" y="2489200"/>
              <a:ext cx="254000" cy="196850"/>
            </a:xfrm>
            <a:custGeom>
              <a:avLst/>
              <a:gdLst>
                <a:gd name="T0" fmla="*/ 2147483647 w 479"/>
                <a:gd name="T1" fmla="*/ 2147483647 h 592"/>
                <a:gd name="T2" fmla="*/ 2147483647 w 479"/>
                <a:gd name="T3" fmla="*/ 2147483647 h 592"/>
                <a:gd name="T4" fmla="*/ 2147483647 w 479"/>
                <a:gd name="T5" fmla="*/ 2147483647 h 592"/>
                <a:gd name="T6" fmla="*/ 2147483647 w 479"/>
                <a:gd name="T7" fmla="*/ 2147483647 h 592"/>
                <a:gd name="T8" fmla="*/ 2147483647 w 479"/>
                <a:gd name="T9" fmla="*/ 2147483647 h 592"/>
                <a:gd name="T10" fmla="*/ 2147483647 w 479"/>
                <a:gd name="T11" fmla="*/ 2147483647 h 592"/>
                <a:gd name="T12" fmla="*/ 2147483647 w 479"/>
                <a:gd name="T13" fmla="*/ 0 h 592"/>
                <a:gd name="T14" fmla="*/ 2147483647 w 479"/>
                <a:gd name="T15" fmla="*/ 2147483647 h 592"/>
                <a:gd name="T16" fmla="*/ 2147483647 w 479"/>
                <a:gd name="T17" fmla="*/ 2147483647 h 592"/>
                <a:gd name="T18" fmla="*/ 2147483647 w 479"/>
                <a:gd name="T19" fmla="*/ 2147483647 h 592"/>
                <a:gd name="T20" fmla="*/ 2147483647 w 479"/>
                <a:gd name="T21" fmla="*/ 2147483647 h 592"/>
                <a:gd name="T22" fmla="*/ 2147483647 w 479"/>
                <a:gd name="T23" fmla="*/ 2147483647 h 592"/>
                <a:gd name="T24" fmla="*/ 2147483647 w 479"/>
                <a:gd name="T25" fmla="*/ 2147483647 h 592"/>
                <a:gd name="T26" fmla="*/ 2147483647 w 479"/>
                <a:gd name="T27" fmla="*/ 2147483647 h 592"/>
                <a:gd name="T28" fmla="*/ 2147483647 w 479"/>
                <a:gd name="T29" fmla="*/ 2147483647 h 592"/>
                <a:gd name="T30" fmla="*/ 2147483647 w 479"/>
                <a:gd name="T31" fmla="*/ 2147483647 h 592"/>
                <a:gd name="T32" fmla="*/ 2147483647 w 479"/>
                <a:gd name="T33" fmla="*/ 2147483647 h 592"/>
                <a:gd name="T34" fmla="*/ 2147483647 w 479"/>
                <a:gd name="T35" fmla="*/ 2147483647 h 592"/>
                <a:gd name="T36" fmla="*/ 2147483647 w 479"/>
                <a:gd name="T37" fmla="*/ 2147483647 h 592"/>
                <a:gd name="T38" fmla="*/ 2147483647 w 479"/>
                <a:gd name="T39" fmla="*/ 2147483647 h 592"/>
                <a:gd name="T40" fmla="*/ 2147483647 w 479"/>
                <a:gd name="T41" fmla="*/ 2147483647 h 592"/>
                <a:gd name="T42" fmla="*/ 2147483647 w 479"/>
                <a:gd name="T43" fmla="*/ 2147483647 h 592"/>
                <a:gd name="T44" fmla="*/ 2147483647 w 479"/>
                <a:gd name="T45" fmla="*/ 2147483647 h 592"/>
                <a:gd name="T46" fmla="*/ 2147483647 w 479"/>
                <a:gd name="T47" fmla="*/ 2147483647 h 592"/>
                <a:gd name="T48" fmla="*/ 2147483647 w 479"/>
                <a:gd name="T49" fmla="*/ 2147483647 h 592"/>
                <a:gd name="T50" fmla="*/ 2147483647 w 479"/>
                <a:gd name="T51" fmla="*/ 2147483647 h 592"/>
                <a:gd name="T52" fmla="*/ 2147483647 w 479"/>
                <a:gd name="T53" fmla="*/ 2147483647 h 592"/>
                <a:gd name="T54" fmla="*/ 2147483647 w 479"/>
                <a:gd name="T55" fmla="*/ 2147483647 h 592"/>
                <a:gd name="T56" fmla="*/ 2147483647 w 479"/>
                <a:gd name="T57" fmla="*/ 2147483647 h 592"/>
                <a:gd name="T58" fmla="*/ 2147483647 w 479"/>
                <a:gd name="T59" fmla="*/ 2147483647 h 592"/>
                <a:gd name="T60" fmla="*/ 2147483647 w 479"/>
                <a:gd name="T61" fmla="*/ 2147483647 h 592"/>
                <a:gd name="T62" fmla="*/ 2147483647 w 479"/>
                <a:gd name="T63" fmla="*/ 2147483647 h 592"/>
                <a:gd name="T64" fmla="*/ 2147483647 w 479"/>
                <a:gd name="T65" fmla="*/ 2147483647 h 592"/>
                <a:gd name="T66" fmla="*/ 2147483647 w 479"/>
                <a:gd name="T67" fmla="*/ 2147483647 h 592"/>
                <a:gd name="T68" fmla="*/ 2147483647 w 479"/>
                <a:gd name="T69" fmla="*/ 2147483647 h 592"/>
                <a:gd name="T70" fmla="*/ 2147483647 w 479"/>
                <a:gd name="T71" fmla="*/ 2147483647 h 592"/>
                <a:gd name="T72" fmla="*/ 2147483647 w 479"/>
                <a:gd name="T73" fmla="*/ 2147483647 h 592"/>
                <a:gd name="T74" fmla="*/ 2147483647 w 479"/>
                <a:gd name="T75" fmla="*/ 2147483647 h 592"/>
                <a:gd name="T76" fmla="*/ 2147483647 w 479"/>
                <a:gd name="T77" fmla="*/ 2147483647 h 592"/>
                <a:gd name="T78" fmla="*/ 2147483647 w 479"/>
                <a:gd name="T79" fmla="*/ 2147483647 h 592"/>
                <a:gd name="T80" fmla="*/ 2147483647 w 479"/>
                <a:gd name="T81" fmla="*/ 2147483647 h 592"/>
                <a:gd name="T82" fmla="*/ 2147483647 w 479"/>
                <a:gd name="T83" fmla="*/ 2147483647 h 592"/>
                <a:gd name="T84" fmla="*/ 2147483647 w 479"/>
                <a:gd name="T85" fmla="*/ 2147483647 h 592"/>
                <a:gd name="T86" fmla="*/ 2147483647 w 479"/>
                <a:gd name="T87" fmla="*/ 2147483647 h 592"/>
                <a:gd name="T88" fmla="*/ 2147483647 w 479"/>
                <a:gd name="T89" fmla="*/ 2147483647 h 592"/>
                <a:gd name="T90" fmla="*/ 2147483647 w 479"/>
                <a:gd name="T91" fmla="*/ 2147483647 h 592"/>
                <a:gd name="T92" fmla="*/ 2147483647 w 479"/>
                <a:gd name="T93" fmla="*/ 2147483647 h 592"/>
                <a:gd name="T94" fmla="*/ 2147483647 w 479"/>
                <a:gd name="T95" fmla="*/ 2147483647 h 592"/>
                <a:gd name="T96" fmla="*/ 0 w 479"/>
                <a:gd name="T97" fmla="*/ 2147483647 h 592"/>
                <a:gd name="T98" fmla="*/ 2147483647 w 479"/>
                <a:gd name="T99" fmla="*/ 2147483647 h 592"/>
                <a:gd name="T100" fmla="*/ 2147483647 w 479"/>
                <a:gd name="T101" fmla="*/ 2147483647 h 592"/>
                <a:gd name="T102" fmla="*/ 2147483647 w 479"/>
                <a:gd name="T103" fmla="*/ 2147483647 h 592"/>
                <a:gd name="T104" fmla="*/ 2147483647 w 479"/>
                <a:gd name="T105" fmla="*/ 2147483647 h 592"/>
                <a:gd name="T106" fmla="*/ 2147483647 w 479"/>
                <a:gd name="T107" fmla="*/ 2147483647 h 592"/>
                <a:gd name="T108" fmla="*/ 2147483647 w 479"/>
                <a:gd name="T109" fmla="*/ 2147483647 h 592"/>
                <a:gd name="T110" fmla="*/ 2147483647 w 479"/>
                <a:gd name="T111" fmla="*/ 2147483647 h 59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79" h="592">
                  <a:moveTo>
                    <a:pt x="240" y="0"/>
                  </a:moveTo>
                  <a:lnTo>
                    <a:pt x="252" y="0"/>
                  </a:lnTo>
                  <a:lnTo>
                    <a:pt x="264" y="1"/>
                  </a:lnTo>
                  <a:lnTo>
                    <a:pt x="276" y="2"/>
                  </a:lnTo>
                  <a:lnTo>
                    <a:pt x="289" y="6"/>
                  </a:lnTo>
                  <a:lnTo>
                    <a:pt x="300" y="9"/>
                  </a:lnTo>
                  <a:lnTo>
                    <a:pt x="311" y="12"/>
                  </a:lnTo>
                  <a:lnTo>
                    <a:pt x="322" y="18"/>
                  </a:lnTo>
                  <a:lnTo>
                    <a:pt x="333" y="23"/>
                  </a:lnTo>
                  <a:lnTo>
                    <a:pt x="344" y="29"/>
                  </a:lnTo>
                  <a:lnTo>
                    <a:pt x="354" y="35"/>
                  </a:lnTo>
                  <a:lnTo>
                    <a:pt x="364" y="43"/>
                  </a:lnTo>
                  <a:lnTo>
                    <a:pt x="373" y="50"/>
                  </a:lnTo>
                  <a:lnTo>
                    <a:pt x="383" y="58"/>
                  </a:lnTo>
                  <a:lnTo>
                    <a:pt x="392" y="67"/>
                  </a:lnTo>
                  <a:lnTo>
                    <a:pt x="401" y="77"/>
                  </a:lnTo>
                  <a:lnTo>
                    <a:pt x="409" y="86"/>
                  </a:lnTo>
                  <a:lnTo>
                    <a:pt x="405" y="91"/>
                  </a:lnTo>
                  <a:lnTo>
                    <a:pt x="397" y="81"/>
                  </a:lnTo>
                  <a:lnTo>
                    <a:pt x="389" y="72"/>
                  </a:lnTo>
                  <a:lnTo>
                    <a:pt x="380" y="63"/>
                  </a:lnTo>
                  <a:lnTo>
                    <a:pt x="370" y="56"/>
                  </a:lnTo>
                  <a:lnTo>
                    <a:pt x="361" y="48"/>
                  </a:lnTo>
                  <a:lnTo>
                    <a:pt x="351" y="42"/>
                  </a:lnTo>
                  <a:lnTo>
                    <a:pt x="342" y="35"/>
                  </a:lnTo>
                  <a:lnTo>
                    <a:pt x="331" y="29"/>
                  </a:lnTo>
                  <a:lnTo>
                    <a:pt x="320" y="24"/>
                  </a:lnTo>
                  <a:lnTo>
                    <a:pt x="309" y="19"/>
                  </a:lnTo>
                  <a:lnTo>
                    <a:pt x="299" y="15"/>
                  </a:lnTo>
                  <a:lnTo>
                    <a:pt x="287" y="12"/>
                  </a:lnTo>
                  <a:lnTo>
                    <a:pt x="275" y="10"/>
                  </a:lnTo>
                  <a:lnTo>
                    <a:pt x="264" y="7"/>
                  </a:lnTo>
                  <a:lnTo>
                    <a:pt x="252" y="6"/>
                  </a:lnTo>
                  <a:lnTo>
                    <a:pt x="240" y="6"/>
                  </a:lnTo>
                  <a:lnTo>
                    <a:pt x="240" y="0"/>
                  </a:lnTo>
                  <a:close/>
                  <a:moveTo>
                    <a:pt x="409" y="86"/>
                  </a:moveTo>
                  <a:lnTo>
                    <a:pt x="417" y="96"/>
                  </a:lnTo>
                  <a:lnTo>
                    <a:pt x="425" y="107"/>
                  </a:lnTo>
                  <a:lnTo>
                    <a:pt x="432" y="119"/>
                  </a:lnTo>
                  <a:lnTo>
                    <a:pt x="438" y="130"/>
                  </a:lnTo>
                  <a:lnTo>
                    <a:pt x="445" y="142"/>
                  </a:lnTo>
                  <a:lnTo>
                    <a:pt x="450" y="154"/>
                  </a:lnTo>
                  <a:lnTo>
                    <a:pt x="455" y="167"/>
                  </a:lnTo>
                  <a:lnTo>
                    <a:pt x="460" y="181"/>
                  </a:lnTo>
                  <a:lnTo>
                    <a:pt x="464" y="194"/>
                  </a:lnTo>
                  <a:lnTo>
                    <a:pt x="468" y="207"/>
                  </a:lnTo>
                  <a:lnTo>
                    <a:pt x="472" y="221"/>
                  </a:lnTo>
                  <a:lnTo>
                    <a:pt x="475" y="237"/>
                  </a:lnTo>
                  <a:lnTo>
                    <a:pt x="477" y="250"/>
                  </a:lnTo>
                  <a:lnTo>
                    <a:pt x="478" y="266"/>
                  </a:lnTo>
                  <a:lnTo>
                    <a:pt x="479" y="281"/>
                  </a:lnTo>
                  <a:lnTo>
                    <a:pt x="479" y="296"/>
                  </a:lnTo>
                  <a:lnTo>
                    <a:pt x="474" y="296"/>
                  </a:lnTo>
                  <a:lnTo>
                    <a:pt x="474" y="281"/>
                  </a:lnTo>
                  <a:lnTo>
                    <a:pt x="473" y="266"/>
                  </a:lnTo>
                  <a:lnTo>
                    <a:pt x="472" y="252"/>
                  </a:lnTo>
                  <a:lnTo>
                    <a:pt x="470" y="238"/>
                  </a:lnTo>
                  <a:lnTo>
                    <a:pt x="466" y="224"/>
                  </a:lnTo>
                  <a:lnTo>
                    <a:pt x="463" y="210"/>
                  </a:lnTo>
                  <a:lnTo>
                    <a:pt x="459" y="196"/>
                  </a:lnTo>
                  <a:lnTo>
                    <a:pt x="455" y="183"/>
                  </a:lnTo>
                  <a:lnTo>
                    <a:pt x="451" y="171"/>
                  </a:lnTo>
                  <a:lnTo>
                    <a:pt x="446" y="158"/>
                  </a:lnTo>
                  <a:lnTo>
                    <a:pt x="440" y="145"/>
                  </a:lnTo>
                  <a:lnTo>
                    <a:pt x="434" y="134"/>
                  </a:lnTo>
                  <a:lnTo>
                    <a:pt x="428" y="123"/>
                  </a:lnTo>
                  <a:lnTo>
                    <a:pt x="420" y="111"/>
                  </a:lnTo>
                  <a:lnTo>
                    <a:pt x="413" y="101"/>
                  </a:lnTo>
                  <a:lnTo>
                    <a:pt x="405" y="91"/>
                  </a:lnTo>
                  <a:lnTo>
                    <a:pt x="409" y="86"/>
                  </a:lnTo>
                  <a:close/>
                  <a:moveTo>
                    <a:pt x="479" y="296"/>
                  </a:moveTo>
                  <a:lnTo>
                    <a:pt x="479" y="311"/>
                  </a:lnTo>
                  <a:lnTo>
                    <a:pt x="478" y="326"/>
                  </a:lnTo>
                  <a:lnTo>
                    <a:pt x="477" y="340"/>
                  </a:lnTo>
                  <a:lnTo>
                    <a:pt x="475" y="356"/>
                  </a:lnTo>
                  <a:lnTo>
                    <a:pt x="472" y="369"/>
                  </a:lnTo>
                  <a:lnTo>
                    <a:pt x="468" y="383"/>
                  </a:lnTo>
                  <a:lnTo>
                    <a:pt x="464" y="397"/>
                  </a:lnTo>
                  <a:lnTo>
                    <a:pt x="460" y="411"/>
                  </a:lnTo>
                  <a:lnTo>
                    <a:pt x="455" y="424"/>
                  </a:lnTo>
                  <a:lnTo>
                    <a:pt x="450" y="437"/>
                  </a:lnTo>
                  <a:lnTo>
                    <a:pt x="445" y="449"/>
                  </a:lnTo>
                  <a:lnTo>
                    <a:pt x="438" y="462"/>
                  </a:lnTo>
                  <a:lnTo>
                    <a:pt x="432" y="473"/>
                  </a:lnTo>
                  <a:lnTo>
                    <a:pt x="425" y="485"/>
                  </a:lnTo>
                  <a:lnTo>
                    <a:pt x="417" y="495"/>
                  </a:lnTo>
                  <a:lnTo>
                    <a:pt x="409" y="505"/>
                  </a:lnTo>
                  <a:lnTo>
                    <a:pt x="405" y="501"/>
                  </a:lnTo>
                  <a:lnTo>
                    <a:pt x="413" y="491"/>
                  </a:lnTo>
                  <a:lnTo>
                    <a:pt x="420" y="480"/>
                  </a:lnTo>
                  <a:lnTo>
                    <a:pt x="428" y="469"/>
                  </a:lnTo>
                  <a:lnTo>
                    <a:pt x="434" y="458"/>
                  </a:lnTo>
                  <a:lnTo>
                    <a:pt x="440" y="445"/>
                  </a:lnTo>
                  <a:lnTo>
                    <a:pt x="446" y="434"/>
                  </a:lnTo>
                  <a:lnTo>
                    <a:pt x="451" y="421"/>
                  </a:lnTo>
                  <a:lnTo>
                    <a:pt x="455" y="409"/>
                  </a:lnTo>
                  <a:lnTo>
                    <a:pt x="459" y="395"/>
                  </a:lnTo>
                  <a:lnTo>
                    <a:pt x="463" y="382"/>
                  </a:lnTo>
                  <a:lnTo>
                    <a:pt x="466" y="368"/>
                  </a:lnTo>
                  <a:lnTo>
                    <a:pt x="470" y="354"/>
                  </a:lnTo>
                  <a:lnTo>
                    <a:pt x="472" y="340"/>
                  </a:lnTo>
                  <a:lnTo>
                    <a:pt x="473" y="325"/>
                  </a:lnTo>
                  <a:lnTo>
                    <a:pt x="474" y="311"/>
                  </a:lnTo>
                  <a:lnTo>
                    <a:pt x="474" y="296"/>
                  </a:lnTo>
                  <a:lnTo>
                    <a:pt x="479" y="296"/>
                  </a:lnTo>
                  <a:close/>
                  <a:moveTo>
                    <a:pt x="409" y="505"/>
                  </a:moveTo>
                  <a:lnTo>
                    <a:pt x="401" y="515"/>
                  </a:lnTo>
                  <a:lnTo>
                    <a:pt x="392" y="524"/>
                  </a:lnTo>
                  <a:lnTo>
                    <a:pt x="383" y="533"/>
                  </a:lnTo>
                  <a:lnTo>
                    <a:pt x="373" y="542"/>
                  </a:lnTo>
                  <a:lnTo>
                    <a:pt x="364" y="549"/>
                  </a:lnTo>
                  <a:lnTo>
                    <a:pt x="354" y="557"/>
                  </a:lnTo>
                  <a:lnTo>
                    <a:pt x="344" y="563"/>
                  </a:lnTo>
                  <a:lnTo>
                    <a:pt x="333" y="568"/>
                  </a:lnTo>
                  <a:lnTo>
                    <a:pt x="322" y="575"/>
                  </a:lnTo>
                  <a:lnTo>
                    <a:pt x="311" y="578"/>
                  </a:lnTo>
                  <a:lnTo>
                    <a:pt x="300" y="582"/>
                  </a:lnTo>
                  <a:lnTo>
                    <a:pt x="289" y="586"/>
                  </a:lnTo>
                  <a:lnTo>
                    <a:pt x="276" y="588"/>
                  </a:lnTo>
                  <a:lnTo>
                    <a:pt x="264" y="591"/>
                  </a:lnTo>
                  <a:lnTo>
                    <a:pt x="252" y="591"/>
                  </a:lnTo>
                  <a:lnTo>
                    <a:pt x="240" y="592"/>
                  </a:lnTo>
                  <a:lnTo>
                    <a:pt x="240" y="586"/>
                  </a:lnTo>
                  <a:lnTo>
                    <a:pt x="252" y="585"/>
                  </a:lnTo>
                  <a:lnTo>
                    <a:pt x="264" y="583"/>
                  </a:lnTo>
                  <a:lnTo>
                    <a:pt x="275" y="582"/>
                  </a:lnTo>
                  <a:lnTo>
                    <a:pt x="287" y="580"/>
                  </a:lnTo>
                  <a:lnTo>
                    <a:pt x="299" y="576"/>
                  </a:lnTo>
                  <a:lnTo>
                    <a:pt x="309" y="572"/>
                  </a:lnTo>
                  <a:lnTo>
                    <a:pt x="320" y="568"/>
                  </a:lnTo>
                  <a:lnTo>
                    <a:pt x="331" y="563"/>
                  </a:lnTo>
                  <a:lnTo>
                    <a:pt x="342" y="557"/>
                  </a:lnTo>
                  <a:lnTo>
                    <a:pt x="351" y="551"/>
                  </a:lnTo>
                  <a:lnTo>
                    <a:pt x="361" y="543"/>
                  </a:lnTo>
                  <a:lnTo>
                    <a:pt x="370" y="537"/>
                  </a:lnTo>
                  <a:lnTo>
                    <a:pt x="380" y="528"/>
                  </a:lnTo>
                  <a:lnTo>
                    <a:pt x="389" y="519"/>
                  </a:lnTo>
                  <a:lnTo>
                    <a:pt x="397" y="510"/>
                  </a:lnTo>
                  <a:lnTo>
                    <a:pt x="405" y="501"/>
                  </a:lnTo>
                  <a:lnTo>
                    <a:pt x="409" y="505"/>
                  </a:lnTo>
                  <a:close/>
                  <a:moveTo>
                    <a:pt x="240" y="592"/>
                  </a:moveTo>
                  <a:lnTo>
                    <a:pt x="227" y="591"/>
                  </a:lnTo>
                  <a:lnTo>
                    <a:pt x="215" y="591"/>
                  </a:lnTo>
                  <a:lnTo>
                    <a:pt x="204" y="588"/>
                  </a:lnTo>
                  <a:lnTo>
                    <a:pt x="192" y="586"/>
                  </a:lnTo>
                  <a:lnTo>
                    <a:pt x="180" y="582"/>
                  </a:lnTo>
                  <a:lnTo>
                    <a:pt x="169" y="578"/>
                  </a:lnTo>
                  <a:lnTo>
                    <a:pt x="158" y="575"/>
                  </a:lnTo>
                  <a:lnTo>
                    <a:pt x="147" y="568"/>
                  </a:lnTo>
                  <a:lnTo>
                    <a:pt x="136" y="563"/>
                  </a:lnTo>
                  <a:lnTo>
                    <a:pt x="126" y="557"/>
                  </a:lnTo>
                  <a:lnTo>
                    <a:pt x="116" y="549"/>
                  </a:lnTo>
                  <a:lnTo>
                    <a:pt x="107" y="542"/>
                  </a:lnTo>
                  <a:lnTo>
                    <a:pt x="97" y="533"/>
                  </a:lnTo>
                  <a:lnTo>
                    <a:pt x="88" y="524"/>
                  </a:lnTo>
                  <a:lnTo>
                    <a:pt x="79" y="515"/>
                  </a:lnTo>
                  <a:lnTo>
                    <a:pt x="71" y="505"/>
                  </a:lnTo>
                  <a:lnTo>
                    <a:pt x="75" y="501"/>
                  </a:lnTo>
                  <a:lnTo>
                    <a:pt x="83" y="510"/>
                  </a:lnTo>
                  <a:lnTo>
                    <a:pt x="91" y="519"/>
                  </a:lnTo>
                  <a:lnTo>
                    <a:pt x="100" y="528"/>
                  </a:lnTo>
                  <a:lnTo>
                    <a:pt x="109" y="537"/>
                  </a:lnTo>
                  <a:lnTo>
                    <a:pt x="119" y="543"/>
                  </a:lnTo>
                  <a:lnTo>
                    <a:pt x="128" y="551"/>
                  </a:lnTo>
                  <a:lnTo>
                    <a:pt x="138" y="557"/>
                  </a:lnTo>
                  <a:lnTo>
                    <a:pt x="149" y="563"/>
                  </a:lnTo>
                  <a:lnTo>
                    <a:pt x="160" y="568"/>
                  </a:lnTo>
                  <a:lnTo>
                    <a:pt x="170" y="572"/>
                  </a:lnTo>
                  <a:lnTo>
                    <a:pt x="181" y="576"/>
                  </a:lnTo>
                  <a:lnTo>
                    <a:pt x="193" y="580"/>
                  </a:lnTo>
                  <a:lnTo>
                    <a:pt x="205" y="582"/>
                  </a:lnTo>
                  <a:lnTo>
                    <a:pt x="216" y="583"/>
                  </a:lnTo>
                  <a:lnTo>
                    <a:pt x="228" y="585"/>
                  </a:lnTo>
                  <a:lnTo>
                    <a:pt x="240" y="586"/>
                  </a:lnTo>
                  <a:lnTo>
                    <a:pt x="240" y="592"/>
                  </a:lnTo>
                  <a:close/>
                  <a:moveTo>
                    <a:pt x="71" y="505"/>
                  </a:moveTo>
                  <a:lnTo>
                    <a:pt x="63" y="495"/>
                  </a:lnTo>
                  <a:lnTo>
                    <a:pt x="56" y="485"/>
                  </a:lnTo>
                  <a:lnTo>
                    <a:pt x="48" y="473"/>
                  </a:lnTo>
                  <a:lnTo>
                    <a:pt x="41" y="462"/>
                  </a:lnTo>
                  <a:lnTo>
                    <a:pt x="35" y="449"/>
                  </a:lnTo>
                  <a:lnTo>
                    <a:pt x="30" y="437"/>
                  </a:lnTo>
                  <a:lnTo>
                    <a:pt x="24" y="424"/>
                  </a:lnTo>
                  <a:lnTo>
                    <a:pt x="20" y="411"/>
                  </a:lnTo>
                  <a:lnTo>
                    <a:pt x="16" y="397"/>
                  </a:lnTo>
                  <a:lnTo>
                    <a:pt x="12" y="383"/>
                  </a:lnTo>
                  <a:lnTo>
                    <a:pt x="9" y="369"/>
                  </a:lnTo>
                  <a:lnTo>
                    <a:pt x="6" y="356"/>
                  </a:lnTo>
                  <a:lnTo>
                    <a:pt x="4" y="340"/>
                  </a:lnTo>
                  <a:lnTo>
                    <a:pt x="3" y="326"/>
                  </a:lnTo>
                  <a:lnTo>
                    <a:pt x="1" y="311"/>
                  </a:lnTo>
                  <a:lnTo>
                    <a:pt x="0" y="296"/>
                  </a:lnTo>
                  <a:lnTo>
                    <a:pt x="7" y="296"/>
                  </a:lnTo>
                  <a:lnTo>
                    <a:pt x="7" y="311"/>
                  </a:lnTo>
                  <a:lnTo>
                    <a:pt x="8" y="325"/>
                  </a:lnTo>
                  <a:lnTo>
                    <a:pt x="9" y="340"/>
                  </a:lnTo>
                  <a:lnTo>
                    <a:pt x="11" y="354"/>
                  </a:lnTo>
                  <a:lnTo>
                    <a:pt x="14" y="368"/>
                  </a:lnTo>
                  <a:lnTo>
                    <a:pt x="17" y="382"/>
                  </a:lnTo>
                  <a:lnTo>
                    <a:pt x="20" y="395"/>
                  </a:lnTo>
                  <a:lnTo>
                    <a:pt x="25" y="409"/>
                  </a:lnTo>
                  <a:lnTo>
                    <a:pt x="29" y="421"/>
                  </a:lnTo>
                  <a:lnTo>
                    <a:pt x="34" y="434"/>
                  </a:lnTo>
                  <a:lnTo>
                    <a:pt x="40" y="445"/>
                  </a:lnTo>
                  <a:lnTo>
                    <a:pt x="46" y="458"/>
                  </a:lnTo>
                  <a:lnTo>
                    <a:pt x="53" y="469"/>
                  </a:lnTo>
                  <a:lnTo>
                    <a:pt x="60" y="480"/>
                  </a:lnTo>
                  <a:lnTo>
                    <a:pt x="67" y="491"/>
                  </a:lnTo>
                  <a:lnTo>
                    <a:pt x="75" y="501"/>
                  </a:lnTo>
                  <a:lnTo>
                    <a:pt x="71" y="505"/>
                  </a:lnTo>
                  <a:close/>
                  <a:moveTo>
                    <a:pt x="0" y="296"/>
                  </a:moveTo>
                  <a:lnTo>
                    <a:pt x="1" y="281"/>
                  </a:lnTo>
                  <a:lnTo>
                    <a:pt x="3" y="266"/>
                  </a:lnTo>
                  <a:lnTo>
                    <a:pt x="4" y="250"/>
                  </a:lnTo>
                  <a:lnTo>
                    <a:pt x="6" y="237"/>
                  </a:lnTo>
                  <a:lnTo>
                    <a:pt x="9" y="221"/>
                  </a:lnTo>
                  <a:lnTo>
                    <a:pt x="12" y="207"/>
                  </a:lnTo>
                  <a:lnTo>
                    <a:pt x="16" y="194"/>
                  </a:lnTo>
                  <a:lnTo>
                    <a:pt x="20" y="181"/>
                  </a:lnTo>
                  <a:lnTo>
                    <a:pt x="24" y="167"/>
                  </a:lnTo>
                  <a:lnTo>
                    <a:pt x="30" y="154"/>
                  </a:lnTo>
                  <a:lnTo>
                    <a:pt x="35" y="142"/>
                  </a:lnTo>
                  <a:lnTo>
                    <a:pt x="41" y="130"/>
                  </a:lnTo>
                  <a:lnTo>
                    <a:pt x="48" y="119"/>
                  </a:lnTo>
                  <a:lnTo>
                    <a:pt x="56" y="107"/>
                  </a:lnTo>
                  <a:lnTo>
                    <a:pt x="63" y="96"/>
                  </a:lnTo>
                  <a:lnTo>
                    <a:pt x="71" y="86"/>
                  </a:lnTo>
                  <a:lnTo>
                    <a:pt x="75" y="91"/>
                  </a:lnTo>
                  <a:lnTo>
                    <a:pt x="67" y="101"/>
                  </a:lnTo>
                  <a:lnTo>
                    <a:pt x="60" y="111"/>
                  </a:lnTo>
                  <a:lnTo>
                    <a:pt x="53" y="123"/>
                  </a:lnTo>
                  <a:lnTo>
                    <a:pt x="46" y="134"/>
                  </a:lnTo>
                  <a:lnTo>
                    <a:pt x="40" y="145"/>
                  </a:lnTo>
                  <a:lnTo>
                    <a:pt x="34" y="158"/>
                  </a:lnTo>
                  <a:lnTo>
                    <a:pt x="29" y="171"/>
                  </a:lnTo>
                  <a:lnTo>
                    <a:pt x="25" y="183"/>
                  </a:lnTo>
                  <a:lnTo>
                    <a:pt x="20" y="196"/>
                  </a:lnTo>
                  <a:lnTo>
                    <a:pt x="17" y="210"/>
                  </a:lnTo>
                  <a:lnTo>
                    <a:pt x="14" y="224"/>
                  </a:lnTo>
                  <a:lnTo>
                    <a:pt x="11" y="238"/>
                  </a:lnTo>
                  <a:lnTo>
                    <a:pt x="9" y="252"/>
                  </a:lnTo>
                  <a:lnTo>
                    <a:pt x="8" y="266"/>
                  </a:lnTo>
                  <a:lnTo>
                    <a:pt x="7" y="281"/>
                  </a:lnTo>
                  <a:lnTo>
                    <a:pt x="7" y="296"/>
                  </a:lnTo>
                  <a:lnTo>
                    <a:pt x="0" y="296"/>
                  </a:lnTo>
                  <a:close/>
                  <a:moveTo>
                    <a:pt x="71" y="86"/>
                  </a:moveTo>
                  <a:lnTo>
                    <a:pt x="79" y="77"/>
                  </a:lnTo>
                  <a:lnTo>
                    <a:pt x="88" y="67"/>
                  </a:lnTo>
                  <a:lnTo>
                    <a:pt x="97" y="58"/>
                  </a:lnTo>
                  <a:lnTo>
                    <a:pt x="107" y="50"/>
                  </a:lnTo>
                  <a:lnTo>
                    <a:pt x="116" y="43"/>
                  </a:lnTo>
                  <a:lnTo>
                    <a:pt x="126" y="35"/>
                  </a:lnTo>
                  <a:lnTo>
                    <a:pt x="136" y="29"/>
                  </a:lnTo>
                  <a:lnTo>
                    <a:pt x="147" y="23"/>
                  </a:lnTo>
                  <a:lnTo>
                    <a:pt x="158" y="18"/>
                  </a:lnTo>
                  <a:lnTo>
                    <a:pt x="169" y="12"/>
                  </a:lnTo>
                  <a:lnTo>
                    <a:pt x="180" y="9"/>
                  </a:lnTo>
                  <a:lnTo>
                    <a:pt x="192" y="6"/>
                  </a:lnTo>
                  <a:lnTo>
                    <a:pt x="204" y="2"/>
                  </a:lnTo>
                  <a:lnTo>
                    <a:pt x="215" y="1"/>
                  </a:lnTo>
                  <a:lnTo>
                    <a:pt x="227" y="0"/>
                  </a:lnTo>
                  <a:lnTo>
                    <a:pt x="240" y="0"/>
                  </a:lnTo>
                  <a:lnTo>
                    <a:pt x="240" y="6"/>
                  </a:lnTo>
                  <a:lnTo>
                    <a:pt x="228" y="6"/>
                  </a:lnTo>
                  <a:lnTo>
                    <a:pt x="216" y="7"/>
                  </a:lnTo>
                  <a:lnTo>
                    <a:pt x="205" y="10"/>
                  </a:lnTo>
                  <a:lnTo>
                    <a:pt x="193" y="12"/>
                  </a:lnTo>
                  <a:lnTo>
                    <a:pt x="181" y="15"/>
                  </a:lnTo>
                  <a:lnTo>
                    <a:pt x="170" y="19"/>
                  </a:lnTo>
                  <a:lnTo>
                    <a:pt x="160" y="24"/>
                  </a:lnTo>
                  <a:lnTo>
                    <a:pt x="149" y="29"/>
                  </a:lnTo>
                  <a:lnTo>
                    <a:pt x="138" y="35"/>
                  </a:lnTo>
                  <a:lnTo>
                    <a:pt x="128" y="42"/>
                  </a:lnTo>
                  <a:lnTo>
                    <a:pt x="119" y="48"/>
                  </a:lnTo>
                  <a:lnTo>
                    <a:pt x="109" y="56"/>
                  </a:lnTo>
                  <a:lnTo>
                    <a:pt x="100" y="63"/>
                  </a:lnTo>
                  <a:lnTo>
                    <a:pt x="91" y="72"/>
                  </a:lnTo>
                  <a:lnTo>
                    <a:pt x="83" y="81"/>
                  </a:lnTo>
                  <a:lnTo>
                    <a:pt x="75" y="91"/>
                  </a:lnTo>
                  <a:lnTo>
                    <a:pt x="71" y="86"/>
                  </a:lnTo>
                  <a:close/>
                </a:path>
              </a:pathLst>
            </a:custGeom>
            <a:solidFill>
              <a:srgbClr val="3734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50" name="Freeform 129"/>
            <p:cNvSpPr>
              <a:spLocks/>
            </p:cNvSpPr>
            <p:nvPr/>
          </p:nvSpPr>
          <p:spPr bwMode="auto">
            <a:xfrm>
              <a:off x="6858000" y="2170113"/>
              <a:ext cx="249238" cy="193675"/>
            </a:xfrm>
            <a:custGeom>
              <a:avLst/>
              <a:gdLst>
                <a:gd name="T0" fmla="*/ 2147483647 w 473"/>
                <a:gd name="T1" fmla="*/ 2147483647 h 586"/>
                <a:gd name="T2" fmla="*/ 2147483647 w 473"/>
                <a:gd name="T3" fmla="*/ 2147483647 h 586"/>
                <a:gd name="T4" fmla="*/ 2147483647 w 473"/>
                <a:gd name="T5" fmla="*/ 2147483647 h 586"/>
                <a:gd name="T6" fmla="*/ 2147483647 w 473"/>
                <a:gd name="T7" fmla="*/ 2147483647 h 586"/>
                <a:gd name="T8" fmla="*/ 2147483647 w 473"/>
                <a:gd name="T9" fmla="*/ 2147483647 h 586"/>
                <a:gd name="T10" fmla="*/ 2147483647 w 473"/>
                <a:gd name="T11" fmla="*/ 2147483647 h 586"/>
                <a:gd name="T12" fmla="*/ 2147483647 w 473"/>
                <a:gd name="T13" fmla="*/ 2147483647 h 586"/>
                <a:gd name="T14" fmla="*/ 2147483647 w 473"/>
                <a:gd name="T15" fmla="*/ 2147483647 h 586"/>
                <a:gd name="T16" fmla="*/ 2147483647 w 473"/>
                <a:gd name="T17" fmla="*/ 2147483647 h 586"/>
                <a:gd name="T18" fmla="*/ 2147483647 w 473"/>
                <a:gd name="T19" fmla="*/ 2147483647 h 586"/>
                <a:gd name="T20" fmla="*/ 2147483647 w 473"/>
                <a:gd name="T21" fmla="*/ 2147483647 h 586"/>
                <a:gd name="T22" fmla="*/ 2147483647 w 473"/>
                <a:gd name="T23" fmla="*/ 2147483647 h 586"/>
                <a:gd name="T24" fmla="*/ 2147483647 w 473"/>
                <a:gd name="T25" fmla="*/ 2147483647 h 586"/>
                <a:gd name="T26" fmla="*/ 2147483647 w 473"/>
                <a:gd name="T27" fmla="*/ 2147483647 h 586"/>
                <a:gd name="T28" fmla="*/ 2147483647 w 473"/>
                <a:gd name="T29" fmla="*/ 2147483647 h 586"/>
                <a:gd name="T30" fmla="*/ 2147483647 w 473"/>
                <a:gd name="T31" fmla="*/ 2147483647 h 586"/>
                <a:gd name="T32" fmla="*/ 2147483647 w 473"/>
                <a:gd name="T33" fmla="*/ 2147483647 h 586"/>
                <a:gd name="T34" fmla="*/ 2147483647 w 473"/>
                <a:gd name="T35" fmla="*/ 2147483647 h 586"/>
                <a:gd name="T36" fmla="*/ 2147483647 w 473"/>
                <a:gd name="T37" fmla="*/ 2147483647 h 586"/>
                <a:gd name="T38" fmla="*/ 2147483647 w 473"/>
                <a:gd name="T39" fmla="*/ 2147483647 h 586"/>
                <a:gd name="T40" fmla="*/ 2147483647 w 473"/>
                <a:gd name="T41" fmla="*/ 2147483647 h 586"/>
                <a:gd name="T42" fmla="*/ 2147483647 w 473"/>
                <a:gd name="T43" fmla="*/ 2147483647 h 586"/>
                <a:gd name="T44" fmla="*/ 2147483647 w 473"/>
                <a:gd name="T45" fmla="*/ 2147483647 h 586"/>
                <a:gd name="T46" fmla="*/ 2147483647 w 473"/>
                <a:gd name="T47" fmla="*/ 2147483647 h 586"/>
                <a:gd name="T48" fmla="*/ 2147483647 w 473"/>
                <a:gd name="T49" fmla="*/ 2147483647 h 586"/>
                <a:gd name="T50" fmla="*/ 2147483647 w 473"/>
                <a:gd name="T51" fmla="*/ 2147483647 h 586"/>
                <a:gd name="T52" fmla="*/ 2147483647 w 473"/>
                <a:gd name="T53" fmla="*/ 2147483647 h 586"/>
                <a:gd name="T54" fmla="*/ 2147483647 w 473"/>
                <a:gd name="T55" fmla="*/ 2147483647 h 586"/>
                <a:gd name="T56" fmla="*/ 2147483647 w 473"/>
                <a:gd name="T57" fmla="*/ 2147483647 h 586"/>
                <a:gd name="T58" fmla="*/ 2147483647 w 473"/>
                <a:gd name="T59" fmla="*/ 2147483647 h 586"/>
                <a:gd name="T60" fmla="*/ 2147483647 w 473"/>
                <a:gd name="T61" fmla="*/ 2147483647 h 586"/>
                <a:gd name="T62" fmla="*/ 0 w 473"/>
                <a:gd name="T63" fmla="*/ 2147483647 h 586"/>
                <a:gd name="T64" fmla="*/ 2147483647 w 473"/>
                <a:gd name="T65" fmla="*/ 2147483647 h 586"/>
                <a:gd name="T66" fmla="*/ 2147483647 w 473"/>
                <a:gd name="T67" fmla="*/ 2147483647 h 586"/>
                <a:gd name="T68" fmla="*/ 2147483647 w 473"/>
                <a:gd name="T69" fmla="*/ 2147483647 h 586"/>
                <a:gd name="T70" fmla="*/ 2147483647 w 473"/>
                <a:gd name="T71" fmla="*/ 2147483647 h 586"/>
                <a:gd name="T72" fmla="*/ 2147483647 w 473"/>
                <a:gd name="T73" fmla="*/ 2147483647 h 586"/>
                <a:gd name="T74" fmla="*/ 2147483647 w 473"/>
                <a:gd name="T75" fmla="*/ 2147483647 h 586"/>
                <a:gd name="T76" fmla="*/ 2147483647 w 473"/>
                <a:gd name="T77" fmla="*/ 2147483647 h 586"/>
                <a:gd name="T78" fmla="*/ 2147483647 w 473"/>
                <a:gd name="T79" fmla="*/ 2147483647 h 586"/>
                <a:gd name="T80" fmla="*/ 2147483647 w 473"/>
                <a:gd name="T81" fmla="*/ 2147483647 h 586"/>
                <a:gd name="T82" fmla="*/ 2147483647 w 473"/>
                <a:gd name="T83" fmla="*/ 2147483647 h 586"/>
                <a:gd name="T84" fmla="*/ 2147483647 w 473"/>
                <a:gd name="T85" fmla="*/ 0 h 58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73" h="586">
                  <a:moveTo>
                    <a:pt x="236" y="0"/>
                  </a:moveTo>
                  <a:lnTo>
                    <a:pt x="248" y="0"/>
                  </a:lnTo>
                  <a:lnTo>
                    <a:pt x="260" y="1"/>
                  </a:lnTo>
                  <a:lnTo>
                    <a:pt x="272" y="2"/>
                  </a:lnTo>
                  <a:lnTo>
                    <a:pt x="284" y="6"/>
                  </a:lnTo>
                  <a:lnTo>
                    <a:pt x="295" y="9"/>
                  </a:lnTo>
                  <a:lnTo>
                    <a:pt x="306" y="12"/>
                  </a:lnTo>
                  <a:lnTo>
                    <a:pt x="317" y="17"/>
                  </a:lnTo>
                  <a:lnTo>
                    <a:pt x="328" y="22"/>
                  </a:lnTo>
                  <a:lnTo>
                    <a:pt x="339" y="29"/>
                  </a:lnTo>
                  <a:lnTo>
                    <a:pt x="349" y="35"/>
                  </a:lnTo>
                  <a:lnTo>
                    <a:pt x="358" y="41"/>
                  </a:lnTo>
                  <a:lnTo>
                    <a:pt x="368" y="49"/>
                  </a:lnTo>
                  <a:lnTo>
                    <a:pt x="378" y="58"/>
                  </a:lnTo>
                  <a:lnTo>
                    <a:pt x="387" y="67"/>
                  </a:lnTo>
                  <a:lnTo>
                    <a:pt x="395" y="76"/>
                  </a:lnTo>
                  <a:lnTo>
                    <a:pt x="403" y="86"/>
                  </a:lnTo>
                  <a:lnTo>
                    <a:pt x="411" y="96"/>
                  </a:lnTo>
                  <a:lnTo>
                    <a:pt x="418" y="106"/>
                  </a:lnTo>
                  <a:lnTo>
                    <a:pt x="426" y="117"/>
                  </a:lnTo>
                  <a:lnTo>
                    <a:pt x="432" y="129"/>
                  </a:lnTo>
                  <a:lnTo>
                    <a:pt x="438" y="140"/>
                  </a:lnTo>
                  <a:lnTo>
                    <a:pt x="444" y="153"/>
                  </a:lnTo>
                  <a:lnTo>
                    <a:pt x="449" y="165"/>
                  </a:lnTo>
                  <a:lnTo>
                    <a:pt x="454" y="178"/>
                  </a:lnTo>
                  <a:lnTo>
                    <a:pt x="458" y="192"/>
                  </a:lnTo>
                  <a:lnTo>
                    <a:pt x="461" y="205"/>
                  </a:lnTo>
                  <a:lnTo>
                    <a:pt x="466" y="219"/>
                  </a:lnTo>
                  <a:lnTo>
                    <a:pt x="468" y="234"/>
                  </a:lnTo>
                  <a:lnTo>
                    <a:pt x="470" y="248"/>
                  </a:lnTo>
                  <a:lnTo>
                    <a:pt x="472" y="263"/>
                  </a:lnTo>
                  <a:lnTo>
                    <a:pt x="472" y="277"/>
                  </a:lnTo>
                  <a:lnTo>
                    <a:pt x="473" y="292"/>
                  </a:lnTo>
                  <a:lnTo>
                    <a:pt x="472" y="307"/>
                  </a:lnTo>
                  <a:lnTo>
                    <a:pt x="472" y="322"/>
                  </a:lnTo>
                  <a:lnTo>
                    <a:pt x="470" y="336"/>
                  </a:lnTo>
                  <a:lnTo>
                    <a:pt x="468" y="352"/>
                  </a:lnTo>
                  <a:lnTo>
                    <a:pt x="466" y="366"/>
                  </a:lnTo>
                  <a:lnTo>
                    <a:pt x="461" y="379"/>
                  </a:lnTo>
                  <a:lnTo>
                    <a:pt x="458" y="393"/>
                  </a:lnTo>
                  <a:lnTo>
                    <a:pt x="454" y="406"/>
                  </a:lnTo>
                  <a:lnTo>
                    <a:pt x="449" y="420"/>
                  </a:lnTo>
                  <a:lnTo>
                    <a:pt x="444" y="433"/>
                  </a:lnTo>
                  <a:lnTo>
                    <a:pt x="438" y="444"/>
                  </a:lnTo>
                  <a:lnTo>
                    <a:pt x="432" y="457"/>
                  </a:lnTo>
                  <a:lnTo>
                    <a:pt x="426" y="468"/>
                  </a:lnTo>
                  <a:lnTo>
                    <a:pt x="418" y="478"/>
                  </a:lnTo>
                  <a:lnTo>
                    <a:pt x="411" y="490"/>
                  </a:lnTo>
                  <a:lnTo>
                    <a:pt x="403" y="500"/>
                  </a:lnTo>
                  <a:lnTo>
                    <a:pt x="395" y="510"/>
                  </a:lnTo>
                  <a:lnTo>
                    <a:pt x="387" y="519"/>
                  </a:lnTo>
                  <a:lnTo>
                    <a:pt x="378" y="528"/>
                  </a:lnTo>
                  <a:lnTo>
                    <a:pt x="368" y="535"/>
                  </a:lnTo>
                  <a:lnTo>
                    <a:pt x="358" y="543"/>
                  </a:lnTo>
                  <a:lnTo>
                    <a:pt x="349" y="550"/>
                  </a:lnTo>
                  <a:lnTo>
                    <a:pt x="339" y="557"/>
                  </a:lnTo>
                  <a:lnTo>
                    <a:pt x="328" y="562"/>
                  </a:lnTo>
                  <a:lnTo>
                    <a:pt x="317" y="568"/>
                  </a:lnTo>
                  <a:lnTo>
                    <a:pt x="306" y="572"/>
                  </a:lnTo>
                  <a:lnTo>
                    <a:pt x="295" y="576"/>
                  </a:lnTo>
                  <a:lnTo>
                    <a:pt x="284" y="579"/>
                  </a:lnTo>
                  <a:lnTo>
                    <a:pt x="272" y="582"/>
                  </a:lnTo>
                  <a:lnTo>
                    <a:pt x="260" y="583"/>
                  </a:lnTo>
                  <a:lnTo>
                    <a:pt x="248" y="585"/>
                  </a:lnTo>
                  <a:lnTo>
                    <a:pt x="236" y="586"/>
                  </a:lnTo>
                  <a:lnTo>
                    <a:pt x="223" y="585"/>
                  </a:lnTo>
                  <a:lnTo>
                    <a:pt x="212" y="583"/>
                  </a:lnTo>
                  <a:lnTo>
                    <a:pt x="200" y="582"/>
                  </a:lnTo>
                  <a:lnTo>
                    <a:pt x="189" y="579"/>
                  </a:lnTo>
                  <a:lnTo>
                    <a:pt x="177" y="576"/>
                  </a:lnTo>
                  <a:lnTo>
                    <a:pt x="166" y="572"/>
                  </a:lnTo>
                  <a:lnTo>
                    <a:pt x="155" y="568"/>
                  </a:lnTo>
                  <a:lnTo>
                    <a:pt x="144" y="562"/>
                  </a:lnTo>
                  <a:lnTo>
                    <a:pt x="133" y="557"/>
                  </a:lnTo>
                  <a:lnTo>
                    <a:pt x="123" y="550"/>
                  </a:lnTo>
                  <a:lnTo>
                    <a:pt x="113" y="543"/>
                  </a:lnTo>
                  <a:lnTo>
                    <a:pt x="104" y="535"/>
                  </a:lnTo>
                  <a:lnTo>
                    <a:pt x="95" y="528"/>
                  </a:lnTo>
                  <a:lnTo>
                    <a:pt x="85" y="519"/>
                  </a:lnTo>
                  <a:lnTo>
                    <a:pt x="77" y="510"/>
                  </a:lnTo>
                  <a:lnTo>
                    <a:pt x="69" y="500"/>
                  </a:lnTo>
                  <a:lnTo>
                    <a:pt x="61" y="490"/>
                  </a:lnTo>
                  <a:lnTo>
                    <a:pt x="54" y="478"/>
                  </a:lnTo>
                  <a:lnTo>
                    <a:pt x="47" y="468"/>
                  </a:lnTo>
                  <a:lnTo>
                    <a:pt x="39" y="457"/>
                  </a:lnTo>
                  <a:lnTo>
                    <a:pt x="33" y="444"/>
                  </a:lnTo>
                  <a:lnTo>
                    <a:pt x="28" y="433"/>
                  </a:lnTo>
                  <a:lnTo>
                    <a:pt x="23" y="420"/>
                  </a:lnTo>
                  <a:lnTo>
                    <a:pt x="18" y="406"/>
                  </a:lnTo>
                  <a:lnTo>
                    <a:pt x="14" y="393"/>
                  </a:lnTo>
                  <a:lnTo>
                    <a:pt x="10" y="379"/>
                  </a:lnTo>
                  <a:lnTo>
                    <a:pt x="7" y="366"/>
                  </a:lnTo>
                  <a:lnTo>
                    <a:pt x="5" y="352"/>
                  </a:lnTo>
                  <a:lnTo>
                    <a:pt x="3" y="336"/>
                  </a:lnTo>
                  <a:lnTo>
                    <a:pt x="1" y="322"/>
                  </a:lnTo>
                  <a:lnTo>
                    <a:pt x="0" y="307"/>
                  </a:lnTo>
                  <a:lnTo>
                    <a:pt x="0" y="292"/>
                  </a:lnTo>
                  <a:lnTo>
                    <a:pt x="0" y="277"/>
                  </a:lnTo>
                  <a:lnTo>
                    <a:pt x="1" y="263"/>
                  </a:lnTo>
                  <a:lnTo>
                    <a:pt x="3" y="248"/>
                  </a:lnTo>
                  <a:lnTo>
                    <a:pt x="5" y="234"/>
                  </a:lnTo>
                  <a:lnTo>
                    <a:pt x="7" y="219"/>
                  </a:lnTo>
                  <a:lnTo>
                    <a:pt x="10" y="205"/>
                  </a:lnTo>
                  <a:lnTo>
                    <a:pt x="14" y="192"/>
                  </a:lnTo>
                  <a:lnTo>
                    <a:pt x="18" y="178"/>
                  </a:lnTo>
                  <a:lnTo>
                    <a:pt x="23" y="165"/>
                  </a:lnTo>
                  <a:lnTo>
                    <a:pt x="28" y="153"/>
                  </a:lnTo>
                  <a:lnTo>
                    <a:pt x="33" y="140"/>
                  </a:lnTo>
                  <a:lnTo>
                    <a:pt x="39" y="129"/>
                  </a:lnTo>
                  <a:lnTo>
                    <a:pt x="47" y="117"/>
                  </a:lnTo>
                  <a:lnTo>
                    <a:pt x="54" y="106"/>
                  </a:lnTo>
                  <a:lnTo>
                    <a:pt x="61" y="96"/>
                  </a:lnTo>
                  <a:lnTo>
                    <a:pt x="69" y="86"/>
                  </a:lnTo>
                  <a:lnTo>
                    <a:pt x="77" y="76"/>
                  </a:lnTo>
                  <a:lnTo>
                    <a:pt x="85" y="67"/>
                  </a:lnTo>
                  <a:lnTo>
                    <a:pt x="95" y="58"/>
                  </a:lnTo>
                  <a:lnTo>
                    <a:pt x="104" y="49"/>
                  </a:lnTo>
                  <a:lnTo>
                    <a:pt x="113" y="41"/>
                  </a:lnTo>
                  <a:lnTo>
                    <a:pt x="123" y="35"/>
                  </a:lnTo>
                  <a:lnTo>
                    <a:pt x="133" y="29"/>
                  </a:lnTo>
                  <a:lnTo>
                    <a:pt x="144" y="22"/>
                  </a:lnTo>
                  <a:lnTo>
                    <a:pt x="155" y="17"/>
                  </a:lnTo>
                  <a:lnTo>
                    <a:pt x="166" y="12"/>
                  </a:lnTo>
                  <a:lnTo>
                    <a:pt x="177" y="9"/>
                  </a:lnTo>
                  <a:lnTo>
                    <a:pt x="189" y="6"/>
                  </a:lnTo>
                  <a:lnTo>
                    <a:pt x="200" y="2"/>
                  </a:lnTo>
                  <a:lnTo>
                    <a:pt x="212" y="1"/>
                  </a:lnTo>
                  <a:lnTo>
                    <a:pt x="223" y="0"/>
                  </a:lnTo>
                  <a:lnTo>
                    <a:pt x="236" y="0"/>
                  </a:lnTo>
                  <a:close/>
                </a:path>
              </a:pathLst>
            </a:custGeom>
            <a:solidFill>
              <a:srgbClr val="FFCC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51" name="Freeform 130"/>
            <p:cNvSpPr>
              <a:spLocks noEditPoints="1"/>
            </p:cNvSpPr>
            <p:nvPr/>
          </p:nvSpPr>
          <p:spPr bwMode="auto">
            <a:xfrm>
              <a:off x="6854825" y="2168525"/>
              <a:ext cx="254000" cy="195263"/>
            </a:xfrm>
            <a:custGeom>
              <a:avLst/>
              <a:gdLst>
                <a:gd name="T0" fmla="*/ 2147483647 w 479"/>
                <a:gd name="T1" fmla="*/ 2147483647 h 592"/>
                <a:gd name="T2" fmla="*/ 2147483647 w 479"/>
                <a:gd name="T3" fmla="*/ 2147483647 h 592"/>
                <a:gd name="T4" fmla="*/ 2147483647 w 479"/>
                <a:gd name="T5" fmla="*/ 2147483647 h 592"/>
                <a:gd name="T6" fmla="*/ 2147483647 w 479"/>
                <a:gd name="T7" fmla="*/ 2147483647 h 592"/>
                <a:gd name="T8" fmla="*/ 2147483647 w 479"/>
                <a:gd name="T9" fmla="*/ 2147483647 h 592"/>
                <a:gd name="T10" fmla="*/ 2147483647 w 479"/>
                <a:gd name="T11" fmla="*/ 2147483647 h 592"/>
                <a:gd name="T12" fmla="*/ 2147483647 w 479"/>
                <a:gd name="T13" fmla="*/ 0 h 592"/>
                <a:gd name="T14" fmla="*/ 2147483647 w 479"/>
                <a:gd name="T15" fmla="*/ 2147483647 h 592"/>
                <a:gd name="T16" fmla="*/ 2147483647 w 479"/>
                <a:gd name="T17" fmla="*/ 2147483647 h 592"/>
                <a:gd name="T18" fmla="*/ 2147483647 w 479"/>
                <a:gd name="T19" fmla="*/ 2147483647 h 592"/>
                <a:gd name="T20" fmla="*/ 2147483647 w 479"/>
                <a:gd name="T21" fmla="*/ 2147483647 h 592"/>
                <a:gd name="T22" fmla="*/ 2147483647 w 479"/>
                <a:gd name="T23" fmla="*/ 2147483647 h 592"/>
                <a:gd name="T24" fmla="*/ 2147483647 w 479"/>
                <a:gd name="T25" fmla="*/ 2147483647 h 592"/>
                <a:gd name="T26" fmla="*/ 2147483647 w 479"/>
                <a:gd name="T27" fmla="*/ 2147483647 h 592"/>
                <a:gd name="T28" fmla="*/ 2147483647 w 479"/>
                <a:gd name="T29" fmla="*/ 2147483647 h 592"/>
                <a:gd name="T30" fmla="*/ 2147483647 w 479"/>
                <a:gd name="T31" fmla="*/ 2147483647 h 592"/>
                <a:gd name="T32" fmla="*/ 2147483647 w 479"/>
                <a:gd name="T33" fmla="*/ 2147483647 h 592"/>
                <a:gd name="T34" fmla="*/ 2147483647 w 479"/>
                <a:gd name="T35" fmla="*/ 2147483647 h 592"/>
                <a:gd name="T36" fmla="*/ 2147483647 w 479"/>
                <a:gd name="T37" fmla="*/ 2147483647 h 592"/>
                <a:gd name="T38" fmla="*/ 2147483647 w 479"/>
                <a:gd name="T39" fmla="*/ 2147483647 h 592"/>
                <a:gd name="T40" fmla="*/ 2147483647 w 479"/>
                <a:gd name="T41" fmla="*/ 2147483647 h 592"/>
                <a:gd name="T42" fmla="*/ 2147483647 w 479"/>
                <a:gd name="T43" fmla="*/ 2147483647 h 592"/>
                <a:gd name="T44" fmla="*/ 2147483647 w 479"/>
                <a:gd name="T45" fmla="*/ 2147483647 h 592"/>
                <a:gd name="T46" fmla="*/ 2147483647 w 479"/>
                <a:gd name="T47" fmla="*/ 2147483647 h 592"/>
                <a:gd name="T48" fmla="*/ 2147483647 w 479"/>
                <a:gd name="T49" fmla="*/ 2147483647 h 592"/>
                <a:gd name="T50" fmla="*/ 2147483647 w 479"/>
                <a:gd name="T51" fmla="*/ 2147483647 h 592"/>
                <a:gd name="T52" fmla="*/ 2147483647 w 479"/>
                <a:gd name="T53" fmla="*/ 2147483647 h 592"/>
                <a:gd name="T54" fmla="*/ 2147483647 w 479"/>
                <a:gd name="T55" fmla="*/ 2147483647 h 592"/>
                <a:gd name="T56" fmla="*/ 2147483647 w 479"/>
                <a:gd name="T57" fmla="*/ 2147483647 h 592"/>
                <a:gd name="T58" fmla="*/ 2147483647 w 479"/>
                <a:gd name="T59" fmla="*/ 2147483647 h 592"/>
                <a:gd name="T60" fmla="*/ 2147483647 w 479"/>
                <a:gd name="T61" fmla="*/ 2147483647 h 592"/>
                <a:gd name="T62" fmla="*/ 2147483647 w 479"/>
                <a:gd name="T63" fmla="*/ 2147483647 h 592"/>
                <a:gd name="T64" fmla="*/ 2147483647 w 479"/>
                <a:gd name="T65" fmla="*/ 2147483647 h 592"/>
                <a:gd name="T66" fmla="*/ 2147483647 w 479"/>
                <a:gd name="T67" fmla="*/ 2147483647 h 592"/>
                <a:gd name="T68" fmla="*/ 2147483647 w 479"/>
                <a:gd name="T69" fmla="*/ 2147483647 h 592"/>
                <a:gd name="T70" fmla="*/ 2147483647 w 479"/>
                <a:gd name="T71" fmla="*/ 2147483647 h 592"/>
                <a:gd name="T72" fmla="*/ 2147483647 w 479"/>
                <a:gd name="T73" fmla="*/ 2147483647 h 592"/>
                <a:gd name="T74" fmla="*/ 2147483647 w 479"/>
                <a:gd name="T75" fmla="*/ 2147483647 h 592"/>
                <a:gd name="T76" fmla="*/ 2147483647 w 479"/>
                <a:gd name="T77" fmla="*/ 2147483647 h 592"/>
                <a:gd name="T78" fmla="*/ 2147483647 w 479"/>
                <a:gd name="T79" fmla="*/ 2147483647 h 592"/>
                <a:gd name="T80" fmla="*/ 2147483647 w 479"/>
                <a:gd name="T81" fmla="*/ 2147483647 h 592"/>
                <a:gd name="T82" fmla="*/ 2147483647 w 479"/>
                <a:gd name="T83" fmla="*/ 2147483647 h 592"/>
                <a:gd name="T84" fmla="*/ 2147483647 w 479"/>
                <a:gd name="T85" fmla="*/ 2147483647 h 592"/>
                <a:gd name="T86" fmla="*/ 2147483647 w 479"/>
                <a:gd name="T87" fmla="*/ 2147483647 h 592"/>
                <a:gd name="T88" fmla="*/ 2147483647 w 479"/>
                <a:gd name="T89" fmla="*/ 2147483647 h 592"/>
                <a:gd name="T90" fmla="*/ 2147483647 w 479"/>
                <a:gd name="T91" fmla="*/ 2147483647 h 592"/>
                <a:gd name="T92" fmla="*/ 2147483647 w 479"/>
                <a:gd name="T93" fmla="*/ 2147483647 h 592"/>
                <a:gd name="T94" fmla="*/ 2147483647 w 479"/>
                <a:gd name="T95" fmla="*/ 2147483647 h 592"/>
                <a:gd name="T96" fmla="*/ 0 w 479"/>
                <a:gd name="T97" fmla="*/ 2147483647 h 592"/>
                <a:gd name="T98" fmla="*/ 2147483647 w 479"/>
                <a:gd name="T99" fmla="*/ 2147483647 h 592"/>
                <a:gd name="T100" fmla="*/ 2147483647 w 479"/>
                <a:gd name="T101" fmla="*/ 2147483647 h 592"/>
                <a:gd name="T102" fmla="*/ 2147483647 w 479"/>
                <a:gd name="T103" fmla="*/ 2147483647 h 592"/>
                <a:gd name="T104" fmla="*/ 2147483647 w 479"/>
                <a:gd name="T105" fmla="*/ 2147483647 h 592"/>
                <a:gd name="T106" fmla="*/ 2147483647 w 479"/>
                <a:gd name="T107" fmla="*/ 2147483647 h 592"/>
                <a:gd name="T108" fmla="*/ 2147483647 w 479"/>
                <a:gd name="T109" fmla="*/ 2147483647 h 592"/>
                <a:gd name="T110" fmla="*/ 2147483647 w 479"/>
                <a:gd name="T111" fmla="*/ 2147483647 h 59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79" h="592">
                  <a:moveTo>
                    <a:pt x="240" y="0"/>
                  </a:moveTo>
                  <a:lnTo>
                    <a:pt x="252" y="1"/>
                  </a:lnTo>
                  <a:lnTo>
                    <a:pt x="264" y="1"/>
                  </a:lnTo>
                  <a:lnTo>
                    <a:pt x="276" y="4"/>
                  </a:lnTo>
                  <a:lnTo>
                    <a:pt x="289" y="6"/>
                  </a:lnTo>
                  <a:lnTo>
                    <a:pt x="300" y="10"/>
                  </a:lnTo>
                  <a:lnTo>
                    <a:pt x="311" y="14"/>
                  </a:lnTo>
                  <a:lnTo>
                    <a:pt x="322" y="18"/>
                  </a:lnTo>
                  <a:lnTo>
                    <a:pt x="333" y="24"/>
                  </a:lnTo>
                  <a:lnTo>
                    <a:pt x="344" y="29"/>
                  </a:lnTo>
                  <a:lnTo>
                    <a:pt x="354" y="35"/>
                  </a:lnTo>
                  <a:lnTo>
                    <a:pt x="364" y="43"/>
                  </a:lnTo>
                  <a:lnTo>
                    <a:pt x="373" y="50"/>
                  </a:lnTo>
                  <a:lnTo>
                    <a:pt x="383" y="59"/>
                  </a:lnTo>
                  <a:lnTo>
                    <a:pt x="392" y="68"/>
                  </a:lnTo>
                  <a:lnTo>
                    <a:pt x="401" y="77"/>
                  </a:lnTo>
                  <a:lnTo>
                    <a:pt x="409" y="87"/>
                  </a:lnTo>
                  <a:lnTo>
                    <a:pt x="405" y="91"/>
                  </a:lnTo>
                  <a:lnTo>
                    <a:pt x="397" y="82"/>
                  </a:lnTo>
                  <a:lnTo>
                    <a:pt x="389" y="73"/>
                  </a:lnTo>
                  <a:lnTo>
                    <a:pt x="380" y="64"/>
                  </a:lnTo>
                  <a:lnTo>
                    <a:pt x="370" y="56"/>
                  </a:lnTo>
                  <a:lnTo>
                    <a:pt x="361" y="49"/>
                  </a:lnTo>
                  <a:lnTo>
                    <a:pt x="351" y="42"/>
                  </a:lnTo>
                  <a:lnTo>
                    <a:pt x="342" y="35"/>
                  </a:lnTo>
                  <a:lnTo>
                    <a:pt x="331" y="29"/>
                  </a:lnTo>
                  <a:lnTo>
                    <a:pt x="320" y="24"/>
                  </a:lnTo>
                  <a:lnTo>
                    <a:pt x="309" y="20"/>
                  </a:lnTo>
                  <a:lnTo>
                    <a:pt x="299" y="16"/>
                  </a:lnTo>
                  <a:lnTo>
                    <a:pt x="287" y="13"/>
                  </a:lnTo>
                  <a:lnTo>
                    <a:pt x="275" y="10"/>
                  </a:lnTo>
                  <a:lnTo>
                    <a:pt x="264" y="9"/>
                  </a:lnTo>
                  <a:lnTo>
                    <a:pt x="252" y="7"/>
                  </a:lnTo>
                  <a:lnTo>
                    <a:pt x="240" y="6"/>
                  </a:lnTo>
                  <a:lnTo>
                    <a:pt x="240" y="0"/>
                  </a:lnTo>
                  <a:close/>
                  <a:moveTo>
                    <a:pt x="409" y="87"/>
                  </a:moveTo>
                  <a:lnTo>
                    <a:pt x="417" y="97"/>
                  </a:lnTo>
                  <a:lnTo>
                    <a:pt x="425" y="107"/>
                  </a:lnTo>
                  <a:lnTo>
                    <a:pt x="432" y="119"/>
                  </a:lnTo>
                  <a:lnTo>
                    <a:pt x="438" y="130"/>
                  </a:lnTo>
                  <a:lnTo>
                    <a:pt x="445" y="143"/>
                  </a:lnTo>
                  <a:lnTo>
                    <a:pt x="450" y="156"/>
                  </a:lnTo>
                  <a:lnTo>
                    <a:pt x="455" y="168"/>
                  </a:lnTo>
                  <a:lnTo>
                    <a:pt x="460" y="181"/>
                  </a:lnTo>
                  <a:lnTo>
                    <a:pt x="464" y="195"/>
                  </a:lnTo>
                  <a:lnTo>
                    <a:pt x="468" y="209"/>
                  </a:lnTo>
                  <a:lnTo>
                    <a:pt x="472" y="223"/>
                  </a:lnTo>
                  <a:lnTo>
                    <a:pt x="475" y="237"/>
                  </a:lnTo>
                  <a:lnTo>
                    <a:pt x="477" y="252"/>
                  </a:lnTo>
                  <a:lnTo>
                    <a:pt x="478" y="266"/>
                  </a:lnTo>
                  <a:lnTo>
                    <a:pt x="479" y="281"/>
                  </a:lnTo>
                  <a:lnTo>
                    <a:pt x="479" y="296"/>
                  </a:lnTo>
                  <a:lnTo>
                    <a:pt x="474" y="296"/>
                  </a:lnTo>
                  <a:lnTo>
                    <a:pt x="474" y="281"/>
                  </a:lnTo>
                  <a:lnTo>
                    <a:pt x="473" y="267"/>
                  </a:lnTo>
                  <a:lnTo>
                    <a:pt x="472" y="252"/>
                  </a:lnTo>
                  <a:lnTo>
                    <a:pt x="470" y="238"/>
                  </a:lnTo>
                  <a:lnTo>
                    <a:pt x="466" y="224"/>
                  </a:lnTo>
                  <a:lnTo>
                    <a:pt x="463" y="210"/>
                  </a:lnTo>
                  <a:lnTo>
                    <a:pt x="459" y="197"/>
                  </a:lnTo>
                  <a:lnTo>
                    <a:pt x="455" y="183"/>
                  </a:lnTo>
                  <a:lnTo>
                    <a:pt x="451" y="171"/>
                  </a:lnTo>
                  <a:lnTo>
                    <a:pt x="446" y="158"/>
                  </a:lnTo>
                  <a:lnTo>
                    <a:pt x="440" y="147"/>
                  </a:lnTo>
                  <a:lnTo>
                    <a:pt x="434" y="134"/>
                  </a:lnTo>
                  <a:lnTo>
                    <a:pt x="428" y="123"/>
                  </a:lnTo>
                  <a:lnTo>
                    <a:pt x="420" y="113"/>
                  </a:lnTo>
                  <a:lnTo>
                    <a:pt x="413" y="101"/>
                  </a:lnTo>
                  <a:lnTo>
                    <a:pt x="405" y="91"/>
                  </a:lnTo>
                  <a:lnTo>
                    <a:pt x="409" y="87"/>
                  </a:lnTo>
                  <a:close/>
                  <a:moveTo>
                    <a:pt x="479" y="296"/>
                  </a:moveTo>
                  <a:lnTo>
                    <a:pt x="479" y="311"/>
                  </a:lnTo>
                  <a:lnTo>
                    <a:pt x="478" y="326"/>
                  </a:lnTo>
                  <a:lnTo>
                    <a:pt x="477" y="342"/>
                  </a:lnTo>
                  <a:lnTo>
                    <a:pt x="475" y="356"/>
                  </a:lnTo>
                  <a:lnTo>
                    <a:pt x="472" y="371"/>
                  </a:lnTo>
                  <a:lnTo>
                    <a:pt x="468" y="385"/>
                  </a:lnTo>
                  <a:lnTo>
                    <a:pt x="464" y="399"/>
                  </a:lnTo>
                  <a:lnTo>
                    <a:pt x="460" y="411"/>
                  </a:lnTo>
                  <a:lnTo>
                    <a:pt x="455" y="425"/>
                  </a:lnTo>
                  <a:lnTo>
                    <a:pt x="450" y="438"/>
                  </a:lnTo>
                  <a:lnTo>
                    <a:pt x="445" y="451"/>
                  </a:lnTo>
                  <a:lnTo>
                    <a:pt x="438" y="462"/>
                  </a:lnTo>
                  <a:lnTo>
                    <a:pt x="432" y="473"/>
                  </a:lnTo>
                  <a:lnTo>
                    <a:pt x="425" y="485"/>
                  </a:lnTo>
                  <a:lnTo>
                    <a:pt x="417" y="496"/>
                  </a:lnTo>
                  <a:lnTo>
                    <a:pt x="409" y="506"/>
                  </a:lnTo>
                  <a:lnTo>
                    <a:pt x="405" y="501"/>
                  </a:lnTo>
                  <a:lnTo>
                    <a:pt x="413" y="491"/>
                  </a:lnTo>
                  <a:lnTo>
                    <a:pt x="420" y="481"/>
                  </a:lnTo>
                  <a:lnTo>
                    <a:pt x="428" y="470"/>
                  </a:lnTo>
                  <a:lnTo>
                    <a:pt x="434" y="458"/>
                  </a:lnTo>
                  <a:lnTo>
                    <a:pt x="440" y="447"/>
                  </a:lnTo>
                  <a:lnTo>
                    <a:pt x="446" y="434"/>
                  </a:lnTo>
                  <a:lnTo>
                    <a:pt x="451" y="421"/>
                  </a:lnTo>
                  <a:lnTo>
                    <a:pt x="455" y="409"/>
                  </a:lnTo>
                  <a:lnTo>
                    <a:pt x="459" y="396"/>
                  </a:lnTo>
                  <a:lnTo>
                    <a:pt x="463" y="382"/>
                  </a:lnTo>
                  <a:lnTo>
                    <a:pt x="466" y="368"/>
                  </a:lnTo>
                  <a:lnTo>
                    <a:pt x="470" y="354"/>
                  </a:lnTo>
                  <a:lnTo>
                    <a:pt x="472" y="340"/>
                  </a:lnTo>
                  <a:lnTo>
                    <a:pt x="473" y="326"/>
                  </a:lnTo>
                  <a:lnTo>
                    <a:pt x="474" y="311"/>
                  </a:lnTo>
                  <a:lnTo>
                    <a:pt x="474" y="296"/>
                  </a:lnTo>
                  <a:lnTo>
                    <a:pt x="479" y="296"/>
                  </a:lnTo>
                  <a:close/>
                  <a:moveTo>
                    <a:pt x="409" y="506"/>
                  </a:moveTo>
                  <a:lnTo>
                    <a:pt x="401" y="515"/>
                  </a:lnTo>
                  <a:lnTo>
                    <a:pt x="392" y="525"/>
                  </a:lnTo>
                  <a:lnTo>
                    <a:pt x="383" y="534"/>
                  </a:lnTo>
                  <a:lnTo>
                    <a:pt x="373" y="542"/>
                  </a:lnTo>
                  <a:lnTo>
                    <a:pt x="364" y="549"/>
                  </a:lnTo>
                  <a:lnTo>
                    <a:pt x="354" y="557"/>
                  </a:lnTo>
                  <a:lnTo>
                    <a:pt x="344" y="563"/>
                  </a:lnTo>
                  <a:lnTo>
                    <a:pt x="333" y="570"/>
                  </a:lnTo>
                  <a:lnTo>
                    <a:pt x="322" y="575"/>
                  </a:lnTo>
                  <a:lnTo>
                    <a:pt x="311" y="580"/>
                  </a:lnTo>
                  <a:lnTo>
                    <a:pt x="300" y="583"/>
                  </a:lnTo>
                  <a:lnTo>
                    <a:pt x="289" y="586"/>
                  </a:lnTo>
                  <a:lnTo>
                    <a:pt x="276" y="590"/>
                  </a:lnTo>
                  <a:lnTo>
                    <a:pt x="264" y="591"/>
                  </a:lnTo>
                  <a:lnTo>
                    <a:pt x="252" y="592"/>
                  </a:lnTo>
                  <a:lnTo>
                    <a:pt x="240" y="592"/>
                  </a:lnTo>
                  <a:lnTo>
                    <a:pt x="240" y="586"/>
                  </a:lnTo>
                  <a:lnTo>
                    <a:pt x="252" y="586"/>
                  </a:lnTo>
                  <a:lnTo>
                    <a:pt x="264" y="585"/>
                  </a:lnTo>
                  <a:lnTo>
                    <a:pt x="275" y="582"/>
                  </a:lnTo>
                  <a:lnTo>
                    <a:pt x="287" y="580"/>
                  </a:lnTo>
                  <a:lnTo>
                    <a:pt x="299" y="577"/>
                  </a:lnTo>
                  <a:lnTo>
                    <a:pt x="309" y="573"/>
                  </a:lnTo>
                  <a:lnTo>
                    <a:pt x="320" y="568"/>
                  </a:lnTo>
                  <a:lnTo>
                    <a:pt x="331" y="563"/>
                  </a:lnTo>
                  <a:lnTo>
                    <a:pt x="342" y="557"/>
                  </a:lnTo>
                  <a:lnTo>
                    <a:pt x="351" y="551"/>
                  </a:lnTo>
                  <a:lnTo>
                    <a:pt x="361" y="544"/>
                  </a:lnTo>
                  <a:lnTo>
                    <a:pt x="370" y="537"/>
                  </a:lnTo>
                  <a:lnTo>
                    <a:pt x="380" y="529"/>
                  </a:lnTo>
                  <a:lnTo>
                    <a:pt x="389" y="520"/>
                  </a:lnTo>
                  <a:lnTo>
                    <a:pt x="397" y="511"/>
                  </a:lnTo>
                  <a:lnTo>
                    <a:pt x="405" y="501"/>
                  </a:lnTo>
                  <a:lnTo>
                    <a:pt x="409" y="506"/>
                  </a:lnTo>
                  <a:close/>
                  <a:moveTo>
                    <a:pt x="240" y="592"/>
                  </a:moveTo>
                  <a:lnTo>
                    <a:pt x="227" y="592"/>
                  </a:lnTo>
                  <a:lnTo>
                    <a:pt x="215" y="591"/>
                  </a:lnTo>
                  <a:lnTo>
                    <a:pt x="204" y="590"/>
                  </a:lnTo>
                  <a:lnTo>
                    <a:pt x="192" y="586"/>
                  </a:lnTo>
                  <a:lnTo>
                    <a:pt x="180" y="583"/>
                  </a:lnTo>
                  <a:lnTo>
                    <a:pt x="169" y="580"/>
                  </a:lnTo>
                  <a:lnTo>
                    <a:pt x="158" y="575"/>
                  </a:lnTo>
                  <a:lnTo>
                    <a:pt x="147" y="570"/>
                  </a:lnTo>
                  <a:lnTo>
                    <a:pt x="136" y="563"/>
                  </a:lnTo>
                  <a:lnTo>
                    <a:pt x="126" y="557"/>
                  </a:lnTo>
                  <a:lnTo>
                    <a:pt x="116" y="549"/>
                  </a:lnTo>
                  <a:lnTo>
                    <a:pt x="107" y="542"/>
                  </a:lnTo>
                  <a:lnTo>
                    <a:pt x="97" y="534"/>
                  </a:lnTo>
                  <a:lnTo>
                    <a:pt x="88" y="525"/>
                  </a:lnTo>
                  <a:lnTo>
                    <a:pt x="79" y="515"/>
                  </a:lnTo>
                  <a:lnTo>
                    <a:pt x="71" y="506"/>
                  </a:lnTo>
                  <a:lnTo>
                    <a:pt x="75" y="501"/>
                  </a:lnTo>
                  <a:lnTo>
                    <a:pt x="83" y="511"/>
                  </a:lnTo>
                  <a:lnTo>
                    <a:pt x="91" y="520"/>
                  </a:lnTo>
                  <a:lnTo>
                    <a:pt x="100" y="529"/>
                  </a:lnTo>
                  <a:lnTo>
                    <a:pt x="109" y="537"/>
                  </a:lnTo>
                  <a:lnTo>
                    <a:pt x="119" y="544"/>
                  </a:lnTo>
                  <a:lnTo>
                    <a:pt x="128" y="551"/>
                  </a:lnTo>
                  <a:lnTo>
                    <a:pt x="138" y="557"/>
                  </a:lnTo>
                  <a:lnTo>
                    <a:pt x="149" y="563"/>
                  </a:lnTo>
                  <a:lnTo>
                    <a:pt x="160" y="568"/>
                  </a:lnTo>
                  <a:lnTo>
                    <a:pt x="170" y="573"/>
                  </a:lnTo>
                  <a:lnTo>
                    <a:pt x="181" y="577"/>
                  </a:lnTo>
                  <a:lnTo>
                    <a:pt x="193" y="580"/>
                  </a:lnTo>
                  <a:lnTo>
                    <a:pt x="205" y="582"/>
                  </a:lnTo>
                  <a:lnTo>
                    <a:pt x="216" y="585"/>
                  </a:lnTo>
                  <a:lnTo>
                    <a:pt x="228" y="586"/>
                  </a:lnTo>
                  <a:lnTo>
                    <a:pt x="240" y="586"/>
                  </a:lnTo>
                  <a:lnTo>
                    <a:pt x="240" y="592"/>
                  </a:lnTo>
                  <a:close/>
                  <a:moveTo>
                    <a:pt x="71" y="506"/>
                  </a:moveTo>
                  <a:lnTo>
                    <a:pt x="63" y="496"/>
                  </a:lnTo>
                  <a:lnTo>
                    <a:pt x="56" y="485"/>
                  </a:lnTo>
                  <a:lnTo>
                    <a:pt x="48" y="473"/>
                  </a:lnTo>
                  <a:lnTo>
                    <a:pt x="41" y="462"/>
                  </a:lnTo>
                  <a:lnTo>
                    <a:pt x="35" y="451"/>
                  </a:lnTo>
                  <a:lnTo>
                    <a:pt x="30" y="438"/>
                  </a:lnTo>
                  <a:lnTo>
                    <a:pt x="24" y="425"/>
                  </a:lnTo>
                  <a:lnTo>
                    <a:pt x="20" y="411"/>
                  </a:lnTo>
                  <a:lnTo>
                    <a:pt x="16" y="399"/>
                  </a:lnTo>
                  <a:lnTo>
                    <a:pt x="12" y="385"/>
                  </a:lnTo>
                  <a:lnTo>
                    <a:pt x="9" y="371"/>
                  </a:lnTo>
                  <a:lnTo>
                    <a:pt x="6" y="356"/>
                  </a:lnTo>
                  <a:lnTo>
                    <a:pt x="4" y="342"/>
                  </a:lnTo>
                  <a:lnTo>
                    <a:pt x="3" y="326"/>
                  </a:lnTo>
                  <a:lnTo>
                    <a:pt x="1" y="311"/>
                  </a:lnTo>
                  <a:lnTo>
                    <a:pt x="0" y="296"/>
                  </a:lnTo>
                  <a:lnTo>
                    <a:pt x="7" y="296"/>
                  </a:lnTo>
                  <a:lnTo>
                    <a:pt x="7" y="311"/>
                  </a:lnTo>
                  <a:lnTo>
                    <a:pt x="8" y="326"/>
                  </a:lnTo>
                  <a:lnTo>
                    <a:pt x="9" y="340"/>
                  </a:lnTo>
                  <a:lnTo>
                    <a:pt x="11" y="354"/>
                  </a:lnTo>
                  <a:lnTo>
                    <a:pt x="14" y="368"/>
                  </a:lnTo>
                  <a:lnTo>
                    <a:pt x="17" y="382"/>
                  </a:lnTo>
                  <a:lnTo>
                    <a:pt x="20" y="396"/>
                  </a:lnTo>
                  <a:lnTo>
                    <a:pt x="25" y="409"/>
                  </a:lnTo>
                  <a:lnTo>
                    <a:pt x="29" y="421"/>
                  </a:lnTo>
                  <a:lnTo>
                    <a:pt x="34" y="434"/>
                  </a:lnTo>
                  <a:lnTo>
                    <a:pt x="40" y="447"/>
                  </a:lnTo>
                  <a:lnTo>
                    <a:pt x="46" y="458"/>
                  </a:lnTo>
                  <a:lnTo>
                    <a:pt x="53" y="470"/>
                  </a:lnTo>
                  <a:lnTo>
                    <a:pt x="60" y="481"/>
                  </a:lnTo>
                  <a:lnTo>
                    <a:pt x="67" y="491"/>
                  </a:lnTo>
                  <a:lnTo>
                    <a:pt x="75" y="501"/>
                  </a:lnTo>
                  <a:lnTo>
                    <a:pt x="71" y="506"/>
                  </a:lnTo>
                  <a:close/>
                  <a:moveTo>
                    <a:pt x="0" y="296"/>
                  </a:moveTo>
                  <a:lnTo>
                    <a:pt x="1" y="281"/>
                  </a:lnTo>
                  <a:lnTo>
                    <a:pt x="3" y="266"/>
                  </a:lnTo>
                  <a:lnTo>
                    <a:pt x="4" y="252"/>
                  </a:lnTo>
                  <a:lnTo>
                    <a:pt x="6" y="237"/>
                  </a:lnTo>
                  <a:lnTo>
                    <a:pt x="9" y="223"/>
                  </a:lnTo>
                  <a:lnTo>
                    <a:pt x="12" y="209"/>
                  </a:lnTo>
                  <a:lnTo>
                    <a:pt x="16" y="195"/>
                  </a:lnTo>
                  <a:lnTo>
                    <a:pt x="20" y="181"/>
                  </a:lnTo>
                  <a:lnTo>
                    <a:pt x="24" y="168"/>
                  </a:lnTo>
                  <a:lnTo>
                    <a:pt x="30" y="156"/>
                  </a:lnTo>
                  <a:lnTo>
                    <a:pt x="35" y="143"/>
                  </a:lnTo>
                  <a:lnTo>
                    <a:pt x="41" y="130"/>
                  </a:lnTo>
                  <a:lnTo>
                    <a:pt x="48" y="119"/>
                  </a:lnTo>
                  <a:lnTo>
                    <a:pt x="56" y="107"/>
                  </a:lnTo>
                  <a:lnTo>
                    <a:pt x="63" y="97"/>
                  </a:lnTo>
                  <a:lnTo>
                    <a:pt x="71" y="87"/>
                  </a:lnTo>
                  <a:lnTo>
                    <a:pt x="75" y="91"/>
                  </a:lnTo>
                  <a:lnTo>
                    <a:pt x="67" y="101"/>
                  </a:lnTo>
                  <a:lnTo>
                    <a:pt x="60" y="113"/>
                  </a:lnTo>
                  <a:lnTo>
                    <a:pt x="53" y="123"/>
                  </a:lnTo>
                  <a:lnTo>
                    <a:pt x="46" y="134"/>
                  </a:lnTo>
                  <a:lnTo>
                    <a:pt x="40" y="147"/>
                  </a:lnTo>
                  <a:lnTo>
                    <a:pt x="34" y="158"/>
                  </a:lnTo>
                  <a:lnTo>
                    <a:pt x="29" y="171"/>
                  </a:lnTo>
                  <a:lnTo>
                    <a:pt x="25" y="183"/>
                  </a:lnTo>
                  <a:lnTo>
                    <a:pt x="20" y="197"/>
                  </a:lnTo>
                  <a:lnTo>
                    <a:pt x="17" y="210"/>
                  </a:lnTo>
                  <a:lnTo>
                    <a:pt x="14" y="224"/>
                  </a:lnTo>
                  <a:lnTo>
                    <a:pt x="11" y="238"/>
                  </a:lnTo>
                  <a:lnTo>
                    <a:pt x="9" y="252"/>
                  </a:lnTo>
                  <a:lnTo>
                    <a:pt x="8" y="267"/>
                  </a:lnTo>
                  <a:lnTo>
                    <a:pt x="7" y="281"/>
                  </a:lnTo>
                  <a:lnTo>
                    <a:pt x="7" y="296"/>
                  </a:lnTo>
                  <a:lnTo>
                    <a:pt x="0" y="296"/>
                  </a:lnTo>
                  <a:close/>
                  <a:moveTo>
                    <a:pt x="71" y="87"/>
                  </a:moveTo>
                  <a:lnTo>
                    <a:pt x="79" y="77"/>
                  </a:lnTo>
                  <a:lnTo>
                    <a:pt x="88" y="68"/>
                  </a:lnTo>
                  <a:lnTo>
                    <a:pt x="97" y="59"/>
                  </a:lnTo>
                  <a:lnTo>
                    <a:pt x="107" y="50"/>
                  </a:lnTo>
                  <a:lnTo>
                    <a:pt x="116" y="43"/>
                  </a:lnTo>
                  <a:lnTo>
                    <a:pt x="126" y="35"/>
                  </a:lnTo>
                  <a:lnTo>
                    <a:pt x="136" y="29"/>
                  </a:lnTo>
                  <a:lnTo>
                    <a:pt x="147" y="24"/>
                  </a:lnTo>
                  <a:lnTo>
                    <a:pt x="158" y="18"/>
                  </a:lnTo>
                  <a:lnTo>
                    <a:pt x="169" y="14"/>
                  </a:lnTo>
                  <a:lnTo>
                    <a:pt x="180" y="10"/>
                  </a:lnTo>
                  <a:lnTo>
                    <a:pt x="192" y="6"/>
                  </a:lnTo>
                  <a:lnTo>
                    <a:pt x="204" y="4"/>
                  </a:lnTo>
                  <a:lnTo>
                    <a:pt x="215" y="1"/>
                  </a:lnTo>
                  <a:lnTo>
                    <a:pt x="227" y="1"/>
                  </a:lnTo>
                  <a:lnTo>
                    <a:pt x="240" y="0"/>
                  </a:lnTo>
                  <a:lnTo>
                    <a:pt x="240" y="6"/>
                  </a:lnTo>
                  <a:lnTo>
                    <a:pt x="228" y="7"/>
                  </a:lnTo>
                  <a:lnTo>
                    <a:pt x="216" y="9"/>
                  </a:lnTo>
                  <a:lnTo>
                    <a:pt x="205" y="10"/>
                  </a:lnTo>
                  <a:lnTo>
                    <a:pt x="193" y="13"/>
                  </a:lnTo>
                  <a:lnTo>
                    <a:pt x="181" y="16"/>
                  </a:lnTo>
                  <a:lnTo>
                    <a:pt x="170" y="20"/>
                  </a:lnTo>
                  <a:lnTo>
                    <a:pt x="160" y="24"/>
                  </a:lnTo>
                  <a:lnTo>
                    <a:pt x="149" y="29"/>
                  </a:lnTo>
                  <a:lnTo>
                    <a:pt x="138" y="35"/>
                  </a:lnTo>
                  <a:lnTo>
                    <a:pt x="128" y="42"/>
                  </a:lnTo>
                  <a:lnTo>
                    <a:pt x="119" y="49"/>
                  </a:lnTo>
                  <a:lnTo>
                    <a:pt x="109" y="56"/>
                  </a:lnTo>
                  <a:lnTo>
                    <a:pt x="100" y="64"/>
                  </a:lnTo>
                  <a:lnTo>
                    <a:pt x="91" y="73"/>
                  </a:lnTo>
                  <a:lnTo>
                    <a:pt x="83" y="82"/>
                  </a:lnTo>
                  <a:lnTo>
                    <a:pt x="75" y="91"/>
                  </a:lnTo>
                  <a:lnTo>
                    <a:pt x="71" y="87"/>
                  </a:lnTo>
                  <a:close/>
                </a:path>
              </a:pathLst>
            </a:custGeom>
            <a:solidFill>
              <a:srgbClr val="3734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53" name="Freeform 131"/>
            <p:cNvSpPr>
              <a:spLocks/>
            </p:cNvSpPr>
            <p:nvPr/>
          </p:nvSpPr>
          <p:spPr bwMode="auto">
            <a:xfrm>
              <a:off x="6858000" y="1849438"/>
              <a:ext cx="249238" cy="192087"/>
            </a:xfrm>
            <a:custGeom>
              <a:avLst/>
              <a:gdLst>
                <a:gd name="T0" fmla="*/ 2147483647 w 473"/>
                <a:gd name="T1" fmla="*/ 2147483647 h 586"/>
                <a:gd name="T2" fmla="*/ 2147483647 w 473"/>
                <a:gd name="T3" fmla="*/ 2147483647 h 586"/>
                <a:gd name="T4" fmla="*/ 2147483647 w 473"/>
                <a:gd name="T5" fmla="*/ 2147483647 h 586"/>
                <a:gd name="T6" fmla="*/ 2147483647 w 473"/>
                <a:gd name="T7" fmla="*/ 2147483647 h 586"/>
                <a:gd name="T8" fmla="*/ 2147483647 w 473"/>
                <a:gd name="T9" fmla="*/ 2147483647 h 586"/>
                <a:gd name="T10" fmla="*/ 2147483647 w 473"/>
                <a:gd name="T11" fmla="*/ 2147483647 h 586"/>
                <a:gd name="T12" fmla="*/ 2147483647 w 473"/>
                <a:gd name="T13" fmla="*/ 2147483647 h 586"/>
                <a:gd name="T14" fmla="*/ 2147483647 w 473"/>
                <a:gd name="T15" fmla="*/ 2147483647 h 586"/>
                <a:gd name="T16" fmla="*/ 2147483647 w 473"/>
                <a:gd name="T17" fmla="*/ 2147483647 h 586"/>
                <a:gd name="T18" fmla="*/ 2147483647 w 473"/>
                <a:gd name="T19" fmla="*/ 2147483647 h 586"/>
                <a:gd name="T20" fmla="*/ 2147483647 w 473"/>
                <a:gd name="T21" fmla="*/ 2147483647 h 586"/>
                <a:gd name="T22" fmla="*/ 2147483647 w 473"/>
                <a:gd name="T23" fmla="*/ 2147483647 h 586"/>
                <a:gd name="T24" fmla="*/ 2147483647 w 473"/>
                <a:gd name="T25" fmla="*/ 2147483647 h 586"/>
                <a:gd name="T26" fmla="*/ 2147483647 w 473"/>
                <a:gd name="T27" fmla="*/ 2147483647 h 586"/>
                <a:gd name="T28" fmla="*/ 2147483647 w 473"/>
                <a:gd name="T29" fmla="*/ 2147483647 h 586"/>
                <a:gd name="T30" fmla="*/ 2147483647 w 473"/>
                <a:gd name="T31" fmla="*/ 2147483647 h 586"/>
                <a:gd name="T32" fmla="*/ 2147483647 w 473"/>
                <a:gd name="T33" fmla="*/ 2147483647 h 586"/>
                <a:gd name="T34" fmla="*/ 2147483647 w 473"/>
                <a:gd name="T35" fmla="*/ 2147483647 h 586"/>
                <a:gd name="T36" fmla="*/ 2147483647 w 473"/>
                <a:gd name="T37" fmla="*/ 2147483647 h 586"/>
                <a:gd name="T38" fmla="*/ 2147483647 w 473"/>
                <a:gd name="T39" fmla="*/ 2147483647 h 586"/>
                <a:gd name="T40" fmla="*/ 2147483647 w 473"/>
                <a:gd name="T41" fmla="*/ 2147483647 h 586"/>
                <a:gd name="T42" fmla="*/ 2147483647 w 473"/>
                <a:gd name="T43" fmla="*/ 2147483647 h 586"/>
                <a:gd name="T44" fmla="*/ 2147483647 w 473"/>
                <a:gd name="T45" fmla="*/ 2147483647 h 586"/>
                <a:gd name="T46" fmla="*/ 2147483647 w 473"/>
                <a:gd name="T47" fmla="*/ 2147483647 h 586"/>
                <a:gd name="T48" fmla="*/ 2147483647 w 473"/>
                <a:gd name="T49" fmla="*/ 2147483647 h 586"/>
                <a:gd name="T50" fmla="*/ 2147483647 w 473"/>
                <a:gd name="T51" fmla="*/ 2147483647 h 586"/>
                <a:gd name="T52" fmla="*/ 2147483647 w 473"/>
                <a:gd name="T53" fmla="*/ 2147483647 h 586"/>
                <a:gd name="T54" fmla="*/ 2147483647 w 473"/>
                <a:gd name="T55" fmla="*/ 2147483647 h 586"/>
                <a:gd name="T56" fmla="*/ 2147483647 w 473"/>
                <a:gd name="T57" fmla="*/ 2147483647 h 586"/>
                <a:gd name="T58" fmla="*/ 2147483647 w 473"/>
                <a:gd name="T59" fmla="*/ 2147483647 h 586"/>
                <a:gd name="T60" fmla="*/ 2147483647 w 473"/>
                <a:gd name="T61" fmla="*/ 2147483647 h 586"/>
                <a:gd name="T62" fmla="*/ 0 w 473"/>
                <a:gd name="T63" fmla="*/ 2147483647 h 586"/>
                <a:gd name="T64" fmla="*/ 2147483647 w 473"/>
                <a:gd name="T65" fmla="*/ 2147483647 h 586"/>
                <a:gd name="T66" fmla="*/ 2147483647 w 473"/>
                <a:gd name="T67" fmla="*/ 2147483647 h 586"/>
                <a:gd name="T68" fmla="*/ 2147483647 w 473"/>
                <a:gd name="T69" fmla="*/ 2147483647 h 586"/>
                <a:gd name="T70" fmla="*/ 2147483647 w 473"/>
                <a:gd name="T71" fmla="*/ 2147483647 h 586"/>
                <a:gd name="T72" fmla="*/ 2147483647 w 473"/>
                <a:gd name="T73" fmla="*/ 2147483647 h 586"/>
                <a:gd name="T74" fmla="*/ 2147483647 w 473"/>
                <a:gd name="T75" fmla="*/ 2147483647 h 586"/>
                <a:gd name="T76" fmla="*/ 2147483647 w 473"/>
                <a:gd name="T77" fmla="*/ 2147483647 h 586"/>
                <a:gd name="T78" fmla="*/ 2147483647 w 473"/>
                <a:gd name="T79" fmla="*/ 2147483647 h 586"/>
                <a:gd name="T80" fmla="*/ 2147483647 w 473"/>
                <a:gd name="T81" fmla="*/ 2147483647 h 586"/>
                <a:gd name="T82" fmla="*/ 2147483647 w 473"/>
                <a:gd name="T83" fmla="*/ 2147483647 h 586"/>
                <a:gd name="T84" fmla="*/ 2147483647 w 473"/>
                <a:gd name="T85" fmla="*/ 0 h 58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73" h="586">
                  <a:moveTo>
                    <a:pt x="236" y="0"/>
                  </a:moveTo>
                  <a:lnTo>
                    <a:pt x="248" y="1"/>
                  </a:lnTo>
                  <a:lnTo>
                    <a:pt x="260" y="1"/>
                  </a:lnTo>
                  <a:lnTo>
                    <a:pt x="272" y="3"/>
                  </a:lnTo>
                  <a:lnTo>
                    <a:pt x="284" y="6"/>
                  </a:lnTo>
                  <a:lnTo>
                    <a:pt x="295" y="10"/>
                  </a:lnTo>
                  <a:lnTo>
                    <a:pt x="306" y="14"/>
                  </a:lnTo>
                  <a:lnTo>
                    <a:pt x="317" y="17"/>
                  </a:lnTo>
                  <a:lnTo>
                    <a:pt x="328" y="22"/>
                  </a:lnTo>
                  <a:lnTo>
                    <a:pt x="339" y="29"/>
                  </a:lnTo>
                  <a:lnTo>
                    <a:pt x="349" y="35"/>
                  </a:lnTo>
                  <a:lnTo>
                    <a:pt x="358" y="43"/>
                  </a:lnTo>
                  <a:lnTo>
                    <a:pt x="368" y="50"/>
                  </a:lnTo>
                  <a:lnTo>
                    <a:pt x="378" y="58"/>
                  </a:lnTo>
                  <a:lnTo>
                    <a:pt x="387" y="67"/>
                  </a:lnTo>
                  <a:lnTo>
                    <a:pt x="395" y="76"/>
                  </a:lnTo>
                  <a:lnTo>
                    <a:pt x="403" y="86"/>
                  </a:lnTo>
                  <a:lnTo>
                    <a:pt x="411" y="96"/>
                  </a:lnTo>
                  <a:lnTo>
                    <a:pt x="418" y="106"/>
                  </a:lnTo>
                  <a:lnTo>
                    <a:pt x="426" y="117"/>
                  </a:lnTo>
                  <a:lnTo>
                    <a:pt x="432" y="129"/>
                  </a:lnTo>
                  <a:lnTo>
                    <a:pt x="438" y="141"/>
                  </a:lnTo>
                  <a:lnTo>
                    <a:pt x="444" y="153"/>
                  </a:lnTo>
                  <a:lnTo>
                    <a:pt x="449" y="166"/>
                  </a:lnTo>
                  <a:lnTo>
                    <a:pt x="454" y="179"/>
                  </a:lnTo>
                  <a:lnTo>
                    <a:pt x="458" y="192"/>
                  </a:lnTo>
                  <a:lnTo>
                    <a:pt x="461" y="206"/>
                  </a:lnTo>
                  <a:lnTo>
                    <a:pt x="466" y="220"/>
                  </a:lnTo>
                  <a:lnTo>
                    <a:pt x="468" y="234"/>
                  </a:lnTo>
                  <a:lnTo>
                    <a:pt x="470" y="248"/>
                  </a:lnTo>
                  <a:lnTo>
                    <a:pt x="472" y="263"/>
                  </a:lnTo>
                  <a:lnTo>
                    <a:pt x="472" y="278"/>
                  </a:lnTo>
                  <a:lnTo>
                    <a:pt x="473" y="293"/>
                  </a:lnTo>
                  <a:lnTo>
                    <a:pt x="472" y="309"/>
                  </a:lnTo>
                  <a:lnTo>
                    <a:pt x="472" y="323"/>
                  </a:lnTo>
                  <a:lnTo>
                    <a:pt x="470" y="338"/>
                  </a:lnTo>
                  <a:lnTo>
                    <a:pt x="468" y="352"/>
                  </a:lnTo>
                  <a:lnTo>
                    <a:pt x="466" y="367"/>
                  </a:lnTo>
                  <a:lnTo>
                    <a:pt x="461" y="381"/>
                  </a:lnTo>
                  <a:lnTo>
                    <a:pt x="458" y="393"/>
                  </a:lnTo>
                  <a:lnTo>
                    <a:pt x="454" y="407"/>
                  </a:lnTo>
                  <a:lnTo>
                    <a:pt x="449" y="420"/>
                  </a:lnTo>
                  <a:lnTo>
                    <a:pt x="444" y="433"/>
                  </a:lnTo>
                  <a:lnTo>
                    <a:pt x="438" y="445"/>
                  </a:lnTo>
                  <a:lnTo>
                    <a:pt x="432" y="457"/>
                  </a:lnTo>
                  <a:lnTo>
                    <a:pt x="426" y="468"/>
                  </a:lnTo>
                  <a:lnTo>
                    <a:pt x="418" y="479"/>
                  </a:lnTo>
                  <a:lnTo>
                    <a:pt x="411" y="490"/>
                  </a:lnTo>
                  <a:lnTo>
                    <a:pt x="403" y="500"/>
                  </a:lnTo>
                  <a:lnTo>
                    <a:pt x="395" y="510"/>
                  </a:lnTo>
                  <a:lnTo>
                    <a:pt x="387" y="519"/>
                  </a:lnTo>
                  <a:lnTo>
                    <a:pt x="378" y="528"/>
                  </a:lnTo>
                  <a:lnTo>
                    <a:pt x="368" y="536"/>
                  </a:lnTo>
                  <a:lnTo>
                    <a:pt x="358" y="544"/>
                  </a:lnTo>
                  <a:lnTo>
                    <a:pt x="349" y="550"/>
                  </a:lnTo>
                  <a:lnTo>
                    <a:pt x="339" y="557"/>
                  </a:lnTo>
                  <a:lnTo>
                    <a:pt x="328" y="563"/>
                  </a:lnTo>
                  <a:lnTo>
                    <a:pt x="317" y="568"/>
                  </a:lnTo>
                  <a:lnTo>
                    <a:pt x="306" y="573"/>
                  </a:lnTo>
                  <a:lnTo>
                    <a:pt x="295" y="577"/>
                  </a:lnTo>
                  <a:lnTo>
                    <a:pt x="284" y="580"/>
                  </a:lnTo>
                  <a:lnTo>
                    <a:pt x="272" y="582"/>
                  </a:lnTo>
                  <a:lnTo>
                    <a:pt x="260" y="585"/>
                  </a:lnTo>
                  <a:lnTo>
                    <a:pt x="248" y="586"/>
                  </a:lnTo>
                  <a:lnTo>
                    <a:pt x="236" y="586"/>
                  </a:lnTo>
                  <a:lnTo>
                    <a:pt x="223" y="586"/>
                  </a:lnTo>
                  <a:lnTo>
                    <a:pt x="212" y="585"/>
                  </a:lnTo>
                  <a:lnTo>
                    <a:pt x="200" y="582"/>
                  </a:lnTo>
                  <a:lnTo>
                    <a:pt x="189" y="580"/>
                  </a:lnTo>
                  <a:lnTo>
                    <a:pt x="177" y="577"/>
                  </a:lnTo>
                  <a:lnTo>
                    <a:pt x="166" y="573"/>
                  </a:lnTo>
                  <a:lnTo>
                    <a:pt x="155" y="568"/>
                  </a:lnTo>
                  <a:lnTo>
                    <a:pt x="144" y="563"/>
                  </a:lnTo>
                  <a:lnTo>
                    <a:pt x="133" y="557"/>
                  </a:lnTo>
                  <a:lnTo>
                    <a:pt x="123" y="550"/>
                  </a:lnTo>
                  <a:lnTo>
                    <a:pt x="113" y="544"/>
                  </a:lnTo>
                  <a:lnTo>
                    <a:pt x="104" y="536"/>
                  </a:lnTo>
                  <a:lnTo>
                    <a:pt x="95" y="528"/>
                  </a:lnTo>
                  <a:lnTo>
                    <a:pt x="85" y="519"/>
                  </a:lnTo>
                  <a:lnTo>
                    <a:pt x="77" y="510"/>
                  </a:lnTo>
                  <a:lnTo>
                    <a:pt x="69" y="500"/>
                  </a:lnTo>
                  <a:lnTo>
                    <a:pt x="61" y="490"/>
                  </a:lnTo>
                  <a:lnTo>
                    <a:pt x="54" y="479"/>
                  </a:lnTo>
                  <a:lnTo>
                    <a:pt x="47" y="468"/>
                  </a:lnTo>
                  <a:lnTo>
                    <a:pt x="39" y="457"/>
                  </a:lnTo>
                  <a:lnTo>
                    <a:pt x="33" y="445"/>
                  </a:lnTo>
                  <a:lnTo>
                    <a:pt x="28" y="433"/>
                  </a:lnTo>
                  <a:lnTo>
                    <a:pt x="23" y="420"/>
                  </a:lnTo>
                  <a:lnTo>
                    <a:pt x="18" y="407"/>
                  </a:lnTo>
                  <a:lnTo>
                    <a:pt x="14" y="393"/>
                  </a:lnTo>
                  <a:lnTo>
                    <a:pt x="10" y="381"/>
                  </a:lnTo>
                  <a:lnTo>
                    <a:pt x="7" y="367"/>
                  </a:lnTo>
                  <a:lnTo>
                    <a:pt x="5" y="352"/>
                  </a:lnTo>
                  <a:lnTo>
                    <a:pt x="3" y="338"/>
                  </a:lnTo>
                  <a:lnTo>
                    <a:pt x="1" y="323"/>
                  </a:lnTo>
                  <a:lnTo>
                    <a:pt x="0" y="309"/>
                  </a:lnTo>
                  <a:lnTo>
                    <a:pt x="0" y="293"/>
                  </a:lnTo>
                  <a:lnTo>
                    <a:pt x="0" y="278"/>
                  </a:lnTo>
                  <a:lnTo>
                    <a:pt x="1" y="263"/>
                  </a:lnTo>
                  <a:lnTo>
                    <a:pt x="3" y="248"/>
                  </a:lnTo>
                  <a:lnTo>
                    <a:pt x="5" y="234"/>
                  </a:lnTo>
                  <a:lnTo>
                    <a:pt x="7" y="220"/>
                  </a:lnTo>
                  <a:lnTo>
                    <a:pt x="10" y="206"/>
                  </a:lnTo>
                  <a:lnTo>
                    <a:pt x="14" y="192"/>
                  </a:lnTo>
                  <a:lnTo>
                    <a:pt x="18" y="179"/>
                  </a:lnTo>
                  <a:lnTo>
                    <a:pt x="23" y="166"/>
                  </a:lnTo>
                  <a:lnTo>
                    <a:pt x="28" y="153"/>
                  </a:lnTo>
                  <a:lnTo>
                    <a:pt x="33" y="141"/>
                  </a:lnTo>
                  <a:lnTo>
                    <a:pt x="39" y="129"/>
                  </a:lnTo>
                  <a:lnTo>
                    <a:pt x="47" y="117"/>
                  </a:lnTo>
                  <a:lnTo>
                    <a:pt x="54" y="106"/>
                  </a:lnTo>
                  <a:lnTo>
                    <a:pt x="61" y="96"/>
                  </a:lnTo>
                  <a:lnTo>
                    <a:pt x="69" y="86"/>
                  </a:lnTo>
                  <a:lnTo>
                    <a:pt x="77" y="76"/>
                  </a:lnTo>
                  <a:lnTo>
                    <a:pt x="85" y="67"/>
                  </a:lnTo>
                  <a:lnTo>
                    <a:pt x="95" y="58"/>
                  </a:lnTo>
                  <a:lnTo>
                    <a:pt x="104" y="50"/>
                  </a:lnTo>
                  <a:lnTo>
                    <a:pt x="113" y="43"/>
                  </a:lnTo>
                  <a:lnTo>
                    <a:pt x="123" y="35"/>
                  </a:lnTo>
                  <a:lnTo>
                    <a:pt x="133" y="29"/>
                  </a:lnTo>
                  <a:lnTo>
                    <a:pt x="144" y="22"/>
                  </a:lnTo>
                  <a:lnTo>
                    <a:pt x="155" y="17"/>
                  </a:lnTo>
                  <a:lnTo>
                    <a:pt x="166" y="14"/>
                  </a:lnTo>
                  <a:lnTo>
                    <a:pt x="177" y="10"/>
                  </a:lnTo>
                  <a:lnTo>
                    <a:pt x="189" y="6"/>
                  </a:lnTo>
                  <a:lnTo>
                    <a:pt x="200" y="3"/>
                  </a:lnTo>
                  <a:lnTo>
                    <a:pt x="212" y="1"/>
                  </a:lnTo>
                  <a:lnTo>
                    <a:pt x="223" y="1"/>
                  </a:lnTo>
                  <a:lnTo>
                    <a:pt x="236" y="0"/>
                  </a:lnTo>
                  <a:close/>
                </a:path>
              </a:pathLst>
            </a:custGeom>
            <a:solidFill>
              <a:srgbClr val="FFCC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54" name="Freeform 132"/>
            <p:cNvSpPr>
              <a:spLocks noEditPoints="1"/>
            </p:cNvSpPr>
            <p:nvPr/>
          </p:nvSpPr>
          <p:spPr bwMode="auto">
            <a:xfrm>
              <a:off x="6854825" y="1847850"/>
              <a:ext cx="254000" cy="195263"/>
            </a:xfrm>
            <a:custGeom>
              <a:avLst/>
              <a:gdLst>
                <a:gd name="T0" fmla="*/ 2147483647 w 479"/>
                <a:gd name="T1" fmla="*/ 2147483647 h 593"/>
                <a:gd name="T2" fmla="*/ 2147483647 w 479"/>
                <a:gd name="T3" fmla="*/ 2147483647 h 593"/>
                <a:gd name="T4" fmla="*/ 2147483647 w 479"/>
                <a:gd name="T5" fmla="*/ 2147483647 h 593"/>
                <a:gd name="T6" fmla="*/ 2147483647 w 479"/>
                <a:gd name="T7" fmla="*/ 2147483647 h 593"/>
                <a:gd name="T8" fmla="*/ 2147483647 w 479"/>
                <a:gd name="T9" fmla="*/ 2147483647 h 593"/>
                <a:gd name="T10" fmla="*/ 2147483647 w 479"/>
                <a:gd name="T11" fmla="*/ 2147483647 h 593"/>
                <a:gd name="T12" fmla="*/ 2147483647 w 479"/>
                <a:gd name="T13" fmla="*/ 0 h 593"/>
                <a:gd name="T14" fmla="*/ 2147483647 w 479"/>
                <a:gd name="T15" fmla="*/ 2147483647 h 593"/>
                <a:gd name="T16" fmla="*/ 2147483647 w 479"/>
                <a:gd name="T17" fmla="*/ 2147483647 h 593"/>
                <a:gd name="T18" fmla="*/ 2147483647 w 479"/>
                <a:gd name="T19" fmla="*/ 2147483647 h 593"/>
                <a:gd name="T20" fmla="*/ 2147483647 w 479"/>
                <a:gd name="T21" fmla="*/ 2147483647 h 593"/>
                <a:gd name="T22" fmla="*/ 2147483647 w 479"/>
                <a:gd name="T23" fmla="*/ 2147483647 h 593"/>
                <a:gd name="T24" fmla="*/ 2147483647 w 479"/>
                <a:gd name="T25" fmla="*/ 2147483647 h 593"/>
                <a:gd name="T26" fmla="*/ 2147483647 w 479"/>
                <a:gd name="T27" fmla="*/ 2147483647 h 593"/>
                <a:gd name="T28" fmla="*/ 2147483647 w 479"/>
                <a:gd name="T29" fmla="*/ 2147483647 h 593"/>
                <a:gd name="T30" fmla="*/ 2147483647 w 479"/>
                <a:gd name="T31" fmla="*/ 2147483647 h 593"/>
                <a:gd name="T32" fmla="*/ 2147483647 w 479"/>
                <a:gd name="T33" fmla="*/ 2147483647 h 593"/>
                <a:gd name="T34" fmla="*/ 2147483647 w 479"/>
                <a:gd name="T35" fmla="*/ 2147483647 h 593"/>
                <a:gd name="T36" fmla="*/ 2147483647 w 479"/>
                <a:gd name="T37" fmla="*/ 2147483647 h 593"/>
                <a:gd name="T38" fmla="*/ 2147483647 w 479"/>
                <a:gd name="T39" fmla="*/ 2147483647 h 593"/>
                <a:gd name="T40" fmla="*/ 2147483647 w 479"/>
                <a:gd name="T41" fmla="*/ 2147483647 h 593"/>
                <a:gd name="T42" fmla="*/ 2147483647 w 479"/>
                <a:gd name="T43" fmla="*/ 2147483647 h 593"/>
                <a:gd name="T44" fmla="*/ 2147483647 w 479"/>
                <a:gd name="T45" fmla="*/ 2147483647 h 593"/>
                <a:gd name="T46" fmla="*/ 2147483647 w 479"/>
                <a:gd name="T47" fmla="*/ 2147483647 h 593"/>
                <a:gd name="T48" fmla="*/ 2147483647 w 479"/>
                <a:gd name="T49" fmla="*/ 2147483647 h 593"/>
                <a:gd name="T50" fmla="*/ 2147483647 w 479"/>
                <a:gd name="T51" fmla="*/ 2147483647 h 593"/>
                <a:gd name="T52" fmla="*/ 2147483647 w 479"/>
                <a:gd name="T53" fmla="*/ 2147483647 h 593"/>
                <a:gd name="T54" fmla="*/ 2147483647 w 479"/>
                <a:gd name="T55" fmla="*/ 2147483647 h 593"/>
                <a:gd name="T56" fmla="*/ 2147483647 w 479"/>
                <a:gd name="T57" fmla="*/ 2147483647 h 593"/>
                <a:gd name="T58" fmla="*/ 2147483647 w 479"/>
                <a:gd name="T59" fmla="*/ 2147483647 h 593"/>
                <a:gd name="T60" fmla="*/ 2147483647 w 479"/>
                <a:gd name="T61" fmla="*/ 2147483647 h 593"/>
                <a:gd name="T62" fmla="*/ 2147483647 w 479"/>
                <a:gd name="T63" fmla="*/ 2147483647 h 593"/>
                <a:gd name="T64" fmla="*/ 2147483647 w 479"/>
                <a:gd name="T65" fmla="*/ 2147483647 h 593"/>
                <a:gd name="T66" fmla="*/ 2147483647 w 479"/>
                <a:gd name="T67" fmla="*/ 2147483647 h 593"/>
                <a:gd name="T68" fmla="*/ 2147483647 w 479"/>
                <a:gd name="T69" fmla="*/ 2147483647 h 593"/>
                <a:gd name="T70" fmla="*/ 2147483647 w 479"/>
                <a:gd name="T71" fmla="*/ 2147483647 h 593"/>
                <a:gd name="T72" fmla="*/ 2147483647 w 479"/>
                <a:gd name="T73" fmla="*/ 2147483647 h 593"/>
                <a:gd name="T74" fmla="*/ 2147483647 w 479"/>
                <a:gd name="T75" fmla="*/ 2147483647 h 593"/>
                <a:gd name="T76" fmla="*/ 2147483647 w 479"/>
                <a:gd name="T77" fmla="*/ 2147483647 h 593"/>
                <a:gd name="T78" fmla="*/ 2147483647 w 479"/>
                <a:gd name="T79" fmla="*/ 2147483647 h 593"/>
                <a:gd name="T80" fmla="*/ 2147483647 w 479"/>
                <a:gd name="T81" fmla="*/ 2147483647 h 593"/>
                <a:gd name="T82" fmla="*/ 2147483647 w 479"/>
                <a:gd name="T83" fmla="*/ 2147483647 h 593"/>
                <a:gd name="T84" fmla="*/ 2147483647 w 479"/>
                <a:gd name="T85" fmla="*/ 2147483647 h 593"/>
                <a:gd name="T86" fmla="*/ 2147483647 w 479"/>
                <a:gd name="T87" fmla="*/ 2147483647 h 593"/>
                <a:gd name="T88" fmla="*/ 2147483647 w 479"/>
                <a:gd name="T89" fmla="*/ 2147483647 h 593"/>
                <a:gd name="T90" fmla="*/ 2147483647 w 479"/>
                <a:gd name="T91" fmla="*/ 2147483647 h 593"/>
                <a:gd name="T92" fmla="*/ 2147483647 w 479"/>
                <a:gd name="T93" fmla="*/ 2147483647 h 593"/>
                <a:gd name="T94" fmla="*/ 2147483647 w 479"/>
                <a:gd name="T95" fmla="*/ 2147483647 h 593"/>
                <a:gd name="T96" fmla="*/ 0 w 479"/>
                <a:gd name="T97" fmla="*/ 2147483647 h 593"/>
                <a:gd name="T98" fmla="*/ 2147483647 w 479"/>
                <a:gd name="T99" fmla="*/ 2147483647 h 593"/>
                <a:gd name="T100" fmla="*/ 2147483647 w 479"/>
                <a:gd name="T101" fmla="*/ 2147483647 h 593"/>
                <a:gd name="T102" fmla="*/ 2147483647 w 479"/>
                <a:gd name="T103" fmla="*/ 2147483647 h 593"/>
                <a:gd name="T104" fmla="*/ 2147483647 w 479"/>
                <a:gd name="T105" fmla="*/ 2147483647 h 593"/>
                <a:gd name="T106" fmla="*/ 2147483647 w 479"/>
                <a:gd name="T107" fmla="*/ 2147483647 h 593"/>
                <a:gd name="T108" fmla="*/ 2147483647 w 479"/>
                <a:gd name="T109" fmla="*/ 2147483647 h 593"/>
                <a:gd name="T110" fmla="*/ 2147483647 w 479"/>
                <a:gd name="T111" fmla="*/ 2147483647 h 5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79" h="593">
                  <a:moveTo>
                    <a:pt x="240" y="0"/>
                  </a:moveTo>
                  <a:lnTo>
                    <a:pt x="252" y="0"/>
                  </a:lnTo>
                  <a:lnTo>
                    <a:pt x="264" y="1"/>
                  </a:lnTo>
                  <a:lnTo>
                    <a:pt x="276" y="3"/>
                  </a:lnTo>
                  <a:lnTo>
                    <a:pt x="289" y="5"/>
                  </a:lnTo>
                  <a:lnTo>
                    <a:pt x="300" y="9"/>
                  </a:lnTo>
                  <a:lnTo>
                    <a:pt x="311" y="13"/>
                  </a:lnTo>
                  <a:lnTo>
                    <a:pt x="322" y="18"/>
                  </a:lnTo>
                  <a:lnTo>
                    <a:pt x="333" y="23"/>
                  </a:lnTo>
                  <a:lnTo>
                    <a:pt x="344" y="29"/>
                  </a:lnTo>
                  <a:lnTo>
                    <a:pt x="354" y="36"/>
                  </a:lnTo>
                  <a:lnTo>
                    <a:pt x="364" y="43"/>
                  </a:lnTo>
                  <a:lnTo>
                    <a:pt x="373" y="51"/>
                  </a:lnTo>
                  <a:lnTo>
                    <a:pt x="383" y="58"/>
                  </a:lnTo>
                  <a:lnTo>
                    <a:pt x="392" y="67"/>
                  </a:lnTo>
                  <a:lnTo>
                    <a:pt x="401" y="76"/>
                  </a:lnTo>
                  <a:lnTo>
                    <a:pt x="409" y="86"/>
                  </a:lnTo>
                  <a:lnTo>
                    <a:pt x="405" y="91"/>
                  </a:lnTo>
                  <a:lnTo>
                    <a:pt x="397" y="81"/>
                  </a:lnTo>
                  <a:lnTo>
                    <a:pt x="389" y="72"/>
                  </a:lnTo>
                  <a:lnTo>
                    <a:pt x="380" y="63"/>
                  </a:lnTo>
                  <a:lnTo>
                    <a:pt x="370" y="56"/>
                  </a:lnTo>
                  <a:lnTo>
                    <a:pt x="361" y="48"/>
                  </a:lnTo>
                  <a:lnTo>
                    <a:pt x="351" y="41"/>
                  </a:lnTo>
                  <a:lnTo>
                    <a:pt x="342" y="34"/>
                  </a:lnTo>
                  <a:lnTo>
                    <a:pt x="331" y="29"/>
                  </a:lnTo>
                  <a:lnTo>
                    <a:pt x="320" y="24"/>
                  </a:lnTo>
                  <a:lnTo>
                    <a:pt x="309" y="19"/>
                  </a:lnTo>
                  <a:lnTo>
                    <a:pt x="299" y="15"/>
                  </a:lnTo>
                  <a:lnTo>
                    <a:pt x="287" y="13"/>
                  </a:lnTo>
                  <a:lnTo>
                    <a:pt x="275" y="10"/>
                  </a:lnTo>
                  <a:lnTo>
                    <a:pt x="264" y="8"/>
                  </a:lnTo>
                  <a:lnTo>
                    <a:pt x="252" y="6"/>
                  </a:lnTo>
                  <a:lnTo>
                    <a:pt x="240" y="6"/>
                  </a:lnTo>
                  <a:lnTo>
                    <a:pt x="240" y="0"/>
                  </a:lnTo>
                  <a:close/>
                  <a:moveTo>
                    <a:pt x="409" y="86"/>
                  </a:moveTo>
                  <a:lnTo>
                    <a:pt x="417" y="96"/>
                  </a:lnTo>
                  <a:lnTo>
                    <a:pt x="425" y="108"/>
                  </a:lnTo>
                  <a:lnTo>
                    <a:pt x="432" y="119"/>
                  </a:lnTo>
                  <a:lnTo>
                    <a:pt x="438" y="131"/>
                  </a:lnTo>
                  <a:lnTo>
                    <a:pt x="445" y="142"/>
                  </a:lnTo>
                  <a:lnTo>
                    <a:pt x="450" y="155"/>
                  </a:lnTo>
                  <a:lnTo>
                    <a:pt x="455" y="167"/>
                  </a:lnTo>
                  <a:lnTo>
                    <a:pt x="460" y="181"/>
                  </a:lnTo>
                  <a:lnTo>
                    <a:pt x="464" y="194"/>
                  </a:lnTo>
                  <a:lnTo>
                    <a:pt x="468" y="208"/>
                  </a:lnTo>
                  <a:lnTo>
                    <a:pt x="472" y="222"/>
                  </a:lnTo>
                  <a:lnTo>
                    <a:pt x="475" y="237"/>
                  </a:lnTo>
                  <a:lnTo>
                    <a:pt x="477" y="251"/>
                  </a:lnTo>
                  <a:lnTo>
                    <a:pt x="478" y="266"/>
                  </a:lnTo>
                  <a:lnTo>
                    <a:pt x="479" y="281"/>
                  </a:lnTo>
                  <a:lnTo>
                    <a:pt x="479" y="296"/>
                  </a:lnTo>
                  <a:lnTo>
                    <a:pt x="474" y="296"/>
                  </a:lnTo>
                  <a:lnTo>
                    <a:pt x="474" y="281"/>
                  </a:lnTo>
                  <a:lnTo>
                    <a:pt x="473" y="266"/>
                  </a:lnTo>
                  <a:lnTo>
                    <a:pt x="472" y="252"/>
                  </a:lnTo>
                  <a:lnTo>
                    <a:pt x="470" y="238"/>
                  </a:lnTo>
                  <a:lnTo>
                    <a:pt x="466" y="224"/>
                  </a:lnTo>
                  <a:lnTo>
                    <a:pt x="463" y="210"/>
                  </a:lnTo>
                  <a:lnTo>
                    <a:pt x="459" y="196"/>
                  </a:lnTo>
                  <a:lnTo>
                    <a:pt x="455" y="184"/>
                  </a:lnTo>
                  <a:lnTo>
                    <a:pt x="451" y="170"/>
                  </a:lnTo>
                  <a:lnTo>
                    <a:pt x="446" y="158"/>
                  </a:lnTo>
                  <a:lnTo>
                    <a:pt x="440" y="146"/>
                  </a:lnTo>
                  <a:lnTo>
                    <a:pt x="434" y="134"/>
                  </a:lnTo>
                  <a:lnTo>
                    <a:pt x="428" y="123"/>
                  </a:lnTo>
                  <a:lnTo>
                    <a:pt x="420" y="112"/>
                  </a:lnTo>
                  <a:lnTo>
                    <a:pt x="413" y="101"/>
                  </a:lnTo>
                  <a:lnTo>
                    <a:pt x="405" y="91"/>
                  </a:lnTo>
                  <a:lnTo>
                    <a:pt x="409" y="86"/>
                  </a:lnTo>
                  <a:close/>
                  <a:moveTo>
                    <a:pt x="479" y="296"/>
                  </a:moveTo>
                  <a:lnTo>
                    <a:pt x="479" y="312"/>
                  </a:lnTo>
                  <a:lnTo>
                    <a:pt x="478" y="327"/>
                  </a:lnTo>
                  <a:lnTo>
                    <a:pt x="477" y="341"/>
                  </a:lnTo>
                  <a:lnTo>
                    <a:pt x="475" y="356"/>
                  </a:lnTo>
                  <a:lnTo>
                    <a:pt x="472" y="370"/>
                  </a:lnTo>
                  <a:lnTo>
                    <a:pt x="468" y="384"/>
                  </a:lnTo>
                  <a:lnTo>
                    <a:pt x="464" y="398"/>
                  </a:lnTo>
                  <a:lnTo>
                    <a:pt x="460" y="412"/>
                  </a:lnTo>
                  <a:lnTo>
                    <a:pt x="455" y="424"/>
                  </a:lnTo>
                  <a:lnTo>
                    <a:pt x="450" y="437"/>
                  </a:lnTo>
                  <a:lnTo>
                    <a:pt x="445" y="450"/>
                  </a:lnTo>
                  <a:lnTo>
                    <a:pt x="438" y="462"/>
                  </a:lnTo>
                  <a:lnTo>
                    <a:pt x="432" y="474"/>
                  </a:lnTo>
                  <a:lnTo>
                    <a:pt x="425" y="485"/>
                  </a:lnTo>
                  <a:lnTo>
                    <a:pt x="417" y="495"/>
                  </a:lnTo>
                  <a:lnTo>
                    <a:pt x="409" y="505"/>
                  </a:lnTo>
                  <a:lnTo>
                    <a:pt x="405" y="500"/>
                  </a:lnTo>
                  <a:lnTo>
                    <a:pt x="413" y="491"/>
                  </a:lnTo>
                  <a:lnTo>
                    <a:pt x="420" y="480"/>
                  </a:lnTo>
                  <a:lnTo>
                    <a:pt x="428" y="470"/>
                  </a:lnTo>
                  <a:lnTo>
                    <a:pt x="434" y="458"/>
                  </a:lnTo>
                  <a:lnTo>
                    <a:pt x="440" y="446"/>
                  </a:lnTo>
                  <a:lnTo>
                    <a:pt x="446" y="434"/>
                  </a:lnTo>
                  <a:lnTo>
                    <a:pt x="451" y="422"/>
                  </a:lnTo>
                  <a:lnTo>
                    <a:pt x="455" y="409"/>
                  </a:lnTo>
                  <a:lnTo>
                    <a:pt x="459" y="395"/>
                  </a:lnTo>
                  <a:lnTo>
                    <a:pt x="463" y="382"/>
                  </a:lnTo>
                  <a:lnTo>
                    <a:pt x="466" y="369"/>
                  </a:lnTo>
                  <a:lnTo>
                    <a:pt x="470" y="355"/>
                  </a:lnTo>
                  <a:lnTo>
                    <a:pt x="472" y="341"/>
                  </a:lnTo>
                  <a:lnTo>
                    <a:pt x="473" y="326"/>
                  </a:lnTo>
                  <a:lnTo>
                    <a:pt x="474" y="310"/>
                  </a:lnTo>
                  <a:lnTo>
                    <a:pt x="474" y="296"/>
                  </a:lnTo>
                  <a:lnTo>
                    <a:pt x="479" y="296"/>
                  </a:lnTo>
                  <a:close/>
                  <a:moveTo>
                    <a:pt x="409" y="505"/>
                  </a:moveTo>
                  <a:lnTo>
                    <a:pt x="401" y="515"/>
                  </a:lnTo>
                  <a:lnTo>
                    <a:pt x="392" y="524"/>
                  </a:lnTo>
                  <a:lnTo>
                    <a:pt x="383" y="533"/>
                  </a:lnTo>
                  <a:lnTo>
                    <a:pt x="373" y="542"/>
                  </a:lnTo>
                  <a:lnTo>
                    <a:pt x="364" y="550"/>
                  </a:lnTo>
                  <a:lnTo>
                    <a:pt x="354" y="556"/>
                  </a:lnTo>
                  <a:lnTo>
                    <a:pt x="344" y="564"/>
                  </a:lnTo>
                  <a:lnTo>
                    <a:pt x="333" y="569"/>
                  </a:lnTo>
                  <a:lnTo>
                    <a:pt x="322" y="575"/>
                  </a:lnTo>
                  <a:lnTo>
                    <a:pt x="311" y="579"/>
                  </a:lnTo>
                  <a:lnTo>
                    <a:pt x="300" y="583"/>
                  </a:lnTo>
                  <a:lnTo>
                    <a:pt x="289" y="586"/>
                  </a:lnTo>
                  <a:lnTo>
                    <a:pt x="276" y="589"/>
                  </a:lnTo>
                  <a:lnTo>
                    <a:pt x="264" y="590"/>
                  </a:lnTo>
                  <a:lnTo>
                    <a:pt x="252" y="591"/>
                  </a:lnTo>
                  <a:lnTo>
                    <a:pt x="240" y="593"/>
                  </a:lnTo>
                  <a:lnTo>
                    <a:pt x="240" y="586"/>
                  </a:lnTo>
                  <a:lnTo>
                    <a:pt x="252" y="585"/>
                  </a:lnTo>
                  <a:lnTo>
                    <a:pt x="264" y="584"/>
                  </a:lnTo>
                  <a:lnTo>
                    <a:pt x="275" y="583"/>
                  </a:lnTo>
                  <a:lnTo>
                    <a:pt x="287" y="580"/>
                  </a:lnTo>
                  <a:lnTo>
                    <a:pt x="299" y="576"/>
                  </a:lnTo>
                  <a:lnTo>
                    <a:pt x="309" y="572"/>
                  </a:lnTo>
                  <a:lnTo>
                    <a:pt x="320" y="569"/>
                  </a:lnTo>
                  <a:lnTo>
                    <a:pt x="331" y="564"/>
                  </a:lnTo>
                  <a:lnTo>
                    <a:pt x="342" y="557"/>
                  </a:lnTo>
                  <a:lnTo>
                    <a:pt x="351" y="551"/>
                  </a:lnTo>
                  <a:lnTo>
                    <a:pt x="361" y="543"/>
                  </a:lnTo>
                  <a:lnTo>
                    <a:pt x="370" y="536"/>
                  </a:lnTo>
                  <a:lnTo>
                    <a:pt x="380" y="528"/>
                  </a:lnTo>
                  <a:lnTo>
                    <a:pt x="389" y="519"/>
                  </a:lnTo>
                  <a:lnTo>
                    <a:pt x="397" y="510"/>
                  </a:lnTo>
                  <a:lnTo>
                    <a:pt x="405" y="500"/>
                  </a:lnTo>
                  <a:lnTo>
                    <a:pt x="409" y="505"/>
                  </a:lnTo>
                  <a:close/>
                  <a:moveTo>
                    <a:pt x="240" y="593"/>
                  </a:moveTo>
                  <a:lnTo>
                    <a:pt x="227" y="591"/>
                  </a:lnTo>
                  <a:lnTo>
                    <a:pt x="215" y="590"/>
                  </a:lnTo>
                  <a:lnTo>
                    <a:pt x="204" y="589"/>
                  </a:lnTo>
                  <a:lnTo>
                    <a:pt x="192" y="586"/>
                  </a:lnTo>
                  <a:lnTo>
                    <a:pt x="180" y="583"/>
                  </a:lnTo>
                  <a:lnTo>
                    <a:pt x="169" y="579"/>
                  </a:lnTo>
                  <a:lnTo>
                    <a:pt x="158" y="575"/>
                  </a:lnTo>
                  <a:lnTo>
                    <a:pt x="147" y="569"/>
                  </a:lnTo>
                  <a:lnTo>
                    <a:pt x="136" y="564"/>
                  </a:lnTo>
                  <a:lnTo>
                    <a:pt x="126" y="556"/>
                  </a:lnTo>
                  <a:lnTo>
                    <a:pt x="116" y="550"/>
                  </a:lnTo>
                  <a:lnTo>
                    <a:pt x="107" y="542"/>
                  </a:lnTo>
                  <a:lnTo>
                    <a:pt x="97" y="533"/>
                  </a:lnTo>
                  <a:lnTo>
                    <a:pt x="88" y="524"/>
                  </a:lnTo>
                  <a:lnTo>
                    <a:pt x="79" y="515"/>
                  </a:lnTo>
                  <a:lnTo>
                    <a:pt x="71" y="505"/>
                  </a:lnTo>
                  <a:lnTo>
                    <a:pt x="75" y="500"/>
                  </a:lnTo>
                  <a:lnTo>
                    <a:pt x="83" y="510"/>
                  </a:lnTo>
                  <a:lnTo>
                    <a:pt x="91" y="519"/>
                  </a:lnTo>
                  <a:lnTo>
                    <a:pt x="100" y="528"/>
                  </a:lnTo>
                  <a:lnTo>
                    <a:pt x="109" y="536"/>
                  </a:lnTo>
                  <a:lnTo>
                    <a:pt x="119" y="543"/>
                  </a:lnTo>
                  <a:lnTo>
                    <a:pt x="128" y="551"/>
                  </a:lnTo>
                  <a:lnTo>
                    <a:pt x="138" y="557"/>
                  </a:lnTo>
                  <a:lnTo>
                    <a:pt x="149" y="564"/>
                  </a:lnTo>
                  <a:lnTo>
                    <a:pt x="160" y="569"/>
                  </a:lnTo>
                  <a:lnTo>
                    <a:pt x="170" y="572"/>
                  </a:lnTo>
                  <a:lnTo>
                    <a:pt x="181" y="576"/>
                  </a:lnTo>
                  <a:lnTo>
                    <a:pt x="193" y="580"/>
                  </a:lnTo>
                  <a:lnTo>
                    <a:pt x="205" y="583"/>
                  </a:lnTo>
                  <a:lnTo>
                    <a:pt x="216" y="584"/>
                  </a:lnTo>
                  <a:lnTo>
                    <a:pt x="228" y="585"/>
                  </a:lnTo>
                  <a:lnTo>
                    <a:pt x="240" y="586"/>
                  </a:lnTo>
                  <a:lnTo>
                    <a:pt x="240" y="593"/>
                  </a:lnTo>
                  <a:close/>
                  <a:moveTo>
                    <a:pt x="71" y="505"/>
                  </a:moveTo>
                  <a:lnTo>
                    <a:pt x="63" y="495"/>
                  </a:lnTo>
                  <a:lnTo>
                    <a:pt x="56" y="485"/>
                  </a:lnTo>
                  <a:lnTo>
                    <a:pt x="48" y="474"/>
                  </a:lnTo>
                  <a:lnTo>
                    <a:pt x="41" y="462"/>
                  </a:lnTo>
                  <a:lnTo>
                    <a:pt x="35" y="450"/>
                  </a:lnTo>
                  <a:lnTo>
                    <a:pt x="30" y="437"/>
                  </a:lnTo>
                  <a:lnTo>
                    <a:pt x="24" y="424"/>
                  </a:lnTo>
                  <a:lnTo>
                    <a:pt x="20" y="412"/>
                  </a:lnTo>
                  <a:lnTo>
                    <a:pt x="16" y="398"/>
                  </a:lnTo>
                  <a:lnTo>
                    <a:pt x="12" y="384"/>
                  </a:lnTo>
                  <a:lnTo>
                    <a:pt x="9" y="370"/>
                  </a:lnTo>
                  <a:lnTo>
                    <a:pt x="6" y="356"/>
                  </a:lnTo>
                  <a:lnTo>
                    <a:pt x="4" y="341"/>
                  </a:lnTo>
                  <a:lnTo>
                    <a:pt x="3" y="327"/>
                  </a:lnTo>
                  <a:lnTo>
                    <a:pt x="1" y="312"/>
                  </a:lnTo>
                  <a:lnTo>
                    <a:pt x="0" y="296"/>
                  </a:lnTo>
                  <a:lnTo>
                    <a:pt x="7" y="296"/>
                  </a:lnTo>
                  <a:lnTo>
                    <a:pt x="7" y="310"/>
                  </a:lnTo>
                  <a:lnTo>
                    <a:pt x="8" y="326"/>
                  </a:lnTo>
                  <a:lnTo>
                    <a:pt x="9" y="341"/>
                  </a:lnTo>
                  <a:lnTo>
                    <a:pt x="11" y="355"/>
                  </a:lnTo>
                  <a:lnTo>
                    <a:pt x="14" y="369"/>
                  </a:lnTo>
                  <a:lnTo>
                    <a:pt x="17" y="382"/>
                  </a:lnTo>
                  <a:lnTo>
                    <a:pt x="20" y="395"/>
                  </a:lnTo>
                  <a:lnTo>
                    <a:pt x="25" y="409"/>
                  </a:lnTo>
                  <a:lnTo>
                    <a:pt x="29" y="422"/>
                  </a:lnTo>
                  <a:lnTo>
                    <a:pt x="34" y="434"/>
                  </a:lnTo>
                  <a:lnTo>
                    <a:pt x="40" y="446"/>
                  </a:lnTo>
                  <a:lnTo>
                    <a:pt x="46" y="458"/>
                  </a:lnTo>
                  <a:lnTo>
                    <a:pt x="53" y="470"/>
                  </a:lnTo>
                  <a:lnTo>
                    <a:pt x="60" y="480"/>
                  </a:lnTo>
                  <a:lnTo>
                    <a:pt x="67" y="491"/>
                  </a:lnTo>
                  <a:lnTo>
                    <a:pt x="75" y="500"/>
                  </a:lnTo>
                  <a:lnTo>
                    <a:pt x="71" y="505"/>
                  </a:lnTo>
                  <a:close/>
                  <a:moveTo>
                    <a:pt x="0" y="296"/>
                  </a:moveTo>
                  <a:lnTo>
                    <a:pt x="1" y="281"/>
                  </a:lnTo>
                  <a:lnTo>
                    <a:pt x="3" y="266"/>
                  </a:lnTo>
                  <a:lnTo>
                    <a:pt x="4" y="251"/>
                  </a:lnTo>
                  <a:lnTo>
                    <a:pt x="6" y="237"/>
                  </a:lnTo>
                  <a:lnTo>
                    <a:pt x="9" y="222"/>
                  </a:lnTo>
                  <a:lnTo>
                    <a:pt x="12" y="208"/>
                  </a:lnTo>
                  <a:lnTo>
                    <a:pt x="16" y="194"/>
                  </a:lnTo>
                  <a:lnTo>
                    <a:pt x="20" y="181"/>
                  </a:lnTo>
                  <a:lnTo>
                    <a:pt x="24" y="167"/>
                  </a:lnTo>
                  <a:lnTo>
                    <a:pt x="30" y="155"/>
                  </a:lnTo>
                  <a:lnTo>
                    <a:pt x="35" y="142"/>
                  </a:lnTo>
                  <a:lnTo>
                    <a:pt x="41" y="131"/>
                  </a:lnTo>
                  <a:lnTo>
                    <a:pt x="48" y="119"/>
                  </a:lnTo>
                  <a:lnTo>
                    <a:pt x="56" y="108"/>
                  </a:lnTo>
                  <a:lnTo>
                    <a:pt x="63" y="96"/>
                  </a:lnTo>
                  <a:lnTo>
                    <a:pt x="71" y="86"/>
                  </a:lnTo>
                  <a:lnTo>
                    <a:pt x="75" y="91"/>
                  </a:lnTo>
                  <a:lnTo>
                    <a:pt x="67" y="101"/>
                  </a:lnTo>
                  <a:lnTo>
                    <a:pt x="60" y="112"/>
                  </a:lnTo>
                  <a:lnTo>
                    <a:pt x="53" y="123"/>
                  </a:lnTo>
                  <a:lnTo>
                    <a:pt x="46" y="134"/>
                  </a:lnTo>
                  <a:lnTo>
                    <a:pt x="40" y="146"/>
                  </a:lnTo>
                  <a:lnTo>
                    <a:pt x="34" y="158"/>
                  </a:lnTo>
                  <a:lnTo>
                    <a:pt x="29" y="170"/>
                  </a:lnTo>
                  <a:lnTo>
                    <a:pt x="25" y="184"/>
                  </a:lnTo>
                  <a:lnTo>
                    <a:pt x="20" y="196"/>
                  </a:lnTo>
                  <a:lnTo>
                    <a:pt x="17" y="210"/>
                  </a:lnTo>
                  <a:lnTo>
                    <a:pt x="14" y="224"/>
                  </a:lnTo>
                  <a:lnTo>
                    <a:pt x="11" y="238"/>
                  </a:lnTo>
                  <a:lnTo>
                    <a:pt x="9" y="252"/>
                  </a:lnTo>
                  <a:lnTo>
                    <a:pt x="8" y="266"/>
                  </a:lnTo>
                  <a:lnTo>
                    <a:pt x="7" y="281"/>
                  </a:lnTo>
                  <a:lnTo>
                    <a:pt x="7" y="296"/>
                  </a:lnTo>
                  <a:lnTo>
                    <a:pt x="0" y="296"/>
                  </a:lnTo>
                  <a:close/>
                  <a:moveTo>
                    <a:pt x="71" y="86"/>
                  </a:moveTo>
                  <a:lnTo>
                    <a:pt x="79" y="76"/>
                  </a:lnTo>
                  <a:lnTo>
                    <a:pt x="88" y="67"/>
                  </a:lnTo>
                  <a:lnTo>
                    <a:pt x="97" y="58"/>
                  </a:lnTo>
                  <a:lnTo>
                    <a:pt x="107" y="51"/>
                  </a:lnTo>
                  <a:lnTo>
                    <a:pt x="116" y="43"/>
                  </a:lnTo>
                  <a:lnTo>
                    <a:pt x="126" y="36"/>
                  </a:lnTo>
                  <a:lnTo>
                    <a:pt x="136" y="29"/>
                  </a:lnTo>
                  <a:lnTo>
                    <a:pt x="147" y="23"/>
                  </a:lnTo>
                  <a:lnTo>
                    <a:pt x="158" y="18"/>
                  </a:lnTo>
                  <a:lnTo>
                    <a:pt x="169" y="13"/>
                  </a:lnTo>
                  <a:lnTo>
                    <a:pt x="180" y="9"/>
                  </a:lnTo>
                  <a:lnTo>
                    <a:pt x="192" y="5"/>
                  </a:lnTo>
                  <a:lnTo>
                    <a:pt x="204" y="3"/>
                  </a:lnTo>
                  <a:lnTo>
                    <a:pt x="215" y="1"/>
                  </a:lnTo>
                  <a:lnTo>
                    <a:pt x="227" y="0"/>
                  </a:lnTo>
                  <a:lnTo>
                    <a:pt x="240" y="0"/>
                  </a:lnTo>
                  <a:lnTo>
                    <a:pt x="240" y="6"/>
                  </a:lnTo>
                  <a:lnTo>
                    <a:pt x="228" y="6"/>
                  </a:lnTo>
                  <a:lnTo>
                    <a:pt x="216" y="8"/>
                  </a:lnTo>
                  <a:lnTo>
                    <a:pt x="205" y="10"/>
                  </a:lnTo>
                  <a:lnTo>
                    <a:pt x="193" y="13"/>
                  </a:lnTo>
                  <a:lnTo>
                    <a:pt x="181" y="15"/>
                  </a:lnTo>
                  <a:lnTo>
                    <a:pt x="170" y="19"/>
                  </a:lnTo>
                  <a:lnTo>
                    <a:pt x="160" y="24"/>
                  </a:lnTo>
                  <a:lnTo>
                    <a:pt x="149" y="29"/>
                  </a:lnTo>
                  <a:lnTo>
                    <a:pt x="138" y="34"/>
                  </a:lnTo>
                  <a:lnTo>
                    <a:pt x="128" y="41"/>
                  </a:lnTo>
                  <a:lnTo>
                    <a:pt x="119" y="48"/>
                  </a:lnTo>
                  <a:lnTo>
                    <a:pt x="109" y="56"/>
                  </a:lnTo>
                  <a:lnTo>
                    <a:pt x="100" y="63"/>
                  </a:lnTo>
                  <a:lnTo>
                    <a:pt x="91" y="72"/>
                  </a:lnTo>
                  <a:lnTo>
                    <a:pt x="83" y="81"/>
                  </a:lnTo>
                  <a:lnTo>
                    <a:pt x="75" y="91"/>
                  </a:lnTo>
                  <a:lnTo>
                    <a:pt x="71" y="86"/>
                  </a:lnTo>
                  <a:close/>
                </a:path>
              </a:pathLst>
            </a:custGeom>
            <a:solidFill>
              <a:srgbClr val="3734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a:ln>
                  <a:noFill/>
                </a:ln>
                <a:solidFill>
                  <a:prstClr val="black"/>
                </a:solidFill>
                <a:effectLst/>
                <a:uLnTx/>
                <a:uFillTx/>
                <a:latin typeface="Times New Roman"/>
                <a:ea typeface="黑体"/>
                <a:cs typeface="+mn-cs"/>
              </a:endParaRPr>
            </a:p>
          </p:txBody>
        </p:sp>
        <p:sp>
          <p:nvSpPr>
            <p:cNvPr id="57" name="右箭头 3"/>
            <p:cNvSpPr>
              <a:spLocks noChangeArrowheads="1"/>
            </p:cNvSpPr>
            <p:nvPr/>
          </p:nvSpPr>
          <p:spPr bwMode="auto">
            <a:xfrm>
              <a:off x="1652061" y="2041422"/>
              <a:ext cx="496888" cy="204788"/>
            </a:xfrm>
            <a:prstGeom prst="rightArrow">
              <a:avLst>
                <a:gd name="adj1" fmla="val 50000"/>
                <a:gd name="adj2" fmla="val 50021"/>
              </a:avLst>
            </a:prstGeom>
            <a:noFill/>
            <a:ln w="952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Verdana"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zh-CN" altLang="en-US" sz="18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58" name="右箭头 44"/>
            <p:cNvSpPr>
              <a:spLocks noChangeArrowheads="1"/>
            </p:cNvSpPr>
            <p:nvPr/>
          </p:nvSpPr>
          <p:spPr bwMode="auto">
            <a:xfrm>
              <a:off x="6175375" y="2171700"/>
              <a:ext cx="496888" cy="204788"/>
            </a:xfrm>
            <a:prstGeom prst="rightArrow">
              <a:avLst>
                <a:gd name="adj1" fmla="val 50000"/>
                <a:gd name="adj2" fmla="val 50021"/>
              </a:avLst>
            </a:prstGeom>
            <a:noFill/>
            <a:ln w="952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Verdana"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zh-CN" altLang="en-US" sz="18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61" name="圆角矩形 60"/>
            <p:cNvSpPr/>
            <p:nvPr/>
          </p:nvSpPr>
          <p:spPr>
            <a:xfrm>
              <a:off x="388938" y="2896198"/>
              <a:ext cx="1214437" cy="328446"/>
            </a:xfrm>
            <a:prstGeom prst="roundRect">
              <a:avLst>
                <a:gd name="adj" fmla="val 4634"/>
              </a:avLst>
            </a:prstGeom>
            <a:solidFill>
              <a:srgbClr val="FFE8B3"/>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b="0" i="0" u="none" strike="noStrike" kern="1200" cap="none" spc="0" normalizeH="0" baseline="0" noProof="0" dirty="0">
                  <a:ln>
                    <a:noFill/>
                  </a:ln>
                  <a:solidFill>
                    <a:srgbClr val="C00000"/>
                  </a:solidFill>
                  <a:effectLst/>
                  <a:uLnTx/>
                  <a:uFillTx/>
                  <a:latin typeface="Times New Roman" pitchFamily="18" charset="0"/>
                  <a:ea typeface="黑体" pitchFamily="49" charset="-122"/>
                  <a:cs typeface="Times New Roman" pitchFamily="18" charset="0"/>
                </a:rPr>
                <a:t>输入端</a:t>
              </a:r>
            </a:p>
          </p:txBody>
        </p:sp>
        <p:sp>
          <p:nvSpPr>
            <p:cNvPr id="62" name="圆角矩形 61"/>
            <p:cNvSpPr/>
            <p:nvPr/>
          </p:nvSpPr>
          <p:spPr>
            <a:xfrm>
              <a:off x="6310313" y="2910494"/>
              <a:ext cx="2133600" cy="392362"/>
            </a:xfrm>
            <a:prstGeom prst="roundRect">
              <a:avLst>
                <a:gd name="adj" fmla="val 4634"/>
              </a:avLst>
            </a:prstGeom>
            <a:solidFill>
              <a:srgbClr val="FFE8B3"/>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b="0" i="0" u="none" strike="noStrike" kern="1200" cap="none" spc="0" normalizeH="0" baseline="0" noProof="0" dirty="0">
                  <a:ln>
                    <a:noFill/>
                  </a:ln>
                  <a:solidFill>
                    <a:srgbClr val="C00000"/>
                  </a:solidFill>
                  <a:effectLst/>
                  <a:uLnTx/>
                  <a:uFillTx/>
                  <a:latin typeface="Times New Roman" pitchFamily="18" charset="0"/>
                  <a:ea typeface="黑体" pitchFamily="49" charset="-122"/>
                  <a:cs typeface="Times New Roman" pitchFamily="18" charset="0"/>
                </a:rPr>
                <a:t>输出端：视觉对象</a:t>
              </a:r>
            </a:p>
          </p:txBody>
        </p:sp>
        <p:sp>
          <p:nvSpPr>
            <p:cNvPr id="63" name="圆角矩形 62"/>
            <p:cNvSpPr/>
            <p:nvPr/>
          </p:nvSpPr>
          <p:spPr>
            <a:xfrm>
              <a:off x="2142599" y="2765581"/>
              <a:ext cx="3916892" cy="579233"/>
            </a:xfrm>
            <a:prstGeom prst="roundRect">
              <a:avLst>
                <a:gd name="adj" fmla="val 4634"/>
              </a:avLst>
            </a:prstGeom>
            <a:solidFill>
              <a:srgbClr val="FFE8B3"/>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b="0" i="0" u="none" strike="noStrike" kern="1200" cap="none" spc="0" normalizeH="0" baseline="0" noProof="0" dirty="0">
                  <a:ln>
                    <a:noFill/>
                  </a:ln>
                  <a:solidFill>
                    <a:srgbClr val="C00000"/>
                  </a:solidFill>
                  <a:effectLst/>
                  <a:uLnTx/>
                  <a:uFillTx/>
                  <a:latin typeface="Times New Roman" pitchFamily="18" charset="0"/>
                  <a:ea typeface="黑体" pitchFamily="49" charset="-122"/>
                  <a:cs typeface="Times New Roman" pitchFamily="18" charset="0"/>
                </a:rPr>
                <a:t>  端到端学习</a:t>
              </a:r>
              <a:r>
                <a:rPr kumimoji="0" lang="en-US" altLang="zh-CN" b="0" i="0" u="none" strike="noStrike" kern="1200" cap="none" spc="0" normalizeH="0" baseline="0" noProof="0" dirty="0">
                  <a:ln>
                    <a:noFill/>
                  </a:ln>
                  <a:solidFill>
                    <a:srgbClr val="C00000"/>
                  </a:solidFill>
                  <a:effectLst/>
                  <a:uLnTx/>
                  <a:uFillTx/>
                  <a:latin typeface="Times New Roman" pitchFamily="18" charset="0"/>
                  <a:ea typeface="黑体" pitchFamily="49" charset="-122"/>
                  <a:cs typeface="Times New Roman" pitchFamily="18" charset="0"/>
                </a:rPr>
                <a:t>:</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b="0" i="0" u="none" strike="noStrike" kern="1200" cap="none" spc="0" normalizeH="0" baseline="0" noProof="0" dirty="0">
                  <a:ln>
                    <a:noFill/>
                  </a:ln>
                  <a:solidFill>
                    <a:srgbClr val="C00000"/>
                  </a:solidFill>
                  <a:effectLst/>
                  <a:uLnTx/>
                  <a:uFillTx/>
                  <a:latin typeface="Times New Roman" pitchFamily="18" charset="0"/>
                  <a:ea typeface="黑体" pitchFamily="49" charset="-122"/>
                  <a:cs typeface="Times New Roman" pitchFamily="18" charset="0"/>
                </a:rPr>
                <a:t>通过卷积、池化和误差反向传播等手段，进行特征学习</a:t>
              </a:r>
            </a:p>
          </p:txBody>
        </p:sp>
        <p:pic>
          <p:nvPicPr>
            <p:cNvPr id="6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9137" y="1476602"/>
              <a:ext cx="3551399" cy="1269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47413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500"/>
                            </p:stCondLst>
                            <p:childTnLst>
                              <p:par>
                                <p:cTn id="14" presetID="10" presetClass="entr" presetSubtype="0" fill="hold" grpId="0" nodeType="afterEffect">
                                  <p:stCondLst>
                                    <p:cond delay="50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75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1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65100" y="131514"/>
            <a:ext cx="8623305"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深度学习：</a:t>
            </a: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端到端、逐层抽象、学习</a:t>
            </a:r>
            <a:endParaRPr lang="zh-CN" altLang="en-US" sz="4400" dirty="0">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2" name="右箭头 1"/>
          <p:cNvSpPr/>
          <p:nvPr/>
        </p:nvSpPr>
        <p:spPr>
          <a:xfrm>
            <a:off x="538479" y="4285658"/>
            <a:ext cx="8249925" cy="29650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538480" y="4629568"/>
                <a:ext cx="7477760" cy="1299779"/>
              </a:xfrm>
              <a:prstGeom prst="rect">
                <a:avLst/>
              </a:prstGeom>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2800" b="0" i="0" u="none" strike="noStrike" kern="1200" cap="none" spc="0" normalizeH="0" baseline="0" noProof="0" dirty="0">
                    <a:ln>
                      <a:noFill/>
                    </a:ln>
                    <a:solidFill>
                      <a:prstClr val="black"/>
                    </a:solidFill>
                    <a:effectLst/>
                    <a:uLnTx/>
                    <a:uFillTx/>
                    <a:latin typeface="+mn-ea"/>
                    <a:cs typeface="+mn-cs"/>
                  </a:rPr>
                  <a:t>深度学习所得模型可视为一个复杂函数</a:t>
                </a: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2800" b="0" i="0" u="none" strike="noStrike" kern="1200" cap="none" spc="0" normalizeH="0" baseline="0" noProof="0" dirty="0">
                    <a:ln>
                      <a:noFill/>
                    </a:ln>
                    <a:solidFill>
                      <a:prstClr val="black"/>
                    </a:solidFill>
                    <a:effectLst/>
                    <a:uLnTx/>
                    <a:uFillTx/>
                    <a:latin typeface="+mn-ea"/>
                    <a:cs typeface="+mn-cs"/>
                  </a:rPr>
                  <a:t>非线性变换与映射的过程：像素点</a:t>
                </a:r>
                <a14:m>
                  <m:oMath xmlns:m="http://schemas.openxmlformats.org/officeDocument/2006/math">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r>
                  <a:rPr kumimoji="0" lang="zh-CN" altLang="en-US" sz="2800" b="0" i="0" u="none" strike="noStrike" kern="1200" cap="none" spc="0" normalizeH="0" baseline="0" noProof="0" dirty="0">
                    <a:ln>
                      <a:noFill/>
                    </a:ln>
                    <a:solidFill>
                      <a:prstClr val="black"/>
                    </a:solidFill>
                    <a:effectLst/>
                    <a:uLnTx/>
                    <a:uFillTx/>
                    <a:latin typeface="+mn-ea"/>
                    <a:cs typeface="+mn-cs"/>
                  </a:rPr>
                  <a:t>语义</a:t>
                </a:r>
                <a:endParaRPr kumimoji="0" lang="en-US" altLang="zh-CN" sz="2800" b="0" i="0" u="none" strike="noStrike" kern="1200" cap="none" spc="0" normalizeH="0" baseline="0" noProof="0" dirty="0">
                  <a:ln>
                    <a:noFill/>
                  </a:ln>
                  <a:solidFill>
                    <a:prstClr val="black"/>
                  </a:solidFill>
                  <a:effectLst/>
                  <a:uLnTx/>
                  <a:uFillTx/>
                  <a:latin typeface="+mn-ea"/>
                  <a:cs typeface="+mn-cs"/>
                </a:endParaRPr>
              </a:p>
            </p:txBody>
          </p:sp>
        </mc:Choice>
        <mc:Fallback xmlns="">
          <p:sp>
            <p:nvSpPr>
              <p:cNvPr id="4" name="矩形 3"/>
              <p:cNvSpPr>
                <a:spLocks noRot="1" noChangeAspect="1" noMove="1" noResize="1" noEditPoints="1" noAdjustHandles="1" noChangeArrowheads="1" noChangeShapeType="1" noTextEdit="1"/>
              </p:cNvSpPr>
              <p:nvPr/>
            </p:nvSpPr>
            <p:spPr>
              <a:xfrm>
                <a:off x="538480" y="4629568"/>
                <a:ext cx="7477760" cy="1299779"/>
              </a:xfrm>
              <a:prstGeom prst="rect">
                <a:avLst/>
              </a:prstGeom>
              <a:blipFill>
                <a:blip r:embed="rId2"/>
                <a:stretch>
                  <a:fillRect l="-1385" b="-10748"/>
                </a:stretch>
              </a:blipFill>
            </p:spPr>
            <p:txBody>
              <a:bodyPr/>
              <a:lstStyle/>
              <a:p>
                <a:r>
                  <a:rPr lang="zh-CN" altLang="en-US">
                    <a:noFill/>
                  </a:rPr>
                  <a:t> </a:t>
                </a:r>
              </a:p>
            </p:txBody>
          </p:sp>
        </mc:Fallback>
      </mc:AlternateContent>
      <p:pic>
        <p:nvPicPr>
          <p:cNvPr id="7" name="图片 12" descr="人脑DL.png">
            <a:extLst>
              <a:ext uri="{FF2B5EF4-FFF2-40B4-BE49-F238E27FC236}">
                <a16:creationId xmlns:a16="http://schemas.microsoft.com/office/drawing/2014/main" id="{79E526D6-9C56-DA25-6561-AAD420196F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18002"/>
            <a:ext cx="4580466" cy="3108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 descr="Figure 1: :  Schematic representation of a deep neural network, showing how more complex features are captured in deeper layer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9978" y="1027328"/>
            <a:ext cx="6038427" cy="3090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715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750"/>
                                        <p:tgtEl>
                                          <p:spTgt spid="2"/>
                                        </p:tgtEl>
                                      </p:cBhvr>
                                    </p:animEffect>
                                  </p:childTnLst>
                                </p:cTn>
                              </p:par>
                            </p:childTnLst>
                          </p:cTn>
                        </p:par>
                        <p:par>
                          <p:cTn id="20" fill="hold">
                            <p:stCondLst>
                              <p:cond delay="750"/>
                            </p:stCondLst>
                            <p:childTnLst>
                              <p:par>
                                <p:cTn id="21" presetID="42" presetClass="entr" presetSubtype="0" fill="hold" grpId="0" nodeType="afterEffect">
                                  <p:stCondLst>
                                    <p:cond delay="25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750"/>
                                        <p:tgtEl>
                                          <p:spTgt spid="4"/>
                                        </p:tgtEl>
                                      </p:cBhvr>
                                    </p:animEffect>
                                    <p:anim calcmode="lin" valueType="num">
                                      <p:cBhvr>
                                        <p:cTn id="24" dur="750" fill="hold"/>
                                        <p:tgtEl>
                                          <p:spTgt spid="4"/>
                                        </p:tgtEl>
                                        <p:attrNameLst>
                                          <p:attrName>ppt_x</p:attrName>
                                        </p:attrNameLst>
                                      </p:cBhvr>
                                      <p:tavLst>
                                        <p:tav tm="0">
                                          <p:val>
                                            <p:strVal val="#ppt_x"/>
                                          </p:val>
                                        </p:tav>
                                        <p:tav tm="100000">
                                          <p:val>
                                            <p:strVal val="#ppt_x"/>
                                          </p:val>
                                        </p:tav>
                                      </p:tavLst>
                                    </p:anim>
                                    <p:anim calcmode="lin" valueType="num">
                                      <p:cBhvr>
                                        <p:cTn id="25"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5787" y="102898"/>
            <a:ext cx="837635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神经元</a:t>
            </a:r>
          </a:p>
        </p:txBody>
      </p:sp>
      <p:grpSp>
        <p:nvGrpSpPr>
          <p:cNvPr id="2" name="组合 1">
            <a:extLst>
              <a:ext uri="{FF2B5EF4-FFF2-40B4-BE49-F238E27FC236}">
                <a16:creationId xmlns:a16="http://schemas.microsoft.com/office/drawing/2014/main" id="{3069A35F-EB06-2C04-6379-F3EC66C04F72}"/>
              </a:ext>
            </a:extLst>
          </p:cNvPr>
          <p:cNvGrpSpPr/>
          <p:nvPr/>
        </p:nvGrpSpPr>
        <p:grpSpPr>
          <a:xfrm>
            <a:off x="3635216" y="3287882"/>
            <a:ext cx="5005982" cy="2550096"/>
            <a:chOff x="1186144" y="3260765"/>
            <a:chExt cx="6458940" cy="2996052"/>
          </a:xfrm>
        </p:grpSpPr>
        <mc:AlternateContent xmlns:mc="http://schemas.openxmlformats.org/markup-compatibility/2006" xmlns:a14="http://schemas.microsoft.com/office/drawing/2010/main">
          <mc:Choice Requires="a14">
            <p:sp>
              <p:nvSpPr>
                <p:cNvPr id="5" name="流程图: 延期 4">
                  <a:extLst>
                    <a:ext uri="{FF2B5EF4-FFF2-40B4-BE49-F238E27FC236}">
                      <a16:creationId xmlns:a16="http://schemas.microsoft.com/office/drawing/2014/main" id="{A58974FC-8CE3-46D4-8816-CF7819BB8AF1}"/>
                    </a:ext>
                  </a:extLst>
                </p:cNvPr>
                <p:cNvSpPr/>
                <p:nvPr/>
              </p:nvSpPr>
              <p:spPr>
                <a:xfrm>
                  <a:off x="5103429" y="4266567"/>
                  <a:ext cx="921488" cy="1145363"/>
                </a:xfrm>
                <a:prstGeom prst="flowChartDelay">
                  <a:avLst/>
                </a:prstGeom>
                <a:solidFill>
                  <a:srgbClr val="92D05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rPr>
                    <a:t>输出</a:t>
                  </a:r>
                  <a:endParaRPr kumimoji="0" lang="en-US" altLang="zh-CN"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𝑂𝑢𝑡</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5" name="流程图: 延期 4">
                  <a:extLst>
                    <a:ext uri="{FF2B5EF4-FFF2-40B4-BE49-F238E27FC236}">
                      <a16:creationId xmlns:a16="http://schemas.microsoft.com/office/drawing/2014/main" id="{A58974FC-8CE3-46D4-8816-CF7819BB8AF1}"/>
                    </a:ext>
                  </a:extLst>
                </p:cNvPr>
                <p:cNvSpPr>
                  <a:spLocks noRot="1" noChangeAspect="1" noMove="1" noResize="1" noEditPoints="1" noAdjustHandles="1" noChangeArrowheads="1" noChangeShapeType="1" noTextEdit="1"/>
                </p:cNvSpPr>
                <p:nvPr/>
              </p:nvSpPr>
              <p:spPr>
                <a:xfrm>
                  <a:off x="5103429" y="4266567"/>
                  <a:ext cx="921488" cy="1145363"/>
                </a:xfrm>
                <a:prstGeom prst="flowChartDelay">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A32ED554-DE56-4DD8-B5FB-38E5EE543DA4}"/>
                    </a:ext>
                  </a:extLst>
                </p:cNvPr>
                <p:cNvSpPr/>
                <p:nvPr/>
              </p:nvSpPr>
              <p:spPr>
                <a:xfrm>
                  <a:off x="3990555" y="4266567"/>
                  <a:ext cx="1112874" cy="1145363"/>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rPr>
                    <a:t>激活函数</a:t>
                  </a:r>
                  <a:endParaRPr kumimoji="0" lang="en-US" altLang="zh-CN"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𝑔</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12" name="矩形 11">
                  <a:extLst>
                    <a:ext uri="{FF2B5EF4-FFF2-40B4-BE49-F238E27FC236}">
                      <a16:creationId xmlns:a16="http://schemas.microsoft.com/office/drawing/2014/main" id="{A32ED554-DE56-4DD8-B5FB-38E5EE543DA4}"/>
                    </a:ext>
                  </a:extLst>
                </p:cNvPr>
                <p:cNvSpPr>
                  <a:spLocks noRot="1" noChangeAspect="1" noMove="1" noResize="1" noEditPoints="1" noAdjustHandles="1" noChangeArrowheads="1" noChangeShapeType="1" noTextEdit="1"/>
                </p:cNvSpPr>
                <p:nvPr/>
              </p:nvSpPr>
              <p:spPr>
                <a:xfrm>
                  <a:off x="3990555" y="4266567"/>
                  <a:ext cx="1112874" cy="114536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流程图: 延期 31">
                  <a:extLst>
                    <a:ext uri="{FF2B5EF4-FFF2-40B4-BE49-F238E27FC236}">
                      <a16:creationId xmlns:a16="http://schemas.microsoft.com/office/drawing/2014/main" id="{A5B870AB-0237-45FE-86E0-ECB209EE1F71}"/>
                    </a:ext>
                  </a:extLst>
                </p:cNvPr>
                <p:cNvSpPr/>
                <p:nvPr/>
              </p:nvSpPr>
              <p:spPr>
                <a:xfrm flipH="1">
                  <a:off x="3069067" y="4266567"/>
                  <a:ext cx="921488" cy="1145363"/>
                </a:xfrm>
                <a:prstGeom prst="flowChartDelay">
                  <a:avLst/>
                </a:prstGeom>
                <a:solidFill>
                  <a:srgbClr val="00B05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rPr>
                    <a:t>输入</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𝐼𝑛</m:t>
                      </m:r>
                    </m:oMath>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32" name="流程图: 延期 31">
                  <a:extLst>
                    <a:ext uri="{FF2B5EF4-FFF2-40B4-BE49-F238E27FC236}">
                      <a16:creationId xmlns:a16="http://schemas.microsoft.com/office/drawing/2014/main" id="{A5B870AB-0237-45FE-86E0-ECB209EE1F71}"/>
                    </a:ext>
                  </a:extLst>
                </p:cNvPr>
                <p:cNvSpPr>
                  <a:spLocks noRot="1" noChangeAspect="1" noMove="1" noResize="1" noEditPoints="1" noAdjustHandles="1" noChangeArrowheads="1" noChangeShapeType="1" noTextEdit="1"/>
                </p:cNvSpPr>
                <p:nvPr/>
              </p:nvSpPr>
              <p:spPr>
                <a:xfrm flipH="1">
                  <a:off x="3069067" y="4266567"/>
                  <a:ext cx="921488" cy="1145363"/>
                </a:xfrm>
                <a:prstGeom prst="flowChartDelay">
                  <a:avLst/>
                </a:prstGeom>
                <a:blipFill>
                  <a:blip r:embed="rId4"/>
                  <a:stretch>
                    <a:fillRect/>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C1246A57-5E1B-4119-BFE8-7AEAD84CB4AF}"/>
                </a:ext>
              </a:extLst>
            </p:cNvPr>
            <p:cNvCxnSpPr>
              <a:cxnSpLocks/>
              <a:stCxn id="19" idx="5"/>
            </p:cNvCxnSpPr>
            <p:nvPr/>
          </p:nvCxnSpPr>
          <p:spPr>
            <a:xfrm>
              <a:off x="2001781" y="3822170"/>
              <a:ext cx="1040718" cy="74351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906E3568-E027-4F82-9DEB-E794864660A6}"/>
                </a:ext>
              </a:extLst>
            </p:cNvPr>
            <p:cNvCxnSpPr>
              <a:cxnSpLocks/>
              <a:stCxn id="34" idx="5"/>
            </p:cNvCxnSpPr>
            <p:nvPr/>
          </p:nvCxnSpPr>
          <p:spPr>
            <a:xfrm>
              <a:off x="1628627" y="4663746"/>
              <a:ext cx="1413873" cy="17550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E741B014-7E41-48F8-AA8D-E55B78335902}"/>
                    </a:ext>
                  </a:extLst>
                </p:cNvPr>
                <p:cNvSpPr/>
                <p:nvPr/>
              </p:nvSpPr>
              <p:spPr>
                <a:xfrm>
                  <a:off x="1559299" y="3260765"/>
                  <a:ext cx="518400" cy="65772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黑体" pitchFamily="49" charset="-122"/>
                                <a:cs typeface="+mn-cs"/>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19" name="椭圆 18">
                  <a:extLst>
                    <a:ext uri="{FF2B5EF4-FFF2-40B4-BE49-F238E27FC236}">
                      <a16:creationId xmlns:a16="http://schemas.microsoft.com/office/drawing/2014/main" id="{E741B014-7E41-48F8-AA8D-E55B78335902}"/>
                    </a:ext>
                  </a:extLst>
                </p:cNvPr>
                <p:cNvSpPr>
                  <a:spLocks noRot="1" noChangeAspect="1" noMove="1" noResize="1" noEditPoints="1" noAdjustHandles="1" noChangeArrowheads="1" noChangeShapeType="1" noTextEdit="1"/>
                </p:cNvSpPr>
                <p:nvPr/>
              </p:nvSpPr>
              <p:spPr>
                <a:xfrm>
                  <a:off x="1559299" y="3260765"/>
                  <a:ext cx="518400" cy="657727"/>
                </a:xfrm>
                <a:prstGeom prst="ellipse">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椭圆 33">
                  <a:extLst>
                    <a:ext uri="{FF2B5EF4-FFF2-40B4-BE49-F238E27FC236}">
                      <a16:creationId xmlns:a16="http://schemas.microsoft.com/office/drawing/2014/main" id="{0F581B86-09BF-4FB5-92C1-DD5BAF4CA307}"/>
                    </a:ext>
                  </a:extLst>
                </p:cNvPr>
                <p:cNvSpPr/>
                <p:nvPr/>
              </p:nvSpPr>
              <p:spPr>
                <a:xfrm>
                  <a:off x="1186144" y="4102341"/>
                  <a:ext cx="518400" cy="65772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黑体" pitchFamily="49" charset="-122"/>
                                <a:cs typeface="+mn-cs"/>
                              </a:rPr>
                              <m:t>2</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34" name="椭圆 33">
                  <a:extLst>
                    <a:ext uri="{FF2B5EF4-FFF2-40B4-BE49-F238E27FC236}">
                      <a16:creationId xmlns:a16="http://schemas.microsoft.com/office/drawing/2014/main" id="{0F581B86-09BF-4FB5-92C1-DD5BAF4CA307}"/>
                    </a:ext>
                  </a:extLst>
                </p:cNvPr>
                <p:cNvSpPr>
                  <a:spLocks noRot="1" noChangeAspect="1" noMove="1" noResize="1" noEditPoints="1" noAdjustHandles="1" noChangeArrowheads="1" noChangeShapeType="1" noTextEdit="1"/>
                </p:cNvSpPr>
                <p:nvPr/>
              </p:nvSpPr>
              <p:spPr>
                <a:xfrm>
                  <a:off x="1186144" y="4102341"/>
                  <a:ext cx="518400" cy="657727"/>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290081B2-5202-408E-AD0A-11583988EC43}"/>
                    </a:ext>
                  </a:extLst>
                </p:cNvPr>
                <p:cNvSpPr txBox="1"/>
                <p:nvPr/>
              </p:nvSpPr>
              <p:spPr>
                <a:xfrm>
                  <a:off x="2374323" y="3798607"/>
                  <a:ext cx="468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𝑤</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黑体" pitchFamily="49" charset="-122"/>
                                <a:cs typeface="+mn-cs"/>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36" name="文本框 35">
                  <a:extLst>
                    <a:ext uri="{FF2B5EF4-FFF2-40B4-BE49-F238E27FC236}">
                      <a16:creationId xmlns:a16="http://schemas.microsoft.com/office/drawing/2014/main" id="{290081B2-5202-408E-AD0A-11583988EC43}"/>
                    </a:ext>
                  </a:extLst>
                </p:cNvPr>
                <p:cNvSpPr txBox="1">
                  <a:spLocks noRot="1" noChangeAspect="1" noMove="1" noResize="1" noEditPoints="1" noAdjustHandles="1" noChangeArrowheads="1" noChangeShapeType="1" noTextEdit="1"/>
                </p:cNvSpPr>
                <p:nvPr/>
              </p:nvSpPr>
              <p:spPr>
                <a:xfrm>
                  <a:off x="2374323" y="3798607"/>
                  <a:ext cx="468000" cy="369332"/>
                </a:xfrm>
                <a:prstGeom prst="rect">
                  <a:avLst/>
                </a:prstGeom>
                <a:blipFill>
                  <a:blip r:embed="rId7"/>
                  <a:stretch>
                    <a:fillRect r="-11667" b="-17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52670006-D4F1-4384-B37C-949D211F65A4}"/>
                    </a:ext>
                  </a:extLst>
                </p:cNvPr>
                <p:cNvSpPr txBox="1"/>
                <p:nvPr/>
              </p:nvSpPr>
              <p:spPr>
                <a:xfrm>
                  <a:off x="2001168" y="4262616"/>
                  <a:ext cx="468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𝑤</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黑体" pitchFamily="49" charset="-122"/>
                                <a:cs typeface="+mn-cs"/>
                              </a:rPr>
                              <m:t>2</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39" name="文本框 38">
                  <a:extLst>
                    <a:ext uri="{FF2B5EF4-FFF2-40B4-BE49-F238E27FC236}">
                      <a16:creationId xmlns:a16="http://schemas.microsoft.com/office/drawing/2014/main" id="{52670006-D4F1-4384-B37C-949D211F65A4}"/>
                    </a:ext>
                  </a:extLst>
                </p:cNvPr>
                <p:cNvSpPr txBox="1">
                  <a:spLocks noRot="1" noChangeAspect="1" noMove="1" noResize="1" noEditPoints="1" noAdjustHandles="1" noChangeArrowheads="1" noChangeShapeType="1" noTextEdit="1"/>
                </p:cNvSpPr>
                <p:nvPr/>
              </p:nvSpPr>
              <p:spPr>
                <a:xfrm>
                  <a:off x="2001168" y="4262616"/>
                  <a:ext cx="468000" cy="369332"/>
                </a:xfrm>
                <a:prstGeom prst="rect">
                  <a:avLst/>
                </a:prstGeom>
                <a:blipFill>
                  <a:blip r:embed="rId8"/>
                  <a:stretch>
                    <a:fillRect r="-13559" b="-17308"/>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4AD26B77-6613-4D28-AAE3-C86EC9D2E06D}"/>
                </a:ext>
              </a:extLst>
            </p:cNvPr>
            <p:cNvSpPr txBox="1"/>
            <p:nvPr/>
          </p:nvSpPr>
          <p:spPr>
            <a:xfrm>
              <a:off x="1328467" y="5043479"/>
              <a:ext cx="461665" cy="49244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a:ea typeface="黑体" pitchFamily="49" charset="-122"/>
                  <a:cs typeface="+mn-cs"/>
                </a:rPr>
                <a:t>…</a:t>
              </a: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cxnSp>
          <p:nvCxnSpPr>
            <p:cNvPr id="41" name="直接箭头连接符 40">
              <a:extLst>
                <a:ext uri="{FF2B5EF4-FFF2-40B4-BE49-F238E27FC236}">
                  <a16:creationId xmlns:a16="http://schemas.microsoft.com/office/drawing/2014/main" id="{A78B3969-90CC-4E40-A418-5D9BA72F3599}"/>
                </a:ext>
              </a:extLst>
            </p:cNvPr>
            <p:cNvCxnSpPr>
              <a:cxnSpLocks/>
              <a:stCxn id="42" idx="6"/>
            </p:cNvCxnSpPr>
            <p:nvPr/>
          </p:nvCxnSpPr>
          <p:spPr>
            <a:xfrm flipV="1">
              <a:off x="1704545" y="5036305"/>
              <a:ext cx="1337955" cy="89164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椭圆 41">
                  <a:extLst>
                    <a:ext uri="{FF2B5EF4-FFF2-40B4-BE49-F238E27FC236}">
                      <a16:creationId xmlns:a16="http://schemas.microsoft.com/office/drawing/2014/main" id="{3D764704-849B-408D-8D32-B6F2081648FA}"/>
                    </a:ext>
                  </a:extLst>
                </p:cNvPr>
                <p:cNvSpPr/>
                <p:nvPr/>
              </p:nvSpPr>
              <p:spPr>
                <a:xfrm>
                  <a:off x="1186144" y="5599090"/>
                  <a:ext cx="518400" cy="65772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𝑎</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𝑛</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42" name="椭圆 41">
                  <a:extLst>
                    <a:ext uri="{FF2B5EF4-FFF2-40B4-BE49-F238E27FC236}">
                      <a16:creationId xmlns:a16="http://schemas.microsoft.com/office/drawing/2014/main" id="{3D764704-849B-408D-8D32-B6F2081648FA}"/>
                    </a:ext>
                  </a:extLst>
                </p:cNvPr>
                <p:cNvSpPr>
                  <a:spLocks noRot="1" noChangeAspect="1" noMove="1" noResize="1" noEditPoints="1" noAdjustHandles="1" noChangeArrowheads="1" noChangeShapeType="1" noTextEdit="1"/>
                </p:cNvSpPr>
                <p:nvPr/>
              </p:nvSpPr>
              <p:spPr>
                <a:xfrm>
                  <a:off x="1186144" y="5599090"/>
                  <a:ext cx="518400" cy="657727"/>
                </a:xfrm>
                <a:prstGeom prst="ellipse">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E7AC8A25-AFAF-4F6F-B4AB-9F00C1D71ED7}"/>
                    </a:ext>
                  </a:extLst>
                </p:cNvPr>
                <p:cNvSpPr txBox="1"/>
                <p:nvPr/>
              </p:nvSpPr>
              <p:spPr>
                <a:xfrm>
                  <a:off x="2150192" y="5500313"/>
                  <a:ext cx="468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𝑤</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t>𝑛</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mc:Choice>
          <mc:Fallback xmlns="">
            <p:sp>
              <p:nvSpPr>
                <p:cNvPr id="43" name="文本框 42">
                  <a:extLst>
                    <a:ext uri="{FF2B5EF4-FFF2-40B4-BE49-F238E27FC236}">
                      <a16:creationId xmlns:a16="http://schemas.microsoft.com/office/drawing/2014/main" id="{E7AC8A25-AFAF-4F6F-B4AB-9F00C1D71ED7}"/>
                    </a:ext>
                  </a:extLst>
                </p:cNvPr>
                <p:cNvSpPr txBox="1">
                  <a:spLocks noRot="1" noChangeAspect="1" noMove="1" noResize="1" noEditPoints="1" noAdjustHandles="1" noChangeArrowheads="1" noChangeShapeType="1" noTextEdit="1"/>
                </p:cNvSpPr>
                <p:nvPr/>
              </p:nvSpPr>
              <p:spPr>
                <a:xfrm>
                  <a:off x="2150192" y="5500313"/>
                  <a:ext cx="468000" cy="369332"/>
                </a:xfrm>
                <a:prstGeom prst="rect">
                  <a:avLst/>
                </a:prstGeom>
                <a:blipFill>
                  <a:blip r:embed="rId10"/>
                  <a:stretch>
                    <a:fillRect r="-11864" b="-13462"/>
                  </a:stretch>
                </a:blipFill>
              </p:spPr>
              <p:txBody>
                <a:bodyPr/>
                <a:lstStyle/>
                <a:p>
                  <a:r>
                    <a:rPr lang="zh-CN" altLang="en-US">
                      <a:noFill/>
                    </a:rPr>
                    <a:t> </a:t>
                  </a:r>
                </a:p>
              </p:txBody>
            </p:sp>
          </mc:Fallback>
        </mc:AlternateContent>
        <p:cxnSp>
          <p:nvCxnSpPr>
            <p:cNvPr id="46" name="直接箭头连接符 45">
              <a:extLst>
                <a:ext uri="{FF2B5EF4-FFF2-40B4-BE49-F238E27FC236}">
                  <a16:creationId xmlns:a16="http://schemas.microsoft.com/office/drawing/2014/main" id="{D9221A66-9535-48E5-8591-2989D1E9A76C}"/>
                </a:ext>
              </a:extLst>
            </p:cNvPr>
            <p:cNvCxnSpPr>
              <a:cxnSpLocks/>
            </p:cNvCxnSpPr>
            <p:nvPr/>
          </p:nvCxnSpPr>
          <p:spPr>
            <a:xfrm flipV="1">
              <a:off x="6120611" y="3942607"/>
              <a:ext cx="949367" cy="58925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616F9B65-63C9-417A-ACEF-9C8EA11B77C1}"/>
                </a:ext>
              </a:extLst>
            </p:cNvPr>
            <p:cNvSpPr/>
            <p:nvPr/>
          </p:nvSpPr>
          <p:spPr>
            <a:xfrm>
              <a:off x="7069977" y="3469743"/>
              <a:ext cx="518400" cy="65772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cxnSp>
          <p:nvCxnSpPr>
            <p:cNvPr id="55" name="直接箭头连接符 54">
              <a:extLst>
                <a:ext uri="{FF2B5EF4-FFF2-40B4-BE49-F238E27FC236}">
                  <a16:creationId xmlns:a16="http://schemas.microsoft.com/office/drawing/2014/main" id="{7CD1B228-3AEA-4D6F-AD81-51639A9C7044}"/>
                </a:ext>
              </a:extLst>
            </p:cNvPr>
            <p:cNvCxnSpPr>
              <a:cxnSpLocks/>
              <a:endCxn id="56" idx="2"/>
            </p:cNvCxnSpPr>
            <p:nvPr/>
          </p:nvCxnSpPr>
          <p:spPr>
            <a:xfrm flipV="1">
              <a:off x="6120610" y="4835224"/>
              <a:ext cx="1006074" cy="40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795AFA2C-12DF-4EF3-9595-03BA6CFD114D}"/>
                </a:ext>
              </a:extLst>
            </p:cNvPr>
            <p:cNvSpPr/>
            <p:nvPr/>
          </p:nvSpPr>
          <p:spPr>
            <a:xfrm>
              <a:off x="7126684" y="4506361"/>
              <a:ext cx="518400" cy="65772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cxnSp>
          <p:nvCxnSpPr>
            <p:cNvPr id="59" name="直接箭头连接符 58">
              <a:extLst>
                <a:ext uri="{FF2B5EF4-FFF2-40B4-BE49-F238E27FC236}">
                  <a16:creationId xmlns:a16="http://schemas.microsoft.com/office/drawing/2014/main" id="{AA8468A3-B983-4228-96B7-516F3774DF98}"/>
                </a:ext>
              </a:extLst>
            </p:cNvPr>
            <p:cNvCxnSpPr>
              <a:cxnSpLocks/>
            </p:cNvCxnSpPr>
            <p:nvPr/>
          </p:nvCxnSpPr>
          <p:spPr>
            <a:xfrm>
              <a:off x="6081624" y="5142610"/>
              <a:ext cx="1033338" cy="48283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7CB58689-B40C-423B-8026-4E0F7C056340}"/>
                </a:ext>
              </a:extLst>
            </p:cNvPr>
            <p:cNvSpPr/>
            <p:nvPr/>
          </p:nvSpPr>
          <p:spPr>
            <a:xfrm>
              <a:off x="7102770" y="5476695"/>
              <a:ext cx="518400" cy="65772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grpSp>
      <mc:AlternateContent xmlns:mc="http://schemas.openxmlformats.org/markup-compatibility/2006" xmlns:a14="http://schemas.microsoft.com/office/drawing/2010/main">
        <mc:Choice Requires="a14">
          <p:sp>
            <p:nvSpPr>
              <p:cNvPr id="65" name="矩形 64">
                <a:extLst>
                  <a:ext uri="{FF2B5EF4-FFF2-40B4-BE49-F238E27FC236}">
                    <a16:creationId xmlns:a16="http://schemas.microsoft.com/office/drawing/2014/main" id="{47928EF5-1121-40F8-B3E8-73630DF05CC7}"/>
                  </a:ext>
                </a:extLst>
              </p:cNvPr>
              <p:cNvSpPr/>
              <p:nvPr/>
            </p:nvSpPr>
            <p:spPr>
              <a:xfrm>
                <a:off x="426720" y="991929"/>
                <a:ext cx="8514079" cy="2121286"/>
              </a:xfrm>
              <a:prstGeom prst="rect">
                <a:avLst/>
              </a:prstGeom>
            </p:spPr>
            <p:txBody>
              <a:bodyPr wrap="square">
                <a:spAutoFit/>
              </a:bodyPr>
              <a:lstStyle/>
              <a:p>
                <a:pPr marL="355600" marR="0" lvl="0" indent="-355600" algn="l"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深度学习模型中基本单位，刻画神经元功能：</a:t>
                </a:r>
                <a:endParaRPr lang="en-US" altLang="zh-CN" sz="2800" dirty="0">
                  <a:solidFill>
                    <a:prstClr val="black"/>
                  </a:solidFill>
                  <a:latin typeface="黑体" panose="02010609060101010101" pitchFamily="49" charset="-122"/>
                  <a:ea typeface="黑体" panose="02010609060101010101" pitchFamily="49" charset="-122"/>
                </a:endParaRPr>
              </a:p>
              <a:p>
                <a:pPr marR="0" lvl="0" algn="l" defTabSz="914400" rtl="0" eaLnBrk="1" fontAlgn="auto" latinLnBrk="0" hangingPunct="1">
                  <a:lnSpc>
                    <a:spcPct val="130000"/>
                  </a:lnSpc>
                  <a:spcBef>
                    <a:spcPts val="0"/>
                  </a:spcBef>
                  <a:spcAft>
                    <a:spcPts val="0"/>
                  </a:spcAft>
                  <a:buClrTx/>
                  <a:buSzTx/>
                  <a:tabLst/>
                  <a:defRPr/>
                </a:pPr>
                <a:r>
                  <a:rPr lang="en-US" altLang="zh-CN" sz="2400" noProof="0" dirty="0">
                    <a:solidFill>
                      <a:prstClr val="black"/>
                    </a:solidFill>
                    <a:ea typeface="黑体" panose="02010609060101010101" pitchFamily="49" charset="-122"/>
                    <a:cs typeface="Times New Roman" panose="02020603050405020304" pitchFamily="18" charset="0"/>
                  </a:rPr>
                  <a:t>(1)</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对相邻前向神经元输入信息进行加权累加：</a:t>
                </a:r>
                <a14:m>
                  <m:oMath xmlns:m="http://schemas.openxmlformats.org/officeDocument/2006/math">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𝐼𝑛</m:t>
                    </m:r>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 </m:t>
                    </m:r>
                    <m:nary>
                      <m:naryPr>
                        <m:chr m:val="∑"/>
                        <m:limLoc m:val="subSup"/>
                        <m:ctrlP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ctrlPr>
                      </m:naryPr>
                      <m:sub>
                        <m:r>
                          <m:rPr>
                            <m:brk m:alnAt="25"/>
                          </m:rP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𝑖</m:t>
                        </m:r>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=1</m:t>
                        </m:r>
                      </m:sub>
                      <m:sup>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𝑛</m:t>
                        </m:r>
                      </m:sup>
                      <m:e>
                        <m:sSub>
                          <m:sSubPr>
                            <m:ctrlP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ctrlPr>
                          </m:sSubPr>
                          <m:e>
                            <m:sSub>
                              <m:sSubPr>
                                <m:ctrlP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𝑤</m:t>
                                </m:r>
                              </m:e>
                              <m:sub>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𝑎</m:t>
                            </m:r>
                          </m:e>
                          <m:sub>
                            <m:r>
                              <a:rPr kumimoji="0" lang="en-US" altLang="zh-CN" sz="22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e>
                    </m:nary>
                  </m:oMath>
                </a14:m>
                <a:endParaRPr kumimoji="0" lang="en-US" altLang="zh-CN"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endParaRPr>
              </a:p>
              <a:p>
                <a:pPr marR="0" lvl="0" algn="l" defTabSz="914400" rtl="0" eaLnBrk="1" fontAlgn="auto" latinLnBrk="0" hangingPunct="1">
                  <a:lnSpc>
                    <a:spcPct val="130000"/>
                  </a:lnSpc>
                  <a:spcBef>
                    <a:spcPts val="0"/>
                  </a:spcBef>
                  <a:spcAft>
                    <a:spcPts val="0"/>
                  </a:spcAft>
                  <a:buClrTx/>
                  <a:buSzTx/>
                  <a:tabLst/>
                  <a:defRPr/>
                </a:pPr>
                <a:r>
                  <a:rPr lang="en-US" altLang="zh-CN"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对累加结果进行非线性变换（通过激活函数）：</a:t>
                </a:r>
                <a14:m>
                  <m:oMath xmlns:m="http://schemas.openxmlformats.org/officeDocument/2006/math">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rPr>
                      <m:t>𝑔</m:t>
                    </m:r>
                    <m:d>
                      <m:dPr>
                        <m:ctrlP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rPr>
                          <m:t>𝑥</m:t>
                        </m:r>
                      </m:e>
                    </m:d>
                  </m:oMath>
                </a14:m>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ndParaRPr>
              </a:p>
              <a:p>
                <a:pPr marR="0" lvl="0" algn="l" defTabSz="914400" rtl="0" eaLnBrk="1" fontAlgn="auto" latinLnBrk="0" hangingPunct="1">
                  <a:lnSpc>
                    <a:spcPct val="130000"/>
                  </a:lnSpc>
                  <a:spcBef>
                    <a:spcPts val="0"/>
                  </a:spcBef>
                  <a:spcAft>
                    <a:spcPts val="0"/>
                  </a:spcAft>
                  <a:buClrTx/>
                  <a:buSzTx/>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神经元的输出：</a:t>
                </a: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𝑂𝑢𝑡</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𝑔</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400" b="0" i="1" u="none" strike="noStrike" kern="1200" cap="none" spc="0" normalizeH="0" baseline="0" noProof="0" smtClean="0">
                        <a:ln>
                          <a:noFill/>
                        </a:ln>
                        <a:solidFill>
                          <a:prstClr val="black"/>
                        </a:solidFill>
                        <a:effectLst/>
                        <a:uLnTx/>
                        <a:uFillTx/>
                        <a:latin typeface="Cambria Math"/>
                        <a:ea typeface="黑体" panose="02010609060101010101" pitchFamily="49" charset="-122"/>
                      </a:rPr>
                      <m:t>𝐼</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𝑛</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m:t>
                    </m:r>
                  </m:oMath>
                </a14:m>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65" name="矩形 64">
                <a:extLst>
                  <a:ext uri="{FF2B5EF4-FFF2-40B4-BE49-F238E27FC236}">
                    <a16:creationId xmlns:a16="http://schemas.microsoft.com/office/drawing/2014/main" id="{47928EF5-1121-40F8-B3E8-73630DF05CC7}"/>
                  </a:ext>
                </a:extLst>
              </p:cNvPr>
              <p:cNvSpPr>
                <a:spLocks noRot="1" noChangeAspect="1" noMove="1" noResize="1" noEditPoints="1" noAdjustHandles="1" noChangeArrowheads="1" noChangeShapeType="1" noTextEdit="1"/>
              </p:cNvSpPr>
              <p:nvPr/>
            </p:nvSpPr>
            <p:spPr>
              <a:xfrm>
                <a:off x="426720" y="991929"/>
                <a:ext cx="8514079" cy="2121286"/>
              </a:xfrm>
              <a:prstGeom prst="rect">
                <a:avLst/>
              </a:prstGeom>
              <a:blipFill>
                <a:blip r:embed="rId11"/>
                <a:stretch>
                  <a:fillRect l="-1217" t="-862" b="-2299"/>
                </a:stretch>
              </a:blipFill>
            </p:spPr>
            <p:txBody>
              <a:bodyPr/>
              <a:lstStyle/>
              <a:p>
                <a:r>
                  <a:rPr lang="zh-CN" altLang="en-US">
                    <a:noFill/>
                  </a:rPr>
                  <a:t> </a:t>
                </a:r>
              </a:p>
            </p:txBody>
          </p:sp>
        </mc:Fallback>
      </mc:AlternateContent>
      <p:sp>
        <p:nvSpPr>
          <p:cNvPr id="23" name="云形标注 22"/>
          <p:cNvSpPr/>
          <p:nvPr/>
        </p:nvSpPr>
        <p:spPr>
          <a:xfrm>
            <a:off x="521337" y="3902846"/>
            <a:ext cx="2574953" cy="1621578"/>
          </a:xfrm>
          <a:prstGeom prst="cloudCallout">
            <a:avLst>
              <a:gd name="adj1" fmla="val 50097"/>
              <a:gd name="adj2" fmla="val -100385"/>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a:ea typeface="黑体" pitchFamily="49" charset="-122"/>
                <a:cs typeface="+mn-cs"/>
              </a:rPr>
              <a:t>神经元越多、非线性映射越复杂</a:t>
            </a:r>
          </a:p>
        </p:txBody>
      </p:sp>
    </p:spTree>
    <p:extLst>
      <p:ext uri="{BB962C8B-B14F-4D97-AF65-F5344CB8AC3E}">
        <p14:creationId xmlns:p14="http://schemas.microsoft.com/office/powerpoint/2010/main" val="407601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0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2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244050" y="111072"/>
            <a:ext cx="8656110"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激活函数：</a:t>
            </a:r>
            <a:r>
              <a:rPr lang="zh-CN" altLang="en-US" dirty="0">
                <a:latin typeface="方正姚体" panose="02010601030101010101" pitchFamily="2" charset="-122"/>
                <a:ea typeface="方正姚体" panose="02010601030101010101" pitchFamily="2" charset="-122"/>
                <a:cs typeface="Times New Roman" panose="02020603050405020304" pitchFamily="18" charset="0"/>
              </a:rPr>
              <a:t>对输入信息进行非线性变换</a:t>
            </a:r>
            <a:endParaRPr lang="zh-CN" altLang="en-US" sz="4400" dirty="0">
              <a:latin typeface="方正姚体" panose="02010601030101010101" pitchFamily="2" charset="-122"/>
              <a:ea typeface="方正姚体" panose="02010601030101010101" pitchFamily="2" charset="-122"/>
              <a:cs typeface="Times New Roman" panose="02020603050405020304" pitchFamily="18" charset="0"/>
            </a:endParaRPr>
          </a:p>
        </p:txBody>
      </p:sp>
      <p:pic>
        <p:nvPicPr>
          <p:cNvPr id="7" name="图片 6"/>
          <p:cNvPicPr/>
          <p:nvPr/>
        </p:nvPicPr>
        <p:blipFill>
          <a:blip r:embed="rId2"/>
          <a:stretch>
            <a:fillRect/>
          </a:stretch>
        </p:blipFill>
        <p:spPr>
          <a:xfrm>
            <a:off x="1206344" y="1042215"/>
            <a:ext cx="6799735" cy="3672025"/>
          </a:xfrm>
          <a:prstGeom prst="rect">
            <a:avLst/>
          </a:prstGeom>
        </p:spPr>
      </p:pic>
      <p:sp>
        <p:nvSpPr>
          <p:cNvPr id="2" name="矩形 1"/>
          <p:cNvSpPr/>
          <p:nvPr/>
        </p:nvSpPr>
        <p:spPr>
          <a:xfrm>
            <a:off x="596744" y="4703766"/>
            <a:ext cx="7968135" cy="1712520"/>
          </a:xfrm>
          <a:prstGeom prst="rect">
            <a:avLst/>
          </a:prstGeom>
        </p:spPr>
        <p:txBody>
          <a:bodyPr wrap="square">
            <a:spAutoFit/>
          </a:bodyPr>
          <a:lstStyle/>
          <a:p>
            <a:pPr marL="457200" marR="0" lvl="0" indent="-457200" algn="just"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zh-CN" sz="2800" b="0" i="0" u="none" strike="noStrike" kern="1200" cap="none" spc="0" normalizeH="0" baseline="0" noProof="0" dirty="0">
                <a:ln>
                  <a:noFill/>
                </a:ln>
                <a:solidFill>
                  <a:prstClr val="black"/>
                </a:solidFill>
                <a:effectLst/>
                <a:uLnTx/>
                <a:uFillTx/>
                <a:latin typeface="Times New Roman"/>
                <a:ea typeface="黑体"/>
                <a:cs typeface="+mn-cs"/>
              </a:rPr>
              <a:t>神经网络使用非线性函数作为激活函数</a:t>
            </a:r>
            <a:r>
              <a:rPr lang="zh-CN" altLang="en-US" sz="2800" dirty="0">
                <a:solidFill>
                  <a:prstClr val="black"/>
                </a:solidFill>
                <a:latin typeface="Times New Roman"/>
                <a:ea typeface="黑体"/>
              </a:rPr>
              <a:t>，</a:t>
            </a:r>
            <a:r>
              <a:rPr kumimoji="0" lang="zh-CN" altLang="zh-CN" sz="2800" b="0" i="0" u="none" strike="noStrike" kern="1200" cap="none" spc="0" normalizeH="0" baseline="0" noProof="0" dirty="0">
                <a:ln>
                  <a:noFill/>
                </a:ln>
                <a:solidFill>
                  <a:prstClr val="black"/>
                </a:solidFill>
                <a:effectLst/>
                <a:uLnTx/>
                <a:uFillTx/>
                <a:latin typeface="Times New Roman"/>
                <a:ea typeface="黑体"/>
                <a:cs typeface="+mn-cs"/>
              </a:rPr>
              <a:t>通过对多个非线性函数进行组合，来实现对输入信息的非线性变换</a:t>
            </a:r>
            <a:endParaRPr kumimoji="0" lang="zh-CN" altLang="en-US" sz="2800" b="0" i="0" u="none" strike="noStrike" kern="1200" cap="none" spc="0" normalizeH="0" baseline="0" noProof="0" dirty="0">
              <a:ln>
                <a:noFill/>
              </a:ln>
              <a:solidFill>
                <a:prstClr val="black"/>
              </a:solidFill>
              <a:effectLst/>
              <a:uLnTx/>
              <a:uFillTx/>
              <a:latin typeface="Times New Roman"/>
              <a:ea typeface="黑体"/>
              <a:cs typeface="+mn-cs"/>
            </a:endParaRPr>
          </a:p>
        </p:txBody>
      </p:sp>
    </p:spTree>
    <p:extLst>
      <p:ext uri="{BB962C8B-B14F-4D97-AF65-F5344CB8AC3E}">
        <p14:creationId xmlns:p14="http://schemas.microsoft.com/office/powerpoint/2010/main" val="287997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273300" y="100457"/>
            <a:ext cx="837635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 前馈神经网络</a:t>
            </a:r>
          </a:p>
        </p:txBody>
      </p:sp>
      <p:sp>
        <p:nvSpPr>
          <p:cNvPr id="9" name="矩形 8">
            <a:extLst>
              <a:ext uri="{FF2B5EF4-FFF2-40B4-BE49-F238E27FC236}">
                <a16:creationId xmlns:a16="http://schemas.microsoft.com/office/drawing/2014/main" id="{34F958AB-D01D-49A5-A511-0EB3D774FF04}"/>
              </a:ext>
            </a:extLst>
          </p:cNvPr>
          <p:cNvSpPr/>
          <p:nvPr/>
        </p:nvSpPr>
        <p:spPr>
          <a:xfrm>
            <a:off x="402748" y="1028335"/>
            <a:ext cx="8387854" cy="2813655"/>
          </a:xfrm>
          <a:prstGeom prst="rect">
            <a:avLst/>
          </a:prstGeom>
        </p:spPr>
        <p:txBody>
          <a:bodyPr wrap="square">
            <a:sp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各个神经元接受前一级的输入，并输出到下一级，模型中没有反馈</a:t>
            </a:r>
            <a:endParaRPr kumimoji="0" lang="en-US"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层与层之间通过“全连接”进行链接，即两个相邻层之间的神经元完全成对连接，但层内的神经元不相互连接。</a:t>
            </a:r>
          </a:p>
        </p:txBody>
      </p:sp>
      <p:grpSp>
        <p:nvGrpSpPr>
          <p:cNvPr id="2" name="组合 1">
            <a:extLst>
              <a:ext uri="{FF2B5EF4-FFF2-40B4-BE49-F238E27FC236}">
                <a16:creationId xmlns:a16="http://schemas.microsoft.com/office/drawing/2014/main" id="{A04F62B6-7DE5-F10B-C438-164A0CEC48B5}"/>
              </a:ext>
            </a:extLst>
          </p:cNvPr>
          <p:cNvGrpSpPr/>
          <p:nvPr/>
        </p:nvGrpSpPr>
        <p:grpSpPr>
          <a:xfrm>
            <a:off x="2795264" y="3459784"/>
            <a:ext cx="5751538" cy="2928520"/>
            <a:chOff x="1687824" y="3388664"/>
            <a:chExt cx="5751538" cy="2928520"/>
          </a:xfrm>
        </p:grpSpPr>
        <p:sp>
          <p:nvSpPr>
            <p:cNvPr id="6" name="文本框 5">
              <a:extLst>
                <a:ext uri="{FF2B5EF4-FFF2-40B4-BE49-F238E27FC236}">
                  <a16:creationId xmlns:a16="http://schemas.microsoft.com/office/drawing/2014/main" id="{12677E19-B6B0-4BF9-97DE-1BF50B84A4DE}"/>
                </a:ext>
              </a:extLst>
            </p:cNvPr>
            <p:cNvSpPr txBox="1"/>
            <p:nvPr/>
          </p:nvSpPr>
          <p:spPr>
            <a:xfrm>
              <a:off x="1687824" y="5888907"/>
              <a:ext cx="109728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rPr>
                <a:t>输入层</a:t>
              </a:r>
            </a:p>
          </p:txBody>
        </p:sp>
        <p:sp>
          <p:nvSpPr>
            <p:cNvPr id="3" name="矩形 2">
              <a:extLst>
                <a:ext uri="{FF2B5EF4-FFF2-40B4-BE49-F238E27FC236}">
                  <a16:creationId xmlns:a16="http://schemas.microsoft.com/office/drawing/2014/main" id="{70C29BF8-827C-4093-9A8E-F95A4C9B3F41}"/>
                </a:ext>
              </a:extLst>
            </p:cNvPr>
            <p:cNvSpPr/>
            <p:nvPr/>
          </p:nvSpPr>
          <p:spPr>
            <a:xfrm>
              <a:off x="2042154" y="3713300"/>
              <a:ext cx="403860" cy="1656080"/>
            </a:xfrm>
            <a:prstGeom prst="rect">
              <a:avLst/>
            </a:prstGeom>
            <a:solidFill>
              <a:schemeClr val="bg1">
                <a:lumMod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4" name="椭圆 3">
              <a:extLst>
                <a:ext uri="{FF2B5EF4-FFF2-40B4-BE49-F238E27FC236}">
                  <a16:creationId xmlns:a16="http://schemas.microsoft.com/office/drawing/2014/main" id="{5674CD7E-1691-4D3C-AEA3-9EAB06EDE43B}"/>
                </a:ext>
              </a:extLst>
            </p:cNvPr>
            <p:cNvSpPr/>
            <p:nvPr/>
          </p:nvSpPr>
          <p:spPr>
            <a:xfrm>
              <a:off x="2087874" y="3904974"/>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1" name="椭圆 10">
              <a:extLst>
                <a:ext uri="{FF2B5EF4-FFF2-40B4-BE49-F238E27FC236}">
                  <a16:creationId xmlns:a16="http://schemas.microsoft.com/office/drawing/2014/main" id="{5E016420-E7BE-4C3B-95B6-11B3535C424E}"/>
                </a:ext>
              </a:extLst>
            </p:cNvPr>
            <p:cNvSpPr/>
            <p:nvPr/>
          </p:nvSpPr>
          <p:spPr>
            <a:xfrm>
              <a:off x="2087874" y="4385227"/>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2" name="椭圆 11">
              <a:extLst>
                <a:ext uri="{FF2B5EF4-FFF2-40B4-BE49-F238E27FC236}">
                  <a16:creationId xmlns:a16="http://schemas.microsoft.com/office/drawing/2014/main" id="{4A2F2167-F245-4DE8-9FEC-ECFB5894A4DC}"/>
                </a:ext>
              </a:extLst>
            </p:cNvPr>
            <p:cNvSpPr/>
            <p:nvPr/>
          </p:nvSpPr>
          <p:spPr>
            <a:xfrm>
              <a:off x="2087874" y="4865481"/>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6" name="矩形 15">
              <a:extLst>
                <a:ext uri="{FF2B5EF4-FFF2-40B4-BE49-F238E27FC236}">
                  <a16:creationId xmlns:a16="http://schemas.microsoft.com/office/drawing/2014/main" id="{C81EFD89-9357-4C22-A39D-699A0E590125}"/>
                </a:ext>
              </a:extLst>
            </p:cNvPr>
            <p:cNvSpPr/>
            <p:nvPr/>
          </p:nvSpPr>
          <p:spPr>
            <a:xfrm>
              <a:off x="3413754" y="3447715"/>
              <a:ext cx="403860" cy="2197351"/>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7" name="椭圆 16">
              <a:extLst>
                <a:ext uri="{FF2B5EF4-FFF2-40B4-BE49-F238E27FC236}">
                  <a16:creationId xmlns:a16="http://schemas.microsoft.com/office/drawing/2014/main" id="{89B4CAB2-FFD1-467F-842B-C6E2B49CD0A9}"/>
                </a:ext>
              </a:extLst>
            </p:cNvPr>
            <p:cNvSpPr/>
            <p:nvPr/>
          </p:nvSpPr>
          <p:spPr>
            <a:xfrm>
              <a:off x="3459474" y="3639390"/>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8" name="椭圆 17">
              <a:extLst>
                <a:ext uri="{FF2B5EF4-FFF2-40B4-BE49-F238E27FC236}">
                  <a16:creationId xmlns:a16="http://schemas.microsoft.com/office/drawing/2014/main" id="{F1154EF4-9B50-4BBE-8E39-E11B0FEDE144}"/>
                </a:ext>
              </a:extLst>
            </p:cNvPr>
            <p:cNvSpPr/>
            <p:nvPr/>
          </p:nvSpPr>
          <p:spPr>
            <a:xfrm>
              <a:off x="3459474" y="4119643"/>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9" name="椭圆 18">
              <a:extLst>
                <a:ext uri="{FF2B5EF4-FFF2-40B4-BE49-F238E27FC236}">
                  <a16:creationId xmlns:a16="http://schemas.microsoft.com/office/drawing/2014/main" id="{564F1E66-5750-4786-B815-037877ADD431}"/>
                </a:ext>
              </a:extLst>
            </p:cNvPr>
            <p:cNvSpPr/>
            <p:nvPr/>
          </p:nvSpPr>
          <p:spPr>
            <a:xfrm>
              <a:off x="3459474" y="4599897"/>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20" name="椭圆 19">
              <a:extLst>
                <a:ext uri="{FF2B5EF4-FFF2-40B4-BE49-F238E27FC236}">
                  <a16:creationId xmlns:a16="http://schemas.microsoft.com/office/drawing/2014/main" id="{1AEFE3A7-8697-4884-A099-F828E09656AD}"/>
                </a:ext>
              </a:extLst>
            </p:cNvPr>
            <p:cNvSpPr/>
            <p:nvPr/>
          </p:nvSpPr>
          <p:spPr>
            <a:xfrm>
              <a:off x="3459474" y="5080078"/>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cxnSp>
          <p:nvCxnSpPr>
            <p:cNvPr id="13" name="直接箭头连接符 12">
              <a:extLst>
                <a:ext uri="{FF2B5EF4-FFF2-40B4-BE49-F238E27FC236}">
                  <a16:creationId xmlns:a16="http://schemas.microsoft.com/office/drawing/2014/main" id="{351B1E51-C8FC-4F2F-AD9E-B20936880580}"/>
                </a:ext>
              </a:extLst>
            </p:cNvPr>
            <p:cNvCxnSpPr>
              <a:endCxn id="17" idx="2"/>
            </p:cNvCxnSpPr>
            <p:nvPr/>
          </p:nvCxnSpPr>
          <p:spPr>
            <a:xfrm flipV="1">
              <a:off x="2407914" y="3833114"/>
              <a:ext cx="1051560" cy="286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D0153DDC-BDD5-4122-AD37-3B38499F8E86}"/>
                </a:ext>
              </a:extLst>
            </p:cNvPr>
            <p:cNvCxnSpPr>
              <a:cxnSpLocks/>
              <a:stCxn id="11" idx="6"/>
              <a:endCxn id="17" idx="2"/>
            </p:cNvCxnSpPr>
            <p:nvPr/>
          </p:nvCxnSpPr>
          <p:spPr>
            <a:xfrm flipV="1">
              <a:off x="2400294" y="3833114"/>
              <a:ext cx="1059180" cy="7458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52EC3692-C358-44CD-ADAD-6F25DE52AE07}"/>
                </a:ext>
              </a:extLst>
            </p:cNvPr>
            <p:cNvCxnSpPr>
              <a:cxnSpLocks/>
              <a:stCxn id="12" idx="6"/>
              <a:endCxn id="17" idx="2"/>
            </p:cNvCxnSpPr>
            <p:nvPr/>
          </p:nvCxnSpPr>
          <p:spPr>
            <a:xfrm flipV="1">
              <a:off x="2400294" y="3833113"/>
              <a:ext cx="1059180" cy="12260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5038BB77-66A5-4573-A494-B1FCD947F074}"/>
                </a:ext>
              </a:extLst>
            </p:cNvPr>
            <p:cNvCxnSpPr>
              <a:stCxn id="4" idx="6"/>
              <a:endCxn id="18" idx="2"/>
            </p:cNvCxnSpPr>
            <p:nvPr/>
          </p:nvCxnSpPr>
          <p:spPr>
            <a:xfrm>
              <a:off x="2400294" y="4098698"/>
              <a:ext cx="1059180" cy="2146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49A14F5-7FB9-410D-9CA2-68B0E8207E9F}"/>
                </a:ext>
              </a:extLst>
            </p:cNvPr>
            <p:cNvCxnSpPr>
              <a:stCxn id="4" idx="6"/>
              <a:endCxn id="19" idx="2"/>
            </p:cNvCxnSpPr>
            <p:nvPr/>
          </p:nvCxnSpPr>
          <p:spPr>
            <a:xfrm>
              <a:off x="2400294" y="4098697"/>
              <a:ext cx="1059180" cy="6949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0AA6E16-2987-4948-906B-5068C7263B49}"/>
                </a:ext>
              </a:extLst>
            </p:cNvPr>
            <p:cNvCxnSpPr>
              <a:cxnSpLocks/>
              <a:stCxn id="4" idx="6"/>
              <a:endCxn id="20" idx="2"/>
            </p:cNvCxnSpPr>
            <p:nvPr/>
          </p:nvCxnSpPr>
          <p:spPr>
            <a:xfrm>
              <a:off x="2400294" y="4098697"/>
              <a:ext cx="1059180" cy="11751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761D323E-21A1-4873-9572-9D76A71F0B87}"/>
                </a:ext>
              </a:extLst>
            </p:cNvPr>
            <p:cNvCxnSpPr>
              <a:stCxn id="11" idx="6"/>
              <a:endCxn id="18" idx="2"/>
            </p:cNvCxnSpPr>
            <p:nvPr/>
          </p:nvCxnSpPr>
          <p:spPr>
            <a:xfrm flipV="1">
              <a:off x="2400294" y="4313367"/>
              <a:ext cx="1059180" cy="265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CABDF6AD-1A27-4A8D-B638-E3E226D00819}"/>
                </a:ext>
              </a:extLst>
            </p:cNvPr>
            <p:cNvCxnSpPr>
              <a:cxnSpLocks/>
              <a:stCxn id="11" idx="6"/>
              <a:endCxn id="19" idx="2"/>
            </p:cNvCxnSpPr>
            <p:nvPr/>
          </p:nvCxnSpPr>
          <p:spPr>
            <a:xfrm>
              <a:off x="2400294" y="4578951"/>
              <a:ext cx="1059180" cy="2146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206DBF12-0FF5-49FC-90F0-4B053E19D895}"/>
                </a:ext>
              </a:extLst>
            </p:cNvPr>
            <p:cNvCxnSpPr>
              <a:stCxn id="11" idx="6"/>
              <a:endCxn id="20" idx="2"/>
            </p:cNvCxnSpPr>
            <p:nvPr/>
          </p:nvCxnSpPr>
          <p:spPr>
            <a:xfrm>
              <a:off x="2400294" y="4578951"/>
              <a:ext cx="1059180" cy="6948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197F2E4E-32E4-4EB3-B94B-4964EC22C25C}"/>
                </a:ext>
              </a:extLst>
            </p:cNvPr>
            <p:cNvCxnSpPr>
              <a:endCxn id="18" idx="2"/>
            </p:cNvCxnSpPr>
            <p:nvPr/>
          </p:nvCxnSpPr>
          <p:spPr>
            <a:xfrm flipV="1">
              <a:off x="2407914" y="4313368"/>
              <a:ext cx="1051560" cy="7349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99327ED7-46C6-4D83-A9F0-4EBC36DE0AA6}"/>
                </a:ext>
              </a:extLst>
            </p:cNvPr>
            <p:cNvCxnSpPr>
              <a:stCxn id="12" idx="6"/>
              <a:endCxn id="19" idx="2"/>
            </p:cNvCxnSpPr>
            <p:nvPr/>
          </p:nvCxnSpPr>
          <p:spPr>
            <a:xfrm flipV="1">
              <a:off x="2400294" y="4793620"/>
              <a:ext cx="1059180" cy="265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512FD7BE-06CF-43C0-9D3E-4CD60B31E776}"/>
                </a:ext>
              </a:extLst>
            </p:cNvPr>
            <p:cNvCxnSpPr>
              <a:stCxn id="12" idx="6"/>
              <a:endCxn id="20" idx="2"/>
            </p:cNvCxnSpPr>
            <p:nvPr/>
          </p:nvCxnSpPr>
          <p:spPr>
            <a:xfrm>
              <a:off x="2400294" y="5059204"/>
              <a:ext cx="1059180" cy="2145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9" name="组合 78">
              <a:extLst>
                <a:ext uri="{FF2B5EF4-FFF2-40B4-BE49-F238E27FC236}">
                  <a16:creationId xmlns:a16="http://schemas.microsoft.com/office/drawing/2014/main" id="{DEB56BA2-F514-458A-8159-D19EA0084070}"/>
                </a:ext>
              </a:extLst>
            </p:cNvPr>
            <p:cNvGrpSpPr/>
            <p:nvPr/>
          </p:nvGrpSpPr>
          <p:grpSpPr>
            <a:xfrm>
              <a:off x="3619461" y="3388664"/>
              <a:ext cx="842017" cy="1879267"/>
              <a:chOff x="3117856" y="3037657"/>
              <a:chExt cx="1297934" cy="1409450"/>
            </a:xfrm>
          </p:grpSpPr>
          <p:cxnSp>
            <p:nvCxnSpPr>
              <p:cNvPr id="48" name="直接箭头连接符 47">
                <a:extLst>
                  <a:ext uri="{FF2B5EF4-FFF2-40B4-BE49-F238E27FC236}">
                    <a16:creationId xmlns:a16="http://schemas.microsoft.com/office/drawing/2014/main" id="{3D5E842C-EAC7-46A3-85D6-55F12C8DB21B}"/>
                  </a:ext>
                </a:extLst>
              </p:cNvPr>
              <p:cNvCxnSpPr>
                <a:cxnSpLocks/>
                <a:stCxn id="17" idx="6"/>
              </p:cNvCxnSpPr>
              <p:nvPr/>
            </p:nvCxnSpPr>
            <p:spPr>
              <a:xfrm flipV="1">
                <a:off x="3117858" y="3037657"/>
                <a:ext cx="1062996" cy="20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E48089DC-9290-4720-B214-1471C2FDBFA1}"/>
                  </a:ext>
                </a:extLst>
              </p:cNvPr>
              <p:cNvCxnSpPr>
                <a:cxnSpLocks/>
                <a:stCxn id="17" idx="6"/>
              </p:cNvCxnSpPr>
              <p:nvPr/>
            </p:nvCxnSpPr>
            <p:spPr>
              <a:xfrm>
                <a:off x="3117856" y="3057715"/>
                <a:ext cx="1062993" cy="34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596E423D-DB2E-4BEB-9E8F-2B682D3E6A43}"/>
                  </a:ext>
                </a:extLst>
              </p:cNvPr>
              <p:cNvCxnSpPr>
                <a:cxnSpLocks/>
                <a:stCxn id="17" idx="6"/>
              </p:cNvCxnSpPr>
              <p:nvPr/>
            </p:nvCxnSpPr>
            <p:spPr>
              <a:xfrm>
                <a:off x="3117856" y="3057715"/>
                <a:ext cx="1062996" cy="700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B7310801-BAA3-4EEB-8878-AFB8C2458133}"/>
                  </a:ext>
                </a:extLst>
              </p:cNvPr>
              <p:cNvCxnSpPr>
                <a:cxnSpLocks/>
                <a:stCxn id="17" idx="6"/>
              </p:cNvCxnSpPr>
              <p:nvPr/>
            </p:nvCxnSpPr>
            <p:spPr>
              <a:xfrm>
                <a:off x="3117856" y="3057715"/>
                <a:ext cx="1062996" cy="1060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AD606EDA-847C-4472-986B-CE98D8B287B5}"/>
                  </a:ext>
                </a:extLst>
              </p:cNvPr>
              <p:cNvCxnSpPr>
                <a:cxnSpLocks/>
              </p:cNvCxnSpPr>
              <p:nvPr/>
            </p:nvCxnSpPr>
            <p:spPr>
              <a:xfrm flipV="1">
                <a:off x="3387090" y="3171805"/>
                <a:ext cx="1013460" cy="179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A30E91DA-3272-4B10-A341-4F00010CD7D6}"/>
                  </a:ext>
                </a:extLst>
              </p:cNvPr>
              <p:cNvCxnSpPr>
                <a:cxnSpLocks/>
                <a:stCxn id="18" idx="6"/>
              </p:cNvCxnSpPr>
              <p:nvPr/>
            </p:nvCxnSpPr>
            <p:spPr>
              <a:xfrm flipV="1">
                <a:off x="3117856" y="3037657"/>
                <a:ext cx="1062996" cy="380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5" name="直接箭头连接符 1024">
                <a:extLst>
                  <a:ext uri="{FF2B5EF4-FFF2-40B4-BE49-F238E27FC236}">
                    <a16:creationId xmlns:a16="http://schemas.microsoft.com/office/drawing/2014/main" id="{230BFF3F-C068-4B6E-AE1E-12C6145FF627}"/>
                  </a:ext>
                </a:extLst>
              </p:cNvPr>
              <p:cNvCxnSpPr>
                <a:cxnSpLocks/>
                <a:stCxn id="18" idx="6"/>
              </p:cNvCxnSpPr>
              <p:nvPr/>
            </p:nvCxnSpPr>
            <p:spPr>
              <a:xfrm flipV="1">
                <a:off x="3117856" y="3397847"/>
                <a:ext cx="1062996" cy="20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9" name="直接箭头连接符 1028">
                <a:extLst>
                  <a:ext uri="{FF2B5EF4-FFF2-40B4-BE49-F238E27FC236}">
                    <a16:creationId xmlns:a16="http://schemas.microsoft.com/office/drawing/2014/main" id="{C15C511F-BFC8-4A27-A7EF-CC6175D58B05}"/>
                  </a:ext>
                </a:extLst>
              </p:cNvPr>
              <p:cNvCxnSpPr>
                <a:cxnSpLocks/>
                <a:stCxn id="18" idx="6"/>
              </p:cNvCxnSpPr>
              <p:nvPr/>
            </p:nvCxnSpPr>
            <p:spPr>
              <a:xfrm>
                <a:off x="3117856" y="3417905"/>
                <a:ext cx="1062996" cy="34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1" name="直接箭头连接符 1030">
                <a:extLst>
                  <a:ext uri="{FF2B5EF4-FFF2-40B4-BE49-F238E27FC236}">
                    <a16:creationId xmlns:a16="http://schemas.microsoft.com/office/drawing/2014/main" id="{BEB6C8A0-03AE-468C-8F06-C22BDE3E3E0D}"/>
                  </a:ext>
                </a:extLst>
              </p:cNvPr>
              <p:cNvCxnSpPr>
                <a:cxnSpLocks/>
                <a:stCxn id="18" idx="6"/>
              </p:cNvCxnSpPr>
              <p:nvPr/>
            </p:nvCxnSpPr>
            <p:spPr>
              <a:xfrm>
                <a:off x="3117856" y="3417905"/>
                <a:ext cx="1062996" cy="700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3" name="直接箭头连接符 1032">
                <a:extLst>
                  <a:ext uri="{FF2B5EF4-FFF2-40B4-BE49-F238E27FC236}">
                    <a16:creationId xmlns:a16="http://schemas.microsoft.com/office/drawing/2014/main" id="{14D983BD-3D72-4858-B73A-68EBA3D705BB}"/>
                  </a:ext>
                </a:extLst>
              </p:cNvPr>
              <p:cNvCxnSpPr>
                <a:cxnSpLocks/>
                <a:stCxn id="19" idx="6"/>
              </p:cNvCxnSpPr>
              <p:nvPr/>
            </p:nvCxnSpPr>
            <p:spPr>
              <a:xfrm flipV="1">
                <a:off x="3117856" y="3037657"/>
                <a:ext cx="1062996" cy="740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5" name="直接箭头连接符 1034">
                <a:extLst>
                  <a:ext uri="{FF2B5EF4-FFF2-40B4-BE49-F238E27FC236}">
                    <a16:creationId xmlns:a16="http://schemas.microsoft.com/office/drawing/2014/main" id="{3E34211D-604A-418B-8960-E800A2677C1F}"/>
                  </a:ext>
                </a:extLst>
              </p:cNvPr>
              <p:cNvCxnSpPr>
                <a:cxnSpLocks/>
                <a:stCxn id="19" idx="6"/>
              </p:cNvCxnSpPr>
              <p:nvPr/>
            </p:nvCxnSpPr>
            <p:spPr>
              <a:xfrm flipV="1">
                <a:off x="3117856" y="3397847"/>
                <a:ext cx="1062996" cy="380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7" name="直接箭头连接符 1036">
                <a:extLst>
                  <a:ext uri="{FF2B5EF4-FFF2-40B4-BE49-F238E27FC236}">
                    <a16:creationId xmlns:a16="http://schemas.microsoft.com/office/drawing/2014/main" id="{2C84F857-C65E-46E5-AE55-6211FB95D726}"/>
                  </a:ext>
                </a:extLst>
              </p:cNvPr>
              <p:cNvCxnSpPr>
                <a:cxnSpLocks/>
                <a:stCxn id="19" idx="6"/>
              </p:cNvCxnSpPr>
              <p:nvPr/>
            </p:nvCxnSpPr>
            <p:spPr>
              <a:xfrm flipV="1">
                <a:off x="3117856" y="3758037"/>
                <a:ext cx="1062996" cy="20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9" name="直接箭头连接符 1038">
                <a:extLst>
                  <a:ext uri="{FF2B5EF4-FFF2-40B4-BE49-F238E27FC236}">
                    <a16:creationId xmlns:a16="http://schemas.microsoft.com/office/drawing/2014/main" id="{CB9356E1-68EE-422B-8583-200BC7727F8B}"/>
                  </a:ext>
                </a:extLst>
              </p:cNvPr>
              <p:cNvCxnSpPr>
                <a:cxnSpLocks/>
                <a:stCxn id="19" idx="6"/>
              </p:cNvCxnSpPr>
              <p:nvPr/>
            </p:nvCxnSpPr>
            <p:spPr>
              <a:xfrm>
                <a:off x="3117856" y="3778095"/>
                <a:ext cx="1062996" cy="340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5" name="直接箭头连接符 1044">
                <a:extLst>
                  <a:ext uri="{FF2B5EF4-FFF2-40B4-BE49-F238E27FC236}">
                    <a16:creationId xmlns:a16="http://schemas.microsoft.com/office/drawing/2014/main" id="{D74200A1-34D6-4110-AC0D-B8B9A3619409}"/>
                  </a:ext>
                </a:extLst>
              </p:cNvPr>
              <p:cNvCxnSpPr>
                <a:cxnSpLocks/>
                <a:stCxn id="20" idx="6"/>
              </p:cNvCxnSpPr>
              <p:nvPr/>
            </p:nvCxnSpPr>
            <p:spPr>
              <a:xfrm flipV="1">
                <a:off x="3117856" y="3037657"/>
                <a:ext cx="1062996" cy="1100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7" name="直接箭头连接符 1046">
                <a:extLst>
                  <a:ext uri="{FF2B5EF4-FFF2-40B4-BE49-F238E27FC236}">
                    <a16:creationId xmlns:a16="http://schemas.microsoft.com/office/drawing/2014/main" id="{21EDA416-0B79-4363-9DF3-93D2B14772C1}"/>
                  </a:ext>
                </a:extLst>
              </p:cNvPr>
              <p:cNvCxnSpPr>
                <a:cxnSpLocks/>
                <a:stCxn id="20" idx="6"/>
              </p:cNvCxnSpPr>
              <p:nvPr/>
            </p:nvCxnSpPr>
            <p:spPr>
              <a:xfrm flipV="1">
                <a:off x="3117856" y="3397847"/>
                <a:ext cx="1062996" cy="740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9" name="直接箭头连接符 1048">
                <a:extLst>
                  <a:ext uri="{FF2B5EF4-FFF2-40B4-BE49-F238E27FC236}">
                    <a16:creationId xmlns:a16="http://schemas.microsoft.com/office/drawing/2014/main" id="{0FEE2485-A67A-444F-A0EA-AB2210232F9A}"/>
                  </a:ext>
                </a:extLst>
              </p:cNvPr>
              <p:cNvCxnSpPr>
                <a:cxnSpLocks/>
              </p:cNvCxnSpPr>
              <p:nvPr/>
            </p:nvCxnSpPr>
            <p:spPr>
              <a:xfrm flipV="1">
                <a:off x="3352800" y="4071316"/>
                <a:ext cx="1062990" cy="375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1" name="直接箭头连接符 1050">
                <a:extLst>
                  <a:ext uri="{FF2B5EF4-FFF2-40B4-BE49-F238E27FC236}">
                    <a16:creationId xmlns:a16="http://schemas.microsoft.com/office/drawing/2014/main" id="{A655F09D-C7CF-4E64-8BA2-47115B739196}"/>
                  </a:ext>
                </a:extLst>
              </p:cNvPr>
              <p:cNvCxnSpPr>
                <a:cxnSpLocks/>
                <a:stCxn id="20" idx="6"/>
              </p:cNvCxnSpPr>
              <p:nvPr/>
            </p:nvCxnSpPr>
            <p:spPr>
              <a:xfrm flipV="1">
                <a:off x="3117856" y="4118173"/>
                <a:ext cx="1062996" cy="20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3" name="直接箭头连接符 1052">
                <a:extLst>
                  <a:ext uri="{FF2B5EF4-FFF2-40B4-BE49-F238E27FC236}">
                    <a16:creationId xmlns:a16="http://schemas.microsoft.com/office/drawing/2014/main" id="{A1FCC74F-F84C-4089-B6D7-E088F761F6D1}"/>
                  </a:ext>
                </a:extLst>
              </p:cNvPr>
              <p:cNvCxnSpPr>
                <a:stCxn id="20" idx="6"/>
              </p:cNvCxnSpPr>
              <p:nvPr/>
            </p:nvCxnSpPr>
            <p:spPr>
              <a:xfrm>
                <a:off x="3117856" y="4138231"/>
                <a:ext cx="1013461" cy="149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55" name="矩形 1054">
              <a:extLst>
                <a:ext uri="{FF2B5EF4-FFF2-40B4-BE49-F238E27FC236}">
                  <a16:creationId xmlns:a16="http://schemas.microsoft.com/office/drawing/2014/main" id="{50BFD2D4-2841-4468-B660-B8A72E5E71A2}"/>
                </a:ext>
              </a:extLst>
            </p:cNvPr>
            <p:cNvSpPr/>
            <p:nvPr/>
          </p:nvSpPr>
          <p:spPr>
            <a:xfrm>
              <a:off x="3947154" y="3810282"/>
              <a:ext cx="240030" cy="1501143"/>
            </a:xfrm>
            <a:prstGeom prst="rect">
              <a:avLst/>
            </a:prstGeom>
            <a:ln>
              <a:noFill/>
            </a:ln>
          </p:spPr>
          <p:style>
            <a:lnRef idx="2">
              <a:schemeClr val="accent1"/>
            </a:lnRef>
            <a:fillRef idx="1">
              <a:schemeClr val="lt1"/>
            </a:fillRef>
            <a:effectRef idx="0">
              <a:schemeClr val="accent1"/>
            </a:effectRef>
            <a:fontRef idx="minor">
              <a:schemeClr val="dk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a:ea typeface="黑体"/>
                  <a:cs typeface="+mn-cs"/>
                </a:rPr>
                <a:t>···</a:t>
              </a:r>
              <a:endParaRPr kumimoji="0" lang="zh-CN" altLang="en-US" sz="24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96" name="矩形 95">
              <a:extLst>
                <a:ext uri="{FF2B5EF4-FFF2-40B4-BE49-F238E27FC236}">
                  <a16:creationId xmlns:a16="http://schemas.microsoft.com/office/drawing/2014/main" id="{38A9C49F-86E1-4C53-BCD2-A808825A385E}"/>
                </a:ext>
              </a:extLst>
            </p:cNvPr>
            <p:cNvSpPr/>
            <p:nvPr/>
          </p:nvSpPr>
          <p:spPr>
            <a:xfrm rot="16200000">
              <a:off x="4445661" y="4297364"/>
              <a:ext cx="302029" cy="483702"/>
            </a:xfrm>
            <a:prstGeom prst="rect">
              <a:avLst/>
            </a:prstGeom>
            <a:ln>
              <a:noFill/>
            </a:ln>
          </p:spPr>
          <p:style>
            <a:lnRef idx="2">
              <a:schemeClr val="accent1"/>
            </a:lnRef>
            <a:fillRef idx="1">
              <a:schemeClr val="lt1"/>
            </a:fillRef>
            <a:effectRef idx="0">
              <a:schemeClr val="accent1"/>
            </a:effectRef>
            <a:fontRef idx="minor">
              <a:schemeClr val="dk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a:ea typeface="黑体"/>
                  <a:cs typeface="+mn-cs"/>
                </a:rPr>
                <a:t>···</a:t>
              </a:r>
              <a:endParaRPr kumimoji="0" lang="zh-CN" altLang="en-US" sz="24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97" name="矩形 96">
              <a:extLst>
                <a:ext uri="{FF2B5EF4-FFF2-40B4-BE49-F238E27FC236}">
                  <a16:creationId xmlns:a16="http://schemas.microsoft.com/office/drawing/2014/main" id="{70AD11A0-2B01-42CD-955C-0BC8C83F616A}"/>
                </a:ext>
              </a:extLst>
            </p:cNvPr>
            <p:cNvSpPr/>
            <p:nvPr/>
          </p:nvSpPr>
          <p:spPr>
            <a:xfrm>
              <a:off x="5426558" y="3444039"/>
              <a:ext cx="403860" cy="2197351"/>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98" name="椭圆 97">
              <a:extLst>
                <a:ext uri="{FF2B5EF4-FFF2-40B4-BE49-F238E27FC236}">
                  <a16:creationId xmlns:a16="http://schemas.microsoft.com/office/drawing/2014/main" id="{F09C2115-0C64-4B7A-8555-02EF13858EEE}"/>
                </a:ext>
              </a:extLst>
            </p:cNvPr>
            <p:cNvSpPr/>
            <p:nvPr/>
          </p:nvSpPr>
          <p:spPr>
            <a:xfrm>
              <a:off x="5472278" y="3635714"/>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99" name="椭圆 98">
              <a:extLst>
                <a:ext uri="{FF2B5EF4-FFF2-40B4-BE49-F238E27FC236}">
                  <a16:creationId xmlns:a16="http://schemas.microsoft.com/office/drawing/2014/main" id="{9646C65C-8791-4325-9681-91B426F36871}"/>
                </a:ext>
              </a:extLst>
            </p:cNvPr>
            <p:cNvSpPr/>
            <p:nvPr/>
          </p:nvSpPr>
          <p:spPr>
            <a:xfrm>
              <a:off x="5472278" y="4115967"/>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00" name="椭圆 99">
              <a:extLst>
                <a:ext uri="{FF2B5EF4-FFF2-40B4-BE49-F238E27FC236}">
                  <a16:creationId xmlns:a16="http://schemas.microsoft.com/office/drawing/2014/main" id="{D89DE5E9-CEFD-4C39-A50F-E8914B2A4ADC}"/>
                </a:ext>
              </a:extLst>
            </p:cNvPr>
            <p:cNvSpPr/>
            <p:nvPr/>
          </p:nvSpPr>
          <p:spPr>
            <a:xfrm>
              <a:off x="5472278" y="4596221"/>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01" name="椭圆 100">
              <a:extLst>
                <a:ext uri="{FF2B5EF4-FFF2-40B4-BE49-F238E27FC236}">
                  <a16:creationId xmlns:a16="http://schemas.microsoft.com/office/drawing/2014/main" id="{C8D168D5-B6F5-4983-A495-B17891338DC2}"/>
                </a:ext>
              </a:extLst>
            </p:cNvPr>
            <p:cNvSpPr/>
            <p:nvPr/>
          </p:nvSpPr>
          <p:spPr>
            <a:xfrm>
              <a:off x="5472278" y="5076402"/>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cxnSp>
          <p:nvCxnSpPr>
            <p:cNvPr id="1057" name="直接箭头连接符 1056">
              <a:extLst>
                <a:ext uri="{FF2B5EF4-FFF2-40B4-BE49-F238E27FC236}">
                  <a16:creationId xmlns:a16="http://schemas.microsoft.com/office/drawing/2014/main" id="{5FB44D74-F059-4087-BD72-025C8EC4E6CA}"/>
                </a:ext>
              </a:extLst>
            </p:cNvPr>
            <p:cNvCxnSpPr>
              <a:endCxn id="98" idx="2"/>
            </p:cNvCxnSpPr>
            <p:nvPr/>
          </p:nvCxnSpPr>
          <p:spPr>
            <a:xfrm>
              <a:off x="4777566" y="3567528"/>
              <a:ext cx="694712" cy="261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9" name="直接箭头连接符 1058">
              <a:extLst>
                <a:ext uri="{FF2B5EF4-FFF2-40B4-BE49-F238E27FC236}">
                  <a16:creationId xmlns:a16="http://schemas.microsoft.com/office/drawing/2014/main" id="{36649EAA-A2EA-40A5-830A-CA4480305931}"/>
                </a:ext>
              </a:extLst>
            </p:cNvPr>
            <p:cNvCxnSpPr>
              <a:endCxn id="99" idx="2"/>
            </p:cNvCxnSpPr>
            <p:nvPr/>
          </p:nvCxnSpPr>
          <p:spPr>
            <a:xfrm>
              <a:off x="4762494" y="3559067"/>
              <a:ext cx="709784" cy="750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1" name="直接箭头连接符 1060">
              <a:extLst>
                <a:ext uri="{FF2B5EF4-FFF2-40B4-BE49-F238E27FC236}">
                  <a16:creationId xmlns:a16="http://schemas.microsoft.com/office/drawing/2014/main" id="{872A2820-5197-4C42-B3EA-DB9EABD55179}"/>
                </a:ext>
              </a:extLst>
            </p:cNvPr>
            <p:cNvCxnSpPr>
              <a:endCxn id="100" idx="2"/>
            </p:cNvCxnSpPr>
            <p:nvPr/>
          </p:nvCxnSpPr>
          <p:spPr>
            <a:xfrm>
              <a:off x="4747170" y="3540696"/>
              <a:ext cx="725108" cy="124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3" name="直接箭头连接符 1062">
              <a:extLst>
                <a:ext uri="{FF2B5EF4-FFF2-40B4-BE49-F238E27FC236}">
                  <a16:creationId xmlns:a16="http://schemas.microsoft.com/office/drawing/2014/main" id="{B1FC5DB1-BA1D-4C2C-9734-752C68E70E95}"/>
                </a:ext>
              </a:extLst>
            </p:cNvPr>
            <p:cNvCxnSpPr>
              <a:endCxn id="101" idx="2"/>
            </p:cNvCxnSpPr>
            <p:nvPr/>
          </p:nvCxnSpPr>
          <p:spPr>
            <a:xfrm>
              <a:off x="4754874" y="3531511"/>
              <a:ext cx="717404" cy="1738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5" name="直接箭头连接符 1064">
              <a:extLst>
                <a:ext uri="{FF2B5EF4-FFF2-40B4-BE49-F238E27FC236}">
                  <a16:creationId xmlns:a16="http://schemas.microsoft.com/office/drawing/2014/main" id="{FCFC7758-F942-4A80-8FE8-6484064A2F46}"/>
                </a:ext>
              </a:extLst>
            </p:cNvPr>
            <p:cNvCxnSpPr>
              <a:endCxn id="99" idx="2"/>
            </p:cNvCxnSpPr>
            <p:nvPr/>
          </p:nvCxnSpPr>
          <p:spPr>
            <a:xfrm>
              <a:off x="4751064" y="4098698"/>
              <a:ext cx="721214" cy="210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7" name="直接箭头连接符 1066">
              <a:extLst>
                <a:ext uri="{FF2B5EF4-FFF2-40B4-BE49-F238E27FC236}">
                  <a16:creationId xmlns:a16="http://schemas.microsoft.com/office/drawing/2014/main" id="{FDC9F60E-3495-48B4-8D6D-99464C51D29E}"/>
                </a:ext>
              </a:extLst>
            </p:cNvPr>
            <p:cNvCxnSpPr>
              <a:endCxn id="98" idx="2"/>
            </p:cNvCxnSpPr>
            <p:nvPr/>
          </p:nvCxnSpPr>
          <p:spPr>
            <a:xfrm flipV="1">
              <a:off x="4762410" y="3829438"/>
              <a:ext cx="709868" cy="261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9" name="直接箭头连接符 1068">
              <a:extLst>
                <a:ext uri="{FF2B5EF4-FFF2-40B4-BE49-F238E27FC236}">
                  <a16:creationId xmlns:a16="http://schemas.microsoft.com/office/drawing/2014/main" id="{CBCCF6EE-CD8D-4210-8DBD-F755094D0BD5}"/>
                </a:ext>
              </a:extLst>
            </p:cNvPr>
            <p:cNvCxnSpPr>
              <a:endCxn id="100" idx="2"/>
            </p:cNvCxnSpPr>
            <p:nvPr/>
          </p:nvCxnSpPr>
          <p:spPr>
            <a:xfrm>
              <a:off x="4762410" y="4077837"/>
              <a:ext cx="709868" cy="712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1" name="直接箭头连接符 1070">
              <a:extLst>
                <a:ext uri="{FF2B5EF4-FFF2-40B4-BE49-F238E27FC236}">
                  <a16:creationId xmlns:a16="http://schemas.microsoft.com/office/drawing/2014/main" id="{429AEF98-C1CA-4970-81E6-E0211BAA619F}"/>
                </a:ext>
              </a:extLst>
            </p:cNvPr>
            <p:cNvCxnSpPr>
              <a:endCxn id="101" idx="2"/>
            </p:cNvCxnSpPr>
            <p:nvPr/>
          </p:nvCxnSpPr>
          <p:spPr>
            <a:xfrm>
              <a:off x="4754874" y="4084592"/>
              <a:ext cx="717404" cy="1185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5" name="直接箭头连接符 1074">
              <a:extLst>
                <a:ext uri="{FF2B5EF4-FFF2-40B4-BE49-F238E27FC236}">
                  <a16:creationId xmlns:a16="http://schemas.microsoft.com/office/drawing/2014/main" id="{D49FCAF3-20F0-443E-A682-9F3099807B13}"/>
                </a:ext>
              </a:extLst>
            </p:cNvPr>
            <p:cNvCxnSpPr>
              <a:cxnSpLocks/>
              <a:stCxn id="96" idx="2"/>
              <a:endCxn id="98" idx="2"/>
            </p:cNvCxnSpPr>
            <p:nvPr/>
          </p:nvCxnSpPr>
          <p:spPr>
            <a:xfrm flipV="1">
              <a:off x="4838526" y="3829438"/>
              <a:ext cx="633752" cy="709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9" name="直接箭头连接符 1078">
              <a:extLst>
                <a:ext uri="{FF2B5EF4-FFF2-40B4-BE49-F238E27FC236}">
                  <a16:creationId xmlns:a16="http://schemas.microsoft.com/office/drawing/2014/main" id="{F3EC7DD5-CB0C-4E6D-A6EA-7D66A89AC648}"/>
                </a:ext>
              </a:extLst>
            </p:cNvPr>
            <p:cNvCxnSpPr>
              <a:cxnSpLocks/>
              <a:stCxn id="96" idx="2"/>
              <a:endCxn id="99" idx="2"/>
            </p:cNvCxnSpPr>
            <p:nvPr/>
          </p:nvCxnSpPr>
          <p:spPr>
            <a:xfrm flipV="1">
              <a:off x="4838526" y="4309691"/>
              <a:ext cx="633752" cy="229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1" name="直接箭头连接符 1080">
              <a:extLst>
                <a:ext uri="{FF2B5EF4-FFF2-40B4-BE49-F238E27FC236}">
                  <a16:creationId xmlns:a16="http://schemas.microsoft.com/office/drawing/2014/main" id="{74291681-D6A1-426B-99E2-6489BAF0E7E2}"/>
                </a:ext>
              </a:extLst>
            </p:cNvPr>
            <p:cNvCxnSpPr>
              <a:cxnSpLocks/>
              <a:stCxn id="96" idx="2"/>
              <a:endCxn id="100" idx="2"/>
            </p:cNvCxnSpPr>
            <p:nvPr/>
          </p:nvCxnSpPr>
          <p:spPr>
            <a:xfrm>
              <a:off x="4838526" y="4539216"/>
              <a:ext cx="633752" cy="250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3" name="直接箭头连接符 1082">
              <a:extLst>
                <a:ext uri="{FF2B5EF4-FFF2-40B4-BE49-F238E27FC236}">
                  <a16:creationId xmlns:a16="http://schemas.microsoft.com/office/drawing/2014/main" id="{ACEE58A0-311B-4456-A248-C4F6706BB583}"/>
                </a:ext>
              </a:extLst>
            </p:cNvPr>
            <p:cNvCxnSpPr>
              <a:cxnSpLocks/>
              <a:stCxn id="96" idx="2"/>
              <a:endCxn id="101" idx="2"/>
            </p:cNvCxnSpPr>
            <p:nvPr/>
          </p:nvCxnSpPr>
          <p:spPr>
            <a:xfrm>
              <a:off x="4838526" y="4539215"/>
              <a:ext cx="633752" cy="730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5" name="直接箭头连接符 1084">
              <a:extLst>
                <a:ext uri="{FF2B5EF4-FFF2-40B4-BE49-F238E27FC236}">
                  <a16:creationId xmlns:a16="http://schemas.microsoft.com/office/drawing/2014/main" id="{1697588A-BABB-4A04-AD08-E2509644B85A}"/>
                </a:ext>
              </a:extLst>
            </p:cNvPr>
            <p:cNvCxnSpPr>
              <a:endCxn id="98" idx="2"/>
            </p:cNvCxnSpPr>
            <p:nvPr/>
          </p:nvCxnSpPr>
          <p:spPr>
            <a:xfrm flipV="1">
              <a:off x="4785186" y="3829437"/>
              <a:ext cx="687092" cy="1062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7" name="直接箭头连接符 1086">
              <a:extLst>
                <a:ext uri="{FF2B5EF4-FFF2-40B4-BE49-F238E27FC236}">
                  <a16:creationId xmlns:a16="http://schemas.microsoft.com/office/drawing/2014/main" id="{9619CEDB-FA2D-4F6F-9085-AD6D1D767126}"/>
                </a:ext>
              </a:extLst>
            </p:cNvPr>
            <p:cNvCxnSpPr/>
            <p:nvPr/>
          </p:nvCxnSpPr>
          <p:spPr>
            <a:xfrm flipV="1">
              <a:off x="4788996" y="4298158"/>
              <a:ext cx="683282" cy="595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B7A98B08-10B5-4793-96DD-BFFB35756043}"/>
                </a:ext>
              </a:extLst>
            </p:cNvPr>
            <p:cNvCxnSpPr>
              <a:endCxn id="100" idx="2"/>
            </p:cNvCxnSpPr>
            <p:nvPr/>
          </p:nvCxnSpPr>
          <p:spPr>
            <a:xfrm flipV="1">
              <a:off x="4777566" y="4789944"/>
              <a:ext cx="694712" cy="101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76A40663-CFA9-41B4-8FBC-32629992D20E}"/>
                </a:ext>
              </a:extLst>
            </p:cNvPr>
            <p:cNvCxnSpPr>
              <a:endCxn id="101" idx="2"/>
            </p:cNvCxnSpPr>
            <p:nvPr/>
          </p:nvCxnSpPr>
          <p:spPr>
            <a:xfrm>
              <a:off x="4777566" y="4900901"/>
              <a:ext cx="694712" cy="369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811CDE34-03C5-445E-AF22-EB12ED50B420}"/>
                </a:ext>
              </a:extLst>
            </p:cNvPr>
            <p:cNvCxnSpPr>
              <a:endCxn id="98" idx="2"/>
            </p:cNvCxnSpPr>
            <p:nvPr/>
          </p:nvCxnSpPr>
          <p:spPr>
            <a:xfrm flipV="1">
              <a:off x="4777566" y="3829437"/>
              <a:ext cx="694712" cy="1547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3F074DC0-650F-41B0-9624-EA294DADC6C0}"/>
                </a:ext>
              </a:extLst>
            </p:cNvPr>
            <p:cNvCxnSpPr>
              <a:endCxn id="99" idx="2"/>
            </p:cNvCxnSpPr>
            <p:nvPr/>
          </p:nvCxnSpPr>
          <p:spPr>
            <a:xfrm flipV="1">
              <a:off x="4777566" y="4309692"/>
              <a:ext cx="694712" cy="1059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C56AFCED-F922-4013-84DC-3FEAB3AAEA4A}"/>
                </a:ext>
              </a:extLst>
            </p:cNvPr>
            <p:cNvCxnSpPr>
              <a:endCxn id="100" idx="2"/>
            </p:cNvCxnSpPr>
            <p:nvPr/>
          </p:nvCxnSpPr>
          <p:spPr>
            <a:xfrm flipV="1">
              <a:off x="4777566" y="4789944"/>
              <a:ext cx="694712" cy="584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A5A74769-F69B-457F-B758-504D1FB207A8}"/>
                </a:ext>
              </a:extLst>
            </p:cNvPr>
            <p:cNvCxnSpPr>
              <a:endCxn id="101" idx="2"/>
            </p:cNvCxnSpPr>
            <p:nvPr/>
          </p:nvCxnSpPr>
          <p:spPr>
            <a:xfrm flipV="1">
              <a:off x="4777566" y="5270126"/>
              <a:ext cx="694712" cy="116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6" name="矩形 145">
              <a:extLst>
                <a:ext uri="{FF2B5EF4-FFF2-40B4-BE49-F238E27FC236}">
                  <a16:creationId xmlns:a16="http://schemas.microsoft.com/office/drawing/2014/main" id="{015EDB05-1541-4FE7-9ABA-D231C683FCD0}"/>
                </a:ext>
              </a:extLst>
            </p:cNvPr>
            <p:cNvSpPr/>
            <p:nvPr/>
          </p:nvSpPr>
          <p:spPr>
            <a:xfrm>
              <a:off x="4991966" y="3743082"/>
              <a:ext cx="240030" cy="1501143"/>
            </a:xfrm>
            <a:prstGeom prst="rect">
              <a:avLst/>
            </a:prstGeom>
            <a:ln>
              <a:noFill/>
            </a:ln>
          </p:spPr>
          <p:style>
            <a:lnRef idx="2">
              <a:schemeClr val="accent1"/>
            </a:lnRef>
            <a:fillRef idx="1">
              <a:schemeClr val="lt1"/>
            </a:fillRef>
            <a:effectRef idx="0">
              <a:schemeClr val="accent1"/>
            </a:effectRef>
            <a:fontRef idx="minor">
              <a:schemeClr val="dk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a:ea typeface="黑体"/>
                  <a:cs typeface="+mn-cs"/>
                </a:rPr>
                <a:t>···</a:t>
              </a:r>
              <a:endParaRPr kumimoji="0" lang="zh-CN" altLang="en-US" sz="24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51" name="矩形 150">
              <a:extLst>
                <a:ext uri="{FF2B5EF4-FFF2-40B4-BE49-F238E27FC236}">
                  <a16:creationId xmlns:a16="http://schemas.microsoft.com/office/drawing/2014/main" id="{D9A5A187-9DD8-4182-AF9A-BBBB61A9FF85}"/>
                </a:ext>
              </a:extLst>
            </p:cNvPr>
            <p:cNvSpPr/>
            <p:nvPr/>
          </p:nvSpPr>
          <p:spPr>
            <a:xfrm>
              <a:off x="6688792" y="3948267"/>
              <a:ext cx="403860" cy="1261367"/>
            </a:xfrm>
            <a:prstGeom prst="rect">
              <a:avLst/>
            </a:prstGeom>
            <a:solidFill>
              <a:srgbClr val="D3B3AB"/>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52" name="椭圆 151">
              <a:extLst>
                <a:ext uri="{FF2B5EF4-FFF2-40B4-BE49-F238E27FC236}">
                  <a16:creationId xmlns:a16="http://schemas.microsoft.com/office/drawing/2014/main" id="{3B1C5E3A-83EC-4859-8528-0DED59287F3B}"/>
                </a:ext>
              </a:extLst>
            </p:cNvPr>
            <p:cNvSpPr/>
            <p:nvPr/>
          </p:nvSpPr>
          <p:spPr>
            <a:xfrm>
              <a:off x="6734512" y="4139941"/>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53" name="椭圆 152">
              <a:extLst>
                <a:ext uri="{FF2B5EF4-FFF2-40B4-BE49-F238E27FC236}">
                  <a16:creationId xmlns:a16="http://schemas.microsoft.com/office/drawing/2014/main" id="{B80A5B33-367A-4605-82AC-63143D374A14}"/>
                </a:ext>
              </a:extLst>
            </p:cNvPr>
            <p:cNvSpPr/>
            <p:nvPr/>
          </p:nvSpPr>
          <p:spPr>
            <a:xfrm>
              <a:off x="6734512" y="4620194"/>
              <a:ext cx="312420" cy="387447"/>
            </a:xfrm>
            <a:prstGeom prst="ellipse">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80" name="左大括号 79">
              <a:extLst>
                <a:ext uri="{FF2B5EF4-FFF2-40B4-BE49-F238E27FC236}">
                  <a16:creationId xmlns:a16="http://schemas.microsoft.com/office/drawing/2014/main" id="{52F2ACDC-D808-4E90-8B52-278DB31B996A}"/>
                </a:ext>
              </a:extLst>
            </p:cNvPr>
            <p:cNvSpPr/>
            <p:nvPr/>
          </p:nvSpPr>
          <p:spPr>
            <a:xfrm rot="16200000">
              <a:off x="4500155" y="4761741"/>
              <a:ext cx="193040" cy="198882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a:ea typeface="黑体"/>
                <a:cs typeface="+mn-cs"/>
              </a:endParaRPr>
            </a:p>
          </p:txBody>
        </p:sp>
        <p:cxnSp>
          <p:nvCxnSpPr>
            <p:cNvPr id="90" name="直接箭头连接符 89">
              <a:extLst>
                <a:ext uri="{FF2B5EF4-FFF2-40B4-BE49-F238E27FC236}">
                  <a16:creationId xmlns:a16="http://schemas.microsoft.com/office/drawing/2014/main" id="{6085E9FB-E874-4451-8DC7-074005DACFBE}"/>
                </a:ext>
              </a:extLst>
            </p:cNvPr>
            <p:cNvCxnSpPr>
              <a:stCxn id="98" idx="6"/>
              <a:endCxn id="152" idx="2"/>
            </p:cNvCxnSpPr>
            <p:nvPr/>
          </p:nvCxnSpPr>
          <p:spPr>
            <a:xfrm>
              <a:off x="5784698" y="3829437"/>
              <a:ext cx="949814" cy="504227"/>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F2209B08-055E-41F6-B0D1-6FA90BE6A265}"/>
                </a:ext>
              </a:extLst>
            </p:cNvPr>
            <p:cNvCxnSpPr>
              <a:stCxn id="99" idx="6"/>
              <a:endCxn id="152" idx="2"/>
            </p:cNvCxnSpPr>
            <p:nvPr/>
          </p:nvCxnSpPr>
          <p:spPr>
            <a:xfrm>
              <a:off x="5784698" y="4309691"/>
              <a:ext cx="949814" cy="23973"/>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63491A13-F59A-4DBA-BCB3-865D1F5DDEEF}"/>
                </a:ext>
              </a:extLst>
            </p:cNvPr>
            <p:cNvCxnSpPr>
              <a:stCxn id="100" idx="6"/>
              <a:endCxn id="152" idx="2"/>
            </p:cNvCxnSpPr>
            <p:nvPr/>
          </p:nvCxnSpPr>
          <p:spPr>
            <a:xfrm flipV="1">
              <a:off x="5784698" y="4333664"/>
              <a:ext cx="949814" cy="456280"/>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2B9E1D80-4766-4047-AD0F-EBB99A863328}"/>
                </a:ext>
              </a:extLst>
            </p:cNvPr>
            <p:cNvCxnSpPr>
              <a:stCxn id="101" idx="6"/>
              <a:endCxn id="152" idx="2"/>
            </p:cNvCxnSpPr>
            <p:nvPr/>
          </p:nvCxnSpPr>
          <p:spPr>
            <a:xfrm flipV="1">
              <a:off x="5784698" y="4333664"/>
              <a:ext cx="949814" cy="936461"/>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3B34FA96-1761-4D95-BAF5-8971311FE5ED}"/>
                </a:ext>
              </a:extLst>
            </p:cNvPr>
            <p:cNvCxnSpPr>
              <a:stCxn id="101" idx="6"/>
              <a:endCxn id="153" idx="2"/>
            </p:cNvCxnSpPr>
            <p:nvPr/>
          </p:nvCxnSpPr>
          <p:spPr>
            <a:xfrm flipV="1">
              <a:off x="5784698" y="4813917"/>
              <a:ext cx="949814" cy="456208"/>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a:extLst>
                <a:ext uri="{FF2B5EF4-FFF2-40B4-BE49-F238E27FC236}">
                  <a16:creationId xmlns:a16="http://schemas.microsoft.com/office/drawing/2014/main" id="{E6220FD2-CF5B-4080-9709-7B1C6E904D5E}"/>
                </a:ext>
              </a:extLst>
            </p:cNvPr>
            <p:cNvCxnSpPr>
              <a:stCxn id="100" idx="6"/>
              <a:endCxn id="153" idx="2"/>
            </p:cNvCxnSpPr>
            <p:nvPr/>
          </p:nvCxnSpPr>
          <p:spPr>
            <a:xfrm>
              <a:off x="5784698" y="4789944"/>
              <a:ext cx="949814" cy="23973"/>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10E79919-BB16-463E-819C-BE3CB3C57D86}"/>
                </a:ext>
              </a:extLst>
            </p:cNvPr>
            <p:cNvCxnSpPr>
              <a:endCxn id="153" idx="2"/>
            </p:cNvCxnSpPr>
            <p:nvPr/>
          </p:nvCxnSpPr>
          <p:spPr>
            <a:xfrm>
              <a:off x="5796128" y="4298157"/>
              <a:ext cx="938384" cy="515760"/>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CAABD080-A071-4D6E-944E-CBF5D3195870}"/>
                </a:ext>
              </a:extLst>
            </p:cNvPr>
            <p:cNvCxnSpPr>
              <a:cxnSpLocks/>
              <a:endCxn id="153" idx="2"/>
            </p:cNvCxnSpPr>
            <p:nvPr/>
          </p:nvCxnSpPr>
          <p:spPr>
            <a:xfrm>
              <a:off x="5796128" y="3829437"/>
              <a:ext cx="938384" cy="984480"/>
            </a:xfrm>
            <a:prstGeom prst="straightConnector1">
              <a:avLst/>
            </a:prstGeom>
            <a:ln>
              <a:solidFill>
                <a:srgbClr val="D3B3AB"/>
              </a:solidFill>
              <a:tailEnd type="triangle"/>
            </a:ln>
          </p:spPr>
          <p:style>
            <a:lnRef idx="1">
              <a:schemeClr val="accent1"/>
            </a:lnRef>
            <a:fillRef idx="0">
              <a:schemeClr val="accent1"/>
            </a:fillRef>
            <a:effectRef idx="0">
              <a:schemeClr val="accent1"/>
            </a:effectRef>
            <a:fontRef idx="minor">
              <a:schemeClr val="tx1"/>
            </a:fontRef>
          </p:style>
        </p:cxnSp>
        <p:sp>
          <p:nvSpPr>
            <p:cNvPr id="182" name="文本框 181">
              <a:extLst>
                <a:ext uri="{FF2B5EF4-FFF2-40B4-BE49-F238E27FC236}">
                  <a16:creationId xmlns:a16="http://schemas.microsoft.com/office/drawing/2014/main" id="{C3041799-44CE-4A4D-96FC-51E7451B5689}"/>
                </a:ext>
              </a:extLst>
            </p:cNvPr>
            <p:cNvSpPr txBox="1"/>
            <p:nvPr/>
          </p:nvSpPr>
          <p:spPr>
            <a:xfrm>
              <a:off x="4027642" y="5947852"/>
              <a:ext cx="109728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rPr>
                <a:t>隐藏层</a:t>
              </a:r>
            </a:p>
          </p:txBody>
        </p:sp>
        <p:sp>
          <p:nvSpPr>
            <p:cNvPr id="183" name="文本框 182">
              <a:extLst>
                <a:ext uri="{FF2B5EF4-FFF2-40B4-BE49-F238E27FC236}">
                  <a16:creationId xmlns:a16="http://schemas.microsoft.com/office/drawing/2014/main" id="{283A69AF-ED29-4457-A6DC-2955CE8FD1C0}"/>
                </a:ext>
              </a:extLst>
            </p:cNvPr>
            <p:cNvSpPr txBox="1"/>
            <p:nvPr/>
          </p:nvSpPr>
          <p:spPr>
            <a:xfrm>
              <a:off x="6342082" y="5920320"/>
              <a:ext cx="109728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rPr>
                <a:t>输出层</a:t>
              </a:r>
            </a:p>
          </p:txBody>
        </p:sp>
      </p:grpSp>
    </p:spTree>
    <p:extLst>
      <p:ext uri="{BB962C8B-B14F-4D97-AF65-F5344CB8AC3E}">
        <p14:creationId xmlns:p14="http://schemas.microsoft.com/office/powerpoint/2010/main" val="391331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75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
        <p:nvSpPr>
          <p:cNvPr id="4" name="矩形 3"/>
          <p:cNvSpPr/>
          <p:nvPr/>
        </p:nvSpPr>
        <p:spPr>
          <a:xfrm>
            <a:off x="484786" y="919605"/>
            <a:ext cx="8016617" cy="2999347"/>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2600" b="0" i="0" u="none" strike="noStrike" kern="1200" cap="none" spc="0" normalizeH="0" baseline="0" noProof="0" dirty="0">
                <a:ln>
                  <a:noFill/>
                </a:ln>
                <a:solidFill>
                  <a:prstClr val="black"/>
                </a:solidFill>
                <a:effectLst/>
                <a:uLnTx/>
                <a:uFillTx/>
                <a:latin typeface="+mn-ea"/>
                <a:cs typeface="Times New Roman" panose="02020603050405020304" pitchFamily="18" charset="0"/>
              </a:rPr>
              <a:t>BP</a:t>
            </a:r>
            <a:r>
              <a:rPr kumimoji="0" lang="zh-CN" altLang="en-US" sz="2600" b="0" i="0" u="none" strike="noStrike" kern="1200" cap="none" spc="0" normalizeH="0" baseline="0" noProof="0" dirty="0">
                <a:ln>
                  <a:noFill/>
                </a:ln>
                <a:solidFill>
                  <a:prstClr val="black"/>
                </a:solidFill>
                <a:effectLst/>
                <a:uLnTx/>
                <a:uFillTx/>
                <a:latin typeface="+mn-ea"/>
                <a:cs typeface="Times New Roman" panose="02020603050405020304" pitchFamily="18" charset="0"/>
              </a:rPr>
              <a:t>算法是一种将输出层误差反向传播给隐藏层进行参数更新的方法。</a:t>
            </a:r>
            <a:endParaRPr kumimoji="0" lang="en-US" altLang="zh-CN" sz="2600" b="0" i="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2600" b="0" i="0" u="none" strike="noStrike" kern="1200" cap="none" spc="0" normalizeH="0" baseline="0" noProof="0" dirty="0">
                <a:ln>
                  <a:noFill/>
                </a:ln>
                <a:solidFill>
                  <a:prstClr val="black"/>
                </a:solidFill>
                <a:effectLst/>
                <a:uLnTx/>
                <a:uFillTx/>
                <a:latin typeface="+mn-ea"/>
                <a:cs typeface="Times New Roman" panose="02020603050405020304" pitchFamily="18" charset="0"/>
              </a:rPr>
              <a:t>将误差从后向前传递，将误差分摊给各层所有单元，从而获得各层单元所产生的误差，进而依据这个误差来让各层单元负起各自责任、修正各单元参数。</a:t>
            </a:r>
          </a:p>
        </p:txBody>
      </p:sp>
      <p:grpSp>
        <p:nvGrpSpPr>
          <p:cNvPr id="3" name="组合 2">
            <a:extLst>
              <a:ext uri="{FF2B5EF4-FFF2-40B4-BE49-F238E27FC236}">
                <a16:creationId xmlns:a16="http://schemas.microsoft.com/office/drawing/2014/main" id="{BC52401C-50F0-7375-D3C1-9CA23BAD2A32}"/>
              </a:ext>
            </a:extLst>
          </p:cNvPr>
          <p:cNvGrpSpPr/>
          <p:nvPr/>
        </p:nvGrpSpPr>
        <p:grpSpPr>
          <a:xfrm>
            <a:off x="985520" y="3779519"/>
            <a:ext cx="8158480" cy="2823993"/>
            <a:chOff x="205336" y="2637491"/>
            <a:chExt cx="8938664" cy="3325942"/>
          </a:xfrm>
        </p:grpSpPr>
        <p:sp>
          <p:nvSpPr>
            <p:cNvPr id="5" name="圆角矩形 4"/>
            <p:cNvSpPr/>
            <p:nvPr/>
          </p:nvSpPr>
          <p:spPr>
            <a:xfrm>
              <a:off x="205336" y="3858397"/>
              <a:ext cx="427221" cy="119435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输入</a:t>
              </a:r>
              <a:endParaRPr kumimoji="0" lang="en-US" altLang="zh-CN"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数据</a:t>
              </a:r>
            </a:p>
          </p:txBody>
        </p:sp>
        <mc:AlternateContent xmlns:mc="http://schemas.openxmlformats.org/markup-compatibility/2006" xmlns:a14="http://schemas.microsoft.com/office/drawing/2010/main">
          <mc:Choice Requires="a14">
            <p:sp>
              <p:nvSpPr>
                <p:cNvPr id="6" name="圆角矩形 5"/>
                <p:cNvSpPr/>
                <p:nvPr/>
              </p:nvSpPr>
              <p:spPr>
                <a:xfrm>
                  <a:off x="959057" y="3954412"/>
                  <a:ext cx="1080120" cy="67806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mn-cs"/>
                          </a:rPr>
                          <m:t>⋯⋯⋯</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6" name="圆角矩形 5"/>
                <p:cNvSpPr>
                  <a:spLocks noRot="1" noChangeAspect="1" noMove="1" noResize="1" noEditPoints="1" noAdjustHandles="1" noChangeArrowheads="1" noChangeShapeType="1" noTextEdit="1"/>
                </p:cNvSpPr>
                <p:nvPr/>
              </p:nvSpPr>
              <p:spPr>
                <a:xfrm>
                  <a:off x="959057" y="3954412"/>
                  <a:ext cx="1080120" cy="678065"/>
                </a:xfrm>
                <a:prstGeom prst="round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000545" y="4134397"/>
                  <a:ext cx="67037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a:ea typeface="Cambria Math"/>
                            <a:cs typeface="+mn-cs"/>
                          </a:rPr>
                          <m:t>⋯⋯</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矩形 6"/>
                <p:cNvSpPr>
                  <a:spLocks noRot="1" noChangeAspect="1" noMove="1" noResize="1" noEditPoints="1" noAdjustHandles="1" noChangeArrowheads="1" noChangeShapeType="1" noTextEdit="1"/>
                </p:cNvSpPr>
                <p:nvPr/>
              </p:nvSpPr>
              <p:spPr>
                <a:xfrm>
                  <a:off x="2000545" y="4134397"/>
                  <a:ext cx="670376" cy="369332"/>
                </a:xfrm>
                <a:prstGeom prst="rect">
                  <a:avLst/>
                </a:prstGeom>
                <a:blipFill>
                  <a:blip r:embed="rId3"/>
                  <a:stretch>
                    <a:fillRect/>
                  </a:stretch>
                </a:blipFill>
              </p:spPr>
              <p:txBody>
                <a:bodyPr/>
                <a:lstStyle/>
                <a:p>
                  <a:r>
                    <a:rPr lang="zh-CN" altLang="en-US">
                      <a:noFill/>
                    </a:rPr>
                    <a:t> </a:t>
                  </a:r>
                </a:p>
              </p:txBody>
            </p:sp>
          </mc:Fallback>
        </mc:AlternateContent>
        <p:cxnSp>
          <p:nvCxnSpPr>
            <p:cNvPr id="8" name="直接箭头连接符 7"/>
            <p:cNvCxnSpPr/>
            <p:nvPr/>
          </p:nvCxnSpPr>
          <p:spPr>
            <a:xfrm>
              <a:off x="3233572" y="3660332"/>
              <a:ext cx="677138" cy="2950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2644139" y="3375867"/>
              <a:ext cx="608746" cy="424965"/>
            </a:xfrm>
            <a:prstGeom prst="ellipse">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矩形 9"/>
                <p:cNvSpPr/>
                <p:nvPr/>
              </p:nvSpPr>
              <p:spPr>
                <a:xfrm>
                  <a:off x="3396454" y="3521832"/>
                  <a:ext cx="50180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3396454" y="3521832"/>
                  <a:ext cx="501804" cy="369332"/>
                </a:xfrm>
                <a:prstGeom prst="rect">
                  <a:avLst/>
                </a:prstGeom>
                <a:blipFill>
                  <a:blip r:embed="rId4"/>
                  <a:stretch>
                    <a:fillRect b="-17308"/>
                  </a:stretch>
                </a:blipFill>
              </p:spPr>
              <p:txBody>
                <a:bodyPr/>
                <a:lstStyle/>
                <a:p>
                  <a:r>
                    <a:rPr lang="zh-CN" altLang="en-US">
                      <a:noFill/>
                    </a:rPr>
                    <a:t> </a:t>
                  </a:r>
                </a:p>
              </p:txBody>
            </p:sp>
          </mc:Fallback>
        </mc:AlternateContent>
        <p:sp>
          <p:nvSpPr>
            <p:cNvPr id="11" name="椭圆 10"/>
            <p:cNvSpPr/>
            <p:nvPr/>
          </p:nvSpPr>
          <p:spPr>
            <a:xfrm>
              <a:off x="2626107" y="4113520"/>
              <a:ext cx="608746" cy="424965"/>
            </a:xfrm>
            <a:prstGeom prst="ellipse">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p:sp>
          <p:nvSpPr>
            <p:cNvPr id="12" name="椭圆 11"/>
            <p:cNvSpPr/>
            <p:nvPr/>
          </p:nvSpPr>
          <p:spPr>
            <a:xfrm>
              <a:off x="2624826" y="4840268"/>
              <a:ext cx="608746" cy="424965"/>
            </a:xfrm>
            <a:prstGeom prst="ellipse">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p:cxnSp>
          <p:nvCxnSpPr>
            <p:cNvPr id="13" name="直接箭头连接符 12"/>
            <p:cNvCxnSpPr>
              <a:stCxn id="11" idx="6"/>
            </p:cNvCxnSpPr>
            <p:nvPr/>
          </p:nvCxnSpPr>
          <p:spPr>
            <a:xfrm>
              <a:off x="3234854" y="4326003"/>
              <a:ext cx="675857" cy="119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12" idx="6"/>
            </p:cNvCxnSpPr>
            <p:nvPr/>
          </p:nvCxnSpPr>
          <p:spPr>
            <a:xfrm flipV="1">
              <a:off x="3233573" y="4718278"/>
              <a:ext cx="802637" cy="3344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矩形 14"/>
                <p:cNvSpPr/>
                <p:nvPr/>
              </p:nvSpPr>
              <p:spPr>
                <a:xfrm>
                  <a:off x="3369469" y="4017422"/>
                  <a:ext cx="50712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2</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3369469" y="4017422"/>
                  <a:ext cx="507127" cy="369332"/>
                </a:xfrm>
                <a:prstGeom prst="rect">
                  <a:avLst/>
                </a:prstGeom>
                <a:blipFill>
                  <a:blip r:embed="rId5"/>
                  <a:stretch>
                    <a:fillRect b="-17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403584" y="4542199"/>
                  <a:ext cx="50712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3</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3403584" y="4542199"/>
                  <a:ext cx="507127" cy="369332"/>
                </a:xfrm>
                <a:prstGeom prst="rect">
                  <a:avLst/>
                </a:prstGeom>
                <a:blipFill>
                  <a:blip r:embed="rId6"/>
                  <a:stretch>
                    <a:fillRect b="-17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588464" y="3023398"/>
                  <a:ext cx="68403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2588464" y="3023398"/>
                  <a:ext cx="684033" cy="369332"/>
                </a:xfrm>
                <a:prstGeom prst="rect">
                  <a:avLst/>
                </a:prstGeom>
                <a:blipFill>
                  <a:blip r:embed="rId7"/>
                  <a:stretch>
                    <a:fillRect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2588464" y="3840247"/>
                  <a:ext cx="68935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2</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8" name="矩形 17"/>
                <p:cNvSpPr>
                  <a:spLocks noRot="1" noChangeAspect="1" noMove="1" noResize="1" noEditPoints="1" noAdjustHandles="1" noChangeArrowheads="1" noChangeShapeType="1" noTextEdit="1"/>
                </p:cNvSpPr>
                <p:nvPr/>
              </p:nvSpPr>
              <p:spPr>
                <a:xfrm>
                  <a:off x="2588464" y="3840247"/>
                  <a:ext cx="689356" cy="369332"/>
                </a:xfrm>
                <a:prstGeom prst="rect">
                  <a:avLst/>
                </a:prstGeom>
                <a:blipFill>
                  <a:blip r:embed="rId8"/>
                  <a:stretch>
                    <a:fillRect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541451" y="4531263"/>
                  <a:ext cx="68935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3</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2541451" y="4531263"/>
                  <a:ext cx="689356" cy="369332"/>
                </a:xfrm>
                <a:prstGeom prst="rect">
                  <a:avLst/>
                </a:prstGeom>
                <a:blipFill>
                  <a:blip r:embed="rId9"/>
                  <a:stretch>
                    <a:fillRect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107401" y="3938837"/>
                  <a:ext cx="1626022" cy="490647"/>
                </a:xfrm>
                <a:prstGeom prst="rect">
                  <a:avLst/>
                </a:prstGeom>
                <a:solidFill>
                  <a:srgbClr val="FFC000"/>
                </a:solid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𝒳</m:t>
                        </m:r>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m:t>
                        </m:r>
                        <m:nary>
                          <m:naryPr>
                            <m:chr m:val="∑"/>
                            <m:limLoc m:val="subSup"/>
                            <m:supHide m:val="on"/>
                            <m:ctrlP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naryPr>
                          <m:sub>
                            <m:r>
                              <m:rPr>
                                <m:brk m:alnAt="9"/>
                              </m:rPr>
                              <a:rPr kumimoji="0" lang="en-US" altLang="zh-CN" sz="14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𝑖</m:t>
                            </m:r>
                          </m:sub>
                          <m:sup/>
                          <m:e>
                            <m:sSub>
                              <m:sSubPr>
                                <m:ctrlP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𝑖</m:t>
                                </m:r>
                              </m:sub>
                            </m:sSub>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m:t>
                            </m:r>
                            <m:sSub>
                              <m:sSubPr>
                                <m:ctrlPr>
                                  <a:rPr kumimoji="0" lang="en-US" altLang="zh-CN" sz="1400" b="0" i="1" u="none" strike="noStrike" kern="1200" cap="none" spc="0" normalizeH="0" baseline="0" noProof="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4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4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𝑖</m:t>
                                </m:r>
                              </m:sub>
                            </m:sSub>
                          </m:e>
                        </m:nary>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mc:Choice>
          <mc:Fallback xmlns="">
            <p:sp>
              <p:nvSpPr>
                <p:cNvPr id="20" name="矩形 19"/>
                <p:cNvSpPr>
                  <a:spLocks noRot="1" noChangeAspect="1" noMove="1" noResize="1" noEditPoints="1" noAdjustHandles="1" noChangeArrowheads="1" noChangeShapeType="1" noTextEdit="1"/>
                </p:cNvSpPr>
                <p:nvPr/>
              </p:nvSpPr>
              <p:spPr>
                <a:xfrm>
                  <a:off x="4107401" y="3938837"/>
                  <a:ext cx="1626022" cy="490647"/>
                </a:xfrm>
                <a:prstGeom prst="rect">
                  <a:avLst/>
                </a:prstGeom>
                <a:blipFill>
                  <a:blip r:embed="rId10"/>
                  <a:stretch>
                    <a:fillRect l="-17695" t="-181159" r="-32510" b="-2782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5993542" y="3929546"/>
                  <a:ext cx="1473990" cy="559064"/>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𝒪</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f>
                          <m:f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Times New Roman" panose="02020603050405020304" pitchFamily="18" charset="0"/>
                              </a:rPr>
                            </m:ctrlPr>
                          </m:fPr>
                          <m:num>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1</m:t>
                            </m:r>
                          </m:num>
                          <m:den>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1+</m:t>
                            </m:r>
                            <m:sSup>
                              <m:sSup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Times New Roman" panose="02020603050405020304" pitchFamily="18" charset="0"/>
                                  </a:rPr>
                                </m:ctrlPr>
                              </m:sSupPr>
                              <m:e>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𝑒</m:t>
                                </m:r>
                              </m:e>
                              <m:sup>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zh-CN" altLang="en-US" sz="16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𝒳</m:t>
                                </m:r>
                              </m:sup>
                            </m:sSup>
                          </m:den>
                        </m:f>
                      </m:oMath>
                    </m:oMathPara>
                  </a14:m>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mc:Choice>
          <mc:Fallback xmlns="">
            <p:sp>
              <p:nvSpPr>
                <p:cNvPr id="21" name="矩形 20"/>
                <p:cNvSpPr>
                  <a:spLocks noRot="1" noChangeAspect="1" noMove="1" noResize="1" noEditPoints="1" noAdjustHandles="1" noChangeArrowheads="1" noChangeShapeType="1" noTextEdit="1"/>
                </p:cNvSpPr>
                <p:nvPr/>
              </p:nvSpPr>
              <p:spPr>
                <a:xfrm>
                  <a:off x="5993542" y="3929546"/>
                  <a:ext cx="1473990" cy="559064"/>
                </a:xfrm>
                <a:prstGeom prst="rect">
                  <a:avLst/>
                </a:prstGeom>
                <a:blipFill>
                  <a:blip r:embed="rId11"/>
                  <a:stretch>
                    <a:fillRect b="-7692"/>
                  </a:stretch>
                </a:blipFill>
              </p:spPr>
              <p:txBody>
                <a:bodyPr/>
                <a:lstStyle/>
                <a:p>
                  <a:r>
                    <a:rPr lang="zh-CN" altLang="en-US">
                      <a:noFill/>
                    </a:rPr>
                    <a:t> </a:t>
                  </a:r>
                </a:p>
              </p:txBody>
            </p:sp>
          </mc:Fallback>
        </mc:AlternateContent>
        <p:sp>
          <p:nvSpPr>
            <p:cNvPr id="22" name="椭圆 21"/>
            <p:cNvSpPr/>
            <p:nvPr/>
          </p:nvSpPr>
          <p:spPr>
            <a:xfrm>
              <a:off x="3910709" y="3375867"/>
              <a:ext cx="3828013" cy="17819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3" name="矩形 22"/>
                <p:cNvSpPr/>
                <p:nvPr/>
              </p:nvSpPr>
              <p:spPr>
                <a:xfrm>
                  <a:off x="5529185" y="5081449"/>
                  <a:ext cx="59105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𝑜𝑢𝑡</m:t>
                        </m:r>
                      </m:oMath>
                    </m:oMathPara>
                  </a14:m>
                  <a:endParaRPr kumimoji="0" lang="en-US" altLang="zh-CN" sz="1800" b="0" i="0" u="none" strike="noStrike" kern="1200" cap="none" spc="0" normalizeH="0" baseline="0" noProof="0" dirty="0">
                    <a:ln>
                      <a:noFill/>
                    </a:ln>
                    <a:solidFill>
                      <a:prstClr val="black"/>
                    </a:solidFill>
                    <a:effectLst/>
                    <a:uLnTx/>
                    <a:uFillTx/>
                    <a:latin typeface="Times New Roman"/>
                    <a:ea typeface="Cambria Math"/>
                    <a:cs typeface="Times New Roman" panose="02020603050405020304" pitchFamily="18" charset="0"/>
                  </a:endParaRPr>
                </a:p>
              </p:txBody>
            </p:sp>
          </mc:Choice>
          <mc:Fallback xmlns="">
            <p:sp>
              <p:nvSpPr>
                <p:cNvPr id="23" name="矩形 22"/>
                <p:cNvSpPr>
                  <a:spLocks noRot="1" noChangeAspect="1" noMove="1" noResize="1" noEditPoints="1" noAdjustHandles="1" noChangeArrowheads="1" noChangeShapeType="1" noTextEdit="1"/>
                </p:cNvSpPr>
                <p:nvPr/>
              </p:nvSpPr>
              <p:spPr>
                <a:xfrm>
                  <a:off x="5529185" y="5081449"/>
                  <a:ext cx="591059" cy="369332"/>
                </a:xfrm>
                <a:prstGeom prst="rect">
                  <a:avLst/>
                </a:prstGeom>
                <a:blipFill>
                  <a:blip r:embed="rId12"/>
                  <a:stretch>
                    <a:fillRect b="-7692"/>
                  </a:stretch>
                </a:blipFill>
              </p:spPr>
              <p:txBody>
                <a:bodyPr/>
                <a:lstStyle/>
                <a:p>
                  <a:r>
                    <a:rPr lang="zh-CN" altLang="en-US">
                      <a:noFill/>
                    </a:rPr>
                    <a:t> </a:t>
                  </a:r>
                </a:p>
              </p:txBody>
            </p:sp>
          </mc:Fallback>
        </mc:AlternateContent>
        <p:sp>
          <p:nvSpPr>
            <p:cNvPr id="24" name="右箭头 23"/>
            <p:cNvSpPr/>
            <p:nvPr/>
          </p:nvSpPr>
          <p:spPr>
            <a:xfrm>
              <a:off x="5728290" y="4090183"/>
              <a:ext cx="240668" cy="11664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5" name="右箭头 24"/>
            <p:cNvSpPr/>
            <p:nvPr/>
          </p:nvSpPr>
          <p:spPr>
            <a:xfrm>
              <a:off x="681939" y="4239669"/>
              <a:ext cx="240668" cy="11664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6" name="右箭头 25"/>
            <p:cNvSpPr/>
            <p:nvPr/>
          </p:nvSpPr>
          <p:spPr>
            <a:xfrm>
              <a:off x="7738722" y="4116453"/>
              <a:ext cx="360041" cy="221459"/>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7" name="右箭头 26"/>
            <p:cNvSpPr/>
            <p:nvPr/>
          </p:nvSpPr>
          <p:spPr>
            <a:xfrm rot="10800000">
              <a:off x="7712267" y="4632477"/>
              <a:ext cx="419453" cy="135991"/>
            </a:xfrm>
            <a:prstGeom prst="rightArrow">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8" name="矩形 27"/>
            <p:cNvSpPr/>
            <p:nvPr/>
          </p:nvSpPr>
          <p:spPr>
            <a:xfrm>
              <a:off x="8100124" y="4054220"/>
              <a:ext cx="104387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黑体"/>
                  <a:cs typeface="Times New Roman" panose="02020603050405020304" pitchFamily="18" charset="0"/>
                </a:rPr>
                <a:t>predicted</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a:cs typeface="Times New Roman" panose="02020603050405020304" pitchFamily="18" charset="0"/>
              </a:endParaRPr>
            </a:p>
          </p:txBody>
        </p:sp>
        <p:sp>
          <p:nvSpPr>
            <p:cNvPr id="29" name="矩形 28"/>
            <p:cNvSpPr/>
            <p:nvPr/>
          </p:nvSpPr>
          <p:spPr>
            <a:xfrm>
              <a:off x="6133049" y="4454319"/>
              <a:ext cx="104889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Sigmoid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激活函数</a:t>
              </a:r>
            </a:p>
          </p:txBody>
        </p:sp>
        <mc:AlternateContent xmlns:mc="http://schemas.openxmlformats.org/markup-compatibility/2006" xmlns:a14="http://schemas.microsoft.com/office/drawing/2010/main">
          <mc:Choice Requires="a14">
            <p:sp>
              <p:nvSpPr>
                <p:cNvPr id="30" name="矩形 29"/>
                <p:cNvSpPr/>
                <p:nvPr/>
              </p:nvSpPr>
              <p:spPr>
                <a:xfrm>
                  <a:off x="8121065" y="4534864"/>
                  <a:ext cx="65267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𝑙𝑜𝑠𝑠</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30" name="矩形 29"/>
                <p:cNvSpPr>
                  <a:spLocks noRot="1" noChangeAspect="1" noMove="1" noResize="1" noEditPoints="1" noAdjustHandles="1" noChangeArrowheads="1" noChangeShapeType="1" noTextEdit="1"/>
                </p:cNvSpPr>
                <p:nvPr/>
              </p:nvSpPr>
              <p:spPr>
                <a:xfrm>
                  <a:off x="8121065" y="4534864"/>
                  <a:ext cx="652679" cy="369332"/>
                </a:xfrm>
                <a:prstGeom prst="rect">
                  <a:avLst/>
                </a:prstGeom>
                <a:blipFill>
                  <a:blip r:embed="rId13"/>
                  <a:stretch>
                    <a:fillRect b="-1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4930558" y="5624879"/>
                  <a:ext cx="3367332"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𝑙𝑜𝑠𝑠</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ℒ</m:t>
                        </m:r>
                        <m:r>
                          <a:rPr kumimoji="0" lang="zh-CN" altLang="en-US"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 </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𝑝𝑟𝑒𝑑𝑖𝑐𝑡𝑒𝑑</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𝑔𝑟𝑜𝑢𝑛𝑑𝑡𝑟𝑢𝑡h</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oMath>
                    </m:oMathPara>
                  </a14:m>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31" name="矩形 30"/>
                <p:cNvSpPr>
                  <a:spLocks noRot="1" noChangeAspect="1" noMove="1" noResize="1" noEditPoints="1" noAdjustHandles="1" noChangeArrowheads="1" noChangeShapeType="1" noTextEdit="1"/>
                </p:cNvSpPr>
                <p:nvPr/>
              </p:nvSpPr>
              <p:spPr>
                <a:xfrm>
                  <a:off x="4930558" y="5624879"/>
                  <a:ext cx="3367332" cy="338554"/>
                </a:xfrm>
                <a:prstGeom prst="rect">
                  <a:avLst/>
                </a:prstGeom>
                <a:blipFill>
                  <a:blip r:embed="rId14"/>
                  <a:stretch>
                    <a:fillRect r="-7341" b="-31915"/>
                  </a:stretch>
                </a:blipFill>
              </p:spPr>
              <p:txBody>
                <a:bodyPr/>
                <a:lstStyle/>
                <a:p>
                  <a:r>
                    <a:rPr lang="zh-CN" altLang="en-US">
                      <a:noFill/>
                    </a:rPr>
                    <a:t> </a:t>
                  </a:r>
                </a:p>
              </p:txBody>
            </p:sp>
          </mc:Fallback>
        </mc:AlternateContent>
        <p:sp>
          <p:nvSpPr>
            <p:cNvPr id="32" name="矩形 31"/>
            <p:cNvSpPr/>
            <p:nvPr/>
          </p:nvSpPr>
          <p:spPr>
            <a:xfrm>
              <a:off x="4493095" y="4490337"/>
              <a:ext cx="104889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线性加权累加</a:t>
              </a:r>
            </a:p>
          </p:txBody>
        </p:sp>
        <p:sp>
          <p:nvSpPr>
            <p:cNvPr id="33" name="右箭头 32"/>
            <p:cNvSpPr/>
            <p:nvPr/>
          </p:nvSpPr>
          <p:spPr>
            <a:xfrm rot="18830508">
              <a:off x="3637868" y="3320004"/>
              <a:ext cx="403944" cy="1565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4" name="矩形 33"/>
                <p:cNvSpPr/>
                <p:nvPr/>
              </p:nvSpPr>
              <p:spPr>
                <a:xfrm>
                  <a:off x="3876596" y="2637491"/>
                  <a:ext cx="2353978" cy="66434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sSubSup>
                              <m:sSubSup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a:cs typeface="+mn-cs"/>
                                  </a:rPr>
                                  <m:t>𝑤</m:t>
                                </m:r>
                              </m:e>
                              <m:sub>
                                <m:r>
                                  <a:rPr kumimoji="0" lang="en-US" altLang="zh-CN" sz="1800" b="0" i="1" u="none" strike="noStrike" kern="1200" cap="none" spc="0" normalizeH="0" baseline="0" noProof="0">
                                    <a:ln>
                                      <a:noFill/>
                                    </a:ln>
                                    <a:solidFill>
                                      <a:prstClr val="black"/>
                                    </a:solidFill>
                                    <a:effectLst/>
                                    <a:uLnTx/>
                                    <a:uFillTx/>
                                    <a:latin typeface="Cambria Math"/>
                                    <a:cs typeface="+mn-cs"/>
                                  </a:rPr>
                                  <m:t>1</m:t>
                                </m:r>
                              </m:sub>
                              <m:sup>
                                <m:r>
                                  <a:rPr kumimoji="0" lang="en-US" altLang="zh-CN" sz="1800" b="0" i="1" u="none" strike="noStrike" kern="1200" cap="none" spc="0" normalizeH="0" baseline="0" noProof="0">
                                    <a:ln>
                                      <a:noFill/>
                                    </a:ln>
                                    <a:solidFill>
                                      <a:prstClr val="black"/>
                                    </a:solidFill>
                                    <a:effectLst/>
                                    <a:uLnTx/>
                                    <a:uFillTx/>
                                    <a:latin typeface="Cambria Math"/>
                                    <a:cs typeface="+mn-cs"/>
                                  </a:rPr>
                                  <m:t>𝑛𝑒𝑤</m:t>
                                </m:r>
                              </m:sup>
                            </m:sSubSup>
                            <m:r>
                              <a:rPr kumimoji="0" lang="en-US" altLang="zh-CN" sz="1800" b="0" i="1" u="none" strike="noStrike" kern="1200" cap="none" spc="0" normalizeH="0" baseline="0" noProof="0" smtClean="0">
                                <a:ln>
                                  <a:noFill/>
                                </a:ln>
                                <a:solidFill>
                                  <a:prstClr val="black"/>
                                </a:solidFill>
                                <a:effectLst/>
                                <a:uLnTx/>
                                <a:uFillTx/>
                                <a:latin typeface="Cambria Math"/>
                                <a:cs typeface="+mn-cs"/>
                              </a:rPr>
                              <m:t>=</m:t>
                            </m:r>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1</m:t>
                            </m:r>
                          </m:sub>
                        </m:s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m:t>
                        </m:r>
                        <m:r>
                          <m:rPr>
                            <m:sty m:val="p"/>
                          </m:rPr>
                          <a:rPr kumimoji="0" lang="en-US" altLang="zh-CN" sz="1800" b="0" i="0" u="none" strike="noStrike" kern="1200" cap="none" spc="0" normalizeH="0" baseline="0" noProof="0">
                            <a:ln>
                              <a:noFill/>
                            </a:ln>
                            <a:solidFill>
                              <a:prstClr val="black"/>
                            </a:solidFill>
                            <a:effectLst/>
                            <a:uLnTx/>
                            <a:uFillTx/>
                            <a:latin typeface="Cambria Math"/>
                            <a:cs typeface="+mn-cs"/>
                          </a:rPr>
                          <m:t>η</m:t>
                        </m:r>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mn-cs"/>
                              </a:rPr>
                            </m:ctrlPr>
                          </m:fPr>
                          <m:num>
                            <m:r>
                              <a:rPr kumimoji="0" lang="zh-CN" altLang="en-US" sz="1800" b="0" i="1" u="none" strike="noStrike" kern="1200" cap="none" spc="0" normalizeH="0" baseline="0" noProof="0" smtClean="0">
                                <a:ln>
                                  <a:noFill/>
                                </a:ln>
                                <a:solidFill>
                                  <a:prstClr val="black"/>
                                </a:solidFill>
                                <a:effectLst/>
                                <a:uLnTx/>
                                <a:uFillTx/>
                                <a:latin typeface="Cambria Math"/>
                                <a:ea typeface="Cambria Math"/>
                                <a:cs typeface="+mn-cs"/>
                              </a:rPr>
                              <m:t>𝜕</m:t>
                            </m:r>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ℒ</m:t>
                            </m:r>
                          </m:num>
                          <m:den>
                            <m:r>
                              <a:rPr kumimoji="0" lang="zh-CN" altLang="en-US" sz="1800" b="0" i="1" u="none" strike="noStrike" kern="1200" cap="none" spc="0" normalizeH="0" baseline="0" noProof="0">
                                <a:ln>
                                  <a:noFill/>
                                </a:ln>
                                <a:solidFill>
                                  <a:prstClr val="black"/>
                                </a:solidFill>
                                <a:effectLst/>
                                <a:uLnTx/>
                                <a:uFillTx/>
                                <a:latin typeface="Cambria Math"/>
                                <a:ea typeface="Cambria Math"/>
                                <a:cs typeface="+mn-c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1</m:t>
                                </m:r>
                              </m:sub>
                            </m:sSub>
                          </m:den>
                        </m:f>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34" name="矩形 33"/>
                <p:cNvSpPr>
                  <a:spLocks noRot="1" noChangeAspect="1" noMove="1" noResize="1" noEditPoints="1" noAdjustHandles="1" noChangeArrowheads="1" noChangeShapeType="1" noTextEdit="1"/>
                </p:cNvSpPr>
                <p:nvPr/>
              </p:nvSpPr>
              <p:spPr>
                <a:xfrm>
                  <a:off x="3876596" y="2637491"/>
                  <a:ext cx="2353978" cy="664349"/>
                </a:xfrm>
                <a:prstGeom prst="rect">
                  <a:avLst/>
                </a:prstGeom>
                <a:blipFill>
                  <a:blip r:embed="rId15"/>
                  <a:stretch>
                    <a:fillRect r="-4533" b="-8602"/>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61055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1264" y="2246833"/>
            <a:ext cx="427221" cy="119435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输入</a:t>
            </a:r>
            <a:endParaRPr kumimoji="0" lang="en-US" altLang="zh-CN"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数据</a:t>
            </a:r>
          </a:p>
        </p:txBody>
      </p:sp>
      <mc:AlternateContent xmlns:mc="http://schemas.openxmlformats.org/markup-compatibility/2006" xmlns:a14="http://schemas.microsoft.com/office/drawing/2010/main">
        <mc:Choice Requires="a14">
          <p:sp>
            <p:nvSpPr>
              <p:cNvPr id="6" name="圆角矩形 5"/>
              <p:cNvSpPr/>
              <p:nvPr/>
            </p:nvSpPr>
            <p:spPr>
              <a:xfrm>
                <a:off x="784985" y="2342848"/>
                <a:ext cx="1080120" cy="67806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mn-cs"/>
                        </a:rPr>
                        <m:t>⋯⋯⋯</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6" name="圆角矩形 5"/>
              <p:cNvSpPr>
                <a:spLocks noRot="1" noChangeAspect="1" noMove="1" noResize="1" noEditPoints="1" noAdjustHandles="1" noChangeArrowheads="1" noChangeShapeType="1" noTextEdit="1"/>
              </p:cNvSpPr>
              <p:nvPr/>
            </p:nvSpPr>
            <p:spPr>
              <a:xfrm>
                <a:off x="784985" y="2342848"/>
                <a:ext cx="1080120" cy="678065"/>
              </a:xfrm>
              <a:prstGeom prst="round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826473" y="2522833"/>
                <a:ext cx="67037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a:ea typeface="Cambria Math"/>
                          <a:cs typeface="+mn-cs"/>
                        </a:rPr>
                        <m:t>⋯⋯</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矩形 6"/>
              <p:cNvSpPr>
                <a:spLocks noRot="1" noChangeAspect="1" noMove="1" noResize="1" noEditPoints="1" noAdjustHandles="1" noChangeArrowheads="1" noChangeShapeType="1" noTextEdit="1"/>
              </p:cNvSpPr>
              <p:nvPr/>
            </p:nvSpPr>
            <p:spPr>
              <a:xfrm>
                <a:off x="1826473" y="2522833"/>
                <a:ext cx="670376" cy="369332"/>
              </a:xfrm>
              <a:prstGeom prst="rect">
                <a:avLst/>
              </a:prstGeom>
              <a:blipFill rotWithShape="1">
                <a:blip r:embed="rId3"/>
                <a:stretch>
                  <a:fillRect/>
                </a:stretch>
              </a:blipFill>
            </p:spPr>
            <p:txBody>
              <a:bodyPr/>
              <a:lstStyle/>
              <a:p>
                <a:r>
                  <a:rPr lang="zh-CN" altLang="en-US">
                    <a:noFill/>
                  </a:rPr>
                  <a:t> </a:t>
                </a:r>
              </a:p>
            </p:txBody>
          </p:sp>
        </mc:Fallback>
      </mc:AlternateContent>
      <p:cxnSp>
        <p:nvCxnSpPr>
          <p:cNvPr id="8" name="直接箭头连接符 7"/>
          <p:cNvCxnSpPr/>
          <p:nvPr/>
        </p:nvCxnSpPr>
        <p:spPr>
          <a:xfrm>
            <a:off x="3059500" y="2048768"/>
            <a:ext cx="677138" cy="2950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2470067" y="1764303"/>
            <a:ext cx="608746" cy="424965"/>
          </a:xfrm>
          <a:prstGeom prst="ellipse">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矩形 9"/>
              <p:cNvSpPr/>
              <p:nvPr/>
            </p:nvSpPr>
            <p:spPr>
              <a:xfrm>
                <a:off x="3222382" y="1910268"/>
                <a:ext cx="50180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3222382" y="1910268"/>
                <a:ext cx="501804" cy="369332"/>
              </a:xfrm>
              <a:prstGeom prst="rect">
                <a:avLst/>
              </a:prstGeom>
              <a:blipFill rotWithShape="1">
                <a:blip r:embed="rId4"/>
                <a:stretch>
                  <a:fillRect/>
                </a:stretch>
              </a:blipFill>
            </p:spPr>
            <p:txBody>
              <a:bodyPr/>
              <a:lstStyle/>
              <a:p>
                <a:r>
                  <a:rPr lang="zh-CN" altLang="en-US">
                    <a:noFill/>
                  </a:rPr>
                  <a:t> </a:t>
                </a:r>
              </a:p>
            </p:txBody>
          </p:sp>
        </mc:Fallback>
      </mc:AlternateContent>
      <p:sp>
        <p:nvSpPr>
          <p:cNvPr id="11" name="椭圆 10"/>
          <p:cNvSpPr/>
          <p:nvPr/>
        </p:nvSpPr>
        <p:spPr>
          <a:xfrm>
            <a:off x="2452035" y="2501956"/>
            <a:ext cx="608746" cy="424965"/>
          </a:xfrm>
          <a:prstGeom prst="ellipse">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p:sp>
        <p:nvSpPr>
          <p:cNvPr id="12" name="椭圆 11"/>
          <p:cNvSpPr/>
          <p:nvPr/>
        </p:nvSpPr>
        <p:spPr>
          <a:xfrm>
            <a:off x="2450754" y="3228704"/>
            <a:ext cx="608746" cy="424965"/>
          </a:xfrm>
          <a:prstGeom prst="ellipse">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p:cxnSp>
        <p:nvCxnSpPr>
          <p:cNvPr id="13" name="直接箭头连接符 12"/>
          <p:cNvCxnSpPr>
            <a:stCxn id="11" idx="6"/>
          </p:cNvCxnSpPr>
          <p:nvPr/>
        </p:nvCxnSpPr>
        <p:spPr>
          <a:xfrm>
            <a:off x="3060782" y="2714439"/>
            <a:ext cx="675857" cy="119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12" idx="6"/>
          </p:cNvCxnSpPr>
          <p:nvPr/>
        </p:nvCxnSpPr>
        <p:spPr>
          <a:xfrm flipV="1">
            <a:off x="3059501" y="3106714"/>
            <a:ext cx="802637" cy="3344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矩形 14"/>
              <p:cNvSpPr/>
              <p:nvPr/>
            </p:nvSpPr>
            <p:spPr>
              <a:xfrm>
                <a:off x="3195397" y="2405858"/>
                <a:ext cx="50712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2</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3195397" y="2405858"/>
                <a:ext cx="507127" cy="369332"/>
              </a:xfrm>
              <a:prstGeom prst="rect">
                <a:avLst/>
              </a:prstGeom>
              <a:blipFill rotWithShape="1">
                <a:blip r:embed="rId5"/>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229512" y="2930635"/>
                <a:ext cx="50712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3</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3229512" y="2930635"/>
                <a:ext cx="507127" cy="369332"/>
              </a:xfrm>
              <a:prstGeom prst="rect">
                <a:avLst/>
              </a:prstGeom>
              <a:blipFill rotWithShape="1">
                <a:blip r:embed="rId6"/>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414392" y="1411834"/>
                <a:ext cx="68403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2414392" y="1411834"/>
                <a:ext cx="684033" cy="369332"/>
              </a:xfrm>
              <a:prstGeom prst="rect">
                <a:avLst/>
              </a:prstGeom>
              <a:blipFill rotWithShape="1">
                <a:blip r:embed="rId7"/>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2414392" y="2228683"/>
                <a:ext cx="68935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2</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8" name="矩形 17"/>
              <p:cNvSpPr>
                <a:spLocks noRot="1" noChangeAspect="1" noMove="1" noResize="1" noEditPoints="1" noAdjustHandles="1" noChangeArrowheads="1" noChangeShapeType="1" noTextEdit="1"/>
              </p:cNvSpPr>
              <p:nvPr/>
            </p:nvSpPr>
            <p:spPr>
              <a:xfrm>
                <a:off x="2414392" y="2228683"/>
                <a:ext cx="689356" cy="369332"/>
              </a:xfrm>
              <a:prstGeom prst="rect">
                <a:avLst/>
              </a:prstGeom>
              <a:blipFill rotWithShape="1">
                <a:blip r:embed="rId8"/>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367379" y="2919699"/>
                <a:ext cx="68935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3</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2367379" y="2919699"/>
                <a:ext cx="689356" cy="369332"/>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933329" y="2327273"/>
                <a:ext cx="1626022" cy="490647"/>
              </a:xfrm>
              <a:prstGeom prst="rect">
                <a:avLst/>
              </a:prstGeom>
              <a:solidFill>
                <a:srgbClr val="FFC000"/>
              </a:solid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𝒳</m:t>
                      </m:r>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m:t>
                      </m:r>
                      <m:nary>
                        <m:naryPr>
                          <m:chr m:val="∑"/>
                          <m:limLoc m:val="subSup"/>
                          <m:supHide m:val="on"/>
                          <m:ctrlP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naryPr>
                        <m:sub>
                          <m:r>
                            <m:rPr>
                              <m:brk m:alnAt="9"/>
                            </m:rPr>
                            <a:rPr kumimoji="0" lang="en-US" altLang="zh-CN" sz="14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𝑖</m:t>
                          </m:r>
                        </m:sub>
                        <m:sup/>
                        <m:e>
                          <m:sSub>
                            <m:sSubPr>
                              <m:ctrlP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𝑖</m:t>
                              </m:r>
                            </m:sub>
                          </m:sSub>
                          <m:r>
                            <a:rPr kumimoji="0" lang="en-US" altLang="zh-CN" sz="14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m:t>
                          </m:r>
                          <m:sSub>
                            <m:sSubPr>
                              <m:ctrlPr>
                                <a:rPr kumimoji="0" lang="en-US" altLang="zh-CN" sz="1400" b="0" i="1" u="none" strike="noStrike" kern="1200" cap="none" spc="0" normalizeH="0" baseline="0" noProof="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4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𝑜𝑢𝑡</m:t>
                              </m:r>
                            </m:e>
                            <m:sub>
                              <m:r>
                                <a:rPr kumimoji="0" lang="en-US" altLang="zh-CN" sz="14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𝑖</m:t>
                              </m:r>
                            </m:sub>
                          </m:sSub>
                        </m:e>
                      </m:nary>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mc:Choice>
        <mc:Fallback xmlns="">
          <p:sp>
            <p:nvSpPr>
              <p:cNvPr id="20" name="矩形 19"/>
              <p:cNvSpPr>
                <a:spLocks noRot="1" noChangeAspect="1" noMove="1" noResize="1" noEditPoints="1" noAdjustHandles="1" noChangeArrowheads="1" noChangeShapeType="1" noTextEdit="1"/>
              </p:cNvSpPr>
              <p:nvPr/>
            </p:nvSpPr>
            <p:spPr>
              <a:xfrm>
                <a:off x="3933329" y="2327273"/>
                <a:ext cx="1626022" cy="490647"/>
              </a:xfrm>
              <a:prstGeom prst="rect">
                <a:avLst/>
              </a:prstGeom>
              <a:blipFill rotWithShape="1">
                <a:blip r:embed="rId10"/>
                <a:stretch>
                  <a:fillRect l="-11610" t="-156250" r="-25094" b="-22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5819470" y="2317982"/>
                <a:ext cx="1473990" cy="559064"/>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𝒪</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f>
                        <m:f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Times New Roman" panose="02020603050405020304" pitchFamily="18" charset="0"/>
                            </a:rPr>
                          </m:ctrlPr>
                        </m:fPr>
                        <m:num>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1</m:t>
                          </m:r>
                        </m:num>
                        <m:den>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1+</m:t>
                          </m:r>
                          <m:sSup>
                            <m:sSup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Times New Roman" panose="02020603050405020304" pitchFamily="18" charset="0"/>
                                </a:rPr>
                              </m:ctrlPr>
                            </m:sSupPr>
                            <m:e>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𝑒</m:t>
                              </m:r>
                            </m:e>
                            <m:sup>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zh-CN" altLang="en-US" sz="16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𝒳</m:t>
                              </m:r>
                            </m:sup>
                          </m:sSup>
                        </m:den>
                      </m:f>
                    </m:oMath>
                  </m:oMathPara>
                </a14:m>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黑体" pitchFamily="49" charset="-122"/>
                  <a:cs typeface="Times New Roman" panose="02020603050405020304" pitchFamily="18" charset="0"/>
                </a:endParaRPr>
              </a:p>
            </p:txBody>
          </p:sp>
        </mc:Choice>
        <mc:Fallback xmlns="">
          <p:sp>
            <p:nvSpPr>
              <p:cNvPr id="21" name="矩形 20"/>
              <p:cNvSpPr>
                <a:spLocks noRot="1" noChangeAspect="1" noMove="1" noResize="1" noEditPoints="1" noAdjustHandles="1" noChangeArrowheads="1" noChangeShapeType="1" noTextEdit="1"/>
              </p:cNvSpPr>
              <p:nvPr/>
            </p:nvSpPr>
            <p:spPr>
              <a:xfrm>
                <a:off x="5819470" y="2317982"/>
                <a:ext cx="1473990" cy="559064"/>
              </a:xfrm>
              <a:prstGeom prst="rect">
                <a:avLst/>
              </a:prstGeom>
              <a:blipFill rotWithShape="1">
                <a:blip r:embed="rId11"/>
                <a:stretch>
                  <a:fillRect/>
                </a:stretch>
              </a:blipFill>
            </p:spPr>
            <p:txBody>
              <a:bodyPr/>
              <a:lstStyle/>
              <a:p>
                <a:r>
                  <a:rPr lang="zh-CN" altLang="en-US">
                    <a:noFill/>
                  </a:rPr>
                  <a:t> </a:t>
                </a:r>
              </a:p>
            </p:txBody>
          </p:sp>
        </mc:Fallback>
      </mc:AlternateContent>
      <p:sp>
        <p:nvSpPr>
          <p:cNvPr id="22" name="椭圆 21"/>
          <p:cNvSpPr/>
          <p:nvPr/>
        </p:nvSpPr>
        <p:spPr>
          <a:xfrm>
            <a:off x="3736637" y="1764303"/>
            <a:ext cx="3828013" cy="17819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3" name="矩形 22"/>
              <p:cNvSpPr/>
              <p:nvPr/>
            </p:nvSpPr>
            <p:spPr>
              <a:xfrm>
                <a:off x="5355113" y="3469885"/>
                <a:ext cx="59105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𝑜𝑢𝑡</m:t>
                      </m:r>
                    </m:oMath>
                  </m:oMathPara>
                </a14:m>
                <a:endParaRPr kumimoji="0" lang="en-US" altLang="zh-CN" sz="1800" b="0" i="0" u="none" strike="noStrike" kern="1200" cap="none" spc="0" normalizeH="0" baseline="0" noProof="0" dirty="0">
                  <a:ln>
                    <a:noFill/>
                  </a:ln>
                  <a:solidFill>
                    <a:prstClr val="black"/>
                  </a:solidFill>
                  <a:effectLst/>
                  <a:uLnTx/>
                  <a:uFillTx/>
                  <a:latin typeface="Times New Roman"/>
                  <a:ea typeface="Cambria Math"/>
                  <a:cs typeface="Times New Roman" panose="02020603050405020304" pitchFamily="18" charset="0"/>
                </a:endParaRPr>
              </a:p>
            </p:txBody>
          </p:sp>
        </mc:Choice>
        <mc:Fallback xmlns="">
          <p:sp>
            <p:nvSpPr>
              <p:cNvPr id="23" name="矩形 22"/>
              <p:cNvSpPr>
                <a:spLocks noRot="1" noChangeAspect="1" noMove="1" noResize="1" noEditPoints="1" noAdjustHandles="1" noChangeArrowheads="1" noChangeShapeType="1" noTextEdit="1"/>
              </p:cNvSpPr>
              <p:nvPr/>
            </p:nvSpPr>
            <p:spPr>
              <a:xfrm>
                <a:off x="5355113" y="3469885"/>
                <a:ext cx="591059" cy="369332"/>
              </a:xfrm>
              <a:prstGeom prst="rect">
                <a:avLst/>
              </a:prstGeom>
              <a:blipFill rotWithShape="1">
                <a:blip r:embed="rId12"/>
                <a:stretch>
                  <a:fillRect/>
                </a:stretch>
              </a:blipFill>
            </p:spPr>
            <p:txBody>
              <a:bodyPr/>
              <a:lstStyle/>
              <a:p>
                <a:r>
                  <a:rPr lang="zh-CN" altLang="en-US">
                    <a:noFill/>
                  </a:rPr>
                  <a:t> </a:t>
                </a:r>
              </a:p>
            </p:txBody>
          </p:sp>
        </mc:Fallback>
      </mc:AlternateContent>
      <p:sp>
        <p:nvSpPr>
          <p:cNvPr id="24" name="右箭头 23"/>
          <p:cNvSpPr/>
          <p:nvPr/>
        </p:nvSpPr>
        <p:spPr>
          <a:xfrm>
            <a:off x="5554218" y="2478619"/>
            <a:ext cx="240668" cy="11664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5" name="右箭头 24"/>
          <p:cNvSpPr/>
          <p:nvPr/>
        </p:nvSpPr>
        <p:spPr>
          <a:xfrm>
            <a:off x="507867" y="2628105"/>
            <a:ext cx="240668" cy="11664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6" name="右箭头 25"/>
          <p:cNvSpPr/>
          <p:nvPr/>
        </p:nvSpPr>
        <p:spPr>
          <a:xfrm>
            <a:off x="7564650" y="2504889"/>
            <a:ext cx="360041" cy="221459"/>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7" name="右箭头 26"/>
          <p:cNvSpPr/>
          <p:nvPr/>
        </p:nvSpPr>
        <p:spPr>
          <a:xfrm rot="10800000">
            <a:off x="7538195" y="3020913"/>
            <a:ext cx="419453" cy="135991"/>
          </a:xfrm>
          <a:prstGeom prst="rightArrow">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28" name="矩形 27"/>
          <p:cNvSpPr/>
          <p:nvPr/>
        </p:nvSpPr>
        <p:spPr>
          <a:xfrm>
            <a:off x="7926052" y="2442656"/>
            <a:ext cx="104387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黑体"/>
                <a:cs typeface="Times New Roman" panose="02020603050405020304" pitchFamily="18" charset="0"/>
              </a:rPr>
              <a:t>predicted</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黑体"/>
              <a:cs typeface="Times New Roman" panose="02020603050405020304" pitchFamily="18" charset="0"/>
            </a:endParaRPr>
          </a:p>
        </p:txBody>
      </p:sp>
      <p:sp>
        <p:nvSpPr>
          <p:cNvPr id="29" name="矩形 28"/>
          <p:cNvSpPr/>
          <p:nvPr/>
        </p:nvSpPr>
        <p:spPr>
          <a:xfrm>
            <a:off x="5958977" y="2842755"/>
            <a:ext cx="104889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Sigmoid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激活函数</a:t>
            </a:r>
          </a:p>
        </p:txBody>
      </p:sp>
      <mc:AlternateContent xmlns:mc="http://schemas.openxmlformats.org/markup-compatibility/2006" xmlns:a14="http://schemas.microsoft.com/office/drawing/2010/main">
        <mc:Choice Requires="a14">
          <p:sp>
            <p:nvSpPr>
              <p:cNvPr id="30" name="矩形 29"/>
              <p:cNvSpPr/>
              <p:nvPr/>
            </p:nvSpPr>
            <p:spPr>
              <a:xfrm>
                <a:off x="7946993" y="2923300"/>
                <a:ext cx="65267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𝑙𝑜𝑠𝑠</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30" name="矩形 29"/>
              <p:cNvSpPr>
                <a:spLocks noRot="1" noChangeAspect="1" noMove="1" noResize="1" noEditPoints="1" noAdjustHandles="1" noChangeArrowheads="1" noChangeShapeType="1" noTextEdit="1"/>
              </p:cNvSpPr>
              <p:nvPr/>
            </p:nvSpPr>
            <p:spPr>
              <a:xfrm>
                <a:off x="7946993" y="2923300"/>
                <a:ext cx="652679" cy="369332"/>
              </a:xfrm>
              <a:prstGeom prst="rect">
                <a:avLst/>
              </a:prstGeom>
              <a:blipFill rotWithShape="1">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4756486" y="4013315"/>
                <a:ext cx="3367332"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𝑙𝑜𝑠𝑠</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ℒ</m:t>
                      </m:r>
                      <m:r>
                        <a:rPr kumimoji="0" lang="zh-CN" altLang="en-US"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 </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𝑝𝑟𝑒𝑑𝑖𝑐𝑡𝑒𝑑</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𝑔𝑟𝑜𝑢𝑛𝑑𝑡𝑟𝑢𝑡h</m:t>
                      </m:r>
                      <m:r>
                        <a:rPr kumimoji="0" lang="en-US" altLang="zh-CN" sz="1600" b="0" i="1" u="none" strike="noStrike" kern="1200" cap="none" spc="0" normalizeH="0" baseline="0" noProof="0" smtClean="0">
                          <a:ln>
                            <a:noFill/>
                          </a:ln>
                          <a:solidFill>
                            <a:prstClr val="black"/>
                          </a:solidFill>
                          <a:effectLst/>
                          <a:uLnTx/>
                          <a:uFillTx/>
                          <a:latin typeface="Cambria Math"/>
                          <a:ea typeface="黑体" pitchFamily="49" charset="-122"/>
                          <a:cs typeface="Times New Roman" panose="02020603050405020304" pitchFamily="18" charset="0"/>
                        </a:rPr>
                        <m:t>)</m:t>
                      </m:r>
                    </m:oMath>
                  </m:oMathPara>
                </a14:m>
                <a:endParaRPr kumimoji="0" lang="zh-CN" altLang="en-US" sz="16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31" name="矩形 30"/>
              <p:cNvSpPr>
                <a:spLocks noRot="1" noChangeAspect="1" noMove="1" noResize="1" noEditPoints="1" noAdjustHandles="1" noChangeArrowheads="1" noChangeShapeType="1" noTextEdit="1"/>
              </p:cNvSpPr>
              <p:nvPr/>
            </p:nvSpPr>
            <p:spPr>
              <a:xfrm>
                <a:off x="4756486" y="4013315"/>
                <a:ext cx="3367332" cy="338554"/>
              </a:xfrm>
              <a:prstGeom prst="rect">
                <a:avLst/>
              </a:prstGeom>
              <a:blipFill rotWithShape="1">
                <a:blip r:embed="rId14"/>
                <a:stretch>
                  <a:fillRect b="-10714"/>
                </a:stretch>
              </a:blipFill>
            </p:spPr>
            <p:txBody>
              <a:bodyPr/>
              <a:lstStyle/>
              <a:p>
                <a:r>
                  <a:rPr lang="zh-CN" altLang="en-US">
                    <a:noFill/>
                  </a:rPr>
                  <a:t> </a:t>
                </a:r>
              </a:p>
            </p:txBody>
          </p:sp>
        </mc:Fallback>
      </mc:AlternateContent>
      <p:sp>
        <p:nvSpPr>
          <p:cNvPr id="32" name="矩形 31"/>
          <p:cNvSpPr/>
          <p:nvPr/>
        </p:nvSpPr>
        <p:spPr>
          <a:xfrm>
            <a:off x="4319023" y="2878773"/>
            <a:ext cx="104889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线性加权累加</a:t>
            </a:r>
          </a:p>
        </p:txBody>
      </p:sp>
      <p:sp>
        <p:nvSpPr>
          <p:cNvPr id="33" name="右箭头 32"/>
          <p:cNvSpPr/>
          <p:nvPr/>
        </p:nvSpPr>
        <p:spPr>
          <a:xfrm rot="18830508">
            <a:off x="3463796" y="1708440"/>
            <a:ext cx="403944" cy="1565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4" name="矩形 33"/>
              <p:cNvSpPr/>
              <p:nvPr/>
            </p:nvSpPr>
            <p:spPr>
              <a:xfrm>
                <a:off x="3702524" y="1025927"/>
                <a:ext cx="2353978" cy="66434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sSubSup>
                            <m:sSubSup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a:cs typeface="+mn-cs"/>
                                </a:rPr>
                                <m:t>𝑤</m:t>
                              </m:r>
                            </m:e>
                            <m:sub>
                              <m:r>
                                <a:rPr kumimoji="0" lang="en-US" altLang="zh-CN" sz="1800" b="0" i="1" u="none" strike="noStrike" kern="1200" cap="none" spc="0" normalizeH="0" baseline="0" noProof="0">
                                  <a:ln>
                                    <a:noFill/>
                                  </a:ln>
                                  <a:solidFill>
                                    <a:prstClr val="black"/>
                                  </a:solidFill>
                                  <a:effectLst/>
                                  <a:uLnTx/>
                                  <a:uFillTx/>
                                  <a:latin typeface="Cambria Math"/>
                                  <a:cs typeface="+mn-cs"/>
                                </a:rPr>
                                <m:t>1</m:t>
                              </m:r>
                            </m:sub>
                            <m:sup>
                              <m:r>
                                <a:rPr kumimoji="0" lang="en-US" altLang="zh-CN" sz="1800" b="0" i="1" u="none" strike="noStrike" kern="1200" cap="none" spc="0" normalizeH="0" baseline="0" noProof="0">
                                  <a:ln>
                                    <a:noFill/>
                                  </a:ln>
                                  <a:solidFill>
                                    <a:prstClr val="black"/>
                                  </a:solidFill>
                                  <a:effectLst/>
                                  <a:uLnTx/>
                                  <a:uFillTx/>
                                  <a:latin typeface="Cambria Math"/>
                                  <a:cs typeface="+mn-cs"/>
                                </a:rPr>
                                <m:t>𝑛𝑒𝑤</m:t>
                              </m:r>
                            </m:sup>
                          </m:sSubSup>
                          <m:r>
                            <a:rPr kumimoji="0" lang="en-US" altLang="zh-CN" sz="1800" b="0" i="1" u="none" strike="noStrike" kern="1200" cap="none" spc="0" normalizeH="0" baseline="0" noProof="0" smtClean="0">
                              <a:ln>
                                <a:noFill/>
                              </a:ln>
                              <a:solidFill>
                                <a:prstClr val="black"/>
                              </a:solidFill>
                              <a:effectLst/>
                              <a:uLnTx/>
                              <a:uFillTx/>
                              <a:latin typeface="Cambria Math"/>
                              <a:cs typeface="+mn-cs"/>
                            </a:rPr>
                            <m:t>=</m:t>
                          </m:r>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1</m:t>
                          </m:r>
                        </m:sub>
                      </m:sSub>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Times New Roman" panose="02020603050405020304" pitchFamily="18" charset="0"/>
                        </a:rPr>
                        <m:t>−</m:t>
                      </m:r>
                      <m:r>
                        <m:rPr>
                          <m:sty m:val="p"/>
                        </m:rPr>
                        <a:rPr kumimoji="0" lang="en-US" altLang="zh-CN" sz="1800" b="0" i="0" u="none" strike="noStrike" kern="1200" cap="none" spc="0" normalizeH="0" baseline="0" noProof="0">
                          <a:ln>
                            <a:noFill/>
                          </a:ln>
                          <a:solidFill>
                            <a:prstClr val="black"/>
                          </a:solidFill>
                          <a:effectLst/>
                          <a:uLnTx/>
                          <a:uFillTx/>
                          <a:latin typeface="Cambria Math"/>
                          <a:cs typeface="+mn-cs"/>
                        </a:rPr>
                        <m:t>η</m:t>
                      </m:r>
                      <m:r>
                        <a:rPr kumimoji="0" lang="en-US" altLang="zh-CN" sz="1800" b="0" i="1" u="none" strike="noStrike" kern="1200" cap="none" spc="0" normalizeH="0" baseline="0" noProof="0" smtClean="0">
                          <a:ln>
                            <a:noFill/>
                          </a:ln>
                          <a:solidFill>
                            <a:prstClr val="black"/>
                          </a:solidFill>
                          <a:effectLst/>
                          <a:uLnTx/>
                          <a:uFillTx/>
                          <a:latin typeface="Cambria Math"/>
                          <a:ea typeface="Cambria Math"/>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mn-cs"/>
                            </a:rPr>
                          </m:ctrlPr>
                        </m:fPr>
                        <m:num>
                          <m:r>
                            <a:rPr kumimoji="0" lang="zh-CN" altLang="en-US" sz="1800" b="0" i="1" u="none" strike="noStrike" kern="1200" cap="none" spc="0" normalizeH="0" baseline="0" noProof="0" smtClean="0">
                              <a:ln>
                                <a:noFill/>
                              </a:ln>
                              <a:solidFill>
                                <a:prstClr val="black"/>
                              </a:solidFill>
                              <a:effectLst/>
                              <a:uLnTx/>
                              <a:uFillTx/>
                              <a:latin typeface="Cambria Math"/>
                              <a:ea typeface="Cambria Math"/>
                              <a:cs typeface="+mn-cs"/>
                            </a:rPr>
                            <m:t>𝜕</m:t>
                          </m:r>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ℒ</m:t>
                          </m:r>
                        </m:num>
                        <m:den>
                          <m:r>
                            <a:rPr kumimoji="0" lang="zh-CN" altLang="en-US" sz="1800" b="0" i="1" u="none" strike="noStrike" kern="1200" cap="none" spc="0" normalizeH="0" baseline="0" noProof="0">
                              <a:ln>
                                <a:noFill/>
                              </a:ln>
                              <a:solidFill>
                                <a:prstClr val="black"/>
                              </a:solidFill>
                              <a:effectLst/>
                              <a:uLnTx/>
                              <a:uFillTx/>
                              <a:latin typeface="Cambria Math"/>
                              <a:ea typeface="Cambria Math"/>
                              <a:cs typeface="+mn-cs"/>
                            </a:rPr>
                            <m:t>𝜕</m:t>
                          </m:r>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𝑤</m:t>
                              </m:r>
                            </m:e>
                            <m:sub>
                              <m:r>
                                <a:rPr kumimoji="0" lang="en-US" altLang="zh-CN" sz="1800" b="0" i="1" u="none" strike="noStrike" kern="1200" cap="none" spc="0" normalizeH="0" baseline="0" noProof="0">
                                  <a:ln>
                                    <a:noFill/>
                                  </a:ln>
                                  <a:solidFill>
                                    <a:prstClr val="black"/>
                                  </a:solidFill>
                                  <a:effectLst/>
                                  <a:uLnTx/>
                                  <a:uFillTx/>
                                  <a:latin typeface="Cambria Math"/>
                                  <a:ea typeface="Cambria Math"/>
                                  <a:cs typeface="Times New Roman" panose="02020603050405020304" pitchFamily="18" charset="0"/>
                                </a:rPr>
                                <m:t>1</m:t>
                              </m:r>
                            </m:sub>
                          </m:sSub>
                        </m:den>
                      </m:f>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34" name="矩形 33"/>
              <p:cNvSpPr>
                <a:spLocks noRot="1" noChangeAspect="1" noMove="1" noResize="1" noEditPoints="1" noAdjustHandles="1" noChangeArrowheads="1" noChangeShapeType="1" noTextEdit="1"/>
              </p:cNvSpPr>
              <p:nvPr/>
            </p:nvSpPr>
            <p:spPr>
              <a:xfrm>
                <a:off x="3702524" y="1025927"/>
                <a:ext cx="2353978" cy="664349"/>
              </a:xfrm>
              <a:prstGeom prst="rect">
                <a:avLst/>
              </a:prstGeom>
              <a:blipFill rotWithShape="1">
                <a:blip r:embed="rId1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244874" y="4510080"/>
                <a:ext cx="8480485" cy="1804789"/>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为了使损失函数</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ℒ</m:t>
                    </m:r>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取值减少（从而保证模型预测结果与实际结果间差距越来越小），要求取损失函数</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ℒ</m:t>
                    </m:r>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相对于</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的偏导，然后按照损失函数梯度的反方向选取一个微小的增量，调整</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的取值，就能够保证损失函数取值减少。即将</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变为</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altLang="zh-CN" sz="2000" b="0" i="0" u="none" strike="noStrike" kern="1200" cap="none" spc="0" normalizeH="0" baseline="0" noProof="0">
                        <a:ln>
                          <a:noFill/>
                        </a:ln>
                        <a:solidFill>
                          <a:prstClr val="black"/>
                        </a:solidFill>
                        <a:effectLst/>
                        <a:uLnTx/>
                        <a:uFillTx/>
                        <a:latin typeface="Cambria Math" panose="02040503050406030204" pitchFamily="18" charset="0"/>
                        <a:cs typeface="+mn-cs"/>
                      </a:rPr>
                      <m:t>η</m:t>
                    </m:r>
                    <m:f>
                      <m:f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后，能使得损失误差减少。</a:t>
                </a:r>
                <a14:m>
                  <m:oMath xmlns:m="http://schemas.openxmlformats.org/officeDocument/2006/math">
                    <m:f>
                      <m:f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𝑑</m:t>
                        </m:r>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为损失函数</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ℒ</m:t>
                    </m:r>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对</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的偏导。于是，需要求取损失函数</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ℒ</m:t>
                    </m:r>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对变量参数</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000" b="0" i="0" u="none" strike="noStrike" kern="1200" cap="none" spc="0" normalizeH="0" baseline="0" noProof="0" dirty="0">
                    <a:ln>
                      <a:noFill/>
                    </a:ln>
                    <a:solidFill>
                      <a:prstClr val="black"/>
                    </a:solidFill>
                    <a:effectLst/>
                    <a:uLnTx/>
                    <a:uFillTx/>
                    <a:latin typeface="Times New Roman"/>
                    <a:ea typeface="黑体"/>
                    <a:cs typeface="+mn-cs"/>
                  </a:rPr>
                  <a:t>的偏导。</a:t>
                </a:r>
              </a:p>
            </p:txBody>
          </p:sp>
        </mc:Choice>
        <mc:Fallback>
          <p:sp>
            <p:nvSpPr>
              <p:cNvPr id="3" name="矩形 2"/>
              <p:cNvSpPr>
                <a:spLocks noRot="1" noChangeAspect="1" noMove="1" noResize="1" noEditPoints="1" noAdjustHandles="1" noChangeArrowheads="1" noChangeShapeType="1" noTextEdit="1"/>
              </p:cNvSpPr>
              <p:nvPr/>
            </p:nvSpPr>
            <p:spPr>
              <a:xfrm>
                <a:off x="244874" y="4510080"/>
                <a:ext cx="8480485" cy="1804789"/>
              </a:xfrm>
              <a:prstGeom prst="rect">
                <a:avLst/>
              </a:prstGeom>
              <a:blipFill>
                <a:blip r:embed="rId16"/>
                <a:stretch>
                  <a:fillRect l="-647" t="-2703" r="-288" b="-4392"/>
                </a:stretch>
              </a:blipFill>
            </p:spPr>
            <p:txBody>
              <a:bodyPr/>
              <a:lstStyle/>
              <a:p>
                <a:r>
                  <a:rPr lang="zh-CN" altLang="en-US">
                    <a:noFill/>
                  </a:rPr>
                  <a:t> </a:t>
                </a:r>
              </a:p>
            </p:txBody>
          </p:sp>
        </mc:Fallback>
      </mc:AlternateContent>
      <p:sp>
        <p:nvSpPr>
          <p:cNvPr id="36" name="标题 1">
            <a:extLst>
              <a:ext uri="{FF2B5EF4-FFF2-40B4-BE49-F238E27FC236}">
                <a16:creationId xmlns:a16="http://schemas.microsoft.com/office/drawing/2014/main" id="{0161B1BB-0709-03C3-EFD3-0D78DDE039C6}"/>
              </a:ext>
            </a:extLst>
          </p:cNvPr>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Tree>
    <p:extLst>
      <p:ext uri="{BB962C8B-B14F-4D97-AF65-F5344CB8AC3E}">
        <p14:creationId xmlns:p14="http://schemas.microsoft.com/office/powerpoint/2010/main" val="41446693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p:cNvPicPr/>
          <p:nvPr/>
        </p:nvPicPr>
        <p:blipFill>
          <a:blip r:embed="rId2"/>
          <a:stretch>
            <a:fillRect/>
          </a:stretch>
        </p:blipFill>
        <p:spPr>
          <a:xfrm>
            <a:off x="1239521" y="855262"/>
            <a:ext cx="7183120" cy="3048808"/>
          </a:xfrm>
          <a:prstGeom prst="rect">
            <a:avLst/>
          </a:prstGeom>
        </p:spPr>
      </p:pic>
      <p:sp>
        <p:nvSpPr>
          <p:cNvPr id="4" name="矩形 3"/>
          <p:cNvSpPr/>
          <p:nvPr/>
        </p:nvSpPr>
        <p:spPr>
          <a:xfrm>
            <a:off x="609600" y="3917018"/>
            <a:ext cx="7965439" cy="2238241"/>
          </a:xfrm>
          <a:prstGeom prst="rect">
            <a:avLst/>
          </a:prstGeom>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通过一个三分类例子介绍神经网络中参数更新过程。给定一个包含输入层、一层隐藏层和输出层的多层感知机，隐藏层由两个神经元构成。使用</a:t>
            </a:r>
            <a:r>
              <a:rPr kumimoji="0" lang="en-US" altLang="zh-CN" sz="2400" b="0" i="0" u="none" strike="noStrike" kern="1200" cap="none" spc="0" normalizeH="0" baseline="0" noProof="0" dirty="0">
                <a:ln>
                  <a:noFill/>
                </a:ln>
                <a:solidFill>
                  <a:prstClr val="black"/>
                </a:solidFill>
                <a:effectLst/>
                <a:uLnTx/>
                <a:uFillTx/>
                <a:latin typeface="Times New Roman"/>
                <a:ea typeface="黑体"/>
                <a:cs typeface="+mn-cs"/>
              </a:rPr>
              <a:t>Sigmoid</a:t>
            </a:r>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函数作为激活函数，使用均方损失函数计算输出值与实际值之间的误差。</a:t>
            </a:r>
          </a:p>
        </p:txBody>
      </p:sp>
      <p:sp>
        <p:nvSpPr>
          <p:cNvPr id="7" name="标题 1">
            <a:extLst>
              <a:ext uri="{FF2B5EF4-FFF2-40B4-BE49-F238E27FC236}">
                <a16:creationId xmlns:a16="http://schemas.microsoft.com/office/drawing/2014/main" id="{D7CB3F88-B8ED-73FD-2878-794280C94B0B}"/>
              </a:ext>
            </a:extLst>
          </p:cNvPr>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Tree>
    <p:extLst>
      <p:ext uri="{BB962C8B-B14F-4D97-AF65-F5344CB8AC3E}">
        <p14:creationId xmlns:p14="http://schemas.microsoft.com/office/powerpoint/2010/main" val="89874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childTnLst>
                          </p:cTn>
                        </p:par>
                        <p:par>
                          <p:cTn id="8" fill="hold">
                            <p:stCondLst>
                              <p:cond delay="1500"/>
                            </p:stCondLst>
                            <p:childTnLst>
                              <p:par>
                                <p:cTn id="9" presetID="42" presetClass="entr" presetSubtype="0" fill="hold" grpId="0" nodeType="afterEffect">
                                  <p:stCondLst>
                                    <p:cond delay="7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p:cNvPicPr/>
          <p:nvPr/>
        </p:nvPicPr>
        <p:blipFill>
          <a:blip r:embed="rId2"/>
          <a:stretch>
            <a:fillRect/>
          </a:stretch>
        </p:blipFill>
        <p:spPr>
          <a:xfrm>
            <a:off x="838467" y="873759"/>
            <a:ext cx="7507705" cy="3037683"/>
          </a:xfrm>
          <a:prstGeom prst="rect">
            <a:avLst/>
          </a:prstGeom>
        </p:spPr>
      </p:pic>
      <mc:AlternateContent xmlns:mc="http://schemas.openxmlformats.org/markup-compatibility/2006">
        <mc:Choice xmlns:a14="http://schemas.microsoft.com/office/drawing/2010/main" Requires="a14">
          <p:sp>
            <p:nvSpPr>
              <p:cNvPr id="3" name="矩形 2"/>
              <p:cNvSpPr/>
              <p:nvPr/>
            </p:nvSpPr>
            <p:spPr>
              <a:xfrm>
                <a:off x="518161" y="3718839"/>
                <a:ext cx="8077200" cy="2792239"/>
              </a:xfrm>
              <a:prstGeom prst="rect">
                <a:avLst/>
              </a:prstGeom>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cs typeface="+mn-cs"/>
                  </a:rPr>
                  <a:t>每个神经元完成两项任务：</a:t>
                </a:r>
                <a:r>
                  <a:rPr kumimoji="0" lang="en-US" altLang="zh-CN" sz="2400" b="0" i="0" u="none" strike="noStrike" kern="1200" cap="none" spc="0" normalizeH="0" baseline="0" noProof="0" dirty="0">
                    <a:ln>
                      <a:noFill/>
                    </a:ln>
                    <a:solidFill>
                      <a:prstClr val="black"/>
                    </a:solidFill>
                    <a:effectLst/>
                    <a:uLnTx/>
                    <a:uFillTx/>
                    <a:cs typeface="+mn-cs"/>
                  </a:rPr>
                  <a:t>1</a:t>
                </a:r>
                <a:r>
                  <a:rPr kumimoji="0" lang="zh-CN" altLang="zh-CN" sz="2400" b="0" i="0" u="none" strike="noStrike" kern="1200" cap="none" spc="0" normalizeH="0" baseline="0" noProof="0" dirty="0">
                    <a:ln>
                      <a:noFill/>
                    </a:ln>
                    <a:solidFill>
                      <a:prstClr val="black"/>
                    </a:solidFill>
                    <a:effectLst/>
                    <a:uLnTx/>
                    <a:uFillTx/>
                    <a:cs typeface="+mn-cs"/>
                  </a:rPr>
                  <a:t>）对相邻前序层所传递信息进行线性加权累加；</a:t>
                </a:r>
                <a:r>
                  <a:rPr kumimoji="0" lang="en-US" altLang="zh-CN" sz="2400" b="0" i="0" u="none" strike="noStrike" kern="1200" cap="none" spc="0" normalizeH="0" baseline="0" noProof="0" dirty="0">
                    <a:ln>
                      <a:noFill/>
                    </a:ln>
                    <a:solidFill>
                      <a:prstClr val="black"/>
                    </a:solidFill>
                    <a:effectLst/>
                    <a:uLnTx/>
                    <a:uFillTx/>
                    <a:cs typeface="+mn-cs"/>
                  </a:rPr>
                  <a:t>2</a:t>
                </a:r>
                <a:r>
                  <a:rPr kumimoji="0" lang="zh-CN" altLang="zh-CN" sz="2400" b="0" i="0" u="none" strike="noStrike" kern="1200" cap="none" spc="0" normalizeH="0" baseline="0" noProof="0" dirty="0">
                    <a:ln>
                      <a:noFill/>
                    </a:ln>
                    <a:solidFill>
                      <a:prstClr val="black"/>
                    </a:solidFill>
                    <a:effectLst/>
                    <a:uLnTx/>
                    <a:uFillTx/>
                    <a:cs typeface="+mn-cs"/>
                  </a:rPr>
                  <a:t>）对加权累加结果进行非线性变换。</a:t>
                </a:r>
                <a:endParaRPr kumimoji="0" lang="en-US" altLang="zh-CN" sz="2400" b="0" i="0" u="none" strike="noStrike" kern="1200" cap="none" spc="0" normalizeH="0" baseline="0" noProof="0" dirty="0">
                  <a:ln>
                    <a:noFill/>
                  </a:ln>
                  <a:solidFill>
                    <a:prstClr val="black"/>
                  </a:solidFill>
                  <a:effectLst/>
                  <a:uLnTx/>
                  <a:uFillTx/>
                  <a:cs typeface="+mn-cs"/>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cs typeface="+mn-cs"/>
                  </a:rPr>
                  <a:t>假设样本数据输入为</a:t>
                </a:r>
                <a14:m>
                  <m:oMath xmlns:m="http://schemas.openxmlformats.org/officeDocument/2006/math">
                    <m:r>
                      <a:rPr kumimoji="0" lang="en-US" altLang="zh-CN" sz="2400" b="0" i="0"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𝑥</m:t>
                        </m:r>
                      </m:e>
                      <m:sub>
                        <m:r>
                          <a:rPr kumimoji="0" lang="en-US" altLang="zh-CN" sz="2400" b="0" i="1" u="none" strike="noStrike" kern="1200" cap="none" spc="0" normalizeH="0" baseline="0" noProof="0">
                            <a:ln>
                              <a:noFill/>
                            </a:ln>
                            <a:solidFill>
                              <a:prstClr val="black"/>
                            </a:solidFill>
                            <a:effectLst/>
                            <a:uLnTx/>
                            <a:uFillTx/>
                            <a:cs typeface="+mn-cs"/>
                          </a:rPr>
                          <m:t>1</m:t>
                        </m:r>
                      </m:sub>
                    </m:sSub>
                    <m:r>
                      <a:rPr kumimoji="0" lang="en-US" altLang="zh-CN" sz="2400" b="0" i="1" u="none" strike="noStrike" kern="1200" cap="none" spc="0" normalizeH="0" baseline="0" noProof="0">
                        <a:ln>
                          <a:noFill/>
                        </a:ln>
                        <a:solidFill>
                          <a:prstClr val="black"/>
                        </a:solidFill>
                        <a:effectLst/>
                        <a:uLnTx/>
                        <a:uFillTx/>
                        <a:cs typeface="+mn-cs"/>
                      </a:rPr>
                      <m:t>, </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𝑥</m:t>
                        </m:r>
                      </m:e>
                      <m:sub>
                        <m:r>
                          <a:rPr kumimoji="0" lang="en-US" altLang="zh-CN" sz="2400" b="0" i="1" u="none" strike="noStrike" kern="1200" cap="none" spc="0" normalizeH="0" baseline="0" noProof="0">
                            <a:ln>
                              <a:noFill/>
                            </a:ln>
                            <a:solidFill>
                              <a:prstClr val="black"/>
                            </a:solidFill>
                            <a:effectLst/>
                            <a:uLnTx/>
                            <a:uFillTx/>
                            <a:cs typeface="+mn-cs"/>
                          </a:rPr>
                          <m:t>2</m:t>
                        </m:r>
                      </m:sub>
                    </m:sSub>
                    <m:r>
                      <a:rPr kumimoji="0" lang="en-US" altLang="zh-CN" sz="2400" b="0" i="1" u="none" strike="noStrike" kern="1200" cap="none" spc="0" normalizeH="0" baseline="0" noProof="0">
                        <a:ln>
                          <a:noFill/>
                        </a:ln>
                        <a:solidFill>
                          <a:prstClr val="black"/>
                        </a:solidFill>
                        <a:effectLst/>
                        <a:uLnTx/>
                        <a:uFillTx/>
                        <a:cs typeface="+mn-cs"/>
                      </a:rPr>
                      <m:t>, </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𝑥</m:t>
                        </m:r>
                      </m:e>
                      <m:sub>
                        <m:r>
                          <a:rPr kumimoji="0" lang="en-US" altLang="zh-CN" sz="2400" b="0" i="1" u="none" strike="noStrike" kern="1200" cap="none" spc="0" normalizeH="0" baseline="0" noProof="0">
                            <a:ln>
                              <a:noFill/>
                            </a:ln>
                            <a:solidFill>
                              <a:prstClr val="black"/>
                            </a:solidFill>
                            <a:effectLst/>
                            <a:uLnTx/>
                            <a:uFillTx/>
                            <a:cs typeface="+mn-cs"/>
                          </a:rPr>
                          <m:t>3</m:t>
                        </m:r>
                      </m:sub>
                    </m:sSub>
                    <m:r>
                      <a:rPr kumimoji="0" lang="en-US" altLang="zh-CN" sz="2400" b="0" i="1" u="none" strike="noStrike" kern="1200" cap="none" spc="0" normalizeH="0" baseline="0" noProof="0">
                        <a:ln>
                          <a:noFill/>
                        </a:ln>
                        <a:solidFill>
                          <a:prstClr val="black"/>
                        </a:solidFill>
                        <a:effectLst/>
                        <a:uLnTx/>
                        <a:uFillTx/>
                        <a:cs typeface="+mn-cs"/>
                      </a:rPr>
                      <m:t>)</m:t>
                    </m:r>
                  </m:oMath>
                </a14:m>
                <a:r>
                  <a:rPr kumimoji="0" lang="zh-CN" altLang="zh-CN" sz="2400" b="0" i="0" u="none" strike="noStrike" kern="1200" cap="none" spc="0" normalizeH="0" baseline="0" noProof="0" dirty="0">
                    <a:ln>
                      <a:noFill/>
                    </a:ln>
                    <a:solidFill>
                      <a:prstClr val="black"/>
                    </a:solidFill>
                    <a:effectLst/>
                    <a:uLnTx/>
                    <a:uFillTx/>
                    <a:cs typeface="+mn-cs"/>
                  </a:rPr>
                  <a:t>，标注信息为</a:t>
                </a:r>
                <a14:m>
                  <m:oMath xmlns:m="http://schemas.openxmlformats.org/officeDocument/2006/math">
                    <m:r>
                      <a:rPr kumimoji="0" lang="en-US" altLang="zh-CN" sz="2400" b="0" i="0"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1</m:t>
                        </m:r>
                      </m:sub>
                    </m:sSub>
                    <m:r>
                      <a:rPr kumimoji="0" lang="en-US" altLang="zh-CN" sz="2400" b="0" i="1" u="none" strike="noStrike" kern="1200" cap="none" spc="0" normalizeH="0" baseline="0" noProof="0">
                        <a:ln>
                          <a:noFill/>
                        </a:ln>
                        <a:solidFill>
                          <a:prstClr val="black"/>
                        </a:solidFill>
                        <a:effectLst/>
                        <a:uLnTx/>
                        <a:uFillTx/>
                        <a:cs typeface="+mn-cs"/>
                      </a:rPr>
                      <m:t>, </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2</m:t>
                        </m:r>
                      </m:sub>
                    </m:sSub>
                    <m:r>
                      <a:rPr kumimoji="0" lang="en-US" altLang="zh-CN" sz="2400" b="0" i="1"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3</m:t>
                        </m:r>
                      </m:sub>
                    </m:sSub>
                    <m:r>
                      <a:rPr kumimoji="0" lang="en-US" altLang="zh-CN" sz="2400" b="0" i="1" u="none" strike="noStrike" kern="1200" cap="none" spc="0" normalizeH="0" baseline="0" noProof="0">
                        <a:ln>
                          <a:noFill/>
                        </a:ln>
                        <a:solidFill>
                          <a:prstClr val="black"/>
                        </a:solidFill>
                        <a:effectLst/>
                        <a:uLnTx/>
                        <a:uFillTx/>
                        <a:cs typeface="+mn-cs"/>
                      </a:rPr>
                      <m:t>)</m:t>
                    </m:r>
                  </m:oMath>
                </a14:m>
                <a:r>
                  <a:rPr kumimoji="0" lang="zh-CN" altLang="zh-CN" sz="2400" b="0" i="0" u="none" strike="noStrike" kern="1200" cap="none" spc="0" normalizeH="0" baseline="0" noProof="0" dirty="0">
                    <a:ln>
                      <a:noFill/>
                    </a:ln>
                    <a:solidFill>
                      <a:prstClr val="black"/>
                    </a:solidFill>
                    <a:effectLst/>
                    <a:uLnTx/>
                    <a:uFillTx/>
                    <a:cs typeface="+mn-cs"/>
                  </a:rPr>
                  <a:t>。在三分类问题中，对于输入数据</a:t>
                </a:r>
                <a14:m>
                  <m:oMath xmlns:m="http://schemas.openxmlformats.org/officeDocument/2006/math">
                    <m:r>
                      <a:rPr kumimoji="0" lang="en-US" altLang="zh-CN" sz="2400" b="0" i="0"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𝑥</m:t>
                        </m:r>
                      </m:e>
                      <m:sub>
                        <m:r>
                          <a:rPr kumimoji="0" lang="en-US" altLang="zh-CN" sz="2400" b="0" i="1" u="none" strike="noStrike" kern="1200" cap="none" spc="0" normalizeH="0" baseline="0" noProof="0">
                            <a:ln>
                              <a:noFill/>
                            </a:ln>
                            <a:solidFill>
                              <a:prstClr val="black"/>
                            </a:solidFill>
                            <a:effectLst/>
                            <a:uLnTx/>
                            <a:uFillTx/>
                            <a:cs typeface="+mn-cs"/>
                          </a:rPr>
                          <m:t>1</m:t>
                        </m:r>
                      </m:sub>
                    </m:sSub>
                    <m:r>
                      <a:rPr kumimoji="0" lang="en-US" altLang="zh-CN" sz="2400" b="0" i="1" u="none" strike="noStrike" kern="1200" cap="none" spc="0" normalizeH="0" baseline="0" noProof="0">
                        <a:ln>
                          <a:noFill/>
                        </a:ln>
                        <a:solidFill>
                          <a:prstClr val="black"/>
                        </a:solidFill>
                        <a:effectLst/>
                        <a:uLnTx/>
                        <a:uFillTx/>
                        <a:cs typeface="+mn-cs"/>
                      </a:rPr>
                      <m:t>, </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𝑥</m:t>
                        </m:r>
                      </m:e>
                      <m:sub>
                        <m:r>
                          <a:rPr kumimoji="0" lang="en-US" altLang="zh-CN" sz="2400" b="0" i="1" u="none" strike="noStrike" kern="1200" cap="none" spc="0" normalizeH="0" baseline="0" noProof="0">
                            <a:ln>
                              <a:noFill/>
                            </a:ln>
                            <a:solidFill>
                              <a:prstClr val="black"/>
                            </a:solidFill>
                            <a:effectLst/>
                            <a:uLnTx/>
                            <a:uFillTx/>
                            <a:cs typeface="+mn-cs"/>
                          </a:rPr>
                          <m:t>2</m:t>
                        </m:r>
                      </m:sub>
                    </m:sSub>
                    <m:r>
                      <a:rPr kumimoji="0" lang="en-US" altLang="zh-CN" sz="2400" b="0" i="1" u="none" strike="noStrike" kern="1200" cap="none" spc="0" normalizeH="0" baseline="0" noProof="0">
                        <a:ln>
                          <a:noFill/>
                        </a:ln>
                        <a:solidFill>
                          <a:prstClr val="black"/>
                        </a:solidFill>
                        <a:effectLst/>
                        <a:uLnTx/>
                        <a:uFillTx/>
                        <a:cs typeface="+mn-cs"/>
                      </a:rPr>
                      <m:t>, </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𝑥</m:t>
                        </m:r>
                      </m:e>
                      <m:sub>
                        <m:r>
                          <a:rPr kumimoji="0" lang="en-US" altLang="zh-CN" sz="2400" b="0" i="1" u="none" strike="noStrike" kern="1200" cap="none" spc="0" normalizeH="0" baseline="0" noProof="0">
                            <a:ln>
                              <a:noFill/>
                            </a:ln>
                            <a:solidFill>
                              <a:prstClr val="black"/>
                            </a:solidFill>
                            <a:effectLst/>
                            <a:uLnTx/>
                            <a:uFillTx/>
                            <a:cs typeface="+mn-cs"/>
                          </a:rPr>
                          <m:t>3</m:t>
                        </m:r>
                      </m:sub>
                    </m:sSub>
                    <m:r>
                      <a:rPr kumimoji="0" lang="en-US" altLang="zh-CN" sz="2400" b="0" i="1" u="none" strike="noStrike" kern="1200" cap="none" spc="0" normalizeH="0" baseline="0" noProof="0">
                        <a:ln>
                          <a:noFill/>
                        </a:ln>
                        <a:solidFill>
                          <a:prstClr val="black"/>
                        </a:solidFill>
                        <a:effectLst/>
                        <a:uLnTx/>
                        <a:uFillTx/>
                        <a:cs typeface="+mn-cs"/>
                      </a:rPr>
                      <m:t>)</m:t>
                    </m:r>
                  </m:oMath>
                </a14:m>
                <a:r>
                  <a:rPr kumimoji="0" lang="zh-CN" altLang="zh-CN" sz="2400" b="0" i="0" u="none" strike="noStrike" kern="1200" cap="none" spc="0" normalizeH="0" baseline="0" noProof="0" dirty="0">
                    <a:ln>
                      <a:noFill/>
                    </a:ln>
                    <a:solidFill>
                      <a:prstClr val="black"/>
                    </a:solidFill>
                    <a:effectLst/>
                    <a:uLnTx/>
                    <a:uFillTx/>
                    <a:cs typeface="+mn-cs"/>
                  </a:rPr>
                  <a:t>，</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1</m:t>
                        </m:r>
                      </m:sub>
                    </m:sSub>
                  </m:oMath>
                </a14:m>
                <a:r>
                  <a:rPr kumimoji="0" lang="zh-CN" altLang="zh-CN" sz="2400" b="0" i="0" u="none" strike="noStrike" kern="1200" cap="none" spc="0" normalizeH="0" baseline="0" noProof="0" dirty="0">
                    <a:ln>
                      <a:noFill/>
                    </a:ln>
                    <a:solidFill>
                      <a:prstClr val="black"/>
                    </a:solidFill>
                    <a:effectLst/>
                    <a:uLnTx/>
                    <a:uFillTx/>
                    <a:cs typeface="+mn-cs"/>
                  </a:rPr>
                  <a:t>、</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2</m:t>
                        </m:r>
                      </m:sub>
                    </m:sSub>
                  </m:oMath>
                </a14:m>
                <a:r>
                  <a:rPr kumimoji="0" lang="zh-CN" altLang="zh-CN" sz="2400" b="0" i="0" u="none" strike="noStrike" kern="1200" cap="none" spc="0" normalizeH="0" baseline="0" noProof="0" dirty="0">
                    <a:ln>
                      <a:noFill/>
                    </a:ln>
                    <a:solidFill>
                      <a:prstClr val="black"/>
                    </a:solidFill>
                    <a:effectLst/>
                    <a:uLnTx/>
                    <a:uFillTx/>
                    <a:cs typeface="+mn-cs"/>
                  </a:rPr>
                  <a:t>和</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3</m:t>
                        </m:r>
                      </m:sub>
                    </m:sSub>
                  </m:oMath>
                </a14:m>
                <a:r>
                  <a:rPr kumimoji="0" lang="zh-CN" altLang="zh-CN" sz="2400" b="0" i="0" u="none" strike="noStrike" kern="1200" cap="none" spc="0" normalizeH="0" baseline="0" noProof="0" dirty="0">
                    <a:ln>
                      <a:noFill/>
                    </a:ln>
                    <a:solidFill>
                      <a:prstClr val="black"/>
                    </a:solidFill>
                    <a:effectLst/>
                    <a:uLnTx/>
                    <a:uFillTx/>
                    <a:cs typeface="+mn-cs"/>
                  </a:rPr>
                  <a:t>中只有一个取值为</a:t>
                </a:r>
                <a:r>
                  <a:rPr kumimoji="0" lang="en-US" altLang="zh-CN" sz="2400" b="0" i="0" u="none" strike="noStrike" kern="1200" cap="none" spc="0" normalizeH="0" baseline="0" noProof="0" dirty="0">
                    <a:ln>
                      <a:noFill/>
                    </a:ln>
                    <a:solidFill>
                      <a:prstClr val="black"/>
                    </a:solidFill>
                    <a:effectLst/>
                    <a:uLnTx/>
                    <a:uFillTx/>
                    <a:cs typeface="+mn-cs"/>
                  </a:rPr>
                  <a:t>1</a:t>
                </a:r>
                <a:r>
                  <a:rPr kumimoji="0" lang="zh-CN" altLang="zh-CN" sz="2400" b="0" i="0" u="none" strike="noStrike" kern="1200" cap="none" spc="0" normalizeH="0" baseline="0" noProof="0" dirty="0">
                    <a:ln>
                      <a:noFill/>
                    </a:ln>
                    <a:solidFill>
                      <a:prstClr val="black"/>
                    </a:solidFill>
                    <a:effectLst/>
                    <a:uLnTx/>
                    <a:uFillTx/>
                    <a:cs typeface="+mn-cs"/>
                  </a:rPr>
                  <a:t>、其余两个取值为</a:t>
                </a:r>
                <a:r>
                  <a:rPr kumimoji="0" lang="en-US" altLang="zh-CN" sz="2400" b="0" i="0" u="none" strike="noStrike" kern="1200" cap="none" spc="0" normalizeH="0" baseline="0" noProof="0" dirty="0">
                    <a:ln>
                      <a:noFill/>
                    </a:ln>
                    <a:solidFill>
                      <a:prstClr val="black"/>
                    </a:solidFill>
                    <a:effectLst/>
                    <a:uLnTx/>
                    <a:uFillTx/>
                    <a:cs typeface="+mn-cs"/>
                  </a:rPr>
                  <a:t>0</a:t>
                </a:r>
                <a:r>
                  <a:rPr kumimoji="0" lang="zh-CN" altLang="zh-CN" sz="2400" b="0" i="0" u="none" strike="noStrike" kern="1200" cap="none" spc="0" normalizeH="0" baseline="0" noProof="0" dirty="0">
                    <a:ln>
                      <a:noFill/>
                    </a:ln>
                    <a:solidFill>
                      <a:prstClr val="black"/>
                    </a:solidFill>
                    <a:effectLst/>
                    <a:uLnTx/>
                    <a:uFillTx/>
                    <a:cs typeface="+mn-cs"/>
                  </a:rPr>
                  <a:t>。</a:t>
                </a:r>
              </a:p>
            </p:txBody>
          </p:sp>
        </mc:Choice>
        <mc:Fallback>
          <p:sp>
            <p:nvSpPr>
              <p:cNvPr id="3" name="矩形 2"/>
              <p:cNvSpPr>
                <a:spLocks noRot="1" noChangeAspect="1" noMove="1" noResize="1" noEditPoints="1" noAdjustHandles="1" noChangeArrowheads="1" noChangeShapeType="1" noTextEdit="1"/>
              </p:cNvSpPr>
              <p:nvPr/>
            </p:nvSpPr>
            <p:spPr>
              <a:xfrm>
                <a:off x="518161" y="3718839"/>
                <a:ext cx="8077200" cy="2792239"/>
              </a:xfrm>
              <a:prstGeom prst="rect">
                <a:avLst/>
              </a:prstGeom>
              <a:blipFill>
                <a:blip r:embed="rId3"/>
                <a:stretch>
                  <a:fillRect l="-981" r="-4906" b="-4367"/>
                </a:stretch>
              </a:blipFill>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69EB46B0-0369-FA90-B0DD-29F18F4AE688}"/>
              </a:ext>
            </a:extLst>
          </p:cNvPr>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Tree>
    <p:extLst>
      <p:ext uri="{BB962C8B-B14F-4D97-AF65-F5344CB8AC3E}">
        <p14:creationId xmlns:p14="http://schemas.microsoft.com/office/powerpoint/2010/main" val="245753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表格 3"/>
              <p:cNvGraphicFramePr>
                <a:graphicFrameLocks noGrp="1"/>
              </p:cNvGraphicFramePr>
              <p:nvPr>
                <p:extLst>
                  <p:ext uri="{D42A27DB-BD31-4B8C-83A1-F6EECF244321}">
                    <p14:modId xmlns:p14="http://schemas.microsoft.com/office/powerpoint/2010/main" val="3199915338"/>
                  </p:ext>
                </p:extLst>
              </p:nvPr>
            </p:nvGraphicFramePr>
            <p:xfrm>
              <a:off x="463275" y="1446308"/>
              <a:ext cx="8217450" cy="3965384"/>
            </p:xfrm>
            <a:graphic>
              <a:graphicData uri="http://schemas.openxmlformats.org/drawingml/2006/table">
                <a:tbl>
                  <a:tblPr firstRow="1" firstCol="1" bandRow="1">
                    <a:tableStyleId>{5C22544A-7EE6-4342-B048-85BDC9FD1C3A}</a:tableStyleId>
                  </a:tblPr>
                  <a:tblGrid>
                    <a:gridCol w="682063">
                      <a:extLst>
                        <a:ext uri="{9D8B030D-6E8A-4147-A177-3AD203B41FA5}">
                          <a16:colId xmlns:a16="http://schemas.microsoft.com/office/drawing/2014/main" val="20000"/>
                        </a:ext>
                      </a:extLst>
                    </a:gridCol>
                    <a:gridCol w="4114923">
                      <a:extLst>
                        <a:ext uri="{9D8B030D-6E8A-4147-A177-3AD203B41FA5}">
                          <a16:colId xmlns:a16="http://schemas.microsoft.com/office/drawing/2014/main" val="20001"/>
                        </a:ext>
                      </a:extLst>
                    </a:gridCol>
                    <a:gridCol w="3420464">
                      <a:extLst>
                        <a:ext uri="{9D8B030D-6E8A-4147-A177-3AD203B41FA5}">
                          <a16:colId xmlns:a16="http://schemas.microsoft.com/office/drawing/2014/main" val="20002"/>
                        </a:ext>
                      </a:extLst>
                    </a:gridCol>
                  </a:tblGrid>
                  <a:tr h="832126">
                    <a:tc>
                      <a:txBody>
                        <a:bodyPr/>
                        <a:lstStyle/>
                        <a:p>
                          <a:pPr algn="ctr">
                            <a:lnSpc>
                              <a:spcPct val="100000"/>
                            </a:lnSpc>
                            <a:spcAft>
                              <a:spcPts val="600"/>
                            </a:spcAft>
                          </a:pPr>
                          <a:r>
                            <a:rPr lang="zh-CN" sz="2400" b="0" kern="100" dirty="0">
                              <a:solidFill>
                                <a:schemeClr val="tx1"/>
                              </a:solidFill>
                              <a:effectLst/>
                            </a:rPr>
                            <a:t>单元</a:t>
                          </a:r>
                          <a:endParaRPr lang="zh-CN" sz="18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600"/>
                            </a:spcAft>
                          </a:pPr>
                          <a:r>
                            <a:rPr lang="zh-CN" sz="2400" b="0" kern="100" dirty="0">
                              <a:solidFill>
                                <a:schemeClr val="tx1"/>
                              </a:solidFill>
                              <a:effectLst/>
                            </a:rPr>
                            <a:t>相邻前序神经元传递信息</a:t>
                          </a:r>
                          <a:endParaRPr lang="en-US" altLang="zh-CN" sz="2400" b="0" kern="100" dirty="0">
                            <a:solidFill>
                              <a:schemeClr val="tx1"/>
                            </a:solidFill>
                            <a:effectLst/>
                          </a:endParaRPr>
                        </a:p>
                        <a:p>
                          <a:pPr algn="ctr">
                            <a:lnSpc>
                              <a:spcPct val="100000"/>
                            </a:lnSpc>
                            <a:spcAft>
                              <a:spcPts val="600"/>
                            </a:spcAft>
                          </a:pPr>
                          <a:r>
                            <a:rPr lang="zh-CN" sz="2400" b="0" kern="100" dirty="0">
                              <a:solidFill>
                                <a:schemeClr val="tx1"/>
                              </a:solidFill>
                              <a:effectLst/>
                            </a:rPr>
                            <a:t>线性累加</a:t>
                          </a:r>
                          <a:endParaRPr lang="zh-CN" sz="18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200000"/>
                            </a:lnSpc>
                            <a:spcAft>
                              <a:spcPts val="600"/>
                            </a:spcAft>
                          </a:pPr>
                          <a:r>
                            <a:rPr lang="zh-CN" sz="2400" b="0" kern="100" dirty="0">
                              <a:solidFill>
                                <a:schemeClr val="tx1"/>
                              </a:solidFill>
                              <a:effectLst/>
                            </a:rPr>
                            <a:t>非线性变换</a:t>
                          </a:r>
                          <a:endParaRPr lang="zh-CN" sz="18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32513">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 </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1</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𝑥</m:t>
                                    </m:r>
                                  </m:e>
                                  <m:sub>
                                    <m:r>
                                      <a:rPr lang="en-US" sz="2000" b="0" i="1" kern="100">
                                        <a:solidFill>
                                          <a:schemeClr val="tx1"/>
                                        </a:solidFill>
                                        <a:effectLst/>
                                        <a:latin typeface="Cambria Math" panose="02040503050406030204" pitchFamily="18" charset="0"/>
                                      </a:rPr>
                                      <m:t>1</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3</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𝑥</m:t>
                                    </m:r>
                                  </m:e>
                                  <m:sub>
                                    <m:r>
                                      <a:rPr lang="en-US" sz="2000" b="0" i="1" kern="100">
                                        <a:solidFill>
                                          <a:schemeClr val="tx1"/>
                                        </a:solidFill>
                                        <a:effectLst/>
                                        <a:latin typeface="Cambria Math" panose="02040503050406030204" pitchFamily="18" charset="0"/>
                                      </a:rPr>
                                      <m:t>2</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5</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𝑥</m:t>
                                    </m:r>
                                  </m:e>
                                  <m:sub>
                                    <m:r>
                                      <a:rPr lang="en-US" sz="2000" b="0" i="1" kern="100">
                                        <a:solidFill>
                                          <a:schemeClr val="tx1"/>
                                        </a:solidFill>
                                        <a:effectLst/>
                                        <a:latin typeface="Cambria Math" panose="02040503050406030204" pitchFamily="18" charset="0"/>
                                      </a:rPr>
                                      <m:t>3</m:t>
                                    </m:r>
                                  </m:sub>
                                </m:sSub>
                              </m:oMath>
                            </m:oMathPara>
                          </a14:m>
                          <a:endParaRPr lang="zh-CN" sz="16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m:t>
                                </m:r>
                                <m:r>
                                  <a:rPr lang="en-US" sz="2000" b="0" i="1" kern="100">
                                    <a:solidFill>
                                      <a:schemeClr val="tx1"/>
                                    </a:solidFill>
                                    <a:effectLst/>
                                    <a:latin typeface="Cambria Math" panose="02040503050406030204" pitchFamily="18" charset="0"/>
                                  </a:rPr>
                                  <m:t>𝑆𝑖𝑔𝑚𝑜𝑖𝑑</m:t>
                                </m:r>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m:t>
                                </m:r>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80720">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2</m:t>
                                    </m:r>
                                  </m:sub>
                                </m:sSub>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 </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2</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𝑥</m:t>
                                    </m:r>
                                  </m:e>
                                  <m:sub>
                                    <m:r>
                                      <a:rPr lang="en-US" sz="2000" b="0" i="1" kern="100">
                                        <a:solidFill>
                                          <a:schemeClr val="tx1"/>
                                        </a:solidFill>
                                        <a:effectLst/>
                                        <a:latin typeface="Cambria Math" panose="02040503050406030204" pitchFamily="18" charset="0"/>
                                      </a:rPr>
                                      <m:t>1</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4</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𝑥</m:t>
                                    </m:r>
                                  </m:e>
                                  <m:sub>
                                    <m:r>
                                      <a:rPr lang="en-US" sz="2000" b="0" i="1" kern="100">
                                        <a:solidFill>
                                          <a:schemeClr val="tx1"/>
                                        </a:solidFill>
                                        <a:effectLst/>
                                        <a:latin typeface="Cambria Math" panose="02040503050406030204" pitchFamily="18" charset="0"/>
                                      </a:rPr>
                                      <m:t>2</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6</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𝑥</m:t>
                                    </m:r>
                                  </m:e>
                                  <m:sub>
                                    <m:r>
                                      <a:rPr lang="en-US" sz="2000" b="0" i="1" kern="100">
                                        <a:solidFill>
                                          <a:schemeClr val="tx1"/>
                                        </a:solidFill>
                                        <a:effectLst/>
                                        <a:latin typeface="Cambria Math" panose="02040503050406030204" pitchFamily="18" charset="0"/>
                                      </a:rPr>
                                      <m:t>3</m:t>
                                    </m:r>
                                  </m:sub>
                                </m:sSub>
                              </m:oMath>
                            </m:oMathPara>
                          </a14:m>
                          <a:endParaRPr lang="zh-CN" sz="16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2</m:t>
                                        </m:r>
                                      </m:sub>
                                    </m:sSub>
                                  </m:sub>
                                </m:sSub>
                                <m:r>
                                  <a:rPr lang="en-US" sz="2000" b="0" kern="100">
                                    <a:solidFill>
                                      <a:schemeClr val="tx1"/>
                                    </a:solidFill>
                                    <a:effectLst/>
                                    <a:latin typeface="Cambria Math" panose="02040503050406030204" pitchFamily="18" charset="0"/>
                                  </a:rPr>
                                  <m:t>=</m:t>
                                </m:r>
                                <m:r>
                                  <a:rPr lang="en-US" sz="2000" b="0" i="1" kern="100">
                                    <a:solidFill>
                                      <a:schemeClr val="tx1"/>
                                    </a:solidFill>
                                    <a:effectLst/>
                                    <a:latin typeface="Cambria Math" panose="02040503050406030204" pitchFamily="18" charset="0"/>
                                  </a:rPr>
                                  <m:t>𝑆𝑖𝑔𝑚𝑜𝑖𝑑</m:t>
                                </m:r>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2</m:t>
                                        </m:r>
                                      </m:sub>
                                    </m:sSub>
                                  </m:sub>
                                </m:sSub>
                                <m:r>
                                  <a:rPr lang="en-US" sz="2000" b="0" kern="100">
                                    <a:solidFill>
                                      <a:schemeClr val="tx1"/>
                                    </a:solidFill>
                                    <a:effectLst/>
                                    <a:latin typeface="Cambria Math" panose="02040503050406030204" pitchFamily="18" charset="0"/>
                                  </a:rPr>
                                  <m:t>)</m:t>
                                </m:r>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60903">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1</m:t>
                                    </m:r>
                                  </m:sub>
                                </m:sSub>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 </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7</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10</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2</m:t>
                                        </m:r>
                                      </m:sub>
                                    </m:sSub>
                                  </m:sub>
                                </m:sSub>
                              </m:oMath>
                            </m:oMathPara>
                          </a14:m>
                          <a:endParaRPr lang="zh-CN" sz="16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acc>
                                      <m:accPr>
                                        <m:chr m:val="̂"/>
                                        <m:ctrlPr>
                                          <a:rPr lang="zh-CN" sz="2000" b="0" i="1" kern="100">
                                            <a:solidFill>
                                              <a:schemeClr val="tx1"/>
                                            </a:solidFill>
                                            <a:effectLst/>
                                            <a:latin typeface="Cambria Math" panose="02040503050406030204" pitchFamily="18" charset="0"/>
                                          </a:rPr>
                                        </m:ctrlPr>
                                      </m:accPr>
                                      <m:e>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𝑦</m:t>
                                            </m:r>
                                          </m:e>
                                          <m:sub>
                                            <m:r>
                                              <a:rPr lang="en-US" sz="2000" b="0" i="1" kern="100">
                                                <a:solidFill>
                                                  <a:schemeClr val="tx1"/>
                                                </a:solidFill>
                                                <a:effectLst/>
                                                <a:latin typeface="Cambria Math" panose="02040503050406030204" pitchFamily="18" charset="0"/>
                                              </a:rPr>
                                              <m:t>1</m:t>
                                            </m:r>
                                          </m:sub>
                                        </m:sSub>
                                      </m:e>
                                    </m:acc>
                                    <m:r>
                                      <a:rPr lang="en-US" sz="2000" b="0" kern="100">
                                        <a:solidFill>
                                          <a:schemeClr val="tx1"/>
                                        </a:solidFill>
                                        <a:effectLst/>
                                        <a:latin typeface="Cambria Math" panose="02040503050406030204" pitchFamily="18" charset="0"/>
                                      </a:rPr>
                                      <m:t>= </m:t>
                                    </m:r>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m:t>
                                </m:r>
                                <m:r>
                                  <a:rPr lang="en-US" sz="2000" b="0" i="1" kern="100">
                                    <a:solidFill>
                                      <a:schemeClr val="tx1"/>
                                    </a:solidFill>
                                    <a:effectLst/>
                                    <a:latin typeface="Cambria Math" panose="02040503050406030204" pitchFamily="18" charset="0"/>
                                  </a:rPr>
                                  <m:t>𝑆𝑖𝑔𝑚𝑜𝑖𝑑</m:t>
                                </m:r>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m:t>
                                </m:r>
                              </m:oMath>
                            </m:oMathPara>
                          </a14:m>
                          <a:endParaRPr lang="zh-CN" sz="16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60903">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2</m:t>
                                    </m:r>
                                  </m:sub>
                                </m:sSub>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2</m:t>
                                        </m:r>
                                      </m:sub>
                                    </m:sSub>
                                  </m:sub>
                                </m:sSub>
                                <m:r>
                                  <a:rPr lang="en-US" sz="2000" b="0" kern="100">
                                    <a:solidFill>
                                      <a:schemeClr val="tx1"/>
                                    </a:solidFill>
                                    <a:effectLst/>
                                    <a:latin typeface="Cambria Math" panose="02040503050406030204" pitchFamily="18" charset="0"/>
                                  </a:rPr>
                                  <m:t>= </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8</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11</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2</m:t>
                                        </m:r>
                                      </m:sub>
                                    </m:sSub>
                                  </m:sub>
                                </m:sSub>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acc>
                                  <m:accPr>
                                    <m:chr m:val="̂"/>
                                    <m:ctrlPr>
                                      <a:rPr lang="zh-CN" sz="2000" b="0" i="1" kern="100" smtClean="0">
                                        <a:solidFill>
                                          <a:schemeClr val="tx1"/>
                                        </a:solidFill>
                                        <a:effectLst/>
                                        <a:latin typeface="Cambria Math" panose="02040503050406030204" pitchFamily="18" charset="0"/>
                                      </a:rPr>
                                    </m:ctrlPr>
                                  </m:accPr>
                                  <m:e>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𝑦</m:t>
                                        </m:r>
                                      </m:e>
                                      <m:sub>
                                        <m:r>
                                          <a:rPr lang="en-US" sz="2000" b="0" i="1" kern="100">
                                            <a:solidFill>
                                              <a:schemeClr val="tx1"/>
                                            </a:solidFill>
                                            <a:effectLst/>
                                            <a:latin typeface="Cambria Math" panose="02040503050406030204" pitchFamily="18" charset="0"/>
                                          </a:rPr>
                                          <m:t>2</m:t>
                                        </m:r>
                                      </m:sub>
                                    </m:sSub>
                                  </m:e>
                                </m:acc>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kern="100">
                                        <a:solidFill>
                                          <a:schemeClr val="tx1"/>
                                        </a:solidFill>
                                        <a:effectLst/>
                                        <a:latin typeface="Cambria Math" panose="02040503050406030204" pitchFamily="18" charset="0"/>
                                      </a:rPr>
                                      <m:t> </m:t>
                                    </m:r>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2</m:t>
                                        </m:r>
                                      </m:sub>
                                    </m:sSub>
                                  </m:sub>
                                </m:sSub>
                                <m:r>
                                  <a:rPr lang="en-US" sz="2000" b="0" kern="100">
                                    <a:solidFill>
                                      <a:schemeClr val="tx1"/>
                                    </a:solidFill>
                                    <a:effectLst/>
                                    <a:latin typeface="Cambria Math" panose="02040503050406030204" pitchFamily="18" charset="0"/>
                                  </a:rPr>
                                  <m:t>=</m:t>
                                </m:r>
                                <m:r>
                                  <a:rPr lang="en-US" sz="2000" b="0" i="1" kern="100">
                                    <a:solidFill>
                                      <a:schemeClr val="tx1"/>
                                    </a:solidFill>
                                    <a:effectLst/>
                                    <a:latin typeface="Cambria Math" panose="02040503050406030204" pitchFamily="18" charset="0"/>
                                  </a:rPr>
                                  <m:t>𝑆𝑖𝑔𝑚𝑜𝑖𝑑</m:t>
                                </m:r>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2</m:t>
                                        </m:r>
                                      </m:sub>
                                    </m:sSub>
                                  </m:sub>
                                </m:sSub>
                                <m:r>
                                  <a:rPr lang="en-US" sz="2000" b="0" kern="100">
                                    <a:solidFill>
                                      <a:schemeClr val="tx1"/>
                                    </a:solidFill>
                                    <a:effectLst/>
                                    <a:latin typeface="Cambria Math" panose="02040503050406030204" pitchFamily="18" charset="0"/>
                                  </a:rPr>
                                  <m:t>)</m:t>
                                </m:r>
                              </m:oMath>
                            </m:oMathPara>
                          </a14:m>
                          <a:endParaRPr lang="zh-CN" sz="16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62945">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3</m:t>
                                    </m:r>
                                  </m:sub>
                                </m:sSub>
                              </m:oMath>
                            </m:oMathPara>
                          </a14:m>
                          <a:endParaRPr lang="zh-CN" sz="16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3</m:t>
                                        </m:r>
                                      </m:sub>
                                    </m:sSub>
                                  </m:sub>
                                </m:sSub>
                                <m:r>
                                  <a:rPr lang="en-US" sz="2000" b="0" kern="100">
                                    <a:solidFill>
                                      <a:schemeClr val="tx1"/>
                                    </a:solidFill>
                                    <a:effectLst/>
                                    <a:latin typeface="Cambria Math" panose="02040503050406030204" pitchFamily="18" charset="0"/>
                                  </a:rPr>
                                  <m:t>= </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9</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1</m:t>
                                        </m:r>
                                      </m:sub>
                                    </m:sSub>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𝑤</m:t>
                                    </m:r>
                                  </m:e>
                                  <m:sub>
                                    <m:r>
                                      <a:rPr lang="en-US" sz="2000" b="0" i="1" kern="100">
                                        <a:solidFill>
                                          <a:schemeClr val="tx1"/>
                                        </a:solidFill>
                                        <a:effectLst/>
                                        <a:latin typeface="Cambria Math" panose="02040503050406030204" pitchFamily="18" charset="0"/>
                                      </a:rPr>
                                      <m:t>12</m:t>
                                    </m:r>
                                  </m:sub>
                                </m:sSub>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h</m:t>
                                        </m:r>
                                      </m:e>
                                      <m:sub>
                                        <m:r>
                                          <a:rPr lang="en-US" sz="2000" b="0" i="1" kern="100">
                                            <a:solidFill>
                                              <a:schemeClr val="tx1"/>
                                            </a:solidFill>
                                            <a:effectLst/>
                                            <a:latin typeface="Cambria Math" panose="02040503050406030204" pitchFamily="18" charset="0"/>
                                          </a:rPr>
                                          <m:t>2</m:t>
                                        </m:r>
                                      </m:sub>
                                    </m:sSub>
                                  </m:sub>
                                </m:sSub>
                              </m:oMath>
                            </m:oMathPara>
                          </a14:m>
                          <a:endParaRPr lang="zh-CN" sz="16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sz="2000" b="0" i="1" kern="100" smtClean="0">
                                        <a:solidFill>
                                          <a:schemeClr val="tx1"/>
                                        </a:solidFill>
                                        <a:effectLst/>
                                        <a:latin typeface="Cambria Math" panose="02040503050406030204" pitchFamily="18" charset="0"/>
                                      </a:rPr>
                                    </m:ctrlPr>
                                  </m:sSubPr>
                                  <m:e>
                                    <m:acc>
                                      <m:accPr>
                                        <m:chr m:val="̂"/>
                                        <m:ctrlPr>
                                          <a:rPr lang="zh-CN" sz="2000" b="0" i="1" kern="100">
                                            <a:solidFill>
                                              <a:schemeClr val="tx1"/>
                                            </a:solidFill>
                                            <a:effectLst/>
                                            <a:latin typeface="Cambria Math" panose="02040503050406030204" pitchFamily="18" charset="0"/>
                                          </a:rPr>
                                        </m:ctrlPr>
                                      </m:accPr>
                                      <m:e>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𝑦</m:t>
                                            </m:r>
                                          </m:e>
                                          <m:sub>
                                            <m:r>
                                              <a:rPr lang="en-US" sz="2000" b="0" i="1" kern="100">
                                                <a:solidFill>
                                                  <a:schemeClr val="tx1"/>
                                                </a:solidFill>
                                                <a:effectLst/>
                                                <a:latin typeface="Cambria Math" panose="02040503050406030204" pitchFamily="18" charset="0"/>
                                              </a:rPr>
                                              <m:t>3</m:t>
                                            </m:r>
                                          </m:sub>
                                        </m:sSub>
                                      </m:e>
                                    </m:acc>
                                    <m:r>
                                      <a:rPr lang="en-US" sz="2000" b="0" kern="100">
                                        <a:solidFill>
                                          <a:schemeClr val="tx1"/>
                                        </a:solidFill>
                                        <a:effectLst/>
                                        <a:latin typeface="Cambria Math" panose="02040503050406030204" pitchFamily="18" charset="0"/>
                                      </a:rPr>
                                      <m:t>= </m:t>
                                    </m:r>
                                    <m:r>
                                      <a:rPr lang="en-US" sz="2000" b="0" i="1" kern="100">
                                        <a:solidFill>
                                          <a:schemeClr val="tx1"/>
                                        </a:solidFill>
                                        <a:effectLst/>
                                        <a:latin typeface="Cambria Math" panose="02040503050406030204" pitchFamily="18" charset="0"/>
                                      </a:rPr>
                                      <m:t>𝑂𝑢𝑡</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3</m:t>
                                        </m:r>
                                      </m:sub>
                                    </m:sSub>
                                  </m:sub>
                                </m:sSub>
                                <m:r>
                                  <a:rPr lang="en-US" sz="2000" b="0" kern="100">
                                    <a:solidFill>
                                      <a:schemeClr val="tx1"/>
                                    </a:solidFill>
                                    <a:effectLst/>
                                    <a:latin typeface="Cambria Math" panose="02040503050406030204" pitchFamily="18" charset="0"/>
                                  </a:rPr>
                                  <m:t>=</m:t>
                                </m:r>
                                <m:r>
                                  <a:rPr lang="en-US" sz="2000" b="0" i="1" kern="100">
                                    <a:solidFill>
                                      <a:schemeClr val="tx1"/>
                                    </a:solidFill>
                                    <a:effectLst/>
                                    <a:latin typeface="Cambria Math" panose="02040503050406030204" pitchFamily="18" charset="0"/>
                                  </a:rPr>
                                  <m:t>𝑆𝑖𝑔𝑚𝑜𝑖𝑑</m:t>
                                </m:r>
                                <m:r>
                                  <a:rPr lang="en-US" sz="2000" b="0" kern="100">
                                    <a:solidFill>
                                      <a:schemeClr val="tx1"/>
                                    </a:solidFill>
                                    <a:effectLst/>
                                    <a:latin typeface="Cambria Math" panose="02040503050406030204" pitchFamily="18" charset="0"/>
                                  </a:rPr>
                                  <m:t>(</m:t>
                                </m:r>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𝐼𝑛</m:t>
                                    </m:r>
                                  </m:e>
                                  <m:sub>
                                    <m:sSub>
                                      <m:sSubPr>
                                        <m:ctrlPr>
                                          <a:rPr lang="zh-CN" sz="2000" b="0" i="1" kern="100">
                                            <a:solidFill>
                                              <a:schemeClr val="tx1"/>
                                            </a:solidFill>
                                            <a:effectLst/>
                                            <a:latin typeface="Cambria Math" panose="02040503050406030204" pitchFamily="18" charset="0"/>
                                          </a:rPr>
                                        </m:ctrlPr>
                                      </m:sSubPr>
                                      <m:e>
                                        <m:r>
                                          <a:rPr lang="en-US" sz="2000" b="0" i="1" kern="100">
                                            <a:solidFill>
                                              <a:schemeClr val="tx1"/>
                                            </a:solidFill>
                                            <a:effectLst/>
                                            <a:latin typeface="Cambria Math" panose="02040503050406030204" pitchFamily="18" charset="0"/>
                                          </a:rPr>
                                          <m:t>𝑜</m:t>
                                        </m:r>
                                      </m:e>
                                      <m:sub>
                                        <m:r>
                                          <a:rPr lang="en-US" sz="2000" b="0" i="1" kern="100">
                                            <a:solidFill>
                                              <a:schemeClr val="tx1"/>
                                            </a:solidFill>
                                            <a:effectLst/>
                                            <a:latin typeface="Cambria Math" panose="02040503050406030204" pitchFamily="18" charset="0"/>
                                          </a:rPr>
                                          <m:t>3</m:t>
                                        </m:r>
                                      </m:sub>
                                    </m:sSub>
                                  </m:sub>
                                </m:sSub>
                                <m:r>
                                  <a:rPr lang="en-US" sz="2000" b="0" kern="100">
                                    <a:solidFill>
                                      <a:schemeClr val="tx1"/>
                                    </a:solidFill>
                                    <a:effectLst/>
                                    <a:latin typeface="Cambria Math" panose="02040503050406030204" pitchFamily="18" charset="0"/>
                                  </a:rPr>
                                  <m:t>)</m:t>
                                </m:r>
                              </m:oMath>
                            </m:oMathPara>
                          </a14:m>
                          <a:endParaRPr lang="zh-CN" sz="16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mc:Choice>
        <mc:Fallback>
          <p:graphicFrame>
            <p:nvGraphicFramePr>
              <p:cNvPr id="4" name="表格 3"/>
              <p:cNvGraphicFramePr>
                <a:graphicFrameLocks noGrp="1"/>
              </p:cNvGraphicFramePr>
              <p:nvPr>
                <p:extLst>
                  <p:ext uri="{D42A27DB-BD31-4B8C-83A1-F6EECF244321}">
                    <p14:modId xmlns:p14="http://schemas.microsoft.com/office/powerpoint/2010/main" val="3199915338"/>
                  </p:ext>
                </p:extLst>
              </p:nvPr>
            </p:nvGraphicFramePr>
            <p:xfrm>
              <a:off x="463275" y="1446308"/>
              <a:ext cx="8217450" cy="3965384"/>
            </p:xfrm>
            <a:graphic>
              <a:graphicData uri="http://schemas.openxmlformats.org/drawingml/2006/table">
                <a:tbl>
                  <a:tblPr firstRow="1" firstCol="1" bandRow="1">
                    <a:tableStyleId>{5C22544A-7EE6-4342-B048-85BDC9FD1C3A}</a:tableStyleId>
                  </a:tblPr>
                  <a:tblGrid>
                    <a:gridCol w="682063">
                      <a:extLst>
                        <a:ext uri="{9D8B030D-6E8A-4147-A177-3AD203B41FA5}">
                          <a16:colId xmlns:a16="http://schemas.microsoft.com/office/drawing/2014/main" val="20000"/>
                        </a:ext>
                      </a:extLst>
                    </a:gridCol>
                    <a:gridCol w="4114923">
                      <a:extLst>
                        <a:ext uri="{9D8B030D-6E8A-4147-A177-3AD203B41FA5}">
                          <a16:colId xmlns:a16="http://schemas.microsoft.com/office/drawing/2014/main" val="20001"/>
                        </a:ext>
                      </a:extLst>
                    </a:gridCol>
                    <a:gridCol w="3420464">
                      <a:extLst>
                        <a:ext uri="{9D8B030D-6E8A-4147-A177-3AD203B41FA5}">
                          <a16:colId xmlns:a16="http://schemas.microsoft.com/office/drawing/2014/main" val="20002"/>
                        </a:ext>
                      </a:extLst>
                    </a:gridCol>
                  </a:tblGrid>
                  <a:tr h="832126">
                    <a:tc>
                      <a:txBody>
                        <a:bodyPr/>
                        <a:lstStyle/>
                        <a:p>
                          <a:pPr algn="ctr">
                            <a:lnSpc>
                              <a:spcPct val="100000"/>
                            </a:lnSpc>
                            <a:spcAft>
                              <a:spcPts val="600"/>
                            </a:spcAft>
                          </a:pPr>
                          <a:r>
                            <a:rPr lang="zh-CN" sz="2400" b="0" kern="100" dirty="0">
                              <a:solidFill>
                                <a:schemeClr val="tx1"/>
                              </a:solidFill>
                              <a:effectLst/>
                            </a:rPr>
                            <a:t>单元</a:t>
                          </a:r>
                          <a:endParaRPr lang="zh-CN" sz="18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600"/>
                            </a:spcAft>
                          </a:pPr>
                          <a:r>
                            <a:rPr lang="zh-CN" sz="2400" b="0" kern="100" dirty="0">
                              <a:solidFill>
                                <a:schemeClr val="tx1"/>
                              </a:solidFill>
                              <a:effectLst/>
                            </a:rPr>
                            <a:t>相邻前序神经元传递信息</a:t>
                          </a:r>
                          <a:endParaRPr lang="en-US" altLang="zh-CN" sz="2400" b="0" kern="100" dirty="0">
                            <a:solidFill>
                              <a:schemeClr val="tx1"/>
                            </a:solidFill>
                            <a:effectLst/>
                          </a:endParaRPr>
                        </a:p>
                        <a:p>
                          <a:pPr algn="ctr">
                            <a:lnSpc>
                              <a:spcPct val="100000"/>
                            </a:lnSpc>
                            <a:spcAft>
                              <a:spcPts val="600"/>
                            </a:spcAft>
                          </a:pPr>
                          <a:r>
                            <a:rPr lang="zh-CN" sz="2400" b="0" kern="100" dirty="0">
                              <a:solidFill>
                                <a:schemeClr val="tx1"/>
                              </a:solidFill>
                              <a:effectLst/>
                            </a:rPr>
                            <a:t>线性累加</a:t>
                          </a:r>
                          <a:endParaRPr lang="zh-CN" sz="18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200000"/>
                            </a:lnSpc>
                            <a:spcAft>
                              <a:spcPts val="600"/>
                            </a:spcAft>
                          </a:pPr>
                          <a:r>
                            <a:rPr lang="zh-CN" sz="2400" b="0" kern="100" dirty="0">
                              <a:solidFill>
                                <a:schemeClr val="tx1"/>
                              </a:solidFill>
                              <a:effectLst/>
                            </a:rPr>
                            <a:t>非线性变换</a:t>
                          </a:r>
                          <a:endParaRPr lang="zh-CN" sz="18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32513">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3" t="-129167" r="-1107143" b="-330000"/>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16" t="-129167" r="-83432" b="-330000"/>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0391" t="-129167" r="-356" b="-330000"/>
                          </a:stretch>
                        </a:blipFill>
                      </a:tcPr>
                    </a:tc>
                    <a:extLst>
                      <a:ext uri="{0D108BD9-81ED-4DB2-BD59-A6C34878D82A}">
                        <a16:rowId xmlns:a16="http://schemas.microsoft.com/office/drawing/2014/main" val="10001"/>
                      </a:ext>
                    </a:extLst>
                  </a:tr>
                  <a:tr h="680720">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3" t="-245536" r="-1107143" b="-253571"/>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16" t="-245536" r="-83432" b="-253571"/>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0391" t="-245536" r="-356" b="-253571"/>
                          </a:stretch>
                        </a:blipFill>
                      </a:tcPr>
                    </a:tc>
                    <a:extLst>
                      <a:ext uri="{0D108BD9-81ED-4DB2-BD59-A6C34878D82A}">
                        <a16:rowId xmlns:a16="http://schemas.microsoft.com/office/drawing/2014/main" val="10002"/>
                      </a:ext>
                    </a:extLst>
                  </a:tr>
                  <a:tr h="572643">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3" t="-411702" r="-1107143" b="-202128"/>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16" t="-411702" r="-83432" b="-202128"/>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0391" t="-411702" r="-356" b="-202128"/>
                          </a:stretch>
                        </a:blipFill>
                      </a:tcPr>
                    </a:tc>
                    <a:extLst>
                      <a:ext uri="{0D108BD9-81ED-4DB2-BD59-A6C34878D82A}">
                        <a16:rowId xmlns:a16="http://schemas.microsoft.com/office/drawing/2014/main" val="10003"/>
                      </a:ext>
                    </a:extLst>
                  </a:tr>
                  <a:tr h="572643">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3" t="-511702" r="-1107143" b="-102128"/>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16" t="-511702" r="-83432" b="-102128"/>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0391" t="-511702" r="-356" b="-102128"/>
                          </a:stretch>
                        </a:blipFill>
                      </a:tcPr>
                    </a:tc>
                    <a:extLst>
                      <a:ext uri="{0D108BD9-81ED-4DB2-BD59-A6C34878D82A}">
                        <a16:rowId xmlns:a16="http://schemas.microsoft.com/office/drawing/2014/main" val="10004"/>
                      </a:ext>
                    </a:extLst>
                  </a:tr>
                  <a:tr h="574739">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3" t="-611702" r="-1107143" b="-2128"/>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16" t="-611702" r="-83432" b="-2128"/>
                          </a:stretch>
                        </a:blipFill>
                      </a:tcPr>
                    </a:tc>
                    <a:tc>
                      <a:txBody>
                        <a:bodyPr/>
                        <a:lstStyle/>
                        <a:p>
                          <a:endParaRPr lang="zh-C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0391" t="-611702" r="-356" b="-2128"/>
                          </a:stretch>
                        </a:blipFill>
                      </a:tcPr>
                    </a:tc>
                    <a:extLst>
                      <a:ext uri="{0D108BD9-81ED-4DB2-BD59-A6C34878D82A}">
                        <a16:rowId xmlns:a16="http://schemas.microsoft.com/office/drawing/2014/main" val="10005"/>
                      </a:ext>
                    </a:extLst>
                  </a:tr>
                </a:tbl>
              </a:graphicData>
            </a:graphic>
          </p:graphicFrame>
        </mc:Fallback>
      </mc:AlternateContent>
      <p:sp>
        <p:nvSpPr>
          <p:cNvPr id="7" name="标题 1">
            <a:extLst>
              <a:ext uri="{FF2B5EF4-FFF2-40B4-BE49-F238E27FC236}">
                <a16:creationId xmlns:a16="http://schemas.microsoft.com/office/drawing/2014/main" id="{C5E79BE8-4CFD-148A-6A97-76119C898CF9}"/>
              </a:ext>
            </a:extLst>
          </p:cNvPr>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Tree>
    <p:extLst>
      <p:ext uri="{BB962C8B-B14F-4D97-AF65-F5344CB8AC3E}">
        <p14:creationId xmlns:p14="http://schemas.microsoft.com/office/powerpoint/2010/main" val="61489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517792" y="1214368"/>
                <a:ext cx="8108415" cy="4635115"/>
              </a:xfrm>
              <a:prstGeom prst="rect">
                <a:avLst/>
              </a:prstGeom>
            </p:spPr>
            <p:txBody>
              <a:bodyPr wrap="square">
                <a:spAutoFit/>
              </a:bodyPr>
              <a:lstStyle/>
              <a:p>
                <a:pPr marL="342900" marR="0" lvl="0" indent="-342900" algn="just" defTabSz="914400" rtl="0" eaLnBrk="1" fontAlgn="auto" latinLnBrk="0" hangingPunct="1">
                  <a:lnSpc>
                    <a:spcPct val="14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cs typeface="+mn-cs"/>
                  </a:rPr>
                  <a:t>一旦神经网络在当前参数下给出了预测结果</a:t>
                </a:r>
                <a14:m>
                  <m:oMath xmlns:m="http://schemas.openxmlformats.org/officeDocument/2006/math">
                    <m:r>
                      <a:rPr kumimoji="0" lang="en-US" altLang="zh-CN" sz="2400" b="0" i="0" u="none" strike="noStrike" kern="1200" cap="none" spc="0" normalizeH="0" baseline="0" noProof="0">
                        <a:ln>
                          <a:noFill/>
                        </a:ln>
                        <a:solidFill>
                          <a:prstClr val="black"/>
                        </a:solidFill>
                        <a:effectLst/>
                        <a:uLnTx/>
                        <a:uFillTx/>
                        <a:cs typeface="+mn-cs"/>
                      </a:rPr>
                      <m:t> (</m:t>
                    </m:r>
                    <m:acc>
                      <m:accPr>
                        <m:chr m:val="̂"/>
                        <m:ctrlPr>
                          <a:rPr kumimoji="0" lang="zh-CN" altLang="zh-CN" sz="2400" b="0" i="1" u="none" strike="noStrike" kern="1200" cap="none" spc="0" normalizeH="0" baseline="0" noProof="0">
                            <a:ln>
                              <a:noFill/>
                            </a:ln>
                            <a:solidFill>
                              <a:prstClr val="black"/>
                            </a:solidFill>
                            <a:effectLst/>
                            <a:uLnTx/>
                            <a:uFillTx/>
                            <a:cs typeface="+mn-cs"/>
                          </a:rPr>
                        </m:ctrlPr>
                      </m:accPr>
                      <m:e>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1</m:t>
                            </m:r>
                          </m:sub>
                        </m:sSub>
                      </m:e>
                    </m:acc>
                    <m:r>
                      <a:rPr kumimoji="0" lang="en-US" altLang="zh-CN" sz="2400" b="0" i="1" u="none" strike="noStrike" kern="1200" cap="none" spc="0" normalizeH="0" baseline="0" noProof="0">
                        <a:ln>
                          <a:noFill/>
                        </a:ln>
                        <a:solidFill>
                          <a:prstClr val="black"/>
                        </a:solidFill>
                        <a:effectLst/>
                        <a:uLnTx/>
                        <a:uFillTx/>
                        <a:cs typeface="+mn-cs"/>
                      </a:rPr>
                      <m:t>,</m:t>
                    </m:r>
                    <m:acc>
                      <m:accPr>
                        <m:chr m:val="̂"/>
                        <m:ctrlPr>
                          <a:rPr kumimoji="0" lang="zh-CN" altLang="zh-CN" sz="2400" b="0" i="1" u="none" strike="noStrike" kern="1200" cap="none" spc="0" normalizeH="0" baseline="0" noProof="0">
                            <a:ln>
                              <a:noFill/>
                            </a:ln>
                            <a:solidFill>
                              <a:prstClr val="black"/>
                            </a:solidFill>
                            <a:effectLst/>
                            <a:uLnTx/>
                            <a:uFillTx/>
                            <a:cs typeface="+mn-cs"/>
                          </a:rPr>
                        </m:ctrlPr>
                      </m:accPr>
                      <m:e>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2</m:t>
                            </m:r>
                          </m:sub>
                        </m:sSub>
                      </m:e>
                    </m:acc>
                    <m:r>
                      <a:rPr kumimoji="0" lang="en-US" altLang="zh-CN" sz="2400" b="0" i="1" u="none" strike="noStrike" kern="1200" cap="none" spc="0" normalizeH="0" baseline="0" noProof="0">
                        <a:ln>
                          <a:noFill/>
                        </a:ln>
                        <a:solidFill>
                          <a:prstClr val="black"/>
                        </a:solidFill>
                        <a:effectLst/>
                        <a:uLnTx/>
                        <a:uFillTx/>
                        <a:cs typeface="+mn-cs"/>
                      </a:rPr>
                      <m:t>,</m:t>
                    </m:r>
                    <m:acc>
                      <m:accPr>
                        <m:chr m:val="̂"/>
                        <m:ctrlPr>
                          <a:rPr kumimoji="0" lang="zh-CN" altLang="zh-CN" sz="2400" b="0" i="1" u="none" strike="noStrike" kern="1200" cap="none" spc="0" normalizeH="0" baseline="0" noProof="0">
                            <a:ln>
                              <a:noFill/>
                            </a:ln>
                            <a:solidFill>
                              <a:prstClr val="black"/>
                            </a:solidFill>
                            <a:effectLst/>
                            <a:uLnTx/>
                            <a:uFillTx/>
                            <a:cs typeface="+mn-cs"/>
                          </a:rPr>
                        </m:ctrlPr>
                      </m:accPr>
                      <m:e>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3</m:t>
                            </m:r>
                          </m:sub>
                        </m:sSub>
                      </m:e>
                    </m:acc>
                    <m:r>
                      <a:rPr kumimoji="0" lang="en-US" altLang="zh-CN" sz="2400" b="0" i="1" u="none" strike="noStrike" kern="1200" cap="none" spc="0" normalizeH="0" baseline="0" noProof="0">
                        <a:ln>
                          <a:noFill/>
                        </a:ln>
                        <a:solidFill>
                          <a:prstClr val="black"/>
                        </a:solidFill>
                        <a:effectLst/>
                        <a:uLnTx/>
                        <a:uFillTx/>
                        <a:cs typeface="+mn-cs"/>
                      </a:rPr>
                      <m:t>)</m:t>
                    </m:r>
                  </m:oMath>
                </a14:m>
                <a:r>
                  <a:rPr kumimoji="0" lang="zh-CN" altLang="zh-CN" sz="2400" b="0" i="0" u="none" strike="noStrike" kern="1200" cap="none" spc="0" normalizeH="0" baseline="0" noProof="0" dirty="0">
                    <a:ln>
                      <a:noFill/>
                    </a:ln>
                    <a:solidFill>
                      <a:prstClr val="black"/>
                    </a:solidFill>
                    <a:effectLst/>
                    <a:uLnTx/>
                    <a:uFillTx/>
                    <a:cs typeface="+mn-cs"/>
                  </a:rPr>
                  <a:t>后，通过均方误差损失函数来计算模型预测值与真实值</a:t>
                </a:r>
                <a14:m>
                  <m:oMath xmlns:m="http://schemas.openxmlformats.org/officeDocument/2006/math">
                    <m:r>
                      <a:rPr kumimoji="0" lang="en-US" altLang="zh-CN" sz="2400" b="0" i="0"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1</m:t>
                        </m:r>
                      </m:sub>
                    </m:sSub>
                    <m:r>
                      <a:rPr kumimoji="0" lang="en-US" altLang="zh-CN" sz="2400" b="0" i="1"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2</m:t>
                        </m:r>
                      </m:sub>
                    </m:sSub>
                    <m:r>
                      <a:rPr kumimoji="0" lang="en-US" altLang="zh-CN" sz="2400" b="0" i="1"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3</m:t>
                        </m:r>
                      </m:sub>
                    </m:sSub>
                    <m:r>
                      <a:rPr kumimoji="0" lang="en-US" altLang="zh-CN" sz="2400" b="0" i="1" u="none" strike="noStrike" kern="1200" cap="none" spc="0" normalizeH="0" baseline="0" noProof="0">
                        <a:ln>
                          <a:noFill/>
                        </a:ln>
                        <a:solidFill>
                          <a:prstClr val="black"/>
                        </a:solidFill>
                        <a:effectLst/>
                        <a:uLnTx/>
                        <a:uFillTx/>
                        <a:cs typeface="+mn-cs"/>
                      </a:rPr>
                      <m:t>)</m:t>
                    </m:r>
                  </m:oMath>
                </a14:m>
                <a:r>
                  <a:rPr kumimoji="0" lang="zh-CN" altLang="zh-CN" sz="2400" b="0" i="0" u="none" strike="noStrike" kern="1200" cap="none" spc="0" normalizeH="0" baseline="0" noProof="0" dirty="0">
                    <a:ln>
                      <a:noFill/>
                    </a:ln>
                    <a:solidFill>
                      <a:prstClr val="black"/>
                    </a:solidFill>
                    <a:effectLst/>
                    <a:uLnTx/>
                    <a:uFillTx/>
                    <a:cs typeface="+mn-cs"/>
                  </a:rPr>
                  <a:t>之间误差，记为</a:t>
                </a:r>
                <a14:m>
                  <m:oMath xmlns:m="http://schemas.openxmlformats.org/officeDocument/2006/math">
                    <m:r>
                      <a:rPr kumimoji="0" lang="en-US" altLang="zh-CN" sz="2400" b="0" i="1" u="none" strike="noStrike" kern="1200" cap="none" spc="0" normalizeH="0" baseline="0" noProof="0">
                        <a:ln>
                          <a:noFill/>
                        </a:ln>
                        <a:solidFill>
                          <a:prstClr val="black"/>
                        </a:solidFill>
                        <a:effectLst/>
                        <a:uLnTx/>
                        <a:uFillTx/>
                        <a:cs typeface="+mn-cs"/>
                      </a:rPr>
                      <m:t>𝑙𝑜𝑠𝑠</m:t>
                    </m:r>
                    <m:r>
                      <a:rPr kumimoji="0" lang="en-US" altLang="zh-CN" sz="2400" b="0" i="1" u="none" strike="noStrike" kern="1200" cap="none" spc="0" normalizeH="0" baseline="0" noProof="0">
                        <a:ln>
                          <a:noFill/>
                        </a:ln>
                        <a:solidFill>
                          <a:prstClr val="black"/>
                        </a:solidFill>
                        <a:effectLst/>
                        <a:uLnTx/>
                        <a:uFillTx/>
                        <a:cs typeface="+mn-cs"/>
                      </a:rPr>
                      <m:t>=</m:t>
                    </m:r>
                    <m:f>
                      <m:fPr>
                        <m:ctrlPr>
                          <a:rPr kumimoji="0" lang="zh-CN" altLang="zh-CN" sz="2400" b="0" i="1" u="none" strike="noStrike" kern="1200" cap="none" spc="0" normalizeH="0" baseline="0" noProof="0">
                            <a:ln>
                              <a:noFill/>
                            </a:ln>
                            <a:solidFill>
                              <a:prstClr val="black"/>
                            </a:solidFill>
                            <a:effectLst/>
                            <a:uLnTx/>
                            <a:uFillTx/>
                            <a:cs typeface="+mn-cs"/>
                          </a:rPr>
                        </m:ctrlPr>
                      </m:fPr>
                      <m:num>
                        <m:r>
                          <a:rPr kumimoji="0" lang="en-US" altLang="zh-CN" sz="2400" b="0" i="1" u="none" strike="noStrike" kern="1200" cap="none" spc="0" normalizeH="0" baseline="0" noProof="0">
                            <a:ln>
                              <a:noFill/>
                            </a:ln>
                            <a:solidFill>
                              <a:prstClr val="black"/>
                            </a:solidFill>
                            <a:effectLst/>
                            <a:uLnTx/>
                            <a:uFillTx/>
                            <a:cs typeface="+mn-cs"/>
                          </a:rPr>
                          <m:t>1</m:t>
                        </m:r>
                      </m:num>
                      <m:den>
                        <m:r>
                          <a:rPr kumimoji="0" lang="en-US" altLang="zh-CN" sz="2400" b="0" i="1" u="none" strike="noStrike" kern="1200" cap="none" spc="0" normalizeH="0" baseline="0" noProof="0">
                            <a:ln>
                              <a:noFill/>
                            </a:ln>
                            <a:solidFill>
                              <a:prstClr val="black"/>
                            </a:solidFill>
                            <a:effectLst/>
                            <a:uLnTx/>
                            <a:uFillTx/>
                            <a:cs typeface="+mn-cs"/>
                          </a:rPr>
                          <m:t>3</m:t>
                        </m:r>
                      </m:den>
                    </m:f>
                    <m:nary>
                      <m:naryPr>
                        <m:chr m:val="∑"/>
                        <m:limLoc m:val="subSup"/>
                        <m:ctrlPr>
                          <a:rPr kumimoji="0" lang="zh-CN" altLang="zh-CN" sz="2400" b="0" i="1" u="none" strike="noStrike" kern="1200" cap="none" spc="0" normalizeH="0" baseline="0" noProof="0">
                            <a:ln>
                              <a:noFill/>
                            </a:ln>
                            <a:solidFill>
                              <a:prstClr val="black"/>
                            </a:solidFill>
                            <a:effectLst/>
                            <a:uLnTx/>
                            <a:uFillTx/>
                            <a:cs typeface="+mn-cs"/>
                          </a:rPr>
                        </m:ctrlPr>
                      </m:naryPr>
                      <m:sub>
                        <m:r>
                          <a:rPr kumimoji="0" lang="en-US" altLang="zh-CN" sz="2400" b="0" i="1" u="none" strike="noStrike" kern="1200" cap="none" spc="0" normalizeH="0" baseline="0" noProof="0">
                            <a:ln>
                              <a:noFill/>
                            </a:ln>
                            <a:solidFill>
                              <a:prstClr val="black"/>
                            </a:solidFill>
                            <a:effectLst/>
                            <a:uLnTx/>
                            <a:uFillTx/>
                            <a:cs typeface="+mn-cs"/>
                          </a:rPr>
                          <m:t>𝑖</m:t>
                        </m:r>
                        <m:r>
                          <a:rPr kumimoji="0" lang="en-US" altLang="zh-CN" sz="2400" b="0" i="1" u="none" strike="noStrike" kern="1200" cap="none" spc="0" normalizeH="0" baseline="0" noProof="0">
                            <a:ln>
                              <a:noFill/>
                            </a:ln>
                            <a:solidFill>
                              <a:prstClr val="black"/>
                            </a:solidFill>
                            <a:effectLst/>
                            <a:uLnTx/>
                            <a:uFillTx/>
                            <a:cs typeface="+mn-cs"/>
                          </a:rPr>
                          <m:t>=1</m:t>
                        </m:r>
                      </m:sub>
                      <m:sup>
                        <m:r>
                          <a:rPr kumimoji="0" lang="en-US" altLang="zh-CN" sz="2400" b="0" i="1" u="none" strike="noStrike" kern="1200" cap="none" spc="0" normalizeH="0" baseline="0" noProof="0">
                            <a:ln>
                              <a:noFill/>
                            </a:ln>
                            <a:solidFill>
                              <a:prstClr val="black"/>
                            </a:solidFill>
                            <a:effectLst/>
                            <a:uLnTx/>
                            <a:uFillTx/>
                            <a:cs typeface="+mn-cs"/>
                          </a:rPr>
                          <m:t>3</m:t>
                        </m:r>
                      </m:sup>
                      <m:e>
                        <m:sSup>
                          <m:sSupPr>
                            <m:ctrlPr>
                              <a:rPr kumimoji="0" lang="zh-CN" altLang="zh-CN" sz="2400" b="0" i="1" u="none" strike="noStrike" kern="1200" cap="none" spc="0" normalizeH="0" baseline="0" noProof="0">
                                <a:ln>
                                  <a:noFill/>
                                </a:ln>
                                <a:solidFill>
                                  <a:prstClr val="black"/>
                                </a:solidFill>
                                <a:effectLst/>
                                <a:uLnTx/>
                                <a:uFillTx/>
                                <a:cs typeface="+mn-cs"/>
                              </a:rPr>
                            </m:ctrlPr>
                          </m:sSupPr>
                          <m:e>
                            <m:r>
                              <a:rPr kumimoji="0" lang="en-US" altLang="zh-CN" sz="2400" b="0" i="1"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acc>
                                  <m:accPr>
                                    <m:chr m:val="̂"/>
                                    <m:ctrlPr>
                                      <a:rPr kumimoji="0" lang="zh-CN" altLang="zh-CN" sz="2400" b="0" i="1" u="none" strike="noStrike" kern="1200" cap="none" spc="0" normalizeH="0" baseline="0" noProof="0">
                                        <a:ln>
                                          <a:noFill/>
                                        </a:ln>
                                        <a:solidFill>
                                          <a:prstClr val="black"/>
                                        </a:solidFill>
                                        <a:effectLst/>
                                        <a:uLnTx/>
                                        <a:uFillTx/>
                                        <a:cs typeface="+mn-cs"/>
                                      </a:rPr>
                                    </m:ctrlPr>
                                  </m:accPr>
                                  <m:e>
                                    <m:r>
                                      <a:rPr kumimoji="0" lang="en-US" altLang="zh-CN" sz="2400" b="0" i="1" u="none" strike="noStrike" kern="1200" cap="none" spc="0" normalizeH="0" baseline="0" noProof="0">
                                        <a:ln>
                                          <a:noFill/>
                                        </a:ln>
                                        <a:solidFill>
                                          <a:prstClr val="black"/>
                                        </a:solidFill>
                                        <a:effectLst/>
                                        <a:uLnTx/>
                                        <a:uFillTx/>
                                        <a:cs typeface="+mn-cs"/>
                                      </a:rPr>
                                      <m:t>𝑦</m:t>
                                    </m:r>
                                  </m:e>
                                </m:acc>
                              </m:e>
                              <m:sub>
                                <m:r>
                                  <a:rPr kumimoji="0" lang="en-US" altLang="zh-CN" sz="2400" b="0" i="1" u="none" strike="noStrike" kern="1200" cap="none" spc="0" normalizeH="0" baseline="0" noProof="0">
                                    <a:ln>
                                      <a:noFill/>
                                    </a:ln>
                                    <a:solidFill>
                                      <a:prstClr val="black"/>
                                    </a:solidFill>
                                    <a:effectLst/>
                                    <a:uLnTx/>
                                    <a:uFillTx/>
                                    <a:cs typeface="+mn-cs"/>
                                  </a:rPr>
                                  <m:t>𝑖</m:t>
                                </m:r>
                              </m:sub>
                            </m:sSub>
                            <m:r>
                              <a:rPr kumimoji="0" lang="en-US" altLang="zh-CN" sz="2400" b="0" i="1"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𝑖</m:t>
                                </m:r>
                              </m:sub>
                            </m:sSub>
                            <m:r>
                              <a:rPr kumimoji="0" lang="en-US" altLang="zh-CN" sz="2400" b="0" i="1" u="none" strike="noStrike" kern="1200" cap="none" spc="0" normalizeH="0" baseline="0" noProof="0">
                                <a:ln>
                                  <a:noFill/>
                                </a:ln>
                                <a:solidFill>
                                  <a:prstClr val="black"/>
                                </a:solidFill>
                                <a:effectLst/>
                                <a:uLnTx/>
                                <a:uFillTx/>
                                <a:cs typeface="+mn-cs"/>
                              </a:rPr>
                              <m:t>)</m:t>
                            </m:r>
                          </m:e>
                          <m:sup>
                            <m:r>
                              <a:rPr kumimoji="0" lang="en-US" altLang="zh-CN" sz="2400" b="0" i="1" u="none" strike="noStrike" kern="1200" cap="none" spc="0" normalizeH="0" baseline="0" noProof="0">
                                <a:ln>
                                  <a:noFill/>
                                </a:ln>
                                <a:solidFill>
                                  <a:prstClr val="black"/>
                                </a:solidFill>
                                <a:effectLst/>
                                <a:uLnTx/>
                                <a:uFillTx/>
                                <a:cs typeface="+mn-cs"/>
                              </a:rPr>
                              <m:t>2</m:t>
                            </m:r>
                          </m:sup>
                        </m:sSup>
                      </m:e>
                    </m:nary>
                  </m:oMath>
                </a14:m>
                <a:r>
                  <a:rPr kumimoji="0" lang="zh-CN" altLang="zh-CN" sz="2400" b="0" i="0" u="none" strike="noStrike" kern="1200" cap="none" spc="0" normalizeH="0" baseline="0" noProof="0" dirty="0">
                    <a:ln>
                      <a:noFill/>
                    </a:ln>
                    <a:solidFill>
                      <a:prstClr val="black"/>
                    </a:solidFill>
                    <a:effectLst/>
                    <a:uLnTx/>
                    <a:uFillTx/>
                    <a:cs typeface="+mn-cs"/>
                  </a:rPr>
                  <a:t>。</a:t>
                </a:r>
              </a:p>
              <a:p>
                <a:pPr marL="342900" marR="0" lvl="0" indent="-342900" algn="just" defTabSz="914400" rtl="0" eaLnBrk="1" fontAlgn="auto" latinLnBrk="0" hangingPunct="1">
                  <a:lnSpc>
                    <a:spcPct val="14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cs typeface="+mn-cs"/>
                  </a:rPr>
                  <a:t>接下来通过梯度下降和误差反向传播方法，沿着损失函数梯度的反方向来更改参数变量取值，使得损失函数快速下降到其最小值。由于损失函数对</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𝑤</m:t>
                        </m:r>
                      </m:e>
                      <m:sub>
                        <m:r>
                          <a:rPr kumimoji="0" lang="en-US" altLang="zh-CN" sz="2400" b="0" i="1" u="none" strike="noStrike" kern="1200" cap="none" spc="0" normalizeH="0" baseline="0" noProof="0">
                            <a:ln>
                              <a:noFill/>
                            </a:ln>
                            <a:solidFill>
                              <a:prstClr val="black"/>
                            </a:solidFill>
                            <a:effectLst/>
                            <a:uLnTx/>
                            <a:uFillTx/>
                            <a:cs typeface="+mn-cs"/>
                          </a:rPr>
                          <m:t>7</m:t>
                        </m:r>
                      </m:sub>
                    </m:sSub>
                  </m:oMath>
                </a14:m>
                <a:r>
                  <a:rPr kumimoji="0" lang="en-US" altLang="zh-CN" sz="2400" b="0" i="0" u="none" strike="noStrike" kern="1200" cap="none" spc="0" normalizeH="0" baseline="0" noProof="0" dirty="0">
                    <a:ln>
                      <a:noFill/>
                    </a:ln>
                    <a:solidFill>
                      <a:prstClr val="black"/>
                    </a:solidFill>
                    <a:effectLst/>
                    <a:uLnTx/>
                    <a:uFillTx/>
                    <a:cs typeface="+mn-cs"/>
                  </a:rPr>
                  <a:t>~</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𝑤</m:t>
                        </m:r>
                      </m:e>
                      <m:sub>
                        <m:r>
                          <a:rPr kumimoji="0" lang="en-US" altLang="zh-CN" sz="2400" b="0" i="1" u="none" strike="noStrike" kern="1200" cap="none" spc="0" normalizeH="0" baseline="0" noProof="0">
                            <a:ln>
                              <a:noFill/>
                            </a:ln>
                            <a:solidFill>
                              <a:prstClr val="black"/>
                            </a:solidFill>
                            <a:effectLst/>
                            <a:uLnTx/>
                            <a:uFillTx/>
                            <a:cs typeface="+mn-cs"/>
                          </a:rPr>
                          <m:t>12</m:t>
                        </m:r>
                      </m:sub>
                    </m:sSub>
                  </m:oMath>
                </a14:m>
                <a:r>
                  <a:rPr kumimoji="0" lang="zh-CN" altLang="zh-CN" sz="2400" b="0" i="0" u="none" strike="noStrike" kern="1200" cap="none" spc="0" normalizeH="0" baseline="0" noProof="0" dirty="0">
                    <a:ln>
                      <a:noFill/>
                    </a:ln>
                    <a:solidFill>
                      <a:prstClr val="black"/>
                    </a:solidFill>
                    <a:effectLst/>
                    <a:uLnTx/>
                    <a:uFillTx/>
                    <a:cs typeface="+mn-cs"/>
                  </a:rPr>
                  <a:t>的偏导计算相似，在此以</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𝑤</m:t>
                        </m:r>
                      </m:e>
                      <m:sub>
                        <m:r>
                          <a:rPr kumimoji="0" lang="en-US" altLang="zh-CN" sz="2400" b="0" i="1" u="none" strike="noStrike" kern="1200" cap="none" spc="0" normalizeH="0" baseline="0" noProof="0">
                            <a:ln>
                              <a:noFill/>
                            </a:ln>
                            <a:solidFill>
                              <a:prstClr val="black"/>
                            </a:solidFill>
                            <a:effectLst/>
                            <a:uLnTx/>
                            <a:uFillTx/>
                            <a:cs typeface="+mn-cs"/>
                          </a:rPr>
                          <m:t>7</m:t>
                        </m:r>
                      </m:sub>
                    </m:sSub>
                  </m:oMath>
                </a14:m>
                <a:r>
                  <a:rPr kumimoji="0" lang="zh-CN" altLang="zh-CN" sz="2400" b="0" i="0" u="none" strike="noStrike" kern="1200" cap="none" spc="0" normalizeH="0" baseline="0" noProof="0" dirty="0">
                    <a:ln>
                      <a:noFill/>
                    </a:ln>
                    <a:solidFill>
                      <a:prstClr val="black"/>
                    </a:solidFill>
                    <a:effectLst/>
                    <a:uLnTx/>
                    <a:uFillTx/>
                    <a:cs typeface="+mn-cs"/>
                  </a:rPr>
                  <a:t>为例来介绍如何更新</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𝑤</m:t>
                        </m:r>
                      </m:e>
                      <m:sub>
                        <m:r>
                          <a:rPr kumimoji="0" lang="en-US" altLang="zh-CN" sz="2400" b="0" i="1" u="none" strike="noStrike" kern="1200" cap="none" spc="0" normalizeH="0" baseline="0" noProof="0">
                            <a:ln>
                              <a:noFill/>
                            </a:ln>
                            <a:solidFill>
                              <a:prstClr val="black"/>
                            </a:solidFill>
                            <a:effectLst/>
                            <a:uLnTx/>
                            <a:uFillTx/>
                            <a:cs typeface="+mn-cs"/>
                          </a:rPr>
                          <m:t>7</m:t>
                        </m:r>
                      </m:sub>
                    </m:sSub>
                  </m:oMath>
                </a14:m>
                <a:r>
                  <a:rPr kumimoji="0" lang="zh-CN" altLang="zh-CN" sz="2400" b="0" i="0" u="none" strike="noStrike" kern="1200" cap="none" spc="0" normalizeH="0" baseline="0" noProof="0" dirty="0">
                    <a:ln>
                      <a:noFill/>
                    </a:ln>
                    <a:solidFill>
                      <a:prstClr val="black"/>
                    </a:solidFill>
                    <a:effectLst/>
                    <a:uLnTx/>
                    <a:uFillTx/>
                    <a:cs typeface="+mn-cs"/>
                  </a:rPr>
                  <a:t>这一参数取值。记损失函数为</a:t>
                </a:r>
                <a14:m>
                  <m:oMath xmlns:m="http://schemas.openxmlformats.org/officeDocument/2006/math">
                    <m:r>
                      <a:rPr kumimoji="0" lang="en-US" altLang="zh-CN" sz="2400" b="0" i="1" u="none" strike="noStrike" kern="1200" cap="none" spc="0" normalizeH="0" baseline="0" noProof="0">
                        <a:ln>
                          <a:noFill/>
                        </a:ln>
                        <a:solidFill>
                          <a:prstClr val="black"/>
                        </a:solidFill>
                        <a:effectLst/>
                        <a:uLnTx/>
                        <a:uFillTx/>
                        <a:cs typeface="+mn-cs"/>
                      </a:rPr>
                      <m:t>ℒ</m:t>
                    </m:r>
                    <m:r>
                      <a:rPr kumimoji="0" lang="en-US" altLang="zh-CN" sz="2400" b="0" i="1" u="none" strike="noStrike" kern="1200" cap="none" spc="0" normalizeH="0" baseline="0" noProof="0">
                        <a:ln>
                          <a:noFill/>
                        </a:ln>
                        <a:solidFill>
                          <a:prstClr val="black"/>
                        </a:solidFill>
                        <a:effectLst/>
                        <a:uLnTx/>
                        <a:uFillTx/>
                        <a:cs typeface="+mn-cs"/>
                      </a:rPr>
                      <m:t>(</m:t>
                    </m:r>
                    <m:r>
                      <a:rPr kumimoji="0" lang="en-US" altLang="zh-CN" sz="2400" b="0" i="1" u="none" strike="noStrike" kern="1200" cap="none" spc="0" normalizeH="0" baseline="0" noProof="0">
                        <a:ln>
                          <a:noFill/>
                        </a:ln>
                        <a:solidFill>
                          <a:prstClr val="black"/>
                        </a:solidFill>
                        <a:effectLst/>
                        <a:uLnTx/>
                        <a:uFillTx/>
                        <a:cs typeface="+mn-cs"/>
                      </a:rPr>
                      <m:t>𝑤</m:t>
                    </m:r>
                    <m:r>
                      <a:rPr kumimoji="0" lang="en-US" altLang="zh-CN" sz="2400" b="0" i="1" u="none" strike="noStrike" kern="1200" cap="none" spc="0" normalizeH="0" baseline="0" noProof="0">
                        <a:ln>
                          <a:noFill/>
                        </a:ln>
                        <a:solidFill>
                          <a:prstClr val="black"/>
                        </a:solidFill>
                        <a:effectLst/>
                        <a:uLnTx/>
                        <a:uFillTx/>
                        <a:cs typeface="+mn-cs"/>
                      </a:rPr>
                      <m:t>)</m:t>
                    </m:r>
                  </m:oMath>
                </a14:m>
                <a:r>
                  <a:rPr kumimoji="0" lang="zh-CN" altLang="zh-CN" sz="2400" b="0" i="0" u="none" strike="noStrike" kern="1200" cap="none" spc="0" normalizeH="0" baseline="0" noProof="0" dirty="0">
                    <a:ln>
                      <a:noFill/>
                    </a:ln>
                    <a:solidFill>
                      <a:prstClr val="black"/>
                    </a:solidFill>
                    <a:effectLst/>
                    <a:uLnTx/>
                    <a:uFillTx/>
                    <a:cs typeface="+mn-cs"/>
                  </a:rPr>
                  <a:t>，</a:t>
                </a:r>
                <a14:m>
                  <m:oMath xmlns:m="http://schemas.openxmlformats.org/officeDocument/2006/math">
                    <m:r>
                      <a:rPr kumimoji="0" lang="en-US" altLang="zh-CN" sz="2400" b="0" i="1" u="none" strike="noStrike" kern="1200" cap="none" spc="0" normalizeH="0" baseline="0" noProof="0">
                        <a:ln>
                          <a:noFill/>
                        </a:ln>
                        <a:solidFill>
                          <a:prstClr val="black"/>
                        </a:solidFill>
                        <a:effectLst/>
                        <a:uLnTx/>
                        <a:uFillTx/>
                        <a:cs typeface="+mn-cs"/>
                      </a:rPr>
                      <m:t>ℒ</m:t>
                    </m:r>
                    <m:d>
                      <m:dPr>
                        <m:ctrlPr>
                          <a:rPr kumimoji="0" lang="zh-CN" altLang="zh-CN" sz="2400" b="0" i="1" u="none" strike="noStrike" kern="1200" cap="none" spc="0" normalizeH="0" baseline="0" noProof="0">
                            <a:ln>
                              <a:noFill/>
                            </a:ln>
                            <a:solidFill>
                              <a:prstClr val="black"/>
                            </a:solidFill>
                            <a:effectLst/>
                            <a:uLnTx/>
                            <a:uFillTx/>
                            <a:cs typeface="+mn-cs"/>
                          </a:rPr>
                        </m:ctrlPr>
                      </m:dPr>
                      <m:e>
                        <m:r>
                          <a:rPr kumimoji="0" lang="en-US" altLang="zh-CN" sz="2400" b="0" i="1" u="none" strike="noStrike" kern="1200" cap="none" spc="0" normalizeH="0" baseline="0" noProof="0">
                            <a:ln>
                              <a:noFill/>
                            </a:ln>
                            <a:solidFill>
                              <a:prstClr val="black"/>
                            </a:solidFill>
                            <a:effectLst/>
                            <a:uLnTx/>
                            <a:uFillTx/>
                            <a:cs typeface="+mn-cs"/>
                          </a:rPr>
                          <m:t>𝑤</m:t>
                        </m:r>
                      </m:e>
                    </m:d>
                    <m:r>
                      <a:rPr kumimoji="0" lang="en-US" altLang="zh-CN" sz="2400" b="0" i="1" u="none" strike="noStrike" kern="1200" cap="none" spc="0" normalizeH="0" baseline="0" noProof="0">
                        <a:ln>
                          <a:noFill/>
                        </a:ln>
                        <a:solidFill>
                          <a:prstClr val="black"/>
                        </a:solidFill>
                        <a:effectLst/>
                        <a:uLnTx/>
                        <a:uFillTx/>
                        <a:cs typeface="+mn-cs"/>
                      </a:rPr>
                      <m:t>=</m:t>
                    </m:r>
                    <m:f>
                      <m:fPr>
                        <m:ctrlPr>
                          <a:rPr kumimoji="0" lang="zh-CN" altLang="zh-CN" sz="2400" b="0" i="1" u="none" strike="noStrike" kern="1200" cap="none" spc="0" normalizeH="0" baseline="0" noProof="0">
                            <a:ln>
                              <a:noFill/>
                            </a:ln>
                            <a:solidFill>
                              <a:prstClr val="black"/>
                            </a:solidFill>
                            <a:effectLst/>
                            <a:uLnTx/>
                            <a:uFillTx/>
                            <a:cs typeface="+mn-cs"/>
                          </a:rPr>
                        </m:ctrlPr>
                      </m:fPr>
                      <m:num>
                        <m:r>
                          <a:rPr kumimoji="0" lang="en-US" altLang="zh-CN" sz="2400" b="0" i="1" u="none" strike="noStrike" kern="1200" cap="none" spc="0" normalizeH="0" baseline="0" noProof="0">
                            <a:ln>
                              <a:noFill/>
                            </a:ln>
                            <a:solidFill>
                              <a:prstClr val="black"/>
                            </a:solidFill>
                            <a:effectLst/>
                            <a:uLnTx/>
                            <a:uFillTx/>
                            <a:cs typeface="+mn-cs"/>
                          </a:rPr>
                          <m:t>1</m:t>
                        </m:r>
                      </m:num>
                      <m:den>
                        <m:r>
                          <a:rPr kumimoji="0" lang="en-US" altLang="zh-CN" sz="2400" b="0" i="1" u="none" strike="noStrike" kern="1200" cap="none" spc="0" normalizeH="0" baseline="0" noProof="0">
                            <a:ln>
                              <a:noFill/>
                            </a:ln>
                            <a:solidFill>
                              <a:prstClr val="black"/>
                            </a:solidFill>
                            <a:effectLst/>
                            <a:uLnTx/>
                            <a:uFillTx/>
                            <a:cs typeface="+mn-cs"/>
                          </a:rPr>
                          <m:t>3</m:t>
                        </m:r>
                      </m:den>
                    </m:f>
                    <m:nary>
                      <m:naryPr>
                        <m:chr m:val="∑"/>
                        <m:limLoc m:val="subSup"/>
                        <m:ctrlPr>
                          <a:rPr kumimoji="0" lang="zh-CN" altLang="zh-CN" sz="2400" b="0" i="1" u="none" strike="noStrike" kern="1200" cap="none" spc="0" normalizeH="0" baseline="0" noProof="0">
                            <a:ln>
                              <a:noFill/>
                            </a:ln>
                            <a:solidFill>
                              <a:prstClr val="black"/>
                            </a:solidFill>
                            <a:effectLst/>
                            <a:uLnTx/>
                            <a:uFillTx/>
                            <a:cs typeface="+mn-cs"/>
                          </a:rPr>
                        </m:ctrlPr>
                      </m:naryPr>
                      <m:sub>
                        <m:r>
                          <a:rPr kumimoji="0" lang="en-US" altLang="zh-CN" sz="2400" b="0" i="1" u="none" strike="noStrike" kern="1200" cap="none" spc="0" normalizeH="0" baseline="0" noProof="0">
                            <a:ln>
                              <a:noFill/>
                            </a:ln>
                            <a:solidFill>
                              <a:prstClr val="black"/>
                            </a:solidFill>
                            <a:effectLst/>
                            <a:uLnTx/>
                            <a:uFillTx/>
                            <a:cs typeface="+mn-cs"/>
                          </a:rPr>
                          <m:t>𝑖</m:t>
                        </m:r>
                        <m:r>
                          <a:rPr kumimoji="0" lang="en-US" altLang="zh-CN" sz="2400" b="0" i="1" u="none" strike="noStrike" kern="1200" cap="none" spc="0" normalizeH="0" baseline="0" noProof="0">
                            <a:ln>
                              <a:noFill/>
                            </a:ln>
                            <a:solidFill>
                              <a:prstClr val="black"/>
                            </a:solidFill>
                            <a:effectLst/>
                            <a:uLnTx/>
                            <a:uFillTx/>
                            <a:cs typeface="+mn-cs"/>
                          </a:rPr>
                          <m:t>=1</m:t>
                        </m:r>
                      </m:sub>
                      <m:sup>
                        <m:r>
                          <a:rPr kumimoji="0" lang="en-US" altLang="zh-CN" sz="2400" b="0" i="1" u="none" strike="noStrike" kern="1200" cap="none" spc="0" normalizeH="0" baseline="0" noProof="0">
                            <a:ln>
                              <a:noFill/>
                            </a:ln>
                            <a:solidFill>
                              <a:prstClr val="black"/>
                            </a:solidFill>
                            <a:effectLst/>
                            <a:uLnTx/>
                            <a:uFillTx/>
                            <a:cs typeface="+mn-cs"/>
                          </a:rPr>
                          <m:t>3</m:t>
                        </m:r>
                      </m:sup>
                      <m:e>
                        <m:sSup>
                          <m:sSupPr>
                            <m:ctrlPr>
                              <a:rPr kumimoji="0" lang="zh-CN" altLang="zh-CN" sz="2400" b="0" i="1" u="none" strike="noStrike" kern="1200" cap="none" spc="0" normalizeH="0" baseline="0" noProof="0">
                                <a:ln>
                                  <a:noFill/>
                                </a:ln>
                                <a:solidFill>
                                  <a:prstClr val="black"/>
                                </a:solidFill>
                                <a:effectLst/>
                                <a:uLnTx/>
                                <a:uFillTx/>
                                <a:cs typeface="+mn-cs"/>
                              </a:rPr>
                            </m:ctrlPr>
                          </m:sSupPr>
                          <m:e>
                            <m:r>
                              <a:rPr kumimoji="0" lang="en-US" altLang="zh-CN" sz="2400" b="0" i="1"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acc>
                                  <m:accPr>
                                    <m:chr m:val="̂"/>
                                    <m:ctrlPr>
                                      <a:rPr kumimoji="0" lang="zh-CN" altLang="zh-CN" sz="2400" b="0" i="1" u="none" strike="noStrike" kern="1200" cap="none" spc="0" normalizeH="0" baseline="0" noProof="0">
                                        <a:ln>
                                          <a:noFill/>
                                        </a:ln>
                                        <a:solidFill>
                                          <a:prstClr val="black"/>
                                        </a:solidFill>
                                        <a:effectLst/>
                                        <a:uLnTx/>
                                        <a:uFillTx/>
                                        <a:cs typeface="+mn-cs"/>
                                      </a:rPr>
                                    </m:ctrlPr>
                                  </m:accPr>
                                  <m:e>
                                    <m:r>
                                      <a:rPr kumimoji="0" lang="en-US" altLang="zh-CN" sz="2400" b="0" i="1" u="none" strike="noStrike" kern="1200" cap="none" spc="0" normalizeH="0" baseline="0" noProof="0">
                                        <a:ln>
                                          <a:noFill/>
                                        </a:ln>
                                        <a:solidFill>
                                          <a:prstClr val="black"/>
                                        </a:solidFill>
                                        <a:effectLst/>
                                        <a:uLnTx/>
                                        <a:uFillTx/>
                                        <a:cs typeface="+mn-cs"/>
                                      </a:rPr>
                                      <m:t>𝑦</m:t>
                                    </m:r>
                                  </m:e>
                                </m:acc>
                              </m:e>
                              <m:sub>
                                <m:r>
                                  <a:rPr kumimoji="0" lang="en-US" altLang="zh-CN" sz="2400" b="0" i="1" u="none" strike="noStrike" kern="1200" cap="none" spc="0" normalizeH="0" baseline="0" noProof="0">
                                    <a:ln>
                                      <a:noFill/>
                                    </a:ln>
                                    <a:solidFill>
                                      <a:prstClr val="black"/>
                                    </a:solidFill>
                                    <a:effectLst/>
                                    <a:uLnTx/>
                                    <a:uFillTx/>
                                    <a:cs typeface="+mn-cs"/>
                                  </a:rPr>
                                  <m:t>𝑖</m:t>
                                </m:r>
                              </m:sub>
                            </m:sSub>
                            <m:r>
                              <a:rPr kumimoji="0" lang="en-US" altLang="zh-CN" sz="2400" b="0" i="1" u="none" strike="noStrike" kern="1200" cap="none" spc="0" normalizeH="0" baseline="0" noProof="0">
                                <a:ln>
                                  <a:noFill/>
                                </a:ln>
                                <a:solidFill>
                                  <a:prstClr val="black"/>
                                </a:solidFill>
                                <a:effectLst/>
                                <a:uLnTx/>
                                <a:uFillTx/>
                                <a:cs typeface="+mn-cs"/>
                              </a:rPr>
                              <m:t>−</m:t>
                            </m:r>
                            <m:sSub>
                              <m:sSubPr>
                                <m:ctrlPr>
                                  <a:rPr kumimoji="0" lang="zh-CN" altLang="zh-CN" sz="2400" b="0" i="1" u="none" strike="noStrike" kern="1200" cap="none" spc="0" normalizeH="0" baseline="0" noProof="0">
                                    <a:ln>
                                      <a:noFill/>
                                    </a:ln>
                                    <a:solidFill>
                                      <a:prstClr val="black"/>
                                    </a:solidFill>
                                    <a:effectLst/>
                                    <a:uLnTx/>
                                    <a:uFillTx/>
                                    <a:cs typeface="+mn-cs"/>
                                  </a:rPr>
                                </m:ctrlPr>
                              </m:sSubPr>
                              <m:e>
                                <m:r>
                                  <a:rPr kumimoji="0" lang="en-US" altLang="zh-CN" sz="2400" b="0" i="1" u="none" strike="noStrike" kern="1200" cap="none" spc="0" normalizeH="0" baseline="0" noProof="0">
                                    <a:ln>
                                      <a:noFill/>
                                    </a:ln>
                                    <a:solidFill>
                                      <a:prstClr val="black"/>
                                    </a:solidFill>
                                    <a:effectLst/>
                                    <a:uLnTx/>
                                    <a:uFillTx/>
                                    <a:cs typeface="+mn-cs"/>
                                  </a:rPr>
                                  <m:t>𝑦</m:t>
                                </m:r>
                              </m:e>
                              <m:sub>
                                <m:r>
                                  <a:rPr kumimoji="0" lang="en-US" altLang="zh-CN" sz="2400" b="0" i="1" u="none" strike="noStrike" kern="1200" cap="none" spc="0" normalizeH="0" baseline="0" noProof="0">
                                    <a:ln>
                                      <a:noFill/>
                                    </a:ln>
                                    <a:solidFill>
                                      <a:prstClr val="black"/>
                                    </a:solidFill>
                                    <a:effectLst/>
                                    <a:uLnTx/>
                                    <a:uFillTx/>
                                    <a:cs typeface="+mn-cs"/>
                                  </a:rPr>
                                  <m:t>𝑖</m:t>
                                </m:r>
                              </m:sub>
                            </m:sSub>
                            <m:r>
                              <a:rPr kumimoji="0" lang="en-US" altLang="zh-CN" sz="2400" b="0" i="1" u="none" strike="noStrike" kern="1200" cap="none" spc="0" normalizeH="0" baseline="0" noProof="0">
                                <a:ln>
                                  <a:noFill/>
                                </a:ln>
                                <a:solidFill>
                                  <a:prstClr val="black"/>
                                </a:solidFill>
                                <a:effectLst/>
                                <a:uLnTx/>
                                <a:uFillTx/>
                                <a:cs typeface="+mn-cs"/>
                              </a:rPr>
                              <m:t>)</m:t>
                            </m:r>
                          </m:e>
                          <m:sup>
                            <m:r>
                              <a:rPr kumimoji="0" lang="en-US" altLang="zh-CN" sz="2400" b="0" i="1" u="none" strike="noStrike" kern="1200" cap="none" spc="0" normalizeH="0" baseline="0" noProof="0">
                                <a:ln>
                                  <a:noFill/>
                                </a:ln>
                                <a:solidFill>
                                  <a:prstClr val="black"/>
                                </a:solidFill>
                                <a:effectLst/>
                                <a:uLnTx/>
                                <a:uFillTx/>
                                <a:cs typeface="+mn-cs"/>
                              </a:rPr>
                              <m:t>2</m:t>
                            </m:r>
                          </m:sup>
                        </m:sSup>
                      </m:e>
                    </m:nary>
                  </m:oMath>
                </a14:m>
                <a:r>
                  <a:rPr kumimoji="0" lang="zh-CN" altLang="zh-CN" sz="2400" b="0" i="0" u="none" strike="noStrike" kern="1200" cap="none" spc="0" normalizeH="0" baseline="0" noProof="0" dirty="0">
                    <a:ln>
                      <a:noFill/>
                    </a:ln>
                    <a:solidFill>
                      <a:prstClr val="black"/>
                    </a:solidFill>
                    <a:effectLst/>
                    <a:uLnTx/>
                    <a:uFillTx/>
                    <a:cs typeface="+mn-cs"/>
                  </a:rPr>
                  <a:t>。</a:t>
                </a:r>
                <a:endParaRPr kumimoji="0" lang="zh-CN" altLang="en-US" sz="2400" b="0" i="0" u="none" strike="noStrike" kern="1200" cap="none" spc="0" normalizeH="0" baseline="0" noProof="0" dirty="0">
                  <a:ln>
                    <a:noFill/>
                  </a:ln>
                  <a:solidFill>
                    <a:prstClr val="black"/>
                  </a:solidFill>
                  <a:effectLst/>
                  <a:uLnTx/>
                  <a:uFillTx/>
                  <a:cs typeface="+mn-cs"/>
                </a:endParaRPr>
              </a:p>
            </p:txBody>
          </p:sp>
        </mc:Choice>
        <mc:Fallback>
          <p:sp>
            <p:nvSpPr>
              <p:cNvPr id="3" name="矩形 2"/>
              <p:cNvSpPr>
                <a:spLocks noRot="1" noChangeAspect="1" noMove="1" noResize="1" noEditPoints="1" noAdjustHandles="1" noChangeArrowheads="1" noChangeShapeType="1" noTextEdit="1"/>
              </p:cNvSpPr>
              <p:nvPr/>
            </p:nvSpPr>
            <p:spPr>
              <a:xfrm>
                <a:off x="517792" y="1214368"/>
                <a:ext cx="8108415" cy="4635115"/>
              </a:xfrm>
              <a:prstGeom prst="rect">
                <a:avLst/>
              </a:prstGeom>
              <a:blipFill>
                <a:blip r:embed="rId2"/>
                <a:stretch>
                  <a:fillRect l="-1053" r="-5639"/>
                </a:stretch>
              </a:blipFill>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502F6356-806F-CFBF-F9A5-9D8003D94FD5}"/>
              </a:ext>
            </a:extLst>
          </p:cNvPr>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Tree>
    <p:extLst>
      <p:ext uri="{BB962C8B-B14F-4D97-AF65-F5344CB8AC3E}">
        <p14:creationId xmlns:p14="http://schemas.microsoft.com/office/powerpoint/2010/main" val="372887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p:nvPr/>
            </p:nvSpPr>
            <p:spPr>
              <a:xfrm>
                <a:off x="677924" y="1135494"/>
                <a:ext cx="7704076" cy="5176995"/>
              </a:xfrm>
              <a:prstGeom prst="rect">
                <a:avLst/>
              </a:prstGeom>
            </p:spPr>
            <p:txBody>
              <a:bodyPr wrap="square">
                <a:spAutoFit/>
              </a:bodyPr>
              <a:lstStyle/>
              <a:p>
                <a:pPr marL="457200" marR="0" lvl="0" indent="-457200" algn="just"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损失函数</a:t>
                </a:r>
                <a14:m>
                  <m:oMath xmlns:m="http://schemas.openxmlformats.org/officeDocument/2006/math">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ℒ</m:t>
                    </m:r>
                  </m:oMath>
                </a14:m>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对参数</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7</m:t>
                        </m:r>
                      </m:sub>
                    </m:sSub>
                  </m:oMath>
                </a14:m>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的偏导可如下计算：</a:t>
                </a:r>
              </a:p>
              <a:p>
                <a:pPr marR="0" lvl="0" algn="just" defTabSz="914400" rtl="0" eaLnBrk="1" fontAlgn="auto" latinLnBrk="0" hangingPunct="1">
                  <a:lnSpc>
                    <a:spcPct val="13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7</m:t>
                          </m:r>
                        </m:sub>
                      </m:s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7</m:t>
                              </m:r>
                            </m:sub>
                          </m:sSub>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 </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num>
                        <m:den>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 </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7</m:t>
                              </m:r>
                            </m:sub>
                          </m:sSub>
                        </m:den>
                      </m:f>
                    </m:oMath>
                  </m:oMathPara>
                </a14:m>
                <a:endPar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endParaRPr>
              </a:p>
              <a:p>
                <a:pPr marL="457200" marR="0" lvl="0" indent="-457200" algn="just"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上述公式中每一项结果如下：</a:t>
                </a:r>
              </a:p>
              <a:p>
                <a:pPr marR="0" lvl="0" algn="just" defTabSz="914400" rtl="0" eaLnBrk="1" fontAlgn="auto" latinLnBrk="0" hangingPunct="1">
                  <a:lnSpc>
                    <a:spcPct val="13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m:oMathPara>
                </a14:m>
                <a:endPar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endParaRPr>
              </a:p>
              <a:p>
                <a:pPr marR="0" lvl="0" algn="just" defTabSz="914400" rtl="0" eaLnBrk="1" fontAlgn="auto" latinLnBrk="0" hangingPunct="1">
                  <a:lnSpc>
                    <a:spcPct val="13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num>
                        <m:den>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∗(1 −</m:t>
                      </m:r>
                      <m:acc>
                        <m:accPr>
                          <m:chr m:val="̂"/>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endParaRPr>
              </a:p>
              <a:p>
                <a:pPr marR="0" lvl="0" algn="just" defTabSz="914400" rtl="0" eaLnBrk="1" fontAlgn="auto" latinLnBrk="0" hangingPunct="1">
                  <a:lnSpc>
                    <a:spcPct val="13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7</m:t>
                              </m:r>
                            </m:sub>
                          </m:sSub>
                        </m:den>
                      </m:f>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oMath>
                  </m:oMathPara>
                </a14:m>
                <a:endPar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p:sp>
            <p:nvSpPr>
              <p:cNvPr id="4" name="矩形 3"/>
              <p:cNvSpPr>
                <a:spLocks noRot="1" noChangeAspect="1" noMove="1" noResize="1" noEditPoints="1" noAdjustHandles="1" noChangeArrowheads="1" noChangeShapeType="1" noTextEdit="1"/>
              </p:cNvSpPr>
              <p:nvPr/>
            </p:nvSpPr>
            <p:spPr>
              <a:xfrm>
                <a:off x="677924" y="1135494"/>
                <a:ext cx="7704076" cy="5176995"/>
              </a:xfrm>
              <a:prstGeom prst="rect">
                <a:avLst/>
              </a:prstGeom>
              <a:blipFill>
                <a:blip r:embed="rId2"/>
                <a:stretch>
                  <a:fillRect l="-1028" t="-118"/>
                </a:stretch>
              </a:blipFill>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E246F400-0BF9-559B-F789-C778EE4E305D}"/>
              </a:ext>
            </a:extLst>
          </p:cNvPr>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Tree>
    <p:extLst>
      <p:ext uri="{BB962C8B-B14F-4D97-AF65-F5344CB8AC3E}">
        <p14:creationId xmlns:p14="http://schemas.microsoft.com/office/powerpoint/2010/main" val="179530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75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443429" y="1093456"/>
                <a:ext cx="4572000" cy="5385129"/>
              </a:xfrm>
              <a:prstGeom prst="rect">
                <a:avLst/>
              </a:prstGeom>
            </p:spPr>
            <p:txBody>
              <a:bodyPr>
                <a:spAutoFit/>
              </a:bodyPr>
              <a:lstStyle/>
              <a:p>
                <a:pPr marL="355600" marR="0" lvl="0" indent="-355600" algn="l"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下面以</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为例介绍损失函数</a:t>
                </a:r>
                <a14:m>
                  <m:oMath xmlns:m="http://schemas.openxmlformats.org/officeDocument/2006/math">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ℒ</m:t>
                    </m:r>
                  </m:oMath>
                </a14:m>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对</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的偏导</a:t>
                </a:r>
                <a14:m>
                  <m:oMath xmlns:m="http://schemas.openxmlformats.org/officeDocument/2006/math">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oMath>
                </a14:m>
                <a:r>
                  <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m:rPr>
                          <m:aln/>
                        </m:rP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oMath>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 </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r>
                        <a:rPr kumimoji="0" lang="en-US" altLang="zh-CN" sz="1600" b="0" i="0"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oMath>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oMath>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d>
                        <m:d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ℒ</m:t>
                              </m:r>
                            </m:num>
                            <m:den>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e>
                              </m:acc>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acc>
                                <m:accPr>
                                  <m:chr m:val="̂"/>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𝑦</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e>
                              </m:acc>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𝑜</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e>
                      </m:d>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oMath>
                    <m:oMath xmlns:m="http://schemas.openxmlformats.org/officeDocument/2006/math">
                      <m:r>
                        <m:rPr>
                          <m:aln/>
                        </m:rP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7</m:t>
                          </m:r>
                        </m:sub>
                      </m:s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8</m:t>
                          </m:r>
                        </m:sub>
                      </m:s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𝛿</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9</m:t>
                          </m:r>
                        </m:sub>
                      </m:s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𝑂𝑢𝑡</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den>
                      </m:f>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𝐼𝑛</m:t>
                              </m:r>
                            </m:e>
                            <m:sub>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sub>
                          </m:sSub>
                        </m:num>
                        <m:den>
                          <m:sSub>
                            <m:sSubPr>
                              <m:ctrlPr>
                                <a:rPr kumimoji="0" lang="zh-CN"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𝑤</m:t>
                              </m:r>
                            </m:e>
                            <m:sub>
                              <m:r>
                                <a:rPr kumimoji="0" lang="en-US" altLang="zh-CN" sz="16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en>
                      </m:f>
                    </m:oMath>
                  </m:oMathPara>
                </a14:m>
                <a:endParaRPr kumimoji="0" lang="zh-CN" altLang="zh-CN" sz="16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p:sp>
            <p:nvSpPr>
              <p:cNvPr id="3" name="矩形 2"/>
              <p:cNvSpPr>
                <a:spLocks noRot="1" noChangeAspect="1" noMove="1" noResize="1" noEditPoints="1" noAdjustHandles="1" noChangeArrowheads="1" noChangeShapeType="1" noTextEdit="1"/>
              </p:cNvSpPr>
              <p:nvPr/>
            </p:nvSpPr>
            <p:spPr>
              <a:xfrm>
                <a:off x="443429" y="1093456"/>
                <a:ext cx="4572000" cy="5385129"/>
              </a:xfrm>
              <a:prstGeom prst="rect">
                <a:avLst/>
              </a:prstGeom>
              <a:blipFill>
                <a:blip r:embed="rId2"/>
                <a:stretch>
                  <a:fillRect l="-1867" t="-1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5015429" y="1093456"/>
                <a:ext cx="3610412" cy="5216108"/>
              </a:xfrm>
              <a:prstGeom prst="rect">
                <a:avLst/>
              </a:prstGeom>
            </p:spPr>
            <p:txBody>
              <a:bodyPr wrap="square">
                <a:spAutoFit/>
              </a:bodyPr>
              <a:lstStyle/>
              <a:p>
                <a:pPr marL="285750" marR="0" lvl="0" indent="-285750" algn="just"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zh-CN" sz="2600" b="0" i="0" u="none" strike="noStrike" kern="1200" cap="none" spc="0" normalizeH="0" baseline="0" noProof="0" dirty="0">
                    <a:ln>
                      <a:noFill/>
                    </a:ln>
                    <a:solidFill>
                      <a:prstClr val="black"/>
                    </a:solidFill>
                    <a:effectLst/>
                    <a:uLnTx/>
                    <a:uFillTx/>
                    <a:latin typeface="+mn-ea"/>
                    <a:cs typeface="+mn-cs"/>
                  </a:rPr>
                  <a:t>在计算得到所有参数相对于损失函数</a:t>
                </a:r>
                <a14:m>
                  <m:oMath xmlns:m="http://schemas.openxmlformats.org/officeDocument/2006/math">
                    <m:r>
                      <a:rPr kumimoji="0" lang="en-US" altLang="zh-CN" sz="2600" b="0" i="1" u="none" strike="noStrike" kern="1200" cap="none" spc="0" normalizeH="0" baseline="0" noProof="0">
                        <a:ln>
                          <a:noFill/>
                        </a:ln>
                        <a:solidFill>
                          <a:prstClr val="black"/>
                        </a:solidFill>
                        <a:effectLst/>
                        <a:uLnTx/>
                        <a:uFillTx/>
                        <a:latin typeface="+mn-ea"/>
                        <a:cs typeface="+mn-cs"/>
                      </a:rPr>
                      <m:t>ℒ</m:t>
                    </m:r>
                  </m:oMath>
                </a14:m>
                <a:r>
                  <a:rPr kumimoji="0" lang="zh-CN" altLang="zh-CN" sz="2600" b="0" i="0" u="none" strike="noStrike" kern="1200" cap="none" spc="0" normalizeH="0" baseline="0" noProof="0" dirty="0">
                    <a:ln>
                      <a:noFill/>
                    </a:ln>
                    <a:solidFill>
                      <a:prstClr val="black"/>
                    </a:solidFill>
                    <a:effectLst/>
                    <a:uLnTx/>
                    <a:uFillTx/>
                    <a:latin typeface="+mn-ea"/>
                    <a:cs typeface="+mn-cs"/>
                  </a:rPr>
                  <a:t>的偏导结果后，利用梯度下降算法，通过</a:t>
                </a:r>
                <a14:m>
                  <m:oMath xmlns:m="http://schemas.openxmlformats.org/officeDocument/2006/math">
                    <m:sSubSup>
                      <m:sSubSupPr>
                        <m:ctrlPr>
                          <a:rPr kumimoji="0" lang="zh-CN" altLang="zh-CN" sz="2600" b="0" i="1" u="none" strike="noStrike" kern="1200" cap="none" spc="0" normalizeH="0" baseline="0" noProof="0">
                            <a:ln>
                              <a:noFill/>
                            </a:ln>
                            <a:solidFill>
                              <a:prstClr val="black"/>
                            </a:solidFill>
                            <a:effectLst/>
                            <a:uLnTx/>
                            <a:uFillTx/>
                            <a:latin typeface="+mn-ea"/>
                            <a:cs typeface="+mn-cs"/>
                          </a:rPr>
                        </m:ctrlPr>
                      </m:sSubSupPr>
                      <m:e>
                        <m:r>
                          <a:rPr kumimoji="0" lang="en-US" altLang="zh-CN" sz="2600" b="0" i="1" u="none" strike="noStrike" kern="1200" cap="none" spc="0" normalizeH="0" baseline="0" noProof="0">
                            <a:ln>
                              <a:noFill/>
                            </a:ln>
                            <a:solidFill>
                              <a:prstClr val="black"/>
                            </a:solidFill>
                            <a:effectLst/>
                            <a:uLnTx/>
                            <a:uFillTx/>
                            <a:latin typeface="+mn-ea"/>
                            <a:cs typeface="+mn-cs"/>
                          </a:rPr>
                          <m:t>𝑤</m:t>
                        </m:r>
                      </m:e>
                      <m:sub>
                        <m:r>
                          <a:rPr kumimoji="0" lang="en-US" altLang="zh-CN" sz="2600" b="0" i="1" u="none" strike="noStrike" kern="1200" cap="none" spc="0" normalizeH="0" baseline="0" noProof="0">
                            <a:ln>
                              <a:noFill/>
                            </a:ln>
                            <a:solidFill>
                              <a:prstClr val="black"/>
                            </a:solidFill>
                            <a:effectLst/>
                            <a:uLnTx/>
                            <a:uFillTx/>
                            <a:latin typeface="+mn-ea"/>
                            <a:cs typeface="+mn-cs"/>
                          </a:rPr>
                          <m:t>𝑖</m:t>
                        </m:r>
                      </m:sub>
                      <m:sup>
                        <m:r>
                          <a:rPr kumimoji="0" lang="en-US" altLang="zh-CN" sz="2600" b="0" i="1" u="none" strike="noStrike" kern="1200" cap="none" spc="0" normalizeH="0" baseline="0" noProof="0">
                            <a:ln>
                              <a:noFill/>
                            </a:ln>
                            <a:solidFill>
                              <a:prstClr val="black"/>
                            </a:solidFill>
                            <a:effectLst/>
                            <a:uLnTx/>
                            <a:uFillTx/>
                            <a:latin typeface="+mn-ea"/>
                            <a:cs typeface="+mn-cs"/>
                          </a:rPr>
                          <m:t>𝑛𝑒𝑤</m:t>
                        </m:r>
                      </m:sup>
                    </m:sSubSup>
                    <m:r>
                      <a:rPr kumimoji="0" lang="en-US" altLang="zh-CN" sz="2600" b="0" i="1" u="none" strike="noStrike" kern="1200" cap="none" spc="0" normalizeH="0" baseline="0" noProof="0">
                        <a:ln>
                          <a:noFill/>
                        </a:ln>
                        <a:solidFill>
                          <a:prstClr val="black"/>
                        </a:solidFill>
                        <a:effectLst/>
                        <a:uLnTx/>
                        <a:uFillTx/>
                        <a:latin typeface="+mn-ea"/>
                        <a:cs typeface="+mn-cs"/>
                      </a:rPr>
                      <m:t>= </m:t>
                    </m:r>
                    <m:sSub>
                      <m:sSubPr>
                        <m:ctrlPr>
                          <a:rPr kumimoji="0" lang="zh-CN" altLang="zh-CN" sz="2600" b="0" i="1" u="none" strike="noStrike" kern="1200" cap="none" spc="0" normalizeH="0" baseline="0" noProof="0">
                            <a:ln>
                              <a:noFill/>
                            </a:ln>
                            <a:solidFill>
                              <a:prstClr val="black"/>
                            </a:solidFill>
                            <a:effectLst/>
                            <a:uLnTx/>
                            <a:uFillTx/>
                            <a:latin typeface="+mn-ea"/>
                            <a:cs typeface="+mn-cs"/>
                          </a:rPr>
                        </m:ctrlPr>
                      </m:sSubPr>
                      <m:e>
                        <m:r>
                          <a:rPr kumimoji="0" lang="en-US" altLang="zh-CN" sz="2600" b="0" i="1" u="none" strike="noStrike" kern="1200" cap="none" spc="0" normalizeH="0" baseline="0" noProof="0">
                            <a:ln>
                              <a:noFill/>
                            </a:ln>
                            <a:solidFill>
                              <a:prstClr val="black"/>
                            </a:solidFill>
                            <a:effectLst/>
                            <a:uLnTx/>
                            <a:uFillTx/>
                            <a:latin typeface="+mn-ea"/>
                            <a:cs typeface="+mn-cs"/>
                          </a:rPr>
                          <m:t>𝑤</m:t>
                        </m:r>
                      </m:e>
                      <m:sub>
                        <m:r>
                          <a:rPr kumimoji="0" lang="en-US" altLang="zh-CN" sz="2600" b="0" i="1" u="none" strike="noStrike" kern="1200" cap="none" spc="0" normalizeH="0" baseline="0" noProof="0">
                            <a:ln>
                              <a:noFill/>
                            </a:ln>
                            <a:solidFill>
                              <a:prstClr val="black"/>
                            </a:solidFill>
                            <a:effectLst/>
                            <a:uLnTx/>
                            <a:uFillTx/>
                            <a:latin typeface="+mn-ea"/>
                            <a:cs typeface="+mn-cs"/>
                          </a:rPr>
                          <m:t>𝑖</m:t>
                        </m:r>
                      </m:sub>
                    </m:sSub>
                    <m:r>
                      <a:rPr kumimoji="0" lang="en-US" altLang="zh-CN" sz="2600" b="0" i="1" u="none" strike="noStrike" kern="1200" cap="none" spc="0" normalizeH="0" baseline="0" noProof="0">
                        <a:ln>
                          <a:noFill/>
                        </a:ln>
                        <a:solidFill>
                          <a:prstClr val="black"/>
                        </a:solidFill>
                        <a:effectLst/>
                        <a:uLnTx/>
                        <a:uFillTx/>
                        <a:latin typeface="+mn-ea"/>
                        <a:cs typeface="+mn-cs"/>
                      </a:rPr>
                      <m:t> − </m:t>
                    </m:r>
                    <m:r>
                      <a:rPr kumimoji="0" lang="en-US" altLang="zh-CN" sz="2600" b="0" i="1" u="none" strike="noStrike" kern="1200" cap="none" spc="0" normalizeH="0" baseline="0" noProof="0">
                        <a:ln>
                          <a:noFill/>
                        </a:ln>
                        <a:solidFill>
                          <a:prstClr val="black"/>
                        </a:solidFill>
                        <a:effectLst/>
                        <a:uLnTx/>
                        <a:uFillTx/>
                        <a:latin typeface="+mn-ea"/>
                        <a:cs typeface="+mn-cs"/>
                      </a:rPr>
                      <m:t>𝜂</m:t>
                    </m:r>
                    <m:r>
                      <a:rPr kumimoji="0" lang="en-US" altLang="zh-CN" sz="2600" b="0" i="1" u="none" strike="noStrike" kern="1200" cap="none" spc="0" normalizeH="0" baseline="0" noProof="0">
                        <a:ln>
                          <a:noFill/>
                        </a:ln>
                        <a:solidFill>
                          <a:prstClr val="black"/>
                        </a:solidFill>
                        <a:effectLst/>
                        <a:uLnTx/>
                        <a:uFillTx/>
                        <a:latin typeface="+mn-ea"/>
                        <a:cs typeface="+mn-cs"/>
                      </a:rPr>
                      <m:t> ∗ </m:t>
                    </m:r>
                    <m:sSub>
                      <m:sSubPr>
                        <m:ctrlPr>
                          <a:rPr kumimoji="0" lang="zh-CN" altLang="zh-CN" sz="2600" b="0" i="1" u="none" strike="noStrike" kern="1200" cap="none" spc="0" normalizeH="0" baseline="0" noProof="0">
                            <a:ln>
                              <a:noFill/>
                            </a:ln>
                            <a:solidFill>
                              <a:prstClr val="black"/>
                            </a:solidFill>
                            <a:effectLst/>
                            <a:uLnTx/>
                            <a:uFillTx/>
                            <a:latin typeface="+mn-ea"/>
                            <a:cs typeface="+mn-cs"/>
                          </a:rPr>
                        </m:ctrlPr>
                      </m:sSubPr>
                      <m:e>
                        <m:r>
                          <a:rPr kumimoji="0" lang="en-US" altLang="zh-CN" sz="2600" b="0" i="1" u="none" strike="noStrike" kern="1200" cap="none" spc="0" normalizeH="0" baseline="0" noProof="0">
                            <a:ln>
                              <a:noFill/>
                            </a:ln>
                            <a:solidFill>
                              <a:prstClr val="black"/>
                            </a:solidFill>
                            <a:effectLst/>
                            <a:uLnTx/>
                            <a:uFillTx/>
                            <a:latin typeface="+mn-ea"/>
                            <a:cs typeface="+mn-cs"/>
                          </a:rPr>
                          <m:t>𝛿</m:t>
                        </m:r>
                      </m:e>
                      <m:sub>
                        <m:r>
                          <a:rPr kumimoji="0" lang="en-US" altLang="zh-CN" sz="2600" b="0" i="1" u="none" strike="noStrike" kern="1200" cap="none" spc="0" normalizeH="0" baseline="0" noProof="0">
                            <a:ln>
                              <a:noFill/>
                            </a:ln>
                            <a:solidFill>
                              <a:prstClr val="black"/>
                            </a:solidFill>
                            <a:effectLst/>
                            <a:uLnTx/>
                            <a:uFillTx/>
                            <a:latin typeface="+mn-ea"/>
                            <a:cs typeface="+mn-cs"/>
                          </a:rPr>
                          <m:t>𝑖</m:t>
                        </m:r>
                      </m:sub>
                    </m:sSub>
                  </m:oMath>
                </a14:m>
                <a:r>
                  <a:rPr kumimoji="0" lang="zh-CN" altLang="zh-CN" sz="2600" b="0" i="0" u="none" strike="noStrike" kern="1200" cap="none" spc="0" normalizeH="0" baseline="0" noProof="0" dirty="0">
                    <a:ln>
                      <a:noFill/>
                    </a:ln>
                    <a:solidFill>
                      <a:prstClr val="black"/>
                    </a:solidFill>
                    <a:effectLst/>
                    <a:uLnTx/>
                    <a:uFillTx/>
                    <a:latin typeface="+mn-ea"/>
                    <a:cs typeface="+mn-cs"/>
                  </a:rPr>
                  <a:t>来更新参数取值。然后不断迭代，直至模型参数收敛，此时损失函数减少到其最小值。</a:t>
                </a:r>
              </a:p>
            </p:txBody>
          </p:sp>
        </mc:Choice>
        <mc:Fallback>
          <p:sp>
            <p:nvSpPr>
              <p:cNvPr id="5" name="矩形 4"/>
              <p:cNvSpPr>
                <a:spLocks noRot="1" noChangeAspect="1" noMove="1" noResize="1" noEditPoints="1" noAdjustHandles="1" noChangeArrowheads="1" noChangeShapeType="1" noTextEdit="1"/>
              </p:cNvSpPr>
              <p:nvPr/>
            </p:nvSpPr>
            <p:spPr>
              <a:xfrm>
                <a:off x="5015429" y="1093456"/>
                <a:ext cx="3610412" cy="5216108"/>
              </a:xfrm>
              <a:prstGeom prst="rect">
                <a:avLst/>
              </a:prstGeom>
              <a:blipFill>
                <a:blip r:embed="rId3"/>
                <a:stretch>
                  <a:fillRect l="-2703" t="-117" r="-3041" b="-2103"/>
                </a:stretch>
              </a:blipFill>
            </p:spPr>
            <p:txBody>
              <a:bodyPr/>
              <a:lstStyle/>
              <a:p>
                <a:r>
                  <a:rPr lang="zh-CN" altLang="en-US">
                    <a:noFill/>
                  </a:rPr>
                  <a:t> </a:t>
                </a:r>
              </a:p>
            </p:txBody>
          </p:sp>
        </mc:Fallback>
      </mc:AlternateContent>
      <p:sp>
        <p:nvSpPr>
          <p:cNvPr id="8" name="标题 1">
            <a:extLst>
              <a:ext uri="{FF2B5EF4-FFF2-40B4-BE49-F238E27FC236}">
                <a16:creationId xmlns:a16="http://schemas.microsoft.com/office/drawing/2014/main" id="{8E99B6C9-8E51-72FC-6515-BED080291CA3}"/>
              </a:ext>
            </a:extLst>
          </p:cNvPr>
          <p:cNvSpPr>
            <a:spLocks noGrp="1"/>
          </p:cNvSpPr>
          <p:nvPr>
            <p:ph type="title"/>
          </p:nvPr>
        </p:nvSpPr>
        <p:spPr>
          <a:xfrm>
            <a:off x="353548" y="123628"/>
            <a:ext cx="750770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参数优化：误差反向传播</a:t>
            </a:r>
          </a:p>
        </p:txBody>
      </p:sp>
    </p:spTree>
    <p:extLst>
      <p:ext uri="{BB962C8B-B14F-4D97-AF65-F5344CB8AC3E}">
        <p14:creationId xmlns:p14="http://schemas.microsoft.com/office/powerpoint/2010/main" val="35678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32" y="2341463"/>
            <a:ext cx="6406227" cy="2429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 name="组合 4">
            <a:extLst>
              <a:ext uri="{FF2B5EF4-FFF2-40B4-BE49-F238E27FC236}">
                <a16:creationId xmlns:a16="http://schemas.microsoft.com/office/drawing/2014/main" id="{CD3DA0AB-BF0C-921F-6B0F-925F550F4B1E}"/>
              </a:ext>
            </a:extLst>
          </p:cNvPr>
          <p:cNvGrpSpPr/>
          <p:nvPr/>
        </p:nvGrpSpPr>
        <p:grpSpPr>
          <a:xfrm>
            <a:off x="1852506" y="4747820"/>
            <a:ext cx="4930225" cy="677429"/>
            <a:chOff x="1979854" y="4917248"/>
            <a:chExt cx="4104266" cy="677429"/>
          </a:xfrm>
        </p:grpSpPr>
        <p:sp>
          <p:nvSpPr>
            <p:cNvPr id="6" name="圆角矩形 5"/>
            <p:cNvSpPr/>
            <p:nvPr/>
          </p:nvSpPr>
          <p:spPr bwMode="auto">
            <a:xfrm>
              <a:off x="1979854" y="4917344"/>
              <a:ext cx="812801" cy="677333"/>
            </a:xfrm>
            <a:prstGeom prst="roundRect">
              <a:avLst/>
            </a:prstGeom>
            <a:solidFill>
              <a:srgbClr val="FFC000"/>
            </a:solidFill>
            <a:ln>
              <a:headEnd type="none" w="med" len="med"/>
              <a:tailEnd type="none" w="med" len="med"/>
            </a:ln>
            <a:effectLst>
              <a:outerShdw blurRad="40000" dist="20000" dir="5400000" rotWithShape="0">
                <a:srgbClr val="000000">
                  <a:alpha val="38000"/>
                </a:srgbClr>
              </a:outerShdw>
              <a:reflection blurRad="6350" stA="52000" endA="300" endPos="35000" dir="5400000" sy="-100000" algn="bl" rotWithShape="0"/>
            </a:effectLst>
            <a:scene3d>
              <a:camera prst="orthographicFront"/>
              <a:lightRig rig="threePt" dir="t"/>
            </a:scene3d>
            <a:sp3d>
              <a:bevelT w="190500" h="63500"/>
            </a:sp3d>
          </p:spPr>
          <p:style>
            <a:lnRef idx="1">
              <a:schemeClr val="accent2"/>
            </a:lnRef>
            <a:fillRef idx="2">
              <a:schemeClr val="accent2"/>
            </a:fillRef>
            <a:effectRef idx="1">
              <a:schemeClr val="accent2"/>
            </a:effectRef>
            <a:fontRef idx="minor">
              <a:schemeClr val="dk1"/>
            </a:fontRef>
          </p:style>
          <p:txBody>
            <a:bodyPr wrap="none" t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 </a:t>
              </a:r>
              <a:endParaRPr kumimoji="0" lang="en-US" altLang="zh-CN" sz="20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第一层</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关键点</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p:txBody>
        </p:sp>
        <p:sp>
          <p:nvSpPr>
            <p:cNvPr id="7" name="圆角矩形 6"/>
            <p:cNvSpPr/>
            <p:nvPr/>
          </p:nvSpPr>
          <p:spPr bwMode="auto">
            <a:xfrm>
              <a:off x="3063587" y="4917344"/>
              <a:ext cx="812801" cy="677333"/>
            </a:xfrm>
            <a:prstGeom prst="roundRect">
              <a:avLst/>
            </a:prstGeom>
            <a:solidFill>
              <a:srgbClr val="FFC000"/>
            </a:solidFill>
            <a:ln>
              <a:headEnd type="none" w="med" len="med"/>
              <a:tailEnd type="none" w="med" len="med"/>
            </a:ln>
            <a:effectLst>
              <a:outerShdw blurRad="40000" dist="20000" dir="5400000" rotWithShape="0">
                <a:srgbClr val="000000">
                  <a:alpha val="38000"/>
                </a:srgbClr>
              </a:outerShdw>
              <a:reflection blurRad="6350" stA="52000" endA="300" endPos="35000" dir="5400000" sy="-100000" algn="bl" rotWithShape="0"/>
            </a:effectLst>
            <a:scene3d>
              <a:camera prst="orthographicFront"/>
              <a:lightRig rig="threePt" dir="t"/>
            </a:scene3d>
            <a:sp3d>
              <a:bevelT w="190500" h="63500"/>
            </a:sp3d>
          </p:spPr>
          <p:style>
            <a:lnRef idx="1">
              <a:schemeClr val="accent2"/>
            </a:lnRef>
            <a:fillRef idx="2">
              <a:schemeClr val="accent2"/>
            </a:fillRef>
            <a:effectRef idx="1">
              <a:schemeClr val="accent2"/>
            </a:effectRef>
            <a:fontRef idx="minor">
              <a:schemeClr val="dk1"/>
            </a:fontRef>
          </p:style>
          <p:txBody>
            <a:bodyPr wrap="none" t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 </a:t>
              </a:r>
              <a:endParaRPr kumimoji="0" lang="en-US" altLang="zh-CN" sz="20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第二层</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边界点</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p:txBody>
        </p:sp>
        <p:sp>
          <p:nvSpPr>
            <p:cNvPr id="8" name="圆角矩形 7"/>
            <p:cNvSpPr/>
            <p:nvPr/>
          </p:nvSpPr>
          <p:spPr bwMode="auto">
            <a:xfrm>
              <a:off x="4189653" y="4917344"/>
              <a:ext cx="812801" cy="677333"/>
            </a:xfrm>
            <a:prstGeom prst="roundRect">
              <a:avLst/>
            </a:prstGeom>
            <a:solidFill>
              <a:srgbClr val="FFC000"/>
            </a:solidFill>
            <a:ln>
              <a:headEnd type="none" w="med" len="med"/>
              <a:tailEnd type="none" w="med" len="med"/>
            </a:ln>
            <a:effectLst>
              <a:outerShdw blurRad="40000" dist="20000" dir="5400000" rotWithShape="0">
                <a:srgbClr val="000000">
                  <a:alpha val="38000"/>
                </a:srgbClr>
              </a:outerShdw>
              <a:reflection blurRad="6350" stA="52000" endA="300" endPos="35000" dir="5400000" sy="-100000" algn="bl" rotWithShape="0"/>
            </a:effectLst>
            <a:scene3d>
              <a:camera prst="orthographicFront"/>
              <a:lightRig rig="threePt" dir="t"/>
            </a:scene3d>
            <a:sp3d>
              <a:bevelT w="190500" h="63500"/>
            </a:sp3d>
          </p:spPr>
          <p:style>
            <a:lnRef idx="1">
              <a:schemeClr val="accent2"/>
            </a:lnRef>
            <a:fillRef idx="2">
              <a:schemeClr val="accent2"/>
            </a:fillRef>
            <a:effectRef idx="1">
              <a:schemeClr val="accent2"/>
            </a:effectRef>
            <a:fontRef idx="minor">
              <a:schemeClr val="dk1"/>
            </a:fontRef>
          </p:style>
          <p:txBody>
            <a:bodyPr wrap="none" t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第三层</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组件</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p:txBody>
        </p:sp>
        <p:sp>
          <p:nvSpPr>
            <p:cNvPr id="9" name="圆角矩形 8"/>
            <p:cNvSpPr/>
            <p:nvPr/>
          </p:nvSpPr>
          <p:spPr bwMode="auto">
            <a:xfrm>
              <a:off x="5271319" y="4917248"/>
              <a:ext cx="812801" cy="677333"/>
            </a:xfrm>
            <a:prstGeom prst="roundRect">
              <a:avLst/>
            </a:prstGeom>
            <a:solidFill>
              <a:srgbClr val="FFC000"/>
            </a:solidFill>
            <a:ln>
              <a:headEnd type="none" w="med" len="med"/>
              <a:tailEnd type="none" w="med" len="med"/>
            </a:ln>
            <a:effectLst>
              <a:outerShdw blurRad="40000" dist="20000" dir="5400000" rotWithShape="0">
                <a:srgbClr val="000000">
                  <a:alpha val="38000"/>
                </a:srgbClr>
              </a:outerShdw>
              <a:reflection blurRad="6350" stA="52000" endA="300" endPos="35000" dir="5400000" sy="-100000" algn="bl" rotWithShape="0"/>
            </a:effectLst>
            <a:scene3d>
              <a:camera prst="orthographicFront"/>
              <a:lightRig rig="threePt" dir="t"/>
            </a:scene3d>
            <a:sp3d>
              <a:bevelT w="190500" h="63500"/>
            </a:sp3d>
          </p:spPr>
          <p:style>
            <a:lnRef idx="1">
              <a:schemeClr val="accent2"/>
            </a:lnRef>
            <a:fillRef idx="2">
              <a:schemeClr val="accent2"/>
            </a:fillRef>
            <a:effectRef idx="1">
              <a:schemeClr val="accent2"/>
            </a:effectRef>
            <a:fontRef idx="minor">
              <a:schemeClr val="dk1"/>
            </a:fontRef>
          </p:style>
          <p:txBody>
            <a:bodyPr wrap="none" t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第四层</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rPr>
                <a:t>特征</a:t>
              </a:r>
              <a:endParaRPr kumimoji="0" lang="en-US" altLang="zh-CN" sz="1600" b="0" i="0" u="none" strike="noStrike" kern="1200" cap="none" spc="0" normalizeH="0" baseline="0" noProof="0" dirty="0">
                <a:ln>
                  <a:noFill/>
                </a:ln>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effectLst/>
                <a:uLnTx/>
                <a:uFillTx/>
                <a:latin typeface="+mn-ea"/>
                <a:cs typeface="Times New Roman" pitchFamily="18" charset="0"/>
              </a:endParaRPr>
            </a:p>
          </p:txBody>
        </p:sp>
      </p:grpSp>
      <p:sp>
        <p:nvSpPr>
          <p:cNvPr id="10" name="椭圆 9"/>
          <p:cNvSpPr/>
          <p:nvPr/>
        </p:nvSpPr>
        <p:spPr bwMode="auto">
          <a:xfrm>
            <a:off x="7360586" y="3196397"/>
            <a:ext cx="1093547" cy="684715"/>
          </a:xfrm>
          <a:prstGeom prst="ellipse">
            <a:avLst/>
          </a:prstGeom>
          <a:solidFill>
            <a:srgbClr val="C00000"/>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dog</a:t>
            </a:r>
          </a:p>
        </p:txBody>
      </p:sp>
      <p:sp>
        <p:nvSpPr>
          <p:cNvPr id="11" name="椭圆 10"/>
          <p:cNvSpPr/>
          <p:nvPr/>
        </p:nvSpPr>
        <p:spPr bwMode="auto">
          <a:xfrm>
            <a:off x="640081" y="4086228"/>
            <a:ext cx="1295748" cy="684715"/>
          </a:xfrm>
          <a:prstGeom prst="ellipse">
            <a:avLst/>
          </a:prstGeom>
          <a:solidFill>
            <a:srgbClr val="00B050"/>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white"/>
                </a:solidFill>
                <a:effectLst/>
                <a:uLnTx/>
                <a:uFillTx/>
                <a:latin typeface="+mn-ea"/>
                <a:cs typeface="Times New Roman" panose="02020603050405020304" pitchFamily="18" charset="0"/>
              </a:rPr>
              <a:t>像素点</a:t>
            </a:r>
            <a:endParaRPr kumimoji="0" lang="en-US" altLang="zh-CN" i="0" u="none" strike="noStrike" kern="1200" cap="none" spc="0" normalizeH="0" baseline="0" noProof="0" dirty="0">
              <a:ln>
                <a:noFill/>
              </a:ln>
              <a:solidFill>
                <a:prstClr val="white"/>
              </a:solidFill>
              <a:effectLst/>
              <a:uLnTx/>
              <a:uFillTx/>
              <a:latin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prstClr val="white"/>
                </a:solidFill>
                <a:effectLst/>
                <a:uLnTx/>
                <a:uFillTx/>
                <a:latin typeface="+mn-ea"/>
                <a:cs typeface="Times New Roman" panose="02020603050405020304" pitchFamily="18" charset="0"/>
              </a:rPr>
              <a:t>构成</a:t>
            </a:r>
            <a:endParaRPr kumimoji="0" lang="en-US" altLang="zh-CN" i="0" u="none" strike="noStrike" kern="1200" cap="none" spc="0" normalizeH="0" baseline="0" noProof="0" dirty="0">
              <a:ln>
                <a:noFill/>
              </a:ln>
              <a:solidFill>
                <a:prstClr val="white"/>
              </a:solidFill>
              <a:effectLst/>
              <a:uLnTx/>
              <a:uFillTx/>
              <a:latin typeface="+mn-ea"/>
              <a:cs typeface="Times New Roman" panose="02020603050405020304" pitchFamily="18" charset="0"/>
            </a:endParaRPr>
          </a:p>
        </p:txBody>
      </p:sp>
      <p:sp>
        <p:nvSpPr>
          <p:cNvPr id="4" name="椭圆形标注 3"/>
          <p:cNvSpPr/>
          <p:nvPr/>
        </p:nvSpPr>
        <p:spPr>
          <a:xfrm>
            <a:off x="4232125" y="1599118"/>
            <a:ext cx="2189768" cy="657728"/>
          </a:xfrm>
          <a:prstGeom prst="wedgeEllipseCallout">
            <a:avLst>
              <a:gd name="adj1" fmla="val -32466"/>
              <a:gd name="adj2" fmla="val 68900"/>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n-ea"/>
                <a:cs typeface="+mn-cs"/>
              </a:rPr>
              <a:t>调节参数</a:t>
            </a:r>
          </a:p>
        </p:txBody>
      </p:sp>
      <p:sp>
        <p:nvSpPr>
          <p:cNvPr id="2" name="左大括号 1"/>
          <p:cNvSpPr/>
          <p:nvPr/>
        </p:nvSpPr>
        <p:spPr>
          <a:xfrm>
            <a:off x="6421893" y="1327514"/>
            <a:ext cx="619096" cy="10253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mn-ea"/>
              <a:cs typeface="+mn-cs"/>
            </a:endParaRPr>
          </a:p>
        </p:txBody>
      </p:sp>
      <p:sp>
        <p:nvSpPr>
          <p:cNvPr id="3" name="矩形 2"/>
          <p:cNvSpPr/>
          <p:nvPr/>
        </p:nvSpPr>
        <p:spPr>
          <a:xfrm>
            <a:off x="6983655" y="1106372"/>
            <a:ext cx="1917103"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n-ea"/>
                <a:cs typeface="+mn-cs"/>
              </a:rPr>
              <a:t>梯度下降</a:t>
            </a:r>
          </a:p>
        </p:txBody>
      </p:sp>
      <p:sp>
        <p:nvSpPr>
          <p:cNvPr id="13" name="矩形 12"/>
          <p:cNvSpPr/>
          <p:nvPr/>
        </p:nvSpPr>
        <p:spPr>
          <a:xfrm>
            <a:off x="6983655" y="2063141"/>
            <a:ext cx="216034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n-ea"/>
                <a:cs typeface="+mn-cs"/>
              </a:rPr>
              <a:t>误差后向传播</a:t>
            </a:r>
          </a:p>
        </p:txBody>
      </p:sp>
      <p:sp>
        <p:nvSpPr>
          <p:cNvPr id="12" name="下弧形箭头 11"/>
          <p:cNvSpPr/>
          <p:nvPr/>
        </p:nvSpPr>
        <p:spPr>
          <a:xfrm>
            <a:off x="2828878" y="5425153"/>
            <a:ext cx="3268133" cy="386121"/>
          </a:xfrm>
          <a:prstGeom prst="curvedUpArrow">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a:ea typeface="黑体" pitchFamily="49" charset="-122"/>
              <a:cs typeface="+mn-cs"/>
            </a:endParaRPr>
          </a:p>
        </p:txBody>
      </p:sp>
      <p:sp>
        <p:nvSpPr>
          <p:cNvPr id="14" name="矩形 13"/>
          <p:cNvSpPr/>
          <p:nvPr/>
        </p:nvSpPr>
        <p:spPr>
          <a:xfrm>
            <a:off x="3249612" y="5831882"/>
            <a:ext cx="3005951"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调节网络结构（炼金术）</a:t>
            </a:r>
          </a:p>
        </p:txBody>
      </p:sp>
      <p:sp>
        <p:nvSpPr>
          <p:cNvPr id="17" name="标题 1"/>
          <p:cNvSpPr>
            <a:spLocks noGrp="1"/>
          </p:cNvSpPr>
          <p:nvPr>
            <p:ph type="title"/>
          </p:nvPr>
        </p:nvSpPr>
        <p:spPr>
          <a:xfrm>
            <a:off x="241641" y="82412"/>
            <a:ext cx="8376356" cy="657727"/>
          </a:xfrm>
        </p:spPr>
        <p:txBody>
          <a:bodyPr/>
          <a:lstStyle/>
          <a:p>
            <a:pPr algn="l"/>
            <a:r>
              <a:rPr lang="zh-CN" altLang="en-US" sz="4400" dirty="0">
                <a:latin typeface="方正姚体" panose="02010601030101010101" pitchFamily="2" charset="-122"/>
                <a:ea typeface="方正姚体" panose="02010601030101010101" pitchFamily="2" charset="-122"/>
                <a:cs typeface="Times New Roman" panose="02020603050405020304" pitchFamily="18" charset="0"/>
              </a:rPr>
              <a:t>深度神经网络的拟合优化</a:t>
            </a:r>
          </a:p>
        </p:txBody>
      </p:sp>
      <mc:AlternateContent xmlns:mc="http://schemas.openxmlformats.org/markup-compatibility/2006" xmlns:a14="http://schemas.microsoft.com/office/drawing/2010/main">
        <mc:Choice Requires="a14">
          <p:sp>
            <p:nvSpPr>
              <p:cNvPr id="15" name="矩形 14"/>
              <p:cNvSpPr/>
              <p:nvPr/>
            </p:nvSpPr>
            <p:spPr>
              <a:xfrm>
                <a:off x="4429819" y="2965359"/>
                <a:ext cx="477951" cy="39164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a:cs typeface="+mn-cs"/>
                            </a:rPr>
                            <m:t>𝑤</m:t>
                          </m:r>
                        </m:e>
                        <m:sub>
                          <m:r>
                            <a:rPr kumimoji="0" lang="en-US" altLang="zh-CN" sz="1800" b="0" i="1" u="none" strike="noStrike" kern="1200" cap="none" spc="0" normalizeH="0" baseline="0" noProof="0" smtClean="0">
                              <a:ln>
                                <a:noFill/>
                              </a:ln>
                              <a:solidFill>
                                <a:prstClr val="black"/>
                              </a:solidFill>
                              <a:effectLst/>
                              <a:uLnTx/>
                              <a:uFillTx/>
                              <a:latin typeface="Cambria Math"/>
                              <a:cs typeface="+mn-cs"/>
                            </a:rPr>
                            <m:t>𝑗</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4429819" y="2224019"/>
                <a:ext cx="473142" cy="391646"/>
              </a:xfrm>
              <a:prstGeom prst="rect">
                <a:avLst/>
              </a:prstGeom>
              <a:blipFill rotWithShape="1">
                <a:blip r:embed="rId5"/>
                <a:stretch>
                  <a:fillRect b="-78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p:cNvSpPr/>
              <p:nvPr/>
            </p:nvSpPr>
            <p:spPr>
              <a:xfrm>
                <a:off x="375732" y="1074840"/>
                <a:ext cx="4373441" cy="8988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TW" altLang="en-US" sz="2400" b="0" i="1" u="none" strike="noStrike" kern="1200" cap="none" spc="0" normalizeH="0" baseline="0" noProof="0">
                              <a:ln>
                                <a:noFill/>
                              </a:ln>
                              <a:solidFill>
                                <a:prstClr val="black"/>
                              </a:solidFill>
                              <a:effectLst/>
                              <a:uLnTx/>
                              <a:uFillTx/>
                              <a:latin typeface="Cambria Math"/>
                              <a:cs typeface="+mn-cs"/>
                            </a:rPr>
                            <m:t>𝑤</m:t>
                          </m:r>
                        </m:e>
                        <m:sub>
                          <m:r>
                            <a:rPr kumimoji="0" lang="zh-TW" altLang="en-US" sz="2400" b="0" i="1" u="none" strike="noStrike" kern="1200" cap="none" spc="0" normalizeH="0" baseline="0" noProof="0">
                              <a:ln>
                                <a:noFill/>
                              </a:ln>
                              <a:solidFill>
                                <a:prstClr val="black"/>
                              </a:solidFill>
                              <a:effectLst/>
                              <a:uLnTx/>
                              <a:uFillTx/>
                              <a:latin typeface="Cambria Math"/>
                              <a:cs typeface="+mn-cs"/>
                            </a:rPr>
                            <m:t>𝑗</m:t>
                          </m:r>
                        </m:sub>
                        <m:sup>
                          <m:r>
                            <a:rPr kumimoji="0" lang="zh-TW" altLang="en-US" sz="2400" b="0" i="1" u="none" strike="noStrike" kern="1200" cap="none" spc="0" normalizeH="0" baseline="0" noProof="0">
                              <a:ln>
                                <a:noFill/>
                              </a:ln>
                              <a:solidFill>
                                <a:prstClr val="black"/>
                              </a:solidFill>
                              <a:effectLst/>
                              <a:uLnTx/>
                              <a:uFillTx/>
                              <a:latin typeface="Cambria Math"/>
                              <a:cs typeface="+mn-cs"/>
                            </a:rPr>
                            <m:t>𝑛𝑒𝑤</m:t>
                          </m:r>
                        </m:sup>
                      </m:sSubSup>
                      <m:r>
                        <a:rPr kumimoji="0" lang="zh-TW" altLang="zh-CN" sz="2400" b="0" i="1" u="none" strike="noStrike" kern="1200" cap="none" spc="0" normalizeH="0" baseline="0" noProof="0">
                          <a:ln>
                            <a:noFill/>
                          </a:ln>
                          <a:solidFill>
                            <a:prstClr val="black"/>
                          </a:solidFill>
                          <a:effectLst/>
                          <a:uLnTx/>
                          <a:uFillTx/>
                          <a:latin typeface="Cambria Math"/>
                          <a:cs typeface="+mn-cs"/>
                        </a:rPr>
                        <m:t>=</m:t>
                      </m:r>
                      <m:sSubSup>
                        <m:sSubSup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zh-TW" altLang="en-US" sz="2400" b="0" i="1" u="none" strike="noStrike" kern="1200" cap="none" spc="0" normalizeH="0" baseline="0" noProof="0">
                              <a:ln>
                                <a:noFill/>
                              </a:ln>
                              <a:solidFill>
                                <a:prstClr val="black"/>
                              </a:solidFill>
                              <a:effectLst/>
                              <a:uLnTx/>
                              <a:uFillTx/>
                              <a:latin typeface="Cambria Math"/>
                              <a:cs typeface="+mn-cs"/>
                            </a:rPr>
                            <m:t>𝑤</m:t>
                          </m:r>
                        </m:e>
                        <m:sub>
                          <m:r>
                            <a:rPr kumimoji="0" lang="zh-TW" altLang="en-US" sz="2400" b="0" i="1" u="none" strike="noStrike" kern="1200" cap="none" spc="0" normalizeH="0" baseline="0" noProof="0">
                              <a:ln>
                                <a:noFill/>
                              </a:ln>
                              <a:solidFill>
                                <a:prstClr val="black"/>
                              </a:solidFill>
                              <a:effectLst/>
                              <a:uLnTx/>
                              <a:uFillTx/>
                              <a:latin typeface="Cambria Math"/>
                              <a:cs typeface="+mn-cs"/>
                            </a:rPr>
                            <m:t>𝑗</m:t>
                          </m:r>
                        </m:sub>
                        <m:sup>
                          <m:r>
                            <a:rPr kumimoji="0" lang="zh-TW" altLang="en-US" sz="2400" b="0" i="1" u="none" strike="noStrike" kern="1200" cap="none" spc="0" normalizeH="0" baseline="0" noProof="0">
                              <a:ln>
                                <a:noFill/>
                              </a:ln>
                              <a:solidFill>
                                <a:prstClr val="black"/>
                              </a:solidFill>
                              <a:effectLst/>
                              <a:uLnTx/>
                              <a:uFillTx/>
                              <a:latin typeface="Cambria Math"/>
                              <a:cs typeface="+mn-cs"/>
                            </a:rPr>
                            <m:t>𝑜𝑙𝑑</m:t>
                          </m:r>
                        </m:sup>
                      </m:sSubSup>
                      <m:r>
                        <a:rPr kumimoji="0" lang="zh-TW" altLang="en-US" sz="2400" b="0" i="1" u="none" strike="noStrike" kern="1200" cap="none" spc="0" normalizeH="0" baseline="0" noProof="0">
                          <a:ln>
                            <a:noFill/>
                          </a:ln>
                          <a:solidFill>
                            <a:prstClr val="black"/>
                          </a:solidFill>
                          <a:effectLst/>
                          <a:uLnTx/>
                          <a:uFillTx/>
                          <a:latin typeface="Cambria Math"/>
                          <a:cs typeface="+mn-cs"/>
                        </a:rPr>
                        <m:t>−</m:t>
                      </m:r>
                      <m:r>
                        <a:rPr kumimoji="0" lang="zh-TW" altLang="en-US" sz="2400" b="0" i="1" u="none" strike="noStrike" kern="1200" cap="none" spc="0" normalizeH="0" baseline="0" noProof="0">
                          <a:ln>
                            <a:noFill/>
                          </a:ln>
                          <a:solidFill>
                            <a:prstClr val="black"/>
                          </a:solidFill>
                          <a:effectLst/>
                          <a:uLnTx/>
                          <a:uFillTx/>
                          <a:latin typeface="Cambria Math"/>
                          <a:cs typeface="+mn-cs"/>
                        </a:rPr>
                        <m:t>𝜂</m:t>
                      </m:r>
                      <m:r>
                        <a:rPr kumimoji="0" lang="zh-TW" altLang="zh-CN" sz="2400" b="0" i="1" u="none" strike="noStrike" kern="1200" cap="none" spc="0" normalizeH="0" baseline="0" noProof="0">
                          <a:ln>
                            <a:noFill/>
                          </a:ln>
                          <a:solidFill>
                            <a:prstClr val="black"/>
                          </a:solidFill>
                          <a:effectLst/>
                          <a:uLnTx/>
                          <a:uFillTx/>
                          <a:latin typeface="Cambria Math"/>
                          <a:cs typeface="+mn-cs"/>
                        </a:rPr>
                        <m:t>×</m:t>
                      </m:r>
                      <m:f>
                        <m:f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zh-TW" altLang="en-US" sz="2400" b="0" i="1" u="none" strike="noStrike" kern="1200" cap="none" spc="0" normalizeH="0" baseline="0" noProof="0">
                              <a:ln>
                                <a:noFill/>
                              </a:ln>
                              <a:solidFill>
                                <a:prstClr val="black"/>
                              </a:solidFill>
                              <a:effectLst/>
                              <a:uLnTx/>
                              <a:uFillTx/>
                              <a:latin typeface="Cambria Math"/>
                              <a:cs typeface="+mn-cs"/>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a:cs typeface="+mn-cs"/>
                                </a:rPr>
                                <m:t>𝑀𝑜𝑑𝑒𝑙</m:t>
                              </m:r>
                            </m:e>
                            <m:sub>
                              <m:r>
                                <a:rPr kumimoji="0" lang="en-US" altLang="zh-TW" sz="2400" b="0" i="1" u="none" strike="noStrike" kern="1200" cap="none" spc="0" normalizeH="0" baseline="0" noProof="0" smtClean="0">
                                  <a:ln>
                                    <a:noFill/>
                                  </a:ln>
                                  <a:solidFill>
                                    <a:prstClr val="black"/>
                                  </a:solidFill>
                                  <a:effectLst/>
                                  <a:uLnTx/>
                                  <a:uFillTx/>
                                  <a:latin typeface="Cambria Math"/>
                                  <a:cs typeface="+mn-cs"/>
                                </a:rPr>
                                <m:t>𝑙𝑜𝑠𝑠</m:t>
                              </m:r>
                            </m:sub>
                          </m:sSub>
                        </m:num>
                        <m:den>
                          <m:r>
                            <a:rPr kumimoji="0" lang="zh-TW" altLang="en-US" sz="2400" b="0" i="1" u="none" strike="noStrike" kern="1200" cap="none" spc="0" normalizeH="0" baseline="0" noProof="0">
                              <a:ln>
                                <a:noFill/>
                              </a:ln>
                              <a:solidFill>
                                <a:prstClr val="black"/>
                              </a:solidFill>
                              <a:effectLst/>
                              <a:uLnTx/>
                              <a:uFillTx/>
                              <a:latin typeface="Cambria Math"/>
                              <a:cs typeface="+mn-cs"/>
                            </a:rPr>
                            <m:t>𝜕</m:t>
                          </m:r>
                          <m:sSub>
                            <m:sSubPr>
                              <m:ctrlPr>
                                <a:rPr kumimoji="0" lang="zh-CN"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a:cs typeface="+mn-cs"/>
                                </a:rPr>
                                <m:t>𝑤</m:t>
                              </m:r>
                            </m:e>
                            <m:sub>
                              <m:r>
                                <a:rPr kumimoji="0" lang="zh-TW" altLang="en-US" sz="2400" b="0" i="1" u="none" strike="noStrike" kern="1200" cap="none" spc="0" normalizeH="0" baseline="0" noProof="0">
                                  <a:ln>
                                    <a:noFill/>
                                  </a:ln>
                                  <a:solidFill>
                                    <a:prstClr val="black"/>
                                  </a:solidFill>
                                  <a:effectLst/>
                                  <a:uLnTx/>
                                  <a:uFillTx/>
                                  <a:latin typeface="Cambria Math"/>
                                  <a:cs typeface="+mn-cs"/>
                                </a:rPr>
                                <m:t>𝑗</m:t>
                              </m:r>
                            </m:sub>
                          </m:sSub>
                        </m:den>
                      </m:f>
                    </m:oMath>
                  </m:oMathPara>
                </a14:m>
                <a:endParaRPr kumimoji="0" lang="zh-CN" altLang="zh-CN" sz="24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p:sp>
            <p:nvSpPr>
              <p:cNvPr id="16" name="矩形 15"/>
              <p:cNvSpPr>
                <a:spLocks noRot="1" noChangeAspect="1" noMove="1" noResize="1" noEditPoints="1" noAdjustHandles="1" noChangeArrowheads="1" noChangeShapeType="1" noTextEdit="1"/>
              </p:cNvSpPr>
              <p:nvPr/>
            </p:nvSpPr>
            <p:spPr>
              <a:xfrm>
                <a:off x="375732" y="1074840"/>
                <a:ext cx="4373441" cy="898836"/>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27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7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fade">
                                      <p:cBhvr>
                                        <p:cTn id="12" dur="1000"/>
                                        <p:tgtEl>
                                          <p:spTgt spid="3074"/>
                                        </p:tgtEl>
                                      </p:cBhvr>
                                    </p:animEffect>
                                    <p:anim calcmode="lin" valueType="num">
                                      <p:cBhvr>
                                        <p:cTn id="13" dur="1000" fill="hold"/>
                                        <p:tgtEl>
                                          <p:spTgt spid="3074"/>
                                        </p:tgtEl>
                                        <p:attrNameLst>
                                          <p:attrName>ppt_x</p:attrName>
                                        </p:attrNameLst>
                                      </p:cBhvr>
                                      <p:tavLst>
                                        <p:tav tm="0">
                                          <p:val>
                                            <p:strVal val="#ppt_x"/>
                                          </p:val>
                                        </p:tav>
                                        <p:tav tm="100000">
                                          <p:val>
                                            <p:strVal val="#ppt_x"/>
                                          </p:val>
                                        </p:tav>
                                      </p:tavLst>
                                    </p:anim>
                                    <p:anim calcmode="lin" valueType="num">
                                      <p:cBhvr>
                                        <p:cTn id="14"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1000"/>
                                        <p:tgtEl>
                                          <p:spTgt spid="2"/>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1000"/>
                                        <p:tgtEl>
                                          <p:spTgt spid="3"/>
                                        </p:tgtEl>
                                      </p:cBhvr>
                                    </p:animEffect>
                                  </p:childTnLst>
                                </p:cTn>
                              </p:par>
                            </p:childTnLst>
                          </p:cTn>
                        </p:par>
                        <p:par>
                          <p:cTn id="41" fill="hold">
                            <p:stCondLst>
                              <p:cond delay="2500"/>
                            </p:stCondLst>
                            <p:childTnLst>
                              <p:par>
                                <p:cTn id="42" presetID="22" presetClass="entr" presetSubtype="8"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10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1000"/>
                                        <p:tgtEl>
                                          <p:spTgt spid="12"/>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4" grpId="0" animBg="1"/>
      <p:bldP spid="2" grpId="0" animBg="1"/>
      <p:bldP spid="3" grpId="0"/>
      <p:bldP spid="13" grpId="0"/>
      <p:bldP spid="12" grpId="0" animBg="1"/>
      <p:bldP spid="14" grpId="0"/>
      <p:bldP spid="15" grpId="0"/>
      <p:bldP spid="16"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57,&quot;width&quot;:7420}"/>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35,&quot;width&quot;:8130}"/>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280,&quot;width&quot;:6540}"/>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35,&quot;width&quot;:8130}"/>
</p:tagLst>
</file>

<file path=ppt/theme/theme1.xml><?xml version="1.0" encoding="utf-8"?>
<a:theme xmlns:a="http://schemas.openxmlformats.org/drawingml/2006/main" name="水滴">
  <a:themeElements>
    <a:clrScheme name="水滴">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水滴">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水滴">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水滴</Template>
  <TotalTime>266</TotalTime>
  <Words>5620</Words>
  <Application>Microsoft Office PowerPoint</Application>
  <PresentationFormat>全屏显示(4:3)</PresentationFormat>
  <Paragraphs>460</Paragraphs>
  <Slides>70</Slides>
  <Notes>2</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70</vt:i4>
      </vt:variant>
    </vt:vector>
  </HeadingPairs>
  <TitlesOfParts>
    <vt:vector size="84" baseType="lpstr">
      <vt:lpstr>等线</vt:lpstr>
      <vt:lpstr>方正姚体</vt:lpstr>
      <vt:lpstr>黑体</vt:lpstr>
      <vt:lpstr>华文行楷</vt:lpstr>
      <vt:lpstr>Arial</vt:lpstr>
      <vt:lpstr>Calibri</vt:lpstr>
      <vt:lpstr>Cambria Math</vt:lpstr>
      <vt:lpstr>Times New Roman</vt:lpstr>
      <vt:lpstr>Tw Cen MT</vt:lpstr>
      <vt:lpstr>Verdana</vt:lpstr>
      <vt:lpstr>Wingdings</vt:lpstr>
      <vt:lpstr>水滴</vt:lpstr>
      <vt:lpstr>白底灰边-Office2010风格</vt:lpstr>
      <vt:lpstr>Equation.3</vt:lpstr>
      <vt:lpstr>深度学习</vt:lpstr>
      <vt:lpstr>PowerPoint 演示文稿</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人工神经网络简介</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多层神经网络</vt:lpstr>
      <vt:lpstr> 浅层学习  Versus  深度学习</vt:lpstr>
      <vt:lpstr>深度学习：端到端、逐层抽象、学习</vt:lpstr>
      <vt:lpstr>神经元</vt:lpstr>
      <vt:lpstr>激活函数：对输入信息进行非线性变换</vt:lpstr>
      <vt:lpstr> 前馈神经网络</vt:lpstr>
      <vt:lpstr>参数优化：误差反向传播</vt:lpstr>
      <vt:lpstr>参数优化：误差反向传播</vt:lpstr>
      <vt:lpstr>参数优化：误差反向传播</vt:lpstr>
      <vt:lpstr>参数优化：误差反向传播</vt:lpstr>
      <vt:lpstr>参数优化：误差反向传播</vt:lpstr>
      <vt:lpstr>参数优化：误差反向传播</vt:lpstr>
      <vt:lpstr>参数优化：误差反向传播</vt:lpstr>
      <vt:lpstr>参数优化：误差反向传播</vt:lpstr>
      <vt:lpstr>深度神经网络的拟合优化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dc:title>
  <dc:creator>wang jiajing</dc:creator>
  <cp:lastModifiedBy>wang jiajing</cp:lastModifiedBy>
  <cp:revision>16</cp:revision>
  <dcterms:created xsi:type="dcterms:W3CDTF">2022-05-11T07:01:54Z</dcterms:created>
  <dcterms:modified xsi:type="dcterms:W3CDTF">2022-05-16T04:32:40Z</dcterms:modified>
</cp:coreProperties>
</file>