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sldIdLst>
    <p:sldId id="856" r:id="rId3"/>
    <p:sldId id="645" r:id="rId4"/>
    <p:sldId id="861" r:id="rId6"/>
    <p:sldId id="860" r:id="rId7"/>
    <p:sldId id="681" r:id="rId8"/>
    <p:sldId id="862" r:id="rId9"/>
    <p:sldId id="863" r:id="rId10"/>
    <p:sldId id="864" r:id="rId11"/>
    <p:sldId id="865" r:id="rId12"/>
    <p:sldId id="771" r:id="rId13"/>
    <p:sldId id="868" r:id="rId14"/>
    <p:sldId id="866" r:id="rId15"/>
    <p:sldId id="867" r:id="rId16"/>
    <p:sldId id="857" r:id="rId17"/>
    <p:sldId id="869" r:id="rId18"/>
    <p:sldId id="858" r:id="rId19"/>
    <p:sldId id="679" r:id="rId20"/>
    <p:sldId id="871" r:id="rId21"/>
    <p:sldId id="870" r:id="rId22"/>
    <p:sldId id="872" r:id="rId23"/>
    <p:sldId id="873" r:id="rId24"/>
    <p:sldId id="874" r:id="rId25"/>
    <p:sldId id="875" r:id="rId26"/>
    <p:sldId id="876" r:id="rId27"/>
    <p:sldId id="877" r:id="rId28"/>
    <p:sldId id="878" r:id="rId29"/>
    <p:sldId id="879" r:id="rId30"/>
    <p:sldId id="880" r:id="rId31"/>
    <p:sldId id="881" r:id="rId32"/>
    <p:sldId id="883" r:id="rId33"/>
    <p:sldId id="882" r:id="rId34"/>
    <p:sldId id="884" r:id="rId35"/>
    <p:sldId id="885" r:id="rId36"/>
    <p:sldId id="886" r:id="rId37"/>
    <p:sldId id="887" r:id="rId38"/>
    <p:sldId id="888" r:id="rId39"/>
    <p:sldId id="889" r:id="rId40"/>
    <p:sldId id="890" r:id="rId41"/>
    <p:sldId id="891" r:id="rId42"/>
    <p:sldId id="893" r:id="rId43"/>
    <p:sldId id="892" r:id="rId44"/>
    <p:sldId id="894" r:id="rId45"/>
    <p:sldId id="895" r:id="rId46"/>
    <p:sldId id="896" r:id="rId47"/>
    <p:sldId id="828" r:id="rId4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1E1"/>
    <a:srgbClr val="4F80BD"/>
    <a:srgbClr val="E3FDBE"/>
    <a:srgbClr val="DCFDAB"/>
    <a:srgbClr val="FFAAA9"/>
    <a:srgbClr val="DBFDAA"/>
    <a:srgbClr val="ECE5F7"/>
    <a:srgbClr val="E1D6F2"/>
    <a:srgbClr val="DCFDAD"/>
    <a:srgbClr val="D4C5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91"/>
    <p:restoredTop sz="96272" autoAdjust="0"/>
  </p:normalViewPr>
  <p:slideViewPr>
    <p:cSldViewPr snapToGrid="0" showGuides="1">
      <p:cViewPr varScale="1">
        <p:scale>
          <a:sx n="65" d="100"/>
          <a:sy n="65" d="100"/>
        </p:scale>
        <p:origin x="999" y="36"/>
      </p:cViewPr>
      <p:guideLst>
        <p:guide orient="horz" pos="2086"/>
        <p:guide pos="2880"/>
      </p:guideLst>
    </p:cSldViewPr>
  </p:slideViewPr>
  <p:notesTextViewPr>
    <p:cViewPr>
      <p:scale>
        <a:sx n="1" d="1"/>
        <a:sy n="1" d="1"/>
      </p:scale>
      <p:origin x="0" y="0"/>
    </p:cViewPr>
  </p:notesTextViewPr>
  <p:sorterViewPr>
    <p:cViewPr>
      <p:scale>
        <a:sx n="100" d="100"/>
        <a:sy n="100" d="100"/>
      </p:scale>
      <p:origin x="0" y="1288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notesMaster" Target="notesMasters/notesMaster1.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37CF0-5B85-4F82-8895-487FD940EFF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161C67-365B-455B-8333-B2F3856160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ChangeArrowheads="1" noTextEdit="1"/>
          </p:cNvSpPr>
          <p:nvPr>
            <p:ph type="sldImg"/>
          </p:nvPr>
        </p:nvSpPr>
        <p:spPr>
          <a:xfrm>
            <a:off x="1143000" y="685800"/>
            <a:ext cx="4572000" cy="3429000"/>
          </a:xfrm>
        </p:spPr>
      </p:sp>
      <p:sp>
        <p:nvSpPr>
          <p:cNvPr id="19458" name="备注占位符 2"/>
          <p:cNvSpPr>
            <a:spLocks noGrp="1" noChangeArrowheads="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59" name="灯片编号占位符 3"/>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9pPr>
          </a:lstStyle>
          <a:p>
            <a:fld id="{DA079DD9-C9D1-C543-AF12-536BB687E807}" type="slidenum">
              <a:rPr lang="en-US" altLang="zh-CN" smtClean="0"/>
            </a:fld>
            <a:endParaRPr lang="en-US" altLang="zh-CN" sz="120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p:sp>
      <p:sp>
        <p:nvSpPr>
          <p:cNvPr id="102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本例说明：</a:t>
            </a:r>
            <a:r>
              <a:rPr lang="en-US" altLang="zh-CN" dirty="0"/>
              <a:t>https://www.jianshu.com/p/29</a:t>
            </a:r>
            <a:endParaRPr lang="en-US" altLang="zh-CN" dirty="0"/>
          </a:p>
          <a:p>
            <a:r>
              <a:rPr lang="en-US" altLang="zh-CN" dirty="0" err="1"/>
              <a:t>Qlearning</a:t>
            </a:r>
            <a:r>
              <a:rPr lang="zh-CN" altLang="en-US" dirty="0"/>
              <a:t>中，最重要的就是“状态”和“动作”，状态表示处于图中的哪个节点，比如</a:t>
            </a:r>
            <a:r>
              <a:rPr lang="en-US" altLang="zh-CN" dirty="0"/>
              <a:t>2</a:t>
            </a:r>
            <a:r>
              <a:rPr lang="zh-CN" altLang="en-US" dirty="0"/>
              <a:t>节点，</a:t>
            </a:r>
            <a:r>
              <a:rPr lang="en-US" altLang="zh-CN" dirty="0"/>
              <a:t>3</a:t>
            </a:r>
            <a:r>
              <a:rPr lang="zh-CN" altLang="en-US" dirty="0"/>
              <a:t>节点等等，而动作则表示从一个节点到另一个节点的操作。首先我们生成一个奖励矩阵，矩阵中，</a:t>
            </a:r>
            <a:r>
              <a:rPr lang="en-US" altLang="zh-CN" dirty="0"/>
              <a:t>-1</a:t>
            </a:r>
            <a:r>
              <a:rPr lang="zh-CN" altLang="en-US" dirty="0"/>
              <a:t>表示不可以通过，</a:t>
            </a:r>
            <a:r>
              <a:rPr lang="en-US" altLang="zh-CN" dirty="0"/>
              <a:t>0</a:t>
            </a:r>
            <a:r>
              <a:rPr lang="zh-CN" altLang="en-US" dirty="0"/>
              <a:t>表示可以通过，</a:t>
            </a:r>
            <a:r>
              <a:rPr lang="en-US" altLang="zh-CN" dirty="0"/>
              <a:t>100</a:t>
            </a:r>
            <a:r>
              <a:rPr lang="zh-CN" altLang="en-US" dirty="0"/>
              <a:t>表示直接到达终点。</a:t>
            </a:r>
            <a:br>
              <a:rPr lang="zh-CN" altLang="en-US" dirty="0"/>
            </a:br>
            <a:endParaRPr lang="en-US" altLang="zh-CN" dirty="0"/>
          </a:p>
          <a:p>
            <a:r>
              <a:rPr lang="zh-CN" altLang="en-US" sz="1200" b="0" i="0" kern="1200" dirty="0">
                <a:solidFill>
                  <a:schemeClr val="tx1"/>
                </a:solidFill>
                <a:effectLst/>
                <a:latin typeface="Calibri" panose="020F0502020204030204" pitchFamily="34" charset="0"/>
                <a:ea typeface="+mn-ea"/>
                <a:cs typeface="+mn-cs"/>
              </a:rPr>
              <a:t>同时，我们创建一个</a:t>
            </a:r>
            <a:r>
              <a:rPr lang="en-US" altLang="zh-CN" sz="1200" b="0" i="0" kern="1200" dirty="0">
                <a:solidFill>
                  <a:schemeClr val="tx1"/>
                </a:solidFill>
                <a:effectLst/>
                <a:latin typeface="Calibri" panose="020F0502020204030204" pitchFamily="34" charset="0"/>
                <a:ea typeface="+mn-ea"/>
                <a:cs typeface="+mn-cs"/>
              </a:rPr>
              <a:t>Q</a:t>
            </a:r>
            <a:r>
              <a:rPr lang="zh-CN" altLang="en-US" sz="1200" b="0" i="0" kern="1200" dirty="0">
                <a:solidFill>
                  <a:schemeClr val="tx1"/>
                </a:solidFill>
                <a:effectLst/>
                <a:latin typeface="Calibri" panose="020F0502020204030204" pitchFamily="34" charset="0"/>
                <a:ea typeface="+mn-ea"/>
                <a:cs typeface="+mn-cs"/>
              </a:rPr>
              <a:t>表，表示学习到的经验，与</a:t>
            </a:r>
            <a:r>
              <a:rPr lang="en-US" altLang="zh-CN" sz="1200" b="0" i="0" kern="1200" dirty="0">
                <a:solidFill>
                  <a:schemeClr val="tx1"/>
                </a:solidFill>
                <a:effectLst/>
                <a:latin typeface="Calibri" panose="020F0502020204030204" pitchFamily="34" charset="0"/>
                <a:ea typeface="+mn-ea"/>
                <a:cs typeface="+mn-cs"/>
              </a:rPr>
              <a:t>R</a:t>
            </a:r>
            <a:r>
              <a:rPr lang="zh-CN" altLang="en-US" sz="1200" b="0" i="0" kern="1200" dirty="0">
                <a:solidFill>
                  <a:schemeClr val="tx1"/>
                </a:solidFill>
                <a:effectLst/>
                <a:latin typeface="Calibri" panose="020F0502020204030204" pitchFamily="34" charset="0"/>
                <a:ea typeface="+mn-ea"/>
                <a:cs typeface="+mn-cs"/>
              </a:rPr>
              <a:t>表同阶，初始化为</a:t>
            </a:r>
            <a:r>
              <a:rPr lang="en-US" altLang="zh-CN" sz="1200" b="0" i="0" kern="1200" dirty="0">
                <a:solidFill>
                  <a:schemeClr val="tx1"/>
                </a:solidFill>
                <a:effectLst/>
                <a:latin typeface="Calibri" panose="020F0502020204030204" pitchFamily="34" charset="0"/>
                <a:ea typeface="+mn-ea"/>
                <a:cs typeface="+mn-cs"/>
              </a:rPr>
              <a:t>0</a:t>
            </a:r>
            <a:r>
              <a:rPr lang="zh-CN" altLang="en-US" sz="1200" b="0" i="0" kern="1200" dirty="0">
                <a:solidFill>
                  <a:schemeClr val="tx1"/>
                </a:solidFill>
                <a:effectLst/>
                <a:latin typeface="Calibri" panose="020F0502020204030204" pitchFamily="34" charset="0"/>
                <a:ea typeface="+mn-ea"/>
                <a:cs typeface="+mn-cs"/>
              </a:rPr>
              <a:t>矩阵，表示从一个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到另一个</a:t>
            </a:r>
            <a:r>
              <a:rPr lang="en-US" altLang="zh-CN" sz="1200" b="0" i="0" kern="1200" dirty="0">
                <a:solidFill>
                  <a:schemeClr val="tx1"/>
                </a:solidFill>
                <a:effectLst/>
                <a:latin typeface="Calibri" panose="020F0502020204030204" pitchFamily="34" charset="0"/>
                <a:ea typeface="+mn-ea"/>
                <a:cs typeface="+mn-cs"/>
              </a:rPr>
              <a:t>state</a:t>
            </a:r>
            <a:r>
              <a:rPr lang="zh-CN" altLang="en-US" sz="1200" b="0" i="0" kern="1200" dirty="0">
                <a:solidFill>
                  <a:schemeClr val="tx1"/>
                </a:solidFill>
                <a:effectLst/>
                <a:latin typeface="Calibri" panose="020F0502020204030204" pitchFamily="34" charset="0"/>
                <a:ea typeface="+mn-ea"/>
                <a:cs typeface="+mn-cs"/>
              </a:rPr>
              <a:t>能获得的总的奖励的折现值。</a:t>
            </a:r>
            <a:endParaRPr lang="en-US" altLang="zh-CN" sz="1200" b="0" i="0" kern="1200" dirty="0">
              <a:solidFill>
                <a:schemeClr val="tx1"/>
              </a:solidFill>
              <a:effectLst/>
              <a:latin typeface="Calibri" panose="020F0502020204030204" pitchFamily="34" charset="0"/>
              <a:ea typeface="+mn-ea"/>
              <a:cs typeface="+mn-cs"/>
            </a:endParaRPr>
          </a:p>
          <a:p>
            <a:br>
              <a:rPr lang="zh-CN" altLang="en-US" dirty="0"/>
            </a:br>
            <a:endParaRPr lang="zh-CN" altLang="en-US" dirty="0"/>
          </a:p>
        </p:txBody>
      </p:sp>
      <p:sp>
        <p:nvSpPr>
          <p:cNvPr id="105476" name="灯片编号占位符 3"/>
          <p:cNvSpPr>
            <a:spLocks noGrp="1"/>
          </p:cNvSpPr>
          <p:nvPr>
            <p:ph type="sldNum" sz="quarter" idx="5"/>
          </p:nvPr>
        </p:nvSpPr>
        <p:spPr>
          <a:ln>
            <a:miter lim="800000"/>
          </a:ln>
        </p:spPr>
        <p:txBody>
          <a:bodyPr/>
          <a:lstStyle/>
          <a:p>
            <a:pPr>
              <a:defRPr/>
            </a:pPr>
            <a:fld id="{954DA7A5-F28A-4C3A-80EC-80AA65318E7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5477" name="日期占位符 4"/>
          <p:cNvSpPr>
            <a:spLocks noGrp="1"/>
          </p:cNvSpPr>
          <p:nvPr>
            <p:ph type="dt" sz="quarter" idx="1"/>
          </p:nvPr>
        </p:nvSpPr>
        <p:spPr>
          <a:ln>
            <a:miter lim="800000"/>
          </a:ln>
        </p:spPr>
        <p:txBody>
          <a:bodyPr/>
          <a:lstStyle/>
          <a:p>
            <a:pPr>
              <a:defRPr/>
            </a:pPr>
            <a:fld id="{8ADA97E1-C820-4BF2-BE08-3A9AAAE16940}" type="datetime9">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02578" y="1057014"/>
            <a:ext cx="77724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159778" y="402987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9389" y="1057014"/>
            <a:ext cx="77724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164978" y="4027400"/>
            <a:ext cx="6858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A42E54B1-0884-4633-8327-893DAA1E511F}"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845B6709-067F-4154-9C9A-D56718F28438}"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5D8D4C65-E77B-45F2-BD81-CFF9643C0CCF}"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813AE443-EA00-4061-899C-73E3EB4E23B9}"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a:prstGeom prst="rect">
            <a:avLst/>
          </a:prstGeom>
        </p:spPr>
        <p:txBody>
          <a:bodyPr/>
          <a:lstStyle/>
          <a:p>
            <a:r>
              <a:rPr lang="zh-CN" altLang="en-US"/>
              <a:t>单击此处编辑母版标题样式</a:t>
            </a:r>
            <a:endParaRPr lang="zh-CN" altLang="en-US"/>
          </a:p>
        </p:txBody>
      </p:sp>
      <p:sp>
        <p:nvSpPr>
          <p:cNvPr id="3" name="Rectangle 2"/>
          <p:cNvSpPr>
            <a:spLocks noGrp="1" noChangeArrowheads="1"/>
          </p:cNvSpPr>
          <p:nvPr>
            <p:ph type="sldNum" sz="quarter" idx="10"/>
          </p:nvPr>
        </p:nvSpPr>
        <p:spPr/>
        <p:txBody>
          <a:bodyPr/>
          <a:lstStyle>
            <a:lvl1pPr>
              <a:defRPr/>
            </a:lvl1pPr>
          </a:lstStyle>
          <a:p>
            <a:pPr>
              <a:defRPr/>
            </a:pPr>
            <a:fld id="{564B43B8-EC4A-5743-9CA4-764B42BFAC9D}" type="slidenum">
              <a:rPr lang="zh-CN" altLang="en-US"/>
            </a:fld>
            <a:endParaRPr lang="en-US" altLang="zh-CN" sz="1350"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399"/>
            <a:ext cx="9144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34223" y="906011"/>
            <a:ext cx="8883941" cy="5637402"/>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2"/>
          </p:nvPr>
        </p:nvSpPr>
        <p:spPr>
          <a:xfrm>
            <a:off x="-525" y="6660859"/>
            <a:ext cx="2057400" cy="197140"/>
          </a:xfrm>
          <a:prstGeom prst="rect">
            <a:avLst/>
          </a:prstGeom>
        </p:spPr>
        <p:txBody>
          <a:bodyPr vert="horz" lIns="91440" tIns="36000" rIns="91440" bIns="45720" rtlCol="0" anchor="ctr"/>
          <a:lstStyle>
            <a:lvl1pPr algn="l">
              <a:defRPr sz="1200" b="1">
                <a:solidFill>
                  <a:srgbClr val="002060"/>
                </a:solidFill>
              </a:defRPr>
            </a:lvl1pPr>
          </a:lstStyle>
          <a:p>
            <a:fld id="{7181A378-AD84-4E06-B1B5-6D5F5ACB78AE}" type="datetime1">
              <a:rPr lang="zh-CN" altLang="en-US" smtClean="0"/>
            </a:fld>
            <a:endParaRPr lang="zh-CN" altLang="en-US"/>
          </a:p>
        </p:txBody>
      </p:sp>
      <p:sp>
        <p:nvSpPr>
          <p:cNvPr id="5" name="Footer Placeholder 4"/>
          <p:cNvSpPr>
            <a:spLocks noGrp="1"/>
          </p:cNvSpPr>
          <p:nvPr>
            <p:ph type="ftr" sz="quarter" idx="3"/>
          </p:nvPr>
        </p:nvSpPr>
        <p:spPr>
          <a:xfrm>
            <a:off x="2273417" y="6660859"/>
            <a:ext cx="4597165"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7086600" y="6660859"/>
            <a:ext cx="20574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680" indent="-360680"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680"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9205" indent="-268605"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605"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hyperlink" Target="https://www.icourse163.org/course/ZJU-1003377027"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53460" y="2780349"/>
            <a:ext cx="7772400" cy="2095500"/>
          </a:xfrm>
        </p:spPr>
        <p:txBody>
          <a:bodyPr>
            <a:normAutofit/>
          </a:bodyPr>
          <a:lstStyle/>
          <a:p>
            <a:pPr algn="ctr">
              <a:lnSpc>
                <a:spcPct val="100000"/>
              </a:lnSpc>
            </a:pPr>
            <a:r>
              <a:rPr lang="zh-CN" altLang="en-US" sz="8800" b="1" spc="600" dirty="0">
                <a:latin typeface="华文行楷" panose="02010800040101010101" pitchFamily="2" charset="-122"/>
                <a:ea typeface="华文行楷" panose="02010800040101010101" pitchFamily="2" charset="-122"/>
                <a:cs typeface="微软雅黑" panose="020B0503020204020204" pitchFamily="34" charset="-122"/>
              </a:rPr>
              <a:t>强化学习</a:t>
            </a:r>
            <a:endParaRPr lang="zh-CN" altLang="en-US" sz="8800" spc="600" dirty="0">
              <a:latin typeface="华文行楷" panose="02010800040101010101" pitchFamily="2" charset="-122"/>
              <a:ea typeface="华文行楷" panose="02010800040101010101" pitchFamily="2" charset="-122"/>
            </a:endParaRPr>
          </a:p>
        </p:txBody>
      </p:sp>
      <p:sp>
        <p:nvSpPr>
          <p:cNvPr id="5" name="矩形 4"/>
          <p:cNvSpPr/>
          <p:nvPr/>
        </p:nvSpPr>
        <p:spPr>
          <a:xfrm>
            <a:off x="4877151" y="530758"/>
            <a:ext cx="3775393" cy="400110"/>
          </a:xfrm>
          <a:prstGeom prst="rect">
            <a:avLst/>
          </a:prstGeom>
        </p:spPr>
        <p:txBody>
          <a:bodyPr wrap="none">
            <a:spAutoFit/>
          </a:bodyPr>
          <a:lstStyle/>
          <a:p>
            <a:r>
              <a:rPr lang="en-US" altLang="zh-CN" sz="2000" dirty="0"/>
              <a:t>《</a:t>
            </a:r>
            <a:r>
              <a:rPr lang="zh-CN" altLang="en-US" sz="2000" dirty="0"/>
              <a:t>人工智能导论：模型与算法</a:t>
            </a:r>
            <a:r>
              <a:rPr lang="en-US" altLang="zh-CN" sz="2000" dirty="0"/>
              <a:t>》</a:t>
            </a:r>
            <a:endParaRPr lang="zh-CN" altLang="en-US" sz="2000" dirty="0"/>
          </a:p>
        </p:txBody>
      </p:sp>
      <p:sp>
        <p:nvSpPr>
          <p:cNvPr id="8" name="标题 1"/>
          <p:cNvSpPr txBox="1"/>
          <p:nvPr/>
        </p:nvSpPr>
        <p:spPr>
          <a:xfrm>
            <a:off x="679718" y="1435909"/>
            <a:ext cx="7772400" cy="1240032"/>
          </a:xfrm>
          <a:prstGeom prst="rect">
            <a:avLst/>
          </a:prstGeom>
        </p:spPr>
        <p:txBody>
          <a:bodyPr vert="horz" lIns="91440" tIns="144000" rIns="91440" bIns="45720" rtlCol="0" anchor="b">
            <a:normAutofit/>
          </a:bodyPr>
          <a:lstStyle>
            <a:lvl1pPr algn="ctr" defTabSz="914400" rtl="0" eaLnBrk="1" latinLnBrk="0" hangingPunct="1">
              <a:lnSpc>
                <a:spcPct val="90000"/>
              </a:lnSpc>
              <a:spcBef>
                <a:spcPct val="0"/>
              </a:spcBef>
              <a:buNone/>
              <a:defRPr sz="4800" kern="1200">
                <a:solidFill>
                  <a:srgbClr val="C00000"/>
                </a:solidFill>
                <a:latin typeface="+mj-lt"/>
                <a:ea typeface="+mj-ea"/>
                <a:cs typeface="+mj-cs"/>
              </a:defRPr>
            </a:lvl1pPr>
          </a:lstStyle>
          <a:p>
            <a:pPr>
              <a:lnSpc>
                <a:spcPct val="100000"/>
              </a:lnSpc>
            </a:pPr>
            <a:r>
              <a:rPr lang="zh-CN" altLang="en-US" sz="6600" b="1" spc="600" dirty="0">
                <a:solidFill>
                  <a:schemeClr val="tx1"/>
                </a:solidFill>
                <a:latin typeface="华文行楷" panose="02010800040101010101" pitchFamily="2" charset="-122"/>
                <a:ea typeface="华文行楷" panose="02010800040101010101" pitchFamily="2" charset="-122"/>
                <a:cs typeface="微软雅黑" panose="020B0503020204020204" pitchFamily="34" charset="-122"/>
              </a:rPr>
              <a:t>第 </a:t>
            </a:r>
            <a:r>
              <a:rPr lang="en-US" altLang="zh-CN" sz="6600" b="1" spc="600" dirty="0">
                <a:solidFill>
                  <a:schemeClr val="tx1"/>
                </a:solidFill>
                <a:latin typeface="华文行楷" panose="02010800040101010101" pitchFamily="2" charset="-122"/>
                <a:ea typeface="华文行楷" panose="02010800040101010101" pitchFamily="2" charset="-122"/>
                <a:cs typeface="微软雅黑" panose="020B0503020204020204" pitchFamily="34" charset="-122"/>
              </a:rPr>
              <a:t>7 </a:t>
            </a:r>
            <a:r>
              <a:rPr lang="zh-CN" altLang="en-US" sz="6600" b="1" spc="600" dirty="0">
                <a:solidFill>
                  <a:schemeClr val="tx1"/>
                </a:solidFill>
                <a:latin typeface="华文行楷" panose="02010800040101010101" pitchFamily="2" charset="-122"/>
                <a:ea typeface="华文行楷" panose="02010800040101010101" pitchFamily="2" charset="-122"/>
                <a:cs typeface="微软雅黑" panose="020B0503020204020204" pitchFamily="34" charset="-122"/>
              </a:rPr>
              <a:t>章</a:t>
            </a:r>
            <a:endParaRPr lang="zh-CN" altLang="en-US" sz="6600" spc="600" dirty="0">
              <a:solidFill>
                <a:schemeClr val="tx1"/>
              </a:solidFill>
              <a:latin typeface="华文行楷" panose="02010800040101010101" pitchFamily="2" charset="-122"/>
              <a:ea typeface="华文行楷" panose="020108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0" y="25880"/>
            <a:ext cx="6780609" cy="90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9pPr>
          </a:lstStyle>
          <a:p>
            <a:pPr>
              <a:buFont typeface="Arial" panose="020B0604020202020204" pitchFamily="34" charset="0"/>
              <a:buNone/>
            </a:pPr>
            <a:r>
              <a:rPr lang="zh-CN" altLang="en-US" sz="4000" b="1" dirty="0">
                <a:solidFill>
                  <a:srgbClr val="C00000"/>
                </a:solidFill>
                <a:latin typeface="+mn-ea"/>
                <a:ea typeface="+mn-ea"/>
                <a:sym typeface="Times New Roman" panose="02020603050405020304" pitchFamily="18" charset="0"/>
              </a:rPr>
              <a:t>  提纲</a:t>
            </a:r>
            <a:endParaRPr lang="zh-CN" altLang="en-US" sz="4000" b="1" dirty="0">
              <a:solidFill>
                <a:srgbClr val="C00000"/>
              </a:solidFill>
              <a:latin typeface="+mn-ea"/>
              <a:ea typeface="+mn-ea"/>
              <a:sym typeface="Times New Roman" panose="02020603050405020304" pitchFamily="18" charset="0"/>
            </a:endParaRPr>
          </a:p>
        </p:txBody>
      </p:sp>
      <p:sp>
        <p:nvSpPr>
          <p:cNvPr id="22" name="矩形 7"/>
          <p:cNvSpPr>
            <a:spLocks noChangeArrowheads="1"/>
          </p:cNvSpPr>
          <p:nvPr/>
        </p:nvSpPr>
        <p:spPr bwMode="auto">
          <a:xfrm>
            <a:off x="310965" y="2905035"/>
            <a:ext cx="7200000" cy="60939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0" lang="zh-CN" altLang="en-US" sz="2800" b="1" dirty="0">
                <a:solidFill>
                  <a:srgbClr val="C00000"/>
                </a:solidFill>
                <a:latin typeface="+mn-lt"/>
                <a:ea typeface="微软雅黑" panose="020B0503020204020204" pitchFamily="34" charset="-122"/>
                <a:sym typeface="Calibri" panose="020F0502020204030204" pitchFamily="34" charset="0"/>
              </a:rPr>
              <a:t>二、强化学习算法求解</a:t>
            </a:r>
            <a:endParaRPr kumimoji="0" lang="zh-CN" altLang="en-US" sz="2800" b="1" dirty="0">
              <a:solidFill>
                <a:srgbClr val="C00000"/>
              </a:solidFill>
              <a:latin typeface="+mn-lt"/>
              <a:ea typeface="微软雅黑" panose="020B0503020204020204" pitchFamily="34" charset="-122"/>
              <a:sym typeface="Calibri" panose="020F0502020204030204" pitchFamily="34" charset="0"/>
            </a:endParaRPr>
          </a:p>
        </p:txBody>
      </p:sp>
      <p:sp>
        <p:nvSpPr>
          <p:cNvPr id="24" name="矩形 7"/>
          <p:cNvSpPr>
            <a:spLocks noChangeArrowheads="1"/>
          </p:cNvSpPr>
          <p:nvPr/>
        </p:nvSpPr>
        <p:spPr bwMode="auto">
          <a:xfrm>
            <a:off x="233846" y="1716746"/>
            <a:ext cx="7200000" cy="60939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mn-lt"/>
                <a:ea typeface="微软雅黑" panose="020B0503020204020204" pitchFamily="34" charset="-122"/>
              </a:rPr>
              <a:t>一、强化学习基本概念</a:t>
            </a:r>
            <a:endParaRPr kumimoji="0" lang="zh-CN" altLang="en-US" sz="2800" b="1" dirty="0">
              <a:solidFill>
                <a:srgbClr val="C00000"/>
              </a:solidFill>
              <a:latin typeface="+mn-lt"/>
              <a:ea typeface="微软雅黑" panose="020B0503020204020204" pitchFamily="34" charset="-122"/>
            </a:endParaRPr>
          </a:p>
        </p:txBody>
      </p:sp>
      <p:sp>
        <p:nvSpPr>
          <p:cNvPr id="2" name="矩形 1"/>
          <p:cNvSpPr/>
          <p:nvPr/>
        </p:nvSpPr>
        <p:spPr>
          <a:xfrm>
            <a:off x="633470" y="5611382"/>
            <a:ext cx="7629180" cy="566822"/>
          </a:xfrm>
          <a:prstGeom prst="rect">
            <a:avLst/>
          </a:prstGeom>
        </p:spPr>
        <p:txBody>
          <a:bodyPr wrap="square">
            <a:spAutoFit/>
          </a:bodyPr>
          <a:lstStyle/>
          <a:p>
            <a:pPr>
              <a:lnSpc>
                <a:spcPts val="1200"/>
              </a:lnSpc>
            </a:pPr>
            <a:r>
              <a:rPr lang="zh-CN" altLang="en-US" dirty="0"/>
              <a:t>吴飞，</a:t>
            </a:r>
            <a:r>
              <a:rPr lang="en-US" altLang="zh-CN" dirty="0"/>
              <a:t>《</a:t>
            </a:r>
            <a:r>
              <a:rPr lang="zh-CN" altLang="en-US" dirty="0"/>
              <a:t>人工智能导论：模型与算法</a:t>
            </a:r>
            <a:r>
              <a:rPr lang="en-US" altLang="zh-CN" dirty="0"/>
              <a:t>》</a:t>
            </a:r>
            <a:r>
              <a:rPr lang="zh-CN" altLang="en-US" dirty="0"/>
              <a:t>，高等教育出版社 </a:t>
            </a:r>
            <a:endParaRPr lang="en-US" altLang="zh-CN" dirty="0"/>
          </a:p>
          <a:p>
            <a:pPr>
              <a:lnSpc>
                <a:spcPts val="1200"/>
              </a:lnSpc>
            </a:pPr>
            <a:endParaRPr lang="en-US" altLang="zh-CN" dirty="0"/>
          </a:p>
          <a:p>
            <a:pPr>
              <a:lnSpc>
                <a:spcPts val="1200"/>
              </a:lnSpc>
            </a:pPr>
            <a:r>
              <a:rPr lang="en-US" altLang="zh-CN" dirty="0"/>
              <a:t>MOOC</a:t>
            </a:r>
            <a:r>
              <a:rPr lang="zh-CN" altLang="en-US" dirty="0"/>
              <a:t>：</a:t>
            </a:r>
            <a:r>
              <a:rPr lang="en-US" altLang="zh-CN" dirty="0">
                <a:hlinkClick r:id="rId1"/>
              </a:rPr>
              <a:t>https://www.icourse163.org/course/ZJU-1003377027</a:t>
            </a:r>
            <a:endParaRPr lang="zh-CN" altLang="en-US" dirty="0"/>
          </a:p>
        </p:txBody>
      </p:sp>
      <p:sp>
        <p:nvSpPr>
          <p:cNvPr id="8" name="矩形 7"/>
          <p:cNvSpPr>
            <a:spLocks noChangeArrowheads="1"/>
          </p:cNvSpPr>
          <p:nvPr/>
        </p:nvSpPr>
        <p:spPr bwMode="auto">
          <a:xfrm>
            <a:off x="310965" y="4082004"/>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0" lang="zh-CN" altLang="en-US" sz="2800" b="1" dirty="0">
                <a:solidFill>
                  <a:srgbClr val="C00000"/>
                </a:solidFill>
                <a:latin typeface="+mn-lt"/>
                <a:ea typeface="微软雅黑" panose="020B0503020204020204" pitchFamily="34" charset="-122"/>
                <a:sym typeface="Calibri" panose="020F0502020204030204" pitchFamily="34" charset="0"/>
              </a:rPr>
              <a:t>三、强化学习的应用</a:t>
            </a:r>
            <a:endParaRPr kumimoji="0" lang="zh-CN" altLang="en-US" sz="2800" b="1" dirty="0">
              <a:solidFill>
                <a:srgbClr val="C00000"/>
              </a:solidFill>
              <a:latin typeface="+mn-lt"/>
              <a:ea typeface="微软雅黑" panose="020B0503020204020204" pitchFamily="34" charset="-122"/>
              <a:sym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强化学习的原理</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9"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grpSp>
        <p:nvGrpSpPr>
          <p:cNvPr id="5" name="Group 3"/>
          <p:cNvGrpSpPr/>
          <p:nvPr/>
        </p:nvGrpSpPr>
        <p:grpSpPr bwMode="auto">
          <a:xfrm>
            <a:off x="4182756" y="1803290"/>
            <a:ext cx="3860540" cy="4023183"/>
            <a:chOff x="1857" y="980"/>
            <a:chExt cx="2023" cy="2723"/>
          </a:xfrm>
        </p:grpSpPr>
        <p:sp>
          <p:nvSpPr>
            <p:cNvPr id="6" name="AutoShape 4"/>
            <p:cNvSpPr>
              <a:spLocks noChangeArrowheads="1"/>
            </p:cNvSpPr>
            <p:nvPr/>
          </p:nvSpPr>
          <p:spPr bwMode="gray">
            <a:xfrm>
              <a:off x="2304" y="2496"/>
              <a:ext cx="1056" cy="384"/>
            </a:xfrm>
            <a:prstGeom prst="can">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ln>
            <a:effectLst/>
          </p:spPr>
          <p:txBody>
            <a:bodyPr wrap="none" anchor="ct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endParaRPr lang="zh-CN" altLang="en-US" sz="1350">
                <a:ea typeface="宋体" panose="02010600030101010101" pitchFamily="2" charset="-122"/>
              </a:endParaRPr>
            </a:p>
          </p:txBody>
        </p:sp>
        <p:sp>
          <p:nvSpPr>
            <p:cNvPr id="7" name="AutoShape 5"/>
            <p:cNvSpPr>
              <a:spLocks noChangeArrowheads="1"/>
            </p:cNvSpPr>
            <p:nvPr/>
          </p:nvSpPr>
          <p:spPr bwMode="gray">
            <a:xfrm>
              <a:off x="2304" y="2160"/>
              <a:ext cx="1056" cy="384"/>
            </a:xfrm>
            <a:prstGeom prst="can">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ln>
            <a:effectLst/>
          </p:spPr>
          <p:txBody>
            <a:bodyPr wrap="none" anchor="ct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endParaRPr lang="zh-CN" altLang="en-US" sz="1350">
                <a:ea typeface="宋体" panose="02010600030101010101" pitchFamily="2" charset="-122"/>
              </a:endParaRPr>
            </a:p>
          </p:txBody>
        </p:sp>
        <p:sp>
          <p:nvSpPr>
            <p:cNvPr id="8" name="AutoShape 6"/>
            <p:cNvSpPr>
              <a:spLocks noChangeArrowheads="1"/>
            </p:cNvSpPr>
            <p:nvPr/>
          </p:nvSpPr>
          <p:spPr bwMode="gray">
            <a:xfrm>
              <a:off x="2304" y="1824"/>
              <a:ext cx="1056" cy="384"/>
            </a:xfrm>
            <a:prstGeom prst="can">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ln>
            <a:effectLst/>
          </p:spPr>
          <p:txBody>
            <a:bodyPr wrap="none" anchor="ct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endParaRPr lang="zh-CN" altLang="en-US" sz="1350">
                <a:ea typeface="宋体" panose="02010600030101010101" pitchFamily="2" charset="-122"/>
              </a:endParaRPr>
            </a:p>
          </p:txBody>
        </p:sp>
        <p:sp>
          <p:nvSpPr>
            <p:cNvPr id="9" name="Text Box 7"/>
            <p:cNvSpPr txBox="1">
              <a:spLocks noChangeArrowheads="1"/>
            </p:cNvSpPr>
            <p:nvPr/>
          </p:nvSpPr>
          <p:spPr bwMode="gray">
            <a:xfrm>
              <a:off x="2462" y="1880"/>
              <a:ext cx="761" cy="340"/>
            </a:xfrm>
            <a:prstGeom prst="rect">
              <a:avLst/>
            </a:prstGeom>
            <a:noFill/>
            <a:ln>
              <a:noFill/>
            </a:ln>
          </p:spPr>
          <p:txBody>
            <a:bodyPr wrap="none">
              <a:spAutoFit/>
            </a:bodyP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a:r>
                <a:rPr lang="zh-CN" altLang="en-US" sz="2200" dirty="0">
                  <a:solidFill>
                    <a:srgbClr val="FFFFFF"/>
                  </a:solidFill>
                  <a:latin typeface="黑体" panose="02010609060101010101" pitchFamily="49" charset="-122"/>
                  <a:ea typeface="黑体" panose="02010609060101010101" pitchFamily="49" charset="-122"/>
                </a:rPr>
                <a:t>奖  赏</a:t>
              </a:r>
              <a:endParaRPr lang="en-US" altLang="zh-CN" sz="2200" dirty="0">
                <a:solidFill>
                  <a:srgbClr val="FFFFFF"/>
                </a:solidFill>
                <a:latin typeface="黑体" panose="02010609060101010101" pitchFamily="49" charset="-122"/>
                <a:ea typeface="黑体" panose="02010609060101010101" pitchFamily="49" charset="-122"/>
              </a:endParaRPr>
            </a:p>
          </p:txBody>
        </p:sp>
        <p:sp>
          <p:nvSpPr>
            <p:cNvPr id="10" name="Text Box 8"/>
            <p:cNvSpPr txBox="1">
              <a:spLocks noChangeArrowheads="1"/>
            </p:cNvSpPr>
            <p:nvPr/>
          </p:nvSpPr>
          <p:spPr bwMode="gray">
            <a:xfrm>
              <a:off x="2462" y="2216"/>
              <a:ext cx="761" cy="340"/>
            </a:xfrm>
            <a:prstGeom prst="rect">
              <a:avLst/>
            </a:prstGeom>
            <a:noFill/>
            <a:ln>
              <a:noFill/>
            </a:ln>
          </p:spPr>
          <p:txBody>
            <a:bodyPr wrap="none">
              <a:spAutoFit/>
            </a:bodyP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a:r>
                <a:rPr lang="zh-CN" altLang="en-US" sz="2200">
                  <a:solidFill>
                    <a:srgbClr val="FFFFFF"/>
                  </a:solidFill>
                  <a:latin typeface="黑体" panose="02010609060101010101" pitchFamily="49" charset="-122"/>
                  <a:ea typeface="黑体" panose="02010609060101010101" pitchFamily="49" charset="-122"/>
                </a:rPr>
                <a:t>动  作</a:t>
              </a:r>
              <a:endParaRPr lang="en-US" altLang="zh-CN" sz="2200">
                <a:solidFill>
                  <a:srgbClr val="FFFFFF"/>
                </a:solidFill>
                <a:latin typeface="黑体" panose="02010609060101010101" pitchFamily="49" charset="-122"/>
                <a:ea typeface="黑体" panose="02010609060101010101" pitchFamily="49" charset="-122"/>
              </a:endParaRPr>
            </a:p>
          </p:txBody>
        </p:sp>
        <p:sp>
          <p:nvSpPr>
            <p:cNvPr id="11" name="Text Box 9"/>
            <p:cNvSpPr txBox="1">
              <a:spLocks noChangeArrowheads="1"/>
            </p:cNvSpPr>
            <p:nvPr/>
          </p:nvSpPr>
          <p:spPr bwMode="gray">
            <a:xfrm>
              <a:off x="2462" y="2552"/>
              <a:ext cx="761" cy="340"/>
            </a:xfrm>
            <a:prstGeom prst="rect">
              <a:avLst/>
            </a:prstGeom>
            <a:noFill/>
            <a:ln>
              <a:noFill/>
            </a:ln>
          </p:spPr>
          <p:txBody>
            <a:bodyPr wrap="none">
              <a:spAutoFit/>
            </a:bodyP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a:r>
                <a:rPr lang="zh-CN" altLang="en-US" sz="2200">
                  <a:solidFill>
                    <a:srgbClr val="FFFFFF"/>
                  </a:solidFill>
                  <a:latin typeface="黑体" panose="02010609060101010101" pitchFamily="49" charset="-122"/>
                  <a:ea typeface="黑体" panose="02010609060101010101" pitchFamily="49" charset="-122"/>
                </a:rPr>
                <a:t>状  态</a:t>
              </a:r>
              <a:endParaRPr lang="en-US" altLang="zh-CN" sz="2200">
                <a:solidFill>
                  <a:srgbClr val="FFFFFF"/>
                </a:solidFill>
                <a:latin typeface="黑体" panose="02010609060101010101" pitchFamily="49" charset="-122"/>
                <a:ea typeface="黑体" panose="02010609060101010101" pitchFamily="49" charset="-122"/>
              </a:endParaRPr>
            </a:p>
          </p:txBody>
        </p:sp>
        <p:sp>
          <p:nvSpPr>
            <p:cNvPr id="12" name="AutoShape 10"/>
            <p:cNvSpPr>
              <a:spLocks noChangeArrowheads="1"/>
            </p:cNvSpPr>
            <p:nvPr/>
          </p:nvSpPr>
          <p:spPr bwMode="gray">
            <a:xfrm>
              <a:off x="1872" y="1680"/>
              <a:ext cx="336" cy="1296"/>
            </a:xfrm>
            <a:prstGeom prst="leftArrow">
              <a:avLst>
                <a:gd name="adj1" fmla="val 65583"/>
                <a:gd name="adj2" fmla="val 65181"/>
              </a:avLst>
            </a:prstGeom>
            <a:gradFill rotWithShape="1">
              <a:gsLst>
                <a:gs pos="0">
                  <a:schemeClr val="bg2"/>
                </a:gs>
                <a:gs pos="100000">
                  <a:schemeClr val="bg2">
                    <a:gamma/>
                    <a:shade val="46275"/>
                    <a:invGamma/>
                    <a:alpha val="12000"/>
                  </a:schemeClr>
                </a:gs>
              </a:gsLst>
              <a:lin ang="0" scaled="1"/>
            </a:gradFill>
            <a:ln w="9525">
              <a:noFill/>
              <a:miter lim="800000"/>
            </a:ln>
            <a:effectLst/>
          </p:spPr>
          <p:txBody>
            <a:bodyPr wrap="none" anchor="ct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endParaRPr lang="zh-CN" altLang="en-US" sz="1350">
                <a:ea typeface="宋体" panose="02010600030101010101" pitchFamily="2" charset="-122"/>
              </a:endParaRPr>
            </a:p>
          </p:txBody>
        </p:sp>
        <p:sp>
          <p:nvSpPr>
            <p:cNvPr id="13" name="AutoShape 15"/>
            <p:cNvSpPr>
              <a:spLocks noChangeArrowheads="1"/>
            </p:cNvSpPr>
            <p:nvPr/>
          </p:nvSpPr>
          <p:spPr bwMode="gray">
            <a:xfrm>
              <a:off x="3458" y="1680"/>
              <a:ext cx="334" cy="1296"/>
            </a:xfrm>
            <a:prstGeom prst="rightArrow">
              <a:avLst>
                <a:gd name="adj1" fmla="val 67750"/>
                <a:gd name="adj2" fmla="val 66167"/>
              </a:avLst>
            </a:prstGeom>
            <a:solidFill>
              <a:schemeClr val="accent1"/>
            </a:solidFill>
            <a:ln w="9525">
              <a:noFill/>
              <a:miter lim="800000"/>
            </a:ln>
            <a:effectLst/>
          </p:spPr>
          <p:txBody>
            <a:bodyPr wrap="none" anchor="ct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endParaRPr lang="zh-CN" altLang="en-US" sz="1350">
                <a:ea typeface="宋体" panose="02010600030101010101" pitchFamily="2" charset="-122"/>
              </a:endParaRPr>
            </a:p>
          </p:txBody>
        </p:sp>
        <p:sp>
          <p:nvSpPr>
            <p:cNvPr id="14" name="AutoShape 16"/>
            <p:cNvSpPr>
              <a:spLocks noChangeArrowheads="1"/>
            </p:cNvSpPr>
            <p:nvPr/>
          </p:nvSpPr>
          <p:spPr bwMode="gray">
            <a:xfrm>
              <a:off x="1898" y="980"/>
              <a:ext cx="1920" cy="384"/>
            </a:xfrm>
            <a:prstGeom prst="can">
              <a:avLst>
                <a:gd name="adj" fmla="val 27866"/>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noFill/>
              <a:round/>
            </a:ln>
            <a:effectLst/>
          </p:spPr>
          <p:txBody>
            <a:bodyPr wrap="none" anchor="ct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endParaRPr lang="zh-CN" altLang="en-US" sz="1350">
                <a:ea typeface="宋体" panose="02010600030101010101" pitchFamily="2" charset="-122"/>
              </a:endParaRPr>
            </a:p>
          </p:txBody>
        </p:sp>
        <p:sp>
          <p:nvSpPr>
            <p:cNvPr id="15" name="AutoShape 17"/>
            <p:cNvSpPr>
              <a:spLocks noChangeArrowheads="1"/>
            </p:cNvSpPr>
            <p:nvPr/>
          </p:nvSpPr>
          <p:spPr bwMode="gray">
            <a:xfrm>
              <a:off x="2283" y="1440"/>
              <a:ext cx="1104" cy="336"/>
            </a:xfrm>
            <a:prstGeom prst="upArrow">
              <a:avLst>
                <a:gd name="adj1" fmla="val 68380"/>
                <a:gd name="adj2" fmla="val 70833"/>
              </a:avLst>
            </a:prstGeom>
            <a:gradFill rotWithShape="1">
              <a:gsLst>
                <a:gs pos="0">
                  <a:schemeClr val="bg2"/>
                </a:gs>
                <a:gs pos="100000">
                  <a:schemeClr val="bg2">
                    <a:gamma/>
                    <a:tint val="63529"/>
                    <a:invGamma/>
                    <a:alpha val="12000"/>
                  </a:schemeClr>
                </a:gs>
              </a:gsLst>
              <a:lin ang="5400000" scaled="1"/>
            </a:gradFill>
            <a:ln w="9525">
              <a:noFill/>
              <a:miter lim="800000"/>
            </a:ln>
            <a:effectLst/>
          </p:spPr>
          <p:txBody>
            <a:bodyPr wrap="none" anchor="ct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endParaRPr lang="zh-CN" altLang="en-US" sz="1350">
                <a:ea typeface="宋体" panose="02010600030101010101" pitchFamily="2" charset="-122"/>
              </a:endParaRPr>
            </a:p>
          </p:txBody>
        </p:sp>
        <p:sp>
          <p:nvSpPr>
            <p:cNvPr id="16" name="Text Box 18"/>
            <p:cNvSpPr txBox="1">
              <a:spLocks noChangeArrowheads="1"/>
            </p:cNvSpPr>
            <p:nvPr/>
          </p:nvSpPr>
          <p:spPr bwMode="gray">
            <a:xfrm>
              <a:off x="1869" y="1052"/>
              <a:ext cx="2011" cy="292"/>
            </a:xfrm>
            <a:prstGeom prst="rect">
              <a:avLst/>
            </a:prstGeom>
            <a:noFill/>
            <a:ln>
              <a:noFill/>
            </a:ln>
          </p:spPr>
          <p:txBody>
            <a:bodyPr wrap="none">
              <a:spAutoFit/>
            </a:bodyP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a:r>
                <a:rPr lang="zh-CN" altLang="en-US" sz="1800" dirty="0">
                  <a:solidFill>
                    <a:srgbClr val="FFFFFF"/>
                  </a:solidFill>
                  <a:latin typeface="黑体" panose="02010609060101010101" pitchFamily="49" charset="-122"/>
                  <a:ea typeface="黑体" panose="02010609060101010101" pitchFamily="49" charset="-122"/>
                </a:rPr>
                <a:t>认知（过程性、陈述性）</a:t>
              </a:r>
              <a:endParaRPr lang="en-US" altLang="zh-CN" sz="1800" dirty="0">
                <a:solidFill>
                  <a:srgbClr val="FFFFFF"/>
                </a:solidFill>
                <a:latin typeface="黑体" panose="02010609060101010101" pitchFamily="49" charset="-122"/>
                <a:ea typeface="黑体" panose="02010609060101010101" pitchFamily="49" charset="-122"/>
              </a:endParaRPr>
            </a:p>
          </p:txBody>
        </p:sp>
        <p:sp>
          <p:nvSpPr>
            <p:cNvPr id="17" name="AutoShape 19"/>
            <p:cNvSpPr>
              <a:spLocks noChangeArrowheads="1"/>
            </p:cNvSpPr>
            <p:nvPr/>
          </p:nvSpPr>
          <p:spPr bwMode="gray">
            <a:xfrm>
              <a:off x="1872" y="3312"/>
              <a:ext cx="1920" cy="381"/>
            </a:xfrm>
            <a:prstGeom prst="can">
              <a:avLst>
                <a:gd name="adj" fmla="val 32032"/>
              </a:avLst>
            </a:prstGeom>
            <a:gradFill rotWithShape="1">
              <a:gsLst>
                <a:gs pos="0">
                  <a:schemeClr val="hlink">
                    <a:gamma/>
                    <a:shade val="46275"/>
                    <a:invGamma/>
                  </a:schemeClr>
                </a:gs>
                <a:gs pos="50000">
                  <a:schemeClr val="hlink"/>
                </a:gs>
                <a:gs pos="100000">
                  <a:schemeClr val="hlink">
                    <a:gamma/>
                    <a:shade val="46275"/>
                    <a:invGamma/>
                  </a:schemeClr>
                </a:gs>
              </a:gsLst>
              <a:lin ang="0" scaled="1"/>
            </a:gradFill>
            <a:ln w="9525">
              <a:noFill/>
              <a:round/>
            </a:ln>
            <a:effectLst/>
          </p:spPr>
          <p:txBody>
            <a:bodyPr wrap="none" anchor="ct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endParaRPr lang="zh-CN" altLang="en-US" sz="1350">
                <a:ea typeface="宋体" panose="02010600030101010101" pitchFamily="2" charset="-122"/>
              </a:endParaRPr>
            </a:p>
          </p:txBody>
        </p:sp>
        <p:sp>
          <p:nvSpPr>
            <p:cNvPr id="18" name="Text Box 20"/>
            <p:cNvSpPr txBox="1">
              <a:spLocks noChangeArrowheads="1"/>
            </p:cNvSpPr>
            <p:nvPr/>
          </p:nvSpPr>
          <p:spPr bwMode="gray">
            <a:xfrm>
              <a:off x="2504" y="3411"/>
              <a:ext cx="648" cy="292"/>
            </a:xfrm>
            <a:prstGeom prst="rect">
              <a:avLst/>
            </a:prstGeom>
            <a:noFill/>
            <a:ln>
              <a:noFill/>
            </a:ln>
          </p:spPr>
          <p:txBody>
            <a:bodyPr wrap="none">
              <a:spAutoFit/>
            </a:bodyP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a:r>
                <a:rPr lang="zh-CN" altLang="en-US" sz="1800" dirty="0">
                  <a:solidFill>
                    <a:srgbClr val="FFFFFF"/>
                  </a:solidFill>
                  <a:latin typeface="黑体" panose="02010609060101010101" pitchFamily="49" charset="-122"/>
                  <a:ea typeface="黑体" panose="02010609060101010101" pitchFamily="49" charset="-122"/>
                </a:rPr>
                <a:t>经  验</a:t>
              </a:r>
              <a:endParaRPr lang="en-US" altLang="zh-CN" sz="1800" dirty="0">
                <a:solidFill>
                  <a:srgbClr val="FFFFFF"/>
                </a:solidFill>
                <a:latin typeface="黑体" panose="02010609060101010101" pitchFamily="49" charset="-122"/>
                <a:ea typeface="黑体" panose="02010609060101010101" pitchFamily="49" charset="-122"/>
              </a:endParaRPr>
            </a:p>
          </p:txBody>
        </p:sp>
        <p:sp>
          <p:nvSpPr>
            <p:cNvPr id="19" name="AutoShape 21"/>
            <p:cNvSpPr>
              <a:spLocks noChangeArrowheads="1"/>
            </p:cNvSpPr>
            <p:nvPr/>
          </p:nvSpPr>
          <p:spPr bwMode="gray">
            <a:xfrm>
              <a:off x="2269" y="2928"/>
              <a:ext cx="1106" cy="331"/>
            </a:xfrm>
            <a:prstGeom prst="downArrow">
              <a:avLst>
                <a:gd name="adj1" fmla="val 67093"/>
                <a:gd name="adj2" fmla="val 64051"/>
              </a:avLst>
            </a:prstGeom>
            <a:gradFill rotWithShape="1">
              <a:gsLst>
                <a:gs pos="0">
                  <a:schemeClr val="bg2">
                    <a:gamma/>
                    <a:tint val="63529"/>
                    <a:invGamma/>
                    <a:alpha val="12000"/>
                  </a:schemeClr>
                </a:gs>
                <a:gs pos="100000">
                  <a:schemeClr val="bg2"/>
                </a:gs>
              </a:gsLst>
              <a:lin ang="5400000" scaled="1"/>
            </a:gradFill>
            <a:ln w="9525">
              <a:noFill/>
              <a:miter lim="800000"/>
            </a:ln>
            <a:effectLst/>
          </p:spPr>
          <p:txBody>
            <a:bodyPr wrap="none" anchor="ct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endParaRPr lang="zh-CN" altLang="en-US" sz="1350">
                <a:ea typeface="宋体" panose="02010600030101010101" pitchFamily="2" charset="-122"/>
              </a:endParaRPr>
            </a:p>
          </p:txBody>
        </p:sp>
        <p:sp>
          <p:nvSpPr>
            <p:cNvPr id="20" name="AutoShape 10"/>
            <p:cNvSpPr>
              <a:spLocks noChangeArrowheads="1"/>
            </p:cNvSpPr>
            <p:nvPr/>
          </p:nvSpPr>
          <p:spPr bwMode="gray">
            <a:xfrm>
              <a:off x="1857" y="1687"/>
              <a:ext cx="336" cy="1296"/>
            </a:xfrm>
            <a:prstGeom prst="leftArrow">
              <a:avLst>
                <a:gd name="adj1" fmla="val 65583"/>
                <a:gd name="adj2" fmla="val 65181"/>
              </a:avLst>
            </a:prstGeom>
            <a:solidFill>
              <a:schemeClr val="accent1"/>
            </a:solidFill>
            <a:ln w="9525">
              <a:noFill/>
              <a:miter lim="800000"/>
            </a:ln>
            <a:effectLst/>
          </p:spPr>
          <p:txBody>
            <a:bodyPr wrap="none" anchor="ct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endParaRPr lang="zh-CN" altLang="en-US" sz="1350">
                <a:ea typeface="宋体" panose="02010600030101010101" pitchFamily="2" charset="-122"/>
              </a:endParaRPr>
            </a:p>
          </p:txBody>
        </p:sp>
        <p:sp>
          <p:nvSpPr>
            <p:cNvPr id="21" name="AutoShape 17"/>
            <p:cNvSpPr>
              <a:spLocks noChangeArrowheads="1"/>
            </p:cNvSpPr>
            <p:nvPr/>
          </p:nvSpPr>
          <p:spPr bwMode="gray">
            <a:xfrm>
              <a:off x="2268" y="1447"/>
              <a:ext cx="1104" cy="336"/>
            </a:xfrm>
            <a:prstGeom prst="upArrow">
              <a:avLst>
                <a:gd name="adj1" fmla="val 68380"/>
                <a:gd name="adj2" fmla="val 70833"/>
              </a:avLst>
            </a:prstGeom>
            <a:solidFill>
              <a:schemeClr val="accent1"/>
            </a:solidFill>
            <a:ln w="9525">
              <a:noFill/>
              <a:miter lim="800000"/>
            </a:ln>
            <a:effectLst/>
          </p:spPr>
          <p:txBody>
            <a:bodyPr wrap="none" anchor="ct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endParaRPr lang="zh-CN" altLang="en-US" sz="1350">
                <a:ea typeface="宋体" panose="02010600030101010101" pitchFamily="2" charset="-122"/>
              </a:endParaRPr>
            </a:p>
          </p:txBody>
        </p:sp>
        <p:sp>
          <p:nvSpPr>
            <p:cNvPr id="22" name="AutoShape 21"/>
            <p:cNvSpPr>
              <a:spLocks noChangeArrowheads="1"/>
            </p:cNvSpPr>
            <p:nvPr/>
          </p:nvSpPr>
          <p:spPr bwMode="gray">
            <a:xfrm>
              <a:off x="2254" y="2935"/>
              <a:ext cx="1106" cy="331"/>
            </a:xfrm>
            <a:prstGeom prst="downArrow">
              <a:avLst>
                <a:gd name="adj1" fmla="val 67093"/>
                <a:gd name="adj2" fmla="val 64051"/>
              </a:avLst>
            </a:prstGeom>
            <a:solidFill>
              <a:schemeClr val="accent1"/>
            </a:solidFill>
            <a:ln w="9525">
              <a:noFill/>
              <a:miter lim="800000"/>
            </a:ln>
            <a:effectLst/>
          </p:spPr>
          <p:txBody>
            <a:bodyPr wrap="none" anchor="ctr"/>
            <a:lstStyle>
              <a:lvl1pPr eaLnBrk="0" hangingPunct="0">
                <a:defRPr sz="2400">
                  <a:solidFill>
                    <a:schemeClr val="tx1"/>
                  </a:solidFill>
                  <a:latin typeface="Arial" panose="020B0604020202020204" pitchFamily="34" charset="0"/>
                  <a:ea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endParaRPr lang="zh-CN" altLang="en-US" sz="1350">
                <a:ea typeface="宋体" panose="02010600030101010101" pitchFamily="2" charset="-122"/>
              </a:endParaRPr>
            </a:p>
          </p:txBody>
        </p:sp>
      </p:grpSp>
      <p:grpSp>
        <p:nvGrpSpPr>
          <p:cNvPr id="23" name="组合 22"/>
          <p:cNvGrpSpPr/>
          <p:nvPr/>
        </p:nvGrpSpPr>
        <p:grpSpPr>
          <a:xfrm>
            <a:off x="985125" y="2293317"/>
            <a:ext cx="2332687" cy="3174625"/>
            <a:chOff x="694907" y="2400266"/>
            <a:chExt cx="1474134" cy="2613147"/>
          </a:xfrm>
        </p:grpSpPr>
        <p:pic>
          <p:nvPicPr>
            <p:cNvPr id="24" name="图片 23" descr="learn to bike.jpg"/>
            <p:cNvPicPr>
              <a:picLocks noChangeAspect="1"/>
            </p:cNvPicPr>
            <p:nvPr/>
          </p:nvPicPr>
          <p:blipFill>
            <a:blip r:embed="rId1" cstate="print"/>
            <a:stretch>
              <a:fillRect/>
            </a:stretch>
          </p:blipFill>
          <p:spPr>
            <a:xfrm>
              <a:off x="694907" y="2400266"/>
              <a:ext cx="1474134" cy="2243815"/>
            </a:xfrm>
            <a:prstGeom prst="rect">
              <a:avLst/>
            </a:prstGeom>
            <a:effectLst>
              <a:softEdge rad="127000"/>
            </a:effectLst>
          </p:spPr>
        </p:pic>
        <p:sp>
          <p:nvSpPr>
            <p:cNvPr id="25" name="矩形 24"/>
            <p:cNvSpPr/>
            <p:nvPr/>
          </p:nvSpPr>
          <p:spPr>
            <a:xfrm>
              <a:off x="810750" y="4644081"/>
              <a:ext cx="1107997" cy="369332"/>
            </a:xfrm>
            <a:prstGeom prst="rect">
              <a:avLst/>
            </a:prstGeom>
            <a:noFill/>
          </p:spPr>
          <p:txBody>
            <a:bodyPr wrap="none">
              <a:spAutoFit/>
            </a:bodyPr>
            <a:lstStyle/>
            <a:p>
              <a:pPr algn="ctr">
                <a:defRPr/>
              </a:pPr>
              <a:r>
                <a:rPr lang="zh-CN" altLang="en-US"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panose="020B0604020202020204" pitchFamily="34" charset="0"/>
                </a:rPr>
                <a:t>具体事例</a:t>
              </a:r>
              <a:endParaRPr lang="zh-CN" altLang="en-US"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panose="020B0604020202020204" pitchFamily="34" charset="0"/>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10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75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强化学习的原理</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9"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8" name="矩形 37"/>
          <p:cNvSpPr/>
          <p:nvPr/>
        </p:nvSpPr>
        <p:spPr>
          <a:xfrm>
            <a:off x="508520" y="1787813"/>
            <a:ext cx="8097163" cy="4494115"/>
          </a:xfrm>
          <a:prstGeom prst="rect">
            <a:avLst/>
          </a:prstGeom>
        </p:spPr>
        <p:txBody>
          <a:bodyPr wrap="square">
            <a:spAutoFit/>
          </a:bodyPr>
          <a:lstStyle/>
          <a:p>
            <a:pPr marL="457200" indent="-457200" algn="just">
              <a:lnSpc>
                <a:spcPct val="130000"/>
              </a:lnSpc>
              <a:buFont typeface="Wingdings" panose="05000000000000000000" pitchFamily="2" charset="2"/>
              <a:buChar char="Ø"/>
            </a:pPr>
            <a:r>
              <a:rPr lang="zh-CN" altLang="en-US" sz="2800" dirty="0">
                <a:latin typeface="+mn-ea"/>
                <a:cs typeface="Times New Roman" panose="02020603050405020304" pitchFamily="18" charset="0"/>
              </a:rPr>
              <a:t>强化学习（</a:t>
            </a:r>
            <a:r>
              <a:rPr lang="en-US" altLang="zh-CN" sz="2800" dirty="0">
                <a:latin typeface="+mn-ea"/>
                <a:cs typeface="Times New Roman" panose="02020603050405020304" pitchFamily="18" charset="0"/>
              </a:rPr>
              <a:t>Reinforcement Learning</a:t>
            </a:r>
            <a:r>
              <a:rPr lang="zh-CN" altLang="en-US" sz="2800" dirty="0">
                <a:latin typeface="+mn-ea"/>
                <a:cs typeface="Times New Roman" panose="02020603050405020304" pitchFamily="18" charset="0"/>
              </a:rPr>
              <a:t>，</a:t>
            </a:r>
            <a:r>
              <a:rPr lang="en-US" altLang="zh-CN" sz="2800" dirty="0">
                <a:latin typeface="+mn-ea"/>
                <a:cs typeface="Times New Roman" panose="02020603050405020304" pitchFamily="18" charset="0"/>
              </a:rPr>
              <a:t>RL</a:t>
            </a:r>
            <a:r>
              <a:rPr lang="zh-CN" altLang="en-US" sz="2800" dirty="0">
                <a:latin typeface="+mn-ea"/>
                <a:cs typeface="Times New Roman" panose="02020603050405020304" pitchFamily="18" charset="0"/>
              </a:rPr>
              <a:t>）是机器学习中一个热门的研究和应用领域，强调如何基于环境的反馈而行动，以取得最大化的预期收益。</a:t>
            </a:r>
            <a:endParaRPr lang="en-US" altLang="zh-CN" sz="2800" dirty="0">
              <a:latin typeface="+mn-ea"/>
              <a:cs typeface="Times New Roman" panose="02020603050405020304" pitchFamily="18" charset="0"/>
            </a:endParaRPr>
          </a:p>
          <a:p>
            <a:pPr marL="457200" indent="-457200" algn="just">
              <a:lnSpc>
                <a:spcPct val="130000"/>
              </a:lnSpc>
              <a:buFont typeface="Wingdings" panose="05000000000000000000" pitchFamily="2" charset="2"/>
              <a:buChar char="Ø"/>
            </a:pPr>
            <a:r>
              <a:rPr lang="zh-CN" altLang="en-US" sz="2800" dirty="0">
                <a:latin typeface="+mn-ea"/>
                <a:cs typeface="Times New Roman" panose="02020603050405020304" pitchFamily="18" charset="0"/>
              </a:rPr>
              <a:t>其灵感来源于心理学中的行为主义理论，即有机体如何在环境给予的奖励或惩罚的刺激下，逐步形成对刺激的预期，产生能获得最大收益的习惯性行为。</a:t>
            </a:r>
            <a:endParaRPr lang="zh-CN" altLang="en-US" sz="2800" dirty="0">
              <a:latin typeface="+mn-ea"/>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50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blinds(horizontal)">
                                      <p:cBhvr>
                                        <p:cTn id="7" dur="1000"/>
                                        <p:tgtEl>
                                          <p:spTgt spid="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xEl>
                                              <p:pRg st="1" end="1"/>
                                            </p:txEl>
                                          </p:spTgt>
                                        </p:tgtEl>
                                        <p:attrNameLst>
                                          <p:attrName>style.visibility</p:attrName>
                                        </p:attrNameLst>
                                      </p:cBhvr>
                                      <p:to>
                                        <p:strVal val="visible"/>
                                      </p:to>
                                    </p:set>
                                    <p:animEffect transition="in" filter="blinds(horizontal)">
                                      <p:cBhvr>
                                        <p:cTn id="12" dur="1000"/>
                                        <p:tgtEl>
                                          <p:spTgt spid="3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427850" y="1996440"/>
            <a:ext cx="3302749" cy="2898791"/>
            <a:chOff x="5486401" y="2293374"/>
            <a:chExt cx="3302749" cy="2898791"/>
          </a:xfrm>
        </p:grpSpPr>
        <p:grpSp>
          <p:nvGrpSpPr>
            <p:cNvPr id="36" name="Group 15"/>
            <p:cNvGrpSpPr/>
            <p:nvPr/>
          </p:nvGrpSpPr>
          <p:grpSpPr bwMode="auto">
            <a:xfrm>
              <a:off x="5486401" y="2293374"/>
              <a:ext cx="3302749" cy="2309845"/>
              <a:chOff x="884" y="2160"/>
              <a:chExt cx="4062" cy="2203"/>
            </a:xfrm>
          </p:grpSpPr>
          <p:pic>
            <p:nvPicPr>
              <p:cNvPr id="37" name="Picture 9"/>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84" y="2160"/>
                <a:ext cx="3500" cy="2203"/>
              </a:xfrm>
              <a:prstGeom prst="rect">
                <a:avLst/>
              </a:prstGeom>
              <a:noFill/>
              <a:ln>
                <a:noFill/>
              </a:ln>
            </p:spPr>
          </p:pic>
          <p:sp>
            <p:nvSpPr>
              <p:cNvPr id="39" name="Rectangle 10"/>
              <p:cNvSpPr>
                <a:spLocks noChangeArrowheads="1"/>
              </p:cNvSpPr>
              <p:nvPr/>
            </p:nvSpPr>
            <p:spPr bwMode="auto">
              <a:xfrm>
                <a:off x="1981" y="2447"/>
                <a:ext cx="1698" cy="257"/>
              </a:xfrm>
              <a:prstGeom prst="rect">
                <a:avLst/>
              </a:prstGeom>
              <a:noFill/>
              <a:ln>
                <a:noFill/>
              </a:ln>
            </p:spPr>
            <p:txBody>
              <a:bodyPr wrap="none" lIns="42164" tIns="16866" rIns="42164" bIns="16866">
                <a:spAutoFit/>
              </a:bodyPr>
              <a:lstStyle>
                <a:lvl1pPr defTabSz="809625" eaLnBrk="0" hangingPunct="0">
                  <a:defRPr sz="2400">
                    <a:solidFill>
                      <a:schemeClr val="tx1"/>
                    </a:solidFill>
                    <a:latin typeface="Arial" panose="020B0604020202020204" pitchFamily="34" charset="0"/>
                    <a:ea typeface="MS PGothic" panose="020B0600070205080204" charset="-128"/>
                  </a:defRPr>
                </a:lvl1pPr>
                <a:lvl2pPr marL="742950" indent="-285750" defTabSz="809625" eaLnBrk="0" hangingPunct="0">
                  <a:defRPr sz="2400">
                    <a:solidFill>
                      <a:schemeClr val="tx1"/>
                    </a:solidFill>
                    <a:latin typeface="Arial" panose="020B0604020202020204" pitchFamily="34" charset="0"/>
                    <a:ea typeface="MS PGothic" panose="020B0600070205080204" charset="-128"/>
                  </a:defRPr>
                </a:lvl2pPr>
                <a:lvl3pPr marL="1143000" indent="-228600" defTabSz="809625" eaLnBrk="0" hangingPunct="0">
                  <a:defRPr sz="2400">
                    <a:solidFill>
                      <a:schemeClr val="tx1"/>
                    </a:solidFill>
                    <a:latin typeface="Arial" panose="020B0604020202020204" pitchFamily="34" charset="0"/>
                    <a:ea typeface="MS PGothic" panose="020B0600070205080204" charset="-128"/>
                  </a:defRPr>
                </a:lvl3pPr>
                <a:lvl4pPr marL="1600200" indent="-228600" defTabSz="809625" eaLnBrk="0" hangingPunct="0">
                  <a:defRPr sz="2400">
                    <a:solidFill>
                      <a:schemeClr val="tx1"/>
                    </a:solidFill>
                    <a:latin typeface="Arial" panose="020B0604020202020204" pitchFamily="34" charset="0"/>
                    <a:ea typeface="MS PGothic" panose="020B0600070205080204" charset="-128"/>
                  </a:defRPr>
                </a:lvl4pPr>
                <a:lvl5pPr marL="2057400" indent="-228600" defTabSz="809625" eaLnBrk="0" hangingPunct="0">
                  <a:defRPr sz="2400">
                    <a:solidFill>
                      <a:schemeClr val="tx1"/>
                    </a:solidFill>
                    <a:latin typeface="Arial" panose="020B0604020202020204" pitchFamily="34" charset="0"/>
                    <a:ea typeface="MS PGothic" panose="020B060007020508020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nSpc>
                    <a:spcPct val="85000"/>
                  </a:lnSpc>
                </a:pPr>
                <a:r>
                  <a:rPr lang="en-US" altLang="zh-CN" sz="1800" dirty="0">
                    <a:solidFill>
                      <a:schemeClr val="bg1"/>
                    </a:solidFill>
                    <a:latin typeface="Helvetica" pitchFamily="34" charset="0"/>
                  </a:rPr>
                  <a:t>Environment</a:t>
                </a:r>
                <a:endParaRPr lang="en-US" altLang="zh-CN" sz="2000" dirty="0">
                  <a:solidFill>
                    <a:schemeClr val="bg1"/>
                  </a:solidFill>
                  <a:latin typeface="Helvetica" pitchFamily="34" charset="0"/>
                </a:endParaRPr>
              </a:p>
            </p:txBody>
          </p:sp>
          <p:sp>
            <p:nvSpPr>
              <p:cNvPr id="40" name="Rectangle 11"/>
              <p:cNvSpPr>
                <a:spLocks noChangeArrowheads="1"/>
              </p:cNvSpPr>
              <p:nvPr/>
            </p:nvSpPr>
            <p:spPr bwMode="auto">
              <a:xfrm>
                <a:off x="4084" y="3081"/>
                <a:ext cx="862" cy="257"/>
              </a:xfrm>
              <a:prstGeom prst="rect">
                <a:avLst/>
              </a:prstGeom>
              <a:noFill/>
              <a:ln>
                <a:noFill/>
              </a:ln>
            </p:spPr>
            <p:txBody>
              <a:bodyPr wrap="none" lIns="42164" tIns="16866" rIns="42164" bIns="16866">
                <a:spAutoFit/>
              </a:bodyPr>
              <a:lstStyle>
                <a:lvl1pPr defTabSz="809625" eaLnBrk="0" hangingPunct="0">
                  <a:defRPr sz="2400">
                    <a:solidFill>
                      <a:schemeClr val="tx1"/>
                    </a:solidFill>
                    <a:latin typeface="Arial" panose="020B0604020202020204" pitchFamily="34" charset="0"/>
                    <a:ea typeface="MS PGothic" panose="020B0600070205080204" charset="-128"/>
                  </a:defRPr>
                </a:lvl1pPr>
                <a:lvl2pPr marL="742950" indent="-285750" defTabSz="809625" eaLnBrk="0" hangingPunct="0">
                  <a:defRPr sz="2400">
                    <a:solidFill>
                      <a:schemeClr val="tx1"/>
                    </a:solidFill>
                    <a:latin typeface="Arial" panose="020B0604020202020204" pitchFamily="34" charset="0"/>
                    <a:ea typeface="MS PGothic" panose="020B0600070205080204" charset="-128"/>
                  </a:defRPr>
                </a:lvl2pPr>
                <a:lvl3pPr marL="1143000" indent="-228600" defTabSz="809625" eaLnBrk="0" hangingPunct="0">
                  <a:defRPr sz="2400">
                    <a:solidFill>
                      <a:schemeClr val="tx1"/>
                    </a:solidFill>
                    <a:latin typeface="Arial" panose="020B0604020202020204" pitchFamily="34" charset="0"/>
                    <a:ea typeface="MS PGothic" panose="020B0600070205080204" charset="-128"/>
                  </a:defRPr>
                </a:lvl3pPr>
                <a:lvl4pPr marL="1600200" indent="-228600" defTabSz="809625" eaLnBrk="0" hangingPunct="0">
                  <a:defRPr sz="2400">
                    <a:solidFill>
                      <a:schemeClr val="tx1"/>
                    </a:solidFill>
                    <a:latin typeface="Arial" panose="020B0604020202020204" pitchFamily="34" charset="0"/>
                    <a:ea typeface="MS PGothic" panose="020B0600070205080204" charset="-128"/>
                  </a:defRPr>
                </a:lvl4pPr>
                <a:lvl5pPr marL="2057400" indent="-228600" defTabSz="809625" eaLnBrk="0" hangingPunct="0">
                  <a:defRPr sz="2400">
                    <a:solidFill>
                      <a:schemeClr val="tx1"/>
                    </a:solidFill>
                    <a:latin typeface="Arial" panose="020B0604020202020204" pitchFamily="34" charset="0"/>
                    <a:ea typeface="MS PGothic" panose="020B060007020508020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nSpc>
                    <a:spcPct val="85000"/>
                  </a:lnSpc>
                </a:pPr>
                <a:r>
                  <a:rPr lang="en-US" altLang="zh-CN" sz="1800">
                    <a:latin typeface="Helvetica" pitchFamily="34" charset="0"/>
                  </a:rPr>
                  <a:t>action</a:t>
                </a:r>
                <a:endParaRPr lang="en-US" altLang="zh-CN" sz="1800">
                  <a:latin typeface="Helvetica" pitchFamily="34" charset="0"/>
                </a:endParaRPr>
              </a:p>
            </p:txBody>
          </p:sp>
          <p:sp>
            <p:nvSpPr>
              <p:cNvPr id="41" name="Rectangle 12"/>
              <p:cNvSpPr>
                <a:spLocks noChangeArrowheads="1"/>
              </p:cNvSpPr>
              <p:nvPr/>
            </p:nvSpPr>
            <p:spPr bwMode="auto">
              <a:xfrm>
                <a:off x="1484" y="3157"/>
                <a:ext cx="720" cy="257"/>
              </a:xfrm>
              <a:prstGeom prst="rect">
                <a:avLst/>
              </a:prstGeom>
              <a:noFill/>
              <a:ln>
                <a:noFill/>
              </a:ln>
            </p:spPr>
            <p:txBody>
              <a:bodyPr wrap="none" lIns="42164" tIns="16866" rIns="42164" bIns="16866">
                <a:spAutoFit/>
              </a:bodyPr>
              <a:lstStyle>
                <a:lvl1pPr defTabSz="809625" eaLnBrk="0" hangingPunct="0">
                  <a:defRPr sz="2400">
                    <a:solidFill>
                      <a:schemeClr val="tx1"/>
                    </a:solidFill>
                    <a:latin typeface="Arial" panose="020B0604020202020204" pitchFamily="34" charset="0"/>
                    <a:ea typeface="MS PGothic" panose="020B0600070205080204" charset="-128"/>
                  </a:defRPr>
                </a:lvl1pPr>
                <a:lvl2pPr marL="742950" indent="-285750" defTabSz="809625" eaLnBrk="0" hangingPunct="0">
                  <a:defRPr sz="2400">
                    <a:solidFill>
                      <a:schemeClr val="tx1"/>
                    </a:solidFill>
                    <a:latin typeface="Arial" panose="020B0604020202020204" pitchFamily="34" charset="0"/>
                    <a:ea typeface="MS PGothic" panose="020B0600070205080204" charset="-128"/>
                  </a:defRPr>
                </a:lvl2pPr>
                <a:lvl3pPr marL="1143000" indent="-228600" defTabSz="809625" eaLnBrk="0" hangingPunct="0">
                  <a:defRPr sz="2400">
                    <a:solidFill>
                      <a:schemeClr val="tx1"/>
                    </a:solidFill>
                    <a:latin typeface="Arial" panose="020B0604020202020204" pitchFamily="34" charset="0"/>
                    <a:ea typeface="MS PGothic" panose="020B0600070205080204" charset="-128"/>
                  </a:defRPr>
                </a:lvl3pPr>
                <a:lvl4pPr marL="1600200" indent="-228600" defTabSz="809625" eaLnBrk="0" hangingPunct="0">
                  <a:defRPr sz="2400">
                    <a:solidFill>
                      <a:schemeClr val="tx1"/>
                    </a:solidFill>
                    <a:latin typeface="Arial" panose="020B0604020202020204" pitchFamily="34" charset="0"/>
                    <a:ea typeface="MS PGothic" panose="020B0600070205080204" charset="-128"/>
                  </a:defRPr>
                </a:lvl4pPr>
                <a:lvl5pPr marL="2057400" indent="-228600" defTabSz="809625" eaLnBrk="0" hangingPunct="0">
                  <a:defRPr sz="2400">
                    <a:solidFill>
                      <a:schemeClr val="tx1"/>
                    </a:solidFill>
                    <a:latin typeface="Arial" panose="020B0604020202020204" pitchFamily="34" charset="0"/>
                    <a:ea typeface="MS PGothic" panose="020B060007020508020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nSpc>
                    <a:spcPct val="85000"/>
                  </a:lnSpc>
                </a:pPr>
                <a:r>
                  <a:rPr lang="en-US" altLang="zh-CN" sz="1800">
                    <a:latin typeface="Helvetica" pitchFamily="34" charset="0"/>
                  </a:rPr>
                  <a:t>state</a:t>
                </a:r>
                <a:endParaRPr lang="en-US" altLang="zh-CN" sz="1800">
                  <a:latin typeface="Helvetica" pitchFamily="34" charset="0"/>
                </a:endParaRPr>
              </a:p>
            </p:txBody>
          </p:sp>
          <p:sp>
            <p:nvSpPr>
              <p:cNvPr id="42" name="Rectangle 13"/>
              <p:cNvSpPr>
                <a:spLocks noChangeArrowheads="1"/>
              </p:cNvSpPr>
              <p:nvPr/>
            </p:nvSpPr>
            <p:spPr bwMode="auto">
              <a:xfrm>
                <a:off x="1329" y="3789"/>
                <a:ext cx="972" cy="257"/>
              </a:xfrm>
              <a:prstGeom prst="rect">
                <a:avLst/>
              </a:prstGeom>
              <a:noFill/>
              <a:ln>
                <a:noFill/>
              </a:ln>
            </p:spPr>
            <p:txBody>
              <a:bodyPr wrap="none" lIns="42164" tIns="16866" rIns="42164" bIns="16866">
                <a:spAutoFit/>
              </a:bodyPr>
              <a:lstStyle>
                <a:lvl1pPr defTabSz="809625" eaLnBrk="0" hangingPunct="0">
                  <a:defRPr sz="2400">
                    <a:solidFill>
                      <a:schemeClr val="tx1"/>
                    </a:solidFill>
                    <a:latin typeface="Arial" panose="020B0604020202020204" pitchFamily="34" charset="0"/>
                    <a:ea typeface="MS PGothic" panose="020B0600070205080204" charset="-128"/>
                  </a:defRPr>
                </a:lvl1pPr>
                <a:lvl2pPr marL="742950" indent="-285750" defTabSz="809625" eaLnBrk="0" hangingPunct="0">
                  <a:defRPr sz="2400">
                    <a:solidFill>
                      <a:schemeClr val="tx1"/>
                    </a:solidFill>
                    <a:latin typeface="Arial" panose="020B0604020202020204" pitchFamily="34" charset="0"/>
                    <a:ea typeface="MS PGothic" panose="020B0600070205080204" charset="-128"/>
                  </a:defRPr>
                </a:lvl2pPr>
                <a:lvl3pPr marL="1143000" indent="-228600" defTabSz="809625" eaLnBrk="0" hangingPunct="0">
                  <a:defRPr sz="2400">
                    <a:solidFill>
                      <a:schemeClr val="tx1"/>
                    </a:solidFill>
                    <a:latin typeface="Arial" panose="020B0604020202020204" pitchFamily="34" charset="0"/>
                    <a:ea typeface="MS PGothic" panose="020B0600070205080204" charset="-128"/>
                  </a:defRPr>
                </a:lvl3pPr>
                <a:lvl4pPr marL="1600200" indent="-228600" defTabSz="809625" eaLnBrk="0" hangingPunct="0">
                  <a:defRPr sz="2400">
                    <a:solidFill>
                      <a:schemeClr val="tx1"/>
                    </a:solidFill>
                    <a:latin typeface="Arial" panose="020B0604020202020204" pitchFamily="34" charset="0"/>
                    <a:ea typeface="MS PGothic" panose="020B0600070205080204" charset="-128"/>
                  </a:defRPr>
                </a:lvl4pPr>
                <a:lvl5pPr marL="2057400" indent="-228600" defTabSz="809625" eaLnBrk="0" hangingPunct="0">
                  <a:defRPr sz="2400">
                    <a:solidFill>
                      <a:schemeClr val="tx1"/>
                    </a:solidFill>
                    <a:latin typeface="Arial" panose="020B0604020202020204" pitchFamily="34" charset="0"/>
                    <a:ea typeface="MS PGothic" panose="020B060007020508020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nSpc>
                    <a:spcPct val="85000"/>
                  </a:lnSpc>
                </a:pPr>
                <a:r>
                  <a:rPr lang="en-US" altLang="zh-CN" sz="1800">
                    <a:latin typeface="Helvetica" pitchFamily="34" charset="0"/>
                  </a:rPr>
                  <a:t>reward</a:t>
                </a:r>
                <a:endParaRPr lang="en-US" altLang="zh-CN" sz="2000">
                  <a:latin typeface="Helvetica" pitchFamily="34" charset="0"/>
                </a:endParaRPr>
              </a:p>
            </p:txBody>
          </p:sp>
          <p:sp>
            <p:nvSpPr>
              <p:cNvPr id="43" name="Rectangle 14"/>
              <p:cNvSpPr>
                <a:spLocks noChangeArrowheads="1"/>
              </p:cNvSpPr>
              <p:nvPr/>
            </p:nvSpPr>
            <p:spPr bwMode="auto">
              <a:xfrm>
                <a:off x="3019" y="4076"/>
                <a:ext cx="1157" cy="170"/>
              </a:xfrm>
              <a:prstGeom prst="rect">
                <a:avLst/>
              </a:prstGeom>
              <a:noFill/>
              <a:ln w="25400" cmpd="tri">
                <a:noFill/>
                <a:miter lim="800000"/>
              </a:ln>
            </p:spPr>
            <p:txBody>
              <a:bodyPr lIns="42164" tIns="16866" rIns="42164" bIns="16866">
                <a:spAutoFit/>
              </a:bodyPr>
              <a:lstStyle/>
              <a:p>
                <a:pPr algn="ctr" defTabSz="607060" eaLnBrk="0" hangingPunct="0">
                  <a:lnSpc>
                    <a:spcPct val="85000"/>
                  </a:lnSpc>
                  <a:defRPr/>
                </a:pPr>
                <a:r>
                  <a:rPr lang="en-US" altLang="zh-CN" sz="1100" b="1" dirty="0">
                    <a:solidFill>
                      <a:schemeClr val="tx1">
                        <a:lumMod val="60000"/>
                        <a:lumOff val="40000"/>
                      </a:schemeClr>
                    </a:solidFill>
                    <a:latin typeface="Helvetica" pitchFamily="34" charset="0"/>
                  </a:rPr>
                  <a:t>RL </a:t>
                </a:r>
                <a:r>
                  <a:rPr lang="en-US" altLang="en-US" sz="1100" b="1" dirty="0">
                    <a:solidFill>
                      <a:schemeClr val="tx1">
                        <a:lumMod val="60000"/>
                        <a:lumOff val="40000"/>
                      </a:schemeClr>
                    </a:solidFill>
                    <a:latin typeface="Helvetica" pitchFamily="34" charset="0"/>
                  </a:rPr>
                  <a:t>Agent</a:t>
                </a:r>
                <a:endParaRPr lang="en-US" altLang="en-US" sz="1100" b="1" dirty="0">
                  <a:solidFill>
                    <a:schemeClr val="tx1">
                      <a:lumMod val="60000"/>
                      <a:lumOff val="40000"/>
                    </a:schemeClr>
                  </a:solidFill>
                  <a:latin typeface="Helvetica" pitchFamily="34" charset="0"/>
                </a:endParaRPr>
              </a:p>
            </p:txBody>
          </p:sp>
        </p:grpSp>
        <p:sp>
          <p:nvSpPr>
            <p:cNvPr id="46" name="矩形 45"/>
            <p:cNvSpPr/>
            <p:nvPr/>
          </p:nvSpPr>
          <p:spPr>
            <a:xfrm>
              <a:off x="6604311" y="4822833"/>
              <a:ext cx="1107997" cy="369332"/>
            </a:xfrm>
            <a:prstGeom prst="rect">
              <a:avLst/>
            </a:prstGeom>
            <a:noFill/>
          </p:spPr>
          <p:txBody>
            <a:bodyPr wrap="none">
              <a:spAutoFit/>
            </a:bodyPr>
            <a:lstStyle/>
            <a:p>
              <a:pPr algn="ctr">
                <a:defRPr/>
              </a:pPr>
              <a:r>
                <a:rPr lang="zh-CN" altLang="en-US"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panose="020B0604020202020204" pitchFamily="34" charset="0"/>
                </a:rPr>
                <a:t>抽象模型</a:t>
              </a:r>
              <a:endParaRPr lang="zh-CN" altLang="en-US"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panose="020B0604020202020204" pitchFamily="34" charset="0"/>
              </a:endParaRPr>
            </a:p>
          </p:txBody>
        </p:sp>
      </p:grpSp>
      <p:sp>
        <p:nvSpPr>
          <p:cNvPr id="47" name="矩形 46"/>
          <p:cNvSpPr/>
          <p:nvPr/>
        </p:nvSpPr>
        <p:spPr>
          <a:xfrm>
            <a:off x="5648633" y="5219656"/>
            <a:ext cx="3191187" cy="523220"/>
          </a:xfrm>
          <a:prstGeom prst="rect">
            <a:avLst/>
          </a:prstGeom>
        </p:spPr>
        <p:txBody>
          <a:bodyPr wrap="square">
            <a:spAutoFit/>
          </a:bodyPr>
          <a:lstStyle/>
          <a:p>
            <a:r>
              <a:rPr lang="zh-CN" altLang="en-US" sz="2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本质：奖惩和试错</a:t>
            </a:r>
            <a:endParaRPr lang="zh-CN" altLang="en-US" sz="2800" dirty="0">
              <a:latin typeface="Times New Roman" panose="02020603050405020304" pitchFamily="18" charset="0"/>
              <a:cs typeface="Times New Roman" panose="02020603050405020304" pitchFamily="18" charset="0"/>
            </a:endParaRPr>
          </a:p>
        </p:txBody>
      </p:sp>
      <p:sp>
        <p:nvSpPr>
          <p:cNvPr id="49"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8" name="矩形 37"/>
          <p:cNvSpPr/>
          <p:nvPr/>
        </p:nvSpPr>
        <p:spPr>
          <a:xfrm>
            <a:off x="508521" y="1699324"/>
            <a:ext cx="4845144" cy="4699813"/>
          </a:xfrm>
          <a:prstGeom prst="rect">
            <a:avLst/>
          </a:prstGeom>
        </p:spPr>
        <p:txBody>
          <a:bodyPr wrap="square">
            <a:spAutoFit/>
          </a:bodyPr>
          <a:lstStyle/>
          <a:p>
            <a:pPr marL="457200" indent="-457200" algn="just">
              <a:lnSpc>
                <a:spcPct val="130000"/>
              </a:lnSpc>
              <a:buFont typeface="Wingdings" panose="05000000000000000000" pitchFamily="2" charset="2"/>
              <a:buChar char="Ø"/>
            </a:pPr>
            <a:r>
              <a:rPr lang="zh-CN" altLang="en-US" sz="2600" dirty="0">
                <a:latin typeface="+mn-ea"/>
                <a:cs typeface="Times New Roman" panose="02020603050405020304" pitchFamily="18" charset="0"/>
              </a:rPr>
              <a:t>一个强化学习系统由</a:t>
            </a:r>
            <a:r>
              <a:rPr lang="zh-CN" altLang="en-US" sz="2600" dirty="0">
                <a:solidFill>
                  <a:srgbClr val="FF0000"/>
                </a:solidFill>
                <a:latin typeface="+mn-ea"/>
                <a:cs typeface="Times New Roman" panose="02020603050405020304" pitchFamily="18" charset="0"/>
              </a:rPr>
              <a:t>智能体</a:t>
            </a:r>
            <a:r>
              <a:rPr lang="zh-CN" altLang="en-US" sz="2600" dirty="0">
                <a:latin typeface="+mn-ea"/>
                <a:cs typeface="Times New Roman" panose="02020603050405020304" pitchFamily="18" charset="0"/>
              </a:rPr>
              <a:t>和</a:t>
            </a:r>
            <a:r>
              <a:rPr lang="zh-CN" altLang="en-US" sz="2600" dirty="0">
                <a:solidFill>
                  <a:srgbClr val="FF0000"/>
                </a:solidFill>
                <a:latin typeface="+mn-ea"/>
                <a:cs typeface="Times New Roman" panose="02020603050405020304" pitchFamily="18" charset="0"/>
              </a:rPr>
              <a:t>环境</a:t>
            </a:r>
            <a:r>
              <a:rPr lang="zh-CN" altLang="en-US" sz="2600" dirty="0">
                <a:latin typeface="+mn-ea"/>
                <a:cs typeface="Times New Roman" panose="02020603050405020304" pitchFamily="18" charset="0"/>
              </a:rPr>
              <a:t>构成。</a:t>
            </a:r>
            <a:endParaRPr lang="en-US" altLang="zh-CN" sz="2600" dirty="0">
              <a:latin typeface="+mn-ea"/>
              <a:cs typeface="Times New Roman" panose="02020603050405020304" pitchFamily="18" charset="0"/>
            </a:endParaRPr>
          </a:p>
          <a:p>
            <a:pPr marL="457200" indent="-457200" algn="just">
              <a:lnSpc>
                <a:spcPct val="130000"/>
              </a:lnSpc>
              <a:buFont typeface="Wingdings" panose="05000000000000000000" pitchFamily="2" charset="2"/>
              <a:buChar char="Ø"/>
            </a:pPr>
            <a:r>
              <a:rPr lang="zh-CN" altLang="en-US" sz="2600" dirty="0">
                <a:solidFill>
                  <a:srgbClr val="FF0000"/>
                </a:solidFill>
                <a:latin typeface="+mn-ea"/>
                <a:cs typeface="Times New Roman" panose="02020603050405020304" pitchFamily="18" charset="0"/>
              </a:rPr>
              <a:t>强化学习的过程</a:t>
            </a:r>
            <a:r>
              <a:rPr lang="zh-CN" altLang="en-US" sz="2600" dirty="0">
                <a:latin typeface="+mn-ea"/>
                <a:cs typeface="Times New Roman" panose="02020603050405020304" pitchFamily="18" charset="0"/>
              </a:rPr>
              <a:t>是让智能体在环境中做出不同的动作，使得环境状态发生改变，观察者从而对智能体产生一定反馈、赏罚或收益，智能体通过不断试错、调整和优化动作，使收益最大化。</a:t>
            </a:r>
            <a:endParaRPr lang="zh-CN" altLang="en-US" sz="2600" dirty="0">
              <a:latin typeface="+mn-ea"/>
              <a:cs typeface="Times New Roman" panose="02020603050405020304" pitchFamily="18" charset="0"/>
            </a:endParaRPr>
          </a:p>
        </p:txBody>
      </p:sp>
      <p:sp>
        <p:nvSpPr>
          <p:cNvPr id="48" name="矩形 47"/>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强化学习的原理</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blinds(horizontal)">
                                      <p:cBhvr>
                                        <p:cTn id="7" dur="1000"/>
                                        <p:tgtEl>
                                          <p:spTgt spid="38">
                                            <p:txEl>
                                              <p:pRg st="0" end="0"/>
                                            </p:txEl>
                                          </p:spTgt>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8">
                                            <p:txEl>
                                              <p:pRg st="1" end="1"/>
                                            </p:txEl>
                                          </p:spTgt>
                                        </p:tgtEl>
                                        <p:attrNameLst>
                                          <p:attrName>style.visibility</p:attrName>
                                        </p:attrNameLst>
                                      </p:cBhvr>
                                      <p:to>
                                        <p:strVal val="visible"/>
                                      </p:to>
                                    </p:set>
                                    <p:animEffect transition="in" filter="blinds(horizontal)">
                                      <p:cBhvr>
                                        <p:cTn id="18" dur="1000"/>
                                        <p:tgtEl>
                                          <p:spTgt spid="38">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8" name="矩形 37"/>
          <p:cNvSpPr/>
          <p:nvPr/>
        </p:nvSpPr>
        <p:spPr>
          <a:xfrm>
            <a:off x="508520" y="1699324"/>
            <a:ext cx="8411677" cy="4699813"/>
          </a:xfrm>
          <a:prstGeom prst="rect">
            <a:avLst/>
          </a:prstGeom>
        </p:spPr>
        <p:txBody>
          <a:bodyPr wrap="square">
            <a:spAutoFit/>
          </a:bodyPr>
          <a:lstStyle/>
          <a:p>
            <a:pPr marL="457200" indent="-457200" algn="just">
              <a:lnSpc>
                <a:spcPct val="130000"/>
              </a:lnSpc>
              <a:buFont typeface="Wingdings" panose="05000000000000000000" pitchFamily="2" charset="2"/>
              <a:buChar char="Ø"/>
            </a:pPr>
            <a:r>
              <a:rPr lang="zh-CN" altLang="en-US" sz="2600" dirty="0">
                <a:solidFill>
                  <a:srgbClr val="FF0000"/>
                </a:solidFill>
                <a:cs typeface="Times New Roman" panose="02020603050405020304" pitchFamily="18" charset="0"/>
              </a:rPr>
              <a:t>智能体</a:t>
            </a:r>
            <a:endParaRPr lang="en-US" altLang="zh-CN" sz="2600" dirty="0">
              <a:solidFill>
                <a:srgbClr val="FF0000"/>
              </a:solidFill>
              <a:cs typeface="Times New Roman" panose="02020603050405020304" pitchFamily="18" charset="0"/>
            </a:endParaRPr>
          </a:p>
          <a:p>
            <a:pPr algn="just">
              <a:lnSpc>
                <a:spcPct val="130000"/>
              </a:lnSpc>
            </a:pPr>
            <a:r>
              <a:rPr lang="zh-CN" altLang="en-US" sz="2600" dirty="0">
                <a:cs typeface="Times New Roman" panose="02020603050405020304" pitchFamily="18" charset="0"/>
              </a:rPr>
              <a:t>   强化学习算法的主体，能够根据</a:t>
            </a:r>
            <a:endParaRPr lang="en-US" altLang="zh-CN" sz="2600" dirty="0">
              <a:cs typeface="Times New Roman" panose="02020603050405020304" pitchFamily="18" charset="0"/>
            </a:endParaRPr>
          </a:p>
          <a:p>
            <a:pPr algn="just">
              <a:lnSpc>
                <a:spcPct val="130000"/>
              </a:lnSpc>
            </a:pPr>
            <a:r>
              <a:rPr lang="zh-CN" altLang="en-US" sz="2600" dirty="0">
                <a:cs typeface="Times New Roman" panose="02020603050405020304" pitchFamily="18" charset="0"/>
              </a:rPr>
              <a:t>经验做出主观判断并执行动作，是整个智能系统的核心。例如机器人、无人机、</a:t>
            </a:r>
            <a:r>
              <a:rPr lang="en-US" altLang="zh-CN" sz="2600" dirty="0">
                <a:cs typeface="Times New Roman" panose="02020603050405020304" pitchFamily="18" charset="0"/>
              </a:rPr>
              <a:t>AlphaGo</a:t>
            </a:r>
            <a:r>
              <a:rPr lang="zh-CN" altLang="en-US" sz="2600" dirty="0">
                <a:cs typeface="Times New Roman" panose="02020603050405020304" pitchFamily="18" charset="0"/>
              </a:rPr>
              <a:t>等。</a:t>
            </a:r>
            <a:endParaRPr lang="en-US" altLang="zh-CN" sz="2600" dirty="0">
              <a:cs typeface="Times New Roman" panose="02020603050405020304" pitchFamily="18" charset="0"/>
            </a:endParaRPr>
          </a:p>
          <a:p>
            <a:pPr marL="457200" indent="-457200" algn="just">
              <a:lnSpc>
                <a:spcPct val="130000"/>
              </a:lnSpc>
              <a:buFont typeface="Wingdings" panose="05000000000000000000" pitchFamily="2" charset="2"/>
              <a:buChar char="Ø"/>
            </a:pPr>
            <a:r>
              <a:rPr lang="zh-CN" altLang="en-US" sz="2600" dirty="0">
                <a:solidFill>
                  <a:srgbClr val="FF0000"/>
                </a:solidFill>
                <a:cs typeface="Times New Roman" panose="02020603050405020304" pitchFamily="18" charset="0"/>
              </a:rPr>
              <a:t>动作列表</a:t>
            </a:r>
            <a:endParaRPr lang="en-US" altLang="zh-CN" sz="2600" dirty="0">
              <a:solidFill>
                <a:srgbClr val="FF0000"/>
              </a:solidFill>
              <a:cs typeface="Times New Roman" panose="02020603050405020304" pitchFamily="18" charset="0"/>
            </a:endParaRPr>
          </a:p>
          <a:p>
            <a:pPr algn="just">
              <a:lnSpc>
                <a:spcPct val="130000"/>
              </a:lnSpc>
            </a:pPr>
            <a:r>
              <a:rPr lang="zh-CN" altLang="en-US" sz="2600" dirty="0">
                <a:cs typeface="Times New Roman" panose="02020603050405020304" pitchFamily="18" charset="0"/>
              </a:rPr>
              <a:t>   智能体对环境产生影响的方式。例如，在电子游戏中，动作列表包括向右奔跑或向左奔跑、向上跳或向下跳、下蹲或者站住不动。在股市中，动作列表包括买入、卖出或持有。在无人机中，包括速度、加速度等。</a:t>
            </a:r>
            <a:endParaRPr lang="en-US" altLang="zh-CN" sz="2600" dirty="0">
              <a:cs typeface="Times New Roman" panose="02020603050405020304" pitchFamily="18" charset="0"/>
            </a:endParaRPr>
          </a:p>
        </p:txBody>
      </p:sp>
      <p:sp>
        <p:nvSpPr>
          <p:cNvPr id="48" name="矩形 47"/>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强化学习的原理</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15" name="图片 14"/>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844980" y="860016"/>
            <a:ext cx="3075217" cy="1971136"/>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blinds(horizontal)">
                                      <p:cBhvr>
                                        <p:cTn id="7" dur="1000"/>
                                        <p:tgtEl>
                                          <p:spTgt spid="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xEl>
                                              <p:pRg st="1" end="1"/>
                                            </p:txEl>
                                          </p:spTgt>
                                        </p:tgtEl>
                                        <p:attrNameLst>
                                          <p:attrName>style.visibility</p:attrName>
                                        </p:attrNameLst>
                                      </p:cBhvr>
                                      <p:to>
                                        <p:strVal val="visible"/>
                                      </p:to>
                                    </p:set>
                                    <p:animEffect transition="in" filter="blinds(horizontal)">
                                      <p:cBhvr>
                                        <p:cTn id="12" dur="1000"/>
                                        <p:tgtEl>
                                          <p:spTgt spid="38">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8">
                                            <p:txEl>
                                              <p:pRg st="2" end="2"/>
                                            </p:txEl>
                                          </p:spTgt>
                                        </p:tgtEl>
                                        <p:attrNameLst>
                                          <p:attrName>style.visibility</p:attrName>
                                        </p:attrNameLst>
                                      </p:cBhvr>
                                      <p:to>
                                        <p:strVal val="visible"/>
                                      </p:to>
                                    </p:set>
                                    <p:animEffect transition="in" filter="blinds(horizontal)">
                                      <p:cBhvr>
                                        <p:cTn id="15" dur="1000"/>
                                        <p:tgtEl>
                                          <p:spTgt spid="3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8">
                                            <p:txEl>
                                              <p:pRg st="3" end="3"/>
                                            </p:txEl>
                                          </p:spTgt>
                                        </p:tgtEl>
                                        <p:attrNameLst>
                                          <p:attrName>style.visibility</p:attrName>
                                        </p:attrNameLst>
                                      </p:cBhvr>
                                      <p:to>
                                        <p:strVal val="visible"/>
                                      </p:to>
                                    </p:set>
                                    <p:animEffect transition="in" filter="blinds(horizontal)">
                                      <p:cBhvr>
                                        <p:cTn id="20" dur="1000"/>
                                        <p:tgtEl>
                                          <p:spTgt spid="3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8">
                                            <p:txEl>
                                              <p:pRg st="4" end="4"/>
                                            </p:txEl>
                                          </p:spTgt>
                                        </p:tgtEl>
                                        <p:attrNameLst>
                                          <p:attrName>style.visibility</p:attrName>
                                        </p:attrNameLst>
                                      </p:cBhvr>
                                      <p:to>
                                        <p:strVal val="visible"/>
                                      </p:to>
                                    </p:set>
                                    <p:animEffect transition="in" filter="blinds(horizontal)">
                                      <p:cBhvr>
                                        <p:cTn id="25" dur="1000"/>
                                        <p:tgtEl>
                                          <p:spTgt spid="3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8" name="矩形 37"/>
          <p:cNvSpPr/>
          <p:nvPr/>
        </p:nvSpPr>
        <p:spPr>
          <a:xfrm>
            <a:off x="508521" y="1699324"/>
            <a:ext cx="8193028" cy="4699813"/>
          </a:xfrm>
          <a:prstGeom prst="rect">
            <a:avLst/>
          </a:prstGeom>
        </p:spPr>
        <p:txBody>
          <a:bodyPr wrap="square">
            <a:spAutoFit/>
          </a:bodyPr>
          <a:lstStyle/>
          <a:p>
            <a:pPr marL="457200" indent="-457200" algn="just">
              <a:lnSpc>
                <a:spcPct val="130000"/>
              </a:lnSpc>
              <a:buFont typeface="Wingdings" panose="05000000000000000000" pitchFamily="2" charset="2"/>
              <a:buChar char="Ø"/>
            </a:pPr>
            <a:r>
              <a:rPr lang="zh-CN" altLang="en-US" sz="2600" dirty="0">
                <a:solidFill>
                  <a:srgbClr val="FF0000"/>
                </a:solidFill>
                <a:cs typeface="Times New Roman" panose="02020603050405020304" pitchFamily="18" charset="0"/>
              </a:rPr>
              <a:t>环境</a:t>
            </a:r>
            <a:endParaRPr lang="en-US" altLang="zh-CN" sz="2600" dirty="0">
              <a:solidFill>
                <a:srgbClr val="FF0000"/>
              </a:solidFill>
              <a:cs typeface="Times New Roman" panose="02020603050405020304" pitchFamily="18" charset="0"/>
            </a:endParaRPr>
          </a:p>
          <a:p>
            <a:pPr algn="just">
              <a:lnSpc>
                <a:spcPct val="130000"/>
              </a:lnSpc>
            </a:pPr>
            <a:r>
              <a:rPr lang="zh-CN" altLang="en-US" sz="2600" dirty="0">
                <a:cs typeface="Times New Roman" panose="02020603050405020304" pitchFamily="18" charset="0"/>
              </a:rPr>
              <a:t>  智能体以外的一切统称为环境，</a:t>
            </a:r>
            <a:endParaRPr lang="en-US" altLang="zh-CN" sz="2600" dirty="0">
              <a:cs typeface="Times New Roman" panose="02020603050405020304" pitchFamily="18" charset="0"/>
            </a:endParaRPr>
          </a:p>
          <a:p>
            <a:pPr algn="just">
              <a:lnSpc>
                <a:spcPct val="130000"/>
              </a:lnSpc>
            </a:pPr>
            <a:r>
              <a:rPr lang="zh-CN" altLang="en-US" sz="2600" dirty="0">
                <a:cs typeface="Times New Roman" panose="02020603050405020304" pitchFamily="18" charset="0"/>
              </a:rPr>
              <a:t>环境在与智能体的交互中，环境将智能体的动作作为输入，智能体的动作对环境的状态产生好的或坏的影响，同时环境以一定的评价机制向智能体进行反馈，比如奖励或惩罚、评分等。例如，</a:t>
            </a:r>
            <a:r>
              <a:rPr lang="en-US" altLang="zh-CN" sz="2600" dirty="0">
                <a:cs typeface="Times New Roman" panose="02020603050405020304" pitchFamily="18" charset="0"/>
              </a:rPr>
              <a:t>AlphaGo</a:t>
            </a:r>
            <a:r>
              <a:rPr lang="zh-CN" altLang="en-US" sz="2600" dirty="0">
                <a:cs typeface="Times New Roman" panose="02020603050405020304" pitchFamily="18" charset="0"/>
              </a:rPr>
              <a:t>下了一步棋，环境会给出该步棋的好坏。如果评价为好，那么</a:t>
            </a:r>
            <a:r>
              <a:rPr lang="en-US" altLang="zh-CN" sz="2600" dirty="0">
                <a:cs typeface="Times New Roman" panose="02020603050405020304" pitchFamily="18" charset="0"/>
              </a:rPr>
              <a:t>AlphaGo</a:t>
            </a:r>
            <a:r>
              <a:rPr lang="zh-CN" altLang="en-US" sz="2600" dirty="0">
                <a:cs typeface="Times New Roman" panose="02020603050405020304" pitchFamily="18" charset="0"/>
              </a:rPr>
              <a:t>在以后遇到同样的棋局是会有很大可能使用相同的下法，否则会尝试其他下法。</a:t>
            </a:r>
            <a:endParaRPr lang="zh-CN" altLang="en-US" sz="2600" dirty="0">
              <a:cs typeface="Times New Roman" panose="02020603050405020304" pitchFamily="18" charset="0"/>
            </a:endParaRPr>
          </a:p>
        </p:txBody>
      </p:sp>
      <p:sp>
        <p:nvSpPr>
          <p:cNvPr id="48" name="矩形 47"/>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强化学习的原理</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15" name="图片 14"/>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844980" y="860016"/>
            <a:ext cx="3075217" cy="1971136"/>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50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blinds(horizontal)">
                                      <p:cBhvr>
                                        <p:cTn id="7" dur="750"/>
                                        <p:tgtEl>
                                          <p:spTgt spid="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xEl>
                                              <p:pRg st="1" end="1"/>
                                            </p:txEl>
                                          </p:spTgt>
                                        </p:tgtEl>
                                        <p:attrNameLst>
                                          <p:attrName>style.visibility</p:attrName>
                                        </p:attrNameLst>
                                      </p:cBhvr>
                                      <p:to>
                                        <p:strVal val="visible"/>
                                      </p:to>
                                    </p:set>
                                    <p:animEffect transition="in" filter="blinds(horizontal)">
                                      <p:cBhvr>
                                        <p:cTn id="12" dur="1000"/>
                                        <p:tgtEl>
                                          <p:spTgt spid="38">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8">
                                            <p:txEl>
                                              <p:pRg st="2" end="2"/>
                                            </p:txEl>
                                          </p:spTgt>
                                        </p:tgtEl>
                                        <p:attrNameLst>
                                          <p:attrName>style.visibility</p:attrName>
                                        </p:attrNameLst>
                                      </p:cBhvr>
                                      <p:to>
                                        <p:strVal val="visible"/>
                                      </p:to>
                                    </p:set>
                                    <p:animEffect transition="in" filter="blinds(horizontal)">
                                      <p:cBhvr>
                                        <p:cTn id="15" dur="1000"/>
                                        <p:tgtEl>
                                          <p:spTgt spid="3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8" name="矩形 37"/>
          <p:cNvSpPr/>
          <p:nvPr/>
        </p:nvSpPr>
        <p:spPr>
          <a:xfrm>
            <a:off x="508521" y="1699324"/>
            <a:ext cx="8193028" cy="4179670"/>
          </a:xfrm>
          <a:prstGeom prst="rect">
            <a:avLst/>
          </a:prstGeom>
        </p:spPr>
        <p:txBody>
          <a:bodyPr wrap="square">
            <a:spAutoFit/>
          </a:bodyPr>
          <a:lstStyle/>
          <a:p>
            <a:pPr marL="457200" indent="-457200" algn="just">
              <a:lnSpc>
                <a:spcPct val="130000"/>
              </a:lnSpc>
              <a:buFont typeface="Wingdings" panose="05000000000000000000" pitchFamily="2" charset="2"/>
              <a:buChar char="Ø"/>
            </a:pPr>
            <a:r>
              <a:rPr lang="zh-CN" altLang="en-US" sz="2600" dirty="0">
                <a:solidFill>
                  <a:srgbClr val="FF0000"/>
                </a:solidFill>
                <a:cs typeface="Times New Roman" panose="02020603050405020304" pitchFamily="18" charset="0"/>
              </a:rPr>
              <a:t>试错学习</a:t>
            </a:r>
            <a:endParaRPr lang="en-US" altLang="zh-CN" sz="2600" dirty="0">
              <a:solidFill>
                <a:srgbClr val="FF0000"/>
              </a:solidFill>
              <a:cs typeface="Times New Roman" panose="02020603050405020304" pitchFamily="18" charset="0"/>
            </a:endParaRPr>
          </a:p>
          <a:p>
            <a:pPr algn="just">
              <a:lnSpc>
                <a:spcPct val="130000"/>
              </a:lnSpc>
            </a:pPr>
            <a:r>
              <a:rPr lang="en-US" altLang="zh-CN" sz="2600" dirty="0">
                <a:cs typeface="Times New Roman" panose="02020603050405020304" pitchFamily="18" charset="0"/>
              </a:rPr>
              <a:t>   </a:t>
            </a:r>
            <a:r>
              <a:rPr lang="zh-CN" altLang="en-US" sz="2600" dirty="0">
                <a:cs typeface="Times New Roman" panose="02020603050405020304" pitchFamily="18" charset="0"/>
              </a:rPr>
              <a:t>强化学习一般没有直接的指导信息，智能体要不断与环境进行交互，通过试错的方式获得收益或确定最佳策略。</a:t>
            </a:r>
            <a:endParaRPr lang="en-US" altLang="zh-CN" sz="2600" dirty="0">
              <a:cs typeface="Times New Roman" panose="02020603050405020304" pitchFamily="18" charset="0"/>
            </a:endParaRPr>
          </a:p>
          <a:p>
            <a:pPr marL="457200" indent="-457200" algn="just">
              <a:lnSpc>
                <a:spcPct val="130000"/>
              </a:lnSpc>
              <a:buFont typeface="Wingdings" panose="05000000000000000000" pitchFamily="2" charset="2"/>
              <a:buChar char="Ø"/>
            </a:pPr>
            <a:r>
              <a:rPr lang="zh-CN" altLang="en-US" sz="2600" dirty="0">
                <a:solidFill>
                  <a:srgbClr val="FF0000"/>
                </a:solidFill>
                <a:cs typeface="Times New Roman" panose="02020603050405020304" pitchFamily="18" charset="0"/>
              </a:rPr>
              <a:t>延迟回报</a:t>
            </a:r>
            <a:endParaRPr lang="en-US" altLang="zh-CN" sz="2600" dirty="0">
              <a:solidFill>
                <a:srgbClr val="FF0000"/>
              </a:solidFill>
              <a:cs typeface="Times New Roman" panose="02020603050405020304" pitchFamily="18" charset="0"/>
            </a:endParaRPr>
          </a:p>
          <a:p>
            <a:pPr algn="just">
              <a:lnSpc>
                <a:spcPct val="130000"/>
              </a:lnSpc>
            </a:pPr>
            <a:r>
              <a:rPr lang="en-US" altLang="zh-CN" sz="2600" dirty="0">
                <a:cs typeface="Times New Roman" panose="02020603050405020304" pitchFamily="18" charset="0"/>
              </a:rPr>
              <a:t>   </a:t>
            </a:r>
            <a:r>
              <a:rPr lang="zh-CN" altLang="en-US" sz="2600" dirty="0">
                <a:cs typeface="Times New Roman" panose="02020603050405020304" pitchFamily="18" charset="0"/>
              </a:rPr>
              <a:t>强化学习的指导信息很少，而且往往是在事后（最后一个状态）才给出，比如电子游戏中只有在每一次游戏结束后，才有一个</a:t>
            </a:r>
            <a:r>
              <a:rPr lang="en-US" altLang="zh-CN" sz="2600" dirty="0">
                <a:cs typeface="Times New Roman" panose="02020603050405020304" pitchFamily="18" charset="0"/>
              </a:rPr>
              <a:t>Game Over</a:t>
            </a:r>
            <a:r>
              <a:rPr lang="zh-CN" altLang="en-US" sz="2600" dirty="0">
                <a:cs typeface="Times New Roman" panose="02020603050405020304" pitchFamily="18" charset="0"/>
              </a:rPr>
              <a:t>或</a:t>
            </a:r>
            <a:r>
              <a:rPr lang="en-US" altLang="zh-CN" sz="2600" dirty="0">
                <a:cs typeface="Times New Roman" panose="02020603050405020304" pitchFamily="18" charset="0"/>
              </a:rPr>
              <a:t>Win</a:t>
            </a:r>
            <a:r>
              <a:rPr lang="zh-CN" altLang="en-US" sz="2600" dirty="0">
                <a:cs typeface="Times New Roman" panose="02020603050405020304" pitchFamily="18" charset="0"/>
              </a:rPr>
              <a:t>的回报。</a:t>
            </a:r>
            <a:r>
              <a:rPr lang="en-US" altLang="zh-CN" sz="2600" dirty="0">
                <a:cs typeface="Times New Roman" panose="02020603050405020304" pitchFamily="18" charset="0"/>
              </a:rPr>
              <a:t> </a:t>
            </a:r>
            <a:endParaRPr lang="zh-CN" altLang="en-US" sz="2600" dirty="0">
              <a:cs typeface="Times New Roman" panose="02020603050405020304" pitchFamily="18" charset="0"/>
            </a:endParaRPr>
          </a:p>
        </p:txBody>
      </p:sp>
      <p:sp>
        <p:nvSpPr>
          <p:cNvPr id="48" name="矩形 47"/>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强化学习的特点</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75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xEl>
                                              <p:pRg st="0" end="0"/>
                                            </p:txEl>
                                          </p:spTgt>
                                        </p:tgtEl>
                                        <p:attrNameLst>
                                          <p:attrName>style.visibility</p:attrName>
                                        </p:attrNameLst>
                                      </p:cBhvr>
                                      <p:to>
                                        <p:strVal val="visible"/>
                                      </p:to>
                                    </p:set>
                                    <p:animEffect transition="in" filter="blinds(horizontal)">
                                      <p:cBhvr>
                                        <p:cTn id="12" dur="1000"/>
                                        <p:tgtEl>
                                          <p:spTgt spid="38">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8">
                                            <p:txEl>
                                              <p:pRg st="2" end="2"/>
                                            </p:txEl>
                                          </p:spTgt>
                                        </p:tgtEl>
                                        <p:attrNameLst>
                                          <p:attrName>style.visibility</p:attrName>
                                        </p:attrNameLst>
                                      </p:cBhvr>
                                      <p:to>
                                        <p:strVal val="visible"/>
                                      </p:to>
                                    </p:set>
                                    <p:animEffect transition="in" filter="blinds(horizontal)">
                                      <p:cBhvr>
                                        <p:cTn id="15" dur="1000"/>
                                        <p:tgtEl>
                                          <p:spTgt spid="3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8">
                                            <p:txEl>
                                              <p:pRg st="1" end="1"/>
                                            </p:txEl>
                                          </p:spTgt>
                                        </p:tgtEl>
                                        <p:attrNameLst>
                                          <p:attrName>style.visibility</p:attrName>
                                        </p:attrNameLst>
                                      </p:cBhvr>
                                      <p:to>
                                        <p:strVal val="visible"/>
                                      </p:to>
                                    </p:set>
                                    <p:animEffect transition="in" filter="blinds(horizontal)">
                                      <p:cBhvr>
                                        <p:cTn id="20" dur="1000"/>
                                        <p:tgtEl>
                                          <p:spTgt spid="38">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8">
                                            <p:txEl>
                                              <p:pRg st="3" end="3"/>
                                            </p:txEl>
                                          </p:spTgt>
                                        </p:tgtEl>
                                        <p:attrNameLst>
                                          <p:attrName>style.visibility</p:attrName>
                                        </p:attrNameLst>
                                      </p:cBhvr>
                                      <p:to>
                                        <p:strVal val="visible"/>
                                      </p:to>
                                    </p:set>
                                    <p:animEffect transition="in" filter="blinds(horizontal)">
                                      <p:cBhvr>
                                        <p:cTn id="25" dur="1000"/>
                                        <p:tgtEl>
                                          <p:spTgt spid="3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8" name="矩形 37"/>
          <p:cNvSpPr/>
          <p:nvPr/>
        </p:nvSpPr>
        <p:spPr>
          <a:xfrm>
            <a:off x="508521" y="1699324"/>
            <a:ext cx="8193028" cy="3599512"/>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en-US" sz="2600" dirty="0">
                <a:solidFill>
                  <a:srgbClr val="FF0000"/>
                </a:solidFill>
                <a:latin typeface="+mn-ea"/>
                <a:cs typeface="Times New Roman" panose="02020603050405020304" pitchFamily="18" charset="0"/>
              </a:rPr>
              <a:t>强化学习与其他机器学习算法的不同之处</a:t>
            </a:r>
            <a:r>
              <a:rPr lang="en-US" altLang="zh-CN" sz="2600" dirty="0">
                <a:latin typeface="+mn-ea"/>
                <a:cs typeface="Times New Roman" panose="02020603050405020304" pitchFamily="18" charset="0"/>
              </a:rPr>
              <a:t>   </a:t>
            </a:r>
            <a:endParaRPr lang="en-US" altLang="zh-CN" sz="2600" dirty="0">
              <a:latin typeface="+mn-ea"/>
              <a:cs typeface="Times New Roman" panose="02020603050405020304" pitchFamily="18" charset="0"/>
            </a:endParaRPr>
          </a:p>
          <a:p>
            <a:pPr marL="538480" indent="-273050" algn="just">
              <a:lnSpc>
                <a:spcPct val="150000"/>
              </a:lnSpc>
              <a:buFont typeface="Arial" panose="020B0604020202020204" pitchFamily="34" charset="0"/>
              <a:buChar char="•"/>
            </a:pPr>
            <a:r>
              <a:rPr lang="zh-CN" altLang="en-US" sz="2600" dirty="0">
                <a:latin typeface="+mn-ea"/>
                <a:cs typeface="Times New Roman" panose="02020603050405020304" pitchFamily="18" charset="0"/>
              </a:rPr>
              <a:t>没有监督信息，只有奖励信号；</a:t>
            </a:r>
            <a:endParaRPr lang="en-US" altLang="zh-CN" sz="2600" dirty="0">
              <a:latin typeface="+mn-ea"/>
              <a:cs typeface="Times New Roman" panose="02020603050405020304" pitchFamily="18" charset="0"/>
            </a:endParaRPr>
          </a:p>
          <a:p>
            <a:pPr marL="538480" indent="-273050" algn="just">
              <a:lnSpc>
                <a:spcPct val="150000"/>
              </a:lnSpc>
              <a:buFont typeface="Arial" panose="020B0604020202020204" pitchFamily="34" charset="0"/>
              <a:buChar char="•"/>
            </a:pPr>
            <a:r>
              <a:rPr lang="zh-CN" altLang="en-US" sz="2600" dirty="0">
                <a:latin typeface="+mn-ea"/>
                <a:cs typeface="Times New Roman" panose="02020603050405020304" pitchFamily="18" charset="0"/>
              </a:rPr>
              <a:t>奖励信号不一定是实时的，具有延迟；</a:t>
            </a:r>
            <a:endParaRPr lang="en-US" altLang="zh-CN" sz="2600" dirty="0">
              <a:latin typeface="+mn-ea"/>
              <a:cs typeface="Times New Roman" panose="02020603050405020304" pitchFamily="18" charset="0"/>
            </a:endParaRPr>
          </a:p>
          <a:p>
            <a:pPr marL="538480" indent="-273050" algn="just">
              <a:lnSpc>
                <a:spcPct val="150000"/>
              </a:lnSpc>
              <a:buFont typeface="Arial" panose="020B0604020202020204" pitchFamily="34" charset="0"/>
              <a:buChar char="•"/>
            </a:pPr>
            <a:r>
              <a:rPr lang="zh-CN" altLang="en-US" sz="2600" dirty="0">
                <a:latin typeface="+mn-ea"/>
                <a:cs typeface="Times New Roman" panose="02020603050405020304" pitchFamily="18" charset="0"/>
              </a:rPr>
              <a:t>强化学习是序列学习，时间在强化学习中具有重要的意义；</a:t>
            </a:r>
            <a:endParaRPr lang="en-US" altLang="zh-CN" sz="2600" dirty="0">
              <a:latin typeface="+mn-ea"/>
              <a:cs typeface="Times New Roman" panose="02020603050405020304" pitchFamily="18" charset="0"/>
            </a:endParaRPr>
          </a:p>
          <a:p>
            <a:pPr marL="538480" indent="-273050" algn="just">
              <a:lnSpc>
                <a:spcPct val="150000"/>
              </a:lnSpc>
              <a:buFont typeface="Arial" panose="020B0604020202020204" pitchFamily="34" charset="0"/>
              <a:buChar char="•"/>
            </a:pPr>
            <a:r>
              <a:rPr lang="zh-CN" altLang="en-US" sz="2600" dirty="0">
                <a:latin typeface="+mn-ea"/>
                <a:cs typeface="Times New Roman" panose="02020603050405020304" pitchFamily="18" charset="0"/>
              </a:rPr>
              <a:t>智能体的行为会影响以后所有的决策。</a:t>
            </a:r>
            <a:endParaRPr lang="en-US" altLang="zh-CN" sz="2600" dirty="0">
              <a:latin typeface="+mn-ea"/>
              <a:cs typeface="Times New Roman" panose="02020603050405020304" pitchFamily="18" charset="0"/>
            </a:endParaRPr>
          </a:p>
        </p:txBody>
      </p:sp>
      <p:sp>
        <p:nvSpPr>
          <p:cNvPr id="48" name="矩形 47"/>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强化学习的特点</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50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blinds(horizontal)">
                                      <p:cBhvr>
                                        <p:cTn id="7" dur="750"/>
                                        <p:tgtEl>
                                          <p:spTgt spid="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xEl>
                                              <p:pRg st="1" end="1"/>
                                            </p:txEl>
                                          </p:spTgt>
                                        </p:tgtEl>
                                        <p:attrNameLst>
                                          <p:attrName>style.visibility</p:attrName>
                                        </p:attrNameLst>
                                      </p:cBhvr>
                                      <p:to>
                                        <p:strVal val="visible"/>
                                      </p:to>
                                    </p:set>
                                    <p:animEffect transition="in" filter="blinds(horizontal)">
                                      <p:cBhvr>
                                        <p:cTn id="12" dur="1000"/>
                                        <p:tgtEl>
                                          <p:spTgt spid="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8">
                                            <p:txEl>
                                              <p:pRg st="2" end="2"/>
                                            </p:txEl>
                                          </p:spTgt>
                                        </p:tgtEl>
                                        <p:attrNameLst>
                                          <p:attrName>style.visibility</p:attrName>
                                        </p:attrNameLst>
                                      </p:cBhvr>
                                      <p:to>
                                        <p:strVal val="visible"/>
                                      </p:to>
                                    </p:set>
                                    <p:animEffect transition="in" filter="blinds(horizontal)">
                                      <p:cBhvr>
                                        <p:cTn id="17" dur="1000"/>
                                        <p:tgtEl>
                                          <p:spTgt spid="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
                                            <p:txEl>
                                              <p:pRg st="3" end="3"/>
                                            </p:txEl>
                                          </p:spTgt>
                                        </p:tgtEl>
                                        <p:attrNameLst>
                                          <p:attrName>style.visibility</p:attrName>
                                        </p:attrNameLst>
                                      </p:cBhvr>
                                      <p:to>
                                        <p:strVal val="visible"/>
                                      </p:to>
                                    </p:set>
                                    <p:animEffect transition="in" filter="blinds(horizontal)">
                                      <p:cBhvr>
                                        <p:cTn id="22" dur="1000"/>
                                        <p:tgtEl>
                                          <p:spTgt spid="3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8">
                                            <p:txEl>
                                              <p:pRg st="4" end="4"/>
                                            </p:txEl>
                                          </p:spTgt>
                                        </p:tgtEl>
                                        <p:attrNameLst>
                                          <p:attrName>style.visibility</p:attrName>
                                        </p:attrNameLst>
                                      </p:cBhvr>
                                      <p:to>
                                        <p:strVal val="visible"/>
                                      </p:to>
                                    </p:set>
                                    <p:animEffect transition="in" filter="blinds(horizontal)">
                                      <p:cBhvr>
                                        <p:cTn id="27" dur="1000"/>
                                        <p:tgtEl>
                                          <p:spTgt spid="3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30941" y="4304919"/>
            <a:ext cx="8133735" cy="2265941"/>
          </a:xfrm>
          <a:prstGeom prst="rect">
            <a:avLst/>
          </a:prstGeom>
        </p:spPr>
        <p:txBody>
          <a:bodyPr wrap="square">
            <a:spAutoFit/>
          </a:bodyPr>
          <a:lstStyle/>
          <a:p>
            <a:pPr marL="342900" indent="-342900" algn="just">
              <a:lnSpc>
                <a:spcPct val="120000"/>
              </a:lnSpc>
              <a:buFont typeface="Arial" panose="020B0604020202020204" pitchFamily="34" charset="0"/>
              <a:buChar char="•"/>
            </a:pPr>
            <a:r>
              <a:rPr lang="zh-CN" altLang="en-US" sz="2400" dirty="0">
                <a:solidFill>
                  <a:srgbClr val="FF0000"/>
                </a:solidFill>
              </a:rPr>
              <a:t>基于评估：</a:t>
            </a:r>
            <a:r>
              <a:rPr lang="zh-CN" altLang="en-US" sz="2400" dirty="0"/>
              <a:t>强化学习利用环境评估当前策略，以此为依据进行优化</a:t>
            </a:r>
            <a:endParaRPr lang="en-US" altLang="zh-CN" sz="2400" dirty="0"/>
          </a:p>
          <a:p>
            <a:pPr marL="342900" indent="-342900" algn="just">
              <a:lnSpc>
                <a:spcPct val="120000"/>
              </a:lnSpc>
              <a:buFont typeface="Arial" panose="020B0604020202020204" pitchFamily="34" charset="0"/>
              <a:buChar char="•"/>
            </a:pPr>
            <a:r>
              <a:rPr lang="zh-CN" altLang="en-US" sz="2400" dirty="0">
                <a:solidFill>
                  <a:srgbClr val="FF0000"/>
                </a:solidFill>
              </a:rPr>
              <a:t>交互性：</a:t>
            </a:r>
            <a:r>
              <a:rPr lang="zh-CN" altLang="en-US" sz="2400" dirty="0"/>
              <a:t>强化学习的数据在与环境的交互中产生</a:t>
            </a:r>
            <a:endParaRPr lang="en-US" altLang="zh-CN" sz="2400" dirty="0"/>
          </a:p>
          <a:p>
            <a:pPr marL="342900" indent="-342900" algn="just">
              <a:lnSpc>
                <a:spcPct val="120000"/>
              </a:lnSpc>
              <a:buFont typeface="Arial" panose="020B0604020202020204" pitchFamily="34" charset="0"/>
              <a:buChar char="•"/>
            </a:pPr>
            <a:r>
              <a:rPr lang="zh-CN" altLang="en-US" sz="2400" dirty="0">
                <a:solidFill>
                  <a:srgbClr val="FF0000"/>
                </a:solidFill>
              </a:rPr>
              <a:t>序列决策过程：</a:t>
            </a:r>
            <a:r>
              <a:rPr lang="zh-CN" altLang="en-US" sz="2400" dirty="0"/>
              <a:t>智能主体在与环境的交互中需要作出一系列的决策，这些决策往往是前后关联的</a:t>
            </a:r>
            <a:endParaRPr lang="en-US" altLang="zh-CN" sz="2400" dirty="0"/>
          </a:p>
        </p:txBody>
      </p:sp>
      <p:graphicFrame>
        <p:nvGraphicFramePr>
          <p:cNvPr id="2" name="表格 1"/>
          <p:cNvGraphicFramePr>
            <a:graphicFrameLocks noGrp="1"/>
          </p:cNvGraphicFramePr>
          <p:nvPr/>
        </p:nvGraphicFramePr>
        <p:xfrm>
          <a:off x="530941" y="1027878"/>
          <a:ext cx="8133735" cy="3151682"/>
        </p:xfrm>
        <a:graphic>
          <a:graphicData uri="http://schemas.openxmlformats.org/drawingml/2006/table">
            <a:tbl>
              <a:tblPr firstRow="1" bandRow="1">
                <a:tableStyleId>{5C22544A-7EE6-4342-B048-85BDC9FD1C3A}</a:tableStyleId>
              </a:tblPr>
              <a:tblGrid>
                <a:gridCol w="1220157"/>
                <a:gridCol w="2739786"/>
                <a:gridCol w="1511710"/>
                <a:gridCol w="2662082"/>
              </a:tblGrid>
              <a:tr h="423103">
                <a:tc>
                  <a:txBody>
                    <a:bodyPr/>
                    <a:lstStyle/>
                    <a:p>
                      <a:pPr algn="l">
                        <a:lnSpc>
                          <a:spcPct val="100000"/>
                        </a:lnSpc>
                      </a:pPr>
                      <a:endParaRPr lang="zh-CN" sz="2000" b="0" dirty="0">
                        <a:solidFill>
                          <a:schemeClr val="tx1"/>
                        </a:solidFill>
                        <a:effectLst/>
                        <a:latin typeface="+mn-ea"/>
                        <a:ea typeface="+mn-ea"/>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a:solidFill>
                            <a:schemeClr val="tx1"/>
                          </a:solidFill>
                          <a:effectLst/>
                          <a:latin typeface="+mn-ea"/>
                          <a:ea typeface="+mn-ea"/>
                        </a:rPr>
                        <a:t>有监督学习</a:t>
                      </a:r>
                      <a:endParaRPr lang="zh-CN" sz="2000" b="0" kern="10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a:solidFill>
                            <a:schemeClr val="tx1"/>
                          </a:solidFill>
                          <a:effectLst/>
                          <a:latin typeface="+mn-ea"/>
                          <a:ea typeface="+mn-ea"/>
                        </a:rPr>
                        <a:t>无监督学习</a:t>
                      </a:r>
                      <a:endParaRPr lang="zh-CN" sz="2000" b="0" kern="10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a:solidFill>
                            <a:schemeClr val="tx1"/>
                          </a:solidFill>
                          <a:effectLst/>
                          <a:latin typeface="+mn-ea"/>
                          <a:ea typeface="+mn-ea"/>
                        </a:rPr>
                        <a:t>强化学习</a:t>
                      </a:r>
                      <a:endParaRPr lang="zh-CN" sz="2000" b="0" kern="10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68492">
                <a:tc>
                  <a:txBody>
                    <a:bodyPr/>
                    <a:lstStyle/>
                    <a:p>
                      <a:pPr algn="ctr">
                        <a:lnSpc>
                          <a:spcPct val="100000"/>
                        </a:lnSpc>
                        <a:spcAft>
                          <a:spcPts val="0"/>
                        </a:spcAft>
                      </a:pPr>
                      <a:r>
                        <a:rPr lang="zh-CN" sz="2000" b="0" kern="100" dirty="0">
                          <a:solidFill>
                            <a:schemeClr val="tx1"/>
                          </a:solidFill>
                          <a:effectLst/>
                          <a:latin typeface="+mn-ea"/>
                          <a:ea typeface="+mn-ea"/>
                        </a:rPr>
                        <a:t>学习依据</a:t>
                      </a:r>
                      <a:endParaRPr lang="zh-CN" sz="2000" b="0" kern="100" dirty="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dirty="0">
                          <a:solidFill>
                            <a:schemeClr val="tx1"/>
                          </a:solidFill>
                          <a:effectLst/>
                          <a:latin typeface="+mn-ea"/>
                          <a:ea typeface="+mn-ea"/>
                        </a:rPr>
                        <a:t>基于监督信息</a:t>
                      </a:r>
                      <a:endParaRPr lang="zh-CN" sz="2000" b="0" kern="100" dirty="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a:solidFill>
                            <a:schemeClr val="tx1"/>
                          </a:solidFill>
                          <a:effectLst/>
                          <a:latin typeface="+mn-ea"/>
                          <a:ea typeface="+mn-ea"/>
                        </a:rPr>
                        <a:t>基于对数据结构的假设</a:t>
                      </a:r>
                      <a:endParaRPr lang="zh-CN" sz="2000" b="0" kern="10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a:solidFill>
                            <a:schemeClr val="tx1"/>
                          </a:solidFill>
                          <a:effectLst/>
                          <a:latin typeface="+mn-ea"/>
                          <a:ea typeface="+mn-ea"/>
                        </a:rPr>
                        <a:t>基于评估</a:t>
                      </a:r>
                      <a:endParaRPr lang="zh-CN" sz="2000" b="0" kern="10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3103">
                <a:tc>
                  <a:txBody>
                    <a:bodyPr/>
                    <a:lstStyle/>
                    <a:p>
                      <a:pPr algn="ctr">
                        <a:lnSpc>
                          <a:spcPct val="100000"/>
                        </a:lnSpc>
                        <a:spcAft>
                          <a:spcPts val="0"/>
                        </a:spcAft>
                      </a:pPr>
                      <a:r>
                        <a:rPr lang="zh-CN" sz="2000" b="0" kern="100" dirty="0">
                          <a:solidFill>
                            <a:schemeClr val="tx1"/>
                          </a:solidFill>
                          <a:effectLst/>
                          <a:latin typeface="+mn-ea"/>
                          <a:ea typeface="+mn-ea"/>
                        </a:rPr>
                        <a:t>数据来源</a:t>
                      </a:r>
                      <a:endParaRPr lang="zh-CN" sz="2000" b="0" kern="100" dirty="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dirty="0">
                          <a:solidFill>
                            <a:schemeClr val="tx1"/>
                          </a:solidFill>
                          <a:effectLst/>
                          <a:latin typeface="+mn-ea"/>
                          <a:ea typeface="+mn-ea"/>
                        </a:rPr>
                        <a:t>一次给定</a:t>
                      </a:r>
                      <a:endParaRPr lang="zh-CN" sz="2000" b="0" kern="100" dirty="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dirty="0">
                          <a:solidFill>
                            <a:schemeClr val="tx1"/>
                          </a:solidFill>
                          <a:effectLst/>
                          <a:latin typeface="+mn-ea"/>
                          <a:ea typeface="+mn-ea"/>
                        </a:rPr>
                        <a:t>一次给定</a:t>
                      </a:r>
                      <a:endParaRPr lang="zh-CN" sz="2000" b="0" kern="100" dirty="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a:solidFill>
                            <a:schemeClr val="tx1"/>
                          </a:solidFill>
                          <a:effectLst/>
                          <a:latin typeface="+mn-ea"/>
                          <a:ea typeface="+mn-ea"/>
                        </a:rPr>
                        <a:t>在时序交互中产生</a:t>
                      </a:r>
                      <a:endParaRPr lang="zh-CN" sz="2000" b="0" kern="10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68492">
                <a:tc>
                  <a:txBody>
                    <a:bodyPr/>
                    <a:lstStyle/>
                    <a:p>
                      <a:pPr algn="ctr">
                        <a:lnSpc>
                          <a:spcPct val="100000"/>
                        </a:lnSpc>
                        <a:spcAft>
                          <a:spcPts val="0"/>
                        </a:spcAft>
                      </a:pPr>
                      <a:r>
                        <a:rPr lang="zh-CN" sz="2000" b="0" kern="100">
                          <a:solidFill>
                            <a:schemeClr val="tx1"/>
                          </a:solidFill>
                          <a:effectLst/>
                          <a:latin typeface="+mn-ea"/>
                          <a:ea typeface="+mn-ea"/>
                        </a:rPr>
                        <a:t>决策过程</a:t>
                      </a:r>
                      <a:endParaRPr lang="zh-CN" sz="2000" b="0" kern="10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a:solidFill>
                            <a:schemeClr val="tx1"/>
                          </a:solidFill>
                          <a:effectLst/>
                          <a:latin typeface="+mn-ea"/>
                          <a:ea typeface="+mn-ea"/>
                        </a:rPr>
                        <a:t>单步决策</a:t>
                      </a:r>
                      <a:endParaRPr lang="zh-CN" sz="2000" b="0" kern="100">
                        <a:solidFill>
                          <a:schemeClr val="tx1"/>
                        </a:solidFill>
                        <a:effectLst/>
                        <a:latin typeface="+mn-ea"/>
                        <a:ea typeface="+mn-ea"/>
                      </a:endParaRPr>
                    </a:p>
                    <a:p>
                      <a:pPr algn="ctr">
                        <a:lnSpc>
                          <a:spcPct val="100000"/>
                        </a:lnSpc>
                        <a:spcAft>
                          <a:spcPts val="0"/>
                        </a:spcAft>
                      </a:pPr>
                      <a:r>
                        <a:rPr lang="zh-CN" sz="2000" b="0" kern="100">
                          <a:solidFill>
                            <a:schemeClr val="tx1"/>
                          </a:solidFill>
                          <a:effectLst/>
                          <a:latin typeface="+mn-ea"/>
                          <a:ea typeface="+mn-ea"/>
                        </a:rPr>
                        <a:t>（如分类和识别等）</a:t>
                      </a:r>
                      <a:endParaRPr lang="zh-CN" sz="2000" b="0" kern="10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sz="2000" b="0" kern="100" dirty="0">
                          <a:solidFill>
                            <a:schemeClr val="tx1"/>
                          </a:solidFill>
                          <a:effectLst/>
                          <a:latin typeface="+mn-ea"/>
                          <a:ea typeface="+mn-ea"/>
                        </a:rPr>
                        <a:t>无</a:t>
                      </a:r>
                      <a:endParaRPr lang="zh-CN" altLang="zh-CN" sz="2000" b="0" dirty="0">
                        <a:solidFill>
                          <a:schemeClr val="tx1"/>
                        </a:solidFill>
                        <a:effectLst/>
                        <a:latin typeface="+mn-ea"/>
                        <a:ea typeface="+mn-ea"/>
                      </a:endParaRPr>
                    </a:p>
                    <a:p>
                      <a:pPr algn="ctr">
                        <a:lnSpc>
                          <a:spcPct val="100000"/>
                        </a:lnSpc>
                        <a:spcAft>
                          <a:spcPts val="0"/>
                        </a:spcAft>
                      </a:pPr>
                      <a:endParaRPr lang="zh-CN" sz="2000" b="0" kern="100" dirty="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dirty="0">
                          <a:solidFill>
                            <a:schemeClr val="tx1"/>
                          </a:solidFill>
                          <a:effectLst/>
                          <a:latin typeface="+mn-ea"/>
                          <a:ea typeface="+mn-ea"/>
                        </a:rPr>
                        <a:t>序贯决策</a:t>
                      </a:r>
                      <a:endParaRPr lang="zh-CN" sz="2000" b="0" kern="100" dirty="0">
                        <a:solidFill>
                          <a:schemeClr val="tx1"/>
                        </a:solidFill>
                        <a:effectLst/>
                        <a:latin typeface="+mn-ea"/>
                        <a:ea typeface="+mn-ea"/>
                      </a:endParaRPr>
                    </a:p>
                    <a:p>
                      <a:pPr algn="ctr">
                        <a:lnSpc>
                          <a:spcPct val="100000"/>
                        </a:lnSpc>
                        <a:spcAft>
                          <a:spcPts val="0"/>
                        </a:spcAft>
                      </a:pPr>
                      <a:r>
                        <a:rPr lang="zh-CN" sz="2000" b="0" kern="100" dirty="0">
                          <a:solidFill>
                            <a:schemeClr val="tx1"/>
                          </a:solidFill>
                          <a:effectLst/>
                          <a:latin typeface="+mn-ea"/>
                          <a:ea typeface="+mn-ea"/>
                        </a:rPr>
                        <a:t>（如棋类博弈）</a:t>
                      </a:r>
                      <a:endParaRPr lang="zh-CN" sz="2000" b="0" kern="100" dirty="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68492">
                <a:tc>
                  <a:txBody>
                    <a:bodyPr/>
                    <a:lstStyle/>
                    <a:p>
                      <a:pPr algn="ctr">
                        <a:lnSpc>
                          <a:spcPct val="100000"/>
                        </a:lnSpc>
                        <a:spcAft>
                          <a:spcPts val="0"/>
                        </a:spcAft>
                      </a:pPr>
                      <a:r>
                        <a:rPr lang="zh-CN" sz="2000" b="0" kern="100">
                          <a:solidFill>
                            <a:schemeClr val="tx1"/>
                          </a:solidFill>
                          <a:effectLst/>
                          <a:latin typeface="+mn-ea"/>
                          <a:ea typeface="+mn-ea"/>
                        </a:rPr>
                        <a:t>学习目标</a:t>
                      </a:r>
                      <a:endParaRPr lang="zh-CN" sz="2000" b="0" kern="10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a:solidFill>
                            <a:schemeClr val="tx1"/>
                          </a:solidFill>
                          <a:effectLst/>
                          <a:latin typeface="+mn-ea"/>
                          <a:ea typeface="+mn-ea"/>
                        </a:rPr>
                        <a:t>样本到语义标签的映射</a:t>
                      </a:r>
                      <a:endParaRPr lang="zh-CN" sz="2000" b="0" kern="10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a:solidFill>
                            <a:schemeClr val="tx1"/>
                          </a:solidFill>
                          <a:effectLst/>
                          <a:latin typeface="+mn-ea"/>
                          <a:ea typeface="+mn-ea"/>
                        </a:rPr>
                        <a:t>数据的分布模式</a:t>
                      </a:r>
                      <a:endParaRPr lang="zh-CN" sz="2000" b="0" kern="10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2000" b="0" kern="100" dirty="0">
                          <a:solidFill>
                            <a:schemeClr val="tx1"/>
                          </a:solidFill>
                          <a:effectLst/>
                          <a:latin typeface="+mn-ea"/>
                          <a:ea typeface="+mn-ea"/>
                        </a:rPr>
                        <a:t>选择能获取最大收益的状态到动作的映射</a:t>
                      </a:r>
                      <a:endParaRPr lang="zh-CN" sz="2000" b="0" kern="100" dirty="0">
                        <a:solidFill>
                          <a:schemeClr val="tx1"/>
                        </a:solidFill>
                        <a:effectLst/>
                        <a:latin typeface="+mn-ea"/>
                        <a:ea typeface="+mn-ea"/>
                        <a:cs typeface="Times New Roman" panose="02020603050405020304"/>
                      </a:endParaRPr>
                    </a:p>
                  </a:txBody>
                  <a:tcPr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6"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强化学习的特点</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8" name="矩形 37"/>
          <p:cNvSpPr/>
          <p:nvPr/>
        </p:nvSpPr>
        <p:spPr>
          <a:xfrm>
            <a:off x="508521" y="1699324"/>
            <a:ext cx="8193028" cy="598690"/>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en-US" sz="2600" dirty="0">
                <a:solidFill>
                  <a:srgbClr val="FF0000"/>
                </a:solidFill>
                <a:latin typeface="+mn-ea"/>
                <a:cs typeface="Times New Roman" panose="02020603050405020304" pitchFamily="18" charset="0"/>
              </a:rPr>
              <a:t>强化学习算法分为两类</a:t>
            </a:r>
            <a:endParaRPr lang="en-US" altLang="zh-CN" sz="2600" dirty="0">
              <a:latin typeface="+mn-ea"/>
              <a:cs typeface="Times New Roman" panose="02020603050405020304" pitchFamily="18" charset="0"/>
            </a:endParaRPr>
          </a:p>
        </p:txBody>
      </p:sp>
      <p:sp>
        <p:nvSpPr>
          <p:cNvPr id="48" name="矩形 47"/>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强化学习的主要算法</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5" name="图片 4"/>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67514" y="2381036"/>
            <a:ext cx="8079158" cy="4021670"/>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750"/>
                                        <p:tgtEl>
                                          <p:spTgt spid="48"/>
                                        </p:tgtEl>
                                      </p:cBhvr>
                                    </p:animEffect>
                                  </p:childTnLst>
                                </p:cTn>
                              </p:par>
                            </p:childTnLst>
                          </p:cTn>
                        </p:par>
                        <p:par>
                          <p:cTn id="8" fill="hold">
                            <p:stCondLst>
                              <p:cond delay="1000"/>
                            </p:stCondLst>
                            <p:childTnLst>
                              <p:par>
                                <p:cTn id="9" presetID="3" presetClass="entr" presetSubtype="10" fill="hold" nodeType="afterEffect">
                                  <p:stCondLst>
                                    <p:cond delay="500"/>
                                  </p:stCondLst>
                                  <p:childTnLst>
                                    <p:set>
                                      <p:cBhvr>
                                        <p:cTn id="10" dur="1" fill="hold">
                                          <p:stCondLst>
                                            <p:cond delay="0"/>
                                          </p:stCondLst>
                                        </p:cTn>
                                        <p:tgtEl>
                                          <p:spTgt spid="38">
                                            <p:txEl>
                                              <p:pRg st="0" end="0"/>
                                            </p:txEl>
                                          </p:spTgt>
                                        </p:tgtEl>
                                        <p:attrNameLst>
                                          <p:attrName>style.visibility</p:attrName>
                                        </p:attrNameLst>
                                      </p:cBhvr>
                                      <p:to>
                                        <p:strVal val="visible"/>
                                      </p:to>
                                    </p:set>
                                    <p:animEffect transition="in" filter="blinds(horizontal)">
                                      <p:cBhvr>
                                        <p:cTn id="11" dur="750"/>
                                        <p:tgtEl>
                                          <p:spTgt spid="3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p:cTn id="17" dur="1000" fill="hold"/>
                                        <p:tgtEl>
                                          <p:spTgt spid="5"/>
                                        </p:tgtEl>
                                        <p:attrNameLst>
                                          <p:attrName>ppt_x</p:attrName>
                                        </p:attrNameLst>
                                      </p:cBhvr>
                                      <p:tavLst>
                                        <p:tav tm="0">
                                          <p:val>
                                            <p:strVal val="#ppt_x"/>
                                          </p:val>
                                        </p:tav>
                                        <p:tav tm="100000">
                                          <p:val>
                                            <p:strVal val="#ppt_x"/>
                                          </p:val>
                                        </p:tav>
                                      </p:tavLst>
                                    </p:anim>
                                    <p:anim calcmode="lin" valueType="num">
                                      <p:cBhvr>
                                        <p:cTn id="1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8" name="矩形 37"/>
          <p:cNvSpPr/>
          <p:nvPr/>
        </p:nvSpPr>
        <p:spPr>
          <a:xfrm>
            <a:off x="508521" y="1699324"/>
            <a:ext cx="8193028" cy="4199676"/>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en-US" sz="2600" dirty="0">
                <a:solidFill>
                  <a:srgbClr val="FF0000"/>
                </a:solidFill>
                <a:latin typeface="+mn-ea"/>
                <a:cs typeface="Times New Roman" panose="02020603050405020304" pitchFamily="18" charset="0"/>
              </a:rPr>
              <a:t>基于价值</a:t>
            </a:r>
            <a:r>
              <a:rPr lang="zh-CN" altLang="en-US" sz="2600" dirty="0">
                <a:solidFill>
                  <a:srgbClr val="FF0000"/>
                </a:solidFill>
                <a:cs typeface="Times New Roman" panose="02020603050405020304" pitchFamily="18" charset="0"/>
              </a:rPr>
              <a:t>（</a:t>
            </a:r>
            <a:r>
              <a:rPr lang="en-US" altLang="zh-CN" sz="2600" dirty="0">
                <a:solidFill>
                  <a:srgbClr val="FF0000"/>
                </a:solidFill>
                <a:cs typeface="Times New Roman" panose="02020603050405020304" pitchFamily="18" charset="0"/>
              </a:rPr>
              <a:t>Value-Based</a:t>
            </a:r>
            <a:r>
              <a:rPr lang="zh-CN" altLang="en-US" sz="2600" dirty="0">
                <a:solidFill>
                  <a:srgbClr val="FF0000"/>
                </a:solidFill>
                <a:cs typeface="Times New Roman" panose="02020603050405020304" pitchFamily="18" charset="0"/>
              </a:rPr>
              <a:t>）的算法</a:t>
            </a:r>
            <a:endParaRPr lang="zh-CN" altLang="en-US" sz="2600" dirty="0">
              <a:solidFill>
                <a:srgbClr val="FF0000"/>
              </a:solidFill>
              <a:cs typeface="Times New Roman" panose="02020603050405020304" pitchFamily="18" charset="0"/>
            </a:endParaRPr>
          </a:p>
          <a:p>
            <a:pPr marL="265430" algn="just">
              <a:lnSpc>
                <a:spcPct val="150000"/>
              </a:lnSpc>
            </a:pPr>
            <a:r>
              <a:rPr lang="zh-CN" altLang="en-US" sz="2600" dirty="0">
                <a:latin typeface="+mn-ea"/>
                <a:cs typeface="Times New Roman" panose="02020603050405020304" pitchFamily="18" charset="0"/>
              </a:rPr>
              <a:t>    利用</a:t>
            </a:r>
            <a:r>
              <a:rPr lang="zh-CN" altLang="en-US" sz="2600" dirty="0">
                <a:solidFill>
                  <a:srgbClr val="FF0000"/>
                </a:solidFill>
                <a:latin typeface="+mn-ea"/>
                <a:cs typeface="Times New Roman" panose="02020603050405020304" pitchFamily="18" charset="0"/>
              </a:rPr>
              <a:t>状态价值函数</a:t>
            </a:r>
            <a:r>
              <a:rPr lang="zh-CN" altLang="en-US" sz="2600" dirty="0">
                <a:latin typeface="+mn-ea"/>
                <a:cs typeface="Times New Roman" panose="02020603050405020304" pitchFamily="18" charset="0"/>
              </a:rPr>
              <a:t>和</a:t>
            </a:r>
            <a:r>
              <a:rPr lang="zh-CN" altLang="en-US" sz="2600" dirty="0">
                <a:solidFill>
                  <a:srgbClr val="FF0000"/>
                </a:solidFill>
                <a:latin typeface="+mn-ea"/>
                <a:cs typeface="Times New Roman" panose="02020603050405020304" pitchFamily="18" charset="0"/>
              </a:rPr>
              <a:t>行为价值函数</a:t>
            </a:r>
            <a:r>
              <a:rPr lang="zh-CN" altLang="en-US" sz="2600" dirty="0">
                <a:latin typeface="+mn-ea"/>
                <a:cs typeface="Times New Roman" panose="02020603050405020304" pitchFamily="18" charset="0"/>
              </a:rPr>
              <a:t>来评价收益。</a:t>
            </a:r>
            <a:r>
              <a:rPr lang="zh-CN" altLang="en-US" sz="2600" dirty="0">
                <a:solidFill>
                  <a:srgbClr val="FF0000"/>
                </a:solidFill>
                <a:latin typeface="+mn-ea"/>
                <a:cs typeface="Times New Roman" panose="02020603050405020304" pitchFamily="18" charset="0"/>
              </a:rPr>
              <a:t>状态价值函数</a:t>
            </a:r>
            <a:r>
              <a:rPr lang="zh-CN" altLang="en-US" sz="2600" dirty="0">
                <a:latin typeface="+mn-ea"/>
                <a:cs typeface="Times New Roman" panose="02020603050405020304" pitchFamily="18" charset="0"/>
              </a:rPr>
              <a:t>的输入是一个状态，输出是该状态的预期收益，表示从当前状态到达某一特定状态或目标状态的预期收益。</a:t>
            </a:r>
            <a:r>
              <a:rPr lang="zh-CN" altLang="en-US" sz="2600" dirty="0">
                <a:solidFill>
                  <a:srgbClr val="FF0000"/>
                </a:solidFill>
                <a:latin typeface="+mn-ea"/>
                <a:cs typeface="Times New Roman" panose="02020603050405020304" pitchFamily="18" charset="0"/>
              </a:rPr>
              <a:t>行为价值函数</a:t>
            </a:r>
            <a:r>
              <a:rPr lang="zh-CN" altLang="en-US" sz="2600" dirty="0">
                <a:latin typeface="+mn-ea"/>
                <a:cs typeface="Times New Roman" panose="02020603050405020304" pitchFamily="18" charset="0"/>
              </a:rPr>
              <a:t>是一个状态和一个动作，输出是该状态下做该动作的预期收益。</a:t>
            </a:r>
            <a:r>
              <a:rPr lang="en-US" altLang="zh-CN" sz="2600" dirty="0">
                <a:solidFill>
                  <a:srgbClr val="FF0000"/>
                </a:solidFill>
                <a:cs typeface="Times New Roman" panose="02020603050405020304" pitchFamily="18" charset="0"/>
              </a:rPr>
              <a:t>Q-Learning</a:t>
            </a:r>
            <a:r>
              <a:rPr lang="zh-CN" altLang="en-US" sz="2600" dirty="0">
                <a:latin typeface="+mn-ea"/>
                <a:cs typeface="Times New Roman" panose="02020603050405020304" pitchFamily="18" charset="0"/>
              </a:rPr>
              <a:t>是典型的强化学习算法。</a:t>
            </a:r>
            <a:endParaRPr lang="en-US" altLang="zh-CN" sz="2600" dirty="0">
              <a:latin typeface="+mn-ea"/>
              <a:cs typeface="Times New Roman" panose="02020603050405020304" pitchFamily="18" charset="0"/>
            </a:endParaRPr>
          </a:p>
        </p:txBody>
      </p:sp>
      <p:sp>
        <p:nvSpPr>
          <p:cNvPr id="48" name="矩形 47"/>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强化学习的主要算法</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50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blinds(horizontal)">
                                      <p:cBhvr>
                                        <p:cTn id="7" dur="750"/>
                                        <p:tgtEl>
                                          <p:spTgt spid="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xEl>
                                              <p:pRg st="1" end="1"/>
                                            </p:txEl>
                                          </p:spTgt>
                                        </p:tgtEl>
                                        <p:attrNameLst>
                                          <p:attrName>style.visibility</p:attrName>
                                        </p:attrNameLst>
                                      </p:cBhvr>
                                      <p:to>
                                        <p:strVal val="visible"/>
                                      </p:to>
                                    </p:set>
                                    <p:animEffect transition="in" filter="blinds(horizontal)">
                                      <p:cBhvr>
                                        <p:cTn id="12" dur="1000"/>
                                        <p:tgtEl>
                                          <p:spTgt spid="3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8" name="矩形 37"/>
          <p:cNvSpPr/>
          <p:nvPr/>
        </p:nvSpPr>
        <p:spPr>
          <a:xfrm>
            <a:off x="508521" y="1699324"/>
            <a:ext cx="8193028" cy="3645678"/>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pl-PL" sz="2800" dirty="0">
                <a:solidFill>
                  <a:srgbClr val="FF0000"/>
                </a:solidFill>
                <a:latin typeface="+mn-ea"/>
                <a:cs typeface="Times New Roman" panose="02020603050405020304" pitchFamily="18" charset="0"/>
              </a:rPr>
              <a:t>基于策略</a:t>
            </a:r>
            <a:r>
              <a:rPr lang="zh-CN" altLang="pl-PL" sz="2800" dirty="0">
                <a:solidFill>
                  <a:srgbClr val="FF0000"/>
                </a:solidFill>
                <a:cs typeface="Times New Roman" panose="02020603050405020304" pitchFamily="18" charset="0"/>
              </a:rPr>
              <a:t>（</a:t>
            </a:r>
            <a:r>
              <a:rPr lang="pl-PL" altLang="zh-CN" sz="2800" dirty="0">
                <a:solidFill>
                  <a:srgbClr val="FF0000"/>
                </a:solidFill>
                <a:cs typeface="Times New Roman" panose="02020603050405020304" pitchFamily="18" charset="0"/>
              </a:rPr>
              <a:t>Policy-Based</a:t>
            </a:r>
            <a:r>
              <a:rPr lang="zh-CN" altLang="pl-PL" sz="2800" dirty="0">
                <a:solidFill>
                  <a:srgbClr val="FF0000"/>
                </a:solidFill>
                <a:cs typeface="Times New Roman" panose="02020603050405020304" pitchFamily="18" charset="0"/>
              </a:rPr>
              <a:t>）</a:t>
            </a:r>
            <a:r>
              <a:rPr lang="zh-CN" altLang="pl-PL" sz="2800" dirty="0">
                <a:solidFill>
                  <a:srgbClr val="FF0000"/>
                </a:solidFill>
                <a:latin typeface="+mn-ea"/>
                <a:cs typeface="Times New Roman" panose="02020603050405020304" pitchFamily="18" charset="0"/>
              </a:rPr>
              <a:t>的算法</a:t>
            </a:r>
            <a:endParaRPr lang="zh-CN" altLang="pl-PL" sz="2800" dirty="0">
              <a:solidFill>
                <a:srgbClr val="FF0000"/>
              </a:solidFill>
              <a:latin typeface="+mn-ea"/>
              <a:cs typeface="Times New Roman" panose="02020603050405020304" pitchFamily="18" charset="0"/>
            </a:endParaRPr>
          </a:p>
          <a:p>
            <a:pPr marL="265430" algn="just">
              <a:lnSpc>
                <a:spcPct val="150000"/>
              </a:lnSpc>
            </a:pPr>
            <a:r>
              <a:rPr lang="zh-CN" altLang="en-US" sz="2600" dirty="0">
                <a:latin typeface="+mn-ea"/>
                <a:cs typeface="Times New Roman" panose="02020603050405020304" pitchFamily="18" charset="0"/>
              </a:rPr>
              <a:t>    构建一个</a:t>
            </a:r>
            <a:r>
              <a:rPr lang="zh-CN" altLang="en-US" sz="2600" dirty="0">
                <a:solidFill>
                  <a:srgbClr val="FF0000"/>
                </a:solidFill>
                <a:latin typeface="+mn-ea"/>
                <a:cs typeface="Times New Roman" panose="02020603050405020304" pitchFamily="18" charset="0"/>
              </a:rPr>
              <a:t>策略网络</a:t>
            </a:r>
            <a:r>
              <a:rPr lang="zh-CN" altLang="en-US" sz="2600" dirty="0">
                <a:latin typeface="+mn-ea"/>
                <a:cs typeface="Times New Roman" panose="02020603050405020304" pitchFamily="18" charset="0"/>
              </a:rPr>
              <a:t>，输入一个状态，直接输出对应的动作，而不是得到一个状态价值或者每个动作对应的</a:t>
            </a:r>
            <a:r>
              <a:rPr lang="en-US" altLang="zh-CN" sz="2600" dirty="0">
                <a:latin typeface="+mn-ea"/>
                <a:cs typeface="Times New Roman" panose="02020603050405020304" pitchFamily="18" charset="0"/>
              </a:rPr>
              <a:t>Q</a:t>
            </a:r>
            <a:r>
              <a:rPr lang="zh-CN" altLang="en-US" sz="2600" dirty="0">
                <a:latin typeface="+mn-ea"/>
                <a:cs typeface="Times New Roman" panose="02020603050405020304" pitchFamily="18" charset="0"/>
              </a:rPr>
              <a:t>值，然后直接对这个策略网络进行更新，从而直接对策略选择建模。</a:t>
            </a:r>
            <a:r>
              <a:rPr lang="en-US" altLang="zh-CN" sz="2600" dirty="0">
                <a:solidFill>
                  <a:srgbClr val="FF0000"/>
                </a:solidFill>
                <a:cs typeface="Times New Roman" panose="02020603050405020304" pitchFamily="18" charset="0"/>
              </a:rPr>
              <a:t>Policy Gradient</a:t>
            </a:r>
            <a:r>
              <a:rPr lang="zh-CN" altLang="en-US" sz="2600" dirty="0">
                <a:latin typeface="+mn-ea"/>
                <a:cs typeface="Times New Roman" panose="02020603050405020304" pitchFamily="18" charset="0"/>
              </a:rPr>
              <a:t>是基于策略的算法中最基础的一种算法。</a:t>
            </a:r>
            <a:endParaRPr lang="en-US" altLang="zh-CN" sz="2600" dirty="0">
              <a:latin typeface="+mn-ea"/>
              <a:cs typeface="Times New Roman" panose="02020603050405020304" pitchFamily="18" charset="0"/>
            </a:endParaRPr>
          </a:p>
        </p:txBody>
      </p:sp>
      <p:sp>
        <p:nvSpPr>
          <p:cNvPr id="48" name="矩形 47"/>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强化学习的主要算法</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25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blinds(horizontal)">
                                      <p:cBhvr>
                                        <p:cTn id="7" dur="750"/>
                                        <p:tgtEl>
                                          <p:spTgt spid="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xEl>
                                              <p:pRg st="1" end="1"/>
                                            </p:txEl>
                                          </p:spTgt>
                                        </p:tgtEl>
                                        <p:attrNameLst>
                                          <p:attrName>style.visibility</p:attrName>
                                        </p:attrNameLst>
                                      </p:cBhvr>
                                      <p:to>
                                        <p:strVal val="visible"/>
                                      </p:to>
                                    </p:set>
                                    <p:animEffect transition="in" filter="blinds(horizontal)">
                                      <p:cBhvr>
                                        <p:cTn id="12" dur="750"/>
                                        <p:tgtEl>
                                          <p:spTgt spid="3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圆角矩形 56"/>
          <p:cNvSpPr>
            <a:spLocks noChangeArrowheads="1"/>
          </p:cNvSpPr>
          <p:nvPr/>
        </p:nvSpPr>
        <p:spPr bwMode="auto">
          <a:xfrm>
            <a:off x="508521" y="1787813"/>
            <a:ext cx="7986550" cy="4192658"/>
          </a:xfrm>
          <a:prstGeom prst="roundRect">
            <a:avLst>
              <a:gd name="adj" fmla="val 16667"/>
            </a:avLst>
          </a:prstGeom>
          <a:solidFill>
            <a:schemeClr val="bg1"/>
          </a:solidFill>
          <a:ln w="31750" algn="ctr">
            <a:solidFill>
              <a:srgbClr val="FF0000"/>
            </a:solidFill>
            <a:round/>
          </a:ln>
        </p:spPr>
        <p:txBody>
          <a:bodyPr lIns="27000" tIns="27000" rIns="27000" bIns="27000"/>
          <a:lstStyle>
            <a:lvl1pPr marL="342900" indent="-342900" eaLnBrk="0" hangingPunct="0">
              <a:spcBef>
                <a:spcPct val="20000"/>
              </a:spcBef>
              <a:buClr>
                <a:srgbClr val="FF0000"/>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spcBef>
                <a:spcPct val="0"/>
              </a:spcBef>
              <a:buClrTx/>
              <a:buSzTx/>
              <a:buNone/>
            </a:pPr>
            <a:r>
              <a:rPr lang="zh-CN" altLang="en-US" sz="2800" dirty="0">
                <a:solidFill>
                  <a:srgbClr val="FF0000"/>
                </a:solidFill>
                <a:latin typeface="黑体" panose="02010609060101010101" pitchFamily="49" charset="-122"/>
                <a:ea typeface="黑体" panose="02010609060101010101" pitchFamily="49" charset="-122"/>
              </a:rPr>
              <a:t>算法构造思路</a:t>
            </a:r>
            <a:endParaRPr lang="en-US" altLang="zh-CN" sz="2800" dirty="0">
              <a:solidFill>
                <a:srgbClr val="FF0000"/>
              </a:solidFill>
              <a:latin typeface="黑体" panose="02010609060101010101" pitchFamily="49" charset="-122"/>
              <a:ea typeface="黑体" panose="02010609060101010101" pitchFamily="49" charset="-122"/>
            </a:endParaRPr>
          </a:p>
          <a:p>
            <a:pPr algn="just" eaLnBrk="1" hangingPunct="1">
              <a:lnSpc>
                <a:spcPct val="150000"/>
              </a:lnSpc>
              <a:spcBef>
                <a:spcPct val="0"/>
              </a:spcBef>
              <a:buClrTx/>
              <a:buSzTx/>
              <a:buFont typeface="Wingdings" panose="05000000000000000000" pitchFamily="2" charset="2"/>
              <a:buChar char="ü"/>
            </a:pPr>
            <a:r>
              <a:rPr lang="zh-CN" altLang="en-US" sz="2800" dirty="0">
                <a:latin typeface="黑体" panose="02010609060101010101" pitchFamily="49" charset="-122"/>
                <a:ea typeface="黑体" panose="02010609060101010101" pitchFamily="49" charset="-122"/>
              </a:rPr>
              <a:t>根据先验得到初始认知</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值函数</a:t>
            </a:r>
            <a:r>
              <a:rPr lang="en-US" altLang="zh-CN" sz="2800" dirty="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a:p>
            <a:pPr algn="just" eaLnBrk="1" hangingPunct="1">
              <a:lnSpc>
                <a:spcPct val="150000"/>
              </a:lnSpc>
              <a:spcBef>
                <a:spcPct val="0"/>
              </a:spcBef>
              <a:buClrTx/>
              <a:buSzTx/>
              <a:buFont typeface="Wingdings" panose="05000000000000000000" pitchFamily="2" charset="2"/>
              <a:buChar char="ü"/>
            </a:pPr>
            <a:r>
              <a:rPr lang="zh-CN" altLang="en-US" sz="2800" dirty="0">
                <a:latin typeface="黑体" panose="02010609060101010101" pitchFamily="49" charset="-122"/>
                <a:ea typeface="黑体" panose="02010609060101010101" pitchFamily="49" charset="-122"/>
              </a:rPr>
              <a:t>根据认知选择动作</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伴随一定的随机性</a:t>
            </a:r>
            <a:r>
              <a:rPr lang="en-US" altLang="zh-CN" sz="2800" dirty="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a:p>
            <a:pPr algn="just" eaLnBrk="1" hangingPunct="1">
              <a:lnSpc>
                <a:spcPct val="150000"/>
              </a:lnSpc>
              <a:spcBef>
                <a:spcPct val="0"/>
              </a:spcBef>
              <a:buClrTx/>
              <a:buSzTx/>
              <a:buFont typeface="Wingdings" panose="05000000000000000000" pitchFamily="2" charset="2"/>
              <a:buChar char="ü"/>
            </a:pPr>
            <a:r>
              <a:rPr lang="zh-CN" altLang="en-US" sz="2800" dirty="0">
                <a:latin typeface="黑体" panose="02010609060101010101" pitchFamily="49" charset="-122"/>
                <a:ea typeface="黑体" panose="02010609060101010101" pitchFamily="49" charset="-122"/>
              </a:rPr>
              <a:t>获得经验</a:t>
            </a:r>
            <a:endParaRPr lang="en-US" altLang="zh-CN" sz="2800" dirty="0">
              <a:latin typeface="黑体" panose="02010609060101010101" pitchFamily="49" charset="-122"/>
              <a:ea typeface="黑体" panose="02010609060101010101" pitchFamily="49" charset="-122"/>
            </a:endParaRPr>
          </a:p>
          <a:p>
            <a:pPr algn="just" eaLnBrk="1" hangingPunct="1">
              <a:lnSpc>
                <a:spcPct val="150000"/>
              </a:lnSpc>
              <a:spcBef>
                <a:spcPct val="0"/>
              </a:spcBef>
              <a:buClrTx/>
              <a:buSzTx/>
              <a:buFont typeface="Wingdings" panose="05000000000000000000" pitchFamily="2" charset="2"/>
              <a:buChar char="ü"/>
            </a:pPr>
            <a:r>
              <a:rPr lang="zh-CN" altLang="en-US" sz="2800" dirty="0">
                <a:latin typeface="黑体" panose="02010609060101010101" pitchFamily="49" charset="-122"/>
                <a:ea typeface="黑体" panose="02010609060101010101" pitchFamily="49" charset="-122"/>
              </a:rPr>
              <a:t>根据反馈，修改认知</a:t>
            </a:r>
            <a:endParaRPr lang="en-US" altLang="zh-CN" sz="2800" dirty="0">
              <a:latin typeface="黑体" panose="02010609060101010101" pitchFamily="49" charset="-122"/>
              <a:ea typeface="黑体" panose="02010609060101010101" pitchFamily="49" charset="-122"/>
            </a:endParaRPr>
          </a:p>
          <a:p>
            <a:pPr algn="just" eaLnBrk="1" hangingPunct="1">
              <a:lnSpc>
                <a:spcPct val="150000"/>
              </a:lnSpc>
              <a:spcBef>
                <a:spcPct val="0"/>
              </a:spcBef>
              <a:buClrTx/>
              <a:buSzTx/>
              <a:buFont typeface="Wingdings" panose="05000000000000000000" pitchFamily="2" charset="2"/>
              <a:buChar char="ü"/>
            </a:pPr>
            <a:r>
              <a:rPr lang="zh-CN" altLang="en-US" sz="2800" dirty="0">
                <a:latin typeface="黑体" panose="02010609060101010101" pitchFamily="49" charset="-122"/>
                <a:ea typeface="黑体" panose="02010609060101010101" pitchFamily="49" charset="-122"/>
              </a:rPr>
              <a:t>根据延迟的反馈，回退修改历史认知</a:t>
            </a:r>
            <a:endParaRPr lang="zh-CN" altLang="en-US" sz="2400" dirty="0">
              <a:latin typeface="黑体" panose="02010609060101010101" pitchFamily="49" charset="-122"/>
              <a:ea typeface="黑体" panose="02010609060101010101" pitchFamily="49" charset="-122"/>
            </a:endParaRPr>
          </a:p>
        </p:txBody>
      </p:sp>
      <p:sp>
        <p:nvSpPr>
          <p:cNvPr id="49"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强化学习的主要算法</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blinds(horizontal)">
                                      <p:cBhvr>
                                        <p:cTn id="7" dur="500"/>
                                        <p:tgtEl>
                                          <p:spTgt spid="48"/>
                                        </p:tgtEl>
                                      </p:cBhvr>
                                    </p:animEffect>
                                  </p:childTnLst>
                                </p:cTn>
                              </p:par>
                              <p:par>
                                <p:cTn id="8" presetID="10" presetClass="entr" presetSubtype="0" fill="hold" nodeType="withEffect">
                                  <p:stCondLst>
                                    <p:cond delay="500"/>
                                  </p:stCondLst>
                                  <p:childTnLst>
                                    <p:set>
                                      <p:cBhvr>
                                        <p:cTn id="9" dur="1" fill="hold">
                                          <p:stCondLst>
                                            <p:cond delay="0"/>
                                          </p:stCondLst>
                                        </p:cTn>
                                        <p:tgtEl>
                                          <p:spTgt spid="48">
                                            <p:txEl>
                                              <p:pRg st="0" end="0"/>
                                            </p:txEl>
                                          </p:spTgt>
                                        </p:tgtEl>
                                        <p:attrNameLst>
                                          <p:attrName>style.visibility</p:attrName>
                                        </p:attrNameLst>
                                      </p:cBhvr>
                                      <p:to>
                                        <p:strVal val="visible"/>
                                      </p:to>
                                    </p:set>
                                    <p:animEffect transition="in" filter="fade">
                                      <p:cBhvr>
                                        <p:cTn id="10" dur="500"/>
                                        <p:tgtEl>
                                          <p:spTgt spid="4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8">
                                            <p:txEl>
                                              <p:pRg st="1" end="1"/>
                                            </p:txEl>
                                          </p:spTgt>
                                        </p:tgtEl>
                                        <p:attrNameLst>
                                          <p:attrName>style.visibility</p:attrName>
                                        </p:attrNameLst>
                                      </p:cBhvr>
                                      <p:to>
                                        <p:strVal val="visible"/>
                                      </p:to>
                                    </p:set>
                                    <p:animEffect transition="in" filter="fade">
                                      <p:cBhvr>
                                        <p:cTn id="15" dur="500"/>
                                        <p:tgtEl>
                                          <p:spTgt spid="4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8">
                                            <p:txEl>
                                              <p:pRg st="2" end="2"/>
                                            </p:txEl>
                                          </p:spTgt>
                                        </p:tgtEl>
                                        <p:attrNameLst>
                                          <p:attrName>style.visibility</p:attrName>
                                        </p:attrNameLst>
                                      </p:cBhvr>
                                      <p:to>
                                        <p:strVal val="visible"/>
                                      </p:to>
                                    </p:set>
                                    <p:animEffect transition="in" filter="fade">
                                      <p:cBhvr>
                                        <p:cTn id="20" dur="500"/>
                                        <p:tgtEl>
                                          <p:spTgt spid="48">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8">
                                            <p:txEl>
                                              <p:pRg st="3" end="3"/>
                                            </p:txEl>
                                          </p:spTgt>
                                        </p:tgtEl>
                                        <p:attrNameLst>
                                          <p:attrName>style.visibility</p:attrName>
                                        </p:attrNameLst>
                                      </p:cBhvr>
                                      <p:to>
                                        <p:strVal val="visible"/>
                                      </p:to>
                                    </p:set>
                                    <p:animEffect transition="in" filter="fade">
                                      <p:cBhvr>
                                        <p:cTn id="25" dur="500"/>
                                        <p:tgtEl>
                                          <p:spTgt spid="48">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8">
                                            <p:txEl>
                                              <p:pRg st="4" end="4"/>
                                            </p:txEl>
                                          </p:spTgt>
                                        </p:tgtEl>
                                        <p:attrNameLst>
                                          <p:attrName>style.visibility</p:attrName>
                                        </p:attrNameLst>
                                      </p:cBhvr>
                                      <p:to>
                                        <p:strVal val="visible"/>
                                      </p:to>
                                    </p:set>
                                    <p:animEffect transition="in" filter="fade">
                                      <p:cBhvr>
                                        <p:cTn id="30" dur="500"/>
                                        <p:tgtEl>
                                          <p:spTgt spid="48">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8">
                                            <p:txEl>
                                              <p:pRg st="5" end="5"/>
                                            </p:txEl>
                                          </p:spTgt>
                                        </p:tgtEl>
                                        <p:attrNameLst>
                                          <p:attrName>style.visibility</p:attrName>
                                        </p:attrNameLst>
                                      </p:cBhvr>
                                      <p:to>
                                        <p:strVal val="visible"/>
                                      </p:to>
                                    </p:set>
                                    <p:animEffect transition="in" filter="fade">
                                      <p:cBhvr>
                                        <p:cTn id="35" dur="500"/>
                                        <p:tgtEl>
                                          <p:spTgt spid="4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73544" y="993566"/>
            <a:ext cx="4857750" cy="592213"/>
          </a:xfrm>
          <a:prstGeom prst="rect">
            <a:avLst/>
          </a:prstGeom>
        </p:spPr>
        <p:txBody>
          <a:bodyPr wrap="square">
            <a:spAutoFit/>
          </a:bodyPr>
          <a:lstStyle/>
          <a:p>
            <a:pPr marL="449580" indent="-449580">
              <a:lnSpc>
                <a:spcPct val="130000"/>
              </a:lnSpc>
              <a:buClr>
                <a:srgbClr val="C00000"/>
              </a:buClr>
              <a:buFont typeface="Wingdings" panose="05000000000000000000" pitchFamily="2" charset="2"/>
              <a:buChar char="Ø"/>
            </a:pPr>
            <a:r>
              <a:rPr lang="en-US" altLang="zh-CN" sz="2800" dirty="0">
                <a:solidFill>
                  <a:srgbClr val="C00000"/>
                </a:solidFill>
              </a:rPr>
              <a:t>Q-Learning</a:t>
            </a:r>
            <a:r>
              <a:rPr lang="zh-CN" altLang="en-US" sz="2800" dirty="0">
                <a:solidFill>
                  <a:srgbClr val="C00000"/>
                </a:solidFill>
              </a:rPr>
              <a:t>算法</a:t>
            </a:r>
            <a:endParaRPr lang="en-US" altLang="zh-CN" sz="2800" dirty="0">
              <a:solidFill>
                <a:srgbClr val="C00000"/>
              </a:solidFill>
            </a:endParaRPr>
          </a:p>
        </p:txBody>
      </p:sp>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6" name="矩形 5"/>
          <p:cNvSpPr/>
          <p:nvPr/>
        </p:nvSpPr>
        <p:spPr>
          <a:xfrm>
            <a:off x="553065" y="1688985"/>
            <a:ext cx="7868263" cy="4534831"/>
          </a:xfrm>
          <a:prstGeom prst="rect">
            <a:avLst/>
          </a:prstGeom>
        </p:spPr>
        <p:txBody>
          <a:bodyPr wrap="square">
            <a:spAutoFit/>
          </a:bodyPr>
          <a:lstStyle/>
          <a:p>
            <a:pPr marL="449580" indent="-273050" algn="just">
              <a:lnSpc>
                <a:spcPct val="150000"/>
              </a:lnSpc>
              <a:buFont typeface="Arial" panose="020B0604020202020204" pitchFamily="34" charset="0"/>
              <a:buChar char="•"/>
            </a:pPr>
            <a:r>
              <a:rPr lang="en-US" altLang="zh-CN" sz="2800" dirty="0">
                <a:solidFill>
                  <a:srgbClr val="FF0000"/>
                </a:solidFill>
              </a:rPr>
              <a:t>Q-Learning</a:t>
            </a:r>
            <a:r>
              <a:rPr lang="zh-CN" altLang="en-US" sz="2800" dirty="0"/>
              <a:t>是强化学习的一种算法，</a:t>
            </a:r>
            <a:r>
              <a:rPr lang="en-US" altLang="zh-CN" sz="2800" i="1" dirty="0"/>
              <a:t>Q</a:t>
            </a:r>
            <a:r>
              <a:rPr lang="zh-CN" altLang="en-US" sz="2800" dirty="0"/>
              <a:t>是在某一时刻的状态</a:t>
            </a:r>
            <a:r>
              <a:rPr lang="en-US" altLang="zh-CN" sz="2800" i="1" dirty="0"/>
              <a:t>s</a:t>
            </a:r>
            <a:r>
              <a:rPr lang="zh-CN" altLang="en-US" sz="2800" dirty="0"/>
              <a:t>下，采取动作</a:t>
            </a:r>
            <a:r>
              <a:rPr lang="en-US" altLang="zh-CN" sz="2800" i="1" dirty="0"/>
              <a:t>a</a:t>
            </a:r>
            <a:r>
              <a:rPr lang="zh-CN" altLang="en-US" sz="2800" dirty="0"/>
              <a:t>能够获得收益的期望，记为</a:t>
            </a:r>
            <a:r>
              <a:rPr lang="en-US" altLang="zh-CN" sz="2800" i="1" dirty="0"/>
              <a:t>s</a:t>
            </a:r>
            <a:r>
              <a:rPr lang="zh-CN" altLang="en-US" sz="2800" dirty="0"/>
              <a:t>和</a:t>
            </a:r>
            <a:r>
              <a:rPr lang="en-US" altLang="zh-CN" sz="2800" i="1" dirty="0"/>
              <a:t>a</a:t>
            </a:r>
            <a:r>
              <a:rPr lang="zh-CN" altLang="en-US" sz="2800" dirty="0"/>
              <a:t>的函数</a:t>
            </a:r>
            <a:r>
              <a:rPr lang="en-US" altLang="zh-CN" sz="2800" i="1" dirty="0"/>
              <a:t>Q</a:t>
            </a:r>
            <a:r>
              <a:rPr lang="en-US" altLang="zh-CN" sz="2800" dirty="0"/>
              <a:t>(</a:t>
            </a:r>
            <a:r>
              <a:rPr lang="en-US" altLang="zh-CN" sz="2800" i="1" dirty="0" err="1"/>
              <a:t>s</a:t>
            </a:r>
            <a:r>
              <a:rPr lang="en-US" altLang="zh-CN" sz="2800" dirty="0" err="1"/>
              <a:t>,</a:t>
            </a:r>
            <a:r>
              <a:rPr lang="en-US" altLang="zh-CN" sz="2800" i="1" dirty="0" err="1"/>
              <a:t>a</a:t>
            </a:r>
            <a:r>
              <a:rPr lang="en-US" altLang="zh-CN" sz="2800" dirty="0"/>
              <a:t>)</a:t>
            </a:r>
            <a:r>
              <a:rPr lang="zh-CN" altLang="en-US" sz="2800" dirty="0"/>
              <a:t>。环境会根据智能体的动作反馈相应的奖赏。</a:t>
            </a:r>
            <a:endParaRPr lang="en-US" altLang="zh-CN" sz="2800" dirty="0"/>
          </a:p>
          <a:p>
            <a:pPr marL="449580" indent="-273050" algn="just">
              <a:lnSpc>
                <a:spcPct val="150000"/>
              </a:lnSpc>
              <a:buFont typeface="Arial" panose="020B0604020202020204" pitchFamily="34" charset="0"/>
              <a:buChar char="•"/>
            </a:pPr>
            <a:r>
              <a:rPr lang="zh-CN" altLang="en-US" sz="2800" dirty="0">
                <a:solidFill>
                  <a:srgbClr val="FF0000"/>
                </a:solidFill>
              </a:rPr>
              <a:t>算法思想：</a:t>
            </a:r>
            <a:r>
              <a:rPr lang="zh-CN" altLang="en-US" sz="2800" dirty="0"/>
              <a:t>用状态和动作构建一张</a:t>
            </a:r>
            <a:r>
              <a:rPr lang="en-US" altLang="zh-CN" sz="2800" i="1" dirty="0"/>
              <a:t>Q</a:t>
            </a:r>
            <a:r>
              <a:rPr lang="zh-CN" altLang="en-US" sz="2800" dirty="0"/>
              <a:t>表来存储</a:t>
            </a:r>
            <a:r>
              <a:rPr lang="en-US" altLang="zh-CN" sz="2800" i="1" dirty="0"/>
              <a:t>Q</a:t>
            </a:r>
            <a:r>
              <a:rPr lang="zh-CN" altLang="en-US" sz="2800" dirty="0"/>
              <a:t>值，然后根据</a:t>
            </a:r>
            <a:r>
              <a:rPr lang="en-US" altLang="zh-CN" sz="2800" i="1" dirty="0"/>
              <a:t>Q</a:t>
            </a:r>
            <a:r>
              <a:rPr lang="zh-CN" altLang="en-US" sz="2800" dirty="0"/>
              <a:t>值选择能够获得最大收益的动作。</a:t>
            </a:r>
            <a:endParaRPr lang="zh-CN" altLang="en-US" sz="280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73543" y="993566"/>
            <a:ext cx="7416843" cy="592213"/>
          </a:xfrm>
          <a:prstGeom prst="rect">
            <a:avLst/>
          </a:prstGeom>
        </p:spPr>
        <p:txBody>
          <a:bodyPr wrap="square">
            <a:spAutoFit/>
          </a:bodyPr>
          <a:lstStyle/>
          <a:p>
            <a:pPr marL="342900" indent="-342900">
              <a:lnSpc>
                <a:spcPct val="130000"/>
              </a:lnSpc>
              <a:buClr>
                <a:srgbClr val="C00000"/>
              </a:buClr>
              <a:buFont typeface="Wingdings" panose="05000000000000000000" pitchFamily="2" charset="2"/>
              <a:buChar char="Ø"/>
            </a:pPr>
            <a:r>
              <a:rPr lang="en-US" altLang="zh-CN" sz="2800" dirty="0">
                <a:solidFill>
                  <a:srgbClr val="C00000"/>
                </a:solidFill>
              </a:rPr>
              <a:t>Q-Learning</a:t>
            </a:r>
            <a:r>
              <a:rPr lang="zh-CN" altLang="en-US" sz="2800" dirty="0">
                <a:solidFill>
                  <a:srgbClr val="C00000"/>
                </a:solidFill>
              </a:rPr>
              <a:t>算法应用：机器人路径优化问题</a:t>
            </a:r>
            <a:endParaRPr lang="en-US" altLang="zh-CN" sz="2800" dirty="0">
              <a:solidFill>
                <a:srgbClr val="C00000"/>
              </a:solidFill>
            </a:endParaRPr>
          </a:p>
        </p:txBody>
      </p:sp>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6" name="矩形 5"/>
          <p:cNvSpPr/>
          <p:nvPr/>
        </p:nvSpPr>
        <p:spPr>
          <a:xfrm>
            <a:off x="553065" y="1725855"/>
            <a:ext cx="8126361" cy="1216743"/>
          </a:xfrm>
          <a:prstGeom prst="rect">
            <a:avLst/>
          </a:prstGeom>
        </p:spPr>
        <p:txBody>
          <a:bodyPr wrap="square">
            <a:spAutoFit/>
          </a:bodyPr>
          <a:lstStyle/>
          <a:p>
            <a:pPr indent="361950" algn="just">
              <a:lnSpc>
                <a:spcPct val="150000"/>
              </a:lnSpc>
            </a:pPr>
            <a:r>
              <a:rPr lang="zh-CN" altLang="en-US" sz="2600" dirty="0"/>
              <a:t>假设有一个房子，如左图所示。我们将房间表示成节点，用箭头表示房间之间的联通关系，如右图所示。</a:t>
            </a:r>
            <a:endParaRPr lang="zh-CN" altLang="en-US" sz="260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7"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65969" y="3148780"/>
            <a:ext cx="3891731" cy="241873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966" r="19753" b="14756"/>
          <a:stretch>
            <a:fillRect/>
          </a:stretch>
        </p:blipFill>
        <p:spPr bwMode="auto">
          <a:xfrm>
            <a:off x="4583062" y="2999896"/>
            <a:ext cx="4310215" cy="26925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par>
                          <p:cTn id="13" fill="hold">
                            <p:stCondLst>
                              <p:cond delay="1000"/>
                            </p:stCondLst>
                            <p:childTnLst>
                              <p:par>
                                <p:cTn id="14" presetID="42" presetClass="entr" presetSubtype="0" fill="hold" nodeType="afterEffect">
                                  <p:stCondLst>
                                    <p:cond delay="5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childTnLst>
                          </p:cTn>
                        </p:par>
                        <p:par>
                          <p:cTn id="19" fill="hold">
                            <p:stCondLst>
                              <p:cond delay="2500"/>
                            </p:stCondLst>
                            <p:childTnLst>
                              <p:par>
                                <p:cTn id="20" presetID="42" presetClass="entr" presetSubtype="0" fill="hold" nodeType="after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8" name="Picture 6"/>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t="6078"/>
          <a:stretch>
            <a:fillRect/>
          </a:stretch>
        </p:blipFill>
        <p:spPr bwMode="auto">
          <a:xfrm>
            <a:off x="4457700" y="3908028"/>
            <a:ext cx="4233094" cy="2713703"/>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3" name="矩形 12"/>
          <p:cNvSpPr/>
          <p:nvPr/>
        </p:nvSpPr>
        <p:spPr>
          <a:xfrm>
            <a:off x="473543" y="993566"/>
            <a:ext cx="7416843" cy="592213"/>
          </a:xfrm>
          <a:prstGeom prst="rect">
            <a:avLst/>
          </a:prstGeom>
        </p:spPr>
        <p:txBody>
          <a:bodyPr wrap="square">
            <a:spAutoFit/>
          </a:bodyPr>
          <a:lstStyle/>
          <a:p>
            <a:pPr marL="342900" indent="-342900">
              <a:lnSpc>
                <a:spcPct val="130000"/>
              </a:lnSpc>
              <a:buClr>
                <a:srgbClr val="C00000"/>
              </a:buClr>
              <a:buFont typeface="Wingdings" panose="05000000000000000000" pitchFamily="2" charset="2"/>
              <a:buChar char="Ø"/>
            </a:pPr>
            <a:r>
              <a:rPr lang="en-US" altLang="zh-CN" sz="2800" dirty="0">
                <a:solidFill>
                  <a:srgbClr val="C00000"/>
                </a:solidFill>
              </a:rPr>
              <a:t>Q-Learning</a:t>
            </a:r>
            <a:r>
              <a:rPr lang="zh-CN" altLang="en-US" sz="2800" dirty="0">
                <a:solidFill>
                  <a:srgbClr val="C00000"/>
                </a:solidFill>
              </a:rPr>
              <a:t>算法应用：机器人路径优化问题</a:t>
            </a:r>
            <a:endParaRPr lang="en-US" altLang="zh-CN" sz="2800" dirty="0">
              <a:solidFill>
                <a:srgbClr val="C00000"/>
              </a:solidFill>
            </a:endParaRPr>
          </a:p>
        </p:txBody>
      </p:sp>
      <p:sp>
        <p:nvSpPr>
          <p:cNvPr id="14" name="矩形 13"/>
          <p:cNvSpPr/>
          <p:nvPr/>
        </p:nvSpPr>
        <p:spPr>
          <a:xfrm>
            <a:off x="553066" y="1593120"/>
            <a:ext cx="8059992" cy="2417072"/>
          </a:xfrm>
          <a:prstGeom prst="rect">
            <a:avLst/>
          </a:prstGeom>
        </p:spPr>
        <p:txBody>
          <a:bodyPr wrap="square">
            <a:spAutoFit/>
          </a:bodyPr>
          <a:lstStyle/>
          <a:p>
            <a:pPr indent="538480" algn="just">
              <a:lnSpc>
                <a:spcPct val="150000"/>
              </a:lnSpc>
            </a:pPr>
            <a:r>
              <a:rPr lang="zh-CN" altLang="en-US" sz="2600" dirty="0"/>
              <a:t>首先将机器人（</a:t>
            </a:r>
            <a:r>
              <a:rPr lang="en-US" altLang="zh-CN" sz="2600" dirty="0"/>
              <a:t>agent</a:t>
            </a:r>
            <a:r>
              <a:rPr lang="zh-CN" altLang="en-US" sz="2600" dirty="0"/>
              <a:t>）放在任何一个位置，让它自己走动，直到走到房间（结点）</a:t>
            </a:r>
            <a:r>
              <a:rPr lang="en-US" altLang="zh-CN" sz="2600" dirty="0"/>
              <a:t>5</a:t>
            </a:r>
            <a:r>
              <a:rPr lang="zh-CN" altLang="en-US" sz="2600" dirty="0"/>
              <a:t>，表示成功。为了能够到达目标，我们将结点</a:t>
            </a:r>
            <a:r>
              <a:rPr lang="en-US" altLang="zh-CN" sz="2600" dirty="0"/>
              <a:t>5</a:t>
            </a:r>
            <a:r>
              <a:rPr lang="zh-CN" altLang="en-US" sz="2600" dirty="0"/>
              <a:t>的边设置为</a:t>
            </a:r>
            <a:r>
              <a:rPr lang="en-US" altLang="zh-CN" sz="2600" dirty="0"/>
              <a:t>100</a:t>
            </a:r>
            <a:r>
              <a:rPr lang="zh-CN" altLang="en-US" sz="2600" dirty="0"/>
              <a:t>，其他不能的设置为</a:t>
            </a:r>
            <a:r>
              <a:rPr lang="en-US" altLang="zh-CN" sz="2600" dirty="0"/>
              <a:t>0</a:t>
            </a:r>
            <a:r>
              <a:rPr lang="zh-CN" altLang="en-US" sz="2600" dirty="0"/>
              <a:t>，生成新的带权重的路径网络。</a:t>
            </a:r>
            <a:endParaRPr lang="zh-CN" altLang="en-US" sz="26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8" name="Picture 6"/>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t="6078"/>
          <a:stretch>
            <a:fillRect/>
          </a:stretch>
        </p:blipFill>
        <p:spPr bwMode="auto">
          <a:xfrm>
            <a:off x="4457700" y="3429000"/>
            <a:ext cx="4233094" cy="2713703"/>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3" name="矩形 12"/>
          <p:cNvSpPr/>
          <p:nvPr/>
        </p:nvSpPr>
        <p:spPr>
          <a:xfrm>
            <a:off x="473543" y="993566"/>
            <a:ext cx="7416843" cy="592213"/>
          </a:xfrm>
          <a:prstGeom prst="rect">
            <a:avLst/>
          </a:prstGeom>
        </p:spPr>
        <p:txBody>
          <a:bodyPr wrap="square">
            <a:spAutoFit/>
          </a:bodyPr>
          <a:lstStyle/>
          <a:p>
            <a:pPr marL="342900" indent="-342900">
              <a:lnSpc>
                <a:spcPct val="130000"/>
              </a:lnSpc>
              <a:buClr>
                <a:srgbClr val="C00000"/>
              </a:buClr>
              <a:buFont typeface="Wingdings" panose="05000000000000000000" pitchFamily="2" charset="2"/>
              <a:buChar char="Ø"/>
            </a:pPr>
            <a:r>
              <a:rPr lang="en-US" altLang="zh-CN" sz="2800" dirty="0">
                <a:solidFill>
                  <a:srgbClr val="C00000"/>
                </a:solidFill>
              </a:rPr>
              <a:t>Q-Learning</a:t>
            </a:r>
            <a:r>
              <a:rPr lang="zh-CN" altLang="en-US" sz="2800" dirty="0">
                <a:solidFill>
                  <a:srgbClr val="C00000"/>
                </a:solidFill>
              </a:rPr>
              <a:t>算法应用：机器人路径优化问题</a:t>
            </a:r>
            <a:endParaRPr lang="en-US" altLang="zh-CN" sz="2800" dirty="0">
              <a:solidFill>
                <a:srgbClr val="C00000"/>
              </a:solidFill>
            </a:endParaRPr>
          </a:p>
        </p:txBody>
      </p:sp>
      <p:sp>
        <p:nvSpPr>
          <p:cNvPr id="14" name="矩形 13"/>
          <p:cNvSpPr/>
          <p:nvPr/>
        </p:nvSpPr>
        <p:spPr>
          <a:xfrm>
            <a:off x="553066" y="1725855"/>
            <a:ext cx="8059992" cy="1816908"/>
          </a:xfrm>
          <a:prstGeom prst="rect">
            <a:avLst/>
          </a:prstGeom>
        </p:spPr>
        <p:txBody>
          <a:bodyPr wrap="square">
            <a:spAutoFit/>
          </a:bodyPr>
          <a:lstStyle/>
          <a:p>
            <a:pPr indent="538480" algn="just">
              <a:lnSpc>
                <a:spcPct val="150000"/>
              </a:lnSpc>
            </a:pPr>
            <a:r>
              <a:rPr lang="en-US" altLang="zh-CN" sz="2600" dirty="0"/>
              <a:t>Q-Learning</a:t>
            </a:r>
            <a:r>
              <a:rPr lang="zh-CN" altLang="en-US" sz="2600" dirty="0"/>
              <a:t>中，最重要的就是“状态”和“动作”，状态表示位于图中的哪个结点，如结点</a:t>
            </a:r>
            <a:r>
              <a:rPr lang="en-US" altLang="zh-CN" sz="2600" dirty="0"/>
              <a:t>0</a:t>
            </a:r>
            <a:r>
              <a:rPr lang="zh-CN" altLang="en-US" sz="2600" dirty="0"/>
              <a:t>、结点</a:t>
            </a:r>
            <a:r>
              <a:rPr lang="en-US" altLang="zh-CN" sz="2600" dirty="0"/>
              <a:t>3</a:t>
            </a:r>
            <a:r>
              <a:rPr lang="zh-CN" altLang="en-US" sz="2600" dirty="0"/>
              <a:t>等，动作则表示从一个结点到另一个结点的操作。</a:t>
            </a:r>
            <a:endParaRPr lang="zh-CN" altLang="en-US" sz="26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7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6" name="Picture 14"/>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10326" t="8445" r="14220" b="7703"/>
          <a:stretch>
            <a:fillRect/>
          </a:stretch>
        </p:blipFill>
        <p:spPr bwMode="auto">
          <a:xfrm>
            <a:off x="5490233" y="4104204"/>
            <a:ext cx="2643502" cy="1726138"/>
          </a:xfrm>
          <a:prstGeom prst="rect">
            <a:avLst/>
          </a:prstGeom>
          <a:noFill/>
          <a:extLst>
            <a:ext uri="{909E8E84-426E-40DD-AFC4-6F175D3DCCD1}">
              <a14:hiddenFill xmlns:a14="http://schemas.microsoft.com/office/drawing/2010/main">
                <a:solidFill>
                  <a:srgbClr val="FFFFFF"/>
                </a:solidFill>
              </a14:hiddenFill>
            </a:ext>
          </a:extLst>
        </p:spPr>
      </p:pic>
      <p:pic>
        <p:nvPicPr>
          <p:cNvPr id="18444" name="Picture 1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428" t="7096" r="4462" b="5203"/>
          <a:stretch>
            <a:fillRect/>
          </a:stretch>
        </p:blipFill>
        <p:spPr bwMode="auto">
          <a:xfrm>
            <a:off x="5386996" y="1660337"/>
            <a:ext cx="2874414" cy="1908855"/>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6" name="矩形 5"/>
          <p:cNvSpPr/>
          <p:nvPr/>
        </p:nvSpPr>
        <p:spPr>
          <a:xfrm>
            <a:off x="6121625" y="3594764"/>
            <a:ext cx="1908872" cy="369332"/>
          </a:xfrm>
          <a:prstGeom prst="rect">
            <a:avLst/>
          </a:prstGeom>
        </p:spPr>
        <p:txBody>
          <a:bodyPr wrap="square">
            <a:spAutoFit/>
          </a:bodyPr>
          <a:lstStyle/>
          <a:p>
            <a:pPr algn="ctr"/>
            <a:r>
              <a:rPr lang="en-US" altLang="zh-CN" dirty="0">
                <a:solidFill>
                  <a:srgbClr val="C00000"/>
                </a:solidFill>
              </a:rPr>
              <a:t>R</a:t>
            </a:r>
            <a:r>
              <a:rPr lang="zh-CN" altLang="en-US" dirty="0">
                <a:solidFill>
                  <a:srgbClr val="C00000"/>
                </a:solidFill>
              </a:rPr>
              <a:t>表：奖励矩阵</a:t>
            </a:r>
            <a:endParaRPr lang="zh-CN" altLang="en-US" dirty="0">
              <a:solidFill>
                <a:srgbClr val="C00000"/>
              </a:solidFill>
            </a:endParaRPr>
          </a:p>
        </p:txBody>
      </p:sp>
      <p:sp>
        <p:nvSpPr>
          <p:cNvPr id="7" name="矩形 6"/>
          <p:cNvSpPr/>
          <p:nvPr/>
        </p:nvSpPr>
        <p:spPr>
          <a:xfrm>
            <a:off x="6121625" y="5867708"/>
            <a:ext cx="2056355" cy="338554"/>
          </a:xfrm>
          <a:prstGeom prst="rect">
            <a:avLst/>
          </a:prstGeom>
        </p:spPr>
        <p:txBody>
          <a:bodyPr wrap="square">
            <a:spAutoFit/>
          </a:bodyPr>
          <a:lstStyle/>
          <a:p>
            <a:pPr algn="ctr"/>
            <a:r>
              <a:rPr lang="en-US" altLang="zh-CN" sz="1600" dirty="0">
                <a:solidFill>
                  <a:srgbClr val="C00000"/>
                </a:solidFill>
              </a:rPr>
              <a:t>Q</a:t>
            </a:r>
            <a:r>
              <a:rPr lang="zh-CN" altLang="en-US" sz="1600" dirty="0">
                <a:solidFill>
                  <a:srgbClr val="C00000"/>
                </a:solidFill>
              </a:rPr>
              <a:t>表：学习到的经验</a:t>
            </a:r>
            <a:endParaRPr lang="zh-CN" altLang="en-US" sz="1600" dirty="0">
              <a:solidFill>
                <a:srgbClr val="C00000"/>
              </a:solidFill>
            </a:endParaRPr>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3" name="矩形 12"/>
          <p:cNvSpPr/>
          <p:nvPr/>
        </p:nvSpPr>
        <p:spPr>
          <a:xfrm>
            <a:off x="473544" y="1016506"/>
            <a:ext cx="7416843" cy="592213"/>
          </a:xfrm>
          <a:prstGeom prst="rect">
            <a:avLst/>
          </a:prstGeom>
        </p:spPr>
        <p:txBody>
          <a:bodyPr wrap="square">
            <a:spAutoFit/>
          </a:bodyPr>
          <a:lstStyle/>
          <a:p>
            <a:pPr marL="342900" indent="-342900">
              <a:lnSpc>
                <a:spcPct val="130000"/>
              </a:lnSpc>
              <a:buClr>
                <a:srgbClr val="C00000"/>
              </a:buClr>
              <a:buFont typeface="Wingdings" panose="05000000000000000000" pitchFamily="2" charset="2"/>
              <a:buChar char="Ø"/>
            </a:pPr>
            <a:r>
              <a:rPr lang="en-US" altLang="zh-CN" sz="2800" dirty="0">
                <a:solidFill>
                  <a:srgbClr val="C00000"/>
                </a:solidFill>
              </a:rPr>
              <a:t>Q-Learning</a:t>
            </a:r>
            <a:r>
              <a:rPr lang="zh-CN" altLang="en-US" sz="2800" dirty="0">
                <a:solidFill>
                  <a:srgbClr val="C00000"/>
                </a:solidFill>
              </a:rPr>
              <a:t>算法应用：机器人路径优化问题</a:t>
            </a:r>
            <a:endParaRPr lang="en-US" altLang="zh-CN" sz="2800" dirty="0">
              <a:solidFill>
                <a:srgbClr val="C00000"/>
              </a:solidFill>
            </a:endParaRPr>
          </a:p>
        </p:txBody>
      </p:sp>
      <p:sp>
        <p:nvSpPr>
          <p:cNvPr id="14" name="矩形 13"/>
          <p:cNvSpPr/>
          <p:nvPr/>
        </p:nvSpPr>
        <p:spPr>
          <a:xfrm>
            <a:off x="553066" y="1711105"/>
            <a:ext cx="4535128" cy="4507644"/>
          </a:xfrm>
          <a:prstGeom prst="rect">
            <a:avLst/>
          </a:prstGeom>
        </p:spPr>
        <p:txBody>
          <a:bodyPr wrap="square">
            <a:spAutoFit/>
          </a:bodyPr>
          <a:lstStyle/>
          <a:p>
            <a:pPr marL="342900" indent="-254000" algn="just">
              <a:lnSpc>
                <a:spcPct val="140000"/>
              </a:lnSpc>
              <a:buFont typeface="Arial" panose="020B0604020202020204" pitchFamily="34" charset="0"/>
              <a:buChar char="•"/>
            </a:pPr>
            <a:r>
              <a:rPr lang="zh-CN" altLang="en-US" sz="2600" dirty="0"/>
              <a:t>首先生成一个奖励矩阵，其中</a:t>
            </a:r>
            <a:r>
              <a:rPr lang="en-US" altLang="zh-CN" sz="2600" dirty="0"/>
              <a:t>-1</a:t>
            </a:r>
            <a:r>
              <a:rPr lang="zh-CN" altLang="en-US" sz="2600" dirty="0"/>
              <a:t>表示不可以通过，</a:t>
            </a:r>
            <a:r>
              <a:rPr lang="en-US" altLang="zh-CN" sz="2600" dirty="0"/>
              <a:t>0</a:t>
            </a:r>
            <a:r>
              <a:rPr lang="zh-CN" altLang="en-US" sz="2600" dirty="0"/>
              <a:t>表示可以通过，</a:t>
            </a:r>
            <a:r>
              <a:rPr lang="en-US" altLang="zh-CN" sz="2600" dirty="0"/>
              <a:t>100</a:t>
            </a:r>
            <a:r>
              <a:rPr lang="zh-CN" altLang="en-US" sz="2600" dirty="0"/>
              <a:t>表示直接到达终点。</a:t>
            </a:r>
            <a:endParaRPr lang="en-US" altLang="zh-CN" sz="2600" dirty="0"/>
          </a:p>
          <a:p>
            <a:pPr marL="342900" indent="-254000" algn="just">
              <a:lnSpc>
                <a:spcPct val="140000"/>
              </a:lnSpc>
              <a:buFont typeface="Arial" panose="020B0604020202020204" pitchFamily="34" charset="0"/>
              <a:buChar char="•"/>
            </a:pPr>
            <a:r>
              <a:rPr lang="zh-CN" altLang="en-US" sz="2600" dirty="0"/>
              <a:t>创建一个与</a:t>
            </a:r>
            <a:r>
              <a:rPr lang="en-US" altLang="zh-CN" sz="2600" i="1" dirty="0"/>
              <a:t>R</a:t>
            </a:r>
            <a:r>
              <a:rPr lang="zh-CN" altLang="en-US" sz="2600" dirty="0"/>
              <a:t>表同维的</a:t>
            </a:r>
            <a:r>
              <a:rPr lang="en-US" altLang="zh-CN" sz="2600" i="1" dirty="0"/>
              <a:t>Q</a:t>
            </a:r>
            <a:r>
              <a:rPr lang="zh-CN" altLang="en-US" sz="2600" dirty="0"/>
              <a:t>表，表示从一个状态到另一个状态能获得的总的奖励，并将它初始化为零矩阵。</a:t>
            </a:r>
            <a:endParaRPr lang="zh-CN" altLang="en-US" sz="26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750"/>
                                        <p:tgtEl>
                                          <p:spTgt spid="14"/>
                                        </p:tgtEl>
                                      </p:cBhvr>
                                    </p:animEffect>
                                  </p:childTnLst>
                                </p:cTn>
                              </p:par>
                            </p:childTnLst>
                          </p:cTn>
                        </p:par>
                        <p:par>
                          <p:cTn id="8" fill="hold">
                            <p:stCondLst>
                              <p:cond delay="1500"/>
                            </p:stCondLst>
                            <p:childTnLst>
                              <p:par>
                                <p:cTn id="9" presetID="47" presetClass="entr" presetSubtype="0" fill="hold" nodeType="afterEffect">
                                  <p:stCondLst>
                                    <p:cond delay="750"/>
                                  </p:stCondLst>
                                  <p:childTnLst>
                                    <p:set>
                                      <p:cBhvr>
                                        <p:cTn id="10" dur="1" fill="hold">
                                          <p:stCondLst>
                                            <p:cond delay="0"/>
                                          </p:stCondLst>
                                        </p:cTn>
                                        <p:tgtEl>
                                          <p:spTgt spid="18444"/>
                                        </p:tgtEl>
                                        <p:attrNameLst>
                                          <p:attrName>style.visibility</p:attrName>
                                        </p:attrNameLst>
                                      </p:cBhvr>
                                      <p:to>
                                        <p:strVal val="visible"/>
                                      </p:to>
                                    </p:set>
                                    <p:animEffect transition="in" filter="fade">
                                      <p:cBhvr>
                                        <p:cTn id="11" dur="1000"/>
                                        <p:tgtEl>
                                          <p:spTgt spid="18444"/>
                                        </p:tgtEl>
                                      </p:cBhvr>
                                    </p:animEffect>
                                    <p:anim calcmode="lin" valueType="num">
                                      <p:cBhvr>
                                        <p:cTn id="12" dur="1000" fill="hold"/>
                                        <p:tgtEl>
                                          <p:spTgt spid="18444"/>
                                        </p:tgtEl>
                                        <p:attrNameLst>
                                          <p:attrName>ppt_x</p:attrName>
                                        </p:attrNameLst>
                                      </p:cBhvr>
                                      <p:tavLst>
                                        <p:tav tm="0">
                                          <p:val>
                                            <p:strVal val="#ppt_x"/>
                                          </p:val>
                                        </p:tav>
                                        <p:tav tm="100000">
                                          <p:val>
                                            <p:strVal val="#ppt_x"/>
                                          </p:val>
                                        </p:tav>
                                      </p:tavLst>
                                    </p:anim>
                                    <p:anim calcmode="lin" valueType="num">
                                      <p:cBhvr>
                                        <p:cTn id="13" dur="1000" fill="hold"/>
                                        <p:tgtEl>
                                          <p:spTgt spid="18444"/>
                                        </p:tgtEl>
                                        <p:attrNameLst>
                                          <p:attrName>ppt_y</p:attrName>
                                        </p:attrNameLst>
                                      </p:cBhvr>
                                      <p:tavLst>
                                        <p:tav tm="0">
                                          <p:val>
                                            <p:strVal val="#ppt_y-.1"/>
                                          </p:val>
                                        </p:tav>
                                        <p:tav tm="100000">
                                          <p:val>
                                            <p:strVal val="#ppt_y"/>
                                          </p:val>
                                        </p:tav>
                                      </p:tavLst>
                                    </p:anim>
                                  </p:childTnLst>
                                </p:cTn>
                              </p:par>
                              <p:par>
                                <p:cTn id="14" presetID="47" presetClass="entr" presetSubtype="0" fill="hold" grpId="0" nodeType="withEffect">
                                  <p:stCondLst>
                                    <p:cond delay="7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xEl>
                                              <p:pRg st="1" end="1"/>
                                            </p:txEl>
                                          </p:spTgt>
                                        </p:tgtEl>
                                        <p:attrNameLst>
                                          <p:attrName>style.visibility</p:attrName>
                                        </p:attrNameLst>
                                      </p:cBhvr>
                                      <p:to>
                                        <p:strVal val="visible"/>
                                      </p:to>
                                    </p:set>
                                    <p:animEffect transition="in" filter="fade">
                                      <p:cBhvr>
                                        <p:cTn id="23" dur="500"/>
                                        <p:tgtEl>
                                          <p:spTgt spid="14">
                                            <p:txEl>
                                              <p:pRg st="1" end="1"/>
                                            </p:txEl>
                                          </p:spTgt>
                                        </p:tgtEl>
                                      </p:cBhvr>
                                    </p:animEffect>
                                  </p:childTnLst>
                                </p:cTn>
                              </p:par>
                            </p:childTnLst>
                          </p:cTn>
                        </p:par>
                        <p:par>
                          <p:cTn id="24" fill="hold">
                            <p:stCondLst>
                              <p:cond delay="500"/>
                            </p:stCondLst>
                            <p:childTnLst>
                              <p:par>
                                <p:cTn id="25" presetID="42" presetClass="entr" presetSubtype="0" fill="hold" nodeType="afterEffect">
                                  <p:stCondLst>
                                    <p:cond delay="750"/>
                                  </p:stCondLst>
                                  <p:childTnLst>
                                    <p:set>
                                      <p:cBhvr>
                                        <p:cTn id="26" dur="1" fill="hold">
                                          <p:stCondLst>
                                            <p:cond delay="0"/>
                                          </p:stCondLst>
                                        </p:cTn>
                                        <p:tgtEl>
                                          <p:spTgt spid="18446"/>
                                        </p:tgtEl>
                                        <p:attrNameLst>
                                          <p:attrName>style.visibility</p:attrName>
                                        </p:attrNameLst>
                                      </p:cBhvr>
                                      <p:to>
                                        <p:strVal val="visible"/>
                                      </p:to>
                                    </p:set>
                                    <p:animEffect transition="in" filter="fade">
                                      <p:cBhvr>
                                        <p:cTn id="27" dur="1000"/>
                                        <p:tgtEl>
                                          <p:spTgt spid="18446"/>
                                        </p:tgtEl>
                                      </p:cBhvr>
                                    </p:animEffect>
                                    <p:anim calcmode="lin" valueType="num">
                                      <p:cBhvr>
                                        <p:cTn id="28" dur="1000" fill="hold"/>
                                        <p:tgtEl>
                                          <p:spTgt spid="18446"/>
                                        </p:tgtEl>
                                        <p:attrNameLst>
                                          <p:attrName>ppt_x</p:attrName>
                                        </p:attrNameLst>
                                      </p:cBhvr>
                                      <p:tavLst>
                                        <p:tav tm="0">
                                          <p:val>
                                            <p:strVal val="#ppt_x"/>
                                          </p:val>
                                        </p:tav>
                                        <p:tav tm="100000">
                                          <p:val>
                                            <p:strVal val="#ppt_x"/>
                                          </p:val>
                                        </p:tav>
                                      </p:tavLst>
                                    </p:anim>
                                    <p:anim calcmode="lin" valueType="num">
                                      <p:cBhvr>
                                        <p:cTn id="29" dur="1000" fill="hold"/>
                                        <p:tgtEl>
                                          <p:spTgt spid="1844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75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矩形 12"/>
              <p:cNvSpPr/>
              <p:nvPr/>
            </p:nvSpPr>
            <p:spPr>
              <a:xfrm>
                <a:off x="553066" y="1696359"/>
                <a:ext cx="7846140" cy="4534831"/>
              </a:xfrm>
              <a:prstGeom prst="rect">
                <a:avLst/>
              </a:prstGeom>
            </p:spPr>
            <p:txBody>
              <a:bodyPr wrap="square">
                <a:spAutoFit/>
              </a:bodyPr>
              <a:lstStyle/>
              <a:p>
                <a:pPr marL="342900" indent="-254000" algn="just">
                  <a:lnSpc>
                    <a:spcPct val="150000"/>
                  </a:lnSpc>
                  <a:buFont typeface="Arial" panose="020B0604020202020204" pitchFamily="34" charset="0"/>
                  <a:buChar char="•"/>
                </a:pPr>
                <a:r>
                  <a:rPr lang="zh-CN" altLang="en-US" sz="2800" dirty="0"/>
                  <a:t>根据公式</a:t>
                </a:r>
                <a14:m>
                  <m:oMath xmlns:m="http://schemas.openxmlformats.org/officeDocument/2006/math">
                    <m:r>
                      <a:rPr lang="en-US" altLang="zh-CN" sz="2800" b="0" i="1" smtClean="0">
                        <a:solidFill>
                          <a:srgbClr val="FF0000"/>
                        </a:solidFill>
                        <a:latin typeface="Cambria Math" panose="02040503050406030204" pitchFamily="18" charset="0"/>
                      </a:rPr>
                      <m:t>𝑄</m:t>
                    </m:r>
                    <m:d>
                      <m:dPr>
                        <m:ctrlPr>
                          <a:rPr lang="en-US" altLang="zh-CN" sz="2800" b="0" i="1" smtClean="0">
                            <a:solidFill>
                              <a:srgbClr val="FF0000"/>
                            </a:solidFill>
                            <a:latin typeface="Cambria Math" panose="02040503050406030204" pitchFamily="18" charset="0"/>
                          </a:rPr>
                        </m:ctrlPr>
                      </m:dPr>
                      <m:e>
                        <m:r>
                          <a:rPr lang="en-US" altLang="zh-CN" sz="2800" b="0" i="1" smtClean="0">
                            <a:solidFill>
                              <a:srgbClr val="FF0000"/>
                            </a:solidFill>
                            <a:latin typeface="Cambria Math" panose="02040503050406030204" pitchFamily="18" charset="0"/>
                          </a:rPr>
                          <m:t>𝑠</m:t>
                        </m:r>
                        <m:r>
                          <a:rPr lang="en-US" altLang="zh-CN" sz="2800" b="0" i="1" smtClean="0">
                            <a:solidFill>
                              <a:srgbClr val="FF0000"/>
                            </a:solidFill>
                            <a:latin typeface="Cambria Math" panose="02040503050406030204" pitchFamily="18" charset="0"/>
                          </a:rPr>
                          <m:t>,</m:t>
                        </m:r>
                        <m:r>
                          <a:rPr lang="en-US" altLang="zh-CN" sz="2800" b="0" i="1" smtClean="0">
                            <a:solidFill>
                              <a:srgbClr val="FF0000"/>
                            </a:solidFill>
                            <a:latin typeface="Cambria Math" panose="02040503050406030204" pitchFamily="18" charset="0"/>
                          </a:rPr>
                          <m:t>𝑎</m:t>
                        </m:r>
                      </m:e>
                    </m:d>
                    <m:r>
                      <a:rPr lang="en-US" altLang="zh-CN" sz="2800" b="0" i="1" smtClean="0">
                        <a:solidFill>
                          <a:srgbClr val="FF0000"/>
                        </a:solidFill>
                        <a:latin typeface="Cambria Math" panose="02040503050406030204" pitchFamily="18" charset="0"/>
                      </a:rPr>
                      <m:t>=</m:t>
                    </m:r>
                    <m:r>
                      <a:rPr lang="en-US" altLang="zh-CN" sz="2800" b="0" i="1" smtClean="0">
                        <a:solidFill>
                          <a:srgbClr val="FF0000"/>
                        </a:solidFill>
                        <a:latin typeface="Cambria Math" panose="02040503050406030204" pitchFamily="18" charset="0"/>
                      </a:rPr>
                      <m:t>𝑅</m:t>
                    </m:r>
                    <m:d>
                      <m:dPr>
                        <m:ctrlPr>
                          <a:rPr lang="en-US" altLang="zh-CN" sz="2800" b="0" i="1" smtClean="0">
                            <a:solidFill>
                              <a:srgbClr val="FF0000"/>
                            </a:solidFill>
                            <a:latin typeface="Cambria Math" panose="02040503050406030204" pitchFamily="18" charset="0"/>
                          </a:rPr>
                        </m:ctrlPr>
                      </m:dPr>
                      <m:e>
                        <m:r>
                          <a:rPr lang="en-US" altLang="zh-CN" sz="2800" b="0" i="1" smtClean="0">
                            <a:solidFill>
                              <a:srgbClr val="FF0000"/>
                            </a:solidFill>
                            <a:latin typeface="Cambria Math" panose="02040503050406030204" pitchFamily="18" charset="0"/>
                          </a:rPr>
                          <m:t>𝑠</m:t>
                        </m:r>
                        <m:r>
                          <a:rPr lang="en-US" altLang="zh-CN" sz="2800" b="0" i="1" smtClean="0">
                            <a:solidFill>
                              <a:srgbClr val="FF0000"/>
                            </a:solidFill>
                            <a:latin typeface="Cambria Math" panose="02040503050406030204" pitchFamily="18" charset="0"/>
                          </a:rPr>
                          <m:t>,</m:t>
                        </m:r>
                        <m:r>
                          <a:rPr lang="en-US" altLang="zh-CN" sz="2800" b="0" i="1" smtClean="0">
                            <a:solidFill>
                              <a:srgbClr val="FF0000"/>
                            </a:solidFill>
                            <a:latin typeface="Cambria Math" panose="02040503050406030204" pitchFamily="18" charset="0"/>
                          </a:rPr>
                          <m:t>𝑎</m:t>
                        </m:r>
                      </m:e>
                    </m:d>
                    <m:r>
                      <a:rPr lang="en-US" altLang="zh-CN" sz="2800" b="0" i="1" smtClean="0">
                        <a:solidFill>
                          <a:srgbClr val="FF0000"/>
                        </a:solidFill>
                        <a:latin typeface="Cambria Math" panose="02040503050406030204" pitchFamily="18" charset="0"/>
                      </a:rPr>
                      <m:t>+</m:t>
                    </m:r>
                    <m:r>
                      <a:rPr lang="zh-CN" altLang="en-US" sz="2800" b="0" i="1" smtClean="0">
                        <a:solidFill>
                          <a:srgbClr val="FF0000"/>
                        </a:solidFill>
                        <a:latin typeface="Cambria Math" panose="02040503050406030204" pitchFamily="18" charset="0"/>
                      </a:rPr>
                      <m:t>𝛾</m:t>
                    </m:r>
                    <m:r>
                      <a:rPr lang="zh-CN" altLang="en-US" sz="2800" b="0" i="1" smtClean="0">
                        <a:solidFill>
                          <a:srgbClr val="FF0000"/>
                        </a:solidFill>
                        <a:latin typeface="Cambria Math" panose="02040503050406030204" pitchFamily="18" charset="0"/>
                      </a:rPr>
                      <m:t>∙</m:t>
                    </m:r>
                    <m:r>
                      <m:rPr>
                        <m:sty m:val="p"/>
                      </m:rPr>
                      <a:rPr lang="en-US" altLang="zh-CN" sz="2800" b="0" i="0" smtClean="0">
                        <a:solidFill>
                          <a:srgbClr val="FF0000"/>
                        </a:solidFill>
                        <a:latin typeface="Cambria Math" panose="02040503050406030204" pitchFamily="18" charset="0"/>
                      </a:rPr>
                      <m:t>max</m:t>
                    </m:r>
                    <m:r>
                      <a:rPr lang="en-US" altLang="zh-CN" sz="2800" b="0" i="1" smtClean="0">
                        <a:solidFill>
                          <a:srgbClr val="FF0000"/>
                        </a:solidFill>
                        <a:latin typeface="Cambria Math" panose="02040503050406030204" pitchFamily="18" charset="0"/>
                      </a:rPr>
                      <m:t>⁡{</m:t>
                    </m:r>
                    <m:r>
                      <a:rPr lang="en-US" altLang="zh-CN" sz="2800" b="0" i="1" smtClean="0">
                        <a:solidFill>
                          <a:srgbClr val="FF0000"/>
                        </a:solidFill>
                        <a:latin typeface="Cambria Math" panose="02040503050406030204" pitchFamily="18" charset="0"/>
                      </a:rPr>
                      <m:t>𝑄</m:t>
                    </m:r>
                    <m:r>
                      <a:rPr lang="en-US" altLang="zh-CN" sz="2800" b="0" i="1" smtClean="0">
                        <a:solidFill>
                          <a:srgbClr val="FF0000"/>
                        </a:solidFill>
                        <a:latin typeface="Cambria Math" panose="02040503050406030204" pitchFamily="18" charset="0"/>
                      </a:rPr>
                      <m:t>(</m:t>
                    </m:r>
                    <m:acc>
                      <m:accPr>
                        <m:chr m:val="̃"/>
                        <m:ctrlPr>
                          <a:rPr lang="en-US" altLang="zh-CN" sz="2800" b="0" i="1" smtClean="0">
                            <a:solidFill>
                              <a:srgbClr val="FF0000"/>
                            </a:solidFill>
                            <a:latin typeface="Cambria Math" panose="02040503050406030204" pitchFamily="18" charset="0"/>
                          </a:rPr>
                        </m:ctrlPr>
                      </m:accPr>
                      <m:e>
                        <m:r>
                          <a:rPr lang="en-US" altLang="zh-CN" sz="2800" b="0" i="1" smtClean="0">
                            <a:solidFill>
                              <a:srgbClr val="FF0000"/>
                            </a:solidFill>
                            <a:latin typeface="Cambria Math" panose="02040503050406030204" pitchFamily="18" charset="0"/>
                          </a:rPr>
                          <m:t>𝑠</m:t>
                        </m:r>
                      </m:e>
                    </m:acc>
                    <m:r>
                      <a:rPr lang="en-US" altLang="zh-CN" sz="2800" b="0" i="1" smtClean="0">
                        <a:solidFill>
                          <a:srgbClr val="FF0000"/>
                        </a:solidFill>
                        <a:latin typeface="Cambria Math" panose="02040503050406030204" pitchFamily="18" charset="0"/>
                      </a:rPr>
                      <m:t>,</m:t>
                    </m:r>
                    <m:acc>
                      <m:accPr>
                        <m:chr m:val="̃"/>
                        <m:ctrlPr>
                          <a:rPr lang="en-US" altLang="zh-CN" sz="2800" i="1">
                            <a:solidFill>
                              <a:srgbClr val="FF0000"/>
                            </a:solidFill>
                            <a:latin typeface="Cambria Math" panose="02040503050406030204" pitchFamily="18" charset="0"/>
                          </a:rPr>
                        </m:ctrlPr>
                      </m:accPr>
                      <m:e>
                        <m:r>
                          <a:rPr lang="en-US" altLang="zh-CN" sz="2800" b="0" i="1" smtClean="0">
                            <a:solidFill>
                              <a:srgbClr val="FF0000"/>
                            </a:solidFill>
                            <a:latin typeface="Cambria Math" panose="02040503050406030204" pitchFamily="18" charset="0"/>
                          </a:rPr>
                          <m:t>𝑎</m:t>
                        </m:r>
                      </m:e>
                    </m:acc>
                    <m:r>
                      <a:rPr lang="en-US" altLang="zh-CN" sz="2800" b="0" i="1" smtClean="0">
                        <a:solidFill>
                          <a:srgbClr val="FF0000"/>
                        </a:solidFill>
                        <a:latin typeface="Cambria Math" panose="02040503050406030204" pitchFamily="18" charset="0"/>
                      </a:rPr>
                      <m:t>)}</m:t>
                    </m:r>
                  </m:oMath>
                </a14:m>
                <a:r>
                  <a:rPr lang="zh-CN" altLang="en-US" sz="2800" dirty="0"/>
                  <a:t>更新</a:t>
                </a:r>
                <a:r>
                  <a:rPr lang="en-US" altLang="zh-CN" sz="2800" i="1" dirty="0"/>
                  <a:t>Q</a:t>
                </a:r>
                <a:r>
                  <a:rPr lang="zh-CN" altLang="en-US" sz="2800" dirty="0"/>
                  <a:t>表中的值。</a:t>
                </a:r>
                <a:endParaRPr lang="en-US" altLang="zh-CN" sz="2800" dirty="0"/>
              </a:p>
              <a:p>
                <a:pPr marL="88900" algn="just">
                  <a:lnSpc>
                    <a:spcPct val="150000"/>
                  </a:lnSpc>
                </a:pPr>
                <a:r>
                  <a:rPr lang="en-US" altLang="zh-CN" sz="2800" dirty="0"/>
                  <a:t>    </a:t>
                </a:r>
                <a:r>
                  <a:rPr lang="zh-CN" altLang="en-US" sz="2800" dirty="0"/>
                  <a:t>其中，</a:t>
                </a:r>
                <a:r>
                  <a:rPr lang="en-US" altLang="zh-CN" sz="2800" i="1" dirty="0">
                    <a:solidFill>
                      <a:srgbClr val="FF0000"/>
                    </a:solidFill>
                  </a:rPr>
                  <a:t>s</a:t>
                </a:r>
                <a:r>
                  <a:rPr lang="zh-CN" altLang="en-US" sz="2800" dirty="0"/>
                  <a:t>表示当前状态，</a:t>
                </a:r>
                <a:r>
                  <a:rPr lang="en-US" altLang="zh-CN" sz="2800" i="1" dirty="0">
                    <a:solidFill>
                      <a:srgbClr val="FF0000"/>
                    </a:solidFill>
                  </a:rPr>
                  <a:t>a</a:t>
                </a:r>
                <a:r>
                  <a:rPr lang="zh-CN" altLang="en-US" sz="2800" dirty="0"/>
                  <a:t>表示当前动作，</a:t>
                </a:r>
                <a14:m>
                  <m:oMath xmlns:m="http://schemas.openxmlformats.org/officeDocument/2006/math">
                    <m:acc>
                      <m:accPr>
                        <m:chr m:val="̃"/>
                        <m:ctrlPr>
                          <a:rPr lang="en-US" altLang="zh-CN" sz="2800" i="1">
                            <a:solidFill>
                              <a:srgbClr val="FF0000"/>
                            </a:solidFill>
                            <a:latin typeface="Cambria Math" panose="02040503050406030204" pitchFamily="18" charset="0"/>
                          </a:rPr>
                        </m:ctrlPr>
                      </m:accPr>
                      <m:e>
                        <m:r>
                          <a:rPr lang="en-US" altLang="zh-CN" sz="2800" i="1">
                            <a:solidFill>
                              <a:srgbClr val="FF0000"/>
                            </a:solidFill>
                            <a:latin typeface="Cambria Math" panose="02040503050406030204" pitchFamily="18" charset="0"/>
                          </a:rPr>
                          <m:t>𝑠</m:t>
                        </m:r>
                      </m:e>
                    </m:acc>
                  </m:oMath>
                </a14:m>
                <a:r>
                  <a:rPr lang="zh-CN" altLang="en-US" sz="2800" dirty="0"/>
                  <a:t>表示下一个状态，</a:t>
                </a:r>
                <a14:m>
                  <m:oMath xmlns:m="http://schemas.openxmlformats.org/officeDocument/2006/math">
                    <m:acc>
                      <m:accPr>
                        <m:chr m:val="̃"/>
                        <m:ctrlPr>
                          <a:rPr lang="en-US" altLang="zh-CN" sz="2800" i="1">
                            <a:solidFill>
                              <a:srgbClr val="FF0000"/>
                            </a:solidFill>
                            <a:latin typeface="Cambria Math" panose="02040503050406030204" pitchFamily="18" charset="0"/>
                          </a:rPr>
                        </m:ctrlPr>
                      </m:accPr>
                      <m:e>
                        <m:r>
                          <a:rPr lang="en-US" altLang="zh-CN" sz="2800" i="1">
                            <a:solidFill>
                              <a:srgbClr val="FF0000"/>
                            </a:solidFill>
                            <a:latin typeface="Cambria Math" panose="02040503050406030204" pitchFamily="18" charset="0"/>
                          </a:rPr>
                          <m:t>𝑎</m:t>
                        </m:r>
                      </m:e>
                    </m:acc>
                  </m:oMath>
                </a14:m>
                <a:r>
                  <a:rPr lang="zh-CN" altLang="en-US" sz="2800" dirty="0"/>
                  <a:t>表示下一个动作，</a:t>
                </a:r>
                <a14:m>
                  <m:oMath xmlns:m="http://schemas.openxmlformats.org/officeDocument/2006/math">
                    <m:r>
                      <a:rPr lang="zh-CN" altLang="en-US" sz="2800" i="1">
                        <a:solidFill>
                          <a:srgbClr val="FF0000"/>
                        </a:solidFill>
                        <a:latin typeface="Cambria Math" panose="02040503050406030204" pitchFamily="18" charset="0"/>
                      </a:rPr>
                      <m:t>𝛾</m:t>
                    </m:r>
                  </m:oMath>
                </a14:m>
                <a:r>
                  <a:rPr lang="zh-CN" altLang="en-US" sz="2800" dirty="0"/>
                  <a:t>为贪婪因子。</a:t>
                </a:r>
                <a:r>
                  <a:rPr lang="en-US" altLang="zh-CN" sz="2800" i="1" dirty="0">
                    <a:solidFill>
                      <a:srgbClr val="FF0000"/>
                    </a:solidFill>
                  </a:rPr>
                  <a:t>Q</a:t>
                </a:r>
                <a:r>
                  <a:rPr lang="zh-CN" altLang="en-US" sz="2800" dirty="0"/>
                  <a:t>表示在状态</a:t>
                </a:r>
                <a:r>
                  <a:rPr lang="en-US" altLang="zh-CN" sz="2800" i="1" dirty="0">
                    <a:solidFill>
                      <a:srgbClr val="FF0000"/>
                    </a:solidFill>
                  </a:rPr>
                  <a:t>s</a:t>
                </a:r>
                <a:r>
                  <a:rPr lang="zh-CN" altLang="en-US" sz="2800" dirty="0"/>
                  <a:t>下采取动作</a:t>
                </a:r>
                <a:r>
                  <a:rPr lang="en-US" altLang="zh-CN" sz="2800" i="1" dirty="0">
                    <a:solidFill>
                      <a:srgbClr val="FF0000"/>
                    </a:solidFill>
                  </a:rPr>
                  <a:t>a</a:t>
                </a:r>
                <a:r>
                  <a:rPr lang="zh-CN" altLang="en-US" sz="2800" dirty="0"/>
                  <a:t>能够获得的期望最大收益，</a:t>
                </a:r>
                <a:r>
                  <a:rPr lang="en-US" altLang="zh-CN" sz="2800" i="1" dirty="0">
                    <a:solidFill>
                      <a:srgbClr val="FF0000"/>
                    </a:solidFill>
                  </a:rPr>
                  <a:t>R</a:t>
                </a:r>
                <a:r>
                  <a:rPr lang="zh-CN" altLang="en-US" sz="2800" dirty="0"/>
                  <a:t>是立即获得的收益，而未来的收益则取决于下一阶段的动作。</a:t>
                </a:r>
                <a:endParaRPr lang="zh-CN" altLang="en-US" sz="2800" dirty="0"/>
              </a:p>
            </p:txBody>
          </p:sp>
        </mc:Choice>
        <mc:Fallback>
          <p:sp>
            <p:nvSpPr>
              <p:cNvPr id="13" name="矩形 12"/>
              <p:cNvSpPr>
                <a:spLocks noRot="1" noChangeAspect="1" noMove="1" noResize="1" noEditPoints="1" noAdjustHandles="1" noChangeArrowheads="1" noChangeShapeType="1" noTextEdit="1"/>
              </p:cNvSpPr>
              <p:nvPr/>
            </p:nvSpPr>
            <p:spPr>
              <a:xfrm>
                <a:off x="553066" y="1696359"/>
                <a:ext cx="7846140" cy="4534831"/>
              </a:xfrm>
              <a:prstGeom prst="rect">
                <a:avLst/>
              </a:prstGeom>
              <a:blipFill rotWithShape="1">
                <a:blip r:embed="rId1"/>
                <a:stretch>
                  <a:fillRect l="-8" t="-6" r="-2371" b="13"/>
                </a:stretch>
              </a:blipFill>
            </p:spPr>
            <p:txBody>
              <a:bodyPr/>
              <a:lstStyle/>
              <a:p>
                <a:r>
                  <a:rPr lang="zh-CN" altLang="en-US">
                    <a:noFill/>
                  </a:rPr>
                  <a:t> </a:t>
                </a:r>
              </a:p>
            </p:txBody>
          </p:sp>
        </mc:Fallback>
      </mc:AlternateContent>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473544" y="1016506"/>
            <a:ext cx="7416843" cy="592213"/>
          </a:xfrm>
          <a:prstGeom prst="rect">
            <a:avLst/>
          </a:prstGeom>
        </p:spPr>
        <p:txBody>
          <a:bodyPr wrap="square">
            <a:spAutoFit/>
          </a:bodyPr>
          <a:lstStyle/>
          <a:p>
            <a:pPr marL="342900" indent="-342900">
              <a:lnSpc>
                <a:spcPct val="130000"/>
              </a:lnSpc>
              <a:buClr>
                <a:srgbClr val="C00000"/>
              </a:buClr>
              <a:buFont typeface="Wingdings" panose="05000000000000000000" pitchFamily="2" charset="2"/>
              <a:buChar char="Ø"/>
            </a:pPr>
            <a:r>
              <a:rPr lang="en-US" altLang="zh-CN" sz="2800" dirty="0">
                <a:solidFill>
                  <a:srgbClr val="C00000"/>
                </a:solidFill>
              </a:rPr>
              <a:t>Q-Learning</a:t>
            </a:r>
            <a:r>
              <a:rPr lang="zh-CN" altLang="en-US" sz="2800" dirty="0">
                <a:solidFill>
                  <a:srgbClr val="C00000"/>
                </a:solidFill>
              </a:rPr>
              <a:t>算法应用：机器人路径优化问题</a:t>
            </a:r>
            <a:endParaRPr lang="en-US" altLang="zh-CN" sz="2800" dirty="0">
              <a:solidFill>
                <a:srgbClr val="C00000"/>
              </a:solidFill>
            </a:endParaRPr>
          </a:p>
        </p:txBody>
      </p:sp>
      <p:sp>
        <p:nvSpPr>
          <p:cNvPr id="2" name="标注: 线形(带强调线) 1"/>
          <p:cNvSpPr/>
          <p:nvPr/>
        </p:nvSpPr>
        <p:spPr>
          <a:xfrm>
            <a:off x="4572000" y="2642946"/>
            <a:ext cx="1799303" cy="368710"/>
          </a:xfrm>
          <a:prstGeom prst="accentCallout1">
            <a:avLst>
              <a:gd name="adj1" fmla="val 18750"/>
              <a:gd name="adj2" fmla="val -8333"/>
              <a:gd name="adj3" fmla="val -37500"/>
              <a:gd name="adj4" fmla="val -66342"/>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转移方程</a:t>
            </a:r>
            <a:endParaRPr lang="zh-CN" altLang="en-US"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75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1" end="1"/>
                                            </p:txEl>
                                          </p:spTgt>
                                        </p:tgtEl>
                                        <p:attrNameLst>
                                          <p:attrName>style.visibility</p:attrName>
                                        </p:attrNameLst>
                                      </p:cBhvr>
                                      <p:to>
                                        <p:strVal val="visible"/>
                                      </p:to>
                                    </p:set>
                                    <p:animEffect transition="in" filter="fade">
                                      <p:cBhvr>
                                        <p:cTn id="17"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6" y="1703731"/>
            <a:ext cx="8126360" cy="4534831"/>
          </a:xfrm>
          <a:prstGeom prst="rect">
            <a:avLst/>
          </a:prstGeom>
        </p:spPr>
        <p:txBody>
          <a:bodyPr wrap="square">
            <a:spAutoFit/>
          </a:bodyPr>
          <a:lstStyle/>
          <a:p>
            <a:pPr marL="342900" indent="-254000" algn="just">
              <a:lnSpc>
                <a:spcPct val="150000"/>
              </a:lnSpc>
              <a:buFont typeface="Arial" panose="020B0604020202020204" pitchFamily="34" charset="0"/>
              <a:buChar char="•"/>
            </a:pPr>
            <a:r>
              <a:rPr lang="en-US" altLang="zh-CN" sz="2800" dirty="0">
                <a:solidFill>
                  <a:srgbClr val="FF0000"/>
                </a:solidFill>
              </a:rPr>
              <a:t>Q-Learning</a:t>
            </a:r>
            <a:r>
              <a:rPr lang="zh-CN" altLang="en-US" sz="2800" dirty="0">
                <a:solidFill>
                  <a:srgbClr val="FF0000"/>
                </a:solidFill>
              </a:rPr>
              <a:t>算法的步骤</a:t>
            </a:r>
            <a:endParaRPr lang="en-US" altLang="zh-CN" sz="2800" dirty="0">
              <a:solidFill>
                <a:srgbClr val="FF0000"/>
              </a:solidFill>
            </a:endParaRPr>
          </a:p>
          <a:p>
            <a:pPr marL="627380" indent="-361950" algn="just">
              <a:lnSpc>
                <a:spcPct val="150000"/>
              </a:lnSpc>
              <a:buFont typeface="+mj-ea"/>
              <a:buAutoNum type="circleNumDbPlain"/>
            </a:pPr>
            <a:r>
              <a:rPr lang="zh-CN" altLang="en-US" sz="2800" dirty="0"/>
              <a:t>给定贪婪因子和奖励矩阵；</a:t>
            </a:r>
            <a:endParaRPr lang="en-US" altLang="zh-CN" sz="2800" dirty="0"/>
          </a:p>
          <a:p>
            <a:pPr marL="627380" indent="-361950" algn="just">
              <a:lnSpc>
                <a:spcPct val="150000"/>
              </a:lnSpc>
              <a:buFont typeface="+mj-ea"/>
              <a:buAutoNum type="circleNumDbPlain"/>
            </a:pPr>
            <a:r>
              <a:rPr lang="zh-CN" altLang="en-US" sz="2800" dirty="0"/>
              <a:t>令</a:t>
            </a:r>
            <a:r>
              <a:rPr lang="en-US" altLang="zh-CN" sz="2800" i="1" dirty="0"/>
              <a:t>Q</a:t>
            </a:r>
            <a:r>
              <a:rPr lang="en-US" altLang="zh-CN" sz="2800" dirty="0"/>
              <a:t>:=0</a:t>
            </a:r>
            <a:r>
              <a:rPr lang="zh-CN" altLang="en-US" sz="2800" dirty="0"/>
              <a:t>；</a:t>
            </a:r>
            <a:endParaRPr lang="en-US" altLang="zh-CN" sz="2800" dirty="0"/>
          </a:p>
          <a:p>
            <a:pPr marL="627380" indent="-361950" algn="just">
              <a:lnSpc>
                <a:spcPct val="150000"/>
              </a:lnSpc>
              <a:buFont typeface="+mj-ea"/>
              <a:buAutoNum type="circleNumDbPlain"/>
            </a:pPr>
            <a:r>
              <a:rPr lang="zh-CN" altLang="en-US" sz="2800" dirty="0"/>
              <a:t>在当前状态</a:t>
            </a:r>
            <a:r>
              <a:rPr lang="en-US" altLang="zh-CN" sz="2800" i="1" dirty="0"/>
              <a:t>S</a:t>
            </a:r>
            <a:r>
              <a:rPr lang="zh-CN" altLang="en-US" sz="2800" dirty="0"/>
              <a:t>的所有可能动作中选择一个动作；</a:t>
            </a:r>
            <a:endParaRPr lang="en-US" altLang="zh-CN" sz="2800" dirty="0"/>
          </a:p>
          <a:p>
            <a:pPr marL="627380" indent="-361950" algn="just">
              <a:lnSpc>
                <a:spcPct val="150000"/>
              </a:lnSpc>
              <a:buFont typeface="+mj-ea"/>
              <a:buAutoNum type="circleNumDbPlain"/>
            </a:pPr>
            <a:r>
              <a:rPr lang="zh-CN" altLang="en-US" sz="2800" dirty="0"/>
              <a:t>利用选定的动作得到下一个状态；</a:t>
            </a:r>
            <a:endParaRPr lang="en-US" altLang="zh-CN" sz="2800" dirty="0"/>
          </a:p>
          <a:p>
            <a:pPr marL="627380" indent="-361950" algn="just">
              <a:lnSpc>
                <a:spcPct val="150000"/>
              </a:lnSpc>
              <a:buFont typeface="+mj-ea"/>
              <a:buAutoNum type="circleNumDbPlain"/>
            </a:pPr>
            <a:r>
              <a:rPr lang="zh-CN" altLang="en-US" sz="2800" dirty="0"/>
              <a:t>按照</a:t>
            </a:r>
            <a:r>
              <a:rPr lang="en-US" altLang="zh-CN" sz="2800" i="1" dirty="0"/>
              <a:t>Q</a:t>
            </a:r>
            <a:r>
              <a:rPr lang="zh-CN" altLang="en-US" sz="2800" dirty="0"/>
              <a:t>值更新公式计算</a:t>
            </a:r>
            <a:r>
              <a:rPr lang="en-US" altLang="zh-CN" sz="2800" i="1" dirty="0"/>
              <a:t>Q</a:t>
            </a:r>
            <a:r>
              <a:rPr lang="en-US" altLang="zh-CN" sz="2800" dirty="0"/>
              <a:t>(</a:t>
            </a:r>
            <a:r>
              <a:rPr lang="en-US" altLang="zh-CN" sz="2800" i="1" dirty="0" err="1"/>
              <a:t>s</a:t>
            </a:r>
            <a:r>
              <a:rPr lang="en-US" altLang="zh-CN" sz="2800" dirty="0" err="1"/>
              <a:t>,</a:t>
            </a:r>
            <a:r>
              <a:rPr lang="en-US" altLang="zh-CN" sz="2800" i="1" dirty="0" err="1"/>
              <a:t>a</a:t>
            </a:r>
            <a:r>
              <a:rPr lang="en-US" altLang="zh-CN" sz="2800" dirty="0"/>
              <a:t>)</a:t>
            </a:r>
            <a:r>
              <a:rPr lang="zh-CN" altLang="en-US" sz="2800" dirty="0"/>
              <a:t>；</a:t>
            </a:r>
            <a:endParaRPr lang="en-US" altLang="zh-CN" sz="2800" dirty="0"/>
          </a:p>
          <a:p>
            <a:pPr marL="627380" indent="-361950" algn="just">
              <a:lnSpc>
                <a:spcPct val="150000"/>
              </a:lnSpc>
              <a:buFont typeface="+mj-ea"/>
              <a:buAutoNum type="circleNumDbPlain"/>
            </a:pPr>
            <a:r>
              <a:rPr lang="zh-CN" altLang="en-US" sz="2800" dirty="0"/>
              <a:t>更新当前状态，重复第</a:t>
            </a:r>
            <a:r>
              <a:rPr lang="en-US" altLang="zh-CN" sz="2800" dirty="0"/>
              <a:t>3</a:t>
            </a:r>
            <a:r>
              <a:rPr lang="zh-CN" altLang="en-US" sz="2800" dirty="0"/>
              <a:t>到</a:t>
            </a:r>
            <a:r>
              <a:rPr lang="en-US" altLang="zh-CN" sz="2800" dirty="0"/>
              <a:t>6</a:t>
            </a:r>
            <a:r>
              <a:rPr lang="zh-CN" altLang="en-US" sz="2800" dirty="0"/>
              <a:t>步。</a:t>
            </a:r>
            <a:endParaRPr lang="zh-CN" altLang="en-US" sz="2800" dirty="0"/>
          </a:p>
        </p:txBody>
      </p:sp>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473544" y="1016506"/>
            <a:ext cx="7416843" cy="592213"/>
          </a:xfrm>
          <a:prstGeom prst="rect">
            <a:avLst/>
          </a:prstGeom>
        </p:spPr>
        <p:txBody>
          <a:bodyPr wrap="square">
            <a:spAutoFit/>
          </a:bodyPr>
          <a:lstStyle/>
          <a:p>
            <a:pPr marL="342900" indent="-342900">
              <a:lnSpc>
                <a:spcPct val="130000"/>
              </a:lnSpc>
              <a:buClr>
                <a:srgbClr val="C00000"/>
              </a:buClr>
              <a:buFont typeface="Wingdings" panose="05000000000000000000" pitchFamily="2" charset="2"/>
              <a:buChar char="Ø"/>
            </a:pPr>
            <a:r>
              <a:rPr lang="en-US" altLang="zh-CN" sz="2800" dirty="0">
                <a:solidFill>
                  <a:srgbClr val="C00000"/>
                </a:solidFill>
              </a:rPr>
              <a:t>Q-Learning</a:t>
            </a:r>
            <a:r>
              <a:rPr lang="zh-CN" altLang="en-US" sz="2800" dirty="0">
                <a:solidFill>
                  <a:srgbClr val="C00000"/>
                </a:solidFill>
              </a:rPr>
              <a:t>算法应用：机器人路径优化问题</a:t>
            </a:r>
            <a:endParaRPr lang="en-US" altLang="zh-CN" sz="2800" dirty="0">
              <a:solidFill>
                <a:srgbClr val="C0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矩形 12"/>
              <p:cNvSpPr/>
              <p:nvPr/>
            </p:nvSpPr>
            <p:spPr>
              <a:xfrm>
                <a:off x="553066" y="1688983"/>
                <a:ext cx="7846140" cy="3603551"/>
              </a:xfrm>
              <a:prstGeom prst="rect">
                <a:avLst/>
              </a:prstGeom>
            </p:spPr>
            <p:txBody>
              <a:bodyPr wrap="square">
                <a:spAutoFit/>
              </a:bodyPr>
              <a:lstStyle/>
              <a:p>
                <a:pPr marL="342900" indent="-254000" algn="just">
                  <a:lnSpc>
                    <a:spcPct val="150000"/>
                  </a:lnSpc>
                  <a:buFont typeface="Arial" panose="020B0604020202020204" pitchFamily="34" charset="0"/>
                  <a:buChar char="•"/>
                </a:pPr>
                <a:r>
                  <a:rPr lang="zh-CN" altLang="en-US" sz="2600" dirty="0">
                    <a:solidFill>
                      <a:srgbClr val="FF0000"/>
                    </a:solidFill>
                  </a:rPr>
                  <a:t>设</a:t>
                </a:r>
                <a14:m>
                  <m:oMath xmlns:m="http://schemas.openxmlformats.org/officeDocument/2006/math">
                    <m:r>
                      <a:rPr lang="zh-CN" altLang="en-US" sz="2600" i="1">
                        <a:solidFill>
                          <a:srgbClr val="FF0000"/>
                        </a:solidFill>
                        <a:latin typeface="Cambria Math" panose="02040503050406030204" pitchFamily="18" charset="0"/>
                      </a:rPr>
                      <m:t>𝛾</m:t>
                    </m:r>
                  </m:oMath>
                </a14:m>
                <a:r>
                  <a:rPr lang="en-US" altLang="zh-CN" sz="2600" dirty="0"/>
                  <a:t>=0.8</a:t>
                </a:r>
                <a:r>
                  <a:rPr lang="zh-CN" altLang="en-US" sz="2600" dirty="0"/>
                  <a:t>，随机选择一个状态，如房间</a:t>
                </a:r>
                <a:r>
                  <a:rPr lang="en-US" altLang="zh-CN" sz="2600" dirty="0"/>
                  <a:t>1</a:t>
                </a:r>
                <a:r>
                  <a:rPr lang="zh-CN" altLang="en-US" sz="2600" dirty="0"/>
                  <a:t>，查看状态</a:t>
                </a:r>
                <a:r>
                  <a:rPr lang="en-US" altLang="zh-CN" sz="2600" dirty="0"/>
                  <a:t>1</a:t>
                </a:r>
                <a:r>
                  <a:rPr lang="zh-CN" altLang="en-US" sz="2600" dirty="0"/>
                  <a:t>所对应的</a:t>
                </a:r>
                <a:r>
                  <a:rPr lang="en-US" altLang="zh-CN" sz="2600" dirty="0"/>
                  <a:t>R</a:t>
                </a:r>
                <a:r>
                  <a:rPr lang="zh-CN" altLang="en-US" sz="2600" dirty="0"/>
                  <a:t>表，也就是</a:t>
                </a:r>
                <a:r>
                  <a:rPr lang="en-US" altLang="zh-CN" sz="2600" dirty="0"/>
                  <a:t>1</a:t>
                </a:r>
                <a:r>
                  <a:rPr lang="zh-CN" altLang="en-US" sz="2600" dirty="0"/>
                  <a:t>可以到达</a:t>
                </a:r>
                <a:r>
                  <a:rPr lang="en-US" altLang="zh-CN" sz="2600" dirty="0"/>
                  <a:t>3</a:t>
                </a:r>
                <a:r>
                  <a:rPr lang="zh-CN" altLang="en-US" sz="2600" dirty="0"/>
                  <a:t>或</a:t>
                </a:r>
                <a:r>
                  <a:rPr lang="en-US" altLang="zh-CN" sz="2600" dirty="0"/>
                  <a:t>5</a:t>
                </a:r>
                <a:r>
                  <a:rPr lang="zh-CN" altLang="en-US" sz="2600" dirty="0"/>
                  <a:t>；随机选择</a:t>
                </a:r>
                <a:r>
                  <a:rPr lang="en-US" altLang="zh-CN" sz="2600" dirty="0"/>
                  <a:t>5</a:t>
                </a:r>
                <a:r>
                  <a:rPr lang="zh-CN" altLang="en-US" sz="2600" dirty="0"/>
                  <a:t>，根据转移方程得：</a:t>
                </a:r>
                <a:endParaRPr lang="en-US" altLang="zh-CN" sz="2600" b="0" i="1" dirty="0">
                  <a:latin typeface="Cambria Math" panose="02040503050406030204" pitchFamily="18" charset="0"/>
                </a:endParaRPr>
              </a:p>
              <a:p>
                <a:pPr marL="88900" algn="just">
                  <a:lnSpc>
                    <a:spcPct val="150000"/>
                  </a:lnSpc>
                </a:pPr>
                <a14:m>
                  <m:oMathPara xmlns:m="http://schemas.openxmlformats.org/officeDocument/2006/math">
                    <m:oMathParaPr>
                      <m:jc m:val="centerGroup"/>
                    </m:oMathParaPr>
                    <m:oMath xmlns:m="http://schemas.openxmlformats.org/officeDocument/2006/math">
                      <m:r>
                        <a:rPr lang="en-US" altLang="zh-CN" sz="2600" b="0" i="1" smtClean="0">
                          <a:latin typeface="Cambria Math" panose="02040503050406030204" pitchFamily="18" charset="0"/>
                        </a:rPr>
                        <m:t>𝑄</m:t>
                      </m:r>
                      <m:d>
                        <m:dPr>
                          <m:ctrlPr>
                            <a:rPr lang="en-US" altLang="zh-CN" sz="2600" b="0" i="1" smtClean="0">
                              <a:latin typeface="Cambria Math" panose="02040503050406030204" pitchFamily="18" charset="0"/>
                            </a:rPr>
                          </m:ctrlPr>
                        </m:dPr>
                        <m:e>
                          <m:r>
                            <a:rPr lang="en-US" altLang="zh-CN" sz="2600" b="0" i="1" smtClean="0">
                              <a:latin typeface="Cambria Math" panose="02040503050406030204" pitchFamily="18" charset="0"/>
                            </a:rPr>
                            <m:t>1</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5</m:t>
                          </m:r>
                        </m:e>
                      </m:d>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𝑅</m:t>
                      </m:r>
                      <m:d>
                        <m:dPr>
                          <m:ctrlPr>
                            <a:rPr lang="en-US" altLang="zh-CN" sz="2600" b="0" i="1" smtClean="0">
                              <a:latin typeface="Cambria Math" panose="02040503050406030204" pitchFamily="18" charset="0"/>
                            </a:rPr>
                          </m:ctrlPr>
                        </m:dPr>
                        <m:e>
                          <m:r>
                            <a:rPr lang="en-US" altLang="zh-CN" sz="2600" b="0" i="1" smtClean="0">
                              <a:latin typeface="Cambria Math" panose="02040503050406030204" pitchFamily="18" charset="0"/>
                            </a:rPr>
                            <m:t>1</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5</m:t>
                          </m:r>
                        </m:e>
                      </m:d>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0</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8</m:t>
                      </m:r>
                      <m:r>
                        <a:rPr lang="en-US" altLang="zh-CN" sz="2600" b="0" i="1" smtClean="0">
                          <a:latin typeface="Cambria Math" panose="02040503050406030204" pitchFamily="18" charset="0"/>
                          <a:ea typeface="Cambria Math" panose="02040503050406030204" pitchFamily="18" charset="0"/>
                        </a:rPr>
                        <m:t>×</m:t>
                      </m:r>
                      <m:func>
                        <m:funcPr>
                          <m:ctrlPr>
                            <a:rPr lang="en-US" altLang="zh-CN" sz="2600" b="0" i="1" smtClean="0">
                              <a:latin typeface="Cambria Math" panose="02040503050406030204" pitchFamily="18" charset="0"/>
                              <a:ea typeface="Cambria Math" panose="02040503050406030204" pitchFamily="18" charset="0"/>
                            </a:rPr>
                          </m:ctrlPr>
                        </m:funcPr>
                        <m:fName>
                          <m:r>
                            <m:rPr>
                              <m:sty m:val="p"/>
                            </m:rPr>
                            <a:rPr lang="en-US" altLang="zh-CN" sz="2600" b="0" i="0" smtClean="0">
                              <a:latin typeface="Cambria Math" panose="02040503050406030204" pitchFamily="18" charset="0"/>
                              <a:ea typeface="Cambria Math" panose="02040503050406030204" pitchFamily="18" charset="0"/>
                            </a:rPr>
                            <m:t>max</m:t>
                          </m:r>
                        </m:fName>
                        <m:e>
                          <m:d>
                            <m:dPr>
                              <m:begChr m:val="{"/>
                              <m:endChr m:val="}"/>
                              <m:ctrlPr>
                                <a:rPr lang="en-US" altLang="zh-CN" sz="2600" b="0" i="1" smtClean="0">
                                  <a:latin typeface="Cambria Math" panose="02040503050406030204" pitchFamily="18" charset="0"/>
                                  <a:ea typeface="Cambria Math" panose="02040503050406030204" pitchFamily="18" charset="0"/>
                                </a:rPr>
                              </m:ctrlPr>
                            </m:dPr>
                            <m:e>
                              <m:r>
                                <a:rPr lang="en-US" altLang="zh-CN" sz="2600" b="0" i="1" smtClean="0">
                                  <a:latin typeface="Cambria Math" panose="02040503050406030204" pitchFamily="18" charset="0"/>
                                  <a:ea typeface="Cambria Math" panose="02040503050406030204" pitchFamily="18" charset="0"/>
                                </a:rPr>
                                <m:t>𝑄</m:t>
                              </m:r>
                              <m:d>
                                <m:dPr>
                                  <m:ctrlPr>
                                    <a:rPr lang="en-US" altLang="zh-CN" sz="2600" b="0" i="1" smtClean="0">
                                      <a:latin typeface="Cambria Math" panose="02040503050406030204" pitchFamily="18" charset="0"/>
                                      <a:ea typeface="Cambria Math" panose="02040503050406030204" pitchFamily="18" charset="0"/>
                                    </a:rPr>
                                  </m:ctrlPr>
                                </m:dPr>
                                <m:e>
                                  <m:r>
                                    <a:rPr lang="en-US" altLang="zh-CN" sz="2600" b="0" i="1" smtClean="0">
                                      <a:latin typeface="Cambria Math" panose="02040503050406030204" pitchFamily="18" charset="0"/>
                                      <a:ea typeface="Cambria Math" panose="02040503050406030204" pitchFamily="18" charset="0"/>
                                    </a:rPr>
                                    <m:t>5</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1</m:t>
                                  </m:r>
                                </m:e>
                              </m:d>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𝑄</m:t>
                              </m:r>
                              <m:d>
                                <m:dPr>
                                  <m:ctrlPr>
                                    <a:rPr lang="en-US" altLang="zh-CN" sz="2600" b="0" i="1" smtClean="0">
                                      <a:latin typeface="Cambria Math" panose="02040503050406030204" pitchFamily="18" charset="0"/>
                                      <a:ea typeface="Cambria Math" panose="02040503050406030204" pitchFamily="18" charset="0"/>
                                    </a:rPr>
                                  </m:ctrlPr>
                                </m:dPr>
                                <m:e>
                                  <m:r>
                                    <a:rPr lang="en-US" altLang="zh-CN" sz="2600" b="0" i="1" smtClean="0">
                                      <a:latin typeface="Cambria Math" panose="02040503050406030204" pitchFamily="18" charset="0"/>
                                      <a:ea typeface="Cambria Math" panose="02040503050406030204" pitchFamily="18" charset="0"/>
                                    </a:rPr>
                                    <m:t>5</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4</m:t>
                                  </m:r>
                                </m:e>
                              </m:d>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𝑄</m:t>
                              </m:r>
                              <m:d>
                                <m:dPr>
                                  <m:ctrlPr>
                                    <a:rPr lang="en-US" altLang="zh-CN" sz="2600" b="0" i="1" smtClean="0">
                                      <a:latin typeface="Cambria Math" panose="02040503050406030204" pitchFamily="18" charset="0"/>
                                      <a:ea typeface="Cambria Math" panose="02040503050406030204" pitchFamily="18" charset="0"/>
                                    </a:rPr>
                                  </m:ctrlPr>
                                </m:dPr>
                                <m:e>
                                  <m:r>
                                    <a:rPr lang="en-US" altLang="zh-CN" sz="2600" b="0" i="1" smtClean="0">
                                      <a:latin typeface="Cambria Math" panose="02040503050406030204" pitchFamily="18" charset="0"/>
                                      <a:ea typeface="Cambria Math" panose="02040503050406030204" pitchFamily="18" charset="0"/>
                                    </a:rPr>
                                    <m:t>5</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5</m:t>
                                  </m:r>
                                </m:e>
                              </m:d>
                            </m:e>
                          </m:d>
                        </m:e>
                      </m:func>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100</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0</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8</m:t>
                      </m:r>
                      <m:r>
                        <a:rPr lang="en-US" altLang="zh-CN" sz="2600" b="0" i="1" smtClean="0">
                          <a:latin typeface="Cambria Math" panose="02040503050406030204" pitchFamily="18" charset="0"/>
                          <a:ea typeface="Cambria Math" panose="02040503050406030204" pitchFamily="18" charset="0"/>
                        </a:rPr>
                        <m:t>×</m:t>
                      </m:r>
                      <m:func>
                        <m:funcPr>
                          <m:ctrlPr>
                            <a:rPr lang="en-US" altLang="zh-CN" sz="2600" b="0" i="1" smtClean="0">
                              <a:latin typeface="Cambria Math" panose="02040503050406030204" pitchFamily="18" charset="0"/>
                              <a:ea typeface="Cambria Math" panose="02040503050406030204" pitchFamily="18" charset="0"/>
                            </a:rPr>
                          </m:ctrlPr>
                        </m:funcPr>
                        <m:fName>
                          <m:r>
                            <m:rPr>
                              <m:sty m:val="p"/>
                            </m:rPr>
                            <a:rPr lang="en-US" altLang="zh-CN" sz="2600" b="0" i="0" smtClean="0">
                              <a:latin typeface="Cambria Math" panose="02040503050406030204" pitchFamily="18" charset="0"/>
                              <a:ea typeface="Cambria Math" panose="02040503050406030204" pitchFamily="18" charset="0"/>
                            </a:rPr>
                            <m:t>max</m:t>
                          </m:r>
                        </m:fName>
                        <m:e>
                          <m:d>
                            <m:dPr>
                              <m:begChr m:val="{"/>
                              <m:endChr m:val="}"/>
                              <m:ctrlPr>
                                <a:rPr lang="en-US" altLang="zh-CN" sz="2600" b="0" i="1" smtClean="0">
                                  <a:latin typeface="Cambria Math" panose="02040503050406030204" pitchFamily="18" charset="0"/>
                                  <a:ea typeface="Cambria Math" panose="02040503050406030204" pitchFamily="18" charset="0"/>
                                </a:rPr>
                              </m:ctrlPr>
                            </m:dPr>
                            <m:e>
                              <m:r>
                                <a:rPr lang="en-US" altLang="zh-CN" sz="2600" b="0" i="1" smtClean="0">
                                  <a:latin typeface="Cambria Math" panose="02040503050406030204" pitchFamily="18" charset="0"/>
                                  <a:ea typeface="Cambria Math" panose="02040503050406030204" pitchFamily="18" charset="0"/>
                                </a:rPr>
                                <m:t>0</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0</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0</m:t>
                              </m:r>
                            </m:e>
                          </m:d>
                        </m:e>
                      </m:func>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100</m:t>
                      </m:r>
                    </m:oMath>
                  </m:oMathPara>
                </a14:m>
                <a:endParaRPr lang="en-US" altLang="zh-CN" sz="2600" dirty="0"/>
              </a:p>
              <a:p>
                <a:pPr marL="361950" indent="-273050" algn="just">
                  <a:lnSpc>
                    <a:spcPct val="150000"/>
                  </a:lnSpc>
                  <a:buFont typeface="Arial" panose="020B0604020202020204" pitchFamily="34" charset="0"/>
                  <a:buChar char="•"/>
                </a:pPr>
                <a:r>
                  <a:rPr lang="en-US" altLang="zh-CN" sz="2600" dirty="0"/>
                  <a:t>Q</a:t>
                </a:r>
                <a:r>
                  <a:rPr lang="zh-CN" altLang="en-US" sz="2600" dirty="0"/>
                  <a:t>表更新为</a:t>
                </a:r>
                <a:endParaRPr lang="en-US" altLang="zh-CN" sz="2600" dirty="0"/>
              </a:p>
            </p:txBody>
          </p:sp>
        </mc:Choice>
        <mc:Fallback>
          <p:sp>
            <p:nvSpPr>
              <p:cNvPr id="13" name="矩形 12"/>
              <p:cNvSpPr>
                <a:spLocks noRot="1" noChangeAspect="1" noMove="1" noResize="1" noEditPoints="1" noAdjustHandles="1" noChangeArrowheads="1" noChangeShapeType="1" noTextEdit="1"/>
              </p:cNvSpPr>
              <p:nvPr/>
            </p:nvSpPr>
            <p:spPr>
              <a:xfrm>
                <a:off x="553066" y="1688983"/>
                <a:ext cx="7846140" cy="3603551"/>
              </a:xfrm>
              <a:prstGeom prst="rect">
                <a:avLst/>
              </a:prstGeom>
              <a:blipFill rotWithShape="1">
                <a:blip r:embed="rId1"/>
                <a:stretch>
                  <a:fillRect l="-8" t="-14" r="-3026" b="-217"/>
                </a:stretch>
              </a:blipFill>
            </p:spPr>
            <p:txBody>
              <a:bodyPr/>
              <a:lstStyle/>
              <a:p>
                <a:r>
                  <a:rPr lang="zh-CN" altLang="en-US">
                    <a:noFill/>
                  </a:rPr>
                  <a:t> </a:t>
                </a:r>
              </a:p>
            </p:txBody>
          </p:sp>
        </mc:Fallback>
      </mc:AlternateContent>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473544" y="1016506"/>
            <a:ext cx="7416843" cy="592213"/>
          </a:xfrm>
          <a:prstGeom prst="rect">
            <a:avLst/>
          </a:prstGeom>
        </p:spPr>
        <p:txBody>
          <a:bodyPr wrap="square">
            <a:spAutoFit/>
          </a:bodyPr>
          <a:lstStyle/>
          <a:p>
            <a:pPr marL="342900" indent="-342900">
              <a:lnSpc>
                <a:spcPct val="130000"/>
              </a:lnSpc>
              <a:buClr>
                <a:srgbClr val="C00000"/>
              </a:buClr>
              <a:buFont typeface="Wingdings" panose="05000000000000000000" pitchFamily="2" charset="2"/>
              <a:buChar char="Ø"/>
            </a:pPr>
            <a:r>
              <a:rPr lang="en-US" altLang="zh-CN" sz="2800" dirty="0">
                <a:solidFill>
                  <a:srgbClr val="C00000"/>
                </a:solidFill>
              </a:rPr>
              <a:t>Q-Learning</a:t>
            </a:r>
            <a:r>
              <a:rPr lang="zh-CN" altLang="en-US" sz="2800" dirty="0">
                <a:solidFill>
                  <a:srgbClr val="C00000"/>
                </a:solidFill>
              </a:rPr>
              <a:t>算法应用：机器人路径优化问题</a:t>
            </a:r>
            <a:endParaRPr lang="en-US" altLang="zh-CN" sz="2800" dirty="0">
              <a:solidFill>
                <a:srgbClr val="C00000"/>
              </a:solidFill>
            </a:endParaRPr>
          </a:p>
        </p:txBody>
      </p:sp>
      <p:pic>
        <p:nvPicPr>
          <p:cNvPr id="7" name="图片 6"/>
          <p:cNvPicPr>
            <a:picLocks noChangeAspect="1"/>
          </p:cNvPicPr>
          <p:nvPr/>
        </p:nvPicPr>
        <p:blipFill>
          <a:blip r:embed="rId2"/>
          <a:stretch>
            <a:fillRect/>
          </a:stretch>
        </p:blipFill>
        <p:spPr>
          <a:xfrm>
            <a:off x="2846599" y="4785835"/>
            <a:ext cx="2593550" cy="1665966"/>
          </a:xfrm>
          <a:prstGeom prst="rect">
            <a:avLst/>
          </a:prstGeom>
        </p:spPr>
      </p:pic>
      <p:sp>
        <p:nvSpPr>
          <p:cNvPr id="2" name="箭头: 右弧形 1"/>
          <p:cNvSpPr/>
          <p:nvPr/>
        </p:nvSpPr>
        <p:spPr>
          <a:xfrm>
            <a:off x="5707626" y="4387645"/>
            <a:ext cx="671051" cy="109138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75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par>
                          <p:cTn id="21" fill="hold">
                            <p:stCondLst>
                              <p:cond delay="500"/>
                            </p:stCondLst>
                            <p:childTnLst>
                              <p:par>
                                <p:cTn id="22" presetID="42" presetClass="entr" presetSubtype="0" fill="hold" nodeType="afterEffect">
                                  <p:stCondLst>
                                    <p:cond delay="5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矩形 12"/>
              <p:cNvSpPr/>
              <p:nvPr/>
            </p:nvSpPr>
            <p:spPr>
              <a:xfrm>
                <a:off x="553066" y="1740603"/>
                <a:ext cx="7846140" cy="3145285"/>
              </a:xfrm>
              <a:prstGeom prst="rect">
                <a:avLst/>
              </a:prstGeom>
            </p:spPr>
            <p:txBody>
              <a:bodyPr wrap="square">
                <a:spAutoFit/>
              </a:bodyPr>
              <a:lstStyle/>
              <a:p>
                <a:pPr marL="342900" indent="-254000" algn="just">
                  <a:lnSpc>
                    <a:spcPct val="130000"/>
                  </a:lnSpc>
                  <a:buFont typeface="Arial" panose="020B0604020202020204" pitchFamily="34" charset="0"/>
                  <a:buChar char="•"/>
                </a:pPr>
                <a:r>
                  <a:rPr lang="zh-CN" altLang="en-US" sz="2600" dirty="0"/>
                  <a:t>再选择一个随机状态，如结点</a:t>
                </a:r>
                <a:r>
                  <a:rPr lang="en-US" altLang="zh-CN" sz="2600" dirty="0"/>
                  <a:t>3</a:t>
                </a:r>
                <a:r>
                  <a:rPr lang="zh-CN" altLang="en-US" sz="2600" dirty="0"/>
                  <a:t>，</a:t>
                </a:r>
                <a:r>
                  <a:rPr lang="en-US" altLang="zh-CN" sz="2600" dirty="0"/>
                  <a:t>3</a:t>
                </a:r>
                <a:r>
                  <a:rPr lang="zh-CN" altLang="en-US" sz="2600" dirty="0"/>
                  <a:t>对应的下一个状态有（</a:t>
                </a:r>
                <a:r>
                  <a:rPr lang="en-US" altLang="zh-CN" sz="2600" dirty="0"/>
                  <a:t>1, 2, 4</a:t>
                </a:r>
                <a:r>
                  <a:rPr lang="zh-CN" altLang="en-US" sz="2600" dirty="0"/>
                  <a:t>），随机选择</a:t>
                </a:r>
                <a:r>
                  <a:rPr lang="en-US" altLang="zh-CN" sz="2600" dirty="0"/>
                  <a:t>1</a:t>
                </a:r>
                <a:r>
                  <a:rPr lang="zh-CN" altLang="en-US" sz="2600" dirty="0"/>
                  <a:t>，根据转移方程更新如下：</a:t>
                </a:r>
                <a:endParaRPr lang="en-US" altLang="zh-CN" sz="2600" b="0" i="1" dirty="0">
                  <a:latin typeface="Cambria Math" panose="02040503050406030204" pitchFamily="18" charset="0"/>
                </a:endParaRPr>
              </a:p>
              <a:p>
                <a:pPr marL="88900" algn="just">
                  <a:lnSpc>
                    <a:spcPct val="130000"/>
                  </a:lnSpc>
                </a:pPr>
                <a14:m>
                  <m:oMathPara xmlns:m="http://schemas.openxmlformats.org/officeDocument/2006/math">
                    <m:oMathParaPr>
                      <m:jc m:val="centerGroup"/>
                    </m:oMathParaPr>
                    <m:oMath xmlns:m="http://schemas.openxmlformats.org/officeDocument/2006/math">
                      <m:r>
                        <a:rPr lang="en-US" altLang="zh-CN" sz="2600" b="0" i="1" smtClean="0">
                          <a:latin typeface="Cambria Math" panose="02040503050406030204" pitchFamily="18" charset="0"/>
                        </a:rPr>
                        <m:t>𝑄</m:t>
                      </m:r>
                      <m:d>
                        <m:dPr>
                          <m:ctrlPr>
                            <a:rPr lang="en-US" altLang="zh-CN" sz="2600" b="0" i="1" smtClean="0">
                              <a:latin typeface="Cambria Math" panose="02040503050406030204" pitchFamily="18" charset="0"/>
                            </a:rPr>
                          </m:ctrlPr>
                        </m:dPr>
                        <m:e>
                          <m:r>
                            <a:rPr lang="en-US" altLang="zh-CN" sz="2600" b="0" i="1" smtClean="0">
                              <a:latin typeface="Cambria Math" panose="02040503050406030204" pitchFamily="18" charset="0"/>
                            </a:rPr>
                            <m:t>3</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1</m:t>
                          </m:r>
                        </m:e>
                      </m:d>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𝑅</m:t>
                      </m:r>
                      <m:d>
                        <m:dPr>
                          <m:ctrlPr>
                            <a:rPr lang="en-US" altLang="zh-CN" sz="2600" b="0" i="1" smtClean="0">
                              <a:latin typeface="Cambria Math" panose="02040503050406030204" pitchFamily="18" charset="0"/>
                            </a:rPr>
                          </m:ctrlPr>
                        </m:dPr>
                        <m:e>
                          <m:r>
                            <a:rPr lang="en-US" altLang="zh-CN" sz="2600" b="0" i="1" smtClean="0">
                              <a:latin typeface="Cambria Math" panose="02040503050406030204" pitchFamily="18" charset="0"/>
                            </a:rPr>
                            <m:t>3</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1</m:t>
                          </m:r>
                        </m:e>
                      </m:d>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0</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8</m:t>
                      </m:r>
                      <m:r>
                        <a:rPr lang="en-US" altLang="zh-CN" sz="2600" b="0" i="1" smtClean="0">
                          <a:latin typeface="Cambria Math" panose="02040503050406030204" pitchFamily="18" charset="0"/>
                          <a:ea typeface="Cambria Math" panose="02040503050406030204" pitchFamily="18" charset="0"/>
                        </a:rPr>
                        <m:t>×</m:t>
                      </m:r>
                      <m:func>
                        <m:funcPr>
                          <m:ctrlPr>
                            <a:rPr lang="en-US" altLang="zh-CN" sz="2600" b="0" i="1" smtClean="0">
                              <a:latin typeface="Cambria Math" panose="02040503050406030204" pitchFamily="18" charset="0"/>
                              <a:ea typeface="Cambria Math" panose="02040503050406030204" pitchFamily="18" charset="0"/>
                            </a:rPr>
                          </m:ctrlPr>
                        </m:funcPr>
                        <m:fName>
                          <m:r>
                            <m:rPr>
                              <m:sty m:val="p"/>
                            </m:rPr>
                            <a:rPr lang="en-US" altLang="zh-CN" sz="2600" b="0" i="0" smtClean="0">
                              <a:latin typeface="Cambria Math" panose="02040503050406030204" pitchFamily="18" charset="0"/>
                              <a:ea typeface="Cambria Math" panose="02040503050406030204" pitchFamily="18" charset="0"/>
                            </a:rPr>
                            <m:t>max</m:t>
                          </m:r>
                        </m:fName>
                        <m:e>
                          <m:d>
                            <m:dPr>
                              <m:begChr m:val="{"/>
                              <m:endChr m:val="}"/>
                              <m:ctrlPr>
                                <a:rPr lang="en-US" altLang="zh-CN" sz="2600" b="0" i="1" smtClean="0">
                                  <a:latin typeface="Cambria Math" panose="02040503050406030204" pitchFamily="18" charset="0"/>
                                  <a:ea typeface="Cambria Math" panose="02040503050406030204" pitchFamily="18" charset="0"/>
                                </a:rPr>
                              </m:ctrlPr>
                            </m:dPr>
                            <m:e>
                              <m:r>
                                <a:rPr lang="en-US" altLang="zh-CN" sz="2600" b="0" i="1" smtClean="0">
                                  <a:latin typeface="Cambria Math" panose="02040503050406030204" pitchFamily="18" charset="0"/>
                                  <a:ea typeface="Cambria Math" panose="02040503050406030204" pitchFamily="18" charset="0"/>
                                </a:rPr>
                                <m:t>𝑄</m:t>
                              </m:r>
                              <m:d>
                                <m:dPr>
                                  <m:ctrlPr>
                                    <a:rPr lang="en-US" altLang="zh-CN" sz="2600" b="0" i="1" smtClean="0">
                                      <a:latin typeface="Cambria Math" panose="02040503050406030204" pitchFamily="18" charset="0"/>
                                      <a:ea typeface="Cambria Math" panose="02040503050406030204" pitchFamily="18" charset="0"/>
                                    </a:rPr>
                                  </m:ctrlPr>
                                </m:dPr>
                                <m:e>
                                  <m:r>
                                    <a:rPr lang="en-US" altLang="zh-CN" sz="2600" b="0" i="1" smtClean="0">
                                      <a:latin typeface="Cambria Math" panose="02040503050406030204" pitchFamily="18" charset="0"/>
                                      <a:ea typeface="Cambria Math" panose="02040503050406030204" pitchFamily="18" charset="0"/>
                                    </a:rPr>
                                    <m:t>1</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3</m:t>
                                  </m:r>
                                </m:e>
                              </m:d>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𝑄</m:t>
                              </m:r>
                              <m:d>
                                <m:dPr>
                                  <m:ctrlPr>
                                    <a:rPr lang="en-US" altLang="zh-CN" sz="2600" b="0" i="1" smtClean="0">
                                      <a:latin typeface="Cambria Math" panose="02040503050406030204" pitchFamily="18" charset="0"/>
                                      <a:ea typeface="Cambria Math" panose="02040503050406030204" pitchFamily="18" charset="0"/>
                                    </a:rPr>
                                  </m:ctrlPr>
                                </m:dPr>
                                <m:e>
                                  <m:r>
                                    <a:rPr lang="en-US" altLang="zh-CN" sz="2600" b="0" i="1" smtClean="0">
                                      <a:latin typeface="Cambria Math" panose="02040503050406030204" pitchFamily="18" charset="0"/>
                                      <a:ea typeface="Cambria Math" panose="02040503050406030204" pitchFamily="18" charset="0"/>
                                    </a:rPr>
                                    <m:t>1</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5</m:t>
                                  </m:r>
                                </m:e>
                              </m:d>
                            </m:e>
                          </m:d>
                        </m:e>
                      </m:func>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0</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0</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8</m:t>
                      </m:r>
                      <m:r>
                        <a:rPr lang="en-US" altLang="zh-CN" sz="2600" b="0" i="1" smtClean="0">
                          <a:latin typeface="Cambria Math" panose="02040503050406030204" pitchFamily="18" charset="0"/>
                          <a:ea typeface="Cambria Math" panose="02040503050406030204" pitchFamily="18" charset="0"/>
                        </a:rPr>
                        <m:t>×</m:t>
                      </m:r>
                      <m:func>
                        <m:funcPr>
                          <m:ctrlPr>
                            <a:rPr lang="en-US" altLang="zh-CN" sz="2600" b="0" i="1" smtClean="0">
                              <a:latin typeface="Cambria Math" panose="02040503050406030204" pitchFamily="18" charset="0"/>
                              <a:ea typeface="Cambria Math" panose="02040503050406030204" pitchFamily="18" charset="0"/>
                            </a:rPr>
                          </m:ctrlPr>
                        </m:funcPr>
                        <m:fName>
                          <m:r>
                            <m:rPr>
                              <m:sty m:val="p"/>
                            </m:rPr>
                            <a:rPr lang="en-US" altLang="zh-CN" sz="2600" b="0" i="0" smtClean="0">
                              <a:latin typeface="Cambria Math" panose="02040503050406030204" pitchFamily="18" charset="0"/>
                              <a:ea typeface="Cambria Math" panose="02040503050406030204" pitchFamily="18" charset="0"/>
                            </a:rPr>
                            <m:t>max</m:t>
                          </m:r>
                        </m:fName>
                        <m:e>
                          <m:d>
                            <m:dPr>
                              <m:begChr m:val="{"/>
                              <m:endChr m:val="}"/>
                              <m:ctrlPr>
                                <a:rPr lang="en-US" altLang="zh-CN" sz="2600" b="0" i="1" smtClean="0">
                                  <a:latin typeface="Cambria Math" panose="02040503050406030204" pitchFamily="18" charset="0"/>
                                  <a:ea typeface="Cambria Math" panose="02040503050406030204" pitchFamily="18" charset="0"/>
                                </a:rPr>
                              </m:ctrlPr>
                            </m:dPr>
                            <m:e>
                              <m:r>
                                <a:rPr lang="en-US" altLang="zh-CN" sz="2600" b="0" i="1" smtClean="0">
                                  <a:latin typeface="Cambria Math" panose="02040503050406030204" pitchFamily="18" charset="0"/>
                                  <a:ea typeface="Cambria Math" panose="02040503050406030204" pitchFamily="18" charset="0"/>
                                </a:rPr>
                                <m:t>0</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100</m:t>
                              </m:r>
                            </m:e>
                          </m:d>
                        </m:e>
                      </m:func>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80</m:t>
                      </m:r>
                    </m:oMath>
                  </m:oMathPara>
                </a14:m>
                <a:endParaRPr lang="en-US" altLang="zh-CN" sz="2600" dirty="0"/>
              </a:p>
              <a:p>
                <a:pPr marL="361950" indent="-273050" algn="just">
                  <a:lnSpc>
                    <a:spcPct val="130000"/>
                  </a:lnSpc>
                  <a:buFont typeface="Arial" panose="020B0604020202020204" pitchFamily="34" charset="0"/>
                  <a:buChar char="•"/>
                </a:pPr>
                <a:r>
                  <a:rPr lang="en-US" altLang="zh-CN" sz="2600" dirty="0"/>
                  <a:t>Q</a:t>
                </a:r>
                <a:r>
                  <a:rPr lang="zh-CN" altLang="en-US" sz="2600" dirty="0"/>
                  <a:t>表更新为</a:t>
                </a:r>
                <a:endParaRPr lang="en-US" altLang="zh-CN" sz="2600" dirty="0"/>
              </a:p>
            </p:txBody>
          </p:sp>
        </mc:Choice>
        <mc:Fallback>
          <p:sp>
            <p:nvSpPr>
              <p:cNvPr id="13" name="矩形 12"/>
              <p:cNvSpPr>
                <a:spLocks noRot="1" noChangeAspect="1" noMove="1" noResize="1" noEditPoints="1" noAdjustHandles="1" noChangeArrowheads="1" noChangeShapeType="1" noTextEdit="1"/>
              </p:cNvSpPr>
              <p:nvPr/>
            </p:nvSpPr>
            <p:spPr>
              <a:xfrm>
                <a:off x="553066" y="1740603"/>
                <a:ext cx="7846140" cy="3145285"/>
              </a:xfrm>
              <a:prstGeom prst="rect">
                <a:avLst/>
              </a:prstGeom>
              <a:blipFill rotWithShape="1">
                <a:blip r:embed="rId1"/>
                <a:stretch>
                  <a:fillRect l="-8" t="-2" r="1" b="6"/>
                </a:stretch>
              </a:blipFill>
            </p:spPr>
            <p:txBody>
              <a:bodyPr/>
              <a:lstStyle/>
              <a:p>
                <a:r>
                  <a:rPr lang="zh-CN" altLang="en-US">
                    <a:noFill/>
                  </a:rPr>
                  <a:t> </a:t>
                </a:r>
              </a:p>
            </p:txBody>
          </p:sp>
        </mc:Fallback>
      </mc:AlternateContent>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473544" y="1016506"/>
            <a:ext cx="7416843" cy="592213"/>
          </a:xfrm>
          <a:prstGeom prst="rect">
            <a:avLst/>
          </a:prstGeom>
        </p:spPr>
        <p:txBody>
          <a:bodyPr wrap="square">
            <a:spAutoFit/>
          </a:bodyPr>
          <a:lstStyle/>
          <a:p>
            <a:pPr marL="342900" indent="-342900">
              <a:lnSpc>
                <a:spcPct val="130000"/>
              </a:lnSpc>
              <a:buClr>
                <a:srgbClr val="C00000"/>
              </a:buClr>
              <a:buFont typeface="Wingdings" panose="05000000000000000000" pitchFamily="2" charset="2"/>
              <a:buChar char="Ø"/>
            </a:pPr>
            <a:r>
              <a:rPr lang="en-US" altLang="zh-CN" sz="2800" dirty="0">
                <a:solidFill>
                  <a:srgbClr val="C00000"/>
                </a:solidFill>
              </a:rPr>
              <a:t>Q-Learning</a:t>
            </a:r>
            <a:r>
              <a:rPr lang="zh-CN" altLang="en-US" sz="2800" dirty="0">
                <a:solidFill>
                  <a:srgbClr val="C00000"/>
                </a:solidFill>
              </a:rPr>
              <a:t>算法应用：机器人路径优化问题</a:t>
            </a:r>
            <a:endParaRPr lang="en-US" altLang="zh-CN" sz="2800" dirty="0">
              <a:solidFill>
                <a:srgbClr val="C00000"/>
              </a:solidFill>
            </a:endParaRPr>
          </a:p>
        </p:txBody>
      </p:sp>
      <p:sp>
        <p:nvSpPr>
          <p:cNvPr id="2" name="箭头: 右弧形 1"/>
          <p:cNvSpPr/>
          <p:nvPr/>
        </p:nvSpPr>
        <p:spPr>
          <a:xfrm>
            <a:off x="5974610" y="4072494"/>
            <a:ext cx="671051" cy="109138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8" name="图片 7"/>
          <p:cNvPicPr>
            <a:picLocks noChangeAspect="1"/>
          </p:cNvPicPr>
          <p:nvPr/>
        </p:nvPicPr>
        <p:blipFill>
          <a:blip r:embed="rId2"/>
          <a:stretch>
            <a:fillRect/>
          </a:stretch>
        </p:blipFill>
        <p:spPr>
          <a:xfrm>
            <a:off x="2892196" y="4426456"/>
            <a:ext cx="2657737" cy="1633277"/>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10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par>
                          <p:cTn id="21" fill="hold">
                            <p:stCondLst>
                              <p:cond delay="500"/>
                            </p:stCondLst>
                            <p:childTnLst>
                              <p:par>
                                <p:cTn id="22" presetID="42" presetClass="entr" presetSubtype="0" fill="hold" nodeType="afterEffect">
                                  <p:stCondLst>
                                    <p:cond delay="7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814343"/>
            <a:ext cx="4682851" cy="3232360"/>
          </a:xfrm>
          <a:prstGeom prst="rect">
            <a:avLst/>
          </a:prstGeom>
        </p:spPr>
        <p:txBody>
          <a:bodyPr wrap="square">
            <a:spAutoFit/>
          </a:bodyPr>
          <a:lstStyle/>
          <a:p>
            <a:pPr marL="342900" indent="-254000" algn="just">
              <a:lnSpc>
                <a:spcPct val="130000"/>
              </a:lnSpc>
              <a:buFont typeface="Arial" panose="020B0604020202020204" pitchFamily="34" charset="0"/>
              <a:buChar char="•"/>
            </a:pPr>
            <a:r>
              <a:rPr lang="zh-CN" altLang="en-US" sz="2600" dirty="0"/>
              <a:t>根据</a:t>
            </a:r>
            <a:r>
              <a:rPr lang="en-US" altLang="zh-CN" sz="2600" dirty="0"/>
              <a:t>Q-Learning</a:t>
            </a:r>
            <a:r>
              <a:rPr lang="zh-CN" altLang="en-US" sz="2600" dirty="0"/>
              <a:t>算法的步骤不断进行更新，最终得到右图所示的</a:t>
            </a:r>
            <a:r>
              <a:rPr lang="en-US" altLang="zh-CN" sz="2600" dirty="0"/>
              <a:t>Q</a:t>
            </a:r>
            <a:r>
              <a:rPr lang="zh-CN" altLang="en-US" sz="2600" dirty="0"/>
              <a:t>表。</a:t>
            </a:r>
            <a:endParaRPr lang="en-US" altLang="zh-CN" sz="2600" dirty="0"/>
          </a:p>
          <a:p>
            <a:pPr marL="342900" indent="-254000" algn="just">
              <a:lnSpc>
                <a:spcPct val="130000"/>
              </a:lnSpc>
              <a:spcBef>
                <a:spcPts val="600"/>
              </a:spcBef>
              <a:buFont typeface="Arial" panose="020B0604020202020204" pitchFamily="34" charset="0"/>
              <a:buChar char="•"/>
            </a:pPr>
            <a:r>
              <a:rPr lang="zh-CN" altLang="en-US" sz="2600" b="0" dirty="0">
                <a:latin typeface="Cambria Math" panose="02040503050406030204" pitchFamily="18" charset="0"/>
              </a:rPr>
              <a:t>根据更新完成后的</a:t>
            </a:r>
            <a:r>
              <a:rPr lang="en-US" altLang="zh-CN" sz="2600" b="0" dirty="0">
                <a:latin typeface="Cambria Math" panose="02040503050406030204" pitchFamily="18" charset="0"/>
              </a:rPr>
              <a:t>Q</a:t>
            </a:r>
            <a:r>
              <a:rPr lang="zh-CN" altLang="en-US" sz="2600" b="0" dirty="0">
                <a:latin typeface="Cambria Math" panose="02040503050406030204" pitchFamily="18" charset="0"/>
              </a:rPr>
              <a:t>表中的数据优化路径权重，如右图所示。</a:t>
            </a:r>
            <a:endParaRPr lang="en-US" altLang="zh-CN" sz="2600" b="0" dirty="0">
              <a:latin typeface="Cambria Math" panose="02040503050406030204" pitchFamily="18" charset="0"/>
            </a:endParaRPr>
          </a:p>
        </p:txBody>
      </p:sp>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473544" y="1016506"/>
            <a:ext cx="7416843" cy="592213"/>
          </a:xfrm>
          <a:prstGeom prst="rect">
            <a:avLst/>
          </a:prstGeom>
        </p:spPr>
        <p:txBody>
          <a:bodyPr wrap="square">
            <a:spAutoFit/>
          </a:bodyPr>
          <a:lstStyle/>
          <a:p>
            <a:pPr marL="342900" indent="-342900">
              <a:lnSpc>
                <a:spcPct val="130000"/>
              </a:lnSpc>
              <a:buClr>
                <a:srgbClr val="C00000"/>
              </a:buClr>
              <a:buFont typeface="Wingdings" panose="05000000000000000000" pitchFamily="2" charset="2"/>
              <a:buChar char="Ø"/>
            </a:pPr>
            <a:r>
              <a:rPr lang="en-US" altLang="zh-CN" sz="2800" dirty="0">
                <a:solidFill>
                  <a:srgbClr val="C00000"/>
                </a:solidFill>
              </a:rPr>
              <a:t>Q-Learning</a:t>
            </a:r>
            <a:r>
              <a:rPr lang="zh-CN" altLang="en-US" sz="2800" dirty="0">
                <a:solidFill>
                  <a:srgbClr val="C00000"/>
                </a:solidFill>
              </a:rPr>
              <a:t>算法应用：机器人路径优化问题</a:t>
            </a:r>
            <a:endParaRPr lang="en-US" altLang="zh-CN" sz="2800" dirty="0">
              <a:solidFill>
                <a:srgbClr val="C00000"/>
              </a:solidFill>
            </a:endParaRPr>
          </a:p>
        </p:txBody>
      </p:sp>
      <p:pic>
        <p:nvPicPr>
          <p:cNvPr id="9" name="Picture 16"/>
          <p:cNvPicPr>
            <a:picLocks noChangeAspect="1" noChangeArrowheads="1"/>
          </p:cNvPicPr>
          <p:nvPr/>
        </p:nvPicPr>
        <p:blipFill rotWithShape="1">
          <a:blip r:embed="rId1">
            <a:extLst>
              <a:ext uri="{28A0092B-C50C-407E-A947-70E740481C1C}">
                <a14:useLocalDpi xmlns:a14="http://schemas.microsoft.com/office/drawing/2010/main" val="0"/>
              </a:ext>
            </a:extLst>
          </a:blip>
          <a:srcRect r="5469"/>
          <a:stretch>
            <a:fillRect/>
          </a:stretch>
        </p:blipFill>
        <p:spPr bwMode="auto">
          <a:xfrm>
            <a:off x="5184058" y="1814343"/>
            <a:ext cx="3205930" cy="189434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17742" y="4132231"/>
            <a:ext cx="3414876" cy="2199512"/>
          </a:xfrm>
          <a:prstGeom prst="rect">
            <a:avLst/>
          </a:prstGeom>
          <a:noFill/>
          <a:extLst>
            <a:ext uri="{909E8E84-426E-40DD-AFC4-6F175D3DCCD1}">
              <a14:hiddenFill xmlns:a14="http://schemas.microsoft.com/office/drawing/2010/main">
                <a:solidFill>
                  <a:srgbClr val="FFFFFF"/>
                </a:solidFill>
              </a14:hiddenFill>
            </a:ext>
          </a:extLst>
        </p:spPr>
      </p:pic>
      <p:sp>
        <p:nvSpPr>
          <p:cNvPr id="14" name="箭头: 右 13"/>
          <p:cNvSpPr/>
          <p:nvPr/>
        </p:nvSpPr>
        <p:spPr>
          <a:xfrm rot="5400000">
            <a:off x="6880433" y="3750535"/>
            <a:ext cx="407671" cy="281823"/>
          </a:xfrm>
          <a:prstGeom prst="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350"/>
          </a:p>
        </p:txBody>
      </p:sp>
      <p:pic>
        <p:nvPicPr>
          <p:cNvPr id="15" name="Picture 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6078"/>
          <a:stretch>
            <a:fillRect/>
          </a:stretch>
        </p:blipFill>
        <p:spPr bwMode="auto">
          <a:xfrm>
            <a:off x="1817739" y="4709582"/>
            <a:ext cx="2954979" cy="1894344"/>
          </a:xfrm>
          <a:prstGeom prst="rect">
            <a:avLst/>
          </a:prstGeom>
          <a:noFill/>
          <a:extLst>
            <a:ext uri="{909E8E84-426E-40DD-AFC4-6F175D3DCCD1}">
              <a14:hiddenFill xmlns:a14="http://schemas.microsoft.com/office/drawing/2010/main">
                <a:solidFill>
                  <a:srgbClr val="FFFFFF"/>
                </a:solidFill>
              </a14:hiddenFill>
            </a:ext>
          </a:extLst>
        </p:spPr>
      </p:pic>
      <p:sp>
        <p:nvSpPr>
          <p:cNvPr id="16" name="箭头: 右 15"/>
          <p:cNvSpPr/>
          <p:nvPr/>
        </p:nvSpPr>
        <p:spPr>
          <a:xfrm>
            <a:off x="4772718" y="5512512"/>
            <a:ext cx="510971" cy="328982"/>
          </a:xfrm>
          <a:prstGeom prst="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350"/>
          </a:p>
        </p:txBody>
      </p:sp>
      <p:sp>
        <p:nvSpPr>
          <p:cNvPr id="4" name="椭圆 3"/>
          <p:cNvSpPr/>
          <p:nvPr/>
        </p:nvSpPr>
        <p:spPr>
          <a:xfrm>
            <a:off x="5314461" y="4143517"/>
            <a:ext cx="3539613" cy="2479115"/>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1000"/>
                                        <p:tgtEl>
                                          <p:spTgt spid="13">
                                            <p:txEl>
                                              <p:pRg st="0" end="0"/>
                                            </p:txEl>
                                          </p:spTgt>
                                        </p:tgtEl>
                                      </p:cBhvr>
                                    </p:animEffect>
                                  </p:childTnLst>
                                </p:cTn>
                              </p:par>
                            </p:childTnLst>
                          </p:cTn>
                        </p:par>
                        <p:par>
                          <p:cTn id="8" fill="hold">
                            <p:stCondLst>
                              <p:cond delay="1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3">
                                            <p:txEl>
                                              <p:pRg st="1" end="1"/>
                                            </p:txEl>
                                          </p:spTgt>
                                        </p:tgtEl>
                                        <p:attrNameLst>
                                          <p:attrName>style.visibility</p:attrName>
                                        </p:attrNameLst>
                                      </p:cBhvr>
                                      <p:to>
                                        <p:strVal val="visible"/>
                                      </p:to>
                                    </p:set>
                                    <p:animEffect transition="in" filter="fade">
                                      <p:cBhvr>
                                        <p:cTn id="16" dur="1000"/>
                                        <p:tgtEl>
                                          <p:spTgt spid="1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1000"/>
                                        <p:tgtEl>
                                          <p:spTgt spid="14"/>
                                        </p:tgtEl>
                                      </p:cBhvr>
                                    </p:animEffect>
                                  </p:childTnLst>
                                </p:cTn>
                              </p:par>
                              <p:par>
                                <p:cTn id="22" presetID="22" presetClass="entr" presetSubtype="1"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up)">
                                      <p:cBhvr>
                                        <p:cTn id="24" dur="1000"/>
                                        <p:tgtEl>
                                          <p:spTgt spid="11"/>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1000"/>
                                        <p:tgtEl>
                                          <p:spTgt spid="16"/>
                                        </p:tgtEl>
                                      </p:cBhvr>
                                    </p:animEffect>
                                  </p:childTnLst>
                                </p:cTn>
                              </p:par>
                              <p:par>
                                <p:cTn id="28" presetID="22" presetClass="entr" presetSubtype="8"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1000"/>
                                        <p:tgtEl>
                                          <p:spTgt spid="15"/>
                                        </p:tgtEl>
                                      </p:cBhvr>
                                    </p:animEffect>
                                  </p:childTnLst>
                                </p:cTn>
                              </p:par>
                            </p:childTnLst>
                          </p:cTn>
                        </p:par>
                        <p:par>
                          <p:cTn id="31" fill="hold">
                            <p:stCondLst>
                              <p:cond delay="1000"/>
                            </p:stCondLst>
                            <p:childTnLst>
                              <p:par>
                                <p:cTn id="32" presetID="10" presetClass="entr" presetSubtype="0" fill="hold" grpId="0" nodeType="afterEffect">
                                  <p:stCondLst>
                                    <p:cond delay="75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矩形 12"/>
              <p:cNvSpPr/>
              <p:nvPr/>
            </p:nvSpPr>
            <p:spPr>
              <a:xfrm>
                <a:off x="553065" y="1762725"/>
                <a:ext cx="8170606" cy="3857723"/>
              </a:xfrm>
              <a:prstGeom prst="rect">
                <a:avLst/>
              </a:prstGeom>
            </p:spPr>
            <p:txBody>
              <a:bodyPr wrap="square">
                <a:spAutoFit/>
              </a:bodyPr>
              <a:lstStyle/>
              <a:p>
                <a:pPr marL="342900" indent="-254000" algn="just">
                  <a:lnSpc>
                    <a:spcPct val="150000"/>
                  </a:lnSpc>
                  <a:buFont typeface="Arial" panose="020B0604020202020204" pitchFamily="34" charset="0"/>
                  <a:buChar char="•"/>
                </a:pPr>
                <a:r>
                  <a:rPr lang="zh-CN" altLang="en-US" sz="2800" dirty="0"/>
                  <a:t>得到</a:t>
                </a:r>
                <a:r>
                  <a:rPr lang="en-US" altLang="zh-CN" sz="2800" i="1" dirty="0"/>
                  <a:t>Q</a:t>
                </a:r>
                <a:r>
                  <a:rPr lang="zh-CN" altLang="en-US" sz="2800" dirty="0"/>
                  <a:t>表后，根据下列步骤选择路径：</a:t>
                </a:r>
                <a:endParaRPr lang="en-US" altLang="zh-CN" sz="2800" dirty="0"/>
              </a:p>
              <a:p>
                <a:pPr marL="546100" indent="-370205" algn="just">
                  <a:lnSpc>
                    <a:spcPct val="150000"/>
                  </a:lnSpc>
                  <a:spcBef>
                    <a:spcPts val="1200"/>
                  </a:spcBef>
                  <a:buFont typeface="+mj-ea"/>
                  <a:buAutoNum type="circleNumDbPlain"/>
                </a:pPr>
                <a:r>
                  <a:rPr lang="zh-CN" altLang="en-US" sz="2800" b="0" dirty="0"/>
                  <a:t>令当前状态</a:t>
                </a:r>
                <a:r>
                  <a:rPr lang="en-US" altLang="zh-CN" sz="2800" b="0" i="1" dirty="0"/>
                  <a:t>s</a:t>
                </a:r>
                <a:r>
                  <a:rPr lang="en-US" altLang="zh-CN" sz="2800" b="0" dirty="0"/>
                  <a:t>:=</a:t>
                </a:r>
                <a:r>
                  <a:rPr lang="en-US" altLang="zh-CN" sz="2800" b="0" i="1" dirty="0"/>
                  <a:t>s</a:t>
                </a:r>
                <a:r>
                  <a:rPr lang="en-US" altLang="zh-CN" sz="2800" b="0" baseline="-25000" dirty="0"/>
                  <a:t>0</a:t>
                </a:r>
                <a:r>
                  <a:rPr lang="zh-CN" altLang="en-US" sz="2800" b="0" dirty="0"/>
                  <a:t>；</a:t>
                </a:r>
                <a:endParaRPr lang="en-US" altLang="zh-CN" sz="2800" b="0" dirty="0"/>
              </a:p>
              <a:p>
                <a:pPr marL="546100" indent="-370205" algn="just">
                  <a:lnSpc>
                    <a:spcPct val="150000"/>
                  </a:lnSpc>
                  <a:spcBef>
                    <a:spcPts val="1200"/>
                  </a:spcBef>
                  <a:buFont typeface="+mj-ea"/>
                  <a:buAutoNum type="circleNumDbPlain"/>
                </a:pPr>
                <a:r>
                  <a:rPr lang="zh-CN" altLang="en-US" sz="2800" b="0" dirty="0"/>
                  <a:t>确定</a:t>
                </a:r>
                <a:r>
                  <a:rPr lang="en-US" altLang="zh-CN" sz="2800" b="0" i="1" dirty="0"/>
                  <a:t>a</a:t>
                </a:r>
                <a:r>
                  <a:rPr lang="zh-CN" altLang="en-US" sz="2800" b="0" dirty="0"/>
                  <a:t>，使它满足</a:t>
                </a:r>
                <a14:m>
                  <m:oMath xmlns:m="http://schemas.openxmlformats.org/officeDocument/2006/math">
                    <m:r>
                      <a:rPr lang="en-US" altLang="zh-CN" sz="2800" i="1">
                        <a:latin typeface="Cambria Math" panose="02040503050406030204" pitchFamily="18" charset="0"/>
                      </a:rPr>
                      <m:t>𝑄</m:t>
                    </m:r>
                    <m:d>
                      <m:dPr>
                        <m:ctrlPr>
                          <a:rPr lang="en-US" altLang="zh-CN" sz="2800" i="1" smtClean="0">
                            <a:latin typeface="Cambria Math" panose="02040503050406030204" pitchFamily="18" charset="0"/>
                          </a:rPr>
                        </m:ctrlPr>
                      </m:dPr>
                      <m:e>
                        <m:r>
                          <m:rPr>
                            <m:sty m:val="p"/>
                          </m:rPr>
                          <a:rPr lang="en-US" altLang="zh-CN" sz="2800" i="1" smtClean="0">
                            <a:latin typeface="Cambria Math" panose="02040503050406030204" pitchFamily="18" charset="0"/>
                          </a:rPr>
                          <m:t>s</m:t>
                        </m:r>
                        <m:r>
                          <a:rPr lang="en-US" altLang="zh-CN" sz="2800" i="1">
                            <a:latin typeface="Cambria Math" panose="02040503050406030204" pitchFamily="18" charset="0"/>
                          </a:rPr>
                          <m:t>,</m:t>
                        </m:r>
                        <m:r>
                          <a:rPr lang="en-US" altLang="zh-CN" sz="2800" b="0" i="1" smtClean="0">
                            <a:latin typeface="Cambria Math" panose="02040503050406030204" pitchFamily="18" charset="0"/>
                          </a:rPr>
                          <m:t>𝑎</m:t>
                        </m:r>
                      </m:e>
                    </m:d>
                    <m:r>
                      <a:rPr lang="en-US" altLang="zh-CN" sz="2800" b="0" i="1" smtClean="0">
                        <a:latin typeface="Cambria Math" panose="02040503050406030204" pitchFamily="18" charset="0"/>
                      </a:rPr>
                      <m:t>=</m:t>
                    </m:r>
                    <m:func>
                      <m:funcPr>
                        <m:ctrlPr>
                          <a:rPr lang="en-US" altLang="zh-CN" sz="2800" b="0" i="1" smtClean="0">
                            <a:latin typeface="Cambria Math" panose="02040503050406030204" pitchFamily="18" charset="0"/>
                          </a:rPr>
                        </m:ctrlPr>
                      </m:funcPr>
                      <m:fName>
                        <m:r>
                          <m:rPr>
                            <m:sty m:val="p"/>
                          </m:rPr>
                          <a:rPr lang="en-US" altLang="zh-CN" sz="2800" b="0" i="0" smtClean="0">
                            <a:latin typeface="Cambria Math" panose="02040503050406030204" pitchFamily="18" charset="0"/>
                          </a:rPr>
                          <m:t>max</m:t>
                        </m:r>
                      </m:fName>
                      <m:e>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𝑄</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𝑠</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𝑎</m:t>
                                </m:r>
                              </m:e>
                            </m:d>
                          </m:e>
                        </m:d>
                      </m:e>
                    </m:func>
                    <m:r>
                      <a:rPr lang="zh-CN" altLang="en-US" sz="2800" i="1">
                        <a:latin typeface="Cambria Math" panose="02040503050406030204" pitchFamily="18" charset="0"/>
                      </a:rPr>
                      <m:t>；</m:t>
                    </m:r>
                  </m:oMath>
                </a14:m>
                <a:endParaRPr lang="en-US" altLang="zh-CN" sz="2800" dirty="0"/>
              </a:p>
              <a:p>
                <a:pPr marL="546100" indent="-370205" algn="just">
                  <a:lnSpc>
                    <a:spcPct val="150000"/>
                  </a:lnSpc>
                  <a:spcBef>
                    <a:spcPts val="1200"/>
                  </a:spcBef>
                  <a:buFont typeface="+mj-ea"/>
                  <a:buAutoNum type="circleNumDbPlain"/>
                </a:pPr>
                <a:r>
                  <a:rPr lang="zh-CN" altLang="en-US" sz="2800" b="0" dirty="0"/>
                  <a:t>令当前状态</a:t>
                </a:r>
                <a14:m>
                  <m:oMath xmlns:m="http://schemas.openxmlformats.org/officeDocument/2006/math">
                    <m:r>
                      <a:rPr lang="en-US" altLang="zh-CN" sz="2800" b="0" i="1" smtClean="0">
                        <a:latin typeface="Cambria Math" panose="02040503050406030204" pitchFamily="18" charset="0"/>
                      </a:rPr>
                      <m:t>𝑠</m:t>
                    </m:r>
                    <m:r>
                      <a:rPr lang="en-US" altLang="zh-CN" sz="2800" b="0" i="1" smtClean="0">
                        <a:latin typeface="Cambria Math" panose="02040503050406030204" pitchFamily="18" charset="0"/>
                      </a:rPr>
                      <m:t>≔</m:t>
                    </m:r>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𝑠</m:t>
                        </m:r>
                      </m:e>
                    </m:acc>
                  </m:oMath>
                </a14:m>
                <a:r>
                  <a:rPr lang="zh-CN" altLang="en-US" sz="2800" b="0" dirty="0"/>
                  <a:t>；</a:t>
                </a:r>
                <a:endParaRPr lang="en-US" altLang="zh-CN" sz="2800" b="0" dirty="0"/>
              </a:p>
              <a:p>
                <a:pPr marL="546100" indent="-370205" algn="just">
                  <a:lnSpc>
                    <a:spcPct val="150000"/>
                  </a:lnSpc>
                  <a:spcBef>
                    <a:spcPts val="1200"/>
                  </a:spcBef>
                  <a:buFont typeface="+mj-ea"/>
                  <a:buAutoNum type="circleNumDbPlain"/>
                </a:pPr>
                <a:r>
                  <a:rPr lang="zh-CN" altLang="en-US" sz="2800" dirty="0"/>
                  <a:t>重复执行步骤</a:t>
                </a:r>
                <a:r>
                  <a:rPr lang="en-US" altLang="zh-CN" sz="2800" dirty="0"/>
                  <a:t>2</a:t>
                </a:r>
                <a:r>
                  <a:rPr lang="zh-CN" altLang="en-US" sz="2800" dirty="0"/>
                  <a:t>和步骤</a:t>
                </a:r>
                <a:r>
                  <a:rPr lang="en-US" altLang="zh-CN" sz="2800" dirty="0"/>
                  <a:t>3</a:t>
                </a:r>
                <a:r>
                  <a:rPr lang="zh-CN" altLang="en-US" sz="2800" dirty="0"/>
                  <a:t>，直到</a:t>
                </a:r>
                <a:r>
                  <a:rPr lang="en-US" altLang="zh-CN" sz="2800" i="1" dirty="0"/>
                  <a:t>s</a:t>
                </a:r>
                <a:r>
                  <a:rPr lang="zh-CN" altLang="en-US" sz="2800" dirty="0"/>
                  <a:t>成为目标状态。</a:t>
                </a:r>
                <a:endParaRPr lang="en-US" altLang="zh-CN" sz="2800" b="0" dirty="0"/>
              </a:p>
            </p:txBody>
          </p:sp>
        </mc:Choice>
        <mc:Fallback>
          <p:sp>
            <p:nvSpPr>
              <p:cNvPr id="13" name="矩形 12"/>
              <p:cNvSpPr>
                <a:spLocks noRot="1" noChangeAspect="1" noMove="1" noResize="1" noEditPoints="1" noAdjustHandles="1" noChangeArrowheads="1" noChangeShapeType="1" noTextEdit="1"/>
              </p:cNvSpPr>
              <p:nvPr/>
            </p:nvSpPr>
            <p:spPr>
              <a:xfrm>
                <a:off x="553065" y="1762725"/>
                <a:ext cx="8170606" cy="3857723"/>
              </a:xfrm>
              <a:prstGeom prst="rect">
                <a:avLst/>
              </a:prstGeom>
              <a:blipFill rotWithShape="1">
                <a:blip r:embed="rId1"/>
                <a:stretch>
                  <a:fillRect l="-8" t="-16" r="1" b="2"/>
                </a:stretch>
              </a:blipFill>
            </p:spPr>
            <p:txBody>
              <a:bodyPr/>
              <a:lstStyle/>
              <a:p>
                <a:r>
                  <a:rPr lang="zh-CN" altLang="en-US">
                    <a:noFill/>
                  </a:rPr>
                  <a:t> </a:t>
                </a:r>
              </a:p>
            </p:txBody>
          </p:sp>
        </mc:Fallback>
      </mc:AlternateContent>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473544" y="1016506"/>
            <a:ext cx="7416843" cy="592213"/>
          </a:xfrm>
          <a:prstGeom prst="rect">
            <a:avLst/>
          </a:prstGeom>
        </p:spPr>
        <p:txBody>
          <a:bodyPr wrap="square">
            <a:spAutoFit/>
          </a:bodyPr>
          <a:lstStyle/>
          <a:p>
            <a:pPr marL="342900" indent="-342900">
              <a:lnSpc>
                <a:spcPct val="130000"/>
              </a:lnSpc>
              <a:buClr>
                <a:srgbClr val="C00000"/>
              </a:buClr>
              <a:buFont typeface="Wingdings" panose="05000000000000000000" pitchFamily="2" charset="2"/>
              <a:buChar char="Ø"/>
            </a:pPr>
            <a:r>
              <a:rPr lang="en-US" altLang="zh-CN" sz="2800" dirty="0">
                <a:solidFill>
                  <a:srgbClr val="C00000"/>
                </a:solidFill>
              </a:rPr>
              <a:t>Q-Learning</a:t>
            </a:r>
            <a:r>
              <a:rPr lang="zh-CN" altLang="en-US" sz="2800" dirty="0">
                <a:solidFill>
                  <a:srgbClr val="C00000"/>
                </a:solidFill>
              </a:rPr>
              <a:t>算法应用：机器人路径优化问题</a:t>
            </a:r>
            <a:endParaRPr lang="en-US" altLang="zh-CN" sz="2800" dirty="0">
              <a:solidFill>
                <a:srgbClr val="C0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10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10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10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10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10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4948083" cy="4507644"/>
          </a:xfrm>
          <a:prstGeom prst="rect">
            <a:avLst/>
          </a:prstGeom>
        </p:spPr>
        <p:txBody>
          <a:bodyPr wrap="square">
            <a:spAutoFit/>
          </a:bodyPr>
          <a:lstStyle/>
          <a:p>
            <a:pPr marL="342900" indent="-254000" algn="just">
              <a:lnSpc>
                <a:spcPct val="140000"/>
              </a:lnSpc>
              <a:buFont typeface="Arial" panose="020B0604020202020204" pitchFamily="34" charset="0"/>
              <a:buChar char="•"/>
            </a:pPr>
            <a:r>
              <a:rPr lang="zh-CN" altLang="en-US" sz="2600" dirty="0"/>
              <a:t>假设初始状态为</a:t>
            </a:r>
            <a:r>
              <a:rPr lang="en-US" altLang="zh-CN" sz="2600" dirty="0"/>
              <a:t>2</a:t>
            </a:r>
            <a:r>
              <a:rPr lang="zh-CN" altLang="en-US" sz="2600" dirty="0"/>
              <a:t>，那么根据</a:t>
            </a:r>
            <a:r>
              <a:rPr lang="en-US" altLang="zh-CN" sz="2600" i="1" dirty="0"/>
              <a:t>Q</a:t>
            </a:r>
            <a:r>
              <a:rPr lang="zh-CN" altLang="en-US" sz="2600" dirty="0"/>
              <a:t>表，选择</a:t>
            </a:r>
            <a:r>
              <a:rPr lang="en-US" altLang="zh-CN" sz="2600" dirty="0"/>
              <a:t>2-3</a:t>
            </a:r>
            <a:r>
              <a:rPr lang="zh-CN" altLang="en-US" sz="2600" dirty="0"/>
              <a:t>的动作，到达状态</a:t>
            </a:r>
            <a:r>
              <a:rPr lang="en-US" altLang="zh-CN" sz="2600" dirty="0"/>
              <a:t>3</a:t>
            </a:r>
            <a:r>
              <a:rPr lang="zh-CN" altLang="en-US" sz="2600" dirty="0"/>
              <a:t>后，可以选择</a:t>
            </a:r>
            <a:r>
              <a:rPr lang="en-US" altLang="zh-CN" sz="2600" dirty="0"/>
              <a:t>1</a:t>
            </a:r>
            <a:r>
              <a:rPr lang="zh-CN" altLang="en-US" sz="2600" dirty="0"/>
              <a:t>、</a:t>
            </a:r>
            <a:r>
              <a:rPr lang="en-US" altLang="zh-CN" sz="2600" dirty="0"/>
              <a:t>2</a:t>
            </a:r>
            <a:r>
              <a:rPr lang="zh-CN" altLang="en-US" sz="2600" dirty="0"/>
              <a:t>、</a:t>
            </a:r>
            <a:r>
              <a:rPr lang="en-US" altLang="zh-CN" sz="2600" dirty="0"/>
              <a:t>4</a:t>
            </a:r>
            <a:r>
              <a:rPr lang="zh-CN" altLang="en-US" sz="2600" dirty="0"/>
              <a:t>。但是根据</a:t>
            </a:r>
            <a:r>
              <a:rPr lang="en-US" altLang="zh-CN" sz="2600" i="1" dirty="0"/>
              <a:t>Q</a:t>
            </a:r>
            <a:r>
              <a:rPr lang="zh-CN" altLang="en-US" sz="2600" dirty="0"/>
              <a:t>表，选择</a:t>
            </a:r>
            <a:r>
              <a:rPr lang="en-US" altLang="zh-CN" sz="2600" dirty="0"/>
              <a:t>1</a:t>
            </a:r>
            <a:r>
              <a:rPr lang="zh-CN" altLang="en-US" sz="2600" dirty="0"/>
              <a:t>可得到最大的价值，所以选择动作</a:t>
            </a:r>
            <a:r>
              <a:rPr lang="en-US" altLang="zh-CN" sz="2600" dirty="0"/>
              <a:t>3-1</a:t>
            </a:r>
            <a:r>
              <a:rPr lang="zh-CN" altLang="en-US" sz="2600" dirty="0"/>
              <a:t>，随后在状态</a:t>
            </a:r>
            <a:r>
              <a:rPr lang="en-US" altLang="zh-CN" sz="2600" dirty="0"/>
              <a:t>1</a:t>
            </a:r>
            <a:r>
              <a:rPr lang="zh-CN" altLang="en-US" sz="2600" dirty="0"/>
              <a:t>，按价值最大的原则选择动作</a:t>
            </a:r>
            <a:r>
              <a:rPr lang="en-US" altLang="zh-CN" sz="2600" dirty="0"/>
              <a:t>1-5</a:t>
            </a:r>
            <a:r>
              <a:rPr lang="zh-CN" altLang="en-US" sz="2600" dirty="0"/>
              <a:t>，于是路径为</a:t>
            </a:r>
            <a:r>
              <a:rPr lang="en-US" altLang="zh-CN" sz="2600" dirty="0"/>
              <a:t>2-3-1-5</a:t>
            </a:r>
            <a:r>
              <a:rPr lang="zh-CN" altLang="en-US" sz="2600" dirty="0"/>
              <a:t>。</a:t>
            </a:r>
            <a:endParaRPr lang="en-US" altLang="zh-CN" sz="2600" b="0" dirty="0"/>
          </a:p>
        </p:txBody>
      </p:sp>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473544" y="1016506"/>
            <a:ext cx="7416843" cy="592213"/>
          </a:xfrm>
          <a:prstGeom prst="rect">
            <a:avLst/>
          </a:prstGeom>
        </p:spPr>
        <p:txBody>
          <a:bodyPr wrap="square">
            <a:spAutoFit/>
          </a:bodyPr>
          <a:lstStyle/>
          <a:p>
            <a:pPr marL="342900" indent="-342900">
              <a:lnSpc>
                <a:spcPct val="130000"/>
              </a:lnSpc>
              <a:buClr>
                <a:srgbClr val="C00000"/>
              </a:buClr>
              <a:buFont typeface="Wingdings" panose="05000000000000000000" pitchFamily="2" charset="2"/>
              <a:buChar char="Ø"/>
            </a:pPr>
            <a:r>
              <a:rPr lang="en-US" altLang="zh-CN" sz="2800" dirty="0">
                <a:solidFill>
                  <a:srgbClr val="C00000"/>
                </a:solidFill>
              </a:rPr>
              <a:t>Q-Learning</a:t>
            </a:r>
            <a:r>
              <a:rPr lang="zh-CN" altLang="en-US" sz="2800" dirty="0">
                <a:solidFill>
                  <a:srgbClr val="C00000"/>
                </a:solidFill>
              </a:rPr>
              <a:t>算法应用：机器人路径优化问题</a:t>
            </a:r>
            <a:endParaRPr lang="en-US" altLang="zh-CN" sz="2800" dirty="0">
              <a:solidFill>
                <a:srgbClr val="C00000"/>
              </a:solidFill>
            </a:endParaRPr>
          </a:p>
        </p:txBody>
      </p:sp>
      <p:pic>
        <p:nvPicPr>
          <p:cNvPr id="6" name="Picture 16"/>
          <p:cNvPicPr>
            <a:picLocks noChangeAspect="1" noChangeArrowheads="1"/>
          </p:cNvPicPr>
          <p:nvPr/>
        </p:nvPicPr>
        <p:blipFill rotWithShape="1">
          <a:blip r:embed="rId1">
            <a:extLst>
              <a:ext uri="{28A0092B-C50C-407E-A947-70E740481C1C}">
                <a14:useLocalDpi xmlns:a14="http://schemas.microsoft.com/office/drawing/2010/main" val="0"/>
              </a:ext>
            </a:extLst>
          </a:blip>
          <a:srcRect r="5469"/>
          <a:stretch>
            <a:fillRect/>
          </a:stretch>
        </p:blipFill>
        <p:spPr bwMode="auto">
          <a:xfrm>
            <a:off x="5501148" y="1844373"/>
            <a:ext cx="3205930" cy="189434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1148" y="3974371"/>
            <a:ext cx="3414876" cy="21995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par>
                          <p:cTn id="8" fill="hold">
                            <p:stCondLst>
                              <p:cond delay="1000"/>
                            </p:stCondLst>
                            <p:childTnLst>
                              <p:par>
                                <p:cTn id="9" presetID="10" presetClass="entr" presetSubtype="0" fill="hold" nodeType="afterEffect">
                                  <p:stCondLst>
                                    <p:cond delay="50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1000"/>
                                        <p:tgtEl>
                                          <p:spTgt spid="1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473544" y="1672806"/>
            <a:ext cx="7874043" cy="4513287"/>
          </a:xfrm>
          <a:prstGeom prst="rect">
            <a:avLst/>
          </a:prstGeom>
        </p:spPr>
        <p:txBody>
          <a:bodyPr wrap="square">
            <a:spAutoFit/>
          </a:bodyPr>
          <a:lstStyle/>
          <a:p>
            <a:pPr marL="457200" indent="-457200">
              <a:lnSpc>
                <a:spcPct val="130000"/>
              </a:lnSpc>
              <a:buClr>
                <a:srgbClr val="C00000"/>
              </a:buClr>
              <a:buFont typeface="Wingdings" panose="05000000000000000000" pitchFamily="2" charset="2"/>
              <a:buChar char="Ø"/>
            </a:pPr>
            <a:r>
              <a:rPr lang="zh-CN" altLang="en-US" sz="2800" dirty="0"/>
              <a:t>根据用户的兴趣爱好推荐产品、服务、信息等。个性化推荐可以帮助减缓信息爆炸带来的困扰，推荐用户最喜欢的新闻、电影、音乐等。</a:t>
            </a:r>
            <a:endParaRPr lang="en-US" altLang="zh-CN" sz="2800" dirty="0"/>
          </a:p>
          <a:p>
            <a:pPr marL="457200" indent="-457200">
              <a:lnSpc>
                <a:spcPct val="130000"/>
              </a:lnSpc>
              <a:buClr>
                <a:srgbClr val="C00000"/>
              </a:buClr>
              <a:buFont typeface="Wingdings" panose="05000000000000000000" pitchFamily="2" charset="2"/>
              <a:buChar char="Ø"/>
            </a:pPr>
            <a:r>
              <a:rPr lang="zh-CN" altLang="en-US" sz="2800" dirty="0">
                <a:solidFill>
                  <a:srgbClr val="FF0000"/>
                </a:solidFill>
              </a:rPr>
              <a:t>新闻推荐方法</a:t>
            </a:r>
            <a:endParaRPr lang="en-US" altLang="zh-CN" sz="2800" dirty="0">
              <a:solidFill>
                <a:srgbClr val="FF0000"/>
              </a:solidFill>
            </a:endParaRPr>
          </a:p>
          <a:p>
            <a:pPr>
              <a:lnSpc>
                <a:spcPct val="130000"/>
              </a:lnSpc>
              <a:buClr>
                <a:srgbClr val="C00000"/>
              </a:buClr>
            </a:pPr>
            <a:r>
              <a:rPr lang="en-US" altLang="zh-CN" sz="2800" dirty="0">
                <a:solidFill>
                  <a:srgbClr val="FF0000"/>
                </a:solidFill>
              </a:rPr>
              <a:t>     </a:t>
            </a:r>
            <a:r>
              <a:rPr lang="zh-CN" altLang="en-US" sz="2800" dirty="0"/>
              <a:t>要将强化学习应用</a:t>
            </a:r>
            <a:endParaRPr lang="en-US" altLang="zh-CN" sz="2800" dirty="0"/>
          </a:p>
          <a:p>
            <a:pPr>
              <a:lnSpc>
                <a:spcPct val="130000"/>
              </a:lnSpc>
              <a:buClr>
                <a:srgbClr val="C00000"/>
              </a:buClr>
            </a:pPr>
            <a:r>
              <a:rPr lang="zh-CN" altLang="en-US" sz="2800" dirty="0"/>
              <a:t>于推荐系统中，需要</a:t>
            </a:r>
            <a:endParaRPr lang="en-US" altLang="zh-CN" sz="2800" dirty="0"/>
          </a:p>
          <a:p>
            <a:pPr>
              <a:lnSpc>
                <a:spcPct val="130000"/>
              </a:lnSpc>
              <a:buClr>
                <a:srgbClr val="C00000"/>
              </a:buClr>
            </a:pPr>
            <a:r>
              <a:rPr lang="zh-CN" altLang="en-US" sz="2800" dirty="0"/>
              <a:t>定义</a:t>
            </a:r>
            <a:r>
              <a:rPr lang="zh-CN" altLang="en-US" sz="2800" dirty="0">
                <a:solidFill>
                  <a:srgbClr val="FF0000"/>
                </a:solidFill>
              </a:rPr>
              <a:t>环境、智能体、</a:t>
            </a:r>
            <a:endParaRPr lang="en-US" altLang="zh-CN" sz="2800" dirty="0">
              <a:solidFill>
                <a:srgbClr val="FF0000"/>
              </a:solidFill>
            </a:endParaRPr>
          </a:p>
          <a:p>
            <a:pPr>
              <a:lnSpc>
                <a:spcPct val="130000"/>
              </a:lnSpc>
              <a:buClr>
                <a:srgbClr val="C00000"/>
              </a:buClr>
            </a:pPr>
            <a:r>
              <a:rPr lang="zh-CN" altLang="en-US" sz="2800" dirty="0">
                <a:solidFill>
                  <a:srgbClr val="FF0000"/>
                </a:solidFill>
              </a:rPr>
              <a:t>状态、动作和奖赏</a:t>
            </a:r>
            <a:r>
              <a:rPr lang="zh-CN" altLang="en-US" sz="2800" dirty="0"/>
              <a:t>。</a:t>
            </a:r>
            <a:endParaRPr lang="en-US" altLang="zh-CN" sz="2800" dirty="0"/>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980220" y="3429000"/>
            <a:ext cx="4269659" cy="2983168"/>
          </a:xfrm>
          <a:prstGeom prst="rect">
            <a:avLst/>
          </a:prstGeom>
        </p:spPr>
      </p:pic>
      <p:sp>
        <p:nvSpPr>
          <p:cNvPr id="8" name="矩形 7"/>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75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fade">
                                      <p:cBhvr>
                                        <p:cTn id="17" dur="750"/>
                                        <p:tgtEl>
                                          <p:spTgt spid="1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fade">
                                      <p:cBhvr>
                                        <p:cTn id="22" dur="750"/>
                                        <p:tgtEl>
                                          <p:spTgt spid="10">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Effect transition="in" filter="fade">
                                      <p:cBhvr>
                                        <p:cTn id="25" dur="750"/>
                                        <p:tgtEl>
                                          <p:spTgt spid="10">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xEl>
                                              <p:pRg st="4" end="4"/>
                                            </p:txEl>
                                          </p:spTgt>
                                        </p:tgtEl>
                                        <p:attrNameLst>
                                          <p:attrName>style.visibility</p:attrName>
                                        </p:attrNameLst>
                                      </p:cBhvr>
                                      <p:to>
                                        <p:strVal val="visible"/>
                                      </p:to>
                                    </p:set>
                                    <p:animEffect transition="in" filter="fade">
                                      <p:cBhvr>
                                        <p:cTn id="28" dur="750"/>
                                        <p:tgtEl>
                                          <p:spTgt spid="10">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animEffect transition="in" filter="fade">
                                      <p:cBhvr>
                                        <p:cTn id="31" dur="750"/>
                                        <p:tgtEl>
                                          <p:spTgt spid="10">
                                            <p:txEl>
                                              <p:pRg st="5" end="5"/>
                                            </p:txEl>
                                          </p:spTgt>
                                        </p:tgtEl>
                                      </p:cBhvr>
                                    </p:animEffect>
                                  </p:childTnLst>
                                </p:cTn>
                              </p:par>
                            </p:childTnLst>
                          </p:cTn>
                        </p:par>
                        <p:par>
                          <p:cTn id="32" fill="hold">
                            <p:stCondLst>
                              <p:cond delay="1000"/>
                            </p:stCondLst>
                            <p:childTnLst>
                              <p:par>
                                <p:cTn id="33" presetID="10" presetClass="entr" presetSubtype="0" fill="hold" nodeType="afterEffect">
                                  <p:stCondLst>
                                    <p:cond delay="50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428625" y="1688983"/>
            <a:ext cx="8286750" cy="4696414"/>
          </a:xfrm>
          <a:prstGeom prst="rect">
            <a:avLst/>
          </a:prstGeom>
        </p:spPr>
        <p:txBody>
          <a:bodyPr wrap="square">
            <a:spAutoFit/>
          </a:bodyPr>
          <a:lstStyle/>
          <a:p>
            <a:pPr marL="457200" indent="-457200" algn="just">
              <a:lnSpc>
                <a:spcPct val="120000"/>
              </a:lnSpc>
              <a:buClr>
                <a:srgbClr val="C00000"/>
              </a:buClr>
              <a:buFont typeface="Wingdings" panose="05000000000000000000" pitchFamily="2" charset="2"/>
              <a:buChar char="Ø"/>
            </a:pPr>
            <a:r>
              <a:rPr lang="zh-CN" altLang="en-US" sz="2800" dirty="0">
                <a:solidFill>
                  <a:srgbClr val="FF0000"/>
                </a:solidFill>
              </a:rPr>
              <a:t>新闻推荐方法</a:t>
            </a:r>
            <a:endParaRPr lang="en-US" altLang="zh-CN" sz="2800" dirty="0">
              <a:solidFill>
                <a:srgbClr val="FF0000"/>
              </a:solidFill>
            </a:endParaRPr>
          </a:p>
          <a:p>
            <a:pPr marL="538480" indent="-361950" algn="just">
              <a:lnSpc>
                <a:spcPct val="120000"/>
              </a:lnSpc>
              <a:buClr>
                <a:srgbClr val="C00000"/>
              </a:buClr>
              <a:buFont typeface="Arial" panose="020B0604020202020204" pitchFamily="34" charset="0"/>
              <a:buChar char="•"/>
            </a:pPr>
            <a:r>
              <a:rPr lang="zh-CN" altLang="en-US" sz="2800" dirty="0">
                <a:solidFill>
                  <a:srgbClr val="FF0000"/>
                </a:solidFill>
              </a:rPr>
              <a:t>环境：</a:t>
            </a:r>
            <a:r>
              <a:rPr lang="zh-CN" altLang="en-US" sz="2800" dirty="0"/>
              <a:t>用户和新闻；</a:t>
            </a:r>
            <a:endParaRPr lang="en-US" altLang="zh-CN" sz="2800" dirty="0"/>
          </a:p>
          <a:p>
            <a:pPr marL="538480" indent="-361950" algn="just">
              <a:lnSpc>
                <a:spcPct val="120000"/>
              </a:lnSpc>
              <a:buClr>
                <a:srgbClr val="C00000"/>
              </a:buClr>
              <a:buFont typeface="Arial" panose="020B0604020202020204" pitchFamily="34" charset="0"/>
              <a:buChar char="•"/>
            </a:pPr>
            <a:r>
              <a:rPr lang="zh-CN" altLang="en-US" sz="2800" dirty="0">
                <a:solidFill>
                  <a:srgbClr val="FF0000"/>
                </a:solidFill>
              </a:rPr>
              <a:t>推荐算法：</a:t>
            </a:r>
            <a:r>
              <a:rPr lang="zh-CN" altLang="en-US" sz="2800" dirty="0"/>
              <a:t>智能体；</a:t>
            </a:r>
            <a:endParaRPr lang="en-US" altLang="zh-CN" sz="2800" dirty="0"/>
          </a:p>
          <a:p>
            <a:pPr marL="538480" indent="-361950" algn="just">
              <a:lnSpc>
                <a:spcPct val="120000"/>
              </a:lnSpc>
              <a:buClr>
                <a:srgbClr val="C00000"/>
              </a:buClr>
              <a:buFont typeface="Arial" panose="020B0604020202020204" pitchFamily="34" charset="0"/>
              <a:buChar char="•"/>
            </a:pPr>
            <a:r>
              <a:rPr lang="zh-CN" altLang="en-US" sz="2800" dirty="0">
                <a:solidFill>
                  <a:srgbClr val="FF0000"/>
                </a:solidFill>
              </a:rPr>
              <a:t>状态：</a:t>
            </a:r>
            <a:r>
              <a:rPr lang="zh-CN" altLang="en-US" sz="2800" dirty="0"/>
              <a:t>由用户特征和上</a:t>
            </a:r>
            <a:endParaRPr lang="en-US" altLang="zh-CN" sz="2800" dirty="0"/>
          </a:p>
          <a:p>
            <a:pPr marL="176530" algn="just">
              <a:lnSpc>
                <a:spcPct val="120000"/>
              </a:lnSpc>
              <a:buClr>
                <a:srgbClr val="C00000"/>
              </a:buClr>
            </a:pPr>
            <a:r>
              <a:rPr lang="zh-CN" altLang="en-US" sz="2800" dirty="0"/>
              <a:t>下文特征定义；</a:t>
            </a:r>
            <a:endParaRPr lang="en-US" altLang="zh-CN" sz="2800" dirty="0"/>
          </a:p>
          <a:p>
            <a:pPr marL="538480" indent="-361950" algn="just">
              <a:lnSpc>
                <a:spcPct val="120000"/>
              </a:lnSpc>
              <a:buClr>
                <a:srgbClr val="C00000"/>
              </a:buClr>
              <a:buFont typeface="Arial" panose="020B0604020202020204" pitchFamily="34" charset="0"/>
              <a:buChar char="•"/>
            </a:pPr>
            <a:r>
              <a:rPr lang="zh-CN" altLang="en-US" sz="2800" dirty="0">
                <a:solidFill>
                  <a:srgbClr val="FF0000"/>
                </a:solidFill>
              </a:rPr>
              <a:t>动作：</a:t>
            </a:r>
            <a:r>
              <a:rPr lang="zh-CN" altLang="en-US" sz="2800" dirty="0"/>
              <a:t>由用户新闻特征</a:t>
            </a:r>
            <a:endParaRPr lang="en-US" altLang="zh-CN" sz="2800" dirty="0"/>
          </a:p>
          <a:p>
            <a:pPr marL="176530" algn="just">
              <a:lnSpc>
                <a:spcPct val="120000"/>
              </a:lnSpc>
              <a:buClr>
                <a:srgbClr val="C00000"/>
              </a:buClr>
            </a:pPr>
            <a:r>
              <a:rPr lang="zh-CN" altLang="en-US" sz="2800" dirty="0"/>
              <a:t>和上下文特征定义；</a:t>
            </a:r>
            <a:endParaRPr lang="en-US" altLang="zh-CN" sz="2800" dirty="0"/>
          </a:p>
          <a:p>
            <a:pPr marL="538480" indent="-361950" algn="just">
              <a:lnSpc>
                <a:spcPct val="120000"/>
              </a:lnSpc>
              <a:buClr>
                <a:srgbClr val="C00000"/>
              </a:buClr>
              <a:buFont typeface="Arial" panose="020B0604020202020204" pitchFamily="34" charset="0"/>
              <a:buChar char="•"/>
            </a:pPr>
            <a:r>
              <a:rPr lang="zh-CN" altLang="en-US" sz="2800" dirty="0">
                <a:solidFill>
                  <a:srgbClr val="FF0000"/>
                </a:solidFill>
              </a:rPr>
              <a:t>奖赏：</a:t>
            </a:r>
            <a:r>
              <a:rPr lang="zh-CN" altLang="en-US" sz="2800" dirty="0"/>
              <a:t>由隐式的点击</a:t>
            </a:r>
            <a:r>
              <a:rPr lang="en-US" altLang="zh-CN" sz="2800" dirty="0"/>
              <a:t>/</a:t>
            </a:r>
            <a:r>
              <a:rPr lang="zh-CN" altLang="en-US" sz="2800" dirty="0"/>
              <a:t>不点击、显式的评级以及</a:t>
            </a:r>
            <a:endParaRPr lang="en-US" altLang="zh-CN" sz="2800" dirty="0"/>
          </a:p>
          <a:p>
            <a:pPr marL="176530" algn="just">
              <a:lnSpc>
                <a:spcPct val="120000"/>
              </a:lnSpc>
              <a:buClr>
                <a:srgbClr val="C00000"/>
              </a:buClr>
            </a:pPr>
            <a:r>
              <a:rPr lang="zh-CN" altLang="en-US" sz="2800" dirty="0"/>
              <a:t>用户活跃度等因素定义。</a:t>
            </a:r>
            <a:endParaRPr lang="en-US" altLang="zh-CN" sz="2800" dirty="0"/>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686300" y="2051716"/>
            <a:ext cx="4269659" cy="2983168"/>
          </a:xfrm>
          <a:prstGeom prst="rect">
            <a:avLst/>
          </a:prstGeom>
        </p:spPr>
      </p:pic>
      <p:sp>
        <p:nvSpPr>
          <p:cNvPr id="7" name="矩形 6"/>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fade">
                                      <p:cBhvr>
                                        <p:cTn id="17" dur="500"/>
                                        <p:tgtEl>
                                          <p:spTgt spid="10">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fade">
                                      <p:cBhvr>
                                        <p:cTn id="20" dur="500"/>
                                        <p:tgtEl>
                                          <p:spTgt spid="10">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xEl>
                                              <p:pRg st="5" end="5"/>
                                            </p:txEl>
                                          </p:spTgt>
                                        </p:tgtEl>
                                        <p:attrNameLst>
                                          <p:attrName>style.visibility</p:attrName>
                                        </p:attrNameLst>
                                      </p:cBhvr>
                                      <p:to>
                                        <p:strVal val="visible"/>
                                      </p:to>
                                    </p:set>
                                    <p:animEffect transition="in" filter="fade">
                                      <p:cBhvr>
                                        <p:cTn id="25" dur="500"/>
                                        <p:tgtEl>
                                          <p:spTgt spid="10">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xEl>
                                              <p:pRg st="6" end="6"/>
                                            </p:txEl>
                                          </p:spTgt>
                                        </p:tgtEl>
                                        <p:attrNameLst>
                                          <p:attrName>style.visibility</p:attrName>
                                        </p:attrNameLst>
                                      </p:cBhvr>
                                      <p:to>
                                        <p:strVal val="visible"/>
                                      </p:to>
                                    </p:set>
                                    <p:animEffect transition="in" filter="fade">
                                      <p:cBhvr>
                                        <p:cTn id="28" dur="500"/>
                                        <p:tgtEl>
                                          <p:spTgt spid="10">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
                                            <p:txEl>
                                              <p:pRg st="7" end="7"/>
                                            </p:txEl>
                                          </p:spTgt>
                                        </p:tgtEl>
                                        <p:attrNameLst>
                                          <p:attrName>style.visibility</p:attrName>
                                        </p:attrNameLst>
                                      </p:cBhvr>
                                      <p:to>
                                        <p:strVal val="visible"/>
                                      </p:to>
                                    </p:set>
                                    <p:animEffect transition="in" filter="fade">
                                      <p:cBhvr>
                                        <p:cTn id="33" dur="500"/>
                                        <p:tgtEl>
                                          <p:spTgt spid="10">
                                            <p:txEl>
                                              <p:pRg st="7" end="7"/>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0">
                                            <p:txEl>
                                              <p:pRg st="8" end="8"/>
                                            </p:txEl>
                                          </p:spTgt>
                                        </p:tgtEl>
                                        <p:attrNameLst>
                                          <p:attrName>style.visibility</p:attrName>
                                        </p:attrNameLst>
                                      </p:cBhvr>
                                      <p:to>
                                        <p:strVal val="visible"/>
                                      </p:to>
                                    </p:set>
                                    <p:animEffect transition="in" filter="fade">
                                      <p:cBhvr>
                                        <p:cTn id="36"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428625" y="1616302"/>
            <a:ext cx="8286750" cy="4884671"/>
          </a:xfrm>
          <a:prstGeom prst="rect">
            <a:avLst/>
          </a:prstGeom>
        </p:spPr>
        <p:txBody>
          <a:bodyPr wrap="square">
            <a:spAutoFit/>
          </a:bodyPr>
          <a:lstStyle/>
          <a:p>
            <a:pPr marL="457200" indent="-457200" algn="just">
              <a:lnSpc>
                <a:spcPct val="120000"/>
              </a:lnSpc>
              <a:buClr>
                <a:srgbClr val="C00000"/>
              </a:buClr>
              <a:buFont typeface="Wingdings" panose="05000000000000000000" pitchFamily="2" charset="2"/>
              <a:buChar char="Ø"/>
            </a:pPr>
            <a:r>
              <a:rPr lang="zh-CN" altLang="en-US" sz="2800" dirty="0">
                <a:solidFill>
                  <a:srgbClr val="FF0000"/>
                </a:solidFill>
              </a:rPr>
              <a:t>新闻推荐方法</a:t>
            </a:r>
            <a:endParaRPr lang="en-US" altLang="zh-CN" sz="2800" dirty="0">
              <a:solidFill>
                <a:srgbClr val="FF0000"/>
              </a:solidFill>
            </a:endParaRPr>
          </a:p>
          <a:p>
            <a:pPr marL="627380" indent="-361950" algn="just">
              <a:lnSpc>
                <a:spcPct val="120000"/>
              </a:lnSpc>
              <a:buClr>
                <a:srgbClr val="C00000"/>
              </a:buClr>
              <a:buFont typeface="Arial" panose="020B0604020202020204" pitchFamily="34" charset="0"/>
              <a:buChar char="•"/>
            </a:pPr>
            <a:r>
              <a:rPr lang="zh-CN" altLang="en-US" sz="2600" dirty="0">
                <a:solidFill>
                  <a:srgbClr val="FF0000"/>
                </a:solidFill>
              </a:rPr>
              <a:t>推荐模型：</a:t>
            </a:r>
            <a:r>
              <a:rPr lang="zh-CN" altLang="en-US" sz="2600" dirty="0"/>
              <a:t>先以</a:t>
            </a:r>
            <a:r>
              <a:rPr lang="zh-CN" altLang="en-US" sz="2600" dirty="0">
                <a:solidFill>
                  <a:srgbClr val="FF0000"/>
                </a:solidFill>
              </a:rPr>
              <a:t>离线的方式</a:t>
            </a:r>
            <a:r>
              <a:rPr lang="zh-CN" altLang="en-US" sz="2600" dirty="0"/>
              <a:t>，从用户和新闻信息中用相应推荐算法和用户新闻点击记录数据进行训练。然后模型</a:t>
            </a:r>
            <a:r>
              <a:rPr lang="zh-CN" altLang="en-US" sz="2600" dirty="0">
                <a:solidFill>
                  <a:srgbClr val="FF0000"/>
                </a:solidFill>
              </a:rPr>
              <a:t>进入在线模式</a:t>
            </a:r>
            <a:r>
              <a:rPr lang="zh-CN" altLang="en-US" sz="2600" dirty="0"/>
              <a:t>。当智能体接收到一个新闻请求，依据用户和新闻的特征，推荐出最匹配的</a:t>
            </a:r>
            <a:r>
              <a:rPr lang="en-US" altLang="zh-CN" sz="2600" i="1" dirty="0"/>
              <a:t>K</a:t>
            </a:r>
            <a:r>
              <a:rPr lang="zh-CN" altLang="en-US" sz="2600" dirty="0"/>
              <a:t>个新闻，用户通过点击或者不点击进行反馈。智能体可以在每次推荐后更新决策网络；或在一段时间后，比如一个小时，当做出多个推荐之后再更新网络。模型迭代上述步骤不断改进决策，从而建立一个基于强化学习方法的新闻推荐系统。</a:t>
            </a:r>
            <a:endParaRPr lang="en-US" altLang="zh-CN" sz="2600" dirty="0"/>
          </a:p>
        </p:txBody>
      </p:sp>
      <p:sp>
        <p:nvSpPr>
          <p:cNvPr id="7" name="矩形 6"/>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3" name="AutoShape 4"/>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35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4517647"/>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对话系统</a:t>
            </a:r>
            <a:endParaRPr lang="en-US" altLang="zh-CN" sz="2800" dirty="0">
              <a:solidFill>
                <a:srgbClr val="FF0000"/>
              </a:solidFill>
            </a:endParaRPr>
          </a:p>
          <a:p>
            <a:pPr algn="just">
              <a:lnSpc>
                <a:spcPct val="130000"/>
              </a:lnSpc>
              <a:buClr>
                <a:srgbClr val="C00000"/>
              </a:buClr>
            </a:pPr>
            <a:r>
              <a:rPr lang="en-US" altLang="zh-CN" sz="2800" dirty="0">
                <a:solidFill>
                  <a:srgbClr val="FF0000"/>
                </a:solidFill>
              </a:rPr>
              <a:t>     </a:t>
            </a:r>
            <a:r>
              <a:rPr lang="zh-CN" altLang="en-US" sz="2800" dirty="0"/>
              <a:t>为了</a:t>
            </a:r>
            <a:r>
              <a:rPr lang="zh-CN" altLang="en-US" sz="2800" dirty="0">
                <a:solidFill>
                  <a:srgbClr val="FF0000"/>
                </a:solidFill>
              </a:rPr>
              <a:t>某种目的</a:t>
            </a:r>
            <a:r>
              <a:rPr lang="zh-CN" altLang="en-US" sz="2800" dirty="0"/>
              <a:t>设计的、用以与人类对话的机器。</a:t>
            </a:r>
            <a:endParaRPr lang="en-US" altLang="zh-CN" sz="2800" dirty="0"/>
          </a:p>
          <a:p>
            <a:pPr algn="just">
              <a:lnSpc>
                <a:spcPct val="130000"/>
              </a:lnSpc>
              <a:buClr>
                <a:srgbClr val="C00000"/>
              </a:buClr>
            </a:pPr>
            <a:endParaRPr lang="en-US" altLang="zh-CN" sz="2800" dirty="0">
              <a:solidFill>
                <a:srgbClr val="FF0000"/>
              </a:solidFill>
            </a:endParaRPr>
          </a:p>
          <a:p>
            <a:pPr marL="457200" indent="-457200" algn="just">
              <a:lnSpc>
                <a:spcPct val="130000"/>
              </a:lnSpc>
              <a:buClr>
                <a:srgbClr val="C00000"/>
              </a:buClr>
              <a:buFont typeface="Wingdings" panose="05000000000000000000" pitchFamily="2" charset="2"/>
              <a:buChar char="Ø"/>
            </a:pPr>
            <a:endParaRPr lang="en-US" altLang="zh-CN" sz="2800" dirty="0">
              <a:solidFill>
                <a:srgbClr val="FF0000"/>
              </a:solidFill>
            </a:endParaRPr>
          </a:p>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对话系统分类</a:t>
            </a:r>
            <a:endParaRPr lang="en-US" altLang="zh-CN" sz="2800" dirty="0">
              <a:solidFill>
                <a:srgbClr val="FF0000"/>
              </a:solidFill>
            </a:endParaRPr>
          </a:p>
          <a:p>
            <a:pPr marL="627380" indent="-361950" algn="just">
              <a:lnSpc>
                <a:spcPct val="130000"/>
              </a:lnSpc>
              <a:buClr>
                <a:srgbClr val="C00000"/>
              </a:buClr>
              <a:buFont typeface="Arial" panose="020B0604020202020204" pitchFamily="34" charset="0"/>
              <a:buChar char="•"/>
            </a:pPr>
            <a:r>
              <a:rPr lang="zh-CN" altLang="en-US" sz="2800" dirty="0">
                <a:solidFill>
                  <a:srgbClr val="FF0000"/>
                </a:solidFill>
              </a:rPr>
              <a:t>任务型对话系统：</a:t>
            </a:r>
            <a:r>
              <a:rPr lang="zh-CN" altLang="en-US" sz="2800" dirty="0"/>
              <a:t>订票、订餐系统等；</a:t>
            </a:r>
            <a:endParaRPr lang="en-US" altLang="zh-CN" sz="2800" dirty="0"/>
          </a:p>
          <a:p>
            <a:pPr marL="627380" indent="-361950" algn="just">
              <a:lnSpc>
                <a:spcPct val="130000"/>
              </a:lnSpc>
              <a:buClr>
                <a:srgbClr val="C00000"/>
              </a:buClr>
              <a:buFont typeface="Arial" panose="020B0604020202020204" pitchFamily="34" charset="0"/>
              <a:buChar char="•"/>
            </a:pPr>
            <a:r>
              <a:rPr lang="zh-CN" altLang="en-US" sz="2800" dirty="0">
                <a:solidFill>
                  <a:srgbClr val="FF0000"/>
                </a:solidFill>
              </a:rPr>
              <a:t>非任务型对话系统：</a:t>
            </a:r>
            <a:r>
              <a:rPr lang="zh-CN" altLang="en-US" sz="2800" dirty="0"/>
              <a:t>微软“小冰”、苹果</a:t>
            </a:r>
            <a:r>
              <a:rPr lang="en-US" altLang="zh-CN" sz="2800" dirty="0"/>
              <a:t>Siri</a:t>
            </a:r>
            <a:r>
              <a:rPr lang="zh-CN" altLang="en-US" sz="2800" dirty="0"/>
              <a:t>、小米“小爱同学”等。</a:t>
            </a:r>
            <a:endParaRPr lang="en-US" altLang="zh-CN" sz="2800" dirty="0"/>
          </a:p>
        </p:txBody>
      </p:sp>
      <p:sp>
        <p:nvSpPr>
          <p:cNvPr id="2" name="标注: 线形 1"/>
          <p:cNvSpPr/>
          <p:nvPr/>
        </p:nvSpPr>
        <p:spPr>
          <a:xfrm>
            <a:off x="1337742" y="3048811"/>
            <a:ext cx="7278329" cy="575737"/>
          </a:xfrm>
          <a:prstGeom prst="borderCallout1">
            <a:avLst>
              <a:gd name="adj1" fmla="val 18750"/>
              <a:gd name="adj2" fmla="val -8333"/>
              <a:gd name="adj3" fmla="val -47279"/>
              <a:gd name="adj4" fmla="val 12552"/>
            </a:avLst>
          </a:prstGeom>
          <a:solidFill>
            <a:srgbClr val="FFE1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400" dirty="0"/>
              <a:t>可以是为了完成特定任务，也可以是纯粹地与人聊天</a:t>
            </a:r>
            <a:endParaRPr lang="zh-CN" altLang="en-US" sz="2400" dirty="0"/>
          </a:p>
        </p:txBody>
      </p:sp>
      <p:sp>
        <p:nvSpPr>
          <p:cNvPr id="5" name="箭头: 右弧形 4"/>
          <p:cNvSpPr/>
          <p:nvPr/>
        </p:nvSpPr>
        <p:spPr>
          <a:xfrm rot="2082902">
            <a:off x="3578927" y="3710645"/>
            <a:ext cx="830243" cy="1010264"/>
          </a:xfrm>
          <a:prstGeom prst="curvedLeftArrow">
            <a:avLst>
              <a:gd name="adj1" fmla="val 25000"/>
              <a:gd name="adj2" fmla="val 48222"/>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75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par>
                          <p:cTn id="23" fill="hold">
                            <p:stCondLst>
                              <p:cond delay="500"/>
                            </p:stCondLst>
                            <p:childTnLst>
                              <p:par>
                                <p:cTn id="24" presetID="10" presetClass="entr" presetSubtype="0" fill="hold" nodeType="afterEffect">
                                  <p:stCondLst>
                                    <p:cond delay="500"/>
                                  </p:stCondLst>
                                  <p:childTnLst>
                                    <p:set>
                                      <p:cBhvr>
                                        <p:cTn id="25" dur="1" fill="hold">
                                          <p:stCondLst>
                                            <p:cond delay="0"/>
                                          </p:stCondLst>
                                        </p:cTn>
                                        <p:tgtEl>
                                          <p:spTgt spid="10">
                                            <p:txEl>
                                              <p:pRg st="4" end="4"/>
                                            </p:txEl>
                                          </p:spTgt>
                                        </p:tgtEl>
                                        <p:attrNameLst>
                                          <p:attrName>style.visibility</p:attrName>
                                        </p:attrNameLst>
                                      </p:cBhvr>
                                      <p:to>
                                        <p:strVal val="visible"/>
                                      </p:to>
                                    </p:set>
                                    <p:animEffect transition="in" filter="fade">
                                      <p:cBhvr>
                                        <p:cTn id="26" dur="500"/>
                                        <p:tgtEl>
                                          <p:spTgt spid="10">
                                            <p:txEl>
                                              <p:pRg st="4" end="4"/>
                                            </p:txEl>
                                          </p:spTgt>
                                        </p:tgtEl>
                                      </p:cBhvr>
                                    </p:animEffect>
                                  </p:childTnLst>
                                </p:cTn>
                              </p:par>
                            </p:childTnLst>
                          </p:cTn>
                        </p:par>
                        <p:par>
                          <p:cTn id="27" fill="hold">
                            <p:stCondLst>
                              <p:cond delay="1500"/>
                            </p:stCondLst>
                            <p:childTnLst>
                              <p:par>
                                <p:cTn id="28" presetID="10" presetClass="entr" presetSubtype="0" fill="hold" nodeType="afterEffect">
                                  <p:stCondLst>
                                    <p:cond delay="500"/>
                                  </p:stCondLst>
                                  <p:childTnLst>
                                    <p:set>
                                      <p:cBhvr>
                                        <p:cTn id="29" dur="1" fill="hold">
                                          <p:stCondLst>
                                            <p:cond delay="0"/>
                                          </p:stCondLst>
                                        </p:cTn>
                                        <p:tgtEl>
                                          <p:spTgt spid="10">
                                            <p:txEl>
                                              <p:pRg st="5" end="5"/>
                                            </p:txEl>
                                          </p:spTgt>
                                        </p:tgtEl>
                                        <p:attrNameLst>
                                          <p:attrName>style.visibility</p:attrName>
                                        </p:attrNameLst>
                                      </p:cBhvr>
                                      <p:to>
                                        <p:strVal val="visible"/>
                                      </p:to>
                                    </p:set>
                                    <p:animEffect transition="in" filter="fade">
                                      <p:cBhvr>
                                        <p:cTn id="30" dur="1000"/>
                                        <p:tgtEl>
                                          <p:spTgt spid="10">
                                            <p:txEl>
                                              <p:pRg st="5" end="5"/>
                                            </p:txEl>
                                          </p:spTgt>
                                        </p:tgtEl>
                                      </p:cBhvr>
                                    </p:animEffect>
                                  </p:childTnLst>
                                </p:cTn>
                              </p:par>
                            </p:childTnLst>
                          </p:cTn>
                        </p:par>
                        <p:par>
                          <p:cTn id="31" fill="hold">
                            <p:stCondLst>
                              <p:cond delay="3000"/>
                            </p:stCondLst>
                            <p:childTnLst>
                              <p:par>
                                <p:cTn id="32" presetID="10" presetClass="entr" presetSubtype="0" fill="hold" nodeType="afterEffect">
                                  <p:stCondLst>
                                    <p:cond delay="500"/>
                                  </p:stCondLst>
                                  <p:childTnLst>
                                    <p:set>
                                      <p:cBhvr>
                                        <p:cTn id="33" dur="1" fill="hold">
                                          <p:stCondLst>
                                            <p:cond delay="0"/>
                                          </p:stCondLst>
                                        </p:cTn>
                                        <p:tgtEl>
                                          <p:spTgt spid="10">
                                            <p:txEl>
                                              <p:pRg st="6" end="6"/>
                                            </p:txEl>
                                          </p:spTgt>
                                        </p:tgtEl>
                                        <p:attrNameLst>
                                          <p:attrName>style.visibility</p:attrName>
                                        </p:attrNameLst>
                                      </p:cBhvr>
                                      <p:to>
                                        <p:strVal val="visible"/>
                                      </p:to>
                                    </p:set>
                                    <p:animEffect transition="in" filter="fade">
                                      <p:cBhvr>
                                        <p:cTn id="34" dur="10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592213"/>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订餐对话系统</a:t>
            </a:r>
            <a:endParaRPr lang="en-US" altLang="zh-CN" sz="2800" dirty="0">
              <a:solidFill>
                <a:srgbClr val="FF0000"/>
              </a:solidFill>
            </a:endParaRPr>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447946" y="2424367"/>
            <a:ext cx="5948370" cy="3402106"/>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par>
                          <p:cTn id="8" fill="hold">
                            <p:stCondLst>
                              <p:cond delay="1000"/>
                            </p:stCondLst>
                            <p:childTnLst>
                              <p:par>
                                <p:cTn id="9" presetID="42" presetClass="entr" presetSubtype="0" fill="hold"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3397340"/>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订餐对话系统</a:t>
            </a:r>
            <a:endParaRPr lang="en-US" altLang="zh-CN" sz="2800" dirty="0">
              <a:solidFill>
                <a:srgbClr val="FF0000"/>
              </a:solidFill>
            </a:endParaRPr>
          </a:p>
          <a:p>
            <a:pPr marL="538480" indent="-361950" algn="just">
              <a:lnSpc>
                <a:spcPct val="130000"/>
              </a:lnSpc>
              <a:buClr>
                <a:srgbClr val="C00000"/>
              </a:buClr>
              <a:buFont typeface="Arial" panose="020B0604020202020204" pitchFamily="34" charset="0"/>
              <a:buChar char="•"/>
            </a:pPr>
            <a:r>
              <a:rPr lang="zh-CN" altLang="en-US" sz="2800" dirty="0">
                <a:solidFill>
                  <a:srgbClr val="FF0000"/>
                </a:solidFill>
              </a:rPr>
              <a:t>语言理解（</a:t>
            </a:r>
            <a:r>
              <a:rPr lang="en-US" altLang="zh-CN" sz="2800" dirty="0">
                <a:solidFill>
                  <a:srgbClr val="FF0000"/>
                </a:solidFill>
              </a:rPr>
              <a:t>SLU</a:t>
            </a:r>
            <a:r>
              <a:rPr lang="zh-CN" altLang="en-US" sz="2800" dirty="0">
                <a:solidFill>
                  <a:srgbClr val="FF0000"/>
                </a:solidFill>
              </a:rPr>
              <a:t>）：</a:t>
            </a:r>
            <a:r>
              <a:rPr lang="zh-CN" altLang="en-US" sz="2800" dirty="0"/>
              <a:t>把用户用自然语言表述的文本处理成预先设计好的、机器能够理解的形式，通常为</a:t>
            </a:r>
            <a:r>
              <a:rPr lang="zh-CN" altLang="en-US" sz="2800" dirty="0">
                <a:solidFill>
                  <a:srgbClr val="FF0000"/>
                </a:solidFill>
              </a:rPr>
              <a:t>意图和槽值对</a:t>
            </a:r>
            <a:r>
              <a:rPr lang="zh-CN" altLang="en-US" sz="2800" dirty="0"/>
              <a:t>。</a:t>
            </a:r>
            <a:endParaRPr lang="en-US" altLang="zh-CN" sz="2800" dirty="0"/>
          </a:p>
          <a:p>
            <a:pPr marL="176530" algn="just">
              <a:lnSpc>
                <a:spcPct val="130000"/>
              </a:lnSpc>
              <a:buClr>
                <a:srgbClr val="C00000"/>
              </a:buClr>
            </a:pPr>
            <a:r>
              <a:rPr lang="en-US" altLang="zh-CN" sz="2800" dirty="0"/>
              <a:t>    </a:t>
            </a:r>
            <a:r>
              <a:rPr lang="zh-CN" altLang="en-US" sz="2800" dirty="0"/>
              <a:t>如用户输入“我想订一个明天的位子”，则</a:t>
            </a:r>
            <a:r>
              <a:rPr lang="en-US" altLang="zh-CN" sz="2800" dirty="0"/>
              <a:t>SLU</a:t>
            </a:r>
            <a:r>
              <a:rPr lang="zh-CN" altLang="en-US" sz="2800" dirty="0"/>
              <a:t>的输出应该是“</a:t>
            </a:r>
            <a:r>
              <a:rPr lang="en-US" altLang="zh-CN" sz="2800" dirty="0"/>
              <a:t>intent=</a:t>
            </a:r>
            <a:r>
              <a:rPr lang="zh-CN" altLang="en-US" sz="2800" dirty="0"/>
              <a:t>订餐，</a:t>
            </a:r>
            <a:r>
              <a:rPr lang="en-US" altLang="zh-CN" sz="2800" dirty="0"/>
              <a:t>slot=date: </a:t>
            </a:r>
            <a:r>
              <a:rPr lang="zh-CN" altLang="en-US" sz="2800" dirty="0"/>
              <a:t>明天”。</a:t>
            </a:r>
            <a:endParaRPr lang="en-US" altLang="zh-CN" sz="28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2832827"/>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订餐对话系统</a:t>
            </a:r>
            <a:endParaRPr lang="en-US" altLang="zh-CN" sz="2800" dirty="0">
              <a:solidFill>
                <a:srgbClr val="FF0000"/>
              </a:solidFill>
            </a:endParaRPr>
          </a:p>
          <a:p>
            <a:pPr marL="538480" indent="-361950" algn="just">
              <a:lnSpc>
                <a:spcPct val="130000"/>
              </a:lnSpc>
              <a:buClr>
                <a:srgbClr val="C00000"/>
              </a:buClr>
              <a:buFont typeface="Arial" panose="020B0604020202020204" pitchFamily="34" charset="0"/>
              <a:buChar char="•"/>
            </a:pPr>
            <a:r>
              <a:rPr lang="zh-CN" altLang="en-US" sz="2800" dirty="0">
                <a:solidFill>
                  <a:srgbClr val="FF0000"/>
                </a:solidFill>
              </a:rPr>
              <a:t>对话状态跟踪（</a:t>
            </a:r>
            <a:r>
              <a:rPr lang="en-US" altLang="zh-CN" sz="2800" dirty="0">
                <a:solidFill>
                  <a:srgbClr val="FF0000"/>
                </a:solidFill>
              </a:rPr>
              <a:t>DST</a:t>
            </a:r>
            <a:r>
              <a:rPr lang="zh-CN" altLang="en-US" sz="2800" dirty="0">
                <a:solidFill>
                  <a:srgbClr val="FF0000"/>
                </a:solidFill>
              </a:rPr>
              <a:t>）：</a:t>
            </a:r>
            <a:r>
              <a:rPr lang="zh-CN" altLang="en-US" sz="2800" dirty="0"/>
              <a:t>根据对话历史管理每一轮对话的输入，并且预测当前对话的状态。</a:t>
            </a:r>
            <a:endParaRPr lang="en-US" altLang="zh-CN" sz="2800" dirty="0"/>
          </a:p>
          <a:p>
            <a:pPr marL="176530" algn="just">
              <a:lnSpc>
                <a:spcPct val="130000"/>
              </a:lnSpc>
              <a:buClr>
                <a:srgbClr val="C00000"/>
              </a:buClr>
            </a:pPr>
            <a:r>
              <a:rPr lang="en-US" altLang="zh-CN" sz="2800" dirty="0"/>
              <a:t>    </a:t>
            </a:r>
            <a:r>
              <a:rPr lang="zh-CN" altLang="en-US" sz="2800" dirty="0"/>
              <a:t>比如使用规则的方法判断有哪些槽已经填充、哪些未填充，哪些已经问过用户、问过多少次等。</a:t>
            </a:r>
            <a:endParaRPr lang="en-US" altLang="zh-CN" sz="28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3953133"/>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订餐对话系统</a:t>
            </a:r>
            <a:endParaRPr lang="en-US" altLang="zh-CN" sz="2800" dirty="0">
              <a:solidFill>
                <a:srgbClr val="FF0000"/>
              </a:solidFill>
            </a:endParaRPr>
          </a:p>
          <a:p>
            <a:pPr marL="538480" indent="-361950" algn="just">
              <a:lnSpc>
                <a:spcPct val="130000"/>
              </a:lnSpc>
              <a:buClr>
                <a:srgbClr val="C00000"/>
              </a:buClr>
              <a:buFont typeface="Arial" panose="020B0604020202020204" pitchFamily="34" charset="0"/>
              <a:buChar char="•"/>
            </a:pPr>
            <a:r>
              <a:rPr lang="zh-CN" altLang="en-US" sz="2800" dirty="0">
                <a:solidFill>
                  <a:srgbClr val="FF0000"/>
                </a:solidFill>
              </a:rPr>
              <a:t>对话策略学习（</a:t>
            </a:r>
            <a:r>
              <a:rPr lang="en-US" altLang="zh-CN" sz="2800" dirty="0">
                <a:solidFill>
                  <a:srgbClr val="FF0000"/>
                </a:solidFill>
              </a:rPr>
              <a:t>DPL</a:t>
            </a:r>
            <a:r>
              <a:rPr lang="zh-CN" altLang="en-US" sz="2800" dirty="0">
                <a:solidFill>
                  <a:srgbClr val="FF0000"/>
                </a:solidFill>
              </a:rPr>
              <a:t>）：</a:t>
            </a:r>
            <a:r>
              <a:rPr lang="zh-CN" altLang="en-US" sz="2800" dirty="0"/>
              <a:t>根据当前对话状态做出下一步的反应。</a:t>
            </a:r>
            <a:endParaRPr lang="en-US" altLang="zh-CN" sz="2800" dirty="0"/>
          </a:p>
          <a:p>
            <a:pPr marL="176530" algn="just">
              <a:lnSpc>
                <a:spcPct val="130000"/>
              </a:lnSpc>
              <a:buClr>
                <a:srgbClr val="C00000"/>
              </a:buClr>
            </a:pPr>
            <a:r>
              <a:rPr lang="en-US" altLang="zh-CN" sz="2800" dirty="0"/>
              <a:t>    </a:t>
            </a:r>
            <a:r>
              <a:rPr lang="zh-CN" altLang="en-US" sz="2800" dirty="0"/>
              <a:t>比如根据</a:t>
            </a:r>
            <a:r>
              <a:rPr lang="en-US" altLang="zh-CN" sz="2800" dirty="0"/>
              <a:t>DST</a:t>
            </a:r>
            <a:r>
              <a:rPr lang="zh-CN" altLang="en-US" sz="2800" dirty="0"/>
              <a:t>知道有哪些槽未填充，用规则的方法选取一个优先级最高的槽对用户提问。</a:t>
            </a:r>
            <a:endParaRPr lang="en-US" altLang="zh-CN" sz="2800" dirty="0"/>
          </a:p>
          <a:p>
            <a:pPr marL="176530" algn="just">
              <a:lnSpc>
                <a:spcPct val="130000"/>
              </a:lnSpc>
              <a:buClr>
                <a:srgbClr val="C00000"/>
              </a:buClr>
            </a:pPr>
            <a:r>
              <a:rPr lang="en-US" altLang="zh-CN" sz="2800" dirty="0"/>
              <a:t>    DPL</a:t>
            </a:r>
            <a:r>
              <a:rPr lang="zh-CN" altLang="en-US" sz="2800" dirty="0"/>
              <a:t>的任务是一个</a:t>
            </a:r>
            <a:r>
              <a:rPr lang="zh-CN" altLang="en-US" sz="2800" dirty="0">
                <a:solidFill>
                  <a:srgbClr val="FF0000"/>
                </a:solidFill>
              </a:rPr>
              <a:t>序列决策</a:t>
            </a:r>
            <a:r>
              <a:rPr lang="zh-CN" altLang="en-US" sz="2800" dirty="0"/>
              <a:t>的过程，常用的方法有</a:t>
            </a:r>
            <a:r>
              <a:rPr lang="zh-CN" altLang="en-US" sz="2800" dirty="0">
                <a:solidFill>
                  <a:srgbClr val="FF0000"/>
                </a:solidFill>
              </a:rPr>
              <a:t>规则方法</a:t>
            </a:r>
            <a:r>
              <a:rPr lang="zh-CN" altLang="en-US" sz="2800" dirty="0"/>
              <a:t>、</a:t>
            </a:r>
            <a:r>
              <a:rPr lang="zh-CN" altLang="en-US" sz="2800" dirty="0">
                <a:solidFill>
                  <a:srgbClr val="FF0000"/>
                </a:solidFill>
              </a:rPr>
              <a:t>条件随机场</a:t>
            </a:r>
            <a:r>
              <a:rPr lang="zh-CN" altLang="en-US" sz="2800" dirty="0"/>
              <a:t>，以及</a:t>
            </a:r>
            <a:r>
              <a:rPr lang="zh-CN" altLang="en-US" sz="2800" dirty="0">
                <a:solidFill>
                  <a:srgbClr val="FF0000"/>
                </a:solidFill>
              </a:rPr>
              <a:t>强化学习方法</a:t>
            </a:r>
            <a:r>
              <a:rPr lang="zh-CN" altLang="en-US" sz="2800" dirty="0"/>
              <a:t>。</a:t>
            </a:r>
            <a:endParaRPr lang="en-US" altLang="zh-CN" sz="28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fade">
                                      <p:cBhvr>
                                        <p:cTn id="17"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3953133"/>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订餐对话系统</a:t>
            </a:r>
            <a:endParaRPr lang="en-US" altLang="zh-CN" sz="2800" dirty="0">
              <a:solidFill>
                <a:srgbClr val="FF0000"/>
              </a:solidFill>
            </a:endParaRPr>
          </a:p>
          <a:p>
            <a:pPr marL="538480" indent="-361950" algn="just">
              <a:lnSpc>
                <a:spcPct val="130000"/>
              </a:lnSpc>
              <a:buClr>
                <a:srgbClr val="C00000"/>
              </a:buClr>
              <a:buFont typeface="Arial" panose="020B0604020202020204" pitchFamily="34" charset="0"/>
              <a:buChar char="•"/>
            </a:pPr>
            <a:r>
              <a:rPr lang="zh-CN" altLang="en-US" sz="2800" dirty="0">
                <a:solidFill>
                  <a:srgbClr val="FF0000"/>
                </a:solidFill>
              </a:rPr>
              <a:t>自然语言生成（</a:t>
            </a:r>
            <a:r>
              <a:rPr lang="en-US" altLang="zh-CN" sz="2800" dirty="0">
                <a:solidFill>
                  <a:srgbClr val="FF0000"/>
                </a:solidFill>
              </a:rPr>
              <a:t>NLG</a:t>
            </a:r>
            <a:r>
              <a:rPr lang="zh-CN" altLang="en-US" sz="2800" dirty="0">
                <a:solidFill>
                  <a:srgbClr val="FF0000"/>
                </a:solidFill>
              </a:rPr>
              <a:t>）：</a:t>
            </a:r>
            <a:r>
              <a:rPr lang="zh-CN" altLang="en-US" sz="2800" dirty="0"/>
              <a:t>根据系统的到的动作生成用户易理解的自然语言文本。</a:t>
            </a:r>
            <a:endParaRPr lang="en-US" altLang="zh-CN" sz="2800" dirty="0"/>
          </a:p>
          <a:p>
            <a:pPr marL="176530" algn="just">
              <a:lnSpc>
                <a:spcPct val="130000"/>
              </a:lnSpc>
              <a:buClr>
                <a:srgbClr val="C00000"/>
              </a:buClr>
            </a:pPr>
            <a:r>
              <a:rPr lang="en-US" altLang="zh-CN" sz="2800" dirty="0"/>
              <a:t>    </a:t>
            </a:r>
            <a:r>
              <a:rPr lang="zh-CN" altLang="en-US" sz="2800" dirty="0"/>
              <a:t>比如</a:t>
            </a:r>
            <a:r>
              <a:rPr lang="en-US" altLang="zh-CN" sz="2800" dirty="0"/>
              <a:t>DPL</a:t>
            </a:r>
            <a:r>
              <a:rPr lang="zh-CN" altLang="en-US" sz="2800" dirty="0"/>
              <a:t>的动作是问用户就餐人数，在系统里面可能表示为</a:t>
            </a:r>
            <a:r>
              <a:rPr lang="en-US" altLang="zh-CN" sz="2800" dirty="0"/>
              <a:t>request{“number”: “UNKNOWN”}</a:t>
            </a:r>
            <a:r>
              <a:rPr lang="zh-CN" altLang="en-US" sz="2800" dirty="0"/>
              <a:t>，</a:t>
            </a:r>
            <a:r>
              <a:rPr lang="en-US" altLang="zh-CN" sz="2800" dirty="0"/>
              <a:t>NLG</a:t>
            </a:r>
            <a:r>
              <a:rPr lang="zh-CN" altLang="en-US" sz="2800" dirty="0"/>
              <a:t>的作用就是把这个转换成“请问有几个人就餐？”。</a:t>
            </a:r>
            <a:endParaRPr lang="en-US" altLang="zh-CN" sz="28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4797724"/>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订餐对话系统</a:t>
            </a:r>
            <a:endParaRPr lang="en-US" altLang="zh-CN" sz="2800" dirty="0">
              <a:solidFill>
                <a:srgbClr val="FF0000"/>
              </a:solidFill>
            </a:endParaRPr>
          </a:p>
          <a:p>
            <a:pPr algn="just">
              <a:lnSpc>
                <a:spcPct val="130000"/>
              </a:lnSpc>
              <a:buClr>
                <a:srgbClr val="C00000"/>
              </a:buClr>
            </a:pPr>
            <a:r>
              <a:rPr lang="en-US" altLang="zh-CN" sz="2800" dirty="0"/>
              <a:t>     </a:t>
            </a:r>
            <a:r>
              <a:rPr lang="zh-CN" altLang="en-US" sz="2600" dirty="0"/>
              <a:t>将强化学习应用于任务型对话，主要是把强化学习应用于</a:t>
            </a:r>
            <a:r>
              <a:rPr lang="en-US" altLang="zh-CN" sz="2600" dirty="0"/>
              <a:t>DPL</a:t>
            </a:r>
            <a:r>
              <a:rPr lang="zh-CN" altLang="en-US" sz="2600" dirty="0"/>
              <a:t>，学习对话的动作决策，即强化学习中的动作对应于对话中的下一步动作。</a:t>
            </a:r>
            <a:endParaRPr lang="en-US" altLang="zh-CN" sz="2600" dirty="0"/>
          </a:p>
          <a:p>
            <a:pPr algn="just">
              <a:lnSpc>
                <a:spcPct val="130000"/>
              </a:lnSpc>
              <a:buClr>
                <a:srgbClr val="C00000"/>
              </a:buClr>
            </a:pPr>
            <a:r>
              <a:rPr lang="en-US" altLang="zh-CN" sz="2600" dirty="0"/>
              <a:t>     </a:t>
            </a:r>
            <a:r>
              <a:rPr lang="zh-CN" altLang="en-US" sz="2600" dirty="0"/>
              <a:t>比如是回答用户的某个问题还是问用户与下一个槽相关的问题等。</a:t>
            </a:r>
            <a:endParaRPr lang="en-US" altLang="zh-CN" sz="2600" dirty="0"/>
          </a:p>
          <a:p>
            <a:pPr algn="just">
              <a:lnSpc>
                <a:spcPct val="130000"/>
              </a:lnSpc>
              <a:buClr>
                <a:srgbClr val="C00000"/>
              </a:buClr>
            </a:pPr>
            <a:r>
              <a:rPr lang="en-US" altLang="zh-CN" sz="2600" dirty="0"/>
              <a:t>     </a:t>
            </a:r>
            <a:r>
              <a:rPr lang="zh-CN" altLang="en-US" sz="2600" dirty="0"/>
              <a:t>实际应用中将对话管理作为强化学习中的智能体</a:t>
            </a:r>
            <a:r>
              <a:rPr lang="en-US" altLang="zh-CN" sz="2600" dirty="0"/>
              <a:t>Agent</a:t>
            </a:r>
            <a:r>
              <a:rPr lang="zh-CN" altLang="en-US" sz="2600" dirty="0"/>
              <a:t>，反馈一些信息给用户。奖励</a:t>
            </a:r>
            <a:r>
              <a:rPr lang="en-US" altLang="zh-CN" sz="2600" dirty="0"/>
              <a:t>Reward</a:t>
            </a:r>
            <a:r>
              <a:rPr lang="zh-CN" altLang="en-US" sz="2600" dirty="0"/>
              <a:t>是根据对话的结果提供。</a:t>
            </a:r>
            <a:endParaRPr lang="en-US" altLang="zh-CN" sz="26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75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75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fade">
                                      <p:cBhvr>
                                        <p:cTn id="17" dur="75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4045531"/>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订餐对话系统</a:t>
            </a:r>
            <a:endParaRPr lang="en-US" altLang="zh-CN" sz="2800" dirty="0">
              <a:solidFill>
                <a:srgbClr val="FF0000"/>
              </a:solidFill>
            </a:endParaRPr>
          </a:p>
          <a:p>
            <a:pPr algn="just">
              <a:lnSpc>
                <a:spcPct val="130000"/>
              </a:lnSpc>
              <a:buClr>
                <a:srgbClr val="C00000"/>
              </a:buClr>
            </a:pPr>
            <a:r>
              <a:rPr lang="en-US" altLang="zh-CN" sz="2800" dirty="0"/>
              <a:t>     </a:t>
            </a:r>
            <a:r>
              <a:rPr lang="zh-CN" altLang="en-US" sz="2600" dirty="0"/>
              <a:t>使用强化学习的结果如下所示：</a:t>
            </a:r>
            <a:endParaRPr lang="en-US" altLang="zh-CN" sz="2600" dirty="0"/>
          </a:p>
          <a:p>
            <a:pPr algn="just">
              <a:lnSpc>
                <a:spcPct val="130000"/>
              </a:lnSpc>
              <a:buClr>
                <a:srgbClr val="C00000"/>
              </a:buClr>
            </a:pPr>
            <a:r>
              <a:rPr lang="en-US" altLang="zh-CN" sz="2400" dirty="0" err="1"/>
              <a:t>Usr</a:t>
            </a:r>
            <a:r>
              <a:rPr lang="en-US" altLang="zh-CN" sz="2400" dirty="0"/>
              <a:t>: action: inform </a:t>
            </a:r>
            <a:r>
              <a:rPr lang="en-US" altLang="zh-CN" sz="2400" dirty="0" err="1"/>
              <a:t>inform</a:t>
            </a:r>
            <a:r>
              <a:rPr lang="en-US" altLang="zh-CN" sz="2400" dirty="0"/>
              <a:t>: {‘location’: ‘</a:t>
            </a:r>
            <a:r>
              <a:rPr lang="zh-CN" altLang="en-US" sz="2400" dirty="0"/>
              <a:t>包间</a:t>
            </a:r>
            <a:r>
              <a:rPr lang="en-US" altLang="zh-CN" sz="2400" dirty="0"/>
              <a:t>’} request: {}”</a:t>
            </a:r>
            <a:endParaRPr lang="en-US" altLang="zh-CN" sz="2400" dirty="0"/>
          </a:p>
          <a:p>
            <a:pPr algn="just">
              <a:lnSpc>
                <a:spcPct val="130000"/>
              </a:lnSpc>
              <a:buClr>
                <a:srgbClr val="C00000"/>
              </a:buClr>
            </a:pPr>
            <a:r>
              <a:rPr lang="en-US" altLang="zh-CN" sz="2400" dirty="0"/>
              <a:t>Sys: action: </a:t>
            </a:r>
            <a:r>
              <a:rPr lang="en-US" altLang="zh-CN" sz="2400" dirty="0" err="1"/>
              <a:t>multiple_choice</a:t>
            </a:r>
            <a:r>
              <a:rPr lang="en-US" altLang="zh-CN" sz="2400" dirty="0"/>
              <a:t> inform: {‘num’: “10|3|4|5|6|9”} request: {}”</a:t>
            </a:r>
            <a:endParaRPr lang="en-US" altLang="zh-CN" sz="2400" dirty="0"/>
          </a:p>
          <a:p>
            <a:pPr algn="just">
              <a:lnSpc>
                <a:spcPct val="130000"/>
              </a:lnSpc>
              <a:buClr>
                <a:srgbClr val="C00000"/>
              </a:buClr>
            </a:pPr>
            <a:r>
              <a:rPr lang="en-US" altLang="zh-CN" sz="2400" dirty="0" err="1"/>
              <a:t>Usr</a:t>
            </a:r>
            <a:r>
              <a:rPr lang="en-US" altLang="zh-CN" sz="2400" dirty="0"/>
              <a:t>: action: inform </a:t>
            </a:r>
            <a:r>
              <a:rPr lang="en-US" altLang="zh-CN" sz="2400" dirty="0" err="1"/>
              <a:t>inform</a:t>
            </a:r>
            <a:r>
              <a:rPr lang="en-US" altLang="zh-CN" sz="2400" dirty="0"/>
              <a:t>: {‘num’: 5} request: {}”</a:t>
            </a:r>
            <a:endParaRPr lang="en-US" altLang="zh-CN" sz="2400" dirty="0"/>
          </a:p>
          <a:p>
            <a:pPr algn="just">
              <a:lnSpc>
                <a:spcPct val="130000"/>
              </a:lnSpc>
              <a:buClr>
                <a:srgbClr val="C00000"/>
              </a:buClr>
            </a:pPr>
            <a:r>
              <a:rPr lang="en-US" altLang="zh-CN" sz="2400" dirty="0"/>
              <a:t>Sys: action: request inform: {} request: {‘data’: ‘UNK’}”</a:t>
            </a:r>
            <a:endParaRPr lang="en-US" altLang="zh-CN" sz="2400" dirty="0"/>
          </a:p>
          <a:p>
            <a:pPr algn="just">
              <a:lnSpc>
                <a:spcPct val="130000"/>
              </a:lnSpc>
              <a:buClr>
                <a:srgbClr val="C00000"/>
              </a:buClr>
            </a:pPr>
            <a:r>
              <a:rPr lang="en-US" altLang="zh-CN" sz="2400" dirty="0" err="1"/>
              <a:t>Usr</a:t>
            </a:r>
            <a:r>
              <a:rPr lang="en-US" altLang="zh-CN" sz="2400" dirty="0"/>
              <a:t>: action: request inform: {} request: {‘data’: ‘UNK’}”</a:t>
            </a:r>
            <a:endParaRPr lang="en-US" altLang="zh-CN" sz="24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750"/>
                                        <p:tgtEl>
                                          <p:spTgt spid="10">
                                            <p:txEl>
                                              <p:pRg st="1" end="1"/>
                                            </p:txEl>
                                          </p:spTgt>
                                        </p:tgtEl>
                                      </p:cBhvr>
                                    </p:animEffect>
                                  </p:childTnLst>
                                </p:cTn>
                              </p:par>
                            </p:childTnLst>
                          </p:cTn>
                        </p:par>
                        <p:par>
                          <p:cTn id="8" fill="hold">
                            <p:stCondLst>
                              <p:cond delay="1250"/>
                            </p:stCondLst>
                            <p:childTnLst>
                              <p:par>
                                <p:cTn id="9" presetID="10" presetClass="entr" presetSubtype="0" fill="hold" nodeType="afterEffect">
                                  <p:stCondLst>
                                    <p:cond delay="250"/>
                                  </p:stCondLst>
                                  <p:childTnLst>
                                    <p:set>
                                      <p:cBhvr>
                                        <p:cTn id="10" dur="1" fill="hold">
                                          <p:stCondLst>
                                            <p:cond delay="0"/>
                                          </p:stCondLst>
                                        </p:cTn>
                                        <p:tgtEl>
                                          <p:spTgt spid="10">
                                            <p:txEl>
                                              <p:pRg st="2" end="2"/>
                                            </p:txEl>
                                          </p:spTgt>
                                        </p:tgtEl>
                                        <p:attrNameLst>
                                          <p:attrName>style.visibility</p:attrName>
                                        </p:attrNameLst>
                                      </p:cBhvr>
                                      <p:to>
                                        <p:strVal val="visible"/>
                                      </p:to>
                                    </p:set>
                                    <p:animEffect transition="in" filter="fade">
                                      <p:cBhvr>
                                        <p:cTn id="11" dur="750"/>
                                        <p:tgtEl>
                                          <p:spTgt spid="10">
                                            <p:txEl>
                                              <p:pRg st="2" end="2"/>
                                            </p:txEl>
                                          </p:spTgt>
                                        </p:tgtEl>
                                      </p:cBhvr>
                                    </p:animEffect>
                                  </p:childTnLst>
                                </p:cTn>
                              </p:par>
                            </p:childTnLst>
                          </p:cTn>
                        </p:par>
                        <p:par>
                          <p:cTn id="12" fill="hold">
                            <p:stCondLst>
                              <p:cond delay="2500"/>
                            </p:stCondLst>
                            <p:childTnLst>
                              <p:par>
                                <p:cTn id="13" presetID="10" presetClass="entr" presetSubtype="0" fill="hold" nodeType="afterEffect">
                                  <p:stCondLst>
                                    <p:cond delay="25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fade">
                                      <p:cBhvr>
                                        <p:cTn id="15" dur="750"/>
                                        <p:tgtEl>
                                          <p:spTgt spid="10">
                                            <p:txEl>
                                              <p:pRg st="3" end="3"/>
                                            </p:txEl>
                                          </p:spTgt>
                                        </p:tgtEl>
                                      </p:cBhvr>
                                    </p:animEffect>
                                  </p:childTnLst>
                                </p:cTn>
                              </p:par>
                            </p:childTnLst>
                          </p:cTn>
                        </p:par>
                        <p:par>
                          <p:cTn id="16" fill="hold">
                            <p:stCondLst>
                              <p:cond delay="3750"/>
                            </p:stCondLst>
                            <p:childTnLst>
                              <p:par>
                                <p:cTn id="17" presetID="10" presetClass="entr" presetSubtype="0" fill="hold" nodeType="afterEffect">
                                  <p:stCondLst>
                                    <p:cond delay="250"/>
                                  </p:stCondLst>
                                  <p:childTnLst>
                                    <p:set>
                                      <p:cBhvr>
                                        <p:cTn id="18" dur="1" fill="hold">
                                          <p:stCondLst>
                                            <p:cond delay="0"/>
                                          </p:stCondLst>
                                        </p:cTn>
                                        <p:tgtEl>
                                          <p:spTgt spid="10">
                                            <p:txEl>
                                              <p:pRg st="4" end="4"/>
                                            </p:txEl>
                                          </p:spTgt>
                                        </p:tgtEl>
                                        <p:attrNameLst>
                                          <p:attrName>style.visibility</p:attrName>
                                        </p:attrNameLst>
                                      </p:cBhvr>
                                      <p:to>
                                        <p:strVal val="visible"/>
                                      </p:to>
                                    </p:set>
                                    <p:animEffect transition="in" filter="fade">
                                      <p:cBhvr>
                                        <p:cTn id="19" dur="750"/>
                                        <p:tgtEl>
                                          <p:spTgt spid="10">
                                            <p:txEl>
                                              <p:pRg st="4" end="4"/>
                                            </p:txEl>
                                          </p:spTgt>
                                        </p:tgtEl>
                                      </p:cBhvr>
                                    </p:animEffect>
                                  </p:childTnLst>
                                </p:cTn>
                              </p:par>
                            </p:childTnLst>
                          </p:cTn>
                        </p:par>
                        <p:par>
                          <p:cTn id="20" fill="hold">
                            <p:stCondLst>
                              <p:cond delay="5000"/>
                            </p:stCondLst>
                            <p:childTnLst>
                              <p:par>
                                <p:cTn id="21" presetID="10" presetClass="entr" presetSubtype="0" fill="hold" nodeType="afterEffect">
                                  <p:stCondLst>
                                    <p:cond delay="250"/>
                                  </p:stCondLst>
                                  <p:childTnLst>
                                    <p:set>
                                      <p:cBhvr>
                                        <p:cTn id="22" dur="1" fill="hold">
                                          <p:stCondLst>
                                            <p:cond delay="0"/>
                                          </p:stCondLst>
                                        </p:cTn>
                                        <p:tgtEl>
                                          <p:spTgt spid="10">
                                            <p:txEl>
                                              <p:pRg st="5" end="5"/>
                                            </p:txEl>
                                          </p:spTgt>
                                        </p:tgtEl>
                                        <p:attrNameLst>
                                          <p:attrName>style.visibility</p:attrName>
                                        </p:attrNameLst>
                                      </p:cBhvr>
                                      <p:to>
                                        <p:strVal val="visible"/>
                                      </p:to>
                                    </p:set>
                                    <p:animEffect transition="in" filter="fade">
                                      <p:cBhvr>
                                        <p:cTn id="23" dur="750"/>
                                        <p:tgtEl>
                                          <p:spTgt spid="10">
                                            <p:txEl>
                                              <p:pRg st="5" end="5"/>
                                            </p:txEl>
                                          </p:spTgt>
                                        </p:tgtEl>
                                      </p:cBhvr>
                                    </p:animEffect>
                                  </p:childTnLst>
                                </p:cTn>
                              </p:par>
                            </p:childTnLst>
                          </p:cTn>
                        </p:par>
                        <p:par>
                          <p:cTn id="24" fill="hold">
                            <p:stCondLst>
                              <p:cond delay="6250"/>
                            </p:stCondLst>
                            <p:childTnLst>
                              <p:par>
                                <p:cTn id="25" presetID="10" presetClass="entr" presetSubtype="0" fill="hold" nodeType="afterEffect">
                                  <p:stCondLst>
                                    <p:cond delay="250"/>
                                  </p:stCondLst>
                                  <p:childTnLst>
                                    <p:set>
                                      <p:cBhvr>
                                        <p:cTn id="26" dur="1" fill="hold">
                                          <p:stCondLst>
                                            <p:cond delay="0"/>
                                          </p:stCondLst>
                                        </p:cTn>
                                        <p:tgtEl>
                                          <p:spTgt spid="10">
                                            <p:txEl>
                                              <p:pRg st="6" end="6"/>
                                            </p:txEl>
                                          </p:spTgt>
                                        </p:tgtEl>
                                        <p:attrNameLst>
                                          <p:attrName>style.visibility</p:attrName>
                                        </p:attrNameLst>
                                      </p:cBhvr>
                                      <p:to>
                                        <p:strVal val="visible"/>
                                      </p:to>
                                    </p:set>
                                    <p:animEffect transition="in" filter="fade">
                                      <p:cBhvr>
                                        <p:cTn id="27" dur="75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4525662"/>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订餐对话系统</a:t>
            </a:r>
            <a:endParaRPr lang="en-US" altLang="zh-CN" sz="2800" dirty="0">
              <a:solidFill>
                <a:srgbClr val="FF0000"/>
              </a:solidFill>
            </a:endParaRPr>
          </a:p>
          <a:p>
            <a:pPr algn="just">
              <a:lnSpc>
                <a:spcPct val="130000"/>
              </a:lnSpc>
              <a:buClr>
                <a:srgbClr val="C00000"/>
              </a:buClr>
            </a:pPr>
            <a:r>
              <a:rPr lang="en-US" altLang="zh-CN" sz="2800" dirty="0"/>
              <a:t>     </a:t>
            </a:r>
            <a:r>
              <a:rPr lang="zh-CN" altLang="en-US" sz="2600" dirty="0"/>
              <a:t>使用强化学习的结果如下所示：</a:t>
            </a:r>
            <a:endParaRPr lang="en-US" altLang="zh-CN" sz="2600" dirty="0"/>
          </a:p>
          <a:p>
            <a:pPr algn="just">
              <a:lnSpc>
                <a:spcPct val="130000"/>
              </a:lnSpc>
              <a:buClr>
                <a:srgbClr val="C00000"/>
              </a:buClr>
            </a:pPr>
            <a:r>
              <a:rPr lang="en-US" altLang="zh-CN" sz="2400" dirty="0"/>
              <a:t>Sys: action: </a:t>
            </a:r>
            <a:r>
              <a:rPr lang="en-US" altLang="zh-CN" sz="2400" dirty="0" err="1"/>
              <a:t>multiple_choice</a:t>
            </a:r>
            <a:r>
              <a:rPr lang="en-US" altLang="zh-CN" sz="2400" dirty="0"/>
              <a:t> inform: {‘date’: ‘20190107|20190108|20190109’} request: {}”</a:t>
            </a:r>
            <a:endParaRPr lang="en-US" altLang="zh-CN" sz="2400" dirty="0"/>
          </a:p>
          <a:p>
            <a:pPr algn="just">
              <a:lnSpc>
                <a:spcPct val="130000"/>
              </a:lnSpc>
              <a:buClr>
                <a:srgbClr val="C00000"/>
              </a:buClr>
            </a:pPr>
            <a:r>
              <a:rPr lang="en-US" altLang="zh-CN" sz="2400" dirty="0" err="1"/>
              <a:t>Usr</a:t>
            </a:r>
            <a:r>
              <a:rPr lang="en-US" altLang="zh-CN" sz="2400" dirty="0"/>
              <a:t>: action: inform </a:t>
            </a:r>
            <a:r>
              <a:rPr lang="en-US" altLang="zh-CN" sz="2400" dirty="0" err="1"/>
              <a:t>inform</a:t>
            </a:r>
            <a:r>
              <a:rPr lang="en-US" altLang="zh-CN" sz="2400" dirty="0"/>
              <a:t>: {‘date’: ‘20190109’} request: {}”</a:t>
            </a:r>
            <a:endParaRPr lang="en-US" altLang="zh-CN" sz="2400" dirty="0"/>
          </a:p>
          <a:p>
            <a:pPr algn="just">
              <a:lnSpc>
                <a:spcPct val="130000"/>
              </a:lnSpc>
              <a:buClr>
                <a:srgbClr val="C00000"/>
              </a:buClr>
            </a:pPr>
            <a:r>
              <a:rPr lang="en-US" altLang="zh-CN" sz="2400" dirty="0"/>
              <a:t>Sys: action: request inform: {} request: {‘time’: ‘UNK’}”</a:t>
            </a:r>
            <a:endParaRPr lang="en-US" altLang="zh-CN" sz="2400" dirty="0"/>
          </a:p>
          <a:p>
            <a:pPr algn="just">
              <a:lnSpc>
                <a:spcPct val="130000"/>
              </a:lnSpc>
              <a:buClr>
                <a:srgbClr val="C00000"/>
              </a:buClr>
            </a:pPr>
            <a:r>
              <a:rPr lang="en-US" altLang="zh-CN" sz="2400" dirty="0" err="1"/>
              <a:t>Usr</a:t>
            </a:r>
            <a:r>
              <a:rPr lang="en-US" altLang="zh-CN" sz="2400" dirty="0"/>
              <a:t>: action: request inform: {} request: {‘time’: ‘UNK’}”</a:t>
            </a:r>
            <a:endParaRPr lang="en-US" altLang="zh-CN" sz="2400" dirty="0"/>
          </a:p>
          <a:p>
            <a:pPr algn="just">
              <a:lnSpc>
                <a:spcPct val="130000"/>
              </a:lnSpc>
              <a:buClr>
                <a:srgbClr val="C00000"/>
              </a:buClr>
            </a:pPr>
            <a:r>
              <a:rPr lang="en-US" altLang="zh-CN" sz="2400" dirty="0"/>
              <a:t>Sys: action: </a:t>
            </a:r>
            <a:r>
              <a:rPr lang="en-US" altLang="zh-CN" sz="2400" dirty="0" err="1"/>
              <a:t>multiple_choice</a:t>
            </a:r>
            <a:r>
              <a:rPr lang="en-US" altLang="zh-CN" sz="2400" dirty="0"/>
              <a:t> inform: {‘time: ’11:00|11:30|12:00|13:00’’} request: {}”</a:t>
            </a:r>
            <a:endParaRPr lang="en-US" altLang="zh-CN" sz="24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750"/>
                                        <p:tgtEl>
                                          <p:spTgt spid="10">
                                            <p:txEl>
                                              <p:pRg st="2" end="2"/>
                                            </p:txEl>
                                          </p:spTgt>
                                        </p:tgtEl>
                                      </p:cBhvr>
                                    </p:animEffect>
                                  </p:childTnLst>
                                </p:cTn>
                              </p:par>
                            </p:childTnLst>
                          </p:cTn>
                        </p:par>
                        <p:par>
                          <p:cTn id="8" fill="hold">
                            <p:stCondLst>
                              <p:cond delay="1250"/>
                            </p:stCondLst>
                            <p:childTnLst>
                              <p:par>
                                <p:cTn id="9" presetID="10" presetClass="entr" presetSubtype="0" fill="hold" nodeType="afterEffect">
                                  <p:stCondLst>
                                    <p:cond delay="250"/>
                                  </p:stCondLst>
                                  <p:childTnLst>
                                    <p:set>
                                      <p:cBhvr>
                                        <p:cTn id="10" dur="1" fill="hold">
                                          <p:stCondLst>
                                            <p:cond delay="0"/>
                                          </p:stCondLst>
                                        </p:cTn>
                                        <p:tgtEl>
                                          <p:spTgt spid="10">
                                            <p:txEl>
                                              <p:pRg st="3" end="3"/>
                                            </p:txEl>
                                          </p:spTgt>
                                        </p:tgtEl>
                                        <p:attrNameLst>
                                          <p:attrName>style.visibility</p:attrName>
                                        </p:attrNameLst>
                                      </p:cBhvr>
                                      <p:to>
                                        <p:strVal val="visible"/>
                                      </p:to>
                                    </p:set>
                                    <p:animEffect transition="in" filter="fade">
                                      <p:cBhvr>
                                        <p:cTn id="11" dur="750"/>
                                        <p:tgtEl>
                                          <p:spTgt spid="10">
                                            <p:txEl>
                                              <p:pRg st="3" end="3"/>
                                            </p:txEl>
                                          </p:spTgt>
                                        </p:tgtEl>
                                      </p:cBhvr>
                                    </p:animEffect>
                                  </p:childTnLst>
                                </p:cTn>
                              </p:par>
                            </p:childTnLst>
                          </p:cTn>
                        </p:par>
                        <p:par>
                          <p:cTn id="12" fill="hold">
                            <p:stCondLst>
                              <p:cond delay="2500"/>
                            </p:stCondLst>
                            <p:childTnLst>
                              <p:par>
                                <p:cTn id="13" presetID="10" presetClass="entr" presetSubtype="0" fill="hold" nodeType="afterEffect">
                                  <p:stCondLst>
                                    <p:cond delay="250"/>
                                  </p:stCondLst>
                                  <p:childTnLst>
                                    <p:set>
                                      <p:cBhvr>
                                        <p:cTn id="14" dur="1" fill="hold">
                                          <p:stCondLst>
                                            <p:cond delay="0"/>
                                          </p:stCondLst>
                                        </p:cTn>
                                        <p:tgtEl>
                                          <p:spTgt spid="10">
                                            <p:txEl>
                                              <p:pRg st="4" end="4"/>
                                            </p:txEl>
                                          </p:spTgt>
                                        </p:tgtEl>
                                        <p:attrNameLst>
                                          <p:attrName>style.visibility</p:attrName>
                                        </p:attrNameLst>
                                      </p:cBhvr>
                                      <p:to>
                                        <p:strVal val="visible"/>
                                      </p:to>
                                    </p:set>
                                    <p:animEffect transition="in" filter="fade">
                                      <p:cBhvr>
                                        <p:cTn id="15" dur="750"/>
                                        <p:tgtEl>
                                          <p:spTgt spid="10">
                                            <p:txEl>
                                              <p:pRg st="4" end="4"/>
                                            </p:txEl>
                                          </p:spTgt>
                                        </p:tgtEl>
                                      </p:cBhvr>
                                    </p:animEffect>
                                  </p:childTnLst>
                                </p:cTn>
                              </p:par>
                            </p:childTnLst>
                          </p:cTn>
                        </p:par>
                        <p:par>
                          <p:cTn id="16" fill="hold">
                            <p:stCondLst>
                              <p:cond delay="3750"/>
                            </p:stCondLst>
                            <p:childTnLst>
                              <p:par>
                                <p:cTn id="17" presetID="10" presetClass="entr" presetSubtype="0" fill="hold" nodeType="afterEffect">
                                  <p:stCondLst>
                                    <p:cond delay="250"/>
                                  </p:stCondLst>
                                  <p:childTnLst>
                                    <p:set>
                                      <p:cBhvr>
                                        <p:cTn id="18" dur="1" fill="hold">
                                          <p:stCondLst>
                                            <p:cond delay="0"/>
                                          </p:stCondLst>
                                        </p:cTn>
                                        <p:tgtEl>
                                          <p:spTgt spid="10">
                                            <p:txEl>
                                              <p:pRg st="5" end="5"/>
                                            </p:txEl>
                                          </p:spTgt>
                                        </p:tgtEl>
                                        <p:attrNameLst>
                                          <p:attrName>style.visibility</p:attrName>
                                        </p:attrNameLst>
                                      </p:cBhvr>
                                      <p:to>
                                        <p:strVal val="visible"/>
                                      </p:to>
                                    </p:set>
                                    <p:animEffect transition="in" filter="fade">
                                      <p:cBhvr>
                                        <p:cTn id="19" dur="750"/>
                                        <p:tgtEl>
                                          <p:spTgt spid="10">
                                            <p:txEl>
                                              <p:pRg st="5" end="5"/>
                                            </p:txEl>
                                          </p:spTgt>
                                        </p:tgtEl>
                                      </p:cBhvr>
                                    </p:animEffect>
                                  </p:childTnLst>
                                </p:cTn>
                              </p:par>
                            </p:childTnLst>
                          </p:cTn>
                        </p:par>
                        <p:par>
                          <p:cTn id="20" fill="hold">
                            <p:stCondLst>
                              <p:cond delay="5000"/>
                            </p:stCondLst>
                            <p:childTnLst>
                              <p:par>
                                <p:cTn id="21" presetID="10" presetClass="entr" presetSubtype="0" fill="hold" nodeType="afterEffect">
                                  <p:stCondLst>
                                    <p:cond delay="250"/>
                                  </p:stCondLst>
                                  <p:childTnLst>
                                    <p:set>
                                      <p:cBhvr>
                                        <p:cTn id="22" dur="1" fill="hold">
                                          <p:stCondLst>
                                            <p:cond delay="0"/>
                                          </p:stCondLst>
                                        </p:cTn>
                                        <p:tgtEl>
                                          <p:spTgt spid="10">
                                            <p:txEl>
                                              <p:pRg st="6" end="6"/>
                                            </p:txEl>
                                          </p:spTgt>
                                        </p:tgtEl>
                                        <p:attrNameLst>
                                          <p:attrName>style.visibility</p:attrName>
                                        </p:attrNameLst>
                                      </p:cBhvr>
                                      <p:to>
                                        <p:strVal val="visible"/>
                                      </p:to>
                                    </p:set>
                                    <p:animEffect transition="in" filter="fade">
                                      <p:cBhvr>
                                        <p:cTn id="23" dur="75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4045531"/>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订餐对话系统</a:t>
            </a:r>
            <a:endParaRPr lang="en-US" altLang="zh-CN" sz="2800" dirty="0">
              <a:solidFill>
                <a:srgbClr val="FF0000"/>
              </a:solidFill>
            </a:endParaRPr>
          </a:p>
          <a:p>
            <a:pPr algn="just">
              <a:lnSpc>
                <a:spcPct val="130000"/>
              </a:lnSpc>
              <a:buClr>
                <a:srgbClr val="C00000"/>
              </a:buClr>
            </a:pPr>
            <a:r>
              <a:rPr lang="en-US" altLang="zh-CN" sz="2800" dirty="0"/>
              <a:t>     </a:t>
            </a:r>
            <a:r>
              <a:rPr lang="zh-CN" altLang="en-US" sz="2600" dirty="0"/>
              <a:t>使用强化学习的结果如下所示：</a:t>
            </a:r>
            <a:endParaRPr lang="en-US" altLang="zh-CN" sz="2600" dirty="0"/>
          </a:p>
          <a:p>
            <a:pPr algn="just">
              <a:lnSpc>
                <a:spcPct val="130000"/>
              </a:lnSpc>
              <a:buClr>
                <a:srgbClr val="C00000"/>
              </a:buClr>
            </a:pPr>
            <a:r>
              <a:rPr lang="en-US" altLang="zh-CN" sz="2400" dirty="0" err="1"/>
              <a:t>Usr</a:t>
            </a:r>
            <a:r>
              <a:rPr lang="en-US" altLang="zh-CN" sz="2400" dirty="0"/>
              <a:t>: action: inform </a:t>
            </a:r>
            <a:r>
              <a:rPr lang="en-US" altLang="zh-CN" sz="2400" dirty="0" err="1"/>
              <a:t>inform</a:t>
            </a:r>
            <a:r>
              <a:rPr lang="en-US" altLang="zh-CN" sz="2400" dirty="0"/>
              <a:t>: {‘time’: ’13:00’} request: {}”</a:t>
            </a:r>
            <a:endParaRPr lang="en-US" altLang="zh-CN" sz="2400" dirty="0"/>
          </a:p>
          <a:p>
            <a:pPr algn="just">
              <a:lnSpc>
                <a:spcPct val="130000"/>
              </a:lnSpc>
              <a:buClr>
                <a:srgbClr val="C00000"/>
              </a:buClr>
            </a:pPr>
            <a:r>
              <a:rPr lang="en-US" altLang="zh-CN" sz="2400" dirty="0"/>
              <a:t>Sys: action: inform </a:t>
            </a:r>
            <a:r>
              <a:rPr lang="en-US" altLang="zh-CN" sz="2400" dirty="0" err="1"/>
              <a:t>inform</a:t>
            </a:r>
            <a:r>
              <a:rPr lang="en-US" altLang="zh-CN" sz="2400" dirty="0"/>
              <a:t>: {‘location’: ‘</a:t>
            </a:r>
            <a:r>
              <a:rPr lang="zh-CN" altLang="en-US" sz="2400" dirty="0"/>
              <a:t>包间</a:t>
            </a:r>
            <a:r>
              <a:rPr lang="en-US" altLang="zh-CN" sz="2400" dirty="0"/>
              <a:t>’, ‘num’: 5, ‘time’: 13:00, ‘date’: ‘20190109’} request: {}”</a:t>
            </a:r>
            <a:endParaRPr lang="en-US" altLang="zh-CN" sz="2400" dirty="0"/>
          </a:p>
          <a:p>
            <a:pPr algn="just">
              <a:lnSpc>
                <a:spcPct val="130000"/>
              </a:lnSpc>
              <a:buClr>
                <a:srgbClr val="C00000"/>
              </a:buClr>
            </a:pPr>
            <a:r>
              <a:rPr lang="en-US" altLang="zh-CN" sz="2400" dirty="0" err="1"/>
              <a:t>Usr</a:t>
            </a:r>
            <a:r>
              <a:rPr lang="en-US" altLang="zh-CN" sz="2400" dirty="0"/>
              <a:t>: action: thanks inform: {} request: {}”</a:t>
            </a:r>
            <a:endParaRPr lang="en-US" altLang="zh-CN" sz="2400" dirty="0"/>
          </a:p>
          <a:p>
            <a:pPr algn="just">
              <a:lnSpc>
                <a:spcPct val="130000"/>
              </a:lnSpc>
              <a:buClr>
                <a:srgbClr val="C00000"/>
              </a:buClr>
            </a:pPr>
            <a:r>
              <a:rPr lang="en-US" altLang="zh-CN" sz="2400" dirty="0"/>
              <a:t>Sys: action: thanks inform: {} request: {}”</a:t>
            </a:r>
            <a:endParaRPr lang="en-US" altLang="zh-CN" sz="2400" dirty="0"/>
          </a:p>
          <a:p>
            <a:pPr algn="just">
              <a:lnSpc>
                <a:spcPct val="130000"/>
              </a:lnSpc>
              <a:buClr>
                <a:srgbClr val="C00000"/>
              </a:buClr>
            </a:pPr>
            <a:endParaRPr lang="en-US" altLang="zh-CN" sz="24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750"/>
                                        <p:tgtEl>
                                          <p:spTgt spid="10">
                                            <p:txEl>
                                              <p:pRg st="2" end="2"/>
                                            </p:txEl>
                                          </p:spTgt>
                                        </p:tgtEl>
                                      </p:cBhvr>
                                    </p:animEffect>
                                  </p:childTnLst>
                                </p:cTn>
                              </p:par>
                            </p:childTnLst>
                          </p:cTn>
                        </p:par>
                        <p:par>
                          <p:cTn id="8" fill="hold">
                            <p:stCondLst>
                              <p:cond delay="1250"/>
                            </p:stCondLst>
                            <p:childTnLst>
                              <p:par>
                                <p:cTn id="9" presetID="10" presetClass="entr" presetSubtype="0" fill="hold" nodeType="afterEffect">
                                  <p:stCondLst>
                                    <p:cond delay="250"/>
                                  </p:stCondLst>
                                  <p:childTnLst>
                                    <p:set>
                                      <p:cBhvr>
                                        <p:cTn id="10" dur="1" fill="hold">
                                          <p:stCondLst>
                                            <p:cond delay="0"/>
                                          </p:stCondLst>
                                        </p:cTn>
                                        <p:tgtEl>
                                          <p:spTgt spid="10">
                                            <p:txEl>
                                              <p:pRg st="3" end="3"/>
                                            </p:txEl>
                                          </p:spTgt>
                                        </p:tgtEl>
                                        <p:attrNameLst>
                                          <p:attrName>style.visibility</p:attrName>
                                        </p:attrNameLst>
                                      </p:cBhvr>
                                      <p:to>
                                        <p:strVal val="visible"/>
                                      </p:to>
                                    </p:set>
                                    <p:animEffect transition="in" filter="fade">
                                      <p:cBhvr>
                                        <p:cTn id="11" dur="750"/>
                                        <p:tgtEl>
                                          <p:spTgt spid="10">
                                            <p:txEl>
                                              <p:pRg st="3" end="3"/>
                                            </p:txEl>
                                          </p:spTgt>
                                        </p:tgtEl>
                                      </p:cBhvr>
                                    </p:animEffect>
                                  </p:childTnLst>
                                </p:cTn>
                              </p:par>
                            </p:childTnLst>
                          </p:cTn>
                        </p:par>
                        <p:par>
                          <p:cTn id="12" fill="hold">
                            <p:stCondLst>
                              <p:cond delay="2500"/>
                            </p:stCondLst>
                            <p:childTnLst>
                              <p:par>
                                <p:cTn id="13" presetID="10" presetClass="entr" presetSubtype="0" fill="hold" nodeType="afterEffect">
                                  <p:stCondLst>
                                    <p:cond delay="250"/>
                                  </p:stCondLst>
                                  <p:childTnLst>
                                    <p:set>
                                      <p:cBhvr>
                                        <p:cTn id="14" dur="1" fill="hold">
                                          <p:stCondLst>
                                            <p:cond delay="0"/>
                                          </p:stCondLst>
                                        </p:cTn>
                                        <p:tgtEl>
                                          <p:spTgt spid="10">
                                            <p:txEl>
                                              <p:pRg st="4" end="4"/>
                                            </p:txEl>
                                          </p:spTgt>
                                        </p:tgtEl>
                                        <p:attrNameLst>
                                          <p:attrName>style.visibility</p:attrName>
                                        </p:attrNameLst>
                                      </p:cBhvr>
                                      <p:to>
                                        <p:strVal val="visible"/>
                                      </p:to>
                                    </p:set>
                                    <p:animEffect transition="in" filter="fade">
                                      <p:cBhvr>
                                        <p:cTn id="15" dur="750"/>
                                        <p:tgtEl>
                                          <p:spTgt spid="10">
                                            <p:txEl>
                                              <p:pRg st="4" end="4"/>
                                            </p:txEl>
                                          </p:spTgt>
                                        </p:tgtEl>
                                      </p:cBhvr>
                                    </p:animEffect>
                                  </p:childTnLst>
                                </p:cTn>
                              </p:par>
                            </p:childTnLst>
                          </p:cTn>
                        </p:par>
                        <p:par>
                          <p:cTn id="16" fill="hold">
                            <p:stCondLst>
                              <p:cond delay="3750"/>
                            </p:stCondLst>
                            <p:childTnLst>
                              <p:par>
                                <p:cTn id="17" presetID="10" presetClass="entr" presetSubtype="0" fill="hold" nodeType="afterEffect">
                                  <p:stCondLst>
                                    <p:cond delay="250"/>
                                  </p:stCondLst>
                                  <p:childTnLst>
                                    <p:set>
                                      <p:cBhvr>
                                        <p:cTn id="18" dur="1" fill="hold">
                                          <p:stCondLst>
                                            <p:cond delay="0"/>
                                          </p:stCondLst>
                                        </p:cTn>
                                        <p:tgtEl>
                                          <p:spTgt spid="10">
                                            <p:txEl>
                                              <p:pRg st="5" end="5"/>
                                            </p:txEl>
                                          </p:spTgt>
                                        </p:tgtEl>
                                        <p:attrNameLst>
                                          <p:attrName>style.visibility</p:attrName>
                                        </p:attrNameLst>
                                      </p:cBhvr>
                                      <p:to>
                                        <p:strVal val="visible"/>
                                      </p:to>
                                    </p:set>
                                    <p:animEffect transition="in" filter="fade">
                                      <p:cBhvr>
                                        <p:cTn id="19" dur="75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4521944"/>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订餐对话系统</a:t>
            </a:r>
            <a:endParaRPr lang="en-US" altLang="zh-CN" sz="2800" dirty="0">
              <a:solidFill>
                <a:srgbClr val="FF0000"/>
              </a:solidFill>
            </a:endParaRPr>
          </a:p>
          <a:p>
            <a:pPr algn="just">
              <a:lnSpc>
                <a:spcPct val="130000"/>
              </a:lnSpc>
              <a:buClr>
                <a:srgbClr val="C00000"/>
              </a:buClr>
            </a:pPr>
            <a:r>
              <a:rPr lang="en-US" altLang="zh-CN" sz="2800" dirty="0"/>
              <a:t>     </a:t>
            </a:r>
            <a:r>
              <a:rPr lang="zh-CN" altLang="en-US" sz="2600" dirty="0"/>
              <a:t>根据模板方法的</a:t>
            </a:r>
            <a:r>
              <a:rPr lang="en-US" altLang="zh-CN" sz="2600" dirty="0"/>
              <a:t>NLG</a:t>
            </a:r>
            <a:r>
              <a:rPr lang="zh-CN" altLang="en-US" sz="2600" dirty="0"/>
              <a:t>翻译为自然语言如下：</a:t>
            </a:r>
            <a:endParaRPr lang="en-US" altLang="zh-CN" sz="2600" dirty="0"/>
          </a:p>
          <a:p>
            <a:pPr algn="just">
              <a:lnSpc>
                <a:spcPct val="130000"/>
              </a:lnSpc>
              <a:buClr>
                <a:srgbClr val="C00000"/>
              </a:buClr>
            </a:pPr>
            <a:r>
              <a:rPr lang="en-US" altLang="zh-CN" sz="2400" dirty="0"/>
              <a:t>Sys: </a:t>
            </a:r>
            <a:r>
              <a:rPr lang="zh-CN" altLang="en-US" sz="2400" dirty="0"/>
              <a:t>您好，这里是</a:t>
            </a:r>
            <a:r>
              <a:rPr lang="en-US" altLang="zh-CN" sz="2400" dirty="0"/>
              <a:t>XX</a:t>
            </a:r>
            <a:r>
              <a:rPr lang="zh-CN" altLang="en-US" sz="2400" dirty="0"/>
              <a:t>餐厅，请问您想订什么样的位置？时间、人数等有什么要求？</a:t>
            </a:r>
            <a:endParaRPr lang="en-US" altLang="zh-CN" sz="2400" dirty="0"/>
          </a:p>
          <a:p>
            <a:pPr algn="just">
              <a:lnSpc>
                <a:spcPct val="130000"/>
              </a:lnSpc>
              <a:buClr>
                <a:srgbClr val="C00000"/>
              </a:buClr>
            </a:pPr>
            <a:r>
              <a:rPr lang="en-US" altLang="zh-CN" sz="2400" dirty="0" err="1"/>
              <a:t>Usr</a:t>
            </a:r>
            <a:r>
              <a:rPr lang="en-US" altLang="zh-CN" sz="2400" dirty="0"/>
              <a:t>: </a:t>
            </a:r>
            <a:r>
              <a:rPr lang="zh-CN" altLang="en-US" sz="2400" dirty="0"/>
              <a:t>我想订个包间，还有吗？</a:t>
            </a:r>
            <a:endParaRPr lang="en-US" altLang="zh-CN" sz="2400" dirty="0"/>
          </a:p>
          <a:p>
            <a:pPr algn="just">
              <a:lnSpc>
                <a:spcPct val="130000"/>
              </a:lnSpc>
              <a:buClr>
                <a:srgbClr val="C00000"/>
              </a:buClr>
            </a:pPr>
            <a:r>
              <a:rPr lang="en-US" altLang="zh-CN" sz="2400" dirty="0"/>
              <a:t>Sys: </a:t>
            </a:r>
            <a:r>
              <a:rPr lang="zh-CN" altLang="en-US" sz="2400" dirty="0"/>
              <a:t>目前还剩下</a:t>
            </a:r>
            <a:r>
              <a:rPr lang="en-US" altLang="zh-CN" sz="2400" dirty="0"/>
              <a:t>3</a:t>
            </a:r>
            <a:r>
              <a:rPr lang="zh-CN" altLang="en-US" sz="2400" dirty="0"/>
              <a:t>到</a:t>
            </a:r>
            <a:r>
              <a:rPr lang="en-US" altLang="zh-CN" sz="2400" dirty="0"/>
              <a:t>10</a:t>
            </a:r>
            <a:r>
              <a:rPr lang="zh-CN" altLang="en-US" sz="2400" dirty="0"/>
              <a:t>个人的位置。</a:t>
            </a:r>
            <a:endParaRPr lang="en-US" altLang="zh-CN" sz="2400" dirty="0"/>
          </a:p>
          <a:p>
            <a:pPr algn="just">
              <a:lnSpc>
                <a:spcPct val="130000"/>
              </a:lnSpc>
              <a:buClr>
                <a:srgbClr val="C00000"/>
              </a:buClr>
            </a:pPr>
            <a:r>
              <a:rPr lang="en-US" altLang="zh-CN" sz="2400" dirty="0" err="1"/>
              <a:t>Usr</a:t>
            </a:r>
            <a:r>
              <a:rPr lang="en-US" altLang="zh-CN" sz="2400" dirty="0"/>
              <a:t>: </a:t>
            </a:r>
            <a:r>
              <a:rPr lang="zh-CN" altLang="en-US" sz="2400" dirty="0"/>
              <a:t>我要订</a:t>
            </a:r>
            <a:r>
              <a:rPr lang="en-US" altLang="zh-CN" sz="2400" dirty="0"/>
              <a:t>5</a:t>
            </a:r>
            <a:r>
              <a:rPr lang="zh-CN" altLang="en-US" sz="2400" dirty="0"/>
              <a:t>个人的。</a:t>
            </a:r>
            <a:endParaRPr lang="en-US" altLang="zh-CN" sz="2400" dirty="0"/>
          </a:p>
          <a:p>
            <a:pPr algn="just">
              <a:lnSpc>
                <a:spcPct val="130000"/>
              </a:lnSpc>
              <a:buClr>
                <a:srgbClr val="C00000"/>
              </a:buClr>
            </a:pPr>
            <a:r>
              <a:rPr lang="en-US" altLang="zh-CN" sz="2400" dirty="0"/>
              <a:t>Sys: </a:t>
            </a:r>
            <a:r>
              <a:rPr lang="zh-CN" altLang="en-US" sz="2400" dirty="0"/>
              <a:t>您要订哪一天？</a:t>
            </a:r>
            <a:endParaRPr lang="en-US" altLang="zh-CN" sz="2400" dirty="0"/>
          </a:p>
          <a:p>
            <a:pPr algn="just">
              <a:lnSpc>
                <a:spcPct val="130000"/>
              </a:lnSpc>
              <a:buClr>
                <a:srgbClr val="C00000"/>
              </a:buClr>
            </a:pPr>
            <a:r>
              <a:rPr lang="en-US" altLang="zh-CN" sz="2400" dirty="0" err="1"/>
              <a:t>Usr</a:t>
            </a:r>
            <a:r>
              <a:rPr lang="en-US" altLang="zh-CN" sz="2400" dirty="0"/>
              <a:t>: </a:t>
            </a:r>
            <a:r>
              <a:rPr lang="zh-CN" altLang="en-US" sz="2400" dirty="0"/>
              <a:t>你们还剩哪些天的？</a:t>
            </a:r>
            <a:endParaRPr lang="en-US" altLang="zh-CN" sz="24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750"/>
                                        <p:tgtEl>
                                          <p:spTgt spid="10">
                                            <p:txEl>
                                              <p:pRg st="1" end="1"/>
                                            </p:txEl>
                                          </p:spTgt>
                                        </p:tgtEl>
                                      </p:cBhvr>
                                    </p:animEffect>
                                  </p:childTnLst>
                                </p:cTn>
                              </p:par>
                            </p:childTnLst>
                          </p:cTn>
                        </p:par>
                        <p:par>
                          <p:cTn id="8" fill="hold">
                            <p:stCondLst>
                              <p:cond delay="1000"/>
                            </p:stCondLst>
                            <p:childTnLst>
                              <p:par>
                                <p:cTn id="9" presetID="10" presetClass="entr" presetSubtype="0" fill="hold" nodeType="afterEffect">
                                  <p:stCondLst>
                                    <p:cond delay="250"/>
                                  </p:stCondLst>
                                  <p:childTnLst>
                                    <p:set>
                                      <p:cBhvr>
                                        <p:cTn id="10" dur="1" fill="hold">
                                          <p:stCondLst>
                                            <p:cond delay="0"/>
                                          </p:stCondLst>
                                        </p:cTn>
                                        <p:tgtEl>
                                          <p:spTgt spid="10">
                                            <p:txEl>
                                              <p:pRg st="2" end="2"/>
                                            </p:txEl>
                                          </p:spTgt>
                                        </p:tgtEl>
                                        <p:attrNameLst>
                                          <p:attrName>style.visibility</p:attrName>
                                        </p:attrNameLst>
                                      </p:cBhvr>
                                      <p:to>
                                        <p:strVal val="visible"/>
                                      </p:to>
                                    </p:set>
                                    <p:animEffect transition="in" filter="fade">
                                      <p:cBhvr>
                                        <p:cTn id="11" dur="750"/>
                                        <p:tgtEl>
                                          <p:spTgt spid="10">
                                            <p:txEl>
                                              <p:pRg st="2" end="2"/>
                                            </p:txEl>
                                          </p:spTgt>
                                        </p:tgtEl>
                                      </p:cBhvr>
                                    </p:animEffect>
                                  </p:childTnLst>
                                </p:cTn>
                              </p:par>
                            </p:childTnLst>
                          </p:cTn>
                        </p:par>
                        <p:par>
                          <p:cTn id="12" fill="hold">
                            <p:stCondLst>
                              <p:cond delay="2250"/>
                            </p:stCondLst>
                            <p:childTnLst>
                              <p:par>
                                <p:cTn id="13" presetID="10" presetClass="entr" presetSubtype="0" fill="hold" nodeType="afterEffect">
                                  <p:stCondLst>
                                    <p:cond delay="25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fade">
                                      <p:cBhvr>
                                        <p:cTn id="15" dur="750"/>
                                        <p:tgtEl>
                                          <p:spTgt spid="10">
                                            <p:txEl>
                                              <p:pRg st="3" end="3"/>
                                            </p:txEl>
                                          </p:spTgt>
                                        </p:tgtEl>
                                      </p:cBhvr>
                                    </p:animEffect>
                                  </p:childTnLst>
                                </p:cTn>
                              </p:par>
                            </p:childTnLst>
                          </p:cTn>
                        </p:par>
                        <p:par>
                          <p:cTn id="16" fill="hold">
                            <p:stCondLst>
                              <p:cond delay="3500"/>
                            </p:stCondLst>
                            <p:childTnLst>
                              <p:par>
                                <p:cTn id="17" presetID="10" presetClass="entr" presetSubtype="0" fill="hold" nodeType="afterEffect">
                                  <p:stCondLst>
                                    <p:cond delay="250"/>
                                  </p:stCondLst>
                                  <p:childTnLst>
                                    <p:set>
                                      <p:cBhvr>
                                        <p:cTn id="18" dur="1" fill="hold">
                                          <p:stCondLst>
                                            <p:cond delay="0"/>
                                          </p:stCondLst>
                                        </p:cTn>
                                        <p:tgtEl>
                                          <p:spTgt spid="10">
                                            <p:txEl>
                                              <p:pRg st="4" end="4"/>
                                            </p:txEl>
                                          </p:spTgt>
                                        </p:tgtEl>
                                        <p:attrNameLst>
                                          <p:attrName>style.visibility</p:attrName>
                                        </p:attrNameLst>
                                      </p:cBhvr>
                                      <p:to>
                                        <p:strVal val="visible"/>
                                      </p:to>
                                    </p:set>
                                    <p:animEffect transition="in" filter="fade">
                                      <p:cBhvr>
                                        <p:cTn id="19" dur="750"/>
                                        <p:tgtEl>
                                          <p:spTgt spid="10">
                                            <p:txEl>
                                              <p:pRg st="4" end="4"/>
                                            </p:txEl>
                                          </p:spTgt>
                                        </p:tgtEl>
                                      </p:cBhvr>
                                    </p:animEffect>
                                  </p:childTnLst>
                                </p:cTn>
                              </p:par>
                            </p:childTnLst>
                          </p:cTn>
                        </p:par>
                        <p:par>
                          <p:cTn id="20" fill="hold">
                            <p:stCondLst>
                              <p:cond delay="4750"/>
                            </p:stCondLst>
                            <p:childTnLst>
                              <p:par>
                                <p:cTn id="21" presetID="10" presetClass="entr" presetSubtype="0" fill="hold" nodeType="afterEffect">
                                  <p:stCondLst>
                                    <p:cond delay="250"/>
                                  </p:stCondLst>
                                  <p:childTnLst>
                                    <p:set>
                                      <p:cBhvr>
                                        <p:cTn id="22" dur="1" fill="hold">
                                          <p:stCondLst>
                                            <p:cond delay="0"/>
                                          </p:stCondLst>
                                        </p:cTn>
                                        <p:tgtEl>
                                          <p:spTgt spid="10">
                                            <p:txEl>
                                              <p:pRg st="5" end="5"/>
                                            </p:txEl>
                                          </p:spTgt>
                                        </p:tgtEl>
                                        <p:attrNameLst>
                                          <p:attrName>style.visibility</p:attrName>
                                        </p:attrNameLst>
                                      </p:cBhvr>
                                      <p:to>
                                        <p:strVal val="visible"/>
                                      </p:to>
                                    </p:set>
                                    <p:animEffect transition="in" filter="fade">
                                      <p:cBhvr>
                                        <p:cTn id="23" dur="750"/>
                                        <p:tgtEl>
                                          <p:spTgt spid="10">
                                            <p:txEl>
                                              <p:pRg st="5" end="5"/>
                                            </p:txEl>
                                          </p:spTgt>
                                        </p:tgtEl>
                                      </p:cBhvr>
                                    </p:animEffect>
                                  </p:childTnLst>
                                </p:cTn>
                              </p:par>
                            </p:childTnLst>
                          </p:cTn>
                        </p:par>
                        <p:par>
                          <p:cTn id="24" fill="hold">
                            <p:stCondLst>
                              <p:cond delay="6000"/>
                            </p:stCondLst>
                            <p:childTnLst>
                              <p:par>
                                <p:cTn id="25" presetID="10" presetClass="entr" presetSubtype="0" fill="hold" nodeType="afterEffect">
                                  <p:stCondLst>
                                    <p:cond delay="250"/>
                                  </p:stCondLst>
                                  <p:childTnLst>
                                    <p:set>
                                      <p:cBhvr>
                                        <p:cTn id="26" dur="1" fill="hold">
                                          <p:stCondLst>
                                            <p:cond delay="0"/>
                                          </p:stCondLst>
                                        </p:cTn>
                                        <p:tgtEl>
                                          <p:spTgt spid="10">
                                            <p:txEl>
                                              <p:pRg st="6" end="6"/>
                                            </p:txEl>
                                          </p:spTgt>
                                        </p:tgtEl>
                                        <p:attrNameLst>
                                          <p:attrName>style.visibility</p:attrName>
                                        </p:attrNameLst>
                                      </p:cBhvr>
                                      <p:to>
                                        <p:strVal val="visible"/>
                                      </p:to>
                                    </p:set>
                                    <p:animEffect transition="in" filter="fade">
                                      <p:cBhvr>
                                        <p:cTn id="27" dur="750"/>
                                        <p:tgtEl>
                                          <p:spTgt spid="10">
                                            <p:txEl>
                                              <p:pRg st="6" end="6"/>
                                            </p:txEl>
                                          </p:spTgt>
                                        </p:tgtEl>
                                      </p:cBhvr>
                                    </p:animEffect>
                                  </p:childTnLst>
                                </p:cTn>
                              </p:par>
                            </p:childTnLst>
                          </p:cTn>
                        </p:par>
                        <p:par>
                          <p:cTn id="28" fill="hold">
                            <p:stCondLst>
                              <p:cond delay="7250"/>
                            </p:stCondLst>
                            <p:childTnLst>
                              <p:par>
                                <p:cTn id="29" presetID="10" presetClass="entr" presetSubtype="0" fill="hold" nodeType="afterEffect">
                                  <p:stCondLst>
                                    <p:cond delay="250"/>
                                  </p:stCondLst>
                                  <p:childTnLst>
                                    <p:set>
                                      <p:cBhvr>
                                        <p:cTn id="30" dur="1" fill="hold">
                                          <p:stCondLst>
                                            <p:cond delay="0"/>
                                          </p:stCondLst>
                                        </p:cTn>
                                        <p:tgtEl>
                                          <p:spTgt spid="10">
                                            <p:txEl>
                                              <p:pRg st="7" end="7"/>
                                            </p:txEl>
                                          </p:spTgt>
                                        </p:tgtEl>
                                        <p:attrNameLst>
                                          <p:attrName>style.visibility</p:attrName>
                                        </p:attrNameLst>
                                      </p:cBhvr>
                                      <p:to>
                                        <p:strVal val="visible"/>
                                      </p:to>
                                    </p:set>
                                    <p:animEffect transition="in" filter="fade">
                                      <p:cBhvr>
                                        <p:cTn id="31" dur="75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4041812"/>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订餐对话系统</a:t>
            </a:r>
            <a:endParaRPr lang="en-US" altLang="zh-CN" sz="2800" dirty="0">
              <a:solidFill>
                <a:srgbClr val="FF0000"/>
              </a:solidFill>
            </a:endParaRPr>
          </a:p>
          <a:p>
            <a:pPr algn="just">
              <a:lnSpc>
                <a:spcPct val="130000"/>
              </a:lnSpc>
              <a:buClr>
                <a:srgbClr val="C00000"/>
              </a:buClr>
            </a:pPr>
            <a:r>
              <a:rPr lang="en-US" altLang="zh-CN" sz="2800" dirty="0"/>
              <a:t>     </a:t>
            </a:r>
            <a:r>
              <a:rPr lang="zh-CN" altLang="en-US" sz="2600" dirty="0"/>
              <a:t>根据模板方法的</a:t>
            </a:r>
            <a:r>
              <a:rPr lang="en-US" altLang="zh-CN" sz="2600" dirty="0"/>
              <a:t>NLG</a:t>
            </a:r>
            <a:r>
              <a:rPr lang="zh-CN" altLang="en-US" sz="2600" dirty="0"/>
              <a:t>翻译为自然语言如下：</a:t>
            </a:r>
            <a:endParaRPr lang="en-US" altLang="zh-CN" sz="2600" dirty="0"/>
          </a:p>
          <a:p>
            <a:pPr algn="just">
              <a:lnSpc>
                <a:spcPct val="130000"/>
              </a:lnSpc>
              <a:buClr>
                <a:srgbClr val="C00000"/>
              </a:buClr>
            </a:pPr>
            <a:r>
              <a:rPr lang="en-US" altLang="zh-CN" sz="2400" dirty="0"/>
              <a:t>Sys: </a:t>
            </a:r>
            <a:r>
              <a:rPr lang="zh-CN" altLang="en-US" sz="2400" dirty="0"/>
              <a:t>还剩</a:t>
            </a:r>
            <a:r>
              <a:rPr lang="en-US" altLang="zh-CN" sz="2400" dirty="0"/>
              <a:t>2019</a:t>
            </a:r>
            <a:r>
              <a:rPr lang="zh-CN" altLang="en-US" sz="2400" dirty="0"/>
              <a:t>年</a:t>
            </a:r>
            <a:r>
              <a:rPr lang="en-US" altLang="zh-CN" sz="2400" dirty="0"/>
              <a:t>1</a:t>
            </a:r>
            <a:r>
              <a:rPr lang="zh-CN" altLang="en-US" sz="2400" dirty="0"/>
              <a:t>月</a:t>
            </a:r>
            <a:r>
              <a:rPr lang="en-US" altLang="zh-CN" sz="2400" dirty="0"/>
              <a:t>7</a:t>
            </a:r>
            <a:r>
              <a:rPr lang="zh-CN" altLang="en-US" sz="2400" dirty="0"/>
              <a:t>日、</a:t>
            </a:r>
            <a:r>
              <a:rPr lang="en-US" altLang="zh-CN" sz="2400" dirty="0"/>
              <a:t>2019</a:t>
            </a:r>
            <a:r>
              <a:rPr lang="zh-CN" altLang="en-US" sz="2400" dirty="0"/>
              <a:t>年</a:t>
            </a:r>
            <a:r>
              <a:rPr lang="en-US" altLang="zh-CN" sz="2400" dirty="0"/>
              <a:t>1</a:t>
            </a:r>
            <a:r>
              <a:rPr lang="zh-CN" altLang="en-US" sz="2400" dirty="0"/>
              <a:t>月</a:t>
            </a:r>
            <a:r>
              <a:rPr lang="en-US" altLang="zh-CN" sz="2400" dirty="0"/>
              <a:t>8</a:t>
            </a:r>
            <a:r>
              <a:rPr lang="zh-CN" altLang="en-US" sz="2400" dirty="0"/>
              <a:t>日、</a:t>
            </a:r>
            <a:r>
              <a:rPr lang="en-US" altLang="zh-CN" sz="2400" dirty="0"/>
              <a:t>2019</a:t>
            </a:r>
            <a:r>
              <a:rPr lang="zh-CN" altLang="en-US" sz="2400" dirty="0"/>
              <a:t>年</a:t>
            </a:r>
            <a:r>
              <a:rPr lang="en-US" altLang="zh-CN" sz="2400" dirty="0"/>
              <a:t>1</a:t>
            </a:r>
            <a:r>
              <a:rPr lang="zh-CN" altLang="en-US" sz="2400" dirty="0"/>
              <a:t>月</a:t>
            </a:r>
            <a:r>
              <a:rPr lang="en-US" altLang="zh-CN" sz="2400" dirty="0"/>
              <a:t>9</a:t>
            </a:r>
            <a:r>
              <a:rPr lang="zh-CN" altLang="en-US" sz="2400" dirty="0"/>
              <a:t>日。</a:t>
            </a:r>
            <a:endParaRPr lang="zh-CN" altLang="en-US" sz="2400" dirty="0"/>
          </a:p>
          <a:p>
            <a:pPr algn="just">
              <a:lnSpc>
                <a:spcPct val="130000"/>
              </a:lnSpc>
              <a:buClr>
                <a:srgbClr val="C00000"/>
              </a:buClr>
            </a:pPr>
            <a:r>
              <a:rPr lang="en-US" altLang="zh-CN" sz="2400" dirty="0" err="1"/>
              <a:t>Usr</a:t>
            </a:r>
            <a:r>
              <a:rPr lang="en-US" altLang="zh-CN" sz="2400" dirty="0"/>
              <a:t>: 2019</a:t>
            </a:r>
            <a:r>
              <a:rPr lang="zh-CN" altLang="en-US" sz="2400" dirty="0"/>
              <a:t>年</a:t>
            </a:r>
            <a:r>
              <a:rPr lang="en-US" altLang="zh-CN" sz="2400" dirty="0"/>
              <a:t>1</a:t>
            </a:r>
            <a:r>
              <a:rPr lang="zh-CN" altLang="en-US" sz="2400" dirty="0"/>
              <a:t>月</a:t>
            </a:r>
            <a:r>
              <a:rPr lang="en-US" altLang="zh-CN" sz="2400" dirty="0"/>
              <a:t>9</a:t>
            </a:r>
            <a:r>
              <a:rPr lang="zh-CN" altLang="en-US" sz="2400" dirty="0"/>
              <a:t>日</a:t>
            </a:r>
            <a:endParaRPr lang="en-US" altLang="zh-CN" sz="2400" dirty="0"/>
          </a:p>
          <a:p>
            <a:pPr algn="just">
              <a:lnSpc>
                <a:spcPct val="130000"/>
              </a:lnSpc>
              <a:buClr>
                <a:srgbClr val="C00000"/>
              </a:buClr>
            </a:pPr>
            <a:r>
              <a:rPr lang="en-US" altLang="zh-CN" sz="2400" dirty="0"/>
              <a:t>Sys: </a:t>
            </a:r>
            <a:r>
              <a:rPr lang="zh-CN" altLang="en-US" sz="2400" dirty="0"/>
              <a:t>请问您准备几点用餐？</a:t>
            </a:r>
            <a:endParaRPr lang="en-US" altLang="zh-CN" sz="2400" dirty="0"/>
          </a:p>
          <a:p>
            <a:pPr algn="just">
              <a:lnSpc>
                <a:spcPct val="130000"/>
              </a:lnSpc>
              <a:buClr>
                <a:srgbClr val="C00000"/>
              </a:buClr>
            </a:pPr>
            <a:r>
              <a:rPr lang="en-US" altLang="zh-CN" sz="2400" dirty="0" err="1"/>
              <a:t>Usr</a:t>
            </a:r>
            <a:r>
              <a:rPr lang="en-US" altLang="zh-CN" sz="2400" dirty="0"/>
              <a:t>: </a:t>
            </a:r>
            <a:r>
              <a:rPr lang="zh-CN" altLang="en-US" sz="2400" dirty="0"/>
              <a:t>还有几点的位置？</a:t>
            </a:r>
            <a:endParaRPr lang="en-US" altLang="zh-CN" sz="2400" dirty="0"/>
          </a:p>
          <a:p>
            <a:pPr algn="just">
              <a:lnSpc>
                <a:spcPct val="130000"/>
              </a:lnSpc>
              <a:buClr>
                <a:srgbClr val="C00000"/>
              </a:buClr>
            </a:pPr>
            <a:r>
              <a:rPr lang="en-US" altLang="zh-CN" sz="2400" dirty="0"/>
              <a:t>Sys: 11:00</a:t>
            </a:r>
            <a:r>
              <a:rPr lang="zh-CN" altLang="en-US" sz="2400" dirty="0"/>
              <a:t>、</a:t>
            </a:r>
            <a:r>
              <a:rPr lang="en-US" altLang="zh-CN" sz="2400" dirty="0"/>
              <a:t>11:30</a:t>
            </a:r>
            <a:r>
              <a:rPr lang="zh-CN" altLang="en-US" sz="2400" dirty="0"/>
              <a:t>、</a:t>
            </a:r>
            <a:r>
              <a:rPr lang="en-US" altLang="zh-CN" sz="2400" dirty="0"/>
              <a:t>12:00</a:t>
            </a:r>
            <a:r>
              <a:rPr lang="zh-CN" altLang="en-US" sz="2400" dirty="0"/>
              <a:t>、</a:t>
            </a:r>
            <a:r>
              <a:rPr lang="en-US" altLang="zh-CN" sz="2400" dirty="0"/>
              <a:t>13:00</a:t>
            </a:r>
            <a:r>
              <a:rPr lang="zh-CN" altLang="en-US" sz="2400" dirty="0"/>
              <a:t>。</a:t>
            </a:r>
            <a:endParaRPr lang="en-US" altLang="zh-CN" sz="2400" dirty="0"/>
          </a:p>
          <a:p>
            <a:pPr algn="just">
              <a:lnSpc>
                <a:spcPct val="130000"/>
              </a:lnSpc>
              <a:buClr>
                <a:srgbClr val="C00000"/>
              </a:buClr>
            </a:pPr>
            <a:r>
              <a:rPr lang="en-US" altLang="zh-CN" sz="2400" dirty="0" err="1"/>
              <a:t>Usr</a:t>
            </a:r>
            <a:r>
              <a:rPr lang="en-US" altLang="zh-CN" sz="2400" dirty="0"/>
              <a:t>: </a:t>
            </a:r>
            <a:r>
              <a:rPr lang="zh-CN" altLang="en-US" sz="2400" dirty="0"/>
              <a:t>那就</a:t>
            </a:r>
            <a:r>
              <a:rPr lang="en-US" altLang="zh-CN" sz="2400" dirty="0"/>
              <a:t>13:00</a:t>
            </a:r>
            <a:r>
              <a:rPr lang="zh-CN" altLang="en-US" sz="2400" dirty="0"/>
              <a:t>吧。</a:t>
            </a:r>
            <a:endParaRPr lang="en-US" altLang="zh-CN" sz="24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750"/>
                                        <p:tgtEl>
                                          <p:spTgt spid="10">
                                            <p:txEl>
                                              <p:pRg st="2" end="2"/>
                                            </p:txEl>
                                          </p:spTgt>
                                        </p:tgtEl>
                                      </p:cBhvr>
                                    </p:animEffect>
                                  </p:childTnLst>
                                </p:cTn>
                              </p:par>
                            </p:childTnLst>
                          </p:cTn>
                        </p:par>
                        <p:par>
                          <p:cTn id="8" fill="hold">
                            <p:stCondLst>
                              <p:cond delay="1250"/>
                            </p:stCondLst>
                            <p:childTnLst>
                              <p:par>
                                <p:cTn id="9" presetID="10" presetClass="entr" presetSubtype="0" fill="hold" nodeType="afterEffect">
                                  <p:stCondLst>
                                    <p:cond delay="250"/>
                                  </p:stCondLst>
                                  <p:childTnLst>
                                    <p:set>
                                      <p:cBhvr>
                                        <p:cTn id="10" dur="1" fill="hold">
                                          <p:stCondLst>
                                            <p:cond delay="0"/>
                                          </p:stCondLst>
                                        </p:cTn>
                                        <p:tgtEl>
                                          <p:spTgt spid="10">
                                            <p:txEl>
                                              <p:pRg st="3" end="3"/>
                                            </p:txEl>
                                          </p:spTgt>
                                        </p:tgtEl>
                                        <p:attrNameLst>
                                          <p:attrName>style.visibility</p:attrName>
                                        </p:attrNameLst>
                                      </p:cBhvr>
                                      <p:to>
                                        <p:strVal val="visible"/>
                                      </p:to>
                                    </p:set>
                                    <p:animEffect transition="in" filter="fade">
                                      <p:cBhvr>
                                        <p:cTn id="11" dur="750"/>
                                        <p:tgtEl>
                                          <p:spTgt spid="10">
                                            <p:txEl>
                                              <p:pRg st="3" end="3"/>
                                            </p:txEl>
                                          </p:spTgt>
                                        </p:tgtEl>
                                      </p:cBhvr>
                                    </p:animEffect>
                                  </p:childTnLst>
                                </p:cTn>
                              </p:par>
                            </p:childTnLst>
                          </p:cTn>
                        </p:par>
                        <p:par>
                          <p:cTn id="12" fill="hold">
                            <p:stCondLst>
                              <p:cond delay="2500"/>
                            </p:stCondLst>
                            <p:childTnLst>
                              <p:par>
                                <p:cTn id="13" presetID="10" presetClass="entr" presetSubtype="0" fill="hold" nodeType="afterEffect">
                                  <p:stCondLst>
                                    <p:cond delay="250"/>
                                  </p:stCondLst>
                                  <p:childTnLst>
                                    <p:set>
                                      <p:cBhvr>
                                        <p:cTn id="14" dur="1" fill="hold">
                                          <p:stCondLst>
                                            <p:cond delay="0"/>
                                          </p:stCondLst>
                                        </p:cTn>
                                        <p:tgtEl>
                                          <p:spTgt spid="10">
                                            <p:txEl>
                                              <p:pRg st="4" end="4"/>
                                            </p:txEl>
                                          </p:spTgt>
                                        </p:tgtEl>
                                        <p:attrNameLst>
                                          <p:attrName>style.visibility</p:attrName>
                                        </p:attrNameLst>
                                      </p:cBhvr>
                                      <p:to>
                                        <p:strVal val="visible"/>
                                      </p:to>
                                    </p:set>
                                    <p:animEffect transition="in" filter="fade">
                                      <p:cBhvr>
                                        <p:cTn id="15" dur="750"/>
                                        <p:tgtEl>
                                          <p:spTgt spid="10">
                                            <p:txEl>
                                              <p:pRg st="4" end="4"/>
                                            </p:txEl>
                                          </p:spTgt>
                                        </p:tgtEl>
                                      </p:cBhvr>
                                    </p:animEffect>
                                  </p:childTnLst>
                                </p:cTn>
                              </p:par>
                            </p:childTnLst>
                          </p:cTn>
                        </p:par>
                        <p:par>
                          <p:cTn id="16" fill="hold">
                            <p:stCondLst>
                              <p:cond delay="3750"/>
                            </p:stCondLst>
                            <p:childTnLst>
                              <p:par>
                                <p:cTn id="17" presetID="10" presetClass="entr" presetSubtype="0" fill="hold" nodeType="afterEffect">
                                  <p:stCondLst>
                                    <p:cond delay="250"/>
                                  </p:stCondLst>
                                  <p:childTnLst>
                                    <p:set>
                                      <p:cBhvr>
                                        <p:cTn id="18" dur="1" fill="hold">
                                          <p:stCondLst>
                                            <p:cond delay="0"/>
                                          </p:stCondLst>
                                        </p:cTn>
                                        <p:tgtEl>
                                          <p:spTgt spid="10">
                                            <p:txEl>
                                              <p:pRg st="5" end="5"/>
                                            </p:txEl>
                                          </p:spTgt>
                                        </p:tgtEl>
                                        <p:attrNameLst>
                                          <p:attrName>style.visibility</p:attrName>
                                        </p:attrNameLst>
                                      </p:cBhvr>
                                      <p:to>
                                        <p:strVal val="visible"/>
                                      </p:to>
                                    </p:set>
                                    <p:animEffect transition="in" filter="fade">
                                      <p:cBhvr>
                                        <p:cTn id="19" dur="750"/>
                                        <p:tgtEl>
                                          <p:spTgt spid="10">
                                            <p:txEl>
                                              <p:pRg st="5" end="5"/>
                                            </p:txEl>
                                          </p:spTgt>
                                        </p:tgtEl>
                                      </p:cBhvr>
                                    </p:animEffect>
                                  </p:childTnLst>
                                </p:cTn>
                              </p:par>
                            </p:childTnLst>
                          </p:cTn>
                        </p:par>
                        <p:par>
                          <p:cTn id="20" fill="hold">
                            <p:stCondLst>
                              <p:cond delay="5000"/>
                            </p:stCondLst>
                            <p:childTnLst>
                              <p:par>
                                <p:cTn id="21" presetID="10" presetClass="entr" presetSubtype="0" fill="hold" nodeType="afterEffect">
                                  <p:stCondLst>
                                    <p:cond delay="250"/>
                                  </p:stCondLst>
                                  <p:childTnLst>
                                    <p:set>
                                      <p:cBhvr>
                                        <p:cTn id="22" dur="1" fill="hold">
                                          <p:stCondLst>
                                            <p:cond delay="0"/>
                                          </p:stCondLst>
                                        </p:cTn>
                                        <p:tgtEl>
                                          <p:spTgt spid="10">
                                            <p:txEl>
                                              <p:pRg st="6" end="6"/>
                                            </p:txEl>
                                          </p:spTgt>
                                        </p:tgtEl>
                                        <p:attrNameLst>
                                          <p:attrName>style.visibility</p:attrName>
                                        </p:attrNameLst>
                                      </p:cBhvr>
                                      <p:to>
                                        <p:strVal val="visible"/>
                                      </p:to>
                                    </p:set>
                                    <p:animEffect transition="in" filter="fade">
                                      <p:cBhvr>
                                        <p:cTn id="23" dur="750"/>
                                        <p:tgtEl>
                                          <p:spTgt spid="10">
                                            <p:txEl>
                                              <p:pRg st="6" end="6"/>
                                            </p:txEl>
                                          </p:spTgt>
                                        </p:tgtEl>
                                      </p:cBhvr>
                                    </p:animEffect>
                                  </p:childTnLst>
                                </p:cTn>
                              </p:par>
                            </p:childTnLst>
                          </p:cTn>
                        </p:par>
                        <p:par>
                          <p:cTn id="24" fill="hold">
                            <p:stCondLst>
                              <p:cond delay="6250"/>
                            </p:stCondLst>
                            <p:childTnLst>
                              <p:par>
                                <p:cTn id="25" presetID="10" presetClass="entr" presetSubtype="0" fill="hold" nodeType="afterEffect">
                                  <p:stCondLst>
                                    <p:cond delay="250"/>
                                  </p:stCondLst>
                                  <p:childTnLst>
                                    <p:set>
                                      <p:cBhvr>
                                        <p:cTn id="26" dur="1" fill="hold">
                                          <p:stCondLst>
                                            <p:cond delay="0"/>
                                          </p:stCondLst>
                                        </p:cTn>
                                        <p:tgtEl>
                                          <p:spTgt spid="10">
                                            <p:txEl>
                                              <p:pRg st="7" end="7"/>
                                            </p:txEl>
                                          </p:spTgt>
                                        </p:tgtEl>
                                        <p:attrNameLst>
                                          <p:attrName>style.visibility</p:attrName>
                                        </p:attrNameLst>
                                      </p:cBhvr>
                                      <p:to>
                                        <p:strVal val="visible"/>
                                      </p:to>
                                    </p:set>
                                    <p:animEffect transition="in" filter="fade">
                                      <p:cBhvr>
                                        <p:cTn id="27" dur="75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2601418"/>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订餐对话系统</a:t>
            </a:r>
            <a:endParaRPr lang="en-US" altLang="zh-CN" sz="2800" dirty="0">
              <a:solidFill>
                <a:srgbClr val="FF0000"/>
              </a:solidFill>
            </a:endParaRPr>
          </a:p>
          <a:p>
            <a:pPr algn="just">
              <a:lnSpc>
                <a:spcPct val="130000"/>
              </a:lnSpc>
              <a:buClr>
                <a:srgbClr val="C00000"/>
              </a:buClr>
            </a:pPr>
            <a:r>
              <a:rPr lang="en-US" altLang="zh-CN" sz="2800" dirty="0"/>
              <a:t>     </a:t>
            </a:r>
            <a:r>
              <a:rPr lang="zh-CN" altLang="en-US" sz="2600" dirty="0"/>
              <a:t>根据模板方法的</a:t>
            </a:r>
            <a:r>
              <a:rPr lang="en-US" altLang="zh-CN" sz="2600" dirty="0"/>
              <a:t>NLG</a:t>
            </a:r>
            <a:r>
              <a:rPr lang="zh-CN" altLang="en-US" sz="2600" dirty="0"/>
              <a:t>翻译为自然语言如下：</a:t>
            </a:r>
            <a:endParaRPr lang="en-US" altLang="zh-CN" sz="2600" dirty="0"/>
          </a:p>
          <a:p>
            <a:pPr algn="just">
              <a:lnSpc>
                <a:spcPct val="130000"/>
              </a:lnSpc>
              <a:buClr>
                <a:srgbClr val="C00000"/>
              </a:buClr>
            </a:pPr>
            <a:r>
              <a:rPr lang="en-US" altLang="zh-CN" sz="2400" dirty="0"/>
              <a:t>Sys: </a:t>
            </a:r>
            <a:r>
              <a:rPr lang="zh-CN" altLang="en-US" sz="2400" dirty="0"/>
              <a:t>这里已经帮您预定了</a:t>
            </a:r>
            <a:r>
              <a:rPr lang="en-US" altLang="zh-CN" sz="2400" dirty="0"/>
              <a:t>2019</a:t>
            </a:r>
            <a:r>
              <a:rPr lang="zh-CN" altLang="en-US" sz="2400" dirty="0"/>
              <a:t>年</a:t>
            </a:r>
            <a:r>
              <a:rPr lang="en-US" altLang="zh-CN" sz="2400" dirty="0"/>
              <a:t>1</a:t>
            </a:r>
            <a:r>
              <a:rPr lang="zh-CN" altLang="en-US" sz="2400" dirty="0"/>
              <a:t>月</a:t>
            </a:r>
            <a:r>
              <a:rPr lang="en-US" altLang="zh-CN" sz="2400" dirty="0"/>
              <a:t>9</a:t>
            </a:r>
            <a:r>
              <a:rPr lang="zh-CN" altLang="en-US" sz="2400" dirty="0"/>
              <a:t>日下午一点的</a:t>
            </a:r>
            <a:r>
              <a:rPr lang="en-US" altLang="zh-CN" sz="2400" dirty="0"/>
              <a:t>5</a:t>
            </a:r>
            <a:r>
              <a:rPr lang="zh-CN" altLang="en-US" sz="2400" dirty="0"/>
              <a:t>个人的包间，感谢你的支持。</a:t>
            </a:r>
            <a:endParaRPr lang="zh-CN" altLang="en-US" sz="2400" dirty="0"/>
          </a:p>
          <a:p>
            <a:pPr algn="just">
              <a:lnSpc>
                <a:spcPct val="130000"/>
              </a:lnSpc>
              <a:buClr>
                <a:srgbClr val="C00000"/>
              </a:buClr>
            </a:pPr>
            <a:r>
              <a:rPr lang="en-US" altLang="zh-CN" sz="2400" dirty="0" err="1"/>
              <a:t>Usr</a:t>
            </a:r>
            <a:r>
              <a:rPr lang="en-US" altLang="zh-CN" sz="2400" dirty="0"/>
              <a:t>: </a:t>
            </a:r>
            <a:r>
              <a:rPr lang="zh-CN" altLang="en-US" sz="2400" dirty="0"/>
              <a:t>好，谢谢。</a:t>
            </a:r>
            <a:endParaRPr lang="en-US" altLang="zh-CN" sz="24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750"/>
                                        <p:tgtEl>
                                          <p:spTgt spid="10">
                                            <p:txEl>
                                              <p:pRg st="2" end="2"/>
                                            </p:txEl>
                                          </p:spTgt>
                                        </p:tgtEl>
                                      </p:cBhvr>
                                    </p:animEffect>
                                  </p:childTnLst>
                                </p:cTn>
                              </p:par>
                            </p:childTnLst>
                          </p:cTn>
                        </p:par>
                        <p:par>
                          <p:cTn id="8" fill="hold">
                            <p:stCondLst>
                              <p:cond delay="1250"/>
                            </p:stCondLst>
                            <p:childTnLst>
                              <p:par>
                                <p:cTn id="9" presetID="10" presetClass="entr" presetSubtype="0" fill="hold" nodeType="afterEffect">
                                  <p:stCondLst>
                                    <p:cond delay="250"/>
                                  </p:stCondLst>
                                  <p:childTnLst>
                                    <p:set>
                                      <p:cBhvr>
                                        <p:cTn id="10" dur="1" fill="hold">
                                          <p:stCondLst>
                                            <p:cond delay="0"/>
                                          </p:stCondLst>
                                        </p:cTn>
                                        <p:tgtEl>
                                          <p:spTgt spid="10">
                                            <p:txEl>
                                              <p:pRg st="3" end="3"/>
                                            </p:txEl>
                                          </p:spTgt>
                                        </p:tgtEl>
                                        <p:attrNameLst>
                                          <p:attrName>style.visibility</p:attrName>
                                        </p:attrNameLst>
                                      </p:cBhvr>
                                      <p:to>
                                        <p:strVal val="visible"/>
                                      </p:to>
                                    </p:set>
                                    <p:animEffect transition="in" filter="fade">
                                      <p:cBhvr>
                                        <p:cTn id="11" dur="75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4513287"/>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自动驾驶</a:t>
            </a:r>
            <a:endParaRPr lang="en-US" altLang="zh-CN" sz="2800" dirty="0">
              <a:solidFill>
                <a:srgbClr val="FF0000"/>
              </a:solidFill>
            </a:endParaRPr>
          </a:p>
          <a:p>
            <a:pPr algn="just">
              <a:lnSpc>
                <a:spcPct val="130000"/>
              </a:lnSpc>
              <a:buClr>
                <a:srgbClr val="C00000"/>
              </a:buClr>
            </a:pPr>
            <a:r>
              <a:rPr lang="zh-CN" altLang="en-US" sz="2800" dirty="0"/>
              <a:t>     计算机视觉和控制系统的一个活跃的研究领域。即使在业界，许多公司，如谷歌、特斯拉、</a:t>
            </a:r>
            <a:r>
              <a:rPr lang="en-US" altLang="zh-CN" sz="2800" dirty="0"/>
              <a:t>Uber</a:t>
            </a:r>
            <a:r>
              <a:rPr lang="zh-CN" altLang="en-US" sz="2800" dirty="0"/>
              <a:t>、百度等，都致力于开发先进的自动驾驶汽车。</a:t>
            </a:r>
            <a:endParaRPr lang="en-US" altLang="zh-CN" sz="2800" dirty="0"/>
          </a:p>
          <a:p>
            <a:pPr algn="just">
              <a:lnSpc>
                <a:spcPct val="130000"/>
              </a:lnSpc>
              <a:buClr>
                <a:srgbClr val="C00000"/>
              </a:buClr>
            </a:pPr>
            <a:r>
              <a:rPr lang="en-US" altLang="zh-CN" sz="2800" dirty="0"/>
              <a:t>      </a:t>
            </a:r>
            <a:r>
              <a:rPr lang="zh-CN" altLang="en-US" sz="2800" dirty="0"/>
              <a:t>深层强化学习已应用于各种游戏，并取得了巨大成功。其算法的成功证明可以通过优化高维度和行动空间中的策略来指导对象解决现实环境中的控制问题。</a:t>
            </a:r>
            <a:endParaRPr lang="en-US" altLang="zh-CN" sz="28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3065" y="1688983"/>
            <a:ext cx="8045245" cy="590611"/>
          </a:xfrm>
          <a:prstGeom prst="rect">
            <a:avLst/>
          </a:prstGeom>
        </p:spPr>
        <p:txBody>
          <a:bodyPr wrap="square">
            <a:spAutoFit/>
          </a:bodyPr>
          <a:lstStyle/>
          <a:p>
            <a:pPr marL="342900" indent="-254000" algn="just">
              <a:lnSpc>
                <a:spcPct val="140000"/>
              </a:lnSpc>
              <a:buFont typeface="Arial" panose="020B0604020202020204" pitchFamily="34" charset="0"/>
              <a:buChar char="•"/>
            </a:pPr>
            <a:endParaRPr lang="en-US" altLang="zh-CN" sz="2600" b="0" dirty="0"/>
          </a:p>
        </p:txBody>
      </p:sp>
      <p:sp>
        <p:nvSpPr>
          <p:cNvPr id="12" name="Text Box 27"/>
          <p:cNvSpPr txBox="1">
            <a:spLocks noChangeArrowheads="1"/>
          </p:cNvSpPr>
          <p:nvPr/>
        </p:nvSpPr>
        <p:spPr bwMode="gray">
          <a:xfrm>
            <a:off x="-1" y="90575"/>
            <a:ext cx="8286750" cy="769441"/>
          </a:xfrm>
          <a:prstGeom prst="rect">
            <a:avLst/>
          </a:prstGeom>
          <a:noFill/>
          <a:ln w="9525" algn="ctr">
            <a:noFill/>
            <a:miter lim="800000"/>
          </a:ln>
        </p:spPr>
        <p:txBody>
          <a:bodyPr wrap="square">
            <a:spAutoFit/>
          </a:bodyPr>
          <a:lstStyle/>
          <a:p>
            <a:pPr indent="360680">
              <a:defRPr/>
            </a:pPr>
            <a:r>
              <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强化学习的应用</a:t>
            </a:r>
            <a:endParaRPr lang="zh-CN" altLang="en-US" sz="44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矩形 9"/>
          <p:cNvSpPr/>
          <p:nvPr/>
        </p:nvSpPr>
        <p:spPr>
          <a:xfrm>
            <a:off x="542925" y="1688983"/>
            <a:ext cx="8286750" cy="3392980"/>
          </a:xfrm>
          <a:prstGeom prst="rect">
            <a:avLst/>
          </a:prstGeom>
        </p:spPr>
        <p:txBody>
          <a:bodyPr wrap="square">
            <a:spAutoFit/>
          </a:bodyPr>
          <a:lstStyle/>
          <a:p>
            <a:pPr marL="457200" indent="-457200" algn="just">
              <a:lnSpc>
                <a:spcPct val="130000"/>
              </a:lnSpc>
              <a:buClr>
                <a:srgbClr val="C00000"/>
              </a:buClr>
              <a:buFont typeface="Wingdings" panose="05000000000000000000" pitchFamily="2" charset="2"/>
              <a:buChar char="Ø"/>
            </a:pPr>
            <a:r>
              <a:rPr lang="zh-CN" altLang="en-US" sz="2800" dirty="0">
                <a:solidFill>
                  <a:srgbClr val="FF0000"/>
                </a:solidFill>
              </a:rPr>
              <a:t>自动驾驶</a:t>
            </a:r>
            <a:endParaRPr lang="en-US" altLang="zh-CN" sz="2800" dirty="0">
              <a:solidFill>
                <a:srgbClr val="FF0000"/>
              </a:solidFill>
            </a:endParaRPr>
          </a:p>
          <a:p>
            <a:pPr algn="just">
              <a:lnSpc>
                <a:spcPct val="130000"/>
              </a:lnSpc>
              <a:buClr>
                <a:srgbClr val="C00000"/>
              </a:buClr>
            </a:pPr>
            <a:r>
              <a:rPr lang="zh-CN" altLang="en-US" sz="2800" dirty="0"/>
              <a:t>     为了实现自动驾驶，人们正尝试同时利用传感器的信息和视觉算法，许多合成驾驶模拟器用于学习导航策略。</a:t>
            </a:r>
            <a:endParaRPr lang="en-US" altLang="zh-CN" sz="2800" dirty="0"/>
          </a:p>
          <a:p>
            <a:pPr algn="just">
              <a:lnSpc>
                <a:spcPct val="130000"/>
              </a:lnSpc>
              <a:buClr>
                <a:srgbClr val="C00000"/>
              </a:buClr>
            </a:pPr>
            <a:r>
              <a:rPr lang="en-US" altLang="zh-CN" sz="2800" dirty="0"/>
              <a:t>     </a:t>
            </a:r>
            <a:r>
              <a:rPr lang="zh-CN" altLang="en-US" sz="2800" dirty="0"/>
              <a:t>与此同时，人们正在研究更加强大和高效的强化学习算法以成功处理真实世界的复杂情境。</a:t>
            </a:r>
            <a:endParaRPr lang="en-US" altLang="zh-CN" sz="2800" dirty="0"/>
          </a:p>
        </p:txBody>
      </p:sp>
      <p:sp>
        <p:nvSpPr>
          <p:cNvPr id="9" name="矩形 8"/>
          <p:cNvSpPr/>
          <p:nvPr/>
        </p:nvSpPr>
        <p:spPr>
          <a:xfrm>
            <a:off x="508521" y="1031527"/>
            <a:ext cx="6570704" cy="584775"/>
          </a:xfrm>
          <a:prstGeom prst="rect">
            <a:avLst/>
          </a:prstGeom>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推荐系统</a:t>
            </a:r>
            <a:endParaRPr lang="zh-CN" altLang="en-US" sz="32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75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75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bwMode="auto">
          <a:xfrm>
            <a:off x="208337" y="1697914"/>
            <a:ext cx="3136124" cy="881097"/>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vertOverflow="overflow" horzOverflow="overflow" vert="horz" wrap="none" lIns="121917" tIns="0" rIns="121917" bIns="0" numCol="1" spcCol="0" rtlCol="0" fromWordArt="0" anchor="ctr" anchorCtr="0" forceAA="0" compatLnSpc="1">
            <a:noAutofit/>
          </a:bodyPr>
          <a:lstStyle/>
          <a:p>
            <a:pPr algn="just" defTabSz="1218565" fontAlgn="base">
              <a:lnSpc>
                <a:spcPct val="110000"/>
              </a:lnSpc>
              <a:spcBef>
                <a:spcPct val="0"/>
              </a:spcBef>
              <a:spcAft>
                <a:spcPct val="0"/>
              </a:spcAft>
              <a:defRPr/>
            </a:pPr>
            <a:r>
              <a:rPr lang="zh-CN" altLang="en-US" sz="2800" kern="0" dirty="0">
                <a:solidFill>
                  <a:srgbClr val="C00000"/>
                </a:solidFill>
                <a:latin typeface="+mn-ea"/>
                <a:cs typeface="Times New Roman" panose="02020603050405020304" pitchFamily="18" charset="0"/>
                <a:sym typeface="+mn-ea"/>
              </a:rPr>
              <a:t>深度学习</a:t>
            </a:r>
            <a:endParaRPr lang="en-US" altLang="zh-CN" sz="2800" kern="0" dirty="0">
              <a:solidFill>
                <a:srgbClr val="C00000"/>
              </a:solidFill>
              <a:latin typeface="+mn-ea"/>
              <a:cs typeface="Times New Roman" panose="02020603050405020304" pitchFamily="18" charset="0"/>
              <a:sym typeface="+mn-ea"/>
            </a:endParaRPr>
          </a:p>
          <a:p>
            <a:pPr algn="just" defTabSz="1218565" fontAlgn="base">
              <a:lnSpc>
                <a:spcPct val="110000"/>
              </a:lnSpc>
              <a:spcBef>
                <a:spcPct val="0"/>
              </a:spcBef>
              <a:spcAft>
                <a:spcPct val="0"/>
              </a:spcAft>
              <a:defRPr/>
            </a:pPr>
            <a:r>
              <a:rPr lang="zh-CN" altLang="en-US" sz="2400" kern="0" dirty="0">
                <a:solidFill>
                  <a:srgbClr val="0070C0"/>
                </a:solidFill>
                <a:latin typeface="+mn-ea"/>
                <a:cs typeface="Times New Roman" panose="02020603050405020304" pitchFamily="18" charset="0"/>
                <a:sym typeface="+mn-ea"/>
              </a:rPr>
              <a:t>有效编码围棋棋面</a:t>
            </a:r>
            <a:endParaRPr lang="zh-CN" altLang="en-US" sz="2400" kern="0" dirty="0">
              <a:solidFill>
                <a:srgbClr val="0070C0"/>
              </a:solidFill>
              <a:latin typeface="+mn-ea"/>
              <a:cs typeface="Times New Roman" panose="02020603050405020304" pitchFamily="18" charset="0"/>
              <a:sym typeface="+mn-ea"/>
            </a:endParaRPr>
          </a:p>
        </p:txBody>
      </p:sp>
      <p:sp>
        <p:nvSpPr>
          <p:cNvPr id="18" name="圆角矩形 17"/>
          <p:cNvSpPr/>
          <p:nvPr/>
        </p:nvSpPr>
        <p:spPr bwMode="auto">
          <a:xfrm>
            <a:off x="153993" y="3188743"/>
            <a:ext cx="3209798" cy="881097"/>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vertOverflow="overflow" horzOverflow="overflow" vert="horz" wrap="none" lIns="121917" tIns="0" rIns="121917" bIns="0" numCol="1" spcCol="0" rtlCol="0" fromWordArt="0" anchor="ctr" anchorCtr="0" forceAA="0" compatLnSpc="1">
            <a:noAutofit/>
          </a:bodyPr>
          <a:lstStyle/>
          <a:p>
            <a:pPr algn="just" fontAlgn="base">
              <a:lnSpc>
                <a:spcPct val="110000"/>
              </a:lnSpc>
              <a:spcBef>
                <a:spcPct val="0"/>
              </a:spcBef>
              <a:spcAft>
                <a:spcPct val="0"/>
              </a:spcAft>
              <a:defRPr/>
            </a:pPr>
            <a:r>
              <a:rPr lang="zh-CN" altLang="en-US" sz="2800" kern="0" dirty="0">
                <a:solidFill>
                  <a:srgbClr val="C00000"/>
                </a:solidFill>
                <a:latin typeface="+mn-ea"/>
                <a:cs typeface="Times New Roman" panose="02020603050405020304" pitchFamily="18" charset="0"/>
                <a:sym typeface="+mn-ea"/>
              </a:rPr>
              <a:t>强化学习</a:t>
            </a:r>
            <a:endParaRPr lang="en-US" altLang="zh-CN" sz="2800" kern="0" dirty="0">
              <a:solidFill>
                <a:srgbClr val="C00000"/>
              </a:solidFill>
              <a:latin typeface="+mn-ea"/>
              <a:cs typeface="Times New Roman" panose="02020603050405020304" pitchFamily="18" charset="0"/>
              <a:sym typeface="+mn-ea"/>
            </a:endParaRPr>
          </a:p>
          <a:p>
            <a:pPr algn="just" defTabSz="1218565" fontAlgn="base">
              <a:lnSpc>
                <a:spcPct val="110000"/>
              </a:lnSpc>
              <a:spcBef>
                <a:spcPct val="0"/>
              </a:spcBef>
              <a:spcAft>
                <a:spcPct val="0"/>
              </a:spcAft>
              <a:defRPr/>
            </a:pPr>
            <a:r>
              <a:rPr lang="zh-CN" altLang="en-US" sz="2400" kern="0" dirty="0">
                <a:solidFill>
                  <a:srgbClr val="0070C0"/>
                </a:solidFill>
                <a:latin typeface="+mn-ea"/>
                <a:cs typeface="Times New Roman" panose="02020603050405020304" pitchFamily="18" charset="0"/>
                <a:sym typeface="+mn-ea"/>
              </a:rPr>
              <a:t>助力做出序贯决策</a:t>
            </a:r>
            <a:endParaRPr lang="zh-CN" altLang="en-US" sz="2400" kern="0" dirty="0">
              <a:solidFill>
                <a:srgbClr val="0070C0"/>
              </a:solidFill>
              <a:latin typeface="+mn-ea"/>
              <a:cs typeface="Times New Roman" panose="02020603050405020304" pitchFamily="18" charset="0"/>
              <a:sym typeface="+mn-ea"/>
            </a:endParaRPr>
          </a:p>
        </p:txBody>
      </p:sp>
      <p:sp>
        <p:nvSpPr>
          <p:cNvPr id="19" name="圆角矩形 18"/>
          <p:cNvSpPr/>
          <p:nvPr/>
        </p:nvSpPr>
        <p:spPr bwMode="auto">
          <a:xfrm>
            <a:off x="153991" y="4814343"/>
            <a:ext cx="3220103" cy="881097"/>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vertOverflow="overflow" horzOverflow="overflow" vert="horz" wrap="none" lIns="121917" tIns="0" rIns="121917" bIns="0" numCol="1" spcCol="0" rtlCol="0" fromWordArt="0" anchor="ctr" anchorCtr="0" forceAA="0" compatLnSpc="1">
            <a:noAutofit/>
          </a:bodyPr>
          <a:lstStyle/>
          <a:p>
            <a:pPr algn="just" fontAlgn="base">
              <a:lnSpc>
                <a:spcPct val="110000"/>
              </a:lnSpc>
              <a:spcBef>
                <a:spcPct val="0"/>
              </a:spcBef>
              <a:spcAft>
                <a:spcPct val="0"/>
              </a:spcAft>
              <a:defRPr/>
            </a:pPr>
            <a:r>
              <a:rPr lang="zh-CN" altLang="en-US" sz="2800" kern="0" dirty="0">
                <a:solidFill>
                  <a:srgbClr val="C00000"/>
                </a:solidFill>
                <a:latin typeface="+mn-ea"/>
                <a:cs typeface="Times New Roman" panose="02020603050405020304" pitchFamily="18" charset="0"/>
                <a:sym typeface="+mn-ea"/>
              </a:rPr>
              <a:t>蒙特卡洛树搜索</a:t>
            </a:r>
            <a:endParaRPr lang="en-US" altLang="zh-CN" sz="2800" kern="0" dirty="0">
              <a:solidFill>
                <a:srgbClr val="C00000"/>
              </a:solidFill>
              <a:latin typeface="+mn-ea"/>
              <a:cs typeface="Times New Roman" panose="02020603050405020304" pitchFamily="18" charset="0"/>
              <a:sym typeface="+mn-ea"/>
            </a:endParaRPr>
          </a:p>
          <a:p>
            <a:pPr algn="just" fontAlgn="base">
              <a:lnSpc>
                <a:spcPct val="110000"/>
              </a:lnSpc>
              <a:spcBef>
                <a:spcPct val="0"/>
              </a:spcBef>
              <a:spcAft>
                <a:spcPct val="0"/>
              </a:spcAft>
              <a:defRPr/>
            </a:pPr>
            <a:r>
              <a:rPr lang="zh-CN" altLang="en-US" sz="2400" kern="0" dirty="0">
                <a:solidFill>
                  <a:srgbClr val="0070C0"/>
                </a:solidFill>
                <a:latin typeface="+mn-ea"/>
                <a:cs typeface="Times New Roman" panose="02020603050405020304" pitchFamily="18" charset="0"/>
                <a:sym typeface="+mn-ea"/>
              </a:rPr>
              <a:t>支持从样本空间中采样</a:t>
            </a:r>
            <a:endParaRPr lang="zh-CN" altLang="en-US" sz="2400" kern="0" dirty="0">
              <a:solidFill>
                <a:srgbClr val="0070C0"/>
              </a:solidFill>
              <a:latin typeface="+mn-ea"/>
              <a:cs typeface="Times New Roman" panose="02020603050405020304" pitchFamily="18" charset="0"/>
              <a:sym typeface="+mn-ea"/>
            </a:endParaRPr>
          </a:p>
        </p:txBody>
      </p:sp>
      <p:grpSp>
        <p:nvGrpSpPr>
          <p:cNvPr id="13" name="组合 12"/>
          <p:cNvGrpSpPr/>
          <p:nvPr/>
        </p:nvGrpSpPr>
        <p:grpSpPr>
          <a:xfrm>
            <a:off x="3374095" y="1128573"/>
            <a:ext cx="5109338" cy="4857704"/>
            <a:chOff x="4665133" y="864022"/>
            <a:chExt cx="5109338" cy="3643278"/>
          </a:xfrm>
        </p:grpSpPr>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65133" y="1753022"/>
              <a:ext cx="3352800" cy="1952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47166" y="1238287"/>
              <a:ext cx="685800" cy="7663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直接箭头连接符 3"/>
            <p:cNvCxnSpPr/>
            <p:nvPr/>
          </p:nvCxnSpPr>
          <p:spPr>
            <a:xfrm flipH="1" flipV="1">
              <a:off x="5562600" y="1684867"/>
              <a:ext cx="431800" cy="16996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5556703" y="864022"/>
              <a:ext cx="1569660" cy="484748"/>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rPr>
                <a:t>深度学习有效</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编码感知棋面</a:t>
              </a:r>
              <a:endParaRPr lang="zh-CN" altLang="en-US" dirty="0">
                <a:latin typeface="黑体" panose="02010609060101010101" pitchFamily="49" charset="-122"/>
                <a:ea typeface="黑体" panose="02010609060101010101" pitchFamily="49" charset="-122"/>
              </a:endParaRPr>
            </a:p>
          </p:txBody>
        </p:sp>
        <p:cxnSp>
          <p:nvCxnSpPr>
            <p:cNvPr id="24" name="直接箭头连接符 23"/>
            <p:cNvCxnSpPr/>
            <p:nvPr/>
          </p:nvCxnSpPr>
          <p:spPr>
            <a:xfrm flipH="1">
              <a:off x="6951133" y="2149478"/>
              <a:ext cx="1077104" cy="4413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矩形 25"/>
                <p:cNvSpPr/>
                <p:nvPr/>
              </p:nvSpPr>
              <p:spPr>
                <a:xfrm>
                  <a:off x="7182519" y="1403585"/>
                  <a:ext cx="2591952" cy="746839"/>
                </a:xfrm>
                <a:prstGeom prst="rect">
                  <a:avLst/>
                </a:prstGeom>
              </p:spPr>
              <p:txBody>
                <a:bodyPr wrap="square">
                  <a:spAutoFit/>
                </a:bodyPr>
                <a:lstStyle/>
                <a:p>
                  <a:r>
                    <a:rPr lang="zh-CN" altLang="en-US" dirty="0">
                      <a:solidFill>
                        <a:schemeClr val="tx1"/>
                      </a:solidFill>
                      <a:latin typeface="黑体" panose="02010609060101010101" pitchFamily="49" charset="-122"/>
                      <a:ea typeface="黑体" panose="02010609060101010101" pitchFamily="49" charset="-122"/>
                    </a:rPr>
                    <a:t>强化学习助力</a:t>
                  </a:r>
                  <a:endParaRPr lang="en-US" altLang="zh-CN" dirty="0">
                    <a:solidFill>
                      <a:schemeClr val="tx1"/>
                    </a:solidFill>
                    <a:latin typeface="黑体" panose="02010609060101010101" pitchFamily="49" charset="-122"/>
                    <a:ea typeface="黑体" panose="02010609060101010101" pitchFamily="49" charset="-122"/>
                  </a:endParaRPr>
                </a:p>
                <a:p>
                  <a:r>
                    <a:rPr lang="zh-CN" altLang="en-US" dirty="0">
                      <a:solidFill>
                        <a:schemeClr val="tx1"/>
                      </a:solidFill>
                      <a:latin typeface="黑体" panose="02010609060101010101" pitchFamily="49" charset="-122"/>
                      <a:ea typeface="黑体" panose="02010609060101010101" pitchFamily="49" charset="-122"/>
                    </a:rPr>
                    <a:t>序贯决策行动</a:t>
                  </a:r>
                  <a:endParaRPr lang="en-US" altLang="zh-CN" dirty="0">
                    <a:solidFill>
                      <a:schemeClr val="tx1"/>
                    </a:solidFill>
                    <a:latin typeface="黑体" panose="02010609060101010101" pitchFamily="49" charset="-122"/>
                    <a:ea typeface="黑体" panose="02010609060101010101" pitchFamily="49" charset="-122"/>
                  </a:endParaRPr>
                </a:p>
                <a:p>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a:ea typeface="黑体" panose="02010609060101010101" pitchFamily="49" charset="-122"/>
                              </a:rPr>
                              <m:t>𝑠</m:t>
                            </m:r>
                          </m:e>
                          <m:sub>
                            <m:r>
                              <a:rPr lang="en-US" altLang="zh-CN" b="0" i="1" smtClean="0">
                                <a:solidFill>
                                  <a:schemeClr val="tx1"/>
                                </a:solidFill>
                                <a:latin typeface="Cambria Math" panose="02040503050406030204"/>
                                <a:ea typeface="黑体" panose="02010609060101010101" pitchFamily="49" charset="-122"/>
                              </a:rPr>
                              <m:t>1</m:t>
                            </m:r>
                          </m:sub>
                        </m:sSub>
                        <m:groupChr>
                          <m:groupChrPr>
                            <m:chr m:val="→"/>
                            <m:vertJc m:val="bot"/>
                            <m:ctrlPr>
                              <a:rPr lang="en-US" altLang="zh-CN" i="1">
                                <a:solidFill>
                                  <a:schemeClr val="tx1"/>
                                </a:solidFill>
                                <a:latin typeface="Cambria Math" panose="02040503050406030204" pitchFamily="18" charset="0"/>
                                <a:ea typeface="黑体" panose="02010609060101010101" pitchFamily="49" charset="-122"/>
                              </a:rPr>
                            </m:ctrlPr>
                          </m:groupChrPr>
                          <m:e>
                            <m:sSub>
                              <m:sSubPr>
                                <m:ctrlPr>
                                  <a:rPr lang="en-US" altLang="zh-CN" i="1">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a:ea typeface="黑体" panose="02010609060101010101" pitchFamily="49" charset="-122"/>
                                  </a:rPr>
                                  <m:t>𝑎</m:t>
                                </m:r>
                              </m:e>
                              <m:sub>
                                <m:r>
                                  <a:rPr lang="en-US" altLang="zh-CN" b="0" i="1" smtClean="0">
                                    <a:solidFill>
                                      <a:schemeClr val="tx1"/>
                                    </a:solidFill>
                                    <a:latin typeface="Cambria Math" panose="02040503050406030204"/>
                                    <a:ea typeface="黑体" panose="02010609060101010101" pitchFamily="49" charset="-122"/>
                                  </a:rPr>
                                  <m:t>1</m:t>
                                </m:r>
                              </m:sub>
                            </m:sSub>
                          </m:e>
                        </m:groupChr>
                        <m:sSub>
                          <m:sSubPr>
                            <m:ctrlPr>
                              <a:rPr lang="en-US" altLang="zh-CN" i="1">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a:ea typeface="黑体" panose="02010609060101010101" pitchFamily="49" charset="-122"/>
                              </a:rPr>
                              <m:t>𝑠</m:t>
                            </m:r>
                          </m:e>
                          <m:sub>
                            <m:r>
                              <a:rPr lang="en-US" altLang="zh-CN" b="0" i="1" smtClean="0">
                                <a:solidFill>
                                  <a:schemeClr val="tx1"/>
                                </a:solidFill>
                                <a:latin typeface="Cambria Math" panose="02040503050406030204"/>
                                <a:ea typeface="黑体" panose="02010609060101010101" pitchFamily="49" charset="-122"/>
                              </a:rPr>
                              <m:t>2</m:t>
                            </m:r>
                          </m:sub>
                        </m:sSub>
                        <m:groupChr>
                          <m:groupChrPr>
                            <m:chr m:val="→"/>
                            <m:vertJc m:val="bot"/>
                            <m:ctrlPr>
                              <a:rPr lang="en-US" altLang="zh-CN" i="1">
                                <a:solidFill>
                                  <a:schemeClr val="tx1"/>
                                </a:solidFill>
                                <a:latin typeface="Cambria Math" panose="02040503050406030204" pitchFamily="18" charset="0"/>
                                <a:ea typeface="黑体" panose="02010609060101010101" pitchFamily="49" charset="-122"/>
                              </a:rPr>
                            </m:ctrlPr>
                          </m:groupChrPr>
                          <m:e>
                            <m:sSub>
                              <m:sSubPr>
                                <m:ctrlPr>
                                  <a:rPr lang="en-US" altLang="zh-CN" i="1">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a:ea typeface="黑体" panose="02010609060101010101" pitchFamily="49" charset="-122"/>
                                  </a:rPr>
                                  <m:t>𝑎</m:t>
                                </m:r>
                              </m:e>
                              <m:sub>
                                <m:r>
                                  <a:rPr lang="en-US" altLang="zh-CN" b="0" i="1" smtClean="0">
                                    <a:solidFill>
                                      <a:schemeClr val="tx1"/>
                                    </a:solidFill>
                                    <a:latin typeface="Cambria Math" panose="02040503050406030204"/>
                                    <a:ea typeface="黑体" panose="02010609060101010101" pitchFamily="49" charset="-122"/>
                                  </a:rPr>
                                  <m:t>2</m:t>
                                </m:r>
                              </m:sub>
                            </m:sSub>
                          </m:e>
                        </m:groupChr>
                        <m:sSub>
                          <m:sSubPr>
                            <m:ctrlPr>
                              <a:rPr lang="en-US" altLang="zh-CN" i="1">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a:ea typeface="黑体" panose="02010609060101010101" pitchFamily="49" charset="-122"/>
                              </a:rPr>
                              <m:t>𝑠</m:t>
                            </m:r>
                          </m:e>
                          <m:sub>
                            <m:r>
                              <a:rPr lang="en-US" altLang="zh-CN" b="0" i="1" smtClean="0">
                                <a:solidFill>
                                  <a:schemeClr val="tx1"/>
                                </a:solidFill>
                                <a:latin typeface="Cambria Math" panose="02040503050406030204"/>
                                <a:ea typeface="黑体" panose="02010609060101010101" pitchFamily="49" charset="-122"/>
                              </a:rPr>
                              <m:t>3</m:t>
                            </m:r>
                          </m:sub>
                        </m:sSub>
                        <m:groupChr>
                          <m:groupChrPr>
                            <m:chr m:val="→"/>
                            <m:vertJc m:val="bot"/>
                            <m:ctrlPr>
                              <a:rPr lang="en-US" altLang="zh-CN" i="1">
                                <a:solidFill>
                                  <a:schemeClr val="tx1"/>
                                </a:solidFill>
                                <a:latin typeface="Cambria Math" panose="02040503050406030204" pitchFamily="18" charset="0"/>
                                <a:ea typeface="黑体" panose="02010609060101010101" pitchFamily="49" charset="-122"/>
                              </a:rPr>
                            </m:ctrlPr>
                          </m:groupChrPr>
                          <m:e>
                            <m:sSub>
                              <m:sSubPr>
                                <m:ctrlPr>
                                  <a:rPr lang="en-US" altLang="zh-CN" i="1">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a:ea typeface="黑体" panose="02010609060101010101" pitchFamily="49" charset="-122"/>
                                  </a:rPr>
                                  <m:t>𝑎</m:t>
                                </m:r>
                              </m:e>
                              <m:sub>
                                <m:r>
                                  <a:rPr lang="en-US" altLang="zh-CN" b="0" i="1" smtClean="0">
                                    <a:solidFill>
                                      <a:schemeClr val="tx1"/>
                                    </a:solidFill>
                                    <a:latin typeface="Cambria Math" panose="02040503050406030204"/>
                                    <a:ea typeface="黑体" panose="02010609060101010101" pitchFamily="49" charset="-122"/>
                                  </a:rPr>
                                  <m:t>3</m:t>
                                </m:r>
                              </m:sub>
                            </m:sSub>
                          </m:e>
                        </m:groupChr>
                        <m:r>
                          <a:rPr lang="en-US" altLang="zh-CN" b="0" i="1" smtClean="0">
                            <a:solidFill>
                              <a:schemeClr val="tx1"/>
                            </a:solidFill>
                            <a:latin typeface="Cambria Math" panose="02040503050406030204"/>
                            <a:ea typeface="黑体" panose="02010609060101010101" pitchFamily="49" charset="-122"/>
                          </a:rPr>
                          <m:t>…</m:t>
                        </m:r>
                        <m:sSub>
                          <m:sSubPr>
                            <m:ctrlPr>
                              <a:rPr lang="en-US" altLang="zh-CN" i="1">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a:ea typeface="黑体" panose="02010609060101010101" pitchFamily="49" charset="-122"/>
                              </a:rPr>
                              <m:t>𝑠</m:t>
                            </m:r>
                          </m:e>
                          <m:sub>
                            <m:r>
                              <a:rPr lang="en-US" altLang="zh-CN" b="0" i="1" smtClean="0">
                                <a:solidFill>
                                  <a:schemeClr val="tx1"/>
                                </a:solidFill>
                                <a:latin typeface="Cambria Math" panose="02040503050406030204"/>
                                <a:ea typeface="黑体" panose="02010609060101010101" pitchFamily="49" charset="-122"/>
                              </a:rPr>
                              <m:t>𝑇</m:t>
                            </m:r>
                          </m:sub>
                        </m:sSub>
                        <m:groupChr>
                          <m:groupChrPr>
                            <m:chr m:val="→"/>
                            <m:vertJc m:val="bot"/>
                            <m:ctrlPr>
                              <a:rPr lang="en-US" altLang="zh-CN" i="1">
                                <a:solidFill>
                                  <a:schemeClr val="tx1"/>
                                </a:solidFill>
                                <a:latin typeface="Cambria Math" panose="02040503050406030204" pitchFamily="18" charset="0"/>
                                <a:ea typeface="黑体" panose="02010609060101010101" pitchFamily="49" charset="-122"/>
                              </a:rPr>
                            </m:ctrlPr>
                          </m:groupChrPr>
                          <m:e>
                            <m:sSub>
                              <m:sSubPr>
                                <m:ctrlPr>
                                  <a:rPr lang="en-US" altLang="zh-CN" i="1">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a:ea typeface="黑体" panose="02010609060101010101" pitchFamily="49" charset="-122"/>
                                  </a:rPr>
                                  <m:t>𝑎</m:t>
                                </m:r>
                              </m:e>
                              <m:sub>
                                <m:r>
                                  <a:rPr lang="en-US" altLang="zh-CN" b="0" i="1" smtClean="0">
                                    <a:solidFill>
                                      <a:schemeClr val="tx1"/>
                                    </a:solidFill>
                                    <a:latin typeface="Cambria Math" panose="02040503050406030204"/>
                                    <a:ea typeface="黑体" panose="02010609060101010101" pitchFamily="49" charset="-122"/>
                                  </a:rPr>
                                  <m:t>𝑇</m:t>
                                </m:r>
                              </m:sub>
                            </m:sSub>
                          </m:e>
                        </m:groupChr>
                        <m:r>
                          <a:rPr lang="en-US" altLang="zh-CN" b="0" i="1" smtClean="0">
                            <a:solidFill>
                              <a:schemeClr val="tx1"/>
                            </a:solidFill>
                            <a:latin typeface="Cambria Math" panose="02040503050406030204"/>
                            <a:ea typeface="黑体" panose="02010609060101010101" pitchFamily="49" charset="-122"/>
                          </a:rPr>
                          <m:t>𝑅𝑒𝑤𝑎𝑟𝑑</m:t>
                        </m:r>
                      </m:oMath>
                    </m:oMathPara>
                  </a14:m>
                  <a:endParaRPr lang="en-US" altLang="zh-CN" i="1" dirty="0">
                    <a:solidFill>
                      <a:schemeClr val="tx1"/>
                    </a:solidFill>
                    <a:latin typeface="Cambria Math" panose="02040503050406030204"/>
                    <a:ea typeface="黑体" panose="02010609060101010101" pitchFamily="49" charset="-122"/>
                  </a:endParaRPr>
                </a:p>
              </p:txBody>
            </p:sp>
          </mc:Choice>
          <mc:Fallback>
            <p:sp>
              <p:nvSpPr>
                <p:cNvPr id="26" name="矩形 25"/>
                <p:cNvSpPr>
                  <a:spLocks noRot="1" noChangeAspect="1" noMove="1" noResize="1" noEditPoints="1" noAdjustHandles="1" noChangeArrowheads="1" noChangeShapeType="1" noTextEdit="1"/>
                </p:cNvSpPr>
                <p:nvPr/>
              </p:nvSpPr>
              <p:spPr>
                <a:xfrm>
                  <a:off x="7182519" y="1403585"/>
                  <a:ext cx="2591952" cy="746839"/>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矩形 26"/>
                <p:cNvSpPr/>
                <p:nvPr/>
              </p:nvSpPr>
              <p:spPr>
                <a:xfrm>
                  <a:off x="5392300" y="3760461"/>
                  <a:ext cx="3352800" cy="746839"/>
                </a:xfrm>
                <a:prstGeom prst="rect">
                  <a:avLst/>
                </a:prstGeom>
              </p:spPr>
              <p:txBody>
                <a:bodyPr wrap="square">
                  <a:spAutoFit/>
                </a:bodyPr>
                <a:lstStyle/>
                <a:p>
                  <a:r>
                    <a:rPr lang="zh-CN" altLang="en-US" dirty="0">
                      <a:latin typeface="+mn-ea"/>
                    </a:rPr>
                    <a:t>蒙特卡洛搜索按照“探索与利用”原则采样序列来训练模型</a:t>
                  </a:r>
                  <a:endParaRPr lang="en-US" altLang="zh-CN" dirty="0">
                    <a:latin typeface="+mn-ea"/>
                  </a:endParaRPr>
                </a:p>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sub>
                        </m:sSub>
                        <m:groupChr>
                          <m:groupChrPr>
                            <m:chr m:val="→"/>
                            <m:vertJc m:val="bot"/>
                            <m:ctrlPr>
                              <a:rPr lang="en-US" altLang="zh-CN" i="1">
                                <a:latin typeface="Cambria Math" panose="02040503050406030204" pitchFamily="18" charset="0"/>
                              </a:rPr>
                            </m:ctrlPr>
                          </m:groupChrP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𝑡</m:t>
                                </m:r>
                              </m:sub>
                            </m:sSub>
                          </m:e>
                        </m:groupCh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sub>
                        </m:sSub>
                        <m:groupChr>
                          <m:groupChrPr>
                            <m:chr m:val="→"/>
                            <m:vertJc m:val="bot"/>
                            <m:ctrlPr>
                              <a:rPr lang="en-US" altLang="zh-CN" i="1">
                                <a:latin typeface="Cambria Math" panose="02040503050406030204" pitchFamily="18" charset="0"/>
                              </a:rPr>
                            </m:ctrlPr>
                          </m:groupChrP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sub>
                            </m:sSub>
                          </m:e>
                        </m:groupCh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groupChr>
                          <m:groupChrPr>
                            <m:chr m:val="→"/>
                            <m:vertJc m:val="bot"/>
                            <m:ctrlPr>
                              <a:rPr lang="en-US" altLang="zh-CN" i="1">
                                <a:latin typeface="Cambria Math" panose="02040503050406030204" pitchFamily="18" charset="0"/>
                              </a:rPr>
                            </m:ctrlPr>
                          </m:groupChrP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𝑇</m:t>
                                </m:r>
                              </m:sub>
                            </m:sSub>
                          </m:e>
                        </m:groupCh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𝑇</m:t>
                            </m:r>
                          </m:sub>
                        </m:sSub>
                      </m:oMath>
                    </m:oMathPara>
                  </a14:m>
                  <a:endParaRPr lang="en-US" altLang="zh-CN" dirty="0">
                    <a:latin typeface="+mn-ea"/>
                  </a:endParaRPr>
                </a:p>
              </p:txBody>
            </p:sp>
          </mc:Choice>
          <mc:Fallback>
            <p:sp>
              <p:nvSpPr>
                <p:cNvPr id="27" name="矩形 26"/>
                <p:cNvSpPr>
                  <a:spLocks noRot="1" noChangeAspect="1" noMove="1" noResize="1" noEditPoints="1" noAdjustHandles="1" noChangeArrowheads="1" noChangeShapeType="1" noTextEdit="1"/>
                </p:cNvSpPr>
                <p:nvPr/>
              </p:nvSpPr>
              <p:spPr>
                <a:xfrm>
                  <a:off x="5392300" y="3760461"/>
                  <a:ext cx="3352800" cy="746839"/>
                </a:xfrm>
                <a:prstGeom prst="rect">
                  <a:avLst/>
                </a:prstGeom>
                <a:blipFill rotWithShape="1">
                  <a:blip r:embed="rId4"/>
                </a:blipFill>
              </p:spPr>
              <p:txBody>
                <a:bodyPr/>
                <a:lstStyle/>
                <a:p>
                  <a:r>
                    <a:rPr lang="zh-CN" altLang="en-US">
                      <a:noFill/>
                    </a:rPr>
                    <a:t> </a:t>
                  </a:r>
                </a:p>
              </p:txBody>
            </p:sp>
          </mc:Fallback>
        </mc:AlternateContent>
        <p:cxnSp>
          <p:nvCxnSpPr>
            <p:cNvPr id="28" name="直接箭头连接符 27"/>
            <p:cNvCxnSpPr/>
            <p:nvPr/>
          </p:nvCxnSpPr>
          <p:spPr>
            <a:xfrm flipV="1">
              <a:off x="6604000" y="3479800"/>
              <a:ext cx="457200" cy="28066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0" name="标题 2"/>
          <p:cNvSpPr>
            <a:spLocks noGrp="1"/>
          </p:cNvSpPr>
          <p:nvPr>
            <p:ph type="title"/>
          </p:nvPr>
        </p:nvSpPr>
        <p:spPr>
          <a:xfrm>
            <a:off x="231131" y="95611"/>
            <a:ext cx="8681737" cy="657727"/>
          </a:xfrm>
        </p:spPr>
        <p:txBody>
          <a:bodyPr/>
          <a:lstStyle/>
          <a:p>
            <a:pPr algn="l">
              <a:lnSpc>
                <a:spcPct val="100000"/>
              </a:lnSpc>
            </a:pPr>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深度</a:t>
            </a:r>
            <a:r>
              <a:rPr lang="en-US" altLang="zh-CN" sz="4400" dirty="0">
                <a:latin typeface="方正姚体" panose="02010601030101010101" pitchFamily="2" charset="-122"/>
                <a:ea typeface="方正姚体" panose="02010601030101010101" pitchFamily="2" charset="-122"/>
                <a:cs typeface="Times New Roman" panose="02020603050405020304" pitchFamily="18" charset="0"/>
              </a:rPr>
              <a:t>Q</a:t>
            </a:r>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学习的应用实例</a:t>
            </a:r>
            <a:r>
              <a:rPr lang="en-US" altLang="zh-CN" sz="4400" dirty="0">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400" dirty="0">
                <a:latin typeface="方正姚体" panose="02010601030101010101" pitchFamily="2" charset="-122"/>
                <a:ea typeface="方正姚体" panose="02010601030101010101" pitchFamily="2" charset="-122"/>
              </a:rPr>
              <a:t>围棋博弈</a:t>
            </a:r>
            <a:endParaRPr lang="zh-CN" altLang="en-US" sz="4400" dirty="0">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白底灰边-Office2010风格</Template>
  <TotalTime>0</TotalTime>
  <Words>6499</Words>
  <Application>WPS 演示</Application>
  <PresentationFormat>全屏显示(4:3)</PresentationFormat>
  <Paragraphs>475</Paragraphs>
  <Slides>45</Slides>
  <Notes>42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45</vt:i4>
      </vt:variant>
    </vt:vector>
  </HeadingPairs>
  <TitlesOfParts>
    <vt:vector size="62" baseType="lpstr">
      <vt:lpstr>Arial</vt:lpstr>
      <vt:lpstr>宋体</vt:lpstr>
      <vt:lpstr>Wingdings</vt:lpstr>
      <vt:lpstr>华文行楷</vt:lpstr>
      <vt:lpstr>微软雅黑</vt:lpstr>
      <vt:lpstr>Verdana</vt:lpstr>
      <vt:lpstr>Times New Roman</vt:lpstr>
      <vt:lpstr>Calibri</vt:lpstr>
      <vt:lpstr>方正姚体</vt:lpstr>
      <vt:lpstr>MS PGothic</vt:lpstr>
      <vt:lpstr>黑体</vt:lpstr>
      <vt:lpstr>Helvetica</vt:lpstr>
      <vt:lpstr>Times New Roman</vt:lpstr>
      <vt:lpstr>Arial Unicode MS</vt:lpstr>
      <vt:lpstr>Cambria Math</vt:lpstr>
      <vt:lpstr>Cambria Math</vt:lpstr>
      <vt:lpstr>白底灰边-Office2010风格</vt:lpstr>
      <vt:lpstr>强化学习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深度Q学习的应用实例: 围棋博弈</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wuxf</dc:creator>
  <cp:lastModifiedBy>梁桐</cp:lastModifiedBy>
  <cp:revision>1540</cp:revision>
  <dcterms:created xsi:type="dcterms:W3CDTF">2020-07-12T12:24:00Z</dcterms:created>
  <dcterms:modified xsi:type="dcterms:W3CDTF">2025-06-18T14:04:01Z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D3E52023F20842E3A78268B2049DB6BC_12</vt:lpwstr>
  </property>
</Properties>
</file>