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0"/>
  </p:notesMasterIdLst>
  <p:sldIdLst>
    <p:sldId id="856" r:id="rId2"/>
    <p:sldId id="855" r:id="rId3"/>
    <p:sldId id="831" r:id="rId4"/>
    <p:sldId id="832" r:id="rId5"/>
    <p:sldId id="833" r:id="rId6"/>
    <p:sldId id="834" r:id="rId7"/>
    <p:sldId id="836" r:id="rId8"/>
    <p:sldId id="857" r:id="rId9"/>
    <p:sldId id="838" r:id="rId10"/>
    <p:sldId id="858" r:id="rId11"/>
    <p:sldId id="839" r:id="rId12"/>
    <p:sldId id="840" r:id="rId13"/>
    <p:sldId id="859" r:id="rId14"/>
    <p:sldId id="841" r:id="rId15"/>
    <p:sldId id="842" r:id="rId16"/>
    <p:sldId id="860" r:id="rId17"/>
    <p:sldId id="844" r:id="rId18"/>
    <p:sldId id="845"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2" autoAdjust="0"/>
    <p:restoredTop sz="94660"/>
  </p:normalViewPr>
  <p:slideViewPr>
    <p:cSldViewPr snapToGrid="0">
      <p:cViewPr varScale="1">
        <p:scale>
          <a:sx n="69" d="100"/>
          <a:sy n="69" d="100"/>
        </p:scale>
        <p:origin x="705"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DA104E-00FE-41E3-A109-0B342897F475}" type="datetimeFigureOut">
              <a:rPr lang="zh-CN" altLang="en-US" smtClean="0"/>
              <a:t>2022/6/2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2962C2-D738-4F9C-9798-072233DFD55F}" type="slidenum">
              <a:rPr lang="zh-CN" altLang="en-US" smtClean="0"/>
              <a:t>‹#›</a:t>
            </a:fld>
            <a:endParaRPr lang="zh-CN" altLang="en-US"/>
          </a:p>
        </p:txBody>
      </p:sp>
    </p:spTree>
    <p:extLst>
      <p:ext uri="{BB962C8B-B14F-4D97-AF65-F5344CB8AC3E}">
        <p14:creationId xmlns:p14="http://schemas.microsoft.com/office/powerpoint/2010/main" val="4074307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ChangeArrowheads="1" noTextEdit="1"/>
          </p:cNvSpPr>
          <p:nvPr>
            <p:ph type="sldImg"/>
          </p:nvPr>
        </p:nvSpPr>
        <p:spPr>
          <a:xfrm>
            <a:off x="1143000" y="685800"/>
            <a:ext cx="4572000" cy="3429000"/>
          </a:xfrm>
        </p:spPr>
      </p:sp>
      <p:sp>
        <p:nvSpPr>
          <p:cNvPr id="19458" name="备注占位符 2"/>
          <p:cNvSpPr>
            <a:spLocks noGrp="1" noChangeArrowheads="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59" name="灯片编号占位符 3"/>
          <p:cNvSpPr>
            <a:spLocks noGrp="1"/>
          </p:cNvSpPr>
          <p:nvPr>
            <p:ph type="sldNum" sz="quarter" idx="5"/>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Verdana" panose="020B0804030504040204" pitchFamily="34" charset="0"/>
                <a:ea typeface="宋体" panose="02010600030101010101" pitchFamily="2" charset="-122"/>
              </a:defRPr>
            </a:lvl1pPr>
            <a:lvl2pPr marL="742950" indent="-285750">
              <a:defRPr sz="2800">
                <a:solidFill>
                  <a:schemeClr val="tx1"/>
                </a:solidFill>
                <a:latin typeface="Verdana" panose="020B0804030504040204" pitchFamily="34" charset="0"/>
                <a:ea typeface="宋体" panose="02010600030101010101" pitchFamily="2" charset="-122"/>
              </a:defRPr>
            </a:lvl2pPr>
            <a:lvl3pPr marL="1143000" indent="-228600">
              <a:defRPr sz="2800">
                <a:solidFill>
                  <a:schemeClr val="tx1"/>
                </a:solidFill>
                <a:latin typeface="Verdana" panose="020B0804030504040204" pitchFamily="34" charset="0"/>
                <a:ea typeface="宋体" panose="02010600030101010101" pitchFamily="2" charset="-122"/>
              </a:defRPr>
            </a:lvl3pPr>
            <a:lvl4pPr marL="1600200" indent="-228600">
              <a:defRPr sz="2800">
                <a:solidFill>
                  <a:schemeClr val="tx1"/>
                </a:solidFill>
                <a:latin typeface="Verdana" panose="020B0804030504040204" pitchFamily="34" charset="0"/>
                <a:ea typeface="宋体" panose="02010600030101010101" pitchFamily="2" charset="-122"/>
              </a:defRPr>
            </a:lvl4pPr>
            <a:lvl5pPr marL="2057400" indent="-228600">
              <a:defRPr sz="2800">
                <a:solidFill>
                  <a:schemeClr val="tx1"/>
                </a:solidFill>
                <a:latin typeface="Verdana" panose="020B08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A079DD9-C9D1-C543-AF12-536BB687E807}" type="slidenum">
              <a:rPr kumimoji="0" lang="en-US" altLang="zh-CN" sz="2800" b="0" i="0" u="none" strike="noStrike" kern="1200" cap="none" spc="0" normalizeH="0" baseline="0" noProof="0" smtClean="0">
                <a:ln>
                  <a:noFill/>
                </a:ln>
                <a:solidFill>
                  <a:prstClr val="black"/>
                </a:solidFill>
                <a:effectLst/>
                <a:uLnTx/>
                <a:uFillTx/>
                <a:latin typeface="Verdana" panose="020B0804030504040204" pitchFamily="34" charset="0"/>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altLang="zh-CN" sz="1200" b="0" i="0" u="none" strike="noStrike" kern="1200" cap="none" spc="0" normalizeH="0" baseline="0" noProof="0">
              <a:ln>
                <a:noFill/>
              </a:ln>
              <a:solidFill>
                <a:prstClr val="black"/>
              </a:solidFill>
              <a:effectLst/>
              <a:uLnTx/>
              <a:uFillTx/>
              <a:latin typeface="Arial" panose="020B060402020209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800" dirty="0"/>
              <a:t>图由</a:t>
            </a:r>
            <a:r>
              <a:rPr lang="en-US" altLang="zh-CN" sz="800" dirty="0" err="1"/>
              <a:t>HermanHiddema</a:t>
            </a:r>
            <a:r>
              <a:rPr lang="en-US" altLang="zh-CN" sz="800" dirty="0"/>
              <a:t> at the English Wikipedia</a:t>
            </a:r>
            <a:r>
              <a:rPr lang="zh-CN" altLang="en-US" sz="800" dirty="0"/>
              <a:t>，</a:t>
            </a:r>
            <a:r>
              <a:rPr lang="en-US" altLang="zh-CN" sz="800" dirty="0"/>
              <a:t>CC BY-SA 3.0</a:t>
            </a:r>
            <a:r>
              <a:rPr lang="zh-CN" altLang="en-US" sz="800" dirty="0"/>
              <a:t>，</a:t>
            </a:r>
            <a:r>
              <a:rPr lang="en-US" altLang="zh-CN" sz="800" dirty="0"/>
              <a:t>https://commons.wikimedia.org/w/index.php?curid=4666379</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70078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73808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en-US" altLang="zh-CN" sz="1200" b="1" i="0" u="none" strike="noStrike" kern="1200" baseline="0" dirty="0">
                <a:solidFill>
                  <a:schemeClr val="tx1"/>
                </a:solidFill>
                <a:latin typeface="+mn-lt"/>
                <a:ea typeface="+mn-ea"/>
                <a:cs typeface="+mn-cs"/>
              </a:rPr>
              <a:t>Nash </a:t>
            </a:r>
            <a:r>
              <a:rPr lang="zh-CN" altLang="en-US" sz="1200" b="0" i="0" u="none" strike="noStrike" kern="1200" baseline="0" dirty="0">
                <a:solidFill>
                  <a:schemeClr val="tx1"/>
                </a:solidFill>
                <a:latin typeface="+mn-lt"/>
                <a:ea typeface="+mn-ea"/>
                <a:cs typeface="+mn-cs"/>
              </a:rPr>
              <a:t>定理仍是一个存在性证明，求（近似）</a:t>
            </a:r>
            <a:r>
              <a:rPr lang="en-US" altLang="zh-CN" sz="1200" b="1" i="0" u="none" strike="noStrike" kern="1200" baseline="0" dirty="0">
                <a:solidFill>
                  <a:schemeClr val="tx1"/>
                </a:solidFill>
                <a:latin typeface="+mn-lt"/>
                <a:ea typeface="+mn-ea"/>
                <a:cs typeface="+mn-cs"/>
              </a:rPr>
              <a:t>Nash</a:t>
            </a:r>
            <a:r>
              <a:rPr lang="zh-CN" altLang="en-US" sz="1200" b="0" i="0" u="none" strike="noStrike" kern="1200" baseline="0" dirty="0">
                <a:solidFill>
                  <a:schemeClr val="tx1"/>
                </a:solidFill>
                <a:latin typeface="+mn-lt"/>
                <a:ea typeface="+mn-ea"/>
                <a:cs typeface="+mn-cs"/>
              </a:rPr>
              <a:t>均衡的复杂性证明与算法设计是当前算法博弈论（</a:t>
            </a:r>
            <a:r>
              <a:rPr lang="en-US" altLang="zh-CN" sz="1200" b="1" i="0" u="none" strike="noStrike" kern="1200" baseline="0" dirty="0">
                <a:solidFill>
                  <a:schemeClr val="tx1"/>
                </a:solidFill>
                <a:latin typeface="+mn-lt"/>
                <a:ea typeface="+mn-ea"/>
                <a:cs typeface="+mn-cs"/>
              </a:rPr>
              <a:t>Algorithmic Game Theory</a:t>
            </a:r>
            <a:r>
              <a:rPr lang="zh-CN" altLang="en-US" sz="1200" b="0" i="0" u="none" strike="noStrike" kern="1200" baseline="0" dirty="0">
                <a:solidFill>
                  <a:schemeClr val="tx1"/>
                </a:solidFill>
                <a:latin typeface="+mn-lt"/>
                <a:ea typeface="+mn-ea"/>
                <a:cs typeface="+mn-cs"/>
              </a:rPr>
              <a:t>）的研究热点之一</a:t>
            </a:r>
            <a:endParaRPr lang="en-US" altLang="zh-CN" sz="1200" b="0"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例如</a:t>
            </a:r>
            <a:r>
              <a:rPr lang="en-US" altLang="zh-CN" sz="1200" b="0" i="0" u="none" strike="noStrike" kern="1200" baseline="0" dirty="0" err="1">
                <a:solidFill>
                  <a:schemeClr val="tx1"/>
                </a:solidFill>
                <a:latin typeface="+mn-lt"/>
                <a:ea typeface="+mn-ea"/>
                <a:cs typeface="+mn-cs"/>
              </a:rPr>
              <a:t>Minmax</a:t>
            </a:r>
            <a:r>
              <a:rPr lang="zh-CN" altLang="en-US" sz="1200" b="0" i="0" u="none" strike="noStrike" kern="1200" baseline="0" dirty="0">
                <a:solidFill>
                  <a:schemeClr val="tx1"/>
                </a:solidFill>
                <a:latin typeface="+mn-lt"/>
                <a:ea typeface="+mn-ea"/>
                <a:cs typeface="+mn-cs"/>
              </a:rPr>
              <a:t>定理</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371368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zh-CN" altLang="en-US" sz="1400" dirty="0"/>
              <a:t>所以两人都不会改变自己的策略</a:t>
            </a:r>
            <a:endParaRPr lang="en-US" altLang="zh-CN" sz="1400" dirty="0"/>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zh-CN" altLang="en-US" sz="1400" dirty="0"/>
              <a:t>所以两人都不会改变自己的策略</a:t>
            </a:r>
            <a:endParaRPr lang="en-US" altLang="zh-CN" sz="1400" dirty="0"/>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10940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02578" y="1057014"/>
            <a:ext cx="7772400" cy="1535184"/>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159778" y="402987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t>2022/6/2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24030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03C160-1CF6-4197-853C-5DD8144FA9BE}" type="datetime1">
              <a:rPr lang="zh-CN" altLang="en-US" smtClean="0"/>
              <a:t>2022/6/2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758796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9389" y="1057014"/>
            <a:ext cx="7772400" cy="1533600"/>
          </a:xfrm>
        </p:spPr>
        <p:txBody>
          <a:bodyPr anchor="b"/>
          <a:lstStyle>
            <a:lvl1pPr>
              <a:defRPr sz="4800"/>
            </a:lvl1pPr>
          </a:lstStyle>
          <a:p>
            <a:r>
              <a:rPr lang="zh-CN" altLang="en-US"/>
              <a:t>单击此处编辑母版标题样式</a:t>
            </a:r>
            <a:endParaRPr lang="en-US" dirty="0"/>
          </a:p>
        </p:txBody>
      </p:sp>
      <p:sp>
        <p:nvSpPr>
          <p:cNvPr id="3" name="Text Placeholder 2"/>
          <p:cNvSpPr>
            <a:spLocks noGrp="1"/>
          </p:cNvSpPr>
          <p:nvPr>
            <p:ph type="body" idx="1"/>
          </p:nvPr>
        </p:nvSpPr>
        <p:spPr>
          <a:xfrm>
            <a:off x="1164978" y="4027400"/>
            <a:ext cx="6858000" cy="1656000"/>
          </a:xfrm>
        </p:spPr>
        <p:txBody>
          <a:bodyPr/>
          <a:lstStyle>
            <a:lvl1pPr marL="0" indent="0" algn="ctr">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42E54B1-0884-4633-8327-893DAA1E511F}" type="datetime1">
              <a:rPr lang="zh-CN" altLang="en-US" smtClean="0"/>
              <a:t>2022/6/2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4024540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1650BB-E4E8-4483-82DA-D58DEBC4998C}" type="datetime1">
              <a:rPr lang="zh-CN" altLang="en-US" smtClean="0"/>
              <a:t>2022/6/2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800792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6604BCF-E610-4FCE-ADC3-9F4D58E19C5C}" type="datetime1">
              <a:rPr lang="zh-CN" altLang="en-US" smtClean="0"/>
              <a:t>2022/6/2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62213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t>2022/6/2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403042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0FCEF-073A-4FC7-8BAD-A662F97179A2}" type="datetime1">
              <a:rPr lang="zh-CN" altLang="en-US" smtClean="0"/>
              <a:t>2022/6/2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24578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45B6709-067F-4154-9C9A-D56718F28438}" type="datetime1">
              <a:rPr lang="zh-CN" altLang="en-US" smtClean="0"/>
              <a:t>2022/6/2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776488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D8D4C65-E77B-45F2-BD81-CFF9643C0CCF}" type="datetime1">
              <a:rPr lang="zh-CN" altLang="en-US" smtClean="0"/>
              <a:t>2022/6/2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894362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F906368-F392-4465-AD91-AE646936C52B}" type="datetime1">
              <a:rPr lang="zh-CN" altLang="en-US" smtClean="0"/>
              <a:t>2022/6/2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51165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13AE443-EA00-4061-899C-73E3EB4E23B9}" type="datetime1">
              <a:rPr lang="zh-CN" altLang="en-US" smtClean="0"/>
              <a:t>2022/6/2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0608579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a:prstGeom prst="rect">
            <a:avLst/>
          </a:prstGeom>
        </p:spPr>
        <p:txBody>
          <a:bodyPr/>
          <a:lstStyle/>
          <a:p>
            <a:r>
              <a:rPr lang="zh-CN" altLang="en-US"/>
              <a:t>单击此处编辑母版标题样式</a:t>
            </a:r>
          </a:p>
        </p:txBody>
      </p:sp>
      <p:sp>
        <p:nvSpPr>
          <p:cNvPr id="3" name="Rectangle 2"/>
          <p:cNvSpPr>
            <a:spLocks noGrp="1" noChangeArrowheads="1"/>
          </p:cNvSpPr>
          <p:nvPr>
            <p:ph type="sldNum" sz="quarter" idx="10"/>
          </p:nvPr>
        </p:nvSpPr>
        <p:spPr/>
        <p:txBody>
          <a:bodyPr/>
          <a:lstStyle>
            <a:lvl1pPr>
              <a:defRPr/>
            </a:lvl1pPr>
          </a:lstStyle>
          <a:p>
            <a:pPr>
              <a:defRPr/>
            </a:pPr>
            <a:fld id="{564B43B8-EC4A-5743-9CA4-764B42BFAC9D}" type="slidenum">
              <a:rPr lang="zh-CN" altLang="en-US"/>
              <a:t>‹#›</a:t>
            </a:fld>
            <a:endParaRPr lang="en-US" altLang="zh-CN" sz="1350" dirty="0"/>
          </a:p>
        </p:txBody>
      </p:sp>
    </p:spTree>
    <p:extLst>
      <p:ext uri="{BB962C8B-B14F-4D97-AF65-F5344CB8AC3E}">
        <p14:creationId xmlns:p14="http://schemas.microsoft.com/office/powerpoint/2010/main" val="3112771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4399"/>
            <a:ext cx="9144000" cy="817721"/>
          </a:xfrm>
          <a:prstGeom prst="rect">
            <a:avLst/>
          </a:prstGeom>
        </p:spPr>
        <p:txBody>
          <a:bodyPr vert="horz" lIns="91440" tIns="144000" rIns="91440" bIns="45720" rtlCol="0" anchor="ctr">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34223" y="906011"/>
            <a:ext cx="8883941" cy="5637402"/>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525" y="6660859"/>
            <a:ext cx="2057400" cy="197140"/>
          </a:xfrm>
          <a:prstGeom prst="rect">
            <a:avLst/>
          </a:prstGeom>
        </p:spPr>
        <p:txBody>
          <a:bodyPr vert="horz" lIns="91440" tIns="36000" rIns="91440" bIns="45720" rtlCol="0" anchor="ctr"/>
          <a:lstStyle>
            <a:lvl1pPr algn="l">
              <a:defRPr sz="1200" b="1">
                <a:solidFill>
                  <a:srgbClr val="002060"/>
                </a:solidFill>
              </a:defRPr>
            </a:lvl1pPr>
          </a:lstStyle>
          <a:p>
            <a:fld id="{7181A378-AD84-4E06-B1B5-6D5F5ACB78AE}" type="datetime1">
              <a:rPr lang="zh-CN" altLang="en-US" smtClean="0"/>
              <a:t>2022/6/2</a:t>
            </a:fld>
            <a:endParaRPr lang="zh-CN" altLang="en-US"/>
          </a:p>
        </p:txBody>
      </p:sp>
      <p:sp>
        <p:nvSpPr>
          <p:cNvPr id="5" name="Footer Placeholder 4"/>
          <p:cNvSpPr>
            <a:spLocks noGrp="1"/>
          </p:cNvSpPr>
          <p:nvPr>
            <p:ph type="ftr" sz="quarter" idx="3"/>
          </p:nvPr>
        </p:nvSpPr>
        <p:spPr>
          <a:xfrm>
            <a:off x="2273417" y="6660859"/>
            <a:ext cx="4597165" cy="197140"/>
          </a:xfrm>
          <a:prstGeom prst="rect">
            <a:avLst/>
          </a:prstGeom>
        </p:spPr>
        <p:txBody>
          <a:bodyPr vert="horz" lIns="91440" tIns="36000" rIns="91440" bIns="45720" rtlCol="0" anchor="ctr"/>
          <a:lstStyle>
            <a:lvl1pPr algn="ctr">
              <a:defRPr sz="1200" b="0">
                <a:solidFill>
                  <a:srgbClr val="002060"/>
                </a:solidFill>
              </a:defRPr>
            </a:lvl1pPr>
          </a:lstStyle>
          <a:p>
            <a:endParaRPr lang="zh-CN" altLang="en-US"/>
          </a:p>
        </p:txBody>
      </p:sp>
      <p:sp>
        <p:nvSpPr>
          <p:cNvPr id="6" name="Slide Number Placeholder 5"/>
          <p:cNvSpPr>
            <a:spLocks noGrp="1"/>
          </p:cNvSpPr>
          <p:nvPr>
            <p:ph type="sldNum" sz="quarter" idx="4"/>
          </p:nvPr>
        </p:nvSpPr>
        <p:spPr>
          <a:xfrm>
            <a:off x="7086600" y="6660859"/>
            <a:ext cx="2057400" cy="197140"/>
          </a:xfrm>
          <a:prstGeom prst="rect">
            <a:avLst/>
          </a:prstGeom>
        </p:spPr>
        <p:txBody>
          <a:bodyPr vert="horz" lIns="91440" tIns="36000" rIns="91440" bIns="45720" rtlCol="0" anchor="ctr"/>
          <a:lstStyle>
            <a:lvl1pPr algn="r">
              <a:defRPr sz="1200" b="1">
                <a:solidFill>
                  <a:srgbClr val="002060"/>
                </a:solidFill>
              </a:defRPr>
            </a:lvl1p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2178160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p:titleStyle>
    <p:bodyStyle>
      <a:lvl1pPr marL="360680" indent="-360680" algn="l" defTabSz="914400" rtl="0" eaLnBrk="1" latinLnBrk="0" hangingPunct="1">
        <a:lnSpc>
          <a:spcPct val="130000"/>
        </a:lnSpc>
        <a:spcBef>
          <a:spcPts val="1000"/>
        </a:spcBef>
        <a:buSzPct val="85000"/>
        <a:buFont typeface="Wingdings" panose="05000000000000000000" pitchFamily="2" charset="2"/>
        <a:buChar char="n"/>
        <a:defRPr sz="2400" kern="1200">
          <a:solidFill>
            <a:srgbClr val="002060"/>
          </a:solidFill>
          <a:latin typeface="+mn-lt"/>
          <a:ea typeface="+mn-ea"/>
          <a:cs typeface="+mn-cs"/>
        </a:defRPr>
      </a:lvl1pPr>
      <a:lvl2pPr marL="720725" indent="-360680" algn="l" defTabSz="914400" rtl="0" eaLnBrk="1" latinLnBrk="0" hangingPunct="1">
        <a:lnSpc>
          <a:spcPct val="130000"/>
        </a:lnSpc>
        <a:spcBef>
          <a:spcPts val="500"/>
        </a:spcBef>
        <a:buSzPct val="85000"/>
        <a:buFont typeface="Wingdings" panose="05000000000000000000" pitchFamily="2" charset="2"/>
        <a:buChar char="u"/>
        <a:defRPr sz="2000" kern="1200">
          <a:solidFill>
            <a:srgbClr val="002060"/>
          </a:solidFill>
          <a:latin typeface="+mn-lt"/>
          <a:ea typeface="+mn-ea"/>
          <a:cs typeface="+mn-cs"/>
        </a:defRPr>
      </a:lvl2pPr>
      <a:lvl3pPr marL="990600" indent="-269875" algn="l" defTabSz="914400" rtl="0" eaLnBrk="1" latinLnBrk="0" hangingPunct="1">
        <a:lnSpc>
          <a:spcPct val="130000"/>
        </a:lnSpc>
        <a:spcBef>
          <a:spcPts val="500"/>
        </a:spcBef>
        <a:buSzPct val="85000"/>
        <a:buFont typeface="Wingdings" panose="05000000000000000000" pitchFamily="2" charset="2"/>
        <a:buChar char="l"/>
        <a:defRPr sz="1800" kern="1200">
          <a:solidFill>
            <a:srgbClr val="002060"/>
          </a:solidFill>
          <a:latin typeface="+mn-lt"/>
          <a:ea typeface="+mn-ea"/>
          <a:cs typeface="+mn-cs"/>
        </a:defRPr>
      </a:lvl3pPr>
      <a:lvl4pPr marL="1259205" indent="-268605" algn="l" defTabSz="914400" rtl="0" eaLnBrk="1" latinLnBrk="0" hangingPunct="1">
        <a:lnSpc>
          <a:spcPct val="130000"/>
        </a:lnSpc>
        <a:spcBef>
          <a:spcPts val="500"/>
        </a:spcBef>
        <a:buSzPct val="85000"/>
        <a:buFont typeface="Wingdings" panose="05000000000000000000" pitchFamily="2" charset="2"/>
        <a:buChar char="p"/>
        <a:defRPr sz="1600" kern="1200">
          <a:solidFill>
            <a:srgbClr val="002060"/>
          </a:solidFill>
          <a:latin typeface="+mn-lt"/>
          <a:ea typeface="+mn-ea"/>
          <a:cs typeface="+mn-cs"/>
        </a:defRPr>
      </a:lvl4pPr>
      <a:lvl5pPr marL="1527175" indent="-268605" algn="l" defTabSz="914400" rtl="0" eaLnBrk="1" latinLnBrk="0" hangingPunct="1">
        <a:lnSpc>
          <a:spcPct val="130000"/>
        </a:lnSpc>
        <a:spcBef>
          <a:spcPts val="500"/>
        </a:spcBef>
        <a:buSzPct val="85000"/>
        <a:buFont typeface="Wingdings" panose="05000000000000000000" pitchFamily="2" charset="2"/>
        <a:buChar char="Ø"/>
        <a:defRPr sz="16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961831-9E67-496F-9B9A-2CE49AE8E3C4}"/>
              </a:ext>
            </a:extLst>
          </p:cNvPr>
          <p:cNvSpPr>
            <a:spLocks noGrp="1"/>
          </p:cNvSpPr>
          <p:nvPr>
            <p:ph type="ctrTitle"/>
          </p:nvPr>
        </p:nvSpPr>
        <p:spPr>
          <a:xfrm>
            <a:off x="753460" y="2780349"/>
            <a:ext cx="7772400" cy="2095500"/>
          </a:xfrm>
        </p:spPr>
        <p:txBody>
          <a:bodyPr>
            <a:normAutofit/>
          </a:bodyPr>
          <a:lstStyle/>
          <a:p>
            <a:pPr algn="ctr">
              <a:lnSpc>
                <a:spcPct val="100000"/>
              </a:lnSpc>
            </a:pPr>
            <a:r>
              <a:rPr lang="zh-CN" altLang="en-US" sz="8800" b="1" spc="600" dirty="0">
                <a:latin typeface="华文行楷" panose="02010800040101010101" pitchFamily="2" charset="-122"/>
                <a:ea typeface="华文行楷" panose="02010800040101010101" pitchFamily="2" charset="-122"/>
                <a:cs typeface="微软雅黑" panose="020B0503020204020204" pitchFamily="34" charset="-122"/>
              </a:rPr>
              <a:t>博弈论</a:t>
            </a:r>
            <a:endParaRPr lang="zh-CN" altLang="en-US" sz="8800" spc="600" dirty="0">
              <a:latin typeface="华文行楷" panose="02010800040101010101" pitchFamily="2" charset="-122"/>
              <a:ea typeface="华文行楷" panose="02010800040101010101" pitchFamily="2" charset="-122"/>
            </a:endParaRPr>
          </a:p>
        </p:txBody>
      </p:sp>
      <p:sp>
        <p:nvSpPr>
          <p:cNvPr id="5" name="矩形 4">
            <a:extLst>
              <a:ext uri="{FF2B5EF4-FFF2-40B4-BE49-F238E27FC236}">
                <a16:creationId xmlns:a16="http://schemas.microsoft.com/office/drawing/2014/main" id="{A9DA1139-08A0-4FE0-810D-C0A7552784E0}"/>
              </a:ext>
            </a:extLst>
          </p:cNvPr>
          <p:cNvSpPr/>
          <p:nvPr/>
        </p:nvSpPr>
        <p:spPr>
          <a:xfrm>
            <a:off x="4877151" y="530758"/>
            <a:ext cx="3775393" cy="400110"/>
          </a:xfrm>
          <a:prstGeom prst="rect">
            <a:avLst/>
          </a:prstGeom>
        </p:spPr>
        <p:txBody>
          <a:bodyPr wrap="none">
            <a:spAutoFit/>
          </a:bodyPr>
          <a:lstStyle/>
          <a:p>
            <a:r>
              <a:rPr lang="en-US" altLang="zh-CN" sz="2000" dirty="0"/>
              <a:t>《</a:t>
            </a:r>
            <a:r>
              <a:rPr lang="zh-CN" altLang="en-US" sz="2000" dirty="0"/>
              <a:t>人工智能导论：模型与算法</a:t>
            </a:r>
            <a:r>
              <a:rPr lang="en-US" altLang="zh-CN" sz="2000" dirty="0"/>
              <a:t>》</a:t>
            </a:r>
            <a:endParaRPr lang="zh-CN" altLang="en-US" sz="2000" dirty="0"/>
          </a:p>
        </p:txBody>
      </p:sp>
      <p:sp>
        <p:nvSpPr>
          <p:cNvPr id="8" name="标题 1">
            <a:extLst>
              <a:ext uri="{FF2B5EF4-FFF2-40B4-BE49-F238E27FC236}">
                <a16:creationId xmlns:a16="http://schemas.microsoft.com/office/drawing/2014/main" id="{32E5F975-BF95-4957-9230-657C928CF581}"/>
              </a:ext>
            </a:extLst>
          </p:cNvPr>
          <p:cNvSpPr txBox="1">
            <a:spLocks/>
          </p:cNvSpPr>
          <p:nvPr/>
        </p:nvSpPr>
        <p:spPr>
          <a:xfrm>
            <a:off x="679718" y="1435909"/>
            <a:ext cx="7772400" cy="1240032"/>
          </a:xfrm>
          <a:prstGeom prst="rect">
            <a:avLst/>
          </a:prstGeom>
        </p:spPr>
        <p:txBody>
          <a:bodyPr vert="horz" lIns="91440" tIns="144000" rIns="91440" bIns="45720" rtlCol="0" anchor="b">
            <a:normAutofit/>
          </a:bodyPr>
          <a:lstStyle>
            <a:lvl1pPr algn="ctr" defTabSz="914400" rtl="0" eaLnBrk="1" latinLnBrk="0" hangingPunct="1">
              <a:lnSpc>
                <a:spcPct val="90000"/>
              </a:lnSpc>
              <a:spcBef>
                <a:spcPct val="0"/>
              </a:spcBef>
              <a:buNone/>
              <a:defRPr sz="4800" kern="1200">
                <a:solidFill>
                  <a:srgbClr val="C00000"/>
                </a:solidFill>
                <a:latin typeface="+mj-lt"/>
                <a:ea typeface="+mj-ea"/>
                <a:cs typeface="+mj-cs"/>
              </a:defRPr>
            </a:lvl1pPr>
          </a:lstStyle>
          <a:p>
            <a:pPr>
              <a:lnSpc>
                <a:spcPct val="100000"/>
              </a:lnSpc>
            </a:pPr>
            <a:r>
              <a:rPr lang="zh-CN" altLang="en-US" sz="6600" b="1" spc="600" dirty="0">
                <a:solidFill>
                  <a:schemeClr val="tx1"/>
                </a:solidFill>
                <a:latin typeface="华文行楷" panose="02010800040101010101" pitchFamily="2" charset="-122"/>
                <a:ea typeface="华文行楷" panose="02010800040101010101" pitchFamily="2" charset="-122"/>
                <a:cs typeface="微软雅黑" panose="020B0503020204020204" pitchFamily="34" charset="-122"/>
              </a:rPr>
              <a:t>第 </a:t>
            </a:r>
            <a:r>
              <a:rPr lang="en-US" altLang="zh-CN" sz="6600" b="1" spc="600" dirty="0">
                <a:solidFill>
                  <a:schemeClr val="tx1"/>
                </a:solidFill>
                <a:latin typeface="华文行楷" panose="02010800040101010101" pitchFamily="2" charset="-122"/>
                <a:ea typeface="华文行楷" panose="02010800040101010101" pitchFamily="2" charset="-122"/>
                <a:cs typeface="微软雅黑" panose="020B0503020204020204" pitchFamily="34" charset="-122"/>
              </a:rPr>
              <a:t>8 </a:t>
            </a:r>
            <a:r>
              <a:rPr lang="zh-CN" altLang="en-US" sz="6600" b="1" spc="600" dirty="0">
                <a:solidFill>
                  <a:schemeClr val="tx1"/>
                </a:solidFill>
                <a:latin typeface="华文行楷" panose="02010800040101010101" pitchFamily="2" charset="-122"/>
                <a:ea typeface="华文行楷" panose="02010800040101010101" pitchFamily="2" charset="-122"/>
                <a:cs typeface="微软雅黑" panose="020B0503020204020204" pitchFamily="34" charset="-122"/>
              </a:rPr>
              <a:t>章</a:t>
            </a:r>
            <a:endParaRPr lang="zh-CN" altLang="en-US" sz="6600" spc="600" dirty="0">
              <a:solidFill>
                <a:schemeClr val="tx1"/>
              </a:solidFill>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34270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15114" y="30347"/>
            <a:ext cx="6780609" cy="90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a:solidFill>
                  <a:schemeClr val="tx1"/>
                </a:solidFill>
                <a:latin typeface="Verdana" panose="020B0804030504040204" pitchFamily="34" charset="0"/>
                <a:ea typeface="宋体" panose="02010600030101010101" pitchFamily="2" charset="-122"/>
              </a:defRPr>
            </a:lvl1pPr>
            <a:lvl2pPr marL="742950" indent="-285750">
              <a:defRPr sz="2800">
                <a:solidFill>
                  <a:schemeClr val="tx1"/>
                </a:solidFill>
                <a:latin typeface="Verdana" panose="020B0804030504040204" pitchFamily="34" charset="0"/>
                <a:ea typeface="宋体" panose="02010600030101010101" pitchFamily="2" charset="-122"/>
              </a:defRPr>
            </a:lvl2pPr>
            <a:lvl3pPr marL="1143000" indent="-228600">
              <a:defRPr sz="2800">
                <a:solidFill>
                  <a:schemeClr val="tx1"/>
                </a:solidFill>
                <a:latin typeface="Verdana" panose="020B0804030504040204" pitchFamily="34" charset="0"/>
                <a:ea typeface="宋体" panose="02010600030101010101" pitchFamily="2" charset="-122"/>
              </a:defRPr>
            </a:lvl3pPr>
            <a:lvl4pPr marL="1600200" indent="-228600">
              <a:defRPr sz="2800">
                <a:solidFill>
                  <a:schemeClr val="tx1"/>
                </a:solidFill>
                <a:latin typeface="Verdana" panose="020B0804030504040204" pitchFamily="34" charset="0"/>
                <a:ea typeface="宋体" panose="02010600030101010101" pitchFamily="2" charset="-122"/>
              </a:defRPr>
            </a:lvl4pPr>
            <a:lvl5pPr marL="2057400" indent="-228600">
              <a:defRPr sz="2800">
                <a:solidFill>
                  <a:schemeClr val="tx1"/>
                </a:solidFill>
                <a:latin typeface="Verdana" panose="020B08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zh-CN" altLang="en-US" sz="4400" b="1" i="0" u="none" strike="noStrike" kern="1200" cap="none" spc="0" normalizeH="0" baseline="0" noProof="0" dirty="0">
                <a:ln>
                  <a:noFill/>
                </a:ln>
                <a:solidFill>
                  <a:srgbClr val="C00000"/>
                </a:solidFill>
                <a:effectLst/>
                <a:uLnTx/>
                <a:uFillTx/>
                <a:latin typeface="Times New Roman"/>
                <a:ea typeface="微软雅黑" panose="020B0503020204020204" pitchFamily="34" charset="-122"/>
                <a:cs typeface="+mn-cs"/>
                <a:sym typeface="Times New Roman" panose="02020503050405090304" pitchFamily="18" charset="0"/>
              </a:rPr>
              <a:t>  提纲</a:t>
            </a:r>
          </a:p>
        </p:txBody>
      </p:sp>
      <p:sp>
        <p:nvSpPr>
          <p:cNvPr id="22" name="矩形 7"/>
          <p:cNvSpPr>
            <a:spLocks noChangeArrowheads="1"/>
          </p:cNvSpPr>
          <p:nvPr/>
        </p:nvSpPr>
        <p:spPr bwMode="auto">
          <a:xfrm>
            <a:off x="310965" y="2905035"/>
            <a:ext cx="7200000" cy="60939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90204" pitchFamily="34" charset="0"/>
                <a:ea typeface="宋体" panose="02010600030101010101" pitchFamily="2" charset="-122"/>
              </a:defRPr>
            </a:lvl1pPr>
            <a:lvl2pPr marL="742950" indent="-285750">
              <a:defRPr kumimoji="1" sz="2400">
                <a:solidFill>
                  <a:schemeClr val="tx1"/>
                </a:solidFill>
                <a:latin typeface="Arial" panose="020B0604020202090204" pitchFamily="34" charset="0"/>
                <a:ea typeface="宋体" panose="02010600030101010101" pitchFamily="2" charset="-122"/>
              </a:defRPr>
            </a:lvl2pPr>
            <a:lvl3pPr marL="1143000" indent="-228600">
              <a:defRPr kumimoji="1" sz="2400">
                <a:solidFill>
                  <a:schemeClr val="tx1"/>
                </a:solidFill>
                <a:latin typeface="Arial" panose="020B0604020202090204" pitchFamily="34" charset="0"/>
                <a:ea typeface="宋体" panose="02010600030101010101" pitchFamily="2" charset="-122"/>
              </a:defRPr>
            </a:lvl3pPr>
            <a:lvl4pPr marL="1600200" indent="-228600">
              <a:defRPr kumimoji="1" sz="2400">
                <a:solidFill>
                  <a:schemeClr val="tx1"/>
                </a:solidFill>
                <a:latin typeface="Arial" panose="020B0604020202090204" pitchFamily="34" charset="0"/>
                <a:ea typeface="宋体" panose="02010600030101010101" pitchFamily="2" charset="-122"/>
              </a:defRPr>
            </a:lvl4pPr>
            <a:lvl5pPr marL="2057400" indent="-228600">
              <a:defRPr kumimoji="1" sz="2400">
                <a:solidFill>
                  <a:schemeClr val="tx1"/>
                </a:solidFill>
                <a:latin typeface="Arial" panose="020B0604020202090204" pitchFamily="34" charset="0"/>
                <a:ea typeface="宋体" panose="02010600030101010101" pitchFamily="2" charset="-122"/>
              </a:defRPr>
            </a:lvl5pPr>
            <a:lvl6pPr marL="25146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6pPr>
            <a:lvl7pPr marL="29718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7pPr>
            <a:lvl8pPr marL="34290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8pPr>
            <a:lvl9pPr marL="38862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C00000"/>
                </a:solidFill>
                <a:effectLst/>
                <a:uLnTx/>
                <a:uFillTx/>
                <a:latin typeface="Times New Roman"/>
                <a:ea typeface="微软雅黑" panose="020B0503020204020204" pitchFamily="34" charset="-122"/>
                <a:cs typeface="+mn-cs"/>
                <a:sym typeface="Calibri" panose="020F0502020204030204" pitchFamily="34" charset="0"/>
              </a:rPr>
              <a:t>二、强化学习算法求解</a:t>
            </a:r>
          </a:p>
        </p:txBody>
      </p:sp>
      <p:sp>
        <p:nvSpPr>
          <p:cNvPr id="24" name="矩形 7"/>
          <p:cNvSpPr>
            <a:spLocks noChangeArrowheads="1"/>
          </p:cNvSpPr>
          <p:nvPr/>
        </p:nvSpPr>
        <p:spPr bwMode="auto">
          <a:xfrm>
            <a:off x="233846" y="1716746"/>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90204" pitchFamily="34" charset="0"/>
                <a:ea typeface="宋体" panose="02010600030101010101" pitchFamily="2" charset="-122"/>
              </a:defRPr>
            </a:lvl1pPr>
            <a:lvl2pPr marL="742950" indent="-285750">
              <a:defRPr kumimoji="1" sz="2400">
                <a:solidFill>
                  <a:schemeClr val="tx1"/>
                </a:solidFill>
                <a:latin typeface="Arial" panose="020B0604020202090204" pitchFamily="34" charset="0"/>
                <a:ea typeface="宋体" panose="02010600030101010101" pitchFamily="2" charset="-122"/>
              </a:defRPr>
            </a:lvl2pPr>
            <a:lvl3pPr marL="1143000" indent="-228600">
              <a:defRPr kumimoji="1" sz="2400">
                <a:solidFill>
                  <a:schemeClr val="tx1"/>
                </a:solidFill>
                <a:latin typeface="Arial" panose="020B0604020202090204" pitchFamily="34" charset="0"/>
                <a:ea typeface="宋体" panose="02010600030101010101" pitchFamily="2" charset="-122"/>
              </a:defRPr>
            </a:lvl3pPr>
            <a:lvl4pPr marL="1600200" indent="-228600">
              <a:defRPr kumimoji="1" sz="2400">
                <a:solidFill>
                  <a:schemeClr val="tx1"/>
                </a:solidFill>
                <a:latin typeface="Arial" panose="020B0604020202090204" pitchFamily="34" charset="0"/>
                <a:ea typeface="宋体" panose="02010600030101010101" pitchFamily="2" charset="-122"/>
              </a:defRPr>
            </a:lvl4pPr>
            <a:lvl5pPr marL="2057400" indent="-228600">
              <a:defRPr kumimoji="1" sz="2400">
                <a:solidFill>
                  <a:schemeClr val="tx1"/>
                </a:solidFill>
                <a:latin typeface="Arial" panose="020B0604020202090204" pitchFamily="34" charset="0"/>
                <a:ea typeface="宋体" panose="02010600030101010101" pitchFamily="2" charset="-122"/>
              </a:defRPr>
            </a:lvl5pPr>
            <a:lvl6pPr marL="25146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6pPr>
            <a:lvl7pPr marL="29718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7pPr>
            <a:lvl8pPr marL="34290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8pPr>
            <a:lvl9pPr marL="38862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C00000"/>
                </a:solidFill>
                <a:effectLst/>
                <a:uLnTx/>
                <a:uFillTx/>
                <a:latin typeface="Times New Roman"/>
                <a:ea typeface="微软雅黑" panose="020B0503020204020204" pitchFamily="34" charset="-122"/>
                <a:cs typeface="+mn-cs"/>
              </a:rPr>
              <a:t>一、博弈基本概念</a:t>
            </a:r>
          </a:p>
        </p:txBody>
      </p:sp>
      <p:sp>
        <p:nvSpPr>
          <p:cNvPr id="8" name="矩形 7"/>
          <p:cNvSpPr>
            <a:spLocks noChangeArrowheads="1"/>
          </p:cNvSpPr>
          <p:nvPr/>
        </p:nvSpPr>
        <p:spPr bwMode="auto">
          <a:xfrm>
            <a:off x="310965" y="4082004"/>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90204" pitchFamily="34" charset="0"/>
                <a:ea typeface="宋体" panose="02010600030101010101" pitchFamily="2" charset="-122"/>
              </a:defRPr>
            </a:lvl1pPr>
            <a:lvl2pPr marL="742950" indent="-285750">
              <a:defRPr kumimoji="1" sz="2400">
                <a:solidFill>
                  <a:schemeClr val="tx1"/>
                </a:solidFill>
                <a:latin typeface="Arial" panose="020B0604020202090204" pitchFamily="34" charset="0"/>
                <a:ea typeface="宋体" panose="02010600030101010101" pitchFamily="2" charset="-122"/>
              </a:defRPr>
            </a:lvl2pPr>
            <a:lvl3pPr marL="1143000" indent="-228600">
              <a:defRPr kumimoji="1" sz="2400">
                <a:solidFill>
                  <a:schemeClr val="tx1"/>
                </a:solidFill>
                <a:latin typeface="Arial" panose="020B0604020202090204" pitchFamily="34" charset="0"/>
                <a:ea typeface="宋体" panose="02010600030101010101" pitchFamily="2" charset="-122"/>
              </a:defRPr>
            </a:lvl3pPr>
            <a:lvl4pPr marL="1600200" indent="-228600">
              <a:defRPr kumimoji="1" sz="2400">
                <a:solidFill>
                  <a:schemeClr val="tx1"/>
                </a:solidFill>
                <a:latin typeface="Arial" panose="020B0604020202090204" pitchFamily="34" charset="0"/>
                <a:ea typeface="宋体" panose="02010600030101010101" pitchFamily="2" charset="-122"/>
              </a:defRPr>
            </a:lvl4pPr>
            <a:lvl5pPr marL="2057400" indent="-228600">
              <a:defRPr kumimoji="1" sz="2400">
                <a:solidFill>
                  <a:schemeClr val="tx1"/>
                </a:solidFill>
                <a:latin typeface="Arial" panose="020B0604020202090204" pitchFamily="34" charset="0"/>
                <a:ea typeface="宋体" panose="02010600030101010101" pitchFamily="2" charset="-122"/>
              </a:defRPr>
            </a:lvl5pPr>
            <a:lvl6pPr marL="25146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6pPr>
            <a:lvl7pPr marL="29718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7pPr>
            <a:lvl8pPr marL="34290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8pPr>
            <a:lvl9pPr marL="38862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C00000"/>
                </a:solidFill>
                <a:effectLst/>
                <a:uLnTx/>
                <a:uFillTx/>
                <a:latin typeface="Times New Roman"/>
                <a:ea typeface="微软雅黑" panose="020B0503020204020204" pitchFamily="34" charset="-122"/>
                <a:cs typeface="+mn-cs"/>
                <a:sym typeface="Calibri" panose="020F0502020204030204" pitchFamily="34" charset="0"/>
              </a:rPr>
              <a:t>三、博弈</a:t>
            </a:r>
            <a:r>
              <a:rPr kumimoji="0" lang="zh-CN" altLang="en-US" sz="2800" b="1" i="0" u="none" strike="noStrike" kern="1200" cap="none" spc="0" normalizeH="0" baseline="0" noProof="0">
                <a:ln>
                  <a:noFill/>
                </a:ln>
                <a:solidFill>
                  <a:srgbClr val="C00000"/>
                </a:solidFill>
                <a:effectLst/>
                <a:uLnTx/>
                <a:uFillTx/>
                <a:latin typeface="Times New Roman"/>
                <a:ea typeface="微软雅黑" panose="020B0503020204020204" pitchFamily="34" charset="-122"/>
                <a:cs typeface="+mn-cs"/>
                <a:sym typeface="Calibri" panose="020F0502020204030204" pitchFamily="34" charset="0"/>
              </a:rPr>
              <a:t>基本概念</a:t>
            </a:r>
            <a:endParaRPr kumimoji="0" lang="zh-CN" altLang="en-US" sz="2800" b="1" i="0" u="none" strike="noStrike" kern="1200" cap="none" spc="0" normalizeH="0" baseline="0" noProof="0" dirty="0">
              <a:ln>
                <a:noFill/>
              </a:ln>
              <a:solidFill>
                <a:srgbClr val="C00000"/>
              </a:solidFill>
              <a:effectLst/>
              <a:uLnTx/>
              <a:uFillTx/>
              <a:latin typeface="Times New Roman"/>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 y="-90055"/>
            <a:ext cx="8998527" cy="947489"/>
          </a:xfrm>
        </p:spPr>
        <p:txBody>
          <a:bodyPr>
            <a:normAutofit/>
          </a:body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博弈论的诞生：</a:t>
            </a:r>
            <a:r>
              <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rPr>
              <a:t>中国古代博弈思想</a:t>
            </a:r>
          </a:p>
        </p:txBody>
      </p:sp>
      <p:sp>
        <p:nvSpPr>
          <p:cNvPr id="7" name="内容占位符 4"/>
          <p:cNvSpPr txBox="1"/>
          <p:nvPr/>
        </p:nvSpPr>
        <p:spPr>
          <a:xfrm>
            <a:off x="4689264" y="1160608"/>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90204" pitchFamily="34" charset="0"/>
              <a:buChar char="•"/>
              <a:tabLst/>
              <a:defRPr/>
            </a:pPr>
            <a:endParaRPr kumimoji="0" lang="en-US" altLang="zh-CN" sz="1600" b="0" i="0" u="none" strike="noStrike" kern="1200" cap="none" spc="0" normalizeH="0" baseline="0" noProof="0" dirty="0">
              <a:ln>
                <a:noFill/>
              </a:ln>
              <a:solidFill>
                <a:prstClr val="black"/>
              </a:solidFill>
              <a:effectLst/>
              <a:uLnTx/>
              <a:uFillTx/>
              <a:latin typeface="Times New Roman"/>
              <a:ea typeface="黑体"/>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90204" pitchFamily="34" charset="0"/>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a:ea typeface="黑体"/>
              <a:cs typeface="+mn-cs"/>
            </a:endParaRPr>
          </a:p>
        </p:txBody>
      </p:sp>
      <p:sp>
        <p:nvSpPr>
          <p:cNvPr id="9" name="内容占位符 4"/>
          <p:cNvSpPr txBox="1"/>
          <p:nvPr/>
        </p:nvSpPr>
        <p:spPr>
          <a:xfrm>
            <a:off x="277091" y="1160609"/>
            <a:ext cx="4526024" cy="3965573"/>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171450" marR="0" lvl="0" indent="-171450" algn="just" defTabSz="685800" rtl="0" eaLnBrk="1" fontAlgn="auto" latinLnBrk="0" hangingPunct="1">
              <a:lnSpc>
                <a:spcPct val="120000"/>
              </a:lnSpc>
              <a:spcBef>
                <a:spcPts val="0"/>
              </a:spcBef>
              <a:spcAft>
                <a:spcPts val="0"/>
              </a:spcAft>
              <a:buClrTx/>
              <a:buSzTx/>
              <a:buFont typeface="Arial" panose="020B060402020209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子曰：饱食终日，无所用心，难矣哉！不有博弈者乎？为之，犹贤乎已。</a:t>
            </a:r>
            <a:endPar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0" marR="0" lvl="0" indent="0" algn="just" defTabSz="685800" rtl="0" eaLnBrk="1" fontAlgn="auto" latinLnBrk="0" hangingPunct="1">
              <a:lnSpc>
                <a:spcPct val="120000"/>
              </a:lnSpc>
              <a:spcBef>
                <a:spcPts val="0"/>
              </a:spcBef>
              <a:spcAft>
                <a:spcPts val="0"/>
              </a:spcAft>
              <a:buClrTx/>
              <a:buSzTx/>
              <a:buFont typeface="Arial" panose="020B0604020202090204" pitchFamily="34" charset="0"/>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		      ——《</a:t>
            </a: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论语</a:t>
            </a:r>
            <a:r>
              <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a:t>
            </a: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阳货</a:t>
            </a:r>
            <a:r>
              <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a:t>
            </a:r>
          </a:p>
          <a:p>
            <a:pPr marL="171450" marR="0" lvl="0" indent="-171450" algn="just" defTabSz="685800" rtl="0" eaLnBrk="1" fontAlgn="auto" latinLnBrk="0" hangingPunct="1">
              <a:lnSpc>
                <a:spcPct val="120000"/>
              </a:lnSpc>
              <a:spcBef>
                <a:spcPts val="0"/>
              </a:spcBef>
              <a:spcAft>
                <a:spcPts val="0"/>
              </a:spcAft>
              <a:buClrTx/>
              <a:buSzTx/>
              <a:buFont typeface="Arial" panose="020B060402020209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朱熹集注曰：“博，局戏；弈，围棋也。”；颜师古注：“博，六博；弈，围碁也。”</a:t>
            </a:r>
            <a:endPar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171450" marR="0" lvl="0" indent="-171450" algn="just" defTabSz="685800" rtl="0" eaLnBrk="1" fontAlgn="auto" latinLnBrk="0" hangingPunct="1">
              <a:lnSpc>
                <a:spcPct val="120000"/>
              </a:lnSpc>
              <a:spcBef>
                <a:spcPts val="0"/>
              </a:spcBef>
              <a:spcAft>
                <a:spcPts val="0"/>
              </a:spcAft>
              <a:buClrTx/>
              <a:buSzTx/>
              <a:buFont typeface="Arial" panose="020B060402020209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古语博弈所指下围棋，围棋之道蕴含古人谋划策略的智慧。</a:t>
            </a:r>
            <a:endPar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171450" marR="0" lvl="0" indent="-171450" algn="just" defTabSz="685800" rtl="0" eaLnBrk="1" fontAlgn="auto" latinLnBrk="0" hangingPunct="1">
              <a:lnSpc>
                <a:spcPct val="120000"/>
              </a:lnSpc>
              <a:spcBef>
                <a:spcPts val="0"/>
              </a:spcBef>
              <a:spcAft>
                <a:spcPts val="0"/>
              </a:spcAft>
              <a:buClrTx/>
              <a:buSzTx/>
              <a:buFont typeface="Arial" panose="020B060402020209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略观围棋，法于用兵，怯者无功，贪者先亡。</a:t>
            </a:r>
            <a:endPar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0" marR="0" lvl="0" indent="0" algn="just" defTabSz="685800" rtl="0" eaLnBrk="1" fontAlgn="auto" latinLnBrk="0" hangingPunct="1">
              <a:lnSpc>
                <a:spcPct val="120000"/>
              </a:lnSpc>
              <a:spcBef>
                <a:spcPts val="0"/>
              </a:spcBef>
              <a:spcAft>
                <a:spcPts val="0"/>
              </a:spcAft>
              <a:buClrTx/>
              <a:buSzTx/>
              <a:buFont typeface="Arial" panose="020B0604020202090204" pitchFamily="34" charset="0"/>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			     ——《</a:t>
            </a: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围棋赋</a:t>
            </a:r>
            <a:r>
              <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a:t>
            </a:r>
          </a:p>
          <a:p>
            <a:pPr marL="171450" marR="0" lvl="0" indent="-171450" algn="just" defTabSz="685800" rtl="0" eaLnBrk="1" fontAlgn="auto" latinLnBrk="0" hangingPunct="1">
              <a:lnSpc>
                <a:spcPct val="120000"/>
              </a:lnSpc>
              <a:spcBef>
                <a:spcPts val="0"/>
              </a:spcBef>
              <a:spcAft>
                <a:spcPts val="0"/>
              </a:spcAft>
              <a:buClrTx/>
              <a:buSzTx/>
              <a:buFont typeface="Arial" panose="020B0604020202090204" pitchFamily="34" charset="0"/>
              <a:buChar char="•"/>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a:t>
            </a: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孙子兵法</a:t>
            </a:r>
            <a:r>
              <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a:t>
            </a: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等讲述兵书战法的古代典籍更是凸显了古人对策略的重视。</a:t>
            </a:r>
          </a:p>
        </p:txBody>
      </p:sp>
      <p:pic>
        <p:nvPicPr>
          <p:cNvPr id="3" name="图片 2"/>
          <p:cNvPicPr>
            <a:picLocks noChangeAspect="1"/>
          </p:cNvPicPr>
          <p:nvPr/>
        </p:nvPicPr>
        <p:blipFill>
          <a:blip r:embed="rId3"/>
          <a:stretch>
            <a:fillRect/>
          </a:stretch>
        </p:blipFill>
        <p:spPr>
          <a:xfrm>
            <a:off x="5132357" y="1765807"/>
            <a:ext cx="3514865" cy="35950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500"/>
                                        <p:tgtEl>
                                          <p:spTgt spid="9">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fade">
                                      <p:cBhvr>
                                        <p:cTn id="17" dur="500"/>
                                        <p:tgtEl>
                                          <p:spTgt spid="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fade">
                                      <p:cBhvr>
                                        <p:cTn id="22" dur="500"/>
                                        <p:tgtEl>
                                          <p:spTgt spid="9">
                                            <p:txEl>
                                              <p:pRg st="2" end="2"/>
                                            </p:txEl>
                                          </p:spTgt>
                                        </p:tgtEl>
                                      </p:cBhvr>
                                    </p:animEffect>
                                  </p:childTnLst>
                                </p:cTn>
                              </p:par>
                            </p:childTnLst>
                          </p:cTn>
                        </p:par>
                        <p:par>
                          <p:cTn id="23" fill="hold">
                            <p:stCondLst>
                              <p:cond delay="500"/>
                            </p:stCondLst>
                            <p:childTnLst>
                              <p:par>
                                <p:cTn id="24" presetID="10" presetClass="entr" presetSubtype="0" fill="hold" nodeType="afterEffect">
                                  <p:stCondLst>
                                    <p:cond delay="500"/>
                                  </p:stCondLst>
                                  <p:childTnLst>
                                    <p:set>
                                      <p:cBhvr>
                                        <p:cTn id="25" dur="1" fill="hold">
                                          <p:stCondLst>
                                            <p:cond delay="0"/>
                                          </p:stCondLst>
                                        </p:cTn>
                                        <p:tgtEl>
                                          <p:spTgt spid="9">
                                            <p:txEl>
                                              <p:pRg st="3" end="3"/>
                                            </p:txEl>
                                          </p:spTgt>
                                        </p:tgtEl>
                                        <p:attrNameLst>
                                          <p:attrName>style.visibility</p:attrName>
                                        </p:attrNameLst>
                                      </p:cBhvr>
                                      <p:to>
                                        <p:strVal val="visible"/>
                                      </p:to>
                                    </p:set>
                                    <p:animEffect transition="in" filter="fade">
                                      <p:cBhvr>
                                        <p:cTn id="26" dur="750"/>
                                        <p:tgtEl>
                                          <p:spTgt spid="9">
                                            <p:txEl>
                                              <p:pRg st="3" end="3"/>
                                            </p:txEl>
                                          </p:spTgt>
                                        </p:tgtEl>
                                      </p:cBhvr>
                                    </p:animEffect>
                                  </p:childTnLst>
                                </p:cTn>
                              </p:par>
                            </p:childTnLst>
                          </p:cTn>
                        </p:par>
                        <p:par>
                          <p:cTn id="27" fill="hold">
                            <p:stCondLst>
                              <p:cond delay="1750"/>
                            </p:stCondLst>
                            <p:childTnLst>
                              <p:par>
                                <p:cTn id="28" presetID="10" presetClass="entr" presetSubtype="0" fill="hold" nodeType="afterEffect">
                                  <p:stCondLst>
                                    <p:cond delay="500"/>
                                  </p:stCondLst>
                                  <p:childTnLst>
                                    <p:set>
                                      <p:cBhvr>
                                        <p:cTn id="29" dur="1" fill="hold">
                                          <p:stCondLst>
                                            <p:cond delay="0"/>
                                          </p:stCondLst>
                                        </p:cTn>
                                        <p:tgtEl>
                                          <p:spTgt spid="9">
                                            <p:txEl>
                                              <p:pRg st="4" end="4"/>
                                            </p:txEl>
                                          </p:spTgt>
                                        </p:tgtEl>
                                        <p:attrNameLst>
                                          <p:attrName>style.visibility</p:attrName>
                                        </p:attrNameLst>
                                      </p:cBhvr>
                                      <p:to>
                                        <p:strVal val="visible"/>
                                      </p:to>
                                    </p:set>
                                    <p:animEffect transition="in" filter="fade">
                                      <p:cBhvr>
                                        <p:cTn id="30" dur="750"/>
                                        <p:tgtEl>
                                          <p:spTgt spid="9">
                                            <p:txEl>
                                              <p:pRg st="4" end="4"/>
                                            </p:txEl>
                                          </p:spTgt>
                                        </p:tgtEl>
                                      </p:cBhvr>
                                    </p:animEffect>
                                  </p:childTnLst>
                                </p:cTn>
                              </p:par>
                            </p:childTnLst>
                          </p:cTn>
                        </p:par>
                        <p:par>
                          <p:cTn id="31" fill="hold">
                            <p:stCondLst>
                              <p:cond delay="3000"/>
                            </p:stCondLst>
                            <p:childTnLst>
                              <p:par>
                                <p:cTn id="32" presetID="10" presetClass="entr" presetSubtype="0" fill="hold" nodeType="afterEffect">
                                  <p:stCondLst>
                                    <p:cond delay="50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fade">
                                      <p:cBhvr>
                                        <p:cTn id="34" dur="750"/>
                                        <p:tgtEl>
                                          <p:spTgt spid="9">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animEffect transition="in" filter="fade">
                                      <p:cBhvr>
                                        <p:cTn id="39"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4"/>
          <p:cNvSpPr>
            <a:spLocks noGrp="1"/>
          </p:cNvSpPr>
          <p:nvPr>
            <p:ph sz="half" idx="1"/>
          </p:nvPr>
        </p:nvSpPr>
        <p:spPr>
          <a:xfrm>
            <a:off x="285194" y="1110108"/>
            <a:ext cx="4243527" cy="4019334"/>
          </a:xfrm>
        </p:spPr>
        <p:txBody>
          <a:bodyPr>
            <a:noAutofit/>
          </a:bodyPr>
          <a:lstStyle/>
          <a:p>
            <a:pPr algn="just">
              <a:spcBef>
                <a:spcPts val="0"/>
              </a:spcBef>
            </a:pPr>
            <a:r>
              <a:rPr lang="en-US" altLang="zh-CN" sz="2000" dirty="0">
                <a:latin typeface="黑体" panose="02010600040101010101" pitchFamily="49" charset="-122"/>
                <a:ea typeface="黑体" panose="02010600040101010101" pitchFamily="49" charset="-122"/>
              </a:rPr>
              <a:t>……</a:t>
            </a:r>
            <a:r>
              <a:rPr lang="zh-CN" altLang="en-US" sz="2000" dirty="0">
                <a:latin typeface="黑体" panose="02010600040101010101" pitchFamily="49" charset="-122"/>
                <a:ea typeface="黑体" panose="02010600040101010101" pitchFamily="49" charset="-122"/>
              </a:rPr>
              <a:t>齐将田忌善而客待之。忌数与齐诸公子驰逐重射。孙子见其马足不甚相远，马有上、中、下辈。于是孙子谓田忌曰：“君弟重射，臣能令君胜。”田忌信然之，与王及诸公子逐射千金。及临质，孙子曰：“今以君之下驷与彼上驷，取君上驷与彼中驷，取君中驷与彼下驷。”既驰三辈毕，而田忌一不胜而再胜，卒得王千金。于是忌进孙子于威王。威王问兵法，遂以为师。</a:t>
            </a:r>
            <a:endParaRPr lang="en-US" altLang="zh-CN" sz="2000" dirty="0">
              <a:latin typeface="黑体" panose="02010600040101010101" pitchFamily="49" charset="-122"/>
              <a:ea typeface="黑体" panose="02010600040101010101" pitchFamily="49" charset="-122"/>
            </a:endParaRPr>
          </a:p>
          <a:p>
            <a:pPr marL="0" indent="0" algn="just">
              <a:spcBef>
                <a:spcPts val="0"/>
              </a:spcBef>
              <a:buNone/>
            </a:pPr>
            <a:r>
              <a:rPr lang="en-US" altLang="zh-CN" sz="2000" dirty="0">
                <a:latin typeface="黑体" panose="02010600040101010101" pitchFamily="49" charset="-122"/>
                <a:ea typeface="黑体" panose="02010600040101010101" pitchFamily="49" charset="-122"/>
              </a:rPr>
              <a:t>	——《</a:t>
            </a:r>
            <a:r>
              <a:rPr lang="zh-CN" altLang="en-US" sz="2000" dirty="0">
                <a:latin typeface="黑体" panose="02010600040101010101" pitchFamily="49" charset="-122"/>
                <a:ea typeface="黑体" panose="02010600040101010101" pitchFamily="49" charset="-122"/>
              </a:rPr>
              <a:t>史记</a:t>
            </a:r>
            <a:r>
              <a:rPr lang="en-US" altLang="zh-CN" sz="2000" dirty="0">
                <a:latin typeface="黑体" panose="02010600040101010101" pitchFamily="49" charset="-122"/>
                <a:ea typeface="黑体" panose="02010600040101010101" pitchFamily="49" charset="-122"/>
              </a:rPr>
              <a:t>•</a:t>
            </a:r>
            <a:r>
              <a:rPr lang="zh-CN" altLang="en-US" sz="2000" dirty="0">
                <a:latin typeface="黑体" panose="02010600040101010101" pitchFamily="49" charset="-122"/>
                <a:ea typeface="黑体" panose="02010600040101010101" pitchFamily="49" charset="-122"/>
              </a:rPr>
              <a:t>孙子吴起列传</a:t>
            </a:r>
            <a:r>
              <a:rPr lang="en-US" altLang="zh-CN" sz="2000" dirty="0">
                <a:latin typeface="黑体" panose="02010600040101010101" pitchFamily="49" charset="-122"/>
                <a:ea typeface="黑体" panose="02010600040101010101" pitchFamily="49" charset="-122"/>
              </a:rPr>
              <a:t>》</a:t>
            </a:r>
            <a:endParaRPr lang="zh-CN" altLang="en-US" sz="2000" dirty="0">
              <a:latin typeface="黑体" panose="02010600040101010101" pitchFamily="49" charset="-122"/>
              <a:ea typeface="黑体" panose="02010600040101010101" pitchFamily="49" charset="-122"/>
            </a:endParaRPr>
          </a:p>
        </p:txBody>
      </p:sp>
      <p:sp>
        <p:nvSpPr>
          <p:cNvPr id="7" name="内容占位符 4"/>
          <p:cNvSpPr txBox="1"/>
          <p:nvPr/>
        </p:nvSpPr>
        <p:spPr>
          <a:xfrm>
            <a:off x="4689264" y="1160608"/>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90204" pitchFamily="34" charset="0"/>
              <a:buChar char="•"/>
              <a:tabLst/>
              <a:defRPr/>
            </a:pPr>
            <a:endParaRPr kumimoji="0" lang="en-US" altLang="zh-CN" sz="1600" b="0" i="0" u="none" strike="noStrike" kern="1200" cap="none" spc="0" normalizeH="0" baseline="0" noProof="0" dirty="0">
              <a:ln>
                <a:noFill/>
              </a:ln>
              <a:solidFill>
                <a:prstClr val="black"/>
              </a:solidFill>
              <a:effectLst/>
              <a:uLnTx/>
              <a:uFillTx/>
              <a:latin typeface="Times New Roman"/>
              <a:ea typeface="黑体"/>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90204" pitchFamily="34" charset="0"/>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a:ea typeface="黑体"/>
              <a:cs typeface="+mn-cs"/>
            </a:endParaRPr>
          </a:p>
        </p:txBody>
      </p:sp>
      <p:graphicFrame>
        <p:nvGraphicFramePr>
          <p:cNvPr id="10" name="表格 9"/>
          <p:cNvGraphicFramePr>
            <a:graphicFrameLocks noGrp="1"/>
          </p:cNvGraphicFramePr>
          <p:nvPr>
            <p:extLst>
              <p:ext uri="{D42A27DB-BD31-4B8C-83A1-F6EECF244321}">
                <p14:modId xmlns:p14="http://schemas.microsoft.com/office/powerpoint/2010/main" val="1765734796"/>
              </p:ext>
            </p:extLst>
          </p:nvPr>
        </p:nvGraphicFramePr>
        <p:xfrm>
          <a:off x="4941434" y="1072393"/>
          <a:ext cx="2863276" cy="2087073"/>
        </p:xfrm>
        <a:graphic>
          <a:graphicData uri="http://schemas.openxmlformats.org/drawingml/2006/table">
            <a:tbl>
              <a:tblPr firstRow="1" bandRow="1">
                <a:tableStyleId>{3B4B98B0-60AC-42C2-AFA5-B58CD77FA1E5}</a:tableStyleId>
              </a:tblPr>
              <a:tblGrid>
                <a:gridCol w="715819">
                  <a:extLst>
                    <a:ext uri="{9D8B030D-6E8A-4147-A177-3AD203B41FA5}">
                      <a16:colId xmlns:a16="http://schemas.microsoft.com/office/drawing/2014/main" val="20000"/>
                    </a:ext>
                  </a:extLst>
                </a:gridCol>
                <a:gridCol w="715819">
                  <a:extLst>
                    <a:ext uri="{9D8B030D-6E8A-4147-A177-3AD203B41FA5}">
                      <a16:colId xmlns:a16="http://schemas.microsoft.com/office/drawing/2014/main" val="20001"/>
                    </a:ext>
                  </a:extLst>
                </a:gridCol>
                <a:gridCol w="715819">
                  <a:extLst>
                    <a:ext uri="{9D8B030D-6E8A-4147-A177-3AD203B41FA5}">
                      <a16:colId xmlns:a16="http://schemas.microsoft.com/office/drawing/2014/main" val="20002"/>
                    </a:ext>
                  </a:extLst>
                </a:gridCol>
                <a:gridCol w="715819">
                  <a:extLst>
                    <a:ext uri="{9D8B030D-6E8A-4147-A177-3AD203B41FA5}">
                      <a16:colId xmlns:a16="http://schemas.microsoft.com/office/drawing/2014/main" val="20003"/>
                    </a:ext>
                  </a:extLst>
                </a:gridCol>
              </a:tblGrid>
              <a:tr h="853440">
                <a:tc>
                  <a:txBody>
                    <a:bodyPr/>
                    <a:lstStyle/>
                    <a:p>
                      <a:pPr algn="ctr"/>
                      <a:r>
                        <a:rPr lang="zh-CN" altLang="en-US" sz="1200" dirty="0"/>
                        <a:t>对局</a:t>
                      </a:r>
                    </a:p>
                  </a:txBody>
                  <a:tcPr marT="60960" marB="60960" anchor="ctr"/>
                </a:tc>
                <a:tc>
                  <a:txBody>
                    <a:bodyPr/>
                    <a:lstStyle/>
                    <a:p>
                      <a:pPr algn="ctr"/>
                      <a:r>
                        <a:rPr lang="zh-CN" altLang="en-US" sz="1200" dirty="0"/>
                        <a:t>齐王马</a:t>
                      </a:r>
                    </a:p>
                  </a:txBody>
                  <a:tcPr marT="60960" marB="60960" anchor="ctr"/>
                </a:tc>
                <a:tc>
                  <a:txBody>
                    <a:bodyPr/>
                    <a:lstStyle/>
                    <a:p>
                      <a:pPr algn="ctr"/>
                      <a:r>
                        <a:rPr lang="zh-CN" altLang="en-US" sz="1200" dirty="0"/>
                        <a:t>田忌马</a:t>
                      </a:r>
                    </a:p>
                  </a:txBody>
                  <a:tcPr marT="60960" marB="60960" anchor="ctr"/>
                </a:tc>
                <a:tc>
                  <a:txBody>
                    <a:bodyPr/>
                    <a:lstStyle/>
                    <a:p>
                      <a:pPr algn="ctr"/>
                      <a:r>
                        <a:rPr lang="zh-CN" altLang="en-US" sz="1200" dirty="0"/>
                        <a:t>结果</a:t>
                      </a:r>
                    </a:p>
                  </a:txBody>
                  <a:tcPr marT="60960" marB="60960" anchor="ctr"/>
                </a:tc>
                <a:extLst>
                  <a:ext uri="{0D108BD9-81ED-4DB2-BD59-A6C34878D82A}">
                    <a16:rowId xmlns:a16="http://schemas.microsoft.com/office/drawing/2014/main" val="10000"/>
                  </a:ext>
                </a:extLst>
              </a:tr>
              <a:tr h="411211">
                <a:tc>
                  <a:txBody>
                    <a:bodyPr/>
                    <a:lstStyle/>
                    <a:p>
                      <a:pPr algn="ctr"/>
                      <a:r>
                        <a:rPr lang="en-US" altLang="zh-CN" sz="1200" dirty="0">
                          <a:latin typeface="Times New Roman" panose="02020503050405090304" pitchFamily="18" charset="0"/>
                          <a:cs typeface="Times New Roman" panose="02020503050405090304" pitchFamily="18" charset="0"/>
                        </a:rPr>
                        <a:t>1</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algn="ctr"/>
                      <a:r>
                        <a:rPr lang="en-US" altLang="zh-CN" sz="1200" dirty="0">
                          <a:latin typeface="Times New Roman" panose="02020503050405090304" pitchFamily="18" charset="0"/>
                          <a:cs typeface="Times New Roman" panose="02020503050405090304" pitchFamily="18" charset="0"/>
                        </a:rPr>
                        <a:t>A+</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algn="ctr"/>
                      <a:r>
                        <a:rPr lang="en-US" altLang="zh-CN" sz="1200" dirty="0">
                          <a:latin typeface="Times New Roman" panose="02020503050405090304" pitchFamily="18" charset="0"/>
                          <a:cs typeface="Times New Roman" panose="02020503050405090304" pitchFamily="18" charset="0"/>
                        </a:rPr>
                        <a:t>A-</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algn="ctr"/>
                      <a:r>
                        <a:rPr lang="zh-CN" altLang="en-US" sz="1200" dirty="0">
                          <a:latin typeface="Times New Roman" panose="02020503050405090304" pitchFamily="18" charset="0"/>
                          <a:cs typeface="Times New Roman" panose="02020503050405090304" pitchFamily="18" charset="0"/>
                        </a:rPr>
                        <a:t>齐王胜</a:t>
                      </a:r>
                    </a:p>
                  </a:txBody>
                  <a:tcPr marT="60960" marB="60960" anchor="ctr"/>
                </a:tc>
                <a:extLst>
                  <a:ext uri="{0D108BD9-81ED-4DB2-BD59-A6C34878D82A}">
                    <a16:rowId xmlns:a16="http://schemas.microsoft.com/office/drawing/2014/main" val="10001"/>
                  </a:ext>
                </a:extLst>
              </a:tr>
              <a:tr h="411211">
                <a:tc>
                  <a:txBody>
                    <a:bodyPr/>
                    <a:lstStyle/>
                    <a:p>
                      <a:pPr algn="ctr"/>
                      <a:r>
                        <a:rPr lang="en-US" altLang="zh-CN" sz="1200" dirty="0">
                          <a:latin typeface="Times New Roman" panose="02020503050405090304" pitchFamily="18" charset="0"/>
                          <a:cs typeface="Times New Roman" panose="02020503050405090304" pitchFamily="18" charset="0"/>
                        </a:rPr>
                        <a:t>2</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algn="ctr"/>
                      <a:r>
                        <a:rPr lang="en-US" altLang="zh-CN" sz="1200" dirty="0">
                          <a:latin typeface="Times New Roman" panose="02020503050405090304" pitchFamily="18" charset="0"/>
                          <a:cs typeface="Times New Roman" panose="02020503050405090304" pitchFamily="18" charset="0"/>
                        </a:rPr>
                        <a:t>B+</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algn="ctr"/>
                      <a:r>
                        <a:rPr lang="en-US" altLang="zh-CN" sz="1200" dirty="0">
                          <a:latin typeface="Times New Roman" panose="02020503050405090304" pitchFamily="18" charset="0"/>
                          <a:cs typeface="Times New Roman" panose="02020503050405090304" pitchFamily="18" charset="0"/>
                        </a:rPr>
                        <a:t>B-</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200" dirty="0">
                          <a:latin typeface="Times New Roman" panose="02020503050405090304" pitchFamily="18" charset="0"/>
                          <a:cs typeface="Times New Roman" panose="02020503050405090304" pitchFamily="18" charset="0"/>
                        </a:rPr>
                        <a:t>齐王胜</a:t>
                      </a:r>
                    </a:p>
                  </a:txBody>
                  <a:tcPr marT="60960" marB="60960" anchor="ctr"/>
                </a:tc>
                <a:extLst>
                  <a:ext uri="{0D108BD9-81ED-4DB2-BD59-A6C34878D82A}">
                    <a16:rowId xmlns:a16="http://schemas.microsoft.com/office/drawing/2014/main" val="10002"/>
                  </a:ext>
                </a:extLst>
              </a:tr>
              <a:tr h="411211">
                <a:tc>
                  <a:txBody>
                    <a:bodyPr/>
                    <a:lstStyle/>
                    <a:p>
                      <a:pPr algn="ctr"/>
                      <a:r>
                        <a:rPr lang="en-US" altLang="zh-CN" sz="1200" dirty="0">
                          <a:latin typeface="Times New Roman" panose="02020503050405090304" pitchFamily="18" charset="0"/>
                          <a:cs typeface="Times New Roman" panose="02020503050405090304" pitchFamily="18" charset="0"/>
                        </a:rPr>
                        <a:t>3</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algn="ctr"/>
                      <a:r>
                        <a:rPr lang="en-US" altLang="zh-CN" sz="1200" dirty="0">
                          <a:latin typeface="Times New Roman" panose="02020503050405090304" pitchFamily="18" charset="0"/>
                          <a:cs typeface="Times New Roman" panose="02020503050405090304" pitchFamily="18" charset="0"/>
                        </a:rPr>
                        <a:t>C+</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algn="ctr"/>
                      <a:r>
                        <a:rPr lang="en-US" altLang="zh-CN" sz="1200" dirty="0">
                          <a:latin typeface="Times New Roman" panose="02020503050405090304" pitchFamily="18" charset="0"/>
                          <a:cs typeface="Times New Roman" panose="02020503050405090304" pitchFamily="18" charset="0"/>
                        </a:rPr>
                        <a:t>C-</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200" dirty="0">
                          <a:latin typeface="Times New Roman" panose="02020503050405090304" pitchFamily="18" charset="0"/>
                          <a:cs typeface="Times New Roman" panose="02020503050405090304" pitchFamily="18" charset="0"/>
                        </a:rPr>
                        <a:t>齐王胜</a:t>
                      </a:r>
                    </a:p>
                  </a:txBody>
                  <a:tcPr marT="60960" marB="60960" anchor="ctr"/>
                </a:tc>
                <a:extLst>
                  <a:ext uri="{0D108BD9-81ED-4DB2-BD59-A6C34878D82A}">
                    <a16:rowId xmlns:a16="http://schemas.microsoft.com/office/drawing/2014/main" val="10003"/>
                  </a:ext>
                </a:extLst>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1680614629"/>
              </p:ext>
            </p:extLst>
          </p:nvPr>
        </p:nvGraphicFramePr>
        <p:xfrm>
          <a:off x="4964210" y="3340330"/>
          <a:ext cx="2863276" cy="2785431"/>
        </p:xfrm>
        <a:graphic>
          <a:graphicData uri="http://schemas.openxmlformats.org/drawingml/2006/table">
            <a:tbl>
              <a:tblPr firstRow="1" bandRow="1">
                <a:tableStyleId>{3B4B98B0-60AC-42C2-AFA5-B58CD77FA1E5}</a:tableStyleId>
              </a:tblPr>
              <a:tblGrid>
                <a:gridCol w="715819">
                  <a:extLst>
                    <a:ext uri="{9D8B030D-6E8A-4147-A177-3AD203B41FA5}">
                      <a16:colId xmlns:a16="http://schemas.microsoft.com/office/drawing/2014/main" val="20000"/>
                    </a:ext>
                  </a:extLst>
                </a:gridCol>
                <a:gridCol w="715819">
                  <a:extLst>
                    <a:ext uri="{9D8B030D-6E8A-4147-A177-3AD203B41FA5}">
                      <a16:colId xmlns:a16="http://schemas.microsoft.com/office/drawing/2014/main" val="20001"/>
                    </a:ext>
                  </a:extLst>
                </a:gridCol>
                <a:gridCol w="676981">
                  <a:extLst>
                    <a:ext uri="{9D8B030D-6E8A-4147-A177-3AD203B41FA5}">
                      <a16:colId xmlns:a16="http://schemas.microsoft.com/office/drawing/2014/main" val="20002"/>
                    </a:ext>
                  </a:extLst>
                </a:gridCol>
                <a:gridCol w="754657">
                  <a:extLst>
                    <a:ext uri="{9D8B030D-6E8A-4147-A177-3AD203B41FA5}">
                      <a16:colId xmlns:a16="http://schemas.microsoft.com/office/drawing/2014/main" val="20003"/>
                    </a:ext>
                  </a:extLst>
                </a:gridCol>
              </a:tblGrid>
              <a:tr h="698102">
                <a:tc>
                  <a:txBody>
                    <a:bodyPr/>
                    <a:lstStyle/>
                    <a:p>
                      <a:pPr algn="ctr"/>
                      <a:r>
                        <a:rPr lang="zh-CN" altLang="en-US" sz="1200" dirty="0"/>
                        <a:t>对局</a:t>
                      </a:r>
                    </a:p>
                  </a:txBody>
                  <a:tcPr marT="60960" marB="60960" anchor="ctr"/>
                </a:tc>
                <a:tc>
                  <a:txBody>
                    <a:bodyPr/>
                    <a:lstStyle/>
                    <a:p>
                      <a:pPr algn="ctr"/>
                      <a:r>
                        <a:rPr lang="zh-CN" altLang="en-US" sz="1200" dirty="0"/>
                        <a:t>齐王马</a:t>
                      </a:r>
                    </a:p>
                  </a:txBody>
                  <a:tcPr marT="60960" marB="60960" anchor="ctr"/>
                </a:tc>
                <a:tc>
                  <a:txBody>
                    <a:bodyPr/>
                    <a:lstStyle/>
                    <a:p>
                      <a:pPr algn="ctr"/>
                      <a:r>
                        <a:rPr lang="zh-CN" altLang="en-US" sz="1200" dirty="0"/>
                        <a:t>田忌马</a:t>
                      </a:r>
                    </a:p>
                  </a:txBody>
                  <a:tcPr marT="60960" marB="60960" anchor="ctr"/>
                </a:tc>
                <a:tc>
                  <a:txBody>
                    <a:bodyPr/>
                    <a:lstStyle/>
                    <a:p>
                      <a:pPr algn="ctr"/>
                      <a:r>
                        <a:rPr lang="zh-CN" altLang="en-US" sz="1200" dirty="0"/>
                        <a:t>结果</a:t>
                      </a:r>
                    </a:p>
                  </a:txBody>
                  <a:tcPr marT="60960" marB="60960" anchor="ctr"/>
                </a:tc>
                <a:extLst>
                  <a:ext uri="{0D108BD9-81ED-4DB2-BD59-A6C34878D82A}">
                    <a16:rowId xmlns:a16="http://schemas.microsoft.com/office/drawing/2014/main" val="10000"/>
                  </a:ext>
                </a:extLst>
              </a:tr>
              <a:tr h="705080">
                <a:tc>
                  <a:txBody>
                    <a:bodyPr/>
                    <a:lstStyle/>
                    <a:p>
                      <a:pPr algn="ctr"/>
                      <a:r>
                        <a:rPr lang="en-US" altLang="zh-CN" sz="1200" dirty="0">
                          <a:latin typeface="Times New Roman" panose="02020503050405090304" pitchFamily="18" charset="0"/>
                          <a:cs typeface="Times New Roman" panose="02020503050405090304" pitchFamily="18" charset="0"/>
                        </a:rPr>
                        <a:t>1</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algn="ctr"/>
                      <a:r>
                        <a:rPr lang="en-US" altLang="zh-CN" sz="1200" dirty="0">
                          <a:latin typeface="Times New Roman" panose="02020503050405090304" pitchFamily="18" charset="0"/>
                          <a:cs typeface="Times New Roman" panose="02020503050405090304" pitchFamily="18" charset="0"/>
                        </a:rPr>
                        <a:t>A+</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algn="ctr"/>
                      <a:r>
                        <a:rPr lang="en-US" altLang="zh-CN" sz="1200" dirty="0">
                          <a:latin typeface="Times New Roman" panose="02020503050405090304" pitchFamily="18" charset="0"/>
                          <a:cs typeface="Times New Roman" panose="02020503050405090304" pitchFamily="18" charset="0"/>
                        </a:rPr>
                        <a:t>C-</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algn="ctr"/>
                      <a:r>
                        <a:rPr lang="zh-CN" altLang="en-US" sz="1200" dirty="0">
                          <a:latin typeface="Times New Roman" panose="02020503050405090304" pitchFamily="18" charset="0"/>
                          <a:cs typeface="Times New Roman" panose="02020503050405090304" pitchFamily="18" charset="0"/>
                        </a:rPr>
                        <a:t>齐王胜</a:t>
                      </a:r>
                    </a:p>
                  </a:txBody>
                  <a:tcPr marT="60960" marB="60960" anchor="ctr"/>
                </a:tc>
                <a:extLst>
                  <a:ext uri="{0D108BD9-81ED-4DB2-BD59-A6C34878D82A}">
                    <a16:rowId xmlns:a16="http://schemas.microsoft.com/office/drawing/2014/main" val="10001"/>
                  </a:ext>
                </a:extLst>
              </a:tr>
              <a:tr h="528809">
                <a:tc>
                  <a:txBody>
                    <a:bodyPr/>
                    <a:lstStyle/>
                    <a:p>
                      <a:pPr algn="ctr"/>
                      <a:r>
                        <a:rPr lang="en-US" altLang="zh-CN" sz="1200" dirty="0">
                          <a:latin typeface="Times New Roman" panose="02020503050405090304" pitchFamily="18" charset="0"/>
                          <a:cs typeface="Times New Roman" panose="02020503050405090304" pitchFamily="18" charset="0"/>
                        </a:rPr>
                        <a:t>2</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algn="ctr"/>
                      <a:r>
                        <a:rPr lang="en-US" altLang="zh-CN" sz="1200" dirty="0">
                          <a:latin typeface="Times New Roman" panose="02020503050405090304" pitchFamily="18" charset="0"/>
                          <a:cs typeface="Times New Roman" panose="02020503050405090304" pitchFamily="18" charset="0"/>
                        </a:rPr>
                        <a:t>B+</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algn="ctr"/>
                      <a:r>
                        <a:rPr lang="en-US" altLang="zh-CN" sz="1200" dirty="0">
                          <a:latin typeface="Times New Roman" panose="02020503050405090304" pitchFamily="18" charset="0"/>
                          <a:cs typeface="Times New Roman" panose="02020503050405090304" pitchFamily="18" charset="0"/>
                        </a:rPr>
                        <a:t>A-</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200" dirty="0">
                          <a:latin typeface="Times New Roman" panose="02020503050405090304" pitchFamily="18" charset="0"/>
                          <a:cs typeface="Times New Roman" panose="02020503050405090304" pitchFamily="18" charset="0"/>
                        </a:rPr>
                        <a:t>田忌胜</a:t>
                      </a:r>
                    </a:p>
                  </a:txBody>
                  <a:tcPr marT="60960" marB="60960" anchor="ctr"/>
                </a:tc>
                <a:extLst>
                  <a:ext uri="{0D108BD9-81ED-4DB2-BD59-A6C34878D82A}">
                    <a16:rowId xmlns:a16="http://schemas.microsoft.com/office/drawing/2014/main" val="10002"/>
                  </a:ext>
                </a:extLst>
              </a:tr>
              <a:tr h="853440">
                <a:tc>
                  <a:txBody>
                    <a:bodyPr/>
                    <a:lstStyle/>
                    <a:p>
                      <a:pPr algn="ctr"/>
                      <a:r>
                        <a:rPr lang="en-US" altLang="zh-CN" sz="1200" dirty="0">
                          <a:latin typeface="Times New Roman" panose="02020503050405090304" pitchFamily="18" charset="0"/>
                          <a:cs typeface="Times New Roman" panose="02020503050405090304" pitchFamily="18" charset="0"/>
                        </a:rPr>
                        <a:t>3</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algn="ctr"/>
                      <a:r>
                        <a:rPr lang="en-US" altLang="zh-CN" sz="1200" dirty="0">
                          <a:latin typeface="Times New Roman" panose="02020503050405090304" pitchFamily="18" charset="0"/>
                          <a:cs typeface="Times New Roman" panose="02020503050405090304" pitchFamily="18" charset="0"/>
                        </a:rPr>
                        <a:t>C+</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algn="ctr"/>
                      <a:r>
                        <a:rPr lang="en-US" altLang="zh-CN" sz="1200" dirty="0">
                          <a:latin typeface="Times New Roman" panose="02020503050405090304" pitchFamily="18" charset="0"/>
                          <a:cs typeface="Times New Roman" panose="02020503050405090304" pitchFamily="18" charset="0"/>
                        </a:rPr>
                        <a:t>B-</a:t>
                      </a:r>
                      <a:endParaRPr lang="zh-CN" altLang="en-US" sz="1200" dirty="0">
                        <a:latin typeface="Times New Roman" panose="02020503050405090304" pitchFamily="18" charset="0"/>
                        <a:cs typeface="Times New Roman" panose="02020503050405090304" pitchFamily="18" charset="0"/>
                      </a:endParaRPr>
                    </a:p>
                  </a:txBody>
                  <a:tcPr marT="60960" marB="60960"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200" dirty="0">
                          <a:latin typeface="Times New Roman" panose="02020503050405090304" pitchFamily="18" charset="0"/>
                          <a:cs typeface="Times New Roman" panose="02020503050405090304" pitchFamily="18" charset="0"/>
                        </a:rPr>
                        <a:t>田忌胜</a:t>
                      </a:r>
                    </a:p>
                  </a:txBody>
                  <a:tcPr marT="60960" marB="60960" anchor="ctr"/>
                </a:tc>
                <a:extLst>
                  <a:ext uri="{0D108BD9-81ED-4DB2-BD59-A6C34878D82A}">
                    <a16:rowId xmlns:a16="http://schemas.microsoft.com/office/drawing/2014/main" val="10003"/>
                  </a:ext>
                </a:extLst>
              </a:tr>
            </a:tbl>
          </a:graphicData>
        </a:graphic>
      </p:graphicFrame>
      <p:sp>
        <p:nvSpPr>
          <p:cNvPr id="12" name="文本框 11"/>
          <p:cNvSpPr txBox="1"/>
          <p:nvPr/>
        </p:nvSpPr>
        <p:spPr>
          <a:xfrm>
            <a:off x="8125795" y="2066992"/>
            <a:ext cx="51226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黑体"/>
                <a:cs typeface="Times New Roman" panose="02020503050405090304" pitchFamily="18" charset="0"/>
              </a:rPr>
              <a:t>3:0</a:t>
            </a:r>
            <a:endPar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黑体"/>
              <a:cs typeface="Times New Roman" panose="02020503050405090304" pitchFamily="18" charset="0"/>
            </a:endParaRPr>
          </a:p>
        </p:txBody>
      </p:sp>
      <p:sp>
        <p:nvSpPr>
          <p:cNvPr id="13" name="文本框 12"/>
          <p:cNvSpPr txBox="1"/>
          <p:nvPr/>
        </p:nvSpPr>
        <p:spPr>
          <a:xfrm>
            <a:off x="8063198" y="4944776"/>
            <a:ext cx="51226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黑体"/>
                <a:cs typeface="Times New Roman" panose="02020503050405090304" pitchFamily="18" charset="0"/>
              </a:rPr>
              <a:t>1:2</a:t>
            </a:r>
            <a:endPar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黑体"/>
              <a:cs typeface="Times New Roman" panose="02020503050405090304" pitchFamily="18" charset="0"/>
            </a:endParaRPr>
          </a:p>
        </p:txBody>
      </p:sp>
      <p:sp>
        <p:nvSpPr>
          <p:cNvPr id="4" name="矩形 3"/>
          <p:cNvSpPr/>
          <p:nvPr/>
        </p:nvSpPr>
        <p:spPr>
          <a:xfrm>
            <a:off x="5248011" y="6181192"/>
            <a:ext cx="216116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C00000"/>
                </a:solidFill>
                <a:effectLst/>
                <a:uLnTx/>
                <a:uFillTx/>
                <a:latin typeface="黑体" panose="02010600040101010101" pitchFamily="49" charset="-122"/>
                <a:ea typeface="黑体" panose="02010600040101010101" pitchFamily="49" charset="-122"/>
                <a:cs typeface="+mn-cs"/>
              </a:rPr>
              <a:t>以己之长 攻彼之短</a:t>
            </a:r>
          </a:p>
        </p:txBody>
      </p:sp>
      <p:sp>
        <p:nvSpPr>
          <p:cNvPr id="14" name="标题 1">
            <a:extLst>
              <a:ext uri="{FF2B5EF4-FFF2-40B4-BE49-F238E27FC236}">
                <a16:creationId xmlns:a16="http://schemas.microsoft.com/office/drawing/2014/main" id="{8576B10E-F9DB-324E-CD95-1BE686B108D6}"/>
              </a:ext>
            </a:extLst>
          </p:cNvPr>
          <p:cNvSpPr>
            <a:spLocks noGrp="1"/>
          </p:cNvSpPr>
          <p:nvPr>
            <p:ph type="title"/>
          </p:nvPr>
        </p:nvSpPr>
        <p:spPr>
          <a:xfrm>
            <a:off x="-1" y="-90055"/>
            <a:ext cx="8998527" cy="947489"/>
          </a:xfrm>
        </p:spPr>
        <p:txBody>
          <a:bodyPr>
            <a:normAutofit/>
          </a:body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博弈论的诞生：</a:t>
            </a:r>
            <a:r>
              <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rPr>
              <a:t>田忌赛马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par>
                          <p:cTn id="27" fill="hold">
                            <p:stCondLst>
                              <p:cond delay="500"/>
                            </p:stCondLst>
                            <p:childTnLst>
                              <p:par>
                                <p:cTn id="28" presetID="10" presetClass="entr" presetSubtype="0" fill="hold" grpId="0" nodeType="afterEffect">
                                  <p:stCondLst>
                                    <p:cond delay="50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2" grpId="0"/>
      <p:bldP spid="1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p:nvPr/>
        </p:nvSpPr>
        <p:spPr>
          <a:xfrm>
            <a:off x="4689264" y="1160608"/>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90204" pitchFamily="34" charset="0"/>
              <a:buChar char="•"/>
              <a:tabLst/>
              <a:defRPr/>
            </a:pPr>
            <a:endParaRPr kumimoji="0" lang="en-US" altLang="zh-CN" sz="1600" b="0" i="0" u="none" strike="noStrike" kern="1200" cap="none" spc="0" normalizeH="0" baseline="0" noProof="0" dirty="0">
              <a:ln>
                <a:noFill/>
              </a:ln>
              <a:solidFill>
                <a:prstClr val="black"/>
              </a:solidFill>
              <a:effectLst/>
              <a:uLnTx/>
              <a:uFillTx/>
              <a:latin typeface="Times New Roman"/>
              <a:ea typeface="黑体"/>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90204" pitchFamily="34" charset="0"/>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a:ea typeface="黑体"/>
              <a:cs typeface="+mn-cs"/>
            </a:endParaRPr>
          </a:p>
        </p:txBody>
      </p:sp>
      <p:sp>
        <p:nvSpPr>
          <p:cNvPr id="9" name="内容占位符 4"/>
          <p:cNvSpPr txBox="1"/>
          <p:nvPr/>
        </p:nvSpPr>
        <p:spPr>
          <a:xfrm>
            <a:off x="284455" y="979010"/>
            <a:ext cx="5355876"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171450" marR="0" lvl="0"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srgbClr val="FF0000"/>
                </a:solidFill>
                <a:effectLst/>
                <a:uLnTx/>
                <a:uFillTx/>
                <a:cs typeface="Times New Roman" panose="02020503050405090304" pitchFamily="18" charset="0"/>
              </a:rPr>
              <a:t>博弈论（</a:t>
            </a:r>
            <a:r>
              <a:rPr kumimoji="0" lang="en-US" altLang="zh-CN" sz="2400" b="0" i="0" u="none" strike="noStrike" kern="1200" cap="none" spc="0" normalizeH="0" baseline="0" noProof="0" dirty="0">
                <a:ln>
                  <a:noFill/>
                </a:ln>
                <a:solidFill>
                  <a:srgbClr val="FF0000"/>
                </a:solidFill>
                <a:effectLst/>
                <a:uLnTx/>
                <a:uFillTx/>
                <a:cs typeface="Times New Roman" panose="02020503050405090304" pitchFamily="18" charset="0"/>
              </a:rPr>
              <a:t>game theory</a:t>
            </a:r>
            <a:r>
              <a:rPr kumimoji="0" lang="zh-CN" altLang="en-US" sz="2400" b="0" i="0" u="none" strike="noStrike" kern="1200" cap="none" spc="0" normalizeH="0" baseline="0" noProof="0" dirty="0">
                <a:ln>
                  <a:noFill/>
                </a:ln>
                <a:solidFill>
                  <a:srgbClr val="FF0000"/>
                </a:solidFill>
                <a:effectLst/>
                <a:uLnTx/>
                <a:uFillTx/>
                <a:cs typeface="Times New Roman" panose="02020503050405090304" pitchFamily="18" charset="0"/>
              </a:rPr>
              <a:t>），又称对策论。</a:t>
            </a:r>
            <a:endParaRPr kumimoji="0" lang="en-US" altLang="zh-CN" sz="2400" b="0" i="0" u="none" strike="noStrike" kern="1200" cap="none" spc="0" normalizeH="0" baseline="0" noProof="0" dirty="0">
              <a:ln>
                <a:noFill/>
              </a:ln>
              <a:solidFill>
                <a:srgbClr val="FF0000"/>
              </a:solidFill>
              <a:effectLst/>
              <a:uLnTx/>
              <a:uFillTx/>
              <a:cs typeface="Times New Roman" panose="02020503050405090304" pitchFamily="18" charset="0"/>
            </a:endParaRPr>
          </a:p>
          <a:p>
            <a:pPr marL="171450" marR="0" lvl="0"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srgbClr val="FF0000"/>
                </a:solidFill>
                <a:effectLst/>
                <a:uLnTx/>
                <a:uFillTx/>
                <a:cs typeface="Times New Roman" panose="02020503050405090304" pitchFamily="18" charset="0"/>
              </a:rPr>
              <a:t>博弈行为：</a:t>
            </a:r>
            <a:r>
              <a:rPr kumimoji="0" lang="zh-CN" altLang="en-US" sz="2400" b="0" i="0" u="none" strike="noStrike" kern="1200" cap="none" spc="0" normalizeH="0" baseline="0" noProof="0" dirty="0">
                <a:ln>
                  <a:noFill/>
                </a:ln>
                <a:solidFill>
                  <a:prstClr val="black"/>
                </a:solidFill>
                <a:effectLst/>
                <a:uLnTx/>
                <a:uFillTx/>
                <a:cs typeface="Times New Roman" panose="02020503050405090304" pitchFamily="18" charset="0"/>
              </a:rPr>
              <a:t>带有</a:t>
            </a:r>
            <a:r>
              <a:rPr kumimoji="0" lang="zh-CN" altLang="en-US" sz="2400" b="0" i="0" u="none" strike="noStrike" kern="1200" cap="none" spc="0" normalizeH="0" baseline="0" noProof="0" dirty="0">
                <a:ln>
                  <a:noFill/>
                </a:ln>
                <a:solidFill>
                  <a:srgbClr val="0070C0"/>
                </a:solidFill>
                <a:effectLst/>
                <a:uLnTx/>
                <a:uFillTx/>
                <a:cs typeface="Times New Roman" panose="02020503050405090304" pitchFamily="18" charset="0"/>
              </a:rPr>
              <a:t>相互竞争性质</a:t>
            </a:r>
            <a:r>
              <a:rPr kumimoji="0" lang="zh-CN" altLang="en-US" sz="2400" b="0" i="0" u="none" strike="noStrike" kern="1200" cap="none" spc="0" normalizeH="0" baseline="0" noProof="0" dirty="0">
                <a:ln>
                  <a:noFill/>
                </a:ln>
                <a:solidFill>
                  <a:prstClr val="black"/>
                </a:solidFill>
                <a:effectLst/>
                <a:uLnTx/>
                <a:uFillTx/>
                <a:cs typeface="Times New Roman" panose="02020503050405090304" pitchFamily="18" charset="0"/>
              </a:rPr>
              <a:t>的主体，为了达到各自目标和利益，采取的带有</a:t>
            </a:r>
            <a:r>
              <a:rPr kumimoji="0" lang="zh-CN" altLang="en-US" sz="2400" b="0" i="0" u="none" strike="noStrike" kern="1200" cap="none" spc="0" normalizeH="0" baseline="0" noProof="0" dirty="0">
                <a:ln>
                  <a:noFill/>
                </a:ln>
                <a:solidFill>
                  <a:srgbClr val="0070C0"/>
                </a:solidFill>
                <a:effectLst/>
                <a:uLnTx/>
                <a:uFillTx/>
                <a:cs typeface="Times New Roman" panose="02020503050405090304" pitchFamily="18" charset="0"/>
              </a:rPr>
              <a:t>对抗性质的行为</a:t>
            </a:r>
            <a:r>
              <a:rPr kumimoji="0" lang="zh-CN" altLang="en-US" sz="2400" b="0" i="0" u="none" strike="noStrike" kern="1200" cap="none" spc="0" normalizeH="0" baseline="0" noProof="0" dirty="0">
                <a:ln>
                  <a:noFill/>
                </a:ln>
                <a:solidFill>
                  <a:prstClr val="black"/>
                </a:solidFill>
                <a:effectLst/>
                <a:uLnTx/>
                <a:uFillTx/>
                <a:cs typeface="Times New Roman" panose="02020503050405090304" pitchFamily="18" charset="0"/>
              </a:rPr>
              <a:t>。</a:t>
            </a:r>
            <a:endParaRPr kumimoji="0" lang="en-US" altLang="zh-CN" sz="2400" b="0" i="0" u="none" strike="noStrike" kern="1200" cap="none" spc="0" normalizeH="0" baseline="0" noProof="0" dirty="0">
              <a:ln>
                <a:noFill/>
              </a:ln>
              <a:solidFill>
                <a:prstClr val="black"/>
              </a:solidFill>
              <a:effectLst/>
              <a:uLnTx/>
              <a:uFillTx/>
              <a:cs typeface="Times New Roman" panose="02020503050405090304" pitchFamily="18" charset="0"/>
            </a:endParaRPr>
          </a:p>
          <a:p>
            <a:pPr marL="171450" marR="0" lvl="0"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cs typeface="Times New Roman" panose="02020503050405090304" pitchFamily="18" charset="0"/>
              </a:rPr>
              <a:t>博弈论主要研究博弈行为中最优的</a:t>
            </a:r>
            <a:r>
              <a:rPr kumimoji="0" lang="zh-CN" altLang="en-US" sz="2400" b="0" i="0" u="none" strike="noStrike" kern="1200" cap="none" spc="0" normalizeH="0" baseline="0" noProof="0" dirty="0">
                <a:ln>
                  <a:noFill/>
                </a:ln>
                <a:solidFill>
                  <a:srgbClr val="0070C0"/>
                </a:solidFill>
                <a:effectLst/>
                <a:uLnTx/>
                <a:uFillTx/>
                <a:cs typeface="Times New Roman" panose="02020503050405090304" pitchFamily="18" charset="0"/>
              </a:rPr>
              <a:t>对抗策略</a:t>
            </a:r>
            <a:r>
              <a:rPr kumimoji="0" lang="zh-CN" altLang="en-US" sz="2400" b="0" i="0" u="none" strike="noStrike" kern="1200" cap="none" spc="0" normalizeH="0" baseline="0" noProof="0" dirty="0">
                <a:ln>
                  <a:noFill/>
                </a:ln>
                <a:solidFill>
                  <a:prstClr val="black"/>
                </a:solidFill>
                <a:effectLst/>
                <a:uLnTx/>
                <a:uFillTx/>
                <a:cs typeface="Times New Roman" panose="02020503050405090304" pitchFamily="18" charset="0"/>
              </a:rPr>
              <a:t>及其</a:t>
            </a:r>
            <a:r>
              <a:rPr kumimoji="0" lang="zh-CN" altLang="en-US" sz="2400" b="0" i="0" u="none" strike="noStrike" kern="1200" cap="none" spc="0" normalizeH="0" baseline="0" noProof="0" dirty="0">
                <a:ln>
                  <a:noFill/>
                </a:ln>
                <a:solidFill>
                  <a:srgbClr val="0070C0"/>
                </a:solidFill>
                <a:effectLst/>
                <a:uLnTx/>
                <a:uFillTx/>
                <a:cs typeface="Times New Roman" panose="02020503050405090304" pitchFamily="18" charset="0"/>
              </a:rPr>
              <a:t>稳定局势</a:t>
            </a:r>
            <a:r>
              <a:rPr kumimoji="0" lang="zh-CN" altLang="en-US" sz="2400" b="0" i="0" u="none" strike="noStrike" kern="1200" cap="none" spc="0" normalizeH="0" baseline="0" noProof="0" dirty="0">
                <a:ln>
                  <a:noFill/>
                </a:ln>
                <a:solidFill>
                  <a:prstClr val="black"/>
                </a:solidFill>
                <a:effectLst/>
                <a:uLnTx/>
                <a:uFillTx/>
                <a:cs typeface="Times New Roman" panose="02020503050405090304" pitchFamily="18" charset="0"/>
              </a:rPr>
              <a:t>，协助人们在一定规则范围内寻求最合理的行为方式。</a:t>
            </a:r>
            <a:endParaRPr kumimoji="0" lang="en-US" altLang="zh-CN" sz="2400" b="0" i="0" u="none" strike="noStrike" kern="1200" cap="none" spc="0" normalizeH="0" baseline="0" noProof="0" dirty="0">
              <a:ln>
                <a:noFill/>
              </a:ln>
              <a:solidFill>
                <a:prstClr val="black"/>
              </a:solidFill>
              <a:effectLst/>
              <a:uLnTx/>
              <a:uFillTx/>
              <a:cs typeface="Times New Roman" panose="02020503050405090304" pitchFamily="18" charset="0"/>
            </a:endParaRPr>
          </a:p>
          <a:p>
            <a:pPr marL="171450" marR="0" lvl="0"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en-US" altLang="zh-CN" sz="2400" b="0" i="0" u="none" strike="noStrike" kern="1200" cap="none" spc="0" normalizeH="0" baseline="0" noProof="0" dirty="0">
                <a:ln>
                  <a:noFill/>
                </a:ln>
                <a:solidFill>
                  <a:prstClr val="black"/>
                </a:solidFill>
                <a:effectLst/>
                <a:uLnTx/>
                <a:uFillTx/>
                <a:cs typeface="Times New Roman" panose="02020503050405090304" pitchFamily="18" charset="0"/>
              </a:rPr>
              <a:t>1944</a:t>
            </a:r>
            <a:r>
              <a:rPr kumimoji="0" lang="zh-CN" altLang="en-US" sz="2400" b="0" i="0" u="none" strike="noStrike" kern="1200" cap="none" spc="0" normalizeH="0" baseline="0" noProof="0" dirty="0">
                <a:ln>
                  <a:noFill/>
                </a:ln>
                <a:solidFill>
                  <a:prstClr val="black"/>
                </a:solidFill>
                <a:effectLst/>
                <a:uLnTx/>
                <a:uFillTx/>
                <a:cs typeface="Times New Roman" panose="02020503050405090304" pitchFamily="18" charset="0"/>
              </a:rPr>
              <a:t>年冯</a:t>
            </a:r>
            <a:r>
              <a:rPr kumimoji="0" lang="en-US" altLang="zh-CN" sz="2400" b="0" i="0" u="none" strike="noStrike" kern="1200" cap="none" spc="0" normalizeH="0" baseline="0" noProof="0" dirty="0">
                <a:ln>
                  <a:noFill/>
                </a:ln>
                <a:solidFill>
                  <a:prstClr val="black"/>
                </a:solidFill>
                <a:effectLst/>
                <a:uLnTx/>
                <a:uFillTx/>
                <a:cs typeface="Times New Roman" panose="02020503050405090304" pitchFamily="18" charset="0"/>
              </a:rPr>
              <a:t>·</a:t>
            </a:r>
            <a:r>
              <a:rPr kumimoji="0" lang="zh-CN" altLang="en-US" sz="2400" b="0" i="0" u="none" strike="noStrike" kern="1200" cap="none" spc="0" normalizeH="0" baseline="0" noProof="0" dirty="0">
                <a:ln>
                  <a:noFill/>
                </a:ln>
                <a:solidFill>
                  <a:prstClr val="black"/>
                </a:solidFill>
                <a:effectLst/>
                <a:uLnTx/>
                <a:uFillTx/>
                <a:cs typeface="Times New Roman" panose="02020503050405090304" pitchFamily="18" charset="0"/>
              </a:rPr>
              <a:t>诺伊曼与奥斯卡</a:t>
            </a:r>
            <a:r>
              <a:rPr kumimoji="0" lang="en-US" altLang="zh-CN" sz="2400" b="0" i="0" u="none" strike="noStrike" kern="1200" cap="none" spc="0" normalizeH="0" baseline="0" noProof="0" dirty="0">
                <a:ln>
                  <a:noFill/>
                </a:ln>
                <a:solidFill>
                  <a:prstClr val="black"/>
                </a:solidFill>
                <a:effectLst/>
                <a:uLnTx/>
                <a:uFillTx/>
                <a:cs typeface="Times New Roman" panose="02020503050405090304" pitchFamily="18" charset="0"/>
              </a:rPr>
              <a:t>·</a:t>
            </a:r>
            <a:r>
              <a:rPr kumimoji="0" lang="zh-CN" altLang="en-US" sz="2400" b="0" i="0" u="none" strike="noStrike" kern="1200" cap="none" spc="0" normalizeH="0" baseline="0" noProof="0" dirty="0">
                <a:ln>
                  <a:noFill/>
                </a:ln>
                <a:solidFill>
                  <a:prstClr val="black"/>
                </a:solidFill>
                <a:effectLst/>
                <a:uLnTx/>
                <a:uFillTx/>
                <a:cs typeface="Times New Roman" panose="02020503050405090304" pitchFamily="18" charset="0"/>
              </a:rPr>
              <a:t>摩根斯特恩合著</a:t>
            </a:r>
            <a:r>
              <a:rPr kumimoji="0" lang="en-US" altLang="zh-CN" sz="2400" b="0" i="0" u="none" strike="noStrike" kern="1200" cap="none" spc="0" normalizeH="0" baseline="0" noProof="0" dirty="0">
                <a:ln>
                  <a:noFill/>
                </a:ln>
                <a:solidFill>
                  <a:prstClr val="black"/>
                </a:solidFill>
                <a:effectLst/>
                <a:uLnTx/>
                <a:uFillTx/>
                <a:cs typeface="Times New Roman" panose="02020503050405090304" pitchFamily="18" charset="0"/>
              </a:rPr>
              <a:t>《</a:t>
            </a:r>
            <a:r>
              <a:rPr kumimoji="0" lang="zh-CN" altLang="en-US" sz="2400" b="0" i="0" u="none" strike="noStrike" kern="1200" cap="none" spc="0" normalizeH="0" baseline="0" noProof="0" dirty="0">
                <a:ln>
                  <a:noFill/>
                </a:ln>
                <a:solidFill>
                  <a:prstClr val="black"/>
                </a:solidFill>
                <a:effectLst/>
                <a:uLnTx/>
                <a:uFillTx/>
                <a:cs typeface="Times New Roman" panose="02020503050405090304" pitchFamily="18" charset="0"/>
              </a:rPr>
              <a:t>博弈论与经济行为</a:t>
            </a:r>
            <a:r>
              <a:rPr kumimoji="0" lang="en-US" altLang="zh-CN" sz="2400" b="0" i="0" u="none" strike="noStrike" kern="1200" cap="none" spc="0" normalizeH="0" baseline="0" noProof="0" dirty="0">
                <a:ln>
                  <a:noFill/>
                </a:ln>
                <a:solidFill>
                  <a:prstClr val="black"/>
                </a:solidFill>
                <a:effectLst/>
                <a:uLnTx/>
                <a:uFillTx/>
                <a:cs typeface="Times New Roman" panose="02020503050405090304" pitchFamily="18" charset="0"/>
              </a:rPr>
              <a:t>》</a:t>
            </a:r>
            <a:r>
              <a:rPr kumimoji="0" lang="zh-CN" altLang="en-US" sz="2400" b="0" i="0" u="none" strike="noStrike" kern="1200" cap="none" spc="0" normalizeH="0" baseline="0" noProof="0" dirty="0">
                <a:ln>
                  <a:noFill/>
                </a:ln>
                <a:solidFill>
                  <a:prstClr val="black"/>
                </a:solidFill>
                <a:effectLst/>
                <a:uLnTx/>
                <a:uFillTx/>
                <a:cs typeface="Times New Roman" panose="02020503050405090304" pitchFamily="18" charset="0"/>
              </a:rPr>
              <a:t>，以数学形式来阐述博弈论及其应用，标志着现代系统博弈理论的初步形成。</a:t>
            </a:r>
            <a:endParaRPr kumimoji="0" lang="en-US" altLang="zh-CN" sz="2400" b="0" i="0" u="none" strike="noStrike" kern="1200" cap="none" spc="0" normalizeH="0" baseline="0" noProof="0" dirty="0">
              <a:ln>
                <a:noFill/>
              </a:ln>
              <a:solidFill>
                <a:prstClr val="black"/>
              </a:solidFill>
              <a:effectLst/>
              <a:uLnTx/>
              <a:uFillTx/>
              <a:cs typeface="Times New Roman" panose="02020503050405090304" pitchFamily="18" charset="0"/>
            </a:endParaRPr>
          </a:p>
          <a:p>
            <a:pPr marL="171450" marR="0" lvl="0"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endParaRPr kumimoji="0" lang="en-US" altLang="zh-CN" sz="2400" b="0" i="0" u="none" strike="noStrike" kern="1200" cap="none" spc="0" normalizeH="0" baseline="0" noProof="0" dirty="0">
              <a:ln>
                <a:noFill/>
              </a:ln>
              <a:solidFill>
                <a:prstClr val="black"/>
              </a:solidFill>
              <a:effectLst/>
              <a:uLnTx/>
              <a:uFillTx/>
              <a:cs typeface="+mn-cs"/>
            </a:endParaRPr>
          </a:p>
        </p:txBody>
      </p:sp>
      <p:pic>
        <p:nvPicPr>
          <p:cNvPr id="4" name="图片 3"/>
          <p:cNvPicPr>
            <a:picLocks noChangeAspect="1"/>
          </p:cNvPicPr>
          <p:nvPr/>
        </p:nvPicPr>
        <p:blipFill>
          <a:blip r:embed="rId3"/>
          <a:stretch>
            <a:fillRect/>
          </a:stretch>
        </p:blipFill>
        <p:spPr>
          <a:xfrm>
            <a:off x="6040300" y="1359215"/>
            <a:ext cx="2315809" cy="3346739"/>
          </a:xfrm>
          <a:prstGeom prst="rect">
            <a:avLst/>
          </a:prstGeom>
        </p:spPr>
      </p:pic>
      <p:sp>
        <p:nvSpPr>
          <p:cNvPr id="5" name="文本框 4"/>
          <p:cNvSpPr txBox="1"/>
          <p:nvPr/>
        </p:nvSpPr>
        <p:spPr>
          <a:xfrm>
            <a:off x="5723395" y="4984124"/>
            <a:ext cx="276900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zh-CN" sz="1200" b="1" i="0" u="none" strike="noStrike" kern="1200" cap="none" spc="0" normalizeH="0" baseline="0" noProof="0" dirty="0">
                <a:ln>
                  <a:noFill/>
                </a:ln>
                <a:solidFill>
                  <a:prstClr val="black"/>
                </a:solidFill>
                <a:effectLst/>
                <a:uLnTx/>
                <a:uFillTx/>
                <a:latin typeface="Times New Roman" panose="02020503050405090304" pitchFamily="18" charset="0"/>
                <a:ea typeface="黑体"/>
                <a:cs typeface="Times New Roman" panose="02020503050405090304" pitchFamily="18" charset="0"/>
              </a:rPr>
              <a:t>John von Neumann(1903-1957), Oskar Morgenstern(1902-1977)</a:t>
            </a:r>
            <a:r>
              <a:rPr kumimoji="0" lang="en-US" altLang="zh-CN" sz="1200" b="1" i="0" u="none" strike="noStrike" kern="1200" cap="none" spc="0" normalizeH="0" baseline="0" noProof="0" dirty="0">
                <a:ln>
                  <a:noFill/>
                </a:ln>
                <a:solidFill>
                  <a:prstClr val="black"/>
                </a:solidFill>
                <a:effectLst/>
                <a:uLnTx/>
                <a:uFillTx/>
                <a:latin typeface="Times New Roman" panose="02020503050405090304" pitchFamily="18" charset="0"/>
                <a:ea typeface="黑体"/>
                <a:cs typeface="Times New Roman" panose="02020503050405090304" pitchFamily="18" charset="0"/>
              </a:rPr>
              <a:t>, </a:t>
            </a:r>
            <a:r>
              <a:rPr kumimoji="0" lang="en-US" altLang="zh-CN" sz="1200" b="1" i="1" u="none" strike="noStrike" kern="1200" cap="none" spc="0" normalizeH="0" baseline="0" noProof="0" dirty="0">
                <a:ln>
                  <a:noFill/>
                </a:ln>
                <a:solidFill>
                  <a:prstClr val="black"/>
                </a:solidFill>
                <a:effectLst/>
                <a:uLnTx/>
                <a:uFillTx/>
                <a:latin typeface="Times New Roman" panose="02020503050405090304" pitchFamily="18" charset="0"/>
                <a:ea typeface="黑体"/>
                <a:cs typeface="Times New Roman" panose="02020503050405090304" pitchFamily="18" charset="0"/>
              </a:rPr>
              <a:t>Theory of Games and Economic Behavior</a:t>
            </a:r>
            <a:r>
              <a:rPr kumimoji="0" lang="en-US" altLang="zh-CN" sz="1200" b="1" i="0" u="none" strike="noStrike" kern="1200" cap="none" spc="0" normalizeH="0" baseline="0" noProof="0" dirty="0">
                <a:ln>
                  <a:noFill/>
                </a:ln>
                <a:solidFill>
                  <a:prstClr val="black"/>
                </a:solidFill>
                <a:effectLst/>
                <a:uLnTx/>
                <a:uFillTx/>
                <a:latin typeface="Times New Roman" panose="02020503050405090304" pitchFamily="18" charset="0"/>
                <a:ea typeface="黑体"/>
                <a:cs typeface="Times New Roman" panose="02020503050405090304" pitchFamily="18" charset="0"/>
              </a:rPr>
              <a:t>, Princeton University Press, 1944</a:t>
            </a:r>
            <a:endParaRPr kumimoji="0" lang="zh-CN" altLang="en-US" sz="1200" b="0" i="0" u="none" strike="noStrike" kern="1200" cap="none" spc="0" normalizeH="0" baseline="0" noProof="0" dirty="0">
              <a:ln>
                <a:noFill/>
              </a:ln>
              <a:solidFill>
                <a:prstClr val="black"/>
              </a:solidFill>
              <a:effectLst/>
              <a:uLnTx/>
              <a:uFillTx/>
              <a:latin typeface="Times New Roman" panose="02020503050405090304" pitchFamily="18" charset="0"/>
              <a:ea typeface="黑体"/>
              <a:cs typeface="Times New Roman" panose="02020503050405090304" pitchFamily="18" charset="0"/>
            </a:endParaRPr>
          </a:p>
        </p:txBody>
      </p:sp>
      <p:sp>
        <p:nvSpPr>
          <p:cNvPr id="10" name="标题 1">
            <a:extLst>
              <a:ext uri="{FF2B5EF4-FFF2-40B4-BE49-F238E27FC236}">
                <a16:creationId xmlns:a16="http://schemas.microsoft.com/office/drawing/2014/main" id="{4F3F6205-7459-3FF4-DE8E-5B89696C9212}"/>
              </a:ext>
            </a:extLst>
          </p:cNvPr>
          <p:cNvSpPr>
            <a:spLocks noGrp="1"/>
          </p:cNvSpPr>
          <p:nvPr>
            <p:ph type="title"/>
          </p:nvPr>
        </p:nvSpPr>
        <p:spPr>
          <a:xfrm>
            <a:off x="-1" y="-90055"/>
            <a:ext cx="8998527" cy="947489"/>
          </a:xfrm>
        </p:spPr>
        <p:txBody>
          <a:bodyPr>
            <a:normAutofit/>
          </a:body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博弈论的诞生：</a:t>
            </a:r>
            <a:r>
              <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rPr>
              <a:t>现代博弈论的建立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par>
                          <p:cTn id="23" fill="hold">
                            <p:stCondLst>
                              <p:cond delay="500"/>
                            </p:stCondLst>
                            <p:childTnLst>
                              <p:par>
                                <p:cTn id="24" presetID="42" presetClass="entr" presetSubtype="0" fill="hold" nodeType="afterEffect">
                                  <p:stCondLst>
                                    <p:cond delay="50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50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anim calcmode="lin" valueType="num">
                                      <p:cBhvr>
                                        <p:cTn id="32" dur="1000" fill="hold"/>
                                        <p:tgtEl>
                                          <p:spTgt spid="5"/>
                                        </p:tgtEl>
                                        <p:attrNameLst>
                                          <p:attrName>ppt_x</p:attrName>
                                        </p:attrNameLst>
                                      </p:cBhvr>
                                      <p:tavLst>
                                        <p:tav tm="0">
                                          <p:val>
                                            <p:strVal val="#ppt_x"/>
                                          </p:val>
                                        </p:tav>
                                        <p:tav tm="100000">
                                          <p:val>
                                            <p:strVal val="#ppt_x"/>
                                          </p:val>
                                        </p:tav>
                                      </p:tavLst>
                                    </p:anim>
                                    <p:anim calcmode="lin" valueType="num">
                                      <p:cBhvr>
                                        <p:cTn id="3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p:nvPr/>
        </p:nvSpPr>
        <p:spPr>
          <a:xfrm>
            <a:off x="4689264" y="1160608"/>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90204" pitchFamily="34" charset="0"/>
              <a:buChar char="•"/>
              <a:tabLst/>
              <a:defRPr/>
            </a:pPr>
            <a:endParaRPr kumimoji="0" lang="en-US" altLang="zh-CN" sz="1600" b="0" i="0" u="none" strike="noStrike" kern="1200" cap="none" spc="0" normalizeH="0" baseline="0" noProof="0" dirty="0">
              <a:ln>
                <a:noFill/>
              </a:ln>
              <a:solidFill>
                <a:prstClr val="black"/>
              </a:solidFill>
              <a:effectLst/>
              <a:uLnTx/>
              <a:uFillTx/>
              <a:latin typeface="Times New Roman"/>
              <a:ea typeface="黑体"/>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90204" pitchFamily="34" charset="0"/>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a:ea typeface="黑体"/>
              <a:cs typeface="+mn-cs"/>
            </a:endParaRPr>
          </a:p>
        </p:txBody>
      </p:sp>
      <p:sp>
        <p:nvSpPr>
          <p:cNvPr id="9" name="内容占位符 4"/>
          <p:cNvSpPr txBox="1"/>
          <p:nvPr/>
        </p:nvSpPr>
        <p:spPr>
          <a:xfrm>
            <a:off x="411985" y="1046265"/>
            <a:ext cx="8671727"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269875" marR="0" lvl="0" indent="-2698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srgbClr val="0070C0"/>
                </a:solidFill>
                <a:effectLst/>
                <a:uLnTx/>
                <a:uFillTx/>
                <a:latin typeface="Times New Roman" panose="02020503050405090304" pitchFamily="18" charset="0"/>
                <a:ea typeface="黑体" panose="02010600040101010101" pitchFamily="49" charset="-122"/>
                <a:cs typeface="Times New Roman" panose="02020503050405090304" pitchFamily="18" charset="0"/>
              </a:rPr>
              <a:t>参与者或玩家</a:t>
            </a: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：参与博弈的决策主体</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269875" marR="0" lvl="0" indent="-2698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srgbClr val="0070C0"/>
                </a:solidFill>
                <a:effectLst/>
                <a:uLnTx/>
                <a:uFillTx/>
                <a:latin typeface="Times New Roman" panose="02020503050405090304" pitchFamily="18" charset="0"/>
                <a:ea typeface="黑体" panose="02010600040101010101" pitchFamily="49" charset="-122"/>
                <a:cs typeface="Times New Roman" panose="02020503050405090304" pitchFamily="18" charset="0"/>
              </a:rPr>
              <a:t>策略</a:t>
            </a: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：参与者可以采取的行动方案，是一整套在采取行动之前就已经准备好的完整方案。</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269875" lvl="1" indent="-269875" algn="just">
              <a:lnSpc>
                <a:spcPct val="130000"/>
              </a:lnSpc>
              <a:spcBef>
                <a:spcPts val="0"/>
              </a:spcBef>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某个参与者可采纳策略的全体组合形成了</a:t>
            </a:r>
            <a:r>
              <a:rPr kumimoji="0" lang="zh-CN" altLang="en-US" sz="2400" b="0" i="0" u="none" strike="noStrike" kern="1200" cap="none" spc="0" normalizeH="0" baseline="0" noProof="0" dirty="0">
                <a:ln>
                  <a:noFill/>
                </a:ln>
                <a:solidFill>
                  <a:srgbClr val="0070C0"/>
                </a:solidFill>
                <a:effectLst/>
                <a:uLnTx/>
                <a:uFillTx/>
                <a:latin typeface="Times New Roman" panose="02020503050405090304" pitchFamily="18" charset="0"/>
                <a:ea typeface="黑体" panose="02010600040101010101" pitchFamily="49" charset="-122"/>
                <a:cs typeface="Times New Roman" panose="02020503050405090304" pitchFamily="18" charset="0"/>
              </a:rPr>
              <a:t>策略集</a:t>
            </a:r>
            <a:r>
              <a:rPr lang="zh-CN" altLang="en-US" sz="2400" dirty="0">
                <a:solidFill>
                  <a:prstClr val="black"/>
                </a:solidFill>
                <a:latin typeface="Times New Roman" panose="02020503050405090304" pitchFamily="18" charset="0"/>
                <a:ea typeface="黑体" panose="02010600040101010101" pitchFamily="49" charset="-122"/>
                <a:cs typeface="Times New Roman" panose="02020503050405090304" pitchFamily="18" charset="0"/>
              </a:rPr>
              <a:t>。</a:t>
            </a:r>
            <a:endParaRPr kumimoji="0" lang="en-US" altLang="zh-CN" sz="2400" b="0" i="0" u="none" strike="noStrike" kern="1200" cap="none" spc="0" normalizeH="0" baseline="0" noProof="0" dirty="0">
              <a:ln>
                <a:noFill/>
              </a:ln>
              <a:solidFill>
                <a:srgbClr val="0070C0"/>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269875" lvl="1" indent="-269875" algn="just">
              <a:lnSpc>
                <a:spcPct val="130000"/>
              </a:lnSpc>
              <a:spcBef>
                <a:spcPts val="0"/>
              </a:spcBef>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所有参与者各自采取行动后形成的状态被称为</a:t>
            </a:r>
            <a:r>
              <a:rPr kumimoji="0" lang="zh-CN" altLang="en-US" sz="2400" b="0" i="0" u="none" strike="noStrike" kern="1200" cap="none" spc="0" normalizeH="0" baseline="0" noProof="0" dirty="0">
                <a:ln>
                  <a:noFill/>
                </a:ln>
                <a:solidFill>
                  <a:srgbClr val="0070C0"/>
                </a:solidFill>
                <a:effectLst/>
                <a:uLnTx/>
                <a:uFillTx/>
                <a:latin typeface="Times New Roman" panose="02020503050405090304" pitchFamily="18" charset="0"/>
                <a:ea typeface="黑体" panose="02010600040101010101" pitchFamily="49" charset="-122"/>
                <a:cs typeface="Times New Roman" panose="02020503050405090304" pitchFamily="18" charset="0"/>
              </a:rPr>
              <a:t>局势</a:t>
            </a:r>
            <a:r>
              <a:rPr lang="zh-CN" altLang="en-US" sz="2400" dirty="0">
                <a:solidFill>
                  <a:prstClr val="black"/>
                </a:solidFill>
                <a:latin typeface="Times New Roman" panose="02020503050405090304" pitchFamily="18" charset="0"/>
                <a:ea typeface="黑体" panose="02010600040101010101" pitchFamily="49" charset="-122"/>
                <a:cs typeface="Times New Roman" panose="02020503050405090304" pitchFamily="18" charset="0"/>
              </a:rPr>
              <a:t>。</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269875" lvl="1" indent="-269875" algn="just">
              <a:lnSpc>
                <a:spcPct val="130000"/>
              </a:lnSpc>
              <a:spcBef>
                <a:spcPts val="0"/>
              </a:spcBef>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如果参与者可以通过一定概率分布来选择若干个不同的策略，这样的策略称为</a:t>
            </a:r>
            <a:r>
              <a:rPr kumimoji="0" lang="zh-CN" altLang="en-US" sz="2400" b="0" i="0" u="none" strike="noStrike" kern="1200" cap="none" spc="0" normalizeH="0" baseline="0" noProof="0" dirty="0">
                <a:ln>
                  <a:noFill/>
                </a:ln>
                <a:solidFill>
                  <a:srgbClr val="0070C0"/>
                </a:solidFill>
                <a:effectLst/>
                <a:uLnTx/>
                <a:uFillTx/>
                <a:latin typeface="Times New Roman" panose="02020503050405090304" pitchFamily="18" charset="0"/>
                <a:ea typeface="黑体" panose="02010600040101010101" pitchFamily="49" charset="-122"/>
                <a:cs typeface="Times New Roman" panose="02020503050405090304" pitchFamily="18" charset="0"/>
              </a:rPr>
              <a:t>混合策略</a:t>
            </a: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。若参与者每次行动都选择某个确定的策略，这样的策略称为</a:t>
            </a:r>
            <a:r>
              <a:rPr kumimoji="0" lang="zh-CN" altLang="en-US" sz="2400" b="0" i="0" u="none" strike="noStrike" kern="1200" cap="none" spc="0" normalizeH="0" baseline="0" noProof="0" dirty="0">
                <a:ln>
                  <a:noFill/>
                </a:ln>
                <a:solidFill>
                  <a:srgbClr val="0070C0"/>
                </a:solidFill>
                <a:effectLst/>
                <a:uLnTx/>
                <a:uFillTx/>
                <a:latin typeface="Times New Roman" panose="02020503050405090304" pitchFamily="18" charset="0"/>
                <a:ea typeface="黑体" panose="02010600040101010101" pitchFamily="49" charset="-122"/>
                <a:cs typeface="Times New Roman" panose="02020503050405090304" pitchFamily="18" charset="0"/>
              </a:rPr>
              <a:t>纯策略</a:t>
            </a:r>
            <a:r>
              <a:rPr lang="zh-CN" altLang="en-US" sz="2400" dirty="0">
                <a:solidFill>
                  <a:prstClr val="black"/>
                </a:solidFill>
                <a:latin typeface="Times New Roman" panose="02020503050405090304" pitchFamily="18" charset="0"/>
                <a:ea typeface="黑体" panose="02010600040101010101" pitchFamily="49" charset="-122"/>
                <a:cs typeface="Times New Roman" panose="02020503050405090304" pitchFamily="18" charset="0"/>
              </a:rPr>
              <a:t>。</a:t>
            </a:r>
            <a:endParaRPr kumimoji="0" lang="en-US" altLang="zh-CN" sz="2400" b="0" i="0" u="none" strike="noStrike" kern="1200" cap="none" spc="0" normalizeH="0" baseline="0" noProof="0" dirty="0">
              <a:ln>
                <a:noFill/>
              </a:ln>
              <a:solidFill>
                <a:srgbClr val="0070C0"/>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269875" lvl="1" indent="-269875" algn="just">
              <a:lnSpc>
                <a:spcPct val="130000"/>
              </a:lnSpc>
              <a:spcBef>
                <a:spcPts val="0"/>
              </a:spcBef>
              <a:defRPr/>
            </a:pPr>
            <a:r>
              <a:rPr kumimoji="0" lang="zh-CN" altLang="en-US" sz="2400" b="0" i="0" u="none" strike="noStrike" kern="1200" cap="none" spc="0" normalizeH="0" baseline="0" noProof="0" dirty="0">
                <a:ln>
                  <a:noFill/>
                </a:ln>
                <a:solidFill>
                  <a:srgbClr val="0070C0"/>
                </a:solidFill>
                <a:effectLst/>
                <a:uLnTx/>
                <a:uFillTx/>
                <a:latin typeface="Times New Roman" panose="02020503050405090304" pitchFamily="18" charset="0"/>
                <a:ea typeface="黑体" panose="02010600040101010101" pitchFamily="49" charset="-122"/>
                <a:cs typeface="Times New Roman" panose="02020503050405090304" pitchFamily="18" charset="0"/>
              </a:rPr>
              <a:t>收益</a:t>
            </a: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：各个参与者在不同局势下得到的</a:t>
            </a:r>
            <a:r>
              <a:rPr lang="zh-CN" altLang="en-US" sz="2400" dirty="0">
                <a:solidFill>
                  <a:prstClr val="black"/>
                </a:solidFill>
                <a:latin typeface="Times New Roman" panose="02020503050405090304" pitchFamily="18" charset="0"/>
                <a:ea typeface="黑体" panose="02010600040101010101" pitchFamily="49" charset="-122"/>
                <a:cs typeface="Times New Roman" panose="02020503050405090304" pitchFamily="18" charset="0"/>
              </a:rPr>
              <a:t>利益。</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269875" lvl="1" indent="-269875" algn="just">
              <a:lnSpc>
                <a:spcPct val="130000"/>
              </a:lnSpc>
              <a:spcBef>
                <a:spcPts val="0"/>
              </a:spcBef>
              <a:defRPr/>
            </a:pPr>
            <a:r>
              <a:rPr kumimoji="0" lang="zh-CN" altLang="en-US" sz="2400" b="0" i="0" u="none" strike="noStrike" kern="1200" cap="none" spc="0" normalizeH="0" baseline="0" noProof="0" dirty="0">
                <a:ln>
                  <a:noFill/>
                </a:ln>
                <a:solidFill>
                  <a:srgbClr val="0070C0"/>
                </a:solidFill>
                <a:effectLst/>
                <a:uLnTx/>
                <a:uFillTx/>
                <a:latin typeface="Times New Roman" panose="02020503050405090304" pitchFamily="18" charset="0"/>
                <a:ea typeface="黑体" panose="02010600040101010101" pitchFamily="49" charset="-122"/>
                <a:cs typeface="Times New Roman" panose="02020503050405090304" pitchFamily="18" charset="0"/>
              </a:rPr>
              <a:t>规则</a:t>
            </a: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：对参与者行动的先后顺序、参与者获得信息多少等内容的</a:t>
            </a:r>
            <a:r>
              <a:rPr lang="zh-CN" altLang="en-US" sz="2400" dirty="0">
                <a:solidFill>
                  <a:prstClr val="black"/>
                </a:solidFill>
                <a:latin typeface="Times New Roman" panose="02020503050405090304" pitchFamily="18" charset="0"/>
                <a:ea typeface="黑体" panose="02010600040101010101" pitchFamily="49" charset="-122"/>
                <a:cs typeface="Times New Roman" panose="02020503050405090304" pitchFamily="18" charset="0"/>
              </a:rPr>
              <a:t>规定。</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0" marR="0" lvl="0" indent="0" algn="just" defTabSz="685800" rtl="0" eaLnBrk="1" fontAlgn="auto" latinLnBrk="0" hangingPunct="1">
              <a:lnSpc>
                <a:spcPct val="130000"/>
              </a:lnSpc>
              <a:spcBef>
                <a:spcPts val="0"/>
              </a:spcBef>
              <a:spcAft>
                <a:spcPts val="0"/>
              </a:spcAft>
              <a:buClrTx/>
              <a:buSzTx/>
              <a:buFont typeface="Arial" panose="020B0604020202090204" pitchFamily="34" charset="0"/>
              <a:buNone/>
              <a:tabLst/>
              <a:defRPr/>
            </a:pP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p:txBody>
      </p:sp>
      <p:sp>
        <p:nvSpPr>
          <p:cNvPr id="8" name="标题 1">
            <a:extLst>
              <a:ext uri="{FF2B5EF4-FFF2-40B4-BE49-F238E27FC236}">
                <a16:creationId xmlns:a16="http://schemas.microsoft.com/office/drawing/2014/main" id="{0F1E9826-EA34-88FB-1A6B-67812AF40BEE}"/>
              </a:ext>
            </a:extLst>
          </p:cNvPr>
          <p:cNvSpPr>
            <a:spLocks noGrp="1"/>
          </p:cNvSpPr>
          <p:nvPr>
            <p:ph type="title"/>
          </p:nvPr>
        </p:nvSpPr>
        <p:spPr>
          <a:xfrm>
            <a:off x="0" y="4763"/>
            <a:ext cx="9144000" cy="817562"/>
          </a:xfrm>
        </p:spPr>
        <p:txBody>
          <a:bodyPr>
            <a:normAutofit/>
          </a:body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博弈论的相关概念：</a:t>
            </a:r>
            <a:r>
              <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rPr>
              <a:t>博弈论的要素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fade">
                                      <p:cBhvr>
                                        <p:cTn id="32" dur="500"/>
                                        <p:tgtEl>
                                          <p:spTgt spid="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fade">
                                      <p:cBhvr>
                                        <p:cTn id="37"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4"/>
          <p:cNvSpPr txBox="1"/>
          <p:nvPr/>
        </p:nvSpPr>
        <p:spPr>
          <a:xfrm>
            <a:off x="381739" y="1000512"/>
            <a:ext cx="4578188" cy="5532677"/>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171450" marR="0" lvl="0"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1950</a:t>
            </a: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年，兰德公司拟定了相关困境理论，后来美国普林斯顿大学数学家阿尔伯特</a:t>
            </a:r>
            <a:r>
              <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a:t>
            </a: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塔克以“囚徒方式”阐述：</a:t>
            </a:r>
            <a:r>
              <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 </a:t>
            </a:r>
          </a:p>
          <a:p>
            <a:pPr marL="360363" marR="0" lvl="1" indent="-1809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警方逮捕了共同犯罪的甲、乙两人，由于警方没有掌握充分的证据，所以将两人分开审讯：</a:t>
            </a:r>
            <a:endPar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360363" marR="0" lvl="1" indent="-1809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若一人认罪并指证对方，而另一方保持沉默，则此人会被当即释放，沉默者会被判监禁</a:t>
            </a:r>
            <a:r>
              <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10</a:t>
            </a: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年</a:t>
            </a:r>
            <a:endPar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360363" marR="0" lvl="1" indent="-1809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若两人都保持沉默，则根据已有的犯罪事实（无充分证据）两人各判半年</a:t>
            </a:r>
            <a:endPar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360363" marR="0" lvl="1" indent="-1809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若两人都认罪并相互指证，则两人各判</a:t>
            </a:r>
            <a:r>
              <a:rPr kumimoji="0" lang="en-US"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5</a:t>
            </a:r>
            <a:r>
              <a:rPr kumimoji="0"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年</a:t>
            </a:r>
          </a:p>
          <a:p>
            <a:pPr marL="342900" marR="0" lvl="1" indent="0" algn="just" defTabSz="685800" rtl="0" eaLnBrk="1" fontAlgn="auto" latinLnBrk="0" hangingPunct="1">
              <a:lnSpc>
                <a:spcPct val="130000"/>
              </a:lnSpc>
              <a:spcBef>
                <a:spcPts val="0"/>
              </a:spcBef>
              <a:spcAft>
                <a:spcPts val="0"/>
              </a:spcAft>
              <a:buClrTx/>
              <a:buSzTx/>
              <a:buNone/>
              <a:tabLst/>
              <a:defRPr/>
            </a:pPr>
            <a:endPar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endParaRPr>
          </a:p>
        </p:txBody>
      </p:sp>
      <p:graphicFrame>
        <p:nvGraphicFramePr>
          <p:cNvPr id="3" name="表格 2"/>
          <p:cNvGraphicFramePr>
            <a:graphicFrameLocks noGrp="1"/>
          </p:cNvGraphicFramePr>
          <p:nvPr>
            <p:extLst>
              <p:ext uri="{D42A27DB-BD31-4B8C-83A1-F6EECF244321}">
                <p14:modId xmlns:p14="http://schemas.microsoft.com/office/powerpoint/2010/main" val="1676961663"/>
              </p:ext>
            </p:extLst>
          </p:nvPr>
        </p:nvGraphicFramePr>
        <p:xfrm>
          <a:off x="5184243" y="2133148"/>
          <a:ext cx="3648363" cy="2451120"/>
        </p:xfrm>
        <a:graphic>
          <a:graphicData uri="http://schemas.openxmlformats.org/drawingml/2006/table">
            <a:tbl>
              <a:tblPr firstRow="1" bandRow="1">
                <a:tableStyleId>{5940675A-B579-460E-94D1-54222C63F5DA}</a:tableStyleId>
              </a:tblPr>
              <a:tblGrid>
                <a:gridCol w="1216121">
                  <a:extLst>
                    <a:ext uri="{9D8B030D-6E8A-4147-A177-3AD203B41FA5}">
                      <a16:colId xmlns:a16="http://schemas.microsoft.com/office/drawing/2014/main" val="20000"/>
                    </a:ext>
                  </a:extLst>
                </a:gridCol>
                <a:gridCol w="1216121">
                  <a:extLst>
                    <a:ext uri="{9D8B030D-6E8A-4147-A177-3AD203B41FA5}">
                      <a16:colId xmlns:a16="http://schemas.microsoft.com/office/drawing/2014/main" val="20001"/>
                    </a:ext>
                  </a:extLst>
                </a:gridCol>
                <a:gridCol w="1216121">
                  <a:extLst>
                    <a:ext uri="{9D8B030D-6E8A-4147-A177-3AD203B41FA5}">
                      <a16:colId xmlns:a16="http://schemas.microsoft.com/office/drawing/2014/main" val="20002"/>
                    </a:ext>
                  </a:extLst>
                </a:gridCol>
              </a:tblGrid>
              <a:tr h="652800">
                <a:tc>
                  <a:txBody>
                    <a:bodyPr/>
                    <a:lstStyle/>
                    <a:p>
                      <a:pPr algn="ctr"/>
                      <a:endParaRPr lang="zh-CN" altLang="en-US" sz="1700" dirty="0">
                        <a:latin typeface="Times New Roman" panose="02020503050405090304" pitchFamily="18" charset="0"/>
                        <a:ea typeface="黑体" panose="02010600040101010101" pitchFamily="49" charset="-122"/>
                        <a:cs typeface="Times New Roman" panose="02020503050405090304" pitchFamily="18" charset="0"/>
                      </a:endParaRPr>
                    </a:p>
                  </a:txBody>
                  <a:tcPr marT="60960" marB="60960" anchor="ctr"/>
                </a:tc>
                <a:tc>
                  <a:txBody>
                    <a:bodyPr/>
                    <a:lstStyle/>
                    <a:p>
                      <a:pPr algn="ct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乙沉默（合作）</a:t>
                      </a:r>
                    </a:p>
                  </a:txBody>
                  <a:tcPr marT="60960" marB="60960" anchor="ctr"/>
                </a:tc>
                <a:tc>
                  <a:txBody>
                    <a:bodyPr/>
                    <a:lstStyle/>
                    <a:p>
                      <a:pPr algn="ct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乙认罪（背叛）</a:t>
                      </a:r>
                    </a:p>
                  </a:txBody>
                  <a:tcPr marT="60960" marB="60960" anchor="ctr"/>
                </a:tc>
                <a:extLst>
                  <a:ext uri="{0D108BD9-81ED-4DB2-BD59-A6C34878D82A}">
                    <a16:rowId xmlns:a16="http://schemas.microsoft.com/office/drawing/2014/main" val="10000"/>
                  </a:ext>
                </a:extLst>
              </a:tr>
              <a:tr h="650240">
                <a:tc>
                  <a:txBody>
                    <a:bodyPr/>
                    <a:lstStyle/>
                    <a:p>
                      <a:pPr algn="ct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甲沉默（合作）</a:t>
                      </a:r>
                    </a:p>
                  </a:txBody>
                  <a:tcPr marT="60960" marB="60960" anchor="ctr"/>
                </a:tc>
                <a:tc>
                  <a:txBody>
                    <a:bodyPr/>
                    <a:lstStyle/>
                    <a:p>
                      <a:pPr algn="ct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二人各</a:t>
                      </a:r>
                      <a:endParaRPr lang="en-US" altLang="zh-CN" sz="1700" dirty="0">
                        <a:latin typeface="Times New Roman" panose="02020503050405090304" pitchFamily="18" charset="0"/>
                        <a:ea typeface="黑体" panose="02010600040101010101" pitchFamily="49" charset="-122"/>
                        <a:cs typeface="Times New Roman" panose="02020503050405090304" pitchFamily="18" charset="0"/>
                      </a:endParaRPr>
                    </a:p>
                    <a:p>
                      <a:pPr algn="ct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服刑半年</a:t>
                      </a:r>
                    </a:p>
                  </a:txBody>
                  <a:tcPr marT="60960" marB="60960" anchor="ctr"/>
                </a:tc>
                <a:tc>
                  <a:txBody>
                    <a:bodyPr/>
                    <a:lstStyle/>
                    <a:p>
                      <a:pPr algn="ct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乙被释放，</a:t>
                      </a:r>
                      <a:endParaRPr lang="en-US" altLang="zh-CN" sz="1700" dirty="0">
                        <a:latin typeface="Times New Roman" panose="02020503050405090304" pitchFamily="18" charset="0"/>
                        <a:ea typeface="黑体" panose="02010600040101010101" pitchFamily="49" charset="-122"/>
                        <a:cs typeface="Times New Roman" panose="02020503050405090304" pitchFamily="18" charset="0"/>
                      </a:endParaRPr>
                    </a:p>
                    <a:p>
                      <a:pPr algn="ct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甲服刑</a:t>
                      </a:r>
                      <a:r>
                        <a:rPr lang="en-US" altLang="zh-CN" sz="1700" dirty="0">
                          <a:latin typeface="Times New Roman" panose="02020503050405090304" pitchFamily="18" charset="0"/>
                          <a:ea typeface="黑体" panose="02010600040101010101" pitchFamily="49" charset="-122"/>
                          <a:cs typeface="Times New Roman" panose="02020503050405090304" pitchFamily="18" charset="0"/>
                        </a:rPr>
                        <a:t>10</a:t>
                      </a: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年</a:t>
                      </a:r>
                    </a:p>
                  </a:txBody>
                  <a:tcPr marT="60960" marB="60960" anchor="ctr"/>
                </a:tc>
                <a:extLst>
                  <a:ext uri="{0D108BD9-81ED-4DB2-BD59-A6C34878D82A}">
                    <a16:rowId xmlns:a16="http://schemas.microsoft.com/office/drawing/2014/main" val="10001"/>
                  </a:ext>
                </a:extLst>
              </a:tr>
              <a:tr h="650240">
                <a:tc>
                  <a:txBody>
                    <a:bodyPr/>
                    <a:lstStyle/>
                    <a:p>
                      <a:pPr algn="ct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甲认罪（背叛）</a:t>
                      </a:r>
                    </a:p>
                  </a:txBody>
                  <a:tcPr marT="60960" marB="60960" anchor="ctr"/>
                </a:tc>
                <a:tc>
                  <a:txBody>
                    <a:bodyPr/>
                    <a:lstStyle/>
                    <a:p>
                      <a:pPr algn="ct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甲被释放，</a:t>
                      </a:r>
                      <a:endParaRPr lang="en-US" altLang="zh-CN" sz="1700" dirty="0">
                        <a:latin typeface="Times New Roman" panose="02020503050405090304" pitchFamily="18" charset="0"/>
                        <a:ea typeface="黑体" panose="02010600040101010101" pitchFamily="49" charset="-122"/>
                        <a:cs typeface="Times New Roman" panose="02020503050405090304" pitchFamily="18" charset="0"/>
                      </a:endParaRPr>
                    </a:p>
                    <a:p>
                      <a:pPr algn="ct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乙服刑</a:t>
                      </a:r>
                      <a:r>
                        <a:rPr lang="en-US" altLang="zh-CN" sz="1700" dirty="0">
                          <a:latin typeface="Times New Roman" panose="02020503050405090304" pitchFamily="18" charset="0"/>
                          <a:ea typeface="黑体" panose="02010600040101010101" pitchFamily="49" charset="-122"/>
                          <a:cs typeface="Times New Roman" panose="02020503050405090304" pitchFamily="18" charset="0"/>
                        </a:rPr>
                        <a:t>10</a:t>
                      </a: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年</a:t>
                      </a:r>
                    </a:p>
                  </a:txBody>
                  <a:tcPr marT="60960" marB="60960" anchor="ctr"/>
                </a:tc>
                <a:tc>
                  <a:txBody>
                    <a:bodyPr/>
                    <a:lstStyle/>
                    <a:p>
                      <a:pPr algn="ct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二人各</a:t>
                      </a:r>
                      <a:endParaRPr lang="en-US" altLang="zh-CN" sz="1700" dirty="0">
                        <a:latin typeface="Times New Roman" panose="02020503050405090304" pitchFamily="18" charset="0"/>
                        <a:ea typeface="黑体" panose="02010600040101010101" pitchFamily="49" charset="-122"/>
                        <a:cs typeface="Times New Roman" panose="02020503050405090304" pitchFamily="18" charset="0"/>
                      </a:endParaRPr>
                    </a:p>
                    <a:p>
                      <a:pPr algn="ct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服刑</a:t>
                      </a:r>
                      <a:r>
                        <a:rPr lang="en-US" altLang="zh-CN" sz="1700" dirty="0">
                          <a:latin typeface="Times New Roman" panose="02020503050405090304" pitchFamily="18" charset="0"/>
                          <a:ea typeface="黑体" panose="02010600040101010101" pitchFamily="49" charset="-122"/>
                          <a:cs typeface="Times New Roman" panose="02020503050405090304" pitchFamily="18" charset="0"/>
                        </a:rPr>
                        <a:t>5</a:t>
                      </a:r>
                      <a:r>
                        <a:rPr lang="zh-CN" altLang="en-US" sz="1700" dirty="0">
                          <a:latin typeface="Times New Roman" panose="02020503050405090304" pitchFamily="18" charset="0"/>
                          <a:ea typeface="黑体" panose="02010600040101010101" pitchFamily="49" charset="-122"/>
                          <a:cs typeface="Times New Roman" panose="02020503050405090304" pitchFamily="18" charset="0"/>
                        </a:rPr>
                        <a:t>年</a:t>
                      </a:r>
                    </a:p>
                  </a:txBody>
                  <a:tcPr marT="60960" marB="60960" anchor="ctr"/>
                </a:tc>
                <a:extLst>
                  <a:ext uri="{0D108BD9-81ED-4DB2-BD59-A6C34878D82A}">
                    <a16:rowId xmlns:a16="http://schemas.microsoft.com/office/drawing/2014/main" val="10002"/>
                  </a:ext>
                </a:extLst>
              </a:tr>
            </a:tbl>
          </a:graphicData>
        </a:graphic>
      </p:graphicFrame>
      <p:sp>
        <p:nvSpPr>
          <p:cNvPr id="10" name="标题 1">
            <a:extLst>
              <a:ext uri="{FF2B5EF4-FFF2-40B4-BE49-F238E27FC236}">
                <a16:creationId xmlns:a16="http://schemas.microsoft.com/office/drawing/2014/main" id="{EA183FBE-A0D6-B257-5C04-E2A53F13AFC8}"/>
              </a:ext>
            </a:extLst>
          </p:cNvPr>
          <p:cNvSpPr>
            <a:spLocks noGrp="1"/>
          </p:cNvSpPr>
          <p:nvPr>
            <p:ph type="title"/>
          </p:nvPr>
        </p:nvSpPr>
        <p:spPr>
          <a:xfrm>
            <a:off x="0" y="4763"/>
            <a:ext cx="9144000" cy="817562"/>
          </a:xfrm>
        </p:spPr>
        <p:txBody>
          <a:bodyPr>
            <a:normAutofit/>
          </a:body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博弈论的相关概念：囚徒困境</a:t>
            </a:r>
            <a:endPar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par>
                          <p:cTn id="28" fill="hold">
                            <p:stCondLst>
                              <p:cond delay="500"/>
                            </p:stCondLst>
                            <p:childTnLst>
                              <p:par>
                                <p:cTn id="29" presetID="42" presetClass="entr" presetSubtype="0" fill="hold" nodeType="afterEffect">
                                  <p:stCondLst>
                                    <p:cond delay="100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1000"/>
                                        <p:tgtEl>
                                          <p:spTgt spid="3"/>
                                        </p:tgtEl>
                                      </p:cBhvr>
                                    </p:animEffect>
                                    <p:anim calcmode="lin" valueType="num">
                                      <p:cBhvr>
                                        <p:cTn id="32" dur="1000" fill="hold"/>
                                        <p:tgtEl>
                                          <p:spTgt spid="3"/>
                                        </p:tgtEl>
                                        <p:attrNameLst>
                                          <p:attrName>ppt_x</p:attrName>
                                        </p:attrNameLst>
                                      </p:cBhvr>
                                      <p:tavLst>
                                        <p:tav tm="0">
                                          <p:val>
                                            <p:strVal val="#ppt_x"/>
                                          </p:val>
                                        </p:tav>
                                        <p:tav tm="100000">
                                          <p:val>
                                            <p:strVal val="#ppt_x"/>
                                          </p:val>
                                        </p:tav>
                                      </p:tavLst>
                                    </p:anim>
                                    <p:anim calcmode="lin" valueType="num">
                                      <p:cBhvr>
                                        <p:cTn id="3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p:nvPr/>
        </p:nvSpPr>
        <p:spPr>
          <a:xfrm>
            <a:off x="353292" y="1083904"/>
            <a:ext cx="8534399"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269875" marR="0" lvl="0" indent="-2698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参与者：甲、乙</a:t>
            </a:r>
            <a:endParaRPr kumimoji="0" lang="en-US" altLang="zh-CN" sz="2400" i="0" u="none" strike="noStrike" kern="1200" cap="none" spc="0" normalizeH="0" baseline="0" noProof="0" dirty="0">
              <a:ln>
                <a:noFill/>
              </a:ln>
              <a:solidFill>
                <a:prstClr val="black"/>
              </a:solidFill>
              <a:effectLst/>
              <a:uLnTx/>
              <a:uFillTx/>
              <a:cs typeface="Times New Roman" panose="02020503050405090304" pitchFamily="18" charset="0"/>
            </a:endParaRPr>
          </a:p>
          <a:p>
            <a:pPr marL="269875" marR="0" lvl="0" indent="-2698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规则：甲、乙两人分别决策，无法得知对方的选择</a:t>
            </a:r>
            <a:endParaRPr kumimoji="0" lang="en-US" altLang="zh-CN" sz="2400" i="0" u="none" strike="noStrike" kern="1200" cap="none" spc="0" normalizeH="0" baseline="0" noProof="0" dirty="0">
              <a:ln>
                <a:noFill/>
              </a:ln>
              <a:solidFill>
                <a:prstClr val="black"/>
              </a:solidFill>
              <a:effectLst/>
              <a:uLnTx/>
              <a:uFillTx/>
              <a:cs typeface="Times New Roman" panose="02020503050405090304" pitchFamily="18" charset="0"/>
            </a:endParaRPr>
          </a:p>
          <a:p>
            <a:pPr marL="269875" marR="0" lvl="0" indent="-2698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策略集：认罪、沉默（纯策略）</a:t>
            </a:r>
            <a:endParaRPr kumimoji="0" lang="en-US" altLang="zh-CN" sz="2400" i="0" u="none" strike="noStrike" kern="1200" cap="none" spc="0" normalizeH="0" baseline="0" noProof="0" dirty="0">
              <a:ln>
                <a:noFill/>
              </a:ln>
              <a:solidFill>
                <a:prstClr val="black"/>
              </a:solidFill>
              <a:effectLst/>
              <a:uLnTx/>
              <a:uFillTx/>
              <a:cs typeface="Times New Roman" panose="02020503050405090304" pitchFamily="18" charset="0"/>
            </a:endParaRPr>
          </a:p>
          <a:p>
            <a:pPr marL="269875" marR="0" lvl="0" indent="-2698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局势及对应收益（年）</a:t>
            </a:r>
            <a:endParaRPr kumimoji="0" lang="en-US" altLang="zh-CN" sz="2400" i="0" u="none" strike="noStrike" kern="1200" cap="none" spc="0" normalizeH="0" baseline="0" noProof="0" dirty="0">
              <a:ln>
                <a:noFill/>
              </a:ln>
              <a:solidFill>
                <a:prstClr val="black"/>
              </a:solidFill>
              <a:effectLst/>
              <a:uLnTx/>
              <a:uFillTx/>
              <a:cs typeface="Times New Roman" panose="02020503050405090304" pitchFamily="18" charset="0"/>
            </a:endParaRPr>
          </a:p>
          <a:p>
            <a:pPr marL="630238" marR="0" lvl="1" indent="-360363"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甲认罪：</a:t>
            </a:r>
            <a:r>
              <a:rPr kumimoji="0" lang="en-US" altLang="zh-CN" sz="2400" i="0" u="none" strike="noStrike" kern="1200" cap="none" spc="0" normalizeH="0" baseline="0" noProof="0" dirty="0">
                <a:ln>
                  <a:noFill/>
                </a:ln>
                <a:solidFill>
                  <a:prstClr val="black"/>
                </a:solidFill>
                <a:effectLst/>
                <a:uLnTx/>
                <a:uFillTx/>
                <a:cs typeface="Times New Roman" panose="02020503050405090304" pitchFamily="18" charset="0"/>
              </a:rPr>
              <a:t>0		</a:t>
            </a: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乙沉默：</a:t>
            </a:r>
            <a:r>
              <a:rPr kumimoji="0" lang="en-US" altLang="zh-CN" sz="2400" i="0" u="none" strike="noStrike" kern="1200" cap="none" spc="0" normalizeH="0" baseline="0" noProof="0" dirty="0">
                <a:ln>
                  <a:noFill/>
                </a:ln>
                <a:solidFill>
                  <a:prstClr val="black"/>
                </a:solidFill>
                <a:effectLst/>
                <a:uLnTx/>
                <a:uFillTx/>
                <a:cs typeface="Times New Roman" panose="02020503050405090304" pitchFamily="18" charset="0"/>
              </a:rPr>
              <a:t>-10</a:t>
            </a:r>
          </a:p>
          <a:p>
            <a:pPr marL="630238" marR="0" lvl="1" indent="-360363"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甲认罪：</a:t>
            </a:r>
            <a:r>
              <a:rPr kumimoji="0" lang="en-US" altLang="zh-CN" sz="2400" i="0" u="none" strike="noStrike" kern="1200" cap="none" spc="0" normalizeH="0" baseline="0" noProof="0" dirty="0">
                <a:ln>
                  <a:noFill/>
                </a:ln>
                <a:solidFill>
                  <a:prstClr val="black"/>
                </a:solidFill>
                <a:effectLst/>
                <a:uLnTx/>
                <a:uFillTx/>
                <a:cs typeface="Times New Roman" panose="02020503050405090304" pitchFamily="18" charset="0"/>
              </a:rPr>
              <a:t>-5	</a:t>
            </a: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乙认罪：</a:t>
            </a:r>
            <a:r>
              <a:rPr kumimoji="0" lang="en-US" altLang="zh-CN" sz="2400" i="0" u="none" strike="noStrike" kern="1200" cap="none" spc="0" normalizeH="0" baseline="0" noProof="0" dirty="0">
                <a:ln>
                  <a:noFill/>
                </a:ln>
                <a:solidFill>
                  <a:prstClr val="black"/>
                </a:solidFill>
                <a:effectLst/>
                <a:uLnTx/>
                <a:uFillTx/>
                <a:cs typeface="Times New Roman" panose="02020503050405090304" pitchFamily="18" charset="0"/>
              </a:rPr>
              <a:t>-5</a:t>
            </a:r>
          </a:p>
          <a:p>
            <a:pPr marL="630238" marR="0" lvl="1" indent="-360363"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甲沉默：</a:t>
            </a:r>
            <a:r>
              <a:rPr kumimoji="0" lang="en-US" altLang="zh-CN" sz="2400" i="0" u="none" strike="noStrike" kern="1200" cap="none" spc="0" normalizeH="0" baseline="0" noProof="0" dirty="0">
                <a:ln>
                  <a:noFill/>
                </a:ln>
                <a:solidFill>
                  <a:prstClr val="black"/>
                </a:solidFill>
                <a:effectLst/>
                <a:uLnTx/>
                <a:uFillTx/>
                <a:cs typeface="Times New Roman" panose="02020503050405090304" pitchFamily="18" charset="0"/>
              </a:rPr>
              <a:t>-10	</a:t>
            </a: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乙认罪：</a:t>
            </a:r>
            <a:r>
              <a:rPr kumimoji="0" lang="en-US" altLang="zh-CN" sz="2400" i="0" u="none" strike="noStrike" kern="1200" cap="none" spc="0" normalizeH="0" baseline="0" noProof="0" dirty="0">
                <a:ln>
                  <a:noFill/>
                </a:ln>
                <a:solidFill>
                  <a:prstClr val="black"/>
                </a:solidFill>
                <a:effectLst/>
                <a:uLnTx/>
                <a:uFillTx/>
                <a:cs typeface="Times New Roman" panose="02020503050405090304" pitchFamily="18" charset="0"/>
              </a:rPr>
              <a:t>0</a:t>
            </a:r>
          </a:p>
          <a:p>
            <a:pPr marL="630238" marR="0" lvl="1" indent="-360363"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甲沉默：</a:t>
            </a:r>
            <a:r>
              <a:rPr kumimoji="0" lang="en-US" altLang="zh-CN" sz="2400" i="0" u="none" strike="noStrike" kern="1200" cap="none" spc="0" normalizeH="0" baseline="0" noProof="0" dirty="0">
                <a:ln>
                  <a:noFill/>
                </a:ln>
                <a:solidFill>
                  <a:prstClr val="black"/>
                </a:solidFill>
                <a:effectLst/>
                <a:uLnTx/>
                <a:uFillTx/>
                <a:cs typeface="Times New Roman" panose="02020503050405090304" pitchFamily="18" charset="0"/>
              </a:rPr>
              <a:t>-0.5	</a:t>
            </a: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乙沉默：</a:t>
            </a:r>
            <a:r>
              <a:rPr kumimoji="0" lang="en-US" altLang="zh-CN" sz="2400" i="0" u="none" strike="noStrike" kern="1200" cap="none" spc="0" normalizeH="0" baseline="0" noProof="0" dirty="0">
                <a:ln>
                  <a:noFill/>
                </a:ln>
                <a:solidFill>
                  <a:prstClr val="black"/>
                </a:solidFill>
                <a:effectLst/>
                <a:uLnTx/>
                <a:uFillTx/>
                <a:cs typeface="Times New Roman" panose="02020503050405090304" pitchFamily="18" charset="0"/>
              </a:rPr>
              <a:t>-0.5</a:t>
            </a:r>
          </a:p>
          <a:p>
            <a:pPr marL="269875" marR="0" lvl="0" indent="-2698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在囚徒困境中，</a:t>
            </a:r>
            <a:r>
              <a:rPr kumimoji="0" lang="zh-CN" altLang="en-US" sz="2400" i="0" u="none" strike="noStrike" kern="1200" cap="none" spc="0" normalizeH="0" baseline="0" noProof="0" dirty="0">
                <a:ln>
                  <a:noFill/>
                </a:ln>
                <a:solidFill>
                  <a:srgbClr val="4F81BD"/>
                </a:solidFill>
                <a:effectLst/>
                <a:uLnTx/>
                <a:uFillTx/>
                <a:cs typeface="Times New Roman" panose="02020503050405090304" pitchFamily="18" charset="0"/>
              </a:rPr>
              <a:t>最优解</a:t>
            </a: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为两人同时沉默，但是两人实际倾向于选择同时认罪（</a:t>
            </a:r>
            <a:r>
              <a:rPr kumimoji="0" lang="zh-CN" altLang="en-US" sz="2400" i="0" u="none" strike="noStrike" kern="1200" cap="none" spc="0" normalizeH="0" baseline="0" noProof="0" dirty="0">
                <a:ln>
                  <a:noFill/>
                </a:ln>
                <a:solidFill>
                  <a:srgbClr val="4F81BD"/>
                </a:solidFill>
                <a:effectLst/>
                <a:uLnTx/>
                <a:uFillTx/>
                <a:cs typeface="Times New Roman" panose="02020503050405090304" pitchFamily="18" charset="0"/>
              </a:rPr>
              <a:t>均衡解</a:t>
            </a:r>
            <a:r>
              <a:rPr kumimoji="0" lang="zh-CN" altLang="en-US" sz="2400" i="0" u="none" strike="noStrike" kern="1200" cap="none" spc="0" normalizeH="0" baseline="0" noProof="0" dirty="0">
                <a:ln>
                  <a:noFill/>
                </a:ln>
                <a:solidFill>
                  <a:prstClr val="black"/>
                </a:solidFill>
                <a:effectLst/>
                <a:uLnTx/>
                <a:uFillTx/>
                <a:cs typeface="Times New Roman" panose="02020503050405090304" pitchFamily="18" charset="0"/>
              </a:rPr>
              <a:t>）</a:t>
            </a:r>
            <a:endParaRPr kumimoji="0" lang="en-US" altLang="zh-CN" sz="2400" i="0" u="none" strike="noStrike" kern="1200" cap="none" spc="0" normalizeH="0" baseline="0" noProof="0" dirty="0">
              <a:ln>
                <a:noFill/>
              </a:ln>
              <a:solidFill>
                <a:prstClr val="black"/>
              </a:solidFill>
              <a:effectLst/>
              <a:uLnTx/>
              <a:uFillTx/>
              <a:cs typeface="Times New Roman" panose="02020503050405090304" pitchFamily="18" charset="0"/>
            </a:endParaRPr>
          </a:p>
        </p:txBody>
      </p:sp>
      <p:sp>
        <p:nvSpPr>
          <p:cNvPr id="8" name="圆角矩形 7"/>
          <p:cNvSpPr/>
          <p:nvPr/>
        </p:nvSpPr>
        <p:spPr>
          <a:xfrm>
            <a:off x="1047898" y="4500959"/>
            <a:ext cx="3863538" cy="403549"/>
          </a:xfrm>
          <a:prstGeom prst="roundRect">
            <a:avLst/>
          </a:prstGeom>
          <a:solidFill>
            <a:schemeClr val="accent3">
              <a:lumMod val="40000"/>
              <a:lumOff val="6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Times New Roman"/>
              <a:ea typeface="黑体"/>
              <a:cs typeface="+mn-cs"/>
            </a:endParaRPr>
          </a:p>
        </p:txBody>
      </p:sp>
      <p:sp>
        <p:nvSpPr>
          <p:cNvPr id="10" name="标题 1">
            <a:extLst>
              <a:ext uri="{FF2B5EF4-FFF2-40B4-BE49-F238E27FC236}">
                <a16:creationId xmlns:a16="http://schemas.microsoft.com/office/drawing/2014/main" id="{EA183FBE-A0D6-B257-5C04-E2A53F13AFC8}"/>
              </a:ext>
            </a:extLst>
          </p:cNvPr>
          <p:cNvSpPr>
            <a:spLocks noGrp="1"/>
          </p:cNvSpPr>
          <p:nvPr>
            <p:ph type="title"/>
          </p:nvPr>
        </p:nvSpPr>
        <p:spPr>
          <a:xfrm>
            <a:off x="0" y="4763"/>
            <a:ext cx="9144000" cy="817562"/>
          </a:xfrm>
        </p:spPr>
        <p:txBody>
          <a:bodyPr>
            <a:normAutofit/>
          </a:body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博弈论的相关概念：囚徒困境</a:t>
            </a:r>
            <a:endPar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endParaRPr>
          </a:p>
        </p:txBody>
      </p:sp>
      <p:sp>
        <p:nvSpPr>
          <p:cNvPr id="11" name="圆角矩形 5">
            <a:extLst>
              <a:ext uri="{FF2B5EF4-FFF2-40B4-BE49-F238E27FC236}">
                <a16:creationId xmlns:a16="http://schemas.microsoft.com/office/drawing/2014/main" id="{A3826931-DF45-4C44-B5E5-5C834A46C0E5}"/>
              </a:ext>
            </a:extLst>
          </p:cNvPr>
          <p:cNvSpPr/>
          <p:nvPr/>
        </p:nvSpPr>
        <p:spPr>
          <a:xfrm>
            <a:off x="1047898" y="3524184"/>
            <a:ext cx="3863538" cy="446039"/>
          </a:xfrm>
          <a:prstGeom prst="roundRect">
            <a:avLst/>
          </a:prstGeom>
          <a:solidFill>
            <a:schemeClr val="accent2">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Tree>
    <p:extLst>
      <p:ext uri="{BB962C8B-B14F-4D97-AF65-F5344CB8AC3E}">
        <p14:creationId xmlns:p14="http://schemas.microsoft.com/office/powerpoint/2010/main" val="3368474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par>
                                <p:cTn id="23" presetID="10" presetClass="entr" presetSubtype="0" fill="hold" nodeType="withEffect">
                                  <p:stCondLst>
                                    <p:cond delay="25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fade">
                                      <p:cBhvr>
                                        <p:cTn id="25" dur="750"/>
                                        <p:tgtEl>
                                          <p:spTgt spid="7">
                                            <p:txEl>
                                              <p:pRg st="4" end="4"/>
                                            </p:txEl>
                                          </p:spTgt>
                                        </p:tgtEl>
                                      </p:cBhvr>
                                    </p:animEffect>
                                  </p:childTnLst>
                                </p:cTn>
                              </p:par>
                              <p:par>
                                <p:cTn id="26" presetID="10" presetClass="entr" presetSubtype="0" fill="hold" nodeType="withEffect">
                                  <p:stCondLst>
                                    <p:cond delay="250"/>
                                  </p:stCondLst>
                                  <p:childTnLst>
                                    <p:set>
                                      <p:cBhvr>
                                        <p:cTn id="27" dur="1" fill="hold">
                                          <p:stCondLst>
                                            <p:cond delay="0"/>
                                          </p:stCondLst>
                                        </p:cTn>
                                        <p:tgtEl>
                                          <p:spTgt spid="7">
                                            <p:txEl>
                                              <p:pRg st="5" end="5"/>
                                            </p:txEl>
                                          </p:spTgt>
                                        </p:tgtEl>
                                        <p:attrNameLst>
                                          <p:attrName>style.visibility</p:attrName>
                                        </p:attrNameLst>
                                      </p:cBhvr>
                                      <p:to>
                                        <p:strVal val="visible"/>
                                      </p:to>
                                    </p:set>
                                    <p:animEffect transition="in" filter="fade">
                                      <p:cBhvr>
                                        <p:cTn id="28" dur="750"/>
                                        <p:tgtEl>
                                          <p:spTgt spid="7">
                                            <p:txEl>
                                              <p:pRg st="5" end="5"/>
                                            </p:txEl>
                                          </p:spTgt>
                                        </p:tgtEl>
                                      </p:cBhvr>
                                    </p:animEffect>
                                  </p:childTnLst>
                                </p:cTn>
                              </p:par>
                              <p:par>
                                <p:cTn id="29" presetID="10" presetClass="entr" presetSubtype="0" fill="hold" nodeType="withEffect">
                                  <p:stCondLst>
                                    <p:cond delay="250"/>
                                  </p:stCondLst>
                                  <p:childTnLst>
                                    <p:set>
                                      <p:cBhvr>
                                        <p:cTn id="30" dur="1" fill="hold">
                                          <p:stCondLst>
                                            <p:cond delay="0"/>
                                          </p:stCondLst>
                                        </p:cTn>
                                        <p:tgtEl>
                                          <p:spTgt spid="7">
                                            <p:txEl>
                                              <p:pRg st="6" end="6"/>
                                            </p:txEl>
                                          </p:spTgt>
                                        </p:tgtEl>
                                        <p:attrNameLst>
                                          <p:attrName>style.visibility</p:attrName>
                                        </p:attrNameLst>
                                      </p:cBhvr>
                                      <p:to>
                                        <p:strVal val="visible"/>
                                      </p:to>
                                    </p:set>
                                    <p:animEffect transition="in" filter="fade">
                                      <p:cBhvr>
                                        <p:cTn id="31" dur="750"/>
                                        <p:tgtEl>
                                          <p:spTgt spid="7">
                                            <p:txEl>
                                              <p:pRg st="6" end="6"/>
                                            </p:txEl>
                                          </p:spTgt>
                                        </p:tgtEl>
                                      </p:cBhvr>
                                    </p:animEffect>
                                  </p:childTnLst>
                                </p:cTn>
                              </p:par>
                              <p:par>
                                <p:cTn id="32" presetID="10" presetClass="entr" presetSubtype="0" fill="hold" nodeType="withEffect">
                                  <p:stCondLst>
                                    <p:cond delay="250"/>
                                  </p:stCondLst>
                                  <p:childTnLst>
                                    <p:set>
                                      <p:cBhvr>
                                        <p:cTn id="33" dur="1" fill="hold">
                                          <p:stCondLst>
                                            <p:cond delay="0"/>
                                          </p:stCondLst>
                                        </p:cTn>
                                        <p:tgtEl>
                                          <p:spTgt spid="7">
                                            <p:txEl>
                                              <p:pRg st="7" end="7"/>
                                            </p:txEl>
                                          </p:spTgt>
                                        </p:tgtEl>
                                        <p:attrNameLst>
                                          <p:attrName>style.visibility</p:attrName>
                                        </p:attrNameLst>
                                      </p:cBhvr>
                                      <p:to>
                                        <p:strVal val="visible"/>
                                      </p:to>
                                    </p:set>
                                    <p:animEffect transition="in" filter="fade">
                                      <p:cBhvr>
                                        <p:cTn id="34" dur="750"/>
                                        <p:tgtEl>
                                          <p:spTgt spid="7">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animEffect transition="in" filter="fade">
                                      <p:cBhvr>
                                        <p:cTn id="39" dur="500"/>
                                        <p:tgtEl>
                                          <p:spTgt spid="7">
                                            <p:txEl>
                                              <p:pRg st="8" end="8"/>
                                            </p:txEl>
                                          </p:spTgt>
                                        </p:tgtEl>
                                      </p:cBhvr>
                                    </p:animEffect>
                                  </p:childTnLst>
                                </p:cTn>
                              </p:par>
                            </p:childTnLst>
                          </p:cTn>
                        </p:par>
                        <p:par>
                          <p:cTn id="40" fill="hold">
                            <p:stCondLst>
                              <p:cond delay="500"/>
                            </p:stCondLst>
                            <p:childTnLst>
                              <p:par>
                                <p:cTn id="41" presetID="22" presetClass="entr" presetSubtype="8" fill="hold" grpId="0" nodeType="afterEffect">
                                  <p:stCondLst>
                                    <p:cond delay="100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10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left)">
                                      <p:cBhvr>
                                        <p:cTn id="48"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p:nvPr/>
        </p:nvSpPr>
        <p:spPr>
          <a:xfrm>
            <a:off x="4689264" y="1160608"/>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90204" pitchFamily="34" charset="0"/>
              <a:buChar char="•"/>
              <a:tabLst/>
              <a:defRPr/>
            </a:pPr>
            <a:endParaRPr kumimoji="0" lang="en-US" altLang="zh-CN" sz="1600" b="0" i="0" u="none" strike="noStrike" kern="1200" cap="none" spc="0" normalizeH="0" baseline="0" noProof="0" dirty="0">
              <a:ln>
                <a:noFill/>
              </a:ln>
              <a:solidFill>
                <a:prstClr val="black"/>
              </a:solidFill>
              <a:effectLst/>
              <a:uLnTx/>
              <a:uFillTx/>
              <a:latin typeface="Times New Roman"/>
              <a:ea typeface="黑体"/>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90204" pitchFamily="34" charset="0"/>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a:ea typeface="黑体"/>
              <a:cs typeface="+mn-cs"/>
            </a:endParaRPr>
          </a:p>
        </p:txBody>
      </p:sp>
      <p:sp>
        <p:nvSpPr>
          <p:cNvPr id="9" name="内容占位符 4"/>
          <p:cNvSpPr txBox="1"/>
          <p:nvPr/>
        </p:nvSpPr>
        <p:spPr>
          <a:xfrm>
            <a:off x="311727" y="1069075"/>
            <a:ext cx="8478981"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269875" marR="0" lvl="0" indent="-2698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800" b="0" i="0" u="none" strike="noStrike" kern="1200" cap="none" spc="0" normalizeH="0" baseline="0" noProof="0" dirty="0">
                <a:ln>
                  <a:noFill/>
                </a:ln>
                <a:solidFill>
                  <a:srgbClr val="FF0000"/>
                </a:solidFill>
                <a:effectLst/>
                <a:uLnTx/>
                <a:uFillTx/>
                <a:latin typeface="Times New Roman" panose="02020503050405090304" pitchFamily="18" charset="0"/>
                <a:ea typeface="黑体" panose="02010600040101010101" pitchFamily="49" charset="-122"/>
                <a:cs typeface="Times New Roman" panose="02020503050405090304" pitchFamily="18" charset="0"/>
              </a:rPr>
              <a:t>合作博弈与非合作博弈</a:t>
            </a:r>
            <a:endParaRPr kumimoji="0" lang="en-US" altLang="zh-CN" sz="2800" b="0" i="0" u="none" strike="noStrike" kern="1200" cap="none" spc="0" normalizeH="0" baseline="0" noProof="0" dirty="0">
              <a:ln>
                <a:noFill/>
              </a:ln>
              <a:solidFill>
                <a:srgbClr val="FF0000"/>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630238" marR="0" lvl="1" indent="-287338"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800" b="0" i="0" u="none" strike="noStrike" kern="1200" cap="none" spc="0" normalizeH="0" baseline="0" noProof="0" dirty="0">
                <a:ln>
                  <a:noFill/>
                </a:ln>
                <a:solidFill>
                  <a:srgbClr val="4F81BD"/>
                </a:solidFill>
                <a:effectLst/>
                <a:uLnTx/>
                <a:uFillTx/>
                <a:latin typeface="Times New Roman" panose="02020503050405090304" pitchFamily="18" charset="0"/>
                <a:ea typeface="黑体" panose="02010600040101010101" pitchFamily="49" charset="-122"/>
                <a:cs typeface="Times New Roman" panose="02020503050405090304" pitchFamily="18" charset="0"/>
              </a:rPr>
              <a:t>合作博弈</a:t>
            </a:r>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：部分参与者组成联盟以获得更大收益</a:t>
            </a:r>
            <a:endParaRPr kumimoji="0" lang="en-US" altLang="zh-CN"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630238" marR="0" lvl="1" indent="-287338"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800" b="0" i="0" u="none" strike="noStrike" kern="1200" cap="none" spc="0" normalizeH="0" baseline="0" noProof="0" dirty="0">
                <a:ln>
                  <a:noFill/>
                </a:ln>
                <a:solidFill>
                  <a:srgbClr val="4F81BD"/>
                </a:solidFill>
                <a:effectLst/>
                <a:uLnTx/>
                <a:uFillTx/>
                <a:latin typeface="Times New Roman" panose="02020503050405090304" pitchFamily="18" charset="0"/>
                <a:ea typeface="黑体" panose="02010600040101010101" pitchFamily="49" charset="-122"/>
                <a:cs typeface="Times New Roman" panose="02020503050405090304" pitchFamily="18" charset="0"/>
              </a:rPr>
              <a:t>非合作博弈</a:t>
            </a:r>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：参与者在决策中都彼此独立，不事先达成合作意向</a:t>
            </a:r>
            <a:endParaRPr kumimoji="0" lang="en-US" altLang="zh-CN"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269875" marR="0" lvl="0" indent="-2698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800" b="0" i="0" u="none" strike="noStrike" kern="1200" cap="none" spc="0" normalizeH="0" baseline="0" noProof="0" dirty="0">
                <a:ln>
                  <a:noFill/>
                </a:ln>
                <a:solidFill>
                  <a:srgbClr val="FF0000"/>
                </a:solidFill>
                <a:effectLst/>
                <a:uLnTx/>
                <a:uFillTx/>
                <a:latin typeface="Times New Roman" panose="02020503050405090304" pitchFamily="18" charset="0"/>
                <a:ea typeface="黑体" panose="02010600040101010101" pitchFamily="49" charset="-122"/>
                <a:cs typeface="Times New Roman" panose="02020503050405090304" pitchFamily="18" charset="0"/>
              </a:rPr>
              <a:t>静态博弈与动态博弈</a:t>
            </a:r>
            <a:endParaRPr kumimoji="0" lang="en-US" altLang="zh-CN" sz="2800" b="0" i="0" u="none" strike="noStrike" kern="1200" cap="none" spc="0" normalizeH="0" baseline="0" noProof="0" dirty="0">
              <a:ln>
                <a:noFill/>
              </a:ln>
              <a:solidFill>
                <a:srgbClr val="FF0000"/>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630238" marR="0" lvl="1" indent="-287338"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800" b="0" i="0" u="none" strike="noStrike" kern="1200" cap="none" spc="0" normalizeH="0" baseline="0" noProof="0" dirty="0">
                <a:ln>
                  <a:noFill/>
                </a:ln>
                <a:solidFill>
                  <a:srgbClr val="4F81BD"/>
                </a:solidFill>
                <a:effectLst/>
                <a:uLnTx/>
                <a:uFillTx/>
                <a:latin typeface="Times New Roman" panose="02020503050405090304" pitchFamily="18" charset="0"/>
                <a:ea typeface="黑体" panose="02010600040101010101" pitchFamily="49" charset="-122"/>
                <a:cs typeface="Times New Roman" panose="02020503050405090304" pitchFamily="18" charset="0"/>
              </a:rPr>
              <a:t>静态博弈</a:t>
            </a:r>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：所有参与者同时决策，或参与者互相不知道对方的决策</a:t>
            </a:r>
            <a:endParaRPr kumimoji="0" lang="en-US" altLang="zh-CN"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630238" marR="0" lvl="1" indent="-287338"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800" b="0" i="0" u="none" strike="noStrike" kern="1200" cap="none" spc="0" normalizeH="0" baseline="0" noProof="0" dirty="0">
                <a:ln>
                  <a:noFill/>
                </a:ln>
                <a:solidFill>
                  <a:srgbClr val="4F81BD"/>
                </a:solidFill>
                <a:effectLst/>
                <a:uLnTx/>
                <a:uFillTx/>
                <a:latin typeface="Times New Roman" panose="02020503050405090304" pitchFamily="18" charset="0"/>
                <a:ea typeface="黑体" panose="02010600040101010101" pitchFamily="49" charset="-122"/>
                <a:cs typeface="Times New Roman" panose="02020503050405090304" pitchFamily="18" charset="0"/>
              </a:rPr>
              <a:t>动态博弈</a:t>
            </a:r>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：参与者所采取行为的先后顺序由规则决定，且后行动者知道先行动者所采取的行为</a:t>
            </a:r>
            <a:endParaRPr kumimoji="0" lang="en-US" altLang="zh-CN"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p:txBody>
      </p:sp>
      <p:sp>
        <p:nvSpPr>
          <p:cNvPr id="10" name="标题 1">
            <a:extLst>
              <a:ext uri="{FF2B5EF4-FFF2-40B4-BE49-F238E27FC236}">
                <a16:creationId xmlns:a16="http://schemas.microsoft.com/office/drawing/2014/main" id="{E86B0213-E9BD-61F9-FFDC-EAFEC2AE1D40}"/>
              </a:ext>
            </a:extLst>
          </p:cNvPr>
          <p:cNvSpPr>
            <a:spLocks noGrp="1"/>
          </p:cNvSpPr>
          <p:nvPr>
            <p:ph type="title"/>
          </p:nvPr>
        </p:nvSpPr>
        <p:spPr>
          <a:xfrm>
            <a:off x="0" y="4763"/>
            <a:ext cx="9144000" cy="817562"/>
          </a:xfrm>
        </p:spPr>
        <p:txBody>
          <a:bodyPr>
            <a:normAutofit/>
          </a:body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博弈论的相关概念：博弈分类</a:t>
            </a:r>
            <a:endPar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fade">
                                      <p:cBhvr>
                                        <p:cTn id="11" dur="1000"/>
                                        <p:tgtEl>
                                          <p:spTgt spid="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xEl>
                                              <p:pRg st="2" end="2"/>
                                            </p:txEl>
                                          </p:spTgt>
                                        </p:tgtEl>
                                        <p:attrNameLst>
                                          <p:attrName>style.visibility</p:attrName>
                                        </p:attrNameLst>
                                      </p:cBhvr>
                                      <p:to>
                                        <p:strVal val="visible"/>
                                      </p:to>
                                    </p:set>
                                    <p:animEffect transition="in" filter="fade">
                                      <p:cBhvr>
                                        <p:cTn id="16" dur="500"/>
                                        <p:tgtEl>
                                          <p:spTgt spid="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fade">
                                      <p:cBhvr>
                                        <p:cTn id="21" dur="500"/>
                                        <p:tgtEl>
                                          <p:spTgt spid="9">
                                            <p:txEl>
                                              <p:pRg st="3" end="3"/>
                                            </p:txEl>
                                          </p:spTgt>
                                        </p:tgtEl>
                                      </p:cBhvr>
                                    </p:animEffect>
                                  </p:childTnLst>
                                </p:cTn>
                              </p:par>
                            </p:childTnLst>
                          </p:cTn>
                        </p:par>
                        <p:par>
                          <p:cTn id="22" fill="hold">
                            <p:stCondLst>
                              <p:cond delay="500"/>
                            </p:stCondLst>
                            <p:childTnLst>
                              <p:par>
                                <p:cTn id="23" presetID="10" presetClass="entr" presetSubtype="0" fill="hold" nodeType="afterEffect">
                                  <p:stCondLst>
                                    <p:cond delay="500"/>
                                  </p:stCondLst>
                                  <p:childTnLst>
                                    <p:set>
                                      <p:cBhvr>
                                        <p:cTn id="24" dur="1" fill="hold">
                                          <p:stCondLst>
                                            <p:cond delay="0"/>
                                          </p:stCondLst>
                                        </p:cTn>
                                        <p:tgtEl>
                                          <p:spTgt spid="9">
                                            <p:txEl>
                                              <p:pRg st="4" end="4"/>
                                            </p:txEl>
                                          </p:spTgt>
                                        </p:tgtEl>
                                        <p:attrNameLst>
                                          <p:attrName>style.visibility</p:attrName>
                                        </p:attrNameLst>
                                      </p:cBhvr>
                                      <p:to>
                                        <p:strVal val="visible"/>
                                      </p:to>
                                    </p:set>
                                    <p:animEffect transition="in" filter="fade">
                                      <p:cBhvr>
                                        <p:cTn id="25" dur="1000"/>
                                        <p:tgtEl>
                                          <p:spTgt spid="9">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
                                            <p:txEl>
                                              <p:pRg st="5" end="5"/>
                                            </p:txEl>
                                          </p:spTgt>
                                        </p:tgtEl>
                                        <p:attrNameLst>
                                          <p:attrName>style.visibility</p:attrName>
                                        </p:attrNameLst>
                                      </p:cBhvr>
                                      <p:to>
                                        <p:strVal val="visible"/>
                                      </p:to>
                                    </p:set>
                                    <p:animEffect transition="in" filter="fade">
                                      <p:cBhvr>
                                        <p:cTn id="30"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p:nvPr/>
        </p:nvSpPr>
        <p:spPr>
          <a:xfrm>
            <a:off x="4689264" y="1160608"/>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90204" pitchFamily="34" charset="0"/>
              <a:buChar char="•"/>
              <a:tabLst/>
              <a:defRPr/>
            </a:pPr>
            <a:endParaRPr kumimoji="0" lang="en-US" altLang="zh-CN" sz="1600" b="0" i="0" u="none" strike="noStrike" kern="1200" cap="none" spc="0" normalizeH="0" baseline="0" noProof="0" dirty="0">
              <a:ln>
                <a:noFill/>
              </a:ln>
              <a:solidFill>
                <a:prstClr val="black"/>
              </a:solidFill>
              <a:effectLst/>
              <a:uLnTx/>
              <a:uFillTx/>
              <a:latin typeface="Times New Roman"/>
              <a:ea typeface="黑体"/>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90204" pitchFamily="34" charset="0"/>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a:ea typeface="黑体"/>
              <a:cs typeface="+mn-cs"/>
            </a:endParaRPr>
          </a:p>
        </p:txBody>
      </p:sp>
      <p:sp>
        <p:nvSpPr>
          <p:cNvPr id="9" name="内容占位符 4"/>
          <p:cNvSpPr txBox="1"/>
          <p:nvPr/>
        </p:nvSpPr>
        <p:spPr>
          <a:xfrm>
            <a:off x="311728" y="1082928"/>
            <a:ext cx="85344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269875" marR="0" lvl="0" indent="-2698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800" b="0" i="0" u="none" strike="noStrike" kern="1200" cap="none" spc="0" normalizeH="0" baseline="0" noProof="0" dirty="0">
                <a:ln>
                  <a:noFill/>
                </a:ln>
                <a:solidFill>
                  <a:srgbClr val="FF0000"/>
                </a:solidFill>
                <a:effectLst/>
                <a:uLnTx/>
                <a:uFillTx/>
                <a:latin typeface="Times New Roman" panose="02020503050405090304" pitchFamily="18" charset="0"/>
                <a:ea typeface="黑体" panose="02010600040101010101" pitchFamily="49" charset="-122"/>
                <a:cs typeface="Times New Roman" panose="02020503050405090304" pitchFamily="18" charset="0"/>
              </a:rPr>
              <a:t>完全信息博弈与不完全信息博弈</a:t>
            </a:r>
            <a:endParaRPr kumimoji="0" lang="en-US" altLang="zh-CN" sz="2800" b="0" i="0" u="none" strike="noStrike" kern="1200" cap="none" spc="0" normalizeH="0" baseline="0" noProof="0" dirty="0">
              <a:ln>
                <a:noFill/>
              </a:ln>
              <a:solidFill>
                <a:srgbClr val="FF0000"/>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630238" marR="0" lvl="1" indent="-360363"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800" b="0" i="0" u="none" strike="noStrike" kern="1200" cap="none" spc="0" normalizeH="0" baseline="0" noProof="0" dirty="0">
                <a:ln>
                  <a:noFill/>
                </a:ln>
                <a:solidFill>
                  <a:srgbClr val="4F81BD"/>
                </a:solidFill>
                <a:effectLst/>
                <a:uLnTx/>
                <a:uFillTx/>
                <a:latin typeface="Times New Roman" panose="02020503050405090304" pitchFamily="18" charset="0"/>
                <a:ea typeface="黑体" panose="02010600040101010101" pitchFamily="49" charset="-122"/>
                <a:cs typeface="Times New Roman" panose="02020503050405090304" pitchFamily="18" charset="0"/>
              </a:rPr>
              <a:t>完全信息博弈</a:t>
            </a:r>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：所有参与者均了解其他参与者的策略集、收益等信息</a:t>
            </a:r>
            <a:endParaRPr kumimoji="0" lang="en-US" altLang="zh-CN"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630238" marR="0" lvl="1" indent="-360363"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800" b="0" i="0" u="none" strike="noStrike" kern="1200" cap="none" spc="0" normalizeH="0" baseline="0" noProof="0" dirty="0">
                <a:ln>
                  <a:noFill/>
                </a:ln>
                <a:solidFill>
                  <a:srgbClr val="4F81BD"/>
                </a:solidFill>
                <a:effectLst/>
                <a:uLnTx/>
                <a:uFillTx/>
                <a:latin typeface="Times New Roman" panose="02020503050405090304" pitchFamily="18" charset="0"/>
                <a:ea typeface="黑体" panose="02010600040101010101" pitchFamily="49" charset="-122"/>
                <a:cs typeface="Times New Roman" panose="02020503050405090304" pitchFamily="18" charset="0"/>
              </a:rPr>
              <a:t>不完全信息</a:t>
            </a:r>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博弈：并非所有参与者均掌握了所有信息</a:t>
            </a:r>
            <a:endParaRPr kumimoji="0" lang="en-US" altLang="zh-CN" sz="2800" b="1" i="0" u="none" strike="noStrike" kern="1200" cap="none" spc="0" normalizeH="0" baseline="0" noProof="0" dirty="0">
              <a:ln>
                <a:noFill/>
              </a:ln>
              <a:solidFill>
                <a:srgbClr val="C00000"/>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269875" marR="0" lvl="0" indent="-2698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800" i="0" u="none" strike="noStrike" kern="1200" cap="none" spc="0" normalizeH="0" baseline="0" noProof="0" dirty="0">
                <a:ln>
                  <a:noFill/>
                </a:ln>
                <a:solidFill>
                  <a:srgbClr val="C00000"/>
                </a:solidFill>
                <a:effectLst/>
                <a:uLnTx/>
                <a:uFillTx/>
                <a:latin typeface="Times New Roman" panose="02020503050405090304" pitchFamily="18" charset="0"/>
                <a:ea typeface="黑体" panose="02010600040101010101" pitchFamily="49" charset="-122"/>
                <a:cs typeface="Times New Roman" panose="02020503050405090304" pitchFamily="18" charset="0"/>
              </a:rPr>
              <a:t>囚徒困境是一种非合作、不完全信息的静态博弈。</a:t>
            </a:r>
            <a:endParaRPr kumimoji="0" lang="en-US" altLang="zh-CN" sz="2800" i="0" u="none" strike="noStrike" kern="1200" cap="none" spc="0" normalizeH="0" baseline="0" noProof="0" dirty="0">
              <a:ln>
                <a:noFill/>
              </a:ln>
              <a:solidFill>
                <a:srgbClr val="C00000"/>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p:txBody>
      </p:sp>
      <p:sp>
        <p:nvSpPr>
          <p:cNvPr id="10" name="标题 1">
            <a:extLst>
              <a:ext uri="{FF2B5EF4-FFF2-40B4-BE49-F238E27FC236}">
                <a16:creationId xmlns:a16="http://schemas.microsoft.com/office/drawing/2014/main" id="{E86B0213-E9BD-61F9-FFDC-EAFEC2AE1D40}"/>
              </a:ext>
            </a:extLst>
          </p:cNvPr>
          <p:cNvSpPr>
            <a:spLocks noGrp="1"/>
          </p:cNvSpPr>
          <p:nvPr>
            <p:ph type="title"/>
          </p:nvPr>
        </p:nvSpPr>
        <p:spPr>
          <a:xfrm>
            <a:off x="0" y="4763"/>
            <a:ext cx="9144000" cy="817562"/>
          </a:xfrm>
        </p:spPr>
        <p:txBody>
          <a:bodyPr>
            <a:normAutofit/>
          </a:body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博弈论的相关概念：博弈分类</a:t>
            </a:r>
            <a:endPar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endParaRPr>
          </a:p>
        </p:txBody>
      </p:sp>
    </p:spTree>
    <p:extLst>
      <p:ext uri="{BB962C8B-B14F-4D97-AF65-F5344CB8AC3E}">
        <p14:creationId xmlns:p14="http://schemas.microsoft.com/office/powerpoint/2010/main" val="348896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p:nvPr/>
        </p:nvSpPr>
        <p:spPr>
          <a:xfrm>
            <a:off x="4689264" y="1160608"/>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90204" pitchFamily="34" charset="0"/>
              <a:buChar char="•"/>
              <a:tabLst/>
              <a:defRPr/>
            </a:pPr>
            <a:endParaRPr kumimoji="0" lang="en-US" altLang="zh-CN" sz="1600" b="0" i="0" u="none" strike="noStrike" kern="1200" cap="none" spc="0" normalizeH="0" baseline="0" noProof="0" dirty="0">
              <a:ln>
                <a:noFill/>
              </a:ln>
              <a:solidFill>
                <a:prstClr val="black"/>
              </a:solidFill>
              <a:effectLst/>
              <a:uLnTx/>
              <a:uFillTx/>
              <a:latin typeface="Times New Roman"/>
              <a:ea typeface="黑体"/>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90204" pitchFamily="34" charset="0"/>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a:ea typeface="黑体"/>
              <a:cs typeface="+mn-cs"/>
            </a:endParaRPr>
          </a:p>
        </p:txBody>
      </p:sp>
      <p:sp>
        <p:nvSpPr>
          <p:cNvPr id="9" name="内容占位符 4"/>
          <p:cNvSpPr txBox="1"/>
          <p:nvPr/>
        </p:nvSpPr>
        <p:spPr>
          <a:xfrm>
            <a:off x="281614" y="1040088"/>
            <a:ext cx="5412604"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269875" marR="0" lvl="0" indent="-2698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博弈的稳定局势即为</a:t>
            </a:r>
            <a:r>
              <a:rPr kumimoji="0" lang="zh-CN" altLang="en-US" sz="2600" b="0" i="0" u="none" strike="noStrike" kern="1200" cap="none" spc="0" normalizeH="0" baseline="0" noProof="0" dirty="0">
                <a:ln>
                  <a:noFill/>
                </a:ln>
                <a:solidFill>
                  <a:srgbClr val="0070C0"/>
                </a:solidFill>
                <a:effectLst/>
                <a:uLnTx/>
                <a:uFillTx/>
                <a:latin typeface="Times New Roman" panose="02020503050405090304" pitchFamily="18" charset="0"/>
                <a:ea typeface="黑体" panose="02010600040101010101" pitchFamily="49" charset="-122"/>
                <a:cs typeface="Times New Roman" panose="02020503050405090304" pitchFamily="18" charset="0"/>
              </a:rPr>
              <a:t>纳什均衡</a:t>
            </a:r>
            <a:r>
              <a:rPr kumimoji="0" lang="zh-CN" altLang="en-US"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：参与者所作出的这样一种策略组合，在该策略组合上，任何参与者单独改变策略都不会得到好处。</a:t>
            </a:r>
            <a:endParaRPr kumimoji="0" lang="en-US" altLang="zh-CN"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269875" marR="0" lvl="0" indent="-2698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en-US" altLang="zh-CN" sz="2600" b="0" i="0" u="none" strike="noStrike" kern="1200" cap="none" spc="0" normalizeH="0" baseline="0" noProof="0" dirty="0">
                <a:ln>
                  <a:noFill/>
                </a:ln>
                <a:solidFill>
                  <a:srgbClr val="0070C0"/>
                </a:solidFill>
                <a:effectLst/>
                <a:uLnTx/>
                <a:uFillTx/>
                <a:latin typeface="Times New Roman" panose="02020503050405090304" pitchFamily="18" charset="0"/>
                <a:ea typeface="黑体" panose="02010600040101010101" pitchFamily="49" charset="-122"/>
                <a:cs typeface="Times New Roman" panose="02020503050405090304" pitchFamily="18" charset="0"/>
              </a:rPr>
              <a:t>Nash</a:t>
            </a:r>
            <a:r>
              <a:rPr kumimoji="0" lang="zh-CN" altLang="en-US" sz="2600" b="0" i="0" u="none" strike="noStrike" kern="1200" cap="none" spc="0" normalizeH="0" baseline="0" noProof="0" dirty="0">
                <a:ln>
                  <a:noFill/>
                </a:ln>
                <a:solidFill>
                  <a:srgbClr val="0070C0"/>
                </a:solidFill>
                <a:effectLst/>
                <a:uLnTx/>
                <a:uFillTx/>
                <a:latin typeface="Times New Roman" panose="02020503050405090304" pitchFamily="18" charset="0"/>
                <a:ea typeface="黑体" panose="02010600040101010101" pitchFamily="49" charset="-122"/>
                <a:cs typeface="Times New Roman" panose="02020503050405090304" pitchFamily="18" charset="0"/>
              </a:rPr>
              <a:t>定理</a:t>
            </a:r>
            <a:r>
              <a:rPr kumimoji="0" lang="zh-CN" altLang="en-US"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：若参与者有限，每位参与者的策略集有限，收益函数为实值函数，则博弈必</a:t>
            </a:r>
            <a:r>
              <a:rPr kumimoji="0" lang="zh-CN" altLang="en-US" sz="2600" b="0" i="0" u="none" strike="noStrike" kern="1200" cap="none" spc="0" normalizeH="0" baseline="0" noProof="0" dirty="0">
                <a:ln>
                  <a:noFill/>
                </a:ln>
                <a:solidFill>
                  <a:srgbClr val="0070C0"/>
                </a:solidFill>
                <a:effectLst/>
                <a:uLnTx/>
                <a:uFillTx/>
                <a:latin typeface="Times New Roman" panose="02020503050405090304" pitchFamily="18" charset="0"/>
                <a:ea typeface="黑体" panose="02010600040101010101" pitchFamily="49" charset="-122"/>
                <a:cs typeface="Times New Roman" panose="02020503050405090304" pitchFamily="18" charset="0"/>
              </a:rPr>
              <a:t>存在</a:t>
            </a:r>
            <a:r>
              <a:rPr kumimoji="0" lang="zh-CN" altLang="en-US"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混合策略意义下的纳什均衡。</a:t>
            </a:r>
            <a:endParaRPr kumimoji="0" lang="en-US" altLang="zh-CN"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269875" marR="0" lvl="0" indent="-26987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囚徒困境中两人同时认罪就是这一问题的纳什均衡。</a:t>
            </a:r>
            <a:endParaRPr kumimoji="0" lang="en-US" altLang="zh-CN"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p:txBody>
      </p:sp>
      <p:pic>
        <p:nvPicPr>
          <p:cNvPr id="3" name="图片 2"/>
          <p:cNvPicPr>
            <a:picLocks noChangeAspect="1"/>
          </p:cNvPicPr>
          <p:nvPr/>
        </p:nvPicPr>
        <p:blipFill rotWithShape="1">
          <a:blip r:embed="rId3"/>
          <a:srcRect t="450"/>
          <a:stretch>
            <a:fillRect/>
          </a:stretch>
        </p:blipFill>
        <p:spPr>
          <a:xfrm>
            <a:off x="6045030" y="2397601"/>
            <a:ext cx="2530434" cy="2961837"/>
          </a:xfrm>
          <a:prstGeom prst="rect">
            <a:avLst/>
          </a:prstGeom>
        </p:spPr>
      </p:pic>
      <p:sp>
        <p:nvSpPr>
          <p:cNvPr id="4" name="文本框 3"/>
          <p:cNvSpPr txBox="1"/>
          <p:nvPr/>
        </p:nvSpPr>
        <p:spPr>
          <a:xfrm>
            <a:off x="5933247" y="5606383"/>
            <a:ext cx="334610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黑体"/>
                <a:cs typeface="Times New Roman" panose="02020503050405090304" pitchFamily="18" charset="0"/>
              </a:rPr>
              <a:t>Nash, J, Non-Cooperative Games. </a:t>
            </a:r>
            <a:r>
              <a:rPr kumimoji="0" lang="en-US" altLang="zh-CN" sz="1400" b="0" i="1" u="none" strike="noStrike" kern="1200" cap="none" spc="0" normalizeH="0" baseline="0" noProof="0" dirty="0">
                <a:ln>
                  <a:noFill/>
                </a:ln>
                <a:solidFill>
                  <a:prstClr val="black"/>
                </a:solidFill>
                <a:effectLst/>
                <a:uLnTx/>
                <a:uFillTx/>
                <a:latin typeface="Times New Roman" panose="02020503050405090304" pitchFamily="18" charset="0"/>
                <a:ea typeface="黑体"/>
                <a:cs typeface="Times New Roman" panose="02020503050405090304" pitchFamily="18" charset="0"/>
              </a:rPr>
              <a:t>The Annals of Mathematics</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黑体"/>
                <a:cs typeface="Times New Roman" panose="02020503050405090304" pitchFamily="18" charset="0"/>
              </a:rPr>
              <a:t>. 54, 2 (1951), 286. </a:t>
            </a:r>
            <a:endPar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黑体"/>
              <a:cs typeface="Times New Roman" panose="02020503050405090304" pitchFamily="18" charset="0"/>
            </a:endParaRPr>
          </a:p>
        </p:txBody>
      </p:sp>
      <p:sp>
        <p:nvSpPr>
          <p:cNvPr id="11" name="圆角矩形 10"/>
          <p:cNvSpPr/>
          <p:nvPr/>
        </p:nvSpPr>
        <p:spPr bwMode="auto">
          <a:xfrm>
            <a:off x="6204856" y="1314926"/>
            <a:ext cx="2287979" cy="874092"/>
          </a:xfrm>
          <a:prstGeom prst="roundRect">
            <a:avLst/>
          </a:prstGeom>
          <a:solidFill>
            <a:srgbClr val="FFC000"/>
          </a:solidFill>
          <a:ln>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style>
          <a:lnRef idx="1">
            <a:schemeClr val="accent2"/>
          </a:lnRef>
          <a:fillRef idx="2">
            <a:schemeClr val="accent2"/>
          </a:fillRef>
          <a:effectRef idx="1">
            <a:schemeClr val="accent2"/>
          </a:effectRef>
          <a:fontRef idx="minor">
            <a:schemeClr val="dk1"/>
          </a:fontRef>
        </p:style>
        <p:txBody>
          <a:bodyPr wrap="none" tIns="0" bIns="0"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zh-CN" altLang="en-US" sz="24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Times New Roman"/>
                <a:ea typeface="黑体" panose="02010600040101010101" pitchFamily="49" charset="-122"/>
                <a:cs typeface="Times New Roman" panose="02020503050405090304" pitchFamily="18" charset="0"/>
              </a:rPr>
              <a:t>纳什均衡的本质</a:t>
            </a:r>
            <a:endParaRPr kumimoji="0" lang="en-US" altLang="zh-CN" sz="24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Times New Roman"/>
              <a:ea typeface="黑体" panose="02010600040101010101" pitchFamily="49" charset="-122"/>
              <a:cs typeface="Times New Roman" panose="02020503050405090304" pitchFamily="18" charset="0"/>
            </a:endParaRPr>
          </a:p>
          <a:p>
            <a:pPr marL="0" marR="0" lvl="0" indent="0" algn="ct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zh-CN" altLang="en-US" sz="24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Times New Roman"/>
                <a:ea typeface="黑体" panose="02010600040101010101" pitchFamily="49" charset="-122"/>
                <a:cs typeface="Times New Roman" panose="02020503050405090304" pitchFamily="18" charset="0"/>
              </a:rPr>
              <a:t>不后悔</a:t>
            </a:r>
            <a:endParaRPr kumimoji="0" lang="en-US" altLang="zh-CN" sz="24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Times New Roman"/>
              <a:ea typeface="黑体" panose="02010600040101010101" pitchFamily="49" charset="-122"/>
              <a:cs typeface="Times New Roman" panose="02020503050405090304" pitchFamily="18" charset="0"/>
            </a:endParaRPr>
          </a:p>
        </p:txBody>
      </p:sp>
      <p:sp>
        <p:nvSpPr>
          <p:cNvPr id="12" name="标题 1">
            <a:extLst>
              <a:ext uri="{FF2B5EF4-FFF2-40B4-BE49-F238E27FC236}">
                <a16:creationId xmlns:a16="http://schemas.microsoft.com/office/drawing/2014/main" id="{175BBF27-A17A-4AF5-DE5B-CEB4829524FA}"/>
              </a:ext>
            </a:extLst>
          </p:cNvPr>
          <p:cNvSpPr>
            <a:spLocks noGrp="1"/>
          </p:cNvSpPr>
          <p:nvPr>
            <p:ph type="title"/>
          </p:nvPr>
        </p:nvSpPr>
        <p:spPr>
          <a:xfrm>
            <a:off x="0" y="4763"/>
            <a:ext cx="9144000" cy="817562"/>
          </a:xfrm>
        </p:spPr>
        <p:txBody>
          <a:bodyPr>
            <a:normAutofit/>
          </a:body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博弈论的相关概念：纳什均衡</a:t>
            </a:r>
            <a:endPar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par>
                          <p:cTn id="23" fill="hold">
                            <p:stCondLst>
                              <p:cond delay="500"/>
                            </p:stCondLst>
                            <p:childTnLst>
                              <p:par>
                                <p:cTn id="24" presetID="42" presetClass="entr" presetSubtype="0" fill="hold" nodeType="afterEffect">
                                  <p:stCondLst>
                                    <p:cond delay="50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000"/>
                                        <p:tgtEl>
                                          <p:spTgt spid="3"/>
                                        </p:tgtEl>
                                      </p:cBhvr>
                                    </p:animEffect>
                                    <p:anim calcmode="lin" valueType="num">
                                      <p:cBhvr>
                                        <p:cTn id="27" dur="1000" fill="hold"/>
                                        <p:tgtEl>
                                          <p:spTgt spid="3"/>
                                        </p:tgtEl>
                                        <p:attrNameLst>
                                          <p:attrName>ppt_x</p:attrName>
                                        </p:attrNameLst>
                                      </p:cBhvr>
                                      <p:tavLst>
                                        <p:tav tm="0">
                                          <p:val>
                                            <p:strVal val="#ppt_x"/>
                                          </p:val>
                                        </p:tav>
                                        <p:tav tm="100000">
                                          <p:val>
                                            <p:strVal val="#ppt_x"/>
                                          </p:val>
                                        </p:tav>
                                      </p:tavLst>
                                    </p:anim>
                                    <p:anim calcmode="lin" valueType="num">
                                      <p:cBhvr>
                                        <p:cTn id="28" dur="1000" fill="hold"/>
                                        <p:tgtEl>
                                          <p:spTgt spid="3"/>
                                        </p:tgtEl>
                                        <p:attrNameLst>
                                          <p:attrName>ppt_y</p:attrName>
                                        </p:attrNameLst>
                                      </p:cBhvr>
                                      <p:tavLst>
                                        <p:tav tm="0">
                                          <p:val>
                                            <p:strVal val="#ppt_y+.1"/>
                                          </p:val>
                                        </p:tav>
                                        <p:tav tm="100000">
                                          <p:val>
                                            <p:strVal val="#ppt_y"/>
                                          </p:val>
                                        </p:tav>
                                      </p:tavLst>
                                    </p:anim>
                                  </p:childTnLst>
                                </p:cTn>
                              </p:par>
                            </p:childTnLst>
                          </p:cTn>
                        </p:par>
                        <p:par>
                          <p:cTn id="29" fill="hold">
                            <p:stCondLst>
                              <p:cond delay="2000"/>
                            </p:stCondLst>
                            <p:childTnLst>
                              <p:par>
                                <p:cTn id="30" presetID="42" presetClass="entr" presetSubtype="0" fill="hold" grpId="0" nodeType="afterEffect">
                                  <p:stCondLst>
                                    <p:cond delay="50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1000"/>
                                        <p:tgtEl>
                                          <p:spTgt spid="4"/>
                                        </p:tgtEl>
                                      </p:cBhvr>
                                    </p:animEffect>
                                    <p:anim calcmode="lin" valueType="num">
                                      <p:cBhvr>
                                        <p:cTn id="33" dur="1000" fill="hold"/>
                                        <p:tgtEl>
                                          <p:spTgt spid="4"/>
                                        </p:tgtEl>
                                        <p:attrNameLst>
                                          <p:attrName>ppt_x</p:attrName>
                                        </p:attrNameLst>
                                      </p:cBhvr>
                                      <p:tavLst>
                                        <p:tav tm="0">
                                          <p:val>
                                            <p:strVal val="#ppt_x"/>
                                          </p:val>
                                        </p:tav>
                                        <p:tav tm="100000">
                                          <p:val>
                                            <p:strVal val="#ppt_x"/>
                                          </p:val>
                                        </p:tav>
                                      </p:tavLst>
                                    </p:anim>
                                    <p:anim calcmode="lin" valueType="num">
                                      <p:cBhvr>
                                        <p:cTn id="3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内容占位符 4"/>
              <p:cNvSpPr txBox="1"/>
              <p:nvPr/>
            </p:nvSpPr>
            <p:spPr>
              <a:xfrm>
                <a:off x="256308" y="1047642"/>
                <a:ext cx="8333509" cy="5532677"/>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360363" marR="0" lvl="0" indent="-360363" algn="just" defTabSz="685800" rtl="0" eaLnBrk="1" fontAlgn="auto" latinLnBrk="0" hangingPunct="1">
                  <a:lnSpc>
                    <a:spcPct val="150000"/>
                  </a:lnSpc>
                  <a:spcBef>
                    <a:spcPts val="750"/>
                  </a:spcBef>
                  <a:spcAft>
                    <a:spcPts val="0"/>
                  </a:spcAft>
                  <a:buClrTx/>
                  <a:buSzTx/>
                  <a:buFont typeface="Arial" panose="020B0604020202090204" pitchFamily="34" charset="0"/>
                  <a:buChar char="•"/>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例子：公司的雇主是否检查工作与雇员是否偷懒</a:t>
                </a:r>
                <a:endParaRPr kumimoji="0" lang="en-US" altLang="zh-CN"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360363" marR="0" lvl="0" indent="-360363" algn="just" defTabSz="685800" rtl="0" eaLnBrk="1" fontAlgn="auto" latinLnBrk="0" hangingPunct="1">
                  <a:lnSpc>
                    <a:spcPct val="150000"/>
                  </a:lnSpc>
                  <a:spcBef>
                    <a:spcPts val="750"/>
                  </a:spcBef>
                  <a:spcAft>
                    <a:spcPts val="0"/>
                  </a:spcAft>
                  <a:buClrTx/>
                  <a:buSzTx/>
                  <a:buFont typeface="Arial" panose="020B0604020202090204" pitchFamily="34" charset="0"/>
                  <a:buChar char="•"/>
                  <a:tabLst/>
                  <a:defRPr/>
                </a:pPr>
                <a14:m>
                  <m:oMath xmlns:m="http://schemas.openxmlformats.org/officeDocument/2006/math">
                    <m:r>
                      <a:rPr kumimoji="0" lang="en-US" altLang="zh-CN" sz="2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𝑉</m:t>
                    </m:r>
                  </m:oMath>
                </a14:m>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是雇员的贡献，</a:t>
                </a:r>
                <a14:m>
                  <m:oMath xmlns:m="http://schemas.openxmlformats.org/officeDocument/2006/math">
                    <m:r>
                      <a:rPr kumimoji="0" lang="en-US" altLang="zh-CN" sz="2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𝑊</m:t>
                    </m:r>
                  </m:oMath>
                </a14:m>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是雇员的工资，</a:t>
                </a:r>
                <a14:m>
                  <m:oMath xmlns:m="http://schemas.openxmlformats.org/officeDocument/2006/math">
                    <m:r>
                      <a:rPr kumimoji="0" lang="en-US" altLang="zh-CN" sz="2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𝐻</m:t>
                    </m:r>
                  </m:oMath>
                </a14:m>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是雇员的付出，</a:t>
                </a:r>
                <a14:m>
                  <m:oMath xmlns:m="http://schemas.openxmlformats.org/officeDocument/2006/math">
                    <m:r>
                      <a:rPr kumimoji="0" lang="en-US" altLang="zh-CN" sz="2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𝐶</m:t>
                    </m:r>
                  </m:oMath>
                </a14:m>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是检查的成本，</a:t>
                </a:r>
                <a14:m>
                  <m:oMath xmlns:m="http://schemas.openxmlformats.org/officeDocument/2006/math">
                    <m:r>
                      <a:rPr kumimoji="0" lang="en-US" altLang="zh-CN" sz="2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𝐹</m:t>
                    </m:r>
                  </m:oMath>
                </a14:m>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是雇主发现雇员偷懒对雇员的惩罚（没收抵押金）。</a:t>
                </a:r>
                <a:endParaRPr kumimoji="0" lang="en-US" altLang="zh-CN"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360363" marR="0" lvl="0" indent="-360363" algn="just" defTabSz="685800" rtl="0" eaLnBrk="1" fontAlgn="auto" latinLnBrk="0" hangingPunct="1">
                  <a:lnSpc>
                    <a:spcPct val="150000"/>
                  </a:lnSpc>
                  <a:spcBef>
                    <a:spcPts val="750"/>
                  </a:spcBef>
                  <a:spcAft>
                    <a:spcPts val="0"/>
                  </a:spcAft>
                  <a:buClrTx/>
                  <a:buSzTx/>
                  <a:buFont typeface="Arial" panose="020B0604020202090204" pitchFamily="34" charset="0"/>
                  <a:buChar char="•"/>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假定</a:t>
                </a:r>
                <a14:m>
                  <m:oMath xmlns:m="http://schemas.openxmlformats.org/officeDocument/2006/math">
                    <m:r>
                      <a:rPr kumimoji="0" lang="en-US" altLang="zh-CN" sz="2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𝐻</m:t>
                    </m:r>
                    <m:r>
                      <a:rPr kumimoji="0" lang="en-US" altLang="zh-CN" sz="2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&lt;</m:t>
                    </m:r>
                    <m:r>
                      <a:rPr kumimoji="0" lang="en-US" altLang="zh-CN" sz="2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𝑊</m:t>
                    </m:r>
                    <m:r>
                      <a:rPr kumimoji="0" lang="en-US" altLang="zh-CN" sz="2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&lt;</m:t>
                    </m:r>
                    <m:r>
                      <a:rPr kumimoji="0" lang="en-US" altLang="zh-CN" sz="2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𝑉</m:t>
                    </m:r>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𝑊</m:t>
                    </m:r>
                    <m: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&gt;</m:t>
                    </m:r>
                    <m: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𝐶</m:t>
                    </m:r>
                  </m:oMath>
                </a14:m>
                <a:endParaRPr kumimoji="0" lang="en-US" altLang="zh-CN"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171450" marR="0" lvl="0" indent="-171450" algn="just" defTabSz="685800" rtl="0" eaLnBrk="1" fontAlgn="auto" latinLnBrk="0" hangingPunct="1">
                  <a:lnSpc>
                    <a:spcPct val="100000"/>
                  </a:lnSpc>
                  <a:spcBef>
                    <a:spcPts val="750"/>
                  </a:spcBef>
                  <a:spcAft>
                    <a:spcPts val="0"/>
                  </a:spcAft>
                  <a:buClrTx/>
                  <a:buSzTx/>
                  <a:buFont typeface="Arial" panose="020B0604020202090204" pitchFamily="34" charset="0"/>
                  <a:buChar char="•"/>
                  <a:tabLst/>
                  <a:defRPr/>
                </a:pPr>
                <a:endParaRPr kumimoji="0" lang="en-US" altLang="zh-CN" sz="2800" b="0" i="0" u="none" strike="noStrike" kern="1200" cap="none" spc="0" normalizeH="0" baseline="0" noProof="0" dirty="0">
                  <a:ln>
                    <a:noFill/>
                  </a:ln>
                  <a:solidFill>
                    <a:prstClr val="black"/>
                  </a:solidFill>
                  <a:effectLst/>
                  <a:uLnTx/>
                  <a:uFillTx/>
                  <a:latin typeface="Times New Roman"/>
                  <a:ea typeface="黑体"/>
                  <a:cs typeface="+mn-cs"/>
                </a:endParaRPr>
              </a:p>
              <a:p>
                <a:pPr marL="514350" marR="0" lvl="1" indent="-171450" algn="just" defTabSz="685800" rtl="0" eaLnBrk="1" fontAlgn="auto" latinLnBrk="0" hangingPunct="1">
                  <a:lnSpc>
                    <a:spcPct val="100000"/>
                  </a:lnSpc>
                  <a:spcBef>
                    <a:spcPts val="375"/>
                  </a:spcBef>
                  <a:spcAft>
                    <a:spcPts val="0"/>
                  </a:spcAft>
                  <a:buClrTx/>
                  <a:buSzTx/>
                  <a:buFont typeface="Arial" panose="020B0604020202090204"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8" name="内容占位符 4"/>
              <p:cNvSpPr txBox="1">
                <a:spLocks noRot="1" noChangeAspect="1" noMove="1" noResize="1" noEditPoints="1" noAdjustHandles="1" noChangeArrowheads="1" noChangeShapeType="1" noTextEdit="1"/>
              </p:cNvSpPr>
              <p:nvPr/>
            </p:nvSpPr>
            <p:spPr>
              <a:xfrm>
                <a:off x="256308" y="1047642"/>
                <a:ext cx="8333509" cy="5532677"/>
              </a:xfrm>
              <a:prstGeom prst="rect">
                <a:avLst/>
              </a:prstGeom>
              <a:blipFill>
                <a:blip r:embed="rId3"/>
                <a:stretch>
                  <a:fillRect l="-1317" r="-1536"/>
                </a:stretch>
              </a:blipFill>
            </p:spPr>
            <p:txBody>
              <a:bodyPr/>
              <a:lstStyle/>
              <a:p>
                <a:r>
                  <a:rPr lang="zh-CN" altLang="en-US">
                    <a:noFill/>
                  </a:rPr>
                  <a:t> </a:t>
                </a:r>
              </a:p>
            </p:txBody>
          </p:sp>
        </mc:Fallback>
      </mc:AlternateContent>
      <p:sp>
        <p:nvSpPr>
          <p:cNvPr id="11" name="椭圆 10"/>
          <p:cNvSpPr/>
          <p:nvPr/>
        </p:nvSpPr>
        <p:spPr>
          <a:xfrm>
            <a:off x="1085515" y="4839428"/>
            <a:ext cx="133685" cy="315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9" name="标题 1">
            <a:extLst>
              <a:ext uri="{FF2B5EF4-FFF2-40B4-BE49-F238E27FC236}">
                <a16:creationId xmlns:a16="http://schemas.microsoft.com/office/drawing/2014/main" id="{5AFC15D6-B427-8474-3465-438923B2ECF7}"/>
              </a:ext>
            </a:extLst>
          </p:cNvPr>
          <p:cNvSpPr txBox="1">
            <a:spLocks/>
          </p:cNvSpPr>
          <p:nvPr/>
        </p:nvSpPr>
        <p:spPr>
          <a:xfrm>
            <a:off x="0" y="4763"/>
            <a:ext cx="9144000" cy="817562"/>
          </a:xfrm>
          <a:prstGeom prst="rect">
            <a:avLst/>
          </a:prstGeom>
        </p:spPr>
        <p:txBody>
          <a:bodyPr vert="horz" lIns="91440" tIns="144000" rIns="91440" bIns="45720" rtlCol="0" anchor="ctr">
            <a:norm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混合策略下纳什均衡的例子</a:t>
            </a:r>
            <a:endPar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endParaRPr>
          </a:p>
        </p:txBody>
      </p:sp>
      <mc:AlternateContent xmlns:mc="http://schemas.openxmlformats.org/markup-compatibility/2006" xmlns:a14="http://schemas.microsoft.com/office/drawing/2010/main">
        <mc:Choice Requires="a14">
          <p:graphicFrame>
            <p:nvGraphicFramePr>
              <p:cNvPr id="12" name="表格 11">
                <a:extLst>
                  <a:ext uri="{FF2B5EF4-FFF2-40B4-BE49-F238E27FC236}">
                    <a16:creationId xmlns:a16="http://schemas.microsoft.com/office/drawing/2014/main" id="{167BEC22-CA9F-8F67-D353-E93B5116C3EE}"/>
                  </a:ext>
                </a:extLst>
              </p:cNvPr>
              <p:cNvGraphicFramePr>
                <a:graphicFrameLocks noGrp="1"/>
              </p:cNvGraphicFramePr>
              <p:nvPr>
                <p:extLst>
                  <p:ext uri="{D42A27DB-BD31-4B8C-83A1-F6EECF244321}">
                    <p14:modId xmlns:p14="http://schemas.microsoft.com/office/powerpoint/2010/main" val="160181740"/>
                  </p:ext>
                </p:extLst>
              </p:nvPr>
            </p:nvGraphicFramePr>
            <p:xfrm>
              <a:off x="3737262" y="4711331"/>
              <a:ext cx="4949539" cy="1354668"/>
            </p:xfrm>
            <a:graphic>
              <a:graphicData uri="http://schemas.openxmlformats.org/drawingml/2006/table">
                <a:tbl>
                  <a:tblPr>
                    <a:tableStyleId>{2D5ABB26-0587-4C30-8999-92F81FD0307C}</a:tableStyleId>
                  </a:tblPr>
                  <a:tblGrid>
                    <a:gridCol w="848592">
                      <a:extLst>
                        <a:ext uri="{9D8B030D-6E8A-4147-A177-3AD203B41FA5}">
                          <a16:colId xmlns:a16="http://schemas.microsoft.com/office/drawing/2014/main" val="20000"/>
                        </a:ext>
                      </a:extLst>
                    </a:gridCol>
                    <a:gridCol w="755073">
                      <a:extLst>
                        <a:ext uri="{9D8B030D-6E8A-4147-A177-3AD203B41FA5}">
                          <a16:colId xmlns:a16="http://schemas.microsoft.com/office/drawing/2014/main" val="20001"/>
                        </a:ext>
                      </a:extLst>
                    </a:gridCol>
                    <a:gridCol w="1406236">
                      <a:extLst>
                        <a:ext uri="{9D8B030D-6E8A-4147-A177-3AD203B41FA5}">
                          <a16:colId xmlns:a16="http://schemas.microsoft.com/office/drawing/2014/main" val="20002"/>
                        </a:ext>
                      </a:extLst>
                    </a:gridCol>
                    <a:gridCol w="1939638">
                      <a:extLst>
                        <a:ext uri="{9D8B030D-6E8A-4147-A177-3AD203B41FA5}">
                          <a16:colId xmlns:a16="http://schemas.microsoft.com/office/drawing/2014/main" val="20003"/>
                        </a:ext>
                      </a:extLst>
                    </a:gridCol>
                  </a:tblGrid>
                  <a:tr h="338667">
                    <a:tc>
                      <a:txBody>
                        <a:bodyPr/>
                        <a:lstStyle/>
                        <a:p>
                          <a:pPr algn="just">
                            <a:lnSpc>
                              <a:spcPts val="2000"/>
                            </a:lnSpc>
                            <a:spcAft>
                              <a:spcPts val="0"/>
                            </a:spcAft>
                          </a:pPr>
                          <a:r>
                            <a:rPr lang="en-US" sz="1600" kern="100" dirty="0">
                              <a:effectLst/>
                            </a:rPr>
                            <a:t> </a:t>
                          </a:r>
                          <a:endParaRPr lang="zh-CN" sz="1600" kern="100" dirty="0">
                            <a:effectLst/>
                            <a:latin typeface="Times New Roman" panose="02020503050405090304" pitchFamily="18" charset="0"/>
                            <a:ea typeface="宋体" panose="02010600030101010101" pitchFamily="2" charset="-122"/>
                          </a:endParaRPr>
                        </a:p>
                      </a:txBody>
                      <a:tcPr marL="17780" marR="17780" marT="0" marB="0"/>
                    </a:tc>
                    <a:tc>
                      <a:txBody>
                        <a:bodyPr/>
                        <a:lstStyle/>
                        <a:p>
                          <a:pPr algn="just">
                            <a:lnSpc>
                              <a:spcPts val="2000"/>
                            </a:lnSpc>
                            <a:spcAft>
                              <a:spcPts val="0"/>
                            </a:spcAft>
                          </a:pPr>
                          <a:r>
                            <a:rPr lang="en-US" sz="1600" kern="100" dirty="0">
                              <a:effectLst/>
                            </a:rPr>
                            <a:t> </a:t>
                          </a:r>
                          <a:endParaRPr lang="zh-CN" sz="1600" kern="100" dirty="0">
                            <a:effectLst/>
                            <a:latin typeface="Times New Roman" panose="02020503050405090304" pitchFamily="18" charset="0"/>
                            <a:ea typeface="宋体" panose="02010600030101010101" pitchFamily="2" charset="-122"/>
                          </a:endParaRPr>
                        </a:p>
                      </a:txBody>
                      <a:tcPr marL="17780" marR="17780" marT="0" marB="0"/>
                    </a:tc>
                    <a:tc gridSpan="2">
                      <a:txBody>
                        <a:bodyPr/>
                        <a:lstStyle/>
                        <a:p>
                          <a:pPr algn="ctr">
                            <a:lnSpc>
                              <a:spcPts val="2000"/>
                            </a:lnSpc>
                            <a:spcAft>
                              <a:spcPts val="0"/>
                            </a:spcAft>
                          </a:pPr>
                          <a:r>
                            <a:rPr lang="zh-CN" sz="1800" kern="100" dirty="0">
                              <a:effectLst/>
                            </a:rPr>
                            <a:t>雇员</a:t>
                          </a:r>
                          <a:endParaRPr lang="zh-CN" sz="1800" kern="100" dirty="0">
                            <a:effectLst/>
                            <a:latin typeface="Times New Roman" panose="02020503050405090304" pitchFamily="18" charset="0"/>
                            <a:ea typeface="宋体" panose="02010600030101010101" pitchFamily="2" charset="-122"/>
                          </a:endParaRPr>
                        </a:p>
                      </a:txBody>
                      <a:tcPr marL="17780" marR="17780" marT="0" marB="0"/>
                    </a:tc>
                    <a:tc hMerge="1">
                      <a:txBody>
                        <a:bodyPr/>
                        <a:lstStyle/>
                        <a:p>
                          <a:endParaRPr lang="zh-CN"/>
                        </a:p>
                      </a:txBody>
                      <a:tcPr/>
                    </a:tc>
                    <a:extLst>
                      <a:ext uri="{0D108BD9-81ED-4DB2-BD59-A6C34878D82A}">
                        <a16:rowId xmlns:a16="http://schemas.microsoft.com/office/drawing/2014/main" val="10000"/>
                      </a:ext>
                    </a:extLst>
                  </a:tr>
                  <a:tr h="338667">
                    <a:tc>
                      <a:txBody>
                        <a:bodyPr/>
                        <a:lstStyle/>
                        <a:p>
                          <a:pPr algn="just">
                            <a:lnSpc>
                              <a:spcPts val="2000"/>
                            </a:lnSpc>
                            <a:spcAft>
                              <a:spcPts val="0"/>
                            </a:spcAft>
                          </a:pPr>
                          <a:r>
                            <a:rPr lang="en-US" sz="1600" kern="100" dirty="0">
                              <a:effectLst/>
                            </a:rPr>
                            <a:t> </a:t>
                          </a:r>
                          <a:endParaRPr lang="zh-CN" sz="1600" kern="100" dirty="0">
                            <a:effectLst/>
                            <a:latin typeface="Times New Roman" panose="02020503050405090304" pitchFamily="18" charset="0"/>
                            <a:ea typeface="宋体" panose="02010600030101010101" pitchFamily="2" charset="-122"/>
                          </a:endParaRPr>
                        </a:p>
                      </a:txBody>
                      <a:tcPr marL="17780" marR="17780" marT="0" marB="0"/>
                    </a:tc>
                    <a:tc>
                      <a:txBody>
                        <a:bodyPr/>
                        <a:lstStyle/>
                        <a:p>
                          <a:pPr algn="just">
                            <a:lnSpc>
                              <a:spcPts val="2000"/>
                            </a:lnSpc>
                            <a:spcAft>
                              <a:spcPts val="0"/>
                            </a:spcAft>
                          </a:pPr>
                          <a:r>
                            <a:rPr lang="en-US" sz="1600" kern="100" dirty="0">
                              <a:effectLst/>
                            </a:rPr>
                            <a:t> </a:t>
                          </a:r>
                          <a:endParaRPr lang="zh-CN" sz="1600" kern="100" dirty="0">
                            <a:effectLst/>
                            <a:latin typeface="Times New Roman" panose="02020503050405090304" pitchFamily="18" charset="0"/>
                            <a:ea typeface="宋体" panose="02010600030101010101" pitchFamily="2" charset="-122"/>
                          </a:endParaRPr>
                        </a:p>
                      </a:txBody>
                      <a:tcPr marL="17780" marR="17780" marT="0" marB="0"/>
                    </a:tc>
                    <a:tc>
                      <a:txBody>
                        <a:bodyPr/>
                        <a:lstStyle/>
                        <a:p>
                          <a:pPr algn="ctr">
                            <a:lnSpc>
                              <a:spcPts val="2000"/>
                            </a:lnSpc>
                            <a:spcAft>
                              <a:spcPts val="0"/>
                            </a:spcAft>
                          </a:pPr>
                          <a:r>
                            <a:rPr lang="zh-CN" sz="1800" kern="100" dirty="0">
                              <a:effectLst/>
                            </a:rPr>
                            <a:t>偷懒</a:t>
                          </a:r>
                          <a:endParaRPr lang="zh-CN" sz="1800" kern="100" dirty="0">
                            <a:effectLst/>
                            <a:latin typeface="Times New Roman" panose="02020503050405090304" pitchFamily="18" charset="0"/>
                            <a:ea typeface="宋体" panose="02010600030101010101" pitchFamily="2" charset="-122"/>
                          </a:endParaRPr>
                        </a:p>
                      </a:txBody>
                      <a:tcPr marL="17780" marR="17780" marT="0" marB="0">
                        <a:lnB w="12700" cap="flat" cmpd="sng" algn="ctr">
                          <a:solidFill>
                            <a:schemeClr val="tx1"/>
                          </a:solidFill>
                          <a:prstDash val="solid"/>
                          <a:round/>
                          <a:headEnd type="none" w="med" len="med"/>
                          <a:tailEnd type="none" w="med" len="med"/>
                        </a:lnB>
                      </a:tcPr>
                    </a:tc>
                    <a:tc>
                      <a:txBody>
                        <a:bodyPr/>
                        <a:lstStyle/>
                        <a:p>
                          <a:pPr algn="ctr">
                            <a:lnSpc>
                              <a:spcPts val="2000"/>
                            </a:lnSpc>
                            <a:spcAft>
                              <a:spcPts val="0"/>
                            </a:spcAft>
                          </a:pPr>
                          <a:r>
                            <a:rPr lang="zh-CN" sz="1800" kern="100" dirty="0">
                              <a:effectLst/>
                            </a:rPr>
                            <a:t>不偷懒</a:t>
                          </a:r>
                          <a:endParaRPr lang="zh-CN" sz="1800" kern="100" dirty="0">
                            <a:effectLst/>
                            <a:latin typeface="Times New Roman" panose="02020503050405090304" pitchFamily="18" charset="0"/>
                            <a:ea typeface="宋体" panose="02010600030101010101" pitchFamily="2" charset="-122"/>
                          </a:endParaRPr>
                        </a:p>
                      </a:txBody>
                      <a:tcPr marL="17780" marR="17780"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8667">
                    <a:tc>
                      <a:txBody>
                        <a:bodyPr/>
                        <a:lstStyle/>
                        <a:p>
                          <a:pPr algn="l">
                            <a:lnSpc>
                              <a:spcPts val="2000"/>
                            </a:lnSpc>
                            <a:spcAft>
                              <a:spcPts val="0"/>
                            </a:spcAft>
                          </a:pPr>
                          <a:r>
                            <a:rPr lang="en-US" altLang="zh-CN" sz="1800" kern="100" dirty="0">
                              <a:effectLst/>
                            </a:rPr>
                            <a:t>  </a:t>
                          </a:r>
                          <a:r>
                            <a:rPr lang="zh-CN" sz="1800" kern="100" dirty="0">
                              <a:effectLst/>
                            </a:rPr>
                            <a:t>雇主</a:t>
                          </a:r>
                          <a:r>
                            <a:rPr lang="en-US" altLang="zh-CN" sz="1800" kern="100" dirty="0">
                              <a:effectLst/>
                            </a:rPr>
                            <a:t>    .    </a:t>
                          </a:r>
                          <a:endParaRPr lang="zh-CN" sz="1800" kern="100" dirty="0">
                            <a:effectLst/>
                            <a:latin typeface="Times New Roman" panose="02020503050405090304" pitchFamily="18" charset="0"/>
                            <a:ea typeface="宋体" panose="02010600030101010101" pitchFamily="2" charset="-122"/>
                          </a:endParaRPr>
                        </a:p>
                      </a:txBody>
                      <a:tcPr marL="17780" marR="17780" marT="0" marB="0"/>
                    </a:tc>
                    <a:tc>
                      <a:txBody>
                        <a:bodyPr/>
                        <a:lstStyle/>
                        <a:p>
                          <a:pPr algn="l">
                            <a:lnSpc>
                              <a:spcPts val="2000"/>
                            </a:lnSpc>
                            <a:spcAft>
                              <a:spcPts val="0"/>
                            </a:spcAft>
                          </a:pPr>
                          <a:r>
                            <a:rPr lang="zh-CN" sz="1800" kern="100" dirty="0">
                              <a:effectLst/>
                            </a:rPr>
                            <a:t>检查</a:t>
                          </a:r>
                          <a:endParaRPr lang="zh-CN" sz="1800" kern="100" dirty="0">
                            <a:effectLst/>
                            <a:latin typeface="Times New Roman" panose="02020503050405090304" pitchFamily="18" charset="0"/>
                            <a:ea typeface="宋体" panose="02010600030101010101" pitchFamily="2" charset="-122"/>
                          </a:endParaRPr>
                        </a:p>
                      </a:txBody>
                      <a:tcPr marL="17780" marR="17780" marT="0" marB="0">
                        <a:lnR w="12700" cap="flat" cmpd="sng" algn="ctr">
                          <a:solidFill>
                            <a:schemeClr val="tx1"/>
                          </a:solidFill>
                          <a:prstDash val="solid"/>
                          <a:round/>
                          <a:headEnd type="none" w="med" len="med"/>
                          <a:tailEnd type="none" w="med" len="med"/>
                        </a:lnR>
                      </a:tcPr>
                    </a:tc>
                    <a:tc>
                      <a:txBody>
                        <a:bodyPr/>
                        <a:lstStyle/>
                        <a:p>
                          <a:pPr algn="ctr">
                            <a:lnSpc>
                              <a:spcPts val="2000"/>
                            </a:lnSpc>
                            <a:spcAft>
                              <a:spcPts val="0"/>
                            </a:spcAft>
                          </a:pPr>
                          <a14:m>
                            <m:oMathPara xmlns:m="http://schemas.openxmlformats.org/officeDocument/2006/math">
                              <m:oMathParaPr>
                                <m:jc m:val="centerGroup"/>
                              </m:oMathParaPr>
                              <m:oMath xmlns:m="http://schemas.openxmlformats.org/officeDocument/2006/math">
                                <m:r>
                                  <a:rPr lang="en-US" sz="1800" i="1" kern="100" dirty="0" smtClean="0">
                                    <a:effectLst/>
                                    <a:latin typeface="Cambria Math" panose="02040503050406030204" pitchFamily="18" charset="0"/>
                                  </a:rPr>
                                  <m:t>−</m:t>
                                </m:r>
                                <m:r>
                                  <a:rPr lang="en-US" sz="1800" i="1" kern="100" dirty="0" smtClean="0">
                                    <a:effectLst/>
                                    <a:latin typeface="Cambria Math" panose="02040503050406030204" pitchFamily="18" charset="0"/>
                                  </a:rPr>
                                  <m:t>𝐶</m:t>
                                </m:r>
                                <m:r>
                                  <a:rPr lang="en-US" sz="1800" i="1" kern="100" dirty="0" smtClean="0">
                                    <a:effectLst/>
                                    <a:latin typeface="Cambria Math" panose="02040503050406030204" pitchFamily="18" charset="0"/>
                                  </a:rPr>
                                  <m:t>+</m:t>
                                </m:r>
                                <m:r>
                                  <a:rPr lang="en-US" sz="1800" i="1" kern="100" dirty="0" smtClean="0">
                                    <a:effectLst/>
                                    <a:latin typeface="Cambria Math" panose="02040503050406030204" pitchFamily="18" charset="0"/>
                                  </a:rPr>
                                  <m:t>𝐹</m:t>
                                </m:r>
                                <m:r>
                                  <a:rPr lang="en-US" sz="1800" i="1" kern="100" dirty="0" smtClean="0">
                                    <a:effectLst/>
                                    <a:latin typeface="Cambria Math" panose="02040503050406030204" pitchFamily="18" charset="0"/>
                                  </a:rPr>
                                  <m:t>,−</m:t>
                                </m:r>
                                <m:r>
                                  <a:rPr lang="en-US" sz="1800" i="1" kern="100" dirty="0" smtClean="0">
                                    <a:effectLst/>
                                    <a:latin typeface="Cambria Math" panose="02040503050406030204" pitchFamily="18" charset="0"/>
                                  </a:rPr>
                                  <m:t>𝐹</m:t>
                                </m:r>
                              </m:oMath>
                            </m:oMathPara>
                          </a14:m>
                          <a:endParaRPr lang="zh-CN" sz="1800" kern="100" dirty="0">
                            <a:effectLst/>
                            <a:latin typeface="Times New Roman" panose="02020503050405090304" pitchFamily="18" charset="0"/>
                            <a:ea typeface="宋体" panose="02010600030101010101" pitchFamily="2"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14:m>
                            <m:oMathPara xmlns:m="http://schemas.openxmlformats.org/officeDocument/2006/math">
                              <m:oMathParaPr>
                                <m:jc m:val="centerGroup"/>
                              </m:oMathParaPr>
                              <m:oMath xmlns:m="http://schemas.openxmlformats.org/officeDocument/2006/math">
                                <m:r>
                                  <a:rPr lang="en-US" sz="1800" i="1" kern="100" dirty="0" smtClean="0">
                                    <a:effectLst/>
                                    <a:latin typeface="Cambria Math" panose="02040503050406030204" pitchFamily="18" charset="0"/>
                                  </a:rPr>
                                  <m:t>𝑉</m:t>
                                </m:r>
                                <m:r>
                                  <a:rPr lang="en-US" sz="1800" i="1" kern="100" dirty="0" smtClean="0">
                                    <a:effectLst/>
                                    <a:latin typeface="Cambria Math" panose="02040503050406030204" pitchFamily="18" charset="0"/>
                                  </a:rPr>
                                  <m:t>−</m:t>
                                </m:r>
                                <m:r>
                                  <a:rPr lang="en-US" sz="1800" i="1" kern="100" dirty="0" smtClean="0">
                                    <a:effectLst/>
                                    <a:latin typeface="Cambria Math" panose="02040503050406030204" pitchFamily="18" charset="0"/>
                                  </a:rPr>
                                  <m:t>𝑊</m:t>
                                </m:r>
                                <m:r>
                                  <a:rPr lang="en-US" sz="1800" i="1" kern="100" dirty="0" smtClean="0">
                                    <a:effectLst/>
                                    <a:latin typeface="Cambria Math" panose="02040503050406030204" pitchFamily="18" charset="0"/>
                                  </a:rPr>
                                  <m:t>−</m:t>
                                </m:r>
                                <m:r>
                                  <a:rPr lang="en-US" sz="1800" i="1" kern="100" dirty="0" smtClean="0">
                                    <a:effectLst/>
                                    <a:latin typeface="Cambria Math" panose="02040503050406030204" pitchFamily="18" charset="0"/>
                                  </a:rPr>
                                  <m:t>𝐶</m:t>
                                </m:r>
                                <m:r>
                                  <a:rPr lang="en-US" sz="1800" i="1" kern="100" dirty="0" smtClean="0">
                                    <a:effectLst/>
                                    <a:latin typeface="Cambria Math" panose="02040503050406030204" pitchFamily="18" charset="0"/>
                                  </a:rPr>
                                  <m:t>,</m:t>
                                </m:r>
                                <m:r>
                                  <a:rPr lang="en-US" sz="1800" i="1" kern="100" dirty="0" smtClean="0">
                                    <a:effectLst/>
                                    <a:latin typeface="Cambria Math" panose="02040503050406030204" pitchFamily="18" charset="0"/>
                                  </a:rPr>
                                  <m:t>𝑊</m:t>
                                </m:r>
                                <m:r>
                                  <a:rPr lang="en-US" sz="1800" i="1" kern="100" dirty="0" smtClean="0">
                                    <a:effectLst/>
                                    <a:latin typeface="Cambria Math" panose="02040503050406030204" pitchFamily="18" charset="0"/>
                                  </a:rPr>
                                  <m:t>−</m:t>
                                </m:r>
                                <m:r>
                                  <a:rPr lang="en-US" sz="1800" i="1" kern="100" dirty="0" smtClean="0">
                                    <a:effectLst/>
                                    <a:latin typeface="Cambria Math" panose="02040503050406030204" pitchFamily="18" charset="0"/>
                                  </a:rPr>
                                  <m:t>𝐻</m:t>
                                </m:r>
                              </m:oMath>
                            </m:oMathPara>
                          </a14:m>
                          <a:endParaRPr lang="zh-CN" sz="1800" kern="100" dirty="0">
                            <a:effectLst/>
                            <a:latin typeface="Times New Roman" panose="02020503050405090304" pitchFamily="18" charset="0"/>
                            <a:ea typeface="宋体" panose="02010600030101010101" pitchFamily="2"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38667">
                    <a:tc>
                      <a:txBody>
                        <a:bodyPr/>
                        <a:lstStyle/>
                        <a:p>
                          <a:pPr algn="just">
                            <a:lnSpc>
                              <a:spcPts val="2000"/>
                            </a:lnSpc>
                            <a:spcAft>
                              <a:spcPts val="0"/>
                            </a:spcAft>
                          </a:pPr>
                          <a:r>
                            <a:rPr lang="en-US" sz="1800" kern="100" dirty="0">
                              <a:effectLst/>
                            </a:rPr>
                            <a:t> </a:t>
                          </a:r>
                          <a:endParaRPr lang="zh-CN" sz="1800" kern="100" dirty="0">
                            <a:effectLst/>
                            <a:latin typeface="Times New Roman" panose="02020503050405090304" pitchFamily="18" charset="0"/>
                            <a:ea typeface="宋体" panose="02010600030101010101" pitchFamily="2" charset="-122"/>
                          </a:endParaRPr>
                        </a:p>
                      </a:txBody>
                      <a:tcPr marL="17780" marR="17780" marT="0" marB="0"/>
                    </a:tc>
                    <a:tc>
                      <a:txBody>
                        <a:bodyPr/>
                        <a:lstStyle/>
                        <a:p>
                          <a:pPr algn="l">
                            <a:lnSpc>
                              <a:spcPts val="2000"/>
                            </a:lnSpc>
                            <a:spcAft>
                              <a:spcPts val="0"/>
                            </a:spcAft>
                          </a:pPr>
                          <a:r>
                            <a:rPr lang="zh-CN" sz="1800" kern="100" dirty="0">
                              <a:effectLst/>
                            </a:rPr>
                            <a:t>不检查</a:t>
                          </a:r>
                          <a:endParaRPr lang="zh-CN" sz="1800" kern="100" dirty="0">
                            <a:effectLst/>
                            <a:latin typeface="Times New Roman" panose="02020503050405090304" pitchFamily="18" charset="0"/>
                            <a:ea typeface="宋体" panose="02010600030101010101" pitchFamily="2" charset="-122"/>
                          </a:endParaRPr>
                        </a:p>
                      </a:txBody>
                      <a:tcPr marL="17780" marR="17780" marT="0" marB="0">
                        <a:lnR w="12700" cap="flat" cmpd="sng" algn="ctr">
                          <a:solidFill>
                            <a:schemeClr val="tx1"/>
                          </a:solidFill>
                          <a:prstDash val="solid"/>
                          <a:round/>
                          <a:headEnd type="none" w="med" len="med"/>
                          <a:tailEnd type="none" w="med" len="med"/>
                        </a:lnR>
                      </a:tcPr>
                    </a:tc>
                    <a:tc>
                      <a:txBody>
                        <a:bodyPr/>
                        <a:lstStyle/>
                        <a:p>
                          <a:pPr algn="ctr">
                            <a:lnSpc>
                              <a:spcPts val="2000"/>
                            </a:lnSpc>
                            <a:spcAft>
                              <a:spcPts val="0"/>
                            </a:spcAft>
                          </a:pPr>
                          <a14:m>
                            <m:oMathPara xmlns:m="http://schemas.openxmlformats.org/officeDocument/2006/math">
                              <m:oMathParaPr>
                                <m:jc m:val="centerGroup"/>
                              </m:oMathParaPr>
                              <m:oMath xmlns:m="http://schemas.openxmlformats.org/officeDocument/2006/math">
                                <m:r>
                                  <a:rPr lang="en-US" sz="1800" i="1" kern="100" dirty="0" smtClean="0">
                                    <a:effectLst/>
                                    <a:latin typeface="Cambria Math" panose="02040503050406030204" pitchFamily="18" charset="0"/>
                                  </a:rPr>
                                  <m:t>−</m:t>
                                </m:r>
                                <m:r>
                                  <a:rPr lang="en-US" sz="1800" i="1" kern="100" dirty="0" smtClean="0">
                                    <a:effectLst/>
                                    <a:latin typeface="Cambria Math" panose="02040503050406030204" pitchFamily="18" charset="0"/>
                                  </a:rPr>
                                  <m:t>𝑊</m:t>
                                </m:r>
                                <m:r>
                                  <a:rPr lang="en-US" sz="1800" i="1" kern="100" dirty="0" smtClean="0">
                                    <a:effectLst/>
                                    <a:latin typeface="Cambria Math" panose="02040503050406030204" pitchFamily="18" charset="0"/>
                                  </a:rPr>
                                  <m:t>,</m:t>
                                </m:r>
                                <m:r>
                                  <a:rPr lang="en-US" sz="1800" i="1" kern="100" dirty="0" smtClean="0">
                                    <a:effectLst/>
                                    <a:latin typeface="Cambria Math" panose="02040503050406030204" pitchFamily="18" charset="0"/>
                                  </a:rPr>
                                  <m:t>𝑊</m:t>
                                </m:r>
                              </m:oMath>
                            </m:oMathPara>
                          </a14:m>
                          <a:endParaRPr lang="zh-CN" sz="1800" kern="100" dirty="0">
                            <a:effectLst/>
                            <a:latin typeface="Times New Roman" panose="02020503050405090304" pitchFamily="18" charset="0"/>
                            <a:ea typeface="宋体" panose="02010600030101010101" pitchFamily="2"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14:m>
                            <m:oMathPara xmlns:m="http://schemas.openxmlformats.org/officeDocument/2006/math">
                              <m:oMathParaPr>
                                <m:jc m:val="centerGroup"/>
                              </m:oMathParaPr>
                              <m:oMath xmlns:m="http://schemas.openxmlformats.org/officeDocument/2006/math">
                                <m:r>
                                  <a:rPr lang="en-US" sz="1800" i="1" kern="100" dirty="0" smtClean="0">
                                    <a:effectLst/>
                                    <a:latin typeface="Cambria Math" panose="02040503050406030204" pitchFamily="18" charset="0"/>
                                  </a:rPr>
                                  <m:t>𝑉</m:t>
                                </m:r>
                                <m:r>
                                  <a:rPr lang="en-US" sz="1800" i="1" kern="100" dirty="0" smtClean="0">
                                    <a:effectLst/>
                                    <a:latin typeface="Cambria Math" panose="02040503050406030204" pitchFamily="18" charset="0"/>
                                  </a:rPr>
                                  <m:t>−</m:t>
                                </m:r>
                                <m:r>
                                  <a:rPr lang="en-US" sz="1800" i="1" kern="100" dirty="0" smtClean="0">
                                    <a:effectLst/>
                                    <a:latin typeface="Cambria Math" panose="02040503050406030204" pitchFamily="18" charset="0"/>
                                  </a:rPr>
                                  <m:t>𝑊</m:t>
                                </m:r>
                                <m:r>
                                  <a:rPr lang="en-US" sz="1800" i="1" kern="100" dirty="0" smtClean="0">
                                    <a:effectLst/>
                                    <a:latin typeface="Cambria Math" panose="02040503050406030204" pitchFamily="18" charset="0"/>
                                  </a:rPr>
                                  <m:t>,</m:t>
                                </m:r>
                                <m:r>
                                  <a:rPr lang="en-US" sz="1800" i="1" kern="100" dirty="0" smtClean="0">
                                    <a:effectLst/>
                                    <a:latin typeface="Cambria Math" panose="02040503050406030204" pitchFamily="18" charset="0"/>
                                  </a:rPr>
                                  <m:t>𝑊</m:t>
                                </m:r>
                                <m:r>
                                  <a:rPr lang="en-US" sz="1800" i="1" kern="100" dirty="0" smtClean="0">
                                    <a:effectLst/>
                                    <a:latin typeface="Cambria Math" panose="02040503050406030204" pitchFamily="18" charset="0"/>
                                  </a:rPr>
                                  <m:t>−</m:t>
                                </m:r>
                                <m:r>
                                  <a:rPr lang="en-US" sz="1800" i="1" kern="100" dirty="0" smtClean="0">
                                    <a:effectLst/>
                                    <a:latin typeface="Cambria Math" panose="02040503050406030204" pitchFamily="18" charset="0"/>
                                  </a:rPr>
                                  <m:t>𝐻</m:t>
                                </m:r>
                              </m:oMath>
                            </m:oMathPara>
                          </a14:m>
                          <a:endParaRPr lang="zh-CN" sz="1800" kern="100" dirty="0">
                            <a:effectLst/>
                            <a:latin typeface="Times New Roman" panose="02020503050405090304" pitchFamily="18" charset="0"/>
                            <a:ea typeface="宋体" panose="02010600030101010101" pitchFamily="2"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mc:Choice>
        <mc:Fallback xmlns="">
          <p:graphicFrame>
            <p:nvGraphicFramePr>
              <p:cNvPr id="12" name="表格 11">
                <a:extLst>
                  <a:ext uri="{FF2B5EF4-FFF2-40B4-BE49-F238E27FC236}">
                    <a16:creationId xmlns:a16="http://schemas.microsoft.com/office/drawing/2014/main" id="{167BEC22-CA9F-8F67-D353-E93B5116C3EE}"/>
                  </a:ext>
                </a:extLst>
              </p:cNvPr>
              <p:cNvGraphicFramePr>
                <a:graphicFrameLocks noGrp="1"/>
              </p:cNvGraphicFramePr>
              <p:nvPr>
                <p:extLst>
                  <p:ext uri="{D42A27DB-BD31-4B8C-83A1-F6EECF244321}">
                    <p14:modId xmlns:p14="http://schemas.microsoft.com/office/powerpoint/2010/main" val="160181740"/>
                  </p:ext>
                </p:extLst>
              </p:nvPr>
            </p:nvGraphicFramePr>
            <p:xfrm>
              <a:off x="3737262" y="4711331"/>
              <a:ext cx="4949539" cy="1354668"/>
            </p:xfrm>
            <a:graphic>
              <a:graphicData uri="http://schemas.openxmlformats.org/drawingml/2006/table">
                <a:tbl>
                  <a:tblPr>
                    <a:tableStyleId>{2D5ABB26-0587-4C30-8999-92F81FD0307C}</a:tableStyleId>
                  </a:tblPr>
                  <a:tblGrid>
                    <a:gridCol w="848592">
                      <a:extLst>
                        <a:ext uri="{9D8B030D-6E8A-4147-A177-3AD203B41FA5}">
                          <a16:colId xmlns:a16="http://schemas.microsoft.com/office/drawing/2014/main" val="20000"/>
                        </a:ext>
                      </a:extLst>
                    </a:gridCol>
                    <a:gridCol w="755073">
                      <a:extLst>
                        <a:ext uri="{9D8B030D-6E8A-4147-A177-3AD203B41FA5}">
                          <a16:colId xmlns:a16="http://schemas.microsoft.com/office/drawing/2014/main" val="20001"/>
                        </a:ext>
                      </a:extLst>
                    </a:gridCol>
                    <a:gridCol w="1406236">
                      <a:extLst>
                        <a:ext uri="{9D8B030D-6E8A-4147-A177-3AD203B41FA5}">
                          <a16:colId xmlns:a16="http://schemas.microsoft.com/office/drawing/2014/main" val="20002"/>
                        </a:ext>
                      </a:extLst>
                    </a:gridCol>
                    <a:gridCol w="1939638">
                      <a:extLst>
                        <a:ext uri="{9D8B030D-6E8A-4147-A177-3AD203B41FA5}">
                          <a16:colId xmlns:a16="http://schemas.microsoft.com/office/drawing/2014/main" val="20003"/>
                        </a:ext>
                      </a:extLst>
                    </a:gridCol>
                  </a:tblGrid>
                  <a:tr h="338667">
                    <a:tc>
                      <a:txBody>
                        <a:bodyPr/>
                        <a:lstStyle/>
                        <a:p>
                          <a:pPr algn="just">
                            <a:lnSpc>
                              <a:spcPts val="2000"/>
                            </a:lnSpc>
                            <a:spcAft>
                              <a:spcPts val="0"/>
                            </a:spcAft>
                          </a:pPr>
                          <a:r>
                            <a:rPr lang="en-US" sz="1600" kern="100" dirty="0">
                              <a:effectLst/>
                            </a:rPr>
                            <a:t> </a:t>
                          </a:r>
                          <a:endParaRPr lang="zh-CN" sz="1600" kern="100" dirty="0">
                            <a:effectLst/>
                            <a:latin typeface="Times New Roman" panose="02020503050405090304" pitchFamily="18" charset="0"/>
                            <a:ea typeface="宋体" panose="02010600030101010101" pitchFamily="2" charset="-122"/>
                          </a:endParaRPr>
                        </a:p>
                      </a:txBody>
                      <a:tcPr marL="17780" marR="17780" marT="0" marB="0"/>
                    </a:tc>
                    <a:tc>
                      <a:txBody>
                        <a:bodyPr/>
                        <a:lstStyle/>
                        <a:p>
                          <a:pPr algn="just">
                            <a:lnSpc>
                              <a:spcPts val="2000"/>
                            </a:lnSpc>
                            <a:spcAft>
                              <a:spcPts val="0"/>
                            </a:spcAft>
                          </a:pPr>
                          <a:r>
                            <a:rPr lang="en-US" sz="1600" kern="100" dirty="0">
                              <a:effectLst/>
                            </a:rPr>
                            <a:t> </a:t>
                          </a:r>
                          <a:endParaRPr lang="zh-CN" sz="1600" kern="100" dirty="0">
                            <a:effectLst/>
                            <a:latin typeface="Times New Roman" panose="02020503050405090304" pitchFamily="18" charset="0"/>
                            <a:ea typeface="宋体" panose="02010600030101010101" pitchFamily="2" charset="-122"/>
                          </a:endParaRPr>
                        </a:p>
                      </a:txBody>
                      <a:tcPr marL="17780" marR="17780" marT="0" marB="0"/>
                    </a:tc>
                    <a:tc gridSpan="2">
                      <a:txBody>
                        <a:bodyPr/>
                        <a:lstStyle/>
                        <a:p>
                          <a:pPr algn="ctr">
                            <a:lnSpc>
                              <a:spcPts val="2000"/>
                            </a:lnSpc>
                            <a:spcAft>
                              <a:spcPts val="0"/>
                            </a:spcAft>
                          </a:pPr>
                          <a:r>
                            <a:rPr lang="zh-CN" sz="1800" kern="100" dirty="0">
                              <a:effectLst/>
                            </a:rPr>
                            <a:t>雇员</a:t>
                          </a:r>
                          <a:endParaRPr lang="zh-CN" sz="1800" kern="100" dirty="0">
                            <a:effectLst/>
                            <a:latin typeface="Times New Roman" panose="02020503050405090304" pitchFamily="18" charset="0"/>
                            <a:ea typeface="宋体" panose="02010600030101010101" pitchFamily="2" charset="-122"/>
                          </a:endParaRPr>
                        </a:p>
                      </a:txBody>
                      <a:tcPr marL="17780" marR="17780" marT="0" marB="0"/>
                    </a:tc>
                    <a:tc hMerge="1">
                      <a:txBody>
                        <a:bodyPr/>
                        <a:lstStyle/>
                        <a:p>
                          <a:endParaRPr lang="zh-CN"/>
                        </a:p>
                      </a:txBody>
                      <a:tcPr/>
                    </a:tc>
                    <a:extLst>
                      <a:ext uri="{0D108BD9-81ED-4DB2-BD59-A6C34878D82A}">
                        <a16:rowId xmlns:a16="http://schemas.microsoft.com/office/drawing/2014/main" val="10000"/>
                      </a:ext>
                    </a:extLst>
                  </a:tr>
                  <a:tr h="338667">
                    <a:tc>
                      <a:txBody>
                        <a:bodyPr/>
                        <a:lstStyle/>
                        <a:p>
                          <a:pPr algn="just">
                            <a:lnSpc>
                              <a:spcPts val="2000"/>
                            </a:lnSpc>
                            <a:spcAft>
                              <a:spcPts val="0"/>
                            </a:spcAft>
                          </a:pPr>
                          <a:r>
                            <a:rPr lang="en-US" sz="1600" kern="100" dirty="0">
                              <a:effectLst/>
                            </a:rPr>
                            <a:t> </a:t>
                          </a:r>
                          <a:endParaRPr lang="zh-CN" sz="1600" kern="100" dirty="0">
                            <a:effectLst/>
                            <a:latin typeface="Times New Roman" panose="02020503050405090304" pitchFamily="18" charset="0"/>
                            <a:ea typeface="宋体" panose="02010600030101010101" pitchFamily="2" charset="-122"/>
                          </a:endParaRPr>
                        </a:p>
                      </a:txBody>
                      <a:tcPr marL="17780" marR="17780" marT="0" marB="0"/>
                    </a:tc>
                    <a:tc>
                      <a:txBody>
                        <a:bodyPr/>
                        <a:lstStyle/>
                        <a:p>
                          <a:pPr algn="just">
                            <a:lnSpc>
                              <a:spcPts val="2000"/>
                            </a:lnSpc>
                            <a:spcAft>
                              <a:spcPts val="0"/>
                            </a:spcAft>
                          </a:pPr>
                          <a:r>
                            <a:rPr lang="en-US" sz="1600" kern="100" dirty="0">
                              <a:effectLst/>
                            </a:rPr>
                            <a:t> </a:t>
                          </a:r>
                          <a:endParaRPr lang="zh-CN" sz="1600" kern="100" dirty="0">
                            <a:effectLst/>
                            <a:latin typeface="Times New Roman" panose="02020503050405090304" pitchFamily="18" charset="0"/>
                            <a:ea typeface="宋体" panose="02010600030101010101" pitchFamily="2" charset="-122"/>
                          </a:endParaRPr>
                        </a:p>
                      </a:txBody>
                      <a:tcPr marL="17780" marR="17780" marT="0" marB="0"/>
                    </a:tc>
                    <a:tc>
                      <a:txBody>
                        <a:bodyPr/>
                        <a:lstStyle/>
                        <a:p>
                          <a:pPr algn="ctr">
                            <a:lnSpc>
                              <a:spcPts val="2000"/>
                            </a:lnSpc>
                            <a:spcAft>
                              <a:spcPts val="0"/>
                            </a:spcAft>
                          </a:pPr>
                          <a:r>
                            <a:rPr lang="zh-CN" sz="1800" kern="100" dirty="0">
                              <a:effectLst/>
                            </a:rPr>
                            <a:t>偷懒</a:t>
                          </a:r>
                          <a:endParaRPr lang="zh-CN" sz="1800" kern="100" dirty="0">
                            <a:effectLst/>
                            <a:latin typeface="Times New Roman" panose="02020503050405090304" pitchFamily="18" charset="0"/>
                            <a:ea typeface="宋体" panose="02010600030101010101" pitchFamily="2" charset="-122"/>
                          </a:endParaRPr>
                        </a:p>
                      </a:txBody>
                      <a:tcPr marL="17780" marR="17780" marT="0" marB="0">
                        <a:lnB w="12700" cap="flat" cmpd="sng" algn="ctr">
                          <a:solidFill>
                            <a:schemeClr val="tx1"/>
                          </a:solidFill>
                          <a:prstDash val="solid"/>
                          <a:round/>
                          <a:headEnd type="none" w="med" len="med"/>
                          <a:tailEnd type="none" w="med" len="med"/>
                        </a:lnB>
                      </a:tcPr>
                    </a:tc>
                    <a:tc>
                      <a:txBody>
                        <a:bodyPr/>
                        <a:lstStyle/>
                        <a:p>
                          <a:pPr algn="ctr">
                            <a:lnSpc>
                              <a:spcPts val="2000"/>
                            </a:lnSpc>
                            <a:spcAft>
                              <a:spcPts val="0"/>
                            </a:spcAft>
                          </a:pPr>
                          <a:r>
                            <a:rPr lang="zh-CN" sz="1800" kern="100" dirty="0">
                              <a:effectLst/>
                            </a:rPr>
                            <a:t>不偷懒</a:t>
                          </a:r>
                          <a:endParaRPr lang="zh-CN" sz="1800" kern="100" dirty="0">
                            <a:effectLst/>
                            <a:latin typeface="Times New Roman" panose="02020503050405090304" pitchFamily="18" charset="0"/>
                            <a:ea typeface="宋体" panose="02010600030101010101" pitchFamily="2" charset="-122"/>
                          </a:endParaRPr>
                        </a:p>
                      </a:txBody>
                      <a:tcPr marL="17780" marR="17780"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8667">
                    <a:tc>
                      <a:txBody>
                        <a:bodyPr/>
                        <a:lstStyle/>
                        <a:p>
                          <a:pPr algn="l">
                            <a:lnSpc>
                              <a:spcPts val="2000"/>
                            </a:lnSpc>
                            <a:spcAft>
                              <a:spcPts val="0"/>
                            </a:spcAft>
                          </a:pPr>
                          <a:r>
                            <a:rPr lang="en-US" altLang="zh-CN" sz="1800" kern="100" dirty="0">
                              <a:effectLst/>
                            </a:rPr>
                            <a:t>  </a:t>
                          </a:r>
                          <a:r>
                            <a:rPr lang="zh-CN" sz="1800" kern="100" dirty="0">
                              <a:effectLst/>
                            </a:rPr>
                            <a:t>雇主</a:t>
                          </a:r>
                          <a:r>
                            <a:rPr lang="en-US" altLang="zh-CN" sz="1800" kern="100" dirty="0">
                              <a:effectLst/>
                            </a:rPr>
                            <a:t>    .    </a:t>
                          </a:r>
                          <a:endParaRPr lang="zh-CN" sz="1800" kern="100" dirty="0">
                            <a:effectLst/>
                            <a:latin typeface="Times New Roman" panose="02020503050405090304" pitchFamily="18" charset="0"/>
                            <a:ea typeface="宋体" panose="02010600030101010101" pitchFamily="2" charset="-122"/>
                          </a:endParaRPr>
                        </a:p>
                      </a:txBody>
                      <a:tcPr marL="17780" marR="17780" marT="0" marB="0"/>
                    </a:tc>
                    <a:tc>
                      <a:txBody>
                        <a:bodyPr/>
                        <a:lstStyle/>
                        <a:p>
                          <a:pPr algn="l">
                            <a:lnSpc>
                              <a:spcPts val="2000"/>
                            </a:lnSpc>
                            <a:spcAft>
                              <a:spcPts val="0"/>
                            </a:spcAft>
                          </a:pPr>
                          <a:r>
                            <a:rPr lang="zh-CN" sz="1800" kern="100" dirty="0">
                              <a:effectLst/>
                            </a:rPr>
                            <a:t>检查</a:t>
                          </a:r>
                          <a:endParaRPr lang="zh-CN" sz="1800" kern="100" dirty="0">
                            <a:effectLst/>
                            <a:latin typeface="Times New Roman" panose="02020503050405090304" pitchFamily="18" charset="0"/>
                            <a:ea typeface="宋体" panose="02010600030101010101" pitchFamily="2" charset="-122"/>
                          </a:endParaRPr>
                        </a:p>
                      </a:txBody>
                      <a:tcPr marL="17780" marR="17780" marT="0" marB="0">
                        <a:lnR w="12700" cap="flat" cmpd="sng" algn="ctr">
                          <a:solidFill>
                            <a:schemeClr val="tx1"/>
                          </a:solidFill>
                          <a:prstDash val="solid"/>
                          <a:round/>
                          <a:headEnd type="none" w="med" len="med"/>
                          <a:tailEnd type="none" w="med" len="med"/>
                        </a:lnR>
                      </a:tcPr>
                    </a:tc>
                    <a:tc>
                      <a:txBody>
                        <a:bodyPr/>
                        <a:lstStyle/>
                        <a:p>
                          <a:endParaRPr lang="zh-CN"/>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13853" t="-232143" r="-138961" b="-110714"/>
                          </a:stretch>
                        </a:blipFill>
                      </a:tcPr>
                    </a:tc>
                    <a:tc>
                      <a:txBody>
                        <a:bodyPr/>
                        <a:lstStyle/>
                        <a:p>
                          <a:endParaRPr lang="zh-CN"/>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54859" t="-232143" r="-627" b="-110714"/>
                          </a:stretch>
                        </a:blipFill>
                      </a:tcPr>
                    </a:tc>
                    <a:extLst>
                      <a:ext uri="{0D108BD9-81ED-4DB2-BD59-A6C34878D82A}">
                        <a16:rowId xmlns:a16="http://schemas.microsoft.com/office/drawing/2014/main" val="10002"/>
                      </a:ext>
                    </a:extLst>
                  </a:tr>
                  <a:tr h="338667">
                    <a:tc>
                      <a:txBody>
                        <a:bodyPr/>
                        <a:lstStyle/>
                        <a:p>
                          <a:pPr algn="just">
                            <a:lnSpc>
                              <a:spcPts val="2000"/>
                            </a:lnSpc>
                            <a:spcAft>
                              <a:spcPts val="0"/>
                            </a:spcAft>
                          </a:pPr>
                          <a:r>
                            <a:rPr lang="en-US" sz="1800" kern="100" dirty="0">
                              <a:effectLst/>
                            </a:rPr>
                            <a:t> </a:t>
                          </a:r>
                          <a:endParaRPr lang="zh-CN" sz="1800" kern="100" dirty="0">
                            <a:effectLst/>
                            <a:latin typeface="Times New Roman" panose="02020503050405090304" pitchFamily="18" charset="0"/>
                            <a:ea typeface="宋体" panose="02010600030101010101" pitchFamily="2" charset="-122"/>
                          </a:endParaRPr>
                        </a:p>
                      </a:txBody>
                      <a:tcPr marL="17780" marR="17780" marT="0" marB="0"/>
                    </a:tc>
                    <a:tc>
                      <a:txBody>
                        <a:bodyPr/>
                        <a:lstStyle/>
                        <a:p>
                          <a:pPr algn="l">
                            <a:lnSpc>
                              <a:spcPts val="2000"/>
                            </a:lnSpc>
                            <a:spcAft>
                              <a:spcPts val="0"/>
                            </a:spcAft>
                          </a:pPr>
                          <a:r>
                            <a:rPr lang="zh-CN" sz="1800" kern="100" dirty="0">
                              <a:effectLst/>
                            </a:rPr>
                            <a:t>不检查</a:t>
                          </a:r>
                          <a:endParaRPr lang="zh-CN" sz="1800" kern="100" dirty="0">
                            <a:effectLst/>
                            <a:latin typeface="Times New Roman" panose="02020503050405090304" pitchFamily="18" charset="0"/>
                            <a:ea typeface="宋体" panose="02010600030101010101" pitchFamily="2" charset="-122"/>
                          </a:endParaRPr>
                        </a:p>
                      </a:txBody>
                      <a:tcPr marL="17780" marR="17780" marT="0" marB="0">
                        <a:lnR w="12700" cap="flat" cmpd="sng" algn="ctr">
                          <a:solidFill>
                            <a:schemeClr val="tx1"/>
                          </a:solidFill>
                          <a:prstDash val="solid"/>
                          <a:round/>
                          <a:headEnd type="none" w="med" len="med"/>
                          <a:tailEnd type="none" w="med" len="med"/>
                        </a:lnR>
                      </a:tcPr>
                    </a:tc>
                    <a:tc>
                      <a:txBody>
                        <a:bodyPr/>
                        <a:lstStyle/>
                        <a:p>
                          <a:endParaRPr lang="zh-CN"/>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13853" t="-332143" r="-138961" b="-10714"/>
                          </a:stretch>
                        </a:blipFill>
                      </a:tcPr>
                    </a:tc>
                    <a:tc>
                      <a:txBody>
                        <a:bodyPr/>
                        <a:lstStyle/>
                        <a:p>
                          <a:endParaRPr lang="zh-CN"/>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54859" t="-332143" r="-627" b="-10714"/>
                          </a:stretch>
                        </a:blipFill>
                      </a:tcPr>
                    </a:tc>
                    <a:extLst>
                      <a:ext uri="{0D108BD9-81ED-4DB2-BD59-A6C34878D82A}">
                        <a16:rowId xmlns:a16="http://schemas.microsoft.com/office/drawing/2014/main" val="10003"/>
                      </a:ext>
                    </a:extLst>
                  </a:tr>
                </a:tbl>
              </a:graphicData>
            </a:graphic>
          </p:graphicFrame>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75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par>
                          <p:cTn id="18" fill="hold">
                            <p:stCondLst>
                              <p:cond delay="500"/>
                            </p:stCondLst>
                            <p:childTnLst>
                              <p:par>
                                <p:cTn id="19" presetID="42" presetClass="entr" presetSubtype="0" fill="hold" nodeType="afterEffect">
                                  <p:stCondLst>
                                    <p:cond delay="75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p:nvPr/>
        </p:nvSpPr>
        <p:spPr>
          <a:xfrm>
            <a:off x="256308" y="1061496"/>
            <a:ext cx="8556857" cy="487714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450850" marR="0" lvl="0" indent="-360363"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600" b="0" i="0" u="none" strike="noStrike" kern="1200" cap="none" spc="0" normalizeH="0" baseline="0" noProof="0" dirty="0">
                <a:ln>
                  <a:noFill/>
                </a:ln>
                <a:solidFill>
                  <a:srgbClr val="C00000"/>
                </a:solidFill>
                <a:effectLst/>
                <a:uLnTx/>
                <a:uFillTx/>
                <a:latin typeface="黑体" panose="02010600040101010101" pitchFamily="49" charset="-122"/>
                <a:ea typeface="黑体" panose="02010600040101010101" pitchFamily="49" charset="-122"/>
                <a:cs typeface="+mn-cs"/>
              </a:rPr>
              <a:t>参与者：</a:t>
            </a:r>
            <a:endParaRPr kumimoji="0" lang="en-US" altLang="zh-CN" sz="2600" b="0" i="0" u="none" strike="noStrike" kern="1200" cap="none" spc="0" normalizeH="0" baseline="0" noProof="0" dirty="0">
              <a:ln>
                <a:noFill/>
              </a:ln>
              <a:solidFill>
                <a:srgbClr val="C00000"/>
              </a:solidFill>
              <a:effectLst/>
              <a:uLnTx/>
              <a:uFillTx/>
              <a:latin typeface="黑体" panose="02010600040101010101" pitchFamily="49" charset="-122"/>
              <a:ea typeface="黑体" panose="02010600040101010101" pitchFamily="49" charset="-122"/>
              <a:cs typeface="+mn-cs"/>
            </a:endParaRPr>
          </a:p>
          <a:p>
            <a:pPr marL="269875" marR="0" lvl="1" indent="0" algn="just" defTabSz="685800" rtl="0" eaLnBrk="1" fontAlgn="auto" latinLnBrk="0" hangingPunct="1">
              <a:lnSpc>
                <a:spcPct val="130000"/>
              </a:lnSpc>
              <a:spcBef>
                <a:spcPts val="0"/>
              </a:spcBef>
              <a:spcAft>
                <a:spcPts val="0"/>
              </a:spcAft>
              <a:buClrTx/>
              <a:buSzTx/>
              <a:buNone/>
              <a:tabLst/>
              <a:defRPr/>
            </a:pPr>
            <a:r>
              <a:rPr kumimoji="0" lang="zh-CN" altLang="en-US" sz="26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 雇员、雇主</a:t>
            </a:r>
            <a:endParaRPr kumimoji="0" lang="en-US" altLang="zh-CN" sz="26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endParaRPr>
          </a:p>
          <a:p>
            <a:pPr marL="450850" marR="0" lvl="0" indent="-360363"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600" b="0" i="0" u="none" strike="noStrike" kern="1200" cap="none" spc="0" normalizeH="0" baseline="0" noProof="0" dirty="0">
                <a:ln>
                  <a:noFill/>
                </a:ln>
                <a:solidFill>
                  <a:srgbClr val="C00000"/>
                </a:solidFill>
                <a:effectLst/>
                <a:uLnTx/>
                <a:uFillTx/>
                <a:latin typeface="黑体" panose="02010600040101010101" pitchFamily="49" charset="-122"/>
                <a:ea typeface="黑体" panose="02010600040101010101" pitchFamily="49" charset="-122"/>
                <a:cs typeface="+mn-cs"/>
              </a:rPr>
              <a:t>规则：</a:t>
            </a:r>
            <a:endParaRPr kumimoji="0" lang="en-US" altLang="zh-CN" sz="2600" b="0" i="0" u="none" strike="noStrike" kern="1200" cap="none" spc="0" normalizeH="0" baseline="0" noProof="0" dirty="0">
              <a:ln>
                <a:noFill/>
              </a:ln>
              <a:solidFill>
                <a:srgbClr val="C00000"/>
              </a:solidFill>
              <a:effectLst/>
              <a:uLnTx/>
              <a:uFillTx/>
              <a:latin typeface="黑体" panose="02010600040101010101" pitchFamily="49" charset="-122"/>
              <a:ea typeface="黑体" panose="02010600040101010101" pitchFamily="49" charset="-122"/>
              <a:cs typeface="+mn-cs"/>
            </a:endParaRPr>
          </a:p>
          <a:p>
            <a:pPr marL="269875" marR="0" lvl="1" indent="0" algn="just" defTabSz="685800" rtl="0" eaLnBrk="1" fontAlgn="auto" latinLnBrk="0" hangingPunct="1">
              <a:lnSpc>
                <a:spcPct val="130000"/>
              </a:lnSpc>
              <a:spcBef>
                <a:spcPts val="0"/>
              </a:spcBef>
              <a:spcAft>
                <a:spcPts val="0"/>
              </a:spcAft>
              <a:buClrTx/>
              <a:buSzTx/>
              <a:buNone/>
              <a:tabLst/>
              <a:defRPr/>
            </a:pPr>
            <a:r>
              <a:rPr kumimoji="0" lang="zh-CN" altLang="en-US" sz="26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 雇员与雇主两人分别决策，事先无法得知对方的选择</a:t>
            </a:r>
            <a:endParaRPr kumimoji="0" lang="en-US" altLang="zh-CN" sz="26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endParaRPr>
          </a:p>
          <a:p>
            <a:pPr marL="450850" marR="0" lvl="0" indent="-360363"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600" b="0" i="0" u="none" strike="noStrike" kern="1200" cap="none" spc="0" normalizeH="0" baseline="0" noProof="0" dirty="0">
                <a:ln>
                  <a:noFill/>
                </a:ln>
                <a:solidFill>
                  <a:srgbClr val="C00000"/>
                </a:solidFill>
                <a:effectLst/>
                <a:uLnTx/>
                <a:uFillTx/>
                <a:latin typeface="黑体" panose="02010600040101010101" pitchFamily="49" charset="-122"/>
                <a:ea typeface="黑体" panose="02010600040101010101" pitchFamily="49" charset="-122"/>
                <a:cs typeface="+mn-cs"/>
              </a:rPr>
              <a:t>混合策略集：</a:t>
            </a:r>
            <a:endParaRPr kumimoji="0" lang="en-US" altLang="zh-CN" sz="2600" b="0" i="0" u="none" strike="noStrike" kern="1200" cap="none" spc="0" normalizeH="0" baseline="0" noProof="0" dirty="0">
              <a:ln>
                <a:noFill/>
              </a:ln>
              <a:solidFill>
                <a:srgbClr val="C00000"/>
              </a:solidFill>
              <a:effectLst/>
              <a:uLnTx/>
              <a:uFillTx/>
              <a:latin typeface="黑体" panose="02010600040101010101" pitchFamily="49" charset="-122"/>
              <a:ea typeface="黑体" panose="02010600040101010101" pitchFamily="49" charset="-122"/>
              <a:cs typeface="+mn-cs"/>
            </a:endParaRPr>
          </a:p>
          <a:p>
            <a:pPr marL="269875" marR="0" lvl="1" indent="0" algn="just" defTabSz="685800" rtl="0" eaLnBrk="1" fontAlgn="auto" latinLnBrk="0" hangingPunct="1">
              <a:lnSpc>
                <a:spcPct val="130000"/>
              </a:lnSpc>
              <a:spcBef>
                <a:spcPts val="0"/>
              </a:spcBef>
              <a:spcAft>
                <a:spcPts val="0"/>
              </a:spcAft>
              <a:buClrTx/>
              <a:buSzTx/>
              <a:buNone/>
              <a:tabLst/>
              <a:defRPr/>
            </a:pPr>
            <a:r>
              <a:rPr kumimoji="0" lang="zh-CN" altLang="en-US" sz="26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 雇员：偷懒、不偷懒</a:t>
            </a:r>
            <a:endParaRPr kumimoji="0" lang="en-US" altLang="zh-CN" sz="26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endParaRPr>
          </a:p>
          <a:p>
            <a:pPr marL="269875" marR="0" lvl="1" indent="0" algn="just" defTabSz="685800" rtl="0" eaLnBrk="1" fontAlgn="auto" latinLnBrk="0" hangingPunct="1">
              <a:lnSpc>
                <a:spcPct val="130000"/>
              </a:lnSpc>
              <a:spcBef>
                <a:spcPts val="0"/>
              </a:spcBef>
              <a:spcAft>
                <a:spcPts val="0"/>
              </a:spcAft>
              <a:buClrTx/>
              <a:buSzTx/>
              <a:buNone/>
              <a:tabLst/>
              <a:defRPr/>
            </a:pPr>
            <a:r>
              <a:rPr kumimoji="0" lang="zh-CN" altLang="en-US" sz="26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 雇主：检查、不检查</a:t>
            </a:r>
            <a:endParaRPr kumimoji="0" lang="en-US" altLang="zh-CN" sz="26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endParaRPr>
          </a:p>
          <a:p>
            <a:pPr marL="450850" marR="0" lvl="0" indent="-360363"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600" b="0" i="0" u="none" strike="noStrike" kern="1200" cap="none" spc="0" normalizeH="0" baseline="0" noProof="0" dirty="0">
                <a:ln>
                  <a:noFill/>
                </a:ln>
                <a:solidFill>
                  <a:srgbClr val="C00000"/>
                </a:solidFill>
                <a:effectLst/>
                <a:uLnTx/>
                <a:uFillTx/>
                <a:latin typeface="黑体" panose="02010600040101010101" pitchFamily="49" charset="-122"/>
                <a:ea typeface="黑体" panose="02010600040101010101" pitchFamily="49" charset="-122"/>
                <a:cs typeface="+mn-cs"/>
              </a:rPr>
              <a:t>局势及对应收益</a:t>
            </a:r>
            <a:endParaRPr kumimoji="0" lang="en-US" altLang="zh-CN" sz="2600" b="0" i="0" u="none" strike="noStrike" kern="1200" cap="none" spc="0" normalizeH="0" baseline="0" noProof="0" dirty="0">
              <a:ln>
                <a:noFill/>
              </a:ln>
              <a:solidFill>
                <a:srgbClr val="C00000"/>
              </a:solidFill>
              <a:effectLst/>
              <a:uLnTx/>
              <a:uFillTx/>
              <a:latin typeface="黑体" panose="02010600040101010101" pitchFamily="49" charset="-122"/>
              <a:ea typeface="黑体" panose="02010600040101010101" pitchFamily="49" charset="-122"/>
              <a:cs typeface="+mn-cs"/>
            </a:endParaRPr>
          </a:p>
          <a:p>
            <a:pPr marL="90487" marR="0" lvl="1" indent="0" algn="just" defTabSz="685800" rtl="0" eaLnBrk="1" fontAlgn="auto" latinLnBrk="0" hangingPunct="1">
              <a:lnSpc>
                <a:spcPct val="130000"/>
              </a:lnSpc>
              <a:spcBef>
                <a:spcPts val="0"/>
              </a:spcBef>
              <a:spcAft>
                <a:spcPts val="0"/>
              </a:spcAft>
              <a:buClrTx/>
              <a:buSzTx/>
              <a:buNone/>
              <a:tabLst/>
              <a:defRPr/>
            </a:pPr>
            <a:r>
              <a:rPr kumimoji="0" lang="zh-CN" altLang="en-US" sz="26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  雇主采取检查策略时雇员工作与偷懒对应的结果</a:t>
            </a:r>
            <a:endParaRPr kumimoji="0" lang="en-US" altLang="zh-CN" sz="26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endParaRPr>
          </a:p>
          <a:p>
            <a:pPr marL="90487" marR="0" lvl="1" indent="0" algn="just" defTabSz="685800" rtl="0" eaLnBrk="1" fontAlgn="auto" latinLnBrk="0" hangingPunct="1">
              <a:lnSpc>
                <a:spcPct val="130000"/>
              </a:lnSpc>
              <a:spcBef>
                <a:spcPts val="0"/>
              </a:spcBef>
              <a:spcAft>
                <a:spcPts val="0"/>
              </a:spcAft>
              <a:buClrTx/>
              <a:buSzTx/>
              <a:buNone/>
              <a:tabLst/>
              <a:defRPr/>
            </a:pPr>
            <a:r>
              <a:rPr kumimoji="0" lang="zh-CN" altLang="en-US" sz="26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  雇主采取不检查策略时雇员工作与偷懒对应的结果</a:t>
            </a:r>
            <a:endParaRPr kumimoji="0" lang="en-US" altLang="zh-CN" sz="26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endParaRPr>
          </a:p>
        </p:txBody>
      </p:sp>
      <p:sp>
        <p:nvSpPr>
          <p:cNvPr id="9" name="标题 1">
            <a:extLst>
              <a:ext uri="{FF2B5EF4-FFF2-40B4-BE49-F238E27FC236}">
                <a16:creationId xmlns:a16="http://schemas.microsoft.com/office/drawing/2014/main" id="{5AFC15D6-B427-8474-3465-438923B2ECF7}"/>
              </a:ext>
            </a:extLst>
          </p:cNvPr>
          <p:cNvSpPr txBox="1">
            <a:spLocks/>
          </p:cNvSpPr>
          <p:nvPr/>
        </p:nvSpPr>
        <p:spPr>
          <a:xfrm>
            <a:off x="0" y="4763"/>
            <a:ext cx="9144000" cy="817562"/>
          </a:xfrm>
          <a:prstGeom prst="rect">
            <a:avLst/>
          </a:prstGeom>
        </p:spPr>
        <p:txBody>
          <a:bodyPr vert="horz" lIns="91440" tIns="144000" rIns="91440" bIns="45720" rtlCol="0" anchor="ctr">
            <a:norm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混合策略下纳什均衡的例子</a:t>
            </a:r>
            <a:endPar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endParaRPr>
          </a:p>
        </p:txBody>
      </p:sp>
    </p:spTree>
    <p:extLst>
      <p:ext uri="{BB962C8B-B14F-4D97-AF65-F5344CB8AC3E}">
        <p14:creationId xmlns:p14="http://schemas.microsoft.com/office/powerpoint/2010/main" val="799900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fade">
                                      <p:cBhvr>
                                        <p:cTn id="11" dur="500"/>
                                        <p:tgtEl>
                                          <p:spTgt spid="7">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xEl>
                                              <p:pRg st="2" end="2"/>
                                            </p:txEl>
                                          </p:spTgt>
                                        </p:tgtEl>
                                        <p:attrNameLst>
                                          <p:attrName>style.visibility</p:attrName>
                                        </p:attrNameLst>
                                      </p:cBhvr>
                                      <p:to>
                                        <p:strVal val="visible"/>
                                      </p:to>
                                    </p:set>
                                    <p:animEffect transition="in" filter="fade">
                                      <p:cBhvr>
                                        <p:cTn id="16" dur="500"/>
                                        <p:tgtEl>
                                          <p:spTgt spid="7">
                                            <p:txEl>
                                              <p:pRg st="2" end="2"/>
                                            </p:txEl>
                                          </p:spTgt>
                                        </p:tgtEl>
                                      </p:cBhvr>
                                    </p:animEffect>
                                  </p:childTnLst>
                                </p:cTn>
                              </p:par>
                            </p:childTnLst>
                          </p:cTn>
                        </p:par>
                        <p:par>
                          <p:cTn id="17" fill="hold">
                            <p:stCondLst>
                              <p:cond delay="500"/>
                            </p:stCondLst>
                            <p:childTnLst>
                              <p:par>
                                <p:cTn id="18" presetID="10" presetClass="entr" presetSubtype="0" fill="hold" nodeType="afterEffect">
                                  <p:stCondLst>
                                    <p:cond delay="50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fade">
                                      <p:cBhvr>
                                        <p:cTn id="20" dur="500"/>
                                        <p:tgtEl>
                                          <p:spTgt spid="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fade">
                                      <p:cBhvr>
                                        <p:cTn id="25" dur="500"/>
                                        <p:tgtEl>
                                          <p:spTgt spid="7">
                                            <p:txEl>
                                              <p:pRg st="4" end="4"/>
                                            </p:txEl>
                                          </p:spTgt>
                                        </p:tgtEl>
                                      </p:cBhvr>
                                    </p:animEffect>
                                  </p:childTnLst>
                                </p:cTn>
                              </p:par>
                            </p:childTnLst>
                          </p:cTn>
                        </p:par>
                        <p:par>
                          <p:cTn id="26" fill="hold">
                            <p:stCondLst>
                              <p:cond delay="500"/>
                            </p:stCondLst>
                            <p:childTnLst>
                              <p:par>
                                <p:cTn id="27" presetID="10" presetClass="entr" presetSubtype="0" fill="hold" nodeType="afterEffect">
                                  <p:stCondLst>
                                    <p:cond delay="500"/>
                                  </p:stCondLst>
                                  <p:childTnLst>
                                    <p:set>
                                      <p:cBhvr>
                                        <p:cTn id="28" dur="1" fill="hold">
                                          <p:stCondLst>
                                            <p:cond delay="0"/>
                                          </p:stCondLst>
                                        </p:cTn>
                                        <p:tgtEl>
                                          <p:spTgt spid="7">
                                            <p:txEl>
                                              <p:pRg st="5" end="5"/>
                                            </p:txEl>
                                          </p:spTgt>
                                        </p:tgtEl>
                                        <p:attrNameLst>
                                          <p:attrName>style.visibility</p:attrName>
                                        </p:attrNameLst>
                                      </p:cBhvr>
                                      <p:to>
                                        <p:strVal val="visible"/>
                                      </p:to>
                                    </p:set>
                                    <p:animEffect transition="in" filter="fade">
                                      <p:cBhvr>
                                        <p:cTn id="29" dur="500"/>
                                        <p:tgtEl>
                                          <p:spTgt spid="7">
                                            <p:txEl>
                                              <p:pRg st="5" end="5"/>
                                            </p:txEl>
                                          </p:spTgt>
                                        </p:tgtEl>
                                      </p:cBhvr>
                                    </p:animEffect>
                                  </p:childTnLst>
                                </p:cTn>
                              </p:par>
                            </p:childTnLst>
                          </p:cTn>
                        </p:par>
                        <p:par>
                          <p:cTn id="30" fill="hold">
                            <p:stCondLst>
                              <p:cond delay="1500"/>
                            </p:stCondLst>
                            <p:childTnLst>
                              <p:par>
                                <p:cTn id="31" presetID="10" presetClass="entr" presetSubtype="0" fill="hold" nodeType="afterEffect">
                                  <p:stCondLst>
                                    <p:cond delay="500"/>
                                  </p:stCondLst>
                                  <p:childTnLst>
                                    <p:set>
                                      <p:cBhvr>
                                        <p:cTn id="32" dur="1" fill="hold">
                                          <p:stCondLst>
                                            <p:cond delay="0"/>
                                          </p:stCondLst>
                                        </p:cTn>
                                        <p:tgtEl>
                                          <p:spTgt spid="7">
                                            <p:txEl>
                                              <p:pRg st="6" end="6"/>
                                            </p:txEl>
                                          </p:spTgt>
                                        </p:tgtEl>
                                        <p:attrNameLst>
                                          <p:attrName>style.visibility</p:attrName>
                                        </p:attrNameLst>
                                      </p:cBhvr>
                                      <p:to>
                                        <p:strVal val="visible"/>
                                      </p:to>
                                    </p:set>
                                    <p:animEffect transition="in" filter="fade">
                                      <p:cBhvr>
                                        <p:cTn id="33" dur="500"/>
                                        <p:tgtEl>
                                          <p:spTgt spid="7">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
                                            <p:txEl>
                                              <p:pRg st="7" end="7"/>
                                            </p:txEl>
                                          </p:spTgt>
                                        </p:tgtEl>
                                        <p:attrNameLst>
                                          <p:attrName>style.visibility</p:attrName>
                                        </p:attrNameLst>
                                      </p:cBhvr>
                                      <p:to>
                                        <p:strVal val="visible"/>
                                      </p:to>
                                    </p:set>
                                    <p:animEffect transition="in" filter="fade">
                                      <p:cBhvr>
                                        <p:cTn id="38" dur="500"/>
                                        <p:tgtEl>
                                          <p:spTgt spid="7">
                                            <p:txEl>
                                              <p:pRg st="7" end="7"/>
                                            </p:txEl>
                                          </p:spTgt>
                                        </p:tgtEl>
                                      </p:cBhvr>
                                    </p:animEffect>
                                  </p:childTnLst>
                                </p:cTn>
                              </p:par>
                            </p:childTnLst>
                          </p:cTn>
                        </p:par>
                        <p:par>
                          <p:cTn id="39" fill="hold">
                            <p:stCondLst>
                              <p:cond delay="500"/>
                            </p:stCondLst>
                            <p:childTnLst>
                              <p:par>
                                <p:cTn id="40" presetID="10" presetClass="entr" presetSubtype="0" fill="hold" nodeType="afterEffect">
                                  <p:stCondLst>
                                    <p:cond delay="500"/>
                                  </p:stCondLst>
                                  <p:childTnLst>
                                    <p:set>
                                      <p:cBhvr>
                                        <p:cTn id="41" dur="1" fill="hold">
                                          <p:stCondLst>
                                            <p:cond delay="0"/>
                                          </p:stCondLst>
                                        </p:cTn>
                                        <p:tgtEl>
                                          <p:spTgt spid="7">
                                            <p:txEl>
                                              <p:pRg st="8" end="8"/>
                                            </p:txEl>
                                          </p:spTgt>
                                        </p:tgtEl>
                                        <p:attrNameLst>
                                          <p:attrName>style.visibility</p:attrName>
                                        </p:attrNameLst>
                                      </p:cBhvr>
                                      <p:to>
                                        <p:strVal val="visible"/>
                                      </p:to>
                                    </p:set>
                                    <p:animEffect transition="in" filter="fade">
                                      <p:cBhvr>
                                        <p:cTn id="42" dur="500"/>
                                        <p:tgtEl>
                                          <p:spTgt spid="7">
                                            <p:txEl>
                                              <p:pRg st="8" end="8"/>
                                            </p:txEl>
                                          </p:spTgt>
                                        </p:tgtEl>
                                      </p:cBhvr>
                                    </p:animEffect>
                                  </p:childTnLst>
                                </p:cTn>
                              </p:par>
                            </p:childTnLst>
                          </p:cTn>
                        </p:par>
                        <p:par>
                          <p:cTn id="43" fill="hold">
                            <p:stCondLst>
                              <p:cond delay="1500"/>
                            </p:stCondLst>
                            <p:childTnLst>
                              <p:par>
                                <p:cTn id="44" presetID="10" presetClass="entr" presetSubtype="0" fill="hold" nodeType="afterEffect">
                                  <p:stCondLst>
                                    <p:cond delay="500"/>
                                  </p:stCondLst>
                                  <p:childTnLst>
                                    <p:set>
                                      <p:cBhvr>
                                        <p:cTn id="45" dur="1" fill="hold">
                                          <p:stCondLst>
                                            <p:cond delay="0"/>
                                          </p:stCondLst>
                                        </p:cTn>
                                        <p:tgtEl>
                                          <p:spTgt spid="7">
                                            <p:txEl>
                                              <p:pRg st="9" end="9"/>
                                            </p:txEl>
                                          </p:spTgt>
                                        </p:tgtEl>
                                        <p:attrNameLst>
                                          <p:attrName>style.visibility</p:attrName>
                                        </p:attrNameLst>
                                      </p:cBhvr>
                                      <p:to>
                                        <p:strVal val="visible"/>
                                      </p:to>
                                    </p:set>
                                    <p:animEffect transition="in" filter="fade">
                                      <p:cBhvr>
                                        <p:cTn id="46"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85515" y="4839428"/>
            <a:ext cx="133685" cy="315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3465188523"/>
                  </p:ext>
                </p:extLst>
              </p:nvPr>
            </p:nvGraphicFramePr>
            <p:xfrm>
              <a:off x="424693" y="1631152"/>
              <a:ext cx="8275963" cy="3182479"/>
            </p:xfrm>
            <a:graphic>
              <a:graphicData uri="http://schemas.openxmlformats.org/drawingml/2006/table">
                <a:tbl>
                  <a:tblPr firstRow="1" bandRow="1">
                    <a:tableStyleId>{5C22544A-7EE6-4342-B048-85BDC9FD1C3A}</a:tableStyleId>
                  </a:tblPr>
                  <a:tblGrid>
                    <a:gridCol w="654936">
                      <a:extLst>
                        <a:ext uri="{9D8B030D-6E8A-4147-A177-3AD203B41FA5}">
                          <a16:colId xmlns:a16="http://schemas.microsoft.com/office/drawing/2014/main" val="20000"/>
                        </a:ext>
                      </a:extLst>
                    </a:gridCol>
                    <a:gridCol w="1556064">
                      <a:extLst>
                        <a:ext uri="{9D8B030D-6E8A-4147-A177-3AD203B41FA5}">
                          <a16:colId xmlns:a16="http://schemas.microsoft.com/office/drawing/2014/main" val="20001"/>
                        </a:ext>
                      </a:extLst>
                    </a:gridCol>
                    <a:gridCol w="6064963">
                      <a:extLst>
                        <a:ext uri="{9D8B030D-6E8A-4147-A177-3AD203B41FA5}">
                          <a16:colId xmlns:a16="http://schemas.microsoft.com/office/drawing/2014/main" val="20002"/>
                        </a:ext>
                      </a:extLst>
                    </a:gridCol>
                  </a:tblGrid>
                  <a:tr h="447030">
                    <a:tc>
                      <a:txBody>
                        <a:bodyPr/>
                        <a:lstStyle/>
                        <a:p>
                          <a:pPr algn="ctr"/>
                          <a:endParaRPr lang="zh-CN" altLang="en-US" sz="2600" b="0" dirty="0">
                            <a:latin typeface="黑体" panose="02010600040101010101" pitchFamily="49" charset="-122"/>
                            <a:ea typeface="黑体" panose="02010600040101010101" pitchFamily="49" charset="-122"/>
                          </a:endParaRPr>
                        </a:p>
                      </a:txBody>
                      <a:tcPr marT="60960" marB="60960"/>
                    </a:tc>
                    <a:tc>
                      <a:txBody>
                        <a:bodyPr/>
                        <a:lstStyle/>
                        <a:p>
                          <a:pPr algn="ctr"/>
                          <a:r>
                            <a:rPr lang="zh-CN" altLang="en-US" sz="2600" b="0" dirty="0">
                              <a:latin typeface="黑体" panose="02010600040101010101" pitchFamily="49" charset="-122"/>
                              <a:ea typeface="黑体" panose="02010600040101010101" pitchFamily="49" charset="-122"/>
                            </a:rPr>
                            <a:t>采取策略</a:t>
                          </a:r>
                        </a:p>
                      </a:txBody>
                      <a:tcPr marT="60960" marB="60960"/>
                    </a:tc>
                    <a:tc>
                      <a:txBody>
                        <a:bodyPr/>
                        <a:lstStyle/>
                        <a:p>
                          <a:pPr algn="ctr"/>
                          <a:r>
                            <a:rPr lang="zh-CN" altLang="en-US" sz="2600" b="0" dirty="0">
                              <a:latin typeface="黑体" panose="02010600040101010101" pitchFamily="49" charset="-122"/>
                              <a:ea typeface="黑体" panose="02010600040101010101" pitchFamily="49" charset="-122"/>
                            </a:rPr>
                            <a:t>收益</a:t>
                          </a:r>
                        </a:p>
                      </a:txBody>
                      <a:tcPr marT="60960" marB="60960"/>
                    </a:tc>
                    <a:extLst>
                      <a:ext uri="{0D108BD9-81ED-4DB2-BD59-A6C34878D82A}">
                        <a16:rowId xmlns:a16="http://schemas.microsoft.com/office/drawing/2014/main" val="10000"/>
                      </a:ext>
                    </a:extLst>
                  </a:tr>
                  <a:tr h="236409">
                    <a:tc rowSpan="2">
                      <a:txBody>
                        <a:bodyPr/>
                        <a:lstStyle/>
                        <a:p>
                          <a:pPr algn="ctr">
                            <a:lnSpc>
                              <a:spcPct val="150000"/>
                            </a:lnSpc>
                          </a:pPr>
                          <a:r>
                            <a:rPr lang="zh-CN" altLang="en-US" sz="2600" dirty="0">
                              <a:latin typeface="黑体" panose="02010600040101010101" pitchFamily="49" charset="-122"/>
                              <a:ea typeface="黑体" panose="02010600040101010101" pitchFamily="49" charset="-122"/>
                            </a:rPr>
                            <a:t>雇主</a:t>
                          </a:r>
                        </a:p>
                      </a:txBody>
                      <a:tcPr marT="60960" marB="60960"/>
                    </a:tc>
                    <a:tc>
                      <a:txBody>
                        <a:bodyPr/>
                        <a:lstStyle/>
                        <a:p>
                          <a:pPr algn="ctr">
                            <a:lnSpc>
                              <a:spcPct val="150000"/>
                            </a:lnSpc>
                          </a:pPr>
                          <a:r>
                            <a:rPr lang="zh-CN" altLang="en-US" sz="2600" dirty="0">
                              <a:latin typeface="黑体" panose="02010600040101010101" pitchFamily="49" charset="-122"/>
                              <a:ea typeface="黑体" panose="02010600040101010101" pitchFamily="49" charset="-122"/>
                            </a:rPr>
                            <a:t>检查</a:t>
                          </a:r>
                        </a:p>
                      </a:txBody>
                      <a:tcPr marT="60960" marB="60960"/>
                    </a:tc>
                    <a:tc>
                      <a:txBody>
                        <a:bodyPr/>
                        <a:lstStyle/>
                        <a:p>
                          <a:pPr marL="0" marR="0" lvl="1" indent="0" algn="ctr" defTabSz="685800" rtl="0" eaLnBrk="1" fontAlgn="auto" latinLnBrk="0" hangingPunct="1">
                            <a:lnSpc>
                              <a:spcPct val="150000"/>
                            </a:lnSpc>
                            <a:spcBef>
                              <a:spcPts val="0"/>
                            </a:spcBef>
                            <a:spcAft>
                              <a:spcPts val="0"/>
                            </a:spcAft>
                            <a:buClrTx/>
                            <a:buSzTx/>
                            <a:buFontTx/>
                            <a:buNone/>
                            <a:defRPr/>
                          </a:pP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1</m:t>
                                  </m:r>
                                </m:sub>
                              </m:sSub>
                              <m:r>
                                <a:rPr lang="en-US" altLang="zh-CN" sz="2400" b="0" i="1">
                                  <a:latin typeface="Cambria Math" panose="02040503050406030204" pitchFamily="18" charset="0"/>
                                </a:rPr>
                                <m:t>=</m:t>
                              </m:r>
                              <m:r>
                                <a:rPr lang="zh-CN" altLang="en-US" sz="2400" b="0" i="1" smtClean="0">
                                  <a:latin typeface="Cambria Math" panose="02040503050406030204" pitchFamily="18" charset="0"/>
                                </a:rPr>
                                <m:t>𝛽</m:t>
                              </m:r>
                              <m:d>
                                <m:dPr>
                                  <m:ctrlPr>
                                    <a:rPr lang="en-US" altLang="zh-CN" sz="2400" i="1" smtClean="0">
                                      <a:latin typeface="Cambria Math" panose="02040503050406030204" pitchFamily="18" charset="0"/>
                                    </a:rPr>
                                  </m:ctrlPr>
                                </m:dPr>
                                <m:e>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𝐶</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𝐹</m:t>
                                  </m:r>
                                </m:e>
                              </m:d>
                              <m:r>
                                <a:rPr lang="en-US" altLang="zh-CN" sz="2400" b="0" i="1" smtClean="0">
                                  <a:latin typeface="Cambria Math" panose="02040503050406030204" pitchFamily="18" charset="0"/>
                                </a:rPr>
                                <m:t>+(1−</m:t>
                              </m:r>
                              <m:r>
                                <a:rPr lang="zh-CN" altLang="en-US" sz="2400" b="0" i="1" smtClean="0">
                                  <a:latin typeface="Cambria Math" panose="02040503050406030204" pitchFamily="18" charset="0"/>
                                </a:rPr>
                                <m:t>𝛽</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𝑉</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𝑊</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𝐶</m:t>
                              </m:r>
                              <m:r>
                                <a:rPr lang="en-US" altLang="zh-CN" sz="2400" b="0" i="1" smtClean="0">
                                  <a:latin typeface="Cambria Math" panose="02040503050406030204" pitchFamily="18" charset="0"/>
                                </a:rPr>
                                <m:t>)</m:t>
                              </m:r>
                            </m:oMath>
                          </a14:m>
                          <a:r>
                            <a:rPr lang="en-US" altLang="zh-CN" sz="2400" dirty="0">
                              <a:latin typeface="黑体" panose="02010600040101010101" pitchFamily="49" charset="-122"/>
                              <a:ea typeface="黑体" panose="02010600040101010101" pitchFamily="49" charset="-122"/>
                            </a:rPr>
                            <a:t> </a:t>
                          </a:r>
                        </a:p>
                      </a:txBody>
                      <a:tcPr marT="60960" marB="60960"/>
                    </a:tc>
                    <a:extLst>
                      <a:ext uri="{0D108BD9-81ED-4DB2-BD59-A6C34878D82A}">
                        <a16:rowId xmlns:a16="http://schemas.microsoft.com/office/drawing/2014/main" val="10001"/>
                      </a:ext>
                    </a:extLst>
                  </a:tr>
                  <a:tr h="680313">
                    <a:tc vMerge="1">
                      <a:txBody>
                        <a:bodyPr/>
                        <a:lstStyle/>
                        <a:p>
                          <a:endParaRPr lang="zh-CN"/>
                        </a:p>
                      </a:txBody>
                      <a:tcPr/>
                    </a:tc>
                    <a:tc>
                      <a:txBody>
                        <a:bodyPr/>
                        <a:lstStyle/>
                        <a:p>
                          <a:pPr algn="ctr">
                            <a:lnSpc>
                              <a:spcPct val="150000"/>
                            </a:lnSpc>
                          </a:pPr>
                          <a:r>
                            <a:rPr lang="zh-CN" altLang="en-US" sz="2600" dirty="0">
                              <a:latin typeface="黑体" panose="02010600040101010101" pitchFamily="49" charset="-122"/>
                              <a:ea typeface="黑体" panose="02010600040101010101" pitchFamily="49" charset="-122"/>
                            </a:rPr>
                            <a:t>不检查</a:t>
                          </a:r>
                        </a:p>
                      </a:txBody>
                      <a:tcPr marT="60960" marB="60960"/>
                    </a:tc>
                    <a:tc>
                      <a:txBody>
                        <a:bodyPr/>
                        <a:lstStyle/>
                        <a:p>
                          <a:pPr marL="0" marR="0" lvl="1" indent="0" algn="ctr" defTabSz="685800" rtl="0" eaLnBrk="1" fontAlgn="auto" latinLnBrk="0" hangingPunct="1">
                            <a:lnSpc>
                              <a:spcPct val="15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𝛽</m:t>
                                </m:r>
                                <m:r>
                                  <a:rPr lang="en-US" altLang="zh-CN" sz="2400" b="0" i="1" smtClean="0">
                                    <a:latin typeface="Cambria Math" panose="02040503050406030204" pitchFamily="18" charset="0"/>
                                  </a:rPr>
                                  <m:t>𝑊</m:t>
                                </m:r>
                                <m:r>
                                  <a:rPr lang="en-US" altLang="zh-CN" sz="2400" b="0" i="1" smtClean="0">
                                    <a:latin typeface="Cambria Math" panose="02040503050406030204" pitchFamily="18" charset="0"/>
                                  </a:rPr>
                                  <m:t>+(1−</m:t>
                                </m:r>
                                <m:r>
                                  <a:rPr lang="zh-CN" altLang="en-US" sz="2400" b="0" i="1" smtClean="0">
                                    <a:latin typeface="Cambria Math" panose="02040503050406030204" pitchFamily="18" charset="0"/>
                                  </a:rPr>
                                  <m:t>𝛽</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𝑉</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𝑊</m:t>
                                </m:r>
                                <m:r>
                                  <a:rPr lang="en-US" altLang="zh-CN" sz="2400" b="0" i="1" smtClean="0">
                                    <a:latin typeface="Cambria Math" panose="02040503050406030204" pitchFamily="18" charset="0"/>
                                  </a:rPr>
                                  <m:t>)</m:t>
                                </m:r>
                              </m:oMath>
                            </m:oMathPara>
                          </a14:m>
                          <a:endParaRPr lang="en-US" altLang="zh-CN" sz="2400" dirty="0">
                            <a:latin typeface="黑体" panose="02010600040101010101" pitchFamily="49" charset="-122"/>
                            <a:ea typeface="黑体" panose="02010600040101010101" pitchFamily="49" charset="-122"/>
                          </a:endParaRPr>
                        </a:p>
                      </a:txBody>
                      <a:tcPr marT="60960" marB="60960"/>
                    </a:tc>
                    <a:extLst>
                      <a:ext uri="{0D108BD9-81ED-4DB2-BD59-A6C34878D82A}">
                        <a16:rowId xmlns:a16="http://schemas.microsoft.com/office/drawing/2014/main" val="10002"/>
                      </a:ext>
                    </a:extLst>
                  </a:tr>
                  <a:tr h="680313">
                    <a:tc rowSpan="2">
                      <a:txBody>
                        <a:bodyPr/>
                        <a:lstStyle/>
                        <a:p>
                          <a:pPr algn="ctr">
                            <a:lnSpc>
                              <a:spcPct val="150000"/>
                            </a:lnSpc>
                          </a:pPr>
                          <a:r>
                            <a:rPr lang="zh-CN" altLang="en-US" sz="2600" dirty="0">
                              <a:latin typeface="黑体" panose="02010600040101010101" pitchFamily="49" charset="-122"/>
                              <a:ea typeface="黑体" panose="02010600040101010101" pitchFamily="49" charset="-122"/>
                            </a:rPr>
                            <a:t>雇员</a:t>
                          </a:r>
                        </a:p>
                      </a:txBody>
                      <a:tcPr marT="60960" marB="60960"/>
                    </a:tc>
                    <a:tc>
                      <a:txBody>
                        <a:bodyPr/>
                        <a:lstStyle/>
                        <a:p>
                          <a:pPr algn="ctr">
                            <a:lnSpc>
                              <a:spcPct val="150000"/>
                            </a:lnSpc>
                          </a:pPr>
                          <a:r>
                            <a:rPr lang="zh-CN" altLang="en-US" sz="2600" dirty="0">
                              <a:latin typeface="黑体" panose="02010600040101010101" pitchFamily="49" charset="-122"/>
                              <a:ea typeface="黑体" panose="02010600040101010101" pitchFamily="49" charset="-122"/>
                            </a:rPr>
                            <a:t>偷懒</a:t>
                          </a:r>
                        </a:p>
                      </a:txBody>
                      <a:tcPr marT="60960" marB="60960"/>
                    </a:tc>
                    <a:tc>
                      <a:txBody>
                        <a:bodyPr/>
                        <a:lstStyle/>
                        <a:p>
                          <a:pPr marL="0" marR="0" lvl="1" indent="0" algn="ctr" defTabSz="685800" rtl="0" eaLnBrk="1" fontAlgn="auto" latinLnBrk="0" hangingPunct="1">
                            <a:lnSpc>
                              <a:spcPct val="15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𝛼</m:t>
                                </m:r>
                                <m:r>
                                  <a:rPr lang="en-US" altLang="zh-CN" sz="2400" b="0" i="1" smtClean="0">
                                    <a:latin typeface="Cambria Math" panose="02040503050406030204" pitchFamily="18" charset="0"/>
                                  </a:rPr>
                                  <m:t>𝐹</m:t>
                                </m:r>
                                <m:r>
                                  <a:rPr lang="en-US" altLang="zh-CN" sz="2400" b="0" i="1" smtClean="0">
                                    <a:latin typeface="Cambria Math" panose="02040503050406030204" pitchFamily="18" charset="0"/>
                                  </a:rPr>
                                  <m:t>+</m:t>
                                </m:r>
                                <m:d>
                                  <m:dPr>
                                    <m:ctrlPr>
                                      <a:rPr lang="en-US" altLang="zh-CN" sz="2400" i="1" smtClean="0">
                                        <a:latin typeface="Cambria Math" panose="02040503050406030204" pitchFamily="18" charset="0"/>
                                      </a:rPr>
                                    </m:ctrlPr>
                                  </m:dPr>
                                  <m:e>
                                    <m:r>
                                      <a:rPr lang="en-US" altLang="zh-CN" sz="2400" b="0" i="1" smtClean="0">
                                        <a:latin typeface="Cambria Math" panose="02040503050406030204" pitchFamily="18" charset="0"/>
                                      </a:rPr>
                                      <m:t>1−</m:t>
                                    </m:r>
                                    <m:r>
                                      <a:rPr lang="zh-CN" altLang="en-US" sz="2400" b="0" i="1" smtClean="0">
                                        <a:latin typeface="Cambria Math" panose="02040503050406030204" pitchFamily="18" charset="0"/>
                                      </a:rPr>
                                      <m:t>𝛼</m:t>
                                    </m:r>
                                  </m:e>
                                </m:d>
                                <m:r>
                                  <a:rPr lang="en-US" altLang="zh-CN" sz="2400" b="0" i="1" smtClean="0">
                                    <a:latin typeface="Cambria Math" panose="02040503050406030204" pitchFamily="18" charset="0"/>
                                  </a:rPr>
                                  <m:t>𝑊</m:t>
                                </m:r>
                              </m:oMath>
                            </m:oMathPara>
                          </a14:m>
                          <a:endParaRPr lang="en-US" altLang="zh-CN" sz="2400" dirty="0">
                            <a:latin typeface="黑体" panose="02010600040101010101" pitchFamily="49" charset="-122"/>
                            <a:ea typeface="黑体" panose="02010600040101010101" pitchFamily="49" charset="-122"/>
                          </a:endParaRPr>
                        </a:p>
                      </a:txBody>
                      <a:tcPr marT="60960" marB="60960"/>
                    </a:tc>
                    <a:extLst>
                      <a:ext uri="{0D108BD9-81ED-4DB2-BD59-A6C34878D82A}">
                        <a16:rowId xmlns:a16="http://schemas.microsoft.com/office/drawing/2014/main" val="10003"/>
                      </a:ext>
                    </a:extLst>
                  </a:tr>
                  <a:tr h="680313">
                    <a:tc vMerge="1">
                      <a:txBody>
                        <a:bodyPr/>
                        <a:lstStyle/>
                        <a:p>
                          <a:endParaRPr lang="zh-CN"/>
                        </a:p>
                      </a:txBody>
                      <a:tcPr/>
                    </a:tc>
                    <a:tc>
                      <a:txBody>
                        <a:bodyPr/>
                        <a:lstStyle/>
                        <a:p>
                          <a:pPr algn="ctr">
                            <a:lnSpc>
                              <a:spcPct val="150000"/>
                            </a:lnSpc>
                          </a:pPr>
                          <a:r>
                            <a:rPr lang="zh-CN" altLang="en-US" sz="2600" dirty="0">
                              <a:latin typeface="黑体" panose="02010600040101010101" pitchFamily="49" charset="-122"/>
                              <a:ea typeface="黑体" panose="02010600040101010101" pitchFamily="49" charset="-122"/>
                            </a:rPr>
                            <a:t>不偷懒</a:t>
                          </a:r>
                        </a:p>
                      </a:txBody>
                      <a:tcPr marT="60960" marB="60960"/>
                    </a:tc>
                    <a:tc>
                      <a:txBody>
                        <a:bodyPr/>
                        <a:lstStyle/>
                        <a:p>
                          <a:pPr algn="ctr">
                            <a:lnSpc>
                              <a:spcPct val="150000"/>
                            </a:lnSpc>
                          </a:pP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𝑊</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𝐻</m:t>
                                  </m:r>
                                </m:e>
                              </m:d>
                              <m:r>
                                <a:rPr lang="en-US" altLang="zh-CN" sz="2400" b="0" i="1" smtClean="0">
                                  <a:latin typeface="Cambria Math"/>
                                </a:rPr>
                                <m:t>+(1−</m:t>
                              </m:r>
                              <m:r>
                                <a:rPr lang="zh-CN" altLang="en-US" sz="2400" i="1">
                                  <a:latin typeface="Cambria Math" panose="02040503050406030204" pitchFamily="18" charset="0"/>
                                </a:rPr>
                                <m:t>𝛼</m:t>
                              </m:r>
                              <m:r>
                                <a:rPr lang="en-US" altLang="zh-CN" sz="2400" b="0" i="1" smtClean="0">
                                  <a:latin typeface="Cambria Math"/>
                                </a:rPr>
                                <m:t>)</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𝑊</m:t>
                                  </m:r>
                                  <m:r>
                                    <a:rPr lang="en-US" altLang="zh-CN" sz="2400" i="1">
                                      <a:latin typeface="Cambria Math" panose="02040503050406030204" pitchFamily="18" charset="0"/>
                                    </a:rPr>
                                    <m:t>−</m:t>
                                  </m:r>
                                  <m:r>
                                    <a:rPr lang="en-US" altLang="zh-CN" sz="2400" i="1">
                                      <a:latin typeface="Cambria Math" panose="02040503050406030204" pitchFamily="18" charset="0"/>
                                    </a:rPr>
                                    <m:t>𝐻</m:t>
                                  </m:r>
                                </m:e>
                              </m:d>
                            </m:oMath>
                          </a14:m>
                          <a:r>
                            <a:rPr lang="en-US" altLang="zh-CN" sz="2400" dirty="0">
                              <a:latin typeface="黑体" panose="02010600040101010101" pitchFamily="49" charset="-122"/>
                              <a:ea typeface="黑体" panose="02010600040101010101" pitchFamily="49" charset="-122"/>
                            </a:rPr>
                            <a:t>=</a:t>
                          </a:r>
                          <a14:m>
                            <m:oMath xmlns:m="http://schemas.openxmlformats.org/officeDocument/2006/math">
                              <m:d>
                                <m:dPr>
                                  <m:ctrlPr>
                                    <a:rPr lang="en-US" altLang="zh-CN" sz="2400" i="1">
                                      <a:latin typeface="Cambria Math" panose="02040503050406030204" pitchFamily="18" charset="0"/>
                                    </a:rPr>
                                  </m:ctrlPr>
                                </m:dPr>
                                <m:e>
                                  <m:r>
                                    <a:rPr lang="en-US" altLang="zh-CN" sz="2400" i="1">
                                      <a:latin typeface="Cambria Math" panose="02040503050406030204" pitchFamily="18" charset="0"/>
                                    </a:rPr>
                                    <m:t>𝑊</m:t>
                                  </m:r>
                                  <m:r>
                                    <a:rPr lang="en-US" altLang="zh-CN" sz="2400" i="1">
                                      <a:latin typeface="Cambria Math" panose="02040503050406030204" pitchFamily="18" charset="0"/>
                                    </a:rPr>
                                    <m:t>−</m:t>
                                  </m:r>
                                  <m:r>
                                    <a:rPr lang="en-US" altLang="zh-CN" sz="2400" i="1">
                                      <a:latin typeface="Cambria Math" panose="02040503050406030204" pitchFamily="18" charset="0"/>
                                    </a:rPr>
                                    <m:t>𝐻</m:t>
                                  </m:r>
                                </m:e>
                              </m:d>
                            </m:oMath>
                          </a14:m>
                          <a:endParaRPr lang="zh-CN" altLang="en-US" sz="2400" dirty="0">
                            <a:latin typeface="黑体" panose="02010600040101010101" pitchFamily="49" charset="-122"/>
                            <a:ea typeface="黑体" panose="02010600040101010101" pitchFamily="49" charset="-122"/>
                          </a:endParaRPr>
                        </a:p>
                      </a:txBody>
                      <a:tcPr marT="60960" marB="60960"/>
                    </a:tc>
                    <a:extLst>
                      <a:ext uri="{0D108BD9-81ED-4DB2-BD59-A6C34878D82A}">
                        <a16:rowId xmlns:a16="http://schemas.microsoft.com/office/drawing/2014/main" val="10004"/>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3465188523"/>
                  </p:ext>
                </p:extLst>
              </p:nvPr>
            </p:nvGraphicFramePr>
            <p:xfrm>
              <a:off x="424693" y="1631152"/>
              <a:ext cx="8275963" cy="3182479"/>
            </p:xfrm>
            <a:graphic>
              <a:graphicData uri="http://schemas.openxmlformats.org/drawingml/2006/table">
                <a:tbl>
                  <a:tblPr firstRow="1" bandRow="1">
                    <a:tableStyleId>{5C22544A-7EE6-4342-B048-85BDC9FD1C3A}</a:tableStyleId>
                  </a:tblPr>
                  <a:tblGrid>
                    <a:gridCol w="654936">
                      <a:extLst>
                        <a:ext uri="{9D8B030D-6E8A-4147-A177-3AD203B41FA5}">
                          <a16:colId xmlns:a16="http://schemas.microsoft.com/office/drawing/2014/main" val="20000"/>
                        </a:ext>
                      </a:extLst>
                    </a:gridCol>
                    <a:gridCol w="1556064">
                      <a:extLst>
                        <a:ext uri="{9D8B030D-6E8A-4147-A177-3AD203B41FA5}">
                          <a16:colId xmlns:a16="http://schemas.microsoft.com/office/drawing/2014/main" val="20001"/>
                        </a:ext>
                      </a:extLst>
                    </a:gridCol>
                    <a:gridCol w="6064963">
                      <a:extLst>
                        <a:ext uri="{9D8B030D-6E8A-4147-A177-3AD203B41FA5}">
                          <a16:colId xmlns:a16="http://schemas.microsoft.com/office/drawing/2014/main" val="20002"/>
                        </a:ext>
                      </a:extLst>
                    </a:gridCol>
                  </a:tblGrid>
                  <a:tr h="518160">
                    <a:tc>
                      <a:txBody>
                        <a:bodyPr/>
                        <a:lstStyle/>
                        <a:p>
                          <a:pPr algn="ctr"/>
                          <a:endParaRPr lang="zh-CN" altLang="en-US" sz="2600" b="0" dirty="0">
                            <a:latin typeface="黑体" panose="02010600040101010101" pitchFamily="49" charset="-122"/>
                            <a:ea typeface="黑体" panose="02010600040101010101" pitchFamily="49" charset="-122"/>
                          </a:endParaRPr>
                        </a:p>
                      </a:txBody>
                      <a:tcPr marT="60960" marB="60960"/>
                    </a:tc>
                    <a:tc>
                      <a:txBody>
                        <a:bodyPr/>
                        <a:lstStyle/>
                        <a:p>
                          <a:pPr algn="ctr"/>
                          <a:r>
                            <a:rPr lang="zh-CN" altLang="en-US" sz="2600" b="0" dirty="0">
                              <a:latin typeface="黑体" panose="02010600040101010101" pitchFamily="49" charset="-122"/>
                              <a:ea typeface="黑体" panose="02010600040101010101" pitchFamily="49" charset="-122"/>
                            </a:rPr>
                            <a:t>采取策略</a:t>
                          </a:r>
                        </a:p>
                      </a:txBody>
                      <a:tcPr marT="60960" marB="60960"/>
                    </a:tc>
                    <a:tc>
                      <a:txBody>
                        <a:bodyPr/>
                        <a:lstStyle/>
                        <a:p>
                          <a:pPr algn="ctr"/>
                          <a:r>
                            <a:rPr lang="zh-CN" altLang="en-US" sz="2600" b="0" dirty="0">
                              <a:latin typeface="黑体" panose="02010600040101010101" pitchFamily="49" charset="-122"/>
                              <a:ea typeface="黑体" panose="02010600040101010101" pitchFamily="49" charset="-122"/>
                            </a:rPr>
                            <a:t>收益</a:t>
                          </a:r>
                        </a:p>
                      </a:txBody>
                      <a:tcPr marT="60960" marB="60960"/>
                    </a:tc>
                    <a:extLst>
                      <a:ext uri="{0D108BD9-81ED-4DB2-BD59-A6C34878D82A}">
                        <a16:rowId xmlns:a16="http://schemas.microsoft.com/office/drawing/2014/main" val="10000"/>
                      </a:ext>
                    </a:extLst>
                  </a:tr>
                  <a:tr h="623380">
                    <a:tc rowSpan="2">
                      <a:txBody>
                        <a:bodyPr/>
                        <a:lstStyle/>
                        <a:p>
                          <a:pPr algn="ctr">
                            <a:lnSpc>
                              <a:spcPct val="150000"/>
                            </a:lnSpc>
                          </a:pPr>
                          <a:r>
                            <a:rPr lang="zh-CN" altLang="en-US" sz="2600" dirty="0">
                              <a:latin typeface="黑体" panose="02010600040101010101" pitchFamily="49" charset="-122"/>
                              <a:ea typeface="黑体" panose="02010600040101010101" pitchFamily="49" charset="-122"/>
                            </a:rPr>
                            <a:t>雇主</a:t>
                          </a:r>
                        </a:p>
                      </a:txBody>
                      <a:tcPr marT="60960" marB="60960"/>
                    </a:tc>
                    <a:tc>
                      <a:txBody>
                        <a:bodyPr/>
                        <a:lstStyle/>
                        <a:p>
                          <a:pPr algn="ctr">
                            <a:lnSpc>
                              <a:spcPct val="150000"/>
                            </a:lnSpc>
                          </a:pPr>
                          <a:r>
                            <a:rPr lang="zh-CN" altLang="en-US" sz="2600" dirty="0">
                              <a:latin typeface="黑体" panose="02010600040101010101" pitchFamily="49" charset="-122"/>
                              <a:ea typeface="黑体" panose="02010600040101010101" pitchFamily="49" charset="-122"/>
                            </a:rPr>
                            <a:t>检查</a:t>
                          </a:r>
                        </a:p>
                      </a:txBody>
                      <a:tcPr marT="60960" marB="60960"/>
                    </a:tc>
                    <a:tc>
                      <a:txBody>
                        <a:bodyPr/>
                        <a:lstStyle/>
                        <a:p>
                          <a:endParaRPr lang="zh-CN"/>
                        </a:p>
                      </a:txBody>
                      <a:tcPr marT="60960" marB="60960">
                        <a:blipFill>
                          <a:blip r:embed="rId3"/>
                          <a:stretch>
                            <a:fillRect l="-36546" t="-87379" r="-402" b="-338835"/>
                          </a:stretch>
                        </a:blipFill>
                      </a:tcPr>
                    </a:tc>
                    <a:extLst>
                      <a:ext uri="{0D108BD9-81ED-4DB2-BD59-A6C34878D82A}">
                        <a16:rowId xmlns:a16="http://schemas.microsoft.com/office/drawing/2014/main" val="10001"/>
                      </a:ext>
                    </a:extLst>
                  </a:tr>
                  <a:tr h="680313">
                    <a:tc vMerge="1">
                      <a:txBody>
                        <a:bodyPr/>
                        <a:lstStyle/>
                        <a:p>
                          <a:endParaRPr lang="zh-CN"/>
                        </a:p>
                      </a:txBody>
                      <a:tcPr/>
                    </a:tc>
                    <a:tc>
                      <a:txBody>
                        <a:bodyPr/>
                        <a:lstStyle/>
                        <a:p>
                          <a:pPr algn="ctr">
                            <a:lnSpc>
                              <a:spcPct val="150000"/>
                            </a:lnSpc>
                          </a:pPr>
                          <a:r>
                            <a:rPr lang="zh-CN" altLang="en-US" sz="2600" dirty="0">
                              <a:latin typeface="黑体" panose="02010600040101010101" pitchFamily="49" charset="-122"/>
                              <a:ea typeface="黑体" panose="02010600040101010101" pitchFamily="49" charset="-122"/>
                            </a:rPr>
                            <a:t>不检查</a:t>
                          </a:r>
                        </a:p>
                      </a:txBody>
                      <a:tcPr marT="60960" marB="60960"/>
                    </a:tc>
                    <a:tc>
                      <a:txBody>
                        <a:bodyPr/>
                        <a:lstStyle/>
                        <a:p>
                          <a:endParaRPr lang="zh-CN"/>
                        </a:p>
                      </a:txBody>
                      <a:tcPr marT="60960" marB="60960">
                        <a:blipFill>
                          <a:blip r:embed="rId3"/>
                          <a:stretch>
                            <a:fillRect l="-36546" t="-173874" r="-402" b="-214414"/>
                          </a:stretch>
                        </a:blipFill>
                      </a:tcPr>
                    </a:tc>
                    <a:extLst>
                      <a:ext uri="{0D108BD9-81ED-4DB2-BD59-A6C34878D82A}">
                        <a16:rowId xmlns:a16="http://schemas.microsoft.com/office/drawing/2014/main" val="10002"/>
                      </a:ext>
                    </a:extLst>
                  </a:tr>
                  <a:tr h="680313">
                    <a:tc rowSpan="2">
                      <a:txBody>
                        <a:bodyPr/>
                        <a:lstStyle/>
                        <a:p>
                          <a:pPr algn="ctr">
                            <a:lnSpc>
                              <a:spcPct val="150000"/>
                            </a:lnSpc>
                          </a:pPr>
                          <a:r>
                            <a:rPr lang="zh-CN" altLang="en-US" sz="2600" dirty="0">
                              <a:latin typeface="黑体" panose="02010600040101010101" pitchFamily="49" charset="-122"/>
                              <a:ea typeface="黑体" panose="02010600040101010101" pitchFamily="49" charset="-122"/>
                            </a:rPr>
                            <a:t>雇员</a:t>
                          </a:r>
                        </a:p>
                      </a:txBody>
                      <a:tcPr marT="60960" marB="60960"/>
                    </a:tc>
                    <a:tc>
                      <a:txBody>
                        <a:bodyPr/>
                        <a:lstStyle/>
                        <a:p>
                          <a:pPr algn="ctr">
                            <a:lnSpc>
                              <a:spcPct val="150000"/>
                            </a:lnSpc>
                          </a:pPr>
                          <a:r>
                            <a:rPr lang="zh-CN" altLang="en-US" sz="2600" dirty="0">
                              <a:latin typeface="黑体" panose="02010600040101010101" pitchFamily="49" charset="-122"/>
                              <a:ea typeface="黑体" panose="02010600040101010101" pitchFamily="49" charset="-122"/>
                            </a:rPr>
                            <a:t>偷懒</a:t>
                          </a:r>
                        </a:p>
                      </a:txBody>
                      <a:tcPr marT="60960" marB="60960"/>
                    </a:tc>
                    <a:tc>
                      <a:txBody>
                        <a:bodyPr/>
                        <a:lstStyle/>
                        <a:p>
                          <a:endParaRPr lang="zh-CN"/>
                        </a:p>
                      </a:txBody>
                      <a:tcPr marT="60960" marB="60960">
                        <a:blipFill>
                          <a:blip r:embed="rId3"/>
                          <a:stretch>
                            <a:fillRect l="-36546" t="-271429" r="-402" b="-112500"/>
                          </a:stretch>
                        </a:blipFill>
                      </a:tcPr>
                    </a:tc>
                    <a:extLst>
                      <a:ext uri="{0D108BD9-81ED-4DB2-BD59-A6C34878D82A}">
                        <a16:rowId xmlns:a16="http://schemas.microsoft.com/office/drawing/2014/main" val="10003"/>
                      </a:ext>
                    </a:extLst>
                  </a:tr>
                  <a:tr h="680313">
                    <a:tc vMerge="1">
                      <a:txBody>
                        <a:bodyPr/>
                        <a:lstStyle/>
                        <a:p>
                          <a:endParaRPr lang="zh-CN"/>
                        </a:p>
                      </a:txBody>
                      <a:tcPr/>
                    </a:tc>
                    <a:tc>
                      <a:txBody>
                        <a:bodyPr/>
                        <a:lstStyle/>
                        <a:p>
                          <a:pPr algn="ctr">
                            <a:lnSpc>
                              <a:spcPct val="150000"/>
                            </a:lnSpc>
                          </a:pPr>
                          <a:r>
                            <a:rPr lang="zh-CN" altLang="en-US" sz="2600" dirty="0">
                              <a:latin typeface="黑体" panose="02010600040101010101" pitchFamily="49" charset="-122"/>
                              <a:ea typeface="黑体" panose="02010600040101010101" pitchFamily="49" charset="-122"/>
                            </a:rPr>
                            <a:t>不偷懒</a:t>
                          </a:r>
                        </a:p>
                      </a:txBody>
                      <a:tcPr marT="60960" marB="60960"/>
                    </a:tc>
                    <a:tc>
                      <a:txBody>
                        <a:bodyPr/>
                        <a:lstStyle/>
                        <a:p>
                          <a:endParaRPr lang="zh-CN"/>
                        </a:p>
                      </a:txBody>
                      <a:tcPr marT="60960" marB="60960">
                        <a:blipFill>
                          <a:blip r:embed="rId3"/>
                          <a:stretch>
                            <a:fillRect l="-36546" t="-371429" r="-402" b="-12500"/>
                          </a:stretch>
                        </a:blip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4" name="矩形 3"/>
              <p:cNvSpPr/>
              <p:nvPr/>
            </p:nvSpPr>
            <p:spPr>
              <a:xfrm>
                <a:off x="318655" y="1041328"/>
                <a:ext cx="7139360" cy="523220"/>
              </a:xfrm>
              <a:prstGeom prst="rect">
                <a:avLst/>
              </a:prstGeom>
            </p:spPr>
            <p:txBody>
              <a:bodyPr wrap="square">
                <a:spAutoFit/>
              </a:bodyPr>
              <a:lstStyle/>
              <a:p>
                <a:pPr marR="0" lvl="1" indent="-457200"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若雇主检查的概率为</a:t>
                </a:r>
                <a14:m>
                  <m:oMath xmlns:m="http://schemas.openxmlformats.org/officeDocument/2006/math">
                    <m:r>
                      <a:rPr kumimoji="0" lang="zh-CN" alt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𝛼</m:t>
                    </m:r>
                  </m:oMath>
                </a14:m>
                <a:r>
                  <a:rPr kumimoji="0" lang="zh-CN" altLang="en-US" sz="28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，雇员偷懒的概率为</a:t>
                </a:r>
                <a14:m>
                  <m:oMath xmlns:m="http://schemas.openxmlformats.org/officeDocument/2006/math">
                    <m:r>
                      <a:rPr kumimoji="0" lang="zh-CN" alt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𝛽</m:t>
                    </m:r>
                  </m:oMath>
                </a14:m>
                <a:endParaRPr kumimoji="0" lang="en-US" altLang="zh-CN" sz="28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endParaRPr>
              </a:p>
            </p:txBody>
          </p:sp>
        </mc:Choice>
        <mc:Fallback xmlns="">
          <p:sp>
            <p:nvSpPr>
              <p:cNvPr id="4" name="矩形 3"/>
              <p:cNvSpPr>
                <a:spLocks noRot="1" noChangeAspect="1" noMove="1" noResize="1" noEditPoints="1" noAdjustHandles="1" noChangeArrowheads="1" noChangeShapeType="1" noTextEdit="1"/>
              </p:cNvSpPr>
              <p:nvPr/>
            </p:nvSpPr>
            <p:spPr>
              <a:xfrm>
                <a:off x="318655" y="1041328"/>
                <a:ext cx="7139360" cy="523220"/>
              </a:xfrm>
              <a:prstGeom prst="rect">
                <a:avLst/>
              </a:prstGeom>
              <a:blipFill>
                <a:blip r:embed="rId4"/>
                <a:stretch>
                  <a:fillRect l="-1708" t="-15116" b="-29070"/>
                </a:stretch>
              </a:blipFill>
            </p:spPr>
            <p:txBody>
              <a:bodyPr/>
              <a:lstStyle/>
              <a:p>
                <a:r>
                  <a:rPr lang="zh-CN" altLang="en-US">
                    <a:noFill/>
                  </a:rPr>
                  <a:t> </a:t>
                </a:r>
              </a:p>
            </p:txBody>
          </p:sp>
        </mc:Fallback>
      </mc:AlternateContent>
      <p:sp>
        <p:nvSpPr>
          <p:cNvPr id="12" name="标题 1">
            <a:extLst>
              <a:ext uri="{FF2B5EF4-FFF2-40B4-BE49-F238E27FC236}">
                <a16:creationId xmlns:a16="http://schemas.microsoft.com/office/drawing/2014/main" id="{38DECD98-FAE2-E58D-C145-9BD8F49E9059}"/>
              </a:ext>
            </a:extLst>
          </p:cNvPr>
          <p:cNvSpPr txBox="1">
            <a:spLocks/>
          </p:cNvSpPr>
          <p:nvPr/>
        </p:nvSpPr>
        <p:spPr>
          <a:xfrm>
            <a:off x="0" y="4763"/>
            <a:ext cx="9144000" cy="817562"/>
          </a:xfrm>
          <a:prstGeom prst="rect">
            <a:avLst/>
          </a:prstGeom>
        </p:spPr>
        <p:txBody>
          <a:bodyPr vert="horz" lIns="91440" tIns="144000" rIns="91440" bIns="45720" rtlCol="0" anchor="ctr">
            <a:norm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混合策略下纳什均衡的例子</a:t>
            </a:r>
            <a:endPar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endParaRPr>
          </a:p>
        </p:txBody>
      </p:sp>
      <p:sp>
        <p:nvSpPr>
          <p:cNvPr id="13" name="矩形 12">
            <a:extLst>
              <a:ext uri="{FF2B5EF4-FFF2-40B4-BE49-F238E27FC236}">
                <a16:creationId xmlns:a16="http://schemas.microsoft.com/office/drawing/2014/main" id="{B8A3BAF9-8641-96D9-4713-4D0D84E0E402}"/>
              </a:ext>
            </a:extLst>
          </p:cNvPr>
          <p:cNvSpPr/>
          <p:nvPr/>
        </p:nvSpPr>
        <p:spPr>
          <a:xfrm>
            <a:off x="424693" y="4885870"/>
            <a:ext cx="8331380" cy="1481111"/>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黑体" panose="02010600040101010101" pitchFamily="49" charset="-122"/>
                <a:cs typeface="Times New Roman" panose="02020503050405090304" pitchFamily="18" charset="0"/>
              </a:rPr>
              <a:t>混合策略纳什均衡：</a:t>
            </a: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博弈过程中，博弈方通过概率形式随机从可选策略中选择一个策略而达到的纳什均衡被称为混合策略纳什均衡。</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内容占位符 4"/>
              <p:cNvSpPr txBox="1"/>
              <p:nvPr/>
            </p:nvSpPr>
            <p:spPr>
              <a:xfrm>
                <a:off x="325583" y="1034230"/>
                <a:ext cx="8451272" cy="4653062"/>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269875" marR="0" lvl="0" indent="-269875" algn="l"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纳什均衡：其他参与者策略不变的情况下，某个参与者单独采取其他策略都不会使收益增加</a:t>
                </a:r>
                <a14:m>
                  <m:oMath xmlns:m="http://schemas.openxmlformats.org/officeDocument/2006/math">
                    <m:r>
                      <a:rPr kumimoji="0" lang="zh-CN" altLang="en-US" sz="2600" b="0" i="1" u="none" strike="noStrike" kern="1200" cap="none" spc="0" normalizeH="0" baseline="0" noProof="0" smtClean="0">
                        <a:ln>
                          <a:noFill/>
                        </a:ln>
                        <a:solidFill>
                          <a:prstClr val="black"/>
                        </a:solidFill>
                        <a:effectLst/>
                        <a:uLnTx/>
                        <a:uFillTx/>
                        <a:latin typeface="Cambria Math" panose="02040503050406030204" pitchFamily="18" charset="0"/>
                      </a:rPr>
                      <m:t>⇔</m:t>
                    </m:r>
                  </m:oMath>
                </a14:m>
                <a:r>
                  <a:rPr kumimoji="0" lang="zh-CN" altLang="en-US" sz="2600" b="0" i="0" u="none" strike="noStrike" kern="1200" cap="none" spc="0" normalizeH="0" baseline="0" noProof="0" dirty="0">
                    <a:ln>
                      <a:noFill/>
                    </a:ln>
                    <a:solidFill>
                      <a:srgbClr val="C00000"/>
                    </a:solidFill>
                    <a:effectLst/>
                    <a:uLnTx/>
                    <a:uFillTx/>
                    <a:latin typeface="Times New Roman" panose="02020503050405090304" pitchFamily="18" charset="0"/>
                    <a:ea typeface="黑体" panose="02010600040101010101" pitchFamily="49" charset="-122"/>
                    <a:cs typeface="Times New Roman" panose="02020503050405090304" pitchFamily="18" charset="0"/>
                  </a:rPr>
                  <a:t>无论雇主是否检查，雇员收益相同；无论雇员是否偷懒，雇主收益相同</a:t>
                </a:r>
                <a:endParaRPr kumimoji="0" lang="en-US" altLang="zh-CN" sz="2600" b="0" i="0" u="none" strike="noStrike" kern="1200" cap="none" spc="0" normalizeH="0" baseline="0" noProof="0" dirty="0">
                  <a:ln>
                    <a:noFill/>
                  </a:ln>
                  <a:solidFill>
                    <a:srgbClr val="C00000"/>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630238" marR="0" lvl="1" indent="-287338" algn="l"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于是有</a:t>
                </a:r>
                <a14:m>
                  <m:oMath xmlns:m="http://schemas.openxmlformats.org/officeDocument/2006/math">
                    <m:sSub>
                      <m:sSubPr>
                        <m:ctrlP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t>𝑇</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t>1</m:t>
                        </m:r>
                      </m:sub>
                    </m:s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t>=</m:t>
                    </m:r>
                    <m:sSub>
                      <m:sSubPr>
                        <m:ctrlP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t>𝑇</m:t>
                        </m:r>
                      </m:e>
                      <m:sub>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t>2</m:t>
                        </m:r>
                      </m:sub>
                    </m:sSub>
                  </m:oMath>
                </a14:m>
                <a:r>
                  <a:rPr kumimoji="0" lang="en-US" altLang="zh-CN"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 </a:t>
                </a:r>
                <a:r>
                  <a:rPr kumimoji="0" lang="zh-CN" altLang="en-US"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以及</a:t>
                </a:r>
                <a14:m>
                  <m:oMath xmlns:m="http://schemas.openxmlformats.org/officeDocument/2006/math">
                    <m:sSub>
                      <m:sSubPr>
                        <m:ctrlP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𝑇</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3</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m:t>
                    </m:r>
                    <m:sSub>
                      <m:sSubPr>
                        <m:ctrlP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𝑇</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4</m:t>
                        </m:r>
                      </m:sub>
                    </m:sSub>
                  </m:oMath>
                </a14:m>
                <a:endParaRPr kumimoji="0" lang="en-US" altLang="zh-CN"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630238" marR="0" lvl="1" indent="-287338" algn="l"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纳什均衡下，由于</a:t>
                </a:r>
                <a14:m>
                  <m:oMath xmlns:m="http://schemas.openxmlformats.org/officeDocument/2006/math">
                    <m:sSub>
                      <m:sSubPr>
                        <m:ctrlP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𝑇</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3</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m:t>
                    </m:r>
                    <m:sSub>
                      <m:sSubPr>
                        <m:ctrlP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𝑇</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4</m:t>
                        </m:r>
                      </m:sub>
                    </m:sSub>
                  </m:oMath>
                </a14:m>
                <a:r>
                  <a:rPr kumimoji="0" lang="zh-CN" altLang="en-US"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，可知雇主采取检查策略的概率（雇主趋向于用这个概率去检查）：</a:t>
                </a:r>
                <a14:m>
                  <m:oMath xmlns:m="http://schemas.openxmlformats.org/officeDocument/2006/math">
                    <m:r>
                      <a:rPr kumimoji="0" lang="zh-CN" altLang="en-US" sz="2600" b="0" i="1" u="none" strike="noStrike" kern="1200" cap="none" spc="0" normalizeH="0" baseline="0" noProof="0" smtClean="0">
                        <a:ln>
                          <a:noFill/>
                        </a:ln>
                        <a:solidFill>
                          <a:prstClr val="black"/>
                        </a:solidFill>
                        <a:effectLst/>
                        <a:uLnTx/>
                        <a:uFillTx/>
                        <a:latin typeface="Cambria Math" panose="02040503050406030204" pitchFamily="18" charset="0"/>
                      </a:rPr>
                      <m:t>𝛼</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ctrlPr>
                      </m:fPr>
                      <m:num>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t>𝐻</m:t>
                        </m:r>
                      </m:num>
                      <m:den>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t>𝑊</m:t>
                        </m:r>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t>𝐹</m:t>
                        </m:r>
                      </m:den>
                    </m:f>
                  </m:oMath>
                </a14:m>
                <a:endParaRPr kumimoji="0" lang="en-US" altLang="zh-CN"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630238" marR="0" lvl="1" indent="-287338"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纳什均衡下，由于</a:t>
                </a:r>
                <a14:m>
                  <m:oMath xmlns:m="http://schemas.openxmlformats.org/officeDocument/2006/math">
                    <m:sSub>
                      <m:sSubPr>
                        <m:ctrlP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𝑇</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1</m:t>
                        </m:r>
                      </m:sub>
                    </m:s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m:t>
                    </m:r>
                    <m:sSub>
                      <m:sSubPr>
                        <m:ctrlP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𝑇</m:t>
                        </m:r>
                      </m:e>
                      <m:sub>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2</m:t>
                        </m:r>
                      </m:sub>
                    </m:sSub>
                  </m:oMath>
                </a14:m>
                <a:r>
                  <a:rPr kumimoji="0" lang="zh-CN" altLang="en-US"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，可知雇员采取偷懒策略的概率（雇员趋向于用这个概率去偷懒）：</a:t>
                </a:r>
                <a14:m>
                  <m:oMath xmlns:m="http://schemas.openxmlformats.org/officeDocument/2006/math">
                    <m:r>
                      <a:rPr kumimoji="0" lang="zh-CN" altLang="en-US" sz="2600" b="0" i="1" u="none" strike="noStrike" kern="1200" cap="none" spc="0" normalizeH="0" baseline="0" noProof="0" smtClean="0">
                        <a:ln>
                          <a:noFill/>
                        </a:ln>
                        <a:solidFill>
                          <a:prstClr val="black"/>
                        </a:solidFill>
                        <a:effectLst/>
                        <a:uLnTx/>
                        <a:uFillTx/>
                        <a:latin typeface="Cambria Math" panose="02040503050406030204" pitchFamily="18" charset="0"/>
                      </a:rPr>
                      <m:t>𝛽</m:t>
                    </m:r>
                    <m:r>
                      <a:rPr kumimoji="0" lang="en-US" altLang="zh-CN" sz="2600" b="0" i="1"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ctrlPr>
                      </m:fPr>
                      <m:num>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t>𝐶</m:t>
                        </m:r>
                      </m:num>
                      <m:den>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t>𝑊</m:t>
                        </m:r>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2600" b="0" i="1" u="none" strike="noStrike" kern="1200" cap="none" spc="0" normalizeH="0" baseline="0" noProof="0" smtClean="0">
                            <a:ln>
                              <a:noFill/>
                            </a:ln>
                            <a:solidFill>
                              <a:prstClr val="black"/>
                            </a:solidFill>
                            <a:effectLst/>
                            <a:uLnTx/>
                            <a:uFillTx/>
                            <a:latin typeface="Cambria Math" panose="02040503050406030204" pitchFamily="18" charset="0"/>
                          </a:rPr>
                          <m:t>𝐹</m:t>
                        </m:r>
                      </m:den>
                    </m:f>
                  </m:oMath>
                </a14:m>
                <a:endParaRPr kumimoji="0" lang="en-US" altLang="zh-CN" sz="26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p:txBody>
          </p:sp>
        </mc:Choice>
        <mc:Fallback xmlns="">
          <p:sp>
            <p:nvSpPr>
              <p:cNvPr id="7" name="内容占位符 4"/>
              <p:cNvSpPr txBox="1">
                <a:spLocks noRot="1" noChangeAspect="1" noMove="1" noResize="1" noEditPoints="1" noAdjustHandles="1" noChangeArrowheads="1" noChangeShapeType="1" noTextEdit="1"/>
              </p:cNvSpPr>
              <p:nvPr/>
            </p:nvSpPr>
            <p:spPr>
              <a:xfrm>
                <a:off x="325583" y="1034230"/>
                <a:ext cx="8451272" cy="4653062"/>
              </a:xfrm>
              <a:prstGeom prst="rect">
                <a:avLst/>
              </a:prstGeom>
              <a:blipFill>
                <a:blip r:embed="rId3"/>
                <a:stretch>
                  <a:fillRect l="-1081" t="-262" r="-1226"/>
                </a:stretch>
              </a:blipFill>
            </p:spPr>
            <p:txBody>
              <a:bodyPr/>
              <a:lstStyle/>
              <a:p>
                <a:r>
                  <a:rPr lang="zh-CN" altLang="en-US">
                    <a:noFill/>
                  </a:rPr>
                  <a:t> </a:t>
                </a:r>
              </a:p>
            </p:txBody>
          </p:sp>
        </mc:Fallback>
      </mc:AlternateContent>
      <p:sp>
        <p:nvSpPr>
          <p:cNvPr id="11" name="标题 1">
            <a:extLst>
              <a:ext uri="{FF2B5EF4-FFF2-40B4-BE49-F238E27FC236}">
                <a16:creationId xmlns:a16="http://schemas.microsoft.com/office/drawing/2014/main" id="{CCD90B0E-2059-C675-13B5-7A3D9C3451EA}"/>
              </a:ext>
            </a:extLst>
          </p:cNvPr>
          <p:cNvSpPr txBox="1">
            <a:spLocks/>
          </p:cNvSpPr>
          <p:nvPr/>
        </p:nvSpPr>
        <p:spPr>
          <a:xfrm>
            <a:off x="0" y="4763"/>
            <a:ext cx="9144000" cy="817562"/>
          </a:xfrm>
          <a:prstGeom prst="rect">
            <a:avLst/>
          </a:prstGeom>
        </p:spPr>
        <p:txBody>
          <a:bodyPr vert="horz" lIns="91440" tIns="144000" rIns="91440" bIns="45720" rtlCol="0" anchor="ctr">
            <a:norm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混合策略下纳什均衡的例子</a:t>
            </a:r>
            <a:endPar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75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内容占位符 4"/>
              <p:cNvSpPr txBox="1"/>
              <p:nvPr/>
            </p:nvSpPr>
            <p:spPr>
              <a:xfrm>
                <a:off x="325583" y="1034230"/>
                <a:ext cx="8451272" cy="2713426"/>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360363" marR="0" lvl="0" indent="-360363"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在检查概率为</a:t>
                </a:r>
                <a14:m>
                  <m:oMath xmlns:m="http://schemas.openxmlformats.org/officeDocument/2006/math">
                    <m:r>
                      <a:rPr kumimoji="0" lang="zh-CN" altLang="en-US" sz="2800" b="0" i="1" u="none" strike="noStrike" kern="1200" cap="none" spc="0" normalizeH="0" baseline="0" noProof="0">
                        <a:ln>
                          <a:noFill/>
                        </a:ln>
                        <a:solidFill>
                          <a:prstClr val="black"/>
                        </a:solidFill>
                        <a:effectLst/>
                        <a:uLnTx/>
                        <a:uFillTx/>
                        <a:latin typeface="Cambria Math" panose="02040503050406030204" pitchFamily="18" charset="0"/>
                      </a:rPr>
                      <m:t>𝛼</m:t>
                    </m:r>
                  </m:oMath>
                </a14:m>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之下，雇主的收益：</a:t>
                </a:r>
                <a:endParaRPr kumimoji="0" lang="en-US" altLang="zh-CN"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0" marR="0" lvl="0" indent="0" algn="just" defTabSz="685800" rtl="0" eaLnBrk="1" fontAlgn="auto" latinLnBrk="0" hangingPunct="1">
                  <a:lnSpc>
                    <a:spcPct val="130000"/>
                  </a:lnSpc>
                  <a:spcBef>
                    <a:spcPts val="0"/>
                  </a:spcBef>
                  <a:spcAft>
                    <a:spcPts val="0"/>
                  </a:spcAft>
                  <a:buClrTx/>
                  <a:buSzTx/>
                  <a:buFont typeface="Arial" panose="020B0604020202090204" pitchFamily="34" charset="0"/>
                  <a:buNone/>
                  <a:tabLst/>
                  <a:defRPr/>
                </a:pPr>
                <a14:m>
                  <m:oMathPara xmlns:m="http://schemas.openxmlformats.org/officeDocument/2006/math">
                    <m:oMathParaPr>
                      <m:jc m:val="centerGroup"/>
                    </m:oMathParaPr>
                    <m:oMath xmlns:m="http://schemas.openxmlformats.org/officeDocument/2006/math">
                      <m:sSub>
                        <m:sSubPr>
                          <m:ctrlP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𝑇</m:t>
                          </m:r>
                        </m:e>
                        <m:sub>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1</m:t>
                          </m:r>
                        </m:sub>
                      </m:sSub>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m:t>
                      </m:r>
                      <m:sSub>
                        <m:sSubPr>
                          <m:ctrlP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𝑇</m:t>
                          </m:r>
                        </m:e>
                        <m:sub>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2</m:t>
                          </m:r>
                        </m:sub>
                      </m:sSub>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𝑉</m:t>
                      </m:r>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𝑊</m:t>
                      </m:r>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m:t>
                      </m:r>
                      <m:f>
                        <m:fPr>
                          <m:ctrlP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ctrlPr>
                        </m:fPr>
                        <m:num>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𝐶𝑉</m:t>
                          </m:r>
                        </m:num>
                        <m:den>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𝑊</m:t>
                          </m:r>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𝐹</m:t>
                          </m:r>
                        </m:den>
                      </m:f>
                    </m:oMath>
                  </m:oMathPara>
                </a14:m>
                <a:endParaRPr kumimoji="0" lang="en-US" altLang="zh-CN"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720725" marR="0" lvl="1" indent="-377825"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对上式中</a:t>
                </a:r>
                <a14:m>
                  <m:oMath xmlns:m="http://schemas.openxmlformats.org/officeDocument/2006/math">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rPr>
                      <m:t>𝑊</m:t>
                    </m:r>
                  </m:oMath>
                </a14:m>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求导，则当</a:t>
                </a:r>
                <a14:m>
                  <m:oMath xmlns:m="http://schemas.openxmlformats.org/officeDocument/2006/math">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𝑊</m:t>
                    </m:r>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m:t>
                    </m:r>
                    <m:rad>
                      <m:radPr>
                        <m:degHide m:val="on"/>
                        <m:ctrlP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ctrlPr>
                      </m:radPr>
                      <m:deg/>
                      <m:e>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𝐶𝑉</m:t>
                        </m:r>
                      </m:e>
                    </m:rad>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𝐹</m:t>
                    </m:r>
                  </m:oMath>
                </a14:m>
                <a:r>
                  <a:rPr kumimoji="0" lang="zh-CN" altLang="en-US"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时，雇主的收益最大，其值为</a:t>
                </a:r>
                <a14:m>
                  <m:oMath xmlns:m="http://schemas.openxmlformats.org/officeDocument/2006/math">
                    <m:sSub>
                      <m:sSubPr>
                        <m:ctrlP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rPr>
                        </m:ctrlPr>
                      </m:sSubPr>
                      <m:e>
                        <m: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rPr>
                          <m:t>𝑇</m:t>
                        </m:r>
                      </m:e>
                      <m:sub>
                        <m: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rPr>
                          <m:t>𝑚𝑎𝑥</m:t>
                        </m:r>
                      </m:sub>
                    </m:sSub>
                    <m: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rPr>
                      <m:t>=</m:t>
                    </m:r>
                    <m: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rPr>
                      <m:t>𝑉</m:t>
                    </m:r>
                    <m: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rPr>
                      <m:t>−2</m:t>
                    </m:r>
                    <m:rad>
                      <m:radPr>
                        <m:degHide m:val="on"/>
                        <m:ctrlP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rPr>
                        </m:ctrlPr>
                      </m:radPr>
                      <m:deg/>
                      <m:e>
                        <m: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rPr>
                          <m:t>𝐶𝑉</m:t>
                        </m:r>
                      </m:e>
                    </m:rad>
                    <m: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rPr>
                      <m:t>+</m:t>
                    </m:r>
                    <m: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rPr>
                      <m:t>𝐹</m:t>
                    </m:r>
                  </m:oMath>
                </a14:m>
                <a:endParaRPr kumimoji="0" lang="en-US" altLang="zh-CN" sz="28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514350" marR="0" lvl="1"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endParaRPr kumimoji="0" lang="en-US" altLang="zh-CN" sz="2800" b="1" i="0" u="none" strike="noStrike" kern="1200" cap="none" spc="0" normalizeH="0" baseline="0" noProof="0" dirty="0">
                  <a:ln>
                    <a:noFill/>
                  </a:ln>
                  <a:solidFill>
                    <a:prstClr val="black"/>
                  </a:solidFill>
                  <a:effectLst/>
                  <a:uLnTx/>
                  <a:uFillTx/>
                  <a:latin typeface="Times New Roman"/>
                  <a:ea typeface="黑体"/>
                </a:endParaRPr>
              </a:p>
            </p:txBody>
          </p:sp>
        </mc:Choice>
        <mc:Fallback xmlns="">
          <p:sp>
            <p:nvSpPr>
              <p:cNvPr id="7" name="内容占位符 4"/>
              <p:cNvSpPr txBox="1">
                <a:spLocks noRot="1" noChangeAspect="1" noMove="1" noResize="1" noEditPoints="1" noAdjustHandles="1" noChangeArrowheads="1" noChangeShapeType="1" noTextEdit="1"/>
              </p:cNvSpPr>
              <p:nvPr/>
            </p:nvSpPr>
            <p:spPr>
              <a:xfrm>
                <a:off x="325583" y="1034230"/>
                <a:ext cx="8451272" cy="2713426"/>
              </a:xfrm>
              <a:prstGeom prst="rect">
                <a:avLst/>
              </a:prstGeom>
              <a:blipFill>
                <a:blip r:embed="rId3"/>
                <a:stretch>
                  <a:fillRect l="-1298" t="-674" r="-1442" b="-10337"/>
                </a:stretch>
              </a:blipFill>
            </p:spPr>
            <p:txBody>
              <a:bodyPr/>
              <a:lstStyle/>
              <a:p>
                <a:r>
                  <a:rPr lang="zh-CN" altLang="en-US">
                    <a:noFill/>
                  </a:rPr>
                  <a:t> </a:t>
                </a:r>
              </a:p>
            </p:txBody>
          </p:sp>
        </mc:Fallback>
      </mc:AlternateContent>
      <p:sp>
        <p:nvSpPr>
          <p:cNvPr id="6" name="椭圆 5"/>
          <p:cNvSpPr/>
          <p:nvPr/>
        </p:nvSpPr>
        <p:spPr>
          <a:xfrm>
            <a:off x="1085515" y="4839428"/>
            <a:ext cx="133685" cy="315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11" name="标题 1">
            <a:extLst>
              <a:ext uri="{FF2B5EF4-FFF2-40B4-BE49-F238E27FC236}">
                <a16:creationId xmlns:a16="http://schemas.microsoft.com/office/drawing/2014/main" id="{CCD90B0E-2059-C675-13B5-7A3D9C3451EA}"/>
              </a:ext>
            </a:extLst>
          </p:cNvPr>
          <p:cNvSpPr txBox="1">
            <a:spLocks/>
          </p:cNvSpPr>
          <p:nvPr/>
        </p:nvSpPr>
        <p:spPr>
          <a:xfrm>
            <a:off x="0" y="4763"/>
            <a:ext cx="9144000" cy="817562"/>
          </a:xfrm>
          <a:prstGeom prst="rect">
            <a:avLst/>
          </a:prstGeom>
        </p:spPr>
        <p:txBody>
          <a:bodyPr vert="horz" lIns="91440" tIns="144000" rIns="91440" bIns="45720" rtlCol="0" anchor="ctr">
            <a:norm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混合策略下纳什均衡的例子</a:t>
            </a:r>
            <a:endPar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endParaRPr>
          </a:p>
        </p:txBody>
      </p:sp>
    </p:spTree>
    <p:extLst>
      <p:ext uri="{BB962C8B-B14F-4D97-AF65-F5344CB8AC3E}">
        <p14:creationId xmlns:p14="http://schemas.microsoft.com/office/powerpoint/2010/main" val="402083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750"/>
                                        <p:tgtEl>
                                          <p:spTgt spid="7">
                                            <p:txEl>
                                              <p:pRg st="0" end="0"/>
                                            </p:txEl>
                                          </p:spTgt>
                                        </p:tgtEl>
                                      </p:cBhvr>
                                    </p:animEffect>
                                  </p:childTnLst>
                                </p:cTn>
                              </p:par>
                            </p:childTnLst>
                          </p:cTn>
                        </p:par>
                        <p:par>
                          <p:cTn id="8" fill="hold">
                            <p:stCondLst>
                              <p:cond delay="1250"/>
                            </p:stCondLst>
                            <p:childTnLst>
                              <p:par>
                                <p:cTn id="9" presetID="10" presetClass="entr" presetSubtype="0" fill="hold" nodeType="afterEffect">
                                  <p:stCondLst>
                                    <p:cond delay="75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fade">
                                      <p:cBhvr>
                                        <p:cTn id="11" dur="750"/>
                                        <p:tgtEl>
                                          <p:spTgt spid="7">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xEl>
                                              <p:pRg st="2" end="2"/>
                                            </p:txEl>
                                          </p:spTgt>
                                        </p:tgtEl>
                                        <p:attrNameLst>
                                          <p:attrName>style.visibility</p:attrName>
                                        </p:attrNameLst>
                                      </p:cBhvr>
                                      <p:to>
                                        <p:strVal val="visible"/>
                                      </p:to>
                                    </p:set>
                                    <p:animEffect transition="in" filter="fade">
                                      <p:cBhvr>
                                        <p:cTn id="16"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p:nvPr/>
        </p:nvSpPr>
        <p:spPr>
          <a:xfrm>
            <a:off x="4689264" y="1160608"/>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90204" pitchFamily="34" charset="0"/>
              <a:buChar char="•"/>
              <a:tabLst/>
              <a:defRPr/>
            </a:pPr>
            <a:endParaRPr kumimoji="0" lang="en-US" altLang="zh-CN" sz="1600" b="0" i="0" u="none" strike="noStrike" kern="1200" cap="none" spc="0" normalizeH="0" baseline="0" noProof="0" dirty="0">
              <a:ln>
                <a:noFill/>
              </a:ln>
              <a:solidFill>
                <a:prstClr val="black"/>
              </a:solidFill>
              <a:effectLst/>
              <a:uLnTx/>
              <a:uFillTx/>
              <a:latin typeface="Times New Roman"/>
              <a:ea typeface="黑体"/>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90204" pitchFamily="34" charset="0"/>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a:ea typeface="黑体"/>
              <a:cs typeface="+mn-cs"/>
            </a:endParaRPr>
          </a:p>
        </p:txBody>
      </p:sp>
      <p:sp>
        <p:nvSpPr>
          <p:cNvPr id="9" name="内容占位符 4"/>
          <p:cNvSpPr txBox="1"/>
          <p:nvPr/>
        </p:nvSpPr>
        <p:spPr>
          <a:xfrm>
            <a:off x="422933" y="1105190"/>
            <a:ext cx="8021412"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360363" marR="0" lvl="0" indent="-360363"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冯</a:t>
            </a:r>
            <a:r>
              <a:rPr kumimoji="0" lang="en-US" altLang="zh-CN" sz="24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a:t>
            </a:r>
            <a:r>
              <a:rPr kumimoji="0" lang="zh-CN" altLang="en-US" sz="24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诺依曼：现代</a:t>
            </a:r>
            <a:r>
              <a:rPr kumimoji="0" lang="zh-CN" altLang="en-US" sz="2400" b="0" i="0" u="none" strike="noStrike" kern="1200" cap="none" spc="0" normalizeH="0" baseline="0" noProof="0" dirty="0">
                <a:ln>
                  <a:noFill/>
                </a:ln>
                <a:solidFill>
                  <a:srgbClr val="4F81BD"/>
                </a:solidFill>
                <a:effectLst/>
                <a:uLnTx/>
                <a:uFillTx/>
                <a:latin typeface="黑体" panose="02010600040101010101" pitchFamily="49" charset="-122"/>
                <a:ea typeface="黑体" panose="02010600040101010101" pitchFamily="49" charset="-122"/>
                <a:cs typeface="+mn-cs"/>
              </a:rPr>
              <a:t>计算机</a:t>
            </a:r>
            <a:r>
              <a:rPr kumimoji="0" lang="zh-CN" altLang="en-US" sz="24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之父</a:t>
            </a:r>
            <a:r>
              <a:rPr kumimoji="0" lang="en-US" altLang="zh-CN" sz="24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a:t>
            </a:r>
            <a:r>
              <a:rPr kumimoji="0" lang="zh-CN" altLang="en-US" sz="24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现代</a:t>
            </a:r>
            <a:r>
              <a:rPr kumimoji="0" lang="zh-CN" altLang="en-US" sz="2400" b="0" i="0" u="none" strike="noStrike" kern="1200" cap="none" spc="0" normalizeH="0" baseline="0" noProof="0" dirty="0">
                <a:ln>
                  <a:noFill/>
                </a:ln>
                <a:solidFill>
                  <a:srgbClr val="4F81BD"/>
                </a:solidFill>
                <a:effectLst/>
                <a:uLnTx/>
                <a:uFillTx/>
                <a:latin typeface="黑体" panose="02010600040101010101" pitchFamily="49" charset="-122"/>
                <a:ea typeface="黑体" panose="02010600040101010101" pitchFamily="49" charset="-122"/>
                <a:cs typeface="+mn-cs"/>
              </a:rPr>
              <a:t>博弈论</a:t>
            </a:r>
            <a:r>
              <a:rPr kumimoji="0" lang="zh-CN" altLang="en-US" sz="24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之父</a:t>
            </a:r>
            <a:endParaRPr kumimoji="0" lang="en-US" altLang="zh-CN" sz="24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endParaRPr>
          </a:p>
          <a:p>
            <a:pPr marL="360363" marR="0" lvl="0" indent="-360363"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博弈论与计算机科学的交叉领域非常多</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630238" marR="0" lvl="1" indent="-287338"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理论计算机科学：算法博弈论</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630238" marR="0" lvl="1" indent="-287338"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1" i="0" u="none" strike="noStrike" kern="1200" cap="none" spc="0" normalizeH="0" baseline="0" noProof="0" dirty="0">
                <a:ln>
                  <a:noFill/>
                </a:ln>
                <a:solidFill>
                  <a:srgbClr val="C00000"/>
                </a:solidFill>
                <a:effectLst/>
                <a:uLnTx/>
                <a:uFillTx/>
                <a:latin typeface="Times New Roman" panose="02020503050405090304" pitchFamily="18" charset="0"/>
                <a:ea typeface="黑体" panose="02010600040101010101" pitchFamily="49" charset="-122"/>
                <a:cs typeface="Times New Roman" panose="02020503050405090304" pitchFamily="18" charset="0"/>
              </a:rPr>
              <a:t>人工智能</a:t>
            </a:r>
            <a:r>
              <a:rPr kumimoji="0" lang="zh-CN" altLang="en-US" sz="2400" b="0" i="0" u="none" strike="noStrike" kern="1200" cap="none" spc="0" normalizeH="0" baseline="0" noProof="0" dirty="0">
                <a:ln>
                  <a:noFill/>
                </a:ln>
                <a:solidFill>
                  <a:srgbClr val="C00000"/>
                </a:solidFill>
                <a:effectLst/>
                <a:uLnTx/>
                <a:uFillTx/>
                <a:latin typeface="Times New Roman" panose="02020503050405090304" pitchFamily="18" charset="0"/>
                <a:ea typeface="黑体" panose="02010600040101010101" pitchFamily="49" charset="-122"/>
                <a:cs typeface="Times New Roman" panose="02020503050405090304" pitchFamily="18" charset="0"/>
              </a:rPr>
              <a:t>：</a:t>
            </a: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多智能体系统、</a:t>
            </a:r>
            <a:r>
              <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AI</a:t>
            </a: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游戏玩家、</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342900" marR="0" lvl="1" indent="0" algn="just" defTabSz="685800" rtl="0" eaLnBrk="1" fontAlgn="auto" latinLnBrk="0" hangingPunct="1">
              <a:lnSpc>
                <a:spcPct val="130000"/>
              </a:lnSpc>
              <a:spcBef>
                <a:spcPts val="0"/>
              </a:spcBef>
              <a:spcAft>
                <a:spcPts val="0"/>
              </a:spcAft>
              <a:buClrTx/>
              <a:buSzTx/>
              <a:buNone/>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人机交互、机器学习、广告推荐</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630238" marR="0" lvl="1" indent="-287338"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互联网：互联网经济、共享经济</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630238" marR="0" lvl="1" indent="-287338"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分布式系统：区块链</a:t>
            </a:r>
            <a:endParaRPr kumimoji="0" lang="en-US" altLang="zh-CN" sz="24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endParaRPr>
          </a:p>
          <a:p>
            <a:pPr marL="360363" marR="0" lvl="0" indent="-360363"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rPr>
              <a:t>人工智能与博弈论相互结合，形成了两个主要研究方向</a:t>
            </a:r>
            <a:endParaRPr kumimoji="0" lang="en-US" altLang="zh-CN" sz="2400" b="0" i="0" u="none" strike="noStrike" kern="1200" cap="none" spc="0" normalizeH="0" baseline="0" noProof="0" dirty="0">
              <a:ln>
                <a:noFill/>
              </a:ln>
              <a:solidFill>
                <a:prstClr val="black"/>
              </a:solidFill>
              <a:effectLst/>
              <a:uLnTx/>
              <a:uFillTx/>
              <a:latin typeface="黑体" panose="02010600040101010101" pitchFamily="49" charset="-122"/>
              <a:ea typeface="黑体" panose="02010600040101010101" pitchFamily="49" charset="-122"/>
              <a:cs typeface="+mn-cs"/>
            </a:endParaRPr>
          </a:p>
          <a:p>
            <a:pPr marL="630238" marR="0" lvl="1" indent="-287338"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i="0" u="none" strike="noStrike" kern="1200" cap="none" spc="0" normalizeH="0" baseline="0" noProof="0" dirty="0">
                <a:ln>
                  <a:noFill/>
                </a:ln>
                <a:solidFill>
                  <a:srgbClr val="FF0000"/>
                </a:solidFill>
                <a:effectLst/>
                <a:uLnTx/>
                <a:uFillTx/>
                <a:latin typeface="黑体" panose="02010600040101010101" pitchFamily="49" charset="-122"/>
                <a:ea typeface="黑体" panose="02010600040101010101" pitchFamily="49" charset="-122"/>
                <a:cs typeface="+mn-cs"/>
              </a:rPr>
              <a:t>博弈策略的求解</a:t>
            </a:r>
            <a:endParaRPr kumimoji="0" lang="en-US" altLang="zh-CN" sz="2400" i="0" u="none" strike="noStrike" kern="1200" cap="none" spc="0" normalizeH="0" baseline="0" noProof="0" dirty="0">
              <a:ln>
                <a:noFill/>
              </a:ln>
              <a:solidFill>
                <a:srgbClr val="FF0000"/>
              </a:solidFill>
              <a:effectLst/>
              <a:uLnTx/>
              <a:uFillTx/>
              <a:latin typeface="黑体" panose="02010600040101010101" pitchFamily="49" charset="-122"/>
              <a:ea typeface="黑体" panose="02010600040101010101" pitchFamily="49" charset="-122"/>
              <a:cs typeface="+mn-cs"/>
            </a:endParaRPr>
          </a:p>
          <a:p>
            <a:pPr marL="630238" marR="0" lvl="1" indent="-287338"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i="0" u="none" strike="noStrike" kern="1200" cap="none" spc="0" normalizeH="0" baseline="0" noProof="0" dirty="0">
                <a:ln>
                  <a:noFill/>
                </a:ln>
                <a:solidFill>
                  <a:srgbClr val="FF0000"/>
                </a:solidFill>
                <a:effectLst/>
                <a:uLnTx/>
                <a:uFillTx/>
                <a:latin typeface="黑体" panose="02010600040101010101" pitchFamily="49" charset="-122"/>
                <a:ea typeface="黑体" panose="02010600040101010101" pitchFamily="49" charset="-122"/>
                <a:cs typeface="+mn-cs"/>
              </a:rPr>
              <a:t>博弈规则的设计</a:t>
            </a:r>
            <a:endParaRPr kumimoji="0" lang="en-US" altLang="zh-CN" sz="2400" i="0" u="none" strike="noStrike" kern="1200" cap="none" spc="0" normalizeH="0" baseline="0" noProof="0" dirty="0">
              <a:ln>
                <a:noFill/>
              </a:ln>
              <a:solidFill>
                <a:srgbClr val="FF0000"/>
              </a:solidFill>
              <a:effectLst/>
              <a:uLnTx/>
              <a:uFillTx/>
              <a:latin typeface="黑体" panose="02010600040101010101" pitchFamily="49" charset="-122"/>
              <a:ea typeface="黑体" panose="02010600040101010101" pitchFamily="49" charset="-122"/>
              <a:cs typeface="+mn-cs"/>
            </a:endParaRPr>
          </a:p>
        </p:txBody>
      </p:sp>
      <p:pic>
        <p:nvPicPr>
          <p:cNvPr id="5" name="Picture 6"/>
          <p:cNvPicPr>
            <a:picLocks noChangeAspect="1"/>
          </p:cNvPicPr>
          <p:nvPr/>
        </p:nvPicPr>
        <p:blipFill>
          <a:blip r:embed="rId3"/>
          <a:stretch>
            <a:fillRect/>
          </a:stretch>
        </p:blipFill>
        <p:spPr>
          <a:xfrm>
            <a:off x="6740235" y="1881042"/>
            <a:ext cx="1704109" cy="2254398"/>
          </a:xfrm>
          <a:prstGeom prst="rect">
            <a:avLst/>
          </a:prstGeom>
        </p:spPr>
      </p:pic>
      <p:sp>
        <p:nvSpPr>
          <p:cNvPr id="6" name="标题 1">
            <a:extLst>
              <a:ext uri="{FF2B5EF4-FFF2-40B4-BE49-F238E27FC236}">
                <a16:creationId xmlns:a16="http://schemas.microsoft.com/office/drawing/2014/main" id="{4E240141-0024-C5B9-F3F7-44623AE60F18}"/>
              </a:ext>
            </a:extLst>
          </p:cNvPr>
          <p:cNvSpPr txBox="1">
            <a:spLocks/>
          </p:cNvSpPr>
          <p:nvPr/>
        </p:nvSpPr>
        <p:spPr>
          <a:xfrm>
            <a:off x="0" y="4763"/>
            <a:ext cx="9144000" cy="817562"/>
          </a:xfrm>
          <a:prstGeom prst="rect">
            <a:avLst/>
          </a:prstGeom>
        </p:spPr>
        <p:txBody>
          <a:bodyPr vert="horz" lIns="91440" tIns="144000" rIns="91440" bIns="45720" rtlCol="0" anchor="ctr">
            <a:norm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博弈论与计算机科学</a:t>
            </a:r>
            <a:endPar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75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xEl>
                                              <p:pRg st="1" end="1"/>
                                            </p:txEl>
                                          </p:spTgt>
                                        </p:tgtEl>
                                        <p:attrNameLst>
                                          <p:attrName>style.visibility</p:attrName>
                                        </p:attrNameLst>
                                      </p:cBhvr>
                                      <p:to>
                                        <p:strVal val="visible"/>
                                      </p:to>
                                    </p:set>
                                    <p:animEffect transition="in" filter="fade">
                                      <p:cBhvr>
                                        <p:cTn id="16" dur="500"/>
                                        <p:tgtEl>
                                          <p:spTgt spid="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animEffect transition="in" filter="fade">
                                      <p:cBhvr>
                                        <p:cTn id="21" dur="500"/>
                                        <p:tgtEl>
                                          <p:spTgt spid="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
                                            <p:txEl>
                                              <p:pRg st="3" end="3"/>
                                            </p:txEl>
                                          </p:spTgt>
                                        </p:tgtEl>
                                        <p:attrNameLst>
                                          <p:attrName>style.visibility</p:attrName>
                                        </p:attrNameLst>
                                      </p:cBhvr>
                                      <p:to>
                                        <p:strVal val="visible"/>
                                      </p:to>
                                    </p:set>
                                    <p:animEffect transition="in" filter="fade">
                                      <p:cBhvr>
                                        <p:cTn id="26" dur="500"/>
                                        <p:tgtEl>
                                          <p:spTgt spid="9">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500"/>
                                        <p:tgtEl>
                                          <p:spTgt spid="9">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fade">
                                      <p:cBhvr>
                                        <p:cTn id="34" dur="500"/>
                                        <p:tgtEl>
                                          <p:spTgt spid="9">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animEffect transition="in" filter="fade">
                                      <p:cBhvr>
                                        <p:cTn id="39" dur="500"/>
                                        <p:tgtEl>
                                          <p:spTgt spid="9">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9">
                                            <p:txEl>
                                              <p:pRg st="7" end="7"/>
                                            </p:txEl>
                                          </p:spTgt>
                                        </p:tgtEl>
                                        <p:attrNameLst>
                                          <p:attrName>style.visibility</p:attrName>
                                        </p:attrNameLst>
                                      </p:cBhvr>
                                      <p:to>
                                        <p:strVal val="visible"/>
                                      </p:to>
                                    </p:set>
                                    <p:animEffect transition="in" filter="fade">
                                      <p:cBhvr>
                                        <p:cTn id="44" dur="500"/>
                                        <p:tgtEl>
                                          <p:spTgt spid="9">
                                            <p:txEl>
                                              <p:pRg st="7" end="7"/>
                                            </p:txEl>
                                          </p:spTgt>
                                        </p:tgtEl>
                                      </p:cBhvr>
                                    </p:animEffect>
                                  </p:childTnLst>
                                </p:cTn>
                              </p:par>
                            </p:childTnLst>
                          </p:cTn>
                        </p:par>
                        <p:par>
                          <p:cTn id="45" fill="hold">
                            <p:stCondLst>
                              <p:cond delay="500"/>
                            </p:stCondLst>
                            <p:childTnLst>
                              <p:par>
                                <p:cTn id="46" presetID="10" presetClass="entr" presetSubtype="0" fill="hold" nodeType="afterEffect">
                                  <p:stCondLst>
                                    <p:cond delay="500"/>
                                  </p:stCondLst>
                                  <p:childTnLst>
                                    <p:set>
                                      <p:cBhvr>
                                        <p:cTn id="47" dur="1" fill="hold">
                                          <p:stCondLst>
                                            <p:cond delay="0"/>
                                          </p:stCondLst>
                                        </p:cTn>
                                        <p:tgtEl>
                                          <p:spTgt spid="9">
                                            <p:txEl>
                                              <p:pRg st="8" end="8"/>
                                            </p:txEl>
                                          </p:spTgt>
                                        </p:tgtEl>
                                        <p:attrNameLst>
                                          <p:attrName>style.visibility</p:attrName>
                                        </p:attrNameLst>
                                      </p:cBhvr>
                                      <p:to>
                                        <p:strVal val="visible"/>
                                      </p:to>
                                    </p:set>
                                    <p:animEffect transition="in" filter="fade">
                                      <p:cBhvr>
                                        <p:cTn id="48" dur="750"/>
                                        <p:tgtEl>
                                          <p:spTgt spid="9">
                                            <p:txEl>
                                              <p:pRg st="8" end="8"/>
                                            </p:txEl>
                                          </p:spTgt>
                                        </p:tgtEl>
                                      </p:cBhvr>
                                    </p:animEffect>
                                  </p:childTnLst>
                                </p:cTn>
                              </p:par>
                            </p:childTnLst>
                          </p:cTn>
                        </p:par>
                        <p:par>
                          <p:cTn id="49" fill="hold">
                            <p:stCondLst>
                              <p:cond delay="1750"/>
                            </p:stCondLst>
                            <p:childTnLst>
                              <p:par>
                                <p:cTn id="50" presetID="10" presetClass="entr" presetSubtype="0" fill="hold" nodeType="afterEffect">
                                  <p:stCondLst>
                                    <p:cond delay="500"/>
                                  </p:stCondLst>
                                  <p:childTnLst>
                                    <p:set>
                                      <p:cBhvr>
                                        <p:cTn id="51" dur="1" fill="hold">
                                          <p:stCondLst>
                                            <p:cond delay="0"/>
                                          </p:stCondLst>
                                        </p:cTn>
                                        <p:tgtEl>
                                          <p:spTgt spid="9">
                                            <p:txEl>
                                              <p:pRg st="9" end="9"/>
                                            </p:txEl>
                                          </p:spTgt>
                                        </p:tgtEl>
                                        <p:attrNameLst>
                                          <p:attrName>style.visibility</p:attrName>
                                        </p:attrNameLst>
                                      </p:cBhvr>
                                      <p:to>
                                        <p:strVal val="visible"/>
                                      </p:to>
                                    </p:set>
                                    <p:animEffect transition="in" filter="fade">
                                      <p:cBhvr>
                                        <p:cTn id="52" dur="75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4"/>
          <p:cNvSpPr txBox="1"/>
          <p:nvPr/>
        </p:nvSpPr>
        <p:spPr>
          <a:xfrm>
            <a:off x="438228" y="983911"/>
            <a:ext cx="8248572"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171450" marR="0" lvl="0"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黑体" panose="02010600040101010101" pitchFamily="49" charset="-122"/>
                <a:cs typeface="Times New Roman" panose="02020503050405090304" pitchFamily="18" charset="0"/>
              </a:rPr>
              <a:t>动机</a:t>
            </a:r>
            <a:endParaRPr kumimoji="0" lang="en-US" altLang="zh-CN" sz="2400" b="0" i="0" u="none" strike="noStrike" kern="1200" cap="none" spc="0" normalizeH="0" baseline="0" noProof="0" dirty="0">
              <a:ln>
                <a:noFill/>
              </a:ln>
              <a:solidFill>
                <a:srgbClr val="FF0000"/>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514350" marR="0" lvl="1"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博弈论提供了许多问题的数学模型</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514350" marR="0" lvl="1"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纳什定理确定了博弈过程问题存在解</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514350" marR="0" lvl="1"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人工智能的方法可用来求解均衡局面或者最优策略</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171450" marR="0" lvl="0"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黑体" panose="02010600040101010101" pitchFamily="49" charset="-122"/>
                <a:cs typeface="Times New Roman" panose="02020503050405090304" pitchFamily="18" charset="0"/>
              </a:rPr>
              <a:t>主要问题</a:t>
            </a:r>
            <a:endParaRPr kumimoji="0" lang="en-US" altLang="zh-CN" sz="2400" b="0" i="0" u="none" strike="noStrike" kern="1200" cap="none" spc="0" normalizeH="0" baseline="0" noProof="0" dirty="0">
              <a:ln>
                <a:noFill/>
              </a:ln>
              <a:solidFill>
                <a:srgbClr val="FF0000"/>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514350" marR="0" lvl="1"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如何高效求解博弈参与者的策略以及博弈的均衡局势？</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171450" marR="0" lvl="0"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黑体" panose="02010600040101010101" pitchFamily="49" charset="-122"/>
                <a:cs typeface="Times New Roman" panose="02020503050405090304" pitchFamily="18" charset="0"/>
              </a:rPr>
              <a:t>应用领域</a:t>
            </a:r>
            <a:endParaRPr kumimoji="0" lang="en-US" altLang="zh-CN" sz="2400" b="0" i="0" u="none" strike="noStrike" kern="1200" cap="none" spc="0" normalizeH="0" baseline="0" noProof="0" dirty="0">
              <a:ln>
                <a:noFill/>
              </a:ln>
              <a:solidFill>
                <a:srgbClr val="FF0000"/>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514350" marR="0" lvl="1"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大规模搜索空间的问题求解：围棋</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514350" marR="0" lvl="1"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非完全信息博弈问题求解：德州扑克</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514350" marR="0" lvl="1"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网络对战游戏智能：</a:t>
            </a:r>
            <a:r>
              <a:rPr kumimoji="0" lang="en-US" altLang="zh-CN" sz="2400" b="0" i="0" u="none" strike="noStrike" kern="1200" cap="none" spc="0" normalizeH="0" baseline="0" noProof="0" dirty="0" err="1">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Dota</a:t>
            </a: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、星球大战</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a:p>
            <a:pPr marL="514350" marR="0" lvl="1" indent="-171450" algn="just" defTabSz="685800" rtl="0" eaLnBrk="1" fontAlgn="auto" latinLnBrk="0" hangingPunct="1">
              <a:lnSpc>
                <a:spcPct val="130000"/>
              </a:lnSpc>
              <a:spcBef>
                <a:spcPts val="0"/>
              </a:spcBef>
              <a:spcAft>
                <a:spcPts val="0"/>
              </a:spcAft>
              <a:buClrTx/>
              <a:buSzTx/>
              <a:buFont typeface="Arial" panose="020B060402020209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rPr>
              <a:t>动态博弈的均衡解：厂家竞争、信息安全</a:t>
            </a:r>
            <a:endParaRPr kumimoji="0"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黑体" panose="02010600040101010101" pitchFamily="49" charset="-122"/>
              <a:cs typeface="Times New Roman" panose="02020503050405090304" pitchFamily="18" charset="0"/>
            </a:endParaRPr>
          </a:p>
        </p:txBody>
      </p:sp>
      <p:sp>
        <p:nvSpPr>
          <p:cNvPr id="4" name="标题 1">
            <a:extLst>
              <a:ext uri="{FF2B5EF4-FFF2-40B4-BE49-F238E27FC236}">
                <a16:creationId xmlns:a16="http://schemas.microsoft.com/office/drawing/2014/main" id="{CC2B7B60-6F7E-1B83-97E0-31733B904B0E}"/>
              </a:ext>
            </a:extLst>
          </p:cNvPr>
          <p:cNvSpPr txBox="1">
            <a:spLocks/>
          </p:cNvSpPr>
          <p:nvPr/>
        </p:nvSpPr>
        <p:spPr>
          <a:xfrm>
            <a:off x="0" y="4763"/>
            <a:ext cx="9144000" cy="817562"/>
          </a:xfrm>
          <a:prstGeom prst="rect">
            <a:avLst/>
          </a:prstGeom>
        </p:spPr>
        <p:txBody>
          <a:bodyPr vert="horz" lIns="91440" tIns="144000" rIns="91440" bIns="45720" rtlCol="0" anchor="ctr">
            <a:norm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博弈策略求解</a:t>
            </a:r>
            <a:endParaRPr lang="zh-CN" altLang="en-US" sz="4400" dirty="0">
              <a:solidFill>
                <a:srgbClr val="0070C0"/>
              </a:solidFill>
              <a:latin typeface="方正姚体" panose="02010601030101010101" pitchFamily="2" charset="-122"/>
              <a:ea typeface="方正姚体" panose="02010601030101010101" pitchFamily="2" charset="-122"/>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fade">
                                      <p:cBhvr>
                                        <p:cTn id="11" dur="750"/>
                                        <p:tgtEl>
                                          <p:spTgt spid="9">
                                            <p:txEl>
                                              <p:pRg st="1" end="1"/>
                                            </p:txEl>
                                          </p:spTgt>
                                        </p:tgtEl>
                                      </p:cBhvr>
                                    </p:animEffect>
                                  </p:childTnLst>
                                </p:cTn>
                              </p:par>
                            </p:childTnLst>
                          </p:cTn>
                        </p:par>
                        <p:par>
                          <p:cTn id="12" fill="hold">
                            <p:stCondLst>
                              <p:cond delay="1750"/>
                            </p:stCondLst>
                            <p:childTnLst>
                              <p:par>
                                <p:cTn id="13" presetID="10" presetClass="entr" presetSubtype="0" fill="hold" nodeType="afterEffect">
                                  <p:stCondLst>
                                    <p:cond delay="50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fade">
                                      <p:cBhvr>
                                        <p:cTn id="15" dur="750"/>
                                        <p:tgtEl>
                                          <p:spTgt spid="9">
                                            <p:txEl>
                                              <p:pRg st="2" end="2"/>
                                            </p:txEl>
                                          </p:spTgt>
                                        </p:tgtEl>
                                      </p:cBhvr>
                                    </p:animEffect>
                                  </p:childTnLst>
                                </p:cTn>
                              </p:par>
                            </p:childTnLst>
                          </p:cTn>
                        </p:par>
                        <p:par>
                          <p:cTn id="16" fill="hold">
                            <p:stCondLst>
                              <p:cond delay="3000"/>
                            </p:stCondLst>
                            <p:childTnLst>
                              <p:par>
                                <p:cTn id="17" presetID="10" presetClass="entr" presetSubtype="0" fill="hold" nodeType="afterEffect">
                                  <p:stCondLst>
                                    <p:cond delay="500"/>
                                  </p:stCondLst>
                                  <p:childTnLst>
                                    <p:set>
                                      <p:cBhvr>
                                        <p:cTn id="18" dur="1" fill="hold">
                                          <p:stCondLst>
                                            <p:cond delay="0"/>
                                          </p:stCondLst>
                                        </p:cTn>
                                        <p:tgtEl>
                                          <p:spTgt spid="9">
                                            <p:txEl>
                                              <p:pRg st="3" end="3"/>
                                            </p:txEl>
                                          </p:spTgt>
                                        </p:tgtEl>
                                        <p:attrNameLst>
                                          <p:attrName>style.visibility</p:attrName>
                                        </p:attrNameLst>
                                      </p:cBhvr>
                                      <p:to>
                                        <p:strVal val="visible"/>
                                      </p:to>
                                    </p:set>
                                    <p:animEffect transition="in" filter="fade">
                                      <p:cBhvr>
                                        <p:cTn id="19" dur="750"/>
                                        <p:tgtEl>
                                          <p:spTgt spid="9">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fade">
                                      <p:cBhvr>
                                        <p:cTn id="24" dur="500"/>
                                        <p:tgtEl>
                                          <p:spTgt spid="9">
                                            <p:txEl>
                                              <p:pRg st="4" end="4"/>
                                            </p:txEl>
                                          </p:spTgt>
                                        </p:tgtEl>
                                      </p:cBhvr>
                                    </p:animEffect>
                                  </p:childTnLst>
                                </p:cTn>
                              </p:par>
                            </p:childTnLst>
                          </p:cTn>
                        </p:par>
                        <p:par>
                          <p:cTn id="25" fill="hold">
                            <p:stCondLst>
                              <p:cond delay="500"/>
                            </p:stCondLst>
                            <p:childTnLst>
                              <p:par>
                                <p:cTn id="26" presetID="10" presetClass="entr" presetSubtype="0" fill="hold" nodeType="afterEffect">
                                  <p:stCondLst>
                                    <p:cond delay="500"/>
                                  </p:stCondLst>
                                  <p:childTnLst>
                                    <p:set>
                                      <p:cBhvr>
                                        <p:cTn id="27" dur="1" fill="hold">
                                          <p:stCondLst>
                                            <p:cond delay="0"/>
                                          </p:stCondLst>
                                        </p:cTn>
                                        <p:tgtEl>
                                          <p:spTgt spid="9">
                                            <p:txEl>
                                              <p:pRg st="5" end="5"/>
                                            </p:txEl>
                                          </p:spTgt>
                                        </p:tgtEl>
                                        <p:attrNameLst>
                                          <p:attrName>style.visibility</p:attrName>
                                        </p:attrNameLst>
                                      </p:cBhvr>
                                      <p:to>
                                        <p:strVal val="visible"/>
                                      </p:to>
                                    </p:set>
                                    <p:animEffect transition="in" filter="fade">
                                      <p:cBhvr>
                                        <p:cTn id="28" dur="750"/>
                                        <p:tgtEl>
                                          <p:spTgt spid="9">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
                                            <p:txEl>
                                              <p:pRg st="6" end="6"/>
                                            </p:txEl>
                                          </p:spTgt>
                                        </p:tgtEl>
                                        <p:attrNameLst>
                                          <p:attrName>style.visibility</p:attrName>
                                        </p:attrNameLst>
                                      </p:cBhvr>
                                      <p:to>
                                        <p:strVal val="visible"/>
                                      </p:to>
                                    </p:set>
                                    <p:animEffect transition="in" filter="fade">
                                      <p:cBhvr>
                                        <p:cTn id="33" dur="500"/>
                                        <p:tgtEl>
                                          <p:spTgt spid="9">
                                            <p:txEl>
                                              <p:pRg st="6" end="6"/>
                                            </p:txEl>
                                          </p:spTgt>
                                        </p:tgtEl>
                                      </p:cBhvr>
                                    </p:animEffect>
                                  </p:childTnLst>
                                </p:cTn>
                              </p:par>
                            </p:childTnLst>
                          </p:cTn>
                        </p:par>
                        <p:par>
                          <p:cTn id="34" fill="hold">
                            <p:stCondLst>
                              <p:cond delay="500"/>
                            </p:stCondLst>
                            <p:childTnLst>
                              <p:par>
                                <p:cTn id="35" presetID="10" presetClass="entr" presetSubtype="0" fill="hold" nodeType="afterEffect">
                                  <p:stCondLst>
                                    <p:cond delay="500"/>
                                  </p:stCondLst>
                                  <p:childTnLst>
                                    <p:set>
                                      <p:cBhvr>
                                        <p:cTn id="36" dur="1" fill="hold">
                                          <p:stCondLst>
                                            <p:cond delay="0"/>
                                          </p:stCondLst>
                                        </p:cTn>
                                        <p:tgtEl>
                                          <p:spTgt spid="9">
                                            <p:txEl>
                                              <p:pRg st="7" end="7"/>
                                            </p:txEl>
                                          </p:spTgt>
                                        </p:tgtEl>
                                        <p:attrNameLst>
                                          <p:attrName>style.visibility</p:attrName>
                                        </p:attrNameLst>
                                      </p:cBhvr>
                                      <p:to>
                                        <p:strVal val="visible"/>
                                      </p:to>
                                    </p:set>
                                    <p:animEffect transition="in" filter="fade">
                                      <p:cBhvr>
                                        <p:cTn id="37" dur="750"/>
                                        <p:tgtEl>
                                          <p:spTgt spid="9">
                                            <p:txEl>
                                              <p:pRg st="7" end="7"/>
                                            </p:txEl>
                                          </p:spTgt>
                                        </p:tgtEl>
                                      </p:cBhvr>
                                    </p:animEffect>
                                  </p:childTnLst>
                                </p:cTn>
                              </p:par>
                            </p:childTnLst>
                          </p:cTn>
                        </p:par>
                        <p:par>
                          <p:cTn id="38" fill="hold">
                            <p:stCondLst>
                              <p:cond delay="1750"/>
                            </p:stCondLst>
                            <p:childTnLst>
                              <p:par>
                                <p:cTn id="39" presetID="10" presetClass="entr" presetSubtype="0" fill="hold" nodeType="afterEffect">
                                  <p:stCondLst>
                                    <p:cond delay="500"/>
                                  </p:stCondLst>
                                  <p:childTnLst>
                                    <p:set>
                                      <p:cBhvr>
                                        <p:cTn id="40" dur="1" fill="hold">
                                          <p:stCondLst>
                                            <p:cond delay="0"/>
                                          </p:stCondLst>
                                        </p:cTn>
                                        <p:tgtEl>
                                          <p:spTgt spid="9">
                                            <p:txEl>
                                              <p:pRg st="8" end="8"/>
                                            </p:txEl>
                                          </p:spTgt>
                                        </p:tgtEl>
                                        <p:attrNameLst>
                                          <p:attrName>style.visibility</p:attrName>
                                        </p:attrNameLst>
                                      </p:cBhvr>
                                      <p:to>
                                        <p:strVal val="visible"/>
                                      </p:to>
                                    </p:set>
                                    <p:animEffect transition="in" filter="fade">
                                      <p:cBhvr>
                                        <p:cTn id="41" dur="750"/>
                                        <p:tgtEl>
                                          <p:spTgt spid="9">
                                            <p:txEl>
                                              <p:pRg st="8" end="8"/>
                                            </p:txEl>
                                          </p:spTgt>
                                        </p:tgtEl>
                                      </p:cBhvr>
                                    </p:animEffect>
                                  </p:childTnLst>
                                </p:cTn>
                              </p:par>
                            </p:childTnLst>
                          </p:cTn>
                        </p:par>
                        <p:par>
                          <p:cTn id="42" fill="hold">
                            <p:stCondLst>
                              <p:cond delay="3000"/>
                            </p:stCondLst>
                            <p:childTnLst>
                              <p:par>
                                <p:cTn id="43" presetID="10" presetClass="entr" presetSubtype="0" fill="hold" nodeType="afterEffect">
                                  <p:stCondLst>
                                    <p:cond delay="500"/>
                                  </p:stCondLst>
                                  <p:childTnLst>
                                    <p:set>
                                      <p:cBhvr>
                                        <p:cTn id="44" dur="1" fill="hold">
                                          <p:stCondLst>
                                            <p:cond delay="0"/>
                                          </p:stCondLst>
                                        </p:cTn>
                                        <p:tgtEl>
                                          <p:spTgt spid="9">
                                            <p:txEl>
                                              <p:pRg st="9" end="9"/>
                                            </p:txEl>
                                          </p:spTgt>
                                        </p:tgtEl>
                                        <p:attrNameLst>
                                          <p:attrName>style.visibility</p:attrName>
                                        </p:attrNameLst>
                                      </p:cBhvr>
                                      <p:to>
                                        <p:strVal val="visible"/>
                                      </p:to>
                                    </p:set>
                                    <p:animEffect transition="in" filter="fade">
                                      <p:cBhvr>
                                        <p:cTn id="45" dur="750"/>
                                        <p:tgtEl>
                                          <p:spTgt spid="9">
                                            <p:txEl>
                                              <p:pRg st="9" end="9"/>
                                            </p:txEl>
                                          </p:spTgt>
                                        </p:tgtEl>
                                      </p:cBhvr>
                                    </p:animEffect>
                                  </p:childTnLst>
                                </p:cTn>
                              </p:par>
                            </p:childTnLst>
                          </p:cTn>
                        </p:par>
                        <p:par>
                          <p:cTn id="46" fill="hold">
                            <p:stCondLst>
                              <p:cond delay="4250"/>
                            </p:stCondLst>
                            <p:childTnLst>
                              <p:par>
                                <p:cTn id="47" presetID="10" presetClass="entr" presetSubtype="0" fill="hold" nodeType="afterEffect">
                                  <p:stCondLst>
                                    <p:cond delay="500"/>
                                  </p:stCondLst>
                                  <p:childTnLst>
                                    <p:set>
                                      <p:cBhvr>
                                        <p:cTn id="48" dur="1" fill="hold">
                                          <p:stCondLst>
                                            <p:cond delay="0"/>
                                          </p:stCondLst>
                                        </p:cTn>
                                        <p:tgtEl>
                                          <p:spTgt spid="9">
                                            <p:txEl>
                                              <p:pRg st="10" end="10"/>
                                            </p:txEl>
                                          </p:spTgt>
                                        </p:tgtEl>
                                        <p:attrNameLst>
                                          <p:attrName>style.visibility</p:attrName>
                                        </p:attrNameLst>
                                      </p:cBhvr>
                                      <p:to>
                                        <p:strVal val="visible"/>
                                      </p:to>
                                    </p:set>
                                    <p:animEffect transition="in" filter="fade">
                                      <p:cBhvr>
                                        <p:cTn id="49" dur="750"/>
                                        <p:tgtEl>
                                          <p:spTgt spid="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白底灰边-Office2010风格">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黑体+Times">
      <a:majorFont>
        <a:latin typeface="Times New Roman"/>
        <a:ea typeface="黑体"/>
        <a:cs typeface=""/>
      </a:majorFont>
      <a:minorFont>
        <a:latin typeface="Times New Roman"/>
        <a:ea typeface="黑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107</TotalTime>
  <Words>1940</Words>
  <Application>Microsoft Office PowerPoint</Application>
  <PresentationFormat>全屏显示(4:3)</PresentationFormat>
  <Paragraphs>212</Paragraphs>
  <Slides>18</Slides>
  <Notes>16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等线</vt:lpstr>
      <vt:lpstr>方正姚体</vt:lpstr>
      <vt:lpstr>黑体</vt:lpstr>
      <vt:lpstr>华文行楷</vt:lpstr>
      <vt:lpstr>Arial</vt:lpstr>
      <vt:lpstr>Calibri</vt:lpstr>
      <vt:lpstr>Cambria Math</vt:lpstr>
      <vt:lpstr>Times New Roman</vt:lpstr>
      <vt:lpstr>Verdana</vt:lpstr>
      <vt:lpstr>Wingdings</vt:lpstr>
      <vt:lpstr>白底灰边-Office2010风格</vt:lpstr>
      <vt:lpstr>博弈论</vt:lpstr>
      <vt:lpstr>PowerPoint 演示文稿</vt:lpstr>
      <vt:lpstr>博弈论的诞生：中国古代博弈思想</vt:lpstr>
      <vt:lpstr>博弈论的诞生：田忌赛马</vt:lpstr>
      <vt:lpstr>博弈论的诞生：现代博弈论的建立</vt:lpstr>
      <vt:lpstr>博弈论的相关概念：博弈论的要素</vt:lpstr>
      <vt:lpstr>博弈论的相关概念：囚徒困境</vt:lpstr>
      <vt:lpstr>博弈论的相关概念：囚徒困境</vt:lpstr>
      <vt:lpstr>博弈论的相关概念：博弈分类</vt:lpstr>
      <vt:lpstr>博弈论的相关概念：博弈分类</vt:lpstr>
      <vt:lpstr>博弈论的相关概念：纳什均衡</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 jiajing</dc:creator>
  <cp:lastModifiedBy>wang jiajing</cp:lastModifiedBy>
  <cp:revision>5</cp:revision>
  <dcterms:created xsi:type="dcterms:W3CDTF">2022-05-27T09:02:32Z</dcterms:created>
  <dcterms:modified xsi:type="dcterms:W3CDTF">2022-06-02T12:04:16Z</dcterms:modified>
</cp:coreProperties>
</file>