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84" r:id="rId4"/>
    <p:sldId id="603" r:id="rId6"/>
    <p:sldId id="490" r:id="rId7"/>
    <p:sldId id="492" r:id="rId8"/>
    <p:sldId id="493" r:id="rId9"/>
    <p:sldId id="521" r:id="rId10"/>
    <p:sldId id="522" r:id="rId11"/>
    <p:sldId id="557" r:id="rId12"/>
    <p:sldId id="523" r:id="rId13"/>
    <p:sldId id="525" r:id="rId14"/>
    <p:sldId id="526" r:id="rId15"/>
    <p:sldId id="527" r:id="rId16"/>
    <p:sldId id="555" r:id="rId17"/>
    <p:sldId id="656" r:id="rId18"/>
    <p:sldId id="1124" r:id="rId19"/>
    <p:sldId id="1125" r:id="rId20"/>
    <p:sldId id="1126" r:id="rId21"/>
    <p:sldId id="1127" r:id="rId22"/>
    <p:sldId id="1128" r:id="rId23"/>
    <p:sldId id="1129" r:id="rId24"/>
    <p:sldId id="672" r:id="rId25"/>
    <p:sldId id="1130" r:id="rId26"/>
    <p:sldId id="1131" r:id="rId27"/>
    <p:sldId id="1132" r:id="rId28"/>
    <p:sldId id="1133" r:id="rId29"/>
    <p:sldId id="1134" r:id="rId30"/>
    <p:sldId id="691" r:id="rId31"/>
    <p:sldId id="1104" r:id="rId32"/>
    <p:sldId id="1105" r:id="rId33"/>
    <p:sldId id="1106" r:id="rId34"/>
    <p:sldId id="1107" r:id="rId35"/>
    <p:sldId id="1108" r:id="rId36"/>
    <p:sldId id="665" r:id="rId37"/>
    <p:sldId id="1135" r:id="rId38"/>
    <p:sldId id="1136" r:id="rId39"/>
    <p:sldId id="1137" r:id="rId40"/>
    <p:sldId id="666" r:id="rId41"/>
    <p:sldId id="662" r:id="rId42"/>
    <p:sldId id="663" r:id="rId43"/>
    <p:sldId id="664" r:id="rId44"/>
    <p:sldId id="690" r:id="rId45"/>
    <p:sldId id="1138" r:id="rId46"/>
    <p:sldId id="1139" r:id="rId47"/>
    <p:sldId id="1140" r:id="rId48"/>
    <p:sldId id="1141" r:id="rId49"/>
    <p:sldId id="1188" r:id="rId50"/>
    <p:sldId id="1184" r:id="rId51"/>
    <p:sldId id="1185" r:id="rId52"/>
    <p:sldId id="1186" r:id="rId53"/>
    <p:sldId id="1187" r:id="rId54"/>
    <p:sldId id="675" r:id="rId55"/>
    <p:sldId id="1142" r:id="rId56"/>
    <p:sldId id="1143" r:id="rId57"/>
    <p:sldId id="1144" r:id="rId58"/>
    <p:sldId id="1145" r:id="rId59"/>
    <p:sldId id="1147" r:id="rId60"/>
    <p:sldId id="1148" r:id="rId61"/>
    <p:sldId id="1151" r:id="rId62"/>
    <p:sldId id="710" r:id="rId63"/>
    <p:sldId id="1169" r:id="rId64"/>
    <p:sldId id="1170" r:id="rId65"/>
    <p:sldId id="1172" r:id="rId66"/>
    <p:sldId id="1173" r:id="rId67"/>
    <p:sldId id="1174" r:id="rId68"/>
    <p:sldId id="1175" r:id="rId69"/>
    <p:sldId id="1176" r:id="rId70"/>
    <p:sldId id="1177" r:id="rId71"/>
    <p:sldId id="730" r:id="rId72"/>
    <p:sldId id="1178" r:id="rId73"/>
    <p:sldId id="1179" r:id="rId74"/>
    <p:sldId id="1180" r:id="rId75"/>
    <p:sldId id="1181" r:id="rId76"/>
    <p:sldId id="1182" r:id="rId77"/>
    <p:sldId id="1183" r:id="rId78"/>
  </p:sldIdLst>
  <p:sldSz cx="12192000" cy="6858000"/>
  <p:notesSz cx="6858000" cy="9144000"/>
  <p:custDataLst>
    <p:tags r:id="rId8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30AD22A-14DC-4B06-9D5D-9FE9F817C7C1}">
          <p14:sldIdLst>
            <p14:sldId id="284"/>
            <p14:sldId id="603"/>
            <p14:sldId id="490"/>
            <p14:sldId id="492"/>
            <p14:sldId id="493"/>
            <p14:sldId id="521"/>
            <p14:sldId id="522"/>
            <p14:sldId id="557"/>
            <p14:sldId id="523"/>
            <p14:sldId id="525"/>
            <p14:sldId id="526"/>
            <p14:sldId id="527"/>
            <p14:sldId id="555"/>
            <p14:sldId id="656"/>
            <p14:sldId id="1124"/>
            <p14:sldId id="1125"/>
            <p14:sldId id="1126"/>
            <p14:sldId id="1127"/>
            <p14:sldId id="1128"/>
            <p14:sldId id="1129"/>
            <p14:sldId id="672"/>
            <p14:sldId id="1130"/>
            <p14:sldId id="1131"/>
            <p14:sldId id="1132"/>
            <p14:sldId id="1133"/>
            <p14:sldId id="1134"/>
            <p14:sldId id="691"/>
            <p14:sldId id="1104"/>
            <p14:sldId id="1105"/>
            <p14:sldId id="1106"/>
            <p14:sldId id="1107"/>
            <p14:sldId id="1108"/>
            <p14:sldId id="665"/>
            <p14:sldId id="1135"/>
            <p14:sldId id="1136"/>
            <p14:sldId id="1137"/>
            <p14:sldId id="666"/>
            <p14:sldId id="662"/>
            <p14:sldId id="663"/>
            <p14:sldId id="664"/>
            <p14:sldId id="690"/>
            <p14:sldId id="1138"/>
            <p14:sldId id="1139"/>
            <p14:sldId id="1140"/>
            <p14:sldId id="1141"/>
            <p14:sldId id="1188"/>
            <p14:sldId id="1184"/>
            <p14:sldId id="1185"/>
            <p14:sldId id="1186"/>
            <p14:sldId id="1187"/>
            <p14:sldId id="675"/>
            <p14:sldId id="1142"/>
            <p14:sldId id="1143"/>
            <p14:sldId id="1144"/>
            <p14:sldId id="1145"/>
            <p14:sldId id="1147"/>
            <p14:sldId id="1148"/>
            <p14:sldId id="1151"/>
            <p14:sldId id="710"/>
            <p14:sldId id="1169"/>
            <p14:sldId id="1170"/>
            <p14:sldId id="1172"/>
            <p14:sldId id="1173"/>
            <p14:sldId id="1174"/>
            <p14:sldId id="1175"/>
            <p14:sldId id="1176"/>
            <p14:sldId id="1177"/>
            <p14:sldId id="730"/>
            <p14:sldId id="1178"/>
            <p14:sldId id="1179"/>
            <p14:sldId id="1180"/>
            <p14:sldId id="1181"/>
            <p14:sldId id="1182"/>
            <p14:sldId id="1183"/>
          </p14:sldIdLst>
        </p14:section>
        <p14:section name="无标题节" id="{AC45FC38-C055-435B-B0EF-54AC2A084326}">
          <p14:sldIdLst/>
        </p14:section>
      </p14:sectionLst>
    </p:ext>
    <p:ext uri="{EFAFB233-063F-42B5-8137-9DF3F51BA10A}">
      <p15:sldGuideLst xmlns:p15="http://schemas.microsoft.com/office/powerpoint/2012/main">
        <p15:guide id="1" orient="horz" pos="221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F9437"/>
    <a:srgbClr val="FD5C0C"/>
    <a:srgbClr val="FFFFFF"/>
    <a:srgbClr val="FFFFC3"/>
    <a:srgbClr val="0000FF"/>
    <a:srgbClr val="FFFF00"/>
    <a:srgbClr val="3333FF"/>
    <a:srgbClr val="FF0000"/>
    <a:srgbClr val="FF99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82" d="100"/>
          <a:sy n="82" d="100"/>
        </p:scale>
        <p:origin x="-691" y="-77"/>
      </p:cViewPr>
      <p:guideLst>
        <p:guide orient="horz" pos="2214"/>
        <p:guide pos="384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3" Type="http://schemas.openxmlformats.org/officeDocument/2006/relationships/tags" Target="tags/tag180.xml"/><Relationship Id="rId82" Type="http://schemas.openxmlformats.org/officeDocument/2006/relationships/commentAuthors" Target="commentAuthors.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4.xml"/><Relationship Id="rId79" Type="http://schemas.openxmlformats.org/officeDocument/2006/relationships/presProps" Target="presProps.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2A5C08-5AE2-4EB7-915F-5CFC5E14D3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7E3701-2DC8-40B4-B96D-E7A872087D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mtClean="0"/>
              <a:t>使用方法：</a:t>
            </a:r>
            <a:br>
              <a:rPr lang="zh-CN" altLang="en-US" smtClean="0"/>
            </a:br>
            <a:r>
              <a:rPr lang="en-US" altLang="zh-CN" smtClean="0"/>
              <a:t>【</a:t>
            </a:r>
            <a:r>
              <a:rPr lang="zh-CN" altLang="en-US" smtClean="0"/>
              <a:t>更改文字</a:t>
            </a:r>
            <a:r>
              <a:rPr lang="en-US" altLang="zh-CN" smtClean="0"/>
              <a:t>】</a:t>
            </a:r>
            <a:r>
              <a:rPr lang="zh-CN" altLang="en-US" smtClean="0"/>
              <a:t>：将标题框及正文框中的文字可直接改为您所需文字</a:t>
            </a:r>
            <a:br>
              <a:rPr lang="zh-CN" altLang="en-US" smtClean="0"/>
            </a:br>
            <a:r>
              <a:rPr lang="en-US" altLang="zh-CN" smtClean="0"/>
              <a:t>【</a:t>
            </a:r>
            <a:r>
              <a:rPr lang="zh-CN" altLang="en-US" smtClean="0"/>
              <a:t>更改图片</a:t>
            </a:r>
            <a:r>
              <a:rPr lang="en-US" altLang="zh-CN" smtClean="0"/>
              <a:t>】</a:t>
            </a:r>
            <a:r>
              <a:rPr lang="zh-CN" altLang="en-US" smtClean="0"/>
              <a:t>：点中图片</a:t>
            </a:r>
            <a:r>
              <a:rPr lang="en-US" altLang="zh-CN" smtClean="0"/>
              <a:t>》</a:t>
            </a:r>
            <a:r>
              <a:rPr lang="zh-CN" altLang="en-US" smtClean="0"/>
              <a:t>绘图工具</a:t>
            </a:r>
            <a:r>
              <a:rPr lang="en-US" altLang="zh-CN" smtClean="0"/>
              <a:t>》</a:t>
            </a:r>
            <a:r>
              <a:rPr lang="zh-CN" altLang="en-US" smtClean="0"/>
              <a:t>格式</a:t>
            </a:r>
            <a:r>
              <a:rPr lang="en-US" altLang="zh-CN" smtClean="0"/>
              <a:t>》</a:t>
            </a:r>
            <a:r>
              <a:rPr lang="zh-CN" altLang="en-US" smtClean="0"/>
              <a:t>填充</a:t>
            </a:r>
            <a:r>
              <a:rPr lang="en-US" altLang="zh-CN" smtClean="0"/>
              <a:t>》</a:t>
            </a:r>
            <a:r>
              <a:rPr lang="zh-CN" altLang="en-US" smtClean="0"/>
              <a:t>图片</a:t>
            </a:r>
            <a:r>
              <a:rPr lang="en-US" altLang="zh-CN" smtClean="0"/>
              <a:t>》</a:t>
            </a:r>
            <a:r>
              <a:rPr lang="zh-CN" altLang="en-US" smtClean="0"/>
              <a:t>选择您需要展示的图片</a:t>
            </a:r>
            <a:br>
              <a:rPr lang="zh-CN" altLang="en-US" smtClean="0"/>
            </a:br>
            <a:r>
              <a:rPr lang="en-US" altLang="zh-CN" smtClean="0"/>
              <a:t>【</a:t>
            </a:r>
            <a:r>
              <a:rPr lang="zh-CN" altLang="en-US" smtClean="0"/>
              <a:t>增加减少图片</a:t>
            </a:r>
            <a:r>
              <a:rPr lang="en-US" altLang="zh-CN" smtClean="0"/>
              <a:t>】</a:t>
            </a:r>
            <a:r>
              <a:rPr lang="zh-CN" altLang="en-US" smtClean="0"/>
              <a:t>：直接复制粘贴图片来增加图片数，复制后更改方法见</a:t>
            </a:r>
            <a:r>
              <a:rPr lang="en-US" altLang="zh-CN" smtClean="0"/>
              <a:t>【</a:t>
            </a:r>
            <a:r>
              <a:rPr lang="zh-CN" altLang="en-US" smtClean="0"/>
              <a:t>更改图片</a:t>
            </a:r>
            <a:r>
              <a:rPr lang="en-US" altLang="zh-CN" smtClean="0"/>
              <a:t>】</a:t>
            </a:r>
            <a:br>
              <a:rPr lang="en-US" altLang="zh-CN" smtClean="0"/>
            </a:br>
            <a:r>
              <a:rPr lang="en-US" altLang="zh-CN" smtClean="0"/>
              <a:t>【</a:t>
            </a:r>
            <a:r>
              <a:rPr lang="zh-CN" altLang="en-US" smtClean="0"/>
              <a:t>更改图片色彩</a:t>
            </a:r>
            <a:r>
              <a:rPr lang="en-US" altLang="zh-CN" smtClean="0"/>
              <a:t>】</a:t>
            </a:r>
            <a:r>
              <a:rPr lang="zh-CN" altLang="en-US" smtClean="0"/>
              <a:t>：点中图片</a:t>
            </a:r>
            <a:r>
              <a:rPr lang="en-US" altLang="zh-CN" smtClean="0"/>
              <a:t>》</a:t>
            </a:r>
            <a:r>
              <a:rPr lang="zh-CN" altLang="en-US" smtClean="0"/>
              <a:t>图片工具</a:t>
            </a:r>
            <a:r>
              <a:rPr lang="en-US" altLang="zh-CN" smtClean="0"/>
              <a:t>》</a:t>
            </a:r>
            <a:r>
              <a:rPr lang="zh-CN" altLang="en-US" smtClean="0"/>
              <a:t>格式</a:t>
            </a:r>
            <a:r>
              <a:rPr lang="en-US" altLang="zh-CN" smtClean="0"/>
              <a:t>》</a:t>
            </a:r>
            <a:r>
              <a:rPr lang="zh-CN" altLang="en-US" smtClean="0"/>
              <a:t>色彩（重新着色）</a:t>
            </a:r>
            <a:r>
              <a:rPr lang="en-US" altLang="zh-CN" smtClean="0"/>
              <a:t>》</a:t>
            </a:r>
            <a:r>
              <a:rPr lang="zh-CN" altLang="en-US" smtClean="0"/>
              <a:t>选择您喜欢的色彩</a:t>
            </a:r>
            <a:br>
              <a:rPr lang="zh-CN" altLang="en-US" smtClean="0"/>
            </a:br>
            <a:r>
              <a:rPr lang="zh-CN" altLang="en-US" smtClean="0"/>
              <a:t>下载更多模板、视频教程：</a:t>
            </a:r>
            <a:r>
              <a:rPr lang="en-US" smtClean="0"/>
              <a:t>http://www.mysoeasy.com</a:t>
            </a:r>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2.png"/><Relationship Id="rId6" Type="http://schemas.openxmlformats.org/officeDocument/2006/relationships/tags" Target="../tags/tag4.xml"/><Relationship Id="rId5" Type="http://schemas.openxmlformats.org/officeDocument/2006/relationships/image" Target="../media/image1.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image" Target="../media/image3.png"/><Relationship Id="rId2" Type="http://schemas.openxmlformats.org/officeDocument/2006/relationships/tags" Target="../tags/tag1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image" Target="../media/image5.png"/><Relationship Id="rId5" Type="http://schemas.openxmlformats.org/officeDocument/2006/relationships/tags" Target="../tags/tag21.xml"/><Relationship Id="rId4" Type="http://schemas.openxmlformats.org/officeDocument/2006/relationships/image" Target="../media/image4.png"/><Relationship Id="rId3" Type="http://schemas.openxmlformats.org/officeDocument/2006/relationships/tags" Target="../tags/tag20.xml"/><Relationship Id="rId2" Type="http://schemas.openxmlformats.org/officeDocument/2006/relationships/tags" Target="../tags/tag1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image" Target="../media/image3.png"/><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image" Target="../media/image3.png"/><Relationship Id="rId2" Type="http://schemas.openxmlformats.org/officeDocument/2006/relationships/tags" Target="../tags/tag36.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image" Target="../media/image5.png"/><Relationship Id="rId5" Type="http://schemas.openxmlformats.org/officeDocument/2006/relationships/tags" Target="../tags/tag47.xml"/><Relationship Id="rId4" Type="http://schemas.openxmlformats.org/officeDocument/2006/relationships/image" Target="../media/image4.png"/><Relationship Id="rId3" Type="http://schemas.openxmlformats.org/officeDocument/2006/relationships/tags" Target="../tags/tag46.xml"/><Relationship Id="rId2" Type="http://schemas.openxmlformats.org/officeDocument/2006/relationships/tags" Target="../tags/tag45.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image" Target="../media/image7.png"/><Relationship Id="rId5" Type="http://schemas.openxmlformats.org/officeDocument/2006/relationships/tags" Target="../tags/tag59.xml"/><Relationship Id="rId4" Type="http://schemas.openxmlformats.org/officeDocument/2006/relationships/image" Target="../media/image6.png"/><Relationship Id="rId3" Type="http://schemas.openxmlformats.org/officeDocument/2006/relationships/tags" Target="../tags/tag58.xml"/><Relationship Id="rId2" Type="http://schemas.openxmlformats.org/officeDocument/2006/relationships/tags" Target="../tags/tag57.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image" Target="../media/image7.png"/><Relationship Id="rId5" Type="http://schemas.openxmlformats.org/officeDocument/2006/relationships/tags" Target="../tags/tag68.xml"/><Relationship Id="rId4" Type="http://schemas.openxmlformats.org/officeDocument/2006/relationships/image" Target="../media/image6.png"/><Relationship Id="rId3" Type="http://schemas.openxmlformats.org/officeDocument/2006/relationships/tags" Target="../tags/tag67.xml"/><Relationship Id="rId2" Type="http://schemas.openxmlformats.org/officeDocument/2006/relationships/tags" Target="../tags/tag66.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image" Target="../media/image7.png"/><Relationship Id="rId5" Type="http://schemas.openxmlformats.org/officeDocument/2006/relationships/tags" Target="../tags/tag76.xml"/><Relationship Id="rId4" Type="http://schemas.openxmlformats.org/officeDocument/2006/relationships/image" Target="../media/image6.png"/><Relationship Id="rId3" Type="http://schemas.openxmlformats.org/officeDocument/2006/relationships/tags" Target="../tags/tag75.xml"/><Relationship Id="rId2" Type="http://schemas.openxmlformats.org/officeDocument/2006/relationships/tags" Target="../tags/tag74.xml"/><Relationship Id="rId10" Type="http://schemas.openxmlformats.org/officeDocument/2006/relationships/tags" Target="../tags/tag8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image" Target="../media/image5.png"/><Relationship Id="rId5" Type="http://schemas.openxmlformats.org/officeDocument/2006/relationships/tags" Target="../tags/tag83.xml"/><Relationship Id="rId4" Type="http://schemas.openxmlformats.org/officeDocument/2006/relationships/image" Target="../media/image4.png"/><Relationship Id="rId3" Type="http://schemas.openxmlformats.org/officeDocument/2006/relationships/tags" Target="../tags/tag82.xml"/><Relationship Id="rId2" Type="http://schemas.openxmlformats.org/officeDocument/2006/relationships/tags" Target="../tags/tag8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image" Target="../media/image7.png"/><Relationship Id="rId5" Type="http://schemas.openxmlformats.org/officeDocument/2006/relationships/tags" Target="../tags/tag93.xml"/><Relationship Id="rId4" Type="http://schemas.openxmlformats.org/officeDocument/2006/relationships/image" Target="../media/image6.png"/><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7.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image" Target="../media/image9.png"/><Relationship Id="rId6" Type="http://schemas.openxmlformats.org/officeDocument/2006/relationships/tags" Target="../tags/tag101.xml"/><Relationship Id="rId5" Type="http://schemas.openxmlformats.org/officeDocument/2006/relationships/image" Target="../media/image8.png"/><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image" Target="../media/image3.png"/><Relationship Id="rId3" Type="http://schemas.openxmlformats.org/officeDocument/2006/relationships/tags" Target="../tags/tag108.xml"/><Relationship Id="rId2" Type="http://schemas.openxmlformats.org/officeDocument/2006/relationships/tags" Target="../tags/tag107.xml"/><Relationship Id="rId10" Type="http://schemas.openxmlformats.org/officeDocument/2006/relationships/tags" Target="../tags/tag114.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image" Target="../media/image10.png"/><Relationship Id="rId3" Type="http://schemas.openxmlformats.org/officeDocument/2006/relationships/tags" Target="../tags/tag116.xml"/><Relationship Id="rId2" Type="http://schemas.openxmlformats.org/officeDocument/2006/relationships/tags" Target="../tags/tag115.xml"/><Relationship Id="rId10" Type="http://schemas.openxmlformats.org/officeDocument/2006/relationships/tags" Target="../tags/tag122.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image" Target="../media/image10.png"/><Relationship Id="rId2" Type="http://schemas.openxmlformats.org/officeDocument/2006/relationships/tags" Target="../tags/tag123.xml"/><Relationship Id="rId10" Type="http://schemas.openxmlformats.org/officeDocument/2006/relationships/tags" Target="../tags/tag130.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image" Target="../media/image7.png"/><Relationship Id="rId5" Type="http://schemas.openxmlformats.org/officeDocument/2006/relationships/tags" Target="../tags/tag133.xml"/><Relationship Id="rId4" Type="http://schemas.openxmlformats.org/officeDocument/2006/relationships/image" Target="../media/image6.png"/><Relationship Id="rId3" Type="http://schemas.openxmlformats.org/officeDocument/2006/relationships/tags" Target="../tags/tag132.xml"/><Relationship Id="rId2" Type="http://schemas.openxmlformats.org/officeDocument/2006/relationships/tags" Target="../tags/tag131.xml"/><Relationship Id="rId15" Type="http://schemas.openxmlformats.org/officeDocument/2006/relationships/tags" Target="../tags/tag142.xml"/><Relationship Id="rId14" Type="http://schemas.openxmlformats.org/officeDocument/2006/relationships/tags" Target="../tags/tag141.xml"/><Relationship Id="rId13" Type="http://schemas.openxmlformats.org/officeDocument/2006/relationships/tags" Target="../tags/tag140.xml"/><Relationship Id="rId12" Type="http://schemas.openxmlformats.org/officeDocument/2006/relationships/tags" Target="../tags/tag139.xml"/><Relationship Id="rId11" Type="http://schemas.openxmlformats.org/officeDocument/2006/relationships/tags" Target="../tags/tag138.xml"/><Relationship Id="rId10" Type="http://schemas.openxmlformats.org/officeDocument/2006/relationships/tags" Target="../tags/tag137.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image" Target="../media/image12.png"/><Relationship Id="rId6" Type="http://schemas.openxmlformats.org/officeDocument/2006/relationships/tags" Target="../tags/tag146.xml"/><Relationship Id="rId5" Type="http://schemas.openxmlformats.org/officeDocument/2006/relationships/image" Target="../media/image11.png"/><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accent1"/>
        </a:soli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215900" y="234235"/>
            <a:ext cx="11760200" cy="6389530"/>
          </a:xfrm>
          <a:prstGeom prst="rect">
            <a:avLst/>
          </a:prstGeom>
          <a:noFill/>
          <a:ln w="28575">
            <a:solidFill>
              <a:schemeClr val="bg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7"/>
          <p:cNvGrpSpPr/>
          <p:nvPr>
            <p:custDataLst>
              <p:tags r:id="rId3"/>
            </p:custDataLst>
          </p:nvPr>
        </p:nvGrpSpPr>
        <p:grpSpPr>
          <a:xfrm>
            <a:off x="915945" y="1130886"/>
            <a:ext cx="3705321" cy="4698413"/>
            <a:chOff x="974986" y="850900"/>
            <a:chExt cx="4181214" cy="5360574"/>
          </a:xfrm>
        </p:grpSpPr>
        <p:pic>
          <p:nvPicPr>
            <p:cNvPr id="9" name="图片 8"/>
            <p:cNvPicPr>
              <a:picLocks noChangeAspect="1"/>
            </p:cNvPicPr>
            <p:nvPr>
              <p:custDataLst>
                <p:tags r:id="rId4"/>
              </p:custDataLst>
            </p:nvPr>
          </p:nvPicPr>
          <p:blipFill rotWithShape="1">
            <a:blip r:embed="rId5" cstate="screen"/>
            <a:srcRect/>
            <a:stretch>
              <a:fillRect/>
            </a:stretch>
          </p:blipFill>
          <p:spPr>
            <a:xfrm>
              <a:off x="974986" y="1003300"/>
              <a:ext cx="4181214" cy="5208174"/>
            </a:xfrm>
            <a:prstGeom prst="rect">
              <a:avLst/>
            </a:prstGeom>
          </p:spPr>
        </p:pic>
        <p:pic>
          <p:nvPicPr>
            <p:cNvPr id="10" name="图片 9"/>
            <p:cNvPicPr>
              <a:picLocks noChangeAspect="1"/>
            </p:cNvPicPr>
            <p:nvPr>
              <p:custDataLst>
                <p:tags r:id="rId6"/>
              </p:custDataLst>
            </p:nvPr>
          </p:nvPicPr>
          <p:blipFill rotWithShape="1">
            <a:blip r:embed="rId7" cstate="screen"/>
            <a:srcRect/>
            <a:stretch>
              <a:fillRect/>
            </a:stretch>
          </p:blipFill>
          <p:spPr>
            <a:xfrm flipH="1">
              <a:off x="1745242" y="850900"/>
              <a:ext cx="1003301" cy="1219200"/>
            </a:xfrm>
            <a:prstGeom prst="rect">
              <a:avLst/>
            </a:prstGeom>
          </p:spPr>
        </p:pic>
      </p:grpSp>
      <p:cxnSp>
        <p:nvCxnSpPr>
          <p:cNvPr id="19" name="直接连接符 18"/>
          <p:cNvCxnSpPr/>
          <p:nvPr>
            <p:custDataLst>
              <p:tags r:id="rId8"/>
            </p:custDataLst>
          </p:nvPr>
        </p:nvCxnSpPr>
        <p:spPr>
          <a:xfrm>
            <a:off x="5397500" y="2722245"/>
            <a:ext cx="0" cy="1549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9"/>
            </p:custDataLst>
          </p:nvPr>
        </p:nvSpPr>
        <p:spPr>
          <a:xfrm>
            <a:off x="5473710" y="2545749"/>
            <a:ext cx="6126411" cy="899167"/>
          </a:xfrm>
        </p:spPr>
        <p:txBody>
          <a:bodyPr lIns="90000" tIns="46800" rIns="90000" bIns="46800" anchor="b" anchorCtr="0">
            <a:normAutofit/>
          </a:bodyPr>
          <a:lstStyle>
            <a:lvl1pPr algn="l">
              <a:defRPr sz="4800" spc="600" baseline="0">
                <a:solidFill>
                  <a:schemeClr val="bg1"/>
                </a:solidFill>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0"/>
            </p:custDataLst>
          </p:nvPr>
        </p:nvSpPr>
        <p:spPr>
          <a:xfrm>
            <a:off x="5473711" y="3489958"/>
            <a:ext cx="6115778" cy="475492"/>
          </a:xfrm>
        </p:spPr>
        <p:txBody>
          <a:bodyPr lIns="101600" tIns="38100" rIns="76200" bIns="38100">
            <a:noAutofit/>
          </a:bodyPr>
          <a:lstStyle>
            <a:lvl1pPr marL="0" indent="0" algn="l" eaLnBrk="1" fontAlgn="auto" latinLnBrk="0" hangingPunct="1">
              <a:lnSpc>
                <a:spcPct val="100000"/>
              </a:lnSpc>
              <a:buNone/>
              <a:defRPr sz="2400" u="none" strike="noStrike" kern="1200" cap="none" spc="200" normalizeH="0" baseline="0">
                <a:solidFill>
                  <a:schemeClr val="bg1"/>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1"/>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2"/>
            </p:custDataLst>
          </p:nvPr>
        </p:nvSpPr>
        <p:spPr/>
        <p:txBody>
          <a:bodyPr/>
          <a:lstStyle/>
          <a:p>
            <a:endParaRPr lang="zh-CN" altLang="en-US" dirty="0"/>
          </a:p>
        </p:txBody>
      </p:sp>
      <p:sp>
        <p:nvSpPr>
          <p:cNvPr id="18" name="灯片编号占位符 17"/>
          <p:cNvSpPr>
            <a:spLocks noGrp="1"/>
          </p:cNvSpPr>
          <p:nvPr>
            <p:ph type="sldNum" sz="quarter" idx="12"/>
            <p:custDataLst>
              <p:tags r:id="rId13"/>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4"/>
            </p:custDataLst>
          </p:nvPr>
        </p:nvSpPr>
        <p:spPr>
          <a:xfrm>
            <a:off x="5473700" y="4010025"/>
            <a:ext cx="2099077" cy="476250"/>
          </a:xfrm>
        </p:spPr>
        <p:txBody>
          <a:bodyPr lIns="90000" tIns="46800" rIns="90000" bIns="46800">
            <a:normAutofit/>
          </a:bodyPr>
          <a:lstStyle>
            <a:lvl1pPr marL="0" indent="0">
              <a:buNone/>
              <a:defRPr sz="2000" baseline="0">
                <a:solidFill>
                  <a:schemeClr val="bg1"/>
                </a:solidFill>
                <a:latin typeface="Arial" panose="020B0604020202020204" pitchFamily="34" charset="0"/>
              </a:defRPr>
            </a:lvl1pPr>
          </a:lstStyle>
          <a:p>
            <a:pPr lvl="0"/>
            <a:r>
              <a:rPr lang="zh-CN" altLang="en-US" dirty="0"/>
              <a:t>编辑文本</a:t>
            </a:r>
            <a:endParaRPr lang="zh-CN" altLang="en-US" dirty="0"/>
          </a:p>
        </p:txBody>
      </p:sp>
      <p:sp>
        <p:nvSpPr>
          <p:cNvPr id="20" name="文本占位符 19"/>
          <p:cNvSpPr>
            <a:spLocks noGrp="1"/>
          </p:cNvSpPr>
          <p:nvPr>
            <p:ph type="body" sz="quarter" idx="14" hasCustomPrompt="1"/>
            <p:custDataLst>
              <p:tags r:id="rId15"/>
            </p:custDataLst>
          </p:nvPr>
        </p:nvSpPr>
        <p:spPr>
          <a:xfrm>
            <a:off x="7638285" y="4008120"/>
            <a:ext cx="2097031" cy="476250"/>
          </a:xfrm>
        </p:spPr>
        <p:txBody>
          <a:bodyPr lIns="90000" tIns="46800" rIns="90000" bIns="46800" anchor="ctr" anchorCtr="0">
            <a:normAutofit/>
          </a:bodyPr>
          <a:lstStyle>
            <a:lvl1pPr marL="0" indent="0">
              <a:lnSpc>
                <a:spcPct val="100000"/>
              </a:lnSpc>
              <a:spcAft>
                <a:spcPts val="0"/>
              </a:spcAft>
              <a:buNone/>
              <a:defRPr sz="2000" baseline="0">
                <a:solidFill>
                  <a:schemeClr val="bg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p:cNvPicPr>
            <a:picLocks noChangeAspect="1"/>
          </p:cNvPicPr>
          <p:nvPr>
            <p:custDataLst>
              <p:tags r:id="rId2"/>
            </p:custDataLst>
          </p:nvPr>
        </p:nvPicPr>
        <p:blipFill rotWithShape="1">
          <a:blip r:embed="rId3" cstate="screen"/>
          <a:srcRect/>
          <a:stretch>
            <a:fillRect/>
          </a:stretch>
        </p:blipFill>
        <p:spPr>
          <a:xfrm flipH="1">
            <a:off x="0" y="1"/>
            <a:ext cx="957943" cy="1151328"/>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5"/>
            </p:custDataLst>
          </p:nvPr>
        </p:nvSpPr>
        <p:spPr>
          <a:xfrm>
            <a:off x="669882" y="952508"/>
            <a:ext cx="10852237"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accent1"/>
        </a:soli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215900" y="234235"/>
            <a:ext cx="11760200" cy="6389530"/>
          </a:xfrm>
          <a:prstGeom prst="rect">
            <a:avLst/>
          </a:prstGeom>
          <a:noFill/>
          <a:ln w="28575">
            <a:solidFill>
              <a:schemeClr val="bg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custDataLst>
              <p:tags r:id="rId3"/>
            </p:custDataLst>
          </p:nvPr>
        </p:nvPicPr>
        <p:blipFill rotWithShape="1">
          <a:blip r:embed="rId4" cstate="screen"/>
          <a:srcRect/>
          <a:stretch>
            <a:fillRect/>
          </a:stretch>
        </p:blipFill>
        <p:spPr>
          <a:xfrm>
            <a:off x="-497937" y="3308263"/>
            <a:ext cx="2881354" cy="3549737"/>
          </a:xfrm>
          <a:prstGeom prst="rect">
            <a:avLst/>
          </a:prstGeom>
        </p:spPr>
      </p:pic>
      <p:pic>
        <p:nvPicPr>
          <p:cNvPr id="9" name="图片 8"/>
          <p:cNvPicPr>
            <a:picLocks noChangeAspect="1"/>
          </p:cNvPicPr>
          <p:nvPr>
            <p:custDataLst>
              <p:tags r:id="rId5"/>
            </p:custDataLst>
          </p:nvPr>
        </p:nvPicPr>
        <p:blipFill rotWithShape="1">
          <a:blip r:embed="rId6" cstate="screen"/>
          <a:srcRect/>
          <a:stretch>
            <a:fillRect/>
          </a:stretch>
        </p:blipFill>
        <p:spPr>
          <a:xfrm flipH="1">
            <a:off x="684404" y="1576494"/>
            <a:ext cx="1245995" cy="1497534"/>
          </a:xfrm>
          <a:prstGeom prst="rect">
            <a:avLst/>
          </a:prstGeom>
        </p:spPr>
      </p:pic>
      <p:pic>
        <p:nvPicPr>
          <p:cNvPr id="10" name="图片 9"/>
          <p:cNvPicPr>
            <a:picLocks noChangeAspect="1"/>
          </p:cNvPicPr>
          <p:nvPr>
            <p:custDataLst>
              <p:tags r:id="rId7"/>
            </p:custDataLst>
          </p:nvPr>
        </p:nvPicPr>
        <p:blipFill rotWithShape="1">
          <a:blip r:embed="rId4" cstate="screen"/>
          <a:srcRect/>
          <a:stretch>
            <a:fillRect/>
          </a:stretch>
        </p:blipFill>
        <p:spPr>
          <a:xfrm flipH="1">
            <a:off x="9719683" y="3308263"/>
            <a:ext cx="2881354" cy="3549737"/>
          </a:xfrm>
          <a:prstGeom prst="rect">
            <a:avLst/>
          </a:prstGeom>
        </p:spPr>
      </p:pic>
      <p:pic>
        <p:nvPicPr>
          <p:cNvPr id="11" name="图片 10"/>
          <p:cNvPicPr>
            <a:picLocks noChangeAspect="1"/>
          </p:cNvPicPr>
          <p:nvPr>
            <p:custDataLst>
              <p:tags r:id="rId8"/>
            </p:custDataLst>
          </p:nvPr>
        </p:nvPicPr>
        <p:blipFill rotWithShape="1">
          <a:blip r:embed="rId6" cstate="screen"/>
          <a:srcRect/>
          <a:stretch>
            <a:fillRect/>
          </a:stretch>
        </p:blipFill>
        <p:spPr>
          <a:xfrm>
            <a:off x="10002566" y="1576494"/>
            <a:ext cx="1245995" cy="1497534"/>
          </a:xfrm>
          <a:prstGeom prst="rect">
            <a:avLst/>
          </a:prstGeom>
        </p:spPr>
      </p:pic>
      <p:sp>
        <p:nvSpPr>
          <p:cNvPr id="2" name="标题 1"/>
          <p:cNvSpPr>
            <a:spLocks noGrp="1"/>
          </p:cNvSpPr>
          <p:nvPr>
            <p:ph type="title" hasCustomPrompt="1"/>
            <p:custDataLst>
              <p:tags r:id="rId9"/>
            </p:custDataLst>
          </p:nvPr>
        </p:nvSpPr>
        <p:spPr>
          <a:xfrm>
            <a:off x="3338498" y="3193962"/>
            <a:ext cx="5515004" cy="750214"/>
          </a:xfrm>
        </p:spPr>
        <p:txBody>
          <a:bodyPr lIns="90000" tIns="46800" rIns="90000" bIns="46800" anchor="b" anchorCtr="0">
            <a:normAutofit/>
          </a:bodyPr>
          <a:lstStyle>
            <a:lvl1pPr algn="ctr">
              <a:defRPr sz="3600" u="none" strike="noStrike" kern="1200" cap="none" spc="300" normalizeH="0" baseline="0">
                <a:solidFill>
                  <a:schemeClr val="bg1"/>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4" name="日期占位符 3"/>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p>
            <a:endParaRPr lang="zh-CN" altLang="en-US"/>
          </a:p>
        </p:txBody>
      </p:sp>
      <p:sp>
        <p:nvSpPr>
          <p:cNvPr id="6" name="灯片编号占位符 5"/>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
        <p:nvSpPr>
          <p:cNvPr id="3" name="文本占位符 2"/>
          <p:cNvSpPr>
            <a:spLocks noGrp="1"/>
          </p:cNvSpPr>
          <p:nvPr>
            <p:ph type="body" idx="1"/>
            <p:custDataLst>
              <p:tags r:id="rId13"/>
            </p:custDataLst>
          </p:nvPr>
        </p:nvSpPr>
        <p:spPr>
          <a:xfrm>
            <a:off x="3338498" y="4022275"/>
            <a:ext cx="5515004" cy="1077985"/>
          </a:xfrm>
        </p:spPr>
        <p:txBody>
          <a:bodyPr lIns="90000" tIns="46800" rIns="90000" bIns="46800">
            <a:normAutofit/>
          </a:bodyPr>
          <a:lstStyle>
            <a:lvl1pPr marL="0" indent="0" algn="ctr" eaLnBrk="1" fontAlgn="auto" latinLnBrk="0" hangingPunct="1">
              <a:buNone/>
              <a:defRPr kumimoji="0" lang="zh-CN" altLang="en-US" sz="1800" b="0" i="0" u="none" strike="noStrike" kern="1200" cap="none" spc="150" normalizeH="0" baseline="0" noProof="1">
                <a:solidFill>
                  <a:schemeClr val="bg1"/>
                </a:solidFill>
                <a:uFillTx/>
                <a:latin typeface="微软雅黑" panose="020B0503020204020204" pitchFamily="34" charset="-122"/>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p:cNvPicPr>
            <a:picLocks noChangeAspect="1"/>
          </p:cNvPicPr>
          <p:nvPr>
            <p:custDataLst>
              <p:tags r:id="rId2"/>
            </p:custDataLst>
          </p:nvPr>
        </p:nvPicPr>
        <p:blipFill rotWithShape="1">
          <a:blip r:embed="rId3" cstate="screen"/>
          <a:srcRect/>
          <a:stretch>
            <a:fillRect/>
          </a:stretch>
        </p:blipFill>
        <p:spPr>
          <a:xfrm flipH="1">
            <a:off x="0" y="1"/>
            <a:ext cx="957943" cy="1151328"/>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5"/>
            </p:custDataLst>
          </p:nvPr>
        </p:nvSpPr>
        <p:spPr>
          <a:xfrm>
            <a:off x="669930"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6"/>
            </p:custDataLst>
          </p:nvPr>
        </p:nvSpPr>
        <p:spPr>
          <a:xfrm>
            <a:off x="6238877" y="952508"/>
            <a:ext cx="5283242" cy="5388907"/>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pitchFamily="34" charset="-122"/>
              </a:defRPr>
            </a:lvl1pPr>
            <a:lvl2pPr>
              <a:defRPr sz="1600" baseline="0">
                <a:solidFill>
                  <a:schemeClr val="tx1">
                    <a:lumMod val="85000"/>
                    <a:lumOff val="15000"/>
                  </a:schemeClr>
                </a:solidFill>
                <a:latin typeface="Arial" panose="020B0604020202020204" pitchFamily="34" charset="0"/>
                <a:ea typeface="微软雅黑" panose="020B0503020204020204" pitchFamily="34" charset="-122"/>
              </a:defRPr>
            </a:lvl2pPr>
            <a:lvl3pPr>
              <a:defRPr sz="1600" baseline="0">
                <a:solidFill>
                  <a:schemeClr val="tx1">
                    <a:lumMod val="85000"/>
                    <a:lumOff val="15000"/>
                  </a:schemeClr>
                </a:solidFill>
                <a:latin typeface="Arial" panose="020B0604020202020204" pitchFamily="34" charset="0"/>
                <a:ea typeface="微软雅黑" panose="020B0503020204020204" pitchFamily="34" charset="-122"/>
              </a:defRPr>
            </a:lvl3pPr>
            <a:lvl4pPr>
              <a:defRPr sz="1600" baseline="0">
                <a:solidFill>
                  <a:schemeClr val="tx1">
                    <a:lumMod val="85000"/>
                    <a:lumOff val="15000"/>
                  </a:schemeClr>
                </a:solidFill>
                <a:latin typeface="Arial" panose="020B0604020202020204" pitchFamily="34" charset="0"/>
                <a:ea typeface="微软雅黑" panose="020B0503020204020204" pitchFamily="34" charset="-122"/>
              </a:defRPr>
            </a:lvl4pPr>
            <a:lvl5pPr>
              <a:defRPr sz="1600"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7" name="灯片编号占位符 6"/>
          <p:cNvSpPr>
            <a:spLocks noGrp="1"/>
          </p:cNvSpPr>
          <p:nvPr>
            <p:ph type="sldNum" sz="quarter" idx="12"/>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p:cNvPicPr>
            <a:picLocks noChangeAspect="1"/>
          </p:cNvPicPr>
          <p:nvPr>
            <p:custDataLst>
              <p:tags r:id="rId2"/>
            </p:custDataLst>
          </p:nvPr>
        </p:nvPicPr>
        <p:blipFill rotWithShape="1">
          <a:blip r:embed="rId3" cstate="screen"/>
          <a:srcRect/>
          <a:stretch>
            <a:fillRect/>
          </a:stretch>
        </p:blipFill>
        <p:spPr>
          <a:xfrm flipH="1">
            <a:off x="0" y="1"/>
            <a:ext cx="957943" cy="1151328"/>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101600" tIns="38100" rIns="76200" bIns="381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6"/>
            </p:custDataLst>
          </p:nvPr>
        </p:nvSpPr>
        <p:spPr>
          <a:xfrm>
            <a:off x="669925" y="1406525"/>
            <a:ext cx="5283200"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8"/>
            </p:custDataLst>
          </p:nvPr>
        </p:nvSpPr>
        <p:spPr>
          <a:xfrm>
            <a:off x="6235750" y="1406525"/>
            <a:ext cx="5283242"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9" name="灯片编号占位符 8"/>
          <p:cNvSpPr>
            <a:spLocks noGrp="1"/>
          </p:cNvSpPr>
          <p:nvPr>
            <p:ph type="sldNum" sz="quarter" idx="12"/>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accent1"/>
        </a:soli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15900" y="234235"/>
            <a:ext cx="11760200" cy="6389530"/>
          </a:xfrm>
          <a:prstGeom prst="rect">
            <a:avLst/>
          </a:prstGeom>
          <a:noFill/>
          <a:ln w="28575">
            <a:solidFill>
              <a:schemeClr val="bg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custDataLst>
              <p:tags r:id="rId3"/>
            </p:custDataLst>
          </p:nvPr>
        </p:nvPicPr>
        <p:blipFill rotWithShape="1">
          <a:blip r:embed="rId4" cstate="screen"/>
          <a:srcRect/>
          <a:stretch>
            <a:fillRect/>
          </a:stretch>
        </p:blipFill>
        <p:spPr>
          <a:xfrm>
            <a:off x="-497937" y="3308263"/>
            <a:ext cx="2881354" cy="3549737"/>
          </a:xfrm>
          <a:prstGeom prst="rect">
            <a:avLst/>
          </a:prstGeom>
        </p:spPr>
      </p:pic>
      <p:pic>
        <p:nvPicPr>
          <p:cNvPr id="8" name="图片 7"/>
          <p:cNvPicPr>
            <a:picLocks noChangeAspect="1"/>
          </p:cNvPicPr>
          <p:nvPr>
            <p:custDataLst>
              <p:tags r:id="rId5"/>
            </p:custDataLst>
          </p:nvPr>
        </p:nvPicPr>
        <p:blipFill rotWithShape="1">
          <a:blip r:embed="rId6" cstate="screen"/>
          <a:srcRect/>
          <a:stretch>
            <a:fillRect/>
          </a:stretch>
        </p:blipFill>
        <p:spPr>
          <a:xfrm flipH="1">
            <a:off x="684404" y="1576494"/>
            <a:ext cx="1245995" cy="1497534"/>
          </a:xfrm>
          <a:prstGeom prst="rect">
            <a:avLst/>
          </a:prstGeom>
        </p:spPr>
      </p:pic>
      <p:pic>
        <p:nvPicPr>
          <p:cNvPr id="9" name="图片 8"/>
          <p:cNvPicPr>
            <a:picLocks noChangeAspect="1"/>
          </p:cNvPicPr>
          <p:nvPr>
            <p:custDataLst>
              <p:tags r:id="rId7"/>
            </p:custDataLst>
          </p:nvPr>
        </p:nvPicPr>
        <p:blipFill rotWithShape="1">
          <a:blip r:embed="rId4" cstate="screen"/>
          <a:srcRect/>
          <a:stretch>
            <a:fillRect/>
          </a:stretch>
        </p:blipFill>
        <p:spPr>
          <a:xfrm flipH="1">
            <a:off x="9719683" y="3308263"/>
            <a:ext cx="2881354" cy="3549737"/>
          </a:xfrm>
          <a:prstGeom prst="rect">
            <a:avLst/>
          </a:prstGeom>
        </p:spPr>
      </p:pic>
      <p:pic>
        <p:nvPicPr>
          <p:cNvPr id="10" name="图片 9"/>
          <p:cNvPicPr>
            <a:picLocks noChangeAspect="1"/>
          </p:cNvPicPr>
          <p:nvPr>
            <p:custDataLst>
              <p:tags r:id="rId8"/>
            </p:custDataLst>
          </p:nvPr>
        </p:nvPicPr>
        <p:blipFill rotWithShape="1">
          <a:blip r:embed="rId6" cstate="screen"/>
          <a:srcRect/>
          <a:stretch>
            <a:fillRect/>
          </a:stretch>
        </p:blipFill>
        <p:spPr>
          <a:xfrm>
            <a:off x="10002566" y="1576494"/>
            <a:ext cx="1245995" cy="1497534"/>
          </a:xfrm>
          <a:prstGeom prst="rect">
            <a:avLst/>
          </a:prstGeom>
        </p:spPr>
      </p:pic>
      <p:sp>
        <p:nvSpPr>
          <p:cNvPr id="2" name="标题 1"/>
          <p:cNvSpPr>
            <a:spLocks noGrp="1"/>
          </p:cNvSpPr>
          <p:nvPr>
            <p:ph type="title"/>
            <p:custDataLst>
              <p:tags r:id="rId9"/>
            </p:custDataLst>
          </p:nvPr>
        </p:nvSpPr>
        <p:spPr/>
        <p:txBody>
          <a:bodyPr vert="horz" lIns="101600" tIns="38100" rIns="76200" bIns="38100" rtlCol="0" anchor="t" anchorCtr="0">
            <a:noAutofit/>
          </a:bodyPr>
          <a:lstStyle>
            <a:lvl1pPr marL="0" marR="0" lvl="0" algn="ctr"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p>
            <a:endParaRPr lang="zh-CN" altLang="en-US"/>
          </a:p>
        </p:txBody>
      </p:sp>
      <p:sp>
        <p:nvSpPr>
          <p:cNvPr id="5" name="灯片编号占位符 4"/>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8" name="组合 7"/>
          <p:cNvGrpSpPr/>
          <p:nvPr>
            <p:custDataLst>
              <p:tags r:id="rId2"/>
            </p:custDataLst>
          </p:nvPr>
        </p:nvGrpSpPr>
        <p:grpSpPr>
          <a:xfrm>
            <a:off x="11239500" y="5714949"/>
            <a:ext cx="838200" cy="1062852"/>
            <a:chOff x="974986" y="850900"/>
            <a:chExt cx="4181214" cy="5360574"/>
          </a:xfrm>
        </p:grpSpPr>
        <p:pic>
          <p:nvPicPr>
            <p:cNvPr id="9" name="图片 8"/>
            <p:cNvPicPr>
              <a:picLocks noChangeAspect="1"/>
            </p:cNvPicPr>
            <p:nvPr>
              <p:custDataLst>
                <p:tags r:id="rId3"/>
              </p:custDataLst>
            </p:nvPr>
          </p:nvPicPr>
          <p:blipFill rotWithShape="1">
            <a:blip r:embed="rId4" cstate="screen"/>
            <a:srcRect/>
            <a:stretch>
              <a:fillRect/>
            </a:stretch>
          </p:blipFill>
          <p:spPr>
            <a:xfrm>
              <a:off x="974986" y="1003300"/>
              <a:ext cx="4181214" cy="5208174"/>
            </a:xfrm>
            <a:prstGeom prst="rect">
              <a:avLst/>
            </a:prstGeom>
          </p:spPr>
        </p:pic>
        <p:pic>
          <p:nvPicPr>
            <p:cNvPr id="10" name="图片 9"/>
            <p:cNvPicPr>
              <a:picLocks noChangeAspect="1"/>
            </p:cNvPicPr>
            <p:nvPr>
              <p:custDataLst>
                <p:tags r:id="rId5"/>
              </p:custDataLst>
            </p:nvPr>
          </p:nvPicPr>
          <p:blipFill rotWithShape="1">
            <a:blip r:embed="rId6" cstate="screen"/>
            <a:srcRect/>
            <a:stretch>
              <a:fillRect/>
            </a:stretch>
          </p:blipFill>
          <p:spPr>
            <a:xfrm flipH="1">
              <a:off x="1745242" y="850900"/>
              <a:ext cx="1003301" cy="1219200"/>
            </a:xfrm>
            <a:prstGeom prst="rect">
              <a:avLst/>
            </a:prstGeom>
          </p:spPr>
        </p:pic>
      </p:grpSp>
      <p:sp>
        <p:nvSpPr>
          <p:cNvPr id="2" name="标题 1"/>
          <p:cNvSpPr>
            <a:spLocks noGrp="1"/>
          </p:cNvSpPr>
          <p:nvPr>
            <p:ph type="title"/>
            <p:custDataLst>
              <p:tags r:id="rId7"/>
            </p:custDataLst>
          </p:nvPr>
        </p:nvSpPr>
        <p:spPr>
          <a:xfrm>
            <a:off x="669930"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8"/>
            </p:custDataLst>
          </p:nvPr>
        </p:nvSpPr>
        <p:spPr>
          <a:xfrm>
            <a:off x="669930" y="952508"/>
            <a:ext cx="5283242" cy="5388907"/>
          </a:xfrm>
        </p:spPr>
        <p:txBody>
          <a:bodyPr vert="horz" lIns="101600" tIns="0" rIns="82550" bIns="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9"/>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dirty="0"/>
          </a:p>
        </p:txBody>
      </p:sp>
      <p:sp>
        <p:nvSpPr>
          <p:cNvPr id="7" name="灯片编号占位符 6"/>
          <p:cNvSpPr>
            <a:spLocks noGrp="1"/>
          </p:cNvSpPr>
          <p:nvPr>
            <p:ph type="sldNum" sz="quarter" idx="12"/>
            <p:custDataLst>
              <p:tags r:id="rId12"/>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7" name="组合 6"/>
          <p:cNvGrpSpPr/>
          <p:nvPr>
            <p:custDataLst>
              <p:tags r:id="rId2"/>
            </p:custDataLst>
          </p:nvPr>
        </p:nvGrpSpPr>
        <p:grpSpPr>
          <a:xfrm>
            <a:off x="11239500" y="5714949"/>
            <a:ext cx="838200" cy="1062852"/>
            <a:chOff x="974986" y="850900"/>
            <a:chExt cx="4181214" cy="5360574"/>
          </a:xfrm>
        </p:grpSpPr>
        <p:pic>
          <p:nvPicPr>
            <p:cNvPr id="8" name="图片 7"/>
            <p:cNvPicPr>
              <a:picLocks noChangeAspect="1"/>
            </p:cNvPicPr>
            <p:nvPr>
              <p:custDataLst>
                <p:tags r:id="rId3"/>
              </p:custDataLst>
            </p:nvPr>
          </p:nvPicPr>
          <p:blipFill rotWithShape="1">
            <a:blip r:embed="rId4" cstate="screen"/>
            <a:srcRect/>
            <a:stretch>
              <a:fillRect/>
            </a:stretch>
          </p:blipFill>
          <p:spPr>
            <a:xfrm>
              <a:off x="974986" y="1003300"/>
              <a:ext cx="4181214" cy="5208174"/>
            </a:xfrm>
            <a:prstGeom prst="rect">
              <a:avLst/>
            </a:prstGeom>
          </p:spPr>
        </p:pic>
        <p:pic>
          <p:nvPicPr>
            <p:cNvPr id="9" name="图片 8"/>
            <p:cNvPicPr>
              <a:picLocks noChangeAspect="1"/>
            </p:cNvPicPr>
            <p:nvPr>
              <p:custDataLst>
                <p:tags r:id="rId5"/>
              </p:custDataLst>
            </p:nvPr>
          </p:nvPicPr>
          <p:blipFill rotWithShape="1">
            <a:blip r:embed="rId6" cstate="screen"/>
            <a:srcRect/>
            <a:stretch>
              <a:fillRect/>
            </a:stretch>
          </p:blipFill>
          <p:spPr>
            <a:xfrm flipH="1">
              <a:off x="1745242" y="850900"/>
              <a:ext cx="1003301" cy="1219200"/>
            </a:xfrm>
            <a:prstGeom prst="rect">
              <a:avLst/>
            </a:prstGeom>
          </p:spPr>
        </p:pic>
      </p:grpSp>
      <p:sp>
        <p:nvSpPr>
          <p:cNvPr id="2" name="竖排标题 1"/>
          <p:cNvSpPr>
            <a:spLocks noGrp="1"/>
          </p:cNvSpPr>
          <p:nvPr>
            <p:ph type="title" orient="vert"/>
            <p:custDataLst>
              <p:tags r:id="rId7"/>
            </p:custDataLst>
          </p:nvPr>
        </p:nvSpPr>
        <p:spPr>
          <a:xfrm>
            <a:off x="10571135" y="952508"/>
            <a:ext cx="950984" cy="5388907"/>
          </a:xfrm>
        </p:spPr>
        <p:txBody>
          <a:bodyPr vert="eaVert" lIns="101600" tIns="38100" rIns="76200" bIns="3810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8"/>
            </p:custDataLst>
          </p:nvPr>
        </p:nvSpPr>
        <p:spPr>
          <a:xfrm>
            <a:off x="669925" y="952500"/>
            <a:ext cx="9828101" cy="5388907"/>
          </a:xfrm>
        </p:spPr>
        <p:txBody>
          <a:bodyPr vert="eaVert">
            <a:normAutofit/>
          </a:bodyPr>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grpSp>
        <p:nvGrpSpPr>
          <p:cNvPr id="2" name="组合 5"/>
          <p:cNvGrpSpPr/>
          <p:nvPr>
            <p:custDataLst>
              <p:tags r:id="rId2"/>
            </p:custDataLst>
          </p:nvPr>
        </p:nvGrpSpPr>
        <p:grpSpPr>
          <a:xfrm>
            <a:off x="11239500" y="5714949"/>
            <a:ext cx="838200" cy="1062852"/>
            <a:chOff x="974986" y="850900"/>
            <a:chExt cx="4181214" cy="5360574"/>
          </a:xfrm>
        </p:grpSpPr>
        <p:pic>
          <p:nvPicPr>
            <p:cNvPr id="8" name="图片 7"/>
            <p:cNvPicPr>
              <a:picLocks noChangeAspect="1"/>
            </p:cNvPicPr>
            <p:nvPr>
              <p:custDataLst>
                <p:tags r:id="rId3"/>
              </p:custDataLst>
            </p:nvPr>
          </p:nvPicPr>
          <p:blipFill rotWithShape="1">
            <a:blip r:embed="rId4" cstate="screen"/>
            <a:srcRect/>
            <a:stretch>
              <a:fillRect/>
            </a:stretch>
          </p:blipFill>
          <p:spPr>
            <a:xfrm>
              <a:off x="974986" y="1003300"/>
              <a:ext cx="4181214" cy="5208174"/>
            </a:xfrm>
            <a:prstGeom prst="rect">
              <a:avLst/>
            </a:prstGeom>
          </p:spPr>
        </p:pic>
        <p:pic>
          <p:nvPicPr>
            <p:cNvPr id="9" name="图片 8"/>
            <p:cNvPicPr>
              <a:picLocks noChangeAspect="1"/>
            </p:cNvPicPr>
            <p:nvPr>
              <p:custDataLst>
                <p:tags r:id="rId5"/>
              </p:custDataLst>
            </p:nvPr>
          </p:nvPicPr>
          <p:blipFill rotWithShape="1">
            <a:blip r:embed="rId6" cstate="screen"/>
            <a:srcRect/>
            <a:stretch>
              <a:fillRect/>
            </a:stretch>
          </p:blipFill>
          <p:spPr>
            <a:xfrm flipH="1">
              <a:off x="1745242" y="850900"/>
              <a:ext cx="1003301" cy="1219200"/>
            </a:xfrm>
            <a:prstGeom prst="rect">
              <a:avLst/>
            </a:prstGeom>
          </p:spPr>
        </p:pic>
      </p:grpSp>
      <p:sp>
        <p:nvSpPr>
          <p:cNvPr id="3" name="日期占位符 2"/>
          <p:cNvSpPr>
            <a:spLocks noGrp="1"/>
          </p:cNvSpPr>
          <p:nvPr>
            <p:ph type="dt" sz="half" idx="10"/>
            <p:custDataLst>
              <p:tags r:id="rId7"/>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lvl1pPr>
              <a:defRPr baseline="0">
                <a:solidFill>
                  <a:schemeClr val="tx1">
                    <a:lumMod val="85000"/>
                    <a:lumOff val="15000"/>
                  </a:schemeClr>
                </a:solidFill>
              </a:defRPr>
            </a:lvl1pPr>
          </a:lstStyle>
          <a:p>
            <a:endParaRPr lang="zh-CN" altLang="en-US"/>
          </a:p>
        </p:txBody>
      </p:sp>
      <p:sp>
        <p:nvSpPr>
          <p:cNvPr id="5" name="灯片编号占位符 4"/>
          <p:cNvSpPr>
            <a:spLocks noGrp="1"/>
          </p:cNvSpPr>
          <p:nvPr>
            <p:ph type="sldNum" sz="quarter" idx="12"/>
            <p:custDataLst>
              <p:tags r:id="rId9"/>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0"/>
            </p:custDataLst>
          </p:nvPr>
        </p:nvSpPr>
        <p:spPr>
          <a:xfrm>
            <a:off x="669930" y="952508"/>
            <a:ext cx="10852237" cy="5388907"/>
          </a:xfrm>
        </p:spPr>
        <p:txBody>
          <a:bodyPr/>
          <a:lstStyle>
            <a:lvl1pPr>
              <a:defRPr baseline="0">
                <a:solidFill>
                  <a:schemeClr val="tx1">
                    <a:lumMod val="85000"/>
                    <a:lumOff val="15000"/>
                  </a:schemeClr>
                </a:solidFill>
              </a:defRPr>
            </a:lvl1pPr>
            <a:lvl2pPr>
              <a:defRPr baseline="0">
                <a:solidFill>
                  <a:schemeClr val="tx1">
                    <a:lumMod val="85000"/>
                    <a:lumOff val="15000"/>
                  </a:schemeClr>
                </a:solidFill>
              </a:defRPr>
            </a:lvl2pPr>
            <a:lvl3pPr>
              <a:defRPr baseline="0">
                <a:solidFill>
                  <a:schemeClr val="tx1">
                    <a:lumMod val="85000"/>
                    <a:lumOff val="15000"/>
                  </a:schemeClr>
                </a:solidFill>
              </a:defRPr>
            </a:lvl3pPr>
            <a:lvl4pPr>
              <a:defRPr baseline="0">
                <a:solidFill>
                  <a:schemeClr val="tx1">
                    <a:lumMod val="85000"/>
                    <a:lumOff val="15000"/>
                  </a:schemeClr>
                </a:solidFill>
              </a:defRPr>
            </a:lvl4pPr>
            <a:lvl5pPr>
              <a:defRPr baseline="0">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accent1"/>
        </a:soli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15900" y="234235"/>
            <a:ext cx="11760200" cy="6389530"/>
          </a:xfrm>
          <a:prstGeom prst="rect">
            <a:avLst/>
          </a:prstGeom>
          <a:noFill/>
          <a:ln w="28575">
            <a:solidFill>
              <a:schemeClr val="bg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baseline="0">
              <a:latin typeface="Arial" panose="020B0604020202020204" pitchFamily="34" charset="0"/>
            </a:endParaRPr>
          </a:p>
        </p:txBody>
      </p:sp>
      <p:pic>
        <p:nvPicPr>
          <p:cNvPr id="7" name="图片 6"/>
          <p:cNvPicPr>
            <a:picLocks noChangeAspect="1"/>
          </p:cNvPicPr>
          <p:nvPr>
            <p:custDataLst>
              <p:tags r:id="rId3"/>
            </p:custDataLst>
          </p:nvPr>
        </p:nvPicPr>
        <p:blipFill rotWithShape="1">
          <a:blip r:embed="rId4" cstate="screen"/>
          <a:srcRect/>
          <a:stretch>
            <a:fillRect/>
          </a:stretch>
        </p:blipFill>
        <p:spPr>
          <a:xfrm>
            <a:off x="-497937" y="3308263"/>
            <a:ext cx="2881354" cy="3549737"/>
          </a:xfrm>
          <a:prstGeom prst="rect">
            <a:avLst/>
          </a:prstGeom>
        </p:spPr>
      </p:pic>
      <p:pic>
        <p:nvPicPr>
          <p:cNvPr id="8" name="图片 7"/>
          <p:cNvPicPr>
            <a:picLocks noChangeAspect="1"/>
          </p:cNvPicPr>
          <p:nvPr>
            <p:custDataLst>
              <p:tags r:id="rId5"/>
            </p:custDataLst>
          </p:nvPr>
        </p:nvPicPr>
        <p:blipFill rotWithShape="1">
          <a:blip r:embed="rId6" cstate="screen"/>
          <a:srcRect/>
          <a:stretch>
            <a:fillRect/>
          </a:stretch>
        </p:blipFill>
        <p:spPr>
          <a:xfrm flipH="1">
            <a:off x="684404" y="1576494"/>
            <a:ext cx="1245995" cy="1497534"/>
          </a:xfrm>
          <a:prstGeom prst="rect">
            <a:avLst/>
          </a:prstGeom>
        </p:spPr>
      </p:pic>
      <p:pic>
        <p:nvPicPr>
          <p:cNvPr id="9" name="图片 8"/>
          <p:cNvPicPr>
            <a:picLocks noChangeAspect="1"/>
          </p:cNvPicPr>
          <p:nvPr>
            <p:custDataLst>
              <p:tags r:id="rId7"/>
            </p:custDataLst>
          </p:nvPr>
        </p:nvPicPr>
        <p:blipFill rotWithShape="1">
          <a:blip r:embed="rId4" cstate="screen"/>
          <a:srcRect/>
          <a:stretch>
            <a:fillRect/>
          </a:stretch>
        </p:blipFill>
        <p:spPr>
          <a:xfrm flipH="1">
            <a:off x="9719683" y="3308263"/>
            <a:ext cx="2881354" cy="3549737"/>
          </a:xfrm>
          <a:prstGeom prst="rect">
            <a:avLst/>
          </a:prstGeom>
        </p:spPr>
      </p:pic>
      <p:pic>
        <p:nvPicPr>
          <p:cNvPr id="10" name="图片 9"/>
          <p:cNvPicPr>
            <a:picLocks noChangeAspect="1"/>
          </p:cNvPicPr>
          <p:nvPr>
            <p:custDataLst>
              <p:tags r:id="rId8"/>
            </p:custDataLst>
          </p:nvPr>
        </p:nvPicPr>
        <p:blipFill rotWithShape="1">
          <a:blip r:embed="rId6" cstate="screen"/>
          <a:srcRect/>
          <a:stretch>
            <a:fillRect/>
          </a:stretch>
        </p:blipFill>
        <p:spPr>
          <a:xfrm>
            <a:off x="10002566" y="1576494"/>
            <a:ext cx="1245995" cy="1497534"/>
          </a:xfrm>
          <a:prstGeom prst="rect">
            <a:avLst/>
          </a:prstGeom>
        </p:spPr>
      </p:pic>
      <p:sp>
        <p:nvSpPr>
          <p:cNvPr id="2" name="标题 1"/>
          <p:cNvSpPr>
            <a:spLocks noGrp="1"/>
          </p:cNvSpPr>
          <p:nvPr>
            <p:ph type="title" hasCustomPrompt="1"/>
            <p:custDataLst>
              <p:tags r:id="rId9"/>
            </p:custDataLst>
          </p:nvPr>
        </p:nvSpPr>
        <p:spPr>
          <a:xfrm>
            <a:off x="3144164" y="2286001"/>
            <a:ext cx="5903672" cy="1379248"/>
          </a:xfrm>
        </p:spPr>
        <p:txBody>
          <a:bodyPr vert="horz" lIns="90000" tIns="46800" rIns="90000" bIns="0" rtlCol="0" anchor="b" anchorCtr="0">
            <a:normAutofit/>
          </a:bodyPr>
          <a:lstStyle>
            <a:lvl1pPr marL="0" marR="0" algn="ctr" defTabSz="914400" rtl="0" eaLnBrk="1" fontAlgn="auto" latinLnBrk="0" hangingPunct="1">
              <a:lnSpc>
                <a:spcPct val="100000"/>
              </a:lnSpc>
              <a:buNone/>
              <a:defRPr kumimoji="0" lang="zh-CN" altLang="en-US" sz="7200" b="1" i="0" u="none" strike="noStrike" kern="1200" cap="none" spc="600" normalizeH="0" baseline="0" noProof="1" dirty="0">
                <a:solidFill>
                  <a:schemeClr val="bg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10"/>
            </p:custDataLst>
          </p:nvPr>
        </p:nvSpPr>
        <p:spPr/>
        <p:txBody>
          <a:bodyPr>
            <a:normAutofit/>
          </a:bodyPr>
          <a:lstStyle>
            <a:lvl1pPr>
              <a:defRPr baseline="0">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normAutofit/>
          </a:bodyPr>
          <a:lstStyle>
            <a:lvl1pPr>
              <a:defRPr baseline="0">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12"/>
            </p:custDataLst>
          </p:nvPr>
        </p:nvSpPr>
        <p:spPr/>
        <p:txBody>
          <a:bodyPr>
            <a:normAutofit/>
          </a:bodyPr>
          <a:lstStyle>
            <a:lvl1pPr>
              <a:defRPr baseline="0">
                <a:latin typeface="Arial" panose="020B0604020202020204" pitchFamily="34" charset="0"/>
              </a:defRPr>
            </a:lvl1pPr>
          </a:lstStyle>
          <a:p>
            <a:fld id="{49AE70B2-8BF9-45C0-BB95-33D1B9D3A854}" type="slidenum">
              <a:rPr lang="zh-CN" altLang="en-US" smtClean="0"/>
            </a:fld>
            <a:endParaRPr lang="zh-CN" altLang="en-US"/>
          </a:p>
        </p:txBody>
      </p:sp>
      <p:sp>
        <p:nvSpPr>
          <p:cNvPr id="15" name="文本占位符 14"/>
          <p:cNvSpPr>
            <a:spLocks noGrp="1"/>
          </p:cNvSpPr>
          <p:nvPr>
            <p:ph type="body" sz="quarter" idx="13" hasCustomPrompt="1"/>
            <p:custDataLst>
              <p:tags r:id="rId13"/>
            </p:custDataLst>
          </p:nvPr>
        </p:nvSpPr>
        <p:spPr>
          <a:xfrm>
            <a:off x="3144165" y="3740150"/>
            <a:ext cx="5903671" cy="610870"/>
          </a:xfrm>
        </p:spPr>
        <p:txBody>
          <a:bodyPr lIns="90000" tIns="0" rIns="90000" bIns="46800">
            <a:normAutofit/>
          </a:bodyPr>
          <a:lstStyle>
            <a:lvl1pPr marL="0" indent="0" algn="ctr">
              <a:buNone/>
              <a:defRPr sz="2400" baseline="0">
                <a:solidFill>
                  <a:schemeClr val="bg1"/>
                </a:solidFill>
                <a:latin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a:t>单击此处编辑文本</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grpSp>
        <p:nvGrpSpPr>
          <p:cNvPr id="6" name="组合 5"/>
          <p:cNvGrpSpPr/>
          <p:nvPr>
            <p:custDataLst>
              <p:tags r:id="rId2"/>
            </p:custDataLst>
          </p:nvPr>
        </p:nvGrpSpPr>
        <p:grpSpPr>
          <a:xfrm>
            <a:off x="11239500" y="5714949"/>
            <a:ext cx="838200" cy="1062852"/>
            <a:chOff x="974986" y="850900"/>
            <a:chExt cx="4181214" cy="5360574"/>
          </a:xfrm>
        </p:grpSpPr>
        <p:pic>
          <p:nvPicPr>
            <p:cNvPr id="7" name="图片 6"/>
            <p:cNvPicPr>
              <a:picLocks noChangeAspect="1"/>
            </p:cNvPicPr>
            <p:nvPr>
              <p:custDataLst>
                <p:tags r:id="rId3"/>
              </p:custDataLst>
            </p:nvPr>
          </p:nvPicPr>
          <p:blipFill rotWithShape="1">
            <a:blip r:embed="rId4" cstate="screen"/>
            <a:srcRect/>
            <a:stretch>
              <a:fillRect/>
            </a:stretch>
          </p:blipFill>
          <p:spPr>
            <a:xfrm>
              <a:off x="974986" y="1003300"/>
              <a:ext cx="4181214" cy="5208174"/>
            </a:xfrm>
            <a:prstGeom prst="rect">
              <a:avLst/>
            </a:prstGeom>
          </p:spPr>
        </p:pic>
        <p:pic>
          <p:nvPicPr>
            <p:cNvPr id="8" name="图片 7"/>
            <p:cNvPicPr>
              <a:picLocks noChangeAspect="1"/>
            </p:cNvPicPr>
            <p:nvPr>
              <p:custDataLst>
                <p:tags r:id="rId5"/>
              </p:custDataLst>
            </p:nvPr>
          </p:nvPicPr>
          <p:blipFill rotWithShape="1">
            <a:blip r:embed="rId6" cstate="screen"/>
            <a:srcRect/>
            <a:stretch>
              <a:fillRect/>
            </a:stretch>
          </p:blipFill>
          <p:spPr>
            <a:xfrm flipH="1">
              <a:off x="1745242" y="850900"/>
              <a:ext cx="1003301" cy="1219200"/>
            </a:xfrm>
            <a:prstGeom prst="rect">
              <a:avLst/>
            </a:prstGeom>
          </p:spPr>
        </p:pic>
      </p:grpSp>
      <p:sp>
        <p:nvSpPr>
          <p:cNvPr id="2" name="标题 1"/>
          <p:cNvSpPr>
            <a:spLocks noGrp="1"/>
          </p:cNvSpPr>
          <p:nvPr>
            <p:ph type="title"/>
            <p:custDataLst>
              <p:tags r:id="rId7"/>
            </p:custDataLst>
          </p:nvPr>
        </p:nvSpPr>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8"/>
            </p:custDataLst>
          </p:nvPr>
        </p:nvSpPr>
        <p:spPr/>
        <p:txBody>
          <a:bodyPr/>
          <a:lstStyle>
            <a:lvl1pPr>
              <a:defRPr>
                <a:solidFill>
                  <a:schemeClr val="tx1">
                    <a:lumMod val="85000"/>
                    <a:lumOff val="15000"/>
                  </a:schemeClr>
                </a:solidFill>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8" name="矩形 7"/>
          <p:cNvSpPr/>
          <p:nvPr>
            <p:custDataLst>
              <p:tags r:id="rId2"/>
            </p:custDataLst>
          </p:nvPr>
        </p:nvSpPr>
        <p:spPr>
          <a:xfrm>
            <a:off x="292800"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baseline="0">
              <a:solidFill>
                <a:schemeClr val="tx1">
                  <a:lumMod val="85000"/>
                  <a:lumOff val="15000"/>
                </a:schemeClr>
              </a:solidFill>
              <a:latin typeface="Arial" panose="020B0604020202020204" pitchFamily="34" charset="0"/>
            </a:endParaRPr>
          </a:p>
        </p:txBody>
      </p:sp>
      <p:grpSp>
        <p:nvGrpSpPr>
          <p:cNvPr id="6" name="组合 8"/>
          <p:cNvGrpSpPr/>
          <p:nvPr>
            <p:custDataLst>
              <p:tags r:id="rId3"/>
            </p:custDataLst>
          </p:nvPr>
        </p:nvGrpSpPr>
        <p:grpSpPr>
          <a:xfrm>
            <a:off x="0" y="0"/>
            <a:ext cx="12192000" cy="6858000"/>
            <a:chOff x="-28572259" y="-12700485"/>
            <a:chExt cx="33449711" cy="19023863"/>
          </a:xfrm>
        </p:grpSpPr>
        <p:pic>
          <p:nvPicPr>
            <p:cNvPr id="10" name="图片 9"/>
            <p:cNvPicPr>
              <a:picLocks noChangeAspect="1"/>
            </p:cNvPicPr>
            <p:nvPr>
              <p:custDataLst>
                <p:tags r:id="rId4"/>
              </p:custDataLst>
            </p:nvPr>
          </p:nvPicPr>
          <p:blipFill rotWithShape="1">
            <a:blip r:embed="rId5" cstate="screen"/>
            <a:srcRect/>
            <a:stretch>
              <a:fillRect/>
            </a:stretch>
          </p:blipFill>
          <p:spPr>
            <a:xfrm>
              <a:off x="696238" y="1115203"/>
              <a:ext cx="4181214" cy="5208175"/>
            </a:xfrm>
            <a:prstGeom prst="rect">
              <a:avLst/>
            </a:prstGeom>
          </p:spPr>
        </p:pic>
        <p:pic>
          <p:nvPicPr>
            <p:cNvPr id="11" name="图片 10"/>
            <p:cNvPicPr>
              <a:picLocks noChangeAspect="1"/>
            </p:cNvPicPr>
            <p:nvPr>
              <p:custDataLst>
                <p:tags r:id="rId6"/>
              </p:custDataLst>
            </p:nvPr>
          </p:nvPicPr>
          <p:blipFill rotWithShape="1">
            <a:blip r:embed="rId7" cstate="screen"/>
            <a:srcRect/>
            <a:stretch>
              <a:fillRect/>
            </a:stretch>
          </p:blipFill>
          <p:spPr>
            <a:xfrm flipH="1">
              <a:off x="-28572259" y="-12700485"/>
              <a:ext cx="3023325" cy="3673905"/>
            </a:xfrm>
            <a:prstGeom prst="rect">
              <a:avLst/>
            </a:prstGeom>
          </p:spPr>
        </p:pic>
      </p:grpSp>
      <p:sp>
        <p:nvSpPr>
          <p:cNvPr id="2" name="标题 1"/>
          <p:cNvSpPr>
            <a:spLocks noGrp="1"/>
          </p:cNvSpPr>
          <p:nvPr>
            <p:ph type="title" hasCustomPrompt="1"/>
            <p:custDataLst>
              <p:tags r:id="rId8"/>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9"/>
            </p:custDataLst>
          </p:nvPr>
        </p:nvSpPr>
        <p:spPr>
          <a:xfrm>
            <a:off x="1281113" y="2163600"/>
            <a:ext cx="9626600" cy="3445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8" name="矩形 7"/>
          <p:cNvSpPr/>
          <p:nvPr>
            <p:custDataLst>
              <p:tags r:id="rId2"/>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lvl="0" algn="ctr"/>
            <a:endParaRPr lang="en-US" altLang="zh-CN" baseline="0" dirty="0">
              <a:solidFill>
                <a:schemeClr val="tx1">
                  <a:lumMod val="85000"/>
                  <a:lumOff val="15000"/>
                </a:schemeClr>
              </a:solidFill>
              <a:latin typeface="Arial" panose="020B0604020202020204" pitchFamily="34" charset="0"/>
              <a:sym typeface="+mn-ea"/>
            </a:endParaRPr>
          </a:p>
        </p:txBody>
      </p:sp>
      <p:pic>
        <p:nvPicPr>
          <p:cNvPr id="10" name="图片 9"/>
          <p:cNvPicPr>
            <a:picLocks noChangeAspect="1"/>
          </p:cNvPicPr>
          <p:nvPr>
            <p:custDataLst>
              <p:tags r:id="rId3"/>
            </p:custDataLst>
          </p:nvPr>
        </p:nvPicPr>
        <p:blipFill rotWithShape="1">
          <a:blip r:embed="rId4" cstate="screen"/>
          <a:srcRect/>
          <a:stretch>
            <a:fillRect/>
          </a:stretch>
        </p:blipFill>
        <p:spPr>
          <a:xfrm flipH="1">
            <a:off x="0" y="1"/>
            <a:ext cx="957943" cy="1151328"/>
          </a:xfrm>
          <a:prstGeom prst="rect">
            <a:avLst/>
          </a:prstGeom>
        </p:spPr>
      </p:pic>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0" name="矩形 9"/>
          <p:cNvSpPr/>
          <p:nvPr>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lvl="0" algn="ctr"/>
            <a:endParaRPr lang="en-US" altLang="zh-CN" baseline="0">
              <a:solidFill>
                <a:schemeClr val="tx1">
                  <a:lumMod val="85000"/>
                  <a:lumOff val="15000"/>
                </a:schemeClr>
              </a:solidFill>
              <a:latin typeface="Arial" panose="020B0604020202020204" pitchFamily="34" charset="0"/>
              <a:sym typeface="+mn-ea"/>
            </a:endParaRPr>
          </a:p>
        </p:txBody>
      </p:sp>
      <p:pic>
        <p:nvPicPr>
          <p:cNvPr id="11" name="图片 10"/>
          <p:cNvPicPr>
            <a:picLocks noChangeAspect="1"/>
          </p:cNvPicPr>
          <p:nvPr>
            <p:custDataLst>
              <p:tags r:id="rId3"/>
            </p:custDataLst>
          </p:nvPr>
        </p:nvPicPr>
        <p:blipFill rotWithShape="1">
          <a:blip r:embed="rId4" cstate="screen"/>
          <a:srcRect/>
          <a:stretch>
            <a:fillRect/>
          </a:stretch>
        </p:blipFill>
        <p:spPr>
          <a:xfrm>
            <a:off x="11055860" y="108451"/>
            <a:ext cx="1045029" cy="1287442"/>
          </a:xfrm>
          <a:prstGeom prst="rect">
            <a:avLst/>
          </a:prstGeom>
        </p:spPr>
      </p:pic>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normAutofit/>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10" name="图片 9"/>
          <p:cNvPicPr>
            <a:picLocks noChangeAspect="1"/>
          </p:cNvPicPr>
          <p:nvPr>
            <p:custDataLst>
              <p:tags r:id="rId2"/>
            </p:custDataLst>
          </p:nvPr>
        </p:nvPicPr>
        <p:blipFill rotWithShape="1">
          <a:blip r:embed="rId3" cstate="screen"/>
          <a:srcRect/>
          <a:stretch>
            <a:fillRect/>
          </a:stretch>
        </p:blipFill>
        <p:spPr>
          <a:xfrm>
            <a:off x="11055860" y="108451"/>
            <a:ext cx="1045029" cy="1287442"/>
          </a:xfrm>
          <a:prstGeom prst="rect">
            <a:avLst/>
          </a:prstGeom>
        </p:spPr>
      </p:pic>
      <p:sp>
        <p:nvSpPr>
          <p:cNvPr id="8" name="矩形 7"/>
          <p:cNvSpPr/>
          <p:nvPr>
            <p:custDataLst>
              <p:tags r:id="rId4"/>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lvl="0" algn="ctr"/>
            <a:endParaRPr lang="en-US" altLang="zh-CN" baseline="0">
              <a:solidFill>
                <a:schemeClr val="tx1">
                  <a:lumMod val="85000"/>
                  <a:lumOff val="15000"/>
                </a:schemeClr>
              </a:solidFill>
              <a:latin typeface="Arial" panose="020B0604020202020204" pitchFamily="34" charset="0"/>
              <a:sym typeface="+mn-ea"/>
            </a:endParaRPr>
          </a:p>
        </p:txBody>
      </p:sp>
      <p:sp>
        <p:nvSpPr>
          <p:cNvPr id="2" name="标题 1"/>
          <p:cNvSpPr>
            <a:spLocks noGrp="1"/>
          </p:cNvSpPr>
          <p:nvPr>
            <p:ph type="title"/>
            <p:custDataLst>
              <p:tags r:id="rId5"/>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9"/>
            </p:custDataLst>
          </p:nvPr>
        </p:nvSpPr>
        <p:spPr>
          <a:xfrm>
            <a:off x="604837" y="1681200"/>
            <a:ext cx="10990800" cy="3211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0"/>
            </p:custDataLst>
          </p:nvPr>
        </p:nvSpPr>
        <p:spPr>
          <a:xfrm>
            <a:off x="594000" y="5180400"/>
            <a:ext cx="11001600" cy="10116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6" name="组合 11"/>
          <p:cNvGrpSpPr/>
          <p:nvPr>
            <p:custDataLst>
              <p:tags r:id="rId2"/>
            </p:custDataLst>
          </p:nvPr>
        </p:nvGrpSpPr>
        <p:grpSpPr>
          <a:xfrm>
            <a:off x="11239500" y="5714949"/>
            <a:ext cx="838200" cy="1062852"/>
            <a:chOff x="974986" y="850900"/>
            <a:chExt cx="4181214" cy="5360574"/>
          </a:xfrm>
        </p:grpSpPr>
        <p:pic>
          <p:nvPicPr>
            <p:cNvPr id="14" name="图片 13"/>
            <p:cNvPicPr>
              <a:picLocks noChangeAspect="1"/>
            </p:cNvPicPr>
            <p:nvPr>
              <p:custDataLst>
                <p:tags r:id="rId3"/>
              </p:custDataLst>
            </p:nvPr>
          </p:nvPicPr>
          <p:blipFill rotWithShape="1">
            <a:blip r:embed="rId4" cstate="screen"/>
            <a:srcRect/>
            <a:stretch>
              <a:fillRect/>
            </a:stretch>
          </p:blipFill>
          <p:spPr>
            <a:xfrm>
              <a:off x="974986" y="1003300"/>
              <a:ext cx="4181214" cy="5208174"/>
            </a:xfrm>
            <a:prstGeom prst="rect">
              <a:avLst/>
            </a:prstGeom>
          </p:spPr>
        </p:pic>
        <p:pic>
          <p:nvPicPr>
            <p:cNvPr id="15" name="图片 14"/>
            <p:cNvPicPr>
              <a:picLocks noChangeAspect="1"/>
            </p:cNvPicPr>
            <p:nvPr>
              <p:custDataLst>
                <p:tags r:id="rId5"/>
              </p:custDataLst>
            </p:nvPr>
          </p:nvPicPr>
          <p:blipFill rotWithShape="1">
            <a:blip r:embed="rId6" cstate="screen"/>
            <a:srcRect/>
            <a:stretch>
              <a:fillRect/>
            </a:stretch>
          </p:blipFill>
          <p:spPr>
            <a:xfrm flipH="1">
              <a:off x="1745242" y="850900"/>
              <a:ext cx="1003301" cy="1219200"/>
            </a:xfrm>
            <a:prstGeom prst="rect">
              <a:avLst/>
            </a:prstGeom>
          </p:spPr>
        </p:pic>
      </p:grpSp>
      <p:sp>
        <p:nvSpPr>
          <p:cNvPr id="10" name="矩形 9"/>
          <p:cNvSpPr/>
          <p:nvPr>
            <p:custDataLst>
              <p:tags r:id="rId7"/>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lvl="0" algn="ctr"/>
            <a:endParaRPr lang="en-US" altLang="zh-CN" baseline="0">
              <a:solidFill>
                <a:schemeClr val="tx1">
                  <a:lumMod val="85000"/>
                  <a:lumOff val="15000"/>
                </a:schemeClr>
              </a:solidFill>
              <a:latin typeface="Arial" panose="020B0604020202020204" pitchFamily="34" charset="0"/>
              <a:sym typeface="+mn-ea"/>
            </a:endParaRPr>
          </a:p>
        </p:txBody>
      </p:sp>
      <p:sp>
        <p:nvSpPr>
          <p:cNvPr id="2" name="标题 1"/>
          <p:cNvSpPr>
            <a:spLocks noGrp="1"/>
          </p:cNvSpPr>
          <p:nvPr>
            <p:ph type="title"/>
            <p:custDataLst>
              <p:tags r:id="rId8"/>
            </p:custDataLst>
          </p:nvPr>
        </p:nvSpPr>
        <p:spPr>
          <a:xfrm>
            <a:off x="579600" y="237600"/>
            <a:ext cx="11037600" cy="441964"/>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2"/>
            </p:custDataLst>
          </p:nvPr>
        </p:nvSpPr>
        <p:spPr>
          <a:xfrm>
            <a:off x="579600" y="1663200"/>
            <a:ext cx="5342400" cy="28944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3"/>
            </p:custDataLst>
          </p:nvPr>
        </p:nvSpPr>
        <p:spPr>
          <a:xfrm>
            <a:off x="6242400" y="1663200"/>
            <a:ext cx="5367600" cy="28944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4"/>
            </p:custDataLst>
          </p:nvPr>
        </p:nvSpPr>
        <p:spPr>
          <a:xfrm>
            <a:off x="572400" y="4816800"/>
            <a:ext cx="5342400" cy="781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5"/>
            </p:custDataLst>
          </p:nvPr>
        </p:nvSpPr>
        <p:spPr>
          <a:xfrm>
            <a:off x="6253200" y="4813200"/>
            <a:ext cx="5367600" cy="781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p:custDataLst>
              <p:tags r:id="rId2"/>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lvl="0" algn="ctr"/>
            <a:endParaRPr lang="en-US" altLang="zh-CN" baseline="0">
              <a:solidFill>
                <a:schemeClr val="tx1">
                  <a:lumMod val="85000"/>
                  <a:lumOff val="15000"/>
                </a:schemeClr>
              </a:solidFill>
              <a:latin typeface="Arial" panose="020B0604020202020204" pitchFamily="34" charset="0"/>
              <a:sym typeface="+mn-ea"/>
            </a:endParaRPr>
          </a:p>
        </p:txBody>
      </p:sp>
      <p:grpSp>
        <p:nvGrpSpPr>
          <p:cNvPr id="6" name="组合 7"/>
          <p:cNvGrpSpPr/>
          <p:nvPr>
            <p:custDataLst>
              <p:tags r:id="rId3"/>
            </p:custDataLst>
          </p:nvPr>
        </p:nvGrpSpPr>
        <p:grpSpPr>
          <a:xfrm>
            <a:off x="0" y="0"/>
            <a:ext cx="12191999" cy="6825240"/>
            <a:chOff x="-18879521" y="-7179957"/>
            <a:chExt cx="24035719" cy="13604540"/>
          </a:xfrm>
        </p:grpSpPr>
        <p:pic>
          <p:nvPicPr>
            <p:cNvPr id="9" name="图片 8"/>
            <p:cNvPicPr>
              <a:picLocks noChangeAspect="1"/>
            </p:cNvPicPr>
            <p:nvPr>
              <p:custDataLst>
                <p:tags r:id="rId4"/>
              </p:custDataLst>
            </p:nvPr>
          </p:nvPicPr>
          <p:blipFill rotWithShape="1">
            <a:blip r:embed="rId5" cstate="screen"/>
            <a:srcRect/>
            <a:stretch>
              <a:fillRect/>
            </a:stretch>
          </p:blipFill>
          <p:spPr>
            <a:xfrm>
              <a:off x="1643397" y="2048993"/>
              <a:ext cx="3512801" cy="4375590"/>
            </a:xfrm>
            <a:prstGeom prst="rect">
              <a:avLst/>
            </a:prstGeom>
          </p:spPr>
        </p:pic>
        <p:pic>
          <p:nvPicPr>
            <p:cNvPr id="11" name="图片 10"/>
            <p:cNvPicPr>
              <a:picLocks noChangeAspect="1"/>
            </p:cNvPicPr>
            <p:nvPr>
              <p:custDataLst>
                <p:tags r:id="rId6"/>
              </p:custDataLst>
            </p:nvPr>
          </p:nvPicPr>
          <p:blipFill rotWithShape="1">
            <a:blip r:embed="rId7" cstate="screen"/>
            <a:srcRect/>
            <a:stretch>
              <a:fillRect/>
            </a:stretch>
          </p:blipFill>
          <p:spPr>
            <a:xfrm flipH="1">
              <a:off x="-18879521" y="-7179957"/>
              <a:ext cx="3777042" cy="4589825"/>
            </a:xfrm>
            <a:prstGeom prst="rect">
              <a:avLst/>
            </a:prstGeom>
          </p:spPr>
        </p:pic>
      </p:grpSp>
      <p:sp>
        <p:nvSpPr>
          <p:cNvPr id="2" name="标题 1"/>
          <p:cNvSpPr>
            <a:spLocks noGrp="1"/>
          </p:cNvSpPr>
          <p:nvPr>
            <p:ph type="title" hasCustomPrompt="1"/>
            <p:custDataLst>
              <p:tags r:id="rId8"/>
            </p:custDataLst>
          </p:nvPr>
        </p:nvSpPr>
        <p:spPr>
          <a:xfrm>
            <a:off x="1522800" y="1339200"/>
            <a:ext cx="9144000" cy="2386800"/>
          </a:xfrm>
        </p:spPr>
        <p:txBody>
          <a:bodyPr anchor="b">
            <a:normAutofit/>
          </a:bodyPr>
          <a:lstStyle>
            <a:lvl1pPr algn="ctr">
              <a:defRPr sz="60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1522413" y="3862800"/>
            <a:ext cx="9144000" cy="1656000"/>
          </a:xfrm>
        </p:spPr>
        <p:txBody>
          <a:bodyPr>
            <a:normAutofit/>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6" Type="http://schemas.openxmlformats.org/officeDocument/2006/relationships/theme" Target="../theme/theme2.xml"/><Relationship Id="rId25" Type="http://schemas.openxmlformats.org/officeDocument/2006/relationships/tags" Target="../tags/tag157.xml"/><Relationship Id="rId24" Type="http://schemas.openxmlformats.org/officeDocument/2006/relationships/tags" Target="../tags/tag156.xml"/><Relationship Id="rId23" Type="http://schemas.openxmlformats.org/officeDocument/2006/relationships/tags" Target="../tags/tag155.xml"/><Relationship Id="rId22" Type="http://schemas.openxmlformats.org/officeDocument/2006/relationships/tags" Target="../tags/tag154.xml"/><Relationship Id="rId21" Type="http://schemas.openxmlformats.org/officeDocument/2006/relationships/tags" Target="../tags/tag153.xml"/><Relationship Id="rId20" Type="http://schemas.openxmlformats.org/officeDocument/2006/relationships/tags" Target="../tags/tag152.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baseline="0">
                <a:solidFill>
                  <a:schemeClr val="tx1">
                    <a:lumMod val="85000"/>
                    <a:lumOff val="15000"/>
                  </a:schemeClr>
                </a:solidFill>
                <a:latin typeface="Arial" panose="020B0604020202020204" pitchFamily="34" charset="0"/>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dirty="0"/>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58.xml"/><Relationship Id="rId1" Type="http://schemas.openxmlformats.org/officeDocument/2006/relationships/image" Target="../media/image14.jpe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59.xml"/><Relationship Id="rId1" Type="http://schemas.openxmlformats.org/officeDocument/2006/relationships/image" Target="../media/image15.jpe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60.xml"/><Relationship Id="rId2" Type="http://schemas.openxmlformats.org/officeDocument/2006/relationships/image" Target="../media/image17.jpeg"/><Relationship Id="rId1" Type="http://schemas.openxmlformats.org/officeDocument/2006/relationships/image" Target="../media/image16.jpe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1.xml"/><Relationship Id="rId1" Type="http://schemas.openxmlformats.org/officeDocument/2006/relationships/image" Target="../media/image18.jpe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62.xml"/><Relationship Id="rId2" Type="http://schemas.openxmlformats.org/officeDocument/2006/relationships/image" Target="../media/image20.jpeg"/><Relationship Id="rId1" Type="http://schemas.openxmlformats.org/officeDocument/2006/relationships/image" Target="../media/image19.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3.xml"/><Relationship Id="rId1" Type="http://schemas.openxmlformats.org/officeDocument/2006/relationships/image" Target="../media/image21.jpe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4.xml"/><Relationship Id="rId1" Type="http://schemas.openxmlformats.org/officeDocument/2006/relationships/image" Target="../media/image22.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5.xml"/><Relationship Id="rId1" Type="http://schemas.openxmlformats.org/officeDocument/2006/relationships/image" Target="../media/image23.jpe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6.xml"/><Relationship Id="rId1" Type="http://schemas.openxmlformats.org/officeDocument/2006/relationships/image" Target="../media/image24.jpe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7.xml"/><Relationship Id="rId1" Type="http://schemas.openxmlformats.org/officeDocument/2006/relationships/image" Target="../media/image25.jpe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8.xml"/><Relationship Id="rId1" Type="http://schemas.openxmlformats.org/officeDocument/2006/relationships/image" Target="../media/image23.jpeg"/></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3.xml"/><Relationship Id="rId3" Type="http://schemas.openxmlformats.org/officeDocument/2006/relationships/tags" Target="../tags/tag169.xml"/><Relationship Id="rId2" Type="http://schemas.openxmlformats.org/officeDocument/2006/relationships/image" Target="../media/image27.jpeg"/><Relationship Id="rId1" Type="http://schemas.openxmlformats.org/officeDocument/2006/relationships/image" Target="../media/image26.jpe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0.xml"/><Relationship Id="rId2" Type="http://schemas.openxmlformats.org/officeDocument/2006/relationships/image" Target="../media/image29.jpeg"/><Relationship Id="rId1" Type="http://schemas.openxmlformats.org/officeDocument/2006/relationships/image" Target="../media/image28.jpe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71.xml"/><Relationship Id="rId1" Type="http://schemas.openxmlformats.org/officeDocument/2006/relationships/image" Target="../media/image25.jpe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2.xml"/><Relationship Id="rId2" Type="http://schemas.openxmlformats.org/officeDocument/2006/relationships/image" Target="../media/image24.jpeg"/><Relationship Id="rId1" Type="http://schemas.openxmlformats.org/officeDocument/2006/relationships/image" Target="../media/image30.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74.xml"/><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tags" Target="../tags/tag173.xml"/></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5.xml"/><Relationship Id="rId2" Type="http://schemas.openxmlformats.org/officeDocument/2006/relationships/image" Target="../media/image34.jpeg"/><Relationship Id="rId1" Type="http://schemas.openxmlformats.org/officeDocument/2006/relationships/image" Target="../media/image33.jpeg"/></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6.xml"/><Relationship Id="rId2" Type="http://schemas.openxmlformats.org/officeDocument/2006/relationships/image" Target="../media/image36.jpeg"/><Relationship Id="rId1" Type="http://schemas.openxmlformats.org/officeDocument/2006/relationships/image" Target="../media/image35.jpeg"/></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7.xml"/><Relationship Id="rId2" Type="http://schemas.openxmlformats.org/officeDocument/2006/relationships/image" Target="../media/image31.jpeg"/><Relationship Id="rId1" Type="http://schemas.openxmlformats.org/officeDocument/2006/relationships/image" Target="../media/image37.jpe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8.xml"/><Relationship Id="rId2" Type="http://schemas.openxmlformats.org/officeDocument/2006/relationships/image" Target="../media/image39.jpeg"/><Relationship Id="rId1" Type="http://schemas.openxmlformats.org/officeDocument/2006/relationships/image" Target="../media/image38.jpe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9.xml"/><Relationship Id="rId2" Type="http://schemas.openxmlformats.org/officeDocument/2006/relationships/image" Target="../media/image39.jpeg"/><Relationship Id="rId1"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634020"/>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9BBB59">
                    <a:lumMod val="50000"/>
                  </a:srgbClr>
                </a:solidFill>
              </a:rPr>
              <a:t>CET6</a:t>
            </a:r>
            <a:endParaRPr lang="zh-CN" altLang="en-US" sz="4400" kern="0" dirty="0">
              <a:solidFill>
                <a:srgbClr val="9BBB59">
                  <a:lumMod val="50000"/>
                </a:srgbClr>
              </a:solidFill>
            </a:endParaRPr>
          </a:p>
        </p:txBody>
      </p:sp>
      <p:sp>
        <p:nvSpPr>
          <p:cNvPr id="10" name="TextBox 9"/>
          <p:cNvSpPr txBox="1"/>
          <p:nvPr/>
        </p:nvSpPr>
        <p:spPr>
          <a:xfrm>
            <a:off x="5867400" y="2590800"/>
            <a:ext cx="3276600" cy="1445260"/>
          </a:xfrm>
          <a:prstGeom prst="rect">
            <a:avLst/>
          </a:prstGeom>
          <a:noFill/>
        </p:spPr>
        <p:txBody>
          <a:bodyPr wrap="square" rtlCol="0">
            <a:spAutoFit/>
          </a:bodyPr>
          <a:lstStyle/>
          <a:p>
            <a:pPr algn="ctr">
              <a:defRPr/>
            </a:pPr>
            <a:r>
              <a:rPr lang="zh-CN" altLang="en-US" sz="4400" b="1" kern="0" dirty="0">
                <a:solidFill>
                  <a:srgbClr val="FF0000"/>
                </a:solidFill>
                <a:latin typeface="Agency FB" panose="020B0503020202020204" pitchFamily="34" charset="0"/>
                <a:ea typeface="微软雅黑" panose="020B0503020204020204" pitchFamily="34" charset="-122"/>
                <a:cs typeface="Calibri" panose="020F0502020204030204" pitchFamily="34" charset="0"/>
              </a:rPr>
              <a:t>复习题</a:t>
            </a:r>
            <a:endParaRPr lang="zh-CN" altLang="en-US" sz="4400" b="1" kern="0" dirty="0">
              <a:solidFill>
                <a:srgbClr val="FF0000"/>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632460"/>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Passage 1</a:t>
            </a:r>
            <a:endParaRPr lang="en-US" altLang="zh-CN" sz="4400" kern="0" dirty="0" smtClean="0">
              <a:solidFill>
                <a:srgbClr val="FF0000"/>
              </a:solidFill>
            </a:endParaRPr>
          </a:p>
        </p:txBody>
      </p:sp>
      <p:sp>
        <p:nvSpPr>
          <p:cNvPr id="10" name="TextBox 9"/>
          <p:cNvSpPr txBox="1"/>
          <p:nvPr/>
        </p:nvSpPr>
        <p:spPr>
          <a:xfrm>
            <a:off x="5334000" y="2514600"/>
            <a:ext cx="4288790" cy="2122805"/>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深层</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阅读理解</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5585" y="0"/>
            <a:ext cx="11720830" cy="4514215"/>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rPr>
              <a:t>People often discuss the dangers of too much stress, but lately a very different view of stress is gaining popularity: this view of stress, held by members of the positive stress movement, argues that stress might actually be beneficial. The positive stress movement is made up of people such as Zachary Rapp who are looking for an edge in a competitive world, and Rapp’s routine is a good example of followers of the movement. He wakes up most mornings at dawn, goes for a run, sips black coffee while ripping through emails, and then steps into a freezing cold shower. This is a routine designed to reduce the stress of running simultaneously three different health and biotechnology companies for 18 hours a day.</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04800" y="449580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46. What do we learn about followers of the positive stress movement?</a:t>
            </a:r>
            <a:endParaRPr lang="en-US" altLang="zh-CN" sz="2800"/>
          </a:p>
          <a:p>
            <a:pPr marL="0" indent="0">
              <a:lnSpc>
                <a:spcPct val="100000"/>
              </a:lnSpc>
              <a:buNone/>
            </a:pPr>
            <a:r>
              <a:rPr lang="en-US" altLang="zh-CN" sz="2800"/>
              <a:t>    A) They are usually quite sensitive to different types of stress.</a:t>
            </a:r>
            <a:endParaRPr lang="en-US" altLang="zh-CN" sz="2800"/>
          </a:p>
          <a:p>
            <a:pPr marL="0" indent="0">
              <a:lnSpc>
                <a:spcPct val="100000"/>
              </a:lnSpc>
              <a:buNone/>
            </a:pPr>
            <a:r>
              <a:rPr lang="en-US" altLang="zh-CN" sz="2800"/>
              <a:t>    B) They hold a different view on stress from the popular one.</a:t>
            </a:r>
            <a:endParaRPr lang="en-US" altLang="zh-CN" sz="2800"/>
          </a:p>
          <a:p>
            <a:pPr marL="0" indent="0">
              <a:lnSpc>
                <a:spcPct val="100000"/>
              </a:lnSpc>
              <a:buNone/>
            </a:pPr>
            <a:r>
              <a:rPr lang="en-US" altLang="zh-CN" sz="2800"/>
              <a:t>    C) They derive much pleasure from living a very hectic life.</a:t>
            </a:r>
            <a:endParaRPr lang="en-US" altLang="zh-CN" sz="2800"/>
          </a:p>
          <a:p>
            <a:pPr marL="0" indent="0">
              <a:lnSpc>
                <a:spcPct val="100000"/>
              </a:lnSpc>
              <a:buNone/>
            </a:pPr>
            <a:r>
              <a:rPr lang="en-US" altLang="zh-CN" sz="2800"/>
              <a:t>    D) They gain a competitive edge by enjoying good health.</a:t>
            </a:r>
            <a:endParaRPr lang="en-US" altLang="zh-CN" sz="2800"/>
          </a:p>
        </p:txBody>
      </p:sp>
      <p:sp>
        <p:nvSpPr>
          <p:cNvPr id="2" name="文本框 1"/>
          <p:cNvSpPr txBox="1"/>
          <p:nvPr/>
        </p:nvSpPr>
        <p:spPr>
          <a:xfrm>
            <a:off x="8534400" y="525780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 grpId="0"/>
      <p:bldP spid="2"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5585" y="0"/>
            <a:ext cx="11720830" cy="4514215"/>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rPr>
              <a:t> Rapp’s routine is a good example of followers of the movement. He wakes up most mornings at dawn, goes for a run, sips black coffee while ripping through emails, and then steps into a freezing cold shower.  </a:t>
            </a:r>
            <a:endParaRPr lang="en-US" altLang="zh-CN" sz="2800">
              <a:latin typeface="Times New Roman" panose="02020603050405020304" pitchFamily="18" charset="0"/>
              <a:cs typeface="Times New Roman" panose="02020603050405020304" pitchFamily="18" charset="0"/>
            </a:endParaRPr>
          </a:p>
          <a:p>
            <a:pPr marL="0" indent="0">
              <a:buNone/>
            </a:pPr>
            <a:r>
              <a:rPr lang="en-US" altLang="zh-CN" sz="2800">
                <a:latin typeface="Times New Roman" panose="02020603050405020304" pitchFamily="18" charset="0"/>
                <a:cs typeface="Times New Roman" panose="02020603050405020304" pitchFamily="18" charset="0"/>
              </a:rPr>
              <a:t>     Although Rapp’s practices may sound extreme, he is part of a growing movement, consisting largely of tech industry workers who claim that such radical tactics will help them live better and longer. Inspired by influential figures in different fields, including entertainers, athletes, entrepreneurs and scientists, positive stress practitioners seek out some combination of extreme temperatures, restrictive diets, punishing exercise routines and general discomfort. </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04800" y="449580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7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47. What do  followers of the positive stress movement usually do to put their</a:t>
            </a:r>
            <a:endParaRPr lang="en-US" altLang="zh-CN" sz="2800"/>
          </a:p>
          <a:p>
            <a:pPr marL="0" indent="0">
              <a:lnSpc>
                <a:spcPct val="100000"/>
              </a:lnSpc>
              <a:buNone/>
            </a:pPr>
            <a:r>
              <a:rPr lang="en-US" altLang="zh-CN" sz="2800"/>
              <a:t>    ideas into practice?</a:t>
            </a:r>
            <a:endParaRPr lang="en-US" altLang="zh-CN" sz="2800"/>
          </a:p>
          <a:p>
            <a:pPr marL="0" indent="0">
              <a:lnSpc>
                <a:spcPct val="100000"/>
              </a:lnSpc>
              <a:buNone/>
            </a:pPr>
            <a:r>
              <a:rPr lang="en-US" altLang="zh-CN" sz="2800"/>
              <a:t>    A) They keep changing their living habits.    B) They network with influential figures .</a:t>
            </a:r>
            <a:endParaRPr lang="en-US" altLang="zh-CN" sz="2800"/>
          </a:p>
          <a:p>
            <a:pPr marL="0" indent="0">
              <a:lnSpc>
                <a:spcPct val="100000"/>
              </a:lnSpc>
              <a:buNone/>
            </a:pPr>
            <a:r>
              <a:rPr lang="en-US" altLang="zh-CN" sz="2800"/>
              <a:t>    C) They seek jobs in tech industries.             D) They apply extreme tactics.</a:t>
            </a:r>
            <a:endParaRPr lang="en-US" altLang="zh-CN" sz="2800"/>
          </a:p>
        </p:txBody>
      </p:sp>
      <p:sp>
        <p:nvSpPr>
          <p:cNvPr id="2" name="文本框 1"/>
          <p:cNvSpPr txBox="1"/>
          <p:nvPr/>
        </p:nvSpPr>
        <p:spPr>
          <a:xfrm>
            <a:off x="10882346" y="6072206"/>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 grpId="0"/>
      <p:bldP spid="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230" y="228600"/>
            <a:ext cx="11720830" cy="3924300"/>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rPr>
              <a:t>Rapp argues that positive stress keeps him balanced. In addition to running and freezing showers, Rapp uses ice baths, hot yoga, and unconventional eating practices such as eliminating dairy, sugar, alcohol and various other foods high in carbohydrates. He believes that these practices, which put stress on his body, actually make him feel less stress from work. However, Rapp does not credit anyone in particular for his choices: he said he started using these methods in college, where he got into the habit of taking ice baths to recover from sports. He got back into it while trying to get his three companies off the ground.</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81000" y="434340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48. What does Zachary Rapp say about his unconventional practices?</a:t>
            </a:r>
            <a:endParaRPr lang="en-US" altLang="zh-CN" sz="2800"/>
          </a:p>
          <a:p>
            <a:pPr marL="0" indent="0">
              <a:lnSpc>
                <a:spcPct val="100000"/>
              </a:lnSpc>
              <a:buNone/>
            </a:pPr>
            <a:r>
              <a:rPr lang="en-US" altLang="zh-CN" sz="2800"/>
              <a:t>    A) They help him combat stress from work.</a:t>
            </a:r>
            <a:endParaRPr lang="en-US" altLang="zh-CN" sz="2800"/>
          </a:p>
          <a:p>
            <a:pPr marL="0" indent="0">
              <a:lnSpc>
                <a:spcPct val="100000"/>
              </a:lnSpc>
              <a:buNone/>
            </a:pPr>
            <a:r>
              <a:rPr lang="en-US" altLang="zh-CN" sz="2800"/>
              <a:t>    B) They enable him to cut down living expenses.</a:t>
            </a:r>
            <a:endParaRPr lang="en-US" altLang="zh-CN" sz="2800"/>
          </a:p>
          <a:p>
            <a:pPr marL="0" indent="0">
              <a:lnSpc>
                <a:spcPct val="100000"/>
              </a:lnSpc>
              <a:buNone/>
            </a:pPr>
            <a:r>
              <a:rPr lang="en-US" altLang="zh-CN" sz="2800"/>
              <a:t>    C) They enable him to recover from injuries and illnesses.</a:t>
            </a:r>
            <a:endParaRPr lang="en-US" altLang="zh-CN" sz="2800"/>
          </a:p>
          <a:p>
            <a:pPr marL="0" indent="0">
              <a:lnSpc>
                <a:spcPct val="100000"/>
              </a:lnSpc>
              <a:buNone/>
            </a:pPr>
            <a:r>
              <a:rPr lang="en-US" altLang="zh-CN" sz="2800"/>
              <a:t>    D) They help him get three companies enlisted all at once..</a:t>
            </a:r>
            <a:endParaRPr lang="en-US" altLang="zh-CN" sz="2800"/>
          </a:p>
        </p:txBody>
      </p:sp>
      <p:sp>
        <p:nvSpPr>
          <p:cNvPr id="2" name="文本框 1"/>
          <p:cNvSpPr txBox="1"/>
          <p:nvPr/>
        </p:nvSpPr>
        <p:spPr>
          <a:xfrm>
            <a:off x="6324600" y="464820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4800" y="609600"/>
            <a:ext cx="11720830" cy="2844800"/>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a:latin typeface="Times New Roman" panose="02020603050405020304" pitchFamily="18" charset="0"/>
                <a:cs typeface="Times New Roman" panose="02020603050405020304" pitchFamily="18" charset="0"/>
              </a:rPr>
              <a:t>Rapp works long hours and sleeps only five to seven hours a night but he said he only gets sick once a year. For him, the difference between day-to-day  stress, like the kind we feel when moving apartments, and positive stress is that the latter involves pushing the body to extremes and forcing it to build up a tolerance.</a:t>
            </a:r>
            <a:endParaRPr lang="en-US" altLang="zh-CN">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04800" y="3657600"/>
            <a:ext cx="11732260" cy="2651125"/>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700"/>
              <a:t>49. What can be inferred from the passage about day-to day stress?</a:t>
            </a:r>
            <a:endParaRPr lang="en-US" altLang="zh-CN" sz="2700"/>
          </a:p>
          <a:p>
            <a:pPr marL="0" indent="0">
              <a:lnSpc>
                <a:spcPct val="100000"/>
              </a:lnSpc>
              <a:buNone/>
            </a:pPr>
            <a:r>
              <a:rPr lang="en-US" altLang="zh-CN" sz="2700"/>
              <a:t>    A) It is harmful to one’s physical and mental health.</a:t>
            </a:r>
            <a:endParaRPr lang="en-US" altLang="zh-CN" sz="2700"/>
          </a:p>
          <a:p>
            <a:pPr marL="0" indent="0">
              <a:lnSpc>
                <a:spcPct val="100000"/>
              </a:lnSpc>
              <a:buNone/>
            </a:pPr>
            <a:r>
              <a:rPr lang="en-US" altLang="zh-CN" sz="2700"/>
              <a:t>    B) It does not differ in essence from positive stress.</a:t>
            </a:r>
            <a:endParaRPr lang="en-US" altLang="zh-CN" sz="2700"/>
          </a:p>
          <a:p>
            <a:pPr marL="0" indent="0">
              <a:lnSpc>
                <a:spcPct val="100000"/>
              </a:lnSpc>
              <a:buNone/>
            </a:pPr>
            <a:r>
              <a:rPr lang="en-US" altLang="zh-CN" sz="2700"/>
              <a:t>    C) It is something everybody has to live with.</a:t>
            </a:r>
            <a:endParaRPr lang="en-US" altLang="zh-CN" sz="2700"/>
          </a:p>
          <a:p>
            <a:pPr marL="0" indent="0">
              <a:lnSpc>
                <a:spcPct val="100000"/>
              </a:lnSpc>
              <a:buNone/>
            </a:pPr>
            <a:r>
              <a:rPr lang="en-US" altLang="zh-CN" sz="2700"/>
              <a:t>    D) It doesn’t help build up one’s tolerance.</a:t>
            </a:r>
            <a:endParaRPr lang="en-US" altLang="zh-CN" sz="2700"/>
          </a:p>
        </p:txBody>
      </p:sp>
      <p:sp>
        <p:nvSpPr>
          <p:cNvPr id="2" name="文本框 1"/>
          <p:cNvSpPr txBox="1"/>
          <p:nvPr/>
        </p:nvSpPr>
        <p:spPr>
          <a:xfrm>
            <a:off x="6705600" y="5663565"/>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 grpId="0"/>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230" y="228600"/>
            <a:ext cx="11720830" cy="3924300"/>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rPr>
              <a:t>One thought leader in the positive stress world is Dutch extreme athlete Wim Hof, who earned the name “ice man” for his ability to withstand severe cold using deep breathing exercises. Hof’s ideas have become popular among tech industry elites and, thanks to Hof, cold showers are now a trend; indeed, some even call it a form of therapy.</a:t>
            </a:r>
            <a:endParaRPr lang="en-US" altLang="zh-CN" sz="2800">
              <a:latin typeface="Times New Roman" panose="02020603050405020304" pitchFamily="18" charset="0"/>
              <a:cs typeface="Times New Roman" panose="02020603050405020304" pitchFamily="18" charset="0"/>
            </a:endParaRPr>
          </a:p>
          <a:p>
            <a:pPr marL="0" indent="0">
              <a:buNone/>
            </a:pPr>
            <a:r>
              <a:rPr lang="en-US" altLang="zh-CN" sz="2800">
                <a:latin typeface="Times New Roman" panose="02020603050405020304" pitchFamily="18" charset="0"/>
                <a:cs typeface="Times New Roman" panose="02020603050405020304" pitchFamily="18" charset="0"/>
              </a:rPr>
              <a:t>   But it is important to note that not everyone agrees with these practitioners; indeed, some medical professionals argue that positive stress is not for everyone, and that it might even be dangerous for people who are unhealthy or older.</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81000" y="434340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50. What do some medical professionals think of positive stress?</a:t>
            </a:r>
            <a:endParaRPr lang="en-US" altLang="zh-CN" sz="2800"/>
          </a:p>
          <a:p>
            <a:pPr marL="0" indent="0">
              <a:lnSpc>
                <a:spcPct val="100000"/>
              </a:lnSpc>
              <a:buNone/>
            </a:pPr>
            <a:r>
              <a:rPr lang="en-US" altLang="zh-CN" sz="2800"/>
              <a:t>    A) Its true effect remains to be verified.</a:t>
            </a:r>
            <a:endParaRPr lang="en-US" altLang="zh-CN" sz="2800"/>
          </a:p>
          <a:p>
            <a:pPr marL="0" indent="0">
              <a:lnSpc>
                <a:spcPct val="100000"/>
              </a:lnSpc>
              <a:buNone/>
            </a:pPr>
            <a:r>
              <a:rPr lang="en-US" altLang="zh-CN" sz="2800"/>
              <a:t>    B) Its side effect should not be ignored.</a:t>
            </a:r>
            <a:endParaRPr lang="en-US" altLang="zh-CN" sz="2800"/>
          </a:p>
          <a:p>
            <a:pPr marL="0" indent="0">
              <a:lnSpc>
                <a:spcPct val="100000"/>
              </a:lnSpc>
              <a:buNone/>
            </a:pPr>
            <a:r>
              <a:rPr lang="en-US" altLang="zh-CN" sz="2800"/>
              <a:t>    C) Its effect varies considerably from person to person.</a:t>
            </a:r>
            <a:endParaRPr lang="en-US" altLang="zh-CN" sz="2800"/>
          </a:p>
          <a:p>
            <a:pPr marL="0" indent="0">
              <a:lnSpc>
                <a:spcPct val="100000"/>
              </a:lnSpc>
              <a:buNone/>
            </a:pPr>
            <a:r>
              <a:rPr lang="en-US" altLang="zh-CN" sz="2800"/>
              <a:t>    D) Its practitioners should not take it as a form of therapy.</a:t>
            </a:r>
            <a:endParaRPr lang="en-US" altLang="zh-CN" sz="2800"/>
          </a:p>
        </p:txBody>
      </p:sp>
      <p:sp>
        <p:nvSpPr>
          <p:cNvPr id="2" name="文本框 1"/>
          <p:cNvSpPr txBox="1"/>
          <p:nvPr/>
        </p:nvSpPr>
        <p:spPr>
          <a:xfrm>
            <a:off x="7848600" y="548640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 grpId="0"/>
      <p:bldP spid="2"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632460"/>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Passage 2</a:t>
            </a:r>
            <a:endParaRPr lang="en-US" altLang="zh-CN" sz="4400" kern="0" dirty="0" smtClean="0">
              <a:solidFill>
                <a:srgbClr val="FF0000"/>
              </a:solidFill>
            </a:endParaRPr>
          </a:p>
        </p:txBody>
      </p:sp>
      <p:sp>
        <p:nvSpPr>
          <p:cNvPr id="10" name="TextBox 9"/>
          <p:cNvSpPr txBox="1"/>
          <p:nvPr/>
        </p:nvSpPr>
        <p:spPr>
          <a:xfrm>
            <a:off x="5334000" y="2514600"/>
            <a:ext cx="4288790" cy="2122805"/>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深层</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阅读理解</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230" y="228600"/>
            <a:ext cx="11720830" cy="4057656"/>
          </a:xfrm>
          <a:solidFill>
            <a:srgbClr val="FFFFC3"/>
          </a:solidFill>
        </p:spPr>
        <p:style>
          <a:lnRef idx="2">
            <a:schemeClr val="accent2"/>
          </a:lnRef>
          <a:fillRef idx="1">
            <a:schemeClr val="lt1"/>
          </a:fillRef>
          <a:effectRef idx="0">
            <a:schemeClr val="accent2"/>
          </a:effectRef>
          <a:fontRef idx="minor">
            <a:schemeClr val="dk1"/>
          </a:fontRef>
        </p:style>
        <p:txBody>
          <a:bodyPr>
            <a:normAutofit fontScale="92500" lnSpcReduction="20000"/>
          </a:bodyPr>
          <a:lstStyle/>
          <a:p>
            <a:pPr marL="0" indent="0">
              <a:lnSpc>
                <a:spcPct val="150000"/>
              </a:lnSpc>
              <a:buNone/>
            </a:pPr>
            <a:r>
              <a:rPr lang="en-US" altLang="zh-CN" dirty="0"/>
              <a:t>     </a:t>
            </a:r>
            <a:r>
              <a:rPr lang="en-US" altLang="zh-CN" sz="2800" dirty="0">
                <a:latin typeface="Times New Roman" panose="02020603050405020304" pitchFamily="18" charset="0"/>
                <a:cs typeface="Times New Roman" panose="02020603050405020304" pitchFamily="18" charset="0"/>
              </a:rPr>
              <a:t>Is hunting good or bad for the environment? Like so many hot button issues, the answer to this question depends upon who you ask. On the one hand, some say, nothing could be more natural than hunting, and indeed just about every animal species--including humans--has been either predator or prey at some points in its evolution. And, ironic as it sounds, since humans have wiped out many animal predators, some see hunting as a natural way to reduce the herds of prey animals that now reproduce beyond the environment’s carrying capacity.</a:t>
            </a:r>
            <a:endParaRPr lang="en-US" altLang="zh-CN" sz="2800" dirty="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81000" y="434340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51. What does the author say sound ironic?</a:t>
            </a:r>
            <a:endParaRPr lang="en-US" altLang="zh-CN" sz="2800"/>
          </a:p>
          <a:p>
            <a:pPr marL="0" indent="0">
              <a:lnSpc>
                <a:spcPct val="100000"/>
              </a:lnSpc>
              <a:buNone/>
            </a:pPr>
            <a:r>
              <a:rPr lang="en-US" altLang="zh-CN" sz="2800"/>
              <a:t>  A) Some predators may often turn out to be prey of other predators.</a:t>
            </a:r>
            <a:endParaRPr lang="en-US" altLang="zh-CN" sz="2800"/>
          </a:p>
          <a:p>
            <a:pPr marL="0" indent="0">
              <a:lnSpc>
                <a:spcPct val="100000"/>
              </a:lnSpc>
              <a:buNone/>
            </a:pPr>
            <a:r>
              <a:rPr lang="en-US" altLang="zh-CN" sz="2800"/>
              <a:t>  B) Hunting may also be a solution to the problem caused by hunting.</a:t>
            </a:r>
            <a:endParaRPr lang="en-US" altLang="zh-CN" sz="2800"/>
          </a:p>
          <a:p>
            <a:pPr marL="0" indent="0">
              <a:lnSpc>
                <a:spcPct val="100000"/>
              </a:lnSpc>
              <a:buNone/>
            </a:pPr>
            <a:r>
              <a:rPr lang="en-US" altLang="zh-CN" sz="2800"/>
              <a:t>  C) The species of prey animals continue to vary despite humans’ hunting.</a:t>
            </a:r>
            <a:endParaRPr lang="en-US" altLang="zh-CN" sz="2800"/>
          </a:p>
          <a:p>
            <a:pPr marL="0" indent="0">
              <a:lnSpc>
                <a:spcPct val="100000"/>
              </a:lnSpc>
              <a:buNone/>
            </a:pPr>
            <a:r>
              <a:rPr lang="en-US" altLang="zh-CN" sz="2800"/>
              <a:t>  D) The number of prey animals keeps rising despite environmental change.</a:t>
            </a:r>
            <a:endParaRPr lang="en-US" altLang="zh-CN" sz="2800"/>
          </a:p>
        </p:txBody>
      </p:sp>
      <p:sp>
        <p:nvSpPr>
          <p:cNvPr id="2" name="文本框 1"/>
          <p:cNvSpPr txBox="1"/>
          <p:nvPr/>
        </p:nvSpPr>
        <p:spPr>
          <a:xfrm>
            <a:off x="9220200" y="510540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5585" y="0"/>
            <a:ext cx="11720830" cy="4514215"/>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sym typeface="+mn-ea"/>
              </a:rPr>
              <a:t>On the other hand, many environmental and animal advocates see hunting as savage, arguing that it is morally wrong to kill animals, regardless of practical considerations. According to Glenn Kirkof the California-based The Animals’ Voice, hunting “causes immerse suffering to individual wild animals...” and is “irrationally cruel because unlike natural predation, hunters kill for pleasure...” He adds that, despite hunters’ claims that hunting keeps wildlife populations in balance, hunters licence fees are used to “manipulate a few game species into overpopulation at the expense of a much larger number of non-game species, resulting in the loss of biological diversity, genetic integrity and ecological balance.”</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04800" y="449580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52. What does Glenn Kirk think of charging hunters’ license fees?</a:t>
            </a:r>
            <a:endParaRPr lang="en-US" altLang="zh-CN" sz="2800"/>
          </a:p>
          <a:p>
            <a:pPr marL="0" indent="0">
              <a:lnSpc>
                <a:spcPct val="100000"/>
              </a:lnSpc>
              <a:buNone/>
            </a:pPr>
            <a:r>
              <a:rPr lang="en-US" altLang="zh-CN" sz="2800"/>
              <a:t>      A) It keeps game population under control.</a:t>
            </a:r>
            <a:endParaRPr lang="en-US" altLang="zh-CN" sz="2800"/>
          </a:p>
          <a:p>
            <a:pPr marL="0" indent="0">
              <a:lnSpc>
                <a:spcPct val="100000"/>
              </a:lnSpc>
              <a:buNone/>
            </a:pPr>
            <a:r>
              <a:rPr lang="en-US" altLang="zh-CN" sz="2800"/>
              <a:t>      B) It turns hunting into a sport of the rich.</a:t>
            </a:r>
            <a:endParaRPr lang="en-US" altLang="zh-CN" sz="2800"/>
          </a:p>
          <a:p>
            <a:pPr marL="0" indent="0">
              <a:lnSpc>
                <a:spcPct val="100000"/>
              </a:lnSpc>
              <a:buNone/>
            </a:pPr>
            <a:r>
              <a:rPr lang="en-US" altLang="zh-CN" sz="2800"/>
              <a:t>      C) It leads to ecological imbalance.</a:t>
            </a:r>
            <a:endParaRPr lang="en-US" altLang="zh-CN" sz="2800"/>
          </a:p>
          <a:p>
            <a:pPr marL="0" indent="0">
              <a:lnSpc>
                <a:spcPct val="100000"/>
              </a:lnSpc>
              <a:buNone/>
            </a:pPr>
            <a:r>
              <a:rPr lang="en-US" altLang="zh-CN" sz="2800"/>
              <a:t>      D) It helps stop killing for pleasure.</a:t>
            </a:r>
            <a:endParaRPr lang="en-US" altLang="zh-CN" sz="2800"/>
          </a:p>
        </p:txBody>
      </p:sp>
      <p:sp>
        <p:nvSpPr>
          <p:cNvPr id="2" name="文本框 1"/>
          <p:cNvSpPr txBox="1"/>
          <p:nvPr/>
        </p:nvSpPr>
        <p:spPr>
          <a:xfrm>
            <a:off x="5334000" y="563880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230" y="228600"/>
            <a:ext cx="11720830" cy="2844800"/>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a:latin typeface="Times New Roman" panose="02020603050405020304" pitchFamily="18" charset="0"/>
                <a:cs typeface="Times New Roman" panose="02020603050405020304" pitchFamily="18" charset="0"/>
              </a:rPr>
              <a:t>Beyond moral issues, others contend that hunting is not practical. According to the Humane Society of the United States, the vast majority of hunted species-- such as waterfowl, rabbits, upland birds and mourning doves-- “provide minimal nutrition and do not require population control.”</a:t>
            </a:r>
            <a:endParaRPr lang="en-US" altLang="zh-CN">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81000" y="3200400"/>
            <a:ext cx="11732260" cy="3138805"/>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700"/>
              <a:t>53. What is the argument of the Humane Society of the United States against</a:t>
            </a:r>
            <a:endParaRPr lang="en-US" altLang="zh-CN" sz="2700"/>
          </a:p>
          <a:p>
            <a:pPr marL="0" indent="0">
              <a:lnSpc>
                <a:spcPct val="100000"/>
              </a:lnSpc>
              <a:buNone/>
            </a:pPr>
            <a:r>
              <a:rPr lang="en-US" altLang="zh-CN" sz="2700"/>
              <a:t>      hunting?</a:t>
            </a:r>
            <a:endParaRPr lang="en-US" altLang="zh-CN" sz="2700"/>
          </a:p>
          <a:p>
            <a:pPr marL="0" indent="0">
              <a:lnSpc>
                <a:spcPct val="100000"/>
              </a:lnSpc>
              <a:buNone/>
            </a:pPr>
            <a:r>
              <a:rPr lang="en-US" altLang="zh-CN" sz="2700"/>
              <a:t>  A) Overpopulation is not an issue for most hunted animals.</a:t>
            </a:r>
            <a:endParaRPr lang="en-US" altLang="zh-CN" sz="2700"/>
          </a:p>
          <a:p>
            <a:pPr marL="0" indent="0">
              <a:lnSpc>
                <a:spcPct val="100000"/>
              </a:lnSpc>
              <a:buNone/>
            </a:pPr>
            <a:r>
              <a:rPr lang="en-US" altLang="zh-CN" sz="2700"/>
              <a:t>  B) Hunting deprives animal populations of their food sources.</a:t>
            </a:r>
            <a:endParaRPr lang="en-US" altLang="zh-CN" sz="2700"/>
          </a:p>
          <a:p>
            <a:pPr marL="0" indent="0">
              <a:lnSpc>
                <a:spcPct val="100000"/>
              </a:lnSpc>
              <a:buNone/>
            </a:pPr>
            <a:r>
              <a:rPr lang="en-US" altLang="zh-CN" sz="2700"/>
              <a:t>  C) Many birds and small animals are being irrationally killed.</a:t>
            </a:r>
            <a:endParaRPr lang="en-US" altLang="zh-CN" sz="2700"/>
          </a:p>
          <a:p>
            <a:pPr marL="0" indent="0">
              <a:lnSpc>
                <a:spcPct val="100000"/>
              </a:lnSpc>
              <a:buNone/>
            </a:pPr>
            <a:r>
              <a:rPr lang="en-US" altLang="zh-CN" sz="2700"/>
              <a:t>  D) Hunting is universally acknowledged as a savage behavior.</a:t>
            </a:r>
            <a:endParaRPr lang="en-US" altLang="zh-CN" sz="2700"/>
          </a:p>
        </p:txBody>
      </p:sp>
      <p:sp>
        <p:nvSpPr>
          <p:cNvPr id="2" name="文本框 1"/>
          <p:cNvSpPr txBox="1"/>
          <p:nvPr/>
        </p:nvSpPr>
        <p:spPr>
          <a:xfrm>
            <a:off x="8763000" y="419100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5585" y="0"/>
            <a:ext cx="11720830" cy="4514215"/>
          </a:xfrm>
          <a:solidFill>
            <a:srgbClr val="FFFFC3"/>
          </a:solidFill>
        </p:spPr>
        <p:style>
          <a:lnRef idx="2">
            <a:schemeClr val="accent2"/>
          </a:lnRef>
          <a:fillRef idx="1">
            <a:schemeClr val="lt1"/>
          </a:fillRef>
          <a:effectRef idx="0">
            <a:schemeClr val="accent2"/>
          </a:effectRef>
          <a:fontRef idx="minor">
            <a:schemeClr val="dk1"/>
          </a:fontRef>
        </p:style>
        <p:txBody>
          <a:bodyPr>
            <a:normAutofit lnSpcReduction="10000"/>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sym typeface="+mn-ea"/>
              </a:rPr>
              <a:t>Author Gary E. Varner suggests in his book, In Nature’s Interests, that some types of hunting may be morally justifiable while others may not be. Hunting “designed to secure the aggregate welfare of the target species, the integrity of its ecosystem, or both”--what Varner terms “therapeutic hunting”--is defensible, while subsistence and sport hunting--both of which only benefit human beings--is not.</a:t>
            </a:r>
            <a:endParaRPr lang="en-US" altLang="zh-CN" sz="2800">
              <a:latin typeface="Times New Roman" panose="02020603050405020304" pitchFamily="18" charset="0"/>
              <a:cs typeface="Times New Roman" panose="02020603050405020304" pitchFamily="18" charset="0"/>
              <a:sym typeface="+mn-ea"/>
            </a:endParaRPr>
          </a:p>
          <a:p>
            <a:pPr marL="0" indent="0">
              <a:buNone/>
            </a:pPr>
            <a:r>
              <a:rPr lang="en-US" altLang="zh-CN" sz="2800">
                <a:latin typeface="Times New Roman" panose="02020603050405020304" pitchFamily="18" charset="0"/>
                <a:cs typeface="Times New Roman" panose="02020603050405020304" pitchFamily="18" charset="0"/>
                <a:sym typeface="+mn-ea"/>
              </a:rPr>
              <a:t>   Regardless of one’s individual stance, fewer Americans hunt today than in recent history. Data gathered by the U.S. Fish &amp; Wildlife Service in 2006 show that only five percent of Americans--some 12.5 million individuals-- consider themselves hunters today, down from nine percent in 2001 and 15 percent in 1996.</a:t>
            </a:r>
            <a:endParaRPr lang="en-US" altLang="zh-CN" sz="2800">
              <a:latin typeface="Times New Roman" panose="02020603050405020304" pitchFamily="18" charset="0"/>
              <a:cs typeface="Times New Roman" panose="02020603050405020304" pitchFamily="18" charset="0"/>
              <a:sym typeface="+mn-ea"/>
            </a:endParaRPr>
          </a:p>
        </p:txBody>
      </p:sp>
      <p:sp>
        <p:nvSpPr>
          <p:cNvPr id="4" name="内容占位符 2"/>
          <p:cNvSpPr>
            <a:spLocks noGrp="1"/>
          </p:cNvSpPr>
          <p:nvPr/>
        </p:nvSpPr>
        <p:spPr>
          <a:xfrm>
            <a:off x="304800" y="449580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54. When is hunting morally justifiable according to Gary E. Varner?</a:t>
            </a:r>
            <a:endParaRPr lang="en-US" altLang="zh-CN" sz="2800"/>
          </a:p>
          <a:p>
            <a:pPr marL="0" indent="0">
              <a:lnSpc>
                <a:spcPct val="100000"/>
              </a:lnSpc>
              <a:buNone/>
            </a:pPr>
            <a:r>
              <a:rPr lang="en-US" altLang="zh-CN" sz="2800"/>
              <a:t>      A) When it benefits animals and their ecosystem.</a:t>
            </a:r>
            <a:endParaRPr lang="en-US" altLang="zh-CN" sz="2800"/>
          </a:p>
          <a:p>
            <a:pPr marL="0" indent="0">
              <a:lnSpc>
                <a:spcPct val="100000"/>
              </a:lnSpc>
              <a:buNone/>
            </a:pPr>
            <a:r>
              <a:rPr lang="en-US" altLang="zh-CN" sz="2800"/>
              <a:t>      B) When it serves both human and animal interests.</a:t>
            </a:r>
            <a:endParaRPr lang="en-US" altLang="zh-CN" sz="2800"/>
          </a:p>
          <a:p>
            <a:pPr marL="0" indent="0">
              <a:lnSpc>
                <a:spcPct val="100000"/>
              </a:lnSpc>
              <a:buNone/>
            </a:pPr>
            <a:r>
              <a:rPr lang="en-US" altLang="zh-CN" sz="2800"/>
              <a:t>      C) When it is indispensable to humans’ subsistence.</a:t>
            </a:r>
            <a:endParaRPr lang="en-US" altLang="zh-CN" sz="2800"/>
          </a:p>
          <a:p>
            <a:pPr marL="0" indent="0">
              <a:lnSpc>
                <a:spcPct val="100000"/>
              </a:lnSpc>
              <a:buNone/>
            </a:pPr>
            <a:r>
              <a:rPr lang="en-US" altLang="zh-CN" sz="2800"/>
              <a:t>      D) When it stabilizes the population of animal species.</a:t>
            </a:r>
            <a:endParaRPr lang="en-US" altLang="zh-CN" sz="2800"/>
          </a:p>
        </p:txBody>
      </p:sp>
      <p:sp>
        <p:nvSpPr>
          <p:cNvPr id="2" name="文本框 1"/>
          <p:cNvSpPr txBox="1"/>
          <p:nvPr/>
        </p:nvSpPr>
        <p:spPr>
          <a:xfrm>
            <a:off x="7239000" y="480060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4800" y="152400"/>
            <a:ext cx="11720830" cy="3615055"/>
          </a:xfrm>
          <a:solidFill>
            <a:srgbClr val="FFFFC3"/>
          </a:solidFill>
        </p:spPr>
        <p:style>
          <a:lnRef idx="2">
            <a:schemeClr val="accent2"/>
          </a:lnRef>
          <a:fillRef idx="1">
            <a:schemeClr val="lt1"/>
          </a:fillRef>
          <a:effectRef idx="0">
            <a:schemeClr val="accent2"/>
          </a:effectRef>
          <a:fontRef idx="minor">
            <a:schemeClr val="dk1"/>
          </a:fontRef>
        </p:style>
        <p:txBody>
          <a:bodyPr>
            <a:normAutofit lnSpcReduction="10000"/>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sym typeface="+mn-ea"/>
              </a:rPr>
              <a:t>Public support for hunting, however, is on the rise. A 2007 survey by Responsive Management Inc. Found that 8 percent of respondents agreed that “hunting has a legitimate place in modern society,” and the percentage of Americans indicating disapproval of hunting declined from 22 percent in 1995 to 16 percent in 2007.</a:t>
            </a:r>
            <a:endParaRPr lang="en-US" altLang="zh-CN" sz="2800">
              <a:latin typeface="Times New Roman" panose="02020603050405020304" pitchFamily="18" charset="0"/>
              <a:cs typeface="Times New Roman" panose="02020603050405020304" pitchFamily="18" charset="0"/>
              <a:sym typeface="+mn-ea"/>
            </a:endParaRPr>
          </a:p>
          <a:p>
            <a:pPr marL="0" indent="0">
              <a:buNone/>
            </a:pPr>
            <a:r>
              <a:rPr lang="en-US" altLang="zh-CN" sz="2800">
                <a:latin typeface="Times New Roman" panose="02020603050405020304" pitchFamily="18" charset="0"/>
                <a:cs typeface="Times New Roman" panose="02020603050405020304" pitchFamily="18" charset="0"/>
                <a:sym typeface="+mn-ea"/>
              </a:rPr>
              <a:t>    Perhaps matching the trend among the public, green leaders are increasingly advocating cooperation between hunters and environmental groups. After all, both deplore urban sprawl and habitat destruction.</a:t>
            </a:r>
            <a:endParaRPr lang="en-US" altLang="zh-CN" sz="2800">
              <a:latin typeface="Times New Roman" panose="02020603050405020304" pitchFamily="18" charset="0"/>
              <a:cs typeface="Times New Roman" panose="02020603050405020304" pitchFamily="18" charset="0"/>
              <a:sym typeface="+mn-ea"/>
            </a:endParaRPr>
          </a:p>
        </p:txBody>
      </p:sp>
      <p:sp>
        <p:nvSpPr>
          <p:cNvPr id="4" name="内容占位符 2"/>
          <p:cNvSpPr>
            <a:spLocks noGrp="1"/>
          </p:cNvSpPr>
          <p:nvPr/>
        </p:nvSpPr>
        <p:spPr>
          <a:xfrm>
            <a:off x="381000" y="3886200"/>
            <a:ext cx="11732260" cy="2643505"/>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55. What concept are green leaders trying to promote?</a:t>
            </a:r>
            <a:endParaRPr lang="en-US" altLang="zh-CN" sz="2800"/>
          </a:p>
          <a:p>
            <a:pPr marL="0" indent="0">
              <a:lnSpc>
                <a:spcPct val="100000"/>
              </a:lnSpc>
              <a:buNone/>
            </a:pPr>
            <a:r>
              <a:rPr lang="en-US" altLang="zh-CN" sz="2800"/>
              <a:t>     A) Effective protection of animal habitats.</a:t>
            </a:r>
            <a:endParaRPr lang="en-US" altLang="zh-CN" sz="2800"/>
          </a:p>
          <a:p>
            <a:pPr marL="0" indent="0">
              <a:lnSpc>
                <a:spcPct val="100000"/>
              </a:lnSpc>
              <a:buNone/>
            </a:pPr>
            <a:r>
              <a:rPr lang="en-US" altLang="zh-CN" sz="2800"/>
              <a:t>     B) Strict control over urban development.</a:t>
            </a:r>
            <a:endParaRPr lang="en-US" altLang="zh-CN" sz="2800"/>
          </a:p>
          <a:p>
            <a:pPr marL="0" indent="0">
              <a:lnSpc>
                <a:spcPct val="100000"/>
              </a:lnSpc>
              <a:buNone/>
            </a:pPr>
            <a:r>
              <a:rPr lang="en-US" altLang="zh-CN" sz="2800"/>
              <a:t>     C) Coordinated efforts of hunters and environmentalists.</a:t>
            </a:r>
            <a:endParaRPr lang="en-US" altLang="zh-CN" sz="2800"/>
          </a:p>
          <a:p>
            <a:pPr marL="0" indent="0">
              <a:lnSpc>
                <a:spcPct val="100000"/>
              </a:lnSpc>
              <a:buNone/>
            </a:pPr>
            <a:r>
              <a:rPr lang="en-US" altLang="zh-CN" sz="2800"/>
              <a:t>     D) A compromise between development and animal protection.</a:t>
            </a:r>
            <a:endParaRPr lang="en-US" altLang="zh-CN" sz="2800"/>
          </a:p>
        </p:txBody>
      </p:sp>
      <p:sp>
        <p:nvSpPr>
          <p:cNvPr id="2" name="文本框 1"/>
          <p:cNvSpPr txBox="1"/>
          <p:nvPr/>
        </p:nvSpPr>
        <p:spPr>
          <a:xfrm>
            <a:off x="8953520" y="5357826"/>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632460"/>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Passage 3</a:t>
            </a:r>
            <a:endParaRPr lang="en-US" altLang="zh-CN" sz="4400" kern="0" dirty="0" smtClean="0">
              <a:solidFill>
                <a:srgbClr val="FF0000"/>
              </a:solidFill>
            </a:endParaRPr>
          </a:p>
        </p:txBody>
      </p:sp>
      <p:sp>
        <p:nvSpPr>
          <p:cNvPr id="10" name="TextBox 9"/>
          <p:cNvSpPr txBox="1"/>
          <p:nvPr/>
        </p:nvSpPr>
        <p:spPr>
          <a:xfrm>
            <a:off x="5334000" y="2514600"/>
            <a:ext cx="4288790" cy="2122805"/>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深层</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阅读理解</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6646" y="642918"/>
            <a:ext cx="11875770" cy="3500462"/>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lnSpc>
                <a:spcPct val="120000"/>
              </a:lnSpc>
              <a:buNone/>
            </a:pPr>
            <a:r>
              <a:rPr lang="en-US" altLang="zh-CN" dirty="0"/>
              <a:t>     </a:t>
            </a:r>
            <a:r>
              <a:rPr lang="en-US" altLang="zh-CN" sz="2800" dirty="0" smtClean="0">
                <a:latin typeface="Times New Roman" panose="02020603050405020304" pitchFamily="18" charset="0"/>
                <a:cs typeface="Times New Roman" panose="02020603050405020304" pitchFamily="18" charset="0"/>
              </a:rPr>
              <a:t>Many people associate their self-worth with their work. The more successful their career, the better they feel about themselves. Work-related self-esteem is therefore a worthy ideal to pursue with vigor, right?  Well, not always. According  to recent research, in which psychologists interviewed 370 full-time workers over a period of three weeks, the reality is a little more complicated. And it involves negative as well as positive consequences.</a:t>
            </a:r>
            <a:endParaRPr lang="en-US" altLang="zh-CN" sz="2800" dirty="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238084" y="4357694"/>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dirty="0"/>
              <a:t>11. What does the author say </a:t>
            </a:r>
            <a:r>
              <a:rPr lang="en-US" altLang="zh-CN" sz="2800" dirty="0" smtClean="0"/>
              <a:t>about the pursuit of work-related self-esteem?</a:t>
            </a:r>
            <a:endParaRPr lang="en-US" altLang="zh-CN" sz="2800" dirty="0"/>
          </a:p>
          <a:p>
            <a:pPr marL="0" indent="0">
              <a:lnSpc>
                <a:spcPct val="100000"/>
              </a:lnSpc>
              <a:buNone/>
            </a:pPr>
            <a:r>
              <a:rPr lang="en-US" altLang="zh-CN" sz="2800" dirty="0"/>
              <a:t>  A) </a:t>
            </a:r>
            <a:r>
              <a:rPr lang="en-US" altLang="zh-CN" sz="2800" dirty="0" smtClean="0"/>
              <a:t>It may result in negative motivation.</a:t>
            </a:r>
            <a:endParaRPr lang="en-US" altLang="zh-CN" sz="2800" dirty="0"/>
          </a:p>
          <a:p>
            <a:pPr marL="0" indent="0">
              <a:lnSpc>
                <a:spcPct val="100000"/>
              </a:lnSpc>
              <a:buNone/>
            </a:pPr>
            <a:r>
              <a:rPr lang="en-US" altLang="zh-CN" sz="2800" dirty="0"/>
              <a:t>  B) </a:t>
            </a:r>
            <a:r>
              <a:rPr lang="en-US" altLang="zh-CN" sz="2800" dirty="0" smtClean="0"/>
              <a:t>It contributes to one’s accomplishments.</a:t>
            </a:r>
            <a:endParaRPr lang="en-US" altLang="zh-CN" sz="2800" dirty="0"/>
          </a:p>
          <a:p>
            <a:pPr marL="0" indent="0">
              <a:lnSpc>
                <a:spcPct val="100000"/>
              </a:lnSpc>
              <a:buNone/>
            </a:pPr>
            <a:r>
              <a:rPr lang="en-US" altLang="zh-CN" sz="2800" dirty="0"/>
              <a:t>  C) </a:t>
            </a:r>
            <a:r>
              <a:rPr lang="en-US" altLang="zh-CN" sz="2800" dirty="0" smtClean="0"/>
              <a:t>It can increase one’s vigor as one keeps trying.</a:t>
            </a:r>
            <a:endParaRPr lang="en-US" altLang="zh-CN" sz="2800" dirty="0"/>
          </a:p>
          <a:p>
            <a:pPr marL="0" indent="0">
              <a:lnSpc>
                <a:spcPct val="100000"/>
              </a:lnSpc>
              <a:buNone/>
            </a:pPr>
            <a:r>
              <a:rPr lang="en-US" altLang="zh-CN" sz="2800" dirty="0"/>
              <a:t>  D) </a:t>
            </a:r>
            <a:r>
              <a:rPr lang="en-US" altLang="zh-CN" sz="2800" dirty="0" smtClean="0"/>
              <a:t>It costs too much emotionally and psychologically.</a:t>
            </a:r>
            <a:endParaRPr lang="en-US" altLang="zh-CN" sz="2800" dirty="0"/>
          </a:p>
        </p:txBody>
      </p:sp>
      <p:sp>
        <p:nvSpPr>
          <p:cNvPr id="2" name="文本框 1"/>
          <p:cNvSpPr txBox="1"/>
          <p:nvPr/>
        </p:nvSpPr>
        <p:spPr>
          <a:xfrm>
            <a:off x="5595934" y="4643446"/>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5274" y="500042"/>
            <a:ext cx="11144328" cy="5572164"/>
          </a:xfrm>
          <a:solidFill>
            <a:srgbClr val="FFFFC3"/>
          </a:solidFill>
        </p:spPr>
        <p:style>
          <a:lnRef idx="2">
            <a:schemeClr val="accent2"/>
          </a:lnRef>
          <a:fillRef idx="1">
            <a:schemeClr val="lt1"/>
          </a:fillRef>
          <a:effectRef idx="0">
            <a:schemeClr val="accent2"/>
          </a:effectRef>
          <a:fontRef idx="minor">
            <a:schemeClr val="dk1"/>
          </a:fontRef>
        </p:style>
        <p:txBody>
          <a:bodyPr>
            <a:normAutofit/>
          </a:bodyPr>
          <a:lstStyle/>
          <a:p>
            <a:pPr marL="0" indent="0">
              <a:lnSpc>
                <a:spcPct val="120000"/>
              </a:lnSpc>
              <a:buNone/>
            </a:pPr>
            <a:r>
              <a:rPr lang="en-US" altLang="zh-CN" dirty="0"/>
              <a:t>     </a:t>
            </a:r>
            <a:r>
              <a:rPr lang="en-US" altLang="zh-CN" dirty="0" smtClean="0">
                <a:latin typeface="Times New Roman" panose="02020603050405020304" pitchFamily="18" charset="0"/>
                <a:cs typeface="Times New Roman" panose="02020603050405020304" pitchFamily="18" charset="0"/>
              </a:rPr>
              <a:t>It is natural to be drawn towards pleasure and to step away from pain. In the workplace, if that pleasure comes from a triumph which swells our self-respect, people will try to repeat the accomplishment. But repeating the accomplishment is often not realistic, which can lead to severe negative emotional consequences when it occurs. This form of motivation is widely regarded as a negative type of motivation. It can hinder other more positive motivation types, such as completing a task purely because it is fulfilling or enjoyable.</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6646" y="285728"/>
            <a:ext cx="11875770" cy="3857652"/>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lnSpc>
                <a:spcPct val="120000"/>
              </a:lnSpc>
              <a:buNone/>
            </a:pPr>
            <a:r>
              <a:rPr lang="en-US" altLang="zh-CN" dirty="0"/>
              <a:t>     </a:t>
            </a:r>
            <a:r>
              <a:rPr lang="en-US" altLang="zh-CN" sz="2800" dirty="0" smtClean="0">
                <a:latin typeface="Times New Roman" panose="02020603050405020304" pitchFamily="18" charset="0"/>
                <a:cs typeface="Times New Roman" panose="02020603050405020304" pitchFamily="18" charset="0"/>
              </a:rPr>
              <a:t>What consumes the employee instead is a pressing need to feel mighty and sure of themselves. They then take on only tasks and objectives which serve that ego-driven need. As a result, to avoid feelings of shame and worthlessness associated with failure, they extend themselves to such a degree that there is a subsequent adverse effect on their well-being. This internal pressure to succeed at all costs demands a lot of effort. It depletes their energy, culminating in disproportionate levels of damaging sentiment.</a:t>
            </a:r>
            <a:endParaRPr lang="en-US" altLang="zh-CN" sz="2800" dirty="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238084" y="4357694"/>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dirty="0" smtClean="0"/>
              <a:t>12. </a:t>
            </a:r>
            <a:r>
              <a:rPr lang="en-US" altLang="zh-CN" sz="2800" dirty="0"/>
              <a:t>What </a:t>
            </a:r>
            <a:r>
              <a:rPr lang="en-US" altLang="zh-CN" sz="2800" dirty="0" smtClean="0"/>
              <a:t>do employees tend to do in pursuing work-related self-esteem?</a:t>
            </a:r>
            <a:endParaRPr lang="en-US" altLang="zh-CN" sz="2800" dirty="0"/>
          </a:p>
          <a:p>
            <a:pPr marL="0" indent="0">
              <a:lnSpc>
                <a:spcPct val="100000"/>
              </a:lnSpc>
              <a:buNone/>
            </a:pPr>
            <a:r>
              <a:rPr lang="en-US" altLang="zh-CN" sz="2800" dirty="0"/>
              <a:t>  A) </a:t>
            </a:r>
            <a:r>
              <a:rPr lang="en-US" altLang="zh-CN" sz="2800" dirty="0" smtClean="0"/>
              <a:t>Take on tasks well beyond their actual capabilities.</a:t>
            </a:r>
            <a:endParaRPr lang="en-US" altLang="zh-CN" sz="2800" dirty="0"/>
          </a:p>
          <a:p>
            <a:pPr marL="0" indent="0">
              <a:lnSpc>
                <a:spcPct val="100000"/>
              </a:lnSpc>
              <a:buNone/>
            </a:pPr>
            <a:r>
              <a:rPr lang="en-US" altLang="zh-CN" sz="2800" dirty="0"/>
              <a:t>  B) </a:t>
            </a:r>
            <a:r>
              <a:rPr lang="en-US" altLang="zh-CN" sz="2800" dirty="0" smtClean="0"/>
              <a:t>Strive to succeed at the expense of their well-being.</a:t>
            </a:r>
            <a:endParaRPr lang="en-US" altLang="zh-CN" sz="2800" dirty="0"/>
          </a:p>
          <a:p>
            <a:pPr marL="0" indent="0">
              <a:lnSpc>
                <a:spcPct val="100000"/>
              </a:lnSpc>
              <a:buNone/>
            </a:pPr>
            <a:r>
              <a:rPr lang="en-US" altLang="zh-CN" sz="2800" dirty="0"/>
              <a:t>  C) </a:t>
            </a:r>
            <a:r>
              <a:rPr lang="en-US" altLang="zh-CN" sz="2800" dirty="0" smtClean="0"/>
              <a:t>Resort to all means regardless of the consequences.</a:t>
            </a:r>
            <a:endParaRPr lang="en-US" altLang="zh-CN" sz="2800" dirty="0"/>
          </a:p>
          <a:p>
            <a:pPr marL="0" indent="0">
              <a:lnSpc>
                <a:spcPct val="100000"/>
              </a:lnSpc>
              <a:buNone/>
            </a:pPr>
            <a:r>
              <a:rPr lang="en-US" altLang="zh-CN" sz="2800" dirty="0"/>
              <a:t>  D) </a:t>
            </a:r>
            <a:r>
              <a:rPr lang="en-US" altLang="zh-CN" sz="2800" dirty="0" smtClean="0"/>
              <a:t>Exaggerate their sense of shame and worthlessness.</a:t>
            </a:r>
            <a:endParaRPr lang="en-US" altLang="zh-CN" sz="2800" dirty="0"/>
          </a:p>
        </p:txBody>
      </p:sp>
      <p:sp>
        <p:nvSpPr>
          <p:cNvPr id="2" name="文本框 1"/>
          <p:cNvSpPr txBox="1"/>
          <p:nvPr/>
        </p:nvSpPr>
        <p:spPr>
          <a:xfrm>
            <a:off x="7453322" y="5143512"/>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6646" y="642918"/>
            <a:ext cx="11875770" cy="3500462"/>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lnSpc>
                <a:spcPct val="120000"/>
              </a:lnSpc>
              <a:buNone/>
            </a:pPr>
            <a:r>
              <a:rPr lang="en-US" altLang="zh-CN" dirty="0"/>
              <a:t>     </a:t>
            </a:r>
            <a:r>
              <a:rPr lang="en-US" altLang="zh-CN" dirty="0" smtClean="0">
                <a:latin typeface="Times New Roman" panose="02020603050405020304" pitchFamily="18" charset="0"/>
                <a:cs typeface="Times New Roman" panose="02020603050405020304" pitchFamily="18" charset="0"/>
              </a:rPr>
              <a:t>Those negative emotions mount into heightened anxiety, impacting their ability to make the most of their personal life. Their desire to avoid feeling inferior ends up making them feel inferior when it comes to their diminished capacity for friendship and leisure. They end up dissatisfied both at work and outside of it.</a:t>
            </a:r>
            <a:endParaRPr lang="en-US" altLang="zh-CN" dirty="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238084" y="4357694"/>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dirty="0" smtClean="0"/>
              <a:t>13. </a:t>
            </a:r>
            <a:r>
              <a:rPr lang="en-US" altLang="zh-CN" sz="2800" dirty="0"/>
              <a:t>What </a:t>
            </a:r>
            <a:r>
              <a:rPr lang="en-US" altLang="zh-CN" sz="2800" dirty="0" smtClean="0"/>
              <a:t>do we learn about people over-concerned with work-related self-esteem?</a:t>
            </a:r>
            <a:endParaRPr lang="en-US" altLang="zh-CN" sz="2800" dirty="0"/>
          </a:p>
          <a:p>
            <a:pPr marL="0" indent="0">
              <a:lnSpc>
                <a:spcPct val="100000"/>
              </a:lnSpc>
              <a:buNone/>
            </a:pPr>
            <a:r>
              <a:rPr lang="en-US" altLang="zh-CN" sz="2800" dirty="0"/>
              <a:t>  A) </a:t>
            </a:r>
            <a:r>
              <a:rPr lang="en-US" altLang="zh-CN" sz="2800" dirty="0" smtClean="0"/>
              <a:t>They may often feel inferior to their colleagues .</a:t>
            </a:r>
            <a:endParaRPr lang="en-US" altLang="zh-CN" sz="2800" dirty="0"/>
          </a:p>
          <a:p>
            <a:pPr marL="0" indent="0">
              <a:lnSpc>
                <a:spcPct val="100000"/>
              </a:lnSpc>
              <a:buNone/>
            </a:pPr>
            <a:r>
              <a:rPr lang="en-US" altLang="zh-CN" sz="2800" dirty="0"/>
              <a:t>  B) </a:t>
            </a:r>
            <a:r>
              <a:rPr lang="en-US" altLang="zh-CN" sz="2800" dirty="0" smtClean="0"/>
              <a:t>They cannot enjoy their personal life to the full.</a:t>
            </a:r>
            <a:endParaRPr lang="en-US" altLang="zh-CN" sz="2800" dirty="0"/>
          </a:p>
          <a:p>
            <a:pPr marL="0" indent="0">
              <a:lnSpc>
                <a:spcPct val="100000"/>
              </a:lnSpc>
              <a:buNone/>
            </a:pPr>
            <a:r>
              <a:rPr lang="en-US" altLang="zh-CN" sz="2800" dirty="0"/>
              <a:t>  C) </a:t>
            </a:r>
            <a:r>
              <a:rPr lang="en-US" altLang="zh-CN" sz="2800" dirty="0" smtClean="0"/>
              <a:t>They are never satisfied with their achievements .</a:t>
            </a:r>
            <a:endParaRPr lang="en-US" altLang="zh-CN" sz="2800" dirty="0"/>
          </a:p>
          <a:p>
            <a:pPr marL="0" indent="0">
              <a:lnSpc>
                <a:spcPct val="100000"/>
              </a:lnSpc>
              <a:buNone/>
            </a:pPr>
            <a:r>
              <a:rPr lang="en-US" altLang="zh-CN" sz="2800" dirty="0"/>
              <a:t>  D) </a:t>
            </a:r>
            <a:r>
              <a:rPr lang="en-US" altLang="zh-CN" sz="2800" dirty="0" smtClean="0"/>
              <a:t>They have their own view of friendship and leisure.</a:t>
            </a:r>
            <a:endParaRPr lang="en-US" altLang="zh-CN" sz="2800" dirty="0"/>
          </a:p>
        </p:txBody>
      </p:sp>
      <p:sp>
        <p:nvSpPr>
          <p:cNvPr id="2" name="文本框 1"/>
          <p:cNvSpPr txBox="1"/>
          <p:nvPr/>
        </p:nvSpPr>
        <p:spPr>
          <a:xfrm>
            <a:off x="6953256" y="5072074"/>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6646" y="142852"/>
            <a:ext cx="11875770" cy="4286280"/>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lnSpc>
                <a:spcPct val="120000"/>
              </a:lnSpc>
              <a:buNone/>
            </a:pPr>
            <a:r>
              <a:rPr lang="en-US" altLang="zh-CN" dirty="0"/>
              <a:t>     </a:t>
            </a:r>
            <a:r>
              <a:rPr lang="en-US" altLang="zh-CN" sz="2800" dirty="0" smtClean="0">
                <a:latin typeface="Times New Roman" panose="02020603050405020304" pitchFamily="18" charset="0"/>
                <a:cs typeface="Times New Roman" panose="02020603050405020304" pitchFamily="18" charset="0"/>
              </a:rPr>
              <a:t>But thankfully, for those people compelled almost entirely by this specific form of motivation, the news isn’t  all bad, or bad at all. They study also discovered several positive outcomes that can actually outweigh the harmful ones. Though these types of employees are motivated by the desire to avoid negative consequences, they are also motivated by the excitement of pursuing emotional rewards. This excitement makes pursuing goals enjoyable and stimulates pleasure and pride that would result from success. An effect of the positive motivation is that it neutralizes the existence of negative motivation.</a:t>
            </a:r>
            <a:endParaRPr lang="en-US" altLang="zh-CN" sz="2800" dirty="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238084" y="450057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dirty="0" smtClean="0"/>
              <a:t>14. </a:t>
            </a:r>
            <a:r>
              <a:rPr lang="en-US" altLang="zh-CN" sz="2800" dirty="0"/>
              <a:t>What </a:t>
            </a:r>
            <a:r>
              <a:rPr lang="en-US" altLang="zh-CN" sz="2800" dirty="0" smtClean="0"/>
              <a:t>is the good news we learn from the recent research?</a:t>
            </a:r>
            <a:endParaRPr lang="en-US" altLang="zh-CN" sz="2800" dirty="0"/>
          </a:p>
          <a:p>
            <a:pPr marL="0" indent="0">
              <a:lnSpc>
                <a:spcPct val="100000"/>
              </a:lnSpc>
              <a:buNone/>
            </a:pPr>
            <a:r>
              <a:rPr lang="en-US" altLang="zh-CN" sz="2800" dirty="0"/>
              <a:t>  A) </a:t>
            </a:r>
            <a:r>
              <a:rPr lang="en-US" altLang="zh-CN" sz="2800" dirty="0" smtClean="0"/>
              <a:t>The pursuit of goals may turn out to be enjoyable and pleasant.</a:t>
            </a:r>
            <a:endParaRPr lang="en-US" altLang="zh-CN" sz="2800" dirty="0"/>
          </a:p>
          <a:p>
            <a:pPr marL="0" indent="0">
              <a:lnSpc>
                <a:spcPct val="100000"/>
              </a:lnSpc>
              <a:buNone/>
            </a:pPr>
            <a:r>
              <a:rPr lang="en-US" altLang="zh-CN" sz="2800" dirty="0"/>
              <a:t>  B) </a:t>
            </a:r>
            <a:r>
              <a:rPr lang="en-US" altLang="zh-CN" sz="2800" dirty="0" smtClean="0"/>
              <a:t>The emotional rewards from goal pursuit are worth the pains taken.</a:t>
            </a:r>
            <a:endParaRPr lang="en-US" altLang="zh-CN" sz="2800" dirty="0"/>
          </a:p>
          <a:p>
            <a:pPr marL="0" indent="0">
              <a:lnSpc>
                <a:spcPct val="100000"/>
              </a:lnSpc>
              <a:buNone/>
            </a:pPr>
            <a:r>
              <a:rPr lang="en-US" altLang="zh-CN" sz="2800" dirty="0"/>
              <a:t>  C) </a:t>
            </a:r>
            <a:r>
              <a:rPr lang="en-US" altLang="zh-CN" sz="2800" dirty="0" smtClean="0"/>
              <a:t>The negative consequences of goal pursuit can mostly be avoided.</a:t>
            </a:r>
            <a:endParaRPr lang="en-US" altLang="zh-CN" sz="2800" dirty="0"/>
          </a:p>
          <a:p>
            <a:pPr marL="0" indent="0">
              <a:lnSpc>
                <a:spcPct val="100000"/>
              </a:lnSpc>
              <a:buNone/>
            </a:pPr>
            <a:r>
              <a:rPr lang="en-US" altLang="zh-CN" sz="2800" dirty="0"/>
              <a:t>  D) </a:t>
            </a:r>
            <a:r>
              <a:rPr lang="en-US" altLang="zh-CN" sz="2800" dirty="0" smtClean="0"/>
              <a:t>The goal of swelling self-esteem can be achieved if one keeps trying .</a:t>
            </a:r>
            <a:endParaRPr lang="en-US" altLang="zh-CN" sz="2800" dirty="0"/>
          </a:p>
        </p:txBody>
      </p:sp>
      <p:sp>
        <p:nvSpPr>
          <p:cNvPr id="2" name="文本框 1"/>
          <p:cNvSpPr txBox="1"/>
          <p:nvPr/>
        </p:nvSpPr>
        <p:spPr>
          <a:xfrm>
            <a:off x="9024958" y="4786322"/>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6646" y="285728"/>
            <a:ext cx="11875770" cy="3857652"/>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lnSpc>
                <a:spcPct val="120000"/>
              </a:lnSpc>
              <a:buNone/>
            </a:pPr>
            <a:r>
              <a:rPr lang="en-US" altLang="zh-CN" dirty="0"/>
              <a:t>     </a:t>
            </a:r>
            <a:r>
              <a:rPr lang="en-US" altLang="zh-CN" dirty="0" smtClean="0">
                <a:latin typeface="Times New Roman" panose="02020603050405020304" pitchFamily="18" charset="0"/>
                <a:cs typeface="Times New Roman" panose="02020603050405020304" pitchFamily="18" charset="0"/>
              </a:rPr>
              <a:t>Sure, it affects people’s personal lives to what could be deemed an unhealthy extent, because leisure activities are often seen as a part of life that must be sacrificed to manage work and family demands. However, the way people feel about their work has less to do with whether they are motivated by the preservation of self-esteem but more with the fact that they are simply motivated. </a:t>
            </a:r>
            <a:r>
              <a:rPr lang="en-US" altLang="zh-CN" sz="2800" dirty="0" smtClean="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238084" y="4357694"/>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dirty="0" smtClean="0"/>
              <a:t>15. </a:t>
            </a:r>
            <a:r>
              <a:rPr lang="en-US" altLang="zh-CN" sz="2800" dirty="0"/>
              <a:t>What </a:t>
            </a:r>
            <a:r>
              <a:rPr lang="en-US" altLang="zh-CN" sz="2800" dirty="0" smtClean="0"/>
              <a:t>can we infer from the last paragraph?</a:t>
            </a:r>
            <a:endParaRPr lang="en-US" altLang="zh-CN" sz="2800" dirty="0"/>
          </a:p>
          <a:p>
            <a:pPr marL="0" indent="0">
              <a:lnSpc>
                <a:spcPct val="100000"/>
              </a:lnSpc>
              <a:buNone/>
            </a:pPr>
            <a:r>
              <a:rPr lang="en-US" altLang="zh-CN" sz="2800" dirty="0"/>
              <a:t>  A) </a:t>
            </a:r>
            <a:r>
              <a:rPr lang="en-US" altLang="zh-CN" sz="2800" dirty="0" smtClean="0"/>
              <a:t>Workers have to make sacrifices to preserve self-esteem.</a:t>
            </a:r>
            <a:endParaRPr lang="en-US" altLang="zh-CN" sz="2800" dirty="0"/>
          </a:p>
          <a:p>
            <a:pPr marL="0" indent="0">
              <a:lnSpc>
                <a:spcPct val="100000"/>
              </a:lnSpc>
              <a:buNone/>
            </a:pPr>
            <a:r>
              <a:rPr lang="en-US" altLang="zh-CN" sz="2800" dirty="0"/>
              <a:t>  B) </a:t>
            </a:r>
            <a:r>
              <a:rPr lang="en-US" altLang="zh-CN" sz="2800" dirty="0" smtClean="0"/>
              <a:t>Self-esteem swells when workers are strongly motivated.</a:t>
            </a:r>
            <a:endParaRPr lang="en-US" altLang="zh-CN" sz="2800" dirty="0"/>
          </a:p>
          <a:p>
            <a:pPr marL="0" indent="0">
              <a:lnSpc>
                <a:spcPct val="100000"/>
              </a:lnSpc>
              <a:buNone/>
            </a:pPr>
            <a:r>
              <a:rPr lang="en-US" altLang="zh-CN" sz="2800" dirty="0"/>
              <a:t>  C) </a:t>
            </a:r>
            <a:r>
              <a:rPr lang="en-US" altLang="zh-CN" sz="2800" dirty="0" smtClean="0"/>
              <a:t>Pursuit of goals affects people’s personal lives to an unhealthy extent.</a:t>
            </a:r>
            <a:endParaRPr lang="en-US" altLang="zh-CN" sz="2800" dirty="0"/>
          </a:p>
          <a:p>
            <a:pPr marL="0" indent="0">
              <a:lnSpc>
                <a:spcPct val="100000"/>
              </a:lnSpc>
              <a:buNone/>
            </a:pPr>
            <a:r>
              <a:rPr lang="en-US" altLang="zh-CN" sz="2800" dirty="0"/>
              <a:t>  D) </a:t>
            </a:r>
            <a:r>
              <a:rPr lang="en-US" altLang="zh-CN" sz="2800" dirty="0" smtClean="0"/>
              <a:t>People feel positive about their work as long as they are motivated.</a:t>
            </a:r>
            <a:endParaRPr lang="en-US" altLang="zh-CN" sz="2800" dirty="0"/>
          </a:p>
        </p:txBody>
      </p:sp>
      <p:sp>
        <p:nvSpPr>
          <p:cNvPr id="2" name="文本框 1"/>
          <p:cNvSpPr txBox="1"/>
          <p:nvPr/>
        </p:nvSpPr>
        <p:spPr>
          <a:xfrm>
            <a:off x="9525024" y="5857892"/>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632460"/>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Passage 4</a:t>
            </a:r>
            <a:endParaRPr lang="en-US" altLang="zh-CN" sz="4400" kern="0" dirty="0" smtClean="0">
              <a:solidFill>
                <a:srgbClr val="FF0000"/>
              </a:solidFill>
            </a:endParaRPr>
          </a:p>
        </p:txBody>
      </p:sp>
      <p:sp>
        <p:nvSpPr>
          <p:cNvPr id="10" name="TextBox 9"/>
          <p:cNvSpPr txBox="1"/>
          <p:nvPr/>
        </p:nvSpPr>
        <p:spPr>
          <a:xfrm>
            <a:off x="5334000" y="2514600"/>
            <a:ext cx="4288790" cy="2122805"/>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深层</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阅读理解</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2400" y="76200"/>
            <a:ext cx="11871960" cy="3921125"/>
          </a:xfrm>
          <a:solidFill>
            <a:srgbClr val="FFFFC3"/>
          </a:solidFill>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altLang="zh-CN"/>
              <a:t>   </a:t>
            </a:r>
            <a:r>
              <a:rPr lang="en-US" altLang="zh-CN" sz="2400">
                <a:latin typeface="Times New Roman" panose="02020603050405020304" pitchFamily="18" charset="0"/>
                <a:cs typeface="Times New Roman" panose="02020603050405020304" pitchFamily="18" charset="0"/>
                <a:sym typeface="+mn-ea"/>
              </a:rPr>
              <a:t>Back in 1964, in his book Games People Play, psychiatrist Eric Berne described a pattern of conversation he called “Why Don’t You-Yes But”, which remains one of the most irritating aspects of everyday social life. The person adopting the strategy is usually a chronic complain-</a:t>
            </a:r>
            <a:endParaRPr lang="en-US" altLang="zh-CN" sz="2400">
              <a:latin typeface="Times New Roman" panose="02020603050405020304" pitchFamily="18" charset="0"/>
              <a:cs typeface="Times New Roman" panose="02020603050405020304" pitchFamily="18" charset="0"/>
              <a:sym typeface="+mn-ea"/>
            </a:endParaRPr>
          </a:p>
          <a:p>
            <a:pPr marL="0" indent="0">
              <a:buNone/>
            </a:pPr>
            <a:r>
              <a:rPr lang="en-US" altLang="zh-CN" sz="2400">
                <a:latin typeface="Times New Roman" panose="02020603050405020304" pitchFamily="18" charset="0"/>
                <a:cs typeface="Times New Roman" panose="02020603050405020304" pitchFamily="18" charset="0"/>
                <a:sym typeface="+mn-ea"/>
              </a:rPr>
              <a:t>er. Something is terrible about their relationship, job or other situation, and they moan about it ceaselessly, but find some excuse to dismiss any solution that’s proposed. The reason, of course, is that on some level they don’t want a solution; they want to be validated in their position that the world is out to get them. If they can “win” the game--dismissing every suggestion until their interlocutor gives up in annoyance-- they get to feel pleasurably righteous in their resentments and excused from any obligation to change. </a:t>
            </a:r>
            <a:endParaRPr lang="en-US" altLang="zh-CN" sz="2400">
              <a:latin typeface="Times New Roman" panose="02020603050405020304" pitchFamily="18" charset="0"/>
              <a:cs typeface="Times New Roman" panose="02020603050405020304" pitchFamily="18" charset="0"/>
            </a:endParaRPr>
          </a:p>
        </p:txBody>
      </p:sp>
      <p:sp>
        <p:nvSpPr>
          <p:cNvPr id="5" name="内容占位符 2"/>
          <p:cNvSpPr>
            <a:spLocks noGrp="1"/>
          </p:cNvSpPr>
          <p:nvPr/>
        </p:nvSpPr>
        <p:spPr>
          <a:xfrm>
            <a:off x="229870" y="3657600"/>
            <a:ext cx="11732260" cy="310134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665"/>
              <a:t>51. What is characteristic of a chronic complainer, according to </a:t>
            </a:r>
            <a:r>
              <a:rPr lang="en-US" altLang="zh-CN" sz="2660">
                <a:latin typeface="Calibri" panose="020F0502020204030204" pitchFamily="34" charset="0"/>
                <a:cs typeface="Calibri" panose="020F0502020204030204" pitchFamily="34" charset="0"/>
                <a:sym typeface="+mn-ea"/>
              </a:rPr>
              <a:t>psychiatrist Eric Berne</a:t>
            </a:r>
            <a:r>
              <a:rPr lang="en-US" altLang="zh-CN" sz="2665">
                <a:latin typeface="Calibri" panose="020F0502020204030204" pitchFamily="34" charset="0"/>
                <a:cs typeface="Calibri" panose="020F0502020204030204" pitchFamily="34" charset="0"/>
              </a:rPr>
              <a:t>?</a:t>
            </a:r>
            <a:endParaRPr lang="en-US" altLang="zh-CN" sz="2665"/>
          </a:p>
          <a:p>
            <a:pPr marL="0" indent="0">
              <a:lnSpc>
                <a:spcPct val="100000"/>
              </a:lnSpc>
              <a:buNone/>
            </a:pPr>
            <a:r>
              <a:rPr lang="en-US" altLang="zh-CN" sz="2665"/>
              <a:t>    A) They only feel angry about their ill treatment and resent whoever tries to help</a:t>
            </a:r>
            <a:r>
              <a:rPr lang="en-US" altLang="zh-CN" sz="2665">
                <a:sym typeface="+mn-ea"/>
              </a:rPr>
              <a:t>.</a:t>
            </a:r>
            <a:r>
              <a:rPr lang="en-US" altLang="zh-CN" sz="2665"/>
              <a:t>    </a:t>
            </a:r>
            <a:endParaRPr lang="en-US" altLang="zh-CN" sz="2665"/>
          </a:p>
          <a:p>
            <a:pPr marL="0" indent="0">
              <a:lnSpc>
                <a:spcPct val="100000"/>
              </a:lnSpc>
              <a:buNone/>
            </a:pPr>
            <a:r>
              <a:rPr lang="en-US" altLang="zh-CN" sz="2665"/>
              <a:t>    B) They are chronically unhappy and ceaselessly find fault with people around them.</a:t>
            </a:r>
            <a:endParaRPr lang="en-US" altLang="zh-CN" sz="2665"/>
          </a:p>
          <a:p>
            <a:pPr marL="0" indent="0">
              <a:lnSpc>
                <a:spcPct val="100000"/>
              </a:lnSpc>
              <a:buNone/>
            </a:pPr>
            <a:r>
              <a:rPr lang="en-US" altLang="zh-CN" sz="2665"/>
              <a:t>    C) They constantly dismiss others’ proposals while taking no responsibility for tackling the</a:t>
            </a:r>
            <a:endParaRPr lang="en-US" altLang="zh-CN" sz="2665"/>
          </a:p>
          <a:p>
            <a:pPr marL="0" indent="0">
              <a:lnSpc>
                <a:spcPct val="100000"/>
              </a:lnSpc>
              <a:buNone/>
            </a:pPr>
            <a:r>
              <a:rPr lang="en-US" altLang="zh-CN" sz="2665"/>
              <a:t>         problem.</a:t>
            </a:r>
            <a:endParaRPr lang="en-US" altLang="zh-CN" sz="2665"/>
          </a:p>
          <a:p>
            <a:pPr marL="0" indent="0">
              <a:lnSpc>
                <a:spcPct val="100000"/>
              </a:lnSpc>
              <a:buNone/>
            </a:pPr>
            <a:r>
              <a:rPr lang="en-US" altLang="zh-CN" sz="2665"/>
              <a:t>    D) They lack the knowledge and basic skills required for successful conversations with their</a:t>
            </a:r>
            <a:endParaRPr lang="en-US" altLang="zh-CN" sz="2665"/>
          </a:p>
          <a:p>
            <a:pPr marL="0" indent="0">
              <a:lnSpc>
                <a:spcPct val="100000"/>
              </a:lnSpc>
              <a:buNone/>
            </a:pPr>
            <a:r>
              <a:rPr lang="en-US" altLang="zh-CN" sz="2665"/>
              <a:t>         interlocutors.</a:t>
            </a:r>
            <a:endParaRPr lang="en-US" altLang="zh-CN" sz="2665"/>
          </a:p>
        </p:txBody>
      </p:sp>
      <p:sp>
        <p:nvSpPr>
          <p:cNvPr id="6" name="文本框 5"/>
          <p:cNvSpPr txBox="1"/>
          <p:nvPr/>
        </p:nvSpPr>
        <p:spPr>
          <a:xfrm>
            <a:off x="1952596" y="5357826"/>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p:bldP spid="6"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5735" y="0"/>
            <a:ext cx="11871960" cy="4878705"/>
          </a:xfrm>
          <a:solidFill>
            <a:srgbClr val="FFFFC3"/>
          </a:solidFill>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sym typeface="+mn-ea"/>
              </a:rPr>
              <a:t>Part of the trouble here is the so-called responsibility/fault fallacy. When you’re feeling hard done by--taken for granted by your partner, say, obliged to work for a half-witted boss--it’s easy to become attached to the position that it’s not your job to address the matter, and that doing do would be an admission of fault. But there is a confusion here. For example, if I were to discover a newborn at my front door, it wouldn’t be my fault, but it most certainly would be my respon</a:t>
            </a:r>
            <a:r>
              <a:rPr lang="en-US" altLang="zh-CN" sz="2800">
                <a:latin typeface="Times New Roman" panose="02020603050405020304" pitchFamily="18" charset="0"/>
                <a:cs typeface="Times New Roman" panose="02020603050405020304" pitchFamily="18" charset="0"/>
              </a:rPr>
              <a:t>sibility. There would be choices to make, and no possibility of avoiding them, since trying to ignore the matter would be a choice. The point is that what goes for the baby on the doorstep is true in all cases: even if the other person is 100% in the wrong, there is nothing to be gained, long-term, from using this as a justification to evade responsibility.</a:t>
            </a:r>
            <a:endParaRPr lang="en-US" altLang="zh-CN" sz="2800">
              <a:latin typeface="Times New Roman" panose="02020603050405020304" pitchFamily="18" charset="0"/>
              <a:cs typeface="Times New Roman" panose="02020603050405020304" pitchFamily="18" charset="0"/>
            </a:endParaRPr>
          </a:p>
        </p:txBody>
      </p:sp>
      <p:sp>
        <p:nvSpPr>
          <p:cNvPr id="5" name="内容占位符 2"/>
          <p:cNvSpPr>
            <a:spLocks noGrp="1"/>
          </p:cNvSpPr>
          <p:nvPr/>
        </p:nvSpPr>
        <p:spPr>
          <a:xfrm>
            <a:off x="152400" y="4648200"/>
            <a:ext cx="11985625" cy="223774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665" dirty="0"/>
              <a:t>52. What does the author try to illustrate with the example of the newborn on one’s doorsteps</a:t>
            </a:r>
            <a:r>
              <a:rPr lang="en-US" altLang="zh-CN" sz="2665" dirty="0">
                <a:latin typeface="Calibri" panose="020F0502020204030204" pitchFamily="34" charset="0"/>
                <a:cs typeface="Calibri" panose="020F0502020204030204" pitchFamily="34" charset="0"/>
              </a:rPr>
              <a:t>?</a:t>
            </a:r>
            <a:endParaRPr lang="en-US" altLang="zh-CN" sz="2665" dirty="0"/>
          </a:p>
          <a:p>
            <a:pPr marL="0" indent="0">
              <a:lnSpc>
                <a:spcPct val="100000"/>
              </a:lnSpc>
              <a:buNone/>
            </a:pPr>
            <a:r>
              <a:rPr lang="en-US" altLang="zh-CN" sz="2665" dirty="0"/>
              <a:t>    A) People tend to think that one should not be held responsible for others’ mistakes</a:t>
            </a:r>
            <a:r>
              <a:rPr lang="en-US" altLang="zh-CN" sz="2665" dirty="0">
                <a:sym typeface="+mn-ea"/>
              </a:rPr>
              <a:t>.</a:t>
            </a:r>
            <a:r>
              <a:rPr lang="en-US" altLang="zh-CN" sz="2665" dirty="0"/>
              <a:t>    </a:t>
            </a:r>
            <a:endParaRPr lang="en-US" altLang="zh-CN" sz="2665" dirty="0"/>
          </a:p>
          <a:p>
            <a:pPr marL="0" indent="0">
              <a:lnSpc>
                <a:spcPct val="100000"/>
              </a:lnSpc>
              <a:buNone/>
            </a:pPr>
            <a:r>
              <a:rPr lang="en-US" altLang="zh-CN" sz="2665" dirty="0"/>
              <a:t>    B) It is easy to become attached to the position of overlooking one’s own fault.</a:t>
            </a:r>
            <a:endParaRPr lang="en-US" altLang="zh-CN" sz="2665" dirty="0"/>
          </a:p>
          <a:p>
            <a:pPr marL="0" indent="0">
              <a:lnSpc>
                <a:spcPct val="100000"/>
              </a:lnSpc>
              <a:buNone/>
            </a:pPr>
            <a:r>
              <a:rPr lang="en-US" altLang="zh-CN" sz="2665" dirty="0"/>
              <a:t>    C) People are often at a loss when confronted with a number of choices.</a:t>
            </a:r>
            <a:endParaRPr lang="en-US" altLang="zh-CN" sz="2665" dirty="0"/>
          </a:p>
          <a:p>
            <a:pPr marL="0" indent="0">
              <a:lnSpc>
                <a:spcPct val="100000"/>
              </a:lnSpc>
              <a:buNone/>
            </a:pPr>
            <a:r>
              <a:rPr lang="en-US" altLang="zh-CN" sz="2665" dirty="0"/>
              <a:t>    D) A distinction should be drawn between responsibility and fault.</a:t>
            </a:r>
            <a:endParaRPr lang="en-US" altLang="zh-CN" sz="2665" dirty="0"/>
          </a:p>
        </p:txBody>
      </p:sp>
      <p:sp>
        <p:nvSpPr>
          <p:cNvPr id="6" name="文本框 5"/>
          <p:cNvSpPr txBox="1"/>
          <p:nvPr/>
        </p:nvSpPr>
        <p:spPr>
          <a:xfrm>
            <a:off x="8596330" y="6357958"/>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p:bldP spid="6"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2400" y="152400"/>
            <a:ext cx="11871960" cy="4298315"/>
          </a:xfrm>
          <a:solidFill>
            <a:srgbClr val="FFFFC3"/>
          </a:solidFill>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sym typeface="+mn-ea"/>
              </a:rPr>
              <a:t>Should you find yourself on the receiving end of this kind of complaining, there is an ingenious way to shut it down--which is to agree with it, ardently. Psychoth-erapist Lori Gottlieb describes this as “over-validation”. For one thing, you will be spared further moaning, since the other person’s motivation was to confirm her beliefs, and now you are confirming them. But for another, as Gottlieb notes, people confronted with over-validation often hear their complaints afresh and start arguing back. The notion that they are utterly powerless suddenly seems unrealistic--not to mention rather annoying-- so they’re prompted instead to generate ideas about how they might change things.</a:t>
            </a:r>
            <a:endParaRPr lang="en-US" altLang="zh-CN" sz="2800">
              <a:latin typeface="Times New Roman" panose="02020603050405020304" pitchFamily="18" charset="0"/>
              <a:cs typeface="Times New Roman" panose="02020603050405020304" pitchFamily="18" charset="0"/>
            </a:endParaRPr>
          </a:p>
        </p:txBody>
      </p:sp>
      <p:sp>
        <p:nvSpPr>
          <p:cNvPr id="5" name="内容占位符 2"/>
          <p:cNvSpPr>
            <a:spLocks noGrp="1"/>
          </p:cNvSpPr>
          <p:nvPr/>
        </p:nvSpPr>
        <p:spPr>
          <a:xfrm>
            <a:off x="152400" y="4495800"/>
            <a:ext cx="11985625" cy="223774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7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665"/>
              <a:t>53. What does the author advise people to do to chronic complainers</a:t>
            </a:r>
            <a:r>
              <a:rPr lang="en-US" altLang="zh-CN" sz="2665">
                <a:latin typeface="Calibri" panose="020F0502020204030204" pitchFamily="34" charset="0"/>
                <a:cs typeface="Calibri" panose="020F0502020204030204" pitchFamily="34" charset="0"/>
              </a:rPr>
              <a:t>?</a:t>
            </a:r>
            <a:endParaRPr lang="en-US" altLang="zh-CN" sz="2665"/>
          </a:p>
          <a:p>
            <a:pPr marL="0" indent="0">
              <a:lnSpc>
                <a:spcPct val="100000"/>
              </a:lnSpc>
              <a:buNone/>
            </a:pPr>
            <a:r>
              <a:rPr lang="en-US" altLang="zh-CN" sz="2665"/>
              <a:t>    A) Stop them from going further by agreeing with them</a:t>
            </a:r>
            <a:r>
              <a:rPr lang="en-US" altLang="zh-CN" sz="2665">
                <a:sym typeface="+mn-ea"/>
              </a:rPr>
              <a:t>.</a:t>
            </a:r>
            <a:r>
              <a:rPr lang="en-US" altLang="zh-CN" sz="2665"/>
              <a:t>    </a:t>
            </a:r>
            <a:endParaRPr lang="en-US" altLang="zh-CN" sz="2665"/>
          </a:p>
          <a:p>
            <a:pPr marL="0" indent="0">
              <a:lnSpc>
                <a:spcPct val="100000"/>
              </a:lnSpc>
              <a:buNone/>
            </a:pPr>
            <a:r>
              <a:rPr lang="en-US" altLang="zh-CN" sz="2665"/>
              <a:t>    B) Listen to their complaints ardently and sympathetically.</a:t>
            </a:r>
            <a:endParaRPr lang="en-US" altLang="zh-CN" sz="2665"/>
          </a:p>
          <a:p>
            <a:pPr marL="0" indent="0">
              <a:lnSpc>
                <a:spcPct val="100000"/>
              </a:lnSpc>
              <a:buNone/>
            </a:pPr>
            <a:r>
              <a:rPr lang="en-US" altLang="zh-CN" sz="2665"/>
              <a:t>    C) Ask them to validate their beliefs with further evidence.</a:t>
            </a:r>
            <a:endParaRPr lang="en-US" altLang="zh-CN" sz="2665"/>
          </a:p>
          <a:p>
            <a:pPr marL="0" indent="0">
              <a:lnSpc>
                <a:spcPct val="100000"/>
              </a:lnSpc>
              <a:buNone/>
            </a:pPr>
            <a:r>
              <a:rPr lang="en-US" altLang="zh-CN" sz="2665"/>
              <a:t>    D) Persuade them to clarify the confusion they have caused.</a:t>
            </a:r>
            <a:endParaRPr lang="en-US" altLang="zh-CN" sz="2665"/>
          </a:p>
        </p:txBody>
      </p:sp>
      <p:sp>
        <p:nvSpPr>
          <p:cNvPr id="6" name="文本框 5"/>
          <p:cNvSpPr txBox="1"/>
          <p:nvPr/>
        </p:nvSpPr>
        <p:spPr>
          <a:xfrm>
            <a:off x="7881950" y="4857760"/>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p:bldP spid="6"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2400" y="152400"/>
            <a:ext cx="11871960" cy="4298315"/>
          </a:xfrm>
          <a:solidFill>
            <a:srgbClr val="FFFFC3"/>
          </a:solidFill>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sym typeface="+mn-ea"/>
              </a:rPr>
              <a:t>Should you find yourself on the receiving end of this kind of complaining, there is an ingenious way to shut it down--which is to agree with it, ardently. Psychoth-erapist Lori Gottlieb describes this as “over-validation”. For one thing, you will be spared further moaning, since the other person’s motivation was to confirm her beliefs, and now you are confirming them. But for another, as Gottlieb notes, people confronted with over-validation often hear their complaints afresh and start arguing back. The notion that they are utterly powerless suddenly seems unrealistic--not to mention rather annoying-- so they’re prompted instead to generate ideas about how they might change things.</a:t>
            </a:r>
            <a:endParaRPr lang="en-US" altLang="zh-CN" sz="2800">
              <a:latin typeface="Times New Roman" panose="02020603050405020304" pitchFamily="18" charset="0"/>
              <a:cs typeface="Times New Roman" panose="02020603050405020304" pitchFamily="18" charset="0"/>
            </a:endParaRPr>
          </a:p>
        </p:txBody>
      </p:sp>
      <p:sp>
        <p:nvSpPr>
          <p:cNvPr id="5" name="内容占位符 2"/>
          <p:cNvSpPr>
            <a:spLocks noGrp="1"/>
          </p:cNvSpPr>
          <p:nvPr/>
        </p:nvSpPr>
        <p:spPr>
          <a:xfrm>
            <a:off x="152400" y="4495800"/>
            <a:ext cx="11985625" cy="223774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7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665"/>
              <a:t>54. What happens when chronic complainers receive over-validation</a:t>
            </a:r>
            <a:r>
              <a:rPr lang="en-US" altLang="zh-CN" sz="2665">
                <a:latin typeface="Calibri" panose="020F0502020204030204" pitchFamily="34" charset="0"/>
                <a:cs typeface="Calibri" panose="020F0502020204030204" pitchFamily="34" charset="0"/>
              </a:rPr>
              <a:t>?</a:t>
            </a:r>
            <a:endParaRPr lang="en-US" altLang="zh-CN" sz="2665"/>
          </a:p>
          <a:p>
            <a:pPr marL="0" indent="0">
              <a:lnSpc>
                <a:spcPct val="100000"/>
              </a:lnSpc>
              <a:buNone/>
            </a:pPr>
            <a:r>
              <a:rPr lang="en-US" altLang="zh-CN" sz="2665"/>
              <a:t>    A) They are motivated to find ingenious ways to persuade their interlocutor</a:t>
            </a:r>
            <a:r>
              <a:rPr lang="en-US" altLang="zh-CN" sz="2665">
                <a:sym typeface="+mn-ea"/>
              </a:rPr>
              <a:t>.</a:t>
            </a:r>
            <a:r>
              <a:rPr lang="en-US" altLang="zh-CN" sz="2665"/>
              <a:t>    </a:t>
            </a:r>
            <a:endParaRPr lang="en-US" altLang="zh-CN" sz="2665"/>
          </a:p>
          <a:p>
            <a:pPr marL="0" indent="0">
              <a:lnSpc>
                <a:spcPct val="100000"/>
              </a:lnSpc>
              <a:buNone/>
            </a:pPr>
            <a:r>
              <a:rPr lang="en-US" altLang="zh-CN" sz="2665"/>
              <a:t>    B) They are prompted to come up with ideas for making possible changes.</a:t>
            </a:r>
            <a:endParaRPr lang="en-US" altLang="zh-CN" sz="2665"/>
          </a:p>
          <a:p>
            <a:pPr marL="0" indent="0">
              <a:lnSpc>
                <a:spcPct val="100000"/>
              </a:lnSpc>
              <a:buNone/>
            </a:pPr>
            <a:r>
              <a:rPr lang="en-US" altLang="zh-CN" sz="2665"/>
              <a:t>    C) They are stimulated to make more complaints.</a:t>
            </a:r>
            <a:endParaRPr lang="en-US" altLang="zh-CN" sz="2665"/>
          </a:p>
          <a:p>
            <a:pPr marL="0" indent="0">
              <a:lnSpc>
                <a:spcPct val="100000"/>
              </a:lnSpc>
              <a:buNone/>
            </a:pPr>
            <a:r>
              <a:rPr lang="en-US" altLang="zh-CN" sz="2665"/>
              <a:t>    D) They are encouraged to start arguing back.</a:t>
            </a:r>
            <a:endParaRPr lang="en-US" altLang="zh-CN" sz="2665"/>
          </a:p>
        </p:txBody>
      </p:sp>
      <p:sp>
        <p:nvSpPr>
          <p:cNvPr id="6" name="文本框 5"/>
          <p:cNvSpPr txBox="1"/>
          <p:nvPr/>
        </p:nvSpPr>
        <p:spPr>
          <a:xfrm>
            <a:off x="10310842" y="5214950"/>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p:bldP spid="6"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7660" y="609600"/>
            <a:ext cx="11720830" cy="3235960"/>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a:latin typeface="Times New Roman" panose="02020603050405020304" pitchFamily="18" charset="0"/>
                <a:cs typeface="Times New Roman" panose="02020603050405020304" pitchFamily="18" charset="0"/>
              </a:rPr>
              <a:t>“And then, sometimes, something magical might happen,” Gottlieb writes. The other person “might realise she is not as trapped as you are saying she is, or as she feels.” Which illustrates the irony of the responsibility/fault fallacy: evading responsibility feels comfortable, but turns out to be a prison; whereas assuming responsibility feels unpleasant, but ends up being freeing. </a:t>
            </a:r>
            <a:endParaRPr lang="en-US" altLang="zh-CN">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81000" y="4001135"/>
            <a:ext cx="11732260" cy="2369820"/>
          </a:xfrm>
          <a:prstGeom prst="rect">
            <a:avLst/>
          </a:prstGeom>
          <a:ln w="28575" cmpd="thickThin">
            <a:gradFill>
              <a:gsLst>
                <a:gs pos="0">
                  <a:schemeClr val="accent1">
                    <a:lumMod val="5000"/>
                    <a:lumOff val="95000"/>
                  </a:schemeClr>
                </a:gs>
                <a:gs pos="41000">
                  <a:schemeClr val="accent1">
                    <a:lumMod val="45000"/>
                    <a:lumOff val="55000"/>
                  </a:schemeClr>
                </a:gs>
                <a:gs pos="71000">
                  <a:srgbClr val="0070C0">
                    <a:alpha val="0"/>
                  </a:srgbClr>
                </a:gs>
                <a:gs pos="100000">
                  <a:schemeClr val="accent1">
                    <a:lumMod val="30000"/>
                    <a:lumOff val="70000"/>
                  </a:schemeClr>
                </a:gs>
              </a:gsLst>
              <a:lin ang="5400000" scaled="1"/>
            </a:gradFill>
            <a:prstDash val="solid"/>
          </a:ln>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7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dirty="0"/>
              <a:t>55. How can one stop being a chronic complainer according to the author</a:t>
            </a:r>
            <a:r>
              <a:rPr lang="en-US" altLang="zh-CN" sz="2800" dirty="0">
                <a:latin typeface="Calibri" panose="020F0502020204030204" pitchFamily="34" charset="0"/>
                <a:cs typeface="Calibri" panose="020F0502020204030204" pitchFamily="34" charset="0"/>
              </a:rPr>
              <a:t>?</a:t>
            </a:r>
            <a:endParaRPr lang="en-US" altLang="zh-CN" sz="2800" dirty="0"/>
          </a:p>
          <a:p>
            <a:pPr marL="0" indent="0">
              <a:lnSpc>
                <a:spcPct val="100000"/>
              </a:lnSpc>
              <a:buNone/>
            </a:pPr>
            <a:r>
              <a:rPr lang="en-US" altLang="zh-CN" sz="2800" dirty="0"/>
              <a:t>    A) </a:t>
            </a:r>
            <a:r>
              <a:rPr lang="en-US" altLang="zh-CN" sz="2800" dirty="0" err="1"/>
              <a:t>Analysing</a:t>
            </a:r>
            <a:r>
              <a:rPr lang="en-US" altLang="zh-CN" sz="2800" dirty="0"/>
              <a:t> the so-called responsibility/fault fallacy</a:t>
            </a:r>
            <a:r>
              <a:rPr lang="en-US" altLang="zh-CN" sz="2800" dirty="0">
                <a:sym typeface="+mn-ea"/>
              </a:rPr>
              <a:t>.</a:t>
            </a:r>
            <a:r>
              <a:rPr lang="en-US" altLang="zh-CN" sz="2800" dirty="0"/>
              <a:t>    </a:t>
            </a:r>
            <a:endParaRPr lang="en-US" altLang="zh-CN" sz="2800" dirty="0"/>
          </a:p>
          <a:p>
            <a:pPr marL="0" indent="0">
              <a:lnSpc>
                <a:spcPct val="100000"/>
              </a:lnSpc>
              <a:buNone/>
            </a:pPr>
            <a:r>
              <a:rPr lang="en-US" altLang="zh-CN" sz="2800" dirty="0"/>
              <a:t>    B) Avoiding hazardous traps in everyday social life.</a:t>
            </a:r>
            <a:endParaRPr lang="en-US" altLang="zh-CN" sz="2800" dirty="0"/>
          </a:p>
          <a:p>
            <a:pPr marL="0" indent="0">
              <a:lnSpc>
                <a:spcPct val="100000"/>
              </a:lnSpc>
              <a:buNone/>
            </a:pPr>
            <a:r>
              <a:rPr lang="en-US" altLang="zh-CN" sz="2800" dirty="0"/>
              <a:t>    C) Assuming responsibility to free oneself.</a:t>
            </a:r>
            <a:endParaRPr lang="en-US" altLang="zh-CN" sz="2800" dirty="0"/>
          </a:p>
          <a:p>
            <a:pPr marL="0" indent="0">
              <a:lnSpc>
                <a:spcPct val="100000"/>
              </a:lnSpc>
              <a:buNone/>
            </a:pPr>
            <a:r>
              <a:rPr lang="en-US" altLang="zh-CN" sz="2800" dirty="0"/>
              <a:t>    D) Awaiting something magical to happen.</a:t>
            </a:r>
            <a:endParaRPr lang="en-US" altLang="zh-CN" sz="2800" dirty="0"/>
          </a:p>
        </p:txBody>
      </p:sp>
      <p:sp>
        <p:nvSpPr>
          <p:cNvPr id="6" name="文本框 5"/>
          <p:cNvSpPr txBox="1"/>
          <p:nvPr/>
        </p:nvSpPr>
        <p:spPr>
          <a:xfrm>
            <a:off x="6524628" y="5357826"/>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6" grpId="0"/>
      <p:bldP spid="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632460"/>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Passage 5</a:t>
            </a:r>
            <a:endParaRPr lang="en-US" altLang="zh-CN" sz="4400" kern="0" dirty="0" smtClean="0">
              <a:solidFill>
                <a:srgbClr val="FF0000"/>
              </a:solidFill>
            </a:endParaRPr>
          </a:p>
        </p:txBody>
      </p:sp>
      <p:sp>
        <p:nvSpPr>
          <p:cNvPr id="10" name="TextBox 9"/>
          <p:cNvSpPr txBox="1"/>
          <p:nvPr/>
        </p:nvSpPr>
        <p:spPr>
          <a:xfrm>
            <a:off x="5334000" y="2514600"/>
            <a:ext cx="4288790" cy="2122805"/>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深层</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阅读理解</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327660" y="715010"/>
            <a:ext cx="11720830" cy="2473960"/>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a:latin typeface="Times New Roman" panose="02020603050405020304" pitchFamily="18" charset="0"/>
                <a:cs typeface="Times New Roman" panose="02020603050405020304" pitchFamily="18" charset="0"/>
              </a:rPr>
              <a:t>Why does social media trigger feelings of loneliness and inadequacy? Because instead of being real life, it is, for the most part, impression management, a way of marketing yourself, carefully choosing and filtering the pictures and words to put your best face forward.  </a:t>
            </a:r>
            <a:endParaRPr lang="en-US" altLang="zh-CN">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16230" y="3428365"/>
            <a:ext cx="11732260" cy="2948305"/>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46. What does the author imply social media may do to our life</a:t>
            </a:r>
            <a:r>
              <a:rPr lang="en-US" altLang="zh-CN" sz="2800">
                <a:latin typeface="Calibri" panose="020F0502020204030204" pitchFamily="34" charset="0"/>
                <a:cs typeface="Calibri" panose="020F0502020204030204" pitchFamily="34" charset="0"/>
              </a:rPr>
              <a:t>?</a:t>
            </a:r>
            <a:endParaRPr lang="en-US" altLang="zh-CN" sz="2800"/>
          </a:p>
          <a:p>
            <a:pPr marL="0" indent="0">
              <a:lnSpc>
                <a:spcPct val="100000"/>
              </a:lnSpc>
              <a:buNone/>
            </a:pPr>
            <a:r>
              <a:rPr lang="en-US" altLang="zh-CN" sz="2800"/>
              <a:t>    A) It may facilitate our interpersonal relationships</a:t>
            </a:r>
            <a:r>
              <a:rPr lang="en-US" altLang="zh-CN" sz="2800">
                <a:sym typeface="+mn-ea"/>
              </a:rPr>
              <a:t>.</a:t>
            </a:r>
            <a:r>
              <a:rPr lang="en-US" altLang="zh-CN" sz="2800"/>
              <a:t>    </a:t>
            </a:r>
            <a:endParaRPr lang="en-US" altLang="zh-CN" sz="2800"/>
          </a:p>
          <a:p>
            <a:pPr marL="0" indent="0">
              <a:lnSpc>
                <a:spcPct val="100000"/>
              </a:lnSpc>
              <a:buNone/>
            </a:pPr>
            <a:r>
              <a:rPr lang="en-US" altLang="zh-CN" sz="2800"/>
              <a:t>    B) It may filter our negative impressions of others.</a:t>
            </a:r>
            <a:endParaRPr lang="en-US" altLang="zh-CN" sz="2800"/>
          </a:p>
          <a:p>
            <a:pPr marL="0" indent="0">
              <a:lnSpc>
                <a:spcPct val="100000"/>
              </a:lnSpc>
              <a:buNone/>
            </a:pPr>
            <a:r>
              <a:rPr lang="en-US" altLang="zh-CN" sz="2800"/>
              <a:t>    C) It may make us feel isolated and incompetent.</a:t>
            </a:r>
            <a:endParaRPr lang="en-US" altLang="zh-CN" sz="2800"/>
          </a:p>
          <a:p>
            <a:pPr marL="0" indent="0">
              <a:lnSpc>
                <a:spcPct val="100000"/>
              </a:lnSpc>
              <a:buNone/>
            </a:pPr>
            <a:r>
              <a:rPr lang="en-US" altLang="zh-CN" sz="2800"/>
              <a:t>    D) It may render us vulnerable and inauthentic.</a:t>
            </a:r>
            <a:endParaRPr lang="en-US" altLang="zh-CN" sz="2800"/>
          </a:p>
        </p:txBody>
      </p:sp>
      <p:sp>
        <p:nvSpPr>
          <p:cNvPr id="6" name="文本框 5"/>
          <p:cNvSpPr txBox="1"/>
          <p:nvPr/>
        </p:nvSpPr>
        <p:spPr>
          <a:xfrm>
            <a:off x="7755255" y="4975225"/>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6" grpId="0"/>
      <p:bldP spid="6"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0020" y="256540"/>
            <a:ext cx="11871960" cy="4514215"/>
          </a:xfrm>
          <a:solidFill>
            <a:srgbClr val="FFFFC3"/>
          </a:solidFill>
        </p:spPr>
        <p:style>
          <a:lnRef idx="2">
            <a:schemeClr val="accent2"/>
          </a:lnRef>
          <a:fillRef idx="1">
            <a:schemeClr val="lt1"/>
          </a:fillRef>
          <a:effectRef idx="0">
            <a:schemeClr val="accent2"/>
          </a:effectRef>
          <a:fontRef idx="minor">
            <a:schemeClr val="dk1"/>
          </a:fontRef>
        </p:style>
        <p:txBody>
          <a:bodyPr>
            <a:normAutofit lnSpcReduction="10000"/>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rPr>
              <a:t>Online “friends” made through social media do not follow the normal psycholo-</a:t>
            </a:r>
            <a:endParaRPr lang="en-US" altLang="zh-CN" sz="2800">
              <a:latin typeface="Times New Roman" panose="02020603050405020304" pitchFamily="18" charset="0"/>
              <a:cs typeface="Times New Roman" panose="02020603050405020304" pitchFamily="18" charset="0"/>
            </a:endParaRPr>
          </a:p>
          <a:p>
            <a:pPr marL="0" indent="0">
              <a:buNone/>
            </a:pPr>
            <a:r>
              <a:rPr lang="en-US" altLang="zh-CN" sz="2800">
                <a:latin typeface="Times New Roman" panose="02020603050405020304" pitchFamily="18" charset="0"/>
                <a:cs typeface="Times New Roman" panose="02020603050405020304" pitchFamily="18" charset="0"/>
              </a:rPr>
              <a:t>gical progression of an interpersonal relationship. You share neither physical time nor emotional conversations over the Internet. You simply communicate photogr-aphs and catchy posts to a diverse group of people whom you have “friended” or “followed” based on an accidental interaction. This is not to say that your social media friends can’t be real friends. They absolutely can, but the two are not syno-</a:t>
            </a:r>
            <a:endParaRPr lang="en-US" altLang="zh-CN" sz="2800">
              <a:latin typeface="Times New Roman" panose="02020603050405020304" pitchFamily="18" charset="0"/>
              <a:cs typeface="Times New Roman" panose="02020603050405020304" pitchFamily="18" charset="0"/>
            </a:endParaRPr>
          </a:p>
          <a:p>
            <a:pPr marL="0" indent="0">
              <a:buNone/>
            </a:pPr>
            <a:r>
              <a:rPr lang="en-US" altLang="zh-CN" sz="2800">
                <a:latin typeface="Times New Roman" panose="02020603050405020304" pitchFamily="18" charset="0"/>
                <a:cs typeface="Times New Roman" panose="02020603050405020304" pitchFamily="18" charset="0"/>
              </a:rPr>
              <a:t>nymous. Generally speaking, there are no unfiltered comments or casually taken photos on our social media pages. And, rightfully so, because it wouldn’t feel safe to be completely authentic and vulnerable with some of our “friends” whom we don’t actually know or with whom trust has yet to be built.</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229870" y="4495800"/>
            <a:ext cx="11732260" cy="220980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fontScale="90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47. Why do people post comments selectively on social media ?</a:t>
            </a:r>
            <a:endParaRPr lang="en-US" altLang="zh-CN" sz="2800"/>
          </a:p>
          <a:p>
            <a:pPr marL="0" indent="0">
              <a:lnSpc>
                <a:spcPct val="100000"/>
              </a:lnSpc>
              <a:buNone/>
            </a:pPr>
            <a:r>
              <a:rPr lang="en-US" altLang="zh-CN" sz="2800"/>
              <a:t>    A) They do not find all their online friends trustworthy.</a:t>
            </a:r>
            <a:endParaRPr lang="en-US" altLang="zh-CN" sz="2800"/>
          </a:p>
          <a:p>
            <a:pPr marL="0" indent="0">
              <a:lnSpc>
                <a:spcPct val="100000"/>
              </a:lnSpc>
              <a:buNone/>
            </a:pPr>
            <a:r>
              <a:rPr lang="en-US" altLang="zh-CN" sz="2800"/>
              <a:t>    B) They want to avoid offending any of their audience.</a:t>
            </a:r>
            <a:endParaRPr lang="en-US" altLang="zh-CN" sz="2800"/>
          </a:p>
          <a:p>
            <a:pPr marL="0" indent="0">
              <a:lnSpc>
                <a:spcPct val="100000"/>
              </a:lnSpc>
              <a:buNone/>
            </a:pPr>
            <a:r>
              <a:rPr lang="en-US" altLang="zh-CN" sz="2800"/>
              <a:t>    C) They do not want to lose their followers.</a:t>
            </a:r>
            <a:endParaRPr lang="en-US" altLang="zh-CN" sz="2800"/>
          </a:p>
          <a:p>
            <a:pPr marL="0" indent="0">
              <a:lnSpc>
                <a:spcPct val="100000"/>
              </a:lnSpc>
              <a:buNone/>
            </a:pPr>
            <a:r>
              <a:rPr lang="en-US" altLang="zh-CN" sz="2800"/>
              <a:t>    D) They are eager to boost their popularity.</a:t>
            </a:r>
            <a:endParaRPr lang="en-US" altLang="zh-CN" sz="2800"/>
          </a:p>
        </p:txBody>
      </p:sp>
      <p:sp>
        <p:nvSpPr>
          <p:cNvPr id="2" name="文本框 1"/>
          <p:cNvSpPr txBox="1"/>
          <p:nvPr/>
        </p:nvSpPr>
        <p:spPr>
          <a:xfrm>
            <a:off x="7691755" y="4862195"/>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1000" y="218440"/>
            <a:ext cx="11720830" cy="3914140"/>
          </a:xfrm>
          <a:solidFill>
            <a:srgbClr val="FFFFC3"/>
          </a:solidFill>
        </p:spPr>
        <p:style>
          <a:lnRef idx="2">
            <a:schemeClr val="accent2"/>
          </a:lnRef>
          <a:fillRef idx="1">
            <a:schemeClr val="lt1"/>
          </a:fillRef>
          <a:effectRef idx="0">
            <a:schemeClr val="accent2"/>
          </a:effectRef>
          <a:fontRef idx="minor">
            <a:schemeClr val="dk1"/>
          </a:fontRef>
        </p:style>
        <p:txBody>
          <a:bodyPr>
            <a:normAutofit fontScale="90000" lnSpcReduction="10000"/>
          </a:bodyPr>
          <a:lstStyle/>
          <a:p>
            <a:pPr marL="0" indent="0">
              <a:buNone/>
            </a:pPr>
            <a:r>
              <a:rPr lang="en-US" altLang="zh-CN"/>
              <a:t>     </a:t>
            </a:r>
            <a:r>
              <a:rPr lang="en-US" altLang="zh-CN">
                <a:latin typeface="Times New Roman" panose="02020603050405020304" pitchFamily="18" charset="0"/>
                <a:cs typeface="Times New Roman" panose="02020603050405020304" pitchFamily="18" charset="0"/>
              </a:rPr>
              <a:t>Social media can certainly be an escape from the daily grind, but we must be cautioned against the negative effects, such as addiction, on a person’s overall psychological well-being.</a:t>
            </a:r>
            <a:endParaRPr lang="en-US" altLang="zh-CN">
              <a:latin typeface="Times New Roman" panose="02020603050405020304" pitchFamily="18" charset="0"/>
              <a:cs typeface="Times New Roman" panose="02020603050405020304" pitchFamily="18" charset="0"/>
            </a:endParaRPr>
          </a:p>
          <a:p>
            <a:pPr marL="0" indent="0">
              <a:buNone/>
            </a:pPr>
            <a:r>
              <a:rPr lang="en-US" altLang="zh-CN">
                <a:latin typeface="Times New Roman" panose="02020603050405020304" pitchFamily="18" charset="0"/>
                <a:cs typeface="Times New Roman" panose="02020603050405020304" pitchFamily="18" charset="0"/>
              </a:rPr>
              <a:t>    As humans, we yearn for social connection. Scrolling through pages of pictures and comments, however, doesn’t provide the same degree of fulfillment as face to face interactions do. Also, we tend to idealize others’ lives and compare our downfalls to their greatest accomplishments, ending in feelings of loneliness and inadequacy.</a:t>
            </a:r>
            <a:endParaRPr lang="en-US" altLang="zh-CN">
              <a:latin typeface="Times New Roman" panose="02020603050405020304" pitchFamily="18" charset="0"/>
              <a:cs typeface="Times New Roman" panose="02020603050405020304" pitchFamily="18" charset="0"/>
            </a:endParaRPr>
          </a:p>
          <a:p>
            <a:pPr marL="0" indent="0">
              <a:buNone/>
            </a:pPr>
            <a:r>
              <a:rPr lang="en-US" altLang="zh-CN" sz="2800">
                <a:latin typeface="Times New Roman" panose="02020603050405020304" pitchFamily="18" charset="0"/>
                <a:cs typeface="Times New Roman" panose="02020603050405020304" pitchFamily="18" charset="0"/>
              </a:rPr>
              <a:t> </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69570" y="3908425"/>
            <a:ext cx="11732260" cy="262382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48. What are humans inclined to do according to the passage ?</a:t>
            </a:r>
            <a:endParaRPr lang="en-US" altLang="zh-CN" sz="2800"/>
          </a:p>
          <a:p>
            <a:pPr marL="0" indent="0">
              <a:lnSpc>
                <a:spcPct val="100000"/>
              </a:lnSpc>
              <a:buNone/>
            </a:pPr>
            <a:r>
              <a:rPr lang="en-US" altLang="zh-CN" sz="2800"/>
              <a:t>    A) Exaggerate their life’s accomplishments</a:t>
            </a:r>
            <a:r>
              <a:rPr lang="en-US" altLang="zh-CN" sz="2800">
                <a:sym typeface="+mn-ea"/>
              </a:rPr>
              <a:t>.</a:t>
            </a:r>
            <a:r>
              <a:rPr lang="en-US" altLang="zh-CN" sz="2800"/>
              <a:t>    </a:t>
            </a:r>
            <a:endParaRPr lang="en-US" altLang="zh-CN" sz="2800"/>
          </a:p>
          <a:p>
            <a:pPr marL="0" indent="0">
              <a:lnSpc>
                <a:spcPct val="100000"/>
              </a:lnSpc>
              <a:buNone/>
            </a:pPr>
            <a:r>
              <a:rPr lang="en-US" altLang="zh-CN" sz="2800"/>
              <a:t>    B) Strive for perfection regardless of the cost.</a:t>
            </a:r>
            <a:endParaRPr lang="en-US" altLang="zh-CN" sz="2800"/>
          </a:p>
          <a:p>
            <a:pPr marL="0" indent="0">
              <a:lnSpc>
                <a:spcPct val="100000"/>
              </a:lnSpc>
              <a:buNone/>
            </a:pPr>
            <a:r>
              <a:rPr lang="en-US" altLang="zh-CN" sz="2800"/>
              <a:t>    C) Paint a rosy picture of other people’s lives.</a:t>
            </a:r>
            <a:endParaRPr lang="en-US" altLang="zh-CN" sz="2800"/>
          </a:p>
          <a:p>
            <a:pPr marL="0" indent="0">
              <a:lnSpc>
                <a:spcPct val="100000"/>
              </a:lnSpc>
              <a:buNone/>
            </a:pPr>
            <a:r>
              <a:rPr lang="en-US" altLang="zh-CN" sz="2800"/>
              <a:t>    D) Learn lessons from other people’s downfalls.</a:t>
            </a:r>
            <a:endParaRPr lang="en-US" altLang="zh-CN" sz="2800"/>
          </a:p>
        </p:txBody>
      </p:sp>
      <p:sp>
        <p:nvSpPr>
          <p:cNvPr id="2" name="文本框 1"/>
          <p:cNvSpPr txBox="1"/>
          <p:nvPr/>
        </p:nvSpPr>
        <p:spPr>
          <a:xfrm>
            <a:off x="7308850" y="541020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230" y="228600"/>
            <a:ext cx="11720830" cy="3772535"/>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rPr>
              <a:t>Social media can lead people on the unhealthy quest for perfection. Some people begin to attend certain events or travel to different places so that they can snap that “perfect” photo. They begin to seek validation through the number of people who “like” their posts. In order for it to play a psychological healthy role in your social life, social media should supplement an already healthy social network. Pictures and posts should  be byproducts of life’s treasured moments and fun times, not the planned and calculated image that one is putting out into cyberspace in an attempt to fill insecurities or unmet needs.</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81000" y="4001135"/>
            <a:ext cx="11732260" cy="2623820"/>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800"/>
              <a:t>49. What is the author’s view of pictures and posts on social media?</a:t>
            </a:r>
            <a:endParaRPr lang="en-US" altLang="zh-CN" sz="2800"/>
          </a:p>
          <a:p>
            <a:pPr marL="0" indent="0">
              <a:lnSpc>
                <a:spcPct val="100000"/>
              </a:lnSpc>
              <a:buNone/>
            </a:pPr>
            <a:r>
              <a:rPr lang="en-US" altLang="zh-CN" sz="2800"/>
              <a:t>    A) They should record the memorable moments in people’s lives</a:t>
            </a:r>
            <a:r>
              <a:rPr lang="en-US" altLang="zh-CN" sz="2800">
                <a:sym typeface="+mn-ea"/>
              </a:rPr>
              <a:t>.</a:t>
            </a:r>
            <a:r>
              <a:rPr lang="en-US" altLang="zh-CN" sz="2800"/>
              <a:t>    </a:t>
            </a:r>
            <a:endParaRPr lang="en-US" altLang="zh-CN" sz="2800"/>
          </a:p>
          <a:p>
            <a:pPr marL="0" indent="0">
              <a:lnSpc>
                <a:spcPct val="100000"/>
              </a:lnSpc>
              <a:buNone/>
            </a:pPr>
            <a:r>
              <a:rPr lang="en-US" altLang="zh-CN" sz="2800"/>
              <a:t>    B) They should be carefully edited so as to present the best image.</a:t>
            </a:r>
            <a:endParaRPr lang="en-US" altLang="zh-CN" sz="2800"/>
          </a:p>
          <a:p>
            <a:pPr marL="0" indent="0">
              <a:lnSpc>
                <a:spcPct val="100000"/>
              </a:lnSpc>
              <a:buNone/>
            </a:pPr>
            <a:r>
              <a:rPr lang="en-US" altLang="zh-CN" sz="2800"/>
              <a:t>    C) They should be shown in a way that meets one’s security needs.</a:t>
            </a:r>
            <a:endParaRPr lang="en-US" altLang="zh-CN" sz="2800"/>
          </a:p>
          <a:p>
            <a:pPr marL="0" indent="0">
              <a:lnSpc>
                <a:spcPct val="100000"/>
              </a:lnSpc>
              <a:buNone/>
            </a:pPr>
            <a:r>
              <a:rPr lang="en-US" altLang="zh-CN" sz="2800"/>
              <a:t>    D) They should keep people from the unhealthy quest for perfection.</a:t>
            </a:r>
            <a:endParaRPr lang="en-US" altLang="zh-CN" sz="2800"/>
          </a:p>
        </p:txBody>
      </p:sp>
      <p:sp>
        <p:nvSpPr>
          <p:cNvPr id="2" name="文本框 1"/>
          <p:cNvSpPr txBox="1"/>
          <p:nvPr/>
        </p:nvSpPr>
        <p:spPr>
          <a:xfrm>
            <a:off x="10200005" y="4486910"/>
            <a:ext cx="521970" cy="645160"/>
          </a:xfrm>
          <a:prstGeom prst="rect">
            <a:avLst/>
          </a:prstGeom>
          <a:noFill/>
        </p:spPr>
        <p:txBody>
          <a:bodyPr wrap="square" rtlCol="0" anchor="t">
            <a:spAutoFit/>
          </a:bodyPr>
          <a:lstStyle/>
          <a:p>
            <a:r>
              <a:rPr lang="zh-CN" altLang="en-US" sz="3600" b="1">
                <a:solidFill>
                  <a:srgbClr val="FF0000"/>
                </a:solidFill>
                <a:sym typeface="Wingdings 2" panose="05020102010507070707" charset="0"/>
              </a:rPr>
              <a:t></a:t>
            </a:r>
            <a:endParaRPr lang="zh-CN" altLang="en-US" sz="3600" b="1">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0515" y="127000"/>
            <a:ext cx="11720830" cy="3772535"/>
          </a:xfrm>
          <a:solidFill>
            <a:srgbClr val="FFFFC3"/>
          </a:solidFill>
        </p:spPr>
        <p:style>
          <a:lnRef idx="2">
            <a:schemeClr val="accent2"/>
          </a:lnRef>
          <a:fillRef idx="1">
            <a:schemeClr val="lt1"/>
          </a:fillRef>
          <a:effectRef idx="0">
            <a:schemeClr val="accent2"/>
          </a:effectRef>
          <a:fontRef idx="minor">
            <a:schemeClr val="dk1"/>
          </a:fontRef>
        </p:style>
        <p:txBody>
          <a:bodyPr/>
          <a:lstStyle/>
          <a:p>
            <a:pPr marL="0" indent="0">
              <a:buNone/>
            </a:pPr>
            <a:r>
              <a:rPr lang="en-US" altLang="zh-CN"/>
              <a:t>    </a:t>
            </a:r>
            <a:r>
              <a:rPr lang="en-US" altLang="zh-CN" sz="2800">
                <a:latin typeface="Times New Roman" panose="02020603050405020304" pitchFamily="18" charset="0"/>
                <a:cs typeface="Times New Roman" panose="02020603050405020304" pitchFamily="18" charset="0"/>
              </a:rPr>
              <a:t>Ultimately social media has increased our ability to connect with various types of people all over the globe. It has opened doors for businesses and allowed us to stay connected to people whom we may not otherwise get to follow. However, social media should feel like a fun experience, not one that contributes to negative thoughts and feelings. If the latter is the case, increasing face to face time with trusted friends, and minimizing time scrolling online, will prove to be a reminder that your social network is much more rewarding than any “like”, “follow”, “share” can be.</a:t>
            </a:r>
            <a:endParaRPr lang="en-US" altLang="zh-CN" sz="2800">
              <a:latin typeface="Times New Roman" panose="02020603050405020304" pitchFamily="18" charset="0"/>
              <a:cs typeface="Times New Roman" panose="02020603050405020304" pitchFamily="18" charset="0"/>
            </a:endParaRPr>
          </a:p>
        </p:txBody>
      </p:sp>
      <p:sp>
        <p:nvSpPr>
          <p:cNvPr id="4" name="内容占位符 2"/>
          <p:cNvSpPr>
            <a:spLocks noGrp="1"/>
          </p:cNvSpPr>
          <p:nvPr/>
        </p:nvSpPr>
        <p:spPr>
          <a:xfrm>
            <a:off x="310515" y="3829685"/>
            <a:ext cx="11732260" cy="2816225"/>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altLang="zh-CN" sz="2400"/>
              <a:t>50. What does the author advise people to do when they find their online experience unconstructive?</a:t>
            </a:r>
            <a:endParaRPr lang="en-US" altLang="zh-CN" sz="2400"/>
          </a:p>
          <a:p>
            <a:pPr marL="0" indent="0">
              <a:lnSpc>
                <a:spcPct val="100000"/>
              </a:lnSpc>
              <a:buNone/>
            </a:pPr>
            <a:r>
              <a:rPr lang="en-US" altLang="zh-CN" sz="2400"/>
              <a:t>A) Use social media to increase their ability to connect with various types of people</a:t>
            </a:r>
            <a:r>
              <a:rPr lang="en-US" altLang="zh-CN" sz="2400">
                <a:sym typeface="+mn-ea"/>
              </a:rPr>
              <a:t>.</a:t>
            </a:r>
            <a:r>
              <a:rPr lang="en-US" altLang="zh-CN" sz="2400"/>
              <a:t>    </a:t>
            </a:r>
            <a:endParaRPr lang="en-US" altLang="zh-CN" sz="2400"/>
          </a:p>
          <a:p>
            <a:pPr marL="0" indent="0">
              <a:lnSpc>
                <a:spcPct val="100000"/>
              </a:lnSpc>
              <a:buNone/>
            </a:pPr>
            <a:r>
              <a:rPr lang="en-US" altLang="zh-CN" sz="2400"/>
              <a:t>B) Stay connected to those whom they may not otherwise get to know and befriend.</a:t>
            </a:r>
            <a:endParaRPr lang="en-US" altLang="zh-CN" sz="2400"/>
          </a:p>
          <a:p>
            <a:pPr marL="0" indent="0">
              <a:lnSpc>
                <a:spcPct val="100000"/>
              </a:lnSpc>
              <a:buNone/>
            </a:pPr>
            <a:r>
              <a:rPr lang="en-US" altLang="zh-CN" sz="2400"/>
              <a:t>C) Try to prevent negative thoughts and feelings from getting into the online pages.</a:t>
            </a:r>
            <a:endParaRPr lang="en-US" altLang="zh-CN" sz="2400"/>
          </a:p>
          <a:p>
            <a:pPr marL="0" indent="0">
              <a:lnSpc>
                <a:spcPct val="100000"/>
              </a:lnSpc>
              <a:buNone/>
            </a:pPr>
            <a:r>
              <a:rPr lang="en-US" altLang="zh-CN" sz="2400"/>
              <a:t>D) Strengthen ties with real-life friends instead of caring about their online image.</a:t>
            </a:r>
            <a:endParaRPr lang="en-US" altLang="zh-CN" sz="2400"/>
          </a:p>
        </p:txBody>
      </p:sp>
      <p:sp>
        <p:nvSpPr>
          <p:cNvPr id="2" name="文本框 1"/>
          <p:cNvSpPr txBox="1"/>
          <p:nvPr/>
        </p:nvSpPr>
        <p:spPr>
          <a:xfrm>
            <a:off x="10525156" y="5857892"/>
            <a:ext cx="521970" cy="645160"/>
          </a:xfrm>
          <a:prstGeom prst="rect">
            <a:avLst/>
          </a:prstGeom>
          <a:noFill/>
        </p:spPr>
        <p:txBody>
          <a:bodyPr wrap="square" rtlCol="0" anchor="t">
            <a:spAutoFit/>
          </a:bodyPr>
          <a:lstStyle/>
          <a:p>
            <a:r>
              <a:rPr lang="zh-CN" altLang="en-US" sz="3600" b="1" dirty="0">
                <a:solidFill>
                  <a:srgbClr val="FF0000"/>
                </a:solidFill>
                <a:sym typeface="Wingdings 2" panose="05020102010507070707" charset="0"/>
              </a:rPr>
              <a:t></a:t>
            </a:r>
            <a:endParaRPr lang="zh-CN" altLang="en-US" sz="3600" b="1" dirty="0">
              <a:solidFill>
                <a:srgbClr val="FF0000"/>
              </a:solidFill>
              <a:sym typeface="Wingdings 2" panose="05020102010507070707"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p:bldP spid="2"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829945"/>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 </a:t>
            </a:r>
            <a:r>
              <a:rPr lang="en-US" altLang="zh-CN" sz="6000" kern="0" dirty="0" smtClean="0">
                <a:solidFill>
                  <a:srgbClr val="FF0000"/>
                </a:solidFill>
              </a:rPr>
              <a:t>1</a:t>
            </a:r>
            <a:endParaRPr lang="en-US" altLang="zh-CN" sz="6000" kern="0" dirty="0" smtClean="0">
              <a:solidFill>
                <a:srgbClr val="FF0000"/>
              </a:solidFill>
            </a:endParaRPr>
          </a:p>
        </p:txBody>
      </p:sp>
      <p:sp>
        <p:nvSpPr>
          <p:cNvPr id="10" name="TextBox 9"/>
          <p:cNvSpPr txBox="1"/>
          <p:nvPr/>
        </p:nvSpPr>
        <p:spPr>
          <a:xfrm>
            <a:off x="5410200" y="2667000"/>
            <a:ext cx="4288790" cy="1445260"/>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选词填空</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0215" y="2549525"/>
            <a:ext cx="11536680" cy="3728720"/>
          </a:xfrm>
        </p:spPr>
        <p:txBody>
          <a:bodyPr>
            <a:normAutofit/>
          </a:bodyPr>
          <a:lstStyle/>
          <a:p>
            <a:pPr marL="0" indent="0">
              <a:buNone/>
            </a:pPr>
            <a:r>
              <a:rPr lang="zh-CN" altLang="en-US" sz="2800">
                <a:latin typeface="Times New Roman" panose="02020603050405020304" pitchFamily="18" charset="0"/>
              </a:rPr>
              <a:t>When considering risk factors associated with serious chronic disease, we often think about health indicators such as cholesterol, blood pressure, and body weight. But poor diet and physical inactivity also each increase the risk of heart disease and have a role to play in the development of some cancers. Perhaps worse, the </a:t>
            </a:r>
            <a:r>
              <a:rPr lang="zh-CN" altLang="en-US" sz="2800">
                <a:highlight>
                  <a:srgbClr val="FFFF00"/>
                </a:highlight>
                <a:latin typeface="Times New Roman" panose="02020603050405020304" pitchFamily="18" charset="0"/>
              </a:rPr>
              <a:t>26</a:t>
            </a:r>
            <a:r>
              <a:rPr lang="en-US" altLang="zh-CN" sz="2800">
                <a:latin typeface="Times New Roman" panose="02020603050405020304" pitchFamily="18" charset="0"/>
              </a:rPr>
              <a:t>__________</a:t>
            </a:r>
            <a:r>
              <a:rPr lang="zh-CN" altLang="en-US" sz="2800">
                <a:latin typeface="Times New Roman" panose="02020603050405020304" pitchFamily="18" charset="0"/>
              </a:rPr>
              <a:t> effects of an unhealthy diet and insufficient exercise are not limited to your body.  Recent research has also shown that </a:t>
            </a:r>
            <a:r>
              <a:rPr lang="zh-CN" altLang="en-US" sz="2800">
                <a:highlight>
                  <a:srgbClr val="FFFF00"/>
                </a:highlight>
                <a:latin typeface="Times New Roman" panose="02020603050405020304" pitchFamily="18" charset="0"/>
              </a:rPr>
              <a:t>27</a:t>
            </a:r>
            <a:r>
              <a:rPr lang="en-US" altLang="zh-CN" sz="2800">
                <a:latin typeface="Times New Roman" panose="02020603050405020304" pitchFamily="18" charset="0"/>
              </a:rPr>
              <a:t>_______</a:t>
            </a:r>
            <a:r>
              <a:rPr lang="zh-CN" altLang="en-US" sz="2800">
                <a:latin typeface="Times New Roman" panose="02020603050405020304" pitchFamily="18" charset="0"/>
              </a:rPr>
              <a:t> in a high-fat and high-sugar diet may have negative effects on your brain, causing learning and memory</a:t>
            </a:r>
            <a:r>
              <a:rPr lang="zh-CN" altLang="en-US" sz="2800">
                <a:highlight>
                  <a:srgbClr val="FFFF00"/>
                </a:highlight>
                <a:latin typeface="Times New Roman" panose="02020603050405020304" pitchFamily="18" charset="0"/>
              </a:rPr>
              <a:t> 28</a:t>
            </a:r>
            <a:r>
              <a:rPr lang="en-US" altLang="zh-CN" sz="2800">
                <a:latin typeface="Times New Roman" panose="02020603050405020304" pitchFamily="18" charset="0"/>
              </a:rPr>
              <a:t>_______</a:t>
            </a:r>
            <a:r>
              <a:rPr lang="zh-CN" altLang="en-US" sz="2800">
                <a:latin typeface="Times New Roman" panose="02020603050405020304" pitchFamily="18" charset="0"/>
              </a:rPr>
              <a:t>  .</a:t>
            </a:r>
            <a:endParaRPr lang="zh-CN" altLang="en-US" sz="2800">
              <a:latin typeface="Times New Roman" panose="02020603050405020304" pitchFamily="18" charset="0"/>
            </a:endParaRPr>
          </a:p>
          <a:p>
            <a:pPr marL="0" indent="0">
              <a:buNone/>
            </a:pPr>
            <a:endParaRPr lang="zh-CN" altLang="en-US" sz="2800">
              <a:latin typeface="Times New Roman" panose="02020603050405020304" pitchFamily="18" charset="0"/>
            </a:endParaRPr>
          </a:p>
        </p:txBody>
      </p:sp>
      <p:sp>
        <p:nvSpPr>
          <p:cNvPr id="4" name="内容占位符 2"/>
          <p:cNvSpPr>
            <a:spLocks noGrp="1"/>
          </p:cNvSpPr>
          <p:nvPr/>
        </p:nvSpPr>
        <p:spPr>
          <a:xfrm>
            <a:off x="1268095" y="453390"/>
            <a:ext cx="9655810" cy="1925320"/>
          </a:xfrm>
          <a:prstGeom prst="rect">
            <a:avLst/>
          </a:prstGeom>
          <a:solidFill>
            <a:srgbClr val="FFCCCC"/>
          </a:solidFill>
          <a:ln w="25400">
            <a:solidFill>
              <a:schemeClr val="accent6"/>
            </a:solidFill>
          </a:ln>
        </p:spPr>
        <p:style>
          <a:lnRef idx="2">
            <a:schemeClr val="accent6"/>
          </a:lnRef>
          <a:fillRef idx="1">
            <a:schemeClr val="lt1"/>
          </a:fillRef>
          <a:effectRef idx="0">
            <a:schemeClr val="accent6"/>
          </a:effectRef>
          <a:fontRef idx="minor">
            <a:schemeClr val="dk1"/>
          </a:fontRef>
        </p:style>
        <p:txBody>
          <a:bodyPr lIns="91440" tIns="45720" rIns="91440" bIns="45720" anchor="t">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A) assessed                            F) designated                            K) loopholes</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B) assigned                            G) detrimental                           L) rapidly</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C) consequences                   H) digestion                              M) redundant</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D) conspicuously                     I) excelling                               N) regularly</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E) deficits                                 J) indulging                                O) similar</a:t>
            </a:r>
            <a:endParaRPr kumimoji="0" lang="en-US" altLang="zh-CN" sz="2400" b="0" i="0" u="none" strike="noStrike" kern="1200" cap="none" spc="0" normalizeH="0" baseline="0" noProof="1" smtClean="0">
              <a:latin typeface="+mn-lt"/>
              <a:ea typeface="+mn-ea"/>
              <a:cs typeface="+mn-cs"/>
            </a:endParaRPr>
          </a:p>
        </p:txBody>
      </p:sp>
      <p:sp>
        <p:nvSpPr>
          <p:cNvPr id="5" name="文本框 4"/>
          <p:cNvSpPr txBox="1"/>
          <p:nvPr/>
        </p:nvSpPr>
        <p:spPr>
          <a:xfrm>
            <a:off x="2362200" y="4267200"/>
            <a:ext cx="1995170" cy="521970"/>
          </a:xfrm>
          <a:prstGeom prst="rect">
            <a:avLst/>
          </a:prstGeom>
          <a:noFill/>
        </p:spPr>
        <p:txBody>
          <a:bodyPr wrap="none" rtlCol="0" anchor="t">
            <a:spAutoFit/>
          </a:bodyPr>
          <a:lstStyle/>
          <a:p>
            <a:r>
              <a:rPr lang="en-US" altLang="zh-CN" sz="2400" dirty="0" smtClean="0">
                <a:solidFill>
                  <a:srgbClr val="FF0000"/>
                </a:solidFill>
                <a:sym typeface="+mn-ea"/>
              </a:rPr>
              <a:t> </a:t>
            </a:r>
            <a:r>
              <a:rPr lang="en-US" altLang="zh-CN" sz="2800" b="1" dirty="0" smtClean="0">
                <a:solidFill>
                  <a:srgbClr val="FF0000"/>
                </a:solidFill>
                <a:sym typeface="+mn-ea"/>
              </a:rPr>
              <a:t>detrimental</a:t>
            </a:r>
            <a:endParaRPr lang="en-US" altLang="zh-CN" sz="2800" b="1" dirty="0" smtClean="0">
              <a:solidFill>
                <a:srgbClr val="FF0000"/>
              </a:solidFill>
              <a:sym typeface="+mn-ea"/>
            </a:endParaRPr>
          </a:p>
        </p:txBody>
      </p:sp>
      <p:sp>
        <p:nvSpPr>
          <p:cNvPr id="6" name="文本框 5"/>
          <p:cNvSpPr txBox="1"/>
          <p:nvPr/>
        </p:nvSpPr>
        <p:spPr>
          <a:xfrm>
            <a:off x="10252710" y="4643120"/>
            <a:ext cx="1599565" cy="521970"/>
          </a:xfrm>
          <a:prstGeom prst="rect">
            <a:avLst/>
          </a:prstGeom>
          <a:noFill/>
        </p:spPr>
        <p:txBody>
          <a:bodyPr wrap="none" rtlCol="0" anchor="t">
            <a:spAutoFit/>
          </a:bodyPr>
          <a:lstStyle/>
          <a:p>
            <a:r>
              <a:rPr lang="en-US" altLang="zh-CN" dirty="0" smtClean="0">
                <a:sym typeface="+mn-ea"/>
              </a:rPr>
              <a:t> </a:t>
            </a:r>
            <a:r>
              <a:rPr lang="en-US" altLang="zh-CN" sz="2800" b="1" dirty="0" smtClean="0">
                <a:solidFill>
                  <a:srgbClr val="FF0000"/>
                </a:solidFill>
                <a:sym typeface="+mn-ea"/>
              </a:rPr>
              <a:t>indulging</a:t>
            </a:r>
            <a:endParaRPr lang="en-US" altLang="zh-CN" sz="2800" b="1" dirty="0" smtClean="0">
              <a:solidFill>
                <a:srgbClr val="FF0000"/>
              </a:solidFill>
              <a:sym typeface="+mn-ea"/>
            </a:endParaRPr>
          </a:p>
        </p:txBody>
      </p:sp>
      <p:sp>
        <p:nvSpPr>
          <p:cNvPr id="7" name="文本框 6"/>
          <p:cNvSpPr txBox="1"/>
          <p:nvPr/>
        </p:nvSpPr>
        <p:spPr>
          <a:xfrm>
            <a:off x="5252085" y="5541645"/>
            <a:ext cx="1250950" cy="521970"/>
          </a:xfrm>
          <a:prstGeom prst="rect">
            <a:avLst/>
          </a:prstGeom>
          <a:noFill/>
        </p:spPr>
        <p:txBody>
          <a:bodyPr wrap="none" rtlCol="0" anchor="t">
            <a:spAutoFit/>
          </a:bodyPr>
          <a:lstStyle/>
          <a:p>
            <a:r>
              <a:rPr lang="en-US" altLang="zh-CN" sz="2800" b="1" dirty="0" smtClean="0">
                <a:solidFill>
                  <a:srgbClr val="FF0000"/>
                </a:solidFill>
                <a:sym typeface="+mn-ea"/>
              </a:rPr>
              <a:t>deficits</a:t>
            </a:r>
            <a:endParaRPr lang="en-US" altLang="zh-CN" sz="2800" b="1" dirty="0" smtClean="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5595" y="2194560"/>
            <a:ext cx="11561445" cy="4526280"/>
          </a:xfrm>
        </p:spPr>
        <p:txBody>
          <a:bodyPr>
            <a:normAutofit/>
          </a:bodyPr>
          <a:lstStyle/>
          <a:p>
            <a:pPr marL="0" indent="0">
              <a:buNone/>
            </a:pPr>
            <a:r>
              <a:rPr lang="zh-CN" altLang="en-US" sz="2800">
                <a:latin typeface="Times New Roman" panose="02020603050405020304" pitchFamily="18" charset="0"/>
                <a:sym typeface="+mn-ea"/>
              </a:rPr>
              <a:t>Studies have found obesity is associated with impairments in cognitive functioning, as </a:t>
            </a:r>
            <a:r>
              <a:rPr lang="zh-CN" altLang="en-US" sz="2800">
                <a:highlight>
                  <a:srgbClr val="FFFF00"/>
                </a:highlight>
                <a:latin typeface="Times New Roman" panose="02020603050405020304" pitchFamily="18" charset="0"/>
                <a:sym typeface="+mn-ea"/>
              </a:rPr>
              <a:t>29</a:t>
            </a:r>
            <a:r>
              <a:rPr lang="en-US" altLang="zh-CN" sz="2800">
                <a:latin typeface="Times New Roman" panose="02020603050405020304" pitchFamily="18" charset="0"/>
                <a:sym typeface="+mn-ea"/>
              </a:rPr>
              <a:t>______</a:t>
            </a:r>
            <a:r>
              <a:rPr lang="zh-CN" altLang="en-US" sz="2800">
                <a:latin typeface="Times New Roman" panose="02020603050405020304" pitchFamily="18" charset="0"/>
                <a:sym typeface="+mn-ea"/>
              </a:rPr>
              <a:t>  by a range of learning and memory tests, such as the ability to remember a list of words presented some minutes or hours earlier. There is also a growing body of evidence that diet-induced cognitive impairments can </a:t>
            </a:r>
            <a:r>
              <a:rPr lang="en-US" altLang="zh-CN" sz="2800">
                <a:latin typeface="Times New Roman" panose="02020603050405020304" pitchFamily="18" charset="0"/>
                <a:sym typeface="+mn-ea"/>
              </a:rPr>
              <a:t>e</a:t>
            </a:r>
            <a:r>
              <a:rPr lang="zh-CN" altLang="en-US" sz="2800">
                <a:latin typeface="Times New Roman" panose="02020603050405020304" pitchFamily="18" charset="0"/>
                <a:sym typeface="+mn-ea"/>
              </a:rPr>
              <a:t>merge </a:t>
            </a:r>
            <a:r>
              <a:rPr lang="zh-CN" altLang="en-US" sz="2800">
                <a:highlight>
                  <a:srgbClr val="FFFF00"/>
                </a:highlight>
                <a:latin typeface="Times New Roman" panose="02020603050405020304" pitchFamily="18" charset="0"/>
                <a:sym typeface="+mn-ea"/>
              </a:rPr>
              <a:t>30</a:t>
            </a:r>
            <a:r>
              <a:rPr lang="en-US" altLang="zh-CN" sz="2800">
                <a:highlight>
                  <a:srgbClr val="FFFF00"/>
                </a:highlight>
                <a:latin typeface="Times New Roman" panose="02020603050405020304" pitchFamily="18" charset="0"/>
                <a:sym typeface="+mn-ea"/>
              </a:rPr>
              <a:t>_</a:t>
            </a:r>
            <a:r>
              <a:rPr lang="en-US" altLang="zh-CN" sz="2800">
                <a:latin typeface="Times New Roman" panose="02020603050405020304" pitchFamily="18" charset="0"/>
                <a:sym typeface="+mn-ea"/>
              </a:rPr>
              <a:t>______</a:t>
            </a:r>
            <a:r>
              <a:rPr lang="zh-CN" altLang="en-US" sz="2800">
                <a:latin typeface="Times New Roman" panose="02020603050405020304" pitchFamily="18" charset="0"/>
                <a:sym typeface="+mn-ea"/>
              </a:rPr>
              <a:t>   --- within weeks or even days. For example, one study found healthy adults </a:t>
            </a:r>
            <a:r>
              <a:rPr lang="zh-CN" altLang="en-US" sz="2800">
                <a:highlight>
                  <a:srgbClr val="FFFF00"/>
                </a:highlight>
                <a:latin typeface="Times New Roman" panose="02020603050405020304" pitchFamily="18" charset="0"/>
                <a:sym typeface="+mn-ea"/>
              </a:rPr>
              <a:t>31</a:t>
            </a:r>
            <a:r>
              <a:rPr lang="en-US" altLang="zh-CN" sz="2800">
                <a:latin typeface="Times New Roman" panose="02020603050405020304" pitchFamily="18" charset="0"/>
                <a:sym typeface="+mn-ea"/>
              </a:rPr>
              <a:t>_______</a:t>
            </a:r>
            <a:r>
              <a:rPr lang="zh-CN" altLang="en-US" sz="2800">
                <a:latin typeface="Times New Roman" panose="02020603050405020304" pitchFamily="18" charset="0"/>
                <a:sym typeface="+mn-ea"/>
              </a:rPr>
              <a:t>   to a high-fat diet for five days showed impaired attention, memory, and mood compared with a low-fat diet control group. Another study also found eating a high-fat and high-sugar breakfast each day for as little as four days resulted in problems with learning and memory </a:t>
            </a:r>
            <a:r>
              <a:rPr lang="zh-CN" altLang="en-US" sz="2800">
                <a:highlight>
                  <a:srgbClr val="FFFF00"/>
                </a:highlight>
                <a:latin typeface="Times New Roman" panose="02020603050405020304" pitchFamily="18" charset="0"/>
                <a:sym typeface="+mn-ea"/>
              </a:rPr>
              <a:t>32</a:t>
            </a:r>
            <a:r>
              <a:rPr lang="en-US" altLang="zh-CN" sz="2800">
                <a:latin typeface="Times New Roman" panose="02020603050405020304" pitchFamily="18" charset="0"/>
                <a:sym typeface="+mn-ea"/>
              </a:rPr>
              <a:t>______</a:t>
            </a:r>
            <a:r>
              <a:rPr lang="zh-CN" altLang="en-US" sz="2800">
                <a:latin typeface="Times New Roman" panose="02020603050405020304" pitchFamily="18" charset="0"/>
                <a:sym typeface="+mn-ea"/>
              </a:rPr>
              <a:t>   to those observed in overweight and obese individuals.</a:t>
            </a:r>
            <a:endParaRPr lang="zh-CN" altLang="en-US" sz="2800">
              <a:latin typeface="Times New Roman" panose="02020603050405020304" pitchFamily="18" charset="0"/>
            </a:endParaRPr>
          </a:p>
          <a:p>
            <a:pPr marL="0" indent="0">
              <a:buNone/>
            </a:pPr>
            <a:endParaRPr lang="zh-CN" altLang="en-US" sz="2800">
              <a:latin typeface="Times New Roman" panose="02020603050405020304" pitchFamily="18" charset="0"/>
            </a:endParaRPr>
          </a:p>
        </p:txBody>
      </p:sp>
      <p:sp>
        <p:nvSpPr>
          <p:cNvPr id="4" name="内容占位符 2"/>
          <p:cNvSpPr>
            <a:spLocks noGrp="1"/>
          </p:cNvSpPr>
          <p:nvPr/>
        </p:nvSpPr>
        <p:spPr>
          <a:xfrm>
            <a:off x="1587500" y="134620"/>
            <a:ext cx="9262745" cy="1962150"/>
          </a:xfrm>
          <a:prstGeom prst="rect">
            <a:avLst/>
          </a:prstGeom>
          <a:solidFill>
            <a:srgbClr val="FFCCCC"/>
          </a:solidFill>
          <a:ln w="25400">
            <a:solidFill>
              <a:schemeClr val="accent6"/>
            </a:solidFill>
          </a:ln>
        </p:spPr>
        <p:style>
          <a:lnRef idx="2">
            <a:schemeClr val="accent6"/>
          </a:lnRef>
          <a:fillRef idx="1">
            <a:schemeClr val="lt1"/>
          </a:fillRef>
          <a:effectRef idx="0">
            <a:schemeClr val="accent6"/>
          </a:effectRef>
          <a:fontRef idx="minor">
            <a:schemeClr val="dk1"/>
          </a:fontRef>
        </p:style>
        <p:txBody>
          <a:bodyPr lIns="91440" tIns="45720" rIns="91440" bIns="45720" anchor="t">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A) assessed                            F) designated                            K) loopholes</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B) assigned                            G) detrimental                           L) rapidly</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C) consequences                   H) digestion                              M) redundant</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D) conspicuously                     I) excelling                               N) regularly</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E) deficits                                 J) indulging                                O) similar</a:t>
            </a:r>
            <a:endParaRPr kumimoji="0" lang="en-US" altLang="zh-CN" sz="2400" b="0" i="0" u="none" strike="noStrike" kern="1200" cap="none" spc="0" normalizeH="0" baseline="0" noProof="1" smtClean="0">
              <a:latin typeface="+mn-lt"/>
              <a:ea typeface="+mn-ea"/>
              <a:cs typeface="+mn-cs"/>
            </a:endParaRPr>
          </a:p>
        </p:txBody>
      </p:sp>
      <p:sp>
        <p:nvSpPr>
          <p:cNvPr id="5" name="文本框 4"/>
          <p:cNvSpPr txBox="1"/>
          <p:nvPr/>
        </p:nvSpPr>
        <p:spPr>
          <a:xfrm>
            <a:off x="2819400" y="2667000"/>
            <a:ext cx="1525270" cy="521970"/>
          </a:xfrm>
          <a:prstGeom prst="rect">
            <a:avLst/>
          </a:prstGeom>
          <a:noFill/>
        </p:spPr>
        <p:txBody>
          <a:bodyPr wrap="none" rtlCol="0" anchor="t">
            <a:spAutoFit/>
          </a:bodyPr>
          <a:lstStyle/>
          <a:p>
            <a:r>
              <a:rPr lang="en-US" altLang="zh-CN" dirty="0" smtClean="0">
                <a:sym typeface="+mn-ea"/>
              </a:rPr>
              <a:t> </a:t>
            </a:r>
            <a:r>
              <a:rPr lang="en-US" altLang="zh-CN" sz="2800" b="1" dirty="0" smtClean="0">
                <a:solidFill>
                  <a:srgbClr val="FF0000"/>
                </a:solidFill>
                <a:sym typeface="+mn-ea"/>
              </a:rPr>
              <a:t>assessed</a:t>
            </a:r>
            <a:endParaRPr lang="en-US" altLang="zh-CN" sz="2800" b="1" dirty="0" smtClean="0">
              <a:solidFill>
                <a:srgbClr val="FF0000"/>
              </a:solidFill>
              <a:sym typeface="+mn-ea"/>
            </a:endParaRPr>
          </a:p>
        </p:txBody>
      </p:sp>
      <p:sp>
        <p:nvSpPr>
          <p:cNvPr id="6" name="文本框 5"/>
          <p:cNvSpPr txBox="1"/>
          <p:nvPr/>
        </p:nvSpPr>
        <p:spPr>
          <a:xfrm>
            <a:off x="4287520" y="3945255"/>
            <a:ext cx="1202055" cy="521970"/>
          </a:xfrm>
          <a:prstGeom prst="rect">
            <a:avLst/>
          </a:prstGeom>
          <a:noFill/>
        </p:spPr>
        <p:txBody>
          <a:bodyPr wrap="none" rtlCol="0" anchor="t">
            <a:spAutoFit/>
          </a:bodyPr>
          <a:lstStyle/>
          <a:p>
            <a:r>
              <a:rPr lang="en-US" altLang="zh-CN" sz="2800" b="1" dirty="0" smtClean="0">
                <a:solidFill>
                  <a:srgbClr val="FF0000"/>
                </a:solidFill>
                <a:sym typeface="+mn-ea"/>
              </a:rPr>
              <a:t>rapidly</a:t>
            </a:r>
            <a:endParaRPr lang="en-US" altLang="zh-CN" sz="2800" b="1" dirty="0" smtClean="0">
              <a:solidFill>
                <a:srgbClr val="FF0000"/>
              </a:solidFill>
              <a:sym typeface="+mn-ea"/>
            </a:endParaRPr>
          </a:p>
        </p:txBody>
      </p:sp>
      <p:sp>
        <p:nvSpPr>
          <p:cNvPr id="7" name="文本框 6"/>
          <p:cNvSpPr txBox="1"/>
          <p:nvPr/>
        </p:nvSpPr>
        <p:spPr>
          <a:xfrm>
            <a:off x="6400800" y="4343400"/>
            <a:ext cx="1459230" cy="521970"/>
          </a:xfrm>
          <a:prstGeom prst="rect">
            <a:avLst/>
          </a:prstGeom>
          <a:noFill/>
        </p:spPr>
        <p:txBody>
          <a:bodyPr wrap="none" rtlCol="0" anchor="t">
            <a:spAutoFit/>
          </a:bodyPr>
          <a:lstStyle/>
          <a:p>
            <a:r>
              <a:rPr lang="en-US" altLang="zh-CN" sz="2800" b="1" dirty="0" smtClean="0">
                <a:solidFill>
                  <a:srgbClr val="FF0000"/>
                </a:solidFill>
                <a:sym typeface="+mn-ea"/>
              </a:rPr>
              <a:t>assigned</a:t>
            </a:r>
            <a:endParaRPr lang="zh-CN" altLang="en-US"/>
          </a:p>
        </p:txBody>
      </p:sp>
      <p:sp>
        <p:nvSpPr>
          <p:cNvPr id="8" name="文本框 7"/>
          <p:cNvSpPr txBox="1"/>
          <p:nvPr/>
        </p:nvSpPr>
        <p:spPr>
          <a:xfrm>
            <a:off x="2710815" y="6093460"/>
            <a:ext cx="1178560" cy="521970"/>
          </a:xfrm>
          <a:prstGeom prst="rect">
            <a:avLst/>
          </a:prstGeom>
          <a:noFill/>
        </p:spPr>
        <p:txBody>
          <a:bodyPr wrap="none" rtlCol="0" anchor="t">
            <a:spAutoFit/>
          </a:bodyPr>
          <a:lstStyle/>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lang="en-US" altLang="zh-CN" sz="2800" b="1" dirty="0" smtClean="0">
                <a:solidFill>
                  <a:srgbClr val="FF0000"/>
                </a:solidFill>
                <a:sym typeface="+mn-ea"/>
              </a:rPr>
              <a:t>similar</a:t>
            </a:r>
            <a:endParaRPr lang="en-US" altLang="zh-CN" sz="2800" b="1" dirty="0" smtClean="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325" y="3110230"/>
            <a:ext cx="10972800" cy="3151505"/>
          </a:xfrm>
        </p:spPr>
        <p:txBody>
          <a:bodyPr/>
          <a:lstStyle/>
          <a:p>
            <a:pPr marL="0" indent="0">
              <a:buNone/>
            </a:pPr>
            <a:r>
              <a:rPr lang="zh-CN" altLang="en-US">
                <a:latin typeface="Times New Roman" panose="02020603050405020304" pitchFamily="18" charset="0"/>
              </a:rPr>
              <a:t>Body weight was not hugely different between the groups eating a healthy diet and those on high fat and sugar. So this shows negative </a:t>
            </a:r>
            <a:r>
              <a:rPr lang="zh-CN" altLang="en-US">
                <a:highlight>
                  <a:srgbClr val="FFFF00"/>
                </a:highlight>
                <a:latin typeface="Times New Roman" panose="02020603050405020304" pitchFamily="18" charset="0"/>
              </a:rPr>
              <a:t>33</a:t>
            </a:r>
            <a:r>
              <a:rPr lang="en-US" altLang="zh-CN">
                <a:latin typeface="Times New Roman" panose="02020603050405020304" pitchFamily="18" charset="0"/>
              </a:rPr>
              <a:t>____________</a:t>
            </a:r>
            <a:r>
              <a:rPr lang="zh-CN" altLang="en-US">
                <a:latin typeface="Times New Roman" panose="02020603050405020304" pitchFamily="18" charset="0"/>
              </a:rPr>
              <a:t>  of poor dietary intake can occur even when body weight has not changed </a:t>
            </a:r>
            <a:r>
              <a:rPr lang="zh-CN" altLang="en-US">
                <a:highlight>
                  <a:srgbClr val="FFFF00"/>
                </a:highlight>
                <a:latin typeface="Times New Roman" panose="02020603050405020304" pitchFamily="18" charset="0"/>
              </a:rPr>
              <a:t>34</a:t>
            </a:r>
            <a:r>
              <a:rPr lang="en-US" altLang="zh-CN">
                <a:latin typeface="Times New Roman" panose="02020603050405020304" pitchFamily="18" charset="0"/>
              </a:rPr>
              <a:t>_____________</a:t>
            </a:r>
            <a:r>
              <a:rPr lang="zh-CN" altLang="en-US">
                <a:latin typeface="Times New Roman" panose="02020603050405020304" pitchFamily="18" charset="0"/>
              </a:rPr>
              <a:t> . </a:t>
            </a:r>
            <a:r>
              <a:rPr lang="en-US" altLang="zh-CN">
                <a:latin typeface="Times New Roman" panose="02020603050405020304" pitchFamily="18" charset="0"/>
              </a:rPr>
              <a:t>T</a:t>
            </a:r>
            <a:r>
              <a:rPr lang="zh-CN" altLang="en-US">
                <a:latin typeface="Times New Roman" panose="02020603050405020304" pitchFamily="18" charset="0"/>
              </a:rPr>
              <a:t>hus, body weight is not always the best indicator of health and a thin person still needs to eat well and exercise </a:t>
            </a:r>
            <a:r>
              <a:rPr lang="zh-CN" altLang="en-US">
                <a:highlight>
                  <a:srgbClr val="FFFF00"/>
                </a:highlight>
                <a:latin typeface="Times New Roman" panose="02020603050405020304" pitchFamily="18" charset="0"/>
              </a:rPr>
              <a:t>35</a:t>
            </a:r>
            <a:r>
              <a:rPr lang="en-US" altLang="zh-CN">
                <a:latin typeface="Times New Roman" panose="02020603050405020304" pitchFamily="18" charset="0"/>
              </a:rPr>
              <a:t>_______</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4" name="内容占位符 2"/>
          <p:cNvSpPr>
            <a:spLocks noGrp="1"/>
          </p:cNvSpPr>
          <p:nvPr/>
        </p:nvSpPr>
        <p:spPr>
          <a:xfrm>
            <a:off x="1452245" y="490855"/>
            <a:ext cx="9116060" cy="2373630"/>
          </a:xfrm>
          <a:prstGeom prst="rect">
            <a:avLst/>
          </a:prstGeom>
          <a:solidFill>
            <a:srgbClr val="FFCCCC"/>
          </a:solidFill>
          <a:ln w="25400">
            <a:solidFill>
              <a:schemeClr val="accent6"/>
            </a:solidFill>
          </a:ln>
        </p:spPr>
        <p:style>
          <a:lnRef idx="2">
            <a:schemeClr val="accent6"/>
          </a:lnRef>
          <a:fillRef idx="1">
            <a:schemeClr val="lt1"/>
          </a:fillRef>
          <a:effectRef idx="0">
            <a:schemeClr val="accent6"/>
          </a:effectRef>
          <a:fontRef idx="minor">
            <a:schemeClr val="dk1"/>
          </a:fontRef>
        </p:style>
        <p:txBody>
          <a:bodyPr lIns="91440" tIns="45720" rIns="91440" bIns="45720" anchor="t">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A) assessed                            F) designated                            K) loopholes</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B) assigned                            G) detrimental                           L) rapidly</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C) consequences                   H) digestion                              M) redundant</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D) conspicuously                     I) excelling                               N) regularly</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E) deficits                                 J) indulging                                O) similar</a:t>
            </a:r>
            <a:endParaRPr kumimoji="0" lang="en-US" altLang="zh-CN" sz="2400" b="0" i="0" u="none" strike="noStrike" kern="1200" cap="none" spc="0" normalizeH="0" baseline="0" noProof="1" smtClean="0">
              <a:latin typeface="+mn-lt"/>
              <a:ea typeface="+mn-ea"/>
              <a:cs typeface="+mn-cs"/>
            </a:endParaRPr>
          </a:p>
        </p:txBody>
      </p:sp>
      <p:sp>
        <p:nvSpPr>
          <p:cNvPr id="5" name="文本框 4"/>
          <p:cNvSpPr txBox="1"/>
          <p:nvPr/>
        </p:nvSpPr>
        <p:spPr>
          <a:xfrm>
            <a:off x="8085455" y="5518785"/>
            <a:ext cx="1736090" cy="583565"/>
          </a:xfrm>
          <a:prstGeom prst="rect">
            <a:avLst/>
          </a:prstGeom>
          <a:noFill/>
        </p:spPr>
        <p:txBody>
          <a:bodyPr wrap="square" rtlCol="0" anchor="t">
            <a:spAutoFit/>
          </a:bodyPr>
          <a:lstStyle/>
          <a:p>
            <a:r>
              <a:rPr lang="en-US" altLang="zh-CN" sz="3200" b="1" dirty="0" smtClean="0">
                <a:solidFill>
                  <a:srgbClr val="FF0000"/>
                </a:solidFill>
                <a:sym typeface="+mn-ea"/>
              </a:rPr>
              <a:t>regularly</a:t>
            </a:r>
            <a:endParaRPr lang="en-US" altLang="zh-CN" sz="3200" b="1" dirty="0" smtClean="0">
              <a:solidFill>
                <a:srgbClr val="FF0000"/>
              </a:solidFill>
              <a:sym typeface="+mn-ea"/>
            </a:endParaRPr>
          </a:p>
        </p:txBody>
      </p:sp>
      <p:sp>
        <p:nvSpPr>
          <p:cNvPr id="6" name="文本框 5"/>
          <p:cNvSpPr txBox="1"/>
          <p:nvPr/>
        </p:nvSpPr>
        <p:spPr>
          <a:xfrm>
            <a:off x="7044690" y="4583430"/>
            <a:ext cx="2625090" cy="583565"/>
          </a:xfrm>
          <a:prstGeom prst="rect">
            <a:avLst/>
          </a:prstGeom>
          <a:noFill/>
        </p:spPr>
        <p:txBody>
          <a:bodyPr wrap="none" rtlCol="0" anchor="t">
            <a:spAutoFit/>
          </a:bodyPr>
          <a:lstStyle/>
          <a:p>
            <a:r>
              <a:rPr lang="en-US" altLang="zh-CN" sz="3200" b="1" dirty="0" smtClean="0">
                <a:solidFill>
                  <a:srgbClr val="FF0000"/>
                </a:solidFill>
                <a:sym typeface="+mn-ea"/>
              </a:rPr>
              <a:t>conspicuously</a:t>
            </a:r>
            <a:r>
              <a:rPr lang="en-US" altLang="zh-CN" sz="2800" dirty="0" smtClean="0">
                <a:solidFill>
                  <a:srgbClr val="FF0000"/>
                </a:solidFill>
                <a:sym typeface="+mn-ea"/>
              </a:rPr>
              <a:t> </a:t>
            </a:r>
            <a:endParaRPr lang="en-US" altLang="zh-CN" sz="2800" dirty="0" smtClean="0">
              <a:solidFill>
                <a:srgbClr val="FF0000"/>
              </a:solidFill>
              <a:sym typeface="+mn-ea"/>
            </a:endParaRPr>
          </a:p>
        </p:txBody>
      </p:sp>
      <p:sp>
        <p:nvSpPr>
          <p:cNvPr id="7" name="文本框 6"/>
          <p:cNvSpPr txBox="1"/>
          <p:nvPr/>
        </p:nvSpPr>
        <p:spPr>
          <a:xfrm>
            <a:off x="2743835" y="3999865"/>
            <a:ext cx="2639695" cy="583565"/>
          </a:xfrm>
          <a:prstGeom prst="rect">
            <a:avLst/>
          </a:prstGeom>
          <a:noFill/>
        </p:spPr>
        <p:txBody>
          <a:bodyPr wrap="none" rtlCol="0" anchor="t">
            <a:spAutoFit/>
          </a:bodyPr>
          <a:lstStyle/>
          <a:p>
            <a:r>
              <a:rPr lang="en-US" altLang="zh-CN" sz="3200" b="1" dirty="0" smtClean="0">
                <a:solidFill>
                  <a:srgbClr val="FF0000"/>
                </a:solidFill>
                <a:sym typeface="+mn-ea"/>
              </a:rPr>
              <a:t>consequences</a:t>
            </a:r>
            <a:r>
              <a:rPr lang="en-US" altLang="zh-CN" sz="3200" dirty="0" smtClean="0">
                <a:solidFill>
                  <a:srgbClr val="FF0000"/>
                </a:solidFill>
                <a:sym typeface="+mn-ea"/>
              </a:rPr>
              <a:t> </a:t>
            </a:r>
            <a:endParaRPr lang="en-US" altLang="zh-CN" sz="3200" dirty="0" smtClean="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829945"/>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 </a:t>
            </a:r>
            <a:r>
              <a:rPr lang="en-US" altLang="zh-CN" sz="6000" kern="0" dirty="0" smtClean="0">
                <a:solidFill>
                  <a:srgbClr val="FF0000"/>
                </a:solidFill>
              </a:rPr>
              <a:t>2</a:t>
            </a:r>
            <a:endParaRPr lang="en-US" altLang="zh-CN" sz="6000" kern="0" dirty="0" smtClean="0">
              <a:solidFill>
                <a:srgbClr val="FF0000"/>
              </a:solidFill>
            </a:endParaRPr>
          </a:p>
        </p:txBody>
      </p:sp>
      <p:sp>
        <p:nvSpPr>
          <p:cNvPr id="10" name="TextBox 9"/>
          <p:cNvSpPr txBox="1"/>
          <p:nvPr/>
        </p:nvSpPr>
        <p:spPr>
          <a:xfrm>
            <a:off x="5410200" y="2667000"/>
            <a:ext cx="4288790" cy="1445260"/>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选词填空</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500" y="2043430"/>
            <a:ext cx="12065635" cy="4688205"/>
          </a:xfrm>
        </p:spPr>
        <p:txBody>
          <a:bodyPr>
            <a:normAutofit/>
          </a:bodyPr>
          <a:lstStyle/>
          <a:p>
            <a:pPr marL="0" indent="0">
              <a:lnSpc>
                <a:spcPct val="150000"/>
              </a:lnSpc>
              <a:buNone/>
            </a:pPr>
            <a:r>
              <a:rPr lang="en-US" altLang="zh-CN" sz="2800" dirty="0" smtClean="0">
                <a:solidFill>
                  <a:schemeClr val="tx1"/>
                </a:solidFill>
                <a:latin typeface="Times New Roman" panose="02020603050405020304" pitchFamily="18" charset="0"/>
                <a:sym typeface="+mn-ea"/>
              </a:rPr>
              <a:t>   Overall, men are more likely than women to make excuses. Several studies suggest that men feel the need to appear competent in all _______, while women worry only about the skills in which they've invested _________. Ask a man and a woman to go diving for the first time, and the woman is likely to jump in, while the man is likely to say he is not feeling too well.</a:t>
            </a:r>
            <a:endParaRPr lang="en-US" altLang="zh-CN" sz="2800" dirty="0" smtClean="0">
              <a:solidFill>
                <a:schemeClr val="tx1"/>
              </a:solidFill>
              <a:latin typeface="Times New Roman" panose="02020603050405020304" pitchFamily="18" charset="0"/>
              <a:sym typeface="+mn-ea"/>
            </a:endParaRPr>
          </a:p>
          <a:p>
            <a:pPr marL="0" indent="0">
              <a:lnSpc>
                <a:spcPct val="150000"/>
              </a:lnSpc>
              <a:buNone/>
            </a:pPr>
            <a:r>
              <a:rPr lang="en-US" altLang="zh-CN" sz="2800" dirty="0" smtClean="0">
                <a:solidFill>
                  <a:schemeClr val="tx1"/>
                </a:solidFill>
                <a:latin typeface="Times New Roman" panose="02020603050405020304" pitchFamily="18" charset="0"/>
                <a:sym typeface="+mn-ea"/>
              </a:rPr>
              <a:t>   Ironically, it is often success that leads people to flirt with failure. Praise won for ________ a skill suddenly puts one in the position of having everything to lose .</a:t>
            </a:r>
            <a:endParaRPr lang="en-US" altLang="zh-CN" sz="2800" b="1" dirty="0" smtClean="0">
              <a:solidFill>
                <a:schemeClr val="tx1"/>
              </a:solidFill>
              <a:latin typeface="Times New Roman" panose="02020603050405020304" pitchFamily="18" charset="0"/>
              <a:ea typeface="宋体" panose="02010600030101010101" pitchFamily="2" charset="-122"/>
              <a:sym typeface="+mn-ea"/>
            </a:endParaRPr>
          </a:p>
          <a:p>
            <a:pPr marL="0" indent="0">
              <a:lnSpc>
                <a:spcPct val="150000"/>
              </a:lnSpc>
              <a:buNone/>
            </a:pPr>
            <a:endParaRPr lang="zh-CN" altLang="en-US" sz="2800" b="1" dirty="0">
              <a:solidFill>
                <a:srgbClr val="FF9900"/>
              </a:solidFill>
              <a:latin typeface="Times New Roman" panose="02020603050405020304" pitchFamily="18" charset="0"/>
              <a:ea typeface="宋体" panose="02010600030101010101" pitchFamily="2" charset="-122"/>
            </a:endParaRPr>
          </a:p>
          <a:p>
            <a:pPr marL="0" indent="0">
              <a:buNone/>
            </a:pPr>
            <a:endParaRPr lang="zh-CN" altLang="en-US" sz="2800" dirty="0">
              <a:latin typeface="Times New Roman" panose="02020603050405020304" pitchFamily="18" charset="0"/>
            </a:endParaRPr>
          </a:p>
          <a:p>
            <a:pPr marL="0" indent="0">
              <a:buNone/>
            </a:pPr>
            <a:endParaRPr lang="zh-CN" altLang="en-US" sz="2400"/>
          </a:p>
        </p:txBody>
      </p:sp>
      <p:sp>
        <p:nvSpPr>
          <p:cNvPr id="7" name="矩形 6"/>
          <p:cNvSpPr/>
          <p:nvPr/>
        </p:nvSpPr>
        <p:spPr>
          <a:xfrm>
            <a:off x="1246505" y="223520"/>
            <a:ext cx="9885045" cy="2002790"/>
          </a:xfrm>
          <a:prstGeom prst="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en-US" altLang="zh-CN" sz="2400" dirty="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A) </a:t>
            </a:r>
            <a:r>
              <a:rPr lang="en-US" altLang="zh-CN" sz="2400" dirty="0" smtClean="0">
                <a:solidFill>
                  <a:schemeClr val="tx1"/>
                </a:solidFill>
                <a:latin typeface="Times New Roman" panose="02020603050405020304" pitchFamily="18" charset="0"/>
                <a:ea typeface="楷体_GB2312" pitchFamily="49" charset="-122"/>
                <a:cs typeface="+mn-ea"/>
                <a:sym typeface="+mn-ea"/>
              </a:rPr>
              <a:t>contrary</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B) </a:t>
            </a:r>
            <a:r>
              <a:rPr lang="en-US" altLang="zh-CN" sz="2400" dirty="0" smtClean="0">
                <a:solidFill>
                  <a:schemeClr val="tx1"/>
                </a:solidFill>
                <a:latin typeface="Times New Roman" panose="02020603050405020304" pitchFamily="18" charset="0"/>
                <a:ea typeface="楷体_GB2312" pitchFamily="49" charset="-122"/>
                <a:cs typeface="+mn-ea"/>
                <a:sym typeface="+mn-ea"/>
              </a:rPr>
              <a:t>fatigue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C) </a:t>
            </a:r>
            <a:r>
              <a:rPr lang="en-US" altLang="zh-CN" sz="2400" dirty="0" smtClean="0">
                <a:solidFill>
                  <a:schemeClr val="tx1"/>
                </a:solidFill>
                <a:latin typeface="Times New Roman" panose="02020603050405020304" pitchFamily="18" charset="0"/>
                <a:ea typeface="楷体_GB2312" pitchFamily="49" charset="-122"/>
                <a:cs typeface="+mn-ea"/>
                <a:sym typeface="+mn-ea"/>
              </a:rPr>
              <a:t>heavily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D) </a:t>
            </a:r>
            <a:r>
              <a:rPr lang="en-US" altLang="zh-CN" sz="2400" dirty="0" smtClean="0">
                <a:solidFill>
                  <a:schemeClr val="tx1"/>
                </a:solidFill>
                <a:latin typeface="Times New Roman" panose="02020603050405020304" pitchFamily="18" charset="0"/>
                <a:ea typeface="楷体_GB2312" pitchFamily="49" charset="-122"/>
                <a:cs typeface="+mn-ea"/>
                <a:sym typeface="+mn-ea"/>
              </a:rPr>
              <a:t>heaving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E) </a:t>
            </a:r>
            <a:r>
              <a:rPr lang="en-US" altLang="zh-CN" sz="2400" dirty="0" smtClean="0">
                <a:solidFill>
                  <a:schemeClr val="tx1"/>
                </a:solidFill>
                <a:latin typeface="Times New Roman" panose="02020603050405020304" pitchFamily="18" charset="0"/>
                <a:ea typeface="楷体_GB2312" pitchFamily="49" charset="-122"/>
                <a:cs typeface="+mn-ea"/>
                <a:sym typeface="+mn-ea"/>
              </a:rPr>
              <a:t>hospitalized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p:txBody>
      </p:sp>
      <p:sp>
        <p:nvSpPr>
          <p:cNvPr id="2" name="文本框 1"/>
          <p:cNvSpPr txBox="1"/>
          <p:nvPr/>
        </p:nvSpPr>
        <p:spPr>
          <a:xfrm>
            <a:off x="4249420" y="255905"/>
            <a:ext cx="2811780" cy="1938020"/>
          </a:xfrm>
          <a:prstGeom prst="rect">
            <a:avLst/>
          </a:prstGeom>
          <a:noFill/>
        </p:spPr>
        <p:txBody>
          <a:bodyPr wrap="square" rtlCol="0" anchor="t">
            <a:spAutoFit/>
          </a:bodyPr>
          <a:lstStyle/>
          <a:p>
            <a:pPr>
              <a:defRPr/>
            </a:pPr>
            <a:r>
              <a:rPr lang="en-US" altLang="zh-CN" sz="2400" dirty="0">
                <a:solidFill>
                  <a:schemeClr val="tx1"/>
                </a:solidFill>
                <a:latin typeface="Times New Roman" panose="02020603050405020304" pitchFamily="18" charset="0"/>
                <a:ea typeface="楷体_GB2312" pitchFamily="49" charset="-122"/>
                <a:cs typeface="+mn-ea"/>
                <a:sym typeface="+mn-ea"/>
              </a:rPr>
              <a:t>F) </a:t>
            </a:r>
            <a:r>
              <a:rPr lang="en-US" altLang="zh-CN" sz="2400" dirty="0" smtClean="0">
                <a:solidFill>
                  <a:schemeClr val="tx1"/>
                </a:solidFill>
                <a:latin typeface="Times New Roman" panose="02020603050405020304" pitchFamily="18" charset="0"/>
                <a:ea typeface="楷体_GB2312" pitchFamily="49" charset="-122"/>
                <a:cs typeface="+mn-ea"/>
                <a:sym typeface="+mn-ea"/>
              </a:rPr>
              <a:t>labeled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G) legacies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ea typeface="楷体_GB2312" pitchFamily="49" charset="-122"/>
                <a:cs typeface="+mn-ea"/>
                <a:sym typeface="+mn-ea"/>
              </a:rPr>
              <a:t> </a:t>
            </a:r>
            <a:endParaRPr lang="en-US" altLang="zh-CN" sz="2400" dirty="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a:solidFill>
                  <a:schemeClr val="tx1"/>
                </a:solidFill>
                <a:latin typeface="Times New Roman" panose="02020603050405020304" pitchFamily="18" charset="0"/>
                <a:ea typeface="楷体_GB2312" pitchFamily="49" charset="-122"/>
                <a:cs typeface="+mn-ea"/>
                <a:sym typeface="+mn-ea"/>
              </a:rPr>
              <a:t>H) </a:t>
            </a:r>
            <a:r>
              <a:rPr lang="en-US" altLang="zh-CN" sz="2400" dirty="0" smtClean="0">
                <a:solidFill>
                  <a:schemeClr val="tx1"/>
                </a:solidFill>
                <a:latin typeface="Times New Roman" panose="02020603050405020304" pitchFamily="18" charset="0"/>
                <a:ea typeface="楷体_GB2312" pitchFamily="49" charset="-122"/>
                <a:cs typeface="+mn-ea"/>
                <a:sym typeface="+mn-ea"/>
              </a:rPr>
              <a:t>mastering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sym typeface="+mn-ea"/>
              </a:rPr>
              <a:t>I) </a:t>
            </a:r>
            <a:r>
              <a:rPr lang="en-US" altLang="zh-CN" sz="2400" dirty="0" smtClean="0">
                <a:solidFill>
                  <a:schemeClr val="tx1"/>
                </a:solidFill>
                <a:latin typeface="Times New Roman" panose="02020603050405020304" pitchFamily="18" charset="0"/>
                <a:sym typeface="+mn-ea"/>
              </a:rPr>
              <a:t>momentum   </a:t>
            </a:r>
            <a:endParaRPr lang="en-US" altLang="zh-CN" sz="2400" dirty="0" smtClean="0">
              <a:solidFill>
                <a:schemeClr val="tx1"/>
              </a:solidFill>
              <a:latin typeface="Times New Roman" panose="02020603050405020304" pitchFamily="18" charset="0"/>
              <a:sym typeface="+mn-ea"/>
            </a:endParaRPr>
          </a:p>
          <a:p>
            <a:pPr>
              <a:defRPr/>
            </a:pPr>
            <a:r>
              <a:rPr lang="en-US" altLang="zh-CN" sz="2400" dirty="0">
                <a:solidFill>
                  <a:schemeClr val="tx1"/>
                </a:solidFill>
                <a:latin typeface="Times New Roman" panose="02020603050405020304" pitchFamily="18" charset="0"/>
                <a:sym typeface="+mn-ea"/>
              </a:rPr>
              <a:t>J) </a:t>
            </a:r>
            <a:r>
              <a:rPr lang="en-US" altLang="zh-CN" sz="2400" dirty="0" smtClean="0">
                <a:solidFill>
                  <a:schemeClr val="tx1"/>
                </a:solidFill>
                <a:latin typeface="Times New Roman" panose="02020603050405020304" pitchFamily="18" charset="0"/>
                <a:sym typeface="+mn-ea"/>
              </a:rPr>
              <a:t>obsessed </a:t>
            </a:r>
            <a:endParaRPr lang="zh-CN" altLang="en-US" sz="2400"/>
          </a:p>
        </p:txBody>
      </p:sp>
      <p:sp>
        <p:nvSpPr>
          <p:cNvPr id="4" name="文本框 3"/>
          <p:cNvSpPr txBox="1"/>
          <p:nvPr/>
        </p:nvSpPr>
        <p:spPr>
          <a:xfrm>
            <a:off x="7601585" y="255905"/>
            <a:ext cx="3416935" cy="1938020"/>
          </a:xfrm>
          <a:prstGeom prst="rect">
            <a:avLst/>
          </a:prstGeom>
          <a:noFill/>
        </p:spPr>
        <p:txBody>
          <a:bodyPr wrap="square" rtlCol="0">
            <a:spAutoFit/>
          </a:bodyPr>
          <a:lstStyle>
            <a:defPPr>
              <a:defRPr lang="en-US"/>
            </a:defPPr>
            <a:lvl1pPr>
              <a:defRPr sz="2400">
                <a:solidFill>
                  <a:srgbClr val="002060"/>
                </a:solidFill>
                <a:latin typeface="Times New Roman" panose="02020603050405020304" pitchFamily="18" charset="0"/>
                <a:ea typeface="楷体_GB2312" pitchFamily="49" charset="-122"/>
                <a:cs typeface="+mn-ea"/>
              </a:defRPr>
            </a:lvl1pPr>
          </a:lstStyle>
          <a:p>
            <a:r>
              <a:rPr lang="en-US" altLang="zh-CN" dirty="0">
                <a:solidFill>
                  <a:schemeClr val="tx1"/>
                </a:solidFill>
              </a:rPr>
              <a:t>K) </a:t>
            </a:r>
            <a:r>
              <a:rPr lang="en-US" altLang="zh-CN" dirty="0" smtClean="0">
                <a:solidFill>
                  <a:schemeClr val="tx1"/>
                </a:solidFill>
              </a:rPr>
              <a:t>potential  </a:t>
            </a:r>
            <a:endParaRPr lang="en-US" altLang="zh-CN" dirty="0" smtClean="0">
              <a:solidFill>
                <a:schemeClr val="tx1"/>
              </a:solidFill>
            </a:endParaRPr>
          </a:p>
          <a:p>
            <a:r>
              <a:rPr lang="en-US" altLang="zh-CN" dirty="0">
                <a:solidFill>
                  <a:schemeClr val="tx1"/>
                </a:solidFill>
              </a:rPr>
              <a:t>L) </a:t>
            </a:r>
            <a:r>
              <a:rPr lang="en-US" altLang="zh-CN" dirty="0" smtClean="0">
                <a:solidFill>
                  <a:schemeClr val="tx1"/>
                </a:solidFill>
              </a:rPr>
              <a:t>realms  </a:t>
            </a:r>
            <a:endParaRPr lang="en-US" altLang="zh-CN" dirty="0" smtClean="0">
              <a:solidFill>
                <a:schemeClr val="tx1"/>
              </a:solidFill>
            </a:endParaRPr>
          </a:p>
          <a:p>
            <a:r>
              <a:rPr lang="en-US" altLang="zh-CN" dirty="0">
                <a:solidFill>
                  <a:schemeClr val="tx1"/>
                </a:solidFill>
              </a:rPr>
              <a:t>M) </a:t>
            </a:r>
            <a:r>
              <a:rPr lang="en-US" altLang="zh-CN" dirty="0" smtClean="0">
                <a:solidFill>
                  <a:schemeClr val="tx1"/>
                </a:solidFill>
              </a:rPr>
              <a:t>reciprocal   </a:t>
            </a:r>
            <a:endParaRPr lang="en-US" altLang="zh-CN" dirty="0" smtClean="0">
              <a:solidFill>
                <a:schemeClr val="tx1"/>
              </a:solidFill>
            </a:endParaRPr>
          </a:p>
          <a:p>
            <a:r>
              <a:rPr lang="en-US" altLang="zh-CN" dirty="0">
                <a:solidFill>
                  <a:schemeClr val="tx1"/>
                </a:solidFill>
              </a:rPr>
              <a:t>N) </a:t>
            </a:r>
            <a:r>
              <a:rPr lang="en-US" altLang="zh-CN" dirty="0" smtClean="0">
                <a:solidFill>
                  <a:schemeClr val="tx1"/>
                </a:solidFill>
              </a:rPr>
              <a:t>ruin  </a:t>
            </a:r>
            <a:endParaRPr lang="en-US" altLang="zh-CN" dirty="0" smtClean="0">
              <a:solidFill>
                <a:schemeClr val="tx1"/>
              </a:solidFill>
            </a:endParaRPr>
          </a:p>
          <a:p>
            <a:r>
              <a:rPr lang="en-US" altLang="zh-CN" dirty="0">
                <a:solidFill>
                  <a:schemeClr val="tx1"/>
                </a:solidFill>
              </a:rPr>
              <a:t>O) </a:t>
            </a:r>
            <a:r>
              <a:rPr lang="en-US" altLang="zh-CN" dirty="0" smtClean="0">
                <a:solidFill>
                  <a:schemeClr val="tx1"/>
                </a:solidFill>
              </a:rPr>
              <a:t>viciously </a:t>
            </a:r>
            <a:endParaRPr lang="en-US" altLang="zh-CN" dirty="0" smtClean="0">
              <a:solidFill>
                <a:schemeClr val="tx1"/>
              </a:solidFill>
            </a:endParaRPr>
          </a:p>
        </p:txBody>
      </p:sp>
      <p:sp>
        <p:nvSpPr>
          <p:cNvPr id="9" name="文本框 8"/>
          <p:cNvSpPr txBox="1"/>
          <p:nvPr/>
        </p:nvSpPr>
        <p:spPr>
          <a:xfrm>
            <a:off x="8307070" y="2926080"/>
            <a:ext cx="1467485" cy="460375"/>
          </a:xfrm>
          <a:prstGeom prst="rect">
            <a:avLst/>
          </a:prstGeom>
          <a:noFill/>
        </p:spPr>
        <p:txBody>
          <a:bodyPr wrap="none" rtlCol="0" anchor="t">
            <a:spAutoFit/>
          </a:bodyPr>
          <a:lstStyle/>
          <a:p>
            <a:r>
              <a:rPr lang="en-US" altLang="zh-CN" sz="2400" b="1" dirty="0">
                <a:solidFill>
                  <a:srgbClr val="C00000"/>
                </a:solidFill>
                <a:sym typeface="+mn-ea"/>
              </a:rPr>
              <a:t>L) </a:t>
            </a:r>
            <a:r>
              <a:rPr lang="en-US" altLang="zh-CN" sz="2400" b="1" dirty="0" smtClean="0">
                <a:solidFill>
                  <a:srgbClr val="C00000"/>
                </a:solidFill>
                <a:sym typeface="+mn-ea"/>
              </a:rPr>
              <a:t>realms  </a:t>
            </a:r>
            <a:endParaRPr lang="en-US" altLang="zh-CN" sz="2400" b="1" dirty="0" smtClean="0">
              <a:solidFill>
                <a:srgbClr val="C00000"/>
              </a:solidFill>
              <a:sym typeface="+mn-ea"/>
            </a:endParaRPr>
          </a:p>
        </p:txBody>
      </p:sp>
      <p:sp>
        <p:nvSpPr>
          <p:cNvPr id="10" name="文本框 9"/>
          <p:cNvSpPr txBox="1"/>
          <p:nvPr/>
        </p:nvSpPr>
        <p:spPr>
          <a:xfrm>
            <a:off x="7698105" y="3564255"/>
            <a:ext cx="1694180" cy="460375"/>
          </a:xfrm>
          <a:prstGeom prst="rect">
            <a:avLst/>
          </a:prstGeom>
          <a:noFill/>
        </p:spPr>
        <p:txBody>
          <a:bodyPr wrap="square" rtlCol="0" anchor="t">
            <a:spAutoFit/>
          </a:bodyPr>
          <a:lstStyle/>
          <a:p>
            <a:r>
              <a:rPr lang="en-US" altLang="zh-CN" sz="2400" b="1" dirty="0">
                <a:solidFill>
                  <a:srgbClr val="C00000"/>
                </a:solidFill>
                <a:latin typeface="Times New Roman" panose="02020603050405020304" pitchFamily="18" charset="0"/>
                <a:ea typeface="楷体_GB2312" pitchFamily="49" charset="-122"/>
                <a:cs typeface="+mn-ea"/>
                <a:sym typeface="+mn-ea"/>
              </a:rPr>
              <a:t>C) </a:t>
            </a:r>
            <a:r>
              <a:rPr lang="en-US" altLang="zh-CN" sz="2400" b="1" dirty="0" smtClean="0">
                <a:solidFill>
                  <a:srgbClr val="C00000"/>
                </a:solidFill>
                <a:latin typeface="Times New Roman" panose="02020603050405020304" pitchFamily="18" charset="0"/>
                <a:ea typeface="楷体_GB2312" pitchFamily="49" charset="-122"/>
                <a:cs typeface="+mn-ea"/>
                <a:sym typeface="+mn-ea"/>
              </a:rPr>
              <a:t>heavily</a:t>
            </a:r>
            <a:endParaRPr lang="en-US" altLang="zh-CN" sz="2400" b="1" dirty="0" smtClean="0">
              <a:solidFill>
                <a:srgbClr val="C00000"/>
              </a:solidFill>
              <a:latin typeface="Times New Roman" panose="02020603050405020304" pitchFamily="18" charset="0"/>
              <a:ea typeface="楷体_GB2312" pitchFamily="49" charset="-122"/>
              <a:cs typeface="+mn-ea"/>
              <a:sym typeface="+mn-ea"/>
            </a:endParaRPr>
          </a:p>
        </p:txBody>
      </p:sp>
      <p:sp>
        <p:nvSpPr>
          <p:cNvPr id="11" name="文本框 10"/>
          <p:cNvSpPr txBox="1"/>
          <p:nvPr/>
        </p:nvSpPr>
        <p:spPr>
          <a:xfrm>
            <a:off x="-71120" y="6055995"/>
            <a:ext cx="1901190" cy="460375"/>
          </a:xfrm>
          <a:prstGeom prst="rect">
            <a:avLst/>
          </a:prstGeom>
          <a:noFill/>
        </p:spPr>
        <p:txBody>
          <a:bodyPr wrap="none" rtlCol="0" anchor="t">
            <a:spAutoFit/>
          </a:bodyPr>
          <a:lstStyle/>
          <a:p>
            <a:r>
              <a:rPr lang="en-US" altLang="zh-CN" sz="2400" b="1" dirty="0">
                <a:solidFill>
                  <a:srgbClr val="C00000"/>
                </a:solidFill>
                <a:latin typeface="Times New Roman" panose="02020603050405020304" pitchFamily="18" charset="0"/>
                <a:ea typeface="楷体_GB2312" pitchFamily="49" charset="-122"/>
                <a:cs typeface="+mn-ea"/>
                <a:sym typeface="+mn-ea"/>
              </a:rPr>
              <a:t>H) </a:t>
            </a:r>
            <a:r>
              <a:rPr lang="en-US" altLang="zh-CN" sz="2400" b="1" dirty="0" smtClean="0">
                <a:solidFill>
                  <a:srgbClr val="C00000"/>
                </a:solidFill>
                <a:latin typeface="Times New Roman" panose="02020603050405020304" pitchFamily="18" charset="0"/>
                <a:ea typeface="楷体_GB2312" pitchFamily="49" charset="-122"/>
                <a:cs typeface="+mn-ea"/>
                <a:sym typeface="+mn-ea"/>
              </a:rPr>
              <a:t>mastering</a:t>
            </a:r>
            <a:endParaRPr lang="en-US" altLang="zh-CN" sz="2400" b="1" dirty="0" smtClean="0">
              <a:solidFill>
                <a:srgbClr val="C00000"/>
              </a:solidFill>
              <a:latin typeface="Times New Roman" panose="02020603050405020304" pitchFamily="18" charset="0"/>
              <a:ea typeface="楷体_GB2312" pitchFamily="49" charset="-122"/>
              <a:cs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500" y="2056130"/>
            <a:ext cx="12065635" cy="4688205"/>
          </a:xfrm>
        </p:spPr>
        <p:txBody>
          <a:bodyPr>
            <a:normAutofit lnSpcReduction="10000"/>
          </a:bodyPr>
          <a:lstStyle/>
          <a:p>
            <a:pPr marL="0" indent="0">
              <a:lnSpc>
                <a:spcPct val="150000"/>
              </a:lnSpc>
              <a:buNone/>
            </a:pPr>
            <a:r>
              <a:rPr lang="en-US" altLang="zh-CN" sz="2800" dirty="0" smtClean="0">
                <a:solidFill>
                  <a:schemeClr val="tx1"/>
                </a:solidFill>
                <a:latin typeface="Times New Roman" panose="02020603050405020304" pitchFamily="18" charset="0"/>
                <a:sym typeface="+mn-ea"/>
              </a:rPr>
              <a:t>Rather than putting their reputation on the line again, many successful people develop a handicap--drinking, _________, depression--that allows them to keep their status no matter what the future brings. An advertising executive __________</a:t>
            </a:r>
            <a:endParaRPr lang="en-US" altLang="zh-CN" sz="2800" dirty="0" smtClean="0">
              <a:solidFill>
                <a:schemeClr val="tx1"/>
              </a:solidFill>
              <a:latin typeface="Times New Roman" panose="02020603050405020304" pitchFamily="18" charset="0"/>
              <a:sym typeface="+mn-ea"/>
            </a:endParaRPr>
          </a:p>
          <a:p>
            <a:pPr marL="0" indent="0">
              <a:lnSpc>
                <a:spcPct val="150000"/>
              </a:lnSpc>
              <a:buNone/>
            </a:pPr>
            <a:r>
              <a:rPr lang="en-US" altLang="zh-CN" sz="2800" dirty="0">
                <a:solidFill>
                  <a:schemeClr val="tx1"/>
                </a:solidFill>
                <a:latin typeface="Times New Roman" panose="02020603050405020304" pitchFamily="18" charset="0"/>
                <a:ea typeface="宋体" panose="02010600030101010101" pitchFamily="2" charset="-122"/>
              </a:rPr>
              <a:t>for depression shortly after winning an award put it this way: “Without my depression, I'd be a failure now; with it, I'm a success 'on hold'.</a:t>
            </a:r>
            <a:endParaRPr lang="en-US" altLang="zh-CN" sz="2800" dirty="0">
              <a:solidFill>
                <a:schemeClr val="tx1"/>
              </a:solidFill>
              <a:latin typeface="Times New Roman" panose="02020603050405020304" pitchFamily="18" charset="0"/>
              <a:ea typeface="宋体" panose="02010600030101010101" pitchFamily="2" charset="-122"/>
            </a:endParaRPr>
          </a:p>
          <a:p>
            <a:pPr marL="0" indent="0">
              <a:lnSpc>
                <a:spcPct val="150000"/>
              </a:lnSpc>
              <a:buNone/>
            </a:pPr>
            <a:r>
              <a:rPr lang="en-US" altLang="zh-CN" sz="2800" dirty="0">
                <a:solidFill>
                  <a:schemeClr val="tx1"/>
                </a:solidFill>
                <a:latin typeface="Times New Roman" panose="02020603050405020304" pitchFamily="18" charset="0"/>
                <a:ea typeface="宋体" panose="02010600030101010101" pitchFamily="2" charset="-122"/>
              </a:rPr>
              <a:t> In fact, the people most likely to become chronic excuse makers are those ______</a:t>
            </a:r>
            <a:endParaRPr lang="en-US" altLang="zh-CN" sz="2800" dirty="0">
              <a:solidFill>
                <a:schemeClr val="tx1"/>
              </a:solidFill>
              <a:latin typeface="Times New Roman" panose="02020603050405020304" pitchFamily="18" charset="0"/>
              <a:ea typeface="宋体" panose="02010600030101010101" pitchFamily="2" charset="-122"/>
            </a:endParaRPr>
          </a:p>
          <a:p>
            <a:pPr marL="0" indent="0">
              <a:lnSpc>
                <a:spcPct val="150000"/>
              </a:lnSpc>
              <a:buNone/>
            </a:pPr>
            <a:r>
              <a:rPr lang="en-US" altLang="zh-CN" sz="2800" dirty="0">
                <a:solidFill>
                  <a:schemeClr val="tx1"/>
                </a:solidFill>
                <a:latin typeface="Times New Roman" panose="02020603050405020304" pitchFamily="18" charset="0"/>
                <a:ea typeface="宋体" panose="02010600030101010101" pitchFamily="2" charset="-122"/>
              </a:rPr>
              <a:t>with success. Such people are so afraid of being _______ a failure at anything that</a:t>
            </a:r>
            <a:endParaRPr lang="en-US" altLang="zh-CN" sz="2800" dirty="0">
              <a:solidFill>
                <a:schemeClr val="tx1"/>
              </a:solidFill>
              <a:latin typeface="Times New Roman" panose="02020603050405020304" pitchFamily="18" charset="0"/>
              <a:ea typeface="宋体" panose="02010600030101010101" pitchFamily="2" charset="-122"/>
            </a:endParaRPr>
          </a:p>
          <a:p>
            <a:pPr marL="0" indent="0">
              <a:buNone/>
            </a:pPr>
            <a:endParaRPr lang="zh-CN" altLang="en-US" sz="2800" dirty="0">
              <a:latin typeface="Times New Roman" panose="02020603050405020304" pitchFamily="18" charset="0"/>
            </a:endParaRPr>
          </a:p>
          <a:p>
            <a:pPr marL="0" indent="0">
              <a:buNone/>
            </a:pPr>
            <a:endParaRPr lang="en-US" altLang="zh-CN" sz="2400"/>
          </a:p>
        </p:txBody>
      </p:sp>
      <p:sp>
        <p:nvSpPr>
          <p:cNvPr id="7" name="矩形 6"/>
          <p:cNvSpPr/>
          <p:nvPr/>
        </p:nvSpPr>
        <p:spPr>
          <a:xfrm>
            <a:off x="1246505" y="223520"/>
            <a:ext cx="9885045" cy="2002790"/>
          </a:xfrm>
          <a:prstGeom prst="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en-US" altLang="zh-CN" sz="2400" dirty="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A) </a:t>
            </a:r>
            <a:r>
              <a:rPr lang="en-US" altLang="zh-CN" sz="2400" dirty="0" smtClean="0">
                <a:solidFill>
                  <a:schemeClr val="tx1"/>
                </a:solidFill>
                <a:latin typeface="Times New Roman" panose="02020603050405020304" pitchFamily="18" charset="0"/>
                <a:ea typeface="楷体_GB2312" pitchFamily="49" charset="-122"/>
                <a:cs typeface="+mn-ea"/>
                <a:sym typeface="+mn-ea"/>
              </a:rPr>
              <a:t>contrary</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B) </a:t>
            </a:r>
            <a:r>
              <a:rPr lang="en-US" altLang="zh-CN" sz="2400" dirty="0" smtClean="0">
                <a:solidFill>
                  <a:schemeClr val="tx1"/>
                </a:solidFill>
                <a:latin typeface="Times New Roman" panose="02020603050405020304" pitchFamily="18" charset="0"/>
                <a:ea typeface="楷体_GB2312" pitchFamily="49" charset="-122"/>
                <a:cs typeface="+mn-ea"/>
                <a:sym typeface="+mn-ea"/>
              </a:rPr>
              <a:t>fatigue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C) </a:t>
            </a:r>
            <a:r>
              <a:rPr lang="en-US" altLang="zh-CN" sz="2400" dirty="0" smtClean="0">
                <a:solidFill>
                  <a:schemeClr val="tx1"/>
                </a:solidFill>
                <a:latin typeface="Times New Roman" panose="02020603050405020304" pitchFamily="18" charset="0"/>
                <a:ea typeface="楷体_GB2312" pitchFamily="49" charset="-122"/>
                <a:cs typeface="+mn-ea"/>
                <a:sym typeface="+mn-ea"/>
              </a:rPr>
              <a:t>heavily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D) </a:t>
            </a:r>
            <a:r>
              <a:rPr lang="en-US" altLang="zh-CN" sz="2400" dirty="0" smtClean="0">
                <a:solidFill>
                  <a:schemeClr val="tx1"/>
                </a:solidFill>
                <a:latin typeface="Times New Roman" panose="02020603050405020304" pitchFamily="18" charset="0"/>
                <a:ea typeface="楷体_GB2312" pitchFamily="49" charset="-122"/>
                <a:cs typeface="+mn-ea"/>
                <a:sym typeface="+mn-ea"/>
              </a:rPr>
              <a:t>heaving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E) </a:t>
            </a:r>
            <a:r>
              <a:rPr lang="en-US" altLang="zh-CN" sz="2400" dirty="0" smtClean="0">
                <a:solidFill>
                  <a:schemeClr val="tx1"/>
                </a:solidFill>
                <a:latin typeface="Times New Roman" panose="02020603050405020304" pitchFamily="18" charset="0"/>
                <a:ea typeface="楷体_GB2312" pitchFamily="49" charset="-122"/>
                <a:cs typeface="+mn-ea"/>
                <a:sym typeface="+mn-ea"/>
              </a:rPr>
              <a:t>hospitalized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p:txBody>
      </p:sp>
      <p:sp>
        <p:nvSpPr>
          <p:cNvPr id="2" name="文本框 1"/>
          <p:cNvSpPr txBox="1"/>
          <p:nvPr/>
        </p:nvSpPr>
        <p:spPr>
          <a:xfrm>
            <a:off x="4249420" y="255905"/>
            <a:ext cx="2811780" cy="1938020"/>
          </a:xfrm>
          <a:prstGeom prst="rect">
            <a:avLst/>
          </a:prstGeom>
          <a:noFill/>
        </p:spPr>
        <p:txBody>
          <a:bodyPr wrap="square" rtlCol="0" anchor="t">
            <a:spAutoFit/>
          </a:bodyPr>
          <a:lstStyle/>
          <a:p>
            <a:pPr>
              <a:defRPr/>
            </a:pPr>
            <a:r>
              <a:rPr lang="en-US" altLang="zh-CN" sz="2400" dirty="0">
                <a:solidFill>
                  <a:schemeClr val="tx1"/>
                </a:solidFill>
                <a:latin typeface="Times New Roman" panose="02020603050405020304" pitchFamily="18" charset="0"/>
                <a:ea typeface="楷体_GB2312" pitchFamily="49" charset="-122"/>
                <a:cs typeface="+mn-ea"/>
                <a:sym typeface="+mn-ea"/>
              </a:rPr>
              <a:t>F) </a:t>
            </a:r>
            <a:r>
              <a:rPr lang="en-US" altLang="zh-CN" sz="2400" dirty="0" smtClean="0">
                <a:solidFill>
                  <a:schemeClr val="tx1"/>
                </a:solidFill>
                <a:latin typeface="Times New Roman" panose="02020603050405020304" pitchFamily="18" charset="0"/>
                <a:ea typeface="楷体_GB2312" pitchFamily="49" charset="-122"/>
                <a:cs typeface="+mn-ea"/>
                <a:sym typeface="+mn-ea"/>
              </a:rPr>
              <a:t>labeled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G) legacies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ea typeface="楷体_GB2312" pitchFamily="49" charset="-122"/>
                <a:cs typeface="+mn-ea"/>
                <a:sym typeface="+mn-ea"/>
              </a:rPr>
              <a:t> </a:t>
            </a:r>
            <a:endParaRPr lang="en-US" altLang="zh-CN" sz="2400" dirty="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a:solidFill>
                  <a:schemeClr val="tx1"/>
                </a:solidFill>
                <a:latin typeface="Times New Roman" panose="02020603050405020304" pitchFamily="18" charset="0"/>
                <a:ea typeface="楷体_GB2312" pitchFamily="49" charset="-122"/>
                <a:cs typeface="+mn-ea"/>
                <a:sym typeface="+mn-ea"/>
              </a:rPr>
              <a:t>H) </a:t>
            </a:r>
            <a:r>
              <a:rPr lang="en-US" altLang="zh-CN" sz="2400" dirty="0" smtClean="0">
                <a:solidFill>
                  <a:schemeClr val="tx1"/>
                </a:solidFill>
                <a:latin typeface="Times New Roman" panose="02020603050405020304" pitchFamily="18" charset="0"/>
                <a:ea typeface="楷体_GB2312" pitchFamily="49" charset="-122"/>
                <a:cs typeface="+mn-ea"/>
                <a:sym typeface="+mn-ea"/>
              </a:rPr>
              <a:t>mastering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sym typeface="+mn-ea"/>
              </a:rPr>
              <a:t>I) </a:t>
            </a:r>
            <a:r>
              <a:rPr lang="en-US" altLang="zh-CN" sz="2400" dirty="0" smtClean="0">
                <a:solidFill>
                  <a:schemeClr val="tx1"/>
                </a:solidFill>
                <a:latin typeface="Times New Roman" panose="02020603050405020304" pitchFamily="18" charset="0"/>
                <a:sym typeface="+mn-ea"/>
              </a:rPr>
              <a:t>momentum   </a:t>
            </a:r>
            <a:endParaRPr lang="en-US" altLang="zh-CN" sz="2400" dirty="0" smtClean="0">
              <a:solidFill>
                <a:schemeClr val="tx1"/>
              </a:solidFill>
              <a:latin typeface="Times New Roman" panose="02020603050405020304" pitchFamily="18" charset="0"/>
              <a:sym typeface="+mn-ea"/>
            </a:endParaRPr>
          </a:p>
          <a:p>
            <a:pPr>
              <a:defRPr/>
            </a:pPr>
            <a:r>
              <a:rPr lang="en-US" altLang="zh-CN" sz="2400" dirty="0">
                <a:solidFill>
                  <a:schemeClr val="tx1"/>
                </a:solidFill>
                <a:latin typeface="Times New Roman" panose="02020603050405020304" pitchFamily="18" charset="0"/>
                <a:sym typeface="+mn-ea"/>
              </a:rPr>
              <a:t>J) </a:t>
            </a:r>
            <a:r>
              <a:rPr lang="en-US" altLang="zh-CN" sz="2400" dirty="0" smtClean="0">
                <a:solidFill>
                  <a:schemeClr val="tx1"/>
                </a:solidFill>
                <a:latin typeface="Times New Roman" panose="02020603050405020304" pitchFamily="18" charset="0"/>
                <a:sym typeface="+mn-ea"/>
              </a:rPr>
              <a:t>obsessed </a:t>
            </a:r>
            <a:endParaRPr lang="zh-CN" altLang="en-US" sz="2400"/>
          </a:p>
        </p:txBody>
      </p:sp>
      <p:sp>
        <p:nvSpPr>
          <p:cNvPr id="4" name="文本框 3"/>
          <p:cNvSpPr txBox="1"/>
          <p:nvPr/>
        </p:nvSpPr>
        <p:spPr>
          <a:xfrm>
            <a:off x="7601585" y="255905"/>
            <a:ext cx="3416935" cy="1938020"/>
          </a:xfrm>
          <a:prstGeom prst="rect">
            <a:avLst/>
          </a:prstGeom>
          <a:noFill/>
        </p:spPr>
        <p:txBody>
          <a:bodyPr wrap="square" rtlCol="0">
            <a:spAutoFit/>
          </a:bodyPr>
          <a:lstStyle>
            <a:defPPr>
              <a:defRPr lang="en-US"/>
            </a:defPPr>
            <a:lvl1pPr>
              <a:defRPr sz="2400">
                <a:solidFill>
                  <a:srgbClr val="002060"/>
                </a:solidFill>
                <a:latin typeface="Times New Roman" panose="02020603050405020304" pitchFamily="18" charset="0"/>
                <a:ea typeface="楷体_GB2312" pitchFamily="49" charset="-122"/>
                <a:cs typeface="+mn-ea"/>
              </a:defRPr>
            </a:lvl1pPr>
          </a:lstStyle>
          <a:p>
            <a:r>
              <a:rPr lang="en-US" altLang="zh-CN" dirty="0">
                <a:solidFill>
                  <a:schemeClr val="tx1"/>
                </a:solidFill>
              </a:rPr>
              <a:t>K) </a:t>
            </a:r>
            <a:r>
              <a:rPr lang="en-US" altLang="zh-CN" dirty="0" smtClean="0">
                <a:solidFill>
                  <a:schemeClr val="tx1"/>
                </a:solidFill>
              </a:rPr>
              <a:t>potential  </a:t>
            </a:r>
            <a:endParaRPr lang="en-US" altLang="zh-CN" dirty="0" smtClean="0">
              <a:solidFill>
                <a:schemeClr val="tx1"/>
              </a:solidFill>
            </a:endParaRPr>
          </a:p>
          <a:p>
            <a:r>
              <a:rPr lang="en-US" altLang="zh-CN" dirty="0">
                <a:solidFill>
                  <a:schemeClr val="tx1"/>
                </a:solidFill>
              </a:rPr>
              <a:t>L) </a:t>
            </a:r>
            <a:r>
              <a:rPr lang="en-US" altLang="zh-CN" dirty="0" smtClean="0">
                <a:solidFill>
                  <a:schemeClr val="tx1"/>
                </a:solidFill>
              </a:rPr>
              <a:t>realms  </a:t>
            </a:r>
            <a:endParaRPr lang="en-US" altLang="zh-CN" dirty="0" smtClean="0">
              <a:solidFill>
                <a:schemeClr val="tx1"/>
              </a:solidFill>
            </a:endParaRPr>
          </a:p>
          <a:p>
            <a:r>
              <a:rPr lang="en-US" altLang="zh-CN" dirty="0">
                <a:solidFill>
                  <a:schemeClr val="tx1"/>
                </a:solidFill>
              </a:rPr>
              <a:t>M) </a:t>
            </a:r>
            <a:r>
              <a:rPr lang="en-US" altLang="zh-CN" dirty="0" smtClean="0">
                <a:solidFill>
                  <a:schemeClr val="tx1"/>
                </a:solidFill>
              </a:rPr>
              <a:t>reciprocal   </a:t>
            </a:r>
            <a:endParaRPr lang="en-US" altLang="zh-CN" dirty="0" smtClean="0">
              <a:solidFill>
                <a:schemeClr val="tx1"/>
              </a:solidFill>
            </a:endParaRPr>
          </a:p>
          <a:p>
            <a:r>
              <a:rPr lang="en-US" altLang="zh-CN" dirty="0">
                <a:solidFill>
                  <a:schemeClr val="tx1"/>
                </a:solidFill>
              </a:rPr>
              <a:t>N) </a:t>
            </a:r>
            <a:r>
              <a:rPr lang="en-US" altLang="zh-CN" dirty="0" smtClean="0">
                <a:solidFill>
                  <a:schemeClr val="tx1"/>
                </a:solidFill>
              </a:rPr>
              <a:t>ruin  </a:t>
            </a:r>
            <a:endParaRPr lang="en-US" altLang="zh-CN" dirty="0" smtClean="0">
              <a:solidFill>
                <a:schemeClr val="tx1"/>
              </a:solidFill>
            </a:endParaRPr>
          </a:p>
          <a:p>
            <a:r>
              <a:rPr lang="en-US" altLang="zh-CN" dirty="0">
                <a:solidFill>
                  <a:schemeClr val="tx1"/>
                </a:solidFill>
              </a:rPr>
              <a:t>O) </a:t>
            </a:r>
            <a:r>
              <a:rPr lang="en-US" altLang="zh-CN" dirty="0" smtClean="0">
                <a:solidFill>
                  <a:schemeClr val="tx1"/>
                </a:solidFill>
              </a:rPr>
              <a:t>viciously </a:t>
            </a:r>
            <a:endParaRPr lang="en-US" altLang="zh-CN" dirty="0" smtClean="0">
              <a:solidFill>
                <a:schemeClr val="tx1"/>
              </a:solidFill>
            </a:endParaRPr>
          </a:p>
        </p:txBody>
      </p:sp>
      <p:sp>
        <p:nvSpPr>
          <p:cNvPr id="5" name="文本框 4"/>
          <p:cNvSpPr txBox="1"/>
          <p:nvPr/>
        </p:nvSpPr>
        <p:spPr>
          <a:xfrm>
            <a:off x="4500880" y="2864485"/>
            <a:ext cx="1461135" cy="460375"/>
          </a:xfrm>
          <a:prstGeom prst="rect">
            <a:avLst/>
          </a:prstGeom>
          <a:noFill/>
        </p:spPr>
        <p:txBody>
          <a:bodyPr wrap="none" rtlCol="0" anchor="t">
            <a:spAutoFit/>
          </a:bodyPr>
          <a:lstStyle/>
          <a:p>
            <a:r>
              <a:rPr lang="en-US" altLang="zh-CN" sz="2400" b="1" dirty="0">
                <a:solidFill>
                  <a:srgbClr val="C00000"/>
                </a:solidFill>
                <a:latin typeface="Times New Roman" panose="02020603050405020304" pitchFamily="18" charset="0"/>
                <a:ea typeface="楷体_GB2312" pitchFamily="49" charset="-122"/>
                <a:cs typeface="+mn-ea"/>
                <a:sym typeface="+mn-ea"/>
              </a:rPr>
              <a:t>B) </a:t>
            </a:r>
            <a:r>
              <a:rPr lang="en-US" altLang="zh-CN" sz="2400" b="1" dirty="0" smtClean="0">
                <a:solidFill>
                  <a:srgbClr val="C00000"/>
                </a:solidFill>
                <a:latin typeface="Times New Roman" panose="02020603050405020304" pitchFamily="18" charset="0"/>
                <a:ea typeface="楷体_GB2312" pitchFamily="49" charset="-122"/>
                <a:cs typeface="+mn-ea"/>
                <a:sym typeface="+mn-ea"/>
              </a:rPr>
              <a:t>fatigue</a:t>
            </a:r>
            <a:endParaRPr lang="en-US" altLang="zh-CN" sz="2400" b="1" dirty="0" smtClean="0">
              <a:solidFill>
                <a:srgbClr val="C00000"/>
              </a:solidFill>
              <a:latin typeface="Times New Roman" panose="02020603050405020304" pitchFamily="18" charset="0"/>
              <a:ea typeface="楷体_GB2312" pitchFamily="49" charset="-122"/>
              <a:cs typeface="+mn-ea"/>
              <a:sym typeface="+mn-ea"/>
            </a:endParaRPr>
          </a:p>
        </p:txBody>
      </p:sp>
      <p:sp>
        <p:nvSpPr>
          <p:cNvPr id="6" name="文本框 5"/>
          <p:cNvSpPr txBox="1"/>
          <p:nvPr/>
        </p:nvSpPr>
        <p:spPr>
          <a:xfrm>
            <a:off x="9931400" y="3324860"/>
            <a:ext cx="2197735" cy="460375"/>
          </a:xfrm>
          <a:prstGeom prst="rect">
            <a:avLst/>
          </a:prstGeom>
          <a:noFill/>
        </p:spPr>
        <p:txBody>
          <a:bodyPr wrap="none" rtlCol="0" anchor="t">
            <a:spAutoFit/>
          </a:bodyPr>
          <a:lstStyle/>
          <a:p>
            <a:r>
              <a:rPr lang="en-US" altLang="zh-CN" sz="2400" b="1" dirty="0">
                <a:solidFill>
                  <a:srgbClr val="C00000"/>
                </a:solidFill>
                <a:latin typeface="Times New Roman" panose="02020603050405020304" pitchFamily="18" charset="0"/>
                <a:ea typeface="楷体_GB2312" pitchFamily="49" charset="-122"/>
                <a:cs typeface="+mn-ea"/>
                <a:sym typeface="+mn-ea"/>
              </a:rPr>
              <a:t>E) </a:t>
            </a:r>
            <a:r>
              <a:rPr lang="en-US" altLang="zh-CN" sz="2400" b="1" dirty="0" smtClean="0">
                <a:solidFill>
                  <a:srgbClr val="C00000"/>
                </a:solidFill>
                <a:latin typeface="Times New Roman" panose="02020603050405020304" pitchFamily="18" charset="0"/>
                <a:ea typeface="楷体_GB2312" pitchFamily="49" charset="-122"/>
                <a:cs typeface="+mn-ea"/>
                <a:sym typeface="+mn-ea"/>
              </a:rPr>
              <a:t>hospitalized </a:t>
            </a:r>
            <a:endParaRPr lang="en-US" altLang="zh-CN" sz="2400" b="1" dirty="0" smtClean="0">
              <a:solidFill>
                <a:srgbClr val="C00000"/>
              </a:solidFill>
              <a:latin typeface="Times New Roman" panose="02020603050405020304" pitchFamily="18" charset="0"/>
              <a:ea typeface="楷体_GB2312" pitchFamily="49" charset="-122"/>
              <a:cs typeface="+mn-ea"/>
              <a:sym typeface="+mn-ea"/>
            </a:endParaRPr>
          </a:p>
        </p:txBody>
      </p:sp>
      <p:sp>
        <p:nvSpPr>
          <p:cNvPr id="8" name="文本框 7"/>
          <p:cNvSpPr txBox="1"/>
          <p:nvPr/>
        </p:nvSpPr>
        <p:spPr>
          <a:xfrm>
            <a:off x="10497820" y="5111750"/>
            <a:ext cx="1631315" cy="460375"/>
          </a:xfrm>
          <a:prstGeom prst="rect">
            <a:avLst/>
          </a:prstGeom>
          <a:noFill/>
        </p:spPr>
        <p:txBody>
          <a:bodyPr wrap="none" rtlCol="0" anchor="t">
            <a:spAutoFit/>
          </a:bodyPr>
          <a:lstStyle/>
          <a:p>
            <a:r>
              <a:rPr lang="en-US" altLang="zh-CN" sz="2400" b="1" dirty="0">
                <a:solidFill>
                  <a:srgbClr val="C00000"/>
                </a:solidFill>
                <a:latin typeface="Times New Roman" panose="02020603050405020304" pitchFamily="18" charset="0"/>
                <a:sym typeface="+mn-ea"/>
              </a:rPr>
              <a:t>J) </a:t>
            </a:r>
            <a:r>
              <a:rPr lang="en-US" altLang="zh-CN" sz="2400" b="1" dirty="0" smtClean="0">
                <a:solidFill>
                  <a:srgbClr val="C00000"/>
                </a:solidFill>
                <a:latin typeface="Times New Roman" panose="02020603050405020304" pitchFamily="18" charset="0"/>
                <a:sym typeface="+mn-ea"/>
              </a:rPr>
              <a:t>obsessed</a:t>
            </a:r>
            <a:endParaRPr lang="en-US" altLang="zh-CN" sz="2400" b="1" dirty="0" smtClean="0">
              <a:solidFill>
                <a:srgbClr val="C00000"/>
              </a:solidFill>
              <a:latin typeface="Times New Roman" panose="02020603050405020304" pitchFamily="18" charset="0"/>
              <a:sym typeface="+mn-ea"/>
            </a:endParaRPr>
          </a:p>
        </p:txBody>
      </p:sp>
      <p:sp>
        <p:nvSpPr>
          <p:cNvPr id="9" name="文本框 8"/>
          <p:cNvSpPr txBox="1"/>
          <p:nvPr/>
        </p:nvSpPr>
        <p:spPr>
          <a:xfrm>
            <a:off x="7061200" y="6032500"/>
            <a:ext cx="1477645" cy="460375"/>
          </a:xfrm>
          <a:prstGeom prst="rect">
            <a:avLst/>
          </a:prstGeom>
          <a:noFill/>
        </p:spPr>
        <p:txBody>
          <a:bodyPr wrap="none" rtlCol="0" anchor="t">
            <a:spAutoFit/>
          </a:bodyPr>
          <a:lstStyle/>
          <a:p>
            <a:r>
              <a:rPr lang="en-US" altLang="zh-CN" sz="2400" b="1" dirty="0">
                <a:solidFill>
                  <a:srgbClr val="C00000"/>
                </a:solidFill>
                <a:latin typeface="Times New Roman" panose="02020603050405020304" pitchFamily="18" charset="0"/>
                <a:ea typeface="楷体_GB2312" pitchFamily="49" charset="-122"/>
                <a:cs typeface="+mn-ea"/>
                <a:sym typeface="+mn-ea"/>
              </a:rPr>
              <a:t>F) </a:t>
            </a:r>
            <a:r>
              <a:rPr lang="en-US" altLang="zh-CN" sz="2400" b="1" dirty="0" smtClean="0">
                <a:solidFill>
                  <a:srgbClr val="C00000"/>
                </a:solidFill>
                <a:latin typeface="Times New Roman" panose="02020603050405020304" pitchFamily="18" charset="0"/>
                <a:ea typeface="楷体_GB2312" pitchFamily="49" charset="-122"/>
                <a:cs typeface="+mn-ea"/>
                <a:sym typeface="+mn-ea"/>
              </a:rPr>
              <a:t>labeled</a:t>
            </a:r>
            <a:endParaRPr lang="en-US" altLang="zh-CN" sz="2400" b="1" dirty="0" smtClean="0">
              <a:solidFill>
                <a:srgbClr val="C00000"/>
              </a:solidFill>
              <a:latin typeface="Times New Roman" panose="02020603050405020304" pitchFamily="18" charset="0"/>
              <a:ea typeface="楷体_GB2312" pitchFamily="49" charset="-122"/>
              <a:cs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500" y="2193925"/>
            <a:ext cx="12065635" cy="4234815"/>
          </a:xfrm>
        </p:spPr>
        <p:txBody>
          <a:bodyPr>
            <a:normAutofit/>
          </a:bodyPr>
          <a:lstStyle/>
          <a:p>
            <a:pPr marL="0" indent="0">
              <a:lnSpc>
                <a:spcPct val="150000"/>
              </a:lnSpc>
              <a:buNone/>
            </a:pPr>
            <a:r>
              <a:rPr lang="en-US" altLang="zh-CN" sz="2800" dirty="0" smtClean="0">
                <a:solidFill>
                  <a:schemeClr val="tx1"/>
                </a:solidFill>
                <a:latin typeface="Times New Roman" panose="02020603050405020304" pitchFamily="18" charset="0"/>
                <a:sym typeface="+mn-ea"/>
              </a:rPr>
              <a:t>they constanty develop one handicap or another in order to explain away failure.</a:t>
            </a:r>
            <a:endParaRPr lang="en-US" altLang="zh-CN" sz="2800" dirty="0" smtClean="0">
              <a:solidFill>
                <a:schemeClr val="tx1"/>
              </a:solidFill>
              <a:latin typeface="Times New Roman" panose="02020603050405020304" pitchFamily="18" charset="0"/>
              <a:sym typeface="+mn-ea"/>
            </a:endParaRPr>
          </a:p>
          <a:p>
            <a:pPr marL="0" indent="0">
              <a:lnSpc>
                <a:spcPct val="150000"/>
              </a:lnSpc>
              <a:buNone/>
            </a:pPr>
            <a:r>
              <a:rPr lang="en-US" altLang="zh-CN" sz="2800" dirty="0" smtClean="0">
                <a:solidFill>
                  <a:schemeClr val="tx1"/>
                </a:solidFill>
                <a:latin typeface="Times New Roman" panose="02020603050405020304" pitchFamily="18" charset="0"/>
                <a:sym typeface="+mn-ea"/>
              </a:rPr>
              <a:t>   Though self-handicapping can be an effective way of coping with performance anxiety now and then, in the end, researchers say, it will lead to ______ . In the long run, excuse makers fail to live up to their true ________ and lose the status they care so much about. And despite their protests to the _________, they have only themselves to blame.</a:t>
            </a:r>
            <a:endParaRPr lang="en-US" altLang="zh-CN" sz="2800" dirty="0" smtClean="0">
              <a:solidFill>
                <a:schemeClr val="tx1"/>
              </a:solidFill>
              <a:latin typeface="Times New Roman" panose="02020603050405020304" pitchFamily="18" charset="0"/>
              <a:ea typeface="宋体" panose="02010600030101010101" pitchFamily="2" charset="-122"/>
              <a:sym typeface="+mn-ea"/>
            </a:endParaRPr>
          </a:p>
          <a:p>
            <a:pPr marL="0" indent="0">
              <a:buNone/>
            </a:pPr>
            <a:endParaRPr lang="zh-CN" altLang="en-US" sz="2800" dirty="0">
              <a:latin typeface="Times New Roman" panose="02020603050405020304" pitchFamily="18" charset="0"/>
            </a:endParaRPr>
          </a:p>
          <a:p>
            <a:pPr marL="0" indent="0">
              <a:buNone/>
            </a:pPr>
            <a:endParaRPr lang="en-US" altLang="zh-CN" sz="2400"/>
          </a:p>
        </p:txBody>
      </p:sp>
      <p:sp>
        <p:nvSpPr>
          <p:cNvPr id="7" name="矩形 6"/>
          <p:cNvSpPr/>
          <p:nvPr/>
        </p:nvSpPr>
        <p:spPr>
          <a:xfrm>
            <a:off x="1246505" y="223520"/>
            <a:ext cx="9885045" cy="2002790"/>
          </a:xfrm>
          <a:prstGeom prst="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en-US" altLang="zh-CN" sz="2400" dirty="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A) </a:t>
            </a:r>
            <a:r>
              <a:rPr lang="en-US" altLang="zh-CN" sz="2400" dirty="0" smtClean="0">
                <a:solidFill>
                  <a:schemeClr val="tx1"/>
                </a:solidFill>
                <a:latin typeface="Times New Roman" panose="02020603050405020304" pitchFamily="18" charset="0"/>
                <a:ea typeface="楷体_GB2312" pitchFamily="49" charset="-122"/>
                <a:cs typeface="+mn-ea"/>
                <a:sym typeface="+mn-ea"/>
              </a:rPr>
              <a:t>contrary</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B) </a:t>
            </a:r>
            <a:r>
              <a:rPr lang="en-US" altLang="zh-CN" sz="2400" dirty="0" smtClean="0">
                <a:solidFill>
                  <a:schemeClr val="tx1"/>
                </a:solidFill>
                <a:latin typeface="Times New Roman" panose="02020603050405020304" pitchFamily="18" charset="0"/>
                <a:ea typeface="楷体_GB2312" pitchFamily="49" charset="-122"/>
                <a:cs typeface="+mn-ea"/>
                <a:sym typeface="+mn-ea"/>
              </a:rPr>
              <a:t>fatigue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C) </a:t>
            </a:r>
            <a:r>
              <a:rPr lang="en-US" altLang="zh-CN" sz="2400" dirty="0" smtClean="0">
                <a:solidFill>
                  <a:schemeClr val="tx1"/>
                </a:solidFill>
                <a:latin typeface="Times New Roman" panose="02020603050405020304" pitchFamily="18" charset="0"/>
                <a:ea typeface="楷体_GB2312" pitchFamily="49" charset="-122"/>
                <a:cs typeface="+mn-ea"/>
                <a:sym typeface="+mn-ea"/>
              </a:rPr>
              <a:t>heavily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D) </a:t>
            </a:r>
            <a:r>
              <a:rPr lang="en-US" altLang="zh-CN" sz="2400" dirty="0" smtClean="0">
                <a:solidFill>
                  <a:schemeClr val="tx1"/>
                </a:solidFill>
                <a:latin typeface="Times New Roman" panose="02020603050405020304" pitchFamily="18" charset="0"/>
                <a:ea typeface="楷体_GB2312" pitchFamily="49" charset="-122"/>
                <a:cs typeface="+mn-ea"/>
                <a:sym typeface="+mn-ea"/>
              </a:rPr>
              <a:t>heaving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E) </a:t>
            </a:r>
            <a:r>
              <a:rPr lang="en-US" altLang="zh-CN" sz="2400" dirty="0" smtClean="0">
                <a:solidFill>
                  <a:schemeClr val="tx1"/>
                </a:solidFill>
                <a:latin typeface="Times New Roman" panose="02020603050405020304" pitchFamily="18" charset="0"/>
                <a:ea typeface="楷体_GB2312" pitchFamily="49" charset="-122"/>
                <a:cs typeface="+mn-ea"/>
                <a:sym typeface="+mn-ea"/>
              </a:rPr>
              <a:t>hospitalized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p:txBody>
      </p:sp>
      <p:sp>
        <p:nvSpPr>
          <p:cNvPr id="2" name="文本框 1"/>
          <p:cNvSpPr txBox="1"/>
          <p:nvPr/>
        </p:nvSpPr>
        <p:spPr>
          <a:xfrm>
            <a:off x="4249420" y="255905"/>
            <a:ext cx="2811780" cy="1938020"/>
          </a:xfrm>
          <a:prstGeom prst="rect">
            <a:avLst/>
          </a:prstGeom>
          <a:noFill/>
        </p:spPr>
        <p:txBody>
          <a:bodyPr wrap="square" rtlCol="0" anchor="t">
            <a:spAutoFit/>
          </a:bodyPr>
          <a:lstStyle/>
          <a:p>
            <a:pPr>
              <a:defRPr/>
            </a:pPr>
            <a:r>
              <a:rPr lang="en-US" altLang="zh-CN" sz="2400" dirty="0">
                <a:solidFill>
                  <a:schemeClr val="tx1"/>
                </a:solidFill>
                <a:latin typeface="Times New Roman" panose="02020603050405020304" pitchFamily="18" charset="0"/>
                <a:ea typeface="楷体_GB2312" pitchFamily="49" charset="-122"/>
                <a:cs typeface="+mn-ea"/>
                <a:sym typeface="+mn-ea"/>
              </a:rPr>
              <a:t>F) </a:t>
            </a:r>
            <a:r>
              <a:rPr lang="en-US" altLang="zh-CN" sz="2400" dirty="0" smtClean="0">
                <a:solidFill>
                  <a:schemeClr val="tx1"/>
                </a:solidFill>
                <a:latin typeface="Times New Roman" panose="02020603050405020304" pitchFamily="18" charset="0"/>
                <a:ea typeface="楷体_GB2312" pitchFamily="49" charset="-122"/>
                <a:cs typeface="+mn-ea"/>
                <a:sym typeface="+mn-ea"/>
              </a:rPr>
              <a:t>labeled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G) legacies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ea typeface="楷体_GB2312" pitchFamily="49" charset="-122"/>
                <a:cs typeface="+mn-ea"/>
                <a:sym typeface="+mn-ea"/>
              </a:rPr>
              <a:t> </a:t>
            </a:r>
            <a:endParaRPr lang="en-US" altLang="zh-CN" sz="2400" dirty="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a:solidFill>
                  <a:schemeClr val="tx1"/>
                </a:solidFill>
                <a:latin typeface="Times New Roman" panose="02020603050405020304" pitchFamily="18" charset="0"/>
                <a:ea typeface="楷体_GB2312" pitchFamily="49" charset="-122"/>
                <a:cs typeface="+mn-ea"/>
                <a:sym typeface="+mn-ea"/>
              </a:rPr>
              <a:t>H) </a:t>
            </a:r>
            <a:r>
              <a:rPr lang="en-US" altLang="zh-CN" sz="2400" dirty="0" smtClean="0">
                <a:solidFill>
                  <a:schemeClr val="tx1"/>
                </a:solidFill>
                <a:latin typeface="Times New Roman" panose="02020603050405020304" pitchFamily="18" charset="0"/>
                <a:ea typeface="楷体_GB2312" pitchFamily="49" charset="-122"/>
                <a:cs typeface="+mn-ea"/>
                <a:sym typeface="+mn-ea"/>
              </a:rPr>
              <a:t>mastering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sym typeface="+mn-ea"/>
              </a:rPr>
              <a:t>I) </a:t>
            </a:r>
            <a:r>
              <a:rPr lang="en-US" altLang="zh-CN" sz="2400" dirty="0" smtClean="0">
                <a:solidFill>
                  <a:schemeClr val="tx1"/>
                </a:solidFill>
                <a:latin typeface="Times New Roman" panose="02020603050405020304" pitchFamily="18" charset="0"/>
                <a:sym typeface="+mn-ea"/>
              </a:rPr>
              <a:t>momentum   </a:t>
            </a:r>
            <a:endParaRPr lang="en-US" altLang="zh-CN" sz="2400" dirty="0" smtClean="0">
              <a:solidFill>
                <a:schemeClr val="tx1"/>
              </a:solidFill>
              <a:latin typeface="Times New Roman" panose="02020603050405020304" pitchFamily="18" charset="0"/>
              <a:sym typeface="+mn-ea"/>
            </a:endParaRPr>
          </a:p>
          <a:p>
            <a:pPr>
              <a:defRPr/>
            </a:pPr>
            <a:r>
              <a:rPr lang="en-US" altLang="zh-CN" sz="2400" dirty="0">
                <a:solidFill>
                  <a:schemeClr val="tx1"/>
                </a:solidFill>
                <a:latin typeface="Times New Roman" panose="02020603050405020304" pitchFamily="18" charset="0"/>
                <a:sym typeface="+mn-ea"/>
              </a:rPr>
              <a:t>J) </a:t>
            </a:r>
            <a:r>
              <a:rPr lang="en-US" altLang="zh-CN" sz="2400" dirty="0" smtClean="0">
                <a:solidFill>
                  <a:schemeClr val="tx1"/>
                </a:solidFill>
                <a:latin typeface="Times New Roman" panose="02020603050405020304" pitchFamily="18" charset="0"/>
                <a:sym typeface="+mn-ea"/>
              </a:rPr>
              <a:t>obsessed </a:t>
            </a:r>
            <a:endParaRPr lang="zh-CN" altLang="en-US" sz="2400"/>
          </a:p>
        </p:txBody>
      </p:sp>
      <p:sp>
        <p:nvSpPr>
          <p:cNvPr id="4" name="文本框 3"/>
          <p:cNvSpPr txBox="1"/>
          <p:nvPr/>
        </p:nvSpPr>
        <p:spPr>
          <a:xfrm>
            <a:off x="7601585" y="255905"/>
            <a:ext cx="3416935" cy="1938020"/>
          </a:xfrm>
          <a:prstGeom prst="rect">
            <a:avLst/>
          </a:prstGeom>
          <a:noFill/>
        </p:spPr>
        <p:txBody>
          <a:bodyPr wrap="square" rtlCol="0">
            <a:spAutoFit/>
          </a:bodyPr>
          <a:lstStyle>
            <a:defPPr>
              <a:defRPr lang="en-US"/>
            </a:defPPr>
            <a:lvl1pPr>
              <a:defRPr sz="2400">
                <a:solidFill>
                  <a:srgbClr val="002060"/>
                </a:solidFill>
                <a:latin typeface="Times New Roman" panose="02020603050405020304" pitchFamily="18" charset="0"/>
                <a:ea typeface="楷体_GB2312" pitchFamily="49" charset="-122"/>
                <a:cs typeface="+mn-ea"/>
              </a:defRPr>
            </a:lvl1pPr>
          </a:lstStyle>
          <a:p>
            <a:r>
              <a:rPr lang="en-US" altLang="zh-CN" dirty="0">
                <a:solidFill>
                  <a:schemeClr val="tx1"/>
                </a:solidFill>
              </a:rPr>
              <a:t>K) </a:t>
            </a:r>
            <a:r>
              <a:rPr lang="en-US" altLang="zh-CN" dirty="0" smtClean="0">
                <a:solidFill>
                  <a:schemeClr val="tx1"/>
                </a:solidFill>
              </a:rPr>
              <a:t>potential  </a:t>
            </a:r>
            <a:endParaRPr lang="en-US" altLang="zh-CN" dirty="0" smtClean="0">
              <a:solidFill>
                <a:schemeClr val="tx1"/>
              </a:solidFill>
            </a:endParaRPr>
          </a:p>
          <a:p>
            <a:r>
              <a:rPr lang="en-US" altLang="zh-CN" dirty="0">
                <a:solidFill>
                  <a:schemeClr val="tx1"/>
                </a:solidFill>
              </a:rPr>
              <a:t>L) </a:t>
            </a:r>
            <a:r>
              <a:rPr lang="en-US" altLang="zh-CN" dirty="0" smtClean="0">
                <a:solidFill>
                  <a:schemeClr val="tx1"/>
                </a:solidFill>
              </a:rPr>
              <a:t>realms  </a:t>
            </a:r>
            <a:endParaRPr lang="en-US" altLang="zh-CN" dirty="0" smtClean="0">
              <a:solidFill>
                <a:schemeClr val="tx1"/>
              </a:solidFill>
            </a:endParaRPr>
          </a:p>
          <a:p>
            <a:r>
              <a:rPr lang="en-US" altLang="zh-CN" dirty="0">
                <a:solidFill>
                  <a:schemeClr val="tx1"/>
                </a:solidFill>
              </a:rPr>
              <a:t>M) </a:t>
            </a:r>
            <a:r>
              <a:rPr lang="en-US" altLang="zh-CN" dirty="0" smtClean="0">
                <a:solidFill>
                  <a:schemeClr val="tx1"/>
                </a:solidFill>
              </a:rPr>
              <a:t>reciprocal   </a:t>
            </a:r>
            <a:endParaRPr lang="en-US" altLang="zh-CN" dirty="0" smtClean="0">
              <a:solidFill>
                <a:schemeClr val="tx1"/>
              </a:solidFill>
            </a:endParaRPr>
          </a:p>
          <a:p>
            <a:r>
              <a:rPr lang="en-US" altLang="zh-CN" dirty="0">
                <a:solidFill>
                  <a:schemeClr val="tx1"/>
                </a:solidFill>
              </a:rPr>
              <a:t>N) </a:t>
            </a:r>
            <a:r>
              <a:rPr lang="en-US" altLang="zh-CN" dirty="0" smtClean="0">
                <a:solidFill>
                  <a:schemeClr val="tx1"/>
                </a:solidFill>
              </a:rPr>
              <a:t>ruin  </a:t>
            </a:r>
            <a:endParaRPr lang="en-US" altLang="zh-CN" dirty="0" smtClean="0">
              <a:solidFill>
                <a:schemeClr val="tx1"/>
              </a:solidFill>
            </a:endParaRPr>
          </a:p>
          <a:p>
            <a:r>
              <a:rPr lang="en-US" altLang="zh-CN" dirty="0">
                <a:solidFill>
                  <a:schemeClr val="tx1"/>
                </a:solidFill>
              </a:rPr>
              <a:t>O) </a:t>
            </a:r>
            <a:r>
              <a:rPr lang="en-US" altLang="zh-CN" dirty="0" smtClean="0">
                <a:solidFill>
                  <a:schemeClr val="tx1"/>
                </a:solidFill>
              </a:rPr>
              <a:t>viciously </a:t>
            </a:r>
            <a:endParaRPr lang="en-US" altLang="zh-CN" dirty="0" smtClean="0">
              <a:solidFill>
                <a:schemeClr val="tx1"/>
              </a:solidFill>
            </a:endParaRPr>
          </a:p>
        </p:txBody>
      </p:sp>
      <p:sp>
        <p:nvSpPr>
          <p:cNvPr id="5" name="文本框 4"/>
          <p:cNvSpPr txBox="1"/>
          <p:nvPr/>
        </p:nvSpPr>
        <p:spPr>
          <a:xfrm>
            <a:off x="9219565" y="3686810"/>
            <a:ext cx="1059180" cy="460375"/>
          </a:xfrm>
          <a:prstGeom prst="rect">
            <a:avLst/>
          </a:prstGeom>
          <a:noFill/>
        </p:spPr>
        <p:txBody>
          <a:bodyPr wrap="none" rtlCol="0" anchor="t">
            <a:spAutoFit/>
          </a:bodyPr>
          <a:lstStyle/>
          <a:p>
            <a:r>
              <a:rPr lang="en-US" altLang="zh-CN" sz="2400" b="1" dirty="0">
                <a:solidFill>
                  <a:srgbClr val="C00000"/>
                </a:solidFill>
                <a:sym typeface="+mn-ea"/>
              </a:rPr>
              <a:t>N) </a:t>
            </a:r>
            <a:r>
              <a:rPr lang="en-US" altLang="zh-CN" sz="2400" b="1" dirty="0" smtClean="0">
                <a:solidFill>
                  <a:srgbClr val="C00000"/>
                </a:solidFill>
                <a:sym typeface="+mn-ea"/>
              </a:rPr>
              <a:t>ruin</a:t>
            </a:r>
            <a:endParaRPr lang="en-US" altLang="zh-CN" sz="2400" b="1" dirty="0" smtClean="0">
              <a:solidFill>
                <a:srgbClr val="C00000"/>
              </a:solidFill>
              <a:sym typeface="+mn-ea"/>
            </a:endParaRPr>
          </a:p>
        </p:txBody>
      </p:sp>
      <p:sp>
        <p:nvSpPr>
          <p:cNvPr id="6" name="文本框 5"/>
          <p:cNvSpPr txBox="1"/>
          <p:nvPr/>
        </p:nvSpPr>
        <p:spPr>
          <a:xfrm>
            <a:off x="7310446" y="4357694"/>
            <a:ext cx="1732915" cy="460375"/>
          </a:xfrm>
          <a:prstGeom prst="rect">
            <a:avLst/>
          </a:prstGeom>
          <a:noFill/>
        </p:spPr>
        <p:txBody>
          <a:bodyPr wrap="none" rtlCol="0" anchor="t">
            <a:spAutoFit/>
          </a:bodyPr>
          <a:lstStyle/>
          <a:p>
            <a:r>
              <a:rPr lang="en-US" altLang="zh-CN" sz="2400" b="1" dirty="0">
                <a:solidFill>
                  <a:srgbClr val="C00000"/>
                </a:solidFill>
                <a:sym typeface="+mn-ea"/>
              </a:rPr>
              <a:t>K) </a:t>
            </a:r>
            <a:r>
              <a:rPr lang="en-US" altLang="zh-CN" sz="2400" b="1" dirty="0" smtClean="0">
                <a:solidFill>
                  <a:srgbClr val="C00000"/>
                </a:solidFill>
                <a:sym typeface="+mn-ea"/>
              </a:rPr>
              <a:t>potential </a:t>
            </a:r>
            <a:endParaRPr lang="en-US" altLang="zh-CN" sz="2400" b="1" dirty="0" smtClean="0">
              <a:solidFill>
                <a:srgbClr val="C00000"/>
              </a:solidFill>
              <a:sym typeface="+mn-ea"/>
            </a:endParaRPr>
          </a:p>
        </p:txBody>
      </p:sp>
      <p:sp>
        <p:nvSpPr>
          <p:cNvPr id="8" name="文本框 7"/>
          <p:cNvSpPr txBox="1"/>
          <p:nvPr/>
        </p:nvSpPr>
        <p:spPr>
          <a:xfrm>
            <a:off x="8310578" y="5000636"/>
            <a:ext cx="1715135" cy="460375"/>
          </a:xfrm>
          <a:prstGeom prst="rect">
            <a:avLst/>
          </a:prstGeom>
          <a:noFill/>
        </p:spPr>
        <p:txBody>
          <a:bodyPr wrap="none" rtlCol="0" anchor="t">
            <a:spAutoFit/>
          </a:bodyPr>
          <a:lstStyle/>
          <a:p>
            <a:pPr>
              <a:defRPr/>
            </a:pPr>
            <a:r>
              <a:rPr lang="en-US" altLang="zh-CN" sz="2400" b="1" dirty="0">
                <a:solidFill>
                  <a:srgbClr val="C00000"/>
                </a:solidFill>
                <a:latin typeface="Times New Roman" panose="02020603050405020304" pitchFamily="18" charset="0"/>
                <a:ea typeface="楷体_GB2312" pitchFamily="49" charset="-122"/>
                <a:cs typeface="+mn-ea"/>
                <a:sym typeface="+mn-ea"/>
              </a:rPr>
              <a:t>A) </a:t>
            </a:r>
            <a:r>
              <a:rPr lang="en-US" altLang="zh-CN" sz="2400" b="1" dirty="0" smtClean="0">
                <a:solidFill>
                  <a:srgbClr val="C00000"/>
                </a:solidFill>
                <a:latin typeface="Times New Roman" panose="02020603050405020304" pitchFamily="18" charset="0"/>
                <a:ea typeface="楷体_GB2312" pitchFamily="49" charset="-122"/>
                <a:cs typeface="+mn-ea"/>
                <a:sym typeface="+mn-ea"/>
              </a:rPr>
              <a:t>contrary</a:t>
            </a:r>
            <a:endParaRPr lang="en-US" altLang="zh-CN" sz="2400" b="1" dirty="0" smtClean="0">
              <a:solidFill>
                <a:srgbClr val="C00000"/>
              </a:solidFill>
              <a:latin typeface="Times New Roman" panose="02020603050405020304" pitchFamily="18" charset="0"/>
              <a:ea typeface="楷体_GB2312" pitchFamily="49" charset="-122"/>
              <a:cs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829945"/>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 </a:t>
            </a:r>
            <a:r>
              <a:rPr lang="en-US" altLang="zh-CN" sz="6000" kern="0" dirty="0" smtClean="0">
                <a:solidFill>
                  <a:srgbClr val="FF0000"/>
                </a:solidFill>
              </a:rPr>
              <a:t>3</a:t>
            </a:r>
            <a:endParaRPr lang="en-US" altLang="zh-CN" sz="6000" kern="0" dirty="0" smtClean="0">
              <a:solidFill>
                <a:srgbClr val="FF0000"/>
              </a:solidFill>
            </a:endParaRPr>
          </a:p>
        </p:txBody>
      </p:sp>
      <p:sp>
        <p:nvSpPr>
          <p:cNvPr id="10" name="TextBox 9"/>
          <p:cNvSpPr txBox="1"/>
          <p:nvPr/>
        </p:nvSpPr>
        <p:spPr>
          <a:xfrm>
            <a:off x="5410200" y="2667000"/>
            <a:ext cx="4288790" cy="1445260"/>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选词填空</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0215" y="2549525"/>
            <a:ext cx="11536680" cy="4123690"/>
          </a:xfrm>
          <a:solidFill>
            <a:schemeClr val="bg1"/>
          </a:solidFill>
          <a:ln>
            <a:solidFill>
              <a:schemeClr val="bg1"/>
            </a:solidFill>
          </a:ln>
        </p:spPr>
        <p:txBody>
          <a:bodyPr>
            <a:normAutofit/>
          </a:bodyPr>
          <a:lstStyle/>
          <a:p>
            <a:pPr marL="0" indent="0">
              <a:lnSpc>
                <a:spcPct val="115000"/>
              </a:lnSpc>
              <a:spcBef>
                <a:spcPts val="20"/>
              </a:spcBef>
              <a:spcAft>
                <a:spcPts val="0"/>
              </a:spcAft>
              <a:buNone/>
            </a:pPr>
            <a:r>
              <a:rPr lang="en-US" altLang="zh-CN" sz="2800" dirty="0" smtClean="0">
                <a:latin typeface="Times New Roman" panose="02020603050405020304" pitchFamily="18" charset="0"/>
              </a:rPr>
              <a:t>The task of the global strategist of a business is to build a platform of </a:t>
            </a:r>
            <a:r>
              <a:rPr lang="en-US" altLang="zh-CN" sz="2800" dirty="0" err="1" smtClean="0">
                <a:latin typeface="Times New Roman" panose="02020603050405020304" pitchFamily="18" charset="0"/>
              </a:rPr>
              <a:t>capabili</a:t>
            </a:r>
            <a:r>
              <a:rPr lang="en-US" altLang="zh-CN" sz="2800" dirty="0" smtClean="0">
                <a:latin typeface="Times New Roman" panose="02020603050405020304" pitchFamily="18" charset="0"/>
              </a:rPr>
              <a:t>-</a:t>
            </a:r>
            <a:endParaRPr lang="en-US" altLang="zh-CN" sz="2800" dirty="0" smtClean="0">
              <a:latin typeface="Times New Roman" panose="02020603050405020304" pitchFamily="18" charset="0"/>
            </a:endParaRPr>
          </a:p>
          <a:p>
            <a:pPr marL="0" indent="0">
              <a:lnSpc>
                <a:spcPct val="115000"/>
              </a:lnSpc>
              <a:spcBef>
                <a:spcPts val="20"/>
              </a:spcBef>
              <a:spcAft>
                <a:spcPts val="0"/>
              </a:spcAft>
              <a:buNone/>
            </a:pPr>
            <a:r>
              <a:rPr lang="en-US" altLang="zh-CN" sz="2800" dirty="0" smtClean="0">
                <a:latin typeface="Times New Roman" panose="02020603050405020304" pitchFamily="18" charset="0"/>
              </a:rPr>
              <a:t>ties derived from the resources, experiences and innovations of units in multiple locations, to transplant those capabilities wherever </a:t>
            </a:r>
            <a:r>
              <a:rPr lang="zh-CN" altLang="en-US" sz="2800" dirty="0" smtClean="0">
                <a:latin typeface="Times New Roman" panose="02020603050405020304" pitchFamily="18" charset="0"/>
              </a:rPr>
              <a:t> </a:t>
            </a:r>
            <a:r>
              <a:rPr lang="zh-CN" altLang="en-US" sz="2800" dirty="0" smtClean="0">
                <a:highlight>
                  <a:srgbClr val="FFFF00"/>
                </a:highlight>
                <a:latin typeface="Times New Roman" panose="02020603050405020304" pitchFamily="18" charset="0"/>
              </a:rPr>
              <a:t>26</a:t>
            </a:r>
            <a:r>
              <a:rPr lang="en-US" altLang="zh-CN" sz="2800" dirty="0" smtClean="0">
                <a:highlight>
                  <a:srgbClr val="FFFF00"/>
                </a:highlight>
                <a:latin typeface="Times New Roman" panose="02020603050405020304" pitchFamily="18" charset="0"/>
              </a:rPr>
              <a:t>__________</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and then to systematically upgrade and renew them– ahead of the competition.</a:t>
            </a:r>
            <a:endParaRPr lang="en-US" altLang="zh-CN" sz="2800" dirty="0" smtClean="0">
              <a:latin typeface="Times New Roman" panose="02020603050405020304" pitchFamily="18" charset="0"/>
            </a:endParaRPr>
          </a:p>
          <a:p>
            <a:pPr marL="0" indent="0">
              <a:lnSpc>
                <a:spcPct val="115000"/>
              </a:lnSpc>
              <a:spcBef>
                <a:spcPts val="20"/>
              </a:spcBef>
              <a:spcAft>
                <a:spcPts val="0"/>
              </a:spcAft>
              <a:buNone/>
            </a:pPr>
            <a:r>
              <a:rPr lang="en-US" altLang="zh-CN" sz="2800" dirty="0" smtClean="0">
                <a:latin typeface="Times New Roman" panose="02020603050405020304" pitchFamily="18" charset="0"/>
              </a:rPr>
              <a:t>Apple is an outstanding case of a company whose unique capabilities give it a worldwide </a:t>
            </a:r>
            <a:r>
              <a:rPr lang="en-US" altLang="zh-CN" sz="2800" dirty="0" smtClean="0">
                <a:highlight>
                  <a:srgbClr val="FFFF00"/>
                </a:highlight>
                <a:latin typeface="Times New Roman" panose="02020603050405020304" pitchFamily="18" charset="0"/>
              </a:rPr>
              <a:t> </a:t>
            </a:r>
            <a:r>
              <a:rPr lang="zh-CN" altLang="en-US" sz="2800" dirty="0" smtClean="0">
                <a:highlight>
                  <a:srgbClr val="FFFF00"/>
                </a:highlight>
                <a:latin typeface="Times New Roman" panose="02020603050405020304" pitchFamily="18" charset="0"/>
              </a:rPr>
              <a:t>27</a:t>
            </a:r>
            <a:r>
              <a:rPr lang="en-US" altLang="zh-CN" sz="2800" dirty="0" smtClean="0">
                <a:highlight>
                  <a:srgbClr val="FFFF00"/>
                </a:highlight>
                <a:latin typeface="Times New Roman" panose="02020603050405020304" pitchFamily="18" charset="0"/>
              </a:rPr>
              <a:t>_______    </a:t>
            </a:r>
            <a:r>
              <a:rPr lang="zh-CN" altLang="en-US" sz="2800" dirty="0" smtClean="0">
                <a:highlight>
                  <a:srgbClr val="FFFF00"/>
                </a:highlight>
                <a:latin typeface="Times New Roman" panose="02020603050405020304" pitchFamily="18" charset="0"/>
              </a:rPr>
              <a:t> </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advantage, particularly with respect to its ability to build platforms from a product base that integrates functional and  </a:t>
            </a:r>
            <a:r>
              <a:rPr lang="zh-CN" altLang="en-US" sz="2800" dirty="0" smtClean="0">
                <a:highlight>
                  <a:srgbClr val="FFFF00"/>
                </a:highlight>
                <a:latin typeface="Times New Roman" panose="02020603050405020304" pitchFamily="18" charset="0"/>
              </a:rPr>
              <a:t>28</a:t>
            </a:r>
            <a:r>
              <a:rPr lang="en-US" altLang="zh-CN" sz="2800" dirty="0">
                <a:highlight>
                  <a:srgbClr val="FFFF00"/>
                </a:highlight>
                <a:latin typeface="Times New Roman" panose="02020603050405020304" pitchFamily="18" charset="0"/>
              </a:rPr>
              <a:t>_______</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a:p>
            <a:pPr marL="0" indent="0">
              <a:buNone/>
            </a:pPr>
            <a:r>
              <a:rPr lang="en-US" altLang="zh-CN" sz="2800" dirty="0" smtClean="0">
                <a:latin typeface="Times New Roman" panose="02020603050405020304" pitchFamily="18" charset="0"/>
              </a:rPr>
              <a:t>design. Apple has been able to leverage and exploit its California-based design </a:t>
            </a:r>
            <a:endParaRPr lang="zh-CN" altLang="en-US" sz="2800" dirty="0">
              <a:latin typeface="Times New Roman" panose="02020603050405020304" pitchFamily="18" charset="0"/>
            </a:endParaRPr>
          </a:p>
        </p:txBody>
      </p:sp>
      <p:sp>
        <p:nvSpPr>
          <p:cNvPr id="4" name="内容占位符 2"/>
          <p:cNvSpPr>
            <a:spLocks noGrp="1"/>
          </p:cNvSpPr>
          <p:nvPr/>
        </p:nvSpPr>
        <p:spPr>
          <a:xfrm>
            <a:off x="1268095" y="453390"/>
            <a:ext cx="9655810" cy="1925320"/>
          </a:xfrm>
          <a:prstGeom prst="rect">
            <a:avLst/>
          </a:prstGeom>
          <a:solidFill>
            <a:srgbClr val="FFCCCC"/>
          </a:solidFill>
          <a:ln w="25400">
            <a:solidFill>
              <a:schemeClr val="accent6"/>
            </a:solidFill>
          </a:ln>
        </p:spPr>
        <p:style>
          <a:lnRef idx="2">
            <a:schemeClr val="accent6"/>
          </a:lnRef>
          <a:fillRef idx="1">
            <a:schemeClr val="lt1"/>
          </a:fillRef>
          <a:effectRef idx="0">
            <a:schemeClr val="accent6"/>
          </a:effectRef>
          <a:fontRef idx="minor">
            <a:schemeClr val="dk1"/>
          </a:fontRef>
        </p:style>
        <p:txBody>
          <a:bodyPr lIns="91440" tIns="45720" rIns="91440" bIns="45720" anchor="t">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A) aesthetic                            F) fiscal                                 K) </a:t>
            </a:r>
            <a:r>
              <a:rPr lang="en-US" altLang="zh-CN" sz="2400" noProof="1" smtClean="0"/>
              <a:t>safeguarding</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B) appropriate                       G) instances                            L) ship</a:t>
            </a:r>
            <a:endParaRPr kumimoji="0" lang="en-US" altLang="zh-CN" sz="2400" b="0" i="0" u="none" strike="noStrike" kern="1200" cap="none" spc="0" normalizeH="0" baseline="0" noProof="1" smtClean="0">
              <a:latin typeface="+mn-lt"/>
              <a:ea typeface="+mn-ea"/>
              <a:cs typeface="+mn-cs"/>
            </a:endParaRPr>
          </a:p>
          <a:p>
            <a:pPr>
              <a:spcAft>
                <a:spcPct val="0"/>
              </a:spcAft>
              <a:buNone/>
            </a:pPr>
            <a:r>
              <a:rPr kumimoji="0" lang="en-US" altLang="zh-CN" sz="2400" b="0" i="0" u="none" strike="noStrike" kern="1200" cap="none" spc="0" normalizeH="0" baseline="0" noProof="1" smtClean="0">
                <a:latin typeface="+mn-lt"/>
                <a:ea typeface="+mn-ea"/>
                <a:cs typeface="+mn-cs"/>
              </a:rPr>
              <a:t>C) clusters                              H) rehabilitated                    M) </a:t>
            </a:r>
            <a:r>
              <a:rPr lang="en-US" altLang="zh-CN" sz="2400" noProof="1" smtClean="0"/>
              <a:t>strategic</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D) competitive                       I) reproduced                        N) transcend</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E) exploiting                           J) revenues                             O) undergoing</a:t>
            </a:r>
            <a:endParaRPr kumimoji="0" lang="en-US" altLang="zh-CN" sz="2400" b="0" i="0" u="none" strike="noStrike" kern="1200" cap="none" spc="0" normalizeH="0" baseline="0" noProof="1" smtClean="0">
              <a:latin typeface="+mn-lt"/>
              <a:ea typeface="+mn-ea"/>
              <a:cs typeface="+mn-cs"/>
            </a:endParaRPr>
          </a:p>
        </p:txBody>
      </p:sp>
      <p:sp>
        <p:nvSpPr>
          <p:cNvPr id="5" name="矩形 4"/>
          <p:cNvSpPr/>
          <p:nvPr/>
        </p:nvSpPr>
        <p:spPr>
          <a:xfrm>
            <a:off x="9570268" y="3608318"/>
            <a:ext cx="2102627" cy="461665"/>
          </a:xfrm>
          <a:prstGeom prst="rect">
            <a:avLst/>
          </a:prstGeom>
        </p:spPr>
        <p:txBody>
          <a:bodyPr wrap="none">
            <a:spAutoFit/>
          </a:bodyPr>
          <a:lstStyle/>
          <a:p>
            <a:r>
              <a:rPr lang="en-US" altLang="zh-CN" sz="2400" b="1" noProof="1" smtClean="0">
                <a:solidFill>
                  <a:srgbClr val="C00000"/>
                </a:solidFill>
              </a:rPr>
              <a:t>B) appropriate </a:t>
            </a:r>
            <a:endParaRPr lang="zh-CN" altLang="en-US" sz="2400" b="1" dirty="0">
              <a:solidFill>
                <a:srgbClr val="C00000"/>
              </a:solidFill>
            </a:endParaRPr>
          </a:p>
        </p:txBody>
      </p:sp>
      <p:sp>
        <p:nvSpPr>
          <p:cNvPr id="6" name="矩形 5"/>
          <p:cNvSpPr/>
          <p:nvPr/>
        </p:nvSpPr>
        <p:spPr>
          <a:xfrm>
            <a:off x="2561168" y="5099766"/>
            <a:ext cx="1811137" cy="400110"/>
          </a:xfrm>
          <a:prstGeom prst="rect">
            <a:avLst/>
          </a:prstGeom>
        </p:spPr>
        <p:txBody>
          <a:bodyPr wrap="none">
            <a:spAutoFit/>
          </a:bodyPr>
          <a:lstStyle/>
          <a:p>
            <a:r>
              <a:rPr lang="en-US" altLang="zh-CN" sz="2000" b="1" noProof="1" smtClean="0">
                <a:solidFill>
                  <a:srgbClr val="C00000"/>
                </a:solidFill>
              </a:rPr>
              <a:t>D) competitive </a:t>
            </a:r>
            <a:endParaRPr lang="zh-CN" altLang="en-US" sz="2000" b="1" dirty="0">
              <a:solidFill>
                <a:srgbClr val="C00000"/>
              </a:solidFill>
            </a:endParaRPr>
          </a:p>
        </p:txBody>
      </p:sp>
      <p:sp>
        <p:nvSpPr>
          <p:cNvPr id="7" name="矩形 6"/>
          <p:cNvSpPr/>
          <p:nvPr/>
        </p:nvSpPr>
        <p:spPr>
          <a:xfrm>
            <a:off x="10420194" y="5570283"/>
            <a:ext cx="1504130" cy="400110"/>
          </a:xfrm>
          <a:prstGeom prst="rect">
            <a:avLst/>
          </a:prstGeom>
        </p:spPr>
        <p:txBody>
          <a:bodyPr wrap="none">
            <a:spAutoFit/>
          </a:bodyPr>
          <a:lstStyle/>
          <a:p>
            <a:r>
              <a:rPr lang="en-US" altLang="zh-CN" sz="2000" b="1" noProof="1" smtClean="0">
                <a:solidFill>
                  <a:srgbClr val="C00000"/>
                </a:solidFill>
              </a:rPr>
              <a:t>A) aesthetic </a:t>
            </a:r>
            <a:endParaRPr lang="zh-CN" altLang="en-US" sz="20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0215" y="2549525"/>
            <a:ext cx="11536680" cy="4123690"/>
          </a:xfrm>
          <a:solidFill>
            <a:schemeClr val="bg1"/>
          </a:solidFill>
          <a:ln>
            <a:solidFill>
              <a:schemeClr val="bg1"/>
            </a:solidFill>
          </a:ln>
        </p:spPr>
        <p:txBody>
          <a:bodyPr>
            <a:normAutofit/>
          </a:bodyPr>
          <a:lstStyle/>
          <a:p>
            <a:pPr marL="0" indent="0">
              <a:lnSpc>
                <a:spcPct val="115000"/>
              </a:lnSpc>
              <a:spcBef>
                <a:spcPts val="20"/>
              </a:spcBef>
              <a:spcAft>
                <a:spcPts val="0"/>
              </a:spcAft>
              <a:buNone/>
            </a:pPr>
            <a:r>
              <a:rPr lang="en-US" altLang="zh-CN" sz="2800" dirty="0" smtClean="0">
                <a:latin typeface="Times New Roman" panose="02020603050405020304" pitchFamily="18" charset="0"/>
              </a:rPr>
              <a:t> and marketing advantages successfully throughout the world. IKEA is another case. The do-it-yourself furniture and </a:t>
            </a:r>
            <a:r>
              <a:rPr lang="en-US" altLang="zh-CN" sz="2800" dirty="0" err="1" smtClean="0">
                <a:latin typeface="Times New Roman" panose="02020603050405020304" pitchFamily="18" charset="0"/>
              </a:rPr>
              <a:t>houseware</a:t>
            </a:r>
            <a:r>
              <a:rPr lang="en-US" altLang="zh-CN" sz="2800" dirty="0" smtClean="0">
                <a:latin typeface="Times New Roman" panose="02020603050405020304" pitchFamily="18" charset="0"/>
              </a:rPr>
              <a:t> company first developed a compelling set of capabilities to design, manufacture and  </a:t>
            </a:r>
            <a:r>
              <a:rPr lang="zh-CN" altLang="en-US" sz="2800" dirty="0" smtClean="0">
                <a:highlight>
                  <a:srgbClr val="FFFF00"/>
                </a:highlight>
                <a:latin typeface="Times New Roman" panose="02020603050405020304" pitchFamily="18" charset="0"/>
              </a:rPr>
              <a:t>2</a:t>
            </a:r>
            <a:r>
              <a:rPr lang="en-US" altLang="zh-CN" sz="2800" dirty="0" smtClean="0">
                <a:highlight>
                  <a:srgbClr val="FFFF00"/>
                </a:highlight>
                <a:latin typeface="Times New Roman" panose="02020603050405020304" pitchFamily="18" charset="0"/>
              </a:rPr>
              <a:t>9__________</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furniture at low cost and sell it in a novel way in Sweden. Later, IKEA successfully </a:t>
            </a:r>
            <a:r>
              <a:rPr lang="en-US" altLang="zh-CN" sz="2800" dirty="0" smtClean="0">
                <a:highlight>
                  <a:srgbClr val="FFFF00"/>
                </a:highlight>
                <a:latin typeface="Times New Roman" panose="02020603050405020304" pitchFamily="18" charset="0"/>
              </a:rPr>
              <a:t>30_______     </a:t>
            </a:r>
            <a:r>
              <a:rPr lang="zh-CN" altLang="en-US" sz="2800" dirty="0" smtClean="0">
                <a:highlight>
                  <a:srgbClr val="FFFF00"/>
                </a:highlight>
                <a:latin typeface="Times New Roman" panose="02020603050405020304" pitchFamily="18" charset="0"/>
              </a:rPr>
              <a:t> </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this formula in many other countries.</a:t>
            </a:r>
            <a:endParaRPr lang="en-US" altLang="zh-CN" sz="2800" dirty="0" smtClean="0">
              <a:latin typeface="Times New Roman" panose="02020603050405020304" pitchFamily="18" charset="0"/>
            </a:endParaRPr>
          </a:p>
          <a:p>
            <a:pPr marL="0" indent="0">
              <a:lnSpc>
                <a:spcPct val="115000"/>
              </a:lnSpc>
              <a:spcBef>
                <a:spcPts val="20"/>
              </a:spcBef>
              <a:spcAft>
                <a:spcPts val="0"/>
              </a:spcAft>
              <a:buNone/>
            </a:pPr>
            <a:r>
              <a:rPr lang="en-US" altLang="zh-CN" sz="2800" dirty="0" smtClean="0">
                <a:latin typeface="Times New Roman" panose="02020603050405020304" pitchFamily="18" charset="0"/>
              </a:rPr>
              <a:t>By contrast, </a:t>
            </a:r>
            <a:r>
              <a:rPr lang="en-US" altLang="zh-CN" sz="2800" dirty="0" err="1" smtClean="0">
                <a:latin typeface="Times New Roman" panose="02020603050405020304" pitchFamily="18" charset="0"/>
              </a:rPr>
              <a:t>Telefonica</a:t>
            </a:r>
            <a:r>
              <a:rPr lang="en-US" altLang="zh-CN" sz="2800" dirty="0" smtClean="0">
                <a:latin typeface="Times New Roman" panose="02020603050405020304" pitchFamily="18" charset="0"/>
              </a:rPr>
              <a:t>, a Spanish telecommunications company that is now the world’s fifth largest telecom by </a:t>
            </a:r>
            <a:r>
              <a:rPr lang="en-US" altLang="zh-CN" sz="2800" dirty="0" smtClean="0">
                <a:highlight>
                  <a:srgbClr val="FFFF00"/>
                </a:highlight>
                <a:latin typeface="Times New Roman" panose="02020603050405020304" pitchFamily="18" charset="0"/>
              </a:rPr>
              <a:t>31_______</a:t>
            </a:r>
            <a:r>
              <a:rPr lang="en-US" altLang="zh-CN" sz="2800" dirty="0" smtClean="0">
                <a:latin typeface="Times New Roman" panose="02020603050405020304" pitchFamily="18" charset="0"/>
              </a:rPr>
              <a:t>  first developed its special advantage abroad. In 1989 and 1990, </a:t>
            </a:r>
            <a:r>
              <a:rPr lang="en-US" altLang="zh-CN" sz="2800" dirty="0" err="1" smtClean="0">
                <a:latin typeface="Times New Roman" panose="02020603050405020304" pitchFamily="18" charset="0"/>
              </a:rPr>
              <a:t>Telefonica</a:t>
            </a:r>
            <a:r>
              <a:rPr lang="en-US" altLang="zh-CN" sz="2800" dirty="0" smtClean="0">
                <a:latin typeface="Times New Roman" panose="02020603050405020304" pitchFamily="18" charset="0"/>
              </a:rPr>
              <a:t> had the opportunity to enter</a:t>
            </a:r>
            <a:endParaRPr lang="zh-CN" altLang="en-US" sz="2800" dirty="0">
              <a:latin typeface="Times New Roman" panose="02020603050405020304" pitchFamily="18" charset="0"/>
            </a:endParaRPr>
          </a:p>
        </p:txBody>
      </p:sp>
      <p:sp>
        <p:nvSpPr>
          <p:cNvPr id="4" name="内容占位符 2"/>
          <p:cNvSpPr>
            <a:spLocks noGrp="1"/>
          </p:cNvSpPr>
          <p:nvPr/>
        </p:nvSpPr>
        <p:spPr>
          <a:xfrm>
            <a:off x="1268095" y="453390"/>
            <a:ext cx="9655810" cy="1925320"/>
          </a:xfrm>
          <a:prstGeom prst="rect">
            <a:avLst/>
          </a:prstGeom>
          <a:solidFill>
            <a:srgbClr val="FFCCCC"/>
          </a:solidFill>
          <a:ln w="25400">
            <a:solidFill>
              <a:schemeClr val="accent6"/>
            </a:solidFill>
          </a:ln>
        </p:spPr>
        <p:style>
          <a:lnRef idx="2">
            <a:schemeClr val="accent6"/>
          </a:lnRef>
          <a:fillRef idx="1">
            <a:schemeClr val="lt1"/>
          </a:fillRef>
          <a:effectRef idx="0">
            <a:schemeClr val="accent6"/>
          </a:effectRef>
          <a:fontRef idx="minor">
            <a:schemeClr val="dk1"/>
          </a:fontRef>
        </p:style>
        <p:txBody>
          <a:bodyPr lIns="91440" tIns="45720" rIns="91440" bIns="45720" anchor="t">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A) aesthetic                            F) fiscal                                 K) </a:t>
            </a:r>
            <a:r>
              <a:rPr lang="en-US" altLang="zh-CN" sz="2400" noProof="1" smtClean="0"/>
              <a:t>safeguarding</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B) appropriate                       G) instances                            L) ship</a:t>
            </a:r>
            <a:endParaRPr kumimoji="0" lang="en-US" altLang="zh-CN" sz="2400" b="0" i="0" u="none" strike="noStrike" kern="1200" cap="none" spc="0" normalizeH="0" baseline="0" noProof="1" smtClean="0">
              <a:latin typeface="+mn-lt"/>
              <a:ea typeface="+mn-ea"/>
              <a:cs typeface="+mn-cs"/>
            </a:endParaRPr>
          </a:p>
          <a:p>
            <a:pPr>
              <a:spcAft>
                <a:spcPct val="0"/>
              </a:spcAft>
              <a:buNone/>
            </a:pPr>
            <a:r>
              <a:rPr kumimoji="0" lang="en-US" altLang="zh-CN" sz="2400" b="0" i="0" u="none" strike="noStrike" kern="1200" cap="none" spc="0" normalizeH="0" baseline="0" noProof="1" smtClean="0">
                <a:latin typeface="+mn-lt"/>
                <a:ea typeface="+mn-ea"/>
                <a:cs typeface="+mn-cs"/>
              </a:rPr>
              <a:t>C) clusters                              H) rehabilitated                    M) </a:t>
            </a:r>
            <a:r>
              <a:rPr lang="en-US" altLang="zh-CN" sz="2400" noProof="1" smtClean="0"/>
              <a:t>strategic</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D) competitive                       I) reproduced                        N) transcend</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E) exploiting                           J) revenues                             O) undergoing</a:t>
            </a:r>
            <a:endParaRPr kumimoji="0" lang="en-US" altLang="zh-CN" sz="2400" b="0" i="0" u="none" strike="noStrike" kern="1200" cap="none" spc="0" normalizeH="0" baseline="0" noProof="1" smtClean="0">
              <a:latin typeface="+mn-lt"/>
              <a:ea typeface="+mn-ea"/>
              <a:cs typeface="+mn-cs"/>
            </a:endParaRPr>
          </a:p>
        </p:txBody>
      </p:sp>
      <p:sp>
        <p:nvSpPr>
          <p:cNvPr id="5" name="矩形 4"/>
          <p:cNvSpPr/>
          <p:nvPr/>
        </p:nvSpPr>
        <p:spPr>
          <a:xfrm>
            <a:off x="9401885" y="3608319"/>
            <a:ext cx="1008609" cy="461665"/>
          </a:xfrm>
          <a:prstGeom prst="rect">
            <a:avLst/>
          </a:prstGeom>
        </p:spPr>
        <p:txBody>
          <a:bodyPr wrap="none">
            <a:spAutoFit/>
          </a:bodyPr>
          <a:lstStyle/>
          <a:p>
            <a:r>
              <a:rPr lang="en-US" altLang="zh-CN" sz="2400" b="1" noProof="1" smtClean="0">
                <a:solidFill>
                  <a:srgbClr val="C00000"/>
                </a:solidFill>
              </a:rPr>
              <a:t>L) ship</a:t>
            </a:r>
            <a:endParaRPr lang="zh-CN" altLang="en-US" sz="2400" b="1" dirty="0">
              <a:solidFill>
                <a:srgbClr val="C00000"/>
              </a:solidFill>
            </a:endParaRPr>
          </a:p>
        </p:txBody>
      </p:sp>
      <p:sp>
        <p:nvSpPr>
          <p:cNvPr id="6" name="矩形 5"/>
          <p:cNvSpPr/>
          <p:nvPr/>
        </p:nvSpPr>
        <p:spPr>
          <a:xfrm>
            <a:off x="2668806" y="4602617"/>
            <a:ext cx="1682255" cy="400110"/>
          </a:xfrm>
          <a:prstGeom prst="rect">
            <a:avLst/>
          </a:prstGeom>
        </p:spPr>
        <p:txBody>
          <a:bodyPr wrap="none">
            <a:spAutoFit/>
          </a:bodyPr>
          <a:lstStyle/>
          <a:p>
            <a:r>
              <a:rPr lang="en-US" altLang="zh-CN" sz="2000" b="1" noProof="1" smtClean="0">
                <a:solidFill>
                  <a:srgbClr val="C00000"/>
                </a:solidFill>
              </a:rPr>
              <a:t>I) reproduced </a:t>
            </a:r>
            <a:endParaRPr lang="zh-CN" altLang="en-US" sz="2000" b="1" dirty="0">
              <a:solidFill>
                <a:srgbClr val="C00000"/>
              </a:solidFill>
            </a:endParaRPr>
          </a:p>
        </p:txBody>
      </p:sp>
      <p:sp>
        <p:nvSpPr>
          <p:cNvPr id="7" name="矩形 6"/>
          <p:cNvSpPr/>
          <p:nvPr/>
        </p:nvSpPr>
        <p:spPr>
          <a:xfrm>
            <a:off x="6383926" y="5614672"/>
            <a:ext cx="1439689" cy="400110"/>
          </a:xfrm>
          <a:prstGeom prst="rect">
            <a:avLst/>
          </a:prstGeom>
        </p:spPr>
        <p:txBody>
          <a:bodyPr wrap="none">
            <a:spAutoFit/>
          </a:bodyPr>
          <a:lstStyle/>
          <a:p>
            <a:r>
              <a:rPr lang="en-US" altLang="zh-CN" sz="2000" b="1" noProof="1" smtClean="0">
                <a:solidFill>
                  <a:srgbClr val="C00000"/>
                </a:solidFill>
              </a:rPr>
              <a:t>J) revenues </a:t>
            </a:r>
            <a:endParaRPr lang="zh-CN" altLang="en-US" sz="20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0215" y="2975653"/>
            <a:ext cx="11536680" cy="3265349"/>
          </a:xfrm>
          <a:solidFill>
            <a:schemeClr val="bg1"/>
          </a:solidFill>
          <a:ln>
            <a:solidFill>
              <a:schemeClr val="bg1"/>
            </a:solidFill>
          </a:ln>
        </p:spPr>
        <p:txBody>
          <a:bodyPr>
            <a:normAutofit/>
          </a:bodyPr>
          <a:lstStyle/>
          <a:p>
            <a:pPr marL="0" indent="0">
              <a:lnSpc>
                <a:spcPct val="115000"/>
              </a:lnSpc>
              <a:spcBef>
                <a:spcPts val="20"/>
              </a:spcBef>
              <a:spcAft>
                <a:spcPts val="0"/>
              </a:spcAft>
              <a:buNone/>
            </a:pPr>
            <a:r>
              <a:rPr lang="en-US" altLang="zh-CN" sz="2800" dirty="0" smtClean="0">
                <a:latin typeface="Times New Roman" panose="02020603050405020304" pitchFamily="18" charset="0"/>
              </a:rPr>
              <a:t>Chile and Argentina, countries that shared many institutional and cultural characteristics with its home country but that were </a:t>
            </a:r>
            <a:r>
              <a:rPr lang="en-US" altLang="zh-CN" sz="2800" dirty="0" smtClean="0">
                <a:highlight>
                  <a:srgbClr val="FFFF00"/>
                </a:highlight>
                <a:latin typeface="Times New Roman" panose="02020603050405020304" pitchFamily="18" charset="0"/>
              </a:rPr>
              <a:t>32_______     </a:t>
            </a:r>
            <a:r>
              <a:rPr lang="zh-CN" altLang="en-US" sz="2800" dirty="0" smtClean="0">
                <a:highlight>
                  <a:srgbClr val="FFFF00"/>
                </a:highlight>
                <a:latin typeface="Times New Roman" panose="02020603050405020304" pitchFamily="18" charset="0"/>
              </a:rPr>
              <a:t> </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more rapid market reform. Throughout the 1990s, </a:t>
            </a:r>
            <a:r>
              <a:rPr lang="en-US" altLang="zh-CN" sz="2800" dirty="0" err="1" smtClean="0">
                <a:latin typeface="Times New Roman" panose="02020603050405020304" pitchFamily="18" charset="0"/>
              </a:rPr>
              <a:t>Telefonica</a:t>
            </a:r>
            <a:r>
              <a:rPr lang="en-US" altLang="zh-CN" sz="2800" dirty="0" smtClean="0">
                <a:latin typeface="Times New Roman" panose="02020603050405020304" pitchFamily="18" charset="0"/>
              </a:rPr>
              <a:t> took what it learned in Chile and Argentina about reconstructing former state-owned telecoms to other Latin American countries that were privatizing their state telecoms and deregulating their telecom markets.</a:t>
            </a:r>
            <a:r>
              <a:rPr lang="en-US" altLang="zh-CN" sz="2800" dirty="0" smtClean="0">
                <a:highlight>
                  <a:srgbClr val="FFFF00"/>
                </a:highlight>
                <a:latin typeface="Times New Roman" panose="02020603050405020304" pitchFamily="18" charset="0"/>
              </a:rPr>
              <a:t> </a:t>
            </a:r>
            <a:endParaRPr lang="en-US" altLang="zh-CN" sz="2800" dirty="0" smtClean="0">
              <a:highlight>
                <a:srgbClr val="FFFF00"/>
              </a:highlight>
              <a:latin typeface="Times New Roman" panose="02020603050405020304" pitchFamily="18" charset="0"/>
            </a:endParaRPr>
          </a:p>
        </p:txBody>
      </p:sp>
      <p:sp>
        <p:nvSpPr>
          <p:cNvPr id="4" name="内容占位符 2"/>
          <p:cNvSpPr>
            <a:spLocks noGrp="1"/>
          </p:cNvSpPr>
          <p:nvPr/>
        </p:nvSpPr>
        <p:spPr>
          <a:xfrm>
            <a:off x="1268095" y="728598"/>
            <a:ext cx="9655810" cy="1925320"/>
          </a:xfrm>
          <a:prstGeom prst="rect">
            <a:avLst/>
          </a:prstGeom>
          <a:solidFill>
            <a:srgbClr val="FFCCCC"/>
          </a:solidFill>
          <a:ln w="25400">
            <a:solidFill>
              <a:schemeClr val="accent6"/>
            </a:solidFill>
          </a:ln>
        </p:spPr>
        <p:style>
          <a:lnRef idx="2">
            <a:schemeClr val="accent6"/>
          </a:lnRef>
          <a:fillRef idx="1">
            <a:schemeClr val="lt1"/>
          </a:fillRef>
          <a:effectRef idx="0">
            <a:schemeClr val="accent6"/>
          </a:effectRef>
          <a:fontRef idx="minor">
            <a:schemeClr val="dk1"/>
          </a:fontRef>
        </p:style>
        <p:txBody>
          <a:bodyPr lIns="91440" tIns="45720" rIns="91440" bIns="45720" anchor="t">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A) aesthetic                            F) fiscal                                 K) </a:t>
            </a:r>
            <a:r>
              <a:rPr lang="en-US" altLang="zh-CN" sz="2400" noProof="1" smtClean="0"/>
              <a:t>safeguarding</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B) appropriate                       G) instances                            L) ship</a:t>
            </a:r>
            <a:endParaRPr kumimoji="0" lang="en-US" altLang="zh-CN" sz="2400" b="0" i="0" u="none" strike="noStrike" kern="1200" cap="none" spc="0" normalizeH="0" baseline="0" noProof="1" smtClean="0">
              <a:latin typeface="+mn-lt"/>
              <a:ea typeface="+mn-ea"/>
              <a:cs typeface="+mn-cs"/>
            </a:endParaRPr>
          </a:p>
          <a:p>
            <a:pPr>
              <a:spcAft>
                <a:spcPct val="0"/>
              </a:spcAft>
              <a:buNone/>
            </a:pPr>
            <a:r>
              <a:rPr kumimoji="0" lang="en-US" altLang="zh-CN" sz="2400" b="0" i="0" u="none" strike="noStrike" kern="1200" cap="none" spc="0" normalizeH="0" baseline="0" noProof="1" smtClean="0">
                <a:latin typeface="+mn-lt"/>
                <a:ea typeface="+mn-ea"/>
                <a:cs typeface="+mn-cs"/>
              </a:rPr>
              <a:t>C) clusters                              H) rehabilitated                    M) </a:t>
            </a:r>
            <a:r>
              <a:rPr lang="en-US" altLang="zh-CN" sz="2400" noProof="1" smtClean="0"/>
              <a:t>strategic</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D) competitive                       I) reproduced                        N) transcend</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E) exploiting                           J) revenues                             O) undergoing</a:t>
            </a:r>
            <a:endParaRPr kumimoji="0" lang="en-US" altLang="zh-CN" sz="2400" b="0" i="0" u="none" strike="noStrike" kern="1200" cap="none" spc="0" normalizeH="0" baseline="0" noProof="1" smtClean="0">
              <a:latin typeface="+mn-lt"/>
              <a:ea typeface="+mn-ea"/>
              <a:cs typeface="+mn-cs"/>
            </a:endParaRPr>
          </a:p>
        </p:txBody>
      </p:sp>
      <p:sp>
        <p:nvSpPr>
          <p:cNvPr id="5" name="矩形 4"/>
          <p:cNvSpPr/>
          <p:nvPr/>
        </p:nvSpPr>
        <p:spPr>
          <a:xfrm>
            <a:off x="8215616" y="3528419"/>
            <a:ext cx="1706814" cy="400110"/>
          </a:xfrm>
          <a:prstGeom prst="rect">
            <a:avLst/>
          </a:prstGeom>
        </p:spPr>
        <p:txBody>
          <a:bodyPr wrap="none">
            <a:spAutoFit/>
          </a:bodyPr>
          <a:lstStyle/>
          <a:p>
            <a:r>
              <a:rPr lang="en-US" altLang="zh-CN" sz="2000" b="1" noProof="1" smtClean="0">
                <a:solidFill>
                  <a:srgbClr val="C00000"/>
                </a:solidFill>
              </a:rPr>
              <a:t>O) undergoing</a:t>
            </a:r>
            <a:endParaRPr lang="zh-CN" altLang="en-US" sz="20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0215" y="2549525"/>
            <a:ext cx="11536680" cy="4123690"/>
          </a:xfrm>
          <a:solidFill>
            <a:schemeClr val="bg1"/>
          </a:solidFill>
          <a:ln>
            <a:solidFill>
              <a:schemeClr val="bg1"/>
            </a:solidFill>
          </a:ln>
        </p:spPr>
        <p:txBody>
          <a:bodyPr>
            <a:normAutofit/>
          </a:bodyPr>
          <a:lstStyle/>
          <a:p>
            <a:pPr marL="0" indent="0">
              <a:lnSpc>
                <a:spcPct val="115000"/>
              </a:lnSpc>
              <a:spcBef>
                <a:spcPts val="20"/>
              </a:spcBef>
              <a:spcAft>
                <a:spcPts val="0"/>
              </a:spcAft>
              <a:buNone/>
            </a:pPr>
            <a:r>
              <a:rPr lang="en-US" altLang="zh-CN" sz="2800" dirty="0" smtClean="0">
                <a:latin typeface="Times New Roman" panose="02020603050405020304" pitchFamily="18" charset="0"/>
              </a:rPr>
              <a:t>These examples might lead the reader to believe that creating a global advantage is an easy task. But many other  </a:t>
            </a:r>
            <a:r>
              <a:rPr lang="en-US" altLang="zh-CN" sz="2800" dirty="0" smtClean="0">
                <a:highlight>
                  <a:srgbClr val="FFFF00"/>
                </a:highlight>
                <a:latin typeface="Times New Roman" panose="02020603050405020304" pitchFamily="18" charset="0"/>
              </a:rPr>
              <a:t>33__________</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of expensive failed experiments suggest that creating a lasting global advantage actually requires a great deal of </a:t>
            </a:r>
            <a:r>
              <a:rPr lang="en-US" altLang="zh-CN" sz="2800" dirty="0" smtClean="0">
                <a:highlight>
                  <a:srgbClr val="FFFF00"/>
                </a:highlight>
                <a:latin typeface="Times New Roman" panose="02020603050405020304" pitchFamily="18" charset="0"/>
              </a:rPr>
              <a:t>34_______</a:t>
            </a:r>
            <a:r>
              <a:rPr lang="zh-CN" altLang="en-US" sz="2800" dirty="0" smtClean="0">
                <a:highlight>
                  <a:srgbClr val="FFFF00"/>
                </a:highlight>
                <a:latin typeface="Times New Roman" panose="02020603050405020304" pitchFamily="18" charset="0"/>
              </a:rPr>
              <a:t> </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 and operational finesse(</a:t>
            </a:r>
            <a:r>
              <a:rPr lang="zh-CN" altLang="en-US" sz="2800" dirty="0" smtClean="0">
                <a:latin typeface="Times New Roman" panose="02020603050405020304" pitchFamily="18" charset="0"/>
              </a:rPr>
              <a:t>技巧</a:t>
            </a:r>
            <a:r>
              <a:rPr lang="en-US" altLang="zh-CN" sz="2800" dirty="0" smtClean="0">
                <a:latin typeface="Times New Roman" panose="02020603050405020304" pitchFamily="18" charset="0"/>
              </a:rPr>
              <a:t>). Our research suggests that global winners typically create and sustain their international presence through a systematic process of  </a:t>
            </a:r>
            <a:r>
              <a:rPr lang="en-US" altLang="zh-CN" sz="2800" dirty="0" smtClean="0">
                <a:highlight>
                  <a:srgbClr val="FFFF00"/>
                </a:highlight>
                <a:latin typeface="Times New Roman" panose="02020603050405020304" pitchFamily="18" charset="0"/>
              </a:rPr>
              <a:t>35_______</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 renewing and enhancing their core capabilities. </a:t>
            </a:r>
            <a:endParaRPr lang="zh-CN" altLang="en-US" sz="2800" dirty="0">
              <a:latin typeface="Times New Roman" panose="02020603050405020304" pitchFamily="18" charset="0"/>
            </a:endParaRPr>
          </a:p>
        </p:txBody>
      </p:sp>
      <p:sp>
        <p:nvSpPr>
          <p:cNvPr id="4" name="内容占位符 2"/>
          <p:cNvSpPr>
            <a:spLocks noGrp="1"/>
          </p:cNvSpPr>
          <p:nvPr/>
        </p:nvSpPr>
        <p:spPr>
          <a:xfrm>
            <a:off x="1268095" y="453390"/>
            <a:ext cx="9655810" cy="1925320"/>
          </a:xfrm>
          <a:prstGeom prst="rect">
            <a:avLst/>
          </a:prstGeom>
          <a:solidFill>
            <a:srgbClr val="FFCCCC"/>
          </a:solidFill>
          <a:ln w="25400">
            <a:solidFill>
              <a:schemeClr val="accent6"/>
            </a:solidFill>
          </a:ln>
        </p:spPr>
        <p:style>
          <a:lnRef idx="2">
            <a:schemeClr val="accent6"/>
          </a:lnRef>
          <a:fillRef idx="1">
            <a:schemeClr val="lt1"/>
          </a:fillRef>
          <a:effectRef idx="0">
            <a:schemeClr val="accent6"/>
          </a:effectRef>
          <a:fontRef idx="minor">
            <a:schemeClr val="dk1"/>
          </a:fontRef>
        </p:style>
        <p:txBody>
          <a:bodyPr lIns="91440" tIns="45720" rIns="91440" bIns="45720" anchor="t">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A) aesthetic                            F) fiscal                                 K) </a:t>
            </a:r>
            <a:r>
              <a:rPr lang="en-US" altLang="zh-CN" sz="2400" noProof="1" smtClean="0"/>
              <a:t>safeguarding</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B) appropriate                       G) instances                            L) ship</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C) clusters                              H) rehabilitated                    M) strategic</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D) competitive                       I) reproduced                        N) transcend</a:t>
            </a:r>
            <a:endParaRPr kumimoji="0" lang="en-US" altLang="zh-CN" sz="2400" b="0" i="0" u="none" strike="noStrike" kern="1200" cap="none" spc="0" normalizeH="0" baseline="0" noProof="1" smtClean="0">
              <a:latin typeface="+mn-lt"/>
              <a:ea typeface="+mn-ea"/>
              <a:cs typeface="+mn-cs"/>
            </a:endParaRPr>
          </a:p>
          <a:p>
            <a:pPr marL="342900" marR="0" indent="-342900" algn="l" defTabSz="914400" rtl="0" eaLnBrk="1" fontAlgn="auto" latinLnBrk="0" hangingPunct="1">
              <a:lnSpc>
                <a:spcPct val="100000"/>
              </a:lnSpc>
              <a:spcBef>
                <a:spcPct val="20000"/>
              </a:spcBef>
              <a:spcAft>
                <a:spcPct val="0"/>
              </a:spcAft>
              <a:buClrTx/>
              <a:buSzTx/>
              <a:buFont typeface="Arial" panose="020B0604020202020204" pitchFamily="34" charset="0"/>
              <a:buNone/>
            </a:pPr>
            <a:r>
              <a:rPr kumimoji="0" lang="en-US" altLang="zh-CN" sz="2400" b="0" i="0" u="none" strike="noStrike" kern="1200" cap="none" spc="0" normalizeH="0" baseline="0" noProof="1" smtClean="0">
                <a:latin typeface="+mn-lt"/>
                <a:ea typeface="+mn-ea"/>
                <a:cs typeface="+mn-cs"/>
              </a:rPr>
              <a:t>E) exploiting                           J) revenues                             O) undergoing</a:t>
            </a:r>
            <a:endParaRPr kumimoji="0" lang="en-US" altLang="zh-CN" sz="2400" b="0" i="0" u="none" strike="noStrike" kern="1200" cap="none" spc="0" normalizeH="0" baseline="0" noProof="1" smtClean="0">
              <a:latin typeface="+mn-lt"/>
              <a:ea typeface="+mn-ea"/>
              <a:cs typeface="+mn-cs"/>
            </a:endParaRPr>
          </a:p>
        </p:txBody>
      </p:sp>
      <p:sp>
        <p:nvSpPr>
          <p:cNvPr id="5" name="矩形 4"/>
          <p:cNvSpPr/>
          <p:nvPr/>
        </p:nvSpPr>
        <p:spPr>
          <a:xfrm>
            <a:off x="7084987" y="3137801"/>
            <a:ext cx="1803635" cy="461665"/>
          </a:xfrm>
          <a:prstGeom prst="rect">
            <a:avLst/>
          </a:prstGeom>
        </p:spPr>
        <p:txBody>
          <a:bodyPr wrap="none">
            <a:spAutoFit/>
          </a:bodyPr>
          <a:lstStyle/>
          <a:p>
            <a:r>
              <a:rPr lang="en-US" altLang="zh-CN" sz="2400" b="1" noProof="1" smtClean="0">
                <a:solidFill>
                  <a:srgbClr val="C00000"/>
                </a:solidFill>
              </a:rPr>
              <a:t>G) instances </a:t>
            </a:r>
            <a:endParaRPr lang="zh-CN" altLang="en-US" sz="2400" b="1" dirty="0">
              <a:solidFill>
                <a:srgbClr val="C00000"/>
              </a:solidFill>
            </a:endParaRPr>
          </a:p>
        </p:txBody>
      </p:sp>
      <p:sp>
        <p:nvSpPr>
          <p:cNvPr id="7" name="矩形 6"/>
          <p:cNvSpPr/>
          <p:nvPr/>
        </p:nvSpPr>
        <p:spPr>
          <a:xfrm>
            <a:off x="2772392" y="4140979"/>
            <a:ext cx="1451423" cy="400110"/>
          </a:xfrm>
          <a:prstGeom prst="rect">
            <a:avLst/>
          </a:prstGeom>
        </p:spPr>
        <p:txBody>
          <a:bodyPr wrap="none">
            <a:spAutoFit/>
          </a:bodyPr>
          <a:lstStyle/>
          <a:p>
            <a:r>
              <a:rPr lang="en-US" altLang="zh-CN" sz="2000" b="1" noProof="1" smtClean="0">
                <a:solidFill>
                  <a:srgbClr val="C00000"/>
                </a:solidFill>
              </a:rPr>
              <a:t>M) strategic</a:t>
            </a:r>
            <a:endParaRPr lang="zh-CN" altLang="en-US" sz="2000" b="1" dirty="0">
              <a:solidFill>
                <a:srgbClr val="C00000"/>
              </a:solidFill>
            </a:endParaRPr>
          </a:p>
        </p:txBody>
      </p:sp>
      <p:sp>
        <p:nvSpPr>
          <p:cNvPr id="8" name="矩形 7"/>
          <p:cNvSpPr/>
          <p:nvPr/>
        </p:nvSpPr>
        <p:spPr>
          <a:xfrm>
            <a:off x="5576215" y="5135278"/>
            <a:ext cx="1560812" cy="400110"/>
          </a:xfrm>
          <a:prstGeom prst="rect">
            <a:avLst/>
          </a:prstGeom>
        </p:spPr>
        <p:txBody>
          <a:bodyPr wrap="none">
            <a:spAutoFit/>
          </a:bodyPr>
          <a:lstStyle/>
          <a:p>
            <a:r>
              <a:rPr lang="en-US" altLang="zh-CN" sz="2000" b="1" noProof="1" smtClean="0">
                <a:solidFill>
                  <a:srgbClr val="C00000"/>
                </a:solidFill>
              </a:rPr>
              <a:t>E) exploiting </a:t>
            </a:r>
            <a:endParaRPr lang="zh-CN" altLang="en-US" sz="20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829945"/>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 </a:t>
            </a:r>
            <a:r>
              <a:rPr lang="en-US" altLang="zh-CN" sz="6000" kern="0" dirty="0" smtClean="0">
                <a:solidFill>
                  <a:srgbClr val="FF0000"/>
                </a:solidFill>
              </a:rPr>
              <a:t>4</a:t>
            </a:r>
            <a:endParaRPr lang="en-US" altLang="zh-CN" sz="6000" kern="0" dirty="0" smtClean="0">
              <a:solidFill>
                <a:srgbClr val="FF0000"/>
              </a:solidFill>
            </a:endParaRPr>
          </a:p>
        </p:txBody>
      </p:sp>
      <p:sp>
        <p:nvSpPr>
          <p:cNvPr id="10" name="TextBox 9"/>
          <p:cNvSpPr txBox="1"/>
          <p:nvPr/>
        </p:nvSpPr>
        <p:spPr>
          <a:xfrm>
            <a:off x="5410200" y="2667000"/>
            <a:ext cx="4288790" cy="1445260"/>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选词填空</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6700" y="2484120"/>
            <a:ext cx="11844655" cy="4013200"/>
          </a:xfrm>
        </p:spPr>
        <p:txBody>
          <a:bodyPr>
            <a:normAutofit lnSpcReduction="10000"/>
          </a:bodyPr>
          <a:lstStyle/>
          <a:p>
            <a:pPr marL="0" indent="0">
              <a:lnSpc>
                <a:spcPct val="130000"/>
              </a:lnSpc>
              <a:spcBef>
                <a:spcPts val="20"/>
              </a:spcBef>
              <a:spcAft>
                <a:spcPts val="0"/>
              </a:spcAft>
              <a:buNone/>
            </a:pPr>
            <a:r>
              <a:rPr lang="en-US" altLang="zh-CN" sz="2800" dirty="0" smtClean="0">
                <a:solidFill>
                  <a:schemeClr val="tx1"/>
                </a:solidFill>
                <a:latin typeface="Times New Roman" panose="02020603050405020304" pitchFamily="18" charset="0"/>
                <a:sym typeface="+mn-ea"/>
              </a:rPr>
              <a:t>The Sun Is Also a Star is a truly lovely story of love, romance, fate and destiny.</a:t>
            </a:r>
            <a:endParaRPr lang="en-US" altLang="zh-CN" sz="2800" dirty="0" smtClean="0">
              <a:solidFill>
                <a:schemeClr val="tx1"/>
              </a:solidFill>
              <a:latin typeface="Times New Roman" panose="02020603050405020304" pitchFamily="18" charset="0"/>
              <a:sym typeface="+mn-ea"/>
            </a:endParaRPr>
          </a:p>
          <a:p>
            <a:pPr marL="0" indent="0">
              <a:lnSpc>
                <a:spcPct val="130000"/>
              </a:lnSpc>
              <a:spcBef>
                <a:spcPts val="20"/>
              </a:spcBef>
              <a:spcAft>
                <a:spcPts val="0"/>
              </a:spcAft>
              <a:buNone/>
            </a:pPr>
            <a:r>
              <a:rPr lang="en-US" altLang="zh-CN" sz="2800" dirty="0" smtClean="0">
                <a:solidFill>
                  <a:schemeClr val="tx1"/>
                </a:solidFill>
                <a:latin typeface="Times New Roman" panose="02020603050405020304" pitchFamily="18" charset="0"/>
                <a:sym typeface="+mn-ea"/>
              </a:rPr>
              <a:t>Natasha is a Jamaican-born immigrant living </a:t>
            </a:r>
            <a:r>
              <a:rPr lang="en-US" altLang="zh-CN" sz="2800" dirty="0" smtClean="0">
                <a:solidFill>
                  <a:schemeClr val="tx1"/>
                </a:solidFill>
                <a:highlight>
                  <a:srgbClr val="FFFF00"/>
                </a:highlight>
                <a:latin typeface="Times New Roman" panose="02020603050405020304" pitchFamily="18" charset="0"/>
                <a:sym typeface="+mn-ea"/>
              </a:rPr>
              <a:t>(26)________</a:t>
            </a:r>
            <a:r>
              <a:rPr lang="en-US" altLang="zh-CN" sz="2800" dirty="0" smtClean="0">
                <a:solidFill>
                  <a:schemeClr val="tx1"/>
                </a:solidFill>
                <a:latin typeface="Times New Roman" panose="02020603050405020304" pitchFamily="18" charset="0"/>
                <a:sym typeface="+mn-ea"/>
              </a:rPr>
              <a:t> in America, not by choice exactly. Her parents brought her over and created the situation she </a:t>
            </a:r>
            <a:r>
              <a:rPr lang="en-US" altLang="zh-CN" sz="2800" dirty="0" smtClean="0">
                <a:solidFill>
                  <a:schemeClr val="tx1"/>
                </a:solidFill>
                <a:highlight>
                  <a:srgbClr val="FFFF00"/>
                </a:highlight>
                <a:latin typeface="Times New Roman" panose="02020603050405020304" pitchFamily="18" charset="0"/>
                <a:sym typeface="+mn-ea"/>
              </a:rPr>
              <a:t>(27)________</a:t>
            </a:r>
            <a:r>
              <a:rPr lang="en-US" altLang="zh-CN" sz="2800" dirty="0" smtClean="0">
                <a:solidFill>
                  <a:schemeClr val="tx1"/>
                </a:solidFill>
                <a:latin typeface="Times New Roman" panose="02020603050405020304" pitchFamily="18" charset="0"/>
                <a:sym typeface="+mn-ea"/>
              </a:rPr>
              <a:t> </a:t>
            </a:r>
            <a:r>
              <a:rPr lang="en-US" altLang="zh-CN" sz="2800" dirty="0">
                <a:solidFill>
                  <a:schemeClr val="tx1"/>
                </a:solidFill>
                <a:latin typeface="Times New Roman" panose="02020603050405020304" pitchFamily="18" charset="0"/>
                <a:ea typeface="宋体" panose="02010600030101010101" pitchFamily="2" charset="-122"/>
              </a:rPr>
              <a:t>to be out of.</a:t>
            </a:r>
            <a:endParaRPr lang="en-US" altLang="zh-CN" sz="2800" dirty="0">
              <a:solidFill>
                <a:schemeClr val="tx1"/>
              </a:solidFill>
              <a:latin typeface="Times New Roman" panose="02020603050405020304" pitchFamily="18" charset="0"/>
              <a:ea typeface="宋体" panose="02010600030101010101" pitchFamily="2" charset="-122"/>
            </a:endParaRPr>
          </a:p>
          <a:p>
            <a:pPr marL="0" indent="0">
              <a:lnSpc>
                <a:spcPct val="130000"/>
              </a:lnSpc>
              <a:spcBef>
                <a:spcPts val="20"/>
              </a:spcBef>
              <a:spcAft>
                <a:spcPts val="0"/>
              </a:spcAft>
              <a:buNone/>
            </a:pPr>
            <a:r>
              <a:rPr lang="en-US" altLang="zh-CN" sz="2800" dirty="0">
                <a:solidFill>
                  <a:schemeClr val="tx1"/>
                </a:solidFill>
                <a:latin typeface="Times New Roman" panose="02020603050405020304" pitchFamily="18" charset="0"/>
                <a:ea typeface="宋体" panose="02010600030101010101" pitchFamily="2" charset="-122"/>
              </a:rPr>
              <a:t>Daniel is an Americann born of Korean immigrants. He believes in true love, fate and all that other nonsense that Natasha</a:t>
            </a:r>
            <a:r>
              <a:rPr lang="en-US" altLang="zh-CN" sz="2800" dirty="0">
                <a:solidFill>
                  <a:schemeClr val="tx1"/>
                </a:solidFill>
                <a:highlight>
                  <a:srgbClr val="FFFF00"/>
                </a:highlight>
                <a:latin typeface="Times New Roman" panose="02020603050405020304" pitchFamily="18" charset="0"/>
                <a:ea typeface="宋体" panose="02010600030101010101" pitchFamily="2" charset="-122"/>
              </a:rPr>
              <a:t>(28) __________</a:t>
            </a:r>
            <a:r>
              <a:rPr lang="en-US" altLang="zh-CN" sz="2800" dirty="0">
                <a:solidFill>
                  <a:schemeClr val="tx1"/>
                </a:solidFill>
                <a:latin typeface="Times New Roman" panose="02020603050405020304" pitchFamily="18" charset="0"/>
                <a:ea typeface="宋体" panose="02010600030101010101" pitchFamily="2" charset="-122"/>
              </a:rPr>
              <a:t> through scientific reasoning.</a:t>
            </a:r>
            <a:endParaRPr lang="en-US" altLang="zh-CN" sz="2800" dirty="0">
              <a:solidFill>
                <a:schemeClr val="tx1"/>
              </a:solidFill>
              <a:latin typeface="Times New Roman" panose="02020603050405020304" pitchFamily="18" charset="0"/>
              <a:ea typeface="宋体" panose="02010600030101010101" pitchFamily="2" charset="-122"/>
            </a:endParaRPr>
          </a:p>
          <a:p>
            <a:pPr marL="0" indent="0">
              <a:lnSpc>
                <a:spcPct val="150000"/>
              </a:lnSpc>
              <a:buNone/>
            </a:pPr>
            <a:endParaRPr lang="zh-CN" altLang="en-US" sz="2800" dirty="0">
              <a:solidFill>
                <a:srgbClr val="FF9900"/>
              </a:solidFill>
              <a:latin typeface="Times New Roman" panose="02020603050405020304" pitchFamily="18" charset="0"/>
              <a:ea typeface="宋体" panose="02010600030101010101" pitchFamily="2" charset="-122"/>
            </a:endParaRPr>
          </a:p>
          <a:p>
            <a:pPr marL="0" indent="0">
              <a:lnSpc>
                <a:spcPct val="150000"/>
              </a:lnSpc>
              <a:buNone/>
            </a:pPr>
            <a:endParaRPr lang="zh-CN" altLang="en-US" sz="2800" b="1" dirty="0">
              <a:solidFill>
                <a:srgbClr val="FF9900"/>
              </a:solidFill>
              <a:latin typeface="Times New Roman" panose="02020603050405020304" pitchFamily="18" charset="0"/>
              <a:ea typeface="宋体" panose="02010600030101010101" pitchFamily="2" charset="-122"/>
            </a:endParaRPr>
          </a:p>
          <a:p>
            <a:pPr marL="0" indent="0">
              <a:buNone/>
            </a:pPr>
            <a:endParaRPr lang="zh-CN" altLang="en-US" sz="2800" dirty="0">
              <a:latin typeface="Times New Roman" panose="02020603050405020304" pitchFamily="18" charset="0"/>
            </a:endParaRPr>
          </a:p>
          <a:p>
            <a:pPr marL="0" indent="0">
              <a:buNone/>
            </a:pPr>
            <a:endParaRPr lang="zh-CN" altLang="en-US" sz="2400"/>
          </a:p>
        </p:txBody>
      </p:sp>
      <p:sp>
        <p:nvSpPr>
          <p:cNvPr id="7" name="矩形 6"/>
          <p:cNvSpPr/>
          <p:nvPr/>
        </p:nvSpPr>
        <p:spPr>
          <a:xfrm>
            <a:off x="1246505" y="223520"/>
            <a:ext cx="9885045" cy="2002790"/>
          </a:xfrm>
          <a:prstGeom prst="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en-US" altLang="zh-CN" sz="2400" dirty="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A) </a:t>
            </a:r>
            <a:r>
              <a:rPr lang="en-US" altLang="zh-CN" sz="2400" dirty="0" smtClean="0">
                <a:solidFill>
                  <a:schemeClr val="tx1"/>
                </a:solidFill>
                <a:latin typeface="Times New Roman" panose="02020603050405020304" pitchFamily="18" charset="0"/>
                <a:ea typeface="楷体_GB2312" pitchFamily="49" charset="-122"/>
                <a:cs typeface="+mn-ea"/>
                <a:sym typeface="+mn-ea"/>
              </a:rPr>
              <a:t>adore</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B) </a:t>
            </a:r>
            <a:r>
              <a:rPr lang="en-US" altLang="zh-CN" sz="2400" dirty="0" smtClean="0">
                <a:solidFill>
                  <a:schemeClr val="tx1"/>
                </a:solidFill>
                <a:latin typeface="Times New Roman" panose="02020603050405020304" pitchFamily="18" charset="0"/>
                <a:ea typeface="楷体_GB2312" pitchFamily="49" charset="-122"/>
                <a:cs typeface="+mn-ea"/>
                <a:sym typeface="+mn-ea"/>
              </a:rPr>
              <a:t>appraise</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C) </a:t>
            </a:r>
            <a:r>
              <a:rPr lang="en-US" altLang="zh-CN" sz="2400" dirty="0" smtClean="0">
                <a:solidFill>
                  <a:schemeClr val="tx1"/>
                </a:solidFill>
                <a:latin typeface="Times New Roman" panose="02020603050405020304" pitchFamily="18" charset="0"/>
                <a:ea typeface="楷体_GB2312" pitchFamily="49" charset="-122"/>
                <a:cs typeface="+mn-ea"/>
                <a:sym typeface="+mn-ea"/>
              </a:rPr>
              <a:t>assaults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D) </a:t>
            </a:r>
            <a:r>
              <a:rPr lang="en-US" altLang="zh-CN" sz="2400" dirty="0" smtClean="0">
                <a:solidFill>
                  <a:schemeClr val="tx1"/>
                </a:solidFill>
                <a:latin typeface="Times New Roman" panose="02020603050405020304" pitchFamily="18" charset="0"/>
                <a:ea typeface="楷体_GB2312" pitchFamily="49" charset="-122"/>
                <a:cs typeface="+mn-ea"/>
                <a:sym typeface="+mn-ea"/>
              </a:rPr>
              <a:t>chemistry</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E) </a:t>
            </a:r>
            <a:r>
              <a:rPr lang="en-US" altLang="zh-CN" sz="2400" dirty="0" smtClean="0">
                <a:solidFill>
                  <a:schemeClr val="tx1"/>
                </a:solidFill>
                <a:latin typeface="Times New Roman" panose="02020603050405020304" pitchFamily="18" charset="0"/>
                <a:ea typeface="楷体_GB2312" pitchFamily="49" charset="-122"/>
                <a:cs typeface="+mn-ea"/>
                <a:sym typeface="+mn-ea"/>
              </a:rPr>
              <a:t>coincidence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p:txBody>
      </p:sp>
      <p:sp>
        <p:nvSpPr>
          <p:cNvPr id="2" name="文本框 1"/>
          <p:cNvSpPr txBox="1"/>
          <p:nvPr/>
        </p:nvSpPr>
        <p:spPr>
          <a:xfrm>
            <a:off x="4249420" y="255905"/>
            <a:ext cx="2811780" cy="1938020"/>
          </a:xfrm>
          <a:prstGeom prst="rect">
            <a:avLst/>
          </a:prstGeom>
          <a:noFill/>
        </p:spPr>
        <p:txBody>
          <a:bodyPr wrap="square" rtlCol="0" anchor="t">
            <a:spAutoFit/>
          </a:bodyPr>
          <a:lstStyle/>
          <a:p>
            <a:pPr>
              <a:defRPr/>
            </a:pPr>
            <a:r>
              <a:rPr lang="en-US" altLang="zh-CN" sz="2400" dirty="0">
                <a:solidFill>
                  <a:schemeClr val="tx1"/>
                </a:solidFill>
                <a:latin typeface="Times New Roman" panose="02020603050405020304" pitchFamily="18" charset="0"/>
                <a:ea typeface="楷体_GB2312" pitchFamily="49" charset="-122"/>
                <a:cs typeface="+mn-ea"/>
                <a:sym typeface="+mn-ea"/>
              </a:rPr>
              <a:t>F) </a:t>
            </a:r>
            <a:r>
              <a:rPr lang="en-US" altLang="zh-CN" sz="2400" dirty="0" smtClean="0">
                <a:solidFill>
                  <a:schemeClr val="tx1"/>
                </a:solidFill>
                <a:latin typeface="Times New Roman" panose="02020603050405020304" pitchFamily="18" charset="0"/>
                <a:ea typeface="楷体_GB2312" pitchFamily="49" charset="-122"/>
                <a:cs typeface="+mn-ea"/>
                <a:sym typeface="+mn-ea"/>
              </a:rPr>
              <a:t>cracks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G) deported</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ea typeface="楷体_GB2312" pitchFamily="49" charset="-122"/>
                <a:cs typeface="+mn-ea"/>
                <a:sym typeface="+mn-ea"/>
              </a:rPr>
              <a:t> </a:t>
            </a:r>
            <a:endParaRPr lang="en-US" altLang="zh-CN" sz="2400" dirty="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a:solidFill>
                  <a:schemeClr val="tx1"/>
                </a:solidFill>
                <a:latin typeface="Times New Roman" panose="02020603050405020304" pitchFamily="18" charset="0"/>
                <a:ea typeface="楷体_GB2312" pitchFamily="49" charset="-122"/>
                <a:cs typeface="+mn-ea"/>
                <a:sym typeface="+mn-ea"/>
              </a:rPr>
              <a:t>H) </a:t>
            </a:r>
            <a:r>
              <a:rPr lang="en-US" altLang="zh-CN" sz="2400" dirty="0" smtClean="0">
                <a:solidFill>
                  <a:schemeClr val="tx1"/>
                </a:solidFill>
                <a:latin typeface="Times New Roman" panose="02020603050405020304" pitchFamily="18" charset="0"/>
                <a:ea typeface="楷体_GB2312" pitchFamily="49" charset="-122"/>
                <a:cs typeface="+mn-ea"/>
                <a:sym typeface="+mn-ea"/>
              </a:rPr>
              <a:t>dismisses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sym typeface="+mn-ea"/>
              </a:rPr>
              <a:t>I) </a:t>
            </a:r>
            <a:r>
              <a:rPr lang="en-US" altLang="zh-CN" sz="2400" dirty="0" smtClean="0">
                <a:solidFill>
                  <a:schemeClr val="tx1"/>
                </a:solidFill>
                <a:latin typeface="Times New Roman" panose="02020603050405020304" pitchFamily="18" charset="0"/>
                <a:sym typeface="+mn-ea"/>
              </a:rPr>
              <a:t>illegally</a:t>
            </a:r>
            <a:r>
              <a:rPr lang="en-US" altLang="zh-CN" sz="2400" dirty="0" smtClean="0">
                <a:solidFill>
                  <a:schemeClr val="tx1"/>
                </a:solidFill>
                <a:latin typeface="Times New Roman" panose="02020603050405020304" pitchFamily="18" charset="0"/>
                <a:sym typeface="+mn-ea"/>
              </a:rPr>
              <a:t>   </a:t>
            </a:r>
            <a:endParaRPr lang="en-US" altLang="zh-CN" sz="2400" dirty="0" smtClean="0">
              <a:solidFill>
                <a:schemeClr val="tx1"/>
              </a:solidFill>
              <a:latin typeface="Times New Roman" panose="02020603050405020304" pitchFamily="18" charset="0"/>
              <a:sym typeface="+mn-ea"/>
            </a:endParaRPr>
          </a:p>
          <a:p>
            <a:pPr>
              <a:defRPr/>
            </a:pPr>
            <a:r>
              <a:rPr lang="en-US" altLang="zh-CN" sz="2400" dirty="0">
                <a:solidFill>
                  <a:schemeClr val="tx1"/>
                </a:solidFill>
                <a:latin typeface="Times New Roman" panose="02020603050405020304" pitchFamily="18" charset="0"/>
                <a:sym typeface="+mn-ea"/>
              </a:rPr>
              <a:t>J) </a:t>
            </a:r>
            <a:r>
              <a:rPr lang="en-US" altLang="zh-CN" sz="2400" dirty="0" smtClean="0">
                <a:solidFill>
                  <a:schemeClr val="tx1"/>
                </a:solidFill>
                <a:latin typeface="Times New Roman" panose="02020603050405020304" pitchFamily="18" charset="0"/>
                <a:sym typeface="+mn-ea"/>
              </a:rPr>
              <a:t>lost</a:t>
            </a:r>
            <a:endParaRPr lang="zh-CN" altLang="en-US" sz="2400"/>
          </a:p>
        </p:txBody>
      </p:sp>
      <p:sp>
        <p:nvSpPr>
          <p:cNvPr id="4" name="文本框 3"/>
          <p:cNvSpPr txBox="1"/>
          <p:nvPr/>
        </p:nvSpPr>
        <p:spPr>
          <a:xfrm>
            <a:off x="7601585" y="255905"/>
            <a:ext cx="3416935" cy="1938020"/>
          </a:xfrm>
          <a:prstGeom prst="rect">
            <a:avLst/>
          </a:prstGeom>
          <a:noFill/>
        </p:spPr>
        <p:txBody>
          <a:bodyPr wrap="square" rtlCol="0">
            <a:spAutoFit/>
          </a:bodyPr>
          <a:lstStyle>
            <a:defPPr>
              <a:defRPr lang="en-US"/>
            </a:defPPr>
            <a:lvl1pPr>
              <a:defRPr sz="2400">
                <a:solidFill>
                  <a:srgbClr val="002060"/>
                </a:solidFill>
                <a:latin typeface="Times New Roman" panose="02020603050405020304" pitchFamily="18" charset="0"/>
                <a:ea typeface="楷体_GB2312" pitchFamily="49" charset="-122"/>
                <a:cs typeface="+mn-ea"/>
              </a:defRPr>
            </a:lvl1pPr>
          </a:lstStyle>
          <a:p>
            <a:r>
              <a:rPr lang="en-US" altLang="zh-CN" dirty="0">
                <a:solidFill>
                  <a:schemeClr val="tx1"/>
                </a:solidFill>
              </a:rPr>
              <a:t>K) </a:t>
            </a:r>
            <a:r>
              <a:rPr lang="en-US" altLang="zh-CN" dirty="0" smtClean="0">
                <a:solidFill>
                  <a:schemeClr val="tx1"/>
                </a:solidFill>
              </a:rPr>
              <a:t>perpetually</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L) </a:t>
            </a:r>
            <a:r>
              <a:rPr lang="en-US" altLang="zh-CN" dirty="0" smtClean="0">
                <a:solidFill>
                  <a:schemeClr val="tx1"/>
                </a:solidFill>
              </a:rPr>
              <a:t>prescribed</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M) </a:t>
            </a:r>
            <a:r>
              <a:rPr lang="en-US" altLang="zh-CN" dirty="0" smtClean="0">
                <a:solidFill>
                  <a:schemeClr val="tx1"/>
                </a:solidFill>
              </a:rPr>
              <a:t>shrewd</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N) </a:t>
            </a:r>
            <a:r>
              <a:rPr lang="en-US" altLang="zh-CN" dirty="0" smtClean="0">
                <a:solidFill>
                  <a:schemeClr val="tx1"/>
                </a:solidFill>
              </a:rPr>
              <a:t>skeptical</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O) </a:t>
            </a:r>
            <a:r>
              <a:rPr lang="en-US" altLang="zh-CN" dirty="0" smtClean="0">
                <a:solidFill>
                  <a:schemeClr val="tx1"/>
                </a:solidFill>
              </a:rPr>
              <a:t>strives</a:t>
            </a:r>
            <a:endParaRPr lang="en-US" altLang="zh-CN" dirty="0" smtClean="0">
              <a:solidFill>
                <a:schemeClr val="tx1"/>
              </a:solidFill>
            </a:endParaRPr>
          </a:p>
        </p:txBody>
      </p:sp>
      <p:sp>
        <p:nvSpPr>
          <p:cNvPr id="5" name="文本框 4"/>
          <p:cNvSpPr txBox="1"/>
          <p:nvPr/>
        </p:nvSpPr>
        <p:spPr>
          <a:xfrm>
            <a:off x="7400290" y="3054985"/>
            <a:ext cx="1527810"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sym typeface="+mn-ea"/>
              </a:rPr>
              <a:t>I) </a:t>
            </a:r>
            <a:r>
              <a:rPr lang="en-US" altLang="zh-CN" sz="2400" b="1" dirty="0" smtClean="0">
                <a:solidFill>
                  <a:srgbClr val="FF0000"/>
                </a:solidFill>
                <a:latin typeface="Times New Roman" panose="02020603050405020304" pitchFamily="18" charset="0"/>
                <a:sym typeface="+mn-ea"/>
              </a:rPr>
              <a:t>illegally</a:t>
            </a:r>
            <a:endParaRPr lang="en-US" altLang="zh-CN" sz="2400" b="1" dirty="0" smtClean="0">
              <a:solidFill>
                <a:srgbClr val="FF0000"/>
              </a:solidFill>
              <a:latin typeface="Times New Roman" panose="02020603050405020304" pitchFamily="18" charset="0"/>
              <a:sym typeface="+mn-ea"/>
            </a:endParaRPr>
          </a:p>
        </p:txBody>
      </p:sp>
      <p:sp>
        <p:nvSpPr>
          <p:cNvPr id="6" name="文本框 5"/>
          <p:cNvSpPr txBox="1"/>
          <p:nvPr/>
        </p:nvSpPr>
        <p:spPr>
          <a:xfrm>
            <a:off x="1000125" y="4140200"/>
            <a:ext cx="1520190"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cs typeface="Times New Roman" panose="02020603050405020304" pitchFamily="18" charset="0"/>
                <a:sym typeface="+mn-ea"/>
              </a:rPr>
              <a:t>O) </a:t>
            </a:r>
            <a:r>
              <a:rPr lang="en-US" altLang="zh-CN" sz="2400" b="1" dirty="0" smtClean="0">
                <a:solidFill>
                  <a:srgbClr val="FF0000"/>
                </a:solidFill>
                <a:latin typeface="Times New Roman" panose="02020603050405020304" pitchFamily="18" charset="0"/>
                <a:cs typeface="Times New Roman" panose="02020603050405020304" pitchFamily="18" charset="0"/>
                <a:sym typeface="+mn-ea"/>
              </a:rPr>
              <a:t>strives</a:t>
            </a:r>
            <a:endParaRPr lang="en-US" altLang="zh-CN" sz="2400" b="1" dirty="0" smtClean="0">
              <a:solidFill>
                <a:srgbClr val="FF0000"/>
              </a:solidFill>
              <a:latin typeface="Times New Roman" panose="02020603050405020304" pitchFamily="18" charset="0"/>
              <a:cs typeface="Times New Roman" panose="02020603050405020304" pitchFamily="18" charset="0"/>
              <a:sym typeface="+mn-ea"/>
            </a:endParaRPr>
          </a:p>
        </p:txBody>
      </p:sp>
      <p:sp>
        <p:nvSpPr>
          <p:cNvPr id="8" name="文本框 7"/>
          <p:cNvSpPr txBox="1"/>
          <p:nvPr/>
        </p:nvSpPr>
        <p:spPr>
          <a:xfrm>
            <a:off x="6556375" y="5142865"/>
            <a:ext cx="1846580"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ea typeface="楷体_GB2312" pitchFamily="49" charset="-122"/>
                <a:cs typeface="+mn-ea"/>
                <a:sym typeface="+mn-ea"/>
              </a:rPr>
              <a:t>H) </a:t>
            </a:r>
            <a:r>
              <a:rPr lang="en-US" altLang="zh-CN" sz="2400" b="1" dirty="0" smtClean="0">
                <a:solidFill>
                  <a:srgbClr val="FF0000"/>
                </a:solidFill>
                <a:latin typeface="Times New Roman" panose="02020603050405020304" pitchFamily="18" charset="0"/>
                <a:ea typeface="楷体_GB2312" pitchFamily="49" charset="-122"/>
                <a:cs typeface="+mn-ea"/>
                <a:sym typeface="+mn-ea"/>
              </a:rPr>
              <a:t>dismisses</a:t>
            </a:r>
            <a:endParaRPr lang="en-US" altLang="zh-CN" sz="2400" b="1" dirty="0" smtClean="0">
              <a:solidFill>
                <a:srgbClr val="FF0000"/>
              </a:solidFill>
              <a:latin typeface="Times New Roman" panose="02020603050405020304" pitchFamily="18" charset="0"/>
              <a:ea typeface="楷体_GB2312" pitchFamily="49" charset="-122"/>
              <a:cs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3355" y="2545080"/>
            <a:ext cx="11844655" cy="3884930"/>
          </a:xfrm>
        </p:spPr>
        <p:txBody>
          <a:bodyPr>
            <a:normAutofit lnSpcReduction="20000"/>
          </a:bodyPr>
          <a:lstStyle/>
          <a:p>
            <a:pPr marL="0" indent="0">
              <a:lnSpc>
                <a:spcPct val="125000"/>
              </a:lnSpc>
              <a:spcBef>
                <a:spcPts val="20"/>
              </a:spcBef>
              <a:spcAft>
                <a:spcPts val="0"/>
              </a:spcAft>
              <a:buNone/>
            </a:pPr>
            <a:r>
              <a:rPr lang="en-US" altLang="zh-CN" sz="2800" dirty="0" smtClean="0">
                <a:solidFill>
                  <a:schemeClr val="tx1"/>
                </a:solidFill>
                <a:latin typeface="Times New Roman" panose="02020603050405020304" pitchFamily="18" charset="0"/>
                <a:sym typeface="+mn-ea"/>
              </a:rPr>
              <a:t>Daniel and Natasha meet by </a:t>
            </a:r>
            <a:r>
              <a:rPr lang="en-US" altLang="zh-CN" sz="2800" dirty="0" smtClean="0">
                <a:solidFill>
                  <a:schemeClr val="tx1"/>
                </a:solidFill>
                <a:highlight>
                  <a:srgbClr val="FFFF00"/>
                </a:highlight>
                <a:latin typeface="Times New Roman" panose="02020603050405020304" pitchFamily="18" charset="0"/>
                <a:sym typeface="+mn-ea"/>
              </a:rPr>
              <a:t>(29)__________</a:t>
            </a:r>
            <a:r>
              <a:rPr lang="en-US" altLang="zh-CN" sz="2800" dirty="0" smtClean="0">
                <a:solidFill>
                  <a:schemeClr val="tx1"/>
                </a:solidFill>
                <a:latin typeface="Times New Roman" panose="02020603050405020304" pitchFamily="18" charset="0"/>
                <a:sym typeface="+mn-ea"/>
              </a:rPr>
              <a:t> on the streets of New York on the day that she is to be </a:t>
            </a:r>
            <a:r>
              <a:rPr lang="en-US" altLang="zh-CN" sz="2800" dirty="0" smtClean="0">
                <a:solidFill>
                  <a:schemeClr val="tx1"/>
                </a:solidFill>
                <a:highlight>
                  <a:srgbClr val="FFFF00"/>
                </a:highlight>
                <a:latin typeface="Times New Roman" panose="02020603050405020304" pitchFamily="18" charset="0"/>
                <a:sym typeface="+mn-ea"/>
              </a:rPr>
              <a:t>(30)________</a:t>
            </a:r>
            <a:r>
              <a:rPr lang="en-US" altLang="zh-CN" sz="2800" dirty="0" smtClean="0">
                <a:solidFill>
                  <a:schemeClr val="tx1"/>
                </a:solidFill>
                <a:latin typeface="Times New Roman" panose="02020603050405020304" pitchFamily="18" charset="0"/>
                <a:sym typeface="+mn-ea"/>
              </a:rPr>
              <a:t>. She doesn’t tell him that but does allow him to keep her company while he tries to get her to fall in love with him over the course of the day.</a:t>
            </a:r>
            <a:endParaRPr lang="en-US" altLang="zh-CN" sz="2800" dirty="0" smtClean="0">
              <a:solidFill>
                <a:schemeClr val="tx1"/>
              </a:solidFill>
              <a:latin typeface="Times New Roman" panose="02020603050405020304" pitchFamily="18" charset="0"/>
              <a:sym typeface="+mn-ea"/>
            </a:endParaRPr>
          </a:p>
          <a:p>
            <a:pPr marL="0" indent="0">
              <a:lnSpc>
                <a:spcPct val="125000"/>
              </a:lnSpc>
              <a:spcBef>
                <a:spcPts val="20"/>
              </a:spcBef>
              <a:spcAft>
                <a:spcPts val="0"/>
              </a:spcAft>
              <a:buNone/>
            </a:pPr>
            <a:r>
              <a:rPr lang="en-US" altLang="zh-CN" sz="2800" dirty="0" smtClean="0">
                <a:solidFill>
                  <a:schemeClr val="tx1"/>
                </a:solidFill>
                <a:latin typeface="Times New Roman" panose="02020603050405020304" pitchFamily="18" charset="0"/>
                <a:sym typeface="+mn-ea"/>
              </a:rPr>
              <a:t>Natasha is me. I found her so familiar to myself. She is scientifically-minded, practical, somewhat cynical, and always</a:t>
            </a:r>
            <a:r>
              <a:rPr lang="en-US" altLang="zh-CN" sz="2800" dirty="0" smtClean="0">
                <a:solidFill>
                  <a:schemeClr val="tx1"/>
                </a:solidFill>
                <a:highlight>
                  <a:srgbClr val="FFFF00"/>
                </a:highlight>
                <a:latin typeface="Times New Roman" panose="02020603050405020304" pitchFamily="18" charset="0"/>
                <a:sym typeface="+mn-ea"/>
              </a:rPr>
              <a:t> (31)_________</a:t>
            </a:r>
            <a:r>
              <a:rPr lang="en-US" altLang="zh-CN" sz="2800" dirty="0" smtClean="0">
                <a:solidFill>
                  <a:schemeClr val="tx1"/>
                </a:solidFill>
                <a:latin typeface="Times New Roman" panose="02020603050405020304" pitchFamily="18" charset="0"/>
                <a:sym typeface="+mn-ea"/>
              </a:rPr>
              <a:t>. Her obsession with the universe through a scientific lens is infectious and I </a:t>
            </a:r>
            <a:r>
              <a:rPr lang="en-US" altLang="zh-CN" sz="2800" dirty="0" smtClean="0">
                <a:solidFill>
                  <a:schemeClr val="tx1"/>
                </a:solidFill>
                <a:highlight>
                  <a:srgbClr val="FFFF00"/>
                </a:highlight>
                <a:latin typeface="Times New Roman" panose="02020603050405020304" pitchFamily="18" charset="0"/>
                <a:sym typeface="+mn-ea"/>
              </a:rPr>
              <a:t>(32)________ </a:t>
            </a:r>
            <a:r>
              <a:rPr lang="en-US" altLang="zh-CN" sz="2800" dirty="0" smtClean="0">
                <a:solidFill>
                  <a:schemeClr val="tx1"/>
                </a:solidFill>
                <a:latin typeface="Times New Roman" panose="02020603050405020304" pitchFamily="18" charset="0"/>
                <a:sym typeface="+mn-ea"/>
              </a:rPr>
              <a:t>Daniel seeing that too. </a:t>
            </a:r>
            <a:endParaRPr lang="zh-CN" altLang="en-US" sz="2800" b="1" dirty="0">
              <a:solidFill>
                <a:srgbClr val="FF9900"/>
              </a:solidFill>
              <a:latin typeface="Times New Roman" panose="02020603050405020304" pitchFamily="18" charset="0"/>
              <a:ea typeface="宋体" panose="02010600030101010101" pitchFamily="2" charset="-122"/>
            </a:endParaRPr>
          </a:p>
          <a:p>
            <a:pPr marL="0" indent="0">
              <a:buNone/>
            </a:pPr>
            <a:endParaRPr lang="zh-CN" altLang="en-US" sz="2800" dirty="0">
              <a:latin typeface="Times New Roman" panose="02020603050405020304" pitchFamily="18" charset="0"/>
            </a:endParaRPr>
          </a:p>
          <a:p>
            <a:pPr marL="0" indent="0">
              <a:buNone/>
            </a:pPr>
            <a:endParaRPr lang="zh-CN" altLang="en-US" sz="2400"/>
          </a:p>
        </p:txBody>
      </p:sp>
      <p:sp>
        <p:nvSpPr>
          <p:cNvPr id="7" name="矩形 6"/>
          <p:cNvSpPr/>
          <p:nvPr/>
        </p:nvSpPr>
        <p:spPr>
          <a:xfrm>
            <a:off x="1246505" y="223520"/>
            <a:ext cx="9885045" cy="2002790"/>
          </a:xfrm>
          <a:prstGeom prst="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en-US" altLang="zh-CN" sz="2400" dirty="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A) </a:t>
            </a:r>
            <a:r>
              <a:rPr lang="en-US" altLang="zh-CN" sz="2400" dirty="0" smtClean="0">
                <a:solidFill>
                  <a:schemeClr val="tx1"/>
                </a:solidFill>
                <a:latin typeface="Times New Roman" panose="02020603050405020304" pitchFamily="18" charset="0"/>
                <a:ea typeface="楷体_GB2312" pitchFamily="49" charset="-122"/>
                <a:cs typeface="+mn-ea"/>
                <a:sym typeface="+mn-ea"/>
              </a:rPr>
              <a:t>adore</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B) </a:t>
            </a:r>
            <a:r>
              <a:rPr lang="en-US" altLang="zh-CN" sz="2400" dirty="0" smtClean="0">
                <a:solidFill>
                  <a:schemeClr val="tx1"/>
                </a:solidFill>
                <a:latin typeface="Times New Roman" panose="02020603050405020304" pitchFamily="18" charset="0"/>
                <a:ea typeface="楷体_GB2312" pitchFamily="49" charset="-122"/>
                <a:cs typeface="+mn-ea"/>
                <a:sym typeface="+mn-ea"/>
              </a:rPr>
              <a:t>appraise</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C) </a:t>
            </a:r>
            <a:r>
              <a:rPr lang="en-US" altLang="zh-CN" sz="2400" dirty="0" smtClean="0">
                <a:solidFill>
                  <a:schemeClr val="tx1"/>
                </a:solidFill>
                <a:latin typeface="Times New Roman" panose="02020603050405020304" pitchFamily="18" charset="0"/>
                <a:ea typeface="楷体_GB2312" pitchFamily="49" charset="-122"/>
                <a:cs typeface="+mn-ea"/>
                <a:sym typeface="+mn-ea"/>
              </a:rPr>
              <a:t>assaults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D) </a:t>
            </a:r>
            <a:r>
              <a:rPr lang="en-US" altLang="zh-CN" sz="2400" dirty="0" smtClean="0">
                <a:solidFill>
                  <a:schemeClr val="tx1"/>
                </a:solidFill>
                <a:latin typeface="Times New Roman" panose="02020603050405020304" pitchFamily="18" charset="0"/>
                <a:ea typeface="楷体_GB2312" pitchFamily="49" charset="-122"/>
                <a:cs typeface="+mn-ea"/>
                <a:sym typeface="+mn-ea"/>
              </a:rPr>
              <a:t>chemistry</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E) </a:t>
            </a:r>
            <a:r>
              <a:rPr lang="en-US" altLang="zh-CN" sz="2400" dirty="0" smtClean="0">
                <a:solidFill>
                  <a:schemeClr val="tx1"/>
                </a:solidFill>
                <a:latin typeface="Times New Roman" panose="02020603050405020304" pitchFamily="18" charset="0"/>
                <a:ea typeface="楷体_GB2312" pitchFamily="49" charset="-122"/>
                <a:cs typeface="+mn-ea"/>
                <a:sym typeface="+mn-ea"/>
              </a:rPr>
              <a:t>coincidence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p:txBody>
      </p:sp>
      <p:sp>
        <p:nvSpPr>
          <p:cNvPr id="2" name="文本框 1"/>
          <p:cNvSpPr txBox="1"/>
          <p:nvPr/>
        </p:nvSpPr>
        <p:spPr>
          <a:xfrm>
            <a:off x="4249420" y="255905"/>
            <a:ext cx="2811780" cy="1938020"/>
          </a:xfrm>
          <a:prstGeom prst="rect">
            <a:avLst/>
          </a:prstGeom>
          <a:noFill/>
        </p:spPr>
        <p:txBody>
          <a:bodyPr wrap="square" rtlCol="0" anchor="t">
            <a:spAutoFit/>
          </a:bodyPr>
          <a:lstStyle/>
          <a:p>
            <a:pPr>
              <a:defRPr/>
            </a:pPr>
            <a:r>
              <a:rPr lang="en-US" altLang="zh-CN" sz="2400" dirty="0">
                <a:solidFill>
                  <a:schemeClr val="tx1"/>
                </a:solidFill>
                <a:latin typeface="Times New Roman" panose="02020603050405020304" pitchFamily="18" charset="0"/>
                <a:ea typeface="楷体_GB2312" pitchFamily="49" charset="-122"/>
                <a:cs typeface="+mn-ea"/>
                <a:sym typeface="+mn-ea"/>
              </a:rPr>
              <a:t>F) </a:t>
            </a:r>
            <a:r>
              <a:rPr lang="en-US" altLang="zh-CN" sz="2400" dirty="0" smtClean="0">
                <a:solidFill>
                  <a:schemeClr val="tx1"/>
                </a:solidFill>
                <a:latin typeface="Times New Roman" panose="02020603050405020304" pitchFamily="18" charset="0"/>
                <a:ea typeface="楷体_GB2312" pitchFamily="49" charset="-122"/>
                <a:cs typeface="+mn-ea"/>
                <a:sym typeface="+mn-ea"/>
              </a:rPr>
              <a:t>cracks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G) deported</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ea typeface="楷体_GB2312" pitchFamily="49" charset="-122"/>
                <a:cs typeface="+mn-ea"/>
                <a:sym typeface="+mn-ea"/>
              </a:rPr>
              <a:t> </a:t>
            </a:r>
            <a:endParaRPr lang="en-US" altLang="zh-CN" sz="2400" dirty="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a:solidFill>
                  <a:schemeClr val="tx1"/>
                </a:solidFill>
                <a:latin typeface="Times New Roman" panose="02020603050405020304" pitchFamily="18" charset="0"/>
                <a:ea typeface="楷体_GB2312" pitchFamily="49" charset="-122"/>
                <a:cs typeface="+mn-ea"/>
                <a:sym typeface="+mn-ea"/>
              </a:rPr>
              <a:t>H) </a:t>
            </a:r>
            <a:r>
              <a:rPr lang="en-US" altLang="zh-CN" sz="2400" dirty="0" smtClean="0">
                <a:solidFill>
                  <a:schemeClr val="tx1"/>
                </a:solidFill>
                <a:latin typeface="Times New Roman" panose="02020603050405020304" pitchFamily="18" charset="0"/>
                <a:ea typeface="楷体_GB2312" pitchFamily="49" charset="-122"/>
                <a:cs typeface="+mn-ea"/>
                <a:sym typeface="+mn-ea"/>
              </a:rPr>
              <a:t>dismisses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sym typeface="+mn-ea"/>
              </a:rPr>
              <a:t>I) </a:t>
            </a:r>
            <a:r>
              <a:rPr lang="en-US" altLang="zh-CN" sz="2400" dirty="0" smtClean="0">
                <a:solidFill>
                  <a:schemeClr val="tx1"/>
                </a:solidFill>
                <a:latin typeface="Times New Roman" panose="02020603050405020304" pitchFamily="18" charset="0"/>
                <a:sym typeface="+mn-ea"/>
              </a:rPr>
              <a:t>illegally</a:t>
            </a:r>
            <a:r>
              <a:rPr lang="en-US" altLang="zh-CN" sz="2400" dirty="0" smtClean="0">
                <a:solidFill>
                  <a:schemeClr val="tx1"/>
                </a:solidFill>
                <a:latin typeface="Times New Roman" panose="02020603050405020304" pitchFamily="18" charset="0"/>
                <a:sym typeface="+mn-ea"/>
              </a:rPr>
              <a:t>   </a:t>
            </a:r>
            <a:endParaRPr lang="en-US" altLang="zh-CN" sz="2400" dirty="0" smtClean="0">
              <a:solidFill>
                <a:schemeClr val="tx1"/>
              </a:solidFill>
              <a:latin typeface="Times New Roman" panose="02020603050405020304" pitchFamily="18" charset="0"/>
              <a:sym typeface="+mn-ea"/>
            </a:endParaRPr>
          </a:p>
          <a:p>
            <a:pPr>
              <a:defRPr/>
            </a:pPr>
            <a:r>
              <a:rPr lang="en-US" altLang="zh-CN" sz="2400" dirty="0">
                <a:solidFill>
                  <a:schemeClr val="tx1"/>
                </a:solidFill>
                <a:latin typeface="Times New Roman" panose="02020603050405020304" pitchFamily="18" charset="0"/>
                <a:sym typeface="+mn-ea"/>
              </a:rPr>
              <a:t>J) </a:t>
            </a:r>
            <a:r>
              <a:rPr lang="en-US" altLang="zh-CN" sz="2400" dirty="0" smtClean="0">
                <a:solidFill>
                  <a:schemeClr val="tx1"/>
                </a:solidFill>
                <a:latin typeface="Times New Roman" panose="02020603050405020304" pitchFamily="18" charset="0"/>
                <a:sym typeface="+mn-ea"/>
              </a:rPr>
              <a:t>lost</a:t>
            </a:r>
            <a:endParaRPr lang="zh-CN" altLang="en-US" sz="2400"/>
          </a:p>
        </p:txBody>
      </p:sp>
      <p:sp>
        <p:nvSpPr>
          <p:cNvPr id="4" name="文本框 3"/>
          <p:cNvSpPr txBox="1"/>
          <p:nvPr/>
        </p:nvSpPr>
        <p:spPr>
          <a:xfrm>
            <a:off x="7601585" y="255905"/>
            <a:ext cx="3416935" cy="1938020"/>
          </a:xfrm>
          <a:prstGeom prst="rect">
            <a:avLst/>
          </a:prstGeom>
          <a:noFill/>
        </p:spPr>
        <p:txBody>
          <a:bodyPr wrap="square" rtlCol="0">
            <a:spAutoFit/>
          </a:bodyPr>
          <a:lstStyle>
            <a:defPPr>
              <a:defRPr lang="en-US"/>
            </a:defPPr>
            <a:lvl1pPr>
              <a:defRPr sz="2400">
                <a:solidFill>
                  <a:srgbClr val="002060"/>
                </a:solidFill>
                <a:latin typeface="Times New Roman" panose="02020603050405020304" pitchFamily="18" charset="0"/>
                <a:ea typeface="楷体_GB2312" pitchFamily="49" charset="-122"/>
                <a:cs typeface="+mn-ea"/>
              </a:defRPr>
            </a:lvl1pPr>
          </a:lstStyle>
          <a:p>
            <a:r>
              <a:rPr lang="en-US" altLang="zh-CN" dirty="0">
                <a:solidFill>
                  <a:schemeClr val="tx1"/>
                </a:solidFill>
              </a:rPr>
              <a:t>K) </a:t>
            </a:r>
            <a:r>
              <a:rPr lang="en-US" altLang="zh-CN" dirty="0" smtClean="0">
                <a:solidFill>
                  <a:schemeClr val="tx1"/>
                </a:solidFill>
              </a:rPr>
              <a:t>perpetually</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L) </a:t>
            </a:r>
            <a:r>
              <a:rPr lang="en-US" altLang="zh-CN" dirty="0" smtClean="0">
                <a:solidFill>
                  <a:schemeClr val="tx1"/>
                </a:solidFill>
              </a:rPr>
              <a:t>prescribed</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M) </a:t>
            </a:r>
            <a:r>
              <a:rPr lang="en-US" altLang="zh-CN" dirty="0" smtClean="0">
                <a:solidFill>
                  <a:schemeClr val="tx1"/>
                </a:solidFill>
              </a:rPr>
              <a:t>shrewd</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N) </a:t>
            </a:r>
            <a:r>
              <a:rPr lang="en-US" altLang="zh-CN" dirty="0" smtClean="0">
                <a:solidFill>
                  <a:schemeClr val="tx1"/>
                </a:solidFill>
              </a:rPr>
              <a:t>skeptical</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O) </a:t>
            </a:r>
            <a:r>
              <a:rPr lang="en-US" altLang="zh-CN" dirty="0" smtClean="0">
                <a:solidFill>
                  <a:schemeClr val="tx1"/>
                </a:solidFill>
              </a:rPr>
              <a:t>strives</a:t>
            </a:r>
            <a:endParaRPr lang="en-US" altLang="zh-CN" dirty="0" smtClean="0">
              <a:solidFill>
                <a:schemeClr val="tx1"/>
              </a:solidFill>
            </a:endParaRPr>
          </a:p>
        </p:txBody>
      </p:sp>
      <p:sp>
        <p:nvSpPr>
          <p:cNvPr id="5" name="文本框 4"/>
          <p:cNvSpPr txBox="1"/>
          <p:nvPr/>
        </p:nvSpPr>
        <p:spPr>
          <a:xfrm>
            <a:off x="4797425" y="2545080"/>
            <a:ext cx="2093595"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ea typeface="楷体_GB2312" pitchFamily="49" charset="-122"/>
                <a:cs typeface="+mn-ea"/>
                <a:sym typeface="+mn-ea"/>
              </a:rPr>
              <a:t>E) </a:t>
            </a:r>
            <a:r>
              <a:rPr lang="en-US" altLang="zh-CN" sz="2400" b="1" dirty="0" smtClean="0">
                <a:solidFill>
                  <a:srgbClr val="FF0000"/>
                </a:solidFill>
                <a:latin typeface="Times New Roman" panose="02020603050405020304" pitchFamily="18" charset="0"/>
                <a:ea typeface="楷体_GB2312" pitchFamily="49" charset="-122"/>
                <a:cs typeface="+mn-ea"/>
                <a:sym typeface="+mn-ea"/>
              </a:rPr>
              <a:t>coincidence</a:t>
            </a:r>
            <a:endParaRPr lang="en-US" altLang="zh-CN" sz="2400" b="1" dirty="0" smtClean="0">
              <a:solidFill>
                <a:srgbClr val="FF0000"/>
              </a:solidFill>
              <a:latin typeface="Times New Roman" panose="02020603050405020304" pitchFamily="18" charset="0"/>
              <a:ea typeface="楷体_GB2312" pitchFamily="49" charset="-122"/>
              <a:cs typeface="+mn-ea"/>
              <a:sym typeface="+mn-ea"/>
            </a:endParaRPr>
          </a:p>
        </p:txBody>
      </p:sp>
      <p:sp>
        <p:nvSpPr>
          <p:cNvPr id="6" name="文本框 5"/>
          <p:cNvSpPr txBox="1"/>
          <p:nvPr/>
        </p:nvSpPr>
        <p:spPr>
          <a:xfrm>
            <a:off x="3635375" y="3088005"/>
            <a:ext cx="1824990"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ea typeface="楷体_GB2312" pitchFamily="49" charset="-122"/>
                <a:cs typeface="+mn-ea"/>
                <a:sym typeface="+mn-ea"/>
              </a:rPr>
              <a:t>G) deported</a:t>
            </a:r>
            <a:endParaRPr lang="en-US" altLang="zh-CN" sz="2400" b="1" dirty="0">
              <a:solidFill>
                <a:srgbClr val="FF0000"/>
              </a:solidFill>
              <a:latin typeface="Times New Roman" panose="02020603050405020304" pitchFamily="18" charset="0"/>
              <a:ea typeface="楷体_GB2312" pitchFamily="49" charset="-122"/>
              <a:cs typeface="+mn-ea"/>
              <a:sym typeface="+mn-ea"/>
            </a:endParaRPr>
          </a:p>
        </p:txBody>
      </p:sp>
      <p:sp>
        <p:nvSpPr>
          <p:cNvPr id="8" name="文本框 7"/>
          <p:cNvSpPr txBox="1"/>
          <p:nvPr/>
        </p:nvSpPr>
        <p:spPr>
          <a:xfrm>
            <a:off x="6628765" y="4850130"/>
            <a:ext cx="1734820"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cs typeface="Times New Roman" panose="02020603050405020304" pitchFamily="18" charset="0"/>
                <a:sym typeface="+mn-ea"/>
              </a:rPr>
              <a:t>N) </a:t>
            </a:r>
            <a:r>
              <a:rPr lang="en-US" altLang="zh-CN" sz="2400" b="1" dirty="0" smtClean="0">
                <a:solidFill>
                  <a:srgbClr val="FF0000"/>
                </a:solidFill>
                <a:latin typeface="Times New Roman" panose="02020603050405020304" pitchFamily="18" charset="0"/>
                <a:cs typeface="Times New Roman" panose="02020603050405020304" pitchFamily="18" charset="0"/>
                <a:sym typeface="+mn-ea"/>
              </a:rPr>
              <a:t>skeptical</a:t>
            </a:r>
            <a:endParaRPr lang="en-US" altLang="zh-CN" sz="2400" b="1" dirty="0" smtClean="0">
              <a:solidFill>
                <a:srgbClr val="FF0000"/>
              </a:solidFill>
              <a:latin typeface="Times New Roman" panose="02020603050405020304" pitchFamily="18" charset="0"/>
              <a:cs typeface="Times New Roman" panose="02020603050405020304" pitchFamily="18" charset="0"/>
              <a:sym typeface="+mn-ea"/>
            </a:endParaRPr>
          </a:p>
        </p:txBody>
      </p:sp>
      <p:sp>
        <p:nvSpPr>
          <p:cNvPr id="9" name="文本框 8"/>
          <p:cNvSpPr txBox="1"/>
          <p:nvPr/>
        </p:nvSpPr>
        <p:spPr>
          <a:xfrm>
            <a:off x="8274685" y="5310505"/>
            <a:ext cx="1481455"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ea typeface="楷体_GB2312" pitchFamily="49" charset="-122"/>
                <a:cs typeface="+mn-ea"/>
                <a:sym typeface="+mn-ea"/>
              </a:rPr>
              <a:t>A) </a:t>
            </a:r>
            <a:r>
              <a:rPr lang="en-US" altLang="zh-CN" sz="2400" b="1" dirty="0" smtClean="0">
                <a:solidFill>
                  <a:srgbClr val="FF0000"/>
                </a:solidFill>
                <a:latin typeface="Times New Roman" panose="02020603050405020304" pitchFamily="18" charset="0"/>
                <a:ea typeface="楷体_GB2312" pitchFamily="49" charset="-122"/>
                <a:cs typeface="+mn-ea"/>
                <a:sym typeface="+mn-ea"/>
              </a:rPr>
              <a:t>adore</a:t>
            </a:r>
            <a:endParaRPr lang="en-US" altLang="zh-CN" sz="2400" b="1" dirty="0" smtClean="0">
              <a:solidFill>
                <a:srgbClr val="FF0000"/>
              </a:solidFill>
              <a:latin typeface="Times New Roman" panose="02020603050405020304" pitchFamily="18" charset="0"/>
              <a:ea typeface="楷体_GB2312" pitchFamily="49" charset="-122"/>
              <a:cs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8" grpId="0"/>
      <p:bldP spid="8" grpId="1"/>
      <p:bldP spid="9" grpId="0"/>
      <p:bldP spid="9"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3355" y="2545080"/>
            <a:ext cx="11844655" cy="3884930"/>
          </a:xfrm>
        </p:spPr>
        <p:txBody>
          <a:bodyPr>
            <a:normAutofit lnSpcReduction="20000"/>
          </a:bodyPr>
          <a:lstStyle/>
          <a:p>
            <a:pPr marL="0" indent="0">
              <a:lnSpc>
                <a:spcPct val="135000"/>
              </a:lnSpc>
              <a:spcBef>
                <a:spcPts val="20"/>
              </a:spcBef>
              <a:spcAft>
                <a:spcPts val="0"/>
              </a:spcAft>
              <a:buNone/>
            </a:pPr>
            <a:r>
              <a:rPr lang="en-US" altLang="zh-CN" sz="2800" dirty="0" smtClean="0">
                <a:solidFill>
                  <a:schemeClr val="tx1"/>
                </a:solidFill>
                <a:latin typeface="Times New Roman" panose="02020603050405020304" pitchFamily="18" charset="0"/>
                <a:sym typeface="+mn-ea"/>
              </a:rPr>
              <a:t>Daniel </a:t>
            </a:r>
            <a:r>
              <a:rPr lang="en-US" sz="2800" dirty="0" smtClean="0">
                <a:solidFill>
                  <a:schemeClr val="tx1"/>
                </a:solidFill>
                <a:latin typeface="Times New Roman" panose="02020603050405020304" pitchFamily="18" charset="0"/>
                <a:sym typeface="+mn-ea"/>
              </a:rPr>
              <a:t>is charming and passionate and has a way with words that even</a:t>
            </a:r>
            <a:r>
              <a:rPr lang="en-US" sz="2800" dirty="0" smtClean="0">
                <a:solidFill>
                  <a:schemeClr val="tx1"/>
                </a:solidFill>
                <a:highlight>
                  <a:srgbClr val="FFFF00"/>
                </a:highlight>
                <a:latin typeface="Times New Roman" panose="02020603050405020304" pitchFamily="18" charset="0"/>
                <a:sym typeface="+mn-ea"/>
              </a:rPr>
              <a:t>(33)_____ </a:t>
            </a:r>
            <a:endParaRPr lang="en-US" sz="2800" dirty="0" smtClean="0">
              <a:solidFill>
                <a:schemeClr val="tx1"/>
              </a:solidFill>
              <a:highlight>
                <a:srgbClr val="FFFF00"/>
              </a:highlight>
              <a:latin typeface="Times New Roman" panose="02020603050405020304" pitchFamily="18" charset="0"/>
              <a:sym typeface="+mn-ea"/>
            </a:endParaRPr>
          </a:p>
          <a:p>
            <a:pPr marL="0" indent="0">
              <a:lnSpc>
                <a:spcPct val="135000"/>
              </a:lnSpc>
              <a:spcBef>
                <a:spcPts val="20"/>
              </a:spcBef>
              <a:spcAft>
                <a:spcPts val="0"/>
              </a:spcAft>
              <a:buNone/>
            </a:pPr>
            <a:r>
              <a:rPr lang="en-US" sz="2800" dirty="0" smtClean="0">
                <a:solidFill>
                  <a:schemeClr val="tx1"/>
                </a:solidFill>
                <a:latin typeface="Times New Roman" panose="02020603050405020304" pitchFamily="18" charset="0"/>
                <a:sym typeface="+mn-ea"/>
              </a:rPr>
              <a:t>Natasha’s tough outer shell. By the end of the book I fell in love with both of them.</a:t>
            </a:r>
            <a:endParaRPr lang="en-US" sz="2800" dirty="0" smtClean="0">
              <a:solidFill>
                <a:schemeClr val="tx1"/>
              </a:solidFill>
              <a:latin typeface="Times New Roman" panose="02020603050405020304" pitchFamily="18" charset="0"/>
              <a:sym typeface="+mn-ea"/>
            </a:endParaRPr>
          </a:p>
          <a:p>
            <a:pPr marL="0" indent="0">
              <a:lnSpc>
                <a:spcPct val="135000"/>
              </a:lnSpc>
              <a:spcBef>
                <a:spcPts val="20"/>
              </a:spcBef>
              <a:spcAft>
                <a:spcPts val="0"/>
              </a:spcAft>
              <a:buNone/>
            </a:pPr>
            <a:r>
              <a:rPr lang="en-US" sz="2800" dirty="0" smtClean="0">
                <a:solidFill>
                  <a:schemeClr val="tx1"/>
                </a:solidFill>
                <a:latin typeface="Times New Roman" panose="02020603050405020304" pitchFamily="18" charset="0"/>
                <a:sym typeface="+mn-ea"/>
              </a:rPr>
              <a:t>I used to find romance stories to always be cheap or laughable. I think now I can see the value in escaping into a story of pure optimism. I got </a:t>
            </a:r>
            <a:r>
              <a:rPr lang="en-US" sz="2800" dirty="0" smtClean="0">
                <a:solidFill>
                  <a:schemeClr val="tx1"/>
                </a:solidFill>
                <a:highlight>
                  <a:srgbClr val="FFFF00"/>
                </a:highlight>
                <a:latin typeface="Times New Roman" panose="02020603050405020304" pitchFamily="18" charset="0"/>
                <a:sym typeface="+mn-ea"/>
              </a:rPr>
              <a:t>(34)_______</a:t>
            </a:r>
            <a:r>
              <a:rPr lang="en-US" sz="2800" dirty="0" smtClean="0">
                <a:solidFill>
                  <a:schemeClr val="tx1"/>
                </a:solidFill>
                <a:latin typeface="Times New Roman" panose="02020603050405020304" pitchFamily="18" charset="0"/>
                <a:sym typeface="+mn-ea"/>
              </a:rPr>
              <a:t> in The Sun Is Also a Star and finished it cover to cover in a weekend. I couldn’t wait to get to what I hoped would be a happy ending.</a:t>
            </a:r>
            <a:endParaRPr lang="zh-CN" altLang="en-US" sz="2800" dirty="0">
              <a:latin typeface="Times New Roman" panose="02020603050405020304" pitchFamily="18" charset="0"/>
            </a:endParaRPr>
          </a:p>
          <a:p>
            <a:pPr marL="0" indent="0">
              <a:buNone/>
            </a:pPr>
            <a:endParaRPr lang="zh-CN" altLang="en-US" sz="2400"/>
          </a:p>
        </p:txBody>
      </p:sp>
      <p:sp>
        <p:nvSpPr>
          <p:cNvPr id="7" name="矩形 6"/>
          <p:cNvSpPr/>
          <p:nvPr/>
        </p:nvSpPr>
        <p:spPr>
          <a:xfrm>
            <a:off x="1246505" y="223520"/>
            <a:ext cx="9885045" cy="2002790"/>
          </a:xfrm>
          <a:prstGeom prst="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en-US" altLang="zh-CN" sz="2400" dirty="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A) </a:t>
            </a:r>
            <a:r>
              <a:rPr lang="en-US" altLang="zh-CN" sz="2400" dirty="0" smtClean="0">
                <a:solidFill>
                  <a:schemeClr val="tx1"/>
                </a:solidFill>
                <a:latin typeface="Times New Roman" panose="02020603050405020304" pitchFamily="18" charset="0"/>
                <a:ea typeface="楷体_GB2312" pitchFamily="49" charset="-122"/>
                <a:cs typeface="+mn-ea"/>
                <a:sym typeface="+mn-ea"/>
              </a:rPr>
              <a:t>adore</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B) </a:t>
            </a:r>
            <a:r>
              <a:rPr lang="en-US" altLang="zh-CN" sz="2400" dirty="0" smtClean="0">
                <a:solidFill>
                  <a:schemeClr val="tx1"/>
                </a:solidFill>
                <a:latin typeface="Times New Roman" panose="02020603050405020304" pitchFamily="18" charset="0"/>
                <a:ea typeface="楷体_GB2312" pitchFamily="49" charset="-122"/>
                <a:cs typeface="+mn-ea"/>
                <a:sym typeface="+mn-ea"/>
              </a:rPr>
              <a:t>appraise</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C) </a:t>
            </a:r>
            <a:r>
              <a:rPr lang="en-US" altLang="zh-CN" sz="2400" dirty="0" smtClean="0">
                <a:solidFill>
                  <a:schemeClr val="tx1"/>
                </a:solidFill>
                <a:latin typeface="Times New Roman" panose="02020603050405020304" pitchFamily="18" charset="0"/>
                <a:ea typeface="楷体_GB2312" pitchFamily="49" charset="-122"/>
                <a:cs typeface="+mn-ea"/>
                <a:sym typeface="+mn-ea"/>
              </a:rPr>
              <a:t>assaults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D) </a:t>
            </a:r>
            <a:r>
              <a:rPr lang="en-US" altLang="zh-CN" sz="2400" dirty="0" smtClean="0">
                <a:solidFill>
                  <a:schemeClr val="tx1"/>
                </a:solidFill>
                <a:latin typeface="Times New Roman" panose="02020603050405020304" pitchFamily="18" charset="0"/>
                <a:ea typeface="楷体_GB2312" pitchFamily="49" charset="-122"/>
                <a:cs typeface="+mn-ea"/>
                <a:sym typeface="+mn-ea"/>
              </a:rPr>
              <a:t>chemistry</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E) </a:t>
            </a:r>
            <a:r>
              <a:rPr lang="en-US" altLang="zh-CN" sz="2400" dirty="0" smtClean="0">
                <a:solidFill>
                  <a:schemeClr val="tx1"/>
                </a:solidFill>
                <a:latin typeface="Times New Roman" panose="02020603050405020304" pitchFamily="18" charset="0"/>
                <a:ea typeface="楷体_GB2312" pitchFamily="49" charset="-122"/>
                <a:cs typeface="+mn-ea"/>
                <a:sym typeface="+mn-ea"/>
              </a:rPr>
              <a:t>coincidence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p:txBody>
      </p:sp>
      <p:sp>
        <p:nvSpPr>
          <p:cNvPr id="2" name="文本框 1"/>
          <p:cNvSpPr txBox="1"/>
          <p:nvPr/>
        </p:nvSpPr>
        <p:spPr>
          <a:xfrm>
            <a:off x="4249420" y="255905"/>
            <a:ext cx="2811780" cy="1938020"/>
          </a:xfrm>
          <a:prstGeom prst="rect">
            <a:avLst/>
          </a:prstGeom>
          <a:noFill/>
        </p:spPr>
        <p:txBody>
          <a:bodyPr wrap="square" rtlCol="0" anchor="t">
            <a:spAutoFit/>
          </a:bodyPr>
          <a:lstStyle/>
          <a:p>
            <a:pPr>
              <a:defRPr/>
            </a:pPr>
            <a:r>
              <a:rPr lang="en-US" altLang="zh-CN" sz="2400" dirty="0">
                <a:solidFill>
                  <a:schemeClr val="tx1"/>
                </a:solidFill>
                <a:latin typeface="Times New Roman" panose="02020603050405020304" pitchFamily="18" charset="0"/>
                <a:ea typeface="楷体_GB2312" pitchFamily="49" charset="-122"/>
                <a:cs typeface="+mn-ea"/>
                <a:sym typeface="+mn-ea"/>
              </a:rPr>
              <a:t>F) </a:t>
            </a:r>
            <a:r>
              <a:rPr lang="en-US" altLang="zh-CN" sz="2400" dirty="0" smtClean="0">
                <a:solidFill>
                  <a:schemeClr val="tx1"/>
                </a:solidFill>
                <a:latin typeface="Times New Roman" panose="02020603050405020304" pitchFamily="18" charset="0"/>
                <a:ea typeface="楷体_GB2312" pitchFamily="49" charset="-122"/>
                <a:cs typeface="+mn-ea"/>
                <a:sym typeface="+mn-ea"/>
              </a:rPr>
              <a:t>cracks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G) deported</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ea typeface="楷体_GB2312" pitchFamily="49" charset="-122"/>
                <a:cs typeface="+mn-ea"/>
                <a:sym typeface="+mn-ea"/>
              </a:rPr>
              <a:t> </a:t>
            </a:r>
            <a:endParaRPr lang="en-US" altLang="zh-CN" sz="2400" dirty="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a:solidFill>
                  <a:schemeClr val="tx1"/>
                </a:solidFill>
                <a:latin typeface="Times New Roman" panose="02020603050405020304" pitchFamily="18" charset="0"/>
                <a:ea typeface="楷体_GB2312" pitchFamily="49" charset="-122"/>
                <a:cs typeface="+mn-ea"/>
                <a:sym typeface="+mn-ea"/>
              </a:rPr>
              <a:t>H) </a:t>
            </a:r>
            <a:r>
              <a:rPr lang="en-US" altLang="zh-CN" sz="2400" dirty="0" smtClean="0">
                <a:solidFill>
                  <a:schemeClr val="tx1"/>
                </a:solidFill>
                <a:latin typeface="Times New Roman" panose="02020603050405020304" pitchFamily="18" charset="0"/>
                <a:ea typeface="楷体_GB2312" pitchFamily="49" charset="-122"/>
                <a:cs typeface="+mn-ea"/>
                <a:sym typeface="+mn-ea"/>
              </a:rPr>
              <a:t>dismisses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sym typeface="+mn-ea"/>
              </a:rPr>
              <a:t>I) </a:t>
            </a:r>
            <a:r>
              <a:rPr lang="en-US" altLang="zh-CN" sz="2400" dirty="0" smtClean="0">
                <a:solidFill>
                  <a:schemeClr val="tx1"/>
                </a:solidFill>
                <a:latin typeface="Times New Roman" panose="02020603050405020304" pitchFamily="18" charset="0"/>
                <a:sym typeface="+mn-ea"/>
              </a:rPr>
              <a:t>illegally</a:t>
            </a:r>
            <a:r>
              <a:rPr lang="en-US" altLang="zh-CN" sz="2400" dirty="0" smtClean="0">
                <a:solidFill>
                  <a:schemeClr val="tx1"/>
                </a:solidFill>
                <a:latin typeface="Times New Roman" panose="02020603050405020304" pitchFamily="18" charset="0"/>
                <a:sym typeface="+mn-ea"/>
              </a:rPr>
              <a:t>   </a:t>
            </a:r>
            <a:endParaRPr lang="en-US" altLang="zh-CN" sz="2400" dirty="0" smtClean="0">
              <a:solidFill>
                <a:schemeClr val="tx1"/>
              </a:solidFill>
              <a:latin typeface="Times New Roman" panose="02020603050405020304" pitchFamily="18" charset="0"/>
              <a:sym typeface="+mn-ea"/>
            </a:endParaRPr>
          </a:p>
          <a:p>
            <a:pPr>
              <a:defRPr/>
            </a:pPr>
            <a:r>
              <a:rPr lang="en-US" altLang="zh-CN" sz="2400" dirty="0">
                <a:solidFill>
                  <a:schemeClr val="tx1"/>
                </a:solidFill>
                <a:latin typeface="Times New Roman" panose="02020603050405020304" pitchFamily="18" charset="0"/>
                <a:sym typeface="+mn-ea"/>
              </a:rPr>
              <a:t>J) </a:t>
            </a:r>
            <a:r>
              <a:rPr lang="en-US" altLang="zh-CN" sz="2400" dirty="0" smtClean="0">
                <a:solidFill>
                  <a:schemeClr val="tx1"/>
                </a:solidFill>
                <a:latin typeface="Times New Roman" panose="02020603050405020304" pitchFamily="18" charset="0"/>
                <a:sym typeface="+mn-ea"/>
              </a:rPr>
              <a:t>lost</a:t>
            </a:r>
            <a:endParaRPr lang="zh-CN" altLang="en-US" sz="2400"/>
          </a:p>
        </p:txBody>
      </p:sp>
      <p:sp>
        <p:nvSpPr>
          <p:cNvPr id="4" name="文本框 3"/>
          <p:cNvSpPr txBox="1"/>
          <p:nvPr/>
        </p:nvSpPr>
        <p:spPr>
          <a:xfrm>
            <a:off x="7601585" y="255905"/>
            <a:ext cx="3416935" cy="1938020"/>
          </a:xfrm>
          <a:prstGeom prst="rect">
            <a:avLst/>
          </a:prstGeom>
          <a:noFill/>
        </p:spPr>
        <p:txBody>
          <a:bodyPr wrap="square" rtlCol="0">
            <a:spAutoFit/>
          </a:bodyPr>
          <a:lstStyle>
            <a:defPPr>
              <a:defRPr lang="en-US"/>
            </a:defPPr>
            <a:lvl1pPr>
              <a:defRPr sz="2400">
                <a:solidFill>
                  <a:srgbClr val="002060"/>
                </a:solidFill>
                <a:latin typeface="Times New Roman" panose="02020603050405020304" pitchFamily="18" charset="0"/>
                <a:ea typeface="楷体_GB2312" pitchFamily="49" charset="-122"/>
                <a:cs typeface="+mn-ea"/>
              </a:defRPr>
            </a:lvl1pPr>
          </a:lstStyle>
          <a:p>
            <a:r>
              <a:rPr lang="en-US" altLang="zh-CN" dirty="0">
                <a:solidFill>
                  <a:schemeClr val="tx1"/>
                </a:solidFill>
              </a:rPr>
              <a:t>K) </a:t>
            </a:r>
            <a:r>
              <a:rPr lang="en-US" altLang="zh-CN" dirty="0" smtClean="0">
                <a:solidFill>
                  <a:schemeClr val="tx1"/>
                </a:solidFill>
              </a:rPr>
              <a:t>perpetually</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L) </a:t>
            </a:r>
            <a:r>
              <a:rPr lang="en-US" altLang="zh-CN" dirty="0" smtClean="0">
                <a:solidFill>
                  <a:schemeClr val="tx1"/>
                </a:solidFill>
              </a:rPr>
              <a:t>prescribed</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M) </a:t>
            </a:r>
            <a:r>
              <a:rPr lang="en-US" altLang="zh-CN" dirty="0" smtClean="0">
                <a:solidFill>
                  <a:schemeClr val="tx1"/>
                </a:solidFill>
              </a:rPr>
              <a:t>shrewd</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N) </a:t>
            </a:r>
            <a:r>
              <a:rPr lang="en-US" altLang="zh-CN" dirty="0" smtClean="0">
                <a:solidFill>
                  <a:schemeClr val="tx1"/>
                </a:solidFill>
              </a:rPr>
              <a:t>skeptical</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O) </a:t>
            </a:r>
            <a:r>
              <a:rPr lang="en-US" altLang="zh-CN" dirty="0" smtClean="0">
                <a:solidFill>
                  <a:schemeClr val="tx1"/>
                </a:solidFill>
              </a:rPr>
              <a:t>strives</a:t>
            </a:r>
            <a:endParaRPr lang="en-US" altLang="zh-CN" dirty="0" smtClean="0">
              <a:solidFill>
                <a:schemeClr val="tx1"/>
              </a:solidFill>
            </a:endParaRPr>
          </a:p>
        </p:txBody>
      </p:sp>
      <p:sp>
        <p:nvSpPr>
          <p:cNvPr id="5" name="文本框 4"/>
          <p:cNvSpPr txBox="1"/>
          <p:nvPr/>
        </p:nvSpPr>
        <p:spPr>
          <a:xfrm>
            <a:off x="10509250" y="2545080"/>
            <a:ext cx="1508760" cy="357505"/>
          </a:xfrm>
          <a:prstGeom prst="rect">
            <a:avLst/>
          </a:prstGeom>
          <a:noFill/>
        </p:spPr>
        <p:txBody>
          <a:bodyPr wrap="square" rtlCol="0" anchor="t">
            <a:noAutofit/>
          </a:bodyPr>
          <a:p>
            <a:r>
              <a:rPr lang="en-US" altLang="zh-CN" sz="2400" b="1" dirty="0">
                <a:solidFill>
                  <a:srgbClr val="FF0000"/>
                </a:solidFill>
                <a:latin typeface="Times New Roman" panose="02020603050405020304" pitchFamily="18" charset="0"/>
                <a:ea typeface="楷体_GB2312" pitchFamily="49" charset="-122"/>
                <a:cs typeface="+mn-ea"/>
                <a:sym typeface="+mn-ea"/>
              </a:rPr>
              <a:t>F) </a:t>
            </a:r>
            <a:r>
              <a:rPr lang="en-US" altLang="zh-CN" sz="2400" b="1" dirty="0" smtClean="0">
                <a:solidFill>
                  <a:srgbClr val="FF0000"/>
                </a:solidFill>
                <a:latin typeface="Times New Roman" panose="02020603050405020304" pitchFamily="18" charset="0"/>
                <a:ea typeface="楷体_GB2312" pitchFamily="49" charset="-122"/>
                <a:cs typeface="+mn-ea"/>
                <a:sym typeface="+mn-ea"/>
              </a:rPr>
              <a:t>cracks</a:t>
            </a:r>
            <a:endParaRPr lang="en-US" altLang="zh-CN" sz="2400" b="1" dirty="0" smtClean="0">
              <a:solidFill>
                <a:srgbClr val="FF0000"/>
              </a:solidFill>
              <a:latin typeface="Times New Roman" panose="02020603050405020304" pitchFamily="18" charset="0"/>
              <a:ea typeface="楷体_GB2312" pitchFamily="49" charset="-122"/>
              <a:cs typeface="+mn-ea"/>
              <a:sym typeface="+mn-ea"/>
            </a:endParaRPr>
          </a:p>
        </p:txBody>
      </p:sp>
      <p:sp>
        <p:nvSpPr>
          <p:cNvPr id="6" name="文本框 5"/>
          <p:cNvSpPr txBox="1"/>
          <p:nvPr/>
        </p:nvSpPr>
        <p:spPr>
          <a:xfrm>
            <a:off x="9601835" y="4525645"/>
            <a:ext cx="1105535"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sym typeface="+mn-ea"/>
              </a:rPr>
              <a:t>J) </a:t>
            </a:r>
            <a:r>
              <a:rPr lang="en-US" altLang="zh-CN" sz="2400" b="1" dirty="0" smtClean="0">
                <a:solidFill>
                  <a:srgbClr val="FF0000"/>
                </a:solidFill>
                <a:latin typeface="Times New Roman" panose="02020603050405020304" pitchFamily="18" charset="0"/>
                <a:sym typeface="+mn-ea"/>
              </a:rPr>
              <a:t>lost</a:t>
            </a:r>
            <a:endParaRPr lang="en-US" altLang="zh-CN" sz="2400" b="1" dirty="0" smtClean="0">
              <a:solidFill>
                <a:srgbClr val="FF0000"/>
              </a:solidFill>
              <a:latin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3355" y="2545080"/>
            <a:ext cx="11844655" cy="3884930"/>
          </a:xfrm>
        </p:spPr>
        <p:txBody>
          <a:bodyPr>
            <a:normAutofit/>
          </a:bodyPr>
          <a:lstStyle/>
          <a:p>
            <a:pPr marL="0" indent="0">
              <a:lnSpc>
                <a:spcPct val="150000"/>
              </a:lnSpc>
              <a:buNone/>
            </a:pPr>
            <a:r>
              <a:rPr lang="en-US" dirty="0" smtClean="0">
                <a:solidFill>
                  <a:schemeClr val="tx1"/>
                </a:solidFill>
                <a:latin typeface="Times New Roman" panose="02020603050405020304" pitchFamily="18" charset="0"/>
                <a:sym typeface="+mn-ea"/>
              </a:rPr>
              <a:t>It is nice every once in a while to give in to magic. It doesn’t have to be a hard fantasy novel with actual spells. It can be the magic found between two people who just have that special something. That </a:t>
            </a:r>
            <a:r>
              <a:rPr lang="en-US" dirty="0" smtClean="0">
                <a:solidFill>
                  <a:schemeClr val="tx1"/>
                </a:solidFill>
                <a:highlight>
                  <a:srgbClr val="FFFF00"/>
                </a:highlight>
                <a:latin typeface="Times New Roman" panose="02020603050405020304" pitchFamily="18" charset="0"/>
                <a:sym typeface="+mn-ea"/>
              </a:rPr>
              <a:t>(35)________</a:t>
            </a:r>
            <a:r>
              <a:rPr lang="en-US" dirty="0" smtClean="0">
                <a:solidFill>
                  <a:schemeClr val="tx1"/>
                </a:solidFill>
                <a:latin typeface="Times New Roman" panose="02020603050405020304" pitchFamily="18" charset="0"/>
                <a:sym typeface="+mn-ea"/>
              </a:rPr>
              <a:t> that causes them to react and spark when they are near each other.</a:t>
            </a:r>
            <a:endParaRPr lang="en-US" dirty="0" smtClean="0">
              <a:solidFill>
                <a:schemeClr val="tx1"/>
              </a:solidFill>
              <a:latin typeface="Times New Roman" panose="02020603050405020304" pitchFamily="18" charset="0"/>
              <a:sym typeface="+mn-ea"/>
            </a:endParaRPr>
          </a:p>
        </p:txBody>
      </p:sp>
      <p:sp>
        <p:nvSpPr>
          <p:cNvPr id="7" name="矩形 6"/>
          <p:cNvSpPr/>
          <p:nvPr/>
        </p:nvSpPr>
        <p:spPr>
          <a:xfrm>
            <a:off x="1246505" y="223520"/>
            <a:ext cx="9885045" cy="2002790"/>
          </a:xfrm>
          <a:prstGeom prst="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en-US" altLang="zh-CN" sz="2400" dirty="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A) </a:t>
            </a:r>
            <a:r>
              <a:rPr lang="en-US" altLang="zh-CN" sz="2400" dirty="0" smtClean="0">
                <a:solidFill>
                  <a:schemeClr val="tx1"/>
                </a:solidFill>
                <a:latin typeface="Times New Roman" panose="02020603050405020304" pitchFamily="18" charset="0"/>
                <a:ea typeface="楷体_GB2312" pitchFamily="49" charset="-122"/>
                <a:cs typeface="+mn-ea"/>
                <a:sym typeface="+mn-ea"/>
              </a:rPr>
              <a:t>adore</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B) </a:t>
            </a:r>
            <a:r>
              <a:rPr lang="en-US" altLang="zh-CN" sz="2400" dirty="0" smtClean="0">
                <a:solidFill>
                  <a:schemeClr val="tx1"/>
                </a:solidFill>
                <a:latin typeface="Times New Roman" panose="02020603050405020304" pitchFamily="18" charset="0"/>
                <a:ea typeface="楷体_GB2312" pitchFamily="49" charset="-122"/>
                <a:cs typeface="+mn-ea"/>
                <a:sym typeface="+mn-ea"/>
              </a:rPr>
              <a:t>appraise</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C) </a:t>
            </a:r>
            <a:r>
              <a:rPr lang="en-US" altLang="zh-CN" sz="2400" dirty="0" smtClean="0">
                <a:solidFill>
                  <a:schemeClr val="tx1"/>
                </a:solidFill>
                <a:latin typeface="Times New Roman" panose="02020603050405020304" pitchFamily="18" charset="0"/>
                <a:ea typeface="楷体_GB2312" pitchFamily="49" charset="-122"/>
                <a:cs typeface="+mn-ea"/>
                <a:sym typeface="+mn-ea"/>
              </a:rPr>
              <a:t>assaults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D) </a:t>
            </a:r>
            <a:r>
              <a:rPr lang="en-US" altLang="zh-CN" sz="2400" dirty="0" smtClean="0">
                <a:solidFill>
                  <a:schemeClr val="tx1"/>
                </a:solidFill>
                <a:latin typeface="Times New Roman" panose="02020603050405020304" pitchFamily="18" charset="0"/>
                <a:ea typeface="楷体_GB2312" pitchFamily="49" charset="-122"/>
                <a:cs typeface="+mn-ea"/>
                <a:sym typeface="+mn-ea"/>
              </a:rPr>
              <a:t>chemistry</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E) </a:t>
            </a:r>
            <a:r>
              <a:rPr lang="en-US" altLang="zh-CN" sz="2400" dirty="0" smtClean="0">
                <a:solidFill>
                  <a:schemeClr val="tx1"/>
                </a:solidFill>
                <a:latin typeface="Times New Roman" panose="02020603050405020304" pitchFamily="18" charset="0"/>
                <a:ea typeface="楷体_GB2312" pitchFamily="49" charset="-122"/>
                <a:cs typeface="+mn-ea"/>
                <a:sym typeface="+mn-ea"/>
              </a:rPr>
              <a:t>coincidence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p:txBody>
      </p:sp>
      <p:sp>
        <p:nvSpPr>
          <p:cNvPr id="2" name="文本框 1"/>
          <p:cNvSpPr txBox="1"/>
          <p:nvPr/>
        </p:nvSpPr>
        <p:spPr>
          <a:xfrm>
            <a:off x="4249420" y="255905"/>
            <a:ext cx="2811780" cy="1938020"/>
          </a:xfrm>
          <a:prstGeom prst="rect">
            <a:avLst/>
          </a:prstGeom>
          <a:noFill/>
        </p:spPr>
        <p:txBody>
          <a:bodyPr wrap="square" rtlCol="0" anchor="t">
            <a:spAutoFit/>
          </a:bodyPr>
          <a:lstStyle/>
          <a:p>
            <a:pPr>
              <a:defRPr/>
            </a:pPr>
            <a:r>
              <a:rPr lang="en-US" altLang="zh-CN" sz="2400" dirty="0">
                <a:solidFill>
                  <a:schemeClr val="tx1"/>
                </a:solidFill>
                <a:latin typeface="Times New Roman" panose="02020603050405020304" pitchFamily="18" charset="0"/>
                <a:ea typeface="楷体_GB2312" pitchFamily="49" charset="-122"/>
                <a:cs typeface="+mn-ea"/>
                <a:sym typeface="+mn-ea"/>
              </a:rPr>
              <a:t>F) </a:t>
            </a:r>
            <a:r>
              <a:rPr lang="en-US" altLang="zh-CN" sz="2400" dirty="0" smtClean="0">
                <a:solidFill>
                  <a:schemeClr val="tx1"/>
                </a:solidFill>
                <a:latin typeface="Times New Roman" panose="02020603050405020304" pitchFamily="18" charset="0"/>
                <a:ea typeface="楷体_GB2312" pitchFamily="49" charset="-122"/>
                <a:cs typeface="+mn-ea"/>
                <a:sym typeface="+mn-ea"/>
              </a:rPr>
              <a:t>cracks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a:defRPr/>
            </a:pPr>
            <a:r>
              <a:rPr lang="en-US" altLang="zh-CN" sz="2400" dirty="0">
                <a:solidFill>
                  <a:schemeClr val="tx1"/>
                </a:solidFill>
                <a:latin typeface="Times New Roman" panose="02020603050405020304" pitchFamily="18" charset="0"/>
                <a:ea typeface="楷体_GB2312" pitchFamily="49" charset="-122"/>
                <a:cs typeface="+mn-ea"/>
                <a:sym typeface="+mn-ea"/>
              </a:rPr>
              <a:t>G) deported</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ea typeface="楷体_GB2312" pitchFamily="49" charset="-122"/>
                <a:cs typeface="+mn-ea"/>
                <a:sym typeface="+mn-ea"/>
              </a:rPr>
              <a:t> </a:t>
            </a:r>
            <a:endParaRPr lang="en-US" altLang="zh-CN" sz="2400" dirty="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a:solidFill>
                  <a:schemeClr val="tx1"/>
                </a:solidFill>
                <a:latin typeface="Times New Roman" panose="02020603050405020304" pitchFamily="18" charset="0"/>
                <a:ea typeface="楷体_GB2312" pitchFamily="49" charset="-122"/>
                <a:cs typeface="+mn-ea"/>
                <a:sym typeface="+mn-ea"/>
              </a:rPr>
              <a:t>H) </a:t>
            </a:r>
            <a:r>
              <a:rPr lang="en-US" altLang="zh-CN" sz="2400" dirty="0" smtClean="0">
                <a:solidFill>
                  <a:schemeClr val="tx1"/>
                </a:solidFill>
                <a:latin typeface="Times New Roman" panose="02020603050405020304" pitchFamily="18" charset="0"/>
                <a:ea typeface="楷体_GB2312" pitchFamily="49" charset="-122"/>
                <a:cs typeface="+mn-ea"/>
                <a:sym typeface="+mn-ea"/>
              </a:rPr>
              <a:t>dismisses</a:t>
            </a:r>
            <a:r>
              <a:rPr lang="en-US" altLang="zh-CN" sz="2400" dirty="0" smtClean="0">
                <a:solidFill>
                  <a:schemeClr val="tx1"/>
                </a:solidFill>
                <a:latin typeface="Times New Roman" panose="02020603050405020304" pitchFamily="18" charset="0"/>
                <a:ea typeface="楷体_GB2312" pitchFamily="49" charset="-122"/>
                <a:cs typeface="+mn-ea"/>
                <a:sym typeface="+mn-ea"/>
              </a:rPr>
              <a:t>  </a:t>
            </a:r>
            <a:endParaRPr lang="en-US" altLang="zh-CN" sz="2400" dirty="0" smtClean="0">
              <a:solidFill>
                <a:schemeClr val="tx1"/>
              </a:solidFill>
              <a:latin typeface="Times New Roman" panose="02020603050405020304" pitchFamily="18" charset="0"/>
              <a:ea typeface="楷体_GB2312" pitchFamily="49" charset="-122"/>
              <a:cs typeface="+mn-ea"/>
              <a:sym typeface="+mn-ea"/>
            </a:endParaRPr>
          </a:p>
          <a:p>
            <a:pPr lvl="0"/>
            <a:r>
              <a:rPr lang="en-US" altLang="zh-CN" sz="2400" dirty="0" smtClean="0">
                <a:solidFill>
                  <a:schemeClr val="tx1"/>
                </a:solidFill>
                <a:latin typeface="Times New Roman" panose="02020603050405020304" pitchFamily="18" charset="0"/>
                <a:ea typeface="楷体_GB2312" pitchFamily="49" charset="-122"/>
                <a:cs typeface="+mn-ea"/>
                <a:sym typeface="+mn-ea"/>
              </a:rPr>
              <a:t> </a:t>
            </a:r>
            <a:r>
              <a:rPr lang="en-US" altLang="zh-CN" sz="2400" dirty="0">
                <a:solidFill>
                  <a:schemeClr val="tx1"/>
                </a:solidFill>
                <a:latin typeface="Times New Roman" panose="02020603050405020304" pitchFamily="18" charset="0"/>
                <a:sym typeface="+mn-ea"/>
              </a:rPr>
              <a:t>I) </a:t>
            </a:r>
            <a:r>
              <a:rPr lang="en-US" altLang="zh-CN" sz="2400" dirty="0" smtClean="0">
                <a:solidFill>
                  <a:schemeClr val="tx1"/>
                </a:solidFill>
                <a:latin typeface="Times New Roman" panose="02020603050405020304" pitchFamily="18" charset="0"/>
                <a:sym typeface="+mn-ea"/>
              </a:rPr>
              <a:t>illegally</a:t>
            </a:r>
            <a:r>
              <a:rPr lang="en-US" altLang="zh-CN" sz="2400" dirty="0" smtClean="0">
                <a:solidFill>
                  <a:schemeClr val="tx1"/>
                </a:solidFill>
                <a:latin typeface="Times New Roman" panose="02020603050405020304" pitchFamily="18" charset="0"/>
                <a:sym typeface="+mn-ea"/>
              </a:rPr>
              <a:t>   </a:t>
            </a:r>
            <a:endParaRPr lang="en-US" altLang="zh-CN" sz="2400" dirty="0" smtClean="0">
              <a:solidFill>
                <a:schemeClr val="tx1"/>
              </a:solidFill>
              <a:latin typeface="Times New Roman" panose="02020603050405020304" pitchFamily="18" charset="0"/>
              <a:sym typeface="+mn-ea"/>
            </a:endParaRPr>
          </a:p>
          <a:p>
            <a:pPr>
              <a:defRPr/>
            </a:pPr>
            <a:r>
              <a:rPr lang="en-US" altLang="zh-CN" sz="2400" dirty="0">
                <a:solidFill>
                  <a:schemeClr val="tx1"/>
                </a:solidFill>
                <a:latin typeface="Times New Roman" panose="02020603050405020304" pitchFamily="18" charset="0"/>
                <a:sym typeface="+mn-ea"/>
              </a:rPr>
              <a:t>J) </a:t>
            </a:r>
            <a:r>
              <a:rPr lang="en-US" altLang="zh-CN" sz="2400" dirty="0" smtClean="0">
                <a:solidFill>
                  <a:schemeClr val="tx1"/>
                </a:solidFill>
                <a:latin typeface="Times New Roman" panose="02020603050405020304" pitchFamily="18" charset="0"/>
                <a:sym typeface="+mn-ea"/>
              </a:rPr>
              <a:t>lost</a:t>
            </a:r>
            <a:endParaRPr lang="zh-CN" altLang="en-US" sz="2400"/>
          </a:p>
        </p:txBody>
      </p:sp>
      <p:sp>
        <p:nvSpPr>
          <p:cNvPr id="4" name="文本框 3"/>
          <p:cNvSpPr txBox="1"/>
          <p:nvPr/>
        </p:nvSpPr>
        <p:spPr>
          <a:xfrm>
            <a:off x="7601585" y="255905"/>
            <a:ext cx="3416935" cy="1938020"/>
          </a:xfrm>
          <a:prstGeom prst="rect">
            <a:avLst/>
          </a:prstGeom>
          <a:noFill/>
        </p:spPr>
        <p:txBody>
          <a:bodyPr wrap="square" rtlCol="0">
            <a:spAutoFit/>
          </a:bodyPr>
          <a:lstStyle>
            <a:defPPr>
              <a:defRPr lang="en-US"/>
            </a:defPPr>
            <a:lvl1pPr>
              <a:defRPr sz="2400">
                <a:solidFill>
                  <a:srgbClr val="002060"/>
                </a:solidFill>
                <a:latin typeface="Times New Roman" panose="02020603050405020304" pitchFamily="18" charset="0"/>
                <a:ea typeface="楷体_GB2312" pitchFamily="49" charset="-122"/>
                <a:cs typeface="+mn-ea"/>
              </a:defRPr>
            </a:lvl1pPr>
          </a:lstStyle>
          <a:p>
            <a:r>
              <a:rPr lang="en-US" altLang="zh-CN" dirty="0">
                <a:solidFill>
                  <a:schemeClr val="tx1"/>
                </a:solidFill>
              </a:rPr>
              <a:t>K) </a:t>
            </a:r>
            <a:r>
              <a:rPr lang="en-US" altLang="zh-CN" dirty="0" smtClean="0">
                <a:solidFill>
                  <a:schemeClr val="tx1"/>
                </a:solidFill>
              </a:rPr>
              <a:t>perpetually</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L) </a:t>
            </a:r>
            <a:r>
              <a:rPr lang="en-US" altLang="zh-CN" dirty="0" smtClean="0">
                <a:solidFill>
                  <a:schemeClr val="tx1"/>
                </a:solidFill>
              </a:rPr>
              <a:t>prescribed</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M) </a:t>
            </a:r>
            <a:r>
              <a:rPr lang="en-US" altLang="zh-CN" dirty="0" smtClean="0">
                <a:solidFill>
                  <a:schemeClr val="tx1"/>
                </a:solidFill>
              </a:rPr>
              <a:t>shrewd</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N) </a:t>
            </a:r>
            <a:r>
              <a:rPr lang="en-US" altLang="zh-CN" dirty="0" smtClean="0">
                <a:solidFill>
                  <a:schemeClr val="tx1"/>
                </a:solidFill>
              </a:rPr>
              <a:t>skeptical</a:t>
            </a:r>
            <a:r>
              <a:rPr lang="en-US" altLang="zh-CN" dirty="0" smtClean="0">
                <a:solidFill>
                  <a:schemeClr val="tx1"/>
                </a:solidFill>
              </a:rPr>
              <a:t>  </a:t>
            </a:r>
            <a:endParaRPr lang="en-US" altLang="zh-CN" dirty="0" smtClean="0">
              <a:solidFill>
                <a:schemeClr val="tx1"/>
              </a:solidFill>
            </a:endParaRPr>
          </a:p>
          <a:p>
            <a:r>
              <a:rPr lang="en-US" altLang="zh-CN" dirty="0">
                <a:solidFill>
                  <a:schemeClr val="tx1"/>
                </a:solidFill>
              </a:rPr>
              <a:t>O) </a:t>
            </a:r>
            <a:r>
              <a:rPr lang="en-US" altLang="zh-CN" dirty="0" smtClean="0">
                <a:solidFill>
                  <a:schemeClr val="tx1"/>
                </a:solidFill>
              </a:rPr>
              <a:t>strives</a:t>
            </a:r>
            <a:endParaRPr lang="en-US" altLang="zh-CN" dirty="0" smtClean="0">
              <a:solidFill>
                <a:schemeClr val="tx1"/>
              </a:solidFill>
            </a:endParaRPr>
          </a:p>
        </p:txBody>
      </p:sp>
      <p:sp>
        <p:nvSpPr>
          <p:cNvPr id="5" name="文本框 4"/>
          <p:cNvSpPr txBox="1"/>
          <p:nvPr/>
        </p:nvSpPr>
        <p:spPr>
          <a:xfrm>
            <a:off x="784860" y="4957445"/>
            <a:ext cx="2032000"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ea typeface="楷体_GB2312" pitchFamily="49" charset="-122"/>
                <a:cs typeface="+mn-ea"/>
                <a:sym typeface="+mn-ea"/>
              </a:rPr>
              <a:t>D) </a:t>
            </a:r>
            <a:r>
              <a:rPr lang="en-US" altLang="zh-CN" sz="2400" b="1" dirty="0" smtClean="0">
                <a:solidFill>
                  <a:srgbClr val="FF0000"/>
                </a:solidFill>
                <a:latin typeface="Times New Roman" panose="02020603050405020304" pitchFamily="18" charset="0"/>
                <a:ea typeface="楷体_GB2312" pitchFamily="49" charset="-122"/>
                <a:cs typeface="+mn-ea"/>
                <a:sym typeface="+mn-ea"/>
              </a:rPr>
              <a:t>chemistry</a:t>
            </a:r>
            <a:endParaRPr lang="en-US" altLang="zh-CN" sz="2400" b="1" dirty="0" smtClean="0">
              <a:solidFill>
                <a:srgbClr val="FF0000"/>
              </a:solidFill>
              <a:latin typeface="Times New Roman" panose="02020603050405020304" pitchFamily="18" charset="0"/>
              <a:ea typeface="楷体_GB2312" pitchFamily="49" charset="-122"/>
              <a:cs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667000" y="3846381"/>
            <a:ext cx="2263604" cy="829945"/>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 </a:t>
            </a:r>
            <a:r>
              <a:rPr lang="en-US" altLang="zh-CN" sz="6000" kern="0" dirty="0" smtClean="0">
                <a:solidFill>
                  <a:srgbClr val="FF0000"/>
                </a:solidFill>
              </a:rPr>
              <a:t>1</a:t>
            </a:r>
            <a:endParaRPr lang="en-US" altLang="zh-CN" sz="6000" kern="0" dirty="0" smtClean="0">
              <a:solidFill>
                <a:srgbClr val="FF0000"/>
              </a:solidFill>
            </a:endParaRPr>
          </a:p>
        </p:txBody>
      </p:sp>
      <p:sp>
        <p:nvSpPr>
          <p:cNvPr id="10" name="TextBox 9"/>
          <p:cNvSpPr txBox="1"/>
          <p:nvPr/>
        </p:nvSpPr>
        <p:spPr>
          <a:xfrm>
            <a:off x="5410200" y="2667000"/>
            <a:ext cx="4288790" cy="1445260"/>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翻译</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2000" y="2209800"/>
            <a:ext cx="10852150" cy="3907790"/>
          </a:xfrm>
          <a:solidFill>
            <a:schemeClr val="bg1"/>
          </a:solidFill>
        </p:spPr>
        <p:txBody>
          <a:bodyPr>
            <a:normAutofit lnSpcReduction="10000"/>
          </a:bodyPr>
          <a:lstStyle/>
          <a:p>
            <a:pPr marL="0" indent="0">
              <a:buNone/>
            </a:pPr>
            <a:r>
              <a:rPr lang="en-US" altLang="zh-CN" dirty="0"/>
              <a:t>      </a:t>
            </a:r>
            <a:r>
              <a:rPr sz="2800" b="1" dirty="0"/>
              <a:t>云南是位于中国西南的一个省份，平均海拔</a:t>
            </a:r>
            <a:r>
              <a:rPr lang="en-US" altLang="zh-CN" sz="2800" b="1" dirty="0"/>
              <a:t>1500</a:t>
            </a:r>
            <a:r>
              <a:rPr sz="2800" b="1" dirty="0"/>
              <a:t>米。云南历史悠久，风景秀丽，气候宜人。云南生态环境优越，生物多种多样，被誉为野生动植物的天堂。云南还有多种矿藏和充足的水资源，为全省经济的可持续发展提供了有利条件。</a:t>
            </a:r>
            <a:endParaRPr sz="2800" b="1" dirty="0"/>
          </a:p>
          <a:p>
            <a:pPr marL="0" indent="0">
              <a:buNone/>
            </a:pPr>
            <a:r>
              <a:rPr sz="2800" b="1" dirty="0"/>
              <a:t> </a:t>
            </a:r>
            <a:r>
              <a:rPr lang="en-US" altLang="zh-CN" sz="2800" b="1" dirty="0"/>
              <a:t>  </a:t>
            </a:r>
            <a:r>
              <a:rPr sz="2800" b="1" dirty="0"/>
              <a:t>云南居住着</a:t>
            </a:r>
            <a:r>
              <a:rPr lang="en-US" altLang="zh-CN" sz="2800" b="1" dirty="0"/>
              <a:t>25</a:t>
            </a:r>
            <a:r>
              <a:rPr sz="2800" b="1" dirty="0"/>
              <a:t>个少数民族，他们大多有自己的语言、习俗和宗教。云南独特的自然景色和丰富的民族文化使其成为中国最受欢迎的旅游目的地之一，每年吸引着大批国内外游客前往旅游。</a:t>
            </a:r>
            <a:endParaRPr sz="2800" b="1" dirty="0"/>
          </a:p>
          <a:p>
            <a:pPr marL="0" indent="0">
              <a:buNone/>
            </a:pPr>
            <a:endParaRPr sz="2800" b="1" dirty="0"/>
          </a:p>
        </p:txBody>
      </p:sp>
      <p:pic>
        <p:nvPicPr>
          <p:cNvPr id="2" name="图片 1"/>
          <p:cNvPicPr/>
          <p:nvPr/>
        </p:nvPicPr>
        <p:blipFill>
          <a:blip r:embed="rId1"/>
          <a:stretch>
            <a:fillRect/>
          </a:stretch>
        </p:blipFill>
        <p:spPr>
          <a:xfrm>
            <a:off x="635" y="80010"/>
            <a:ext cx="8381381" cy="1876425"/>
          </a:xfrm>
          <a:prstGeom prst="rect">
            <a:avLst/>
          </a:prstGeom>
          <a:noFill/>
          <a:ln w="9525">
            <a:noFill/>
          </a:ln>
        </p:spPr>
      </p:pic>
    </p:spTree>
    <p:custDataLst>
      <p:tags r:id="rId2"/>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2209800"/>
            <a:ext cx="9963150" cy="876935"/>
          </a:xfrm>
          <a:solidFill>
            <a:schemeClr val="accent6">
              <a:lumMod val="60000"/>
              <a:lumOff val="40000"/>
            </a:schemeClr>
          </a:solidFill>
        </p:spPr>
        <p:txBody>
          <a:bodyPr>
            <a:normAutofit/>
          </a:bodyPr>
          <a:lstStyle/>
          <a:p>
            <a:pPr marL="0" indent="0">
              <a:buNone/>
            </a:pPr>
            <a:r>
              <a:rPr sz="3200" b="1">
                <a:sym typeface="+mn-ea"/>
              </a:rPr>
              <a:t>云南是位于中国西南的一个省份，平均海拔</a:t>
            </a:r>
            <a:r>
              <a:rPr lang="en-US" altLang="zh-CN" sz="3200" b="1">
                <a:sym typeface="+mn-ea"/>
              </a:rPr>
              <a:t>1500</a:t>
            </a:r>
            <a:r>
              <a:rPr sz="3200" b="1">
                <a:sym typeface="+mn-ea"/>
              </a:rPr>
              <a:t>米。</a:t>
            </a:r>
            <a:endParaRPr sz="3200"/>
          </a:p>
          <a:p>
            <a:pPr marL="0" indent="0">
              <a:buNone/>
            </a:pPr>
            <a:endParaRPr lang="zh-CN" altLang="en-US" sz="3200"/>
          </a:p>
        </p:txBody>
      </p:sp>
      <p:sp>
        <p:nvSpPr>
          <p:cNvPr id="30" name="内容占位符 2"/>
          <p:cNvSpPr>
            <a:spLocks noGrp="1"/>
          </p:cNvSpPr>
          <p:nvPr/>
        </p:nvSpPr>
        <p:spPr>
          <a:xfrm>
            <a:off x="533400" y="3276600"/>
            <a:ext cx="4603115" cy="713105"/>
          </a:xfrm>
          <a:prstGeom prst="rect">
            <a:avLst/>
          </a:prstGeom>
        </p:spPr>
        <p:txBody>
          <a:bodyPr vert="horz" lIns="101600" tIns="0" rIns="82550" bIns="0" rtlCol="0">
            <a:normAutofit fontScale="975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a:solidFill>
                  <a:schemeClr val="tx1"/>
                </a:solidFill>
              </a:rPr>
              <a:t>Yunnan is a province</a:t>
            </a:r>
            <a:r>
              <a:rPr lang="en-US" altLang="zh-CN" sz="2800" b="1"/>
              <a:t> </a:t>
            </a:r>
            <a:r>
              <a:rPr lang="en-US" altLang="zh-CN" sz="2800"/>
              <a:t>  </a:t>
            </a:r>
            <a:endParaRPr lang="en-US" altLang="zh-CN" sz="2800"/>
          </a:p>
        </p:txBody>
      </p:sp>
      <p:pic>
        <p:nvPicPr>
          <p:cNvPr id="101" name="图片 100"/>
          <p:cNvPicPr/>
          <p:nvPr/>
        </p:nvPicPr>
        <p:blipFill>
          <a:blip r:embed="rId1"/>
          <a:stretch>
            <a:fillRect/>
          </a:stretch>
        </p:blipFill>
        <p:spPr>
          <a:xfrm>
            <a:off x="0" y="0"/>
            <a:ext cx="8453454" cy="1954530"/>
          </a:xfrm>
          <a:prstGeom prst="rect">
            <a:avLst/>
          </a:prstGeom>
          <a:noFill/>
          <a:ln w="9525">
            <a:noFill/>
          </a:ln>
        </p:spPr>
      </p:pic>
      <p:sp>
        <p:nvSpPr>
          <p:cNvPr id="2" name="内容占位符 2"/>
          <p:cNvSpPr>
            <a:spLocks noGrp="1"/>
          </p:cNvSpPr>
          <p:nvPr/>
        </p:nvSpPr>
        <p:spPr>
          <a:xfrm>
            <a:off x="4800600" y="3810000"/>
            <a:ext cx="7053580" cy="725170"/>
          </a:xfrm>
          <a:prstGeom prst="rect">
            <a:avLst/>
          </a:prstGeom>
          <a:solidFill>
            <a:srgbClr val="FFFF66"/>
          </a:solidFill>
          <a:ln>
            <a:solidFill>
              <a:srgbClr val="FFFF00"/>
            </a:solidFill>
          </a:ln>
        </p:spPr>
        <p:txBody>
          <a:bodyPr vert="horz" lIns="101600" tIns="0" rIns="82550" bIns="0" rtlCol="0">
            <a:normAutofit fontScale="9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a:t> </a:t>
            </a:r>
            <a:r>
              <a:rPr lang="en-US" altLang="zh-CN" sz="3200" b="1"/>
              <a:t>located in the southwest of China,</a:t>
            </a:r>
            <a:r>
              <a:rPr lang="en-US" altLang="zh-CN" sz="2800"/>
              <a:t> </a:t>
            </a:r>
            <a:endParaRPr lang="en-US" altLang="zh-CN" sz="2800"/>
          </a:p>
        </p:txBody>
      </p:sp>
      <p:sp>
        <p:nvSpPr>
          <p:cNvPr id="4" name="内容占位符 2"/>
          <p:cNvSpPr>
            <a:spLocks noGrp="1"/>
          </p:cNvSpPr>
          <p:nvPr/>
        </p:nvSpPr>
        <p:spPr>
          <a:xfrm>
            <a:off x="609600" y="4724400"/>
            <a:ext cx="8907780" cy="806450"/>
          </a:xfrm>
          <a:prstGeom prst="rect">
            <a:avLst/>
          </a:prstGeom>
          <a:solidFill>
            <a:srgbClr val="FFFF66"/>
          </a:solidFill>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a:t>with an average altitude of 1500 meters. </a:t>
            </a:r>
            <a:r>
              <a:rPr lang="en-US" altLang="zh-CN" sz="2800"/>
              <a:t> </a:t>
            </a:r>
            <a:endParaRPr lang="en-US" altLang="zh-CN" sz="280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 grpId="0" bldLvl="0" animBg="1"/>
      <p:bldP spid="4"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2438400"/>
            <a:ext cx="7615555" cy="709295"/>
          </a:xfrm>
          <a:solidFill>
            <a:schemeClr val="accent6"/>
          </a:solidFill>
        </p:spPr>
        <p:txBody>
          <a:bodyPr>
            <a:normAutofit/>
          </a:bodyPr>
          <a:lstStyle/>
          <a:p>
            <a:pPr marL="0" indent="0">
              <a:buNone/>
            </a:pPr>
            <a:r>
              <a:rPr sz="3200" b="1">
                <a:sym typeface="+mn-ea"/>
              </a:rPr>
              <a:t>云南历史悠久，风景秀丽，气候宜人。</a:t>
            </a:r>
            <a:endParaRPr lang="zh-CN" altLang="en-US" sz="3200" b="1">
              <a:sym typeface="+mn-ea"/>
            </a:endParaRPr>
          </a:p>
        </p:txBody>
      </p:sp>
      <p:sp>
        <p:nvSpPr>
          <p:cNvPr id="30" name="内容占位符 2"/>
          <p:cNvSpPr>
            <a:spLocks noGrp="1"/>
          </p:cNvSpPr>
          <p:nvPr/>
        </p:nvSpPr>
        <p:spPr>
          <a:xfrm>
            <a:off x="609600" y="3657600"/>
            <a:ext cx="9979660" cy="1649095"/>
          </a:xfrm>
          <a:prstGeom prst="rect">
            <a:avLst/>
          </a:prstGeom>
          <a:solidFill>
            <a:srgbClr val="FFFF66"/>
          </a:solidFill>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600" b="1" dirty="0" smtClean="0"/>
              <a:t>It </a:t>
            </a:r>
            <a:r>
              <a:rPr lang="en-US" altLang="zh-CN" sz="3600" b="1" dirty="0" smtClean="0"/>
              <a:t>boasts</a:t>
            </a:r>
            <a:r>
              <a:rPr lang="en-US" altLang="zh-CN" sz="3600" b="1" dirty="0" smtClean="0"/>
              <a:t> </a:t>
            </a:r>
            <a:r>
              <a:rPr lang="en-US" altLang="zh-CN" sz="3600" b="1" dirty="0"/>
              <a:t>a long history,</a:t>
            </a:r>
            <a:r>
              <a:rPr lang="en-US" altLang="zh-CN" sz="3600" b="1" dirty="0">
                <a:solidFill>
                  <a:srgbClr val="FFFF00"/>
                </a:solidFill>
              </a:rPr>
              <a:t> </a:t>
            </a:r>
            <a:r>
              <a:rPr lang="en-US" altLang="zh-CN" sz="3600" b="1" dirty="0">
                <a:solidFill>
                  <a:schemeClr val="tx1"/>
                </a:solidFill>
              </a:rPr>
              <a:t>beautiful scenery </a:t>
            </a:r>
            <a:r>
              <a:rPr lang="en-US" altLang="zh-CN" sz="3600" b="1" dirty="0"/>
              <a:t>and pleasant climate. </a:t>
            </a:r>
            <a:endParaRPr lang="en-US" altLang="zh-CN" sz="3600" b="1" dirty="0"/>
          </a:p>
        </p:txBody>
      </p:sp>
      <p:pic>
        <p:nvPicPr>
          <p:cNvPr id="102" name="图片 101"/>
          <p:cNvPicPr/>
          <p:nvPr/>
        </p:nvPicPr>
        <p:blipFill>
          <a:blip r:embed="rId1"/>
          <a:stretch>
            <a:fillRect/>
          </a:stretch>
        </p:blipFill>
        <p:spPr>
          <a:xfrm>
            <a:off x="0" y="0"/>
            <a:ext cx="4063365" cy="2090420"/>
          </a:xfrm>
          <a:prstGeom prst="rect">
            <a:avLst/>
          </a:prstGeom>
          <a:noFill/>
          <a:ln w="9525">
            <a:noFill/>
          </a:ln>
        </p:spPr>
      </p:pic>
      <p:pic>
        <p:nvPicPr>
          <p:cNvPr id="104" name="图片 103"/>
          <p:cNvPicPr/>
          <p:nvPr/>
        </p:nvPicPr>
        <p:blipFill>
          <a:blip r:embed="rId2"/>
          <a:stretch>
            <a:fillRect/>
          </a:stretch>
        </p:blipFill>
        <p:spPr>
          <a:xfrm>
            <a:off x="4063365" y="0"/>
            <a:ext cx="4354195" cy="2079625"/>
          </a:xfrm>
          <a:prstGeom prst="rect">
            <a:avLst/>
          </a:prstGeom>
          <a:noFill/>
          <a:ln w="9525">
            <a:noFill/>
          </a:ln>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2057400"/>
            <a:ext cx="10852785" cy="1372235"/>
          </a:xfrm>
          <a:solidFill>
            <a:schemeClr val="accent6"/>
          </a:solidFill>
        </p:spPr>
        <p:txBody>
          <a:bodyPr>
            <a:normAutofit/>
          </a:bodyPr>
          <a:lstStyle/>
          <a:p>
            <a:pPr marL="0" indent="0">
              <a:buNone/>
            </a:pPr>
            <a:r>
              <a:rPr sz="3200" b="1">
                <a:sym typeface="+mn-ea"/>
              </a:rPr>
              <a:t>云南生态环境优越，生物多种多样，被誉为野生动植物的天堂。</a:t>
            </a:r>
            <a:endParaRPr lang="zh-CN" altLang="en-US" sz="3200" b="1"/>
          </a:p>
        </p:txBody>
      </p:sp>
      <p:sp>
        <p:nvSpPr>
          <p:cNvPr id="30" name="内容占位符 2"/>
          <p:cNvSpPr>
            <a:spLocks noGrp="1"/>
          </p:cNvSpPr>
          <p:nvPr/>
        </p:nvSpPr>
        <p:spPr>
          <a:xfrm>
            <a:off x="481965" y="3429000"/>
            <a:ext cx="11431270" cy="1452880"/>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a:t>Yunnan is known as a paradise for wild plants and animals</a:t>
            </a:r>
            <a:r>
              <a:rPr lang="en-US" altLang="zh-CN" sz="2800" b="1"/>
              <a:t> </a:t>
            </a:r>
            <a:endParaRPr lang="en-US" altLang="zh-CN" sz="2800" b="1"/>
          </a:p>
        </p:txBody>
      </p:sp>
      <p:pic>
        <p:nvPicPr>
          <p:cNvPr id="103" name="图片 102"/>
          <p:cNvPicPr/>
          <p:nvPr/>
        </p:nvPicPr>
        <p:blipFill>
          <a:blip r:embed="rId1"/>
          <a:stretch>
            <a:fillRect/>
          </a:stretch>
        </p:blipFill>
        <p:spPr>
          <a:xfrm>
            <a:off x="0" y="0"/>
            <a:ext cx="5968365" cy="1915795"/>
          </a:xfrm>
          <a:prstGeom prst="rect">
            <a:avLst/>
          </a:prstGeom>
          <a:noFill/>
          <a:ln w="9525">
            <a:noFill/>
          </a:ln>
        </p:spPr>
      </p:pic>
      <p:sp>
        <p:nvSpPr>
          <p:cNvPr id="2" name="内容占位符 2"/>
          <p:cNvSpPr>
            <a:spLocks noGrp="1"/>
          </p:cNvSpPr>
          <p:nvPr/>
        </p:nvSpPr>
        <p:spPr>
          <a:xfrm>
            <a:off x="2438400" y="4191000"/>
            <a:ext cx="9436100" cy="1501775"/>
          </a:xfrm>
          <a:prstGeom prst="rect">
            <a:avLst/>
          </a:prstGeom>
          <a:solidFill>
            <a:srgbClr val="FFFF66"/>
          </a:solidFill>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dirty="0"/>
              <a:t>for its superior ecological environment and </a:t>
            </a:r>
            <a:endParaRPr lang="en-US" altLang="zh-CN" sz="3200" b="1" dirty="0"/>
          </a:p>
          <a:p>
            <a:pPr marL="0" indent="0">
              <a:buNone/>
            </a:pPr>
            <a:r>
              <a:rPr lang="en-US" altLang="zh-CN" sz="3200" b="1" dirty="0"/>
              <a:t>a wide variety of living </a:t>
            </a:r>
            <a:r>
              <a:rPr lang="en-US" altLang="zh-CN" sz="3200" b="1" dirty="0" smtClean="0"/>
              <a:t>creatures.  </a:t>
            </a:r>
            <a:r>
              <a:rPr lang="en-US" altLang="zh-CN" sz="2800" dirty="0" smtClean="0"/>
              <a:t> </a:t>
            </a:r>
            <a:endParaRPr lang="en-US" altLang="zh-CN" sz="2800"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7845" y="1941195"/>
            <a:ext cx="10852150" cy="1335405"/>
          </a:xfrm>
          <a:solidFill>
            <a:schemeClr val="accent6"/>
          </a:solidFill>
        </p:spPr>
        <p:txBody>
          <a:bodyPr>
            <a:normAutofit fontScale="97500" lnSpcReduction="10000"/>
          </a:bodyPr>
          <a:lstStyle/>
          <a:p>
            <a:pPr marL="0" indent="0">
              <a:buNone/>
            </a:pPr>
            <a:r>
              <a:rPr sz="3200" b="1">
                <a:sym typeface="+mn-ea"/>
              </a:rPr>
              <a:t>云南还有多种矿藏和充足的水资源，为全省经济的可持续发展提供了有利条件。</a:t>
            </a:r>
            <a:endParaRPr sz="3200"/>
          </a:p>
          <a:p>
            <a:pPr marL="0" indent="0">
              <a:buNone/>
            </a:pPr>
            <a:endParaRPr lang="zh-CN" altLang="en-US" sz="3200"/>
          </a:p>
        </p:txBody>
      </p:sp>
      <p:sp>
        <p:nvSpPr>
          <p:cNvPr id="30" name="内容占位符 2"/>
          <p:cNvSpPr>
            <a:spLocks noGrp="1"/>
          </p:cNvSpPr>
          <p:nvPr/>
        </p:nvSpPr>
        <p:spPr>
          <a:xfrm>
            <a:off x="537845" y="3276600"/>
            <a:ext cx="11490325" cy="1318895"/>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a:t>Yunnan also has a wide variety of mineral resources and adequate water resources,  </a:t>
            </a:r>
            <a:endParaRPr lang="en-US" altLang="zh-CN" sz="3200" b="1"/>
          </a:p>
        </p:txBody>
      </p:sp>
      <p:pic>
        <p:nvPicPr>
          <p:cNvPr id="105" name="图片 104"/>
          <p:cNvPicPr/>
          <p:nvPr/>
        </p:nvPicPr>
        <p:blipFill>
          <a:blip r:embed="rId1"/>
          <a:stretch>
            <a:fillRect/>
          </a:stretch>
        </p:blipFill>
        <p:spPr>
          <a:xfrm>
            <a:off x="0" y="0"/>
            <a:ext cx="4052570" cy="1823720"/>
          </a:xfrm>
          <a:prstGeom prst="rect">
            <a:avLst/>
          </a:prstGeom>
          <a:noFill/>
          <a:ln w="9525">
            <a:noFill/>
          </a:ln>
        </p:spPr>
      </p:pic>
      <p:pic>
        <p:nvPicPr>
          <p:cNvPr id="107" name="图片 106"/>
          <p:cNvPicPr/>
          <p:nvPr/>
        </p:nvPicPr>
        <p:blipFill>
          <a:blip r:embed="rId2"/>
          <a:stretch>
            <a:fillRect/>
          </a:stretch>
        </p:blipFill>
        <p:spPr>
          <a:xfrm>
            <a:off x="4052570" y="635"/>
            <a:ext cx="4460875" cy="1823085"/>
          </a:xfrm>
          <a:prstGeom prst="rect">
            <a:avLst/>
          </a:prstGeom>
          <a:noFill/>
          <a:ln w="9525">
            <a:noFill/>
          </a:ln>
        </p:spPr>
      </p:pic>
      <p:sp>
        <p:nvSpPr>
          <p:cNvPr id="2" name="内容占位符 2"/>
          <p:cNvSpPr>
            <a:spLocks noGrp="1"/>
          </p:cNvSpPr>
          <p:nvPr/>
        </p:nvSpPr>
        <p:spPr>
          <a:xfrm>
            <a:off x="3095604" y="4572008"/>
            <a:ext cx="8701118" cy="1991995"/>
          </a:xfrm>
          <a:prstGeom prst="rect">
            <a:avLst/>
          </a:prstGeom>
          <a:solidFill>
            <a:srgbClr val="FFFF66"/>
          </a:solidFill>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dirty="0" smtClean="0"/>
              <a:t>providing </a:t>
            </a:r>
            <a:r>
              <a:rPr lang="en-US" altLang="zh-CN" sz="3200" b="1" dirty="0"/>
              <a:t>favorable conditions </a:t>
            </a:r>
            <a:r>
              <a:rPr lang="en-US" altLang="zh-CN" sz="3200" b="1" dirty="0" smtClean="0"/>
              <a:t>for </a:t>
            </a:r>
            <a:r>
              <a:rPr lang="en-US" altLang="zh-CN" sz="3200" b="1" dirty="0"/>
              <a:t>the sustainable development of the whole province’s economy. </a:t>
            </a:r>
            <a:endParaRPr lang="en-US" altLang="zh-CN" sz="3200" b="1"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4515" y="2514600"/>
            <a:ext cx="11166475" cy="760095"/>
          </a:xfrm>
          <a:solidFill>
            <a:schemeClr val="accent6"/>
          </a:solidFill>
        </p:spPr>
        <p:txBody>
          <a:bodyPr>
            <a:normAutofit fontScale="90000"/>
          </a:bodyPr>
          <a:lstStyle/>
          <a:p>
            <a:pPr marL="0" indent="0">
              <a:buNone/>
            </a:pPr>
            <a:r>
              <a:rPr sz="3200" b="1">
                <a:sym typeface="+mn-ea"/>
              </a:rPr>
              <a:t>云南居住着</a:t>
            </a:r>
            <a:r>
              <a:rPr lang="en-US" altLang="zh-CN" sz="3200" b="1">
                <a:sym typeface="+mn-ea"/>
              </a:rPr>
              <a:t>25</a:t>
            </a:r>
            <a:r>
              <a:rPr sz="3200" b="1">
                <a:sym typeface="+mn-ea"/>
              </a:rPr>
              <a:t>个少数民族，他们大多有自己的语言、习俗和宗教。</a:t>
            </a:r>
            <a:endParaRPr sz="3200"/>
          </a:p>
          <a:p>
            <a:pPr marL="0" indent="0">
              <a:buNone/>
            </a:pPr>
            <a:endParaRPr lang="zh-CN" altLang="en-US" sz="3200"/>
          </a:p>
        </p:txBody>
      </p:sp>
      <p:sp>
        <p:nvSpPr>
          <p:cNvPr id="30" name="内容占位符 2"/>
          <p:cNvSpPr>
            <a:spLocks noGrp="1"/>
          </p:cNvSpPr>
          <p:nvPr/>
        </p:nvSpPr>
        <p:spPr>
          <a:xfrm>
            <a:off x="533400" y="3505200"/>
            <a:ext cx="11228705" cy="826135"/>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a:t>Yunnan is inhabited by 25 minority ethnic groups, </a:t>
            </a:r>
            <a:endParaRPr lang="en-US" altLang="zh-CN" sz="3200" b="1"/>
          </a:p>
        </p:txBody>
      </p:sp>
      <p:pic>
        <p:nvPicPr>
          <p:cNvPr id="106" name="图片 105"/>
          <p:cNvPicPr/>
          <p:nvPr/>
        </p:nvPicPr>
        <p:blipFill>
          <a:blip r:embed="rId1"/>
          <a:stretch>
            <a:fillRect/>
          </a:stretch>
        </p:blipFill>
        <p:spPr>
          <a:xfrm>
            <a:off x="0" y="0"/>
            <a:ext cx="6737985" cy="2115820"/>
          </a:xfrm>
          <a:prstGeom prst="rect">
            <a:avLst/>
          </a:prstGeom>
          <a:noFill/>
          <a:ln w="9525">
            <a:noFill/>
          </a:ln>
        </p:spPr>
      </p:pic>
      <p:sp>
        <p:nvSpPr>
          <p:cNvPr id="2" name="内容占位符 2"/>
          <p:cNvSpPr>
            <a:spLocks noGrp="1"/>
          </p:cNvSpPr>
          <p:nvPr/>
        </p:nvSpPr>
        <p:spPr>
          <a:xfrm>
            <a:off x="609600" y="4419600"/>
            <a:ext cx="11228705" cy="1402080"/>
          </a:xfrm>
          <a:prstGeom prst="rect">
            <a:avLst/>
          </a:prstGeom>
          <a:solidFill>
            <a:srgbClr val="FFFF00"/>
          </a:solidFill>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a:t>most of whom have their own languages, customs and religions.</a:t>
            </a:r>
            <a:endParaRPr lang="en-US" altLang="zh-CN" sz="3200" b="1"/>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905000"/>
            <a:ext cx="10852150" cy="1299845"/>
          </a:xfrm>
          <a:solidFill>
            <a:schemeClr val="accent6"/>
          </a:solidFill>
        </p:spPr>
        <p:txBody>
          <a:bodyPr>
            <a:normAutofit fontScale="90000"/>
          </a:bodyPr>
          <a:lstStyle/>
          <a:p>
            <a:pPr marL="0" indent="0">
              <a:buNone/>
            </a:pPr>
            <a:r>
              <a:rPr sz="3200" b="1">
                <a:sym typeface="+mn-ea"/>
              </a:rPr>
              <a:t>云南独特的自然景色和丰富的民族文化使其成为中国最受欢迎的旅游目的地之一，每年吸引着大批国内外游客前往旅游。</a:t>
            </a:r>
            <a:endParaRPr lang="zh-CN" altLang="en-US" sz="3200" b="1">
              <a:sym typeface="+mn-ea"/>
            </a:endParaRPr>
          </a:p>
        </p:txBody>
      </p:sp>
      <p:sp>
        <p:nvSpPr>
          <p:cNvPr id="30" name="内容占位符 2"/>
          <p:cNvSpPr>
            <a:spLocks noGrp="1"/>
          </p:cNvSpPr>
          <p:nvPr/>
        </p:nvSpPr>
        <p:spPr>
          <a:xfrm>
            <a:off x="533400" y="3276600"/>
            <a:ext cx="11228705" cy="1798955"/>
          </a:xfrm>
          <a:prstGeom prst="rect">
            <a:avLst/>
          </a:prstGeom>
        </p:spPr>
        <p:txBody>
          <a:bodyPr vert="horz" lIns="101600" tIns="0" rIns="82550" bIns="0" rtlCol="0">
            <a:normAutofit fontScale="97500" lnSpcReduction="1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a:t>Yunnan’s unique natural scenery and rich ethnic cultures have made it one of the most popular tourist destinations in China,</a:t>
            </a:r>
            <a:r>
              <a:rPr lang="en-US" altLang="zh-CN" sz="2800" b="1"/>
              <a:t>  </a:t>
            </a:r>
            <a:r>
              <a:rPr lang="en-US" altLang="zh-CN" sz="2800"/>
              <a:t>  </a:t>
            </a:r>
            <a:endParaRPr lang="en-US" altLang="zh-CN" sz="2800"/>
          </a:p>
        </p:txBody>
      </p:sp>
      <p:pic>
        <p:nvPicPr>
          <p:cNvPr id="108" name="图片 107"/>
          <p:cNvPicPr/>
          <p:nvPr/>
        </p:nvPicPr>
        <p:blipFill>
          <a:blip r:embed="rId1"/>
          <a:stretch>
            <a:fillRect/>
          </a:stretch>
        </p:blipFill>
        <p:spPr>
          <a:xfrm>
            <a:off x="0" y="0"/>
            <a:ext cx="7148830" cy="1755140"/>
          </a:xfrm>
          <a:prstGeom prst="rect">
            <a:avLst/>
          </a:prstGeom>
          <a:noFill/>
          <a:ln w="9525">
            <a:noFill/>
          </a:ln>
        </p:spPr>
      </p:pic>
      <p:sp>
        <p:nvSpPr>
          <p:cNvPr id="2" name="内容占位符 2"/>
          <p:cNvSpPr>
            <a:spLocks noGrp="1"/>
          </p:cNvSpPr>
          <p:nvPr/>
        </p:nvSpPr>
        <p:spPr>
          <a:xfrm>
            <a:off x="4191000" y="4953000"/>
            <a:ext cx="7830185" cy="1579880"/>
          </a:xfrm>
          <a:prstGeom prst="rect">
            <a:avLst/>
          </a:prstGeom>
          <a:solidFill>
            <a:srgbClr val="FFFF00"/>
          </a:solidFill>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a:t>attracting large numbers of tourists </a:t>
            </a:r>
            <a:endParaRPr lang="en-US" altLang="zh-CN" sz="3200" b="1"/>
          </a:p>
          <a:p>
            <a:pPr marL="0" indent="0">
              <a:buNone/>
            </a:pPr>
            <a:r>
              <a:rPr lang="en-US" altLang="zh-CN" sz="3200" b="1"/>
              <a:t>from home and abroad every year.  </a:t>
            </a:r>
            <a:endParaRPr lang="en-US" altLang="zh-CN" sz="3200" b="1"/>
          </a:p>
          <a:p>
            <a:pPr marL="0" indent="0">
              <a:buNone/>
            </a:pPr>
            <a:endParaRPr lang="en-US" altLang="zh-CN" sz="3200" b="1"/>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5900" y="228600"/>
            <a:ext cx="8991600" cy="5992758"/>
          </a:xfrm>
          <a:prstGeom prst="rect">
            <a:avLst/>
          </a:prstGeom>
        </p:spPr>
      </p:pic>
      <p:sp>
        <p:nvSpPr>
          <p:cNvPr id="8" name="TextBox 7"/>
          <p:cNvSpPr txBox="1"/>
          <p:nvPr/>
        </p:nvSpPr>
        <p:spPr>
          <a:xfrm>
            <a:off x="2971800" y="3886386"/>
            <a:ext cx="2263604" cy="632460"/>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2</a:t>
            </a:r>
            <a:endParaRPr lang="en-US" altLang="zh-CN" sz="6000" kern="0" dirty="0" smtClean="0">
              <a:solidFill>
                <a:srgbClr val="FF0000"/>
              </a:solidFill>
            </a:endParaRPr>
          </a:p>
        </p:txBody>
      </p:sp>
      <p:sp>
        <p:nvSpPr>
          <p:cNvPr id="10" name="TextBox 9"/>
          <p:cNvSpPr txBox="1"/>
          <p:nvPr/>
        </p:nvSpPr>
        <p:spPr>
          <a:xfrm>
            <a:off x="5410200" y="2667000"/>
            <a:ext cx="4288790" cy="1445260"/>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翻译</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内容占位符 4"/>
          <p:cNvSpPr>
            <a:spLocks noGrp="1"/>
          </p:cNvSpPr>
          <p:nvPr>
            <p:ph idx="1"/>
          </p:nvPr>
        </p:nvSpPr>
        <p:spPr>
          <a:xfrm>
            <a:off x="448310" y="2217420"/>
            <a:ext cx="11295380" cy="4514850"/>
          </a:xfrm>
        </p:spPr>
        <p:txBody>
          <a:bodyPr>
            <a:normAutofit lnSpcReduction="20000"/>
          </a:bodyPr>
          <a:lstStyle/>
          <a:p>
            <a:pPr>
              <a:buNone/>
            </a:pPr>
            <a:r>
              <a:rPr sz="2800" b="1" dirty="0" smtClean="0">
                <a:latin typeface="+mj-ea"/>
                <a:ea typeface="+mj-ea"/>
                <a:cs typeface="Times New Roman" panose="02020603050405020304" pitchFamily="18" charset="0"/>
              </a:rPr>
              <a:t>中国盛产竹子，是最早开发利用竹资源的国家。竹子在中国分步广</a:t>
            </a:r>
            <a:endParaRPr sz="2800" b="1" dirty="0" smtClean="0">
              <a:latin typeface="+mj-ea"/>
              <a:ea typeface="+mj-ea"/>
              <a:cs typeface="Times New Roman" panose="02020603050405020304" pitchFamily="18" charset="0"/>
            </a:endParaRPr>
          </a:p>
          <a:p>
            <a:pPr>
              <a:buNone/>
            </a:pPr>
            <a:r>
              <a:rPr sz="2800" b="1" dirty="0" smtClean="0">
                <a:latin typeface="+mj-ea"/>
                <a:ea typeface="+mj-ea"/>
                <a:cs typeface="Times New Roman" panose="02020603050405020304" pitchFamily="18" charset="0"/>
              </a:rPr>
              <a:t>泛，品种丰富。竹子实用性强，用于生产和生活的许多方面，如筷</a:t>
            </a:r>
            <a:endParaRPr sz="2800" b="1" dirty="0" smtClean="0">
              <a:latin typeface="+mj-ea"/>
              <a:ea typeface="+mj-ea"/>
              <a:cs typeface="Times New Roman" panose="02020603050405020304" pitchFamily="18" charset="0"/>
            </a:endParaRPr>
          </a:p>
          <a:p>
            <a:pPr>
              <a:buNone/>
            </a:pPr>
            <a:r>
              <a:rPr sz="2800" b="1" dirty="0" smtClean="0">
                <a:latin typeface="+mj-ea"/>
                <a:ea typeface="+mj-ea"/>
                <a:cs typeface="Times New Roman" panose="02020603050405020304" pitchFamily="18" charset="0"/>
              </a:rPr>
              <a:t>子、桌椅的制作和桥梁、房屋的建造。中国人爱竹，自古以来就有</a:t>
            </a:r>
            <a:endParaRPr sz="2800" b="1" dirty="0" smtClean="0">
              <a:latin typeface="+mj-ea"/>
              <a:ea typeface="+mj-ea"/>
              <a:cs typeface="Times New Roman" panose="02020603050405020304" pitchFamily="18" charset="0"/>
            </a:endParaRPr>
          </a:p>
          <a:p>
            <a:pPr>
              <a:buNone/>
            </a:pPr>
            <a:r>
              <a:rPr sz="2800" b="1" dirty="0" smtClean="0">
                <a:latin typeface="+mj-ea"/>
                <a:ea typeface="+mj-ea"/>
                <a:cs typeface="Times New Roman" panose="02020603050405020304" pitchFamily="18" charset="0"/>
              </a:rPr>
              <a:t>无数文人以竹子为主题，创作了绚丽多彩的文学和绘画作品。竹子</a:t>
            </a:r>
            <a:endParaRPr sz="2800" b="1" dirty="0" smtClean="0">
              <a:latin typeface="+mj-ea"/>
              <a:ea typeface="+mj-ea"/>
              <a:cs typeface="Times New Roman" panose="02020603050405020304" pitchFamily="18" charset="0"/>
            </a:endParaRPr>
          </a:p>
          <a:p>
            <a:pPr>
              <a:buNone/>
            </a:pPr>
            <a:r>
              <a:rPr sz="2800" b="1" dirty="0" smtClean="0">
                <a:latin typeface="+mj-ea"/>
                <a:ea typeface="+mj-ea"/>
                <a:cs typeface="Times New Roman" panose="02020603050405020304" pitchFamily="18" charset="0"/>
              </a:rPr>
              <a:t>主干笔直，象征正值的品格。竹子具有强大的生命力和适应能力，</a:t>
            </a:r>
            <a:endParaRPr sz="2800" b="1" dirty="0" smtClean="0">
              <a:latin typeface="+mj-ea"/>
              <a:ea typeface="+mj-ea"/>
              <a:cs typeface="Times New Roman" panose="02020603050405020304" pitchFamily="18" charset="0"/>
            </a:endParaRPr>
          </a:p>
          <a:p>
            <a:pPr>
              <a:buNone/>
            </a:pPr>
            <a:r>
              <a:rPr sz="2800" b="1" dirty="0" smtClean="0">
                <a:latin typeface="+mj-ea"/>
                <a:ea typeface="+mj-ea"/>
                <a:cs typeface="Times New Roman" panose="02020603050405020304" pitchFamily="18" charset="0"/>
              </a:rPr>
              <a:t>无论环境多么恶劣，都能够顽强生存，因而寓意坚韧不拔的精神。</a:t>
            </a:r>
            <a:endParaRPr sz="2800" b="1" dirty="0" smtClean="0">
              <a:latin typeface="+mj-ea"/>
              <a:ea typeface="+mj-ea"/>
              <a:cs typeface="Times New Roman" panose="02020603050405020304" pitchFamily="18" charset="0"/>
            </a:endParaRPr>
          </a:p>
          <a:p>
            <a:pPr>
              <a:buNone/>
            </a:pPr>
            <a:r>
              <a:rPr sz="2800" b="1" dirty="0" smtClean="0">
                <a:latin typeface="+mj-ea"/>
                <a:ea typeface="+mj-ea"/>
                <a:cs typeface="Times New Roman" panose="02020603050405020304" pitchFamily="18" charset="0"/>
              </a:rPr>
              <a:t>几千年来，竹子一直被视为中华民族的象征。</a:t>
            </a:r>
            <a:endParaRPr lang="en-US" altLang="zh-CN" sz="2800" b="1" dirty="0" smtClean="0">
              <a:latin typeface="+mj-ea"/>
              <a:ea typeface="+mj-ea"/>
              <a:cs typeface="Times New Roman" panose="02020603050405020304" pitchFamily="18" charset="0"/>
            </a:endParaRPr>
          </a:p>
        </p:txBody>
      </p:sp>
      <p:pic>
        <p:nvPicPr>
          <p:cNvPr id="9" name="图片 8"/>
          <p:cNvPicPr/>
          <p:nvPr/>
        </p:nvPicPr>
        <p:blipFill>
          <a:blip r:embed="rId1"/>
          <a:stretch>
            <a:fillRect/>
          </a:stretch>
        </p:blipFill>
        <p:spPr>
          <a:xfrm>
            <a:off x="0" y="0"/>
            <a:ext cx="7247255" cy="1948180"/>
          </a:xfrm>
          <a:prstGeom prst="rect">
            <a:avLst/>
          </a:prstGeom>
        </p:spPr>
      </p:pic>
    </p:spTree>
    <p:custDataLst>
      <p:tags r:id="rId2"/>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391160" y="2487930"/>
            <a:ext cx="11441430" cy="583565"/>
          </a:xfrm>
          <a:prstGeom prst="rect">
            <a:avLst/>
          </a:prstGeom>
          <a:noFill/>
        </p:spPr>
        <p:txBody>
          <a:bodyPr wrap="square" rtlCol="0" anchor="t">
            <a:spAutoFit/>
          </a:bodyPr>
          <a:lstStyle/>
          <a:p>
            <a:r>
              <a:rPr sz="3200" b="1" dirty="0" smtClean="0">
                <a:latin typeface="+mj-ea"/>
                <a:ea typeface="+mj-ea"/>
                <a:cs typeface="Times New Roman" panose="02020603050405020304" pitchFamily="18" charset="0"/>
                <a:sym typeface="+mn-ea"/>
              </a:rPr>
              <a:t>中国盛产竹子，是最早开发利用竹资源的国家。</a:t>
            </a:r>
            <a:endParaRPr lang="zh-CN" altLang="en-US" sz="3200" b="1" dirty="0" smtClean="0">
              <a:latin typeface="+mj-ea"/>
              <a:ea typeface="+mj-ea"/>
              <a:cs typeface="Times New Roman" panose="02020603050405020304" pitchFamily="18" charset="0"/>
              <a:sym typeface="+mn-ea"/>
            </a:endParaRPr>
          </a:p>
        </p:txBody>
      </p:sp>
      <p:sp>
        <p:nvSpPr>
          <p:cNvPr id="3" name="内容占位符 2"/>
          <p:cNvSpPr>
            <a:spLocks noGrp="1"/>
          </p:cNvSpPr>
          <p:nvPr/>
        </p:nvSpPr>
        <p:spPr>
          <a:xfrm>
            <a:off x="490220" y="3429000"/>
            <a:ext cx="10981055" cy="225171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3200" b="1" dirty="0" smtClean="0">
                <a:solidFill>
                  <a:schemeClr val="tx1"/>
                </a:solidFill>
                <a:latin typeface="+mj-lt"/>
                <a:ea typeface="宋体" panose="02010600030101010101" pitchFamily="2" charset="-122"/>
                <a:cs typeface="Times New Roman" panose="02020603050405020304" pitchFamily="18" charset="0"/>
              </a:rPr>
              <a:t>China, </a:t>
            </a:r>
            <a:r>
              <a:rPr lang="en-US" altLang="zh-CN" sz="3200" b="1" smtClean="0">
                <a:solidFill>
                  <a:schemeClr val="tx1"/>
                </a:solidFill>
                <a:highlight>
                  <a:srgbClr val="00FFFF"/>
                </a:highlight>
                <a:latin typeface="+mn-lt"/>
                <a:ea typeface="宋体" panose="02010600030101010101" pitchFamily="2" charset="-122"/>
                <a:cs typeface="Times New Roman" panose="02020603050405020304" pitchFamily="18" charset="0"/>
                <a:sym typeface="+mn-ea"/>
              </a:rPr>
              <a:t>abundant in bamboo </a:t>
            </a:r>
            <a:r>
              <a:rPr lang="en-US" altLang="zh-CN" sz="3200" b="1" smtClean="0">
                <a:solidFill>
                  <a:schemeClr val="tx1"/>
                </a:solidFill>
                <a:latin typeface="+mn-lt"/>
                <a:ea typeface="宋体" panose="02010600030101010101" pitchFamily="2" charset="-122"/>
                <a:cs typeface="Times New Roman" panose="02020603050405020304" pitchFamily="18" charset="0"/>
                <a:sym typeface="+mn-ea"/>
              </a:rPr>
              <a:t>, </a:t>
            </a:r>
            <a:r>
              <a:rPr lang="en-US" altLang="zh-CN" sz="3200" b="1" dirty="0" smtClean="0">
                <a:solidFill>
                  <a:schemeClr val="tx1"/>
                </a:solidFill>
                <a:latin typeface="+mj-lt"/>
                <a:ea typeface="宋体" panose="02010600030101010101" pitchFamily="2" charset="-122"/>
                <a:cs typeface="Times New Roman" panose="02020603050405020304" pitchFamily="18" charset="0"/>
              </a:rPr>
              <a:t>is the earliest country to develop and make use of bamboo resources.</a:t>
            </a:r>
            <a:r>
              <a:rPr lang="en-US" altLang="zh-CN" sz="3200" b="1" dirty="0" smtClean="0">
                <a:solidFill>
                  <a:schemeClr val="tx1"/>
                </a:solidFill>
                <a:latin typeface="+mj-lt"/>
              </a:rPr>
              <a:t>  </a:t>
            </a:r>
            <a:endParaRPr lang="en-US" altLang="zh-CN" sz="3200" b="1" dirty="0" smtClean="0">
              <a:solidFill>
                <a:schemeClr val="tx1"/>
              </a:solidFill>
              <a:latin typeface="+mj-lt"/>
            </a:endParaRPr>
          </a:p>
        </p:txBody>
      </p:sp>
      <p:pic>
        <p:nvPicPr>
          <p:cNvPr id="5" name="图片 4"/>
          <p:cNvPicPr/>
          <p:nvPr/>
        </p:nvPicPr>
        <p:blipFill>
          <a:blip r:embed="rId1"/>
          <a:stretch>
            <a:fillRect/>
          </a:stretch>
        </p:blipFill>
        <p:spPr>
          <a:xfrm>
            <a:off x="0" y="0"/>
            <a:ext cx="6517640" cy="2282825"/>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397510" y="3210560"/>
            <a:ext cx="10941050" cy="645160"/>
          </a:xfrm>
          <a:prstGeom prst="rect">
            <a:avLst/>
          </a:prstGeom>
          <a:noFill/>
        </p:spPr>
        <p:txBody>
          <a:bodyPr wrap="square" rtlCol="0" anchor="t">
            <a:spAutoFit/>
          </a:bodyPr>
          <a:lstStyle/>
          <a:p>
            <a:pPr>
              <a:buNone/>
            </a:pPr>
            <a:r>
              <a:rPr sz="3600" b="1" dirty="0" smtClean="0">
                <a:latin typeface="+mj-ea"/>
                <a:ea typeface="+mj-ea"/>
                <a:cs typeface="Times New Roman" panose="02020603050405020304" pitchFamily="18" charset="0"/>
                <a:sym typeface="+mn-ea"/>
              </a:rPr>
              <a:t>竹子在中国分步广泛，品种丰富。</a:t>
            </a:r>
            <a:endParaRPr lang="zh-CN" altLang="en-US" sz="3600" b="1" dirty="0" smtClean="0">
              <a:latin typeface="+mj-ea"/>
              <a:ea typeface="+mj-ea"/>
              <a:cs typeface="Times New Roman" panose="02020603050405020304" pitchFamily="18" charset="0"/>
              <a:sym typeface="+mn-ea"/>
            </a:endParaRPr>
          </a:p>
        </p:txBody>
      </p:sp>
      <p:sp>
        <p:nvSpPr>
          <p:cNvPr id="5" name="内容占位符 2"/>
          <p:cNvSpPr>
            <a:spLocks noGrp="1"/>
          </p:cNvSpPr>
          <p:nvPr/>
        </p:nvSpPr>
        <p:spPr>
          <a:xfrm>
            <a:off x="397510" y="4077335"/>
            <a:ext cx="11219180" cy="1964055"/>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800" b="1" dirty="0" smtClean="0">
                <a:solidFill>
                  <a:schemeClr val="tx1"/>
                </a:solidFill>
                <a:latin typeface="+mn-lt"/>
                <a:ea typeface="宋体" panose="02010600030101010101" pitchFamily="2" charset="-122"/>
                <a:cs typeface="Times New Roman" panose="02020603050405020304" pitchFamily="18" charset="0"/>
              </a:rPr>
              <a:t> </a:t>
            </a:r>
            <a:r>
              <a:rPr lang="en-US" altLang="zh-CN" sz="3600" b="1" dirty="0" smtClean="0">
                <a:solidFill>
                  <a:schemeClr val="tx1"/>
                </a:solidFill>
                <a:latin typeface="+mn-lt"/>
                <a:ea typeface="宋体" panose="02010600030101010101" pitchFamily="2" charset="-122"/>
                <a:cs typeface="Times New Roman" panose="02020603050405020304" pitchFamily="18" charset="0"/>
              </a:rPr>
              <a:t>Bamboo is widely distributed in China, </a:t>
            </a:r>
            <a:endParaRPr lang="en-US" altLang="zh-CN" sz="3600" b="1" dirty="0" smtClean="0">
              <a:solidFill>
                <a:schemeClr val="tx1"/>
              </a:solidFill>
              <a:latin typeface="+mn-lt"/>
              <a:ea typeface="宋体" panose="02010600030101010101" pitchFamily="2" charset="-122"/>
              <a:cs typeface="Times New Roman" panose="02020603050405020304" pitchFamily="18" charset="0"/>
            </a:endParaRPr>
          </a:p>
          <a:p>
            <a:pPr marL="0" indent="0">
              <a:lnSpc>
                <a:spcPct val="150000"/>
              </a:lnSpc>
              <a:buNone/>
            </a:pPr>
            <a:r>
              <a:rPr lang="en-US" altLang="zh-CN" sz="3600" b="1" dirty="0" smtClean="0">
                <a:solidFill>
                  <a:schemeClr val="tx1"/>
                </a:solidFill>
                <a:latin typeface="+mn-lt"/>
                <a:ea typeface="宋体" panose="02010600030101010101" pitchFamily="2" charset="-122"/>
                <a:cs typeface="Times New Roman" panose="02020603050405020304" pitchFamily="18" charset="0"/>
              </a:rPr>
              <a:t> </a:t>
            </a:r>
            <a:r>
              <a:rPr lang="en-US" altLang="zh-CN" sz="3600" b="1" dirty="0" smtClean="0">
                <a:solidFill>
                  <a:schemeClr val="tx1"/>
                </a:solidFill>
                <a:highlight>
                  <a:srgbClr val="00FF00"/>
                </a:highlight>
                <a:latin typeface="+mn-lt"/>
                <a:ea typeface="宋体" panose="02010600030101010101" pitchFamily="2" charset="-122"/>
                <a:cs typeface="Times New Roman" panose="02020603050405020304" pitchFamily="18" charset="0"/>
              </a:rPr>
              <a:t>with a rich variety</a:t>
            </a:r>
            <a:r>
              <a:rPr lang="en-US" altLang="zh-CN" sz="3600" b="1" dirty="0" smtClean="0">
                <a:solidFill>
                  <a:schemeClr val="tx1"/>
                </a:solidFill>
                <a:latin typeface="+mn-lt"/>
                <a:ea typeface="宋体" panose="02010600030101010101" pitchFamily="2" charset="-122"/>
                <a:cs typeface="Times New Roman" panose="02020603050405020304" pitchFamily="18" charset="0"/>
              </a:rPr>
              <a:t>.</a:t>
            </a:r>
            <a:r>
              <a:rPr lang="en-US" altLang="zh-CN" sz="2800" b="1" dirty="0" smtClean="0">
                <a:solidFill>
                  <a:schemeClr val="tx1"/>
                </a:solidFill>
                <a:latin typeface="+mn-lt"/>
              </a:rPr>
              <a:t>   </a:t>
            </a:r>
            <a:endParaRPr lang="en-US" altLang="zh-CN" sz="2800" b="1" dirty="0">
              <a:solidFill>
                <a:schemeClr val="tx1"/>
              </a:solidFill>
              <a:latin typeface="+mn-lt"/>
            </a:endParaRPr>
          </a:p>
        </p:txBody>
      </p:sp>
      <p:pic>
        <p:nvPicPr>
          <p:cNvPr id="10" name="图片 9"/>
          <p:cNvPicPr/>
          <p:nvPr/>
        </p:nvPicPr>
        <p:blipFill>
          <a:blip r:embed="rId1"/>
          <a:stretch>
            <a:fillRect/>
          </a:stretch>
        </p:blipFill>
        <p:spPr>
          <a:xfrm>
            <a:off x="-24765" y="45085"/>
            <a:ext cx="8987155" cy="2662555"/>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479425" y="2277110"/>
            <a:ext cx="11441430" cy="1399540"/>
          </a:xfrm>
          <a:prstGeom prst="rect">
            <a:avLst/>
          </a:prstGeom>
          <a:noFill/>
        </p:spPr>
        <p:txBody>
          <a:bodyPr wrap="square" rtlCol="0" anchor="t">
            <a:noAutofit/>
          </a:bodyPr>
          <a:lstStyle/>
          <a:p>
            <a:pPr>
              <a:lnSpc>
                <a:spcPct val="150000"/>
              </a:lnSpc>
              <a:buNone/>
            </a:pPr>
            <a:r>
              <a:rPr sz="2800" b="1" dirty="0" smtClean="0">
                <a:latin typeface="+mj-ea"/>
                <a:ea typeface="+mj-ea"/>
                <a:cs typeface="Times New Roman" panose="02020603050405020304" pitchFamily="18" charset="0"/>
                <a:sym typeface="+mn-ea"/>
              </a:rPr>
              <a:t>竹子实用性强，用于生产和生活的许多方面，如筷子、桌椅的制作和桥梁、房屋的建造。</a:t>
            </a:r>
            <a:endParaRPr lang="zh-CN" altLang="en-US" sz="2800" b="1" dirty="0" smtClean="0">
              <a:latin typeface="+mj-ea"/>
              <a:ea typeface="+mj-ea"/>
              <a:cs typeface="Times New Roman" panose="02020603050405020304" pitchFamily="18" charset="0"/>
              <a:sym typeface="+mn-ea"/>
            </a:endParaRPr>
          </a:p>
        </p:txBody>
      </p:sp>
      <p:sp>
        <p:nvSpPr>
          <p:cNvPr id="4" name="内容占位符 2"/>
          <p:cNvSpPr>
            <a:spLocks noGrp="1"/>
          </p:cNvSpPr>
          <p:nvPr/>
        </p:nvSpPr>
        <p:spPr>
          <a:xfrm>
            <a:off x="479425" y="3717290"/>
            <a:ext cx="10981055" cy="2414270"/>
          </a:xfrm>
          <a:prstGeom prst="rect">
            <a:avLst/>
          </a:prstGeom>
        </p:spPr>
        <p:txBody>
          <a:bodyPr vert="horz" lIns="101600" tIns="0" rIns="82550" bIns="0" rtlCol="0">
            <a:normAutofit lnSpcReduction="1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800" b="1" dirty="0" smtClean="0">
                <a:solidFill>
                  <a:schemeClr val="tx1"/>
                </a:solidFill>
                <a:latin typeface="+mj-lt"/>
                <a:ea typeface="宋体" panose="02010600030101010101" pitchFamily="2" charset="-122"/>
                <a:cs typeface="Times New Roman" panose="02020603050405020304" pitchFamily="18" charset="0"/>
              </a:rPr>
              <a:t>As </a:t>
            </a:r>
            <a:r>
              <a:rPr lang="en-US" altLang="zh-CN" sz="2800" b="1" smtClean="0">
                <a:solidFill>
                  <a:schemeClr val="tx1"/>
                </a:solidFill>
                <a:latin typeface="+mn-lt"/>
                <a:ea typeface="宋体" panose="02010600030101010101" pitchFamily="2" charset="-122"/>
                <a:cs typeface="Times New Roman" panose="02020603050405020304" pitchFamily="18" charset="0"/>
                <a:sym typeface="+mn-ea"/>
              </a:rPr>
              <a:t>bamboo is very practical, i</a:t>
            </a:r>
            <a:r>
              <a:rPr lang="en-US" altLang="zh-CN" sz="2800" b="1" smtClean="0">
                <a:solidFill>
                  <a:schemeClr val="tx1"/>
                </a:solidFill>
                <a:latin typeface="+mj-lt"/>
                <a:ea typeface="宋体" panose="02010600030101010101" pitchFamily="2" charset="-122"/>
                <a:cs typeface="Times New Roman" panose="02020603050405020304" pitchFamily="18" charset="0"/>
                <a:sym typeface="+mn-ea"/>
              </a:rPr>
              <a:t>t is used in many aspects of production and daily life, </a:t>
            </a:r>
            <a:r>
              <a:rPr lang="en-US" altLang="zh-CN" sz="2800" b="1" dirty="0" smtClean="0">
                <a:solidFill>
                  <a:schemeClr val="tx1"/>
                </a:solidFill>
                <a:highlight>
                  <a:srgbClr val="00FF00"/>
                </a:highlight>
                <a:latin typeface="+mj-lt"/>
                <a:ea typeface="宋体" panose="02010600030101010101" pitchFamily="2" charset="-122"/>
                <a:cs typeface="Times New Roman" panose="02020603050405020304" pitchFamily="18" charset="0"/>
              </a:rPr>
              <a:t>such as the making of chopsticks,tables and chairs, as well as the construction of bridges annd houses.</a:t>
            </a:r>
            <a:r>
              <a:rPr lang="en-US" altLang="zh-CN" sz="2800" b="1" dirty="0" smtClean="0">
                <a:solidFill>
                  <a:schemeClr val="tx1"/>
                </a:solidFill>
                <a:highlight>
                  <a:srgbClr val="00FF00"/>
                </a:highlight>
                <a:latin typeface="+mj-lt"/>
              </a:rPr>
              <a:t>  </a:t>
            </a:r>
            <a:endParaRPr lang="en-US" altLang="zh-CN" sz="2800" b="1" dirty="0" smtClean="0">
              <a:solidFill>
                <a:schemeClr val="tx1"/>
              </a:solidFill>
              <a:highlight>
                <a:srgbClr val="00FF00"/>
              </a:highlight>
              <a:latin typeface="+mj-lt"/>
            </a:endParaRPr>
          </a:p>
        </p:txBody>
      </p:sp>
      <p:pic>
        <p:nvPicPr>
          <p:cNvPr id="7" name="图片 6"/>
          <p:cNvPicPr/>
          <p:nvPr/>
        </p:nvPicPr>
        <p:blipFill>
          <a:blip r:embed="rId1"/>
          <a:stretch>
            <a:fillRect/>
          </a:stretch>
        </p:blipFill>
        <p:spPr>
          <a:xfrm>
            <a:off x="-96520" y="0"/>
            <a:ext cx="8522335" cy="1962785"/>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353060" y="2277110"/>
            <a:ext cx="11441430" cy="1383665"/>
          </a:xfrm>
          <a:prstGeom prst="rect">
            <a:avLst/>
          </a:prstGeom>
          <a:noFill/>
        </p:spPr>
        <p:txBody>
          <a:bodyPr wrap="square" rtlCol="0" anchor="t">
            <a:spAutoFit/>
          </a:bodyPr>
          <a:lstStyle/>
          <a:p>
            <a:pPr>
              <a:lnSpc>
                <a:spcPct val="150000"/>
              </a:lnSpc>
              <a:buNone/>
            </a:pPr>
            <a:r>
              <a:rPr sz="2800" b="1" dirty="0" smtClean="0">
                <a:latin typeface="+mj-ea"/>
                <a:ea typeface="+mj-ea"/>
                <a:cs typeface="Times New Roman" panose="02020603050405020304" pitchFamily="18" charset="0"/>
                <a:sym typeface="+mn-ea"/>
              </a:rPr>
              <a:t>中国人爱竹，自古以来就有无数文人以竹子为主题，创作了绚丽多彩的文学和绘画作品。</a:t>
            </a:r>
            <a:endParaRPr lang="zh-CN" altLang="en-US" sz="2800" b="1" dirty="0" smtClean="0">
              <a:latin typeface="+mj-ea"/>
              <a:ea typeface="+mj-ea"/>
              <a:cs typeface="Times New Roman" panose="02020603050405020304" pitchFamily="18" charset="0"/>
              <a:sym typeface="+mn-ea"/>
            </a:endParaRPr>
          </a:p>
        </p:txBody>
      </p:sp>
      <p:sp>
        <p:nvSpPr>
          <p:cNvPr id="3" name="内容占位符 2"/>
          <p:cNvSpPr>
            <a:spLocks noGrp="1"/>
          </p:cNvSpPr>
          <p:nvPr/>
        </p:nvSpPr>
        <p:spPr>
          <a:xfrm>
            <a:off x="479425" y="3789045"/>
            <a:ext cx="10981055" cy="2220595"/>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3200" b="1" dirty="0" smtClean="0">
                <a:solidFill>
                  <a:schemeClr val="tx1"/>
                </a:solidFill>
                <a:latin typeface="+mj-lt"/>
                <a:ea typeface="宋体" panose="02010600030101010101" pitchFamily="2" charset="-122"/>
                <a:cs typeface="Times New Roman" panose="02020603050405020304" pitchFamily="18" charset="0"/>
              </a:rPr>
              <a:t>Since ancient times, countless men of letters have created colorful literary and painting works </a:t>
            </a:r>
            <a:r>
              <a:rPr lang="en-US" altLang="zh-CN" sz="3200" b="1" dirty="0" smtClean="0">
                <a:solidFill>
                  <a:schemeClr val="tx1"/>
                </a:solidFill>
                <a:highlight>
                  <a:srgbClr val="00FF00"/>
                </a:highlight>
                <a:latin typeface="+mj-lt"/>
                <a:ea typeface="宋体" panose="02010600030101010101" pitchFamily="2" charset="-122"/>
                <a:cs typeface="Times New Roman" panose="02020603050405020304" pitchFamily="18" charset="0"/>
              </a:rPr>
              <a:t>with bambo as the theme.</a:t>
            </a:r>
            <a:r>
              <a:rPr lang="en-US" altLang="zh-CN" sz="3200" b="1" dirty="0" smtClean="0">
                <a:solidFill>
                  <a:schemeClr val="tx1"/>
                </a:solidFill>
                <a:latin typeface="+mj-lt"/>
              </a:rPr>
              <a:t>  </a:t>
            </a:r>
            <a:endParaRPr lang="en-US" altLang="zh-CN" sz="3200" b="1" dirty="0">
              <a:solidFill>
                <a:schemeClr val="tx1"/>
              </a:solidFill>
              <a:latin typeface="+mj-lt"/>
            </a:endParaRPr>
          </a:p>
        </p:txBody>
      </p:sp>
      <p:pic>
        <p:nvPicPr>
          <p:cNvPr id="4" name="图片 3"/>
          <p:cNvPicPr/>
          <p:nvPr/>
        </p:nvPicPr>
        <p:blipFill>
          <a:blip r:embed="rId1"/>
          <a:stretch>
            <a:fillRect/>
          </a:stretch>
        </p:blipFill>
        <p:spPr>
          <a:xfrm>
            <a:off x="635" y="0"/>
            <a:ext cx="4763135" cy="2145030"/>
          </a:xfrm>
          <a:prstGeom prst="rect">
            <a:avLst/>
          </a:prstGeom>
        </p:spPr>
      </p:pic>
      <p:pic>
        <p:nvPicPr>
          <p:cNvPr id="5" name="图片 4"/>
          <p:cNvPicPr/>
          <p:nvPr/>
        </p:nvPicPr>
        <p:blipFill>
          <a:blip r:embed="rId2"/>
          <a:stretch>
            <a:fillRect/>
          </a:stretch>
        </p:blipFill>
        <p:spPr>
          <a:xfrm>
            <a:off x="4925060" y="0"/>
            <a:ext cx="5166995" cy="2145030"/>
          </a:xfrm>
          <a:prstGeom prst="rect">
            <a:avLst/>
          </a:prstGeom>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522605" y="3141345"/>
            <a:ext cx="8872220" cy="583565"/>
          </a:xfrm>
          <a:prstGeom prst="rect">
            <a:avLst/>
          </a:prstGeom>
          <a:noFill/>
        </p:spPr>
        <p:txBody>
          <a:bodyPr wrap="square" rtlCol="0" anchor="t">
            <a:spAutoFit/>
          </a:bodyPr>
          <a:lstStyle/>
          <a:p>
            <a:pPr>
              <a:buNone/>
            </a:pPr>
            <a:r>
              <a:rPr sz="3200" b="1" dirty="0" smtClean="0">
                <a:latin typeface="+mj-ea"/>
                <a:ea typeface="+mj-ea"/>
                <a:cs typeface="Times New Roman" panose="02020603050405020304" pitchFamily="18" charset="0"/>
                <a:sym typeface="+mn-ea"/>
              </a:rPr>
              <a:t>竹子主干笔直，象征正值的品格。</a:t>
            </a:r>
            <a:endParaRPr lang="zh-CN" altLang="en-US" sz="3200" b="1" dirty="0">
              <a:latin typeface="华文琥珀" panose="02010800040101010101" charset="-122"/>
              <a:ea typeface="华文琥珀" panose="02010800040101010101" charset="-122"/>
              <a:sym typeface="+mn-ea"/>
            </a:endParaRPr>
          </a:p>
        </p:txBody>
      </p:sp>
      <p:sp>
        <p:nvSpPr>
          <p:cNvPr id="6" name="内容占位符 2"/>
          <p:cNvSpPr>
            <a:spLocks noGrp="1"/>
          </p:cNvSpPr>
          <p:nvPr/>
        </p:nvSpPr>
        <p:spPr>
          <a:xfrm>
            <a:off x="551180" y="4005580"/>
            <a:ext cx="10191750" cy="1670050"/>
          </a:xfrm>
          <a:prstGeom prst="rect">
            <a:avLst/>
          </a:prstGeom>
        </p:spPr>
        <p:txBody>
          <a:bodyPr vert="horz" lIns="101600" tIns="0" rIns="82550" bIns="0" rtlCol="0">
            <a:normAutofit lnSpcReduction="1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3200" b="1" dirty="0" smtClean="0">
                <a:solidFill>
                  <a:schemeClr val="tx1"/>
                </a:solidFill>
                <a:latin typeface="+mj-lt"/>
                <a:ea typeface="宋体" panose="02010600030101010101" pitchFamily="2" charset="-122"/>
                <a:cs typeface="Times New Roman" panose="02020603050405020304" pitchFamily="18" charset="0"/>
              </a:rPr>
              <a:t>Bamboo, </a:t>
            </a:r>
            <a:r>
              <a:rPr lang="en-US" altLang="zh-CN" sz="3200" b="1" dirty="0" smtClean="0">
                <a:solidFill>
                  <a:schemeClr val="tx1"/>
                </a:solidFill>
                <a:highlight>
                  <a:srgbClr val="00FFFF"/>
                </a:highlight>
                <a:latin typeface="+mj-lt"/>
                <a:ea typeface="宋体" panose="02010600030101010101" pitchFamily="2" charset="-122"/>
                <a:cs typeface="Times New Roman" panose="02020603050405020304" pitchFamily="18" charset="0"/>
              </a:rPr>
              <a:t>with its straight stem</a:t>
            </a:r>
            <a:r>
              <a:rPr lang="en-US" altLang="zh-CN" sz="3200" b="1" dirty="0" smtClean="0">
                <a:solidFill>
                  <a:schemeClr val="tx1"/>
                </a:solidFill>
                <a:latin typeface="+mj-lt"/>
                <a:ea typeface="宋体" panose="02010600030101010101" pitchFamily="2" charset="-122"/>
                <a:cs typeface="Times New Roman" panose="02020603050405020304" pitchFamily="18" charset="0"/>
              </a:rPr>
              <a:t>,  </a:t>
            </a:r>
            <a:r>
              <a:rPr lang="en-US" altLang="zh-CN" sz="3200" b="1" dirty="0" smtClean="0">
                <a:solidFill>
                  <a:schemeClr val="tx1"/>
                </a:solidFill>
                <a:latin typeface="+mj-lt"/>
                <a:ea typeface="宋体" panose="02010600030101010101" pitchFamily="2" charset="-122"/>
                <a:cs typeface="Times New Roman" panose="02020603050405020304" pitchFamily="18" charset="0"/>
              </a:rPr>
              <a:t>is a symbol of integrity.</a:t>
            </a:r>
            <a:endParaRPr lang="en-US" altLang="zh-CN" sz="3200" b="1" dirty="0" smtClean="0">
              <a:solidFill>
                <a:schemeClr val="tx1"/>
              </a:solidFill>
              <a:latin typeface="+mj-lt"/>
              <a:ea typeface="宋体" panose="02010600030101010101" pitchFamily="2" charset="-122"/>
              <a:cs typeface="Times New Roman" panose="02020603050405020304" pitchFamily="18" charset="0"/>
            </a:endParaRPr>
          </a:p>
        </p:txBody>
      </p:sp>
      <p:pic>
        <p:nvPicPr>
          <p:cNvPr id="9" name="图片 8"/>
          <p:cNvPicPr/>
          <p:nvPr/>
        </p:nvPicPr>
        <p:blipFill>
          <a:blip r:embed="rId1"/>
          <a:stretch>
            <a:fillRect/>
          </a:stretch>
        </p:blipFill>
        <p:spPr>
          <a:xfrm>
            <a:off x="0" y="0"/>
            <a:ext cx="5278755" cy="2513330"/>
          </a:xfrm>
          <a:prstGeom prst="rect">
            <a:avLst/>
          </a:prstGeom>
        </p:spPr>
      </p:pic>
      <p:pic>
        <p:nvPicPr>
          <p:cNvPr id="10" name="图片 9"/>
          <p:cNvPicPr/>
          <p:nvPr/>
        </p:nvPicPr>
        <p:blipFill>
          <a:blip r:embed="rId2"/>
          <a:stretch>
            <a:fillRect/>
          </a:stretch>
        </p:blipFill>
        <p:spPr>
          <a:xfrm>
            <a:off x="4182110" y="0"/>
            <a:ext cx="4234815" cy="2513965"/>
          </a:xfrm>
          <a:prstGeom prst="rect">
            <a:avLst/>
          </a:prstGeom>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335280" y="2493010"/>
            <a:ext cx="11441430" cy="1383665"/>
          </a:xfrm>
          <a:prstGeom prst="rect">
            <a:avLst/>
          </a:prstGeom>
          <a:noFill/>
        </p:spPr>
        <p:txBody>
          <a:bodyPr wrap="square" rtlCol="0" anchor="t">
            <a:spAutoFit/>
          </a:bodyPr>
          <a:lstStyle/>
          <a:p>
            <a:pPr>
              <a:lnSpc>
                <a:spcPct val="150000"/>
              </a:lnSpc>
              <a:buNone/>
            </a:pPr>
            <a:r>
              <a:rPr sz="2800" b="1" dirty="0" smtClean="0">
                <a:latin typeface="+mj-ea"/>
                <a:ea typeface="+mj-ea"/>
                <a:cs typeface="Times New Roman" panose="02020603050405020304" pitchFamily="18" charset="0"/>
                <a:sym typeface="+mn-ea"/>
              </a:rPr>
              <a:t>竹子具有强大的生命力和适应能力，无论环境多么恶劣，都能够顽强生存，因而寓意坚韧不拔的精神。</a:t>
            </a:r>
            <a:endParaRPr lang="zh-CN" altLang="en-US" sz="2800" b="1" dirty="0" smtClean="0">
              <a:latin typeface="+mj-ea"/>
              <a:ea typeface="+mj-ea"/>
              <a:cs typeface="Times New Roman" panose="02020603050405020304" pitchFamily="18" charset="0"/>
              <a:sym typeface="+mn-ea"/>
            </a:endParaRPr>
          </a:p>
        </p:txBody>
      </p:sp>
      <p:sp>
        <p:nvSpPr>
          <p:cNvPr id="2" name="内容占位符 2"/>
          <p:cNvSpPr>
            <a:spLocks noGrp="1"/>
          </p:cNvSpPr>
          <p:nvPr/>
        </p:nvSpPr>
        <p:spPr>
          <a:xfrm>
            <a:off x="263525" y="4869180"/>
            <a:ext cx="10981055" cy="1209675"/>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dirty="0" smtClean="0">
                <a:solidFill>
                  <a:schemeClr val="tx1"/>
                </a:solidFill>
                <a:latin typeface="+mj-lt"/>
                <a:ea typeface="宋体" panose="02010600030101010101" pitchFamily="2" charset="-122"/>
                <a:cs typeface="Times New Roman" panose="02020603050405020304" pitchFamily="18" charset="0"/>
              </a:rPr>
              <a:t>No matter how harsh the environment is, it can thrive,</a:t>
            </a:r>
            <a:r>
              <a:rPr lang="en-US" altLang="zh-CN" sz="3200" b="1" dirty="0" smtClean="0">
                <a:solidFill>
                  <a:schemeClr val="tx1"/>
                </a:solidFill>
                <a:latin typeface="+mj-lt"/>
              </a:rPr>
              <a:t>  </a:t>
            </a:r>
            <a:endParaRPr lang="en-US" altLang="zh-CN" sz="3200" b="1" dirty="0" smtClean="0">
              <a:solidFill>
                <a:schemeClr val="tx1"/>
              </a:solidFill>
              <a:latin typeface="+mj-lt"/>
            </a:endParaRPr>
          </a:p>
        </p:txBody>
      </p:sp>
      <p:sp>
        <p:nvSpPr>
          <p:cNvPr id="3" name="内容占位符 2"/>
          <p:cNvSpPr>
            <a:spLocks noGrp="1"/>
          </p:cNvSpPr>
          <p:nvPr/>
        </p:nvSpPr>
        <p:spPr>
          <a:xfrm>
            <a:off x="1847215" y="5575300"/>
            <a:ext cx="9239885" cy="851535"/>
          </a:xfrm>
          <a:prstGeom prst="rect">
            <a:avLst/>
          </a:prstGeom>
        </p:spPr>
        <p:txBody>
          <a:bodyPr vert="horz" lIns="101600" tIns="0" rIns="82550" bIns="0" rtlCol="0">
            <a:normAutofit fontScale="9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dirty="0" smtClean="0">
                <a:solidFill>
                  <a:schemeClr val="tx1"/>
                </a:solidFill>
                <a:highlight>
                  <a:srgbClr val="00FF00"/>
                </a:highlight>
                <a:latin typeface="+mj-lt"/>
                <a:ea typeface="宋体" panose="02010600030101010101" pitchFamily="2" charset="-122"/>
                <a:cs typeface="Times New Roman" panose="02020603050405020304" pitchFamily="18" charset="0"/>
              </a:rPr>
              <a:t>thereby signifying the spirit of perseverance.</a:t>
            </a:r>
            <a:r>
              <a:rPr lang="en-US" altLang="zh-CN" sz="2800" b="1" dirty="0" smtClean="0">
                <a:solidFill>
                  <a:schemeClr val="tx1"/>
                </a:solidFill>
                <a:latin typeface="+mj-lt"/>
                <a:ea typeface="宋体" panose="02010600030101010101" pitchFamily="2" charset="-122"/>
                <a:cs typeface="Times New Roman" panose="02020603050405020304" pitchFamily="18" charset="0"/>
              </a:rPr>
              <a:t>  </a:t>
            </a:r>
            <a:r>
              <a:rPr lang="en-US" altLang="zh-CN" sz="2800" b="1" dirty="0" smtClean="0">
                <a:solidFill>
                  <a:schemeClr val="tx1"/>
                </a:solidFill>
                <a:latin typeface="+mj-lt"/>
              </a:rPr>
              <a:t>  </a:t>
            </a:r>
            <a:endParaRPr lang="en-US" altLang="zh-CN" sz="2800" b="1" dirty="0">
              <a:solidFill>
                <a:schemeClr val="tx1"/>
              </a:solidFill>
              <a:latin typeface="+mj-lt"/>
            </a:endParaRPr>
          </a:p>
        </p:txBody>
      </p:sp>
      <p:pic>
        <p:nvPicPr>
          <p:cNvPr id="5" name="图片 4"/>
          <p:cNvPicPr/>
          <p:nvPr/>
        </p:nvPicPr>
        <p:blipFill>
          <a:blip r:embed="rId1"/>
          <a:stretch>
            <a:fillRect/>
          </a:stretch>
        </p:blipFill>
        <p:spPr>
          <a:xfrm>
            <a:off x="0" y="0"/>
            <a:ext cx="7943215" cy="2399030"/>
          </a:xfrm>
          <a:prstGeom prst="rect">
            <a:avLst/>
          </a:prstGeom>
        </p:spPr>
      </p:pic>
      <p:sp>
        <p:nvSpPr>
          <p:cNvPr id="4" name="内容占位符 2"/>
          <p:cNvSpPr>
            <a:spLocks noGrp="1"/>
          </p:cNvSpPr>
          <p:nvPr/>
        </p:nvSpPr>
        <p:spPr>
          <a:xfrm>
            <a:off x="263525" y="3941445"/>
            <a:ext cx="11228705" cy="862330"/>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3200" b="1" dirty="0" smtClean="0">
                <a:solidFill>
                  <a:schemeClr val="tx1"/>
                </a:solidFill>
                <a:latin typeface="+mn-lt"/>
                <a:ea typeface="宋体" panose="02010600030101010101" pitchFamily="2" charset="-122"/>
                <a:cs typeface="Times New Roman" panose="02020603050405020304" pitchFamily="18" charset="0"/>
              </a:rPr>
              <a:t>Bamboo has powerful vitality and adaptability.</a:t>
            </a:r>
            <a:r>
              <a:rPr lang="en-US" altLang="zh-CN" sz="2800" b="1" dirty="0" smtClean="0">
                <a:solidFill>
                  <a:schemeClr val="tx1"/>
                </a:solidFill>
                <a:latin typeface="+mn-lt"/>
              </a:rPr>
              <a:t>   </a:t>
            </a:r>
            <a:endParaRPr lang="en-US" altLang="zh-CN" sz="2800" b="1" dirty="0">
              <a:solidFill>
                <a:schemeClr val="tx1"/>
              </a:solidFill>
              <a:latin typeface="+mn-lt"/>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522605" y="3068955"/>
            <a:ext cx="11189335" cy="583565"/>
          </a:xfrm>
          <a:prstGeom prst="rect">
            <a:avLst/>
          </a:prstGeom>
          <a:noFill/>
        </p:spPr>
        <p:txBody>
          <a:bodyPr wrap="square" rtlCol="0" anchor="t">
            <a:spAutoFit/>
          </a:bodyPr>
          <a:lstStyle/>
          <a:p>
            <a:r>
              <a:rPr sz="3200" b="1" dirty="0" smtClean="0">
                <a:latin typeface="+mj-ea"/>
                <a:ea typeface="+mj-ea"/>
                <a:cs typeface="Times New Roman" panose="02020603050405020304" pitchFamily="18" charset="0"/>
                <a:sym typeface="+mn-ea"/>
              </a:rPr>
              <a:t>几千年来，竹子一直被视为中华民族的象征</a:t>
            </a:r>
            <a:r>
              <a:rPr lang="zh-CN" sz="3200" b="1" dirty="0" smtClean="0">
                <a:latin typeface="+mj-ea"/>
                <a:ea typeface="+mj-ea"/>
                <a:cs typeface="Times New Roman" panose="02020603050405020304" pitchFamily="18" charset="0"/>
                <a:sym typeface="+mn-ea"/>
              </a:rPr>
              <a:t>。</a:t>
            </a:r>
            <a:endParaRPr lang="zh-CN" sz="3200" b="1" dirty="0" smtClean="0">
              <a:latin typeface="+mj-ea"/>
              <a:ea typeface="+mj-ea"/>
              <a:cs typeface="Times New Roman" panose="02020603050405020304" pitchFamily="18" charset="0"/>
              <a:sym typeface="+mn-ea"/>
            </a:endParaRPr>
          </a:p>
        </p:txBody>
      </p:sp>
      <p:sp>
        <p:nvSpPr>
          <p:cNvPr id="30" name="内容占位符 2"/>
          <p:cNvSpPr>
            <a:spLocks noGrp="1"/>
          </p:cNvSpPr>
          <p:nvPr/>
        </p:nvSpPr>
        <p:spPr>
          <a:xfrm>
            <a:off x="490220" y="3887470"/>
            <a:ext cx="11228705" cy="1819275"/>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3200" b="1" dirty="0" smtClean="0">
                <a:solidFill>
                  <a:schemeClr val="tx1"/>
                </a:solidFill>
                <a:latin typeface="+mn-lt"/>
                <a:ea typeface="宋体" panose="02010600030101010101" pitchFamily="2" charset="-122"/>
                <a:cs typeface="Times New Roman" panose="02020603050405020304" pitchFamily="18" charset="0"/>
              </a:rPr>
              <a:t>For thousands of years, bamboo has been viewed as a symbol of the Chinese nation.</a:t>
            </a:r>
            <a:r>
              <a:rPr lang="en-US" altLang="zh-CN" sz="3200" b="1" dirty="0" smtClean="0">
                <a:solidFill>
                  <a:schemeClr val="tx1"/>
                </a:solidFill>
                <a:latin typeface="+mn-lt"/>
              </a:rPr>
              <a:t>  </a:t>
            </a:r>
            <a:endParaRPr lang="en-US" altLang="zh-CN" sz="3200" b="1" dirty="0">
              <a:solidFill>
                <a:schemeClr val="tx1"/>
              </a:solidFill>
              <a:latin typeface="+mn-lt"/>
            </a:endParaRPr>
          </a:p>
        </p:txBody>
      </p:sp>
      <p:pic>
        <p:nvPicPr>
          <p:cNvPr id="3" name="图片 2"/>
          <p:cNvPicPr/>
          <p:nvPr/>
        </p:nvPicPr>
        <p:blipFill>
          <a:blip r:embed="rId1"/>
          <a:stretch>
            <a:fillRect/>
          </a:stretch>
        </p:blipFill>
        <p:spPr>
          <a:xfrm>
            <a:off x="192405" y="0"/>
            <a:ext cx="5733415" cy="2386965"/>
          </a:xfrm>
          <a:prstGeom prst="rect">
            <a:avLst/>
          </a:prstGeom>
        </p:spPr>
      </p:pic>
      <p:pic>
        <p:nvPicPr>
          <p:cNvPr id="4" name="图片 3"/>
          <p:cNvPicPr/>
          <p:nvPr/>
        </p:nvPicPr>
        <p:blipFill>
          <a:blip r:embed="rId2"/>
          <a:stretch>
            <a:fillRect/>
          </a:stretch>
        </p:blipFill>
        <p:spPr>
          <a:xfrm>
            <a:off x="4813300" y="-635"/>
            <a:ext cx="4705985" cy="2387600"/>
          </a:xfrm>
          <a:prstGeom prst="rect">
            <a:avLst/>
          </a:prstGeom>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47800" y="228600"/>
            <a:ext cx="8991600" cy="5992758"/>
          </a:xfrm>
          <a:prstGeom prst="rect">
            <a:avLst/>
          </a:prstGeom>
        </p:spPr>
      </p:pic>
      <p:sp>
        <p:nvSpPr>
          <p:cNvPr id="8" name="TextBox 7"/>
          <p:cNvSpPr txBox="1"/>
          <p:nvPr/>
        </p:nvSpPr>
        <p:spPr>
          <a:xfrm>
            <a:off x="3124200" y="3886386"/>
            <a:ext cx="2263604" cy="632460"/>
          </a:xfrm>
          <a:prstGeom prst="rect">
            <a:avLst/>
          </a:prstGeom>
          <a:noFill/>
        </p:spPr>
        <p:txBody>
          <a:bodyPr wrap="square" rtlCol="0">
            <a:spAutoFit/>
            <a:scene3d>
              <a:camera prst="orthographicFront"/>
              <a:lightRig rig="threePt" dir="t"/>
            </a:scene3d>
            <a:sp3d extrusionH="57150">
              <a:bevelT h="25400" prst="softRound"/>
            </a:sp3d>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80000"/>
              </a:lnSpc>
              <a:defRPr/>
            </a:pPr>
            <a:r>
              <a:rPr lang="en-US" altLang="zh-CN" sz="4400" kern="0" dirty="0" smtClean="0">
                <a:solidFill>
                  <a:srgbClr val="FF0000"/>
                </a:solidFill>
              </a:rPr>
              <a:t>3</a:t>
            </a:r>
            <a:endParaRPr lang="en-US" altLang="zh-CN" sz="6000" kern="0" dirty="0" smtClean="0">
              <a:solidFill>
                <a:srgbClr val="FF0000"/>
              </a:solidFill>
            </a:endParaRPr>
          </a:p>
        </p:txBody>
      </p:sp>
      <p:sp>
        <p:nvSpPr>
          <p:cNvPr id="10" name="TextBox 9"/>
          <p:cNvSpPr txBox="1"/>
          <p:nvPr/>
        </p:nvSpPr>
        <p:spPr>
          <a:xfrm>
            <a:off x="4876800" y="2706370"/>
            <a:ext cx="4288790" cy="1445260"/>
          </a:xfrm>
          <a:prstGeom prst="rect">
            <a:avLst/>
          </a:prstGeom>
          <a:noFill/>
        </p:spPr>
        <p:txBody>
          <a:bodyPr wrap="square" rtlCol="0">
            <a:spAutoFit/>
          </a:bodyPr>
          <a:lstStyle/>
          <a:p>
            <a:pPr algn="ctr">
              <a:defRPr/>
            </a:pPr>
            <a:r>
              <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翻译</a:t>
            </a:r>
            <a:endParaRPr lang="zh-CN" altLang="en-US" sz="4400" b="1" kern="0" dirty="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a:p>
            <a:pPr algn="ctr">
              <a:defRPr/>
            </a:pPr>
            <a:r>
              <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rPr>
              <a:t> </a:t>
            </a:r>
            <a:endParaRPr lang="en-US" altLang="zh-CN" sz="4400" b="1" kern="0" dirty="0" smtClean="0">
              <a:solidFill>
                <a:srgbClr val="9BBB59">
                  <a:lumMod val="50000"/>
                </a:srgbClr>
              </a:solidFill>
              <a:latin typeface="Agency FB" panose="020B0503020202020204" pitchFamily="34" charset="0"/>
              <a:ea typeface="微软雅黑" panose="020B0503020204020204" pitchFamily="34"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4461"/>
    </mc:Choice>
    <mc:Fallback>
      <p:transition spd="slow" advTm="14461"/>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 name="标题 3"/>
          <p:cNvSpPr>
            <a:spLocks noGrp="1"/>
          </p:cNvSpPr>
          <p:nvPr>
            <p:ph type="title"/>
          </p:nvPr>
        </p:nvSpPr>
        <p:spPr/>
        <p:txBody>
          <a:bodyPr/>
          <a:p>
            <a:endParaRPr lang="zh-CN" altLang="en-US"/>
          </a:p>
        </p:txBody>
      </p:sp>
      <p:sp>
        <p:nvSpPr>
          <p:cNvPr id="5" name="内容占位符 4"/>
          <p:cNvSpPr>
            <a:spLocks noGrp="1"/>
          </p:cNvSpPr>
          <p:nvPr>
            <p:ph idx="1"/>
          </p:nvPr>
        </p:nvSpPr>
        <p:spPr>
          <a:xfrm>
            <a:off x="350520" y="2566670"/>
            <a:ext cx="11490325" cy="3684905"/>
          </a:xfrm>
        </p:spPr>
        <p:txBody>
          <a:bodyPr>
            <a:normAutofit lnSpcReduction="20000"/>
          </a:bodyPr>
          <a:p>
            <a:pPr marL="0" indent="0">
              <a:lnSpc>
                <a:spcPct val="130000"/>
              </a:lnSpc>
              <a:buNone/>
            </a:pPr>
            <a:r>
              <a:rPr lang="zh-CN" altLang="en-US" sz="2800" b="1"/>
              <a:t>近年来，随着互联网技术的迅猛发展，互联网经济已成为一个热门话题。以蓬勃发展的电子商务为代表的互联网经济已成为经济发展的重要引擎。我国政府高度重视发展互联网经济，提出了</a:t>
            </a:r>
            <a:r>
              <a:rPr lang="en-US" altLang="zh-CN" sz="2800" b="1"/>
              <a:t>“</a:t>
            </a:r>
            <a:r>
              <a:rPr sz="2800" b="1"/>
              <a:t>互联网</a:t>
            </a:r>
            <a:r>
              <a:rPr lang="en-US" altLang="zh-CN" sz="2800" b="1"/>
              <a:t>+”</a:t>
            </a:r>
            <a:r>
              <a:rPr sz="2800" b="1"/>
              <a:t>的概念，以推动互联网与医疗、交通、教育、金融、公共服务等领域的结合。这将为互联网经济的发展提供极大的发展潜力和更广阔的发展空间。随着</a:t>
            </a:r>
            <a:r>
              <a:rPr lang="en-US" altLang="zh-CN" sz="2800" b="1">
                <a:sym typeface="+mn-ea"/>
              </a:rPr>
              <a:t>“</a:t>
            </a:r>
            <a:r>
              <a:rPr sz="2800" b="1">
                <a:sym typeface="+mn-ea"/>
              </a:rPr>
              <a:t>互联网</a:t>
            </a:r>
            <a:r>
              <a:rPr lang="en-US" altLang="zh-CN" sz="2800" b="1">
                <a:sym typeface="+mn-ea"/>
              </a:rPr>
              <a:t>+”</a:t>
            </a:r>
            <a:r>
              <a:rPr sz="2800" b="1">
                <a:sym typeface="+mn-ea"/>
              </a:rPr>
              <a:t>战略的深入实施，互联网必将与更多传统行业进一步融合，助力打造</a:t>
            </a:r>
            <a:r>
              <a:rPr lang="en-US" altLang="zh-CN" sz="2800" b="1">
                <a:sym typeface="+mn-ea"/>
              </a:rPr>
              <a:t>“</a:t>
            </a:r>
            <a:r>
              <a:rPr sz="2800" b="1">
                <a:sym typeface="+mn-ea"/>
              </a:rPr>
              <a:t>中国经济升级版</a:t>
            </a:r>
            <a:r>
              <a:rPr lang="en-US" altLang="zh-CN" sz="2800" b="1">
                <a:sym typeface="+mn-ea"/>
              </a:rPr>
              <a:t>”</a:t>
            </a:r>
            <a:r>
              <a:rPr sz="2800" b="1">
                <a:sym typeface="+mn-ea"/>
              </a:rPr>
              <a:t>。</a:t>
            </a:r>
            <a:endParaRPr sz="2800" b="1">
              <a:sym typeface="+mn-ea"/>
            </a:endParaRPr>
          </a:p>
        </p:txBody>
      </p:sp>
      <p:pic>
        <p:nvPicPr>
          <p:cNvPr id="100" name="图片 99"/>
          <p:cNvPicPr/>
          <p:nvPr>
            <p:custDataLst>
              <p:tags r:id="rId1"/>
            </p:custDataLst>
          </p:nvPr>
        </p:nvPicPr>
        <p:blipFill>
          <a:blip r:embed="rId2"/>
          <a:stretch>
            <a:fillRect/>
          </a:stretch>
        </p:blipFill>
        <p:spPr>
          <a:xfrm>
            <a:off x="4987925" y="0"/>
            <a:ext cx="4752975" cy="2070735"/>
          </a:xfrm>
          <a:prstGeom prst="rect">
            <a:avLst/>
          </a:prstGeom>
          <a:noFill/>
          <a:ln w="9525">
            <a:noFill/>
          </a:ln>
        </p:spPr>
      </p:pic>
      <p:pic>
        <p:nvPicPr>
          <p:cNvPr id="101" name="图片 100"/>
          <p:cNvPicPr/>
          <p:nvPr/>
        </p:nvPicPr>
        <p:blipFill>
          <a:blip r:embed="rId3"/>
          <a:stretch>
            <a:fillRect/>
          </a:stretch>
        </p:blipFill>
        <p:spPr>
          <a:xfrm>
            <a:off x="0" y="0"/>
            <a:ext cx="4987925" cy="2070735"/>
          </a:xfrm>
          <a:prstGeom prst="rect">
            <a:avLst/>
          </a:prstGeom>
          <a:noFill/>
          <a:ln w="9525">
            <a:noFill/>
          </a:ln>
        </p:spPr>
      </p:pic>
    </p:spTree>
    <p:custDataLst>
      <p:tags r:id="rId4"/>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 name="文本框 7"/>
          <p:cNvSpPr txBox="1"/>
          <p:nvPr/>
        </p:nvSpPr>
        <p:spPr>
          <a:xfrm>
            <a:off x="177800" y="2917825"/>
            <a:ext cx="11441430" cy="521970"/>
          </a:xfrm>
          <a:prstGeom prst="rect">
            <a:avLst/>
          </a:prstGeom>
          <a:noFill/>
        </p:spPr>
        <p:txBody>
          <a:bodyPr wrap="square" rtlCol="0" anchor="t">
            <a:spAutoFit/>
          </a:bodyPr>
          <a:p>
            <a:r>
              <a:rPr lang="zh-CN" altLang="en-US" sz="2800" b="1">
                <a:sym typeface="+mn-ea"/>
              </a:rPr>
              <a:t>近年来，随着互联网技术的迅猛发展，互联网经济已成为一个热门话题。</a:t>
            </a:r>
            <a:endParaRPr lang="zh-CN" altLang="en-US" sz="2800" b="1">
              <a:latin typeface="华文琥珀" panose="02010800040101010101" charset="-122"/>
              <a:ea typeface="华文琥珀" panose="02010800040101010101" charset="-122"/>
              <a:sym typeface="+mn-ea"/>
            </a:endParaRPr>
          </a:p>
        </p:txBody>
      </p:sp>
      <p:sp>
        <p:nvSpPr>
          <p:cNvPr id="30" name="内容占位符 2"/>
          <p:cNvSpPr>
            <a:spLocks noGrp="1"/>
          </p:cNvSpPr>
          <p:nvPr/>
        </p:nvSpPr>
        <p:spPr>
          <a:xfrm>
            <a:off x="284480" y="3735070"/>
            <a:ext cx="11228705" cy="1324610"/>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800" b="1">
                <a:sym typeface="+mn-ea"/>
              </a:rPr>
              <a:t>In recent years, </a:t>
            </a:r>
            <a:r>
              <a:rPr lang="en-US" altLang="zh-CN" sz="2800" b="1">
                <a:highlight>
                  <a:srgbClr val="FFFF00"/>
                </a:highlight>
                <a:sym typeface="+mn-ea"/>
              </a:rPr>
              <a:t>with the rapid development of Internet technology</a:t>
            </a:r>
            <a:r>
              <a:rPr lang="en-US" altLang="zh-CN" sz="2800" b="1">
                <a:sym typeface="+mn-ea"/>
              </a:rPr>
              <a:t>,  </a:t>
            </a:r>
            <a:r>
              <a:rPr lang="en-US" altLang="zh-CN" sz="2800" b="1">
                <a:solidFill>
                  <a:srgbClr val="7CDB05"/>
                </a:solidFill>
              </a:rPr>
              <a:t> </a:t>
            </a:r>
            <a:r>
              <a:rPr lang="en-US" altLang="zh-CN" sz="2800" b="1">
                <a:solidFill>
                  <a:srgbClr val="7CDB05"/>
                </a:solidFill>
              </a:rPr>
              <a:t>  </a:t>
            </a:r>
            <a:endParaRPr lang="en-US" altLang="zh-CN" sz="2800" b="1">
              <a:solidFill>
                <a:srgbClr val="7CDB05"/>
              </a:solidFill>
            </a:endParaRPr>
          </a:p>
        </p:txBody>
      </p:sp>
      <p:pic>
        <p:nvPicPr>
          <p:cNvPr id="102" name="图片 101"/>
          <p:cNvPicPr/>
          <p:nvPr/>
        </p:nvPicPr>
        <p:blipFill>
          <a:blip r:embed="rId1"/>
          <a:stretch>
            <a:fillRect/>
          </a:stretch>
        </p:blipFill>
        <p:spPr>
          <a:xfrm>
            <a:off x="63500" y="-7620"/>
            <a:ext cx="4762500" cy="2207260"/>
          </a:xfrm>
          <a:prstGeom prst="rect">
            <a:avLst/>
          </a:prstGeom>
          <a:noFill/>
          <a:ln w="9525">
            <a:noFill/>
          </a:ln>
        </p:spPr>
      </p:pic>
      <p:pic>
        <p:nvPicPr>
          <p:cNvPr id="103" name="图片 102"/>
          <p:cNvPicPr/>
          <p:nvPr/>
        </p:nvPicPr>
        <p:blipFill>
          <a:blip r:embed="rId2"/>
          <a:stretch>
            <a:fillRect/>
          </a:stretch>
        </p:blipFill>
        <p:spPr>
          <a:xfrm>
            <a:off x="4826000" y="-7620"/>
            <a:ext cx="4762500" cy="2207260"/>
          </a:xfrm>
          <a:prstGeom prst="rect">
            <a:avLst/>
          </a:prstGeom>
          <a:noFill/>
          <a:ln w="9525">
            <a:noFill/>
          </a:ln>
        </p:spPr>
      </p:pic>
      <p:sp>
        <p:nvSpPr>
          <p:cNvPr id="2" name="内容占位符 2"/>
          <p:cNvSpPr>
            <a:spLocks noGrp="1"/>
          </p:cNvSpPr>
          <p:nvPr/>
        </p:nvSpPr>
        <p:spPr>
          <a:xfrm>
            <a:off x="2103120" y="5059680"/>
            <a:ext cx="9334500" cy="715645"/>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b="1">
                <a:sym typeface="+mn-ea"/>
              </a:rPr>
              <a:t>  the Internet economy has become a hot issue.</a:t>
            </a:r>
            <a:r>
              <a:rPr lang="en-US" altLang="zh-CN" sz="2800" b="1">
                <a:solidFill>
                  <a:srgbClr val="7CDB05"/>
                </a:solidFill>
              </a:rPr>
              <a:t> </a:t>
            </a:r>
            <a:r>
              <a:rPr lang="en-US" altLang="zh-CN" sz="2800" b="1">
                <a:solidFill>
                  <a:srgbClr val="7CDB05"/>
                </a:solidFill>
              </a:rPr>
              <a:t>  </a:t>
            </a:r>
            <a:endParaRPr lang="en-US" altLang="zh-CN" sz="2800" b="1">
              <a:solidFill>
                <a:srgbClr val="7CDB05"/>
              </a:solidFill>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0" grpId="0"/>
      <p:bldP spid="2" grpId="0"/>
    </p:bldLst>
  </p:timing>
</p:sld>
</file>

<file path=ppt/slides/slide7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文本框 7"/>
          <p:cNvSpPr txBox="1"/>
          <p:nvPr/>
        </p:nvSpPr>
        <p:spPr>
          <a:xfrm>
            <a:off x="177800" y="2990850"/>
            <a:ext cx="11441430" cy="521970"/>
          </a:xfrm>
          <a:prstGeom prst="rect">
            <a:avLst/>
          </a:prstGeom>
          <a:noFill/>
        </p:spPr>
        <p:txBody>
          <a:bodyPr wrap="square" rtlCol="0" anchor="t">
            <a:spAutoFit/>
          </a:bodyPr>
          <a:p>
            <a:r>
              <a:rPr lang="zh-CN" altLang="en-US" sz="2800" b="1">
                <a:sym typeface="+mn-ea"/>
              </a:rPr>
              <a:t>以蓬勃发展的电子商务为代表的互联网经济已成为经济发展的重要引擎。</a:t>
            </a:r>
            <a:endParaRPr lang="zh-CN" altLang="en-US" sz="2800" b="1">
              <a:latin typeface="华文琥珀" panose="02010800040101010101" charset="-122"/>
              <a:ea typeface="华文琥珀" panose="02010800040101010101" charset="-122"/>
              <a:sym typeface="+mn-ea"/>
            </a:endParaRPr>
          </a:p>
        </p:txBody>
      </p:sp>
      <p:sp>
        <p:nvSpPr>
          <p:cNvPr id="30" name="内容占位符 2"/>
          <p:cNvSpPr>
            <a:spLocks noGrp="1"/>
          </p:cNvSpPr>
          <p:nvPr/>
        </p:nvSpPr>
        <p:spPr>
          <a:xfrm>
            <a:off x="390525" y="4420870"/>
            <a:ext cx="11228705" cy="1208405"/>
          </a:xfrm>
          <a:prstGeom prst="rect">
            <a:avLst/>
          </a:prstGeom>
        </p:spPr>
        <p:txBody>
          <a:bodyPr vert="horz" lIns="101600" tIns="0" rIns="82550" bIns="0" rtlCol="0">
            <a:normAutofit lnSpcReduction="1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800" b="1">
                <a:sym typeface="+mn-ea"/>
              </a:rPr>
              <a:t>the Internet economy has become a strong driving force  for the economic develpoment. </a:t>
            </a:r>
            <a:r>
              <a:rPr lang="en-US" altLang="zh-CN" sz="2800" b="1">
                <a:solidFill>
                  <a:srgbClr val="7CDB05"/>
                </a:solidFill>
              </a:rPr>
              <a:t> </a:t>
            </a:r>
            <a:endParaRPr lang="en-US" altLang="zh-CN" sz="2800" b="1">
              <a:solidFill>
                <a:srgbClr val="7CDB05"/>
              </a:solidFill>
            </a:endParaRPr>
          </a:p>
        </p:txBody>
      </p:sp>
      <p:pic>
        <p:nvPicPr>
          <p:cNvPr id="104" name="图片 103"/>
          <p:cNvPicPr/>
          <p:nvPr/>
        </p:nvPicPr>
        <p:blipFill>
          <a:blip r:embed="rId1"/>
          <a:stretch>
            <a:fillRect/>
          </a:stretch>
        </p:blipFill>
        <p:spPr>
          <a:xfrm>
            <a:off x="0" y="0"/>
            <a:ext cx="4711700" cy="2589530"/>
          </a:xfrm>
          <a:prstGeom prst="rect">
            <a:avLst/>
          </a:prstGeom>
          <a:noFill/>
          <a:ln w="9525">
            <a:noFill/>
          </a:ln>
        </p:spPr>
      </p:pic>
      <p:pic>
        <p:nvPicPr>
          <p:cNvPr id="105" name="图片 104"/>
          <p:cNvPicPr/>
          <p:nvPr/>
        </p:nvPicPr>
        <p:blipFill>
          <a:blip r:embed="rId2"/>
          <a:stretch>
            <a:fillRect/>
          </a:stretch>
        </p:blipFill>
        <p:spPr>
          <a:xfrm>
            <a:off x="4711700" y="10795"/>
            <a:ext cx="4511040" cy="2534285"/>
          </a:xfrm>
          <a:prstGeom prst="rect">
            <a:avLst/>
          </a:prstGeom>
          <a:noFill/>
          <a:ln w="9525">
            <a:noFill/>
          </a:ln>
        </p:spPr>
      </p:pic>
      <p:sp>
        <p:nvSpPr>
          <p:cNvPr id="2" name="内容占位符 2"/>
          <p:cNvSpPr>
            <a:spLocks noGrp="1"/>
          </p:cNvSpPr>
          <p:nvPr/>
        </p:nvSpPr>
        <p:spPr>
          <a:xfrm>
            <a:off x="495300" y="3789045"/>
            <a:ext cx="8727440" cy="706120"/>
          </a:xfrm>
          <a:prstGeom prst="rect">
            <a:avLst/>
          </a:prstGeo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b="1">
                <a:highlight>
                  <a:srgbClr val="FFFF00"/>
                </a:highlight>
                <a:sym typeface="+mn-ea"/>
              </a:rPr>
              <a:t>As represented by the thriving E-commerce</a:t>
            </a:r>
            <a:r>
              <a:rPr lang="en-US" altLang="zh-CN" sz="2800" b="1">
                <a:sym typeface="+mn-ea"/>
              </a:rPr>
              <a:t>,  </a:t>
            </a:r>
            <a:endParaRPr lang="en-US" altLang="zh-CN" sz="2800" b="1">
              <a:solidFill>
                <a:srgbClr val="7CDB05"/>
              </a:solidFill>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0" grpId="0"/>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文本框 7"/>
          <p:cNvSpPr txBox="1"/>
          <p:nvPr/>
        </p:nvSpPr>
        <p:spPr>
          <a:xfrm>
            <a:off x="177800" y="2632710"/>
            <a:ext cx="11441430" cy="953135"/>
          </a:xfrm>
          <a:prstGeom prst="rect">
            <a:avLst/>
          </a:prstGeom>
          <a:noFill/>
        </p:spPr>
        <p:txBody>
          <a:bodyPr wrap="square" rtlCol="0" anchor="t">
            <a:spAutoFit/>
          </a:bodyPr>
          <a:p>
            <a:r>
              <a:rPr lang="zh-CN" altLang="en-US" sz="2800" b="1">
                <a:sym typeface="+mn-ea"/>
              </a:rPr>
              <a:t>我国政府高度重视发展互联网经济，提出了</a:t>
            </a:r>
            <a:r>
              <a:rPr lang="en-US" altLang="zh-CN" sz="2800" b="1">
                <a:sym typeface="+mn-ea"/>
              </a:rPr>
              <a:t>“</a:t>
            </a:r>
            <a:r>
              <a:rPr sz="2800" b="1">
                <a:sym typeface="+mn-ea"/>
              </a:rPr>
              <a:t>互联网</a:t>
            </a:r>
            <a:r>
              <a:rPr lang="en-US" altLang="zh-CN" sz="2800" b="1">
                <a:sym typeface="+mn-ea"/>
              </a:rPr>
              <a:t>+”</a:t>
            </a:r>
            <a:r>
              <a:rPr sz="2800" b="1">
                <a:sym typeface="+mn-ea"/>
              </a:rPr>
              <a:t>的概念，以推动互联网与医疗、交通、教育、金融、公共服务等领域的结合。</a:t>
            </a:r>
            <a:endParaRPr lang="zh-CN" altLang="en-US" sz="2800" b="1">
              <a:latin typeface="华文琥珀" panose="02010800040101010101" charset="-122"/>
              <a:ea typeface="华文琥珀" panose="02010800040101010101" charset="-122"/>
              <a:sym typeface="+mn-ea"/>
            </a:endParaRPr>
          </a:p>
        </p:txBody>
      </p:sp>
      <p:sp>
        <p:nvSpPr>
          <p:cNvPr id="30" name="内容占位符 2"/>
          <p:cNvSpPr>
            <a:spLocks noGrp="1"/>
          </p:cNvSpPr>
          <p:nvPr/>
        </p:nvSpPr>
        <p:spPr>
          <a:xfrm>
            <a:off x="283845" y="3702685"/>
            <a:ext cx="11335385" cy="1475105"/>
          </a:xfrm>
          <a:prstGeom prst="rect">
            <a:avLst/>
          </a:prstGeom>
        </p:spPr>
        <p:txBody>
          <a:bodyPr vert="horz" lIns="101600" tIns="0" rIns="82550" bIns="0" rtlCol="0">
            <a:normAutofit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b="1">
                <a:sym typeface="+mn-ea"/>
              </a:rPr>
              <a:t>Our government </a:t>
            </a:r>
            <a:r>
              <a:rPr lang="en-US" altLang="zh-CN" sz="2800" b="1">
                <a:highlight>
                  <a:srgbClr val="00FFFF"/>
                </a:highlight>
                <a:sym typeface="+mn-ea"/>
              </a:rPr>
              <a:t>attaches great importance to</a:t>
            </a:r>
            <a:r>
              <a:rPr lang="en-US" altLang="zh-CN" sz="2800" b="1">
                <a:sym typeface="+mn-ea"/>
              </a:rPr>
              <a:t> developing the Internet economy and </a:t>
            </a:r>
            <a:r>
              <a:rPr lang="en-US" altLang="zh-CN" sz="2800" b="1">
                <a:highlight>
                  <a:srgbClr val="00FFFF"/>
                </a:highlight>
                <a:sym typeface="+mn-ea"/>
              </a:rPr>
              <a:t>proposes</a:t>
            </a:r>
            <a:r>
              <a:rPr lang="en-US" altLang="zh-CN" sz="2800" b="1">
                <a:sym typeface="+mn-ea"/>
              </a:rPr>
              <a:t> the concept of “Internet Plus”, </a:t>
            </a:r>
            <a:endParaRPr lang="en-US" altLang="zh-CN" sz="2800" b="1">
              <a:solidFill>
                <a:srgbClr val="7CDB05"/>
              </a:solidFill>
            </a:endParaRPr>
          </a:p>
        </p:txBody>
      </p:sp>
      <p:pic>
        <p:nvPicPr>
          <p:cNvPr id="106" name="图片 105"/>
          <p:cNvPicPr/>
          <p:nvPr/>
        </p:nvPicPr>
        <p:blipFill>
          <a:blip r:embed="rId1"/>
          <a:stretch>
            <a:fillRect/>
          </a:stretch>
        </p:blipFill>
        <p:spPr>
          <a:xfrm>
            <a:off x="5420360" y="635"/>
            <a:ext cx="5227320" cy="2283460"/>
          </a:xfrm>
          <a:prstGeom prst="rect">
            <a:avLst/>
          </a:prstGeom>
          <a:noFill/>
          <a:ln w="9525">
            <a:noFill/>
          </a:ln>
        </p:spPr>
      </p:pic>
      <p:pic>
        <p:nvPicPr>
          <p:cNvPr id="107" name="图片 106"/>
          <p:cNvPicPr/>
          <p:nvPr/>
        </p:nvPicPr>
        <p:blipFill>
          <a:blip r:embed="rId2"/>
          <a:stretch>
            <a:fillRect/>
          </a:stretch>
        </p:blipFill>
        <p:spPr>
          <a:xfrm>
            <a:off x="0" y="635"/>
            <a:ext cx="5420995" cy="2282825"/>
          </a:xfrm>
          <a:prstGeom prst="rect">
            <a:avLst/>
          </a:prstGeom>
          <a:noFill/>
          <a:ln w="9525">
            <a:noFill/>
          </a:ln>
        </p:spPr>
      </p:pic>
      <p:sp>
        <p:nvSpPr>
          <p:cNvPr id="3" name="文本框 2"/>
          <p:cNvSpPr txBox="1"/>
          <p:nvPr/>
        </p:nvSpPr>
        <p:spPr>
          <a:xfrm>
            <a:off x="1473835" y="5177790"/>
            <a:ext cx="10311130" cy="1383665"/>
          </a:xfrm>
          <a:prstGeom prst="rect">
            <a:avLst/>
          </a:prstGeom>
          <a:noFill/>
        </p:spPr>
        <p:txBody>
          <a:bodyPr wrap="square" rtlCol="0" anchor="t">
            <a:spAutoFit/>
          </a:bodyPr>
          <a:p>
            <a:r>
              <a:rPr lang="en-US" altLang="zh-CN" sz="2800" b="1">
                <a:highlight>
                  <a:srgbClr val="FFFF00"/>
                </a:highlight>
                <a:sym typeface="+mn-ea"/>
              </a:rPr>
              <a:t>aiming to push the integration of the Internet with other industries, </a:t>
            </a:r>
            <a:r>
              <a:rPr lang="en-US" altLang="zh-CN" sz="2800" b="1">
                <a:sym typeface="+mn-ea"/>
              </a:rPr>
              <a:t>such as health care, transportation, education, finance, and public service. </a:t>
            </a:r>
            <a:endParaRPr lang="en-US" altLang="zh-CN" sz="2800" b="1">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0" grpId="0"/>
      <p:bldP spid="3" grpId="0"/>
      <p:bldP spid="3" grpId="1"/>
    </p:bldLst>
  </p:timing>
</p:sld>
</file>

<file path=ppt/slides/slide7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文本框 7"/>
          <p:cNvSpPr txBox="1"/>
          <p:nvPr/>
        </p:nvSpPr>
        <p:spPr>
          <a:xfrm>
            <a:off x="177800" y="3244215"/>
            <a:ext cx="11441430" cy="521970"/>
          </a:xfrm>
          <a:prstGeom prst="rect">
            <a:avLst/>
          </a:prstGeom>
          <a:noFill/>
        </p:spPr>
        <p:txBody>
          <a:bodyPr wrap="square" rtlCol="0" anchor="t">
            <a:spAutoFit/>
          </a:bodyPr>
          <a:p>
            <a:r>
              <a:rPr sz="2800" b="1">
                <a:sym typeface="+mn-ea"/>
              </a:rPr>
              <a:t>这将为互联网经济的发展提供极大的发展潜力和更广阔的发展空间。</a:t>
            </a:r>
            <a:endParaRPr lang="zh-CN" altLang="en-US" sz="2800" b="1">
              <a:latin typeface="华文琥珀" panose="02010800040101010101" charset="-122"/>
              <a:ea typeface="华文琥珀" panose="02010800040101010101" charset="-122"/>
              <a:sym typeface="+mn-ea"/>
            </a:endParaRPr>
          </a:p>
        </p:txBody>
      </p:sp>
      <p:sp>
        <p:nvSpPr>
          <p:cNvPr id="30" name="内容占位符 2"/>
          <p:cNvSpPr>
            <a:spLocks noGrp="1"/>
          </p:cNvSpPr>
          <p:nvPr/>
        </p:nvSpPr>
        <p:spPr>
          <a:xfrm>
            <a:off x="284480" y="4121150"/>
            <a:ext cx="11228705" cy="1617345"/>
          </a:xfrm>
          <a:prstGeom prst="rect">
            <a:avLst/>
          </a:prstGeom>
        </p:spPr>
        <p:txBody>
          <a:bodyPr vert="horz" lIns="101600" tIns="0" rIns="82550" bIns="0" rtlCol="0">
            <a:normAutofit lnSpcReduction="1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800" b="1">
                <a:sym typeface="+mn-ea"/>
              </a:rPr>
              <a:t>This will </a:t>
            </a:r>
            <a:r>
              <a:rPr lang="en-US" altLang="zh-CN" sz="2800" b="1">
                <a:highlight>
                  <a:srgbClr val="00FFFF"/>
                </a:highlight>
                <a:sym typeface="+mn-ea"/>
              </a:rPr>
              <a:t>create great potential and broader prospects for</a:t>
            </a:r>
            <a:r>
              <a:rPr lang="en-US" altLang="zh-CN" sz="2800" b="1">
                <a:sym typeface="+mn-ea"/>
              </a:rPr>
              <a:t> the development of the Internet economy.</a:t>
            </a:r>
            <a:endParaRPr lang="en-US" altLang="zh-CN" sz="2800" b="1">
              <a:solidFill>
                <a:srgbClr val="7CDB05"/>
              </a:solidFill>
            </a:endParaRPr>
          </a:p>
        </p:txBody>
      </p:sp>
      <p:pic>
        <p:nvPicPr>
          <p:cNvPr id="108" name="图片 107"/>
          <p:cNvPicPr/>
          <p:nvPr/>
        </p:nvPicPr>
        <p:blipFill>
          <a:blip r:embed="rId1"/>
          <a:stretch>
            <a:fillRect/>
          </a:stretch>
        </p:blipFill>
        <p:spPr>
          <a:xfrm>
            <a:off x="0" y="7620"/>
            <a:ext cx="5313680" cy="2506345"/>
          </a:xfrm>
          <a:prstGeom prst="rect">
            <a:avLst/>
          </a:prstGeom>
          <a:noFill/>
          <a:ln w="9525">
            <a:noFill/>
          </a:ln>
        </p:spPr>
      </p:pic>
      <p:pic>
        <p:nvPicPr>
          <p:cNvPr id="109" name="图片 108"/>
          <p:cNvPicPr/>
          <p:nvPr/>
        </p:nvPicPr>
        <p:blipFill>
          <a:blip r:embed="rId2"/>
          <a:stretch>
            <a:fillRect/>
          </a:stretch>
        </p:blipFill>
        <p:spPr>
          <a:xfrm>
            <a:off x="5269230" y="7620"/>
            <a:ext cx="5589270" cy="2506345"/>
          </a:xfrm>
          <a:prstGeom prst="rect">
            <a:avLst/>
          </a:prstGeom>
          <a:noFill/>
          <a:ln w="9525">
            <a:noFill/>
          </a:ln>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0" grpId="0"/>
    </p:bldLst>
  </p:timing>
</p:sld>
</file>

<file path=ppt/slides/slide7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文本框 7"/>
          <p:cNvSpPr txBox="1"/>
          <p:nvPr/>
        </p:nvSpPr>
        <p:spPr>
          <a:xfrm>
            <a:off x="178435" y="2952750"/>
            <a:ext cx="11441430" cy="953135"/>
          </a:xfrm>
          <a:prstGeom prst="rect">
            <a:avLst/>
          </a:prstGeom>
          <a:noFill/>
        </p:spPr>
        <p:txBody>
          <a:bodyPr wrap="square" rtlCol="0" anchor="t">
            <a:spAutoFit/>
          </a:bodyPr>
          <a:p>
            <a:r>
              <a:rPr sz="2800" b="1">
                <a:sym typeface="+mn-ea"/>
              </a:rPr>
              <a:t>随着</a:t>
            </a:r>
            <a:r>
              <a:rPr lang="en-US" altLang="zh-CN" sz="2800" b="1">
                <a:sym typeface="+mn-ea"/>
              </a:rPr>
              <a:t>“</a:t>
            </a:r>
            <a:r>
              <a:rPr sz="2800" b="1">
                <a:sym typeface="+mn-ea"/>
              </a:rPr>
              <a:t>互联网</a:t>
            </a:r>
            <a:r>
              <a:rPr lang="en-US" altLang="zh-CN" sz="2800" b="1">
                <a:sym typeface="+mn-ea"/>
              </a:rPr>
              <a:t>+”</a:t>
            </a:r>
            <a:r>
              <a:rPr sz="2800" b="1">
                <a:sym typeface="+mn-ea"/>
              </a:rPr>
              <a:t>战略的深入实施，互联网必将与更多传统行业进一步融合，助力打造</a:t>
            </a:r>
            <a:r>
              <a:rPr lang="en-US" altLang="zh-CN" sz="2800" b="1">
                <a:sym typeface="+mn-ea"/>
              </a:rPr>
              <a:t>“</a:t>
            </a:r>
            <a:r>
              <a:rPr sz="2800" b="1">
                <a:sym typeface="+mn-ea"/>
              </a:rPr>
              <a:t>中国经济升级版</a:t>
            </a:r>
            <a:r>
              <a:rPr lang="en-US" altLang="zh-CN" sz="2800" b="1">
                <a:sym typeface="+mn-ea"/>
              </a:rPr>
              <a:t>”</a:t>
            </a:r>
            <a:r>
              <a:rPr sz="2800" b="1">
                <a:sym typeface="+mn-ea"/>
              </a:rPr>
              <a:t>。</a:t>
            </a:r>
            <a:endParaRPr lang="zh-CN" altLang="en-US" sz="2800" b="1">
              <a:latin typeface="华文琥珀" panose="02010800040101010101" charset="-122"/>
              <a:ea typeface="华文琥珀" panose="02010800040101010101" charset="-122"/>
              <a:sym typeface="+mn-ea"/>
            </a:endParaRPr>
          </a:p>
        </p:txBody>
      </p:sp>
      <p:sp>
        <p:nvSpPr>
          <p:cNvPr id="30" name="内容占位符 2"/>
          <p:cNvSpPr>
            <a:spLocks noGrp="1"/>
          </p:cNvSpPr>
          <p:nvPr/>
        </p:nvSpPr>
        <p:spPr>
          <a:xfrm>
            <a:off x="297180" y="4505325"/>
            <a:ext cx="11441430" cy="1885950"/>
          </a:xfrm>
          <a:prstGeom prst="rect">
            <a:avLst/>
          </a:prstGeom>
          <a:noFill/>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b="1">
                <a:sym typeface="+mn-ea"/>
              </a:rPr>
              <a:t>the Internet is bound to be further integrated with more traditional industries and help build “ the upgraded version of the Chinese economy.</a:t>
            </a:r>
            <a:endParaRPr lang="en-US" altLang="zh-CN" sz="2800" b="1">
              <a:solidFill>
                <a:srgbClr val="7CDB05"/>
              </a:solidFill>
            </a:endParaRPr>
          </a:p>
        </p:txBody>
      </p:sp>
      <p:pic>
        <p:nvPicPr>
          <p:cNvPr id="108" name="图片 107"/>
          <p:cNvPicPr/>
          <p:nvPr/>
        </p:nvPicPr>
        <p:blipFill>
          <a:blip r:embed="rId1"/>
          <a:stretch>
            <a:fillRect/>
          </a:stretch>
        </p:blipFill>
        <p:spPr>
          <a:xfrm>
            <a:off x="0" y="7620"/>
            <a:ext cx="5313680" cy="2506345"/>
          </a:xfrm>
          <a:prstGeom prst="rect">
            <a:avLst/>
          </a:prstGeom>
          <a:noFill/>
          <a:ln w="9525">
            <a:noFill/>
          </a:ln>
        </p:spPr>
      </p:pic>
      <p:pic>
        <p:nvPicPr>
          <p:cNvPr id="109" name="图片 108"/>
          <p:cNvPicPr/>
          <p:nvPr/>
        </p:nvPicPr>
        <p:blipFill>
          <a:blip r:embed="rId2"/>
          <a:stretch>
            <a:fillRect/>
          </a:stretch>
        </p:blipFill>
        <p:spPr>
          <a:xfrm>
            <a:off x="5269230" y="7620"/>
            <a:ext cx="5589270" cy="2506345"/>
          </a:xfrm>
          <a:prstGeom prst="rect">
            <a:avLst/>
          </a:prstGeom>
          <a:noFill/>
          <a:ln w="9525">
            <a:noFill/>
          </a:ln>
        </p:spPr>
      </p:pic>
      <p:sp>
        <p:nvSpPr>
          <p:cNvPr id="2" name="文本框 1"/>
          <p:cNvSpPr txBox="1"/>
          <p:nvPr/>
        </p:nvSpPr>
        <p:spPr>
          <a:xfrm>
            <a:off x="178435" y="3944620"/>
            <a:ext cx="10759440" cy="521970"/>
          </a:xfrm>
          <a:prstGeom prst="rect">
            <a:avLst/>
          </a:prstGeom>
          <a:noFill/>
        </p:spPr>
        <p:txBody>
          <a:bodyPr wrap="square" rtlCol="0" anchor="t">
            <a:spAutoFit/>
          </a:bodyPr>
          <a:p>
            <a:r>
              <a:rPr lang="en-US" altLang="zh-CN" sz="2800" b="1">
                <a:highlight>
                  <a:srgbClr val="FFFF00"/>
                </a:highlight>
                <a:sym typeface="+mn-ea"/>
              </a:rPr>
              <a:t>With the implementation of the “Internet Plus” strategy</a:t>
            </a:r>
            <a:r>
              <a:rPr lang="en-US" altLang="zh-CN" sz="2800" b="1">
                <a:sym typeface="+mn-ea"/>
              </a:rPr>
              <a:t>,</a:t>
            </a:r>
            <a:endParaRPr lang="en-US" altLang="zh-CN" sz="2800" b="1">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down)">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0" grpId="0"/>
      <p:bldP spid="2" grpId="0"/>
      <p:bldP spid="2" grpId="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SLIDE_BACKGROUND_MASK_FLAG" val="1"/>
  <p:tag name="KSO_WM_UNIT_TYPE" val="y"/>
  <p:tag name="KSO_WM_UNIT_INDEX"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52.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3698"/>
</p:tagLst>
</file>

<file path=ppt/tags/tag153.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3698"/>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7.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3698"/>
  <p:tag name="KSO_WM_TEMPLATE_MASTER_THUMB_INDEX" val="12"/>
  <p:tag name="KSO_WM_TEMPLATE_THUMBS_INDEX" val="1、4、7、8、9、11、13、14、15、17、20、21"/>
</p:tagLst>
</file>

<file path=ppt/tags/tag158.xml><?xml version="1.0" encoding="utf-8"?>
<p:tagLst xmlns:p="http://schemas.openxmlformats.org/presentationml/2006/main">
  <p:tag name="KSO_WM_BEAUTIFY_FLAG" val="#wm#"/>
  <p:tag name="KSO_WM_TEMPLATE_CATEGORY" val="diagram"/>
  <p:tag name="KSO_WM_TEMPLATE_INDEX" val="20200864"/>
</p:tagLst>
</file>

<file path=ppt/tags/tag159.xml><?xml version="1.0" encoding="utf-8"?>
<p:tagLst xmlns:p="http://schemas.openxmlformats.org/presentationml/2006/main">
  <p:tag name="KSO_WM_BEAUTIFY_FLAG" val="#wm#"/>
  <p:tag name="KSO_WM_TEMPLATE_CATEGORY" val="diagram"/>
  <p:tag name="KSO_WM_TEMPLATE_INDEX" val="20200864"/>
</p:tagLst>
</file>

<file path=ppt/tags/tag160.xml><?xml version="1.0" encoding="utf-8"?>
<p:tagLst xmlns:p="http://schemas.openxmlformats.org/presentationml/2006/main">
  <p:tag name="KSO_WM_BEAUTIFY_FLAG" val="#wm#"/>
  <p:tag name="KSO_WM_TEMPLATE_CATEGORY" val="diagram"/>
  <p:tag name="KSO_WM_TEMPLATE_INDEX" val="20200864"/>
</p:tagLst>
</file>

<file path=ppt/tags/tag161.xml><?xml version="1.0" encoding="utf-8"?>
<p:tagLst xmlns:p="http://schemas.openxmlformats.org/presentationml/2006/main">
  <p:tag name="KSO_WM_BEAUTIFY_FLAG" val="#wm#"/>
  <p:tag name="KSO_WM_TEMPLATE_CATEGORY" val="diagram"/>
  <p:tag name="KSO_WM_TEMPLATE_INDEX" val="20200864"/>
</p:tagLst>
</file>

<file path=ppt/tags/tag162.xml><?xml version="1.0" encoding="utf-8"?>
<p:tagLst xmlns:p="http://schemas.openxmlformats.org/presentationml/2006/main">
  <p:tag name="KSO_WM_BEAUTIFY_FLAG" val="#wm#"/>
  <p:tag name="KSO_WM_TEMPLATE_CATEGORY" val="diagram"/>
  <p:tag name="KSO_WM_TEMPLATE_INDEX" val="20200864"/>
</p:tagLst>
</file>

<file path=ppt/tags/tag163.xml><?xml version="1.0" encoding="utf-8"?>
<p:tagLst xmlns:p="http://schemas.openxmlformats.org/presentationml/2006/main">
  <p:tag name="KSO_WM_BEAUTIFY_FLAG" val="#wm#"/>
  <p:tag name="KSO_WM_TEMPLATE_CATEGORY" val="diagram"/>
  <p:tag name="KSO_WM_TEMPLATE_INDEX" val="20200864"/>
</p:tagLst>
</file>

<file path=ppt/tags/tag164.xml><?xml version="1.0" encoding="utf-8"?>
<p:tagLst xmlns:p="http://schemas.openxmlformats.org/presentationml/2006/main">
  <p:tag name="KSO_WM_BEAUTIFY_FLAG" val="#wm#"/>
  <p:tag name="KSO_WM_TEMPLATE_CATEGORY" val="diagram"/>
  <p:tag name="KSO_WM_TEMPLATE_INDEX" val="20200864"/>
</p:tagLst>
</file>

<file path=ppt/tags/tag165.xml><?xml version="1.0" encoding="utf-8"?>
<p:tagLst xmlns:p="http://schemas.openxmlformats.org/presentationml/2006/main">
  <p:tag name="KSO_WM_BEAUTIFY_FLAG" val="#wm#"/>
  <p:tag name="KSO_WM_TEMPLATE_CATEGORY" val="diagram"/>
  <p:tag name="KSO_WM_TEMPLATE_INDEX" val="20200864"/>
</p:tagLst>
</file>

<file path=ppt/tags/tag166.xml><?xml version="1.0" encoding="utf-8"?>
<p:tagLst xmlns:p="http://schemas.openxmlformats.org/presentationml/2006/main">
  <p:tag name="KSO_WM_BEAUTIFY_FLAG" val="#wm#"/>
  <p:tag name="KSO_WM_TEMPLATE_CATEGORY" val="diagram"/>
  <p:tag name="KSO_WM_TEMPLATE_INDEX" val="20200864"/>
</p:tagLst>
</file>

<file path=ppt/tags/tag167.xml><?xml version="1.0" encoding="utf-8"?>
<p:tagLst xmlns:p="http://schemas.openxmlformats.org/presentationml/2006/main">
  <p:tag name="KSO_WM_BEAUTIFY_FLAG" val="#wm#"/>
  <p:tag name="KSO_WM_TEMPLATE_CATEGORY" val="diagram"/>
  <p:tag name="KSO_WM_TEMPLATE_INDEX" val="20200864"/>
</p:tagLst>
</file>

<file path=ppt/tags/tag168.xml><?xml version="1.0" encoding="utf-8"?>
<p:tagLst xmlns:p="http://schemas.openxmlformats.org/presentationml/2006/main">
  <p:tag name="KSO_WM_BEAUTIFY_FLAG" val="#wm#"/>
  <p:tag name="KSO_WM_TEMPLATE_CATEGORY" val="diagram"/>
  <p:tag name="KSO_WM_TEMPLATE_INDEX" val="20200864"/>
</p:tagLst>
</file>

<file path=ppt/tags/tag169.xml><?xml version="1.0" encoding="utf-8"?>
<p:tagLst xmlns:p="http://schemas.openxmlformats.org/presentationml/2006/main">
  <p:tag name="KSO_WM_BEAUTIFY_FLAG" val="#wm#"/>
  <p:tag name="KSO_WM_TEMPLATE_CATEGORY" val="diagram"/>
  <p:tag name="KSO_WM_TEMPLATE_INDEX" val="20200864"/>
</p:tagLst>
</file>

<file path=ppt/tags/tag170.xml><?xml version="1.0" encoding="utf-8"?>
<p:tagLst xmlns:p="http://schemas.openxmlformats.org/presentationml/2006/main">
  <p:tag name="KSO_WM_BEAUTIFY_FLAG" val="#wm#"/>
  <p:tag name="KSO_WM_TEMPLATE_CATEGORY" val="diagram"/>
  <p:tag name="KSO_WM_TEMPLATE_INDEX" val="20200864"/>
</p:tagLst>
</file>

<file path=ppt/tags/tag171.xml><?xml version="1.0" encoding="utf-8"?>
<p:tagLst xmlns:p="http://schemas.openxmlformats.org/presentationml/2006/main">
  <p:tag name="KSO_WM_BEAUTIFY_FLAG" val="#wm#"/>
  <p:tag name="KSO_WM_TEMPLATE_CATEGORY" val="diagram"/>
  <p:tag name="KSO_WM_TEMPLATE_INDEX" val="20200864"/>
</p:tagLst>
</file>

<file path=ppt/tags/tag172.xml><?xml version="1.0" encoding="utf-8"?>
<p:tagLst xmlns:p="http://schemas.openxmlformats.org/presentationml/2006/main">
  <p:tag name="KSO_WM_BEAUTIFY_FLAG" val="#wm#"/>
  <p:tag name="KSO_WM_TEMPLATE_CATEGORY" val="diagram"/>
  <p:tag name="KSO_WM_TEMPLATE_INDEX" val="20200864"/>
</p:tagLst>
</file>

<file path=ppt/tags/tag173.xml><?xml version="1.0" encoding="utf-8"?>
<p:tagLst xmlns:p="http://schemas.openxmlformats.org/presentationml/2006/main">
  <p:tag name="KSO_WM_UNIT_PLACING_PICTURE_USER_VIEWPORT" val="{&quot;height&quot;:1440,&quot;width&quot;:3076.8}"/>
</p:tagLst>
</file>

<file path=ppt/tags/tag174.xml><?xml version="1.0" encoding="utf-8"?>
<p:tagLst xmlns:p="http://schemas.openxmlformats.org/presentationml/2006/main">
  <p:tag name="KSO_WM_BEAUTIFY_FLAG" val="#wm#"/>
  <p:tag name="KSO_WM_TEMPLATE_CATEGORY" val="diagram"/>
  <p:tag name="KSO_WM_TEMPLATE_INDEX" val="20200864"/>
</p:tagLst>
</file>

<file path=ppt/tags/tag175.xml><?xml version="1.0" encoding="utf-8"?>
<p:tagLst xmlns:p="http://schemas.openxmlformats.org/presentationml/2006/main">
  <p:tag name="KSO_WM_BEAUTIFY_FLAG" val="#wm#"/>
  <p:tag name="KSO_WM_TEMPLATE_CATEGORY" val="diagram"/>
  <p:tag name="KSO_WM_TEMPLATE_INDEX" val="20200864"/>
</p:tagLst>
</file>

<file path=ppt/tags/tag176.xml><?xml version="1.0" encoding="utf-8"?>
<p:tagLst xmlns:p="http://schemas.openxmlformats.org/presentationml/2006/main">
  <p:tag name="KSO_WM_BEAUTIFY_FLAG" val="#wm#"/>
  <p:tag name="KSO_WM_TEMPLATE_CATEGORY" val="diagram"/>
  <p:tag name="KSO_WM_TEMPLATE_INDEX" val="20200864"/>
</p:tagLst>
</file>

<file path=ppt/tags/tag177.xml><?xml version="1.0" encoding="utf-8"?>
<p:tagLst xmlns:p="http://schemas.openxmlformats.org/presentationml/2006/main">
  <p:tag name="KSO_WM_BEAUTIFY_FLAG" val="#wm#"/>
  <p:tag name="KSO_WM_TEMPLATE_CATEGORY" val="diagram"/>
  <p:tag name="KSO_WM_TEMPLATE_INDEX" val="20200864"/>
</p:tagLst>
</file>

<file path=ppt/tags/tag178.xml><?xml version="1.0" encoding="utf-8"?>
<p:tagLst xmlns:p="http://schemas.openxmlformats.org/presentationml/2006/main">
  <p:tag name="KSO_WM_BEAUTIFY_FLAG" val="#wm#"/>
  <p:tag name="KSO_WM_TEMPLATE_CATEGORY" val="diagram"/>
  <p:tag name="KSO_WM_TEMPLATE_INDEX" val="20200864"/>
</p:tagLst>
</file>

<file path=ppt/tags/tag179.xml><?xml version="1.0" encoding="utf-8"?>
<p:tagLst xmlns:p="http://schemas.openxmlformats.org/presentationml/2006/main">
  <p:tag name="KSO_WM_BEAUTIFY_FLAG" val="#wm#"/>
  <p:tag name="KSO_WM_TEMPLATE_CATEGORY" val="diagram"/>
  <p:tag name="KSO_WM_TEMPLATE_INDEX" val="20200864"/>
</p:tagLst>
</file>

<file path=ppt/tags/tag180.xml><?xml version="1.0" encoding="utf-8"?>
<p:tagLst xmlns:p="http://schemas.openxmlformats.org/presentationml/2006/main">
  <p:tag name="KSO_WPP_MARK_KEY" val="43452007-cce6-41ef-aece-ac90cf277466"/>
  <p:tag name="COMMONDATA" val="eyJoZGlkIjoiNGI1ZThjMDUyODc4YTcwMmJlZjI5YzZhYjM5ZWNmNTE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04">
      <a:dk1>
        <a:sysClr val="windowText" lastClr="000000"/>
      </a:dk1>
      <a:lt1>
        <a:sysClr val="window" lastClr="FFFFFF"/>
      </a:lt1>
      <a:dk2>
        <a:srgbClr val="F2F8FB"/>
      </a:dk2>
      <a:lt2>
        <a:srgbClr val="FFFFFF"/>
      </a:lt2>
      <a:accent1>
        <a:srgbClr val="AECFE3"/>
      </a:accent1>
      <a:accent2>
        <a:srgbClr val="B0D3D8"/>
      </a:accent2>
      <a:accent3>
        <a:srgbClr val="B2D7CE"/>
      </a:accent3>
      <a:accent4>
        <a:srgbClr val="B5DBC3"/>
      </a:accent4>
      <a:accent5>
        <a:srgbClr val="B7DFB9"/>
      </a:accent5>
      <a:accent6>
        <a:srgbClr val="B9E3AE"/>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38427</Words>
  <Application>WPS 演示</Application>
  <PresentationFormat>自定义</PresentationFormat>
  <Paragraphs>763</Paragraphs>
  <Slides>74</Slides>
  <Notes>21</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74</vt:i4>
      </vt:variant>
    </vt:vector>
  </HeadingPairs>
  <TitlesOfParts>
    <vt:vector size="91" baseType="lpstr">
      <vt:lpstr>Arial</vt:lpstr>
      <vt:lpstr>宋体</vt:lpstr>
      <vt:lpstr>Wingdings</vt:lpstr>
      <vt:lpstr>微软雅黑</vt:lpstr>
      <vt:lpstr>汉仪旗黑-85S</vt:lpstr>
      <vt:lpstr>黑体</vt:lpstr>
      <vt:lpstr>Agency FB</vt:lpstr>
      <vt:lpstr>Calibri</vt:lpstr>
      <vt:lpstr>Times New Roman</vt:lpstr>
      <vt:lpstr>Wingdings 2</vt:lpstr>
      <vt:lpstr>Arial Unicode MS</vt:lpstr>
      <vt:lpstr>等线</vt:lpstr>
      <vt:lpstr>楷体_GB2312</vt:lpstr>
      <vt:lpstr>新宋体</vt:lpstr>
      <vt:lpstr>华文琥珀</vt:lpstr>
      <vt:lpstr>Office 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选词填空 解题技巧</dc:title>
  <dc:creator>Administrator</dc:creator>
  <cp:lastModifiedBy>梁桐</cp:lastModifiedBy>
  <cp:revision>151</cp:revision>
  <dcterms:created xsi:type="dcterms:W3CDTF">2006-08-16T00:00:00Z</dcterms:created>
  <dcterms:modified xsi:type="dcterms:W3CDTF">2025-06-16T02:53:11Z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42D28BF3E8D4425FA190EC23DB291EFD</vt:lpwstr>
  </property>
</Properties>
</file>