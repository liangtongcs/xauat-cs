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1117" r:id="rId3"/>
    <p:sldId id="1118" r:id="rId4"/>
    <p:sldId id="1116" r:id="rId5"/>
    <p:sldId id="997" r:id="rId6"/>
    <p:sldId id="1107" r:id="rId7"/>
    <p:sldId id="999" r:id="rId8"/>
    <p:sldId id="1109" r:id="rId9"/>
    <p:sldId id="1062" r:id="rId10"/>
    <p:sldId id="1115" r:id="rId11"/>
    <p:sldId id="1114" r:id="rId12"/>
    <p:sldId id="1113" r:id="rId13"/>
  </p:sldIdLst>
  <p:sldSz cx="9144000" cy="6858000" type="screen4x3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6" userDrawn="1">
          <p15:clr>
            <a:srgbClr val="A4A3A4"/>
          </p15:clr>
        </p15:guide>
        <p15:guide id="2" pos="27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90" autoAdjust="0"/>
    <p:restoredTop sz="94660"/>
  </p:normalViewPr>
  <p:slideViewPr>
    <p:cSldViewPr showGuides="1">
      <p:cViewPr varScale="1">
        <p:scale>
          <a:sx n="82" d="100"/>
          <a:sy n="82" d="100"/>
        </p:scale>
        <p:origin x="-1474" y="-86"/>
      </p:cViewPr>
      <p:guideLst>
        <p:guide orient="horz" pos="1976"/>
        <p:guide pos="272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7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7C6438-4607-4DD1-B54F-0CABF9AC36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89C99-5743-4688-A3D3-8E4A23BD925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rgbClr val="99CC00">
              <a:alpha val="847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3850" y="242570"/>
            <a:ext cx="18688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1. deviate</a:t>
            </a:r>
            <a:r>
              <a:rPr lang="zh-CN" altLang="en-US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：</a:t>
            </a:r>
            <a:r>
              <a:rPr lang="en-US" altLang="zh-CN" sz="24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2411730" y="260350"/>
            <a:ext cx="3129915" cy="5308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8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</a:rPr>
              <a:t>背离；偏离；违背</a:t>
            </a:r>
            <a:endParaRPr lang="zh-CN" altLang="en-US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683895" y="764540"/>
            <a:ext cx="2977515" cy="507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800" b="1" kern="0">
                <a:solidFill>
                  <a:schemeClr val="accent4">
                    <a:lumMod val="10000"/>
                  </a:schemeClr>
                </a:solidFill>
                <a:highlight>
                  <a:srgbClr val="FFFF00"/>
                </a:highlight>
                <a:latin typeface="Helvetica"/>
              </a:rPr>
              <a:t>deviate from sth.</a:t>
            </a:r>
            <a:r>
              <a:rPr lang="en-US" altLang="zh-CN" sz="2400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8040" y="2683510"/>
            <a:ext cx="76796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The hikers were warned not to  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Helvetica"/>
                <a:sym typeface="+mn-ea"/>
              </a:rPr>
              <a:t>deviate from the marked trail, </a:t>
            </a:r>
            <a:r>
              <a:rPr lang="zh-CN" altLang="en-US" sz="24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as the forest could be dangerous.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 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971550" y="3864610"/>
            <a:ext cx="749046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徒步者被警告不要</a:t>
            </a:r>
            <a:r>
              <a:rPr lang="zh-CN" altLang="en-US" sz="2800" dirty="0"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偏离标记的路线</a:t>
            </a:r>
            <a:r>
              <a:rPr lang="zh-CN" altLang="en-US" sz="280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，因为森林里可能有危险。</a:t>
            </a:r>
            <a:endParaRPr lang="zh-CN" altLang="en-US" sz="2800" dirty="0"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09930" y="1124585"/>
            <a:ext cx="7534275" cy="11988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The bus had to 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Helvetica"/>
                <a:sym typeface="+mn-ea"/>
              </a:rPr>
              <a:t>deviate from its usual route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 because of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Helvetic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 a road closure.</a:t>
            </a:r>
            <a:endParaRPr lang="zh-CN" altLang="en-US" sz="2400"/>
          </a:p>
        </p:txBody>
      </p:sp>
      <p:sp>
        <p:nvSpPr>
          <p:cNvPr id="13" name="文本框 12"/>
          <p:cNvSpPr txBox="1"/>
          <p:nvPr/>
        </p:nvSpPr>
        <p:spPr>
          <a:xfrm>
            <a:off x="755650" y="2323465"/>
            <a:ext cx="65836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80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因为道路封闭，公共汽车只得</a:t>
            </a:r>
            <a:r>
              <a:rPr lang="zh-CN" altLang="en-US" sz="2800" dirty="0"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绕道</a:t>
            </a:r>
            <a:r>
              <a:rPr lang="zh-CN" altLang="en-US" sz="280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而行。</a:t>
            </a:r>
            <a:endParaRPr lang="zh-CN" altLang="en-US" sz="2800" dirty="0"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3707765" y="727710"/>
            <a:ext cx="3129915" cy="530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8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</a:rPr>
              <a:t>偏离路线，方向</a:t>
            </a:r>
            <a:endParaRPr lang="zh-CN" altLang="en-US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28040" y="4653280"/>
            <a:ext cx="76796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The missile  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Helvetica"/>
                <a:sym typeface="+mn-ea"/>
              </a:rPr>
              <a:t>deviated from its intended path 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due </a:t>
            </a:r>
            <a:r>
              <a:rPr lang="en-US" sz="24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to a technical error.</a:t>
            </a:r>
            <a:endParaRPr lang="en-US" sz="2400" kern="0" dirty="0">
              <a:solidFill>
                <a:schemeClr val="accent4">
                  <a:lumMod val="10000"/>
                </a:schemeClr>
              </a:solidFill>
              <a:latin typeface="Helvetica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55650" y="5801360"/>
            <a:ext cx="74904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导弹因技术故障</a:t>
            </a:r>
            <a:r>
              <a:rPr lang="zh-CN" altLang="en-US" sz="2800" dirty="0"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偏离了预定轨道</a:t>
            </a:r>
            <a:r>
              <a:rPr lang="zh-CN" altLang="en-US" sz="280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。</a:t>
            </a:r>
            <a:endParaRPr lang="zh-CN" altLang="en-US" sz="2800" dirty="0"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15" name="TextBox 1"/>
          <p:cNvSpPr txBox="1"/>
          <p:nvPr/>
        </p:nvSpPr>
        <p:spPr>
          <a:xfrm>
            <a:off x="5436235" y="116840"/>
            <a:ext cx="22288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 b="1" kern="0">
                <a:solidFill>
                  <a:srgbClr val="FF0000"/>
                </a:solidFill>
                <a:latin typeface="Helvetica"/>
              </a:rPr>
              <a:t>stray from</a:t>
            </a:r>
            <a:r>
              <a:rPr lang="en-US" altLang="zh-CN" sz="2400" b="1" kern="0">
                <a:solidFill>
                  <a:srgbClr val="FF0000"/>
                </a:solidFill>
                <a:latin typeface="Helvetica"/>
              </a:rPr>
              <a:t> </a:t>
            </a:r>
            <a:r>
              <a:rPr lang="en-US" altLang="zh-CN" sz="24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TextBox 1"/>
          <p:cNvSpPr txBox="1"/>
          <p:nvPr/>
        </p:nvSpPr>
        <p:spPr>
          <a:xfrm>
            <a:off x="6084570" y="476885"/>
            <a:ext cx="22288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 b="1" kern="0">
                <a:solidFill>
                  <a:srgbClr val="FF0000"/>
                </a:solidFill>
                <a:latin typeface="Helvetica"/>
              </a:rPr>
              <a:t>diverge from</a:t>
            </a:r>
            <a:r>
              <a:rPr lang="en-US" altLang="zh-CN" sz="2400" b="1" kern="0">
                <a:solidFill>
                  <a:srgbClr val="FF0000"/>
                </a:solidFill>
                <a:latin typeface="Helvetica"/>
              </a:rPr>
              <a:t> </a:t>
            </a:r>
            <a:r>
              <a:rPr lang="en-US" altLang="zh-CN" sz="24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11" grpId="0"/>
      <p:bldP spid="13" grpId="0"/>
      <p:bldP spid="7" grpId="0"/>
      <p:bldP spid="12" grpId="0"/>
      <p:bldP spid="14" grpId="0"/>
      <p:bldP spid="15" grpId="0"/>
      <p:bldP spid="15" grpId="1"/>
      <p:bldP spid="16" grpId="0"/>
      <p:bldP spid="16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rgbClr val="99CC00">
              <a:alpha val="847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994" y="1525880"/>
            <a:ext cx="698477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Amy has never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Helvetica"/>
              </a:rPr>
              <a:t> deviated from her original plan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.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Helvetic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3895" y="908685"/>
            <a:ext cx="51212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800" b="1" dirty="0">
                <a:solidFill>
                  <a:prstClr val="black"/>
                </a:solidFill>
                <a:highlight>
                  <a:srgbClr val="FFFF00"/>
                </a:highlight>
                <a:latin typeface="华文新魏" panose="02010800040101010101" charset="-122"/>
                <a:ea typeface="华文新魏" panose="02010800040101010101" charset="-122"/>
              </a:rPr>
              <a:t>艾米从未</a:t>
            </a:r>
            <a:r>
              <a:rPr lang="zh-CN" altLang="en-US" sz="2800" b="1" dirty="0">
                <a:solidFill>
                  <a:prstClr val="black"/>
                </a:solidFill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</a:rPr>
              <a:t>偏离自己最初的计划</a:t>
            </a:r>
            <a:r>
              <a:rPr lang="zh-CN" altLang="en-US" sz="28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zh-CN" altLang="en-US" sz="2800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683895" y="260350"/>
            <a:ext cx="29845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>
                <a:solidFill>
                  <a:schemeClr val="accent4">
                    <a:lumMod val="10000"/>
                  </a:schemeClr>
                </a:solidFill>
                <a:highlight>
                  <a:srgbClr val="FFFF00"/>
                </a:highlight>
                <a:latin typeface="Helvetica"/>
              </a:rPr>
              <a:t>deviate from sth.</a:t>
            </a:r>
            <a:r>
              <a:rPr lang="en-US" altLang="zh-CN" sz="2400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8040" y="1844675"/>
            <a:ext cx="7551420" cy="17532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He was not a good student, and had he not been from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Helvetic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a famous family, he probably would have been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Helvetic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removed from the school for 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Helvetica"/>
                <a:sym typeface="+mn-ea"/>
              </a:rPr>
              <a:t>deviating from the rules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. 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899795" y="3573145"/>
            <a:ext cx="729869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他不是优等生，要不是出身名门，他可能早就因为</a:t>
            </a:r>
            <a:r>
              <a:rPr lang="zh-CN" altLang="en-US" sz="2800" dirty="0"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违反纪律</a:t>
            </a:r>
            <a:r>
              <a:rPr lang="zh-CN" altLang="en-US" sz="280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被开除了。</a:t>
            </a:r>
            <a:endParaRPr lang="zh-CN" altLang="en-US" sz="2800" dirty="0"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3707765" y="233680"/>
            <a:ext cx="3592195" cy="530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8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</a:rPr>
              <a:t>偏离标准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</a:rPr>
              <a:t>/</a:t>
            </a:r>
            <a:r>
              <a:rPr lang="zh-CN" altLang="en-US" sz="28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</a:rPr>
              <a:t>规则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</a:rPr>
              <a:t>/</a:t>
            </a:r>
            <a:r>
              <a:rPr lang="zh-CN" altLang="en-US" sz="28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</a:rPr>
              <a:t>习惯</a:t>
            </a:r>
            <a:endParaRPr lang="zh-CN" altLang="en-US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28040" y="4436745"/>
            <a:ext cx="7635875" cy="11988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The novel’s plot 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Helvetica"/>
                <a:sym typeface="+mn-ea"/>
              </a:rPr>
              <a:t> deviates from typical romance tropes,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highlight>
                <a:srgbClr val="00FFFF"/>
              </a:highlight>
              <a:latin typeface="Helvetic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Helvetica"/>
                <a:sym typeface="+mn-ea"/>
              </a:rPr>
              <a:t>offering a fresh perspective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. </a:t>
            </a:r>
            <a:endParaRPr lang="zh-CN" altLang="en-US" sz="2400"/>
          </a:p>
        </p:txBody>
      </p:sp>
      <p:sp>
        <p:nvSpPr>
          <p:cNvPr id="14" name="文本框 13"/>
          <p:cNvSpPr txBox="1"/>
          <p:nvPr/>
        </p:nvSpPr>
        <p:spPr>
          <a:xfrm>
            <a:off x="828040" y="5635625"/>
            <a:ext cx="729869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这本小说的情节偏离了典型的爱情套路，提供了新的视角。</a:t>
            </a:r>
            <a:endParaRPr lang="zh-CN" altLang="en-US" sz="2800" dirty="0"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4" grpId="0"/>
      <p:bldP spid="5" grpId="0"/>
      <p:bldP spid="6" grpId="0"/>
      <p:bldP spid="7" grpId="0"/>
      <p:bldP spid="12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rgbClr val="99CC00">
              <a:alpha val="847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64490" y="242570"/>
            <a:ext cx="22631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2. </a:t>
            </a:r>
            <a:r>
              <a:rPr lang="en-US" altLang="zh-CN" sz="2800" b="1" kern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preclude</a:t>
            </a:r>
            <a:r>
              <a:rPr lang="zh-CN" altLang="en-US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：</a:t>
            </a:r>
            <a:r>
              <a:rPr lang="en-US" altLang="zh-CN" sz="24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8040" y="3907790"/>
            <a:ext cx="7880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经验不足并不</a:t>
            </a:r>
            <a:r>
              <a:rPr lang="zh-CN" altLang="en-US" sz="2800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妨碍他成为该职务的强有力候选人</a:t>
            </a:r>
            <a:r>
              <a:rPr lang="zh-CN" altLang="en-US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。</a:t>
            </a:r>
            <a:endParaRPr lang="zh-CN" altLang="en-US" sz="2800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2627630" y="332740"/>
            <a:ext cx="31102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</a:rPr>
              <a:t>阻碍；阻止；妨碍</a:t>
            </a:r>
            <a:endParaRPr lang="zh-CN" altLang="en-US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688340" y="866140"/>
            <a:ext cx="50495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>
                <a:solidFill>
                  <a:schemeClr val="accent4">
                    <a:lumMod val="10000"/>
                  </a:schemeClr>
                </a:solidFill>
                <a:highlight>
                  <a:srgbClr val="FFFF00"/>
                </a:highlight>
                <a:latin typeface="Helvetica"/>
                <a:sym typeface="+mn-ea"/>
              </a:rPr>
              <a:t>preclude sb. from doing sth.</a:t>
            </a:r>
            <a:r>
              <a:rPr lang="en-US" altLang="zh-CN" sz="2400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5650" y="2132965"/>
            <a:ext cx="7832725" cy="7372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她因日程繁忙</a:t>
            </a:r>
            <a:r>
              <a:rPr lang="zh-CN" altLang="en-US" sz="2800" b="1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无法参加聚会</a:t>
            </a:r>
            <a:r>
              <a:rPr lang="zh-CN" altLang="en-US" sz="28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，但还是寄了礼物。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  </a:t>
            </a:r>
            <a:endParaRPr lang="zh-CN" altLang="en-US" sz="2400"/>
          </a:p>
        </p:txBody>
      </p:sp>
      <p:sp>
        <p:nvSpPr>
          <p:cNvPr id="7" name="TextBox 7"/>
          <p:cNvSpPr txBox="1"/>
          <p:nvPr/>
        </p:nvSpPr>
        <p:spPr>
          <a:xfrm>
            <a:off x="805815" y="1412875"/>
            <a:ext cx="75330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Her busy schedule </a:t>
            </a:r>
            <a:r>
              <a:rPr lang="en-US" altLang="zh-CN" sz="2400" b="1" kern="0" dirty="0">
                <a:solidFill>
                  <a:srgbClr val="0000FF"/>
                </a:solidFill>
                <a:latin typeface="Helvetica"/>
                <a:sym typeface="+mn-ea"/>
              </a:rPr>
              <a:t>precluded her from attending the party,</a:t>
            </a:r>
            <a:r>
              <a:rPr lang="en-US" altLang="zh-CN" sz="2400" b="1" kern="0" dirty="0">
                <a:solidFill>
                  <a:schemeClr val="tx1"/>
                </a:solidFill>
                <a:latin typeface="Helvetica"/>
                <a:sym typeface="+mn-ea"/>
              </a:rPr>
              <a:t> </a:t>
            </a:r>
            <a:r>
              <a:rPr lang="en-US" altLang="zh-CN" sz="2400" kern="0" dirty="0">
                <a:solidFill>
                  <a:schemeClr val="tx1"/>
                </a:solidFill>
                <a:latin typeface="Helvetica"/>
                <a:sym typeface="+mn-ea"/>
              </a:rPr>
              <a:t>but she sent a gift instead.</a:t>
            </a:r>
            <a:r>
              <a:rPr lang="en-US" altLang="zh-CN" sz="2400" b="1" kern="0" dirty="0">
                <a:solidFill>
                  <a:srgbClr val="0000FF"/>
                </a:solidFill>
                <a:latin typeface="Helvetica"/>
                <a:sym typeface="+mn-ea"/>
              </a:rPr>
              <a:t> 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Helvetic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68045" y="2708910"/>
            <a:ext cx="772033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His lack of experience doesn’t </a:t>
            </a:r>
            <a:r>
              <a:rPr lang="en-US" altLang="zh-CN" sz="2400" b="1" u="sng" kern="0" dirty="0">
                <a:solidFill>
                  <a:srgbClr val="0000FF"/>
                </a:solidFill>
                <a:latin typeface="Helvetica"/>
                <a:sym typeface="+mn-ea"/>
                <a:hlinkClick r:id="rId1" action="ppaction://hlinksldjump"/>
              </a:rPr>
              <a:t>preclude</a:t>
            </a:r>
            <a:r>
              <a:rPr lang="en-US" altLang="zh-CN" sz="2400" b="1" kern="0" dirty="0">
                <a:solidFill>
                  <a:srgbClr val="0000FF"/>
                </a:solidFill>
                <a:latin typeface="Helvetica"/>
                <a:sym typeface="+mn-ea"/>
              </a:rPr>
              <a:t> him from being a strong candidate for the job. 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 </a:t>
            </a:r>
            <a:endParaRPr lang="zh-CN" altLang="en-US" sz="2400"/>
          </a:p>
        </p:txBody>
      </p:sp>
      <p:sp>
        <p:nvSpPr>
          <p:cNvPr id="12" name="文本框 11"/>
          <p:cNvSpPr txBox="1"/>
          <p:nvPr/>
        </p:nvSpPr>
        <p:spPr>
          <a:xfrm>
            <a:off x="755650" y="4293235"/>
            <a:ext cx="7649210" cy="11988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Thankfully, he did finish at Harrow and his errors there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Helvetica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did not </a:t>
            </a:r>
            <a:r>
              <a:rPr lang="en-US" altLang="zh-CN" sz="2400" b="1" kern="0" dirty="0">
                <a:solidFill>
                  <a:srgbClr val="0000FF"/>
                </a:solidFill>
                <a:latin typeface="Helvetica"/>
                <a:sym typeface="+mn-ea"/>
                <a:hlinkClick r:id="rId1" action="ppaction://hlinksldjump"/>
              </a:rPr>
              <a:t>preclude</a:t>
            </a:r>
            <a:r>
              <a:rPr lang="en-US" altLang="zh-CN" sz="2400" b="1" kern="0" dirty="0">
                <a:solidFill>
                  <a:srgbClr val="0000FF"/>
                </a:solidFill>
                <a:latin typeface="Helvetica"/>
                <a:sym typeface="+mn-ea"/>
              </a:rPr>
              <a:t> him from going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 on to the university.  </a:t>
            </a:r>
            <a:endParaRPr lang="zh-CN" altLang="en-US" sz="2400"/>
          </a:p>
        </p:txBody>
      </p:sp>
      <p:sp>
        <p:nvSpPr>
          <p:cNvPr id="13" name="文本框 12"/>
          <p:cNvSpPr txBox="1"/>
          <p:nvPr/>
        </p:nvSpPr>
        <p:spPr>
          <a:xfrm>
            <a:off x="868045" y="5467350"/>
            <a:ext cx="7650480" cy="9531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just"/>
            <a:r>
              <a:rPr lang="zh-CN" altLang="en-US" sz="280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谢天谢地，他总算从哈罗毕业了，在那里犯下的</a:t>
            </a:r>
            <a:endParaRPr lang="zh-CN" altLang="en-US" sz="2800" dirty="0"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  <a:p>
            <a:pPr algn="just"/>
            <a:r>
              <a:rPr lang="zh-CN" altLang="en-US" sz="280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错误并没</a:t>
            </a:r>
            <a:r>
              <a:rPr lang="zh-CN" altLang="en-US" sz="2800" dirty="0"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妨碍他上</a:t>
            </a:r>
            <a:r>
              <a:rPr lang="zh-CN" altLang="en-US" sz="280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大学。</a:t>
            </a:r>
            <a:endParaRPr lang="zh-CN" altLang="en-US" sz="2800" dirty="0"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4" grpId="0"/>
      <p:bldP spid="5" grpId="0"/>
      <p:bldP spid="7" grpId="0"/>
      <p:bldP spid="11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rgbClr val="99CC00">
              <a:alpha val="847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9750" y="260350"/>
            <a:ext cx="22631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3. 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intrigue</a:t>
            </a:r>
            <a:r>
              <a:rPr lang="zh-CN" altLang="en-US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：</a:t>
            </a:r>
            <a:r>
              <a:rPr lang="en-US" altLang="zh-CN" sz="24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3895" y="3789045"/>
            <a:ext cx="78930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kern="0" dirty="0">
                <a:latin typeface="Helvetica"/>
                <a:sym typeface="+mn-ea"/>
              </a:rPr>
              <a:t>Ever since childhood, he </a:t>
            </a:r>
            <a:r>
              <a:rPr lang="en-US" altLang="zh-CN" sz="2400" kern="0" dirty="0">
                <a:highlight>
                  <a:srgbClr val="00FFFF"/>
                </a:highlight>
                <a:latin typeface="Helvetica"/>
                <a:sym typeface="+mn-ea"/>
              </a:rPr>
              <a:t>has been intrigued by</a:t>
            </a:r>
            <a:r>
              <a:rPr lang="en-US" altLang="zh-CN" sz="2400" kern="0" dirty="0">
                <a:latin typeface="Helvetica"/>
                <a:sym typeface="+mn-ea"/>
              </a:rPr>
              <a:t> the question of whether there is life on other planets.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Helvetic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1505" y="2853055"/>
            <a:ext cx="803021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800" dirty="0">
                <a:highlight>
                  <a:srgbClr val="FFFF00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自儿时起，他就</a:t>
            </a:r>
            <a:r>
              <a:rPr lang="zh-CN" altLang="en-US" sz="2800" dirty="0"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对</a:t>
            </a:r>
            <a:r>
              <a:rPr lang="zh-CN" altLang="en-US" sz="2800" dirty="0">
                <a:highlight>
                  <a:srgbClr val="FFFF00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其他星球上是否存在生命这个问题</a:t>
            </a:r>
            <a:r>
              <a:rPr lang="zh-CN" altLang="en-US" sz="2800" dirty="0"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很好奇</a:t>
            </a:r>
            <a:r>
              <a:rPr lang="zh-CN" altLang="en-US" sz="2800" dirty="0">
                <a:highlight>
                  <a:srgbClr val="FFFF00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。</a:t>
            </a:r>
            <a:endParaRPr lang="zh-CN" altLang="en-US" sz="2800" b="1" dirty="0">
              <a:solidFill>
                <a:prstClr val="black"/>
              </a:solidFill>
              <a:highlight>
                <a:srgbClr val="FFFF00"/>
              </a:highlight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2700020" y="332740"/>
            <a:ext cx="48171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</a:rPr>
              <a:t>激起兴趣；引起好奇心；迷住</a:t>
            </a:r>
            <a:endParaRPr lang="zh-CN" altLang="en-US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2460" y="782320"/>
            <a:ext cx="8180705" cy="11988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400" kern="0" dirty="0">
                <a:latin typeface="Helvetica"/>
                <a:sym typeface="+mn-ea"/>
              </a:rPr>
              <a:t>The children </a:t>
            </a:r>
            <a:r>
              <a:rPr lang="en-US" altLang="zh-CN" sz="2400" kern="0" dirty="0">
                <a:highlight>
                  <a:srgbClr val="00FFFF"/>
                </a:highlight>
                <a:latin typeface="Helvetica"/>
                <a:sym typeface="+mn-ea"/>
              </a:rPr>
              <a:t>were</a:t>
            </a:r>
            <a:r>
              <a:rPr lang="en-US" altLang="zh-CN" sz="2400" kern="0" dirty="0">
                <a:latin typeface="Helvetica"/>
                <a:sym typeface="+mn-ea"/>
              </a:rPr>
              <a:t> all </a:t>
            </a:r>
            <a:r>
              <a:rPr lang="en-US" altLang="zh-CN" sz="2400" kern="0" dirty="0">
                <a:highlight>
                  <a:srgbClr val="00FFFF"/>
                </a:highlight>
                <a:latin typeface="Helvetica"/>
                <a:sym typeface="+mn-ea"/>
              </a:rPr>
              <a:t>intrigued</a:t>
            </a:r>
            <a:r>
              <a:rPr lang="en-US" altLang="zh-CN" sz="2400" kern="0" dirty="0">
                <a:latin typeface="Helvetica"/>
                <a:sym typeface="+mn-ea"/>
              </a:rPr>
              <a:t> to see various animals when</a:t>
            </a:r>
            <a:endParaRPr lang="en-US" altLang="zh-CN" sz="2400" kern="0" dirty="0">
              <a:latin typeface="Helvetica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they were told that they would visit a farm in a few days.  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611505" y="1988820"/>
            <a:ext cx="8361680" cy="9531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just"/>
            <a:r>
              <a:rPr lang="zh-CN" altLang="en-US" sz="280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当孩子们得知过几天将要参观一家农场，他们都</a:t>
            </a:r>
            <a:r>
              <a:rPr lang="zh-CN" altLang="en-US" sz="2800" dirty="0"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对</a:t>
            </a:r>
            <a:r>
              <a:rPr lang="zh-CN" altLang="en-US" sz="280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看</a:t>
            </a:r>
            <a:endParaRPr lang="zh-CN" altLang="en-US" sz="2800" dirty="0"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  <a:p>
            <a:pPr algn="just"/>
            <a:r>
              <a:rPr lang="zh-CN" altLang="en-US" sz="280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各种动物</a:t>
            </a:r>
            <a:r>
              <a:rPr lang="zh-CN" altLang="en-US" sz="2800" dirty="0"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充满兴趣</a:t>
            </a:r>
            <a:r>
              <a:rPr lang="zh-CN" altLang="en-US" sz="280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。</a:t>
            </a:r>
            <a:endParaRPr lang="zh-CN" altLang="en-US" sz="2800" dirty="0"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4" name="TextBox 7"/>
          <p:cNvSpPr txBox="1"/>
          <p:nvPr/>
        </p:nvSpPr>
        <p:spPr>
          <a:xfrm>
            <a:off x="611505" y="4653280"/>
            <a:ext cx="78930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2400" kern="0" dirty="0">
                <a:latin typeface="Helvetica"/>
                <a:sym typeface="+mn-ea"/>
              </a:rPr>
              <a:t>I couldn’t help </a:t>
            </a:r>
            <a:r>
              <a:rPr lang="en-US" altLang="zh-CN" sz="2400" kern="0" dirty="0">
                <a:highlight>
                  <a:srgbClr val="00FFFF"/>
                </a:highlight>
                <a:latin typeface="Helvetica"/>
                <a:sym typeface="+mn-ea"/>
              </a:rPr>
              <a:t>feeling intrigued with</a:t>
            </a:r>
            <a:r>
              <a:rPr lang="en-US" altLang="zh-CN" sz="2400" kern="0" dirty="0">
                <a:latin typeface="Helvetica"/>
                <a:sym typeface="+mn-ea"/>
              </a:rPr>
              <a:t> his direct way of speaking.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Helvetica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83895" y="5516880"/>
            <a:ext cx="78930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800" kern="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我情不自禁地</a:t>
            </a:r>
            <a:r>
              <a:rPr lang="zh-CN" altLang="en-US" sz="2800" kern="0" dirty="0"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被</a:t>
            </a:r>
            <a:r>
              <a:rPr lang="zh-CN" altLang="en-US" sz="2800" kern="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他那种直截了当的说话方式</a:t>
            </a:r>
            <a:r>
              <a:rPr lang="zh-CN" altLang="en-US" sz="2800" kern="0" dirty="0"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吸引住了。</a:t>
            </a:r>
            <a:endParaRPr lang="zh-CN" altLang="en-US" sz="2800" kern="0" dirty="0">
              <a:solidFill>
                <a:schemeClr val="accent4">
                  <a:lumMod val="10000"/>
                </a:schemeClr>
              </a:solidFill>
              <a:highlight>
                <a:srgbClr val="00FFFF"/>
              </a:highlight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" grpId="0"/>
      <p:bldP spid="5" grpId="0"/>
      <p:bldP spid="6" grpId="0"/>
      <p:bldP spid="4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rgbClr val="99CC00">
              <a:alpha val="847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605" y="1125220"/>
            <a:ext cx="26231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4. 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symptom</a:t>
            </a:r>
            <a:r>
              <a:rPr lang="zh-CN" altLang="en-US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：</a:t>
            </a:r>
            <a:r>
              <a:rPr lang="en-US" altLang="zh-CN" sz="24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9425" y="3393440"/>
            <a:ext cx="813498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>
              <a:buNone/>
            </a:pPr>
            <a:r>
              <a:rPr lang="en-US" altLang="zh-CN" sz="2800" kern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disappearance of jobs is </a:t>
            </a:r>
            <a:r>
              <a:rPr lang="en-US" altLang="zh-CN" sz="2800" kern="0" dirty="0"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a symptom</a:t>
            </a:r>
            <a:r>
              <a:rPr lang="en-US" altLang="zh-CN" sz="2800" kern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of a deeper socioeconomic change.</a:t>
            </a:r>
            <a:endParaRPr lang="en-US" altLang="zh-CN" sz="2800" kern="0" dirty="0">
              <a:solidFill>
                <a:schemeClr val="accent4">
                  <a:lumMod val="1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1165" y="4346575"/>
            <a:ext cx="8502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0" algn="just">
              <a:buNone/>
            </a:pPr>
            <a:r>
              <a:rPr lang="zh-CN" altLang="en-US" sz="280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工作岗位减少是社会经济发生进一步变化的</a:t>
            </a:r>
            <a:r>
              <a:rPr lang="zh-CN" altLang="en-US" sz="2800" dirty="0"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一个征兆</a:t>
            </a:r>
            <a:r>
              <a:rPr lang="zh-CN" altLang="en-US" sz="280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。</a:t>
            </a:r>
            <a:endParaRPr lang="zh-CN" altLang="en-US" sz="2800" b="1" dirty="0">
              <a:solidFill>
                <a:prstClr val="black"/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2771775" y="981075"/>
            <a:ext cx="56946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1.</a:t>
            </a: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症状</a:t>
            </a:r>
            <a:endParaRPr lang="en-US" altLang="zh-CN" sz="2800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  <a:p>
            <a:pPr indent="0" algn="just">
              <a:buFont typeface="+mj-ea"/>
              <a:buNone/>
            </a:pP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2.</a:t>
            </a:r>
            <a:r>
              <a:rPr lang="zh-CN" altLang="en-US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（</a:t>
            </a: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严重问题存在的）征兆，征候</a:t>
            </a:r>
            <a:endParaRPr lang="en-US" altLang="zh-CN" sz="2800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indent="0" algn="just">
              <a:buFont typeface="+mj-ea"/>
              <a:buNone/>
            </a:pPr>
            <a:endParaRPr lang="zh-CN" altLang="en-US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7995" y="1917065"/>
            <a:ext cx="835279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>
              <a:buNone/>
            </a:pPr>
            <a:r>
              <a:rPr lang="en-US" altLang="zh-CN" sz="2800" kern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One </a:t>
            </a:r>
            <a:r>
              <a:rPr lang="en-US" altLang="zh-CN" sz="2800" kern="0" dirty="0"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prominent symptom</a:t>
            </a:r>
            <a:r>
              <a:rPr lang="en-US" altLang="zh-CN" sz="2800" kern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of the disease is progressive loss of memory.</a:t>
            </a:r>
            <a:endParaRPr lang="zh-CN" altLang="en-US" sz="2800">
              <a:latin typeface="Times New Roman" panose="02020603050405020304" charset="0"/>
              <a:ea typeface="华文新魏" panose="02010800040101010101" charset="-122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9425" y="2893695"/>
            <a:ext cx="84658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00000"/>
              </a:lnSpc>
            </a:pPr>
            <a:r>
              <a:rPr lang="zh-CN" altLang="en-US" sz="2800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这种疾病的一个</a:t>
            </a:r>
            <a:r>
              <a:rPr lang="zh-CN" altLang="en-US" sz="2800" dirty="0"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显著症状</a:t>
            </a:r>
            <a:r>
              <a:rPr lang="zh-CN" altLang="en-US" sz="2800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就是记忆逐渐丧失。</a:t>
            </a:r>
            <a:endParaRPr lang="zh-CN" altLang="en-US" sz="2800" dirty="0">
              <a:solidFill>
                <a:prstClr val="black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179705" y="121285"/>
            <a:ext cx="46609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sz="2400" b="1" kern="0">
                <a:solidFill>
                  <a:schemeClr val="accent4">
                    <a:lumMod val="10000"/>
                  </a:schemeClr>
                </a:solidFill>
                <a:highlight>
                  <a:srgbClr val="FFFF00"/>
                </a:highlight>
                <a:latin typeface="Helvetica"/>
              </a:rPr>
              <a:t>symptomatic [ˌsɪmptəˈmætɪk]</a:t>
            </a:r>
            <a:r>
              <a:rPr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</a:t>
            </a:r>
            <a:r>
              <a:rPr lang="en-US" altLang="zh-CN" sz="24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3703320" y="603250"/>
            <a:ext cx="52419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 b="1" kern="0">
                <a:solidFill>
                  <a:schemeClr val="accent4">
                    <a:lumMod val="10000"/>
                  </a:schemeClr>
                </a:solidFill>
                <a:highlight>
                  <a:srgbClr val="FFFF00"/>
                </a:highlight>
                <a:latin typeface="Helvetica"/>
              </a:rPr>
              <a:t>a</a:t>
            </a:r>
            <a:r>
              <a:rPr sz="2400" b="1" kern="0">
                <a:solidFill>
                  <a:schemeClr val="accent4">
                    <a:lumMod val="10000"/>
                  </a:schemeClr>
                </a:solidFill>
                <a:highlight>
                  <a:srgbClr val="FFFF00"/>
                </a:highlight>
                <a:latin typeface="Helvetica"/>
              </a:rPr>
              <a:t>symptomatic [ˌeɪsɪmptəˈmætɪk]</a:t>
            </a:r>
            <a:r>
              <a:rPr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</a:t>
            </a:r>
            <a:r>
              <a:rPr lang="en-US" altLang="zh-CN" sz="24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467995" y="4869815"/>
            <a:ext cx="799147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buNone/>
            </a:pPr>
            <a:r>
              <a:rPr lang="en-US" altLang="zh-CN" sz="2800" kern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rise in inflation is  </a:t>
            </a:r>
            <a:r>
              <a:rPr lang="en-US" altLang="zh-CN" sz="2800" kern="0" dirty="0"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one symptom</a:t>
            </a:r>
            <a:r>
              <a:rPr lang="en-US" altLang="zh-CN" sz="2800" kern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of the poor state of the economy.</a:t>
            </a:r>
            <a:endParaRPr lang="en-US" altLang="zh-CN" sz="2800" kern="0" dirty="0">
              <a:solidFill>
                <a:schemeClr val="accent4">
                  <a:lumMod val="1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7"/>
          <p:cNvSpPr txBox="1"/>
          <p:nvPr/>
        </p:nvSpPr>
        <p:spPr>
          <a:xfrm>
            <a:off x="479425" y="5824220"/>
            <a:ext cx="79914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buNone/>
            </a:pPr>
            <a:r>
              <a:rPr lang="zh-CN" altLang="en-US" sz="2800" kern="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通胀上升是经济不景气的</a:t>
            </a:r>
            <a:r>
              <a:rPr lang="zh-CN" altLang="en-US" sz="2800" kern="0" dirty="0"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一个征兆</a:t>
            </a:r>
            <a:r>
              <a:rPr lang="zh-CN" altLang="en-US" sz="2800" kern="0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。</a:t>
            </a:r>
            <a:endParaRPr lang="zh-CN" altLang="en-US" sz="2800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9" grpId="0"/>
      <p:bldP spid="8" grpId="0"/>
      <p:bldP spid="6" grpId="0"/>
      <p:bldP spid="4" grpId="0"/>
      <p:bldP spid="4" grpId="1"/>
      <p:bldP spid="7" grpId="0"/>
      <p:bldP spid="7" grpId="1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rgbClr val="99CC00">
              <a:alpha val="847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3850" y="260350"/>
            <a:ext cx="22631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5. 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glamor</a:t>
            </a:r>
            <a:r>
              <a:rPr lang="zh-CN" altLang="en-US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：</a:t>
            </a:r>
            <a:r>
              <a:rPr lang="en-US" altLang="zh-CN" sz="24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8815" y="3716655"/>
            <a:ext cx="7747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zh-CN" altLang="en-US" sz="2800" dirty="0" smtClean="0">
                <a:solidFill>
                  <a:prstClr val="black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他的表演充分展示了中华舞蹈的</a:t>
            </a:r>
            <a:r>
              <a:rPr lang="zh-CN" altLang="en-US" sz="2800" dirty="0" smtClean="0">
                <a:solidFill>
                  <a:prstClr val="black"/>
                </a:solidFill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无穷魅力</a:t>
            </a:r>
            <a:r>
              <a:rPr lang="zh-CN" altLang="en-US" sz="2800" dirty="0" smtClean="0">
                <a:solidFill>
                  <a:prstClr val="black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。</a:t>
            </a:r>
            <a:endParaRPr lang="en-US" altLang="zh-CN" sz="2800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1478" y="2708598"/>
            <a:ext cx="81172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kern="0" dirty="0" smtClean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His performance fully displayed the </a:t>
            </a:r>
            <a:r>
              <a:rPr lang="en-US" altLang="zh-CN" sz="2400" kern="0" dirty="0" smtClean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Helvetica"/>
                <a:sym typeface="+mn-ea"/>
              </a:rPr>
              <a:t>infinite glamor</a:t>
            </a:r>
            <a:r>
              <a:rPr lang="en-US" altLang="zh-CN" sz="2400" kern="0" dirty="0" smtClean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 of Chinese dance.</a:t>
            </a:r>
            <a:endParaRPr lang="zh-CN" altLang="en-US" sz="2400" b="1" dirty="0">
              <a:solidFill>
                <a:prstClr val="black"/>
              </a:solidFill>
              <a:highlight>
                <a:srgbClr val="FFFF00"/>
              </a:highlight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2339975" y="260350"/>
            <a:ext cx="26898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 smtClean="0">
                <a:latin typeface="华文新魏" panose="02010800040101010101" charset="-122"/>
                <a:ea typeface="华文新魏" panose="02010800040101010101" charset="-122"/>
                <a:cs typeface="华文楷体" panose="02010600040101010101" pitchFamily="2" charset="-122"/>
                <a:sym typeface="+mn-ea"/>
              </a:rPr>
              <a:t>吸引力；</a:t>
            </a:r>
            <a:r>
              <a:rPr lang="zh-CN" altLang="en-US" sz="2800" b="1" dirty="0">
                <a:latin typeface="华文新魏" panose="02010800040101010101" charset="-122"/>
                <a:ea typeface="华文新魏" panose="02010800040101010101" charset="-122"/>
                <a:cs typeface="华文楷体" panose="02010600040101010101" pitchFamily="2" charset="-122"/>
                <a:sym typeface="+mn-ea"/>
              </a:rPr>
              <a:t>魅力</a:t>
            </a:r>
            <a:endParaRPr lang="zh-CN" altLang="en-US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4045" y="836930"/>
            <a:ext cx="815276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Now that she’s a flight attendant, foreign travel has lost its </a:t>
            </a:r>
            <a:r>
              <a:rPr lang="en-US" altLang="zh-CN" sz="2400" b="1" kern="0" dirty="0">
                <a:solidFill>
                  <a:srgbClr val="0000FF"/>
                </a:solidFill>
                <a:latin typeface="Helvetica"/>
                <a:sym typeface="+mn-ea"/>
              </a:rPr>
              <a:t>glamour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 for her</a:t>
            </a:r>
            <a:r>
              <a:rPr lang="en-US" altLang="zh-CN" sz="2400" kern="0" dirty="0" smtClean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.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611505" y="1844675"/>
            <a:ext cx="8361680" cy="9531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just"/>
            <a:r>
              <a:rPr lang="zh-CN" altLang="en-US" sz="2800" dirty="0">
                <a:solidFill>
                  <a:prstClr val="black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她现在是空中乘务员了，去国外旅行对她已经失去</a:t>
            </a:r>
            <a:r>
              <a:rPr lang="zh-CN" altLang="en-US" sz="2800" dirty="0" smtClean="0">
                <a:solidFill>
                  <a:prstClr val="black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了</a:t>
            </a:r>
            <a:endParaRPr lang="en-US" altLang="zh-CN" sz="2800" dirty="0" smtClean="0">
              <a:solidFill>
                <a:prstClr val="black"/>
              </a:solidFill>
              <a:latin typeface="华文新魏" panose="02010800040101010101" charset="-122"/>
              <a:ea typeface="华文新魏" panose="02010800040101010101" charset="-122"/>
            </a:endParaRPr>
          </a:p>
          <a:p>
            <a:pPr lvl="0" algn="just"/>
            <a:r>
              <a:rPr lang="zh-CN" altLang="en-US" sz="2800" dirty="0" smtClean="0">
                <a:solidFill>
                  <a:prstClr val="black"/>
                </a:solidFill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吸引力</a:t>
            </a:r>
            <a:r>
              <a:rPr lang="zh-CN" altLang="en-US" sz="2800" dirty="0" smtClean="0">
                <a:solidFill>
                  <a:prstClr val="black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。</a:t>
            </a:r>
            <a:endParaRPr lang="zh-CN" altLang="en-US" sz="2800" dirty="0"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683895" y="4293235"/>
            <a:ext cx="72885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glamorous</a:t>
            </a:r>
            <a:r>
              <a:rPr lang="zh-CN" altLang="en-US" sz="2800" b="1" kern="0" dirty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：</a:t>
            </a:r>
            <a:r>
              <a:rPr lang="zh-CN" altLang="en-US" sz="28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极富魅力的；非常吸引人的</a:t>
            </a:r>
            <a:endParaRPr lang="en-US" altLang="zh-CN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12" name="TextBox 1"/>
          <p:cNvSpPr txBox="1"/>
          <p:nvPr/>
        </p:nvSpPr>
        <p:spPr>
          <a:xfrm>
            <a:off x="683895" y="4921250"/>
            <a:ext cx="72885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charismatic</a:t>
            </a:r>
            <a:r>
              <a:rPr lang="zh-CN" altLang="en-US" sz="2800" b="1" kern="0" dirty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：</a:t>
            </a:r>
            <a:r>
              <a:rPr lang="zh-CN" altLang="en-US" sz="28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有超凡</a:t>
            </a:r>
            <a:r>
              <a:rPr lang="zh-CN" altLang="en-US" sz="28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魅力的；有号召力的</a:t>
            </a:r>
            <a:endParaRPr lang="en-US" altLang="zh-CN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13" name="TextBox 1"/>
          <p:cNvSpPr txBox="1"/>
          <p:nvPr/>
        </p:nvSpPr>
        <p:spPr>
          <a:xfrm>
            <a:off x="755650" y="5589270"/>
            <a:ext cx="72885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charming</a:t>
            </a:r>
            <a:r>
              <a:rPr lang="zh-CN" altLang="en-US" sz="2800" b="1" kern="0" dirty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：</a:t>
            </a:r>
            <a:r>
              <a:rPr lang="en-US" altLang="zh-CN" sz="28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 </a:t>
            </a:r>
            <a:r>
              <a:rPr lang="zh-CN" altLang="en-US" sz="28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令人着迷的；吸引人的</a:t>
            </a:r>
            <a:endParaRPr lang="en-US" altLang="zh-CN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503920" y="528891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" grpId="0"/>
      <p:bldP spid="5" grpId="0"/>
      <p:bldP spid="6" grpId="0"/>
      <p:bldP spid="7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rgbClr val="99CC00">
              <a:alpha val="847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460" y="332740"/>
            <a:ext cx="32766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6. 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popularize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:</a:t>
            </a:r>
            <a:r>
              <a:rPr lang="en-US" altLang="zh-CN" sz="24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850" y="2807970"/>
            <a:ext cx="808609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en-US" altLang="zh-CN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华文楷体" panose="02010600040101010101" pitchFamily="2" charset="-122"/>
                <a:cs typeface="Times New Roman" panose="02020603050405020304" charset="0"/>
                <a:sym typeface="+mn-ea"/>
              </a:rPr>
              <a:t>Korean dramas have popularized Korean cuisine worldwide, especially dishes like kimchi.</a:t>
            </a:r>
            <a:endParaRPr lang="en-US" altLang="zh-CN" sz="2800" kern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ea typeface="华文楷体" panose="0201060004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2844165" y="188595"/>
            <a:ext cx="442214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l"/>
            <a:r>
              <a:rPr lang="en-US" altLang="zh-CN" sz="2800" kern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1.</a:t>
            </a:r>
            <a:r>
              <a:rPr lang="zh-CN" altLang="en-US" sz="2800" kern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新魏" panose="02010800040101010101" charset="-122"/>
                <a:ea typeface="华文新魏" panose="02010800040101010101" charset="-122"/>
                <a:sym typeface="+mn-ea"/>
              </a:rPr>
              <a:t>宣传；推广；使受欢迎</a:t>
            </a:r>
            <a:endParaRPr lang="zh-CN" altLang="en-US" sz="2800" b="1" kern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1460" y="1124585"/>
            <a:ext cx="8359140" cy="1210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charset="0"/>
                <a:ea typeface="华文楷体" panose="02010600040101010101" pitchFamily="2" charset="-122"/>
                <a:cs typeface="Times New Roman" panose="02020603050405020304" charset="0"/>
                <a:sym typeface="+mn-ea"/>
              </a:rPr>
              <a:t>Social media platforms likeTik Tok have </a:t>
            </a:r>
            <a:r>
              <a:rPr lang="en-US" altLang="zh-CN" sz="2800" dirty="0">
                <a:solidFill>
                  <a:srgbClr val="000000"/>
                </a:solidFill>
                <a:highlight>
                  <a:srgbClr val="00FFFF"/>
                </a:highlight>
                <a:latin typeface="Times New Roman" panose="02020603050405020304" charset="0"/>
                <a:ea typeface="华文楷体" panose="02010600040101010101" pitchFamily="2" charset="-122"/>
                <a:cs typeface="Times New Roman" panose="02020603050405020304" charset="0"/>
                <a:sym typeface="+mn-ea"/>
              </a:rPr>
              <a:t>popularized the </a:t>
            </a:r>
            <a:endParaRPr lang="en-US" altLang="zh-CN" sz="2800" dirty="0">
              <a:solidFill>
                <a:srgbClr val="000000"/>
              </a:solidFill>
              <a:highlight>
                <a:srgbClr val="00FFFF"/>
              </a:highlight>
              <a:latin typeface="Times New Roman" panose="02020603050405020304" charset="0"/>
              <a:ea typeface="华文楷体" panose="0201060004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solidFill>
                  <a:srgbClr val="000000"/>
                </a:solidFill>
                <a:highlight>
                  <a:srgbClr val="00FFFF"/>
                </a:highlight>
                <a:latin typeface="Times New Roman" panose="02020603050405020304" charset="0"/>
                <a:ea typeface="华文楷体" panose="02010600040101010101" pitchFamily="2" charset="-122"/>
                <a:cs typeface="Times New Roman" panose="02020603050405020304" charset="0"/>
                <a:sym typeface="+mn-ea"/>
              </a:rPr>
              <a:t>short-form video content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charset="0"/>
                <a:ea typeface="华文楷体" panose="02010600040101010101" pitchFamily="2" charset="-122"/>
                <a:cs typeface="Times New Roman" panose="02020603050405020304" charset="0"/>
                <a:sym typeface="+mn-ea"/>
              </a:rPr>
              <a:t>   . </a:t>
            </a:r>
            <a:endParaRPr lang="zh-CN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1460" y="2348865"/>
            <a:ext cx="8320405" cy="52197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pPr algn="just"/>
            <a:r>
              <a:rPr lang="zh-CN" altLang="en-US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新魏" panose="02010800040101010101" charset="-122"/>
                <a:ea typeface="华文新魏" panose="02010800040101010101" charset="-122"/>
                <a:sym typeface="+mn-ea"/>
              </a:rPr>
              <a:t>抖音等社交媒体平台让短视频内容流行起来。</a:t>
            </a:r>
            <a:endParaRPr lang="zh-CN" altLang="en-US" sz="2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2844165" y="692785"/>
            <a:ext cx="519049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l"/>
            <a:r>
              <a:rPr lang="en-US" altLang="zh-CN" sz="2800" kern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2.</a:t>
            </a:r>
            <a:r>
              <a:rPr lang="zh-CN" altLang="en-US" sz="2800" kern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使通俗化；使大众化；使易懂</a:t>
            </a:r>
            <a:endParaRPr lang="zh-CN" altLang="en-US" sz="2800" b="1" kern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23125" y="56388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1" name="TextBox 8"/>
          <p:cNvSpPr txBox="1"/>
          <p:nvPr/>
        </p:nvSpPr>
        <p:spPr>
          <a:xfrm>
            <a:off x="467995" y="4288155"/>
            <a:ext cx="79051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zh-CN" altLang="en-US" sz="2800" b="1" dirty="0">
                <a:highlight>
                  <a:srgbClr val="FFFF00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为建设生态文明，必须</a:t>
            </a:r>
            <a:r>
              <a:rPr lang="zh-CN" altLang="en-US" sz="2800" b="1" dirty="0"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普及生态学知识</a:t>
            </a:r>
            <a:r>
              <a:rPr lang="zh-CN" altLang="en-US" sz="2800" b="1" dirty="0">
                <a:highlight>
                  <a:srgbClr val="FFFF00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，树立生态价值观。</a:t>
            </a:r>
            <a:endParaRPr lang="zh-CN" altLang="en-US" sz="2800" b="1" dirty="0">
              <a:solidFill>
                <a:prstClr val="black"/>
              </a:solidFill>
              <a:highlight>
                <a:srgbClr val="FFFF00"/>
              </a:highlight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12" name="TextBox 7"/>
          <p:cNvSpPr txBox="1"/>
          <p:nvPr/>
        </p:nvSpPr>
        <p:spPr>
          <a:xfrm>
            <a:off x="524510" y="5156835"/>
            <a:ext cx="808609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None/>
            </a:pPr>
            <a:r>
              <a:rPr lang="en-US" altLang="zh-CN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华文楷体" panose="02010600040101010101" pitchFamily="2" charset="-122"/>
                <a:cs typeface="Times New Roman" panose="02020603050405020304" charset="0"/>
                <a:sym typeface="+mn-ea"/>
              </a:rPr>
              <a:t>To build eco-civilization, we must 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FF"/>
                </a:highlight>
                <a:latin typeface="Times New Roman" panose="02020603050405020304" charset="0"/>
                <a:ea typeface="华文楷体" panose="02010600040101010101" pitchFamily="2" charset="-122"/>
                <a:cs typeface="Times New Roman" panose="02020603050405020304" charset="0"/>
                <a:sym typeface="+mn-ea"/>
              </a:rPr>
              <a:t>popularize ecological knowledge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华文楷体" panose="02010600040101010101" pitchFamily="2" charset="-122"/>
                <a:cs typeface="Times New Roman" panose="02020603050405020304" charset="0"/>
                <a:sym typeface="+mn-ea"/>
              </a:rPr>
              <a:t> and set up ecological value.</a:t>
            </a:r>
            <a:endParaRPr lang="en-US" altLang="zh-CN" sz="2800" kern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ea typeface="华文楷体" panose="0201060004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808855" y="665861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23850" y="3716655"/>
            <a:ext cx="8320405" cy="52197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pPr algn="just"/>
            <a:r>
              <a:rPr lang="zh-CN" altLang="en-US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新魏" panose="02010800040101010101" charset="-122"/>
                <a:ea typeface="华文新魏" panose="02010800040101010101" charset="-122"/>
                <a:sym typeface="+mn-ea"/>
              </a:rPr>
              <a:t>韩剧在全球推广了韩国料理，尤其是泡菜等菜肴。</a:t>
            </a:r>
            <a:endParaRPr lang="zh-CN" altLang="en-US" sz="2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15" name="TextBox 7"/>
          <p:cNvSpPr txBox="1"/>
          <p:nvPr/>
        </p:nvSpPr>
        <p:spPr>
          <a:xfrm>
            <a:off x="395605" y="6071870"/>
            <a:ext cx="80860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None/>
            </a:pPr>
            <a:r>
              <a:rPr lang="en-US" altLang="zh-CN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华文楷体" panose="02010600040101010101" pitchFamily="2" charset="-122"/>
                <a:cs typeface="Times New Roman" panose="02020603050405020304" charset="0"/>
                <a:sym typeface="+mn-ea"/>
              </a:rPr>
              <a:t>Smartphones 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FF"/>
                </a:highlight>
                <a:latin typeface="Times New Roman" panose="02020603050405020304" charset="0"/>
                <a:ea typeface="华文楷体" panose="02010600040101010101" pitchFamily="2" charset="-122"/>
                <a:cs typeface="Times New Roman" panose="02020603050405020304" charset="0"/>
                <a:sym typeface="+mn-ea"/>
              </a:rPr>
              <a:t>are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华文楷体" panose="02010600040101010101" pitchFamily="2" charset="-122"/>
                <a:cs typeface="Times New Roman" panose="02020603050405020304" charset="0"/>
                <a:sym typeface="+mn-ea"/>
              </a:rPr>
              <a:t> now unquestionably 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FF"/>
                </a:highlight>
                <a:latin typeface="Times New Roman" panose="02020603050405020304" charset="0"/>
                <a:ea typeface="华文楷体" panose="02010600040101010101" pitchFamily="2" charset="-122"/>
                <a:cs typeface="Times New Roman" panose="02020603050405020304" charset="0"/>
                <a:sym typeface="+mn-ea"/>
              </a:rPr>
              <a:t>popularized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华文楷体" panose="02010600040101010101" pitchFamily="2" charset="-122"/>
                <a:cs typeface="Times New Roman" panose="02020603050405020304" charset="0"/>
                <a:sym typeface="+mn-ea"/>
              </a:rPr>
              <a:t>.</a:t>
            </a:r>
            <a:endParaRPr lang="en-US" altLang="zh-CN" sz="2800" kern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ea typeface="华文楷体" panose="0201060004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  <p:bldP spid="6" grpId="0"/>
      <p:bldP spid="4" grpId="0"/>
      <p:bldP spid="11" grpId="0"/>
      <p:bldP spid="12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rgbClr val="99CC00">
              <a:alpha val="847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7360" y="260350"/>
            <a:ext cx="22631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7. 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authentic</a:t>
            </a:r>
            <a:r>
              <a:rPr lang="zh-CN" altLang="en-US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：</a:t>
            </a:r>
            <a:r>
              <a:rPr lang="en-US" altLang="zh-CN" sz="24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0250" y="2420620"/>
            <a:ext cx="77273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It is crucial that all documents presented are </a:t>
            </a: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authentic</a:t>
            </a: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and easily verifiable</a:t>
            </a:r>
            <a:r>
              <a:rPr lang="en-US" altLang="zh-CN" sz="2800" kern="0" dirty="0" smtClean="0">
                <a:solidFill>
                  <a:schemeClr val="accent4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lang="en-US" altLang="zh-CN" sz="2800" kern="0" dirty="0">
              <a:solidFill>
                <a:schemeClr val="accent4">
                  <a:lumMod val="1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2771775" y="121285"/>
            <a:ext cx="30899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 dirty="0" err="1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1.</a:t>
            </a:r>
            <a:r>
              <a:rPr lang="zh-CN" altLang="en-US" sz="2800" b="1" kern="0" dirty="0" err="1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可靠的，真实的</a:t>
            </a:r>
            <a:r>
              <a:rPr lang="en-US" altLang="zh-CN" sz="2800" kern="0" dirty="0" err="1" smtClean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</a:t>
            </a:r>
            <a:endParaRPr lang="zh-CN" altLang="en-US" sz="2800" b="1" kern="0" dirty="0" err="1" smtClean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3895" y="836930"/>
            <a:ext cx="8111490" cy="10814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I had obtained the </a:t>
            </a:r>
            <a:r>
              <a:rPr lang="en-US" sz="2800"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</a:rPr>
              <a:t>authentic details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 about the birth of the organization.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5650" y="1917065"/>
            <a:ext cx="77927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zh-CN" sz="2800" b="1" dirty="0" smtClean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我已经掌握了该组织诞生的</a:t>
            </a:r>
            <a:r>
              <a:rPr lang="zh-CN" sz="2800" b="1" dirty="0" smtClean="0"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可靠详细资料</a:t>
            </a:r>
            <a:r>
              <a:rPr lang="zh-CN" altLang="en-US" sz="2800" b="1" kern="0" dirty="0" smtClean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。</a:t>
            </a:r>
            <a:endParaRPr lang="zh-CN" altLang="en-US" sz="2800" b="1" dirty="0"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2700020" y="548640"/>
            <a:ext cx="30899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 b="1" kern="0" dirty="0" err="1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2.</a:t>
            </a:r>
            <a:r>
              <a:rPr lang="zh-CN" altLang="en-US" sz="2800" b="1" kern="0" dirty="0" err="1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正宗的；地道的</a:t>
            </a:r>
            <a:r>
              <a:rPr lang="en-US" altLang="zh-CN" sz="2800" kern="0" dirty="0" err="1" smtClean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</a:t>
            </a:r>
            <a:endParaRPr lang="zh-CN" altLang="en-US" sz="2800" b="1" kern="0" dirty="0" err="1" smtClean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821055" y="3357245"/>
            <a:ext cx="77273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8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所有提交的文件必须</a:t>
            </a:r>
            <a:r>
              <a:rPr lang="zh-CN" altLang="en-US" sz="2800" b="1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真实</a:t>
            </a:r>
            <a:r>
              <a:rPr lang="zh-CN" altLang="en-US" sz="28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且易于查证，这一点很关键。</a:t>
            </a:r>
            <a:endParaRPr lang="zh-CN" altLang="en-US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12" name="TextBox 7"/>
          <p:cNvSpPr txBox="1"/>
          <p:nvPr/>
        </p:nvSpPr>
        <p:spPr>
          <a:xfrm>
            <a:off x="755650" y="4293235"/>
            <a:ext cx="772731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Times New Roman" panose="02020603050405020304" charset="0"/>
                <a:ea typeface="华文新魏" panose="02010800040101010101" charset="-122"/>
                <a:cs typeface="Times New Roman" panose="02020603050405020304" charset="0"/>
                <a:sym typeface="+mn-ea"/>
              </a:rPr>
              <a:t>They plan to create a website to showcase </a:t>
            </a: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Times New Roman" panose="02020603050405020304" charset="0"/>
                <a:ea typeface="华文新魏" panose="02010800040101010101" charset="-122"/>
                <a:cs typeface="Times New Roman" panose="02020603050405020304" charset="0"/>
                <a:sym typeface="+mn-ea"/>
              </a:rPr>
              <a:t>authentic</a:t>
            </a: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Times New Roman" panose="02020603050405020304" charset="0"/>
                <a:ea typeface="华文新魏" panose="02010800040101010101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Times New Roman" panose="02020603050405020304" charset="0"/>
                <a:ea typeface="华文新魏" panose="02010800040101010101" charset="-122"/>
                <a:cs typeface="Times New Roman" panose="02020603050405020304" charset="0"/>
                <a:sym typeface="+mn-ea"/>
              </a:rPr>
              <a:t>Chinese cuisine</a:t>
            </a: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Times New Roman" panose="02020603050405020304" charset="0"/>
                <a:ea typeface="华文新魏" panose="02010800040101010101" charset="-122"/>
                <a:cs typeface="Times New Roman" panose="02020603050405020304" charset="0"/>
                <a:sym typeface="+mn-ea"/>
              </a:rPr>
              <a:t> and introduce the rich food culture and traditions of China.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</a:t>
            </a:r>
            <a:endParaRPr lang="en-US" altLang="zh-CN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755650" y="5589270"/>
            <a:ext cx="77273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8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他们打算创建一个网站来展示</a:t>
            </a:r>
            <a:r>
              <a:rPr lang="zh-CN" altLang="en-US" sz="2800" b="1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正宗的中国美食</a:t>
            </a:r>
            <a:r>
              <a:rPr lang="zh-CN" altLang="en-US" sz="28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，并介绍中国丰富的饮食文化和传统。</a:t>
            </a:r>
            <a:endParaRPr lang="zh-CN" altLang="en-US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5" grpId="0"/>
      <p:bldP spid="6" grpId="0"/>
      <p:bldP spid="7" grpId="0"/>
      <p:bldP spid="11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rgbClr val="99CC00">
              <a:alpha val="847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7360" y="260350"/>
            <a:ext cx="29381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8. 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tentative</a:t>
            </a:r>
            <a:r>
              <a:rPr lang="zh-CN" altLang="en-US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：</a:t>
            </a:r>
            <a:r>
              <a:rPr lang="en-US" altLang="zh-CN" sz="24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3895" y="3119120"/>
            <a:ext cx="7766685" cy="851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She asked me 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in a tentative voice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whether I could lend her the book for a few days.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3350895" y="116840"/>
            <a:ext cx="55524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 dirty="0" err="1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1.</a:t>
            </a:r>
            <a:r>
              <a:rPr lang="zh-CN" altLang="en-US" sz="2800" b="1" kern="0" dirty="0" err="1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不确定</a:t>
            </a:r>
            <a:r>
              <a:rPr lang="zh-CN" altLang="en-US" sz="2800" b="1" kern="0" dirty="0" err="1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的；试探性的；暂定的</a:t>
            </a:r>
            <a:r>
              <a:rPr lang="en-US" altLang="zh-CN" sz="2800" kern="0" dirty="0" err="1" smtClean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</a:t>
            </a:r>
            <a:endParaRPr lang="zh-CN" altLang="en-US" sz="2800" b="1" kern="0" dirty="0" err="1" smtClean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3895" y="836930"/>
            <a:ext cx="8111490" cy="1364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We believe that these </a:t>
            </a:r>
            <a:r>
              <a:rPr lang="en-US" sz="2400"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</a:rPr>
              <a:t>tentative steps </a:t>
            </a: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to simplify trade procedures  will open up opportunities for wider cooperation between the two countries.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3260" y="2195830"/>
            <a:ext cx="779272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zh-CN" sz="2400" b="1" dirty="0" smtClean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我们相信这些简化贸易流程的</a:t>
            </a:r>
            <a:r>
              <a:rPr lang="zh-CN" sz="2400" b="1" dirty="0" smtClean="0"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试行措施</a:t>
            </a:r>
            <a:r>
              <a:rPr lang="zh-CN" sz="2400" b="1" dirty="0" smtClean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将为两国之间更广泛的合作创造机遇。</a:t>
            </a:r>
            <a:endParaRPr lang="zh-CN" altLang="en-US" sz="2400" b="1" dirty="0"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3347720" y="548640"/>
            <a:ext cx="52584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 b="1" kern="0" dirty="0" err="1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2.</a:t>
            </a:r>
            <a:r>
              <a:rPr lang="zh-CN" altLang="en-US" sz="2800" b="1" kern="0" dirty="0" err="1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不自信</a:t>
            </a:r>
            <a:r>
              <a:rPr lang="zh-CN" altLang="en-US" sz="2800" b="1" kern="0" dirty="0" err="1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的</a:t>
            </a:r>
            <a:r>
              <a:rPr lang="zh-CN" altLang="en-US" sz="2800" b="1" kern="0" dirty="0" err="1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；踌躇的；犹豫的</a:t>
            </a:r>
            <a:r>
              <a:rPr lang="en-US" altLang="zh-CN" sz="2800" kern="0" dirty="0" err="1" smtClean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</a:t>
            </a:r>
            <a:endParaRPr lang="zh-CN" altLang="en-US" sz="2800" b="1" kern="0" dirty="0" err="1" smtClean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755650" y="3933190"/>
            <a:ext cx="7902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她</a:t>
            </a:r>
            <a:r>
              <a:rPr lang="zh-CN" altLang="en-US" sz="24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用试探性的语气问我能不能把这本书借给她几天。</a:t>
            </a:r>
            <a:endParaRPr lang="zh-CN" altLang="en-US" sz="24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12" name="TextBox 7"/>
          <p:cNvSpPr txBox="1"/>
          <p:nvPr/>
        </p:nvSpPr>
        <p:spPr>
          <a:xfrm>
            <a:off x="755650" y="4364990"/>
            <a:ext cx="77273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Times New Roman" panose="02020603050405020304" charset="0"/>
                <a:ea typeface="华文新魏" panose="02010800040101010101" charset="-122"/>
                <a:cs typeface="Times New Roman" panose="02020603050405020304" charset="0"/>
                <a:sym typeface="+mn-ea"/>
              </a:rPr>
              <a:t>My first attempt at complaining was rather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Times New Roman" panose="02020603050405020304" charset="0"/>
                <a:ea typeface="华文新魏" panose="02010800040101010101" charset="-122"/>
                <a:cs typeface="Times New Roman" panose="02020603050405020304" charset="0"/>
                <a:sym typeface="+mn-ea"/>
              </a:rPr>
              <a:t> tentative.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Times New Roman" panose="02020603050405020304" charset="0"/>
                <a:ea typeface="华文新魏" panose="02010800040101010101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Times New Roman" panose="02020603050405020304" charset="0"/>
                <a:ea typeface="华文新魏" panose="02010800040101010101" charset="-122"/>
                <a:cs typeface="Times New Roman" panose="02020603050405020304" charset="0"/>
                <a:sym typeface="+mn-ea"/>
              </a:rPr>
              <a:t>  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</a:t>
            </a:r>
            <a:endParaRPr lang="en-US" altLang="zh-CN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755650" y="4818380"/>
            <a:ext cx="7746365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zh-CN" altLang="en-US" sz="24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我刚开始投诉时很</a:t>
            </a:r>
            <a:r>
              <a:rPr lang="zh-CN" altLang="en-US" sz="24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犹豫不决。</a:t>
            </a:r>
            <a:endParaRPr lang="zh-CN" altLang="en-US" sz="24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755650" y="5401310"/>
            <a:ext cx="77273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我们</a:t>
            </a:r>
            <a:r>
              <a:rPr lang="zh-CN" altLang="en-US" sz="2400" b="1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暂定</a:t>
            </a:r>
            <a:r>
              <a:rPr lang="zh-CN" altLang="en-US" sz="24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星期五见面。</a:t>
            </a:r>
            <a:endParaRPr lang="zh-CN" altLang="en-US" sz="24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14" name="TextBox 7"/>
          <p:cNvSpPr txBox="1"/>
          <p:nvPr/>
        </p:nvSpPr>
        <p:spPr>
          <a:xfrm>
            <a:off x="827405" y="5773420"/>
            <a:ext cx="77273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Times New Roman" panose="02020603050405020304" charset="0"/>
                <a:ea typeface="华文新魏" panose="02010800040101010101" charset="-122"/>
                <a:cs typeface="Times New Roman" panose="02020603050405020304" charset="0"/>
                <a:sym typeface="+mn-ea"/>
              </a:rPr>
              <a:t>We 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Times New Roman" panose="02020603050405020304" charset="0"/>
                <a:ea typeface="华文新魏" panose="02010800040101010101" charset="-122"/>
                <a:cs typeface="Times New Roman" panose="02020603050405020304" charset="0"/>
                <a:sym typeface="+mn-ea"/>
              </a:rPr>
              <a:t>made a tentative arrangement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Times New Roman" panose="02020603050405020304" charset="0"/>
                <a:ea typeface="华文新魏" panose="02010800040101010101" charset="-122"/>
                <a:cs typeface="Times New Roman" panose="02020603050405020304" charset="0"/>
                <a:sym typeface="+mn-ea"/>
              </a:rPr>
              <a:t> to meet on Friday. </a:t>
            </a: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Times New Roman" panose="02020603050405020304" charset="0"/>
                <a:ea typeface="华文新魏" panose="02010800040101010101" charset="-122"/>
                <a:cs typeface="Times New Roman" panose="02020603050405020304" charset="0"/>
                <a:sym typeface="+mn-ea"/>
              </a:rPr>
              <a:t>  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</a:t>
            </a:r>
            <a:endParaRPr lang="en-US" altLang="zh-CN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5" grpId="0"/>
      <p:bldP spid="6" grpId="0"/>
      <p:bldP spid="7" grpId="0"/>
      <p:bldP spid="11" grpId="0"/>
      <p:bldP spid="12" grpId="0"/>
      <p:bldP spid="13" grpId="0"/>
      <p:bldP spid="9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rgbClr val="99CC00">
              <a:alpha val="847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7360" y="260350"/>
            <a:ext cx="29381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9. 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diffuse</a:t>
            </a:r>
            <a:r>
              <a:rPr lang="zh-CN" altLang="en-US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：</a:t>
            </a:r>
            <a:r>
              <a:rPr lang="en-US" altLang="zh-CN" sz="24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3350895" y="116840"/>
            <a:ext cx="51974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 dirty="0" err="1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1.</a:t>
            </a:r>
            <a:r>
              <a:rPr lang="zh-CN" altLang="en-US" sz="2800" b="1" kern="0" dirty="0" err="1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扩散；渗透；弥漫</a:t>
            </a:r>
            <a:r>
              <a:rPr lang="en-US" altLang="zh-CN" sz="2800" kern="0" dirty="0" err="1" smtClean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</a:t>
            </a:r>
            <a:endParaRPr lang="zh-CN" altLang="en-US" sz="2800" b="1" kern="0" dirty="0" err="1" smtClean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3260" y="916305"/>
            <a:ext cx="8111490" cy="9398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She was preparing a medicine for her husband, and </a:t>
            </a:r>
            <a:r>
              <a:rPr lang="en-US" sz="2400"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</a:rPr>
              <a:t>the bitter smell of the herbs diffused </a:t>
            </a: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throughout the kitchen.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5650" y="1856105"/>
            <a:ext cx="77927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zh-CN" sz="2400" b="1" dirty="0" smtClean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她正在为她丈夫煎药，整个厨房</a:t>
            </a:r>
            <a:r>
              <a:rPr lang="zh-CN" sz="2400" b="1" dirty="0" smtClean="0"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弥散着草药的苦味</a:t>
            </a:r>
            <a:r>
              <a:rPr lang="zh-CN" altLang="en-US" sz="2400" b="1" kern="0" dirty="0" smtClean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。</a:t>
            </a:r>
            <a:endParaRPr lang="zh-CN" altLang="en-US" sz="2400" b="1" dirty="0"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3347720" y="548640"/>
            <a:ext cx="52584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 b="1" kern="0" dirty="0" err="1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2.</a:t>
            </a:r>
            <a:r>
              <a:rPr lang="zh-CN" altLang="en-US" sz="2800" b="1" kern="0" dirty="0" err="1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传播；散播</a:t>
            </a:r>
            <a:r>
              <a:rPr lang="en-US" altLang="zh-CN" sz="2800" kern="0" dirty="0" err="1" smtClean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</a:t>
            </a:r>
            <a:endParaRPr lang="zh-CN" altLang="en-US" sz="2800" b="1" kern="0" dirty="0" err="1" smtClean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73405" y="2446655"/>
            <a:ext cx="790257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 kern="0" dirty="0">
                <a:solidFill>
                  <a:schemeClr val="accent4">
                    <a:lumMod val="10000"/>
                  </a:schemeClr>
                </a:solidFill>
                <a:highlight>
                  <a:srgbClr val="FFFF00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该平台旨在利用数字技术</a:t>
            </a:r>
            <a:r>
              <a:rPr lang="zh-CN" altLang="en-US" sz="2400" b="1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传播</a:t>
            </a:r>
            <a:r>
              <a:rPr lang="zh-CN" altLang="en-US" sz="2400" b="1" kern="0" dirty="0">
                <a:solidFill>
                  <a:schemeClr val="accent4">
                    <a:lumMod val="10000"/>
                  </a:schemeClr>
                </a:solidFill>
                <a:highlight>
                  <a:srgbClr val="FFFF00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有关可持续发展和与自然和谐相处的生活方式</a:t>
            </a:r>
            <a:r>
              <a:rPr lang="zh-CN" altLang="en-US" sz="2400" b="1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知识</a:t>
            </a:r>
            <a:r>
              <a:rPr lang="zh-CN" altLang="en-US" sz="2400" b="1" kern="0" dirty="0">
                <a:solidFill>
                  <a:schemeClr val="accent4">
                    <a:lumMod val="10000"/>
                  </a:schemeClr>
                </a:solidFill>
                <a:highlight>
                  <a:srgbClr val="FFFF00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。</a:t>
            </a:r>
            <a:endParaRPr lang="zh-CN" altLang="en-US" sz="2400" b="1" kern="0" dirty="0">
              <a:solidFill>
                <a:schemeClr val="accent4">
                  <a:lumMod val="10000"/>
                </a:schemeClr>
              </a:solidFill>
              <a:highlight>
                <a:srgbClr val="FFFF00"/>
              </a:highlight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12" name="TextBox 7"/>
          <p:cNvSpPr txBox="1"/>
          <p:nvPr/>
        </p:nvSpPr>
        <p:spPr>
          <a:xfrm>
            <a:off x="683260" y="3348355"/>
            <a:ext cx="7727315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Times New Roman" panose="02020603050405020304" charset="0"/>
                <a:ea typeface="华文新魏" panose="02010800040101010101" charset="-122"/>
                <a:cs typeface="Times New Roman" panose="02020603050405020304" charset="0"/>
                <a:sym typeface="+mn-ea"/>
              </a:rPr>
              <a:t>This platform aims to use digital technology to 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Times New Roman" panose="02020603050405020304" charset="0"/>
                <a:ea typeface="华文新魏" panose="02010800040101010101" charset="-122"/>
                <a:cs typeface="Times New Roman" panose="02020603050405020304" charset="0"/>
                <a:sym typeface="+mn-ea"/>
              </a:rPr>
              <a:t>diffuse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Times New Roman" panose="02020603050405020304" charset="0"/>
                <a:ea typeface="华文新魏" panose="02010800040101010101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Times New Roman" panose="02020603050405020304" charset="0"/>
                <a:ea typeface="华文新魏" panose="02010800040101010101" charset="-122"/>
                <a:cs typeface="Times New Roman" panose="02020603050405020304" charset="0"/>
                <a:sym typeface="+mn-ea"/>
              </a:rPr>
              <a:t>knowledge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Times New Roman" panose="02020603050405020304" charset="0"/>
                <a:ea typeface="华文新魏" panose="02010800040101010101" charset="-122"/>
                <a:cs typeface="Times New Roman" panose="02020603050405020304" charset="0"/>
                <a:sym typeface="+mn-ea"/>
              </a:rPr>
              <a:t> about sustainable development and lifestyles in harmony with nature.</a:t>
            </a: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Times New Roman" panose="02020603050405020304" charset="0"/>
                <a:ea typeface="华文新魏" panose="02010800040101010101" charset="-122"/>
                <a:cs typeface="Times New Roman" panose="02020603050405020304" charset="0"/>
                <a:sym typeface="+mn-ea"/>
              </a:rPr>
              <a:t>  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</a:t>
            </a:r>
            <a:endParaRPr lang="en-US" altLang="zh-CN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683895" y="5589270"/>
            <a:ext cx="77273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谣言在社交媒体上迅速</a:t>
            </a:r>
            <a:r>
              <a:rPr lang="zh-CN" altLang="en-US" sz="2400" b="1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扩散，</a:t>
            </a:r>
            <a:r>
              <a:rPr lang="zh-CN" altLang="en-US" sz="24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引发了不必要的恐慌。</a:t>
            </a:r>
            <a:endParaRPr lang="zh-CN" altLang="en-US" sz="24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4" name="TextBox 7"/>
          <p:cNvSpPr txBox="1"/>
          <p:nvPr/>
        </p:nvSpPr>
        <p:spPr>
          <a:xfrm>
            <a:off x="748665" y="4653280"/>
            <a:ext cx="7727315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Times New Roman" panose="02020603050405020304" charset="0"/>
                <a:ea typeface="华文新魏" panose="02010800040101010101" charset="-122"/>
                <a:cs typeface="Times New Roman" panose="02020603050405020304" charset="0"/>
                <a:sym typeface="+mn-ea"/>
              </a:rPr>
              <a:t>Rumors diffused rapidly on social media, causing unnecessary panic.</a:t>
            </a: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Times New Roman" panose="02020603050405020304" charset="0"/>
                <a:ea typeface="华文新魏" panose="02010800040101010101" charset="-122"/>
                <a:cs typeface="Times New Roman" panose="02020603050405020304" charset="0"/>
                <a:sym typeface="+mn-ea"/>
              </a:rPr>
              <a:t>  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</a:t>
            </a:r>
            <a:endParaRPr lang="en-US" altLang="zh-CN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11" grpId="0"/>
      <p:bldP spid="12" grpId="0"/>
      <p:bldP spid="1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rgbClr val="99CC00">
              <a:alpha val="847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7360" y="260350"/>
            <a:ext cx="29381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10. 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Helvetica"/>
                <a:sym typeface="+mn-ea"/>
              </a:rPr>
              <a:t>consistent</a:t>
            </a:r>
            <a:r>
              <a:rPr lang="zh-CN" altLang="en-US" sz="28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：</a:t>
            </a:r>
            <a:r>
              <a:rPr lang="en-US" altLang="zh-CN" sz="2400" b="1" kern="0">
                <a:solidFill>
                  <a:schemeClr val="accent4">
                    <a:lumMod val="10000"/>
                  </a:schemeClr>
                </a:solidFill>
                <a:latin typeface="Helvetica"/>
              </a:rPr>
              <a:t> 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1995" y="2853055"/>
            <a:ext cx="77539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 person who proves to 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be consistent in everything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he declares about himself is regarded as authentic and can therefore be trusted. </a:t>
            </a:r>
            <a:endParaRPr lang="en-US" altLang="zh-CN" sz="2400" kern="0" dirty="0">
              <a:solidFill>
                <a:schemeClr val="accent4">
                  <a:lumMod val="1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3350895" y="116840"/>
            <a:ext cx="51974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kern="0" dirty="0" err="1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1.</a:t>
            </a:r>
            <a:r>
              <a:rPr lang="zh-CN" altLang="en-US" sz="2800" b="1" kern="0" dirty="0" err="1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一贯的；坚持的；始终如一的</a:t>
            </a:r>
            <a:r>
              <a:rPr lang="en-US" altLang="zh-CN" sz="2800" kern="0" dirty="0" err="1" smtClean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</a:t>
            </a:r>
            <a:endParaRPr lang="zh-CN" altLang="en-US" sz="2800" b="1" kern="0" dirty="0" err="1" smtClean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3895" y="836930"/>
            <a:ext cx="8111490" cy="1364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The management team is committed to </a:t>
            </a:r>
            <a:r>
              <a:rPr lang="en-US" sz="2400"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</a:rPr>
              <a:t>consistent improvement </a:t>
            </a: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and always welcomes new ideas and feedback from employees and clients.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3260" y="2132965"/>
            <a:ext cx="779272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zh-CN" sz="2400" b="1" dirty="0" smtClean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管理团队致力于</a:t>
            </a:r>
            <a:r>
              <a:rPr lang="zh-CN" sz="2400" b="1" dirty="0" smtClean="0"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持续的改进</a:t>
            </a:r>
            <a:r>
              <a:rPr lang="zh-CN" sz="2400" b="1" dirty="0" smtClean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，并随时欢迎员工及客户提出新想法和反馈</a:t>
            </a:r>
            <a:r>
              <a:rPr lang="zh-CN" altLang="en-US" sz="2400" b="1" kern="0" dirty="0" smtClean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。</a:t>
            </a:r>
            <a:endParaRPr lang="zh-CN" altLang="en-US" sz="2400" b="1" dirty="0"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3347720" y="548640"/>
            <a:ext cx="52584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 b="1" kern="0" dirty="0" err="1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2.</a:t>
            </a:r>
            <a:r>
              <a:rPr lang="zh-CN" altLang="en-US" sz="2800" b="1" kern="0" dirty="0" err="1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一致的</a:t>
            </a:r>
            <a:r>
              <a:rPr lang="zh-CN" altLang="en-US" sz="2800" b="1" kern="0" dirty="0" err="1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；吻合的；符合的</a:t>
            </a:r>
            <a:r>
              <a:rPr lang="en-US" altLang="zh-CN" sz="2800" kern="0" dirty="0" err="1" smtClean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</a:t>
            </a:r>
            <a:endParaRPr lang="zh-CN" altLang="en-US" sz="2800" b="1" kern="0" dirty="0" err="1" smtClean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755650" y="4004945"/>
            <a:ext cx="790257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一个人如果被证明与他自己所宣称的</a:t>
            </a:r>
            <a:r>
              <a:rPr lang="zh-CN" altLang="en-US" sz="2400" b="1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所有方面都表现一致</a:t>
            </a:r>
            <a:r>
              <a:rPr lang="zh-CN" altLang="en-US" sz="24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，那他就是真实可靠的，因而也是值得信赖的。</a:t>
            </a:r>
            <a:endParaRPr lang="zh-CN" altLang="en-US" sz="24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12" name="TextBox 7"/>
          <p:cNvSpPr txBox="1"/>
          <p:nvPr/>
        </p:nvSpPr>
        <p:spPr>
          <a:xfrm>
            <a:off x="748665" y="4725035"/>
            <a:ext cx="7727315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Times New Roman" panose="02020603050405020304" charset="0"/>
                <a:ea typeface="华文新魏" panose="02010800040101010101" charset="-122"/>
                <a:cs typeface="Times New Roman" panose="02020603050405020304" charset="0"/>
                <a:sym typeface="+mn-ea"/>
              </a:rPr>
              <a:t>Like climbing a staircase, we must 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Times New Roman" panose="02020603050405020304" charset="0"/>
                <a:ea typeface="华文新魏" panose="02010800040101010101" charset="-122"/>
                <a:cs typeface="Times New Roman" panose="02020603050405020304" charset="0"/>
                <a:sym typeface="+mn-ea"/>
              </a:rPr>
              <a:t>do it carefully and consistently </a:t>
            </a:r>
            <a:r>
              <a:rPr lang="en-US" altLang="zh-CN" sz="2400" kern="0" dirty="0">
                <a:solidFill>
                  <a:schemeClr val="accent4">
                    <a:lumMod val="10000"/>
                  </a:schemeClr>
                </a:solidFill>
                <a:latin typeface="Times New Roman" panose="02020603050405020304" charset="0"/>
                <a:ea typeface="华文新魏" panose="02010800040101010101" charset="-122"/>
                <a:cs typeface="Times New Roman" panose="02020603050405020304" charset="0"/>
                <a:sym typeface="+mn-ea"/>
              </a:rPr>
              <a:t>if we are to reach our goal and prevent a global food crisis. </a:t>
            </a: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Times New Roman" panose="02020603050405020304" charset="0"/>
                <a:ea typeface="华文新魏" panose="02010800040101010101" charset="-122"/>
                <a:cs typeface="Times New Roman" panose="02020603050405020304" charset="0"/>
                <a:sym typeface="+mn-ea"/>
              </a:rPr>
              <a:t>  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</a:t>
            </a:r>
            <a:endParaRPr lang="en-US" altLang="zh-CN" sz="28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748665" y="5876925"/>
            <a:ext cx="77273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就像爬楼梯一样，如果我们要实现目标并预防全球性的粮食危机，就</a:t>
            </a:r>
            <a:r>
              <a:rPr lang="zh-CN" altLang="en-US" sz="2400" b="1" kern="0" dirty="0">
                <a:solidFill>
                  <a:schemeClr val="accent4">
                    <a:lumMod val="10000"/>
                  </a:schemeClr>
                </a:solidFill>
                <a:highlight>
                  <a:srgbClr val="00FFFF"/>
                </a:highlight>
                <a:latin typeface="华文新魏" panose="02010800040101010101" charset="-122"/>
                <a:ea typeface="华文新魏" panose="02010800040101010101" charset="-122"/>
                <a:sym typeface="+mn-ea"/>
              </a:rPr>
              <a:t>必须小心并坚定如一</a:t>
            </a:r>
            <a:r>
              <a:rPr lang="zh-CN" altLang="en-US" sz="2400" b="1" kern="0" dirty="0">
                <a:solidFill>
                  <a:schemeClr val="accent4">
                    <a:lumMod val="1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。</a:t>
            </a:r>
            <a:endParaRPr lang="zh-CN" altLang="en-US" sz="2400" b="1" kern="0" dirty="0">
              <a:solidFill>
                <a:schemeClr val="accent4">
                  <a:lumMod val="10000"/>
                </a:schemeClr>
              </a:solidFill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5" grpId="0"/>
      <p:bldP spid="6" grpId="0"/>
      <p:bldP spid="7" grpId="0"/>
      <p:bldP spid="11" grpId="0"/>
      <p:bldP spid="12" grpId="0"/>
      <p:bldP spid="13" grpId="0"/>
    </p:bldLst>
  </p:timing>
</p:sld>
</file>

<file path=ppt/tags/tag1.xml><?xml version="1.0" encoding="utf-8"?>
<p:tagLst xmlns:p="http://schemas.openxmlformats.org/presentationml/2006/main">
  <p:tag name="COMMONDATA" val="eyJoZGlkIjoiNGI1ZThjMDUyODc4YTcwMmJlZjI5YzZhYjM5ZWNmNTEifQ=="/>
  <p:tag name="KSO_WPP_MARK_KEY" val="9a80841d-a79c-42dc-956d-dc5c1b32b3e5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4483</Words>
  <Application>WPS 演示</Application>
  <PresentationFormat>全屏显示(4:3)</PresentationFormat>
  <Paragraphs>220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Helvetica</vt:lpstr>
      <vt:lpstr>华文楷体</vt:lpstr>
      <vt:lpstr>华文新魏</vt:lpstr>
      <vt:lpstr>Times New Roman</vt:lpstr>
      <vt:lpstr>Calibri</vt:lpstr>
      <vt:lpstr>微软雅黑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</dc:creator>
  <cp:lastModifiedBy>WPS_1640868160</cp:lastModifiedBy>
  <cp:revision>408</cp:revision>
  <dcterms:created xsi:type="dcterms:W3CDTF">2019-01-18T01:58:00Z</dcterms:created>
  <dcterms:modified xsi:type="dcterms:W3CDTF">2025-05-29T01:50:26Z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AF2BCD5280EA4267BC63B512D7F90E23</vt:lpwstr>
  </property>
</Properties>
</file>