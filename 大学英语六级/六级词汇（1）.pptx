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479" r:id="rId3"/>
    <p:sldId id="1122" r:id="rId4"/>
    <p:sldId id="1115" r:id="rId5"/>
    <p:sldId id="1107" r:id="rId6"/>
    <p:sldId id="1118" r:id="rId7"/>
    <p:sldId id="1116" r:id="rId8"/>
    <p:sldId id="1119" r:id="rId9"/>
    <p:sldId id="1120" r:id="rId10"/>
    <p:sldId id="1111" r:id="rId11"/>
    <p:sldId id="1110" r:id="rId12"/>
    <p:sldId id="1117" r:id="rId13"/>
    <p:sldId id="1112" r:id="rId14"/>
    <p:sldId id="1121" r:id="rId15"/>
    <p:sldId id="1113" r:id="rId16"/>
  </p:sldIdLst>
  <p:sldSz cx="9144000" cy="6858000" type="screen4x3"/>
  <p:notesSz cx="6858000" cy="9144000"/>
  <p:custDataLst>
    <p:tags r:id="rId2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90" userDrawn="1">
          <p15:clr>
            <a:srgbClr val="A4A3A4"/>
          </p15:clr>
        </p15:guide>
        <p15:guide id="2" pos="28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90" autoAdjust="0"/>
    <p:restoredTop sz="94660"/>
  </p:normalViewPr>
  <p:slideViewPr>
    <p:cSldViewPr showGuides="1">
      <p:cViewPr varScale="1">
        <p:scale>
          <a:sx n="82" d="100"/>
          <a:sy n="82" d="100"/>
        </p:scale>
        <p:origin x="-917" y="-77"/>
      </p:cViewPr>
      <p:guideLst>
        <p:guide orient="horz" pos="1990"/>
        <p:guide pos="282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76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gs" Target="tags/tag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7C6438-4607-4DD1-B54F-0CABF9AC36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689C99-5743-4688-A3D3-8E4A23BD925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0"/>
          <p:cNvSpPr/>
          <p:nvPr/>
        </p:nvSpPr>
        <p:spPr>
          <a:xfrm>
            <a:off x="0" y="0"/>
            <a:ext cx="9144000" cy="764704"/>
          </a:xfrm>
          <a:prstGeom prst="rect">
            <a:avLst/>
          </a:prstGeom>
          <a:solidFill>
            <a:srgbClr val="99CC00">
              <a:alpha val="8470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79705" y="935990"/>
            <a:ext cx="25806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kern="0">
                <a:solidFill>
                  <a:schemeClr val="accent4">
                    <a:lumMod val="10000"/>
                  </a:schemeClr>
                </a:solidFill>
                <a:latin typeface="Helvetica"/>
              </a:rPr>
              <a:t>1. </a:t>
            </a:r>
            <a:r>
              <a:rPr lang="en-US" altLang="zh-CN" sz="2800" b="1" kern="0" dirty="0">
                <a:solidFill>
                  <a:schemeClr val="accent4">
                    <a:lumMod val="10000"/>
                  </a:schemeClr>
                </a:solidFill>
                <a:latin typeface="Helvetica"/>
                <a:sym typeface="+mn-ea"/>
              </a:rPr>
              <a:t>perpetual:</a:t>
            </a:r>
            <a:r>
              <a:rPr lang="en-US" altLang="zh-CN" sz="2400" b="1" kern="0">
                <a:solidFill>
                  <a:schemeClr val="accent4">
                    <a:lumMod val="10000"/>
                  </a:schemeClr>
                </a:solidFill>
                <a:latin typeface="Helvetica"/>
              </a:rPr>
              <a:t>  </a:t>
            </a:r>
            <a:endParaRPr lang="en-US" altLang="zh-CN" sz="2400" kern="0" dirty="0">
              <a:solidFill>
                <a:schemeClr val="accent4">
                  <a:lumMod val="1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39750" y="5445125"/>
            <a:ext cx="818134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000000"/>
                </a:solidFill>
                <a:latin typeface="Helvetica" pitchFamily="34" charset="0"/>
                <a:ea typeface="华文楷体" panose="02010600040101010101" pitchFamily="2" charset="-122"/>
                <a:sym typeface="+mn-ea"/>
              </a:rPr>
              <a:t>沙漠中，流动的沙丘演绎着侵蚀与新生的永恒之舞。</a:t>
            </a:r>
            <a:endParaRPr lang="zh-CN" altLang="en-US" sz="2400" b="1" kern="0" dirty="0">
              <a:solidFill>
                <a:schemeClr val="accent4">
                  <a:lumMod val="10000"/>
                </a:schemeClr>
              </a:solidFill>
              <a:latin typeface="Helvetic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7360" y="4149090"/>
            <a:ext cx="8126730" cy="1254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 dirty="0">
                <a:solidFill>
                  <a:srgbClr val="000000"/>
                </a:solidFill>
                <a:latin typeface="Helvetica" pitchFamily="34" charset="0"/>
                <a:ea typeface="华文楷体" panose="02010600040101010101" pitchFamily="2" charset="-122"/>
                <a:sym typeface="+mn-ea"/>
              </a:rPr>
              <a:t>In the desert, the shifting sands create 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00"/>
                </a:highlight>
                <a:latin typeface="Helvetica" pitchFamily="34" charset="0"/>
                <a:ea typeface="华文楷体" panose="02010600040101010101" pitchFamily="2" charset="-122"/>
                <a:sym typeface="+mn-ea"/>
              </a:rPr>
              <a:t>a perpetual </a:t>
            </a:r>
            <a:endParaRPr lang="en-US" altLang="zh-CN" sz="2800" dirty="0">
              <a:solidFill>
                <a:srgbClr val="000000"/>
              </a:solidFill>
              <a:highlight>
                <a:srgbClr val="FFFF00"/>
              </a:highlight>
              <a:latin typeface="Helvetica" pitchFamily="34" charset="0"/>
              <a:ea typeface="华文楷体" panose="02010600040101010101" pitchFamily="2" charset="-122"/>
              <a:sym typeface="+mn-ea"/>
            </a:endParaRPr>
          </a:p>
          <a:p>
            <a: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 dirty="0">
                <a:solidFill>
                  <a:srgbClr val="000000"/>
                </a:solidFill>
                <a:highlight>
                  <a:srgbClr val="FFFF00"/>
                </a:highlight>
                <a:latin typeface="Helvetica" pitchFamily="34" charset="0"/>
                <a:ea typeface="华文楷体" panose="02010600040101010101" pitchFamily="2" charset="-122"/>
                <a:sym typeface="+mn-ea"/>
              </a:rPr>
              <a:t>dance</a:t>
            </a:r>
            <a:r>
              <a:rPr lang="en-US" altLang="zh-CN" sz="2800" dirty="0">
                <a:solidFill>
                  <a:srgbClr val="000000"/>
                </a:solidFill>
                <a:latin typeface="Helvetica" pitchFamily="34" charset="0"/>
                <a:ea typeface="华文楷体" panose="02010600040101010101" pitchFamily="2" charset="-122"/>
                <a:sym typeface="+mn-ea"/>
              </a:rPr>
              <a:t> between erosion and renewal.</a:t>
            </a:r>
            <a:endParaRPr lang="en-US" altLang="zh-CN" sz="2800" dirty="0">
              <a:solidFill>
                <a:srgbClr val="000000"/>
              </a:solidFill>
              <a:latin typeface="Helvetica" pitchFamily="34" charset="0"/>
              <a:ea typeface="华文楷体" panose="02010600040101010101" pitchFamily="2" charset="-122"/>
              <a:sym typeface="+mn-ea"/>
            </a:endParaRPr>
          </a:p>
        </p:txBody>
      </p:sp>
      <p:sp>
        <p:nvSpPr>
          <p:cNvPr id="3" name="TextBox 1"/>
          <p:cNvSpPr txBox="1"/>
          <p:nvPr/>
        </p:nvSpPr>
        <p:spPr>
          <a:xfrm>
            <a:off x="2484120" y="692785"/>
            <a:ext cx="572643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800" b="1" kern="0" dirty="0">
                <a:solidFill>
                  <a:schemeClr val="accent4">
                    <a:lumMod val="1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永恒的，永久的；</a:t>
            </a:r>
            <a:endParaRPr lang="zh-CN" altLang="en-US" sz="2800" b="1" kern="0" dirty="0">
              <a:solidFill>
                <a:schemeClr val="accent4">
                  <a:lumMod val="1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algn="just"/>
            <a:r>
              <a:rPr lang="zh-CN" altLang="en-US" sz="2800" b="1" kern="0" dirty="0">
                <a:solidFill>
                  <a:schemeClr val="accent4">
                    <a:lumMod val="1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连续不断的；无休止的</a:t>
            </a:r>
            <a:r>
              <a:rPr lang="en-US" altLang="zh-CN" sz="2800" b="1" kern="0" dirty="0">
                <a:solidFill>
                  <a:schemeClr val="accent4">
                    <a:lumMod val="1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 </a:t>
            </a:r>
            <a:endParaRPr lang="zh-CN" altLang="en-US" sz="2800" b="1" kern="0" dirty="0">
              <a:solidFill>
                <a:schemeClr val="accent4">
                  <a:lumMod val="10000"/>
                </a:schemeClr>
              </a:solidFill>
              <a:latin typeface="华文新魏" panose="02010800040101010101" charset="-122"/>
              <a:ea typeface="华文新魏" panose="020108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11505" y="1628775"/>
            <a:ext cx="8300720" cy="13836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2800" dirty="0">
                <a:solidFill>
                  <a:srgbClr val="000000"/>
                </a:solidFill>
                <a:latin typeface="Helvetica" pitchFamily="34" charset="0"/>
                <a:ea typeface="华文楷体" panose="02010600040101010101" pitchFamily="2" charset="-122"/>
                <a:sym typeface="+mn-ea"/>
              </a:rPr>
              <a:t>The ancient temple stands as 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FFFF00"/>
                </a:highlight>
                <a:latin typeface="Helvetica" pitchFamily="34" charset="0"/>
                <a:ea typeface="华文楷体" panose="02010600040101010101" pitchFamily="2" charset="-122"/>
                <a:sym typeface="+mn-ea"/>
              </a:rPr>
              <a:t>a perpetual reminder</a:t>
            </a:r>
            <a:r>
              <a:rPr lang="en-US" altLang="zh-CN" sz="2800" dirty="0">
                <a:solidFill>
                  <a:srgbClr val="000000"/>
                </a:solidFill>
                <a:latin typeface="Helvetica" pitchFamily="34" charset="0"/>
                <a:ea typeface="华文楷体" panose="02010600040101010101" pitchFamily="2" charset="-122"/>
                <a:sym typeface="+mn-ea"/>
              </a:rPr>
              <a:t> </a:t>
            </a:r>
            <a:endParaRPr lang="en-US" altLang="zh-CN" sz="2800" dirty="0">
              <a:solidFill>
                <a:srgbClr val="000000"/>
              </a:solidFill>
              <a:latin typeface="Helvetica" pitchFamily="34" charset="0"/>
              <a:ea typeface="华文楷体" panose="02010600040101010101" pitchFamily="2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2800" dirty="0">
                <a:solidFill>
                  <a:srgbClr val="000000"/>
                </a:solidFill>
                <a:latin typeface="Helvetica" pitchFamily="34" charset="0"/>
                <a:ea typeface="华文楷体" panose="02010600040101010101" pitchFamily="2" charset="-122"/>
                <a:sym typeface="+mn-ea"/>
              </a:rPr>
              <a:t>of  human devotion across millennia.</a:t>
            </a:r>
            <a:endParaRPr lang="zh-CN" altLang="en-US" sz="2400"/>
          </a:p>
        </p:txBody>
      </p:sp>
      <p:sp>
        <p:nvSpPr>
          <p:cNvPr id="7" name="文本框 6"/>
          <p:cNvSpPr txBox="1"/>
          <p:nvPr/>
        </p:nvSpPr>
        <p:spPr>
          <a:xfrm>
            <a:off x="611505" y="3141345"/>
            <a:ext cx="7983220" cy="9639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800" b="1" dirty="0">
                <a:solidFill>
                  <a:srgbClr val="000000"/>
                </a:solidFill>
                <a:latin typeface="Helvetica" pitchFamily="34" charset="0"/>
                <a:ea typeface="华文楷体" panose="02010600040101010101" pitchFamily="2" charset="-122"/>
                <a:sym typeface="+mn-ea"/>
              </a:rPr>
              <a:t>这座古老的寺庙是人类千百年来虔诚信仰的永恒见证。</a:t>
            </a:r>
            <a:endParaRPr lang="en-US" altLang="zh-CN" sz="2800" dirty="0">
              <a:solidFill>
                <a:srgbClr val="000000"/>
              </a:solidFill>
              <a:latin typeface="Helvetica" pitchFamily="34" charset="0"/>
              <a:ea typeface="华文楷体" panose="02010600040101010101" pitchFamily="2" charset="-122"/>
            </a:endParaRPr>
          </a:p>
          <a:p>
            <a:r>
              <a:rPr lang="en-US" altLang="zh-CN" sz="2800" dirty="0">
                <a:latin typeface="华文新魏" panose="02010800040101010101" charset="-122"/>
                <a:ea typeface="华文新魏" panose="02010800040101010101" charset="-122"/>
                <a:sym typeface="+mn-ea"/>
              </a:rPr>
              <a:t> </a:t>
            </a:r>
            <a:endParaRPr lang="en-US" altLang="zh-CN" sz="2800" dirty="0">
              <a:latin typeface="华文新魏" panose="02010800040101010101" charset="-122"/>
              <a:ea typeface="华文新魏" panose="0201080004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3" grpId="0"/>
      <p:bldP spid="5" grpId="0"/>
      <p:bldP spid="7" grpId="0"/>
      <p:bldP spid="7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0"/>
          <p:cNvSpPr/>
          <p:nvPr/>
        </p:nvSpPr>
        <p:spPr>
          <a:xfrm>
            <a:off x="0" y="0"/>
            <a:ext cx="9144000" cy="764704"/>
          </a:xfrm>
          <a:prstGeom prst="rect">
            <a:avLst/>
          </a:prstGeom>
          <a:solidFill>
            <a:srgbClr val="99CC00">
              <a:alpha val="8470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79705" y="935990"/>
            <a:ext cx="25806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kern="0">
                <a:solidFill>
                  <a:schemeClr val="accent4">
                    <a:lumMod val="10000"/>
                  </a:schemeClr>
                </a:solidFill>
                <a:latin typeface="Helvetica"/>
              </a:rPr>
              <a:t>1. </a:t>
            </a:r>
            <a:r>
              <a:rPr lang="en-US" altLang="zh-CN" sz="2800" b="1" kern="0" dirty="0">
                <a:solidFill>
                  <a:schemeClr val="accent4">
                    <a:lumMod val="10000"/>
                  </a:schemeClr>
                </a:solidFill>
                <a:latin typeface="Helvetica"/>
                <a:sym typeface="+mn-ea"/>
              </a:rPr>
              <a:t>perpetual:</a:t>
            </a:r>
            <a:r>
              <a:rPr lang="en-US" altLang="zh-CN" sz="2400" b="1" kern="0">
                <a:solidFill>
                  <a:schemeClr val="accent4">
                    <a:lumMod val="10000"/>
                  </a:schemeClr>
                </a:solidFill>
                <a:latin typeface="Helvetica"/>
              </a:rPr>
              <a:t>  </a:t>
            </a:r>
            <a:endParaRPr lang="en-US" altLang="zh-CN" sz="2400" kern="0" dirty="0">
              <a:solidFill>
                <a:schemeClr val="accent4">
                  <a:lumMod val="1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67360" y="4797425"/>
            <a:ext cx="791908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>
                <a:solidFill>
                  <a:srgbClr val="000000"/>
                </a:solidFill>
                <a:latin typeface="Helvetica" pitchFamily="34" charset="0"/>
                <a:ea typeface="华文楷体" panose="02010600040101010101" pitchFamily="2" charset="-122"/>
                <a:sym typeface="+mn-ea"/>
              </a:rPr>
              <a:t>Animals and plants are 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00FFFF"/>
                </a:highlight>
                <a:latin typeface="Helvetica" pitchFamily="34" charset="0"/>
                <a:ea typeface="华文楷体" panose="02010600040101010101" pitchFamily="2" charset="-122"/>
                <a:sym typeface="+mn-ea"/>
              </a:rPr>
              <a:t>perpetually evolving</a:t>
            </a:r>
            <a:r>
              <a:rPr lang="en-US" altLang="zh-CN" sz="2800" dirty="0">
                <a:solidFill>
                  <a:srgbClr val="000000"/>
                </a:solidFill>
                <a:latin typeface="Helvetica" pitchFamily="34" charset="0"/>
                <a:ea typeface="华文楷体" panose="02010600040101010101" pitchFamily="2" charset="-122"/>
                <a:sym typeface="+mn-ea"/>
              </a:rPr>
              <a:t>. </a:t>
            </a:r>
            <a:endParaRPr lang="en-US" altLang="zh-CN" sz="2400" b="1" kern="0" dirty="0">
              <a:solidFill>
                <a:schemeClr val="accent4">
                  <a:lumMod val="10000"/>
                </a:schemeClr>
              </a:solidFill>
              <a:latin typeface="Helvetic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7360" y="4149090"/>
            <a:ext cx="48342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en-US" sz="2800" b="1" dirty="0">
                <a:solidFill>
                  <a:srgbClr val="000000"/>
                </a:solidFill>
                <a:highlight>
                  <a:srgbClr val="FFFF00"/>
                </a:highlight>
                <a:latin typeface="Helvetica" pitchFamily="34" charset="0"/>
                <a:ea typeface="华文楷体" panose="02010600040101010101" pitchFamily="2" charset="-122"/>
                <a:sym typeface="+mn-ea"/>
              </a:rPr>
              <a:t>动物和植物一直在进化。</a:t>
            </a:r>
            <a:endParaRPr lang="zh-CN" altLang="en-US" sz="2800" b="1" dirty="0">
              <a:solidFill>
                <a:srgbClr val="000000"/>
              </a:solidFill>
              <a:highlight>
                <a:srgbClr val="FFFF00"/>
              </a:highlight>
              <a:latin typeface="Helvetica" pitchFamily="34" charset="0"/>
              <a:ea typeface="华文楷体" panose="02010600040101010101" pitchFamily="2" charset="-122"/>
              <a:sym typeface="+mn-ea"/>
            </a:endParaRPr>
          </a:p>
        </p:txBody>
      </p:sp>
      <p:sp>
        <p:nvSpPr>
          <p:cNvPr id="3" name="TextBox 1"/>
          <p:cNvSpPr txBox="1"/>
          <p:nvPr/>
        </p:nvSpPr>
        <p:spPr>
          <a:xfrm>
            <a:off x="2484120" y="692785"/>
            <a:ext cx="572643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800" b="1" kern="0" dirty="0">
                <a:solidFill>
                  <a:schemeClr val="accent4">
                    <a:lumMod val="1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永恒的，永久的；</a:t>
            </a:r>
            <a:endParaRPr lang="zh-CN" altLang="en-US" sz="2800" b="1" kern="0" dirty="0">
              <a:solidFill>
                <a:schemeClr val="accent4">
                  <a:lumMod val="1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algn="just"/>
            <a:r>
              <a:rPr lang="zh-CN" altLang="en-US" sz="2800" b="1" kern="0" dirty="0">
                <a:solidFill>
                  <a:schemeClr val="accent4">
                    <a:lumMod val="1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连续不断的；无休止的</a:t>
            </a:r>
            <a:r>
              <a:rPr lang="en-US" altLang="zh-CN" sz="2800" b="1" kern="0" dirty="0">
                <a:solidFill>
                  <a:schemeClr val="accent4">
                    <a:lumMod val="1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 </a:t>
            </a:r>
            <a:endParaRPr lang="zh-CN" altLang="en-US" sz="2800" b="1" kern="0" dirty="0">
              <a:solidFill>
                <a:schemeClr val="accent4">
                  <a:lumMod val="10000"/>
                </a:schemeClr>
              </a:solidFill>
              <a:latin typeface="华文新魏" panose="02010800040101010101" charset="-122"/>
              <a:ea typeface="华文新魏" panose="020108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11505" y="1628775"/>
            <a:ext cx="7886700" cy="13836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2800" dirty="0">
                <a:solidFill>
                  <a:srgbClr val="000000"/>
                </a:solidFill>
                <a:latin typeface="Helvetica" pitchFamily="34" charset="0"/>
                <a:ea typeface="华文楷体" panose="02010600040101010101" pitchFamily="2" charset="-122"/>
                <a:sym typeface="+mn-ea"/>
              </a:rPr>
              <a:t>I thought her 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00FFFF"/>
                </a:highlight>
                <a:latin typeface="Helvetica" pitchFamily="34" charset="0"/>
                <a:ea typeface="华文楷体" panose="02010600040101010101" pitchFamily="2" charset="-122"/>
                <a:sym typeface="+mn-ea"/>
              </a:rPr>
              <a:t>perpetual complaints</a:t>
            </a:r>
            <a:r>
              <a:rPr lang="en-US" altLang="zh-CN" sz="2800" dirty="0">
                <a:solidFill>
                  <a:srgbClr val="000000"/>
                </a:solidFill>
                <a:latin typeface="Helvetica" pitchFamily="34" charset="0"/>
                <a:ea typeface="华文楷体" panose="02010600040101010101" pitchFamily="2" charset="-122"/>
                <a:sym typeface="+mn-ea"/>
              </a:rPr>
              <a:t> were going to </a:t>
            </a:r>
            <a:endParaRPr lang="en-US" altLang="zh-CN" sz="2800" dirty="0">
              <a:solidFill>
                <a:srgbClr val="000000"/>
              </a:solidFill>
              <a:latin typeface="Helvetica" pitchFamily="34" charset="0"/>
              <a:ea typeface="华文楷体" panose="02010600040101010101" pitchFamily="2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2800" dirty="0">
                <a:solidFill>
                  <a:srgbClr val="000000"/>
                </a:solidFill>
                <a:latin typeface="Helvetica" pitchFamily="34" charset="0"/>
                <a:ea typeface="华文楷体" panose="02010600040101010101" pitchFamily="2" charset="-122"/>
                <a:sym typeface="+mn-ea"/>
              </a:rPr>
              <a:t>prove too much for me.</a:t>
            </a:r>
            <a:endParaRPr lang="zh-CN" altLang="en-US" sz="2400"/>
          </a:p>
        </p:txBody>
      </p:sp>
      <p:sp>
        <p:nvSpPr>
          <p:cNvPr id="7" name="文本框 6"/>
          <p:cNvSpPr txBox="1"/>
          <p:nvPr/>
        </p:nvSpPr>
        <p:spPr>
          <a:xfrm>
            <a:off x="611505" y="3141345"/>
            <a:ext cx="6588760" cy="5829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800" b="1" dirty="0">
                <a:solidFill>
                  <a:srgbClr val="000000"/>
                </a:solidFill>
                <a:latin typeface="Helvetica" pitchFamily="34" charset="0"/>
                <a:ea typeface="华文楷体" panose="02010600040101010101" pitchFamily="2" charset="-122"/>
                <a:sym typeface="+mn-ea"/>
              </a:rPr>
              <a:t>我想我再也受不了她无休</a:t>
            </a:r>
            <a:r>
              <a:rPr lang="zh-CN" altLang="en-US" sz="2800" b="1" dirty="0">
                <a:solidFill>
                  <a:srgbClr val="000000"/>
                </a:solidFill>
                <a:highlight>
                  <a:srgbClr val="00FFFF"/>
                </a:highlight>
                <a:latin typeface="Helvetica" pitchFamily="34" charset="0"/>
                <a:ea typeface="华文楷体" panose="02010600040101010101" pitchFamily="2" charset="-122"/>
                <a:sym typeface="+mn-ea"/>
              </a:rPr>
              <a:t>无止的抱怨</a:t>
            </a:r>
            <a:r>
              <a:rPr lang="zh-CN" altLang="en-US" sz="2800" b="1" dirty="0">
                <a:solidFill>
                  <a:srgbClr val="000000"/>
                </a:solidFill>
                <a:latin typeface="Helvetica" pitchFamily="34" charset="0"/>
                <a:ea typeface="华文楷体" panose="02010600040101010101" pitchFamily="2" charset="-122"/>
                <a:sym typeface="+mn-ea"/>
              </a:rPr>
              <a:t>了。</a:t>
            </a:r>
            <a:endParaRPr lang="en-US" altLang="zh-CN" sz="2800" dirty="0">
              <a:solidFill>
                <a:srgbClr val="000000"/>
              </a:solidFill>
              <a:latin typeface="Helvetica" pitchFamily="34" charset="0"/>
              <a:ea typeface="华文楷体" panose="02010600040101010101" pitchFamily="2" charset="-122"/>
            </a:endParaRPr>
          </a:p>
          <a:p>
            <a:endParaRPr lang="zh-CN" altLang="en-US" sz="2800" dirty="0">
              <a:latin typeface="华文新魏" panose="02010800040101010101" charset="-122"/>
              <a:ea typeface="华文新魏" panose="0201080004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3" grpId="0"/>
      <p:bldP spid="5" grpId="0"/>
      <p:bldP spid="7" grpId="0"/>
      <p:bldP spid="7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0"/>
          <p:cNvSpPr/>
          <p:nvPr/>
        </p:nvSpPr>
        <p:spPr>
          <a:xfrm>
            <a:off x="0" y="0"/>
            <a:ext cx="9144000" cy="764704"/>
          </a:xfrm>
          <a:prstGeom prst="rect">
            <a:avLst/>
          </a:prstGeom>
          <a:solidFill>
            <a:srgbClr val="99CC00">
              <a:alpha val="8470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95605" y="1125220"/>
            <a:ext cx="19602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kern="0">
                <a:solidFill>
                  <a:schemeClr val="accent4">
                    <a:lumMod val="10000"/>
                  </a:schemeClr>
                </a:solidFill>
                <a:latin typeface="Helvetica"/>
              </a:rPr>
              <a:t>2. </a:t>
            </a:r>
            <a:r>
              <a:rPr lang="en-US" altLang="zh-CN" sz="2800" b="1" kern="0" dirty="0">
                <a:solidFill>
                  <a:schemeClr val="accent4">
                    <a:lumMod val="10000"/>
                  </a:schemeClr>
                </a:solidFill>
                <a:latin typeface="Helvetica"/>
                <a:sym typeface="+mn-ea"/>
              </a:rPr>
              <a:t>recede</a:t>
            </a:r>
            <a:r>
              <a:rPr lang="zh-CN" altLang="en-US" sz="2800" b="1" kern="0">
                <a:solidFill>
                  <a:schemeClr val="accent4">
                    <a:lumMod val="10000"/>
                  </a:schemeClr>
                </a:solidFill>
                <a:latin typeface="Helvetica"/>
              </a:rPr>
              <a:t>：</a:t>
            </a:r>
            <a:r>
              <a:rPr lang="en-US" altLang="zh-CN" sz="2400" b="1" kern="0">
                <a:solidFill>
                  <a:schemeClr val="accent4">
                    <a:lumMod val="10000"/>
                  </a:schemeClr>
                </a:solidFill>
                <a:latin typeface="Helvetica"/>
              </a:rPr>
              <a:t>  </a:t>
            </a:r>
            <a:endParaRPr lang="en-US" altLang="zh-CN" sz="2400" kern="0" dirty="0">
              <a:solidFill>
                <a:schemeClr val="accent4">
                  <a:lumMod val="1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85786" y="3834451"/>
            <a:ext cx="751332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lnSpc>
                <a:spcPct val="150000"/>
              </a:lnSpc>
              <a:buNone/>
            </a:pPr>
            <a:r>
              <a:rPr lang="en-US" altLang="zh-CN" sz="2800" kern="0" dirty="0">
                <a:latin typeface="Helvetica"/>
                <a:sym typeface="+mn-ea"/>
              </a:rPr>
              <a:t>The flood waters finally began to </a:t>
            </a:r>
            <a:r>
              <a:rPr lang="en-US" altLang="zh-CN" sz="2800" kern="0" dirty="0">
                <a:highlight>
                  <a:srgbClr val="00FFFF"/>
                </a:highlight>
                <a:latin typeface="Helvetica"/>
                <a:sym typeface="+mn-ea"/>
              </a:rPr>
              <a:t>recede</a:t>
            </a:r>
            <a:r>
              <a:rPr lang="en-US" altLang="zh-CN" sz="2800" kern="0" dirty="0">
                <a:latin typeface="Helvetica"/>
                <a:sym typeface="+mn-ea"/>
              </a:rPr>
              <a:t> and we could go fishing on the sea.</a:t>
            </a:r>
            <a:endParaRPr lang="en-US" altLang="zh-CN" sz="2800" kern="0" dirty="0">
              <a:solidFill>
                <a:schemeClr val="accent4">
                  <a:lumMod val="10000"/>
                </a:schemeClr>
              </a:solidFill>
              <a:latin typeface="Helvetic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85786" y="3357562"/>
            <a:ext cx="79051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en-US" sz="2800" dirty="0">
                <a:highlight>
                  <a:srgbClr val="FFFF00"/>
                </a:highlight>
                <a:latin typeface="华文新魏" panose="02010800040101010101" charset="-122"/>
                <a:ea typeface="华文新魏" panose="02010800040101010101" charset="-122"/>
                <a:sym typeface="+mn-ea"/>
              </a:rPr>
              <a:t>洪水终于开始退去，我们可以出海捕鱼了。</a:t>
            </a:r>
            <a:endParaRPr lang="zh-CN" altLang="en-US" sz="2800" b="1" dirty="0">
              <a:solidFill>
                <a:prstClr val="black"/>
              </a:solidFill>
              <a:highlight>
                <a:srgbClr val="FFFF00"/>
              </a:highlight>
              <a:latin typeface="华文新魏" panose="02010800040101010101" charset="-122"/>
              <a:ea typeface="华文新魏" panose="02010800040101010101" charset="-122"/>
              <a:sym typeface="+mn-ea"/>
            </a:endParaRPr>
          </a:p>
        </p:txBody>
      </p:sp>
      <p:sp>
        <p:nvSpPr>
          <p:cNvPr id="3" name="TextBox 1"/>
          <p:cNvSpPr txBox="1"/>
          <p:nvPr/>
        </p:nvSpPr>
        <p:spPr>
          <a:xfrm>
            <a:off x="2195830" y="981075"/>
            <a:ext cx="568706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kern="0" dirty="0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1</a:t>
            </a:r>
            <a:r>
              <a:rPr lang="en-US" altLang="zh-CN" sz="2800" kern="0" dirty="0" smtClean="0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.(</a:t>
            </a:r>
            <a:r>
              <a:rPr lang="zh-CN" altLang="en-US" sz="2800" kern="0" dirty="0" smtClean="0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逐渐</a:t>
            </a:r>
            <a:r>
              <a:rPr lang="en-US" altLang="zh-CN" sz="2800" kern="0" dirty="0" smtClean="0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) </a:t>
            </a:r>
            <a:r>
              <a:rPr lang="en-US" altLang="zh-CN" sz="2800" kern="0" dirty="0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减弱，减小（可能性）</a:t>
            </a:r>
            <a:endParaRPr lang="en-US" altLang="zh-CN" sz="2800" kern="0" dirty="0">
              <a:solidFill>
                <a:schemeClr val="accent4">
                  <a:lumMod val="10000"/>
                </a:schemeClr>
              </a:solidFill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  <a:sym typeface="+mn-ea"/>
            </a:endParaRPr>
          </a:p>
          <a:p>
            <a:pPr algn="l"/>
            <a:r>
              <a:rPr lang="en-US" altLang="zh-CN" sz="2800" kern="0" dirty="0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2.（从高处）后退</a:t>
            </a:r>
            <a:endParaRPr lang="zh-CN" altLang="en-US" sz="2800" b="1" kern="0" dirty="0">
              <a:solidFill>
                <a:schemeClr val="accent4">
                  <a:lumMod val="10000"/>
                </a:schemeClr>
              </a:solidFill>
              <a:latin typeface="华文新魏" panose="02010800040101010101" charset="-122"/>
              <a:ea typeface="华文新魏" panose="020108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85786" y="2000240"/>
            <a:ext cx="6403975" cy="13849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2800" kern="0" dirty="0">
                <a:latin typeface="Helvetica"/>
                <a:sym typeface="+mn-ea"/>
              </a:rPr>
              <a:t>The pain in his head gradually </a:t>
            </a:r>
            <a:r>
              <a:rPr lang="en-US" altLang="zh-CN" sz="2800" kern="0" dirty="0">
                <a:highlight>
                  <a:srgbClr val="00FFFF"/>
                </a:highlight>
                <a:latin typeface="Helvetica"/>
                <a:sym typeface="+mn-ea"/>
              </a:rPr>
              <a:t>receded</a:t>
            </a:r>
            <a:r>
              <a:rPr lang="en-US" altLang="zh-CN" sz="2800" kern="0" dirty="0">
                <a:latin typeface="Helvetica"/>
                <a:sym typeface="+mn-ea"/>
              </a:rPr>
              <a:t>.</a:t>
            </a:r>
            <a:endParaRPr lang="en-US" altLang="zh-CN" sz="2800" kern="0" dirty="0">
              <a:latin typeface="Helvetica"/>
            </a:endParaRPr>
          </a:p>
          <a:p>
            <a:pPr algn="l">
              <a:lnSpc>
                <a:spcPct val="150000"/>
              </a:lnSpc>
            </a:pPr>
            <a:endParaRPr lang="zh-CN" altLang="en-US" sz="2800" dirty="0"/>
          </a:p>
        </p:txBody>
      </p:sp>
      <p:sp>
        <p:nvSpPr>
          <p:cNvPr id="6" name="文本框 5"/>
          <p:cNvSpPr txBox="1"/>
          <p:nvPr/>
        </p:nvSpPr>
        <p:spPr>
          <a:xfrm>
            <a:off x="857224" y="2786058"/>
            <a:ext cx="338328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just"/>
            <a:r>
              <a:rPr lang="zh-CN" altLang="en-US" sz="2800" dirty="0">
                <a:latin typeface="华文新魏" panose="02010800040101010101" charset="-122"/>
                <a:ea typeface="华文新魏" panose="02010800040101010101" charset="-122"/>
                <a:sym typeface="+mn-ea"/>
              </a:rPr>
              <a:t>他的头痛逐渐</a:t>
            </a:r>
            <a:r>
              <a:rPr lang="zh-CN" altLang="en-US" sz="2800" dirty="0">
                <a:highlight>
                  <a:srgbClr val="00FFFF"/>
                </a:highlight>
                <a:latin typeface="华文新魏" panose="02010800040101010101" charset="-122"/>
                <a:ea typeface="华文新魏" panose="02010800040101010101" charset="-122"/>
                <a:sym typeface="+mn-ea"/>
              </a:rPr>
              <a:t>缓解</a:t>
            </a:r>
            <a:r>
              <a:rPr lang="zh-CN" altLang="en-US" sz="2800" dirty="0">
                <a:latin typeface="华文新魏" panose="02010800040101010101" charset="-122"/>
                <a:ea typeface="华文新魏" panose="02010800040101010101" charset="-122"/>
                <a:sym typeface="+mn-ea"/>
              </a:rPr>
              <a:t>。</a:t>
            </a:r>
            <a:endParaRPr lang="zh-CN" altLang="en-US" sz="2800" dirty="0">
              <a:latin typeface="华文新魏" panose="02010800040101010101" charset="-122"/>
              <a:ea typeface="华文新魏" panose="02010800040101010101" charset="-122"/>
              <a:sym typeface="+mn-e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57224" y="5214950"/>
            <a:ext cx="79051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en-US" sz="2800" dirty="0" smtClean="0">
                <a:highlight>
                  <a:srgbClr val="FFFF00"/>
                </a:highlight>
                <a:latin typeface="华文新魏" panose="02010800040101010101" charset="-122"/>
                <a:ea typeface="华文新魏" panose="02010800040101010101" charset="-122"/>
                <a:sym typeface="+mn-ea"/>
              </a:rPr>
              <a:t>卡车的声音渐渐在远处消失了。</a:t>
            </a:r>
            <a:endParaRPr lang="zh-CN" altLang="en-US" sz="2800" b="1" dirty="0">
              <a:solidFill>
                <a:prstClr val="black"/>
              </a:solidFill>
              <a:highlight>
                <a:srgbClr val="FFFF00"/>
              </a:highlight>
              <a:latin typeface="华文新魏" panose="02010800040101010101" charset="-122"/>
              <a:ea typeface="华文新魏" panose="02010800040101010101" charset="-122"/>
              <a:sym typeface="+mn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57224" y="5715016"/>
            <a:ext cx="792961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lnSpc>
                <a:spcPct val="150000"/>
              </a:lnSpc>
              <a:buNone/>
            </a:pPr>
            <a:r>
              <a:rPr lang="en-US" altLang="zh-CN" sz="2800" kern="0" dirty="0">
                <a:latin typeface="Helvetica"/>
                <a:sym typeface="+mn-ea"/>
              </a:rPr>
              <a:t>The </a:t>
            </a:r>
            <a:r>
              <a:rPr lang="en-US" altLang="zh-CN" sz="2800" kern="0" dirty="0" smtClean="0">
                <a:latin typeface="Helvetica"/>
                <a:sym typeface="+mn-ea"/>
              </a:rPr>
              <a:t> sound of the truck </a:t>
            </a:r>
            <a:r>
              <a:rPr lang="en-US" altLang="zh-CN" sz="2800" kern="0" dirty="0" smtClean="0">
                <a:highlight>
                  <a:srgbClr val="00FFFF"/>
                </a:highlight>
                <a:latin typeface="Helvetica"/>
                <a:sym typeface="+mn-ea"/>
              </a:rPr>
              <a:t>receded</a:t>
            </a:r>
            <a:r>
              <a:rPr lang="en-US" altLang="zh-CN" sz="2800" kern="0" dirty="0" smtClean="0">
                <a:latin typeface="Helvetica"/>
                <a:sym typeface="+mn-ea"/>
              </a:rPr>
              <a:t> into the distance  </a:t>
            </a:r>
            <a:endParaRPr lang="en-US" altLang="zh-CN" sz="2800" kern="0" dirty="0">
              <a:solidFill>
                <a:schemeClr val="accent4">
                  <a:lumMod val="10000"/>
                </a:schemeClr>
              </a:solidFill>
              <a:latin typeface="Helvetic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3" grpId="0"/>
      <p:bldP spid="5" grpId="0"/>
      <p:bldP spid="6" grpId="0"/>
      <p:bldP spid="11" grpId="0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0"/>
          <p:cNvSpPr/>
          <p:nvPr/>
        </p:nvSpPr>
        <p:spPr>
          <a:xfrm>
            <a:off x="0" y="0"/>
            <a:ext cx="9144000" cy="764704"/>
          </a:xfrm>
          <a:prstGeom prst="rect">
            <a:avLst/>
          </a:prstGeom>
          <a:solidFill>
            <a:srgbClr val="99CC00">
              <a:alpha val="8470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51460" y="764540"/>
            <a:ext cx="19602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kern="0">
                <a:solidFill>
                  <a:schemeClr val="accent4">
                    <a:lumMod val="10000"/>
                  </a:schemeClr>
                </a:solidFill>
                <a:latin typeface="Helvetica"/>
              </a:rPr>
              <a:t>3. </a:t>
            </a:r>
            <a:r>
              <a:rPr lang="en-US" altLang="zh-CN" sz="2800" b="1" kern="0" dirty="0">
                <a:solidFill>
                  <a:schemeClr val="accent4">
                    <a:lumMod val="10000"/>
                  </a:schemeClr>
                </a:solidFill>
                <a:latin typeface="Helvetica"/>
                <a:sym typeface="+mn-ea"/>
              </a:rPr>
              <a:t>tangible</a:t>
            </a:r>
            <a:r>
              <a:rPr lang="zh-CN" altLang="en-US" sz="2800" b="1" kern="0">
                <a:solidFill>
                  <a:schemeClr val="accent4">
                    <a:lumMod val="10000"/>
                  </a:schemeClr>
                </a:solidFill>
                <a:latin typeface="Helvetica"/>
              </a:rPr>
              <a:t>：</a:t>
            </a:r>
            <a:r>
              <a:rPr lang="en-US" altLang="zh-CN" sz="2400" b="1" kern="0">
                <a:solidFill>
                  <a:schemeClr val="accent4">
                    <a:lumMod val="10000"/>
                  </a:schemeClr>
                </a:solidFill>
                <a:latin typeface="Helvetica"/>
              </a:rPr>
              <a:t>  </a:t>
            </a:r>
            <a:endParaRPr lang="en-US" altLang="zh-CN" sz="2400" kern="0" dirty="0">
              <a:solidFill>
                <a:schemeClr val="accent4">
                  <a:lumMod val="1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7995" y="5229225"/>
            <a:ext cx="8412480" cy="12490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/>
            <a:r>
              <a:rPr lang="zh-CN" altLang="en-US" sz="2800" b="1" dirty="0">
                <a:solidFill>
                  <a:prstClr val="black"/>
                </a:solidFill>
                <a:highlight>
                  <a:srgbClr val="FFFF00"/>
                </a:highlight>
                <a:latin typeface="华文新魏" panose="02010800040101010101" charset="-122"/>
                <a:ea typeface="华文新魏" panose="02010800040101010101" charset="-122"/>
                <a:sym typeface="+mn-ea"/>
              </a:rPr>
              <a:t>在城市生活的各个方面进行类似改进和提升的可能性是巨大的，但生活质量显性和隐性的改善并不是唾手可得的，因为许多城市已经变得难以管理。</a:t>
            </a:r>
            <a:endParaRPr lang="zh-CN" altLang="en-US" sz="2800" b="1" dirty="0">
              <a:solidFill>
                <a:prstClr val="black"/>
              </a:solidFill>
              <a:highlight>
                <a:srgbClr val="FFFF00"/>
              </a:highlight>
              <a:latin typeface="华文新魏" panose="02010800040101010101" charset="-122"/>
              <a:ea typeface="华文新魏" panose="02010800040101010101" charset="-122"/>
              <a:sym typeface="+mn-ea"/>
            </a:endParaRPr>
          </a:p>
        </p:txBody>
      </p:sp>
      <p:sp>
        <p:nvSpPr>
          <p:cNvPr id="3" name="TextBox 1"/>
          <p:cNvSpPr txBox="1"/>
          <p:nvPr/>
        </p:nvSpPr>
        <p:spPr>
          <a:xfrm>
            <a:off x="2267585" y="764540"/>
            <a:ext cx="61417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/>
            <a:r>
              <a:rPr lang="zh-CN" altLang="en-US" sz="2800" b="1" kern="0" dirty="0">
                <a:solidFill>
                  <a:schemeClr val="accent4">
                    <a:lumMod val="1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可触摸的；有形的；确凿的；明显的</a:t>
            </a:r>
            <a:endParaRPr lang="zh-CN" altLang="en-US" sz="2800" b="1" kern="0" dirty="0">
              <a:solidFill>
                <a:schemeClr val="accent4">
                  <a:lumMod val="1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67995" y="1412875"/>
            <a:ext cx="8047355" cy="15322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>
                <a:solidFill>
                  <a:srgbClr val="000000"/>
                </a:solidFill>
                <a:latin typeface="Helvetica" pitchFamily="34" charset="0"/>
                <a:ea typeface="华文楷体" panose="02010600040101010101" pitchFamily="2" charset="-122"/>
                <a:sym typeface="+mn-ea"/>
              </a:rPr>
              <a:t>With the rapid development of e-commerce, consumers are now used to buying not only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00FFFF"/>
                </a:highlight>
                <a:latin typeface="Helvetica" pitchFamily="34" charset="0"/>
                <a:ea typeface="华文楷体" panose="02010600040101010101" pitchFamily="2" charset="-122"/>
                <a:sym typeface="+mn-ea"/>
              </a:rPr>
              <a:t> tangible products </a:t>
            </a:r>
            <a:r>
              <a:rPr lang="en-US" altLang="zh-CN" sz="2400" dirty="0">
                <a:solidFill>
                  <a:srgbClr val="000000"/>
                </a:solidFill>
                <a:latin typeface="Helvetica" pitchFamily="34" charset="0"/>
                <a:ea typeface="华文楷体" panose="02010600040101010101" pitchFamily="2" charset="-122"/>
                <a:sym typeface="+mn-ea"/>
              </a:rPr>
              <a:t>but also various services on the Internet .</a:t>
            </a:r>
            <a:endParaRPr lang="en-US" altLang="zh-CN" sz="2400" kern="0" dirty="0">
              <a:latin typeface="Helvetica"/>
            </a:endParaRPr>
          </a:p>
          <a:p>
            <a:pPr algn="l">
              <a:lnSpc>
                <a:spcPct val="150000"/>
              </a:lnSpc>
            </a:pPr>
            <a:endParaRPr lang="zh-CN" altLang="en-US" sz="2400"/>
          </a:p>
        </p:txBody>
      </p:sp>
      <p:sp>
        <p:nvSpPr>
          <p:cNvPr id="4" name="文本框 3"/>
          <p:cNvSpPr txBox="1"/>
          <p:nvPr/>
        </p:nvSpPr>
        <p:spPr>
          <a:xfrm>
            <a:off x="395605" y="2997200"/>
            <a:ext cx="8608060" cy="20478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>
                <a:solidFill>
                  <a:srgbClr val="000000"/>
                </a:solidFill>
                <a:latin typeface="Helvetica" pitchFamily="34" charset="0"/>
                <a:ea typeface="华文楷体" panose="02010600040101010101" pitchFamily="2" charset="-122"/>
                <a:sym typeface="+mn-ea"/>
              </a:rPr>
              <a:t>The possibilities for similar improvements and enhancements in all aspects of urban life are immense. However, neither 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00FFFF"/>
                </a:highlight>
                <a:latin typeface="Helvetica" pitchFamily="34" charset="0"/>
                <a:ea typeface="华文楷体" panose="02010600040101010101" pitchFamily="2" charset="-122"/>
                <a:sym typeface="+mn-ea"/>
              </a:rPr>
              <a:t>tangible and intangible improvements</a:t>
            </a:r>
            <a:r>
              <a:rPr lang="en-US" altLang="zh-CN" sz="2400" dirty="0">
                <a:solidFill>
                  <a:srgbClr val="000000"/>
                </a:solidFill>
                <a:latin typeface="Helvetica" pitchFamily="34" charset="0"/>
                <a:ea typeface="华文楷体" panose="02010600040101010101" pitchFamily="2" charset="-122"/>
                <a:sym typeface="+mn-ea"/>
              </a:rPr>
              <a:t> to the quality of life are just within grasp, as many cities are becoming unmanageable.</a:t>
            </a:r>
            <a:endParaRPr lang="en-US" altLang="zh-CN" sz="2400" kern="0" dirty="0">
              <a:latin typeface="Helvetica"/>
            </a:endParaRPr>
          </a:p>
          <a:p>
            <a:pPr algn="l">
              <a:lnSpc>
                <a:spcPct val="150000"/>
              </a:lnSpc>
            </a:pPr>
            <a:endParaRPr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" grpId="0"/>
      <p:bldP spid="5" grpId="0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0"/>
          <p:cNvSpPr/>
          <p:nvPr/>
        </p:nvSpPr>
        <p:spPr>
          <a:xfrm>
            <a:off x="0" y="0"/>
            <a:ext cx="9144000" cy="764704"/>
          </a:xfrm>
          <a:prstGeom prst="rect">
            <a:avLst/>
          </a:prstGeom>
          <a:solidFill>
            <a:srgbClr val="99CC00">
              <a:alpha val="8470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95605" y="1125220"/>
            <a:ext cx="26231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kern="0">
                <a:solidFill>
                  <a:schemeClr val="accent4">
                    <a:lumMod val="10000"/>
                  </a:schemeClr>
                </a:solidFill>
                <a:latin typeface="Helvetica"/>
              </a:rPr>
              <a:t>4. </a:t>
            </a:r>
            <a:r>
              <a:rPr lang="en-US" altLang="zh-CN" sz="2800" b="1" kern="0" dirty="0">
                <a:solidFill>
                  <a:schemeClr val="accent4">
                    <a:lumMod val="10000"/>
                  </a:schemeClr>
                </a:solidFill>
                <a:latin typeface="Helvetica"/>
                <a:sym typeface="+mn-ea"/>
              </a:rPr>
              <a:t>intervene</a:t>
            </a:r>
            <a:r>
              <a:rPr lang="zh-CN" altLang="en-US" sz="2800" b="1" kern="0">
                <a:solidFill>
                  <a:schemeClr val="accent4">
                    <a:lumMod val="10000"/>
                  </a:schemeClr>
                </a:solidFill>
                <a:latin typeface="Helvetica"/>
              </a:rPr>
              <a:t>：</a:t>
            </a:r>
            <a:r>
              <a:rPr lang="en-US" altLang="zh-CN" sz="2400" b="1" kern="0">
                <a:solidFill>
                  <a:schemeClr val="accent4">
                    <a:lumMod val="10000"/>
                  </a:schemeClr>
                </a:solidFill>
                <a:latin typeface="Helvetica"/>
              </a:rPr>
              <a:t>  </a:t>
            </a:r>
            <a:endParaRPr lang="en-US" altLang="zh-CN" sz="2400" kern="0" dirty="0">
              <a:solidFill>
                <a:schemeClr val="accent4">
                  <a:lumMod val="1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3260" y="4869180"/>
            <a:ext cx="751332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just">
              <a:lnSpc>
                <a:spcPct val="150000"/>
              </a:lnSpc>
              <a:buNone/>
            </a:pPr>
            <a:r>
              <a:rPr lang="en-US" altLang="zh-CN" sz="2800" kern="0" dirty="0">
                <a:solidFill>
                  <a:schemeClr val="accent4">
                    <a:lumMod val="10000"/>
                  </a:schemeClr>
                </a:solidFill>
                <a:latin typeface="Helvetica"/>
                <a:sym typeface="+mn-ea"/>
              </a:rPr>
              <a:t>I was talking about the final examination and Tom </a:t>
            </a:r>
            <a:r>
              <a:rPr lang="en-US" altLang="zh-CN" sz="2800" kern="0" dirty="0">
                <a:solidFill>
                  <a:schemeClr val="accent4">
                    <a:lumMod val="10000"/>
                  </a:schemeClr>
                </a:solidFill>
                <a:highlight>
                  <a:srgbClr val="00FFFF"/>
                </a:highlight>
                <a:latin typeface="Helvetica"/>
                <a:sym typeface="+mn-ea"/>
              </a:rPr>
              <a:t>intervened</a:t>
            </a:r>
            <a:r>
              <a:rPr lang="en-US" altLang="zh-CN" sz="2800" kern="0" dirty="0">
                <a:solidFill>
                  <a:schemeClr val="accent4">
                    <a:lumMod val="10000"/>
                  </a:schemeClr>
                </a:solidFill>
                <a:latin typeface="Helvetica"/>
                <a:sym typeface="+mn-ea"/>
              </a:rPr>
              <a:t> and told me to stop it.</a:t>
            </a:r>
            <a:endParaRPr lang="en-US" altLang="zh-CN" sz="2800" kern="0" dirty="0">
              <a:solidFill>
                <a:schemeClr val="accent4">
                  <a:lumMod val="10000"/>
                </a:schemeClr>
              </a:solidFill>
              <a:latin typeface="Helvetic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11505" y="3861435"/>
            <a:ext cx="790511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indent="0" algn="just">
              <a:buNone/>
            </a:pPr>
            <a:r>
              <a:rPr lang="zh-CN" altLang="en-US" sz="2800" dirty="0">
                <a:solidFill>
                  <a:prstClr val="black"/>
                </a:solidFill>
                <a:highlight>
                  <a:srgbClr val="FFFF00"/>
                </a:highlight>
                <a:latin typeface="华文新魏" panose="02010800040101010101" charset="-122"/>
                <a:ea typeface="华文新魏" panose="02010800040101010101" charset="-122"/>
                <a:sym typeface="+mn-ea"/>
              </a:rPr>
              <a:t>我在谈论期末考试时，汤姆突然打断我，不让我再说下去。</a:t>
            </a:r>
            <a:endParaRPr lang="zh-CN" altLang="en-US" sz="2800" b="1" dirty="0">
              <a:solidFill>
                <a:prstClr val="black"/>
              </a:solidFill>
              <a:highlight>
                <a:srgbClr val="FFFF00"/>
              </a:highlight>
              <a:latin typeface="华文新魏" panose="02010800040101010101" charset="-122"/>
              <a:ea typeface="华文新魏" panose="02010800040101010101" charset="-122"/>
              <a:sym typeface="+mn-ea"/>
            </a:endParaRPr>
          </a:p>
        </p:txBody>
      </p:sp>
      <p:sp>
        <p:nvSpPr>
          <p:cNvPr id="3" name="TextBox 1"/>
          <p:cNvSpPr txBox="1"/>
          <p:nvPr/>
        </p:nvSpPr>
        <p:spPr>
          <a:xfrm>
            <a:off x="2771775" y="981075"/>
            <a:ext cx="569468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kern="0" dirty="0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1.干预；介入；插手</a:t>
            </a:r>
            <a:endParaRPr lang="en-US" altLang="zh-CN" sz="2800" kern="0" dirty="0">
              <a:solidFill>
                <a:schemeClr val="accent4">
                  <a:lumMod val="10000"/>
                </a:schemeClr>
              </a:solidFill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  <a:sym typeface="+mn-ea"/>
            </a:endParaRPr>
          </a:p>
          <a:p>
            <a:pPr indent="0" algn="just">
              <a:buFont typeface="+mj-ea"/>
              <a:buNone/>
            </a:pPr>
            <a:r>
              <a:rPr lang="en-US" altLang="zh-CN" sz="2800" kern="0" dirty="0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2.打岔；插话</a:t>
            </a:r>
            <a:endParaRPr lang="en-US" altLang="zh-CN" sz="2800" kern="0" dirty="0">
              <a:solidFill>
                <a:schemeClr val="accent4">
                  <a:lumMod val="10000"/>
                </a:schemeClr>
              </a:solidFill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  <a:p>
            <a:pPr indent="0" algn="just">
              <a:buFont typeface="+mj-ea"/>
              <a:buNone/>
            </a:pPr>
            <a:endParaRPr lang="zh-CN" altLang="en-US" sz="2800" b="1" kern="0" dirty="0">
              <a:solidFill>
                <a:schemeClr val="accent4">
                  <a:lumMod val="10000"/>
                </a:schemeClr>
              </a:solidFill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39750" y="1701165"/>
            <a:ext cx="8380095" cy="13836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2800" kern="0" dirty="0">
                <a:solidFill>
                  <a:schemeClr val="accent4">
                    <a:lumMod val="10000"/>
                  </a:schemeClr>
                </a:solidFill>
                <a:latin typeface="Helvetica"/>
                <a:sym typeface="+mn-ea"/>
              </a:rPr>
              <a:t>The police don’t usually like to </a:t>
            </a:r>
            <a:r>
              <a:rPr lang="en-US" altLang="zh-CN" sz="2800" kern="0" dirty="0">
                <a:solidFill>
                  <a:schemeClr val="accent4">
                    <a:lumMod val="10000"/>
                  </a:schemeClr>
                </a:solidFill>
                <a:highlight>
                  <a:srgbClr val="00FFFF"/>
                </a:highlight>
                <a:latin typeface="Helvetica"/>
                <a:sym typeface="+mn-ea"/>
              </a:rPr>
              <a:t>intervene in</a:t>
            </a:r>
            <a:r>
              <a:rPr lang="en-US" altLang="zh-CN" sz="2800" kern="0" dirty="0">
                <a:solidFill>
                  <a:schemeClr val="accent4">
                    <a:lumMod val="10000"/>
                  </a:schemeClr>
                </a:solidFill>
                <a:latin typeface="Helvetica"/>
                <a:sym typeface="+mn-ea"/>
              </a:rPr>
              <a:t> disputes </a:t>
            </a:r>
            <a:endParaRPr lang="en-US" altLang="zh-CN" sz="2800" kern="0" dirty="0">
              <a:solidFill>
                <a:schemeClr val="accent4">
                  <a:lumMod val="10000"/>
                </a:schemeClr>
              </a:solidFill>
              <a:latin typeface="Helvetica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2800" kern="0" dirty="0">
                <a:solidFill>
                  <a:schemeClr val="accent4">
                    <a:lumMod val="10000"/>
                  </a:schemeClr>
                </a:solidFill>
                <a:latin typeface="Helvetica"/>
                <a:sym typeface="+mn-ea"/>
              </a:rPr>
              <a:t>between husbands and wives.</a:t>
            </a:r>
            <a:endParaRPr lang="zh-CN" altLang="en-US" sz="2800">
              <a:latin typeface="华文新魏" panose="02010800040101010101" charset="-122"/>
              <a:ea typeface="华文新魏" panose="0201080004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11505" y="3084830"/>
            <a:ext cx="6228080" cy="73723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dirty="0">
                <a:solidFill>
                  <a:prstClr val="black"/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警察通常不愿意</a:t>
            </a:r>
            <a:r>
              <a:rPr lang="zh-CN" altLang="en-US" sz="2800" dirty="0">
                <a:solidFill>
                  <a:prstClr val="black"/>
                </a:solidFill>
                <a:highlight>
                  <a:srgbClr val="00FFFF"/>
                </a:highlight>
                <a:latin typeface="华文新魏" panose="02010800040101010101" charset="-122"/>
                <a:ea typeface="华文新魏" panose="02010800040101010101" charset="-122"/>
                <a:sym typeface="+mn-ea"/>
              </a:rPr>
              <a:t>介入</a:t>
            </a:r>
            <a:r>
              <a:rPr lang="zh-CN" altLang="en-US" sz="2800" dirty="0">
                <a:solidFill>
                  <a:prstClr val="black"/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夫妻之间的争吵。</a:t>
            </a:r>
            <a:endParaRPr lang="zh-CN" altLang="en-US" sz="2800" dirty="0">
              <a:solidFill>
                <a:prstClr val="black"/>
              </a:solidFill>
              <a:latin typeface="华文新魏" panose="02010800040101010101" charset="-122"/>
              <a:ea typeface="华文新魏" panose="0201080004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3" grpId="0"/>
      <p:bldP spid="5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0"/>
          <p:cNvSpPr/>
          <p:nvPr/>
        </p:nvSpPr>
        <p:spPr>
          <a:xfrm>
            <a:off x="0" y="0"/>
            <a:ext cx="9144000" cy="764704"/>
          </a:xfrm>
          <a:prstGeom prst="rect">
            <a:avLst/>
          </a:prstGeom>
          <a:solidFill>
            <a:srgbClr val="99CC00">
              <a:alpha val="8470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95605" y="1125220"/>
            <a:ext cx="26231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kern="0">
                <a:solidFill>
                  <a:schemeClr val="accent4">
                    <a:lumMod val="10000"/>
                  </a:schemeClr>
                </a:solidFill>
                <a:latin typeface="Helvetica"/>
              </a:rPr>
              <a:t>5. </a:t>
            </a:r>
            <a:r>
              <a:rPr lang="en-US" altLang="zh-CN" sz="2800" b="1" kern="0" dirty="0">
                <a:solidFill>
                  <a:schemeClr val="accent4">
                    <a:lumMod val="10000"/>
                  </a:schemeClr>
                </a:solidFill>
                <a:latin typeface="Helvetica"/>
                <a:sym typeface="+mn-ea"/>
              </a:rPr>
              <a:t>catastrophe</a:t>
            </a:r>
            <a:r>
              <a:rPr lang="zh-CN" altLang="en-US" sz="2800" b="1" kern="0">
                <a:solidFill>
                  <a:schemeClr val="accent4">
                    <a:lumMod val="10000"/>
                  </a:schemeClr>
                </a:solidFill>
                <a:latin typeface="Helvetica"/>
              </a:rPr>
              <a:t>：</a:t>
            </a:r>
            <a:r>
              <a:rPr lang="en-US" altLang="zh-CN" sz="2400" b="1" kern="0">
                <a:solidFill>
                  <a:schemeClr val="accent4">
                    <a:lumMod val="10000"/>
                  </a:schemeClr>
                </a:solidFill>
                <a:latin typeface="Helvetica"/>
              </a:rPr>
              <a:t>  </a:t>
            </a:r>
            <a:endParaRPr lang="en-US" altLang="zh-CN" sz="2400" kern="0" dirty="0">
              <a:solidFill>
                <a:schemeClr val="accent4">
                  <a:lumMod val="1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15340" y="4725670"/>
            <a:ext cx="751332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lnSpc>
                <a:spcPct val="150000"/>
              </a:lnSpc>
              <a:buNone/>
            </a:pPr>
            <a:r>
              <a:rPr lang="en-US" altLang="zh-CN" sz="2800" kern="0" dirty="0">
                <a:latin typeface="Helvetica"/>
                <a:sym typeface="+mn-ea"/>
              </a:rPr>
              <a:t>Early warnings of rising water levels prevented another major</a:t>
            </a:r>
            <a:r>
              <a:rPr lang="en-US" altLang="zh-CN" sz="2800" kern="0" dirty="0">
                <a:highlight>
                  <a:srgbClr val="00FFFF"/>
                </a:highlight>
                <a:latin typeface="Helvetica"/>
                <a:sym typeface="+mn-ea"/>
              </a:rPr>
              <a:t> catastrophe</a:t>
            </a:r>
            <a:r>
              <a:rPr lang="en-US" altLang="zh-CN" sz="2800" kern="0" dirty="0">
                <a:latin typeface="Helvetica"/>
                <a:sym typeface="+mn-ea"/>
              </a:rPr>
              <a:t>.</a:t>
            </a:r>
            <a:endParaRPr lang="en-US" altLang="zh-CN" sz="2800" kern="0" dirty="0">
              <a:solidFill>
                <a:schemeClr val="accent4">
                  <a:lumMod val="10000"/>
                </a:schemeClr>
              </a:solidFill>
              <a:latin typeface="Helvetic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7395" y="3843655"/>
            <a:ext cx="790511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en-US" sz="2800" dirty="0">
                <a:highlight>
                  <a:srgbClr val="FFFF00"/>
                </a:highlight>
                <a:latin typeface="华文新魏" panose="02010800040101010101" charset="-122"/>
                <a:ea typeface="华文新魏" panose="02010800040101010101" charset="-122"/>
                <a:sym typeface="+mn-ea"/>
              </a:rPr>
              <a:t>提前发出的洪水水位上涨警报防止了又一次重大灾难的发生。</a:t>
            </a:r>
            <a:endParaRPr lang="zh-CN" altLang="en-US" sz="2800" b="1" dirty="0">
              <a:solidFill>
                <a:prstClr val="black"/>
              </a:solidFill>
              <a:highlight>
                <a:srgbClr val="FFFF00"/>
              </a:highlight>
              <a:latin typeface="华文新魏" panose="02010800040101010101" charset="-122"/>
              <a:ea typeface="华文新魏" panose="02010800040101010101" charset="-122"/>
              <a:sym typeface="+mn-ea"/>
            </a:endParaRPr>
          </a:p>
        </p:txBody>
      </p:sp>
      <p:sp>
        <p:nvSpPr>
          <p:cNvPr id="3" name="TextBox 1"/>
          <p:cNvSpPr txBox="1"/>
          <p:nvPr/>
        </p:nvSpPr>
        <p:spPr>
          <a:xfrm>
            <a:off x="3131820" y="1052830"/>
            <a:ext cx="467487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kern="0" dirty="0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1.麻烦；困境；不利的局面</a:t>
            </a:r>
            <a:endParaRPr lang="en-US" altLang="zh-CN" sz="2800" kern="0" dirty="0">
              <a:solidFill>
                <a:schemeClr val="accent4">
                  <a:lumMod val="10000"/>
                </a:schemeClr>
              </a:solidFill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  <a:sym typeface="+mn-ea"/>
            </a:endParaRPr>
          </a:p>
          <a:p>
            <a:pPr indent="0" algn="just">
              <a:buFont typeface="+mj-ea"/>
              <a:buNone/>
            </a:pPr>
            <a:r>
              <a:rPr lang="en-US" altLang="zh-CN" sz="2800" kern="0" dirty="0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2.灾难；大祸；严重的不幸</a:t>
            </a:r>
            <a:endParaRPr lang="zh-CN" altLang="en-US" sz="2800" b="1" kern="0" dirty="0">
              <a:solidFill>
                <a:schemeClr val="accent4">
                  <a:lumMod val="10000"/>
                </a:schemeClr>
              </a:solidFill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36600" y="1845310"/>
            <a:ext cx="7671435" cy="13836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2800" kern="0" dirty="0">
                <a:latin typeface="Helvetica"/>
                <a:sym typeface="+mn-ea"/>
              </a:rPr>
              <a:t>We’ve had</a:t>
            </a:r>
            <a:r>
              <a:rPr lang="en-US" altLang="zh-CN" sz="2800" kern="0" dirty="0">
                <a:highlight>
                  <a:srgbClr val="00FFFF"/>
                </a:highlight>
                <a:latin typeface="Helvetica"/>
                <a:sym typeface="+mn-ea"/>
              </a:rPr>
              <a:t> a few catastrophes</a:t>
            </a:r>
            <a:r>
              <a:rPr lang="en-US" altLang="zh-CN" sz="2800" kern="0" dirty="0">
                <a:latin typeface="Helvetica"/>
                <a:sym typeface="+mn-ea"/>
              </a:rPr>
              <a:t> with the food for </a:t>
            </a:r>
            <a:endParaRPr lang="en-US" altLang="zh-CN" sz="2800" kern="0" dirty="0">
              <a:latin typeface="Helvetica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2800" kern="0" dirty="0">
                <a:latin typeface="Helvetica"/>
                <a:sym typeface="+mn-ea"/>
              </a:rPr>
              <a:t>the party.</a:t>
            </a:r>
            <a:endParaRPr lang="zh-CN" altLang="en-US" sz="2800"/>
          </a:p>
        </p:txBody>
      </p:sp>
      <p:sp>
        <p:nvSpPr>
          <p:cNvPr id="6" name="文本框 5"/>
          <p:cNvSpPr txBox="1"/>
          <p:nvPr/>
        </p:nvSpPr>
        <p:spPr>
          <a:xfrm>
            <a:off x="736600" y="3213100"/>
            <a:ext cx="693928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just"/>
            <a:r>
              <a:rPr lang="zh-CN" altLang="en-US" sz="2800" dirty="0">
                <a:latin typeface="华文新魏" panose="02010800040101010101" charset="-122"/>
                <a:ea typeface="华文新魏" panose="02010800040101010101" charset="-122"/>
                <a:sym typeface="+mn-ea"/>
              </a:rPr>
              <a:t>我们为聚会准备食物时，遇到了</a:t>
            </a:r>
            <a:r>
              <a:rPr lang="zh-CN" altLang="en-US" sz="2800" dirty="0">
                <a:highlight>
                  <a:srgbClr val="00FFFF"/>
                </a:highlight>
                <a:latin typeface="华文新魏" panose="02010800040101010101" charset="-122"/>
                <a:ea typeface="华文新魏" panose="02010800040101010101" charset="-122"/>
                <a:sym typeface="+mn-ea"/>
              </a:rPr>
              <a:t>一些困难</a:t>
            </a:r>
            <a:r>
              <a:rPr lang="zh-CN" altLang="en-US" sz="2800" dirty="0">
                <a:latin typeface="华文新魏" panose="02010800040101010101" charset="-122"/>
                <a:ea typeface="华文新魏" panose="02010800040101010101" charset="-122"/>
                <a:sym typeface="+mn-ea"/>
              </a:rPr>
              <a:t>。</a:t>
            </a:r>
            <a:endParaRPr lang="zh-CN" altLang="en-US" sz="2800" dirty="0">
              <a:latin typeface="华文新魏" panose="02010800040101010101" charset="-122"/>
              <a:ea typeface="华文新魏" panose="0201080004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3" grpId="0"/>
      <p:bldP spid="5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0"/>
          <p:cNvSpPr/>
          <p:nvPr/>
        </p:nvSpPr>
        <p:spPr>
          <a:xfrm>
            <a:off x="0" y="0"/>
            <a:ext cx="9144000" cy="764704"/>
          </a:xfrm>
          <a:prstGeom prst="rect">
            <a:avLst/>
          </a:prstGeom>
          <a:solidFill>
            <a:srgbClr val="99CC00">
              <a:alpha val="8470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95605" y="1125220"/>
            <a:ext cx="26231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kern="0" dirty="0">
                <a:solidFill>
                  <a:schemeClr val="accent4">
                    <a:lumMod val="10000"/>
                  </a:schemeClr>
                </a:solidFill>
                <a:latin typeface="Helvetica"/>
              </a:rPr>
              <a:t>5. </a:t>
            </a:r>
            <a:r>
              <a:rPr lang="en-US" altLang="zh-CN" sz="2800" b="1" kern="0" dirty="0">
                <a:solidFill>
                  <a:schemeClr val="accent4">
                    <a:lumMod val="10000"/>
                  </a:schemeClr>
                </a:solidFill>
                <a:latin typeface="Helvetica"/>
                <a:sym typeface="+mn-ea"/>
              </a:rPr>
              <a:t>catastrophe</a:t>
            </a:r>
            <a:r>
              <a:rPr lang="zh-CN" altLang="en-US" sz="2800" b="1" kern="0" dirty="0">
                <a:solidFill>
                  <a:schemeClr val="accent4">
                    <a:lumMod val="10000"/>
                  </a:schemeClr>
                </a:solidFill>
                <a:latin typeface="Helvetica"/>
              </a:rPr>
              <a:t>：</a:t>
            </a:r>
            <a:r>
              <a:rPr lang="en-US" altLang="zh-CN" sz="2400" b="1" kern="0" dirty="0">
                <a:solidFill>
                  <a:schemeClr val="accent4">
                    <a:lumMod val="10000"/>
                  </a:schemeClr>
                </a:solidFill>
                <a:latin typeface="Helvetica"/>
              </a:rPr>
              <a:t>  </a:t>
            </a:r>
            <a:endParaRPr lang="en-US" altLang="zh-CN" sz="2400" kern="0" dirty="0">
              <a:solidFill>
                <a:schemeClr val="accent4">
                  <a:lumMod val="1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" name="TextBox 1"/>
          <p:cNvSpPr txBox="1"/>
          <p:nvPr/>
        </p:nvSpPr>
        <p:spPr>
          <a:xfrm>
            <a:off x="3131820" y="1052830"/>
            <a:ext cx="467487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kern="0" dirty="0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1.麻烦；困境；不利的局面</a:t>
            </a:r>
            <a:endParaRPr lang="en-US" altLang="zh-CN" sz="2800" kern="0" dirty="0">
              <a:solidFill>
                <a:schemeClr val="accent4">
                  <a:lumMod val="10000"/>
                </a:schemeClr>
              </a:solidFill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  <a:sym typeface="+mn-ea"/>
            </a:endParaRPr>
          </a:p>
          <a:p>
            <a:pPr indent="0" algn="just">
              <a:buFont typeface="+mj-ea"/>
              <a:buNone/>
            </a:pPr>
            <a:r>
              <a:rPr lang="en-US" altLang="zh-CN" sz="2800" kern="0" dirty="0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2.灾难；大祸；严重的不幸</a:t>
            </a:r>
            <a:endParaRPr lang="zh-CN" altLang="en-US" sz="2800" b="1" kern="0" dirty="0">
              <a:solidFill>
                <a:schemeClr val="accent4">
                  <a:lumMod val="10000"/>
                </a:schemeClr>
              </a:solidFill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85720" y="2214554"/>
            <a:ext cx="8618065" cy="203132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2800" kern="0" dirty="0" smtClean="0">
                <a:latin typeface="Helvetica"/>
                <a:sym typeface="+mn-ea"/>
              </a:rPr>
              <a:t>The expulsion of hundreds of thousands of </a:t>
            </a:r>
            <a:endParaRPr lang="en-US" altLang="zh-CN" sz="2800" kern="0" dirty="0" smtClean="0">
              <a:latin typeface="Helvetica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2800" kern="0" dirty="0" smtClean="0">
                <a:latin typeface="Helvetica"/>
                <a:sym typeface="+mn-ea"/>
              </a:rPr>
              <a:t>Palestinians from the Gaza strip by Israel represents</a:t>
            </a:r>
            <a:endParaRPr lang="en-US" altLang="zh-CN" sz="2800" kern="0" dirty="0" smtClean="0">
              <a:latin typeface="Helvetica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2800" kern="0" dirty="0" smtClean="0">
                <a:latin typeface="Helvetica"/>
                <a:sym typeface="+mn-ea"/>
              </a:rPr>
              <a:t>a humanitarian </a:t>
            </a:r>
            <a:r>
              <a:rPr lang="en-US" altLang="zh-CN" sz="2800" b="1" kern="0" dirty="0" smtClean="0">
                <a:solidFill>
                  <a:srgbClr val="FF0000"/>
                </a:solidFill>
                <a:latin typeface="Helvetica"/>
                <a:sym typeface="+mn-ea"/>
              </a:rPr>
              <a:t>catastrophe</a:t>
            </a:r>
            <a:r>
              <a:rPr lang="en-US" altLang="zh-CN" sz="2800" kern="0" dirty="0" smtClean="0">
                <a:latin typeface="Helvetica"/>
                <a:sym typeface="+mn-ea"/>
              </a:rPr>
              <a:t> of enormous proportions.</a:t>
            </a:r>
            <a:endParaRPr lang="zh-CN" altLang="en-US" sz="2800" dirty="0"/>
          </a:p>
        </p:txBody>
      </p:sp>
      <p:sp>
        <p:nvSpPr>
          <p:cNvPr id="6" name="文本框 4"/>
          <p:cNvSpPr txBox="1"/>
          <p:nvPr/>
        </p:nvSpPr>
        <p:spPr>
          <a:xfrm>
            <a:off x="285720" y="4357694"/>
            <a:ext cx="2169184" cy="668388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2800" b="1" kern="0" dirty="0" smtClean="0">
                <a:solidFill>
                  <a:srgbClr val="FF0000"/>
                </a:solidFill>
                <a:latin typeface="Helvetica"/>
                <a:sym typeface="+mn-ea"/>
              </a:rPr>
              <a:t>c</a:t>
            </a:r>
            <a:r>
              <a:rPr lang="en-US" altLang="zh-CN" sz="2800" b="1" kern="0" dirty="0" smtClean="0">
                <a:solidFill>
                  <a:srgbClr val="FF0000"/>
                </a:solidFill>
                <a:latin typeface="Helvetica"/>
                <a:sym typeface="+mn-ea"/>
              </a:rPr>
              <a:t>atastrophic: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7" name="文本框 4"/>
          <p:cNvSpPr txBox="1"/>
          <p:nvPr/>
        </p:nvSpPr>
        <p:spPr>
          <a:xfrm>
            <a:off x="2428860" y="4357694"/>
            <a:ext cx="6558206" cy="1314719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2800" kern="0" dirty="0" smtClean="0">
                <a:latin typeface="Helvetica"/>
                <a:sym typeface="+mn-ea"/>
              </a:rPr>
              <a:t>The effects of global warming, while not </a:t>
            </a:r>
            <a:endParaRPr lang="en-US" altLang="zh-CN" sz="2800" kern="0" dirty="0" smtClean="0">
              <a:latin typeface="Helvetica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2800" kern="0" dirty="0" smtClean="0">
                <a:latin typeface="Helvetica"/>
                <a:sym typeface="+mn-ea"/>
              </a:rPr>
              <a:t>i</a:t>
            </a:r>
            <a:r>
              <a:rPr lang="en-US" altLang="zh-CN" sz="2800" kern="0" dirty="0" smtClean="0">
                <a:latin typeface="Helvetica"/>
                <a:sym typeface="+mn-ea"/>
              </a:rPr>
              <a:t>mmediate, are potentially catastrophic.</a:t>
            </a:r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0"/>
          <p:cNvSpPr/>
          <p:nvPr/>
        </p:nvSpPr>
        <p:spPr>
          <a:xfrm>
            <a:off x="0" y="0"/>
            <a:ext cx="9144000" cy="764704"/>
          </a:xfrm>
          <a:prstGeom prst="rect">
            <a:avLst/>
          </a:prstGeom>
          <a:solidFill>
            <a:srgbClr val="99CC00">
              <a:alpha val="8470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95605" y="1125220"/>
            <a:ext cx="26231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kern="0" dirty="0" smtClean="0">
                <a:solidFill>
                  <a:schemeClr val="accent4">
                    <a:lumMod val="10000"/>
                  </a:schemeClr>
                </a:solidFill>
                <a:latin typeface="Helvetica"/>
                <a:sym typeface="+mn-ea"/>
              </a:rPr>
              <a:t>calamity</a:t>
            </a:r>
            <a:r>
              <a:rPr lang="zh-CN" altLang="en-US" sz="2800" b="1" kern="0" dirty="0" smtClean="0">
                <a:solidFill>
                  <a:schemeClr val="accent4">
                    <a:lumMod val="10000"/>
                  </a:schemeClr>
                </a:solidFill>
                <a:latin typeface="Helvetica"/>
              </a:rPr>
              <a:t>：</a:t>
            </a:r>
            <a:r>
              <a:rPr lang="en-US" altLang="zh-CN" sz="2400" b="1" kern="0" dirty="0" smtClean="0">
                <a:solidFill>
                  <a:schemeClr val="accent4">
                    <a:lumMod val="10000"/>
                  </a:schemeClr>
                </a:solidFill>
                <a:latin typeface="Helvetica"/>
              </a:rPr>
              <a:t>  </a:t>
            </a:r>
            <a:endParaRPr lang="en-US" altLang="zh-CN" sz="2400" kern="0" dirty="0">
              <a:solidFill>
                <a:schemeClr val="accent4">
                  <a:lumMod val="1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" name="TextBox 1"/>
          <p:cNvSpPr txBox="1"/>
          <p:nvPr/>
        </p:nvSpPr>
        <p:spPr>
          <a:xfrm>
            <a:off x="2214546" y="1142984"/>
            <a:ext cx="3286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kern="0" dirty="0" smtClean="0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 </a:t>
            </a:r>
            <a:r>
              <a:rPr lang="en-US" altLang="zh-CN" sz="2800" kern="0" dirty="0" err="1" smtClean="0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灾难</a:t>
            </a:r>
            <a:r>
              <a:rPr lang="en-US" altLang="zh-CN" sz="2800" kern="0" dirty="0" smtClean="0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；</a:t>
            </a:r>
            <a:r>
              <a:rPr lang="zh-CN" altLang="en-US" sz="2800" kern="0" dirty="0" smtClean="0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灾</a:t>
            </a:r>
            <a:r>
              <a:rPr lang="en-US" altLang="zh-CN" sz="2800" kern="0" dirty="0" smtClean="0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祸；</a:t>
            </a:r>
            <a:r>
              <a:rPr lang="zh-CN" altLang="en-US" sz="2800" kern="0" dirty="0" smtClean="0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不幸</a:t>
            </a:r>
            <a:r>
              <a:rPr lang="en-US" altLang="zh-CN" sz="2800" kern="0" dirty="0" smtClean="0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 </a:t>
            </a:r>
            <a:endParaRPr lang="zh-CN" altLang="en-US" sz="2800" b="1" kern="0" dirty="0">
              <a:solidFill>
                <a:schemeClr val="accent4">
                  <a:lumMod val="10000"/>
                </a:schemeClr>
              </a:solidFill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00034" y="1785926"/>
            <a:ext cx="7837402" cy="668388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2800" kern="0" dirty="0" smtClean="0">
                <a:latin typeface="Helvetica"/>
                <a:sym typeface="+mn-ea"/>
              </a:rPr>
              <a:t>It will be a calamity for farmers if it keeps raining.</a:t>
            </a:r>
            <a:endParaRPr lang="zh-CN" altLang="en-US" sz="2800" dirty="0"/>
          </a:p>
        </p:txBody>
      </p:sp>
      <p:sp>
        <p:nvSpPr>
          <p:cNvPr id="8" name="文本框 4"/>
          <p:cNvSpPr txBox="1"/>
          <p:nvPr/>
        </p:nvSpPr>
        <p:spPr>
          <a:xfrm>
            <a:off x="500034" y="2643182"/>
            <a:ext cx="8291052" cy="1314719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2800" kern="0" dirty="0" smtClean="0">
                <a:latin typeface="Helvetica"/>
                <a:sym typeface="+mn-ea"/>
              </a:rPr>
              <a:t>The marriage proved to be the greatest calamity of </a:t>
            </a:r>
            <a:endParaRPr lang="en-US" altLang="zh-CN" sz="2800" kern="0" dirty="0" smtClean="0">
              <a:latin typeface="Helvetica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2800" kern="0" dirty="0" smtClean="0">
                <a:latin typeface="Helvetica"/>
                <a:sym typeface="+mn-ea"/>
              </a:rPr>
              <a:t>her life  .</a:t>
            </a:r>
            <a:endParaRPr lang="zh-CN" altLang="en-US" sz="2800" dirty="0"/>
          </a:p>
        </p:txBody>
      </p:sp>
      <p:sp>
        <p:nvSpPr>
          <p:cNvPr id="9" name="文本框 4"/>
          <p:cNvSpPr txBox="1"/>
          <p:nvPr/>
        </p:nvSpPr>
        <p:spPr>
          <a:xfrm>
            <a:off x="500034" y="4000504"/>
            <a:ext cx="5929828" cy="738664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800" dirty="0" smtClean="0"/>
              <a:t>这次英语考试我要是通不过就惨了。</a:t>
            </a:r>
            <a:endParaRPr lang="zh-CN" altLang="en-US" sz="2800" dirty="0"/>
          </a:p>
        </p:txBody>
      </p:sp>
      <p:sp>
        <p:nvSpPr>
          <p:cNvPr id="11" name="文本框 4"/>
          <p:cNvSpPr txBox="1"/>
          <p:nvPr/>
        </p:nvSpPr>
        <p:spPr>
          <a:xfrm>
            <a:off x="642910" y="4714884"/>
            <a:ext cx="6534481" cy="738664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2800" dirty="0" smtClean="0"/>
              <a:t>It will be a calamity if I fail my English exam</a:t>
            </a:r>
            <a:r>
              <a:rPr lang="en-US" altLang="zh-CN" sz="2800" dirty="0" smtClean="0"/>
              <a:t>.</a:t>
            </a:r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8" grpId="0"/>
      <p:bldP spid="9" grpId="0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0"/>
          <p:cNvSpPr/>
          <p:nvPr/>
        </p:nvSpPr>
        <p:spPr>
          <a:xfrm>
            <a:off x="0" y="0"/>
            <a:ext cx="9144000" cy="764704"/>
          </a:xfrm>
          <a:prstGeom prst="rect">
            <a:avLst/>
          </a:prstGeom>
          <a:solidFill>
            <a:srgbClr val="99CC00">
              <a:alpha val="8470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95605" y="1125220"/>
            <a:ext cx="30575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kern="0">
                <a:solidFill>
                  <a:schemeClr val="accent4">
                    <a:lumMod val="10000"/>
                  </a:schemeClr>
                </a:solidFill>
                <a:latin typeface="Helvetica"/>
              </a:rPr>
              <a:t>6. </a:t>
            </a:r>
            <a:r>
              <a:rPr lang="en-US" altLang="zh-CN" sz="3200" b="1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  <a:sym typeface="华文楷体" panose="02010600040101010101" pitchFamily="2" charset="-122"/>
              </a:rPr>
              <a:t>contemplate</a:t>
            </a:r>
            <a:r>
              <a:rPr lang="zh-CN" altLang="en-US" sz="2800" b="1" kern="0">
                <a:solidFill>
                  <a:schemeClr val="accent4">
                    <a:lumMod val="10000"/>
                  </a:schemeClr>
                </a:solidFill>
                <a:latin typeface="Helvetica"/>
              </a:rPr>
              <a:t>：</a:t>
            </a:r>
            <a:r>
              <a:rPr lang="en-US" altLang="zh-CN" sz="2400" b="1" kern="0">
                <a:solidFill>
                  <a:schemeClr val="accent4">
                    <a:lumMod val="10000"/>
                  </a:schemeClr>
                </a:solidFill>
                <a:latin typeface="Helvetica"/>
              </a:rPr>
              <a:t>  </a:t>
            </a:r>
            <a:endParaRPr lang="en-US" altLang="zh-CN" sz="2400" kern="0" dirty="0">
              <a:solidFill>
                <a:schemeClr val="accent4">
                  <a:lumMod val="1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11505" y="3717290"/>
            <a:ext cx="7513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just">
              <a:lnSpc>
                <a:spcPct val="150000"/>
              </a:lnSpc>
              <a:buNone/>
            </a:pPr>
            <a:r>
              <a:rPr lang="zh-CN" altLang="en-US" sz="3200" dirty="0" smtClean="0">
                <a:solidFill>
                  <a:schemeClr val="tx1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  <a:sym typeface="+mn-ea"/>
              </a:rPr>
              <a:t>I have never contemplated living abroad.</a:t>
            </a:r>
            <a:endParaRPr lang="zh-CN" altLang="en-US" sz="3200" kern="0" dirty="0" smtClean="0">
              <a:solidFill>
                <a:schemeClr val="tx1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11505" y="3151505"/>
            <a:ext cx="790511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indent="0" algn="just">
              <a:buNone/>
            </a:pPr>
            <a:r>
              <a:rPr lang="zh-CN" altLang="en-US" sz="3200" dirty="0">
                <a:solidFill>
                  <a:prstClr val="black"/>
                </a:solidFill>
                <a:highlight>
                  <a:srgbClr val="FFFF00"/>
                </a:highlight>
                <a:latin typeface="华文新魏" panose="02010800040101010101" charset="-122"/>
                <a:ea typeface="华文新魏" panose="02010800040101010101" charset="-122"/>
                <a:sym typeface="+mn-ea"/>
              </a:rPr>
              <a:t>我从未考虑过去国外居住。</a:t>
            </a:r>
            <a:endParaRPr lang="zh-CN" altLang="en-US" sz="3200" dirty="0">
              <a:solidFill>
                <a:prstClr val="black"/>
              </a:solidFill>
              <a:highlight>
                <a:srgbClr val="FFFF00"/>
              </a:highlight>
              <a:latin typeface="华文新魏" panose="02010800040101010101" charset="-122"/>
              <a:ea typeface="华文新魏" panose="02010800040101010101" charset="-122"/>
              <a:sym typeface="+mn-ea"/>
            </a:endParaRPr>
          </a:p>
        </p:txBody>
      </p:sp>
      <p:sp>
        <p:nvSpPr>
          <p:cNvPr id="3" name="TextBox 1"/>
          <p:cNvSpPr txBox="1"/>
          <p:nvPr/>
        </p:nvSpPr>
        <p:spPr>
          <a:xfrm>
            <a:off x="3453130" y="1196975"/>
            <a:ext cx="5186045" cy="5524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just">
              <a:buFont typeface="+mj-ea"/>
              <a:buNone/>
            </a:pPr>
            <a:r>
              <a:rPr lang="zh-CN" altLang="en-US" sz="2800" dirty="0">
                <a:solidFill>
                  <a:srgbClr val="000000"/>
                </a:solidFill>
                <a:latin typeface="华文新魏" panose="02010800040101010101" charset="-122"/>
                <a:ea typeface="华文新魏" panose="02010800040101010101" charset="-122"/>
                <a:sym typeface="Arial" panose="020B0604020202020204" pitchFamily="34" charset="0"/>
              </a:rPr>
              <a:t>沉思；考虑；思量；苦思冥想</a:t>
            </a:r>
            <a:endParaRPr lang="zh-CN" altLang="en-US" sz="2800" b="1" kern="0" dirty="0">
              <a:solidFill>
                <a:schemeClr val="accent4">
                  <a:lumMod val="10000"/>
                </a:schemeClr>
              </a:solidFill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11505" y="1557020"/>
            <a:ext cx="5126990" cy="829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zh-CN" sz="320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华文楷体" panose="02010600040101010101" pitchFamily="2" charset="-122"/>
              </a:rPr>
              <a:t>She lay in bed, contemplating</a:t>
            </a:r>
            <a:r>
              <a:rPr lang="en-US" altLang="zh-CN" sz="320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华文楷体" panose="02010600040101010101" pitchFamily="2" charset="-122"/>
              </a:rPr>
              <a:t>.</a:t>
            </a:r>
            <a:endParaRPr lang="en-US" altLang="zh-CN" sz="320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  <a:sym typeface="华文楷体" panose="0201060004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11505" y="2277110"/>
            <a:ext cx="4246880" cy="829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200" dirty="0">
                <a:solidFill>
                  <a:prstClr val="black"/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她躺在床上冥思苦想。</a:t>
            </a:r>
            <a:endParaRPr lang="zh-CN" altLang="en-US" sz="3200" dirty="0">
              <a:solidFill>
                <a:prstClr val="black"/>
              </a:solidFill>
              <a:latin typeface="华文新魏" panose="02010800040101010101" charset="-122"/>
              <a:ea typeface="华文新魏" panose="02010800040101010101" charset="-122"/>
              <a:sym typeface="+mn-ea"/>
            </a:endParaRPr>
          </a:p>
        </p:txBody>
      </p:sp>
      <p:sp>
        <p:nvSpPr>
          <p:cNvPr id="4" name="TextBox 8"/>
          <p:cNvSpPr txBox="1"/>
          <p:nvPr/>
        </p:nvSpPr>
        <p:spPr>
          <a:xfrm>
            <a:off x="467995" y="5949315"/>
            <a:ext cx="790511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indent="0" algn="just">
              <a:buNone/>
            </a:pPr>
            <a:r>
              <a:rPr lang="zh-CN" altLang="en-US" sz="3200" dirty="0">
                <a:solidFill>
                  <a:prstClr val="black"/>
                </a:solidFill>
                <a:highlight>
                  <a:srgbClr val="FFFF00"/>
                </a:highlight>
                <a:latin typeface="华文新魏" panose="02010800040101010101" charset="-122"/>
                <a:ea typeface="华文新魏" panose="02010800040101010101" charset="-122"/>
                <a:sym typeface="+mn-ea"/>
              </a:rPr>
              <a:t>战争太可怕了，真不敢去想。</a:t>
            </a:r>
            <a:endParaRPr lang="zh-CN" altLang="en-US" sz="3200" dirty="0">
              <a:solidFill>
                <a:prstClr val="black"/>
              </a:solidFill>
              <a:highlight>
                <a:srgbClr val="FFFF00"/>
              </a:highlight>
              <a:latin typeface="华文新魏" panose="02010800040101010101" charset="-122"/>
              <a:ea typeface="华文新魏" panose="02010800040101010101" charset="-122"/>
              <a:sym typeface="+mn-ea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539750" y="4563110"/>
            <a:ext cx="7513320" cy="1370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200" dirty="0" smtClean="0">
                <a:solidFill>
                  <a:schemeClr val="tx1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  <a:sym typeface="+mn-ea"/>
              </a:rPr>
              <a:t>The thought of war is too awful to contemplate</a:t>
            </a:r>
            <a:r>
              <a:rPr lang="en-US" altLang="zh-CN" sz="3200" dirty="0" smtClean="0">
                <a:solidFill>
                  <a:schemeClr val="tx1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  <a:sym typeface="+mn-ea"/>
              </a:rPr>
              <a:t>.</a:t>
            </a:r>
            <a:endParaRPr lang="en-US" altLang="zh-CN" sz="3200" dirty="0" smtClean="0">
              <a:solidFill>
                <a:schemeClr val="tx1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3" grpId="0"/>
      <p:bldP spid="5" grpId="0"/>
      <p:bldP spid="6" grpId="0"/>
      <p:bldP spid="4" grpId="0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0"/>
          <p:cNvSpPr/>
          <p:nvPr/>
        </p:nvSpPr>
        <p:spPr>
          <a:xfrm>
            <a:off x="0" y="0"/>
            <a:ext cx="9144000" cy="764704"/>
          </a:xfrm>
          <a:prstGeom prst="rect">
            <a:avLst/>
          </a:prstGeom>
          <a:solidFill>
            <a:srgbClr val="99CC00">
              <a:alpha val="8470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95605" y="1125220"/>
            <a:ext cx="26231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kern="0">
                <a:solidFill>
                  <a:schemeClr val="accent4">
                    <a:lumMod val="10000"/>
                  </a:schemeClr>
                </a:solidFill>
                <a:latin typeface="Helvetica"/>
              </a:rPr>
              <a:t>7. </a:t>
            </a:r>
            <a:r>
              <a:rPr lang="en-US" sz="3200" b="1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  <a:sym typeface="华文楷体" panose="02010600040101010101" pitchFamily="2" charset="-122"/>
              </a:rPr>
              <a:t>suppress</a:t>
            </a:r>
            <a:r>
              <a:rPr lang="zh-CN" altLang="en-US" sz="2800" b="1" kern="0">
                <a:solidFill>
                  <a:schemeClr val="accent4">
                    <a:lumMod val="10000"/>
                  </a:schemeClr>
                </a:solidFill>
                <a:latin typeface="Helvetica"/>
              </a:rPr>
              <a:t>：</a:t>
            </a:r>
            <a:r>
              <a:rPr lang="en-US" altLang="zh-CN" sz="2400" b="1" kern="0">
                <a:solidFill>
                  <a:schemeClr val="accent4">
                    <a:lumMod val="10000"/>
                  </a:schemeClr>
                </a:solidFill>
                <a:latin typeface="Helvetica"/>
              </a:rPr>
              <a:t>  </a:t>
            </a:r>
            <a:endParaRPr lang="en-US" altLang="zh-CN" sz="2400" kern="0" dirty="0">
              <a:solidFill>
                <a:schemeClr val="accent4">
                  <a:lumMod val="1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11505" y="4941570"/>
            <a:ext cx="675322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lnSpc>
                <a:spcPct val="150000"/>
              </a:lnSpc>
              <a:buNone/>
            </a:pPr>
            <a:r>
              <a:rPr lang="zh-CN" altLang="en-US" sz="3200" dirty="0" smtClean="0">
                <a:solidFill>
                  <a:schemeClr val="tx1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  <a:sym typeface="+mn-ea"/>
              </a:rPr>
              <a:t>She was unable to suppress her anger</a:t>
            </a:r>
            <a:r>
              <a:rPr lang="en-US" altLang="zh-CN" sz="3200" dirty="0" smtClean="0">
                <a:solidFill>
                  <a:schemeClr val="tx1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  <a:sym typeface="+mn-ea"/>
              </a:rPr>
              <a:t>.</a:t>
            </a:r>
            <a:endParaRPr lang="en-US" altLang="zh-CN" sz="3200" kern="0" dirty="0" smtClean="0">
              <a:solidFill>
                <a:schemeClr val="tx1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39750" y="4203700"/>
            <a:ext cx="56515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en-US" sz="3200" dirty="0">
                <a:highlight>
                  <a:srgbClr val="FFFF00"/>
                </a:highlight>
                <a:latin typeface="华文新魏" panose="02010800040101010101" charset="-122"/>
                <a:ea typeface="华文新魏" panose="02010800040101010101" charset="-122"/>
                <a:sym typeface="+mn-ea"/>
              </a:rPr>
              <a:t>她按捺不住怒火。</a:t>
            </a:r>
            <a:endParaRPr lang="zh-CN" altLang="en-US" sz="3200" dirty="0">
              <a:highlight>
                <a:srgbClr val="FFFF00"/>
              </a:highlight>
              <a:latin typeface="华文新魏" panose="02010800040101010101" charset="-122"/>
              <a:ea typeface="华文新魏" panose="02010800040101010101" charset="-122"/>
              <a:sym typeface="+mn-ea"/>
            </a:endParaRPr>
          </a:p>
        </p:txBody>
      </p:sp>
      <p:sp>
        <p:nvSpPr>
          <p:cNvPr id="3" name="TextBox 1"/>
          <p:cNvSpPr txBox="1"/>
          <p:nvPr/>
        </p:nvSpPr>
        <p:spPr>
          <a:xfrm>
            <a:off x="2700020" y="1052830"/>
            <a:ext cx="467487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kern="0" dirty="0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1.</a:t>
            </a:r>
            <a:r>
              <a:rPr lang="zh-CN" altLang="en-US" sz="2800" dirty="0">
                <a:solidFill>
                  <a:srgbClr val="000000"/>
                </a:solidFill>
                <a:latin typeface="华文新魏" panose="02010800040101010101" charset="-122"/>
                <a:ea typeface="华文新魏" panose="02010800040101010101" charset="-122"/>
                <a:sym typeface="Arial" panose="020B0604020202020204" pitchFamily="34" charset="0"/>
              </a:rPr>
              <a:t>压制，镇压</a:t>
            </a:r>
            <a:endParaRPr lang="en-US" altLang="zh-CN" sz="2800" kern="0" dirty="0">
              <a:solidFill>
                <a:schemeClr val="accent4">
                  <a:lumMod val="10000"/>
                </a:schemeClr>
              </a:solidFill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  <a:sym typeface="+mn-ea"/>
            </a:endParaRPr>
          </a:p>
          <a:p>
            <a:pPr indent="0" algn="just">
              <a:buFont typeface="+mj-ea"/>
              <a:buNone/>
            </a:pPr>
            <a:r>
              <a:rPr lang="en-US" altLang="zh-CN" sz="2800" kern="0" dirty="0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2.</a:t>
            </a:r>
            <a:r>
              <a:rPr lang="zh-CN" altLang="en-US" sz="2800" dirty="0">
                <a:solidFill>
                  <a:srgbClr val="00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Arial" panose="020B0604020202020204" pitchFamily="34" charset="0"/>
              </a:rPr>
              <a:t>抑制；阻止</a:t>
            </a:r>
            <a:r>
              <a:rPr lang="en-US" altLang="zh-CN" sz="2800" dirty="0">
                <a:solidFill>
                  <a:srgbClr val="00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Arial" panose="020B0604020202020204" pitchFamily="34" charset="0"/>
              </a:rPr>
              <a:t>...</a:t>
            </a:r>
            <a:r>
              <a:rPr lang="zh-CN" altLang="en-US" sz="2800" dirty="0">
                <a:solidFill>
                  <a:srgbClr val="00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Arial" panose="020B0604020202020204" pitchFamily="34" charset="0"/>
              </a:rPr>
              <a:t>生长</a:t>
            </a:r>
            <a:endParaRPr lang="zh-CN" altLang="en-US" sz="2800" b="1" kern="0" dirty="0">
              <a:solidFill>
                <a:schemeClr val="accent4">
                  <a:lumMod val="10000"/>
                </a:schemeClr>
              </a:solidFill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39750" y="2205355"/>
            <a:ext cx="6446520" cy="829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3200" dirty="0" smtClean="0"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  <a:sym typeface="+mn-ea"/>
              </a:rPr>
              <a:t>The rebellion was brutally </a:t>
            </a:r>
            <a:r>
              <a:rPr lang="zh-CN" altLang="en-US" sz="3200" dirty="0" smtClean="0">
                <a:highlight>
                  <a:srgbClr val="00FFFF"/>
                </a:highlight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  <a:sym typeface="+mn-ea"/>
              </a:rPr>
              <a:t>suppressed</a:t>
            </a:r>
            <a:r>
              <a:rPr lang="en-US" altLang="zh-CN" sz="3200" dirty="0" smtClean="0"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  <a:sym typeface="+mn-ea"/>
              </a:rPr>
              <a:t>.</a:t>
            </a:r>
            <a:endParaRPr lang="en-US" altLang="zh-CN" sz="3200" dirty="0" smtClean="0"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67678" y="3035300"/>
            <a:ext cx="4660265" cy="829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3200" b="1" kern="0" dirty="0">
                <a:latin typeface="华文新魏" panose="02010800040101010101" charset="-122"/>
                <a:ea typeface="华文新魏" panose="02010800040101010101" charset="-122"/>
                <a:sym typeface="+mn-ea"/>
              </a:rPr>
              <a:t>起义遭到了残酷的</a:t>
            </a:r>
            <a:r>
              <a:rPr lang="en-US" altLang="zh-CN" sz="3200" b="1" kern="0" dirty="0">
                <a:highlight>
                  <a:srgbClr val="00FFFF"/>
                </a:highlight>
                <a:latin typeface="华文新魏" panose="02010800040101010101" charset="-122"/>
                <a:ea typeface="华文新魏" panose="02010800040101010101" charset="-122"/>
                <a:sym typeface="+mn-ea"/>
              </a:rPr>
              <a:t>镇压</a:t>
            </a:r>
            <a:r>
              <a:rPr lang="en-US" altLang="zh-CN" sz="3200" b="1" kern="0" dirty="0">
                <a:latin typeface="华文新魏" panose="02010800040101010101" charset="-122"/>
                <a:ea typeface="华文新魏" panose="02010800040101010101" charset="-122"/>
                <a:sym typeface="+mn-ea"/>
              </a:rPr>
              <a:t>。</a:t>
            </a:r>
            <a:endParaRPr lang="en-US" altLang="zh-CN" sz="3200" b="1" kern="0" dirty="0">
              <a:latin typeface="华文新魏" panose="02010800040101010101" charset="-122"/>
              <a:ea typeface="华文新魏" panose="0201080004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3" grpId="0"/>
      <p:bldP spid="5" grpId="0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0"/>
          <p:cNvSpPr/>
          <p:nvPr/>
        </p:nvSpPr>
        <p:spPr>
          <a:xfrm>
            <a:off x="0" y="0"/>
            <a:ext cx="9144000" cy="764704"/>
          </a:xfrm>
          <a:prstGeom prst="rect">
            <a:avLst/>
          </a:prstGeom>
          <a:solidFill>
            <a:srgbClr val="99CC00">
              <a:alpha val="8470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67360" y="764540"/>
            <a:ext cx="23545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kern="0">
                <a:solidFill>
                  <a:schemeClr val="accent4">
                    <a:lumMod val="10000"/>
                  </a:schemeClr>
                </a:solidFill>
                <a:latin typeface="Helvetica"/>
              </a:rPr>
              <a:t>8.</a:t>
            </a:r>
            <a:r>
              <a:rPr lang="en-US" altLang="zh-CN" sz="2800" b="1" kern="0" dirty="0">
                <a:solidFill>
                  <a:schemeClr val="accent4">
                    <a:lumMod val="10000"/>
                  </a:schemeClr>
                </a:solidFill>
                <a:latin typeface="Helvetica"/>
                <a:sym typeface="+mn-ea"/>
              </a:rPr>
              <a:t>vulnerable</a:t>
            </a:r>
            <a:r>
              <a:rPr lang="zh-CN" altLang="en-US" sz="2800" b="1" kern="0">
                <a:solidFill>
                  <a:schemeClr val="accent4">
                    <a:lumMod val="10000"/>
                  </a:schemeClr>
                </a:solidFill>
                <a:latin typeface="Helvetica"/>
              </a:rPr>
              <a:t>：</a:t>
            </a:r>
            <a:r>
              <a:rPr lang="en-US" altLang="zh-CN" sz="2400" b="1" kern="0">
                <a:solidFill>
                  <a:schemeClr val="accent4">
                    <a:lumMod val="10000"/>
                  </a:schemeClr>
                </a:solidFill>
                <a:latin typeface="Helvetica"/>
              </a:rPr>
              <a:t>  </a:t>
            </a:r>
            <a:endParaRPr lang="en-US" altLang="zh-CN" sz="2400" kern="0" dirty="0">
              <a:solidFill>
                <a:schemeClr val="accent4">
                  <a:lumMod val="1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" name="TextBox 1"/>
          <p:cNvSpPr txBox="1"/>
          <p:nvPr/>
        </p:nvSpPr>
        <p:spPr>
          <a:xfrm>
            <a:off x="2987675" y="620395"/>
            <a:ext cx="568706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kern="0" dirty="0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1. </a:t>
            </a:r>
            <a:r>
              <a:rPr lang="zh-CN" altLang="en-US" sz="2800" kern="0" dirty="0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脆弱的</a:t>
            </a:r>
            <a:r>
              <a:rPr lang="en-US" altLang="zh-CN" sz="2800" kern="0" dirty="0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；</a:t>
            </a:r>
            <a:r>
              <a:rPr lang="zh-CN" altLang="en-US" sz="2800" kern="0" dirty="0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易受伤的</a:t>
            </a:r>
            <a:endParaRPr lang="en-US" altLang="zh-CN" sz="2800" kern="0" dirty="0">
              <a:solidFill>
                <a:schemeClr val="accent4">
                  <a:lumMod val="10000"/>
                </a:schemeClr>
              </a:solidFill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  <a:sym typeface="+mn-ea"/>
            </a:endParaRPr>
          </a:p>
          <a:p>
            <a:pPr algn="l"/>
            <a:r>
              <a:rPr lang="en-US" altLang="zh-CN" sz="2800" kern="0" dirty="0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2.</a:t>
            </a:r>
            <a:r>
              <a:rPr lang="zh-CN" altLang="en-US" sz="2800" kern="0" dirty="0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易受攻击</a:t>
            </a:r>
            <a:r>
              <a:rPr lang="en-US" altLang="zh-CN" sz="2800" kern="0" dirty="0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的</a:t>
            </a:r>
            <a:r>
              <a:rPr lang="zh-CN" altLang="en-US" sz="2800" kern="0" dirty="0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；易受责难的</a:t>
            </a:r>
            <a:endParaRPr lang="zh-CN" altLang="en-US" sz="2800" b="1" kern="0" dirty="0">
              <a:solidFill>
                <a:schemeClr val="accent4">
                  <a:lumMod val="10000"/>
                </a:schemeClr>
              </a:solidFill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11505" y="1318260"/>
            <a:ext cx="787654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2400" kern="0" dirty="0">
                <a:latin typeface="Helvetica"/>
                <a:sym typeface="+mn-ea"/>
              </a:rPr>
              <a:t>If you are in a financially</a:t>
            </a:r>
            <a:r>
              <a:rPr lang="en-US" altLang="zh-CN" sz="2400" kern="0" dirty="0">
                <a:highlight>
                  <a:srgbClr val="00FFFF"/>
                </a:highlight>
                <a:latin typeface="Helvetica"/>
                <a:sym typeface="+mn-ea"/>
              </a:rPr>
              <a:t> vulnerable</a:t>
            </a:r>
            <a:r>
              <a:rPr lang="en-US" altLang="zh-CN" sz="2400" kern="0" dirty="0">
                <a:latin typeface="Helvetica"/>
                <a:sym typeface="+mn-ea"/>
              </a:rPr>
              <a:t> state, or worry about living on the fringe of society, you may feel compelled to work harder and change your status quo.</a:t>
            </a:r>
            <a:endParaRPr lang="zh-CN" altLang="en-US" sz="2400"/>
          </a:p>
        </p:txBody>
      </p:sp>
      <p:sp>
        <p:nvSpPr>
          <p:cNvPr id="4" name="文本框 3"/>
          <p:cNvSpPr txBox="1"/>
          <p:nvPr/>
        </p:nvSpPr>
        <p:spPr>
          <a:xfrm>
            <a:off x="611505" y="2924810"/>
            <a:ext cx="787654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0000"/>
              </a:lnSpc>
            </a:pPr>
            <a:r>
              <a:rPr lang="en-US" altLang="zh-CN" sz="2400" kern="0" dirty="0">
                <a:latin typeface="Helvetica"/>
                <a:sym typeface="+mn-ea"/>
              </a:rPr>
              <a:t>Supporting the most </a:t>
            </a:r>
            <a:r>
              <a:rPr lang="en-US" altLang="zh-CN" sz="2400" kern="0" dirty="0">
                <a:highlight>
                  <a:srgbClr val="00FFFF"/>
                </a:highlight>
                <a:latin typeface="Helvetica"/>
                <a:sym typeface="+mn-ea"/>
              </a:rPr>
              <a:t>vulnerable</a:t>
            </a:r>
            <a:r>
              <a:rPr lang="en-US" altLang="zh-CN" sz="2400" kern="0" dirty="0">
                <a:latin typeface="Helvetica"/>
                <a:sym typeface="+mn-ea"/>
              </a:rPr>
              <a:t> members of our society should not be viewed as an expenditure, but as a contribution to the eradication of poverty and inequality.</a:t>
            </a:r>
            <a:endParaRPr lang="zh-CN" altLang="en-US" sz="2400"/>
          </a:p>
        </p:txBody>
      </p:sp>
      <p:sp>
        <p:nvSpPr>
          <p:cNvPr id="7" name="文本框 6"/>
          <p:cNvSpPr txBox="1"/>
          <p:nvPr/>
        </p:nvSpPr>
        <p:spPr>
          <a:xfrm>
            <a:off x="509905" y="5445125"/>
            <a:ext cx="790638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0000"/>
              </a:lnSpc>
            </a:pPr>
            <a:r>
              <a:rPr lang="en-US" altLang="zh-CN" sz="2400" kern="0" dirty="0">
                <a:latin typeface="Helvetica"/>
                <a:sym typeface="+mn-ea"/>
              </a:rPr>
              <a:t>He knew clearly that his theory was very </a:t>
            </a:r>
            <a:r>
              <a:rPr lang="en-US" altLang="zh-CN" sz="2400" kern="0" dirty="0">
                <a:highlight>
                  <a:srgbClr val="00FFFF"/>
                </a:highlight>
                <a:latin typeface="Helvetica"/>
                <a:sym typeface="+mn-ea"/>
              </a:rPr>
              <a:t>vulnerable</a:t>
            </a:r>
            <a:r>
              <a:rPr lang="en-US" altLang="zh-CN" sz="2400" kern="0" dirty="0">
                <a:latin typeface="Helvetica"/>
                <a:sym typeface="+mn-ea"/>
              </a:rPr>
              <a:t> as it was poorly tested and badly constructed.</a:t>
            </a:r>
            <a:endParaRPr lang="zh-CN" altLang="en-US" sz="2400"/>
          </a:p>
        </p:txBody>
      </p:sp>
      <p:sp>
        <p:nvSpPr>
          <p:cNvPr id="11" name="文本框 10"/>
          <p:cNvSpPr txBox="1"/>
          <p:nvPr/>
        </p:nvSpPr>
        <p:spPr>
          <a:xfrm>
            <a:off x="539750" y="4436745"/>
            <a:ext cx="787654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2400" b="1" kern="0" dirty="0">
                <a:highlight>
                  <a:srgbClr val="FFFF00"/>
                </a:highlight>
                <a:latin typeface="华文新魏" panose="02010800040101010101" charset="-122"/>
                <a:ea typeface="华文新魏" panose="02010800040101010101" charset="-122"/>
                <a:sym typeface="+mn-ea"/>
              </a:rPr>
              <a:t>他清楚地知道自己的理论很薄弱，因为这个理论没有经过充分的验证，构建也不完善。</a:t>
            </a:r>
            <a:endParaRPr lang="zh-CN" altLang="en-US" sz="2400" b="1" kern="0" dirty="0">
              <a:highlight>
                <a:srgbClr val="FFFF00"/>
              </a:highlight>
              <a:latin typeface="华文新魏" panose="02010800040101010101" charset="-122"/>
              <a:ea typeface="华文新魏" panose="0201080004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4" grpId="0"/>
      <p:bldP spid="7" grpId="0"/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0"/>
          <p:cNvSpPr/>
          <p:nvPr/>
        </p:nvSpPr>
        <p:spPr>
          <a:xfrm>
            <a:off x="0" y="0"/>
            <a:ext cx="9144000" cy="764704"/>
          </a:xfrm>
          <a:prstGeom prst="rect">
            <a:avLst/>
          </a:prstGeom>
          <a:solidFill>
            <a:srgbClr val="99CC00">
              <a:alpha val="8470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95605" y="1125220"/>
            <a:ext cx="26231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kern="0" dirty="0">
                <a:solidFill>
                  <a:schemeClr val="accent4">
                    <a:lumMod val="10000"/>
                  </a:schemeClr>
                </a:solidFill>
                <a:latin typeface="Helvetica"/>
              </a:rPr>
              <a:t>9. </a:t>
            </a:r>
            <a:r>
              <a:rPr lang="en-US" altLang="zh-CN" sz="3200" b="1"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  <a:sym typeface="华文楷体" panose="02010600040101010101" pitchFamily="2" charset="-122"/>
              </a:rPr>
              <a:t>impose</a:t>
            </a:r>
            <a:r>
              <a:rPr lang="zh-CN" altLang="en-US" sz="2800" b="1" kern="0" dirty="0" smtClean="0">
                <a:solidFill>
                  <a:schemeClr val="accent4">
                    <a:lumMod val="10000"/>
                  </a:schemeClr>
                </a:solidFill>
                <a:latin typeface="Helvetica"/>
              </a:rPr>
              <a:t>：</a:t>
            </a:r>
            <a:r>
              <a:rPr lang="en-US" altLang="zh-CN" sz="2400" b="1" kern="0" dirty="0" smtClean="0">
                <a:solidFill>
                  <a:schemeClr val="accent4">
                    <a:lumMod val="10000"/>
                  </a:schemeClr>
                </a:solidFill>
                <a:latin typeface="Helvetica"/>
              </a:rPr>
              <a:t>  </a:t>
            </a:r>
            <a:endParaRPr lang="en-US" altLang="zh-CN" sz="2400" kern="0" dirty="0">
              <a:solidFill>
                <a:schemeClr val="accent4">
                  <a:lumMod val="1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0034" y="4071942"/>
            <a:ext cx="831821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just">
              <a:buNone/>
            </a:pPr>
            <a:r>
              <a:rPr lang="zh-CN" altLang="en-US" sz="2800" kern="0" dirty="0" smtClean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将你的个人意见强加于</a:t>
            </a:r>
            <a:r>
              <a:rPr lang="zh-CN" altLang="en-US" sz="2800" kern="0" dirty="0" smtClean="0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他人并期望他们接受是不对的</a:t>
            </a:r>
            <a:r>
              <a:rPr lang="en-US" altLang="zh-CN" sz="2800" kern="0" dirty="0" smtClean="0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。</a:t>
            </a:r>
            <a:endParaRPr lang="en-US" altLang="zh-CN" sz="2800" kern="0" dirty="0"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  <a:sym typeface="+mn-ea"/>
            </a:endParaRPr>
          </a:p>
        </p:txBody>
      </p:sp>
      <p:sp>
        <p:nvSpPr>
          <p:cNvPr id="3" name="TextBox 1"/>
          <p:cNvSpPr txBox="1"/>
          <p:nvPr/>
        </p:nvSpPr>
        <p:spPr>
          <a:xfrm>
            <a:off x="2771775" y="981075"/>
            <a:ext cx="5694680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kern="0" dirty="0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1</a:t>
            </a:r>
            <a:r>
              <a:rPr lang="en-US" altLang="zh-CN" sz="2800" kern="0" dirty="0" smtClean="0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.</a:t>
            </a:r>
            <a:r>
              <a:rPr lang="zh-CN" altLang="en-US" sz="2800" kern="0" dirty="0" smtClean="0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强制推行；强制实行</a:t>
            </a:r>
            <a:endParaRPr lang="en-US" altLang="zh-CN" sz="2800" kern="0" dirty="0">
              <a:solidFill>
                <a:schemeClr val="accent4">
                  <a:lumMod val="10000"/>
                </a:schemeClr>
              </a:solidFill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  <a:sym typeface="+mn-ea"/>
            </a:endParaRPr>
          </a:p>
          <a:p>
            <a:pPr indent="0" algn="just">
              <a:buFont typeface="+mj-ea"/>
              <a:buNone/>
            </a:pPr>
            <a:r>
              <a:rPr lang="en-US" altLang="zh-CN" sz="2800" kern="0" dirty="0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2</a:t>
            </a:r>
            <a:r>
              <a:rPr lang="en-US" altLang="zh-CN" sz="2800" kern="0" dirty="0" smtClean="0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.</a:t>
            </a:r>
            <a:r>
              <a:rPr lang="zh-CN" altLang="en-US" sz="2800" kern="0" dirty="0" smtClean="0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将（想法、信仰）强加于（某人）</a:t>
            </a:r>
            <a:endParaRPr lang="zh-CN" altLang="en-US" sz="2800" dirty="0">
              <a:solidFill>
                <a:srgbClr val="000000"/>
              </a:solidFill>
              <a:latin typeface="Helvetica" pitchFamily="34" charset="0"/>
              <a:ea typeface="宋体" panose="02010600030101010101" pitchFamily="2" charset="-122"/>
              <a:sym typeface="Arial" panose="020B0604020202020204" pitchFamily="34" charset="0"/>
            </a:endParaRPr>
          </a:p>
          <a:p>
            <a:pPr indent="0" algn="just">
              <a:buFont typeface="+mj-ea"/>
              <a:buNone/>
            </a:pPr>
            <a:endParaRPr lang="en-US" altLang="zh-CN" sz="2800" kern="0" dirty="0">
              <a:solidFill>
                <a:schemeClr val="accent4">
                  <a:lumMod val="10000"/>
                </a:schemeClr>
              </a:solidFill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  <a:p>
            <a:pPr indent="0" algn="just">
              <a:buFont typeface="+mj-ea"/>
              <a:buNone/>
            </a:pPr>
            <a:endParaRPr lang="zh-CN" altLang="en-US" sz="2800" b="1" kern="0" dirty="0">
              <a:solidFill>
                <a:schemeClr val="accent4">
                  <a:lumMod val="10000"/>
                </a:schemeClr>
              </a:solidFill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71472" y="1928802"/>
            <a:ext cx="7656263" cy="52322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indent="0" algn="just">
              <a:buNone/>
            </a:pPr>
            <a:r>
              <a:rPr lang="en-US" altLang="zh-CN" sz="2800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government </a:t>
            </a:r>
            <a:r>
              <a:rPr lang="en-US" altLang="zh-CN" sz="2800" kern="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imposed a ban on </a:t>
            </a:r>
            <a:r>
              <a:rPr lang="en-US" altLang="zh-CN" sz="2800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sale of ivory.</a:t>
            </a:r>
            <a:endParaRPr lang="en-US" altLang="zh-CN" sz="2800" kern="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42910" y="2500306"/>
            <a:ext cx="3416320" cy="52322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zh-CN" altLang="en-US" sz="2800" dirty="0" smtClean="0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政府</a:t>
            </a:r>
            <a:r>
              <a:rPr lang="zh-CN" altLang="en-US" sz="2800" dirty="0" smtClean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禁止</a:t>
            </a:r>
            <a:r>
              <a:rPr lang="zh-CN" altLang="en-US" sz="2800" dirty="0" smtClean="0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出售象牙。</a:t>
            </a:r>
            <a:endParaRPr lang="zh-CN" altLang="en-US" sz="2800" dirty="0"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  <a:sym typeface="+mn-ea"/>
            </a:endParaRPr>
          </a:p>
        </p:txBody>
      </p:sp>
      <p:sp>
        <p:nvSpPr>
          <p:cNvPr id="12" name="TextBox 7"/>
          <p:cNvSpPr txBox="1"/>
          <p:nvPr/>
        </p:nvSpPr>
        <p:spPr>
          <a:xfrm>
            <a:off x="571472" y="4929198"/>
            <a:ext cx="60325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just">
              <a:buNone/>
            </a:pPr>
            <a:r>
              <a:rPr lang="zh-CN" altLang="en-US" sz="2800" kern="0" dirty="0" smtClean="0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政府下令禁止做烟草广告</a:t>
            </a:r>
            <a:r>
              <a:rPr lang="en-US" altLang="zh-CN" sz="3200" kern="0" dirty="0" smtClean="0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。</a:t>
            </a:r>
            <a:endParaRPr lang="en-US" altLang="zh-CN" sz="3200" kern="0" dirty="0"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  <a:sym typeface="+mn-ea"/>
            </a:endParaRPr>
          </a:p>
        </p:txBody>
      </p:sp>
      <p:sp>
        <p:nvSpPr>
          <p:cNvPr id="14" name="TextBox 7"/>
          <p:cNvSpPr txBox="1"/>
          <p:nvPr/>
        </p:nvSpPr>
        <p:spPr>
          <a:xfrm>
            <a:off x="500034" y="5572140"/>
            <a:ext cx="850112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just">
              <a:buNone/>
            </a:pPr>
            <a:r>
              <a:rPr lang="en-US" altLang="zh-CN" sz="2800" kern="0" dirty="0" smtClean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The government imposed a ban on tobacco advertising.</a:t>
            </a:r>
            <a:endParaRPr lang="en-US" altLang="zh-CN" sz="2800" kern="0" dirty="0"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  <a:sym typeface="+mn-ea"/>
            </a:endParaRPr>
          </a:p>
        </p:txBody>
      </p:sp>
      <p:sp>
        <p:nvSpPr>
          <p:cNvPr id="15" name="文本框 4"/>
          <p:cNvSpPr txBox="1"/>
          <p:nvPr/>
        </p:nvSpPr>
        <p:spPr>
          <a:xfrm>
            <a:off x="500034" y="3000372"/>
            <a:ext cx="8148384" cy="95410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indent="0" algn="just">
              <a:buNone/>
            </a:pPr>
            <a:r>
              <a:rPr lang="en-US" altLang="zh-CN" sz="2800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It is not right to </a:t>
            </a:r>
            <a:r>
              <a:rPr lang="en-US" altLang="zh-CN" sz="2800" kern="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impose your personal opinion on </a:t>
            </a:r>
            <a:r>
              <a:rPr lang="en-US" altLang="zh-CN" sz="2800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other </a:t>
            </a:r>
            <a:endParaRPr lang="en-US" altLang="zh-CN" sz="2800" kern="0" dirty="0" smtClean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indent="0" algn="just">
              <a:buNone/>
            </a:pPr>
            <a:r>
              <a:rPr lang="en-US" altLang="zh-CN" sz="2800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</a:t>
            </a:r>
            <a:r>
              <a:rPr lang="en-US" altLang="zh-CN" sz="2800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eople and expect them to buy it</a:t>
            </a:r>
            <a:r>
              <a:rPr lang="en-US" altLang="zh-CN" sz="2800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  <a:endParaRPr lang="en-US" altLang="zh-CN" sz="2800" kern="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" grpId="0"/>
      <p:bldP spid="5" grpId="0"/>
      <p:bldP spid="6" grpId="0"/>
      <p:bldP spid="12" grpId="0"/>
      <p:bldP spid="14" grpId="0"/>
      <p:bldP spid="1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0"/>
          <p:cNvSpPr/>
          <p:nvPr/>
        </p:nvSpPr>
        <p:spPr>
          <a:xfrm>
            <a:off x="0" y="0"/>
            <a:ext cx="9144000" cy="764704"/>
          </a:xfrm>
          <a:prstGeom prst="rect">
            <a:avLst/>
          </a:prstGeom>
          <a:solidFill>
            <a:srgbClr val="99CC00">
              <a:alpha val="8470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57158" y="1000108"/>
            <a:ext cx="26231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dirty="0" smtClean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  <a:sym typeface="华文楷体" panose="02010600040101010101" pitchFamily="2" charset="-122"/>
              </a:rPr>
              <a:t>i</a:t>
            </a:r>
            <a:r>
              <a:rPr lang="en-US" altLang="zh-CN" sz="2800"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  <a:sym typeface="华文楷体" panose="02010600040101010101" pitchFamily="2" charset="-122"/>
              </a:rPr>
              <a:t>mpose a fine</a:t>
            </a:r>
            <a:r>
              <a:rPr lang="zh-CN" altLang="en-US" sz="2800" b="1" kern="0" dirty="0" smtClean="0">
                <a:solidFill>
                  <a:schemeClr val="accent4">
                    <a:lumMod val="10000"/>
                  </a:schemeClr>
                </a:solidFill>
                <a:latin typeface="Helvetica"/>
              </a:rPr>
              <a:t>：</a:t>
            </a:r>
            <a:r>
              <a:rPr lang="en-US" altLang="zh-CN" sz="2400" b="1" kern="0" dirty="0" smtClean="0">
                <a:solidFill>
                  <a:schemeClr val="accent4">
                    <a:lumMod val="10000"/>
                  </a:schemeClr>
                </a:solidFill>
                <a:latin typeface="Helvetica"/>
              </a:rPr>
              <a:t>  </a:t>
            </a:r>
            <a:endParaRPr lang="en-US" altLang="zh-CN" sz="2400" kern="0" dirty="0">
              <a:solidFill>
                <a:schemeClr val="accent4">
                  <a:lumMod val="1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57158" y="1714488"/>
            <a:ext cx="2702984" cy="52322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indent="0" algn="just">
              <a:buNone/>
            </a:pPr>
            <a:r>
              <a:rPr lang="en-US" altLang="zh-CN" sz="2800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2800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mpose a penalty.</a:t>
            </a:r>
            <a:endParaRPr lang="en-US" altLang="zh-CN" sz="2800" kern="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928926" y="1785926"/>
            <a:ext cx="1980029" cy="52322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zh-CN" altLang="en-US" sz="2800" dirty="0" smtClean="0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加以惩罚。</a:t>
            </a:r>
            <a:endParaRPr lang="zh-CN" altLang="en-US" sz="2800" dirty="0"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  <a:sym typeface="+mn-ea"/>
            </a:endParaRPr>
          </a:p>
        </p:txBody>
      </p:sp>
      <p:sp>
        <p:nvSpPr>
          <p:cNvPr id="14" name="TextBox 7"/>
          <p:cNvSpPr txBox="1"/>
          <p:nvPr/>
        </p:nvSpPr>
        <p:spPr>
          <a:xfrm>
            <a:off x="500034" y="3429000"/>
            <a:ext cx="28575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just">
              <a:buNone/>
            </a:pPr>
            <a:r>
              <a:rPr lang="en-US" altLang="zh-CN" sz="2800" kern="0" dirty="0" smtClean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2800" kern="0" dirty="0" smtClean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mpose sanctions</a:t>
            </a:r>
            <a:endParaRPr lang="en-US" altLang="zh-CN" sz="2800" kern="0" dirty="0"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  <a:sym typeface="+mn-ea"/>
            </a:endParaRPr>
          </a:p>
        </p:txBody>
      </p:sp>
      <p:sp>
        <p:nvSpPr>
          <p:cNvPr id="15" name="文本框 4"/>
          <p:cNvSpPr txBox="1"/>
          <p:nvPr/>
        </p:nvSpPr>
        <p:spPr>
          <a:xfrm>
            <a:off x="357158" y="2643182"/>
            <a:ext cx="2903359" cy="52322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indent="0" algn="just">
              <a:buNone/>
            </a:pPr>
            <a:r>
              <a:rPr lang="en-US" altLang="zh-CN" sz="2800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2800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mpose restrictions</a:t>
            </a:r>
            <a:endParaRPr lang="en-US" altLang="zh-CN" sz="2800" kern="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" name="TextBox 7"/>
          <p:cNvSpPr txBox="1"/>
          <p:nvPr/>
        </p:nvSpPr>
        <p:spPr>
          <a:xfrm>
            <a:off x="571472" y="4214818"/>
            <a:ext cx="28575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just">
              <a:buNone/>
            </a:pPr>
            <a:r>
              <a:rPr lang="en-US" altLang="zh-CN" sz="2800" kern="0" dirty="0" smtClean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2800" kern="0" dirty="0" smtClean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mpose a tax</a:t>
            </a:r>
            <a:endParaRPr lang="en-US" altLang="zh-CN" sz="2800" kern="0" dirty="0"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  <a:sym typeface="+mn-ea"/>
            </a:endParaRPr>
          </a:p>
        </p:txBody>
      </p:sp>
      <p:sp>
        <p:nvSpPr>
          <p:cNvPr id="13" name="文本框 5"/>
          <p:cNvSpPr txBox="1"/>
          <p:nvPr/>
        </p:nvSpPr>
        <p:spPr>
          <a:xfrm>
            <a:off x="2643174" y="1071546"/>
            <a:ext cx="1620957" cy="52322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zh-CN" altLang="en-US" sz="2800" dirty="0" smtClean="0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处以罚款</a:t>
            </a:r>
            <a:endParaRPr lang="zh-CN" altLang="en-US" sz="2800" dirty="0"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  <a:sym typeface="+mn-ea"/>
            </a:endParaRPr>
          </a:p>
        </p:txBody>
      </p:sp>
      <p:sp>
        <p:nvSpPr>
          <p:cNvPr id="16" name="文本框 5"/>
          <p:cNvSpPr txBox="1"/>
          <p:nvPr/>
        </p:nvSpPr>
        <p:spPr>
          <a:xfrm>
            <a:off x="3357554" y="2643182"/>
            <a:ext cx="1620957" cy="52322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zh-CN" altLang="en-US" sz="2800" dirty="0" smtClean="0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强行管制</a:t>
            </a:r>
            <a:endParaRPr lang="zh-CN" altLang="en-US" sz="2800" dirty="0"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  <a:sym typeface="+mn-ea"/>
            </a:endParaRPr>
          </a:p>
        </p:txBody>
      </p:sp>
      <p:sp>
        <p:nvSpPr>
          <p:cNvPr id="17" name="文本框 5"/>
          <p:cNvSpPr txBox="1"/>
          <p:nvPr/>
        </p:nvSpPr>
        <p:spPr>
          <a:xfrm>
            <a:off x="3286116" y="3429000"/>
            <a:ext cx="1620957" cy="52322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zh-CN" altLang="en-US" sz="2800" dirty="0" smtClean="0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实施制裁</a:t>
            </a:r>
            <a:endParaRPr lang="zh-CN" altLang="en-US" sz="2800" dirty="0"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  <a:sym typeface="+mn-ea"/>
            </a:endParaRPr>
          </a:p>
        </p:txBody>
      </p:sp>
      <p:sp>
        <p:nvSpPr>
          <p:cNvPr id="18" name="文本框 5"/>
          <p:cNvSpPr txBox="1"/>
          <p:nvPr/>
        </p:nvSpPr>
        <p:spPr>
          <a:xfrm>
            <a:off x="3357554" y="4143380"/>
            <a:ext cx="1620957" cy="52322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zh-CN" altLang="en-US" sz="2800" dirty="0" smtClean="0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强行征税</a:t>
            </a:r>
            <a:endParaRPr lang="zh-CN" altLang="en-US" sz="2800" dirty="0"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4" grpId="0"/>
      <p:bldP spid="15" grpId="0"/>
      <p:bldP spid="11" grpId="0"/>
      <p:bldP spid="13" grpId="0"/>
      <p:bldP spid="16" grpId="0"/>
      <p:bldP spid="17" grpId="0"/>
      <p:bldP spid="1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0"/>
          <p:cNvSpPr/>
          <p:nvPr/>
        </p:nvSpPr>
        <p:spPr>
          <a:xfrm>
            <a:off x="0" y="0"/>
            <a:ext cx="9144000" cy="764704"/>
          </a:xfrm>
          <a:prstGeom prst="rect">
            <a:avLst/>
          </a:prstGeom>
          <a:solidFill>
            <a:srgbClr val="99CC00">
              <a:alpha val="8470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95605" y="1125220"/>
            <a:ext cx="26231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kern="0">
                <a:solidFill>
                  <a:schemeClr val="accent4">
                    <a:lumMod val="10000"/>
                  </a:schemeClr>
                </a:solidFill>
                <a:latin typeface="Helvetica"/>
              </a:rPr>
              <a:t>10. </a:t>
            </a:r>
            <a:r>
              <a:rPr lang="en-US" sz="320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  <a:sym typeface="华文楷体" panose="02010600040101010101" pitchFamily="2" charset="-122"/>
              </a:rPr>
              <a:t>allege</a:t>
            </a:r>
            <a:r>
              <a:rPr lang="zh-CN" altLang="en-US" sz="2800" b="1" kern="0">
                <a:solidFill>
                  <a:schemeClr val="accent4">
                    <a:lumMod val="10000"/>
                  </a:schemeClr>
                </a:solidFill>
                <a:latin typeface="Helvetica"/>
              </a:rPr>
              <a:t>：</a:t>
            </a:r>
            <a:r>
              <a:rPr lang="en-US" altLang="zh-CN" sz="2400" b="1" kern="0">
                <a:solidFill>
                  <a:schemeClr val="accent4">
                    <a:lumMod val="10000"/>
                  </a:schemeClr>
                </a:solidFill>
                <a:latin typeface="Helvetica"/>
              </a:rPr>
              <a:t>  </a:t>
            </a:r>
            <a:endParaRPr lang="en-US" altLang="zh-CN" sz="2400" kern="0" dirty="0">
              <a:solidFill>
                <a:schemeClr val="accent4">
                  <a:lumMod val="1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39750" y="4941570"/>
            <a:ext cx="751332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just">
              <a:buNone/>
            </a:pPr>
            <a:r>
              <a:rPr lang="en-US" altLang="zh-CN" sz="3200" kern="0" dirty="0">
                <a:solidFill>
                  <a:schemeClr val="accent4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He is </a:t>
            </a:r>
            <a:r>
              <a:rPr lang="en-US" altLang="zh-CN" sz="3200" kern="0" dirty="0">
                <a:solidFill>
                  <a:schemeClr val="accent4">
                    <a:lumMod val="10000"/>
                  </a:schemeClr>
                </a:solidFill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alleged</a:t>
            </a:r>
            <a:r>
              <a:rPr lang="en-US" altLang="zh-CN" sz="3200" kern="0" dirty="0">
                <a:solidFill>
                  <a:schemeClr val="accent4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to have mistreated the prisoners</a:t>
            </a:r>
            <a:endParaRPr lang="en-US" altLang="zh-CN" sz="3200" kern="0" dirty="0">
              <a:solidFill>
                <a:schemeClr val="accent4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37210" y="4293235"/>
            <a:ext cx="790511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indent="0" algn="just">
              <a:buNone/>
            </a:pPr>
            <a:r>
              <a:rPr sz="3200" b="1" dirty="0">
                <a:highlight>
                  <a:srgbClr val="FFFF00"/>
                </a:highlight>
                <a:latin typeface="华文新魏" panose="02010800040101010101" charset="-122"/>
                <a:ea typeface="华文新魏" panose="02010800040101010101" charset="-122"/>
                <a:sym typeface="+mn-ea"/>
              </a:rPr>
              <a:t>他被指控虐待犯</a:t>
            </a:r>
            <a:r>
              <a:rPr lang="zh-CN" sz="3200" b="1" dirty="0">
                <a:highlight>
                  <a:srgbClr val="FFFF00"/>
                </a:highlight>
                <a:latin typeface="华文新魏" panose="02010800040101010101" charset="-122"/>
                <a:ea typeface="华文新魏" panose="02010800040101010101" charset="-122"/>
                <a:sym typeface="+mn-ea"/>
              </a:rPr>
              <a:t>人。</a:t>
            </a:r>
            <a:endParaRPr lang="zh-CN" sz="3200" b="1" dirty="0">
              <a:highlight>
                <a:srgbClr val="FFFF00"/>
              </a:highlight>
              <a:latin typeface="华文新魏" panose="02010800040101010101" charset="-122"/>
              <a:ea typeface="华文新魏" panose="02010800040101010101" charset="-122"/>
              <a:sym typeface="+mn-ea"/>
            </a:endParaRPr>
          </a:p>
        </p:txBody>
      </p:sp>
      <p:sp>
        <p:nvSpPr>
          <p:cNvPr id="3" name="TextBox 1"/>
          <p:cNvSpPr txBox="1"/>
          <p:nvPr/>
        </p:nvSpPr>
        <p:spPr>
          <a:xfrm>
            <a:off x="2386965" y="1125220"/>
            <a:ext cx="3553460" cy="6013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altLang="en-US" sz="3200" dirty="0">
                <a:solidFill>
                  <a:srgbClr val="000000"/>
                </a:solidFill>
                <a:latin typeface="华文新魏" panose="02010800040101010101" charset="-122"/>
                <a:ea typeface="华文新魏" panose="02010800040101010101" charset="-122"/>
                <a:sym typeface="Arial" panose="020B0604020202020204" pitchFamily="34" charset="0"/>
              </a:rPr>
              <a:t>宣称，断言，指控</a:t>
            </a:r>
            <a:endParaRPr lang="zh-CN" altLang="en-US" sz="2800" dirty="0">
              <a:solidFill>
                <a:srgbClr val="000000"/>
              </a:solidFill>
              <a:latin typeface="Helvetica" pitchFamily="34" charset="0"/>
              <a:ea typeface="宋体" panose="02010600030101010101" pitchFamily="2" charset="-122"/>
              <a:sym typeface="Arial" panose="020B0604020202020204" pitchFamily="34" charset="0"/>
            </a:endParaRPr>
          </a:p>
          <a:p>
            <a:pPr algn="l"/>
            <a:endParaRPr lang="en-US" altLang="zh-CN" sz="2800" kern="0" dirty="0">
              <a:solidFill>
                <a:schemeClr val="accent4">
                  <a:lumMod val="10000"/>
                </a:schemeClr>
              </a:solidFill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  <a:p>
            <a:pPr indent="0" algn="just">
              <a:buFont typeface="+mj-ea"/>
              <a:buNone/>
            </a:pPr>
            <a:endParaRPr lang="en-US" altLang="zh-CN" sz="2800" kern="0" dirty="0">
              <a:solidFill>
                <a:schemeClr val="accent4">
                  <a:lumMod val="10000"/>
                </a:schemeClr>
              </a:solidFill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  <a:p>
            <a:pPr indent="0" algn="just">
              <a:buFont typeface="+mj-ea"/>
              <a:buNone/>
            </a:pPr>
            <a:endParaRPr lang="zh-CN" altLang="en-US" sz="2800" b="1" kern="0" dirty="0">
              <a:solidFill>
                <a:schemeClr val="accent4">
                  <a:lumMod val="10000"/>
                </a:schemeClr>
              </a:solidFill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67995" y="1845310"/>
            <a:ext cx="7974330" cy="1076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just">
              <a:buNone/>
            </a:pPr>
            <a:r>
              <a:rPr lang="zh-CN" altLang="en-US" sz="3200" dirty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The newspaper reporters </a:t>
            </a:r>
            <a:r>
              <a:rPr lang="zh-CN" altLang="en-US" sz="3200" dirty="0">
                <a:solidFill>
                  <a:prstClr val="black"/>
                </a:solidFill>
                <a:highlight>
                  <a:srgbClr val="00FFFF"/>
                </a:highlight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allege </a:t>
            </a:r>
            <a:r>
              <a:rPr lang="zh-CN" altLang="en-US" sz="3200" dirty="0">
                <a:solidFill>
                  <a:prstClr val="black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that the man was murdered but they have given no proof.</a:t>
            </a:r>
            <a:endParaRPr lang="zh-CN" altLang="en-US" sz="3200" dirty="0">
              <a:solidFill>
                <a:prstClr val="black"/>
              </a:solidFill>
              <a:latin typeface="Times New Roman" panose="02020603050405020304" pitchFamily="18" charset="0"/>
              <a:ea typeface="华文新魏" panose="0201080004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39750" y="3029585"/>
            <a:ext cx="7713345" cy="1076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just">
              <a:buNone/>
            </a:pPr>
            <a:r>
              <a:rPr lang="en-US" altLang="zh-CN" sz="3200" kern="0" dirty="0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新闻记者们</a:t>
            </a:r>
            <a:r>
              <a:rPr lang="en-US" altLang="zh-CN" sz="3200" kern="0" dirty="0">
                <a:solidFill>
                  <a:schemeClr val="accent4">
                    <a:lumMod val="10000"/>
                  </a:schemeClr>
                </a:solidFill>
                <a:highlight>
                  <a:srgbClr val="00FFFF"/>
                </a:highlight>
                <a:latin typeface="华文新魏" panose="02010800040101010101" charset="-122"/>
                <a:ea typeface="华文新魏" panose="02010800040101010101" charset="-122"/>
                <a:sym typeface="+mn-ea"/>
              </a:rPr>
              <a:t>宣称</a:t>
            </a:r>
            <a:r>
              <a:rPr lang="en-US" altLang="zh-CN" sz="3200" kern="0" dirty="0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这个男人是被谋杀的，但他们没提出证据</a:t>
            </a:r>
            <a:r>
              <a:rPr lang="zh-CN" altLang="en-US" sz="3200" kern="0" dirty="0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。</a:t>
            </a:r>
            <a:endParaRPr lang="zh-CN" altLang="en-US" sz="3200" kern="0" dirty="0">
              <a:solidFill>
                <a:schemeClr val="accent4">
                  <a:lumMod val="10000"/>
                </a:schemeClr>
              </a:solidFill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3" grpId="0"/>
      <p:bldP spid="5" grpId="0"/>
      <p:bldP spid="6" grpId="0"/>
    </p:bldLst>
  </p:timing>
</p:sld>
</file>

<file path=ppt/tags/tag1.xml><?xml version="1.0" encoding="utf-8"?>
<p:tagLst xmlns:p="http://schemas.openxmlformats.org/presentationml/2006/main">
  <p:tag name="COMMONDATA" val="eyJoZGlkIjoiNGI1ZThjMDUyODc4YTcwMmJlZjI5YzZhYjM5ZWNmNTEifQ=="/>
  <p:tag name="KSO_WPP_MARK_KEY" val="b8ff503c-0e36-418e-9d6c-62077f8ceea6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3478</Words>
  <Application>WPS 演示</Application>
  <PresentationFormat>全屏显示(4:3)</PresentationFormat>
  <Paragraphs>214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7" baseType="lpstr">
      <vt:lpstr>Arial</vt:lpstr>
      <vt:lpstr>宋体</vt:lpstr>
      <vt:lpstr>Wingdings</vt:lpstr>
      <vt:lpstr>Helvetica</vt:lpstr>
      <vt:lpstr>华文楷体</vt:lpstr>
      <vt:lpstr>Helvetica</vt:lpstr>
      <vt:lpstr>华文新魏</vt:lpstr>
      <vt:lpstr>Times New Roman</vt:lpstr>
      <vt:lpstr>华文行楷</vt:lpstr>
      <vt:lpstr>Calibri</vt:lpstr>
      <vt:lpstr>微软雅黑</vt:lpstr>
      <vt:lpstr>Arial Unicode MS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1</dc:creator>
  <cp:lastModifiedBy>lenovo</cp:lastModifiedBy>
  <cp:revision>416</cp:revision>
  <dcterms:created xsi:type="dcterms:W3CDTF">2019-01-18T01:58:00Z</dcterms:created>
  <dcterms:modified xsi:type="dcterms:W3CDTF">2025-05-07T02:29:35Z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AF2BCD5280EA4267BC63B512D7F90E23</vt:lpwstr>
  </property>
</Properties>
</file>