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tiff" ContentType="image/tif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75"/>
  </p:notesMasterIdLst>
  <p:sldIdLst>
    <p:sldId id="611" r:id="rId5"/>
    <p:sldId id="612" r:id="rId6"/>
    <p:sldId id="474" r:id="rId7"/>
    <p:sldId id="670" r:id="rId8"/>
    <p:sldId id="839" r:id="rId9"/>
    <p:sldId id="389" r:id="rId10"/>
    <p:sldId id="390" r:id="rId11"/>
    <p:sldId id="391" r:id="rId12"/>
    <p:sldId id="395" r:id="rId13"/>
    <p:sldId id="396" r:id="rId14"/>
    <p:sldId id="392" r:id="rId15"/>
    <p:sldId id="836" r:id="rId16"/>
    <p:sldId id="393" r:id="rId17"/>
    <p:sldId id="727" r:id="rId18"/>
    <p:sldId id="394" r:id="rId19"/>
    <p:sldId id="732" r:id="rId20"/>
    <p:sldId id="728" r:id="rId21"/>
    <p:sldId id="729" r:id="rId22"/>
    <p:sldId id="837" r:id="rId23"/>
    <p:sldId id="733" r:id="rId24"/>
    <p:sldId id="838" r:id="rId25"/>
    <p:sldId id="398" r:id="rId26"/>
    <p:sldId id="730" r:id="rId27"/>
    <p:sldId id="786" r:id="rId28"/>
    <p:sldId id="731" r:id="rId29"/>
    <p:sldId id="787" r:id="rId30"/>
    <p:sldId id="399" r:id="rId31"/>
    <p:sldId id="668" r:id="rId32"/>
    <p:sldId id="400" r:id="rId33"/>
    <p:sldId id="560" r:id="rId34"/>
    <p:sldId id="667" r:id="rId35"/>
    <p:sldId id="561" r:id="rId36"/>
    <p:sldId id="403" r:id="rId37"/>
    <p:sldId id="669" r:id="rId38"/>
    <p:sldId id="568" r:id="rId39"/>
    <p:sldId id="569" r:id="rId40"/>
    <p:sldId id="406" r:id="rId41"/>
    <p:sldId id="407" r:id="rId42"/>
    <p:sldId id="408" r:id="rId43"/>
    <p:sldId id="409" r:id="rId44"/>
    <p:sldId id="410" r:id="rId45"/>
    <p:sldId id="411" r:id="rId46"/>
    <p:sldId id="564" r:id="rId47"/>
    <p:sldId id="412" r:id="rId48"/>
    <p:sldId id="414" r:id="rId49"/>
    <p:sldId id="417" r:id="rId50"/>
    <p:sldId id="418" r:id="rId51"/>
    <p:sldId id="419" r:id="rId52"/>
    <p:sldId id="420" r:id="rId53"/>
    <p:sldId id="425" r:id="rId54"/>
    <p:sldId id="427" r:id="rId55"/>
    <p:sldId id="538" r:id="rId56"/>
    <p:sldId id="429" r:id="rId57"/>
    <p:sldId id="430" r:id="rId58"/>
    <p:sldId id="457" r:id="rId59"/>
    <p:sldId id="436" r:id="rId60"/>
    <p:sldId id="437" r:id="rId61"/>
    <p:sldId id="438" r:id="rId62"/>
    <p:sldId id="439" r:id="rId63"/>
    <p:sldId id="458" r:id="rId64"/>
    <p:sldId id="459" r:id="rId65"/>
    <p:sldId id="442" r:id="rId66"/>
    <p:sldId id="460" r:id="rId67"/>
    <p:sldId id="461" r:id="rId68"/>
    <p:sldId id="443" r:id="rId69"/>
    <p:sldId id="462" r:id="rId70"/>
    <p:sldId id="463" r:id="rId71"/>
    <p:sldId id="464" r:id="rId72"/>
    <p:sldId id="466" r:id="rId73"/>
    <p:sldId id="468" r:id="rId74"/>
  </p:sldIdLst>
  <p:sldSz cx="9144000" cy="6858000" type="screen4x3"/>
  <p:notesSz cx="6858000" cy="9144000"/>
  <p:custDataLst>
    <p:tags r:id="rId7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E1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1614" y="78"/>
      </p:cViewPr>
      <p:guideLst>
        <p:guide orient="horz" pos="2115"/>
        <p:guide pos="29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9" Type="http://schemas.openxmlformats.org/officeDocument/2006/relationships/tags" Target="tags/tag4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notesMaster" Target="notesMasters/notesMaster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54" name="Rectangle 6"/>
          <p:cNvSpPr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2487A9-87BB-4BE2-8466-C58D56BE904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C63A1F-B09C-4F4B-9D8C-B6966F51FF0C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7FEFD58-B6BC-4CE3-B82B-86CABFD84E20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F61E1E-396A-45D9-A99E-FF0D13B3D0C3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557338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2384" y="1557338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1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F0AEDC5-600C-4DDF-93F4-55BB7001AE6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1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1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1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94B45E-D101-4390-AE5D-1E86F23A63E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C7937D-FBC3-46C9-8444-05E97708DFF7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Rectangle 4"/>
          <p:cNvSpPr>
            <a:spLocks noGrp="1"/>
          </p:cNvSpPr>
          <p:nvPr>
            <p:ph type="dt" sz="half" idx="1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312676-21C4-4E19-8ABC-BCE7FBE0C862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Rectangle 4"/>
          <p:cNvSpPr>
            <a:spLocks noGrp="1"/>
          </p:cNvSpPr>
          <p:nvPr>
            <p:ph type="dt" sz="half" idx="1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1B3E561-DEAA-4BC4-A627-1FFCF91494DC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A12456-A199-45E4-A8A4-EAE1C0DA6D2E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3922" y="277813"/>
            <a:ext cx="2072878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277813"/>
            <a:ext cx="6098467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5CDE10-02F1-4126-B6C6-D60EFF10B441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557338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2384" y="1557338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图片 4" descr="草堂校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37263"/>
            <a:ext cx="9155113" cy="8302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3922" y="277813"/>
            <a:ext cx="2072878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277813"/>
            <a:ext cx="6098467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557338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2384" y="1557338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3922" y="277813"/>
            <a:ext cx="2072878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277813"/>
            <a:ext cx="6098467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3.jpe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2.png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395288" y="155733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dt" sz="half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2400" noProof="1">
                <a:latin typeface="Garamond" panose="02020404030301010803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 eaLnBrk="1" hangingPunct="1">
              <a:buFont typeface="Arial" panose="020B0604020202020204" pitchFamily="34" charset="0"/>
              <a:buNone/>
              <a:defRPr sz="2400" noProof="1">
                <a:latin typeface="Garamond" panose="02020404030301010803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x-none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kumimoji="0" lang="en-US" altLang="x-none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2400" noProof="1" dirty="0">
                <a:latin typeface="Garamond" panose="02020404030301010803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3DC7AC-573D-44C0-9B71-19BBB36E138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</p:sp>
      <p:pic>
        <p:nvPicPr>
          <p:cNvPr id="1033" name="图片 1" descr="校徽"/>
          <p:cNvPicPr>
            <a:picLocks noChangeAspect="1"/>
          </p:cNvPicPr>
          <p:nvPr userDrawn="1"/>
        </p:nvPicPr>
        <p:blipFill>
          <a:blip r:embed="rId12"/>
          <a:srcRect l="436" t="3967" r="79071" b="4367"/>
          <a:stretch>
            <a:fillRect/>
          </a:stretch>
        </p:blipFill>
        <p:spPr>
          <a:xfrm>
            <a:off x="7321550" y="0"/>
            <a:ext cx="1822450" cy="1746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200" b="1" kern="1200">
          <a:solidFill>
            <a:srgbClr val="0000E1"/>
          </a:solidFill>
          <a:latin typeface="+mn-lt"/>
          <a:ea typeface="+mn-ea"/>
          <a:cs typeface="+mn-cs"/>
        </a:defRPr>
      </a:lvl1pPr>
      <a:lvl2pPr marL="669925" lvl="1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3200" b="1" kern="1200">
          <a:solidFill>
            <a:srgbClr val="0000E1"/>
          </a:solidFill>
          <a:latin typeface="+mn-lt"/>
          <a:ea typeface="+mn-ea"/>
          <a:cs typeface="+mn-cs"/>
        </a:defRPr>
      </a:lvl2pPr>
      <a:lvl3pPr marL="1022350" lvl="2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kern="1200">
          <a:solidFill>
            <a:srgbClr val="0000E1"/>
          </a:solidFill>
          <a:latin typeface="+mn-lt"/>
          <a:ea typeface="+mn-ea"/>
          <a:cs typeface="+mn-cs"/>
        </a:defRPr>
      </a:lvl3pPr>
      <a:lvl4pPr marL="1339850" lvl="3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800" b="1" kern="1200">
          <a:solidFill>
            <a:srgbClr val="0000E1"/>
          </a:solidFill>
          <a:latin typeface="+mn-lt"/>
          <a:ea typeface="+mn-ea"/>
          <a:cs typeface="+mn-cs"/>
        </a:defRPr>
      </a:lvl4pPr>
      <a:lvl5pPr marL="1681480" lvl="4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kern="1200">
          <a:solidFill>
            <a:srgbClr val="0000E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1" descr="草堂校区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4762" y="5994400"/>
            <a:ext cx="9153525" cy="865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Freeform 7"/>
          <p:cNvSpPr/>
          <p:nvPr userDrawn="1"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2" name="Line 8"/>
          <p:cNvSpPr/>
          <p:nvPr userDrawn="1"/>
        </p:nvSpPr>
        <p:spPr>
          <a:xfrm>
            <a:off x="755650" y="2852738"/>
            <a:ext cx="6511925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lvl="0"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4" name="Rectangle 3"/>
          <p:cNvSpPr>
            <a:spLocks noGrp="1"/>
          </p:cNvSpPr>
          <p:nvPr>
            <p:ph type="body"/>
          </p:nvPr>
        </p:nvSpPr>
        <p:spPr>
          <a:xfrm>
            <a:off x="395288" y="155733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2400">
                <a:latin typeface="Garamond" panose="02020404030301010803" pitchFamily="18" charset="0"/>
              </a:defRPr>
            </a:lvl1pPr>
          </a:lstStyle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055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2400">
                <a:latin typeface="Garamond" panose="02020404030301010803" pitchFamily="18" charset="0"/>
              </a:defRPr>
            </a:lvl1pPr>
          </a:lstStyle>
          <a:p>
            <a:pPr lvl="0" eaLnBrk="1" fontAlgn="base" hangingPunct="1"/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计算机接口技术</a:t>
            </a:r>
            <a:endParaRPr lang="en-US" altLang="x-none" strike="noStrike" noProof="1" dirty="0"/>
          </a:p>
        </p:txBody>
      </p:sp>
      <p:sp>
        <p:nvSpPr>
          <p:cNvPr id="2056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2400">
                <a:latin typeface="Garamond" panose="02020404030301010803" pitchFamily="18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  <p:pic>
        <p:nvPicPr>
          <p:cNvPr id="2058" name="WordPictureWatermark3" descr="毕业设计（论文）用纸-6"/>
          <p:cNvPicPr>
            <a:picLocks noChangeAspect="1"/>
          </p:cNvPicPr>
          <p:nvPr userDrawn="1"/>
        </p:nvPicPr>
        <p:blipFill>
          <a:blip r:embed="rId13"/>
          <a:srcRect l="16985" t="5154" r="43951" b="90405"/>
          <a:stretch>
            <a:fillRect/>
          </a:stretch>
        </p:blipFill>
        <p:spPr>
          <a:xfrm>
            <a:off x="5194300" y="1588"/>
            <a:ext cx="3922713" cy="6381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Clr>
          <a:srgbClr val="000000"/>
        </a:buClr>
        <a:buNone/>
        <a:defRPr sz="42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2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32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WordPictureWatermark3" descr="毕业设计（论文）用纸-6"/>
          <p:cNvPicPr>
            <a:picLocks noChangeAspect="1"/>
          </p:cNvPicPr>
          <p:nvPr userDrawn="1"/>
        </p:nvPicPr>
        <p:blipFill>
          <a:blip r:embed="rId12"/>
          <a:srcRect l="16985" t="5154" r="43951" b="90405"/>
          <a:stretch>
            <a:fillRect/>
          </a:stretch>
        </p:blipFill>
        <p:spPr>
          <a:xfrm>
            <a:off x="4873625" y="38100"/>
            <a:ext cx="4257675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图片 1" descr="草堂校区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6350" y="5961063"/>
            <a:ext cx="9163050" cy="881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7" name="Rectangle 3"/>
          <p:cNvSpPr>
            <a:spLocks noGrp="1"/>
          </p:cNvSpPr>
          <p:nvPr>
            <p:ph type="body"/>
          </p:nvPr>
        </p:nvSpPr>
        <p:spPr>
          <a:xfrm>
            <a:off x="395288" y="155733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" name="Rectangle 4"/>
          <p:cNvSpPr>
            <a:spLocks noGrp="1"/>
          </p:cNvSpPr>
          <p:nvPr>
            <p:ph type="dt" sz="half" idx="2"/>
          </p:nvPr>
        </p:nvSpPr>
        <p:spPr>
          <a:xfrm>
            <a:off x="468313" y="6237288"/>
            <a:ext cx="2314575" cy="39211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2400">
                <a:latin typeface="Garamond" panose="02020404030301010803" pitchFamily="18" charset="0"/>
              </a:defRPr>
            </a:lvl1pPr>
          </a:lstStyle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Garamond" panose="02020404030301010803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Rectangle 5"/>
          <p:cNvSpPr>
            <a:spLocks noGrp="1"/>
          </p:cNvSpPr>
          <p:nvPr>
            <p:ph type="ftr" sz="quarter" idx="3"/>
          </p:nvPr>
        </p:nvSpPr>
        <p:spPr>
          <a:xfrm>
            <a:off x="3419475" y="6237288"/>
            <a:ext cx="2447925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2400">
                <a:latin typeface="Garamond" panose="02020404030301010803" pitchFamily="18" charset="0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微</a:t>
            </a:r>
            <a:r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机接口技术</a:t>
            </a:r>
            <a:endParaRPr lang="en-US" altLang="x-none" strike="noStrike" noProof="1" dirty="0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2400">
                <a:latin typeface="Garamond" panose="02020404030301010803" pitchFamily="18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x-none" strike="noStrike" noProof="1" dirty="0"/>
          </a:p>
        </p:txBody>
      </p:sp>
      <p:sp>
        <p:nvSpPr>
          <p:cNvPr id="3081" name="Freeform 7"/>
          <p:cNvSpPr/>
          <p:nvPr userDrawn="1"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82" name="Line 8"/>
          <p:cNvSpPr/>
          <p:nvPr userDrawn="1"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Clr>
          <a:srgbClr val="000000"/>
        </a:buClr>
        <a:buNone/>
        <a:defRPr sz="42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2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32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800" b="1" i="0" u="none" kern="1200" baseline="0">
          <a:solidFill>
            <a:srgbClr val="0000E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tif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4"/>
          <p:cNvSpPr txBox="1">
            <a:spLocks noGrp="1"/>
          </p:cNvSpPr>
          <p:nvPr/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0" hangingPunct="0"/>
            <a:fld id="{BB962C8B-B14F-4D97-AF65-F5344CB8AC3E}" type="datetime1">
              <a:rPr lang="zh-CN" altLang="en-US" sz="2400" dirty="0"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zh-CN" altLang="en-US" sz="2400" dirty="0"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Rectangle 5"/>
          <p:cNvSpPr txBox="1">
            <a:spLocks noGrp="1"/>
          </p:cNvSpPr>
          <p:nvPr/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0" hangingPunct="0"/>
            <a:r>
              <a:rPr lang="zh-CN" altLang="en-US" sz="2400" dirty="0">
                <a:latin typeface="Garamond" panose="02020404030301010803" pitchFamily="18" charset="0"/>
                <a:ea typeface="宋体" panose="02010600030101010101" pitchFamily="2" charset="-122"/>
              </a:rPr>
              <a:t>微</a:t>
            </a:r>
            <a:r>
              <a:rPr lang="en-US" altLang="zh-CN" sz="2400" dirty="0">
                <a:latin typeface="Garamond" panose="02020404030301010803" pitchFamily="18" charset="0"/>
                <a:ea typeface="宋体" panose="02010600030101010101" pitchFamily="2" charset="-122"/>
              </a:rPr>
              <a:t>机接口技术</a:t>
            </a:r>
            <a:endParaRPr lang="en-US" altLang="zh-CN" sz="2400" dirty="0"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6"/>
          <p:cNvSpPr txBox="1">
            <a:spLocks noGrp="1"/>
          </p:cNvSpPr>
          <p:nvPr/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0" hangingPunct="0"/>
            <a:fld id="{9A0DB2DC-4C9A-4742-B13C-FB6460FD3503}" type="slidenum">
              <a:rPr lang="en-US" altLang="zh-CN" sz="2400" dirty="0">
                <a:latin typeface="Garamond" panose="02020404030301010803" pitchFamily="18" charset="0"/>
                <a:ea typeface="宋体" panose="02010600030101010101" pitchFamily="2" charset="-122"/>
              </a:rPr>
            </a:fld>
            <a:endParaRPr lang="en-US" altLang="zh-CN" sz="2400" dirty="0"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ctrTitle" idx="4294967295"/>
          </p:nvPr>
        </p:nvSpPr>
        <p:spPr>
          <a:xfrm>
            <a:off x="254000" y="1592263"/>
            <a:ext cx="8747125" cy="979487"/>
          </a:xfrm>
        </p:spPr>
        <p:txBody>
          <a:bodyPr wrap="square" anchor="t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defTabSz="914400" eaLnBrk="1" hangingPunct="1">
              <a:buClrTx/>
            </a:pPr>
            <a:r>
              <a:rPr lang="zh-CN" altLang="en-US" sz="4000" b="0" dirty="0">
                <a:solidFill>
                  <a:srgbClr val="0070C0"/>
                </a:solidFill>
                <a:latin typeface="方正正中黑简体" charset="-122"/>
                <a:ea typeface="方正正中黑简体" charset="-122"/>
              </a:rPr>
              <a:t>第</a:t>
            </a:r>
            <a:r>
              <a:rPr lang="en-US" altLang="zh-CN" sz="4000" b="0" dirty="0">
                <a:solidFill>
                  <a:srgbClr val="0070C0"/>
                </a:solidFill>
                <a:latin typeface="方正正中黑简体" charset="-122"/>
                <a:ea typeface="方正正中黑简体" charset="-122"/>
              </a:rPr>
              <a:t>5</a:t>
            </a:r>
            <a:r>
              <a:rPr lang="zh-CN" altLang="en-US" sz="4000" b="0" dirty="0">
                <a:solidFill>
                  <a:srgbClr val="0070C0"/>
                </a:solidFill>
                <a:latin typeface="方正正中黑简体" charset="-122"/>
                <a:ea typeface="方正正中黑简体" charset="-122"/>
              </a:rPr>
              <a:t>章 中断技术</a:t>
            </a:r>
            <a:endParaRPr lang="zh-CN" altLang="en-US" sz="4000" b="0" dirty="0">
              <a:solidFill>
                <a:srgbClr val="0070C0"/>
              </a:solidFill>
              <a:latin typeface="方正正中黑简体" charset="-122"/>
              <a:ea typeface="方正正中黑简体" charset="-122"/>
            </a:endParaRPr>
          </a:p>
        </p:txBody>
      </p:sp>
      <p:sp>
        <p:nvSpPr>
          <p:cNvPr id="5125" name="Rectangle 3"/>
          <p:cNvSpPr>
            <a:spLocks noGrp="1"/>
          </p:cNvSpPr>
          <p:nvPr>
            <p:ph type="subTitle" idx="4294967295"/>
          </p:nvPr>
        </p:nvSpPr>
        <p:spPr>
          <a:xfrm>
            <a:off x="1643378" y="2907026"/>
            <a:ext cx="6250308" cy="2876550"/>
          </a:xfrm>
        </p:spPr>
        <p:txBody>
          <a:bodyPr wrap="square" anchor="t"/>
          <a:lstStyle>
            <a:lvl1pPr marL="0" lvl="0" indent="0" algn="ctr">
              <a:defRPr/>
            </a:lvl1pPr>
            <a:lvl2pPr marL="457200" lvl="1" indent="-112395" algn="ctr">
              <a:defRPr/>
            </a:lvl2pPr>
            <a:lvl3pPr marL="914400" lvl="2" indent="-242570" algn="ctr">
              <a:defRPr/>
            </a:lvl3pPr>
            <a:lvl4pPr marL="1371600" lvl="3" indent="-347345" algn="ctr">
              <a:defRPr/>
            </a:lvl4pPr>
            <a:lvl5pPr marL="1828800" lvl="4" indent="-487045" algn="ctr">
              <a:defRPr/>
            </a:lvl5pPr>
          </a:lstStyle>
          <a:p>
            <a:pPr marL="0" lvl="0" indent="0" algn="ctr" eaLnBrk="1" fontAlgn="base" hangingPunct="1">
              <a:buNone/>
            </a:pPr>
            <a:r>
              <a:rPr lang="zh-CN" altLang="en-US" sz="3400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本章主要内容</a:t>
            </a:r>
            <a:endParaRPr lang="en-US" altLang="zh-CN" sz="3400" strike="noStrike" noProof="1" dirty="0">
              <a:solidFill>
                <a:srgbClr val="C00000">
                  <a:alpha val="75000"/>
                </a:srgbClr>
              </a:solidFill>
              <a:latin typeface="方正正中黑简体" charset="-122"/>
              <a:ea typeface="方正正中黑简体" charset="-122"/>
              <a:cs typeface="方正正中黑简体" charset="-122"/>
            </a:endParaRPr>
          </a:p>
          <a:p>
            <a:pPr lvl="0" algn="l" eaLnBrk="1" fontAlgn="base" hangingPunct="1">
              <a:lnSpc>
                <a:spcPct val="150000"/>
              </a:lnSpc>
              <a:spcBef>
                <a:spcPts val="25"/>
              </a:spcBef>
              <a:buClr>
                <a:srgbClr val="00B050"/>
              </a:buClr>
              <a:buSzPct val="75000"/>
              <a:buFont typeface="Wingdings" panose="05000000000000000000" charset="0"/>
              <a:buChar char="u"/>
            </a:pPr>
            <a:r>
              <a:rPr lang="en-US" altLang="zh-CN" sz="3400" b="0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 </a:t>
            </a:r>
            <a:r>
              <a:rPr lang="zh-CN" altLang="en-US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  <a:sym typeface="Arial" panose="020B0604020202020204" pitchFamily="34" charset="0"/>
              </a:rPr>
              <a:t>中断的基本概念</a:t>
            </a:r>
            <a:endParaRPr lang="zh-CN" altLang="en-US" strike="noStrike" noProof="1" dirty="0">
              <a:solidFill>
                <a:srgbClr val="C00000">
                  <a:alpha val="75000"/>
                </a:srgbClr>
              </a:solidFill>
              <a:latin typeface="方正正中黑简体" charset="-122"/>
              <a:ea typeface="方正正中黑简体" charset="-122"/>
              <a:cs typeface="方正正中黑简体" charset="-122"/>
            </a:endParaRPr>
          </a:p>
          <a:p>
            <a:pPr lvl="0" algn="l" eaLnBrk="1" fontAlgn="base" hangingPunct="1">
              <a:lnSpc>
                <a:spcPct val="150000"/>
              </a:lnSpc>
              <a:spcBef>
                <a:spcPts val="25"/>
              </a:spcBef>
              <a:buClr>
                <a:srgbClr val="00B050"/>
              </a:buClr>
              <a:buSzPct val="75000"/>
              <a:buFont typeface="Wingdings" panose="05000000000000000000" charset="0"/>
              <a:buChar char="u"/>
            </a:pPr>
            <a:r>
              <a:rPr lang="en-US" altLang="zh-CN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 </a:t>
            </a:r>
            <a:r>
              <a:rPr lang="zh-CN" altLang="en-US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中断</a:t>
            </a:r>
            <a:r>
              <a:rPr lang="zh-CN" altLang="en-US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的处理过程</a:t>
            </a:r>
            <a:endParaRPr lang="zh-CN" altLang="en-US" strike="noStrike" noProof="1" dirty="0">
              <a:solidFill>
                <a:srgbClr val="C00000">
                  <a:alpha val="75000"/>
                </a:srgbClr>
              </a:solidFill>
              <a:latin typeface="方正正中黑简体" charset="-122"/>
              <a:ea typeface="方正正中黑简体" charset="-122"/>
              <a:cs typeface="方正正中黑简体" charset="-122"/>
            </a:endParaRPr>
          </a:p>
          <a:p>
            <a:pPr lvl="0" algn="l" eaLnBrk="1" fontAlgn="base" hangingPunct="1">
              <a:lnSpc>
                <a:spcPct val="150000"/>
              </a:lnSpc>
              <a:spcBef>
                <a:spcPts val="25"/>
              </a:spcBef>
              <a:buClr>
                <a:srgbClr val="00B050"/>
              </a:buClr>
              <a:buSzPct val="75000"/>
              <a:buFont typeface="Wingdings" panose="05000000000000000000" charset="0"/>
              <a:buChar char="u"/>
            </a:pPr>
            <a:r>
              <a:rPr lang="en-US" altLang="zh-CN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 </a:t>
            </a:r>
            <a:r>
              <a:rPr lang="zh-CN" altLang="en-US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中断控制器</a:t>
            </a:r>
            <a:r>
              <a:rPr lang="en-US" altLang="zh-CN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8259</a:t>
            </a:r>
            <a:r>
              <a:rPr lang="zh-CN" altLang="en-US" strike="noStrike" noProof="1" dirty="0">
                <a:solidFill>
                  <a:srgbClr val="C00000">
                    <a:alpha val="75000"/>
                  </a:srgbClr>
                </a:solidFill>
                <a:latin typeface="方正正中黑简体" charset="-122"/>
                <a:ea typeface="方正正中黑简体" charset="-122"/>
                <a:cs typeface="方正正中黑简体" charset="-122"/>
              </a:rPr>
              <a:t>原理及应用</a:t>
            </a:r>
            <a:endParaRPr lang="zh-CN" altLang="en-US" strike="noStrike" noProof="1" dirty="0">
              <a:solidFill>
                <a:srgbClr val="C00000">
                  <a:alpha val="75000"/>
                </a:srgbClr>
              </a:solidFill>
              <a:latin typeface="方正正中黑简体" charset="-122"/>
              <a:ea typeface="方正正中黑简体" charset="-122"/>
              <a:cs typeface="方正正中黑简体" charset="-122"/>
            </a:endParaRPr>
          </a:p>
        </p:txBody>
      </p:sp>
      <p:pic>
        <p:nvPicPr>
          <p:cNvPr id="28678" name="图片 1" descr="p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525" y="-3175"/>
            <a:ext cx="1844675" cy="1228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文本框 218122"/>
          <p:cNvSpPr txBox="1"/>
          <p:nvPr/>
        </p:nvSpPr>
        <p:spPr>
          <a:xfrm>
            <a:off x="542925" y="1566863"/>
            <a:ext cx="828198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8" name="文本框 218120"/>
          <p:cNvSpPr txBox="1"/>
          <p:nvPr/>
        </p:nvSpPr>
        <p:spPr>
          <a:xfrm>
            <a:off x="471488" y="1995488"/>
            <a:ext cx="822483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spcBef>
                <a:spcPct val="50000"/>
              </a:spcBef>
              <a:buClr>
                <a:srgbClr val="CC0000"/>
              </a:buClr>
              <a:buFont typeface="Wingdings" panose="05000000000000000000" charset="0"/>
              <a:buChar char="Ø"/>
            </a:pP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掌握中断的基本概念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  <a:sym typeface="Wingdings 2" panose="05020102010507070707" pitchFamily="18" charset="2"/>
            </a:endParaRPr>
          </a:p>
        </p:txBody>
      </p:sp>
      <p:sp>
        <p:nvSpPr>
          <p:cNvPr id="29699" name="文本框 218119"/>
          <p:cNvSpPr txBox="1"/>
          <p:nvPr/>
        </p:nvSpPr>
        <p:spPr>
          <a:xfrm>
            <a:off x="471488" y="3052763"/>
            <a:ext cx="82819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spcBef>
                <a:spcPct val="50000"/>
              </a:spcBef>
              <a:buClr>
                <a:srgbClr val="CC0000"/>
              </a:buClr>
              <a:buFont typeface="Wingdings" panose="05000000000000000000" charset="0"/>
              <a:buChar char="Ø"/>
            </a:pP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理解中断处理过程的每个步骤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  <a:sym typeface="Wingdings 2" panose="05020102010507070707" pitchFamily="18" charset="2"/>
            </a:endParaRPr>
          </a:p>
        </p:txBody>
      </p:sp>
      <p:sp>
        <p:nvSpPr>
          <p:cNvPr id="29700" name="文本框 218118"/>
          <p:cNvSpPr txBox="1"/>
          <p:nvPr/>
        </p:nvSpPr>
        <p:spPr>
          <a:xfrm>
            <a:off x="471488" y="4041775"/>
            <a:ext cx="82819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spcBef>
                <a:spcPct val="50000"/>
              </a:spcBef>
              <a:buClr>
                <a:srgbClr val="CC0000"/>
              </a:buClr>
              <a:buFont typeface="Wingdings" panose="05000000000000000000" charset="0"/>
              <a:buChar char="Ø"/>
            </a:pP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  <a:sym typeface="Wingdings 2" panose="05020102010507070707" pitchFamily="18" charset="2"/>
              </a:rPr>
              <a:t>理解中断控制器的工作原理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  <a:sym typeface="Wingdings 2" panose="05020102010507070707" pitchFamily="18" charset="2"/>
            </a:endParaRPr>
          </a:p>
        </p:txBody>
      </p:sp>
      <p:sp>
        <p:nvSpPr>
          <p:cNvPr id="29701" name="文本框 218117"/>
          <p:cNvSpPr txBox="1"/>
          <p:nvPr/>
        </p:nvSpPr>
        <p:spPr>
          <a:xfrm>
            <a:off x="471488" y="5019675"/>
            <a:ext cx="82819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spcBef>
                <a:spcPct val="50000"/>
              </a:spcBef>
              <a:buClr>
                <a:srgbClr val="CC0000"/>
              </a:buClr>
              <a:buFont typeface="Wingdings" panose="05000000000000000000" charset="0"/>
              <a:buChar char="Ø"/>
            </a:pP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掌握中断控制器的应用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  <a:sym typeface="Wingdings 2" panose="05020102010507070707" pitchFamily="18" charset="2"/>
            </a:endParaRPr>
          </a:p>
        </p:txBody>
      </p:sp>
      <p:grpSp>
        <p:nvGrpSpPr>
          <p:cNvPr id="29702" name="组合 218113"/>
          <p:cNvGrpSpPr/>
          <p:nvPr/>
        </p:nvGrpSpPr>
        <p:grpSpPr>
          <a:xfrm>
            <a:off x="319088" y="1039813"/>
            <a:ext cx="3297237" cy="769937"/>
            <a:chOff x="678" y="838"/>
            <a:chExt cx="1964" cy="433"/>
          </a:xfrm>
        </p:grpSpPr>
        <p:sp>
          <p:nvSpPr>
            <p:cNvPr id="29703" name="五边形 218116"/>
            <p:cNvSpPr/>
            <p:nvPr/>
          </p:nvSpPr>
          <p:spPr>
            <a:xfrm>
              <a:off x="914" y="893"/>
              <a:ext cx="1728" cy="327"/>
            </a:xfrm>
            <a:prstGeom prst="homePlate">
              <a:avLst>
                <a:gd name="adj" fmla="val 73345"/>
              </a:avLst>
            </a:prstGeom>
            <a:gradFill rotWithShape="0">
              <a:gsLst>
                <a:gs pos="0">
                  <a:srgbClr val="FFFF66"/>
                </a:gs>
                <a:gs pos="100000">
                  <a:srgbClr val="FFFFE7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27000" dir="5400000" sy="50000" rotWithShape="0">
                <a:schemeClr val="bg1">
                  <a:alpha val="50000"/>
                </a:schemeClr>
              </a:outerShdw>
            </a:effectLst>
          </p:spPr>
          <p:txBody>
            <a:bodyPr anchor="t" anchorCtr="0"/>
            <a:p>
              <a:endParaRPr lang="zh-CN" altLang="en-US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8116" name="文本框 218115"/>
            <p:cNvSpPr txBox="1"/>
            <p:nvPr/>
          </p:nvSpPr>
          <p:spPr>
            <a:xfrm>
              <a:off x="1095" y="838"/>
              <a:ext cx="1457" cy="395"/>
            </a:xfrm>
            <a:prstGeom prst="rect">
              <a:avLst/>
            </a:prstGeom>
            <a:noFill/>
            <a:ln w="9525">
              <a:noFill/>
            </a:ln>
            <a:effectLst>
              <a:outerShdw dist="45791" dir="2021404" algn="ctr" rotWithShape="0">
                <a:schemeClr val="bg1"/>
              </a:outerShdw>
            </a:effectLst>
          </p:spPr>
          <p:txBody>
            <a:bodyPr>
              <a:spAutoFit/>
            </a:bodyPr>
            <a:p>
              <a:pPr marR="0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0" lang="zh-CN" altLang="en-US" sz="4000" b="1" kern="1200" cap="none" spc="0" normalizeH="0" baseline="0" noProof="1">
                  <a:solidFill>
                    <a:srgbClr val="FFC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学习目的</a:t>
              </a:r>
              <a:endParaRPr kumimoji="0" lang="zh-CN" altLang="en-US" sz="4000" b="1" kern="1200" cap="none" spc="0" normalizeH="0" baseline="0" noProof="1">
                <a:solidFill>
                  <a:srgbClr val="FFC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pic>
          <p:nvPicPr>
            <p:cNvPr id="29705" name="图片 218114" descr="2_clr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78" y="839"/>
              <a:ext cx="432" cy="43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8" grpId="1"/>
      <p:bldP spid="29699" grpId="0"/>
      <p:bldP spid="29699" grpId="1"/>
      <p:bldP spid="29700" grpId="0"/>
      <p:bldP spid="29700" grpId="1"/>
      <p:bldP spid="29701" grpId="0"/>
      <p:bldP spid="2970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30723" name="矩形 225299"/>
          <p:cNvSpPr>
            <a:spLocks noChangeAspec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4" name="文本框 225298"/>
          <p:cNvSpPr txBox="1"/>
          <p:nvPr/>
        </p:nvSpPr>
        <p:spPr>
          <a:xfrm>
            <a:off x="363538" y="395288"/>
            <a:ext cx="464820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一</a:t>
            </a:r>
            <a:r>
              <a:rPr lang="en-US" altLang="zh-CN" sz="40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.</a:t>
            </a:r>
            <a:r>
              <a:rPr lang="zh-CN" altLang="en-US" sz="40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中断的基本概念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5" name="文本框 225297"/>
          <p:cNvSpPr txBox="1"/>
          <p:nvPr/>
        </p:nvSpPr>
        <p:spPr>
          <a:xfrm>
            <a:off x="836930" y="1243330"/>
            <a:ext cx="3037840" cy="583565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tx1"/>
            </a:outerShdw>
          </a:effectLst>
        </p:spPr>
        <p:txBody>
          <a:bodyPr wrap="square" anchor="t" anchorCtr="0">
            <a:spAutoFit/>
          </a:bodyPr>
          <a:p>
            <a:pPr algn="just"/>
            <a:r>
              <a:rPr lang="zh-CN" altLang="en-US" sz="3200" b="1" dirty="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什么叫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中断</a:t>
            </a:r>
            <a:r>
              <a:rPr lang="zh-CN" altLang="en-US" sz="3200" b="1" dirty="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？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726" name="组合 225285"/>
          <p:cNvGrpSpPr/>
          <p:nvPr/>
        </p:nvGrpSpPr>
        <p:grpSpPr>
          <a:xfrm>
            <a:off x="5048568" y="2259013"/>
            <a:ext cx="3787775" cy="2784475"/>
            <a:chOff x="3199" y="1405"/>
            <a:chExt cx="2386" cy="1754"/>
          </a:xfrm>
        </p:grpSpPr>
        <p:sp>
          <p:nvSpPr>
            <p:cNvPr id="30727" name="椭圆 225296"/>
            <p:cNvSpPr/>
            <p:nvPr/>
          </p:nvSpPr>
          <p:spPr>
            <a:xfrm>
              <a:off x="4078" y="2187"/>
              <a:ext cx="126" cy="14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8" name="直接连接符 225295"/>
            <p:cNvSpPr/>
            <p:nvPr/>
          </p:nvSpPr>
          <p:spPr>
            <a:xfrm>
              <a:off x="4141" y="1405"/>
              <a:ext cx="0" cy="7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29" name="直接连接符 225294"/>
            <p:cNvSpPr/>
            <p:nvPr/>
          </p:nvSpPr>
          <p:spPr>
            <a:xfrm>
              <a:off x="3525" y="1947"/>
              <a:ext cx="521" cy="30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30" name="直接连接符 225293"/>
            <p:cNvSpPr/>
            <p:nvPr/>
          </p:nvSpPr>
          <p:spPr>
            <a:xfrm flipV="1">
              <a:off x="4266" y="1872"/>
              <a:ext cx="547" cy="368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31" name="直接连接符 225292"/>
            <p:cNvSpPr/>
            <p:nvPr/>
          </p:nvSpPr>
          <p:spPr>
            <a:xfrm>
              <a:off x="4141" y="2361"/>
              <a:ext cx="0" cy="7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32" name="直接连接符 225291"/>
            <p:cNvSpPr/>
            <p:nvPr/>
          </p:nvSpPr>
          <p:spPr>
            <a:xfrm>
              <a:off x="4796" y="1900"/>
              <a:ext cx="0" cy="762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33" name="直接连接符 225290"/>
            <p:cNvSpPr/>
            <p:nvPr/>
          </p:nvSpPr>
          <p:spPr>
            <a:xfrm flipH="1" flipV="1">
              <a:off x="4246" y="2285"/>
              <a:ext cx="534" cy="359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34" name="文本框 225289"/>
            <p:cNvSpPr txBox="1"/>
            <p:nvPr/>
          </p:nvSpPr>
          <p:spPr>
            <a:xfrm>
              <a:off x="3199" y="1663"/>
              <a:ext cx="69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中断申请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5" name="文本框 225288"/>
            <p:cNvSpPr txBox="1"/>
            <p:nvPr/>
          </p:nvSpPr>
          <p:spPr>
            <a:xfrm>
              <a:off x="4147" y="1424"/>
              <a:ext cx="290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主程序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6" name="文本框 225287"/>
            <p:cNvSpPr txBox="1"/>
            <p:nvPr/>
          </p:nvSpPr>
          <p:spPr>
            <a:xfrm>
              <a:off x="4871" y="1898"/>
              <a:ext cx="714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中断服务子程序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7" name="文本框 225286"/>
            <p:cNvSpPr txBox="1"/>
            <p:nvPr/>
          </p:nvSpPr>
          <p:spPr>
            <a:xfrm>
              <a:off x="4556" y="2662"/>
              <a:ext cx="4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返回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738" name="文本框 225284"/>
          <p:cNvSpPr txBox="1"/>
          <p:nvPr/>
        </p:nvSpPr>
        <p:spPr>
          <a:xfrm>
            <a:off x="5899150" y="5414963"/>
            <a:ext cx="1459230" cy="398780"/>
          </a:xfrm>
          <a:prstGeom prst="rect">
            <a:avLst/>
          </a:prstGeom>
          <a:solidFill>
            <a:srgbClr val="FFD6AD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中断示意图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739" name="组合 225281"/>
          <p:cNvGrpSpPr/>
          <p:nvPr/>
        </p:nvGrpSpPr>
        <p:grpSpPr>
          <a:xfrm>
            <a:off x="385763" y="1824038"/>
            <a:ext cx="4494212" cy="4287837"/>
            <a:chOff x="430" y="1194"/>
            <a:chExt cx="2831" cy="2701"/>
          </a:xfrm>
        </p:grpSpPr>
        <p:sp>
          <p:nvSpPr>
            <p:cNvPr id="30740" name="圆角矩形 225283"/>
            <p:cNvSpPr/>
            <p:nvPr/>
          </p:nvSpPr>
          <p:spPr>
            <a:xfrm>
              <a:off x="430" y="1275"/>
              <a:ext cx="2831" cy="2620"/>
            </a:xfrm>
            <a:prstGeom prst="roundRect">
              <a:avLst>
                <a:gd name="adj" fmla="val 14019"/>
              </a:avLst>
            </a:prstGeom>
            <a:solidFill>
              <a:srgbClr val="FFCCFF">
                <a:alpha val="50194"/>
              </a:srgbClr>
            </a:solidFill>
            <a:ln w="38100" cap="flat" cmpd="dbl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1" name="文本框 225282"/>
            <p:cNvSpPr txBox="1"/>
            <p:nvPr/>
          </p:nvSpPr>
          <p:spPr>
            <a:xfrm>
              <a:off x="527" y="1194"/>
              <a:ext cx="2610" cy="2662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p>
              <a:pPr indent="660400" algn="just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所谓中断，是指这样一个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过程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：当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_x000B__x000C_"/>
                </a:rPr>
                <a:t>CPU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正在执行主程序过程中，由于某一突发事件的发生，暂时停止正在执行的程序，转去处理突发事件（执行中断服务程序），处理完毕，再返回原来被打断的程序处继续运行。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nimBg="1"/>
      <p:bldP spid="30725" grpId="1" animBg="1"/>
      <p:bldP spid="30738" grpId="0" animBg="1"/>
      <p:bldP spid="3073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numCol="1" anchor="b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6" name="矩形 226312"/>
          <p:cNvSpPr>
            <a:spLocks noChangeAspec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6312" name="文本框 226311"/>
          <p:cNvSpPr txBox="1"/>
          <p:nvPr/>
        </p:nvSpPr>
        <p:spPr>
          <a:xfrm>
            <a:off x="952500" y="681038"/>
            <a:ext cx="66008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1">
                <a:solidFill>
                  <a:srgbClr val="00B05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日常生活中类似</a:t>
            </a:r>
            <a:r>
              <a:rPr kumimoji="0" lang="zh-CN" altLang="en-US" sz="32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“中断”</a:t>
            </a:r>
            <a:r>
              <a:rPr kumimoji="0" lang="zh-CN" altLang="en-US" sz="3200" b="1" kern="1200" cap="none" spc="0" normalizeH="0" baseline="0" noProof="1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</a:t>
            </a:r>
            <a:r>
              <a:rPr kumimoji="0" lang="zh-CN" altLang="en-US" sz="3200" b="1" kern="1200" cap="none" spc="0" normalizeH="0" baseline="0" noProof="1">
                <a:solidFill>
                  <a:srgbClr val="00B05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的例子：</a:t>
            </a:r>
            <a:endParaRPr kumimoji="0" lang="zh-CN" altLang="en-US" sz="3200" b="1" kern="1200" cap="none" spc="0" normalizeH="0" baseline="0" noProof="1">
              <a:solidFill>
                <a:srgbClr val="00B050"/>
              </a:solidFill>
              <a:effectLst>
                <a:outerShdw blurRad="38100" dist="38100" dir="2700000">
                  <a:srgbClr val="C0C0C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1748" name="文本框 226310"/>
          <p:cNvSpPr txBox="1"/>
          <p:nvPr/>
        </p:nvSpPr>
        <p:spPr>
          <a:xfrm>
            <a:off x="989013" y="1436688"/>
            <a:ext cx="7081837" cy="18875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_x000B__x000C_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：门铃响时，放下手中正在做的事情，跑去开门，招待客人；客人走后，接着做原来的事情。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9" name="文本框 226309"/>
          <p:cNvSpPr txBox="1"/>
          <p:nvPr/>
        </p:nvSpPr>
        <p:spPr>
          <a:xfrm>
            <a:off x="989013" y="3486150"/>
            <a:ext cx="7081837" cy="1296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_x000B__x000C_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：教师讲课过程中，同学遇有疑问或不同理解之处，随时向老师提问。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750" name="组合 226305"/>
          <p:cNvGrpSpPr/>
          <p:nvPr/>
        </p:nvGrpSpPr>
        <p:grpSpPr>
          <a:xfrm>
            <a:off x="663575" y="4913313"/>
            <a:ext cx="7942263" cy="1595437"/>
            <a:chOff x="418" y="3095"/>
            <a:chExt cx="5003" cy="1005"/>
          </a:xfrm>
        </p:grpSpPr>
        <p:sp>
          <p:nvSpPr>
            <p:cNvPr id="31751" name="横卷形 226308"/>
            <p:cNvSpPr/>
            <p:nvPr/>
          </p:nvSpPr>
          <p:spPr>
            <a:xfrm>
              <a:off x="418" y="3095"/>
              <a:ext cx="5003" cy="1005"/>
            </a:xfrm>
            <a:prstGeom prst="horizontalScroll">
              <a:avLst>
                <a:gd name="adj" fmla="val 8069"/>
              </a:avLst>
            </a:prstGeom>
            <a:solidFill>
              <a:srgbClr val="D9F3F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文本框 226307"/>
            <p:cNvSpPr txBox="1"/>
            <p:nvPr/>
          </p:nvSpPr>
          <p:spPr>
            <a:xfrm>
              <a:off x="564" y="3374"/>
              <a:ext cx="4259" cy="43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问题：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请同学们列举类似</a:t>
              </a:r>
              <a:r>
                <a:rPr lang="zh-CN" altLang="en-US" sz="2800" b="1" dirty="0">
                  <a:latin typeface="Times New Roman" panose="02020603050405020304" pitchFamily="18" charset="0"/>
                  <a:ea typeface="_x000B__x000C_"/>
                </a:rPr>
                <a:t>“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中断</a:t>
              </a:r>
              <a:r>
                <a:rPr lang="zh-CN" altLang="en-US" sz="2800" b="1" dirty="0">
                  <a:latin typeface="Times New Roman" panose="02020603050405020304" pitchFamily="18" charset="0"/>
                  <a:ea typeface="_x000B__x000C_"/>
                </a:rPr>
                <a:t>”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的例子。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31753" name="图片 226306" descr="2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646" y="3269"/>
              <a:ext cx="742" cy="74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8" grpId="1"/>
      <p:bldP spid="317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09" name="矩形 228357"/>
          <p:cNvSpPr>
            <a:spLocks noChangeAspec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7410" name="文本框 228356"/>
          <p:cNvSpPr txBox="1"/>
          <p:nvPr/>
        </p:nvSpPr>
        <p:spPr>
          <a:xfrm>
            <a:off x="919163" y="801053"/>
            <a:ext cx="3857625" cy="583565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tx1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3200" b="1" dirty="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应用中断技术的优点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1" name="文本框 228355"/>
          <p:cNvSpPr txBox="1"/>
          <p:nvPr/>
        </p:nvSpPr>
        <p:spPr>
          <a:xfrm>
            <a:off x="1249363" y="1884363"/>
            <a:ext cx="6437312" cy="1457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77825" indent="-377825">
              <a:lnSpc>
                <a:spcPct val="14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_x000B__x000C_"/>
              </a:rPr>
              <a:t>1. 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实现</a:t>
            </a:r>
            <a:r>
              <a:rPr lang="en-US" altLang="zh-CN" sz="3200" b="1">
                <a:solidFill>
                  <a:srgbClr val="0033CC"/>
                </a:solidFill>
                <a:latin typeface="Times New Roman" panose="02020603050405020304" pitchFamily="18" charset="0"/>
                <a:ea typeface="_x000B__x000C_"/>
              </a:rPr>
              <a:t>CPU 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与外设的并行工作，提高了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_x000B__x000C_"/>
              </a:rPr>
              <a:t> </a:t>
            </a:r>
            <a:r>
              <a:rPr lang="en-US" altLang="zh-CN" sz="3200" b="1">
                <a:solidFill>
                  <a:srgbClr val="0033CC"/>
                </a:solidFill>
                <a:latin typeface="Times New Roman" panose="02020603050405020304" pitchFamily="18" charset="0"/>
                <a:ea typeface="_x000B__x000C_"/>
              </a:rPr>
              <a:t>CPU 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的效率。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2" name="文本框 228354"/>
          <p:cNvSpPr txBox="1"/>
          <p:nvPr/>
        </p:nvSpPr>
        <p:spPr>
          <a:xfrm>
            <a:off x="1258888" y="3736975"/>
            <a:ext cx="6437312" cy="774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77825" indent="-377825">
              <a:lnSpc>
                <a:spcPct val="14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_x000B__x000C_"/>
              </a:rPr>
              <a:t>2. 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实现实时处理。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3" name="文本框 228353"/>
          <p:cNvSpPr txBox="1"/>
          <p:nvPr/>
        </p:nvSpPr>
        <p:spPr>
          <a:xfrm>
            <a:off x="1249363" y="4906963"/>
            <a:ext cx="6437312" cy="774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77825" indent="-377825">
              <a:lnSpc>
                <a:spcPct val="14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_x000B__x000C_"/>
              </a:rPr>
              <a:t>3. 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实现故障处理。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12" grpId="0"/>
      <p:bldP spid="174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3"/>
          <p:cNvSpPr>
            <a:spLocks noGrp="1"/>
          </p:cNvSpPr>
          <p:nvPr>
            <p:ph type="body" idx="4294967295"/>
          </p:nvPr>
        </p:nvSpPr>
        <p:spPr>
          <a:xfrm>
            <a:off x="361950" y="262890"/>
            <a:ext cx="8315325" cy="5325745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二. 中断源及类型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4805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、中断源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4805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引起中断的原因或引发中断的来源。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4805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16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位微机的中断源个数：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00H-FFH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4805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、中断源分类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59205" marR="0" lvl="2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80000"/>
              <a:buFont typeface="Wingdings" panose="05000000000000000000" charset="0"/>
              <a:buChar char="Ø"/>
              <a:defRPr/>
            </a:pPr>
            <a:r>
              <a:rPr kumimoji="0" lang="en-US" altLang="zh-CN" sz="245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外部中断</a:t>
            </a:r>
            <a:r>
              <a:rPr kumimoji="0" lang="zh-CN" altLang="en-US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（硬件中断）</a:t>
            </a:r>
            <a:r>
              <a:rPr kumimoji="0" lang="en-US" altLang="zh-CN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特征</a:t>
            </a:r>
            <a:r>
              <a:rPr lang="en-US" altLang="zh-CN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+mn-ea"/>
              </a:rPr>
              <a:t>始料未及</a:t>
            </a:r>
            <a:r>
              <a:rPr lang="en-US" altLang="zh-CN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+mn-ea"/>
              </a:rPr>
              <a:t>”</a:t>
            </a:r>
            <a:endParaRPr kumimoji="0" lang="en-US" altLang="zh-CN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59205" marR="0" lvl="2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80000"/>
              <a:buFont typeface="Wingdings" panose="05000000000000000000" charset="0"/>
              <a:buChar char="Ø"/>
              <a:defRPr/>
            </a:pPr>
            <a:r>
              <a:rPr kumimoji="0" lang="en-US" altLang="zh-CN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内部中断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（软件中断）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---</a:t>
            </a: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特征</a:t>
            </a:r>
            <a:r>
              <a:rPr lang="en-US" altLang="zh-CN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+mn-ea"/>
              </a:rPr>
              <a:t>有谋在先</a:t>
            </a:r>
            <a:r>
              <a:rPr lang="en-US" altLang="zh-CN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+mn-ea"/>
              </a:rPr>
              <a:t>”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0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7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7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7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框 1"/>
          <p:cNvSpPr txBox="1"/>
          <p:nvPr/>
        </p:nvSpPr>
        <p:spPr>
          <a:xfrm>
            <a:off x="3624580" y="2640330"/>
            <a:ext cx="4926330" cy="3192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4805" lvl="1">
              <a:lnSpc>
                <a:spcPts val="32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1. BIOS功能调用</a:t>
            </a:r>
            <a:endParaRPr lang="en-US" altLang="zh-CN" sz="2400" b="1" dirty="0">
              <a:solidFill>
                <a:srgbClr val="0000E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宋体" panose="02010600030101010101" pitchFamily="2" charset="-122"/>
            </a:endParaRPr>
          </a:p>
          <a:p>
            <a:pPr marL="344805" lvl="1">
              <a:lnSpc>
                <a:spcPts val="32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2. DOS功能调用</a:t>
            </a:r>
            <a:endParaRPr lang="en-US" altLang="zh-CN" sz="2400" b="1" dirty="0">
              <a:solidFill>
                <a:srgbClr val="0000E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宋体" panose="02010600030101010101" pitchFamily="2" charset="-122"/>
            </a:endParaRPr>
          </a:p>
          <a:p>
            <a:pPr marL="344805" lvl="1">
              <a:lnSpc>
                <a:spcPts val="32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3. 特殊内部中断</a:t>
            </a:r>
            <a:endParaRPr lang="en-US" altLang="zh-CN" sz="2400" b="1" dirty="0">
              <a:solidFill>
                <a:srgbClr val="0000E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宋体" panose="02010600030101010101" pitchFamily="2" charset="-122"/>
            </a:endParaRPr>
          </a:p>
          <a:p>
            <a:pPr marL="151130" marR="0" lvl="1" algn="l" defTabSz="914400" rtl="0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（1）</a:t>
            </a:r>
            <a:r>
              <a:rPr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0号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中断─</a:t>
            </a:r>
            <a:r>
              <a:rPr lang="zh-CN" altLang="en-US" sz="2400" b="1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除数为零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457200" marR="0" lvl="1" algn="l" defTabSz="914400" rtl="0">
              <a:lnSpc>
                <a:spcPts val="32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（2）</a:t>
            </a:r>
            <a:r>
              <a:rPr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1号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中断─</a:t>
            </a:r>
            <a:r>
              <a:rPr lang="zh-CN" altLang="en-US" sz="2400" b="1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单步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457200" marR="0" lvl="1" algn="l" defTabSz="914400" rtl="0">
              <a:lnSpc>
                <a:spcPts val="32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（3）</a:t>
            </a:r>
            <a:r>
              <a:rPr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3号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中断─</a:t>
            </a:r>
            <a:r>
              <a:rPr lang="zh-CN" altLang="en-US" sz="2400" b="1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断点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457200" marR="0" lvl="1" algn="l" defTabSz="914400" rtl="0">
              <a:lnSpc>
                <a:spcPts val="32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（4）</a:t>
            </a:r>
            <a:r>
              <a:rPr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4号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中断─</a:t>
            </a:r>
            <a:r>
              <a:rPr lang="zh-CN" altLang="en-US" sz="2400" b="1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溢出</a:t>
            </a:r>
            <a:endParaRPr lang="en-US" altLang="zh-CN" sz="2400" b="1" dirty="0">
              <a:solidFill>
                <a:srgbClr val="0000E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33794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385493" y="6595745"/>
            <a:ext cx="69215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0855" y="1268095"/>
            <a:ext cx="2035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外部中断</a:t>
            </a:r>
            <a:endParaRPr lang="zh-CN" altLang="en-US" sz="32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92880" y="975995"/>
            <a:ext cx="39560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 indent="0" algn="l">
              <a:lnSpc>
                <a:spcPct val="150000"/>
              </a:lnSpc>
              <a:spcBef>
                <a:spcPts val="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zh-CN" sz="2400" b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1.  可屏蔽中断</a:t>
            </a:r>
            <a:r>
              <a:rPr lang="en-US" altLang="zh-CN" sz="2400" b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INTR</a:t>
            </a:r>
            <a:endParaRPr lang="en-US" altLang="zh-CN" sz="2400" b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宋体" panose="02010600030101010101" pitchFamily="2" charset="-122"/>
            </a:endParaRPr>
          </a:p>
          <a:p>
            <a:pPr marL="0" lvl="1" indent="0" algn="l">
              <a:lnSpc>
                <a:spcPct val="150000"/>
              </a:lnSpc>
              <a:spcBef>
                <a:spcPts val="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zh-CN" sz="2400" b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2. 不可屏蔽中断</a:t>
            </a:r>
            <a:r>
              <a:rPr lang="en-US" altLang="zh-CN" sz="2400" b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NMI</a:t>
            </a:r>
            <a:r>
              <a:rPr lang="zh-CN" altLang="en-US" sz="2400" b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（</a:t>
            </a:r>
            <a:r>
              <a:rPr lang="en-US" altLang="zh-CN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号</a:t>
            </a:r>
            <a:r>
              <a:rPr lang="zh-CN" altLang="en-US" sz="2400" b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宋体" panose="02010600030101010101" pitchFamily="2" charset="-122"/>
              </a:rPr>
              <a:t>）</a:t>
            </a:r>
            <a:endParaRPr lang="zh-CN" altLang="en-US" sz="2400" b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44345" y="3045460"/>
            <a:ext cx="2035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00B050"/>
                </a:solidFill>
                <a:latin typeface="华文中宋" panose="02010600040101010101" charset="-122"/>
                <a:ea typeface="华文中宋" panose="02010600040101010101" charset="-122"/>
              </a:rPr>
              <a:t>内部中断</a:t>
            </a:r>
            <a:endParaRPr lang="zh-CN" altLang="en-US" sz="3200">
              <a:solidFill>
                <a:srgbClr val="00B05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293" name="左大括号 24581"/>
          <p:cNvSpPr/>
          <p:nvPr/>
        </p:nvSpPr>
        <p:spPr>
          <a:xfrm>
            <a:off x="1532255" y="1392555"/>
            <a:ext cx="236855" cy="2117725"/>
          </a:xfrm>
          <a:prstGeom prst="leftBrace">
            <a:avLst>
              <a:gd name="adj1" fmla="val 67020"/>
              <a:gd name="adj2" fmla="val 50000"/>
            </a:avLst>
          </a:prstGeom>
          <a:noFill/>
          <a:ln w="25400" cap="sq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/>
          <a:p>
            <a:pPr eaLnBrk="0" hangingPunct="0"/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  <p:sp>
        <p:nvSpPr>
          <p:cNvPr id="5" name="左大括号 24581"/>
          <p:cNvSpPr/>
          <p:nvPr/>
        </p:nvSpPr>
        <p:spPr>
          <a:xfrm>
            <a:off x="3564255" y="1196340"/>
            <a:ext cx="236855" cy="760730"/>
          </a:xfrm>
          <a:prstGeom prst="leftBrace">
            <a:avLst>
              <a:gd name="adj1" fmla="val 67020"/>
              <a:gd name="adj2" fmla="val 50000"/>
            </a:avLst>
          </a:prstGeom>
          <a:noFill/>
          <a:ln w="25400" cap="sq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/>
          <a:p>
            <a:pPr eaLnBrk="0" hangingPunct="0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左大括号 24581"/>
          <p:cNvSpPr/>
          <p:nvPr/>
        </p:nvSpPr>
        <p:spPr>
          <a:xfrm>
            <a:off x="3547745" y="2758440"/>
            <a:ext cx="236855" cy="1204595"/>
          </a:xfrm>
          <a:prstGeom prst="leftBrace">
            <a:avLst>
              <a:gd name="adj1" fmla="val 67020"/>
              <a:gd name="adj2" fmla="val 50000"/>
            </a:avLst>
          </a:prstGeom>
          <a:noFill/>
          <a:ln w="25400" cap="sq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/>
          <a:p>
            <a:pPr eaLnBrk="0" hangingPunct="0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5735" y="2112645"/>
            <a:ext cx="1542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华文中宋" panose="02010600040101010101" charset="-122"/>
                <a:ea typeface="华文中宋" panose="02010600040101010101" charset="-122"/>
              </a:rPr>
              <a:t>中断源</a:t>
            </a:r>
            <a:endParaRPr lang="zh-CN" altLang="en-US" sz="32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75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293" grpId="0" bldLvl="0" animBg="1"/>
      <p:bldP spid="2" grpId="0"/>
      <p:bldP spid="4" grpId="0"/>
      <p:bldP spid="7" grpId="1"/>
      <p:bldP spid="12293" grpId="1" animBg="1"/>
      <p:bldP spid="2" grpId="1"/>
      <p:bldP spid="4" grpId="1"/>
      <p:bldP spid="5" grpId="0" bldLvl="0" animBg="1"/>
      <p:bldP spid="3" grpId="0"/>
      <p:bldP spid="5" grpId="1" animBg="1"/>
      <p:bldP spid="3" grpId="1"/>
      <p:bldP spid="6" grpId="0" bldLvl="0" animBg="1"/>
      <p:bldP spid="33793" grpId="0"/>
      <p:bldP spid="6" grpId="1" animBg="1"/>
      <p:bldP spid="3379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2140" y="835660"/>
            <a:ext cx="7255510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3、中断号</a:t>
            </a:r>
            <a:endParaRPr lang="en-US" altLang="zh-CN" sz="2800" b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  </a:t>
            </a:r>
            <a:r>
              <a:rPr lang="zh-CN" altLang="en-US" sz="2800" b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中断号</a:t>
            </a:r>
            <a:r>
              <a:rPr lang="zh-CN" altLang="en-US" sz="28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是系统分配给每个</a:t>
            </a:r>
            <a:r>
              <a:rPr lang="zh-CN" altLang="en-US" sz="2800" b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中断源</a:t>
            </a:r>
            <a:r>
              <a:rPr lang="zh-CN" altLang="en-US" sz="2800" b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的编号</a:t>
            </a:r>
            <a:endParaRPr lang="zh-CN" altLang="en-US" sz="2800" b="1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  </a:t>
            </a:r>
            <a:r>
              <a:rPr lang="zh-CN" altLang="en-US" sz="2800" b="1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在</a:t>
            </a:r>
            <a:r>
              <a:rPr lang="zh-CN" altLang="en-US" sz="28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采用</a:t>
            </a:r>
            <a:r>
              <a:rPr lang="zh-CN" altLang="en-US" sz="2800" b="1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</a:t>
            </a:r>
            <a:r>
              <a:rPr lang="zh-CN" altLang="en-US" sz="2800" b="1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向量表</a:t>
            </a:r>
            <a:r>
              <a:rPr lang="zh-CN" altLang="en-US" sz="2800" b="1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的</a:t>
            </a:r>
            <a:r>
              <a:rPr lang="zh-CN" altLang="en-US" sz="28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中断系统中，CPU必须通过中断号才可以找到中断服务程序的入口地址，</a:t>
            </a:r>
            <a:r>
              <a:rPr lang="zh-CN" altLang="en-US" sz="2800" b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实现</a:t>
            </a:r>
            <a:r>
              <a:rPr lang="zh-CN" altLang="en-US" sz="2800" b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程序的转移</a:t>
            </a:r>
            <a:r>
              <a:rPr lang="zh-CN" altLang="en-US" sz="2800" b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。</a:t>
            </a:r>
            <a:endParaRPr lang="zh-CN" altLang="en-US" sz="2800" b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   </a:t>
            </a:r>
            <a:r>
              <a:rPr lang="en-US" altLang="zh-CN" sz="2800" b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PC</a:t>
            </a:r>
            <a:r>
              <a:rPr lang="zh-CN" altLang="en-US" sz="28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微机系统的中断号分配如表</a:t>
            </a:r>
            <a:r>
              <a:rPr lang="en-US" altLang="zh-CN" sz="28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5.1</a:t>
            </a:r>
            <a:r>
              <a:rPr lang="zh-CN" altLang="en-US" sz="28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所示</a:t>
            </a:r>
            <a:endParaRPr lang="zh-CN" altLang="en-US" sz="2800" b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文本框 1"/>
          <p:cNvSpPr txBox="1"/>
          <p:nvPr/>
        </p:nvSpPr>
        <p:spPr>
          <a:xfrm>
            <a:off x="614363" y="1042988"/>
            <a:ext cx="7918450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891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620713"/>
            <a:ext cx="8540750" cy="5813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5" name="文本框 3"/>
          <p:cNvSpPr txBox="1"/>
          <p:nvPr/>
        </p:nvSpPr>
        <p:spPr>
          <a:xfrm>
            <a:off x="2123440" y="252730"/>
            <a:ext cx="4600575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/>
            <a:r>
              <a:rPr lang="zh-CN" altLang="en-US" sz="20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表5.1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b="1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微机系统的中断号分配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93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404813"/>
            <a:ext cx="8302625" cy="5688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050088" y="6308725"/>
            <a:ext cx="123825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3"/>
          <p:cNvSpPr>
            <a:spLocks noGrp="1"/>
          </p:cNvSpPr>
          <p:nvPr>
            <p:ph type="body" idx="4294967295"/>
          </p:nvPr>
        </p:nvSpPr>
        <p:spPr>
          <a:xfrm>
            <a:off x="539115" y="835660"/>
            <a:ext cx="7197725" cy="4610735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ea"/>
                <a:sym typeface="+mn-ea"/>
              </a:rPr>
              <a:t>4、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中断号的获取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2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CPU对系统中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不同类型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的中断源，获取它们中断号的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方法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是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不同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marR="0" lvl="2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可屏蔽中断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INTR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的中断号是在中断响应周期从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中断控制器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获取的。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内部中断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INT n的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中断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号是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由中断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指令直接给出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的。不可屏蔽中断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NMI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以及CPU内部一些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特殊中断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的中断号是由系统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预先设置好的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，如NMI的中断号为02H，非法除数的中断号为0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0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H。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35842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49" name="灯片编号占位符 1"/>
          <p:cNvSpPr/>
          <p:nvPr/>
        </p:nvSpPr>
        <p:spPr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0" name="矩形 149507"/>
          <p:cNvSpPr>
            <a:spLocks noChangeAspect="1"/>
          </p:cNvSpPr>
          <p:nvPr/>
        </p:nvSpPr>
        <p:spPr>
          <a:xfrm>
            <a:off x="735013" y="1557338"/>
            <a:ext cx="8027987" cy="4687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1" name="文本框 149508"/>
          <p:cNvSpPr txBox="1"/>
          <p:nvPr/>
        </p:nvSpPr>
        <p:spPr>
          <a:xfrm>
            <a:off x="5272088" y="2312988"/>
            <a:ext cx="698500" cy="241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NMI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52" name="文本框 149509"/>
          <p:cNvSpPr txBox="1"/>
          <p:nvPr/>
        </p:nvSpPr>
        <p:spPr>
          <a:xfrm>
            <a:off x="5403850" y="4179888"/>
            <a:ext cx="495300" cy="2206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just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INTR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53" name="矩形 149510"/>
          <p:cNvSpPr/>
          <p:nvPr/>
        </p:nvSpPr>
        <p:spPr>
          <a:xfrm>
            <a:off x="1084263" y="1708150"/>
            <a:ext cx="4189412" cy="3933825"/>
          </a:xfrm>
          <a:prstGeom prst="rect">
            <a:avLst/>
          </a:prstGeom>
          <a:solidFill>
            <a:srgbClr val="339966"/>
          </a:solidFill>
          <a:ln w="9525" cap="flat" cmpd="sng">
            <a:solidFill>
              <a:srgbClr val="339966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4" name="矩形 149511"/>
          <p:cNvSpPr/>
          <p:nvPr/>
        </p:nvSpPr>
        <p:spPr>
          <a:xfrm>
            <a:off x="3527425" y="2312988"/>
            <a:ext cx="1222375" cy="2419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n"/>
            </a:pP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n"/>
            </a:pP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n"/>
            </a:pP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中断</a:t>
            </a:r>
            <a:endParaRPr lang="zh-CN" altLang="en-US" sz="16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</a:t>
            </a:r>
            <a:endParaRPr lang="zh-CN" altLang="en-US" sz="16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逻辑</a:t>
            </a:r>
            <a:endParaRPr lang="zh-CN" altLang="en-US" sz="16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5" name="矩形 149512"/>
          <p:cNvSpPr/>
          <p:nvPr/>
        </p:nvSpPr>
        <p:spPr>
          <a:xfrm>
            <a:off x="1258888" y="1860550"/>
            <a:ext cx="1276350" cy="4524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36000" rIns="0" bIns="0" anchor="t" anchorCtr="0"/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软件中断指令</a:t>
            </a:r>
            <a:endParaRPr lang="zh-CN" altLang="en-US" sz="16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856" name="矩形 149513"/>
          <p:cNvSpPr/>
          <p:nvPr/>
        </p:nvSpPr>
        <p:spPr>
          <a:xfrm>
            <a:off x="1258888" y="2616200"/>
            <a:ext cx="1220787" cy="4540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36000" rIns="0" bIns="0" anchor="t" anchorCtr="0">
            <a:noAutofit/>
          </a:bodyPr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溢出中断</a:t>
            </a:r>
            <a:endParaRPr lang="zh-CN" altLang="en-US" sz="1600" b="1" dirty="0">
              <a:solidFill>
                <a:srgbClr val="FFFF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8857" name="矩形 149514"/>
          <p:cNvSpPr/>
          <p:nvPr/>
        </p:nvSpPr>
        <p:spPr>
          <a:xfrm>
            <a:off x="1258888" y="3898900"/>
            <a:ext cx="1220787" cy="4524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36000" rIns="0" bIns="0" anchor="t" anchorCtr="0">
            <a:noAutofit/>
          </a:bodyPr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除法错</a:t>
            </a:r>
            <a:endParaRPr lang="zh-CN" altLang="en-US" sz="1600" b="1" dirty="0">
              <a:solidFill>
                <a:srgbClr val="FFFF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8858" name="矩形 149515"/>
          <p:cNvSpPr/>
          <p:nvPr/>
        </p:nvSpPr>
        <p:spPr>
          <a:xfrm>
            <a:off x="1258888" y="4668838"/>
            <a:ext cx="1220787" cy="4540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36000" rIns="0" bIns="0" anchor="t" anchorCtr="0">
            <a:noAutofit/>
          </a:bodyPr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单步中断</a:t>
            </a:r>
            <a:endParaRPr lang="zh-CN" altLang="en-US" sz="1600" b="1" dirty="0">
              <a:solidFill>
                <a:srgbClr val="FFFF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8859" name="直接连接符 149516"/>
          <p:cNvSpPr/>
          <p:nvPr/>
        </p:nvSpPr>
        <p:spPr>
          <a:xfrm>
            <a:off x="2479675" y="2822575"/>
            <a:ext cx="1047750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60" name="直接连接符 149517"/>
          <p:cNvSpPr/>
          <p:nvPr/>
        </p:nvSpPr>
        <p:spPr>
          <a:xfrm>
            <a:off x="2479675" y="4127500"/>
            <a:ext cx="1047750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61" name="直接连接符 149518"/>
          <p:cNvSpPr/>
          <p:nvPr/>
        </p:nvSpPr>
        <p:spPr>
          <a:xfrm>
            <a:off x="2479675" y="4884738"/>
            <a:ext cx="52387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8862" name="直接连接符 149519"/>
          <p:cNvSpPr/>
          <p:nvPr/>
        </p:nvSpPr>
        <p:spPr>
          <a:xfrm flipV="1">
            <a:off x="3003550" y="4581525"/>
            <a:ext cx="1588" cy="3032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8863" name="直接连接符 149520"/>
          <p:cNvSpPr/>
          <p:nvPr/>
        </p:nvSpPr>
        <p:spPr>
          <a:xfrm>
            <a:off x="3003550" y="4581525"/>
            <a:ext cx="523875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64" name="直接连接符 149521"/>
          <p:cNvSpPr/>
          <p:nvPr/>
        </p:nvSpPr>
        <p:spPr>
          <a:xfrm>
            <a:off x="2535238" y="2133600"/>
            <a:ext cx="46831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8865" name="直接连接符 149522"/>
          <p:cNvSpPr/>
          <p:nvPr/>
        </p:nvSpPr>
        <p:spPr>
          <a:xfrm flipV="1">
            <a:off x="3003550" y="2132013"/>
            <a:ext cx="1588" cy="3238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8866" name="直接连接符 149523"/>
          <p:cNvSpPr/>
          <p:nvPr/>
        </p:nvSpPr>
        <p:spPr>
          <a:xfrm>
            <a:off x="3003550" y="2465388"/>
            <a:ext cx="52387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67" name="矩形 149524"/>
          <p:cNvSpPr/>
          <p:nvPr/>
        </p:nvSpPr>
        <p:spPr>
          <a:xfrm>
            <a:off x="5970588" y="2471738"/>
            <a:ext cx="1878012" cy="3476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非屏蔽中断请求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68" name="矩形 149525"/>
          <p:cNvSpPr/>
          <p:nvPr/>
        </p:nvSpPr>
        <p:spPr>
          <a:xfrm>
            <a:off x="5970588" y="3221038"/>
            <a:ext cx="1222375" cy="2420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36000" rIns="0" bIns="0" anchor="t" anchorCtr="0">
            <a:noAutofit/>
          </a:bodyPr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endParaRPr lang="zh-CN" altLang="en-US" sz="16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中断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控制器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8259A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PIC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8869" name="直接连接符 149526"/>
          <p:cNvSpPr/>
          <p:nvPr/>
        </p:nvSpPr>
        <p:spPr>
          <a:xfrm flipH="1" flipV="1">
            <a:off x="4749800" y="2616200"/>
            <a:ext cx="1220788" cy="0"/>
          </a:xfrm>
          <a:prstGeom prst="line">
            <a:avLst/>
          </a:prstGeom>
          <a:ln w="25400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70" name="直接连接符 149527"/>
          <p:cNvSpPr/>
          <p:nvPr/>
        </p:nvSpPr>
        <p:spPr>
          <a:xfrm flipH="1">
            <a:off x="4749800" y="4432300"/>
            <a:ext cx="1220788" cy="0"/>
          </a:xfrm>
          <a:prstGeom prst="line">
            <a:avLst/>
          </a:prstGeom>
          <a:ln w="25400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71" name="直接连接符 149528"/>
          <p:cNvSpPr/>
          <p:nvPr/>
        </p:nvSpPr>
        <p:spPr>
          <a:xfrm flipH="1">
            <a:off x="7192963" y="3370263"/>
            <a:ext cx="522287" cy="3175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2" name="直接连接符 149529"/>
          <p:cNvSpPr/>
          <p:nvPr/>
        </p:nvSpPr>
        <p:spPr>
          <a:xfrm flipH="1">
            <a:off x="7192963" y="3675063"/>
            <a:ext cx="522287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3" name="直接连接符 149530"/>
          <p:cNvSpPr/>
          <p:nvPr/>
        </p:nvSpPr>
        <p:spPr>
          <a:xfrm flipH="1">
            <a:off x="7192963" y="3976688"/>
            <a:ext cx="522287" cy="1587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4" name="直接连接符 149531"/>
          <p:cNvSpPr/>
          <p:nvPr/>
        </p:nvSpPr>
        <p:spPr>
          <a:xfrm flipH="1">
            <a:off x="7192963" y="4281488"/>
            <a:ext cx="522287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5" name="直接连接符 149532"/>
          <p:cNvSpPr/>
          <p:nvPr/>
        </p:nvSpPr>
        <p:spPr>
          <a:xfrm flipH="1">
            <a:off x="7192963" y="4581525"/>
            <a:ext cx="522287" cy="1588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6" name="直接连接符 149533"/>
          <p:cNvSpPr/>
          <p:nvPr/>
        </p:nvSpPr>
        <p:spPr>
          <a:xfrm flipH="1">
            <a:off x="7192963" y="4884738"/>
            <a:ext cx="522287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7" name="直接连接符 149534"/>
          <p:cNvSpPr/>
          <p:nvPr/>
        </p:nvSpPr>
        <p:spPr>
          <a:xfrm flipH="1">
            <a:off x="7192963" y="5186363"/>
            <a:ext cx="522287" cy="1587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8" name="直接连接符 149535"/>
          <p:cNvSpPr/>
          <p:nvPr/>
        </p:nvSpPr>
        <p:spPr>
          <a:xfrm flipH="1">
            <a:off x="7192963" y="5491163"/>
            <a:ext cx="522287" cy="1587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8879" name="文本框 149536"/>
          <p:cNvSpPr txBox="1"/>
          <p:nvPr/>
        </p:nvSpPr>
        <p:spPr>
          <a:xfrm>
            <a:off x="2822575" y="5229225"/>
            <a:ext cx="2268538" cy="303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179705" lvl="1" indent="0" algn="just" eaLnBrk="1" hangingPunct="1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宋体" panose="02010600030101010101" pitchFamily="2" charset="-122"/>
              </a:rPr>
              <a:t>8086/8088CPU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内部逻辑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0" name="右大括号 149537"/>
          <p:cNvSpPr/>
          <p:nvPr/>
        </p:nvSpPr>
        <p:spPr>
          <a:xfrm>
            <a:off x="7889875" y="3371850"/>
            <a:ext cx="174625" cy="2117725"/>
          </a:xfrm>
          <a:prstGeom prst="rightBrace">
            <a:avLst>
              <a:gd name="adj1" fmla="val 101004"/>
              <a:gd name="adj2" fmla="val 50000"/>
            </a:avLst>
          </a:prstGeom>
          <a:noFill/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81" name="矩形 149538"/>
          <p:cNvSpPr/>
          <p:nvPr/>
        </p:nvSpPr>
        <p:spPr>
          <a:xfrm>
            <a:off x="1258888" y="3221038"/>
            <a:ext cx="1220787" cy="4540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36000" rIns="0" bIns="0" anchor="t" anchorCtr="0">
            <a:noAutofit/>
          </a:bodyPr>
          <a:p>
            <a:pPr marL="342900" lvl="0" indent="-342900" algn="ctr"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断点中断</a:t>
            </a:r>
            <a:endParaRPr lang="zh-CN" altLang="en-US" sz="1600" b="1" dirty="0">
              <a:solidFill>
                <a:srgbClr val="FFFF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8882" name="直接连接符 149539"/>
          <p:cNvSpPr/>
          <p:nvPr/>
        </p:nvSpPr>
        <p:spPr>
          <a:xfrm>
            <a:off x="2479675" y="3435350"/>
            <a:ext cx="1047750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8883" name="文本框 149540"/>
          <p:cNvSpPr txBox="1"/>
          <p:nvPr/>
        </p:nvSpPr>
        <p:spPr>
          <a:xfrm>
            <a:off x="7696200" y="3343275"/>
            <a:ext cx="1219200" cy="2066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可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屏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蔽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断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请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22605" lvl="1" indent="0" eaLnBrk="1" hangingPunct="1"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4" name="文本框 149541"/>
          <p:cNvSpPr txBox="1"/>
          <p:nvPr/>
        </p:nvSpPr>
        <p:spPr>
          <a:xfrm>
            <a:off x="3152775" y="2247900"/>
            <a:ext cx="144463" cy="1444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lnSpc>
                <a:spcPct val="80000"/>
              </a:lnSpc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85" name="文本框 149542"/>
          <p:cNvSpPr txBox="1"/>
          <p:nvPr/>
        </p:nvSpPr>
        <p:spPr>
          <a:xfrm>
            <a:off x="3154363" y="2636838"/>
            <a:ext cx="144462" cy="1444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lnSpc>
                <a:spcPct val="80000"/>
              </a:lnSpc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4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86" name="文本框 149543"/>
          <p:cNvSpPr txBox="1"/>
          <p:nvPr/>
        </p:nvSpPr>
        <p:spPr>
          <a:xfrm>
            <a:off x="3140075" y="3213100"/>
            <a:ext cx="144463" cy="1444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lnSpc>
                <a:spcPct val="80000"/>
              </a:lnSpc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3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87" name="文本框 149544"/>
          <p:cNvSpPr txBox="1"/>
          <p:nvPr/>
        </p:nvSpPr>
        <p:spPr>
          <a:xfrm>
            <a:off x="3140075" y="3933825"/>
            <a:ext cx="144463" cy="1444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lnSpc>
                <a:spcPct val="80000"/>
              </a:lnSpc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0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88" name="文本框 149545"/>
          <p:cNvSpPr txBox="1"/>
          <p:nvPr/>
        </p:nvSpPr>
        <p:spPr>
          <a:xfrm>
            <a:off x="3140075" y="4408488"/>
            <a:ext cx="144463" cy="1444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lnSpc>
                <a:spcPct val="80000"/>
              </a:lnSpc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1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89" name="文本框 149546"/>
          <p:cNvSpPr txBox="1"/>
          <p:nvPr/>
        </p:nvSpPr>
        <p:spPr>
          <a:xfrm>
            <a:off x="4911725" y="2420938"/>
            <a:ext cx="144463" cy="1444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marL="342900" indent="-342900" algn="ctr">
              <a:lnSpc>
                <a:spcPct val="80000"/>
              </a:lnSpc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en-US" altLang="zh-CN" sz="1600" b="1">
                <a:latin typeface="Arial" panose="020B0604020202020204" pitchFamily="34" charset="0"/>
              </a:rPr>
              <a:t>2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78890" name="文本框 149547"/>
          <p:cNvSpPr txBox="1"/>
          <p:nvPr/>
        </p:nvSpPr>
        <p:spPr>
          <a:xfrm>
            <a:off x="1295400" y="457200"/>
            <a:ext cx="4800600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8086/8088</a:t>
            </a:r>
            <a:r>
              <a:rPr lang="zh-CN" altLang="en-US" sz="32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中断源类型</a:t>
            </a:r>
            <a:endParaRPr lang="zh-CN" altLang="en-US" sz="3200" dirty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文本框 1"/>
          <p:cNvSpPr txBox="1"/>
          <p:nvPr/>
        </p:nvSpPr>
        <p:spPr>
          <a:xfrm>
            <a:off x="323850" y="549275"/>
            <a:ext cx="7754938" cy="20853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4805" lvl="1" indent="0" eaLnBrk="1" hangingPunct="1">
              <a:lnSpc>
                <a:spcPct val="15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三.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中断响应周期</a:t>
            </a:r>
            <a:endParaRPr lang="en-US" altLang="zh-CN" sz="28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4805" lvl="1" indent="0" eaLnBrk="1" hangingPunct="1">
              <a:lnSpc>
                <a:spcPct val="15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对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NMI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的响应只需一个总线周期</a:t>
            </a:r>
            <a:endParaRPr lang="zh-CN" altLang="en-US" sz="2400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344805" lvl="1" indent="0" eaLnBrk="1" hangingPunct="1">
              <a:lnSpc>
                <a:spcPct val="15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而对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INTR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的响应则需</a:t>
            </a:r>
            <a:r>
              <a:rPr lang="zh-CN" altLang="en-US" sz="2400" dirty="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两个总线周期</a:t>
            </a:r>
            <a:endParaRPr lang="en-US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graphicFrame>
        <p:nvGraphicFramePr>
          <p:cNvPr id="36868" name="Picture 3"/>
          <p:cNvGraphicFramePr/>
          <p:nvPr/>
        </p:nvGraphicFramePr>
        <p:xfrm>
          <a:off x="3851910" y="4579620"/>
          <a:ext cx="796290" cy="35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70840" imgH="198755" progId="Visio.Drawing.11">
                  <p:embed/>
                </p:oleObj>
              </mc:Choice>
              <mc:Fallback>
                <p:oleObj name="" r:id="rId1" imgW="370840" imgH="19875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1910" y="4579620"/>
                        <a:ext cx="796290" cy="358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1"/>
          <p:cNvSpPr txBox="1"/>
          <p:nvPr/>
        </p:nvSpPr>
        <p:spPr>
          <a:xfrm>
            <a:off x="379095" y="2685415"/>
            <a:ext cx="7754938" cy="2306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4805" lvl="1" indent="0" eaLnBrk="1" hangingPunct="1">
              <a:lnSpc>
                <a:spcPct val="15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</a:pPr>
            <a:r>
              <a:rPr lang="en-US" altLang="en-US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当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CPU收到外部设备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提出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</a:t>
            </a:r>
            <a:r>
              <a:rPr lang="en-US" altLang="zh-CN" sz="2400" dirty="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中断请求INT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后，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如果</a:t>
            </a:r>
            <a:r>
              <a:rPr lang="en-US" altLang="zh-CN" sz="2400" dirty="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当前指令已执行完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，且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中断标志位</a:t>
            </a:r>
            <a:r>
              <a:rPr lang="en-US" altLang="zh-CN" sz="2400" dirty="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IF=1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（即允许中断），又</a:t>
            </a:r>
            <a:r>
              <a:rPr lang="en-US" altLang="zh-CN" sz="2400" dirty="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没有DMA请求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那么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CPU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进入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中断响应周期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发出两个连</a:t>
            </a:r>
            <a:r>
              <a:rPr lang="en-US" altLang="zh-CN" sz="20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续中断应答信号</a:t>
            </a:r>
            <a:r>
              <a:rPr lang="en-US" altLang="en-US" sz="20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 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</a:t>
            </a:r>
            <a:r>
              <a:rPr lang="en-US" altLang="zh-CN" sz="24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完成一次中断响应。</a:t>
            </a:r>
            <a:endParaRPr lang="en-US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68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368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686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9410" b="15260"/>
          <a:stretch>
            <a:fillRect/>
          </a:stretch>
        </p:blipFill>
        <p:spPr>
          <a:xfrm>
            <a:off x="683895" y="3140710"/>
            <a:ext cx="7282180" cy="2245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5"/>
          <p:cNvPicPr>
            <a:picLocks noChangeAspect="1"/>
          </p:cNvPicPr>
          <p:nvPr/>
        </p:nvPicPr>
        <p:blipFill>
          <a:blip r:embed="rId2"/>
          <a:srcRect l="-211" t="-271" r="45522" b="33451"/>
          <a:stretch>
            <a:fillRect/>
          </a:stretch>
        </p:blipFill>
        <p:spPr>
          <a:xfrm>
            <a:off x="1457325" y="326390"/>
            <a:ext cx="5158740" cy="2077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895475" y="2564765"/>
            <a:ext cx="4569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非屏蔽中断</a:t>
            </a:r>
            <a:r>
              <a:rPr lang="en-US" altLang="zh-CN" sz="24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NMI</a:t>
            </a:r>
            <a:r>
              <a:rPr lang="zh-CN" altLang="en-US" sz="24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的响应周期</a:t>
            </a:r>
            <a:endParaRPr lang="zh-CN" altLang="en-US" sz="2400">
              <a:solidFill>
                <a:srgbClr val="C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8965" y="5418455"/>
            <a:ext cx="4569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可屏蔽中断</a:t>
            </a:r>
            <a:r>
              <a:rPr lang="en-US" altLang="zh-CN" sz="24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INTR</a:t>
            </a:r>
            <a:r>
              <a:rPr lang="zh-CN" altLang="en-US" sz="24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的响应周期</a:t>
            </a:r>
            <a:endParaRPr lang="zh-CN" altLang="en-US" sz="240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文本框 1"/>
          <p:cNvSpPr txBox="1">
            <a:spLocks noChangeArrowheads="1"/>
          </p:cNvSpPr>
          <p:nvPr/>
        </p:nvSpPr>
        <p:spPr bwMode="auto">
          <a:xfrm>
            <a:off x="755650" y="332740"/>
            <a:ext cx="5337175" cy="526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四.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中断处理过程</a:t>
            </a:r>
            <a:endParaRPr lang="zh-CN" altLang="en-US" sz="2800" b="1" dirty="0">
              <a:solidFill>
                <a:srgbClr val="3939CD"/>
              </a:solidFill>
              <a:latin typeface="Times New Roman" panose="02020603050405020304" pitchFamily="18" charset="0"/>
              <a:ea typeface="隶书" panose="02010509060101010101" pitchFamily="49" charset="-122"/>
              <a:sym typeface="宋体" panose="02010600030101010101" pitchFamily="2" charset="-122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1.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中断请求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2.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中断源识别及排队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3.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中断响应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4.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断点保护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5.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中断服务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6.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断点恢复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7.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中断返回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以可屏蔽中断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INTR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为例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注意：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教材中为四个阶段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</p:txBody>
      </p:sp>
      <p:sp>
        <p:nvSpPr>
          <p:cNvPr id="37890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1000"/>
                                        <p:tgtEl>
                                          <p:spTgt spid="10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000"/>
                                        <p:tgtEl>
                                          <p:spTgt spid="102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0900" name="Object 5"/>
          <p:cNvGraphicFramePr>
            <a:graphicFrameLocks noChangeAspect="1"/>
          </p:cNvGraphicFramePr>
          <p:nvPr/>
        </p:nvGraphicFramePr>
        <p:xfrm>
          <a:off x="1907540" y="477520"/>
          <a:ext cx="4898390" cy="5405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081655" imgH="3646170" progId="Visio.Drawing.6">
                  <p:embed/>
                </p:oleObj>
              </mc:Choice>
              <mc:Fallback>
                <p:oleObj name="" r:id="rId1" imgW="3081655" imgH="3646170" progId="Visio.Drawing.6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7540" y="477520"/>
                        <a:ext cx="4898390" cy="54057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1882140" y="5229225"/>
            <a:ext cx="1106170" cy="12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860290" y="4940935"/>
            <a:ext cx="15843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09930" y="1157605"/>
            <a:ext cx="675005" cy="37407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 sz="3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8086CPU</a:t>
            </a:r>
            <a:r>
              <a:rPr lang="zh-CN" altLang="en-US" sz="3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引脚图</a:t>
            </a:r>
            <a:endParaRPr lang="zh-CN" altLang="en-US" sz="3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907540" y="4940935"/>
            <a:ext cx="1106170" cy="12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1" name="文本框 1"/>
          <p:cNvSpPr txBox="1">
            <a:spLocks noChangeArrowheads="1"/>
          </p:cNvSpPr>
          <p:nvPr/>
        </p:nvSpPr>
        <p:spPr bwMode="auto">
          <a:xfrm>
            <a:off x="683260" y="475615"/>
            <a:ext cx="6773545" cy="4858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四.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中断处理过程</a:t>
            </a:r>
            <a:endParaRPr lang="zh-CN" altLang="en-US" sz="3200" b="1" dirty="0">
              <a:solidFill>
                <a:srgbClr val="3939CD"/>
              </a:solidFill>
              <a:latin typeface="Times New Roman" panose="02020603050405020304" pitchFamily="18" charset="0"/>
              <a:ea typeface="隶书" panose="02010509060101010101" pitchFamily="49" charset="-122"/>
              <a:sym typeface="宋体" panose="02010600030101010101" pitchFamily="2" charset="-122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1.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中断请求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2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charset="0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中断触发方式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（中断请求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信号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的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形式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914400" marR="0" lvl="3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charset="0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边沿触发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914400" marR="0" lvl="3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charset="0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电平触发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2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charset="0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请求信号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应被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有效记录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，以便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CPU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能够检测到（每条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指令执行结束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时）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2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charset="0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一旦中断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请求被处理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，中断请求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信号应撤销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（如何撤销与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中断结束方式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有关）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1" name="文本框 1"/>
          <p:cNvSpPr txBox="1">
            <a:spLocks noChangeArrowheads="1"/>
          </p:cNvSpPr>
          <p:nvPr/>
        </p:nvSpPr>
        <p:spPr bwMode="auto">
          <a:xfrm>
            <a:off x="755015" y="332105"/>
            <a:ext cx="6771640" cy="215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四.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中断处理过程</a:t>
            </a:r>
            <a:endParaRPr lang="zh-CN" altLang="en-US" sz="2800" b="1" dirty="0">
              <a:solidFill>
                <a:srgbClr val="3939CD"/>
              </a:solidFill>
              <a:latin typeface="Times New Roman" panose="02020603050405020304" pitchFamily="18" charset="0"/>
              <a:ea typeface="隶书" panose="02010509060101010101" pitchFamily="49" charset="-122"/>
              <a:sym typeface="宋体" panose="02010600030101010101" pitchFamily="2" charset="-122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2.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中断源识别及排队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当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CPU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从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INTR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引脚检测到中断请求时，如何知道是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哪个中断源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发出的请求？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1595" y="2420620"/>
            <a:ext cx="504253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识别方法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：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①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 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软件查询法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                  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  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② 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中断矢量法</a:t>
            </a:r>
            <a:endParaRPr lang="zh-CN" altLang="en-US" sz="28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4450" y="3573145"/>
            <a:ext cx="565277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noProof="0" dirty="0" smtClean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什么情况下需要排队？如何排队？</a:t>
            </a:r>
            <a:endParaRPr lang="zh-CN" altLang="en-US" sz="28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排队方法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：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①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 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软件查询方式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                  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  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② 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硬件排队电路</a:t>
            </a:r>
            <a:endParaRPr lang="zh-CN" altLang="en-US" sz="28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0095" y="1967865"/>
            <a:ext cx="17741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7030A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CPU</a:t>
            </a:r>
            <a:r>
              <a:rPr lang="zh-CN" altLang="en-US" sz="2800" b="1">
                <a:solidFill>
                  <a:srgbClr val="7030A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何时检测</a:t>
            </a:r>
            <a:r>
              <a:rPr lang="en-US" altLang="zh-CN" sz="2800" b="1">
                <a:solidFill>
                  <a:srgbClr val="7030A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INTR</a:t>
            </a:r>
            <a:r>
              <a:rPr lang="zh-CN" altLang="en-US" sz="2800" b="1">
                <a:solidFill>
                  <a:srgbClr val="7030A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引脚？</a:t>
            </a:r>
            <a:endParaRPr lang="zh-CN" altLang="en-US" sz="2800" b="1">
              <a:solidFill>
                <a:srgbClr val="7030A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6088380" y="1779905"/>
            <a:ext cx="1070610" cy="722630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093585" y="3458210"/>
            <a:ext cx="17741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CPU</a:t>
            </a:r>
            <a:r>
              <a:rPr lang="zh-CN" altLang="en-US" sz="28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每执行完一条指令时</a:t>
            </a:r>
            <a:endParaRPr lang="zh-CN" altLang="en-US" sz="2800" b="1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524433" y="5806440"/>
            <a:ext cx="692150" cy="333375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06" name="文本框 144387"/>
          <p:cNvSpPr txBox="1"/>
          <p:nvPr/>
        </p:nvSpPr>
        <p:spPr>
          <a:xfrm>
            <a:off x="1060450" y="620395"/>
            <a:ext cx="3375025" cy="4305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marL="342900" indent="-342900">
              <a:spcBef>
                <a:spcPct val="50000"/>
              </a:spcBef>
              <a:buClr>
                <a:srgbClr val="0000CC"/>
              </a:buClr>
              <a:buSzPct val="75000"/>
              <a:buFont typeface="Wingdings" panose="05000000000000000000" pitchFamily="2" charset="2"/>
            </a:pPr>
            <a:r>
              <a:rPr lang="zh-CN" altLang="en-GB" sz="28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软件查询逻辑</a:t>
            </a:r>
            <a:endParaRPr lang="zh-CN" altLang="en-GB" sz="28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文本框 233548"/>
          <p:cNvSpPr txBox="1"/>
          <p:nvPr/>
        </p:nvSpPr>
        <p:spPr>
          <a:xfrm>
            <a:off x="5852795" y="5315903"/>
            <a:ext cx="1962150" cy="396875"/>
          </a:xfrm>
          <a:prstGeom prst="rect">
            <a:avLst/>
          </a:prstGeom>
          <a:solidFill>
            <a:srgbClr val="FBD6B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Times New Roman" panose="02020603050405020304" pitchFamily="18" charset="0"/>
              </a:rPr>
              <a:t>软件查询流程图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2" name="文本框 233547"/>
          <p:cNvSpPr txBox="1"/>
          <p:nvPr/>
        </p:nvSpPr>
        <p:spPr>
          <a:xfrm>
            <a:off x="1317308" y="5379403"/>
            <a:ext cx="2255837" cy="396875"/>
          </a:xfrm>
          <a:prstGeom prst="rect">
            <a:avLst/>
          </a:prstGeom>
          <a:solidFill>
            <a:srgbClr val="FBD6B1"/>
          </a:solidFill>
          <a:ln w="9525">
            <a:noFill/>
          </a:ln>
        </p:spPr>
        <p:txBody>
          <a:bodyPr anchor="t" anchorCtr="0">
            <a:spAutoFit/>
          </a:bodyPr>
          <a:p>
            <a:pPr marL="854075" indent="-854075" algn="ctr"/>
            <a:r>
              <a:rPr lang="zh-CN" altLang="en-US" sz="2000" dirty="0">
                <a:latin typeface="Times New Roman" panose="02020603050405020304" pitchFamily="18" charset="0"/>
              </a:rPr>
              <a:t>优先权管理电路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2533" name="组合 233503"/>
          <p:cNvGrpSpPr/>
          <p:nvPr/>
        </p:nvGrpSpPr>
        <p:grpSpPr>
          <a:xfrm>
            <a:off x="409258" y="2039303"/>
            <a:ext cx="4897437" cy="2822575"/>
            <a:chOff x="213" y="1235"/>
            <a:chExt cx="3085" cy="1778"/>
          </a:xfrm>
        </p:grpSpPr>
        <p:sp>
          <p:nvSpPr>
            <p:cNvPr id="22534" name="新月形 233546"/>
            <p:cNvSpPr/>
            <p:nvPr/>
          </p:nvSpPr>
          <p:spPr>
            <a:xfrm>
              <a:off x="1023" y="1235"/>
              <a:ext cx="437" cy="502"/>
            </a:xfrm>
            <a:prstGeom prst="moon">
              <a:avLst>
                <a:gd name="adj" fmla="val 875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35" name="任意多边形 233545"/>
            <p:cNvSpPr/>
            <p:nvPr/>
          </p:nvSpPr>
          <p:spPr>
            <a:xfrm>
              <a:off x="1432" y="1663"/>
              <a:ext cx="508" cy="707"/>
            </a:xfrm>
            <a:custGeom>
              <a:avLst/>
              <a:gdLst/>
              <a:ahLst/>
              <a:cxnLst/>
              <a:pathLst>
                <a:path w="444" h="438">
                  <a:moveTo>
                    <a:pt x="0" y="0"/>
                  </a:moveTo>
                  <a:lnTo>
                    <a:pt x="444" y="0"/>
                  </a:lnTo>
                  <a:lnTo>
                    <a:pt x="444" y="43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6" name="任意多边形 233544"/>
            <p:cNvSpPr/>
            <p:nvPr/>
          </p:nvSpPr>
          <p:spPr>
            <a:xfrm>
              <a:off x="1402" y="1486"/>
              <a:ext cx="670" cy="718"/>
            </a:xfrm>
            <a:custGeom>
              <a:avLst/>
              <a:gdLst/>
              <a:ahLst/>
              <a:cxnLst/>
              <a:pathLst>
                <a:path w="546" h="438">
                  <a:moveTo>
                    <a:pt x="0" y="0"/>
                  </a:moveTo>
                  <a:lnTo>
                    <a:pt x="546" y="0"/>
                  </a:lnTo>
                  <a:lnTo>
                    <a:pt x="546" y="43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7" name="任意多边形 233543"/>
            <p:cNvSpPr/>
            <p:nvPr/>
          </p:nvSpPr>
          <p:spPr>
            <a:xfrm>
              <a:off x="1412" y="1409"/>
              <a:ext cx="698" cy="695"/>
            </a:xfrm>
            <a:custGeom>
              <a:avLst/>
              <a:gdLst/>
              <a:ahLst/>
              <a:cxnLst/>
              <a:pathLst>
                <a:path w="546" h="438">
                  <a:moveTo>
                    <a:pt x="0" y="0"/>
                  </a:moveTo>
                  <a:lnTo>
                    <a:pt x="546" y="0"/>
                  </a:lnTo>
                  <a:lnTo>
                    <a:pt x="546" y="43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8" name="任意多边形 233542"/>
            <p:cNvSpPr/>
            <p:nvPr/>
          </p:nvSpPr>
          <p:spPr>
            <a:xfrm>
              <a:off x="1430" y="1330"/>
              <a:ext cx="722" cy="674"/>
            </a:xfrm>
            <a:custGeom>
              <a:avLst/>
              <a:gdLst/>
              <a:ahLst/>
              <a:cxnLst/>
              <a:pathLst>
                <a:path w="546" h="438">
                  <a:moveTo>
                    <a:pt x="0" y="0"/>
                  </a:moveTo>
                  <a:lnTo>
                    <a:pt x="546" y="0"/>
                  </a:lnTo>
                  <a:lnTo>
                    <a:pt x="546" y="43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9" name="直接连接符 233541"/>
            <p:cNvSpPr/>
            <p:nvPr/>
          </p:nvSpPr>
          <p:spPr>
            <a:xfrm flipH="1">
              <a:off x="538" y="1471"/>
              <a:ext cx="4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40" name="矩形 233540"/>
            <p:cNvSpPr/>
            <p:nvPr/>
          </p:nvSpPr>
          <p:spPr>
            <a:xfrm>
              <a:off x="1479" y="1900"/>
              <a:ext cx="357" cy="54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1200" dirty="0">
                  <a:latin typeface="Times New Roman" panose="02020603050405020304" pitchFamily="18" charset="0"/>
                </a:rPr>
                <a:t>三态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zh-CN" altLang="en-US" sz="1200" dirty="0">
                  <a:latin typeface="Times New Roman" panose="02020603050405020304" pitchFamily="18" charset="0"/>
                </a:rPr>
                <a:t>缓冲器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41" name="直接连接符 233539"/>
            <p:cNvSpPr/>
            <p:nvPr/>
          </p:nvSpPr>
          <p:spPr>
            <a:xfrm flipH="1">
              <a:off x="582" y="2165"/>
              <a:ext cx="8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42" name="流程图: 延期 233538"/>
            <p:cNvSpPr/>
            <p:nvPr/>
          </p:nvSpPr>
          <p:spPr>
            <a:xfrm>
              <a:off x="1231" y="2694"/>
              <a:ext cx="286" cy="319"/>
            </a:xfrm>
            <a:prstGeom prst="flowChartDelay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43" name="肘形连接符 233537"/>
            <p:cNvSpPr/>
            <p:nvPr/>
          </p:nvSpPr>
          <p:spPr>
            <a:xfrm rot="10800000">
              <a:off x="999" y="2566"/>
              <a:ext cx="225" cy="235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2544" name="矩形 233536"/>
            <p:cNvSpPr/>
            <p:nvPr/>
          </p:nvSpPr>
          <p:spPr>
            <a:xfrm>
              <a:off x="807" y="2410"/>
              <a:ext cx="180" cy="3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译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45" name="直接连接符 233535"/>
            <p:cNvSpPr/>
            <p:nvPr/>
          </p:nvSpPr>
          <p:spPr>
            <a:xfrm flipH="1">
              <a:off x="611" y="2915"/>
              <a:ext cx="6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6" name="椭圆 233534"/>
            <p:cNvSpPr/>
            <p:nvPr/>
          </p:nvSpPr>
          <p:spPr>
            <a:xfrm>
              <a:off x="1190" y="2878"/>
              <a:ext cx="38" cy="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47" name="椭圆 233533"/>
            <p:cNvSpPr/>
            <p:nvPr/>
          </p:nvSpPr>
          <p:spPr>
            <a:xfrm>
              <a:off x="1190" y="2770"/>
              <a:ext cx="38" cy="5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48" name="椭圆 233532"/>
            <p:cNvSpPr/>
            <p:nvPr/>
          </p:nvSpPr>
          <p:spPr>
            <a:xfrm>
              <a:off x="994" y="2520"/>
              <a:ext cx="40" cy="5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49" name="矩形 233531"/>
            <p:cNvSpPr/>
            <p:nvPr/>
          </p:nvSpPr>
          <p:spPr>
            <a:xfrm>
              <a:off x="2270" y="1909"/>
              <a:ext cx="292" cy="52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800" dirty="0">
                  <a:latin typeface="Times New Roman" panose="02020603050405020304" pitchFamily="18" charset="0"/>
                </a:rPr>
                <a:t>锁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800" dirty="0">
                  <a:latin typeface="Times New Roman" panose="02020603050405020304" pitchFamily="18" charset="0"/>
                </a:rPr>
                <a:t>存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800" dirty="0">
                  <a:latin typeface="Times New Roman" panose="02020603050405020304" pitchFamily="18" charset="0"/>
                </a:rPr>
                <a:t>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50" name="直接连接符 233530"/>
            <p:cNvSpPr/>
            <p:nvPr/>
          </p:nvSpPr>
          <p:spPr>
            <a:xfrm>
              <a:off x="1840" y="2379"/>
              <a:ext cx="436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1" name="直接连接符 233529"/>
            <p:cNvSpPr/>
            <p:nvPr/>
          </p:nvSpPr>
          <p:spPr>
            <a:xfrm>
              <a:off x="1840" y="2213"/>
              <a:ext cx="43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2" name="直接连接符 233528"/>
            <p:cNvSpPr/>
            <p:nvPr/>
          </p:nvSpPr>
          <p:spPr>
            <a:xfrm flipV="1">
              <a:off x="1840" y="2109"/>
              <a:ext cx="436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3" name="直接连接符 233527"/>
            <p:cNvSpPr/>
            <p:nvPr/>
          </p:nvSpPr>
          <p:spPr>
            <a:xfrm>
              <a:off x="1840" y="2002"/>
              <a:ext cx="430" cy="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4" name="直接连接符 233526"/>
            <p:cNvSpPr/>
            <p:nvPr/>
          </p:nvSpPr>
          <p:spPr>
            <a:xfrm flipH="1">
              <a:off x="596" y="2538"/>
              <a:ext cx="21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sm"/>
              <a:tailEnd type="none" w="med" len="med"/>
            </a:ln>
          </p:spPr>
        </p:sp>
        <p:graphicFrame>
          <p:nvGraphicFramePr>
            <p:cNvPr id="22555" name="对象 233525"/>
            <p:cNvGraphicFramePr/>
            <p:nvPr/>
          </p:nvGraphicFramePr>
          <p:xfrm>
            <a:off x="1611" y="2253"/>
            <a:ext cx="11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65100" imgH="215900" progId="Equation.3">
                    <p:embed/>
                  </p:oleObj>
                </mc:Choice>
                <mc:Fallback>
                  <p:oleObj name="" r:id="rId1" imgW="165100" imgH="2159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11" y="2253"/>
                          <a:ext cx="111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6" name="直接连接符 233524"/>
            <p:cNvSpPr/>
            <p:nvPr/>
          </p:nvSpPr>
          <p:spPr>
            <a:xfrm flipH="1">
              <a:off x="2562" y="1955"/>
              <a:ext cx="11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57" name="直接连接符 233523"/>
            <p:cNvSpPr/>
            <p:nvPr/>
          </p:nvSpPr>
          <p:spPr>
            <a:xfrm flipH="1">
              <a:off x="2562" y="2063"/>
              <a:ext cx="11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58" name="直接连接符 233522"/>
            <p:cNvSpPr/>
            <p:nvPr/>
          </p:nvSpPr>
          <p:spPr>
            <a:xfrm flipH="1">
              <a:off x="2562" y="2183"/>
              <a:ext cx="11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59" name="文本框 233521"/>
            <p:cNvSpPr txBox="1"/>
            <p:nvPr/>
          </p:nvSpPr>
          <p:spPr>
            <a:xfrm>
              <a:off x="367" y="1244"/>
              <a:ext cx="41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INTR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0" name="文本框 233520"/>
            <p:cNvSpPr txBox="1"/>
            <p:nvPr/>
          </p:nvSpPr>
          <p:spPr>
            <a:xfrm>
              <a:off x="388" y="1934"/>
              <a:ext cx="70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D</a:t>
              </a:r>
              <a:r>
                <a:rPr lang="en-US" altLang="zh-CN" sz="1200" baseline="-25000">
                  <a:latin typeface="Times New Roman" panose="02020603050405020304" pitchFamily="18" charset="0"/>
                  <a:ea typeface="_x000B__x000C_"/>
                </a:rPr>
                <a:t>7 </a:t>
              </a:r>
              <a:r>
                <a:rPr lang="en-US" altLang="zh-CN" sz="1200">
                  <a:latin typeface="Times New Roman" panose="02020603050405020304" pitchFamily="18" charset="0"/>
                </a:rPr>
                <a:t>~</a:t>
              </a: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D</a:t>
              </a:r>
              <a:r>
                <a:rPr lang="en-US" altLang="zh-CN" sz="1200" baseline="-25000">
                  <a:latin typeface="Times New Roman" panose="02020603050405020304" pitchFamily="18" charset="0"/>
                  <a:ea typeface="_x000B__x000C_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1" name="文本框 233519"/>
            <p:cNvSpPr txBox="1"/>
            <p:nvPr/>
          </p:nvSpPr>
          <p:spPr>
            <a:xfrm>
              <a:off x="340" y="2345"/>
              <a:ext cx="54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A</a:t>
              </a:r>
              <a:r>
                <a:rPr lang="en-US" altLang="zh-CN" sz="1200" baseline="-25000">
                  <a:latin typeface="Times New Roman" panose="02020603050405020304" pitchFamily="18" charset="0"/>
                  <a:ea typeface="_x000B__x000C_"/>
                </a:rPr>
                <a:t>15</a:t>
              </a:r>
              <a:r>
                <a:rPr lang="en-US" altLang="zh-CN" sz="1200">
                  <a:latin typeface="Times New Roman" panose="02020603050405020304" pitchFamily="18" charset="0"/>
                </a:rPr>
                <a:t>~</a:t>
              </a: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A</a:t>
              </a:r>
              <a:r>
                <a:rPr lang="en-US" altLang="zh-CN" sz="1200" baseline="-25000">
                  <a:latin typeface="Times New Roman" panose="02020603050405020304" pitchFamily="18" charset="0"/>
                  <a:ea typeface="_x000B__x000C_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2" name="直接连接符 233518"/>
            <p:cNvSpPr/>
            <p:nvPr/>
          </p:nvSpPr>
          <p:spPr>
            <a:xfrm flipH="1">
              <a:off x="600" y="2657"/>
              <a:ext cx="20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sm"/>
              <a:tailEnd type="none" w="med" len="med"/>
            </a:ln>
          </p:spPr>
        </p:sp>
        <p:graphicFrame>
          <p:nvGraphicFramePr>
            <p:cNvPr id="22563" name="对象 233517"/>
            <p:cNvGraphicFramePr/>
            <p:nvPr/>
          </p:nvGraphicFramePr>
          <p:xfrm>
            <a:off x="406" y="2822"/>
            <a:ext cx="207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3" imgW="266700" imgH="203200" progId="Equation.3">
                    <p:embed/>
                  </p:oleObj>
                </mc:Choice>
                <mc:Fallback>
                  <p:oleObj name="" r:id="rId3" imgW="266700" imgH="2032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6" y="2822"/>
                          <a:ext cx="207" cy="1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4" name="文本框 233516"/>
            <p:cNvSpPr txBox="1"/>
            <p:nvPr/>
          </p:nvSpPr>
          <p:spPr>
            <a:xfrm>
              <a:off x="2631" y="1885"/>
              <a:ext cx="667" cy="40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1200" dirty="0">
                  <a:latin typeface="Times New Roman" panose="02020603050405020304" pitchFamily="18" charset="0"/>
                </a:rPr>
                <a:t>中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200" dirty="0">
                  <a:latin typeface="Times New Roman" panose="02020603050405020304" pitchFamily="18" charset="0"/>
                </a:rPr>
                <a:t>断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200" dirty="0">
                  <a:latin typeface="Times New Roman" panose="02020603050405020304" pitchFamily="18" charset="0"/>
                </a:rPr>
                <a:t>源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A </a:t>
              </a:r>
              <a:endParaRPr lang="en-US" altLang="zh-CN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zh-CN" altLang="en-US" sz="1200" dirty="0">
                  <a:latin typeface="Times New Roman" panose="02020603050405020304" pitchFamily="18" charset="0"/>
                </a:rPr>
                <a:t>中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200" dirty="0">
                  <a:latin typeface="Times New Roman" panose="02020603050405020304" pitchFamily="18" charset="0"/>
                </a:rPr>
                <a:t>断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200" dirty="0">
                  <a:latin typeface="Times New Roman" panose="02020603050405020304" pitchFamily="18" charset="0"/>
                </a:rPr>
                <a:t>源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B </a:t>
              </a:r>
              <a:endParaRPr lang="en-US" altLang="zh-CN">
                <a:latin typeface="Times New Roman" panose="02020603050405020304" pitchFamily="18" charset="0"/>
                <a:ea typeface="_x000B__x000C_"/>
              </a:endParaRPr>
            </a:p>
            <a:p>
              <a:pPr>
                <a:lnSpc>
                  <a:spcPct val="55000"/>
                </a:lnSpc>
                <a:spcBef>
                  <a:spcPct val="50000"/>
                </a:spcBef>
              </a:pPr>
              <a:r>
                <a:rPr lang="zh-CN" altLang="en-US" sz="1200" dirty="0">
                  <a:latin typeface="Times New Roman" panose="02020603050405020304" pitchFamily="18" charset="0"/>
                </a:rPr>
                <a:t>中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200" dirty="0">
                  <a:latin typeface="Times New Roman" panose="02020603050405020304" pitchFamily="18" charset="0"/>
                </a:rPr>
                <a:t>断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200" dirty="0">
                  <a:latin typeface="Times New Roman" panose="02020603050405020304" pitchFamily="18" charset="0"/>
                </a:rPr>
                <a:t>源</a:t>
              </a:r>
              <a:r>
                <a:rPr lang="zh-CN" altLang="en-US" sz="12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en-US" altLang="zh-CN" sz="1200">
                  <a:latin typeface="Times New Roman" panose="02020603050405020304" pitchFamily="18" charset="0"/>
                  <a:ea typeface="_x000B__x000C_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5" name="文本框 233515"/>
            <p:cNvSpPr txBox="1"/>
            <p:nvPr/>
          </p:nvSpPr>
          <p:spPr>
            <a:xfrm rot="5400000">
              <a:off x="2766" y="2269"/>
              <a:ext cx="21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0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…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66" name="文本框 233514"/>
            <p:cNvSpPr txBox="1"/>
            <p:nvPr/>
          </p:nvSpPr>
          <p:spPr>
            <a:xfrm rot="5400000">
              <a:off x="2079" y="2241"/>
              <a:ext cx="212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0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…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67" name="任意多边形 233513"/>
            <p:cNvSpPr/>
            <p:nvPr/>
          </p:nvSpPr>
          <p:spPr>
            <a:xfrm>
              <a:off x="1520" y="2447"/>
              <a:ext cx="131" cy="421"/>
            </a:xfrm>
            <a:custGeom>
              <a:avLst/>
              <a:gdLst/>
              <a:ahLst/>
              <a:cxnLst/>
              <a:pathLst>
                <a:path w="96" h="240">
                  <a:moveTo>
                    <a:pt x="0" y="240"/>
                  </a:moveTo>
                  <a:lnTo>
                    <a:pt x="96" y="240"/>
                  </a:lnTo>
                  <a:lnTo>
                    <a:pt x="96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68" name="椭圆 233512"/>
            <p:cNvSpPr/>
            <p:nvPr/>
          </p:nvSpPr>
          <p:spPr>
            <a:xfrm>
              <a:off x="1632" y="2449"/>
              <a:ext cx="38" cy="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69" name="椭圆 233511"/>
            <p:cNvSpPr/>
            <p:nvPr/>
          </p:nvSpPr>
          <p:spPr>
            <a:xfrm>
              <a:off x="1517" y="2832"/>
              <a:ext cx="39" cy="5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70" name="文本框 233510"/>
            <p:cNvSpPr txBox="1"/>
            <p:nvPr/>
          </p:nvSpPr>
          <p:spPr>
            <a:xfrm rot="5400000">
              <a:off x="1634" y="1484"/>
              <a:ext cx="23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…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71" name="文本框 233509"/>
            <p:cNvSpPr txBox="1"/>
            <p:nvPr/>
          </p:nvSpPr>
          <p:spPr>
            <a:xfrm>
              <a:off x="213" y="2731"/>
              <a:ext cx="535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72" name="直接连接符 233508"/>
            <p:cNvSpPr/>
            <p:nvPr/>
          </p:nvSpPr>
          <p:spPr>
            <a:xfrm>
              <a:off x="514" y="2590"/>
              <a:ext cx="120" cy="1"/>
            </a:xfrm>
            <a:prstGeom prst="line">
              <a:avLst/>
            </a:prstGeom>
            <a:ln w="793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73" name="直接连接符 233507"/>
            <p:cNvSpPr/>
            <p:nvPr/>
          </p:nvSpPr>
          <p:spPr>
            <a:xfrm flipH="1">
              <a:off x="431" y="2587"/>
              <a:ext cx="47" cy="186"/>
            </a:xfrm>
            <a:prstGeom prst="line">
              <a:avLst/>
            </a:prstGeom>
            <a:ln w="793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74" name="矩形 233506"/>
            <p:cNvSpPr/>
            <p:nvPr/>
          </p:nvSpPr>
          <p:spPr>
            <a:xfrm>
              <a:off x="488" y="2596"/>
              <a:ext cx="118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_x000B__x000C_"/>
                </a:rPr>
                <a:t>IO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75" name="矩形 233505"/>
            <p:cNvSpPr/>
            <p:nvPr/>
          </p:nvSpPr>
          <p:spPr>
            <a:xfrm>
              <a:off x="303" y="2596"/>
              <a:ext cx="100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_x000B__x000C_"/>
                </a:rPr>
                <a:t>M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76" name="直接连接符 233504"/>
            <p:cNvSpPr/>
            <p:nvPr/>
          </p:nvSpPr>
          <p:spPr>
            <a:xfrm flipH="1">
              <a:off x="2562" y="2373"/>
              <a:ext cx="11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</p:grpSp>
      <p:grpSp>
        <p:nvGrpSpPr>
          <p:cNvPr id="22577" name="组合 233473"/>
          <p:cNvGrpSpPr/>
          <p:nvPr/>
        </p:nvGrpSpPr>
        <p:grpSpPr>
          <a:xfrm>
            <a:off x="5117783" y="1245553"/>
            <a:ext cx="3743325" cy="3846512"/>
            <a:chOff x="3102" y="867"/>
            <a:chExt cx="2358" cy="2423"/>
          </a:xfrm>
        </p:grpSpPr>
        <p:sp>
          <p:nvSpPr>
            <p:cNvPr id="22578" name="圆角矩形 233502"/>
            <p:cNvSpPr/>
            <p:nvPr/>
          </p:nvSpPr>
          <p:spPr>
            <a:xfrm>
              <a:off x="3192" y="867"/>
              <a:ext cx="1060" cy="38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在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中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断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服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务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中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读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入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请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求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状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79" name="菱形 233501"/>
            <p:cNvSpPr/>
            <p:nvPr/>
          </p:nvSpPr>
          <p:spPr>
            <a:xfrm>
              <a:off x="3102" y="1386"/>
              <a:ext cx="1240" cy="338"/>
            </a:xfrm>
            <a:prstGeom prst="diamond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A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申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请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80" name="菱形 233500"/>
            <p:cNvSpPr/>
            <p:nvPr/>
          </p:nvSpPr>
          <p:spPr>
            <a:xfrm>
              <a:off x="3102" y="1874"/>
              <a:ext cx="1240" cy="337"/>
            </a:xfrm>
            <a:prstGeom prst="diamond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B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申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请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81" name="圆角矩形 233499"/>
            <p:cNvSpPr/>
            <p:nvPr/>
          </p:nvSpPr>
          <p:spPr>
            <a:xfrm>
              <a:off x="3187" y="3022"/>
              <a:ext cx="1070" cy="268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中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断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返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  </a:t>
              </a:r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回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82" name="直接连接符 233498"/>
            <p:cNvSpPr/>
            <p:nvPr/>
          </p:nvSpPr>
          <p:spPr>
            <a:xfrm flipH="1">
              <a:off x="3713" y="1200"/>
              <a:ext cx="4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83" name="直接连接符 233497"/>
            <p:cNvSpPr/>
            <p:nvPr/>
          </p:nvSpPr>
          <p:spPr>
            <a:xfrm flipH="1">
              <a:off x="3713" y="1637"/>
              <a:ext cx="4" cy="3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2584" name="矩形 233496"/>
            <p:cNvSpPr/>
            <p:nvPr/>
          </p:nvSpPr>
          <p:spPr>
            <a:xfrm>
              <a:off x="4303" y="1323"/>
              <a:ext cx="1071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为中断源</a:t>
              </a: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  <a:ea typeface="_x000B__x000C_"/>
                </a:rPr>
                <a:t>A </a:t>
              </a:r>
              <a:endParaRPr lang="en-US" altLang="zh-CN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服务的程序段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585" name="组合 233493"/>
            <p:cNvGrpSpPr/>
            <p:nvPr/>
          </p:nvGrpSpPr>
          <p:grpSpPr>
            <a:xfrm>
              <a:off x="4048" y="1361"/>
              <a:ext cx="350" cy="227"/>
              <a:chOff x="4048" y="1361"/>
              <a:chExt cx="350" cy="227"/>
            </a:xfrm>
          </p:grpSpPr>
          <p:sp>
            <p:nvSpPr>
              <p:cNvPr id="22586" name="直接连接符 233495"/>
              <p:cNvSpPr/>
              <p:nvPr/>
            </p:nvSpPr>
            <p:spPr>
              <a:xfrm flipV="1">
                <a:off x="4048" y="1552"/>
                <a:ext cx="350" cy="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87" name="矩形 233494"/>
              <p:cNvSpPr/>
              <p:nvPr/>
            </p:nvSpPr>
            <p:spPr>
              <a:xfrm>
                <a:off x="4076" y="1361"/>
                <a:ext cx="208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lnSpc>
                    <a:spcPct val="110000"/>
                  </a:lnSpc>
                  <a:spcBef>
                    <a:spcPct val="50000"/>
                  </a:spcBef>
                </a:pPr>
                <a:r>
                  <a:rPr lang="en-US" altLang="zh-CN" sz="1600">
                    <a:solidFill>
                      <a:srgbClr val="FF3300"/>
                    </a:solidFill>
                    <a:latin typeface="Times New Roman" panose="02020603050405020304" pitchFamily="18" charset="0"/>
                    <a:ea typeface="_x000B__x000C_"/>
                  </a:rPr>
                  <a:t>Y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2588" name="直接连接符 233492"/>
            <p:cNvSpPr/>
            <p:nvPr/>
          </p:nvSpPr>
          <p:spPr>
            <a:xfrm>
              <a:off x="5232" y="1524"/>
              <a:ext cx="2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89" name="直接连接符 233491"/>
            <p:cNvSpPr/>
            <p:nvPr/>
          </p:nvSpPr>
          <p:spPr>
            <a:xfrm>
              <a:off x="5454" y="1524"/>
              <a:ext cx="0" cy="14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90" name="直接连接符 233490"/>
            <p:cNvSpPr/>
            <p:nvPr/>
          </p:nvSpPr>
          <p:spPr>
            <a:xfrm flipH="1">
              <a:off x="3720" y="2940"/>
              <a:ext cx="17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22591" name="组合 233474"/>
            <p:cNvGrpSpPr/>
            <p:nvPr/>
          </p:nvGrpSpPr>
          <p:grpSpPr>
            <a:xfrm>
              <a:off x="3110" y="1841"/>
              <a:ext cx="2346" cy="1148"/>
              <a:chOff x="3110" y="1841"/>
              <a:chExt cx="2346" cy="1148"/>
            </a:xfrm>
          </p:grpSpPr>
          <p:sp>
            <p:nvSpPr>
              <p:cNvPr id="22592" name="直接连接符 233489"/>
              <p:cNvSpPr/>
              <p:nvPr/>
            </p:nvSpPr>
            <p:spPr>
              <a:xfrm flipH="1">
                <a:off x="3712" y="2783"/>
                <a:ext cx="2" cy="20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93" name="直接连接符 233488"/>
              <p:cNvSpPr/>
              <p:nvPr/>
            </p:nvSpPr>
            <p:spPr>
              <a:xfrm flipH="1">
                <a:off x="3713" y="2131"/>
                <a:ext cx="4" cy="3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94" name="菱形 233487"/>
              <p:cNvSpPr/>
              <p:nvPr/>
            </p:nvSpPr>
            <p:spPr>
              <a:xfrm>
                <a:off x="3110" y="2388"/>
                <a:ext cx="1240" cy="337"/>
              </a:xfrm>
              <a:prstGeom prst="diamond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lnSpc>
                    <a:spcPct val="60000"/>
                  </a:lnSpc>
                </a:pPr>
                <a:r>
                  <a:rPr lang="en-US" altLang="zh-CN" sz="1600">
                    <a:solidFill>
                      <a:srgbClr val="FF3300"/>
                    </a:solidFill>
                    <a:latin typeface="Times New Roman" panose="02020603050405020304" pitchFamily="18" charset="0"/>
                    <a:ea typeface="_x000B__x000C_"/>
                  </a:rPr>
                  <a:t>C </a:t>
                </a:r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申</a:t>
                </a:r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_x000B__x000C_"/>
                  </a:rPr>
                  <a:t> </a:t>
                </a:r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请</a:t>
                </a:r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_x000B__x000C_"/>
                  </a:rPr>
                  <a:t> </a:t>
                </a:r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？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5" name="矩形 233486"/>
              <p:cNvSpPr/>
              <p:nvPr/>
            </p:nvSpPr>
            <p:spPr>
              <a:xfrm>
                <a:off x="4303" y="1847"/>
                <a:ext cx="1071" cy="3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/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为中断源</a:t>
                </a:r>
                <a:r>
                  <a:rPr lang="en-US" altLang="zh-CN" sz="1600">
                    <a:solidFill>
                      <a:srgbClr val="FF3300"/>
                    </a:solidFill>
                    <a:latin typeface="Times New Roman" panose="02020603050405020304" pitchFamily="18" charset="0"/>
                    <a:ea typeface="_x000B__x000C_"/>
                  </a:rPr>
                  <a:t>B </a:t>
                </a:r>
                <a:endParaRPr lang="en-US" altLang="zh-CN">
                  <a:latin typeface="Times New Roman" panose="02020603050405020304" pitchFamily="18" charset="0"/>
                  <a:ea typeface="_x000B__x000C_"/>
                </a:endParaRPr>
              </a:p>
              <a:p>
                <a:pPr algn="ctr"/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服务的程序段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6" name="矩形 233485"/>
              <p:cNvSpPr/>
              <p:nvPr/>
            </p:nvSpPr>
            <p:spPr>
              <a:xfrm>
                <a:off x="4303" y="2372"/>
                <a:ext cx="1071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/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为中断源</a:t>
                </a:r>
                <a:r>
                  <a:rPr lang="en-US" altLang="zh-CN" sz="1600">
                    <a:solidFill>
                      <a:srgbClr val="FF3300"/>
                    </a:solidFill>
                    <a:latin typeface="Times New Roman" panose="02020603050405020304" pitchFamily="18" charset="0"/>
                    <a:ea typeface="_x000B__x000C_"/>
                  </a:rPr>
                  <a:t>C </a:t>
                </a:r>
                <a:endParaRPr lang="en-US" altLang="zh-CN">
                  <a:latin typeface="Times New Roman" panose="02020603050405020304" pitchFamily="18" charset="0"/>
                  <a:ea typeface="_x000B__x000C_"/>
                </a:endParaRPr>
              </a:p>
              <a:p>
                <a:pPr algn="ctr"/>
                <a:r>
                  <a:rPr lang="zh-CN" altLang="en-US" sz="16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服务的程序段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7" name="直接连接符 233484"/>
              <p:cNvSpPr/>
              <p:nvPr/>
            </p:nvSpPr>
            <p:spPr>
              <a:xfrm>
                <a:off x="5233" y="2033"/>
                <a:ext cx="223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98" name="直接连接符 233483"/>
              <p:cNvSpPr/>
              <p:nvPr/>
            </p:nvSpPr>
            <p:spPr>
              <a:xfrm flipV="1">
                <a:off x="5233" y="2548"/>
                <a:ext cx="223" cy="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99" name="文本框 233482"/>
              <p:cNvSpPr txBox="1"/>
              <p:nvPr/>
            </p:nvSpPr>
            <p:spPr>
              <a:xfrm rot="5400000">
                <a:off x="5091" y="2725"/>
                <a:ext cx="28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ot="10800000" vert="eaVert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0" name="文本框 233481"/>
              <p:cNvSpPr txBox="1"/>
              <p:nvPr/>
            </p:nvSpPr>
            <p:spPr>
              <a:xfrm rot="5400000">
                <a:off x="3603" y="2605"/>
                <a:ext cx="28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ot="10800000" vert="eaVert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01" name="组合 233478"/>
              <p:cNvGrpSpPr/>
              <p:nvPr/>
            </p:nvGrpSpPr>
            <p:grpSpPr>
              <a:xfrm>
                <a:off x="4048" y="1841"/>
                <a:ext cx="350" cy="227"/>
                <a:chOff x="4048" y="1361"/>
                <a:chExt cx="350" cy="227"/>
              </a:xfrm>
            </p:grpSpPr>
            <p:sp>
              <p:nvSpPr>
                <p:cNvPr id="22602" name="直接连接符 233480"/>
                <p:cNvSpPr/>
                <p:nvPr/>
              </p:nvSpPr>
              <p:spPr>
                <a:xfrm flipV="1">
                  <a:off x="4048" y="1552"/>
                  <a:ext cx="350" cy="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sm"/>
                </a:ln>
              </p:spPr>
            </p:sp>
            <p:sp>
              <p:nvSpPr>
                <p:cNvPr id="22603" name="矩形 233479"/>
                <p:cNvSpPr/>
                <p:nvPr/>
              </p:nvSpPr>
              <p:spPr>
                <a:xfrm>
                  <a:off x="4076" y="1361"/>
                  <a:ext cx="208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lnSpc>
                      <a:spcPct val="110000"/>
                    </a:lnSpc>
                    <a:spcBef>
                      <a:spcPct val="50000"/>
                    </a:spcBef>
                  </a:pPr>
                  <a:r>
                    <a:rPr lang="en-US" altLang="zh-CN" sz="16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_x000B__x000C_"/>
                    </a:rPr>
                    <a:t>Y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2604" name="组合 233475"/>
              <p:cNvGrpSpPr/>
              <p:nvPr/>
            </p:nvGrpSpPr>
            <p:grpSpPr>
              <a:xfrm>
                <a:off x="4048" y="2345"/>
                <a:ext cx="350" cy="227"/>
                <a:chOff x="4048" y="1361"/>
                <a:chExt cx="350" cy="227"/>
              </a:xfrm>
            </p:grpSpPr>
            <p:sp>
              <p:nvSpPr>
                <p:cNvPr id="22605" name="直接连接符 233477"/>
                <p:cNvSpPr/>
                <p:nvPr/>
              </p:nvSpPr>
              <p:spPr>
                <a:xfrm flipV="1">
                  <a:off x="4048" y="1552"/>
                  <a:ext cx="350" cy="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sm"/>
                </a:ln>
              </p:spPr>
            </p:sp>
            <p:sp>
              <p:nvSpPr>
                <p:cNvPr id="22606" name="矩形 233476"/>
                <p:cNvSpPr/>
                <p:nvPr/>
              </p:nvSpPr>
              <p:spPr>
                <a:xfrm>
                  <a:off x="4076" y="1361"/>
                  <a:ext cx="208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lnSpc>
                      <a:spcPct val="110000"/>
                    </a:lnSpc>
                    <a:spcBef>
                      <a:spcPct val="50000"/>
                    </a:spcBef>
                  </a:pPr>
                  <a:r>
                    <a:rPr lang="en-US" altLang="zh-CN" sz="16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_x000B__x000C_"/>
                    </a:rPr>
                    <a:t>Y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71" name="文本框 235570"/>
          <p:cNvSpPr txBox="1"/>
          <p:nvPr/>
        </p:nvSpPr>
        <p:spPr>
          <a:xfrm>
            <a:off x="635000" y="460375"/>
            <a:ext cx="190944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800" b="1" noProof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硬件方式</a:t>
            </a:r>
            <a:endParaRPr lang="zh-CN" altLang="en-US" sz="2800" b="1" noProof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568" name="组合 235567"/>
          <p:cNvGrpSpPr/>
          <p:nvPr/>
        </p:nvGrpSpPr>
        <p:grpSpPr>
          <a:xfrm>
            <a:off x="949325" y="4337685"/>
            <a:ext cx="7639050" cy="1739900"/>
            <a:chOff x="530" y="2970"/>
            <a:chExt cx="4812" cy="1096"/>
          </a:xfrm>
        </p:grpSpPr>
        <p:sp>
          <p:nvSpPr>
            <p:cNvPr id="24580" name="圆角矩形 235569"/>
            <p:cNvSpPr/>
            <p:nvPr/>
          </p:nvSpPr>
          <p:spPr>
            <a:xfrm>
              <a:off x="530" y="2970"/>
              <a:ext cx="4812" cy="1096"/>
            </a:xfrm>
            <a:prstGeom prst="roundRect">
              <a:avLst>
                <a:gd name="adj" fmla="val 16667"/>
              </a:avLst>
            </a:prstGeom>
            <a:solidFill>
              <a:srgbClr val="CCECFF">
                <a:alpha val="50000"/>
              </a:srgbClr>
            </a:solidFill>
            <a:ln w="38100" cap="flat" cmpd="dbl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4581" name="矩形 235568"/>
            <p:cNvSpPr/>
            <p:nvPr/>
          </p:nvSpPr>
          <p:spPr>
            <a:xfrm>
              <a:off x="686" y="3046"/>
              <a:ext cx="4409" cy="9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marL="900430" indent="-900430" algn="just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zh-CN" altLang="en-US" sz="2800" dirty="0">
                  <a:latin typeface="Times New Roman" panose="02020603050405020304" pitchFamily="18" charset="0"/>
                  <a:ea typeface="_x000B__x000C_"/>
                </a:rPr>
                <a:t>1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）若</a:t>
              </a:r>
              <a:r>
                <a:rPr lang="en-US" altLang="zh-CN" sz="2800">
                  <a:latin typeface="Times New Roman" panose="02020603050405020304" pitchFamily="18" charset="0"/>
                  <a:ea typeface="_x000B__x000C_"/>
                </a:rPr>
                <a:t>CPU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未处理任何中断，则</a:t>
              </a:r>
              <a:r>
                <a:rPr lang="zh-CN" altLang="en-US" sz="2800" dirty="0">
                  <a:latin typeface="Times New Roman" panose="02020603050405020304" pitchFamily="18" charset="0"/>
                  <a:ea typeface="_x000B__x000C_"/>
                </a:rPr>
                <a:t>“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优先权失效</a:t>
              </a:r>
              <a:r>
                <a:rPr lang="zh-CN" altLang="en-US" sz="2800" dirty="0">
                  <a:latin typeface="Times New Roman" panose="02020603050405020304" pitchFamily="18" charset="0"/>
                  <a:ea typeface="_x000B__x000C_"/>
                </a:rPr>
                <a:t>”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信号为高，当任一中断源请求中断时，通过门</a:t>
              </a:r>
              <a:r>
                <a:rPr lang="zh-CN" altLang="en-US" sz="2800" dirty="0">
                  <a:latin typeface="Times New Roman" panose="02020603050405020304" pitchFamily="18" charset="0"/>
                  <a:ea typeface="_x000B__x000C_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发出</a:t>
              </a:r>
              <a:r>
                <a:rPr lang="en-US" altLang="zh-CN" sz="2800">
                  <a:latin typeface="Times New Roman" panose="02020603050405020304" pitchFamily="18" charset="0"/>
                  <a:ea typeface="_x000B__x000C_"/>
                </a:rPr>
                <a:t>INTR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信号。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28" name="组合 235527"/>
          <p:cNvGrpSpPr/>
          <p:nvPr/>
        </p:nvGrpSpPr>
        <p:grpSpPr>
          <a:xfrm>
            <a:off x="817563" y="748030"/>
            <a:ext cx="8196262" cy="3511550"/>
            <a:chOff x="610" y="507"/>
            <a:chExt cx="5163" cy="2212"/>
          </a:xfrm>
        </p:grpSpPr>
        <p:sp>
          <p:nvSpPr>
            <p:cNvPr id="24583" name="新月形 235566"/>
            <p:cNvSpPr/>
            <p:nvPr/>
          </p:nvSpPr>
          <p:spPr>
            <a:xfrm>
              <a:off x="960" y="1391"/>
              <a:ext cx="380" cy="391"/>
            </a:xfrm>
            <a:prstGeom prst="moon">
              <a:avLst>
                <a:gd name="adj" fmla="val 8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4584" name="新月形 235565"/>
            <p:cNvSpPr/>
            <p:nvPr/>
          </p:nvSpPr>
          <p:spPr>
            <a:xfrm>
              <a:off x="2701" y="507"/>
              <a:ext cx="543" cy="464"/>
            </a:xfrm>
            <a:prstGeom prst="moon">
              <a:avLst>
                <a:gd name="adj" fmla="val 79662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4585" name="流程图: 延期 235564"/>
            <p:cNvSpPr/>
            <p:nvPr/>
          </p:nvSpPr>
          <p:spPr>
            <a:xfrm flipH="1">
              <a:off x="2065" y="1365"/>
              <a:ext cx="245" cy="203"/>
            </a:xfrm>
            <a:prstGeom prst="flowChartDelay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6" name="流程图: 延期 235563"/>
            <p:cNvSpPr/>
            <p:nvPr/>
          </p:nvSpPr>
          <p:spPr>
            <a:xfrm flipH="1">
              <a:off x="2065" y="1650"/>
              <a:ext cx="245" cy="202"/>
            </a:xfrm>
            <a:prstGeom prst="flowChartDelay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7" name="矩形 235562"/>
            <p:cNvSpPr/>
            <p:nvPr/>
          </p:nvSpPr>
          <p:spPr>
            <a:xfrm>
              <a:off x="2579" y="1022"/>
              <a:ext cx="681" cy="103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　　　　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矩形 235561"/>
            <p:cNvSpPr/>
            <p:nvPr/>
          </p:nvSpPr>
          <p:spPr>
            <a:xfrm>
              <a:off x="3497" y="1056"/>
              <a:ext cx="482" cy="60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8-3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优先权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编码器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9" name="矩形 235560"/>
            <p:cNvSpPr/>
            <p:nvPr/>
          </p:nvSpPr>
          <p:spPr>
            <a:xfrm>
              <a:off x="3497" y="1697"/>
              <a:ext cx="482" cy="52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优先权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寄存器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任意多边形 235559"/>
            <p:cNvSpPr/>
            <p:nvPr/>
          </p:nvSpPr>
          <p:spPr>
            <a:xfrm>
              <a:off x="2315" y="1796"/>
              <a:ext cx="1190" cy="323"/>
            </a:xfrm>
            <a:custGeom>
              <a:avLst/>
              <a:gdLst/>
              <a:ahLst/>
              <a:cxnLst/>
              <a:pathLst>
                <a:path w="798" h="414">
                  <a:moveTo>
                    <a:pt x="0" y="0"/>
                  </a:moveTo>
                  <a:lnTo>
                    <a:pt x="108" y="0"/>
                  </a:lnTo>
                  <a:lnTo>
                    <a:pt x="108" y="414"/>
                  </a:lnTo>
                  <a:lnTo>
                    <a:pt x="798" y="41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1" name="任意多边形 235558"/>
            <p:cNvSpPr/>
            <p:nvPr/>
          </p:nvSpPr>
          <p:spPr>
            <a:xfrm>
              <a:off x="2315" y="735"/>
              <a:ext cx="386" cy="987"/>
            </a:xfrm>
            <a:custGeom>
              <a:avLst/>
              <a:gdLst/>
              <a:ahLst/>
              <a:cxnLst/>
              <a:pathLst>
                <a:path w="258" h="630">
                  <a:moveTo>
                    <a:pt x="0" y="630"/>
                  </a:moveTo>
                  <a:lnTo>
                    <a:pt x="108" y="630"/>
                  </a:lnTo>
                  <a:lnTo>
                    <a:pt x="108" y="0"/>
                  </a:lnTo>
                  <a:lnTo>
                    <a:pt x="25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2" name="任意多边形 235557"/>
            <p:cNvSpPr/>
            <p:nvPr/>
          </p:nvSpPr>
          <p:spPr>
            <a:xfrm>
              <a:off x="3204" y="916"/>
              <a:ext cx="920" cy="592"/>
            </a:xfrm>
            <a:custGeom>
              <a:avLst/>
              <a:gdLst/>
              <a:ahLst/>
              <a:cxnLst/>
              <a:pathLst>
                <a:path w="564" h="372">
                  <a:moveTo>
                    <a:pt x="0" y="0"/>
                  </a:moveTo>
                  <a:lnTo>
                    <a:pt x="564" y="0"/>
                  </a:lnTo>
                  <a:lnTo>
                    <a:pt x="564" y="37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3" name="任意多边形 235556"/>
            <p:cNvSpPr/>
            <p:nvPr/>
          </p:nvSpPr>
          <p:spPr>
            <a:xfrm>
              <a:off x="3172" y="610"/>
              <a:ext cx="1230" cy="536"/>
            </a:xfrm>
            <a:custGeom>
              <a:avLst/>
              <a:gdLst/>
              <a:ahLst/>
              <a:cxnLst/>
              <a:pathLst>
                <a:path w="564" h="372">
                  <a:moveTo>
                    <a:pt x="0" y="0"/>
                  </a:moveTo>
                  <a:lnTo>
                    <a:pt x="564" y="0"/>
                  </a:lnTo>
                  <a:lnTo>
                    <a:pt x="564" y="37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4" name="任意多边形 235555"/>
            <p:cNvSpPr/>
            <p:nvPr/>
          </p:nvSpPr>
          <p:spPr>
            <a:xfrm>
              <a:off x="3146" y="689"/>
              <a:ext cx="1185" cy="558"/>
            </a:xfrm>
            <a:custGeom>
              <a:avLst/>
              <a:gdLst/>
              <a:ahLst/>
              <a:cxnLst/>
              <a:pathLst>
                <a:path w="564" h="372">
                  <a:moveTo>
                    <a:pt x="0" y="0"/>
                  </a:moveTo>
                  <a:lnTo>
                    <a:pt x="564" y="0"/>
                  </a:lnTo>
                  <a:lnTo>
                    <a:pt x="564" y="37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5" name="任意多边形 235554"/>
            <p:cNvSpPr/>
            <p:nvPr/>
          </p:nvSpPr>
          <p:spPr>
            <a:xfrm>
              <a:off x="3145" y="756"/>
              <a:ext cx="1108" cy="601"/>
            </a:xfrm>
            <a:custGeom>
              <a:avLst/>
              <a:gdLst/>
              <a:ahLst/>
              <a:cxnLst/>
              <a:pathLst>
                <a:path w="564" h="372">
                  <a:moveTo>
                    <a:pt x="0" y="0"/>
                  </a:moveTo>
                  <a:lnTo>
                    <a:pt x="564" y="0"/>
                  </a:lnTo>
                  <a:lnTo>
                    <a:pt x="564" y="37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6" name="直接连接符 235553"/>
            <p:cNvSpPr/>
            <p:nvPr/>
          </p:nvSpPr>
          <p:spPr>
            <a:xfrm flipH="1">
              <a:off x="711" y="1593"/>
              <a:ext cx="2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4597" name="直接连接符 235552"/>
            <p:cNvSpPr/>
            <p:nvPr/>
          </p:nvSpPr>
          <p:spPr>
            <a:xfrm>
              <a:off x="2315" y="1410"/>
              <a:ext cx="1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sp>
        <p:sp>
          <p:nvSpPr>
            <p:cNvPr id="24598" name="直接连接符 235551"/>
            <p:cNvSpPr/>
            <p:nvPr/>
          </p:nvSpPr>
          <p:spPr>
            <a:xfrm>
              <a:off x="3264" y="1309"/>
              <a:ext cx="222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9" name="直接连接符 235550"/>
            <p:cNvSpPr/>
            <p:nvPr/>
          </p:nvSpPr>
          <p:spPr>
            <a:xfrm>
              <a:off x="3264" y="1427"/>
              <a:ext cx="222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0" name="直接连接符 235549"/>
            <p:cNvSpPr/>
            <p:nvPr/>
          </p:nvSpPr>
          <p:spPr>
            <a:xfrm>
              <a:off x="3264" y="1553"/>
              <a:ext cx="23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1" name="直接连接符 235548"/>
            <p:cNvSpPr/>
            <p:nvPr/>
          </p:nvSpPr>
          <p:spPr>
            <a:xfrm>
              <a:off x="3264" y="1866"/>
              <a:ext cx="23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2" name="直接连接符 235547"/>
            <p:cNvSpPr/>
            <p:nvPr/>
          </p:nvSpPr>
          <p:spPr>
            <a:xfrm>
              <a:off x="3264" y="1984"/>
              <a:ext cx="23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3" name="直接连接符 235546"/>
            <p:cNvSpPr/>
            <p:nvPr/>
          </p:nvSpPr>
          <p:spPr>
            <a:xfrm>
              <a:off x="3264" y="1748"/>
              <a:ext cx="23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4" name="直接连接符 235545"/>
            <p:cNvSpPr/>
            <p:nvPr/>
          </p:nvSpPr>
          <p:spPr>
            <a:xfrm>
              <a:off x="3979" y="1933"/>
              <a:ext cx="6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sm"/>
              <a:tailEnd type="none" w="med" len="med"/>
            </a:ln>
          </p:spPr>
        </p:sp>
        <p:sp>
          <p:nvSpPr>
            <p:cNvPr id="24605" name="直接连接符 235544"/>
            <p:cNvSpPr/>
            <p:nvPr/>
          </p:nvSpPr>
          <p:spPr>
            <a:xfrm flipH="1">
              <a:off x="3979" y="1523"/>
              <a:ext cx="6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4606" name="直接连接符 235543"/>
            <p:cNvSpPr/>
            <p:nvPr/>
          </p:nvSpPr>
          <p:spPr>
            <a:xfrm flipH="1">
              <a:off x="3979" y="1360"/>
              <a:ext cx="6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4607" name="直接连接符 235542"/>
            <p:cNvSpPr/>
            <p:nvPr/>
          </p:nvSpPr>
          <p:spPr>
            <a:xfrm flipH="1">
              <a:off x="3979" y="1247"/>
              <a:ext cx="6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4608" name="直接连接符 235541"/>
            <p:cNvSpPr/>
            <p:nvPr/>
          </p:nvSpPr>
          <p:spPr>
            <a:xfrm flipH="1">
              <a:off x="3979" y="1146"/>
              <a:ext cx="6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4609" name="文本框 235540"/>
            <p:cNvSpPr txBox="1"/>
            <p:nvPr/>
          </p:nvSpPr>
          <p:spPr>
            <a:xfrm>
              <a:off x="2543" y="1395"/>
              <a:ext cx="54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A </a:t>
              </a:r>
              <a:r>
                <a:rPr lang="en-US" altLang="zh-CN" sz="1400">
                  <a:latin typeface="Times New Roman" panose="02020603050405020304" pitchFamily="18" charset="0"/>
                </a:rPr>
                <a:t>&lt;B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4610" name="文本框 235539"/>
            <p:cNvSpPr txBox="1"/>
            <p:nvPr/>
          </p:nvSpPr>
          <p:spPr>
            <a:xfrm>
              <a:off x="2646" y="1050"/>
              <a:ext cx="55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400" dirty="0">
                  <a:latin typeface="Times New Roman" panose="02020603050405020304" pitchFamily="18" charset="0"/>
                </a:rPr>
                <a:t>比较器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1" name="文本框 235538"/>
            <p:cNvSpPr txBox="1"/>
            <p:nvPr/>
          </p:nvSpPr>
          <p:spPr>
            <a:xfrm>
              <a:off x="3051" y="1126"/>
              <a:ext cx="349" cy="9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A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2 </a:t>
              </a:r>
              <a:endParaRPr lang="en-US" altLang="zh-CN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A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1 </a:t>
              </a:r>
              <a:endParaRPr lang="en-US" altLang="zh-CN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A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0 </a:t>
              </a:r>
              <a:endParaRPr lang="en-US" altLang="zh-CN">
                <a:latin typeface="Times New Roman" panose="02020603050405020304" pitchFamily="18" charset="0"/>
                <a:ea typeface="_x000B__x000C_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B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2</a:t>
              </a:r>
              <a:b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</a:br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B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1</a:t>
              </a:r>
              <a:b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</a:br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B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4612" name="文本框 235537"/>
            <p:cNvSpPr txBox="1"/>
            <p:nvPr/>
          </p:nvSpPr>
          <p:spPr>
            <a:xfrm>
              <a:off x="2691" y="2102"/>
              <a:ext cx="127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400" dirty="0">
                  <a:latin typeface="Times New Roman" panose="02020603050405020304" pitchFamily="18" charset="0"/>
                </a:rPr>
                <a:t>优先权失效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3" name="文本框 235536"/>
            <p:cNvSpPr txBox="1"/>
            <p:nvPr/>
          </p:nvSpPr>
          <p:spPr>
            <a:xfrm>
              <a:off x="4541" y="1067"/>
              <a:ext cx="966" cy="62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400" dirty="0">
                  <a:latin typeface="Times New Roman" panose="02020603050405020304" pitchFamily="18" charset="0"/>
                </a:rPr>
                <a:t>中断请求</a:t>
              </a:r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0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400" dirty="0">
                  <a:latin typeface="Times New Roman" panose="02020603050405020304" pitchFamily="18" charset="0"/>
                </a:rPr>
                <a:t>中断请求</a:t>
              </a:r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1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1400" dirty="0">
                  <a:latin typeface="Times New Roman" panose="02020603050405020304" pitchFamily="18" charset="0"/>
                </a:rPr>
                <a:t>中断请求</a:t>
              </a:r>
              <a:r>
                <a:rPr lang="zh-CN" altLang="en-US" sz="1400" dirty="0">
                  <a:latin typeface="Times New Roman" panose="02020603050405020304" pitchFamily="18" charset="0"/>
                  <a:ea typeface="_x000B__x000C_"/>
                </a:rPr>
                <a:t>2 </a:t>
              </a:r>
              <a:endParaRPr lang="zh-CN" altLang="en-US" dirty="0">
                <a:latin typeface="Times New Roman" panose="02020603050405020304" pitchFamily="18" charset="0"/>
                <a:ea typeface="_x000B__x000C_"/>
              </a:endParaRP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4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4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…………</a:t>
              </a:r>
              <a:r>
                <a:rPr lang="zh-CN" altLang="en-US" sz="1400" dirty="0">
                  <a:latin typeface="Times New Roman" panose="02020603050405020304" pitchFamily="18" charset="0"/>
                </a:rPr>
                <a:t>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4" name="文本框 235535"/>
            <p:cNvSpPr txBox="1"/>
            <p:nvPr/>
          </p:nvSpPr>
          <p:spPr>
            <a:xfrm>
              <a:off x="4701" y="1857"/>
              <a:ext cx="107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D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7 </a:t>
              </a:r>
              <a:r>
                <a:rPr lang="en-US" altLang="zh-CN" sz="1400">
                  <a:latin typeface="Times New Roman" panose="02020603050405020304" pitchFamily="18" charset="0"/>
                </a:rPr>
                <a:t>~ </a:t>
              </a:r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D</a:t>
              </a:r>
              <a:r>
                <a:rPr lang="en-US" altLang="zh-CN" sz="1400" baseline="-25000">
                  <a:latin typeface="Times New Roman" panose="02020603050405020304" pitchFamily="18" charset="0"/>
                  <a:ea typeface="_x000B__x000C_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4615" name="文本框 235534"/>
            <p:cNvSpPr txBox="1"/>
            <p:nvPr/>
          </p:nvSpPr>
          <p:spPr>
            <a:xfrm rot="5315034">
              <a:off x="4301" y="1338"/>
              <a:ext cx="27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…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6" name="文本框 235533"/>
            <p:cNvSpPr txBox="1"/>
            <p:nvPr/>
          </p:nvSpPr>
          <p:spPr>
            <a:xfrm>
              <a:off x="610" y="1381"/>
              <a:ext cx="102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  <a:ea typeface="_x000B__x000C_"/>
                </a:rPr>
                <a:t>INTR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4617" name="直接连接符 235532"/>
            <p:cNvSpPr/>
            <p:nvPr/>
          </p:nvSpPr>
          <p:spPr>
            <a:xfrm>
              <a:off x="2306" y="1500"/>
              <a:ext cx="2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8" name="直接连接符 235531"/>
            <p:cNvSpPr/>
            <p:nvPr/>
          </p:nvSpPr>
          <p:spPr>
            <a:xfrm>
              <a:off x="1312" y="1461"/>
              <a:ext cx="75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9" name="直接连接符 235530"/>
            <p:cNvSpPr/>
            <p:nvPr/>
          </p:nvSpPr>
          <p:spPr>
            <a:xfrm>
              <a:off x="1312" y="1714"/>
              <a:ext cx="75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0" name="文本框 235529"/>
            <p:cNvSpPr txBox="1"/>
            <p:nvPr/>
          </p:nvSpPr>
          <p:spPr>
            <a:xfrm rot="5315034">
              <a:off x="3578" y="723"/>
              <a:ext cx="27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…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21" name="文本框 235528"/>
            <p:cNvSpPr txBox="1"/>
            <p:nvPr/>
          </p:nvSpPr>
          <p:spPr>
            <a:xfrm>
              <a:off x="1519" y="2429"/>
              <a:ext cx="32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_x000B__x000C_"/>
                </a:rPr>
                <a:t>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编码器和比较器的优先权排队电路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527" name="直接连接符 235526"/>
          <p:cNvSpPr/>
          <p:nvPr/>
        </p:nvSpPr>
        <p:spPr>
          <a:xfrm flipH="1">
            <a:off x="6164263" y="1760855"/>
            <a:ext cx="1012825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</p:spPr>
      </p:sp>
      <p:sp>
        <p:nvSpPr>
          <p:cNvPr id="235526" name="任意多边形 235525"/>
          <p:cNvSpPr/>
          <p:nvPr/>
        </p:nvSpPr>
        <p:spPr>
          <a:xfrm>
            <a:off x="3522663" y="2794318"/>
            <a:ext cx="1889125" cy="512762"/>
          </a:xfrm>
          <a:custGeom>
            <a:avLst/>
            <a:gdLst/>
            <a:ahLst/>
            <a:cxnLst/>
            <a:pathLst>
              <a:path w="798" h="414">
                <a:moveTo>
                  <a:pt x="0" y="0"/>
                </a:moveTo>
                <a:lnTo>
                  <a:pt x="108" y="0"/>
                </a:lnTo>
                <a:lnTo>
                  <a:pt x="108" y="414"/>
                </a:lnTo>
                <a:lnTo>
                  <a:pt x="798" y="414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525" name="任意多边形 235524"/>
          <p:cNvSpPr/>
          <p:nvPr/>
        </p:nvSpPr>
        <p:spPr>
          <a:xfrm>
            <a:off x="4884738" y="909955"/>
            <a:ext cx="1952625" cy="850900"/>
          </a:xfrm>
          <a:custGeom>
            <a:avLst/>
            <a:gdLst/>
            <a:ahLst/>
            <a:cxnLst/>
            <a:pathLst>
              <a:path w="564" h="372">
                <a:moveTo>
                  <a:pt x="0" y="0"/>
                </a:moveTo>
                <a:lnTo>
                  <a:pt x="564" y="0"/>
                </a:lnTo>
                <a:lnTo>
                  <a:pt x="564" y="372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/>
          </a:p>
        </p:txBody>
      </p:sp>
      <p:sp>
        <p:nvSpPr>
          <p:cNvPr id="235524" name="任意多边形 235523"/>
          <p:cNvSpPr/>
          <p:nvPr/>
        </p:nvSpPr>
        <p:spPr>
          <a:xfrm>
            <a:off x="3525838" y="1111568"/>
            <a:ext cx="612775" cy="1566862"/>
          </a:xfrm>
          <a:custGeom>
            <a:avLst/>
            <a:gdLst/>
            <a:ahLst/>
            <a:cxnLst/>
            <a:pathLst>
              <a:path w="258" h="630">
                <a:moveTo>
                  <a:pt x="0" y="630"/>
                </a:moveTo>
                <a:lnTo>
                  <a:pt x="108" y="630"/>
                </a:lnTo>
                <a:lnTo>
                  <a:pt x="108" y="0"/>
                </a:lnTo>
                <a:lnTo>
                  <a:pt x="258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523" name="直接连接符 235522"/>
          <p:cNvSpPr/>
          <p:nvPr/>
        </p:nvSpPr>
        <p:spPr>
          <a:xfrm>
            <a:off x="1936750" y="2660968"/>
            <a:ext cx="1198563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522" name="直接连接符 235521"/>
          <p:cNvSpPr/>
          <p:nvPr/>
        </p:nvSpPr>
        <p:spPr>
          <a:xfrm flipH="1">
            <a:off x="969963" y="2479993"/>
            <a:ext cx="39528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596188" y="5949950"/>
            <a:ext cx="692150" cy="333375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71" name="文本框 235570"/>
          <p:cNvSpPr txBox="1"/>
          <p:nvPr/>
        </p:nvSpPr>
        <p:spPr>
          <a:xfrm>
            <a:off x="635000" y="532130"/>
            <a:ext cx="190944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800" b="1" noProof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硬件方式</a:t>
            </a:r>
            <a:endParaRPr lang="zh-CN" altLang="en-US" sz="2800" b="1" noProof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602" name="组合 236615"/>
          <p:cNvGrpSpPr/>
          <p:nvPr/>
        </p:nvGrpSpPr>
        <p:grpSpPr>
          <a:xfrm>
            <a:off x="914400" y="4333875"/>
            <a:ext cx="7639050" cy="1873251"/>
            <a:chOff x="531" y="2823"/>
            <a:chExt cx="4812" cy="1180"/>
          </a:xfrm>
        </p:grpSpPr>
        <p:sp>
          <p:nvSpPr>
            <p:cNvPr id="25603" name="圆角矩形 236617"/>
            <p:cNvSpPr/>
            <p:nvPr/>
          </p:nvSpPr>
          <p:spPr>
            <a:xfrm>
              <a:off x="531" y="2823"/>
              <a:ext cx="4812" cy="1141"/>
            </a:xfrm>
            <a:prstGeom prst="roundRect">
              <a:avLst>
                <a:gd name="adj" fmla="val 16667"/>
              </a:avLst>
            </a:prstGeom>
            <a:solidFill>
              <a:srgbClr val="FBD6B1">
                <a:alpha val="50000"/>
              </a:srgbClr>
            </a:solidFill>
            <a:ln w="38100" cap="flat" cmpd="dbl">
              <a:solidFill>
                <a:srgbClr val="FF99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04" name="文本框 236616"/>
            <p:cNvSpPr txBox="1"/>
            <p:nvPr/>
          </p:nvSpPr>
          <p:spPr>
            <a:xfrm>
              <a:off x="737" y="2969"/>
              <a:ext cx="4392" cy="10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marL="900430" indent="-900430" algn="just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zh-CN" altLang="en-US" sz="2800" dirty="0">
                  <a:latin typeface="Times New Roman" panose="02020603050405020304" pitchFamily="18" charset="0"/>
                  <a:ea typeface="_x000B__x000C_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）若</a:t>
              </a:r>
              <a:r>
                <a:rPr lang="en-US" altLang="zh-CN" sz="2800">
                  <a:latin typeface="Times New Roman" panose="02020603050405020304" pitchFamily="18" charset="0"/>
                  <a:ea typeface="_x000B__x000C_"/>
                </a:rPr>
                <a:t>CPU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正在进行中断处理，当某一中断源请求中断时，能否向</a:t>
              </a:r>
              <a:r>
                <a:rPr lang="en-US" altLang="zh-CN" sz="2800">
                  <a:latin typeface="Times New Roman" panose="02020603050405020304" pitchFamily="18" charset="0"/>
                  <a:ea typeface="_x000B__x000C_"/>
                </a:rPr>
                <a:t>CPU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发出</a:t>
              </a:r>
              <a:r>
                <a:rPr lang="en-US" altLang="zh-CN" sz="2800">
                  <a:latin typeface="Times New Roman" panose="02020603050405020304" pitchFamily="18" charset="0"/>
                  <a:ea typeface="_x000B__x000C_"/>
                </a:rPr>
                <a:t>INTR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信号，受比较器的控制。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606" name="组合 236572"/>
          <p:cNvGrpSpPr/>
          <p:nvPr/>
        </p:nvGrpSpPr>
        <p:grpSpPr>
          <a:xfrm>
            <a:off x="860425" y="101600"/>
            <a:ext cx="8212138" cy="4102100"/>
            <a:chOff x="552" y="157"/>
            <a:chExt cx="5173" cy="2584"/>
          </a:xfrm>
        </p:grpSpPr>
        <p:grpSp>
          <p:nvGrpSpPr>
            <p:cNvPr id="25607" name="组合 236574"/>
            <p:cNvGrpSpPr/>
            <p:nvPr/>
          </p:nvGrpSpPr>
          <p:grpSpPr>
            <a:xfrm>
              <a:off x="562" y="543"/>
              <a:ext cx="5163" cy="2198"/>
              <a:chOff x="562" y="543"/>
              <a:chExt cx="5163" cy="2198"/>
            </a:xfrm>
          </p:grpSpPr>
          <p:sp>
            <p:nvSpPr>
              <p:cNvPr id="25608" name="新月形 236613"/>
              <p:cNvSpPr/>
              <p:nvPr/>
            </p:nvSpPr>
            <p:spPr>
              <a:xfrm>
                <a:off x="912" y="1427"/>
                <a:ext cx="380" cy="391"/>
              </a:xfrm>
              <a:prstGeom prst="moon">
                <a:avLst>
                  <a:gd name="adj" fmla="val 85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09" name="新月形 236612"/>
              <p:cNvSpPr/>
              <p:nvPr/>
            </p:nvSpPr>
            <p:spPr>
              <a:xfrm>
                <a:off x="2653" y="543"/>
                <a:ext cx="543" cy="464"/>
              </a:xfrm>
              <a:prstGeom prst="moon">
                <a:avLst>
                  <a:gd name="adj" fmla="val 79662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0" name="流程图: 延期 236611"/>
              <p:cNvSpPr/>
              <p:nvPr/>
            </p:nvSpPr>
            <p:spPr>
              <a:xfrm flipH="1">
                <a:off x="2017" y="1401"/>
                <a:ext cx="245" cy="203"/>
              </a:xfrm>
              <a:prstGeom prst="flowChartDelay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1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1" name="流程图: 延期 236610"/>
              <p:cNvSpPr/>
              <p:nvPr/>
            </p:nvSpPr>
            <p:spPr>
              <a:xfrm flipH="1">
                <a:off x="2017" y="1686"/>
                <a:ext cx="245" cy="202"/>
              </a:xfrm>
              <a:prstGeom prst="flowChartDelay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2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2" name="矩形 236609"/>
              <p:cNvSpPr/>
              <p:nvPr/>
            </p:nvSpPr>
            <p:spPr>
              <a:xfrm>
                <a:off x="2531" y="1058"/>
                <a:ext cx="681" cy="103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</a:rPr>
                  <a:t>　　　　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3" name="矩形 236608"/>
              <p:cNvSpPr/>
              <p:nvPr/>
            </p:nvSpPr>
            <p:spPr>
              <a:xfrm>
                <a:off x="3449" y="1092"/>
                <a:ext cx="482" cy="60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8-3 </a:t>
                </a:r>
                <a:endParaRPr lang="zh-CN" altLang="en-US" dirty="0">
                  <a:latin typeface="Times New Roman" panose="02020603050405020304" pitchFamily="18" charset="0"/>
                  <a:ea typeface="_x000B__x000C_"/>
                </a:endParaRPr>
              </a:p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</a:rPr>
                  <a:t>优先权 </a:t>
                </a:r>
                <a:endParaRPr lang="zh-CN" altLang="en-US" dirty="0">
                  <a:latin typeface="Times New Roman" panose="02020603050405020304" pitchFamily="18" charset="0"/>
                  <a:ea typeface="_x000B__x000C_"/>
                </a:endParaRPr>
              </a:p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</a:rPr>
                  <a:t>编码器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4" name="矩形 236607"/>
              <p:cNvSpPr/>
              <p:nvPr/>
            </p:nvSpPr>
            <p:spPr>
              <a:xfrm>
                <a:off x="3449" y="1733"/>
                <a:ext cx="482" cy="52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</a:rPr>
                  <a:t>优先权 </a:t>
                </a:r>
                <a:endParaRPr lang="zh-CN" altLang="en-US" dirty="0">
                  <a:latin typeface="Times New Roman" panose="02020603050405020304" pitchFamily="18" charset="0"/>
                  <a:ea typeface="_x000B__x000C_"/>
                </a:endParaRPr>
              </a:p>
              <a:p>
                <a:pPr algn="ctr"/>
                <a:r>
                  <a:rPr lang="zh-CN" altLang="en-US" sz="1400" dirty="0">
                    <a:latin typeface="Times New Roman" panose="02020603050405020304" pitchFamily="18" charset="0"/>
                  </a:rPr>
                  <a:t>寄存器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5" name="任意多边形 236606"/>
              <p:cNvSpPr/>
              <p:nvPr/>
            </p:nvSpPr>
            <p:spPr>
              <a:xfrm>
                <a:off x="2267" y="1832"/>
                <a:ext cx="1190" cy="323"/>
              </a:xfrm>
              <a:custGeom>
                <a:avLst/>
                <a:gdLst/>
                <a:ahLst/>
                <a:cxnLst/>
                <a:pathLst>
                  <a:path w="798" h="414">
                    <a:moveTo>
                      <a:pt x="0" y="0"/>
                    </a:moveTo>
                    <a:lnTo>
                      <a:pt x="108" y="0"/>
                    </a:lnTo>
                    <a:lnTo>
                      <a:pt x="108" y="414"/>
                    </a:lnTo>
                    <a:lnTo>
                      <a:pt x="798" y="414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16" name="任意多边形 236605"/>
              <p:cNvSpPr/>
              <p:nvPr/>
            </p:nvSpPr>
            <p:spPr>
              <a:xfrm>
                <a:off x="2267" y="771"/>
                <a:ext cx="386" cy="987"/>
              </a:xfrm>
              <a:custGeom>
                <a:avLst/>
                <a:gdLst/>
                <a:ahLst/>
                <a:cxnLst/>
                <a:pathLst>
                  <a:path w="258" h="630">
                    <a:moveTo>
                      <a:pt x="0" y="630"/>
                    </a:moveTo>
                    <a:lnTo>
                      <a:pt x="108" y="630"/>
                    </a:lnTo>
                    <a:lnTo>
                      <a:pt x="108" y="0"/>
                    </a:lnTo>
                    <a:lnTo>
                      <a:pt x="258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17" name="任意多边形 236604"/>
              <p:cNvSpPr/>
              <p:nvPr/>
            </p:nvSpPr>
            <p:spPr>
              <a:xfrm>
                <a:off x="3156" y="952"/>
                <a:ext cx="920" cy="592"/>
              </a:xfrm>
              <a:custGeom>
                <a:avLst/>
                <a:gdLst/>
                <a:ahLst/>
                <a:cxnLst/>
                <a:pathLst>
                  <a:path w="564" h="372">
                    <a:moveTo>
                      <a:pt x="0" y="0"/>
                    </a:moveTo>
                    <a:lnTo>
                      <a:pt x="564" y="0"/>
                    </a:lnTo>
                    <a:lnTo>
                      <a:pt x="564" y="37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18" name="任意多边形 236603"/>
              <p:cNvSpPr/>
              <p:nvPr/>
            </p:nvSpPr>
            <p:spPr>
              <a:xfrm>
                <a:off x="3124" y="646"/>
                <a:ext cx="1230" cy="536"/>
              </a:xfrm>
              <a:custGeom>
                <a:avLst/>
                <a:gdLst/>
                <a:ahLst/>
                <a:cxnLst/>
                <a:pathLst>
                  <a:path w="564" h="372">
                    <a:moveTo>
                      <a:pt x="0" y="0"/>
                    </a:moveTo>
                    <a:lnTo>
                      <a:pt x="564" y="0"/>
                    </a:lnTo>
                    <a:lnTo>
                      <a:pt x="564" y="37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19" name="任意多边形 236602"/>
              <p:cNvSpPr/>
              <p:nvPr/>
            </p:nvSpPr>
            <p:spPr>
              <a:xfrm>
                <a:off x="3098" y="725"/>
                <a:ext cx="1185" cy="558"/>
              </a:xfrm>
              <a:custGeom>
                <a:avLst/>
                <a:gdLst/>
                <a:ahLst/>
                <a:cxnLst/>
                <a:pathLst>
                  <a:path w="564" h="372">
                    <a:moveTo>
                      <a:pt x="0" y="0"/>
                    </a:moveTo>
                    <a:lnTo>
                      <a:pt x="564" y="0"/>
                    </a:lnTo>
                    <a:lnTo>
                      <a:pt x="564" y="37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20" name="任意多边形 236601"/>
              <p:cNvSpPr/>
              <p:nvPr/>
            </p:nvSpPr>
            <p:spPr>
              <a:xfrm>
                <a:off x="3097" y="792"/>
                <a:ext cx="1108" cy="601"/>
              </a:xfrm>
              <a:custGeom>
                <a:avLst/>
                <a:gdLst/>
                <a:ahLst/>
                <a:cxnLst/>
                <a:pathLst>
                  <a:path w="564" h="372">
                    <a:moveTo>
                      <a:pt x="0" y="0"/>
                    </a:moveTo>
                    <a:lnTo>
                      <a:pt x="564" y="0"/>
                    </a:lnTo>
                    <a:lnTo>
                      <a:pt x="564" y="37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21" name="直接连接符 236600"/>
              <p:cNvSpPr/>
              <p:nvPr/>
            </p:nvSpPr>
            <p:spPr>
              <a:xfrm flipH="1">
                <a:off x="663" y="1629"/>
                <a:ext cx="24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5622" name="直接连接符 236599"/>
              <p:cNvSpPr/>
              <p:nvPr/>
            </p:nvSpPr>
            <p:spPr>
              <a:xfrm>
                <a:off x="2267" y="1446"/>
                <a:ext cx="1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</p:sp>
          <p:sp>
            <p:nvSpPr>
              <p:cNvPr id="25623" name="直接连接符 236598"/>
              <p:cNvSpPr/>
              <p:nvPr/>
            </p:nvSpPr>
            <p:spPr>
              <a:xfrm>
                <a:off x="3216" y="1345"/>
                <a:ext cx="222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4" name="直接连接符 236597"/>
              <p:cNvSpPr/>
              <p:nvPr/>
            </p:nvSpPr>
            <p:spPr>
              <a:xfrm flipV="1">
                <a:off x="3216" y="1460"/>
                <a:ext cx="222" cy="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5" name="直接连接符 236596"/>
              <p:cNvSpPr/>
              <p:nvPr/>
            </p:nvSpPr>
            <p:spPr>
              <a:xfrm>
                <a:off x="3216" y="1589"/>
                <a:ext cx="23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6" name="直接连接符 236595"/>
              <p:cNvSpPr/>
              <p:nvPr/>
            </p:nvSpPr>
            <p:spPr>
              <a:xfrm>
                <a:off x="3216" y="1902"/>
                <a:ext cx="23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7" name="直接连接符 236594"/>
              <p:cNvSpPr/>
              <p:nvPr/>
            </p:nvSpPr>
            <p:spPr>
              <a:xfrm>
                <a:off x="3216" y="2020"/>
                <a:ext cx="23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8" name="直接连接符 236593"/>
              <p:cNvSpPr/>
              <p:nvPr/>
            </p:nvSpPr>
            <p:spPr>
              <a:xfrm>
                <a:off x="3216" y="1784"/>
                <a:ext cx="23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9" name="直接连接符 236592"/>
              <p:cNvSpPr/>
              <p:nvPr/>
            </p:nvSpPr>
            <p:spPr>
              <a:xfrm>
                <a:off x="3931" y="1969"/>
                <a:ext cx="66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triangle" w="sm" len="sm"/>
                <a:tailEnd type="none" w="med" len="med"/>
              </a:ln>
            </p:spPr>
          </p:sp>
          <p:sp>
            <p:nvSpPr>
              <p:cNvPr id="25630" name="直接连接符 236591"/>
              <p:cNvSpPr/>
              <p:nvPr/>
            </p:nvSpPr>
            <p:spPr>
              <a:xfrm flipH="1">
                <a:off x="3931" y="1559"/>
                <a:ext cx="6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5631" name="直接连接符 236590"/>
              <p:cNvSpPr/>
              <p:nvPr/>
            </p:nvSpPr>
            <p:spPr>
              <a:xfrm flipH="1">
                <a:off x="3931" y="1396"/>
                <a:ext cx="6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5632" name="直接连接符 236589"/>
              <p:cNvSpPr/>
              <p:nvPr/>
            </p:nvSpPr>
            <p:spPr>
              <a:xfrm flipH="1">
                <a:off x="3931" y="1283"/>
                <a:ext cx="6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5633" name="直接连接符 236588"/>
              <p:cNvSpPr/>
              <p:nvPr/>
            </p:nvSpPr>
            <p:spPr>
              <a:xfrm flipH="1">
                <a:off x="3931" y="1182"/>
                <a:ext cx="6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5634" name="文本框 236587"/>
              <p:cNvSpPr txBox="1"/>
              <p:nvPr/>
            </p:nvSpPr>
            <p:spPr>
              <a:xfrm>
                <a:off x="2405" y="1431"/>
                <a:ext cx="540" cy="4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A </a:t>
                </a:r>
                <a:r>
                  <a:rPr lang="en-US" altLang="zh-CN" sz="1400">
                    <a:latin typeface="Times New Roman" panose="02020603050405020304" pitchFamily="18" charset="0"/>
                  </a:rPr>
                  <a:t>&lt;B </a:t>
                </a:r>
                <a:endParaRPr lang="en-US" altLang="zh-CN">
                  <a:latin typeface="Times New Roman" panose="02020603050405020304" pitchFamily="18" charset="0"/>
                  <a:ea typeface="_x000B__x000C_"/>
                </a:endParaRPr>
              </a:p>
              <a:p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5" name="文本框 236586"/>
              <p:cNvSpPr txBox="1"/>
              <p:nvPr/>
            </p:nvSpPr>
            <p:spPr>
              <a:xfrm>
                <a:off x="2598" y="1086"/>
                <a:ext cx="552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400" dirty="0">
                    <a:latin typeface="Times New Roman" panose="02020603050405020304" pitchFamily="18" charset="0"/>
                  </a:rPr>
                  <a:t>比较器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6" name="文本框 236585"/>
              <p:cNvSpPr txBox="1"/>
              <p:nvPr/>
            </p:nvSpPr>
            <p:spPr>
              <a:xfrm>
                <a:off x="3015" y="1252"/>
                <a:ext cx="349" cy="9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A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2 </a:t>
                </a:r>
                <a:endParaRPr lang="en-US" altLang="zh-CN">
                  <a:latin typeface="Times New Roman" panose="02020603050405020304" pitchFamily="18" charset="0"/>
                  <a:ea typeface="_x000B__x000C_"/>
                </a:endParaRPr>
              </a:p>
              <a:p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A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1 </a:t>
                </a:r>
                <a:endParaRPr lang="en-US" altLang="zh-CN">
                  <a:latin typeface="Times New Roman" panose="02020603050405020304" pitchFamily="18" charset="0"/>
                  <a:ea typeface="_x000B__x000C_"/>
                </a:endParaRPr>
              </a:p>
              <a:p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A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0 </a:t>
                </a:r>
                <a:endParaRPr lang="en-US" altLang="zh-CN">
                  <a:latin typeface="Times New Roman" panose="02020603050405020304" pitchFamily="18" charset="0"/>
                  <a:ea typeface="_x000B__x000C_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B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2</a:t>
                </a:r>
                <a:b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</a:br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B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1</a:t>
                </a:r>
                <a:b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</a:br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B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7" name="文本框 236584"/>
              <p:cNvSpPr txBox="1"/>
              <p:nvPr/>
            </p:nvSpPr>
            <p:spPr>
              <a:xfrm>
                <a:off x="2905" y="2138"/>
                <a:ext cx="1012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400" dirty="0">
                    <a:latin typeface="Times New Roman" panose="02020603050405020304" pitchFamily="18" charset="0"/>
                  </a:rPr>
                  <a:t>比较失效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8" name="文本框 236583"/>
              <p:cNvSpPr txBox="1"/>
              <p:nvPr/>
            </p:nvSpPr>
            <p:spPr>
              <a:xfrm>
                <a:off x="4493" y="1103"/>
                <a:ext cx="966" cy="6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</a:rPr>
                  <a:t>中断请求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0 </a:t>
                </a:r>
                <a:endParaRPr lang="zh-CN" altLang="en-US" dirty="0">
                  <a:latin typeface="Times New Roman" panose="02020603050405020304" pitchFamily="18" charset="0"/>
                  <a:ea typeface="_x000B__x000C_"/>
                </a:endParaRPr>
              </a:p>
              <a:p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</a:rPr>
                  <a:t>中断请求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1 </a:t>
                </a:r>
                <a:endParaRPr lang="zh-CN" altLang="en-US" dirty="0">
                  <a:latin typeface="Times New Roman" panose="02020603050405020304" pitchFamily="18" charset="0"/>
                  <a:ea typeface="_x000B__x000C_"/>
                </a:endParaRPr>
              </a:p>
              <a:p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</a:rPr>
                  <a:t>中断请求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_x000B__x000C_"/>
                  </a:rPr>
                  <a:t>2 </a:t>
                </a:r>
                <a:endParaRPr lang="zh-CN" altLang="en-US" dirty="0">
                  <a:latin typeface="Times New Roman" panose="02020603050405020304" pitchFamily="18" charset="0"/>
                  <a:ea typeface="_x000B__x000C_"/>
                </a:endParaRPr>
              </a:p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zh-CN" altLang="en-US" sz="14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…………</a:t>
                </a:r>
                <a:r>
                  <a:rPr lang="zh-CN" altLang="en-US" sz="1400" dirty="0">
                    <a:latin typeface="Times New Roman" panose="02020603050405020304" pitchFamily="18" charset="0"/>
                  </a:rPr>
                  <a:t>7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9" name="文本框 236582"/>
              <p:cNvSpPr txBox="1"/>
              <p:nvPr/>
            </p:nvSpPr>
            <p:spPr>
              <a:xfrm>
                <a:off x="4653" y="1893"/>
                <a:ext cx="1072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7 </a:t>
                </a:r>
                <a:r>
                  <a:rPr lang="en-US" altLang="zh-CN" sz="1400">
                    <a:latin typeface="Times New Roman" panose="02020603050405020304" pitchFamily="18" charset="0"/>
                  </a:rPr>
                  <a:t>~ </a:t>
                </a:r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  <a:ea typeface="_x000B__x000C_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0" name="文本框 236581"/>
              <p:cNvSpPr txBox="1"/>
              <p:nvPr/>
            </p:nvSpPr>
            <p:spPr>
              <a:xfrm rot="5315034">
                <a:off x="4253" y="1374"/>
                <a:ext cx="27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ot="10800000" vert="eaVert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6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1" name="文本框 236580"/>
              <p:cNvSpPr txBox="1"/>
              <p:nvPr/>
            </p:nvSpPr>
            <p:spPr>
              <a:xfrm>
                <a:off x="562" y="1417"/>
                <a:ext cx="1021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_x000B__x000C_"/>
                  </a:rPr>
                  <a:t>INTR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2" name="直接连接符 236579"/>
              <p:cNvSpPr/>
              <p:nvPr/>
            </p:nvSpPr>
            <p:spPr>
              <a:xfrm>
                <a:off x="2258" y="1536"/>
                <a:ext cx="26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3" name="直接连接符 236578"/>
              <p:cNvSpPr/>
              <p:nvPr/>
            </p:nvSpPr>
            <p:spPr>
              <a:xfrm>
                <a:off x="1264" y="1497"/>
                <a:ext cx="75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4" name="直接连接符 236577"/>
              <p:cNvSpPr/>
              <p:nvPr/>
            </p:nvSpPr>
            <p:spPr>
              <a:xfrm>
                <a:off x="1264" y="1750"/>
                <a:ext cx="75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5" name="文本框 236576"/>
              <p:cNvSpPr txBox="1"/>
              <p:nvPr/>
            </p:nvSpPr>
            <p:spPr>
              <a:xfrm rot="5315034">
                <a:off x="3530" y="759"/>
                <a:ext cx="27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ot="10800000" vert="eaVert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6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6" name="文本框 236575"/>
              <p:cNvSpPr txBox="1"/>
              <p:nvPr/>
            </p:nvSpPr>
            <p:spPr>
              <a:xfrm>
                <a:off x="1366" y="2451"/>
                <a:ext cx="339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_x000B__x000C_"/>
                  </a:rPr>
                  <a:t>    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编码器和比较器的优先权排队电路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47" name="文本框 236573"/>
            <p:cNvSpPr txBox="1"/>
            <p:nvPr/>
          </p:nvSpPr>
          <p:spPr>
            <a:xfrm>
              <a:off x="552" y="157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5648" name="直接连接符 236571"/>
          <p:cNvSpPr/>
          <p:nvPr/>
        </p:nvSpPr>
        <p:spPr>
          <a:xfrm flipH="1">
            <a:off x="6232525" y="2071688"/>
            <a:ext cx="10287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</p:spPr>
      </p:sp>
      <p:sp>
        <p:nvSpPr>
          <p:cNvPr id="25649" name="直接连接符 236570"/>
          <p:cNvSpPr/>
          <p:nvPr/>
        </p:nvSpPr>
        <p:spPr>
          <a:xfrm flipH="1">
            <a:off x="6223000" y="2976563"/>
            <a:ext cx="10668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</p:spPr>
      </p:sp>
      <p:grpSp>
        <p:nvGrpSpPr>
          <p:cNvPr id="25650" name="组合 236566"/>
          <p:cNvGrpSpPr/>
          <p:nvPr/>
        </p:nvGrpSpPr>
        <p:grpSpPr>
          <a:xfrm>
            <a:off x="5094288" y="2681288"/>
            <a:ext cx="381000" cy="381000"/>
            <a:chOff x="3210" y="1782"/>
            <a:chExt cx="240" cy="240"/>
          </a:xfrm>
        </p:grpSpPr>
        <p:sp>
          <p:nvSpPr>
            <p:cNvPr id="25651" name="直接连接符 236569"/>
            <p:cNvSpPr/>
            <p:nvPr/>
          </p:nvSpPr>
          <p:spPr>
            <a:xfrm>
              <a:off x="3210" y="1782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2" name="直接连接符 236568"/>
            <p:cNvSpPr/>
            <p:nvPr/>
          </p:nvSpPr>
          <p:spPr>
            <a:xfrm>
              <a:off x="3210" y="1902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3" name="直接连接符 236567"/>
            <p:cNvSpPr/>
            <p:nvPr/>
          </p:nvSpPr>
          <p:spPr>
            <a:xfrm>
              <a:off x="3210" y="2022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5654" name="任意多边形 236565"/>
          <p:cNvSpPr/>
          <p:nvPr/>
        </p:nvSpPr>
        <p:spPr>
          <a:xfrm>
            <a:off x="3575050" y="2757488"/>
            <a:ext cx="1876425" cy="514350"/>
          </a:xfrm>
          <a:custGeom>
            <a:avLst/>
            <a:gdLst/>
            <a:ahLst/>
            <a:cxnLst/>
            <a:pathLst>
              <a:path w="1182" h="324">
                <a:moveTo>
                  <a:pt x="1182" y="324"/>
                </a:moveTo>
                <a:lnTo>
                  <a:pt x="168" y="324"/>
                </a:lnTo>
                <a:lnTo>
                  <a:pt x="168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55" name="矩形 236564"/>
          <p:cNvSpPr/>
          <p:nvPr/>
        </p:nvSpPr>
        <p:spPr>
          <a:xfrm>
            <a:off x="3122613" y="2403475"/>
            <a:ext cx="5429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56" name="直接连接符 236563"/>
          <p:cNvSpPr/>
          <p:nvPr/>
        </p:nvSpPr>
        <p:spPr>
          <a:xfrm flipH="1">
            <a:off x="6223000" y="2328863"/>
            <a:ext cx="1028700" cy="0"/>
          </a:xfrm>
          <a:prstGeom prst="line">
            <a:avLst/>
          </a:prstGeom>
          <a:ln w="19050" cap="flat" cmpd="sng">
            <a:solidFill>
              <a:srgbClr val="3333FF"/>
            </a:solidFill>
            <a:prstDash val="solid"/>
            <a:round/>
            <a:headEnd type="none" w="med" len="med"/>
            <a:tailEnd type="triangle" w="sm" len="sm"/>
          </a:ln>
        </p:spPr>
      </p:sp>
      <p:sp>
        <p:nvSpPr>
          <p:cNvPr id="25657" name="矩形 236562"/>
          <p:cNvSpPr/>
          <p:nvPr/>
        </p:nvSpPr>
        <p:spPr>
          <a:xfrm>
            <a:off x="3122613" y="19367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58" name="直接连接符 236561"/>
          <p:cNvSpPr/>
          <p:nvPr/>
        </p:nvSpPr>
        <p:spPr>
          <a:xfrm flipH="1">
            <a:off x="6232525" y="1728788"/>
            <a:ext cx="1028700" cy="0"/>
          </a:xfrm>
          <a:prstGeom prst="line">
            <a:avLst/>
          </a:prstGeom>
          <a:ln w="19050" cap="flat" cmpd="sng">
            <a:solidFill>
              <a:srgbClr val="CC00FF"/>
            </a:solidFill>
            <a:prstDash val="solid"/>
            <a:round/>
            <a:headEnd type="none" w="med" len="med"/>
            <a:tailEnd type="triangle" w="sm" len="sm"/>
          </a:ln>
        </p:spPr>
      </p:sp>
      <p:sp>
        <p:nvSpPr>
          <p:cNvPr id="25659" name="任意多边形 236560"/>
          <p:cNvSpPr/>
          <p:nvPr/>
        </p:nvSpPr>
        <p:spPr>
          <a:xfrm>
            <a:off x="5070475" y="1004888"/>
            <a:ext cx="1952625" cy="850900"/>
          </a:xfrm>
          <a:custGeom>
            <a:avLst/>
            <a:gdLst/>
            <a:ahLst/>
            <a:cxnLst/>
            <a:pathLst>
              <a:path w="564" h="372">
                <a:moveTo>
                  <a:pt x="0" y="0"/>
                </a:moveTo>
                <a:lnTo>
                  <a:pt x="564" y="0"/>
                </a:lnTo>
                <a:lnTo>
                  <a:pt x="564" y="372"/>
                </a:lnTo>
              </a:path>
            </a:pathLst>
          </a:custGeom>
          <a:noFill/>
          <a:ln w="19050" cap="flat" cmpd="sng">
            <a:solidFill>
              <a:srgbClr val="CC00FF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/>
          </a:p>
        </p:txBody>
      </p:sp>
      <p:sp>
        <p:nvSpPr>
          <p:cNvPr id="25660" name="任意多边形 236559"/>
          <p:cNvSpPr/>
          <p:nvPr/>
        </p:nvSpPr>
        <p:spPr>
          <a:xfrm>
            <a:off x="3584575" y="1068388"/>
            <a:ext cx="612775" cy="1081087"/>
          </a:xfrm>
          <a:custGeom>
            <a:avLst/>
            <a:gdLst/>
            <a:ahLst/>
            <a:cxnLst/>
            <a:pathLst>
              <a:path w="258" h="630">
                <a:moveTo>
                  <a:pt x="0" y="630"/>
                </a:moveTo>
                <a:lnTo>
                  <a:pt x="108" y="630"/>
                </a:lnTo>
                <a:lnTo>
                  <a:pt x="108" y="0"/>
                </a:lnTo>
                <a:lnTo>
                  <a:pt x="258" y="0"/>
                </a:lnTo>
              </a:path>
            </a:pathLst>
          </a:custGeom>
          <a:noFill/>
          <a:ln w="1905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61" name="直接连接符 236558"/>
          <p:cNvSpPr/>
          <p:nvPr/>
        </p:nvSpPr>
        <p:spPr>
          <a:xfrm flipH="1">
            <a:off x="1984375" y="2238375"/>
            <a:ext cx="1200150" cy="0"/>
          </a:xfrm>
          <a:prstGeom prst="line">
            <a:avLst/>
          </a:prstGeom>
          <a:ln w="1905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662" name="直接连接符 236557"/>
          <p:cNvSpPr/>
          <p:nvPr/>
        </p:nvSpPr>
        <p:spPr>
          <a:xfrm flipH="1">
            <a:off x="1031875" y="2433638"/>
            <a:ext cx="409575" cy="0"/>
          </a:xfrm>
          <a:prstGeom prst="line">
            <a:avLst/>
          </a:prstGeom>
          <a:ln w="19050" cap="flat" cmpd="sng">
            <a:solidFill>
              <a:srgbClr val="CC00FF"/>
            </a:solidFill>
            <a:prstDash val="solid"/>
            <a:round/>
            <a:headEnd type="none" w="med" len="med"/>
            <a:tailEnd type="triangle" w="sm" len="sm"/>
          </a:ln>
        </p:spPr>
      </p:sp>
      <p:grpSp>
        <p:nvGrpSpPr>
          <p:cNvPr id="25663" name="组合 236553"/>
          <p:cNvGrpSpPr/>
          <p:nvPr/>
        </p:nvGrpSpPr>
        <p:grpSpPr>
          <a:xfrm>
            <a:off x="5075238" y="1990725"/>
            <a:ext cx="381000" cy="381000"/>
            <a:chOff x="3210" y="1350"/>
            <a:chExt cx="240" cy="240"/>
          </a:xfrm>
        </p:grpSpPr>
        <p:sp>
          <p:nvSpPr>
            <p:cNvPr id="25664" name="直接连接符 236556"/>
            <p:cNvSpPr/>
            <p:nvPr/>
          </p:nvSpPr>
          <p:spPr>
            <a:xfrm>
              <a:off x="3210" y="1350"/>
              <a:ext cx="24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5" name="直接连接符 236555"/>
            <p:cNvSpPr/>
            <p:nvPr/>
          </p:nvSpPr>
          <p:spPr>
            <a:xfrm>
              <a:off x="3210" y="1470"/>
              <a:ext cx="24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6" name="直接连接符 236554"/>
            <p:cNvSpPr/>
            <p:nvPr/>
          </p:nvSpPr>
          <p:spPr>
            <a:xfrm>
              <a:off x="3210" y="1590"/>
              <a:ext cx="24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5667" name="直接连接符 236552"/>
          <p:cNvSpPr/>
          <p:nvPr/>
        </p:nvSpPr>
        <p:spPr>
          <a:xfrm>
            <a:off x="3579813" y="2295525"/>
            <a:ext cx="419100" cy="0"/>
          </a:xfrm>
          <a:prstGeom prst="line">
            <a:avLst/>
          </a:prstGeom>
          <a:ln w="1905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668" name="直接连接符 236551"/>
          <p:cNvSpPr/>
          <p:nvPr/>
        </p:nvSpPr>
        <p:spPr>
          <a:xfrm>
            <a:off x="3584575" y="2286000"/>
            <a:ext cx="419100" cy="0"/>
          </a:xfrm>
          <a:prstGeom prst="line">
            <a:avLst/>
          </a:prstGeom>
          <a:ln w="28575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5669" name="组合 236547"/>
          <p:cNvGrpSpPr/>
          <p:nvPr/>
        </p:nvGrpSpPr>
        <p:grpSpPr>
          <a:xfrm>
            <a:off x="5094288" y="1981200"/>
            <a:ext cx="381000" cy="395288"/>
            <a:chOff x="3210" y="1350"/>
            <a:chExt cx="240" cy="249"/>
          </a:xfrm>
        </p:grpSpPr>
        <p:sp>
          <p:nvSpPr>
            <p:cNvPr id="25670" name="直接连接符 236550"/>
            <p:cNvSpPr/>
            <p:nvPr/>
          </p:nvSpPr>
          <p:spPr>
            <a:xfrm>
              <a:off x="3210" y="1350"/>
              <a:ext cx="240" cy="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1" name="直接连接符 236549"/>
            <p:cNvSpPr/>
            <p:nvPr/>
          </p:nvSpPr>
          <p:spPr>
            <a:xfrm>
              <a:off x="3210" y="1470"/>
              <a:ext cx="240" cy="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2" name="直接连接符 236548"/>
            <p:cNvSpPr/>
            <p:nvPr/>
          </p:nvSpPr>
          <p:spPr>
            <a:xfrm>
              <a:off x="3210" y="1599"/>
              <a:ext cx="240" cy="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5673" name="矩形 236546"/>
          <p:cNvSpPr/>
          <p:nvPr/>
        </p:nvSpPr>
        <p:spPr>
          <a:xfrm>
            <a:off x="3117850" y="1930400"/>
            <a:ext cx="54292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74" name="文本框 236545"/>
          <p:cNvSpPr txBox="1"/>
          <p:nvPr/>
        </p:nvSpPr>
        <p:spPr>
          <a:xfrm>
            <a:off x="3262313" y="2052638"/>
            <a:ext cx="371475" cy="336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_x000B__x000C_"/>
              </a:rPr>
              <a:t>1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文本框 1"/>
          <p:cNvSpPr txBox="1"/>
          <p:nvPr/>
        </p:nvSpPr>
        <p:spPr>
          <a:xfrm>
            <a:off x="394970" y="1051560"/>
            <a:ext cx="7198360" cy="4974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33705" lvl="2" indent="-342900" ea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7030A0"/>
              </a:buClr>
              <a:buSzPct val="70000"/>
              <a:buFont typeface="Wingdings" panose="05000000000000000000" charset="0"/>
              <a:buChar char="p"/>
            </a:pP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当前无中断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，不同优先级的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多个中断源同时申请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中断时，如何让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响应优先级最高的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中断源提出的中断请求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433705" lvl="2" indent="-342900" eaLnBrk="1" hangingPunct="1">
              <a:lnSpc>
                <a:spcPct val="120000"/>
              </a:lnSpc>
              <a:spcBef>
                <a:spcPts val="25"/>
              </a:spcBef>
              <a:spcAft>
                <a:spcPts val="0"/>
              </a:spcAft>
              <a:buClr>
                <a:srgbClr val="7030A0"/>
              </a:buClr>
              <a:buSzPct val="70000"/>
              <a:buFont typeface="Wingdings" panose="05000000000000000000" charset="0"/>
              <a:buChar char="p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当CPU</a:t>
            </a: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正在处理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某个</a:t>
            </a: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，即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正在执行中断服务程序时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，又出现新的中断请求。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890905" lvl="3" indent="-342900" eaLnBrk="1" hangingPunct="1">
              <a:lnSpc>
                <a:spcPct val="120000"/>
              </a:lnSpc>
              <a:spcBef>
                <a:spcPts val="25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若新的中断优先级更高，则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需要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暂时打断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（挂起）当前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正在执行的级别较低的中断服务程序，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转去处理级别更高的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中断请求，待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处理完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以后，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再返回到被打断了的中断服务程序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继续执行。这就是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所谓的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中断嵌套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890905" lvl="3" indent="-342900" eaLnBrk="1" hangingPunct="1">
              <a:lnSpc>
                <a:spcPct val="120000"/>
              </a:lnSpc>
              <a:spcBef>
                <a:spcPts val="25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若新的中断源</a:t>
            </a: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级别低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或为</a:t>
            </a: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同级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，则</a:t>
            </a: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屏蔽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6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58038" y="6308725"/>
            <a:ext cx="11303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3880" y="443865"/>
            <a:ext cx="59448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优先权控制逻辑要解决的问题：</a:t>
            </a:r>
            <a:endParaRPr lang="zh-CN" altLang="en-US" sz="3200">
              <a:solidFill>
                <a:srgbClr val="0070C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1" name="文本框 1"/>
          <p:cNvSpPr txBox="1">
            <a:spLocks noChangeArrowheads="1"/>
          </p:cNvSpPr>
          <p:nvPr/>
        </p:nvSpPr>
        <p:spPr bwMode="auto">
          <a:xfrm>
            <a:off x="683895" y="548005"/>
            <a:ext cx="7533640" cy="431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四.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中断处理过程</a:t>
            </a:r>
            <a:endParaRPr lang="zh-CN" altLang="en-US" sz="3200" b="1" dirty="0">
              <a:solidFill>
                <a:srgbClr val="3939CD"/>
              </a:solidFill>
              <a:latin typeface="Times New Roman" panose="02020603050405020304" pitchFamily="18" charset="0"/>
              <a:ea typeface="隶书" panose="02010509060101010101" pitchFamily="49" charset="-122"/>
              <a:sym typeface="宋体" panose="02010600030101010101" pitchFamily="2" charset="-122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3.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中断响应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8088/8086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响应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INTR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中断是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有条件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的：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914400" marR="0" lvl="3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指令执行结束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914400" marR="0" lvl="3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CPU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处于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开中断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状态（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IF=1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914400" marR="0" lvl="3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未发生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RESET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NMI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HOLD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914400" marR="0" lvl="2" indent="-4572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开中断指令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STI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、中断返回指令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IRET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执行完，需要再执行一条指令才能响应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1" name="文本框 1"/>
          <p:cNvSpPr txBox="1">
            <a:spLocks noChangeArrowheads="1"/>
          </p:cNvSpPr>
          <p:nvPr/>
        </p:nvSpPr>
        <p:spPr bwMode="auto">
          <a:xfrm>
            <a:off x="755650" y="332740"/>
            <a:ext cx="7338060" cy="312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四.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中断处理过程</a:t>
            </a:r>
            <a:endParaRPr lang="zh-CN" altLang="en-US" sz="3200" b="1" dirty="0">
              <a:solidFill>
                <a:srgbClr val="3939CD"/>
              </a:solidFill>
              <a:latin typeface="Times New Roman" panose="02020603050405020304" pitchFamily="18" charset="0"/>
              <a:ea typeface="隶书" panose="02010509060101010101" pitchFamily="49" charset="-122"/>
              <a:sym typeface="宋体" panose="02010600030101010101" pitchFamily="2" charset="-122"/>
            </a:endParaRPr>
          </a:p>
          <a:p>
            <a:pPr marL="0" marR="0" lvl="2" indent="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4.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断点保护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如何保证在中断服务程序执行完后，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CPU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能返回主程序被打断的地方接着执行？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断点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：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下一条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将执行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指令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在内存中的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地址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2860" y="3672840"/>
            <a:ext cx="3489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断点保护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谁来做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03725" y="3687445"/>
            <a:ext cx="1268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CPU</a:t>
            </a:r>
            <a:endParaRPr lang="zh-CN" altLang="en-US" sz="28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8105" y="4517390"/>
            <a:ext cx="2868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CPU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保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存什么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87215" y="4531995"/>
            <a:ext cx="3863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C</a:t>
            </a:r>
            <a:r>
              <a:rPr lang="en-US" altLang="zh-CN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S+I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P</a:t>
            </a:r>
            <a:r>
              <a:rPr lang="en-US" altLang="zh-CN" sz="2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+FR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压入堆栈</a:t>
            </a:r>
            <a:endParaRPr lang="zh-CN" altLang="en-US" sz="280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10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BBA02-124B-4EEF-8A03-FCA4EB20E046}" type="slidenum">
              <a:rPr kumimoji="0" lang="en-US" altLang="zh-CN" sz="2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1" name="文本框 1"/>
          <p:cNvSpPr txBox="1">
            <a:spLocks noChangeArrowheads="1"/>
          </p:cNvSpPr>
          <p:nvPr/>
        </p:nvSpPr>
        <p:spPr bwMode="auto">
          <a:xfrm>
            <a:off x="683895" y="548005"/>
            <a:ext cx="7558405" cy="432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+mn-ea"/>
              </a:rPr>
              <a:t>四. </a:t>
            </a:r>
            <a:r>
              <a:rPr lang="zh-CN" altLang="en-US" sz="3200" b="1" dirty="0">
                <a:solidFill>
                  <a:srgbClr val="3939CD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宋体" panose="02010600030101010101" pitchFamily="2" charset="-122"/>
              </a:rPr>
              <a:t>中断处理过程</a:t>
            </a:r>
            <a:endParaRPr lang="zh-CN" altLang="en-US" sz="3200" b="1" dirty="0">
              <a:solidFill>
                <a:srgbClr val="3939CD"/>
              </a:solidFill>
              <a:latin typeface="Times New Roman" panose="02020603050405020304" pitchFamily="18" charset="0"/>
              <a:ea typeface="隶书" panose="02010509060101010101" pitchFamily="49" charset="-122"/>
              <a:sym typeface="宋体" panose="02010600030101010101" pitchFamily="2" charset="-122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 5.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中断服务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3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也称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中断处理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，即执行中断服务子程序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3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可能很简单，也可能很复杂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6.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断点恢复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3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执行与断点保护相反的操作（弹出堆栈）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7.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中断返回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  <a:p>
            <a:pPr marL="457200" marR="0" lvl="3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  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通过执行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中断返回指令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IRET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  <a:cs typeface="+mn-cs"/>
              </a:rPr>
              <a:t>实现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52226" name="Picture 2" descr="C:\Users\Lenovo\Desktop\接口技术PPT\中断过程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260350"/>
            <a:ext cx="6669088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TextBox 2"/>
          <p:cNvSpPr txBox="1"/>
          <p:nvPr/>
        </p:nvSpPr>
        <p:spPr>
          <a:xfrm>
            <a:off x="7812088" y="1989138"/>
            <a:ext cx="677862" cy="3240087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中断完整过程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/>
          </p:cNvSpPr>
          <p:nvPr>
            <p:ph type="body" idx="4294967295"/>
          </p:nvPr>
        </p:nvSpPr>
        <p:spPr>
          <a:xfrm>
            <a:off x="390525" y="405130"/>
            <a:ext cx="8369300" cy="5504180"/>
          </a:xfrm>
          <a:solidFill>
            <a:srgbClr val="FFFFFF"/>
          </a:solidFill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5.5 中断向量与中断向量表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       </a:t>
            </a:r>
            <a:r>
              <a:rPr lang="en-US" altLang="zh-CN" sz="2000" dirty="0">
                <a:solidFill>
                  <a:schemeClr val="tx1"/>
                </a:solidFill>
              </a:rPr>
              <a:t>当发生中断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就意味着要发生程序的转移。那么，</a:t>
            </a:r>
            <a:r>
              <a:rPr lang="en-US" altLang="zh-CN" sz="2000" dirty="0">
                <a:solidFill>
                  <a:srgbClr val="C00000"/>
                </a:solidFill>
              </a:rPr>
              <a:t>如何找到中断服务</a:t>
            </a:r>
            <a:r>
              <a:rPr lang="zh-CN" altLang="en-US" sz="2000" dirty="0">
                <a:solidFill>
                  <a:srgbClr val="C00000"/>
                </a:solidFill>
              </a:rPr>
              <a:t>子</a:t>
            </a:r>
            <a:r>
              <a:rPr lang="en-US" altLang="zh-CN" sz="2000" dirty="0">
                <a:solidFill>
                  <a:srgbClr val="C00000"/>
                </a:solidFill>
              </a:rPr>
              <a:t>程序的入口地址</a:t>
            </a:r>
            <a:r>
              <a:rPr lang="en-US" altLang="zh-CN" sz="2000" dirty="0">
                <a:solidFill>
                  <a:schemeClr val="tx1"/>
                </a:solidFill>
              </a:rPr>
              <a:t>是解决问题的</a:t>
            </a:r>
            <a:r>
              <a:rPr lang="en-US" altLang="zh-CN" sz="2000" dirty="0">
                <a:solidFill>
                  <a:srgbClr val="C00000"/>
                </a:solidFill>
              </a:rPr>
              <a:t>关键。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zh-CN" altLang="en-US" sz="2000" dirty="0">
                <a:solidFill>
                  <a:schemeClr val="tx1"/>
                </a:solidFill>
              </a:rPr>
              <a:t>常用</a:t>
            </a:r>
            <a:r>
              <a:rPr lang="en-US" altLang="zh-CN" sz="2000" dirty="0">
                <a:solidFill>
                  <a:srgbClr val="00B050"/>
                </a:solidFill>
              </a:rPr>
              <a:t>中断向量</a:t>
            </a:r>
            <a:r>
              <a:rPr lang="zh-CN" altLang="en-US" sz="2000" dirty="0">
                <a:solidFill>
                  <a:srgbClr val="00B050"/>
                </a:solidFill>
              </a:rPr>
              <a:t>法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zh-CN" altLang="en-US" sz="2000" dirty="0">
                <a:solidFill>
                  <a:schemeClr val="tx1"/>
                </a:solidFill>
              </a:rPr>
              <a:t>中断矢量法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 eaLnBrk="1" latinLnBrk="0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800" dirty="0"/>
              <a:t>5.5.1 中断向量与中断向量表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</a:t>
            </a:r>
            <a:r>
              <a:rPr lang="en-US" altLang="zh-CN" sz="2400" dirty="0"/>
              <a:t>1. 什么是中断向量</a:t>
            </a:r>
            <a:endParaRPr lang="en-US" altLang="zh-CN" sz="2400" dirty="0"/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/>
              <a:t>    </a:t>
            </a:r>
            <a:r>
              <a:rPr lang="en-US" altLang="zh-CN" sz="2000" dirty="0">
                <a:solidFill>
                  <a:schemeClr val="tx1"/>
                </a:solidFill>
              </a:rPr>
              <a:t>CPU响应中断后，中断源提供</a:t>
            </a:r>
            <a:r>
              <a:rPr lang="zh-CN" altLang="en-US" sz="2000" dirty="0">
                <a:solidFill>
                  <a:srgbClr val="C00000"/>
                </a:solidFill>
              </a:rPr>
              <a:t>中断号</a:t>
            </a:r>
            <a:r>
              <a:rPr lang="zh-CN" altLang="en-US" sz="2000" dirty="0">
                <a:solidFill>
                  <a:schemeClr val="tx1"/>
                </a:solidFill>
              </a:rPr>
              <a:t>，由中断号生成</a:t>
            </a:r>
            <a:r>
              <a:rPr lang="en-US" altLang="zh-CN" sz="2000" dirty="0">
                <a:solidFill>
                  <a:schemeClr val="tx1"/>
                </a:solidFill>
              </a:rPr>
              <a:t>地址信息</a:t>
            </a:r>
            <a:r>
              <a:rPr lang="zh-CN" altLang="en-US" sz="2000" dirty="0">
                <a:solidFill>
                  <a:schemeClr val="tx1"/>
                </a:solidFill>
              </a:rPr>
              <a:t>，以</a:t>
            </a:r>
            <a:r>
              <a:rPr lang="en-US" altLang="zh-CN" sz="2000" dirty="0">
                <a:solidFill>
                  <a:schemeClr val="tx1"/>
                </a:solidFill>
              </a:rPr>
              <a:t>此地址信息</a:t>
            </a:r>
            <a:r>
              <a:rPr lang="zh-CN" altLang="en-US" sz="2000" dirty="0">
                <a:solidFill>
                  <a:schemeClr val="tx1"/>
                </a:solidFill>
              </a:rPr>
              <a:t>为</a:t>
            </a:r>
            <a:r>
              <a:rPr lang="zh-CN" altLang="en-US" sz="2000" dirty="0">
                <a:solidFill>
                  <a:srgbClr val="C00000"/>
                </a:solidFill>
              </a:rPr>
              <a:t>指针</a:t>
            </a:r>
            <a:r>
              <a:rPr lang="zh-CN" altLang="en-US" sz="2000" dirty="0">
                <a:solidFill>
                  <a:schemeClr val="tx1"/>
                </a:solidFill>
              </a:rPr>
              <a:t>，找</a:t>
            </a:r>
            <a:r>
              <a:rPr lang="en-US" altLang="zh-CN" sz="2000" dirty="0">
                <a:solidFill>
                  <a:schemeClr val="tx1"/>
                </a:solidFill>
              </a:rPr>
              <a:t>到中断服务程序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zh-CN" altLang="en-US" sz="2000" dirty="0">
                <a:solidFill>
                  <a:srgbClr val="C00000"/>
                </a:solidFill>
              </a:rPr>
              <a:t>入口</a:t>
            </a:r>
            <a:r>
              <a:rPr lang="en-US" altLang="zh-CN" sz="2000" dirty="0">
                <a:solidFill>
                  <a:srgbClr val="C00000"/>
                </a:solidFill>
              </a:rPr>
              <a:t>地址</a:t>
            </a:r>
            <a:r>
              <a:rPr lang="en-US" altLang="zh-CN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en-US" altLang="zh-CN" sz="2000" dirty="0">
                <a:solidFill>
                  <a:srgbClr val="C00000"/>
                </a:solidFill>
              </a:rPr>
              <a:t>中断向量</a:t>
            </a:r>
            <a:r>
              <a:rPr lang="zh-CN" altLang="en-US" sz="2000" dirty="0">
                <a:solidFill>
                  <a:schemeClr val="tx1"/>
                </a:solidFill>
              </a:rPr>
              <a:t>即</a:t>
            </a:r>
            <a:r>
              <a:rPr lang="en-US" altLang="zh-CN" sz="2000" dirty="0">
                <a:solidFill>
                  <a:schemeClr val="tx1"/>
                </a:solidFill>
              </a:rPr>
              <a:t>中断服务程序的</a:t>
            </a:r>
            <a:r>
              <a:rPr lang="en-US" altLang="zh-CN" sz="2000" dirty="0">
                <a:solidFill>
                  <a:srgbClr val="00B050"/>
                </a:solidFill>
              </a:rPr>
              <a:t>段基址CS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rgbClr val="00B050"/>
                </a:solidFill>
              </a:rPr>
              <a:t>偏</a:t>
            </a:r>
            <a:r>
              <a:rPr lang="zh-CN" altLang="en-US" sz="2000" dirty="0">
                <a:solidFill>
                  <a:srgbClr val="00B050"/>
                </a:solidFill>
              </a:rPr>
              <a:t>移地</a:t>
            </a:r>
            <a:r>
              <a:rPr lang="en-US" altLang="zh-CN" sz="2000" dirty="0">
                <a:solidFill>
                  <a:srgbClr val="00B050"/>
                </a:solidFill>
              </a:rPr>
              <a:t>址IP</a:t>
            </a:r>
            <a:r>
              <a:rPr lang="zh-CN" altLang="en-US" sz="2000" dirty="0">
                <a:solidFill>
                  <a:schemeClr val="tx1"/>
                </a:solidFill>
              </a:rPr>
              <a:t>，用</a:t>
            </a:r>
            <a:r>
              <a:rPr lang="en-US" altLang="zh-CN" sz="2000" b="0" dirty="0">
                <a:solidFill>
                  <a:srgbClr val="0000E1"/>
                </a:solidFill>
              </a:rPr>
              <a:t>4N+0</a:t>
            </a:r>
            <a:r>
              <a:rPr lang="zh-CN" altLang="en-US" sz="2000" b="0" dirty="0">
                <a:solidFill>
                  <a:schemeClr val="tx1"/>
                </a:solidFill>
              </a:rPr>
              <a:t>和</a:t>
            </a:r>
            <a:r>
              <a:rPr lang="en-US" altLang="zh-CN" sz="2000" b="0" dirty="0">
                <a:solidFill>
                  <a:srgbClr val="0000E1"/>
                </a:solidFill>
                <a:sym typeface="+mn-ea"/>
              </a:rPr>
              <a:t>4N+2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作为偏移量寻址</a:t>
            </a:r>
            <a:r>
              <a:rPr lang="zh-CN" altLang="en-US" sz="2000" dirty="0">
                <a:solidFill>
                  <a:schemeClr val="tx1"/>
                </a:solidFill>
              </a:rPr>
              <a:t>。其中，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     中断号</a:t>
            </a:r>
            <a:r>
              <a:rPr lang="en-US" altLang="zh-CN" sz="2000" dirty="0">
                <a:solidFill>
                  <a:srgbClr val="C00000"/>
                </a:solidFill>
              </a:rPr>
              <a:t>n</a:t>
            </a:r>
            <a:r>
              <a:rPr lang="zh-CN" altLang="en-US" sz="2000" dirty="0">
                <a:solidFill>
                  <a:srgbClr val="C00000"/>
                </a:solidFill>
              </a:rPr>
              <a:t>×</a:t>
            </a:r>
            <a:r>
              <a:rPr lang="en-US" altLang="zh-CN" sz="2000" dirty="0">
                <a:solidFill>
                  <a:srgbClr val="C00000"/>
                </a:solidFill>
              </a:rPr>
              <a:t>4      </a:t>
            </a:r>
            <a:r>
              <a:rPr lang="en-US" altLang="zh-CN" sz="2000" dirty="0">
                <a:solidFill>
                  <a:srgbClr val="00B050"/>
                </a:solidFill>
                <a:sym typeface="Arial" panose="020B0604020202020204" pitchFamily="34" charset="0"/>
              </a:rPr>
              <a:t>偏</a:t>
            </a:r>
            <a:r>
              <a:rPr lang="zh-CN" altLang="en-US" sz="2000" dirty="0">
                <a:solidFill>
                  <a:srgbClr val="00B050"/>
                </a:solidFill>
                <a:sym typeface="Arial" panose="020B0604020202020204" pitchFamily="34" charset="0"/>
              </a:rPr>
              <a:t>移地</a:t>
            </a:r>
            <a:r>
              <a:rPr lang="en-US" altLang="zh-CN" sz="2000" dirty="0">
                <a:solidFill>
                  <a:srgbClr val="00B050"/>
                </a:solidFill>
                <a:sym typeface="Arial" panose="020B0604020202020204" pitchFamily="34" charset="0"/>
              </a:rPr>
              <a:t>址IP</a:t>
            </a:r>
            <a:r>
              <a:rPr lang="zh-CN" altLang="en-US" sz="2000" dirty="0">
                <a:solidFill>
                  <a:schemeClr val="tx1"/>
                </a:solidFill>
                <a:sym typeface="Arial" panose="020B0604020202020204" pitchFamily="34" charset="0"/>
              </a:rPr>
              <a:t>；中断号</a:t>
            </a:r>
            <a:r>
              <a:rPr lang="en-US" altLang="zh-CN" sz="2000" dirty="0">
                <a:solidFill>
                  <a:srgbClr val="C00000"/>
                </a:solidFill>
                <a:sym typeface="Arial" panose="020B0604020202020204" pitchFamily="34" charset="0"/>
              </a:rPr>
              <a:t>n</a:t>
            </a:r>
            <a:r>
              <a:rPr lang="zh-CN" altLang="en-US" sz="2000" dirty="0">
                <a:solidFill>
                  <a:srgbClr val="C00000"/>
                </a:solidFill>
                <a:sym typeface="Arial" panose="020B0604020202020204" pitchFamily="34" charset="0"/>
              </a:rPr>
              <a:t>×</a:t>
            </a:r>
            <a:r>
              <a:rPr lang="en-US" altLang="zh-CN" sz="2000" dirty="0">
                <a:solidFill>
                  <a:srgbClr val="C00000"/>
                </a:solidFill>
                <a:sym typeface="Arial" panose="020B0604020202020204" pitchFamily="34" charset="0"/>
              </a:rPr>
              <a:t>4+2</a:t>
            </a:r>
            <a:r>
              <a:rPr lang="en-US" altLang="zh-CN" sz="2000" dirty="0">
                <a:solidFill>
                  <a:schemeClr val="tx1"/>
                </a:solidFill>
                <a:sym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rgbClr val="00B050"/>
                </a:solidFill>
                <a:sym typeface="Arial" panose="020B0604020202020204" pitchFamily="34" charset="0"/>
              </a:rPr>
              <a:t>段基址CS</a:t>
            </a:r>
            <a:r>
              <a:rPr lang="zh-CN" altLang="en-US" sz="2000" dirty="0">
                <a:solidFill>
                  <a:schemeClr val="tx1"/>
                </a:solidFill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C00000"/>
              </a:solidFill>
              <a:sym typeface="宋体" panose="02010600030101010101" pitchFamily="2" charset="-122"/>
            </a:endParaRPr>
          </a:p>
        </p:txBody>
      </p:sp>
      <p:sp>
        <p:nvSpPr>
          <p:cNvPr id="43011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94550" y="6308725"/>
            <a:ext cx="109378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2195830" y="5372735"/>
            <a:ext cx="287655" cy="144145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796280" y="5372735"/>
            <a:ext cx="287655" cy="144145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47106" name="Picture 2" descr="C:\Users\Lenovo\Desktop\接口技术PPT\中断类型号与中断入口的关系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60350"/>
            <a:ext cx="8497887" cy="5032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7" name="TextBox 2"/>
          <p:cNvSpPr txBox="1"/>
          <p:nvPr/>
        </p:nvSpPr>
        <p:spPr>
          <a:xfrm>
            <a:off x="1476375" y="5445125"/>
            <a:ext cx="6048375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中断类型号和中断入口的关系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5024120" y="1694815"/>
            <a:ext cx="683260" cy="3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007610" y="2467610"/>
            <a:ext cx="683260" cy="3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5007610" y="3113405"/>
            <a:ext cx="683260" cy="3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5079365" y="3902710"/>
            <a:ext cx="683260" cy="3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文本框 1"/>
          <p:cNvSpPr txBox="1">
            <a:spLocks noChangeArrowheads="1"/>
          </p:cNvSpPr>
          <p:nvPr/>
        </p:nvSpPr>
        <p:spPr bwMode="auto">
          <a:xfrm>
            <a:off x="756603" y="621983"/>
            <a:ext cx="6781800" cy="4770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2.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什么是中断向量表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90805" marR="0" lvl="2" indent="90805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所有的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中断向量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集中存放到存储器的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某一区域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，这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一区域称之为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中断向量表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90805" marR="0" lvl="2" indent="90805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微机系统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规定把存储器的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0000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H～0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3FFH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共</a:t>
            </a: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1024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个地址单元作为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中断向量存储区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，这表明中断向量表的起始地址是固定的，并且从存储器的物理地址</a:t>
            </a: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开始。</a:t>
            </a:r>
            <a:endParaRPr kumimoji="0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0805" marR="0" lvl="2" indent="90805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中断向量表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如图5.2所示。每个中断向量包含4个字节，这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4个字节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在中断向量表中的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存放规律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是向量的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偏移量（IP）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存放在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两个低地址单元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中，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段基址（CS）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存放在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两个高地址单元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中。</a:t>
            </a:r>
            <a:endParaRPr kumimoji="0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4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58038" y="6308725"/>
            <a:ext cx="11303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95250"/>
            <a:ext cx="4608512" cy="5829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8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2875"/>
            <a:ext cx="3152775" cy="2228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文本框 4"/>
          <p:cNvSpPr txBox="1"/>
          <p:nvPr/>
        </p:nvSpPr>
        <p:spPr>
          <a:xfrm>
            <a:off x="3449955" y="5835650"/>
            <a:ext cx="269494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5.2   </a:t>
            </a: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中断向量表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5060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6961188" y="6308725"/>
            <a:ext cx="132715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6961188" y="6308725"/>
            <a:ext cx="132715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46082" name="Picture 5" descr="C:\Users\Lenovo\Desktop\接口技术PPT\中断向量表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260350"/>
            <a:ext cx="5602287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TextBox 2"/>
          <p:cNvSpPr txBox="1"/>
          <p:nvPr/>
        </p:nvSpPr>
        <p:spPr>
          <a:xfrm>
            <a:off x="531813" y="1557338"/>
            <a:ext cx="800100" cy="3024187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r>
              <a:rPr lang="zh-CN" altLang="en-US" sz="4000" dirty="0">
                <a:latin typeface="Arial" panose="020B0604020202020204" pitchFamily="34" charset="0"/>
                <a:ea typeface="宋体" panose="02010600030101010101" pitchFamily="2" charset="-122"/>
              </a:rPr>
              <a:t>中断向量表</a:t>
            </a:r>
            <a:endParaRPr lang="zh-CN" altLang="en-US" sz="4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3850" y="692150"/>
            <a:ext cx="8016875" cy="416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805" marR="0" lvl="2" indent="908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08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中断向量表的填写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90805" marR="0" lvl="1" indent="9080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中断向量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表的填写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分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系统填写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和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用户填写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两种情况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90805" marR="0" lvl="1" indent="9080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系统设置的中断服务程序，其中断向量由系统负责填写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90805" marR="0" lvl="1" indent="9080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用户开发的中断系统，在编写中断服务程序时，其中断向量由用户负责填写，可采用MOV指令直接向中断向量表中填写中断向量。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90805" marR="0" lvl="1" indent="9080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不过，一般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情况下，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用户都是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通过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修改中断向量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的方法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使用系统的中断资源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故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较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由用户自己直接填写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中断向量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0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7175500" y="6308725"/>
            <a:ext cx="111283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框 1"/>
          <p:cNvSpPr txBox="1"/>
          <p:nvPr/>
        </p:nvSpPr>
        <p:spPr>
          <a:xfrm>
            <a:off x="203200" y="1270000"/>
            <a:ext cx="7612063" cy="325755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marL="344805" marR="0" lvl="1" algn="l" defTabSz="914400" rtl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不可屏蔽中断和软中断的处理过程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algn="l" defTabSz="914400" rtl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	由于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它们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的不可屏蔽性，并且其中断号的获取方法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与可屏蔽中断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不一样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，所以其中断处理过程也有所差别。其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主要差别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是：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不需通过中断响应周期获取中断号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是由系统分配的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；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中断服务程序结束，不需发中断结束命令EOI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是自动结束方式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。其他处理过程与可屏蔽中断的一样。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354888" y="6308725"/>
            <a:ext cx="935037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52226" name="Picture 2" descr="C:\Users\Lenovo\Desktop\接口技术PPT\中断过程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260350"/>
            <a:ext cx="6669088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TextBox 2"/>
          <p:cNvSpPr txBox="1"/>
          <p:nvPr/>
        </p:nvSpPr>
        <p:spPr>
          <a:xfrm>
            <a:off x="7812088" y="1989138"/>
            <a:ext cx="677862" cy="3240087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中断完整过程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文本框 1"/>
          <p:cNvSpPr txBox="1"/>
          <p:nvPr/>
        </p:nvSpPr>
        <p:spPr>
          <a:xfrm>
            <a:off x="415925" y="481013"/>
            <a:ext cx="8267700" cy="556577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marR="0" defTabSz="9144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defRPr/>
            </a:pPr>
            <a:r>
              <a:rPr kumimoji="0" lang="en-US" altLang="zh-CN" sz="3200" b="1" kern="1200" cap="none" spc="0" normalizeH="0" baseline="0" noProof="1">
                <a:solidFill>
                  <a:srgbClr val="0000E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5.7 中断外部中断的解决方案</a:t>
            </a:r>
            <a:endParaRPr kumimoji="0" lang="en-US" altLang="zh-CN" sz="3200" b="1" kern="1200" cap="none" spc="0" normalizeH="0" baseline="0" noProof="1">
              <a:solidFill>
                <a:srgbClr val="0000E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 marL="3448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5.7.1 中断控制器82C59A的外部特性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024255" marR="0" lvl="3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0" name="Rectangle 5"/>
          <p:cNvSpPr>
            <a:spLocks noGrp="1"/>
          </p:cNvSpPr>
          <p:nvPr/>
        </p:nvSpPr>
        <p:spPr>
          <a:xfrm>
            <a:off x="395605" y="1485900"/>
            <a:ext cx="5563235" cy="47510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82C59A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外部引脚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如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5.3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所示，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3组信号线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如下：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（1）面向CPU的信号线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包括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D0～D7，INT和INTA，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控制线与地址线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A0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（2）面向I/O设备的信号线</a:t>
            </a:r>
            <a:endParaRPr lang="en-US" altLang="zh-CN" sz="20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8根中断申请线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IR0～IR7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（3）面向同类芯片的中断级联信号线</a:t>
            </a:r>
            <a:endParaRPr lang="en-US" altLang="zh-CN" sz="20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25"/>
              </a:spcBef>
              <a:buSzPct val="85000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中断级联信号线用于扩展中断源，包括主/从芯片的设定线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SP/EN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，用以传送从片识别码的级联线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CAS0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CAS2。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3251" name="图片 1" descr="jjj05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5005" y="1605280"/>
            <a:ext cx="3009900" cy="36937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2" name="文本框 4"/>
          <p:cNvSpPr txBox="1"/>
          <p:nvPr/>
        </p:nvSpPr>
        <p:spPr>
          <a:xfrm>
            <a:off x="6229033" y="5370513"/>
            <a:ext cx="2378075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5.3  82C59A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引脚图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7356475" y="6308725"/>
            <a:ext cx="931863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3"/>
          <p:cNvSpPr>
            <a:spLocks noGrp="1"/>
          </p:cNvSpPr>
          <p:nvPr>
            <p:ph type="body" idx="4294967295"/>
          </p:nvPr>
        </p:nvSpPr>
        <p:spPr>
          <a:xfrm>
            <a:off x="395288" y="261938"/>
            <a:ext cx="8353425" cy="5627687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344805" lvl="1" indent="0">
              <a:lnSpc>
                <a:spcPct val="90000"/>
              </a:lnSpc>
              <a:buClr>
                <a:srgbClr val="3B812F"/>
              </a:buClr>
              <a:buNone/>
            </a:pPr>
            <a:r>
              <a:rPr lang="en-US" altLang="zh-CN" sz="2800" dirty="0">
                <a:sym typeface="宋体" panose="02010600030101010101" pitchFamily="2" charset="-122"/>
              </a:rPr>
              <a:t>5.7.2 中断控制器82C59A的工作方式</a:t>
            </a:r>
            <a:endParaRPr lang="en-US" altLang="zh-CN" sz="2800" dirty="0">
              <a:sym typeface="宋体" panose="02010600030101010101" pitchFamily="2" charset="-122"/>
            </a:endParaRPr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sz="2400" dirty="0"/>
              <a:t>1．中断触发方式</a:t>
            </a:r>
            <a:endParaRPr lang="en-US" altLang="zh-CN" sz="2400" dirty="0"/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sz="2000" dirty="0">
                <a:solidFill>
                  <a:srgbClr val="C00000"/>
                </a:solidFill>
              </a:rPr>
              <a:t>（1）边沿触发方式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</a:t>
            </a:r>
            <a:r>
              <a:rPr lang="en-US" altLang="zh-CN" sz="2000" dirty="0">
                <a:solidFill>
                  <a:srgbClr val="00B050"/>
                </a:solidFill>
              </a:rPr>
              <a:t>IR0～IR7</a:t>
            </a:r>
            <a:r>
              <a:rPr lang="en-US" altLang="zh-CN" sz="2000" dirty="0">
                <a:solidFill>
                  <a:schemeClr val="tx1"/>
                </a:solidFill>
              </a:rPr>
              <a:t>输入线上出现</a:t>
            </a:r>
            <a:r>
              <a:rPr lang="en-US" altLang="zh-CN" sz="2000" dirty="0">
                <a:solidFill>
                  <a:srgbClr val="C00000"/>
                </a:solidFill>
              </a:rPr>
              <a:t>由低电平到高电平的跳变</a:t>
            </a:r>
            <a:r>
              <a:rPr lang="en-US" altLang="zh-CN" sz="2000" dirty="0">
                <a:solidFill>
                  <a:schemeClr val="tx1"/>
                </a:solidFill>
              </a:rPr>
              <a:t>，表示</a:t>
            </a:r>
            <a:r>
              <a:rPr lang="en-US" altLang="zh-CN" sz="2000" dirty="0">
                <a:solidFill>
                  <a:srgbClr val="C00000"/>
                </a:solidFill>
              </a:rPr>
              <a:t>有中断请求</a:t>
            </a:r>
            <a:r>
              <a:rPr lang="en-US" altLang="zh-CN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sz="2000" dirty="0"/>
              <a:t>（</a:t>
            </a:r>
            <a:r>
              <a:rPr lang="en-US" altLang="zh-CN" sz="2000" dirty="0">
                <a:solidFill>
                  <a:srgbClr val="C00000"/>
                </a:solidFill>
              </a:rPr>
              <a:t>2）电平触发方式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</a:t>
            </a:r>
            <a:r>
              <a:rPr lang="en-US" altLang="zh-CN" sz="2000" dirty="0">
                <a:solidFill>
                  <a:srgbClr val="00B050"/>
                </a:solidFill>
              </a:rPr>
              <a:t>IR1～IR7</a:t>
            </a:r>
            <a:r>
              <a:rPr lang="en-US" altLang="zh-CN" sz="2000" dirty="0">
                <a:solidFill>
                  <a:schemeClr val="tx1"/>
                </a:solidFill>
              </a:rPr>
              <a:t>输入线出现</a:t>
            </a:r>
            <a:r>
              <a:rPr lang="en-US" altLang="zh-CN" sz="2000" dirty="0">
                <a:solidFill>
                  <a:srgbClr val="C00000"/>
                </a:solidFill>
              </a:rPr>
              <a:t>高电平时</a:t>
            </a:r>
            <a:r>
              <a:rPr lang="en-US" altLang="zh-CN" sz="2000" dirty="0">
                <a:solidFill>
                  <a:schemeClr val="tx1"/>
                </a:solidFill>
              </a:rPr>
              <a:t>，表示</a:t>
            </a:r>
            <a:r>
              <a:rPr lang="en-US" altLang="zh-CN" sz="2000" dirty="0">
                <a:solidFill>
                  <a:srgbClr val="C00000"/>
                </a:solidFill>
              </a:rPr>
              <a:t>有中断请求</a:t>
            </a:r>
            <a:r>
              <a:rPr lang="en-US" altLang="zh-CN" sz="2000" dirty="0">
                <a:solidFill>
                  <a:schemeClr val="tx1"/>
                </a:solidFill>
              </a:rPr>
              <a:t>。</a:t>
            </a:r>
            <a:endParaRPr lang="en-US" altLang="en-US" sz="2000" dirty="0">
              <a:solidFill>
                <a:srgbClr val="C00000"/>
              </a:solidFill>
              <a:ea typeface="微软雅黑" panose="020B0503020204020204" charset="-122"/>
              <a:sym typeface="+mn-ea"/>
            </a:endParaRPr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sz="2400" dirty="0"/>
              <a:t>2．中断级联方式</a:t>
            </a:r>
            <a:endParaRPr lang="en-US" altLang="zh-CN" sz="2400" dirty="0"/>
          </a:p>
          <a:p>
            <a:pPr marL="671830" lvl="2" indent="0" eaLnBrk="1" hangingPunct="1">
              <a:lnSpc>
                <a:spcPct val="120000"/>
              </a:lnSpc>
              <a:spcBef>
                <a:spcPts val="25"/>
              </a:spcBef>
              <a:buNone/>
            </a:pPr>
            <a:r>
              <a:rPr lang="en-US" altLang="zh-CN" dirty="0"/>
              <a:t>	</a:t>
            </a:r>
            <a:r>
              <a:rPr lang="en-US" altLang="en-US" dirty="0"/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82C59A可以单片使用，也可以多片使用，</a:t>
            </a:r>
            <a:r>
              <a:rPr lang="en-US" altLang="zh-CN" sz="2000" dirty="0">
                <a:solidFill>
                  <a:srgbClr val="C00000"/>
                </a:solidFill>
              </a:rPr>
              <a:t>两片以上</a:t>
            </a:r>
            <a:r>
              <a:rPr lang="en-US" altLang="zh-CN" sz="2000" dirty="0">
                <a:solidFill>
                  <a:schemeClr val="tx1"/>
                </a:solidFill>
              </a:rPr>
              <a:t>使用时</a:t>
            </a:r>
            <a:r>
              <a:rPr lang="en-US" altLang="en-US" sz="2000" dirty="0">
                <a:solidFill>
                  <a:srgbClr val="C00000"/>
                </a:solidFill>
              </a:rPr>
              <a:t>才有</a:t>
            </a:r>
            <a:r>
              <a:rPr lang="en-US" altLang="zh-CN" sz="2000" dirty="0">
                <a:solidFill>
                  <a:srgbClr val="C00000"/>
                </a:solidFill>
              </a:rPr>
              <a:t>级联问题</a:t>
            </a:r>
            <a:r>
              <a:rPr lang="en-US" altLang="zh-CN" sz="2000" dirty="0">
                <a:solidFill>
                  <a:schemeClr val="tx1"/>
                </a:solidFill>
              </a:rPr>
              <a:t>。</a:t>
            </a:r>
            <a:r>
              <a:rPr lang="en-US" altLang="zh-CN" sz="2000" dirty="0">
                <a:solidFill>
                  <a:srgbClr val="00B050"/>
                </a:solidFill>
              </a:rPr>
              <a:t>级联问题</a:t>
            </a:r>
            <a:r>
              <a:rPr lang="en-US" altLang="zh-CN" sz="2000" dirty="0">
                <a:solidFill>
                  <a:schemeClr val="tx1"/>
                </a:solidFill>
              </a:rPr>
              <a:t>分两个方面：</a:t>
            </a:r>
            <a:r>
              <a:rPr lang="en-US" altLang="zh-CN" sz="2000" dirty="0">
                <a:solidFill>
                  <a:srgbClr val="C00000"/>
                </a:solidFill>
              </a:rPr>
              <a:t>从主片看</a:t>
            </a:r>
            <a:r>
              <a:rPr lang="en-US" altLang="zh-CN" sz="2000" dirty="0">
                <a:solidFill>
                  <a:schemeClr val="tx1"/>
                </a:solidFill>
              </a:rPr>
              <a:t>，它的哪一根或哪几根中断申请输入线IR上有从片连接；</a:t>
            </a:r>
            <a:r>
              <a:rPr lang="en-US" altLang="zh-CN" sz="2000" dirty="0">
                <a:solidFill>
                  <a:srgbClr val="C00000"/>
                </a:solidFill>
              </a:rPr>
              <a:t>从从片看</a:t>
            </a:r>
            <a:r>
              <a:rPr lang="en-US" altLang="zh-CN" sz="2000" dirty="0">
                <a:solidFill>
                  <a:schemeClr val="tx1"/>
                </a:solidFill>
              </a:rPr>
              <a:t>，它的中断申请输出线INT与主片的哪一根中断申请输入线IR相连。</a:t>
            </a:r>
            <a:endParaRPr lang="en-US" altLang="zh-CN" dirty="0"/>
          </a:p>
        </p:txBody>
      </p:sp>
      <p:sp>
        <p:nvSpPr>
          <p:cNvPr id="5427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391400" y="6308725"/>
            <a:ext cx="89693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文本框 1"/>
          <p:cNvSpPr txBox="1"/>
          <p:nvPr/>
        </p:nvSpPr>
        <p:spPr>
          <a:xfrm>
            <a:off x="107950" y="476250"/>
            <a:ext cx="8399463" cy="51803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3. 中断屏蔽方式</a:t>
            </a:r>
            <a:endParaRPr lang="en-US" altLang="zh-CN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82C59A的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中断屏蔽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是指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允许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还是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不允许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外设申请中断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而不是对已经提出的中断申请响不响应的问题。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两种规屏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蔽方式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（1）常规屏蔽方式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   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常规屏蔽方式是通过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向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82C59A屏蔽寄存器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写入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8位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屏蔽码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来实现的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，要屏蔽哪个中断申请，就将屏蔽码的相应位置1；不屏蔽的，即开放中断的，则相应位置0。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（2）特殊屏蔽方式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	 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用于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开放低级别的中断申请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允许比正在服务的中断级别低的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中断申请中断，而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屏蔽同级的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中断再次申请中断。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4. 中断优先级排队方式</a:t>
            </a:r>
            <a:endParaRPr lang="en-US" altLang="zh-CN" sz="2400" b="1" dirty="0">
              <a:solidFill>
                <a:srgbClr val="0000E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  82C59A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提供了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3种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中断优先级排队方式：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完全嵌套方式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特殊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嵌套方式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优先级循环方式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endParaRPr lang="en-US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246938" y="6308725"/>
            <a:ext cx="10414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文本框 2"/>
          <p:cNvSpPr txBox="1"/>
          <p:nvPr/>
        </p:nvSpPr>
        <p:spPr>
          <a:xfrm>
            <a:off x="0" y="765175"/>
            <a:ext cx="8396288" cy="5163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5. 中断结束方式</a:t>
            </a:r>
            <a:endParaRPr lang="en-US" altLang="zh-CN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（1）自动结束方式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自动结束方式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是中断响应之后，就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自动清零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该中断源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在ISR寄存器中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被置1的位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因此，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在中断服务程序中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不需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发出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中断结束命令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EOI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（2）非自动结束方式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非自动结束方式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是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在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ISR中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被置1的位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，在服务完毕后，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不能自动清零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，而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必须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在中断服务程序中发出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中断结束命令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EOI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，才能清零，故称为非自动结束。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非自动结束方式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是常用的方式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，其中又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有两种命令格式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●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常规结束命令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：该命令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隐含指定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ISR寄存器中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优先级最高的置1位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清零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（复位）。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	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●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指定结束命令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：该命令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明确指定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ISR寄存器中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哪一个置1的位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清零，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即服务完毕，具体指定哪一级中断结束。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671830" lvl="2" indent="0"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  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指定结束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方式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应用较多。</a:t>
            </a: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5632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302500" y="6308725"/>
            <a:ext cx="98583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734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841500"/>
            <a:ext cx="7262813" cy="4246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7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7319963" y="6308725"/>
            <a:ext cx="9699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57348" name="文本框 1"/>
          <p:cNvSpPr txBox="1"/>
          <p:nvPr/>
        </p:nvSpPr>
        <p:spPr>
          <a:xfrm>
            <a:off x="611188" y="476250"/>
            <a:ext cx="7043737" cy="517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5.7.3 </a:t>
            </a:r>
            <a:r>
              <a:rPr lang="zh-CN" altLang="en-US" sz="28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中断控制器</a:t>
            </a:r>
            <a:r>
              <a:rPr lang="en-US" altLang="zh-CN" sz="28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82C59A</a:t>
            </a:r>
            <a:r>
              <a:rPr lang="zh-CN" altLang="en-US" sz="28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的编程模型</a:t>
            </a:r>
            <a:endParaRPr lang="zh-CN" altLang="en-US" sz="28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9" name="文本框 4"/>
          <p:cNvSpPr txBox="1"/>
          <p:nvPr/>
        </p:nvSpPr>
        <p:spPr>
          <a:xfrm>
            <a:off x="869950" y="1120775"/>
            <a:ext cx="6078538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82C59A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编程模型包括内部可访问的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寄存器、端口地址，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及相应的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命令字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内部寄存器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如图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5.5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所示。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4"/>
          <p:cNvSpPr>
            <a:spLocks noGrp="1"/>
          </p:cNvSpPr>
          <p:nvPr/>
        </p:nvSpPr>
        <p:spPr>
          <a:xfrm>
            <a:off x="684213" y="979488"/>
            <a:ext cx="7772400" cy="46339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（1）命令寄存器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8位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，隐含在“控制逻辑”模块内部，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接收并处理7个命令字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，用户可以访问。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（2）中断请求寄存器（IRR）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   8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位，以逻辑1记录已经提出中断请求的中断级，等待CPU响应。当提出中断请求的外设产生中断时，由82C59A置位，直到中断被响应才自动清零。IRR的内容可以由CPU通过OCW3命令读出。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sz="20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（3）中断服务寄存器（ISR）</a:t>
            </a:r>
            <a:endParaRPr kumimoji="0" sz="20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    在中断响应之后，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获准中断请求的中断级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在相应的ISR中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置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 例如，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IR3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获准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，则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ISR中的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IS3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置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表明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IR3正处于服务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。这些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置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保持，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直到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中断服务程序中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发中断结束命令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才能清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0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58370" name="文本框 1"/>
          <p:cNvSpPr txBox="1"/>
          <p:nvPr/>
        </p:nvSpPr>
        <p:spPr>
          <a:xfrm>
            <a:off x="-107950" y="404813"/>
            <a:ext cx="6384925" cy="438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1．82C59A内部寄存器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1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94550" y="6308725"/>
            <a:ext cx="109378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文本框 2"/>
          <p:cNvSpPr txBox="1"/>
          <p:nvPr/>
        </p:nvSpPr>
        <p:spPr>
          <a:xfrm>
            <a:off x="408305" y="798830"/>
            <a:ext cx="7066280" cy="4307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85000"/>
            </a:pP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）中断屏蔽寄存器（</a:t>
            </a:r>
            <a:r>
              <a:rPr lang="en-US" altLang="zh-CN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IMR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-450215">
              <a:lnSpc>
                <a:spcPct val="150000"/>
              </a:lnSpc>
              <a:spcBef>
                <a:spcPts val="0"/>
              </a:spcBef>
              <a:buSzPct val="85000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是对中断请求IR起屏蔽作用，即对中断请求IR允许还是不允许，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屏蔽寄存器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8位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对应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8级中断屏蔽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哪一级中断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被屏蔽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哪位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就写“1”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，哪一级中断被允许，哪位就写“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”。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85000"/>
            </a:pP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）中断申请优先级分析器（PR）</a:t>
            </a:r>
            <a:endParaRPr lang="zh-CN" altLang="en-US" sz="20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5000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这是一个中断请求的判优电路。它把新来的中断请求优先级与ISR寄存器中记录在案的中断优先级进行比较，看谁的优先级最高，就让谁申请中断。其操作过程全部由硬件完成，故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该寄存器对用户是不可访问的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它不属于82C59A的编程模型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4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94550" y="6308725"/>
            <a:ext cx="109378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文本框 3"/>
          <p:cNvSpPr txBox="1"/>
          <p:nvPr/>
        </p:nvSpPr>
        <p:spPr>
          <a:xfrm>
            <a:off x="-323850" y="549275"/>
            <a:ext cx="8078788" cy="438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671830"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    2．82C59A的端口地址</a:t>
            </a:r>
            <a:endParaRPr lang="en-US" altLang="zh-CN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60418" name="文本框 4"/>
          <p:cNvSpPr txBox="1"/>
          <p:nvPr/>
        </p:nvSpPr>
        <p:spPr>
          <a:xfrm>
            <a:off x="468313" y="1196975"/>
            <a:ext cx="8588375" cy="2399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中断控制器82C59A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是系统资源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，其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端口地址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由系统分配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见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章表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3.1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两个端口地址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为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20H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21H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两个端口地址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为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0A0H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0A1H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个命令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具体使用哪个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端口地址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由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命令的标志位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A0指示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041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7178675" y="6308725"/>
            <a:ext cx="1109663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文本框 6"/>
          <p:cNvSpPr txBox="1"/>
          <p:nvPr/>
        </p:nvSpPr>
        <p:spPr>
          <a:xfrm>
            <a:off x="253365" y="836613"/>
            <a:ext cx="7342188" cy="452310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marL="67183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3．82C59A的命令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71830" marR="0" lvl="2" indent="0" algn="l" defTabSz="914400" rtl="0" eaLnBrk="1" fontAlgn="base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82C59A共有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7个编程命令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，分为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初始化命令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ICW1～ICW4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操作命令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OCW1～OCW3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两类。初始化命令ICW确定中断控制器的基本配置或工作方式，而操作命令OCW执行由ICW命令定义的基本操作。值得指出的是，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初始化命令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是在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用户自行另外设计中断系统时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才会用到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。如果是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利用系统已有的中断资源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来开发中断应用，就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不需要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进行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初始化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1022350" marR="0" lvl="2" indent="-35052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（1）初始化命令（ICW1～ICW4）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1022350" marR="0" lvl="2" indent="-350520" algn="l" defTabSz="914400" rtl="0" eaLnBrk="1" fontAlgn="base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4个初始化命令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用来对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82C59A的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工作方式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中断号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进行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1022350" marR="0" lvl="2" indent="-350520" algn="l" defTabSz="914400" rtl="0" eaLnBrk="1" fontAlgn="base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设置，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包括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中断触发方式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、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级联方式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、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排队方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及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结束方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1022350" marR="0" lvl="2" indent="-350520" algn="l" defTabSz="914400" rtl="0" eaLnBrk="1" fontAlgn="base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6144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42163" y="6308725"/>
            <a:ext cx="114617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3"/>
          <p:cNvSpPr>
            <a:spLocks noGrp="1"/>
          </p:cNvSpPr>
          <p:nvPr/>
        </p:nvSpPr>
        <p:spPr>
          <a:xfrm>
            <a:off x="466725" y="331788"/>
            <a:ext cx="8550275" cy="59864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ICW1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功能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：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设置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中断请求的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触发方式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、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是否多片使用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、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要不要写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ICW</a:t>
            </a:r>
            <a:r>
              <a:rPr kumimoji="0" lang="en-US" altLang="zh-CN" sz="2000" b="1" i="0" u="none" strike="noStrike" kern="1200" cap="none" spc="0" normalizeH="0" baseline="-2500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-2500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ICW1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的格式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如图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5.6(1)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所示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8675" name="Rectangle 28"/>
          <p:cNvSpPr/>
          <p:nvPr/>
        </p:nvSpPr>
        <p:spPr>
          <a:xfrm>
            <a:off x="684213" y="4437063"/>
            <a:ext cx="7045325" cy="1390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buSzPct val="85000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例如，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若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采用边沿触发，单片使用，需要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ICW4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SzPct val="85000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则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命令字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00010011B=13H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，其程序段为：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SzPct val="85000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 AL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00010011B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ICW1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SzPct val="85000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20H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AL             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；写入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端口（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A0=0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7" name="Line 21"/>
          <p:cNvSpPr/>
          <p:nvPr/>
        </p:nvSpPr>
        <p:spPr>
          <a:xfrm>
            <a:off x="8534400" y="2805113"/>
            <a:ext cx="0" cy="639762"/>
          </a:xfrm>
          <a:prstGeom prst="line">
            <a:avLst/>
          </a:prstGeom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62468" name="Group 36"/>
          <p:cNvGrpSpPr/>
          <p:nvPr/>
        </p:nvGrpSpPr>
        <p:grpSpPr>
          <a:xfrm>
            <a:off x="7467600" y="5257800"/>
            <a:ext cx="457200" cy="228600"/>
            <a:chOff x="0" y="0"/>
            <a:chExt cx="288" cy="144"/>
          </a:xfrm>
        </p:grpSpPr>
        <p:sp>
          <p:nvSpPr>
            <p:cNvPr id="62469" name="Line 40"/>
            <p:cNvSpPr/>
            <p:nvPr/>
          </p:nvSpPr>
          <p:spPr>
            <a:xfrm>
              <a:off x="0" y="144"/>
              <a:ext cx="144" cy="0"/>
            </a:xfrm>
            <a:prstGeom prst="line">
              <a:avLst/>
            </a:prstGeom>
            <a:ln w="9525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2470" name="Line 42"/>
            <p:cNvSpPr/>
            <p:nvPr/>
          </p:nvSpPr>
          <p:spPr>
            <a:xfrm>
              <a:off x="144" y="0"/>
              <a:ext cx="144" cy="0"/>
            </a:xfrm>
            <a:prstGeom prst="line">
              <a:avLst/>
            </a:prstGeom>
            <a:ln w="9525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2471" name="Line 43"/>
            <p:cNvSpPr/>
            <p:nvPr/>
          </p:nvSpPr>
          <p:spPr>
            <a:xfrm flipV="1">
              <a:off x="144" y="0"/>
              <a:ext cx="0" cy="144"/>
            </a:xfrm>
            <a:prstGeom prst="line">
              <a:avLst/>
            </a:prstGeom>
            <a:ln w="9525" cap="flat" cmpd="sng">
              <a:solidFill>
                <a:srgbClr val="FFFF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sp>
        <p:nvSpPr>
          <p:cNvPr id="62472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7048500" y="6308725"/>
            <a:ext cx="123983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6" t="-49" r="-15" b="76496"/>
          <a:stretch>
            <a:fillRect/>
          </a:stretch>
        </p:blipFill>
        <p:spPr>
          <a:xfrm>
            <a:off x="755641" y="1412231"/>
            <a:ext cx="7394575" cy="2324737"/>
          </a:xfrm>
          <a:prstGeom prst="round1Rect">
            <a:avLst/>
          </a:prstGeom>
          <a:noFill/>
          <a:ln w="9525">
            <a:noFill/>
            <a:miter/>
          </a:ln>
        </p:spPr>
      </p:pic>
      <p:sp>
        <p:nvSpPr>
          <p:cNvPr id="62474" name="文本框 2"/>
          <p:cNvSpPr txBox="1"/>
          <p:nvPr/>
        </p:nvSpPr>
        <p:spPr>
          <a:xfrm>
            <a:off x="3203575" y="3860800"/>
            <a:ext cx="3322638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5.6(1)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初始化命令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ICW1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格式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3"/>
          <p:cNvSpPr>
            <a:spLocks noGrp="1"/>
          </p:cNvSpPr>
          <p:nvPr/>
        </p:nvSpPr>
        <p:spPr>
          <a:xfrm>
            <a:off x="469900" y="263525"/>
            <a:ext cx="7089775" cy="19431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ea"/>
              <a:buAutoNum type="circleNumDbPlain" startAt="2"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ICW2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 typeface="+mj-ea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功能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：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设置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中断号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 typeface="+mj-ea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对连接到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主片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从片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上的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8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级中断源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中断号，高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分别为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08H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与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70H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(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见表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和表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5.4),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低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由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连接到主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/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从片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申请线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IRi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的编码确定，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与软件编程无关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。因此，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向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ICW2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写入中断号，只写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高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低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写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0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ICW2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命令的格式，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如图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5.6(2)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所示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+mj-ea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+mj-ea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+mj-ea"/>
              <a:buNone/>
              <a:defRPr/>
            </a:pP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0750" name="Rectangle 40"/>
          <p:cNvSpPr/>
          <p:nvPr/>
        </p:nvSpPr>
        <p:spPr>
          <a:xfrm>
            <a:off x="539750" y="4508500"/>
            <a:ext cx="7334250" cy="154622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pPr marL="342900" indent="-342900">
              <a:buSzPct val="85000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例如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，硬盘的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中断号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是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0DH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，其中，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高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由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ICW2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给出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，低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由硬件连线决定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SzPct val="85000"/>
            </a:pP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MOV  AL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08H               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中断号高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SzPct val="85000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     OUT 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21H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AL               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；写入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的端口（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SzPct val="85000"/>
            </a:pP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由于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硬盘中断请求线连接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IR5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，故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低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05H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，由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写入。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SzPct val="85000"/>
            </a:pP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SzPct val="8500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SzPct val="85000"/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SzPct val="85000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3491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231063" y="6310313"/>
            <a:ext cx="10588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63492" name="图片 1" descr="0506"/>
          <p:cNvPicPr>
            <a:picLocks noChangeAspect="1"/>
          </p:cNvPicPr>
          <p:nvPr/>
        </p:nvPicPr>
        <p:blipFill>
          <a:blip r:embed="rId1"/>
          <a:srcRect l="-3276" t="23808" r="-366" b="58553"/>
          <a:stretch>
            <a:fillRect/>
          </a:stretch>
        </p:blipFill>
        <p:spPr>
          <a:xfrm>
            <a:off x="1835150" y="2133600"/>
            <a:ext cx="4938713" cy="201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3" name="文本框 2"/>
          <p:cNvSpPr txBox="1"/>
          <p:nvPr/>
        </p:nvSpPr>
        <p:spPr>
          <a:xfrm>
            <a:off x="2628900" y="4005263"/>
            <a:ext cx="3368675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5.6(2)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初始化命令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ICW2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格式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0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4"/>
          <p:cNvSpPr>
            <a:spLocks noGrp="1"/>
          </p:cNvSpPr>
          <p:nvPr/>
        </p:nvSpPr>
        <p:spPr>
          <a:xfrm>
            <a:off x="612775" y="260350"/>
            <a:ext cx="7845425" cy="553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Tx/>
              <a:buFont typeface="+mj-ea"/>
              <a:buAutoNum type="circleNumDbPlain" startAt="3"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Tx/>
              <a:buFont typeface="+mj-ea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功能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：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设置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中断级联方式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主片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从片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分开设置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99000"/>
              <a:buFont typeface="+mj-ea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命令的格式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如图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5.6(3)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所示。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9000"/>
              <a:buFont typeface="+mj-ea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a.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主片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ICW3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64514" name="Rectangle 55"/>
          <p:cNvSpPr/>
          <p:nvPr/>
        </p:nvSpPr>
        <p:spPr>
          <a:xfrm>
            <a:off x="338138" y="4308475"/>
            <a:ext cx="8243887" cy="2874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4515" name="Rectangle 26"/>
          <p:cNvSpPr/>
          <p:nvPr/>
        </p:nvSpPr>
        <p:spPr>
          <a:xfrm>
            <a:off x="755650" y="3429000"/>
            <a:ext cx="1900238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b.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endParaRPr lang="en-US" altLang="zh-CN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4516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319963" y="6308725"/>
            <a:ext cx="9699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64517" name="图片 1" descr="0506"/>
          <p:cNvPicPr>
            <a:picLocks noChangeAspect="1"/>
          </p:cNvPicPr>
          <p:nvPr/>
        </p:nvPicPr>
        <p:blipFill>
          <a:blip r:embed="rId1"/>
          <a:srcRect l="-275" t="40179" r="-381" b="40363"/>
          <a:stretch>
            <a:fillRect/>
          </a:stretch>
        </p:blipFill>
        <p:spPr>
          <a:xfrm>
            <a:off x="1116013" y="1630045"/>
            <a:ext cx="6783387" cy="1863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8" name="图片 1" descr="0506"/>
          <p:cNvPicPr>
            <a:picLocks noChangeAspect="1"/>
          </p:cNvPicPr>
          <p:nvPr/>
        </p:nvPicPr>
        <p:blipFill>
          <a:blip r:embed="rId1"/>
          <a:srcRect l="244" t="59332" r="1387" b="22455"/>
          <a:stretch>
            <a:fillRect/>
          </a:stretch>
        </p:blipFill>
        <p:spPr>
          <a:xfrm>
            <a:off x="1116013" y="3788093"/>
            <a:ext cx="6873875" cy="1858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9" name="文本框 1"/>
          <p:cNvSpPr txBox="1"/>
          <p:nvPr/>
        </p:nvSpPr>
        <p:spPr>
          <a:xfrm>
            <a:off x="2771775" y="5734050"/>
            <a:ext cx="3527425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5.6(3)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初始化命令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ICW3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格式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4"/>
          <p:cNvSpPr/>
          <p:nvPr/>
        </p:nvSpPr>
        <p:spPr>
          <a:xfrm>
            <a:off x="330200" y="333375"/>
            <a:ext cx="8185150" cy="574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ICW3命令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只有系统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存在2片以上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中断控制器芯片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时才启用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否则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不用ICW3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命令。分主片和从片，分开设置。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●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对主片： 主片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IRi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哪一个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输入引脚上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有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从片连接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，主片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相应位写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若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无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则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写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例如，若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IR4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上有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从片连接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，则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00010000B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10H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初始化主片的ICW3程序段如下。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 AL,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10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		;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主片ICW3命令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21H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,AL     		;写入主ICW3的端口(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 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●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对从片： 从片的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中断请求线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INT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连到了主片哪一个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IRi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上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，则将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IRi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编号代码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写入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例如，若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从片A的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INT连接到主片的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IR4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上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，则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从片的ICW3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000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00B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04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初始化从片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的ICW3程序段如下。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MOV  AL,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04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		;从片ICW3命令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0A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,AL     		;写入从ICW3的端口(A0 =1)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553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015163" y="6308725"/>
            <a:ext cx="12747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3"/>
          <p:cNvSpPr>
            <a:spLocks noGrp="1"/>
          </p:cNvSpPr>
          <p:nvPr/>
        </p:nvSpPr>
        <p:spPr>
          <a:xfrm>
            <a:off x="312738" y="476250"/>
            <a:ext cx="8455025" cy="5635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又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如，假设主片的IR3和IR6两个输入端分别连接了从片A与B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的INT，故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主片的ICW3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01001000B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48H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片A的ICW3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00000011B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03H</a:t>
            </a:r>
            <a:endParaRPr lang="en-US" altLang="zh-CN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从片B的ICW3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00000110B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06H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初始化主片的ICW3程序段如下。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MOV  AL,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48H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;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OUT 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21H,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AL     		;写入ICW3(主)的端口(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 =1)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初始化从片A的ICW3程序段如下。  </a:t>
            </a:r>
            <a:endParaRPr lang="en-US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 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,03H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	;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从片A的ICW3命令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 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0A1H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,AL        	;写入从片A的CW3端口(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A0=1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en-US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初始化从片B的ICW3程序段如下。</a:t>
            </a:r>
            <a:endParaRPr lang="en-US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 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06H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	  ;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从片B的ICW3的命令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	    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</a:t>
            </a:r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0A1H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,AL        	  ;写入从片B的ICW3 端口(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A0=1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en-US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宋体" panose="02010600030101010101" pitchFamily="2" charset="-122"/>
              <a:buAutoNum type="circleNumDbPlain" startAt="4"/>
            </a:pPr>
            <a:endParaRPr lang="en-US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+mj-ea"/>
              <a:buNone/>
            </a:pPr>
            <a:endParaRPr lang="en-US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656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356475" y="6308725"/>
            <a:ext cx="931863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35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charRg st="35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69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2">
                                            <p:txEl>
                                              <p:charRg st="69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114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2">
                                            <p:txEl>
                                              <p:charRg st="114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159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2">
                                            <p:txEl>
                                              <p:charRg st="159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182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2">
                                            <p:txEl>
                                              <p:charRg st="182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233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2">
                                            <p:txEl>
                                              <p:charRg st="233" end="2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284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2">
                                            <p:txEl>
                                              <p:charRg st="284" end="3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310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842">
                                            <p:txEl>
                                              <p:charRg st="310" end="3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348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842">
                                            <p:txEl>
                                              <p:charRg st="348" end="3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393" end="4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842">
                                            <p:txEl>
                                              <p:charRg st="393" end="4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417" end="4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842">
                                            <p:txEl>
                                              <p:charRg st="417" end="4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charRg st="458" end="5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842">
                                            <p:txEl>
                                              <p:charRg st="458" end="5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灯片编号占位符 27"/>
          <p:cNvSpPr>
            <a:spLocks noGrp="1"/>
          </p:cNvSpPr>
          <p:nvPr>
            <p:ph type="sldNum" sz="quarter" idx="4"/>
          </p:nvPr>
        </p:nvSpPr>
        <p:spPr>
          <a:xfrm>
            <a:off x="7246938" y="6308725"/>
            <a:ext cx="10414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404813"/>
            <a:ext cx="7613650" cy="6486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marR="0" indent="-457200" defTabSz="914400">
              <a:spcBef>
                <a:spcPts val="0"/>
              </a:spcBef>
              <a:buClr>
                <a:srgbClr val="000000"/>
              </a:buClr>
              <a:buSzTx/>
              <a:buFont typeface="+mj-ea"/>
              <a:buAutoNum type="circleNumDbPlain" startAt="4"/>
              <a:defRPr/>
            </a:pPr>
            <a:r>
              <a:rPr kumimoji="0" lang="en-US" altLang="zh-CN" sz="2000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ICW4</a:t>
            </a:r>
            <a:r>
              <a:rPr kumimoji="0" lang="zh-CN" altLang="en-US" sz="2000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 </a:t>
            </a:r>
            <a:endParaRPr kumimoji="0" lang="zh-CN" altLang="en-US" sz="2000" b="1" kern="1200" cap="none" spc="0" normalizeH="0" baseline="0" noProof="1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R="0" defTabSz="914400">
              <a:spcBef>
                <a:spcPts val="0"/>
              </a:spcBef>
              <a:buClr>
                <a:srgbClr val="000000"/>
              </a:buClr>
              <a:buSzTx/>
              <a:buFont typeface="+mj-ea"/>
              <a:defRPr/>
            </a:pPr>
            <a:r>
              <a:rPr kumimoji="0" lang="zh-CN" altLang="en-US" sz="2000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</a:t>
            </a:r>
            <a:r>
              <a:rPr kumimoji="0" lang="zh-CN" altLang="en-US" sz="2000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功能：设置</a:t>
            </a:r>
            <a:r>
              <a:rPr kumimoji="0" lang="zh-CN" altLang="en-US" sz="2000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优先级排队</a:t>
            </a:r>
            <a:r>
              <a:rPr kumimoji="0" lang="zh-CN" altLang="en-US" sz="2000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</a:t>
            </a:r>
            <a:r>
              <a:rPr kumimoji="0" lang="zh-CN" altLang="en-US" sz="2000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中断结束方式</a:t>
            </a:r>
            <a:endParaRPr kumimoji="0" lang="zh-CN" altLang="en-US" sz="2000" b="1" kern="1200" cap="none" spc="0" normalizeH="0" baseline="0" noProof="1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R="0" defTabSz="914400">
              <a:spcBef>
                <a:spcPts val="0"/>
              </a:spcBef>
              <a:buClr>
                <a:srgbClr val="000000"/>
              </a:buClr>
              <a:buSzTx/>
              <a:buFont typeface="+mj-ea"/>
              <a:defRPr/>
            </a:pPr>
            <a:r>
              <a:rPr kumimoji="0" lang="en-US" altLang="zh-CN" sz="2000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2000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ICW4</a:t>
            </a:r>
            <a:r>
              <a:rPr kumimoji="0" lang="zh-CN" altLang="en-US" sz="2000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的格式</a:t>
            </a:r>
            <a:r>
              <a:rPr kumimoji="0" lang="zh-CN" altLang="en-US" sz="2000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如图</a:t>
            </a:r>
            <a:r>
              <a:rPr kumimoji="0" lang="en-US" altLang="zh-CN" sz="2000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5.6(4)</a:t>
            </a:r>
            <a:r>
              <a:rPr kumimoji="0" lang="zh-CN" altLang="en-US" sz="2000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所示</a:t>
            </a:r>
            <a:r>
              <a:rPr kumimoji="0" lang="zh-CN" altLang="en-US" sz="2000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2000" b="1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kumimoji="0" lang="zh-CN" altLang="en-US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例如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，若CPU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为16位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，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非自动结束方式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，82C59A与系统总线之间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采用缓冲器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连接，只用1片8259A，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正常完全嵌套，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其初始化命令字 </a:t>
            </a:r>
            <a:endParaRPr kumimoji="0" lang="zh-CN" altLang="en-US" b="1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     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ICW4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=</a:t>
            </a:r>
            <a:r>
              <a:rPr kumimoji="0" lang="zh-CN" altLang="en-US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00001101B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=</a:t>
            </a:r>
            <a:r>
              <a:rPr kumimoji="0" lang="zh-CN" altLang="en-US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0DH</a:t>
            </a:r>
            <a:endParaRPr kumimoji="0" lang="zh-CN" altLang="en-US" b="1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初始化ICW4的程序段如下。</a:t>
            </a:r>
            <a:endParaRPr kumimoji="0" lang="zh-CN" altLang="en-US" b="1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MOV AL,</a:t>
            </a:r>
            <a:r>
              <a:rPr kumimoji="0" lang="zh-CN" altLang="en-US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0DH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  	     ;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ICW4命令</a:t>
            </a:r>
            <a:endParaRPr kumimoji="0" lang="zh-CN" altLang="en-US" b="1" kern="1200" cap="none" spc="0" normalizeH="0" baseline="0" noProof="1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OUT </a:t>
            </a:r>
            <a:r>
              <a:rPr kumimoji="0" lang="zh-CN" altLang="en-US" b="1" kern="1200" cap="none" spc="0" normalizeH="0" baseline="0" noProof="1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21H,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AL         	     ;写入ICW4的端口(</a:t>
            </a:r>
            <a:r>
              <a:rPr kumimoji="0" lang="zh-CN" altLang="en-US" b="1" kern="1200" cap="none" spc="0" normalizeH="0" baseline="0" noProof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A0=1</a:t>
            </a:r>
            <a:r>
              <a:rPr kumimoji="0" lang="zh-CN" altLang="en-US" b="1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)</a:t>
            </a:r>
            <a:endParaRPr kumimoji="0" lang="zh-CN" altLang="en-US" b="1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b="1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Tx/>
              <a:buFont typeface="+mj-ea"/>
              <a:defRPr/>
            </a:pPr>
            <a:endParaRPr kumimoji="0" lang="zh-CN" altLang="en-US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7587" name="图片 1" descr="0506"/>
          <p:cNvPicPr>
            <a:picLocks noChangeAspect="1"/>
          </p:cNvPicPr>
          <p:nvPr/>
        </p:nvPicPr>
        <p:blipFill>
          <a:blip r:embed="rId1"/>
          <a:srcRect l="-275" t="77776" r="-1250" b="-134"/>
          <a:stretch>
            <a:fillRect/>
          </a:stretch>
        </p:blipFill>
        <p:spPr>
          <a:xfrm>
            <a:off x="682625" y="1484313"/>
            <a:ext cx="7559675" cy="208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8" name="文本框 3"/>
          <p:cNvSpPr txBox="1"/>
          <p:nvPr/>
        </p:nvSpPr>
        <p:spPr>
          <a:xfrm>
            <a:off x="2627313" y="3644900"/>
            <a:ext cx="2968625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图5.6(4) 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格式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/>
          <p:nvPr/>
        </p:nvSpPr>
        <p:spPr>
          <a:xfrm>
            <a:off x="685800" y="830263"/>
            <a:ext cx="7772400" cy="701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buClr>
                <a:schemeClr val="accent1"/>
              </a:buClr>
              <a:buFont typeface="Wingdings" panose="05000000000000000000" pitchFamily="2" charset="2"/>
            </a:pPr>
            <a:endParaRPr lang="zh-CN" altLang="zh-CN" sz="4000" b="1" dirty="0">
              <a:solidFill>
                <a:schemeClr val="tx2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0" name="Rectangle 7"/>
          <p:cNvSpPr/>
          <p:nvPr/>
        </p:nvSpPr>
        <p:spPr>
          <a:xfrm>
            <a:off x="396875" y="169863"/>
            <a:ext cx="8442325" cy="6019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（2）操作命令（OCW1～OCW3）</a:t>
            </a:r>
            <a:endParaRPr lang="zh-CN" altLang="en-US" sz="20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3个操作命令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是对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82C59A经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初始化所设置的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中断屏蔽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中断排队方式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进行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实际操作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OCW3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很少使用。 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① OCW1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功能：执行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常规的中断屏蔽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开放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操作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OCW1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命令的格式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如图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5.7(1)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所示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8611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086600" y="6308725"/>
            <a:ext cx="120332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68612" name="图片 1" descr="0507"/>
          <p:cNvPicPr>
            <a:picLocks noChangeAspect="1"/>
          </p:cNvPicPr>
          <p:nvPr/>
        </p:nvPicPr>
        <p:blipFill>
          <a:blip r:embed="rId1"/>
          <a:srcRect r="-195" b="50037"/>
          <a:stretch>
            <a:fillRect/>
          </a:stretch>
        </p:blipFill>
        <p:spPr>
          <a:xfrm>
            <a:off x="755650" y="2132013"/>
            <a:ext cx="6507163" cy="1614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3" name="文本框 1"/>
          <p:cNvSpPr txBox="1"/>
          <p:nvPr/>
        </p:nvSpPr>
        <p:spPr>
          <a:xfrm>
            <a:off x="2987675" y="3789363"/>
            <a:ext cx="3536950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5.7(1)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操作命令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OCW1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格式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4" name="文本框 3"/>
          <p:cNvSpPr txBox="1"/>
          <p:nvPr/>
        </p:nvSpPr>
        <p:spPr>
          <a:xfrm>
            <a:off x="828675" y="4221163"/>
            <a:ext cx="7129463" cy="1614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例如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若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要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使中断源IR3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开放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，其余被屏蔽，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则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OCW1=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11110111B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F7H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  屏蔽程序段为：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     MOV AL，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0F7H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；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OCW1命令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     OUT 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21H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，AL             ；21H为OCW1的端口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A0=1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矩形 1"/>
          <p:cNvSpPr/>
          <p:nvPr/>
        </p:nvSpPr>
        <p:spPr>
          <a:xfrm>
            <a:off x="611188" y="331788"/>
            <a:ext cx="8026400" cy="1979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② OCW2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命令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功能：执行</a:t>
            </a: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中断结束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操作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优先级排队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操作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OCW2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格式如图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5.7(2)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所示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9634" name="文本框 2"/>
          <p:cNvSpPr txBox="1"/>
          <p:nvPr/>
        </p:nvSpPr>
        <p:spPr>
          <a:xfrm>
            <a:off x="1044575" y="4437063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OCW2中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R、SL、EOI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组合功能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如表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6654800" y="6308725"/>
            <a:ext cx="163512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69636" name="图片 1" descr="0507"/>
          <p:cNvPicPr>
            <a:picLocks noChangeAspect="1"/>
          </p:cNvPicPr>
          <p:nvPr/>
        </p:nvPicPr>
        <p:blipFill>
          <a:blip r:embed="rId1"/>
          <a:srcRect l="-351" t="49306" r="-877" b="23923"/>
          <a:stretch>
            <a:fillRect/>
          </a:stretch>
        </p:blipFill>
        <p:spPr>
          <a:xfrm>
            <a:off x="1187450" y="2349500"/>
            <a:ext cx="6664325" cy="941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7" name="文本框 1"/>
          <p:cNvSpPr txBox="1"/>
          <p:nvPr/>
        </p:nvSpPr>
        <p:spPr>
          <a:xfrm>
            <a:off x="3267075" y="3581400"/>
            <a:ext cx="327025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5.7(2)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操作命令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OCW2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格式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94550" y="6308725"/>
            <a:ext cx="109378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graphicFrame>
        <p:nvGraphicFramePr>
          <p:cNvPr id="2" name="表格 -1"/>
          <p:cNvGraphicFramePr/>
          <p:nvPr>
            <p:custDataLst>
              <p:tags r:id="rId1"/>
            </p:custDataLst>
          </p:nvPr>
        </p:nvGraphicFramePr>
        <p:xfrm>
          <a:off x="1187450" y="1412875"/>
          <a:ext cx="6282690" cy="4452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245"/>
                <a:gridCol w="433705"/>
                <a:gridCol w="490220"/>
                <a:gridCol w="4922520"/>
              </a:tblGrid>
              <a:tr h="393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R</a:t>
                      </a:r>
                      <a:endParaRPr lang="en-US" altLang="zh-CN" sz="1600" b="1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SL</a:t>
                      </a:r>
                      <a:endParaRPr lang="en-US" altLang="zh-CN" sz="1600" b="1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endParaRPr lang="en-US" altLang="zh-CN" sz="1600" b="1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功能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不指定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命令，全嵌套方式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命令，全嵌套方式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15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指定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命令，全嵌套方式，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命令，全嵌套方式，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</a:t>
                      </a:r>
                      <a:r>
                        <a:rPr lang="en-US" altLang="zh-CN" sz="16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2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</a:t>
                      </a:r>
                      <a:r>
                        <a:rPr lang="en-US" altLang="zh-CN" sz="16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指定对应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ISR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位清零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ISR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位清零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不指定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命令，优先级自动循环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命令，优先级自动循环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02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指定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命令，优先级特殊循环，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命令，优先级特殊循环，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</a:t>
                      </a:r>
                      <a:r>
                        <a:rPr lang="en-US" altLang="zh-CN" sz="16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2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</a:t>
                      </a:r>
                      <a:r>
                        <a:rPr lang="en-US" altLang="zh-CN" sz="16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指定最低优先级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自动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，优先级自动循环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，优先级自动循环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自动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，取消优先级自动循环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EOI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，取消优先级自动循环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优先级特殊循环，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LL</a:t>
                      </a:r>
                      <a:r>
                        <a:rPr lang="en-US" altLang="zh-CN" sz="16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2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L</a:t>
                      </a:r>
                      <a:r>
                        <a:rPr lang="en-US" altLang="zh-CN" sz="16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指定最低优先级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endParaRPr lang="en-US" altLang="zh-CN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无操作</a:t>
                      </a:r>
                      <a:endParaRPr lang="zh-CN" altLang="en-US" sz="16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6" marR="68576" marT="19681" marB="1968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710" name="文本框 1"/>
          <p:cNvSpPr txBox="1"/>
          <p:nvPr/>
        </p:nvSpPr>
        <p:spPr>
          <a:xfrm>
            <a:off x="1260475" y="908685"/>
            <a:ext cx="46831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表5.2	OCW2中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R、SL、EOI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的组合功能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/>
          <p:nvPr/>
        </p:nvSpPr>
        <p:spPr>
          <a:xfrm>
            <a:off x="395288" y="260350"/>
            <a:ext cx="8153400" cy="6629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OCW2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具体操作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执行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中断结束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操作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endParaRPr lang="zh-CN" altLang="en-US" sz="20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当在初始化命令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选用非自动结束方式时，利用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OCW2</a:t>
            </a:r>
            <a:endParaRPr lang="en-US" altLang="zh-CN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来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控制中断结束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。又分为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不指定中断结束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指定中断结束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两种情况。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●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对不指定结束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OCW2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格式中的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EOI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D5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发结束命令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     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SL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D6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=0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不指定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中断结束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     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L2~L0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D0~D2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=000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 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编码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为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endParaRPr lang="en-US" altLang="zh-CN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所以，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OCW2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00100000B</a:t>
            </a:r>
            <a:endParaRPr lang="en-US" altLang="zh-CN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●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对指定结束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OCW2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格式中的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EOI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D5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发结束命令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SL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D6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指定中断结束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L2~L0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D0~D2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编码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是被指定的中断级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例如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，若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指定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IR5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中断结束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，则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OCW2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01100101B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65H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168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283450" y="6308725"/>
            <a:ext cx="100488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1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2">
                                            <p:txEl>
                                              <p:charRg st="11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23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2">
                                            <p:txEl>
                                              <p:charRg st="23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58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2">
                                            <p:txEl>
                                              <p:charRg st="58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8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2">
                                            <p:txEl>
                                              <p:charRg st="89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128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082">
                                            <p:txEl>
                                              <p:charRg st="128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207" end="2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82">
                                            <p:txEl>
                                              <p:charRg st="207" end="2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289" end="3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082">
                                            <p:txEl>
                                              <p:charRg st="289" end="3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321" end="3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082">
                                            <p:txEl>
                                              <p:charRg st="321" end="3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358" end="4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6082">
                                            <p:txEl>
                                              <p:charRg st="358" end="4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427" end="5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6082">
                                            <p:txEl>
                                              <p:charRg st="427" end="5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500" end="5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6082">
                                            <p:txEl>
                                              <p:charRg st="500" end="5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/>
          <p:nvPr/>
        </p:nvSpPr>
        <p:spPr>
          <a:xfrm>
            <a:off x="393700" y="741363"/>
            <a:ext cx="45259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执行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中断优先级排队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操作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2706" name="Rectangle 3"/>
          <p:cNvSpPr/>
          <p:nvPr/>
        </p:nvSpPr>
        <p:spPr>
          <a:xfrm>
            <a:off x="304800" y="1831975"/>
            <a:ext cx="1298575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marL="342900" indent="-342900" algn="ctr"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=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2707" name="Rectangle 5"/>
          <p:cNvSpPr/>
          <p:nvPr/>
        </p:nvSpPr>
        <p:spPr>
          <a:xfrm>
            <a:off x="1762760" y="1268730"/>
            <a:ext cx="332041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marL="342900" indent="-342900" algn="l"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轮换优先权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SL=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2708" name="Rectangle 6"/>
          <p:cNvSpPr/>
          <p:nvPr/>
        </p:nvSpPr>
        <p:spPr>
          <a:xfrm>
            <a:off x="1692275" y="2492375"/>
            <a:ext cx="4605338" cy="4365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marL="342900" indent="-342900" algn="ctr"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固定优先权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，即正常完全嵌套方式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2709" name="Rectangle 7"/>
          <p:cNvSpPr/>
          <p:nvPr/>
        </p:nvSpPr>
        <p:spPr>
          <a:xfrm>
            <a:off x="4645660" y="908050"/>
            <a:ext cx="2698750" cy="4143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marL="342900" indent="-342900" algn="ctr"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：优先权指定轮换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2710" name="Rectangle 8"/>
          <p:cNvSpPr/>
          <p:nvPr/>
        </p:nvSpPr>
        <p:spPr>
          <a:xfrm>
            <a:off x="4718685" y="1700213"/>
            <a:ext cx="1965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marL="342900" indent="-342900" algn="ctr"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：自动轮换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6330" name="Rectangle 56"/>
          <p:cNvSpPr/>
          <p:nvPr/>
        </p:nvSpPr>
        <p:spPr>
          <a:xfrm>
            <a:off x="611505" y="3430905"/>
            <a:ext cx="6627813" cy="147637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+mj-ea"/>
              <a:buAutoNum type="circleNumDbPlain" startAt="3"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OCW3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命令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+mj-ea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功能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：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执行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特定的中断屏蔽/开放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操作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OCW3在实际中很少使用，不做介绍，可参考文献[21]。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271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75500" y="6308725"/>
            <a:ext cx="111283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4718685" y="1052513"/>
            <a:ext cx="265113" cy="914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2714" name="AutoShape 4"/>
          <p:cNvSpPr/>
          <p:nvPr/>
        </p:nvSpPr>
        <p:spPr>
          <a:xfrm>
            <a:off x="1619250" y="1484313"/>
            <a:ext cx="228600" cy="1219200"/>
          </a:xfrm>
          <a:prstGeom prst="leftBrace">
            <a:avLst>
              <a:gd name="adj1" fmla="val 44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>
                <a:schemeClr val="accent1"/>
              </a:buClr>
              <a:buFont typeface="Wingdings" panose="05000000000000000000" pitchFamily="2" charset="2"/>
            </a:pPr>
            <a:endParaRPr lang="zh-CN" altLang="zh-CN" sz="2000" b="1" dirty="0">
              <a:solidFill>
                <a:srgbClr val="0000E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文本框 1"/>
          <p:cNvSpPr txBox="1"/>
          <p:nvPr/>
        </p:nvSpPr>
        <p:spPr>
          <a:xfrm>
            <a:off x="323850" y="692785"/>
            <a:ext cx="7998460" cy="518731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marL="3448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5.7.4 中断控制器对CPU处理中断的支持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1.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接受外部设备的中断请求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经过优先权判决并找到哪一个中断源的中断请求级别最高，然后，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再向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CPU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提出中断申请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INT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2.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优先级排队管理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根据任务轻重缓急或设备的特殊要求，分配中断源的优先级并排队。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3.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提供中断类型号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为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CPU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提供中断号，以便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CPU</a:t>
            </a:r>
            <a:r>
              <a:rPr lang="zh-CN" altLang="en-US" sz="2000" b="1">
                <a:ln>
                  <a:noFill/>
                </a:ln>
                <a:effectLst/>
                <a:uLnTx/>
                <a:uFillTx/>
                <a:cs typeface="+mn-ea"/>
                <a:sym typeface="宋体" panose="02010600030101010101" pitchFamily="2" charset="-122"/>
              </a:rPr>
              <a:t>实现程序的转移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4.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实现中断请求的屏蔽和开放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1" indent="-32512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5.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执行中断结束命令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7373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58038" y="6308725"/>
            <a:ext cx="11303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3"/>
          <p:cNvSpPr>
            <a:spLocks noGrp="1"/>
          </p:cNvSpPr>
          <p:nvPr/>
        </p:nvSpPr>
        <p:spPr>
          <a:xfrm>
            <a:off x="390525" y="404813"/>
            <a:ext cx="8359775" cy="566578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5.8 可屏蔽中断的体系结构及初始化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1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5.8.1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可屏蔽中断的体系结构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	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可屏蔽中断体系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由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主/从两片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82C59A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中断控制器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进行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级联组成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可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支持15级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可屏蔽中断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处理，如图5.8所示。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54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92963" y="6308725"/>
            <a:ext cx="109537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74755" name="图片 54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2133600"/>
            <a:ext cx="6737350" cy="3817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283450" y="6308725"/>
            <a:ext cx="1004888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75778" name="文本框 1"/>
          <p:cNvSpPr txBox="1"/>
          <p:nvPr/>
        </p:nvSpPr>
        <p:spPr>
          <a:xfrm>
            <a:off x="611188" y="333375"/>
            <a:ext cx="6415087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15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zh-CN" altLang="en-US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可屏蔽中断的中断号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分配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如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5.3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5.4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所示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-1"/>
          <p:cNvGraphicFramePr/>
          <p:nvPr>
            <p:custDataLst>
              <p:tags r:id="rId1"/>
            </p:custDataLst>
          </p:nvPr>
        </p:nvGraphicFramePr>
        <p:xfrm>
          <a:off x="971550" y="1054100"/>
          <a:ext cx="6553200" cy="2276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5760"/>
                <a:gridCol w="1637665"/>
                <a:gridCol w="1639570"/>
                <a:gridCol w="1640205"/>
              </a:tblGrid>
              <a:tr h="226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中断源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中断号高</a:t>
                      </a:r>
                      <a:r>
                        <a:rPr lang="en-US" altLang="zh-CN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5</a:t>
                      </a:r>
                      <a:r>
                        <a:rPr lang="zh-CN" altLang="en-US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r>
                        <a:rPr lang="en-US" altLang="zh-CN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5</a:t>
                      </a:r>
                      <a:r>
                        <a:rPr lang="zh-CN" altLang="en-US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endParaRPr lang="zh-CN" altLang="en-US" sz="1200" b="1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低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3</a:t>
                      </a: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3</a:t>
                      </a: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中断号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日时钟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(0)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键盘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(1)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09H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保留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2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(2)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0AH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通信（二）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3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(3)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0BH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通信（一）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4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(4)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0CH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硬盘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5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(5)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0DH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软盘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6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(6)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0EH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打印机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08H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(7)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0FH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80" marR="68580" marT="15875" marB="15875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971550" y="3789363"/>
          <a:ext cx="6521450" cy="2254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3061"/>
                <a:gridCol w="1629886"/>
                <a:gridCol w="1629886"/>
                <a:gridCol w="1628616"/>
              </a:tblGrid>
              <a:tr h="224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中断源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中断号高</a:t>
                      </a:r>
                      <a:r>
                        <a:rPr lang="en-US" altLang="zh-CN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5</a:t>
                      </a:r>
                      <a:r>
                        <a:rPr lang="zh-CN" altLang="en-US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r>
                        <a:rPr lang="en-US" altLang="zh-CN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5</a:t>
                      </a:r>
                      <a:r>
                        <a:rPr lang="zh-CN" altLang="en-US" sz="1200" b="1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endParaRPr lang="zh-CN" altLang="en-US" sz="1200" b="1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低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3</a:t>
                      </a: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3</a:t>
                      </a: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位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中断号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实时钟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0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(0)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改向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INTOAINTOA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1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(1)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71H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2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保留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2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(2)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72H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保留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3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(3)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73H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2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保留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4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(4)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74H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协处理器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5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(5)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75H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硬盘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6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(6)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76H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保留</a:t>
                      </a:r>
                      <a:endParaRPr lang="zh-CN" altLang="en-US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70H</a:t>
                      </a:r>
                      <a:endParaRPr lang="en-US" altLang="zh-CN" sz="1200" b="0" u="none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IR</a:t>
                      </a:r>
                      <a:r>
                        <a:rPr lang="en-US" altLang="zh-CN" sz="1200" b="0" u="none" baseline="-25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</a:t>
                      </a: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(7)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方正书宋简体" panose="02000000000000000000" charset="-122"/>
                        </a:rPr>
                        <a:t>77H</a:t>
                      </a:r>
                      <a:endParaRPr lang="en-US" altLang="zh-CN" sz="12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方正书宋简体" panose="02000000000000000000" charset="-122"/>
                      </a:endParaRPr>
                    </a:p>
                  </a:txBody>
                  <a:tcPr marL="68573" marR="68573" marT="15871" marB="15871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883" name="文本框 3"/>
          <p:cNvSpPr txBox="1"/>
          <p:nvPr/>
        </p:nvSpPr>
        <p:spPr>
          <a:xfrm>
            <a:off x="1123950" y="3497263"/>
            <a:ext cx="419735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表5.4	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从片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82C59A8级硬中断源的中断号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84" name="文本框 4"/>
          <p:cNvSpPr txBox="1"/>
          <p:nvPr/>
        </p:nvSpPr>
        <p:spPr>
          <a:xfrm>
            <a:off x="1260475" y="765175"/>
            <a:ext cx="4237038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表5.3	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主片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82C59A8级硬中断源的中断号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灯片编号占位符 5"/>
          <p:cNvSpPr txBox="1">
            <a:spLocks noGrp="1"/>
          </p:cNvSpPr>
          <p:nvPr/>
        </p:nvSpPr>
        <p:spPr>
          <a:xfrm>
            <a:off x="7596188" y="6308725"/>
            <a:ext cx="692150" cy="3333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endParaRPr lang="en-US" altLang="zh-CN" sz="2400" dirty="0"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76802" name="Rectangle 3"/>
          <p:cNvSpPr>
            <a:spLocks noGrp="1"/>
          </p:cNvSpPr>
          <p:nvPr>
            <p:ph type="body" idx="4294967295"/>
          </p:nvPr>
        </p:nvSpPr>
        <p:spPr>
          <a:xfrm>
            <a:off x="396875" y="260350"/>
            <a:ext cx="8353425" cy="5905500"/>
          </a:xfrm>
          <a:solidFill>
            <a:srgbClr val="FFFFFF"/>
          </a:solidFill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endParaRPr lang="en-US" altLang="zh-CN" sz="100" dirty="0">
              <a:solidFill>
                <a:schemeClr val="tx1"/>
              </a:solidFill>
            </a:endParaRPr>
          </a:p>
          <a:p>
            <a:pPr marL="344805" lvl="1" indent="0" eaLnBrk="1" hangingPunct="1">
              <a:buClr>
                <a:srgbClr val="3B812F"/>
              </a:buClr>
              <a:buNone/>
            </a:pPr>
            <a:r>
              <a:rPr lang="zh-CN" altLang="en-US" sz="2800" dirty="0">
                <a:sym typeface="Arial" panose="020B0604020202020204" pitchFamily="34" charset="0"/>
              </a:rPr>
              <a:t>5.8.2  可屏蔽中断的初始化设置</a:t>
            </a:r>
            <a:endParaRPr lang="zh-CN" altLang="en-US" sz="2800" dirty="0">
              <a:sym typeface="Arial" panose="020B0604020202020204" pitchFamily="34" charset="0"/>
            </a:endParaRPr>
          </a:p>
          <a:p>
            <a:pPr marL="1143000" lvl="2" indent="-471170" eaLnBrk="1" hangingPunct="1">
              <a:buNone/>
            </a:pPr>
            <a:r>
              <a:rPr lang="en-US" altLang="zh-CN" sz="2400" dirty="0">
                <a:sym typeface="宋体" panose="02010600030101010101" pitchFamily="2" charset="-122"/>
              </a:rPr>
              <a:t>1．初始化设置的内容</a:t>
            </a:r>
            <a:endParaRPr lang="en-US" altLang="zh-CN" sz="2400" dirty="0">
              <a:sym typeface="宋体" panose="02010600030101010101" pitchFamily="2" charset="-122"/>
            </a:endParaRPr>
          </a:p>
          <a:p>
            <a:pPr marL="1143000" lvl="2" indent="-471170" eaLnBrk="1" hangingPunct="1">
              <a:buNone/>
            </a:pPr>
            <a:r>
              <a:rPr lang="zh-CN" altLang="en-US" sz="2000" b="0" dirty="0">
                <a:solidFill>
                  <a:schemeClr val="tx1"/>
                </a:solidFill>
                <a:sym typeface="宋体" panose="02010600030101010101" pitchFamily="2" charset="-122"/>
              </a:rPr>
              <a:t>     </a:t>
            </a:r>
            <a:r>
              <a:rPr lang="en-US" altLang="zh-CN" sz="2000" b="0" dirty="0">
                <a:solidFill>
                  <a:srgbClr val="C00000"/>
                </a:solidFill>
                <a:sym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1）中断触发方式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采用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边沿触发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，上跳变有效。</a:t>
            </a:r>
            <a:endParaRPr lang="en-US" altLang="zh-CN" sz="20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1600200" lvl="3" indent="-575945" eaLnBrk="1" hangingPunct="1">
              <a:buNone/>
            </a:pPr>
            <a:r>
              <a:rPr lang="en-US" altLang="zh-CN" sz="2000" b="0" dirty="0">
                <a:solidFill>
                  <a:srgbClr val="C00000"/>
                </a:solidFill>
                <a:sym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2）中断屏蔽方式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采用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常规屏蔽方式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，即使用OCW1向IMR写入屏蔽码。</a:t>
            </a:r>
            <a:endParaRPr lang="en-US" altLang="zh-CN" sz="20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1600200" lvl="3" indent="-575945" eaLnBrk="1" hangingPunct="1">
              <a:buNone/>
            </a:pP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（3）中断优先级排队方式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采用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固定优先级的完全嵌套方式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。</a:t>
            </a:r>
            <a:endParaRPr lang="en-US" altLang="zh-CN" sz="20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1600200" lvl="3" indent="-575945" eaLnBrk="1" hangingPunct="1">
              <a:buNone/>
            </a:pP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（4）中断结束方式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采用非自动结束方式中的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不指定</a:t>
            </a:r>
            <a:r>
              <a:rPr lang="zh-CN" altLang="en-US" sz="2000" dirty="0">
                <a:solidFill>
                  <a:srgbClr val="00B050"/>
                </a:solidFill>
                <a:sym typeface="宋体" panose="02010600030101010101" pitchFamily="2" charset="-122"/>
              </a:rPr>
              <a:t>结束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指定</a:t>
            </a:r>
            <a:r>
              <a:rPr lang="zh-CN" altLang="en-US" sz="2000" dirty="0">
                <a:solidFill>
                  <a:srgbClr val="00B050"/>
                </a:solidFill>
                <a:sym typeface="宋体" panose="02010600030101010101" pitchFamily="2" charset="-122"/>
              </a:rPr>
              <a:t>结束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两种命令格式，即在中断服务程序服务完毕中断返回之前，发结束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命令代码20H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或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6XH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均可（X为0～7）。</a:t>
            </a:r>
            <a:endParaRPr lang="en-US" altLang="zh-CN" sz="20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1600200" lvl="3" indent="-575945" eaLnBrk="1" hangingPunct="1">
              <a:buNone/>
            </a:pP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（5）级联方式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采用两片主/从连接方式，并且规定把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从片的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中断申请输出引脚</a:t>
            </a:r>
            <a:r>
              <a:rPr lang="en-US" altLang="zh-CN" sz="2000" b="0" dirty="0">
                <a:solidFill>
                  <a:srgbClr val="00B050"/>
                </a:solidFill>
                <a:sym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NT连到主片的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中断请求输入引脚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IR2上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。两片级联处理15级中断。</a:t>
            </a:r>
            <a:endParaRPr lang="en-US" altLang="zh-CN" sz="20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1600200" lvl="3" indent="-575945" eaLnBrk="1" hangingPunct="1">
              <a:buNone/>
            </a:pP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（6）15级中断号的分配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为：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中断号08H～0FH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对应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IRQ0～IRQ7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中断号70H～77H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对应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IRQ8～IRQ15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。</a:t>
            </a:r>
            <a:endParaRPr lang="en-US" altLang="zh-CN" sz="20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1600200" lvl="3" indent="-575945" eaLnBrk="1" hangingPunct="1">
              <a:buNone/>
            </a:pPr>
            <a:r>
              <a:rPr lang="en-US" altLang="zh-CN" sz="2000" dirty="0">
                <a:solidFill>
                  <a:srgbClr val="C00000"/>
                </a:solidFill>
                <a:sym typeface="宋体" panose="02010600030101010101" pitchFamily="2" charset="-122"/>
              </a:rPr>
              <a:t>（7）两片82C59A的端口地址分配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为：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主片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82C59A的两个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端口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是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20H和21H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；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从片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82C59A的两个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端口</a:t>
            </a:r>
            <a:r>
              <a:rPr lang="en-US" altLang="zh-CN" sz="2000" b="0" dirty="0">
                <a:solidFill>
                  <a:schemeClr val="tx1"/>
                </a:solidFill>
                <a:sym typeface="宋体" panose="02010600030101010101" pitchFamily="2" charset="-122"/>
              </a:rPr>
              <a:t>是</a:t>
            </a: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0A0H和0A1H</a:t>
            </a:r>
            <a:endParaRPr lang="en-US" altLang="zh-CN" sz="2000" dirty="0">
              <a:solidFill>
                <a:srgbClr val="00B050"/>
              </a:solidFill>
              <a:sym typeface="宋体" panose="02010600030101010101" pitchFamily="2" charset="-122"/>
            </a:endParaRPr>
          </a:p>
          <a:p>
            <a:pPr marL="1143000" lvl="2" indent="-471170" eaLnBrk="1" hangingPunct="1"/>
            <a:endParaRPr lang="en-US" altLang="zh-CN" sz="2000" b="0" dirty="0">
              <a:solidFill>
                <a:srgbClr val="00B050"/>
              </a:solidFill>
              <a:sym typeface="宋体" panose="02010600030101010101" pitchFamily="2" charset="-122"/>
            </a:endParaRPr>
          </a:p>
          <a:p>
            <a:pPr marL="1143000" lvl="2" indent="-471170" eaLnBrk="1" hangingPunct="1"/>
            <a:endParaRPr lang="en-US" altLang="zh-CN" sz="900" b="0" dirty="0">
              <a:solidFill>
                <a:schemeClr val="tx1"/>
              </a:solidFill>
              <a:sym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100" dirty="0"/>
          </a:p>
        </p:txBody>
      </p:sp>
      <p:sp>
        <p:nvSpPr>
          <p:cNvPr id="76803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7231063" y="6308725"/>
            <a:ext cx="10588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文本框 56321"/>
          <p:cNvSpPr txBox="1"/>
          <p:nvPr/>
        </p:nvSpPr>
        <p:spPr>
          <a:xfrm>
            <a:off x="519113" y="531813"/>
            <a:ext cx="7942262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框 56322"/>
          <p:cNvSpPr txBox="1"/>
          <p:nvPr/>
        </p:nvSpPr>
        <p:spPr>
          <a:xfrm>
            <a:off x="539750" y="836613"/>
            <a:ext cx="3986213" cy="2892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．初始化设置的程序</a:t>
            </a:r>
            <a:endParaRPr lang="zh-CN" altLang="en-US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）初始化流程</a:t>
            </a:r>
            <a:endParaRPr lang="zh-CN" altLang="en-US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系统上电期间，分别对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82C59A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的主片和从片进行初始化。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初始化流程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如图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5.9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所示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7827" name="图片 563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575" y="460375"/>
            <a:ext cx="2420938" cy="5302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2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410450" y="6308725"/>
            <a:ext cx="87947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文本框 57345"/>
          <p:cNvSpPr txBox="1"/>
          <p:nvPr/>
        </p:nvSpPr>
        <p:spPr>
          <a:xfrm>
            <a:off x="558800" y="506413"/>
            <a:ext cx="7758113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0" name="文本框 57346"/>
          <p:cNvSpPr txBox="1"/>
          <p:nvPr/>
        </p:nvSpPr>
        <p:spPr>
          <a:xfrm>
            <a:off x="396875" y="261938"/>
            <a:ext cx="8280400" cy="1127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（2）系统对中断控制器初始化程序段</a:t>
            </a:r>
            <a:endParaRPr lang="zh-CN" altLang="en-US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① 82C59A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</a:t>
            </a: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汇编语言初始化程序段如下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 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8851" name="图片 57347"/>
          <p:cNvPicPr/>
          <p:nvPr/>
        </p:nvPicPr>
        <p:blipFill>
          <a:blip r:embed="rId1"/>
          <a:stretch>
            <a:fillRect/>
          </a:stretch>
        </p:blipFill>
        <p:spPr>
          <a:xfrm>
            <a:off x="2032000" y="2706688"/>
            <a:ext cx="76200" cy="161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852" name="图片 57348"/>
          <p:cNvPicPr/>
          <p:nvPr/>
        </p:nvPicPr>
        <p:blipFill>
          <a:blip r:embed="rId1"/>
          <a:stretch>
            <a:fillRect/>
          </a:stretch>
        </p:blipFill>
        <p:spPr>
          <a:xfrm>
            <a:off x="2032000" y="5032375"/>
            <a:ext cx="76200" cy="16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3" name="文本框 57349"/>
          <p:cNvSpPr txBox="1"/>
          <p:nvPr/>
        </p:nvSpPr>
        <p:spPr>
          <a:xfrm>
            <a:off x="395288" y="1484313"/>
            <a:ext cx="8770937" cy="4664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INTA00 EQU 020H       	;82C59A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主片端口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(A0=0)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INTA01 EQU 021H       	;82C59A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主片端口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(A0=1)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11H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	;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ICW1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 边沿触发，多片，要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ICW4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INTA00,AL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JMP SHORT$+2          	;I/O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端口延时要求（下同）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8H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	;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ICW2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：中断号的高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INTA01,AL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JMP SHORT$+2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04H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	;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：主片的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IR2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上接从片，（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A0=1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INTA01,AL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JMP SHORT$+2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01H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	;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ICW4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：非缓冲，全嵌套，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位的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CPU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，非自动结束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INTA01,AL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8854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91375" y="6308725"/>
            <a:ext cx="1096963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文本框 58369"/>
          <p:cNvSpPr txBox="1"/>
          <p:nvPr/>
        </p:nvSpPr>
        <p:spPr>
          <a:xfrm>
            <a:off x="396875" y="220663"/>
            <a:ext cx="8640763" cy="5943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② 82C59A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从片</a:t>
            </a:r>
            <a:r>
              <a:rPr lang="zh-CN" alt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汇编语言初始化程序段如下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INTB00 EQU 0A0H      	;82C59A从片端口(A0=0)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INTB01 EQU 0A1H      	;82C59A从片端口(A0=1)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zh-CN" altLang="en-US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11H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	;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ICW1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：边沿触发，多片，要ICW4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INTB00, AL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JMP SHORT$+2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</a:t>
            </a:r>
            <a:r>
              <a:rPr lang="zh-CN" altLang="en-US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,70H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	;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ICW2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：中断号的高5位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INTB01, AL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JMP SHORT$+2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</a:t>
            </a:r>
            <a:r>
              <a:rPr lang="zh-CN" altLang="en-US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,02H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	;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ICW3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：从片接主片的IR2（ID2ID1ID0=010）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INTB01,AL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JMP SHORT$+2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AL,</a:t>
            </a:r>
            <a:r>
              <a:rPr lang="zh-CN" altLang="en-US" sz="200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01H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;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ICW4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：非缓冲，全嵌套，16位的CPU，非自动结束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OUT INTB01,AL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系统一旦完成了对82C59A的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初始化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所有外部硬件中断源和服务程序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（包括已开发和未开发的）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都必须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按初始化的规定去做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，因此，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为慎重起见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对系统的82C59A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初始化编程不由用户去做，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而是在微机启动后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由处理器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按初始化设置要求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自动完成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9874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58038" y="6308725"/>
            <a:ext cx="11303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3"/>
          <p:cNvSpPr>
            <a:spLocks noGrp="1"/>
          </p:cNvSpPr>
          <p:nvPr>
            <p:ph type="body" idx="4294967295"/>
          </p:nvPr>
        </p:nvSpPr>
        <p:spPr>
          <a:xfrm>
            <a:off x="395605" y="262255"/>
            <a:ext cx="8355330" cy="590423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5.9 系统中断资源的应用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34480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5.9.1  修改中断向量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742950" marR="0" lvl="1" indent="-398145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		</a:t>
            </a:r>
            <a:r>
              <a:rPr kumimoji="0" lang="zh-CN" altLang="en-US" sz="200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是指：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修改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同一中断号下的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中断服务程序入口地址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671830" marR="0" lvl="2" indent="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1．中断向量修改的方法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	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中断向量修改的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方法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是利用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DOS功能调用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INT21H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35H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号功能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25H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号功能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</a:t>
            </a:r>
            <a:r>
              <a:rPr kumimoji="0" lang="zh-CN" altLang="en-US" sz="200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其入口/出口参数如下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（1）35H号功能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是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从中断向量表</a:t>
            </a:r>
            <a:r>
              <a:rPr kumimoji="0" lang="zh-CN" altLang="en-US" sz="200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读取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(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被替换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)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中断向量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入口参数：无。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AH=功能号35H，AL=中断号N。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调用：即执行INT 21H。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出口参数：ES∶BX=读取的中断向量的段基址：偏移量。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（2）INT21H的25H号功能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是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向中断向量表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写入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(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替换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)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中断向量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入口参数：DS∶DX=要写入的中断向量的段基址：偏移量。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AH=功能号25H，AL=中断号N。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调用：即执行INT 21H。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出口参数：无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089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319963" y="6308725"/>
            <a:ext cx="9699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3"/>
          <p:cNvSpPr>
            <a:spLocks noGrp="1"/>
          </p:cNvSpPr>
          <p:nvPr/>
        </p:nvSpPr>
        <p:spPr>
          <a:xfrm>
            <a:off x="396875" y="981075"/>
            <a:ext cx="8353425" cy="367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4805" lvl="2" indent="0" eaLnBrk="1" hangingPunct="1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i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2</a:t>
            </a:r>
            <a:r>
              <a:rPr lang="zh-CN" altLang="en-US" sz="2400" b="1" i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．</a:t>
            </a:r>
            <a:r>
              <a:rPr lang="zh-CN" altLang="en-US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中断向量修改与恢复的步骤</a:t>
            </a:r>
            <a:endParaRPr lang="zh-CN" altLang="en-US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调用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35H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号功能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，从向量表中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读取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某一中断号的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原中断向量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并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保存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在双字节变量中。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4805" lvl="2" indent="0" eaLnBrk="1" hangingPunct="1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调用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25H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号功能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将新中断向量写入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中断向量表中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原中断向量的位置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，取代原中断向量。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4805" lvl="2" indent="0" eaLnBrk="1" hangingPunct="1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恢复原中断向量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新中断服务程序完毕后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再用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25H</a:t>
            </a:r>
            <a:r>
              <a:rPr lang="zh-CN" alt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号功能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将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保存在双字节变量中的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原中断向量写回去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1000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58038" y="6308725"/>
            <a:ext cx="11303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3"/>
          <p:cNvSpPr>
            <a:spLocks noGrp="1"/>
          </p:cNvSpPr>
          <p:nvPr/>
        </p:nvSpPr>
        <p:spPr>
          <a:xfrm>
            <a:off x="396875" y="201613"/>
            <a:ext cx="7191375" cy="5764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</a:pPr>
            <a:r>
              <a:rPr lang="en-US" altLang="zh-CN" sz="2800" b="1" i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5.9.2</a:t>
            </a:r>
            <a:r>
              <a:rPr lang="en-US" altLang="zh-CN" sz="28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编写中断服务程序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E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1．中断服务程序的一般格式</a:t>
            </a:r>
            <a:endParaRPr lang="en-US" altLang="zh-CN" sz="24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NEW_INT PROC  FAR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(寄存器进栈)       	;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现场保护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1000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(服务程序主体)             ;</a:t>
            </a:r>
            <a:r>
              <a:rPr lang="en-US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服务程序</a:t>
            </a:r>
            <a:endParaRPr lang="en-US" altLang="en-US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 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 MOV AL,20H       	;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向从片82C59A发结束命令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 MOV DX,0A1H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 OUT DX,AL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 OUT 20H,AL       	;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向主片82C59A发结束命令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(寄存器出栈)        	;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恢复现场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 IRET             	;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中断返回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NEW_INT ENDP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44805" lvl="2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2800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82946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086600" y="6308725"/>
            <a:ext cx="120332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58038" y="6308725"/>
            <a:ext cx="1130300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8313" y="908050"/>
            <a:ext cx="7132638" cy="4523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480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2．编写中断服务程序需要注意的几个问题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（1）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注意现场的保护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在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中断服务程序中要使用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某些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寄存器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，要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进栈保存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以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免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破坏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主程序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也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使用的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这些寄存器内容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（2）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注意堆栈操作的对称性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存放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在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堆栈中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中断返回地址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及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现场信息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，要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特别注意进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栈与出栈的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对称性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即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进栈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与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出栈的内容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顺序都要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一一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对应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。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（3）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中断服务程序要尽可能短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宋体" panose="02010600030101010101" pitchFamily="2" charset="-122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为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避免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对同级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或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低级的中断源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造成阻塞和干扰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要求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中断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服务程序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执行要快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因此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能在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主程序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中做的工作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尽可能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  <a:p>
            <a:pPr marL="669925" marR="0" lvl="2" indent="-32512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安排在主程序中进行</a:t>
            </a:r>
            <a:r>
              <a:rPr kumimoji="0" lang="zh-CN" altLang="en-US" sz="200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不要放到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中断服务程序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中去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248525" y="6308725"/>
            <a:ext cx="1039813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67585" name="Rectangle 3"/>
          <p:cNvSpPr>
            <a:spLocks noGrp="1"/>
          </p:cNvSpPr>
          <p:nvPr>
            <p:ph type="body" idx="4294967295"/>
          </p:nvPr>
        </p:nvSpPr>
        <p:spPr>
          <a:xfrm>
            <a:off x="257175" y="403225"/>
            <a:ext cx="8645525" cy="5545138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5.10 中断服务程序设计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344805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5.10.1  主中断控制器的中断服务程序设计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4805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344805" marR="0" lvl="1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例5.1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利用系统中断控制器主片82C59A的中断服务程序设计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671830" marR="0" lvl="2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要求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中断申请电路如图5.10所示。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微动开关SW的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中断请求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接到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IRQ7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要求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每按下1次开关SW就申请1次中断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按8次后显示“OK !”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，程序结束。试编写中断服务程序。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671830" marR="0" lvl="2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IRQ7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是主片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82C59A的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IR7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引脚上的中断请求输入线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中断号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为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0FH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，系统分配给打印机中断，当打印机空闲不使用时，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用户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可以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通过修改中断向量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进行利用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015163" y="6308725"/>
            <a:ext cx="1274762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86018" name="Rectangle 3"/>
          <p:cNvSpPr>
            <a:spLocks noGrp="1"/>
          </p:cNvSpPr>
          <p:nvPr/>
        </p:nvSpPr>
        <p:spPr>
          <a:xfrm>
            <a:off x="808038" y="4365625"/>
            <a:ext cx="7045325" cy="13096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</a:pPr>
            <a:endParaRPr lang="en-US" altLang="zh-CN" sz="3200" b="1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69925" lvl="2" indent="-32512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022350" lvl="3" indent="-35052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</a:pPr>
            <a:endParaRPr lang="en-US" altLang="zh-CN" sz="2800" b="1" i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en-US" altLang="zh-CN" sz="3200" b="1" dirty="0">
              <a:solidFill>
                <a:srgbClr val="0000E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6019" name="图片 624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692150"/>
            <a:ext cx="6383338" cy="3017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20" name="文本框 1"/>
          <p:cNvSpPr txBox="1"/>
          <p:nvPr/>
        </p:nvSpPr>
        <p:spPr>
          <a:xfrm>
            <a:off x="1188085" y="4150360"/>
            <a:ext cx="3552825" cy="11985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E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3．程序设计</a:t>
            </a:r>
            <a:endParaRPr lang="en-US" altLang="zh-CN" sz="2400" b="1" dirty="0">
              <a:solidFill>
                <a:srgbClr val="0000E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具体程序，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见教材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P90-92</a:t>
            </a:r>
            <a:endParaRPr lang="en-US" altLang="zh-CN" sz="24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213600" y="6308725"/>
            <a:ext cx="107632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71681" name="Rectangle 3"/>
          <p:cNvSpPr>
            <a:spLocks noGrp="1"/>
          </p:cNvSpPr>
          <p:nvPr>
            <p:ph type="body" idx="4294967295"/>
          </p:nvPr>
        </p:nvSpPr>
        <p:spPr>
          <a:xfrm>
            <a:off x="180975" y="403225"/>
            <a:ext cx="8353425" cy="590550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34480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5.10.2  从中断控制器的中断服务程序设计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480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34480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例5.2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 利用系统中断控制器从片82C59A的中断服务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34480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程序设计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67183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1．要求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	中断申请电路如图5.11所示。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拨动开关SW的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中断请求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接到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IRQ10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要求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每按下1次开关SW就申请1次中断，显示“OK!”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，然后返回，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程序结束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7043" name="图片 665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0" y="3717925"/>
            <a:ext cx="4589463" cy="2366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086600" y="6308725"/>
            <a:ext cx="1203325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67587" name="Rectangle 3"/>
          <p:cNvSpPr>
            <a:spLocks noGrp="1"/>
          </p:cNvSpPr>
          <p:nvPr/>
        </p:nvSpPr>
        <p:spPr>
          <a:xfrm>
            <a:off x="755650" y="622300"/>
            <a:ext cx="6677025" cy="5194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2．分析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	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IRQ10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是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从片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82C59A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的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IR2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引脚上的中断请求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中断号为72H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，是系统保留的，用户可以使用。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       由于是从片82C59A，故在执行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从片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的屏蔽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与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开放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发中断结束命令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时，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都要考虑对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主片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进行相应的操作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685800" marR="0" lvl="1" indent="-47117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3．程序设计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143000" marR="0" lvl="2" indent="-47117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具体程序见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P93-94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022350" marR="0" lvl="3" indent="-35052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335838" y="6310313"/>
            <a:ext cx="954087" cy="333375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zh-CN" sz="2400" dirty="0">
                <a:latin typeface="Garamond" panose="02020404030301010803" pitchFamily="18" charset="0"/>
              </a:rPr>
            </a:fld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89090" name="Rectangle 3"/>
          <p:cNvSpPr>
            <a:spLocks noGrp="1"/>
          </p:cNvSpPr>
          <p:nvPr>
            <p:ph type="body" idx="4294967295"/>
          </p:nvPr>
        </p:nvSpPr>
        <p:spPr>
          <a:xfrm>
            <a:off x="384175" y="1341755"/>
            <a:ext cx="7268845" cy="3825875"/>
          </a:xfrm>
          <a:solidFill>
            <a:srgbClr val="FFFFFF"/>
          </a:solidFill>
        </p:spPr>
        <p:txBody>
          <a:bodyPr vert="horz" wrap="square" lIns="91440" tIns="45720" rIns="91440" bIns="45720" anchor="t" anchorCtr="0"/>
          <a:p>
            <a:pPr algn="ctr" eaLnBrk="1" hangingPunct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本 章 小 结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altLang="zh-CN" sz="2400" dirty="0"/>
              <a:t> 中断技术的基本概念</a:t>
            </a:r>
            <a:r>
              <a:rPr lang="zh-CN" altLang="en-US" sz="2400" dirty="0"/>
              <a:t>、工作原理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altLang="zh-CN" sz="2400" dirty="0"/>
              <a:t> </a:t>
            </a:r>
            <a:r>
              <a:rPr lang="zh-CN" altLang="en-US" sz="2400" dirty="0"/>
              <a:t>中断处理过程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altLang="zh-CN" sz="2400" dirty="0"/>
              <a:t> 中断控制器</a:t>
            </a:r>
            <a:r>
              <a:rPr lang="zh-CN" altLang="en-US" sz="2400" dirty="0"/>
              <a:t>的外部特性、工作方式、编程模型，以及微机中断体系初始化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/>
              <a:t>重点是中断向量的修改和中断服务程序的编程方法</a:t>
            </a:r>
            <a:endParaRPr lang="zh-CN" alt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062.5007874015746,&quot;width&quot;:12327.499212598424}"/>
</p:tagLst>
</file>

<file path=ppt/tags/tag2.xml><?xml version="1.0" encoding="utf-8"?>
<p:tagLst xmlns:p="http://schemas.openxmlformats.org/presentationml/2006/main">
  <p:tag name="KSO_WM_UNIT_TABLE_BEAUTIFY" val="smartTable{7d5b455b-5f61-4257-996e-7acf707da5de}"/>
</p:tagLst>
</file>

<file path=ppt/tags/tag3.xml><?xml version="1.0" encoding="utf-8"?>
<p:tagLst xmlns:p="http://schemas.openxmlformats.org/presentationml/2006/main">
  <p:tag name="KSO_WM_UNIT_TABLE_BEAUTIFY" val="smartTable{753e6740-c9c4-4f1f-914b-b739347a179e}"/>
</p:tagLst>
</file>

<file path=ppt/tags/tag4.xml><?xml version="1.0" encoding="utf-8"?>
<p:tagLst xmlns:p="http://schemas.openxmlformats.org/presentationml/2006/main">
  <p:tag name="commondata" val="eyJoZGlkIjoiYWU3ZTU5NjU3ODg3MzdmOWFhODM4YzhlNTEwMmFkOWYifQ=="/>
</p:tagLst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12495</Words>
  <Application>WPS 演示</Application>
  <PresentationFormat>全屏显示(4:3)</PresentationFormat>
  <Paragraphs>1206</Paragraphs>
  <Slides>70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70</vt:i4>
      </vt:variant>
    </vt:vector>
  </HeadingPairs>
  <TitlesOfParts>
    <vt:vector size="97" baseType="lpstr">
      <vt:lpstr>Arial</vt:lpstr>
      <vt:lpstr>宋体</vt:lpstr>
      <vt:lpstr>Wingdings</vt:lpstr>
      <vt:lpstr>Garamond</vt:lpstr>
      <vt:lpstr>方正正中黑简体</vt:lpstr>
      <vt:lpstr>黑体</vt:lpstr>
      <vt:lpstr>Wingdings</vt:lpstr>
      <vt:lpstr>Times New Roman</vt:lpstr>
      <vt:lpstr>隶书</vt:lpstr>
      <vt:lpstr>Wingdings 2</vt:lpstr>
      <vt:lpstr>_x000B__x000C_</vt:lpstr>
      <vt:lpstr>Segoe Print</vt:lpstr>
      <vt:lpstr>幼圆</vt:lpstr>
      <vt:lpstr>华文新魏</vt:lpstr>
      <vt:lpstr>华文中宋</vt:lpstr>
      <vt:lpstr>微软雅黑</vt:lpstr>
      <vt:lpstr>Arial Unicode MS</vt:lpstr>
      <vt:lpstr>Arial Black</vt:lpstr>
      <vt:lpstr>楷体</vt:lpstr>
      <vt:lpstr>方正书宋简体</vt:lpstr>
      <vt:lpstr>Edge</vt:lpstr>
      <vt:lpstr>1_Edge</vt:lpstr>
      <vt:lpstr>2_Edge</vt:lpstr>
      <vt:lpstr>Visio.Drawing.11</vt:lpstr>
      <vt:lpstr>Visio.Drawing.6</vt:lpstr>
      <vt:lpstr>Equation.3</vt:lpstr>
      <vt:lpstr>Equation.3</vt:lpstr>
      <vt:lpstr>第5章 中断技术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绿tea</cp:lastModifiedBy>
  <cp:revision>283</cp:revision>
  <dcterms:created xsi:type="dcterms:W3CDTF">2015-06-10T01:25:00Z</dcterms:created>
  <dcterms:modified xsi:type="dcterms:W3CDTF">2024-11-10T10:40:31Z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92BF672D55A040ABB1AFDF3C1112ED8D</vt:lpwstr>
  </property>
</Properties>
</file>