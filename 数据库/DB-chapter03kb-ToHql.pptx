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72"/>
  </p:notesMasterIdLst>
  <p:sldIdLst>
    <p:sldId id="400" r:id="rId2"/>
    <p:sldId id="445" r:id="rId3"/>
    <p:sldId id="446" r:id="rId4"/>
    <p:sldId id="451" r:id="rId5"/>
    <p:sldId id="449" r:id="rId6"/>
    <p:sldId id="448" r:id="rId7"/>
    <p:sldId id="401" r:id="rId8"/>
    <p:sldId id="447" r:id="rId9"/>
    <p:sldId id="450" r:id="rId10"/>
    <p:sldId id="402" r:id="rId11"/>
    <p:sldId id="403" r:id="rId12"/>
    <p:sldId id="452" r:id="rId13"/>
    <p:sldId id="404" r:id="rId14"/>
    <p:sldId id="437" r:id="rId15"/>
    <p:sldId id="453" r:id="rId16"/>
    <p:sldId id="462" r:id="rId17"/>
    <p:sldId id="463" r:id="rId18"/>
    <p:sldId id="455" r:id="rId19"/>
    <p:sldId id="456" r:id="rId20"/>
    <p:sldId id="457" r:id="rId21"/>
    <p:sldId id="458" r:id="rId22"/>
    <p:sldId id="459" r:id="rId23"/>
    <p:sldId id="460" r:id="rId24"/>
    <p:sldId id="461" r:id="rId25"/>
    <p:sldId id="464" r:id="rId26"/>
    <p:sldId id="465" r:id="rId27"/>
    <p:sldId id="466" r:id="rId28"/>
    <p:sldId id="467" r:id="rId29"/>
    <p:sldId id="406" r:id="rId30"/>
    <p:sldId id="407" r:id="rId31"/>
    <p:sldId id="408" r:id="rId32"/>
    <p:sldId id="409" r:id="rId33"/>
    <p:sldId id="468" r:id="rId34"/>
    <p:sldId id="469" r:id="rId35"/>
    <p:sldId id="410" r:id="rId36"/>
    <p:sldId id="473" r:id="rId37"/>
    <p:sldId id="411" r:id="rId38"/>
    <p:sldId id="412" r:id="rId39"/>
    <p:sldId id="413" r:id="rId40"/>
    <p:sldId id="442" r:id="rId41"/>
    <p:sldId id="474" r:id="rId42"/>
    <p:sldId id="475" r:id="rId43"/>
    <p:sldId id="476" r:id="rId44"/>
    <p:sldId id="477" r:id="rId45"/>
    <p:sldId id="480" r:id="rId46"/>
    <p:sldId id="481" r:id="rId47"/>
    <p:sldId id="482" r:id="rId48"/>
    <p:sldId id="415" r:id="rId49"/>
    <p:sldId id="416" r:id="rId50"/>
    <p:sldId id="417" r:id="rId51"/>
    <p:sldId id="418" r:id="rId52"/>
    <p:sldId id="420" r:id="rId53"/>
    <p:sldId id="421" r:id="rId54"/>
    <p:sldId id="422" r:id="rId55"/>
    <p:sldId id="423" r:id="rId56"/>
    <p:sldId id="424" r:id="rId57"/>
    <p:sldId id="432" r:id="rId58"/>
    <p:sldId id="444" r:id="rId59"/>
    <p:sldId id="434" r:id="rId60"/>
    <p:sldId id="435" r:id="rId61"/>
    <p:sldId id="443" r:id="rId62"/>
    <p:sldId id="436" r:id="rId63"/>
    <p:sldId id="425" r:id="rId64"/>
    <p:sldId id="426" r:id="rId65"/>
    <p:sldId id="427" r:id="rId66"/>
    <p:sldId id="428" r:id="rId67"/>
    <p:sldId id="429" r:id="rId68"/>
    <p:sldId id="441" r:id="rId69"/>
    <p:sldId id="430" r:id="rId70"/>
    <p:sldId id="431" r:id="rId71"/>
  </p:sldIdLst>
  <p:sldSz cx="9144000" cy="6858000" type="screen4x3"/>
  <p:notesSz cx="6858000" cy="9144000"/>
  <p:defaultTextStyle>
    <a:defPPr>
      <a:defRPr lang="zh-CN"/>
    </a:defPPr>
    <a:lvl1pPr algn="l" rtl="0" fontAlgn="base">
      <a:spcBef>
        <a:spcPct val="0"/>
      </a:spcBef>
      <a:spcAft>
        <a:spcPct val="0"/>
      </a:spcAft>
      <a:defRPr sz="2800" b="1" kern="1200">
        <a:solidFill>
          <a:schemeClr val="tx1"/>
        </a:solidFill>
        <a:latin typeface="Calibri" panose="020F0502020204030204" pitchFamily="34" charset="0"/>
        <a:ea typeface="宋体" panose="02010600030101010101" pitchFamily="2" charset="-122"/>
        <a:cs typeface="+mn-cs"/>
      </a:defRPr>
    </a:lvl1pPr>
    <a:lvl2pPr marL="457200" algn="l" rtl="0" fontAlgn="base">
      <a:spcBef>
        <a:spcPct val="0"/>
      </a:spcBef>
      <a:spcAft>
        <a:spcPct val="0"/>
      </a:spcAft>
      <a:defRPr sz="2800" b="1" kern="1200">
        <a:solidFill>
          <a:schemeClr val="tx1"/>
        </a:solidFill>
        <a:latin typeface="Calibri" panose="020F0502020204030204" pitchFamily="34" charset="0"/>
        <a:ea typeface="宋体" panose="02010600030101010101" pitchFamily="2" charset="-122"/>
        <a:cs typeface="+mn-cs"/>
      </a:defRPr>
    </a:lvl2pPr>
    <a:lvl3pPr marL="914400" algn="l" rtl="0" fontAlgn="base">
      <a:spcBef>
        <a:spcPct val="0"/>
      </a:spcBef>
      <a:spcAft>
        <a:spcPct val="0"/>
      </a:spcAft>
      <a:defRPr sz="2800" b="1" kern="1200">
        <a:solidFill>
          <a:schemeClr val="tx1"/>
        </a:solidFill>
        <a:latin typeface="Calibri" panose="020F0502020204030204" pitchFamily="34" charset="0"/>
        <a:ea typeface="宋体" panose="02010600030101010101" pitchFamily="2" charset="-122"/>
        <a:cs typeface="+mn-cs"/>
      </a:defRPr>
    </a:lvl3pPr>
    <a:lvl4pPr marL="1371600" algn="l" rtl="0" fontAlgn="base">
      <a:spcBef>
        <a:spcPct val="0"/>
      </a:spcBef>
      <a:spcAft>
        <a:spcPct val="0"/>
      </a:spcAft>
      <a:defRPr sz="2800" b="1" kern="1200">
        <a:solidFill>
          <a:schemeClr val="tx1"/>
        </a:solidFill>
        <a:latin typeface="Calibri" panose="020F0502020204030204" pitchFamily="34" charset="0"/>
        <a:ea typeface="宋体" panose="02010600030101010101" pitchFamily="2" charset="-122"/>
        <a:cs typeface="+mn-cs"/>
      </a:defRPr>
    </a:lvl4pPr>
    <a:lvl5pPr marL="1828800" algn="l" rtl="0" fontAlgn="base">
      <a:spcBef>
        <a:spcPct val="0"/>
      </a:spcBef>
      <a:spcAft>
        <a:spcPct val="0"/>
      </a:spcAft>
      <a:defRPr sz="2800" b="1"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2800" b="1"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sz="2800" b="1"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sz="2800" b="1"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sz="2800" b="1" kern="1200">
        <a:solidFill>
          <a:schemeClr val="tx1"/>
        </a:solidFill>
        <a:latin typeface="Calibri" panose="020F0502020204030204" pitchFamily="34" charset="0"/>
        <a:ea typeface="宋体" panose="02010600030101010101" pitchFamily="2" charset="-122"/>
        <a:cs typeface="+mn-cs"/>
      </a:defRPr>
    </a:lvl9pPr>
  </p:defaultTextStyle>
  <p:extLst>
    <p:ext uri="{EFAFB233-063F-42B5-8137-9DF3F51BA10A}">
      <p15:sldGuideLst xmlns="" xmlns:p15="http://schemas.microsoft.com/office/powerpoint/2012/main">
        <p15:guide id="1" orient="horz" pos="2206">
          <p15:clr>
            <a:srgbClr val="A4A3A4"/>
          </p15:clr>
        </p15:guide>
        <p15:guide id="2" pos="2864">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9FFF0"/>
    <a:srgbClr val="000000"/>
    <a:srgbClr val="032FBD"/>
    <a:srgbClr val="0438D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6317" autoAdjust="0"/>
  </p:normalViewPr>
  <p:slideViewPr>
    <p:cSldViewPr>
      <p:cViewPr varScale="1">
        <p:scale>
          <a:sx n="68" d="100"/>
          <a:sy n="68" d="100"/>
        </p:scale>
        <p:origin x="-1446" y="-102"/>
      </p:cViewPr>
      <p:guideLst>
        <p:guide orient="horz" pos="2206"/>
        <p:guide pos="2864"/>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p:nvPr>
        </p:nvSpPr>
        <p:spPr bwMode="auto">
          <a:xfrm>
            <a:off x="0" y="0"/>
            <a:ext cx="2971800" cy="457200"/>
          </a:xfrm>
          <a:prstGeom prst="rect">
            <a:avLst/>
          </a:prstGeom>
          <a:noFill/>
          <a:ln w="9525">
            <a:noFill/>
            <a:miter lim="800000"/>
          </a:ln>
        </p:spPr>
        <p:txBody>
          <a:bodyPr vert="horz" wrap="square" lIns="91440" tIns="45720" rIns="91440" bIns="45720" numCol="1" anchor="t" anchorCtr="0" compatLnSpc="1"/>
          <a:lstStyle>
            <a:lvl1pPr>
              <a:defRPr sz="1200" b="0">
                <a:ea typeface="宋体" panose="02010600030101010101" pitchFamily="2" charset="-122"/>
              </a:defRPr>
            </a:lvl1pPr>
          </a:lstStyle>
          <a:p>
            <a:pPr>
              <a:defRPr/>
            </a:pPr>
            <a:endParaRPr lang="zh-CN" altLang="en-US"/>
          </a:p>
        </p:txBody>
      </p:sp>
      <p:sp>
        <p:nvSpPr>
          <p:cNvPr id="2051" name="日期占位符 2"/>
          <p:cNvSpPr>
            <a:spLocks noGrp="1" noChangeArrowheads="1"/>
          </p:cNvSpPr>
          <p:nvPr>
            <p:ph type="dt" idx="1"/>
          </p:nvPr>
        </p:nvSpPr>
        <p:spPr bwMode="auto">
          <a:xfrm>
            <a:off x="3884613" y="0"/>
            <a:ext cx="2971800" cy="457200"/>
          </a:xfrm>
          <a:prstGeom prst="rect">
            <a:avLst/>
          </a:prstGeom>
          <a:noFill/>
          <a:ln w="9525">
            <a:noFill/>
            <a:miter lim="800000"/>
          </a:ln>
        </p:spPr>
        <p:txBody>
          <a:bodyPr vert="horz" wrap="square" lIns="91440" tIns="45720" rIns="91440" bIns="45720" numCol="1" anchor="t" anchorCtr="0" compatLnSpc="1"/>
          <a:lstStyle>
            <a:lvl1pPr algn="r">
              <a:defRPr sz="1200" b="0">
                <a:ea typeface="宋体" panose="02010600030101010101" pitchFamily="2" charset="-122"/>
              </a:defRPr>
            </a:lvl1pPr>
          </a:lstStyle>
          <a:p>
            <a:pPr>
              <a:defRPr/>
            </a:pPr>
            <a:fld id="{D196091D-0CC8-4BCE-8965-6E31F448F1D3}" type="datetimeFigureOut">
              <a:rPr lang="zh-CN" altLang="en-US"/>
              <a:t>2024/10/18</a:t>
            </a:fld>
            <a:endParaRPr lang="en-US"/>
          </a:p>
        </p:txBody>
      </p:sp>
      <p:sp>
        <p:nvSpPr>
          <p:cNvPr id="21508" name="幻灯片图像占位符 3"/>
          <p:cNvSpPr>
            <a:spLocks noGrp="1" noRot="1" noChangeAspect="1" noChangeArrowheads="1"/>
          </p:cNvSpPr>
          <p:nvPr>
            <p:ph type="sldImg" idx="2"/>
          </p:nvPr>
        </p:nvSpPr>
        <p:spPr bwMode="auto">
          <a:xfrm>
            <a:off x="1143000" y="685800"/>
            <a:ext cx="4572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ChangeArrowheads="1"/>
          </p:cNvSpPr>
          <p:nvPr>
            <p:ph type="body" sz="quarter" idx="3"/>
          </p:nvPr>
        </p:nvSpPr>
        <p:spPr bwMode="auto">
          <a:xfrm>
            <a:off x="685800" y="4343400"/>
            <a:ext cx="5486400" cy="411480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w="9525">
            <a:noFill/>
            <a:miter lim="800000"/>
          </a:ln>
        </p:spPr>
        <p:txBody>
          <a:bodyPr vert="horz" wrap="square" lIns="91440" tIns="45720" rIns="91440" bIns="45720" numCol="1" anchor="b" anchorCtr="0" compatLnSpc="1"/>
          <a:lstStyle>
            <a:lvl1pPr>
              <a:defRPr sz="1200" b="0">
                <a:ea typeface="宋体" panose="02010600030101010101" pitchFamily="2" charset="-122"/>
              </a:defRPr>
            </a:lvl1pPr>
          </a:lstStyle>
          <a:p>
            <a:pPr>
              <a:defRPr/>
            </a:pPr>
            <a:endParaRPr lang="zh-CN" altLang="en-US"/>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w="9525">
            <a:noFill/>
            <a:miter lim="800000"/>
          </a:ln>
        </p:spPr>
        <p:txBody>
          <a:bodyPr vert="horz" wrap="square" lIns="91440" tIns="45720" rIns="91440" bIns="45720" numCol="1" anchor="b" anchorCtr="0" compatLnSpc="1"/>
          <a:lstStyle>
            <a:lvl1pPr algn="r">
              <a:defRPr sz="1200" b="0">
                <a:ea typeface="宋体" panose="02010600030101010101" pitchFamily="2" charset="-122"/>
              </a:defRPr>
            </a:lvl1pPr>
          </a:lstStyle>
          <a:p>
            <a:pPr>
              <a:defRPr/>
            </a:pPr>
            <a:fld id="{99E43047-6013-40D9-AA26-47B668441B23}" type="slidenum">
              <a:rPr lang="zh-CN" altLang="en-US"/>
              <a:t>‹#›</a:t>
            </a:fld>
            <a:endParaRPr lang="en-US"/>
          </a:p>
        </p:txBody>
      </p:sp>
    </p:spTree>
    <p:extLst>
      <p:ext uri="{BB962C8B-B14F-4D97-AF65-F5344CB8AC3E}">
        <p14:creationId xmlns:p14="http://schemas.microsoft.com/office/powerpoint/2010/main" val="229842132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4A174D3C-434B-447D-9D54-F05DA51E3904}" type="slidenum">
              <a:rPr lang="zh-CN" altLang="en-US" smtClean="0">
                <a:ea typeface="宋体" panose="02010600030101010101" pitchFamily="2" charset="-122"/>
              </a:rPr>
              <a:t>19</a:t>
            </a:fld>
            <a:endParaRPr lang="en-US" altLang="zh-CN">
              <a:ea typeface="宋体" panose="02010600030101010101" pitchFamily="2" charset="-122"/>
            </a:endParaRPr>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xfrm>
            <a:off x="685800" y="4343400"/>
            <a:ext cx="5486400" cy="4114800"/>
          </a:xfrm>
          <a:noFill/>
        </p:spPr>
        <p:txBody>
          <a:bodyPr/>
          <a:lstStyle/>
          <a:p>
            <a:pPr eaLnBrk="1" hangingPunct="1"/>
            <a:r>
              <a:rPr lang="en-US" altLang="zh-CN" dirty="0">
                <a:ea typeface="宋体" panose="02010600030101010101" pitchFamily="2" charset="-122"/>
              </a:rPr>
              <a:t>[</a:t>
            </a:r>
            <a:r>
              <a:rPr lang="zh-CN" altLang="en-US" b="1" dirty="0">
                <a:ea typeface="宋体" panose="02010600030101010101" pitchFamily="2" charset="-122"/>
              </a:rPr>
              <a:t>思路</a:t>
            </a:r>
            <a:r>
              <a:rPr lang="en-US" altLang="zh-CN" dirty="0">
                <a:ea typeface="宋体" panose="02010600030101010101" pitchFamily="2" charset="-122"/>
              </a:rPr>
              <a:t>]</a:t>
            </a:r>
            <a:r>
              <a:rPr lang="zh-CN" altLang="en-US" dirty="0">
                <a:ea typeface="宋体" panose="02010600030101010101" pitchFamily="2" charset="-122"/>
              </a:rPr>
              <a:t>先给出例子，引导学员如何写句子，出现问题，引出外联接，解释外联接的含义及其用法，解决问题</a:t>
            </a:r>
          </a:p>
          <a:p>
            <a:pPr eaLnBrk="1" hangingPunct="1"/>
            <a:r>
              <a:rPr lang="zh-CN" altLang="en-US" dirty="0">
                <a:ea typeface="宋体" panose="02010600030101010101" pitchFamily="2" charset="-122"/>
              </a:rPr>
              <a:t>说明：对于比较难或比较新的知识点，都可通过这种思路讲解，以下不赘述</a:t>
            </a:r>
            <a:endParaRPr lang="en-US" altLang="zh-CN" dirty="0">
              <a:ea typeface="宋体" panose="02010600030101010101" pitchFamily="2" charset="-122"/>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7"/>
          <p:cNvSpPr>
            <a:spLocks noGrp="1" noChangeArrowheads="1"/>
          </p:cNvSpPr>
          <p:nvPr>
            <p:ph type="sldNum" sz="quarter" idx="5"/>
          </p:nvPr>
        </p:nvSpPr>
        <p:spPr>
          <a:noFill/>
        </p:spPr>
        <p:txBody>
          <a:bodyPr/>
          <a:lstStyle/>
          <a:p>
            <a:fld id="{4A174D3C-434B-447D-9D54-F05DA51E3904}" type="slidenum">
              <a:rPr lang="zh-CN" altLang="en-US" smtClean="0">
                <a:ea typeface="宋体" panose="02010600030101010101" pitchFamily="2" charset="-122"/>
              </a:rPr>
              <a:t>21</a:t>
            </a:fld>
            <a:endParaRPr lang="en-US" altLang="zh-CN">
              <a:ea typeface="宋体" panose="02010600030101010101" pitchFamily="2" charset="-122"/>
            </a:endParaRPr>
          </a:p>
        </p:txBody>
      </p:sp>
      <p:sp>
        <p:nvSpPr>
          <p:cNvPr id="57347" name="Rectangle 2"/>
          <p:cNvSpPr>
            <a:spLocks noGrp="1" noRot="1" noChangeAspect="1" noChangeArrowheads="1" noTextEdit="1"/>
          </p:cNvSpPr>
          <p:nvPr>
            <p:ph type="sldImg"/>
          </p:nvPr>
        </p:nvSpPr>
        <p:spPr/>
      </p:sp>
      <p:sp>
        <p:nvSpPr>
          <p:cNvPr id="57348" name="Rectangle 3"/>
          <p:cNvSpPr>
            <a:spLocks noGrp="1" noChangeArrowheads="1"/>
          </p:cNvSpPr>
          <p:nvPr>
            <p:ph type="body" idx="1"/>
          </p:nvPr>
        </p:nvSpPr>
        <p:spPr>
          <a:xfrm>
            <a:off x="685800" y="4343400"/>
            <a:ext cx="5486400" cy="4114800"/>
          </a:xfrm>
          <a:noFill/>
        </p:spPr>
        <p:txBody>
          <a:bodyPr/>
          <a:lstStyle/>
          <a:p>
            <a:pPr eaLnBrk="1" hangingPunct="1"/>
            <a:r>
              <a:rPr lang="en-US" altLang="zh-CN" dirty="0">
                <a:ea typeface="宋体" panose="02010600030101010101" pitchFamily="2" charset="-122"/>
              </a:rPr>
              <a:t>[</a:t>
            </a:r>
            <a:r>
              <a:rPr lang="zh-CN" altLang="en-US" b="1" dirty="0">
                <a:ea typeface="宋体" panose="02010600030101010101" pitchFamily="2" charset="-122"/>
              </a:rPr>
              <a:t>思路</a:t>
            </a:r>
            <a:r>
              <a:rPr lang="en-US" altLang="zh-CN" dirty="0">
                <a:ea typeface="宋体" panose="02010600030101010101" pitchFamily="2" charset="-122"/>
              </a:rPr>
              <a:t>]</a:t>
            </a:r>
            <a:r>
              <a:rPr lang="zh-CN" altLang="en-US" dirty="0">
                <a:ea typeface="宋体" panose="02010600030101010101" pitchFamily="2" charset="-122"/>
              </a:rPr>
              <a:t>先给出例子，引导学员如何写句子，出现问题，引出外联接，解释外联接的含义及其用法，解决问题</a:t>
            </a:r>
          </a:p>
          <a:p>
            <a:pPr eaLnBrk="1" hangingPunct="1"/>
            <a:r>
              <a:rPr lang="zh-CN" altLang="en-US" dirty="0">
                <a:ea typeface="宋体" panose="02010600030101010101" pitchFamily="2" charset="-122"/>
              </a:rPr>
              <a:t>说明：对于比较难或比较新的知识点，都可通过这种思路讲解，以下不赘述</a:t>
            </a:r>
            <a:endParaRPr lang="en-US" altLang="zh-CN" dirty="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7"/>
          <p:cNvSpPr>
            <a:spLocks noGrp="1" noChangeArrowheads="1"/>
          </p:cNvSpPr>
          <p:nvPr>
            <p:ph type="sldNum" sz="quarter" idx="5"/>
          </p:nvPr>
        </p:nvSpPr>
        <p:spPr>
          <a:noFill/>
        </p:spPr>
        <p:txBody>
          <a:bodyPr/>
          <a:lstStyle/>
          <a:p>
            <a:fld id="{D09211F9-7F0B-4020-B432-E60F5600734F}" type="slidenum">
              <a:rPr lang="zh-CN" altLang="en-US" smtClean="0">
                <a:ea typeface="宋体" panose="02010600030101010101" pitchFamily="2" charset="-122"/>
              </a:rPr>
              <a:t>23</a:t>
            </a:fld>
            <a:endParaRPr lang="en-US" altLang="zh-CN">
              <a:ea typeface="宋体" panose="02010600030101010101" pitchFamily="2" charset="-122"/>
            </a:endParaRPr>
          </a:p>
        </p:txBody>
      </p:sp>
      <p:sp>
        <p:nvSpPr>
          <p:cNvPr id="59395" name="Rectangle 2"/>
          <p:cNvSpPr>
            <a:spLocks noGrp="1" noRot="1" noChangeAspect="1" noChangeArrowheads="1" noTextEdit="1"/>
          </p:cNvSpPr>
          <p:nvPr>
            <p:ph type="sldImg"/>
          </p:nvPr>
        </p:nvSpPr>
        <p:spPr/>
      </p:sp>
      <p:sp>
        <p:nvSpPr>
          <p:cNvPr id="59396" name="Rectangle 3"/>
          <p:cNvSpPr>
            <a:spLocks noGrp="1" noChangeArrowheads="1"/>
          </p:cNvSpPr>
          <p:nvPr>
            <p:ph type="body" idx="1"/>
          </p:nvPr>
        </p:nvSpPr>
        <p:spPr>
          <a:xfrm>
            <a:off x="685800" y="4343400"/>
            <a:ext cx="5486400" cy="4114800"/>
          </a:xfrm>
          <a:noFill/>
        </p:spPr>
        <p:txBody>
          <a:bodyPr/>
          <a:lstStyle/>
          <a:p>
            <a:pPr eaLnBrk="1" hangingPunct="1"/>
            <a:endParaRPr lang="zh-CN" altLang="en-US">
              <a:ea typeface="宋体" panose="02010600030101010101" pitchFamily="2" charset="-122"/>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9E43047-6013-40D9-AA26-47B668441B23}" type="slidenum">
              <a:rPr lang="zh-CN" altLang="en-US" smtClean="0"/>
              <a:t>39</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pPr>
              <a:defRPr/>
            </a:pPr>
            <a:fld id="{99E43047-6013-40D9-AA26-47B668441B23}" type="slidenum">
              <a:rPr lang="zh-CN" altLang="en-US" smtClean="0"/>
              <a:t>40</a:t>
            </a:fld>
            <a:endParaRPr lang="en-US"/>
          </a:p>
        </p:txBody>
      </p:sp>
    </p:spTree>
    <p:extLst>
      <p:ext uri="{BB962C8B-B14F-4D97-AF65-F5344CB8AC3E}">
        <p14:creationId xmlns:p14="http://schemas.microsoft.com/office/powerpoint/2010/main" val="1372543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noChangeArrowheads="1"/>
          </p:cNvSpPr>
          <p:nvPr>
            <p:ph type="dt" sz="half" idx="10"/>
          </p:nvPr>
        </p:nvSpPr>
        <p:spPr/>
        <p:txBody>
          <a:bodyPr/>
          <a:lstStyle>
            <a:lvl1pPr>
              <a:defRPr/>
            </a:lvl1pPr>
          </a:lstStyle>
          <a:p>
            <a:pPr>
              <a:defRPr/>
            </a:pPr>
            <a:fld id="{E3E49D73-135D-4AE0-B8D1-4A4E8E8A2991}" type="datetimeFigureOut">
              <a:rPr lang="zh-CN" altLang="en-US"/>
              <a:t>2024/10/18</a:t>
            </a:fld>
            <a:endParaRPr 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D8C32310-92D0-4BF0-ACD7-7797645C6C8D}" type="slidenum">
              <a:rPr lang="zh-CN" altLang="en-US"/>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CDF58B27-190B-4A0B-B00F-048EDAF8F329}" type="datetimeFigureOut">
              <a:rPr lang="zh-CN" altLang="en-US"/>
              <a:t>2024/10/18</a:t>
            </a:fld>
            <a:endParaRPr 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AD4CB7D9-582C-4FEF-B360-C7623EE48B3E}" type="slidenum">
              <a:rPr lang="zh-CN" altLang="en-US"/>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noChangeArrowheads="1"/>
          </p:cNvSpPr>
          <p:nvPr>
            <p:ph type="dt" sz="half" idx="10"/>
          </p:nvPr>
        </p:nvSpPr>
        <p:spPr/>
        <p:txBody>
          <a:bodyPr/>
          <a:lstStyle>
            <a:lvl1pPr>
              <a:defRPr/>
            </a:lvl1pPr>
          </a:lstStyle>
          <a:p>
            <a:pPr>
              <a:defRPr/>
            </a:pPr>
            <a:fld id="{FEC57FB0-F858-4B08-9010-F1892B737B3A}" type="datetimeFigureOut">
              <a:rPr lang="zh-CN" altLang="en-US"/>
              <a:t>2024/10/18</a:t>
            </a:fld>
            <a:endParaRPr 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6DAF79E6-4AD2-484E-A4E1-29C06FA6AF99}" type="slidenum">
              <a:rPr lang="zh-CN" altLang="en-US"/>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3"/>
          <p:cNvSpPr>
            <a:spLocks noGrp="1" noChangeArrowheads="1"/>
          </p:cNvSpPr>
          <p:nvPr>
            <p:ph type="dt" sz="half" idx="10"/>
          </p:nvPr>
        </p:nvSpPr>
        <p:spPr/>
        <p:txBody>
          <a:bodyPr/>
          <a:lstStyle>
            <a:lvl1pPr>
              <a:defRPr/>
            </a:lvl1pPr>
          </a:lstStyle>
          <a:p>
            <a:pPr>
              <a:defRPr/>
            </a:pPr>
            <a:fld id="{53FAFDA5-D5C2-4C05-9C0B-C9415FA58A29}" type="datetimeFigureOut">
              <a:rPr lang="zh-CN" altLang="en-US"/>
              <a:t>2024/10/18</a:t>
            </a:fld>
            <a:endParaRPr 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577F928D-9DCC-4982-B772-BFF8D6D0C041}" type="slidenum">
              <a:rPr lang="zh-CN" altLang="en-US"/>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3"/>
          <p:cNvSpPr>
            <a:spLocks noGrp="1" noChangeArrowheads="1"/>
          </p:cNvSpPr>
          <p:nvPr>
            <p:ph type="dt" sz="half" idx="10"/>
          </p:nvPr>
        </p:nvSpPr>
        <p:spPr/>
        <p:txBody>
          <a:bodyPr/>
          <a:lstStyle>
            <a:lvl1pPr>
              <a:defRPr/>
            </a:lvl1pPr>
          </a:lstStyle>
          <a:p>
            <a:pPr>
              <a:defRPr/>
            </a:pPr>
            <a:fld id="{BC7D807A-3DCF-4A0F-BDD0-C4978D55B699}" type="datetimeFigureOut">
              <a:rPr lang="zh-CN" altLang="en-US"/>
              <a:t>2024/10/18</a:t>
            </a:fld>
            <a:endParaRPr lang="en-US"/>
          </a:p>
        </p:txBody>
      </p:sp>
      <p:sp>
        <p:nvSpPr>
          <p:cNvPr id="8"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9" name="灯片编号占位符 5"/>
          <p:cNvSpPr>
            <a:spLocks noGrp="1" noChangeArrowheads="1"/>
          </p:cNvSpPr>
          <p:nvPr>
            <p:ph type="sldNum" sz="quarter" idx="12"/>
          </p:nvPr>
        </p:nvSpPr>
        <p:spPr/>
        <p:txBody>
          <a:bodyPr/>
          <a:lstStyle>
            <a:lvl1pPr>
              <a:defRPr/>
            </a:lvl1pPr>
          </a:lstStyle>
          <a:p>
            <a:pPr>
              <a:defRPr/>
            </a:pPr>
            <a:fld id="{068ACBFB-E8CC-4BEF-838F-50E77C54EC4C}" type="slidenum">
              <a:rPr lang="zh-CN" altLang="en-US"/>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noChangeArrowheads="1"/>
          </p:cNvSpPr>
          <p:nvPr>
            <p:ph type="dt" sz="half" idx="10"/>
          </p:nvPr>
        </p:nvSpPr>
        <p:spPr/>
        <p:txBody>
          <a:bodyPr/>
          <a:lstStyle>
            <a:lvl1pPr>
              <a:defRPr/>
            </a:lvl1pPr>
          </a:lstStyle>
          <a:p>
            <a:pPr>
              <a:defRPr/>
            </a:pPr>
            <a:fld id="{DE4CA264-3773-4A6D-8244-3AFF520A3A3E}" type="datetimeFigureOut">
              <a:rPr lang="zh-CN" altLang="en-US"/>
              <a:t>2024/10/18</a:t>
            </a:fld>
            <a:endParaRPr lang="en-US"/>
          </a:p>
        </p:txBody>
      </p:sp>
      <p:sp>
        <p:nvSpPr>
          <p:cNvPr id="4"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5" name="灯片编号占位符 5"/>
          <p:cNvSpPr>
            <a:spLocks noGrp="1" noChangeArrowheads="1"/>
          </p:cNvSpPr>
          <p:nvPr>
            <p:ph type="sldNum" sz="quarter" idx="12"/>
          </p:nvPr>
        </p:nvSpPr>
        <p:spPr/>
        <p:txBody>
          <a:bodyPr/>
          <a:lstStyle>
            <a:lvl1pPr>
              <a:defRPr/>
            </a:lvl1pPr>
          </a:lstStyle>
          <a:p>
            <a:pPr>
              <a:defRPr/>
            </a:pPr>
            <a:fld id="{5EFD97B0-8BB3-4E4E-B7BB-69C344D5EB30}" type="slidenum">
              <a:rPr lang="zh-CN" altLang="en-US"/>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pic>
        <p:nvPicPr>
          <p:cNvPr id="2" name="Picture 2" descr="E:\11bak-mydoc\校徽-1.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107950" y="115888"/>
            <a:ext cx="719138" cy="720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descr="C:\Users\Administrator\AppData\Roaming\Tencent\Users\707040442\QQ\WinTemp\RichOle\ON5N8VZ1{YFQEX)5VQB}DNQ.png"/>
          <p:cNvPicPr>
            <a:picLocks noChangeArrowheads="1"/>
          </p:cNvPicPr>
          <p:nvPr userDrawn="1"/>
        </p:nvPicPr>
        <p:blipFill>
          <a:blip r:embed="rId3">
            <a:extLst>
              <a:ext uri="{28A0092B-C50C-407E-A947-70E740481C1C}">
                <a14:useLocalDpi xmlns:a14="http://schemas.microsoft.com/office/drawing/2010/main" val="0"/>
              </a:ext>
            </a:extLst>
          </a:blip>
          <a:srcRect/>
          <a:stretch>
            <a:fillRect/>
          </a:stretch>
        </p:blipFill>
        <p:spPr bwMode="auto">
          <a:xfrm>
            <a:off x="107950" y="836613"/>
            <a:ext cx="8912225" cy="93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日期占位符 3"/>
          <p:cNvSpPr>
            <a:spLocks noGrp="1" noChangeArrowheads="1"/>
          </p:cNvSpPr>
          <p:nvPr>
            <p:ph type="dt" sz="half" idx="10"/>
          </p:nvPr>
        </p:nvSpPr>
        <p:spPr/>
        <p:txBody>
          <a:bodyPr/>
          <a:lstStyle>
            <a:lvl1pPr>
              <a:defRPr/>
            </a:lvl1pPr>
          </a:lstStyle>
          <a:p>
            <a:pPr>
              <a:defRPr/>
            </a:pPr>
            <a:fld id="{7C4E80B5-F845-42C6-B24C-4F70357BCAD4}" type="datetimeFigureOut">
              <a:rPr lang="zh-CN" altLang="en-US"/>
              <a:t>2024/10/18</a:t>
            </a:fld>
            <a:endParaRPr 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767BED09-F683-453A-A147-B63B9FD9033A}" type="slidenum">
              <a:rPr lang="zh-CN" altLang="en-US"/>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66006828-A418-46B4-A161-564AB8313AEB}" type="datetimeFigureOut">
              <a:rPr lang="zh-CN" altLang="en-US"/>
              <a:t>2024/10/18</a:t>
            </a:fld>
            <a:endParaRPr 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D35EF46A-EC2A-4FD1-A57C-35435B32D711}" type="slidenum">
              <a:rPr lang="zh-CN" altLang="en-US"/>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3"/>
          <p:cNvSpPr>
            <a:spLocks noGrp="1" noChangeArrowheads="1"/>
          </p:cNvSpPr>
          <p:nvPr>
            <p:ph type="dt" sz="half" idx="10"/>
          </p:nvPr>
        </p:nvSpPr>
        <p:spPr/>
        <p:txBody>
          <a:bodyPr/>
          <a:lstStyle>
            <a:lvl1pPr>
              <a:defRPr/>
            </a:lvl1pPr>
          </a:lstStyle>
          <a:p>
            <a:pPr>
              <a:defRPr/>
            </a:pPr>
            <a:fld id="{581E3005-2A25-4C48-8BC0-02A47C44793A}" type="datetimeFigureOut">
              <a:rPr lang="zh-CN" altLang="en-US"/>
              <a:t>2024/10/18</a:t>
            </a:fld>
            <a:endParaRPr lang="en-US"/>
          </a:p>
        </p:txBody>
      </p:sp>
      <p:sp>
        <p:nvSpPr>
          <p:cNvPr id="6"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7" name="灯片编号占位符 5"/>
          <p:cNvSpPr>
            <a:spLocks noGrp="1" noChangeArrowheads="1"/>
          </p:cNvSpPr>
          <p:nvPr>
            <p:ph type="sldNum" sz="quarter" idx="12"/>
          </p:nvPr>
        </p:nvSpPr>
        <p:spPr/>
        <p:txBody>
          <a:bodyPr/>
          <a:lstStyle>
            <a:lvl1pPr>
              <a:defRPr/>
            </a:lvl1pPr>
          </a:lstStyle>
          <a:p>
            <a:pPr>
              <a:defRPr/>
            </a:pPr>
            <a:fld id="{40B51EA3-AB21-40C8-AE34-2A67EF701107}" type="slidenum">
              <a:rPr lang="zh-CN" altLang="en-US"/>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A8B87EBF-A606-4592-8730-B0906619C0AF}" type="datetimeFigureOut">
              <a:rPr lang="zh-CN" altLang="en-US"/>
              <a:t>2024/10/18</a:t>
            </a:fld>
            <a:endParaRPr 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073F90A9-DA3D-4139-9744-2C3AD258B307}" type="slidenum">
              <a:rPr lang="zh-CN" altLang="en-US"/>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noChangeArrowheads="1"/>
          </p:cNvSpPr>
          <p:nvPr>
            <p:ph type="dt" sz="half" idx="10"/>
          </p:nvPr>
        </p:nvSpPr>
        <p:spPr/>
        <p:txBody>
          <a:bodyPr/>
          <a:lstStyle>
            <a:lvl1pPr>
              <a:defRPr/>
            </a:lvl1pPr>
          </a:lstStyle>
          <a:p>
            <a:pPr>
              <a:defRPr/>
            </a:pPr>
            <a:fld id="{D956DC63-8479-44B3-984E-6EC7CC1B8018}" type="datetimeFigureOut">
              <a:rPr lang="zh-CN" altLang="en-US"/>
              <a:t>2024/10/18</a:t>
            </a:fld>
            <a:endParaRPr lang="en-US"/>
          </a:p>
        </p:txBody>
      </p:sp>
      <p:sp>
        <p:nvSpPr>
          <p:cNvPr id="5"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6" name="灯片编号占位符 5"/>
          <p:cNvSpPr>
            <a:spLocks noGrp="1" noChangeArrowheads="1"/>
          </p:cNvSpPr>
          <p:nvPr>
            <p:ph type="sldNum" sz="quarter" idx="12"/>
          </p:nvPr>
        </p:nvSpPr>
        <p:spPr/>
        <p:txBody>
          <a:bodyPr/>
          <a:lstStyle>
            <a:lvl1pPr>
              <a:defRPr/>
            </a:lvl1pPr>
          </a:lstStyle>
          <a:p>
            <a:pPr>
              <a:defRPr/>
            </a:pPr>
            <a:fld id="{9F83AAD5-1702-4B4F-A8AB-21AE2288793D}" type="slidenum">
              <a:rPr lang="zh-CN" altLang="en-US"/>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reserve="1">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648200" y="1600200"/>
            <a:ext cx="4038600" cy="21859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648200" y="3938588"/>
            <a:ext cx="4038600" cy="2187575"/>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3"/>
          <p:cNvSpPr>
            <a:spLocks noGrp="1" noChangeArrowheads="1"/>
          </p:cNvSpPr>
          <p:nvPr>
            <p:ph type="dt" sz="half" idx="10"/>
          </p:nvPr>
        </p:nvSpPr>
        <p:spPr/>
        <p:txBody>
          <a:bodyPr/>
          <a:lstStyle>
            <a:lvl1pPr>
              <a:defRPr/>
            </a:lvl1pPr>
          </a:lstStyle>
          <a:p>
            <a:pPr>
              <a:defRPr/>
            </a:pPr>
            <a:fld id="{5C2DEECC-35A8-41F3-84DE-D6863551F6AE}" type="datetimeFigureOut">
              <a:rPr lang="zh-CN" altLang="en-US"/>
              <a:t>2024/10/18</a:t>
            </a:fld>
            <a:endParaRPr lang="en-US"/>
          </a:p>
        </p:txBody>
      </p:sp>
      <p:sp>
        <p:nvSpPr>
          <p:cNvPr id="7" name="页脚占位符 4"/>
          <p:cNvSpPr>
            <a:spLocks noGrp="1" noChangeArrowheads="1"/>
          </p:cNvSpPr>
          <p:nvPr>
            <p:ph type="ftr" sz="quarter" idx="11"/>
          </p:nvPr>
        </p:nvSpPr>
        <p:spPr/>
        <p:txBody>
          <a:bodyPr/>
          <a:lstStyle>
            <a:lvl1pPr>
              <a:defRPr/>
            </a:lvl1pPr>
          </a:lstStyle>
          <a:p>
            <a:pPr>
              <a:defRPr/>
            </a:pPr>
            <a:endParaRPr lang="zh-CN" altLang="en-US"/>
          </a:p>
        </p:txBody>
      </p:sp>
      <p:sp>
        <p:nvSpPr>
          <p:cNvPr id="8" name="灯片编号占位符 5"/>
          <p:cNvSpPr>
            <a:spLocks noGrp="1" noChangeArrowheads="1"/>
          </p:cNvSpPr>
          <p:nvPr>
            <p:ph type="sldNum" sz="quarter" idx="12"/>
          </p:nvPr>
        </p:nvSpPr>
        <p:spPr/>
        <p:txBody>
          <a:bodyPr/>
          <a:lstStyle>
            <a:lvl1pPr>
              <a:defRPr/>
            </a:lvl1pPr>
          </a:lstStyle>
          <a:p>
            <a:pPr>
              <a:defRPr/>
            </a:pPr>
            <a:fld id="{3340BE22-4133-4095-A4FE-A6C3F6B117B7}" type="slidenum">
              <a:rPr lang="zh-CN" altLang="en-US"/>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gradFill flip="none" rotWithShape="1">
          <a:gsLst>
            <a:gs pos="0">
              <a:schemeClr val="accent5">
                <a:lumMod val="20000"/>
                <a:lumOff val="80000"/>
              </a:schemeClr>
            </a:gs>
            <a:gs pos="100000">
              <a:schemeClr val="accent1">
                <a:lumMod val="30000"/>
                <a:lumOff val="70000"/>
              </a:schemeClr>
            </a:gs>
          </a:gsLst>
          <a:lin ang="10200000" scaled="0"/>
          <a:tileRect/>
        </a:gra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a:t>单击此处编辑母版标题样式</a:t>
            </a:r>
          </a:p>
        </p:txBody>
      </p:sp>
      <p:sp>
        <p:nvSpPr>
          <p:cNvPr id="1027" name="文本占位符 2"/>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日期占位符 3"/>
          <p:cNvSpPr>
            <a:spLocks noGrp="1" noChangeArrowheads="1"/>
          </p:cNvSpPr>
          <p:nvPr>
            <p:ph type="dt" sz="half" idx="2"/>
          </p:nvPr>
        </p:nvSpPr>
        <p:spPr bwMode="auto">
          <a:xfrm>
            <a:off x="457200" y="6356350"/>
            <a:ext cx="2133600" cy="365125"/>
          </a:xfrm>
          <a:prstGeom prst="rect">
            <a:avLst/>
          </a:prstGeom>
          <a:noFill/>
          <a:ln w="9525">
            <a:noFill/>
            <a:miter lim="800000"/>
          </a:ln>
        </p:spPr>
        <p:txBody>
          <a:bodyPr vert="horz" wrap="square" lIns="91440" tIns="45720" rIns="91440" bIns="45720" numCol="1" anchor="ctr" anchorCtr="0" compatLnSpc="1"/>
          <a:lstStyle>
            <a:lvl1pPr>
              <a:defRPr sz="1200" b="0">
                <a:solidFill>
                  <a:srgbClr val="898989"/>
                </a:solidFill>
                <a:ea typeface="宋体" panose="02010600030101010101" pitchFamily="2" charset="-122"/>
              </a:defRPr>
            </a:lvl1pPr>
          </a:lstStyle>
          <a:p>
            <a:pPr>
              <a:defRPr/>
            </a:pPr>
            <a:fld id="{9E7AB821-67B6-44FC-B3CC-1E31B6FB1A39}" type="datetimeFigureOut">
              <a:rPr lang="zh-CN" altLang="en-US"/>
              <a:t>2024/10/18</a:t>
            </a:fld>
            <a:endParaRPr lang="en-US"/>
          </a:p>
        </p:txBody>
      </p:sp>
      <p:sp>
        <p:nvSpPr>
          <p:cNvPr id="1029" name="页脚占位符 4"/>
          <p:cNvSpPr>
            <a:spLocks noGrp="1" noChangeArrowheads="1"/>
          </p:cNvSpPr>
          <p:nvPr>
            <p:ph type="ftr" sz="quarter" idx="3"/>
          </p:nvPr>
        </p:nvSpPr>
        <p:spPr bwMode="auto">
          <a:xfrm>
            <a:off x="3124200" y="6356350"/>
            <a:ext cx="2895600" cy="365125"/>
          </a:xfrm>
          <a:prstGeom prst="rect">
            <a:avLst/>
          </a:prstGeom>
          <a:noFill/>
          <a:ln w="9525">
            <a:noFill/>
            <a:miter lim="800000"/>
          </a:ln>
        </p:spPr>
        <p:txBody>
          <a:bodyPr vert="horz" wrap="square" lIns="91440" tIns="45720" rIns="91440" bIns="45720" numCol="1" anchor="ctr" anchorCtr="0" compatLnSpc="1"/>
          <a:lstStyle>
            <a:lvl1pPr algn="ctr">
              <a:defRPr sz="1200" b="0">
                <a:solidFill>
                  <a:srgbClr val="898989"/>
                </a:solidFill>
                <a:ea typeface="宋体" panose="02010600030101010101" pitchFamily="2" charset="-122"/>
              </a:defRPr>
            </a:lvl1pPr>
          </a:lstStyle>
          <a:p>
            <a:pPr>
              <a:defRPr/>
            </a:pPr>
            <a:endParaRPr lang="zh-CN" altLang="en-US"/>
          </a:p>
        </p:txBody>
      </p:sp>
      <p:sp>
        <p:nvSpPr>
          <p:cNvPr id="1030" name="灯片编号占位符 5"/>
          <p:cNvSpPr>
            <a:spLocks noGrp="1" noChangeArrowheads="1"/>
          </p:cNvSpPr>
          <p:nvPr>
            <p:ph type="sldNum" sz="quarter" idx="4"/>
          </p:nvPr>
        </p:nvSpPr>
        <p:spPr bwMode="auto">
          <a:xfrm>
            <a:off x="6553200" y="6356350"/>
            <a:ext cx="2133600" cy="365125"/>
          </a:xfrm>
          <a:prstGeom prst="rect">
            <a:avLst/>
          </a:prstGeom>
          <a:noFill/>
          <a:ln w="9525">
            <a:noFill/>
            <a:miter lim="800000"/>
          </a:ln>
        </p:spPr>
        <p:txBody>
          <a:bodyPr vert="horz" wrap="square" lIns="91440" tIns="45720" rIns="91440" bIns="45720" numCol="1" anchor="ctr" anchorCtr="0" compatLnSpc="1"/>
          <a:lstStyle>
            <a:lvl1pPr algn="r">
              <a:defRPr sz="1200" b="0">
                <a:solidFill>
                  <a:srgbClr val="898989"/>
                </a:solidFill>
                <a:ea typeface="宋体" panose="02010600030101010101" pitchFamily="2" charset="-122"/>
              </a:defRPr>
            </a:lvl1pPr>
          </a:lstStyle>
          <a:p>
            <a:pPr>
              <a:defRPr/>
            </a:pPr>
            <a:fld id="{040DF80B-4C3F-4C06-B19B-6953EB81B424}" type="slidenum">
              <a:rPr lang="zh-CN" altLang="en-US"/>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2pPr>
      <a:lvl3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3pPr>
      <a:lvl4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4pPr>
      <a:lvl5pPr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defRPr>
      </a:lvl5pPr>
      <a:lvl6pPr marL="4572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6pPr>
      <a:lvl7pPr marL="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7pPr>
      <a:lvl8pPr marL="13716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8pPr>
      <a:lvl9pPr marL="18288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a:solidFill>
            <a:schemeClr val="tx1"/>
          </a:solidFill>
          <a:latin typeface="+mn-lt"/>
          <a:ea typeface="+mn-ea"/>
        </a:defRPr>
      </a:lvl2pPr>
      <a:lvl3pPr marL="1143000" indent="-228600" algn="l" rtl="0" eaLnBrk="0" fontAlgn="base" hangingPunct="0">
        <a:spcBef>
          <a:spcPct val="20000"/>
        </a:spcBef>
        <a:spcAft>
          <a:spcPct val="0"/>
        </a:spcAft>
        <a:buFont typeface="Arial" panose="020B0604020202020204" pitchFamily="34" charset="0"/>
        <a:buChar char="•"/>
        <a:defRPr sz="2400">
          <a:solidFill>
            <a:schemeClr val="tx1"/>
          </a:solidFill>
          <a:latin typeface="+mn-lt"/>
          <a:ea typeface="+mn-ea"/>
        </a:defRPr>
      </a:lvl3pPr>
      <a:lvl4pPr marL="16002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4pPr>
      <a:lvl5pPr marL="2057400" indent="-228600" algn="l" rtl="0" eaLnBrk="0" fontAlgn="base" hangingPunct="0">
        <a:spcBef>
          <a:spcPct val="20000"/>
        </a:spcBef>
        <a:spcAft>
          <a:spcPct val="0"/>
        </a:spcAft>
        <a:buFont typeface="Arial" panose="020B0604020202020204" pitchFamily="34" charset="0"/>
        <a:buChar char="»"/>
        <a:defRPr sz="2000">
          <a:solidFill>
            <a:schemeClr val="tx1"/>
          </a:solidFill>
          <a:latin typeface="+mn-lt"/>
          <a:ea typeface="+mn-ea"/>
        </a:defRPr>
      </a:lvl5pPr>
      <a:lvl6pPr marL="25146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defRPr>
      </a:lvl6pPr>
      <a:lvl7pPr marL="29718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defRPr>
      </a:lvl7pPr>
      <a:lvl8pPr marL="34290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defRPr>
      </a:lvl8pPr>
      <a:lvl9pPr marL="3886200" indent="-228600" algn="l" rtl="0" fontAlgn="base">
        <a:spcBef>
          <a:spcPct val="20000"/>
        </a:spcBef>
        <a:spcAft>
          <a:spcPct val="0"/>
        </a:spcAft>
        <a:buFont typeface="Arial" panose="020B0604020202020204" pitchFamily="34" charset="0"/>
        <a:buChar char="»"/>
        <a:defRPr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 Id="rId4" Type="http://schemas.openxmlformats.org/officeDocument/2006/relationships/image" Target="../media/image27.png"/></Relationships>
</file>

<file path=ppt/slides/_rels/slide3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26.png"/><Relationship Id="rId4" Type="http://schemas.openxmlformats.org/officeDocument/2006/relationships/image" Target="../media/image30.png"/></Relationships>
</file>

<file path=ppt/slides/_rels/slide4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99592" y="116632"/>
            <a:ext cx="8208912"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3.6 Some advanced SQL syntax</a:t>
            </a:r>
          </a:p>
        </p:txBody>
      </p:sp>
      <p:sp>
        <p:nvSpPr>
          <p:cNvPr id="3" name="Rectangle 2"/>
          <p:cNvSpPr/>
          <p:nvPr/>
        </p:nvSpPr>
        <p:spPr>
          <a:xfrm>
            <a:off x="94593" y="1404446"/>
            <a:ext cx="9013911" cy="1966885"/>
          </a:xfrm>
          <a:prstGeom prst="rect">
            <a:avLst/>
          </a:prstGeom>
        </p:spPr>
        <p:txBody>
          <a:bodyPr wrap="square">
            <a:spAutoFit/>
          </a:bodyPr>
          <a:lstStyle/>
          <a:p>
            <a:pPr>
              <a:lnSpc>
                <a:spcPct val="150000"/>
              </a:lnSpc>
            </a:pPr>
            <a:r>
              <a:rPr lang="en-US" sz="2400" dirty="0">
                <a:solidFill>
                  <a:srgbClr val="7030A0"/>
                </a:solidFill>
                <a:latin typeface="Times New Roman" panose="02020603050405020304" pitchFamily="18" charset="0"/>
                <a:cs typeface="Times New Roman" panose="02020603050405020304" pitchFamily="18" charset="0"/>
              </a:rPr>
              <a:t>1. UNION, INTERSECT and EXCEPT Operators </a:t>
            </a:r>
          </a:p>
          <a:p>
            <a:r>
              <a:rPr lang="en-US" sz="2400" dirty="0">
                <a:solidFill>
                  <a:srgbClr val="7030A0"/>
                </a:solidFill>
                <a:latin typeface="Times New Roman" panose="02020603050405020304" pitchFamily="18" charset="0"/>
                <a:cs typeface="Times New Roman" panose="02020603050405020304" pitchFamily="18" charset="0"/>
              </a:rPr>
              <a:t>  [1] form </a:t>
            </a:r>
            <a:r>
              <a:rPr lang="en-US" sz="2200" dirty="0">
                <a:solidFill>
                  <a:srgbClr val="002060"/>
                </a:solidFill>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rPr>
              <a:t>subquery {UNION [ALL] | INTERSECT [ALL]</a:t>
            </a:r>
          </a:p>
          <a:p>
            <a:pPr>
              <a:lnSpc>
                <a:spcPct val="150000"/>
              </a:lnSpc>
            </a:pPr>
            <a:r>
              <a:rPr lang="en-US" sz="2000" dirty="0">
                <a:solidFill>
                  <a:srgbClr val="002060"/>
                </a:solidFill>
                <a:latin typeface="Times New Roman" panose="02020603050405020304" pitchFamily="18" charset="0"/>
                <a:cs typeface="Times New Roman" panose="02020603050405020304" pitchFamily="18" charset="0"/>
              </a:rPr>
              <a:t>				             | EXCEPT [ALL] subquery}</a:t>
            </a:r>
          </a:p>
          <a:p>
            <a:pPr>
              <a:lnSpc>
                <a:spcPct val="150000"/>
              </a:lnSpc>
              <a:spcBef>
                <a:spcPts val="0"/>
              </a:spcBef>
            </a:pPr>
            <a:r>
              <a:rPr lang="en-US" sz="2400" dirty="0">
                <a:solidFill>
                  <a:srgbClr val="7030A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[2] Example 3.6.1 </a:t>
            </a:r>
            <a:r>
              <a:rPr lang="en-US" sz="2200" dirty="0">
                <a:solidFill>
                  <a:srgbClr val="7030A0"/>
                </a:solidFill>
                <a:latin typeface="+mn-lt"/>
                <a:cs typeface="Times New Roman" panose="02020603050405020304" pitchFamily="18" charset="0"/>
              </a:rPr>
              <a:t>Find </a:t>
            </a:r>
            <a:r>
              <a:rPr lang="en-US" sz="2200" dirty="0" err="1">
                <a:solidFill>
                  <a:srgbClr val="7030A0"/>
                </a:solidFill>
                <a:latin typeface="+mn-lt"/>
                <a:cs typeface="Times New Roman" panose="02020603050405020304" pitchFamily="18" charset="0"/>
              </a:rPr>
              <a:t>cids</a:t>
            </a:r>
            <a:r>
              <a:rPr lang="en-US" sz="2200" dirty="0">
                <a:solidFill>
                  <a:srgbClr val="7030A0"/>
                </a:solidFill>
                <a:latin typeface="+mn-lt"/>
                <a:cs typeface="Times New Roman" panose="02020603050405020304" pitchFamily="18" charset="0"/>
              </a:rPr>
              <a:t> who order both products p01 and p07.</a:t>
            </a:r>
          </a:p>
        </p:txBody>
      </p:sp>
      <p:sp>
        <p:nvSpPr>
          <p:cNvPr id="4" name="矩形 3"/>
          <p:cNvSpPr/>
          <p:nvPr/>
        </p:nvSpPr>
        <p:spPr>
          <a:xfrm>
            <a:off x="107504" y="908720"/>
            <a:ext cx="3586311" cy="461665"/>
          </a:xfrm>
          <a:prstGeom prst="rect">
            <a:avLst/>
          </a:prstGeom>
          <a:solidFill>
            <a:srgbClr val="FFC000"/>
          </a:solidFill>
          <a:scene3d>
            <a:camera prst="orthographicFront"/>
            <a:lightRig rig="threePt" dir="t"/>
          </a:scene3d>
          <a:sp3d>
            <a:bevelT/>
          </a:sp3d>
        </p:spPr>
        <p:style>
          <a:lnRef idx="1">
            <a:schemeClr val="accent6"/>
          </a:lnRef>
          <a:fillRef idx="2">
            <a:schemeClr val="accent6"/>
          </a:fillRef>
          <a:effectRef idx="1">
            <a:schemeClr val="accent6"/>
          </a:effectRef>
          <a:fontRef idx="minor">
            <a:schemeClr val="dk1"/>
          </a:fontRef>
        </p:style>
        <p:txBody>
          <a:bodyPr wrap="square">
            <a:spAutoFit/>
          </a:bodyPr>
          <a:lstStyle/>
          <a:p>
            <a:pPr marL="342900" indent="-342900">
              <a:spcBef>
                <a:spcPts val="1800"/>
              </a:spcBef>
              <a:buFont typeface="Wingdings" panose="05000000000000000000" pitchFamily="2" charset="2"/>
              <a:buChar char="l"/>
            </a:pPr>
            <a:r>
              <a:rPr lang="en-US" altLang="zh-CN" sz="2400" i="1" dirty="0">
                <a:solidFill>
                  <a:srgbClr val="002060"/>
                </a:solidFill>
                <a:cs typeface="Times New Roman" panose="02020603050405020304" pitchFamily="18" charset="0"/>
              </a:rPr>
              <a:t>Another SQL </a:t>
            </a:r>
            <a:r>
              <a:rPr lang="en-US" altLang="zh-CN" sz="2400" i="1" dirty="0">
                <a:solidFill>
                  <a:srgbClr val="C00000"/>
                </a:solidFill>
                <a:cs typeface="Times New Roman" panose="02020603050405020304" pitchFamily="18" charset="0"/>
              </a:rPr>
              <a:t>Query</a:t>
            </a:r>
            <a:r>
              <a:rPr lang="en-US" altLang="zh-CN" sz="2400" i="1" dirty="0">
                <a:solidFill>
                  <a:srgbClr val="002060"/>
                </a:solidFill>
                <a:cs typeface="Times New Roman" panose="02020603050405020304" pitchFamily="18" charset="0"/>
              </a:rPr>
              <a:t>?</a:t>
            </a:r>
            <a:endParaRPr lang="en-US" altLang="zh-CN" sz="2400" i="1" dirty="0">
              <a:solidFill>
                <a:srgbClr val="7030A0"/>
              </a:solidFill>
              <a:cs typeface="Times New Roman" panose="02020603050405020304" pitchFamily="18" charset="0"/>
            </a:endParaRPr>
          </a:p>
        </p:txBody>
      </p:sp>
      <p:pic>
        <p:nvPicPr>
          <p:cNvPr id="5" name="图片 4"/>
          <p:cNvPicPr/>
          <p:nvPr/>
        </p:nvPicPr>
        <p:blipFill>
          <a:blip r:embed="rId2">
            <a:extLst>
              <a:ext uri="{28A0092B-C50C-407E-A947-70E740481C1C}">
                <a14:useLocalDpi xmlns:a14="http://schemas.microsoft.com/office/drawing/2010/main" val="0"/>
              </a:ext>
            </a:extLst>
          </a:blip>
          <a:stretch>
            <a:fillRect/>
          </a:stretch>
        </p:blipFill>
        <p:spPr>
          <a:xfrm>
            <a:off x="3281852" y="929288"/>
            <a:ext cx="354044" cy="411480"/>
          </a:xfrm>
          <a:prstGeom prst="rect">
            <a:avLst/>
          </a:prstGeom>
        </p:spPr>
      </p:pic>
      <p:pic>
        <p:nvPicPr>
          <p:cNvPr id="6" name="图片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4212" y="3428094"/>
            <a:ext cx="2232136" cy="597449"/>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39952" y="3429000"/>
            <a:ext cx="2232136" cy="597449"/>
          </a:xfrm>
          <a:prstGeom prst="rect">
            <a:avLst/>
          </a:prstGeom>
        </p:spPr>
      </p:pic>
      <p:sp>
        <p:nvSpPr>
          <p:cNvPr id="9" name="箭头: 左弧形 8"/>
          <p:cNvSpPr/>
          <p:nvPr/>
        </p:nvSpPr>
        <p:spPr bwMode="auto">
          <a:xfrm rot="16200000">
            <a:off x="6408205" y="3032957"/>
            <a:ext cx="432048" cy="2520280"/>
          </a:xfrm>
          <a:prstGeom prst="curvedRightArrow">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cxnSp>
        <p:nvCxnSpPr>
          <p:cNvPr id="12" name="直接箭头连接符 11"/>
          <p:cNvCxnSpPr/>
          <p:nvPr/>
        </p:nvCxnSpPr>
        <p:spPr bwMode="auto">
          <a:xfrm>
            <a:off x="7884368" y="3284984"/>
            <a:ext cx="0" cy="575319"/>
          </a:xfrm>
          <a:prstGeom prst="straightConnector1">
            <a:avLst/>
          </a:prstGeom>
          <a:ln w="57150">
            <a:solidFill>
              <a:srgbClr val="00B0F0"/>
            </a:solidFill>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13" name="Rectangle 2"/>
          <p:cNvSpPr/>
          <p:nvPr/>
        </p:nvSpPr>
        <p:spPr>
          <a:xfrm>
            <a:off x="8244408" y="4057327"/>
            <a:ext cx="519739" cy="307777"/>
          </a:xfrm>
          <a:prstGeom prst="rect">
            <a:avLst/>
          </a:prstGeom>
        </p:spPr>
        <p:txBody>
          <a:bodyPr wrap="square">
            <a:spAutoFit/>
          </a:bodyPr>
          <a:lstStyle/>
          <a:p>
            <a:pPr>
              <a:spcAft>
                <a:spcPts val="0"/>
              </a:spcAft>
            </a:pPr>
            <a:r>
              <a:rPr lang="en-US" sz="1400" dirty="0">
                <a:solidFill>
                  <a:srgbClr val="00B050"/>
                </a:solidFill>
                <a:latin typeface="Times New Roman" panose="02020603050405020304" pitchFamily="18" charset="0"/>
                <a:cs typeface="Times New Roman" panose="02020603050405020304" pitchFamily="18" charset="0"/>
              </a:rPr>
              <a:t>p07</a:t>
            </a:r>
          </a:p>
        </p:txBody>
      </p:sp>
      <p:sp>
        <p:nvSpPr>
          <p:cNvPr id="14" name="Rectangle 2"/>
          <p:cNvSpPr/>
          <p:nvPr/>
        </p:nvSpPr>
        <p:spPr>
          <a:xfrm>
            <a:off x="467545" y="4827056"/>
            <a:ext cx="8568952" cy="1554272"/>
          </a:xfrm>
          <a:prstGeom prst="rect">
            <a:avLst/>
          </a:prstGeom>
        </p:spPr>
        <p:txBody>
          <a:bodyPr wrap="square">
            <a:spAutoFit/>
          </a:bodyPr>
          <a:lstStyle/>
          <a:p>
            <a:pPr>
              <a:spcBef>
                <a:spcPts val="800"/>
              </a:spcBef>
            </a:pPr>
            <a:r>
              <a:rPr lang="en-US" altLang="zh-CN" sz="2000" dirty="0">
                <a:solidFill>
                  <a:srgbClr val="C00000"/>
                </a:solidFill>
                <a:latin typeface="Times New Roman" panose="02020603050405020304" pitchFamily="18" charset="0"/>
                <a:cs typeface="Times New Roman" panose="02020603050405020304" pitchFamily="18" charset="0"/>
              </a:rPr>
              <a:t>New</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7030A0"/>
                </a:solidFill>
                <a:latin typeface="Times New Roman" panose="02020603050405020304" pitchFamily="18" charset="0"/>
                <a:cs typeface="Times New Roman" panose="02020603050405020304" pitchFamily="18" charset="0"/>
              </a:rPr>
              <a:t>select</a:t>
            </a:r>
            <a:r>
              <a:rPr lang="en-US" altLang="zh-CN" sz="2000" dirty="0">
                <a:solidFill>
                  <a:srgbClr val="002060"/>
                </a:solidFill>
                <a:latin typeface="Times New Roman" panose="02020603050405020304" pitchFamily="18" charset="0"/>
                <a:cs typeface="Times New Roman" panose="02020603050405020304" pitchFamily="18" charset="0"/>
              </a:rPr>
              <a:t> distinct </a:t>
            </a:r>
            <a:r>
              <a:rPr lang="en-US" altLang="zh-CN" sz="2000" dirty="0" err="1">
                <a:solidFill>
                  <a:srgbClr val="002060"/>
                </a:solidFill>
                <a:latin typeface="Times New Roman" panose="02020603050405020304" pitchFamily="18" charset="0"/>
                <a:cs typeface="Times New Roman" panose="02020603050405020304" pitchFamily="18" charset="0"/>
              </a:rPr>
              <a:t>cid</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7030A0"/>
                </a:solidFill>
                <a:latin typeface="Times New Roman" panose="02020603050405020304" pitchFamily="18" charset="0"/>
                <a:cs typeface="Times New Roman" panose="02020603050405020304" pitchFamily="18" charset="0"/>
              </a:rPr>
              <a:t>from</a:t>
            </a:r>
            <a:r>
              <a:rPr lang="en-US" altLang="zh-CN" sz="2000" dirty="0">
                <a:solidFill>
                  <a:srgbClr val="002060"/>
                </a:solidFill>
                <a:latin typeface="Times New Roman" panose="02020603050405020304" pitchFamily="18" charset="0"/>
                <a:cs typeface="Times New Roman" panose="02020603050405020304" pitchFamily="18" charset="0"/>
              </a:rPr>
              <a:t> orders </a:t>
            </a:r>
            <a:r>
              <a:rPr lang="en-US" altLang="zh-CN" sz="2000" dirty="0">
                <a:solidFill>
                  <a:srgbClr val="7030A0"/>
                </a:solidFill>
                <a:latin typeface="Times New Roman" panose="02020603050405020304" pitchFamily="18" charset="0"/>
                <a:cs typeface="Times New Roman" panose="02020603050405020304" pitchFamily="18" charset="0"/>
              </a:rPr>
              <a:t>where</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err="1">
                <a:solidFill>
                  <a:srgbClr val="002060"/>
                </a:solidFill>
                <a:latin typeface="Times New Roman" panose="02020603050405020304" pitchFamily="18" charset="0"/>
                <a:cs typeface="Times New Roman" panose="02020603050405020304" pitchFamily="18" charset="0"/>
              </a:rPr>
              <a:t>pid</a:t>
            </a:r>
            <a:r>
              <a:rPr lang="en-US" altLang="zh-CN" sz="2000" dirty="0">
                <a:solidFill>
                  <a:srgbClr val="002060"/>
                </a:solidFill>
                <a:latin typeface="Times New Roman" panose="02020603050405020304" pitchFamily="18" charset="0"/>
                <a:cs typeface="Times New Roman" panose="02020603050405020304" pitchFamily="18" charset="0"/>
              </a:rPr>
              <a:t> = ‘p01’ )</a:t>
            </a:r>
          </a:p>
          <a:p>
            <a:pPr>
              <a:spcBef>
                <a:spcPts val="600"/>
              </a:spcBef>
            </a:pP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i="1" dirty="0">
                <a:solidFill>
                  <a:srgbClr val="C00000"/>
                </a:solidFill>
                <a:highlight>
                  <a:srgbClr val="FFFF00"/>
                </a:highlight>
                <a:latin typeface="Times New Roman" panose="02020603050405020304" pitchFamily="18" charset="0"/>
                <a:cs typeface="Times New Roman" panose="02020603050405020304" pitchFamily="18" charset="0"/>
              </a:rPr>
              <a:t>intersect</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7030A0"/>
                </a:solidFill>
                <a:latin typeface="Times New Roman" panose="02020603050405020304" pitchFamily="18" charset="0"/>
                <a:cs typeface="Times New Roman" panose="02020603050405020304" pitchFamily="18" charset="0"/>
              </a:rPr>
              <a:t>select</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err="1">
                <a:solidFill>
                  <a:srgbClr val="002060"/>
                </a:solidFill>
                <a:latin typeface="Times New Roman" panose="02020603050405020304" pitchFamily="18" charset="0"/>
                <a:cs typeface="Times New Roman" panose="02020603050405020304" pitchFamily="18" charset="0"/>
              </a:rPr>
              <a:t>cid</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7030A0"/>
                </a:solidFill>
                <a:latin typeface="Times New Roman" panose="02020603050405020304" pitchFamily="18" charset="0"/>
                <a:cs typeface="Times New Roman" panose="02020603050405020304" pitchFamily="18" charset="0"/>
              </a:rPr>
              <a:t>from</a:t>
            </a:r>
            <a:r>
              <a:rPr lang="en-US" altLang="zh-CN" sz="2000" dirty="0">
                <a:solidFill>
                  <a:srgbClr val="002060"/>
                </a:solidFill>
                <a:latin typeface="Times New Roman" panose="02020603050405020304" pitchFamily="18" charset="0"/>
                <a:cs typeface="Times New Roman" panose="02020603050405020304" pitchFamily="18" charset="0"/>
              </a:rPr>
              <a:t> orders </a:t>
            </a:r>
            <a:r>
              <a:rPr lang="en-US" altLang="zh-CN" sz="2000" dirty="0">
                <a:solidFill>
                  <a:srgbClr val="7030A0"/>
                </a:solidFill>
                <a:latin typeface="Times New Roman" panose="02020603050405020304" pitchFamily="18" charset="0"/>
                <a:cs typeface="Times New Roman" panose="02020603050405020304" pitchFamily="18" charset="0"/>
              </a:rPr>
              <a:t>where</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err="1">
                <a:solidFill>
                  <a:srgbClr val="002060"/>
                </a:solidFill>
                <a:latin typeface="Times New Roman" panose="02020603050405020304" pitchFamily="18" charset="0"/>
                <a:cs typeface="Times New Roman" panose="02020603050405020304" pitchFamily="18" charset="0"/>
              </a:rPr>
              <a:t>pid</a:t>
            </a:r>
            <a:r>
              <a:rPr lang="en-US" altLang="zh-CN" sz="2000" dirty="0">
                <a:solidFill>
                  <a:srgbClr val="002060"/>
                </a:solidFill>
                <a:latin typeface="Times New Roman" panose="02020603050405020304" pitchFamily="18" charset="0"/>
                <a:cs typeface="Times New Roman" panose="02020603050405020304" pitchFamily="18" charset="0"/>
              </a:rPr>
              <a:t> = 'p07');</a:t>
            </a:r>
            <a:r>
              <a:rPr lang="en-US" sz="2000" dirty="0">
                <a:solidFill>
                  <a:srgbClr val="002060"/>
                </a:solidFill>
                <a:latin typeface="Times New Roman" panose="02020603050405020304" pitchFamily="18" charset="0"/>
                <a:cs typeface="Times New Roman" panose="02020603050405020304" pitchFamily="18" charset="0"/>
              </a:rPr>
              <a:t> </a:t>
            </a:r>
          </a:p>
          <a:p>
            <a:pPr>
              <a:spcBef>
                <a:spcPts val="600"/>
              </a:spcBef>
            </a:pPr>
            <a:r>
              <a:rPr lang="en-US" sz="2000" dirty="0">
                <a:solidFill>
                  <a:srgbClr val="C00000"/>
                </a:solidFill>
                <a:latin typeface="Times New Roman" panose="02020603050405020304" pitchFamily="18" charset="0"/>
                <a:cs typeface="Times New Roman" panose="02020603050405020304" pitchFamily="18" charset="0"/>
              </a:rPr>
              <a:t>Old</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select</a:t>
            </a:r>
            <a:r>
              <a:rPr lang="en-US" sz="2000" dirty="0">
                <a:solidFill>
                  <a:srgbClr val="002060"/>
                </a:solidFill>
                <a:latin typeface="Times New Roman" panose="02020603050405020304" pitchFamily="18" charset="0"/>
                <a:cs typeface="Times New Roman" panose="02020603050405020304" pitchFamily="18" charset="0"/>
              </a:rPr>
              <a:t> distinct </a:t>
            </a:r>
            <a:r>
              <a:rPr lang="en-US" sz="2000" dirty="0" err="1">
                <a:solidFill>
                  <a:srgbClr val="002060"/>
                </a:solidFill>
                <a:latin typeface="Times New Roman" panose="02020603050405020304" pitchFamily="18" charset="0"/>
                <a:cs typeface="Times New Roman" panose="02020603050405020304" pitchFamily="18" charset="0"/>
              </a:rPr>
              <a:t>cid</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from</a:t>
            </a:r>
            <a:r>
              <a:rPr lang="en-US" sz="2000" dirty="0">
                <a:solidFill>
                  <a:srgbClr val="002060"/>
                </a:solidFill>
                <a:latin typeface="Times New Roman" panose="02020603050405020304" pitchFamily="18" charset="0"/>
                <a:cs typeface="Times New Roman" panose="02020603050405020304" pitchFamily="18" charset="0"/>
              </a:rPr>
              <a:t> orders </a:t>
            </a:r>
            <a:r>
              <a:rPr lang="en-US" sz="2000" dirty="0">
                <a:solidFill>
                  <a:srgbClr val="7030A0"/>
                </a:solidFill>
                <a:latin typeface="Times New Roman" panose="02020603050405020304" pitchFamily="18" charset="0"/>
                <a:cs typeface="Times New Roman" panose="02020603050405020304" pitchFamily="18" charset="0"/>
              </a:rPr>
              <a:t>where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pid</a:t>
            </a:r>
            <a:r>
              <a:rPr lang="en-US" sz="2000" dirty="0">
                <a:solidFill>
                  <a:srgbClr val="002060"/>
                </a:solidFill>
                <a:latin typeface="Times New Roman" panose="02020603050405020304" pitchFamily="18" charset="0"/>
                <a:cs typeface="Times New Roman" panose="02020603050405020304" pitchFamily="18" charset="0"/>
              </a:rPr>
              <a:t> = ‘p01’ and</a:t>
            </a: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i="1" dirty="0" err="1">
                <a:solidFill>
                  <a:srgbClr val="C00000"/>
                </a:solidFill>
                <a:highlight>
                  <a:srgbClr val="FFFF00"/>
                </a:highlight>
                <a:latin typeface="Times New Roman" panose="02020603050405020304" pitchFamily="18" charset="0"/>
                <a:cs typeface="Times New Roman" panose="02020603050405020304" pitchFamily="18" charset="0"/>
              </a:rPr>
              <a:t>cid</a:t>
            </a:r>
            <a:r>
              <a:rPr lang="en-US" sz="2000" i="1" dirty="0">
                <a:solidFill>
                  <a:srgbClr val="C00000"/>
                </a:solidFill>
                <a:highlight>
                  <a:srgbClr val="FFFF00"/>
                </a:highlight>
                <a:latin typeface="Times New Roman" panose="02020603050405020304" pitchFamily="18" charset="0"/>
                <a:cs typeface="Times New Roman" panose="02020603050405020304" pitchFamily="18" charset="0"/>
              </a:rPr>
              <a:t> in</a:t>
            </a:r>
            <a:r>
              <a:rPr lang="en-US" sz="2000" dirty="0">
                <a:solidFill>
                  <a:srgbClr val="C00000"/>
                </a:solidFill>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rPr>
              <a:t>(</a:t>
            </a:r>
            <a:r>
              <a:rPr lang="en-US" sz="2000" dirty="0">
                <a:solidFill>
                  <a:srgbClr val="7030A0"/>
                </a:solidFill>
                <a:latin typeface="Times New Roman" panose="02020603050405020304" pitchFamily="18" charset="0"/>
                <a:cs typeface="Times New Roman" panose="02020603050405020304" pitchFamily="18" charset="0"/>
              </a:rPr>
              <a:t>select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cid</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from</a:t>
            </a:r>
            <a:r>
              <a:rPr lang="en-US" sz="2000" dirty="0">
                <a:solidFill>
                  <a:srgbClr val="002060"/>
                </a:solidFill>
                <a:latin typeface="Times New Roman" panose="02020603050405020304" pitchFamily="18" charset="0"/>
                <a:cs typeface="Times New Roman" panose="02020603050405020304" pitchFamily="18" charset="0"/>
              </a:rPr>
              <a:t> orders </a:t>
            </a:r>
            <a:r>
              <a:rPr lang="en-US" sz="2000" dirty="0">
                <a:solidFill>
                  <a:srgbClr val="7030A0"/>
                </a:solidFill>
                <a:latin typeface="Times New Roman" panose="02020603050405020304" pitchFamily="18" charset="0"/>
                <a:cs typeface="Times New Roman" panose="02020603050405020304" pitchFamily="18" charset="0"/>
              </a:rPr>
              <a:t>where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pid</a:t>
            </a:r>
            <a:r>
              <a:rPr lang="en-US" sz="2000" dirty="0">
                <a:solidFill>
                  <a:srgbClr val="002060"/>
                </a:solidFill>
                <a:latin typeface="Times New Roman" panose="02020603050405020304" pitchFamily="18" charset="0"/>
                <a:cs typeface="Times New Roman" panose="02020603050405020304" pitchFamily="18" charset="0"/>
              </a:rPr>
              <a:t> = 'p07’);</a:t>
            </a:r>
          </a:p>
        </p:txBody>
      </p:sp>
      <p:sp>
        <p:nvSpPr>
          <p:cNvPr id="15" name="Rectangle 2"/>
          <p:cNvSpPr/>
          <p:nvPr/>
        </p:nvSpPr>
        <p:spPr>
          <a:xfrm>
            <a:off x="5935989" y="4057327"/>
            <a:ext cx="519739" cy="307777"/>
          </a:xfrm>
          <a:prstGeom prst="rect">
            <a:avLst/>
          </a:prstGeom>
        </p:spPr>
        <p:txBody>
          <a:bodyPr wrap="square">
            <a:spAutoFit/>
          </a:bodyPr>
          <a:lstStyle/>
          <a:p>
            <a:pPr algn="ctr">
              <a:spcAft>
                <a:spcPts val="0"/>
              </a:spcAft>
            </a:pPr>
            <a:r>
              <a:rPr lang="en-US" sz="1400" dirty="0">
                <a:solidFill>
                  <a:srgbClr val="00B050"/>
                </a:solidFill>
                <a:latin typeface="Times New Roman" panose="02020603050405020304" pitchFamily="18" charset="0"/>
                <a:cs typeface="Times New Roman" panose="02020603050405020304" pitchFamily="18" charset="0"/>
              </a:rPr>
              <a:t>p01</a:t>
            </a:r>
          </a:p>
        </p:txBody>
      </p:sp>
      <p:cxnSp>
        <p:nvCxnSpPr>
          <p:cNvPr id="16" name="直接箭头连接符 15">
            <a:extLst>
              <a:ext uri="{FF2B5EF4-FFF2-40B4-BE49-F238E27FC236}">
                <a16:creationId xmlns="" xmlns:a16="http://schemas.microsoft.com/office/drawing/2014/main" id="{F44D7D08-84F3-464B-AF3C-ECCFC49B32AB}"/>
              </a:ext>
            </a:extLst>
          </p:cNvPr>
          <p:cNvCxnSpPr>
            <a:cxnSpLocks/>
          </p:cNvCxnSpPr>
          <p:nvPr/>
        </p:nvCxnSpPr>
        <p:spPr bwMode="auto">
          <a:xfrm>
            <a:off x="5364088" y="3371331"/>
            <a:ext cx="0" cy="489344"/>
          </a:xfrm>
          <a:prstGeom prst="straightConnector1">
            <a:avLst/>
          </a:prstGeom>
          <a:ln w="57150">
            <a:solidFill>
              <a:srgbClr val="C00000"/>
            </a:solidFill>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17" name="矩形: 圆角 16">
            <a:extLst>
              <a:ext uri="{FF2B5EF4-FFF2-40B4-BE49-F238E27FC236}">
                <a16:creationId xmlns="" xmlns:a16="http://schemas.microsoft.com/office/drawing/2014/main" id="{12C189A0-6074-4A4D-B7CC-1AB0283C9B21}"/>
              </a:ext>
            </a:extLst>
          </p:cNvPr>
          <p:cNvSpPr/>
          <p:nvPr/>
        </p:nvSpPr>
        <p:spPr>
          <a:xfrm>
            <a:off x="4145509" y="2996045"/>
            <a:ext cx="3810867" cy="288031"/>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8" name="矩形: 圆角 17">
            <a:extLst>
              <a:ext uri="{FF2B5EF4-FFF2-40B4-BE49-F238E27FC236}">
                <a16:creationId xmlns="" xmlns:a16="http://schemas.microsoft.com/office/drawing/2014/main" id="{A2887579-889B-4463-A384-CB5871A58E9B}"/>
              </a:ext>
            </a:extLst>
          </p:cNvPr>
          <p:cNvSpPr/>
          <p:nvPr/>
        </p:nvSpPr>
        <p:spPr>
          <a:xfrm>
            <a:off x="3029441" y="2999761"/>
            <a:ext cx="504056"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9" name="Rectangle 2">
            <a:extLst>
              <a:ext uri="{FF2B5EF4-FFF2-40B4-BE49-F238E27FC236}">
                <a16:creationId xmlns="" xmlns:a16="http://schemas.microsoft.com/office/drawing/2014/main" id="{5BF78915-9F5D-43F4-9680-259A0BFF280B}"/>
              </a:ext>
            </a:extLst>
          </p:cNvPr>
          <p:cNvSpPr/>
          <p:nvPr/>
        </p:nvSpPr>
        <p:spPr>
          <a:xfrm>
            <a:off x="6402591" y="4221088"/>
            <a:ext cx="977721" cy="523220"/>
          </a:xfrm>
          <a:prstGeom prst="rect">
            <a:avLst/>
          </a:prstGeom>
        </p:spPr>
        <p:txBody>
          <a:bodyPr wrap="square">
            <a:spAutoFit/>
          </a:bodyPr>
          <a:lstStyle/>
          <a:p>
            <a:pPr>
              <a:spcAft>
                <a:spcPts val="0"/>
              </a:spcAft>
            </a:pPr>
            <a:r>
              <a:rPr lang="en-US" altLang="zh-CN" sz="1400" dirty="0">
                <a:solidFill>
                  <a:srgbClr val="C00000"/>
                </a:solidFill>
                <a:latin typeface="Times New Roman" panose="02020603050405020304" pitchFamily="18" charset="0"/>
                <a:cs typeface="Times New Roman" panose="02020603050405020304" pitchFamily="18" charset="0"/>
              </a:rPr>
              <a:t>Intersect</a:t>
            </a:r>
          </a:p>
          <a:p>
            <a:pPr>
              <a:spcAft>
                <a:spcPts val="0"/>
              </a:spcAft>
            </a:pPr>
            <a:r>
              <a:rPr lang="en-US" sz="1400" dirty="0">
                <a:solidFill>
                  <a:srgbClr val="C00000"/>
                </a:solidFill>
                <a:latin typeface="Times New Roman" panose="02020603050405020304" pitchFamily="18" charset="0"/>
                <a:cs typeface="Times New Roman" panose="02020603050405020304" pitchFamily="18" charset="0"/>
              </a:rPr>
              <a:t>/ </a:t>
            </a:r>
            <a:r>
              <a:rPr lang="en-US" sz="1400" dirty="0" err="1">
                <a:solidFill>
                  <a:srgbClr val="C00000"/>
                </a:solidFill>
                <a:latin typeface="Times New Roman" panose="02020603050405020304" pitchFamily="18" charset="0"/>
                <a:cs typeface="Times New Roman" panose="02020603050405020304" pitchFamily="18" charset="0"/>
              </a:rPr>
              <a:t>cid</a:t>
            </a:r>
            <a:r>
              <a:rPr lang="en-US" sz="1400" dirty="0">
                <a:solidFill>
                  <a:srgbClr val="C00000"/>
                </a:solidFill>
                <a:latin typeface="Times New Roman" panose="02020603050405020304" pitchFamily="18" charset="0"/>
                <a:cs typeface="Times New Roman" panose="02020603050405020304" pitchFamily="18" charset="0"/>
              </a:rPr>
              <a:t> in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with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down)">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8"/>
                                        </p:tgtEl>
                                        <p:attrNameLst>
                                          <p:attrName>style.visibility</p:attrName>
                                        </p:attrNameLst>
                                      </p:cBhvr>
                                      <p:to>
                                        <p:strVal val="visible"/>
                                      </p:to>
                                    </p:set>
                                    <p:animEffect transition="in" filter="wipe(left)">
                                      <p:cBhvr>
                                        <p:cTn id="12" dur="500"/>
                                        <p:tgtEl>
                                          <p:spTgt spid="18"/>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wipe(left)">
                                      <p:cBhvr>
                                        <p:cTn id="16" dur="500"/>
                                        <p:tgtEl>
                                          <p:spTgt spid="17"/>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wipe(left)">
                                      <p:cBhvr>
                                        <p:cTn id="21" dur="500"/>
                                        <p:tgtEl>
                                          <p:spTgt spid="7"/>
                                        </p:tgtEl>
                                      </p:cBhvr>
                                    </p:animEffect>
                                  </p:childTnLst>
                                </p:cTn>
                              </p:par>
                            </p:childTnLst>
                          </p:cTn>
                        </p:par>
                        <p:par>
                          <p:cTn id="22" fill="hold">
                            <p:stCondLst>
                              <p:cond delay="500"/>
                            </p:stCondLst>
                            <p:childTnLst>
                              <p:par>
                                <p:cTn id="23" presetID="22" presetClass="entr" presetSubtype="1" fill="hold" nodeType="after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wipe(up)">
                                      <p:cBhvr>
                                        <p:cTn id="25" dur="500"/>
                                        <p:tgtEl>
                                          <p:spTgt spid="16"/>
                                        </p:tgtEl>
                                      </p:cBhvr>
                                    </p:animEffect>
                                  </p:childTnLst>
                                </p:cTn>
                              </p:par>
                            </p:childTnLst>
                          </p:cTn>
                        </p:par>
                        <p:par>
                          <p:cTn id="26" fill="hold">
                            <p:stCondLst>
                              <p:cond delay="1000"/>
                            </p:stCondLst>
                            <p:childTnLst>
                              <p:par>
                                <p:cTn id="27" presetID="22" presetClass="entr" presetSubtype="8" fill="hold" grpId="0" nodeType="after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wipe(left)">
                                      <p:cBhvr>
                                        <p:cTn id="29" dur="500"/>
                                        <p:tgtEl>
                                          <p:spTgt spid="15"/>
                                        </p:tgtEl>
                                      </p:cBhvr>
                                    </p:animEffect>
                                  </p:childTnLst>
                                </p:cTn>
                              </p:par>
                            </p:childTnLst>
                          </p:cTn>
                        </p:par>
                        <p:par>
                          <p:cTn id="30" fill="hold">
                            <p:stCondLst>
                              <p:cond delay="1500"/>
                            </p:stCondLst>
                            <p:childTnLst>
                              <p:par>
                                <p:cTn id="31" presetID="22" presetClass="entr" presetSubtype="8" fill="hold" nodeType="after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wipe(left)">
                                      <p:cBhvr>
                                        <p:cTn id="33" dur="500"/>
                                        <p:tgtEl>
                                          <p:spTgt spid="6"/>
                                        </p:tgtEl>
                                      </p:cBhvr>
                                    </p:animEffect>
                                  </p:childTnLst>
                                </p:cTn>
                              </p:par>
                            </p:childTnLst>
                          </p:cTn>
                        </p:par>
                        <p:par>
                          <p:cTn id="34" fill="hold">
                            <p:stCondLst>
                              <p:cond delay="2000"/>
                            </p:stCondLst>
                            <p:childTnLst>
                              <p:par>
                                <p:cTn id="35" presetID="22" presetClass="entr" presetSubtype="8"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500"/>
                                        <p:tgtEl>
                                          <p:spTgt spid="13"/>
                                        </p:tgtEl>
                                      </p:cBhvr>
                                    </p:animEffect>
                                  </p:childTnLst>
                                </p:cTn>
                              </p:par>
                            </p:childTnLst>
                          </p:cTn>
                        </p:par>
                        <p:par>
                          <p:cTn id="38" fill="hold">
                            <p:stCondLst>
                              <p:cond delay="2500"/>
                            </p:stCondLst>
                            <p:childTnLst>
                              <p:par>
                                <p:cTn id="39" presetID="22" presetClass="entr" presetSubtype="8" fill="hold" nodeType="afterEffect">
                                  <p:stCondLst>
                                    <p:cond delay="0"/>
                                  </p:stCondLst>
                                  <p:childTnLst>
                                    <p:set>
                                      <p:cBhvr>
                                        <p:cTn id="40" dur="1" fill="hold">
                                          <p:stCondLst>
                                            <p:cond delay="0"/>
                                          </p:stCondLst>
                                        </p:cTn>
                                        <p:tgtEl>
                                          <p:spTgt spid="14">
                                            <p:txEl>
                                              <p:pRg st="0" end="0"/>
                                            </p:txEl>
                                          </p:spTgt>
                                        </p:tgtEl>
                                        <p:attrNameLst>
                                          <p:attrName>style.visibility</p:attrName>
                                        </p:attrNameLst>
                                      </p:cBhvr>
                                      <p:to>
                                        <p:strVal val="visible"/>
                                      </p:to>
                                    </p:set>
                                    <p:animEffect transition="in" filter="wipe(left)">
                                      <p:cBhvr>
                                        <p:cTn id="41" dur="500"/>
                                        <p:tgtEl>
                                          <p:spTgt spid="14">
                                            <p:txEl>
                                              <p:pRg st="0" end="0"/>
                                            </p:txEl>
                                          </p:spTgt>
                                        </p:tgtEl>
                                      </p:cBhvr>
                                    </p:animEffect>
                                  </p:childTnLst>
                                </p:cTn>
                              </p:par>
                            </p:childTnLst>
                          </p:cTn>
                        </p:par>
                        <p:par>
                          <p:cTn id="42" fill="hold">
                            <p:stCondLst>
                              <p:cond delay="3000"/>
                            </p:stCondLst>
                            <p:childTnLst>
                              <p:par>
                                <p:cTn id="43" presetID="22" presetClass="entr" presetSubtype="8" fill="hold" nodeType="afterEffect">
                                  <p:stCondLst>
                                    <p:cond delay="0"/>
                                  </p:stCondLst>
                                  <p:childTnLst>
                                    <p:set>
                                      <p:cBhvr>
                                        <p:cTn id="44" dur="1" fill="hold">
                                          <p:stCondLst>
                                            <p:cond delay="0"/>
                                          </p:stCondLst>
                                        </p:cTn>
                                        <p:tgtEl>
                                          <p:spTgt spid="14">
                                            <p:txEl>
                                              <p:pRg st="1" end="1"/>
                                            </p:txEl>
                                          </p:spTgt>
                                        </p:tgtEl>
                                        <p:attrNameLst>
                                          <p:attrName>style.visibility</p:attrName>
                                        </p:attrNameLst>
                                      </p:cBhvr>
                                      <p:to>
                                        <p:strVal val="visible"/>
                                      </p:to>
                                    </p:set>
                                    <p:animEffect transition="in" filter="wipe(left)">
                                      <p:cBhvr>
                                        <p:cTn id="45" dur="500"/>
                                        <p:tgtEl>
                                          <p:spTgt spid="14">
                                            <p:txEl>
                                              <p:pRg st="1" end="1"/>
                                            </p:txEl>
                                          </p:spTgt>
                                        </p:tgtEl>
                                      </p:cBhvr>
                                    </p:animEffect>
                                  </p:childTnLst>
                                </p:cTn>
                              </p:par>
                            </p:childTnLst>
                          </p:cTn>
                        </p:par>
                      </p:childTnLst>
                    </p:cTn>
                  </p:par>
                  <p:par>
                    <p:cTn id="46" fill="hold">
                      <p:stCondLst>
                        <p:cond delay="indefinite"/>
                      </p:stCondLst>
                      <p:childTnLst>
                        <p:par>
                          <p:cTn id="47" fill="hold">
                            <p:stCondLst>
                              <p:cond delay="0"/>
                            </p:stCondLst>
                            <p:childTnLst>
                              <p:par>
                                <p:cTn id="48" presetID="22" presetClass="entr" presetSubtype="1" fill="hold" nodeType="clickEffect">
                                  <p:stCondLst>
                                    <p:cond delay="0"/>
                                  </p:stCondLst>
                                  <p:childTnLst>
                                    <p:set>
                                      <p:cBhvr>
                                        <p:cTn id="49" dur="1" fill="hold">
                                          <p:stCondLst>
                                            <p:cond delay="0"/>
                                          </p:stCondLst>
                                        </p:cTn>
                                        <p:tgtEl>
                                          <p:spTgt spid="12"/>
                                        </p:tgtEl>
                                        <p:attrNameLst>
                                          <p:attrName>style.visibility</p:attrName>
                                        </p:attrNameLst>
                                      </p:cBhvr>
                                      <p:to>
                                        <p:strVal val="visible"/>
                                      </p:to>
                                    </p:set>
                                    <p:animEffect transition="in" filter="wipe(up)">
                                      <p:cBhvr>
                                        <p:cTn id="50" dur="500"/>
                                        <p:tgtEl>
                                          <p:spTgt spid="12"/>
                                        </p:tgtEl>
                                      </p:cBhvr>
                                    </p:animEffect>
                                  </p:childTnLst>
                                </p:cTn>
                              </p:par>
                            </p:childTnLst>
                          </p:cTn>
                        </p:par>
                        <p:par>
                          <p:cTn id="51" fill="hold">
                            <p:stCondLst>
                              <p:cond delay="500"/>
                            </p:stCondLst>
                            <p:childTnLst>
                              <p:par>
                                <p:cTn id="52" presetID="22" presetClass="entr" presetSubtype="8" fill="hold" grpId="0" nodeType="afterEffect">
                                  <p:stCondLst>
                                    <p:cond delay="0"/>
                                  </p:stCondLst>
                                  <p:childTnLst>
                                    <p:set>
                                      <p:cBhvr>
                                        <p:cTn id="53" dur="1" fill="hold">
                                          <p:stCondLst>
                                            <p:cond delay="0"/>
                                          </p:stCondLst>
                                        </p:cTn>
                                        <p:tgtEl>
                                          <p:spTgt spid="9"/>
                                        </p:tgtEl>
                                        <p:attrNameLst>
                                          <p:attrName>style.visibility</p:attrName>
                                        </p:attrNameLst>
                                      </p:cBhvr>
                                      <p:to>
                                        <p:strVal val="visible"/>
                                      </p:to>
                                    </p:set>
                                    <p:animEffect transition="in" filter="wipe(left)">
                                      <p:cBhvr>
                                        <p:cTn id="54" dur="500"/>
                                        <p:tgtEl>
                                          <p:spTgt spid="9"/>
                                        </p:tgtEl>
                                      </p:cBhvr>
                                    </p:animEffect>
                                  </p:childTnLst>
                                </p:cTn>
                              </p:par>
                            </p:childTnLst>
                          </p:cTn>
                        </p:par>
                        <p:par>
                          <p:cTn id="55" fill="hold">
                            <p:stCondLst>
                              <p:cond delay="1000"/>
                            </p:stCondLst>
                            <p:childTnLst>
                              <p:par>
                                <p:cTn id="56" presetID="22" presetClass="entr" presetSubtype="8" fill="hold" grpId="0" nodeType="afterEffect">
                                  <p:stCondLst>
                                    <p:cond delay="0"/>
                                  </p:stCondLst>
                                  <p:childTnLst>
                                    <p:set>
                                      <p:cBhvr>
                                        <p:cTn id="57" dur="1" fill="hold">
                                          <p:stCondLst>
                                            <p:cond delay="0"/>
                                          </p:stCondLst>
                                        </p:cTn>
                                        <p:tgtEl>
                                          <p:spTgt spid="19"/>
                                        </p:tgtEl>
                                        <p:attrNameLst>
                                          <p:attrName>style.visibility</p:attrName>
                                        </p:attrNameLst>
                                      </p:cBhvr>
                                      <p:to>
                                        <p:strVal val="visible"/>
                                      </p:to>
                                    </p:set>
                                    <p:animEffect transition="in" filter="wipe(left)">
                                      <p:cBhvr>
                                        <p:cTn id="58" dur="500"/>
                                        <p:tgtEl>
                                          <p:spTgt spid="19"/>
                                        </p:tgtEl>
                                      </p:cBhvr>
                                    </p:animEffect>
                                  </p:childTnLst>
                                </p:cTn>
                              </p:par>
                            </p:childTnLst>
                          </p:cTn>
                        </p:par>
                        <p:par>
                          <p:cTn id="59" fill="hold">
                            <p:stCondLst>
                              <p:cond delay="1500"/>
                            </p:stCondLst>
                            <p:childTnLst>
                              <p:par>
                                <p:cTn id="60" presetID="22" presetClass="entr" presetSubtype="8" fill="hold" nodeType="afterEffect">
                                  <p:stCondLst>
                                    <p:cond delay="0"/>
                                  </p:stCondLst>
                                  <p:childTnLst>
                                    <p:set>
                                      <p:cBhvr>
                                        <p:cTn id="61" dur="1" fill="hold">
                                          <p:stCondLst>
                                            <p:cond delay="0"/>
                                          </p:stCondLst>
                                        </p:cTn>
                                        <p:tgtEl>
                                          <p:spTgt spid="14">
                                            <p:txEl>
                                              <p:pRg st="2" end="2"/>
                                            </p:txEl>
                                          </p:spTgt>
                                        </p:tgtEl>
                                        <p:attrNameLst>
                                          <p:attrName>style.visibility</p:attrName>
                                        </p:attrNameLst>
                                      </p:cBhvr>
                                      <p:to>
                                        <p:strVal val="visible"/>
                                      </p:to>
                                    </p:set>
                                    <p:animEffect transition="in" filter="wipe(left)">
                                      <p:cBhvr>
                                        <p:cTn id="62" dur="500"/>
                                        <p:tgtEl>
                                          <p:spTgt spid="14">
                                            <p:txEl>
                                              <p:pRg st="2" end="2"/>
                                            </p:txEl>
                                          </p:spTgt>
                                        </p:tgtEl>
                                      </p:cBhvr>
                                    </p:animEffect>
                                  </p:childTnLst>
                                </p:cTn>
                              </p:par>
                              <p:par>
                                <p:cTn id="63" presetID="22" presetClass="entr" presetSubtype="8" fill="hold" nodeType="withEffect">
                                  <p:stCondLst>
                                    <p:cond delay="0"/>
                                  </p:stCondLst>
                                  <p:childTnLst>
                                    <p:set>
                                      <p:cBhvr>
                                        <p:cTn id="64" dur="1" fill="hold">
                                          <p:stCondLst>
                                            <p:cond delay="0"/>
                                          </p:stCondLst>
                                        </p:cTn>
                                        <p:tgtEl>
                                          <p:spTgt spid="14">
                                            <p:txEl>
                                              <p:pRg st="3" end="3"/>
                                            </p:txEl>
                                          </p:spTgt>
                                        </p:tgtEl>
                                        <p:attrNameLst>
                                          <p:attrName>style.visibility</p:attrName>
                                        </p:attrNameLst>
                                      </p:cBhvr>
                                      <p:to>
                                        <p:strVal val="visible"/>
                                      </p:to>
                                    </p:set>
                                    <p:animEffect transition="in" filter="wipe(left)">
                                      <p:cBhvr>
                                        <p:cTn id="65" dur="500"/>
                                        <p:tgtEl>
                                          <p:spTgt spid="1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3" grpId="0"/>
      <p:bldP spid="15" grpId="0"/>
      <p:bldP spid="17" grpId="0" animBg="1"/>
      <p:bldP spid="18" grpId="0" animBg="1"/>
      <p:bldP spid="1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p:nvPr/>
        </p:nvSpPr>
        <p:spPr>
          <a:xfrm>
            <a:off x="323528" y="1052736"/>
            <a:ext cx="7992888" cy="523220"/>
          </a:xfrm>
          <a:prstGeom prst="rect">
            <a:avLst/>
          </a:prstGeom>
        </p:spPr>
        <p:txBody>
          <a:bodyPr wrap="square">
            <a:spAutoFit/>
          </a:bodyPr>
          <a:lstStyle/>
          <a:p>
            <a:r>
              <a:rPr lang="zh-CN" altLang="en-US" dirty="0"/>
              <a:t>并集</a:t>
            </a:r>
            <a:r>
              <a:rPr lang="en-US" altLang="zh-CN" dirty="0"/>
              <a:t>( UNION </a:t>
            </a:r>
            <a:r>
              <a:rPr lang="en-US" altLang="zh-CN" dirty="0" smtClean="0"/>
              <a:t>)—</a:t>
            </a:r>
            <a:r>
              <a:rPr lang="zh-CN" altLang="en-US" dirty="0" smtClean="0"/>
              <a:t>返回</a:t>
            </a:r>
            <a:r>
              <a:rPr lang="zh-CN" altLang="en-US" dirty="0"/>
              <a:t>两个结果集的并集</a:t>
            </a:r>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204864"/>
            <a:ext cx="2362200" cy="25812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5728" y="2564904"/>
            <a:ext cx="2343150" cy="2209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382926" y="1575956"/>
            <a:ext cx="8784976" cy="461665"/>
          </a:xfrm>
          <a:prstGeom prst="rect">
            <a:avLst/>
          </a:prstGeom>
        </p:spPr>
        <p:txBody>
          <a:bodyPr wrap="square">
            <a:spAutoFit/>
          </a:bodyPr>
          <a:lstStyle/>
          <a:p>
            <a:r>
              <a:rPr lang="en-US" altLang="zh-CN" sz="2400" dirty="0"/>
              <a:t>(select name from Table_ 3 )union(select </a:t>
            </a:r>
            <a:r>
              <a:rPr lang="en-US" altLang="zh-CN" sz="2400" dirty="0" err="1"/>
              <a:t>stuname</a:t>
            </a:r>
            <a:r>
              <a:rPr lang="en-US" altLang="zh-CN" sz="2400" dirty="0"/>
              <a:t> from Table_ 4)</a:t>
            </a:r>
            <a:endParaRPr lang="zh-CN" altLang="en-US" sz="2400" dirty="0"/>
          </a:p>
        </p:txBody>
      </p:sp>
      <p:pic>
        <p:nvPicPr>
          <p:cNvPr id="1029"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80967" y="2521297"/>
            <a:ext cx="4524375" cy="400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0" y="5130105"/>
            <a:ext cx="4572000" cy="1384995"/>
          </a:xfrm>
          <a:prstGeom prst="rect">
            <a:avLst/>
          </a:prstGeom>
        </p:spPr>
        <p:txBody>
          <a:bodyPr>
            <a:spAutoFit/>
          </a:bodyPr>
          <a:lstStyle/>
          <a:p>
            <a:r>
              <a:rPr lang="en-US" altLang="zh-CN" b="0" dirty="0">
                <a:solidFill>
                  <a:srgbClr val="FF0000"/>
                </a:solidFill>
              </a:rPr>
              <a:t>UNION</a:t>
            </a:r>
            <a:r>
              <a:rPr lang="zh-CN" altLang="en-US" b="0" dirty="0">
                <a:solidFill>
                  <a:srgbClr val="FF0000"/>
                </a:solidFill>
              </a:rPr>
              <a:t>操作是用于返回两个</a:t>
            </a:r>
            <a:r>
              <a:rPr lang="en-US" altLang="zh-CN" b="0" dirty="0">
                <a:solidFill>
                  <a:srgbClr val="FF0000"/>
                </a:solidFill>
              </a:rPr>
              <a:t>SELECT</a:t>
            </a:r>
            <a:r>
              <a:rPr lang="zh-CN" altLang="en-US" b="0" dirty="0">
                <a:solidFill>
                  <a:srgbClr val="FF0000"/>
                </a:solidFill>
              </a:rPr>
              <a:t>语句结果集的所有记录，除去重复的部分。</a:t>
            </a:r>
            <a:endParaRPr lang="zh-CN" altLang="en-US" dirty="0">
              <a:solidFill>
                <a:srgbClr val="FF0000"/>
              </a:solidFill>
            </a:endParaRPr>
          </a:p>
        </p:txBody>
      </p:sp>
    </p:spTree>
    <p:extLst>
      <p:ext uri="{BB962C8B-B14F-4D97-AF65-F5344CB8AC3E}">
        <p14:creationId xmlns:p14="http://schemas.microsoft.com/office/powerpoint/2010/main" val="2679256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2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1124744"/>
            <a:ext cx="8964488" cy="523220"/>
          </a:xfrm>
          <a:prstGeom prst="rect">
            <a:avLst/>
          </a:prstGeom>
        </p:spPr>
        <p:txBody>
          <a:bodyPr wrap="square">
            <a:spAutoFit/>
          </a:bodyPr>
          <a:lstStyle/>
          <a:p>
            <a:r>
              <a:rPr lang="zh-CN" altLang="en-US" dirty="0" smtClean="0"/>
              <a:t>交集</a:t>
            </a:r>
            <a:r>
              <a:rPr lang="en-US" altLang="zh-CN" dirty="0"/>
              <a:t>(</a:t>
            </a:r>
            <a:r>
              <a:rPr lang="en-US" altLang="zh-CN" dirty="0" smtClean="0"/>
              <a:t>INTERSECT </a:t>
            </a:r>
            <a:r>
              <a:rPr lang="en-US" altLang="zh-CN" dirty="0"/>
              <a:t>)--</a:t>
            </a:r>
            <a:r>
              <a:rPr lang="zh-CN" altLang="en-US" dirty="0"/>
              <a:t>返回两个结果集的交集</a:t>
            </a:r>
            <a:r>
              <a:rPr lang="en-US" altLang="zh-CN" dirty="0"/>
              <a:t>(</a:t>
            </a:r>
            <a:r>
              <a:rPr lang="zh-CN" altLang="en-US" dirty="0"/>
              <a:t>返回相同记录</a:t>
            </a:r>
            <a:r>
              <a:rPr lang="en-US" altLang="zh-CN" dirty="0"/>
              <a:t>)</a:t>
            </a:r>
            <a:endParaRPr lang="zh-CN" altLang="en-US" dirty="0"/>
          </a:p>
        </p:txBody>
      </p:sp>
      <p:sp>
        <p:nvSpPr>
          <p:cNvPr id="3" name="矩形 2"/>
          <p:cNvSpPr/>
          <p:nvPr/>
        </p:nvSpPr>
        <p:spPr>
          <a:xfrm>
            <a:off x="210230" y="1647964"/>
            <a:ext cx="8754257" cy="461665"/>
          </a:xfrm>
          <a:prstGeom prst="rect">
            <a:avLst/>
          </a:prstGeom>
        </p:spPr>
        <p:txBody>
          <a:bodyPr wrap="square">
            <a:spAutoFit/>
          </a:bodyPr>
          <a:lstStyle/>
          <a:p>
            <a:r>
              <a:rPr lang="en-US" altLang="zh-CN" sz="2400" dirty="0"/>
              <a:t>(select name from Table_ 3)intersect(select </a:t>
            </a:r>
            <a:r>
              <a:rPr lang="en-US" altLang="zh-CN" sz="2400" dirty="0" err="1"/>
              <a:t>stuname</a:t>
            </a:r>
            <a:r>
              <a:rPr lang="en-US" altLang="zh-CN" sz="2400" dirty="0"/>
              <a:t> from Table_ 4)</a:t>
            </a:r>
            <a:endParaRPr lang="zh-CN" altLang="en-US" sz="2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115711"/>
            <a:ext cx="6912768" cy="282545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0" y="4941168"/>
            <a:ext cx="9144000" cy="1569660"/>
          </a:xfrm>
          <a:prstGeom prst="rect">
            <a:avLst/>
          </a:prstGeom>
        </p:spPr>
        <p:txBody>
          <a:bodyPr wrap="square">
            <a:spAutoFit/>
          </a:bodyPr>
          <a:lstStyle/>
          <a:p>
            <a:r>
              <a:rPr lang="en-US" altLang="zh-CN" sz="2400" b="0" dirty="0" smtClean="0">
                <a:solidFill>
                  <a:srgbClr val="FF0000"/>
                </a:solidFill>
              </a:rPr>
              <a:t>INTERSECT</a:t>
            </a:r>
            <a:r>
              <a:rPr lang="zh-CN" altLang="en-US" sz="2400" b="0" dirty="0">
                <a:solidFill>
                  <a:srgbClr val="FF0000"/>
                </a:solidFill>
              </a:rPr>
              <a:t>操作的两个</a:t>
            </a:r>
            <a:r>
              <a:rPr lang="en-US" altLang="zh-CN" sz="2400" b="0" dirty="0">
                <a:solidFill>
                  <a:srgbClr val="FF0000"/>
                </a:solidFill>
              </a:rPr>
              <a:t>SELECT</a:t>
            </a:r>
            <a:r>
              <a:rPr lang="zh-CN" altLang="en-US" sz="2400" b="0" dirty="0">
                <a:solidFill>
                  <a:srgbClr val="FF0000"/>
                </a:solidFill>
              </a:rPr>
              <a:t>语句必须返回相同数量的列，并且对应的列必须具有相似的数据类型。</a:t>
            </a:r>
          </a:p>
          <a:p>
            <a:r>
              <a:rPr lang="en-US" altLang="zh-CN" sz="2400" b="0" dirty="0">
                <a:solidFill>
                  <a:srgbClr val="FF0000"/>
                </a:solidFill>
              </a:rPr>
              <a:t>INTERSECT</a:t>
            </a:r>
            <a:r>
              <a:rPr lang="zh-CN" altLang="en-US" sz="2400" b="0" dirty="0">
                <a:solidFill>
                  <a:srgbClr val="FF0000"/>
                </a:solidFill>
              </a:rPr>
              <a:t>操作会自动去除结果中的重复行。</a:t>
            </a:r>
          </a:p>
          <a:p>
            <a:r>
              <a:rPr lang="zh-CN" altLang="en-US" sz="2400" b="0" dirty="0">
                <a:solidFill>
                  <a:srgbClr val="FF0000"/>
                </a:solidFill>
              </a:rPr>
              <a:t>不是所有的数据库系统都支持</a:t>
            </a:r>
            <a:r>
              <a:rPr lang="en-US" altLang="zh-CN" sz="2400" b="0" dirty="0" smtClean="0">
                <a:solidFill>
                  <a:srgbClr val="FF0000"/>
                </a:solidFill>
              </a:rPr>
              <a:t>INTERSECT</a:t>
            </a:r>
            <a:r>
              <a:rPr lang="zh-CN" altLang="en-US" sz="2400" b="0" dirty="0" smtClean="0">
                <a:solidFill>
                  <a:srgbClr val="FF0000"/>
                </a:solidFill>
              </a:rPr>
              <a:t>。</a:t>
            </a:r>
            <a:r>
              <a:rPr lang="zh-CN" altLang="en-US" sz="2400" b="0" dirty="0">
                <a:solidFill>
                  <a:srgbClr val="FF0000"/>
                </a:solidFill>
              </a:rPr>
              <a:t>例如，</a:t>
            </a:r>
            <a:r>
              <a:rPr lang="en-US" altLang="zh-CN" sz="2400" b="0" dirty="0">
                <a:solidFill>
                  <a:srgbClr val="FF0000"/>
                </a:solidFill>
              </a:rPr>
              <a:t>MySQL</a:t>
            </a:r>
            <a:r>
              <a:rPr lang="zh-CN" altLang="en-US" sz="2400" b="0" dirty="0">
                <a:solidFill>
                  <a:srgbClr val="FF0000"/>
                </a:solidFill>
              </a:rPr>
              <a:t>就不</a:t>
            </a:r>
            <a:r>
              <a:rPr lang="zh-CN" altLang="en-US" sz="2400" b="0" dirty="0" smtClean="0">
                <a:solidFill>
                  <a:srgbClr val="FF0000"/>
                </a:solidFill>
              </a:rPr>
              <a:t>支持。</a:t>
            </a:r>
            <a:endParaRPr lang="zh-CN" altLang="en-US" sz="2400" b="0" dirty="0">
              <a:solidFill>
                <a:srgbClr val="FF0000"/>
              </a:solidFill>
            </a:endParaRPr>
          </a:p>
        </p:txBody>
      </p:sp>
    </p:spTree>
    <p:extLst>
      <p:ext uri="{BB962C8B-B14F-4D97-AF65-F5344CB8AC3E}">
        <p14:creationId xmlns:p14="http://schemas.microsoft.com/office/powerpoint/2010/main" val="1233656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5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1196752"/>
            <a:ext cx="8712968" cy="954107"/>
          </a:xfrm>
          <a:prstGeom prst="rect">
            <a:avLst/>
          </a:prstGeom>
        </p:spPr>
        <p:txBody>
          <a:bodyPr wrap="square">
            <a:spAutoFit/>
          </a:bodyPr>
          <a:lstStyle/>
          <a:p>
            <a:r>
              <a:rPr lang="zh-CN" altLang="en-US" dirty="0" smtClean="0"/>
              <a:t>练习：查询</a:t>
            </a:r>
            <a:r>
              <a:rPr lang="zh-CN" altLang="en-US" dirty="0"/>
              <a:t>计算机科学系的学生与年龄不大于</a:t>
            </a:r>
            <a:r>
              <a:rPr lang="en-US" altLang="zh-CN" dirty="0"/>
              <a:t>19</a:t>
            </a:r>
            <a:r>
              <a:rPr lang="zh-CN" altLang="en-US" dirty="0"/>
              <a:t>岁的学生的交集</a:t>
            </a:r>
            <a:r>
              <a:rPr lang="zh-CN" altLang="en-US" dirty="0" smtClean="0"/>
              <a:t>。</a:t>
            </a:r>
            <a:endParaRPr lang="zh-CN" altLang="en-US" dirty="0"/>
          </a:p>
        </p:txBody>
      </p:sp>
      <p:sp>
        <p:nvSpPr>
          <p:cNvPr id="3" name="矩形 2"/>
          <p:cNvSpPr/>
          <p:nvPr/>
        </p:nvSpPr>
        <p:spPr>
          <a:xfrm>
            <a:off x="467544" y="2521059"/>
            <a:ext cx="8352928" cy="1384995"/>
          </a:xfrm>
          <a:prstGeom prst="rect">
            <a:avLst/>
          </a:prstGeom>
        </p:spPr>
        <p:txBody>
          <a:bodyPr wrap="square">
            <a:spAutoFit/>
          </a:bodyPr>
          <a:lstStyle/>
          <a:p>
            <a:r>
              <a:rPr lang="en-US" altLang="zh-CN" dirty="0" smtClean="0"/>
              <a:t>SELECT * FROM Student WHERE </a:t>
            </a:r>
            <a:r>
              <a:rPr lang="en-US" altLang="zh-CN" dirty="0" err="1"/>
              <a:t>Sdept</a:t>
            </a:r>
            <a:r>
              <a:rPr lang="en-US" altLang="zh-CN" dirty="0"/>
              <a:t>=</a:t>
            </a:r>
            <a:r>
              <a:rPr lang="en-US" altLang="zh-CN" dirty="0" smtClean="0"/>
              <a:t>'CS‘  </a:t>
            </a:r>
          </a:p>
          <a:p>
            <a:r>
              <a:rPr lang="en-US" altLang="zh-CN" dirty="0" smtClean="0">
                <a:solidFill>
                  <a:srgbClr val="FF0000"/>
                </a:solidFill>
              </a:rPr>
              <a:t>INTERSECT</a:t>
            </a:r>
          </a:p>
          <a:p>
            <a:r>
              <a:rPr lang="en-US" altLang="zh-CN" dirty="0"/>
              <a:t>SELECT * FROM Student WHERE</a:t>
            </a:r>
            <a:r>
              <a:rPr lang="en-US" altLang="zh-CN" dirty="0" smtClean="0"/>
              <a:t> Sage</a:t>
            </a:r>
            <a:r>
              <a:rPr lang="en-US" altLang="zh-CN" dirty="0"/>
              <a:t>&lt;=19</a:t>
            </a:r>
            <a:endParaRPr lang="zh-CN" altLang="en-US" dirty="0"/>
          </a:p>
        </p:txBody>
      </p:sp>
      <p:sp>
        <p:nvSpPr>
          <p:cNvPr id="4" name="矩形 3"/>
          <p:cNvSpPr/>
          <p:nvPr/>
        </p:nvSpPr>
        <p:spPr>
          <a:xfrm>
            <a:off x="0" y="4365104"/>
            <a:ext cx="8964488" cy="523220"/>
          </a:xfrm>
          <a:prstGeom prst="rect">
            <a:avLst/>
          </a:prstGeom>
        </p:spPr>
        <p:txBody>
          <a:bodyPr wrap="square">
            <a:spAutoFit/>
          </a:bodyPr>
          <a:lstStyle/>
          <a:p>
            <a:r>
              <a:rPr lang="en-US" altLang="zh-CN" dirty="0"/>
              <a:t>SELECT * FROM Student WHERE </a:t>
            </a:r>
            <a:r>
              <a:rPr lang="en-US" altLang="zh-CN" dirty="0" err="1" smtClean="0"/>
              <a:t>Sdept</a:t>
            </a:r>
            <a:r>
              <a:rPr lang="en-US" altLang="zh-CN" dirty="0"/>
              <a:t>= 'CS' </a:t>
            </a:r>
            <a:r>
              <a:rPr lang="en-US" altLang="zh-CN" dirty="0">
                <a:solidFill>
                  <a:srgbClr val="FF0000"/>
                </a:solidFill>
              </a:rPr>
              <a:t>AND</a:t>
            </a:r>
            <a:r>
              <a:rPr lang="en-US" altLang="zh-CN" dirty="0"/>
              <a:t> Sage&lt;=19;</a:t>
            </a:r>
            <a:endParaRPr lang="zh-CN" altLang="en-US" dirty="0"/>
          </a:p>
        </p:txBody>
      </p:sp>
    </p:spTree>
    <p:extLst>
      <p:ext uri="{BB962C8B-B14F-4D97-AF65-F5344CB8AC3E}">
        <p14:creationId xmlns:p14="http://schemas.microsoft.com/office/powerpoint/2010/main" val="8918253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980728"/>
            <a:ext cx="9144000" cy="4154984"/>
          </a:xfrm>
          <a:prstGeom prst="rect">
            <a:avLst/>
          </a:prstGeom>
        </p:spPr>
        <p:txBody>
          <a:bodyPr wrap="square">
            <a:spAutoFit/>
          </a:bodyPr>
          <a:lstStyle/>
          <a:p>
            <a:r>
              <a:rPr lang="zh-CN" altLang="en-US" sz="2400" b="0" dirty="0"/>
              <a:t>数据库</a:t>
            </a:r>
            <a:r>
              <a:rPr lang="en-US" altLang="zh-CN" sz="2400" b="0" dirty="0"/>
              <a:t>intersect</a:t>
            </a:r>
            <a:r>
              <a:rPr lang="zh-CN" altLang="en-US" sz="2400" b="0" dirty="0"/>
              <a:t>操作在许多场景中都非常有用</a:t>
            </a:r>
            <a:r>
              <a:rPr lang="zh-CN" altLang="en-US" sz="2400" b="0" dirty="0" smtClean="0"/>
              <a:t>。</a:t>
            </a:r>
            <a:endParaRPr lang="zh-CN" altLang="en-US" sz="2400" b="0" dirty="0"/>
          </a:p>
          <a:p>
            <a:r>
              <a:rPr lang="en-US" altLang="zh-CN" sz="2400" b="0" dirty="0" smtClean="0"/>
              <a:t>1</a:t>
            </a:r>
            <a:r>
              <a:rPr lang="zh-CN" altLang="en-US" sz="2400" b="0" dirty="0" smtClean="0"/>
              <a:t>、数据</a:t>
            </a:r>
            <a:r>
              <a:rPr lang="zh-CN" altLang="en-US" sz="2400" b="0" dirty="0"/>
              <a:t>匹配：当我们有两个或多个表，想要找到它们之间共同的数据时，可以使用</a:t>
            </a:r>
            <a:r>
              <a:rPr lang="en-US" altLang="zh-CN" sz="2400" b="0" dirty="0"/>
              <a:t>intersect</a:t>
            </a:r>
            <a:r>
              <a:rPr lang="zh-CN" altLang="en-US" sz="2400" b="0" dirty="0"/>
              <a:t>操作。例如，我们可以将两个客户表与相同</a:t>
            </a:r>
            <a:r>
              <a:rPr lang="en-US" altLang="zh-CN" sz="2400" b="0" dirty="0"/>
              <a:t>ID</a:t>
            </a:r>
            <a:r>
              <a:rPr lang="zh-CN" altLang="en-US" sz="2400" b="0" dirty="0"/>
              <a:t>的行进行匹配，以找到共同的客户。</a:t>
            </a:r>
          </a:p>
          <a:p>
            <a:r>
              <a:rPr lang="en-US" altLang="zh-CN" sz="2400" b="0" dirty="0" smtClean="0"/>
              <a:t>2</a:t>
            </a:r>
            <a:r>
              <a:rPr lang="zh-CN" altLang="en-US" sz="2400" b="0" dirty="0" smtClean="0"/>
              <a:t>、数据</a:t>
            </a:r>
            <a:r>
              <a:rPr lang="zh-CN" altLang="en-US" sz="2400" b="0" dirty="0"/>
              <a:t>交集：如果我们想要找到两个表之间的交集，即两个表中共同的行，</a:t>
            </a:r>
            <a:r>
              <a:rPr lang="en-US" altLang="zh-CN" sz="2400" b="0" dirty="0"/>
              <a:t>intersect</a:t>
            </a:r>
            <a:r>
              <a:rPr lang="zh-CN" altLang="en-US" sz="2400" b="0" dirty="0"/>
              <a:t>操作非常有用。这可以帮助我们快速识别出两个表之间的共同数据。</a:t>
            </a:r>
          </a:p>
          <a:p>
            <a:r>
              <a:rPr lang="en-US" altLang="zh-CN" sz="2400" b="0" dirty="0" smtClean="0"/>
              <a:t>3</a:t>
            </a:r>
            <a:r>
              <a:rPr lang="zh-CN" altLang="en-US" sz="2400" b="0" dirty="0" smtClean="0"/>
              <a:t>、数据一致性</a:t>
            </a:r>
            <a:r>
              <a:rPr lang="zh-CN" altLang="en-US" sz="2400" b="0" dirty="0"/>
              <a:t>验证：在某些情况下，我们可能有多个数据源，例如不同的数据库或文件，我们想要验证它们之间的数据一致性。使用</a:t>
            </a:r>
            <a:r>
              <a:rPr lang="en-US" altLang="zh-CN" sz="2400" b="0" dirty="0"/>
              <a:t>intersect</a:t>
            </a:r>
            <a:r>
              <a:rPr lang="zh-CN" altLang="en-US" sz="2400" b="0" dirty="0"/>
              <a:t>操作可以帮助我们比较不同数据源中的数据，找到不一致或缺失的数据</a:t>
            </a:r>
            <a:r>
              <a:rPr lang="zh-CN" altLang="en-US" sz="2400" b="0" dirty="0" smtClean="0"/>
              <a:t>。</a:t>
            </a:r>
            <a:endParaRPr lang="zh-CN" altLang="en-US" sz="2400" b="0" dirty="0"/>
          </a:p>
        </p:txBody>
      </p:sp>
    </p:spTree>
    <p:extLst>
      <p:ext uri="{BB962C8B-B14F-4D97-AF65-F5344CB8AC3E}">
        <p14:creationId xmlns:p14="http://schemas.microsoft.com/office/powerpoint/2010/main" val="172031662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53301" y="1124744"/>
            <a:ext cx="8784976" cy="3539430"/>
          </a:xfrm>
          <a:prstGeom prst="rect">
            <a:avLst/>
          </a:prstGeom>
        </p:spPr>
        <p:txBody>
          <a:bodyPr wrap="square">
            <a:spAutoFit/>
          </a:bodyPr>
          <a:lstStyle/>
          <a:p>
            <a:r>
              <a:rPr lang="zh-CN" altLang="en-US" b="0" dirty="0" smtClean="0"/>
              <a:t>在</a:t>
            </a:r>
            <a:r>
              <a:rPr lang="zh-CN" altLang="en-US" b="0" dirty="0"/>
              <a:t>使用</a:t>
            </a:r>
            <a:r>
              <a:rPr lang="en-US" altLang="zh-CN" b="0" dirty="0"/>
              <a:t>INTERSECT</a:t>
            </a:r>
            <a:r>
              <a:rPr lang="zh-CN" altLang="en-US" b="0" dirty="0"/>
              <a:t>操作时，为了提高查询的性能，可以考虑以下几点：</a:t>
            </a:r>
          </a:p>
          <a:p>
            <a:r>
              <a:rPr lang="en-US" altLang="zh-CN" b="0" dirty="0" smtClean="0"/>
              <a:t>1</a:t>
            </a:r>
            <a:r>
              <a:rPr lang="zh-CN" altLang="en-US" b="0" dirty="0" smtClean="0"/>
              <a:t>、尽可能</a:t>
            </a:r>
            <a:r>
              <a:rPr lang="zh-CN" altLang="en-US" b="0" dirty="0"/>
              <a:t>在</a:t>
            </a:r>
            <a:r>
              <a:rPr lang="en-US" altLang="zh-CN" b="0" dirty="0"/>
              <a:t>WHERE</a:t>
            </a:r>
            <a:r>
              <a:rPr lang="zh-CN" altLang="en-US" b="0" dirty="0"/>
              <a:t>子句中添加条件，减少需要进行</a:t>
            </a:r>
            <a:r>
              <a:rPr lang="en-US" altLang="zh-CN" b="0" dirty="0"/>
              <a:t>INTERSECT</a:t>
            </a:r>
            <a:r>
              <a:rPr lang="zh-CN" altLang="en-US" b="0" dirty="0"/>
              <a:t>操作的记录数。</a:t>
            </a:r>
          </a:p>
          <a:p>
            <a:r>
              <a:rPr lang="en-US" altLang="zh-CN" b="0" dirty="0" smtClean="0"/>
              <a:t>2</a:t>
            </a:r>
            <a:r>
              <a:rPr lang="zh-CN" altLang="en-US" b="0" dirty="0" smtClean="0"/>
              <a:t>、如果</a:t>
            </a:r>
            <a:r>
              <a:rPr lang="zh-CN" altLang="en-US" b="0" dirty="0"/>
              <a:t>可能，尽量使用小的表进行</a:t>
            </a:r>
            <a:r>
              <a:rPr lang="en-US" altLang="zh-CN" b="0" dirty="0"/>
              <a:t>INTERSECT</a:t>
            </a:r>
            <a:r>
              <a:rPr lang="zh-CN" altLang="en-US" b="0" dirty="0"/>
              <a:t>操作。</a:t>
            </a:r>
          </a:p>
          <a:p>
            <a:r>
              <a:rPr lang="en-US" altLang="zh-CN" b="0" dirty="0" smtClean="0"/>
              <a:t>3</a:t>
            </a:r>
            <a:r>
              <a:rPr lang="zh-CN" altLang="en-US" b="0" dirty="0" smtClean="0"/>
              <a:t>、如果</a:t>
            </a:r>
            <a:r>
              <a:rPr lang="zh-CN" altLang="en-US" b="0" dirty="0"/>
              <a:t>查询的结果集非常大，可以考虑使用分页查询或者</a:t>
            </a:r>
            <a:r>
              <a:rPr lang="en-US" altLang="zh-CN" b="0" dirty="0"/>
              <a:t>LIMIT</a:t>
            </a:r>
            <a:r>
              <a:rPr lang="zh-CN" altLang="en-US" b="0" dirty="0"/>
              <a:t>子句来限制返回的记录数。</a:t>
            </a:r>
          </a:p>
          <a:p>
            <a:r>
              <a:rPr lang="zh-CN" altLang="en-US" b="0" dirty="0">
                <a:solidFill>
                  <a:srgbClr val="FF0000"/>
                </a:solidFill>
              </a:rPr>
              <a:t>通过这些方法，可以有效地提高</a:t>
            </a:r>
            <a:r>
              <a:rPr lang="en-US" altLang="zh-CN" b="0" dirty="0">
                <a:solidFill>
                  <a:srgbClr val="FF0000"/>
                </a:solidFill>
              </a:rPr>
              <a:t>INTERSECT</a:t>
            </a:r>
            <a:r>
              <a:rPr lang="zh-CN" altLang="en-US" b="0" dirty="0">
                <a:solidFill>
                  <a:srgbClr val="FF0000"/>
                </a:solidFill>
              </a:rPr>
              <a:t>操作的性能。</a:t>
            </a:r>
          </a:p>
        </p:txBody>
      </p:sp>
    </p:spTree>
    <p:extLst>
      <p:ext uri="{BB962C8B-B14F-4D97-AF65-F5344CB8AC3E}">
        <p14:creationId xmlns:p14="http://schemas.microsoft.com/office/powerpoint/2010/main" val="291542608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496" y="2780928"/>
            <a:ext cx="9108504" cy="3785652"/>
          </a:xfrm>
          <a:prstGeom prst="rect">
            <a:avLst/>
          </a:prstGeom>
        </p:spPr>
        <p:txBody>
          <a:bodyPr wrap="square">
            <a:spAutoFit/>
          </a:bodyPr>
          <a:lstStyle/>
          <a:p>
            <a:pPr>
              <a:spcBef>
                <a:spcPts val="600"/>
              </a:spcBef>
            </a:pPr>
            <a:r>
              <a:rPr lang="en-US" sz="24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Old</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select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c.cname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from</a:t>
            </a:r>
            <a:r>
              <a:rPr lang="en-US" sz="2000" dirty="0">
                <a:solidFill>
                  <a:srgbClr val="002060"/>
                </a:solidFill>
                <a:latin typeface="Times New Roman" panose="02020603050405020304" pitchFamily="18" charset="0"/>
                <a:cs typeface="Times New Roman" panose="02020603050405020304" pitchFamily="18" charset="0"/>
              </a:rPr>
              <a:t> customers c </a:t>
            </a:r>
            <a:r>
              <a:rPr lang="en-US" sz="2000" dirty="0">
                <a:solidFill>
                  <a:srgbClr val="7030A0"/>
                </a:solidFill>
                <a:latin typeface="Times New Roman" panose="02020603050405020304" pitchFamily="18" charset="0"/>
                <a:cs typeface="Times New Roman" panose="02020603050405020304" pitchFamily="18" charset="0"/>
              </a:rPr>
              <a:t>where</a:t>
            </a:r>
            <a:r>
              <a:rPr lang="en-US" sz="2000" dirty="0">
                <a:solidFill>
                  <a:srgbClr val="002060"/>
                </a:solidFill>
                <a:latin typeface="Times New Roman" panose="02020603050405020304" pitchFamily="18" charset="0"/>
                <a:cs typeface="Times New Roman" panose="02020603050405020304" pitchFamily="18" charset="0"/>
              </a:rPr>
              <a:t> </a:t>
            </a: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a:t>
            </a:r>
            <a:r>
              <a:rPr lang="en-US" altLang="zh-CN" sz="2000" i="1" dirty="0">
                <a:solidFill>
                  <a:srgbClr val="C00000"/>
                </a:solidFill>
                <a:highlight>
                  <a:srgbClr val="FFFF00"/>
                </a:highlight>
                <a:latin typeface="Times New Roman" panose="02020603050405020304" pitchFamily="18" charset="0"/>
                <a:cs typeface="Times New Roman" panose="02020603050405020304" pitchFamily="18" charset="0"/>
              </a:rPr>
              <a:t>not exists </a:t>
            </a:r>
            <a:r>
              <a:rPr lang="en-US" sz="2000" dirty="0">
                <a:solidFill>
                  <a:srgbClr val="002060"/>
                </a:solidFill>
                <a:latin typeface="Times New Roman" panose="02020603050405020304" pitchFamily="18" charset="0"/>
                <a:cs typeface="Times New Roman" panose="02020603050405020304" pitchFamily="18" charset="0"/>
              </a:rPr>
              <a:t>(</a:t>
            </a:r>
            <a:r>
              <a:rPr lang="en-US" sz="2000" dirty="0">
                <a:solidFill>
                  <a:srgbClr val="7030A0"/>
                </a:solidFill>
                <a:latin typeface="Times New Roman" panose="02020603050405020304" pitchFamily="18" charset="0"/>
                <a:cs typeface="Times New Roman" panose="02020603050405020304" pitchFamily="18" charset="0"/>
              </a:rPr>
              <a:t>select</a:t>
            </a:r>
            <a:r>
              <a:rPr lang="en-US" sz="2000" dirty="0">
                <a:solidFill>
                  <a:srgbClr val="002060"/>
                </a:solidFill>
                <a:latin typeface="Times New Roman" panose="02020603050405020304" pitchFamily="18" charset="0"/>
                <a:cs typeface="Times New Roman" panose="02020603050405020304" pitchFamily="18" charset="0"/>
              </a:rPr>
              <a:t> * </a:t>
            </a:r>
            <a:r>
              <a:rPr lang="en-US" sz="2000" dirty="0">
                <a:solidFill>
                  <a:srgbClr val="7030A0"/>
                </a:solidFill>
                <a:latin typeface="Times New Roman" panose="02020603050405020304" pitchFamily="18" charset="0"/>
                <a:cs typeface="Times New Roman" panose="02020603050405020304" pitchFamily="18" charset="0"/>
              </a:rPr>
              <a:t>from</a:t>
            </a:r>
            <a:r>
              <a:rPr lang="en-US" sz="2000" dirty="0">
                <a:solidFill>
                  <a:srgbClr val="002060"/>
                </a:solidFill>
                <a:latin typeface="Times New Roman" panose="02020603050405020304" pitchFamily="18" charset="0"/>
                <a:cs typeface="Times New Roman" panose="02020603050405020304" pitchFamily="18" charset="0"/>
              </a:rPr>
              <a:t> orders x </a:t>
            </a:r>
            <a:r>
              <a:rPr lang="en-US" sz="2000" dirty="0">
                <a:solidFill>
                  <a:srgbClr val="7030A0"/>
                </a:solidFill>
                <a:latin typeface="Times New Roman" panose="02020603050405020304" pitchFamily="18" charset="0"/>
                <a:cs typeface="Times New Roman" panose="02020603050405020304" pitchFamily="18" charset="0"/>
              </a:rPr>
              <a:t>where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x.aid</a:t>
            </a:r>
            <a:r>
              <a:rPr lang="en-US" sz="2000" dirty="0">
                <a:solidFill>
                  <a:srgbClr val="002060"/>
                </a:solidFill>
                <a:latin typeface="Times New Roman" panose="02020603050405020304" pitchFamily="18" charset="0"/>
                <a:cs typeface="Times New Roman" panose="02020603050405020304" pitchFamily="18" charset="0"/>
              </a:rPr>
              <a:t>='a05’ and </a:t>
            </a:r>
            <a:r>
              <a:rPr lang="en-US" sz="2000" dirty="0" err="1">
                <a:solidFill>
                  <a:srgbClr val="002060"/>
                </a:solidFill>
                <a:highlight>
                  <a:srgbClr val="FFFF00"/>
                </a:highlight>
                <a:latin typeface="Times New Roman" panose="02020603050405020304" pitchFamily="18" charset="0"/>
                <a:cs typeface="Times New Roman" panose="02020603050405020304" pitchFamily="18" charset="0"/>
              </a:rPr>
              <a:t>x.cid</a:t>
            </a:r>
            <a:r>
              <a:rPr lang="en-US" sz="2000" dirty="0">
                <a:solidFill>
                  <a:srgbClr val="002060"/>
                </a:solidFill>
                <a:highlight>
                  <a:srgbClr val="FFFF00"/>
                </a:highlight>
                <a:latin typeface="Times New Roman" panose="02020603050405020304" pitchFamily="18" charset="0"/>
                <a:cs typeface="Times New Roman" panose="02020603050405020304" pitchFamily="18" charset="0"/>
              </a:rPr>
              <a:t>=</a:t>
            </a:r>
            <a:r>
              <a:rPr lang="en-US" sz="2000" dirty="0" err="1">
                <a:solidFill>
                  <a:srgbClr val="002060"/>
                </a:solidFill>
                <a:highlight>
                  <a:srgbClr val="FFFF00"/>
                </a:highlight>
                <a:latin typeface="Times New Roman" panose="02020603050405020304" pitchFamily="18" charset="0"/>
                <a:cs typeface="Times New Roman" panose="02020603050405020304" pitchFamily="18" charset="0"/>
              </a:rPr>
              <a:t>c.cid</a:t>
            </a:r>
            <a:r>
              <a:rPr lang="en-US" sz="2000" dirty="0">
                <a:solidFill>
                  <a:srgbClr val="002060"/>
                </a:solidFill>
                <a:latin typeface="Times New Roman" panose="02020603050405020304" pitchFamily="18" charset="0"/>
                <a:cs typeface="Times New Roman" panose="02020603050405020304" pitchFamily="18" charset="0"/>
              </a:rPr>
              <a:t>);</a:t>
            </a: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New</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select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c.cname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from</a:t>
            </a:r>
            <a:r>
              <a:rPr lang="en-US" sz="2000" dirty="0">
                <a:solidFill>
                  <a:srgbClr val="002060"/>
                </a:solidFill>
                <a:latin typeface="Times New Roman" panose="02020603050405020304" pitchFamily="18" charset="0"/>
                <a:cs typeface="Times New Roman" panose="02020603050405020304" pitchFamily="18" charset="0"/>
              </a:rPr>
              <a:t> customers c</a:t>
            </a:r>
            <a:endParaRPr lang="en-US" sz="2000" i="1" dirty="0">
              <a:solidFill>
                <a:srgbClr val="C00000"/>
              </a:solidFill>
              <a:highlight>
                <a:srgbClr val="FFFF00"/>
              </a:highlight>
              <a:latin typeface="Times New Roman" panose="02020603050405020304" pitchFamily="18" charset="0"/>
              <a:cs typeface="Times New Roman" panose="02020603050405020304" pitchFamily="18" charset="0"/>
            </a:endParaRP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a:t>
            </a:r>
            <a:r>
              <a:rPr lang="en-US" altLang="zh-CN" sz="2000" i="1" dirty="0">
                <a:solidFill>
                  <a:srgbClr val="C00000"/>
                </a:solidFill>
                <a:highlight>
                  <a:srgbClr val="FFFF00"/>
                </a:highlight>
                <a:latin typeface="Times New Roman" panose="02020603050405020304" pitchFamily="18" charset="0"/>
                <a:cs typeface="Times New Roman" panose="02020603050405020304" pitchFamily="18" charset="0"/>
              </a:rPr>
              <a:t>except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select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c.cname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from</a:t>
            </a:r>
            <a:r>
              <a:rPr lang="en-US" sz="2000" dirty="0">
                <a:solidFill>
                  <a:srgbClr val="002060"/>
                </a:solidFill>
                <a:latin typeface="Times New Roman" panose="02020603050405020304" pitchFamily="18" charset="0"/>
                <a:cs typeface="Times New Roman" panose="02020603050405020304" pitchFamily="18" charset="0"/>
              </a:rPr>
              <a:t> customers c, orders x</a:t>
            </a: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where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x.aid</a:t>
            </a:r>
            <a:r>
              <a:rPr lang="en-US" sz="2000" dirty="0">
                <a:solidFill>
                  <a:srgbClr val="002060"/>
                </a:solidFill>
                <a:latin typeface="Times New Roman" panose="02020603050405020304" pitchFamily="18" charset="0"/>
                <a:cs typeface="Times New Roman" panose="02020603050405020304" pitchFamily="18" charset="0"/>
              </a:rPr>
              <a:t> = 'a05’ and </a:t>
            </a:r>
            <a:r>
              <a:rPr lang="en-US" sz="2000" dirty="0" err="1">
                <a:solidFill>
                  <a:srgbClr val="002060"/>
                </a:solidFill>
                <a:latin typeface="Times New Roman" panose="02020603050405020304" pitchFamily="18" charset="0"/>
                <a:cs typeface="Times New Roman" panose="02020603050405020304" pitchFamily="18" charset="0"/>
              </a:rPr>
              <a:t>x.cid</a:t>
            </a:r>
            <a:r>
              <a:rPr lang="en-US" sz="2000" dirty="0">
                <a:solidFill>
                  <a:srgbClr val="002060"/>
                </a:solidFill>
                <a:latin typeface="Times New Roman" panose="02020603050405020304" pitchFamily="18" charset="0"/>
                <a:cs typeface="Times New Roman" panose="02020603050405020304" pitchFamily="18" charset="0"/>
              </a:rPr>
              <a:t> = </a:t>
            </a:r>
            <a:r>
              <a:rPr lang="en-US" sz="2000" dirty="0" err="1">
                <a:solidFill>
                  <a:srgbClr val="002060"/>
                </a:solidFill>
                <a:latin typeface="Times New Roman" panose="02020603050405020304" pitchFamily="18" charset="0"/>
                <a:cs typeface="Times New Roman" panose="02020603050405020304" pitchFamily="18" charset="0"/>
              </a:rPr>
              <a:t>c.cid</a:t>
            </a:r>
            <a:r>
              <a:rPr lang="en-US" sz="2000" dirty="0">
                <a:solidFill>
                  <a:srgbClr val="002060"/>
                </a:solidFill>
                <a:latin typeface="Times New Roman" panose="02020603050405020304" pitchFamily="18" charset="0"/>
                <a:cs typeface="Times New Roman" panose="02020603050405020304" pitchFamily="18" charset="0"/>
              </a:rPr>
              <a:t> );</a:t>
            </a:r>
          </a:p>
          <a:p>
            <a:pPr>
              <a:lnSpc>
                <a:spcPct val="150000"/>
              </a:lnSpc>
              <a:spcBef>
                <a:spcPts val="600"/>
              </a:spcBef>
            </a:pPr>
            <a:r>
              <a:rPr lang="en-US" sz="2400" dirty="0">
                <a:solidFill>
                  <a:srgbClr val="7030A0"/>
                </a:solidFill>
                <a:latin typeface="Times New Roman" panose="02020603050405020304" pitchFamily="18" charset="0"/>
                <a:cs typeface="Times New Roman" panose="02020603050405020304" pitchFamily="18" charset="0"/>
              </a:rPr>
              <a:t>[4] Operators in DBMS product</a:t>
            </a:r>
          </a:p>
          <a:p>
            <a:pPr marL="800100" lvl="1" indent="-342900">
              <a:spcBef>
                <a:spcPts val="600"/>
              </a:spcBef>
              <a:buFont typeface="Wingdings" panose="05000000000000000000" pitchFamily="2" charset="2"/>
              <a:buChar char="§"/>
            </a:pPr>
            <a:r>
              <a:rPr lang="en-US" sz="2000" dirty="0">
                <a:solidFill>
                  <a:srgbClr val="002060"/>
                </a:solidFill>
                <a:latin typeface="Times New Roman" panose="02020603050405020304" pitchFamily="18" charset="0"/>
                <a:cs typeface="Times New Roman" panose="02020603050405020304" pitchFamily="18" charset="0"/>
              </a:rPr>
              <a:t>ORACLE 8 :   	{UNION, UNION ALL, INTERSECT, EXCEPT}</a:t>
            </a:r>
          </a:p>
          <a:p>
            <a:pPr marL="800100" lvl="1" indent="-342900">
              <a:spcBef>
                <a:spcPts val="600"/>
              </a:spcBef>
              <a:buFont typeface="Wingdings" panose="05000000000000000000" pitchFamily="2" charset="2"/>
              <a:buChar char="§"/>
            </a:pPr>
            <a:r>
              <a:rPr lang="en-US" sz="2000" dirty="0">
                <a:solidFill>
                  <a:srgbClr val="002060"/>
                </a:solidFill>
                <a:latin typeface="Times New Roman" panose="02020603050405020304" pitchFamily="18" charset="0"/>
                <a:cs typeface="Times New Roman" panose="02020603050405020304" pitchFamily="18" charset="0"/>
              </a:rPr>
              <a:t>DB2 Version 5 :  	{UNION, INTERSECT, EXCEPT} [ALL]</a:t>
            </a:r>
          </a:p>
          <a:p>
            <a:pPr marL="800100" lvl="1" indent="-342900">
              <a:spcBef>
                <a:spcPts val="600"/>
              </a:spcBef>
              <a:buFont typeface="Wingdings" panose="05000000000000000000" pitchFamily="2" charset="2"/>
              <a:buChar char="§"/>
            </a:pPr>
            <a:r>
              <a:rPr lang="en-US" sz="2000" dirty="0">
                <a:solidFill>
                  <a:srgbClr val="002060"/>
                </a:solidFill>
                <a:latin typeface="Times New Roman" panose="02020603050405020304" pitchFamily="18" charset="0"/>
                <a:cs typeface="Times New Roman" panose="02020603050405020304" pitchFamily="18" charset="0"/>
              </a:rPr>
              <a:t>INFORMIX :  	 UNION [ALL]</a:t>
            </a:r>
          </a:p>
        </p:txBody>
      </p:sp>
      <p:sp>
        <p:nvSpPr>
          <p:cNvPr id="4" name="Rectangle 1"/>
          <p:cNvSpPr/>
          <p:nvPr/>
        </p:nvSpPr>
        <p:spPr>
          <a:xfrm>
            <a:off x="899592" y="116632"/>
            <a:ext cx="8208912"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3.6 Some advanced SQL syntax</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4252" y="1758832"/>
            <a:ext cx="2232136" cy="597449"/>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99992" y="1722332"/>
            <a:ext cx="2186218" cy="619804"/>
          </a:xfrm>
          <a:prstGeom prst="rect">
            <a:avLst/>
          </a:prstGeom>
        </p:spPr>
      </p:pic>
      <p:sp>
        <p:nvSpPr>
          <p:cNvPr id="9" name="箭头: 左弧形 8"/>
          <p:cNvSpPr/>
          <p:nvPr/>
        </p:nvSpPr>
        <p:spPr bwMode="auto">
          <a:xfrm rot="16200000">
            <a:off x="6304713" y="746200"/>
            <a:ext cx="350999" cy="3528394"/>
          </a:xfrm>
          <a:prstGeom prst="curvedRightArrow">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cxnSp>
        <p:nvCxnSpPr>
          <p:cNvPr id="11" name="直接箭头连接符 10"/>
          <p:cNvCxnSpPr/>
          <p:nvPr/>
        </p:nvCxnSpPr>
        <p:spPr bwMode="auto">
          <a:xfrm>
            <a:off x="8100392" y="1556792"/>
            <a:ext cx="0" cy="575319"/>
          </a:xfrm>
          <a:prstGeom prst="straightConnector1">
            <a:avLst/>
          </a:prstGeom>
          <a:ln w="57150">
            <a:solidFill>
              <a:srgbClr val="0438DE"/>
            </a:solidFill>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12" name="Rectangle 2"/>
          <p:cNvSpPr/>
          <p:nvPr/>
        </p:nvSpPr>
        <p:spPr>
          <a:xfrm>
            <a:off x="8292355" y="2358464"/>
            <a:ext cx="456113" cy="305801"/>
          </a:xfrm>
          <a:prstGeom prst="rect">
            <a:avLst/>
          </a:prstGeom>
        </p:spPr>
        <p:txBody>
          <a:bodyPr wrap="square">
            <a:spAutoFit/>
          </a:bodyPr>
          <a:lstStyle/>
          <a:p>
            <a:pPr>
              <a:spcAft>
                <a:spcPts val="0"/>
              </a:spcAft>
            </a:pPr>
            <a:r>
              <a:rPr lang="en-US" sz="1400" dirty="0">
                <a:solidFill>
                  <a:srgbClr val="002060"/>
                </a:solidFill>
                <a:latin typeface="Times New Roman" panose="02020603050405020304" pitchFamily="18" charset="0"/>
                <a:cs typeface="Times New Roman" panose="02020603050405020304" pitchFamily="18" charset="0"/>
              </a:rPr>
              <a:t>a05</a:t>
            </a:r>
          </a:p>
        </p:txBody>
      </p:sp>
      <p:sp>
        <p:nvSpPr>
          <p:cNvPr id="13" name="Rectangle 2"/>
          <p:cNvSpPr/>
          <p:nvPr/>
        </p:nvSpPr>
        <p:spPr>
          <a:xfrm>
            <a:off x="35496" y="980728"/>
            <a:ext cx="9108504" cy="840102"/>
          </a:xfrm>
          <a:prstGeom prst="rect">
            <a:avLst/>
          </a:prstGeom>
        </p:spPr>
        <p:txBody>
          <a:bodyPr wrap="square">
            <a:spAutoFit/>
          </a:bodyPr>
          <a:lstStyle/>
          <a:p>
            <a:pPr>
              <a:lnSpc>
                <a:spcPts val="3000"/>
              </a:lnSpc>
            </a:pPr>
            <a:r>
              <a:rPr lang="en-US" sz="2400" dirty="0">
                <a:solidFill>
                  <a:srgbClr val="7030A0"/>
                </a:solidFill>
                <a:latin typeface="Times New Roman" panose="02020603050405020304" pitchFamily="18" charset="0"/>
                <a:cs typeface="Times New Roman" panose="02020603050405020304" pitchFamily="18" charset="0"/>
              </a:rPr>
              <a:t>[3] Example 3.6.2 </a:t>
            </a:r>
            <a:r>
              <a:rPr lang="en-US" sz="1400" dirty="0">
                <a:solidFill>
                  <a:srgbClr val="002060"/>
                </a:solidFill>
                <a:latin typeface="Times New Roman" panose="02020603050405020304" pitchFamily="18" charset="0"/>
                <a:cs typeface="Times New Roman" panose="02020603050405020304" pitchFamily="18" charset="0"/>
              </a:rPr>
              <a:t>(p116) </a:t>
            </a:r>
            <a:r>
              <a:rPr lang="en-US" sz="2200" dirty="0">
                <a:solidFill>
                  <a:srgbClr val="7030A0"/>
                </a:solidFill>
                <a:latin typeface="+mn-lt"/>
                <a:cs typeface="Times New Roman" panose="02020603050405020304" pitchFamily="18" charset="0"/>
              </a:rPr>
              <a:t>Retrieve all </a:t>
            </a:r>
            <a:r>
              <a:rPr lang="en-US" sz="2200" dirty="0" err="1">
                <a:solidFill>
                  <a:srgbClr val="7030A0"/>
                </a:solidFill>
                <a:latin typeface="+mn-lt"/>
                <a:cs typeface="Times New Roman" panose="02020603050405020304" pitchFamily="18" charset="0"/>
              </a:rPr>
              <a:t>cnames</a:t>
            </a:r>
            <a:r>
              <a:rPr lang="en-US" sz="2200" dirty="0">
                <a:solidFill>
                  <a:srgbClr val="7030A0"/>
                </a:solidFill>
                <a:latin typeface="+mn-lt"/>
                <a:cs typeface="Times New Roman" panose="02020603050405020304" pitchFamily="18" charset="0"/>
              </a:rPr>
              <a:t> where the customer don’t place any order through agent a05.</a:t>
            </a:r>
          </a:p>
        </p:txBody>
      </p:sp>
      <p:sp>
        <p:nvSpPr>
          <p:cNvPr id="10" name="Rectangle 2">
            <a:extLst>
              <a:ext uri="{FF2B5EF4-FFF2-40B4-BE49-F238E27FC236}">
                <a16:creationId xmlns="" xmlns:a16="http://schemas.microsoft.com/office/drawing/2014/main" id="{6A3C4473-E07D-4063-857F-71DB6F71D0F9}"/>
              </a:ext>
            </a:extLst>
          </p:cNvPr>
          <p:cNvSpPr/>
          <p:nvPr/>
        </p:nvSpPr>
        <p:spPr>
          <a:xfrm>
            <a:off x="5991351" y="2414819"/>
            <a:ext cx="977721" cy="307777"/>
          </a:xfrm>
          <a:prstGeom prst="rect">
            <a:avLst/>
          </a:prstGeom>
        </p:spPr>
        <p:txBody>
          <a:bodyPr wrap="square">
            <a:spAutoFit/>
          </a:bodyPr>
          <a:lstStyle/>
          <a:p>
            <a:pPr>
              <a:spcAft>
                <a:spcPts val="0"/>
              </a:spcAft>
            </a:pPr>
            <a:r>
              <a:rPr lang="en-US" altLang="zh-CN" sz="1400" dirty="0">
                <a:solidFill>
                  <a:srgbClr val="C00000"/>
                </a:solidFill>
                <a:latin typeface="Times New Roman" panose="02020603050405020304" pitchFamily="18" charset="0"/>
                <a:cs typeface="Times New Roman" panose="02020603050405020304" pitchFamily="18" charset="0"/>
              </a:rPr>
              <a:t>Not exists</a:t>
            </a:r>
            <a:endParaRPr lang="en-US" sz="1400" dirty="0">
              <a:solidFill>
                <a:srgbClr val="C00000"/>
              </a:solidFill>
              <a:latin typeface="Times New Roman" panose="02020603050405020304" pitchFamily="18" charset="0"/>
              <a:cs typeface="Times New Roman" panose="02020603050405020304" pitchFamily="18" charset="0"/>
            </a:endParaRPr>
          </a:p>
        </p:txBody>
      </p:sp>
      <p:sp>
        <p:nvSpPr>
          <p:cNvPr id="14" name="矩形: 圆角 13">
            <a:extLst>
              <a:ext uri="{FF2B5EF4-FFF2-40B4-BE49-F238E27FC236}">
                <a16:creationId xmlns="" xmlns:a16="http://schemas.microsoft.com/office/drawing/2014/main" id="{1CF78758-665B-4F87-8E28-A98975BFCE41}"/>
              </a:ext>
            </a:extLst>
          </p:cNvPr>
          <p:cNvSpPr/>
          <p:nvPr/>
        </p:nvSpPr>
        <p:spPr>
          <a:xfrm>
            <a:off x="7671179" y="1100749"/>
            <a:ext cx="1365210" cy="253257"/>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 xmlns:a16="http://schemas.microsoft.com/office/drawing/2014/main" id="{B298A6FF-B76E-46CE-9ADC-427E6A5EE176}"/>
              </a:ext>
            </a:extLst>
          </p:cNvPr>
          <p:cNvSpPr/>
          <p:nvPr/>
        </p:nvSpPr>
        <p:spPr>
          <a:xfrm>
            <a:off x="4392036" y="1068271"/>
            <a:ext cx="828036" cy="342779"/>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 xmlns:a16="http://schemas.microsoft.com/office/drawing/2014/main" id="{FFA63238-E4D0-45E0-87F1-CF4BB1711330}"/>
              </a:ext>
            </a:extLst>
          </p:cNvPr>
          <p:cNvSpPr/>
          <p:nvPr/>
        </p:nvSpPr>
        <p:spPr>
          <a:xfrm>
            <a:off x="1259631" y="1505575"/>
            <a:ext cx="2232237" cy="216757"/>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cxnSp>
        <p:nvCxnSpPr>
          <p:cNvPr id="17" name="直接箭头连接符 16">
            <a:extLst>
              <a:ext uri="{FF2B5EF4-FFF2-40B4-BE49-F238E27FC236}">
                <a16:creationId xmlns="" xmlns:a16="http://schemas.microsoft.com/office/drawing/2014/main" id="{DE09F8EF-AA42-451B-AA0E-597DAD729182}"/>
              </a:ext>
            </a:extLst>
          </p:cNvPr>
          <p:cNvCxnSpPr>
            <a:cxnSpLocks/>
          </p:cNvCxnSpPr>
          <p:nvPr/>
        </p:nvCxnSpPr>
        <p:spPr bwMode="auto">
          <a:xfrm>
            <a:off x="5216293" y="1642767"/>
            <a:ext cx="0" cy="489344"/>
          </a:xfrm>
          <a:prstGeom prst="straightConnector1">
            <a:avLst/>
          </a:prstGeom>
          <a:ln w="57150">
            <a:solidFill>
              <a:srgbClr val="C00000"/>
            </a:solidFill>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19" name="矩形: 圆角 20">
            <a:extLst>
              <a:ext uri="{FF2B5EF4-FFF2-40B4-BE49-F238E27FC236}">
                <a16:creationId xmlns="" xmlns:a16="http://schemas.microsoft.com/office/drawing/2014/main" id="{04D1515F-A75A-463E-83FA-2695DD95739E}"/>
              </a:ext>
            </a:extLst>
          </p:cNvPr>
          <p:cNvSpPr/>
          <p:nvPr/>
        </p:nvSpPr>
        <p:spPr bwMode="auto">
          <a:xfrm>
            <a:off x="6743930" y="1696652"/>
            <a:ext cx="2364574" cy="909311"/>
          </a:xfrm>
          <a:custGeom>
            <a:avLst/>
            <a:gdLst>
              <a:gd name="connsiteX0" fmla="*/ 0 w 2364574"/>
              <a:gd name="connsiteY0" fmla="*/ 151555 h 909311"/>
              <a:gd name="connsiteX1" fmla="*/ 151555 w 2364574"/>
              <a:gd name="connsiteY1" fmla="*/ 0 h 909311"/>
              <a:gd name="connsiteX2" fmla="*/ 625692 w 2364574"/>
              <a:gd name="connsiteY2" fmla="*/ 0 h 909311"/>
              <a:gd name="connsiteX3" fmla="*/ 1099828 w 2364574"/>
              <a:gd name="connsiteY3" fmla="*/ 0 h 909311"/>
              <a:gd name="connsiteX4" fmla="*/ 1553351 w 2364574"/>
              <a:gd name="connsiteY4" fmla="*/ 0 h 909311"/>
              <a:gd name="connsiteX5" fmla="*/ 2213019 w 2364574"/>
              <a:gd name="connsiteY5" fmla="*/ 0 h 909311"/>
              <a:gd name="connsiteX6" fmla="*/ 2364574 w 2364574"/>
              <a:gd name="connsiteY6" fmla="*/ 151555 h 909311"/>
              <a:gd name="connsiteX7" fmla="*/ 2364574 w 2364574"/>
              <a:gd name="connsiteY7" fmla="*/ 436469 h 909311"/>
              <a:gd name="connsiteX8" fmla="*/ 2364574 w 2364574"/>
              <a:gd name="connsiteY8" fmla="*/ 757756 h 909311"/>
              <a:gd name="connsiteX9" fmla="*/ 2213019 w 2364574"/>
              <a:gd name="connsiteY9" fmla="*/ 909311 h 909311"/>
              <a:gd name="connsiteX10" fmla="*/ 1759497 w 2364574"/>
              <a:gd name="connsiteY10" fmla="*/ 909311 h 909311"/>
              <a:gd name="connsiteX11" fmla="*/ 1264746 w 2364574"/>
              <a:gd name="connsiteY11" fmla="*/ 909311 h 909311"/>
              <a:gd name="connsiteX12" fmla="*/ 728765 w 2364574"/>
              <a:gd name="connsiteY12" fmla="*/ 909311 h 909311"/>
              <a:gd name="connsiteX13" fmla="*/ 151555 w 2364574"/>
              <a:gd name="connsiteY13" fmla="*/ 909311 h 909311"/>
              <a:gd name="connsiteX14" fmla="*/ 0 w 2364574"/>
              <a:gd name="connsiteY14" fmla="*/ 757756 h 909311"/>
              <a:gd name="connsiteX15" fmla="*/ 0 w 2364574"/>
              <a:gd name="connsiteY15" fmla="*/ 454656 h 909311"/>
              <a:gd name="connsiteX16" fmla="*/ 0 w 2364574"/>
              <a:gd name="connsiteY16" fmla="*/ 151555 h 9093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364574" h="909311" extrusionOk="0">
                <a:moveTo>
                  <a:pt x="0" y="151555"/>
                </a:moveTo>
                <a:cubicBezTo>
                  <a:pt x="-6163" y="71704"/>
                  <a:pt x="42939" y="1662"/>
                  <a:pt x="151555" y="0"/>
                </a:cubicBezTo>
                <a:cubicBezTo>
                  <a:pt x="326233" y="-35613"/>
                  <a:pt x="416958" y="2011"/>
                  <a:pt x="625692" y="0"/>
                </a:cubicBezTo>
                <a:cubicBezTo>
                  <a:pt x="834426" y="-2011"/>
                  <a:pt x="868116" y="6100"/>
                  <a:pt x="1099828" y="0"/>
                </a:cubicBezTo>
                <a:cubicBezTo>
                  <a:pt x="1331540" y="-6100"/>
                  <a:pt x="1434563" y="10327"/>
                  <a:pt x="1553351" y="0"/>
                </a:cubicBezTo>
                <a:cubicBezTo>
                  <a:pt x="1672139" y="-10327"/>
                  <a:pt x="1913477" y="68855"/>
                  <a:pt x="2213019" y="0"/>
                </a:cubicBezTo>
                <a:cubicBezTo>
                  <a:pt x="2290914" y="6217"/>
                  <a:pt x="2345159" y="56374"/>
                  <a:pt x="2364574" y="151555"/>
                </a:cubicBezTo>
                <a:cubicBezTo>
                  <a:pt x="2380591" y="209218"/>
                  <a:pt x="2350797" y="366095"/>
                  <a:pt x="2364574" y="436469"/>
                </a:cubicBezTo>
                <a:cubicBezTo>
                  <a:pt x="2378351" y="506843"/>
                  <a:pt x="2333156" y="606333"/>
                  <a:pt x="2364574" y="757756"/>
                </a:cubicBezTo>
                <a:cubicBezTo>
                  <a:pt x="2385607" y="840839"/>
                  <a:pt x="2278682" y="897838"/>
                  <a:pt x="2213019" y="909311"/>
                </a:cubicBezTo>
                <a:cubicBezTo>
                  <a:pt x="2004931" y="937981"/>
                  <a:pt x="1890588" y="899726"/>
                  <a:pt x="1759497" y="909311"/>
                </a:cubicBezTo>
                <a:cubicBezTo>
                  <a:pt x="1628406" y="918896"/>
                  <a:pt x="1493578" y="885024"/>
                  <a:pt x="1264746" y="909311"/>
                </a:cubicBezTo>
                <a:cubicBezTo>
                  <a:pt x="1035914" y="933598"/>
                  <a:pt x="886382" y="907953"/>
                  <a:pt x="728765" y="909311"/>
                </a:cubicBezTo>
                <a:cubicBezTo>
                  <a:pt x="571148" y="910669"/>
                  <a:pt x="401857" y="864479"/>
                  <a:pt x="151555" y="909311"/>
                </a:cubicBezTo>
                <a:cubicBezTo>
                  <a:pt x="71270" y="912509"/>
                  <a:pt x="6759" y="829403"/>
                  <a:pt x="0" y="757756"/>
                </a:cubicBezTo>
                <a:cubicBezTo>
                  <a:pt x="-15751" y="683536"/>
                  <a:pt x="9914" y="601452"/>
                  <a:pt x="0" y="454656"/>
                </a:cubicBezTo>
                <a:cubicBezTo>
                  <a:pt x="-9914" y="307860"/>
                  <a:pt x="15322" y="286581"/>
                  <a:pt x="0" y="151555"/>
                </a:cubicBezTo>
                <a:close/>
              </a:path>
            </a:pathLst>
          </a:custGeom>
          <a:noFill/>
          <a:ln w="38100">
            <a:solidFill>
              <a:srgbClr val="00B0F0"/>
            </a:solidFill>
            <a:prstDash val="sysDash"/>
            <a:headEnd type="none" w="med" len="med"/>
            <a:tailEnd type="none" w="med" len="med"/>
            <a:extLst>
              <a:ext uri="{C807C97D-BFC1-408E-A445-0C87EB9F89A2}">
                <ask:lineSketchStyleProps xmlns="" xmlns:ask="http://schemas.microsoft.com/office/drawing/2018/sketchyshapes" sd="1661685737">
                  <a:prstGeom prst="roundRect">
                    <a:avLst/>
                  </a:prstGeom>
                  <ask:type>
                    <ask:lineSketchScribble/>
                  </ask:type>
                </ask:lineSketchStyleProps>
              </a:ext>
            </a:extLst>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7"/>
                                        </p:tgtEl>
                                        <p:attrNameLst>
                                          <p:attrName>style.visibility</p:attrName>
                                        </p:attrNameLst>
                                      </p:cBhvr>
                                      <p:to>
                                        <p:strVal val="visible"/>
                                      </p:to>
                                    </p:set>
                                    <p:animEffect transition="in" filter="wipe(up)">
                                      <p:cBhvr>
                                        <p:cTn id="11" dur="500"/>
                                        <p:tgtEl>
                                          <p:spTgt spid="1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par>
                          <p:cTn id="17" fill="hold">
                            <p:stCondLst>
                              <p:cond delay="500"/>
                            </p:stCondLst>
                            <p:childTnLst>
                              <p:par>
                                <p:cTn id="18" presetID="22" presetClass="entr" presetSubtype="8"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left)">
                                      <p:cBhvr>
                                        <p:cTn id="20" dur="500"/>
                                        <p:tgtEl>
                                          <p:spTgt spid="12"/>
                                        </p:tgtEl>
                                      </p:cBhvr>
                                    </p:animEffect>
                                  </p:childTnLst>
                                </p:cTn>
                              </p:par>
                            </p:childTnLst>
                          </p:cTn>
                        </p:par>
                        <p:par>
                          <p:cTn id="21" fill="hold">
                            <p:stCondLst>
                              <p:cond delay="1000"/>
                            </p:stCondLst>
                            <p:childTnLst>
                              <p:par>
                                <p:cTn id="22" presetID="22" presetClass="entr" presetSubtype="1" fill="hold" nodeType="after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up)">
                                      <p:cBhvr>
                                        <p:cTn id="24" dur="500"/>
                                        <p:tgtEl>
                                          <p:spTgt spid="11"/>
                                        </p:tgtEl>
                                      </p:cBhvr>
                                    </p:animEffect>
                                  </p:childTnLst>
                                </p:cTn>
                              </p:par>
                            </p:childTnLst>
                          </p:cTn>
                        </p:par>
                        <p:par>
                          <p:cTn id="25" fill="hold">
                            <p:stCondLst>
                              <p:cond delay="1500"/>
                            </p:stCondLst>
                            <p:childTnLst>
                              <p:par>
                                <p:cTn id="26" presetID="21" presetClass="entr" presetSubtype="1" fill="hold" grpId="0" nodeType="after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wheel(1)">
                                      <p:cBhvr>
                                        <p:cTn id="28" dur="20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left)">
                                      <p:cBhvr>
                                        <p:cTn id="33" dur="500"/>
                                        <p:tgtEl>
                                          <p:spTgt spid="9"/>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3">
                                            <p:txEl>
                                              <p:pRg st="0" end="0"/>
                                            </p:txEl>
                                          </p:spTgt>
                                        </p:tgtEl>
                                        <p:attrNameLst>
                                          <p:attrName>style.visibility</p:attrName>
                                        </p:attrNameLst>
                                      </p:cBhvr>
                                      <p:to>
                                        <p:strVal val="visible"/>
                                      </p:to>
                                    </p:set>
                                    <p:animEffect transition="in" filter="wipe(left)">
                                      <p:cBhvr>
                                        <p:cTn id="42" dur="500"/>
                                        <p:tgtEl>
                                          <p:spTgt spid="3">
                                            <p:txEl>
                                              <p:pRg st="0" end="0"/>
                                            </p:txEl>
                                          </p:spTgt>
                                        </p:tgtEl>
                                      </p:cBhvr>
                                    </p:animEffect>
                                  </p:childTnLst>
                                </p:cTn>
                              </p:par>
                            </p:childTnLst>
                          </p:cTn>
                        </p:par>
                        <p:par>
                          <p:cTn id="43" fill="hold">
                            <p:stCondLst>
                              <p:cond delay="500"/>
                            </p:stCondLst>
                            <p:childTnLst>
                              <p:par>
                                <p:cTn id="44" presetID="22" presetClass="entr" presetSubtype="8" fill="hold" nodeType="afterEffect">
                                  <p:stCondLst>
                                    <p:cond delay="0"/>
                                  </p:stCondLst>
                                  <p:childTnLst>
                                    <p:set>
                                      <p:cBhvr>
                                        <p:cTn id="45" dur="1" fill="hold">
                                          <p:stCondLst>
                                            <p:cond delay="0"/>
                                          </p:stCondLst>
                                        </p:cTn>
                                        <p:tgtEl>
                                          <p:spTgt spid="3">
                                            <p:txEl>
                                              <p:pRg st="1" end="1"/>
                                            </p:txEl>
                                          </p:spTgt>
                                        </p:tgtEl>
                                        <p:attrNameLst>
                                          <p:attrName>style.visibility</p:attrName>
                                        </p:attrNameLst>
                                      </p:cBhvr>
                                      <p:to>
                                        <p:strVal val="visible"/>
                                      </p:to>
                                    </p:set>
                                    <p:animEffect transition="in" filter="wipe(left)">
                                      <p:cBhvr>
                                        <p:cTn id="46" dur="500"/>
                                        <p:tgtEl>
                                          <p:spTgt spid="3">
                                            <p:txEl>
                                              <p:pRg st="1" end="1"/>
                                            </p:txEl>
                                          </p:spTgt>
                                        </p:tgtEl>
                                      </p:cBhvr>
                                    </p:animEffect>
                                  </p:childTnLst>
                                </p:cTn>
                              </p:par>
                            </p:childTnLst>
                          </p:cTn>
                        </p:par>
                      </p:childTnLst>
                    </p:cTn>
                  </p:par>
                  <p:par>
                    <p:cTn id="47" fill="hold">
                      <p:stCondLst>
                        <p:cond delay="indefinite"/>
                      </p:stCondLst>
                      <p:childTnLst>
                        <p:par>
                          <p:cTn id="48" fill="hold">
                            <p:stCondLst>
                              <p:cond delay="0"/>
                            </p:stCondLst>
                            <p:childTnLst>
                              <p:par>
                                <p:cTn id="49" presetID="22" presetClass="entr" presetSubtype="8" fill="hold" nodeType="clickEffect">
                                  <p:stCondLst>
                                    <p:cond delay="0"/>
                                  </p:stCondLst>
                                  <p:childTnLst>
                                    <p:set>
                                      <p:cBhvr>
                                        <p:cTn id="50" dur="1" fill="hold">
                                          <p:stCondLst>
                                            <p:cond delay="0"/>
                                          </p:stCondLst>
                                        </p:cTn>
                                        <p:tgtEl>
                                          <p:spTgt spid="3">
                                            <p:txEl>
                                              <p:pRg st="2" end="2"/>
                                            </p:txEl>
                                          </p:spTgt>
                                        </p:tgtEl>
                                        <p:attrNameLst>
                                          <p:attrName>style.visibility</p:attrName>
                                        </p:attrNameLst>
                                      </p:cBhvr>
                                      <p:to>
                                        <p:strVal val="visible"/>
                                      </p:to>
                                    </p:set>
                                    <p:animEffect transition="in" filter="wipe(left)">
                                      <p:cBhvr>
                                        <p:cTn id="51" dur="500"/>
                                        <p:tgtEl>
                                          <p:spTgt spid="3">
                                            <p:txEl>
                                              <p:pRg st="2" end="2"/>
                                            </p:txEl>
                                          </p:spTgt>
                                        </p:tgtEl>
                                      </p:cBhvr>
                                    </p:animEffect>
                                  </p:childTnLst>
                                </p:cTn>
                              </p:par>
                              <p:par>
                                <p:cTn id="52" presetID="22" presetClass="entr" presetSubtype="8" fill="hold" nodeType="withEffect">
                                  <p:stCondLst>
                                    <p:cond delay="0"/>
                                  </p:stCondLst>
                                  <p:childTnLst>
                                    <p:set>
                                      <p:cBhvr>
                                        <p:cTn id="53" dur="1" fill="hold">
                                          <p:stCondLst>
                                            <p:cond delay="0"/>
                                          </p:stCondLst>
                                        </p:cTn>
                                        <p:tgtEl>
                                          <p:spTgt spid="3">
                                            <p:txEl>
                                              <p:pRg st="3" end="3"/>
                                            </p:txEl>
                                          </p:spTgt>
                                        </p:tgtEl>
                                        <p:attrNameLst>
                                          <p:attrName>style.visibility</p:attrName>
                                        </p:attrNameLst>
                                      </p:cBhvr>
                                      <p:to>
                                        <p:strVal val="visible"/>
                                      </p:to>
                                    </p:set>
                                    <p:animEffect transition="in" filter="wipe(left)">
                                      <p:cBhvr>
                                        <p:cTn id="54" dur="500"/>
                                        <p:tgtEl>
                                          <p:spTgt spid="3">
                                            <p:txEl>
                                              <p:pRg st="3" end="3"/>
                                            </p:txEl>
                                          </p:spTgt>
                                        </p:tgtEl>
                                      </p:cBhvr>
                                    </p:animEffect>
                                  </p:childTnLst>
                                </p:cTn>
                              </p:par>
                              <p:par>
                                <p:cTn id="55" presetID="22" presetClass="entr" presetSubtype="8" fill="hold" nodeType="withEffect">
                                  <p:stCondLst>
                                    <p:cond delay="0"/>
                                  </p:stCondLst>
                                  <p:childTnLst>
                                    <p:set>
                                      <p:cBhvr>
                                        <p:cTn id="56" dur="1" fill="hold">
                                          <p:stCondLst>
                                            <p:cond delay="0"/>
                                          </p:stCondLst>
                                        </p:cTn>
                                        <p:tgtEl>
                                          <p:spTgt spid="3">
                                            <p:txEl>
                                              <p:pRg st="4" end="4"/>
                                            </p:txEl>
                                          </p:spTgt>
                                        </p:tgtEl>
                                        <p:attrNameLst>
                                          <p:attrName>style.visibility</p:attrName>
                                        </p:attrNameLst>
                                      </p:cBhvr>
                                      <p:to>
                                        <p:strVal val="visible"/>
                                      </p:to>
                                    </p:set>
                                    <p:animEffect transition="in" filter="wipe(left)">
                                      <p:cBhvr>
                                        <p:cTn id="57" dur="500"/>
                                        <p:tgtEl>
                                          <p:spTgt spid="3">
                                            <p:txEl>
                                              <p:pRg st="4" end="4"/>
                                            </p:txEl>
                                          </p:spTgt>
                                        </p:tgtEl>
                                      </p:cBhvr>
                                    </p:animEffect>
                                  </p:childTnLst>
                                </p:cTn>
                              </p:par>
                            </p:childTnLst>
                          </p:cTn>
                        </p:par>
                      </p:childTnLst>
                    </p:cTn>
                  </p:par>
                  <p:par>
                    <p:cTn id="58" fill="hold">
                      <p:stCondLst>
                        <p:cond delay="indefinite"/>
                      </p:stCondLst>
                      <p:childTnLst>
                        <p:par>
                          <p:cTn id="59" fill="hold">
                            <p:stCondLst>
                              <p:cond delay="0"/>
                            </p:stCondLst>
                            <p:childTnLst>
                              <p:par>
                                <p:cTn id="60" presetID="22" presetClass="entr" presetSubtype="8" fill="hold" nodeType="clickEffect">
                                  <p:stCondLst>
                                    <p:cond delay="0"/>
                                  </p:stCondLst>
                                  <p:childTnLst>
                                    <p:set>
                                      <p:cBhvr>
                                        <p:cTn id="61" dur="1" fill="hold">
                                          <p:stCondLst>
                                            <p:cond delay="0"/>
                                          </p:stCondLst>
                                        </p:cTn>
                                        <p:tgtEl>
                                          <p:spTgt spid="3">
                                            <p:txEl>
                                              <p:pRg st="5" end="5"/>
                                            </p:txEl>
                                          </p:spTgt>
                                        </p:tgtEl>
                                        <p:attrNameLst>
                                          <p:attrName>style.visibility</p:attrName>
                                        </p:attrNameLst>
                                      </p:cBhvr>
                                      <p:to>
                                        <p:strVal val="visible"/>
                                      </p:to>
                                    </p:set>
                                    <p:animEffect transition="in" filter="wipe(left)">
                                      <p:cBhvr>
                                        <p:cTn id="62" dur="500"/>
                                        <p:tgtEl>
                                          <p:spTgt spid="3">
                                            <p:txEl>
                                              <p:pRg st="5" end="5"/>
                                            </p:txEl>
                                          </p:spTgt>
                                        </p:tgtEl>
                                      </p:cBhvr>
                                    </p:animEffect>
                                  </p:childTnLst>
                                </p:cTn>
                              </p:par>
                              <p:par>
                                <p:cTn id="63" presetID="22" presetClass="entr" presetSubtype="8" fill="hold" nodeType="withEffect">
                                  <p:stCondLst>
                                    <p:cond delay="0"/>
                                  </p:stCondLst>
                                  <p:childTnLst>
                                    <p:set>
                                      <p:cBhvr>
                                        <p:cTn id="64" dur="1" fill="hold">
                                          <p:stCondLst>
                                            <p:cond delay="0"/>
                                          </p:stCondLst>
                                        </p:cTn>
                                        <p:tgtEl>
                                          <p:spTgt spid="3">
                                            <p:txEl>
                                              <p:pRg st="6" end="6"/>
                                            </p:txEl>
                                          </p:spTgt>
                                        </p:tgtEl>
                                        <p:attrNameLst>
                                          <p:attrName>style.visibility</p:attrName>
                                        </p:attrNameLst>
                                      </p:cBhvr>
                                      <p:to>
                                        <p:strVal val="visible"/>
                                      </p:to>
                                    </p:set>
                                    <p:animEffect transition="in" filter="wipe(left)">
                                      <p:cBhvr>
                                        <p:cTn id="65" dur="500"/>
                                        <p:tgtEl>
                                          <p:spTgt spid="3">
                                            <p:txEl>
                                              <p:pRg st="6" end="6"/>
                                            </p:txEl>
                                          </p:spTgt>
                                        </p:tgtEl>
                                      </p:cBhvr>
                                    </p:animEffect>
                                  </p:childTnLst>
                                </p:cTn>
                              </p:par>
                              <p:par>
                                <p:cTn id="66" presetID="22" presetClass="entr" presetSubtype="8" fill="hold" nodeType="withEffect">
                                  <p:stCondLst>
                                    <p:cond delay="0"/>
                                  </p:stCondLst>
                                  <p:childTnLst>
                                    <p:set>
                                      <p:cBhvr>
                                        <p:cTn id="67" dur="1" fill="hold">
                                          <p:stCondLst>
                                            <p:cond delay="0"/>
                                          </p:stCondLst>
                                        </p:cTn>
                                        <p:tgtEl>
                                          <p:spTgt spid="3">
                                            <p:txEl>
                                              <p:pRg st="7" end="7"/>
                                            </p:txEl>
                                          </p:spTgt>
                                        </p:tgtEl>
                                        <p:attrNameLst>
                                          <p:attrName>style.visibility</p:attrName>
                                        </p:attrNameLst>
                                      </p:cBhvr>
                                      <p:to>
                                        <p:strVal val="visible"/>
                                      </p:to>
                                    </p:set>
                                    <p:animEffect transition="in" filter="wipe(left)">
                                      <p:cBhvr>
                                        <p:cTn id="68" dur="500"/>
                                        <p:tgtEl>
                                          <p:spTgt spid="3">
                                            <p:txEl>
                                              <p:pRg st="7" end="7"/>
                                            </p:txEl>
                                          </p:spTgt>
                                        </p:tgtEl>
                                      </p:cBhvr>
                                    </p:animEffect>
                                  </p:childTnLst>
                                </p:cTn>
                              </p:par>
                              <p:par>
                                <p:cTn id="69" presetID="22" presetClass="entr" presetSubtype="8" fill="hold" nodeType="withEffect">
                                  <p:stCondLst>
                                    <p:cond delay="0"/>
                                  </p:stCondLst>
                                  <p:childTnLst>
                                    <p:set>
                                      <p:cBhvr>
                                        <p:cTn id="70" dur="1" fill="hold">
                                          <p:stCondLst>
                                            <p:cond delay="0"/>
                                          </p:stCondLst>
                                        </p:cTn>
                                        <p:tgtEl>
                                          <p:spTgt spid="3">
                                            <p:txEl>
                                              <p:pRg st="8" end="8"/>
                                            </p:txEl>
                                          </p:spTgt>
                                        </p:tgtEl>
                                        <p:attrNameLst>
                                          <p:attrName>style.visibility</p:attrName>
                                        </p:attrNameLst>
                                      </p:cBhvr>
                                      <p:to>
                                        <p:strVal val="visible"/>
                                      </p:to>
                                    </p:set>
                                    <p:animEffect transition="in" filter="wipe(left)">
                                      <p:cBhvr>
                                        <p:cTn id="71"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2" grpId="0"/>
      <p:bldP spid="10" grpId="0"/>
      <p:bldP spid="19"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1052736"/>
            <a:ext cx="8784976" cy="954107"/>
          </a:xfrm>
          <a:prstGeom prst="rect">
            <a:avLst/>
          </a:prstGeom>
        </p:spPr>
        <p:txBody>
          <a:bodyPr wrap="square">
            <a:spAutoFit/>
          </a:bodyPr>
          <a:lstStyle/>
          <a:p>
            <a:r>
              <a:rPr lang="zh-CN" altLang="en-US" dirty="0" smtClean="0"/>
              <a:t>差集</a:t>
            </a:r>
            <a:r>
              <a:rPr lang="en-US" altLang="zh-CN" dirty="0"/>
              <a:t>(EXCEPT )--</a:t>
            </a:r>
            <a:r>
              <a:rPr lang="zh-CN" altLang="en-US" dirty="0"/>
              <a:t>返回两个结果集的差集</a:t>
            </a:r>
            <a:r>
              <a:rPr lang="en-US" altLang="zh-CN" dirty="0"/>
              <a:t>(</a:t>
            </a:r>
            <a:r>
              <a:rPr lang="zh-CN" altLang="en-US" dirty="0"/>
              <a:t>从前一个表中剔除两个表中相同的记录</a:t>
            </a:r>
            <a:r>
              <a:rPr lang="en-US" altLang="zh-CN" dirty="0" smtClean="0"/>
              <a:t>)</a:t>
            </a:r>
            <a:endParaRPr lang="zh-CN" altLang="en-US" dirty="0"/>
          </a:p>
        </p:txBody>
      </p:sp>
      <p:sp>
        <p:nvSpPr>
          <p:cNvPr id="3" name="矩形 2"/>
          <p:cNvSpPr/>
          <p:nvPr/>
        </p:nvSpPr>
        <p:spPr>
          <a:xfrm>
            <a:off x="202478" y="2066337"/>
            <a:ext cx="8941522" cy="461665"/>
          </a:xfrm>
          <a:prstGeom prst="rect">
            <a:avLst/>
          </a:prstGeom>
        </p:spPr>
        <p:txBody>
          <a:bodyPr wrap="square">
            <a:spAutoFit/>
          </a:bodyPr>
          <a:lstStyle/>
          <a:p>
            <a:r>
              <a:rPr lang="en-US" altLang="zh-CN" sz="2400" dirty="0"/>
              <a:t>select name from Table_ 3)except(select </a:t>
            </a:r>
            <a:r>
              <a:rPr lang="en-US" altLang="zh-CN" sz="2400" dirty="0" err="1"/>
              <a:t>stuname</a:t>
            </a:r>
            <a:r>
              <a:rPr lang="en-US" altLang="zh-CN" sz="2400" dirty="0"/>
              <a:t> from Table_ 4)</a:t>
            </a:r>
            <a:endParaRPr lang="zh-CN" altLang="en-US" sz="24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2478" y="2708921"/>
            <a:ext cx="5521650" cy="312093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5580112" y="4013971"/>
            <a:ext cx="3563888" cy="2246769"/>
          </a:xfrm>
          <a:prstGeom prst="rect">
            <a:avLst/>
          </a:prstGeom>
        </p:spPr>
        <p:txBody>
          <a:bodyPr wrap="square">
            <a:spAutoFit/>
          </a:bodyPr>
          <a:lstStyle/>
          <a:p>
            <a:r>
              <a:rPr lang="en-US" altLang="zh-CN" b="0" dirty="0">
                <a:solidFill>
                  <a:srgbClr val="FF0000"/>
                </a:solidFill>
              </a:rPr>
              <a:t>EXCEPT</a:t>
            </a:r>
            <a:r>
              <a:rPr lang="zh-CN" altLang="en-US" b="0" dirty="0">
                <a:solidFill>
                  <a:srgbClr val="FF0000"/>
                </a:solidFill>
              </a:rPr>
              <a:t>操作则是返回在第一个</a:t>
            </a:r>
            <a:r>
              <a:rPr lang="en-US" altLang="zh-CN" b="0" dirty="0">
                <a:solidFill>
                  <a:srgbClr val="FF0000"/>
                </a:solidFill>
              </a:rPr>
              <a:t>SELECT</a:t>
            </a:r>
            <a:r>
              <a:rPr lang="zh-CN" altLang="en-US" b="0" dirty="0">
                <a:solidFill>
                  <a:srgbClr val="FF0000"/>
                </a:solidFill>
              </a:rPr>
              <a:t>语句结果集中存在，但在第二个</a:t>
            </a:r>
            <a:r>
              <a:rPr lang="en-US" altLang="zh-CN" b="0" dirty="0">
                <a:solidFill>
                  <a:srgbClr val="FF0000"/>
                </a:solidFill>
              </a:rPr>
              <a:t>SELECT</a:t>
            </a:r>
            <a:r>
              <a:rPr lang="zh-CN" altLang="en-US" b="0" dirty="0">
                <a:solidFill>
                  <a:srgbClr val="FF0000"/>
                </a:solidFill>
              </a:rPr>
              <a:t>语句结果集中不存在的记录。</a:t>
            </a:r>
            <a:endParaRPr lang="zh-CN" altLang="en-US" dirty="0">
              <a:solidFill>
                <a:srgbClr val="FF0000"/>
              </a:solidFill>
            </a:endParaRPr>
          </a:p>
        </p:txBody>
      </p:sp>
    </p:spTree>
    <p:extLst>
      <p:ext uri="{BB962C8B-B14F-4D97-AF65-F5344CB8AC3E}">
        <p14:creationId xmlns:p14="http://schemas.microsoft.com/office/powerpoint/2010/main" val="8291285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467544" y="1052736"/>
            <a:ext cx="8496944" cy="954107"/>
          </a:xfrm>
          <a:prstGeom prst="rect">
            <a:avLst/>
          </a:prstGeom>
        </p:spPr>
        <p:txBody>
          <a:bodyPr wrap="square">
            <a:spAutoFit/>
          </a:bodyPr>
          <a:lstStyle/>
          <a:p>
            <a:r>
              <a:rPr lang="zh-CN" altLang="en-US" dirty="0" smtClean="0"/>
              <a:t>练习：查询</a:t>
            </a:r>
            <a:r>
              <a:rPr lang="zh-CN" altLang="en-US" dirty="0"/>
              <a:t>计算机科学系的学生与年龄不大于</a:t>
            </a:r>
            <a:r>
              <a:rPr lang="en-US" altLang="zh-CN" dirty="0"/>
              <a:t>19</a:t>
            </a:r>
            <a:r>
              <a:rPr lang="zh-CN" altLang="en-US" dirty="0"/>
              <a:t>岁的学生的差集</a:t>
            </a:r>
            <a:r>
              <a:rPr lang="zh-CN" altLang="en-US" dirty="0" smtClean="0"/>
              <a:t>。</a:t>
            </a:r>
            <a:endParaRPr lang="zh-CN" altLang="en-US" dirty="0"/>
          </a:p>
        </p:txBody>
      </p:sp>
      <p:sp>
        <p:nvSpPr>
          <p:cNvPr id="3" name="矩形 2"/>
          <p:cNvSpPr/>
          <p:nvPr/>
        </p:nvSpPr>
        <p:spPr>
          <a:xfrm>
            <a:off x="467544" y="2521059"/>
            <a:ext cx="8496944" cy="1384995"/>
          </a:xfrm>
          <a:prstGeom prst="rect">
            <a:avLst/>
          </a:prstGeom>
        </p:spPr>
        <p:txBody>
          <a:bodyPr wrap="square">
            <a:spAutoFit/>
          </a:bodyPr>
          <a:lstStyle/>
          <a:p>
            <a:r>
              <a:rPr lang="en-US" altLang="zh-CN" dirty="0" smtClean="0"/>
              <a:t>SELECT </a:t>
            </a:r>
            <a:r>
              <a:rPr lang="en-US" altLang="zh-CN" dirty="0"/>
              <a:t> * </a:t>
            </a:r>
            <a:r>
              <a:rPr lang="en-US" altLang="zh-CN" dirty="0" smtClean="0"/>
              <a:t>FROM Student WHERE </a:t>
            </a:r>
            <a:r>
              <a:rPr lang="en-US" altLang="zh-CN" dirty="0" err="1"/>
              <a:t>Sdept</a:t>
            </a:r>
            <a:r>
              <a:rPr lang="en-US" altLang="zh-CN" dirty="0"/>
              <a:t> =</a:t>
            </a:r>
            <a:r>
              <a:rPr lang="en-US" altLang="zh-CN" dirty="0" smtClean="0"/>
              <a:t>'CS‘ </a:t>
            </a:r>
          </a:p>
          <a:p>
            <a:r>
              <a:rPr lang="en-US" altLang="zh-CN" dirty="0" smtClean="0">
                <a:solidFill>
                  <a:srgbClr val="FF0000"/>
                </a:solidFill>
              </a:rPr>
              <a:t>EXCEPT </a:t>
            </a:r>
          </a:p>
          <a:p>
            <a:r>
              <a:rPr lang="en-US" altLang="zh-CN" dirty="0" smtClean="0"/>
              <a:t>SELECT * FROM Student WHERE </a:t>
            </a:r>
            <a:r>
              <a:rPr lang="en-US" altLang="zh-CN" dirty="0"/>
              <a:t>Sage &lt;=</a:t>
            </a:r>
            <a:r>
              <a:rPr lang="en-US" altLang="zh-CN" dirty="0" smtClean="0"/>
              <a:t>19</a:t>
            </a:r>
            <a:endParaRPr lang="zh-CN" altLang="en-US" dirty="0"/>
          </a:p>
        </p:txBody>
      </p:sp>
      <p:sp>
        <p:nvSpPr>
          <p:cNvPr id="4" name="矩形 3"/>
          <p:cNvSpPr/>
          <p:nvPr/>
        </p:nvSpPr>
        <p:spPr>
          <a:xfrm>
            <a:off x="467544" y="4797152"/>
            <a:ext cx="7992888" cy="954107"/>
          </a:xfrm>
          <a:prstGeom prst="rect">
            <a:avLst/>
          </a:prstGeom>
        </p:spPr>
        <p:txBody>
          <a:bodyPr wrap="square">
            <a:spAutoFit/>
          </a:bodyPr>
          <a:lstStyle/>
          <a:p>
            <a:r>
              <a:rPr lang="en-US" altLang="zh-CN" dirty="0"/>
              <a:t>SELECT  * FROM Student </a:t>
            </a:r>
            <a:r>
              <a:rPr lang="en-US" altLang="zh-CN" dirty="0" smtClean="0"/>
              <a:t>WHERE </a:t>
            </a:r>
            <a:r>
              <a:rPr lang="en-US" altLang="zh-CN" dirty="0" err="1" smtClean="0"/>
              <a:t>Sdept</a:t>
            </a:r>
            <a:r>
              <a:rPr lang="en-US" altLang="zh-CN" dirty="0"/>
              <a:t>= 'CS' AND </a:t>
            </a:r>
            <a:r>
              <a:rPr lang="en-US" altLang="zh-CN" dirty="0" smtClean="0"/>
              <a:t>Sage&gt;19</a:t>
            </a:r>
            <a:endParaRPr lang="zh-CN" altLang="en-US" dirty="0"/>
          </a:p>
        </p:txBody>
      </p:sp>
    </p:spTree>
    <p:extLst>
      <p:ext uri="{BB962C8B-B14F-4D97-AF65-F5344CB8AC3E}">
        <p14:creationId xmlns:p14="http://schemas.microsoft.com/office/powerpoint/2010/main" val="35179611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6712"/>
            <a:ext cx="9144000" cy="4255267"/>
          </a:xfrm>
          <a:prstGeom prst="rect">
            <a:avLst/>
          </a:prstGeom>
        </p:spPr>
        <p:txBody>
          <a:bodyPr wrap="square">
            <a:spAutoFit/>
          </a:bodyPr>
          <a:lstStyle/>
          <a:p>
            <a:pPr>
              <a:lnSpc>
                <a:spcPct val="150000"/>
              </a:lnSpc>
            </a:pPr>
            <a:r>
              <a:rPr lang="en-US" sz="2400" dirty="0">
                <a:solidFill>
                  <a:srgbClr val="7030A0"/>
                </a:solidFill>
                <a:latin typeface="Times New Roman" panose="02020603050405020304" pitchFamily="18" charset="0"/>
                <a:cs typeface="Times New Roman" panose="02020603050405020304" pitchFamily="18" charset="0"/>
              </a:rPr>
              <a:t>2. Join in advanced SQL </a:t>
            </a:r>
          </a:p>
          <a:p>
            <a:pPr>
              <a:lnSpc>
                <a:spcPct val="120000"/>
              </a:lnSpc>
            </a:pPr>
            <a:r>
              <a:rPr lang="en-US" sz="2400" dirty="0">
                <a:solidFill>
                  <a:srgbClr val="7030A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a) Join Predicate</a:t>
            </a:r>
          </a:p>
          <a:p>
            <a:pPr>
              <a:spcBef>
                <a:spcPts val="1000"/>
              </a:spcBef>
            </a:pPr>
            <a:r>
              <a:rPr lang="en-US" sz="22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Tableref</a:t>
            </a:r>
            <a:r>
              <a:rPr lang="en-US" sz="2000" dirty="0">
                <a:solidFill>
                  <a:srgbClr val="002060"/>
                </a:solidFill>
                <a:latin typeface="Times New Roman" panose="02020603050405020304" pitchFamily="18" charset="0"/>
                <a:cs typeface="Times New Roman" panose="02020603050405020304" pitchFamily="18" charset="0"/>
              </a:rPr>
              <a:t> := </a:t>
            </a:r>
            <a:r>
              <a:rPr lang="en-US" sz="2000" dirty="0" err="1">
                <a:solidFill>
                  <a:srgbClr val="002060"/>
                </a:solidFill>
                <a:latin typeface="Times New Roman" panose="02020603050405020304" pitchFamily="18" charset="0"/>
                <a:cs typeface="Times New Roman" panose="02020603050405020304" pitchFamily="18" charset="0"/>
              </a:rPr>
              <a:t>tablename</a:t>
            </a:r>
            <a:r>
              <a:rPr lang="en-US" sz="2000" dirty="0">
                <a:solidFill>
                  <a:srgbClr val="002060"/>
                </a:solidFill>
                <a:latin typeface="Times New Roman" panose="02020603050405020304" pitchFamily="18" charset="0"/>
                <a:cs typeface="Times New Roman" panose="02020603050405020304" pitchFamily="18" charset="0"/>
              </a:rPr>
              <a:t> [[AS] </a:t>
            </a:r>
            <a:r>
              <a:rPr lang="en-US" sz="2000" dirty="0" err="1">
                <a:solidFill>
                  <a:srgbClr val="002060"/>
                </a:solidFill>
                <a:latin typeface="Times New Roman" panose="02020603050405020304" pitchFamily="18" charset="0"/>
                <a:cs typeface="Times New Roman" panose="02020603050405020304" pitchFamily="18" charset="0"/>
              </a:rPr>
              <a:t>corr_name</a:t>
            </a:r>
            <a:r>
              <a:rPr lang="en-US" sz="2000" dirty="0">
                <a:solidFill>
                  <a:srgbClr val="002060"/>
                </a:solidFill>
                <a:latin typeface="Times New Roman" panose="02020603050405020304" pitchFamily="18" charset="0"/>
                <a:cs typeface="Times New Roman" panose="02020603050405020304" pitchFamily="18" charset="0"/>
              </a:rPr>
              <a:t>[(</a:t>
            </a:r>
            <a:r>
              <a:rPr lang="en-US" sz="2000" dirty="0" err="1">
                <a:solidFill>
                  <a:srgbClr val="002060"/>
                </a:solidFill>
                <a:latin typeface="Times New Roman" panose="02020603050405020304" pitchFamily="18" charset="0"/>
                <a:cs typeface="Times New Roman" panose="02020603050405020304" pitchFamily="18" charset="0"/>
              </a:rPr>
              <a:t>colname</a:t>
            </a:r>
            <a:r>
              <a:rPr lang="en-US" sz="2000" dirty="0">
                <a:solidFill>
                  <a:srgbClr val="002060"/>
                </a:solidFill>
                <a:latin typeface="Times New Roman" panose="02020603050405020304" pitchFamily="18" charset="0"/>
                <a:cs typeface="Times New Roman" panose="02020603050405020304" pitchFamily="18" charset="0"/>
              </a:rPr>
              <a:t> {, </a:t>
            </a:r>
            <a:r>
              <a:rPr lang="en-US" sz="2000" dirty="0" err="1">
                <a:solidFill>
                  <a:srgbClr val="002060"/>
                </a:solidFill>
                <a:latin typeface="Times New Roman" panose="02020603050405020304" pitchFamily="18" charset="0"/>
                <a:cs typeface="Times New Roman" panose="02020603050405020304" pitchFamily="18" charset="0"/>
              </a:rPr>
              <a:t>colname</a:t>
            </a:r>
            <a:r>
              <a:rPr lang="en-US" sz="2000" dirty="0">
                <a:solidFill>
                  <a:srgbClr val="002060"/>
                </a:solidFill>
                <a:latin typeface="Times New Roman" panose="02020603050405020304" pitchFamily="18" charset="0"/>
                <a:cs typeface="Times New Roman" panose="02020603050405020304" pitchFamily="18" charset="0"/>
              </a:rPr>
              <a:t> ...})]]</a:t>
            </a:r>
          </a:p>
          <a:p>
            <a:pPr>
              <a:spcBef>
                <a:spcPts val="1000"/>
              </a:spcBef>
            </a:pPr>
            <a:r>
              <a:rPr lang="en-US" sz="2000" dirty="0">
                <a:solidFill>
                  <a:srgbClr val="002060"/>
                </a:solidFill>
                <a:latin typeface="Times New Roman" panose="02020603050405020304" pitchFamily="18" charset="0"/>
                <a:cs typeface="Times New Roman" panose="02020603050405020304" pitchFamily="18" charset="0"/>
              </a:rPr>
              <a:t>                      | (</a:t>
            </a:r>
            <a:r>
              <a:rPr lang="en-US" sz="2000" dirty="0" err="1">
                <a:solidFill>
                  <a:srgbClr val="002060"/>
                </a:solidFill>
                <a:latin typeface="Times New Roman" panose="02020603050405020304" pitchFamily="18" charset="0"/>
                <a:cs typeface="Times New Roman" panose="02020603050405020304" pitchFamily="18" charset="0"/>
              </a:rPr>
              <a:t>subquery</a:t>
            </a:r>
            <a:r>
              <a:rPr lang="en-US" sz="2000" dirty="0">
                <a:solidFill>
                  <a:srgbClr val="002060"/>
                </a:solidFill>
                <a:latin typeface="Times New Roman" panose="02020603050405020304" pitchFamily="18" charset="0"/>
                <a:cs typeface="Times New Roman" panose="02020603050405020304" pitchFamily="18" charset="0"/>
              </a:rPr>
              <a:t>) [AS] </a:t>
            </a:r>
            <a:r>
              <a:rPr lang="en-US" sz="2000" dirty="0" err="1">
                <a:solidFill>
                  <a:srgbClr val="002060"/>
                </a:solidFill>
                <a:latin typeface="Times New Roman" panose="02020603050405020304" pitchFamily="18" charset="0"/>
                <a:cs typeface="Times New Roman" panose="02020603050405020304" pitchFamily="18" charset="0"/>
              </a:rPr>
              <a:t>corr_name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colname</a:t>
            </a:r>
            <a:r>
              <a:rPr lang="en-US" sz="2000" dirty="0">
                <a:solidFill>
                  <a:srgbClr val="002060"/>
                </a:solidFill>
                <a:latin typeface="Times New Roman" panose="02020603050405020304" pitchFamily="18" charset="0"/>
                <a:cs typeface="Times New Roman" panose="02020603050405020304" pitchFamily="18" charset="0"/>
              </a:rPr>
              <a:t> {, </a:t>
            </a:r>
            <a:r>
              <a:rPr lang="en-US" sz="2000" dirty="0" err="1">
                <a:solidFill>
                  <a:srgbClr val="002060"/>
                </a:solidFill>
                <a:latin typeface="Times New Roman" panose="02020603050405020304" pitchFamily="18" charset="0"/>
                <a:cs typeface="Times New Roman" panose="02020603050405020304" pitchFamily="18" charset="0"/>
              </a:rPr>
              <a:t>colname</a:t>
            </a:r>
            <a:r>
              <a:rPr lang="en-US" sz="2000" dirty="0">
                <a:solidFill>
                  <a:srgbClr val="002060"/>
                </a:solidFill>
                <a:latin typeface="Times New Roman" panose="02020603050405020304" pitchFamily="18" charset="0"/>
                <a:cs typeface="Times New Roman" panose="02020603050405020304" pitchFamily="18" charset="0"/>
              </a:rPr>
              <a:t> ...})]</a:t>
            </a:r>
          </a:p>
          <a:p>
            <a:pPr>
              <a:spcBef>
                <a:spcPts val="1000"/>
              </a:spcBef>
            </a:pPr>
            <a:r>
              <a:rPr lang="en-US" sz="2000" dirty="0">
                <a:solidFill>
                  <a:srgbClr val="002060"/>
                </a:solidFill>
                <a:latin typeface="Times New Roman" panose="02020603050405020304" pitchFamily="18" charset="0"/>
                <a:cs typeface="Times New Roman" panose="02020603050405020304" pitchFamily="18" charset="0"/>
              </a:rPr>
              <a:t>                      | tableref1 [INNER | { </a:t>
            </a:r>
            <a:r>
              <a:rPr lang="en-US" sz="2000" dirty="0">
                <a:solidFill>
                  <a:srgbClr val="C00000"/>
                </a:solidFill>
                <a:latin typeface="Times New Roman" panose="02020603050405020304" pitchFamily="18" charset="0"/>
                <a:cs typeface="Times New Roman" panose="02020603050405020304" pitchFamily="18" charset="0"/>
              </a:rPr>
              <a:t>LEFT</a:t>
            </a:r>
            <a:r>
              <a:rPr lang="en-US" sz="2000" dirty="0">
                <a:solidFill>
                  <a:srgbClr val="002060"/>
                </a:solidFill>
                <a:latin typeface="Times New Roman" panose="02020603050405020304" pitchFamily="18" charset="0"/>
                <a:cs typeface="Times New Roman" panose="02020603050405020304" pitchFamily="18" charset="0"/>
              </a:rPr>
              <a:t> | </a:t>
            </a:r>
            <a:r>
              <a:rPr lang="en-US" sz="2000" dirty="0">
                <a:solidFill>
                  <a:srgbClr val="C00000"/>
                </a:solidFill>
                <a:latin typeface="Times New Roman" panose="02020603050405020304" pitchFamily="18" charset="0"/>
                <a:cs typeface="Times New Roman" panose="02020603050405020304" pitchFamily="18" charset="0"/>
              </a:rPr>
              <a:t>RIGHT</a:t>
            </a:r>
            <a:r>
              <a:rPr lang="en-US" sz="2000" dirty="0">
                <a:solidFill>
                  <a:srgbClr val="002060"/>
                </a:solidFill>
                <a:latin typeface="Times New Roman" panose="02020603050405020304" pitchFamily="18" charset="0"/>
                <a:cs typeface="Times New Roman" panose="02020603050405020304" pitchFamily="18" charset="0"/>
              </a:rPr>
              <a:t> | </a:t>
            </a:r>
            <a:r>
              <a:rPr lang="en-US" sz="2000" dirty="0">
                <a:solidFill>
                  <a:srgbClr val="C00000"/>
                </a:solidFill>
                <a:latin typeface="Times New Roman" panose="02020603050405020304" pitchFamily="18" charset="0"/>
                <a:cs typeface="Times New Roman" panose="02020603050405020304" pitchFamily="18" charset="0"/>
              </a:rPr>
              <a:t>FULL</a:t>
            </a:r>
            <a:r>
              <a:rPr lang="en-US" sz="2000" dirty="0">
                <a:solidFill>
                  <a:srgbClr val="002060"/>
                </a:solidFill>
                <a:latin typeface="Times New Roman" panose="02020603050405020304" pitchFamily="18" charset="0"/>
                <a:cs typeface="Times New Roman" panose="02020603050405020304" pitchFamily="18" charset="0"/>
              </a:rPr>
              <a:t>}</a:t>
            </a:r>
          </a:p>
          <a:p>
            <a:pPr>
              <a:spcBef>
                <a:spcPts val="1000"/>
              </a:spcBef>
            </a:pPr>
            <a:r>
              <a:rPr lang="en-US" sz="2000" dirty="0">
                <a:solidFill>
                  <a:srgbClr val="002060"/>
                </a:solidFill>
                <a:latin typeface="Times New Roman" panose="02020603050405020304" pitchFamily="18" charset="0"/>
                <a:cs typeface="Times New Roman" panose="02020603050405020304" pitchFamily="18" charset="0"/>
              </a:rPr>
              <a:t> 		         [OUTER] </a:t>
            </a:r>
            <a:r>
              <a:rPr lang="en-US" sz="2000" dirty="0">
                <a:solidFill>
                  <a:srgbClr val="C00000"/>
                </a:solidFill>
                <a:latin typeface="Times New Roman" panose="02020603050405020304" pitchFamily="18" charset="0"/>
                <a:cs typeface="Times New Roman" panose="02020603050405020304" pitchFamily="18" charset="0"/>
              </a:rPr>
              <a:t>JOIN</a:t>
            </a:r>
            <a:r>
              <a:rPr lang="en-US" sz="2000" dirty="0">
                <a:solidFill>
                  <a:srgbClr val="002060"/>
                </a:solidFill>
                <a:latin typeface="Times New Roman" panose="02020603050405020304" pitchFamily="18" charset="0"/>
                <a:cs typeface="Times New Roman" panose="02020603050405020304" pitchFamily="18" charset="0"/>
              </a:rPr>
              <a:t> tableref2 ON </a:t>
            </a:r>
            <a:r>
              <a:rPr lang="en-US" sz="2000" dirty="0" err="1">
                <a:solidFill>
                  <a:srgbClr val="002060"/>
                </a:solidFill>
                <a:latin typeface="Times New Roman" panose="02020603050405020304" pitchFamily="18" charset="0"/>
                <a:cs typeface="Times New Roman" panose="02020603050405020304" pitchFamily="18" charset="0"/>
              </a:rPr>
              <a:t>search_condition</a:t>
            </a:r>
            <a:r>
              <a:rPr lang="en-US" sz="2000" dirty="0">
                <a:solidFill>
                  <a:srgbClr val="002060"/>
                </a:solidFill>
                <a:latin typeface="Times New Roman" panose="02020603050405020304" pitchFamily="18" charset="0"/>
                <a:cs typeface="Times New Roman" panose="02020603050405020304" pitchFamily="18" charset="0"/>
              </a:rPr>
              <a:t> |</a:t>
            </a:r>
          </a:p>
          <a:p>
            <a:pPr>
              <a:spcBef>
                <a:spcPts val="10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USING</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colname</a:t>
            </a:r>
            <a:r>
              <a:rPr lang="en-US" sz="2000" dirty="0">
                <a:solidFill>
                  <a:srgbClr val="002060"/>
                </a:solidFill>
                <a:latin typeface="Times New Roman" panose="02020603050405020304" pitchFamily="18" charset="0"/>
                <a:cs typeface="Times New Roman" panose="02020603050405020304" pitchFamily="18" charset="0"/>
              </a:rPr>
              <a:t> {, </a:t>
            </a:r>
            <a:r>
              <a:rPr lang="en-US" sz="2000" dirty="0" err="1">
                <a:solidFill>
                  <a:srgbClr val="002060"/>
                </a:solidFill>
                <a:latin typeface="Times New Roman" panose="02020603050405020304" pitchFamily="18" charset="0"/>
                <a:cs typeface="Times New Roman" panose="02020603050405020304" pitchFamily="18" charset="0"/>
              </a:rPr>
              <a:t>colname</a:t>
            </a:r>
            <a:r>
              <a:rPr lang="en-US" sz="2000" dirty="0">
                <a:solidFill>
                  <a:srgbClr val="002060"/>
                </a:solidFill>
                <a:latin typeface="Times New Roman" panose="02020603050405020304" pitchFamily="18" charset="0"/>
                <a:cs typeface="Times New Roman" panose="02020603050405020304" pitchFamily="18" charset="0"/>
              </a:rPr>
              <a:t> . . .})}</a:t>
            </a:r>
          </a:p>
          <a:p>
            <a:pPr>
              <a:lnSpc>
                <a:spcPct val="150000"/>
              </a:lnSpc>
            </a:pP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b) FROM </a:t>
            </a:r>
            <a:r>
              <a:rPr lang="ja-JP" altLang="en-US" sz="2200" dirty="0">
                <a:solidFill>
                  <a:srgbClr val="7030A0"/>
                </a:solidFill>
                <a:latin typeface="Times New Roman" panose="02020603050405020304" pitchFamily="18" charset="0"/>
                <a:cs typeface="Times New Roman" panose="02020603050405020304" pitchFamily="18" charset="0"/>
              </a:rPr>
              <a:t>子句中含</a:t>
            </a:r>
            <a:r>
              <a:rPr lang="en-US" sz="2200" dirty="0" err="1">
                <a:solidFill>
                  <a:srgbClr val="7030A0"/>
                </a:solidFill>
                <a:latin typeface="Times New Roman" panose="02020603050405020304" pitchFamily="18" charset="0"/>
                <a:cs typeface="Times New Roman" panose="02020603050405020304" pitchFamily="18" charset="0"/>
              </a:rPr>
              <a:t>Subquery</a:t>
            </a:r>
            <a:endParaRPr lang="en-US" sz="2200" dirty="0">
              <a:solidFill>
                <a:srgbClr val="7030A0"/>
              </a:solidFill>
              <a:latin typeface="Times New Roman" panose="02020603050405020304" pitchFamily="18" charset="0"/>
              <a:cs typeface="Times New Roman" panose="02020603050405020304" pitchFamily="18" charset="0"/>
            </a:endParaRPr>
          </a:p>
          <a:p>
            <a:r>
              <a:rPr lang="en-US" sz="2200" dirty="0">
                <a:solidFill>
                  <a:srgbClr val="002060"/>
                </a:solidFill>
                <a:latin typeface="Times New Roman" panose="02020603050405020304" pitchFamily="18" charset="0"/>
                <a:cs typeface="Times New Roman" panose="02020603050405020304" pitchFamily="18" charset="0"/>
              </a:rPr>
              <a:t>		  clause := FROM </a:t>
            </a:r>
            <a:r>
              <a:rPr lang="en-US" sz="2200" dirty="0" err="1">
                <a:solidFill>
                  <a:srgbClr val="002060"/>
                </a:solidFill>
                <a:latin typeface="Times New Roman" panose="02020603050405020304" pitchFamily="18" charset="0"/>
                <a:cs typeface="Times New Roman" panose="02020603050405020304" pitchFamily="18" charset="0"/>
              </a:rPr>
              <a:t>tableref</a:t>
            </a:r>
            <a:r>
              <a:rPr lang="en-US" sz="2200" dirty="0">
                <a:solidFill>
                  <a:srgbClr val="002060"/>
                </a:solidFill>
                <a:latin typeface="Times New Roman" panose="02020603050405020304" pitchFamily="18" charset="0"/>
                <a:cs typeface="Times New Roman" panose="02020603050405020304" pitchFamily="18" charset="0"/>
              </a:rPr>
              <a:t> {, </a:t>
            </a:r>
            <a:r>
              <a:rPr lang="en-US" sz="2200" dirty="0" err="1">
                <a:solidFill>
                  <a:srgbClr val="002060"/>
                </a:solidFill>
                <a:latin typeface="Times New Roman" panose="02020603050405020304" pitchFamily="18" charset="0"/>
                <a:cs typeface="Times New Roman" panose="02020603050405020304" pitchFamily="18" charset="0"/>
              </a:rPr>
              <a:t>tableref</a:t>
            </a:r>
            <a:r>
              <a:rPr lang="en-US" sz="2200" dirty="0">
                <a:solidFill>
                  <a:srgbClr val="002060"/>
                </a:solidFill>
                <a:latin typeface="Times New Roman" panose="02020603050405020304" pitchFamily="18" charset="0"/>
                <a:cs typeface="Times New Roman" panose="02020603050405020304" pitchFamily="18" charset="0"/>
              </a:rPr>
              <a:t> . . .} </a:t>
            </a:r>
          </a:p>
        </p:txBody>
      </p:sp>
      <p:sp>
        <p:nvSpPr>
          <p:cNvPr id="4" name="Rectangle 1"/>
          <p:cNvSpPr/>
          <p:nvPr/>
        </p:nvSpPr>
        <p:spPr>
          <a:xfrm>
            <a:off x="899592" y="116632"/>
            <a:ext cx="8208912"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3.6 Some advanced SQL syntax</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879039"/>
            <a:ext cx="9036496" cy="884986"/>
          </a:xfrm>
          <a:prstGeom prst="rect">
            <a:avLst/>
          </a:prstGeom>
        </p:spPr>
        <p:txBody>
          <a:bodyPr wrap="square">
            <a:spAutoFit/>
          </a:bodyPr>
          <a:lstStyle/>
          <a:p>
            <a:pPr>
              <a:lnSpc>
                <a:spcPts val="3200"/>
              </a:lnSpc>
            </a:pPr>
            <a:r>
              <a:rPr lang="en-US" sz="2400" dirty="0">
                <a:solidFill>
                  <a:srgbClr val="7030A0"/>
                </a:solidFill>
                <a:latin typeface="Times New Roman" panose="02020603050405020304" pitchFamily="18" charset="0"/>
                <a:cs typeface="Times New Roman" panose="02020603050405020304" pitchFamily="18" charset="0"/>
              </a:rPr>
              <a:t>[2]Example 3.6.3</a:t>
            </a:r>
            <a:r>
              <a:rPr lang="en-US" sz="1100" dirty="0">
                <a:solidFill>
                  <a:srgbClr val="002060"/>
                </a:solidFill>
                <a:latin typeface="Times New Roman" panose="02020603050405020304" pitchFamily="18" charset="0"/>
                <a:cs typeface="Times New Roman" panose="02020603050405020304" pitchFamily="18" charset="0"/>
              </a:rPr>
              <a:t>(p118)  </a:t>
            </a:r>
            <a:r>
              <a:rPr lang="en-US" sz="2200" dirty="0">
                <a:solidFill>
                  <a:srgbClr val="7030A0"/>
                </a:solidFill>
                <a:latin typeface="+mn-lt"/>
                <a:cs typeface="Times New Roman" panose="02020603050405020304" pitchFamily="18" charset="0"/>
              </a:rPr>
              <a:t>Retrieve all </a:t>
            </a:r>
            <a:r>
              <a:rPr lang="en-US" sz="2200" dirty="0" err="1">
                <a:solidFill>
                  <a:srgbClr val="7030A0"/>
                </a:solidFill>
                <a:latin typeface="+mn-lt"/>
                <a:cs typeface="Times New Roman" panose="02020603050405020304" pitchFamily="18" charset="0"/>
              </a:rPr>
              <a:t>cnames</a:t>
            </a:r>
            <a:r>
              <a:rPr lang="en-US" sz="2200" dirty="0">
                <a:solidFill>
                  <a:srgbClr val="7030A0"/>
                </a:solidFill>
                <a:latin typeface="+mn-lt"/>
                <a:cs typeface="Times New Roman" panose="02020603050405020304" pitchFamily="18" charset="0"/>
              </a:rPr>
              <a:t> where the customer places at least two orders for the same product. </a:t>
            </a:r>
          </a:p>
        </p:txBody>
      </p:sp>
      <p:sp>
        <p:nvSpPr>
          <p:cNvPr id="4" name="Rectangle 1"/>
          <p:cNvSpPr/>
          <p:nvPr/>
        </p:nvSpPr>
        <p:spPr>
          <a:xfrm>
            <a:off x="899592" y="116632"/>
            <a:ext cx="8208912"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3.6 Some advanced SQL syntax</a:t>
            </a:r>
          </a:p>
        </p:txBody>
      </p:sp>
      <p:pic>
        <p:nvPicPr>
          <p:cNvPr id="5" name="图片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04856" y="1987934"/>
            <a:ext cx="2232136" cy="597449"/>
          </a:xfrm>
          <a:prstGeom prst="rect">
            <a:avLst/>
          </a:prstGeom>
        </p:spPr>
      </p:pic>
      <p:pic>
        <p:nvPicPr>
          <p:cNvPr id="6" name="图片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00596" y="1988840"/>
            <a:ext cx="2232136" cy="597449"/>
          </a:xfrm>
          <a:prstGeom prst="rect">
            <a:avLst/>
          </a:prstGeom>
        </p:spPr>
      </p:pic>
      <p:pic>
        <p:nvPicPr>
          <p:cNvPr id="7" name="图片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2369" y="2013252"/>
            <a:ext cx="1968168" cy="557986"/>
          </a:xfrm>
          <a:prstGeom prst="rect">
            <a:avLst/>
          </a:prstGeom>
        </p:spPr>
      </p:pic>
      <p:sp>
        <p:nvSpPr>
          <p:cNvPr id="8" name="箭头: 左弧形 7"/>
          <p:cNvSpPr/>
          <p:nvPr/>
        </p:nvSpPr>
        <p:spPr bwMode="auto">
          <a:xfrm rot="16200000">
            <a:off x="4108470" y="1157318"/>
            <a:ext cx="350999" cy="3313585"/>
          </a:xfrm>
          <a:prstGeom prst="curvedRightArrow">
            <a:avLst/>
          </a:prstGeom>
          <a:solidFill>
            <a:srgbClr val="FFFF00"/>
          </a:solidFill>
          <a:ln>
            <a:solidFill>
              <a:srgbClr val="FFFF00"/>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9" name="箭头: 左弧形 8"/>
          <p:cNvSpPr/>
          <p:nvPr/>
        </p:nvSpPr>
        <p:spPr bwMode="auto">
          <a:xfrm rot="16200000">
            <a:off x="7565463" y="1596410"/>
            <a:ext cx="350999" cy="2448274"/>
          </a:xfrm>
          <a:prstGeom prst="curvedRightArrow">
            <a:avLst/>
          </a:prstGeom>
          <a:solidFill>
            <a:srgbClr val="00B050"/>
          </a:solidFill>
          <a:ln>
            <a:solidFill>
              <a:srgbClr val="00B050"/>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cxnSp>
        <p:nvCxnSpPr>
          <p:cNvPr id="10" name="直接箭头连接符 9"/>
          <p:cNvCxnSpPr/>
          <p:nvPr/>
        </p:nvCxnSpPr>
        <p:spPr bwMode="auto">
          <a:xfrm>
            <a:off x="6588832" y="1843174"/>
            <a:ext cx="0" cy="505706"/>
          </a:xfrm>
          <a:prstGeom prst="straightConnector1">
            <a:avLst/>
          </a:prstGeom>
          <a:ln w="57150">
            <a:solidFill>
              <a:srgbClr val="00B050"/>
            </a:solidFill>
            <a:headEnd type="none" w="med" len="med"/>
            <a:tailEnd type="triangle"/>
          </a:ln>
        </p:spPr>
        <p:style>
          <a:lnRef idx="3">
            <a:schemeClr val="accent1"/>
          </a:lnRef>
          <a:fillRef idx="0">
            <a:schemeClr val="accent1"/>
          </a:fillRef>
          <a:effectRef idx="2">
            <a:schemeClr val="accent1"/>
          </a:effectRef>
          <a:fontRef idx="minor">
            <a:schemeClr val="tx1"/>
          </a:fontRef>
        </p:style>
      </p:cxnSp>
      <p:cxnSp>
        <p:nvCxnSpPr>
          <p:cNvPr id="11" name="直接箭头连接符 10"/>
          <p:cNvCxnSpPr/>
          <p:nvPr/>
        </p:nvCxnSpPr>
        <p:spPr bwMode="auto">
          <a:xfrm>
            <a:off x="8893088" y="1844664"/>
            <a:ext cx="0" cy="441994"/>
          </a:xfrm>
          <a:prstGeom prst="straightConnector1">
            <a:avLst/>
          </a:prstGeom>
          <a:ln w="57150">
            <a:solidFill>
              <a:srgbClr val="00B050"/>
            </a:solidFill>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12" name="Rectangle 2"/>
          <p:cNvSpPr/>
          <p:nvPr/>
        </p:nvSpPr>
        <p:spPr>
          <a:xfrm>
            <a:off x="7524328" y="2689324"/>
            <a:ext cx="576063" cy="307777"/>
          </a:xfrm>
          <a:prstGeom prst="rect">
            <a:avLst/>
          </a:prstGeom>
        </p:spPr>
        <p:txBody>
          <a:bodyPr wrap="square">
            <a:spAutoFit/>
          </a:bodyPr>
          <a:lstStyle/>
          <a:p>
            <a:pPr algn="ctr">
              <a:spcAft>
                <a:spcPts val="0"/>
              </a:spcAft>
            </a:pPr>
            <a:r>
              <a:rPr lang="en-US" sz="1400" dirty="0">
                <a:solidFill>
                  <a:srgbClr val="002060"/>
                </a:solidFill>
                <a:latin typeface="Times New Roman" panose="02020603050405020304" pitchFamily="18" charset="0"/>
                <a:cs typeface="Times New Roman" panose="02020603050405020304" pitchFamily="18" charset="0"/>
              </a:rPr>
              <a:t>same</a:t>
            </a:r>
          </a:p>
        </p:txBody>
      </p:sp>
      <p:sp>
        <p:nvSpPr>
          <p:cNvPr id="13" name="Rectangle 2"/>
          <p:cNvSpPr/>
          <p:nvPr/>
        </p:nvSpPr>
        <p:spPr>
          <a:xfrm>
            <a:off x="251520" y="3789040"/>
            <a:ext cx="8892480" cy="2601803"/>
          </a:xfrm>
          <a:prstGeom prst="rect">
            <a:avLst/>
          </a:prstGeom>
        </p:spPr>
        <p:txBody>
          <a:bodyPr wrap="square">
            <a:spAutoFit/>
          </a:bodyPr>
          <a:lstStyle/>
          <a:p>
            <a:pPr>
              <a:lnSpc>
                <a:spcPts val="3200"/>
              </a:lnSpc>
            </a:pPr>
            <a:r>
              <a:rPr lang="en-US" sz="2000" dirty="0">
                <a:solidFill>
                  <a:srgbClr val="C00000"/>
                </a:solidFill>
                <a:latin typeface="Times New Roman" panose="02020603050405020304" pitchFamily="18" charset="0"/>
                <a:cs typeface="Times New Roman" panose="02020603050405020304" pitchFamily="18" charset="0"/>
              </a:rPr>
              <a:t>  S1</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select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C00000"/>
                </a:solidFill>
                <a:latin typeface="Times New Roman" panose="02020603050405020304" pitchFamily="18" charset="0"/>
                <a:cs typeface="Times New Roman" panose="02020603050405020304" pitchFamily="18" charset="0"/>
              </a:rPr>
              <a:t>cname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from</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0070C0"/>
                </a:solidFill>
                <a:latin typeface="Times New Roman" panose="02020603050405020304" pitchFamily="18" charset="0"/>
                <a:cs typeface="Times New Roman" panose="02020603050405020304" pitchFamily="18" charset="0"/>
              </a:rPr>
              <a:t>select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o.</a:t>
            </a:r>
            <a:r>
              <a:rPr lang="en-US" sz="2000" dirty="0" err="1">
                <a:solidFill>
                  <a:srgbClr val="C00000"/>
                </a:solidFill>
                <a:latin typeface="Times New Roman" panose="02020603050405020304" pitchFamily="18" charset="0"/>
                <a:cs typeface="Times New Roman" panose="02020603050405020304" pitchFamily="18" charset="0"/>
              </a:rPr>
              <a:t>cid</a:t>
            </a:r>
            <a:r>
              <a:rPr lang="en-US" sz="2000" dirty="0">
                <a:solidFill>
                  <a:srgbClr val="002060"/>
                </a:solidFill>
                <a:latin typeface="Times New Roman" panose="02020603050405020304" pitchFamily="18" charset="0"/>
                <a:cs typeface="Times New Roman" panose="02020603050405020304" pitchFamily="18" charset="0"/>
              </a:rPr>
              <a:t> as </a:t>
            </a:r>
            <a:r>
              <a:rPr lang="en-US" sz="2000" dirty="0" err="1">
                <a:solidFill>
                  <a:srgbClr val="002060"/>
                </a:solidFill>
                <a:latin typeface="Times New Roman" panose="02020603050405020304" pitchFamily="18" charset="0"/>
                <a:cs typeface="Times New Roman" panose="02020603050405020304" pitchFamily="18" charset="0"/>
              </a:rPr>
              <a:t>spcid</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0070C0"/>
                </a:solidFill>
                <a:latin typeface="Times New Roman" panose="02020603050405020304" pitchFamily="18" charset="0"/>
                <a:cs typeface="Times New Roman" panose="02020603050405020304" pitchFamily="18" charset="0"/>
              </a:rPr>
              <a:t>from</a:t>
            </a:r>
            <a:r>
              <a:rPr lang="en-US" sz="2000" dirty="0">
                <a:solidFill>
                  <a:srgbClr val="002060"/>
                </a:solidFill>
                <a:latin typeface="Times New Roman" panose="02020603050405020304" pitchFamily="18" charset="0"/>
                <a:cs typeface="Times New Roman" panose="02020603050405020304" pitchFamily="18" charset="0"/>
              </a:rPr>
              <a:t> orders o, orders x</a:t>
            </a:r>
          </a:p>
          <a:p>
            <a:pPr lvl="2">
              <a:lnSpc>
                <a:spcPct val="150000"/>
              </a:lnSpc>
              <a:spcBef>
                <a:spcPts val="0"/>
              </a:spcBef>
            </a:pPr>
            <a:r>
              <a:rPr lang="en-US" sz="2000" dirty="0">
                <a:solidFill>
                  <a:srgbClr val="C00000"/>
                </a:solidFill>
                <a:latin typeface="Times New Roman" panose="02020603050405020304" pitchFamily="18" charset="0"/>
                <a:cs typeface="Times New Roman" panose="02020603050405020304" pitchFamily="18" charset="0"/>
              </a:rPr>
              <a:t>    </a:t>
            </a:r>
            <a:r>
              <a:rPr lang="en-US" sz="2000" dirty="0">
                <a:solidFill>
                  <a:srgbClr val="0070C0"/>
                </a:solidFill>
                <a:latin typeface="Times New Roman" panose="02020603050405020304" pitchFamily="18" charset="0"/>
                <a:cs typeface="Times New Roman" panose="02020603050405020304" pitchFamily="18" charset="0"/>
              </a:rPr>
              <a:t>where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o.</a:t>
            </a:r>
            <a:r>
              <a:rPr lang="en-US" sz="2000" dirty="0" err="1">
                <a:solidFill>
                  <a:srgbClr val="C00000"/>
                </a:solidFill>
                <a:latin typeface="Times New Roman" panose="02020603050405020304" pitchFamily="18" charset="0"/>
                <a:cs typeface="Times New Roman" panose="02020603050405020304" pitchFamily="18" charset="0"/>
              </a:rPr>
              <a:t>cid</a:t>
            </a:r>
            <a:r>
              <a:rPr lang="en-US" sz="2000" dirty="0">
                <a:solidFill>
                  <a:srgbClr val="002060"/>
                </a:solidFill>
                <a:latin typeface="Times New Roman" panose="02020603050405020304" pitchFamily="18" charset="0"/>
                <a:cs typeface="Times New Roman" panose="02020603050405020304" pitchFamily="18" charset="0"/>
              </a:rPr>
              <a:t>=</a:t>
            </a:r>
            <a:r>
              <a:rPr lang="en-US" sz="2000" dirty="0" err="1">
                <a:solidFill>
                  <a:srgbClr val="002060"/>
                </a:solidFill>
                <a:latin typeface="Times New Roman" panose="02020603050405020304" pitchFamily="18" charset="0"/>
                <a:cs typeface="Times New Roman" panose="02020603050405020304" pitchFamily="18" charset="0"/>
              </a:rPr>
              <a:t>x.</a:t>
            </a:r>
            <a:r>
              <a:rPr lang="en-US" sz="2000" dirty="0" err="1">
                <a:solidFill>
                  <a:srgbClr val="C00000"/>
                </a:solidFill>
                <a:latin typeface="Times New Roman" panose="02020603050405020304" pitchFamily="18" charset="0"/>
                <a:cs typeface="Times New Roman" panose="02020603050405020304" pitchFamily="18" charset="0"/>
              </a:rPr>
              <a:t>cid</a:t>
            </a:r>
            <a:r>
              <a:rPr lang="en-US" sz="2000" dirty="0">
                <a:solidFill>
                  <a:srgbClr val="002060"/>
                </a:solidFill>
                <a:latin typeface="Times New Roman" panose="02020603050405020304" pitchFamily="18" charset="0"/>
                <a:cs typeface="Times New Roman" panose="02020603050405020304" pitchFamily="18" charset="0"/>
              </a:rPr>
              <a:t> and </a:t>
            </a:r>
            <a:r>
              <a:rPr lang="en-US" sz="2000" dirty="0" err="1">
                <a:solidFill>
                  <a:srgbClr val="002060"/>
                </a:solidFill>
                <a:latin typeface="Times New Roman" panose="02020603050405020304" pitchFamily="18" charset="0"/>
                <a:cs typeface="Times New Roman" panose="02020603050405020304" pitchFamily="18" charset="0"/>
              </a:rPr>
              <a:t>o.pid</a:t>
            </a:r>
            <a:r>
              <a:rPr lang="en-US" sz="2000" dirty="0">
                <a:solidFill>
                  <a:srgbClr val="002060"/>
                </a:solidFill>
                <a:latin typeface="Times New Roman" panose="02020603050405020304" pitchFamily="18" charset="0"/>
                <a:cs typeface="Times New Roman" panose="02020603050405020304" pitchFamily="18" charset="0"/>
              </a:rPr>
              <a:t>=</a:t>
            </a:r>
            <a:r>
              <a:rPr lang="en-US" sz="2000" dirty="0" err="1">
                <a:solidFill>
                  <a:srgbClr val="002060"/>
                </a:solidFill>
                <a:latin typeface="Times New Roman" panose="02020603050405020304" pitchFamily="18" charset="0"/>
                <a:cs typeface="Times New Roman" panose="02020603050405020304" pitchFamily="18" charset="0"/>
              </a:rPr>
              <a:t>x.pid</a:t>
            </a:r>
            <a:r>
              <a:rPr lang="en-US" sz="2000" dirty="0">
                <a:solidFill>
                  <a:srgbClr val="002060"/>
                </a:solidFill>
                <a:latin typeface="Times New Roman" panose="02020603050405020304" pitchFamily="18" charset="0"/>
                <a:cs typeface="Times New Roman" panose="02020603050405020304" pitchFamily="18" charset="0"/>
              </a:rPr>
              <a:t> and </a:t>
            </a:r>
            <a:r>
              <a:rPr lang="en-US" sz="2000" dirty="0" err="1">
                <a:solidFill>
                  <a:srgbClr val="002060"/>
                </a:solidFill>
                <a:latin typeface="Times New Roman" panose="02020603050405020304" pitchFamily="18" charset="0"/>
                <a:cs typeface="Times New Roman" panose="02020603050405020304" pitchFamily="18" charset="0"/>
              </a:rPr>
              <a:t>o.ordno</a:t>
            </a:r>
            <a:r>
              <a:rPr lang="en-US" sz="2000" dirty="0">
                <a:solidFill>
                  <a:srgbClr val="002060"/>
                </a:solidFill>
                <a:latin typeface="Times New Roman" panose="02020603050405020304" pitchFamily="18" charset="0"/>
                <a:cs typeface="Times New Roman" panose="02020603050405020304" pitchFamily="18" charset="0"/>
              </a:rPr>
              <a:t>&lt;&gt;</a:t>
            </a:r>
            <a:r>
              <a:rPr lang="en-US" sz="2000" dirty="0" err="1">
                <a:solidFill>
                  <a:srgbClr val="002060"/>
                </a:solidFill>
                <a:latin typeface="Times New Roman" panose="02020603050405020304" pitchFamily="18" charset="0"/>
                <a:cs typeface="Times New Roman" panose="02020603050405020304" pitchFamily="18" charset="0"/>
              </a:rPr>
              <a:t>x.ordno</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highlight>
                  <a:srgbClr val="00FF00"/>
                </a:highlight>
                <a:latin typeface="Times New Roman" panose="02020603050405020304" pitchFamily="18" charset="0"/>
                <a:cs typeface="Times New Roman" panose="02020603050405020304" pitchFamily="18" charset="0"/>
              </a:rPr>
              <a:t>as</a:t>
            </a:r>
            <a:r>
              <a:rPr lang="en-US" sz="2000" dirty="0">
                <a:solidFill>
                  <a:srgbClr val="002060"/>
                </a:solidFill>
                <a:highlight>
                  <a:srgbClr val="00FF00"/>
                </a:highlight>
                <a:latin typeface="Times New Roman" panose="02020603050405020304" pitchFamily="18" charset="0"/>
                <a:cs typeface="Times New Roman" panose="02020603050405020304" pitchFamily="18" charset="0"/>
              </a:rPr>
              <a:t> y</a:t>
            </a:r>
            <a:r>
              <a:rPr lang="en-US" sz="2000" dirty="0">
                <a:solidFill>
                  <a:srgbClr val="002060"/>
                </a:solidFill>
                <a:latin typeface="Times New Roman" panose="02020603050405020304" pitchFamily="18" charset="0"/>
                <a:cs typeface="Times New Roman" panose="02020603050405020304" pitchFamily="18" charset="0"/>
              </a:rPr>
              <a:t>,</a:t>
            </a: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002060"/>
                </a:solidFill>
                <a:highlight>
                  <a:srgbClr val="00FF00"/>
                </a:highlight>
                <a:latin typeface="Times New Roman" panose="02020603050405020304" pitchFamily="18" charset="0"/>
                <a:cs typeface="Times New Roman" panose="02020603050405020304" pitchFamily="18" charset="0"/>
              </a:rPr>
              <a:t>customers c</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where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highlight>
                  <a:srgbClr val="FFFF00"/>
                </a:highlight>
                <a:latin typeface="Times New Roman" panose="02020603050405020304" pitchFamily="18" charset="0"/>
                <a:cs typeface="Times New Roman" panose="02020603050405020304" pitchFamily="18" charset="0"/>
              </a:rPr>
              <a:t>y.spcid</a:t>
            </a:r>
            <a:r>
              <a:rPr lang="en-US" sz="2000" dirty="0">
                <a:solidFill>
                  <a:srgbClr val="002060"/>
                </a:solidFill>
                <a:highlight>
                  <a:srgbClr val="FFFF00"/>
                </a:highlight>
                <a:latin typeface="Times New Roman" panose="02020603050405020304" pitchFamily="18" charset="0"/>
                <a:cs typeface="Times New Roman" panose="02020603050405020304" pitchFamily="18" charset="0"/>
              </a:rPr>
              <a:t> = </a:t>
            </a:r>
            <a:r>
              <a:rPr lang="en-US" sz="2000" dirty="0" err="1">
                <a:solidFill>
                  <a:srgbClr val="002060"/>
                </a:solidFill>
                <a:highlight>
                  <a:srgbClr val="FFFF00"/>
                </a:highlight>
                <a:latin typeface="Times New Roman" panose="02020603050405020304" pitchFamily="18" charset="0"/>
                <a:cs typeface="Times New Roman" panose="02020603050405020304" pitchFamily="18" charset="0"/>
              </a:rPr>
              <a:t>c.cid</a:t>
            </a:r>
            <a:r>
              <a:rPr lang="en-US" sz="2000" dirty="0">
                <a:solidFill>
                  <a:srgbClr val="002060"/>
                </a:solidFill>
                <a:latin typeface="Times New Roman" panose="02020603050405020304" pitchFamily="18" charset="0"/>
                <a:cs typeface="Times New Roman" panose="02020603050405020304" pitchFamily="18" charset="0"/>
              </a:rPr>
              <a:t>;</a:t>
            </a: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1800" dirty="0">
                <a:solidFill>
                  <a:srgbClr val="002060"/>
                </a:solidFill>
                <a:latin typeface="Times New Roman" panose="02020603050405020304" pitchFamily="18" charset="0"/>
                <a:cs typeface="Times New Roman" panose="02020603050405020304" pitchFamily="18" charset="0"/>
              </a:rPr>
              <a:t>from</a:t>
            </a:r>
            <a:r>
              <a:rPr lang="ja-JP" altLang="en-US" sz="1800" dirty="0">
                <a:solidFill>
                  <a:srgbClr val="002060"/>
                </a:solidFill>
                <a:latin typeface="Times New Roman" panose="02020603050405020304" pitchFamily="18" charset="0"/>
                <a:cs typeface="Times New Roman" panose="02020603050405020304" pitchFamily="18" charset="0"/>
              </a:rPr>
              <a:t>子句中出现</a:t>
            </a:r>
            <a:r>
              <a:rPr lang="en-US" sz="1800" dirty="0" err="1">
                <a:solidFill>
                  <a:srgbClr val="002060"/>
                </a:solidFill>
                <a:latin typeface="Times New Roman" panose="02020603050405020304" pitchFamily="18" charset="0"/>
                <a:cs typeface="Times New Roman" panose="02020603050405020304" pitchFamily="18" charset="0"/>
              </a:rPr>
              <a:t>Subquery</a:t>
            </a:r>
            <a:r>
              <a:rPr lang="en-US" sz="1800" dirty="0">
                <a:solidFill>
                  <a:srgbClr val="002060"/>
                </a:solidFill>
                <a:latin typeface="Times New Roman" panose="02020603050405020304" pitchFamily="18" charset="0"/>
                <a:cs typeface="Times New Roman" panose="02020603050405020304" pitchFamily="18" charset="0"/>
              </a:rPr>
              <a:t> : </a:t>
            </a:r>
            <a:r>
              <a:rPr lang="ja-JP" altLang="en-US" sz="1800" dirty="0">
                <a:solidFill>
                  <a:srgbClr val="002060"/>
                </a:solidFill>
                <a:latin typeface="Times New Roman" panose="02020603050405020304" pitchFamily="18" charset="0"/>
                <a:cs typeface="Times New Roman" panose="02020603050405020304" pitchFamily="18" charset="0"/>
              </a:rPr>
              <a:t>先求</a:t>
            </a:r>
            <a:r>
              <a:rPr lang="en-US" sz="1800" dirty="0">
                <a:solidFill>
                  <a:srgbClr val="002060"/>
                </a:solidFill>
                <a:latin typeface="Times New Roman" panose="02020603050405020304" pitchFamily="18" charset="0"/>
                <a:cs typeface="Times New Roman" panose="02020603050405020304" pitchFamily="18" charset="0"/>
              </a:rPr>
              <a:t>View  y，</a:t>
            </a:r>
            <a:r>
              <a:rPr lang="ja-JP" altLang="en-US" sz="1800" dirty="0">
                <a:solidFill>
                  <a:srgbClr val="002060"/>
                </a:solidFill>
                <a:latin typeface="Times New Roman" panose="02020603050405020304" pitchFamily="18" charset="0"/>
                <a:cs typeface="Times New Roman" panose="02020603050405020304" pitchFamily="18" charset="0"/>
              </a:rPr>
              <a:t>再作其它处理</a:t>
            </a:r>
            <a:r>
              <a:rPr lang="ja-JP" altLang="en-US" sz="2000" dirty="0">
                <a:solidFill>
                  <a:srgbClr val="002060"/>
                </a:solidFill>
                <a:latin typeface="Times New Roman" panose="02020603050405020304" pitchFamily="18" charset="0"/>
                <a:cs typeface="Times New Roman" panose="02020603050405020304" pitchFamily="18" charset="0"/>
              </a:rPr>
              <a:t>）</a:t>
            </a:r>
          </a:p>
          <a:p>
            <a:pPr>
              <a:spcBef>
                <a:spcPts val="12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1600" dirty="0">
                <a:solidFill>
                  <a:srgbClr val="C00000"/>
                </a:solidFill>
                <a:latin typeface="Times New Roman" panose="02020603050405020304" pitchFamily="18" charset="0"/>
                <a:cs typeface="Times New Roman" panose="02020603050405020304" pitchFamily="18" charset="0"/>
              </a:rPr>
              <a:t>S2</a:t>
            </a:r>
            <a:r>
              <a:rPr lang="en-US" sz="1600" dirty="0">
                <a:solidFill>
                  <a:srgbClr val="002060"/>
                </a:solidFill>
                <a:latin typeface="Times New Roman" panose="02020603050405020304" pitchFamily="18" charset="0"/>
                <a:cs typeface="Times New Roman" panose="02020603050405020304" pitchFamily="18" charset="0"/>
              </a:rPr>
              <a:t>)   </a:t>
            </a:r>
            <a:r>
              <a:rPr lang="en-US" sz="1600" dirty="0">
                <a:solidFill>
                  <a:srgbClr val="7030A0"/>
                </a:solidFill>
                <a:latin typeface="Times New Roman" panose="02020603050405020304" pitchFamily="18" charset="0"/>
                <a:cs typeface="Times New Roman" panose="02020603050405020304" pitchFamily="18" charset="0"/>
              </a:rPr>
              <a:t>select</a:t>
            </a:r>
            <a:r>
              <a:rPr lang="en-US" sz="1600" dirty="0">
                <a:solidFill>
                  <a:srgbClr val="002060"/>
                </a:solidFill>
                <a:latin typeface="Times New Roman" panose="02020603050405020304" pitchFamily="18" charset="0"/>
                <a:cs typeface="Times New Roman" panose="02020603050405020304" pitchFamily="18" charset="0"/>
              </a:rPr>
              <a:t> </a:t>
            </a:r>
            <a:r>
              <a:rPr lang="en-US" sz="1600" dirty="0" err="1">
                <a:solidFill>
                  <a:srgbClr val="C00000"/>
                </a:solidFill>
                <a:latin typeface="Times New Roman" panose="02020603050405020304" pitchFamily="18" charset="0"/>
                <a:cs typeface="Times New Roman" panose="02020603050405020304" pitchFamily="18" charset="0"/>
              </a:rPr>
              <a:t>cname</a:t>
            </a:r>
            <a:r>
              <a:rPr lang="en-US" sz="1600" dirty="0">
                <a:solidFill>
                  <a:srgbClr val="002060"/>
                </a:solidFill>
                <a:latin typeface="Times New Roman" panose="02020603050405020304" pitchFamily="18" charset="0"/>
                <a:cs typeface="Times New Roman" panose="02020603050405020304" pitchFamily="18" charset="0"/>
              </a:rPr>
              <a:t> </a:t>
            </a:r>
            <a:r>
              <a:rPr lang="en-US" sz="1600" dirty="0">
                <a:solidFill>
                  <a:srgbClr val="7030A0"/>
                </a:solidFill>
                <a:latin typeface="Times New Roman" panose="02020603050405020304" pitchFamily="18" charset="0"/>
                <a:cs typeface="Times New Roman" panose="02020603050405020304" pitchFamily="18" charset="0"/>
              </a:rPr>
              <a:t>from</a:t>
            </a:r>
            <a:r>
              <a:rPr lang="en-US" sz="1600" dirty="0">
                <a:solidFill>
                  <a:srgbClr val="002060"/>
                </a:solidFill>
                <a:latin typeface="Times New Roman" panose="02020603050405020304" pitchFamily="18" charset="0"/>
                <a:cs typeface="Times New Roman" panose="02020603050405020304" pitchFamily="18" charset="0"/>
              </a:rPr>
              <a:t> customers c, orders o,  orders x</a:t>
            </a:r>
          </a:p>
          <a:p>
            <a:pPr lvl="2">
              <a:lnSpc>
                <a:spcPct val="150000"/>
              </a:lnSpc>
              <a:spcBef>
                <a:spcPts val="0"/>
              </a:spcBef>
            </a:pPr>
            <a:r>
              <a:rPr lang="en-US" sz="1600" dirty="0">
                <a:solidFill>
                  <a:srgbClr val="7030A0"/>
                </a:solidFill>
                <a:latin typeface="Times New Roman" panose="02020603050405020304" pitchFamily="18" charset="0"/>
                <a:cs typeface="Times New Roman" panose="02020603050405020304" pitchFamily="18" charset="0"/>
              </a:rPr>
              <a:t>	where</a:t>
            </a:r>
            <a:r>
              <a:rPr lang="en-US" sz="1600" dirty="0">
                <a:solidFill>
                  <a:srgbClr val="002060"/>
                </a:solidFill>
                <a:latin typeface="Times New Roman" panose="02020603050405020304" pitchFamily="18" charset="0"/>
                <a:cs typeface="Times New Roman" panose="02020603050405020304" pitchFamily="18" charset="0"/>
              </a:rPr>
              <a:t> </a:t>
            </a:r>
            <a:r>
              <a:rPr lang="en-US" sz="1600" dirty="0" err="1">
                <a:solidFill>
                  <a:srgbClr val="002060"/>
                </a:solidFill>
                <a:highlight>
                  <a:srgbClr val="FFFF00"/>
                </a:highlight>
                <a:latin typeface="Times New Roman" panose="02020603050405020304" pitchFamily="18" charset="0"/>
                <a:cs typeface="Times New Roman" panose="02020603050405020304" pitchFamily="18" charset="0"/>
              </a:rPr>
              <a:t>c.cid</a:t>
            </a:r>
            <a:r>
              <a:rPr lang="en-US" sz="1600" dirty="0">
                <a:solidFill>
                  <a:srgbClr val="002060"/>
                </a:solidFill>
                <a:highlight>
                  <a:srgbClr val="FFFF00"/>
                </a:highlight>
                <a:latin typeface="Times New Roman" panose="02020603050405020304" pitchFamily="18" charset="0"/>
                <a:cs typeface="Times New Roman" panose="02020603050405020304" pitchFamily="18" charset="0"/>
              </a:rPr>
              <a:t>=</a:t>
            </a:r>
            <a:r>
              <a:rPr lang="en-US" sz="1600" dirty="0" err="1">
                <a:solidFill>
                  <a:srgbClr val="002060"/>
                </a:solidFill>
                <a:highlight>
                  <a:srgbClr val="FFFF00"/>
                </a:highlight>
                <a:latin typeface="Times New Roman" panose="02020603050405020304" pitchFamily="18" charset="0"/>
                <a:cs typeface="Times New Roman" panose="02020603050405020304" pitchFamily="18" charset="0"/>
              </a:rPr>
              <a:t>o.cid</a:t>
            </a:r>
            <a:r>
              <a:rPr lang="en-US" sz="1600" dirty="0">
                <a:solidFill>
                  <a:srgbClr val="002060"/>
                </a:solidFill>
                <a:latin typeface="Times New Roman" panose="02020603050405020304" pitchFamily="18" charset="0"/>
                <a:cs typeface="Times New Roman" panose="02020603050405020304" pitchFamily="18" charset="0"/>
              </a:rPr>
              <a:t> and </a:t>
            </a:r>
            <a:r>
              <a:rPr lang="en-US" sz="1600" dirty="0" err="1">
                <a:solidFill>
                  <a:srgbClr val="002060"/>
                </a:solidFill>
                <a:highlight>
                  <a:srgbClr val="FFFF00"/>
                </a:highlight>
                <a:latin typeface="Times New Roman" panose="02020603050405020304" pitchFamily="18" charset="0"/>
                <a:cs typeface="Times New Roman" panose="02020603050405020304" pitchFamily="18" charset="0"/>
              </a:rPr>
              <a:t>o.pid</a:t>
            </a:r>
            <a:r>
              <a:rPr lang="en-US" sz="1600" dirty="0">
                <a:solidFill>
                  <a:srgbClr val="002060"/>
                </a:solidFill>
                <a:highlight>
                  <a:srgbClr val="FFFF00"/>
                </a:highlight>
                <a:latin typeface="Times New Roman" panose="02020603050405020304" pitchFamily="18" charset="0"/>
                <a:cs typeface="Times New Roman" panose="02020603050405020304" pitchFamily="18" charset="0"/>
              </a:rPr>
              <a:t>=</a:t>
            </a:r>
            <a:r>
              <a:rPr lang="en-US" sz="1600" dirty="0" err="1">
                <a:solidFill>
                  <a:srgbClr val="002060"/>
                </a:solidFill>
                <a:highlight>
                  <a:srgbClr val="FFFF00"/>
                </a:highlight>
                <a:latin typeface="Times New Roman" panose="02020603050405020304" pitchFamily="18" charset="0"/>
                <a:cs typeface="Times New Roman" panose="02020603050405020304" pitchFamily="18" charset="0"/>
              </a:rPr>
              <a:t>x.pid</a:t>
            </a:r>
            <a:r>
              <a:rPr lang="en-US" sz="1600" dirty="0">
                <a:solidFill>
                  <a:srgbClr val="002060"/>
                </a:solidFill>
                <a:latin typeface="Times New Roman" panose="02020603050405020304" pitchFamily="18" charset="0"/>
                <a:cs typeface="Times New Roman" panose="02020603050405020304" pitchFamily="18" charset="0"/>
              </a:rPr>
              <a:t> and </a:t>
            </a:r>
            <a:r>
              <a:rPr lang="en-US" sz="1600" dirty="0" err="1">
                <a:solidFill>
                  <a:srgbClr val="002060"/>
                </a:solidFill>
                <a:highlight>
                  <a:srgbClr val="FFFF00"/>
                </a:highlight>
                <a:latin typeface="Times New Roman" panose="02020603050405020304" pitchFamily="18" charset="0"/>
                <a:cs typeface="Times New Roman" panose="02020603050405020304" pitchFamily="18" charset="0"/>
              </a:rPr>
              <a:t>o.ordno</a:t>
            </a:r>
            <a:r>
              <a:rPr lang="en-US" sz="1600" dirty="0">
                <a:solidFill>
                  <a:srgbClr val="002060"/>
                </a:solidFill>
                <a:highlight>
                  <a:srgbClr val="FFFF00"/>
                </a:highlight>
                <a:latin typeface="Times New Roman" panose="02020603050405020304" pitchFamily="18" charset="0"/>
                <a:cs typeface="Times New Roman" panose="02020603050405020304" pitchFamily="18" charset="0"/>
              </a:rPr>
              <a:t>&lt;&gt;</a:t>
            </a:r>
            <a:r>
              <a:rPr lang="en-US" sz="1600" dirty="0" err="1">
                <a:solidFill>
                  <a:srgbClr val="002060"/>
                </a:solidFill>
                <a:highlight>
                  <a:srgbClr val="FFFF00"/>
                </a:highlight>
                <a:latin typeface="Times New Roman" panose="02020603050405020304" pitchFamily="18" charset="0"/>
                <a:cs typeface="Times New Roman" panose="02020603050405020304" pitchFamily="18" charset="0"/>
              </a:rPr>
              <a:t>x.ordno</a:t>
            </a:r>
            <a:r>
              <a:rPr lang="en-US" sz="1600" dirty="0">
                <a:solidFill>
                  <a:srgbClr val="002060"/>
                </a:solidFill>
                <a:latin typeface="Times New Roman" panose="02020603050405020304" pitchFamily="18" charset="0"/>
                <a:cs typeface="Times New Roman" panose="02020603050405020304" pitchFamily="18" charset="0"/>
              </a:rPr>
              <a:t>;</a:t>
            </a:r>
          </a:p>
        </p:txBody>
      </p:sp>
      <p:sp>
        <p:nvSpPr>
          <p:cNvPr id="14" name="箭头: 左弧形 13"/>
          <p:cNvSpPr/>
          <p:nvPr/>
        </p:nvSpPr>
        <p:spPr bwMode="auto">
          <a:xfrm rot="16200000">
            <a:off x="5836661" y="1552395"/>
            <a:ext cx="350999" cy="2448274"/>
          </a:xfrm>
          <a:prstGeom prst="curvedRightArrow">
            <a:avLst/>
          </a:prstGeom>
          <a:solidFill>
            <a:srgbClr val="FFC000"/>
          </a:solidFill>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sp>
        <p:nvSpPr>
          <p:cNvPr id="15" name="Rectangle 2"/>
          <p:cNvSpPr/>
          <p:nvPr/>
        </p:nvSpPr>
        <p:spPr>
          <a:xfrm>
            <a:off x="5508105" y="2700315"/>
            <a:ext cx="793000" cy="523220"/>
          </a:xfrm>
          <a:prstGeom prst="rect">
            <a:avLst/>
          </a:prstGeom>
        </p:spPr>
        <p:txBody>
          <a:bodyPr wrap="square">
            <a:spAutoFit/>
          </a:bodyPr>
          <a:lstStyle/>
          <a:p>
            <a:pPr algn="ctr">
              <a:spcAft>
                <a:spcPts val="0"/>
              </a:spcAft>
            </a:pPr>
            <a:r>
              <a:rPr lang="en-US" sz="1400" dirty="0">
                <a:solidFill>
                  <a:srgbClr val="002060"/>
                </a:solidFill>
                <a:latin typeface="Times New Roman" panose="02020603050405020304" pitchFamily="18" charset="0"/>
                <a:cs typeface="Times New Roman" panose="02020603050405020304" pitchFamily="18" charset="0"/>
              </a:rPr>
              <a:t>Not same</a:t>
            </a:r>
          </a:p>
        </p:txBody>
      </p:sp>
      <p:sp>
        <p:nvSpPr>
          <p:cNvPr id="16" name="箭头: 左弧形 15"/>
          <p:cNvSpPr/>
          <p:nvPr/>
        </p:nvSpPr>
        <p:spPr bwMode="auto">
          <a:xfrm rot="16200000">
            <a:off x="5224289" y="53545"/>
            <a:ext cx="350999" cy="5545224"/>
          </a:xfrm>
          <a:prstGeom prst="curvedRightArrow">
            <a:avLst/>
          </a:prstGeom>
          <a:solidFill>
            <a:srgbClr val="FFFF00"/>
          </a:solidFill>
          <a:ln>
            <a:solidFill>
              <a:srgbClr val="FFFF00"/>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18" name="矩形: 圆角 17"/>
          <p:cNvSpPr/>
          <p:nvPr/>
        </p:nvSpPr>
        <p:spPr>
          <a:xfrm>
            <a:off x="111656" y="1425882"/>
            <a:ext cx="1940064"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9" name="矩形: 圆角 18"/>
          <p:cNvSpPr/>
          <p:nvPr/>
        </p:nvSpPr>
        <p:spPr>
          <a:xfrm>
            <a:off x="2991804" y="1425882"/>
            <a:ext cx="1580195"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0" name="矩形: 圆角 19"/>
          <p:cNvSpPr/>
          <p:nvPr/>
        </p:nvSpPr>
        <p:spPr>
          <a:xfrm>
            <a:off x="4211960" y="995349"/>
            <a:ext cx="936104"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cxnSp>
        <p:nvCxnSpPr>
          <p:cNvPr id="21" name="直接箭头连接符 20">
            <a:extLst>
              <a:ext uri="{FF2B5EF4-FFF2-40B4-BE49-F238E27FC236}">
                <a16:creationId xmlns="" xmlns:a16="http://schemas.microsoft.com/office/drawing/2014/main" id="{F40FAAA7-9523-4AC3-9563-68A1AEFDD4A5}"/>
              </a:ext>
            </a:extLst>
          </p:cNvPr>
          <p:cNvCxnSpPr>
            <a:cxnSpLocks/>
          </p:cNvCxnSpPr>
          <p:nvPr/>
        </p:nvCxnSpPr>
        <p:spPr bwMode="auto">
          <a:xfrm>
            <a:off x="2991804" y="1859536"/>
            <a:ext cx="0" cy="489344"/>
          </a:xfrm>
          <a:prstGeom prst="straightConnector1">
            <a:avLst/>
          </a:prstGeom>
          <a:ln w="57150">
            <a:solidFill>
              <a:srgbClr val="C00000"/>
            </a:solidFill>
            <a:headEnd type="none" w="med" len="med"/>
            <a:tailEnd type="triangle"/>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left)">
                                      <p:cBhvr>
                                        <p:cTn id="7" dur="500"/>
                                        <p:tgtEl>
                                          <p:spTgt spid="7"/>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wipe(up)">
                                      <p:cBhvr>
                                        <p:cTn id="11" dur="500"/>
                                        <p:tgtEl>
                                          <p:spTgt spid="21"/>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5"/>
                                        </p:tgtEl>
                                        <p:attrNameLst>
                                          <p:attrName>style.visibility</p:attrName>
                                        </p:attrNameLst>
                                      </p:cBhvr>
                                      <p:to>
                                        <p:strVal val="visible"/>
                                      </p:to>
                                    </p:set>
                                    <p:animEffect transition="in" filter="wipe(left)">
                                      <p:cBhvr>
                                        <p:cTn id="20" dur="500"/>
                                        <p:tgtEl>
                                          <p:spTgt spid="5"/>
                                        </p:tgtEl>
                                      </p:cBhvr>
                                    </p:animEffect>
                                  </p:childTnLst>
                                </p:cTn>
                              </p:par>
                            </p:childTnLst>
                          </p:cTn>
                        </p:par>
                        <p:par>
                          <p:cTn id="21" fill="hold">
                            <p:stCondLst>
                              <p:cond delay="1000"/>
                            </p:stCondLst>
                            <p:childTnLst>
                              <p:par>
                                <p:cTn id="22" presetID="22" presetClass="entr" presetSubtype="1" fill="hold"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up)">
                                      <p:cBhvr>
                                        <p:cTn id="24" dur="500"/>
                                        <p:tgtEl>
                                          <p:spTgt spid="10"/>
                                        </p:tgtEl>
                                      </p:cBhvr>
                                    </p:animEffect>
                                  </p:childTnLst>
                                </p:cTn>
                              </p:par>
                            </p:childTnLst>
                          </p:cTn>
                        </p:par>
                        <p:par>
                          <p:cTn id="25" fill="hold">
                            <p:stCondLst>
                              <p:cond delay="1500"/>
                            </p:stCondLst>
                            <p:childTnLst>
                              <p:par>
                                <p:cTn id="26" presetID="22" presetClass="entr" presetSubtype="1" fill="hold"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wipe(up)">
                                      <p:cBhvr>
                                        <p:cTn id="28" dur="500"/>
                                        <p:tgtEl>
                                          <p:spTgt spid="11"/>
                                        </p:tgtEl>
                                      </p:cBhvr>
                                    </p:animEffect>
                                  </p:childTnLst>
                                </p:cTn>
                              </p:par>
                            </p:childTnLst>
                          </p:cTn>
                        </p:par>
                        <p:par>
                          <p:cTn id="29" fill="hold">
                            <p:stCondLst>
                              <p:cond delay="2000"/>
                            </p:stCondLst>
                            <p:childTnLst>
                              <p:par>
                                <p:cTn id="30" presetID="22" presetClass="entr" presetSubtype="8" fill="hold" grpId="0" nodeType="after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left)">
                                      <p:cBhvr>
                                        <p:cTn id="32" dur="500"/>
                                        <p:tgtEl>
                                          <p:spTgt spid="9"/>
                                        </p:tgtEl>
                                      </p:cBhvr>
                                    </p:animEffect>
                                  </p:childTnLst>
                                </p:cTn>
                              </p:par>
                            </p:childTnLst>
                          </p:cTn>
                        </p:par>
                        <p:par>
                          <p:cTn id="33" fill="hold">
                            <p:stCondLst>
                              <p:cond delay="2500"/>
                            </p:stCondLst>
                            <p:childTnLst>
                              <p:par>
                                <p:cTn id="34" presetID="22" presetClass="entr" presetSubtype="8"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wipe(left)">
                                      <p:cBhvr>
                                        <p:cTn id="36" dur="500"/>
                                        <p:tgtEl>
                                          <p:spTgt spid="12"/>
                                        </p:tgtEl>
                                      </p:cBhvr>
                                    </p:animEffect>
                                  </p:childTnLst>
                                </p:cTn>
                              </p:par>
                            </p:childTnLst>
                          </p:cTn>
                        </p:par>
                        <p:par>
                          <p:cTn id="37" fill="hold">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wipe(left)">
                                      <p:cBhvr>
                                        <p:cTn id="40" dur="500"/>
                                        <p:tgtEl>
                                          <p:spTgt spid="14"/>
                                        </p:tgtEl>
                                      </p:cBhvr>
                                    </p:animEffect>
                                  </p:childTnLst>
                                </p:cTn>
                              </p:par>
                            </p:childTnLst>
                          </p:cTn>
                        </p:par>
                        <p:par>
                          <p:cTn id="41" fill="hold">
                            <p:stCondLst>
                              <p:cond delay="3500"/>
                            </p:stCondLst>
                            <p:childTnLst>
                              <p:par>
                                <p:cTn id="42" presetID="22" presetClass="entr" presetSubtype="8" fill="hold" grpId="0" nodeType="after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wipe(left)">
                                      <p:cBhvr>
                                        <p:cTn id="44" dur="500"/>
                                        <p:tgtEl>
                                          <p:spTgt spid="15"/>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left)">
                                      <p:cBhvr>
                                        <p:cTn id="49" dur="500"/>
                                        <p:tgtEl>
                                          <p:spTgt spid="8"/>
                                        </p:tgtEl>
                                      </p:cBhvr>
                                    </p:animEffect>
                                  </p:childTnLst>
                                </p:cTn>
                              </p:par>
                            </p:childTnLst>
                          </p:cTn>
                        </p:par>
                        <p:par>
                          <p:cTn id="50" fill="hold">
                            <p:stCondLst>
                              <p:cond delay="500"/>
                            </p:stCondLst>
                            <p:childTnLst>
                              <p:par>
                                <p:cTn id="51" presetID="22" presetClass="entr" presetSubtype="8" fill="hold" grpId="0" nodeType="afterEffect">
                                  <p:stCondLst>
                                    <p:cond delay="0"/>
                                  </p:stCondLst>
                                  <p:childTnLst>
                                    <p:set>
                                      <p:cBhvr>
                                        <p:cTn id="52" dur="1" fill="hold">
                                          <p:stCondLst>
                                            <p:cond delay="0"/>
                                          </p:stCondLst>
                                        </p:cTn>
                                        <p:tgtEl>
                                          <p:spTgt spid="16"/>
                                        </p:tgtEl>
                                        <p:attrNameLst>
                                          <p:attrName>style.visibility</p:attrName>
                                        </p:attrNameLst>
                                      </p:cBhvr>
                                      <p:to>
                                        <p:strVal val="visible"/>
                                      </p:to>
                                    </p:set>
                                    <p:animEffect transition="in" filter="wipe(left)">
                                      <p:cBhvr>
                                        <p:cTn id="53" dur="500"/>
                                        <p:tgtEl>
                                          <p:spTgt spid="16"/>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8" fill="hold" nodeType="clickEffect">
                                  <p:stCondLst>
                                    <p:cond delay="0"/>
                                  </p:stCondLst>
                                  <p:childTnLst>
                                    <p:set>
                                      <p:cBhvr>
                                        <p:cTn id="57" dur="1" fill="hold">
                                          <p:stCondLst>
                                            <p:cond delay="0"/>
                                          </p:stCondLst>
                                        </p:cTn>
                                        <p:tgtEl>
                                          <p:spTgt spid="13">
                                            <p:txEl>
                                              <p:pRg st="0" end="0"/>
                                            </p:txEl>
                                          </p:spTgt>
                                        </p:tgtEl>
                                        <p:attrNameLst>
                                          <p:attrName>style.visibility</p:attrName>
                                        </p:attrNameLst>
                                      </p:cBhvr>
                                      <p:to>
                                        <p:strVal val="visible"/>
                                      </p:to>
                                    </p:set>
                                    <p:animEffect transition="in" filter="wipe(left)">
                                      <p:cBhvr>
                                        <p:cTn id="58" dur="500"/>
                                        <p:tgtEl>
                                          <p:spTgt spid="13">
                                            <p:txEl>
                                              <p:pRg st="0" end="0"/>
                                            </p:txEl>
                                          </p:spTgt>
                                        </p:tgtEl>
                                      </p:cBhvr>
                                    </p:animEffect>
                                  </p:childTnLst>
                                </p:cTn>
                              </p:par>
                              <p:par>
                                <p:cTn id="59" presetID="22" presetClass="entr" presetSubtype="8" fill="hold" nodeType="withEffect">
                                  <p:stCondLst>
                                    <p:cond delay="0"/>
                                  </p:stCondLst>
                                  <p:childTnLst>
                                    <p:set>
                                      <p:cBhvr>
                                        <p:cTn id="60" dur="1" fill="hold">
                                          <p:stCondLst>
                                            <p:cond delay="0"/>
                                          </p:stCondLst>
                                        </p:cTn>
                                        <p:tgtEl>
                                          <p:spTgt spid="13">
                                            <p:txEl>
                                              <p:pRg st="1" end="1"/>
                                            </p:txEl>
                                          </p:spTgt>
                                        </p:tgtEl>
                                        <p:attrNameLst>
                                          <p:attrName>style.visibility</p:attrName>
                                        </p:attrNameLst>
                                      </p:cBhvr>
                                      <p:to>
                                        <p:strVal val="visible"/>
                                      </p:to>
                                    </p:set>
                                    <p:animEffect transition="in" filter="wipe(left)">
                                      <p:cBhvr>
                                        <p:cTn id="61" dur="500"/>
                                        <p:tgtEl>
                                          <p:spTgt spid="13">
                                            <p:txEl>
                                              <p:pRg st="1" end="1"/>
                                            </p:txEl>
                                          </p:spTgt>
                                        </p:tgtEl>
                                      </p:cBhvr>
                                    </p:animEffect>
                                  </p:childTnLst>
                                </p:cTn>
                              </p:par>
                              <p:par>
                                <p:cTn id="62" presetID="22" presetClass="entr" presetSubtype="8" fill="hold" nodeType="withEffect">
                                  <p:stCondLst>
                                    <p:cond delay="0"/>
                                  </p:stCondLst>
                                  <p:childTnLst>
                                    <p:set>
                                      <p:cBhvr>
                                        <p:cTn id="63" dur="1" fill="hold">
                                          <p:stCondLst>
                                            <p:cond delay="0"/>
                                          </p:stCondLst>
                                        </p:cTn>
                                        <p:tgtEl>
                                          <p:spTgt spid="13">
                                            <p:txEl>
                                              <p:pRg st="2" end="2"/>
                                            </p:txEl>
                                          </p:spTgt>
                                        </p:tgtEl>
                                        <p:attrNameLst>
                                          <p:attrName>style.visibility</p:attrName>
                                        </p:attrNameLst>
                                      </p:cBhvr>
                                      <p:to>
                                        <p:strVal val="visible"/>
                                      </p:to>
                                    </p:set>
                                    <p:animEffect transition="in" filter="wipe(left)">
                                      <p:cBhvr>
                                        <p:cTn id="64" dur="500"/>
                                        <p:tgtEl>
                                          <p:spTgt spid="13">
                                            <p:txEl>
                                              <p:pRg st="2" end="2"/>
                                            </p:txEl>
                                          </p:spTgt>
                                        </p:tgtEl>
                                      </p:cBhvr>
                                    </p:animEffect>
                                  </p:childTnLst>
                                </p:cTn>
                              </p:par>
                              <p:par>
                                <p:cTn id="65" presetID="22" presetClass="entr" presetSubtype="8" fill="hold" nodeType="withEffect">
                                  <p:stCondLst>
                                    <p:cond delay="0"/>
                                  </p:stCondLst>
                                  <p:childTnLst>
                                    <p:set>
                                      <p:cBhvr>
                                        <p:cTn id="66" dur="1" fill="hold">
                                          <p:stCondLst>
                                            <p:cond delay="0"/>
                                          </p:stCondLst>
                                        </p:cTn>
                                        <p:tgtEl>
                                          <p:spTgt spid="13">
                                            <p:txEl>
                                              <p:pRg st="3" end="3"/>
                                            </p:txEl>
                                          </p:spTgt>
                                        </p:tgtEl>
                                        <p:attrNameLst>
                                          <p:attrName>style.visibility</p:attrName>
                                        </p:attrNameLst>
                                      </p:cBhvr>
                                      <p:to>
                                        <p:strVal val="visible"/>
                                      </p:to>
                                    </p:set>
                                    <p:animEffect transition="in" filter="wipe(left)">
                                      <p:cBhvr>
                                        <p:cTn id="67" dur="500"/>
                                        <p:tgtEl>
                                          <p:spTgt spid="13">
                                            <p:txEl>
                                              <p:pRg st="3" end="3"/>
                                            </p:txEl>
                                          </p:spTgt>
                                        </p:tgtEl>
                                      </p:cBhvr>
                                    </p:animEffect>
                                  </p:childTnLst>
                                </p:cTn>
                              </p:par>
                            </p:childTnLst>
                          </p:cTn>
                        </p:par>
                      </p:childTnLst>
                    </p:cTn>
                  </p:par>
                  <p:par>
                    <p:cTn id="68" fill="hold">
                      <p:stCondLst>
                        <p:cond delay="indefinite"/>
                      </p:stCondLst>
                      <p:childTnLst>
                        <p:par>
                          <p:cTn id="69" fill="hold">
                            <p:stCondLst>
                              <p:cond delay="0"/>
                            </p:stCondLst>
                            <p:childTnLst>
                              <p:par>
                                <p:cTn id="70" presetID="22" presetClass="entr" presetSubtype="8" fill="hold" nodeType="clickEffect">
                                  <p:stCondLst>
                                    <p:cond delay="0"/>
                                  </p:stCondLst>
                                  <p:childTnLst>
                                    <p:set>
                                      <p:cBhvr>
                                        <p:cTn id="71" dur="1" fill="hold">
                                          <p:stCondLst>
                                            <p:cond delay="0"/>
                                          </p:stCondLst>
                                        </p:cTn>
                                        <p:tgtEl>
                                          <p:spTgt spid="13">
                                            <p:txEl>
                                              <p:pRg st="4" end="4"/>
                                            </p:txEl>
                                          </p:spTgt>
                                        </p:tgtEl>
                                        <p:attrNameLst>
                                          <p:attrName>style.visibility</p:attrName>
                                        </p:attrNameLst>
                                      </p:cBhvr>
                                      <p:to>
                                        <p:strVal val="visible"/>
                                      </p:to>
                                    </p:set>
                                    <p:animEffect transition="in" filter="wipe(left)">
                                      <p:cBhvr>
                                        <p:cTn id="72" dur="500"/>
                                        <p:tgtEl>
                                          <p:spTgt spid="13">
                                            <p:txEl>
                                              <p:pRg st="4" end="4"/>
                                            </p:txEl>
                                          </p:spTgt>
                                        </p:tgtEl>
                                      </p:cBhvr>
                                    </p:animEffect>
                                  </p:childTnLst>
                                </p:cTn>
                              </p:par>
                              <p:par>
                                <p:cTn id="73" presetID="22" presetClass="entr" presetSubtype="8" fill="hold" nodeType="withEffect">
                                  <p:stCondLst>
                                    <p:cond delay="0"/>
                                  </p:stCondLst>
                                  <p:childTnLst>
                                    <p:set>
                                      <p:cBhvr>
                                        <p:cTn id="74" dur="1" fill="hold">
                                          <p:stCondLst>
                                            <p:cond delay="0"/>
                                          </p:stCondLst>
                                        </p:cTn>
                                        <p:tgtEl>
                                          <p:spTgt spid="13">
                                            <p:txEl>
                                              <p:pRg st="5" end="5"/>
                                            </p:txEl>
                                          </p:spTgt>
                                        </p:tgtEl>
                                        <p:attrNameLst>
                                          <p:attrName>style.visibility</p:attrName>
                                        </p:attrNameLst>
                                      </p:cBhvr>
                                      <p:to>
                                        <p:strVal val="visible"/>
                                      </p:to>
                                    </p:set>
                                    <p:animEffect transition="in" filter="wipe(left)">
                                      <p:cBhvr>
                                        <p:cTn id="75" dur="500"/>
                                        <p:tgtEl>
                                          <p:spTgt spid="1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p:bldP spid="14" grpId="0" animBg="1"/>
      <p:bldP spid="15" grpId="0"/>
      <p:bldP spid="16"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1196752"/>
            <a:ext cx="8568952" cy="1384995"/>
          </a:xfrm>
          <a:prstGeom prst="rect">
            <a:avLst/>
          </a:prstGeom>
        </p:spPr>
        <p:txBody>
          <a:bodyPr wrap="square">
            <a:spAutoFit/>
          </a:bodyPr>
          <a:lstStyle/>
          <a:p>
            <a:r>
              <a:rPr lang="en-US" altLang="zh-CN" dirty="0"/>
              <a:t>JOIN</a:t>
            </a:r>
            <a:r>
              <a:rPr lang="zh-CN" altLang="en-US" dirty="0"/>
              <a:t>操作是一种</a:t>
            </a:r>
            <a:r>
              <a:rPr lang="en-US" altLang="zh-CN" dirty="0"/>
              <a:t>SQL </a:t>
            </a:r>
            <a:r>
              <a:rPr lang="zh-CN" altLang="en-US" dirty="0" smtClean="0"/>
              <a:t>查询</a:t>
            </a:r>
            <a:r>
              <a:rPr lang="en-US" altLang="zh-CN" dirty="0" smtClean="0"/>
              <a:t> </a:t>
            </a:r>
            <a:r>
              <a:rPr lang="en-US" altLang="zh-CN" dirty="0"/>
              <a:t>, </a:t>
            </a:r>
            <a:r>
              <a:rPr lang="zh-CN" altLang="en-US" dirty="0"/>
              <a:t>用于根据表之间的相关字段，将来自两个或多个表的数据结合起来。</a:t>
            </a:r>
            <a:r>
              <a:rPr lang="en-US" altLang="zh-CN" dirty="0"/>
              <a:t>JOIN</a:t>
            </a:r>
            <a:r>
              <a:rPr lang="zh-CN" altLang="en-US" dirty="0"/>
              <a:t>操作的目标是生成</a:t>
            </a:r>
            <a:r>
              <a:rPr lang="en-US" altLang="zh-CN" dirty="0"/>
              <a:t>-</a:t>
            </a:r>
            <a:r>
              <a:rPr lang="zh-CN" altLang="en-US" dirty="0"/>
              <a:t>个包含来自不同表的列的结果集。</a:t>
            </a:r>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3645024"/>
            <a:ext cx="6161509" cy="18002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179512" y="2905780"/>
            <a:ext cx="3502882" cy="523220"/>
          </a:xfrm>
          <a:prstGeom prst="rect">
            <a:avLst/>
          </a:prstGeom>
        </p:spPr>
        <p:txBody>
          <a:bodyPr wrap="none">
            <a:spAutoFit/>
          </a:bodyPr>
          <a:lstStyle/>
          <a:p>
            <a:r>
              <a:rPr lang="zh-CN" altLang="en-US" dirty="0"/>
              <a:t>基本的</a:t>
            </a:r>
            <a:r>
              <a:rPr lang="en-US" altLang="zh-CN" dirty="0"/>
              <a:t>JOIN</a:t>
            </a:r>
            <a:r>
              <a:rPr lang="zh-CN" altLang="en-US" dirty="0"/>
              <a:t>语法如下</a:t>
            </a:r>
            <a:r>
              <a:rPr lang="en-US" altLang="zh-CN" dirty="0"/>
              <a:t>:</a:t>
            </a:r>
            <a:endParaRPr lang="zh-CN" altLang="en-US" dirty="0"/>
          </a:p>
        </p:txBody>
      </p:sp>
    </p:spTree>
    <p:extLst>
      <p:ext uri="{BB962C8B-B14F-4D97-AF65-F5344CB8AC3E}">
        <p14:creationId xmlns:p14="http://schemas.microsoft.com/office/powerpoint/2010/main" val="1195166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09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921682"/>
            <a:ext cx="9036496" cy="800219"/>
          </a:xfrm>
          <a:prstGeom prst="rect">
            <a:avLst/>
          </a:prstGeom>
        </p:spPr>
        <p:txBody>
          <a:bodyPr wrap="square">
            <a:spAutoFit/>
          </a:bodyPr>
          <a:lstStyle/>
          <a:p>
            <a:r>
              <a:rPr lang="en-US" sz="2400" dirty="0">
                <a:solidFill>
                  <a:srgbClr val="7030A0"/>
                </a:solidFill>
                <a:latin typeface="Times New Roman" panose="02020603050405020304" pitchFamily="18" charset="0"/>
                <a:cs typeface="Times New Roman" panose="02020603050405020304" pitchFamily="18" charset="0"/>
              </a:rPr>
              <a:t>[3] Example 3.6.4 </a:t>
            </a:r>
            <a:r>
              <a:rPr lang="en-US" sz="1100" dirty="0">
                <a:solidFill>
                  <a:srgbClr val="002060"/>
                </a:solidFill>
                <a:latin typeface="Times New Roman" panose="02020603050405020304" pitchFamily="18" charset="0"/>
                <a:cs typeface="Times New Roman" panose="02020603050405020304" pitchFamily="18" charset="0"/>
              </a:rPr>
              <a:t>(p119)</a:t>
            </a:r>
            <a:r>
              <a:rPr lang="en-US" sz="1100" dirty="0">
                <a:solidFill>
                  <a:srgbClr val="7030A0"/>
                </a:solidFill>
                <a:latin typeface="Arial Narrow" panose="020B0606020202030204" pitchFamily="34" charset="0"/>
                <a:cs typeface="Times New Roman" panose="02020603050405020304" pitchFamily="18" charset="0"/>
              </a:rPr>
              <a:t> </a:t>
            </a:r>
            <a:r>
              <a:rPr lang="en-US" sz="2200" dirty="0">
                <a:solidFill>
                  <a:srgbClr val="7030A0"/>
                </a:solidFill>
                <a:latin typeface="+mn-lt"/>
                <a:cs typeface="Times New Roman" panose="02020603050405020304" pitchFamily="18" charset="0"/>
              </a:rPr>
              <a:t>Retrieve all customers who has buy at least one product costing less than $0.50. </a:t>
            </a:r>
          </a:p>
        </p:txBody>
      </p:sp>
      <p:sp>
        <p:nvSpPr>
          <p:cNvPr id="4" name="Rectangle 1"/>
          <p:cNvSpPr/>
          <p:nvPr/>
        </p:nvSpPr>
        <p:spPr>
          <a:xfrm>
            <a:off x="899592" y="116632"/>
            <a:ext cx="8208912"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3.6 Some advanced SQL syntax</a:t>
            </a:r>
          </a:p>
        </p:txBody>
      </p:sp>
      <p:sp>
        <p:nvSpPr>
          <p:cNvPr id="5" name="矩形: 圆角 4"/>
          <p:cNvSpPr/>
          <p:nvPr/>
        </p:nvSpPr>
        <p:spPr>
          <a:xfrm>
            <a:off x="7055768" y="1052537"/>
            <a:ext cx="1404664"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6" name="矩形: 圆角 5"/>
          <p:cNvSpPr/>
          <p:nvPr/>
        </p:nvSpPr>
        <p:spPr>
          <a:xfrm>
            <a:off x="132576" y="1381310"/>
            <a:ext cx="983040"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矩形: 圆角 6"/>
          <p:cNvSpPr/>
          <p:nvPr/>
        </p:nvSpPr>
        <p:spPr>
          <a:xfrm>
            <a:off x="4355976" y="1067357"/>
            <a:ext cx="1152128"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pic>
        <p:nvPicPr>
          <p:cNvPr id="9" name="图片 8">
            <a:extLst>
              <a:ext uri="{FF2B5EF4-FFF2-40B4-BE49-F238E27FC236}">
                <a16:creationId xmlns="" xmlns:a16="http://schemas.microsoft.com/office/drawing/2014/main" id="{AB049CEA-0D15-4989-8CAC-EFFF32BF6A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60027" y="1917764"/>
            <a:ext cx="2232136" cy="597449"/>
          </a:xfrm>
          <a:prstGeom prst="rect">
            <a:avLst/>
          </a:prstGeom>
        </p:spPr>
      </p:pic>
      <p:pic>
        <p:nvPicPr>
          <p:cNvPr id="10" name="图片 9">
            <a:extLst>
              <a:ext uri="{FF2B5EF4-FFF2-40B4-BE49-F238E27FC236}">
                <a16:creationId xmlns="" xmlns:a16="http://schemas.microsoft.com/office/drawing/2014/main" id="{11AE5D86-17E1-4D71-9724-942AF45970D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71800" y="1942176"/>
            <a:ext cx="1968168" cy="557986"/>
          </a:xfrm>
          <a:prstGeom prst="rect">
            <a:avLst/>
          </a:prstGeom>
        </p:spPr>
      </p:pic>
      <p:sp>
        <p:nvSpPr>
          <p:cNvPr id="11" name="箭头: 左弧形 10">
            <a:extLst>
              <a:ext uri="{FF2B5EF4-FFF2-40B4-BE49-F238E27FC236}">
                <a16:creationId xmlns="" xmlns:a16="http://schemas.microsoft.com/office/drawing/2014/main" id="{1FFE5F76-0C08-4C76-869C-86805A534C18}"/>
              </a:ext>
            </a:extLst>
          </p:cNvPr>
          <p:cNvSpPr/>
          <p:nvPr/>
        </p:nvSpPr>
        <p:spPr bwMode="auto">
          <a:xfrm rot="16200000">
            <a:off x="4467901" y="1086242"/>
            <a:ext cx="350999" cy="3313585"/>
          </a:xfrm>
          <a:prstGeom prst="curvedRightArrow">
            <a:avLst/>
          </a:prstGeom>
          <a:solidFill>
            <a:srgbClr val="FFFF00"/>
          </a:solidFill>
          <a:ln>
            <a:solidFill>
              <a:srgbClr val="FFFF00"/>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cxnSp>
        <p:nvCxnSpPr>
          <p:cNvPr id="13" name="直接箭头连接符 12">
            <a:extLst>
              <a:ext uri="{FF2B5EF4-FFF2-40B4-BE49-F238E27FC236}">
                <a16:creationId xmlns="" xmlns:a16="http://schemas.microsoft.com/office/drawing/2014/main" id="{657B9D92-DE32-406B-86A7-6B77E460183B}"/>
              </a:ext>
            </a:extLst>
          </p:cNvPr>
          <p:cNvCxnSpPr/>
          <p:nvPr/>
        </p:nvCxnSpPr>
        <p:spPr bwMode="auto">
          <a:xfrm>
            <a:off x="6931895" y="1772098"/>
            <a:ext cx="0" cy="505706"/>
          </a:xfrm>
          <a:prstGeom prst="straightConnector1">
            <a:avLst/>
          </a:prstGeom>
          <a:ln w="57150">
            <a:solidFill>
              <a:srgbClr val="00B050"/>
            </a:solidFill>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16" name="箭头: 左弧形 15">
            <a:extLst>
              <a:ext uri="{FF2B5EF4-FFF2-40B4-BE49-F238E27FC236}">
                <a16:creationId xmlns="" xmlns:a16="http://schemas.microsoft.com/office/drawing/2014/main" id="{649F0C55-77A8-402B-8800-2FC52481EE06}"/>
              </a:ext>
            </a:extLst>
          </p:cNvPr>
          <p:cNvSpPr/>
          <p:nvPr/>
        </p:nvSpPr>
        <p:spPr bwMode="auto">
          <a:xfrm rot="16200000">
            <a:off x="7089121" y="2372729"/>
            <a:ext cx="277983" cy="592435"/>
          </a:xfrm>
          <a:prstGeom prst="curvedRightArrow">
            <a:avLst/>
          </a:prstGeom>
          <a:solidFill>
            <a:srgbClr val="92D050"/>
          </a:solidFill>
          <a:ln>
            <a:solidFill>
              <a:srgbClr val="00B050"/>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dirty="0">
              <a:ln>
                <a:noFill/>
              </a:ln>
              <a:solidFill>
                <a:schemeClr val="tx1"/>
              </a:solidFill>
              <a:effectLst/>
              <a:latin typeface="Calibri" panose="020F0502020204030204" pitchFamily="34" charset="0"/>
              <a:ea typeface="宋体" panose="02010600030101010101" pitchFamily="2" charset="-122"/>
            </a:endParaRPr>
          </a:p>
        </p:txBody>
      </p:sp>
      <p:cxnSp>
        <p:nvCxnSpPr>
          <p:cNvPr id="19" name="直接箭头连接符 18">
            <a:extLst>
              <a:ext uri="{FF2B5EF4-FFF2-40B4-BE49-F238E27FC236}">
                <a16:creationId xmlns="" xmlns:a16="http://schemas.microsoft.com/office/drawing/2014/main" id="{CBC99B20-141B-4F15-AEC1-34DD53417FB2}"/>
              </a:ext>
            </a:extLst>
          </p:cNvPr>
          <p:cNvCxnSpPr>
            <a:cxnSpLocks/>
          </p:cNvCxnSpPr>
          <p:nvPr/>
        </p:nvCxnSpPr>
        <p:spPr bwMode="auto">
          <a:xfrm>
            <a:off x="3351235" y="1788460"/>
            <a:ext cx="0" cy="489344"/>
          </a:xfrm>
          <a:prstGeom prst="straightConnector1">
            <a:avLst/>
          </a:prstGeom>
          <a:ln w="57150">
            <a:solidFill>
              <a:srgbClr val="C00000"/>
            </a:solidFill>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21" name="Rectangle 2">
            <a:extLst>
              <a:ext uri="{FF2B5EF4-FFF2-40B4-BE49-F238E27FC236}">
                <a16:creationId xmlns="" xmlns:a16="http://schemas.microsoft.com/office/drawing/2014/main" id="{D888929D-10D8-45AD-94A7-A760F7863403}"/>
              </a:ext>
            </a:extLst>
          </p:cNvPr>
          <p:cNvSpPr/>
          <p:nvPr/>
        </p:nvSpPr>
        <p:spPr>
          <a:xfrm>
            <a:off x="107504" y="3262973"/>
            <a:ext cx="9036496" cy="3046347"/>
          </a:xfrm>
          <a:prstGeom prst="rect">
            <a:avLst/>
          </a:prstGeom>
        </p:spPr>
        <p:txBody>
          <a:bodyPr wrap="square">
            <a:spAutoFit/>
          </a:bodyPr>
          <a:lstStyle/>
          <a:p>
            <a:r>
              <a:rPr lang="en-US" sz="2200" dirty="0">
                <a:solidFill>
                  <a:srgbClr val="C00000"/>
                </a:solidFill>
                <a:latin typeface="Times New Roman" panose="02020603050405020304" pitchFamily="18" charset="0"/>
                <a:cs typeface="Times New Roman" panose="02020603050405020304" pitchFamily="18" charset="0"/>
              </a:rPr>
              <a:t>a)Alg.</a:t>
            </a:r>
            <a:r>
              <a:rPr lang="en-US" sz="2200" dirty="0">
                <a:solidFill>
                  <a:srgbClr val="002060"/>
                </a:solidFill>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rPr>
              <a:t>( ( (P where price &lt;0.50)[</a:t>
            </a:r>
            <a:r>
              <a:rPr lang="en-US" sz="2000" dirty="0" err="1">
                <a:solidFill>
                  <a:srgbClr val="002060"/>
                </a:solidFill>
                <a:latin typeface="Times New Roman" panose="02020603050405020304" pitchFamily="18" charset="0"/>
                <a:cs typeface="Times New Roman" panose="02020603050405020304" pitchFamily="18" charset="0"/>
              </a:rPr>
              <a:t>pid</a:t>
            </a:r>
            <a:r>
              <a:rPr lang="en-US" sz="2000" dirty="0">
                <a:solidFill>
                  <a:srgbClr val="002060"/>
                </a:solidFill>
                <a:latin typeface="Times New Roman" panose="02020603050405020304" pitchFamily="18" charset="0"/>
                <a:cs typeface="Times New Roman" panose="02020603050405020304" pitchFamily="18" charset="0"/>
              </a:rPr>
              <a:t>]) ∞ O ∞ C ) [</a:t>
            </a:r>
            <a:r>
              <a:rPr lang="en-US" sz="2000" dirty="0" err="1">
                <a:solidFill>
                  <a:srgbClr val="002060"/>
                </a:solidFill>
                <a:latin typeface="Times New Roman" panose="02020603050405020304" pitchFamily="18" charset="0"/>
                <a:cs typeface="Times New Roman" panose="02020603050405020304" pitchFamily="18" charset="0"/>
              </a:rPr>
              <a:t>cname</a:t>
            </a:r>
            <a:r>
              <a:rPr lang="en-US" sz="2000" dirty="0">
                <a:solidFill>
                  <a:srgbClr val="002060"/>
                </a:solidFill>
                <a:latin typeface="Times New Roman" panose="02020603050405020304" pitchFamily="18" charset="0"/>
                <a:cs typeface="Times New Roman" panose="02020603050405020304" pitchFamily="18" charset="0"/>
              </a:rPr>
              <a:t>]</a:t>
            </a:r>
          </a:p>
          <a:p>
            <a:pPr>
              <a:lnSpc>
                <a:spcPct val="150000"/>
              </a:lnSpc>
              <a:spcBef>
                <a:spcPts val="300"/>
              </a:spcBef>
            </a:pPr>
            <a:r>
              <a:rPr lang="en-US" sz="2200" dirty="0">
                <a:solidFill>
                  <a:srgbClr val="C00000"/>
                </a:solidFill>
                <a:latin typeface="Times New Roman" panose="02020603050405020304" pitchFamily="18" charset="0"/>
                <a:cs typeface="Times New Roman" panose="02020603050405020304" pitchFamily="18" charset="0"/>
              </a:rPr>
              <a:t>b)</a:t>
            </a:r>
            <a:r>
              <a:rPr lang="en-US" sz="2000" dirty="0">
                <a:solidFill>
                  <a:srgbClr val="002060"/>
                </a:solidFill>
                <a:latin typeface="Times New Roman" panose="02020603050405020304" pitchFamily="18" charset="0"/>
                <a:cs typeface="Times New Roman" panose="02020603050405020304" pitchFamily="18" charset="0"/>
              </a:rPr>
              <a:t>New1      </a:t>
            </a:r>
            <a:r>
              <a:rPr lang="en-US" sz="2000" dirty="0">
                <a:solidFill>
                  <a:srgbClr val="7030A0"/>
                </a:solidFill>
                <a:latin typeface="Times New Roman" panose="02020603050405020304" pitchFamily="18" charset="0"/>
                <a:cs typeface="Times New Roman" panose="02020603050405020304" pitchFamily="18" charset="0"/>
              </a:rPr>
              <a:t>select</a:t>
            </a:r>
            <a:r>
              <a:rPr lang="en-US" sz="2000" dirty="0">
                <a:solidFill>
                  <a:srgbClr val="002060"/>
                </a:solidFill>
                <a:latin typeface="Times New Roman" panose="02020603050405020304" pitchFamily="18" charset="0"/>
                <a:cs typeface="Times New Roman" panose="02020603050405020304" pitchFamily="18" charset="0"/>
              </a:rPr>
              <a:t> distinct </a:t>
            </a:r>
            <a:r>
              <a:rPr lang="en-US" sz="2000" dirty="0" err="1">
                <a:solidFill>
                  <a:srgbClr val="C00000"/>
                </a:solidFill>
                <a:latin typeface="Times New Roman" panose="02020603050405020304" pitchFamily="18" charset="0"/>
                <a:cs typeface="Times New Roman" panose="02020603050405020304" pitchFamily="18" charset="0"/>
              </a:rPr>
              <a:t>cname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from</a:t>
            </a:r>
            <a:r>
              <a:rPr lang="en-US" sz="2000" dirty="0">
                <a:solidFill>
                  <a:srgbClr val="002060"/>
                </a:solidFill>
                <a:latin typeface="Times New Roman" panose="02020603050405020304" pitchFamily="18" charset="0"/>
                <a:cs typeface="Times New Roman" panose="02020603050405020304" pitchFamily="18" charset="0"/>
              </a:rPr>
              <a:t> (O </a:t>
            </a:r>
            <a:r>
              <a:rPr lang="en-US" sz="2000" dirty="0">
                <a:solidFill>
                  <a:srgbClr val="C00000"/>
                </a:solidFill>
                <a:highlight>
                  <a:srgbClr val="FFFF00"/>
                </a:highlight>
                <a:latin typeface="Times New Roman" panose="02020603050405020304" pitchFamily="18" charset="0"/>
                <a:cs typeface="Times New Roman" panose="02020603050405020304" pitchFamily="18" charset="0"/>
              </a:rPr>
              <a:t>join</a:t>
            </a:r>
            <a:r>
              <a:rPr lang="en-US" sz="2000" dirty="0">
                <a:solidFill>
                  <a:srgbClr val="002060"/>
                </a:solidFill>
                <a:latin typeface="Times New Roman" panose="02020603050405020304" pitchFamily="18" charset="0"/>
                <a:cs typeface="Times New Roman" panose="02020603050405020304" pitchFamily="18" charset="0"/>
              </a:rPr>
              <a:t> P </a:t>
            </a:r>
            <a:r>
              <a:rPr lang="en-US" sz="2000" dirty="0">
                <a:solidFill>
                  <a:srgbClr val="FF0000"/>
                </a:solidFill>
                <a:highlight>
                  <a:srgbClr val="FFFF00"/>
                </a:highlight>
                <a:latin typeface="Times New Roman" panose="02020603050405020304" pitchFamily="18" charset="0"/>
                <a:cs typeface="Times New Roman" panose="02020603050405020304" pitchFamily="18" charset="0"/>
              </a:rPr>
              <a:t>on</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O.pid</a:t>
            </a:r>
            <a:r>
              <a:rPr lang="en-US" sz="2000" dirty="0">
                <a:solidFill>
                  <a:srgbClr val="002060"/>
                </a:solidFill>
                <a:latin typeface="Times New Roman" panose="02020603050405020304" pitchFamily="18" charset="0"/>
                <a:cs typeface="Times New Roman" panose="02020603050405020304" pitchFamily="18" charset="0"/>
              </a:rPr>
              <a:t> = </a:t>
            </a:r>
            <a:r>
              <a:rPr lang="en-US" sz="2000" dirty="0" err="1">
                <a:solidFill>
                  <a:srgbClr val="002060"/>
                </a:solidFill>
                <a:latin typeface="Times New Roman" panose="02020603050405020304" pitchFamily="18" charset="0"/>
                <a:cs typeface="Times New Roman" panose="02020603050405020304" pitchFamily="18" charset="0"/>
              </a:rPr>
              <a:t>P.pid</a:t>
            </a:r>
            <a:r>
              <a:rPr lang="en-US" sz="2000" dirty="0">
                <a:solidFill>
                  <a:srgbClr val="002060"/>
                </a:solidFill>
                <a:latin typeface="Times New Roman" panose="02020603050405020304" pitchFamily="18" charset="0"/>
                <a:cs typeface="Times New Roman" panose="02020603050405020304" pitchFamily="18" charset="0"/>
              </a:rPr>
              <a:t> )</a:t>
            </a:r>
          </a:p>
          <a:p>
            <a:pPr>
              <a:spcBef>
                <a:spcPts val="8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highlight>
                  <a:srgbClr val="FFFF00"/>
                </a:highlight>
                <a:latin typeface="Times New Roman" panose="02020603050405020304" pitchFamily="18" charset="0"/>
                <a:cs typeface="Times New Roman" panose="02020603050405020304" pitchFamily="18" charset="0"/>
              </a:rPr>
              <a:t>join</a:t>
            </a:r>
            <a:r>
              <a:rPr lang="en-US" sz="2000" dirty="0">
                <a:solidFill>
                  <a:srgbClr val="002060"/>
                </a:solidFill>
                <a:latin typeface="Times New Roman" panose="02020603050405020304" pitchFamily="18" charset="0"/>
                <a:cs typeface="Times New Roman" panose="02020603050405020304" pitchFamily="18" charset="0"/>
              </a:rPr>
              <a:t> C </a:t>
            </a:r>
            <a:r>
              <a:rPr lang="en-US" sz="2000" dirty="0">
                <a:solidFill>
                  <a:srgbClr val="C00000"/>
                </a:solidFill>
                <a:highlight>
                  <a:srgbClr val="FFFF00"/>
                </a:highlight>
                <a:latin typeface="Times New Roman" panose="02020603050405020304" pitchFamily="18" charset="0"/>
                <a:cs typeface="Times New Roman" panose="02020603050405020304" pitchFamily="18" charset="0"/>
              </a:rPr>
              <a:t>on</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O.cid</a:t>
            </a:r>
            <a:r>
              <a:rPr lang="en-US" sz="2000" dirty="0">
                <a:solidFill>
                  <a:srgbClr val="002060"/>
                </a:solidFill>
                <a:latin typeface="Times New Roman" panose="02020603050405020304" pitchFamily="18" charset="0"/>
                <a:cs typeface="Times New Roman" panose="02020603050405020304" pitchFamily="18" charset="0"/>
              </a:rPr>
              <a:t> =   </a:t>
            </a:r>
            <a:r>
              <a:rPr lang="en-US" sz="2000" dirty="0" err="1">
                <a:solidFill>
                  <a:srgbClr val="002060"/>
                </a:solidFill>
                <a:latin typeface="Times New Roman" panose="02020603050405020304" pitchFamily="18" charset="0"/>
                <a:cs typeface="Times New Roman" panose="02020603050405020304" pitchFamily="18" charset="0"/>
              </a:rPr>
              <a:t>C.cid</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where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P.price</a:t>
            </a:r>
            <a:r>
              <a:rPr lang="en-US" sz="2000" dirty="0">
                <a:solidFill>
                  <a:srgbClr val="002060"/>
                </a:solidFill>
                <a:latin typeface="Times New Roman" panose="02020603050405020304" pitchFamily="18" charset="0"/>
                <a:cs typeface="Times New Roman" panose="02020603050405020304" pitchFamily="18" charset="0"/>
              </a:rPr>
              <a:t> &lt;0.50;</a:t>
            </a:r>
          </a:p>
          <a:p>
            <a:pPr>
              <a:spcBef>
                <a:spcPts val="1200"/>
              </a:spcBef>
            </a:pPr>
            <a:r>
              <a:rPr lang="en-US" sz="2000" dirty="0">
                <a:solidFill>
                  <a:srgbClr val="002060"/>
                </a:solidFill>
                <a:latin typeface="Times New Roman" panose="02020603050405020304" pitchFamily="18" charset="0"/>
                <a:cs typeface="Times New Roman" panose="02020603050405020304" pitchFamily="18" charset="0"/>
              </a:rPr>
              <a:t>    New2      </a:t>
            </a:r>
            <a:r>
              <a:rPr lang="en-US" sz="2000" dirty="0">
                <a:solidFill>
                  <a:srgbClr val="7030A0"/>
                </a:solidFill>
                <a:latin typeface="Times New Roman" panose="02020603050405020304" pitchFamily="18" charset="0"/>
                <a:cs typeface="Times New Roman" panose="02020603050405020304" pitchFamily="18" charset="0"/>
              </a:rPr>
              <a:t>select</a:t>
            </a:r>
            <a:r>
              <a:rPr lang="en-US" sz="2000" dirty="0">
                <a:solidFill>
                  <a:srgbClr val="002060"/>
                </a:solidFill>
                <a:latin typeface="Times New Roman" panose="02020603050405020304" pitchFamily="18" charset="0"/>
                <a:cs typeface="Times New Roman" panose="02020603050405020304" pitchFamily="18" charset="0"/>
              </a:rPr>
              <a:t> distinct </a:t>
            </a:r>
            <a:r>
              <a:rPr lang="en-US" sz="2000" dirty="0" err="1">
                <a:solidFill>
                  <a:srgbClr val="C00000"/>
                </a:solidFill>
                <a:latin typeface="Times New Roman" panose="02020603050405020304" pitchFamily="18" charset="0"/>
                <a:cs typeface="Times New Roman" panose="02020603050405020304" pitchFamily="18" charset="0"/>
              </a:rPr>
              <a:t>cname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from</a:t>
            </a:r>
            <a:r>
              <a:rPr lang="en-US" sz="2000" dirty="0">
                <a:solidFill>
                  <a:srgbClr val="002060"/>
                </a:solidFill>
                <a:latin typeface="Times New Roman" panose="02020603050405020304" pitchFamily="18" charset="0"/>
                <a:cs typeface="Times New Roman" panose="02020603050405020304" pitchFamily="18" charset="0"/>
              </a:rPr>
              <a:t>  (O </a:t>
            </a:r>
            <a:r>
              <a:rPr lang="en-US" sz="2000" dirty="0">
                <a:solidFill>
                  <a:srgbClr val="C00000"/>
                </a:solidFill>
                <a:highlight>
                  <a:srgbClr val="FFFF00"/>
                </a:highlight>
                <a:latin typeface="Times New Roman" panose="02020603050405020304" pitchFamily="18" charset="0"/>
                <a:cs typeface="Times New Roman" panose="02020603050405020304" pitchFamily="18" charset="0"/>
              </a:rPr>
              <a:t>join</a:t>
            </a:r>
            <a:r>
              <a:rPr lang="en-US" sz="2000" dirty="0">
                <a:solidFill>
                  <a:srgbClr val="002060"/>
                </a:solidFill>
                <a:latin typeface="Times New Roman" panose="02020603050405020304" pitchFamily="18" charset="0"/>
                <a:cs typeface="Times New Roman" panose="02020603050405020304" pitchFamily="18" charset="0"/>
              </a:rPr>
              <a:t>  P </a:t>
            </a:r>
            <a:r>
              <a:rPr lang="en-US" sz="2000" dirty="0">
                <a:solidFill>
                  <a:srgbClr val="FF0000"/>
                </a:solidFill>
                <a:highlight>
                  <a:srgbClr val="FFFF00"/>
                </a:highlight>
                <a:latin typeface="Times New Roman" panose="02020603050405020304" pitchFamily="18" charset="0"/>
                <a:cs typeface="Times New Roman" panose="02020603050405020304" pitchFamily="18" charset="0"/>
              </a:rPr>
              <a:t>using</a:t>
            </a:r>
            <a:r>
              <a:rPr lang="en-US" sz="2000" dirty="0">
                <a:solidFill>
                  <a:srgbClr val="002060"/>
                </a:solidFill>
                <a:highlight>
                  <a:srgbClr val="FFFF00"/>
                </a:highlight>
                <a:latin typeface="Times New Roman" panose="02020603050405020304" pitchFamily="18" charset="0"/>
                <a:cs typeface="Times New Roman" panose="02020603050405020304" pitchFamily="18" charset="0"/>
              </a:rPr>
              <a:t>(</a:t>
            </a:r>
            <a:r>
              <a:rPr lang="en-US" sz="2000" dirty="0" err="1">
                <a:solidFill>
                  <a:srgbClr val="002060"/>
                </a:solidFill>
                <a:highlight>
                  <a:srgbClr val="FFFF00"/>
                </a:highlight>
                <a:latin typeface="Times New Roman" panose="02020603050405020304" pitchFamily="18" charset="0"/>
                <a:cs typeface="Times New Roman" panose="02020603050405020304" pitchFamily="18" charset="0"/>
              </a:rPr>
              <a:t>pid</a:t>
            </a:r>
            <a:r>
              <a:rPr lang="en-US" sz="2000" dirty="0">
                <a:solidFill>
                  <a:srgbClr val="002060"/>
                </a:solidFill>
                <a:highlight>
                  <a:srgbClr val="FFFF00"/>
                </a:highlight>
                <a:latin typeface="Times New Roman" panose="02020603050405020304" pitchFamily="18" charset="0"/>
                <a:cs typeface="Times New Roman" panose="02020603050405020304" pitchFamily="18" charset="0"/>
              </a:rPr>
              <a:t>)</a:t>
            </a:r>
            <a:r>
              <a:rPr lang="en-US" sz="2000" dirty="0">
                <a:solidFill>
                  <a:srgbClr val="002060"/>
                </a:solidFill>
                <a:latin typeface="Times New Roman" panose="02020603050405020304" pitchFamily="18" charset="0"/>
                <a:cs typeface="Times New Roman" panose="02020603050405020304" pitchFamily="18" charset="0"/>
              </a:rPr>
              <a:t> )</a:t>
            </a:r>
          </a:p>
          <a:p>
            <a:pPr>
              <a:spcBef>
                <a:spcPts val="800"/>
              </a:spcBef>
            </a:pPr>
            <a:r>
              <a:rPr lang="en-US" sz="2000" dirty="0">
                <a:solidFill>
                  <a:srgbClr val="C00000"/>
                </a:solidFill>
                <a:latin typeface="Times New Roman" panose="02020603050405020304" pitchFamily="18" charset="0"/>
                <a:cs typeface="Times New Roman" panose="02020603050405020304" pitchFamily="18" charset="0"/>
              </a:rPr>
              <a:t>                           		</a:t>
            </a:r>
            <a:r>
              <a:rPr lang="en-US" sz="2000" dirty="0">
                <a:solidFill>
                  <a:srgbClr val="C00000"/>
                </a:solidFill>
                <a:highlight>
                  <a:srgbClr val="FFFF00"/>
                </a:highlight>
                <a:latin typeface="Times New Roman" panose="02020603050405020304" pitchFamily="18" charset="0"/>
                <a:cs typeface="Times New Roman" panose="02020603050405020304" pitchFamily="18" charset="0"/>
              </a:rPr>
              <a:t>join</a:t>
            </a:r>
            <a:r>
              <a:rPr lang="en-US" sz="2000" dirty="0">
                <a:solidFill>
                  <a:srgbClr val="C00000"/>
                </a:solidFill>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rPr>
              <a:t>C </a:t>
            </a:r>
            <a:r>
              <a:rPr lang="en-US" sz="2000" dirty="0">
                <a:solidFill>
                  <a:srgbClr val="C00000"/>
                </a:solidFill>
                <a:highlight>
                  <a:srgbClr val="FFFF00"/>
                </a:highlight>
                <a:latin typeface="Times New Roman" panose="02020603050405020304" pitchFamily="18" charset="0"/>
                <a:cs typeface="Times New Roman" panose="02020603050405020304" pitchFamily="18" charset="0"/>
              </a:rPr>
              <a:t>using</a:t>
            </a:r>
            <a:r>
              <a:rPr lang="en-US" sz="2000" dirty="0">
                <a:solidFill>
                  <a:srgbClr val="002060"/>
                </a:solidFill>
                <a:highlight>
                  <a:srgbClr val="FFFF00"/>
                </a:highlight>
                <a:latin typeface="Times New Roman" panose="02020603050405020304" pitchFamily="18" charset="0"/>
                <a:cs typeface="Times New Roman" panose="02020603050405020304" pitchFamily="18" charset="0"/>
              </a:rPr>
              <a:t>(</a:t>
            </a:r>
            <a:r>
              <a:rPr lang="en-US" sz="2000" dirty="0" err="1">
                <a:solidFill>
                  <a:srgbClr val="002060"/>
                </a:solidFill>
                <a:highlight>
                  <a:srgbClr val="FFFF00"/>
                </a:highlight>
                <a:latin typeface="Times New Roman" panose="02020603050405020304" pitchFamily="18" charset="0"/>
                <a:cs typeface="Times New Roman" panose="02020603050405020304" pitchFamily="18" charset="0"/>
              </a:rPr>
              <a:t>cid</a:t>
            </a:r>
            <a:r>
              <a:rPr lang="en-US" sz="2000" dirty="0">
                <a:solidFill>
                  <a:srgbClr val="002060"/>
                </a:solidFill>
                <a:highlight>
                  <a:srgbClr val="FFFF00"/>
                </a:highlight>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Times New Roman" panose="02020603050405020304" pitchFamily="18" charset="0"/>
                <a:cs typeface="Times New Roman" panose="02020603050405020304" pitchFamily="18" charset="0"/>
              </a:rPr>
              <a:t>where</a:t>
            </a:r>
            <a:r>
              <a:rPr lang="en-US" sz="2000" dirty="0">
                <a:solidFill>
                  <a:srgbClr val="002060"/>
                </a:solidFill>
                <a:latin typeface="Times New Roman" panose="02020603050405020304" pitchFamily="18" charset="0"/>
                <a:cs typeface="Times New Roman" panose="02020603050405020304" pitchFamily="18" charset="0"/>
              </a:rPr>
              <a:t> price&lt;0.50;</a:t>
            </a:r>
          </a:p>
          <a:p>
            <a:pPr>
              <a:spcBef>
                <a:spcPts val="12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1600" dirty="0">
                <a:solidFill>
                  <a:srgbClr val="002060"/>
                </a:solidFill>
                <a:latin typeface="Times New Roman" panose="02020603050405020304" pitchFamily="18" charset="0"/>
                <a:cs typeface="Times New Roman" panose="02020603050405020304" pitchFamily="18" charset="0"/>
              </a:rPr>
              <a:t>Old3       </a:t>
            </a:r>
            <a:r>
              <a:rPr lang="en-US" sz="1600" dirty="0">
                <a:solidFill>
                  <a:srgbClr val="7030A0"/>
                </a:solidFill>
                <a:latin typeface="Times New Roman" panose="02020603050405020304" pitchFamily="18" charset="0"/>
                <a:cs typeface="Times New Roman" panose="02020603050405020304" pitchFamily="18" charset="0"/>
              </a:rPr>
              <a:t>select</a:t>
            </a:r>
            <a:r>
              <a:rPr lang="en-US" sz="1600" dirty="0">
                <a:solidFill>
                  <a:srgbClr val="002060"/>
                </a:solidFill>
                <a:latin typeface="Times New Roman" panose="02020603050405020304" pitchFamily="18" charset="0"/>
                <a:cs typeface="Times New Roman" panose="02020603050405020304" pitchFamily="18" charset="0"/>
              </a:rPr>
              <a:t> </a:t>
            </a:r>
            <a:r>
              <a:rPr lang="en-US" sz="1600" dirty="0" err="1">
                <a:solidFill>
                  <a:srgbClr val="C00000"/>
                </a:solidFill>
                <a:latin typeface="Times New Roman" panose="02020603050405020304" pitchFamily="18" charset="0"/>
                <a:cs typeface="Times New Roman" panose="02020603050405020304" pitchFamily="18" charset="0"/>
              </a:rPr>
              <a:t>cname</a:t>
            </a:r>
            <a:r>
              <a:rPr lang="en-US" sz="1600" dirty="0">
                <a:solidFill>
                  <a:srgbClr val="002060"/>
                </a:solidFill>
                <a:latin typeface="Times New Roman" panose="02020603050405020304" pitchFamily="18" charset="0"/>
                <a:cs typeface="Times New Roman" panose="02020603050405020304" pitchFamily="18" charset="0"/>
              </a:rPr>
              <a:t> </a:t>
            </a:r>
            <a:r>
              <a:rPr lang="en-US" sz="1600" dirty="0">
                <a:solidFill>
                  <a:srgbClr val="7030A0"/>
                </a:solidFill>
                <a:latin typeface="Times New Roman" panose="02020603050405020304" pitchFamily="18" charset="0"/>
                <a:cs typeface="Times New Roman" panose="02020603050405020304" pitchFamily="18" charset="0"/>
              </a:rPr>
              <a:t>from</a:t>
            </a:r>
            <a:r>
              <a:rPr lang="en-US" sz="1600" dirty="0">
                <a:solidFill>
                  <a:srgbClr val="002060"/>
                </a:solidFill>
                <a:latin typeface="Times New Roman" panose="02020603050405020304" pitchFamily="18" charset="0"/>
                <a:cs typeface="Times New Roman" panose="02020603050405020304" pitchFamily="18" charset="0"/>
              </a:rPr>
              <a:t> Customers C, Orders O, Products P</a:t>
            </a:r>
          </a:p>
          <a:p>
            <a:pPr>
              <a:lnSpc>
                <a:spcPct val="150000"/>
              </a:lnSpc>
              <a:spcBef>
                <a:spcPts val="0"/>
              </a:spcBef>
            </a:pPr>
            <a:r>
              <a:rPr lang="en-US" sz="1600" dirty="0">
                <a:solidFill>
                  <a:srgbClr val="002060"/>
                </a:solidFill>
                <a:latin typeface="Times New Roman" panose="02020603050405020304" pitchFamily="18" charset="0"/>
                <a:cs typeface="Times New Roman" panose="02020603050405020304" pitchFamily="18" charset="0"/>
              </a:rPr>
              <a:t>	             	</a:t>
            </a:r>
            <a:r>
              <a:rPr lang="en-US" sz="1600" dirty="0">
                <a:solidFill>
                  <a:srgbClr val="7030A0"/>
                </a:solidFill>
                <a:latin typeface="Times New Roman" panose="02020603050405020304" pitchFamily="18" charset="0"/>
                <a:cs typeface="Times New Roman" panose="02020603050405020304" pitchFamily="18" charset="0"/>
              </a:rPr>
              <a:t>where</a:t>
            </a:r>
            <a:r>
              <a:rPr lang="en-US" sz="1600" dirty="0">
                <a:solidFill>
                  <a:srgbClr val="002060"/>
                </a:solidFill>
                <a:latin typeface="Times New Roman" panose="02020603050405020304" pitchFamily="18" charset="0"/>
                <a:cs typeface="Times New Roman" panose="02020603050405020304" pitchFamily="18" charset="0"/>
              </a:rPr>
              <a:t> </a:t>
            </a:r>
            <a:r>
              <a:rPr lang="en-US" sz="1600" dirty="0" err="1">
                <a:solidFill>
                  <a:srgbClr val="C00000"/>
                </a:solidFill>
                <a:highlight>
                  <a:srgbClr val="FFFF00"/>
                </a:highlight>
                <a:latin typeface="Times New Roman" panose="02020603050405020304" pitchFamily="18" charset="0"/>
                <a:cs typeface="Times New Roman" panose="02020603050405020304" pitchFamily="18" charset="0"/>
              </a:rPr>
              <a:t>C.cid</a:t>
            </a:r>
            <a:r>
              <a:rPr lang="en-US" sz="1600" dirty="0">
                <a:solidFill>
                  <a:srgbClr val="C00000"/>
                </a:solidFill>
                <a:highlight>
                  <a:srgbClr val="FFFF00"/>
                </a:highlight>
                <a:latin typeface="Times New Roman" panose="02020603050405020304" pitchFamily="18" charset="0"/>
                <a:cs typeface="Times New Roman" panose="02020603050405020304" pitchFamily="18" charset="0"/>
              </a:rPr>
              <a:t>=</a:t>
            </a:r>
            <a:r>
              <a:rPr lang="en-US" sz="1600" dirty="0" err="1">
                <a:solidFill>
                  <a:srgbClr val="C00000"/>
                </a:solidFill>
                <a:highlight>
                  <a:srgbClr val="FFFF00"/>
                </a:highlight>
                <a:latin typeface="Times New Roman" panose="02020603050405020304" pitchFamily="18" charset="0"/>
                <a:cs typeface="Times New Roman" panose="02020603050405020304" pitchFamily="18" charset="0"/>
              </a:rPr>
              <a:t>O.cid</a:t>
            </a:r>
            <a:r>
              <a:rPr lang="en-US" sz="1600" dirty="0">
                <a:solidFill>
                  <a:srgbClr val="002060"/>
                </a:solidFill>
                <a:latin typeface="Times New Roman" panose="02020603050405020304" pitchFamily="18" charset="0"/>
                <a:cs typeface="Times New Roman" panose="02020603050405020304" pitchFamily="18" charset="0"/>
              </a:rPr>
              <a:t> and </a:t>
            </a:r>
            <a:r>
              <a:rPr lang="en-US" sz="1600" dirty="0" err="1">
                <a:solidFill>
                  <a:srgbClr val="C00000"/>
                </a:solidFill>
                <a:highlight>
                  <a:srgbClr val="FFFF00"/>
                </a:highlight>
                <a:latin typeface="Times New Roman" panose="02020603050405020304" pitchFamily="18" charset="0"/>
                <a:cs typeface="Times New Roman" panose="02020603050405020304" pitchFamily="18" charset="0"/>
              </a:rPr>
              <a:t>O.pid</a:t>
            </a:r>
            <a:r>
              <a:rPr lang="en-US" sz="1600" dirty="0">
                <a:solidFill>
                  <a:srgbClr val="C00000"/>
                </a:solidFill>
                <a:highlight>
                  <a:srgbClr val="FFFF00"/>
                </a:highlight>
                <a:latin typeface="Times New Roman" panose="02020603050405020304" pitchFamily="18" charset="0"/>
                <a:cs typeface="Times New Roman" panose="02020603050405020304" pitchFamily="18" charset="0"/>
              </a:rPr>
              <a:t>=</a:t>
            </a:r>
            <a:r>
              <a:rPr lang="en-US" sz="1600" dirty="0" err="1">
                <a:solidFill>
                  <a:srgbClr val="C00000"/>
                </a:solidFill>
                <a:highlight>
                  <a:srgbClr val="FFFF00"/>
                </a:highlight>
                <a:latin typeface="Times New Roman" panose="02020603050405020304" pitchFamily="18" charset="0"/>
                <a:cs typeface="Times New Roman" panose="02020603050405020304" pitchFamily="18" charset="0"/>
              </a:rPr>
              <a:t>P.pid</a:t>
            </a:r>
            <a:r>
              <a:rPr lang="en-US" sz="1600" dirty="0">
                <a:solidFill>
                  <a:srgbClr val="002060"/>
                </a:solidFill>
                <a:latin typeface="Times New Roman" panose="02020603050405020304" pitchFamily="18" charset="0"/>
                <a:cs typeface="Times New Roman" panose="02020603050405020304" pitchFamily="18" charset="0"/>
              </a:rPr>
              <a:t> and </a:t>
            </a:r>
            <a:r>
              <a:rPr lang="en-US" sz="1600" dirty="0" err="1">
                <a:solidFill>
                  <a:srgbClr val="002060"/>
                </a:solidFill>
                <a:latin typeface="Times New Roman" panose="02020603050405020304" pitchFamily="18" charset="0"/>
                <a:cs typeface="Times New Roman" panose="02020603050405020304" pitchFamily="18" charset="0"/>
              </a:rPr>
              <a:t>P.price</a:t>
            </a:r>
            <a:r>
              <a:rPr lang="en-US" sz="1600" dirty="0">
                <a:solidFill>
                  <a:srgbClr val="002060"/>
                </a:solidFill>
                <a:latin typeface="Times New Roman" panose="02020603050405020304" pitchFamily="18" charset="0"/>
                <a:cs typeface="Times New Roman" panose="02020603050405020304" pitchFamily="18" charset="0"/>
              </a:rPr>
              <a:t>&lt;0.50;</a:t>
            </a:r>
          </a:p>
        </p:txBody>
      </p:sp>
      <p:pic>
        <p:nvPicPr>
          <p:cNvPr id="22" name="图片 21">
            <a:extLst>
              <a:ext uri="{FF2B5EF4-FFF2-40B4-BE49-F238E27FC236}">
                <a16:creationId xmlns="" xmlns:a16="http://schemas.microsoft.com/office/drawing/2014/main" id="{22980E20-25BC-4A69-8296-2BEC6D2A08E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12222" y="1922823"/>
            <a:ext cx="1696021" cy="592390"/>
          </a:xfrm>
          <a:prstGeom prst="rect">
            <a:avLst/>
          </a:prstGeom>
        </p:spPr>
      </p:pic>
      <p:sp>
        <p:nvSpPr>
          <p:cNvPr id="23" name="Rectangle 2">
            <a:extLst>
              <a:ext uri="{FF2B5EF4-FFF2-40B4-BE49-F238E27FC236}">
                <a16:creationId xmlns="" xmlns:a16="http://schemas.microsoft.com/office/drawing/2014/main" id="{48B1A151-6E18-476C-A349-CF7EFE69939F}"/>
              </a:ext>
            </a:extLst>
          </p:cNvPr>
          <p:cNvSpPr/>
          <p:nvPr/>
        </p:nvSpPr>
        <p:spPr>
          <a:xfrm>
            <a:off x="8300653" y="2500162"/>
            <a:ext cx="663835" cy="307777"/>
          </a:xfrm>
          <a:prstGeom prst="rect">
            <a:avLst/>
          </a:prstGeom>
        </p:spPr>
        <p:txBody>
          <a:bodyPr wrap="square">
            <a:spAutoFit/>
          </a:bodyPr>
          <a:lstStyle/>
          <a:p>
            <a:pPr algn="ctr">
              <a:spcAft>
                <a:spcPts val="0"/>
              </a:spcAft>
            </a:pPr>
            <a:r>
              <a:rPr lang="en-US" sz="1400" dirty="0">
                <a:solidFill>
                  <a:srgbClr val="00B050"/>
                </a:solidFill>
                <a:latin typeface="Times New Roman" panose="02020603050405020304" pitchFamily="18" charset="0"/>
                <a:cs typeface="Times New Roman" panose="02020603050405020304" pitchFamily="18" charset="0"/>
              </a:rPr>
              <a:t>&lt;=0.5</a:t>
            </a:r>
          </a:p>
        </p:txBody>
      </p:sp>
      <p:cxnSp>
        <p:nvCxnSpPr>
          <p:cNvPr id="24" name="直接箭头连接符 23">
            <a:extLst>
              <a:ext uri="{FF2B5EF4-FFF2-40B4-BE49-F238E27FC236}">
                <a16:creationId xmlns="" xmlns:a16="http://schemas.microsoft.com/office/drawing/2014/main" id="{84D2DCA3-553A-4056-A92E-68B58019EDA0}"/>
              </a:ext>
            </a:extLst>
          </p:cNvPr>
          <p:cNvCxnSpPr/>
          <p:nvPr/>
        </p:nvCxnSpPr>
        <p:spPr bwMode="auto">
          <a:xfrm>
            <a:off x="7380312" y="1772098"/>
            <a:ext cx="0" cy="505706"/>
          </a:xfrm>
          <a:prstGeom prst="straightConnector1">
            <a:avLst/>
          </a:prstGeom>
          <a:ln w="57150">
            <a:solidFill>
              <a:srgbClr val="00B050"/>
            </a:solidFill>
            <a:headEnd type="none" w="med" len="med"/>
            <a:tailEnd type="triangle"/>
          </a:ln>
        </p:spPr>
        <p:style>
          <a:lnRef idx="3">
            <a:schemeClr val="accent1"/>
          </a:lnRef>
          <a:fillRef idx="0">
            <a:schemeClr val="accent1"/>
          </a:fillRef>
          <a:effectRef idx="2">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9"/>
                                        </p:tgtEl>
                                        <p:attrNameLst>
                                          <p:attrName>style.visibility</p:attrName>
                                        </p:attrNameLst>
                                      </p:cBhvr>
                                      <p:to>
                                        <p:strVal val="visible"/>
                                      </p:to>
                                    </p:set>
                                    <p:animEffect transition="in" filter="wipe(up)">
                                      <p:cBhvr>
                                        <p:cTn id="11" dur="500"/>
                                        <p:tgtEl>
                                          <p:spTgt spid="19"/>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par>
                          <p:cTn id="17" fill="hold">
                            <p:stCondLst>
                              <p:cond delay="500"/>
                            </p:stCondLst>
                            <p:childTnLst>
                              <p:par>
                                <p:cTn id="18" presetID="22" presetClass="entr" presetSubtype="8" fill="hold" nodeType="afterEffect">
                                  <p:stCondLst>
                                    <p:cond delay="0"/>
                                  </p:stCondLst>
                                  <p:childTnLst>
                                    <p:set>
                                      <p:cBhvr>
                                        <p:cTn id="19" dur="1" fill="hold">
                                          <p:stCondLst>
                                            <p:cond delay="0"/>
                                          </p:stCondLst>
                                        </p:cTn>
                                        <p:tgtEl>
                                          <p:spTgt spid="22"/>
                                        </p:tgtEl>
                                        <p:attrNameLst>
                                          <p:attrName>style.visibility</p:attrName>
                                        </p:attrNameLst>
                                      </p:cBhvr>
                                      <p:to>
                                        <p:strVal val="visible"/>
                                      </p:to>
                                    </p:set>
                                    <p:animEffect transition="in" filter="wipe(left)">
                                      <p:cBhvr>
                                        <p:cTn id="20" dur="500"/>
                                        <p:tgtEl>
                                          <p:spTgt spid="22"/>
                                        </p:tgtEl>
                                      </p:cBhvr>
                                    </p:animEffect>
                                  </p:childTnLst>
                                </p:cTn>
                              </p:par>
                            </p:childTnLst>
                          </p:cTn>
                        </p:par>
                        <p:par>
                          <p:cTn id="21" fill="hold">
                            <p:stCondLst>
                              <p:cond delay="1000"/>
                            </p:stCondLst>
                            <p:childTnLst>
                              <p:par>
                                <p:cTn id="22" presetID="22" presetClass="entr" presetSubtype="8" fill="hold" grpId="0" nodeType="after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wipe(left)">
                                      <p:cBhvr>
                                        <p:cTn id="24" dur="500"/>
                                        <p:tgtEl>
                                          <p:spTgt spid="23"/>
                                        </p:tgtEl>
                                      </p:cBhvr>
                                    </p:animEffect>
                                  </p:childTnLst>
                                </p:cTn>
                              </p:par>
                            </p:childTnLst>
                          </p:cTn>
                        </p:par>
                        <p:par>
                          <p:cTn id="25" fill="hold">
                            <p:stCondLst>
                              <p:cond delay="1500"/>
                            </p:stCondLst>
                            <p:childTnLst>
                              <p:par>
                                <p:cTn id="26" presetID="22" presetClass="entr" presetSubtype="1" fill="hold" nodeType="afterEffect">
                                  <p:stCondLst>
                                    <p:cond delay="0"/>
                                  </p:stCondLst>
                                  <p:childTnLst>
                                    <p:set>
                                      <p:cBhvr>
                                        <p:cTn id="27" dur="1" fill="hold">
                                          <p:stCondLst>
                                            <p:cond delay="0"/>
                                          </p:stCondLst>
                                        </p:cTn>
                                        <p:tgtEl>
                                          <p:spTgt spid="24"/>
                                        </p:tgtEl>
                                        <p:attrNameLst>
                                          <p:attrName>style.visibility</p:attrName>
                                        </p:attrNameLst>
                                      </p:cBhvr>
                                      <p:to>
                                        <p:strVal val="visible"/>
                                      </p:to>
                                    </p:set>
                                    <p:animEffect transition="in" filter="wipe(up)">
                                      <p:cBhvr>
                                        <p:cTn id="28" dur="500"/>
                                        <p:tgtEl>
                                          <p:spTgt spid="24"/>
                                        </p:tgtEl>
                                      </p:cBhvr>
                                    </p:animEffect>
                                  </p:childTnLst>
                                </p:cTn>
                              </p:par>
                            </p:childTnLst>
                          </p:cTn>
                        </p:par>
                        <p:par>
                          <p:cTn id="29" fill="hold">
                            <p:stCondLst>
                              <p:cond delay="2000"/>
                            </p:stCondLst>
                            <p:childTnLst>
                              <p:par>
                                <p:cTn id="30" presetID="22" presetClass="entr" presetSubtype="1" fill="hold"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wipe(up)">
                                      <p:cBhvr>
                                        <p:cTn id="32" dur="500"/>
                                        <p:tgtEl>
                                          <p:spTgt spid="13"/>
                                        </p:tgtEl>
                                      </p:cBhvr>
                                    </p:animEffect>
                                  </p:childTnLst>
                                </p:cTn>
                              </p:par>
                            </p:childTnLst>
                          </p:cTn>
                        </p:par>
                        <p:par>
                          <p:cTn id="33" fill="hold">
                            <p:stCondLst>
                              <p:cond delay="2500"/>
                            </p:stCondLst>
                            <p:childTnLst>
                              <p:par>
                                <p:cTn id="34" presetID="22" presetClass="entr" presetSubtype="8" fill="hold" grpId="0" nodeType="after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wipe(left)">
                                      <p:cBhvr>
                                        <p:cTn id="36" dur="500"/>
                                        <p:tgtEl>
                                          <p:spTgt spid="16"/>
                                        </p:tgtEl>
                                      </p:cBhvr>
                                    </p:animEffect>
                                  </p:childTnLst>
                                </p:cTn>
                              </p:par>
                            </p:childTnLst>
                          </p:cTn>
                        </p:par>
                        <p:par>
                          <p:cTn id="37" fill="hold">
                            <p:stCondLst>
                              <p:cond delay="3000"/>
                            </p:stCondLst>
                            <p:childTnLst>
                              <p:par>
                                <p:cTn id="38" presetID="22" presetClass="entr" presetSubtype="8" fill="hold" grpId="0" nodeType="after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wipe(left)">
                                      <p:cBhvr>
                                        <p:cTn id="40" dur="500"/>
                                        <p:tgtEl>
                                          <p:spTgt spid="11"/>
                                        </p:tgtEl>
                                      </p:cBhvr>
                                    </p:animEffect>
                                  </p:childTnLst>
                                </p:cTn>
                              </p:par>
                            </p:childTnLst>
                          </p:cTn>
                        </p:par>
                        <p:par>
                          <p:cTn id="41" fill="hold">
                            <p:stCondLst>
                              <p:cond delay="3500"/>
                            </p:stCondLst>
                            <p:childTnLst>
                              <p:par>
                                <p:cTn id="42" presetID="22" presetClass="entr" presetSubtype="8" fill="hold" nodeType="afterEffect">
                                  <p:stCondLst>
                                    <p:cond delay="0"/>
                                  </p:stCondLst>
                                  <p:childTnLst>
                                    <p:set>
                                      <p:cBhvr>
                                        <p:cTn id="43" dur="1" fill="hold">
                                          <p:stCondLst>
                                            <p:cond delay="0"/>
                                          </p:stCondLst>
                                        </p:cTn>
                                        <p:tgtEl>
                                          <p:spTgt spid="21">
                                            <p:txEl>
                                              <p:pRg st="0" end="0"/>
                                            </p:txEl>
                                          </p:spTgt>
                                        </p:tgtEl>
                                        <p:attrNameLst>
                                          <p:attrName>style.visibility</p:attrName>
                                        </p:attrNameLst>
                                      </p:cBhvr>
                                      <p:to>
                                        <p:strVal val="visible"/>
                                      </p:to>
                                    </p:set>
                                    <p:animEffect transition="in" filter="wipe(left)">
                                      <p:cBhvr>
                                        <p:cTn id="44" dur="500"/>
                                        <p:tgtEl>
                                          <p:spTgt spid="21">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2" presetClass="entr" presetSubtype="8" fill="hold" nodeType="clickEffect">
                                  <p:stCondLst>
                                    <p:cond delay="0"/>
                                  </p:stCondLst>
                                  <p:childTnLst>
                                    <p:set>
                                      <p:cBhvr>
                                        <p:cTn id="48" dur="1" fill="hold">
                                          <p:stCondLst>
                                            <p:cond delay="0"/>
                                          </p:stCondLst>
                                        </p:cTn>
                                        <p:tgtEl>
                                          <p:spTgt spid="21">
                                            <p:txEl>
                                              <p:pRg st="1" end="1"/>
                                            </p:txEl>
                                          </p:spTgt>
                                        </p:tgtEl>
                                        <p:attrNameLst>
                                          <p:attrName>style.visibility</p:attrName>
                                        </p:attrNameLst>
                                      </p:cBhvr>
                                      <p:to>
                                        <p:strVal val="visible"/>
                                      </p:to>
                                    </p:set>
                                    <p:animEffect transition="in" filter="wipe(left)">
                                      <p:cBhvr>
                                        <p:cTn id="49" dur="500"/>
                                        <p:tgtEl>
                                          <p:spTgt spid="21">
                                            <p:txEl>
                                              <p:pRg st="1" end="1"/>
                                            </p:txEl>
                                          </p:spTgt>
                                        </p:tgtEl>
                                      </p:cBhvr>
                                    </p:animEffect>
                                  </p:childTnLst>
                                </p:cTn>
                              </p:par>
                              <p:par>
                                <p:cTn id="50" presetID="22" presetClass="entr" presetSubtype="8" fill="hold" nodeType="withEffect">
                                  <p:stCondLst>
                                    <p:cond delay="0"/>
                                  </p:stCondLst>
                                  <p:childTnLst>
                                    <p:set>
                                      <p:cBhvr>
                                        <p:cTn id="51" dur="1" fill="hold">
                                          <p:stCondLst>
                                            <p:cond delay="0"/>
                                          </p:stCondLst>
                                        </p:cTn>
                                        <p:tgtEl>
                                          <p:spTgt spid="21">
                                            <p:txEl>
                                              <p:pRg st="2" end="2"/>
                                            </p:txEl>
                                          </p:spTgt>
                                        </p:tgtEl>
                                        <p:attrNameLst>
                                          <p:attrName>style.visibility</p:attrName>
                                        </p:attrNameLst>
                                      </p:cBhvr>
                                      <p:to>
                                        <p:strVal val="visible"/>
                                      </p:to>
                                    </p:set>
                                    <p:animEffect transition="in" filter="wipe(left)">
                                      <p:cBhvr>
                                        <p:cTn id="52" dur="500"/>
                                        <p:tgtEl>
                                          <p:spTgt spid="21">
                                            <p:txEl>
                                              <p:pRg st="2" end="2"/>
                                            </p:txEl>
                                          </p:spTgt>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8" fill="hold" nodeType="clickEffect">
                                  <p:stCondLst>
                                    <p:cond delay="0"/>
                                  </p:stCondLst>
                                  <p:childTnLst>
                                    <p:set>
                                      <p:cBhvr>
                                        <p:cTn id="56" dur="1" fill="hold">
                                          <p:stCondLst>
                                            <p:cond delay="0"/>
                                          </p:stCondLst>
                                        </p:cTn>
                                        <p:tgtEl>
                                          <p:spTgt spid="21">
                                            <p:txEl>
                                              <p:pRg st="3" end="3"/>
                                            </p:txEl>
                                          </p:spTgt>
                                        </p:tgtEl>
                                        <p:attrNameLst>
                                          <p:attrName>style.visibility</p:attrName>
                                        </p:attrNameLst>
                                      </p:cBhvr>
                                      <p:to>
                                        <p:strVal val="visible"/>
                                      </p:to>
                                    </p:set>
                                    <p:animEffect transition="in" filter="wipe(left)">
                                      <p:cBhvr>
                                        <p:cTn id="57" dur="500"/>
                                        <p:tgtEl>
                                          <p:spTgt spid="21">
                                            <p:txEl>
                                              <p:pRg st="3" end="3"/>
                                            </p:txEl>
                                          </p:spTgt>
                                        </p:tgtEl>
                                      </p:cBhvr>
                                    </p:animEffect>
                                  </p:childTnLst>
                                </p:cTn>
                              </p:par>
                              <p:par>
                                <p:cTn id="58" presetID="22" presetClass="entr" presetSubtype="8" fill="hold" nodeType="withEffect">
                                  <p:stCondLst>
                                    <p:cond delay="0"/>
                                  </p:stCondLst>
                                  <p:childTnLst>
                                    <p:set>
                                      <p:cBhvr>
                                        <p:cTn id="59" dur="1" fill="hold">
                                          <p:stCondLst>
                                            <p:cond delay="0"/>
                                          </p:stCondLst>
                                        </p:cTn>
                                        <p:tgtEl>
                                          <p:spTgt spid="21">
                                            <p:txEl>
                                              <p:pRg st="4" end="4"/>
                                            </p:txEl>
                                          </p:spTgt>
                                        </p:tgtEl>
                                        <p:attrNameLst>
                                          <p:attrName>style.visibility</p:attrName>
                                        </p:attrNameLst>
                                      </p:cBhvr>
                                      <p:to>
                                        <p:strVal val="visible"/>
                                      </p:to>
                                    </p:set>
                                    <p:animEffect transition="in" filter="wipe(left)">
                                      <p:cBhvr>
                                        <p:cTn id="60" dur="500"/>
                                        <p:tgtEl>
                                          <p:spTgt spid="21">
                                            <p:txEl>
                                              <p:pRg st="4" end="4"/>
                                            </p:txEl>
                                          </p:spTgt>
                                        </p:tgtEl>
                                      </p:cBhvr>
                                    </p:animEffect>
                                  </p:childTnLst>
                                </p:cTn>
                              </p:par>
                            </p:childTnLst>
                          </p:cTn>
                        </p:par>
                        <p:par>
                          <p:cTn id="61" fill="hold">
                            <p:stCondLst>
                              <p:cond delay="500"/>
                            </p:stCondLst>
                            <p:childTnLst>
                              <p:par>
                                <p:cTn id="62" presetID="22" presetClass="entr" presetSubtype="8" fill="hold" nodeType="afterEffect">
                                  <p:stCondLst>
                                    <p:cond delay="0"/>
                                  </p:stCondLst>
                                  <p:childTnLst>
                                    <p:set>
                                      <p:cBhvr>
                                        <p:cTn id="63" dur="1" fill="hold">
                                          <p:stCondLst>
                                            <p:cond delay="0"/>
                                          </p:stCondLst>
                                        </p:cTn>
                                        <p:tgtEl>
                                          <p:spTgt spid="21">
                                            <p:txEl>
                                              <p:pRg st="5" end="5"/>
                                            </p:txEl>
                                          </p:spTgt>
                                        </p:tgtEl>
                                        <p:attrNameLst>
                                          <p:attrName>style.visibility</p:attrName>
                                        </p:attrNameLst>
                                      </p:cBhvr>
                                      <p:to>
                                        <p:strVal val="visible"/>
                                      </p:to>
                                    </p:set>
                                    <p:animEffect transition="in" filter="wipe(left)">
                                      <p:cBhvr>
                                        <p:cTn id="64" dur="500"/>
                                        <p:tgtEl>
                                          <p:spTgt spid="21">
                                            <p:txEl>
                                              <p:pRg st="5" end="5"/>
                                            </p:txEl>
                                          </p:spTgt>
                                        </p:tgtEl>
                                      </p:cBhvr>
                                    </p:animEffect>
                                  </p:childTnLst>
                                </p:cTn>
                              </p:par>
                              <p:par>
                                <p:cTn id="65" presetID="22" presetClass="entr" presetSubtype="8" fill="hold" nodeType="withEffect">
                                  <p:stCondLst>
                                    <p:cond delay="0"/>
                                  </p:stCondLst>
                                  <p:childTnLst>
                                    <p:set>
                                      <p:cBhvr>
                                        <p:cTn id="66" dur="1" fill="hold">
                                          <p:stCondLst>
                                            <p:cond delay="0"/>
                                          </p:stCondLst>
                                        </p:cTn>
                                        <p:tgtEl>
                                          <p:spTgt spid="21">
                                            <p:txEl>
                                              <p:pRg st="6" end="6"/>
                                            </p:txEl>
                                          </p:spTgt>
                                        </p:tgtEl>
                                        <p:attrNameLst>
                                          <p:attrName>style.visibility</p:attrName>
                                        </p:attrNameLst>
                                      </p:cBhvr>
                                      <p:to>
                                        <p:strVal val="visible"/>
                                      </p:to>
                                    </p:set>
                                    <p:animEffect transition="in" filter="wipe(left)">
                                      <p:cBhvr>
                                        <p:cTn id="67" dur="500"/>
                                        <p:tgtEl>
                                          <p:spTgt spid="21">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6" grpId="0" animBg="1"/>
      <p:bldP spid="2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66323"/>
            <a:ext cx="9144000" cy="3354765"/>
          </a:xfrm>
          <a:prstGeom prst="rect">
            <a:avLst/>
          </a:prstGeom>
        </p:spPr>
        <p:txBody>
          <a:bodyPr wrap="square">
            <a:spAutoFit/>
          </a:bodyPr>
          <a:lstStyle/>
          <a:p>
            <a:pPr>
              <a:lnSpc>
                <a:spcPct val="150000"/>
              </a:lnSpc>
            </a:pPr>
            <a:r>
              <a:rPr lang="en-US" sz="2400" dirty="0">
                <a:solidFill>
                  <a:srgbClr val="7030A0"/>
                </a:solidFill>
                <a:latin typeface="Times New Roman" panose="02020603050405020304" pitchFamily="18" charset="0"/>
                <a:cs typeface="Times New Roman" panose="02020603050405020304" pitchFamily="18" charset="0"/>
              </a:rPr>
              <a:t>3. Outer Join </a:t>
            </a:r>
          </a:p>
          <a:p>
            <a:pPr>
              <a:spcBef>
                <a:spcPts val="0"/>
              </a:spcBef>
            </a:pPr>
            <a:r>
              <a:rPr lang="en-US" sz="2400" dirty="0">
                <a:solidFill>
                  <a:srgbClr val="7030A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[1] Form:     </a:t>
            </a:r>
            <a:r>
              <a:rPr lang="en-US" sz="2200" dirty="0">
                <a:solidFill>
                  <a:srgbClr val="002060"/>
                </a:solidFill>
                <a:latin typeface="Times New Roman" panose="02020603050405020304" pitchFamily="18" charset="0"/>
                <a:cs typeface="Times New Roman" panose="02020603050405020304" pitchFamily="18" charset="0"/>
              </a:rPr>
              <a:t>[ {LEFT | RIGHT | FULL} [OUTER] ] JOIN</a:t>
            </a:r>
          </a:p>
          <a:p>
            <a:pPr>
              <a:spcBef>
                <a:spcPts val="1200"/>
              </a:spcBef>
            </a:pP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[2] Example</a:t>
            </a:r>
            <a:r>
              <a:rPr lang="en-US" sz="2200" dirty="0">
                <a:solidFill>
                  <a:srgbClr val="002060"/>
                </a:solidFill>
                <a:latin typeface="Times New Roman" panose="02020603050405020304" pitchFamily="18" charset="0"/>
                <a:cs typeface="Times New Roman" panose="02020603050405020304" pitchFamily="18" charset="0"/>
              </a:rPr>
              <a:t>: </a:t>
            </a:r>
            <a:r>
              <a:rPr lang="en-US" sz="1100" dirty="0">
                <a:solidFill>
                  <a:srgbClr val="002060"/>
                </a:solidFill>
                <a:latin typeface="Times New Roman" panose="02020603050405020304" pitchFamily="18" charset="0"/>
                <a:cs typeface="Times New Roman" panose="02020603050405020304" pitchFamily="18" charset="0"/>
              </a:rPr>
              <a:t>(p120) </a:t>
            </a:r>
            <a:r>
              <a:rPr lang="en-US" sz="2200" dirty="0">
                <a:solidFill>
                  <a:srgbClr val="7030A0"/>
                </a:solidFill>
                <a:latin typeface="+mn-lt"/>
                <a:cs typeface="Times New Roman" panose="02020603050405020304" pitchFamily="18" charset="0"/>
              </a:rPr>
              <a:t>We have two tables S and T</a:t>
            </a:r>
          </a:p>
          <a:p>
            <a:pPr>
              <a:spcBef>
                <a:spcPts val="1200"/>
              </a:spcBef>
            </a:pPr>
            <a:r>
              <a:rPr lang="en-US" sz="2200" dirty="0">
                <a:solidFill>
                  <a:srgbClr val="002060"/>
                </a:solidFill>
                <a:latin typeface="Times New Roman" panose="02020603050405020304" pitchFamily="18" charset="0"/>
                <a:cs typeface="Times New Roman" panose="02020603050405020304" pitchFamily="18" charset="0"/>
              </a:rPr>
              <a:t>        (a)   </a:t>
            </a:r>
            <a:r>
              <a:rPr lang="en-US" sz="2200" dirty="0">
                <a:solidFill>
                  <a:srgbClr val="7030A0"/>
                </a:solidFill>
                <a:latin typeface="Times New Roman" panose="02020603050405020304" pitchFamily="18" charset="0"/>
                <a:cs typeface="Times New Roman" panose="02020603050405020304" pitchFamily="18" charset="0"/>
              </a:rPr>
              <a:t>select</a:t>
            </a:r>
            <a:r>
              <a:rPr lang="en-US" sz="2200" dirty="0">
                <a:solidFill>
                  <a:srgbClr val="002060"/>
                </a:solidFill>
                <a:latin typeface="Times New Roman" panose="02020603050405020304" pitchFamily="18" charset="0"/>
                <a:cs typeface="Times New Roman" panose="02020603050405020304" pitchFamily="18" charset="0"/>
              </a:rPr>
              <a:t> * </a:t>
            </a:r>
            <a:r>
              <a:rPr lang="en-US" sz="2200" dirty="0">
                <a:solidFill>
                  <a:srgbClr val="7030A0"/>
                </a:solidFill>
                <a:latin typeface="Times New Roman" panose="02020603050405020304" pitchFamily="18" charset="0"/>
                <a:cs typeface="Times New Roman" panose="02020603050405020304" pitchFamily="18" charset="0"/>
              </a:rPr>
              <a:t>from</a:t>
            </a:r>
            <a:r>
              <a:rPr lang="en-US" sz="2200" dirty="0">
                <a:solidFill>
                  <a:srgbClr val="002060"/>
                </a:solidFill>
                <a:latin typeface="Times New Roman" panose="02020603050405020304" pitchFamily="18" charset="0"/>
                <a:cs typeface="Times New Roman" panose="02020603050405020304" pitchFamily="18" charset="0"/>
              </a:rPr>
              <a:t> S </a:t>
            </a:r>
            <a:r>
              <a:rPr lang="en-US" sz="2200" dirty="0">
                <a:solidFill>
                  <a:srgbClr val="C00000"/>
                </a:solidFill>
                <a:latin typeface="Times New Roman" panose="02020603050405020304" pitchFamily="18" charset="0"/>
                <a:cs typeface="Times New Roman" panose="02020603050405020304" pitchFamily="18" charset="0"/>
              </a:rPr>
              <a:t>full</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outer</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join</a:t>
            </a:r>
            <a:r>
              <a:rPr lang="en-US" sz="2200" dirty="0">
                <a:solidFill>
                  <a:srgbClr val="002060"/>
                </a:solidFill>
                <a:latin typeface="Times New Roman" panose="02020603050405020304" pitchFamily="18" charset="0"/>
                <a:cs typeface="Times New Roman" panose="02020603050405020304" pitchFamily="18" charset="0"/>
              </a:rPr>
              <a:t> T </a:t>
            </a:r>
            <a:r>
              <a:rPr lang="en-US" sz="2200" dirty="0">
                <a:solidFill>
                  <a:srgbClr val="C00000"/>
                </a:solidFill>
                <a:latin typeface="Times New Roman" panose="02020603050405020304" pitchFamily="18" charset="0"/>
                <a:cs typeface="Times New Roman" panose="02020603050405020304" pitchFamily="18" charset="0"/>
              </a:rPr>
              <a:t>using</a:t>
            </a:r>
            <a:r>
              <a:rPr lang="en-US" sz="2200" dirty="0">
                <a:solidFill>
                  <a:srgbClr val="002060"/>
                </a:solidFill>
                <a:latin typeface="Times New Roman" panose="02020603050405020304" pitchFamily="18" charset="0"/>
                <a:cs typeface="Times New Roman" panose="02020603050405020304" pitchFamily="18" charset="0"/>
              </a:rPr>
              <a:t>(A) ;</a:t>
            </a:r>
          </a:p>
          <a:p>
            <a:pPr>
              <a:spcBef>
                <a:spcPts val="1200"/>
              </a:spcBef>
            </a:pPr>
            <a:r>
              <a:rPr lang="en-US" sz="2200" dirty="0">
                <a:solidFill>
                  <a:srgbClr val="002060"/>
                </a:solidFill>
                <a:latin typeface="Times New Roman" panose="02020603050405020304" pitchFamily="18" charset="0"/>
                <a:cs typeface="Times New Roman" panose="02020603050405020304" pitchFamily="18" charset="0"/>
              </a:rPr>
              <a:t>        (b)   </a:t>
            </a:r>
            <a:r>
              <a:rPr lang="en-US" sz="2200" dirty="0">
                <a:solidFill>
                  <a:srgbClr val="7030A0"/>
                </a:solidFill>
                <a:latin typeface="Times New Roman" panose="02020603050405020304" pitchFamily="18" charset="0"/>
                <a:cs typeface="Times New Roman" panose="02020603050405020304" pitchFamily="18" charset="0"/>
              </a:rPr>
              <a:t>select</a:t>
            </a:r>
            <a:r>
              <a:rPr lang="en-US" sz="2200" dirty="0">
                <a:solidFill>
                  <a:srgbClr val="002060"/>
                </a:solidFill>
                <a:latin typeface="Times New Roman" panose="02020603050405020304" pitchFamily="18" charset="0"/>
                <a:cs typeface="Times New Roman" panose="02020603050405020304" pitchFamily="18" charset="0"/>
              </a:rPr>
              <a:t> * </a:t>
            </a:r>
            <a:r>
              <a:rPr lang="en-US" sz="2200" dirty="0">
                <a:solidFill>
                  <a:srgbClr val="7030A0"/>
                </a:solidFill>
                <a:latin typeface="Times New Roman" panose="02020603050405020304" pitchFamily="18" charset="0"/>
                <a:cs typeface="Times New Roman" panose="02020603050405020304" pitchFamily="18" charset="0"/>
              </a:rPr>
              <a:t>from</a:t>
            </a:r>
            <a:r>
              <a:rPr lang="en-US" sz="2200" dirty="0">
                <a:solidFill>
                  <a:srgbClr val="002060"/>
                </a:solidFill>
                <a:latin typeface="Times New Roman" panose="02020603050405020304" pitchFamily="18" charset="0"/>
                <a:cs typeface="Times New Roman" panose="02020603050405020304" pitchFamily="18" charset="0"/>
              </a:rPr>
              <a:t> S </a:t>
            </a:r>
            <a:r>
              <a:rPr lang="en-US" sz="2200" dirty="0">
                <a:solidFill>
                  <a:srgbClr val="C00000"/>
                </a:solidFill>
                <a:latin typeface="Times New Roman" panose="02020603050405020304" pitchFamily="18" charset="0"/>
                <a:cs typeface="Times New Roman" panose="02020603050405020304" pitchFamily="18" charset="0"/>
              </a:rPr>
              <a:t>left</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outer</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join</a:t>
            </a:r>
            <a:r>
              <a:rPr lang="en-US" sz="2200" dirty="0">
                <a:solidFill>
                  <a:srgbClr val="002060"/>
                </a:solidFill>
                <a:latin typeface="Times New Roman" panose="02020603050405020304" pitchFamily="18" charset="0"/>
                <a:cs typeface="Times New Roman" panose="02020603050405020304" pitchFamily="18" charset="0"/>
              </a:rPr>
              <a:t> T </a:t>
            </a:r>
            <a:r>
              <a:rPr lang="en-US" sz="2200" dirty="0">
                <a:solidFill>
                  <a:srgbClr val="C00000"/>
                </a:solidFill>
                <a:latin typeface="Times New Roman" panose="02020603050405020304" pitchFamily="18" charset="0"/>
                <a:cs typeface="Times New Roman" panose="02020603050405020304" pitchFamily="18" charset="0"/>
              </a:rPr>
              <a:t>using</a:t>
            </a:r>
            <a:r>
              <a:rPr lang="en-US" sz="2200" dirty="0">
                <a:solidFill>
                  <a:srgbClr val="002060"/>
                </a:solidFill>
                <a:latin typeface="Times New Roman" panose="02020603050405020304" pitchFamily="18" charset="0"/>
                <a:cs typeface="Times New Roman" panose="02020603050405020304" pitchFamily="18" charset="0"/>
              </a:rPr>
              <a:t>(A) </a:t>
            </a:r>
          </a:p>
          <a:p>
            <a:pPr>
              <a:spcBef>
                <a:spcPts val="600"/>
              </a:spcBef>
            </a:pPr>
            <a:r>
              <a:rPr lang="en-US" sz="2200" dirty="0">
                <a:solidFill>
                  <a:srgbClr val="002060"/>
                </a:solidFill>
                <a:latin typeface="Times New Roman" panose="02020603050405020304" pitchFamily="18" charset="0"/>
                <a:cs typeface="Times New Roman" panose="02020603050405020304" pitchFamily="18" charset="0"/>
              </a:rPr>
              <a:t>                           UNION </a:t>
            </a:r>
            <a:r>
              <a:rPr lang="en-US" sz="2200" dirty="0">
                <a:solidFill>
                  <a:srgbClr val="7030A0"/>
                </a:solidFill>
                <a:latin typeface="Times New Roman" panose="02020603050405020304" pitchFamily="18" charset="0"/>
                <a:cs typeface="Times New Roman" panose="02020603050405020304" pitchFamily="18" charset="0"/>
              </a:rPr>
              <a:t>select</a:t>
            </a:r>
            <a:r>
              <a:rPr lang="en-US" sz="2200" dirty="0">
                <a:solidFill>
                  <a:srgbClr val="002060"/>
                </a:solidFill>
                <a:latin typeface="Times New Roman" panose="02020603050405020304" pitchFamily="18" charset="0"/>
                <a:cs typeface="Times New Roman" panose="02020603050405020304" pitchFamily="18" charset="0"/>
              </a:rPr>
              <a:t> * </a:t>
            </a:r>
            <a:r>
              <a:rPr lang="en-US" sz="2200" dirty="0">
                <a:solidFill>
                  <a:srgbClr val="7030A0"/>
                </a:solidFill>
                <a:latin typeface="Times New Roman" panose="02020603050405020304" pitchFamily="18" charset="0"/>
                <a:cs typeface="Times New Roman" panose="02020603050405020304" pitchFamily="18" charset="0"/>
              </a:rPr>
              <a:t>from</a:t>
            </a:r>
            <a:r>
              <a:rPr lang="en-US" sz="2200" dirty="0">
                <a:solidFill>
                  <a:srgbClr val="002060"/>
                </a:solidFill>
                <a:latin typeface="Times New Roman" panose="02020603050405020304" pitchFamily="18" charset="0"/>
                <a:cs typeface="Times New Roman" panose="02020603050405020304" pitchFamily="18" charset="0"/>
              </a:rPr>
              <a:t> S </a:t>
            </a:r>
            <a:r>
              <a:rPr lang="en-US" sz="2200" dirty="0">
                <a:solidFill>
                  <a:srgbClr val="C00000"/>
                </a:solidFill>
                <a:latin typeface="Times New Roman" panose="02020603050405020304" pitchFamily="18" charset="0"/>
                <a:cs typeface="Times New Roman" panose="02020603050405020304" pitchFamily="18" charset="0"/>
              </a:rPr>
              <a:t>right</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outer</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join</a:t>
            </a:r>
            <a:r>
              <a:rPr lang="en-US" sz="2200" dirty="0">
                <a:solidFill>
                  <a:srgbClr val="002060"/>
                </a:solidFill>
                <a:latin typeface="Times New Roman" panose="02020603050405020304" pitchFamily="18" charset="0"/>
                <a:cs typeface="Times New Roman" panose="02020603050405020304" pitchFamily="18" charset="0"/>
              </a:rPr>
              <a:t> T </a:t>
            </a:r>
            <a:r>
              <a:rPr lang="en-US" sz="2200" dirty="0">
                <a:solidFill>
                  <a:srgbClr val="C00000"/>
                </a:solidFill>
                <a:latin typeface="Times New Roman" panose="02020603050405020304" pitchFamily="18" charset="0"/>
                <a:cs typeface="Times New Roman" panose="02020603050405020304" pitchFamily="18" charset="0"/>
              </a:rPr>
              <a:t>using</a:t>
            </a:r>
            <a:r>
              <a:rPr lang="en-US" sz="2200" dirty="0">
                <a:solidFill>
                  <a:srgbClr val="002060"/>
                </a:solidFill>
                <a:latin typeface="Times New Roman" panose="02020603050405020304" pitchFamily="18" charset="0"/>
                <a:cs typeface="Times New Roman" panose="02020603050405020304" pitchFamily="18" charset="0"/>
              </a:rPr>
              <a:t>(A);</a:t>
            </a:r>
          </a:p>
          <a:p>
            <a:pPr>
              <a:spcBef>
                <a:spcPts val="600"/>
              </a:spcBef>
            </a:pPr>
            <a:r>
              <a:rPr lang="en-US" sz="2400" dirty="0">
                <a:solidFill>
                  <a:srgbClr val="002060"/>
                </a:solidFill>
                <a:latin typeface="Times New Roman" panose="02020603050405020304" pitchFamily="18" charset="0"/>
                <a:cs typeface="Times New Roman" panose="02020603050405020304" pitchFamily="18" charset="0"/>
              </a:rPr>
              <a:t>           			   (a)                                              (b)</a:t>
            </a:r>
          </a:p>
        </p:txBody>
      </p:sp>
      <p:graphicFrame>
        <p:nvGraphicFramePr>
          <p:cNvPr id="4" name="Table 3"/>
          <p:cNvGraphicFramePr>
            <a:graphicFrameLocks noGrp="1"/>
          </p:cNvGraphicFramePr>
          <p:nvPr/>
        </p:nvGraphicFramePr>
        <p:xfrm>
          <a:off x="1799691" y="4120730"/>
          <a:ext cx="2880320" cy="2118360"/>
        </p:xfrm>
        <a:graphic>
          <a:graphicData uri="http://schemas.openxmlformats.org/drawingml/2006/table">
            <a:tbl>
              <a:tblPr firstRow="1" bandRow="1">
                <a:tableStyleId>{5C22544A-7EE6-4342-B048-85BDC9FD1C3A}</a:tableStyleId>
              </a:tblPr>
              <a:tblGrid>
                <a:gridCol w="720080">
                  <a:extLst>
                    <a:ext uri="{9D8B030D-6E8A-4147-A177-3AD203B41FA5}">
                      <a16:colId xmlns="" xmlns:a16="http://schemas.microsoft.com/office/drawing/2014/main" val="20000"/>
                    </a:ext>
                  </a:extLst>
                </a:gridCol>
                <a:gridCol w="720080">
                  <a:extLst>
                    <a:ext uri="{9D8B030D-6E8A-4147-A177-3AD203B41FA5}">
                      <a16:colId xmlns="" xmlns:a16="http://schemas.microsoft.com/office/drawing/2014/main" val="20001"/>
                    </a:ext>
                  </a:extLst>
                </a:gridCol>
                <a:gridCol w="720080">
                  <a:extLst>
                    <a:ext uri="{9D8B030D-6E8A-4147-A177-3AD203B41FA5}">
                      <a16:colId xmlns="" xmlns:a16="http://schemas.microsoft.com/office/drawing/2014/main" val="20002"/>
                    </a:ext>
                  </a:extLst>
                </a:gridCol>
                <a:gridCol w="720080">
                  <a:extLst>
                    <a:ext uri="{9D8B030D-6E8A-4147-A177-3AD203B41FA5}">
                      <a16:colId xmlns="" xmlns:a16="http://schemas.microsoft.com/office/drawing/2014/main" val="20003"/>
                    </a:ext>
                  </a:extLst>
                </a:gridCol>
              </a:tblGrid>
              <a:tr h="420328">
                <a:tc>
                  <a:txBody>
                    <a:bodyPr/>
                    <a:lstStyle/>
                    <a:p>
                      <a:pPr algn="ctr"/>
                      <a:r>
                        <a:rPr lang="en-US" sz="2200" b="1" dirty="0">
                          <a:solidFill>
                            <a:srgbClr val="FF0000"/>
                          </a:solidFill>
                        </a:rPr>
                        <a:t>S.C</a:t>
                      </a:r>
                    </a:p>
                  </a:txBody>
                  <a:tcPr/>
                </a:tc>
                <a:tc>
                  <a:txBody>
                    <a:bodyPr/>
                    <a:lstStyle/>
                    <a:p>
                      <a:pPr algn="ctr"/>
                      <a:r>
                        <a:rPr lang="en-US" sz="2200" b="1" dirty="0">
                          <a:solidFill>
                            <a:srgbClr val="FF0000"/>
                          </a:solidFill>
                        </a:rPr>
                        <a:t>S.A</a:t>
                      </a:r>
                    </a:p>
                  </a:txBody>
                  <a:tcPr/>
                </a:tc>
                <a:tc>
                  <a:txBody>
                    <a:bodyPr/>
                    <a:lstStyle/>
                    <a:p>
                      <a:pPr algn="ctr"/>
                      <a:r>
                        <a:rPr lang="en-US" sz="2200" b="1" dirty="0">
                          <a:solidFill>
                            <a:srgbClr val="FFFF00"/>
                          </a:solidFill>
                        </a:rPr>
                        <a:t>T.A</a:t>
                      </a:r>
                    </a:p>
                  </a:txBody>
                  <a:tcPr/>
                </a:tc>
                <a:tc>
                  <a:txBody>
                    <a:bodyPr/>
                    <a:lstStyle/>
                    <a:p>
                      <a:pPr algn="ctr"/>
                      <a:r>
                        <a:rPr lang="en-US" sz="2200" b="1" dirty="0">
                          <a:solidFill>
                            <a:srgbClr val="FFFF00"/>
                          </a:solidFill>
                        </a:rPr>
                        <a:t>T.B</a:t>
                      </a:r>
                    </a:p>
                  </a:txBody>
                  <a:tcPr/>
                </a:tc>
                <a:extLst>
                  <a:ext uri="{0D108BD9-81ED-4DB2-BD59-A6C34878D82A}">
                    <a16:rowId xmlns="" xmlns:a16="http://schemas.microsoft.com/office/drawing/2014/main" val="10000"/>
                  </a:ext>
                </a:extLst>
              </a:tr>
              <a:tr h="378042">
                <a:tc>
                  <a:txBody>
                    <a:bodyPr/>
                    <a:lstStyle/>
                    <a:p>
                      <a:pPr algn="ctr"/>
                      <a:r>
                        <a:rPr lang="en-US" sz="2200" b="1" dirty="0">
                          <a:solidFill>
                            <a:srgbClr val="000000"/>
                          </a:solidFill>
                        </a:rPr>
                        <a:t>c1</a:t>
                      </a:r>
                    </a:p>
                  </a:txBody>
                  <a:tcPr/>
                </a:tc>
                <a:tc>
                  <a:txBody>
                    <a:bodyPr/>
                    <a:lstStyle/>
                    <a:p>
                      <a:pPr algn="ctr"/>
                      <a:r>
                        <a:rPr lang="en-US" sz="2200" b="1" dirty="0">
                          <a:solidFill>
                            <a:srgbClr val="000000"/>
                          </a:solidFill>
                        </a:rPr>
                        <a:t>a1</a:t>
                      </a:r>
                    </a:p>
                  </a:txBody>
                  <a:tcPr/>
                </a:tc>
                <a:tc>
                  <a:txBody>
                    <a:bodyPr/>
                    <a:lstStyle/>
                    <a:p>
                      <a:pPr algn="ctr"/>
                      <a:r>
                        <a:rPr lang="en-US" sz="2200" b="1" dirty="0">
                          <a:solidFill>
                            <a:srgbClr val="7030A0"/>
                          </a:solidFill>
                        </a:rPr>
                        <a:t>a1</a:t>
                      </a:r>
                    </a:p>
                  </a:txBody>
                  <a:tcPr/>
                </a:tc>
                <a:tc>
                  <a:txBody>
                    <a:bodyPr/>
                    <a:lstStyle/>
                    <a:p>
                      <a:pPr algn="ctr"/>
                      <a:r>
                        <a:rPr lang="en-US" sz="2200" b="1" dirty="0">
                          <a:solidFill>
                            <a:srgbClr val="7030A0"/>
                          </a:solidFill>
                        </a:rPr>
                        <a:t>b1</a:t>
                      </a:r>
                    </a:p>
                  </a:txBody>
                  <a:tcPr/>
                </a:tc>
                <a:extLst>
                  <a:ext uri="{0D108BD9-81ED-4DB2-BD59-A6C34878D82A}">
                    <a16:rowId xmlns="" xmlns:a16="http://schemas.microsoft.com/office/drawing/2014/main" val="10001"/>
                  </a:ext>
                </a:extLst>
              </a:tr>
              <a:tr h="424898">
                <a:tc>
                  <a:txBody>
                    <a:bodyPr/>
                    <a:lstStyle/>
                    <a:p>
                      <a:pPr algn="ctr"/>
                      <a:r>
                        <a:rPr lang="en-US" sz="2200" b="1" dirty="0">
                          <a:solidFill>
                            <a:srgbClr val="000000"/>
                          </a:solidFill>
                        </a:rPr>
                        <a:t>c3</a:t>
                      </a:r>
                    </a:p>
                  </a:txBody>
                  <a:tcPr/>
                </a:tc>
                <a:tc>
                  <a:txBody>
                    <a:bodyPr/>
                    <a:lstStyle/>
                    <a:p>
                      <a:pPr algn="ctr"/>
                      <a:r>
                        <a:rPr lang="en-US" sz="2200" b="1" dirty="0">
                          <a:solidFill>
                            <a:srgbClr val="000000"/>
                          </a:solidFill>
                        </a:rPr>
                        <a:t>a3</a:t>
                      </a:r>
                    </a:p>
                  </a:txBody>
                  <a:tcPr/>
                </a:tc>
                <a:tc>
                  <a:txBody>
                    <a:bodyPr/>
                    <a:lstStyle/>
                    <a:p>
                      <a:pPr algn="ctr"/>
                      <a:r>
                        <a:rPr lang="en-US" sz="2200" b="1" dirty="0">
                          <a:solidFill>
                            <a:srgbClr val="7030A0"/>
                          </a:solidFill>
                        </a:rPr>
                        <a:t>a3</a:t>
                      </a:r>
                    </a:p>
                  </a:txBody>
                  <a:tcPr/>
                </a:tc>
                <a:tc>
                  <a:txBody>
                    <a:bodyPr/>
                    <a:lstStyle/>
                    <a:p>
                      <a:pPr algn="ctr"/>
                      <a:r>
                        <a:rPr lang="en-US" sz="2200" b="1" dirty="0">
                          <a:solidFill>
                            <a:srgbClr val="7030A0"/>
                          </a:solidFill>
                        </a:rPr>
                        <a:t>b3</a:t>
                      </a:r>
                    </a:p>
                  </a:txBody>
                  <a:tcPr/>
                </a:tc>
                <a:extLst>
                  <a:ext uri="{0D108BD9-81ED-4DB2-BD59-A6C34878D82A}">
                    <a16:rowId xmlns="" xmlns:a16="http://schemas.microsoft.com/office/drawing/2014/main" val="10002"/>
                  </a:ext>
                </a:extLst>
              </a:tr>
              <a:tr h="486054">
                <a:tc>
                  <a:txBody>
                    <a:bodyPr/>
                    <a:lstStyle/>
                    <a:p>
                      <a:pPr algn="ctr"/>
                      <a:r>
                        <a:rPr lang="en-US" sz="2200" b="1" dirty="0">
                          <a:solidFill>
                            <a:srgbClr val="000000"/>
                          </a:solidFill>
                        </a:rPr>
                        <a:t>c4</a:t>
                      </a:r>
                    </a:p>
                  </a:txBody>
                  <a:tcPr/>
                </a:tc>
                <a:tc>
                  <a:txBody>
                    <a:bodyPr/>
                    <a:lstStyle/>
                    <a:p>
                      <a:pPr algn="ctr"/>
                      <a:r>
                        <a:rPr lang="en-US" sz="2200" b="1" dirty="0">
                          <a:solidFill>
                            <a:srgbClr val="000000"/>
                          </a:solidFill>
                        </a:rPr>
                        <a:t>a4</a:t>
                      </a:r>
                    </a:p>
                  </a:txBody>
                  <a:tcPr/>
                </a:tc>
                <a:tc>
                  <a:txBody>
                    <a:bodyPr/>
                    <a:lstStyle/>
                    <a:p>
                      <a:pPr algn="ctr"/>
                      <a:r>
                        <a:rPr lang="en-US" sz="2200" b="1" dirty="0">
                          <a:solidFill>
                            <a:srgbClr val="7030A0"/>
                          </a:solidFill>
                        </a:rPr>
                        <a:t>a4</a:t>
                      </a:r>
                    </a:p>
                    <a:p>
                      <a:pPr algn="ctr">
                        <a:spcBef>
                          <a:spcPts val="600"/>
                        </a:spcBef>
                      </a:pPr>
                      <a:r>
                        <a:rPr lang="en-US" sz="2200" b="1" dirty="0">
                          <a:solidFill>
                            <a:srgbClr val="7030A0"/>
                          </a:solidFill>
                        </a:rPr>
                        <a:t>a2</a:t>
                      </a:r>
                    </a:p>
                  </a:txBody>
                  <a:tcPr/>
                </a:tc>
                <a:tc>
                  <a:txBody>
                    <a:bodyPr/>
                    <a:lstStyle/>
                    <a:p>
                      <a:pPr algn="ctr"/>
                      <a:r>
                        <a:rPr lang="en-US" sz="2200" b="1" dirty="0">
                          <a:solidFill>
                            <a:srgbClr val="7030A0"/>
                          </a:solidFill>
                        </a:rPr>
                        <a:t>b4</a:t>
                      </a:r>
                    </a:p>
                    <a:p>
                      <a:pPr algn="ctr">
                        <a:spcBef>
                          <a:spcPts val="600"/>
                        </a:spcBef>
                      </a:pPr>
                      <a:r>
                        <a:rPr lang="en-US" sz="2200" b="1" dirty="0">
                          <a:solidFill>
                            <a:srgbClr val="7030A0"/>
                          </a:solidFill>
                        </a:rPr>
                        <a:t>b2</a:t>
                      </a:r>
                    </a:p>
                  </a:txBody>
                  <a:tcPr/>
                </a:tc>
                <a:extLst>
                  <a:ext uri="{0D108BD9-81ED-4DB2-BD59-A6C34878D82A}">
                    <a16:rowId xmlns="" xmlns:a16="http://schemas.microsoft.com/office/drawing/2014/main" val="10003"/>
                  </a:ext>
                </a:extLst>
              </a:tr>
            </a:tbl>
          </a:graphicData>
        </a:graphic>
      </p:graphicFrame>
      <p:graphicFrame>
        <p:nvGraphicFramePr>
          <p:cNvPr id="5" name="Table 4"/>
          <p:cNvGraphicFramePr>
            <a:graphicFrameLocks noGrp="1"/>
          </p:cNvGraphicFramePr>
          <p:nvPr/>
        </p:nvGraphicFramePr>
        <p:xfrm>
          <a:off x="6084168" y="4113110"/>
          <a:ext cx="2078605" cy="2133600"/>
        </p:xfrm>
        <a:graphic>
          <a:graphicData uri="http://schemas.openxmlformats.org/drawingml/2006/table">
            <a:tbl>
              <a:tblPr firstRow="1" bandRow="1">
                <a:tableStyleId>{5C22544A-7EE6-4342-B048-85BDC9FD1C3A}</a:tableStyleId>
              </a:tblPr>
              <a:tblGrid>
                <a:gridCol w="720080">
                  <a:extLst>
                    <a:ext uri="{9D8B030D-6E8A-4147-A177-3AD203B41FA5}">
                      <a16:colId xmlns="" xmlns:a16="http://schemas.microsoft.com/office/drawing/2014/main" val="20000"/>
                    </a:ext>
                  </a:extLst>
                </a:gridCol>
                <a:gridCol w="677317">
                  <a:extLst>
                    <a:ext uri="{9D8B030D-6E8A-4147-A177-3AD203B41FA5}">
                      <a16:colId xmlns="" xmlns:a16="http://schemas.microsoft.com/office/drawing/2014/main" val="20001"/>
                    </a:ext>
                  </a:extLst>
                </a:gridCol>
                <a:gridCol w="681208">
                  <a:extLst>
                    <a:ext uri="{9D8B030D-6E8A-4147-A177-3AD203B41FA5}">
                      <a16:colId xmlns="" xmlns:a16="http://schemas.microsoft.com/office/drawing/2014/main" val="20002"/>
                    </a:ext>
                  </a:extLst>
                </a:gridCol>
              </a:tblGrid>
              <a:tr h="389207">
                <a:tc>
                  <a:txBody>
                    <a:bodyPr/>
                    <a:lstStyle/>
                    <a:p>
                      <a:pPr algn="ctr"/>
                      <a:r>
                        <a:rPr lang="en-US" sz="2200" b="1" dirty="0">
                          <a:solidFill>
                            <a:srgbClr val="FF0000"/>
                          </a:solidFill>
                        </a:rPr>
                        <a:t>S.C</a:t>
                      </a:r>
                    </a:p>
                  </a:txBody>
                  <a:tcPr/>
                </a:tc>
                <a:tc>
                  <a:txBody>
                    <a:bodyPr/>
                    <a:lstStyle/>
                    <a:p>
                      <a:pPr algn="ctr"/>
                      <a:r>
                        <a:rPr lang="en-US" sz="2200" b="1" dirty="0">
                          <a:solidFill>
                            <a:srgbClr val="FF0000"/>
                          </a:solidFill>
                        </a:rPr>
                        <a:t>S.A</a:t>
                      </a:r>
                    </a:p>
                  </a:txBody>
                  <a:tcPr/>
                </a:tc>
                <a:tc>
                  <a:txBody>
                    <a:bodyPr/>
                    <a:lstStyle/>
                    <a:p>
                      <a:pPr algn="ctr"/>
                      <a:r>
                        <a:rPr lang="en-US" sz="2200" b="1" dirty="0">
                          <a:solidFill>
                            <a:srgbClr val="FFFF00"/>
                          </a:solidFill>
                        </a:rPr>
                        <a:t>T.B</a:t>
                      </a:r>
                    </a:p>
                  </a:txBody>
                  <a:tcPr/>
                </a:tc>
                <a:extLst>
                  <a:ext uri="{0D108BD9-81ED-4DB2-BD59-A6C34878D82A}">
                    <a16:rowId xmlns="" xmlns:a16="http://schemas.microsoft.com/office/drawing/2014/main" val="10000"/>
                  </a:ext>
                </a:extLst>
              </a:tr>
              <a:tr h="374442">
                <a:tc>
                  <a:txBody>
                    <a:bodyPr/>
                    <a:lstStyle/>
                    <a:p>
                      <a:pPr algn="ctr"/>
                      <a:r>
                        <a:rPr lang="en-US" sz="2200" b="1" dirty="0"/>
                        <a:t>c1</a:t>
                      </a:r>
                    </a:p>
                  </a:txBody>
                  <a:tcPr/>
                </a:tc>
                <a:tc>
                  <a:txBody>
                    <a:bodyPr/>
                    <a:lstStyle/>
                    <a:p>
                      <a:pPr algn="ctr"/>
                      <a:r>
                        <a:rPr lang="en-US" sz="2200" b="1" dirty="0">
                          <a:solidFill>
                            <a:srgbClr val="7030A0"/>
                          </a:solidFill>
                        </a:rPr>
                        <a:t>a1</a:t>
                      </a:r>
                    </a:p>
                  </a:txBody>
                  <a:tcPr/>
                </a:tc>
                <a:tc>
                  <a:txBody>
                    <a:bodyPr/>
                    <a:lstStyle/>
                    <a:p>
                      <a:pPr algn="ctr"/>
                      <a:r>
                        <a:rPr lang="en-US" sz="2200" b="1" dirty="0">
                          <a:solidFill>
                            <a:srgbClr val="7030A0"/>
                          </a:solidFill>
                        </a:rPr>
                        <a:t>b1</a:t>
                      </a:r>
                    </a:p>
                  </a:txBody>
                  <a:tcPr/>
                </a:tc>
                <a:extLst>
                  <a:ext uri="{0D108BD9-81ED-4DB2-BD59-A6C34878D82A}">
                    <a16:rowId xmlns="" xmlns:a16="http://schemas.microsoft.com/office/drawing/2014/main" val="10001"/>
                  </a:ext>
                </a:extLst>
              </a:tr>
              <a:tr h="379770">
                <a:tc>
                  <a:txBody>
                    <a:bodyPr/>
                    <a:lstStyle/>
                    <a:p>
                      <a:pPr algn="ctr"/>
                      <a:r>
                        <a:rPr lang="en-US" sz="2200" b="1" dirty="0"/>
                        <a:t>c3</a:t>
                      </a:r>
                    </a:p>
                  </a:txBody>
                  <a:tcPr/>
                </a:tc>
                <a:tc>
                  <a:txBody>
                    <a:bodyPr/>
                    <a:lstStyle/>
                    <a:p>
                      <a:pPr algn="ctr"/>
                      <a:r>
                        <a:rPr lang="en-US" sz="2200" b="1" dirty="0">
                          <a:solidFill>
                            <a:srgbClr val="7030A0"/>
                          </a:solidFill>
                        </a:rPr>
                        <a:t>a3</a:t>
                      </a:r>
                    </a:p>
                  </a:txBody>
                  <a:tcPr/>
                </a:tc>
                <a:tc>
                  <a:txBody>
                    <a:bodyPr/>
                    <a:lstStyle/>
                    <a:p>
                      <a:pPr algn="ctr"/>
                      <a:r>
                        <a:rPr lang="en-US" sz="2200" b="1" dirty="0">
                          <a:solidFill>
                            <a:srgbClr val="7030A0"/>
                          </a:solidFill>
                        </a:rPr>
                        <a:t>b3</a:t>
                      </a:r>
                    </a:p>
                  </a:txBody>
                  <a:tcPr/>
                </a:tc>
                <a:extLst>
                  <a:ext uri="{0D108BD9-81ED-4DB2-BD59-A6C34878D82A}">
                    <a16:rowId xmlns="" xmlns:a16="http://schemas.microsoft.com/office/drawing/2014/main" val="10002"/>
                  </a:ext>
                </a:extLst>
              </a:tr>
              <a:tr h="385098">
                <a:tc>
                  <a:txBody>
                    <a:bodyPr/>
                    <a:lstStyle/>
                    <a:p>
                      <a:pPr algn="ctr"/>
                      <a:r>
                        <a:rPr lang="en-US" sz="2200" b="1" dirty="0"/>
                        <a:t>c4</a:t>
                      </a:r>
                    </a:p>
                  </a:txBody>
                  <a:tcPr/>
                </a:tc>
                <a:tc>
                  <a:txBody>
                    <a:bodyPr/>
                    <a:lstStyle/>
                    <a:p>
                      <a:pPr algn="ctr"/>
                      <a:r>
                        <a:rPr lang="en-US" sz="2200" b="1" dirty="0">
                          <a:solidFill>
                            <a:srgbClr val="7030A0"/>
                          </a:solidFill>
                        </a:rPr>
                        <a:t>a4</a:t>
                      </a:r>
                    </a:p>
                  </a:txBody>
                  <a:tcPr/>
                </a:tc>
                <a:tc>
                  <a:txBody>
                    <a:bodyPr/>
                    <a:lstStyle/>
                    <a:p>
                      <a:pPr algn="ctr"/>
                      <a:r>
                        <a:rPr lang="en-US" sz="2200" b="1" dirty="0">
                          <a:solidFill>
                            <a:srgbClr val="7030A0"/>
                          </a:solidFill>
                        </a:rPr>
                        <a:t>b4</a:t>
                      </a:r>
                    </a:p>
                  </a:txBody>
                  <a:tcPr/>
                </a:tc>
                <a:extLst>
                  <a:ext uri="{0D108BD9-81ED-4DB2-BD59-A6C34878D82A}">
                    <a16:rowId xmlns="" xmlns:a16="http://schemas.microsoft.com/office/drawing/2014/main" val="10003"/>
                  </a:ext>
                </a:extLst>
              </a:tr>
              <a:tr h="347585">
                <a:tc>
                  <a:txBody>
                    <a:bodyPr/>
                    <a:lstStyle/>
                    <a:p>
                      <a:pPr algn="ctr"/>
                      <a:r>
                        <a:rPr lang="en-US" sz="2200" b="1" dirty="0">
                          <a:solidFill>
                            <a:srgbClr val="C00000"/>
                          </a:solidFill>
                          <a:highlight>
                            <a:srgbClr val="FFFF00"/>
                          </a:highlight>
                        </a:rPr>
                        <a:t>null</a:t>
                      </a:r>
                    </a:p>
                  </a:txBody>
                  <a:tcPr/>
                </a:tc>
                <a:tc>
                  <a:txBody>
                    <a:bodyPr/>
                    <a:lstStyle/>
                    <a:p>
                      <a:pPr algn="ctr"/>
                      <a:r>
                        <a:rPr lang="en-US" sz="2200" b="1" dirty="0">
                          <a:solidFill>
                            <a:srgbClr val="7030A0"/>
                          </a:solidFill>
                        </a:rPr>
                        <a:t>a2</a:t>
                      </a:r>
                    </a:p>
                  </a:txBody>
                  <a:tcPr/>
                </a:tc>
                <a:tc>
                  <a:txBody>
                    <a:bodyPr/>
                    <a:lstStyle/>
                    <a:p>
                      <a:pPr algn="ctr"/>
                      <a:r>
                        <a:rPr lang="en-US" sz="2200" b="1" dirty="0">
                          <a:solidFill>
                            <a:srgbClr val="7030A0"/>
                          </a:solidFill>
                        </a:rPr>
                        <a:t>b2</a:t>
                      </a:r>
                    </a:p>
                  </a:txBody>
                  <a:tcPr/>
                </a:tc>
                <a:extLst>
                  <a:ext uri="{0D108BD9-81ED-4DB2-BD59-A6C34878D82A}">
                    <a16:rowId xmlns="" xmlns:a16="http://schemas.microsoft.com/office/drawing/2014/main" val="10004"/>
                  </a:ext>
                </a:extLst>
              </a:tr>
            </a:tbl>
          </a:graphicData>
        </a:graphic>
      </p:graphicFrame>
      <p:sp>
        <p:nvSpPr>
          <p:cNvPr id="6" name="Rectangle 1"/>
          <p:cNvSpPr/>
          <p:nvPr/>
        </p:nvSpPr>
        <p:spPr>
          <a:xfrm>
            <a:off x="899592" y="116632"/>
            <a:ext cx="8208912"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3.6 Some advanced SQL syntax</a:t>
            </a:r>
          </a:p>
        </p:txBody>
      </p:sp>
      <p:sp>
        <p:nvSpPr>
          <p:cNvPr id="9" name="上弧形箭头 8"/>
          <p:cNvSpPr/>
          <p:nvPr/>
        </p:nvSpPr>
        <p:spPr bwMode="auto">
          <a:xfrm>
            <a:off x="2843808" y="4387309"/>
            <a:ext cx="792088" cy="225757"/>
          </a:xfrm>
          <a:prstGeom prst="curvedDownArrow">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10" name="上弧形箭头 9"/>
          <p:cNvSpPr/>
          <p:nvPr/>
        </p:nvSpPr>
        <p:spPr bwMode="auto">
          <a:xfrm>
            <a:off x="2843808" y="4829090"/>
            <a:ext cx="792088" cy="225757"/>
          </a:xfrm>
          <a:prstGeom prst="curvedDownArrow">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11" name="上弧形箭头 10"/>
          <p:cNvSpPr/>
          <p:nvPr/>
        </p:nvSpPr>
        <p:spPr bwMode="auto">
          <a:xfrm>
            <a:off x="2843808" y="5323413"/>
            <a:ext cx="792088" cy="225757"/>
          </a:xfrm>
          <a:prstGeom prst="curvedDownArrow">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0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12" name="矩形 11"/>
          <p:cNvSpPr/>
          <p:nvPr/>
        </p:nvSpPr>
        <p:spPr>
          <a:xfrm>
            <a:off x="3088207" y="5981218"/>
            <a:ext cx="303288" cy="400110"/>
          </a:xfrm>
          <a:prstGeom prst="rect">
            <a:avLst/>
          </a:prstGeom>
          <a:noFill/>
        </p:spPr>
        <p:txBody>
          <a:bodyPr wrap="none" lIns="91440" tIns="45720" rIns="91440" bIns="45720">
            <a:spAutoFit/>
          </a:bodyPr>
          <a:lstStyle/>
          <a:p>
            <a:pPr algn="ctr"/>
            <a:r>
              <a:rPr lang="en-US" altLang="zh-CN" sz="20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rPr>
              <a:t>?</a:t>
            </a:r>
            <a:endParaRPr lang="zh-CN" altLang="en-US" sz="2000" b="1" cap="none" spc="0"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effectLst/>
            </a:endParaRPr>
          </a:p>
        </p:txBody>
      </p:sp>
      <p:pic>
        <p:nvPicPr>
          <p:cNvPr id="13" name="图片 12"/>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rot="1773218">
            <a:off x="8096078" y="147471"/>
            <a:ext cx="873448" cy="108590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circle(in)">
                                      <p:cBhvr>
                                        <p:cTn id="7" dur="1000"/>
                                        <p:tgtEl>
                                          <p:spTgt spid="3">
                                            <p:txEl>
                                              <p:pRg st="2" end="2"/>
                                            </p:txEl>
                                          </p:spTgt>
                                        </p:tgtEl>
                                      </p:cBhvr>
                                    </p:animEffect>
                                  </p:childTnLst>
                                </p:cTn>
                              </p:par>
                              <p:par>
                                <p:cTn id="8" presetID="6" presetClass="entr" presetSubtype="16"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circle(in)">
                                      <p:cBhvr>
                                        <p:cTn id="10" dur="1000"/>
                                        <p:tgtEl>
                                          <p:spTgt spid="3">
                                            <p:txEl>
                                              <p:pRg st="3" end="3"/>
                                            </p:txEl>
                                          </p:spTgt>
                                        </p:tgtEl>
                                      </p:cBhvr>
                                    </p:animEffect>
                                  </p:childTnLst>
                                </p:cTn>
                              </p:par>
                              <p:par>
                                <p:cTn id="11" presetID="6" presetClass="entr" presetSubtype="16"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circle(in)">
                                      <p:cBhvr>
                                        <p:cTn id="13" dur="1000"/>
                                        <p:tgtEl>
                                          <p:spTgt spid="3">
                                            <p:txEl>
                                              <p:pRg st="4" end="4"/>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circle(in)">
                                      <p:cBhvr>
                                        <p:cTn id="16" dur="1000"/>
                                        <p:tgtEl>
                                          <p:spTgt spid="3">
                                            <p:txEl>
                                              <p:pRg st="5" end="5"/>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circle(in)">
                                      <p:cBhvr>
                                        <p:cTn id="19" dur="1000"/>
                                        <p:tgtEl>
                                          <p:spTgt spid="3">
                                            <p:txEl>
                                              <p:pRg st="6" end="6"/>
                                            </p:txEl>
                                          </p:spTgt>
                                        </p:tgtEl>
                                      </p:cBhvr>
                                    </p:animEffect>
                                  </p:childTnLst>
                                </p:cTn>
                              </p:par>
                            </p:childTnLst>
                          </p:cTn>
                        </p:par>
                        <p:par>
                          <p:cTn id="20" fill="hold">
                            <p:stCondLst>
                              <p:cond delay="1000"/>
                            </p:stCondLst>
                            <p:childTnLst>
                              <p:par>
                                <p:cTn id="21" presetID="42" presetClass="entr" presetSubtype="0" fill="hold" nodeType="after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500"/>
                                        <p:tgtEl>
                                          <p:spTgt spid="4"/>
                                        </p:tgtEl>
                                      </p:cBhvr>
                                    </p:animEffect>
                                    <p:anim calcmode="lin" valueType="num">
                                      <p:cBhvr>
                                        <p:cTn id="24" dur="500" fill="hold"/>
                                        <p:tgtEl>
                                          <p:spTgt spid="4"/>
                                        </p:tgtEl>
                                        <p:attrNameLst>
                                          <p:attrName>ppt_x</p:attrName>
                                        </p:attrNameLst>
                                      </p:cBhvr>
                                      <p:tavLst>
                                        <p:tav tm="0">
                                          <p:val>
                                            <p:strVal val="#ppt_x"/>
                                          </p:val>
                                        </p:tav>
                                        <p:tav tm="100000">
                                          <p:val>
                                            <p:strVal val="#ppt_x"/>
                                          </p:val>
                                        </p:tav>
                                      </p:tavLst>
                                    </p:anim>
                                    <p:anim calcmode="lin" valueType="num">
                                      <p:cBhvr>
                                        <p:cTn id="25" dur="5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9"/>
                                        </p:tgtEl>
                                        <p:attrNameLst>
                                          <p:attrName>style.visibility</p:attrName>
                                        </p:attrNameLst>
                                      </p:cBhvr>
                                      <p:to>
                                        <p:strVal val="visible"/>
                                      </p:to>
                                    </p:set>
                                    <p:animEffect transition="in" filter="wipe(left)">
                                      <p:cBhvr>
                                        <p:cTn id="30" dur="750"/>
                                        <p:tgtEl>
                                          <p:spTgt spid="9"/>
                                        </p:tgtEl>
                                      </p:cBhvr>
                                    </p:animEffect>
                                  </p:childTnLst>
                                </p:cTn>
                              </p:par>
                            </p:childTnLst>
                          </p:cTn>
                        </p:par>
                        <p:par>
                          <p:cTn id="31" fill="hold">
                            <p:stCondLst>
                              <p:cond delay="1000"/>
                            </p:stCondLst>
                            <p:childTnLst>
                              <p:par>
                                <p:cTn id="32" presetID="22" presetClass="entr" presetSubtype="8" fill="hold" grpId="0" nodeType="after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wipe(left)">
                                      <p:cBhvr>
                                        <p:cTn id="34" dur="750"/>
                                        <p:tgtEl>
                                          <p:spTgt spid="10"/>
                                        </p:tgtEl>
                                      </p:cBhvr>
                                    </p:animEffect>
                                  </p:childTnLst>
                                </p:cTn>
                              </p:par>
                            </p:childTnLst>
                          </p:cTn>
                        </p:par>
                        <p:par>
                          <p:cTn id="35" fill="hold">
                            <p:stCondLst>
                              <p:cond delay="2000"/>
                            </p:stCondLst>
                            <p:childTnLst>
                              <p:par>
                                <p:cTn id="36" presetID="22" presetClass="entr" presetSubtype="8" fill="hold" grpId="0" nodeType="after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wipe(left)">
                                      <p:cBhvr>
                                        <p:cTn id="38" dur="750"/>
                                        <p:tgtEl>
                                          <p:spTgt spid="11"/>
                                        </p:tgtEl>
                                      </p:cBhvr>
                                    </p:animEffect>
                                  </p:childTnLst>
                                </p:cTn>
                              </p:par>
                            </p:childTnLst>
                          </p:cTn>
                        </p:par>
                        <p:par>
                          <p:cTn id="39" fill="hold">
                            <p:stCondLst>
                              <p:cond delay="3000"/>
                            </p:stCondLst>
                            <p:childTnLst>
                              <p:par>
                                <p:cTn id="40" presetID="22" presetClass="entr" presetSubtype="1" fill="hold" grpId="0" nodeType="after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wipe(up)">
                                      <p:cBhvr>
                                        <p:cTn id="42" dur="10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42" presetClass="entr" presetSubtype="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fade">
                                      <p:cBhvr>
                                        <p:cTn id="47" dur="1000"/>
                                        <p:tgtEl>
                                          <p:spTgt spid="5"/>
                                        </p:tgtEl>
                                      </p:cBhvr>
                                    </p:animEffect>
                                    <p:anim calcmode="lin" valueType="num">
                                      <p:cBhvr>
                                        <p:cTn id="48" dur="1000" fill="hold"/>
                                        <p:tgtEl>
                                          <p:spTgt spid="5"/>
                                        </p:tgtEl>
                                        <p:attrNameLst>
                                          <p:attrName>ppt_x</p:attrName>
                                        </p:attrNameLst>
                                      </p:cBhvr>
                                      <p:tavLst>
                                        <p:tav tm="0">
                                          <p:val>
                                            <p:strVal val="#ppt_x"/>
                                          </p:val>
                                        </p:tav>
                                        <p:tav tm="100000">
                                          <p:val>
                                            <p:strVal val="#ppt_x"/>
                                          </p:val>
                                        </p:tav>
                                      </p:tavLst>
                                    </p:anim>
                                    <p:anim calcmode="lin" valueType="num">
                                      <p:cBhvr>
                                        <p:cTn id="4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0"/>
            <a:ext cx="8229600" cy="1143000"/>
          </a:xfrm>
        </p:spPr>
        <p:txBody>
          <a:bodyPr/>
          <a:lstStyle/>
          <a:p>
            <a:r>
              <a:rPr lang="zh-CN" altLang="en-US" dirty="0"/>
              <a:t>内部连接</a:t>
            </a:r>
          </a:p>
        </p:txBody>
      </p:sp>
      <p:sp>
        <p:nvSpPr>
          <p:cNvPr id="3" name="内容占位符 2"/>
          <p:cNvSpPr>
            <a:spLocks noGrp="1"/>
          </p:cNvSpPr>
          <p:nvPr>
            <p:ph idx="1"/>
          </p:nvPr>
        </p:nvSpPr>
        <p:spPr>
          <a:xfrm>
            <a:off x="395536" y="980728"/>
            <a:ext cx="8229600" cy="4525963"/>
          </a:xfrm>
        </p:spPr>
        <p:txBody>
          <a:bodyPr/>
          <a:lstStyle/>
          <a:p>
            <a:r>
              <a:rPr lang="zh-CN" altLang="en-US" sz="2800" dirty="0"/>
              <a:t>内连接主要有三种书写方式</a:t>
            </a:r>
            <a:endParaRPr lang="en-US" altLang="zh-CN" sz="2800" dirty="0"/>
          </a:p>
          <a:p>
            <a:pPr marL="751205" lvl="2" indent="-342900">
              <a:spcBef>
                <a:spcPts val="625"/>
              </a:spcBef>
              <a:buFont typeface="Wingdings" panose="05000000000000000000" pitchFamily="2" charset="2"/>
              <a:buChar char="l"/>
            </a:pPr>
            <a:r>
              <a:rPr lang="zh-CN" altLang="en-US" sz="1800" b="1" dirty="0"/>
              <a:t>逗号</a:t>
            </a:r>
            <a:r>
              <a:rPr lang="en-US" altLang="zh-CN" sz="1800" b="1" dirty="0"/>
              <a:t>+where</a:t>
            </a:r>
            <a:r>
              <a:rPr lang="zh-CN" altLang="en-US" sz="1800" b="1" dirty="0"/>
              <a:t>子句</a:t>
            </a:r>
            <a:endParaRPr lang="en-US" altLang="zh-CN" sz="1800" b="1" dirty="0"/>
          </a:p>
          <a:p>
            <a:pPr marL="751205" lvl="2" indent="-342900">
              <a:spcBef>
                <a:spcPts val="625"/>
              </a:spcBef>
              <a:buFont typeface="Wingdings" panose="05000000000000000000" pitchFamily="2" charset="2"/>
              <a:buChar char="l"/>
            </a:pPr>
            <a:r>
              <a:rPr lang="en-US" altLang="zh-CN" sz="1800" b="1" dirty="0"/>
              <a:t>[inner] </a:t>
            </a:r>
            <a:r>
              <a:rPr lang="en-US" altLang="zh-CN" sz="1800" b="1" dirty="0" err="1"/>
              <a:t>join+on</a:t>
            </a:r>
            <a:r>
              <a:rPr lang="zh-CN" altLang="en-US" sz="1800" b="1" dirty="0"/>
              <a:t>子句</a:t>
            </a:r>
            <a:endParaRPr lang="en-US" altLang="zh-CN" sz="1800" b="1" dirty="0"/>
          </a:p>
          <a:p>
            <a:pPr marL="751205" lvl="2" indent="-342900">
              <a:spcBef>
                <a:spcPts val="625"/>
              </a:spcBef>
              <a:buFont typeface="Wingdings" panose="05000000000000000000" pitchFamily="2" charset="2"/>
              <a:buChar char="l"/>
            </a:pPr>
            <a:r>
              <a:rPr lang="en-US" altLang="zh-CN" sz="1800" b="1" dirty="0"/>
              <a:t>[inner] </a:t>
            </a:r>
            <a:r>
              <a:rPr lang="en-US" altLang="zh-CN" sz="1800" b="1" dirty="0" err="1"/>
              <a:t>join+using</a:t>
            </a:r>
            <a:r>
              <a:rPr lang="zh-CN" altLang="en-US" sz="1800" b="1" dirty="0"/>
              <a:t>子句</a:t>
            </a:r>
            <a:endParaRPr lang="en-US" altLang="zh-CN" sz="1800" b="1" dirty="0"/>
          </a:p>
          <a:p>
            <a:r>
              <a:rPr lang="zh-CN" altLang="en-US" sz="2800" dirty="0"/>
              <a:t>内连接的两个表之间是没有主从关系的，也就是说调整内连接的两个表的排列顺序，对内连接运行结果没有</a:t>
            </a:r>
            <a:r>
              <a:rPr lang="zh-CN" altLang="en-US" sz="2800" dirty="0" smtClean="0"/>
              <a:t>影响。</a:t>
            </a:r>
            <a:r>
              <a:rPr lang="zh-CN" altLang="en-US" sz="2800" dirty="0"/>
              <a:t>内连接的运行结果的记录数分别与两个表没有直接关系，但是与两个表之间的数据的组合有一定的关系。只有公共列能完全匹配上的记录才会输出到查询结果中</a:t>
            </a:r>
            <a:r>
              <a:rPr lang="zh-CN" altLang="en-US" sz="2800" dirty="0" smtClean="0"/>
              <a:t>。</a:t>
            </a:r>
            <a:endParaRPr lang="en-US" altLang="zh-CN" sz="2800" dirty="0"/>
          </a:p>
        </p:txBody>
      </p:sp>
    </p:spTree>
    <p:extLst>
      <p:ext uri="{BB962C8B-B14F-4D97-AF65-F5344CB8AC3E}">
        <p14:creationId xmlns:p14="http://schemas.microsoft.com/office/powerpoint/2010/main" val="129533806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87450" y="1340768"/>
            <a:ext cx="8985123" cy="496855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395536" y="477053"/>
            <a:ext cx="8568952" cy="523220"/>
          </a:xfrm>
          <a:prstGeom prst="rect">
            <a:avLst/>
          </a:prstGeom>
        </p:spPr>
        <p:txBody>
          <a:bodyPr wrap="square">
            <a:spAutoFit/>
          </a:bodyPr>
          <a:lstStyle/>
          <a:p>
            <a:r>
              <a:rPr lang="zh-CN" altLang="en-US" dirty="0"/>
              <a:t>例：查询出</a:t>
            </a:r>
            <a:r>
              <a:rPr lang="zh-CN" altLang="zh-CN" dirty="0"/>
              <a:t>学生信息与院系信息相关连的</a:t>
            </a:r>
            <a:r>
              <a:rPr lang="zh-CN" altLang="en-US" dirty="0"/>
              <a:t>基础信息。</a:t>
            </a:r>
          </a:p>
        </p:txBody>
      </p:sp>
    </p:spTree>
    <p:extLst>
      <p:ext uri="{BB962C8B-B14F-4D97-AF65-F5344CB8AC3E}">
        <p14:creationId xmlns:p14="http://schemas.microsoft.com/office/powerpoint/2010/main" val="4019922910"/>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467544" y="692696"/>
            <a:ext cx="8352928" cy="954107"/>
          </a:xfrm>
          <a:prstGeom prst="rect">
            <a:avLst/>
          </a:prstGeom>
        </p:spPr>
        <p:txBody>
          <a:bodyPr wrap="square">
            <a:spAutoFit/>
          </a:bodyPr>
          <a:lstStyle/>
          <a:p>
            <a:r>
              <a:rPr lang="zh-CN" altLang="en-US" dirty="0"/>
              <a:t>假设有两张表</a:t>
            </a:r>
            <a:r>
              <a:rPr lang="en-US" altLang="zh-CN" dirty="0"/>
              <a:t>employees </a:t>
            </a:r>
            <a:r>
              <a:rPr lang="zh-CN" altLang="en-US" dirty="0"/>
              <a:t>和</a:t>
            </a:r>
            <a:r>
              <a:rPr lang="en-US" altLang="zh-CN" dirty="0"/>
              <a:t>departments , </a:t>
            </a:r>
            <a:r>
              <a:rPr lang="zh-CN" altLang="en-US" dirty="0" smtClean="0"/>
              <a:t>想</a:t>
            </a:r>
            <a:r>
              <a:rPr lang="zh-CN" altLang="en-US" dirty="0"/>
              <a:t>要获取每个员工对应的</a:t>
            </a:r>
            <a:r>
              <a:rPr lang="zh-CN" altLang="en-US" dirty="0" smtClean="0"/>
              <a:t>部门名称。</a:t>
            </a:r>
            <a:endParaRPr lang="zh-CN" altLang="en-US" dirty="0"/>
          </a:p>
        </p:txBody>
      </p:sp>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65" y="1670017"/>
            <a:ext cx="8931323" cy="182059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矩形 5"/>
          <p:cNvSpPr/>
          <p:nvPr/>
        </p:nvSpPr>
        <p:spPr>
          <a:xfrm>
            <a:off x="467544" y="3861048"/>
            <a:ext cx="8352928" cy="1384995"/>
          </a:xfrm>
          <a:prstGeom prst="rect">
            <a:avLst/>
          </a:prstGeom>
        </p:spPr>
        <p:txBody>
          <a:bodyPr wrap="square">
            <a:spAutoFit/>
          </a:bodyPr>
          <a:lstStyle/>
          <a:p>
            <a:r>
              <a:rPr lang="zh-CN" altLang="en-US" dirty="0"/>
              <a:t>在这个例子中</a:t>
            </a:r>
            <a:r>
              <a:rPr lang="en-US" altLang="zh-CN" dirty="0"/>
              <a:t>,</a:t>
            </a:r>
            <a:r>
              <a:rPr lang="zh-CN" altLang="en-US" dirty="0"/>
              <a:t>只有那些在</a:t>
            </a:r>
            <a:r>
              <a:rPr lang="en-US" altLang="zh-CN" dirty="0"/>
              <a:t>employees </a:t>
            </a:r>
            <a:r>
              <a:rPr lang="zh-CN" altLang="en-US" dirty="0"/>
              <a:t>表中有记录且在</a:t>
            </a:r>
            <a:r>
              <a:rPr lang="en-US" altLang="zh-CN" dirty="0"/>
              <a:t>departments </a:t>
            </a:r>
            <a:r>
              <a:rPr lang="zh-CN" altLang="en-US" dirty="0"/>
              <a:t>表中也有相应</a:t>
            </a:r>
            <a:r>
              <a:rPr lang="zh-CN" altLang="en-US" dirty="0" smtClean="0"/>
              <a:t>部门记录</a:t>
            </a:r>
            <a:r>
              <a:rPr lang="zh-CN" altLang="en-US" dirty="0"/>
              <a:t>的</a:t>
            </a:r>
            <a:r>
              <a:rPr lang="zh-CN" altLang="en-US" dirty="0" smtClean="0"/>
              <a:t>员工会</a:t>
            </a:r>
            <a:r>
              <a:rPr lang="zh-CN" altLang="en-US" dirty="0"/>
              <a:t>被返回。</a:t>
            </a:r>
          </a:p>
        </p:txBody>
      </p:sp>
    </p:spTree>
    <p:extLst>
      <p:ext uri="{BB962C8B-B14F-4D97-AF65-F5344CB8AC3E}">
        <p14:creationId xmlns:p14="http://schemas.microsoft.com/office/powerpoint/2010/main" val="11153441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外部连接</a:t>
            </a:r>
          </a:p>
        </p:txBody>
      </p:sp>
      <p:sp>
        <p:nvSpPr>
          <p:cNvPr id="3" name="内容占位符 2"/>
          <p:cNvSpPr>
            <a:spLocks noGrp="1"/>
          </p:cNvSpPr>
          <p:nvPr>
            <p:ph idx="1"/>
          </p:nvPr>
        </p:nvSpPr>
        <p:spPr/>
        <p:txBody>
          <a:bodyPr/>
          <a:lstStyle/>
          <a:p>
            <a:r>
              <a:rPr lang="zh-CN" altLang="en-US" dirty="0"/>
              <a:t>外部连接主要有三种书写方式</a:t>
            </a:r>
            <a:endParaRPr lang="en-US" altLang="zh-CN" dirty="0"/>
          </a:p>
          <a:p>
            <a:pPr marL="751205" lvl="2" indent="-342900">
              <a:spcBef>
                <a:spcPts val="625"/>
              </a:spcBef>
              <a:buFont typeface="Wingdings" panose="05000000000000000000" pitchFamily="2" charset="2"/>
              <a:buChar char="l"/>
            </a:pPr>
            <a:r>
              <a:rPr lang="zh-CN" altLang="en-US" sz="2000" b="1" dirty="0"/>
              <a:t>逗号</a:t>
            </a:r>
            <a:r>
              <a:rPr lang="en-US" altLang="zh-CN" sz="2000" b="1" dirty="0"/>
              <a:t>+where</a:t>
            </a:r>
            <a:r>
              <a:rPr lang="zh-CN" altLang="en-US" sz="2000" b="1" dirty="0"/>
              <a:t>子句</a:t>
            </a:r>
            <a:endParaRPr lang="en-US" altLang="zh-CN" sz="2000" b="1" dirty="0"/>
          </a:p>
          <a:p>
            <a:pPr marL="751205" lvl="2" indent="-342900">
              <a:spcBef>
                <a:spcPts val="625"/>
              </a:spcBef>
              <a:buFont typeface="Wingdings" panose="05000000000000000000" pitchFamily="2" charset="2"/>
              <a:buChar char="l"/>
            </a:pPr>
            <a:r>
              <a:rPr lang="en-US" altLang="zh-CN" sz="2000" b="1" dirty="0"/>
              <a:t>[outer] </a:t>
            </a:r>
            <a:r>
              <a:rPr lang="en-US" altLang="zh-CN" sz="2000" b="1" dirty="0" err="1"/>
              <a:t>join+on</a:t>
            </a:r>
            <a:r>
              <a:rPr lang="zh-CN" altLang="en-US" sz="2000" b="1" dirty="0"/>
              <a:t>子句</a:t>
            </a:r>
            <a:endParaRPr lang="en-US" altLang="zh-CN" sz="2000" b="1" dirty="0"/>
          </a:p>
          <a:p>
            <a:pPr marL="751205" lvl="2" indent="-342900">
              <a:spcBef>
                <a:spcPts val="625"/>
              </a:spcBef>
              <a:buFont typeface="Wingdings" panose="05000000000000000000" pitchFamily="2" charset="2"/>
              <a:buChar char="l"/>
            </a:pPr>
            <a:r>
              <a:rPr lang="en-US" altLang="zh-CN" sz="2000" b="1" dirty="0"/>
              <a:t>[outer] </a:t>
            </a:r>
            <a:r>
              <a:rPr lang="en-US" altLang="zh-CN" sz="2000" b="1" dirty="0" err="1"/>
              <a:t>join+using</a:t>
            </a:r>
            <a:r>
              <a:rPr lang="zh-CN" altLang="en-US" sz="2000" b="1" dirty="0"/>
              <a:t>子句</a:t>
            </a:r>
            <a:endParaRPr lang="en-US" altLang="zh-CN" dirty="0"/>
          </a:p>
          <a:p>
            <a:r>
              <a:rPr lang="zh-CN" altLang="en-US" dirty="0"/>
              <a:t>外部连接类型：</a:t>
            </a:r>
            <a:endParaRPr lang="en-US" altLang="zh-CN" dirty="0"/>
          </a:p>
          <a:p>
            <a:pPr marL="751205" lvl="2" indent="-342900">
              <a:spcBef>
                <a:spcPts val="625"/>
              </a:spcBef>
              <a:buFont typeface="Wingdings" panose="05000000000000000000" pitchFamily="2" charset="2"/>
              <a:buChar char="l"/>
            </a:pPr>
            <a:r>
              <a:rPr lang="zh-CN" altLang="en-US" sz="2000" b="1" dirty="0"/>
              <a:t>左外连接</a:t>
            </a:r>
            <a:r>
              <a:rPr lang="en-US" altLang="zh-CN" sz="2000" b="1" dirty="0"/>
              <a:t>:  LEFT [OUTER] JOIN</a:t>
            </a:r>
          </a:p>
          <a:p>
            <a:pPr marL="751205" lvl="2" indent="-342900">
              <a:spcBef>
                <a:spcPts val="625"/>
              </a:spcBef>
              <a:buFont typeface="Wingdings" panose="05000000000000000000" pitchFamily="2" charset="2"/>
              <a:buChar char="l"/>
            </a:pPr>
            <a:r>
              <a:rPr lang="zh-CN" altLang="en-US" sz="2000" b="1" dirty="0"/>
              <a:t>右外连接：  </a:t>
            </a:r>
            <a:r>
              <a:rPr lang="en-US" altLang="zh-CN" sz="2000" b="1" dirty="0"/>
              <a:t>RIGHT [OUTER] JOIN</a:t>
            </a:r>
          </a:p>
          <a:p>
            <a:pPr marL="751205" lvl="2" indent="-342900">
              <a:spcBef>
                <a:spcPts val="625"/>
              </a:spcBef>
              <a:buFont typeface="Wingdings" panose="05000000000000000000" pitchFamily="2" charset="2"/>
              <a:buChar char="l"/>
            </a:pPr>
            <a:r>
              <a:rPr lang="zh-CN" altLang="en-US" sz="2000" b="1" dirty="0"/>
              <a:t>全外连接：  </a:t>
            </a:r>
            <a:r>
              <a:rPr lang="en-US" altLang="zh-CN" sz="2000" b="1" dirty="0"/>
              <a:t>FULL [OUTER] JOIN</a:t>
            </a:r>
            <a:endParaRPr lang="zh-CN" altLang="en-US" sz="2000" b="1" dirty="0"/>
          </a:p>
          <a:p>
            <a:endParaRPr lang="zh-CN" altLang="en-US" dirty="0"/>
          </a:p>
        </p:txBody>
      </p:sp>
    </p:spTree>
    <p:extLst>
      <p:ext uri="{BB962C8B-B14F-4D97-AF65-F5344CB8AC3E}">
        <p14:creationId xmlns:p14="http://schemas.microsoft.com/office/powerpoint/2010/main" val="248906467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外部连接</a:t>
            </a:r>
            <a:r>
              <a:rPr lang="en-US" altLang="zh-CN" dirty="0">
                <a:ea typeface="宋体" panose="02010600030101010101" pitchFamily="2" charset="-122"/>
              </a:rPr>
              <a:t>-</a:t>
            </a:r>
            <a:r>
              <a:rPr lang="zh-CN" altLang="en-US" dirty="0">
                <a:ea typeface="宋体" panose="02010600030101010101" pitchFamily="2" charset="-122"/>
              </a:rPr>
              <a:t>左外</a:t>
            </a:r>
            <a:r>
              <a:rPr lang="zh-CN" altLang="en-US" sz="3200" dirty="0">
                <a:ea typeface="宋体" panose="02010600030101010101" pitchFamily="2" charset="-122"/>
              </a:rPr>
              <a:t>连接</a:t>
            </a:r>
          </a:p>
        </p:txBody>
      </p:sp>
      <p:sp>
        <p:nvSpPr>
          <p:cNvPr id="30723" name="Text Box 74"/>
          <p:cNvSpPr txBox="1">
            <a:spLocks noChangeArrowheads="1"/>
          </p:cNvSpPr>
          <p:nvPr/>
        </p:nvSpPr>
        <p:spPr bwMode="auto">
          <a:xfrm>
            <a:off x="684213" y="1397000"/>
            <a:ext cx="7796212" cy="2000548"/>
          </a:xfrm>
          <a:prstGeom prst="rect">
            <a:avLst/>
          </a:prstGeom>
          <a:noFill/>
          <a:ln w="9525" algn="ctr">
            <a:noFill/>
            <a:miter lim="800000"/>
          </a:ln>
        </p:spPr>
        <p:txBody>
          <a:bodyPr wrap="square">
            <a:spAutoFit/>
          </a:bodyPr>
          <a:lstStyle/>
          <a:p>
            <a:pPr marL="363855" indent="-363855">
              <a:buClr>
                <a:schemeClr val="accent2"/>
              </a:buClr>
              <a:buFont typeface="Wingdings" panose="05000000000000000000" pitchFamily="2" charset="2"/>
              <a:buChar char="u"/>
            </a:pPr>
            <a:r>
              <a:rPr kumimoji="0" lang="zh-CN" altLang="en-US" sz="2400" dirty="0">
                <a:latin typeface="宋体" panose="02010600030101010101" pitchFamily="2" charset="-122"/>
                <a:ea typeface="宋体" panose="02010600030101010101" pitchFamily="2" charset="-122"/>
              </a:rPr>
              <a:t>左外连接</a:t>
            </a:r>
            <a:r>
              <a:rPr kumimoji="0" lang="en-US" altLang="zh-CN" sz="2400" dirty="0">
                <a:latin typeface="宋体" panose="02010600030101010101" pitchFamily="2" charset="-122"/>
                <a:ea typeface="宋体" panose="02010600030101010101" pitchFamily="2" charset="-122"/>
              </a:rPr>
              <a:t>(LEFT [OUTER] JOIN)</a:t>
            </a:r>
            <a:r>
              <a:rPr kumimoji="0" lang="zh-CN" altLang="en-US" sz="2400" dirty="0">
                <a:latin typeface="宋体" panose="02010600030101010101" pitchFamily="2" charset="-122"/>
                <a:ea typeface="宋体" panose="02010600030101010101" pitchFamily="2" charset="-122"/>
              </a:rPr>
              <a:t>：</a:t>
            </a:r>
            <a:endParaRPr kumimoji="0" lang="en-US" altLang="zh-CN" sz="2400" dirty="0">
              <a:latin typeface="宋体" panose="02010600030101010101" pitchFamily="2" charset="-122"/>
              <a:ea typeface="宋体" panose="02010600030101010101" pitchFamily="2" charset="-122"/>
            </a:endParaRPr>
          </a:p>
          <a:p>
            <a:pPr marL="821055" lvl="1" indent="-363855">
              <a:buClr>
                <a:schemeClr val="accent2"/>
              </a:buClr>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左外连接的两个表之间是有主从关系的，左外连接中左表或者说写在逗号或者</a:t>
            </a:r>
            <a:r>
              <a:rPr lang="en-US" altLang="zh-CN" sz="2000" dirty="0">
                <a:latin typeface="宋体" panose="02010600030101010101" pitchFamily="2" charset="-122"/>
                <a:ea typeface="宋体" panose="02010600030101010101" pitchFamily="2" charset="-122"/>
              </a:rPr>
              <a:t>join</a:t>
            </a:r>
            <a:r>
              <a:rPr lang="zh-CN" altLang="en-US" sz="2000" dirty="0">
                <a:latin typeface="宋体" panose="02010600030101010101" pitchFamily="2" charset="-122"/>
                <a:ea typeface="宋体" panose="02010600030101010101" pitchFamily="2" charset="-122"/>
              </a:rPr>
              <a:t>前面的为左表，运行结果中将包含所有左表中的记录，右表记录根据匹配关系补充左表信息，如无关联记录则置</a:t>
            </a:r>
            <a:r>
              <a:rPr lang="en-US" altLang="zh-CN" sz="2000" dirty="0">
                <a:latin typeface="宋体" panose="02010600030101010101" pitchFamily="2" charset="-122"/>
                <a:ea typeface="宋体" panose="02010600030101010101" pitchFamily="2" charset="-122"/>
              </a:rPr>
              <a:t>NULL</a:t>
            </a:r>
            <a:r>
              <a:rPr lang="zh-CN" altLang="en-US" sz="2000" dirty="0" smtClean="0">
                <a:latin typeface="宋体" panose="02010600030101010101" pitchFamily="2" charset="-122"/>
                <a:ea typeface="宋体" panose="02010600030101010101" pitchFamily="2" charset="-122"/>
              </a:rPr>
              <a:t>处理。</a:t>
            </a:r>
            <a:endParaRPr lang="en-US" altLang="zh-CN" sz="2000" dirty="0">
              <a:latin typeface="宋体" panose="02010600030101010101" pitchFamily="2" charset="-122"/>
              <a:ea typeface="宋体" panose="02010600030101010101" pitchFamily="2" charset="-122"/>
            </a:endParaRPr>
          </a:p>
          <a:p>
            <a:pPr lvl="1">
              <a:buClr>
                <a:schemeClr val="accent2"/>
              </a:buClr>
            </a:pPr>
            <a:endParaRPr lang="en-US" altLang="zh-CN" sz="2000" dirty="0">
              <a:latin typeface="宋体" panose="02010600030101010101" pitchFamily="2" charset="-122"/>
              <a:ea typeface="宋体" panose="02010600030101010101" pitchFamily="2" charset="-122"/>
            </a:endParaRPr>
          </a:p>
        </p:txBody>
      </p:sp>
      <p:pic>
        <p:nvPicPr>
          <p:cNvPr id="819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5536" y="4293096"/>
            <a:ext cx="8249561" cy="14401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矩形 2"/>
          <p:cNvSpPr/>
          <p:nvPr/>
        </p:nvSpPr>
        <p:spPr>
          <a:xfrm>
            <a:off x="307848" y="5733256"/>
            <a:ext cx="8424935" cy="830997"/>
          </a:xfrm>
          <a:prstGeom prst="rect">
            <a:avLst/>
          </a:prstGeom>
        </p:spPr>
        <p:txBody>
          <a:bodyPr wrap="square">
            <a:spAutoFit/>
          </a:bodyPr>
          <a:lstStyle/>
          <a:p>
            <a:r>
              <a:rPr lang="zh-CN" altLang="en-US" sz="2400" dirty="0"/>
              <a:t>在这个示例中</a:t>
            </a:r>
            <a:r>
              <a:rPr lang="en-US" altLang="zh-CN" sz="2400" dirty="0"/>
              <a:t>,</a:t>
            </a:r>
            <a:r>
              <a:rPr lang="zh-CN" altLang="en-US" sz="2400" dirty="0"/>
              <a:t>查询将返回所有员工及其所属部门的名称。如果某个员工没有部门</a:t>
            </a:r>
            <a:r>
              <a:rPr lang="en-US" altLang="zh-CN" sz="2400" dirty="0"/>
              <a:t>,</a:t>
            </a:r>
            <a:r>
              <a:rPr lang="zh-CN" altLang="en-US" sz="2400" dirty="0"/>
              <a:t>则部门名称将显示为</a:t>
            </a:r>
            <a:r>
              <a:rPr lang="en-US" altLang="zh-CN" sz="2400" dirty="0"/>
              <a:t>NULL</a:t>
            </a:r>
            <a:r>
              <a:rPr lang="zh-CN" altLang="en-US" sz="2400" dirty="0" smtClean="0"/>
              <a:t>。</a:t>
            </a:r>
            <a:endParaRPr lang="zh-CN" altLang="en-US" sz="2400" dirty="0"/>
          </a:p>
        </p:txBody>
      </p:sp>
      <p:sp>
        <p:nvSpPr>
          <p:cNvPr id="4" name="矩形 3"/>
          <p:cNvSpPr/>
          <p:nvPr/>
        </p:nvSpPr>
        <p:spPr>
          <a:xfrm>
            <a:off x="307848" y="3197493"/>
            <a:ext cx="8656640" cy="707886"/>
          </a:xfrm>
          <a:prstGeom prst="rect">
            <a:avLst/>
          </a:prstGeom>
        </p:spPr>
        <p:txBody>
          <a:bodyPr wrap="square">
            <a:spAutoFit/>
          </a:bodyPr>
          <a:lstStyle/>
          <a:p>
            <a:r>
              <a:rPr lang="zh-CN" altLang="en-US" sz="2000" dirty="0" smtClean="0"/>
              <a:t>假设要</a:t>
            </a:r>
            <a:r>
              <a:rPr lang="zh-CN" altLang="en-US" sz="2000" dirty="0"/>
              <a:t>获取所有员工的姓名以及他们的部门</a:t>
            </a:r>
            <a:r>
              <a:rPr lang="en-US" altLang="zh-CN" sz="2000" dirty="0"/>
              <a:t>,</a:t>
            </a:r>
            <a:r>
              <a:rPr lang="zh-CN" altLang="en-US" sz="2000" dirty="0"/>
              <a:t>即使有些员工还没有分配到任何部门。</a:t>
            </a:r>
          </a:p>
        </p:txBody>
      </p:sp>
    </p:spTree>
    <p:extLst>
      <p:ext uri="{BB962C8B-B14F-4D97-AF65-F5344CB8AC3E}">
        <p14:creationId xmlns:p14="http://schemas.microsoft.com/office/powerpoint/2010/main" val="1187988933"/>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1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1533523"/>
            <a:ext cx="8955005" cy="506382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矩形 10"/>
          <p:cNvSpPr/>
          <p:nvPr/>
        </p:nvSpPr>
        <p:spPr>
          <a:xfrm>
            <a:off x="287523" y="332656"/>
            <a:ext cx="8594965" cy="954107"/>
          </a:xfrm>
          <a:prstGeom prst="rect">
            <a:avLst/>
          </a:prstGeom>
        </p:spPr>
        <p:txBody>
          <a:bodyPr wrap="square">
            <a:spAutoFit/>
          </a:bodyPr>
          <a:lstStyle/>
          <a:p>
            <a:pPr marL="363855" indent="-363855">
              <a:buClr>
                <a:schemeClr val="accent2"/>
              </a:buClr>
              <a:buFont typeface="Wingdings" panose="05000000000000000000" pitchFamily="2" charset="2"/>
              <a:buChar char="u"/>
            </a:pPr>
            <a:r>
              <a:rPr lang="zh-CN" altLang="en-US" dirty="0">
                <a:latin typeface="宋体" panose="02010600030101010101" pitchFamily="2" charset="-122"/>
              </a:rPr>
              <a:t>例：查询出学生信息与院系信息相关连的查询结果集，要求学生信息是全部的，学院信息作为补充。</a:t>
            </a:r>
            <a:endParaRPr lang="en-US" altLang="zh-CN" dirty="0">
              <a:latin typeface="宋体" panose="02010600030101010101" pitchFamily="2" charset="-122"/>
            </a:endParaRPr>
          </a:p>
        </p:txBody>
      </p:sp>
    </p:spTree>
    <p:extLst>
      <p:ext uri="{BB962C8B-B14F-4D97-AF65-F5344CB8AC3E}">
        <p14:creationId xmlns:p14="http://schemas.microsoft.com/office/powerpoint/2010/main" val="2066629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17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zh-CN" altLang="en-US" dirty="0">
                <a:ea typeface="宋体" panose="02010600030101010101" pitchFamily="2" charset="-122"/>
              </a:rPr>
              <a:t>外部连接</a:t>
            </a:r>
            <a:r>
              <a:rPr lang="en-US" altLang="zh-CN" dirty="0">
                <a:ea typeface="宋体" panose="02010600030101010101" pitchFamily="2" charset="-122"/>
              </a:rPr>
              <a:t>-</a:t>
            </a:r>
            <a:r>
              <a:rPr lang="zh-CN" altLang="en-US" dirty="0"/>
              <a:t>右</a:t>
            </a:r>
            <a:r>
              <a:rPr lang="zh-CN" altLang="en-US" dirty="0">
                <a:ea typeface="宋体" panose="02010600030101010101" pitchFamily="2" charset="-122"/>
              </a:rPr>
              <a:t>外</a:t>
            </a:r>
            <a:r>
              <a:rPr lang="zh-CN" altLang="en-US" sz="3200" dirty="0">
                <a:ea typeface="宋体" panose="02010600030101010101" pitchFamily="2" charset="-122"/>
              </a:rPr>
              <a:t>连接</a:t>
            </a:r>
          </a:p>
        </p:txBody>
      </p:sp>
      <p:sp>
        <p:nvSpPr>
          <p:cNvPr id="30723" name="Text Box 74"/>
          <p:cNvSpPr txBox="1">
            <a:spLocks noChangeArrowheads="1"/>
          </p:cNvSpPr>
          <p:nvPr/>
        </p:nvSpPr>
        <p:spPr bwMode="auto">
          <a:xfrm>
            <a:off x="684213" y="1397000"/>
            <a:ext cx="7796212" cy="2000548"/>
          </a:xfrm>
          <a:prstGeom prst="rect">
            <a:avLst/>
          </a:prstGeom>
          <a:noFill/>
          <a:ln w="9525" algn="ctr">
            <a:noFill/>
            <a:miter lim="800000"/>
          </a:ln>
        </p:spPr>
        <p:txBody>
          <a:bodyPr wrap="square">
            <a:spAutoFit/>
          </a:bodyPr>
          <a:lstStyle/>
          <a:p>
            <a:pPr marL="363855" indent="-363855">
              <a:buClr>
                <a:schemeClr val="accent2"/>
              </a:buClr>
              <a:buFont typeface="Wingdings" panose="05000000000000000000" pitchFamily="2" charset="2"/>
              <a:buChar char="u"/>
            </a:pPr>
            <a:r>
              <a:rPr lang="zh-CN" altLang="en-US" sz="2400" dirty="0">
                <a:latin typeface="宋体" panose="02010600030101010101" pitchFamily="2" charset="-122"/>
                <a:ea typeface="宋体" panose="02010600030101010101" pitchFamily="2" charset="-122"/>
              </a:rPr>
              <a:t>右</a:t>
            </a:r>
            <a:r>
              <a:rPr kumimoji="0" lang="zh-CN" altLang="en-US" sz="2400" dirty="0">
                <a:latin typeface="宋体" panose="02010600030101010101" pitchFamily="2" charset="-122"/>
                <a:ea typeface="宋体" panose="02010600030101010101" pitchFamily="2" charset="-122"/>
              </a:rPr>
              <a:t>外连接</a:t>
            </a:r>
            <a:r>
              <a:rPr kumimoji="0" lang="en-US" altLang="zh-CN" sz="2400" dirty="0">
                <a:latin typeface="宋体" panose="02010600030101010101" pitchFamily="2" charset="-122"/>
                <a:ea typeface="宋体" panose="02010600030101010101" pitchFamily="2" charset="-122"/>
              </a:rPr>
              <a:t>(RIGHT [OUTER] JOIN)</a:t>
            </a:r>
            <a:r>
              <a:rPr kumimoji="0" lang="zh-CN" altLang="en-US" sz="2400" dirty="0">
                <a:latin typeface="宋体" panose="02010600030101010101" pitchFamily="2" charset="-122"/>
                <a:ea typeface="宋体" panose="02010600030101010101" pitchFamily="2" charset="-122"/>
              </a:rPr>
              <a:t>：</a:t>
            </a:r>
            <a:endParaRPr kumimoji="0" lang="en-US" altLang="zh-CN" sz="2400" dirty="0">
              <a:latin typeface="宋体" panose="02010600030101010101" pitchFamily="2" charset="-122"/>
              <a:ea typeface="宋体" panose="02010600030101010101" pitchFamily="2" charset="-122"/>
            </a:endParaRPr>
          </a:p>
          <a:p>
            <a:pPr marL="821055" lvl="1" indent="-363855">
              <a:buClr>
                <a:schemeClr val="accent2"/>
              </a:buClr>
              <a:buFont typeface="Wingdings" panose="05000000000000000000" pitchFamily="2" charset="2"/>
              <a:buChar char="l"/>
            </a:pPr>
            <a:r>
              <a:rPr lang="zh-CN" altLang="en-US" sz="2000" dirty="0">
                <a:latin typeface="宋体" panose="02010600030101010101" pitchFamily="2" charset="-122"/>
                <a:ea typeface="宋体" panose="02010600030101010101" pitchFamily="2" charset="-122"/>
              </a:rPr>
              <a:t>右外连接的两个表之间是有主从关系的，右外连接中右表或者说写在逗号或者</a:t>
            </a:r>
            <a:r>
              <a:rPr lang="en-US" altLang="zh-CN" sz="2000" dirty="0">
                <a:latin typeface="宋体" panose="02010600030101010101" pitchFamily="2" charset="-122"/>
                <a:ea typeface="宋体" panose="02010600030101010101" pitchFamily="2" charset="-122"/>
              </a:rPr>
              <a:t>join</a:t>
            </a:r>
            <a:r>
              <a:rPr lang="zh-CN" altLang="en-US" sz="2000" dirty="0">
                <a:latin typeface="宋体" panose="02010600030101010101" pitchFamily="2" charset="-122"/>
                <a:ea typeface="宋体" panose="02010600030101010101" pitchFamily="2" charset="-122"/>
              </a:rPr>
              <a:t>后面的为右表，运行结果中将包含所有右表中的记录，左表记录根据匹配关系补充右表信息，如无关联记录则置</a:t>
            </a:r>
            <a:r>
              <a:rPr lang="en-US" altLang="zh-CN" sz="2000" dirty="0">
                <a:latin typeface="宋体" panose="02010600030101010101" pitchFamily="2" charset="-122"/>
                <a:ea typeface="宋体" panose="02010600030101010101" pitchFamily="2" charset="-122"/>
              </a:rPr>
              <a:t>NULL</a:t>
            </a:r>
            <a:r>
              <a:rPr lang="zh-CN" altLang="en-US" sz="2000" dirty="0" smtClean="0">
                <a:latin typeface="宋体" panose="02010600030101010101" pitchFamily="2" charset="-122"/>
                <a:ea typeface="宋体" panose="02010600030101010101" pitchFamily="2" charset="-122"/>
              </a:rPr>
              <a:t>处理。</a:t>
            </a:r>
            <a:endParaRPr lang="en-US" altLang="zh-CN" sz="2000" dirty="0">
              <a:latin typeface="宋体" panose="02010600030101010101" pitchFamily="2" charset="-122"/>
              <a:ea typeface="宋体" panose="02010600030101010101" pitchFamily="2" charset="-122"/>
            </a:endParaRPr>
          </a:p>
          <a:p>
            <a:pPr lvl="1">
              <a:buClr>
                <a:schemeClr val="accent2"/>
              </a:buClr>
            </a:pPr>
            <a:endParaRPr lang="en-US" altLang="zh-CN" sz="2000" dirty="0">
              <a:latin typeface="宋体" panose="02010600030101010101" pitchFamily="2" charset="-122"/>
              <a:ea typeface="宋体" panose="02010600030101010101" pitchFamily="2" charset="-122"/>
            </a:endParaRPr>
          </a:p>
        </p:txBody>
      </p:sp>
      <p:sp>
        <p:nvSpPr>
          <p:cNvPr id="3" name="矩形 2"/>
          <p:cNvSpPr/>
          <p:nvPr/>
        </p:nvSpPr>
        <p:spPr>
          <a:xfrm>
            <a:off x="684213" y="3429000"/>
            <a:ext cx="7796212" cy="954107"/>
          </a:xfrm>
          <a:prstGeom prst="rect">
            <a:avLst/>
          </a:prstGeom>
        </p:spPr>
        <p:txBody>
          <a:bodyPr wrap="square">
            <a:spAutoFit/>
          </a:bodyPr>
          <a:lstStyle/>
          <a:p>
            <a:r>
              <a:rPr lang="zh-CN" altLang="en-US" dirty="0" smtClean="0"/>
              <a:t>假设想</a:t>
            </a:r>
            <a:r>
              <a:rPr lang="zh-CN" altLang="en-US" dirty="0"/>
              <a:t>要获取所有</a:t>
            </a:r>
            <a:r>
              <a:rPr lang="zh-CN" altLang="en-US" dirty="0" smtClean="0"/>
              <a:t>部的</a:t>
            </a:r>
            <a:r>
              <a:rPr lang="zh-CN" altLang="en-US" dirty="0"/>
              <a:t>名称以及他们的员工</a:t>
            </a:r>
            <a:r>
              <a:rPr lang="en-US" altLang="zh-CN" dirty="0"/>
              <a:t>,</a:t>
            </a:r>
            <a:r>
              <a:rPr lang="zh-CN" altLang="en-US" dirty="0"/>
              <a:t>即使有些</a:t>
            </a:r>
            <a:r>
              <a:rPr lang="zh-CN" altLang="en-US" dirty="0" smtClean="0"/>
              <a:t>部门还</a:t>
            </a:r>
            <a:r>
              <a:rPr lang="zh-CN" altLang="en-US" dirty="0"/>
              <a:t>没有分配任何员工。</a:t>
            </a:r>
          </a:p>
        </p:txBody>
      </p:sp>
      <p:pic>
        <p:nvPicPr>
          <p:cNvPr id="1024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3797" y="4383107"/>
            <a:ext cx="7776627" cy="165704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467544" y="6033455"/>
            <a:ext cx="8280920" cy="830997"/>
          </a:xfrm>
          <a:prstGeom prst="rect">
            <a:avLst/>
          </a:prstGeom>
        </p:spPr>
        <p:txBody>
          <a:bodyPr wrap="square">
            <a:spAutoFit/>
          </a:bodyPr>
          <a:lstStyle/>
          <a:p>
            <a:r>
              <a:rPr lang="zh-CN" altLang="en-US" sz="2400" dirty="0"/>
              <a:t>这个查询会返回所有部门</a:t>
            </a:r>
            <a:r>
              <a:rPr lang="en-US" altLang="zh-CN" sz="2400" dirty="0"/>
              <a:t>,</a:t>
            </a:r>
            <a:r>
              <a:rPr lang="zh-CN" altLang="en-US" sz="2400" dirty="0"/>
              <a:t>即使某些部门</a:t>
            </a:r>
            <a:r>
              <a:rPr lang="en-US" altLang="zh-CN" sz="2400" dirty="0"/>
              <a:t>]</a:t>
            </a:r>
            <a:r>
              <a:rPr lang="zh-CN" altLang="en-US" sz="2400" dirty="0"/>
              <a:t>还没有员工</a:t>
            </a:r>
            <a:r>
              <a:rPr lang="en-US" altLang="zh-CN" sz="2400" dirty="0"/>
              <a:t>,</a:t>
            </a:r>
            <a:r>
              <a:rPr lang="zh-CN" altLang="en-US" sz="2400" dirty="0"/>
              <a:t>员工姓名将显示为</a:t>
            </a:r>
            <a:r>
              <a:rPr lang="en-US" altLang="zh-CN" sz="2400" dirty="0"/>
              <a:t>NULL</a:t>
            </a:r>
            <a:r>
              <a:rPr lang="zh-CN" altLang="en-US" sz="2400" dirty="0"/>
              <a:t>。</a:t>
            </a:r>
          </a:p>
        </p:txBody>
      </p:sp>
    </p:spTree>
    <p:extLst>
      <p:ext uri="{BB962C8B-B14F-4D97-AF65-F5344CB8AC3E}">
        <p14:creationId xmlns:p14="http://schemas.microsoft.com/office/powerpoint/2010/main" val="107242154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24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323528" y="172958"/>
            <a:ext cx="8208912" cy="954107"/>
          </a:xfrm>
          <a:prstGeom prst="rect">
            <a:avLst/>
          </a:prstGeom>
        </p:spPr>
        <p:txBody>
          <a:bodyPr wrap="square">
            <a:spAutoFit/>
          </a:bodyPr>
          <a:lstStyle/>
          <a:p>
            <a:pPr>
              <a:buClr>
                <a:schemeClr val="accent2"/>
              </a:buClr>
            </a:pPr>
            <a:r>
              <a:rPr lang="zh-CN" altLang="en-US" dirty="0">
                <a:latin typeface="宋体" panose="02010600030101010101" pitchFamily="2" charset="-122"/>
              </a:rPr>
              <a:t>例：查询出学生信息与院系信息相关连的查询结果集，要求学院信息是全部的，学生信息作为补充。</a:t>
            </a:r>
            <a:endParaRPr lang="en-US" altLang="zh-CN" dirty="0">
              <a:latin typeface="宋体" panose="02010600030101010101" pitchFamily="2" charset="-122"/>
            </a:endParaRP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8985" y="1412776"/>
            <a:ext cx="8979519" cy="51992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85845038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17"/>
          <p:cNvSpPr>
            <a:spLocks noGrp="1" noChangeArrowheads="1"/>
          </p:cNvSpPr>
          <p:nvPr>
            <p:ph type="title"/>
          </p:nvPr>
        </p:nvSpPr>
        <p:spPr>
          <a:xfrm>
            <a:off x="474804" y="0"/>
            <a:ext cx="8229600" cy="1143000"/>
          </a:xfrm>
          <a:noFill/>
        </p:spPr>
        <p:txBody>
          <a:bodyPr/>
          <a:lstStyle/>
          <a:p>
            <a:pPr eaLnBrk="1" hangingPunct="1"/>
            <a:r>
              <a:rPr lang="zh-CN" altLang="en-US" dirty="0">
                <a:ea typeface="宋体" panose="02010600030101010101" pitchFamily="2" charset="-122"/>
              </a:rPr>
              <a:t>外部连接</a:t>
            </a:r>
            <a:r>
              <a:rPr lang="en-US" altLang="zh-CN" dirty="0">
                <a:ea typeface="宋体" panose="02010600030101010101" pitchFamily="2" charset="-122"/>
              </a:rPr>
              <a:t>-</a:t>
            </a:r>
            <a:r>
              <a:rPr lang="zh-CN" altLang="en-US" dirty="0">
                <a:ea typeface="宋体" panose="02010600030101010101" pitchFamily="2" charset="-122"/>
              </a:rPr>
              <a:t>全外</a:t>
            </a:r>
            <a:r>
              <a:rPr lang="zh-CN" altLang="en-US" sz="3200" dirty="0">
                <a:ea typeface="宋体" panose="02010600030101010101" pitchFamily="2" charset="-122"/>
              </a:rPr>
              <a:t>联接</a:t>
            </a:r>
            <a:endParaRPr lang="en-US" altLang="zh-CN" sz="3200" dirty="0">
              <a:ea typeface="宋体" panose="02010600030101010101" pitchFamily="2" charset="-122"/>
            </a:endParaRPr>
          </a:p>
        </p:txBody>
      </p:sp>
      <p:sp>
        <p:nvSpPr>
          <p:cNvPr id="32771" name="Text Box 18"/>
          <p:cNvSpPr txBox="1">
            <a:spLocks noChangeArrowheads="1"/>
          </p:cNvSpPr>
          <p:nvPr/>
        </p:nvSpPr>
        <p:spPr bwMode="auto">
          <a:xfrm>
            <a:off x="684213" y="1052736"/>
            <a:ext cx="7796212" cy="1384995"/>
          </a:xfrm>
          <a:prstGeom prst="rect">
            <a:avLst/>
          </a:prstGeom>
          <a:noFill/>
          <a:ln w="9525" algn="ctr">
            <a:noFill/>
            <a:miter lim="800000"/>
          </a:ln>
        </p:spPr>
        <p:txBody>
          <a:bodyPr wrap="square">
            <a:spAutoFit/>
          </a:bodyPr>
          <a:lstStyle/>
          <a:p>
            <a:pPr marL="363855" indent="-363855">
              <a:buClr>
                <a:schemeClr val="accent2"/>
              </a:buClr>
              <a:buFont typeface="Wingdings" panose="05000000000000000000" pitchFamily="2" charset="2"/>
              <a:buChar char="u"/>
            </a:pPr>
            <a:r>
              <a:rPr lang="zh-CN" altLang="en-US" sz="2400" dirty="0">
                <a:latin typeface="宋体" panose="02010600030101010101" pitchFamily="2" charset="-122"/>
                <a:ea typeface="宋体" panose="02010600030101010101" pitchFamily="2" charset="-122"/>
              </a:rPr>
              <a:t>全外连接</a:t>
            </a:r>
            <a:r>
              <a:rPr lang="en-US" altLang="zh-CN" sz="2400" dirty="0">
                <a:latin typeface="宋体" panose="02010600030101010101" pitchFamily="2" charset="-122"/>
                <a:ea typeface="宋体" panose="02010600030101010101" pitchFamily="2" charset="-122"/>
              </a:rPr>
              <a:t>(RIGHT [OUTER] JOIN)</a:t>
            </a:r>
            <a:r>
              <a:rPr lang="zh-CN" altLang="en-US" sz="2400" dirty="0">
                <a:latin typeface="宋体" panose="02010600030101010101" pitchFamily="2" charset="-122"/>
                <a:ea typeface="宋体" panose="02010600030101010101" pitchFamily="2" charset="-122"/>
              </a:rPr>
              <a:t>：</a:t>
            </a:r>
            <a:endParaRPr lang="en-US" altLang="zh-CN" sz="2400" dirty="0">
              <a:latin typeface="宋体" panose="02010600030101010101" pitchFamily="2" charset="-122"/>
              <a:ea typeface="宋体" panose="02010600030101010101" pitchFamily="2" charset="-122"/>
            </a:endParaRPr>
          </a:p>
          <a:p>
            <a:pPr marL="821055" lvl="1" indent="-363855">
              <a:buClr>
                <a:schemeClr val="accent2"/>
              </a:buClr>
              <a:buFont typeface="Wingdings" panose="05000000000000000000" pitchFamily="2" charset="2"/>
              <a:buChar char="l"/>
            </a:pPr>
            <a:r>
              <a:rPr lang="zh-CN" altLang="en-US" sz="2000" dirty="0" smtClean="0">
                <a:latin typeface="宋体" panose="02010600030101010101" pitchFamily="2" charset="-122"/>
                <a:ea typeface="宋体" panose="02010600030101010101" pitchFamily="2" charset="-122"/>
              </a:rPr>
              <a:t>可以</a:t>
            </a:r>
            <a:r>
              <a:rPr lang="zh-CN" altLang="en-US" sz="2000" dirty="0">
                <a:latin typeface="宋体" panose="02010600030101010101" pitchFamily="2" charset="-122"/>
                <a:ea typeface="宋体" panose="02010600030101010101" pitchFamily="2" charset="-122"/>
              </a:rPr>
              <a:t>简单的理解为：</a:t>
            </a:r>
            <a:r>
              <a:rPr lang="en-US" altLang="zh-CN" sz="2000" dirty="0">
                <a:latin typeface="宋体" panose="02010600030101010101" pitchFamily="2" charset="-122"/>
                <a:ea typeface="宋体" panose="02010600030101010101" pitchFamily="2" charset="-122"/>
              </a:rPr>
              <a:t>FULL [OUTER] JOIN </a:t>
            </a:r>
            <a:r>
              <a:rPr lang="zh-CN" altLang="en-US" sz="2000" dirty="0">
                <a:latin typeface="宋体" panose="02010600030101010101" pitchFamily="2" charset="-122"/>
                <a:ea typeface="宋体" panose="02010600030101010101" pitchFamily="2" charset="-122"/>
              </a:rPr>
              <a:t>相当于</a:t>
            </a:r>
            <a:r>
              <a:rPr lang="en-US" altLang="zh-CN" sz="2000" dirty="0">
                <a:latin typeface="宋体" panose="02010600030101010101" pitchFamily="2" charset="-122"/>
                <a:ea typeface="宋体" panose="02010600030101010101" pitchFamily="2" charset="-122"/>
              </a:rPr>
              <a:t>LEFT [OUTER] JOIN</a:t>
            </a:r>
            <a:r>
              <a:rPr lang="zh-CN" altLang="en-US" sz="2000" dirty="0">
                <a:latin typeface="宋体" panose="02010600030101010101" pitchFamily="2" charset="-122"/>
                <a:ea typeface="宋体" panose="02010600030101010101" pitchFamily="2" charset="-122"/>
              </a:rPr>
              <a:t>和</a:t>
            </a:r>
            <a:r>
              <a:rPr lang="en-US" altLang="zh-CN" sz="2000" dirty="0">
                <a:latin typeface="宋体" panose="02010600030101010101" pitchFamily="2" charset="-122"/>
                <a:ea typeface="宋体" panose="02010600030101010101" pitchFamily="2" charset="-122"/>
              </a:rPr>
              <a:t>RIGHT [OUTER] JOIN</a:t>
            </a:r>
            <a:r>
              <a:rPr lang="zh-CN" altLang="en-US" sz="2000" dirty="0">
                <a:latin typeface="宋体" panose="02010600030101010101" pitchFamily="2" charset="-122"/>
                <a:ea typeface="宋体" panose="02010600030101010101" pitchFamily="2" charset="-122"/>
              </a:rPr>
              <a:t>查询的结果集再通过</a:t>
            </a:r>
            <a:r>
              <a:rPr lang="en-US" altLang="zh-CN" sz="2000" dirty="0">
                <a:latin typeface="宋体" panose="02010600030101010101" pitchFamily="2" charset="-122"/>
                <a:ea typeface="宋体" panose="02010600030101010101" pitchFamily="2" charset="-122"/>
              </a:rPr>
              <a:t>UNION(</a:t>
            </a:r>
            <a:r>
              <a:rPr lang="zh-CN" altLang="en-US" sz="2000" dirty="0">
                <a:latin typeface="宋体" panose="02010600030101010101" pitchFamily="2" charset="-122"/>
                <a:ea typeface="宋体" panose="02010600030101010101" pitchFamily="2" charset="-122"/>
              </a:rPr>
              <a:t>不是</a:t>
            </a:r>
            <a:r>
              <a:rPr lang="en-US" altLang="zh-CN" sz="2000" dirty="0">
                <a:latin typeface="宋体" panose="02010600030101010101" pitchFamily="2" charset="-122"/>
                <a:ea typeface="宋体" panose="02010600030101010101" pitchFamily="2" charset="-122"/>
              </a:rPr>
              <a:t>UNION ALL)</a:t>
            </a:r>
            <a:r>
              <a:rPr lang="zh-CN" altLang="en-US" sz="2000" dirty="0">
                <a:latin typeface="宋体" panose="02010600030101010101" pitchFamily="2" charset="-122"/>
                <a:ea typeface="宋体" panose="02010600030101010101" pitchFamily="2" charset="-122"/>
              </a:rPr>
              <a:t>连接在一起。</a:t>
            </a:r>
          </a:p>
        </p:txBody>
      </p:sp>
      <p:sp>
        <p:nvSpPr>
          <p:cNvPr id="3" name="矩形 2"/>
          <p:cNvSpPr/>
          <p:nvPr/>
        </p:nvSpPr>
        <p:spPr>
          <a:xfrm>
            <a:off x="0" y="2708920"/>
            <a:ext cx="8712968" cy="707886"/>
          </a:xfrm>
          <a:prstGeom prst="rect">
            <a:avLst/>
          </a:prstGeom>
        </p:spPr>
        <p:txBody>
          <a:bodyPr wrap="square">
            <a:spAutoFit/>
          </a:bodyPr>
          <a:lstStyle/>
          <a:p>
            <a:r>
              <a:rPr lang="zh-CN" altLang="en-US" sz="2000" dirty="0" smtClean="0"/>
              <a:t>假设要</a:t>
            </a:r>
            <a:r>
              <a:rPr lang="zh-CN" altLang="en-US" sz="2000" dirty="0"/>
              <a:t>获取所有员工及</a:t>
            </a:r>
            <a:r>
              <a:rPr lang="zh-CN" altLang="en-US" sz="2000" dirty="0" smtClean="0"/>
              <a:t>部门信息</a:t>
            </a:r>
            <a:r>
              <a:rPr lang="en-US" altLang="zh-CN" sz="2000" dirty="0"/>
              <a:t>,</a:t>
            </a:r>
            <a:r>
              <a:rPr lang="zh-CN" altLang="en-US" sz="2000" dirty="0"/>
              <a:t>即使有些员工没有部门</a:t>
            </a:r>
            <a:r>
              <a:rPr lang="en-US" altLang="zh-CN" sz="2000" dirty="0"/>
              <a:t>,</a:t>
            </a:r>
            <a:r>
              <a:rPr lang="zh-CN" altLang="en-US" sz="2000" dirty="0"/>
              <a:t>或者有些</a:t>
            </a:r>
            <a:r>
              <a:rPr lang="zh-CN" altLang="en-US" sz="2000" dirty="0" smtClean="0"/>
              <a:t>部门没有</a:t>
            </a:r>
            <a:r>
              <a:rPr lang="zh-CN" altLang="en-US" sz="2000" dirty="0"/>
              <a:t>员工。</a:t>
            </a:r>
          </a:p>
        </p:txBody>
      </p:sp>
      <p:pic>
        <p:nvPicPr>
          <p:cNvPr id="1126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3528" y="3573015"/>
            <a:ext cx="6552728" cy="28821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11523390"/>
      </p:ext>
    </p:extLst>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2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2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1268760"/>
            <a:ext cx="8831480" cy="453650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988105022"/>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JOIN</a:t>
            </a:r>
            <a:r>
              <a:rPr lang="zh-CN" altLang="en-US" dirty="0"/>
              <a:t>操作的应用场景</a:t>
            </a:r>
          </a:p>
        </p:txBody>
      </p:sp>
      <p:sp>
        <p:nvSpPr>
          <p:cNvPr id="3" name="内容占位符 2"/>
          <p:cNvSpPr>
            <a:spLocks noGrp="1"/>
          </p:cNvSpPr>
          <p:nvPr>
            <p:ph idx="1"/>
          </p:nvPr>
        </p:nvSpPr>
        <p:spPr>
          <a:xfrm>
            <a:off x="0" y="1340768"/>
            <a:ext cx="9036496" cy="5517232"/>
          </a:xfrm>
        </p:spPr>
        <p:txBody>
          <a:bodyPr/>
          <a:lstStyle/>
          <a:p>
            <a:r>
              <a:rPr lang="en-US" altLang="zh-CN" sz="2400" dirty="0" smtClean="0"/>
              <a:t>1</a:t>
            </a:r>
            <a:r>
              <a:rPr lang="en-US" altLang="zh-CN" sz="2400" dirty="0"/>
              <a:t>.</a:t>
            </a:r>
            <a:r>
              <a:rPr lang="zh-CN" altLang="en-US" sz="2400" dirty="0"/>
              <a:t>数据</a:t>
            </a:r>
            <a:r>
              <a:rPr lang="zh-CN" altLang="en-US" sz="2400" dirty="0" smtClean="0"/>
              <a:t>整合</a:t>
            </a:r>
            <a:endParaRPr lang="en-US" altLang="zh-CN" sz="2400" dirty="0" smtClean="0"/>
          </a:p>
          <a:p>
            <a:pPr marL="0" indent="0">
              <a:buNone/>
            </a:pPr>
            <a:r>
              <a:rPr lang="en-US" altLang="zh-CN" sz="2400" dirty="0" smtClean="0"/>
              <a:t>JOIN</a:t>
            </a:r>
            <a:r>
              <a:rPr lang="zh-CN" altLang="en-US" sz="2400" dirty="0"/>
              <a:t>操作用于将多个表中的数据整合在一起。 例如</a:t>
            </a:r>
            <a:r>
              <a:rPr lang="en-US" altLang="zh-CN" sz="2400" dirty="0"/>
              <a:t>,</a:t>
            </a:r>
            <a:r>
              <a:rPr lang="zh-CN" altLang="en-US" sz="2400" dirty="0"/>
              <a:t>在电子商务应用中</a:t>
            </a:r>
            <a:r>
              <a:rPr lang="en-US" altLang="zh-CN" sz="2400" dirty="0"/>
              <a:t>,</a:t>
            </a:r>
            <a:r>
              <a:rPr lang="zh-CN" altLang="en-US" sz="2400" dirty="0"/>
              <a:t>可以将订单表与客户表、产品表结合起来</a:t>
            </a:r>
            <a:r>
              <a:rPr lang="en-US" altLang="zh-CN" sz="2400" dirty="0"/>
              <a:t>,</a:t>
            </a:r>
            <a:r>
              <a:rPr lang="zh-CN" altLang="en-US" sz="2400" dirty="0"/>
              <a:t>以获取完整的订单信息</a:t>
            </a:r>
            <a:r>
              <a:rPr lang="zh-CN" altLang="en-US" sz="2400" dirty="0" smtClean="0"/>
              <a:t>。</a:t>
            </a:r>
            <a:endParaRPr lang="en-US" altLang="zh-CN" sz="2400" dirty="0" smtClean="0"/>
          </a:p>
          <a:p>
            <a:r>
              <a:rPr lang="en-US" altLang="zh-CN" sz="2400" dirty="0" smtClean="0"/>
              <a:t>2</a:t>
            </a:r>
            <a:r>
              <a:rPr lang="en-US" altLang="zh-CN" sz="2400" dirty="0"/>
              <a:t>.</a:t>
            </a:r>
            <a:r>
              <a:rPr lang="zh-CN" altLang="en-US" sz="2400" dirty="0" smtClean="0"/>
              <a:t>数据分析</a:t>
            </a:r>
            <a:endParaRPr lang="en-US" altLang="zh-CN" sz="2400" dirty="0" smtClean="0"/>
          </a:p>
          <a:p>
            <a:pPr marL="0" indent="0">
              <a:buNone/>
            </a:pPr>
            <a:r>
              <a:rPr lang="zh-CN" altLang="en-US" sz="2400" dirty="0" smtClean="0"/>
              <a:t>通过</a:t>
            </a:r>
            <a:r>
              <a:rPr lang="en-US" altLang="zh-CN" sz="2400" dirty="0"/>
              <a:t>JOIN</a:t>
            </a:r>
            <a:r>
              <a:rPr lang="zh-CN" altLang="en-US" sz="2400" dirty="0"/>
              <a:t>操作</a:t>
            </a:r>
            <a:r>
              <a:rPr lang="en-US" altLang="zh-CN" sz="2400" dirty="0"/>
              <a:t>,</a:t>
            </a:r>
            <a:r>
              <a:rPr lang="zh-CN" altLang="en-US" sz="2400" dirty="0"/>
              <a:t>可以对来自不同表的数据进行分析。例如</a:t>
            </a:r>
            <a:r>
              <a:rPr lang="en-US" altLang="zh-CN" sz="2400" dirty="0"/>
              <a:t>,</a:t>
            </a:r>
            <a:r>
              <a:rPr lang="zh-CN" altLang="en-US" sz="2400" dirty="0"/>
              <a:t>可以将销售数据与产品数据结合起来</a:t>
            </a:r>
            <a:r>
              <a:rPr lang="en-US" altLang="zh-CN" sz="2400" dirty="0"/>
              <a:t>,</a:t>
            </a:r>
            <a:r>
              <a:rPr lang="zh-CN" altLang="en-US" sz="2400" dirty="0"/>
              <a:t>以分析不同产品的销售表现</a:t>
            </a:r>
            <a:r>
              <a:rPr lang="zh-CN" altLang="en-US" sz="2400" dirty="0" smtClean="0"/>
              <a:t>。</a:t>
            </a:r>
            <a:endParaRPr lang="en-US" altLang="zh-CN" sz="2400" dirty="0" smtClean="0"/>
          </a:p>
          <a:p>
            <a:r>
              <a:rPr lang="en-US" altLang="zh-CN" sz="2400" dirty="0" smtClean="0"/>
              <a:t>3</a:t>
            </a:r>
            <a:r>
              <a:rPr lang="en-US" altLang="zh-CN" sz="2400" dirty="0"/>
              <a:t>.</a:t>
            </a:r>
            <a:r>
              <a:rPr lang="zh-CN" altLang="en-US" sz="2400" dirty="0"/>
              <a:t>数据</a:t>
            </a:r>
            <a:r>
              <a:rPr lang="zh-CN" altLang="en-US" sz="2400" dirty="0" smtClean="0"/>
              <a:t>清理</a:t>
            </a:r>
            <a:endParaRPr lang="en-US" altLang="zh-CN" sz="2400" dirty="0" smtClean="0"/>
          </a:p>
          <a:p>
            <a:pPr marL="0" indent="0">
              <a:buNone/>
            </a:pPr>
            <a:r>
              <a:rPr lang="en-US" altLang="zh-CN" sz="2400" dirty="0" smtClean="0"/>
              <a:t>JOIN</a:t>
            </a:r>
            <a:r>
              <a:rPr lang="zh-CN" altLang="en-US" sz="2400" dirty="0"/>
              <a:t>操作还可以用于数据清理。例如</a:t>
            </a:r>
            <a:r>
              <a:rPr lang="en-US" altLang="zh-CN" sz="2400" dirty="0"/>
              <a:t>,</a:t>
            </a:r>
            <a:r>
              <a:rPr lang="zh-CN" altLang="en-US" sz="2400" dirty="0"/>
              <a:t>可以使用</a:t>
            </a:r>
            <a:r>
              <a:rPr lang="en-US" altLang="zh-CN" sz="2400" dirty="0"/>
              <a:t>LEFT JOIN</a:t>
            </a:r>
            <a:r>
              <a:rPr lang="zh-CN" altLang="en-US" sz="2400" dirty="0"/>
              <a:t>找到没有匹配记录的数据</a:t>
            </a:r>
            <a:r>
              <a:rPr lang="en-US" altLang="zh-CN" sz="2400" dirty="0"/>
              <a:t>,</a:t>
            </a:r>
            <a:r>
              <a:rPr lang="zh-CN" altLang="en-US" sz="2400" dirty="0"/>
              <a:t>以确定是否有数据缺失或错误。</a:t>
            </a:r>
          </a:p>
        </p:txBody>
      </p:sp>
    </p:spTree>
    <p:extLst>
      <p:ext uri="{BB962C8B-B14F-4D97-AF65-F5344CB8AC3E}">
        <p14:creationId xmlns:p14="http://schemas.microsoft.com/office/powerpoint/2010/main" val="31084322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smtClean="0"/>
              <a:t>JOIN</a:t>
            </a:r>
            <a:r>
              <a:rPr lang="zh-CN" altLang="en-US" dirty="0"/>
              <a:t>操作的性能优化</a:t>
            </a:r>
          </a:p>
        </p:txBody>
      </p:sp>
      <p:sp>
        <p:nvSpPr>
          <p:cNvPr id="3" name="内容占位符 2"/>
          <p:cNvSpPr>
            <a:spLocks noGrp="1"/>
          </p:cNvSpPr>
          <p:nvPr>
            <p:ph idx="1"/>
          </p:nvPr>
        </p:nvSpPr>
        <p:spPr>
          <a:xfrm>
            <a:off x="107504" y="1600200"/>
            <a:ext cx="8928992" cy="4525963"/>
          </a:xfrm>
        </p:spPr>
        <p:txBody>
          <a:bodyPr/>
          <a:lstStyle/>
          <a:p>
            <a:r>
              <a:rPr lang="en-US" altLang="zh-CN" sz="2400" dirty="0" smtClean="0"/>
              <a:t>1</a:t>
            </a:r>
            <a:r>
              <a:rPr lang="en-US" altLang="zh-CN" sz="2400" dirty="0"/>
              <a:t>.</a:t>
            </a:r>
            <a:r>
              <a:rPr lang="zh-CN" altLang="en-US" sz="2400" dirty="0"/>
              <a:t>使用</a:t>
            </a:r>
            <a:r>
              <a:rPr lang="zh-CN" altLang="en-US" sz="2400" dirty="0" smtClean="0"/>
              <a:t>索引</a:t>
            </a:r>
            <a:endParaRPr lang="en-US" altLang="zh-CN" sz="2400" dirty="0" smtClean="0"/>
          </a:p>
          <a:p>
            <a:pPr marL="0" indent="0">
              <a:buNone/>
            </a:pPr>
            <a:r>
              <a:rPr lang="zh-CN" altLang="en-US" sz="2400" dirty="0" smtClean="0"/>
              <a:t>在</a:t>
            </a:r>
            <a:r>
              <a:rPr lang="en-US" altLang="zh-CN" sz="2400" dirty="0"/>
              <a:t>JOIN</a:t>
            </a:r>
            <a:r>
              <a:rPr lang="zh-CN" altLang="en-US" sz="2400" dirty="0"/>
              <a:t>操作中</a:t>
            </a:r>
            <a:r>
              <a:rPr lang="en-US" altLang="zh-CN" sz="2400" dirty="0"/>
              <a:t>,</a:t>
            </a:r>
            <a:r>
              <a:rPr lang="zh-CN" altLang="en-US" sz="2400" dirty="0"/>
              <a:t>确保连接列上有索引</a:t>
            </a:r>
            <a:r>
              <a:rPr lang="en-US" altLang="zh-CN" sz="2400" dirty="0"/>
              <a:t>,</a:t>
            </a:r>
            <a:r>
              <a:rPr lang="zh-CN" altLang="en-US" sz="2400" dirty="0"/>
              <a:t>以提高查询性能。索可以显著减少数据库需要扫描的行数</a:t>
            </a:r>
            <a:r>
              <a:rPr lang="zh-CN" altLang="en-US" sz="2400" dirty="0" smtClean="0"/>
              <a:t>。</a:t>
            </a:r>
            <a:endParaRPr lang="en-US" altLang="zh-CN" sz="2400" dirty="0" smtClean="0"/>
          </a:p>
          <a:p>
            <a:r>
              <a:rPr lang="en-US" altLang="zh-CN" sz="2400" dirty="0" smtClean="0"/>
              <a:t>2</a:t>
            </a:r>
            <a:r>
              <a:rPr lang="en-US" altLang="zh-CN" sz="2400" dirty="0"/>
              <a:t>.</a:t>
            </a:r>
            <a:r>
              <a:rPr lang="zh-CN" altLang="en-US" sz="2400" dirty="0"/>
              <a:t>限制返回</a:t>
            </a:r>
            <a:r>
              <a:rPr lang="zh-CN" altLang="en-US" sz="2400" dirty="0" smtClean="0"/>
              <a:t>列</a:t>
            </a:r>
            <a:endParaRPr lang="en-US" altLang="zh-CN" sz="2400" dirty="0" smtClean="0"/>
          </a:p>
          <a:p>
            <a:pPr marL="0" indent="0">
              <a:buNone/>
            </a:pPr>
            <a:r>
              <a:rPr lang="zh-CN" altLang="en-US" sz="2400" dirty="0" smtClean="0"/>
              <a:t>仅</a:t>
            </a:r>
            <a:r>
              <a:rPr lang="zh-CN" altLang="en-US" sz="2400" dirty="0"/>
              <a:t>选择需要的列</a:t>
            </a:r>
            <a:r>
              <a:rPr lang="en-US" altLang="zh-CN" sz="2400" dirty="0"/>
              <a:t>,</a:t>
            </a:r>
            <a:r>
              <a:rPr lang="zh-CN" altLang="en-US" sz="2400" dirty="0"/>
              <a:t>以减少传输的数据量</a:t>
            </a:r>
            <a:r>
              <a:rPr lang="en-US" altLang="zh-CN" sz="2400" dirty="0"/>
              <a:t>,</a:t>
            </a:r>
            <a:r>
              <a:rPr lang="zh-CN" altLang="en-US" sz="2400" dirty="0"/>
              <a:t>从而提高查询性能</a:t>
            </a:r>
            <a:r>
              <a:rPr lang="zh-CN" altLang="en-US" sz="2400" dirty="0" smtClean="0"/>
              <a:t>。</a:t>
            </a:r>
            <a:endParaRPr lang="en-US" altLang="zh-CN" sz="2400" dirty="0" smtClean="0"/>
          </a:p>
          <a:p>
            <a:r>
              <a:rPr lang="en-US" altLang="zh-CN" sz="2400" dirty="0" smtClean="0"/>
              <a:t>3</a:t>
            </a:r>
            <a:r>
              <a:rPr lang="en-US" altLang="zh-CN" sz="2400" dirty="0"/>
              <a:t>.</a:t>
            </a:r>
            <a:r>
              <a:rPr lang="zh-CN" altLang="en-US" sz="2400" dirty="0"/>
              <a:t>使用表</a:t>
            </a:r>
            <a:r>
              <a:rPr lang="zh-CN" altLang="en-US" sz="2400" dirty="0" smtClean="0"/>
              <a:t>驱动</a:t>
            </a:r>
            <a:endParaRPr lang="en-US" altLang="zh-CN" sz="2400" dirty="0" smtClean="0"/>
          </a:p>
          <a:p>
            <a:pPr marL="0" indent="0">
              <a:buNone/>
            </a:pPr>
            <a:r>
              <a:rPr lang="zh-CN" altLang="en-US" sz="2400" dirty="0" smtClean="0"/>
              <a:t>大</a:t>
            </a:r>
            <a:r>
              <a:rPr lang="zh-CN" altLang="en-US" sz="2400" dirty="0"/>
              <a:t>表在</a:t>
            </a:r>
            <a:r>
              <a:rPr lang="en-US" altLang="zh-CN" sz="2400" dirty="0"/>
              <a:t>JOIN</a:t>
            </a:r>
            <a:r>
              <a:rPr lang="zh-CN" altLang="en-US" sz="2400" dirty="0"/>
              <a:t>操作中</a:t>
            </a:r>
            <a:r>
              <a:rPr lang="en-US" altLang="zh-CN" sz="2400" dirty="0"/>
              <a:t>,</a:t>
            </a:r>
            <a:r>
              <a:rPr lang="zh-CN" altLang="en-US" sz="2400" dirty="0"/>
              <a:t>确保小表在连接时驱动大表</a:t>
            </a:r>
            <a:r>
              <a:rPr lang="en-US" altLang="zh-CN" sz="2400" dirty="0"/>
              <a:t>,</a:t>
            </a:r>
            <a:r>
              <a:rPr lang="zh-CN" altLang="en-US" sz="2400" dirty="0"/>
              <a:t>以减少处理的数据量</a:t>
            </a:r>
            <a:r>
              <a:rPr lang="zh-CN" altLang="en-US" sz="2400" dirty="0" smtClean="0"/>
              <a:t>。</a:t>
            </a:r>
            <a:endParaRPr lang="en-US" altLang="zh-CN" sz="2400" dirty="0" smtClean="0"/>
          </a:p>
          <a:p>
            <a:r>
              <a:rPr lang="en-US" altLang="zh-CN" sz="2400" dirty="0" smtClean="0"/>
              <a:t>4</a:t>
            </a:r>
            <a:r>
              <a:rPr lang="en-US" altLang="zh-CN" sz="2400" dirty="0"/>
              <a:t>.</a:t>
            </a:r>
            <a:r>
              <a:rPr lang="zh-CN" altLang="en-US" sz="2400" dirty="0"/>
              <a:t>避免复杂的嵌套</a:t>
            </a:r>
            <a:r>
              <a:rPr lang="zh-CN" altLang="en-US" sz="2400" dirty="0" smtClean="0"/>
              <a:t>查询</a:t>
            </a:r>
            <a:endParaRPr lang="en-US" altLang="zh-CN" sz="2400" dirty="0" smtClean="0"/>
          </a:p>
          <a:p>
            <a:pPr marL="0" indent="0">
              <a:buNone/>
            </a:pPr>
            <a:r>
              <a:rPr lang="zh-CN" altLang="en-US" sz="2400" dirty="0" smtClean="0"/>
              <a:t>尽量</a:t>
            </a:r>
            <a:r>
              <a:rPr lang="zh-CN" altLang="en-US" sz="2400" dirty="0"/>
              <a:t>避免复杂的嵌套查询</a:t>
            </a:r>
            <a:r>
              <a:rPr lang="en-US" altLang="zh-CN" sz="2400" dirty="0"/>
              <a:t>,</a:t>
            </a:r>
            <a:r>
              <a:rPr lang="zh-CN" altLang="en-US" sz="2400" dirty="0"/>
              <a:t>因为它们会影响性能。可以尝试使用临时表或视图来简化查询。</a:t>
            </a:r>
          </a:p>
        </p:txBody>
      </p:sp>
    </p:spTree>
    <p:extLst>
      <p:ext uri="{BB962C8B-B14F-4D97-AF65-F5344CB8AC3E}">
        <p14:creationId xmlns:p14="http://schemas.microsoft.com/office/powerpoint/2010/main" val="6905244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6" end="6"/>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79512" y="332657"/>
            <a:ext cx="8964488" cy="1656184"/>
          </a:xfrm>
        </p:spPr>
        <p:txBody>
          <a:bodyPr/>
          <a:lstStyle/>
          <a:p>
            <a:r>
              <a:rPr lang="zh-CN" altLang="en-US" dirty="0" smtClean="0"/>
              <a:t>假设有四张</a:t>
            </a:r>
            <a:r>
              <a:rPr lang="zh-CN" altLang="en-US" dirty="0"/>
              <a:t>表</a:t>
            </a:r>
            <a:r>
              <a:rPr lang="en-US" altLang="zh-CN" dirty="0"/>
              <a:t>: orders (</a:t>
            </a:r>
            <a:r>
              <a:rPr lang="zh-CN" altLang="en-US" dirty="0"/>
              <a:t>订单</a:t>
            </a:r>
            <a:r>
              <a:rPr lang="en-US" altLang="zh-CN" dirty="0"/>
              <a:t>)</a:t>
            </a:r>
            <a:r>
              <a:rPr lang="zh-CN" altLang="en-US" dirty="0"/>
              <a:t>、</a:t>
            </a:r>
            <a:r>
              <a:rPr lang="en-US" altLang="zh-CN" dirty="0"/>
              <a:t>customers ( </a:t>
            </a:r>
            <a:r>
              <a:rPr lang="zh-CN" altLang="en-US" dirty="0"/>
              <a:t>客户</a:t>
            </a:r>
            <a:r>
              <a:rPr lang="en-US" altLang="zh-CN" dirty="0"/>
              <a:t>)</a:t>
            </a:r>
            <a:r>
              <a:rPr lang="zh-CN" altLang="en-US" dirty="0"/>
              <a:t>和</a:t>
            </a:r>
            <a:r>
              <a:rPr lang="en-US" altLang="zh-CN" dirty="0"/>
              <a:t>products(</a:t>
            </a:r>
            <a:r>
              <a:rPr lang="zh-CN" altLang="en-US" dirty="0"/>
              <a:t>产品</a:t>
            </a:r>
            <a:r>
              <a:rPr lang="en-US" altLang="zh-CN" dirty="0" smtClean="0"/>
              <a:t>)</a:t>
            </a:r>
            <a:r>
              <a:rPr lang="zh-CN" altLang="en-US" dirty="0" smtClean="0"/>
              <a:t>、</a:t>
            </a:r>
            <a:r>
              <a:rPr lang="en-US" altLang="zh-CN" dirty="0" err="1" smtClean="0"/>
              <a:t>order_items</a:t>
            </a:r>
            <a:r>
              <a:rPr lang="en-US" altLang="zh-CN" dirty="0" smtClean="0"/>
              <a:t>(</a:t>
            </a:r>
            <a:r>
              <a:rPr lang="zh-CN" altLang="en-US" dirty="0"/>
              <a:t>子</a:t>
            </a:r>
            <a:r>
              <a:rPr lang="zh-CN" altLang="en-US" dirty="0" smtClean="0"/>
              <a:t>订单</a:t>
            </a:r>
            <a:r>
              <a:rPr lang="en-US" altLang="zh-CN" dirty="0" smtClean="0"/>
              <a:t>)</a:t>
            </a:r>
            <a:r>
              <a:rPr lang="zh-CN" altLang="en-US" dirty="0" smtClean="0"/>
              <a:t>。要</a:t>
            </a:r>
            <a:r>
              <a:rPr lang="zh-CN" altLang="en-US" dirty="0"/>
              <a:t>查询每个客户的订单详情</a:t>
            </a:r>
            <a:r>
              <a:rPr lang="en-US" altLang="zh-CN" dirty="0"/>
              <a:t>,</a:t>
            </a:r>
            <a:r>
              <a:rPr lang="zh-CN" altLang="en-US" dirty="0"/>
              <a:t>包括订单中的产品</a:t>
            </a:r>
            <a:r>
              <a:rPr lang="zh-CN" altLang="en-US" dirty="0" smtClean="0"/>
              <a:t>信息</a:t>
            </a:r>
            <a:endParaRPr lang="en-US" altLang="zh-CN" dirty="0" smtClean="0"/>
          </a:p>
          <a:p>
            <a:endParaRPr lang="en-US" altLang="zh-CN" dirty="0" smtClean="0"/>
          </a:p>
          <a:p>
            <a:pPr marL="0" indent="0">
              <a:buNone/>
            </a:pPr>
            <a:r>
              <a:rPr lang="zh-CN" altLang="en-US" dirty="0" smtClean="0"/>
              <a:t>   表的数据结构如下：</a:t>
            </a:r>
            <a:endParaRPr lang="zh-CN" altLang="en-US" dirty="0"/>
          </a:p>
        </p:txBody>
      </p:sp>
      <p:pic>
        <p:nvPicPr>
          <p:cNvPr id="143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3356992"/>
            <a:ext cx="7920880" cy="273830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00808103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36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 y="1772816"/>
            <a:ext cx="9144000" cy="237626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矩形 3"/>
          <p:cNvSpPr/>
          <p:nvPr/>
        </p:nvSpPr>
        <p:spPr>
          <a:xfrm>
            <a:off x="179512" y="4351283"/>
            <a:ext cx="8712968" cy="954107"/>
          </a:xfrm>
          <a:prstGeom prst="rect">
            <a:avLst/>
          </a:prstGeom>
        </p:spPr>
        <p:txBody>
          <a:bodyPr wrap="square">
            <a:spAutoFit/>
          </a:bodyPr>
          <a:lstStyle/>
          <a:p>
            <a:r>
              <a:rPr lang="zh-CN" altLang="en-US" dirty="0"/>
              <a:t>这个查询通过</a:t>
            </a:r>
            <a:r>
              <a:rPr lang="en-US" altLang="zh-CN" dirty="0"/>
              <a:t>INNER JOIN</a:t>
            </a:r>
            <a:r>
              <a:rPr lang="zh-CN" altLang="en-US" dirty="0"/>
              <a:t>将四张表连接在一起</a:t>
            </a:r>
            <a:r>
              <a:rPr lang="en-US" altLang="zh-CN" dirty="0"/>
              <a:t>,</a:t>
            </a:r>
            <a:r>
              <a:rPr lang="zh-CN" altLang="en-US" dirty="0"/>
              <a:t>返回每个客户的订单信息</a:t>
            </a:r>
            <a:r>
              <a:rPr lang="en-US" altLang="zh-CN" dirty="0"/>
              <a:t>,</a:t>
            </a:r>
            <a:r>
              <a:rPr lang="zh-CN" altLang="en-US" dirty="0"/>
              <a:t>包括订单中每个产品的名称和数量。</a:t>
            </a:r>
          </a:p>
        </p:txBody>
      </p:sp>
    </p:spTree>
    <p:extLst>
      <p:ext uri="{BB962C8B-B14F-4D97-AF65-F5344CB8AC3E}">
        <p14:creationId xmlns:p14="http://schemas.microsoft.com/office/powerpoint/2010/main" val="2429322175"/>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584" y="179929"/>
            <a:ext cx="8316416"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3.7 Set function in SQL</a:t>
            </a:r>
          </a:p>
        </p:txBody>
      </p:sp>
      <p:sp>
        <p:nvSpPr>
          <p:cNvPr id="3" name="Rectangle 2"/>
          <p:cNvSpPr/>
          <p:nvPr/>
        </p:nvSpPr>
        <p:spPr>
          <a:xfrm>
            <a:off x="72008" y="1412776"/>
            <a:ext cx="9036496" cy="4268926"/>
          </a:xfrm>
          <a:prstGeom prst="rect">
            <a:avLst/>
          </a:prstGeom>
        </p:spPr>
        <p:txBody>
          <a:bodyPr wrap="square">
            <a:spAutoFit/>
          </a:bodyPr>
          <a:lstStyle/>
          <a:p>
            <a:r>
              <a:rPr lang="en-US" dirty="0">
                <a:solidFill>
                  <a:srgbClr val="7030A0"/>
                </a:solidFill>
                <a:latin typeface="Times New Roman" panose="02020603050405020304" pitchFamily="18" charset="0"/>
                <a:cs typeface="Times New Roman" panose="02020603050405020304" pitchFamily="18" charset="0"/>
              </a:rPr>
              <a:t>1.Set functions in SQL</a:t>
            </a:r>
          </a:p>
          <a:p>
            <a:r>
              <a:rPr lang="en-US" dirty="0">
                <a:solidFill>
                  <a:srgbClr val="002060"/>
                </a:solidFill>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[1] Set Functions</a:t>
            </a:r>
          </a:p>
          <a:p>
            <a:pPr marL="1257300" lvl="2" indent="-342900">
              <a:lnSpc>
                <a:spcPct val="150000"/>
              </a:lnSpc>
              <a:buFont typeface="Wingdings" panose="05000000000000000000" pitchFamily="2" charset="2"/>
              <a:buChar char="§"/>
            </a:pPr>
            <a:r>
              <a:rPr lang="en-US" sz="2200" dirty="0">
                <a:solidFill>
                  <a:srgbClr val="002060"/>
                </a:solidFill>
                <a:latin typeface="Times New Roman" panose="02020603050405020304" pitchFamily="18" charset="0"/>
                <a:cs typeface="Times New Roman" panose="02020603050405020304" pitchFamily="18" charset="0"/>
              </a:rPr>
              <a:t>Five types : </a:t>
            </a:r>
            <a:r>
              <a:rPr lang="en-US" sz="2200" dirty="0">
                <a:solidFill>
                  <a:srgbClr val="C00000"/>
                </a:solidFill>
                <a:latin typeface="Times New Roman" panose="02020603050405020304" pitchFamily="18" charset="0"/>
                <a:cs typeface="Times New Roman" panose="02020603050405020304" pitchFamily="18" charset="0"/>
              </a:rPr>
              <a:t>count, max, min, sum, </a:t>
            </a:r>
            <a:r>
              <a:rPr lang="en-US" sz="2200" dirty="0" err="1">
                <a:solidFill>
                  <a:srgbClr val="C00000"/>
                </a:solidFill>
                <a:latin typeface="Times New Roman" panose="02020603050405020304" pitchFamily="18" charset="0"/>
                <a:cs typeface="Times New Roman" panose="02020603050405020304" pitchFamily="18" charset="0"/>
              </a:rPr>
              <a:t>avg</a:t>
            </a:r>
            <a:endParaRPr lang="en-US" sz="2200" dirty="0">
              <a:solidFill>
                <a:srgbClr val="C00000"/>
              </a:solidFill>
              <a:latin typeface="Times New Roman" panose="02020603050405020304" pitchFamily="18" charset="0"/>
              <a:cs typeface="Times New Roman" panose="02020603050405020304" pitchFamily="18" charset="0"/>
            </a:endParaRPr>
          </a:p>
          <a:p>
            <a:pPr marL="1257300" lvl="2" indent="-342900">
              <a:lnSpc>
                <a:spcPct val="150000"/>
              </a:lnSpc>
              <a:buFont typeface="Wingdings" panose="05000000000000000000" pitchFamily="2" charset="2"/>
              <a:buChar char="§"/>
            </a:pPr>
            <a:r>
              <a:rPr lang="en-US" sz="2200" dirty="0">
                <a:solidFill>
                  <a:srgbClr val="002060"/>
                </a:solidFill>
                <a:latin typeface="Times New Roman" panose="02020603050405020304" pitchFamily="18" charset="0"/>
                <a:cs typeface="Times New Roman" panose="02020603050405020304" pitchFamily="18" charset="0"/>
              </a:rPr>
              <a:t>Operate on sets of values, return a single value</a:t>
            </a:r>
          </a:p>
          <a:p>
            <a:pPr>
              <a:spcBef>
                <a:spcPts val="600"/>
              </a:spcBef>
            </a:pPr>
            <a:r>
              <a:rPr lang="en-US" dirty="0">
                <a:solidFill>
                  <a:srgbClr val="002060"/>
                </a:solidFill>
                <a:latin typeface="Times New Roman" panose="02020603050405020304" pitchFamily="18" charset="0"/>
                <a:cs typeface="Times New Roman" panose="02020603050405020304" pitchFamily="18" charset="0"/>
              </a:rPr>
              <a:t>   </a:t>
            </a:r>
            <a:r>
              <a:rPr lang="en-US" sz="2400" dirty="0">
                <a:solidFill>
                  <a:srgbClr val="7030A0"/>
                </a:solidFill>
                <a:latin typeface="Times New Roman" panose="02020603050405020304" pitchFamily="18" charset="0"/>
                <a:cs typeface="Times New Roman" panose="02020603050405020304" pitchFamily="18" charset="0"/>
              </a:rPr>
              <a:t>[2] Different  terms in Products  </a:t>
            </a:r>
          </a:p>
          <a:p>
            <a:pPr marL="1257300" lvl="2" indent="-342900">
              <a:lnSpc>
                <a:spcPct val="150000"/>
              </a:lnSpc>
              <a:buFont typeface="Wingdings" panose="05000000000000000000" pitchFamily="2" charset="2"/>
              <a:buChar char="§"/>
            </a:pPr>
            <a:r>
              <a:rPr lang="en-US" sz="2000" dirty="0">
                <a:solidFill>
                  <a:srgbClr val="002060"/>
                </a:solidFill>
                <a:latin typeface="Times New Roman" panose="02020603050405020304" pitchFamily="18" charset="0"/>
                <a:cs typeface="Times New Roman" panose="02020603050405020304" pitchFamily="18" charset="0"/>
              </a:rPr>
              <a:t>X/OPEN and INGRES refer to 	</a:t>
            </a:r>
            <a:r>
              <a:rPr lang="en-US" sz="2000" i="1" dirty="0">
                <a:solidFill>
                  <a:srgbClr val="C00000"/>
                </a:solidFill>
                <a:latin typeface="Times New Roman" panose="02020603050405020304" pitchFamily="18" charset="0"/>
                <a:cs typeface="Times New Roman" panose="02020603050405020304" pitchFamily="18" charset="0"/>
              </a:rPr>
              <a:t>set function</a:t>
            </a:r>
          </a:p>
          <a:p>
            <a:pPr marL="1257300" lvl="2" indent="-342900">
              <a:lnSpc>
                <a:spcPct val="150000"/>
              </a:lnSpc>
              <a:buFont typeface="Wingdings" panose="05000000000000000000" pitchFamily="2" charset="2"/>
              <a:buChar char="§"/>
            </a:pPr>
            <a:r>
              <a:rPr lang="en-US" sz="2000" dirty="0">
                <a:solidFill>
                  <a:srgbClr val="002060"/>
                </a:solidFill>
                <a:latin typeface="Times New Roman" panose="02020603050405020304" pitchFamily="18" charset="0"/>
                <a:cs typeface="Times New Roman" panose="02020603050405020304" pitchFamily="18" charset="0"/>
              </a:rPr>
              <a:t>ANSI says 				</a:t>
            </a:r>
            <a:r>
              <a:rPr lang="en-US" sz="2000" i="1" dirty="0">
                <a:solidFill>
                  <a:srgbClr val="C00000"/>
                </a:solidFill>
                <a:latin typeface="Times New Roman" panose="02020603050405020304" pitchFamily="18" charset="0"/>
                <a:cs typeface="Times New Roman" panose="02020603050405020304" pitchFamily="18" charset="0"/>
              </a:rPr>
              <a:t>aggregate functions</a:t>
            </a:r>
          </a:p>
          <a:p>
            <a:pPr marL="1257300" lvl="2" indent="-342900">
              <a:lnSpc>
                <a:spcPct val="150000"/>
              </a:lnSpc>
              <a:buFont typeface="Wingdings" panose="05000000000000000000" pitchFamily="2" charset="2"/>
              <a:buChar char="§"/>
            </a:pPr>
            <a:r>
              <a:rPr lang="en-US" sz="2000" dirty="0">
                <a:solidFill>
                  <a:srgbClr val="002060"/>
                </a:solidFill>
                <a:latin typeface="Times New Roman" panose="02020603050405020304" pitchFamily="18" charset="0"/>
                <a:cs typeface="Times New Roman" panose="02020603050405020304" pitchFamily="18" charset="0"/>
              </a:rPr>
              <a:t>ORACLE has 			</a:t>
            </a:r>
            <a:r>
              <a:rPr lang="en-US" sz="2000" i="1" dirty="0">
                <a:solidFill>
                  <a:srgbClr val="C00000"/>
                </a:solidFill>
                <a:latin typeface="Times New Roman" panose="02020603050405020304" pitchFamily="18" charset="0"/>
                <a:cs typeface="Times New Roman" panose="02020603050405020304" pitchFamily="18" charset="0"/>
              </a:rPr>
              <a:t>group functions</a:t>
            </a:r>
          </a:p>
          <a:p>
            <a:pPr marL="1257300" lvl="2" indent="-342900">
              <a:lnSpc>
                <a:spcPct val="150000"/>
              </a:lnSpc>
              <a:buFont typeface="Wingdings" panose="05000000000000000000" pitchFamily="2" charset="2"/>
              <a:buChar char="§"/>
            </a:pPr>
            <a:r>
              <a:rPr lang="en-US" sz="2000" dirty="0">
                <a:solidFill>
                  <a:srgbClr val="002060"/>
                </a:solidFill>
                <a:latin typeface="Times New Roman" panose="02020603050405020304" pitchFamily="18" charset="0"/>
                <a:cs typeface="Times New Roman" panose="02020603050405020304" pitchFamily="18" charset="0"/>
              </a:rPr>
              <a:t>DB2 says 				</a:t>
            </a:r>
            <a:r>
              <a:rPr lang="en-US" sz="2000" i="1" dirty="0">
                <a:solidFill>
                  <a:srgbClr val="C00000"/>
                </a:solidFill>
                <a:latin typeface="Times New Roman" panose="02020603050405020304" pitchFamily="18" charset="0"/>
                <a:cs typeface="Times New Roman" panose="02020603050405020304" pitchFamily="18" charset="0"/>
              </a:rPr>
              <a:t>column functions</a:t>
            </a:r>
          </a:p>
        </p:txBody>
      </p:sp>
      <p:sp>
        <p:nvSpPr>
          <p:cNvPr id="4" name="矩形 3">
            <a:extLst>
              <a:ext uri="{FF2B5EF4-FFF2-40B4-BE49-F238E27FC236}">
                <a16:creationId xmlns="" xmlns:a16="http://schemas.microsoft.com/office/drawing/2014/main" id="{182E7C37-72F7-4EDB-BE47-E0E9A386E938}"/>
              </a:ext>
            </a:extLst>
          </p:cNvPr>
          <p:cNvSpPr/>
          <p:nvPr/>
        </p:nvSpPr>
        <p:spPr>
          <a:xfrm>
            <a:off x="107503" y="912980"/>
            <a:ext cx="5458519" cy="461665"/>
          </a:xfrm>
          <a:prstGeom prst="rect">
            <a:avLst/>
          </a:prstGeom>
          <a:solidFill>
            <a:srgbClr val="FFC000"/>
          </a:solidFill>
          <a:scene3d>
            <a:camera prst="orthographicFront"/>
            <a:lightRig rig="threePt" dir="t"/>
          </a:scene3d>
          <a:sp3d>
            <a:bevelT/>
          </a:sp3d>
        </p:spPr>
        <p:style>
          <a:lnRef idx="1">
            <a:schemeClr val="accent6"/>
          </a:lnRef>
          <a:fillRef idx="2">
            <a:schemeClr val="accent6"/>
          </a:fillRef>
          <a:effectRef idx="1">
            <a:schemeClr val="accent6"/>
          </a:effectRef>
          <a:fontRef idx="minor">
            <a:schemeClr val="dk1"/>
          </a:fontRef>
        </p:style>
        <p:txBody>
          <a:bodyPr wrap="square">
            <a:spAutoFit/>
          </a:bodyPr>
          <a:lstStyle/>
          <a:p>
            <a:pPr marL="342900" indent="-342900">
              <a:spcBef>
                <a:spcPts val="1800"/>
              </a:spcBef>
              <a:buFont typeface="Wingdings" panose="05000000000000000000" pitchFamily="2" charset="2"/>
              <a:buChar char="l"/>
            </a:pPr>
            <a:r>
              <a:rPr lang="en-US" altLang="zh-CN" sz="2400" i="1" dirty="0">
                <a:solidFill>
                  <a:srgbClr val="002060"/>
                </a:solidFill>
                <a:cs typeface="Times New Roman" pitchFamily="18" charset="0"/>
              </a:rPr>
              <a:t>Is there some </a:t>
            </a:r>
            <a:r>
              <a:rPr lang="en-US" altLang="zh-CN" sz="2400" i="1" dirty="0">
                <a:solidFill>
                  <a:srgbClr val="C00000"/>
                </a:solidFill>
                <a:cs typeface="Times New Roman" pitchFamily="18" charset="0"/>
              </a:rPr>
              <a:t>Functions</a:t>
            </a:r>
            <a:r>
              <a:rPr lang="en-US" altLang="zh-CN" sz="2400" i="1" dirty="0">
                <a:solidFill>
                  <a:srgbClr val="002060"/>
                </a:solidFill>
                <a:cs typeface="Times New Roman" pitchFamily="18" charset="0"/>
              </a:rPr>
              <a:t> in the SQL?</a:t>
            </a:r>
            <a:endParaRPr lang="en-US" altLang="zh-CN" sz="2400" i="1" dirty="0">
              <a:solidFill>
                <a:srgbClr val="7030A0"/>
              </a:solidFill>
              <a:cs typeface="Times New Roman" pitchFamily="18" charset="0"/>
            </a:endParaRPr>
          </a:p>
        </p:txBody>
      </p:sp>
      <p:pic>
        <p:nvPicPr>
          <p:cNvPr id="5" name="图片 4">
            <a:extLst>
              <a:ext uri="{FF2B5EF4-FFF2-40B4-BE49-F238E27FC236}">
                <a16:creationId xmlns="" xmlns:a16="http://schemas.microsoft.com/office/drawing/2014/main" id="{70746725-34A7-49D9-B42C-4D7F85811C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4048" y="690796"/>
            <a:ext cx="561975" cy="684359"/>
          </a:xfrm>
          <a:prstGeom prst="rect">
            <a:avLst/>
          </a:prstGeom>
        </p:spPr>
      </p:pic>
      <p:pic>
        <p:nvPicPr>
          <p:cNvPr id="6" name="图片 5">
            <a:extLst>
              <a:ext uri="{FF2B5EF4-FFF2-40B4-BE49-F238E27FC236}">
                <a16:creationId xmlns="" xmlns:a16="http://schemas.microsoft.com/office/drawing/2014/main" id="{5D6C1585-49CB-4B4C-9510-13C703E5CA7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1773218">
            <a:off x="8096078" y="147471"/>
            <a:ext cx="873448" cy="1085908"/>
          </a:xfrm>
          <a:prstGeom prst="rect">
            <a:avLst/>
          </a:prstGeom>
        </p:spPr>
      </p:pic>
    </p:spTree>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980728"/>
            <a:ext cx="9144000" cy="1514325"/>
          </a:xfrm>
          <a:prstGeom prst="rect">
            <a:avLst/>
          </a:prstGeom>
        </p:spPr>
        <p:txBody>
          <a:bodyPr wrap="square">
            <a:spAutoFit/>
          </a:bodyPr>
          <a:lstStyle/>
          <a:p>
            <a:pPr>
              <a:lnSpc>
                <a:spcPct val="150000"/>
              </a:lnSpc>
            </a:pPr>
            <a:r>
              <a:rPr lang="en-US" sz="2400" dirty="0">
                <a:solidFill>
                  <a:srgbClr val="7030A0"/>
                </a:solidFill>
                <a:latin typeface="Times New Roman" panose="02020603050405020304" pitchFamily="18" charset="0"/>
                <a:cs typeface="Times New Roman" panose="02020603050405020304" pitchFamily="18" charset="0"/>
              </a:rPr>
              <a:t>  [3] Set function syntax of SQL</a:t>
            </a:r>
          </a:p>
          <a:p>
            <a:pPr lvl="1">
              <a:lnSpc>
                <a:spcPct val="150000"/>
              </a:lnSpc>
            </a:pPr>
            <a:r>
              <a:rPr lang="en-US" sz="2000" dirty="0">
                <a:solidFill>
                  <a:srgbClr val="002060"/>
                </a:solidFill>
                <a:latin typeface="Times New Roman" panose="02020603050405020304" pitchFamily="18" charset="0"/>
                <a:cs typeface="Times New Roman" panose="02020603050405020304" pitchFamily="18" charset="0"/>
              </a:rPr>
              <a:t>     Select  </a:t>
            </a:r>
            <a:r>
              <a:rPr lang="en-US" sz="2000" dirty="0" err="1">
                <a:solidFill>
                  <a:srgbClr val="C00000"/>
                </a:solidFill>
                <a:latin typeface="Times New Roman" panose="02020603050405020304" pitchFamily="18" charset="0"/>
                <a:cs typeface="Times New Roman" panose="02020603050405020304" pitchFamily="18" charset="0"/>
              </a:rPr>
              <a:t>SET_functionName</a:t>
            </a:r>
            <a:r>
              <a:rPr lang="en-US" sz="2000" dirty="0">
                <a:solidFill>
                  <a:srgbClr val="002060"/>
                </a:solidFill>
                <a:latin typeface="Times New Roman" panose="02020603050405020304" pitchFamily="18" charset="0"/>
                <a:cs typeface="Times New Roman" panose="02020603050405020304" pitchFamily="18" charset="0"/>
              </a:rPr>
              <a:t> ([ ALL | DISTINCT ] </a:t>
            </a:r>
            <a:r>
              <a:rPr lang="en-US" sz="2000" dirty="0" err="1">
                <a:solidFill>
                  <a:srgbClr val="C00000"/>
                </a:solidFill>
                <a:latin typeface="Times New Roman" panose="02020603050405020304" pitchFamily="18" charset="0"/>
                <a:cs typeface="Times New Roman" panose="02020603050405020304" pitchFamily="18" charset="0"/>
              </a:rPr>
              <a:t>colname</a:t>
            </a:r>
            <a:r>
              <a:rPr lang="en-US" sz="2000" dirty="0">
                <a:solidFill>
                  <a:srgbClr val="002060"/>
                </a:solidFill>
                <a:latin typeface="Times New Roman" panose="02020603050405020304" pitchFamily="18" charset="0"/>
                <a:cs typeface="Times New Roman" panose="02020603050405020304" pitchFamily="18" charset="0"/>
              </a:rPr>
              <a:t>)  from….. </a:t>
            </a:r>
          </a:p>
          <a:p>
            <a:pPr lvl="1">
              <a:lnSpc>
                <a:spcPct val="150000"/>
              </a:lnSpc>
            </a:pPr>
            <a:r>
              <a:rPr lang="en-US" sz="2000" dirty="0">
                <a:solidFill>
                  <a:srgbClr val="002060"/>
                </a:solidFill>
                <a:latin typeface="Times New Roman" panose="02020603050405020304" pitchFamily="18" charset="0"/>
                <a:cs typeface="Times New Roman" panose="02020603050405020304" pitchFamily="18" charset="0"/>
              </a:rPr>
              <a:t>     Select  </a:t>
            </a:r>
            <a:r>
              <a:rPr lang="en-US" sz="2000" dirty="0">
                <a:solidFill>
                  <a:srgbClr val="C00000"/>
                </a:solidFill>
                <a:latin typeface="Times New Roman" panose="02020603050405020304" pitchFamily="18" charset="0"/>
                <a:cs typeface="Times New Roman" panose="02020603050405020304" pitchFamily="18" charset="0"/>
              </a:rPr>
              <a:t>COUNT</a:t>
            </a:r>
            <a:r>
              <a:rPr lang="en-US" sz="2000" dirty="0">
                <a:solidFill>
                  <a:srgbClr val="002060"/>
                </a:solidFill>
                <a:latin typeface="Times New Roman" panose="02020603050405020304" pitchFamily="18" charset="0"/>
                <a:cs typeface="Times New Roman" panose="02020603050405020304" pitchFamily="18" charset="0"/>
              </a:rPr>
              <a:t>(*)  from……</a:t>
            </a:r>
          </a:p>
        </p:txBody>
      </p:sp>
      <p:graphicFrame>
        <p:nvGraphicFramePr>
          <p:cNvPr id="4" name="Table 3"/>
          <p:cNvGraphicFramePr>
            <a:graphicFrameLocks noGrp="1"/>
          </p:cNvGraphicFramePr>
          <p:nvPr>
            <p:extLst>
              <p:ext uri="{D42A27DB-BD31-4B8C-83A1-F6EECF244321}">
                <p14:modId xmlns:p14="http://schemas.microsoft.com/office/powerpoint/2010/main" val="2011825843"/>
              </p:ext>
            </p:extLst>
          </p:nvPr>
        </p:nvGraphicFramePr>
        <p:xfrm>
          <a:off x="467544" y="2697516"/>
          <a:ext cx="8136904" cy="2611942"/>
        </p:xfrm>
        <a:graphic>
          <a:graphicData uri="http://schemas.openxmlformats.org/drawingml/2006/table">
            <a:tbl>
              <a:tblPr firstRow="1" bandRow="1">
                <a:tableStyleId>{5C22544A-7EE6-4342-B048-85BDC9FD1C3A}</a:tableStyleId>
              </a:tblPr>
              <a:tblGrid>
                <a:gridCol w="8136904">
                  <a:extLst>
                    <a:ext uri="{9D8B030D-6E8A-4147-A177-3AD203B41FA5}">
                      <a16:colId xmlns="" xmlns:a16="http://schemas.microsoft.com/office/drawing/2014/main" val="20000"/>
                    </a:ext>
                  </a:extLst>
                </a:gridCol>
              </a:tblGrid>
              <a:tr h="343494">
                <a:tc>
                  <a:txBody>
                    <a:bodyPr/>
                    <a:lstStyle/>
                    <a:p>
                      <a:r>
                        <a:rPr kumimoji="0" lang="en-US" altLang="zh-CN" sz="2000" b="1" i="0" u="none" strike="noStrike" cap="none" normalizeH="0" baseline="0" dirty="0">
                          <a:ln>
                            <a:noFill/>
                          </a:ln>
                          <a:solidFill>
                            <a:srgbClr val="FFC000"/>
                          </a:solidFill>
                          <a:effectLst>
                            <a:outerShdw blurRad="38100" dist="38100" dir="2700000" algn="tl">
                              <a:srgbClr val="000000"/>
                            </a:outerShdw>
                          </a:effectLst>
                          <a:latin typeface="Arial Narrow" panose="020B0606020202030204" pitchFamily="34" charset="0"/>
                          <a:ea typeface="宋体" panose="02010600030101010101" pitchFamily="2" charset="-122"/>
                        </a:rPr>
                        <a:t> Name	      Argument type             Result type              Description</a:t>
                      </a:r>
                      <a:endParaRPr lang="en-US" sz="2000" b="1" dirty="0"/>
                    </a:p>
                  </a:txBody>
                  <a:tcPr/>
                </a:tc>
                <a:extLst>
                  <a:ext uri="{0D108BD9-81ED-4DB2-BD59-A6C34878D82A}">
                    <a16:rowId xmlns="" xmlns:a16="http://schemas.microsoft.com/office/drawing/2014/main" val="10000"/>
                  </a:ext>
                </a:extLst>
              </a:tr>
              <a:tr h="415502">
                <a:tc>
                  <a:txBody>
                    <a:bodyPr/>
                    <a:lstStyle/>
                    <a:p>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 count</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any</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(can</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be</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numeric</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count</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of</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occurrences</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endParaRPr lang="en-US" sz="2000" b="1" dirty="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0001"/>
                  </a:ext>
                </a:extLst>
              </a:tr>
              <a:tr h="484402">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 sum</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numeric</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numeric</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sum</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of</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arguments</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p>
                  </a:txBody>
                  <a:tcPr/>
                </a:tc>
                <a:extLst>
                  <a:ext uri="{0D108BD9-81ED-4DB2-BD59-A6C34878D82A}">
                    <a16:rowId xmlns="" xmlns:a16="http://schemas.microsoft.com/office/drawing/2014/main" val="10002"/>
                  </a:ext>
                </a:extLst>
              </a:tr>
              <a:tr h="504056">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 max</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char</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or</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numeric</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same</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as</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arg.</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maximum</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value</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p>
                  </a:txBody>
                  <a:tcPr/>
                </a:tc>
                <a:extLst>
                  <a:ext uri="{0D108BD9-81ED-4DB2-BD59-A6C34878D82A}">
                    <a16:rowId xmlns="" xmlns:a16="http://schemas.microsoft.com/office/drawing/2014/main" val="10003"/>
                  </a:ext>
                </a:extLst>
              </a:tr>
              <a:tr h="360040">
                <a:tc>
                  <a:txBody>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 min</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char</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or</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numeric</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same</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as</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arg.</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minimum</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value</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p>
                  </a:txBody>
                  <a:tcPr/>
                </a:tc>
                <a:extLst>
                  <a:ext uri="{0D108BD9-81ED-4DB2-BD59-A6C34878D82A}">
                    <a16:rowId xmlns="" xmlns:a16="http://schemas.microsoft.com/office/drawing/2014/main" val="10004"/>
                  </a:ext>
                </a:extLst>
              </a:tr>
              <a:tr h="415502">
                <a:tc>
                  <a:txBody>
                    <a:bodyPr/>
                    <a:lstStyle/>
                    <a:p>
                      <a:pPr marL="0" marR="0" indent="0" algn="l"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 avg</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numeric</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numeric</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average</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of</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r>
                        <a:rPr kumimoji="0" lang="en-US" altLang="zh-CN" sz="2000" b="1" i="0" u="none" strike="noStrike" cap="none" normalizeH="0" baseline="0" dirty="0">
                          <a:ln>
                            <a:noFill/>
                          </a:ln>
                          <a:solidFill>
                            <a:srgbClr val="002060"/>
                          </a:solidFill>
                          <a:effectLst/>
                          <a:latin typeface="Times New Roman" panose="02020603050405020304" pitchFamily="18" charset="0"/>
                          <a:ea typeface="宋体" panose="02010600030101010101" pitchFamily="2" charset="-122"/>
                          <a:cs typeface="Times New Roman" panose="02020603050405020304" pitchFamily="18" charset="0"/>
                        </a:rPr>
                        <a:t>arguments</a:t>
                      </a:r>
                      <a:r>
                        <a:rPr kumimoji="0" lang="en-US" altLang="zh-CN" sz="2000" b="1" i="0" u="none" strike="noStrike" cap="none" normalizeH="0" baseline="0" dirty="0">
                          <a:ln>
                            <a:noFill/>
                          </a:ln>
                          <a:solidFill>
                            <a:srgbClr val="002060"/>
                          </a:solidFill>
                          <a:effectLst>
                            <a:outerShdw blurRad="38100" dist="38100" dir="2700000" algn="tl">
                              <a:srgbClr val="000000"/>
                            </a:outerShdw>
                          </a:effectLst>
                          <a:latin typeface="Times New Roman" panose="02020603050405020304" pitchFamily="18" charset="0"/>
                          <a:ea typeface="宋体" panose="02010600030101010101" pitchFamily="2" charset="-122"/>
                          <a:cs typeface="Times New Roman" panose="02020603050405020304" pitchFamily="18" charset="0"/>
                        </a:rPr>
                        <a:t> </a:t>
                      </a:r>
                      <a:endParaRPr lang="en-US" sz="2000" b="1" dirty="0">
                        <a:solidFill>
                          <a:srgbClr val="002060"/>
                        </a:solidFill>
                        <a:latin typeface="Times New Roman" panose="02020603050405020304" pitchFamily="18" charset="0"/>
                        <a:cs typeface="Times New Roman" panose="02020603050405020304" pitchFamily="18" charset="0"/>
                      </a:endParaRPr>
                    </a:p>
                  </a:txBody>
                  <a:tcPr/>
                </a:tc>
                <a:extLst>
                  <a:ext uri="{0D108BD9-81ED-4DB2-BD59-A6C34878D82A}">
                    <a16:rowId xmlns="" xmlns:a16="http://schemas.microsoft.com/office/drawing/2014/main" val="10005"/>
                  </a:ext>
                </a:extLst>
              </a:tr>
            </a:tbl>
          </a:graphicData>
        </a:graphic>
      </p:graphicFrame>
      <p:sp>
        <p:nvSpPr>
          <p:cNvPr id="5" name="Rectangle 1"/>
          <p:cNvSpPr/>
          <p:nvPr/>
        </p:nvSpPr>
        <p:spPr>
          <a:xfrm>
            <a:off x="827584" y="179929"/>
            <a:ext cx="8316416"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3.7 Set function in SQL</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968816"/>
            <a:ext cx="9001000" cy="769441"/>
          </a:xfrm>
          <a:prstGeom prst="rect">
            <a:avLst/>
          </a:prstGeom>
        </p:spPr>
        <p:txBody>
          <a:bodyPr wrap="square">
            <a:spAutoFit/>
          </a:bodyPr>
          <a:lstStyle/>
          <a:p>
            <a:r>
              <a:rPr lang="en-US" sz="2200" dirty="0">
                <a:solidFill>
                  <a:srgbClr val="7030A0"/>
                </a:solidFill>
                <a:latin typeface="Times New Roman" panose="02020603050405020304" pitchFamily="18" charset="0"/>
                <a:cs typeface="Times New Roman" panose="02020603050405020304" pitchFamily="18" charset="0"/>
              </a:rPr>
              <a:t>2. Example 3.7.2  </a:t>
            </a:r>
            <a:r>
              <a:rPr lang="en-US" sz="2200" dirty="0">
                <a:solidFill>
                  <a:srgbClr val="7030A0"/>
                </a:solidFill>
                <a:latin typeface="+mn-lt"/>
                <a:cs typeface="Times New Roman" panose="02020603050405020304" pitchFamily="18" charset="0"/>
              </a:rPr>
              <a:t>Please to determine the total quantity of product p03 that has been ordered.</a:t>
            </a:r>
          </a:p>
        </p:txBody>
      </p:sp>
      <p:sp>
        <p:nvSpPr>
          <p:cNvPr id="4" name="Rectangle 1"/>
          <p:cNvSpPr/>
          <p:nvPr/>
        </p:nvSpPr>
        <p:spPr>
          <a:xfrm>
            <a:off x="827584" y="179929"/>
            <a:ext cx="8316416"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3.7 Set function in SQL</a:t>
            </a:r>
          </a:p>
        </p:txBody>
      </p:sp>
      <p:sp>
        <p:nvSpPr>
          <p:cNvPr id="7" name="Rectangle 2">
            <a:extLst>
              <a:ext uri="{FF2B5EF4-FFF2-40B4-BE49-F238E27FC236}">
                <a16:creationId xmlns="" xmlns:a16="http://schemas.microsoft.com/office/drawing/2014/main" id="{7B43A09A-A169-4A44-AABF-D11BE766F246}"/>
              </a:ext>
            </a:extLst>
          </p:cNvPr>
          <p:cNvSpPr/>
          <p:nvPr/>
        </p:nvSpPr>
        <p:spPr>
          <a:xfrm>
            <a:off x="143000" y="3426093"/>
            <a:ext cx="9001000" cy="2739211"/>
          </a:xfrm>
          <a:prstGeom prst="rect">
            <a:avLst/>
          </a:prstGeom>
        </p:spPr>
        <p:txBody>
          <a:bodyPr wrap="square">
            <a:spAutoFit/>
          </a:bodyPr>
          <a:lstStyle/>
          <a:p>
            <a:pPr>
              <a:lnSpc>
                <a:spcPct val="150000"/>
              </a:lnSpc>
              <a:spcBef>
                <a:spcPts val="600"/>
              </a:spcBef>
            </a:pPr>
            <a:r>
              <a:rPr lang="en-US" sz="2200" dirty="0">
                <a:solidFill>
                  <a:srgbClr val="7030A0"/>
                </a:solidFill>
                <a:latin typeface="Times New Roman" panose="02020603050405020304" pitchFamily="18" charset="0"/>
                <a:cs typeface="Times New Roman" panose="02020603050405020304" pitchFamily="18" charset="0"/>
              </a:rPr>
              <a:t>3. Example 3.7.4 </a:t>
            </a:r>
            <a:r>
              <a:rPr lang="en-US" sz="2200" dirty="0">
                <a:solidFill>
                  <a:srgbClr val="7030A0"/>
                </a:solidFill>
                <a:latin typeface="+mn-lt"/>
                <a:cs typeface="Times New Roman" panose="02020603050405020304" pitchFamily="18" charset="0"/>
              </a:rPr>
              <a:t>Get number of cities where customers are based.</a:t>
            </a:r>
          </a:p>
          <a:p>
            <a:pPr>
              <a:spcBef>
                <a:spcPts val="600"/>
              </a:spcBef>
            </a:pPr>
            <a:r>
              <a:rPr lang="en-US" sz="2400" dirty="0">
                <a:solidFill>
                  <a:srgbClr val="7030A0"/>
                </a:solidFill>
                <a:latin typeface="Times New Roman" panose="02020603050405020304" pitchFamily="18" charset="0"/>
                <a:cs typeface="Times New Roman" panose="02020603050405020304" pitchFamily="18" charset="0"/>
              </a:rPr>
              <a:t>	</a:t>
            </a:r>
            <a:r>
              <a:rPr lang="en-US" sz="2200" dirty="0">
                <a:solidFill>
                  <a:srgbClr val="002060"/>
                </a:solidFill>
                <a:latin typeface="Times New Roman" panose="02020603050405020304" pitchFamily="18" charset="0"/>
                <a:cs typeface="Times New Roman" panose="02020603050405020304" pitchFamily="18" charset="0"/>
              </a:rPr>
              <a:t>select  </a:t>
            </a:r>
            <a:r>
              <a:rPr lang="en-US" sz="2200" dirty="0">
                <a:solidFill>
                  <a:srgbClr val="C00000"/>
                </a:solidFill>
                <a:latin typeface="Times New Roman" panose="02020603050405020304" pitchFamily="18" charset="0"/>
                <a:cs typeface="Times New Roman" panose="02020603050405020304" pitchFamily="18" charset="0"/>
              </a:rPr>
              <a:t>count</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distinct</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city</a:t>
            </a:r>
            <a:r>
              <a:rPr lang="en-US" sz="2200" dirty="0">
                <a:solidFill>
                  <a:srgbClr val="002060"/>
                </a:solidFill>
                <a:latin typeface="Times New Roman" panose="02020603050405020304" pitchFamily="18" charset="0"/>
                <a:cs typeface="Times New Roman" panose="02020603050405020304" pitchFamily="18" charset="0"/>
              </a:rPr>
              <a:t>)  from </a:t>
            </a:r>
            <a:r>
              <a:rPr lang="en-US" sz="2200" dirty="0">
                <a:solidFill>
                  <a:srgbClr val="00B050"/>
                </a:solidFill>
                <a:latin typeface="Times New Roman" panose="02020603050405020304" pitchFamily="18" charset="0"/>
                <a:cs typeface="Times New Roman" panose="02020603050405020304" pitchFamily="18" charset="0"/>
              </a:rPr>
              <a:t>customers</a:t>
            </a:r>
            <a:r>
              <a:rPr lang="en-US" sz="2200" dirty="0">
                <a:solidFill>
                  <a:srgbClr val="002060"/>
                </a:solidFill>
                <a:latin typeface="Times New Roman" panose="02020603050405020304" pitchFamily="18" charset="0"/>
                <a:cs typeface="Times New Roman" panose="02020603050405020304" pitchFamily="18" charset="0"/>
              </a:rPr>
              <a:t>;</a:t>
            </a:r>
          </a:p>
          <a:p>
            <a:pPr>
              <a:lnSpc>
                <a:spcPct val="150000"/>
              </a:lnSpc>
            </a:pPr>
            <a:r>
              <a:rPr lang="en-US" sz="2200" dirty="0">
                <a:solidFill>
                  <a:srgbClr val="002060"/>
                </a:solidFill>
                <a:latin typeface="Times New Roman" panose="02020603050405020304" pitchFamily="18" charset="0"/>
                <a:cs typeface="Times New Roman" panose="02020603050405020304" pitchFamily="18" charset="0"/>
              </a:rPr>
              <a:t>    </a:t>
            </a:r>
            <a:r>
              <a:rPr lang="en-US" sz="2200" i="1" dirty="0">
                <a:solidFill>
                  <a:srgbClr val="7030A0"/>
                </a:solidFill>
                <a:latin typeface="Times New Roman" panose="02020603050405020304" pitchFamily="18" charset="0"/>
                <a:cs typeface="Times New Roman" panose="02020603050405020304" pitchFamily="18" charset="0"/>
              </a:rPr>
              <a:t>Comparing:</a:t>
            </a:r>
          </a:p>
          <a:p>
            <a:pPr>
              <a:spcBef>
                <a:spcPts val="600"/>
              </a:spcBef>
            </a:pPr>
            <a:r>
              <a:rPr lang="en-US" sz="2200" dirty="0">
                <a:solidFill>
                  <a:srgbClr val="002060"/>
                </a:solidFill>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rPr>
              <a:t>select </a:t>
            </a:r>
            <a:r>
              <a:rPr lang="en-US" sz="2000" dirty="0">
                <a:solidFill>
                  <a:srgbClr val="C00000"/>
                </a:solidFill>
                <a:latin typeface="Times New Roman" panose="02020603050405020304" pitchFamily="18" charset="0"/>
                <a:cs typeface="Times New Roman" panose="02020603050405020304" pitchFamily="18" charset="0"/>
              </a:rPr>
              <a:t>count(*)</a:t>
            </a:r>
            <a:r>
              <a:rPr lang="en-US" sz="2000" dirty="0">
                <a:solidFill>
                  <a:srgbClr val="002060"/>
                </a:solidFill>
                <a:latin typeface="Times New Roman" panose="02020603050405020304" pitchFamily="18" charset="0"/>
                <a:cs typeface="Times New Roman" panose="02020603050405020304" pitchFamily="18" charset="0"/>
              </a:rPr>
              <a:t>     from customers;      </a:t>
            </a:r>
            <a:r>
              <a:rPr lang="en-US" sz="1400" dirty="0">
                <a:solidFill>
                  <a:srgbClr val="002060"/>
                </a:solidFill>
                <a:latin typeface="Times New Roman" panose="02020603050405020304" pitchFamily="18" charset="0"/>
                <a:cs typeface="Times New Roman" panose="02020603050405020304" pitchFamily="18" charset="0"/>
              </a:rPr>
              <a:t>/* all the numbers of rows */</a:t>
            </a: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select </a:t>
            </a:r>
            <a:r>
              <a:rPr lang="en-US" sz="2000" dirty="0">
                <a:solidFill>
                  <a:srgbClr val="C00000"/>
                </a:solidFill>
                <a:latin typeface="Times New Roman" panose="02020603050405020304" pitchFamily="18" charset="0"/>
                <a:cs typeface="Times New Roman" panose="02020603050405020304" pitchFamily="18" charset="0"/>
              </a:rPr>
              <a:t>count(</a:t>
            </a:r>
            <a:r>
              <a:rPr lang="en-US" sz="2000" dirty="0" err="1">
                <a:solidFill>
                  <a:srgbClr val="C00000"/>
                </a:solidFill>
                <a:latin typeface="Times New Roman" panose="02020603050405020304" pitchFamily="18" charset="0"/>
                <a:cs typeface="Times New Roman" panose="02020603050405020304" pitchFamily="18" charset="0"/>
              </a:rPr>
              <a:t>cid</a:t>
            </a:r>
            <a:r>
              <a:rPr lang="en-US" sz="2000" dirty="0">
                <a:solidFill>
                  <a:srgbClr val="C00000"/>
                </a:solidFill>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rPr>
              <a:t>from customers;      </a:t>
            </a:r>
            <a:r>
              <a:rPr lang="en-US" sz="1400" dirty="0">
                <a:solidFill>
                  <a:srgbClr val="002060"/>
                </a:solidFill>
                <a:latin typeface="Times New Roman" panose="02020603050405020304" pitchFamily="18" charset="0"/>
                <a:cs typeface="Times New Roman" panose="02020603050405020304" pitchFamily="18" charset="0"/>
              </a:rPr>
              <a:t>/* null values not counted, </a:t>
            </a:r>
            <a:r>
              <a:rPr lang="en-US" sz="1400" dirty="0" err="1">
                <a:solidFill>
                  <a:srgbClr val="002060"/>
                </a:solidFill>
                <a:latin typeface="Times New Roman" panose="02020603050405020304" pitchFamily="18" charset="0"/>
                <a:cs typeface="Times New Roman" panose="02020603050405020304" pitchFamily="18" charset="0"/>
              </a:rPr>
              <a:t>cid</a:t>
            </a:r>
            <a:r>
              <a:rPr lang="en-US" sz="1400" dirty="0">
                <a:solidFill>
                  <a:srgbClr val="002060"/>
                </a:solidFill>
                <a:latin typeface="Times New Roman" panose="02020603050405020304" pitchFamily="18" charset="0"/>
                <a:cs typeface="Times New Roman" panose="02020603050405020304" pitchFamily="18" charset="0"/>
              </a:rPr>
              <a:t> is PK of customers*/</a:t>
            </a: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select </a:t>
            </a:r>
            <a:r>
              <a:rPr lang="en-US" sz="2000" dirty="0">
                <a:solidFill>
                  <a:srgbClr val="C00000"/>
                </a:solidFill>
                <a:latin typeface="Times New Roman" panose="02020603050405020304" pitchFamily="18" charset="0"/>
                <a:cs typeface="Times New Roman" panose="02020603050405020304" pitchFamily="18" charset="0"/>
              </a:rPr>
              <a:t>count(city) </a:t>
            </a:r>
            <a:r>
              <a:rPr lang="en-US" sz="2000" dirty="0">
                <a:solidFill>
                  <a:srgbClr val="002060"/>
                </a:solidFill>
                <a:latin typeface="Times New Roman" panose="02020603050405020304" pitchFamily="18" charset="0"/>
                <a:cs typeface="Times New Roman" panose="02020603050405020304" pitchFamily="18" charset="0"/>
              </a:rPr>
              <a:t>from customers;      </a:t>
            </a:r>
            <a:r>
              <a:rPr lang="en-US" sz="1400" dirty="0">
                <a:solidFill>
                  <a:srgbClr val="002060"/>
                </a:solidFill>
                <a:latin typeface="Times New Roman" panose="02020603050405020304" pitchFamily="18" charset="0"/>
                <a:cs typeface="Times New Roman" panose="02020603050405020304" pitchFamily="18" charset="0"/>
              </a:rPr>
              <a:t>/* only if no null city values*/</a:t>
            </a:r>
          </a:p>
        </p:txBody>
      </p:sp>
      <p:sp>
        <p:nvSpPr>
          <p:cNvPr id="8" name="文本框 7">
            <a:extLst>
              <a:ext uri="{FF2B5EF4-FFF2-40B4-BE49-F238E27FC236}">
                <a16:creationId xmlns="" xmlns:a16="http://schemas.microsoft.com/office/drawing/2014/main" id="{33F6D7A6-14A8-4380-BF5A-1A62A28EF404}"/>
              </a:ext>
            </a:extLst>
          </p:cNvPr>
          <p:cNvSpPr txBox="1"/>
          <p:nvPr/>
        </p:nvSpPr>
        <p:spPr>
          <a:xfrm>
            <a:off x="7530878" y="2226350"/>
            <a:ext cx="641522" cy="338554"/>
          </a:xfrm>
          <a:prstGeom prst="rect">
            <a:avLst/>
          </a:prstGeom>
          <a:noFill/>
        </p:spPr>
        <p:txBody>
          <a:bodyPr wrap="none" rtlCol="0">
            <a:spAutoFit/>
          </a:bodyPr>
          <a:lstStyle/>
          <a:p>
            <a:r>
              <a:rPr lang="en-US" altLang="zh-CN"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‘p03’</a:t>
            </a:r>
            <a:endPar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10" name="图片 9">
            <a:extLst>
              <a:ext uri="{FF2B5EF4-FFF2-40B4-BE49-F238E27FC236}">
                <a16:creationId xmlns="" xmlns:a16="http://schemas.microsoft.com/office/drawing/2014/main" id="{4BC027B8-111C-4520-884C-DA096FA8F04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508104" y="1591860"/>
            <a:ext cx="3486150" cy="676275"/>
          </a:xfrm>
          <a:prstGeom prst="rect">
            <a:avLst/>
          </a:prstGeom>
        </p:spPr>
      </p:pic>
      <p:sp>
        <p:nvSpPr>
          <p:cNvPr id="11" name="文本框 10">
            <a:extLst>
              <a:ext uri="{FF2B5EF4-FFF2-40B4-BE49-F238E27FC236}">
                <a16:creationId xmlns="" xmlns:a16="http://schemas.microsoft.com/office/drawing/2014/main" id="{068E5213-BAA8-4A8C-B107-AD84322F78CA}"/>
              </a:ext>
            </a:extLst>
          </p:cNvPr>
          <p:cNvSpPr txBox="1"/>
          <p:nvPr/>
        </p:nvSpPr>
        <p:spPr>
          <a:xfrm>
            <a:off x="7895594" y="1578278"/>
            <a:ext cx="697627" cy="400110"/>
          </a:xfrm>
          <a:prstGeom prst="rect">
            <a:avLst/>
          </a:prstGeom>
          <a:noFill/>
        </p:spPr>
        <p:txBody>
          <a:bodyPr wrap="none" rtlCol="0">
            <a:spAutoFit/>
          </a:bodyPr>
          <a:lstStyle/>
          <a:p>
            <a:r>
              <a:rPr lang="zh-CN" altLang="en-US" sz="20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求和</a:t>
            </a:r>
          </a:p>
        </p:txBody>
      </p:sp>
      <p:cxnSp>
        <p:nvCxnSpPr>
          <p:cNvPr id="12" name="直接箭头连接符 11">
            <a:extLst>
              <a:ext uri="{FF2B5EF4-FFF2-40B4-BE49-F238E27FC236}">
                <a16:creationId xmlns="" xmlns:a16="http://schemas.microsoft.com/office/drawing/2014/main" id="{F07FC8FA-DEA7-46AD-A934-62CA8537E3A0}"/>
              </a:ext>
            </a:extLst>
          </p:cNvPr>
          <p:cNvCxnSpPr>
            <a:cxnSpLocks/>
          </p:cNvCxnSpPr>
          <p:nvPr/>
        </p:nvCxnSpPr>
        <p:spPr bwMode="auto">
          <a:xfrm>
            <a:off x="8244407" y="1412776"/>
            <a:ext cx="0" cy="576809"/>
          </a:xfrm>
          <a:prstGeom prst="straightConnector1">
            <a:avLst/>
          </a:prstGeom>
          <a:ln w="57150">
            <a:solidFill>
              <a:schemeClr val="accent2">
                <a:lumMod val="75000"/>
              </a:schemeClr>
            </a:solidFill>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13" name="矩形: 圆角 12">
            <a:extLst>
              <a:ext uri="{FF2B5EF4-FFF2-40B4-BE49-F238E27FC236}">
                <a16:creationId xmlns="" xmlns:a16="http://schemas.microsoft.com/office/drawing/2014/main" id="{8CEAC463-9942-4CDB-998E-1D236359B002}"/>
              </a:ext>
            </a:extLst>
          </p:cNvPr>
          <p:cNvSpPr/>
          <p:nvPr/>
        </p:nvSpPr>
        <p:spPr>
          <a:xfrm>
            <a:off x="8028384" y="1057756"/>
            <a:ext cx="504052"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 xmlns:a16="http://schemas.microsoft.com/office/drawing/2014/main" id="{079C26EE-AB68-4E02-BA90-23274C83B025}"/>
              </a:ext>
            </a:extLst>
          </p:cNvPr>
          <p:cNvSpPr/>
          <p:nvPr/>
        </p:nvSpPr>
        <p:spPr>
          <a:xfrm>
            <a:off x="5076056" y="1052736"/>
            <a:ext cx="1728192"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5" name="矩形: 圆角 14">
            <a:extLst>
              <a:ext uri="{FF2B5EF4-FFF2-40B4-BE49-F238E27FC236}">
                <a16:creationId xmlns="" xmlns:a16="http://schemas.microsoft.com/office/drawing/2014/main" id="{7640106D-0514-48C9-B2FC-3DF82118D462}"/>
              </a:ext>
            </a:extLst>
          </p:cNvPr>
          <p:cNvSpPr/>
          <p:nvPr/>
        </p:nvSpPr>
        <p:spPr>
          <a:xfrm>
            <a:off x="5508104" y="3629426"/>
            <a:ext cx="2387490"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6" name="矩形: 圆角 15">
            <a:extLst>
              <a:ext uri="{FF2B5EF4-FFF2-40B4-BE49-F238E27FC236}">
                <a16:creationId xmlns="" xmlns:a16="http://schemas.microsoft.com/office/drawing/2014/main" id="{145EE1F1-AE0C-4A40-85E4-1E332407D35A}"/>
              </a:ext>
            </a:extLst>
          </p:cNvPr>
          <p:cNvSpPr/>
          <p:nvPr/>
        </p:nvSpPr>
        <p:spPr>
          <a:xfrm>
            <a:off x="2699792" y="3624406"/>
            <a:ext cx="1944216"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7" name="Rectangle 2">
            <a:extLst>
              <a:ext uri="{FF2B5EF4-FFF2-40B4-BE49-F238E27FC236}">
                <a16:creationId xmlns="" xmlns:a16="http://schemas.microsoft.com/office/drawing/2014/main" id="{A72821D7-58EC-4C42-8B42-A06F70E1AD5E}"/>
              </a:ext>
            </a:extLst>
          </p:cNvPr>
          <p:cNvSpPr/>
          <p:nvPr/>
        </p:nvSpPr>
        <p:spPr>
          <a:xfrm>
            <a:off x="143000" y="2564904"/>
            <a:ext cx="9001000" cy="579967"/>
          </a:xfrm>
          <a:prstGeom prst="rect">
            <a:avLst/>
          </a:prstGeom>
        </p:spPr>
        <p:txBody>
          <a:bodyPr wrap="square">
            <a:spAutoFit/>
          </a:bodyPr>
          <a:lstStyle/>
          <a:p>
            <a:pPr>
              <a:lnSpc>
                <a:spcPct val="150000"/>
              </a:lnSpc>
              <a:spcBef>
                <a:spcPts val="1200"/>
              </a:spcBef>
            </a:pPr>
            <a:r>
              <a:rPr lang="en-US" sz="2400" dirty="0">
                <a:solidFill>
                  <a:srgbClr val="002060"/>
                </a:solidFill>
                <a:latin typeface="Times New Roman" panose="02020603050405020304" pitchFamily="18" charset="0"/>
                <a:cs typeface="Times New Roman" panose="02020603050405020304" pitchFamily="18" charset="0"/>
              </a:rPr>
              <a:t>	</a:t>
            </a:r>
            <a:r>
              <a:rPr lang="en-US" sz="2200" dirty="0">
                <a:solidFill>
                  <a:srgbClr val="002060"/>
                </a:solidFill>
                <a:latin typeface="Times New Roman" panose="02020603050405020304" pitchFamily="18" charset="0"/>
                <a:cs typeface="Times New Roman" panose="02020603050405020304" pitchFamily="18" charset="0"/>
              </a:rPr>
              <a:t>select </a:t>
            </a:r>
            <a:r>
              <a:rPr lang="en-US" sz="2200" dirty="0">
                <a:solidFill>
                  <a:srgbClr val="C00000"/>
                </a:solidFill>
                <a:latin typeface="Times New Roman" panose="02020603050405020304" pitchFamily="18" charset="0"/>
                <a:cs typeface="Times New Roman" panose="02020603050405020304" pitchFamily="18" charset="0"/>
              </a:rPr>
              <a:t>sum</a:t>
            </a:r>
            <a:r>
              <a:rPr lang="en-US" sz="2200" dirty="0">
                <a:solidFill>
                  <a:srgbClr val="002060"/>
                </a:solidFill>
                <a:latin typeface="Times New Roman" panose="02020603050405020304" pitchFamily="18" charset="0"/>
                <a:cs typeface="Times New Roman" panose="02020603050405020304" pitchFamily="18" charset="0"/>
              </a:rPr>
              <a:t>(</a:t>
            </a:r>
            <a:r>
              <a:rPr lang="en-US" sz="2200" dirty="0">
                <a:solidFill>
                  <a:srgbClr val="C00000"/>
                </a:solidFill>
                <a:latin typeface="Times New Roman" panose="02020603050405020304" pitchFamily="18" charset="0"/>
                <a:cs typeface="Times New Roman" panose="02020603050405020304" pitchFamily="18" charset="0"/>
              </a:rPr>
              <a:t>qty</a:t>
            </a:r>
            <a:r>
              <a:rPr lang="en-US" sz="2200" dirty="0">
                <a:solidFill>
                  <a:srgbClr val="002060"/>
                </a:solidFill>
                <a:latin typeface="Times New Roman" panose="02020603050405020304" pitchFamily="18" charset="0"/>
                <a:cs typeface="Times New Roman" panose="02020603050405020304" pitchFamily="18" charset="0"/>
              </a:rPr>
              <a:t>) as </a:t>
            </a:r>
            <a:r>
              <a:rPr lang="en-US" sz="2200" dirty="0">
                <a:solidFill>
                  <a:srgbClr val="C00000"/>
                </a:solidFill>
                <a:latin typeface="Times New Roman" panose="02020603050405020304" pitchFamily="18" charset="0"/>
                <a:cs typeface="Times New Roman" panose="02020603050405020304" pitchFamily="18" charset="0"/>
              </a:rPr>
              <a:t>TOTAL</a:t>
            </a:r>
            <a:r>
              <a:rPr lang="en-US" sz="2200" dirty="0">
                <a:solidFill>
                  <a:srgbClr val="002060"/>
                </a:solidFill>
                <a:latin typeface="Times New Roman" panose="02020603050405020304" pitchFamily="18" charset="0"/>
                <a:cs typeface="Times New Roman" panose="02020603050405020304" pitchFamily="18" charset="0"/>
              </a:rPr>
              <a:t> from orders where </a:t>
            </a:r>
            <a:r>
              <a:rPr lang="en-US" sz="2200" dirty="0" err="1">
                <a:solidFill>
                  <a:srgbClr val="00B050"/>
                </a:solidFill>
                <a:latin typeface="Times New Roman" panose="02020603050405020304" pitchFamily="18" charset="0"/>
                <a:cs typeface="Times New Roman" panose="02020603050405020304" pitchFamily="18" charset="0"/>
              </a:rPr>
              <a:t>pid</a:t>
            </a:r>
            <a:r>
              <a:rPr lang="en-US" sz="2200" dirty="0">
                <a:solidFill>
                  <a:srgbClr val="002060"/>
                </a:solidFill>
                <a:latin typeface="Times New Roman" panose="02020603050405020304" pitchFamily="18" charset="0"/>
                <a:cs typeface="Times New Roman" panose="02020603050405020304" pitchFamily="18" charset="0"/>
              </a:rPr>
              <a:t> = '</a:t>
            </a:r>
            <a:r>
              <a:rPr lang="en-US" sz="2200" dirty="0">
                <a:solidFill>
                  <a:srgbClr val="00B050"/>
                </a:solidFill>
                <a:latin typeface="Times New Roman" panose="02020603050405020304" pitchFamily="18" charset="0"/>
                <a:cs typeface="Times New Roman" panose="02020603050405020304" pitchFamily="18" charset="0"/>
              </a:rPr>
              <a:t>p03</a:t>
            </a:r>
            <a:r>
              <a:rPr lang="en-US" sz="2200" dirty="0">
                <a:solidFill>
                  <a:srgbClr val="002060"/>
                </a:solidFill>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500"/>
                                        <p:tgtEl>
                                          <p:spTgt spid="10"/>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11"/>
                                        </p:tgtEl>
                                        <p:attrNameLst>
                                          <p:attrName>style.visibility</p:attrName>
                                        </p:attrNameLst>
                                      </p:cBhvr>
                                      <p:to>
                                        <p:strVal val="visible"/>
                                      </p:to>
                                    </p:set>
                                    <p:animEffect transition="in" filter="wipe(left)">
                                      <p:cBhvr>
                                        <p:cTn id="15" dur="500"/>
                                        <p:tgtEl>
                                          <p:spTgt spid="11"/>
                                        </p:tgtEl>
                                      </p:cBhvr>
                                    </p:animEffect>
                                  </p:childTnLst>
                                </p:cTn>
                              </p:par>
                            </p:childTnLst>
                          </p:cTn>
                        </p:par>
                        <p:par>
                          <p:cTn id="16" fill="hold">
                            <p:stCondLst>
                              <p:cond delay="1500"/>
                            </p:stCondLst>
                            <p:childTnLst>
                              <p:par>
                                <p:cTn id="17" presetID="22" presetClass="entr" presetSubtype="1" fill="hold" nodeType="after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wipe(up)">
                                      <p:cBhvr>
                                        <p:cTn id="19" dur="500"/>
                                        <p:tgtEl>
                                          <p:spTgt spid="12"/>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7"/>
                                        </p:tgtEl>
                                        <p:attrNameLst>
                                          <p:attrName>style.visibility</p:attrName>
                                        </p:attrNameLst>
                                      </p:cBhvr>
                                      <p:to>
                                        <p:strVal val="visible"/>
                                      </p:to>
                                    </p:set>
                                    <p:animEffect transition="in" filter="wipe(left)">
                                      <p:cBhvr>
                                        <p:cTn id="24" dur="500"/>
                                        <p:tgtEl>
                                          <p:spTgt spid="17"/>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nodeType="clickEffect">
                                  <p:stCondLst>
                                    <p:cond delay="0"/>
                                  </p:stCondLst>
                                  <p:childTnLst>
                                    <p:set>
                                      <p:cBhvr>
                                        <p:cTn id="28" dur="1" fill="hold">
                                          <p:stCondLst>
                                            <p:cond delay="0"/>
                                          </p:stCondLst>
                                        </p:cTn>
                                        <p:tgtEl>
                                          <p:spTgt spid="7">
                                            <p:txEl>
                                              <p:pRg st="0" end="0"/>
                                            </p:txEl>
                                          </p:spTgt>
                                        </p:tgtEl>
                                        <p:attrNameLst>
                                          <p:attrName>style.visibility</p:attrName>
                                        </p:attrNameLst>
                                      </p:cBhvr>
                                      <p:to>
                                        <p:strVal val="visible"/>
                                      </p:to>
                                    </p:set>
                                    <p:animEffect transition="in" filter="wipe(left)">
                                      <p:cBhvr>
                                        <p:cTn id="29" dur="500"/>
                                        <p:tgtEl>
                                          <p:spTgt spid="7">
                                            <p:txEl>
                                              <p:pRg st="0" end="0"/>
                                            </p:txEl>
                                          </p:spTgt>
                                        </p:tgtEl>
                                      </p:cBhvr>
                                    </p:animEffect>
                                  </p:childTnLst>
                                </p:cTn>
                              </p:par>
                            </p:childTnLst>
                          </p:cTn>
                        </p:par>
                        <p:par>
                          <p:cTn id="30" fill="hold">
                            <p:stCondLst>
                              <p:cond delay="500"/>
                            </p:stCondLst>
                            <p:childTnLst>
                              <p:par>
                                <p:cTn id="31" presetID="22" presetClass="entr" presetSubtype="8" fill="hold" grpId="0" nodeType="afterEffect">
                                  <p:stCondLst>
                                    <p:cond delay="0"/>
                                  </p:stCondLst>
                                  <p:childTnLst>
                                    <p:set>
                                      <p:cBhvr>
                                        <p:cTn id="32" dur="1" fill="hold">
                                          <p:stCondLst>
                                            <p:cond delay="0"/>
                                          </p:stCondLst>
                                        </p:cTn>
                                        <p:tgtEl>
                                          <p:spTgt spid="16"/>
                                        </p:tgtEl>
                                        <p:attrNameLst>
                                          <p:attrName>style.visibility</p:attrName>
                                        </p:attrNameLst>
                                      </p:cBhvr>
                                      <p:to>
                                        <p:strVal val="visible"/>
                                      </p:to>
                                    </p:set>
                                    <p:animEffect transition="in" filter="wipe(left)">
                                      <p:cBhvr>
                                        <p:cTn id="33" dur="500"/>
                                        <p:tgtEl>
                                          <p:spTgt spid="16"/>
                                        </p:tgtEl>
                                      </p:cBhvr>
                                    </p:animEffect>
                                  </p:childTnLst>
                                </p:cTn>
                              </p:par>
                            </p:childTnLst>
                          </p:cTn>
                        </p:par>
                        <p:par>
                          <p:cTn id="34" fill="hold">
                            <p:stCondLst>
                              <p:cond delay="1000"/>
                            </p:stCondLst>
                            <p:childTnLst>
                              <p:par>
                                <p:cTn id="35" presetID="22" presetClass="entr" presetSubtype="8" fill="hold" grpId="0" nodeType="after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left)">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7">
                                            <p:txEl>
                                              <p:pRg st="1" end="1"/>
                                            </p:txEl>
                                          </p:spTgt>
                                        </p:tgtEl>
                                        <p:attrNameLst>
                                          <p:attrName>style.visibility</p:attrName>
                                        </p:attrNameLst>
                                      </p:cBhvr>
                                      <p:to>
                                        <p:strVal val="visible"/>
                                      </p:to>
                                    </p:set>
                                    <p:animEffect transition="in" filter="wipe(left)">
                                      <p:cBhvr>
                                        <p:cTn id="42" dur="750"/>
                                        <p:tgtEl>
                                          <p:spTgt spid="7">
                                            <p:txEl>
                                              <p:pRg st="1" end="1"/>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7">
                                            <p:txEl>
                                              <p:pRg st="2" end="2"/>
                                            </p:txEl>
                                          </p:spTgt>
                                        </p:tgtEl>
                                        <p:attrNameLst>
                                          <p:attrName>style.visibility</p:attrName>
                                        </p:attrNameLst>
                                      </p:cBhvr>
                                      <p:to>
                                        <p:strVal val="visible"/>
                                      </p:to>
                                    </p:set>
                                    <p:animEffect transition="in" filter="wipe(left)">
                                      <p:cBhvr>
                                        <p:cTn id="47" dur="500"/>
                                        <p:tgtEl>
                                          <p:spTgt spid="7">
                                            <p:txEl>
                                              <p:pRg st="2" end="2"/>
                                            </p:txEl>
                                          </p:spTgt>
                                        </p:tgtEl>
                                      </p:cBhvr>
                                    </p:animEffect>
                                  </p:childTnLst>
                                </p:cTn>
                              </p:par>
                              <p:par>
                                <p:cTn id="48" presetID="22" presetClass="entr" presetSubtype="8" fill="hold" nodeType="withEffect">
                                  <p:stCondLst>
                                    <p:cond delay="0"/>
                                  </p:stCondLst>
                                  <p:childTnLst>
                                    <p:set>
                                      <p:cBhvr>
                                        <p:cTn id="49" dur="1" fill="hold">
                                          <p:stCondLst>
                                            <p:cond delay="0"/>
                                          </p:stCondLst>
                                        </p:cTn>
                                        <p:tgtEl>
                                          <p:spTgt spid="7">
                                            <p:txEl>
                                              <p:pRg st="3" end="3"/>
                                            </p:txEl>
                                          </p:spTgt>
                                        </p:tgtEl>
                                        <p:attrNameLst>
                                          <p:attrName>style.visibility</p:attrName>
                                        </p:attrNameLst>
                                      </p:cBhvr>
                                      <p:to>
                                        <p:strVal val="visible"/>
                                      </p:to>
                                    </p:set>
                                    <p:animEffect transition="in" filter="wipe(left)">
                                      <p:cBhvr>
                                        <p:cTn id="50" dur="500"/>
                                        <p:tgtEl>
                                          <p:spTgt spid="7">
                                            <p:txEl>
                                              <p:pRg st="3" end="3"/>
                                            </p:txEl>
                                          </p:spTgt>
                                        </p:tgtEl>
                                      </p:cBhvr>
                                    </p:animEffect>
                                  </p:childTnLst>
                                </p:cTn>
                              </p:par>
                              <p:par>
                                <p:cTn id="51" presetID="22" presetClass="entr" presetSubtype="8" fill="hold" nodeType="withEffect">
                                  <p:stCondLst>
                                    <p:cond delay="0"/>
                                  </p:stCondLst>
                                  <p:childTnLst>
                                    <p:set>
                                      <p:cBhvr>
                                        <p:cTn id="52" dur="1" fill="hold">
                                          <p:stCondLst>
                                            <p:cond delay="0"/>
                                          </p:stCondLst>
                                        </p:cTn>
                                        <p:tgtEl>
                                          <p:spTgt spid="7">
                                            <p:txEl>
                                              <p:pRg st="4" end="4"/>
                                            </p:txEl>
                                          </p:spTgt>
                                        </p:tgtEl>
                                        <p:attrNameLst>
                                          <p:attrName>style.visibility</p:attrName>
                                        </p:attrNameLst>
                                      </p:cBhvr>
                                      <p:to>
                                        <p:strVal val="visible"/>
                                      </p:to>
                                    </p:set>
                                    <p:animEffect transition="in" filter="wipe(left)">
                                      <p:cBhvr>
                                        <p:cTn id="53" dur="500"/>
                                        <p:tgtEl>
                                          <p:spTgt spid="7">
                                            <p:txEl>
                                              <p:pRg st="4" end="4"/>
                                            </p:txEl>
                                          </p:spTgt>
                                        </p:tgtEl>
                                      </p:cBhvr>
                                    </p:animEffect>
                                  </p:childTnLst>
                                </p:cTn>
                              </p:par>
                              <p:par>
                                <p:cTn id="54" presetID="22" presetClass="entr" presetSubtype="8" fill="hold" nodeType="withEffect">
                                  <p:stCondLst>
                                    <p:cond delay="0"/>
                                  </p:stCondLst>
                                  <p:childTnLst>
                                    <p:set>
                                      <p:cBhvr>
                                        <p:cTn id="55" dur="1" fill="hold">
                                          <p:stCondLst>
                                            <p:cond delay="0"/>
                                          </p:stCondLst>
                                        </p:cTn>
                                        <p:tgtEl>
                                          <p:spTgt spid="7">
                                            <p:txEl>
                                              <p:pRg st="5" end="5"/>
                                            </p:txEl>
                                          </p:spTgt>
                                        </p:tgtEl>
                                        <p:attrNameLst>
                                          <p:attrName>style.visibility</p:attrName>
                                        </p:attrNameLst>
                                      </p:cBhvr>
                                      <p:to>
                                        <p:strVal val="visible"/>
                                      </p:to>
                                    </p:set>
                                    <p:animEffect transition="in" filter="wipe(left)">
                                      <p:cBhvr>
                                        <p:cTn id="56" dur="500"/>
                                        <p:tgtEl>
                                          <p:spTgt spid="7">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1" grpId="0"/>
      <p:bldP spid="15" grpId="0" animBg="1"/>
      <p:bldP spid="16" grpId="0" animBg="1"/>
      <p:bldP spid="17"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5496" y="936750"/>
            <a:ext cx="9036496" cy="884858"/>
          </a:xfrm>
          <a:prstGeom prst="rect">
            <a:avLst/>
          </a:prstGeom>
        </p:spPr>
        <p:txBody>
          <a:bodyPr wrap="square">
            <a:spAutoFit/>
          </a:bodyPr>
          <a:lstStyle/>
          <a:p>
            <a:pPr>
              <a:spcAft>
                <a:spcPts val="600"/>
              </a:spcAft>
            </a:pPr>
            <a:r>
              <a:rPr lang="en-US" sz="2200" dirty="0">
                <a:solidFill>
                  <a:srgbClr val="7030A0"/>
                </a:solidFill>
                <a:latin typeface="Times New Roman" panose="02020603050405020304" pitchFamily="18" charset="0"/>
                <a:cs typeface="Times New Roman" panose="02020603050405020304" pitchFamily="18" charset="0"/>
              </a:rPr>
              <a:t>4. Restriction </a:t>
            </a:r>
            <a:r>
              <a:rPr lang="en-US" sz="2200" dirty="0">
                <a:solidFill>
                  <a:srgbClr val="002060"/>
                </a:solidFill>
                <a:latin typeface="Times New Roman" panose="02020603050405020304" pitchFamily="18" charset="0"/>
                <a:cs typeface="Times New Roman" panose="02020603050405020304" pitchFamily="18" charset="0"/>
              </a:rPr>
              <a:t>!!!  </a:t>
            </a:r>
            <a:r>
              <a:rPr lang="en-US" sz="1600" dirty="0">
                <a:solidFill>
                  <a:srgbClr val="002060"/>
                </a:solidFill>
                <a:cs typeface="Calibri" panose="020F0502020204030204" pitchFamily="34" charset="0"/>
              </a:rPr>
              <a:t>set functions are not allowed to appear in comparison of a WHERE clause </a:t>
            </a:r>
            <a:endParaRPr lang="en-US" sz="1700" dirty="0">
              <a:solidFill>
                <a:srgbClr val="002060"/>
              </a:solidFill>
              <a:cs typeface="Calibri" panose="020F0502020204030204" pitchFamily="34" charset="0"/>
            </a:endParaRPr>
          </a:p>
          <a:p>
            <a:pPr>
              <a:spcBef>
                <a:spcPts val="300"/>
              </a:spcBef>
            </a:pPr>
            <a:r>
              <a:rPr lang="en-US" sz="2200" dirty="0">
                <a:solidFill>
                  <a:srgbClr val="7030A0"/>
                </a:solidFill>
                <a:latin typeface="Times New Roman" panose="02020603050405020304" pitchFamily="18" charset="0"/>
                <a:cs typeface="Times New Roman" panose="02020603050405020304" pitchFamily="18" charset="0"/>
              </a:rPr>
              <a:t>5. Example 3.7.5   </a:t>
            </a:r>
            <a:r>
              <a:rPr lang="en-US" sz="2000" dirty="0">
                <a:solidFill>
                  <a:srgbClr val="7030A0"/>
                </a:solidFill>
                <a:latin typeface="+mn-lt"/>
                <a:cs typeface="Times New Roman" panose="02020603050405020304" pitchFamily="18" charset="0"/>
              </a:rPr>
              <a:t>List </a:t>
            </a:r>
            <a:r>
              <a:rPr lang="en-US" sz="2000" dirty="0" err="1">
                <a:solidFill>
                  <a:srgbClr val="7030A0"/>
                </a:solidFill>
                <a:latin typeface="+mn-lt"/>
                <a:cs typeface="Times New Roman" panose="02020603050405020304" pitchFamily="18" charset="0"/>
              </a:rPr>
              <a:t>cids</a:t>
            </a:r>
            <a:r>
              <a:rPr lang="en-US" sz="2000" dirty="0">
                <a:solidFill>
                  <a:srgbClr val="7030A0"/>
                </a:solidFill>
                <a:latin typeface="+mn-lt"/>
                <a:cs typeface="Times New Roman" panose="02020603050405020304" pitchFamily="18" charset="0"/>
              </a:rPr>
              <a:t> who have a discount less than maximum discount.</a:t>
            </a:r>
          </a:p>
        </p:txBody>
      </p:sp>
      <p:sp>
        <p:nvSpPr>
          <p:cNvPr id="4" name="Rectangle 1"/>
          <p:cNvSpPr/>
          <p:nvPr/>
        </p:nvSpPr>
        <p:spPr>
          <a:xfrm>
            <a:off x="827584" y="179929"/>
            <a:ext cx="8316416"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3.7 Set function in SQL</a:t>
            </a:r>
          </a:p>
        </p:txBody>
      </p:sp>
      <p:sp>
        <p:nvSpPr>
          <p:cNvPr id="5" name="Rectangle 2">
            <a:extLst>
              <a:ext uri="{FF2B5EF4-FFF2-40B4-BE49-F238E27FC236}">
                <a16:creationId xmlns="" xmlns:a16="http://schemas.microsoft.com/office/drawing/2014/main" id="{2E950600-E672-4129-98F5-9B7BA3D710A5}"/>
              </a:ext>
            </a:extLst>
          </p:cNvPr>
          <p:cNvSpPr/>
          <p:nvPr/>
        </p:nvSpPr>
        <p:spPr>
          <a:xfrm>
            <a:off x="323528" y="1700808"/>
            <a:ext cx="8532440" cy="498663"/>
          </a:xfrm>
          <a:prstGeom prst="rect">
            <a:avLst/>
          </a:prstGeom>
        </p:spPr>
        <p:txBody>
          <a:bodyPr wrap="square">
            <a:spAutoFit/>
          </a:bodyPr>
          <a:lstStyle/>
          <a:p>
            <a:pPr>
              <a:lnSpc>
                <a:spcPct val="150000"/>
              </a:lnSpc>
            </a:pPr>
            <a:r>
              <a:rPr lang="en-US" sz="2000" dirty="0">
                <a:solidFill>
                  <a:srgbClr val="C00000"/>
                </a:solidFill>
                <a:latin typeface="Times New Roman" panose="02020603050405020304" pitchFamily="18" charset="0"/>
                <a:cs typeface="Times New Roman" panose="02020603050405020304" pitchFamily="18" charset="0"/>
              </a:rPr>
              <a:t> </a:t>
            </a:r>
            <a:r>
              <a:rPr lang="en-US" sz="1800" dirty="0">
                <a:solidFill>
                  <a:srgbClr val="C00000"/>
                </a:solidFill>
                <a:latin typeface="Times New Roman" panose="02020603050405020304" pitchFamily="18" charset="0"/>
                <a:cs typeface="Times New Roman" panose="02020603050405020304" pitchFamily="18" charset="0"/>
              </a:rPr>
              <a:t>a)Invalid: </a:t>
            </a:r>
            <a:r>
              <a:rPr lang="en-US" sz="1800" dirty="0">
                <a:solidFill>
                  <a:srgbClr val="002060"/>
                </a:solidFill>
                <a:latin typeface="Times New Roman" panose="02020603050405020304" pitchFamily="18" charset="0"/>
                <a:cs typeface="Times New Roman" panose="02020603050405020304" pitchFamily="18" charset="0"/>
              </a:rPr>
              <a:t>   select </a:t>
            </a:r>
            <a:r>
              <a:rPr lang="en-US" sz="1800" dirty="0" err="1">
                <a:solidFill>
                  <a:srgbClr val="002060"/>
                </a:solidFill>
                <a:latin typeface="Times New Roman" panose="02020603050405020304" pitchFamily="18" charset="0"/>
                <a:cs typeface="Times New Roman" panose="02020603050405020304" pitchFamily="18" charset="0"/>
              </a:rPr>
              <a:t>cid</a:t>
            </a:r>
            <a:r>
              <a:rPr lang="en-US" sz="1800" dirty="0">
                <a:solidFill>
                  <a:srgbClr val="002060"/>
                </a:solidFill>
                <a:latin typeface="Times New Roman" panose="02020603050405020304" pitchFamily="18" charset="0"/>
                <a:cs typeface="Times New Roman" panose="02020603050405020304" pitchFamily="18" charset="0"/>
              </a:rPr>
              <a:t> from customers where </a:t>
            </a:r>
            <a:r>
              <a:rPr lang="en-US" sz="1800" dirty="0" err="1">
                <a:solidFill>
                  <a:srgbClr val="C00000"/>
                </a:solidFill>
                <a:latin typeface="Times New Roman" panose="02020603050405020304" pitchFamily="18" charset="0"/>
                <a:cs typeface="Times New Roman" panose="02020603050405020304" pitchFamily="18" charset="0"/>
              </a:rPr>
              <a:t>discnt</a:t>
            </a:r>
            <a:r>
              <a:rPr lang="en-US" sz="1800" dirty="0">
                <a:solidFill>
                  <a:srgbClr val="002060"/>
                </a:solidFill>
                <a:latin typeface="Times New Roman" panose="02020603050405020304" pitchFamily="18" charset="0"/>
                <a:cs typeface="Times New Roman" panose="02020603050405020304" pitchFamily="18" charset="0"/>
              </a:rPr>
              <a:t> &lt; </a:t>
            </a:r>
            <a:r>
              <a:rPr lang="en-US" sz="1800" dirty="0">
                <a:solidFill>
                  <a:srgbClr val="C00000"/>
                </a:solidFill>
                <a:highlight>
                  <a:srgbClr val="FFFF00"/>
                </a:highlight>
                <a:latin typeface="Times New Roman" panose="02020603050405020304" pitchFamily="18" charset="0"/>
                <a:cs typeface="Times New Roman" panose="02020603050405020304" pitchFamily="18" charset="0"/>
              </a:rPr>
              <a:t>max</a:t>
            </a:r>
            <a:r>
              <a:rPr lang="en-US" sz="1800" dirty="0">
                <a:solidFill>
                  <a:srgbClr val="002060"/>
                </a:solidFill>
                <a:highlight>
                  <a:srgbClr val="FFFF00"/>
                </a:highlight>
                <a:latin typeface="Times New Roman" panose="02020603050405020304" pitchFamily="18" charset="0"/>
                <a:cs typeface="Times New Roman" panose="02020603050405020304" pitchFamily="18" charset="0"/>
              </a:rPr>
              <a:t>(</a:t>
            </a:r>
            <a:r>
              <a:rPr lang="en-US" sz="1800" dirty="0" err="1">
                <a:solidFill>
                  <a:srgbClr val="C00000"/>
                </a:solidFill>
                <a:highlight>
                  <a:srgbClr val="FFFF00"/>
                </a:highlight>
                <a:latin typeface="Times New Roman" panose="02020603050405020304" pitchFamily="18" charset="0"/>
                <a:cs typeface="Times New Roman" panose="02020603050405020304" pitchFamily="18" charset="0"/>
              </a:rPr>
              <a:t>discnt</a:t>
            </a:r>
            <a:r>
              <a:rPr lang="en-US" sz="1800" dirty="0">
                <a:solidFill>
                  <a:srgbClr val="002060"/>
                </a:solidFill>
                <a:highlight>
                  <a:srgbClr val="FFFF00"/>
                </a:highlight>
                <a:latin typeface="Times New Roman" panose="02020603050405020304" pitchFamily="18" charset="0"/>
                <a:cs typeface="Times New Roman" panose="02020603050405020304" pitchFamily="18" charset="0"/>
              </a:rPr>
              <a:t>)</a:t>
            </a:r>
            <a:r>
              <a:rPr lang="en-US" sz="1800" dirty="0">
                <a:solidFill>
                  <a:srgbClr val="002060"/>
                </a:solidFill>
                <a:latin typeface="Times New Roman" panose="02020603050405020304" pitchFamily="18" charset="0"/>
                <a:cs typeface="Times New Roman" panose="02020603050405020304" pitchFamily="18" charset="0"/>
              </a:rPr>
              <a:t>;</a:t>
            </a:r>
          </a:p>
        </p:txBody>
      </p:sp>
      <p:sp>
        <p:nvSpPr>
          <p:cNvPr id="6" name="Rectangle 2">
            <a:extLst>
              <a:ext uri="{FF2B5EF4-FFF2-40B4-BE49-F238E27FC236}">
                <a16:creationId xmlns="" xmlns:a16="http://schemas.microsoft.com/office/drawing/2014/main" id="{561BEF0F-2731-4853-AB0C-41852728F27F}"/>
              </a:ext>
            </a:extLst>
          </p:cNvPr>
          <p:cNvSpPr/>
          <p:nvPr/>
        </p:nvSpPr>
        <p:spPr>
          <a:xfrm>
            <a:off x="107504" y="4077072"/>
            <a:ext cx="9036496" cy="461665"/>
          </a:xfrm>
          <a:prstGeom prst="rect">
            <a:avLst/>
          </a:prstGeom>
        </p:spPr>
        <p:txBody>
          <a:bodyPr wrap="square">
            <a:spAutoFit/>
          </a:bodyPr>
          <a:lstStyle/>
          <a:p>
            <a:pPr>
              <a:spcBef>
                <a:spcPts val="0"/>
              </a:spcBef>
            </a:pPr>
            <a:r>
              <a:rPr lang="en-US" altLang="zh-CN" sz="2400" dirty="0">
                <a:solidFill>
                  <a:srgbClr val="7030A0"/>
                </a:solidFill>
                <a:latin typeface="Times New Roman" panose="02020603050405020304" pitchFamily="18" charset="0"/>
                <a:cs typeface="Times New Roman" panose="02020603050405020304" pitchFamily="18" charset="0"/>
              </a:rPr>
              <a:t>6. Example 3.7.6 </a:t>
            </a:r>
            <a:r>
              <a:rPr lang="en-US" altLang="zh-CN" sz="2000" dirty="0">
                <a:solidFill>
                  <a:srgbClr val="7030A0"/>
                </a:solidFill>
                <a:cs typeface="Times New Roman" panose="02020603050405020304" pitchFamily="18" charset="0"/>
              </a:rPr>
              <a:t>Find products ordered by at least two customers.</a:t>
            </a:r>
          </a:p>
        </p:txBody>
      </p:sp>
      <p:pic>
        <p:nvPicPr>
          <p:cNvPr id="7" name="图片 6">
            <a:extLst>
              <a:ext uri="{FF2B5EF4-FFF2-40B4-BE49-F238E27FC236}">
                <a16:creationId xmlns="" xmlns:a16="http://schemas.microsoft.com/office/drawing/2014/main" id="{61B391FB-9C2D-4C01-8CDA-1739AC9E6C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80379" y="2308770"/>
            <a:ext cx="1800200" cy="602858"/>
          </a:xfrm>
          <a:prstGeom prst="rect">
            <a:avLst/>
          </a:prstGeom>
        </p:spPr>
      </p:pic>
      <p:pic>
        <p:nvPicPr>
          <p:cNvPr id="8" name="图片 7">
            <a:extLst>
              <a:ext uri="{FF2B5EF4-FFF2-40B4-BE49-F238E27FC236}">
                <a16:creationId xmlns="" xmlns:a16="http://schemas.microsoft.com/office/drawing/2014/main" id="{6FEC4A4A-2FF8-4ABA-AA16-F3FC190BF7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52587" y="2308770"/>
            <a:ext cx="1800200" cy="602858"/>
          </a:xfrm>
          <a:prstGeom prst="rect">
            <a:avLst/>
          </a:prstGeom>
        </p:spPr>
      </p:pic>
      <p:cxnSp>
        <p:nvCxnSpPr>
          <p:cNvPr id="9" name="直接箭头连接符 8" descr="max">
            <a:extLst>
              <a:ext uri="{FF2B5EF4-FFF2-40B4-BE49-F238E27FC236}">
                <a16:creationId xmlns="" xmlns:a16="http://schemas.microsoft.com/office/drawing/2014/main" id="{D19A1C66-6BCF-40D6-8DB5-A357A3E915A0}"/>
              </a:ext>
            </a:extLst>
          </p:cNvPr>
          <p:cNvCxnSpPr>
            <a:cxnSpLocks/>
          </p:cNvCxnSpPr>
          <p:nvPr/>
        </p:nvCxnSpPr>
        <p:spPr bwMode="auto">
          <a:xfrm flipH="1">
            <a:off x="8064755" y="2204864"/>
            <a:ext cx="3" cy="446218"/>
          </a:xfrm>
          <a:prstGeom prst="straightConnector1">
            <a:avLst/>
          </a:prstGeom>
          <a:ln>
            <a:solidFill>
              <a:srgbClr val="7030A0"/>
            </a:solidFill>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10" name="箭头: 左弧形 9">
            <a:extLst>
              <a:ext uri="{FF2B5EF4-FFF2-40B4-BE49-F238E27FC236}">
                <a16:creationId xmlns="" xmlns:a16="http://schemas.microsoft.com/office/drawing/2014/main" id="{46EF52D2-9B79-4596-9F09-5240F9E45ED6}"/>
              </a:ext>
            </a:extLst>
          </p:cNvPr>
          <p:cNvSpPr/>
          <p:nvPr/>
        </p:nvSpPr>
        <p:spPr bwMode="auto">
          <a:xfrm rot="16200000">
            <a:off x="7025161" y="2029363"/>
            <a:ext cx="206983" cy="1872209"/>
          </a:xfrm>
          <a:prstGeom prst="curvedRightArrow">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itchFamily="34" charset="0"/>
              <a:ea typeface="宋体" charset="-122"/>
            </a:endParaRPr>
          </a:p>
        </p:txBody>
      </p:sp>
      <p:pic>
        <p:nvPicPr>
          <p:cNvPr id="12" name="图片 11">
            <a:extLst>
              <a:ext uri="{FF2B5EF4-FFF2-40B4-BE49-F238E27FC236}">
                <a16:creationId xmlns="" xmlns:a16="http://schemas.microsoft.com/office/drawing/2014/main" id="{6839AD00-B19B-425A-88D6-2F6C1CD3815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419874" y="4880318"/>
            <a:ext cx="2332262" cy="587032"/>
          </a:xfrm>
          <a:prstGeom prst="rect">
            <a:avLst/>
          </a:prstGeom>
        </p:spPr>
      </p:pic>
      <p:pic>
        <p:nvPicPr>
          <p:cNvPr id="14" name="图片 13">
            <a:extLst>
              <a:ext uri="{FF2B5EF4-FFF2-40B4-BE49-F238E27FC236}">
                <a16:creationId xmlns="" xmlns:a16="http://schemas.microsoft.com/office/drawing/2014/main" id="{A3A1D8CB-9844-4FFF-85A8-F4581FE758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868144" y="4895999"/>
            <a:ext cx="3024333" cy="581918"/>
          </a:xfrm>
          <a:prstGeom prst="rect">
            <a:avLst/>
          </a:prstGeom>
        </p:spPr>
      </p:pic>
      <p:cxnSp>
        <p:nvCxnSpPr>
          <p:cNvPr id="15" name="直接箭头连接符 14">
            <a:extLst>
              <a:ext uri="{FF2B5EF4-FFF2-40B4-BE49-F238E27FC236}">
                <a16:creationId xmlns="" xmlns:a16="http://schemas.microsoft.com/office/drawing/2014/main" id="{28574B12-DD1F-4E13-8804-19494C39A93A}"/>
              </a:ext>
            </a:extLst>
          </p:cNvPr>
          <p:cNvCxnSpPr>
            <a:cxnSpLocks/>
          </p:cNvCxnSpPr>
          <p:nvPr/>
        </p:nvCxnSpPr>
        <p:spPr bwMode="auto">
          <a:xfrm>
            <a:off x="7236296" y="4719006"/>
            <a:ext cx="0" cy="504801"/>
          </a:xfrm>
          <a:prstGeom prst="straightConnector1">
            <a:avLst/>
          </a:prstGeom>
          <a:ln>
            <a:solidFill>
              <a:srgbClr val="7030A0"/>
            </a:solidFill>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16" name="箭头: 左弧形 15">
            <a:extLst>
              <a:ext uri="{FF2B5EF4-FFF2-40B4-BE49-F238E27FC236}">
                <a16:creationId xmlns="" xmlns:a16="http://schemas.microsoft.com/office/drawing/2014/main" id="{44D63088-6285-410C-9168-1B85AD03FB35}"/>
              </a:ext>
            </a:extLst>
          </p:cNvPr>
          <p:cNvSpPr/>
          <p:nvPr/>
        </p:nvSpPr>
        <p:spPr bwMode="auto">
          <a:xfrm rot="16200000">
            <a:off x="5678489" y="3334281"/>
            <a:ext cx="212376" cy="4441558"/>
          </a:xfrm>
          <a:prstGeom prst="curvedRightArrow">
            <a:avLst/>
          </a:prstGeom>
          <a:ln>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itchFamily="34" charset="0"/>
              <a:ea typeface="宋体" charset="-122"/>
            </a:endParaRPr>
          </a:p>
        </p:txBody>
      </p:sp>
      <p:sp>
        <p:nvSpPr>
          <p:cNvPr id="19" name="文本框 18">
            <a:extLst>
              <a:ext uri="{FF2B5EF4-FFF2-40B4-BE49-F238E27FC236}">
                <a16:creationId xmlns="" xmlns:a16="http://schemas.microsoft.com/office/drawing/2014/main" id="{41E3E8AE-A3DB-4AE6-A861-850E5CCB8171}"/>
              </a:ext>
            </a:extLst>
          </p:cNvPr>
          <p:cNvSpPr txBox="1"/>
          <p:nvPr/>
        </p:nvSpPr>
        <p:spPr>
          <a:xfrm>
            <a:off x="8064755" y="2285945"/>
            <a:ext cx="971741" cy="338554"/>
          </a:xfrm>
          <a:prstGeom prst="rect">
            <a:avLst/>
          </a:prstGeom>
          <a:noFill/>
        </p:spPr>
        <p:txBody>
          <a:bodyPr wrap="none" rtlCol="0">
            <a:spAutoFit/>
          </a:bodyPr>
          <a:lstStyle/>
          <a:p>
            <a:r>
              <a:rPr lang="zh-CN" altLang="en-US" sz="1600" dirty="0">
                <a:solidFill>
                  <a:srgbClr val="7030A0"/>
                </a:solidFill>
                <a:latin typeface="Times New Roman" panose="02020603050405020304" pitchFamily="18" charset="0"/>
                <a:ea typeface="等线" panose="02010600030101010101" pitchFamily="2" charset="-122"/>
                <a:cs typeface="Times New Roman" panose="02020603050405020304" pitchFamily="18" charset="0"/>
              </a:rPr>
              <a:t>先求</a:t>
            </a:r>
            <a:r>
              <a:rPr lang="en-US" altLang="zh-CN" sz="1600" dirty="0">
                <a:solidFill>
                  <a:srgbClr val="7030A0"/>
                </a:solidFill>
                <a:latin typeface="Times New Roman" panose="02020603050405020304" pitchFamily="18" charset="0"/>
                <a:ea typeface="等线" panose="02010600030101010101" pitchFamily="2" charset="-122"/>
                <a:cs typeface="Times New Roman" panose="02020603050405020304" pitchFamily="18" charset="0"/>
              </a:rPr>
              <a:t>max</a:t>
            </a:r>
            <a:endParaRPr lang="zh-CN" altLang="en-US" sz="1600" dirty="0">
              <a:solidFill>
                <a:srgbClr val="7030A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20" name="文本框 19">
            <a:extLst>
              <a:ext uri="{FF2B5EF4-FFF2-40B4-BE49-F238E27FC236}">
                <a16:creationId xmlns="" xmlns:a16="http://schemas.microsoft.com/office/drawing/2014/main" id="{02EE5835-6D39-49F3-A5C8-08D537D1DAA8}"/>
              </a:ext>
            </a:extLst>
          </p:cNvPr>
          <p:cNvSpPr txBox="1"/>
          <p:nvPr/>
        </p:nvSpPr>
        <p:spPr>
          <a:xfrm>
            <a:off x="7286727" y="4454935"/>
            <a:ext cx="1622560" cy="523220"/>
          </a:xfrm>
          <a:prstGeom prst="rect">
            <a:avLst/>
          </a:prstGeom>
          <a:noFill/>
        </p:spPr>
        <p:txBody>
          <a:bodyPr wrap="none" rtlCol="0">
            <a:spAutoFit/>
          </a:bodyPr>
          <a:lstStyle/>
          <a:p>
            <a:r>
              <a:rPr lang="zh-CN" altLang="en-US" sz="1400" dirty="0">
                <a:solidFill>
                  <a:srgbClr val="7030A0"/>
                </a:solidFill>
                <a:latin typeface="Times New Roman" panose="02020603050405020304" pitchFamily="18" charset="0"/>
                <a:ea typeface="等线" panose="02010600030101010101" pitchFamily="2" charset="-122"/>
                <a:cs typeface="Times New Roman" panose="02020603050405020304" pitchFamily="18" charset="0"/>
              </a:rPr>
              <a:t>卖了</a:t>
            </a:r>
            <a:r>
              <a:rPr lang="en-US" altLang="zh-CN" sz="1400" dirty="0">
                <a:solidFill>
                  <a:srgbClr val="7030A0"/>
                </a:solidFill>
                <a:latin typeface="Times New Roman" panose="02020603050405020304" pitchFamily="18" charset="0"/>
                <a:ea typeface="等线" panose="02010600030101010101" pitchFamily="2" charset="-122"/>
                <a:cs typeface="Times New Roman" panose="02020603050405020304" pitchFamily="18" charset="0"/>
              </a:rPr>
              <a:t>2</a:t>
            </a:r>
            <a:r>
              <a:rPr lang="zh-CN" altLang="en-US" sz="1400" dirty="0">
                <a:solidFill>
                  <a:srgbClr val="7030A0"/>
                </a:solidFill>
                <a:latin typeface="Times New Roman" panose="02020603050405020304" pitchFamily="18" charset="0"/>
                <a:ea typeface="等线" panose="02010600030101010101" pitchFamily="2" charset="-122"/>
                <a:cs typeface="Times New Roman" panose="02020603050405020304" pitchFamily="18" charset="0"/>
              </a:rPr>
              <a:t>人以上？</a:t>
            </a:r>
            <a:endParaRPr lang="en-US" altLang="zh-CN" sz="1400" dirty="0">
              <a:solidFill>
                <a:srgbClr val="7030A0"/>
              </a:solidFill>
              <a:latin typeface="Times New Roman" panose="02020603050405020304" pitchFamily="18" charset="0"/>
              <a:ea typeface="等线" panose="02010600030101010101" pitchFamily="2" charset="-122"/>
              <a:cs typeface="Times New Roman" panose="02020603050405020304" pitchFamily="18" charset="0"/>
            </a:endParaRPr>
          </a:p>
          <a:p>
            <a:r>
              <a:rPr lang="en-US" altLang="zh-CN" sz="1400" dirty="0">
                <a:solidFill>
                  <a:srgbClr val="7030A0"/>
                </a:solidFill>
                <a:latin typeface="Times New Roman" panose="02020603050405020304" pitchFamily="18" charset="0"/>
                <a:ea typeface="等线" panose="02010600030101010101" pitchFamily="2" charset="-122"/>
                <a:cs typeface="Times New Roman" panose="02020603050405020304" pitchFamily="18" charset="0"/>
              </a:rPr>
              <a:t>Count(distinct </a:t>
            </a:r>
            <a:r>
              <a:rPr lang="en-US" altLang="zh-CN" sz="1400" dirty="0" err="1">
                <a:solidFill>
                  <a:srgbClr val="7030A0"/>
                </a:solidFill>
                <a:latin typeface="Times New Roman" panose="02020603050405020304" pitchFamily="18" charset="0"/>
                <a:ea typeface="等线" panose="02010600030101010101" pitchFamily="2" charset="-122"/>
                <a:cs typeface="Times New Roman" panose="02020603050405020304" pitchFamily="18" charset="0"/>
              </a:rPr>
              <a:t>cid</a:t>
            </a:r>
            <a:r>
              <a:rPr lang="en-US" altLang="zh-CN" sz="1400" dirty="0">
                <a:solidFill>
                  <a:srgbClr val="7030A0"/>
                </a:solidFill>
                <a:latin typeface="Times New Roman" panose="02020603050405020304" pitchFamily="18" charset="0"/>
                <a:ea typeface="等线" panose="02010600030101010101" pitchFamily="2" charset="-122"/>
                <a:cs typeface="Times New Roman" panose="02020603050405020304" pitchFamily="18" charset="0"/>
              </a:rPr>
              <a:t>)</a:t>
            </a:r>
            <a:endParaRPr lang="zh-CN" altLang="en-US" sz="1400" dirty="0">
              <a:solidFill>
                <a:srgbClr val="7030A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21" name="Rectangle 2">
            <a:extLst>
              <a:ext uri="{FF2B5EF4-FFF2-40B4-BE49-F238E27FC236}">
                <a16:creationId xmlns="" xmlns:a16="http://schemas.microsoft.com/office/drawing/2014/main" id="{74B6EE14-404C-414E-BEE1-2C0AA7B6DA27}"/>
              </a:ext>
            </a:extLst>
          </p:cNvPr>
          <p:cNvSpPr/>
          <p:nvPr/>
        </p:nvSpPr>
        <p:spPr>
          <a:xfrm>
            <a:off x="395536" y="2821722"/>
            <a:ext cx="8532440" cy="823302"/>
          </a:xfrm>
          <a:prstGeom prst="rect">
            <a:avLst/>
          </a:prstGeom>
        </p:spPr>
        <p:txBody>
          <a:bodyPr wrap="square">
            <a:spAutoFit/>
          </a:bodyPr>
          <a:lstStyle/>
          <a:p>
            <a:pPr>
              <a:lnSpc>
                <a:spcPct val="150000"/>
              </a:lnSpc>
            </a:pPr>
            <a:r>
              <a:rPr lang="en-US" sz="1800" dirty="0">
                <a:solidFill>
                  <a:srgbClr val="C00000"/>
                </a:solidFill>
                <a:latin typeface="Times New Roman" panose="02020603050405020304" pitchFamily="18" charset="0"/>
                <a:cs typeface="Times New Roman" panose="02020603050405020304" pitchFamily="18" charset="0"/>
              </a:rPr>
              <a:t>b)Effective: </a:t>
            </a:r>
            <a:r>
              <a:rPr lang="en-US" sz="1800" dirty="0">
                <a:solidFill>
                  <a:srgbClr val="002060"/>
                </a:solidFill>
                <a:latin typeface="Times New Roman" panose="02020603050405020304" pitchFamily="18" charset="0"/>
                <a:cs typeface="Times New Roman" panose="02020603050405020304" pitchFamily="18" charset="0"/>
              </a:rPr>
              <a:t>select </a:t>
            </a:r>
            <a:r>
              <a:rPr lang="en-US" sz="1800" dirty="0" err="1">
                <a:solidFill>
                  <a:srgbClr val="002060"/>
                </a:solidFill>
                <a:latin typeface="Times New Roman" panose="02020603050405020304" pitchFamily="18" charset="0"/>
                <a:cs typeface="Times New Roman" panose="02020603050405020304" pitchFamily="18" charset="0"/>
              </a:rPr>
              <a:t>cid</a:t>
            </a:r>
            <a:r>
              <a:rPr lang="en-US" sz="1800" dirty="0">
                <a:solidFill>
                  <a:srgbClr val="002060"/>
                </a:solidFill>
                <a:latin typeface="Times New Roman" panose="02020603050405020304" pitchFamily="18" charset="0"/>
                <a:cs typeface="Times New Roman" panose="02020603050405020304" pitchFamily="18" charset="0"/>
              </a:rPr>
              <a:t> from customers</a:t>
            </a:r>
          </a:p>
          <a:p>
            <a:pPr>
              <a:spcBef>
                <a:spcPts val="300"/>
              </a:spcBef>
            </a:pPr>
            <a:r>
              <a:rPr lang="en-US" sz="1800" dirty="0">
                <a:solidFill>
                  <a:srgbClr val="002060"/>
                </a:solidFill>
                <a:latin typeface="Times New Roman" panose="02020603050405020304" pitchFamily="18" charset="0"/>
                <a:cs typeface="Times New Roman" panose="02020603050405020304" pitchFamily="18" charset="0"/>
              </a:rPr>
              <a:t>     		      where </a:t>
            </a:r>
            <a:r>
              <a:rPr lang="en-US" sz="1800" dirty="0" err="1">
                <a:solidFill>
                  <a:srgbClr val="C00000"/>
                </a:solidFill>
                <a:latin typeface="Times New Roman" panose="02020603050405020304" pitchFamily="18" charset="0"/>
                <a:cs typeface="Times New Roman" panose="02020603050405020304" pitchFamily="18" charset="0"/>
              </a:rPr>
              <a:t>discnt</a:t>
            </a:r>
            <a:r>
              <a:rPr lang="en-US" sz="1800" dirty="0">
                <a:solidFill>
                  <a:srgbClr val="002060"/>
                </a:solidFill>
                <a:latin typeface="Times New Roman" panose="02020603050405020304" pitchFamily="18" charset="0"/>
                <a:cs typeface="Times New Roman" panose="02020603050405020304" pitchFamily="18" charset="0"/>
              </a:rPr>
              <a:t> &lt; (</a:t>
            </a:r>
            <a:r>
              <a:rPr lang="en-US" sz="1800" dirty="0">
                <a:solidFill>
                  <a:srgbClr val="002060"/>
                </a:solidFill>
                <a:highlight>
                  <a:srgbClr val="FFFF00"/>
                </a:highlight>
                <a:latin typeface="Times New Roman" panose="02020603050405020304" pitchFamily="18" charset="0"/>
                <a:cs typeface="Times New Roman" panose="02020603050405020304" pitchFamily="18" charset="0"/>
              </a:rPr>
              <a:t>select </a:t>
            </a:r>
            <a:r>
              <a:rPr lang="en-US" sz="1800" dirty="0">
                <a:solidFill>
                  <a:srgbClr val="7030A0"/>
                </a:solidFill>
                <a:highlight>
                  <a:srgbClr val="FFFF00"/>
                </a:highlight>
                <a:latin typeface="Times New Roman" panose="02020603050405020304" pitchFamily="18" charset="0"/>
                <a:cs typeface="Times New Roman" panose="02020603050405020304" pitchFamily="18" charset="0"/>
              </a:rPr>
              <a:t>max</a:t>
            </a:r>
            <a:r>
              <a:rPr lang="en-US" sz="1800" dirty="0">
                <a:solidFill>
                  <a:srgbClr val="002060"/>
                </a:solidFill>
                <a:highlight>
                  <a:srgbClr val="FFFF00"/>
                </a:highlight>
                <a:latin typeface="Times New Roman" panose="02020603050405020304" pitchFamily="18" charset="0"/>
                <a:cs typeface="Times New Roman" panose="02020603050405020304" pitchFamily="18" charset="0"/>
              </a:rPr>
              <a:t>(</a:t>
            </a:r>
            <a:r>
              <a:rPr lang="en-US" sz="1800" dirty="0" err="1">
                <a:solidFill>
                  <a:srgbClr val="7030A0"/>
                </a:solidFill>
                <a:highlight>
                  <a:srgbClr val="FFFF00"/>
                </a:highlight>
                <a:latin typeface="Times New Roman" panose="02020603050405020304" pitchFamily="18" charset="0"/>
                <a:cs typeface="Times New Roman" panose="02020603050405020304" pitchFamily="18" charset="0"/>
              </a:rPr>
              <a:t>discnt</a:t>
            </a:r>
            <a:r>
              <a:rPr lang="en-US" sz="1800" dirty="0">
                <a:solidFill>
                  <a:srgbClr val="002060"/>
                </a:solidFill>
                <a:highlight>
                  <a:srgbClr val="FFFF00"/>
                </a:highlight>
                <a:latin typeface="Times New Roman" panose="02020603050405020304" pitchFamily="18" charset="0"/>
                <a:cs typeface="Times New Roman" panose="02020603050405020304" pitchFamily="18" charset="0"/>
              </a:rPr>
              <a:t>) from customers</a:t>
            </a:r>
            <a:r>
              <a:rPr lang="en-US" sz="1800" dirty="0">
                <a:solidFill>
                  <a:srgbClr val="002060"/>
                </a:solidFill>
                <a:latin typeface="Times New Roman" panose="02020603050405020304" pitchFamily="18" charset="0"/>
                <a:cs typeface="Times New Roman" panose="02020603050405020304" pitchFamily="18" charset="0"/>
              </a:rPr>
              <a:t>);</a:t>
            </a:r>
          </a:p>
        </p:txBody>
      </p:sp>
      <p:sp>
        <p:nvSpPr>
          <p:cNvPr id="22" name="Rectangle 2">
            <a:extLst>
              <a:ext uri="{FF2B5EF4-FFF2-40B4-BE49-F238E27FC236}">
                <a16:creationId xmlns="" xmlns:a16="http://schemas.microsoft.com/office/drawing/2014/main" id="{EBB1B006-C2BC-45D7-B45E-5D676E95E4C9}"/>
              </a:ext>
            </a:extLst>
          </p:cNvPr>
          <p:cNvSpPr/>
          <p:nvPr/>
        </p:nvSpPr>
        <p:spPr>
          <a:xfrm>
            <a:off x="539552" y="5427878"/>
            <a:ext cx="8352925" cy="923330"/>
          </a:xfrm>
          <a:prstGeom prst="rect">
            <a:avLst/>
          </a:prstGeom>
        </p:spPr>
        <p:txBody>
          <a:bodyPr wrap="square">
            <a:spAutoFit/>
          </a:bodyPr>
          <a:lstStyle/>
          <a:p>
            <a:pPr>
              <a:spcBef>
                <a:spcPts val="0"/>
              </a:spcBef>
            </a:pPr>
            <a:r>
              <a:rPr lang="en-US" altLang="zh-CN" sz="1800" dirty="0">
                <a:solidFill>
                  <a:srgbClr val="002060"/>
                </a:solidFill>
                <a:latin typeface="Times New Roman" panose="02020603050405020304" pitchFamily="18" charset="0"/>
                <a:cs typeface="Times New Roman" panose="02020603050405020304" pitchFamily="18" charset="0"/>
              </a:rPr>
              <a:t>select </a:t>
            </a:r>
            <a:r>
              <a:rPr lang="en-US" altLang="zh-CN" sz="1800" dirty="0" err="1">
                <a:solidFill>
                  <a:srgbClr val="002060"/>
                </a:solidFill>
                <a:latin typeface="Times New Roman" panose="02020603050405020304" pitchFamily="18" charset="0"/>
                <a:cs typeface="Times New Roman" panose="02020603050405020304" pitchFamily="18" charset="0"/>
              </a:rPr>
              <a:t>pid</a:t>
            </a:r>
            <a:r>
              <a:rPr lang="en-US" altLang="zh-CN" sz="1800" dirty="0">
                <a:solidFill>
                  <a:srgbClr val="002060"/>
                </a:solidFill>
                <a:latin typeface="Times New Roman" panose="02020603050405020304" pitchFamily="18" charset="0"/>
                <a:cs typeface="Times New Roman" panose="02020603050405020304" pitchFamily="18" charset="0"/>
              </a:rPr>
              <a:t> from products </a:t>
            </a:r>
          </a:p>
          <a:p>
            <a:r>
              <a:rPr lang="en-US" altLang="zh-CN" sz="1800" dirty="0">
                <a:solidFill>
                  <a:srgbClr val="002060"/>
                </a:solidFill>
                <a:latin typeface="Times New Roman" panose="02020603050405020304" pitchFamily="18" charset="0"/>
                <a:cs typeface="Times New Roman" panose="02020603050405020304" pitchFamily="18" charset="0"/>
              </a:rPr>
              <a:t>	       where </a:t>
            </a:r>
            <a:r>
              <a:rPr lang="en-US" altLang="zh-CN" sz="1800" dirty="0">
                <a:solidFill>
                  <a:srgbClr val="C00000"/>
                </a:solidFill>
                <a:latin typeface="Times New Roman" panose="02020603050405020304" pitchFamily="18" charset="0"/>
                <a:cs typeface="Times New Roman" panose="02020603050405020304" pitchFamily="18" charset="0"/>
              </a:rPr>
              <a:t>2</a:t>
            </a:r>
            <a:r>
              <a:rPr lang="en-US" altLang="zh-CN" sz="1800" dirty="0">
                <a:solidFill>
                  <a:srgbClr val="002060"/>
                </a:solidFill>
                <a:latin typeface="Times New Roman" panose="02020603050405020304" pitchFamily="18" charset="0"/>
                <a:cs typeface="Times New Roman" panose="02020603050405020304" pitchFamily="18" charset="0"/>
              </a:rPr>
              <a:t> &lt;= (select </a:t>
            </a:r>
            <a:r>
              <a:rPr lang="en-US" altLang="zh-CN" sz="1800" dirty="0">
                <a:solidFill>
                  <a:srgbClr val="C00000"/>
                </a:solidFill>
                <a:latin typeface="Times New Roman" panose="02020603050405020304" pitchFamily="18" charset="0"/>
                <a:cs typeface="Times New Roman" panose="02020603050405020304" pitchFamily="18" charset="0"/>
              </a:rPr>
              <a:t>count(distinct </a:t>
            </a:r>
            <a:r>
              <a:rPr lang="en-US" altLang="zh-CN" sz="1800" dirty="0" err="1">
                <a:solidFill>
                  <a:srgbClr val="C00000"/>
                </a:solidFill>
                <a:latin typeface="Times New Roman" panose="02020603050405020304" pitchFamily="18" charset="0"/>
                <a:cs typeface="Times New Roman" panose="02020603050405020304" pitchFamily="18" charset="0"/>
              </a:rPr>
              <a:t>cid</a:t>
            </a:r>
            <a:r>
              <a:rPr lang="en-US" altLang="zh-CN" sz="1800" dirty="0">
                <a:solidFill>
                  <a:srgbClr val="C00000"/>
                </a:solidFill>
                <a:latin typeface="Times New Roman" panose="02020603050405020304" pitchFamily="18" charset="0"/>
                <a:cs typeface="Times New Roman" panose="02020603050405020304" pitchFamily="18" charset="0"/>
              </a:rPr>
              <a:t>)</a:t>
            </a:r>
            <a:r>
              <a:rPr lang="en-US" altLang="zh-CN" sz="1800" dirty="0">
                <a:solidFill>
                  <a:srgbClr val="002060"/>
                </a:solidFill>
                <a:latin typeface="Times New Roman" panose="02020603050405020304" pitchFamily="18" charset="0"/>
                <a:cs typeface="Times New Roman" panose="02020603050405020304" pitchFamily="18" charset="0"/>
              </a:rPr>
              <a:t> from order o</a:t>
            </a:r>
          </a:p>
          <a:p>
            <a:r>
              <a:rPr lang="en-US" altLang="zh-CN" sz="1800" dirty="0">
                <a:solidFill>
                  <a:srgbClr val="002060"/>
                </a:solidFill>
                <a:latin typeface="Times New Roman" panose="02020603050405020304" pitchFamily="18" charset="0"/>
                <a:cs typeface="Times New Roman" panose="02020603050405020304" pitchFamily="18" charset="0"/>
              </a:rPr>
              <a:t>					       where </a:t>
            </a:r>
            <a:r>
              <a:rPr lang="en-US" altLang="zh-CN" sz="1800" dirty="0" err="1">
                <a:solidFill>
                  <a:srgbClr val="002060"/>
                </a:solidFill>
                <a:latin typeface="Times New Roman" panose="02020603050405020304" pitchFamily="18" charset="0"/>
                <a:cs typeface="Times New Roman" panose="02020603050405020304" pitchFamily="18" charset="0"/>
              </a:rPr>
              <a:t>o.pid</a:t>
            </a:r>
            <a:r>
              <a:rPr lang="en-US" altLang="zh-CN" sz="1800" dirty="0">
                <a:solidFill>
                  <a:srgbClr val="002060"/>
                </a:solidFill>
                <a:latin typeface="Times New Roman" panose="02020603050405020304" pitchFamily="18" charset="0"/>
                <a:cs typeface="Times New Roman" panose="02020603050405020304" pitchFamily="18" charset="0"/>
              </a:rPr>
              <a:t>=</a:t>
            </a:r>
            <a:r>
              <a:rPr lang="en-US" altLang="zh-CN" sz="1800" dirty="0" err="1">
                <a:solidFill>
                  <a:srgbClr val="002060"/>
                </a:solidFill>
                <a:latin typeface="Times New Roman" panose="02020603050405020304" pitchFamily="18" charset="0"/>
                <a:cs typeface="Times New Roman" panose="02020603050405020304" pitchFamily="18" charset="0"/>
              </a:rPr>
              <a:t>p.pid</a:t>
            </a:r>
            <a:r>
              <a:rPr lang="en-US" altLang="zh-CN" sz="1800" dirty="0">
                <a:solidFill>
                  <a:srgbClr val="002060"/>
                </a:solidFill>
                <a:latin typeface="Times New Roman" panose="02020603050405020304" pitchFamily="18" charset="0"/>
                <a:cs typeface="Times New Roman" panose="02020603050405020304" pitchFamily="18" charset="0"/>
              </a:rPr>
              <a:t>)</a:t>
            </a:r>
            <a:endParaRPr lang="en-US" altLang="zh-CN" sz="2000" dirty="0">
              <a:solidFill>
                <a:srgbClr val="002060"/>
              </a:solidFill>
              <a:latin typeface="Times New Roman" panose="02020603050405020304" pitchFamily="18" charset="0"/>
              <a:cs typeface="Times New Roman" panose="02020603050405020304" pitchFamily="18" charset="0"/>
            </a:endParaRPr>
          </a:p>
        </p:txBody>
      </p:sp>
      <p:sp>
        <p:nvSpPr>
          <p:cNvPr id="18" name="矩形: 圆角 17">
            <a:extLst>
              <a:ext uri="{FF2B5EF4-FFF2-40B4-BE49-F238E27FC236}">
                <a16:creationId xmlns="" xmlns:a16="http://schemas.microsoft.com/office/drawing/2014/main" id="{BE812BB0-2420-4967-88FE-09576759CEDB}"/>
              </a:ext>
            </a:extLst>
          </p:cNvPr>
          <p:cNvSpPr/>
          <p:nvPr/>
        </p:nvSpPr>
        <p:spPr>
          <a:xfrm>
            <a:off x="6372200" y="1490097"/>
            <a:ext cx="2088231"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 xmlns:a16="http://schemas.microsoft.com/office/drawing/2014/main" id="{ED0FA033-86A4-4ED1-8E72-F6B9C203D02D}"/>
              </a:ext>
            </a:extLst>
          </p:cNvPr>
          <p:cNvSpPr/>
          <p:nvPr/>
        </p:nvSpPr>
        <p:spPr>
          <a:xfrm>
            <a:off x="2699802" y="1478127"/>
            <a:ext cx="432038"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cxnSp>
        <p:nvCxnSpPr>
          <p:cNvPr id="24" name="直接箭头连接符 23" descr="max">
            <a:extLst>
              <a:ext uri="{FF2B5EF4-FFF2-40B4-BE49-F238E27FC236}">
                <a16:creationId xmlns="" xmlns:a16="http://schemas.microsoft.com/office/drawing/2014/main" id="{6C94DD4E-5F60-4B48-B5F2-497F5E3C0ECF}"/>
              </a:ext>
            </a:extLst>
          </p:cNvPr>
          <p:cNvCxnSpPr>
            <a:cxnSpLocks/>
          </p:cNvCxnSpPr>
          <p:nvPr/>
        </p:nvCxnSpPr>
        <p:spPr bwMode="auto">
          <a:xfrm flipH="1">
            <a:off x="4860032" y="2217277"/>
            <a:ext cx="3" cy="446218"/>
          </a:xfrm>
          <a:prstGeom prst="straightConnector1">
            <a:avLst/>
          </a:prstGeom>
          <a:ln>
            <a:solidFill>
              <a:srgbClr val="FF0000"/>
            </a:solidFill>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25" name="矩形: 圆角 24">
            <a:extLst>
              <a:ext uri="{FF2B5EF4-FFF2-40B4-BE49-F238E27FC236}">
                <a16:creationId xmlns="" xmlns:a16="http://schemas.microsoft.com/office/drawing/2014/main" id="{4D20DE18-35DD-41F1-AFF3-AB979389C848}"/>
              </a:ext>
            </a:extLst>
          </p:cNvPr>
          <p:cNvSpPr/>
          <p:nvPr/>
        </p:nvSpPr>
        <p:spPr>
          <a:xfrm>
            <a:off x="4824028" y="4198961"/>
            <a:ext cx="2700300"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 xmlns:a16="http://schemas.microsoft.com/office/drawing/2014/main" id="{D9F36476-4C97-4EA6-97FA-C5930D0CB1B0}"/>
              </a:ext>
            </a:extLst>
          </p:cNvPr>
          <p:cNvSpPr/>
          <p:nvPr/>
        </p:nvSpPr>
        <p:spPr>
          <a:xfrm>
            <a:off x="2915820" y="4193633"/>
            <a:ext cx="936099"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cxnSp>
        <p:nvCxnSpPr>
          <p:cNvPr id="27" name="直接箭头连接符 26" descr="max">
            <a:extLst>
              <a:ext uri="{FF2B5EF4-FFF2-40B4-BE49-F238E27FC236}">
                <a16:creationId xmlns="" xmlns:a16="http://schemas.microsoft.com/office/drawing/2014/main" id="{CD5713B0-BD9D-4D6C-9F2B-7B1E01EC5627}"/>
              </a:ext>
            </a:extLst>
          </p:cNvPr>
          <p:cNvCxnSpPr>
            <a:cxnSpLocks/>
          </p:cNvCxnSpPr>
          <p:nvPr/>
        </p:nvCxnSpPr>
        <p:spPr bwMode="auto">
          <a:xfrm flipH="1">
            <a:off x="3577773" y="4769048"/>
            <a:ext cx="3" cy="446218"/>
          </a:xfrm>
          <a:prstGeom prst="straightConnector1">
            <a:avLst/>
          </a:prstGeom>
          <a:ln>
            <a:solidFill>
              <a:srgbClr val="FF0000"/>
            </a:solidFill>
            <a:headEnd type="none" w="med" len="med"/>
            <a:tailEnd type="triangle"/>
          </a:ln>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left)">
                                      <p:cBhvr>
                                        <p:cTn id="12" dur="500"/>
                                        <p:tgtEl>
                                          <p:spTgt spid="7"/>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par>
                          <p:cTn id="17" fill="hold">
                            <p:stCondLst>
                              <p:cond delay="1000"/>
                            </p:stCondLst>
                            <p:childTnLst>
                              <p:par>
                                <p:cTn id="18" presetID="22" presetClass="entr" presetSubtype="1" fill="hold"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up)">
                                      <p:cBhvr>
                                        <p:cTn id="20" dur="500"/>
                                        <p:tgtEl>
                                          <p:spTgt spid="9"/>
                                        </p:tgtEl>
                                      </p:cBhvr>
                                    </p:animEffect>
                                  </p:childTnLst>
                                </p:cTn>
                              </p:par>
                            </p:childTnLst>
                          </p:cTn>
                        </p:par>
                        <p:par>
                          <p:cTn id="21" fill="hold">
                            <p:stCondLst>
                              <p:cond delay="1500"/>
                            </p:stCondLst>
                            <p:childTnLst>
                              <p:par>
                                <p:cTn id="22" presetID="22" presetClass="entr" presetSubtype="8" fill="hold" grpId="0" nodeType="afterEffect">
                                  <p:stCondLst>
                                    <p:cond delay="0"/>
                                  </p:stCondLst>
                                  <p:childTnLst>
                                    <p:set>
                                      <p:cBhvr>
                                        <p:cTn id="23" dur="1" fill="hold">
                                          <p:stCondLst>
                                            <p:cond delay="0"/>
                                          </p:stCondLst>
                                        </p:cTn>
                                        <p:tgtEl>
                                          <p:spTgt spid="19"/>
                                        </p:tgtEl>
                                        <p:attrNameLst>
                                          <p:attrName>style.visibility</p:attrName>
                                        </p:attrNameLst>
                                      </p:cBhvr>
                                      <p:to>
                                        <p:strVal val="visible"/>
                                      </p:to>
                                    </p:set>
                                    <p:animEffect transition="in" filter="wipe(left)">
                                      <p:cBhvr>
                                        <p:cTn id="24" dur="500"/>
                                        <p:tgtEl>
                                          <p:spTgt spid="19"/>
                                        </p:tgtEl>
                                      </p:cBhvr>
                                    </p:animEffect>
                                  </p:childTnLst>
                                </p:cTn>
                              </p:par>
                            </p:childTnLst>
                          </p:cTn>
                        </p:par>
                      </p:childTnLst>
                    </p:cTn>
                  </p:par>
                  <p:par>
                    <p:cTn id="25" fill="hold">
                      <p:stCondLst>
                        <p:cond delay="indefinite"/>
                      </p:stCondLst>
                      <p:childTnLst>
                        <p:par>
                          <p:cTn id="26" fill="hold">
                            <p:stCondLst>
                              <p:cond delay="0"/>
                            </p:stCondLst>
                            <p:childTnLst>
                              <p:par>
                                <p:cTn id="27" presetID="22" presetClass="entr" presetSubtype="8" fill="hold" grpId="0"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left)">
                                      <p:cBhvr>
                                        <p:cTn id="29" dur="500"/>
                                        <p:tgtEl>
                                          <p:spTgt spid="10"/>
                                        </p:tgtEl>
                                      </p:cBhvr>
                                    </p:animEffect>
                                  </p:childTnLst>
                                </p:cTn>
                              </p:par>
                            </p:childTnLst>
                          </p:cTn>
                        </p:par>
                        <p:par>
                          <p:cTn id="30" fill="hold">
                            <p:stCondLst>
                              <p:cond delay="500"/>
                            </p:stCondLst>
                            <p:childTnLst>
                              <p:par>
                                <p:cTn id="31" presetID="22" presetClass="entr" presetSubtype="8" fill="hold" nodeType="afterEffect">
                                  <p:stCondLst>
                                    <p:cond delay="0"/>
                                  </p:stCondLst>
                                  <p:childTnLst>
                                    <p:set>
                                      <p:cBhvr>
                                        <p:cTn id="32" dur="1" fill="hold">
                                          <p:stCondLst>
                                            <p:cond delay="0"/>
                                          </p:stCondLst>
                                        </p:cTn>
                                        <p:tgtEl>
                                          <p:spTgt spid="21">
                                            <p:txEl>
                                              <p:pRg st="1" end="1"/>
                                            </p:txEl>
                                          </p:spTgt>
                                        </p:tgtEl>
                                        <p:attrNameLst>
                                          <p:attrName>style.visibility</p:attrName>
                                        </p:attrNameLst>
                                      </p:cBhvr>
                                      <p:to>
                                        <p:strVal val="visible"/>
                                      </p:to>
                                    </p:set>
                                    <p:animEffect transition="in" filter="wipe(left)">
                                      <p:cBhvr>
                                        <p:cTn id="33" dur="500"/>
                                        <p:tgtEl>
                                          <p:spTgt spid="21">
                                            <p:txEl>
                                              <p:pRg st="1" end="1"/>
                                            </p:txEl>
                                          </p:spTgt>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1" fill="hold" nodeType="clickEffect">
                                  <p:stCondLst>
                                    <p:cond delay="0"/>
                                  </p:stCondLst>
                                  <p:childTnLst>
                                    <p:set>
                                      <p:cBhvr>
                                        <p:cTn id="37" dur="1" fill="hold">
                                          <p:stCondLst>
                                            <p:cond delay="0"/>
                                          </p:stCondLst>
                                        </p:cTn>
                                        <p:tgtEl>
                                          <p:spTgt spid="24"/>
                                        </p:tgtEl>
                                        <p:attrNameLst>
                                          <p:attrName>style.visibility</p:attrName>
                                        </p:attrNameLst>
                                      </p:cBhvr>
                                      <p:to>
                                        <p:strVal val="visible"/>
                                      </p:to>
                                    </p:set>
                                    <p:animEffect transition="in" filter="wipe(up)">
                                      <p:cBhvr>
                                        <p:cTn id="38" dur="1000"/>
                                        <p:tgtEl>
                                          <p:spTgt spid="24"/>
                                        </p:tgtEl>
                                      </p:cBhvr>
                                    </p:animEffect>
                                  </p:childTnLst>
                                </p:cTn>
                              </p:par>
                            </p:childTnLst>
                          </p:cTn>
                        </p:par>
                        <p:par>
                          <p:cTn id="39" fill="hold">
                            <p:stCondLst>
                              <p:cond delay="1000"/>
                            </p:stCondLst>
                            <p:childTnLst>
                              <p:par>
                                <p:cTn id="40" presetID="22" presetClass="entr" presetSubtype="8" fill="hold" nodeType="afterEffect">
                                  <p:stCondLst>
                                    <p:cond delay="0"/>
                                  </p:stCondLst>
                                  <p:childTnLst>
                                    <p:set>
                                      <p:cBhvr>
                                        <p:cTn id="41" dur="1" fill="hold">
                                          <p:stCondLst>
                                            <p:cond delay="0"/>
                                          </p:stCondLst>
                                        </p:cTn>
                                        <p:tgtEl>
                                          <p:spTgt spid="21">
                                            <p:txEl>
                                              <p:pRg st="0" end="0"/>
                                            </p:txEl>
                                          </p:spTgt>
                                        </p:tgtEl>
                                        <p:attrNameLst>
                                          <p:attrName>style.visibility</p:attrName>
                                        </p:attrNameLst>
                                      </p:cBhvr>
                                      <p:to>
                                        <p:strVal val="visible"/>
                                      </p:to>
                                    </p:set>
                                    <p:animEffect transition="in" filter="wipe(left)">
                                      <p:cBhvr>
                                        <p:cTn id="42" dur="500"/>
                                        <p:tgtEl>
                                          <p:spTgt spid="21">
                                            <p:txEl>
                                              <p:pRg st="0" end="0"/>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8" fill="hold" nodeType="clickEffect">
                                  <p:stCondLst>
                                    <p:cond delay="0"/>
                                  </p:stCondLst>
                                  <p:childTnLst>
                                    <p:set>
                                      <p:cBhvr>
                                        <p:cTn id="46" dur="1" fill="hold">
                                          <p:stCondLst>
                                            <p:cond delay="0"/>
                                          </p:stCondLst>
                                        </p:cTn>
                                        <p:tgtEl>
                                          <p:spTgt spid="6">
                                            <p:txEl>
                                              <p:pRg st="0" end="0"/>
                                            </p:txEl>
                                          </p:spTgt>
                                        </p:tgtEl>
                                        <p:attrNameLst>
                                          <p:attrName>style.visibility</p:attrName>
                                        </p:attrNameLst>
                                      </p:cBhvr>
                                      <p:to>
                                        <p:strVal val="visible"/>
                                      </p:to>
                                    </p:set>
                                    <p:animEffect transition="in" filter="wipe(left)">
                                      <p:cBhvr>
                                        <p:cTn id="47" dur="500"/>
                                        <p:tgtEl>
                                          <p:spTgt spid="6">
                                            <p:txEl>
                                              <p:pRg st="0" end="0"/>
                                            </p:txEl>
                                          </p:spTgt>
                                        </p:tgtEl>
                                      </p:cBhvr>
                                    </p:animEffect>
                                  </p:childTnLst>
                                </p:cTn>
                              </p:par>
                            </p:childTnLst>
                          </p:cTn>
                        </p:par>
                        <p:par>
                          <p:cTn id="48" fill="hold">
                            <p:stCondLst>
                              <p:cond delay="500"/>
                            </p:stCondLst>
                            <p:childTnLst>
                              <p:par>
                                <p:cTn id="49" presetID="22" presetClass="entr" presetSubtype="8" fill="hold" grpId="0" nodeType="after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wipe(left)">
                                      <p:cBhvr>
                                        <p:cTn id="51" dur="500"/>
                                        <p:tgtEl>
                                          <p:spTgt spid="26"/>
                                        </p:tgtEl>
                                      </p:cBhvr>
                                    </p:animEffect>
                                  </p:childTnLst>
                                </p:cTn>
                              </p:par>
                            </p:childTnLst>
                          </p:cTn>
                        </p:par>
                        <p:par>
                          <p:cTn id="52" fill="hold">
                            <p:stCondLst>
                              <p:cond delay="1000"/>
                            </p:stCondLst>
                            <p:childTnLst>
                              <p:par>
                                <p:cTn id="53" presetID="22" presetClass="entr" presetSubtype="8" fill="hold" grpId="0" nodeType="after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wipe(left)">
                                      <p:cBhvr>
                                        <p:cTn id="55" dur="500"/>
                                        <p:tgtEl>
                                          <p:spTgt spid="25"/>
                                        </p:tgtEl>
                                      </p:cBhvr>
                                    </p:animEffect>
                                  </p:childTnLst>
                                </p:cTn>
                              </p:par>
                            </p:childTnLst>
                          </p:cTn>
                        </p:par>
                      </p:childTnLst>
                    </p:cTn>
                  </p:par>
                  <p:par>
                    <p:cTn id="56" fill="hold">
                      <p:stCondLst>
                        <p:cond delay="indefinite"/>
                      </p:stCondLst>
                      <p:childTnLst>
                        <p:par>
                          <p:cTn id="57" fill="hold">
                            <p:stCondLst>
                              <p:cond delay="0"/>
                            </p:stCondLst>
                            <p:childTnLst>
                              <p:par>
                                <p:cTn id="58" presetID="22" presetClass="entr" presetSubtype="8" fill="hold" nodeType="clickEffect">
                                  <p:stCondLst>
                                    <p:cond delay="0"/>
                                  </p:stCondLst>
                                  <p:childTnLst>
                                    <p:set>
                                      <p:cBhvr>
                                        <p:cTn id="59" dur="1" fill="hold">
                                          <p:stCondLst>
                                            <p:cond delay="0"/>
                                          </p:stCondLst>
                                        </p:cTn>
                                        <p:tgtEl>
                                          <p:spTgt spid="12"/>
                                        </p:tgtEl>
                                        <p:attrNameLst>
                                          <p:attrName>style.visibility</p:attrName>
                                        </p:attrNameLst>
                                      </p:cBhvr>
                                      <p:to>
                                        <p:strVal val="visible"/>
                                      </p:to>
                                    </p:set>
                                    <p:animEffect transition="in" filter="wipe(left)">
                                      <p:cBhvr>
                                        <p:cTn id="60" dur="500"/>
                                        <p:tgtEl>
                                          <p:spTgt spid="12"/>
                                        </p:tgtEl>
                                      </p:cBhvr>
                                    </p:animEffect>
                                  </p:childTnLst>
                                </p:cTn>
                              </p:par>
                            </p:childTnLst>
                          </p:cTn>
                        </p:par>
                        <p:par>
                          <p:cTn id="61" fill="hold">
                            <p:stCondLst>
                              <p:cond delay="500"/>
                            </p:stCondLst>
                            <p:childTnLst>
                              <p:par>
                                <p:cTn id="62" presetID="22" presetClass="entr" presetSubtype="1" fill="hold" nodeType="afterEffect">
                                  <p:stCondLst>
                                    <p:cond delay="0"/>
                                  </p:stCondLst>
                                  <p:childTnLst>
                                    <p:set>
                                      <p:cBhvr>
                                        <p:cTn id="63" dur="1" fill="hold">
                                          <p:stCondLst>
                                            <p:cond delay="0"/>
                                          </p:stCondLst>
                                        </p:cTn>
                                        <p:tgtEl>
                                          <p:spTgt spid="27"/>
                                        </p:tgtEl>
                                        <p:attrNameLst>
                                          <p:attrName>style.visibility</p:attrName>
                                        </p:attrNameLst>
                                      </p:cBhvr>
                                      <p:to>
                                        <p:strVal val="visible"/>
                                      </p:to>
                                    </p:set>
                                    <p:animEffect transition="in" filter="wipe(up)">
                                      <p:cBhvr>
                                        <p:cTn id="64" dur="500"/>
                                        <p:tgtEl>
                                          <p:spTgt spid="27"/>
                                        </p:tgtEl>
                                      </p:cBhvr>
                                    </p:animEffect>
                                  </p:childTnLst>
                                </p:cTn>
                              </p:par>
                            </p:childTnLst>
                          </p:cTn>
                        </p:par>
                        <p:par>
                          <p:cTn id="65" fill="hold">
                            <p:stCondLst>
                              <p:cond delay="1000"/>
                            </p:stCondLst>
                            <p:childTnLst>
                              <p:par>
                                <p:cTn id="66" presetID="22" presetClass="entr" presetSubtype="8" fill="hold" nodeType="afterEffect">
                                  <p:stCondLst>
                                    <p:cond delay="0"/>
                                  </p:stCondLst>
                                  <p:childTnLst>
                                    <p:set>
                                      <p:cBhvr>
                                        <p:cTn id="67" dur="1" fill="hold">
                                          <p:stCondLst>
                                            <p:cond delay="0"/>
                                          </p:stCondLst>
                                        </p:cTn>
                                        <p:tgtEl>
                                          <p:spTgt spid="22">
                                            <p:txEl>
                                              <p:pRg st="0" end="0"/>
                                            </p:txEl>
                                          </p:spTgt>
                                        </p:tgtEl>
                                        <p:attrNameLst>
                                          <p:attrName>style.visibility</p:attrName>
                                        </p:attrNameLst>
                                      </p:cBhvr>
                                      <p:to>
                                        <p:strVal val="visible"/>
                                      </p:to>
                                    </p:set>
                                    <p:animEffect transition="in" filter="wipe(left)">
                                      <p:cBhvr>
                                        <p:cTn id="68" dur="500"/>
                                        <p:tgtEl>
                                          <p:spTgt spid="22">
                                            <p:txEl>
                                              <p:pRg st="0" end="0"/>
                                            </p:txEl>
                                          </p:spTgt>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8" fill="hold" nodeType="click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wipe(left)">
                                      <p:cBhvr>
                                        <p:cTn id="73" dur="500"/>
                                        <p:tgtEl>
                                          <p:spTgt spid="14"/>
                                        </p:tgtEl>
                                      </p:cBhvr>
                                    </p:animEffect>
                                  </p:childTnLst>
                                </p:cTn>
                              </p:par>
                            </p:childTnLst>
                          </p:cTn>
                        </p:par>
                        <p:par>
                          <p:cTn id="74" fill="hold">
                            <p:stCondLst>
                              <p:cond delay="500"/>
                            </p:stCondLst>
                            <p:childTnLst>
                              <p:par>
                                <p:cTn id="75" presetID="22" presetClass="entr" presetSubtype="1" fill="hold" nodeType="afterEffect">
                                  <p:stCondLst>
                                    <p:cond delay="0"/>
                                  </p:stCondLst>
                                  <p:childTnLst>
                                    <p:set>
                                      <p:cBhvr>
                                        <p:cTn id="76" dur="1" fill="hold">
                                          <p:stCondLst>
                                            <p:cond delay="0"/>
                                          </p:stCondLst>
                                        </p:cTn>
                                        <p:tgtEl>
                                          <p:spTgt spid="15"/>
                                        </p:tgtEl>
                                        <p:attrNameLst>
                                          <p:attrName>style.visibility</p:attrName>
                                        </p:attrNameLst>
                                      </p:cBhvr>
                                      <p:to>
                                        <p:strVal val="visible"/>
                                      </p:to>
                                    </p:set>
                                    <p:animEffect transition="in" filter="wipe(up)">
                                      <p:cBhvr>
                                        <p:cTn id="77" dur="500"/>
                                        <p:tgtEl>
                                          <p:spTgt spid="15"/>
                                        </p:tgtEl>
                                      </p:cBhvr>
                                    </p:animEffect>
                                  </p:childTnLst>
                                </p:cTn>
                              </p:par>
                            </p:childTnLst>
                          </p:cTn>
                        </p:par>
                        <p:par>
                          <p:cTn id="78" fill="hold">
                            <p:stCondLst>
                              <p:cond delay="1000"/>
                            </p:stCondLst>
                            <p:childTnLst>
                              <p:par>
                                <p:cTn id="79" presetID="22" presetClass="entr" presetSubtype="8" fill="hold" grpId="0" nodeType="afterEffect">
                                  <p:stCondLst>
                                    <p:cond delay="0"/>
                                  </p:stCondLst>
                                  <p:childTnLst>
                                    <p:set>
                                      <p:cBhvr>
                                        <p:cTn id="80" dur="1" fill="hold">
                                          <p:stCondLst>
                                            <p:cond delay="0"/>
                                          </p:stCondLst>
                                        </p:cTn>
                                        <p:tgtEl>
                                          <p:spTgt spid="20"/>
                                        </p:tgtEl>
                                        <p:attrNameLst>
                                          <p:attrName>style.visibility</p:attrName>
                                        </p:attrNameLst>
                                      </p:cBhvr>
                                      <p:to>
                                        <p:strVal val="visible"/>
                                      </p:to>
                                    </p:set>
                                    <p:animEffect transition="in" filter="wipe(left)">
                                      <p:cBhvr>
                                        <p:cTn id="81" dur="500"/>
                                        <p:tgtEl>
                                          <p:spTgt spid="20"/>
                                        </p:tgtEl>
                                      </p:cBhvr>
                                    </p:animEffect>
                                  </p:childTnLst>
                                </p:cTn>
                              </p:par>
                            </p:childTnLst>
                          </p:cTn>
                        </p:par>
                        <p:par>
                          <p:cTn id="82" fill="hold">
                            <p:stCondLst>
                              <p:cond delay="1500"/>
                            </p:stCondLst>
                            <p:childTnLst>
                              <p:par>
                                <p:cTn id="83" presetID="22" presetClass="entr" presetSubtype="8" fill="hold" nodeType="afterEffect">
                                  <p:stCondLst>
                                    <p:cond delay="0"/>
                                  </p:stCondLst>
                                  <p:childTnLst>
                                    <p:set>
                                      <p:cBhvr>
                                        <p:cTn id="84" dur="1" fill="hold">
                                          <p:stCondLst>
                                            <p:cond delay="0"/>
                                          </p:stCondLst>
                                        </p:cTn>
                                        <p:tgtEl>
                                          <p:spTgt spid="22">
                                            <p:txEl>
                                              <p:pRg st="1" end="1"/>
                                            </p:txEl>
                                          </p:spTgt>
                                        </p:tgtEl>
                                        <p:attrNameLst>
                                          <p:attrName>style.visibility</p:attrName>
                                        </p:attrNameLst>
                                      </p:cBhvr>
                                      <p:to>
                                        <p:strVal val="visible"/>
                                      </p:to>
                                    </p:set>
                                    <p:animEffect transition="in" filter="wipe(left)">
                                      <p:cBhvr>
                                        <p:cTn id="85" dur="500"/>
                                        <p:tgtEl>
                                          <p:spTgt spid="22">
                                            <p:txEl>
                                              <p:pRg st="1" end="1"/>
                                            </p:txEl>
                                          </p:spTgt>
                                        </p:tgtEl>
                                      </p:cBhvr>
                                    </p:animEffect>
                                  </p:childTnLst>
                                </p:cTn>
                              </p:par>
                            </p:childTnLst>
                          </p:cTn>
                        </p:par>
                      </p:childTnLst>
                    </p:cTn>
                  </p:par>
                  <p:par>
                    <p:cTn id="86" fill="hold">
                      <p:stCondLst>
                        <p:cond delay="indefinite"/>
                      </p:stCondLst>
                      <p:childTnLst>
                        <p:par>
                          <p:cTn id="87" fill="hold">
                            <p:stCondLst>
                              <p:cond delay="0"/>
                            </p:stCondLst>
                            <p:childTnLst>
                              <p:par>
                                <p:cTn id="88" presetID="22" presetClass="entr" presetSubtype="8" fill="hold" grpId="0" nodeType="clickEffect">
                                  <p:stCondLst>
                                    <p:cond delay="0"/>
                                  </p:stCondLst>
                                  <p:childTnLst>
                                    <p:set>
                                      <p:cBhvr>
                                        <p:cTn id="89" dur="1" fill="hold">
                                          <p:stCondLst>
                                            <p:cond delay="0"/>
                                          </p:stCondLst>
                                        </p:cTn>
                                        <p:tgtEl>
                                          <p:spTgt spid="16"/>
                                        </p:tgtEl>
                                        <p:attrNameLst>
                                          <p:attrName>style.visibility</p:attrName>
                                        </p:attrNameLst>
                                      </p:cBhvr>
                                      <p:to>
                                        <p:strVal val="visible"/>
                                      </p:to>
                                    </p:set>
                                    <p:animEffect transition="in" filter="wipe(left)">
                                      <p:cBhvr>
                                        <p:cTn id="90" dur="500"/>
                                        <p:tgtEl>
                                          <p:spTgt spid="16"/>
                                        </p:tgtEl>
                                      </p:cBhvr>
                                    </p:animEffect>
                                  </p:childTnLst>
                                </p:cTn>
                              </p:par>
                            </p:childTnLst>
                          </p:cTn>
                        </p:par>
                        <p:par>
                          <p:cTn id="91" fill="hold">
                            <p:stCondLst>
                              <p:cond delay="500"/>
                            </p:stCondLst>
                            <p:childTnLst>
                              <p:par>
                                <p:cTn id="92" presetID="22" presetClass="entr" presetSubtype="8" fill="hold" nodeType="afterEffect">
                                  <p:stCondLst>
                                    <p:cond delay="0"/>
                                  </p:stCondLst>
                                  <p:childTnLst>
                                    <p:set>
                                      <p:cBhvr>
                                        <p:cTn id="93" dur="1" fill="hold">
                                          <p:stCondLst>
                                            <p:cond delay="0"/>
                                          </p:stCondLst>
                                        </p:cTn>
                                        <p:tgtEl>
                                          <p:spTgt spid="22">
                                            <p:txEl>
                                              <p:pRg st="2" end="2"/>
                                            </p:txEl>
                                          </p:spTgt>
                                        </p:tgtEl>
                                        <p:attrNameLst>
                                          <p:attrName>style.visibility</p:attrName>
                                        </p:attrNameLst>
                                      </p:cBhvr>
                                      <p:to>
                                        <p:strVal val="visible"/>
                                      </p:to>
                                    </p:set>
                                    <p:animEffect transition="in" filter="wipe(left)">
                                      <p:cBhvr>
                                        <p:cTn id="94" dur="500"/>
                                        <p:tgtEl>
                                          <p:spTgt spid="2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6" grpId="0" animBg="1"/>
      <p:bldP spid="19" grpId="0"/>
      <p:bldP spid="20" grpId="0"/>
      <p:bldP spid="25" grpId="0" animBg="1"/>
      <p:bldP spid="2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8" name="Picture 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087" y="1124744"/>
            <a:ext cx="8820472" cy="446606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矩形 4"/>
          <p:cNvSpPr/>
          <p:nvPr/>
        </p:nvSpPr>
        <p:spPr>
          <a:xfrm>
            <a:off x="4860032" y="5590806"/>
            <a:ext cx="3096344" cy="954107"/>
          </a:xfrm>
          <a:prstGeom prst="rect">
            <a:avLst/>
          </a:prstGeom>
        </p:spPr>
        <p:txBody>
          <a:bodyPr wrap="square">
            <a:spAutoFit/>
          </a:bodyPr>
          <a:lstStyle/>
          <a:p>
            <a:r>
              <a:rPr lang="zh-CN" altLang="en-US" dirty="0"/>
              <a:t>怎样表达求每门课程的平均成绩</a:t>
            </a:r>
            <a:r>
              <a:rPr lang="en-US" altLang="zh-CN" dirty="0"/>
              <a:t>?</a:t>
            </a:r>
            <a:endParaRPr lang="zh-CN" altLang="en-US" dirty="0"/>
          </a:p>
        </p:txBody>
      </p:sp>
    </p:spTree>
    <p:extLst>
      <p:ext uri="{BB962C8B-B14F-4D97-AF65-F5344CB8AC3E}">
        <p14:creationId xmlns:p14="http://schemas.microsoft.com/office/powerpoint/2010/main" val="41176009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1443841"/>
            <a:ext cx="8640960" cy="2677656"/>
          </a:xfrm>
          <a:prstGeom prst="rect">
            <a:avLst/>
          </a:prstGeom>
        </p:spPr>
        <p:txBody>
          <a:bodyPr wrap="square">
            <a:spAutoFit/>
          </a:bodyPr>
          <a:lstStyle/>
          <a:p>
            <a:r>
              <a:rPr lang="en-US" altLang="zh-CN" dirty="0" smtClean="0"/>
              <a:t>[</a:t>
            </a:r>
            <a:r>
              <a:rPr lang="zh-CN" altLang="en-US" dirty="0" smtClean="0"/>
              <a:t>练习</a:t>
            </a:r>
            <a:r>
              <a:rPr lang="en-US" altLang="zh-CN" dirty="0" smtClean="0"/>
              <a:t>1]</a:t>
            </a:r>
            <a:r>
              <a:rPr lang="zh-CN" altLang="en-US" dirty="0" smtClean="0"/>
              <a:t>查询</a:t>
            </a:r>
            <a:r>
              <a:rPr lang="zh-CN" altLang="en-US" dirty="0"/>
              <a:t>学生总人数</a:t>
            </a:r>
            <a:r>
              <a:rPr lang="zh-CN" altLang="en-US" dirty="0" smtClean="0"/>
              <a:t>。</a:t>
            </a:r>
            <a:endParaRPr lang="en-US" altLang="zh-CN" dirty="0" smtClean="0"/>
          </a:p>
          <a:p>
            <a:r>
              <a:rPr lang="en-US" altLang="zh-CN" dirty="0" smtClean="0"/>
              <a:t>SELECT </a:t>
            </a:r>
            <a:r>
              <a:rPr lang="en-US" altLang="zh-CN" dirty="0">
                <a:solidFill>
                  <a:srgbClr val="FF0000"/>
                </a:solidFill>
              </a:rPr>
              <a:t>COUNT</a:t>
            </a:r>
            <a:r>
              <a:rPr lang="en-US" altLang="zh-CN" dirty="0" smtClean="0"/>
              <a:t>(*) FROM </a:t>
            </a:r>
            <a:r>
              <a:rPr lang="en-US" altLang="zh-CN" dirty="0"/>
              <a:t>Student</a:t>
            </a:r>
            <a:r>
              <a:rPr lang="en-US" altLang="zh-CN" dirty="0" smtClean="0"/>
              <a:t>;</a:t>
            </a:r>
          </a:p>
          <a:p>
            <a:r>
              <a:rPr lang="en-US" altLang="zh-CN" dirty="0" smtClean="0"/>
              <a:t>[</a:t>
            </a:r>
            <a:r>
              <a:rPr lang="zh-CN" altLang="en-US" dirty="0" smtClean="0"/>
              <a:t>练习</a:t>
            </a:r>
            <a:r>
              <a:rPr lang="en-US" altLang="zh-CN" dirty="0" smtClean="0"/>
              <a:t>2]</a:t>
            </a:r>
            <a:r>
              <a:rPr lang="zh-CN" altLang="en-US" dirty="0"/>
              <a:t>查询选修了课程的学生人数</a:t>
            </a:r>
            <a:r>
              <a:rPr lang="zh-CN" altLang="en-US" dirty="0" smtClean="0"/>
              <a:t>。</a:t>
            </a:r>
            <a:endParaRPr lang="en-US" altLang="zh-CN" dirty="0" smtClean="0"/>
          </a:p>
          <a:p>
            <a:r>
              <a:rPr lang="en-US" altLang="zh-CN" dirty="0" smtClean="0"/>
              <a:t>SELECT </a:t>
            </a:r>
            <a:r>
              <a:rPr lang="en-US" altLang="zh-CN" dirty="0"/>
              <a:t>COUNT(</a:t>
            </a:r>
            <a:r>
              <a:rPr lang="en-US" altLang="zh-CN" dirty="0">
                <a:solidFill>
                  <a:srgbClr val="FF0000"/>
                </a:solidFill>
              </a:rPr>
              <a:t>DISTINCT</a:t>
            </a:r>
            <a:r>
              <a:rPr lang="en-US" altLang="zh-CN" dirty="0"/>
              <a:t> </a:t>
            </a:r>
            <a:r>
              <a:rPr lang="en-US" altLang="zh-CN" dirty="0" err="1"/>
              <a:t>Sno</a:t>
            </a:r>
            <a:r>
              <a:rPr lang="en-US" altLang="zh-CN" dirty="0" smtClean="0"/>
              <a:t>) FROM </a:t>
            </a:r>
            <a:r>
              <a:rPr lang="en-US" altLang="zh-CN" dirty="0"/>
              <a:t>SC</a:t>
            </a:r>
            <a:r>
              <a:rPr lang="en-US" altLang="zh-CN" dirty="0" smtClean="0"/>
              <a:t>;</a:t>
            </a:r>
          </a:p>
          <a:p>
            <a:r>
              <a:rPr lang="en-US" altLang="zh-CN" dirty="0" smtClean="0"/>
              <a:t>[</a:t>
            </a:r>
            <a:r>
              <a:rPr lang="zh-CN" altLang="en-US" dirty="0" smtClean="0"/>
              <a:t>练习</a:t>
            </a:r>
            <a:r>
              <a:rPr lang="en-US" altLang="zh-CN" dirty="0" smtClean="0"/>
              <a:t>3]</a:t>
            </a:r>
            <a:r>
              <a:rPr lang="zh-CN" altLang="en-US" dirty="0"/>
              <a:t>计算</a:t>
            </a:r>
            <a:r>
              <a:rPr lang="en-US" altLang="zh-CN" dirty="0"/>
              <a:t>1</a:t>
            </a:r>
            <a:r>
              <a:rPr lang="zh-CN" altLang="en-US" dirty="0"/>
              <a:t>号课程的学生平均成绩</a:t>
            </a:r>
            <a:r>
              <a:rPr lang="zh-CN" altLang="en-US" dirty="0" smtClean="0"/>
              <a:t>。</a:t>
            </a:r>
            <a:endParaRPr lang="en-US" altLang="zh-CN" dirty="0" smtClean="0"/>
          </a:p>
          <a:p>
            <a:r>
              <a:rPr lang="en-US" altLang="zh-CN" dirty="0" smtClean="0"/>
              <a:t>SELECT </a:t>
            </a:r>
            <a:r>
              <a:rPr lang="en-US" altLang="zh-CN" dirty="0" smtClean="0">
                <a:solidFill>
                  <a:srgbClr val="FF0000"/>
                </a:solidFill>
              </a:rPr>
              <a:t>AVG</a:t>
            </a:r>
            <a:r>
              <a:rPr lang="en-US" altLang="zh-CN" dirty="0" smtClean="0"/>
              <a:t>(Grade) FROM SC WHERE </a:t>
            </a:r>
            <a:r>
              <a:rPr lang="en-US" altLang="zh-CN" dirty="0" err="1" smtClean="0"/>
              <a:t>Cno</a:t>
            </a:r>
            <a:r>
              <a:rPr lang="en-US" altLang="zh-CN" dirty="0" smtClean="0"/>
              <a:t>= </a:t>
            </a:r>
            <a:r>
              <a:rPr lang="en-US" altLang="zh-CN" dirty="0"/>
              <a:t>'1 '</a:t>
            </a:r>
            <a:endParaRPr lang="zh-CN" altLang="en-US" dirty="0"/>
          </a:p>
        </p:txBody>
      </p:sp>
    </p:spTree>
    <p:extLst>
      <p:ext uri="{BB962C8B-B14F-4D97-AF65-F5344CB8AC3E}">
        <p14:creationId xmlns:p14="http://schemas.microsoft.com/office/powerpoint/2010/main" val="3841255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883219"/>
            <a:ext cx="9034370" cy="3493777"/>
          </a:xfrm>
          <a:prstGeom prst="rect">
            <a:avLst/>
          </a:prstGeom>
        </p:spPr>
        <p:txBody>
          <a:bodyPr wrap="square">
            <a:spAutoFit/>
          </a:bodyPr>
          <a:lstStyle/>
          <a:p>
            <a:pPr>
              <a:lnSpc>
                <a:spcPct val="120000"/>
              </a:lnSpc>
              <a:spcBef>
                <a:spcPts val="1200"/>
              </a:spcBef>
            </a:pPr>
            <a:r>
              <a:rPr lang="en-US" sz="2200" dirty="0">
                <a:solidFill>
                  <a:srgbClr val="7030A0"/>
                </a:solidFill>
                <a:latin typeface="Times New Roman" panose="02020603050405020304" pitchFamily="18" charset="0"/>
                <a:cs typeface="Times New Roman" panose="02020603050405020304" pitchFamily="18" charset="0"/>
              </a:rPr>
              <a:t>7.Handing NULL values</a:t>
            </a:r>
          </a:p>
          <a:p>
            <a:pPr marL="800100" lvl="1" indent="-342900">
              <a:spcBef>
                <a:spcPts val="800"/>
              </a:spcBef>
              <a:buFont typeface="Wingdings" panose="05000000000000000000" pitchFamily="2" charset="2"/>
              <a:buChar char="§"/>
            </a:pPr>
            <a:r>
              <a:rPr lang="en-US" sz="2400" i="1" dirty="0">
                <a:solidFill>
                  <a:srgbClr val="C00000"/>
                </a:solidFill>
                <a:latin typeface="Times New Roman" panose="02020603050405020304" pitchFamily="18" charset="0"/>
                <a:cs typeface="Times New Roman" panose="02020603050405020304" pitchFamily="18" charset="0"/>
              </a:rPr>
              <a:t>null</a:t>
            </a:r>
            <a:r>
              <a:rPr lang="en-US" sz="2400" dirty="0">
                <a:solidFill>
                  <a:srgbClr val="002060"/>
                </a:solidFill>
                <a:latin typeface="Times New Roman" panose="02020603050405020304" pitchFamily="18" charset="0"/>
                <a:cs typeface="Times New Roman" panose="02020603050405020304" pitchFamily="18" charset="0"/>
              </a:rPr>
              <a:t>  is  a special constant(</a:t>
            </a:r>
            <a:r>
              <a:rPr lang="ja-JP" altLang="en-US" sz="2400" dirty="0">
                <a:solidFill>
                  <a:srgbClr val="002060"/>
                </a:solidFill>
                <a:latin typeface="Times New Roman" panose="02020603050405020304" pitchFamily="18" charset="0"/>
                <a:cs typeface="Times New Roman" panose="02020603050405020304" pitchFamily="18" charset="0"/>
              </a:rPr>
              <a:t>常数</a:t>
            </a:r>
            <a:r>
              <a:rPr lang="en-US" altLang="ja-JP" sz="2400" dirty="0">
                <a:solidFill>
                  <a:srgbClr val="002060"/>
                </a:solidFill>
                <a:latin typeface="Times New Roman" panose="02020603050405020304" pitchFamily="18" charset="0"/>
                <a:cs typeface="Times New Roman" panose="02020603050405020304" pitchFamily="18" charset="0"/>
              </a:rPr>
              <a:t>)</a:t>
            </a:r>
          </a:p>
          <a:p>
            <a:pPr marL="800100" lvl="1" indent="-342900">
              <a:spcBef>
                <a:spcPts val="800"/>
              </a:spcBef>
              <a:buFont typeface="Wingdings" panose="05000000000000000000" pitchFamily="2" charset="2"/>
              <a:buChar char="§"/>
            </a:pPr>
            <a:r>
              <a:rPr lang="en-US" sz="2400" dirty="0">
                <a:solidFill>
                  <a:srgbClr val="002060"/>
                </a:solidFill>
                <a:latin typeface="Times New Roman" panose="02020603050405020304" pitchFamily="18" charset="0"/>
                <a:cs typeface="Times New Roman" panose="02020603050405020304" pitchFamily="18" charset="0"/>
              </a:rPr>
              <a:t>meaningful a value that is </a:t>
            </a:r>
            <a:r>
              <a:rPr lang="en-US" sz="2400" i="1" dirty="0">
                <a:solidFill>
                  <a:srgbClr val="C00000"/>
                </a:solidFill>
                <a:latin typeface="Times New Roman" panose="02020603050405020304" pitchFamily="18" charset="0"/>
                <a:cs typeface="Times New Roman" panose="02020603050405020304" pitchFamily="18" charset="0"/>
              </a:rPr>
              <a:t>UNKNOWN</a:t>
            </a:r>
            <a:r>
              <a:rPr lang="en-US" sz="2400" dirty="0">
                <a:solidFill>
                  <a:srgbClr val="002060"/>
                </a:solidFill>
                <a:latin typeface="Times New Roman" panose="02020603050405020304" pitchFamily="18" charset="0"/>
                <a:cs typeface="Times New Roman" panose="02020603050405020304" pitchFamily="18" charset="0"/>
              </a:rPr>
              <a:t>.</a:t>
            </a:r>
          </a:p>
          <a:p>
            <a:pPr>
              <a:lnSpc>
                <a:spcPct val="120000"/>
              </a:lnSpc>
              <a:spcBef>
                <a:spcPts val="1200"/>
              </a:spcBef>
            </a:pPr>
            <a:r>
              <a:rPr lang="en-US" sz="2200" dirty="0">
                <a:solidFill>
                  <a:srgbClr val="7030A0"/>
                </a:solidFill>
                <a:latin typeface="Times New Roman" panose="02020603050405020304" pitchFamily="18" charset="0"/>
                <a:cs typeface="Times New Roman" panose="02020603050405020304" pitchFamily="18" charset="0"/>
              </a:rPr>
              <a:t>8.Example 3.7.8  </a:t>
            </a:r>
            <a:r>
              <a:rPr lang="en-US" sz="2200" dirty="0">
                <a:solidFill>
                  <a:srgbClr val="7030A0"/>
                </a:solidFill>
                <a:latin typeface="+mn-lt"/>
                <a:cs typeface="Times New Roman" panose="02020603050405020304" pitchFamily="18" charset="0"/>
              </a:rPr>
              <a:t>After adding a row (c007, </a:t>
            </a:r>
            <a:r>
              <a:rPr lang="en-US" sz="2200" dirty="0" err="1">
                <a:solidFill>
                  <a:srgbClr val="7030A0"/>
                </a:solidFill>
                <a:latin typeface="+mn-lt"/>
                <a:cs typeface="Times New Roman" panose="02020603050405020304" pitchFamily="18" charset="0"/>
              </a:rPr>
              <a:t>Windix</a:t>
            </a:r>
            <a:r>
              <a:rPr lang="en-US" sz="2200" dirty="0">
                <a:solidFill>
                  <a:srgbClr val="7030A0"/>
                </a:solidFill>
                <a:latin typeface="+mn-lt"/>
                <a:cs typeface="Times New Roman" panose="02020603050405020304" pitchFamily="18" charset="0"/>
              </a:rPr>
              <a:t>, Dallas, </a:t>
            </a:r>
            <a:r>
              <a:rPr lang="en-US" sz="2200" dirty="0">
                <a:solidFill>
                  <a:srgbClr val="C00000"/>
                </a:solidFill>
                <a:highlight>
                  <a:srgbClr val="FFFF00"/>
                </a:highlight>
                <a:latin typeface="+mn-lt"/>
                <a:cs typeface="Times New Roman" panose="02020603050405020304" pitchFamily="18" charset="0"/>
              </a:rPr>
              <a:t>null</a:t>
            </a:r>
            <a:r>
              <a:rPr lang="en-US" sz="2200" dirty="0">
                <a:solidFill>
                  <a:srgbClr val="7030A0"/>
                </a:solidFill>
                <a:latin typeface="+mn-lt"/>
                <a:cs typeface="Times New Roman" panose="02020603050405020304" pitchFamily="18" charset="0"/>
              </a:rPr>
              <a:t>)</a:t>
            </a:r>
            <a:r>
              <a:rPr lang="en-US" altLang="zh-CN" sz="2200" dirty="0">
                <a:solidFill>
                  <a:srgbClr val="7030A0"/>
                </a:solidFill>
                <a:latin typeface="+mn-lt"/>
                <a:cs typeface="Times New Roman" panose="02020603050405020304" pitchFamily="18" charset="0"/>
              </a:rPr>
              <a:t> to the </a:t>
            </a:r>
            <a:r>
              <a:rPr lang="en-US" sz="2200" dirty="0">
                <a:solidFill>
                  <a:srgbClr val="7030A0"/>
                </a:solidFill>
                <a:latin typeface="+mn-lt"/>
                <a:cs typeface="Times New Roman" panose="02020603050405020304" pitchFamily="18" charset="0"/>
              </a:rPr>
              <a:t>customers table, Pose the query to retrieve this row.</a:t>
            </a:r>
          </a:p>
          <a:p>
            <a:pPr>
              <a:lnSpc>
                <a:spcPct val="120000"/>
              </a:lnSpc>
              <a:spcBef>
                <a:spcPts val="1200"/>
              </a:spcBef>
            </a:pPr>
            <a:r>
              <a:rPr lang="en-US" sz="2200" dirty="0">
                <a:solidFill>
                  <a:srgbClr val="7030A0"/>
                </a:solidFill>
                <a:latin typeface="+mn-lt"/>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a) SQL	</a:t>
            </a:r>
            <a:r>
              <a:rPr lang="en-US" sz="2200" dirty="0">
                <a:solidFill>
                  <a:srgbClr val="002060"/>
                </a:solidFill>
                <a:latin typeface="Times New Roman" panose="02020603050405020304" pitchFamily="18" charset="0"/>
                <a:cs typeface="Times New Roman" panose="02020603050405020304" pitchFamily="18" charset="0"/>
              </a:rPr>
              <a:t>select * from customers where </a:t>
            </a:r>
            <a:r>
              <a:rPr lang="en-US" sz="2200" dirty="0" err="1">
                <a:solidFill>
                  <a:srgbClr val="002060"/>
                </a:solidFill>
                <a:latin typeface="Times New Roman" panose="02020603050405020304" pitchFamily="18" charset="0"/>
                <a:cs typeface="Times New Roman" panose="02020603050405020304" pitchFamily="18" charset="0"/>
              </a:rPr>
              <a:t>discnt</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highlight>
                  <a:srgbClr val="FFFF00"/>
                </a:highlight>
                <a:latin typeface="Times New Roman" panose="02020603050405020304" pitchFamily="18" charset="0"/>
                <a:cs typeface="Times New Roman" panose="02020603050405020304" pitchFamily="18" charset="0"/>
              </a:rPr>
              <a:t>is</a:t>
            </a:r>
            <a:r>
              <a:rPr lang="en-US" sz="2200" dirty="0">
                <a:solidFill>
                  <a:srgbClr val="002060"/>
                </a:solidFill>
                <a:highlight>
                  <a:srgbClr val="FFFF00"/>
                </a:highlight>
                <a:latin typeface="Times New Roman" panose="02020603050405020304" pitchFamily="18" charset="0"/>
                <a:cs typeface="Times New Roman" panose="02020603050405020304" pitchFamily="18" charset="0"/>
              </a:rPr>
              <a:t> </a:t>
            </a:r>
            <a:r>
              <a:rPr lang="en-US" sz="2200" dirty="0">
                <a:solidFill>
                  <a:srgbClr val="C00000"/>
                </a:solidFill>
                <a:highlight>
                  <a:srgbClr val="FFFF00"/>
                </a:highlight>
                <a:latin typeface="Times New Roman" panose="02020603050405020304" pitchFamily="18" charset="0"/>
                <a:cs typeface="Times New Roman" panose="02020603050405020304" pitchFamily="18" charset="0"/>
              </a:rPr>
              <a:t>null</a:t>
            </a:r>
            <a:r>
              <a:rPr lang="en-US" sz="2200" dirty="0">
                <a:solidFill>
                  <a:srgbClr val="002060"/>
                </a:solidFill>
                <a:latin typeface="Times New Roman" panose="02020603050405020304" pitchFamily="18" charset="0"/>
                <a:cs typeface="Times New Roman" panose="02020603050405020304" pitchFamily="18" charset="0"/>
              </a:rPr>
              <a:t>;</a:t>
            </a:r>
          </a:p>
          <a:p>
            <a:pPr>
              <a:lnSpc>
                <a:spcPct val="120000"/>
              </a:lnSpc>
              <a:spcBef>
                <a:spcPts val="1200"/>
              </a:spcBef>
            </a:pP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b) wrong	</a:t>
            </a:r>
            <a:r>
              <a:rPr lang="en-US" sz="2200" dirty="0">
                <a:solidFill>
                  <a:srgbClr val="002060"/>
                </a:solidFill>
                <a:latin typeface="Times New Roman" panose="02020603050405020304" pitchFamily="18" charset="0"/>
                <a:cs typeface="Times New Roman" panose="02020603050405020304" pitchFamily="18" charset="0"/>
              </a:rPr>
              <a:t>select * from customers where </a:t>
            </a:r>
            <a:r>
              <a:rPr lang="en-US" sz="2200" dirty="0" err="1">
                <a:solidFill>
                  <a:srgbClr val="C00000"/>
                </a:solidFill>
                <a:highlight>
                  <a:srgbClr val="FFFF00"/>
                </a:highlight>
                <a:latin typeface="Times New Roman" panose="02020603050405020304" pitchFamily="18" charset="0"/>
                <a:cs typeface="Times New Roman" panose="02020603050405020304" pitchFamily="18" charset="0"/>
              </a:rPr>
              <a:t>discnt</a:t>
            </a:r>
            <a:r>
              <a:rPr lang="en-US" sz="2200" dirty="0">
                <a:solidFill>
                  <a:srgbClr val="C00000"/>
                </a:solidFill>
                <a:highlight>
                  <a:srgbClr val="FFFF00"/>
                </a:highlight>
                <a:latin typeface="Times New Roman" panose="02020603050405020304" pitchFamily="18" charset="0"/>
                <a:cs typeface="Times New Roman" panose="02020603050405020304" pitchFamily="18" charset="0"/>
              </a:rPr>
              <a:t>&lt;=10</a:t>
            </a:r>
            <a:r>
              <a:rPr lang="en-US" sz="2200" dirty="0">
                <a:solidFill>
                  <a:srgbClr val="7030A0"/>
                </a:solidFill>
                <a:highlight>
                  <a:srgbClr val="FFFF00"/>
                </a:highlight>
                <a:latin typeface="Times New Roman" panose="02020603050405020304" pitchFamily="18" charset="0"/>
                <a:cs typeface="Times New Roman" panose="02020603050405020304" pitchFamily="18" charset="0"/>
              </a:rPr>
              <a:t> </a:t>
            </a:r>
            <a:r>
              <a:rPr lang="en-US" sz="2200" dirty="0">
                <a:solidFill>
                  <a:srgbClr val="002060"/>
                </a:solidFill>
                <a:highlight>
                  <a:srgbClr val="FFFF00"/>
                </a:highlight>
                <a:latin typeface="Times New Roman" panose="02020603050405020304" pitchFamily="18" charset="0"/>
                <a:cs typeface="Times New Roman" panose="02020603050405020304" pitchFamily="18" charset="0"/>
              </a:rPr>
              <a:t>and</a:t>
            </a:r>
            <a:r>
              <a:rPr lang="en-US" sz="2200" dirty="0">
                <a:solidFill>
                  <a:srgbClr val="7030A0"/>
                </a:solidFill>
                <a:highlight>
                  <a:srgbClr val="FFFF00"/>
                </a:highlight>
                <a:latin typeface="Times New Roman" panose="02020603050405020304" pitchFamily="18" charset="0"/>
                <a:cs typeface="Times New Roman" panose="02020603050405020304" pitchFamily="18" charset="0"/>
              </a:rPr>
              <a:t> </a:t>
            </a:r>
            <a:r>
              <a:rPr lang="en-US" sz="2200" dirty="0" err="1">
                <a:solidFill>
                  <a:srgbClr val="C00000"/>
                </a:solidFill>
                <a:highlight>
                  <a:srgbClr val="FFFF00"/>
                </a:highlight>
                <a:latin typeface="Times New Roman" panose="02020603050405020304" pitchFamily="18" charset="0"/>
                <a:cs typeface="Times New Roman" panose="02020603050405020304" pitchFamily="18" charset="0"/>
              </a:rPr>
              <a:t>discnt</a:t>
            </a:r>
            <a:r>
              <a:rPr lang="en-US" sz="2200" dirty="0">
                <a:solidFill>
                  <a:srgbClr val="C00000"/>
                </a:solidFill>
                <a:highlight>
                  <a:srgbClr val="FFFF00"/>
                </a:highlight>
                <a:latin typeface="Times New Roman" panose="02020603050405020304" pitchFamily="18" charset="0"/>
                <a:cs typeface="Times New Roman" panose="02020603050405020304" pitchFamily="18" charset="0"/>
              </a:rPr>
              <a:t>&gt;10</a:t>
            </a:r>
            <a:r>
              <a:rPr lang="en-US" sz="2200" dirty="0">
                <a:solidFill>
                  <a:srgbClr val="002060"/>
                </a:solidFill>
                <a:latin typeface="Times New Roman" panose="02020603050405020304" pitchFamily="18" charset="0"/>
                <a:cs typeface="Times New Roman" panose="02020603050405020304" pitchFamily="18" charset="0"/>
              </a:rPr>
              <a:t>;</a:t>
            </a:r>
          </a:p>
        </p:txBody>
      </p:sp>
      <p:sp>
        <p:nvSpPr>
          <p:cNvPr id="4" name="Rectangle 1"/>
          <p:cNvSpPr/>
          <p:nvPr/>
        </p:nvSpPr>
        <p:spPr>
          <a:xfrm>
            <a:off x="827584" y="179929"/>
            <a:ext cx="8316416"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3.7 Set function in SQL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left)">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wipe(left)">
                                      <p:cBhvr>
                                        <p:cTn id="12" dur="500"/>
                                        <p:tgtEl>
                                          <p:spTgt spid="3">
                                            <p:txEl>
                                              <p:pRg st="4" end="4"/>
                                            </p:txEl>
                                          </p:spTgt>
                                        </p:tgtEl>
                                      </p:cBhvr>
                                    </p:animEffect>
                                  </p:childTnLst>
                                </p:cTn>
                              </p:par>
                              <p:par>
                                <p:cTn id="13" presetID="22" presetClass="entr" presetSubtype="8" fill="hold" nodeType="with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animEffect transition="in" filter="wipe(left)">
                                      <p:cBhvr>
                                        <p:cTn id="15"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1052736"/>
            <a:ext cx="8352928" cy="3539430"/>
          </a:xfrm>
          <a:prstGeom prst="rect">
            <a:avLst/>
          </a:prstGeom>
        </p:spPr>
        <p:txBody>
          <a:bodyPr wrap="square">
            <a:spAutoFit/>
          </a:bodyPr>
          <a:lstStyle/>
          <a:p>
            <a:r>
              <a:rPr lang="en-US" altLang="zh-CN" dirty="0" smtClean="0"/>
              <a:t>NULL</a:t>
            </a:r>
            <a:r>
              <a:rPr lang="zh-CN" altLang="en-US" dirty="0" smtClean="0"/>
              <a:t>的特殊函数与操作</a:t>
            </a:r>
            <a:endParaRPr lang="en-US" altLang="zh-CN" dirty="0" smtClean="0"/>
          </a:p>
          <a:p>
            <a:r>
              <a:rPr lang="zh-CN" altLang="en-US" dirty="0" smtClean="0"/>
              <a:t>为了正确处理</a:t>
            </a:r>
            <a:r>
              <a:rPr lang="en-US" altLang="zh-CN" dirty="0" smtClean="0"/>
              <a:t>NULL</a:t>
            </a:r>
            <a:r>
              <a:rPr lang="zh-CN" altLang="en-US" dirty="0" smtClean="0"/>
              <a:t>值</a:t>
            </a:r>
            <a:r>
              <a:rPr lang="en-US" altLang="zh-CN" dirty="0" smtClean="0"/>
              <a:t>, SQL</a:t>
            </a:r>
            <a:r>
              <a:rPr lang="zh-CN" altLang="en-US" dirty="0" smtClean="0"/>
              <a:t>提供了一些特殊函数和操作符。</a:t>
            </a:r>
            <a:r>
              <a:rPr lang="en-US" altLang="zh-CN" dirty="0" smtClean="0">
                <a:solidFill>
                  <a:srgbClr val="FF0000"/>
                </a:solidFill>
              </a:rPr>
              <a:t>IS NULL</a:t>
            </a:r>
            <a:r>
              <a:rPr lang="zh-CN" altLang="en-US" dirty="0" smtClean="0"/>
              <a:t>和</a:t>
            </a:r>
            <a:r>
              <a:rPr lang="en-US" altLang="zh-CN" dirty="0" smtClean="0">
                <a:solidFill>
                  <a:srgbClr val="FF0000"/>
                </a:solidFill>
              </a:rPr>
              <a:t>IS NOT NULL</a:t>
            </a:r>
            <a:r>
              <a:rPr lang="zh-CN" altLang="en-US" dirty="0" smtClean="0"/>
              <a:t>用于检查字段是否为</a:t>
            </a:r>
            <a:r>
              <a:rPr lang="en-US" altLang="zh-CN" dirty="0" smtClean="0"/>
              <a:t>NULL</a:t>
            </a:r>
            <a:r>
              <a:rPr lang="zh-CN" altLang="en-US" dirty="0" smtClean="0"/>
              <a:t>。</a:t>
            </a:r>
            <a:endParaRPr lang="en-US" altLang="zh-CN" dirty="0" smtClean="0"/>
          </a:p>
          <a:p>
            <a:r>
              <a:rPr lang="zh-CN" altLang="en-US" dirty="0" smtClean="0"/>
              <a:t>例如</a:t>
            </a:r>
            <a:r>
              <a:rPr lang="en-US" altLang="zh-CN" dirty="0" smtClean="0"/>
              <a:t>: SELECT * FROM table WHERE column IS NULL </a:t>
            </a:r>
            <a:r>
              <a:rPr lang="zh-CN" altLang="en-US" dirty="0" smtClean="0"/>
              <a:t>。此外</a:t>
            </a:r>
            <a:r>
              <a:rPr lang="en-US" altLang="zh-CN" dirty="0" smtClean="0"/>
              <a:t>, </a:t>
            </a:r>
            <a:r>
              <a:rPr lang="en-US" altLang="zh-CN" dirty="0" smtClean="0">
                <a:solidFill>
                  <a:srgbClr val="FF0000"/>
                </a:solidFill>
              </a:rPr>
              <a:t>COALESCE</a:t>
            </a:r>
            <a:r>
              <a:rPr lang="zh-CN" altLang="en-US" dirty="0" smtClean="0"/>
              <a:t>函数可以用于替换</a:t>
            </a:r>
            <a:r>
              <a:rPr lang="en-US" altLang="zh-CN" dirty="0" smtClean="0"/>
              <a:t>NULL</a:t>
            </a:r>
            <a:r>
              <a:rPr lang="zh-CN" altLang="en-US" dirty="0" smtClean="0"/>
              <a:t>值。</a:t>
            </a:r>
            <a:endParaRPr lang="en-US" altLang="zh-CN" dirty="0" smtClean="0"/>
          </a:p>
          <a:p>
            <a:r>
              <a:rPr lang="zh-CN" altLang="en-US" dirty="0" smtClean="0"/>
              <a:t>例如</a:t>
            </a:r>
            <a:r>
              <a:rPr lang="en-US" altLang="zh-CN" dirty="0" smtClean="0"/>
              <a:t>:SELECT COALESCE(column, 'default_ value') FROM table , </a:t>
            </a:r>
            <a:r>
              <a:rPr lang="zh-CN" altLang="en-US" dirty="0" smtClean="0"/>
              <a:t>这将在</a:t>
            </a:r>
            <a:r>
              <a:rPr lang="en-US" altLang="zh-CN" dirty="0" smtClean="0"/>
              <a:t>column</a:t>
            </a:r>
            <a:r>
              <a:rPr lang="zh-CN" altLang="en-US" dirty="0" smtClean="0"/>
              <a:t>为</a:t>
            </a:r>
            <a:r>
              <a:rPr lang="en-US" altLang="zh-CN" dirty="0" smtClean="0"/>
              <a:t>NULL</a:t>
            </a:r>
            <a:r>
              <a:rPr lang="zh-CN" altLang="en-US" dirty="0" smtClean="0"/>
              <a:t>时返回</a:t>
            </a:r>
            <a:r>
              <a:rPr lang="en-US" altLang="zh-CN" dirty="0" smtClean="0"/>
              <a:t>'default_ _value'</a:t>
            </a:r>
            <a:r>
              <a:rPr lang="zh-CN" altLang="en-US" dirty="0" smtClean="0"/>
              <a:t>。</a:t>
            </a:r>
            <a:endParaRPr lang="zh-CN" altLang="en-US" dirty="0"/>
          </a:p>
        </p:txBody>
      </p:sp>
      <p:sp>
        <p:nvSpPr>
          <p:cNvPr id="3" name="矩形 2"/>
          <p:cNvSpPr/>
          <p:nvPr/>
        </p:nvSpPr>
        <p:spPr>
          <a:xfrm>
            <a:off x="110843" y="4592166"/>
            <a:ext cx="8856984" cy="2246769"/>
          </a:xfrm>
          <a:prstGeom prst="rect">
            <a:avLst/>
          </a:prstGeom>
        </p:spPr>
        <p:txBody>
          <a:bodyPr wrap="square">
            <a:spAutoFit/>
          </a:bodyPr>
          <a:lstStyle/>
          <a:p>
            <a:r>
              <a:rPr lang="zh-CN" altLang="en-US" dirty="0" smtClean="0"/>
              <a:t>找出</a:t>
            </a:r>
            <a:r>
              <a:rPr lang="zh-CN" altLang="en-US" dirty="0"/>
              <a:t>年龄值为空的学生</a:t>
            </a:r>
            <a:r>
              <a:rPr lang="zh-CN" altLang="en-US" dirty="0" smtClean="0"/>
              <a:t>姓名</a:t>
            </a:r>
            <a:endParaRPr lang="en-US" altLang="zh-CN" dirty="0" smtClean="0"/>
          </a:p>
          <a:p>
            <a:r>
              <a:rPr lang="en-US" altLang="zh-CN" dirty="0" smtClean="0"/>
              <a:t>Select </a:t>
            </a:r>
            <a:r>
              <a:rPr lang="en-US" altLang="zh-CN" dirty="0" err="1"/>
              <a:t>Sname</a:t>
            </a:r>
            <a:r>
              <a:rPr lang="en-US" altLang="zh-CN" dirty="0"/>
              <a:t> From </a:t>
            </a:r>
            <a:r>
              <a:rPr lang="en-US" altLang="zh-CN" dirty="0" smtClean="0"/>
              <a:t>Student</a:t>
            </a:r>
          </a:p>
          <a:p>
            <a:r>
              <a:rPr lang="en-US" altLang="zh-CN" dirty="0" smtClean="0"/>
              <a:t>Where </a:t>
            </a:r>
            <a:r>
              <a:rPr lang="en-US" altLang="zh-CN" dirty="0"/>
              <a:t>Sage is null </a:t>
            </a:r>
            <a:r>
              <a:rPr lang="en-US" altLang="zh-CN" dirty="0" smtClean="0"/>
              <a:t>;</a:t>
            </a:r>
          </a:p>
          <a:p>
            <a:r>
              <a:rPr lang="zh-CN" altLang="en-US" dirty="0" smtClean="0"/>
              <a:t>注意</a:t>
            </a:r>
            <a:r>
              <a:rPr lang="en-US" altLang="zh-CN" dirty="0"/>
              <a:t>:</a:t>
            </a:r>
            <a:r>
              <a:rPr lang="zh-CN" altLang="en-US" dirty="0"/>
              <a:t>上例条件不能写为</a:t>
            </a:r>
            <a:r>
              <a:rPr lang="en-US" altLang="zh-CN" dirty="0" smtClean="0">
                <a:solidFill>
                  <a:srgbClr val="FF0000"/>
                </a:solidFill>
              </a:rPr>
              <a:t>Where Sage=null</a:t>
            </a:r>
            <a:r>
              <a:rPr lang="en-US" altLang="zh-CN" dirty="0">
                <a:solidFill>
                  <a:srgbClr val="FF0000"/>
                </a:solidFill>
              </a:rPr>
              <a:t>;</a:t>
            </a:r>
            <a:r>
              <a:rPr lang="zh-CN" altLang="en-US" dirty="0"/>
              <a:t>空值是不能进行运算的</a:t>
            </a:r>
          </a:p>
        </p:txBody>
      </p:sp>
    </p:spTree>
    <p:extLst>
      <p:ext uri="{BB962C8B-B14F-4D97-AF65-F5344CB8AC3E}">
        <p14:creationId xmlns:p14="http://schemas.microsoft.com/office/powerpoint/2010/main" val="17914191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4016" y="959237"/>
            <a:ext cx="8999984" cy="3945696"/>
          </a:xfrm>
          <a:prstGeom prst="rect">
            <a:avLst/>
          </a:prstGeom>
        </p:spPr>
        <p:txBody>
          <a:bodyPr wrap="square">
            <a:spAutoFit/>
          </a:bodyPr>
          <a:lstStyle/>
          <a:p>
            <a:pPr>
              <a:lnSpc>
                <a:spcPct val="120000"/>
              </a:lnSpc>
            </a:pPr>
            <a:r>
              <a:rPr lang="en-US" sz="2200" dirty="0">
                <a:solidFill>
                  <a:srgbClr val="7030A0"/>
                </a:solidFill>
                <a:latin typeface="Times New Roman" panose="02020603050405020304" pitchFamily="18" charset="0"/>
                <a:cs typeface="Times New Roman" panose="02020603050405020304" pitchFamily="18" charset="0"/>
              </a:rPr>
              <a:t>9.Example 3.7.9  </a:t>
            </a:r>
            <a:r>
              <a:rPr lang="en-US" sz="2000" dirty="0">
                <a:solidFill>
                  <a:srgbClr val="7030A0"/>
                </a:solidFill>
                <a:latin typeface="+mn-lt"/>
                <a:cs typeface="Times New Roman" panose="02020603050405020304" pitchFamily="18" charset="0"/>
              </a:rPr>
              <a:t>After adding the row (c007,Windix,Dallas,</a:t>
            </a:r>
            <a:r>
              <a:rPr lang="en-US" sz="2000" dirty="0">
                <a:solidFill>
                  <a:srgbClr val="C00000"/>
                </a:solidFill>
                <a:highlight>
                  <a:srgbClr val="FFFF00"/>
                </a:highlight>
                <a:latin typeface="+mn-lt"/>
                <a:cs typeface="Times New Roman" panose="02020603050405020304" pitchFamily="18" charset="0"/>
              </a:rPr>
              <a:t>null</a:t>
            </a:r>
            <a:r>
              <a:rPr lang="en-US" sz="2000" dirty="0">
                <a:solidFill>
                  <a:srgbClr val="7030A0"/>
                </a:solidFill>
                <a:latin typeface="+mn-lt"/>
                <a:cs typeface="Times New Roman" panose="02020603050405020304" pitchFamily="18" charset="0"/>
              </a:rPr>
              <a:t>)</a:t>
            </a:r>
            <a:r>
              <a:rPr lang="en-US" altLang="zh-CN" sz="2000" dirty="0">
                <a:solidFill>
                  <a:srgbClr val="7030A0"/>
                </a:solidFill>
                <a:latin typeface="+mn-lt"/>
                <a:cs typeface="Times New Roman" panose="02020603050405020304" pitchFamily="18" charset="0"/>
              </a:rPr>
              <a:t> to </a:t>
            </a:r>
            <a:r>
              <a:rPr lang="en-US" sz="2000" dirty="0">
                <a:solidFill>
                  <a:srgbClr val="7030A0"/>
                </a:solidFill>
                <a:latin typeface="+mn-lt"/>
                <a:cs typeface="Times New Roman" panose="02020603050405020304" pitchFamily="18" charset="0"/>
              </a:rPr>
              <a:t>customers table. We wish to find the average discount of all customers.</a:t>
            </a:r>
          </a:p>
          <a:p>
            <a:endParaRPr lang="en-US" sz="2000" dirty="0">
              <a:solidFill>
                <a:srgbClr val="7030A0"/>
              </a:solidFill>
              <a:latin typeface="+mn-lt"/>
              <a:cs typeface="Times New Roman" panose="02020603050405020304" pitchFamily="18" charset="0"/>
            </a:endParaRPr>
          </a:p>
          <a:p>
            <a:endParaRPr lang="en-US" sz="2000" dirty="0">
              <a:solidFill>
                <a:srgbClr val="7030A0"/>
              </a:solidFill>
              <a:latin typeface="+mn-lt"/>
              <a:cs typeface="Times New Roman" panose="02020603050405020304" pitchFamily="18" charset="0"/>
            </a:endParaRPr>
          </a:p>
          <a:p>
            <a:pPr>
              <a:spcBef>
                <a:spcPts val="1200"/>
              </a:spcBef>
            </a:pPr>
            <a:r>
              <a:rPr lang="en-US" sz="2200" dirty="0">
                <a:solidFill>
                  <a:srgbClr val="002060"/>
                </a:solidFill>
                <a:latin typeface="Times New Roman" panose="02020603050405020304" pitchFamily="18" charset="0"/>
                <a:cs typeface="Times New Roman" panose="02020603050405020304" pitchFamily="18" charset="0"/>
              </a:rPr>
              <a:t>      a) the null is discarded（</a:t>
            </a:r>
            <a:r>
              <a:rPr lang="ja-JP" altLang="en-US" sz="2200" dirty="0">
                <a:solidFill>
                  <a:srgbClr val="002060"/>
                </a:solidFill>
                <a:latin typeface="Times New Roman" panose="02020603050405020304" pitchFamily="18" charset="0"/>
                <a:cs typeface="Times New Roman" panose="02020603050405020304" pitchFamily="18" charset="0"/>
              </a:rPr>
              <a:t>抛弃，排除）</a:t>
            </a:r>
          </a:p>
          <a:p>
            <a:pPr>
              <a:spcBef>
                <a:spcPts val="1200"/>
              </a:spcBef>
            </a:pPr>
            <a:r>
              <a:rPr lang="ja-JP" alt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002060"/>
                </a:solidFill>
                <a:latin typeface="Times New Roman" panose="02020603050405020304" pitchFamily="18" charset="0"/>
                <a:cs typeface="Times New Roman" panose="02020603050405020304" pitchFamily="18" charset="0"/>
              </a:rPr>
              <a:t>select </a:t>
            </a:r>
            <a:r>
              <a:rPr lang="en-US" sz="2200" dirty="0" err="1">
                <a:solidFill>
                  <a:srgbClr val="C00000"/>
                </a:solidFill>
                <a:latin typeface="Times New Roman" panose="02020603050405020304" pitchFamily="18" charset="0"/>
                <a:cs typeface="Times New Roman" panose="02020603050405020304" pitchFamily="18" charset="0"/>
              </a:rPr>
              <a:t>avg</a:t>
            </a:r>
            <a:r>
              <a:rPr lang="en-US" sz="2200" dirty="0">
                <a:solidFill>
                  <a:srgbClr val="002060"/>
                </a:solidFill>
                <a:latin typeface="Times New Roman" panose="02020603050405020304" pitchFamily="18" charset="0"/>
                <a:cs typeface="Times New Roman" panose="02020603050405020304" pitchFamily="18" charset="0"/>
              </a:rPr>
              <a:t>(</a:t>
            </a:r>
            <a:r>
              <a:rPr lang="en-US" sz="2200" dirty="0" err="1">
                <a:solidFill>
                  <a:srgbClr val="C00000"/>
                </a:solidFill>
                <a:latin typeface="Times New Roman" panose="02020603050405020304" pitchFamily="18" charset="0"/>
                <a:cs typeface="Times New Roman" panose="02020603050405020304" pitchFamily="18" charset="0"/>
              </a:rPr>
              <a:t>discnt</a:t>
            </a:r>
            <a:r>
              <a:rPr lang="en-US" sz="2200" dirty="0">
                <a:solidFill>
                  <a:srgbClr val="002060"/>
                </a:solidFill>
                <a:latin typeface="Times New Roman" panose="02020603050405020304" pitchFamily="18" charset="0"/>
                <a:cs typeface="Times New Roman" panose="02020603050405020304" pitchFamily="18" charset="0"/>
              </a:rPr>
              <a:t>) from customers;</a:t>
            </a:r>
          </a:p>
          <a:p>
            <a:pPr>
              <a:spcBef>
                <a:spcPts val="1200"/>
              </a:spcBef>
            </a:pPr>
            <a:r>
              <a:rPr lang="en-US" sz="2200" dirty="0">
                <a:solidFill>
                  <a:srgbClr val="002060"/>
                </a:solidFill>
                <a:latin typeface="Times New Roman" panose="02020603050405020304" pitchFamily="18" charset="0"/>
                <a:cs typeface="Times New Roman" panose="02020603050405020304" pitchFamily="18" charset="0"/>
              </a:rPr>
              <a:t>      b) A set function acting on a empty set</a:t>
            </a:r>
          </a:p>
          <a:p>
            <a:pPr marL="1257300" lvl="2" indent="-342900">
              <a:spcBef>
                <a:spcPts val="1200"/>
              </a:spcBef>
              <a:buFont typeface="Wingdings" panose="05000000000000000000" pitchFamily="2" charset="2"/>
              <a:buChar char="§"/>
            </a:pPr>
            <a:r>
              <a:rPr lang="en-US" sz="2200" dirty="0">
                <a:solidFill>
                  <a:srgbClr val="7030A0"/>
                </a:solidFill>
                <a:latin typeface="Times New Roman" panose="02020603050405020304" pitchFamily="18" charset="0"/>
                <a:cs typeface="Times New Roman" panose="02020603050405020304" pitchFamily="18" charset="0"/>
              </a:rPr>
              <a:t>count()      </a:t>
            </a:r>
            <a:r>
              <a:rPr lang="en-US" sz="2200" dirty="0">
                <a:solidFill>
                  <a:srgbClr val="002060"/>
                </a:solidFill>
                <a:latin typeface="Times New Roman" panose="02020603050405020304" pitchFamily="18" charset="0"/>
                <a:cs typeface="Times New Roman" panose="02020603050405020304" pitchFamily="18" charset="0"/>
              </a:rPr>
              <a:t>				</a:t>
            </a:r>
            <a:r>
              <a:rPr lang="en-US" sz="1800" dirty="0">
                <a:solidFill>
                  <a:srgbClr val="002060"/>
                </a:solidFill>
                <a:latin typeface="Times New Roman" panose="02020603050405020304" pitchFamily="18" charset="0"/>
                <a:cs typeface="Times New Roman" panose="02020603050405020304" pitchFamily="18" charset="0"/>
              </a:rPr>
              <a:t>returns zero for a empty set.</a:t>
            </a:r>
          </a:p>
          <a:p>
            <a:pPr marL="1257300" lvl="2" indent="-342900">
              <a:spcBef>
                <a:spcPts val="1200"/>
              </a:spcBef>
              <a:buFont typeface="Wingdings" panose="05000000000000000000" pitchFamily="2" charset="2"/>
              <a:buChar char="§"/>
            </a:pPr>
            <a:r>
              <a:rPr lang="en-US" sz="2200" dirty="0">
                <a:solidFill>
                  <a:srgbClr val="7030A0"/>
                </a:solidFill>
                <a:latin typeface="Times New Roman" panose="02020603050405020304" pitchFamily="18" charset="0"/>
                <a:cs typeface="Times New Roman" panose="02020603050405020304" pitchFamily="18" charset="0"/>
              </a:rPr>
              <a:t>sum(), avg(), max() and min()</a:t>
            </a:r>
            <a:r>
              <a:rPr lang="en-US" sz="2200" dirty="0">
                <a:solidFill>
                  <a:srgbClr val="002060"/>
                </a:solidFill>
                <a:latin typeface="Times New Roman" panose="02020603050405020304" pitchFamily="18" charset="0"/>
                <a:cs typeface="Times New Roman" panose="02020603050405020304" pitchFamily="18" charset="0"/>
              </a:rPr>
              <a:t>	</a:t>
            </a:r>
            <a:r>
              <a:rPr lang="en-US" sz="1800" dirty="0">
                <a:solidFill>
                  <a:srgbClr val="002060"/>
                </a:solidFill>
                <a:latin typeface="Times New Roman" panose="02020603050405020304" pitchFamily="18" charset="0"/>
                <a:cs typeface="Times New Roman" panose="02020603050405020304" pitchFamily="18" charset="0"/>
              </a:rPr>
              <a:t>return the null value.</a:t>
            </a:r>
          </a:p>
        </p:txBody>
      </p:sp>
      <p:sp>
        <p:nvSpPr>
          <p:cNvPr id="4" name="Rectangle 1"/>
          <p:cNvSpPr/>
          <p:nvPr/>
        </p:nvSpPr>
        <p:spPr>
          <a:xfrm>
            <a:off x="827584" y="179929"/>
            <a:ext cx="8316416"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3.7 Set function in SQL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left)">
                                      <p:cBhvr>
                                        <p:cTn id="7" dur="750"/>
                                        <p:tgtEl>
                                          <p:spTgt spid="3">
                                            <p:txEl>
                                              <p:pRg st="3" end="3"/>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wipe(left)">
                                      <p:cBhvr>
                                        <p:cTn id="10" dur="750"/>
                                        <p:tgtEl>
                                          <p:spTgt spid="3">
                                            <p:txEl>
                                              <p:pRg st="4" end="4"/>
                                            </p:txEl>
                                          </p:spTgt>
                                        </p:tgtEl>
                                      </p:cBhvr>
                                    </p:animEffect>
                                  </p:childTnLst>
                                </p:cTn>
                              </p:par>
                              <p:par>
                                <p:cTn id="11" presetID="22" presetClass="entr" presetSubtype="8"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wipe(left)">
                                      <p:cBhvr>
                                        <p:cTn id="13" dur="750"/>
                                        <p:tgtEl>
                                          <p:spTgt spid="3">
                                            <p:txEl>
                                              <p:pRg st="5" end="5"/>
                                            </p:txEl>
                                          </p:spTgt>
                                        </p:tgtEl>
                                      </p:cBhvr>
                                    </p:animEffect>
                                  </p:childTnLst>
                                </p:cTn>
                              </p:par>
                              <p:par>
                                <p:cTn id="14" presetID="22" presetClass="entr" presetSubtype="8"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wipe(left)">
                                      <p:cBhvr>
                                        <p:cTn id="16" dur="750"/>
                                        <p:tgtEl>
                                          <p:spTgt spid="3">
                                            <p:txEl>
                                              <p:pRg st="6" end="6"/>
                                            </p:txEl>
                                          </p:spTgt>
                                        </p:tgtEl>
                                      </p:cBhvr>
                                    </p:animEffect>
                                  </p:childTnLst>
                                </p:cTn>
                              </p:par>
                              <p:par>
                                <p:cTn id="17" presetID="22" presetClass="entr" presetSubtype="8" fill="hold" nodeType="with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animEffect transition="in" filter="wipe(left)">
                                      <p:cBhvr>
                                        <p:cTn id="19" dur="75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11484" y="116632"/>
            <a:ext cx="6252804"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3.8 Group of rows in SQL</a:t>
            </a:r>
          </a:p>
        </p:txBody>
      </p:sp>
      <p:sp>
        <p:nvSpPr>
          <p:cNvPr id="3" name="Rectangle 2"/>
          <p:cNvSpPr/>
          <p:nvPr/>
        </p:nvSpPr>
        <p:spPr>
          <a:xfrm>
            <a:off x="35496" y="1426697"/>
            <a:ext cx="9108504" cy="3971344"/>
          </a:xfrm>
          <a:prstGeom prst="rect">
            <a:avLst/>
          </a:prstGeom>
        </p:spPr>
        <p:txBody>
          <a:bodyPr wrap="square">
            <a:spAutoFit/>
          </a:bodyPr>
          <a:lstStyle/>
          <a:p>
            <a:r>
              <a:rPr lang="en-US" sz="2400" dirty="0">
                <a:solidFill>
                  <a:srgbClr val="7030A0"/>
                </a:solidFill>
                <a:latin typeface="Times New Roman" panose="02020603050405020304" pitchFamily="18" charset="0"/>
                <a:cs typeface="Times New Roman" panose="02020603050405020304" pitchFamily="18" charset="0"/>
              </a:rPr>
              <a:t>1. GROUP and HAVING clause</a:t>
            </a:r>
          </a:p>
          <a:p>
            <a:pPr lvl="2">
              <a:spcBef>
                <a:spcPts val="200"/>
              </a:spcBef>
            </a:pPr>
            <a:r>
              <a:rPr lang="en-US" sz="2400" dirty="0">
                <a:solidFill>
                  <a:srgbClr val="002060"/>
                </a:solidFill>
                <a:latin typeface="Times New Roman" panose="02020603050405020304" pitchFamily="18" charset="0"/>
                <a:cs typeface="Times New Roman" panose="02020603050405020304" pitchFamily="18" charset="0"/>
              </a:rPr>
              <a:t>  </a:t>
            </a:r>
            <a:r>
              <a:rPr lang="en-US" sz="1800" dirty="0">
                <a:solidFill>
                  <a:srgbClr val="002060"/>
                </a:solidFill>
                <a:latin typeface="Times New Roman" panose="02020603050405020304" pitchFamily="18" charset="0"/>
                <a:cs typeface="Times New Roman" panose="02020603050405020304" pitchFamily="18" charset="0"/>
              </a:rPr>
              <a:t>SELECT [ALL|DISTINCT] {*|</a:t>
            </a:r>
            <a:r>
              <a:rPr lang="en-US" sz="1800" dirty="0" err="1">
                <a:solidFill>
                  <a:srgbClr val="002060"/>
                </a:solidFill>
                <a:latin typeface="Times New Roman" panose="02020603050405020304" pitchFamily="18" charset="0"/>
                <a:cs typeface="Times New Roman" panose="02020603050405020304" pitchFamily="18" charset="0"/>
              </a:rPr>
              <a:t>expr</a:t>
            </a:r>
            <a:r>
              <a:rPr lang="en-US" sz="1800" dirty="0">
                <a:solidFill>
                  <a:srgbClr val="002060"/>
                </a:solidFill>
                <a:latin typeface="Times New Roman" panose="02020603050405020304" pitchFamily="18" charset="0"/>
                <a:cs typeface="Times New Roman" panose="02020603050405020304" pitchFamily="18" charset="0"/>
              </a:rPr>
              <a:t> [[AS] </a:t>
            </a:r>
            <a:r>
              <a:rPr lang="en-US" sz="1800" dirty="0" err="1">
                <a:solidFill>
                  <a:srgbClr val="002060"/>
                </a:solidFill>
                <a:latin typeface="Times New Roman" panose="02020603050405020304" pitchFamily="18" charset="0"/>
                <a:cs typeface="Times New Roman" panose="02020603050405020304" pitchFamily="18" charset="0"/>
              </a:rPr>
              <a:t>c_alias</a:t>
            </a:r>
            <a:r>
              <a:rPr lang="en-US" sz="1800" dirty="0">
                <a:solidFill>
                  <a:srgbClr val="002060"/>
                </a:solidFill>
                <a:latin typeface="Times New Roman" panose="02020603050405020304" pitchFamily="18" charset="0"/>
                <a:cs typeface="Times New Roman" panose="02020603050405020304" pitchFamily="18" charset="0"/>
              </a:rPr>
              <a:t>]{,</a:t>
            </a:r>
            <a:r>
              <a:rPr lang="en-US" sz="1800" dirty="0" err="1">
                <a:solidFill>
                  <a:srgbClr val="002060"/>
                </a:solidFill>
                <a:latin typeface="Times New Roman" panose="02020603050405020304" pitchFamily="18" charset="0"/>
                <a:cs typeface="Times New Roman" panose="02020603050405020304" pitchFamily="18" charset="0"/>
              </a:rPr>
              <a:t>expr</a:t>
            </a:r>
            <a:r>
              <a:rPr lang="en-US" sz="1800" dirty="0">
                <a:solidFill>
                  <a:srgbClr val="002060"/>
                </a:solidFill>
                <a:latin typeface="Times New Roman" panose="02020603050405020304" pitchFamily="18" charset="0"/>
                <a:cs typeface="Times New Roman" panose="02020603050405020304" pitchFamily="18" charset="0"/>
              </a:rPr>
              <a:t> [[AS] </a:t>
            </a:r>
            <a:r>
              <a:rPr lang="en-US" sz="1800" dirty="0" err="1">
                <a:solidFill>
                  <a:srgbClr val="002060"/>
                </a:solidFill>
                <a:latin typeface="Times New Roman" panose="02020603050405020304" pitchFamily="18" charset="0"/>
                <a:cs typeface="Times New Roman" panose="02020603050405020304" pitchFamily="18" charset="0"/>
              </a:rPr>
              <a:t>c_alias</a:t>
            </a:r>
            <a:r>
              <a:rPr lang="en-US" sz="1800" dirty="0">
                <a:solidFill>
                  <a:srgbClr val="002060"/>
                </a:solidFill>
                <a:latin typeface="Times New Roman" panose="02020603050405020304" pitchFamily="18" charset="0"/>
                <a:cs typeface="Times New Roman" panose="02020603050405020304" pitchFamily="18" charset="0"/>
              </a:rPr>
              <a:t>]...}}</a:t>
            </a:r>
          </a:p>
          <a:p>
            <a:pPr lvl="4">
              <a:spcBef>
                <a:spcPts val="600"/>
              </a:spcBef>
            </a:pPr>
            <a:r>
              <a:rPr lang="en-US" sz="1800" dirty="0">
                <a:solidFill>
                  <a:srgbClr val="002060"/>
                </a:solidFill>
                <a:latin typeface="Times New Roman" panose="02020603050405020304" pitchFamily="18" charset="0"/>
                <a:cs typeface="Times New Roman" panose="02020603050405020304" pitchFamily="18" charset="0"/>
              </a:rPr>
              <a:t>FROM </a:t>
            </a:r>
            <a:r>
              <a:rPr lang="en-US" sz="1800" dirty="0" err="1">
                <a:solidFill>
                  <a:srgbClr val="002060"/>
                </a:solidFill>
                <a:latin typeface="Times New Roman" panose="02020603050405020304" pitchFamily="18" charset="0"/>
                <a:cs typeface="Times New Roman" panose="02020603050405020304" pitchFamily="18" charset="0"/>
              </a:rPr>
              <a:t>tableref</a:t>
            </a:r>
            <a:r>
              <a:rPr lang="en-US" sz="1800" dirty="0">
                <a:solidFill>
                  <a:srgbClr val="002060"/>
                </a:solidFill>
                <a:latin typeface="Times New Roman" panose="02020603050405020304" pitchFamily="18" charset="0"/>
                <a:cs typeface="Times New Roman" panose="02020603050405020304" pitchFamily="18" charset="0"/>
              </a:rPr>
              <a:t> {, </a:t>
            </a:r>
            <a:r>
              <a:rPr lang="en-US" sz="1800" dirty="0" err="1">
                <a:solidFill>
                  <a:srgbClr val="002060"/>
                </a:solidFill>
                <a:latin typeface="Times New Roman" panose="02020603050405020304" pitchFamily="18" charset="0"/>
                <a:cs typeface="Times New Roman" panose="02020603050405020304" pitchFamily="18" charset="0"/>
              </a:rPr>
              <a:t>tabletrf</a:t>
            </a:r>
            <a:r>
              <a:rPr lang="en-US" sz="1800" dirty="0">
                <a:solidFill>
                  <a:srgbClr val="002060"/>
                </a:solidFill>
                <a:latin typeface="Times New Roman" panose="02020603050405020304" pitchFamily="18" charset="0"/>
                <a:cs typeface="Times New Roman" panose="02020603050405020304" pitchFamily="18" charset="0"/>
              </a:rPr>
              <a:t>...}</a:t>
            </a:r>
          </a:p>
          <a:p>
            <a:pPr lvl="2">
              <a:spcBef>
                <a:spcPts val="600"/>
              </a:spcBef>
            </a:pPr>
            <a:r>
              <a:rPr lang="en-US" sz="1800" dirty="0">
                <a:solidFill>
                  <a:srgbClr val="002060"/>
                </a:solidFill>
                <a:latin typeface="Times New Roman" panose="02020603050405020304" pitchFamily="18" charset="0"/>
                <a:cs typeface="Times New Roman" panose="02020603050405020304" pitchFamily="18" charset="0"/>
              </a:rPr>
              <a:t>	[WHERE </a:t>
            </a:r>
            <a:r>
              <a:rPr lang="en-US" sz="1800" dirty="0" err="1">
                <a:solidFill>
                  <a:srgbClr val="002060"/>
                </a:solidFill>
                <a:latin typeface="Times New Roman" panose="02020603050405020304" pitchFamily="18" charset="0"/>
                <a:cs typeface="Times New Roman" panose="02020603050405020304" pitchFamily="18" charset="0"/>
              </a:rPr>
              <a:t>search_condition</a:t>
            </a:r>
            <a:r>
              <a:rPr lang="en-US" sz="1800" dirty="0">
                <a:solidFill>
                  <a:srgbClr val="002060"/>
                </a:solidFill>
                <a:latin typeface="Times New Roman" panose="02020603050405020304" pitchFamily="18" charset="0"/>
                <a:cs typeface="Times New Roman" panose="02020603050405020304" pitchFamily="18" charset="0"/>
              </a:rPr>
              <a:t>]</a:t>
            </a:r>
          </a:p>
          <a:p>
            <a:pPr lvl="2">
              <a:spcBef>
                <a:spcPts val="600"/>
              </a:spcBef>
            </a:pPr>
            <a:r>
              <a:rPr lang="en-US" sz="1800" dirty="0">
                <a:solidFill>
                  <a:srgbClr val="002060"/>
                </a:solidFill>
                <a:latin typeface="Times New Roman" panose="02020603050405020304" pitchFamily="18" charset="0"/>
                <a:cs typeface="Times New Roman" panose="02020603050405020304" pitchFamily="18" charset="0"/>
              </a:rPr>
              <a:t> 	[</a:t>
            </a:r>
            <a:r>
              <a:rPr lang="en-US" sz="1800" dirty="0">
                <a:solidFill>
                  <a:srgbClr val="C00000"/>
                </a:solidFill>
                <a:highlight>
                  <a:srgbClr val="FFFF00"/>
                </a:highlight>
                <a:latin typeface="Times New Roman" panose="02020603050405020304" pitchFamily="18" charset="0"/>
                <a:cs typeface="Times New Roman" panose="02020603050405020304" pitchFamily="18" charset="0"/>
              </a:rPr>
              <a:t>GROUP BY </a:t>
            </a:r>
            <a:r>
              <a:rPr lang="en-US" sz="1800" dirty="0">
                <a:solidFill>
                  <a:srgbClr val="002060"/>
                </a:solidFill>
                <a:latin typeface="Times New Roman" panose="02020603050405020304" pitchFamily="18" charset="0"/>
                <a:cs typeface="Times New Roman" panose="02020603050405020304" pitchFamily="18" charset="0"/>
              </a:rPr>
              <a:t>column {, column...} ] [</a:t>
            </a:r>
            <a:r>
              <a:rPr lang="en-US" sz="1800" dirty="0">
                <a:solidFill>
                  <a:srgbClr val="C00000"/>
                </a:solidFill>
                <a:highlight>
                  <a:srgbClr val="FFFF00"/>
                </a:highlight>
                <a:latin typeface="Times New Roman" panose="02020603050405020304" pitchFamily="18" charset="0"/>
                <a:cs typeface="Times New Roman" panose="02020603050405020304" pitchFamily="18" charset="0"/>
              </a:rPr>
              <a:t>HAVING</a:t>
            </a:r>
            <a:r>
              <a:rPr lang="en-US" sz="1800" dirty="0">
                <a:solidFill>
                  <a:srgbClr val="002060"/>
                </a:solidFill>
                <a:latin typeface="Times New Roman" panose="02020603050405020304" pitchFamily="18" charset="0"/>
                <a:cs typeface="Times New Roman" panose="02020603050405020304" pitchFamily="18" charset="0"/>
              </a:rPr>
              <a:t> </a:t>
            </a:r>
            <a:r>
              <a:rPr lang="en-US" sz="1800" dirty="0" err="1">
                <a:solidFill>
                  <a:srgbClr val="002060"/>
                </a:solidFill>
                <a:latin typeface="Times New Roman" panose="02020603050405020304" pitchFamily="18" charset="0"/>
                <a:cs typeface="Times New Roman" panose="02020603050405020304" pitchFamily="18" charset="0"/>
              </a:rPr>
              <a:t>search_condition</a:t>
            </a:r>
            <a:r>
              <a:rPr lang="en-US" sz="1800" dirty="0">
                <a:solidFill>
                  <a:srgbClr val="002060"/>
                </a:solidFill>
                <a:latin typeface="Times New Roman" panose="02020603050405020304" pitchFamily="18" charset="0"/>
                <a:cs typeface="Times New Roman" panose="02020603050405020304" pitchFamily="18" charset="0"/>
              </a:rPr>
              <a:t>]</a:t>
            </a:r>
          </a:p>
          <a:p>
            <a:pPr lvl="2">
              <a:spcBef>
                <a:spcPts val="600"/>
              </a:spcBef>
            </a:pPr>
            <a:r>
              <a:rPr lang="en-US" sz="1800" dirty="0">
                <a:solidFill>
                  <a:srgbClr val="002060"/>
                </a:solidFill>
                <a:latin typeface="Times New Roman" panose="02020603050405020304" pitchFamily="18" charset="0"/>
                <a:cs typeface="Times New Roman" panose="02020603050405020304" pitchFamily="18" charset="0"/>
              </a:rPr>
              <a:t>	| subquery UNION [ALL] | INTERSECT [ALL] | EXCEPT [ALL]</a:t>
            </a:r>
          </a:p>
          <a:p>
            <a:pPr lvl="2">
              <a:spcBef>
                <a:spcPts val="600"/>
              </a:spcBef>
            </a:pPr>
            <a:r>
              <a:rPr lang="en-US" sz="1800" dirty="0">
                <a:solidFill>
                  <a:srgbClr val="002060"/>
                </a:solidFill>
                <a:latin typeface="Times New Roman" panose="02020603050405020304" pitchFamily="18" charset="0"/>
                <a:cs typeface="Times New Roman" panose="02020603050405020304" pitchFamily="18" charset="0"/>
              </a:rPr>
              <a:t>	[CORRESPONDING [BY] (</a:t>
            </a:r>
            <a:r>
              <a:rPr lang="en-US" sz="1800" dirty="0" err="1">
                <a:solidFill>
                  <a:srgbClr val="002060"/>
                </a:solidFill>
                <a:latin typeface="Times New Roman" panose="02020603050405020304" pitchFamily="18" charset="0"/>
                <a:cs typeface="Times New Roman" panose="02020603050405020304" pitchFamily="18" charset="0"/>
              </a:rPr>
              <a:t>colname</a:t>
            </a:r>
            <a:r>
              <a:rPr lang="en-US" sz="1800" dirty="0">
                <a:solidFill>
                  <a:srgbClr val="002060"/>
                </a:solidFill>
                <a:latin typeface="Times New Roman" panose="02020603050405020304" pitchFamily="18" charset="0"/>
                <a:cs typeface="Times New Roman" panose="02020603050405020304" pitchFamily="18" charset="0"/>
              </a:rPr>
              <a:t> {, </a:t>
            </a:r>
            <a:r>
              <a:rPr lang="en-US" sz="1800" dirty="0" err="1">
                <a:solidFill>
                  <a:srgbClr val="002060"/>
                </a:solidFill>
                <a:latin typeface="Times New Roman" panose="02020603050405020304" pitchFamily="18" charset="0"/>
                <a:cs typeface="Times New Roman" panose="02020603050405020304" pitchFamily="18" charset="0"/>
              </a:rPr>
              <a:t>colname</a:t>
            </a:r>
            <a:r>
              <a:rPr lang="en-US" sz="1800" dirty="0">
                <a:solidFill>
                  <a:srgbClr val="002060"/>
                </a:solidFill>
                <a:latin typeface="Times New Roman" panose="02020603050405020304" pitchFamily="18" charset="0"/>
                <a:cs typeface="Times New Roman" panose="02020603050405020304" pitchFamily="18" charset="0"/>
              </a:rPr>
              <a:t> . . .})] </a:t>
            </a:r>
            <a:r>
              <a:rPr lang="en-US" sz="1800" dirty="0" err="1">
                <a:solidFill>
                  <a:srgbClr val="002060"/>
                </a:solidFill>
                <a:latin typeface="Times New Roman" panose="02020603050405020304" pitchFamily="18" charset="0"/>
                <a:cs typeface="Times New Roman" panose="02020603050405020304" pitchFamily="18" charset="0"/>
              </a:rPr>
              <a:t>subquery</a:t>
            </a:r>
            <a:endParaRPr lang="en-US" sz="1800" dirty="0">
              <a:solidFill>
                <a:srgbClr val="002060"/>
              </a:solidFill>
              <a:latin typeface="Times New Roman" panose="02020603050405020304" pitchFamily="18" charset="0"/>
              <a:cs typeface="Times New Roman" panose="02020603050405020304" pitchFamily="18" charset="0"/>
            </a:endParaRPr>
          </a:p>
          <a:p>
            <a:pPr>
              <a:lnSpc>
                <a:spcPct val="120000"/>
              </a:lnSpc>
              <a:spcBef>
                <a:spcPts val="1200"/>
              </a:spcBef>
            </a:pPr>
            <a:r>
              <a:rPr lang="en-US" altLang="zh-CN" sz="2200" dirty="0">
                <a:solidFill>
                  <a:srgbClr val="7030A0"/>
                </a:solidFill>
                <a:latin typeface="Times New Roman" panose="02020603050405020304" pitchFamily="18" charset="0"/>
                <a:cs typeface="Times New Roman" panose="02020603050405020304" pitchFamily="18" charset="0"/>
              </a:rPr>
              <a:t>2. Example 3.8.1 </a:t>
            </a:r>
            <a:r>
              <a:rPr lang="en-US" altLang="zh-CN" sz="2000" dirty="0">
                <a:solidFill>
                  <a:srgbClr val="7030A0"/>
                </a:solidFill>
                <a:latin typeface="+mn-lt"/>
                <a:cs typeface="Times New Roman" panose="02020603050405020304" pitchFamily="18" charset="0"/>
              </a:rPr>
              <a:t>Let’s create a query to calculate the total product quantity ordered of each individual product by each individual customer. </a:t>
            </a:r>
            <a:r>
              <a:rPr lang="en-US" altLang="zh-CN" sz="1000" dirty="0">
                <a:solidFill>
                  <a:srgbClr val="002060"/>
                </a:solidFill>
                <a:latin typeface="Times New Roman" panose="02020603050405020304" pitchFamily="18" charset="0"/>
                <a:cs typeface="Times New Roman" panose="02020603050405020304" pitchFamily="18" charset="0"/>
              </a:rPr>
              <a:t>(</a:t>
            </a:r>
            <a:r>
              <a:rPr lang="ja-JP" altLang="en-US" sz="1000" dirty="0">
                <a:solidFill>
                  <a:srgbClr val="002060"/>
                </a:solidFill>
                <a:latin typeface="Times New Roman" panose="02020603050405020304" pitchFamily="18" charset="0"/>
                <a:cs typeface="Times New Roman" panose="02020603050405020304" pitchFamily="18" charset="0"/>
              </a:rPr>
              <a:t>查每个</a:t>
            </a:r>
            <a:r>
              <a:rPr lang="en-US" altLang="ja-JP" sz="1000" dirty="0">
                <a:solidFill>
                  <a:srgbClr val="002060"/>
                </a:solidFill>
                <a:latin typeface="Times New Roman" panose="02020603050405020304" pitchFamily="18" charset="0"/>
                <a:cs typeface="Times New Roman" panose="02020603050405020304" pitchFamily="18" charset="0"/>
              </a:rPr>
              <a:t>(</a:t>
            </a:r>
            <a:r>
              <a:rPr lang="en-US" altLang="ja-JP" sz="1000" dirty="0" err="1">
                <a:solidFill>
                  <a:srgbClr val="002060"/>
                </a:solidFill>
                <a:latin typeface="Times New Roman" panose="02020603050405020304" pitchFamily="18" charset="0"/>
                <a:cs typeface="Times New Roman" panose="02020603050405020304" pitchFamily="18" charset="0"/>
              </a:rPr>
              <a:t>p</a:t>
            </a:r>
            <a:r>
              <a:rPr lang="en-US" altLang="zh-CN" sz="1000" dirty="0" err="1">
                <a:solidFill>
                  <a:srgbClr val="002060"/>
                </a:solidFill>
                <a:latin typeface="Times New Roman" panose="02020603050405020304" pitchFamily="18" charset="0"/>
                <a:cs typeface="Times New Roman" panose="02020603050405020304" pitchFamily="18" charset="0"/>
              </a:rPr>
              <a:t>id</a:t>
            </a:r>
            <a:r>
              <a:rPr lang="en-US" altLang="zh-CN" sz="1000" dirty="0">
                <a:solidFill>
                  <a:srgbClr val="002060"/>
                </a:solidFill>
                <a:latin typeface="Times New Roman" panose="02020603050405020304" pitchFamily="18" charset="0"/>
                <a:cs typeface="Times New Roman" panose="02020603050405020304" pitchFamily="18" charset="0"/>
              </a:rPr>
              <a:t>, </a:t>
            </a:r>
            <a:r>
              <a:rPr lang="en-US" altLang="zh-CN" sz="1000" dirty="0" err="1">
                <a:solidFill>
                  <a:srgbClr val="002060"/>
                </a:solidFill>
                <a:latin typeface="Times New Roman" panose="02020603050405020304" pitchFamily="18" charset="0"/>
                <a:cs typeface="Times New Roman" panose="02020603050405020304" pitchFamily="18" charset="0"/>
              </a:rPr>
              <a:t>cid</a:t>
            </a:r>
            <a:r>
              <a:rPr lang="en-US" altLang="zh-CN" sz="1000" dirty="0">
                <a:solidFill>
                  <a:srgbClr val="002060"/>
                </a:solidFill>
                <a:latin typeface="Times New Roman" panose="02020603050405020304" pitchFamily="18" charset="0"/>
                <a:cs typeface="Times New Roman" panose="02020603050405020304" pitchFamily="18" charset="0"/>
              </a:rPr>
              <a:t>)</a:t>
            </a:r>
            <a:r>
              <a:rPr lang="ja-JP" altLang="en-US" sz="1000" dirty="0">
                <a:solidFill>
                  <a:srgbClr val="002060"/>
                </a:solidFill>
                <a:latin typeface="Times New Roman" panose="02020603050405020304" pitchFamily="18" charset="0"/>
                <a:cs typeface="Times New Roman" panose="02020603050405020304" pitchFamily="18" charset="0"/>
              </a:rPr>
              <a:t>对</a:t>
            </a:r>
            <a:r>
              <a:rPr lang="zh-CN" altLang="en-US" sz="1000" dirty="0">
                <a:solidFill>
                  <a:srgbClr val="002060"/>
                </a:solidFill>
                <a:latin typeface="Times New Roman" panose="02020603050405020304" pitchFamily="18" charset="0"/>
                <a:cs typeface="Times New Roman" panose="02020603050405020304" pitchFamily="18" charset="0"/>
              </a:rPr>
              <a:t>之间</a:t>
            </a:r>
            <a:r>
              <a:rPr lang="ja-JP" altLang="en-US" sz="1000" dirty="0">
                <a:solidFill>
                  <a:srgbClr val="002060"/>
                </a:solidFill>
                <a:latin typeface="Times New Roman" panose="02020603050405020304" pitchFamily="18" charset="0"/>
                <a:cs typeface="Times New Roman" panose="02020603050405020304" pitchFamily="18" charset="0"/>
              </a:rPr>
              <a:t>的</a:t>
            </a:r>
            <a:r>
              <a:rPr lang="zh-CN" altLang="en-US" sz="1000" dirty="0">
                <a:solidFill>
                  <a:srgbClr val="002060"/>
                </a:solidFill>
                <a:latin typeface="Times New Roman" panose="02020603050405020304" pitchFamily="18" charset="0"/>
                <a:cs typeface="Times New Roman" panose="02020603050405020304" pitchFamily="18" charset="0"/>
              </a:rPr>
              <a:t>销</a:t>
            </a:r>
            <a:r>
              <a:rPr lang="ja-JP" altLang="en-US" sz="1000" dirty="0">
                <a:solidFill>
                  <a:srgbClr val="002060"/>
                </a:solidFill>
                <a:latin typeface="Times New Roman" panose="02020603050405020304" pitchFamily="18" charset="0"/>
                <a:cs typeface="Times New Roman" panose="02020603050405020304" pitchFamily="18" charset="0"/>
              </a:rPr>
              <a:t>货数 </a:t>
            </a:r>
            <a:r>
              <a:rPr lang="en-US" altLang="ja-JP" sz="1000" dirty="0">
                <a:solidFill>
                  <a:srgbClr val="002060"/>
                </a:solidFill>
                <a:latin typeface="Times New Roman" panose="02020603050405020304" pitchFamily="18" charset="0"/>
                <a:cs typeface="Times New Roman" panose="02020603050405020304" pitchFamily="18" charset="0"/>
              </a:rPr>
              <a:t>).</a:t>
            </a:r>
          </a:p>
          <a:p>
            <a:pPr>
              <a:spcBef>
                <a:spcPts val="600"/>
              </a:spcBef>
            </a:pPr>
            <a:r>
              <a:rPr lang="en-US" altLang="zh-CN" sz="14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002060"/>
                </a:solidFill>
                <a:latin typeface="Times New Roman" panose="02020603050405020304" pitchFamily="18" charset="0"/>
                <a:cs typeface="Times New Roman" panose="02020603050405020304" pitchFamily="18" charset="0"/>
              </a:rPr>
              <a:t>select </a:t>
            </a:r>
            <a:r>
              <a:rPr lang="en-US" altLang="zh-CN" sz="2000" dirty="0" err="1">
                <a:solidFill>
                  <a:srgbClr val="002060"/>
                </a:solidFill>
                <a:highlight>
                  <a:srgbClr val="00FF00"/>
                </a:highlight>
                <a:latin typeface="Times New Roman" panose="02020603050405020304" pitchFamily="18" charset="0"/>
                <a:cs typeface="Times New Roman" panose="02020603050405020304" pitchFamily="18" charset="0"/>
              </a:rPr>
              <a:t>pid</a:t>
            </a:r>
            <a:r>
              <a:rPr lang="en-US" altLang="zh-CN" sz="2000" dirty="0">
                <a:solidFill>
                  <a:srgbClr val="002060"/>
                </a:solidFill>
                <a:highlight>
                  <a:srgbClr val="00FF00"/>
                </a:highlight>
                <a:latin typeface="Times New Roman" panose="02020603050405020304" pitchFamily="18" charset="0"/>
                <a:cs typeface="Times New Roman" panose="02020603050405020304" pitchFamily="18" charset="0"/>
              </a:rPr>
              <a:t>, </a:t>
            </a:r>
            <a:r>
              <a:rPr lang="en-US" altLang="zh-CN" sz="2000" dirty="0" err="1">
                <a:solidFill>
                  <a:srgbClr val="002060"/>
                </a:solidFill>
                <a:highlight>
                  <a:srgbClr val="00FF00"/>
                </a:highlight>
                <a:latin typeface="Times New Roman" panose="02020603050405020304" pitchFamily="18" charset="0"/>
                <a:cs typeface="Times New Roman" panose="02020603050405020304" pitchFamily="18" charset="0"/>
              </a:rPr>
              <a:t>cid</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sum</a:t>
            </a:r>
            <a:r>
              <a:rPr lang="en-US" altLang="zh-CN" sz="2000" dirty="0">
                <a:solidFill>
                  <a:srgbClr val="002060"/>
                </a:solidFill>
                <a:latin typeface="Times New Roman" panose="02020603050405020304" pitchFamily="18" charset="0"/>
                <a:cs typeface="Times New Roman" panose="02020603050405020304" pitchFamily="18" charset="0"/>
              </a:rPr>
              <a:t>(</a:t>
            </a:r>
            <a:r>
              <a:rPr lang="en-US" altLang="zh-CN" sz="2000" dirty="0">
                <a:solidFill>
                  <a:srgbClr val="C00000"/>
                </a:solidFill>
                <a:latin typeface="Times New Roman" panose="02020603050405020304" pitchFamily="18" charset="0"/>
                <a:cs typeface="Times New Roman" panose="02020603050405020304" pitchFamily="18" charset="0"/>
              </a:rPr>
              <a:t>qty</a:t>
            </a:r>
            <a:r>
              <a:rPr lang="en-US" altLang="zh-CN" sz="2000" dirty="0">
                <a:solidFill>
                  <a:srgbClr val="002060"/>
                </a:solidFill>
                <a:latin typeface="Times New Roman" panose="02020603050405020304" pitchFamily="18" charset="0"/>
                <a:cs typeface="Times New Roman" panose="02020603050405020304" pitchFamily="18" charset="0"/>
              </a:rPr>
              <a:t>) as </a:t>
            </a:r>
            <a:r>
              <a:rPr lang="en-US" altLang="zh-CN" sz="2000" dirty="0">
                <a:solidFill>
                  <a:srgbClr val="C00000"/>
                </a:solidFill>
                <a:latin typeface="Times New Roman" panose="02020603050405020304" pitchFamily="18" charset="0"/>
                <a:cs typeface="Times New Roman" panose="02020603050405020304" pitchFamily="18" charset="0"/>
              </a:rPr>
              <a:t>TOTAL</a:t>
            </a:r>
            <a:r>
              <a:rPr lang="en-US" altLang="zh-CN" sz="2000" dirty="0">
                <a:solidFill>
                  <a:srgbClr val="002060"/>
                </a:solidFill>
                <a:latin typeface="Times New Roman" panose="02020603050405020304" pitchFamily="18" charset="0"/>
                <a:cs typeface="Times New Roman" panose="02020603050405020304" pitchFamily="18" charset="0"/>
              </a:rPr>
              <a:t> from orders </a:t>
            </a:r>
            <a:r>
              <a:rPr lang="en-US" altLang="zh-CN" sz="2000" dirty="0">
                <a:solidFill>
                  <a:srgbClr val="C00000"/>
                </a:solidFill>
                <a:highlight>
                  <a:srgbClr val="FFFF00"/>
                </a:highlight>
                <a:latin typeface="Times New Roman" panose="02020603050405020304" pitchFamily="18" charset="0"/>
                <a:cs typeface="Times New Roman" panose="02020603050405020304" pitchFamily="18" charset="0"/>
              </a:rPr>
              <a:t>group</a:t>
            </a:r>
            <a:r>
              <a:rPr lang="en-US" altLang="zh-CN" sz="2000" dirty="0">
                <a:solidFill>
                  <a:srgbClr val="7030A0"/>
                </a:solidFill>
                <a:highlight>
                  <a:srgbClr val="FFFF00"/>
                </a:highlight>
                <a:latin typeface="Times New Roman" panose="02020603050405020304" pitchFamily="18" charset="0"/>
                <a:cs typeface="Times New Roman" panose="02020603050405020304" pitchFamily="18" charset="0"/>
              </a:rPr>
              <a:t> </a:t>
            </a:r>
            <a:r>
              <a:rPr lang="en-US" altLang="zh-CN" sz="2000" dirty="0">
                <a:solidFill>
                  <a:srgbClr val="C00000"/>
                </a:solidFill>
                <a:highlight>
                  <a:srgbClr val="FFFF00"/>
                </a:highlight>
                <a:latin typeface="Times New Roman" panose="02020603050405020304" pitchFamily="18" charset="0"/>
                <a:cs typeface="Times New Roman" panose="02020603050405020304" pitchFamily="18" charset="0"/>
              </a:rPr>
              <a:t>by</a:t>
            </a:r>
            <a:r>
              <a:rPr lang="en-US" altLang="zh-CN" sz="2000" dirty="0">
                <a:solidFill>
                  <a:srgbClr val="7030A0"/>
                </a:solidFill>
                <a:latin typeface="Times New Roman" panose="02020603050405020304" pitchFamily="18" charset="0"/>
                <a:cs typeface="Times New Roman" panose="02020603050405020304" pitchFamily="18" charset="0"/>
              </a:rPr>
              <a:t> </a:t>
            </a:r>
            <a:r>
              <a:rPr lang="en-US" altLang="zh-CN" sz="2000" dirty="0" err="1">
                <a:solidFill>
                  <a:srgbClr val="002060"/>
                </a:solidFill>
                <a:highlight>
                  <a:srgbClr val="00FF00"/>
                </a:highlight>
                <a:latin typeface="Times New Roman" panose="02020603050405020304" pitchFamily="18" charset="0"/>
                <a:cs typeface="Times New Roman" panose="02020603050405020304" pitchFamily="18" charset="0"/>
              </a:rPr>
              <a:t>pid</a:t>
            </a:r>
            <a:r>
              <a:rPr lang="en-US" altLang="zh-CN" sz="2000" dirty="0">
                <a:solidFill>
                  <a:srgbClr val="002060"/>
                </a:solidFill>
                <a:highlight>
                  <a:srgbClr val="00FF00"/>
                </a:highlight>
                <a:latin typeface="Times New Roman" panose="02020603050405020304" pitchFamily="18" charset="0"/>
                <a:cs typeface="Times New Roman" panose="02020603050405020304" pitchFamily="18" charset="0"/>
              </a:rPr>
              <a:t>, </a:t>
            </a:r>
            <a:r>
              <a:rPr lang="en-US" altLang="zh-CN" sz="2000" dirty="0" err="1">
                <a:solidFill>
                  <a:srgbClr val="002060"/>
                </a:solidFill>
                <a:highlight>
                  <a:srgbClr val="00FF00"/>
                </a:highlight>
                <a:latin typeface="Times New Roman" panose="02020603050405020304" pitchFamily="18" charset="0"/>
                <a:cs typeface="Times New Roman" panose="02020603050405020304" pitchFamily="18" charset="0"/>
              </a:rPr>
              <a:t>cid</a:t>
            </a:r>
            <a:r>
              <a:rPr lang="en-US" altLang="zh-CN" sz="2200" dirty="0">
                <a:solidFill>
                  <a:srgbClr val="002060"/>
                </a:solidFill>
                <a:latin typeface="Times New Roman" panose="02020603050405020304" pitchFamily="18" charset="0"/>
                <a:cs typeface="Times New Roman" panose="02020603050405020304" pitchFamily="18" charset="0"/>
              </a:rPr>
              <a:t>;</a:t>
            </a:r>
          </a:p>
        </p:txBody>
      </p:sp>
      <p:sp>
        <p:nvSpPr>
          <p:cNvPr id="4" name="矩形 3">
            <a:extLst>
              <a:ext uri="{FF2B5EF4-FFF2-40B4-BE49-F238E27FC236}">
                <a16:creationId xmlns="" xmlns:a16="http://schemas.microsoft.com/office/drawing/2014/main" id="{5E72BDCE-B384-499C-84A3-F1995484C832}"/>
              </a:ext>
            </a:extLst>
          </p:cNvPr>
          <p:cNvSpPr/>
          <p:nvPr/>
        </p:nvSpPr>
        <p:spPr>
          <a:xfrm>
            <a:off x="107503" y="912980"/>
            <a:ext cx="6552729" cy="461665"/>
          </a:xfrm>
          <a:prstGeom prst="rect">
            <a:avLst/>
          </a:prstGeom>
          <a:solidFill>
            <a:srgbClr val="FFC000"/>
          </a:solidFill>
          <a:scene3d>
            <a:camera prst="orthographicFront"/>
            <a:lightRig rig="threePt" dir="t"/>
          </a:scene3d>
          <a:sp3d>
            <a:bevelT/>
          </a:sp3d>
        </p:spPr>
        <p:style>
          <a:lnRef idx="1">
            <a:schemeClr val="accent6"/>
          </a:lnRef>
          <a:fillRef idx="2">
            <a:schemeClr val="accent6"/>
          </a:fillRef>
          <a:effectRef idx="1">
            <a:schemeClr val="accent6"/>
          </a:effectRef>
          <a:fontRef idx="minor">
            <a:schemeClr val="dk1"/>
          </a:fontRef>
        </p:style>
        <p:txBody>
          <a:bodyPr wrap="square">
            <a:spAutoFit/>
          </a:bodyPr>
          <a:lstStyle/>
          <a:p>
            <a:pPr marL="342900" indent="-342900">
              <a:spcBef>
                <a:spcPts val="1800"/>
              </a:spcBef>
              <a:buFont typeface="Wingdings" panose="05000000000000000000" pitchFamily="2" charset="2"/>
              <a:buChar char="l"/>
            </a:pPr>
            <a:r>
              <a:rPr lang="en-US" altLang="zh-CN" sz="2400" i="1" dirty="0">
                <a:solidFill>
                  <a:srgbClr val="002060"/>
                </a:solidFill>
                <a:cs typeface="Times New Roman" pitchFamily="18" charset="0"/>
              </a:rPr>
              <a:t>How to </a:t>
            </a:r>
            <a:r>
              <a:rPr lang="en-US" altLang="zh-CN" sz="2400" i="1" dirty="0">
                <a:solidFill>
                  <a:srgbClr val="C00000"/>
                </a:solidFill>
                <a:cs typeface="Times New Roman" pitchFamily="18" charset="0"/>
              </a:rPr>
              <a:t>classify the Data in different groups</a:t>
            </a:r>
            <a:r>
              <a:rPr lang="en-US" altLang="zh-CN" sz="2400" i="1" dirty="0">
                <a:solidFill>
                  <a:srgbClr val="002060"/>
                </a:solidFill>
                <a:cs typeface="Times New Roman" pitchFamily="18" charset="0"/>
              </a:rPr>
              <a:t>?</a:t>
            </a:r>
            <a:endParaRPr lang="en-US" altLang="zh-CN" sz="2400" i="1" dirty="0">
              <a:solidFill>
                <a:srgbClr val="7030A0"/>
              </a:solidFill>
              <a:cs typeface="Times New Roman" pitchFamily="18" charset="0"/>
            </a:endParaRPr>
          </a:p>
        </p:txBody>
      </p:sp>
      <p:pic>
        <p:nvPicPr>
          <p:cNvPr id="5" name="图片 4">
            <a:extLst>
              <a:ext uri="{FF2B5EF4-FFF2-40B4-BE49-F238E27FC236}">
                <a16:creationId xmlns="" xmlns:a16="http://schemas.microsoft.com/office/drawing/2014/main" id="{18E9D9E1-18F5-438A-AFE5-8663DEF4E9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28184" y="690286"/>
            <a:ext cx="561975" cy="684359"/>
          </a:xfrm>
          <a:prstGeom prst="rect">
            <a:avLst/>
          </a:prstGeom>
        </p:spPr>
      </p:pic>
      <p:pic>
        <p:nvPicPr>
          <p:cNvPr id="6" name="图片 5">
            <a:extLst>
              <a:ext uri="{FF2B5EF4-FFF2-40B4-BE49-F238E27FC236}">
                <a16:creationId xmlns="" xmlns:a16="http://schemas.microsoft.com/office/drawing/2014/main" id="{6E7D7968-D1B6-4DE6-ABE5-447DC35070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68144" y="5541413"/>
            <a:ext cx="3024333" cy="581918"/>
          </a:xfrm>
          <a:prstGeom prst="rect">
            <a:avLst/>
          </a:prstGeom>
        </p:spPr>
      </p:pic>
      <p:cxnSp>
        <p:nvCxnSpPr>
          <p:cNvPr id="7" name="直接箭头连接符 6">
            <a:extLst>
              <a:ext uri="{FF2B5EF4-FFF2-40B4-BE49-F238E27FC236}">
                <a16:creationId xmlns="" xmlns:a16="http://schemas.microsoft.com/office/drawing/2014/main" id="{36F9FF4C-FCAB-42CF-A812-B7EEEC0BF686}"/>
              </a:ext>
            </a:extLst>
          </p:cNvPr>
          <p:cNvCxnSpPr>
            <a:cxnSpLocks/>
          </p:cNvCxnSpPr>
          <p:nvPr/>
        </p:nvCxnSpPr>
        <p:spPr bwMode="auto">
          <a:xfrm>
            <a:off x="7884368" y="5368969"/>
            <a:ext cx="0" cy="504801"/>
          </a:xfrm>
          <a:prstGeom prst="straightConnector1">
            <a:avLst/>
          </a:prstGeom>
          <a:ln w="57150">
            <a:solidFill>
              <a:srgbClr val="0438DE"/>
            </a:solidFill>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8" name="文本框 7">
            <a:extLst>
              <a:ext uri="{FF2B5EF4-FFF2-40B4-BE49-F238E27FC236}">
                <a16:creationId xmlns="" xmlns:a16="http://schemas.microsoft.com/office/drawing/2014/main" id="{20F0F9CA-DBCD-4EAC-A559-98512626BA2F}"/>
              </a:ext>
            </a:extLst>
          </p:cNvPr>
          <p:cNvSpPr txBox="1"/>
          <p:nvPr/>
        </p:nvSpPr>
        <p:spPr>
          <a:xfrm>
            <a:off x="7668344" y="6093296"/>
            <a:ext cx="1107996" cy="584775"/>
          </a:xfrm>
          <a:prstGeom prst="rect">
            <a:avLst/>
          </a:prstGeom>
          <a:noFill/>
        </p:spPr>
        <p:txBody>
          <a:bodyPr wrap="none" rtlCol="0">
            <a:spAutoFit/>
          </a:bodyPr>
          <a:lstStyle/>
          <a:p>
            <a:r>
              <a:rPr lang="zh-CN" altLang="en-US"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两级分组</a:t>
            </a:r>
            <a:endParaRPr lang="en-US" altLang="zh-CN"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  组内求和</a:t>
            </a:r>
          </a:p>
        </p:txBody>
      </p:sp>
      <p:cxnSp>
        <p:nvCxnSpPr>
          <p:cNvPr id="9" name="直接箭头连接符 8">
            <a:extLst>
              <a:ext uri="{FF2B5EF4-FFF2-40B4-BE49-F238E27FC236}">
                <a16:creationId xmlns="" xmlns:a16="http://schemas.microsoft.com/office/drawing/2014/main" id="{78CF5DA2-E962-40E5-BA28-9AC9A05742C7}"/>
              </a:ext>
            </a:extLst>
          </p:cNvPr>
          <p:cNvCxnSpPr>
            <a:cxnSpLocks/>
          </p:cNvCxnSpPr>
          <p:nvPr/>
        </p:nvCxnSpPr>
        <p:spPr bwMode="auto">
          <a:xfrm>
            <a:off x="7164288" y="5541413"/>
            <a:ext cx="0" cy="353837"/>
          </a:xfrm>
          <a:prstGeom prst="straightConnector1">
            <a:avLst/>
          </a:prstGeom>
          <a:ln w="57150">
            <a:solidFill>
              <a:srgbClr val="0438DE"/>
            </a:solidFill>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11" name="矩形: 圆角 10">
            <a:extLst>
              <a:ext uri="{FF2B5EF4-FFF2-40B4-BE49-F238E27FC236}">
                <a16:creationId xmlns="" xmlns:a16="http://schemas.microsoft.com/office/drawing/2014/main" id="{51D911F5-EB65-4957-9212-0B8BFC559FEA}"/>
              </a:ext>
            </a:extLst>
          </p:cNvPr>
          <p:cNvSpPr/>
          <p:nvPr/>
        </p:nvSpPr>
        <p:spPr bwMode="auto">
          <a:xfrm>
            <a:off x="8071840" y="5832595"/>
            <a:ext cx="316582" cy="288032"/>
          </a:xfrm>
          <a:prstGeom prst="roundRect">
            <a:avLst/>
          </a:prstGeom>
          <a:noFill/>
          <a:ln w="38100">
            <a:prstDash val="sysDot"/>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animEffect transition="in" filter="wipe(left)">
                                      <p:cBhvr>
                                        <p:cTn id="11" dur="500"/>
                                        <p:tgtEl>
                                          <p:spTgt spid="3">
                                            <p:txEl>
                                              <p:pRg st="7" end="7"/>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wipe(left)">
                                      <p:cBhvr>
                                        <p:cTn id="16" dur="500"/>
                                        <p:tgtEl>
                                          <p:spTgt spid="6"/>
                                        </p:tgtEl>
                                      </p:cBhvr>
                                    </p:animEffect>
                                  </p:childTnLst>
                                </p:cTn>
                              </p:par>
                            </p:childTnLst>
                          </p:cTn>
                        </p:par>
                        <p:par>
                          <p:cTn id="17" fill="hold">
                            <p:stCondLst>
                              <p:cond delay="500"/>
                            </p:stCondLst>
                            <p:childTnLst>
                              <p:par>
                                <p:cTn id="18" presetID="22" presetClass="entr" presetSubtype="1" fill="hold" nodeType="after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wipe(up)">
                                      <p:cBhvr>
                                        <p:cTn id="20" dur="500"/>
                                        <p:tgtEl>
                                          <p:spTgt spid="7"/>
                                        </p:tgtEl>
                                      </p:cBhvr>
                                    </p:animEffect>
                                  </p:childTnLst>
                                </p:cTn>
                              </p:par>
                            </p:childTnLst>
                          </p:cTn>
                        </p:par>
                        <p:par>
                          <p:cTn id="21" fill="hold">
                            <p:stCondLst>
                              <p:cond delay="1000"/>
                            </p:stCondLst>
                            <p:childTnLst>
                              <p:par>
                                <p:cTn id="22" presetID="22" presetClass="entr" presetSubtype="1" fill="hold" nodeType="after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up)">
                                      <p:cBhvr>
                                        <p:cTn id="24" dur="500"/>
                                        <p:tgtEl>
                                          <p:spTgt spid="9"/>
                                        </p:tgtEl>
                                      </p:cBhvr>
                                    </p:animEffect>
                                  </p:childTnLst>
                                </p:cTn>
                              </p:par>
                            </p:childTnLst>
                          </p:cTn>
                        </p:par>
                        <p:par>
                          <p:cTn id="25" fill="hold">
                            <p:stCondLst>
                              <p:cond delay="1500"/>
                            </p:stCondLst>
                            <p:childTnLst>
                              <p:par>
                                <p:cTn id="26" presetID="22" presetClass="entr" presetSubtype="8" fill="hold" grpId="0" nodeType="after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wipe(left)">
                                      <p:cBhvr>
                                        <p:cTn id="28" dur="500"/>
                                        <p:tgtEl>
                                          <p:spTgt spid="8"/>
                                        </p:tgtEl>
                                      </p:cBhvr>
                                    </p:animEffect>
                                  </p:childTnLst>
                                </p:cTn>
                              </p:par>
                            </p:childTnLst>
                          </p:cTn>
                        </p:par>
                        <p:par>
                          <p:cTn id="29" fill="hold">
                            <p:stCondLst>
                              <p:cond delay="2000"/>
                            </p:stCondLst>
                            <p:childTnLst>
                              <p:par>
                                <p:cTn id="30" presetID="21" presetClass="entr" presetSubtype="1" fill="hold" grpId="0" nodeType="after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heel(1)">
                                      <p:cBhvr>
                                        <p:cTn id="32" dur="20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nodeType="clickEffect">
                                  <p:stCondLst>
                                    <p:cond delay="0"/>
                                  </p:stCondLst>
                                  <p:childTnLst>
                                    <p:set>
                                      <p:cBhvr>
                                        <p:cTn id="36" dur="1" fill="hold">
                                          <p:stCondLst>
                                            <p:cond delay="0"/>
                                          </p:stCondLst>
                                        </p:cTn>
                                        <p:tgtEl>
                                          <p:spTgt spid="3">
                                            <p:txEl>
                                              <p:pRg st="8" end="8"/>
                                            </p:txEl>
                                          </p:spTgt>
                                        </p:tgtEl>
                                        <p:attrNameLst>
                                          <p:attrName>style.visibility</p:attrName>
                                        </p:attrNameLst>
                                      </p:cBhvr>
                                      <p:to>
                                        <p:strVal val="visible"/>
                                      </p:to>
                                    </p:set>
                                    <p:animEffect transition="in" filter="wipe(left)">
                                      <p:cBhvr>
                                        <p:cTn id="3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1"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图片 17">
            <a:extLst>
              <a:ext uri="{FF2B5EF4-FFF2-40B4-BE49-F238E27FC236}">
                <a16:creationId xmlns="" xmlns:a16="http://schemas.microsoft.com/office/drawing/2014/main" id="{F116055F-537E-466A-8208-0E379443B6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18493" y="1804845"/>
            <a:ext cx="2837483" cy="561345"/>
          </a:xfrm>
          <a:prstGeom prst="rect">
            <a:avLst/>
          </a:prstGeom>
        </p:spPr>
      </p:pic>
      <p:sp>
        <p:nvSpPr>
          <p:cNvPr id="3" name="Rectangle 2"/>
          <p:cNvSpPr/>
          <p:nvPr/>
        </p:nvSpPr>
        <p:spPr>
          <a:xfrm>
            <a:off x="36512" y="908720"/>
            <a:ext cx="9107488" cy="832279"/>
          </a:xfrm>
          <a:prstGeom prst="rect">
            <a:avLst/>
          </a:prstGeom>
        </p:spPr>
        <p:txBody>
          <a:bodyPr wrap="square">
            <a:spAutoFit/>
          </a:bodyPr>
          <a:lstStyle/>
          <a:p>
            <a:pPr>
              <a:lnSpc>
                <a:spcPct val="120000"/>
              </a:lnSpc>
              <a:spcBef>
                <a:spcPts val="600"/>
              </a:spcBef>
            </a:pPr>
            <a:r>
              <a:rPr lang="en-US" sz="2200" dirty="0">
                <a:solidFill>
                  <a:srgbClr val="7030A0"/>
                </a:solidFill>
                <a:latin typeface="Times New Roman" panose="02020603050405020304" pitchFamily="18" charset="0"/>
                <a:cs typeface="Times New Roman" panose="02020603050405020304" pitchFamily="18" charset="0"/>
              </a:rPr>
              <a:t>3.Example 3.8.2  </a:t>
            </a:r>
            <a:r>
              <a:rPr lang="en-US" sz="2000" dirty="0">
                <a:solidFill>
                  <a:srgbClr val="7030A0"/>
                </a:solidFill>
                <a:latin typeface="Arial Narrow" panose="020B0606020202030204" pitchFamily="34" charset="0"/>
                <a:cs typeface="Arial" panose="020B0604020202020204" pitchFamily="34" charset="0"/>
              </a:rPr>
              <a:t>Print out the </a:t>
            </a:r>
            <a:r>
              <a:rPr lang="en-US" sz="2000" dirty="0" err="1">
                <a:solidFill>
                  <a:srgbClr val="7030A0"/>
                </a:solidFill>
                <a:latin typeface="Arial Narrow" panose="020B0606020202030204" pitchFamily="34" charset="0"/>
                <a:cs typeface="Arial" panose="020B0604020202020204" pitchFamily="34" charset="0"/>
              </a:rPr>
              <a:t>aname</a:t>
            </a:r>
            <a:r>
              <a:rPr lang="en-US" sz="2000" dirty="0">
                <a:solidFill>
                  <a:srgbClr val="7030A0"/>
                </a:solidFill>
                <a:latin typeface="Arial Narrow" panose="020B0606020202030204" pitchFamily="34" charset="0"/>
                <a:cs typeface="Arial" panose="020B0604020202020204" pitchFamily="34" charset="0"/>
              </a:rPr>
              <a:t>, aid, </a:t>
            </a:r>
            <a:r>
              <a:rPr lang="en-US" sz="2000" dirty="0" err="1">
                <a:solidFill>
                  <a:srgbClr val="7030A0"/>
                </a:solidFill>
                <a:latin typeface="Arial Narrow" panose="020B0606020202030204" pitchFamily="34" charset="0"/>
                <a:cs typeface="Arial" panose="020B0604020202020204" pitchFamily="34" charset="0"/>
              </a:rPr>
              <a:t>pname</a:t>
            </a:r>
            <a:r>
              <a:rPr lang="en-US" sz="2000" dirty="0">
                <a:solidFill>
                  <a:srgbClr val="7030A0"/>
                </a:solidFill>
                <a:latin typeface="Arial Narrow" panose="020B0606020202030204" pitchFamily="34" charset="0"/>
                <a:cs typeface="Arial" panose="020B0604020202020204" pitchFamily="34" charset="0"/>
              </a:rPr>
              <a:t>, </a:t>
            </a:r>
            <a:r>
              <a:rPr lang="en-US" sz="2000" dirty="0" err="1">
                <a:solidFill>
                  <a:srgbClr val="7030A0"/>
                </a:solidFill>
                <a:latin typeface="Arial Narrow" panose="020B0606020202030204" pitchFamily="34" charset="0"/>
                <a:cs typeface="Arial" panose="020B0604020202020204" pitchFamily="34" charset="0"/>
              </a:rPr>
              <a:t>pid</a:t>
            </a:r>
            <a:r>
              <a:rPr lang="en-US" sz="2000" dirty="0">
                <a:solidFill>
                  <a:srgbClr val="7030A0"/>
                </a:solidFill>
                <a:latin typeface="Arial Narrow" panose="020B0606020202030204" pitchFamily="34" charset="0"/>
                <a:cs typeface="Arial" panose="020B0604020202020204" pitchFamily="34" charset="0"/>
              </a:rPr>
              <a:t> together with the total quantity each agent supplies of that product to customers c002 and c003.</a:t>
            </a:r>
          </a:p>
        </p:txBody>
      </p:sp>
      <p:sp>
        <p:nvSpPr>
          <p:cNvPr id="4" name="Rectangle 1"/>
          <p:cNvSpPr/>
          <p:nvPr/>
        </p:nvSpPr>
        <p:spPr>
          <a:xfrm>
            <a:off x="911484" y="116632"/>
            <a:ext cx="6252804"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3.8 Group of rows in SQL</a:t>
            </a:r>
          </a:p>
        </p:txBody>
      </p:sp>
      <p:sp>
        <p:nvSpPr>
          <p:cNvPr id="5" name="Rectangle 2">
            <a:extLst>
              <a:ext uri="{FF2B5EF4-FFF2-40B4-BE49-F238E27FC236}">
                <a16:creationId xmlns="" xmlns:a16="http://schemas.microsoft.com/office/drawing/2014/main" id="{14D9DCAC-B92B-4302-8A2D-D8134A58AA59}"/>
              </a:ext>
            </a:extLst>
          </p:cNvPr>
          <p:cNvSpPr/>
          <p:nvPr/>
        </p:nvSpPr>
        <p:spPr>
          <a:xfrm>
            <a:off x="107504" y="3645024"/>
            <a:ext cx="9107488" cy="2100575"/>
          </a:xfrm>
          <a:prstGeom prst="rect">
            <a:avLst/>
          </a:prstGeom>
        </p:spPr>
        <p:txBody>
          <a:bodyPr wrap="square">
            <a:spAutoFit/>
          </a:bodyPr>
          <a:lstStyle/>
          <a:p>
            <a:pPr>
              <a:spcBef>
                <a:spcPts val="0"/>
              </a:spcBef>
            </a:pPr>
            <a:endParaRPr lang="en-US" sz="2000" dirty="0">
              <a:solidFill>
                <a:srgbClr val="7030A0"/>
              </a:solidFill>
              <a:latin typeface="+mn-lt"/>
              <a:cs typeface="Times New Roman" panose="02020603050405020304" pitchFamily="18" charset="0"/>
            </a:endParaRPr>
          </a:p>
          <a:p>
            <a:pPr>
              <a:spcBef>
                <a:spcPts val="900"/>
              </a:spcBef>
            </a:pP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select</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err="1">
                <a:solidFill>
                  <a:srgbClr val="002060"/>
                </a:solidFill>
                <a:latin typeface="Times New Roman" panose="02020603050405020304" pitchFamily="18" charset="0"/>
                <a:cs typeface="Times New Roman" panose="02020603050405020304" pitchFamily="18" charset="0"/>
              </a:rPr>
              <a:t>aname</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err="1">
                <a:solidFill>
                  <a:srgbClr val="C00000"/>
                </a:solidFill>
                <a:highlight>
                  <a:srgbClr val="E9FFF0"/>
                </a:highlight>
                <a:latin typeface="Times New Roman" panose="02020603050405020304" pitchFamily="18" charset="0"/>
                <a:cs typeface="Times New Roman" panose="02020603050405020304" pitchFamily="18" charset="0"/>
              </a:rPr>
              <a:t>a.aid</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err="1">
                <a:solidFill>
                  <a:srgbClr val="002060"/>
                </a:solidFill>
                <a:latin typeface="Times New Roman" panose="02020603050405020304" pitchFamily="18" charset="0"/>
                <a:cs typeface="Times New Roman" panose="02020603050405020304" pitchFamily="18" charset="0"/>
              </a:rPr>
              <a:t>pname</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err="1">
                <a:solidFill>
                  <a:srgbClr val="C00000"/>
                </a:solidFill>
                <a:highlight>
                  <a:srgbClr val="E9FFF0"/>
                </a:highlight>
                <a:latin typeface="Times New Roman" panose="02020603050405020304" pitchFamily="18" charset="0"/>
                <a:cs typeface="Times New Roman" panose="02020603050405020304" pitchFamily="18" charset="0"/>
              </a:rPr>
              <a:t>p.pid</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sum(</a:t>
            </a:r>
            <a:r>
              <a:rPr lang="en-US" sz="2200" dirty="0" err="1">
                <a:solidFill>
                  <a:srgbClr val="C00000"/>
                </a:solidFill>
                <a:latin typeface="Times New Roman" panose="02020603050405020304" pitchFamily="18" charset="0"/>
                <a:cs typeface="Times New Roman" panose="02020603050405020304" pitchFamily="18" charset="0"/>
              </a:rPr>
              <a:t>qty</a:t>
            </a:r>
            <a:r>
              <a:rPr lang="en-US" sz="2200" dirty="0">
                <a:solidFill>
                  <a:srgbClr val="C00000"/>
                </a:solidFill>
                <a:latin typeface="Times New Roman" panose="02020603050405020304" pitchFamily="18" charset="0"/>
                <a:cs typeface="Times New Roman" panose="02020603050405020304" pitchFamily="18" charset="0"/>
              </a:rPr>
              <a:t>) </a:t>
            </a:r>
            <a:r>
              <a:rPr lang="en-US" sz="2200" dirty="0">
                <a:solidFill>
                  <a:srgbClr val="002060"/>
                </a:solidFill>
                <a:latin typeface="Times New Roman" panose="02020603050405020304" pitchFamily="18" charset="0"/>
                <a:cs typeface="Times New Roman" panose="02020603050405020304" pitchFamily="18" charset="0"/>
              </a:rPr>
              <a:t>as</a:t>
            </a:r>
            <a:r>
              <a:rPr lang="en-US" sz="2200" dirty="0">
                <a:solidFill>
                  <a:srgbClr val="C00000"/>
                </a:solidFill>
                <a:latin typeface="Times New Roman" panose="02020603050405020304" pitchFamily="18" charset="0"/>
                <a:cs typeface="Times New Roman" panose="02020603050405020304" pitchFamily="18" charset="0"/>
              </a:rPr>
              <a:t> </a:t>
            </a:r>
            <a:r>
              <a:rPr lang="en-US" sz="2200" dirty="0" err="1">
                <a:solidFill>
                  <a:srgbClr val="C00000"/>
                </a:solidFill>
                <a:latin typeface="Times New Roman" panose="02020603050405020304" pitchFamily="18" charset="0"/>
                <a:cs typeface="Times New Roman" panose="02020603050405020304" pitchFamily="18" charset="0"/>
              </a:rPr>
              <a:t>total_qty</a:t>
            </a:r>
            <a:endParaRPr lang="en-US" sz="2200" dirty="0">
              <a:solidFill>
                <a:srgbClr val="C00000"/>
              </a:solidFill>
              <a:latin typeface="Times New Roman" panose="02020603050405020304" pitchFamily="18" charset="0"/>
              <a:cs typeface="Times New Roman" panose="02020603050405020304" pitchFamily="18" charset="0"/>
            </a:endParaRPr>
          </a:p>
          <a:p>
            <a:pPr>
              <a:spcBef>
                <a:spcPts val="600"/>
              </a:spcBef>
            </a:pP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from</a:t>
            </a:r>
            <a:r>
              <a:rPr lang="en-US" sz="2200" dirty="0">
                <a:solidFill>
                  <a:srgbClr val="002060"/>
                </a:solidFill>
                <a:latin typeface="Times New Roman" panose="02020603050405020304" pitchFamily="18" charset="0"/>
                <a:cs typeface="Times New Roman" panose="02020603050405020304" pitchFamily="18" charset="0"/>
              </a:rPr>
              <a:t> agent a</a:t>
            </a:r>
            <a:r>
              <a:rPr lang="en-US" altLang="zh-CN" sz="2200" dirty="0">
                <a:solidFill>
                  <a:srgbClr val="002060"/>
                </a:solidFill>
                <a:latin typeface="Times New Roman" panose="02020603050405020304" pitchFamily="18" charset="0"/>
                <a:cs typeface="Times New Roman" panose="02020603050405020304" pitchFamily="18" charset="0"/>
              </a:rPr>
              <a:t>, products p, orders x </a:t>
            </a:r>
          </a:p>
          <a:p>
            <a:pPr>
              <a:spcBef>
                <a:spcPts val="600"/>
              </a:spcBef>
            </a:pPr>
            <a:r>
              <a:rPr lang="en-US" altLang="zh-CN" sz="2200" dirty="0">
                <a:solidFill>
                  <a:srgbClr val="7030A0"/>
                </a:solidFill>
                <a:latin typeface="Times New Roman" panose="02020603050405020304" pitchFamily="18" charset="0"/>
                <a:cs typeface="Times New Roman" panose="02020603050405020304" pitchFamily="18" charset="0"/>
              </a:rPr>
              <a:t>	where</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err="1">
                <a:solidFill>
                  <a:srgbClr val="002060"/>
                </a:solidFill>
                <a:latin typeface="Times New Roman" panose="02020603050405020304" pitchFamily="18" charset="0"/>
                <a:cs typeface="Times New Roman" panose="02020603050405020304" pitchFamily="18" charset="0"/>
              </a:rPr>
              <a:t>x.cid</a:t>
            </a:r>
            <a:r>
              <a:rPr lang="en-US" altLang="zh-CN" sz="2200" dirty="0">
                <a:solidFill>
                  <a:srgbClr val="002060"/>
                </a:solidFill>
                <a:latin typeface="Times New Roman" panose="02020603050405020304" pitchFamily="18" charset="0"/>
                <a:cs typeface="Times New Roman" panose="02020603050405020304" pitchFamily="18" charset="0"/>
              </a:rPr>
              <a:t> in (‘</a:t>
            </a:r>
            <a:r>
              <a:rPr lang="en-US" altLang="zh-CN" sz="2200" dirty="0">
                <a:solidFill>
                  <a:srgbClr val="00B050"/>
                </a:solidFill>
                <a:latin typeface="Times New Roman" panose="02020603050405020304" pitchFamily="18" charset="0"/>
                <a:cs typeface="Times New Roman" panose="02020603050405020304" pitchFamily="18" charset="0"/>
              </a:rPr>
              <a:t>c002</a:t>
            </a:r>
            <a:r>
              <a:rPr lang="en-US" altLang="zh-CN" sz="2200" dirty="0">
                <a:solidFill>
                  <a:srgbClr val="002060"/>
                </a:solidFill>
                <a:latin typeface="Times New Roman" panose="02020603050405020304" pitchFamily="18" charset="0"/>
                <a:cs typeface="Times New Roman" panose="02020603050405020304" pitchFamily="18" charset="0"/>
              </a:rPr>
              <a:t>’,’</a:t>
            </a:r>
            <a:r>
              <a:rPr lang="en-US" altLang="zh-CN" sz="2200" dirty="0">
                <a:solidFill>
                  <a:srgbClr val="00B050"/>
                </a:solidFill>
                <a:latin typeface="Times New Roman" panose="02020603050405020304" pitchFamily="18" charset="0"/>
                <a:cs typeface="Times New Roman" panose="02020603050405020304" pitchFamily="18" charset="0"/>
              </a:rPr>
              <a:t>c003</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7030A0"/>
                </a:solidFill>
                <a:latin typeface="Times New Roman" panose="02020603050405020304" pitchFamily="18" charset="0"/>
                <a:cs typeface="Times New Roman" panose="02020603050405020304" pitchFamily="18" charset="0"/>
              </a:rPr>
              <a:t>and</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err="1">
                <a:solidFill>
                  <a:srgbClr val="002060"/>
                </a:solidFill>
                <a:latin typeface="Times New Roman" panose="02020603050405020304" pitchFamily="18" charset="0"/>
                <a:cs typeface="Times New Roman" panose="02020603050405020304" pitchFamily="18" charset="0"/>
              </a:rPr>
              <a:t>x.aid</a:t>
            </a:r>
            <a:r>
              <a:rPr lang="en-US" altLang="zh-CN" sz="2200" dirty="0">
                <a:solidFill>
                  <a:srgbClr val="002060"/>
                </a:solidFill>
                <a:latin typeface="Times New Roman" panose="02020603050405020304" pitchFamily="18" charset="0"/>
                <a:cs typeface="Times New Roman" panose="02020603050405020304" pitchFamily="18" charset="0"/>
              </a:rPr>
              <a:t>=</a:t>
            </a:r>
            <a:r>
              <a:rPr lang="en-US" altLang="zh-CN" sz="2200" dirty="0" err="1">
                <a:solidFill>
                  <a:srgbClr val="002060"/>
                </a:solidFill>
                <a:latin typeface="Times New Roman" panose="02020603050405020304" pitchFamily="18" charset="0"/>
                <a:cs typeface="Times New Roman" panose="02020603050405020304" pitchFamily="18" charset="0"/>
              </a:rPr>
              <a:t>a.aid</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7030A0"/>
                </a:solidFill>
                <a:latin typeface="Times New Roman" panose="02020603050405020304" pitchFamily="18" charset="0"/>
                <a:cs typeface="Times New Roman" panose="02020603050405020304" pitchFamily="18" charset="0"/>
              </a:rPr>
              <a:t>and</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err="1">
                <a:solidFill>
                  <a:srgbClr val="002060"/>
                </a:solidFill>
                <a:latin typeface="Times New Roman" panose="02020603050405020304" pitchFamily="18" charset="0"/>
                <a:cs typeface="Times New Roman" panose="02020603050405020304" pitchFamily="18" charset="0"/>
              </a:rPr>
              <a:t>x.pid</a:t>
            </a:r>
            <a:r>
              <a:rPr lang="en-US" altLang="zh-CN" sz="2200" dirty="0">
                <a:solidFill>
                  <a:srgbClr val="002060"/>
                </a:solidFill>
                <a:latin typeface="Times New Roman" panose="02020603050405020304" pitchFamily="18" charset="0"/>
                <a:cs typeface="Times New Roman" panose="02020603050405020304" pitchFamily="18" charset="0"/>
              </a:rPr>
              <a:t>=</a:t>
            </a:r>
            <a:r>
              <a:rPr lang="en-US" altLang="zh-CN" sz="2200" dirty="0" err="1">
                <a:solidFill>
                  <a:srgbClr val="002060"/>
                </a:solidFill>
                <a:latin typeface="Times New Roman" panose="02020603050405020304" pitchFamily="18" charset="0"/>
                <a:cs typeface="Times New Roman" panose="02020603050405020304" pitchFamily="18" charset="0"/>
              </a:rPr>
              <a:t>p.pid</a:t>
            </a:r>
            <a:endParaRPr lang="en-US" altLang="zh-CN" sz="2200" dirty="0">
              <a:solidFill>
                <a:srgbClr val="002060"/>
              </a:solidFill>
              <a:latin typeface="Times New Roman" panose="02020603050405020304" pitchFamily="18" charset="0"/>
              <a:cs typeface="Times New Roman" panose="02020603050405020304" pitchFamily="18" charset="0"/>
            </a:endParaRPr>
          </a:p>
          <a:p>
            <a:pPr>
              <a:spcBef>
                <a:spcPts val="600"/>
              </a:spcBef>
            </a:pPr>
            <a:r>
              <a:rPr lang="en-US" altLang="zh-CN"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7030A0"/>
                </a:solidFill>
                <a:highlight>
                  <a:srgbClr val="E9FFF0"/>
                </a:highlight>
                <a:latin typeface="Times New Roman" panose="02020603050405020304" pitchFamily="18" charset="0"/>
                <a:cs typeface="Times New Roman" panose="02020603050405020304" pitchFamily="18" charset="0"/>
              </a:rPr>
              <a:t>group by </a:t>
            </a:r>
            <a:r>
              <a:rPr lang="en-US" sz="2200" dirty="0">
                <a:solidFill>
                  <a:srgbClr val="C00000"/>
                </a:solidFill>
                <a:highlight>
                  <a:srgbClr val="E9FFF0"/>
                </a:highlight>
                <a:latin typeface="Times New Roman" panose="02020603050405020304" pitchFamily="18" charset="0"/>
                <a:cs typeface="Times New Roman" panose="02020603050405020304" pitchFamily="18" charset="0"/>
              </a:rPr>
              <a:t>aid</a:t>
            </a:r>
            <a:r>
              <a:rPr lang="en-US" sz="2200" dirty="0">
                <a:solidFill>
                  <a:srgbClr val="002060"/>
                </a:solidFill>
                <a:highlight>
                  <a:srgbClr val="E9FFF0"/>
                </a:highlight>
                <a:latin typeface="Times New Roman" panose="02020603050405020304" pitchFamily="18" charset="0"/>
                <a:cs typeface="Times New Roman" panose="02020603050405020304" pitchFamily="18" charset="0"/>
              </a:rPr>
              <a:t>, </a:t>
            </a:r>
            <a:r>
              <a:rPr lang="en-US" sz="2200" dirty="0" err="1">
                <a:solidFill>
                  <a:srgbClr val="C00000"/>
                </a:solidFill>
                <a:highlight>
                  <a:srgbClr val="E9FFF0"/>
                </a:highlight>
                <a:latin typeface="Times New Roman" panose="02020603050405020304" pitchFamily="18" charset="0"/>
                <a:cs typeface="Times New Roman" panose="02020603050405020304" pitchFamily="18" charset="0"/>
              </a:rPr>
              <a:t>pid</a:t>
            </a:r>
            <a:r>
              <a:rPr lang="en-US" sz="2200" dirty="0">
                <a:solidFill>
                  <a:srgbClr val="002060"/>
                </a:solidFill>
                <a:latin typeface="Times New Roman" panose="02020603050405020304" pitchFamily="18" charset="0"/>
                <a:cs typeface="Times New Roman" panose="02020603050405020304" pitchFamily="18" charset="0"/>
              </a:rPr>
              <a:t>;</a:t>
            </a:r>
          </a:p>
        </p:txBody>
      </p:sp>
      <p:pic>
        <p:nvPicPr>
          <p:cNvPr id="8" name="图片 7">
            <a:extLst>
              <a:ext uri="{FF2B5EF4-FFF2-40B4-BE49-F238E27FC236}">
                <a16:creationId xmlns="" xmlns:a16="http://schemas.microsoft.com/office/drawing/2014/main" id="{36BEC3E2-1F37-4970-A52D-E2C0A62C254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44793" y="1789317"/>
            <a:ext cx="2052751" cy="606683"/>
          </a:xfrm>
          <a:prstGeom prst="rect">
            <a:avLst/>
          </a:prstGeom>
        </p:spPr>
      </p:pic>
      <p:pic>
        <p:nvPicPr>
          <p:cNvPr id="10" name="图片 9">
            <a:extLst>
              <a:ext uri="{FF2B5EF4-FFF2-40B4-BE49-F238E27FC236}">
                <a16:creationId xmlns="" xmlns:a16="http://schemas.microsoft.com/office/drawing/2014/main" id="{CD9E18CF-C911-473B-9FF0-0ABDF849913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3141" y="1789317"/>
            <a:ext cx="2443355" cy="614994"/>
          </a:xfrm>
          <a:prstGeom prst="rect">
            <a:avLst/>
          </a:prstGeom>
        </p:spPr>
      </p:pic>
      <p:sp>
        <p:nvSpPr>
          <p:cNvPr id="13" name="文本框 12">
            <a:extLst>
              <a:ext uri="{FF2B5EF4-FFF2-40B4-BE49-F238E27FC236}">
                <a16:creationId xmlns="" xmlns:a16="http://schemas.microsoft.com/office/drawing/2014/main" id="{1185D2C4-C659-4E04-BB40-0CA90191AEDD}"/>
              </a:ext>
            </a:extLst>
          </p:cNvPr>
          <p:cNvSpPr txBox="1"/>
          <p:nvPr/>
        </p:nvSpPr>
        <p:spPr>
          <a:xfrm>
            <a:off x="2473069" y="2373539"/>
            <a:ext cx="630221" cy="584775"/>
          </a:xfrm>
          <a:prstGeom prst="rect">
            <a:avLst/>
          </a:prstGeom>
          <a:noFill/>
        </p:spPr>
        <p:txBody>
          <a:bodyPr wrap="square" rtlCol="0">
            <a:spAutoFit/>
          </a:bodyPr>
          <a:lstStyle/>
          <a:p>
            <a:r>
              <a:rPr lang="en-US" altLang="zh-CN"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c002,c003</a:t>
            </a:r>
            <a:endPar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endParaRPr>
          </a:p>
        </p:txBody>
      </p:sp>
      <p:cxnSp>
        <p:nvCxnSpPr>
          <p:cNvPr id="14" name="直接箭头连接符 13">
            <a:extLst>
              <a:ext uri="{FF2B5EF4-FFF2-40B4-BE49-F238E27FC236}">
                <a16:creationId xmlns="" xmlns:a16="http://schemas.microsoft.com/office/drawing/2014/main" id="{FC7706FC-49FA-4A62-A6B5-25D6A3AB14AE}"/>
              </a:ext>
            </a:extLst>
          </p:cNvPr>
          <p:cNvCxnSpPr>
            <a:cxnSpLocks/>
          </p:cNvCxnSpPr>
          <p:nvPr/>
        </p:nvCxnSpPr>
        <p:spPr bwMode="auto">
          <a:xfrm>
            <a:off x="3059832" y="1779019"/>
            <a:ext cx="0" cy="368895"/>
          </a:xfrm>
          <a:prstGeom prst="straightConnector1">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15" name="文本框 14">
            <a:extLst>
              <a:ext uri="{FF2B5EF4-FFF2-40B4-BE49-F238E27FC236}">
                <a16:creationId xmlns="" xmlns:a16="http://schemas.microsoft.com/office/drawing/2014/main" id="{AD5AE0DD-F3BA-4E1A-8D83-BA2BB0033E9A}"/>
              </a:ext>
            </a:extLst>
          </p:cNvPr>
          <p:cNvSpPr txBox="1"/>
          <p:nvPr/>
        </p:nvSpPr>
        <p:spPr>
          <a:xfrm>
            <a:off x="3103964" y="2366190"/>
            <a:ext cx="1107996" cy="584775"/>
          </a:xfrm>
          <a:prstGeom prst="rect">
            <a:avLst/>
          </a:prstGeom>
          <a:noFill/>
        </p:spPr>
        <p:txBody>
          <a:bodyPr wrap="none" rtlCol="0">
            <a:spAutoFit/>
          </a:bodyPr>
          <a:lstStyle/>
          <a:p>
            <a:r>
              <a:rPr lang="zh-CN" altLang="en-US"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两级分组</a:t>
            </a:r>
            <a:endParaRPr lang="en-US" altLang="zh-CN"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endParaRPr>
          </a:p>
          <a:p>
            <a:r>
              <a:rPr lang="zh-CN" altLang="en-US"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  组内求和</a:t>
            </a:r>
          </a:p>
        </p:txBody>
      </p:sp>
      <p:cxnSp>
        <p:nvCxnSpPr>
          <p:cNvPr id="16" name="直接箭头连接符 15">
            <a:extLst>
              <a:ext uri="{FF2B5EF4-FFF2-40B4-BE49-F238E27FC236}">
                <a16:creationId xmlns="" xmlns:a16="http://schemas.microsoft.com/office/drawing/2014/main" id="{1D2BF398-11DF-47C4-A5DF-E989C0CB5190}"/>
              </a:ext>
            </a:extLst>
          </p:cNvPr>
          <p:cNvCxnSpPr>
            <a:cxnSpLocks/>
          </p:cNvCxnSpPr>
          <p:nvPr/>
        </p:nvCxnSpPr>
        <p:spPr bwMode="auto">
          <a:xfrm>
            <a:off x="3419872" y="1779019"/>
            <a:ext cx="0" cy="353837"/>
          </a:xfrm>
          <a:prstGeom prst="straightConnector1">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21" name="矩形: 圆角 20">
            <a:extLst>
              <a:ext uri="{FF2B5EF4-FFF2-40B4-BE49-F238E27FC236}">
                <a16:creationId xmlns="" xmlns:a16="http://schemas.microsoft.com/office/drawing/2014/main" id="{EA5C18DD-A68A-4FE5-A066-4B4480056503}"/>
              </a:ext>
            </a:extLst>
          </p:cNvPr>
          <p:cNvSpPr/>
          <p:nvPr/>
        </p:nvSpPr>
        <p:spPr bwMode="auto">
          <a:xfrm>
            <a:off x="3571342" y="2092658"/>
            <a:ext cx="316582" cy="288032"/>
          </a:xfrm>
          <a:prstGeom prst="roundRect">
            <a:avLst/>
          </a:prstGeom>
          <a:noFill/>
          <a:ln w="38100">
            <a:solidFill>
              <a:srgbClr val="FF0000"/>
            </a:solidFill>
            <a:prstDash val="sysDot"/>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22" name="箭头: 左弧形 21">
            <a:extLst>
              <a:ext uri="{FF2B5EF4-FFF2-40B4-BE49-F238E27FC236}">
                <a16:creationId xmlns="" xmlns:a16="http://schemas.microsoft.com/office/drawing/2014/main" id="{38BCAD15-CCB2-4E9D-A73E-8ACFA713FBE3}"/>
              </a:ext>
            </a:extLst>
          </p:cNvPr>
          <p:cNvSpPr/>
          <p:nvPr/>
        </p:nvSpPr>
        <p:spPr bwMode="auto">
          <a:xfrm rot="16200000">
            <a:off x="3620588" y="2117547"/>
            <a:ext cx="606681" cy="1728192"/>
          </a:xfrm>
          <a:prstGeom prst="curvedRightArrow">
            <a:avLst>
              <a:gd name="adj1" fmla="val 18193"/>
              <a:gd name="adj2" fmla="val 50000"/>
              <a:gd name="adj3" fmla="val 25000"/>
            </a:avLst>
          </a:prstGeom>
          <a:solidFill>
            <a:srgbClr val="FFFF00"/>
          </a:solidFill>
          <a:ln>
            <a:solidFill>
              <a:srgbClr val="FFFF00"/>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itchFamily="34" charset="0"/>
              <a:ea typeface="宋体" charset="-122"/>
            </a:endParaRPr>
          </a:p>
        </p:txBody>
      </p:sp>
      <p:sp>
        <p:nvSpPr>
          <p:cNvPr id="23" name="箭头: 左弧形 22">
            <a:extLst>
              <a:ext uri="{FF2B5EF4-FFF2-40B4-BE49-F238E27FC236}">
                <a16:creationId xmlns="" xmlns:a16="http://schemas.microsoft.com/office/drawing/2014/main" id="{84EF2FC4-F2C9-4EDE-814E-9E7E7F771FEE}"/>
              </a:ext>
            </a:extLst>
          </p:cNvPr>
          <p:cNvSpPr/>
          <p:nvPr/>
        </p:nvSpPr>
        <p:spPr bwMode="auto">
          <a:xfrm rot="16200000">
            <a:off x="4928018" y="1344793"/>
            <a:ext cx="440098" cy="3456384"/>
          </a:xfrm>
          <a:prstGeom prst="curvedRightArrow">
            <a:avLst/>
          </a:prstGeom>
          <a:solidFill>
            <a:srgbClr val="FFFF00"/>
          </a:solidFill>
          <a:ln>
            <a:solidFill>
              <a:srgbClr val="FFFF00"/>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itchFamily="34" charset="0"/>
              <a:ea typeface="宋体" charset="-122"/>
            </a:endParaRPr>
          </a:p>
        </p:txBody>
      </p:sp>
      <p:sp>
        <p:nvSpPr>
          <p:cNvPr id="17" name="矩形: 圆角 16">
            <a:extLst>
              <a:ext uri="{FF2B5EF4-FFF2-40B4-BE49-F238E27FC236}">
                <a16:creationId xmlns="" xmlns:a16="http://schemas.microsoft.com/office/drawing/2014/main" id="{BFF5F470-7602-45EA-BD25-B5A9CB98BC9E}"/>
              </a:ext>
            </a:extLst>
          </p:cNvPr>
          <p:cNvSpPr/>
          <p:nvPr/>
        </p:nvSpPr>
        <p:spPr>
          <a:xfrm>
            <a:off x="1259632" y="1400164"/>
            <a:ext cx="5237912"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9" name="矩形: 圆角 18">
            <a:extLst>
              <a:ext uri="{FF2B5EF4-FFF2-40B4-BE49-F238E27FC236}">
                <a16:creationId xmlns="" xmlns:a16="http://schemas.microsoft.com/office/drawing/2014/main" id="{0CC0B0DD-392E-4520-8E8E-BE28A6095FC1}"/>
              </a:ext>
            </a:extLst>
          </p:cNvPr>
          <p:cNvSpPr/>
          <p:nvPr/>
        </p:nvSpPr>
        <p:spPr>
          <a:xfrm>
            <a:off x="7524328" y="1024945"/>
            <a:ext cx="1296144"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cxnSp>
        <p:nvCxnSpPr>
          <p:cNvPr id="20" name="直接箭头连接符 19">
            <a:extLst>
              <a:ext uri="{FF2B5EF4-FFF2-40B4-BE49-F238E27FC236}">
                <a16:creationId xmlns="" xmlns:a16="http://schemas.microsoft.com/office/drawing/2014/main" id="{F7386F72-7C52-4C74-BD83-36E174A2C072}"/>
              </a:ext>
            </a:extLst>
          </p:cNvPr>
          <p:cNvCxnSpPr>
            <a:cxnSpLocks/>
          </p:cNvCxnSpPr>
          <p:nvPr/>
        </p:nvCxnSpPr>
        <p:spPr bwMode="auto">
          <a:xfrm>
            <a:off x="3707904" y="1688196"/>
            <a:ext cx="0" cy="438457"/>
          </a:xfrm>
          <a:prstGeom prst="straightConnector1">
            <a:avLst/>
          </a:prstGeom>
          <a:ln>
            <a:solidFill>
              <a:srgbClr val="FF0000"/>
            </a:solidFill>
            <a:headEnd type="none" w="med" len="med"/>
            <a:tailEnd type="triangle"/>
          </a:ln>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wipe(left)">
                                      <p:cBhvr>
                                        <p:cTn id="7" dur="500"/>
                                        <p:tgtEl>
                                          <p:spTgt spid="18"/>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par>
                                <p:cTn id="12" presetID="22" presetClass="entr" presetSubtype="8" fill="hold" nodeType="withEffect">
                                  <p:stCondLst>
                                    <p:cond delay="0"/>
                                  </p:stCondLst>
                                  <p:childTnLst>
                                    <p:set>
                                      <p:cBhvr>
                                        <p:cTn id="13" dur="1" fill="hold">
                                          <p:stCondLst>
                                            <p:cond delay="0"/>
                                          </p:stCondLst>
                                        </p:cTn>
                                        <p:tgtEl>
                                          <p:spTgt spid="10"/>
                                        </p:tgtEl>
                                        <p:attrNameLst>
                                          <p:attrName>style.visibility</p:attrName>
                                        </p:attrNameLst>
                                      </p:cBhvr>
                                      <p:to>
                                        <p:strVal val="visible"/>
                                      </p:to>
                                    </p:set>
                                    <p:animEffect transition="in" filter="wipe(left)">
                                      <p:cBhvr>
                                        <p:cTn id="14" dur="500"/>
                                        <p:tgtEl>
                                          <p:spTgt spid="10"/>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wipe(left)">
                                      <p:cBhvr>
                                        <p:cTn id="19" dur="500"/>
                                        <p:tgtEl>
                                          <p:spTgt spid="13"/>
                                        </p:tgtEl>
                                      </p:cBhvr>
                                    </p:animEffect>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wipe(up)">
                                      <p:cBhvr>
                                        <p:cTn id="23" dur="500"/>
                                        <p:tgtEl>
                                          <p:spTgt spid="14"/>
                                        </p:tgtEl>
                                      </p:cBhvr>
                                    </p:animEffect>
                                  </p:childTnLst>
                                </p:cTn>
                              </p:par>
                            </p:childTnLst>
                          </p:cTn>
                        </p:par>
                        <p:par>
                          <p:cTn id="24" fill="hold">
                            <p:stCondLst>
                              <p:cond delay="1000"/>
                            </p:stCondLst>
                            <p:childTnLst>
                              <p:par>
                                <p:cTn id="25" presetID="22" presetClass="entr" presetSubtype="1" fill="hold" nodeType="afterEffect">
                                  <p:stCondLst>
                                    <p:cond delay="0"/>
                                  </p:stCondLst>
                                  <p:childTnLst>
                                    <p:set>
                                      <p:cBhvr>
                                        <p:cTn id="26" dur="1" fill="hold">
                                          <p:stCondLst>
                                            <p:cond delay="0"/>
                                          </p:stCondLst>
                                        </p:cTn>
                                        <p:tgtEl>
                                          <p:spTgt spid="16"/>
                                        </p:tgtEl>
                                        <p:attrNameLst>
                                          <p:attrName>style.visibility</p:attrName>
                                        </p:attrNameLst>
                                      </p:cBhvr>
                                      <p:to>
                                        <p:strVal val="visible"/>
                                      </p:to>
                                    </p:set>
                                    <p:animEffect transition="in" filter="wipe(up)">
                                      <p:cBhvr>
                                        <p:cTn id="27" dur="500"/>
                                        <p:tgtEl>
                                          <p:spTgt spid="16"/>
                                        </p:tgtEl>
                                      </p:cBhvr>
                                    </p:animEffect>
                                  </p:childTnLst>
                                </p:cTn>
                              </p:par>
                            </p:childTnLst>
                          </p:cTn>
                        </p:par>
                        <p:par>
                          <p:cTn id="28" fill="hold">
                            <p:stCondLst>
                              <p:cond delay="1500"/>
                            </p:stCondLst>
                            <p:childTnLst>
                              <p:par>
                                <p:cTn id="29" presetID="22" presetClass="entr" presetSubtype="1" fill="hold" nodeType="after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wipe(up)">
                                      <p:cBhvr>
                                        <p:cTn id="31" dur="500"/>
                                        <p:tgtEl>
                                          <p:spTgt spid="20"/>
                                        </p:tgtEl>
                                      </p:cBhvr>
                                    </p:animEffect>
                                  </p:childTnLst>
                                </p:cTn>
                              </p:par>
                            </p:childTnLst>
                          </p:cTn>
                        </p:par>
                        <p:par>
                          <p:cTn id="32" fill="hold">
                            <p:stCondLst>
                              <p:cond delay="2000"/>
                            </p:stCondLst>
                            <p:childTnLst>
                              <p:par>
                                <p:cTn id="33" presetID="22" presetClass="entr" presetSubtype="8" fill="hold" grpId="0" nodeType="after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wipe(left)">
                                      <p:cBhvr>
                                        <p:cTn id="35" dur="500"/>
                                        <p:tgtEl>
                                          <p:spTgt spid="15"/>
                                        </p:tgtEl>
                                      </p:cBhvr>
                                    </p:animEffect>
                                  </p:childTnLst>
                                </p:cTn>
                              </p:par>
                            </p:childTnLst>
                          </p:cTn>
                        </p:par>
                        <p:par>
                          <p:cTn id="36" fill="hold">
                            <p:stCondLst>
                              <p:cond delay="2500"/>
                            </p:stCondLst>
                            <p:childTnLst>
                              <p:par>
                                <p:cTn id="37" presetID="21" presetClass="entr" presetSubtype="1" fill="hold" grpId="0" nodeType="after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wheel(1)">
                                      <p:cBhvr>
                                        <p:cTn id="39" dur="2000"/>
                                        <p:tgtEl>
                                          <p:spTgt spid="21"/>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wipe(left)">
                                      <p:cBhvr>
                                        <p:cTn id="44" dur="500"/>
                                        <p:tgtEl>
                                          <p:spTgt spid="22"/>
                                        </p:tgtEl>
                                      </p:cBhvr>
                                    </p:animEffect>
                                  </p:childTnLst>
                                </p:cTn>
                              </p:par>
                            </p:childTnLst>
                          </p:cTn>
                        </p:par>
                        <p:par>
                          <p:cTn id="45" fill="hold">
                            <p:stCondLst>
                              <p:cond delay="500"/>
                            </p:stCondLst>
                            <p:childTnLst>
                              <p:par>
                                <p:cTn id="46" presetID="22" presetClass="entr" presetSubtype="8" fill="hold" grpId="0" nodeType="after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wipe(left)">
                                      <p:cBhvr>
                                        <p:cTn id="48" dur="500"/>
                                        <p:tgtEl>
                                          <p:spTgt spid="23"/>
                                        </p:tgtEl>
                                      </p:cBhvr>
                                    </p:animEffect>
                                  </p:childTnLst>
                                </p:cTn>
                              </p:par>
                            </p:childTnLst>
                          </p:cTn>
                        </p:par>
                      </p:childTnLst>
                    </p:cTn>
                  </p:par>
                  <p:par>
                    <p:cTn id="49" fill="hold">
                      <p:stCondLst>
                        <p:cond delay="indefinite"/>
                      </p:stCondLst>
                      <p:childTnLst>
                        <p:par>
                          <p:cTn id="50" fill="hold">
                            <p:stCondLst>
                              <p:cond delay="0"/>
                            </p:stCondLst>
                            <p:childTnLst>
                              <p:par>
                                <p:cTn id="51" presetID="22" presetClass="entr" presetSubtype="8" fill="hold" nodeType="clickEffect">
                                  <p:stCondLst>
                                    <p:cond delay="0"/>
                                  </p:stCondLst>
                                  <p:childTnLst>
                                    <p:set>
                                      <p:cBhvr>
                                        <p:cTn id="52" dur="1" fill="hold">
                                          <p:stCondLst>
                                            <p:cond delay="0"/>
                                          </p:stCondLst>
                                        </p:cTn>
                                        <p:tgtEl>
                                          <p:spTgt spid="5">
                                            <p:txEl>
                                              <p:pRg st="1" end="1"/>
                                            </p:txEl>
                                          </p:spTgt>
                                        </p:tgtEl>
                                        <p:attrNameLst>
                                          <p:attrName>style.visibility</p:attrName>
                                        </p:attrNameLst>
                                      </p:cBhvr>
                                      <p:to>
                                        <p:strVal val="visible"/>
                                      </p:to>
                                    </p:set>
                                    <p:animEffect transition="in" filter="wipe(left)">
                                      <p:cBhvr>
                                        <p:cTn id="53" dur="500"/>
                                        <p:tgtEl>
                                          <p:spTgt spid="5">
                                            <p:txEl>
                                              <p:pRg st="1" end="1"/>
                                            </p:txEl>
                                          </p:spTgt>
                                        </p:tgtEl>
                                      </p:cBhvr>
                                    </p:animEffect>
                                  </p:childTnLst>
                                </p:cTn>
                              </p:par>
                              <p:par>
                                <p:cTn id="54" presetID="22" presetClass="entr" presetSubtype="8" fill="hold" nodeType="withEffect">
                                  <p:stCondLst>
                                    <p:cond delay="0"/>
                                  </p:stCondLst>
                                  <p:childTnLst>
                                    <p:set>
                                      <p:cBhvr>
                                        <p:cTn id="55" dur="1" fill="hold">
                                          <p:stCondLst>
                                            <p:cond delay="0"/>
                                          </p:stCondLst>
                                        </p:cTn>
                                        <p:tgtEl>
                                          <p:spTgt spid="5">
                                            <p:txEl>
                                              <p:pRg st="2" end="2"/>
                                            </p:txEl>
                                          </p:spTgt>
                                        </p:tgtEl>
                                        <p:attrNameLst>
                                          <p:attrName>style.visibility</p:attrName>
                                        </p:attrNameLst>
                                      </p:cBhvr>
                                      <p:to>
                                        <p:strVal val="visible"/>
                                      </p:to>
                                    </p:set>
                                    <p:animEffect transition="in" filter="wipe(left)">
                                      <p:cBhvr>
                                        <p:cTn id="56" dur="500"/>
                                        <p:tgtEl>
                                          <p:spTgt spid="5">
                                            <p:txEl>
                                              <p:pRg st="2" end="2"/>
                                            </p:txEl>
                                          </p:spTgt>
                                        </p:tgtEl>
                                      </p:cBhvr>
                                    </p:animEffect>
                                  </p:childTnLst>
                                </p:cTn>
                              </p:par>
                              <p:par>
                                <p:cTn id="57" presetID="22" presetClass="entr" presetSubtype="8" fill="hold" nodeType="withEffect">
                                  <p:stCondLst>
                                    <p:cond delay="0"/>
                                  </p:stCondLst>
                                  <p:childTnLst>
                                    <p:set>
                                      <p:cBhvr>
                                        <p:cTn id="58" dur="1" fill="hold">
                                          <p:stCondLst>
                                            <p:cond delay="0"/>
                                          </p:stCondLst>
                                        </p:cTn>
                                        <p:tgtEl>
                                          <p:spTgt spid="5">
                                            <p:txEl>
                                              <p:pRg st="3" end="3"/>
                                            </p:txEl>
                                          </p:spTgt>
                                        </p:tgtEl>
                                        <p:attrNameLst>
                                          <p:attrName>style.visibility</p:attrName>
                                        </p:attrNameLst>
                                      </p:cBhvr>
                                      <p:to>
                                        <p:strVal val="visible"/>
                                      </p:to>
                                    </p:set>
                                    <p:animEffect transition="in" filter="wipe(left)">
                                      <p:cBhvr>
                                        <p:cTn id="59" dur="500"/>
                                        <p:tgtEl>
                                          <p:spTgt spid="5">
                                            <p:txEl>
                                              <p:pRg st="3" end="3"/>
                                            </p:txEl>
                                          </p:spTgt>
                                        </p:tgtEl>
                                      </p:cBhvr>
                                    </p:animEffect>
                                  </p:childTnLst>
                                </p:cTn>
                              </p:par>
                              <p:par>
                                <p:cTn id="60" presetID="22" presetClass="entr" presetSubtype="8" fill="hold" nodeType="withEffect">
                                  <p:stCondLst>
                                    <p:cond delay="0"/>
                                  </p:stCondLst>
                                  <p:childTnLst>
                                    <p:set>
                                      <p:cBhvr>
                                        <p:cTn id="61" dur="1" fill="hold">
                                          <p:stCondLst>
                                            <p:cond delay="0"/>
                                          </p:stCondLst>
                                        </p:cTn>
                                        <p:tgtEl>
                                          <p:spTgt spid="5">
                                            <p:txEl>
                                              <p:pRg st="4" end="4"/>
                                            </p:txEl>
                                          </p:spTgt>
                                        </p:tgtEl>
                                        <p:attrNameLst>
                                          <p:attrName>style.visibility</p:attrName>
                                        </p:attrNameLst>
                                      </p:cBhvr>
                                      <p:to>
                                        <p:strVal val="visible"/>
                                      </p:to>
                                    </p:set>
                                    <p:animEffect transition="in" filter="wipe(left)">
                                      <p:cBhvr>
                                        <p:cTn id="62" dur="500"/>
                                        <p:tgtEl>
                                          <p:spTgt spid="5">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21" grpId="0" animBg="1"/>
      <p:bldP spid="22" grpId="0" animBg="1"/>
      <p:bldP spid="23"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36512" y="908720"/>
            <a:ext cx="9107488" cy="430887"/>
          </a:xfrm>
          <a:prstGeom prst="rect">
            <a:avLst/>
          </a:prstGeom>
        </p:spPr>
        <p:txBody>
          <a:bodyPr wrap="square">
            <a:spAutoFit/>
          </a:bodyPr>
          <a:lstStyle/>
          <a:p>
            <a:pPr>
              <a:spcBef>
                <a:spcPts val="900"/>
              </a:spcBef>
            </a:pPr>
            <a:r>
              <a:rPr lang="en-US" altLang="zh-CN" sz="2200" dirty="0">
                <a:solidFill>
                  <a:srgbClr val="7030A0"/>
                </a:solidFill>
                <a:latin typeface="Times New Roman" panose="02020603050405020304" pitchFamily="18" charset="0"/>
                <a:cs typeface="Times New Roman" panose="02020603050405020304" pitchFamily="18" charset="0"/>
              </a:rPr>
              <a:t>4. Example 3.8.4  </a:t>
            </a:r>
            <a:r>
              <a:rPr lang="en-US" altLang="zh-CN" sz="2000" dirty="0">
                <a:solidFill>
                  <a:srgbClr val="7030A0"/>
                </a:solidFill>
                <a:latin typeface="+mn-lt"/>
                <a:cs typeface="Times New Roman" panose="02020603050405020304" pitchFamily="18" charset="0"/>
              </a:rPr>
              <a:t>Provided </a:t>
            </a:r>
            <a:r>
              <a:rPr lang="en-US" altLang="zh-CN" sz="2000" dirty="0" err="1">
                <a:solidFill>
                  <a:srgbClr val="7030A0"/>
                </a:solidFill>
                <a:latin typeface="+mn-lt"/>
                <a:cs typeface="Times New Roman" panose="02020603050405020304" pitchFamily="18" charset="0"/>
              </a:rPr>
              <a:t>pids</a:t>
            </a:r>
            <a:r>
              <a:rPr lang="en-US" altLang="zh-CN" sz="2000" dirty="0">
                <a:solidFill>
                  <a:srgbClr val="7030A0"/>
                </a:solidFill>
                <a:latin typeface="+mn-lt"/>
                <a:cs typeface="Times New Roman" panose="02020603050405020304" pitchFamily="18" charset="0"/>
              </a:rPr>
              <a:t> purchased by (sell  to) at least two customers.</a:t>
            </a:r>
          </a:p>
        </p:txBody>
      </p:sp>
      <p:sp>
        <p:nvSpPr>
          <p:cNvPr id="4" name="Rectangle 1"/>
          <p:cNvSpPr/>
          <p:nvPr/>
        </p:nvSpPr>
        <p:spPr>
          <a:xfrm>
            <a:off x="911484" y="116632"/>
            <a:ext cx="6252804"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3.8 Group of rows in SQL</a:t>
            </a:r>
          </a:p>
        </p:txBody>
      </p:sp>
      <p:pic>
        <p:nvPicPr>
          <p:cNvPr id="5" name="图片 4">
            <a:extLst>
              <a:ext uri="{FF2B5EF4-FFF2-40B4-BE49-F238E27FC236}">
                <a16:creationId xmlns="" xmlns:a16="http://schemas.microsoft.com/office/drawing/2014/main" id="{B8992EC3-765A-40FA-8C55-7A102DA1239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860032" y="1529963"/>
            <a:ext cx="2837483" cy="561345"/>
          </a:xfrm>
          <a:prstGeom prst="rect">
            <a:avLst/>
          </a:prstGeom>
        </p:spPr>
      </p:pic>
      <p:cxnSp>
        <p:nvCxnSpPr>
          <p:cNvPr id="7" name="直接箭头连接符 6">
            <a:extLst>
              <a:ext uri="{FF2B5EF4-FFF2-40B4-BE49-F238E27FC236}">
                <a16:creationId xmlns="" xmlns:a16="http://schemas.microsoft.com/office/drawing/2014/main" id="{72A6753F-0AC4-4A79-AAC1-1351E50A2121}"/>
              </a:ext>
            </a:extLst>
          </p:cNvPr>
          <p:cNvCxnSpPr>
            <a:cxnSpLocks/>
          </p:cNvCxnSpPr>
          <p:nvPr/>
        </p:nvCxnSpPr>
        <p:spPr bwMode="auto">
          <a:xfrm>
            <a:off x="6732240" y="1368231"/>
            <a:ext cx="0" cy="504801"/>
          </a:xfrm>
          <a:prstGeom prst="straightConnector1">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8" name="文本框 7">
            <a:extLst>
              <a:ext uri="{FF2B5EF4-FFF2-40B4-BE49-F238E27FC236}">
                <a16:creationId xmlns="" xmlns:a16="http://schemas.microsoft.com/office/drawing/2014/main" id="{62109724-7BF8-4B13-AD91-7AC838E8774F}"/>
              </a:ext>
            </a:extLst>
          </p:cNvPr>
          <p:cNvSpPr txBox="1"/>
          <p:nvPr/>
        </p:nvSpPr>
        <p:spPr>
          <a:xfrm>
            <a:off x="6715974" y="1368231"/>
            <a:ext cx="880369" cy="338554"/>
          </a:xfrm>
          <a:prstGeom prst="rect">
            <a:avLst/>
          </a:prstGeom>
          <a:noFill/>
        </p:spPr>
        <p:txBody>
          <a:bodyPr wrap="none" rtlCol="0">
            <a:spAutoFit/>
          </a:bodyPr>
          <a:lstStyle/>
          <a:p>
            <a:r>
              <a:rPr lang="en-US" altLang="zh-CN" sz="1600" dirty="0" err="1">
                <a:solidFill>
                  <a:srgbClr val="00B050"/>
                </a:solidFill>
                <a:latin typeface="Times New Roman" panose="02020603050405020304" pitchFamily="18" charset="0"/>
                <a:ea typeface="等线" panose="02010600030101010101" pitchFamily="2" charset="-122"/>
                <a:cs typeface="Times New Roman" panose="02020603050405020304" pitchFamily="18" charset="0"/>
              </a:rPr>
              <a:t>pid</a:t>
            </a:r>
            <a:r>
              <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分组</a:t>
            </a:r>
          </a:p>
        </p:txBody>
      </p:sp>
      <p:sp>
        <p:nvSpPr>
          <p:cNvPr id="10" name="矩形: 圆角 9">
            <a:extLst>
              <a:ext uri="{FF2B5EF4-FFF2-40B4-BE49-F238E27FC236}">
                <a16:creationId xmlns="" xmlns:a16="http://schemas.microsoft.com/office/drawing/2014/main" id="{4321D239-F10B-42AA-BE07-398FE27B9711}"/>
              </a:ext>
            </a:extLst>
          </p:cNvPr>
          <p:cNvSpPr/>
          <p:nvPr/>
        </p:nvSpPr>
        <p:spPr bwMode="auto">
          <a:xfrm>
            <a:off x="5933440" y="1817776"/>
            <a:ext cx="301875" cy="288032"/>
          </a:xfrm>
          <a:prstGeom prst="roundRect">
            <a:avLst/>
          </a:prstGeom>
          <a:noFill/>
          <a:ln w="38100">
            <a:solidFill>
              <a:srgbClr val="00B050"/>
            </a:solidFill>
            <a:prstDash val="sysDot"/>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11" name="Rectangle 2">
            <a:extLst>
              <a:ext uri="{FF2B5EF4-FFF2-40B4-BE49-F238E27FC236}">
                <a16:creationId xmlns="" xmlns:a16="http://schemas.microsoft.com/office/drawing/2014/main" id="{BB4A0750-DC0A-4B8D-B800-335EE7E4B1C3}"/>
              </a:ext>
            </a:extLst>
          </p:cNvPr>
          <p:cNvSpPr/>
          <p:nvPr/>
        </p:nvSpPr>
        <p:spPr>
          <a:xfrm>
            <a:off x="11837" y="3573016"/>
            <a:ext cx="9240683" cy="843308"/>
          </a:xfrm>
          <a:prstGeom prst="rect">
            <a:avLst/>
          </a:prstGeom>
        </p:spPr>
        <p:txBody>
          <a:bodyPr wrap="square">
            <a:spAutoFit/>
          </a:bodyPr>
          <a:lstStyle/>
          <a:p>
            <a:pPr>
              <a:lnSpc>
                <a:spcPct val="120000"/>
              </a:lnSpc>
              <a:spcBef>
                <a:spcPts val="1000"/>
              </a:spcBef>
            </a:pPr>
            <a:r>
              <a:rPr lang="en-US" altLang="zh-CN" sz="2200" dirty="0">
                <a:solidFill>
                  <a:srgbClr val="7030A0"/>
                </a:solidFill>
                <a:latin typeface="Times New Roman" panose="02020603050405020304" pitchFamily="18" charset="0"/>
                <a:cs typeface="Times New Roman" panose="02020603050405020304" pitchFamily="18" charset="0"/>
              </a:rPr>
              <a:t>5. Example 3.8.5  </a:t>
            </a:r>
            <a:r>
              <a:rPr lang="en-US" altLang="zh-CN" sz="2000" dirty="0">
                <a:solidFill>
                  <a:srgbClr val="7030A0"/>
                </a:solidFill>
                <a:latin typeface="+mn-lt"/>
                <a:cs typeface="Times New Roman" panose="02020603050405020304" pitchFamily="18" charset="0"/>
              </a:rPr>
              <a:t>Pose a query to find the average, over all agents, of the maximum dollar sales made by each agent.</a:t>
            </a:r>
            <a:endParaRPr lang="en-US" altLang="zh-CN" sz="2000" dirty="0">
              <a:solidFill>
                <a:srgbClr val="002060"/>
              </a:solidFill>
              <a:latin typeface="+mn-lt"/>
              <a:cs typeface="Times New Roman" panose="02020603050405020304" pitchFamily="18" charset="0"/>
            </a:endParaRPr>
          </a:p>
        </p:txBody>
      </p:sp>
      <p:sp>
        <p:nvSpPr>
          <p:cNvPr id="12" name="Rectangle 2">
            <a:extLst>
              <a:ext uri="{FF2B5EF4-FFF2-40B4-BE49-F238E27FC236}">
                <a16:creationId xmlns="" xmlns:a16="http://schemas.microsoft.com/office/drawing/2014/main" id="{511DC929-2E4F-4C5F-86F0-ECA79DB3EB8F}"/>
              </a:ext>
            </a:extLst>
          </p:cNvPr>
          <p:cNvSpPr/>
          <p:nvPr/>
        </p:nvSpPr>
        <p:spPr>
          <a:xfrm>
            <a:off x="179512" y="5301208"/>
            <a:ext cx="9107488" cy="837152"/>
          </a:xfrm>
          <a:prstGeom prst="rect">
            <a:avLst/>
          </a:prstGeom>
        </p:spPr>
        <p:txBody>
          <a:bodyPr wrap="square">
            <a:spAutoFit/>
          </a:bodyPr>
          <a:lstStyle/>
          <a:p>
            <a:pPr>
              <a:lnSpc>
                <a:spcPct val="120000"/>
              </a:lnSpc>
              <a:spcBef>
                <a:spcPts val="1000"/>
              </a:spcBef>
            </a:pPr>
            <a:r>
              <a:rPr lang="en-US" altLang="zh-CN" sz="2200" dirty="0">
                <a:solidFill>
                  <a:srgbClr val="002060"/>
                </a:solidFill>
                <a:latin typeface="Times New Roman" panose="02020603050405020304" pitchFamily="18" charset="0"/>
                <a:cs typeface="Times New Roman" panose="02020603050405020304" pitchFamily="18" charset="0"/>
              </a:rPr>
              <a:t>select </a:t>
            </a:r>
            <a:r>
              <a:rPr lang="en-US" altLang="zh-CN" sz="2200" dirty="0">
                <a:solidFill>
                  <a:srgbClr val="C00000"/>
                </a:solidFill>
                <a:latin typeface="Times New Roman" panose="02020603050405020304" pitchFamily="18" charset="0"/>
                <a:cs typeface="Times New Roman" panose="02020603050405020304" pitchFamily="18" charset="0"/>
              </a:rPr>
              <a:t>avg(</a:t>
            </a:r>
            <a:r>
              <a:rPr lang="en-US" altLang="zh-CN" sz="2200" dirty="0" err="1">
                <a:solidFill>
                  <a:srgbClr val="C00000"/>
                </a:solidFill>
                <a:highlight>
                  <a:srgbClr val="00FF00"/>
                </a:highlight>
                <a:latin typeface="Times New Roman" panose="02020603050405020304" pitchFamily="18" charset="0"/>
                <a:cs typeface="Times New Roman" panose="02020603050405020304" pitchFamily="18" charset="0"/>
              </a:rPr>
              <a:t>t</a:t>
            </a:r>
            <a:r>
              <a:rPr lang="en-US" altLang="zh-CN" sz="2200" dirty="0" err="1">
                <a:solidFill>
                  <a:srgbClr val="C00000"/>
                </a:solidFill>
                <a:latin typeface="Times New Roman" panose="02020603050405020304" pitchFamily="18" charset="0"/>
                <a:cs typeface="Times New Roman" panose="02020603050405020304" pitchFamily="18" charset="0"/>
              </a:rPr>
              <a:t>.</a:t>
            </a:r>
            <a:r>
              <a:rPr lang="en-US" altLang="zh-CN" sz="2200" dirty="0" err="1">
                <a:solidFill>
                  <a:srgbClr val="C00000"/>
                </a:solidFill>
                <a:highlight>
                  <a:srgbClr val="FFFF00"/>
                </a:highlight>
                <a:latin typeface="Times New Roman" panose="02020603050405020304" pitchFamily="18" charset="0"/>
                <a:cs typeface="Times New Roman" panose="02020603050405020304" pitchFamily="18" charset="0"/>
              </a:rPr>
              <a:t>x</a:t>
            </a:r>
            <a:r>
              <a:rPr lang="en-US" altLang="zh-CN" sz="2200" dirty="0">
                <a:solidFill>
                  <a:srgbClr val="C00000"/>
                </a:solidFill>
                <a:latin typeface="Times New Roman" panose="02020603050405020304" pitchFamily="18" charset="0"/>
                <a:cs typeface="Times New Roman" panose="02020603050405020304" pitchFamily="18" charset="0"/>
              </a:rPr>
              <a:t>) </a:t>
            </a:r>
            <a:r>
              <a:rPr lang="en-US" altLang="zh-CN" sz="2200" dirty="0">
                <a:solidFill>
                  <a:srgbClr val="002060"/>
                </a:solidFill>
                <a:latin typeface="Times New Roman" panose="02020603050405020304" pitchFamily="18" charset="0"/>
                <a:cs typeface="Times New Roman" panose="02020603050405020304" pitchFamily="18" charset="0"/>
              </a:rPr>
              <a:t>from  (select </a:t>
            </a:r>
            <a:r>
              <a:rPr lang="en-US" altLang="zh-CN" sz="2200" dirty="0">
                <a:solidFill>
                  <a:srgbClr val="00B050"/>
                </a:solidFill>
                <a:latin typeface="Times New Roman" panose="02020603050405020304" pitchFamily="18" charset="0"/>
                <a:cs typeface="Times New Roman" panose="02020603050405020304" pitchFamily="18" charset="0"/>
              </a:rPr>
              <a:t>aid</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C00000"/>
                </a:solidFill>
                <a:latin typeface="Times New Roman" panose="02020603050405020304" pitchFamily="18" charset="0"/>
                <a:cs typeface="Times New Roman" panose="02020603050405020304" pitchFamily="18" charset="0"/>
              </a:rPr>
              <a:t>max(dollars)</a:t>
            </a:r>
            <a:r>
              <a:rPr lang="en-US" altLang="zh-CN" sz="2200" dirty="0">
                <a:solidFill>
                  <a:srgbClr val="002060"/>
                </a:solidFill>
                <a:latin typeface="Times New Roman" panose="02020603050405020304" pitchFamily="18" charset="0"/>
                <a:cs typeface="Times New Roman" panose="02020603050405020304" pitchFamily="18" charset="0"/>
              </a:rPr>
              <a:t> as </a:t>
            </a:r>
            <a:r>
              <a:rPr lang="en-US" altLang="zh-CN" sz="2200" dirty="0">
                <a:solidFill>
                  <a:srgbClr val="002060"/>
                </a:solidFill>
                <a:highlight>
                  <a:srgbClr val="FFFF00"/>
                </a:highlight>
                <a:latin typeface="Times New Roman" panose="02020603050405020304" pitchFamily="18" charset="0"/>
                <a:cs typeface="Times New Roman" panose="02020603050405020304" pitchFamily="18" charset="0"/>
              </a:rPr>
              <a:t>x</a:t>
            </a:r>
            <a:r>
              <a:rPr lang="en-US" altLang="zh-CN" sz="2200" dirty="0">
                <a:solidFill>
                  <a:srgbClr val="002060"/>
                </a:solidFill>
                <a:latin typeface="Times New Roman" panose="02020603050405020304" pitchFamily="18" charset="0"/>
                <a:cs typeface="Times New Roman" panose="02020603050405020304" pitchFamily="18" charset="0"/>
              </a:rPr>
              <a:t> </a:t>
            </a:r>
          </a:p>
          <a:p>
            <a:pPr>
              <a:spcBef>
                <a:spcPts val="0"/>
              </a:spcBef>
            </a:pPr>
            <a:r>
              <a:rPr lang="en-US" altLang="zh-CN" sz="2200" dirty="0">
                <a:solidFill>
                  <a:srgbClr val="002060"/>
                </a:solidFill>
                <a:latin typeface="Times New Roman" panose="02020603050405020304" pitchFamily="18" charset="0"/>
                <a:cs typeface="Times New Roman" panose="02020603050405020304" pitchFamily="18" charset="0"/>
              </a:rPr>
              <a:t>					 from orders  group by </a:t>
            </a:r>
            <a:r>
              <a:rPr lang="en-US" altLang="zh-CN" sz="2200" dirty="0">
                <a:solidFill>
                  <a:srgbClr val="00B050"/>
                </a:solidFill>
                <a:latin typeface="Times New Roman" panose="02020603050405020304" pitchFamily="18" charset="0"/>
                <a:cs typeface="Times New Roman" panose="02020603050405020304" pitchFamily="18" charset="0"/>
              </a:rPr>
              <a:t>aid</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C00000"/>
                </a:solidFill>
                <a:highlight>
                  <a:srgbClr val="00FF00"/>
                </a:highlight>
                <a:latin typeface="Times New Roman" panose="02020603050405020304" pitchFamily="18" charset="0"/>
                <a:cs typeface="Times New Roman" panose="02020603050405020304" pitchFamily="18" charset="0"/>
              </a:rPr>
              <a:t>t</a:t>
            </a:r>
            <a:r>
              <a:rPr lang="en-US" altLang="zh-CN" sz="2200" dirty="0">
                <a:solidFill>
                  <a:srgbClr val="002060"/>
                </a:solidFill>
                <a:latin typeface="Times New Roman" panose="02020603050405020304" pitchFamily="18" charset="0"/>
                <a:cs typeface="Times New Roman" panose="02020603050405020304" pitchFamily="18" charset="0"/>
              </a:rPr>
              <a:t>;</a:t>
            </a:r>
          </a:p>
        </p:txBody>
      </p:sp>
      <p:sp>
        <p:nvSpPr>
          <p:cNvPr id="13" name="Rectangle 2">
            <a:extLst>
              <a:ext uri="{FF2B5EF4-FFF2-40B4-BE49-F238E27FC236}">
                <a16:creationId xmlns="" xmlns:a16="http://schemas.microsoft.com/office/drawing/2014/main" id="{DCA5DFDF-2A27-4441-B02D-C6DA22CF4B8E}"/>
              </a:ext>
            </a:extLst>
          </p:cNvPr>
          <p:cNvSpPr/>
          <p:nvPr/>
        </p:nvSpPr>
        <p:spPr>
          <a:xfrm>
            <a:off x="53957" y="2188699"/>
            <a:ext cx="9107488" cy="769441"/>
          </a:xfrm>
          <a:prstGeom prst="rect">
            <a:avLst/>
          </a:prstGeom>
        </p:spPr>
        <p:txBody>
          <a:bodyPr wrap="square">
            <a:spAutoFit/>
          </a:bodyPr>
          <a:lstStyle/>
          <a:p>
            <a:pPr>
              <a:spcBef>
                <a:spcPts val="900"/>
              </a:spcBef>
            </a:pP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002060"/>
                </a:solidFill>
                <a:latin typeface="Times New Roman" panose="02020603050405020304" pitchFamily="18" charset="0"/>
                <a:cs typeface="Times New Roman" panose="02020603050405020304" pitchFamily="18" charset="0"/>
              </a:rPr>
              <a:t>select </a:t>
            </a:r>
            <a:r>
              <a:rPr lang="en-US" altLang="zh-CN" sz="2200" dirty="0" err="1">
                <a:solidFill>
                  <a:srgbClr val="C00000"/>
                </a:solidFill>
                <a:latin typeface="Times New Roman" panose="02020603050405020304" pitchFamily="18" charset="0"/>
                <a:cs typeface="Times New Roman" panose="02020603050405020304" pitchFamily="18" charset="0"/>
              </a:rPr>
              <a:t>pid</a:t>
            </a:r>
            <a:r>
              <a:rPr lang="en-US" altLang="zh-CN" sz="2200" dirty="0">
                <a:solidFill>
                  <a:srgbClr val="002060"/>
                </a:solidFill>
                <a:latin typeface="Times New Roman" panose="02020603050405020304" pitchFamily="18" charset="0"/>
                <a:cs typeface="Times New Roman" panose="02020603050405020304" pitchFamily="18" charset="0"/>
              </a:rPr>
              <a:t> from orders </a:t>
            </a:r>
          </a:p>
          <a:p>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7030A0"/>
                </a:solidFill>
                <a:highlight>
                  <a:srgbClr val="FFFF00"/>
                </a:highlight>
                <a:latin typeface="Times New Roman" panose="02020603050405020304" pitchFamily="18" charset="0"/>
                <a:cs typeface="Times New Roman" panose="02020603050405020304" pitchFamily="18" charset="0"/>
              </a:rPr>
              <a:t>group by</a:t>
            </a:r>
            <a:r>
              <a:rPr lang="en-US" altLang="zh-CN" sz="2200" dirty="0">
                <a:solidFill>
                  <a:srgbClr val="7030A0"/>
                </a:solidFill>
                <a:latin typeface="Times New Roman" panose="02020603050405020304" pitchFamily="18" charset="0"/>
                <a:cs typeface="Times New Roman" panose="02020603050405020304" pitchFamily="18" charset="0"/>
              </a:rPr>
              <a:t> </a:t>
            </a:r>
            <a:r>
              <a:rPr lang="en-US" altLang="zh-CN" sz="2200" dirty="0" err="1">
                <a:solidFill>
                  <a:srgbClr val="C00000"/>
                </a:solidFill>
                <a:latin typeface="Times New Roman" panose="02020603050405020304" pitchFamily="18" charset="0"/>
                <a:cs typeface="Times New Roman" panose="02020603050405020304" pitchFamily="18" charset="0"/>
              </a:rPr>
              <a:t>pid</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7030A0"/>
                </a:solidFill>
                <a:highlight>
                  <a:srgbClr val="FFFF00"/>
                </a:highlight>
                <a:latin typeface="Times New Roman" panose="02020603050405020304" pitchFamily="18" charset="0"/>
                <a:cs typeface="Times New Roman" panose="02020603050405020304" pitchFamily="18" charset="0"/>
              </a:rPr>
              <a:t>having</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00B050"/>
                </a:solidFill>
                <a:latin typeface="Times New Roman" panose="02020603050405020304" pitchFamily="18" charset="0"/>
                <a:cs typeface="Times New Roman" panose="02020603050405020304" pitchFamily="18" charset="0"/>
              </a:rPr>
              <a:t>count(distinct </a:t>
            </a:r>
            <a:r>
              <a:rPr lang="en-US" altLang="zh-CN" sz="2200" dirty="0" err="1">
                <a:solidFill>
                  <a:srgbClr val="00B050"/>
                </a:solidFill>
                <a:latin typeface="Times New Roman" panose="02020603050405020304" pitchFamily="18" charset="0"/>
                <a:cs typeface="Times New Roman" panose="02020603050405020304" pitchFamily="18" charset="0"/>
              </a:rPr>
              <a:t>cid</a:t>
            </a:r>
            <a:r>
              <a:rPr lang="en-US" altLang="zh-CN" sz="2200" dirty="0">
                <a:solidFill>
                  <a:srgbClr val="00B050"/>
                </a:solidFill>
                <a:latin typeface="Times New Roman" panose="02020603050405020304" pitchFamily="18" charset="0"/>
                <a:cs typeface="Times New Roman" panose="02020603050405020304" pitchFamily="18" charset="0"/>
              </a:rPr>
              <a:t>) </a:t>
            </a:r>
            <a:r>
              <a:rPr lang="en-US" altLang="zh-CN" sz="2200" dirty="0">
                <a:solidFill>
                  <a:srgbClr val="002060"/>
                </a:solidFill>
                <a:latin typeface="Times New Roman" panose="02020603050405020304" pitchFamily="18" charset="0"/>
                <a:cs typeface="Times New Roman" panose="02020603050405020304" pitchFamily="18" charset="0"/>
              </a:rPr>
              <a:t>&gt;= 2;</a:t>
            </a:r>
          </a:p>
        </p:txBody>
      </p:sp>
      <p:pic>
        <p:nvPicPr>
          <p:cNvPr id="14" name="图片 13">
            <a:extLst>
              <a:ext uri="{FF2B5EF4-FFF2-40B4-BE49-F238E27FC236}">
                <a16:creationId xmlns="" xmlns:a16="http://schemas.microsoft.com/office/drawing/2014/main" id="{68816D25-55E2-4B99-8F95-E653825935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378282" y="4437331"/>
            <a:ext cx="2837483" cy="561345"/>
          </a:xfrm>
          <a:prstGeom prst="rect">
            <a:avLst/>
          </a:prstGeom>
        </p:spPr>
      </p:pic>
      <p:cxnSp>
        <p:nvCxnSpPr>
          <p:cNvPr id="15" name="直接箭头连接符 14">
            <a:extLst>
              <a:ext uri="{FF2B5EF4-FFF2-40B4-BE49-F238E27FC236}">
                <a16:creationId xmlns="" xmlns:a16="http://schemas.microsoft.com/office/drawing/2014/main" id="{FA5BC8C1-F593-4C66-8F05-F6A0C5578597}"/>
              </a:ext>
            </a:extLst>
          </p:cNvPr>
          <p:cNvCxnSpPr>
            <a:cxnSpLocks/>
          </p:cNvCxnSpPr>
          <p:nvPr/>
        </p:nvCxnSpPr>
        <p:spPr bwMode="auto">
          <a:xfrm>
            <a:off x="4962458" y="4220343"/>
            <a:ext cx="0" cy="504801"/>
          </a:xfrm>
          <a:prstGeom prst="straightConnector1">
            <a:avLst/>
          </a:prstGeom>
          <a:ln w="57150">
            <a:solidFill>
              <a:srgbClr val="00B050"/>
            </a:solidFill>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16" name="文本框 15">
            <a:extLst>
              <a:ext uri="{FF2B5EF4-FFF2-40B4-BE49-F238E27FC236}">
                <a16:creationId xmlns="" xmlns:a16="http://schemas.microsoft.com/office/drawing/2014/main" id="{E9862E72-0DA7-4879-902C-DEBBDA12BD25}"/>
              </a:ext>
            </a:extLst>
          </p:cNvPr>
          <p:cNvSpPr txBox="1"/>
          <p:nvPr/>
        </p:nvSpPr>
        <p:spPr>
          <a:xfrm>
            <a:off x="5044403" y="4089191"/>
            <a:ext cx="1736373" cy="584775"/>
          </a:xfrm>
          <a:prstGeom prst="rect">
            <a:avLst/>
          </a:prstGeom>
          <a:noFill/>
        </p:spPr>
        <p:txBody>
          <a:bodyPr wrap="none" rtlCol="0">
            <a:spAutoFit/>
          </a:bodyPr>
          <a:lstStyle/>
          <a:p>
            <a:r>
              <a:rPr lang="en-US" altLang="zh-CN"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aid</a:t>
            </a:r>
            <a:r>
              <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分组</a:t>
            </a:r>
            <a:r>
              <a:rPr lang="en-US" altLang="zh-CN"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p>
          <a:p>
            <a:r>
              <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找组内</a:t>
            </a:r>
            <a:r>
              <a:rPr lang="en-US" altLang="zh-CN"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dollar</a:t>
            </a:r>
            <a:r>
              <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最大</a:t>
            </a:r>
          </a:p>
        </p:txBody>
      </p:sp>
      <p:sp>
        <p:nvSpPr>
          <p:cNvPr id="17" name="矩形: 圆角 16">
            <a:extLst>
              <a:ext uri="{FF2B5EF4-FFF2-40B4-BE49-F238E27FC236}">
                <a16:creationId xmlns="" xmlns:a16="http://schemas.microsoft.com/office/drawing/2014/main" id="{E15481D6-6980-4477-9F32-D78C4B7DF326}"/>
              </a:ext>
            </a:extLst>
          </p:cNvPr>
          <p:cNvSpPr/>
          <p:nvPr/>
        </p:nvSpPr>
        <p:spPr bwMode="auto">
          <a:xfrm>
            <a:off x="5747415" y="4725144"/>
            <a:ext cx="468349" cy="288032"/>
          </a:xfrm>
          <a:prstGeom prst="roundRect">
            <a:avLst/>
          </a:prstGeom>
          <a:noFill/>
          <a:ln w="38100">
            <a:prstDash val="sysDot"/>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18" name="文本框 17">
            <a:extLst>
              <a:ext uri="{FF2B5EF4-FFF2-40B4-BE49-F238E27FC236}">
                <a16:creationId xmlns="" xmlns:a16="http://schemas.microsoft.com/office/drawing/2014/main" id="{A42CCEF9-998F-415B-A0A6-BA13529663CD}"/>
              </a:ext>
            </a:extLst>
          </p:cNvPr>
          <p:cNvSpPr txBox="1"/>
          <p:nvPr/>
        </p:nvSpPr>
        <p:spPr>
          <a:xfrm>
            <a:off x="5432851" y="2132856"/>
            <a:ext cx="1604927" cy="338554"/>
          </a:xfrm>
          <a:prstGeom prst="rect">
            <a:avLst/>
          </a:prstGeom>
          <a:noFill/>
        </p:spPr>
        <p:txBody>
          <a:bodyPr wrap="none" rtlCol="0">
            <a:spAutoFit/>
          </a:bodyPr>
          <a:lstStyle/>
          <a:p>
            <a:r>
              <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组内</a:t>
            </a:r>
            <a:r>
              <a:rPr lang="en-US" altLang="zh-CN" sz="1600" dirty="0" err="1">
                <a:solidFill>
                  <a:srgbClr val="00B050"/>
                </a:solidFill>
                <a:latin typeface="Times New Roman" panose="02020603050405020304" pitchFamily="18" charset="0"/>
                <a:ea typeface="等线" panose="02010600030101010101" pitchFamily="2" charset="-122"/>
                <a:cs typeface="Times New Roman" panose="02020603050405020304" pitchFamily="18" charset="0"/>
              </a:rPr>
              <a:t>cid</a:t>
            </a:r>
            <a:r>
              <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计数</a:t>
            </a:r>
            <a:r>
              <a:rPr lang="en-US" altLang="zh-CN"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&gt;=2</a:t>
            </a:r>
            <a:endPar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endParaRPr>
          </a:p>
        </p:txBody>
      </p:sp>
      <p:pic>
        <p:nvPicPr>
          <p:cNvPr id="20" name="图片 19">
            <a:extLst>
              <a:ext uri="{FF2B5EF4-FFF2-40B4-BE49-F238E27FC236}">
                <a16:creationId xmlns="" xmlns:a16="http://schemas.microsoft.com/office/drawing/2014/main" id="{53AC7322-3FB4-4331-911A-33ACE029D5F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87306" y="4601317"/>
            <a:ext cx="1405174" cy="536384"/>
          </a:xfrm>
          <a:prstGeom prst="rect">
            <a:avLst/>
          </a:prstGeom>
        </p:spPr>
      </p:pic>
      <p:sp>
        <p:nvSpPr>
          <p:cNvPr id="22" name="箭头: 右 21">
            <a:extLst>
              <a:ext uri="{FF2B5EF4-FFF2-40B4-BE49-F238E27FC236}">
                <a16:creationId xmlns="" xmlns:a16="http://schemas.microsoft.com/office/drawing/2014/main" id="{257A4BE6-39F4-4B74-B512-ECA35E25F76A}"/>
              </a:ext>
            </a:extLst>
          </p:cNvPr>
          <p:cNvSpPr/>
          <p:nvPr/>
        </p:nvSpPr>
        <p:spPr bwMode="auto">
          <a:xfrm>
            <a:off x="6424656" y="4793313"/>
            <a:ext cx="576064" cy="129516"/>
          </a:xfrm>
          <a:prstGeom prst="rightArrow">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23" name="矩形: 圆角 22">
            <a:extLst>
              <a:ext uri="{FF2B5EF4-FFF2-40B4-BE49-F238E27FC236}">
                <a16:creationId xmlns="" xmlns:a16="http://schemas.microsoft.com/office/drawing/2014/main" id="{45BF49F5-BCEA-4117-A751-625975F47037}"/>
              </a:ext>
            </a:extLst>
          </p:cNvPr>
          <p:cNvSpPr/>
          <p:nvPr/>
        </p:nvSpPr>
        <p:spPr>
          <a:xfrm>
            <a:off x="6051729" y="993223"/>
            <a:ext cx="2408703"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4" name="矩形: 圆角 23">
            <a:extLst>
              <a:ext uri="{FF2B5EF4-FFF2-40B4-BE49-F238E27FC236}">
                <a16:creationId xmlns="" xmlns:a16="http://schemas.microsoft.com/office/drawing/2014/main" id="{65AF45A0-5CCC-4E8B-8D78-72D5F6B13EBC}"/>
              </a:ext>
            </a:extLst>
          </p:cNvPr>
          <p:cNvSpPr/>
          <p:nvPr/>
        </p:nvSpPr>
        <p:spPr>
          <a:xfrm>
            <a:off x="3203848" y="989436"/>
            <a:ext cx="504056"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5" name="矩形: 圆角 24">
            <a:extLst>
              <a:ext uri="{FF2B5EF4-FFF2-40B4-BE49-F238E27FC236}">
                <a16:creationId xmlns="" xmlns:a16="http://schemas.microsoft.com/office/drawing/2014/main" id="{841EB919-8514-4C11-80C7-2BF04E1639AA}"/>
              </a:ext>
            </a:extLst>
          </p:cNvPr>
          <p:cNvSpPr/>
          <p:nvPr/>
        </p:nvSpPr>
        <p:spPr>
          <a:xfrm>
            <a:off x="1980557" y="4093547"/>
            <a:ext cx="1503134"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6" name="矩形: 圆角 25">
            <a:extLst>
              <a:ext uri="{FF2B5EF4-FFF2-40B4-BE49-F238E27FC236}">
                <a16:creationId xmlns="" xmlns:a16="http://schemas.microsoft.com/office/drawing/2014/main" id="{57DA6763-799A-4907-BA6A-8ED281151B59}"/>
              </a:ext>
            </a:extLst>
          </p:cNvPr>
          <p:cNvSpPr/>
          <p:nvPr/>
        </p:nvSpPr>
        <p:spPr>
          <a:xfrm>
            <a:off x="4350390" y="3700024"/>
            <a:ext cx="1224135"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7" name="矩形: 圆角 26">
            <a:extLst>
              <a:ext uri="{FF2B5EF4-FFF2-40B4-BE49-F238E27FC236}">
                <a16:creationId xmlns="" xmlns:a16="http://schemas.microsoft.com/office/drawing/2014/main" id="{3A384FCA-7757-417E-8FDF-D586D642A4E7}"/>
              </a:ext>
            </a:extLst>
          </p:cNvPr>
          <p:cNvSpPr/>
          <p:nvPr/>
        </p:nvSpPr>
        <p:spPr>
          <a:xfrm>
            <a:off x="7380311" y="3711783"/>
            <a:ext cx="1751851"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8" name="矩形: 圆角 27">
            <a:extLst>
              <a:ext uri="{FF2B5EF4-FFF2-40B4-BE49-F238E27FC236}">
                <a16:creationId xmlns="" xmlns:a16="http://schemas.microsoft.com/office/drawing/2014/main" id="{37DF88BB-3B04-4DC2-9D58-DA0F4955E9D6}"/>
              </a:ext>
            </a:extLst>
          </p:cNvPr>
          <p:cNvSpPr/>
          <p:nvPr/>
        </p:nvSpPr>
        <p:spPr>
          <a:xfrm>
            <a:off x="47093" y="4071203"/>
            <a:ext cx="1296144"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cxnSp>
        <p:nvCxnSpPr>
          <p:cNvPr id="29" name="直接箭头连接符 28">
            <a:extLst>
              <a:ext uri="{FF2B5EF4-FFF2-40B4-BE49-F238E27FC236}">
                <a16:creationId xmlns="" xmlns:a16="http://schemas.microsoft.com/office/drawing/2014/main" id="{9A45F162-D5F7-44DD-81E1-09595A88117A}"/>
              </a:ext>
            </a:extLst>
          </p:cNvPr>
          <p:cNvCxnSpPr>
            <a:cxnSpLocks/>
          </p:cNvCxnSpPr>
          <p:nvPr/>
        </p:nvCxnSpPr>
        <p:spPr bwMode="auto">
          <a:xfrm flipH="1">
            <a:off x="8410342" y="4579831"/>
            <a:ext cx="8733" cy="317969"/>
          </a:xfrm>
          <a:prstGeom prst="straightConnector1">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30" name="文本框 29">
            <a:extLst>
              <a:ext uri="{FF2B5EF4-FFF2-40B4-BE49-F238E27FC236}">
                <a16:creationId xmlns="" xmlns:a16="http://schemas.microsoft.com/office/drawing/2014/main" id="{D5EA1A82-94BD-430D-865B-B61A46AB711A}"/>
              </a:ext>
            </a:extLst>
          </p:cNvPr>
          <p:cNvSpPr txBox="1"/>
          <p:nvPr/>
        </p:nvSpPr>
        <p:spPr>
          <a:xfrm>
            <a:off x="7828854" y="4279855"/>
            <a:ext cx="1361270" cy="338554"/>
          </a:xfrm>
          <a:prstGeom prst="rect">
            <a:avLst/>
          </a:prstGeom>
          <a:noFill/>
        </p:spPr>
        <p:txBody>
          <a:bodyPr wrap="none" rtlCol="0">
            <a:spAutoFit/>
          </a:bodyPr>
          <a:lstStyle/>
          <a:p>
            <a:r>
              <a:rPr lang="zh-CN" altLang="en-US"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求</a:t>
            </a:r>
            <a:r>
              <a:rPr lang="en-US" altLang="zh-CN"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avg(dollar)</a:t>
            </a:r>
            <a:endParaRPr lang="zh-CN" altLang="en-US"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32" name="箭头: 左弧形 31">
            <a:extLst>
              <a:ext uri="{FF2B5EF4-FFF2-40B4-BE49-F238E27FC236}">
                <a16:creationId xmlns="" xmlns:a16="http://schemas.microsoft.com/office/drawing/2014/main" id="{D5D0252E-4AB4-444B-8B02-F853AB11A9E5}"/>
              </a:ext>
            </a:extLst>
          </p:cNvPr>
          <p:cNvSpPr/>
          <p:nvPr/>
        </p:nvSpPr>
        <p:spPr bwMode="auto">
          <a:xfrm rot="16461762">
            <a:off x="6192621" y="3873907"/>
            <a:ext cx="288033" cy="2721758"/>
          </a:xfrm>
          <a:prstGeom prst="curvedRightArrow">
            <a:avLst>
              <a:gd name="adj1" fmla="val 18193"/>
              <a:gd name="adj2" fmla="val 50000"/>
              <a:gd name="adj3" fmla="val 25000"/>
            </a:avLst>
          </a:prstGeom>
          <a:solidFill>
            <a:srgbClr val="FFFF00"/>
          </a:solidFill>
          <a:ln>
            <a:solidFill>
              <a:srgbClr val="00B050"/>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itchFamily="34" charset="0"/>
              <a:ea typeface="宋体" charset="-122"/>
            </a:endParaRPr>
          </a:p>
        </p:txBody>
      </p:sp>
      <p:sp>
        <p:nvSpPr>
          <p:cNvPr id="33" name="箭头: 左弧形 32">
            <a:extLst>
              <a:ext uri="{FF2B5EF4-FFF2-40B4-BE49-F238E27FC236}">
                <a16:creationId xmlns="" xmlns:a16="http://schemas.microsoft.com/office/drawing/2014/main" id="{8B3154DF-37B0-4D69-B1CC-4D5C8BD3A463}"/>
              </a:ext>
            </a:extLst>
          </p:cNvPr>
          <p:cNvSpPr/>
          <p:nvPr/>
        </p:nvSpPr>
        <p:spPr bwMode="auto">
          <a:xfrm rot="16200000">
            <a:off x="7059298" y="3980813"/>
            <a:ext cx="338554" cy="2590267"/>
          </a:xfrm>
          <a:prstGeom prst="curvedRightArrow">
            <a:avLst/>
          </a:prstGeom>
          <a:solidFill>
            <a:srgbClr val="FFFF00"/>
          </a:solidFill>
          <a:ln>
            <a:solidFill>
              <a:srgbClr val="00B050"/>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itchFamily="34" charset="0"/>
              <a:ea typeface="宋体" charset="-122"/>
            </a:endParaRPr>
          </a:p>
        </p:txBody>
      </p:sp>
    </p:spTree>
    <p:extLst>
      <p:ext uri="{BB962C8B-B14F-4D97-AF65-F5344CB8AC3E}">
        <p14:creationId xmlns:p14="http://schemas.microsoft.com/office/powerpoint/2010/main" val="2538521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up)">
                                      <p:cBhvr>
                                        <p:cTn id="11" dur="500"/>
                                        <p:tgtEl>
                                          <p:spTgt spid="7"/>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par>
                          <p:cTn id="16" fill="hold">
                            <p:stCondLst>
                              <p:cond delay="1500"/>
                            </p:stCondLst>
                            <p:childTnLst>
                              <p:par>
                                <p:cTn id="17" presetID="21" presetClass="entr" presetSubtype="1"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heel(1)">
                                      <p:cBhvr>
                                        <p:cTn id="19" dur="2000"/>
                                        <p:tgtEl>
                                          <p:spTgt spid="10"/>
                                        </p:tgtEl>
                                      </p:cBhvr>
                                    </p:animEffect>
                                  </p:childTnLst>
                                </p:cTn>
                              </p:par>
                            </p:childTnLst>
                          </p:cTn>
                        </p:par>
                        <p:par>
                          <p:cTn id="20" fill="hold">
                            <p:stCondLst>
                              <p:cond delay="3500"/>
                            </p:stCondLst>
                            <p:childTnLst>
                              <p:par>
                                <p:cTn id="21" presetID="22" presetClass="entr" presetSubtype="8" fill="hold" grpId="0" nodeType="afterEffect">
                                  <p:stCondLst>
                                    <p:cond delay="0"/>
                                  </p:stCondLst>
                                  <p:childTnLst>
                                    <p:set>
                                      <p:cBhvr>
                                        <p:cTn id="22" dur="1" fill="hold">
                                          <p:stCondLst>
                                            <p:cond delay="0"/>
                                          </p:stCondLst>
                                        </p:cTn>
                                        <p:tgtEl>
                                          <p:spTgt spid="18"/>
                                        </p:tgtEl>
                                        <p:attrNameLst>
                                          <p:attrName>style.visibility</p:attrName>
                                        </p:attrNameLst>
                                      </p:cBhvr>
                                      <p:to>
                                        <p:strVal val="visible"/>
                                      </p:to>
                                    </p:set>
                                    <p:animEffect transition="in" filter="wipe(left)">
                                      <p:cBhvr>
                                        <p:cTn id="23" dur="500"/>
                                        <p:tgtEl>
                                          <p:spTgt spid="18"/>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3"/>
                                        </p:tgtEl>
                                        <p:attrNameLst>
                                          <p:attrName>style.visibility</p:attrName>
                                        </p:attrNameLst>
                                      </p:cBhvr>
                                      <p:to>
                                        <p:strVal val="visible"/>
                                      </p:to>
                                    </p:set>
                                    <p:animEffect transition="in" filter="wipe(left)">
                                      <p:cBhvr>
                                        <p:cTn id="28" dur="500"/>
                                        <p:tgtEl>
                                          <p:spTgt spid="13"/>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par>
                          <p:cTn id="34" fill="hold">
                            <p:stCondLst>
                              <p:cond delay="500"/>
                            </p:stCondLst>
                            <p:childTnLst>
                              <p:par>
                                <p:cTn id="35" presetID="22" presetClass="entr" presetSubtype="8" fill="hold" grpId="0" nodeType="after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wipe(left)">
                                      <p:cBhvr>
                                        <p:cTn id="37" dur="500"/>
                                        <p:tgtEl>
                                          <p:spTgt spid="26"/>
                                        </p:tgtEl>
                                      </p:cBhvr>
                                    </p:animEffect>
                                  </p:childTnLst>
                                </p:cTn>
                              </p:par>
                            </p:childTnLst>
                          </p:cTn>
                        </p:par>
                        <p:par>
                          <p:cTn id="38" fill="hold">
                            <p:stCondLst>
                              <p:cond delay="1000"/>
                            </p:stCondLst>
                            <p:childTnLst>
                              <p:par>
                                <p:cTn id="39" presetID="22" presetClass="entr" presetSubtype="8" fill="hold" grpId="0" nodeType="afterEffect">
                                  <p:stCondLst>
                                    <p:cond delay="0"/>
                                  </p:stCondLst>
                                  <p:childTnLst>
                                    <p:set>
                                      <p:cBhvr>
                                        <p:cTn id="40" dur="1" fill="hold">
                                          <p:stCondLst>
                                            <p:cond delay="0"/>
                                          </p:stCondLst>
                                        </p:cTn>
                                        <p:tgtEl>
                                          <p:spTgt spid="27"/>
                                        </p:tgtEl>
                                        <p:attrNameLst>
                                          <p:attrName>style.visibility</p:attrName>
                                        </p:attrNameLst>
                                      </p:cBhvr>
                                      <p:to>
                                        <p:strVal val="visible"/>
                                      </p:to>
                                    </p:set>
                                    <p:animEffect transition="in" filter="wipe(left)">
                                      <p:cBhvr>
                                        <p:cTn id="41" dur="500"/>
                                        <p:tgtEl>
                                          <p:spTgt spid="27"/>
                                        </p:tgtEl>
                                      </p:cBhvr>
                                    </p:animEffect>
                                  </p:childTnLst>
                                </p:cTn>
                              </p:par>
                            </p:childTnLst>
                          </p:cTn>
                        </p:par>
                        <p:par>
                          <p:cTn id="42" fill="hold">
                            <p:stCondLst>
                              <p:cond delay="1500"/>
                            </p:stCondLst>
                            <p:childTnLst>
                              <p:par>
                                <p:cTn id="43" presetID="22" presetClass="entr" presetSubtype="8" fill="hold" grpId="0" nodeType="afterEffect">
                                  <p:stCondLst>
                                    <p:cond delay="0"/>
                                  </p:stCondLst>
                                  <p:childTnLst>
                                    <p:set>
                                      <p:cBhvr>
                                        <p:cTn id="44" dur="1" fill="hold">
                                          <p:stCondLst>
                                            <p:cond delay="0"/>
                                          </p:stCondLst>
                                        </p:cTn>
                                        <p:tgtEl>
                                          <p:spTgt spid="28"/>
                                        </p:tgtEl>
                                        <p:attrNameLst>
                                          <p:attrName>style.visibility</p:attrName>
                                        </p:attrNameLst>
                                      </p:cBhvr>
                                      <p:to>
                                        <p:strVal val="visible"/>
                                      </p:to>
                                    </p:set>
                                    <p:animEffect transition="in" filter="wipe(left)">
                                      <p:cBhvr>
                                        <p:cTn id="45" dur="500"/>
                                        <p:tgtEl>
                                          <p:spTgt spid="28"/>
                                        </p:tgtEl>
                                      </p:cBhvr>
                                    </p:animEffect>
                                  </p:childTnLst>
                                </p:cTn>
                              </p:par>
                            </p:childTnLst>
                          </p:cTn>
                        </p:par>
                        <p:par>
                          <p:cTn id="46" fill="hold">
                            <p:stCondLst>
                              <p:cond delay="2000"/>
                            </p:stCondLst>
                            <p:childTnLst>
                              <p:par>
                                <p:cTn id="47" presetID="22" presetClass="entr" presetSubtype="8" fill="hold" grpId="0" nodeType="after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wipe(left)">
                                      <p:cBhvr>
                                        <p:cTn id="49" dur="500"/>
                                        <p:tgtEl>
                                          <p:spTgt spid="25"/>
                                        </p:tgtEl>
                                      </p:cBhvr>
                                    </p:animEffect>
                                  </p:childTnLst>
                                </p:cTn>
                              </p:par>
                            </p:childTnLst>
                          </p:cTn>
                        </p:par>
                      </p:childTnLst>
                    </p:cTn>
                  </p:par>
                  <p:par>
                    <p:cTn id="50" fill="hold">
                      <p:stCondLst>
                        <p:cond delay="indefinite"/>
                      </p:stCondLst>
                      <p:childTnLst>
                        <p:par>
                          <p:cTn id="51" fill="hold">
                            <p:stCondLst>
                              <p:cond delay="0"/>
                            </p:stCondLst>
                            <p:childTnLst>
                              <p:par>
                                <p:cTn id="52" presetID="22" presetClass="entr" presetSubtype="8" fill="hold" nodeType="clickEffect">
                                  <p:stCondLst>
                                    <p:cond delay="0"/>
                                  </p:stCondLst>
                                  <p:childTnLst>
                                    <p:set>
                                      <p:cBhvr>
                                        <p:cTn id="53" dur="1" fill="hold">
                                          <p:stCondLst>
                                            <p:cond delay="0"/>
                                          </p:stCondLst>
                                        </p:cTn>
                                        <p:tgtEl>
                                          <p:spTgt spid="14"/>
                                        </p:tgtEl>
                                        <p:attrNameLst>
                                          <p:attrName>style.visibility</p:attrName>
                                        </p:attrNameLst>
                                      </p:cBhvr>
                                      <p:to>
                                        <p:strVal val="visible"/>
                                      </p:to>
                                    </p:set>
                                    <p:animEffect transition="in" filter="wipe(left)">
                                      <p:cBhvr>
                                        <p:cTn id="54" dur="500"/>
                                        <p:tgtEl>
                                          <p:spTgt spid="14"/>
                                        </p:tgtEl>
                                      </p:cBhvr>
                                    </p:animEffect>
                                  </p:childTnLst>
                                </p:cTn>
                              </p:par>
                            </p:childTnLst>
                          </p:cTn>
                        </p:par>
                        <p:par>
                          <p:cTn id="55" fill="hold">
                            <p:stCondLst>
                              <p:cond delay="500"/>
                            </p:stCondLst>
                            <p:childTnLst>
                              <p:par>
                                <p:cTn id="56" presetID="22" presetClass="entr" presetSubtype="1" fill="hold" nodeType="afterEffect">
                                  <p:stCondLst>
                                    <p:cond delay="0"/>
                                  </p:stCondLst>
                                  <p:childTnLst>
                                    <p:set>
                                      <p:cBhvr>
                                        <p:cTn id="57" dur="1" fill="hold">
                                          <p:stCondLst>
                                            <p:cond delay="0"/>
                                          </p:stCondLst>
                                        </p:cTn>
                                        <p:tgtEl>
                                          <p:spTgt spid="15"/>
                                        </p:tgtEl>
                                        <p:attrNameLst>
                                          <p:attrName>style.visibility</p:attrName>
                                        </p:attrNameLst>
                                      </p:cBhvr>
                                      <p:to>
                                        <p:strVal val="visible"/>
                                      </p:to>
                                    </p:set>
                                    <p:animEffect transition="in" filter="wipe(up)">
                                      <p:cBhvr>
                                        <p:cTn id="58" dur="500"/>
                                        <p:tgtEl>
                                          <p:spTgt spid="15"/>
                                        </p:tgtEl>
                                      </p:cBhvr>
                                    </p:animEffect>
                                  </p:childTnLst>
                                </p:cTn>
                              </p:par>
                            </p:childTnLst>
                          </p:cTn>
                        </p:par>
                        <p:par>
                          <p:cTn id="59" fill="hold">
                            <p:stCondLst>
                              <p:cond delay="1000"/>
                            </p:stCondLst>
                            <p:childTnLst>
                              <p:par>
                                <p:cTn id="60" presetID="22" presetClass="entr" presetSubtype="8" fill="hold" grpId="0" nodeType="afterEffect">
                                  <p:stCondLst>
                                    <p:cond delay="0"/>
                                  </p:stCondLst>
                                  <p:childTnLst>
                                    <p:set>
                                      <p:cBhvr>
                                        <p:cTn id="61" dur="1" fill="hold">
                                          <p:stCondLst>
                                            <p:cond delay="0"/>
                                          </p:stCondLst>
                                        </p:cTn>
                                        <p:tgtEl>
                                          <p:spTgt spid="16"/>
                                        </p:tgtEl>
                                        <p:attrNameLst>
                                          <p:attrName>style.visibility</p:attrName>
                                        </p:attrNameLst>
                                      </p:cBhvr>
                                      <p:to>
                                        <p:strVal val="visible"/>
                                      </p:to>
                                    </p:set>
                                    <p:animEffect transition="in" filter="wipe(left)">
                                      <p:cBhvr>
                                        <p:cTn id="62" dur="500"/>
                                        <p:tgtEl>
                                          <p:spTgt spid="16"/>
                                        </p:tgtEl>
                                      </p:cBhvr>
                                    </p:animEffect>
                                  </p:childTnLst>
                                </p:cTn>
                              </p:par>
                            </p:childTnLst>
                          </p:cTn>
                        </p:par>
                        <p:par>
                          <p:cTn id="63" fill="hold">
                            <p:stCondLst>
                              <p:cond delay="1500"/>
                            </p:stCondLst>
                            <p:childTnLst>
                              <p:par>
                                <p:cTn id="64" presetID="21" presetClass="entr" presetSubtype="1" fill="hold" grpId="0" nodeType="afterEffect">
                                  <p:stCondLst>
                                    <p:cond delay="0"/>
                                  </p:stCondLst>
                                  <p:childTnLst>
                                    <p:set>
                                      <p:cBhvr>
                                        <p:cTn id="65" dur="1" fill="hold">
                                          <p:stCondLst>
                                            <p:cond delay="0"/>
                                          </p:stCondLst>
                                        </p:cTn>
                                        <p:tgtEl>
                                          <p:spTgt spid="17"/>
                                        </p:tgtEl>
                                        <p:attrNameLst>
                                          <p:attrName>style.visibility</p:attrName>
                                        </p:attrNameLst>
                                      </p:cBhvr>
                                      <p:to>
                                        <p:strVal val="visible"/>
                                      </p:to>
                                    </p:set>
                                    <p:animEffect transition="in" filter="wheel(1)">
                                      <p:cBhvr>
                                        <p:cTn id="66" dur="2000"/>
                                        <p:tgtEl>
                                          <p:spTgt spid="17"/>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22"/>
                                        </p:tgtEl>
                                        <p:attrNameLst>
                                          <p:attrName>style.visibility</p:attrName>
                                        </p:attrNameLst>
                                      </p:cBhvr>
                                      <p:to>
                                        <p:strVal val="visible"/>
                                      </p:to>
                                    </p:set>
                                    <p:animEffect transition="in" filter="wipe(left)">
                                      <p:cBhvr>
                                        <p:cTn id="71" dur="500"/>
                                        <p:tgtEl>
                                          <p:spTgt spid="22"/>
                                        </p:tgtEl>
                                      </p:cBhvr>
                                    </p:animEffect>
                                  </p:childTnLst>
                                </p:cTn>
                              </p:par>
                            </p:childTnLst>
                          </p:cTn>
                        </p:par>
                        <p:par>
                          <p:cTn id="72" fill="hold">
                            <p:stCondLst>
                              <p:cond delay="500"/>
                            </p:stCondLst>
                            <p:childTnLst>
                              <p:par>
                                <p:cTn id="73" presetID="22" presetClass="entr" presetSubtype="8" fill="hold" nodeType="afterEffect">
                                  <p:stCondLst>
                                    <p:cond delay="0"/>
                                  </p:stCondLst>
                                  <p:childTnLst>
                                    <p:set>
                                      <p:cBhvr>
                                        <p:cTn id="74" dur="1" fill="hold">
                                          <p:stCondLst>
                                            <p:cond delay="0"/>
                                          </p:stCondLst>
                                        </p:cTn>
                                        <p:tgtEl>
                                          <p:spTgt spid="20"/>
                                        </p:tgtEl>
                                        <p:attrNameLst>
                                          <p:attrName>style.visibility</p:attrName>
                                        </p:attrNameLst>
                                      </p:cBhvr>
                                      <p:to>
                                        <p:strVal val="visible"/>
                                      </p:to>
                                    </p:set>
                                    <p:animEffect transition="in" filter="wipe(left)">
                                      <p:cBhvr>
                                        <p:cTn id="75" dur="500"/>
                                        <p:tgtEl>
                                          <p:spTgt spid="20"/>
                                        </p:tgtEl>
                                      </p:cBhvr>
                                    </p:animEffect>
                                  </p:childTnLst>
                                </p:cTn>
                              </p:par>
                            </p:childTnLst>
                          </p:cTn>
                        </p:par>
                        <p:par>
                          <p:cTn id="76" fill="hold">
                            <p:stCondLst>
                              <p:cond delay="1000"/>
                            </p:stCondLst>
                            <p:childTnLst>
                              <p:par>
                                <p:cTn id="77" presetID="22" presetClass="entr" presetSubtype="8" fill="hold" grpId="0" nodeType="afterEffect">
                                  <p:stCondLst>
                                    <p:cond delay="0"/>
                                  </p:stCondLst>
                                  <p:childTnLst>
                                    <p:set>
                                      <p:cBhvr>
                                        <p:cTn id="78" dur="1" fill="hold">
                                          <p:stCondLst>
                                            <p:cond delay="0"/>
                                          </p:stCondLst>
                                        </p:cTn>
                                        <p:tgtEl>
                                          <p:spTgt spid="32"/>
                                        </p:tgtEl>
                                        <p:attrNameLst>
                                          <p:attrName>style.visibility</p:attrName>
                                        </p:attrNameLst>
                                      </p:cBhvr>
                                      <p:to>
                                        <p:strVal val="visible"/>
                                      </p:to>
                                    </p:set>
                                    <p:animEffect transition="in" filter="wipe(left)">
                                      <p:cBhvr>
                                        <p:cTn id="79" dur="500"/>
                                        <p:tgtEl>
                                          <p:spTgt spid="32"/>
                                        </p:tgtEl>
                                      </p:cBhvr>
                                    </p:animEffect>
                                  </p:childTnLst>
                                </p:cTn>
                              </p:par>
                            </p:childTnLst>
                          </p:cTn>
                        </p:par>
                        <p:par>
                          <p:cTn id="80" fill="hold">
                            <p:stCondLst>
                              <p:cond delay="1500"/>
                            </p:stCondLst>
                            <p:childTnLst>
                              <p:par>
                                <p:cTn id="81" presetID="22" presetClass="entr" presetSubtype="8" fill="hold" grpId="0" nodeType="after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wipe(left)">
                                      <p:cBhvr>
                                        <p:cTn id="83" dur="500"/>
                                        <p:tgtEl>
                                          <p:spTgt spid="33"/>
                                        </p:tgtEl>
                                      </p:cBhvr>
                                    </p:animEffect>
                                  </p:childTnLst>
                                </p:cTn>
                              </p:par>
                            </p:childTnLst>
                          </p:cTn>
                        </p:par>
                      </p:childTnLst>
                    </p:cTn>
                  </p:par>
                  <p:par>
                    <p:cTn id="84" fill="hold">
                      <p:stCondLst>
                        <p:cond delay="indefinite"/>
                      </p:stCondLst>
                      <p:childTnLst>
                        <p:par>
                          <p:cTn id="85" fill="hold">
                            <p:stCondLst>
                              <p:cond delay="0"/>
                            </p:stCondLst>
                            <p:childTnLst>
                              <p:par>
                                <p:cTn id="86" presetID="22" presetClass="entr" presetSubtype="1" fill="hold" nodeType="clickEffect">
                                  <p:stCondLst>
                                    <p:cond delay="0"/>
                                  </p:stCondLst>
                                  <p:childTnLst>
                                    <p:set>
                                      <p:cBhvr>
                                        <p:cTn id="87" dur="1" fill="hold">
                                          <p:stCondLst>
                                            <p:cond delay="0"/>
                                          </p:stCondLst>
                                        </p:cTn>
                                        <p:tgtEl>
                                          <p:spTgt spid="29"/>
                                        </p:tgtEl>
                                        <p:attrNameLst>
                                          <p:attrName>style.visibility</p:attrName>
                                        </p:attrNameLst>
                                      </p:cBhvr>
                                      <p:to>
                                        <p:strVal val="visible"/>
                                      </p:to>
                                    </p:set>
                                    <p:animEffect transition="in" filter="wipe(up)">
                                      <p:cBhvr>
                                        <p:cTn id="88" dur="500"/>
                                        <p:tgtEl>
                                          <p:spTgt spid="29"/>
                                        </p:tgtEl>
                                      </p:cBhvr>
                                    </p:animEffect>
                                  </p:childTnLst>
                                </p:cTn>
                              </p:par>
                            </p:childTnLst>
                          </p:cTn>
                        </p:par>
                        <p:par>
                          <p:cTn id="89" fill="hold">
                            <p:stCondLst>
                              <p:cond delay="500"/>
                            </p:stCondLst>
                            <p:childTnLst>
                              <p:par>
                                <p:cTn id="90" presetID="22" presetClass="entr" presetSubtype="8" fill="hold" grpId="0" nodeType="after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wipe(left)">
                                      <p:cBhvr>
                                        <p:cTn id="92" dur="500"/>
                                        <p:tgtEl>
                                          <p:spTgt spid="30"/>
                                        </p:tgtEl>
                                      </p:cBhvr>
                                    </p:animEffect>
                                  </p:childTnLst>
                                </p:cTn>
                              </p:par>
                            </p:childTnLst>
                          </p:cTn>
                        </p:par>
                      </p:childTnLst>
                    </p:cTn>
                  </p:par>
                  <p:par>
                    <p:cTn id="93" fill="hold">
                      <p:stCondLst>
                        <p:cond delay="indefinite"/>
                      </p:stCondLst>
                      <p:childTnLst>
                        <p:par>
                          <p:cTn id="94" fill="hold">
                            <p:stCondLst>
                              <p:cond delay="0"/>
                            </p:stCondLst>
                            <p:childTnLst>
                              <p:par>
                                <p:cTn id="95" presetID="22" presetClass="entr" presetSubtype="8" fill="hold" nodeType="clickEffect">
                                  <p:stCondLst>
                                    <p:cond delay="0"/>
                                  </p:stCondLst>
                                  <p:childTnLst>
                                    <p:set>
                                      <p:cBhvr>
                                        <p:cTn id="96" dur="1" fill="hold">
                                          <p:stCondLst>
                                            <p:cond delay="0"/>
                                          </p:stCondLst>
                                        </p:cTn>
                                        <p:tgtEl>
                                          <p:spTgt spid="12">
                                            <p:txEl>
                                              <p:pRg st="0" end="0"/>
                                            </p:txEl>
                                          </p:spTgt>
                                        </p:tgtEl>
                                        <p:attrNameLst>
                                          <p:attrName>style.visibility</p:attrName>
                                        </p:attrNameLst>
                                      </p:cBhvr>
                                      <p:to>
                                        <p:strVal val="visible"/>
                                      </p:to>
                                    </p:set>
                                    <p:animEffect transition="in" filter="wipe(left)">
                                      <p:cBhvr>
                                        <p:cTn id="97" dur="500"/>
                                        <p:tgtEl>
                                          <p:spTgt spid="12">
                                            <p:txEl>
                                              <p:pRg st="0" end="0"/>
                                            </p:txEl>
                                          </p:spTgt>
                                        </p:tgtEl>
                                      </p:cBhvr>
                                    </p:animEffect>
                                  </p:childTnLst>
                                </p:cTn>
                              </p:par>
                              <p:par>
                                <p:cTn id="98" presetID="22" presetClass="entr" presetSubtype="8" fill="hold" nodeType="withEffect">
                                  <p:stCondLst>
                                    <p:cond delay="0"/>
                                  </p:stCondLst>
                                  <p:childTnLst>
                                    <p:set>
                                      <p:cBhvr>
                                        <p:cTn id="99" dur="1" fill="hold">
                                          <p:stCondLst>
                                            <p:cond delay="0"/>
                                          </p:stCondLst>
                                        </p:cTn>
                                        <p:tgtEl>
                                          <p:spTgt spid="12">
                                            <p:txEl>
                                              <p:pRg st="1" end="1"/>
                                            </p:txEl>
                                          </p:spTgt>
                                        </p:tgtEl>
                                        <p:attrNameLst>
                                          <p:attrName>style.visibility</p:attrName>
                                        </p:attrNameLst>
                                      </p:cBhvr>
                                      <p:to>
                                        <p:strVal val="visible"/>
                                      </p:to>
                                    </p:set>
                                    <p:animEffect transition="in" filter="wipe(left)">
                                      <p:cBhvr>
                                        <p:cTn id="100" dur="500"/>
                                        <p:tgtEl>
                                          <p:spTgt spid="1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10" grpId="0" animBg="1"/>
      <p:bldP spid="11" grpId="0"/>
      <p:bldP spid="13" grpId="0"/>
      <p:bldP spid="16" grpId="0"/>
      <p:bldP spid="17" grpId="0" animBg="1"/>
      <p:bldP spid="18" grpId="0"/>
      <p:bldP spid="22" grpId="0" animBg="1"/>
      <p:bldP spid="25" grpId="0" animBg="1"/>
      <p:bldP spid="26" grpId="0" animBg="1"/>
      <p:bldP spid="27" grpId="0" animBg="1"/>
      <p:bldP spid="28" grpId="0" animBg="1"/>
      <p:bldP spid="30" grpId="0"/>
      <p:bldP spid="32" grpId="0" animBg="1"/>
      <p:bldP spid="33"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79512" y="1659285"/>
            <a:ext cx="8640960" cy="2677656"/>
          </a:xfrm>
          <a:prstGeom prst="rect">
            <a:avLst/>
          </a:prstGeom>
        </p:spPr>
        <p:txBody>
          <a:bodyPr wrap="square">
            <a:spAutoFit/>
          </a:bodyPr>
          <a:lstStyle/>
          <a:p>
            <a:r>
              <a:rPr lang="zh-CN" altLang="en-US" dirty="0"/>
              <a:t>必</a:t>
            </a:r>
            <a:r>
              <a:rPr lang="en-US" altLang="zh-CN" dirty="0"/>
              <a:t>GROUP BY</a:t>
            </a:r>
            <a:r>
              <a:rPr lang="zh-CN" altLang="en-US" dirty="0"/>
              <a:t>子句分组</a:t>
            </a:r>
            <a:r>
              <a:rPr lang="en-US" altLang="zh-CN" dirty="0" smtClean="0"/>
              <a:t>:</a:t>
            </a:r>
          </a:p>
          <a:p>
            <a:r>
              <a:rPr lang="zh-CN" altLang="en-US" dirty="0" smtClean="0"/>
              <a:t>细化</a:t>
            </a:r>
            <a:r>
              <a:rPr lang="zh-CN" altLang="en-US" dirty="0"/>
              <a:t>聚集函数的作用</a:t>
            </a:r>
            <a:r>
              <a:rPr lang="zh-CN" altLang="en-US" dirty="0" smtClean="0"/>
              <a:t>对象</a:t>
            </a:r>
            <a:endParaRPr lang="en-US" altLang="zh-CN" dirty="0" smtClean="0"/>
          </a:p>
          <a:p>
            <a:r>
              <a:rPr lang="en-US" altLang="zh-CN" dirty="0" smtClean="0"/>
              <a:t>■</a:t>
            </a:r>
            <a:r>
              <a:rPr lang="zh-CN" altLang="en-US" dirty="0"/>
              <a:t>如果未对查询结果分组，聚集函数将作用于整个查询</a:t>
            </a:r>
            <a:r>
              <a:rPr lang="zh-CN" altLang="en-US" dirty="0" smtClean="0"/>
              <a:t>结果</a:t>
            </a:r>
            <a:endParaRPr lang="en-US" altLang="zh-CN" dirty="0" smtClean="0"/>
          </a:p>
          <a:p>
            <a:r>
              <a:rPr lang="zh-CN" altLang="en-US" dirty="0" smtClean="0"/>
              <a:t>■</a:t>
            </a:r>
            <a:r>
              <a:rPr lang="zh-CN" altLang="en-US" dirty="0"/>
              <a:t>对查询结 果分组后，聚集函数将分别作用于每个组■按指定的一列或多列值分组，值相等的为一组</a:t>
            </a:r>
          </a:p>
        </p:txBody>
      </p:sp>
    </p:spTree>
    <p:extLst>
      <p:ext uri="{BB962C8B-B14F-4D97-AF65-F5344CB8AC3E}">
        <p14:creationId xmlns:p14="http://schemas.microsoft.com/office/powerpoint/2010/main" val="83652922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p:cNvSpPr>
            <a:spLocks noChangeArrowheads="1"/>
          </p:cNvSpPr>
          <p:nvPr/>
        </p:nvSpPr>
        <p:spPr bwMode="auto">
          <a:xfrm>
            <a:off x="428625" y="898525"/>
            <a:ext cx="7072313" cy="523220"/>
          </a:xfrm>
          <a:prstGeom prst="rect">
            <a:avLst/>
          </a:prstGeom>
          <a:noFill/>
          <a:ln w="9525">
            <a:noFill/>
            <a:miter lim="800000"/>
            <a:headEnd/>
            <a:tailEnd/>
          </a:ln>
        </p:spPr>
        <p:txBody>
          <a:bodyPr>
            <a:spAutoFit/>
          </a:bodyPr>
          <a:lstStyle/>
          <a:p>
            <a:pPr>
              <a:spcBef>
                <a:spcPts val="600"/>
              </a:spcBef>
            </a:pPr>
            <a:r>
              <a:rPr lang="en-US" altLang="zh-CN" sz="2800" dirty="0" smtClean="0">
                <a:solidFill>
                  <a:srgbClr val="000000"/>
                </a:solidFill>
                <a:latin typeface="楷体_GB2312" pitchFamily="49" charset="-122"/>
                <a:ea typeface="楷体_GB2312" pitchFamily="49" charset="-122"/>
              </a:rPr>
              <a:t>group </a:t>
            </a:r>
            <a:r>
              <a:rPr lang="en-US" altLang="zh-CN" sz="2800" dirty="0">
                <a:solidFill>
                  <a:srgbClr val="000000"/>
                </a:solidFill>
                <a:latin typeface="楷体_GB2312" pitchFamily="49" charset="-122"/>
                <a:ea typeface="楷体_GB2312" pitchFamily="49" charset="-122"/>
              </a:rPr>
              <a:t>by</a:t>
            </a:r>
            <a:r>
              <a:rPr lang="zh-CN" altLang="en-US" sz="2800" dirty="0">
                <a:solidFill>
                  <a:srgbClr val="000000"/>
                </a:solidFill>
                <a:latin typeface="楷体_GB2312" pitchFamily="49" charset="-122"/>
                <a:ea typeface="楷体_GB2312" pitchFamily="49" charset="-122"/>
              </a:rPr>
              <a:t>子句</a:t>
            </a:r>
          </a:p>
        </p:txBody>
      </p:sp>
      <p:sp>
        <p:nvSpPr>
          <p:cNvPr id="4" name="Rectangle 3"/>
          <p:cNvSpPr txBox="1">
            <a:spLocks noChangeArrowheads="1"/>
          </p:cNvSpPr>
          <p:nvPr/>
        </p:nvSpPr>
        <p:spPr>
          <a:xfrm>
            <a:off x="251520" y="1556792"/>
            <a:ext cx="8143875" cy="3286125"/>
          </a:xfrm>
          <a:prstGeom prst="rect">
            <a:avLst/>
          </a:prstGeom>
        </p:spPr>
        <p:txBody>
          <a:bodyPr/>
          <a:lstStyle/>
          <a:p>
            <a:pPr marL="441325" lvl="1" indent="15875" algn="just" eaLnBrk="0" hangingPunct="0">
              <a:lnSpc>
                <a:spcPct val="120000"/>
              </a:lnSpc>
              <a:spcBef>
                <a:spcPts val="0"/>
              </a:spcBef>
              <a:defRPr/>
            </a:pPr>
            <a:r>
              <a:rPr lang="en-US" altLang="zh-CN" sz="2400" dirty="0">
                <a:latin typeface="楷体_GB2312" pitchFamily="49" charset="-122"/>
                <a:ea typeface="楷体_GB2312" pitchFamily="49" charset="-122"/>
              </a:rPr>
              <a:t>group by</a:t>
            </a:r>
            <a:r>
              <a:rPr lang="zh-CN" altLang="en-US" sz="2400" dirty="0">
                <a:latin typeface="楷体_GB2312" pitchFamily="49" charset="-122"/>
                <a:ea typeface="楷体_GB2312" pitchFamily="49" charset="-122"/>
              </a:rPr>
              <a:t>将查询结果的元组按指定的</a:t>
            </a:r>
            <a:r>
              <a:rPr lang="zh-CN" altLang="en-US" sz="2400" dirty="0">
                <a:solidFill>
                  <a:srgbClr val="0000FF"/>
                </a:solidFill>
                <a:latin typeface="楷体_GB2312" pitchFamily="49" charset="-122"/>
                <a:ea typeface="楷体_GB2312" pitchFamily="49" charset="-122"/>
              </a:rPr>
              <a:t>一列或多列分组</a:t>
            </a:r>
            <a:r>
              <a:rPr lang="zh-CN" altLang="en-US" sz="2400" dirty="0">
                <a:latin typeface="楷体_GB2312" pitchFamily="49" charset="-122"/>
                <a:ea typeface="楷体_GB2312" pitchFamily="49" charset="-122"/>
              </a:rPr>
              <a:t>，分组原则是</a:t>
            </a:r>
            <a:r>
              <a:rPr lang="zh-CN" altLang="en-US" sz="2400" dirty="0">
                <a:solidFill>
                  <a:srgbClr val="0000FF"/>
                </a:solidFill>
                <a:latin typeface="楷体_GB2312" pitchFamily="49" charset="-122"/>
                <a:ea typeface="楷体_GB2312" pitchFamily="49" charset="-122"/>
              </a:rPr>
              <a:t>值相等</a:t>
            </a:r>
            <a:r>
              <a:rPr lang="zh-CN" altLang="en-US" sz="2400" dirty="0">
                <a:latin typeface="楷体_GB2312" pitchFamily="49" charset="-122"/>
                <a:ea typeface="楷体_GB2312" pitchFamily="49" charset="-122"/>
              </a:rPr>
              <a:t>。然后在每一分组上使用聚集函数。</a:t>
            </a:r>
          </a:p>
          <a:p>
            <a:pPr marL="742950" lvl="1" indent="-285750" algn="just" eaLnBrk="0" hangingPunct="0">
              <a:lnSpc>
                <a:spcPct val="120000"/>
              </a:lnSpc>
              <a:spcBef>
                <a:spcPts val="0"/>
              </a:spcBef>
              <a:defRPr/>
            </a:pPr>
            <a:r>
              <a:rPr lang="zh-CN" altLang="en-US" sz="2400" dirty="0">
                <a:latin typeface="楷体_GB2312" pitchFamily="49" charset="-122"/>
                <a:ea typeface="楷体_GB2312" pitchFamily="49" charset="-122"/>
              </a:rPr>
              <a:t>分成几组查询结果就有几行。</a:t>
            </a:r>
          </a:p>
          <a:p>
            <a:pPr marL="800100" lvl="1" indent="-342900" algn="just" eaLnBrk="0" hangingPunct="0">
              <a:lnSpc>
                <a:spcPct val="120000"/>
              </a:lnSpc>
              <a:spcBef>
                <a:spcPts val="0"/>
              </a:spcBef>
              <a:buFont typeface="Arial" pitchFamily="34" charset="0"/>
              <a:buChar char="•"/>
              <a:defRPr/>
            </a:pPr>
            <a:r>
              <a:rPr lang="zh-CN" altLang="en-US" sz="2400" dirty="0">
                <a:latin typeface="楷体_GB2312" pitchFamily="49" charset="-122"/>
                <a:ea typeface="楷体_GB2312" pitchFamily="49" charset="-122"/>
              </a:rPr>
              <a:t>示例：查询各个课程号及相应的选课人数。</a:t>
            </a:r>
          </a:p>
          <a:p>
            <a:pPr marL="742950" lvl="1" indent="-285750" algn="just" eaLnBrk="0" hangingPunct="0">
              <a:spcBef>
                <a:spcPct val="10000"/>
              </a:spcBef>
              <a:defRPr/>
            </a:pPr>
            <a:r>
              <a:rPr lang="en-US" altLang="zh-CN" sz="2400" dirty="0">
                <a:latin typeface="楷体_GB2312" pitchFamily="49" charset="-122"/>
                <a:ea typeface="楷体_GB2312" pitchFamily="49" charset="-122"/>
              </a:rPr>
              <a:t>  </a:t>
            </a:r>
            <a:r>
              <a:rPr lang="en-US" altLang="zh-CN" sz="2400" dirty="0">
                <a:solidFill>
                  <a:srgbClr val="002060"/>
                </a:solidFill>
                <a:latin typeface="楷体_GB2312" pitchFamily="49" charset="-122"/>
                <a:ea typeface="楷体_GB2312" pitchFamily="49" charset="-122"/>
              </a:rPr>
              <a:t>SELECT </a:t>
            </a:r>
            <a:r>
              <a:rPr lang="en-US" altLang="zh-CN" sz="2400" dirty="0" err="1">
                <a:solidFill>
                  <a:srgbClr val="002060"/>
                </a:solidFill>
                <a:latin typeface="楷体_GB2312" pitchFamily="49" charset="-122"/>
                <a:ea typeface="楷体_GB2312" pitchFamily="49" charset="-122"/>
              </a:rPr>
              <a:t>cno</a:t>
            </a:r>
            <a:r>
              <a:rPr lang="en-US" altLang="zh-CN" sz="2400" dirty="0">
                <a:solidFill>
                  <a:srgbClr val="002060"/>
                </a:solidFill>
                <a:latin typeface="楷体_GB2312" pitchFamily="49" charset="-122"/>
                <a:ea typeface="楷体_GB2312" pitchFamily="49" charset="-122"/>
              </a:rPr>
              <a:t>, count(</a:t>
            </a:r>
            <a:r>
              <a:rPr lang="en-US" altLang="zh-CN" sz="2400" dirty="0" err="1">
                <a:solidFill>
                  <a:srgbClr val="002060"/>
                </a:solidFill>
                <a:latin typeface="楷体_GB2312" pitchFamily="49" charset="-122"/>
                <a:ea typeface="楷体_GB2312" pitchFamily="49" charset="-122"/>
              </a:rPr>
              <a:t>sno</a:t>
            </a:r>
            <a:r>
              <a:rPr lang="en-US" altLang="zh-CN" sz="2400" dirty="0">
                <a:solidFill>
                  <a:srgbClr val="002060"/>
                </a:solidFill>
                <a:latin typeface="楷体_GB2312" pitchFamily="49" charset="-122"/>
                <a:ea typeface="楷体_GB2312" pitchFamily="49" charset="-122"/>
              </a:rPr>
              <a:t>) as num FROM SC </a:t>
            </a:r>
          </a:p>
          <a:p>
            <a:pPr marL="742950" lvl="1" indent="-285750" algn="just" eaLnBrk="0" hangingPunct="0">
              <a:spcBef>
                <a:spcPct val="10000"/>
              </a:spcBef>
              <a:defRPr/>
            </a:pPr>
            <a:r>
              <a:rPr lang="en-US" altLang="zh-CN" sz="2400" dirty="0">
                <a:solidFill>
                  <a:srgbClr val="002060"/>
                </a:solidFill>
                <a:latin typeface="楷体_GB2312" pitchFamily="49" charset="-122"/>
                <a:ea typeface="楷体_GB2312" pitchFamily="49" charset="-122"/>
              </a:rPr>
              <a:t>         group by </a:t>
            </a:r>
            <a:r>
              <a:rPr lang="en-US" altLang="zh-CN" sz="2400" dirty="0" err="1">
                <a:solidFill>
                  <a:srgbClr val="002060"/>
                </a:solidFill>
                <a:latin typeface="楷体_GB2312" pitchFamily="49" charset="-122"/>
                <a:ea typeface="楷体_GB2312" pitchFamily="49" charset="-122"/>
              </a:rPr>
              <a:t>cno</a:t>
            </a:r>
            <a:r>
              <a:rPr lang="en-US" altLang="zh-CN" sz="2400" dirty="0">
                <a:solidFill>
                  <a:srgbClr val="002060"/>
                </a:solidFill>
                <a:latin typeface="楷体_GB2312" pitchFamily="49" charset="-122"/>
                <a:ea typeface="楷体_GB2312" pitchFamily="49" charset="-122"/>
              </a:rPr>
              <a:t>;  </a:t>
            </a:r>
          </a:p>
        </p:txBody>
      </p:sp>
      <p:sp>
        <p:nvSpPr>
          <p:cNvPr id="5" name="矩形 4"/>
          <p:cNvSpPr/>
          <p:nvPr/>
        </p:nvSpPr>
        <p:spPr>
          <a:xfrm>
            <a:off x="142876" y="5241209"/>
            <a:ext cx="8858280" cy="830997"/>
          </a:xfrm>
          <a:prstGeom prst="rect">
            <a:avLst/>
          </a:prstGeom>
          <a:ln>
            <a:noFill/>
          </a:ln>
          <a:effectLst>
            <a:outerShdw blurRad="107950" dist="12700" dir="5400000" algn="ctr">
              <a:srgbClr val="000000"/>
            </a:outerShdw>
          </a:effectLst>
          <a:scene3d>
            <a:camera prst="orthographicFront">
              <a:rot lat="0" lon="0" rev="0"/>
            </a:camera>
            <a:lightRig rig="soft" dir="t">
              <a:rot lat="0" lon="0" rev="0"/>
            </a:lightRig>
          </a:scene3d>
          <a:sp3d contourW="44450" prstMaterial="matte">
            <a:bevelT w="63500" h="63500" prst="artDeco"/>
            <a:contourClr>
              <a:srgbClr val="FFFFFF"/>
            </a:contourClr>
          </a:sp3d>
        </p:spPr>
        <p:style>
          <a:lnRef idx="1">
            <a:schemeClr val="accent2"/>
          </a:lnRef>
          <a:fillRef idx="2">
            <a:schemeClr val="accent2"/>
          </a:fillRef>
          <a:effectRef idx="1">
            <a:schemeClr val="accent2"/>
          </a:effectRef>
          <a:fontRef idx="minor">
            <a:schemeClr val="dk1"/>
          </a:fontRef>
        </p:style>
        <p:txBody>
          <a:bodyPr>
            <a:spAutoFit/>
          </a:bodyPr>
          <a:lstStyle/>
          <a:p>
            <a:pPr marL="173038" lvl="1" indent="15875" algn="just" eaLnBrk="0" hangingPunct="0">
              <a:spcBef>
                <a:spcPct val="10000"/>
              </a:spcBef>
              <a:defRPr/>
            </a:pPr>
            <a:r>
              <a:rPr lang="zh-CN" altLang="en-US" sz="2400" dirty="0">
                <a:solidFill>
                  <a:schemeClr val="tx1"/>
                </a:solidFill>
                <a:latin typeface="楷体_GB2312" pitchFamily="49" charset="-122"/>
                <a:ea typeface="楷体_GB2312" pitchFamily="49" charset="-122"/>
              </a:rPr>
              <a:t>对查询结果分组的目的是为了细化聚集函数的作用对象。分组后，聚集函数将作用于每一个组，即每一组都有一个函数值。</a:t>
            </a:r>
            <a:endParaRPr lang="en-US" altLang="zh-CN" sz="2400" dirty="0">
              <a:solidFill>
                <a:schemeClr val="tx1"/>
              </a:solidFill>
              <a:latin typeface="楷体_GB2312" pitchFamily="49" charset="-122"/>
              <a:ea typeface="楷体_GB2312" pitchFamily="49" charset="-122"/>
            </a:endParaRPr>
          </a:p>
        </p:txBody>
      </p:sp>
    </p:spTree>
    <p:extLst>
      <p:ext uri="{BB962C8B-B14F-4D97-AF65-F5344CB8AC3E}">
        <p14:creationId xmlns:p14="http://schemas.microsoft.com/office/powerpoint/2010/main" val="9804651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animEffect transition="in" filter="wipe(left)">
                                      <p:cBhvr>
                                        <p:cTn id="11" dur="500"/>
                                        <p:tgtEl>
                                          <p:spTgt spid="4">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wipe(left)">
                                      <p:cBhvr>
                                        <p:cTn id="15" dur="500"/>
                                        <p:tgtEl>
                                          <p:spTgt spid="4">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4">
                                            <p:txEl>
                                              <p:pRg st="3" end="3"/>
                                            </p:txEl>
                                          </p:spTgt>
                                        </p:tgtEl>
                                        <p:attrNameLst>
                                          <p:attrName>style.visibility</p:attrName>
                                        </p:attrNameLst>
                                      </p:cBhvr>
                                      <p:to>
                                        <p:strVal val="visible"/>
                                      </p:to>
                                    </p:set>
                                    <p:animEffect transition="in" filter="wipe(left)">
                                      <p:cBhvr>
                                        <p:cTn id="20" dur="500"/>
                                        <p:tgtEl>
                                          <p:spTgt spid="4">
                                            <p:txEl>
                                              <p:pRg st="3" end="3"/>
                                            </p:txEl>
                                          </p:spTgt>
                                        </p:tgtEl>
                                      </p:cBhvr>
                                    </p:animEffect>
                                  </p:childTnLst>
                                </p:cTn>
                              </p:par>
                            </p:childTnLst>
                          </p:cTn>
                        </p:par>
                        <p:par>
                          <p:cTn id="21" fill="hold">
                            <p:stCondLst>
                              <p:cond delay="500"/>
                            </p:stCondLst>
                            <p:childTnLst>
                              <p:par>
                                <p:cTn id="22" presetID="22" presetClass="entr" presetSubtype="8" fill="hold" grpId="0" nodeType="afterEffect">
                                  <p:stCondLst>
                                    <p:cond delay="0"/>
                                  </p:stCondLst>
                                  <p:childTnLst>
                                    <p:set>
                                      <p:cBhvr>
                                        <p:cTn id="23" dur="1" fill="hold">
                                          <p:stCondLst>
                                            <p:cond delay="0"/>
                                          </p:stCondLst>
                                        </p:cTn>
                                        <p:tgtEl>
                                          <p:spTgt spid="4">
                                            <p:txEl>
                                              <p:pRg st="4" end="4"/>
                                            </p:txEl>
                                          </p:spTgt>
                                        </p:tgtEl>
                                        <p:attrNameLst>
                                          <p:attrName>style.visibility</p:attrName>
                                        </p:attrNameLst>
                                      </p:cBhvr>
                                      <p:to>
                                        <p:strVal val="visible"/>
                                      </p:to>
                                    </p:set>
                                    <p:animEffect transition="in" filter="wipe(left)">
                                      <p:cBhvr>
                                        <p:cTn id="24" dur="500"/>
                                        <p:tgtEl>
                                          <p:spTgt spid="4">
                                            <p:txEl>
                                              <p:pRg st="4" end="4"/>
                                            </p:txEl>
                                          </p:spTgt>
                                        </p:tgtEl>
                                      </p:cBhvr>
                                    </p:animEffect>
                                  </p:childTnLst>
                                </p:cTn>
                              </p:par>
                            </p:childTnLst>
                          </p:cTn>
                        </p:par>
                        <p:par>
                          <p:cTn id="25" fill="hold">
                            <p:stCondLst>
                              <p:cond delay="1000"/>
                            </p:stCondLst>
                            <p:childTnLst>
                              <p:par>
                                <p:cTn id="26" presetID="10" presetClass="entr" presetSubtype="0" fill="hold" nodeType="after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10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allAtOnce"/>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3"/>
          <p:cNvSpPr txBox="1">
            <a:spLocks noChangeArrowheads="1"/>
          </p:cNvSpPr>
          <p:nvPr/>
        </p:nvSpPr>
        <p:spPr bwMode="auto">
          <a:xfrm>
            <a:off x="314607" y="1178718"/>
            <a:ext cx="8786812" cy="1357313"/>
          </a:xfrm>
          <a:prstGeom prst="rect">
            <a:avLst/>
          </a:prstGeom>
          <a:noFill/>
          <a:ln w="9525">
            <a:noFill/>
            <a:miter lim="800000"/>
            <a:headEnd/>
            <a:tailEnd/>
          </a:ln>
        </p:spPr>
        <p:txBody>
          <a:bodyPr/>
          <a:lstStyle/>
          <a:p>
            <a:pPr marL="342900" indent="-342900" algn="just" eaLnBrk="0" hangingPunct="0">
              <a:spcBef>
                <a:spcPct val="20000"/>
              </a:spcBef>
              <a:buClr>
                <a:srgbClr val="FFFF00"/>
              </a:buClr>
            </a:pPr>
            <a:r>
              <a:rPr lang="zh-CN" altLang="en-US" sz="2400" dirty="0">
                <a:latin typeface="楷体_GB2312" pitchFamily="49" charset="-122"/>
                <a:ea typeface="楷体_GB2312" pitchFamily="49" charset="-122"/>
              </a:rPr>
              <a:t>示例：查询各个课程号及相应的选课人数。</a:t>
            </a:r>
            <a:endParaRPr lang="en-US" altLang="zh-CN" sz="2400" dirty="0">
              <a:latin typeface="楷体_GB2312" pitchFamily="49" charset="-122"/>
              <a:ea typeface="楷体_GB2312" pitchFamily="49" charset="-122"/>
            </a:endParaRPr>
          </a:p>
          <a:p>
            <a:pPr marL="342900" indent="-342900" algn="just" eaLnBrk="0" hangingPunct="0">
              <a:spcBef>
                <a:spcPct val="20000"/>
              </a:spcBef>
              <a:buClr>
                <a:srgbClr val="FFFF00"/>
              </a:buClr>
            </a:pPr>
            <a:r>
              <a:rPr lang="en-US" altLang="zh-CN" sz="2400" dirty="0">
                <a:latin typeface="楷体_GB2312" pitchFamily="49" charset="-122"/>
                <a:ea typeface="楷体_GB2312" pitchFamily="49" charset="-122"/>
              </a:rPr>
              <a:t>    </a:t>
            </a:r>
            <a:r>
              <a:rPr lang="en-US" altLang="zh-CN" sz="2400" dirty="0">
                <a:solidFill>
                  <a:srgbClr val="002060"/>
                </a:solidFill>
                <a:latin typeface="楷体_GB2312" pitchFamily="49" charset="-122"/>
                <a:ea typeface="楷体_GB2312" pitchFamily="49" charset="-122"/>
              </a:rPr>
              <a:t>SELECT </a:t>
            </a:r>
            <a:r>
              <a:rPr lang="en-US" altLang="zh-CN" sz="2400" dirty="0" err="1">
                <a:solidFill>
                  <a:srgbClr val="002060"/>
                </a:solidFill>
                <a:latin typeface="楷体_GB2312" pitchFamily="49" charset="-122"/>
                <a:ea typeface="楷体_GB2312" pitchFamily="49" charset="-122"/>
              </a:rPr>
              <a:t>cno</a:t>
            </a:r>
            <a:r>
              <a:rPr lang="en-US" altLang="zh-CN" sz="2400" dirty="0">
                <a:solidFill>
                  <a:srgbClr val="002060"/>
                </a:solidFill>
                <a:latin typeface="楷体_GB2312" pitchFamily="49" charset="-122"/>
                <a:ea typeface="楷体_GB2312" pitchFamily="49" charset="-122"/>
              </a:rPr>
              <a:t>, count(</a:t>
            </a:r>
            <a:r>
              <a:rPr lang="en-US" altLang="zh-CN" sz="2400" dirty="0" err="1">
                <a:solidFill>
                  <a:srgbClr val="002060"/>
                </a:solidFill>
                <a:latin typeface="楷体_GB2312" pitchFamily="49" charset="-122"/>
                <a:ea typeface="楷体_GB2312" pitchFamily="49" charset="-122"/>
              </a:rPr>
              <a:t>sno</a:t>
            </a:r>
            <a:r>
              <a:rPr lang="en-US" altLang="zh-CN" sz="2400" dirty="0">
                <a:solidFill>
                  <a:srgbClr val="002060"/>
                </a:solidFill>
                <a:latin typeface="楷体_GB2312" pitchFamily="49" charset="-122"/>
                <a:ea typeface="楷体_GB2312" pitchFamily="49" charset="-122"/>
              </a:rPr>
              <a:t>) as </a:t>
            </a:r>
            <a:r>
              <a:rPr lang="en-US" altLang="zh-CN" sz="2400" dirty="0" err="1">
                <a:solidFill>
                  <a:srgbClr val="002060"/>
                </a:solidFill>
                <a:latin typeface="楷体_GB2312" pitchFamily="49" charset="-122"/>
                <a:ea typeface="楷体_GB2312" pitchFamily="49" charset="-122"/>
              </a:rPr>
              <a:t>num</a:t>
            </a:r>
            <a:r>
              <a:rPr lang="en-US" altLang="zh-CN" sz="2400" dirty="0">
                <a:solidFill>
                  <a:srgbClr val="002060"/>
                </a:solidFill>
                <a:latin typeface="楷体_GB2312" pitchFamily="49" charset="-122"/>
                <a:ea typeface="楷体_GB2312" pitchFamily="49" charset="-122"/>
              </a:rPr>
              <a:t> FROM SC group by </a:t>
            </a:r>
            <a:r>
              <a:rPr lang="en-US" altLang="zh-CN" sz="2400" dirty="0" err="1">
                <a:solidFill>
                  <a:srgbClr val="002060"/>
                </a:solidFill>
                <a:latin typeface="楷体_GB2312" pitchFamily="49" charset="-122"/>
                <a:ea typeface="楷体_GB2312" pitchFamily="49" charset="-122"/>
              </a:rPr>
              <a:t>cno</a:t>
            </a:r>
            <a:r>
              <a:rPr lang="en-US" altLang="zh-CN" sz="2400" dirty="0">
                <a:solidFill>
                  <a:srgbClr val="002060"/>
                </a:solidFill>
                <a:latin typeface="楷体_GB2312" pitchFamily="49" charset="-122"/>
                <a:ea typeface="楷体_GB2312" pitchFamily="49" charset="-122"/>
              </a:rPr>
              <a:t>;</a:t>
            </a:r>
          </a:p>
          <a:p>
            <a:pPr marL="742950" lvl="1" indent="-285750" algn="just" eaLnBrk="0" hangingPunct="0">
              <a:spcBef>
                <a:spcPct val="10000"/>
              </a:spcBef>
              <a:buFont typeface="Arial" charset="0"/>
              <a:buChar char="–"/>
            </a:pPr>
            <a:endParaRPr lang="en-US" altLang="zh-CN" sz="2400" dirty="0">
              <a:latin typeface="楷体_GB2312" pitchFamily="49" charset="-122"/>
              <a:ea typeface="楷体_GB2312" pitchFamily="49" charset="-122"/>
            </a:endParaRPr>
          </a:p>
        </p:txBody>
      </p:sp>
      <p:graphicFrame>
        <p:nvGraphicFramePr>
          <p:cNvPr id="5" name="Group 201"/>
          <p:cNvGraphicFramePr>
            <a:graphicFrameLocks noGrp="1"/>
          </p:cNvGraphicFramePr>
          <p:nvPr/>
        </p:nvGraphicFramePr>
        <p:xfrm>
          <a:off x="107950" y="2868613"/>
          <a:ext cx="3179763" cy="2194560"/>
        </p:xfrm>
        <a:graphic>
          <a:graphicData uri="http://schemas.openxmlformats.org/drawingml/2006/table">
            <a:tbl>
              <a:tblPr/>
              <a:tblGrid>
                <a:gridCol w="1347788"/>
                <a:gridCol w="749300"/>
                <a:gridCol w="1082675"/>
              </a:tblGrid>
              <a:tr h="195263">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Sno</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Cno</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Grade</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5263">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95001</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1</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5263">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95001</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85</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6850">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95001</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3</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88</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5263">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95002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90</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195263">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95002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3</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80</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6" name="AutoShape 79"/>
          <p:cNvSpPr>
            <a:spLocks noChangeArrowheads="1"/>
          </p:cNvSpPr>
          <p:nvPr/>
        </p:nvSpPr>
        <p:spPr bwMode="auto">
          <a:xfrm>
            <a:off x="3340100" y="3278188"/>
            <a:ext cx="2089150" cy="936625"/>
          </a:xfrm>
          <a:prstGeom prst="rightArrow">
            <a:avLst>
              <a:gd name="adj1" fmla="val 50000"/>
              <a:gd name="adj2" fmla="val 55354"/>
            </a:avLst>
          </a:prstGeom>
          <a:solidFill>
            <a:schemeClr val="accent3">
              <a:lumMod val="60000"/>
              <a:lumOff val="40000"/>
            </a:schemeClr>
          </a:solidFill>
          <a:ln w="9525">
            <a:solidFill>
              <a:schemeClr val="tx1"/>
            </a:solidFill>
            <a:miter lim="800000"/>
            <a:headEnd/>
            <a:tailEnd/>
          </a:ln>
          <a:effectLst/>
        </p:spPr>
        <p:txBody>
          <a:bodyPr wrap="none" anchor="ctr"/>
          <a:lstStyle/>
          <a:p>
            <a:pPr algn="ctr">
              <a:buClr>
                <a:schemeClr val="tx1"/>
              </a:buClr>
              <a:buFont typeface="Symbol" pitchFamily="18" charset="2"/>
              <a:buNone/>
              <a:defRPr/>
            </a:pPr>
            <a:r>
              <a:rPr lang="en-US" altLang="zh-CN" sz="2400">
                <a:ea typeface="宋体" pitchFamily="2" charset="-122"/>
              </a:rPr>
              <a:t>  group by </a:t>
            </a:r>
            <a:r>
              <a:rPr lang="en-US" altLang="zh-CN" sz="2400" err="1">
                <a:ea typeface="宋体" pitchFamily="2" charset="-122"/>
              </a:rPr>
              <a:t>cno</a:t>
            </a:r>
            <a:endParaRPr lang="en-US" altLang="zh-CN" sz="2400">
              <a:effectLst>
                <a:outerShdw blurRad="38100" dist="38100" dir="2700000" algn="tl">
                  <a:srgbClr val="000000"/>
                </a:outerShdw>
              </a:effectLst>
              <a:ea typeface="宋体" pitchFamily="2" charset="-122"/>
            </a:endParaRPr>
          </a:p>
        </p:txBody>
      </p:sp>
      <p:graphicFrame>
        <p:nvGraphicFramePr>
          <p:cNvPr id="7" name="Group 211"/>
          <p:cNvGraphicFramePr>
            <a:graphicFrameLocks noGrp="1"/>
          </p:cNvGraphicFramePr>
          <p:nvPr/>
        </p:nvGraphicFramePr>
        <p:xfrm>
          <a:off x="5429250" y="2857500"/>
          <a:ext cx="3457575" cy="2194560"/>
        </p:xfrm>
        <a:graphic>
          <a:graphicData uri="http://schemas.openxmlformats.org/drawingml/2006/table">
            <a:tbl>
              <a:tblPr/>
              <a:tblGrid>
                <a:gridCol w="1152525"/>
                <a:gridCol w="1152525"/>
                <a:gridCol w="1152525"/>
              </a:tblGrid>
              <a:tr h="287338">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Cno</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Sno</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Grade</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6700">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1</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95001</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6700">
                <a:tc rowSpan="2">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2</a:t>
                      </a:r>
                    </a:p>
                  </a:txBody>
                  <a:tcPr marL="57600" marR="576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95001</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85</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6700">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95002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90</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6700">
                <a:tc rowSpan="2">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3</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95001</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88</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27013">
                <a:tc vMerge="1">
                  <a:txBody>
                    <a:bodyPr/>
                    <a:lstStyle/>
                    <a:p>
                      <a:endParaRPr lang="zh-CN" altLang="en-US"/>
                    </a:p>
                  </a:txBody>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95002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80</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8" name="AutoShape 80"/>
          <p:cNvSpPr>
            <a:spLocks noChangeArrowheads="1"/>
          </p:cNvSpPr>
          <p:nvPr/>
        </p:nvSpPr>
        <p:spPr bwMode="auto">
          <a:xfrm>
            <a:off x="468313" y="5300663"/>
            <a:ext cx="1960562" cy="914400"/>
          </a:xfrm>
          <a:prstGeom prst="rightArrow">
            <a:avLst>
              <a:gd name="adj1" fmla="val 50000"/>
              <a:gd name="adj2" fmla="val 55354"/>
            </a:avLst>
          </a:prstGeom>
          <a:solidFill>
            <a:schemeClr val="accent3">
              <a:lumMod val="60000"/>
              <a:lumOff val="40000"/>
            </a:schemeClr>
          </a:solidFill>
          <a:ln w="9525">
            <a:solidFill>
              <a:schemeClr val="tx1"/>
            </a:solidFill>
            <a:miter lim="800000"/>
            <a:headEnd/>
            <a:tailEnd/>
          </a:ln>
          <a:effectLst/>
        </p:spPr>
        <p:txBody>
          <a:bodyPr wrap="none" anchor="ctr"/>
          <a:lstStyle/>
          <a:p>
            <a:pPr algn="ctr">
              <a:buClr>
                <a:schemeClr val="tx1"/>
              </a:buClr>
              <a:buFont typeface="Symbol" pitchFamily="18" charset="2"/>
              <a:buNone/>
              <a:defRPr/>
            </a:pPr>
            <a:r>
              <a:rPr lang="en-US" altLang="zh-CN" sz="2400" dirty="0">
                <a:ea typeface="宋体" pitchFamily="2" charset="-122"/>
              </a:rPr>
              <a:t>count(</a:t>
            </a:r>
            <a:r>
              <a:rPr lang="en-US" altLang="zh-CN" sz="2400" dirty="0" err="1">
                <a:ea typeface="宋体" pitchFamily="2" charset="-122"/>
              </a:rPr>
              <a:t>sno</a:t>
            </a:r>
            <a:r>
              <a:rPr lang="en-US" altLang="zh-CN" sz="2400" dirty="0">
                <a:ea typeface="宋体" pitchFamily="2" charset="-122"/>
              </a:rPr>
              <a:t>)</a:t>
            </a:r>
            <a:endParaRPr lang="en-US" altLang="zh-CN" sz="2400" dirty="0">
              <a:effectLst>
                <a:outerShdw blurRad="38100" dist="38100" dir="2700000" algn="tl">
                  <a:srgbClr val="000000"/>
                </a:outerShdw>
              </a:effectLst>
              <a:ea typeface="宋体" pitchFamily="2" charset="-122"/>
            </a:endParaRPr>
          </a:p>
        </p:txBody>
      </p:sp>
      <p:graphicFrame>
        <p:nvGraphicFramePr>
          <p:cNvPr id="9" name="Group 204"/>
          <p:cNvGraphicFramePr>
            <a:graphicFrameLocks noGrp="1"/>
          </p:cNvGraphicFramePr>
          <p:nvPr/>
        </p:nvGraphicFramePr>
        <p:xfrm>
          <a:off x="2428875" y="5214938"/>
          <a:ext cx="2628900" cy="1596708"/>
        </p:xfrm>
        <a:graphic>
          <a:graphicData uri="http://schemas.openxmlformats.org/drawingml/2006/table">
            <a:tbl>
              <a:tblPr/>
              <a:tblGrid>
                <a:gridCol w="749300"/>
                <a:gridCol w="1879600"/>
              </a:tblGrid>
              <a:tr h="431800">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cno</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0" lang="en-US" altLang="zh-CN" sz="2400" b="1" i="0" u="none" strike="noStrike" cap="none" normalizeH="0" baseline="0" smtClean="0">
                          <a:ln>
                            <a:noFill/>
                          </a:ln>
                          <a:solidFill>
                            <a:schemeClr val="tx1"/>
                          </a:solidFill>
                          <a:effectLst/>
                          <a:latin typeface="Times New Roman" pitchFamily="18" charset="0"/>
                          <a:ea typeface="楷体_GB2312" pitchFamily="49" charset="-122"/>
                        </a:rPr>
                        <a:t>count(S</a:t>
                      </a: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no)</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1</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1</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6700">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6700">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3</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graphicFrame>
        <p:nvGraphicFramePr>
          <p:cNvPr id="10" name="Group 212"/>
          <p:cNvGraphicFramePr>
            <a:graphicFrameLocks noGrp="1"/>
          </p:cNvGraphicFramePr>
          <p:nvPr/>
        </p:nvGraphicFramePr>
        <p:xfrm>
          <a:off x="5918200" y="5214938"/>
          <a:ext cx="1654175" cy="1596708"/>
        </p:xfrm>
        <a:graphic>
          <a:graphicData uri="http://schemas.openxmlformats.org/drawingml/2006/table">
            <a:tbl>
              <a:tblPr/>
              <a:tblGrid>
                <a:gridCol w="749300"/>
                <a:gridCol w="904875"/>
              </a:tblGrid>
              <a:tr h="431800">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cno</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num</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3388">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1</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1</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6700">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266700">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smtClean="0">
                          <a:ln>
                            <a:noFill/>
                          </a:ln>
                          <a:solidFill>
                            <a:schemeClr val="tx1"/>
                          </a:solidFill>
                          <a:effectLst/>
                          <a:latin typeface="Times New Roman" pitchFamily="18" charset="0"/>
                          <a:ea typeface="楷体_GB2312" pitchFamily="49" charset="-122"/>
                        </a:rPr>
                        <a:t>3</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 typeface="Symbol" pitchFamily="18" charset="2"/>
                        <a:buNone/>
                        <a:tabLst/>
                      </a:pPr>
                      <a:r>
                        <a:rPr kumimoji="1" lang="en-US" altLang="zh-CN" sz="2400" b="1" i="0" u="none" strike="noStrike" cap="none" normalizeH="0" baseline="0" dirty="0" smtClean="0">
                          <a:ln>
                            <a:noFill/>
                          </a:ln>
                          <a:solidFill>
                            <a:schemeClr val="tx1"/>
                          </a:solidFill>
                          <a:effectLst/>
                          <a:latin typeface="Times New Roman" pitchFamily="18" charset="0"/>
                          <a:ea typeface="楷体_GB2312" pitchFamily="49" charset="-122"/>
                        </a:rPr>
                        <a:t>2</a:t>
                      </a:r>
                    </a:p>
                  </a:txBody>
                  <a:tcPr marL="57150" marR="5715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1" name="AutoShape 80"/>
          <p:cNvSpPr>
            <a:spLocks noChangeArrowheads="1"/>
          </p:cNvSpPr>
          <p:nvPr/>
        </p:nvSpPr>
        <p:spPr bwMode="auto">
          <a:xfrm>
            <a:off x="5143500" y="5500688"/>
            <a:ext cx="785813" cy="547687"/>
          </a:xfrm>
          <a:prstGeom prst="rightArrow">
            <a:avLst>
              <a:gd name="adj1" fmla="val 50000"/>
              <a:gd name="adj2" fmla="val 55354"/>
            </a:avLst>
          </a:prstGeom>
          <a:solidFill>
            <a:schemeClr val="accent3">
              <a:lumMod val="60000"/>
              <a:lumOff val="40000"/>
            </a:schemeClr>
          </a:solidFill>
          <a:ln w="9525">
            <a:solidFill>
              <a:schemeClr val="tx1"/>
            </a:solidFill>
            <a:miter lim="800000"/>
            <a:headEnd/>
            <a:tailEnd/>
          </a:ln>
          <a:effectLst/>
        </p:spPr>
        <p:txBody>
          <a:bodyPr wrap="none" anchor="ctr"/>
          <a:lstStyle/>
          <a:p>
            <a:pPr algn="ctr">
              <a:buClr>
                <a:schemeClr val="tx1"/>
              </a:buClr>
              <a:buFont typeface="Symbol" pitchFamily="18" charset="2"/>
              <a:buNone/>
              <a:defRPr/>
            </a:pPr>
            <a:endParaRPr lang="en-US" altLang="zh-CN" sz="2400" dirty="0">
              <a:effectLst>
                <a:outerShdw blurRad="38100" dist="38100" dir="2700000" algn="tl">
                  <a:srgbClr val="000000"/>
                </a:outerShdw>
              </a:effectLst>
              <a:ea typeface="宋体" pitchFamily="2" charset="-122"/>
            </a:endParaRPr>
          </a:p>
        </p:txBody>
      </p:sp>
      <p:sp>
        <p:nvSpPr>
          <p:cNvPr id="12" name="灯片编号占位符 21"/>
          <p:cNvSpPr>
            <a:spLocks noGrp="1"/>
          </p:cNvSpPr>
          <p:nvPr>
            <p:ph type="sldNum" sz="quarter" idx="12"/>
          </p:nvPr>
        </p:nvSpPr>
        <p:spPr>
          <a:xfrm>
            <a:off x="6553200" y="6356350"/>
            <a:ext cx="2133600" cy="365125"/>
          </a:xfrm>
        </p:spPr>
        <p:txBody>
          <a:bodyPr/>
          <a:lstStyle/>
          <a:p>
            <a:pPr>
              <a:defRPr/>
            </a:pPr>
            <a:fld id="{6D760313-F8D6-44F0-BFC1-B21428ADC86B}" type="slidenum">
              <a:rPr lang="en-US" altLang="zh-CN" smtClean="0"/>
              <a:pPr>
                <a:defRPr/>
              </a:pPr>
              <a:t>43</a:t>
            </a:fld>
            <a:endParaRPr lang="en-US" altLang="zh-CN"/>
          </a:p>
        </p:txBody>
      </p:sp>
    </p:spTree>
    <p:extLst>
      <p:ext uri="{BB962C8B-B14F-4D97-AF65-F5344CB8AC3E}">
        <p14:creationId xmlns:p14="http://schemas.microsoft.com/office/powerpoint/2010/main" val="765376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Effect transition="in" filter="wipe(left)">
                                      <p:cBhvr>
                                        <p:cTn id="11" dur="500"/>
                                        <p:tgtEl>
                                          <p:spTgt spid="3">
                                            <p:txEl>
                                              <p:pRg st="1" end="1"/>
                                            </p:txEl>
                                          </p:spTgt>
                                        </p:tgtEl>
                                      </p:cBhvr>
                                    </p:animEffect>
                                  </p:childTnLst>
                                </p:cTn>
                              </p:par>
                            </p:childTnLst>
                          </p:cTn>
                        </p:par>
                      </p:childTnLst>
                    </p:cTn>
                  </p:par>
                  <p:par>
                    <p:cTn id="12" fill="hold">
                      <p:stCondLst>
                        <p:cond delay="indefinite"/>
                      </p:stCondLst>
                      <p:childTnLst>
                        <p:par>
                          <p:cTn id="13" fill="hold">
                            <p:stCondLst>
                              <p:cond delay="0"/>
                            </p:stCondLst>
                            <p:childTnLst>
                              <p:par>
                                <p:cTn id="14" presetID="10" presetClass="entr" presetSubtype="0" fill="hold"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fade">
                                      <p:cBhvr>
                                        <p:cTn id="16" dur="10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animEffect transition="in" filter="wipe(left)">
                                      <p:cBhvr>
                                        <p:cTn id="21" dur="500"/>
                                        <p:tgtEl>
                                          <p:spTgt spid="6"/>
                                        </p:tgtEl>
                                      </p:cBhvr>
                                    </p:animEffect>
                                  </p:childTnLst>
                                </p:cTn>
                              </p:par>
                            </p:childTnLst>
                          </p:cTn>
                        </p:par>
                        <p:par>
                          <p:cTn id="22" fill="hold">
                            <p:stCondLst>
                              <p:cond delay="500"/>
                            </p:stCondLst>
                            <p:childTnLst>
                              <p:par>
                                <p:cTn id="23" presetID="10" presetClass="entr" presetSubtype="0" fill="hold" nodeType="after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par>
                          <p:cTn id="31" fill="hold">
                            <p:stCondLst>
                              <p:cond delay="500"/>
                            </p:stCondLst>
                            <p:childTnLst>
                              <p:par>
                                <p:cTn id="32" presetID="10" presetClass="entr" presetSubtype="0" fill="hold" nodeType="afterEffect">
                                  <p:stCondLst>
                                    <p:cond delay="0"/>
                                  </p:stCondLst>
                                  <p:childTnLst>
                                    <p:set>
                                      <p:cBhvr>
                                        <p:cTn id="33" dur="1" fill="hold">
                                          <p:stCondLst>
                                            <p:cond delay="0"/>
                                          </p:stCondLst>
                                        </p:cTn>
                                        <p:tgtEl>
                                          <p:spTgt spid="9"/>
                                        </p:tgtEl>
                                        <p:attrNameLst>
                                          <p:attrName>style.visibility</p:attrName>
                                        </p:attrNameLst>
                                      </p:cBhvr>
                                      <p:to>
                                        <p:strVal val="visible"/>
                                      </p:to>
                                    </p:set>
                                    <p:animEffect transition="in" filter="fade">
                                      <p:cBhvr>
                                        <p:cTn id="34" dur="1000"/>
                                        <p:tgtEl>
                                          <p:spTgt spid="9"/>
                                        </p:tgtEl>
                                      </p:cBhvr>
                                    </p:animEffect>
                                  </p:childTnLst>
                                </p:cTn>
                              </p:par>
                            </p:childTnLst>
                          </p:cTn>
                        </p:par>
                      </p:childTnLst>
                    </p:cTn>
                  </p:par>
                  <p:par>
                    <p:cTn id="35" fill="hold">
                      <p:stCondLst>
                        <p:cond delay="indefinite"/>
                      </p:stCondLst>
                      <p:childTnLst>
                        <p:par>
                          <p:cTn id="36" fill="hold">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childTnLst>
                          </p:cTn>
                        </p:par>
                        <p:par>
                          <p:cTn id="40" fill="hold">
                            <p:stCondLst>
                              <p:cond delay="500"/>
                            </p:stCondLst>
                            <p:childTnLst>
                              <p:par>
                                <p:cTn id="41" presetID="10" presetClass="entr" presetSubtype="0" fill="hold" nodeType="after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autoUpdateAnimBg="0"/>
      <p:bldP spid="6" grpId="0" animBg="1" autoUpdateAnimBg="0"/>
      <p:bldP spid="8" grpId="0" animBg="1" autoUpdateAnimBg="0"/>
      <p:bldP spid="11" grpId="0" animBg="1" autoUpdateAnimBg="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3"/>
          <p:cNvSpPr txBox="1">
            <a:spLocks noChangeArrowheads="1"/>
          </p:cNvSpPr>
          <p:nvPr/>
        </p:nvSpPr>
        <p:spPr bwMode="auto">
          <a:xfrm>
            <a:off x="642938" y="1412775"/>
            <a:ext cx="8501062" cy="4714875"/>
          </a:xfrm>
          <a:prstGeom prst="rect">
            <a:avLst/>
          </a:prstGeom>
          <a:noFill/>
          <a:ln w="9525">
            <a:noFill/>
            <a:miter lim="800000"/>
            <a:headEnd/>
            <a:tailEnd/>
          </a:ln>
        </p:spPr>
        <p:txBody>
          <a:bodyPr/>
          <a:lstStyle/>
          <a:p>
            <a:pPr marL="342900" indent="-342900" algn="just" eaLnBrk="0" hangingPunct="0">
              <a:spcBef>
                <a:spcPct val="20000"/>
              </a:spcBef>
              <a:buFont typeface="楷体_GB2312" pitchFamily="49" charset="-122"/>
              <a:buChar char="☆"/>
            </a:pPr>
            <a:r>
              <a:rPr lang="en-US" altLang="zh-CN" sz="2400" dirty="0" err="1">
                <a:latin typeface="楷体_GB2312" pitchFamily="49" charset="-122"/>
                <a:ea typeface="楷体_GB2312" pitchFamily="49" charset="-122"/>
              </a:rPr>
              <a:t>grop</a:t>
            </a:r>
            <a:r>
              <a:rPr lang="en-US" altLang="zh-CN" sz="2400" dirty="0">
                <a:latin typeface="楷体_GB2312" pitchFamily="49" charset="-122"/>
                <a:ea typeface="楷体_GB2312" pitchFamily="49" charset="-122"/>
              </a:rPr>
              <a:t> by </a:t>
            </a:r>
            <a:r>
              <a:rPr lang="zh-CN" altLang="en-US" sz="2400" dirty="0">
                <a:latin typeface="楷体_GB2312" pitchFamily="49" charset="-122"/>
                <a:ea typeface="楷体_GB2312" pitchFamily="49" charset="-122"/>
              </a:rPr>
              <a:t>子句后面可以跟上</a:t>
            </a:r>
            <a:r>
              <a:rPr lang="en-US" altLang="zh-CN" sz="2400" dirty="0">
                <a:solidFill>
                  <a:srgbClr val="0000FF"/>
                </a:solidFill>
                <a:latin typeface="楷体_GB2312" pitchFamily="49" charset="-122"/>
                <a:ea typeface="楷体_GB2312" pitchFamily="49" charset="-122"/>
              </a:rPr>
              <a:t>HAVING</a:t>
            </a:r>
            <a:r>
              <a:rPr lang="zh-CN" altLang="en-US" sz="2400" dirty="0">
                <a:solidFill>
                  <a:srgbClr val="0000FF"/>
                </a:solidFill>
                <a:latin typeface="楷体_GB2312" pitchFamily="49" charset="-122"/>
                <a:ea typeface="楷体_GB2312" pitchFamily="49" charset="-122"/>
              </a:rPr>
              <a:t>短语。</a:t>
            </a:r>
            <a:r>
              <a:rPr lang="en-US" altLang="zh-CN" sz="2400" dirty="0">
                <a:latin typeface="楷体_GB2312" pitchFamily="49" charset="-122"/>
                <a:ea typeface="楷体_GB2312" pitchFamily="49" charset="-122"/>
              </a:rPr>
              <a:t>HAVING</a:t>
            </a:r>
            <a:r>
              <a:rPr lang="zh-CN" altLang="en-US" sz="2400" dirty="0">
                <a:latin typeface="楷体_GB2312" pitchFamily="49" charset="-122"/>
                <a:ea typeface="楷体_GB2312" pitchFamily="49" charset="-122"/>
              </a:rPr>
              <a:t>短语用来指定条件，只有满足</a:t>
            </a:r>
            <a:r>
              <a:rPr lang="en-US" altLang="zh-CN" sz="2400" dirty="0">
                <a:latin typeface="楷体_GB2312" pitchFamily="49" charset="-122"/>
                <a:ea typeface="楷体_GB2312" pitchFamily="49" charset="-122"/>
              </a:rPr>
              <a:t>HAVING</a:t>
            </a:r>
            <a:r>
              <a:rPr lang="zh-CN" altLang="en-US" sz="2400" dirty="0">
                <a:latin typeface="楷体_GB2312" pitchFamily="49" charset="-122"/>
                <a:ea typeface="楷体_GB2312" pitchFamily="49" charset="-122"/>
              </a:rPr>
              <a:t>短语指定条件的组才输出。</a:t>
            </a:r>
          </a:p>
          <a:p>
            <a:pPr marL="342900" indent="-342900" algn="just" eaLnBrk="0" hangingPunct="0">
              <a:spcBef>
                <a:spcPct val="20000"/>
              </a:spcBef>
            </a:pPr>
            <a:r>
              <a:rPr lang="zh-CN" altLang="en-US" sz="2400" dirty="0">
                <a:latin typeface="楷体_GB2312" pitchFamily="49" charset="-122"/>
                <a:ea typeface="楷体_GB2312" pitchFamily="49" charset="-122"/>
              </a:rPr>
              <a:t>  例如：</a:t>
            </a:r>
            <a:endParaRPr lang="en-US" altLang="zh-CN" sz="2400" dirty="0">
              <a:latin typeface="楷体_GB2312" pitchFamily="49" charset="-122"/>
              <a:ea typeface="楷体_GB2312" pitchFamily="49" charset="-122"/>
            </a:endParaRPr>
          </a:p>
          <a:p>
            <a:pPr marL="342900" indent="-342900" algn="just" eaLnBrk="0" hangingPunct="0">
              <a:spcBef>
                <a:spcPct val="20000"/>
              </a:spcBef>
            </a:pPr>
            <a:r>
              <a:rPr lang="en-US" altLang="zh-CN" sz="2400" dirty="0">
                <a:latin typeface="楷体_GB2312" pitchFamily="49" charset="-122"/>
                <a:ea typeface="楷体_GB2312" pitchFamily="49" charset="-122"/>
              </a:rPr>
              <a:t>  </a:t>
            </a:r>
            <a:r>
              <a:rPr lang="zh-CN" altLang="en-US" sz="2400" dirty="0">
                <a:latin typeface="楷体_GB2312" pitchFamily="49" charset="-122"/>
                <a:ea typeface="楷体_GB2312" pitchFamily="49" charset="-122"/>
              </a:rPr>
              <a:t>查询平均成绩大于</a:t>
            </a:r>
            <a:r>
              <a:rPr lang="en-US" altLang="zh-CN" sz="2400" dirty="0">
                <a:latin typeface="楷体_GB2312" pitchFamily="49" charset="-122"/>
                <a:ea typeface="楷体_GB2312" pitchFamily="49" charset="-122"/>
              </a:rPr>
              <a:t>85</a:t>
            </a:r>
            <a:r>
              <a:rPr lang="zh-CN" altLang="en-US" sz="2400" dirty="0">
                <a:latin typeface="楷体_GB2312" pitchFamily="49" charset="-122"/>
                <a:ea typeface="楷体_GB2312" pitchFamily="49" charset="-122"/>
              </a:rPr>
              <a:t>分的各门课程的课号及平均成绩。</a:t>
            </a:r>
          </a:p>
          <a:p>
            <a:pPr marL="742950" lvl="1" indent="-285750" algn="just" eaLnBrk="0" hangingPunct="0">
              <a:spcBef>
                <a:spcPct val="20000"/>
              </a:spcBef>
              <a:buClr>
                <a:srgbClr val="FFFF00"/>
              </a:buClr>
            </a:pPr>
            <a:r>
              <a:rPr lang="en-US" altLang="zh-CN" sz="2400" dirty="0">
                <a:solidFill>
                  <a:srgbClr val="002060"/>
                </a:solidFill>
                <a:latin typeface="楷体_GB2312" pitchFamily="49" charset="-122"/>
                <a:ea typeface="楷体_GB2312" pitchFamily="49" charset="-122"/>
              </a:rPr>
              <a:t>Select </a:t>
            </a:r>
            <a:r>
              <a:rPr lang="en-US" altLang="zh-CN" sz="2400" dirty="0" err="1">
                <a:solidFill>
                  <a:srgbClr val="002060"/>
                </a:solidFill>
                <a:latin typeface="楷体_GB2312" pitchFamily="49" charset="-122"/>
                <a:ea typeface="楷体_GB2312" pitchFamily="49" charset="-122"/>
              </a:rPr>
              <a:t>Cno</a:t>
            </a:r>
            <a:r>
              <a:rPr lang="en-US" altLang="zh-CN" sz="2400" dirty="0">
                <a:solidFill>
                  <a:srgbClr val="002060"/>
                </a:solidFill>
                <a:latin typeface="楷体_GB2312" pitchFamily="49" charset="-122"/>
                <a:ea typeface="楷体_GB2312" pitchFamily="49" charset="-122"/>
              </a:rPr>
              <a:t>, </a:t>
            </a:r>
            <a:r>
              <a:rPr lang="en-US" altLang="zh-CN" sz="2400" dirty="0" err="1">
                <a:solidFill>
                  <a:srgbClr val="002060"/>
                </a:solidFill>
                <a:latin typeface="楷体_GB2312" pitchFamily="49" charset="-122"/>
                <a:ea typeface="楷体_GB2312" pitchFamily="49" charset="-122"/>
              </a:rPr>
              <a:t>avg</a:t>
            </a:r>
            <a:r>
              <a:rPr lang="en-US" altLang="zh-CN" sz="2400" dirty="0">
                <a:solidFill>
                  <a:srgbClr val="002060"/>
                </a:solidFill>
                <a:latin typeface="楷体_GB2312" pitchFamily="49" charset="-122"/>
                <a:ea typeface="楷体_GB2312" pitchFamily="49" charset="-122"/>
              </a:rPr>
              <a:t>(grade) from SC group by </a:t>
            </a:r>
            <a:r>
              <a:rPr lang="en-US" altLang="zh-CN" sz="2400" dirty="0" err="1">
                <a:solidFill>
                  <a:srgbClr val="002060"/>
                </a:solidFill>
                <a:latin typeface="楷体_GB2312" pitchFamily="49" charset="-122"/>
                <a:ea typeface="楷体_GB2312" pitchFamily="49" charset="-122"/>
              </a:rPr>
              <a:t>Cno</a:t>
            </a:r>
            <a:endParaRPr lang="en-US" altLang="zh-CN" sz="2400" dirty="0">
              <a:solidFill>
                <a:srgbClr val="002060"/>
              </a:solidFill>
              <a:latin typeface="楷体_GB2312" pitchFamily="49" charset="-122"/>
              <a:ea typeface="楷体_GB2312" pitchFamily="49" charset="-122"/>
            </a:endParaRPr>
          </a:p>
          <a:p>
            <a:pPr marL="742950" lvl="1" indent="-285750" algn="just" eaLnBrk="0" hangingPunct="0">
              <a:spcBef>
                <a:spcPct val="20000"/>
              </a:spcBef>
              <a:buClr>
                <a:srgbClr val="FFFF00"/>
              </a:buClr>
            </a:pPr>
            <a:r>
              <a:rPr lang="en-US" altLang="zh-CN" sz="2400" dirty="0">
                <a:solidFill>
                  <a:srgbClr val="002060"/>
                </a:solidFill>
                <a:latin typeface="楷体_GB2312" pitchFamily="49" charset="-122"/>
                <a:ea typeface="楷体_GB2312" pitchFamily="49" charset="-122"/>
              </a:rPr>
              <a:t>	     </a:t>
            </a:r>
            <a:r>
              <a:rPr lang="en-US" altLang="zh-CN" sz="2400" dirty="0">
                <a:solidFill>
                  <a:srgbClr val="0000FF"/>
                </a:solidFill>
                <a:latin typeface="楷体_GB2312" pitchFamily="49" charset="-122"/>
                <a:ea typeface="楷体_GB2312" pitchFamily="49" charset="-122"/>
              </a:rPr>
              <a:t>HAVING </a:t>
            </a:r>
            <a:r>
              <a:rPr lang="en-US" altLang="zh-CN" sz="2400" dirty="0" err="1">
                <a:solidFill>
                  <a:srgbClr val="0000FF"/>
                </a:solidFill>
                <a:latin typeface="楷体_GB2312" pitchFamily="49" charset="-122"/>
                <a:ea typeface="楷体_GB2312" pitchFamily="49" charset="-122"/>
              </a:rPr>
              <a:t>avg</a:t>
            </a:r>
            <a:r>
              <a:rPr lang="en-US" altLang="zh-CN" sz="2400" dirty="0">
                <a:solidFill>
                  <a:srgbClr val="0000FF"/>
                </a:solidFill>
                <a:latin typeface="楷体_GB2312" pitchFamily="49" charset="-122"/>
                <a:ea typeface="楷体_GB2312" pitchFamily="49" charset="-122"/>
              </a:rPr>
              <a:t>(grade) &gt; 85;</a:t>
            </a:r>
          </a:p>
          <a:p>
            <a:pPr marL="742950" lvl="1" indent="-285750" algn="just" eaLnBrk="0" hangingPunct="0">
              <a:spcBef>
                <a:spcPct val="20000"/>
              </a:spcBef>
              <a:buClr>
                <a:srgbClr val="FFFF00"/>
              </a:buClr>
            </a:pPr>
            <a:endParaRPr lang="en-US" altLang="zh-CN" sz="2400" dirty="0">
              <a:solidFill>
                <a:srgbClr val="0000FF"/>
              </a:solidFill>
              <a:latin typeface="楷体_GB2312" pitchFamily="49" charset="-122"/>
              <a:ea typeface="楷体_GB2312" pitchFamily="49" charset="-122"/>
            </a:endParaRPr>
          </a:p>
          <a:p>
            <a:pPr marL="742950" lvl="1" indent="-285750" algn="just" eaLnBrk="0" hangingPunct="0">
              <a:spcBef>
                <a:spcPct val="20000"/>
              </a:spcBef>
            </a:pPr>
            <a:endParaRPr lang="en-US" altLang="zh-CN" sz="2400" dirty="0">
              <a:latin typeface="楷体_GB2312" pitchFamily="49" charset="-122"/>
              <a:ea typeface="楷体_GB2312" pitchFamily="49" charset="-122"/>
            </a:endParaRPr>
          </a:p>
        </p:txBody>
      </p:sp>
    </p:spTree>
    <p:extLst>
      <p:ext uri="{BB962C8B-B14F-4D97-AF65-F5344CB8AC3E}">
        <p14:creationId xmlns:p14="http://schemas.microsoft.com/office/powerpoint/2010/main" val="3875758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animEffect transition="in" filter="wipe(left)">
                                      <p:cBhvr>
                                        <p:cTn id="11" dur="500"/>
                                        <p:tgtEl>
                                          <p:spTgt spid="2">
                                            <p:txEl>
                                              <p:pRg st="1" end="1"/>
                                            </p:txEl>
                                          </p:spTgt>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animEffect transition="in" filter="wipe(left)">
                                      <p:cBhvr>
                                        <p:cTn id="15" dur="500"/>
                                        <p:tgtEl>
                                          <p:spTgt spid="2">
                                            <p:txEl>
                                              <p:pRg st="2" end="2"/>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
                                            <p:txEl>
                                              <p:pRg st="3" end="3"/>
                                            </p:txEl>
                                          </p:spTgt>
                                        </p:tgtEl>
                                        <p:attrNameLst>
                                          <p:attrName>style.visibility</p:attrName>
                                        </p:attrNameLst>
                                      </p:cBhvr>
                                      <p:to>
                                        <p:strVal val="visible"/>
                                      </p:to>
                                    </p:set>
                                    <p:animEffect transition="in" filter="wipe(left)">
                                      <p:cBhvr>
                                        <p:cTn id="20" dur="500"/>
                                        <p:tgtEl>
                                          <p:spTgt spid="2">
                                            <p:txEl>
                                              <p:pRg st="3" end="3"/>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2">
                                            <p:txEl>
                                              <p:pRg st="4" end="4"/>
                                            </p:txEl>
                                          </p:spTgt>
                                        </p:tgtEl>
                                        <p:attrNameLst>
                                          <p:attrName>style.visibility</p:attrName>
                                        </p:attrNameLst>
                                      </p:cBhvr>
                                      <p:to>
                                        <p:strVal val="visible"/>
                                      </p:to>
                                    </p:set>
                                    <p:animEffect transition="in" filter="wipe(left)">
                                      <p:cBhvr>
                                        <p:cTn id="25"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10729" y="1484784"/>
            <a:ext cx="9144000" cy="5262979"/>
          </a:xfrm>
          <a:prstGeom prst="rect">
            <a:avLst/>
          </a:prstGeom>
        </p:spPr>
        <p:txBody>
          <a:bodyPr wrap="square">
            <a:spAutoFit/>
          </a:bodyPr>
          <a:lstStyle/>
          <a:p>
            <a:r>
              <a:rPr lang="en-US" altLang="zh-CN" dirty="0" smtClean="0"/>
              <a:t>[</a:t>
            </a:r>
            <a:r>
              <a:rPr lang="zh-CN" altLang="en-US" dirty="0" smtClean="0"/>
              <a:t>练习</a:t>
            </a:r>
            <a:r>
              <a:rPr lang="en-US" altLang="zh-CN" dirty="0" smtClean="0"/>
              <a:t>]</a:t>
            </a:r>
            <a:r>
              <a:rPr lang="zh-CN" altLang="en-US" dirty="0"/>
              <a:t>查询平均成绩大于等于</a:t>
            </a:r>
            <a:r>
              <a:rPr lang="en-US" altLang="zh-CN" dirty="0"/>
              <a:t>90</a:t>
            </a:r>
            <a:r>
              <a:rPr lang="zh-CN" altLang="en-US" dirty="0"/>
              <a:t>分的学生学号和平均</a:t>
            </a:r>
            <a:r>
              <a:rPr lang="zh-CN" altLang="en-US" dirty="0" smtClean="0"/>
              <a:t>成绩</a:t>
            </a:r>
            <a:endParaRPr lang="en-US" altLang="zh-CN" dirty="0" smtClean="0"/>
          </a:p>
          <a:p>
            <a:r>
              <a:rPr lang="zh-CN" altLang="en-US" dirty="0" smtClean="0"/>
              <a:t>下面</a:t>
            </a:r>
            <a:r>
              <a:rPr lang="zh-CN" altLang="en-US" dirty="0"/>
              <a:t>的语句是不对的</a:t>
            </a:r>
            <a:r>
              <a:rPr lang="en-US" altLang="zh-CN" dirty="0" smtClean="0"/>
              <a:t>:</a:t>
            </a:r>
          </a:p>
          <a:p>
            <a:r>
              <a:rPr lang="en-US" altLang="zh-CN" sz="2000" dirty="0" smtClean="0"/>
              <a:t>SELECT </a:t>
            </a:r>
            <a:r>
              <a:rPr lang="en-US" altLang="zh-CN" sz="2000" dirty="0" err="1"/>
              <a:t>Sno</a:t>
            </a:r>
            <a:r>
              <a:rPr lang="en-US" altLang="zh-CN" sz="2000" dirty="0"/>
              <a:t>, </a:t>
            </a:r>
            <a:endParaRPr lang="en-US" altLang="zh-CN" sz="2000" dirty="0" smtClean="0"/>
          </a:p>
          <a:p>
            <a:r>
              <a:rPr lang="en-US" altLang="zh-CN" sz="2000" dirty="0" smtClean="0"/>
              <a:t>AVG(Grade) </a:t>
            </a:r>
          </a:p>
          <a:p>
            <a:r>
              <a:rPr lang="en-US" altLang="zh-CN" sz="2000" dirty="0" smtClean="0"/>
              <a:t>FROM SC </a:t>
            </a:r>
          </a:p>
          <a:p>
            <a:r>
              <a:rPr lang="en-US" altLang="zh-CN" sz="2000" dirty="0" smtClean="0"/>
              <a:t>WHERE </a:t>
            </a:r>
            <a:r>
              <a:rPr lang="en-US" altLang="zh-CN" sz="2000" dirty="0"/>
              <a:t>AVG(Grade)&gt;=</a:t>
            </a:r>
            <a:r>
              <a:rPr lang="en-US" altLang="zh-CN" sz="2000" dirty="0" smtClean="0"/>
              <a:t>90</a:t>
            </a:r>
          </a:p>
          <a:p>
            <a:r>
              <a:rPr lang="en-US" altLang="zh-CN" sz="2000" dirty="0" smtClean="0"/>
              <a:t>GROUP </a:t>
            </a:r>
            <a:r>
              <a:rPr lang="en-US" altLang="zh-CN" sz="2000" dirty="0"/>
              <a:t>BY </a:t>
            </a:r>
            <a:r>
              <a:rPr lang="en-US" altLang="zh-CN" sz="2000" dirty="0" err="1"/>
              <a:t>Sno</a:t>
            </a:r>
            <a:r>
              <a:rPr lang="en-US" altLang="zh-CN" sz="2000" dirty="0" smtClean="0"/>
              <a:t>;</a:t>
            </a:r>
          </a:p>
          <a:p>
            <a:r>
              <a:rPr lang="zh-CN" altLang="en-US" dirty="0" smtClean="0">
                <a:solidFill>
                  <a:srgbClr val="FF0000"/>
                </a:solidFill>
              </a:rPr>
              <a:t>因为</a:t>
            </a:r>
            <a:r>
              <a:rPr lang="en-US" altLang="zh-CN" dirty="0">
                <a:solidFill>
                  <a:srgbClr val="FF0000"/>
                </a:solidFill>
              </a:rPr>
              <a:t>WHERE</a:t>
            </a:r>
            <a:r>
              <a:rPr lang="zh-CN" altLang="en-US" dirty="0">
                <a:solidFill>
                  <a:srgbClr val="FF0000"/>
                </a:solidFill>
              </a:rPr>
              <a:t>子句中是不能用聚集函数作为</a:t>
            </a:r>
            <a:r>
              <a:rPr lang="zh-CN" altLang="en-US" dirty="0" smtClean="0">
                <a:solidFill>
                  <a:srgbClr val="FF0000"/>
                </a:solidFill>
              </a:rPr>
              <a:t>条件</a:t>
            </a:r>
            <a:endParaRPr lang="en-US" altLang="zh-CN" dirty="0" smtClean="0">
              <a:solidFill>
                <a:srgbClr val="FF0000"/>
              </a:solidFill>
            </a:endParaRPr>
          </a:p>
          <a:p>
            <a:r>
              <a:rPr lang="zh-CN" altLang="en-US" dirty="0" smtClean="0"/>
              <a:t>表达式</a:t>
            </a:r>
            <a:r>
              <a:rPr lang="zh-CN" altLang="en-US" dirty="0"/>
              <a:t>正确的查询语句应该是</a:t>
            </a:r>
            <a:r>
              <a:rPr lang="en-US" altLang="zh-CN" dirty="0" smtClean="0"/>
              <a:t>:</a:t>
            </a:r>
          </a:p>
          <a:p>
            <a:r>
              <a:rPr lang="en-US" altLang="zh-CN" sz="2400" dirty="0" smtClean="0"/>
              <a:t>SELECT </a:t>
            </a:r>
            <a:r>
              <a:rPr lang="en-US" altLang="zh-CN" sz="2400" dirty="0" err="1"/>
              <a:t>Sno</a:t>
            </a:r>
            <a:r>
              <a:rPr lang="en-US" altLang="zh-CN" sz="2400" dirty="0"/>
              <a:t>, </a:t>
            </a:r>
            <a:endParaRPr lang="en-US" altLang="zh-CN" sz="2400" dirty="0" smtClean="0"/>
          </a:p>
          <a:p>
            <a:r>
              <a:rPr lang="en-US" altLang="zh-CN" sz="2400" dirty="0" smtClean="0"/>
              <a:t>AVG(Grade)</a:t>
            </a:r>
          </a:p>
          <a:p>
            <a:r>
              <a:rPr lang="en-US" altLang="zh-CN" sz="2400" dirty="0" smtClean="0"/>
              <a:t>FROM SC</a:t>
            </a:r>
          </a:p>
          <a:p>
            <a:r>
              <a:rPr lang="en-US" altLang="zh-CN" sz="2400" dirty="0" smtClean="0"/>
              <a:t>GROUP </a:t>
            </a:r>
            <a:r>
              <a:rPr lang="en-US" altLang="zh-CN" sz="2400" dirty="0"/>
              <a:t>BY </a:t>
            </a:r>
            <a:r>
              <a:rPr lang="en-US" altLang="zh-CN" sz="2400" dirty="0" err="1" smtClean="0"/>
              <a:t>Sno</a:t>
            </a:r>
            <a:r>
              <a:rPr lang="en-US" altLang="zh-CN" sz="2400" dirty="0" smtClean="0"/>
              <a:t> </a:t>
            </a:r>
          </a:p>
          <a:p>
            <a:r>
              <a:rPr lang="en-US" altLang="zh-CN" sz="2400" dirty="0" smtClean="0"/>
              <a:t>HAVING </a:t>
            </a:r>
            <a:r>
              <a:rPr lang="en-US" altLang="zh-CN" sz="2400" dirty="0"/>
              <a:t>AVG(Grade)&gt;=90;</a:t>
            </a:r>
            <a:endParaRPr lang="zh-CN" altLang="en-US" sz="2400" dirty="0"/>
          </a:p>
        </p:txBody>
      </p:sp>
    </p:spTree>
    <p:extLst>
      <p:ext uri="{BB962C8B-B14F-4D97-AF65-F5344CB8AC3E}">
        <p14:creationId xmlns:p14="http://schemas.microsoft.com/office/powerpoint/2010/main" val="1735172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xEl>
                                              <p:pRg st="2" end="2"/>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
                                            <p:txEl>
                                              <p:pRg st="10" end="1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1" end="11"/>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2">
                                            <p:txEl>
                                              <p:pRg st="12" end="12"/>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395536" y="1182231"/>
            <a:ext cx="8208912" cy="3108543"/>
          </a:xfrm>
          <a:prstGeom prst="rect">
            <a:avLst/>
          </a:prstGeom>
        </p:spPr>
        <p:txBody>
          <a:bodyPr wrap="square">
            <a:spAutoFit/>
          </a:bodyPr>
          <a:lstStyle/>
          <a:p>
            <a:r>
              <a:rPr lang="en-US" altLang="zh-CN" dirty="0"/>
              <a:t>[</a:t>
            </a:r>
            <a:r>
              <a:rPr lang="zh-CN" altLang="en-US" dirty="0" smtClean="0"/>
              <a:t>练习</a:t>
            </a:r>
            <a:r>
              <a:rPr lang="en-US" altLang="zh-CN" dirty="0" smtClean="0"/>
              <a:t>]</a:t>
            </a:r>
            <a:r>
              <a:rPr lang="zh-CN" altLang="en-US" dirty="0"/>
              <a:t>列出计算机系姓刘的同学的信息，按照学号大小</a:t>
            </a:r>
            <a:r>
              <a:rPr lang="zh-CN" altLang="en-US" dirty="0" smtClean="0"/>
              <a:t>排序</a:t>
            </a:r>
            <a:endParaRPr lang="en-US" altLang="zh-CN" dirty="0" smtClean="0"/>
          </a:p>
          <a:p>
            <a:endParaRPr lang="en-US" altLang="zh-CN" dirty="0" smtClean="0"/>
          </a:p>
          <a:p>
            <a:r>
              <a:rPr lang="en-US" altLang="zh-CN" dirty="0" smtClean="0"/>
              <a:t>SELECT *</a:t>
            </a:r>
          </a:p>
          <a:p>
            <a:r>
              <a:rPr lang="en-US" altLang="zh-CN" dirty="0" smtClean="0"/>
              <a:t>FROM Student</a:t>
            </a:r>
          </a:p>
          <a:p>
            <a:r>
              <a:rPr lang="en-US" altLang="zh-CN" dirty="0" smtClean="0"/>
              <a:t>WHERE </a:t>
            </a:r>
            <a:r>
              <a:rPr lang="en-US" altLang="zh-CN" dirty="0" err="1"/>
              <a:t>Sdept</a:t>
            </a:r>
            <a:r>
              <a:rPr lang="en-US" altLang="zh-CN" dirty="0"/>
              <a:t>='CS' AND </a:t>
            </a:r>
            <a:r>
              <a:rPr lang="en-US" altLang="zh-CN" dirty="0" err="1"/>
              <a:t>Sname</a:t>
            </a:r>
            <a:r>
              <a:rPr lang="en-US" altLang="zh-CN" dirty="0"/>
              <a:t> LIKE‘</a:t>
            </a:r>
            <a:r>
              <a:rPr lang="zh-CN" altLang="en-US" dirty="0"/>
              <a:t>刘</a:t>
            </a:r>
            <a:r>
              <a:rPr lang="en-US" altLang="zh-CN" dirty="0" smtClean="0"/>
              <a:t>%’</a:t>
            </a:r>
          </a:p>
          <a:p>
            <a:r>
              <a:rPr lang="en-US" altLang="zh-CN" dirty="0" smtClean="0"/>
              <a:t>ORDER </a:t>
            </a:r>
            <a:r>
              <a:rPr lang="en-US" altLang="zh-CN" dirty="0"/>
              <a:t>BY </a:t>
            </a:r>
            <a:r>
              <a:rPr lang="en-US" altLang="zh-CN" dirty="0" err="1"/>
              <a:t>Sno</a:t>
            </a:r>
            <a:r>
              <a:rPr lang="en-US" altLang="zh-CN" dirty="0"/>
              <a:t>;</a:t>
            </a:r>
            <a:endParaRPr lang="zh-CN" altLang="en-US" dirty="0"/>
          </a:p>
        </p:txBody>
      </p:sp>
    </p:spTree>
    <p:extLst>
      <p:ext uri="{BB962C8B-B14F-4D97-AF65-F5344CB8AC3E}">
        <p14:creationId xmlns:p14="http://schemas.microsoft.com/office/powerpoint/2010/main" val="648333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251520" y="1874729"/>
            <a:ext cx="8424936" cy="2677656"/>
          </a:xfrm>
          <a:prstGeom prst="rect">
            <a:avLst/>
          </a:prstGeom>
        </p:spPr>
        <p:txBody>
          <a:bodyPr wrap="square">
            <a:spAutoFit/>
          </a:bodyPr>
          <a:lstStyle/>
          <a:p>
            <a:r>
              <a:rPr lang="en-US" altLang="zh-CN" dirty="0"/>
              <a:t>[</a:t>
            </a:r>
            <a:r>
              <a:rPr lang="zh-CN" altLang="en-US" dirty="0" smtClean="0"/>
              <a:t>练习</a:t>
            </a:r>
            <a:r>
              <a:rPr lang="en-US" altLang="zh-CN" dirty="0" smtClean="0"/>
              <a:t>]</a:t>
            </a:r>
            <a:r>
              <a:rPr lang="zh-CN" altLang="en-US" dirty="0"/>
              <a:t>按系并区分男女统计各系学生的人数、并按照人数降序</a:t>
            </a:r>
            <a:r>
              <a:rPr lang="zh-CN" altLang="en-US" dirty="0" smtClean="0"/>
              <a:t>排序</a:t>
            </a:r>
            <a:endParaRPr lang="en-US" altLang="zh-CN" dirty="0" smtClean="0"/>
          </a:p>
          <a:p>
            <a:r>
              <a:rPr lang="en-US" altLang="zh-CN" dirty="0" smtClean="0"/>
              <a:t>SELECT </a:t>
            </a:r>
            <a:r>
              <a:rPr lang="en-US" altLang="zh-CN" dirty="0" err="1"/>
              <a:t>Sdept</a:t>
            </a:r>
            <a:r>
              <a:rPr lang="en-US" altLang="zh-CN" dirty="0"/>
              <a:t>, </a:t>
            </a:r>
            <a:r>
              <a:rPr lang="en-US" altLang="zh-CN" dirty="0" err="1"/>
              <a:t>Ssex</a:t>
            </a:r>
            <a:r>
              <a:rPr lang="en-US" altLang="zh-CN" dirty="0" smtClean="0"/>
              <a:t>, COUNT(</a:t>
            </a:r>
            <a:r>
              <a:rPr lang="en-US" altLang="zh-CN" dirty="0" err="1" smtClean="0"/>
              <a:t>Sno</a:t>
            </a:r>
            <a:r>
              <a:rPr lang="en-US" altLang="zh-CN" dirty="0" smtClean="0"/>
              <a:t>)</a:t>
            </a:r>
          </a:p>
          <a:p>
            <a:r>
              <a:rPr lang="en-US" altLang="zh-CN" dirty="0" smtClean="0"/>
              <a:t>FROM Student</a:t>
            </a:r>
          </a:p>
          <a:p>
            <a:r>
              <a:rPr lang="en-US" altLang="zh-CN" dirty="0" smtClean="0"/>
              <a:t>GROUP </a:t>
            </a:r>
            <a:r>
              <a:rPr lang="en-US" altLang="zh-CN" dirty="0"/>
              <a:t>BY </a:t>
            </a:r>
            <a:r>
              <a:rPr lang="en-US" altLang="zh-CN" dirty="0" err="1" smtClean="0"/>
              <a:t>Sdept,Ssex</a:t>
            </a:r>
            <a:endParaRPr lang="en-US" altLang="zh-CN" dirty="0" smtClean="0"/>
          </a:p>
          <a:p>
            <a:r>
              <a:rPr lang="en-US" altLang="zh-CN" dirty="0" smtClean="0"/>
              <a:t>ORDER </a:t>
            </a:r>
            <a:r>
              <a:rPr lang="en-US" altLang="zh-CN" dirty="0"/>
              <a:t>BY COUNT(</a:t>
            </a:r>
            <a:r>
              <a:rPr lang="en-US" altLang="zh-CN" dirty="0" err="1"/>
              <a:t>Sno</a:t>
            </a:r>
            <a:r>
              <a:rPr lang="en-US" altLang="zh-CN" dirty="0"/>
              <a:t>) DESC;</a:t>
            </a:r>
            <a:endParaRPr lang="zh-CN" altLang="en-US" dirty="0"/>
          </a:p>
        </p:txBody>
      </p:sp>
    </p:spTree>
    <p:extLst>
      <p:ext uri="{BB962C8B-B14F-4D97-AF65-F5344CB8AC3E}">
        <p14:creationId xmlns:p14="http://schemas.microsoft.com/office/powerpoint/2010/main" val="4048992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584" y="116632"/>
            <a:ext cx="8280920"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3.9 A complete description of Select</a:t>
            </a:r>
          </a:p>
        </p:txBody>
      </p:sp>
      <p:sp>
        <p:nvSpPr>
          <p:cNvPr id="3" name="Rectangle 2"/>
          <p:cNvSpPr/>
          <p:nvPr/>
        </p:nvSpPr>
        <p:spPr>
          <a:xfrm>
            <a:off x="-4253" y="908720"/>
            <a:ext cx="9144000" cy="4560223"/>
          </a:xfrm>
          <a:prstGeom prst="rect">
            <a:avLst/>
          </a:prstGeom>
        </p:spPr>
        <p:txBody>
          <a:bodyPr wrap="square">
            <a:spAutoFit/>
          </a:bodyPr>
          <a:lstStyle/>
          <a:p>
            <a:pPr>
              <a:lnSpc>
                <a:spcPct val="150000"/>
              </a:lnSpc>
            </a:pPr>
            <a:r>
              <a:rPr lang="en-US" sz="2400" dirty="0">
                <a:solidFill>
                  <a:srgbClr val="7030A0"/>
                </a:solidFill>
                <a:latin typeface="Times New Roman" panose="02020603050405020304" pitchFamily="18" charset="0"/>
                <a:cs typeface="Times New Roman" panose="02020603050405020304" pitchFamily="18" charset="0"/>
              </a:rPr>
              <a:t>1. Experiments of making a Select statement</a:t>
            </a:r>
          </a:p>
          <a:p>
            <a:pPr marL="716280" lvl="1" indent="-259080">
              <a:lnSpc>
                <a:spcPts val="3200"/>
              </a:lnSpc>
              <a:spcBef>
                <a:spcPts val="600"/>
              </a:spcBef>
              <a:buFont typeface="+mj-lt"/>
              <a:buAutoNum type="alphaLcParenR"/>
            </a:pPr>
            <a:r>
              <a:rPr lang="en-US" sz="2000" dirty="0">
                <a:solidFill>
                  <a:srgbClr val="002060"/>
                </a:solidFill>
                <a:latin typeface="Times New Roman" panose="02020603050405020304" pitchFamily="18" charset="0"/>
                <a:cs typeface="Times New Roman" panose="02020603050405020304" pitchFamily="18" charset="0"/>
              </a:rPr>
              <a:t>The </a:t>
            </a:r>
            <a:r>
              <a:rPr lang="en-US" sz="2000" dirty="0">
                <a:solidFill>
                  <a:srgbClr val="C00000"/>
                </a:solidFill>
                <a:latin typeface="Times New Roman" panose="02020603050405020304" pitchFamily="18" charset="0"/>
                <a:cs typeface="Times New Roman" panose="02020603050405020304" pitchFamily="18" charset="0"/>
              </a:rPr>
              <a:t>Cartesian Product </a:t>
            </a:r>
            <a:r>
              <a:rPr lang="en-US" sz="2000" dirty="0">
                <a:solidFill>
                  <a:srgbClr val="002060"/>
                </a:solidFill>
                <a:latin typeface="Times New Roman" panose="02020603050405020304" pitchFamily="18" charset="0"/>
                <a:cs typeface="Times New Roman" panose="02020603050405020304" pitchFamily="18" charset="0"/>
              </a:rPr>
              <a:t>of all tables in </a:t>
            </a:r>
            <a:r>
              <a:rPr lang="en-US" sz="2000" i="1" dirty="0">
                <a:solidFill>
                  <a:srgbClr val="7030A0"/>
                </a:solidFill>
                <a:latin typeface="Times New Roman" panose="02020603050405020304" pitchFamily="18" charset="0"/>
                <a:cs typeface="Times New Roman" panose="02020603050405020304" pitchFamily="18" charset="0"/>
              </a:rPr>
              <a:t>FROM</a:t>
            </a:r>
            <a:r>
              <a:rPr lang="en-US" sz="2000" dirty="0">
                <a:solidFill>
                  <a:srgbClr val="002060"/>
                </a:solidFill>
                <a:latin typeface="Times New Roman" panose="02020603050405020304" pitchFamily="18" charset="0"/>
                <a:cs typeface="Times New Roman" panose="02020603050405020304" pitchFamily="18" charset="0"/>
              </a:rPr>
              <a:t> clause is formed.</a:t>
            </a:r>
          </a:p>
          <a:p>
            <a:pPr marL="716280" lvl="1" indent="-259080">
              <a:lnSpc>
                <a:spcPts val="3200"/>
              </a:lnSpc>
              <a:spcBef>
                <a:spcPts val="600"/>
              </a:spcBef>
              <a:buFont typeface="+mj-lt"/>
              <a:buAutoNum type="alphaLcParenR"/>
            </a:pPr>
            <a:r>
              <a:rPr lang="en-US" sz="2000" dirty="0">
                <a:solidFill>
                  <a:srgbClr val="C00000"/>
                </a:solidFill>
                <a:latin typeface="Times New Roman" panose="02020603050405020304" pitchFamily="18" charset="0"/>
                <a:cs typeface="Times New Roman" panose="02020603050405020304" pitchFamily="18" charset="0"/>
              </a:rPr>
              <a:t>Rows not satisfying </a:t>
            </a:r>
            <a:r>
              <a:rPr lang="en-US" sz="2000" dirty="0">
                <a:solidFill>
                  <a:srgbClr val="002060"/>
                </a:solidFill>
                <a:latin typeface="Times New Roman" panose="02020603050405020304" pitchFamily="18" charset="0"/>
                <a:cs typeface="Times New Roman" panose="02020603050405020304" pitchFamily="18" charset="0"/>
              </a:rPr>
              <a:t>in </a:t>
            </a:r>
            <a:r>
              <a:rPr lang="en-US" sz="2000" i="1" dirty="0">
                <a:solidFill>
                  <a:srgbClr val="7030A0"/>
                </a:solidFill>
                <a:latin typeface="Times New Roman" panose="02020603050405020304" pitchFamily="18" charset="0"/>
                <a:cs typeface="Times New Roman" panose="02020603050405020304" pitchFamily="18" charset="0"/>
              </a:rPr>
              <a:t>WHERE</a:t>
            </a:r>
            <a:r>
              <a:rPr lang="en-US" sz="2000" dirty="0">
                <a:solidFill>
                  <a:srgbClr val="002060"/>
                </a:solidFill>
                <a:latin typeface="Times New Roman" panose="02020603050405020304" pitchFamily="18" charset="0"/>
                <a:cs typeface="Times New Roman" panose="02020603050405020304" pitchFamily="18" charset="0"/>
              </a:rPr>
              <a:t> condition are eliminated </a:t>
            </a:r>
            <a:r>
              <a:rPr lang="en-US" sz="1600" dirty="0">
                <a:solidFill>
                  <a:srgbClr val="002060"/>
                </a:solidFill>
                <a:latin typeface="Times New Roman" panose="02020603050405020304" pitchFamily="18" charset="0"/>
                <a:cs typeface="Times New Roman" panose="02020603050405020304" pitchFamily="18" charset="0"/>
              </a:rPr>
              <a:t>(</a:t>
            </a:r>
            <a:r>
              <a:rPr lang="en-US" sz="1600" dirty="0" err="1">
                <a:solidFill>
                  <a:srgbClr val="002060"/>
                </a:solidFill>
                <a:latin typeface="Times New Roman" panose="02020603050405020304" pitchFamily="18" charset="0"/>
                <a:cs typeface="Times New Roman" panose="02020603050405020304" pitchFamily="18" charset="0"/>
              </a:rPr>
              <a:t>消去</a:t>
            </a:r>
            <a:r>
              <a:rPr lang="en-US" sz="1600" dirty="0">
                <a:solidFill>
                  <a:srgbClr val="002060"/>
                </a:solidFill>
                <a:latin typeface="Times New Roman" panose="02020603050405020304" pitchFamily="18" charset="0"/>
                <a:cs typeface="Times New Roman" panose="02020603050405020304" pitchFamily="18" charset="0"/>
              </a:rPr>
              <a:t>/</a:t>
            </a:r>
            <a:r>
              <a:rPr lang="en-US" sz="1600" dirty="0" err="1">
                <a:solidFill>
                  <a:srgbClr val="002060"/>
                </a:solidFill>
                <a:latin typeface="Times New Roman" panose="02020603050405020304" pitchFamily="18" charset="0"/>
                <a:cs typeface="Times New Roman" panose="02020603050405020304" pitchFamily="18" charset="0"/>
              </a:rPr>
              <a:t>限制</a:t>
            </a:r>
            <a:r>
              <a:rPr lang="en-US" sz="1600" dirty="0">
                <a:solidFill>
                  <a:srgbClr val="002060"/>
                </a:solidFill>
                <a:latin typeface="Times New Roman" panose="02020603050405020304" pitchFamily="18" charset="0"/>
                <a:cs typeface="Times New Roman" panose="02020603050405020304" pitchFamily="18" charset="0"/>
              </a:rPr>
              <a:t>).</a:t>
            </a:r>
          </a:p>
          <a:p>
            <a:pPr marL="716280" lvl="1" indent="-259080">
              <a:lnSpc>
                <a:spcPts val="3200"/>
              </a:lnSpc>
              <a:spcBef>
                <a:spcPts val="600"/>
              </a:spcBef>
              <a:buFont typeface="+mj-lt"/>
              <a:buAutoNum type="alphaLcParenR"/>
            </a:pPr>
            <a:r>
              <a:rPr lang="en-US" sz="2000" dirty="0">
                <a:solidFill>
                  <a:srgbClr val="C00000"/>
                </a:solidFill>
                <a:latin typeface="Times New Roman" panose="02020603050405020304" pitchFamily="18" charset="0"/>
                <a:cs typeface="Times New Roman" panose="02020603050405020304" pitchFamily="18" charset="0"/>
              </a:rPr>
              <a:t>Rearranging rows </a:t>
            </a:r>
            <a:r>
              <a:rPr lang="en-US" sz="2000" dirty="0">
                <a:solidFill>
                  <a:srgbClr val="002060"/>
                </a:solidFill>
                <a:latin typeface="Times New Roman" panose="02020603050405020304" pitchFamily="18" charset="0"/>
                <a:cs typeface="Times New Roman" panose="02020603050405020304" pitchFamily="18" charset="0"/>
              </a:rPr>
              <a:t>are grouped in accordance with the </a:t>
            </a:r>
            <a:r>
              <a:rPr lang="en-US" sz="2000" i="1" dirty="0">
                <a:solidFill>
                  <a:srgbClr val="7030A0"/>
                </a:solidFill>
                <a:latin typeface="Times New Roman" panose="02020603050405020304" pitchFamily="18" charset="0"/>
                <a:cs typeface="Times New Roman" panose="02020603050405020304" pitchFamily="18" charset="0"/>
              </a:rPr>
              <a:t>GROUP BY</a:t>
            </a:r>
            <a:r>
              <a:rPr lang="en-US" sz="2000" dirty="0">
                <a:solidFill>
                  <a:srgbClr val="002060"/>
                </a:solidFill>
                <a:latin typeface="Times New Roman" panose="02020603050405020304" pitchFamily="18" charset="0"/>
                <a:cs typeface="Times New Roman" panose="02020603050405020304" pitchFamily="18" charset="0"/>
              </a:rPr>
              <a:t>.</a:t>
            </a:r>
          </a:p>
          <a:p>
            <a:pPr marL="716280" lvl="1" indent="-259080">
              <a:lnSpc>
                <a:spcPts val="3200"/>
              </a:lnSpc>
              <a:spcBef>
                <a:spcPts val="600"/>
              </a:spcBef>
              <a:buFont typeface="+mj-lt"/>
              <a:buAutoNum type="alphaLcParenR"/>
            </a:pPr>
            <a:r>
              <a:rPr lang="en-US" sz="2000" dirty="0">
                <a:solidFill>
                  <a:srgbClr val="C00000"/>
                </a:solidFill>
                <a:latin typeface="Times New Roman" panose="02020603050405020304" pitchFamily="18" charset="0"/>
                <a:cs typeface="Times New Roman" panose="02020603050405020304" pitchFamily="18" charset="0"/>
              </a:rPr>
              <a:t>Groups not satisfying </a:t>
            </a:r>
            <a:r>
              <a:rPr lang="en-US" sz="2000" dirty="0">
                <a:solidFill>
                  <a:srgbClr val="002060"/>
                </a:solidFill>
                <a:latin typeface="Times New Roman" panose="02020603050405020304" pitchFamily="18" charset="0"/>
                <a:cs typeface="Times New Roman" panose="02020603050405020304" pitchFamily="18" charset="0"/>
              </a:rPr>
              <a:t>the </a:t>
            </a:r>
            <a:r>
              <a:rPr lang="en-US" sz="2000" i="1" dirty="0">
                <a:solidFill>
                  <a:srgbClr val="7030A0"/>
                </a:solidFill>
                <a:latin typeface="Times New Roman" panose="02020603050405020304" pitchFamily="18" charset="0"/>
                <a:cs typeface="Times New Roman" panose="02020603050405020304" pitchFamily="18" charset="0"/>
              </a:rPr>
              <a:t>HAVING</a:t>
            </a:r>
            <a:r>
              <a:rPr lang="en-US" sz="2000" dirty="0">
                <a:solidFill>
                  <a:srgbClr val="002060"/>
                </a:solidFill>
                <a:latin typeface="Times New Roman" panose="02020603050405020304" pitchFamily="18" charset="0"/>
                <a:cs typeface="Times New Roman" panose="02020603050405020304" pitchFamily="18" charset="0"/>
              </a:rPr>
              <a:t> clause are then eliminated.</a:t>
            </a:r>
          </a:p>
          <a:p>
            <a:pPr marL="716280" lvl="1" indent="-259080">
              <a:lnSpc>
                <a:spcPts val="3200"/>
              </a:lnSpc>
              <a:spcBef>
                <a:spcPts val="600"/>
              </a:spcBef>
              <a:buFont typeface="+mj-lt"/>
              <a:buAutoNum type="alphaLcParenR"/>
            </a:pPr>
            <a:r>
              <a:rPr lang="en-US" sz="2000" dirty="0">
                <a:solidFill>
                  <a:srgbClr val="C00000"/>
                </a:solidFill>
                <a:latin typeface="Times New Roman" panose="02020603050405020304" pitchFamily="18" charset="0"/>
                <a:cs typeface="Times New Roman" panose="02020603050405020304" pitchFamily="18" charset="0"/>
              </a:rPr>
              <a:t>The expressions of the Select Clause </a:t>
            </a:r>
            <a:r>
              <a:rPr lang="en-US" sz="2000" i="1" dirty="0">
                <a:solidFill>
                  <a:srgbClr val="7030A0"/>
                </a:solidFill>
                <a:latin typeface="Times New Roman" panose="02020603050405020304" pitchFamily="18" charset="0"/>
                <a:cs typeface="Times New Roman" panose="02020603050405020304" pitchFamily="18" charset="0"/>
              </a:rPr>
              <a:t>target list </a:t>
            </a:r>
            <a:r>
              <a:rPr lang="en-US" sz="2000" dirty="0">
                <a:solidFill>
                  <a:srgbClr val="002060"/>
                </a:solidFill>
                <a:latin typeface="Times New Roman" panose="02020603050405020304" pitchFamily="18" charset="0"/>
                <a:cs typeface="Times New Roman" panose="02020603050405020304" pitchFamily="18" charset="0"/>
              </a:rPr>
              <a:t>are calculated.</a:t>
            </a:r>
          </a:p>
          <a:p>
            <a:pPr marL="716280" lvl="1" indent="-259080">
              <a:lnSpc>
                <a:spcPts val="3200"/>
              </a:lnSpc>
              <a:spcBef>
                <a:spcPts val="600"/>
              </a:spcBef>
              <a:buFont typeface="+mj-lt"/>
              <a:buAutoNum type="alphaLcParenR"/>
            </a:pPr>
            <a:r>
              <a:rPr lang="en-US" sz="2000" dirty="0">
                <a:solidFill>
                  <a:srgbClr val="002060"/>
                </a:solidFill>
                <a:latin typeface="Times New Roman" panose="02020603050405020304" pitchFamily="18" charset="0"/>
                <a:cs typeface="Times New Roman" panose="02020603050405020304" pitchFamily="18" charset="0"/>
              </a:rPr>
              <a:t>If the keyword </a:t>
            </a:r>
            <a:r>
              <a:rPr lang="en-US" sz="2000" dirty="0">
                <a:solidFill>
                  <a:srgbClr val="C00000"/>
                </a:solidFill>
                <a:latin typeface="Times New Roman" panose="02020603050405020304" pitchFamily="18" charset="0"/>
                <a:cs typeface="Times New Roman" panose="02020603050405020304" pitchFamily="18" charset="0"/>
              </a:rPr>
              <a:t>DISTINCT</a:t>
            </a:r>
            <a:r>
              <a:rPr lang="en-US" sz="2000" dirty="0">
                <a:solidFill>
                  <a:srgbClr val="002060"/>
                </a:solidFill>
                <a:latin typeface="Times New Roman" panose="02020603050405020304" pitchFamily="18" charset="0"/>
                <a:cs typeface="Times New Roman" panose="02020603050405020304" pitchFamily="18" charset="0"/>
              </a:rPr>
              <a:t> is present, </a:t>
            </a:r>
            <a:r>
              <a:rPr lang="en-US" sz="2000" i="1" dirty="0">
                <a:solidFill>
                  <a:srgbClr val="7030A0"/>
                </a:solidFill>
                <a:latin typeface="Times New Roman" panose="02020603050405020304" pitchFamily="18" charset="0"/>
                <a:cs typeface="Times New Roman" panose="02020603050405020304" pitchFamily="18" charset="0"/>
              </a:rPr>
              <a:t>duplicate rows are eliminated</a:t>
            </a:r>
            <a:r>
              <a:rPr lang="en-US" sz="2000" dirty="0">
                <a:solidFill>
                  <a:srgbClr val="002060"/>
                </a:solidFill>
                <a:latin typeface="Times New Roman" panose="02020603050405020304" pitchFamily="18" charset="0"/>
                <a:cs typeface="Times New Roman" panose="02020603050405020304" pitchFamily="18" charset="0"/>
              </a:rPr>
              <a:t>. The </a:t>
            </a:r>
            <a:r>
              <a:rPr lang="en-US" sz="2000" dirty="0">
                <a:solidFill>
                  <a:srgbClr val="C00000"/>
                </a:solidFill>
                <a:latin typeface="Times New Roman" panose="02020603050405020304" pitchFamily="18" charset="0"/>
                <a:cs typeface="Times New Roman" panose="02020603050405020304" pitchFamily="18" charset="0"/>
              </a:rPr>
              <a:t>UNION</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INTERSECT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EXCEPT</a:t>
            </a:r>
            <a:r>
              <a:rPr lang="en-US" sz="2000" dirty="0">
                <a:solidFill>
                  <a:srgbClr val="002060"/>
                </a:solidFill>
                <a:latin typeface="Times New Roman" panose="02020603050405020304" pitchFamily="18" charset="0"/>
                <a:cs typeface="Times New Roman" panose="02020603050405020304" pitchFamily="18" charset="0"/>
              </a:rPr>
              <a:t> is taken after each </a:t>
            </a:r>
            <a:r>
              <a:rPr lang="en-US" sz="2000" dirty="0" err="1">
                <a:solidFill>
                  <a:srgbClr val="002060"/>
                </a:solidFill>
                <a:latin typeface="Times New Roman" panose="02020603050405020304" pitchFamily="18" charset="0"/>
                <a:cs typeface="Times New Roman" panose="02020603050405020304" pitchFamily="18" charset="0"/>
              </a:rPr>
              <a:t>subquery</a:t>
            </a:r>
            <a:r>
              <a:rPr lang="en-US" sz="2000" dirty="0">
                <a:solidFill>
                  <a:srgbClr val="002060"/>
                </a:solidFill>
                <a:latin typeface="Times New Roman" panose="02020603050405020304" pitchFamily="18" charset="0"/>
                <a:cs typeface="Times New Roman" panose="02020603050405020304" pitchFamily="18" charset="0"/>
              </a:rPr>
              <a:t>.</a:t>
            </a:r>
          </a:p>
          <a:p>
            <a:pPr marL="716280" lvl="1" indent="-259080">
              <a:lnSpc>
                <a:spcPts val="3200"/>
              </a:lnSpc>
              <a:spcBef>
                <a:spcPts val="600"/>
              </a:spcBef>
              <a:buFont typeface="+mj-lt"/>
              <a:buAutoNum type="alphaLcParenR"/>
            </a:pPr>
            <a:r>
              <a:rPr lang="en-US" sz="2000" dirty="0">
                <a:solidFill>
                  <a:srgbClr val="002060"/>
                </a:solidFill>
                <a:latin typeface="Times New Roman" panose="02020603050405020304" pitchFamily="18" charset="0"/>
                <a:cs typeface="Times New Roman" panose="02020603050405020304" pitchFamily="18" charset="0"/>
              </a:rPr>
              <a:t>If an </a:t>
            </a:r>
            <a:r>
              <a:rPr lang="en-US" sz="2000" dirty="0">
                <a:solidFill>
                  <a:srgbClr val="C00000"/>
                </a:solidFill>
                <a:latin typeface="Times New Roman" panose="02020603050405020304" pitchFamily="18" charset="0"/>
                <a:cs typeface="Times New Roman" panose="02020603050405020304" pitchFamily="18" charset="0"/>
              </a:rPr>
              <a:t>ORDER</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BY</a:t>
            </a:r>
            <a:r>
              <a:rPr lang="en-US" sz="2000" dirty="0">
                <a:solidFill>
                  <a:srgbClr val="002060"/>
                </a:solidFill>
                <a:latin typeface="Times New Roman" panose="02020603050405020304" pitchFamily="18" charset="0"/>
                <a:cs typeface="Times New Roman" panose="02020603050405020304" pitchFamily="18" charset="0"/>
              </a:rPr>
              <a:t> is present that set of </a:t>
            </a:r>
            <a:r>
              <a:rPr lang="en-US" sz="2000" i="1" dirty="0">
                <a:solidFill>
                  <a:srgbClr val="7030A0"/>
                </a:solidFill>
                <a:latin typeface="Times New Roman" panose="02020603050405020304" pitchFamily="18" charset="0"/>
                <a:cs typeface="Times New Roman" panose="02020603050405020304" pitchFamily="18" charset="0"/>
              </a:rPr>
              <a:t>all selected rows is sorted</a:t>
            </a:r>
            <a:r>
              <a:rPr lang="en-US" sz="2000" dirty="0">
                <a:solidFill>
                  <a:srgbClr val="002060"/>
                </a:solidFill>
                <a:latin typeface="Times New Roman" panose="02020603050405020304" pitchFamily="18" charset="0"/>
                <a:cs typeface="Times New Roman" panose="02020603050405020304" pitchFamily="18" charset="0"/>
              </a:rPr>
              <a:t>.</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箭头: 左弧形 17">
            <a:extLst>
              <a:ext uri="{FF2B5EF4-FFF2-40B4-BE49-F238E27FC236}">
                <a16:creationId xmlns="" xmlns:a16="http://schemas.microsoft.com/office/drawing/2014/main" id="{F5473C05-DC7E-41EE-AFC2-3ECD1D170716}"/>
              </a:ext>
            </a:extLst>
          </p:cNvPr>
          <p:cNvSpPr/>
          <p:nvPr/>
        </p:nvSpPr>
        <p:spPr bwMode="auto">
          <a:xfrm rot="16200000">
            <a:off x="4360497" y="1921353"/>
            <a:ext cx="350999" cy="2664294"/>
          </a:xfrm>
          <a:prstGeom prst="curvedRightArrow">
            <a:avLst/>
          </a:prstGeom>
          <a:solidFill>
            <a:srgbClr val="FFFF00"/>
          </a:solidFill>
          <a:ln>
            <a:solidFill>
              <a:srgbClr val="FFFF00"/>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itchFamily="34" charset="0"/>
              <a:ea typeface="宋体" charset="-122"/>
            </a:endParaRPr>
          </a:p>
        </p:txBody>
      </p:sp>
      <p:sp>
        <p:nvSpPr>
          <p:cNvPr id="19" name="箭头: 左弧形 18">
            <a:extLst>
              <a:ext uri="{FF2B5EF4-FFF2-40B4-BE49-F238E27FC236}">
                <a16:creationId xmlns="" xmlns:a16="http://schemas.microsoft.com/office/drawing/2014/main" id="{4E5175D7-2437-4571-BDF4-6C4DD6884107}"/>
              </a:ext>
            </a:extLst>
          </p:cNvPr>
          <p:cNvSpPr/>
          <p:nvPr/>
        </p:nvSpPr>
        <p:spPr bwMode="auto">
          <a:xfrm rot="16200000">
            <a:off x="5404612" y="1242444"/>
            <a:ext cx="350999" cy="4032448"/>
          </a:xfrm>
          <a:prstGeom prst="curvedRightArrow">
            <a:avLst/>
          </a:prstGeom>
          <a:solidFill>
            <a:srgbClr val="FFFF00"/>
          </a:solidFill>
          <a:ln>
            <a:solidFill>
              <a:srgbClr val="FFFF00"/>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itchFamily="34" charset="0"/>
              <a:ea typeface="宋体" charset="-122"/>
            </a:endParaRPr>
          </a:p>
        </p:txBody>
      </p:sp>
      <p:sp>
        <p:nvSpPr>
          <p:cNvPr id="3" name="Rectangle 2"/>
          <p:cNvSpPr/>
          <p:nvPr/>
        </p:nvSpPr>
        <p:spPr>
          <a:xfrm>
            <a:off x="144016" y="908720"/>
            <a:ext cx="8964488" cy="1321003"/>
          </a:xfrm>
          <a:prstGeom prst="rect">
            <a:avLst/>
          </a:prstGeom>
        </p:spPr>
        <p:txBody>
          <a:bodyPr wrap="square">
            <a:spAutoFit/>
          </a:bodyPr>
          <a:lstStyle/>
          <a:p>
            <a:pPr>
              <a:lnSpc>
                <a:spcPct val="120000"/>
              </a:lnSpc>
              <a:spcBef>
                <a:spcPts val="600"/>
              </a:spcBef>
            </a:pPr>
            <a:r>
              <a:rPr lang="en-US" sz="2400" dirty="0">
                <a:solidFill>
                  <a:srgbClr val="7030A0"/>
                </a:solidFill>
                <a:latin typeface="Times New Roman" panose="02020603050405020304" pitchFamily="18" charset="0"/>
                <a:cs typeface="Times New Roman" panose="02020603050405020304" pitchFamily="18" charset="0"/>
              </a:rPr>
              <a:t>2.Example </a:t>
            </a:r>
            <a:r>
              <a:rPr lang="en-US" sz="2200" dirty="0">
                <a:solidFill>
                  <a:srgbClr val="7030A0"/>
                </a:solidFill>
                <a:latin typeface="Times New Roman" panose="02020603050405020304" pitchFamily="18" charset="0"/>
                <a:cs typeface="Times New Roman" panose="02020603050405020304" pitchFamily="18" charset="0"/>
              </a:rPr>
              <a:t>3.9.1  </a:t>
            </a:r>
            <a:r>
              <a:rPr lang="en-US" sz="2200" dirty="0">
                <a:solidFill>
                  <a:srgbClr val="7030A0"/>
                </a:solidFill>
                <a:latin typeface="+mn-lt"/>
                <a:cs typeface="Times New Roman" panose="02020603050405020304" pitchFamily="18" charset="0"/>
              </a:rPr>
              <a:t>List all customers, agents and the dollar sales for pairs of customers and agents, and order the result from largest to smallest sales totals. Retain only those pairs for which the dollar amount is at least 900.</a:t>
            </a:r>
          </a:p>
        </p:txBody>
      </p:sp>
      <p:sp>
        <p:nvSpPr>
          <p:cNvPr id="4" name="Rectangle 1"/>
          <p:cNvSpPr/>
          <p:nvPr/>
        </p:nvSpPr>
        <p:spPr>
          <a:xfrm>
            <a:off x="827584" y="116632"/>
            <a:ext cx="8280920"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3.9 A complete description of Select</a:t>
            </a:r>
          </a:p>
        </p:txBody>
      </p:sp>
      <p:sp>
        <p:nvSpPr>
          <p:cNvPr id="10" name="Rectangle 2">
            <a:extLst>
              <a:ext uri="{FF2B5EF4-FFF2-40B4-BE49-F238E27FC236}">
                <a16:creationId xmlns="" xmlns:a16="http://schemas.microsoft.com/office/drawing/2014/main" id="{954E5AAB-F70B-46A2-8C52-6D5EB9872132}"/>
              </a:ext>
            </a:extLst>
          </p:cNvPr>
          <p:cNvSpPr/>
          <p:nvPr/>
        </p:nvSpPr>
        <p:spPr>
          <a:xfrm>
            <a:off x="179512" y="3738682"/>
            <a:ext cx="8964488" cy="2714654"/>
          </a:xfrm>
          <a:prstGeom prst="rect">
            <a:avLst/>
          </a:prstGeom>
        </p:spPr>
        <p:txBody>
          <a:bodyPr wrap="square">
            <a:spAutoFit/>
          </a:bodyPr>
          <a:lstStyle/>
          <a:p>
            <a:pPr>
              <a:lnSpc>
                <a:spcPct val="120000"/>
              </a:lnSpc>
              <a:spcBef>
                <a:spcPts val="600"/>
              </a:spcBef>
            </a:pPr>
            <a:r>
              <a:rPr lang="en-US" sz="2000" i="1" dirty="0">
                <a:solidFill>
                  <a:srgbClr val="7030A0"/>
                </a:solidFill>
                <a:latin typeface="Times New Roman" panose="02020603050405020304" pitchFamily="18" charset="0"/>
                <a:cs typeface="Times New Roman" panose="02020603050405020304" pitchFamily="18" charset="0"/>
              </a:rPr>
              <a:t>select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c.cname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C00000"/>
                </a:solidFill>
                <a:latin typeface="Times New Roman" panose="02020603050405020304" pitchFamily="18" charset="0"/>
                <a:cs typeface="Times New Roman" panose="02020603050405020304" pitchFamily="18" charset="0"/>
              </a:rPr>
              <a:t>c.cid</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a.aname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C00000"/>
                </a:solidFill>
                <a:latin typeface="Times New Roman" panose="02020603050405020304" pitchFamily="18" charset="0"/>
                <a:cs typeface="Times New Roman" panose="02020603050405020304" pitchFamily="18" charset="0"/>
              </a:rPr>
              <a:t>a.aid</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sum(</a:t>
            </a:r>
            <a:r>
              <a:rPr lang="en-US" sz="2000" dirty="0" err="1">
                <a:solidFill>
                  <a:srgbClr val="C00000"/>
                </a:solidFill>
                <a:latin typeface="Times New Roman" panose="02020603050405020304" pitchFamily="18" charset="0"/>
                <a:cs typeface="Times New Roman" panose="02020603050405020304" pitchFamily="18" charset="0"/>
              </a:rPr>
              <a:t>o.dollars</a:t>
            </a:r>
            <a:r>
              <a:rPr lang="en-US" sz="2000" dirty="0">
                <a:solidFill>
                  <a:srgbClr val="C00000"/>
                </a:solidFill>
                <a:latin typeface="Times New Roman" panose="02020603050405020304" pitchFamily="18" charset="0"/>
                <a:cs typeface="Times New Roman" panose="02020603050405020304" pitchFamily="18" charset="0"/>
              </a:rPr>
              <a:t>)</a:t>
            </a:r>
            <a:r>
              <a:rPr lang="en-US" sz="2000" dirty="0">
                <a:solidFill>
                  <a:srgbClr val="002060"/>
                </a:solidFill>
                <a:latin typeface="Times New Roman" panose="02020603050405020304" pitchFamily="18" charset="0"/>
                <a:cs typeface="Times New Roman" panose="02020603050405020304" pitchFamily="18" charset="0"/>
              </a:rPr>
              <a:t> as </a:t>
            </a:r>
            <a:r>
              <a:rPr lang="en-US" sz="2000" dirty="0" err="1">
                <a:solidFill>
                  <a:srgbClr val="002060"/>
                </a:solidFill>
                <a:latin typeface="Times New Roman" panose="02020603050405020304" pitchFamily="18" charset="0"/>
                <a:cs typeface="Times New Roman" panose="02020603050405020304" pitchFamily="18" charset="0"/>
              </a:rPr>
              <a:t>casales</a:t>
            </a:r>
            <a:endParaRPr lang="en-US" sz="2000" dirty="0">
              <a:solidFill>
                <a:srgbClr val="002060"/>
              </a:solidFill>
              <a:latin typeface="Times New Roman" panose="02020603050405020304" pitchFamily="18" charset="0"/>
              <a:cs typeface="Times New Roman" panose="02020603050405020304" pitchFamily="18" charset="0"/>
            </a:endParaRP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i="1" dirty="0">
                <a:solidFill>
                  <a:srgbClr val="7030A0"/>
                </a:solidFill>
                <a:latin typeface="Times New Roman" panose="02020603050405020304" pitchFamily="18" charset="0"/>
                <a:cs typeface="Times New Roman" panose="02020603050405020304" pitchFamily="18" charset="0"/>
              </a:rPr>
              <a:t>from</a:t>
            </a:r>
            <a:r>
              <a:rPr lang="en-US" sz="2000" dirty="0">
                <a:solidFill>
                  <a:srgbClr val="002060"/>
                </a:solidFill>
                <a:latin typeface="Times New Roman" panose="02020603050405020304" pitchFamily="18" charset="0"/>
                <a:cs typeface="Times New Roman" panose="02020603050405020304" pitchFamily="18" charset="0"/>
              </a:rPr>
              <a:t> customers c, orders o, agents a  </a:t>
            </a: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i="1" dirty="0">
                <a:solidFill>
                  <a:srgbClr val="7030A0"/>
                </a:solidFill>
                <a:latin typeface="Times New Roman" panose="02020603050405020304" pitchFamily="18" charset="0"/>
                <a:cs typeface="Times New Roman" panose="02020603050405020304" pitchFamily="18" charset="0"/>
              </a:rPr>
              <a:t>where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c.cid</a:t>
            </a:r>
            <a:r>
              <a:rPr lang="en-US" sz="2000" dirty="0">
                <a:solidFill>
                  <a:srgbClr val="002060"/>
                </a:solidFill>
                <a:latin typeface="Times New Roman" panose="02020603050405020304" pitchFamily="18" charset="0"/>
                <a:cs typeface="Times New Roman" panose="02020603050405020304" pitchFamily="18" charset="0"/>
              </a:rPr>
              <a:t> = </a:t>
            </a:r>
            <a:r>
              <a:rPr lang="en-US" sz="2000" dirty="0" err="1">
                <a:solidFill>
                  <a:srgbClr val="002060"/>
                </a:solidFill>
                <a:latin typeface="Times New Roman" panose="02020603050405020304" pitchFamily="18" charset="0"/>
                <a:cs typeface="Times New Roman" panose="02020603050405020304" pitchFamily="18" charset="0"/>
              </a:rPr>
              <a:t>o.cid</a:t>
            </a:r>
            <a:r>
              <a:rPr lang="en-US" sz="2000" dirty="0">
                <a:solidFill>
                  <a:srgbClr val="002060"/>
                </a:solidFill>
                <a:latin typeface="Times New Roman" panose="02020603050405020304" pitchFamily="18" charset="0"/>
                <a:cs typeface="Times New Roman" panose="02020603050405020304" pitchFamily="18" charset="0"/>
              </a:rPr>
              <a:t> and </a:t>
            </a:r>
            <a:r>
              <a:rPr lang="en-US" sz="2000" dirty="0" err="1">
                <a:solidFill>
                  <a:srgbClr val="002060"/>
                </a:solidFill>
                <a:latin typeface="Times New Roman" panose="02020603050405020304" pitchFamily="18" charset="0"/>
                <a:cs typeface="Times New Roman" panose="02020603050405020304" pitchFamily="18" charset="0"/>
              </a:rPr>
              <a:t>o.aid</a:t>
            </a:r>
            <a:r>
              <a:rPr lang="en-US" sz="2000" dirty="0">
                <a:solidFill>
                  <a:srgbClr val="002060"/>
                </a:solidFill>
                <a:latin typeface="Times New Roman" panose="02020603050405020304" pitchFamily="18" charset="0"/>
                <a:cs typeface="Times New Roman" panose="02020603050405020304" pitchFamily="18" charset="0"/>
              </a:rPr>
              <a:t> = </a:t>
            </a:r>
            <a:r>
              <a:rPr lang="en-US" sz="2000" dirty="0" err="1">
                <a:solidFill>
                  <a:srgbClr val="002060"/>
                </a:solidFill>
                <a:latin typeface="Times New Roman" panose="02020603050405020304" pitchFamily="18" charset="0"/>
                <a:cs typeface="Times New Roman" panose="02020603050405020304" pitchFamily="18" charset="0"/>
              </a:rPr>
              <a:t>a.aid</a:t>
            </a:r>
            <a:endParaRPr lang="en-US" sz="2000" dirty="0">
              <a:solidFill>
                <a:srgbClr val="002060"/>
              </a:solidFill>
              <a:latin typeface="Times New Roman" panose="02020603050405020304" pitchFamily="18" charset="0"/>
              <a:cs typeface="Times New Roman" panose="02020603050405020304" pitchFamily="18" charset="0"/>
            </a:endParaRP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i="1" dirty="0">
                <a:solidFill>
                  <a:srgbClr val="7030A0"/>
                </a:solidFill>
                <a:highlight>
                  <a:srgbClr val="FFFF00"/>
                </a:highlight>
                <a:latin typeface="Times New Roman" panose="02020603050405020304" pitchFamily="18" charset="0"/>
                <a:cs typeface="Times New Roman" panose="02020603050405020304" pitchFamily="18" charset="0"/>
              </a:rPr>
              <a:t>group by</a:t>
            </a:r>
            <a:r>
              <a:rPr lang="en-US" sz="2000" i="1" dirty="0">
                <a:solidFill>
                  <a:srgbClr val="7030A0"/>
                </a:solidFill>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rPr>
              <a:t>(</a:t>
            </a:r>
            <a:r>
              <a:rPr lang="en-US" sz="2000" dirty="0" err="1">
                <a:solidFill>
                  <a:srgbClr val="002060"/>
                </a:solidFill>
                <a:latin typeface="Times New Roman" panose="02020603050405020304" pitchFamily="18" charset="0"/>
                <a:cs typeface="Times New Roman" panose="02020603050405020304" pitchFamily="18" charset="0"/>
              </a:rPr>
              <a:t>c.cname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C00000"/>
                </a:solidFill>
                <a:latin typeface="Times New Roman" panose="02020603050405020304" pitchFamily="18" charset="0"/>
                <a:cs typeface="Times New Roman" panose="02020603050405020304" pitchFamily="18" charset="0"/>
              </a:rPr>
              <a:t>c.cid</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a.aname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C00000"/>
                </a:solidFill>
                <a:latin typeface="Times New Roman" panose="02020603050405020304" pitchFamily="18" charset="0"/>
                <a:cs typeface="Times New Roman" panose="02020603050405020304" pitchFamily="18" charset="0"/>
              </a:rPr>
              <a:t>a.aid</a:t>
            </a:r>
            <a:r>
              <a:rPr lang="en-US" sz="2000" dirty="0">
                <a:solidFill>
                  <a:srgbClr val="C00000"/>
                </a:solidFill>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rPr>
              <a:t> </a:t>
            </a:r>
          </a:p>
          <a:p>
            <a:pPr>
              <a:spcBef>
                <a:spcPts val="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i="1" dirty="0">
                <a:solidFill>
                  <a:srgbClr val="7030A0"/>
                </a:solidFill>
                <a:latin typeface="Times New Roman" panose="02020603050405020304" pitchFamily="18" charset="0"/>
                <a:cs typeface="Times New Roman" panose="02020603050405020304" pitchFamily="18" charset="0"/>
              </a:rPr>
              <a:t>having</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sum(</a:t>
            </a:r>
            <a:r>
              <a:rPr lang="en-US" sz="2000" dirty="0" err="1">
                <a:solidFill>
                  <a:srgbClr val="C00000"/>
                </a:solidFill>
                <a:latin typeface="Times New Roman" panose="02020603050405020304" pitchFamily="18" charset="0"/>
                <a:cs typeface="Times New Roman" panose="02020603050405020304" pitchFamily="18" charset="0"/>
              </a:rPr>
              <a:t>o.dollars</a:t>
            </a:r>
            <a:r>
              <a:rPr lang="en-US" sz="2000" dirty="0">
                <a:solidFill>
                  <a:srgbClr val="C00000"/>
                </a:solidFill>
                <a:latin typeface="Times New Roman" panose="02020603050405020304" pitchFamily="18" charset="0"/>
                <a:cs typeface="Times New Roman" panose="02020603050405020304" pitchFamily="18" charset="0"/>
              </a:rPr>
              <a:t>)</a:t>
            </a:r>
            <a:r>
              <a:rPr lang="en-US" sz="2000" dirty="0">
                <a:solidFill>
                  <a:srgbClr val="002060"/>
                </a:solidFill>
                <a:latin typeface="Times New Roman" panose="02020603050405020304" pitchFamily="18" charset="0"/>
                <a:cs typeface="Times New Roman" panose="02020603050405020304" pitchFamily="18" charset="0"/>
              </a:rPr>
              <a:t> &gt;= 900.00</a:t>
            </a:r>
          </a:p>
          <a:p>
            <a:pPr>
              <a:spcBef>
                <a:spcPts val="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i="1" dirty="0">
                <a:solidFill>
                  <a:srgbClr val="7030A0"/>
                </a:solidFill>
                <a:highlight>
                  <a:srgbClr val="FFFF00"/>
                </a:highlight>
                <a:latin typeface="Times New Roman" panose="02020603050405020304" pitchFamily="18" charset="0"/>
                <a:cs typeface="Times New Roman" panose="02020603050405020304" pitchFamily="18" charset="0"/>
              </a:rPr>
              <a:t>order by</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5</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desc</a:t>
            </a:r>
            <a:r>
              <a:rPr lang="en-US" sz="2000" dirty="0">
                <a:solidFill>
                  <a:srgbClr val="002060"/>
                </a:solidFill>
                <a:latin typeface="Times New Roman" panose="02020603050405020304" pitchFamily="18" charset="0"/>
                <a:cs typeface="Times New Roman" panose="02020603050405020304" pitchFamily="18" charset="0"/>
              </a:rPr>
              <a:t>;</a:t>
            </a:r>
          </a:p>
          <a:p>
            <a:pPr>
              <a:lnSpc>
                <a:spcPct val="150000"/>
              </a:lnSpc>
              <a:spcBef>
                <a:spcPts val="600"/>
              </a:spcBef>
            </a:pPr>
            <a:r>
              <a:rPr lang="en-US" sz="2000" i="1" dirty="0">
                <a:solidFill>
                  <a:srgbClr val="002060"/>
                </a:solidFill>
                <a:latin typeface="Times New Roman" panose="02020603050405020304" pitchFamily="18" charset="0"/>
                <a:cs typeface="Times New Roman" panose="02020603050405020304" pitchFamily="18" charset="0"/>
              </a:rPr>
              <a:t>Note:  </a:t>
            </a:r>
            <a:r>
              <a:rPr lang="en-US" sz="2000" i="1" dirty="0">
                <a:solidFill>
                  <a:srgbClr val="C00000"/>
                </a:solidFill>
                <a:latin typeface="Times New Roman" panose="02020603050405020304" pitchFamily="18" charset="0"/>
                <a:cs typeface="Times New Roman" panose="02020603050405020304" pitchFamily="18" charset="0"/>
              </a:rPr>
              <a:t>5</a:t>
            </a:r>
            <a:r>
              <a:rPr lang="en-US" sz="2000" i="1" dirty="0">
                <a:solidFill>
                  <a:srgbClr val="002060"/>
                </a:solidFill>
                <a:latin typeface="Times New Roman" panose="02020603050405020304" pitchFamily="18" charset="0"/>
                <a:cs typeface="Times New Roman" panose="02020603050405020304" pitchFamily="18" charset="0"/>
              </a:rPr>
              <a:t>  is means to </a:t>
            </a:r>
            <a:r>
              <a:rPr lang="en-US" sz="2000" i="1" dirty="0">
                <a:solidFill>
                  <a:srgbClr val="C00000"/>
                </a:solidFill>
                <a:latin typeface="Times New Roman" panose="02020603050405020304" pitchFamily="18" charset="0"/>
                <a:cs typeface="Times New Roman" panose="02020603050405020304" pitchFamily="18" charset="0"/>
              </a:rPr>
              <a:t>the fifth column </a:t>
            </a:r>
            <a:r>
              <a:rPr lang="en-US" sz="2000" i="1" dirty="0">
                <a:solidFill>
                  <a:srgbClr val="002060"/>
                </a:solidFill>
                <a:latin typeface="Times New Roman" panose="02020603050405020304" pitchFamily="18" charset="0"/>
                <a:cs typeface="Times New Roman" panose="02020603050405020304" pitchFamily="18" charset="0"/>
              </a:rPr>
              <a:t>“</a:t>
            </a:r>
            <a:r>
              <a:rPr lang="en-US" sz="2000" i="1" dirty="0" err="1">
                <a:solidFill>
                  <a:srgbClr val="002060"/>
                </a:solidFill>
                <a:latin typeface="Times New Roman" panose="02020603050405020304" pitchFamily="18" charset="0"/>
                <a:cs typeface="Times New Roman" panose="02020603050405020304" pitchFamily="18" charset="0"/>
              </a:rPr>
              <a:t>casales</a:t>
            </a:r>
            <a:r>
              <a:rPr lang="en-US" sz="2000" i="1" dirty="0">
                <a:solidFill>
                  <a:srgbClr val="002060"/>
                </a:solidFill>
                <a:latin typeface="Times New Roman" panose="02020603050405020304" pitchFamily="18" charset="0"/>
                <a:cs typeface="Times New Roman" panose="02020603050405020304" pitchFamily="18" charset="0"/>
              </a:rPr>
              <a:t>” is on descending.</a:t>
            </a:r>
          </a:p>
        </p:txBody>
      </p:sp>
      <p:pic>
        <p:nvPicPr>
          <p:cNvPr id="11" name="图片 10">
            <a:extLst>
              <a:ext uri="{FF2B5EF4-FFF2-40B4-BE49-F238E27FC236}">
                <a16:creationId xmlns="" xmlns:a16="http://schemas.microsoft.com/office/drawing/2014/main" id="{73D347B3-B53A-4AD1-9CAF-0CEBD9C749C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79712" y="2366596"/>
            <a:ext cx="2837483" cy="561345"/>
          </a:xfrm>
          <a:prstGeom prst="rect">
            <a:avLst/>
          </a:prstGeom>
        </p:spPr>
      </p:pic>
      <p:pic>
        <p:nvPicPr>
          <p:cNvPr id="12" name="图片 11">
            <a:extLst>
              <a:ext uri="{FF2B5EF4-FFF2-40B4-BE49-F238E27FC236}">
                <a16:creationId xmlns="" xmlns:a16="http://schemas.microsoft.com/office/drawing/2014/main" id="{006E1071-80A4-489C-AB9B-5E0C132E62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308306" y="2445964"/>
            <a:ext cx="1776009" cy="524893"/>
          </a:xfrm>
          <a:prstGeom prst="rect">
            <a:avLst/>
          </a:prstGeom>
        </p:spPr>
      </p:pic>
      <p:cxnSp>
        <p:nvCxnSpPr>
          <p:cNvPr id="14" name="直接箭头连接符 13">
            <a:extLst>
              <a:ext uri="{FF2B5EF4-FFF2-40B4-BE49-F238E27FC236}">
                <a16:creationId xmlns="" xmlns:a16="http://schemas.microsoft.com/office/drawing/2014/main" id="{1340A2EE-B2F4-4568-B858-1ED1DDBB6C08}"/>
              </a:ext>
            </a:extLst>
          </p:cNvPr>
          <p:cNvCxnSpPr>
            <a:cxnSpLocks/>
          </p:cNvCxnSpPr>
          <p:nvPr/>
        </p:nvCxnSpPr>
        <p:spPr bwMode="auto">
          <a:xfrm>
            <a:off x="3203848" y="2229723"/>
            <a:ext cx="0" cy="479942"/>
          </a:xfrm>
          <a:prstGeom prst="straightConnector1">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15" name="文本框 14">
            <a:extLst>
              <a:ext uri="{FF2B5EF4-FFF2-40B4-BE49-F238E27FC236}">
                <a16:creationId xmlns="" xmlns:a16="http://schemas.microsoft.com/office/drawing/2014/main" id="{9C38862C-F263-4102-848C-EE7041A38503}"/>
              </a:ext>
            </a:extLst>
          </p:cNvPr>
          <p:cNvSpPr txBox="1"/>
          <p:nvPr/>
        </p:nvSpPr>
        <p:spPr>
          <a:xfrm>
            <a:off x="2967053" y="2889200"/>
            <a:ext cx="1964996" cy="584775"/>
          </a:xfrm>
          <a:prstGeom prst="rect">
            <a:avLst/>
          </a:prstGeom>
          <a:noFill/>
        </p:spPr>
        <p:txBody>
          <a:bodyPr wrap="square" rtlCol="0">
            <a:spAutoFit/>
          </a:bodyPr>
          <a:lstStyle/>
          <a:p>
            <a:r>
              <a:rPr lang="zh-CN" altLang="en-US"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两级分组</a:t>
            </a:r>
            <a:r>
              <a:rPr lang="en-US" altLang="zh-CN"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 </a:t>
            </a:r>
            <a:r>
              <a:rPr lang="zh-CN" altLang="en-US"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组内求和</a:t>
            </a:r>
            <a:r>
              <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&gt;=900</a:t>
            </a:r>
            <a:r>
              <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的、排序</a:t>
            </a:r>
          </a:p>
        </p:txBody>
      </p:sp>
      <p:cxnSp>
        <p:nvCxnSpPr>
          <p:cNvPr id="16" name="直接箭头连接符 15">
            <a:extLst>
              <a:ext uri="{FF2B5EF4-FFF2-40B4-BE49-F238E27FC236}">
                <a16:creationId xmlns="" xmlns:a16="http://schemas.microsoft.com/office/drawing/2014/main" id="{C24146D9-105E-4165-A42C-82EDFD96F058}"/>
              </a:ext>
            </a:extLst>
          </p:cNvPr>
          <p:cNvCxnSpPr>
            <a:cxnSpLocks/>
          </p:cNvCxnSpPr>
          <p:nvPr/>
        </p:nvCxnSpPr>
        <p:spPr bwMode="auto">
          <a:xfrm>
            <a:off x="3563887" y="2229723"/>
            <a:ext cx="1" cy="464884"/>
          </a:xfrm>
          <a:prstGeom prst="straightConnector1">
            <a:avLst/>
          </a:prstGeom>
          <a:ln>
            <a:headEnd type="none" w="med" len="med"/>
            <a:tailEnd type="triangle"/>
          </a:ln>
        </p:spPr>
        <p:style>
          <a:lnRef idx="3">
            <a:schemeClr val="accent2"/>
          </a:lnRef>
          <a:fillRef idx="0">
            <a:schemeClr val="accent2"/>
          </a:fillRef>
          <a:effectRef idx="2">
            <a:schemeClr val="accent2"/>
          </a:effectRef>
          <a:fontRef idx="minor">
            <a:schemeClr val="tx1"/>
          </a:fontRef>
        </p:style>
      </p:cxnSp>
      <p:sp>
        <p:nvSpPr>
          <p:cNvPr id="17" name="矩形: 圆角 16">
            <a:extLst>
              <a:ext uri="{FF2B5EF4-FFF2-40B4-BE49-F238E27FC236}">
                <a16:creationId xmlns="" xmlns:a16="http://schemas.microsoft.com/office/drawing/2014/main" id="{4E1F96FB-14C8-4300-933F-6AE22A1E7F82}"/>
              </a:ext>
            </a:extLst>
          </p:cNvPr>
          <p:cNvSpPr/>
          <p:nvPr/>
        </p:nvSpPr>
        <p:spPr bwMode="auto">
          <a:xfrm>
            <a:off x="4355975" y="2654409"/>
            <a:ext cx="461215" cy="288032"/>
          </a:xfrm>
          <a:prstGeom prst="roundRect">
            <a:avLst/>
          </a:prstGeom>
          <a:noFill/>
          <a:ln w="38100">
            <a:prstDash val="sysDot"/>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pic>
        <p:nvPicPr>
          <p:cNvPr id="20" name="图片 19">
            <a:extLst>
              <a:ext uri="{FF2B5EF4-FFF2-40B4-BE49-F238E27FC236}">
                <a16:creationId xmlns="" xmlns:a16="http://schemas.microsoft.com/office/drawing/2014/main" id="{1ADAC367-9AD3-4D83-93F9-B49830FED0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626068" y="2445964"/>
            <a:ext cx="1567385" cy="524892"/>
          </a:xfrm>
          <a:prstGeom prst="rect">
            <a:avLst/>
          </a:prstGeom>
        </p:spPr>
      </p:pic>
      <p:sp>
        <p:nvSpPr>
          <p:cNvPr id="21" name="矩形: 圆角 20">
            <a:extLst>
              <a:ext uri="{FF2B5EF4-FFF2-40B4-BE49-F238E27FC236}">
                <a16:creationId xmlns="" xmlns:a16="http://schemas.microsoft.com/office/drawing/2014/main" id="{7C839B4D-B36F-4A49-9F61-C78A68B8353F}"/>
              </a:ext>
            </a:extLst>
          </p:cNvPr>
          <p:cNvSpPr/>
          <p:nvPr/>
        </p:nvSpPr>
        <p:spPr>
          <a:xfrm>
            <a:off x="3387433" y="1482000"/>
            <a:ext cx="5289023"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2" name="矩形: 圆角 21">
            <a:extLst>
              <a:ext uri="{FF2B5EF4-FFF2-40B4-BE49-F238E27FC236}">
                <a16:creationId xmlns="" xmlns:a16="http://schemas.microsoft.com/office/drawing/2014/main" id="{344CA1D4-B026-416B-A35E-8BE08637E09C}"/>
              </a:ext>
            </a:extLst>
          </p:cNvPr>
          <p:cNvSpPr/>
          <p:nvPr/>
        </p:nvSpPr>
        <p:spPr>
          <a:xfrm>
            <a:off x="6260622" y="1048949"/>
            <a:ext cx="2739361"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23" name="矩形: 圆角 22">
            <a:extLst>
              <a:ext uri="{FF2B5EF4-FFF2-40B4-BE49-F238E27FC236}">
                <a16:creationId xmlns="" xmlns:a16="http://schemas.microsoft.com/office/drawing/2014/main" id="{A633FC41-AC28-42FB-AF5E-913888A1F65B}"/>
              </a:ext>
            </a:extLst>
          </p:cNvPr>
          <p:cNvSpPr/>
          <p:nvPr/>
        </p:nvSpPr>
        <p:spPr>
          <a:xfrm>
            <a:off x="5292081" y="1865912"/>
            <a:ext cx="3384376"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left)">
                                      <p:cBhvr>
                                        <p:cTn id="7" dur="500"/>
                                        <p:tgtEl>
                                          <p:spTgt spid="11"/>
                                        </p:tgtEl>
                                      </p:cBhvr>
                                    </p:animEffect>
                                  </p:childTnLst>
                                </p:cTn>
                              </p:par>
                            </p:childTnLst>
                          </p:cTn>
                        </p:par>
                        <p:par>
                          <p:cTn id="8" fill="hold">
                            <p:stCondLst>
                              <p:cond delay="500"/>
                            </p:stCondLst>
                            <p:childTnLst>
                              <p:par>
                                <p:cTn id="9" presetID="22" presetClass="entr" presetSubtype="1" fill="hold" nodeType="afterEffect">
                                  <p:stCondLst>
                                    <p:cond delay="0"/>
                                  </p:stCondLst>
                                  <p:childTnLst>
                                    <p:set>
                                      <p:cBhvr>
                                        <p:cTn id="10" dur="1" fill="hold">
                                          <p:stCondLst>
                                            <p:cond delay="0"/>
                                          </p:stCondLst>
                                        </p:cTn>
                                        <p:tgtEl>
                                          <p:spTgt spid="14"/>
                                        </p:tgtEl>
                                        <p:attrNameLst>
                                          <p:attrName>style.visibility</p:attrName>
                                        </p:attrNameLst>
                                      </p:cBhvr>
                                      <p:to>
                                        <p:strVal val="visible"/>
                                      </p:to>
                                    </p:set>
                                    <p:animEffect transition="in" filter="wipe(up)">
                                      <p:cBhvr>
                                        <p:cTn id="11" dur="500"/>
                                        <p:tgtEl>
                                          <p:spTgt spid="14"/>
                                        </p:tgtEl>
                                      </p:cBhvr>
                                    </p:animEffect>
                                  </p:childTnLst>
                                </p:cTn>
                              </p:par>
                            </p:childTnLst>
                          </p:cTn>
                        </p:par>
                        <p:par>
                          <p:cTn id="12" fill="hold">
                            <p:stCondLst>
                              <p:cond delay="1000"/>
                            </p:stCondLst>
                            <p:childTnLst>
                              <p:par>
                                <p:cTn id="13" presetID="22" presetClass="entr" presetSubtype="1" fill="hold" nodeType="after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wipe(up)">
                                      <p:cBhvr>
                                        <p:cTn id="15" dur="500"/>
                                        <p:tgtEl>
                                          <p:spTgt spid="16"/>
                                        </p:tgtEl>
                                      </p:cBhvr>
                                    </p:animEffect>
                                  </p:childTnLst>
                                </p:cTn>
                              </p:par>
                            </p:childTnLst>
                          </p:cTn>
                        </p:par>
                        <p:par>
                          <p:cTn id="16" fill="hold">
                            <p:stCondLst>
                              <p:cond delay="1500"/>
                            </p:stCondLst>
                            <p:childTnLst>
                              <p:par>
                                <p:cTn id="17" presetID="22" presetClass="entr" presetSubtype="8"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par>
                          <p:cTn id="20" fill="hold">
                            <p:stCondLst>
                              <p:cond delay="2000"/>
                            </p:stCondLst>
                            <p:childTnLst>
                              <p:par>
                                <p:cTn id="21" presetID="21" presetClass="entr" presetSubtype="1"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heel(1)">
                                      <p:cBhvr>
                                        <p:cTn id="23" dur="2000"/>
                                        <p:tgtEl>
                                          <p:spTgt spid="17"/>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nodeType="click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wipe(left)">
                                      <p:cBhvr>
                                        <p:cTn id="28" dur="500"/>
                                        <p:tgtEl>
                                          <p:spTgt spid="20"/>
                                        </p:tgtEl>
                                      </p:cBhvr>
                                    </p:animEffect>
                                  </p:childTnLst>
                                </p:cTn>
                              </p:par>
                              <p:par>
                                <p:cTn id="29" presetID="22" presetClass="entr" presetSubtype="8"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wipe(left)">
                                      <p:cBhvr>
                                        <p:cTn id="31" dur="500"/>
                                        <p:tgtEl>
                                          <p:spTgt spid="12"/>
                                        </p:tgtEl>
                                      </p:cBhvr>
                                    </p:animEffect>
                                  </p:childTnLst>
                                </p:cTn>
                              </p:par>
                            </p:childTnLst>
                          </p:cTn>
                        </p:par>
                        <p:par>
                          <p:cTn id="32" fill="hold">
                            <p:stCondLst>
                              <p:cond delay="500"/>
                            </p:stCondLst>
                            <p:childTnLst>
                              <p:par>
                                <p:cTn id="33" presetID="22" presetClass="entr" presetSubtype="8" fill="hold" grpId="0" nodeType="after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500"/>
                                        <p:tgtEl>
                                          <p:spTgt spid="18"/>
                                        </p:tgtEl>
                                      </p:cBhvr>
                                    </p:animEffect>
                                  </p:childTnLst>
                                </p:cTn>
                              </p:par>
                            </p:childTnLst>
                          </p:cTn>
                        </p:par>
                        <p:par>
                          <p:cTn id="36" fill="hold">
                            <p:stCondLst>
                              <p:cond delay="1000"/>
                            </p:stCondLst>
                            <p:childTnLst>
                              <p:par>
                                <p:cTn id="37" presetID="22" presetClass="entr" presetSubtype="8" fill="hold" grpId="0" nodeType="afterEffect">
                                  <p:stCondLst>
                                    <p:cond delay="0"/>
                                  </p:stCondLst>
                                  <p:childTnLst>
                                    <p:set>
                                      <p:cBhvr>
                                        <p:cTn id="38" dur="1" fill="hold">
                                          <p:stCondLst>
                                            <p:cond delay="0"/>
                                          </p:stCondLst>
                                        </p:cTn>
                                        <p:tgtEl>
                                          <p:spTgt spid="19"/>
                                        </p:tgtEl>
                                        <p:attrNameLst>
                                          <p:attrName>style.visibility</p:attrName>
                                        </p:attrNameLst>
                                      </p:cBhvr>
                                      <p:to>
                                        <p:strVal val="visible"/>
                                      </p:to>
                                    </p:set>
                                    <p:animEffect transition="in" filter="wipe(left)">
                                      <p:cBhvr>
                                        <p:cTn id="39" dur="500"/>
                                        <p:tgtEl>
                                          <p:spTgt spid="19"/>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10">
                                            <p:txEl>
                                              <p:pRg st="0" end="0"/>
                                            </p:txEl>
                                          </p:spTgt>
                                        </p:tgtEl>
                                        <p:attrNameLst>
                                          <p:attrName>style.visibility</p:attrName>
                                        </p:attrNameLst>
                                      </p:cBhvr>
                                      <p:to>
                                        <p:strVal val="visible"/>
                                      </p:to>
                                    </p:set>
                                    <p:animEffect transition="in" filter="wipe(left)">
                                      <p:cBhvr>
                                        <p:cTn id="44" dur="500"/>
                                        <p:tgtEl>
                                          <p:spTgt spid="10">
                                            <p:txEl>
                                              <p:pRg st="0" end="0"/>
                                            </p:txEl>
                                          </p:spTgt>
                                        </p:tgtEl>
                                      </p:cBhvr>
                                    </p:animEffect>
                                  </p:childTnLst>
                                </p:cTn>
                              </p:par>
                              <p:par>
                                <p:cTn id="45" presetID="22" presetClass="entr" presetSubtype="8" fill="hold" nodeType="withEffect">
                                  <p:stCondLst>
                                    <p:cond delay="0"/>
                                  </p:stCondLst>
                                  <p:childTnLst>
                                    <p:set>
                                      <p:cBhvr>
                                        <p:cTn id="46" dur="1" fill="hold">
                                          <p:stCondLst>
                                            <p:cond delay="0"/>
                                          </p:stCondLst>
                                        </p:cTn>
                                        <p:tgtEl>
                                          <p:spTgt spid="10">
                                            <p:txEl>
                                              <p:pRg st="1" end="1"/>
                                            </p:txEl>
                                          </p:spTgt>
                                        </p:tgtEl>
                                        <p:attrNameLst>
                                          <p:attrName>style.visibility</p:attrName>
                                        </p:attrNameLst>
                                      </p:cBhvr>
                                      <p:to>
                                        <p:strVal val="visible"/>
                                      </p:to>
                                    </p:set>
                                    <p:animEffect transition="in" filter="wipe(left)">
                                      <p:cBhvr>
                                        <p:cTn id="47" dur="500"/>
                                        <p:tgtEl>
                                          <p:spTgt spid="10">
                                            <p:txEl>
                                              <p:pRg st="1" end="1"/>
                                            </p:txEl>
                                          </p:spTgt>
                                        </p:tgtEl>
                                      </p:cBhvr>
                                    </p:animEffect>
                                  </p:childTnLst>
                                </p:cTn>
                              </p:par>
                              <p:par>
                                <p:cTn id="48" presetID="22" presetClass="entr" presetSubtype="8" fill="hold" nodeType="withEffect">
                                  <p:stCondLst>
                                    <p:cond delay="0"/>
                                  </p:stCondLst>
                                  <p:childTnLst>
                                    <p:set>
                                      <p:cBhvr>
                                        <p:cTn id="49" dur="1" fill="hold">
                                          <p:stCondLst>
                                            <p:cond delay="0"/>
                                          </p:stCondLst>
                                        </p:cTn>
                                        <p:tgtEl>
                                          <p:spTgt spid="10">
                                            <p:txEl>
                                              <p:pRg st="2" end="2"/>
                                            </p:txEl>
                                          </p:spTgt>
                                        </p:tgtEl>
                                        <p:attrNameLst>
                                          <p:attrName>style.visibility</p:attrName>
                                        </p:attrNameLst>
                                      </p:cBhvr>
                                      <p:to>
                                        <p:strVal val="visible"/>
                                      </p:to>
                                    </p:set>
                                    <p:animEffect transition="in" filter="wipe(left)">
                                      <p:cBhvr>
                                        <p:cTn id="50" dur="500"/>
                                        <p:tgtEl>
                                          <p:spTgt spid="10">
                                            <p:txEl>
                                              <p:pRg st="2" end="2"/>
                                            </p:txEl>
                                          </p:spTgt>
                                        </p:tgtEl>
                                      </p:cBhvr>
                                    </p:animEffect>
                                  </p:childTnLst>
                                </p:cTn>
                              </p:par>
                              <p:par>
                                <p:cTn id="51" presetID="22" presetClass="entr" presetSubtype="8" fill="hold" nodeType="withEffect">
                                  <p:stCondLst>
                                    <p:cond delay="0"/>
                                  </p:stCondLst>
                                  <p:childTnLst>
                                    <p:set>
                                      <p:cBhvr>
                                        <p:cTn id="52" dur="1" fill="hold">
                                          <p:stCondLst>
                                            <p:cond delay="0"/>
                                          </p:stCondLst>
                                        </p:cTn>
                                        <p:tgtEl>
                                          <p:spTgt spid="10">
                                            <p:txEl>
                                              <p:pRg st="3" end="3"/>
                                            </p:txEl>
                                          </p:spTgt>
                                        </p:tgtEl>
                                        <p:attrNameLst>
                                          <p:attrName>style.visibility</p:attrName>
                                        </p:attrNameLst>
                                      </p:cBhvr>
                                      <p:to>
                                        <p:strVal val="visible"/>
                                      </p:to>
                                    </p:set>
                                    <p:animEffect transition="in" filter="wipe(left)">
                                      <p:cBhvr>
                                        <p:cTn id="53" dur="500"/>
                                        <p:tgtEl>
                                          <p:spTgt spid="10">
                                            <p:txEl>
                                              <p:pRg st="3" end="3"/>
                                            </p:txEl>
                                          </p:spTgt>
                                        </p:tgtEl>
                                      </p:cBhvr>
                                    </p:animEffect>
                                  </p:childTnLst>
                                </p:cTn>
                              </p:par>
                              <p:par>
                                <p:cTn id="54" presetID="22" presetClass="entr" presetSubtype="8" fill="hold" nodeType="withEffect">
                                  <p:stCondLst>
                                    <p:cond delay="0"/>
                                  </p:stCondLst>
                                  <p:childTnLst>
                                    <p:set>
                                      <p:cBhvr>
                                        <p:cTn id="55" dur="1" fill="hold">
                                          <p:stCondLst>
                                            <p:cond delay="0"/>
                                          </p:stCondLst>
                                        </p:cTn>
                                        <p:tgtEl>
                                          <p:spTgt spid="10">
                                            <p:txEl>
                                              <p:pRg st="4" end="4"/>
                                            </p:txEl>
                                          </p:spTgt>
                                        </p:tgtEl>
                                        <p:attrNameLst>
                                          <p:attrName>style.visibility</p:attrName>
                                        </p:attrNameLst>
                                      </p:cBhvr>
                                      <p:to>
                                        <p:strVal val="visible"/>
                                      </p:to>
                                    </p:set>
                                    <p:animEffect transition="in" filter="wipe(left)">
                                      <p:cBhvr>
                                        <p:cTn id="56" dur="500"/>
                                        <p:tgtEl>
                                          <p:spTgt spid="10">
                                            <p:txEl>
                                              <p:pRg st="4" end="4"/>
                                            </p:txEl>
                                          </p:spTgt>
                                        </p:tgtEl>
                                      </p:cBhvr>
                                    </p:animEffect>
                                  </p:childTnLst>
                                </p:cTn>
                              </p:par>
                              <p:par>
                                <p:cTn id="57" presetID="22" presetClass="entr" presetSubtype="8" fill="hold" nodeType="withEffect">
                                  <p:stCondLst>
                                    <p:cond delay="0"/>
                                  </p:stCondLst>
                                  <p:childTnLst>
                                    <p:set>
                                      <p:cBhvr>
                                        <p:cTn id="58" dur="1" fill="hold">
                                          <p:stCondLst>
                                            <p:cond delay="0"/>
                                          </p:stCondLst>
                                        </p:cTn>
                                        <p:tgtEl>
                                          <p:spTgt spid="10">
                                            <p:txEl>
                                              <p:pRg st="5" end="5"/>
                                            </p:txEl>
                                          </p:spTgt>
                                        </p:tgtEl>
                                        <p:attrNameLst>
                                          <p:attrName>style.visibility</p:attrName>
                                        </p:attrNameLst>
                                      </p:cBhvr>
                                      <p:to>
                                        <p:strVal val="visible"/>
                                      </p:to>
                                    </p:set>
                                    <p:animEffect transition="in" filter="wipe(left)">
                                      <p:cBhvr>
                                        <p:cTn id="59" dur="500"/>
                                        <p:tgtEl>
                                          <p:spTgt spid="10">
                                            <p:txEl>
                                              <p:pRg st="5" end="5"/>
                                            </p:txEl>
                                          </p:spTgt>
                                        </p:tgtEl>
                                      </p:cBhvr>
                                    </p:animEffect>
                                  </p:childTnLst>
                                </p:cTn>
                              </p:par>
                            </p:childTnLst>
                          </p:cTn>
                        </p:par>
                        <p:par>
                          <p:cTn id="60" fill="hold">
                            <p:stCondLst>
                              <p:cond delay="500"/>
                            </p:stCondLst>
                            <p:childTnLst>
                              <p:par>
                                <p:cTn id="61" presetID="22" presetClass="entr" presetSubtype="8" fill="hold" nodeType="afterEffect">
                                  <p:stCondLst>
                                    <p:cond delay="0"/>
                                  </p:stCondLst>
                                  <p:childTnLst>
                                    <p:set>
                                      <p:cBhvr>
                                        <p:cTn id="62" dur="1" fill="hold">
                                          <p:stCondLst>
                                            <p:cond delay="0"/>
                                          </p:stCondLst>
                                        </p:cTn>
                                        <p:tgtEl>
                                          <p:spTgt spid="10">
                                            <p:txEl>
                                              <p:pRg st="6" end="6"/>
                                            </p:txEl>
                                          </p:spTgt>
                                        </p:tgtEl>
                                        <p:attrNameLst>
                                          <p:attrName>style.visibility</p:attrName>
                                        </p:attrNameLst>
                                      </p:cBhvr>
                                      <p:to>
                                        <p:strVal val="visible"/>
                                      </p:to>
                                    </p:set>
                                    <p:animEffect transition="in" filter="wipe(left)">
                                      <p:cBhvr>
                                        <p:cTn id="63" dur="500"/>
                                        <p:tgtEl>
                                          <p:spTgt spid="10">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19" grpId="0" animBg="1"/>
      <p:bldP spid="15" grpId="0"/>
      <p:bldP spid="17"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873813"/>
            <a:ext cx="9036496" cy="5209118"/>
          </a:xfrm>
          <a:prstGeom prst="rect">
            <a:avLst/>
          </a:prstGeom>
        </p:spPr>
        <p:txBody>
          <a:bodyPr wrap="square">
            <a:spAutoFit/>
          </a:bodyPr>
          <a:lstStyle/>
          <a:p>
            <a:pPr>
              <a:lnSpc>
                <a:spcPct val="150000"/>
              </a:lnSpc>
            </a:pPr>
            <a:r>
              <a:rPr lang="en-US" sz="2400" dirty="0">
                <a:solidFill>
                  <a:srgbClr val="7030A0"/>
                </a:solidFill>
                <a:latin typeface="Times New Roman" panose="02020603050405020304" pitchFamily="18" charset="0"/>
                <a:cs typeface="Times New Roman" panose="02020603050405020304" pitchFamily="18" charset="0"/>
              </a:rPr>
              <a:t>3. Expressions, Predicates, </a:t>
            </a:r>
            <a:r>
              <a:rPr lang="en-US" sz="2400" dirty="0" err="1">
                <a:solidFill>
                  <a:srgbClr val="7030A0"/>
                </a:solidFill>
                <a:latin typeface="Times New Roman" panose="02020603050405020304" pitchFamily="18" charset="0"/>
                <a:cs typeface="Times New Roman" panose="02020603050405020304" pitchFamily="18" charset="0"/>
              </a:rPr>
              <a:t>Search_condition</a:t>
            </a:r>
            <a:r>
              <a:rPr lang="en-US" sz="2400" dirty="0">
                <a:solidFill>
                  <a:srgbClr val="7030A0"/>
                </a:solidFill>
                <a:latin typeface="Times New Roman" panose="02020603050405020304" pitchFamily="18" charset="0"/>
                <a:cs typeface="Times New Roman" panose="02020603050405020304" pitchFamily="18" charset="0"/>
              </a:rPr>
              <a:t> </a:t>
            </a:r>
          </a:p>
          <a:p>
            <a:pPr>
              <a:lnSpc>
                <a:spcPct val="150000"/>
              </a:lnSpc>
            </a:pPr>
            <a:r>
              <a:rPr lang="en-US" sz="2200" dirty="0">
                <a:solidFill>
                  <a:srgbClr val="7030A0"/>
                </a:solidFill>
                <a:latin typeface="Times New Roman" panose="02020603050405020304" pitchFamily="18" charset="0"/>
                <a:cs typeface="Times New Roman" panose="02020603050405020304" pitchFamily="18" charset="0"/>
              </a:rPr>
              <a:t>   [1] </a:t>
            </a:r>
            <a:r>
              <a:rPr lang="en-US" altLang="zh-CN" sz="2200" dirty="0">
                <a:solidFill>
                  <a:srgbClr val="7030A0"/>
                </a:solidFill>
                <a:latin typeface="Times New Roman" panose="02020603050405020304" pitchFamily="18" charset="0"/>
                <a:cs typeface="Times New Roman" panose="02020603050405020304" pitchFamily="18" charset="0"/>
              </a:rPr>
              <a:t>E</a:t>
            </a:r>
            <a:r>
              <a:rPr lang="en-US" sz="2200" dirty="0">
                <a:solidFill>
                  <a:srgbClr val="7030A0"/>
                </a:solidFill>
                <a:latin typeface="Times New Roman" panose="02020603050405020304" pitchFamily="18" charset="0"/>
                <a:cs typeface="Times New Roman" panose="02020603050405020304" pitchFamily="18" charset="0"/>
              </a:rPr>
              <a:t>xpressions Form</a:t>
            </a:r>
          </a:p>
          <a:p>
            <a:pPr>
              <a:spcBef>
                <a:spcPts val="600"/>
              </a:spcBef>
              <a:spcAft>
                <a:spcPts val="600"/>
              </a:spcAft>
            </a:pPr>
            <a:r>
              <a:rPr lang="en-US" sz="2400" dirty="0">
                <a:solidFill>
                  <a:srgbClr val="002060"/>
                </a:solidFill>
                <a:latin typeface="Times New Roman" panose="02020603050405020304" pitchFamily="18" charset="0"/>
                <a:cs typeface="Times New Roman" panose="02020603050405020304" pitchFamily="18" charset="0"/>
              </a:rPr>
              <a:t>       	</a:t>
            </a:r>
            <a:r>
              <a:rPr lang="en-US" sz="2200" dirty="0" err="1">
                <a:solidFill>
                  <a:srgbClr val="002060"/>
                </a:solidFill>
                <a:latin typeface="Times New Roman" panose="02020603050405020304" pitchFamily="18" charset="0"/>
                <a:cs typeface="Times New Roman" panose="02020603050405020304" pitchFamily="18" charset="0"/>
              </a:rPr>
              <a:t>expr</a:t>
            </a:r>
            <a:r>
              <a:rPr lang="en-US" sz="2200" dirty="0">
                <a:solidFill>
                  <a:srgbClr val="002060"/>
                </a:solidFill>
                <a:latin typeface="Times New Roman" panose="02020603050405020304" pitchFamily="18" charset="0"/>
                <a:cs typeface="Times New Roman" panose="02020603050405020304" pitchFamily="18" charset="0"/>
              </a:rPr>
              <a:t> = </a:t>
            </a:r>
            <a:r>
              <a:rPr lang="en-US" sz="2200" dirty="0" err="1">
                <a:solidFill>
                  <a:srgbClr val="002060"/>
                </a:solidFill>
                <a:latin typeface="Times New Roman" panose="02020603050405020304" pitchFamily="18" charset="0"/>
                <a:cs typeface="Times New Roman" panose="02020603050405020304" pitchFamily="18" charset="0"/>
              </a:rPr>
              <a:t>num-expr</a:t>
            </a:r>
            <a:r>
              <a:rPr lang="en-US" sz="2200" dirty="0">
                <a:solidFill>
                  <a:srgbClr val="002060"/>
                </a:solidFill>
                <a:latin typeface="Times New Roman" panose="02020603050405020304" pitchFamily="18" charset="0"/>
                <a:cs typeface="Times New Roman" panose="02020603050405020304" pitchFamily="18" charset="0"/>
              </a:rPr>
              <a:t> | </a:t>
            </a:r>
            <a:r>
              <a:rPr lang="en-US" sz="2200" dirty="0" err="1">
                <a:solidFill>
                  <a:srgbClr val="002060"/>
                </a:solidFill>
                <a:latin typeface="Times New Roman" panose="02020603050405020304" pitchFamily="18" charset="0"/>
                <a:cs typeface="Times New Roman" panose="02020603050405020304" pitchFamily="18" charset="0"/>
              </a:rPr>
              <a:t>strv-expr</a:t>
            </a:r>
            <a:r>
              <a:rPr lang="en-US" sz="2200" dirty="0">
                <a:solidFill>
                  <a:srgbClr val="002060"/>
                </a:solidFill>
                <a:latin typeface="Times New Roman" panose="02020603050405020304" pitchFamily="18" charset="0"/>
                <a:cs typeface="Times New Roman" panose="02020603050405020304" pitchFamily="18" charset="0"/>
              </a:rPr>
              <a:t> | date-</a:t>
            </a:r>
            <a:r>
              <a:rPr lang="en-US" sz="2200" dirty="0" err="1">
                <a:solidFill>
                  <a:srgbClr val="002060"/>
                </a:solidFill>
                <a:latin typeface="Times New Roman" panose="02020603050405020304" pitchFamily="18" charset="0"/>
                <a:cs typeface="Times New Roman" panose="02020603050405020304" pitchFamily="18" charset="0"/>
              </a:rPr>
              <a:t>xpr</a:t>
            </a:r>
            <a:r>
              <a:rPr lang="en-US" sz="2200" dirty="0">
                <a:solidFill>
                  <a:srgbClr val="002060"/>
                </a:solidFill>
                <a:latin typeface="Times New Roman" panose="02020603050405020304" pitchFamily="18" charset="0"/>
                <a:cs typeface="Times New Roman" panose="02020603050405020304" pitchFamily="18" charset="0"/>
              </a:rPr>
              <a:t> | </a:t>
            </a:r>
            <a:r>
              <a:rPr lang="en-US" sz="2200" dirty="0" err="1">
                <a:solidFill>
                  <a:srgbClr val="002060"/>
                </a:solidFill>
                <a:latin typeface="Times New Roman" panose="02020603050405020304" pitchFamily="18" charset="0"/>
                <a:cs typeface="Times New Roman" panose="02020603050405020304" pitchFamily="18" charset="0"/>
              </a:rPr>
              <a:t>intv-expr</a:t>
            </a:r>
            <a:r>
              <a:rPr lang="en-US" sz="2200" dirty="0">
                <a:solidFill>
                  <a:srgbClr val="002060"/>
                </a:solidFill>
                <a:latin typeface="Times New Roman" panose="02020603050405020304" pitchFamily="18" charset="0"/>
                <a:cs typeface="Times New Roman" panose="02020603050405020304" pitchFamily="18" charset="0"/>
              </a:rPr>
              <a:t> | con-</a:t>
            </a:r>
            <a:r>
              <a:rPr lang="en-US" sz="2200" dirty="0" err="1">
                <a:solidFill>
                  <a:srgbClr val="002060"/>
                </a:solidFill>
                <a:latin typeface="Times New Roman" panose="02020603050405020304" pitchFamily="18" charset="0"/>
                <a:cs typeface="Times New Roman" panose="02020603050405020304" pitchFamily="18" charset="0"/>
              </a:rPr>
              <a:t>dexpr</a:t>
            </a:r>
            <a:r>
              <a:rPr lang="en-US" sz="2200" dirty="0">
                <a:solidFill>
                  <a:srgbClr val="002060"/>
                </a:solidFill>
                <a:latin typeface="Times New Roman" panose="02020603050405020304" pitchFamily="18" charset="0"/>
                <a:cs typeface="Times New Roman" panose="02020603050405020304" pitchFamily="18" charset="0"/>
              </a:rPr>
              <a:t> </a:t>
            </a:r>
          </a:p>
          <a:p>
            <a:pPr>
              <a:lnSpc>
                <a:spcPct val="150000"/>
              </a:lnSpc>
            </a:pPr>
            <a:r>
              <a:rPr lang="en-US" sz="2400" dirty="0">
                <a:solidFill>
                  <a:srgbClr val="7030A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[2] Data Types</a:t>
            </a:r>
          </a:p>
          <a:p>
            <a:pPr marL="1257300" lvl="2" indent="-342900">
              <a:spcBef>
                <a:spcPts val="300"/>
              </a:spcBef>
              <a:buFont typeface="Wingdings" panose="05000000000000000000" pitchFamily="2" charset="2"/>
              <a:buChar char="§"/>
            </a:pPr>
            <a:r>
              <a:rPr lang="en-US" sz="2200" i="1" dirty="0">
                <a:solidFill>
                  <a:srgbClr val="C00000"/>
                </a:solidFill>
                <a:latin typeface="Times New Roman" panose="02020603050405020304" pitchFamily="18" charset="0"/>
                <a:cs typeface="Times New Roman" panose="02020603050405020304" pitchFamily="18" charset="0"/>
              </a:rPr>
              <a:t>Numeric</a:t>
            </a:r>
            <a:r>
              <a:rPr lang="en-US" sz="2200" dirty="0">
                <a:solidFill>
                  <a:srgbClr val="002060"/>
                </a:solidFill>
                <a:latin typeface="Times New Roman" panose="02020603050405020304" pitchFamily="18" charset="0"/>
                <a:cs typeface="Times New Roman" panose="02020603050405020304" pitchFamily="18" charset="0"/>
              </a:rPr>
              <a:t> value expressions</a:t>
            </a:r>
          </a:p>
          <a:p>
            <a:pPr marL="1257300" lvl="2" indent="-342900">
              <a:spcBef>
                <a:spcPts val="300"/>
              </a:spcBef>
              <a:buFont typeface="Wingdings" panose="05000000000000000000" pitchFamily="2" charset="2"/>
              <a:buChar char="§"/>
            </a:pPr>
            <a:r>
              <a:rPr lang="en-US" sz="2200" i="1" dirty="0">
                <a:solidFill>
                  <a:srgbClr val="C00000"/>
                </a:solidFill>
                <a:latin typeface="Times New Roman" panose="02020603050405020304" pitchFamily="18" charset="0"/>
                <a:cs typeface="Times New Roman" panose="02020603050405020304" pitchFamily="18" charset="0"/>
              </a:rPr>
              <a:t>String</a:t>
            </a:r>
            <a:r>
              <a:rPr lang="en-US" sz="2200" dirty="0">
                <a:solidFill>
                  <a:srgbClr val="002060"/>
                </a:solidFill>
                <a:latin typeface="Times New Roman" panose="02020603050405020304" pitchFamily="18" charset="0"/>
                <a:cs typeface="Times New Roman" panose="02020603050405020304" pitchFamily="18" charset="0"/>
              </a:rPr>
              <a:t> value expression</a:t>
            </a:r>
          </a:p>
          <a:p>
            <a:pPr marL="1257300" lvl="2" indent="-342900">
              <a:spcBef>
                <a:spcPts val="300"/>
              </a:spcBef>
              <a:buFont typeface="Wingdings" panose="05000000000000000000" pitchFamily="2" charset="2"/>
              <a:buChar char="§"/>
            </a:pPr>
            <a:r>
              <a:rPr lang="en-US" sz="2200" i="1" dirty="0">
                <a:solidFill>
                  <a:srgbClr val="C00000"/>
                </a:solidFill>
                <a:latin typeface="Times New Roman" panose="02020603050405020304" pitchFamily="18" charset="0"/>
                <a:cs typeface="Times New Roman" panose="02020603050405020304" pitchFamily="18" charset="0"/>
              </a:rPr>
              <a:t>Datetime</a:t>
            </a:r>
            <a:r>
              <a:rPr lang="en-US" sz="2200" dirty="0">
                <a:solidFill>
                  <a:srgbClr val="002060"/>
                </a:solidFill>
                <a:latin typeface="Times New Roman" panose="02020603050405020304" pitchFamily="18" charset="0"/>
                <a:cs typeface="Times New Roman" panose="02020603050405020304" pitchFamily="18" charset="0"/>
              </a:rPr>
              <a:t> expression</a:t>
            </a:r>
          </a:p>
          <a:p>
            <a:pPr marL="1257300" lvl="2" indent="-342900">
              <a:spcBef>
                <a:spcPts val="300"/>
              </a:spcBef>
              <a:buFont typeface="Wingdings" panose="05000000000000000000" pitchFamily="2" charset="2"/>
              <a:buChar char="§"/>
            </a:pPr>
            <a:r>
              <a:rPr lang="en-US" sz="2200" i="1" dirty="0">
                <a:solidFill>
                  <a:srgbClr val="C00000"/>
                </a:solidFill>
                <a:latin typeface="Times New Roman" panose="02020603050405020304" pitchFamily="18" charset="0"/>
                <a:cs typeface="Times New Roman" panose="02020603050405020304" pitchFamily="18" charset="0"/>
              </a:rPr>
              <a:t>Interval value </a:t>
            </a:r>
            <a:r>
              <a:rPr lang="en-US" sz="2200" dirty="0">
                <a:solidFill>
                  <a:srgbClr val="002060"/>
                </a:solidFill>
                <a:latin typeface="Times New Roman" panose="02020603050405020304" pitchFamily="18" charset="0"/>
                <a:cs typeface="Times New Roman" panose="02020603050405020304" pitchFamily="18" charset="0"/>
              </a:rPr>
              <a:t>expression</a:t>
            </a:r>
          </a:p>
          <a:p>
            <a:pPr marL="1257300" lvl="2" indent="-342900">
              <a:spcBef>
                <a:spcPts val="300"/>
              </a:spcBef>
              <a:buFont typeface="Wingdings" panose="05000000000000000000" pitchFamily="2" charset="2"/>
              <a:buChar char="§"/>
            </a:pPr>
            <a:r>
              <a:rPr lang="en-US" sz="2200" i="1" dirty="0">
                <a:solidFill>
                  <a:srgbClr val="C00000"/>
                </a:solidFill>
                <a:latin typeface="Times New Roman" panose="02020603050405020304" pitchFamily="18" charset="0"/>
                <a:cs typeface="Times New Roman" panose="02020603050405020304" pitchFamily="18" charset="0"/>
              </a:rPr>
              <a:t>Conditional</a:t>
            </a:r>
            <a:r>
              <a:rPr lang="en-US" sz="2200" dirty="0">
                <a:solidFill>
                  <a:srgbClr val="002060"/>
                </a:solidFill>
                <a:latin typeface="Times New Roman" panose="02020603050405020304" pitchFamily="18" charset="0"/>
                <a:cs typeface="Times New Roman" panose="02020603050405020304" pitchFamily="18" charset="0"/>
              </a:rPr>
              <a:t> expression</a:t>
            </a:r>
          </a:p>
          <a:p>
            <a:r>
              <a:rPr lang="en-US" sz="2200" dirty="0">
                <a:solidFill>
                  <a:srgbClr val="C00000"/>
                </a:solidFill>
                <a:latin typeface="Times New Roman" panose="02020603050405020304" pitchFamily="18" charset="0"/>
                <a:cs typeface="Times New Roman" panose="02020603050405020304" pitchFamily="18" charset="0"/>
              </a:rPr>
              <a:t>   Note:</a:t>
            </a:r>
          </a:p>
          <a:p>
            <a:pPr marL="1257300" lvl="2" indent="-342900">
              <a:spcBef>
                <a:spcPts val="0"/>
              </a:spcBef>
              <a:buFont typeface="Wingdings" panose="05000000000000000000" pitchFamily="2" charset="2"/>
              <a:buChar char="§"/>
            </a:pPr>
            <a:r>
              <a:rPr lang="en-US" sz="2200" dirty="0">
                <a:solidFill>
                  <a:srgbClr val="002060"/>
                </a:solidFill>
                <a:latin typeface="Times New Roman" panose="02020603050405020304" pitchFamily="18" charset="0"/>
                <a:cs typeface="Times New Roman" panose="02020603050405020304" pitchFamily="18" charset="0"/>
              </a:rPr>
              <a:t>Difference </a:t>
            </a:r>
            <a:r>
              <a:rPr lang="en-US" sz="2200" i="1" dirty="0">
                <a:solidFill>
                  <a:srgbClr val="C00000"/>
                </a:solidFill>
                <a:latin typeface="Times New Roman" panose="02020603050405020304" pitchFamily="18" charset="0"/>
                <a:cs typeface="Times New Roman" panose="02020603050405020304" pitchFamily="18" charset="0"/>
              </a:rPr>
              <a:t>DBMS product</a:t>
            </a:r>
            <a:r>
              <a:rPr lang="en-US" sz="2200" dirty="0">
                <a:solidFill>
                  <a:srgbClr val="002060"/>
                </a:solidFill>
                <a:latin typeface="Times New Roman" panose="02020603050405020304" pitchFamily="18" charset="0"/>
                <a:cs typeface="Times New Roman" panose="02020603050405020304" pitchFamily="18" charset="0"/>
              </a:rPr>
              <a:t> provides difference function;</a:t>
            </a:r>
          </a:p>
          <a:p>
            <a:pPr marL="1257300" lvl="2" indent="-342900">
              <a:spcBef>
                <a:spcPts val="600"/>
              </a:spcBef>
              <a:buFont typeface="Wingdings" panose="05000000000000000000" pitchFamily="2" charset="2"/>
              <a:buChar char="§"/>
            </a:pPr>
            <a:r>
              <a:rPr lang="en-US" sz="2200" dirty="0">
                <a:solidFill>
                  <a:srgbClr val="002060"/>
                </a:solidFill>
                <a:latin typeface="Times New Roman" panose="02020603050405020304" pitchFamily="18" charset="0"/>
                <a:cs typeface="Times New Roman" panose="02020603050405020304" pitchFamily="18" charset="0"/>
              </a:rPr>
              <a:t>Data types for columns defined in Appendix A.3</a:t>
            </a:r>
          </a:p>
        </p:txBody>
      </p:sp>
      <p:sp>
        <p:nvSpPr>
          <p:cNvPr id="4" name="Rectangle 1"/>
          <p:cNvSpPr/>
          <p:nvPr/>
        </p:nvSpPr>
        <p:spPr>
          <a:xfrm>
            <a:off x="827584" y="116632"/>
            <a:ext cx="8280920"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3.9 A complete description of Select</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42460" y="836712"/>
            <a:ext cx="8894036" cy="4188326"/>
          </a:xfrm>
          <a:prstGeom prst="rect">
            <a:avLst/>
          </a:prstGeom>
        </p:spPr>
        <p:txBody>
          <a:bodyPr wrap="square">
            <a:spAutoFit/>
          </a:bodyPr>
          <a:lstStyle/>
          <a:p>
            <a:pPr>
              <a:spcBef>
                <a:spcPts val="1000"/>
              </a:spcBef>
            </a:pPr>
            <a:r>
              <a:rPr lang="en-US" dirty="0">
                <a:solidFill>
                  <a:srgbClr val="7030A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[3] Mathematical functions </a:t>
            </a:r>
          </a:p>
          <a:p>
            <a:pPr>
              <a:spcBef>
                <a:spcPts val="0"/>
              </a:spcBef>
            </a:pPr>
            <a:r>
              <a:rPr lang="en-US" sz="2400" dirty="0">
                <a:solidFill>
                  <a:srgbClr val="002060"/>
                </a:solidFill>
                <a:latin typeface="Times New Roman" panose="02020603050405020304" pitchFamily="18" charset="0"/>
                <a:cs typeface="Times New Roman" panose="02020603050405020304" pitchFamily="18" charset="0"/>
              </a:rPr>
              <a:t>	   </a:t>
            </a:r>
            <a:r>
              <a:rPr lang="en-US" sz="2200" dirty="0">
                <a:solidFill>
                  <a:srgbClr val="002060"/>
                </a:solidFill>
                <a:latin typeface="Times New Roman" panose="02020603050405020304" pitchFamily="18" charset="0"/>
                <a:cs typeface="Times New Roman" panose="02020603050405020304" pitchFamily="18" charset="0"/>
              </a:rPr>
              <a:t>abs(n), mod(</a:t>
            </a:r>
            <a:r>
              <a:rPr lang="en-US" sz="2200" dirty="0" err="1">
                <a:solidFill>
                  <a:srgbClr val="002060"/>
                </a:solidFill>
                <a:latin typeface="Times New Roman" panose="02020603050405020304" pitchFamily="18" charset="0"/>
                <a:cs typeface="Times New Roman" panose="02020603050405020304" pitchFamily="18" charset="0"/>
              </a:rPr>
              <a:t>n,b</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err="1">
                <a:solidFill>
                  <a:srgbClr val="002060"/>
                </a:solidFill>
                <a:latin typeface="Times New Roman" panose="02020603050405020304" pitchFamily="18" charset="0"/>
                <a:cs typeface="Times New Roman" panose="02020603050405020304" pitchFamily="18" charset="0"/>
              </a:rPr>
              <a:t>sqrt</a:t>
            </a:r>
            <a:r>
              <a:rPr lang="en-US" sz="2200" dirty="0">
                <a:solidFill>
                  <a:srgbClr val="002060"/>
                </a:solidFill>
                <a:latin typeface="Times New Roman" panose="02020603050405020304" pitchFamily="18" charset="0"/>
                <a:cs typeface="Times New Roman" panose="02020603050405020304" pitchFamily="18" charset="0"/>
              </a:rPr>
              <a:t>(n).      NOT standardized in SQL-99.</a:t>
            </a:r>
          </a:p>
          <a:p>
            <a:pPr>
              <a:spcBef>
                <a:spcPts val="1000"/>
              </a:spcBef>
            </a:pPr>
            <a:r>
              <a:rPr lang="en-US" altLang="zh-CN" sz="2400" dirty="0">
                <a:solidFill>
                  <a:srgbClr val="7030A0"/>
                </a:solidFill>
                <a:latin typeface="Times New Roman" panose="02020603050405020304" pitchFamily="18" charset="0"/>
                <a:cs typeface="Times New Roman" panose="02020603050405020304" pitchFamily="18" charset="0"/>
              </a:rPr>
              <a:t> </a:t>
            </a:r>
            <a:r>
              <a:rPr lang="en-US" altLang="zh-CN" sz="2200" dirty="0">
                <a:solidFill>
                  <a:srgbClr val="7030A0"/>
                </a:solidFill>
                <a:latin typeface="Times New Roman" panose="02020603050405020304" pitchFamily="18" charset="0"/>
                <a:cs typeface="Times New Roman" panose="02020603050405020304" pitchFamily="18" charset="0"/>
              </a:rPr>
              <a:t>[4] Char &amp; String functions </a:t>
            </a:r>
          </a:p>
          <a:p>
            <a:pPr>
              <a:spcBef>
                <a:spcPts val="300"/>
              </a:spcBef>
            </a:pPr>
            <a:r>
              <a:rPr lang="en-US" altLang="zh-CN" sz="24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C00000"/>
                </a:solidFill>
                <a:latin typeface="Times New Roman" panose="02020603050405020304" pitchFamily="18" charset="0"/>
                <a:cs typeface="Times New Roman" panose="02020603050405020304" pitchFamily="18" charset="0"/>
              </a:rPr>
              <a:t>CHAR_LENGTH</a:t>
            </a:r>
            <a:r>
              <a:rPr lang="en-US" altLang="zh-CN" sz="2200" dirty="0">
                <a:solidFill>
                  <a:srgbClr val="002060"/>
                </a:solidFill>
                <a:latin typeface="Times New Roman" panose="02020603050405020304" pitchFamily="18" charset="0"/>
                <a:cs typeface="Times New Roman" panose="02020603050405020304" pitchFamily="18" charset="0"/>
              </a:rPr>
              <a:t> (str)</a:t>
            </a:r>
          </a:p>
          <a:p>
            <a:pPr>
              <a:spcBef>
                <a:spcPts val="300"/>
              </a:spcBef>
            </a:pP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C00000"/>
                </a:solidFill>
                <a:latin typeface="Times New Roman" panose="02020603050405020304" pitchFamily="18" charset="0"/>
                <a:cs typeface="Times New Roman" panose="02020603050405020304" pitchFamily="18" charset="0"/>
              </a:rPr>
              <a:t>SUBSTRING</a:t>
            </a:r>
            <a:r>
              <a:rPr lang="en-US" altLang="zh-CN" sz="2200" dirty="0">
                <a:solidFill>
                  <a:srgbClr val="002060"/>
                </a:solidFill>
                <a:latin typeface="Times New Roman" panose="02020603050405020304" pitchFamily="18" charset="0"/>
                <a:cs typeface="Times New Roman" panose="02020603050405020304" pitchFamily="18" charset="0"/>
              </a:rPr>
              <a:t> (str FROM start [FOR length])</a:t>
            </a:r>
          </a:p>
          <a:p>
            <a:pPr>
              <a:spcBef>
                <a:spcPts val="300"/>
              </a:spcBef>
            </a:pP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C00000"/>
                </a:solidFill>
                <a:latin typeface="Times New Roman" panose="02020603050405020304" pitchFamily="18" charset="0"/>
                <a:cs typeface="Times New Roman" panose="02020603050405020304" pitchFamily="18" charset="0"/>
              </a:rPr>
              <a:t>TRIM</a:t>
            </a:r>
            <a:r>
              <a:rPr lang="en-US" altLang="zh-CN" sz="2200" dirty="0">
                <a:solidFill>
                  <a:srgbClr val="002060"/>
                </a:solidFill>
                <a:latin typeface="Times New Roman" panose="02020603050405020304" pitchFamily="18" charset="0"/>
                <a:cs typeface="Times New Roman" panose="02020603050405020304" pitchFamily="18" charset="0"/>
              </a:rPr>
              <a:t> ([[LEADING|TRAILING|BOTH][set] FROM] str)</a:t>
            </a:r>
          </a:p>
          <a:p>
            <a:pPr>
              <a:spcBef>
                <a:spcPts val="300"/>
              </a:spcBef>
            </a:pP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C00000"/>
                </a:solidFill>
                <a:latin typeface="Times New Roman" panose="02020603050405020304" pitchFamily="18" charset="0"/>
                <a:cs typeface="Times New Roman" panose="02020603050405020304" pitchFamily="18" charset="0"/>
              </a:rPr>
              <a:t>POSITION</a:t>
            </a:r>
            <a:r>
              <a:rPr lang="en-US" altLang="zh-CN" sz="2200" dirty="0">
                <a:solidFill>
                  <a:srgbClr val="002060"/>
                </a:solidFill>
                <a:latin typeface="Times New Roman" panose="02020603050405020304" pitchFamily="18" charset="0"/>
                <a:cs typeface="Times New Roman" panose="02020603050405020304" pitchFamily="18" charset="0"/>
              </a:rPr>
              <a:t> (str1 IN str2)</a:t>
            </a:r>
          </a:p>
          <a:p>
            <a:pPr>
              <a:spcBef>
                <a:spcPts val="300"/>
              </a:spcBef>
            </a:pP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C00000"/>
                </a:solidFill>
                <a:latin typeface="Times New Roman" panose="02020603050405020304" pitchFamily="18" charset="0"/>
                <a:cs typeface="Times New Roman" panose="02020603050405020304" pitchFamily="18" charset="0"/>
              </a:rPr>
              <a:t>UPPER(</a:t>
            </a:r>
            <a:r>
              <a:rPr lang="en-US" altLang="zh-CN" sz="2200" dirty="0" err="1">
                <a:solidFill>
                  <a:srgbClr val="C00000"/>
                </a:solidFill>
                <a:latin typeface="Times New Roman" panose="02020603050405020304" pitchFamily="18" charset="0"/>
                <a:cs typeface="Times New Roman" panose="02020603050405020304" pitchFamily="18" charset="0"/>
              </a:rPr>
              <a:t>strval</a:t>
            </a:r>
            <a:r>
              <a:rPr lang="en-US" altLang="zh-CN" sz="2200" dirty="0">
                <a:solidFill>
                  <a:srgbClr val="002060"/>
                </a:solidFill>
                <a:latin typeface="Times New Roman" panose="02020603050405020304" pitchFamily="18" charset="0"/>
                <a:cs typeface="Times New Roman" panose="02020603050405020304" pitchFamily="18" charset="0"/>
              </a:rPr>
              <a:t>),   LOWER(</a:t>
            </a:r>
            <a:r>
              <a:rPr lang="en-US" altLang="zh-CN" sz="2200" dirty="0" err="1">
                <a:solidFill>
                  <a:srgbClr val="002060"/>
                </a:solidFill>
                <a:latin typeface="Times New Roman" panose="02020603050405020304" pitchFamily="18" charset="0"/>
                <a:cs typeface="Times New Roman" panose="02020603050405020304" pitchFamily="18" charset="0"/>
              </a:rPr>
              <a:t>strval</a:t>
            </a:r>
            <a:r>
              <a:rPr lang="en-US" altLang="zh-CN" sz="2200" dirty="0">
                <a:solidFill>
                  <a:srgbClr val="002060"/>
                </a:solidFill>
                <a:latin typeface="Times New Roman" panose="02020603050405020304" pitchFamily="18" charset="0"/>
                <a:cs typeface="Times New Roman" panose="02020603050405020304" pitchFamily="18" charset="0"/>
              </a:rPr>
              <a:t>)</a:t>
            </a:r>
          </a:p>
          <a:p>
            <a:pPr>
              <a:spcBef>
                <a:spcPts val="1000"/>
              </a:spcBef>
            </a:pPr>
            <a:r>
              <a:rPr lang="en-US" altLang="zh-CN" sz="2200" dirty="0">
                <a:solidFill>
                  <a:srgbClr val="7030A0"/>
                </a:solidFill>
                <a:latin typeface="Times New Roman" panose="02020603050405020304" pitchFamily="18" charset="0"/>
                <a:cs typeface="Times New Roman" panose="02020603050405020304" pitchFamily="18" charset="0"/>
              </a:rPr>
              <a:t> [5] Logical Values</a:t>
            </a:r>
          </a:p>
          <a:p>
            <a:pPr marL="800100" lvl="1" indent="-342900">
              <a:spcBef>
                <a:spcPts val="600"/>
              </a:spcBef>
              <a:buFont typeface="Wingdings" panose="05000000000000000000" pitchFamily="2" charset="2"/>
              <a:buChar char="§"/>
            </a:pPr>
            <a:r>
              <a:rPr lang="en-US" altLang="zh-CN" sz="2200" dirty="0">
                <a:solidFill>
                  <a:srgbClr val="002060"/>
                </a:solidFill>
                <a:latin typeface="Times New Roman" panose="02020603050405020304" pitchFamily="18" charset="0"/>
                <a:cs typeface="Times New Roman" panose="02020603050405020304" pitchFamily="18" charset="0"/>
              </a:rPr>
              <a:t>TRUE/ FALSE/ UNKNOW 	(‘</a:t>
            </a:r>
            <a:r>
              <a:rPr lang="en-US" altLang="zh-CN" sz="2200" dirty="0">
                <a:solidFill>
                  <a:srgbClr val="C00000"/>
                </a:solidFill>
                <a:latin typeface="Times New Roman" panose="02020603050405020304" pitchFamily="18" charset="0"/>
                <a:cs typeface="Times New Roman" panose="02020603050405020304" pitchFamily="18" charset="0"/>
              </a:rPr>
              <a:t>U</a:t>
            </a:r>
            <a:r>
              <a:rPr lang="en-US" altLang="zh-CN" sz="2200" dirty="0">
                <a:solidFill>
                  <a:srgbClr val="002060"/>
                </a:solidFill>
                <a:latin typeface="Times New Roman" panose="02020603050405020304" pitchFamily="18" charset="0"/>
                <a:cs typeface="Times New Roman" panose="02020603050405020304" pitchFamily="18" charset="0"/>
              </a:rPr>
              <a:t>’ is not equivalent to ‘</a:t>
            </a:r>
            <a:r>
              <a:rPr lang="en-US" altLang="zh-CN" sz="2200" dirty="0">
                <a:solidFill>
                  <a:srgbClr val="C00000"/>
                </a:solidFill>
                <a:latin typeface="Times New Roman" panose="02020603050405020304" pitchFamily="18" charset="0"/>
                <a:cs typeface="Times New Roman" panose="02020603050405020304" pitchFamily="18" charset="0"/>
              </a:rPr>
              <a:t>F</a:t>
            </a:r>
            <a:r>
              <a:rPr lang="en-US" altLang="zh-CN" sz="2200" dirty="0">
                <a:solidFill>
                  <a:srgbClr val="002060"/>
                </a:solidFill>
                <a:latin typeface="Times New Roman" panose="02020603050405020304" pitchFamily="18" charset="0"/>
                <a:cs typeface="Times New Roman" panose="02020603050405020304" pitchFamily="18" charset="0"/>
              </a:rPr>
              <a:t>’)</a:t>
            </a:r>
            <a:endParaRPr lang="en-US" altLang="zh-CN" sz="2400" dirty="0">
              <a:solidFill>
                <a:srgbClr val="002060"/>
              </a:solidFill>
              <a:latin typeface="Times New Roman" panose="02020603050405020304" pitchFamily="18" charset="0"/>
              <a:cs typeface="Times New Roman" panose="02020603050405020304" pitchFamily="18" charset="0"/>
            </a:endParaRPr>
          </a:p>
        </p:txBody>
      </p:sp>
      <p:sp>
        <p:nvSpPr>
          <p:cNvPr id="4" name="Rectangle 1"/>
          <p:cNvSpPr/>
          <p:nvPr/>
        </p:nvSpPr>
        <p:spPr>
          <a:xfrm>
            <a:off x="827584" y="107302"/>
            <a:ext cx="8280920"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3.9 A complete description of Select</a:t>
            </a:r>
          </a:p>
        </p:txBody>
      </p:sp>
      <p:graphicFrame>
        <p:nvGraphicFramePr>
          <p:cNvPr id="7" name="Table 4">
            <a:extLst>
              <a:ext uri="{FF2B5EF4-FFF2-40B4-BE49-F238E27FC236}">
                <a16:creationId xmlns="" xmlns:a16="http://schemas.microsoft.com/office/drawing/2014/main" id="{39059AA2-176E-40C0-B9DA-441E7557CCC7}"/>
              </a:ext>
            </a:extLst>
          </p:cNvPr>
          <p:cNvGraphicFramePr>
            <a:graphicFrameLocks noGrp="1"/>
          </p:cNvGraphicFramePr>
          <p:nvPr>
            <p:extLst>
              <p:ext uri="{D42A27DB-BD31-4B8C-83A1-F6EECF244321}">
                <p14:modId xmlns:p14="http://schemas.microsoft.com/office/powerpoint/2010/main" val="1702849033"/>
              </p:ext>
            </p:extLst>
          </p:nvPr>
        </p:nvGraphicFramePr>
        <p:xfrm>
          <a:off x="2483768" y="5085184"/>
          <a:ext cx="5544616" cy="1343392"/>
        </p:xfrm>
        <a:graphic>
          <a:graphicData uri="http://schemas.openxmlformats.org/drawingml/2006/table">
            <a:tbl>
              <a:tblPr>
                <a:effectLst>
                  <a:innerShdw blurRad="114300">
                    <a:prstClr val="black"/>
                  </a:innerShdw>
                </a:effectLst>
              </a:tblPr>
              <a:tblGrid>
                <a:gridCol w="792088">
                  <a:extLst>
                    <a:ext uri="{9D8B030D-6E8A-4147-A177-3AD203B41FA5}">
                      <a16:colId xmlns="" xmlns:a16="http://schemas.microsoft.com/office/drawing/2014/main" val="20000"/>
                    </a:ext>
                  </a:extLst>
                </a:gridCol>
                <a:gridCol w="504056">
                  <a:extLst>
                    <a:ext uri="{9D8B030D-6E8A-4147-A177-3AD203B41FA5}">
                      <a16:colId xmlns="" xmlns:a16="http://schemas.microsoft.com/office/drawing/2014/main" val="20001"/>
                    </a:ext>
                  </a:extLst>
                </a:gridCol>
                <a:gridCol w="504056">
                  <a:extLst>
                    <a:ext uri="{9D8B030D-6E8A-4147-A177-3AD203B41FA5}">
                      <a16:colId xmlns="" xmlns:a16="http://schemas.microsoft.com/office/drawing/2014/main" val="20002"/>
                    </a:ext>
                  </a:extLst>
                </a:gridCol>
                <a:gridCol w="504056">
                  <a:extLst>
                    <a:ext uri="{9D8B030D-6E8A-4147-A177-3AD203B41FA5}">
                      <a16:colId xmlns="" xmlns:a16="http://schemas.microsoft.com/office/drawing/2014/main" val="20003"/>
                    </a:ext>
                  </a:extLst>
                </a:gridCol>
                <a:gridCol w="648072">
                  <a:extLst>
                    <a:ext uri="{9D8B030D-6E8A-4147-A177-3AD203B41FA5}">
                      <a16:colId xmlns="" xmlns:a16="http://schemas.microsoft.com/office/drawing/2014/main" val="20004"/>
                    </a:ext>
                  </a:extLst>
                </a:gridCol>
                <a:gridCol w="504056">
                  <a:extLst>
                    <a:ext uri="{9D8B030D-6E8A-4147-A177-3AD203B41FA5}">
                      <a16:colId xmlns="" xmlns:a16="http://schemas.microsoft.com/office/drawing/2014/main" val="20005"/>
                    </a:ext>
                  </a:extLst>
                </a:gridCol>
                <a:gridCol w="504056">
                  <a:extLst>
                    <a:ext uri="{9D8B030D-6E8A-4147-A177-3AD203B41FA5}">
                      <a16:colId xmlns="" xmlns:a16="http://schemas.microsoft.com/office/drawing/2014/main" val="20006"/>
                    </a:ext>
                  </a:extLst>
                </a:gridCol>
                <a:gridCol w="504056">
                  <a:extLst>
                    <a:ext uri="{9D8B030D-6E8A-4147-A177-3AD203B41FA5}">
                      <a16:colId xmlns="" xmlns:a16="http://schemas.microsoft.com/office/drawing/2014/main" val="20007"/>
                    </a:ext>
                  </a:extLst>
                </a:gridCol>
                <a:gridCol w="432048">
                  <a:extLst>
                    <a:ext uri="{9D8B030D-6E8A-4147-A177-3AD203B41FA5}">
                      <a16:colId xmlns="" xmlns:a16="http://schemas.microsoft.com/office/drawing/2014/main" val="20008"/>
                    </a:ext>
                  </a:extLst>
                </a:gridCol>
                <a:gridCol w="648072">
                  <a:extLst>
                    <a:ext uri="{9D8B030D-6E8A-4147-A177-3AD203B41FA5}">
                      <a16:colId xmlns="" xmlns:a16="http://schemas.microsoft.com/office/drawing/2014/main" val="20009"/>
                    </a:ext>
                  </a:extLst>
                </a:gridCol>
              </a:tblGrid>
              <a:tr h="141658">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rgbClr val="FF0066"/>
                          </a:solidFill>
                          <a:effectLst/>
                          <a:highlight>
                            <a:srgbClr val="00FFFF"/>
                          </a:highlight>
                          <a:latin typeface="Tahoma" panose="020B0604030504040204" pitchFamily="34" charset="0"/>
                          <a:ea typeface="宋体" panose="02010600030101010101" pitchFamily="2" charset="-122"/>
                        </a:rPr>
                        <a:t>AND</a:t>
                      </a:r>
                    </a:p>
                  </a:txBody>
                  <a:tcPr marL="91443" marR="91443"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chemeClr val="folHlink"/>
                          </a:solidFill>
                          <a:effectLst/>
                          <a:highlight>
                            <a:srgbClr val="00FFFF"/>
                          </a:highlight>
                          <a:latin typeface="Arial" panose="020B0604020202020204" pitchFamily="34" charset="0"/>
                          <a:ea typeface="宋体" panose="02010600030101010101" pitchFamily="2" charset="-122"/>
                        </a:rPr>
                        <a:t>T</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chemeClr val="folHlink"/>
                          </a:solidFill>
                          <a:effectLst/>
                          <a:highlight>
                            <a:srgbClr val="00FFFF"/>
                          </a:highlight>
                          <a:latin typeface="Arial" panose="020B0604020202020204" pitchFamily="34" charset="0"/>
                          <a:ea typeface="宋体" panose="02010600030101010101" pitchFamily="2" charset="-122"/>
                        </a:rPr>
                        <a:t>F</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chemeClr val="folHlink"/>
                          </a:solidFill>
                          <a:effectLst/>
                          <a:highlight>
                            <a:srgbClr val="00FFFF"/>
                          </a:highlight>
                          <a:latin typeface="Arial" panose="020B0604020202020204" pitchFamily="34" charset="0"/>
                          <a:ea typeface="宋体" panose="02010600030101010101" pitchFamily="2" charset="-122"/>
                        </a:rPr>
                        <a:t>U</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rgbClr val="FF0066"/>
                          </a:solidFill>
                          <a:effectLst/>
                          <a:highlight>
                            <a:srgbClr val="00FFFF"/>
                          </a:highlight>
                          <a:latin typeface="Tahoma" panose="020B0604030504040204" pitchFamily="34" charset="0"/>
                          <a:ea typeface="宋体" panose="02010600030101010101" pitchFamily="2" charset="-122"/>
                        </a:rPr>
                        <a:t>OR</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chemeClr val="folHlink"/>
                          </a:solidFill>
                          <a:effectLst/>
                          <a:highlight>
                            <a:srgbClr val="00FFFF"/>
                          </a:highlight>
                          <a:latin typeface="Arial" panose="020B0604020202020204" pitchFamily="34" charset="0"/>
                          <a:ea typeface="宋体" panose="02010600030101010101" pitchFamily="2" charset="-122"/>
                        </a:rPr>
                        <a:t>T</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chemeClr val="folHlink"/>
                          </a:solidFill>
                          <a:effectLst/>
                          <a:highlight>
                            <a:srgbClr val="00FFFF"/>
                          </a:highlight>
                          <a:latin typeface="Arial" panose="020B0604020202020204" pitchFamily="34" charset="0"/>
                          <a:ea typeface="宋体" panose="02010600030101010101" pitchFamily="2" charset="-122"/>
                        </a:rPr>
                        <a:t>F</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chemeClr val="folHlink"/>
                          </a:solidFill>
                          <a:effectLst/>
                          <a:highlight>
                            <a:srgbClr val="00FFFF"/>
                          </a:highlight>
                          <a:latin typeface="Arial" panose="020B0604020202020204" pitchFamily="34" charset="0"/>
                          <a:ea typeface="宋体" panose="02010600030101010101" pitchFamily="2" charset="-122"/>
                        </a:rPr>
                        <a:t>U</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endParaRPr kumimoji="0" lang="en-US" altLang="zh-CN" sz="1600" b="1" i="0" u="sng" strike="noStrike" cap="none" normalizeH="0" baseline="0" dirty="0">
                        <a:ln>
                          <a:noFill/>
                        </a:ln>
                        <a:solidFill>
                          <a:srgbClr val="FF0066"/>
                        </a:solidFill>
                        <a:effectLst/>
                        <a:highlight>
                          <a:srgbClr val="00FFFF"/>
                        </a:highlight>
                        <a:latin typeface="Tahoma" panose="020B0604030504040204" pitchFamily="34" charset="0"/>
                        <a:ea typeface="宋体" panose="02010600030101010101" pitchFamily="2" charset="-122"/>
                      </a:endParaRP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tabLst/>
                        <a:defRPr/>
                      </a:pPr>
                      <a:r>
                        <a:rPr kumimoji="0" lang="en-US" altLang="zh-CN" sz="1600" b="1" i="0" u="sng" strike="noStrike" cap="none" normalizeH="0" baseline="0" dirty="0">
                          <a:ln>
                            <a:noFill/>
                          </a:ln>
                          <a:solidFill>
                            <a:srgbClr val="FF0066"/>
                          </a:solidFill>
                          <a:effectLst/>
                          <a:highlight>
                            <a:srgbClr val="00FFFF"/>
                          </a:highlight>
                          <a:latin typeface="Tahoma" panose="020B0604030504040204" pitchFamily="34" charset="0"/>
                          <a:ea typeface="宋体" panose="02010600030101010101" pitchFamily="2" charset="-122"/>
                        </a:rPr>
                        <a:t>NOT</a:t>
                      </a:r>
                    </a:p>
                  </a:txBody>
                  <a:tcPr marL="91443" marR="91443"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28575"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 xmlns:a16="http://schemas.microsoft.com/office/drawing/2014/main" val="10000"/>
                  </a:ext>
                </a:extLst>
              </a:tr>
              <a:tr h="312792">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chemeClr val="folHlink"/>
                          </a:solidFill>
                          <a:effectLst/>
                          <a:highlight>
                            <a:srgbClr val="00FFFF"/>
                          </a:highlight>
                          <a:latin typeface="Arial" panose="020B0604020202020204" pitchFamily="34" charset="0"/>
                          <a:ea typeface="宋体" panose="02010600030101010101" pitchFamily="2" charset="-122"/>
                        </a:rPr>
                        <a:t>T</a:t>
                      </a:r>
                    </a:p>
                  </a:txBody>
                  <a:tcPr marL="91443" marR="91443"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chemeClr val="folHlink"/>
                          </a:solidFill>
                          <a:effectLst/>
                          <a:highlight>
                            <a:srgbClr val="00FFFF"/>
                          </a:highlight>
                          <a:latin typeface="Arial" panose="020B0604020202020204" pitchFamily="34" charset="0"/>
                          <a:ea typeface="宋体" panose="02010600030101010101" pitchFamily="2" charset="-122"/>
                        </a:rPr>
                        <a:t>T</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rgbClr val="7030A0"/>
                          </a:solidFill>
                          <a:effectLst/>
                          <a:highlight>
                            <a:srgbClr val="00FFFF"/>
                          </a:highlight>
                          <a:latin typeface="Times New Roman" panose="02020603050405020304" pitchFamily="18" charset="0"/>
                          <a:ea typeface="宋体" panose="02010600030101010101" pitchFamily="2" charset="-122"/>
                          <a:cs typeface="Times New Roman" panose="02020603050405020304" pitchFamily="18" charset="0"/>
                        </a:rPr>
                        <a:t>T</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p>
                  </a:txBody>
                  <a:tcPr marL="91443" marR="91443"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 xmlns:a16="http://schemas.microsoft.com/office/drawing/2014/main" val="10001"/>
                  </a:ext>
                </a:extLst>
              </a:tr>
              <a:tr h="337552">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chemeClr val="folHlink"/>
                          </a:solidFill>
                          <a:effectLst/>
                          <a:highlight>
                            <a:srgbClr val="00FFFF"/>
                          </a:highlight>
                          <a:latin typeface="Arial" panose="020B0604020202020204" pitchFamily="34" charset="0"/>
                          <a:ea typeface="宋体" panose="02010600030101010101" pitchFamily="2" charset="-122"/>
                        </a:rPr>
                        <a:t>F</a:t>
                      </a:r>
                    </a:p>
                  </a:txBody>
                  <a:tcPr marL="91443" marR="91443"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chemeClr val="folHlink"/>
                          </a:solidFill>
                          <a:effectLst/>
                          <a:highlight>
                            <a:srgbClr val="00FFFF"/>
                          </a:highlight>
                          <a:latin typeface="Arial" panose="020B0604020202020204" pitchFamily="34" charset="0"/>
                          <a:ea typeface="宋体" panose="02010600030101010101" pitchFamily="2" charset="-122"/>
                        </a:rPr>
                        <a:t>F</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rgbClr val="7030A0"/>
                          </a:solidFill>
                          <a:effectLst/>
                          <a:highlight>
                            <a:srgbClr val="00FFFF"/>
                          </a:highlight>
                          <a:latin typeface="Times New Roman" panose="02020603050405020304" pitchFamily="18" charset="0"/>
                          <a:ea typeface="宋体" panose="02010600030101010101" pitchFamily="2" charset="-122"/>
                          <a:cs typeface="Times New Roman" panose="02020603050405020304" pitchFamily="18" charset="0"/>
                        </a:rPr>
                        <a:t>F</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p>
                  </a:txBody>
                  <a:tcPr marL="91443" marR="91443"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 xmlns:a16="http://schemas.microsoft.com/office/drawing/2014/main" val="10002"/>
                  </a:ext>
                </a:extLst>
              </a:tr>
              <a:tr h="247714">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chemeClr val="folHlink"/>
                          </a:solidFill>
                          <a:effectLst/>
                          <a:highlight>
                            <a:srgbClr val="00FFFF"/>
                          </a:highlight>
                          <a:latin typeface="Arial" panose="020B0604020202020204" pitchFamily="34" charset="0"/>
                          <a:ea typeface="宋体" panose="02010600030101010101" pitchFamily="2" charset="-122"/>
                        </a:rPr>
                        <a:t>U</a:t>
                      </a:r>
                    </a:p>
                  </a:txBody>
                  <a:tcPr marL="91443" marR="91443" horzOverflow="overflow">
                    <a:lnL w="28575"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F</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chemeClr val="folHlink"/>
                          </a:solidFill>
                          <a:effectLst/>
                          <a:highlight>
                            <a:srgbClr val="00FFFF"/>
                          </a:highlight>
                          <a:latin typeface="Arial" panose="020B0604020202020204" pitchFamily="34" charset="0"/>
                          <a:ea typeface="宋体" panose="02010600030101010101" pitchFamily="2" charset="-122"/>
                        </a:rPr>
                        <a:t>U</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T</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sng" strike="noStrike" cap="none" normalizeH="0" baseline="0" dirty="0">
                          <a:ln>
                            <a:noFill/>
                          </a:ln>
                          <a:solidFill>
                            <a:srgbClr val="7030A0"/>
                          </a:solidFill>
                          <a:effectLst/>
                          <a:highlight>
                            <a:srgbClr val="00FFFF"/>
                          </a:highlight>
                          <a:latin typeface="Times New Roman" panose="02020603050405020304" pitchFamily="18" charset="0"/>
                          <a:ea typeface="宋体" panose="02010600030101010101" pitchFamily="2" charset="-122"/>
                          <a:cs typeface="Times New Roman" panose="02020603050405020304" pitchFamily="18" charset="0"/>
                        </a:rPr>
                        <a:t>U</a:t>
                      </a:r>
                    </a:p>
                  </a:txBody>
                  <a:tcPr marL="91443" marR="91443" horzOverflow="overflow">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tc>
                  <a:txBody>
                    <a:bodyPr/>
                    <a:lstStyle>
                      <a:lvl1pPr marL="0" algn="l" defTabSz="914400" rtl="0" eaLnBrk="1" latinLnBrk="0" hangingPunct="1">
                        <a:defRPr sz="1800" kern="1200">
                          <a:solidFill>
                            <a:schemeClr val="tx1"/>
                          </a:solidFill>
                          <a:latin typeface="Tahoma" panose="020B0604030504040204"/>
                          <a:ea typeface="宋体" panose="02010600030101010101" pitchFamily="2" charset="-122"/>
                        </a:defRPr>
                      </a:lvl1pPr>
                      <a:lvl2pPr marL="457200" algn="l" defTabSz="914400" rtl="0" eaLnBrk="1" latinLnBrk="0" hangingPunct="1">
                        <a:defRPr sz="1800" kern="1200">
                          <a:solidFill>
                            <a:schemeClr val="tx1"/>
                          </a:solidFill>
                          <a:latin typeface="Tahoma" panose="020B0604030504040204"/>
                          <a:ea typeface="宋体" panose="02010600030101010101" pitchFamily="2" charset="-122"/>
                        </a:defRPr>
                      </a:lvl2pPr>
                      <a:lvl3pPr marL="914400" algn="l" defTabSz="914400" rtl="0" eaLnBrk="1" latinLnBrk="0" hangingPunct="1">
                        <a:defRPr sz="1800" kern="1200">
                          <a:solidFill>
                            <a:schemeClr val="tx1"/>
                          </a:solidFill>
                          <a:latin typeface="Tahoma" panose="020B0604030504040204"/>
                          <a:ea typeface="宋体" panose="02010600030101010101" pitchFamily="2" charset="-122"/>
                        </a:defRPr>
                      </a:lvl3pPr>
                      <a:lvl4pPr marL="1371600" algn="l" defTabSz="914400" rtl="0" eaLnBrk="1" latinLnBrk="0" hangingPunct="1">
                        <a:defRPr sz="1800" kern="1200">
                          <a:solidFill>
                            <a:schemeClr val="tx1"/>
                          </a:solidFill>
                          <a:latin typeface="Tahoma" panose="020B0604030504040204"/>
                          <a:ea typeface="宋体" panose="02010600030101010101" pitchFamily="2" charset="-122"/>
                        </a:defRPr>
                      </a:lvl4pPr>
                      <a:lvl5pPr marL="1828800" algn="l" defTabSz="914400" rtl="0" eaLnBrk="1" latinLnBrk="0" hangingPunct="1">
                        <a:defRPr sz="1800" kern="1200">
                          <a:solidFill>
                            <a:schemeClr val="tx1"/>
                          </a:solidFill>
                          <a:latin typeface="Tahoma" panose="020B0604030504040204"/>
                          <a:ea typeface="宋体" panose="02010600030101010101" pitchFamily="2" charset="-122"/>
                        </a:defRPr>
                      </a:lvl5pPr>
                      <a:lvl6pPr marL="2286000" algn="l" defTabSz="914400" rtl="0" eaLnBrk="1" latinLnBrk="0" hangingPunct="1">
                        <a:defRPr sz="1800" kern="1200">
                          <a:solidFill>
                            <a:schemeClr val="tx1"/>
                          </a:solidFill>
                          <a:latin typeface="Tahoma" panose="020B0604030504040204"/>
                          <a:ea typeface="宋体" panose="02010600030101010101" pitchFamily="2" charset="-122"/>
                        </a:defRPr>
                      </a:lvl6pPr>
                      <a:lvl7pPr marL="2743200" algn="l" defTabSz="914400" rtl="0" eaLnBrk="1" latinLnBrk="0" hangingPunct="1">
                        <a:defRPr sz="1800" kern="1200">
                          <a:solidFill>
                            <a:schemeClr val="tx1"/>
                          </a:solidFill>
                          <a:latin typeface="Tahoma" panose="020B0604030504040204"/>
                          <a:ea typeface="宋体" panose="02010600030101010101" pitchFamily="2" charset="-122"/>
                        </a:defRPr>
                      </a:lvl7pPr>
                      <a:lvl8pPr marL="3200400" algn="l" defTabSz="914400" rtl="0" eaLnBrk="1" latinLnBrk="0" hangingPunct="1">
                        <a:defRPr sz="1800" kern="1200">
                          <a:solidFill>
                            <a:schemeClr val="tx1"/>
                          </a:solidFill>
                          <a:latin typeface="Tahoma" panose="020B0604030504040204"/>
                          <a:ea typeface="宋体" panose="02010600030101010101" pitchFamily="2" charset="-122"/>
                        </a:defRPr>
                      </a:lvl8pPr>
                      <a:lvl9pPr marL="3657600" algn="l" defTabSz="914400" rtl="0" eaLnBrk="1" latinLnBrk="0" hangingPunct="1">
                        <a:defRPr sz="1800" kern="1200">
                          <a:solidFill>
                            <a:schemeClr val="tx1"/>
                          </a:solidFill>
                          <a:latin typeface="Tahoma" panose="020B0604030504040204"/>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Pct val="65000"/>
                        <a:buFont typeface="Wingdings" panose="05000000000000000000" pitchFamily="2" charset="2"/>
                        <a:buNone/>
                      </a:pPr>
                      <a:r>
                        <a:rPr kumimoji="0" lang="en-US" altLang="zh-CN" sz="1600" b="1"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U</a:t>
                      </a:r>
                    </a:p>
                  </a:txBody>
                  <a:tcPr marL="91443" marR="91443" horzOverflow="overflow">
                    <a:lnL w="12700" cap="flat" cmpd="sng" algn="ctr">
                      <a:solidFill>
                        <a:srgbClr val="FFFFFF"/>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28575" cap="flat" cmpd="sng" algn="ctr">
                      <a:solidFill>
                        <a:srgbClr val="FFFFFF"/>
                      </a:solidFill>
                      <a:prstDash val="solid"/>
                      <a:round/>
                      <a:headEnd type="none" w="med" len="med"/>
                      <a:tailEnd type="none" w="med" len="med"/>
                    </a:lnB>
                    <a:lnTlToBr>
                      <a:noFill/>
                    </a:lnTlToBr>
                    <a:lnBlToTr>
                      <a:noFill/>
                    </a:lnBlToTr>
                    <a:solidFill>
                      <a:schemeClr val="tx2">
                        <a:lumMod val="20000"/>
                        <a:lumOff val="80000"/>
                      </a:schemeClr>
                    </a:solidFill>
                  </a:tcPr>
                </a:tc>
                <a:extLst>
                  <a:ext uri="{0D108BD9-81ED-4DB2-BD59-A6C34878D82A}">
                    <a16:rowId xmlns="" xmlns:a16="http://schemas.microsoft.com/office/drawing/2014/main" val="10003"/>
                  </a:ext>
                </a:extLst>
              </a:tr>
            </a:tbl>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900003"/>
            <a:ext cx="9036496" cy="3970318"/>
          </a:xfrm>
          <a:prstGeom prst="rect">
            <a:avLst/>
          </a:prstGeom>
        </p:spPr>
        <p:txBody>
          <a:bodyPr wrap="square">
            <a:spAutoFit/>
          </a:bodyPr>
          <a:lstStyle/>
          <a:p>
            <a:pPr>
              <a:spcBef>
                <a:spcPts val="600"/>
              </a:spcBef>
            </a:pPr>
            <a:r>
              <a:rPr lang="en-US" dirty="0">
                <a:solidFill>
                  <a:srgbClr val="7030A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[6] Predicates</a:t>
            </a:r>
            <a:endParaRPr lang="en-US" sz="2200" dirty="0">
              <a:solidFill>
                <a:srgbClr val="002060"/>
              </a:solidFill>
              <a:latin typeface="Times New Roman" panose="02020603050405020304" pitchFamily="18" charset="0"/>
              <a:cs typeface="Times New Roman" panose="02020603050405020304" pitchFamily="18" charset="0"/>
            </a:endParaRPr>
          </a:p>
          <a:p>
            <a:pPr>
              <a:spcBef>
                <a:spcPts val="1200"/>
              </a:spcBef>
            </a:pPr>
            <a:r>
              <a:rPr lang="en-US" sz="2200" dirty="0">
                <a:solidFill>
                  <a:srgbClr val="002060"/>
                </a:solidFill>
                <a:latin typeface="Times New Roman" panose="02020603050405020304" pitchFamily="18" charset="0"/>
                <a:cs typeface="Times New Roman" panose="02020603050405020304" pitchFamily="18" charset="0"/>
              </a:rPr>
              <a:t>      a) Comparison predicate:	</a:t>
            </a:r>
            <a:r>
              <a:rPr lang="en-US" sz="2200" dirty="0">
                <a:solidFill>
                  <a:srgbClr val="C00000"/>
                </a:solidFill>
                <a:latin typeface="Times New Roman" panose="02020603050405020304" pitchFamily="18" charset="0"/>
                <a:cs typeface="Times New Roman" panose="02020603050405020304" pitchFamily="18" charset="0"/>
              </a:rPr>
              <a:t>expr1</a:t>
            </a:r>
            <a:r>
              <a:rPr lang="en-US" sz="2200" dirty="0">
                <a:solidFill>
                  <a:srgbClr val="002060"/>
                </a:solidFill>
                <a:latin typeface="Times New Roman" panose="02020603050405020304" pitchFamily="18" charset="0"/>
                <a:cs typeface="Times New Roman" panose="02020603050405020304" pitchFamily="18" charset="0"/>
              </a:rPr>
              <a:t> { expr2 | expr1 (</a:t>
            </a:r>
            <a:r>
              <a:rPr lang="en-US" sz="2200" dirty="0">
                <a:solidFill>
                  <a:srgbClr val="C00000"/>
                </a:solidFill>
                <a:latin typeface="Times New Roman" panose="02020603050405020304" pitchFamily="18" charset="0"/>
                <a:cs typeface="Times New Roman" panose="02020603050405020304" pitchFamily="18" charset="0"/>
              </a:rPr>
              <a:t>Subquery</a:t>
            </a:r>
            <a:r>
              <a:rPr lang="en-US" sz="2200" dirty="0">
                <a:solidFill>
                  <a:srgbClr val="002060"/>
                </a:solidFill>
                <a:latin typeface="Times New Roman" panose="02020603050405020304" pitchFamily="18" charset="0"/>
                <a:cs typeface="Times New Roman" panose="02020603050405020304" pitchFamily="18" charset="0"/>
              </a:rPr>
              <a:t>)}</a:t>
            </a:r>
          </a:p>
          <a:p>
            <a:pPr>
              <a:spcBef>
                <a:spcPts val="1200"/>
              </a:spcBef>
            </a:pPr>
            <a:r>
              <a:rPr lang="en-US" sz="2200" dirty="0">
                <a:solidFill>
                  <a:srgbClr val="002060"/>
                </a:solidFill>
                <a:latin typeface="Times New Roman" panose="02020603050405020304" pitchFamily="18" charset="0"/>
                <a:cs typeface="Times New Roman" panose="02020603050405020304" pitchFamily="18" charset="0"/>
              </a:rPr>
              <a:t>      b) </a:t>
            </a:r>
            <a:r>
              <a:rPr lang="en-US" sz="2200" dirty="0">
                <a:solidFill>
                  <a:srgbClr val="002060"/>
                </a:solidFill>
                <a:highlight>
                  <a:srgbClr val="FFFF00"/>
                </a:highlight>
                <a:latin typeface="Times New Roman" panose="02020603050405020304" pitchFamily="18" charset="0"/>
                <a:cs typeface="Times New Roman" panose="02020603050405020304" pitchFamily="18" charset="0"/>
              </a:rPr>
              <a:t>Between</a:t>
            </a:r>
            <a:r>
              <a:rPr lang="en-US" sz="2200" dirty="0">
                <a:solidFill>
                  <a:srgbClr val="002060"/>
                </a:solidFill>
                <a:latin typeface="Times New Roman" panose="02020603050405020304" pitchFamily="18" charset="0"/>
                <a:cs typeface="Times New Roman" panose="02020603050405020304" pitchFamily="18" charset="0"/>
              </a:rPr>
              <a:t> predicate:	</a:t>
            </a:r>
            <a:r>
              <a:rPr lang="en-US" sz="2200" dirty="0" err="1">
                <a:solidFill>
                  <a:srgbClr val="002060"/>
                </a:solidFill>
                <a:latin typeface="Times New Roman" panose="02020603050405020304" pitchFamily="18" charset="0"/>
                <a:cs typeface="Times New Roman" panose="02020603050405020304" pitchFamily="18" charset="0"/>
              </a:rPr>
              <a:t>c.discnt</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between</a:t>
            </a:r>
            <a:r>
              <a:rPr lang="en-US" sz="2200" dirty="0">
                <a:solidFill>
                  <a:srgbClr val="002060"/>
                </a:solidFill>
                <a:latin typeface="Times New Roman" panose="02020603050405020304" pitchFamily="18" charset="0"/>
                <a:cs typeface="Times New Roman" panose="02020603050405020304" pitchFamily="18" charset="0"/>
              </a:rPr>
              <a:t> 10 </a:t>
            </a:r>
            <a:r>
              <a:rPr lang="en-US" sz="2200" dirty="0">
                <a:solidFill>
                  <a:srgbClr val="C00000"/>
                </a:solidFill>
                <a:latin typeface="Times New Roman" panose="02020603050405020304" pitchFamily="18" charset="0"/>
                <a:cs typeface="Times New Roman" panose="02020603050405020304" pitchFamily="18" charset="0"/>
              </a:rPr>
              <a:t>and</a:t>
            </a:r>
            <a:r>
              <a:rPr lang="en-US" sz="2200" dirty="0">
                <a:solidFill>
                  <a:srgbClr val="002060"/>
                </a:solidFill>
                <a:latin typeface="Times New Roman" panose="02020603050405020304" pitchFamily="18" charset="0"/>
                <a:cs typeface="Times New Roman" panose="02020603050405020304" pitchFamily="18" charset="0"/>
              </a:rPr>
              <a:t> 12</a:t>
            </a:r>
          </a:p>
          <a:p>
            <a:pPr>
              <a:spcBef>
                <a:spcPts val="1200"/>
              </a:spcBef>
            </a:pPr>
            <a:r>
              <a:rPr lang="en-US" sz="2200" dirty="0">
                <a:solidFill>
                  <a:srgbClr val="002060"/>
                </a:solidFill>
                <a:latin typeface="Times New Roman" panose="02020603050405020304" pitchFamily="18" charset="0"/>
                <a:cs typeface="Times New Roman" panose="02020603050405020304" pitchFamily="18" charset="0"/>
              </a:rPr>
              <a:t>      c) In predicate:		expr [not] </a:t>
            </a:r>
            <a:r>
              <a:rPr lang="en-US" sz="2200" dirty="0">
                <a:solidFill>
                  <a:srgbClr val="C00000"/>
                </a:solidFill>
                <a:latin typeface="Times New Roman" panose="02020603050405020304" pitchFamily="18" charset="0"/>
                <a:cs typeface="Times New Roman" panose="02020603050405020304" pitchFamily="18" charset="0"/>
              </a:rPr>
              <a:t>in</a:t>
            </a:r>
            <a:r>
              <a:rPr lang="en-US" sz="2200" dirty="0">
                <a:solidFill>
                  <a:srgbClr val="002060"/>
                </a:solidFill>
                <a:latin typeface="Times New Roman" panose="02020603050405020304" pitchFamily="18" charset="0"/>
                <a:cs typeface="Times New Roman" panose="02020603050405020304" pitchFamily="18" charset="0"/>
              </a:rPr>
              <a:t> (subquery)</a:t>
            </a:r>
          </a:p>
          <a:p>
            <a:pPr>
              <a:spcBef>
                <a:spcPts val="1200"/>
              </a:spcBef>
            </a:pPr>
            <a:r>
              <a:rPr lang="en-US" sz="2200" dirty="0">
                <a:solidFill>
                  <a:srgbClr val="002060"/>
                </a:solidFill>
                <a:latin typeface="Times New Roman" panose="02020603050405020304" pitchFamily="18" charset="0"/>
                <a:cs typeface="Times New Roman" panose="02020603050405020304" pitchFamily="18" charset="0"/>
              </a:rPr>
              <a:t>      d) Quantified predicate:	expr  [</a:t>
            </a:r>
            <a:r>
              <a:rPr lang="en-US" sz="2200" dirty="0">
                <a:solidFill>
                  <a:srgbClr val="C00000"/>
                </a:solidFill>
                <a:latin typeface="Times New Roman" panose="02020603050405020304" pitchFamily="18" charset="0"/>
                <a:cs typeface="Times New Roman" panose="02020603050405020304" pitchFamily="18" charset="0"/>
              </a:rPr>
              <a:t>all</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any</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some</a:t>
            </a:r>
            <a:r>
              <a:rPr lang="en-US" sz="2200" dirty="0">
                <a:solidFill>
                  <a:srgbClr val="002060"/>
                </a:solidFill>
                <a:latin typeface="Times New Roman" panose="02020603050405020304" pitchFamily="18" charset="0"/>
                <a:cs typeface="Times New Roman" panose="02020603050405020304" pitchFamily="18" charset="0"/>
              </a:rPr>
              <a:t>] (subquery)</a:t>
            </a:r>
          </a:p>
          <a:p>
            <a:pPr>
              <a:spcBef>
                <a:spcPts val="1200"/>
              </a:spcBef>
            </a:pPr>
            <a:r>
              <a:rPr lang="en-US" sz="2200" dirty="0">
                <a:solidFill>
                  <a:srgbClr val="002060"/>
                </a:solidFill>
                <a:latin typeface="Times New Roman" panose="02020603050405020304" pitchFamily="18" charset="0"/>
                <a:cs typeface="Times New Roman" panose="02020603050405020304" pitchFamily="18" charset="0"/>
              </a:rPr>
              <a:t>      e) Exists predicate:		[not] </a:t>
            </a:r>
            <a:r>
              <a:rPr lang="en-US" sz="2200" dirty="0">
                <a:solidFill>
                  <a:srgbClr val="C00000"/>
                </a:solidFill>
                <a:latin typeface="Times New Roman" panose="02020603050405020304" pitchFamily="18" charset="0"/>
                <a:cs typeface="Times New Roman" panose="02020603050405020304" pitchFamily="18" charset="0"/>
              </a:rPr>
              <a:t>exists</a:t>
            </a:r>
            <a:r>
              <a:rPr lang="en-US" sz="2200" dirty="0">
                <a:solidFill>
                  <a:srgbClr val="002060"/>
                </a:solidFill>
                <a:latin typeface="Times New Roman" panose="02020603050405020304" pitchFamily="18" charset="0"/>
                <a:cs typeface="Times New Roman" panose="02020603050405020304" pitchFamily="18" charset="0"/>
              </a:rPr>
              <a:t> (subquery)</a:t>
            </a:r>
          </a:p>
          <a:p>
            <a:pPr>
              <a:spcBef>
                <a:spcPts val="1200"/>
              </a:spcBef>
            </a:pPr>
            <a:r>
              <a:rPr lang="en-US" sz="2200" dirty="0">
                <a:solidFill>
                  <a:srgbClr val="002060"/>
                </a:solidFill>
                <a:latin typeface="Times New Roman" panose="02020603050405020304" pitchFamily="18" charset="0"/>
                <a:cs typeface="Times New Roman" panose="02020603050405020304" pitchFamily="18" charset="0"/>
              </a:rPr>
              <a:t>      f) Is null predicate:		</a:t>
            </a:r>
            <a:r>
              <a:rPr lang="en-US" sz="2200" dirty="0" err="1">
                <a:solidFill>
                  <a:srgbClr val="002060"/>
                </a:solidFill>
                <a:latin typeface="Times New Roman" panose="02020603050405020304" pitchFamily="18" charset="0"/>
                <a:cs typeface="Times New Roman" panose="02020603050405020304" pitchFamily="18" charset="0"/>
              </a:rPr>
              <a:t>columnname</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is</a:t>
            </a:r>
            <a:r>
              <a:rPr lang="en-US" sz="2200" dirty="0">
                <a:solidFill>
                  <a:srgbClr val="002060"/>
                </a:solidFill>
                <a:latin typeface="Times New Roman" panose="02020603050405020304" pitchFamily="18" charset="0"/>
                <a:cs typeface="Times New Roman" panose="02020603050405020304" pitchFamily="18" charset="0"/>
              </a:rPr>
              <a:t> [not] </a:t>
            </a:r>
            <a:r>
              <a:rPr lang="en-US" sz="2200" dirty="0">
                <a:solidFill>
                  <a:srgbClr val="C00000"/>
                </a:solidFill>
                <a:latin typeface="Times New Roman" panose="02020603050405020304" pitchFamily="18" charset="0"/>
                <a:cs typeface="Times New Roman" panose="02020603050405020304" pitchFamily="18" charset="0"/>
              </a:rPr>
              <a:t>null</a:t>
            </a:r>
          </a:p>
          <a:p>
            <a:pPr>
              <a:spcBef>
                <a:spcPts val="1200"/>
              </a:spcBef>
            </a:pPr>
            <a:r>
              <a:rPr lang="en-US" sz="2200" dirty="0">
                <a:solidFill>
                  <a:srgbClr val="002060"/>
                </a:solidFill>
                <a:latin typeface="Times New Roman" panose="02020603050405020304" pitchFamily="18" charset="0"/>
                <a:cs typeface="Times New Roman" panose="02020603050405020304" pitchFamily="18" charset="0"/>
              </a:rPr>
              <a:t>      g) </a:t>
            </a:r>
            <a:r>
              <a:rPr lang="en-US" sz="2200" dirty="0">
                <a:solidFill>
                  <a:srgbClr val="002060"/>
                </a:solidFill>
                <a:highlight>
                  <a:srgbClr val="FFFF00"/>
                </a:highlight>
                <a:latin typeface="Times New Roman" panose="02020603050405020304" pitchFamily="18" charset="0"/>
                <a:cs typeface="Times New Roman" panose="02020603050405020304" pitchFamily="18" charset="0"/>
              </a:rPr>
              <a:t>Like</a:t>
            </a:r>
            <a:r>
              <a:rPr lang="en-US" sz="2200" dirty="0">
                <a:solidFill>
                  <a:srgbClr val="002060"/>
                </a:solidFill>
                <a:latin typeface="Times New Roman" panose="02020603050405020304" pitchFamily="18" charset="0"/>
                <a:cs typeface="Times New Roman" panose="02020603050405020304" pitchFamily="18" charset="0"/>
              </a:rPr>
              <a:t> predicate:		</a:t>
            </a:r>
            <a:r>
              <a:rPr lang="en-US" sz="2200" dirty="0" err="1">
                <a:solidFill>
                  <a:srgbClr val="002060"/>
                </a:solidFill>
                <a:latin typeface="Times New Roman" panose="02020603050405020304" pitchFamily="18" charset="0"/>
                <a:cs typeface="Times New Roman" panose="02020603050405020304" pitchFamily="18" charset="0"/>
              </a:rPr>
              <a:t>columnname</a:t>
            </a:r>
            <a:r>
              <a:rPr lang="en-US" sz="2200" dirty="0">
                <a:solidFill>
                  <a:srgbClr val="002060"/>
                </a:solidFill>
                <a:latin typeface="Times New Roman" panose="02020603050405020304" pitchFamily="18" charset="0"/>
                <a:cs typeface="Times New Roman" panose="02020603050405020304" pitchFamily="18" charset="0"/>
              </a:rPr>
              <a:t> [not] </a:t>
            </a:r>
            <a:r>
              <a:rPr lang="en-US" sz="2200" dirty="0">
                <a:solidFill>
                  <a:srgbClr val="C00000"/>
                </a:solidFill>
                <a:latin typeface="Times New Roman" panose="02020603050405020304" pitchFamily="18" charset="0"/>
                <a:cs typeface="Times New Roman" panose="02020603050405020304" pitchFamily="18" charset="0"/>
              </a:rPr>
              <a:t>like</a:t>
            </a:r>
            <a:r>
              <a:rPr lang="en-US" sz="2200" dirty="0">
                <a:solidFill>
                  <a:srgbClr val="002060"/>
                </a:solidFill>
                <a:latin typeface="Times New Roman" panose="02020603050405020304" pitchFamily="18" charset="0"/>
                <a:cs typeface="Times New Roman" panose="02020603050405020304" pitchFamily="18" charset="0"/>
              </a:rPr>
              <a:t> 'pattern'</a:t>
            </a:r>
          </a:p>
        </p:txBody>
      </p:sp>
      <p:sp>
        <p:nvSpPr>
          <p:cNvPr id="4" name="Rectangle 1"/>
          <p:cNvSpPr/>
          <p:nvPr/>
        </p:nvSpPr>
        <p:spPr>
          <a:xfrm>
            <a:off x="827584" y="116632"/>
            <a:ext cx="8280920"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3.9 A complete description of Select</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908720"/>
            <a:ext cx="9036496" cy="5493812"/>
          </a:xfrm>
          <a:prstGeom prst="rect">
            <a:avLst/>
          </a:prstGeom>
        </p:spPr>
        <p:txBody>
          <a:bodyPr wrap="square">
            <a:spAutoFit/>
          </a:bodyPr>
          <a:lstStyle/>
          <a:p>
            <a:pPr>
              <a:spcBef>
                <a:spcPts val="600"/>
              </a:spcBef>
            </a:pPr>
            <a:r>
              <a:rPr lang="en-US" sz="2400" dirty="0">
                <a:solidFill>
                  <a:srgbClr val="7030A0"/>
                </a:solidFill>
                <a:latin typeface="Times New Roman" panose="02020603050405020304" pitchFamily="18" charset="0"/>
                <a:cs typeface="Times New Roman" panose="02020603050405020304" pitchFamily="18" charset="0"/>
              </a:rPr>
              <a:t>4. Summary of Predicates </a:t>
            </a:r>
          </a:p>
          <a:p>
            <a:pPr>
              <a:spcBef>
                <a:spcPts val="600"/>
              </a:spcBef>
            </a:pPr>
            <a:r>
              <a:rPr lang="en-US" sz="2400" dirty="0">
                <a:solidFill>
                  <a:srgbClr val="00206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[1]Comparison predicate    </a:t>
            </a:r>
            <a:r>
              <a:rPr lang="en-US" sz="2000" dirty="0">
                <a:solidFill>
                  <a:srgbClr val="002060"/>
                </a:solidFill>
                <a:latin typeface="Times New Roman" panose="02020603050405020304" pitchFamily="18" charset="0"/>
                <a:cs typeface="Times New Roman" panose="02020603050405020304" pitchFamily="18" charset="0"/>
              </a:rPr>
              <a:t>expr1 | expr1 (Subquery){=, &lt;&gt;, &gt;, &lt;,&gt;=, &lt;=}</a:t>
            </a:r>
            <a:endParaRPr lang="en-US" sz="2200" dirty="0">
              <a:solidFill>
                <a:srgbClr val="002060"/>
              </a:solidFill>
              <a:latin typeface="Times New Roman" panose="02020603050405020304" pitchFamily="18" charset="0"/>
              <a:cs typeface="Times New Roman" panose="02020603050405020304" pitchFamily="18" charset="0"/>
            </a:endParaRPr>
          </a:p>
          <a:p>
            <a:pPr marL="648000" lvl="1" indent="-180000">
              <a:spcBef>
                <a:spcPts val="1200"/>
              </a:spcBef>
              <a:buFont typeface="Wingdings" panose="05000000000000000000" pitchFamily="2" charset="2"/>
              <a:buChar char="Ø"/>
            </a:pPr>
            <a:r>
              <a:rPr lang="en-US" sz="2000" dirty="0">
                <a:solidFill>
                  <a:srgbClr val="7030A0"/>
                </a:solidFill>
                <a:latin typeface="Times New Roman" panose="02020603050405020304" pitchFamily="18" charset="0"/>
                <a:cs typeface="Times New Roman" panose="02020603050405020304" pitchFamily="18" charset="0"/>
              </a:rPr>
              <a:t>Example 3.9.2 </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7030A0"/>
                </a:solidFill>
                <a:latin typeface="+mn-lt"/>
                <a:cs typeface="Times New Roman" panose="02020603050405020304" pitchFamily="18" charset="0"/>
              </a:rPr>
              <a:t>Listed </a:t>
            </a:r>
            <a:r>
              <a:rPr lang="en-US" sz="2000" dirty="0" err="1">
                <a:solidFill>
                  <a:srgbClr val="7030A0"/>
                </a:solidFill>
                <a:latin typeface="+mn-lt"/>
                <a:cs typeface="Times New Roman" panose="02020603050405020304" pitchFamily="18" charset="0"/>
              </a:rPr>
              <a:t>cids</a:t>
            </a:r>
            <a:r>
              <a:rPr lang="en-US" sz="2000" dirty="0">
                <a:solidFill>
                  <a:srgbClr val="7030A0"/>
                </a:solidFill>
                <a:latin typeface="+mn-lt"/>
                <a:cs typeface="Times New Roman" panose="02020603050405020304" pitchFamily="18" charset="0"/>
              </a:rPr>
              <a:t> with a discount less than the maximum discount.</a:t>
            </a:r>
          </a:p>
          <a:p>
            <a:pPr marL="468000" lvl="1">
              <a:spcBef>
                <a:spcPts val="0"/>
              </a:spcBef>
            </a:pPr>
            <a:endParaRPr lang="en-US" sz="2000" dirty="0">
              <a:solidFill>
                <a:srgbClr val="7030A0"/>
              </a:solidFill>
              <a:latin typeface="+mn-lt"/>
              <a:cs typeface="Times New Roman" panose="02020603050405020304" pitchFamily="18" charset="0"/>
            </a:endParaRPr>
          </a:p>
          <a:p>
            <a:pPr marL="468000" lvl="1">
              <a:spcBef>
                <a:spcPts val="0"/>
              </a:spcBef>
            </a:pPr>
            <a:endParaRPr lang="en-US" sz="2000" dirty="0">
              <a:solidFill>
                <a:srgbClr val="7030A0"/>
              </a:solidFill>
              <a:latin typeface="+mn-lt"/>
              <a:cs typeface="Times New Roman" panose="02020603050405020304" pitchFamily="18" charset="0"/>
            </a:endParaRPr>
          </a:p>
          <a:p>
            <a:pPr>
              <a:spcBef>
                <a:spcPts val="1200"/>
              </a:spcBef>
            </a:pPr>
            <a:r>
              <a:rPr lang="en-US"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C00000"/>
                </a:solidFill>
                <a:latin typeface="Times New Roman" panose="02020603050405020304" pitchFamily="18" charset="0"/>
                <a:cs typeface="Times New Roman" panose="02020603050405020304" pitchFamily="18" charset="0"/>
              </a:rPr>
              <a:t>S1</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002060"/>
                </a:solidFill>
                <a:latin typeface="Times New Roman" panose="02020603050405020304" pitchFamily="18" charset="0"/>
                <a:cs typeface="Times New Roman" panose="02020603050405020304" pitchFamily="18" charset="0"/>
              </a:rPr>
              <a:t>  select </a:t>
            </a:r>
            <a:r>
              <a:rPr lang="en-US" sz="2200" dirty="0" err="1">
                <a:solidFill>
                  <a:srgbClr val="C00000"/>
                </a:solidFill>
                <a:latin typeface="Times New Roman" panose="02020603050405020304" pitchFamily="18" charset="0"/>
                <a:cs typeface="Times New Roman" panose="02020603050405020304" pitchFamily="18" charset="0"/>
              </a:rPr>
              <a:t>cid</a:t>
            </a:r>
            <a:r>
              <a:rPr lang="en-US" sz="2200" dirty="0">
                <a:solidFill>
                  <a:srgbClr val="002060"/>
                </a:solidFill>
                <a:latin typeface="Times New Roman" panose="02020603050405020304" pitchFamily="18" charset="0"/>
                <a:cs typeface="Times New Roman" panose="02020603050405020304" pitchFamily="18" charset="0"/>
              </a:rPr>
              <a:t> from customers</a:t>
            </a:r>
          </a:p>
          <a:p>
            <a:pPr>
              <a:lnSpc>
                <a:spcPts val="2200"/>
              </a:lnSpc>
            </a:pPr>
            <a:r>
              <a:rPr lang="en-US" sz="2200" dirty="0">
                <a:solidFill>
                  <a:srgbClr val="002060"/>
                </a:solidFill>
                <a:latin typeface="Times New Roman" panose="02020603050405020304" pitchFamily="18" charset="0"/>
                <a:cs typeface="Times New Roman" panose="02020603050405020304" pitchFamily="18" charset="0"/>
              </a:rPr>
              <a:t>    		    where </a:t>
            </a:r>
            <a:r>
              <a:rPr lang="en-US" sz="2200" dirty="0" err="1">
                <a:solidFill>
                  <a:srgbClr val="C00000"/>
                </a:solidFill>
                <a:latin typeface="Times New Roman" panose="02020603050405020304" pitchFamily="18" charset="0"/>
                <a:cs typeface="Times New Roman" panose="02020603050405020304" pitchFamily="18" charset="0"/>
              </a:rPr>
              <a:t>discnt</a:t>
            </a:r>
            <a:r>
              <a:rPr lang="en-US" sz="2200" dirty="0">
                <a:solidFill>
                  <a:srgbClr val="002060"/>
                </a:solidFill>
                <a:latin typeface="Times New Roman" panose="02020603050405020304" pitchFamily="18" charset="0"/>
                <a:cs typeface="Times New Roman" panose="02020603050405020304" pitchFamily="18" charset="0"/>
              </a:rPr>
              <a:t> &lt; (select </a:t>
            </a:r>
            <a:r>
              <a:rPr lang="en-US" sz="2200" dirty="0">
                <a:solidFill>
                  <a:srgbClr val="C00000"/>
                </a:solidFill>
                <a:highlight>
                  <a:srgbClr val="00FF00"/>
                </a:highlight>
                <a:latin typeface="Times New Roman" panose="02020603050405020304" pitchFamily="18" charset="0"/>
                <a:cs typeface="Times New Roman" panose="02020603050405020304" pitchFamily="18" charset="0"/>
              </a:rPr>
              <a:t>max(</a:t>
            </a:r>
            <a:r>
              <a:rPr lang="en-US" sz="2200" dirty="0" err="1">
                <a:solidFill>
                  <a:srgbClr val="C00000"/>
                </a:solidFill>
                <a:highlight>
                  <a:srgbClr val="00FF00"/>
                </a:highlight>
                <a:latin typeface="Times New Roman" panose="02020603050405020304" pitchFamily="18" charset="0"/>
                <a:cs typeface="Times New Roman" panose="02020603050405020304" pitchFamily="18" charset="0"/>
              </a:rPr>
              <a:t>discnt</a:t>
            </a:r>
            <a:r>
              <a:rPr lang="en-US" sz="2200" dirty="0">
                <a:solidFill>
                  <a:srgbClr val="C00000"/>
                </a:solidFill>
                <a:highlight>
                  <a:srgbClr val="00FF00"/>
                </a:highlight>
                <a:latin typeface="Times New Roman" panose="02020603050405020304" pitchFamily="18" charset="0"/>
                <a:cs typeface="Times New Roman" panose="02020603050405020304" pitchFamily="18" charset="0"/>
              </a:rPr>
              <a:t>)</a:t>
            </a:r>
            <a:r>
              <a:rPr lang="en-US" sz="2200" dirty="0">
                <a:solidFill>
                  <a:srgbClr val="002060"/>
                </a:solidFill>
                <a:latin typeface="Times New Roman" panose="02020603050405020304" pitchFamily="18" charset="0"/>
                <a:cs typeface="Times New Roman" panose="02020603050405020304" pitchFamily="18" charset="0"/>
              </a:rPr>
              <a:t>  from customers);</a:t>
            </a:r>
          </a:p>
          <a:p>
            <a:pPr>
              <a:spcBef>
                <a:spcPts val="600"/>
              </a:spcBef>
            </a:pPr>
            <a:r>
              <a:rPr lang="en-US"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C00000"/>
                </a:solidFill>
                <a:latin typeface="Times New Roman" panose="02020603050405020304" pitchFamily="18" charset="0"/>
                <a:cs typeface="Times New Roman" panose="02020603050405020304" pitchFamily="18" charset="0"/>
              </a:rPr>
              <a:t>S2</a:t>
            </a:r>
            <a:r>
              <a:rPr lang="en-US" sz="2200" dirty="0">
                <a:solidFill>
                  <a:srgbClr val="002060"/>
                </a:solidFill>
                <a:latin typeface="Times New Roman" panose="02020603050405020304" pitchFamily="18" charset="0"/>
                <a:cs typeface="Times New Roman" panose="02020603050405020304" pitchFamily="18" charset="0"/>
              </a:rPr>
              <a:t>   select </a:t>
            </a:r>
            <a:r>
              <a:rPr lang="en-US" sz="2200" dirty="0" err="1">
                <a:solidFill>
                  <a:srgbClr val="C00000"/>
                </a:solidFill>
                <a:latin typeface="Times New Roman" panose="02020603050405020304" pitchFamily="18" charset="0"/>
                <a:cs typeface="Times New Roman" panose="02020603050405020304" pitchFamily="18" charset="0"/>
              </a:rPr>
              <a:t>cid</a:t>
            </a:r>
            <a:r>
              <a:rPr lang="en-US" sz="2200" dirty="0">
                <a:solidFill>
                  <a:srgbClr val="002060"/>
                </a:solidFill>
                <a:latin typeface="Times New Roman" panose="02020603050405020304" pitchFamily="18" charset="0"/>
                <a:cs typeface="Times New Roman" panose="02020603050405020304" pitchFamily="18" charset="0"/>
              </a:rPr>
              <a:t> from customers</a:t>
            </a:r>
          </a:p>
          <a:p>
            <a:pPr>
              <a:lnSpc>
                <a:spcPts val="2200"/>
              </a:lnSpc>
            </a:pPr>
            <a:r>
              <a:rPr lang="en-US" sz="2200" dirty="0">
                <a:solidFill>
                  <a:srgbClr val="002060"/>
                </a:solidFill>
                <a:latin typeface="Times New Roman" panose="02020603050405020304" pitchFamily="18" charset="0"/>
                <a:cs typeface="Times New Roman" panose="02020603050405020304" pitchFamily="18" charset="0"/>
              </a:rPr>
              <a:t>    	                 where </a:t>
            </a:r>
            <a:r>
              <a:rPr lang="en-US" sz="2200" dirty="0" err="1">
                <a:solidFill>
                  <a:srgbClr val="C00000"/>
                </a:solidFill>
                <a:latin typeface="Times New Roman" panose="02020603050405020304" pitchFamily="18" charset="0"/>
                <a:cs typeface="Times New Roman" panose="02020603050405020304" pitchFamily="18" charset="0"/>
              </a:rPr>
              <a:t>discnt</a:t>
            </a:r>
            <a:r>
              <a:rPr lang="en-US" sz="2200" dirty="0">
                <a:solidFill>
                  <a:srgbClr val="002060"/>
                </a:solidFill>
                <a:latin typeface="Times New Roman" panose="02020603050405020304" pitchFamily="18" charset="0"/>
                <a:cs typeface="Times New Roman" panose="02020603050405020304" pitchFamily="18" charset="0"/>
              </a:rPr>
              <a:t> &lt; </a:t>
            </a:r>
            <a:r>
              <a:rPr lang="en-US" sz="2200" dirty="0">
                <a:solidFill>
                  <a:srgbClr val="C00000"/>
                </a:solidFill>
                <a:highlight>
                  <a:srgbClr val="00FF00"/>
                </a:highlight>
                <a:latin typeface="Times New Roman" panose="02020603050405020304" pitchFamily="18" charset="0"/>
                <a:cs typeface="Times New Roman" panose="02020603050405020304" pitchFamily="18" charset="0"/>
              </a:rPr>
              <a:t>any</a:t>
            </a:r>
            <a:r>
              <a:rPr lang="en-US" sz="2200" dirty="0">
                <a:solidFill>
                  <a:srgbClr val="002060"/>
                </a:solidFill>
                <a:latin typeface="Times New Roman" panose="02020603050405020304" pitchFamily="18" charset="0"/>
                <a:cs typeface="Times New Roman" panose="02020603050405020304" pitchFamily="18" charset="0"/>
              </a:rPr>
              <a:t>(select </a:t>
            </a:r>
            <a:r>
              <a:rPr lang="en-US" sz="2200" dirty="0" err="1">
                <a:solidFill>
                  <a:srgbClr val="FF0000"/>
                </a:solidFill>
                <a:highlight>
                  <a:srgbClr val="00FF00"/>
                </a:highlight>
                <a:latin typeface="Times New Roman" panose="02020603050405020304" pitchFamily="18" charset="0"/>
                <a:cs typeface="Times New Roman" panose="02020603050405020304" pitchFamily="18" charset="0"/>
              </a:rPr>
              <a:t>discnt</a:t>
            </a:r>
            <a:r>
              <a:rPr lang="en-US" sz="2200" dirty="0">
                <a:solidFill>
                  <a:srgbClr val="002060"/>
                </a:solidFill>
                <a:latin typeface="Times New Roman" panose="02020603050405020304" pitchFamily="18" charset="0"/>
                <a:cs typeface="Times New Roman" panose="02020603050405020304" pitchFamily="18" charset="0"/>
              </a:rPr>
              <a:t>  from customers);</a:t>
            </a:r>
            <a:r>
              <a:rPr lang="en-US" sz="2200" dirty="0">
                <a:solidFill>
                  <a:srgbClr val="7030A0"/>
                </a:solidFill>
                <a:latin typeface="Times New Roman" panose="02020603050405020304" pitchFamily="18" charset="0"/>
                <a:cs typeface="Times New Roman" panose="02020603050405020304" pitchFamily="18" charset="0"/>
              </a:rPr>
              <a:t> </a:t>
            </a:r>
          </a:p>
          <a:p>
            <a:pPr marL="648000" lvl="1" indent="-216000">
              <a:spcBef>
                <a:spcPts val="600"/>
              </a:spcBef>
              <a:buFont typeface="Wingdings" panose="05000000000000000000" pitchFamily="2" charset="2"/>
              <a:buChar char="Ø"/>
            </a:pPr>
            <a:r>
              <a:rPr lang="en-US" sz="2000" dirty="0">
                <a:solidFill>
                  <a:srgbClr val="7030A0"/>
                </a:solidFill>
                <a:latin typeface="Times New Roman" panose="02020603050405020304" pitchFamily="18" charset="0"/>
                <a:cs typeface="Times New Roman" panose="02020603050405020304" pitchFamily="18" charset="0"/>
              </a:rPr>
              <a:t>Example: Find orders made by customers whose city come after 'M' in the alphabetic.     </a:t>
            </a:r>
            <a:r>
              <a:rPr lang="en-US" sz="1200" dirty="0">
                <a:solidFill>
                  <a:srgbClr val="7030A0"/>
                </a:solidFill>
                <a:latin typeface="Times New Roman" panose="02020603050405020304" pitchFamily="18" charset="0"/>
                <a:cs typeface="Times New Roman" panose="02020603050405020304" pitchFamily="18" charset="0"/>
              </a:rPr>
              <a:t>( </a:t>
            </a:r>
            <a:r>
              <a:rPr lang="ja-JP" altLang="en-US" sz="1200" dirty="0">
                <a:solidFill>
                  <a:srgbClr val="7030A0"/>
                </a:solidFill>
                <a:latin typeface="Times New Roman" panose="02020603050405020304" pitchFamily="18" charset="0"/>
                <a:cs typeface="Times New Roman" panose="02020603050405020304" pitchFamily="18" charset="0"/>
              </a:rPr>
              <a:t>选 </a:t>
            </a:r>
            <a:r>
              <a:rPr lang="en-US" altLang="ja-JP" sz="1200" dirty="0">
                <a:solidFill>
                  <a:srgbClr val="7030A0"/>
                </a:solidFill>
                <a:latin typeface="Times New Roman" panose="02020603050405020304" pitchFamily="18" charset="0"/>
                <a:cs typeface="Times New Roman" panose="02020603050405020304" pitchFamily="18" charset="0"/>
              </a:rPr>
              <a:t>‘</a:t>
            </a:r>
            <a:r>
              <a:rPr lang="en-US" sz="1200" dirty="0">
                <a:solidFill>
                  <a:srgbClr val="7030A0"/>
                </a:solidFill>
                <a:latin typeface="Times New Roman" panose="02020603050405020304" pitchFamily="18" charset="0"/>
                <a:cs typeface="Times New Roman" panose="02020603050405020304" pitchFamily="18" charset="0"/>
              </a:rPr>
              <a:t>M’ </a:t>
            </a:r>
            <a:r>
              <a:rPr lang="ja-JP" altLang="en-US" sz="1200" dirty="0">
                <a:solidFill>
                  <a:srgbClr val="7030A0"/>
                </a:solidFill>
                <a:latin typeface="Times New Roman" panose="02020603050405020304" pitchFamily="18" charset="0"/>
                <a:cs typeface="Times New Roman" panose="02020603050405020304" pitchFamily="18" charset="0"/>
              </a:rPr>
              <a:t>以后字母开头的</a:t>
            </a:r>
            <a:r>
              <a:rPr lang="en-US" sz="1200" dirty="0">
                <a:solidFill>
                  <a:srgbClr val="7030A0"/>
                </a:solidFill>
                <a:latin typeface="Times New Roman" panose="02020603050405020304" pitchFamily="18" charset="0"/>
                <a:cs typeface="Times New Roman" panose="02020603050405020304" pitchFamily="18" charset="0"/>
              </a:rPr>
              <a:t>city )</a:t>
            </a:r>
          </a:p>
          <a:p>
            <a:pPr marL="432000" lvl="1"/>
            <a:endParaRPr lang="en-US" sz="1200" dirty="0">
              <a:solidFill>
                <a:srgbClr val="7030A0"/>
              </a:solidFill>
              <a:latin typeface="Times New Roman" panose="02020603050405020304" pitchFamily="18" charset="0"/>
              <a:cs typeface="Times New Roman" panose="02020603050405020304" pitchFamily="18" charset="0"/>
            </a:endParaRPr>
          </a:p>
          <a:p>
            <a:pPr marL="432000" lvl="1"/>
            <a:endParaRPr lang="en-US" sz="1200" dirty="0">
              <a:solidFill>
                <a:srgbClr val="7030A0"/>
              </a:solidFill>
              <a:latin typeface="Times New Roman" panose="02020603050405020304" pitchFamily="18" charset="0"/>
              <a:cs typeface="Times New Roman" panose="02020603050405020304" pitchFamily="18" charset="0"/>
            </a:endParaRPr>
          </a:p>
          <a:p>
            <a:pPr marL="432000" lvl="1"/>
            <a:endParaRPr lang="en-US" sz="1200" dirty="0">
              <a:solidFill>
                <a:srgbClr val="7030A0"/>
              </a:solidFill>
              <a:latin typeface="Times New Roman" panose="02020603050405020304" pitchFamily="18" charset="0"/>
              <a:cs typeface="Times New Roman" panose="02020603050405020304" pitchFamily="18" charset="0"/>
            </a:endParaRPr>
          </a:p>
          <a:p>
            <a:pPr>
              <a:spcBef>
                <a:spcPts val="600"/>
              </a:spcBef>
            </a:pPr>
            <a:r>
              <a:rPr lang="en-US" sz="2200" dirty="0">
                <a:solidFill>
                  <a:srgbClr val="002060"/>
                </a:solidFill>
                <a:latin typeface="Times New Roman" panose="02020603050405020304" pitchFamily="18" charset="0"/>
                <a:cs typeface="Times New Roman" panose="02020603050405020304" pitchFamily="18" charset="0"/>
              </a:rPr>
              <a:t>          	  select </a:t>
            </a:r>
            <a:r>
              <a:rPr lang="en-US" sz="2200" dirty="0">
                <a:solidFill>
                  <a:srgbClr val="C00000"/>
                </a:solidFill>
                <a:latin typeface="Times New Roman" panose="02020603050405020304" pitchFamily="18" charset="0"/>
                <a:cs typeface="Times New Roman" panose="02020603050405020304" pitchFamily="18" charset="0"/>
              </a:rPr>
              <a:t>*</a:t>
            </a:r>
            <a:r>
              <a:rPr lang="en-US" sz="2200" dirty="0">
                <a:solidFill>
                  <a:srgbClr val="002060"/>
                </a:solidFill>
                <a:latin typeface="Times New Roman" panose="02020603050405020304" pitchFamily="18" charset="0"/>
                <a:cs typeface="Times New Roman" panose="02020603050405020304" pitchFamily="18" charset="0"/>
              </a:rPr>
              <a:t> from orders o </a:t>
            </a:r>
            <a:r>
              <a:rPr lang="en-US" altLang="zh-CN" sz="2200" dirty="0">
                <a:solidFill>
                  <a:srgbClr val="002060"/>
                </a:solidFill>
                <a:latin typeface="Times New Roman" panose="02020603050405020304" pitchFamily="18" charset="0"/>
                <a:cs typeface="Times New Roman" panose="02020603050405020304" pitchFamily="18" charset="0"/>
              </a:rPr>
              <a:t>where</a:t>
            </a:r>
          </a:p>
          <a:p>
            <a:pPr>
              <a:spcBef>
                <a:spcPts val="600"/>
              </a:spcBef>
            </a:pP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C00000"/>
                </a:solidFill>
                <a:highlight>
                  <a:srgbClr val="00FF00"/>
                </a:highlight>
                <a:latin typeface="Times New Roman" panose="02020603050405020304" pitchFamily="18" charset="0"/>
                <a:cs typeface="Times New Roman" panose="02020603050405020304" pitchFamily="18" charset="0"/>
              </a:rPr>
              <a:t>'M'&lt;</a:t>
            </a:r>
            <a:r>
              <a:rPr lang="en-US" altLang="zh-CN" sz="2200" dirty="0">
                <a:solidFill>
                  <a:srgbClr val="002060"/>
                </a:solidFill>
                <a:latin typeface="Times New Roman" panose="02020603050405020304" pitchFamily="18" charset="0"/>
                <a:cs typeface="Times New Roman" panose="02020603050405020304" pitchFamily="18" charset="0"/>
              </a:rPr>
              <a:t>(select </a:t>
            </a:r>
            <a:r>
              <a:rPr lang="en-US" altLang="zh-CN" sz="2200" dirty="0">
                <a:solidFill>
                  <a:srgbClr val="FF0000"/>
                </a:solidFill>
                <a:highlight>
                  <a:srgbClr val="00FF00"/>
                </a:highlight>
                <a:latin typeface="Times New Roman" panose="02020603050405020304" pitchFamily="18" charset="0"/>
                <a:cs typeface="Times New Roman" panose="02020603050405020304" pitchFamily="18" charset="0"/>
              </a:rPr>
              <a:t>city</a:t>
            </a:r>
            <a:r>
              <a:rPr lang="en-US" altLang="zh-CN" sz="2200" dirty="0">
                <a:solidFill>
                  <a:srgbClr val="002060"/>
                </a:solidFill>
                <a:latin typeface="Times New Roman" panose="02020603050405020304" pitchFamily="18" charset="0"/>
                <a:cs typeface="Times New Roman" panose="02020603050405020304" pitchFamily="18" charset="0"/>
              </a:rPr>
              <a:t> from </a:t>
            </a:r>
            <a:r>
              <a:rPr lang="en-US" sz="2200" dirty="0">
                <a:solidFill>
                  <a:srgbClr val="002060"/>
                </a:solidFill>
                <a:latin typeface="Times New Roman" panose="02020603050405020304" pitchFamily="18" charset="0"/>
                <a:cs typeface="Times New Roman" panose="02020603050405020304" pitchFamily="18" charset="0"/>
              </a:rPr>
              <a:t>customers c where </a:t>
            </a:r>
            <a:r>
              <a:rPr lang="en-US" sz="2200" dirty="0" err="1">
                <a:solidFill>
                  <a:srgbClr val="002060"/>
                </a:solidFill>
                <a:highlight>
                  <a:srgbClr val="FFFF00"/>
                </a:highlight>
                <a:latin typeface="Times New Roman" panose="02020603050405020304" pitchFamily="18" charset="0"/>
                <a:cs typeface="Times New Roman" panose="02020603050405020304" pitchFamily="18" charset="0"/>
              </a:rPr>
              <a:t>c.cid</a:t>
            </a:r>
            <a:r>
              <a:rPr lang="en-US" sz="2200" dirty="0">
                <a:solidFill>
                  <a:srgbClr val="002060"/>
                </a:solidFill>
                <a:highlight>
                  <a:srgbClr val="FFFF00"/>
                </a:highlight>
                <a:latin typeface="Times New Roman" panose="02020603050405020304" pitchFamily="18" charset="0"/>
                <a:cs typeface="Times New Roman" panose="02020603050405020304" pitchFamily="18" charset="0"/>
              </a:rPr>
              <a:t>=</a:t>
            </a:r>
            <a:r>
              <a:rPr lang="en-US" sz="2200" dirty="0" err="1">
                <a:solidFill>
                  <a:srgbClr val="002060"/>
                </a:solidFill>
                <a:highlight>
                  <a:srgbClr val="FFFF00"/>
                </a:highlight>
                <a:latin typeface="Times New Roman" panose="02020603050405020304" pitchFamily="18" charset="0"/>
                <a:cs typeface="Times New Roman" panose="02020603050405020304" pitchFamily="18" charset="0"/>
              </a:rPr>
              <a:t>o.cid</a:t>
            </a:r>
            <a:r>
              <a:rPr lang="en-US" sz="2200" dirty="0">
                <a:solidFill>
                  <a:srgbClr val="002060"/>
                </a:solidFill>
                <a:latin typeface="Times New Roman" panose="02020603050405020304" pitchFamily="18" charset="0"/>
                <a:cs typeface="Times New Roman" panose="02020603050405020304" pitchFamily="18" charset="0"/>
              </a:rPr>
              <a:t>);</a:t>
            </a:r>
          </a:p>
        </p:txBody>
      </p:sp>
      <p:sp>
        <p:nvSpPr>
          <p:cNvPr id="4" name="Rectangle 1"/>
          <p:cNvSpPr/>
          <p:nvPr/>
        </p:nvSpPr>
        <p:spPr>
          <a:xfrm>
            <a:off x="827584" y="116632"/>
            <a:ext cx="8280920"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3.9 A complete description of Select</a:t>
            </a:r>
          </a:p>
        </p:txBody>
      </p:sp>
      <p:sp>
        <p:nvSpPr>
          <p:cNvPr id="6" name="矩形: 圆角 5">
            <a:extLst>
              <a:ext uri="{FF2B5EF4-FFF2-40B4-BE49-F238E27FC236}">
                <a16:creationId xmlns="" xmlns:a16="http://schemas.microsoft.com/office/drawing/2014/main" id="{B019EC3D-6DAC-4963-B188-A0C96852D0E3}"/>
              </a:ext>
            </a:extLst>
          </p:cNvPr>
          <p:cNvSpPr/>
          <p:nvPr/>
        </p:nvSpPr>
        <p:spPr>
          <a:xfrm>
            <a:off x="5292081" y="1916832"/>
            <a:ext cx="3456384"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7" name="矩形: 圆角 6">
            <a:extLst>
              <a:ext uri="{FF2B5EF4-FFF2-40B4-BE49-F238E27FC236}">
                <a16:creationId xmlns="" xmlns:a16="http://schemas.microsoft.com/office/drawing/2014/main" id="{AC23A597-C4F9-45CE-A4CE-1F4693615EFD}"/>
              </a:ext>
            </a:extLst>
          </p:cNvPr>
          <p:cNvSpPr/>
          <p:nvPr/>
        </p:nvSpPr>
        <p:spPr>
          <a:xfrm>
            <a:off x="3202319" y="1916832"/>
            <a:ext cx="433577"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 xmlns:a16="http://schemas.microsoft.com/office/drawing/2014/main" id="{C5A8C2A5-50AC-45C9-B750-B6FA916E0A57}"/>
              </a:ext>
            </a:extLst>
          </p:cNvPr>
          <p:cNvSpPr/>
          <p:nvPr/>
        </p:nvSpPr>
        <p:spPr>
          <a:xfrm>
            <a:off x="6156176" y="4379684"/>
            <a:ext cx="2088232"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 xmlns:a16="http://schemas.microsoft.com/office/drawing/2014/main" id="{B5158DBD-1D46-4D75-B988-C9CBFF9E3631}"/>
              </a:ext>
            </a:extLst>
          </p:cNvPr>
          <p:cNvSpPr/>
          <p:nvPr/>
        </p:nvSpPr>
        <p:spPr>
          <a:xfrm>
            <a:off x="2482238" y="4379684"/>
            <a:ext cx="793618"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750"/>
                                        <p:tgtEl>
                                          <p:spTgt spid="3">
                                            <p:txEl>
                                              <p:pRg st="5" end="5"/>
                                            </p:txEl>
                                          </p:spTgt>
                                        </p:tgtEl>
                                      </p:cBhvr>
                                    </p:animEffect>
                                    <p:anim calcmode="lin" valueType="num">
                                      <p:cBhvr>
                                        <p:cTn id="8" dur="75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9" dur="750" fill="hold"/>
                                        <p:tgtEl>
                                          <p:spTgt spid="3">
                                            <p:txEl>
                                              <p:pRg st="5" end="5"/>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3">
                                            <p:txEl>
                                              <p:pRg st="6" end="6"/>
                                            </p:txEl>
                                          </p:spTgt>
                                        </p:tgtEl>
                                        <p:attrNameLst>
                                          <p:attrName>style.visibility</p:attrName>
                                        </p:attrNameLst>
                                      </p:cBhvr>
                                      <p:to>
                                        <p:strVal val="visible"/>
                                      </p:to>
                                    </p:set>
                                    <p:animEffect transition="in" filter="fade">
                                      <p:cBhvr>
                                        <p:cTn id="12" dur="750"/>
                                        <p:tgtEl>
                                          <p:spTgt spid="3">
                                            <p:txEl>
                                              <p:pRg st="6" end="6"/>
                                            </p:txEl>
                                          </p:spTgt>
                                        </p:tgtEl>
                                      </p:cBhvr>
                                    </p:animEffect>
                                    <p:anim calcmode="lin" valueType="num">
                                      <p:cBhvr>
                                        <p:cTn id="13" dur="75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4" dur="750" fill="hold"/>
                                        <p:tgtEl>
                                          <p:spTgt spid="3">
                                            <p:txEl>
                                              <p:pRg st="6" end="6"/>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3">
                                            <p:txEl>
                                              <p:pRg st="7" end="7"/>
                                            </p:txEl>
                                          </p:spTgt>
                                        </p:tgtEl>
                                        <p:attrNameLst>
                                          <p:attrName>style.visibility</p:attrName>
                                        </p:attrNameLst>
                                      </p:cBhvr>
                                      <p:to>
                                        <p:strVal val="visible"/>
                                      </p:to>
                                    </p:set>
                                    <p:animEffect transition="in" filter="fade">
                                      <p:cBhvr>
                                        <p:cTn id="17" dur="750"/>
                                        <p:tgtEl>
                                          <p:spTgt spid="3">
                                            <p:txEl>
                                              <p:pRg st="7" end="7"/>
                                            </p:txEl>
                                          </p:spTgt>
                                        </p:tgtEl>
                                      </p:cBhvr>
                                    </p:animEffect>
                                    <p:anim calcmode="lin" valueType="num">
                                      <p:cBhvr>
                                        <p:cTn id="18" dur="75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19" dur="750" fill="hold"/>
                                        <p:tgtEl>
                                          <p:spTgt spid="3">
                                            <p:txEl>
                                              <p:pRg st="7" end="7"/>
                                            </p:txEl>
                                          </p:spTgt>
                                        </p:tgtEl>
                                        <p:attrNameLst>
                                          <p:attrName>ppt_y</p:attrName>
                                        </p:attrNameLst>
                                      </p:cBhvr>
                                      <p:tavLst>
                                        <p:tav tm="0">
                                          <p:val>
                                            <p:strVal val="#ppt_y+.1"/>
                                          </p:val>
                                        </p:tav>
                                        <p:tav tm="100000">
                                          <p:val>
                                            <p:strVal val="#ppt_y"/>
                                          </p:val>
                                        </p:tav>
                                      </p:tavLst>
                                    </p:anim>
                                  </p:childTnLst>
                                </p:cTn>
                              </p:par>
                              <p:par>
                                <p:cTn id="20" presetID="42" presetClass="entr" presetSubtype="0" fill="hold" nodeType="withEffect">
                                  <p:stCondLst>
                                    <p:cond delay="0"/>
                                  </p:stCondLst>
                                  <p:childTnLst>
                                    <p:set>
                                      <p:cBhvr>
                                        <p:cTn id="21" dur="1" fill="hold">
                                          <p:stCondLst>
                                            <p:cond delay="0"/>
                                          </p:stCondLst>
                                        </p:cTn>
                                        <p:tgtEl>
                                          <p:spTgt spid="3">
                                            <p:txEl>
                                              <p:pRg st="8" end="8"/>
                                            </p:txEl>
                                          </p:spTgt>
                                        </p:tgtEl>
                                        <p:attrNameLst>
                                          <p:attrName>style.visibility</p:attrName>
                                        </p:attrNameLst>
                                      </p:cBhvr>
                                      <p:to>
                                        <p:strVal val="visible"/>
                                      </p:to>
                                    </p:set>
                                    <p:animEffect transition="in" filter="fade">
                                      <p:cBhvr>
                                        <p:cTn id="22" dur="750"/>
                                        <p:tgtEl>
                                          <p:spTgt spid="3">
                                            <p:txEl>
                                              <p:pRg st="8" end="8"/>
                                            </p:txEl>
                                          </p:spTgt>
                                        </p:tgtEl>
                                      </p:cBhvr>
                                    </p:animEffect>
                                    <p:anim calcmode="lin" valueType="num">
                                      <p:cBhvr>
                                        <p:cTn id="23" dur="75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24" dur="75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2" presetClass="entr" presetSubtype="0" fill="hold" nodeType="clickEffect">
                                  <p:stCondLst>
                                    <p:cond delay="0"/>
                                  </p:stCondLst>
                                  <p:childTnLst>
                                    <p:set>
                                      <p:cBhvr>
                                        <p:cTn id="28" dur="1" fill="hold">
                                          <p:stCondLst>
                                            <p:cond delay="0"/>
                                          </p:stCondLst>
                                        </p:cTn>
                                        <p:tgtEl>
                                          <p:spTgt spid="3">
                                            <p:txEl>
                                              <p:pRg st="9" end="9"/>
                                            </p:txEl>
                                          </p:spTgt>
                                        </p:tgtEl>
                                        <p:attrNameLst>
                                          <p:attrName>style.visibility</p:attrName>
                                        </p:attrNameLst>
                                      </p:cBhvr>
                                      <p:to>
                                        <p:strVal val="visible"/>
                                      </p:to>
                                    </p:set>
                                    <p:animEffect transition="in" filter="fade">
                                      <p:cBhvr>
                                        <p:cTn id="29" dur="750"/>
                                        <p:tgtEl>
                                          <p:spTgt spid="3">
                                            <p:txEl>
                                              <p:pRg st="9" end="9"/>
                                            </p:txEl>
                                          </p:spTgt>
                                        </p:tgtEl>
                                      </p:cBhvr>
                                    </p:animEffect>
                                    <p:anim calcmode="lin" valueType="num">
                                      <p:cBhvr>
                                        <p:cTn id="30" dur="75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31" dur="75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par>
                          <p:cTn id="32" fill="hold">
                            <p:stCondLst>
                              <p:cond delay="750"/>
                            </p:stCondLst>
                            <p:childTnLst>
                              <p:par>
                                <p:cTn id="33" presetID="22" presetClass="entr" presetSubtype="8"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wipe(left)">
                                      <p:cBhvr>
                                        <p:cTn id="35" dur="500"/>
                                        <p:tgtEl>
                                          <p:spTgt spid="9"/>
                                        </p:tgtEl>
                                      </p:cBhvr>
                                    </p:animEffect>
                                  </p:childTnLst>
                                </p:cTn>
                              </p:par>
                            </p:childTnLst>
                          </p:cTn>
                        </p:par>
                        <p:par>
                          <p:cTn id="36" fill="hold">
                            <p:stCondLst>
                              <p:cond delay="1250"/>
                            </p:stCondLst>
                            <p:childTnLst>
                              <p:par>
                                <p:cTn id="37" presetID="22" presetClass="entr" presetSubtype="8" fill="hold" grpId="0" nodeType="afterEffect">
                                  <p:stCondLst>
                                    <p:cond delay="0"/>
                                  </p:stCondLst>
                                  <p:childTnLst>
                                    <p:set>
                                      <p:cBhvr>
                                        <p:cTn id="38" dur="1" fill="hold">
                                          <p:stCondLst>
                                            <p:cond delay="0"/>
                                          </p:stCondLst>
                                        </p:cTn>
                                        <p:tgtEl>
                                          <p:spTgt spid="8"/>
                                        </p:tgtEl>
                                        <p:attrNameLst>
                                          <p:attrName>style.visibility</p:attrName>
                                        </p:attrNameLst>
                                      </p:cBhvr>
                                      <p:to>
                                        <p:strVal val="visible"/>
                                      </p:to>
                                    </p:set>
                                    <p:animEffect transition="in" filter="wipe(left)">
                                      <p:cBhvr>
                                        <p:cTn id="39" dur="500"/>
                                        <p:tgtEl>
                                          <p:spTgt spid="8"/>
                                        </p:tgtEl>
                                      </p:cBhvr>
                                    </p:animEffect>
                                  </p:childTnLst>
                                </p:cTn>
                              </p:par>
                            </p:childTnLst>
                          </p:cTn>
                        </p:par>
                      </p:childTnLst>
                    </p:cTn>
                  </p:par>
                  <p:par>
                    <p:cTn id="40" fill="hold">
                      <p:stCondLst>
                        <p:cond delay="indefinite"/>
                      </p:stCondLst>
                      <p:childTnLst>
                        <p:par>
                          <p:cTn id="41" fill="hold">
                            <p:stCondLst>
                              <p:cond delay="0"/>
                            </p:stCondLst>
                            <p:childTnLst>
                              <p:par>
                                <p:cTn id="42" presetID="22" presetClass="entr" presetSubtype="8" fill="hold" nodeType="clickEffect">
                                  <p:stCondLst>
                                    <p:cond delay="0"/>
                                  </p:stCondLst>
                                  <p:childTnLst>
                                    <p:set>
                                      <p:cBhvr>
                                        <p:cTn id="43" dur="1" fill="hold">
                                          <p:stCondLst>
                                            <p:cond delay="0"/>
                                          </p:stCondLst>
                                        </p:cTn>
                                        <p:tgtEl>
                                          <p:spTgt spid="3">
                                            <p:txEl>
                                              <p:pRg st="13" end="13"/>
                                            </p:txEl>
                                          </p:spTgt>
                                        </p:tgtEl>
                                        <p:attrNameLst>
                                          <p:attrName>style.visibility</p:attrName>
                                        </p:attrNameLst>
                                      </p:cBhvr>
                                      <p:to>
                                        <p:strVal val="visible"/>
                                      </p:to>
                                    </p:set>
                                    <p:animEffect transition="in" filter="wipe(left)">
                                      <p:cBhvr>
                                        <p:cTn id="44" dur="500"/>
                                        <p:tgtEl>
                                          <p:spTgt spid="3">
                                            <p:txEl>
                                              <p:pRg st="13" end="13"/>
                                            </p:txEl>
                                          </p:spTgt>
                                        </p:tgtEl>
                                      </p:cBhvr>
                                    </p:animEffect>
                                  </p:childTnLst>
                                </p:cTn>
                              </p:par>
                              <p:par>
                                <p:cTn id="45" presetID="22" presetClass="entr" presetSubtype="8" fill="hold" nodeType="with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animEffect transition="in" filter="wipe(left)">
                                      <p:cBhvr>
                                        <p:cTn id="47" dur="500"/>
                                        <p:tgtEl>
                                          <p:spTgt spid="3">
                                            <p:txEl>
                                              <p:pRg st="14" end="1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908720"/>
            <a:ext cx="9144000" cy="5401479"/>
          </a:xfrm>
          <a:prstGeom prst="rect">
            <a:avLst/>
          </a:prstGeom>
        </p:spPr>
        <p:txBody>
          <a:bodyPr wrap="square">
            <a:spAutoFit/>
          </a:bodyPr>
          <a:lstStyle/>
          <a:p>
            <a:r>
              <a:rPr lang="en-US" sz="2400" dirty="0">
                <a:solidFill>
                  <a:srgbClr val="7030A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[2] Between predicate:       </a:t>
            </a:r>
            <a:r>
              <a:rPr lang="en-US" sz="2000" dirty="0">
                <a:solidFill>
                  <a:srgbClr val="002060"/>
                </a:solidFill>
                <a:latin typeface="Times New Roman" panose="02020603050405020304" pitchFamily="18" charset="0"/>
                <a:cs typeface="Times New Roman" panose="02020603050405020304" pitchFamily="18" charset="0"/>
              </a:rPr>
              <a:t>expr [NOT] </a:t>
            </a:r>
            <a:r>
              <a:rPr lang="en-US" sz="2000" dirty="0">
                <a:solidFill>
                  <a:srgbClr val="C00000"/>
                </a:solidFill>
                <a:latin typeface="Times New Roman" panose="02020603050405020304" pitchFamily="18" charset="0"/>
                <a:cs typeface="Times New Roman" panose="02020603050405020304" pitchFamily="18" charset="0"/>
              </a:rPr>
              <a:t>BETWEEN</a:t>
            </a:r>
            <a:r>
              <a:rPr lang="en-US" sz="2000" dirty="0">
                <a:solidFill>
                  <a:srgbClr val="002060"/>
                </a:solidFill>
                <a:latin typeface="Times New Roman" panose="02020603050405020304" pitchFamily="18" charset="0"/>
                <a:cs typeface="Times New Roman" panose="02020603050405020304" pitchFamily="18" charset="0"/>
              </a:rPr>
              <a:t> expr2 </a:t>
            </a:r>
            <a:r>
              <a:rPr lang="en-US" sz="2000" dirty="0">
                <a:solidFill>
                  <a:srgbClr val="C00000"/>
                </a:solidFill>
                <a:latin typeface="Times New Roman" panose="02020603050405020304" pitchFamily="18" charset="0"/>
                <a:cs typeface="Times New Roman" panose="02020603050405020304" pitchFamily="18" charset="0"/>
              </a:rPr>
              <a:t>and</a:t>
            </a:r>
            <a:r>
              <a:rPr lang="en-US" sz="2000" dirty="0">
                <a:solidFill>
                  <a:srgbClr val="002060"/>
                </a:solidFill>
                <a:latin typeface="Times New Roman" panose="02020603050405020304" pitchFamily="18" charset="0"/>
                <a:cs typeface="Times New Roman" panose="02020603050405020304" pitchFamily="18" charset="0"/>
              </a:rPr>
              <a:t> expr3</a:t>
            </a:r>
          </a:p>
          <a:p>
            <a:pPr>
              <a:lnSpc>
                <a:spcPct val="150000"/>
              </a:lnSpc>
              <a:spcAft>
                <a:spcPts val="600"/>
              </a:spcAft>
            </a:pPr>
            <a:r>
              <a:rPr lang="en-US"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002060"/>
                </a:solidFill>
                <a:latin typeface="Times New Roman" panose="02020603050405020304" pitchFamily="18" charset="0"/>
                <a:cs typeface="Times New Roman" panose="02020603050405020304" pitchFamily="18" charset="0"/>
              </a:rPr>
              <a:t> select * from products where </a:t>
            </a:r>
            <a:r>
              <a:rPr lang="en-US" altLang="zh-CN" sz="2000" dirty="0">
                <a:solidFill>
                  <a:srgbClr val="C00000"/>
                </a:solidFill>
                <a:highlight>
                  <a:srgbClr val="FFFF00"/>
                </a:highlight>
                <a:latin typeface="Times New Roman" panose="02020603050405020304" pitchFamily="18" charset="0"/>
                <a:cs typeface="Times New Roman" panose="02020603050405020304" pitchFamily="18" charset="0"/>
              </a:rPr>
              <a:t>price</a:t>
            </a:r>
            <a:r>
              <a:rPr lang="en-US" altLang="zh-CN" sz="2000" dirty="0">
                <a:solidFill>
                  <a:srgbClr val="7030A0"/>
                </a:solidFill>
                <a:highlight>
                  <a:srgbClr val="FFFF00"/>
                </a:highlight>
                <a:latin typeface="Times New Roman" panose="02020603050405020304" pitchFamily="18" charset="0"/>
                <a:cs typeface="Times New Roman" panose="02020603050405020304" pitchFamily="18" charset="0"/>
              </a:rPr>
              <a:t> </a:t>
            </a:r>
            <a:r>
              <a:rPr lang="en-US" altLang="zh-CN" sz="2000" dirty="0">
                <a:solidFill>
                  <a:srgbClr val="002060"/>
                </a:solidFill>
                <a:highlight>
                  <a:srgbClr val="FFFF00"/>
                </a:highlight>
                <a:latin typeface="Times New Roman" panose="02020603050405020304" pitchFamily="18" charset="0"/>
                <a:cs typeface="Times New Roman" panose="02020603050405020304" pitchFamily="18" charset="0"/>
              </a:rPr>
              <a:t>between 1</a:t>
            </a:r>
            <a:r>
              <a:rPr lang="en-US" altLang="zh-CN" sz="2000" dirty="0">
                <a:solidFill>
                  <a:srgbClr val="7030A0"/>
                </a:solidFill>
                <a:highlight>
                  <a:srgbClr val="FFFF00"/>
                </a:highlight>
                <a:latin typeface="Times New Roman" panose="02020603050405020304" pitchFamily="18" charset="0"/>
                <a:cs typeface="Times New Roman" panose="02020603050405020304" pitchFamily="18" charset="0"/>
              </a:rPr>
              <a:t> </a:t>
            </a:r>
            <a:r>
              <a:rPr lang="en-US" altLang="zh-CN" sz="2000" dirty="0">
                <a:solidFill>
                  <a:srgbClr val="C00000"/>
                </a:solidFill>
                <a:highlight>
                  <a:srgbClr val="FFFF00"/>
                </a:highlight>
                <a:latin typeface="Times New Roman" panose="02020603050405020304" pitchFamily="18" charset="0"/>
                <a:cs typeface="Times New Roman" panose="02020603050405020304" pitchFamily="18" charset="0"/>
              </a:rPr>
              <a:t>and </a:t>
            </a:r>
            <a:r>
              <a:rPr lang="en-US" altLang="zh-CN" sz="2000" dirty="0">
                <a:solidFill>
                  <a:srgbClr val="000000"/>
                </a:solidFill>
                <a:highlight>
                  <a:srgbClr val="FFFF00"/>
                </a:highlight>
                <a:latin typeface="Times New Roman" panose="02020603050405020304" pitchFamily="18" charset="0"/>
                <a:cs typeface="Times New Roman" panose="02020603050405020304" pitchFamily="18" charset="0"/>
              </a:rPr>
              <a:t>10</a:t>
            </a:r>
            <a:endParaRPr lang="en-US" sz="2000" dirty="0">
              <a:solidFill>
                <a:srgbClr val="000000"/>
              </a:solidFill>
              <a:latin typeface="Times New Roman" panose="02020603050405020304" pitchFamily="18" charset="0"/>
              <a:cs typeface="Times New Roman" panose="02020603050405020304" pitchFamily="18" charset="0"/>
            </a:endParaRPr>
          </a:p>
          <a:p>
            <a:pPr>
              <a:lnSpc>
                <a:spcPct val="150000"/>
              </a:lnSpc>
            </a:pPr>
            <a:r>
              <a:rPr lang="en-US" sz="2400" dirty="0">
                <a:solidFill>
                  <a:srgbClr val="00206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[3] Quantified predicate:     </a:t>
            </a:r>
            <a:r>
              <a:rPr lang="en-US" sz="2000" dirty="0">
                <a:solidFill>
                  <a:srgbClr val="002060"/>
                </a:solidFill>
                <a:latin typeface="Times New Roman" panose="02020603050405020304" pitchFamily="18" charset="0"/>
                <a:cs typeface="Times New Roman" panose="02020603050405020304" pitchFamily="18" charset="0"/>
              </a:rPr>
              <a:t>expr  [ </a:t>
            </a:r>
            <a:r>
              <a:rPr lang="en-US" sz="1800" dirty="0">
                <a:solidFill>
                  <a:srgbClr val="C00000"/>
                </a:solidFill>
                <a:latin typeface="Times New Roman" panose="02020603050405020304" pitchFamily="18" charset="0"/>
                <a:cs typeface="Times New Roman" panose="02020603050405020304" pitchFamily="18" charset="0"/>
              </a:rPr>
              <a:t>ALL</a:t>
            </a:r>
            <a:r>
              <a:rPr lang="en-US" sz="2000" dirty="0">
                <a:solidFill>
                  <a:srgbClr val="C00000"/>
                </a:solidFill>
                <a:latin typeface="Times New Roman" panose="02020603050405020304" pitchFamily="18" charset="0"/>
                <a:cs typeface="Times New Roman" panose="02020603050405020304" pitchFamily="18" charset="0"/>
              </a:rPr>
              <a:t> </a:t>
            </a:r>
            <a:r>
              <a:rPr lang="en-US" sz="1800" dirty="0">
                <a:solidFill>
                  <a:srgbClr val="002060"/>
                </a:solidFill>
                <a:latin typeface="Times New Roman" panose="02020603050405020304" pitchFamily="18" charset="0"/>
                <a:cs typeface="Times New Roman" panose="02020603050405020304" pitchFamily="18" charset="0"/>
              </a:rPr>
              <a:t>| </a:t>
            </a:r>
            <a:r>
              <a:rPr lang="en-US" sz="1800" dirty="0">
                <a:solidFill>
                  <a:srgbClr val="C00000"/>
                </a:solidFill>
                <a:latin typeface="Times New Roman" panose="02020603050405020304" pitchFamily="18" charset="0"/>
                <a:cs typeface="Times New Roman" panose="02020603050405020304" pitchFamily="18" charset="0"/>
              </a:rPr>
              <a:t>ANY</a:t>
            </a:r>
            <a:r>
              <a:rPr lang="en-US" sz="1800" dirty="0">
                <a:solidFill>
                  <a:srgbClr val="002060"/>
                </a:solidFill>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rPr>
              <a:t>|</a:t>
            </a:r>
            <a:r>
              <a:rPr lang="en-US" sz="1800" dirty="0">
                <a:solidFill>
                  <a:srgbClr val="002060"/>
                </a:solidFill>
                <a:latin typeface="Times New Roman" panose="02020603050405020304" pitchFamily="18" charset="0"/>
                <a:cs typeface="Times New Roman" panose="02020603050405020304" pitchFamily="18" charset="0"/>
              </a:rPr>
              <a:t> </a:t>
            </a:r>
            <a:r>
              <a:rPr lang="en-US" sz="1800" dirty="0">
                <a:solidFill>
                  <a:srgbClr val="C00000"/>
                </a:solidFill>
                <a:latin typeface="Times New Roman" panose="02020603050405020304" pitchFamily="18" charset="0"/>
                <a:cs typeface="Times New Roman" panose="02020603050405020304" pitchFamily="18" charset="0"/>
              </a:rPr>
              <a:t>SOME</a:t>
            </a:r>
            <a:r>
              <a:rPr lang="en-US" sz="2000" dirty="0">
                <a:solidFill>
                  <a:srgbClr val="002060"/>
                </a:solidFill>
                <a:latin typeface="Times New Roman" panose="02020603050405020304" pitchFamily="18" charset="0"/>
                <a:cs typeface="Times New Roman" panose="02020603050405020304" pitchFamily="18" charset="0"/>
              </a:rPr>
              <a:t>] (subquery)</a:t>
            </a:r>
          </a:p>
          <a:p>
            <a:pPr marL="800100" lvl="1" indent="-342900">
              <a:spcBef>
                <a:spcPts val="600"/>
              </a:spcBef>
              <a:buFont typeface="Wingdings" panose="05000000000000000000" pitchFamily="2" charset="2"/>
              <a:buChar char="Ø"/>
            </a:pPr>
            <a:r>
              <a:rPr lang="en-US" sz="2200" dirty="0">
                <a:solidFill>
                  <a:srgbClr val="7030A0"/>
                </a:solidFill>
                <a:latin typeface="Times New Roman" panose="02020603050405020304" pitchFamily="18" charset="0"/>
                <a:cs typeface="Times New Roman" panose="02020603050405020304" pitchFamily="18" charset="0"/>
              </a:rPr>
              <a:t>Example 3.9.3 </a:t>
            </a:r>
            <a:r>
              <a:rPr lang="en-US" sz="2200" dirty="0">
                <a:solidFill>
                  <a:srgbClr val="7030A0"/>
                </a:solidFill>
                <a:latin typeface="Arial Narrow" panose="020B0606020202030204" pitchFamily="34" charset="0"/>
                <a:cs typeface="Times New Roman" panose="02020603050405020304" pitchFamily="18" charset="0"/>
              </a:rPr>
              <a:t> </a:t>
            </a:r>
            <a:r>
              <a:rPr lang="en-US" sz="2200" dirty="0">
                <a:solidFill>
                  <a:srgbClr val="7030A0"/>
                </a:solidFill>
                <a:latin typeface="+mn-lt"/>
                <a:cs typeface="Times New Roman" panose="02020603050405020304" pitchFamily="18" charset="0"/>
              </a:rPr>
              <a:t>Get maximum discount of all customer.</a:t>
            </a:r>
          </a:p>
          <a:p>
            <a:pPr lvl="1">
              <a:spcBef>
                <a:spcPts val="0"/>
              </a:spcBef>
            </a:pPr>
            <a:endParaRPr lang="en-US" sz="1200" dirty="0">
              <a:solidFill>
                <a:srgbClr val="7030A0"/>
              </a:solidFill>
              <a:latin typeface="+mn-lt"/>
              <a:cs typeface="Times New Roman" panose="02020603050405020304" pitchFamily="18" charset="0"/>
            </a:endParaRPr>
          </a:p>
          <a:p>
            <a:pPr lvl="1">
              <a:spcBef>
                <a:spcPts val="0"/>
              </a:spcBef>
            </a:pPr>
            <a:endParaRPr lang="en-US" sz="1200" dirty="0">
              <a:solidFill>
                <a:srgbClr val="7030A0"/>
              </a:solidFill>
              <a:latin typeface="+mn-lt"/>
              <a:cs typeface="Times New Roman" panose="02020603050405020304" pitchFamily="18" charset="0"/>
            </a:endParaRPr>
          </a:p>
          <a:p>
            <a:pPr lvl="1">
              <a:spcBef>
                <a:spcPts val="0"/>
              </a:spcBef>
            </a:pPr>
            <a:endParaRPr lang="en-US" sz="1200" dirty="0">
              <a:solidFill>
                <a:srgbClr val="7030A0"/>
              </a:solidFill>
              <a:latin typeface="+mn-lt"/>
              <a:cs typeface="Times New Roman" panose="02020603050405020304" pitchFamily="18" charset="0"/>
            </a:endParaRPr>
          </a:p>
          <a:p>
            <a:pPr lvl="1">
              <a:spcBef>
                <a:spcPts val="0"/>
              </a:spcBef>
            </a:pPr>
            <a:endParaRPr lang="en-US" sz="1200" dirty="0">
              <a:solidFill>
                <a:srgbClr val="7030A0"/>
              </a:solidFill>
              <a:latin typeface="+mn-lt"/>
              <a:cs typeface="Times New Roman" panose="02020603050405020304" pitchFamily="18" charset="0"/>
            </a:endParaRPr>
          </a:p>
          <a:p>
            <a:pPr>
              <a:spcBef>
                <a:spcPts val="0"/>
              </a:spcBef>
              <a:spcAft>
                <a:spcPts val="600"/>
              </a:spcAft>
            </a:pPr>
            <a:r>
              <a:rPr lang="en-US" sz="2400" dirty="0">
                <a:solidFill>
                  <a:srgbClr val="002060"/>
                </a:solidFill>
                <a:latin typeface="Times New Roman" panose="02020603050405020304" pitchFamily="18" charset="0"/>
                <a:cs typeface="Times New Roman" panose="02020603050405020304" pitchFamily="18" charset="0"/>
              </a:rPr>
              <a:t>      </a:t>
            </a:r>
            <a:r>
              <a:rPr lang="en-US" sz="2400" dirty="0">
                <a:solidFill>
                  <a:srgbClr val="C00000"/>
                </a:solidFill>
                <a:latin typeface="Times New Roman" panose="02020603050405020304" pitchFamily="18" charset="0"/>
                <a:cs typeface="Times New Roman" panose="02020603050405020304" pitchFamily="18" charset="0"/>
              </a:rPr>
              <a:t>S1</a:t>
            </a:r>
            <a:r>
              <a:rPr lang="en-US" sz="24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002060"/>
                </a:solidFill>
                <a:latin typeface="Times New Roman" panose="02020603050405020304" pitchFamily="18" charset="0"/>
                <a:cs typeface="Times New Roman" panose="02020603050405020304" pitchFamily="18" charset="0"/>
              </a:rPr>
              <a:t>select </a:t>
            </a:r>
            <a:r>
              <a:rPr lang="en-US" altLang="zh-CN" sz="2000" dirty="0">
                <a:solidFill>
                  <a:srgbClr val="7030A0"/>
                </a:solidFill>
                <a:latin typeface="Times New Roman" panose="02020603050405020304" pitchFamily="18" charset="0"/>
                <a:cs typeface="Times New Roman" panose="02020603050405020304" pitchFamily="18" charset="0"/>
              </a:rPr>
              <a:t>max(</a:t>
            </a:r>
            <a:r>
              <a:rPr lang="en-US" altLang="zh-CN" sz="2000" dirty="0" err="1">
                <a:solidFill>
                  <a:srgbClr val="7030A0"/>
                </a:solidFill>
                <a:latin typeface="Times New Roman" panose="02020603050405020304" pitchFamily="18" charset="0"/>
                <a:cs typeface="Times New Roman" panose="02020603050405020304" pitchFamily="18" charset="0"/>
              </a:rPr>
              <a:t>discnt</a:t>
            </a:r>
            <a:r>
              <a:rPr lang="en-US" altLang="zh-CN" sz="2000" dirty="0">
                <a:solidFill>
                  <a:srgbClr val="7030A0"/>
                </a:solidFill>
                <a:latin typeface="Times New Roman" panose="02020603050405020304" pitchFamily="18" charset="0"/>
                <a:cs typeface="Times New Roman" panose="02020603050405020304" pitchFamily="18" charset="0"/>
              </a:rPr>
              <a:t>) </a:t>
            </a:r>
            <a:r>
              <a:rPr lang="en-US" altLang="zh-CN" sz="2000" dirty="0">
                <a:solidFill>
                  <a:srgbClr val="002060"/>
                </a:solidFill>
                <a:latin typeface="Times New Roman" panose="02020603050405020304" pitchFamily="18" charset="0"/>
                <a:cs typeface="Times New Roman" panose="02020603050405020304" pitchFamily="18" charset="0"/>
              </a:rPr>
              <a:t>as </a:t>
            </a:r>
            <a:r>
              <a:rPr lang="en-US" altLang="zh-CN" sz="2000" dirty="0" err="1">
                <a:solidFill>
                  <a:srgbClr val="7030A0"/>
                </a:solidFill>
                <a:latin typeface="Times New Roman" panose="02020603050405020304" pitchFamily="18" charset="0"/>
                <a:cs typeface="Times New Roman" panose="02020603050405020304" pitchFamily="18" charset="0"/>
              </a:rPr>
              <a:t>maxdis</a:t>
            </a:r>
            <a:r>
              <a:rPr lang="en-US" altLang="zh-CN" sz="2000" dirty="0">
                <a:solidFill>
                  <a:srgbClr val="002060"/>
                </a:solidFill>
                <a:latin typeface="Times New Roman" panose="02020603050405020304" pitchFamily="18" charset="0"/>
                <a:cs typeface="Times New Roman" panose="02020603050405020304" pitchFamily="18" charset="0"/>
              </a:rPr>
              <a:t> from customers; </a:t>
            </a:r>
            <a:endParaRPr lang="en-US" altLang="zh-CN" sz="2400" dirty="0">
              <a:solidFill>
                <a:srgbClr val="002060"/>
              </a:solidFill>
              <a:latin typeface="Times New Roman" panose="02020603050405020304" pitchFamily="18" charset="0"/>
              <a:cs typeface="Times New Roman" panose="02020603050405020304" pitchFamily="18" charset="0"/>
            </a:endParaRPr>
          </a:p>
          <a:p>
            <a:pPr>
              <a:spcBef>
                <a:spcPts val="0"/>
              </a:spcBef>
            </a:pPr>
            <a:r>
              <a:rPr lang="en-US" sz="2400" dirty="0">
                <a:solidFill>
                  <a:srgbClr val="002060"/>
                </a:solidFill>
                <a:latin typeface="Times New Roman" panose="02020603050405020304" pitchFamily="18" charset="0"/>
                <a:cs typeface="Times New Roman" panose="02020603050405020304" pitchFamily="18" charset="0"/>
              </a:rPr>
              <a:t>      </a:t>
            </a:r>
            <a:r>
              <a:rPr lang="en-US" altLang="zh-CN" sz="2400" dirty="0">
                <a:solidFill>
                  <a:srgbClr val="C00000"/>
                </a:solidFill>
                <a:latin typeface="Times New Roman" panose="02020603050405020304" pitchFamily="18" charset="0"/>
                <a:cs typeface="Times New Roman" panose="02020603050405020304" pitchFamily="18" charset="0"/>
              </a:rPr>
              <a:t>S2 </a:t>
            </a:r>
            <a:r>
              <a:rPr lang="en-US" sz="2400" dirty="0">
                <a:solidFill>
                  <a:srgbClr val="002060"/>
                </a:solidFill>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rPr>
              <a:t>select distinct </a:t>
            </a:r>
            <a:r>
              <a:rPr lang="en-US" sz="2000" dirty="0" err="1">
                <a:solidFill>
                  <a:srgbClr val="7030A0"/>
                </a:solidFill>
                <a:latin typeface="Times New Roman" panose="02020603050405020304" pitchFamily="18" charset="0"/>
                <a:cs typeface="Times New Roman" panose="02020603050405020304" pitchFamily="18" charset="0"/>
              </a:rPr>
              <a:t>discnt</a:t>
            </a:r>
            <a:r>
              <a:rPr lang="en-US" sz="2000" dirty="0">
                <a:solidFill>
                  <a:srgbClr val="002060"/>
                </a:solidFill>
                <a:latin typeface="Times New Roman" panose="02020603050405020304" pitchFamily="18" charset="0"/>
                <a:cs typeface="Times New Roman" panose="02020603050405020304" pitchFamily="18" charset="0"/>
              </a:rPr>
              <a:t> from customers c where </a:t>
            </a:r>
            <a:r>
              <a:rPr lang="en-US" sz="2000" dirty="0" err="1">
                <a:solidFill>
                  <a:srgbClr val="7030A0"/>
                </a:solidFill>
                <a:latin typeface="Times New Roman" panose="02020603050405020304" pitchFamily="18" charset="0"/>
                <a:cs typeface="Times New Roman" panose="02020603050405020304" pitchFamily="18" charset="0"/>
              </a:rPr>
              <a:t>discnt</a:t>
            </a:r>
            <a:endParaRPr lang="en-US" sz="2000" dirty="0">
              <a:solidFill>
                <a:srgbClr val="7030A0"/>
              </a:solidFill>
              <a:latin typeface="Times New Roman" panose="02020603050405020304" pitchFamily="18" charset="0"/>
              <a:cs typeface="Times New Roman" panose="02020603050405020304" pitchFamily="18" charset="0"/>
            </a:endParaRPr>
          </a:p>
          <a:p>
            <a:pPr>
              <a:spcBef>
                <a:spcPts val="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&gt;=all</a:t>
            </a:r>
            <a:r>
              <a:rPr lang="en-US" sz="2000" dirty="0">
                <a:solidFill>
                  <a:srgbClr val="002060"/>
                </a:solidFill>
                <a:latin typeface="Times New Roman" panose="02020603050405020304" pitchFamily="18" charset="0"/>
                <a:cs typeface="Times New Roman" panose="02020603050405020304" pitchFamily="18" charset="0"/>
              </a:rPr>
              <a:t> (select </a:t>
            </a:r>
            <a:r>
              <a:rPr lang="en-US" sz="2000" dirty="0" err="1">
                <a:solidFill>
                  <a:srgbClr val="7030A0"/>
                </a:solidFill>
                <a:latin typeface="Times New Roman" panose="02020603050405020304" pitchFamily="18" charset="0"/>
                <a:cs typeface="Times New Roman" panose="02020603050405020304" pitchFamily="18" charset="0"/>
              </a:rPr>
              <a:t>discnt</a:t>
            </a:r>
            <a:r>
              <a:rPr lang="en-US" sz="2000" dirty="0">
                <a:solidFill>
                  <a:srgbClr val="002060"/>
                </a:solidFill>
                <a:latin typeface="Times New Roman" panose="02020603050405020304" pitchFamily="18" charset="0"/>
                <a:cs typeface="Times New Roman" panose="02020603050405020304" pitchFamily="18" charset="0"/>
              </a:rPr>
              <a:t> from customers d where </a:t>
            </a:r>
            <a:r>
              <a:rPr lang="en-US" sz="2000" dirty="0" err="1">
                <a:solidFill>
                  <a:srgbClr val="002060"/>
                </a:solidFill>
                <a:latin typeface="Times New Roman" panose="02020603050405020304" pitchFamily="18" charset="0"/>
                <a:cs typeface="Times New Roman" panose="02020603050405020304" pitchFamily="18" charset="0"/>
              </a:rPr>
              <a:t>d.cid</a:t>
            </a:r>
            <a:r>
              <a:rPr lang="en-US" sz="2000" dirty="0">
                <a:solidFill>
                  <a:srgbClr val="002060"/>
                </a:solidFill>
                <a:latin typeface="Times New Roman" panose="02020603050405020304" pitchFamily="18" charset="0"/>
                <a:cs typeface="Times New Roman" panose="02020603050405020304" pitchFamily="18" charset="0"/>
              </a:rPr>
              <a:t>&lt;&gt;</a:t>
            </a:r>
            <a:r>
              <a:rPr lang="en-US" sz="2000" dirty="0" err="1">
                <a:solidFill>
                  <a:srgbClr val="002060"/>
                </a:solidFill>
                <a:latin typeface="Times New Roman" panose="02020603050405020304" pitchFamily="18" charset="0"/>
                <a:cs typeface="Times New Roman" panose="02020603050405020304" pitchFamily="18" charset="0"/>
              </a:rPr>
              <a:t>c.cid</a:t>
            </a:r>
            <a:r>
              <a:rPr lang="en-US" sz="2000" dirty="0">
                <a:solidFill>
                  <a:srgbClr val="002060"/>
                </a:solidFill>
                <a:latin typeface="Times New Roman" panose="02020603050405020304" pitchFamily="18" charset="0"/>
                <a:cs typeface="Times New Roman" panose="02020603050405020304" pitchFamily="18" charset="0"/>
              </a:rPr>
              <a:t>);</a:t>
            </a:r>
          </a:p>
          <a:p>
            <a:pPr>
              <a:spcBef>
                <a:spcPts val="1200"/>
              </a:spcBef>
            </a:pPr>
            <a:r>
              <a:rPr lang="en-US" sz="2400" dirty="0">
                <a:solidFill>
                  <a:srgbClr val="7030A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[4] Exists predicate</a:t>
            </a:r>
            <a:r>
              <a:rPr lang="en-US" sz="2400" dirty="0">
                <a:solidFill>
                  <a:srgbClr val="002060"/>
                </a:solidFill>
                <a:latin typeface="Times New Roman" panose="02020603050405020304" pitchFamily="18" charset="0"/>
                <a:cs typeface="Times New Roman" panose="02020603050405020304" pitchFamily="18" charset="0"/>
              </a:rPr>
              <a:t>	</a:t>
            </a:r>
            <a:r>
              <a:rPr lang="en-US" sz="2200" dirty="0">
                <a:solidFill>
                  <a:srgbClr val="002060"/>
                </a:solidFill>
                <a:latin typeface="Times New Roman" panose="02020603050405020304" pitchFamily="18" charset="0"/>
                <a:cs typeface="Times New Roman" panose="02020603050405020304" pitchFamily="18" charset="0"/>
              </a:rPr>
              <a:t>	[NOT] </a:t>
            </a:r>
            <a:r>
              <a:rPr lang="en-US" sz="2200" dirty="0">
                <a:solidFill>
                  <a:srgbClr val="C00000"/>
                </a:solidFill>
                <a:latin typeface="Times New Roman" panose="02020603050405020304" pitchFamily="18" charset="0"/>
                <a:cs typeface="Times New Roman" panose="02020603050405020304" pitchFamily="18" charset="0"/>
              </a:rPr>
              <a:t>EXIST</a:t>
            </a:r>
            <a:r>
              <a:rPr lang="en-US" sz="2200" dirty="0">
                <a:solidFill>
                  <a:srgbClr val="002060"/>
                </a:solidFill>
                <a:latin typeface="Times New Roman" panose="02020603050405020304" pitchFamily="18" charset="0"/>
                <a:cs typeface="Times New Roman" panose="02020603050405020304" pitchFamily="18" charset="0"/>
              </a:rPr>
              <a:t> (subquery)</a:t>
            </a:r>
          </a:p>
          <a:p>
            <a:pPr>
              <a:spcBef>
                <a:spcPts val="1200"/>
              </a:spcBef>
            </a:pPr>
            <a:r>
              <a:rPr lang="en-US" sz="2400" dirty="0">
                <a:solidFill>
                  <a:srgbClr val="00206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[5] In predica</a:t>
            </a:r>
            <a:r>
              <a:rPr lang="en-US" sz="2400" dirty="0">
                <a:solidFill>
                  <a:srgbClr val="7030A0"/>
                </a:solidFill>
                <a:latin typeface="Times New Roman" panose="02020603050405020304" pitchFamily="18" charset="0"/>
                <a:cs typeface="Times New Roman" panose="02020603050405020304" pitchFamily="18" charset="0"/>
              </a:rPr>
              <a:t>te</a:t>
            </a:r>
            <a:r>
              <a:rPr lang="en-US" sz="2400" dirty="0">
                <a:solidFill>
                  <a:srgbClr val="002060"/>
                </a:solidFill>
                <a:latin typeface="Times New Roman" panose="02020603050405020304" pitchFamily="18" charset="0"/>
                <a:cs typeface="Times New Roman" panose="02020603050405020304" pitchFamily="18" charset="0"/>
              </a:rPr>
              <a:t>	</a:t>
            </a:r>
            <a:r>
              <a:rPr lang="en-US" sz="2200" dirty="0">
                <a:solidFill>
                  <a:srgbClr val="002060"/>
                </a:solidFill>
                <a:latin typeface="Times New Roman" panose="02020603050405020304" pitchFamily="18" charset="0"/>
                <a:cs typeface="Times New Roman" panose="02020603050405020304" pitchFamily="18" charset="0"/>
              </a:rPr>
              <a:t>	expr [NOT] </a:t>
            </a:r>
            <a:r>
              <a:rPr lang="en-US" sz="2200" dirty="0">
                <a:solidFill>
                  <a:srgbClr val="C00000"/>
                </a:solidFill>
                <a:latin typeface="Times New Roman" panose="02020603050405020304" pitchFamily="18" charset="0"/>
                <a:cs typeface="Times New Roman" panose="02020603050405020304" pitchFamily="18" charset="0"/>
              </a:rPr>
              <a:t>IN</a:t>
            </a:r>
            <a:r>
              <a:rPr lang="en-US" sz="2200" dirty="0">
                <a:solidFill>
                  <a:srgbClr val="002060"/>
                </a:solidFill>
                <a:latin typeface="Times New Roman" panose="02020603050405020304" pitchFamily="18" charset="0"/>
                <a:cs typeface="Times New Roman" panose="02020603050405020304" pitchFamily="18" charset="0"/>
              </a:rPr>
              <a:t> (subquery)</a:t>
            </a:r>
          </a:p>
          <a:p>
            <a:pPr>
              <a:spcBef>
                <a:spcPts val="1200"/>
              </a:spcBef>
            </a:pPr>
            <a:r>
              <a:rPr lang="en-US" sz="2400" dirty="0">
                <a:solidFill>
                  <a:srgbClr val="7030A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[6] Is null			</a:t>
            </a:r>
            <a:r>
              <a:rPr lang="en-US" sz="2200" dirty="0">
                <a:solidFill>
                  <a:srgbClr val="C00000"/>
                </a:solidFill>
                <a:latin typeface="Times New Roman" panose="02020603050405020304" pitchFamily="18" charset="0"/>
                <a:cs typeface="Times New Roman" panose="02020603050405020304" pitchFamily="18" charset="0"/>
              </a:rPr>
              <a:t>is</a:t>
            </a:r>
            <a:r>
              <a:rPr lang="en-US" sz="2200" dirty="0">
                <a:solidFill>
                  <a:srgbClr val="002060"/>
                </a:solidFill>
                <a:latin typeface="Times New Roman" panose="02020603050405020304" pitchFamily="18" charset="0"/>
                <a:cs typeface="Times New Roman" panose="02020603050405020304" pitchFamily="18" charset="0"/>
              </a:rPr>
              <a:t> [NOT] </a:t>
            </a:r>
            <a:r>
              <a:rPr lang="en-US" sz="2200" dirty="0">
                <a:solidFill>
                  <a:srgbClr val="C00000"/>
                </a:solidFill>
                <a:latin typeface="Times New Roman" panose="02020603050405020304" pitchFamily="18" charset="0"/>
                <a:cs typeface="Times New Roman" panose="02020603050405020304" pitchFamily="18" charset="0"/>
              </a:rPr>
              <a:t>NULL</a:t>
            </a:r>
          </a:p>
        </p:txBody>
      </p:sp>
      <p:sp>
        <p:nvSpPr>
          <p:cNvPr id="4" name="Rectangle 1"/>
          <p:cNvSpPr/>
          <p:nvPr/>
        </p:nvSpPr>
        <p:spPr>
          <a:xfrm>
            <a:off x="827584" y="116632"/>
            <a:ext cx="8280920"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3.9 A complete description of Select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fade">
                                      <p:cBhvr>
                                        <p:cTn id="7" dur="1000"/>
                                        <p:tgtEl>
                                          <p:spTgt spid="3">
                                            <p:txEl>
                                              <p:pRg st="8" end="8"/>
                                            </p:txEl>
                                          </p:spTgt>
                                        </p:tgtEl>
                                      </p:cBhvr>
                                    </p:animEffect>
                                    <p:anim calcmode="lin" valueType="num">
                                      <p:cBhvr>
                                        <p:cTn id="8"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9" end="9"/>
                                            </p:txEl>
                                          </p:spTgt>
                                        </p:tgtEl>
                                        <p:attrNameLst>
                                          <p:attrName>style.visibility</p:attrName>
                                        </p:attrNameLst>
                                      </p:cBhvr>
                                      <p:to>
                                        <p:strVal val="visible"/>
                                      </p:to>
                                    </p:set>
                                    <p:animEffect transition="in" filter="fade">
                                      <p:cBhvr>
                                        <p:cTn id="14" dur="1000"/>
                                        <p:tgtEl>
                                          <p:spTgt spid="3">
                                            <p:txEl>
                                              <p:pRg st="9" end="9"/>
                                            </p:txEl>
                                          </p:spTgt>
                                        </p:tgtEl>
                                      </p:cBhvr>
                                    </p:animEffect>
                                    <p:anim calcmode="lin" valueType="num">
                                      <p:cBhvr>
                                        <p:cTn id="15"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9" end="9"/>
                                            </p:txEl>
                                          </p:spTgt>
                                        </p:tgtEl>
                                        <p:attrNameLst>
                                          <p:attrName>ppt_y</p:attrName>
                                        </p:attrNameLst>
                                      </p:cBhvr>
                                      <p:tavLst>
                                        <p:tav tm="0">
                                          <p:val>
                                            <p:strVal val="#ppt_y+.1"/>
                                          </p:val>
                                        </p:tav>
                                        <p:tav tm="100000">
                                          <p:val>
                                            <p:strVal val="#ppt_y"/>
                                          </p:val>
                                        </p:tav>
                                      </p:tavLst>
                                    </p:anim>
                                  </p:childTnLst>
                                </p:cTn>
                              </p:par>
                              <p:par>
                                <p:cTn id="17" presetID="42" presetClass="entr" presetSubtype="0" fill="hold" nodeType="withEffect">
                                  <p:stCondLst>
                                    <p:cond delay="0"/>
                                  </p:stCondLst>
                                  <p:childTnLst>
                                    <p:set>
                                      <p:cBhvr>
                                        <p:cTn id="18" dur="1" fill="hold">
                                          <p:stCondLst>
                                            <p:cond delay="0"/>
                                          </p:stCondLst>
                                        </p:cTn>
                                        <p:tgtEl>
                                          <p:spTgt spid="3">
                                            <p:txEl>
                                              <p:pRg st="10" end="10"/>
                                            </p:txEl>
                                          </p:spTgt>
                                        </p:tgtEl>
                                        <p:attrNameLst>
                                          <p:attrName>style.visibility</p:attrName>
                                        </p:attrNameLst>
                                      </p:cBhvr>
                                      <p:to>
                                        <p:strVal val="visible"/>
                                      </p:to>
                                    </p:set>
                                    <p:animEffect transition="in" filter="fade">
                                      <p:cBhvr>
                                        <p:cTn id="19" dur="1000"/>
                                        <p:tgtEl>
                                          <p:spTgt spid="3">
                                            <p:txEl>
                                              <p:pRg st="10" end="10"/>
                                            </p:txEl>
                                          </p:spTgt>
                                        </p:tgtEl>
                                      </p:cBhvr>
                                    </p:animEffect>
                                    <p:anim calcmode="lin" valueType="num">
                                      <p:cBhvr>
                                        <p:cTn id="20"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21"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par>
                          <p:cTn id="22" fill="hold">
                            <p:stCondLst>
                              <p:cond delay="1000"/>
                            </p:stCondLst>
                            <p:childTnLst>
                              <p:par>
                                <p:cTn id="23" presetID="42" presetClass="entr" presetSubtype="0" fill="hold" nodeType="afterEffect">
                                  <p:stCondLst>
                                    <p:cond delay="0"/>
                                  </p:stCondLst>
                                  <p:childTnLst>
                                    <p:set>
                                      <p:cBhvr>
                                        <p:cTn id="24" dur="1" fill="hold">
                                          <p:stCondLst>
                                            <p:cond delay="0"/>
                                          </p:stCondLst>
                                        </p:cTn>
                                        <p:tgtEl>
                                          <p:spTgt spid="3">
                                            <p:txEl>
                                              <p:pRg st="11" end="11"/>
                                            </p:txEl>
                                          </p:spTgt>
                                        </p:tgtEl>
                                        <p:attrNameLst>
                                          <p:attrName>style.visibility</p:attrName>
                                        </p:attrNameLst>
                                      </p:cBhvr>
                                      <p:to>
                                        <p:strVal val="visible"/>
                                      </p:to>
                                    </p:set>
                                    <p:animEffect transition="in" filter="fade">
                                      <p:cBhvr>
                                        <p:cTn id="25" dur="1000"/>
                                        <p:tgtEl>
                                          <p:spTgt spid="3">
                                            <p:txEl>
                                              <p:pRg st="11" end="11"/>
                                            </p:txEl>
                                          </p:spTgt>
                                        </p:tgtEl>
                                      </p:cBhvr>
                                    </p:animEffect>
                                    <p:anim calcmode="lin" valueType="num">
                                      <p:cBhvr>
                                        <p:cTn id="26"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27" dur="1000" fill="hold"/>
                                        <p:tgtEl>
                                          <p:spTgt spid="3">
                                            <p:txEl>
                                              <p:pRg st="11" end="11"/>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3">
                                            <p:txEl>
                                              <p:pRg st="12" end="12"/>
                                            </p:txEl>
                                          </p:spTgt>
                                        </p:tgtEl>
                                        <p:attrNameLst>
                                          <p:attrName>style.visibility</p:attrName>
                                        </p:attrNameLst>
                                      </p:cBhvr>
                                      <p:to>
                                        <p:strVal val="visible"/>
                                      </p:to>
                                    </p:set>
                                    <p:animEffect transition="in" filter="fade">
                                      <p:cBhvr>
                                        <p:cTn id="30" dur="1000"/>
                                        <p:tgtEl>
                                          <p:spTgt spid="3">
                                            <p:txEl>
                                              <p:pRg st="12" end="12"/>
                                            </p:txEl>
                                          </p:spTgt>
                                        </p:tgtEl>
                                      </p:cBhvr>
                                    </p:animEffect>
                                    <p:anim calcmode="lin" valueType="num">
                                      <p:cBhvr>
                                        <p:cTn id="31"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32" dur="1000" fill="hold"/>
                                        <p:tgtEl>
                                          <p:spTgt spid="3">
                                            <p:txEl>
                                              <p:pRg st="12" end="12"/>
                                            </p:txEl>
                                          </p:spTgt>
                                        </p:tgtEl>
                                        <p:attrNameLst>
                                          <p:attrName>ppt_y</p:attrName>
                                        </p:attrNameLst>
                                      </p:cBhvr>
                                      <p:tavLst>
                                        <p:tav tm="0">
                                          <p:val>
                                            <p:strVal val="#ppt_y+.1"/>
                                          </p:val>
                                        </p:tav>
                                        <p:tav tm="100000">
                                          <p:val>
                                            <p:strVal val="#ppt_y"/>
                                          </p:val>
                                        </p:tav>
                                      </p:tavLst>
                                    </p:anim>
                                  </p:childTnLst>
                                </p:cTn>
                              </p:par>
                              <p:par>
                                <p:cTn id="33" presetID="42" presetClass="entr" presetSubtype="0" fill="hold" nodeType="withEffect">
                                  <p:stCondLst>
                                    <p:cond delay="0"/>
                                  </p:stCondLst>
                                  <p:childTnLst>
                                    <p:set>
                                      <p:cBhvr>
                                        <p:cTn id="34" dur="1" fill="hold">
                                          <p:stCondLst>
                                            <p:cond delay="0"/>
                                          </p:stCondLst>
                                        </p:cTn>
                                        <p:tgtEl>
                                          <p:spTgt spid="3">
                                            <p:txEl>
                                              <p:pRg st="13" end="13"/>
                                            </p:txEl>
                                          </p:spTgt>
                                        </p:tgtEl>
                                        <p:attrNameLst>
                                          <p:attrName>style.visibility</p:attrName>
                                        </p:attrNameLst>
                                      </p:cBhvr>
                                      <p:to>
                                        <p:strVal val="visible"/>
                                      </p:to>
                                    </p:set>
                                    <p:animEffect transition="in" filter="fade">
                                      <p:cBhvr>
                                        <p:cTn id="35" dur="1000"/>
                                        <p:tgtEl>
                                          <p:spTgt spid="3">
                                            <p:txEl>
                                              <p:pRg st="13" end="13"/>
                                            </p:txEl>
                                          </p:spTgt>
                                        </p:tgtEl>
                                      </p:cBhvr>
                                    </p:animEffect>
                                    <p:anim calcmode="lin" valueType="num">
                                      <p:cBhvr>
                                        <p:cTn id="36" dur="1000" fill="hold"/>
                                        <p:tgtEl>
                                          <p:spTgt spid="3">
                                            <p:txEl>
                                              <p:pRg st="13" end="13"/>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13" end="1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917327"/>
            <a:ext cx="9036496" cy="5264262"/>
          </a:xfrm>
          <a:prstGeom prst="rect">
            <a:avLst/>
          </a:prstGeom>
        </p:spPr>
        <p:txBody>
          <a:bodyPr wrap="square">
            <a:spAutoFit/>
          </a:bodyPr>
          <a:lstStyle/>
          <a:p>
            <a:pPr>
              <a:lnSpc>
                <a:spcPct val="150000"/>
              </a:lnSpc>
            </a:pPr>
            <a:r>
              <a:rPr lang="en-US" sz="2200" dirty="0">
                <a:solidFill>
                  <a:srgbClr val="7030A0"/>
                </a:solidFill>
                <a:latin typeface="Times New Roman" panose="02020603050405020304" pitchFamily="18" charset="0"/>
                <a:cs typeface="Times New Roman" panose="02020603050405020304" pitchFamily="18" charset="0"/>
              </a:rPr>
              <a:t>[7] Like predicate:     </a:t>
            </a:r>
            <a:r>
              <a:rPr lang="en-US" sz="2200" dirty="0" err="1">
                <a:solidFill>
                  <a:srgbClr val="002060"/>
                </a:solidFill>
                <a:latin typeface="Times New Roman" panose="02020603050405020304" pitchFamily="18" charset="0"/>
                <a:cs typeface="Times New Roman" panose="02020603050405020304" pitchFamily="18" charset="0"/>
              </a:rPr>
              <a:t>columnname</a:t>
            </a:r>
            <a:r>
              <a:rPr lang="en-US" sz="2200" dirty="0">
                <a:solidFill>
                  <a:srgbClr val="002060"/>
                </a:solidFill>
                <a:latin typeface="Times New Roman" panose="02020603050405020304" pitchFamily="18" charset="0"/>
                <a:cs typeface="Times New Roman" panose="02020603050405020304" pitchFamily="18" charset="0"/>
              </a:rPr>
              <a:t> [NOT] </a:t>
            </a:r>
            <a:r>
              <a:rPr lang="en-US" sz="2200" dirty="0">
                <a:solidFill>
                  <a:srgbClr val="C00000"/>
                </a:solidFill>
                <a:latin typeface="Times New Roman" panose="02020603050405020304" pitchFamily="18" charset="0"/>
                <a:cs typeface="Times New Roman" panose="02020603050405020304" pitchFamily="18" charset="0"/>
              </a:rPr>
              <a:t>LIKE</a:t>
            </a:r>
            <a:r>
              <a:rPr lang="en-US" sz="2200" dirty="0">
                <a:solidFill>
                  <a:srgbClr val="002060"/>
                </a:solidFill>
                <a:latin typeface="Times New Roman" panose="02020603050405020304" pitchFamily="18" charset="0"/>
                <a:cs typeface="Times New Roman" panose="02020603050405020304" pitchFamily="18" charset="0"/>
              </a:rPr>
              <a:t> 'pattern’</a:t>
            </a:r>
          </a:p>
          <a:p>
            <a:pPr marL="800100" lvl="1" indent="-342900">
              <a:spcBef>
                <a:spcPts val="1000"/>
              </a:spcBef>
              <a:buFont typeface="Wingdings" panose="05000000000000000000" pitchFamily="2" charset="2"/>
              <a:buChar char="§"/>
            </a:pPr>
            <a:r>
              <a:rPr lang="en-US" sz="2200" dirty="0">
                <a:solidFill>
                  <a:srgbClr val="002060"/>
                </a:solidFill>
                <a:latin typeface="Times New Roman" panose="02020603050405020304" pitchFamily="18" charset="0"/>
                <a:cs typeface="Times New Roman" panose="02020603050405020304" pitchFamily="18" charset="0"/>
              </a:rPr>
              <a:t>Wildcards   (</a:t>
            </a:r>
            <a:r>
              <a:rPr lang="en-US" sz="1600" dirty="0" err="1">
                <a:solidFill>
                  <a:srgbClr val="002060"/>
                </a:solidFill>
                <a:latin typeface="Times New Roman" panose="02020603050405020304" pitchFamily="18" charset="0"/>
                <a:cs typeface="Times New Roman" panose="02020603050405020304" pitchFamily="18" charset="0"/>
              </a:rPr>
              <a:t>通配符</a:t>
            </a:r>
            <a:r>
              <a:rPr lang="en-US" sz="2200" dirty="0">
                <a:solidFill>
                  <a:srgbClr val="002060"/>
                </a:solidFill>
                <a:latin typeface="Times New Roman" panose="02020603050405020304" pitchFamily="18" charset="0"/>
                <a:cs typeface="Times New Roman" panose="02020603050405020304" pitchFamily="18" charset="0"/>
              </a:rPr>
              <a:t>.    Like windows file wildcards )</a:t>
            </a:r>
          </a:p>
          <a:p>
            <a:pPr lvl="2">
              <a:spcBef>
                <a:spcPts val="1000"/>
              </a:spcBef>
            </a:pPr>
            <a:r>
              <a:rPr lang="en-US" sz="2200" dirty="0">
                <a:solidFill>
                  <a:srgbClr val="002060"/>
                </a:solidFill>
                <a:latin typeface="Times New Roman" panose="02020603050405020304" pitchFamily="18" charset="0"/>
                <a:cs typeface="Times New Roman" panose="02020603050405020304" pitchFamily="18" charset="0"/>
              </a:rPr>
              <a:t>    Underscore (</a:t>
            </a:r>
            <a:r>
              <a:rPr lang="en-US" sz="2200" dirty="0">
                <a:solidFill>
                  <a:srgbClr val="C00000"/>
                </a:solidFill>
                <a:latin typeface="Tahoma" panose="020B0604030504040204" pitchFamily="34" charset="0"/>
                <a:cs typeface="Tahoma" panose="020B0604030504040204" pitchFamily="34" charset="0"/>
              </a:rPr>
              <a:t>_</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Arial Narrow" panose="020B0606020202030204" pitchFamily="34" charset="0"/>
                <a:cs typeface="Times New Roman" panose="02020603050405020304" pitchFamily="18" charset="0"/>
              </a:rPr>
              <a:t>Any single character</a:t>
            </a:r>
          </a:p>
          <a:p>
            <a:pPr lvl="2">
              <a:spcBef>
                <a:spcPts val="1000"/>
              </a:spcBef>
            </a:pPr>
            <a:r>
              <a:rPr lang="en-US" sz="2200" dirty="0">
                <a:solidFill>
                  <a:srgbClr val="002060"/>
                </a:solidFill>
                <a:latin typeface="Times New Roman" panose="02020603050405020304" pitchFamily="18" charset="0"/>
                <a:cs typeface="Times New Roman" panose="02020603050405020304" pitchFamily="18" charset="0"/>
              </a:rPr>
              <a:t>    Percent (</a:t>
            </a:r>
            <a:r>
              <a:rPr lang="en-US" sz="2200" dirty="0">
                <a:solidFill>
                  <a:srgbClr val="C00000"/>
                </a:solidFill>
                <a:latin typeface="Times New Roman" panose="02020603050405020304" pitchFamily="18" charset="0"/>
                <a:cs typeface="Times New Roman" panose="02020603050405020304" pitchFamily="18" charset="0"/>
              </a:rPr>
              <a:t>%</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Arial Narrow" panose="020B0606020202030204" pitchFamily="34" charset="0"/>
                <a:cs typeface="Times New Roman" panose="02020603050405020304" pitchFamily="18" charset="0"/>
              </a:rPr>
              <a:t>Zero or more characters of any form</a:t>
            </a:r>
          </a:p>
          <a:p>
            <a:pPr lvl="2">
              <a:spcBef>
                <a:spcPts val="1000"/>
              </a:spcBef>
            </a:pPr>
            <a:r>
              <a:rPr lang="en-US" sz="2200" dirty="0">
                <a:solidFill>
                  <a:srgbClr val="002060"/>
                </a:solidFill>
                <a:latin typeface="Times New Roman" panose="02020603050405020304" pitchFamily="18" charset="0"/>
                <a:cs typeface="Times New Roman" panose="02020603050405020304" pitchFamily="18" charset="0"/>
              </a:rPr>
              <a:t>    Escape character</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C00000"/>
                </a:solidFill>
                <a:latin typeface="Tahoma" panose="020B0604030504040204" pitchFamily="34" charset="0"/>
                <a:cs typeface="Tahoma" panose="020B0604030504040204" pitchFamily="34" charset="0"/>
              </a:rPr>
              <a:t>\</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Arial Narrow" panose="020B0606020202030204" pitchFamily="34" charset="0"/>
                <a:cs typeface="Times New Roman" panose="02020603050405020304" pitchFamily="18" charset="0"/>
              </a:rPr>
              <a:t>Precedes quoted literal character</a:t>
            </a:r>
          </a:p>
          <a:p>
            <a:pPr lvl="2">
              <a:spcBef>
                <a:spcPts val="1000"/>
              </a:spcBef>
            </a:pPr>
            <a:r>
              <a:rPr lang="en-US" sz="2200" dirty="0">
                <a:solidFill>
                  <a:srgbClr val="002060"/>
                </a:solidFill>
                <a:latin typeface="Times New Roman" panose="02020603050405020304" pitchFamily="18" charset="0"/>
                <a:cs typeface="Times New Roman" panose="02020603050405020304" pitchFamily="18" charset="0"/>
              </a:rPr>
              <a:t>    All other characters 	  </a:t>
            </a:r>
            <a:r>
              <a:rPr lang="en-US" sz="2200" dirty="0">
                <a:solidFill>
                  <a:srgbClr val="C00000"/>
                </a:solidFill>
                <a:latin typeface="Arial Narrow" panose="020B0606020202030204" pitchFamily="34" charset="0"/>
                <a:cs typeface="Times New Roman" panose="02020603050405020304" pitchFamily="18" charset="0"/>
              </a:rPr>
              <a:t>Represent themselves</a:t>
            </a:r>
          </a:p>
          <a:p>
            <a:pPr marL="612000" lvl="1" indent="-252000">
              <a:lnSpc>
                <a:spcPct val="150000"/>
              </a:lnSpc>
              <a:spcBef>
                <a:spcPts val="1200"/>
              </a:spcBef>
              <a:buFont typeface="Wingdings" panose="05000000000000000000" pitchFamily="2" charset="2"/>
              <a:buChar char="Ø"/>
            </a:pPr>
            <a:r>
              <a:rPr lang="en-US" sz="2000" dirty="0">
                <a:solidFill>
                  <a:srgbClr val="7030A0"/>
                </a:solidFill>
                <a:latin typeface="Times New Roman" panose="02020603050405020304" pitchFamily="18" charset="0"/>
                <a:cs typeface="Times New Roman" panose="02020603050405020304" pitchFamily="18" charset="0"/>
              </a:rPr>
              <a:t>Example 3.9.4 </a:t>
            </a:r>
            <a:r>
              <a:rPr lang="en-US" sz="2000" dirty="0">
                <a:solidFill>
                  <a:srgbClr val="7030A0"/>
                </a:solidFill>
                <a:latin typeface="+mn-lt"/>
                <a:cs typeface="Times New Roman" panose="02020603050405020304" pitchFamily="18" charset="0"/>
              </a:rPr>
              <a:t>Retrieve all data of customers whose </a:t>
            </a:r>
            <a:r>
              <a:rPr lang="en-US" altLang="zh-CN" sz="2000" dirty="0">
                <a:solidFill>
                  <a:srgbClr val="7030A0"/>
                </a:solidFill>
                <a:latin typeface="+mn-lt"/>
                <a:cs typeface="Times New Roman" panose="02020603050405020304" pitchFamily="18" charset="0"/>
              </a:rPr>
              <a:t>name </a:t>
            </a:r>
            <a:r>
              <a:rPr lang="en-US" sz="2000" dirty="0">
                <a:solidFill>
                  <a:srgbClr val="7030A0"/>
                </a:solidFill>
                <a:latin typeface="+mn-lt"/>
                <a:cs typeface="Times New Roman" panose="02020603050405020304" pitchFamily="18" charset="0"/>
              </a:rPr>
              <a:t>begins with the letter ‘A’.</a:t>
            </a:r>
          </a:p>
          <a:p>
            <a:pPr>
              <a:lnSpc>
                <a:spcPct val="150000"/>
              </a:lnSpc>
              <a:spcBef>
                <a:spcPts val="2400"/>
              </a:spcBef>
            </a:pPr>
            <a:endParaRPr lang="en-US" sz="2000" dirty="0">
              <a:solidFill>
                <a:srgbClr val="7030A0"/>
              </a:solidFill>
              <a:latin typeface="+mn-lt"/>
              <a:cs typeface="Times New Roman" panose="02020603050405020304" pitchFamily="18" charset="0"/>
            </a:endParaRPr>
          </a:p>
          <a:p>
            <a:pPr>
              <a:lnSpc>
                <a:spcPct val="150000"/>
              </a:lnSpc>
            </a:pPr>
            <a:r>
              <a:rPr lang="en-US" sz="2400" dirty="0">
                <a:solidFill>
                  <a:srgbClr val="002060"/>
                </a:solidFill>
                <a:latin typeface="Arial Narrow" panose="020B0606020202030204" pitchFamily="34" charset="0"/>
                <a:cs typeface="Times New Roman" panose="02020603050405020304" pitchFamily="18" charset="0"/>
              </a:rPr>
              <a:t>	</a:t>
            </a:r>
            <a:r>
              <a:rPr lang="en-US" sz="2200" dirty="0">
                <a:solidFill>
                  <a:srgbClr val="002060"/>
                </a:solidFill>
                <a:latin typeface="Arial Narrow" panose="020B0606020202030204" pitchFamily="34"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select</a:t>
            </a:r>
            <a:r>
              <a:rPr lang="en-US" sz="2200" dirty="0">
                <a:solidFill>
                  <a:srgbClr val="002060"/>
                </a:solidFill>
                <a:latin typeface="Arial Narrow" panose="020B0606020202030204" pitchFamily="34" charset="0"/>
                <a:cs typeface="Times New Roman" panose="02020603050405020304" pitchFamily="18" charset="0"/>
              </a:rPr>
              <a:t> * </a:t>
            </a:r>
            <a:r>
              <a:rPr lang="en-US" sz="2200" dirty="0">
                <a:solidFill>
                  <a:srgbClr val="7030A0"/>
                </a:solidFill>
                <a:latin typeface="Times New Roman" panose="02020603050405020304" pitchFamily="18" charset="0"/>
                <a:cs typeface="Times New Roman" panose="02020603050405020304" pitchFamily="18" charset="0"/>
              </a:rPr>
              <a:t>from</a:t>
            </a:r>
            <a:r>
              <a:rPr lang="en-US" sz="2200" dirty="0">
                <a:solidFill>
                  <a:srgbClr val="002060"/>
                </a:solidFill>
                <a:latin typeface="Arial Narrow" panose="020B0606020202030204" pitchFamily="34" charset="0"/>
                <a:cs typeface="Times New Roman" panose="02020603050405020304" pitchFamily="18" charset="0"/>
              </a:rPr>
              <a:t> custom</a:t>
            </a:r>
            <a:r>
              <a:rPr lang="en-US" sz="2200" dirty="0">
                <a:solidFill>
                  <a:srgbClr val="002060"/>
                </a:solidFill>
                <a:latin typeface="Times New Roman" panose="02020603050405020304" pitchFamily="18" charset="0"/>
                <a:cs typeface="Times New Roman" panose="02020603050405020304" pitchFamily="18" charset="0"/>
              </a:rPr>
              <a:t>ers </a:t>
            </a:r>
            <a:r>
              <a:rPr lang="en-US" sz="2200" dirty="0">
                <a:solidFill>
                  <a:srgbClr val="7030A0"/>
                </a:solidFill>
                <a:latin typeface="Times New Roman" panose="02020603050405020304" pitchFamily="18" charset="0"/>
                <a:cs typeface="Times New Roman" panose="02020603050405020304" pitchFamily="18" charset="0"/>
              </a:rPr>
              <a:t>where</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err="1">
                <a:solidFill>
                  <a:srgbClr val="002060"/>
                </a:solidFill>
                <a:latin typeface="Times New Roman" panose="02020603050405020304" pitchFamily="18" charset="0"/>
                <a:cs typeface="Times New Roman" panose="02020603050405020304" pitchFamily="18" charset="0"/>
              </a:rPr>
              <a:t>cname</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highlight>
                  <a:srgbClr val="00FF00"/>
                </a:highlight>
                <a:latin typeface="Times New Roman" panose="02020603050405020304" pitchFamily="18" charset="0"/>
                <a:cs typeface="Times New Roman" panose="02020603050405020304" pitchFamily="18" charset="0"/>
              </a:rPr>
              <a:t>like</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‘A</a:t>
            </a:r>
            <a:r>
              <a:rPr lang="en-US" sz="2200" dirty="0">
                <a:solidFill>
                  <a:srgbClr val="C00000"/>
                </a:solidFill>
                <a:highlight>
                  <a:srgbClr val="FFFF00"/>
                </a:highlight>
                <a:latin typeface="Times New Roman" panose="02020603050405020304" pitchFamily="18" charset="0"/>
                <a:cs typeface="Times New Roman" panose="02020603050405020304" pitchFamily="18" charset="0"/>
              </a:rPr>
              <a:t>%</a:t>
            </a:r>
            <a:r>
              <a:rPr lang="en-US" sz="2200" dirty="0">
                <a:solidFill>
                  <a:srgbClr val="C00000"/>
                </a:solidFill>
                <a:latin typeface="Times New Roman" panose="02020603050405020304" pitchFamily="18" charset="0"/>
                <a:cs typeface="Times New Roman" panose="02020603050405020304" pitchFamily="18" charset="0"/>
              </a:rPr>
              <a:t>’ </a:t>
            </a:r>
            <a:r>
              <a:rPr lang="en-US" sz="2200" dirty="0">
                <a:solidFill>
                  <a:srgbClr val="002060"/>
                </a:solidFill>
                <a:latin typeface="Times New Roman" panose="02020603050405020304" pitchFamily="18" charset="0"/>
                <a:cs typeface="Times New Roman" panose="02020603050405020304" pitchFamily="18" charset="0"/>
              </a:rPr>
              <a:t>;</a:t>
            </a:r>
          </a:p>
        </p:txBody>
      </p:sp>
      <p:sp>
        <p:nvSpPr>
          <p:cNvPr id="4" name="Rectangle 1"/>
          <p:cNvSpPr/>
          <p:nvPr/>
        </p:nvSpPr>
        <p:spPr>
          <a:xfrm>
            <a:off x="827584" y="116632"/>
            <a:ext cx="8280920"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3.9 A complete description of Select</a:t>
            </a:r>
          </a:p>
        </p:txBody>
      </p:sp>
      <p:sp>
        <p:nvSpPr>
          <p:cNvPr id="5" name="矩形: 圆角 4">
            <a:extLst>
              <a:ext uri="{FF2B5EF4-FFF2-40B4-BE49-F238E27FC236}">
                <a16:creationId xmlns="" xmlns:a16="http://schemas.microsoft.com/office/drawing/2014/main" id="{1D4DE7E5-D368-41D5-9262-0F671136EFE2}"/>
              </a:ext>
            </a:extLst>
          </p:cNvPr>
          <p:cNvSpPr/>
          <p:nvPr/>
        </p:nvSpPr>
        <p:spPr>
          <a:xfrm>
            <a:off x="6300192" y="4077072"/>
            <a:ext cx="1944216"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 xmlns:a16="http://schemas.microsoft.com/office/drawing/2014/main" id="{8C1F4F72-B304-41F2-863B-3159626B125E}"/>
              </a:ext>
            </a:extLst>
          </p:cNvPr>
          <p:cNvSpPr/>
          <p:nvPr/>
        </p:nvSpPr>
        <p:spPr>
          <a:xfrm>
            <a:off x="4427984" y="4077072"/>
            <a:ext cx="1152128"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8" end="8"/>
                                            </p:txEl>
                                          </p:spTgt>
                                        </p:tgtEl>
                                        <p:attrNameLst>
                                          <p:attrName>style.visibility</p:attrName>
                                        </p:attrNameLst>
                                      </p:cBhvr>
                                      <p:to>
                                        <p:strVal val="visible"/>
                                      </p:to>
                                    </p:set>
                                    <p:animEffect transition="in" filter="wipe(left)">
                                      <p:cBhvr>
                                        <p:cTn id="7"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9405" y="908720"/>
            <a:ext cx="9079099" cy="2662267"/>
          </a:xfrm>
          <a:prstGeom prst="rect">
            <a:avLst/>
          </a:prstGeom>
        </p:spPr>
        <p:txBody>
          <a:bodyPr wrap="square">
            <a:spAutoFit/>
          </a:bodyPr>
          <a:lstStyle/>
          <a:p>
            <a:pPr marL="612000" lvl="1" indent="-252000">
              <a:buFont typeface="Wingdings" panose="05000000000000000000" pitchFamily="2" charset="2"/>
              <a:buChar char="Ø"/>
            </a:pPr>
            <a:r>
              <a:rPr lang="en-US" sz="2200" dirty="0">
                <a:solidFill>
                  <a:srgbClr val="7030A0"/>
                </a:solidFill>
                <a:latin typeface="Times New Roman" panose="02020603050405020304" pitchFamily="18" charset="0"/>
                <a:cs typeface="Times New Roman" panose="02020603050405020304" pitchFamily="18" charset="0"/>
              </a:rPr>
              <a:t>Example 3.9.6  </a:t>
            </a:r>
            <a:r>
              <a:rPr lang="en-US" sz="2200" dirty="0">
                <a:solidFill>
                  <a:srgbClr val="7030A0"/>
                </a:solidFill>
                <a:latin typeface="+mn-lt"/>
                <a:cs typeface="Times New Roman" panose="02020603050405020304" pitchFamily="18" charset="0"/>
              </a:rPr>
              <a:t>Retrieve </a:t>
            </a:r>
            <a:r>
              <a:rPr lang="en-US" sz="2200" dirty="0" err="1">
                <a:solidFill>
                  <a:srgbClr val="7030A0"/>
                </a:solidFill>
                <a:latin typeface="+mn-lt"/>
                <a:cs typeface="Times New Roman" panose="02020603050405020304" pitchFamily="18" charset="0"/>
              </a:rPr>
              <a:t>cids</a:t>
            </a:r>
            <a:r>
              <a:rPr lang="en-US" sz="2200" dirty="0">
                <a:solidFill>
                  <a:srgbClr val="7030A0"/>
                </a:solidFill>
                <a:latin typeface="+mn-lt"/>
                <a:cs typeface="Times New Roman" panose="02020603050405020304" pitchFamily="18" charset="0"/>
              </a:rPr>
              <a:t> of customers whose </a:t>
            </a:r>
            <a:r>
              <a:rPr lang="en-US" sz="2200" dirty="0" err="1">
                <a:solidFill>
                  <a:srgbClr val="7030A0"/>
                </a:solidFill>
                <a:latin typeface="+mn-lt"/>
                <a:cs typeface="Times New Roman" panose="02020603050405020304" pitchFamily="18" charset="0"/>
              </a:rPr>
              <a:t>cname</a:t>
            </a:r>
            <a:r>
              <a:rPr lang="en-US" sz="2200" dirty="0">
                <a:solidFill>
                  <a:srgbClr val="7030A0"/>
                </a:solidFill>
                <a:latin typeface="+mn-lt"/>
                <a:cs typeface="Times New Roman" panose="02020603050405020304" pitchFamily="18" charset="0"/>
              </a:rPr>
              <a:t> begins ‘Tip_’ and </a:t>
            </a:r>
            <a:r>
              <a:rPr lang="en-US" sz="2200" dirty="0" err="1">
                <a:solidFill>
                  <a:srgbClr val="7030A0"/>
                </a:solidFill>
                <a:latin typeface="+mn-lt"/>
                <a:cs typeface="Times New Roman" panose="02020603050405020304" pitchFamily="18" charset="0"/>
              </a:rPr>
              <a:t>arbitary</a:t>
            </a:r>
            <a:r>
              <a:rPr lang="en-US" sz="2200" dirty="0">
                <a:solidFill>
                  <a:srgbClr val="7030A0"/>
                </a:solidFill>
                <a:latin typeface="+mn-lt"/>
                <a:cs typeface="Times New Roman" panose="02020603050405020304" pitchFamily="18" charset="0"/>
              </a:rPr>
              <a:t>(any) number of character .</a:t>
            </a:r>
            <a:r>
              <a:rPr lang="en-US" sz="2200" dirty="0">
                <a:solidFill>
                  <a:srgbClr val="002060"/>
                </a:solidFill>
                <a:latin typeface="Arial Narrow" panose="020B0606020202030204" pitchFamily="34"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  </a:t>
            </a:r>
          </a:p>
          <a:p>
            <a:pPr>
              <a:spcBef>
                <a:spcPts val="0"/>
              </a:spcBef>
            </a:pPr>
            <a:r>
              <a:rPr lang="en-US" altLang="zh-CN" sz="2400" dirty="0">
                <a:solidFill>
                  <a:srgbClr val="002060"/>
                </a:solidFill>
                <a:latin typeface="Times New Roman" panose="02020603050405020304" pitchFamily="18" charset="0"/>
                <a:cs typeface="Times New Roman" panose="02020603050405020304" pitchFamily="18" charset="0"/>
              </a:rPr>
              <a:t>	</a:t>
            </a:r>
            <a:endParaRPr lang="en-US" altLang="zh-CN" sz="1400" dirty="0">
              <a:solidFill>
                <a:srgbClr val="002060"/>
              </a:solidFill>
              <a:latin typeface="Times New Roman" panose="02020603050405020304" pitchFamily="18" charset="0"/>
              <a:cs typeface="Times New Roman" panose="02020603050405020304" pitchFamily="18" charset="0"/>
            </a:endParaRPr>
          </a:p>
          <a:p>
            <a:pPr>
              <a:spcBef>
                <a:spcPts val="0"/>
              </a:spcBef>
            </a:pPr>
            <a:endParaRPr lang="en-US" altLang="zh-CN" sz="1400" dirty="0">
              <a:solidFill>
                <a:srgbClr val="002060"/>
              </a:solidFill>
              <a:latin typeface="Times New Roman" panose="02020603050405020304" pitchFamily="18" charset="0"/>
              <a:cs typeface="Times New Roman" panose="02020603050405020304" pitchFamily="18" charset="0"/>
            </a:endParaRPr>
          </a:p>
          <a:p>
            <a:pPr>
              <a:spcBef>
                <a:spcPts val="0"/>
              </a:spcBef>
            </a:pPr>
            <a:endParaRPr lang="en-US" altLang="zh-CN" sz="1800" dirty="0">
              <a:solidFill>
                <a:srgbClr val="002060"/>
              </a:solidFill>
              <a:latin typeface="Times New Roman" panose="02020603050405020304" pitchFamily="18" charset="0"/>
              <a:cs typeface="Times New Roman" panose="02020603050405020304" pitchFamily="18" charset="0"/>
            </a:endParaRPr>
          </a:p>
          <a:p>
            <a:pPr>
              <a:lnSpc>
                <a:spcPct val="150000"/>
              </a:lnSpc>
              <a:spcBef>
                <a:spcPts val="600"/>
              </a:spcBef>
            </a:pPr>
            <a:r>
              <a:rPr lang="en-US" altLang="zh-CN" sz="2400" dirty="0">
                <a:solidFill>
                  <a:srgbClr val="002060"/>
                </a:solidFill>
                <a:latin typeface="Times New Roman" panose="02020603050405020304" pitchFamily="18" charset="0"/>
                <a:cs typeface="Times New Roman" panose="02020603050405020304" pitchFamily="18" charset="0"/>
              </a:rPr>
              <a:t>	select </a:t>
            </a:r>
            <a:r>
              <a:rPr lang="en-US" altLang="zh-CN" sz="2400" dirty="0" err="1">
                <a:solidFill>
                  <a:srgbClr val="002060"/>
                </a:solidFill>
                <a:latin typeface="Times New Roman" panose="02020603050405020304" pitchFamily="18" charset="0"/>
                <a:cs typeface="Times New Roman" panose="02020603050405020304" pitchFamily="18" charset="0"/>
              </a:rPr>
              <a:t>cid</a:t>
            </a:r>
            <a:r>
              <a:rPr lang="en-US" altLang="zh-CN" sz="2400" dirty="0">
                <a:solidFill>
                  <a:srgbClr val="002060"/>
                </a:solidFill>
                <a:latin typeface="Times New Roman" panose="02020603050405020304" pitchFamily="18" charset="0"/>
                <a:cs typeface="Times New Roman" panose="02020603050405020304" pitchFamily="18" charset="0"/>
              </a:rPr>
              <a:t> from customers </a:t>
            </a:r>
          </a:p>
          <a:p>
            <a:r>
              <a:rPr lang="en-US" altLang="zh-CN" sz="2400" dirty="0">
                <a:solidFill>
                  <a:srgbClr val="002060"/>
                </a:solidFill>
                <a:latin typeface="Times New Roman" panose="02020603050405020304" pitchFamily="18" charset="0"/>
                <a:cs typeface="Times New Roman" panose="02020603050405020304" pitchFamily="18" charset="0"/>
              </a:rPr>
              <a:t>			where </a:t>
            </a:r>
            <a:r>
              <a:rPr lang="en-US" altLang="zh-CN" sz="2400" dirty="0" err="1">
                <a:solidFill>
                  <a:srgbClr val="002060"/>
                </a:solidFill>
                <a:latin typeface="Times New Roman" panose="02020603050405020304" pitchFamily="18" charset="0"/>
                <a:cs typeface="Times New Roman" panose="02020603050405020304" pitchFamily="18" charset="0"/>
              </a:rPr>
              <a:t>cname</a:t>
            </a:r>
            <a:r>
              <a:rPr lang="en-US" altLang="zh-CN" sz="2400" dirty="0">
                <a:solidFill>
                  <a:srgbClr val="002060"/>
                </a:solidFill>
                <a:latin typeface="Times New Roman" panose="02020603050405020304" pitchFamily="18" charset="0"/>
                <a:cs typeface="Times New Roman" panose="02020603050405020304" pitchFamily="18" charset="0"/>
              </a:rPr>
              <a:t> </a:t>
            </a:r>
            <a:r>
              <a:rPr lang="en-US" altLang="zh-CN" sz="2400" dirty="0">
                <a:solidFill>
                  <a:srgbClr val="C00000"/>
                </a:solidFill>
                <a:latin typeface="Times New Roman" panose="02020603050405020304" pitchFamily="18" charset="0"/>
                <a:cs typeface="Times New Roman" panose="02020603050405020304" pitchFamily="18" charset="0"/>
              </a:rPr>
              <a:t>like</a:t>
            </a:r>
            <a:r>
              <a:rPr lang="en-US" altLang="zh-CN" sz="2400" dirty="0">
                <a:solidFill>
                  <a:srgbClr val="002060"/>
                </a:solidFill>
                <a:latin typeface="Times New Roman" panose="02020603050405020304" pitchFamily="18" charset="0"/>
                <a:cs typeface="Times New Roman" panose="02020603050405020304" pitchFamily="18" charset="0"/>
              </a:rPr>
              <a:t> ‘Tip</a:t>
            </a:r>
            <a:r>
              <a:rPr lang="en-US" altLang="zh-CN" sz="2400" dirty="0">
                <a:solidFill>
                  <a:srgbClr val="002060"/>
                </a:solidFill>
                <a:highlight>
                  <a:srgbClr val="00FF00"/>
                </a:highlight>
                <a:latin typeface="Times New Roman" panose="02020603050405020304" pitchFamily="18" charset="0"/>
                <a:cs typeface="Times New Roman" panose="02020603050405020304" pitchFamily="18" charset="0"/>
              </a:rPr>
              <a:t>\</a:t>
            </a:r>
            <a:r>
              <a:rPr lang="en-US" altLang="zh-CN" sz="2400" dirty="0">
                <a:solidFill>
                  <a:srgbClr val="002060"/>
                </a:solidFill>
                <a:highlight>
                  <a:srgbClr val="FFFF00"/>
                </a:highlight>
                <a:latin typeface="Times New Roman" panose="02020603050405020304" pitchFamily="18" charset="0"/>
                <a:cs typeface="Times New Roman" panose="02020603050405020304" pitchFamily="18" charset="0"/>
              </a:rPr>
              <a:t>_%</a:t>
            </a:r>
            <a:r>
              <a:rPr lang="en-US" altLang="zh-CN" sz="2400" dirty="0">
                <a:solidFill>
                  <a:srgbClr val="002060"/>
                </a:solidFill>
                <a:latin typeface="Times New Roman" panose="02020603050405020304" pitchFamily="18" charset="0"/>
                <a:cs typeface="Times New Roman" panose="02020603050405020304" pitchFamily="18" charset="0"/>
              </a:rPr>
              <a:t>’ </a:t>
            </a:r>
            <a:r>
              <a:rPr lang="en-US" altLang="zh-CN" sz="2400" dirty="0">
                <a:solidFill>
                  <a:srgbClr val="C00000"/>
                </a:solidFill>
                <a:latin typeface="Times New Roman" panose="02020603050405020304" pitchFamily="18" charset="0"/>
                <a:cs typeface="Times New Roman" panose="02020603050405020304" pitchFamily="18" charset="0"/>
              </a:rPr>
              <a:t>escape</a:t>
            </a:r>
            <a:r>
              <a:rPr lang="en-US" altLang="zh-CN" sz="2400" dirty="0">
                <a:solidFill>
                  <a:srgbClr val="002060"/>
                </a:solidFill>
                <a:latin typeface="Times New Roman" panose="02020603050405020304" pitchFamily="18" charset="0"/>
                <a:cs typeface="Times New Roman" panose="02020603050405020304" pitchFamily="18" charset="0"/>
              </a:rPr>
              <a:t> ‘</a:t>
            </a:r>
            <a:r>
              <a:rPr lang="en-US" altLang="zh-CN" sz="2400" dirty="0">
                <a:solidFill>
                  <a:srgbClr val="002060"/>
                </a:solidFill>
                <a:highlight>
                  <a:srgbClr val="00FF00"/>
                </a:highlight>
                <a:latin typeface="Times New Roman" panose="02020603050405020304" pitchFamily="18" charset="0"/>
                <a:cs typeface="Times New Roman" panose="02020603050405020304" pitchFamily="18" charset="0"/>
              </a:rPr>
              <a:t>\</a:t>
            </a:r>
            <a:r>
              <a:rPr lang="en-US" altLang="zh-CN" sz="2400" dirty="0">
                <a:solidFill>
                  <a:srgbClr val="002060"/>
                </a:solidFill>
                <a:latin typeface="Times New Roman" panose="02020603050405020304" pitchFamily="18" charset="0"/>
                <a:cs typeface="Times New Roman" panose="02020603050405020304" pitchFamily="18" charset="0"/>
              </a:rPr>
              <a:t>’;</a:t>
            </a:r>
            <a:r>
              <a:rPr lang="en-US" sz="2400" dirty="0">
                <a:solidFill>
                  <a:srgbClr val="002060"/>
                </a:solidFill>
                <a:latin typeface="Times New Roman" panose="02020603050405020304" pitchFamily="18" charset="0"/>
                <a:cs typeface="Times New Roman" panose="02020603050405020304" pitchFamily="18" charset="0"/>
              </a:rPr>
              <a:t>  </a:t>
            </a:r>
          </a:p>
        </p:txBody>
      </p:sp>
      <p:sp>
        <p:nvSpPr>
          <p:cNvPr id="4" name="Rectangle 1"/>
          <p:cNvSpPr/>
          <p:nvPr/>
        </p:nvSpPr>
        <p:spPr>
          <a:xfrm>
            <a:off x="827584" y="116632"/>
            <a:ext cx="8280920"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3.9 A complete description of Select</a:t>
            </a:r>
          </a:p>
        </p:txBody>
      </p:sp>
      <p:cxnSp>
        <p:nvCxnSpPr>
          <p:cNvPr id="5" name="直接箭头连接符 4">
            <a:extLst>
              <a:ext uri="{FF2B5EF4-FFF2-40B4-BE49-F238E27FC236}">
                <a16:creationId xmlns="" xmlns:a16="http://schemas.microsoft.com/office/drawing/2014/main" id="{E0204BD5-0B79-420E-934F-03506355516C}"/>
              </a:ext>
            </a:extLst>
          </p:cNvPr>
          <p:cNvCxnSpPr>
            <a:cxnSpLocks/>
          </p:cNvCxnSpPr>
          <p:nvPr/>
        </p:nvCxnSpPr>
        <p:spPr bwMode="auto">
          <a:xfrm>
            <a:off x="5796136" y="2708920"/>
            <a:ext cx="0" cy="432048"/>
          </a:xfrm>
          <a:prstGeom prst="straightConnector1">
            <a:avLst/>
          </a:prstGeom>
          <a:ln w="57150">
            <a:solidFill>
              <a:srgbClr val="FF0000"/>
            </a:solidFill>
            <a:headEnd type="none" w="med" len="med"/>
            <a:tailEnd type="triangle"/>
          </a:ln>
        </p:spPr>
        <p:style>
          <a:lnRef idx="3">
            <a:schemeClr val="accent1"/>
          </a:lnRef>
          <a:fillRef idx="0">
            <a:schemeClr val="accent1"/>
          </a:fillRef>
          <a:effectRef idx="2">
            <a:schemeClr val="accent1"/>
          </a:effectRef>
          <a:fontRef idx="minor">
            <a:schemeClr val="tx1"/>
          </a:fontRef>
        </p:style>
      </p:cxnSp>
      <p:cxnSp>
        <p:nvCxnSpPr>
          <p:cNvPr id="7" name="直接箭头连接符 6">
            <a:extLst>
              <a:ext uri="{FF2B5EF4-FFF2-40B4-BE49-F238E27FC236}">
                <a16:creationId xmlns="" xmlns:a16="http://schemas.microsoft.com/office/drawing/2014/main" id="{CE7592A0-FE3B-468A-B6B3-4E86B141650C}"/>
              </a:ext>
            </a:extLst>
          </p:cNvPr>
          <p:cNvCxnSpPr>
            <a:cxnSpLocks/>
          </p:cNvCxnSpPr>
          <p:nvPr/>
        </p:nvCxnSpPr>
        <p:spPr bwMode="auto">
          <a:xfrm>
            <a:off x="5940152" y="5445224"/>
            <a:ext cx="0" cy="432048"/>
          </a:xfrm>
          <a:prstGeom prst="straightConnector1">
            <a:avLst/>
          </a:prstGeom>
          <a:ln w="57150">
            <a:solidFill>
              <a:srgbClr val="FF0000"/>
            </a:solidFill>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8" name="Rectangle 2">
            <a:extLst>
              <a:ext uri="{FF2B5EF4-FFF2-40B4-BE49-F238E27FC236}">
                <a16:creationId xmlns="" xmlns:a16="http://schemas.microsoft.com/office/drawing/2014/main" id="{23779EDB-FE1D-41D0-9653-CF48EF56B4D5}"/>
              </a:ext>
            </a:extLst>
          </p:cNvPr>
          <p:cNvSpPr/>
          <p:nvPr/>
        </p:nvSpPr>
        <p:spPr>
          <a:xfrm>
            <a:off x="0" y="3939440"/>
            <a:ext cx="9079099" cy="2369880"/>
          </a:xfrm>
          <a:prstGeom prst="rect">
            <a:avLst/>
          </a:prstGeom>
        </p:spPr>
        <p:txBody>
          <a:bodyPr wrap="square">
            <a:spAutoFit/>
          </a:bodyPr>
          <a:lstStyle/>
          <a:p>
            <a:pPr marL="612000" lvl="1" indent="-252000">
              <a:buFont typeface="Wingdings" panose="05000000000000000000" pitchFamily="2" charset="2"/>
              <a:buChar char="Ø"/>
            </a:pPr>
            <a:r>
              <a:rPr lang="en-US" altLang="zh-CN" sz="2200" dirty="0">
                <a:solidFill>
                  <a:srgbClr val="7030A0"/>
                </a:solidFill>
                <a:latin typeface="Times New Roman" panose="02020603050405020304" pitchFamily="18" charset="0"/>
                <a:cs typeface="Times New Roman" panose="02020603050405020304" pitchFamily="18" charset="0"/>
              </a:rPr>
              <a:t>Example 3.9.7  </a:t>
            </a:r>
            <a:r>
              <a:rPr lang="en-US" altLang="zh-CN" sz="2200" dirty="0">
                <a:solidFill>
                  <a:srgbClr val="7030A0"/>
                </a:solidFill>
                <a:cs typeface="Times New Roman" panose="02020603050405020304" pitchFamily="18" charset="0"/>
              </a:rPr>
              <a:t>Retrieve </a:t>
            </a:r>
            <a:r>
              <a:rPr lang="en-US" altLang="zh-CN" sz="2200" dirty="0" err="1">
                <a:solidFill>
                  <a:srgbClr val="7030A0"/>
                </a:solidFill>
                <a:cs typeface="Times New Roman" panose="02020603050405020304" pitchFamily="18" charset="0"/>
              </a:rPr>
              <a:t>cids</a:t>
            </a:r>
            <a:r>
              <a:rPr lang="en-US" altLang="zh-CN" sz="2200" dirty="0">
                <a:solidFill>
                  <a:srgbClr val="7030A0"/>
                </a:solidFill>
                <a:cs typeface="Times New Roman" panose="02020603050405020304" pitchFamily="18" charset="0"/>
              </a:rPr>
              <a:t> of customers whose </a:t>
            </a:r>
            <a:r>
              <a:rPr lang="en-US" altLang="zh-CN" sz="2200" dirty="0" err="1">
                <a:solidFill>
                  <a:srgbClr val="7030A0"/>
                </a:solidFill>
                <a:cs typeface="Times New Roman" panose="02020603050405020304" pitchFamily="18" charset="0"/>
              </a:rPr>
              <a:t>cname</a:t>
            </a:r>
            <a:r>
              <a:rPr lang="en-US" altLang="zh-CN" sz="2200" dirty="0">
                <a:solidFill>
                  <a:srgbClr val="7030A0"/>
                </a:solidFill>
                <a:cs typeface="Times New Roman" panose="02020603050405020304" pitchFamily="18" charset="0"/>
              </a:rPr>
              <a:t> starts with the sequence ‘ab\’ .</a:t>
            </a:r>
          </a:p>
          <a:p>
            <a:pPr marL="360000" lvl="1"/>
            <a:endParaRPr lang="en-US" altLang="zh-CN" sz="1400" dirty="0">
              <a:solidFill>
                <a:srgbClr val="7030A0"/>
              </a:solidFill>
              <a:cs typeface="Times New Roman" panose="02020603050405020304" pitchFamily="18" charset="0"/>
            </a:endParaRPr>
          </a:p>
          <a:p>
            <a:pPr marL="360000" lvl="1"/>
            <a:endParaRPr lang="en-US" altLang="zh-CN" sz="1400" dirty="0">
              <a:solidFill>
                <a:srgbClr val="7030A0"/>
              </a:solidFill>
              <a:cs typeface="Times New Roman" panose="02020603050405020304" pitchFamily="18" charset="0"/>
            </a:endParaRPr>
          </a:p>
          <a:p>
            <a:pPr marL="360000" lvl="1"/>
            <a:endParaRPr lang="en-US" altLang="zh-CN" sz="1400" dirty="0">
              <a:solidFill>
                <a:srgbClr val="7030A0"/>
              </a:solidFill>
              <a:cs typeface="Times New Roman" panose="02020603050405020304" pitchFamily="18" charset="0"/>
            </a:endParaRPr>
          </a:p>
          <a:p>
            <a:pPr marL="360000" lvl="1"/>
            <a:endParaRPr lang="en-US" altLang="zh-CN" sz="1400" dirty="0">
              <a:solidFill>
                <a:srgbClr val="7030A0"/>
              </a:solidFill>
              <a:cs typeface="Times New Roman" panose="02020603050405020304" pitchFamily="18" charset="0"/>
            </a:endParaRPr>
          </a:p>
          <a:p>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400" dirty="0">
                <a:solidFill>
                  <a:srgbClr val="002060"/>
                </a:solidFill>
                <a:latin typeface="Times New Roman" panose="02020603050405020304" pitchFamily="18" charset="0"/>
                <a:cs typeface="Times New Roman" panose="02020603050405020304" pitchFamily="18" charset="0"/>
              </a:rPr>
              <a:t>select </a:t>
            </a:r>
            <a:r>
              <a:rPr lang="en-US" altLang="zh-CN" sz="2400" dirty="0" err="1">
                <a:solidFill>
                  <a:srgbClr val="002060"/>
                </a:solidFill>
                <a:latin typeface="Times New Roman" panose="02020603050405020304" pitchFamily="18" charset="0"/>
                <a:cs typeface="Times New Roman" panose="02020603050405020304" pitchFamily="18" charset="0"/>
              </a:rPr>
              <a:t>cid</a:t>
            </a:r>
            <a:r>
              <a:rPr lang="en-US" altLang="zh-CN" sz="2400" dirty="0">
                <a:solidFill>
                  <a:srgbClr val="002060"/>
                </a:solidFill>
                <a:latin typeface="Times New Roman" panose="02020603050405020304" pitchFamily="18" charset="0"/>
                <a:cs typeface="Times New Roman" panose="02020603050405020304" pitchFamily="18" charset="0"/>
              </a:rPr>
              <a:t> from customers </a:t>
            </a:r>
          </a:p>
          <a:p>
            <a:r>
              <a:rPr lang="en-US" altLang="zh-CN" sz="2400" dirty="0">
                <a:solidFill>
                  <a:srgbClr val="002060"/>
                </a:solidFill>
                <a:latin typeface="Times New Roman" panose="02020603050405020304" pitchFamily="18" charset="0"/>
                <a:cs typeface="Times New Roman" panose="02020603050405020304" pitchFamily="18" charset="0"/>
              </a:rPr>
              <a:t>			    where </a:t>
            </a:r>
            <a:r>
              <a:rPr lang="en-US" altLang="zh-CN" sz="2400" dirty="0" err="1">
                <a:solidFill>
                  <a:srgbClr val="002060"/>
                </a:solidFill>
                <a:latin typeface="Times New Roman" panose="02020603050405020304" pitchFamily="18" charset="0"/>
                <a:cs typeface="Times New Roman" panose="02020603050405020304" pitchFamily="18" charset="0"/>
              </a:rPr>
              <a:t>cname</a:t>
            </a:r>
            <a:r>
              <a:rPr lang="en-US" altLang="zh-CN" sz="2400" dirty="0">
                <a:solidFill>
                  <a:srgbClr val="002060"/>
                </a:solidFill>
                <a:latin typeface="Times New Roman" panose="02020603050405020304" pitchFamily="18" charset="0"/>
                <a:cs typeface="Times New Roman" panose="02020603050405020304" pitchFamily="18" charset="0"/>
              </a:rPr>
              <a:t> </a:t>
            </a:r>
            <a:r>
              <a:rPr lang="en-US" altLang="zh-CN" sz="2400" dirty="0">
                <a:solidFill>
                  <a:srgbClr val="C00000"/>
                </a:solidFill>
                <a:latin typeface="Times New Roman" panose="02020603050405020304" pitchFamily="18" charset="0"/>
                <a:cs typeface="Times New Roman" panose="02020603050405020304" pitchFamily="18" charset="0"/>
              </a:rPr>
              <a:t>like</a:t>
            </a:r>
            <a:r>
              <a:rPr lang="en-US" altLang="zh-CN" sz="2400" dirty="0">
                <a:solidFill>
                  <a:srgbClr val="002060"/>
                </a:solidFill>
                <a:latin typeface="Times New Roman" panose="02020603050405020304" pitchFamily="18" charset="0"/>
                <a:cs typeface="Times New Roman" panose="02020603050405020304" pitchFamily="18" charset="0"/>
              </a:rPr>
              <a:t> ‘ab</a:t>
            </a:r>
            <a:r>
              <a:rPr lang="en-US" altLang="zh-CN" sz="2400" dirty="0">
                <a:solidFill>
                  <a:srgbClr val="002060"/>
                </a:solidFill>
                <a:highlight>
                  <a:srgbClr val="00FF00"/>
                </a:highlight>
                <a:latin typeface="Times New Roman" panose="02020603050405020304" pitchFamily="18" charset="0"/>
                <a:cs typeface="Times New Roman" panose="02020603050405020304" pitchFamily="18" charset="0"/>
              </a:rPr>
              <a:t>\</a:t>
            </a:r>
            <a:r>
              <a:rPr lang="en-US" altLang="zh-CN" sz="2400" dirty="0">
                <a:solidFill>
                  <a:srgbClr val="002060"/>
                </a:solidFill>
                <a:highlight>
                  <a:srgbClr val="FFFF00"/>
                </a:highlight>
                <a:latin typeface="Times New Roman" panose="02020603050405020304" pitchFamily="18" charset="0"/>
                <a:cs typeface="Times New Roman" panose="02020603050405020304" pitchFamily="18" charset="0"/>
              </a:rPr>
              <a:t>\%</a:t>
            </a:r>
            <a:r>
              <a:rPr lang="en-US" altLang="zh-CN" sz="2400" dirty="0">
                <a:solidFill>
                  <a:srgbClr val="002060"/>
                </a:solidFill>
                <a:latin typeface="Times New Roman" panose="02020603050405020304" pitchFamily="18" charset="0"/>
                <a:cs typeface="Times New Roman" panose="02020603050405020304" pitchFamily="18" charset="0"/>
              </a:rPr>
              <a:t>’ </a:t>
            </a:r>
            <a:r>
              <a:rPr lang="en-US" altLang="zh-CN" sz="2400" dirty="0">
                <a:solidFill>
                  <a:srgbClr val="C00000"/>
                </a:solidFill>
                <a:latin typeface="Times New Roman" panose="02020603050405020304" pitchFamily="18" charset="0"/>
                <a:cs typeface="Times New Roman" panose="02020603050405020304" pitchFamily="18" charset="0"/>
              </a:rPr>
              <a:t>escape</a:t>
            </a:r>
            <a:r>
              <a:rPr lang="en-US" altLang="zh-CN" sz="2400" dirty="0">
                <a:solidFill>
                  <a:srgbClr val="002060"/>
                </a:solidFill>
                <a:latin typeface="Times New Roman" panose="02020603050405020304" pitchFamily="18" charset="0"/>
                <a:cs typeface="Times New Roman" panose="02020603050405020304" pitchFamily="18" charset="0"/>
              </a:rPr>
              <a:t> ‘</a:t>
            </a:r>
            <a:r>
              <a:rPr lang="en-US" altLang="zh-CN" sz="2400" dirty="0">
                <a:solidFill>
                  <a:srgbClr val="002060"/>
                </a:solidFill>
                <a:highlight>
                  <a:srgbClr val="00FF00"/>
                </a:highlight>
                <a:latin typeface="Times New Roman" panose="02020603050405020304" pitchFamily="18" charset="0"/>
                <a:cs typeface="Times New Roman" panose="02020603050405020304" pitchFamily="18" charset="0"/>
              </a:rPr>
              <a:t>\</a:t>
            </a:r>
            <a:r>
              <a:rPr lang="en-US" altLang="zh-CN" sz="2400" dirty="0">
                <a:solidFill>
                  <a:srgbClr val="002060"/>
                </a:solidFill>
                <a:latin typeface="Times New Roman" panose="02020603050405020304" pitchFamily="18" charset="0"/>
                <a:cs typeface="Times New Roman" panose="02020603050405020304" pitchFamily="18" charset="0"/>
              </a:rPr>
              <a:t>’; </a:t>
            </a:r>
            <a:r>
              <a:rPr lang="en-US" sz="2400" dirty="0">
                <a:solidFill>
                  <a:srgbClr val="002060"/>
                </a:solidFill>
                <a:latin typeface="Times New Roman" panose="02020603050405020304" pitchFamily="18" charset="0"/>
                <a:cs typeface="Times New Roman" panose="02020603050405020304" pitchFamily="18" charset="0"/>
              </a:rPr>
              <a:t> </a:t>
            </a:r>
          </a:p>
        </p:txBody>
      </p:sp>
      <p:sp>
        <p:nvSpPr>
          <p:cNvPr id="9" name="矩形: 圆角 8">
            <a:extLst>
              <a:ext uri="{FF2B5EF4-FFF2-40B4-BE49-F238E27FC236}">
                <a16:creationId xmlns="" xmlns:a16="http://schemas.microsoft.com/office/drawing/2014/main" id="{72C79CD9-C12A-4F0D-BF66-9052C76CED13}"/>
              </a:ext>
            </a:extLst>
          </p:cNvPr>
          <p:cNvSpPr/>
          <p:nvPr/>
        </p:nvSpPr>
        <p:spPr>
          <a:xfrm>
            <a:off x="6444208" y="996029"/>
            <a:ext cx="2448272"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0" name="矩形: 圆角 9">
            <a:extLst>
              <a:ext uri="{FF2B5EF4-FFF2-40B4-BE49-F238E27FC236}">
                <a16:creationId xmlns="" xmlns:a16="http://schemas.microsoft.com/office/drawing/2014/main" id="{E83A46E6-BF4D-4D68-A9C1-D7806DE8D26A}"/>
              </a:ext>
            </a:extLst>
          </p:cNvPr>
          <p:cNvSpPr/>
          <p:nvPr/>
        </p:nvSpPr>
        <p:spPr>
          <a:xfrm>
            <a:off x="3588790" y="996029"/>
            <a:ext cx="433577"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1" name="矩形: 圆角 10">
            <a:extLst>
              <a:ext uri="{FF2B5EF4-FFF2-40B4-BE49-F238E27FC236}">
                <a16:creationId xmlns="" xmlns:a16="http://schemas.microsoft.com/office/drawing/2014/main" id="{35A0F5F0-CD03-479A-B7AE-1F13C24EA992}"/>
              </a:ext>
            </a:extLst>
          </p:cNvPr>
          <p:cNvSpPr/>
          <p:nvPr/>
        </p:nvSpPr>
        <p:spPr>
          <a:xfrm>
            <a:off x="6444208" y="4005064"/>
            <a:ext cx="2448272"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2" name="矩形: 圆角 11">
            <a:extLst>
              <a:ext uri="{FF2B5EF4-FFF2-40B4-BE49-F238E27FC236}">
                <a16:creationId xmlns="" xmlns:a16="http://schemas.microsoft.com/office/drawing/2014/main" id="{797D96DC-03F5-4C04-AFA5-8A798A0F4936}"/>
              </a:ext>
            </a:extLst>
          </p:cNvPr>
          <p:cNvSpPr/>
          <p:nvPr/>
        </p:nvSpPr>
        <p:spPr>
          <a:xfrm>
            <a:off x="3563888" y="4022512"/>
            <a:ext cx="433577"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wipe(left)">
                                      <p:cBhvr>
                                        <p:cTn id="7" dur="500"/>
                                        <p:tgtEl>
                                          <p:spTgt spid="3">
                                            <p:txEl>
                                              <p:pRg st="4" end="4"/>
                                            </p:txEl>
                                          </p:spTgt>
                                        </p:tgtEl>
                                      </p:cBhvr>
                                    </p:animEffect>
                                  </p:childTnLst>
                                </p:cTn>
                              </p:par>
                              <p:par>
                                <p:cTn id="8" presetID="22" presetClass="entr" presetSubtype="8"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wipe(left)">
                                      <p:cBhvr>
                                        <p:cTn id="10" dur="500"/>
                                        <p:tgtEl>
                                          <p:spTgt spid="3">
                                            <p:txEl>
                                              <p:pRg st="5" end="5"/>
                                            </p:txEl>
                                          </p:spTgt>
                                        </p:tgtEl>
                                      </p:cBhvr>
                                    </p:animEffect>
                                  </p:childTnLst>
                                </p:cTn>
                              </p:par>
                            </p:childTnLst>
                          </p:cTn>
                        </p:par>
                        <p:par>
                          <p:cTn id="11" fill="hold">
                            <p:stCondLst>
                              <p:cond delay="500"/>
                            </p:stCondLst>
                            <p:childTnLst>
                              <p:par>
                                <p:cTn id="12" presetID="22" presetClass="entr" presetSubtype="1" fill="hold"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wipe(up)">
                                      <p:cBhvr>
                                        <p:cTn id="14" dur="500"/>
                                        <p:tgtEl>
                                          <p:spTgt spid="5"/>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8" fill="hold" nodeType="clickEffect">
                                  <p:stCondLst>
                                    <p:cond delay="0"/>
                                  </p:stCondLst>
                                  <p:childTnLst>
                                    <p:set>
                                      <p:cBhvr>
                                        <p:cTn id="18" dur="1" fill="hold">
                                          <p:stCondLst>
                                            <p:cond delay="0"/>
                                          </p:stCondLst>
                                        </p:cTn>
                                        <p:tgtEl>
                                          <p:spTgt spid="8">
                                            <p:txEl>
                                              <p:pRg st="0" end="0"/>
                                            </p:txEl>
                                          </p:spTgt>
                                        </p:tgtEl>
                                        <p:attrNameLst>
                                          <p:attrName>style.visibility</p:attrName>
                                        </p:attrNameLst>
                                      </p:cBhvr>
                                      <p:to>
                                        <p:strVal val="visible"/>
                                      </p:to>
                                    </p:set>
                                    <p:animEffect transition="in" filter="wipe(left)">
                                      <p:cBhvr>
                                        <p:cTn id="19" dur="500"/>
                                        <p:tgtEl>
                                          <p:spTgt spid="8">
                                            <p:txEl>
                                              <p:pRg st="0" end="0"/>
                                            </p:txEl>
                                          </p:spTgt>
                                        </p:tgtEl>
                                      </p:cBhvr>
                                    </p:animEffect>
                                  </p:childTnLst>
                                </p:cTn>
                              </p:par>
                            </p:childTnLst>
                          </p:cTn>
                        </p:par>
                        <p:par>
                          <p:cTn id="20" fill="hold">
                            <p:stCondLst>
                              <p:cond delay="500"/>
                            </p:stCondLst>
                            <p:childTnLst>
                              <p:par>
                                <p:cTn id="21" presetID="22" presetClass="entr" presetSubtype="8" fill="hold" grpId="0" nodeType="afterEffect">
                                  <p:stCondLst>
                                    <p:cond delay="0"/>
                                  </p:stCondLst>
                                  <p:childTnLst>
                                    <p:set>
                                      <p:cBhvr>
                                        <p:cTn id="22" dur="1" fill="hold">
                                          <p:stCondLst>
                                            <p:cond delay="0"/>
                                          </p:stCondLst>
                                        </p:cTn>
                                        <p:tgtEl>
                                          <p:spTgt spid="12"/>
                                        </p:tgtEl>
                                        <p:attrNameLst>
                                          <p:attrName>style.visibility</p:attrName>
                                        </p:attrNameLst>
                                      </p:cBhvr>
                                      <p:to>
                                        <p:strVal val="visible"/>
                                      </p:to>
                                    </p:set>
                                    <p:animEffect transition="in" filter="wipe(left)">
                                      <p:cBhvr>
                                        <p:cTn id="23" dur="500"/>
                                        <p:tgtEl>
                                          <p:spTgt spid="12"/>
                                        </p:tgtEl>
                                      </p:cBhvr>
                                    </p:animEffect>
                                  </p:childTnLst>
                                </p:cTn>
                              </p:par>
                            </p:childTnLst>
                          </p:cTn>
                        </p:par>
                        <p:par>
                          <p:cTn id="24" fill="hold">
                            <p:stCondLst>
                              <p:cond delay="1000"/>
                            </p:stCondLst>
                            <p:childTnLst>
                              <p:par>
                                <p:cTn id="25" presetID="22" presetClass="entr" presetSubtype="8"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left)">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8">
                                            <p:txEl>
                                              <p:pRg st="5" end="5"/>
                                            </p:txEl>
                                          </p:spTgt>
                                        </p:tgtEl>
                                        <p:attrNameLst>
                                          <p:attrName>style.visibility</p:attrName>
                                        </p:attrNameLst>
                                      </p:cBhvr>
                                      <p:to>
                                        <p:strVal val="visible"/>
                                      </p:to>
                                    </p:set>
                                    <p:animEffect transition="in" filter="wipe(left)">
                                      <p:cBhvr>
                                        <p:cTn id="32" dur="500"/>
                                        <p:tgtEl>
                                          <p:spTgt spid="8">
                                            <p:txEl>
                                              <p:pRg st="5" end="5"/>
                                            </p:txEl>
                                          </p:spTgt>
                                        </p:tgtEl>
                                      </p:cBhvr>
                                    </p:animEffect>
                                  </p:childTnLst>
                                </p:cTn>
                              </p:par>
                              <p:par>
                                <p:cTn id="33" presetID="22" presetClass="entr" presetSubtype="8" fill="hold" nodeType="withEffect">
                                  <p:stCondLst>
                                    <p:cond delay="0"/>
                                  </p:stCondLst>
                                  <p:childTnLst>
                                    <p:set>
                                      <p:cBhvr>
                                        <p:cTn id="34" dur="1" fill="hold">
                                          <p:stCondLst>
                                            <p:cond delay="0"/>
                                          </p:stCondLst>
                                        </p:cTn>
                                        <p:tgtEl>
                                          <p:spTgt spid="8">
                                            <p:txEl>
                                              <p:pRg st="6" end="6"/>
                                            </p:txEl>
                                          </p:spTgt>
                                        </p:tgtEl>
                                        <p:attrNameLst>
                                          <p:attrName>style.visibility</p:attrName>
                                        </p:attrNameLst>
                                      </p:cBhvr>
                                      <p:to>
                                        <p:strVal val="visible"/>
                                      </p:to>
                                    </p:set>
                                    <p:animEffect transition="in" filter="wipe(left)">
                                      <p:cBhvr>
                                        <p:cTn id="35" dur="500"/>
                                        <p:tgtEl>
                                          <p:spTgt spid="8">
                                            <p:txEl>
                                              <p:pRg st="6" end="6"/>
                                            </p:txEl>
                                          </p:spTgt>
                                        </p:tgtEl>
                                      </p:cBhvr>
                                    </p:animEffect>
                                  </p:childTnLst>
                                </p:cTn>
                              </p:par>
                            </p:childTnLst>
                          </p:cTn>
                        </p:par>
                        <p:par>
                          <p:cTn id="36" fill="hold">
                            <p:stCondLst>
                              <p:cond delay="500"/>
                            </p:stCondLst>
                            <p:childTnLst>
                              <p:par>
                                <p:cTn id="37" presetID="22" presetClass="entr" presetSubtype="1" fill="hold" nodeType="afterEffect">
                                  <p:stCondLst>
                                    <p:cond delay="0"/>
                                  </p:stCondLst>
                                  <p:childTnLst>
                                    <p:set>
                                      <p:cBhvr>
                                        <p:cTn id="38" dur="1" fill="hold">
                                          <p:stCondLst>
                                            <p:cond delay="0"/>
                                          </p:stCondLst>
                                        </p:cTn>
                                        <p:tgtEl>
                                          <p:spTgt spid="7"/>
                                        </p:tgtEl>
                                        <p:attrNameLst>
                                          <p:attrName>style.visibility</p:attrName>
                                        </p:attrNameLst>
                                      </p:cBhvr>
                                      <p:to>
                                        <p:strVal val="visible"/>
                                      </p:to>
                                    </p:set>
                                    <p:animEffect transition="in" filter="wipe(up)">
                                      <p:cBhvr>
                                        <p:cTn id="39"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584" y="179929"/>
            <a:ext cx="8136904"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3.10 Insert, Update and Delete statements</a:t>
            </a:r>
          </a:p>
        </p:txBody>
      </p:sp>
      <p:sp>
        <p:nvSpPr>
          <p:cNvPr id="3" name="Rectangle 2"/>
          <p:cNvSpPr/>
          <p:nvPr/>
        </p:nvSpPr>
        <p:spPr>
          <a:xfrm>
            <a:off x="0" y="1374884"/>
            <a:ext cx="9144000" cy="2546851"/>
          </a:xfrm>
          <a:prstGeom prst="rect">
            <a:avLst/>
          </a:prstGeom>
        </p:spPr>
        <p:txBody>
          <a:bodyPr wrap="square">
            <a:spAutoFit/>
          </a:bodyPr>
          <a:lstStyle/>
          <a:p>
            <a:pPr marL="1257300" lvl="2" indent="-342900">
              <a:spcBef>
                <a:spcPts val="0"/>
              </a:spcBef>
              <a:buFont typeface="Wingdings" panose="05000000000000000000" pitchFamily="2" charset="2"/>
              <a:buChar char="§"/>
            </a:pPr>
            <a:r>
              <a:rPr lang="en-US" sz="2000" dirty="0">
                <a:solidFill>
                  <a:srgbClr val="002060"/>
                </a:solidFill>
                <a:latin typeface="Times New Roman" panose="02020603050405020304" pitchFamily="18" charset="0"/>
                <a:cs typeface="Times New Roman" panose="02020603050405020304" pitchFamily="18" charset="0"/>
              </a:rPr>
              <a:t>Update statements :  Insert , Update , Delete </a:t>
            </a:r>
          </a:p>
          <a:p>
            <a:pPr marL="1257300" lvl="2" indent="-342900">
              <a:spcBef>
                <a:spcPts val="600"/>
              </a:spcBef>
              <a:buFont typeface="Wingdings" panose="05000000000000000000" pitchFamily="2" charset="2"/>
              <a:buChar char="§"/>
            </a:pPr>
            <a:r>
              <a:rPr lang="en-US" sz="2000" dirty="0">
                <a:solidFill>
                  <a:srgbClr val="002060"/>
                </a:solidFill>
                <a:latin typeface="Times New Roman" panose="02020603050405020304" pitchFamily="18" charset="0"/>
                <a:cs typeface="Times New Roman" panose="02020603050405020304" pitchFamily="18" charset="0"/>
              </a:rPr>
              <a:t>Need update </a:t>
            </a:r>
            <a:r>
              <a:rPr lang="en-US" sz="2000" i="1" dirty="0">
                <a:solidFill>
                  <a:srgbClr val="C00000"/>
                </a:solidFill>
                <a:highlight>
                  <a:srgbClr val="FFFF00"/>
                </a:highlight>
                <a:latin typeface="Times New Roman" panose="02020603050405020304" pitchFamily="18" charset="0"/>
                <a:cs typeface="Times New Roman" panose="02020603050405020304" pitchFamily="18" charset="0"/>
              </a:rPr>
              <a:t>privilege</a:t>
            </a:r>
            <a:r>
              <a:rPr lang="en-US" sz="2000" dirty="0">
                <a:solidFill>
                  <a:srgbClr val="002060"/>
                </a:solidFill>
                <a:latin typeface="Times New Roman" panose="02020603050405020304" pitchFamily="18" charset="0"/>
                <a:cs typeface="Times New Roman" panose="02020603050405020304" pitchFamily="18" charset="0"/>
              </a:rPr>
              <a:t> on a table </a:t>
            </a:r>
          </a:p>
          <a:p>
            <a:pPr>
              <a:lnSpc>
                <a:spcPct val="150000"/>
              </a:lnSpc>
              <a:spcBef>
                <a:spcPts val="300"/>
              </a:spcBef>
            </a:pPr>
            <a:r>
              <a:rPr lang="en-US" sz="2400" dirty="0">
                <a:solidFill>
                  <a:srgbClr val="7030A0"/>
                </a:solidFill>
                <a:latin typeface="Times New Roman" panose="02020603050405020304" pitchFamily="18" charset="0"/>
                <a:cs typeface="Times New Roman" panose="02020603050405020304" pitchFamily="18" charset="0"/>
              </a:rPr>
              <a:t>1. Insert Statement </a:t>
            </a:r>
          </a:p>
          <a:p>
            <a:r>
              <a:rPr lang="en-US" sz="2600" dirty="0">
                <a:solidFill>
                  <a:srgbClr val="7030A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[1] Form</a:t>
            </a:r>
          </a:p>
          <a:p>
            <a:pPr marL="800100" lvl="1" indent="-342900">
              <a:spcBef>
                <a:spcPts val="600"/>
              </a:spcBef>
              <a:buFont typeface="Wingdings" panose="05000000000000000000" pitchFamily="2" charset="2"/>
              <a:buChar char="Ø"/>
            </a:pPr>
            <a:r>
              <a:rPr lang="ja-JP" altLang="en-US" sz="2000" dirty="0">
                <a:solidFill>
                  <a:srgbClr val="002060"/>
                </a:solidFill>
                <a:latin typeface="Times New Roman" panose="02020603050405020304" pitchFamily="18" charset="0"/>
                <a:cs typeface="Times New Roman" panose="02020603050405020304" pitchFamily="18" charset="0"/>
              </a:rPr>
              <a:t>标准式：</a:t>
            </a:r>
            <a:r>
              <a:rPr lang="en-US" sz="2000" dirty="0">
                <a:solidFill>
                  <a:srgbClr val="C00000"/>
                </a:solidFill>
                <a:latin typeface="Times New Roman" panose="02020603050405020304" pitchFamily="18" charset="0"/>
                <a:cs typeface="Times New Roman" panose="02020603050405020304" pitchFamily="18" charset="0"/>
              </a:rPr>
              <a:t>INSERT INTO </a:t>
            </a:r>
            <a:r>
              <a:rPr lang="en-US" sz="2000" dirty="0" err="1">
                <a:solidFill>
                  <a:srgbClr val="002060"/>
                </a:solidFill>
                <a:latin typeface="Times New Roman" panose="02020603050405020304" pitchFamily="18" charset="0"/>
                <a:cs typeface="Times New Roman" panose="02020603050405020304" pitchFamily="18" charset="0"/>
              </a:rPr>
              <a:t>tablename</a:t>
            </a:r>
            <a:r>
              <a:rPr lang="en-US" sz="2000" dirty="0">
                <a:solidFill>
                  <a:srgbClr val="002060"/>
                </a:solidFill>
                <a:latin typeface="Times New Roman" panose="02020603050405020304" pitchFamily="18" charset="0"/>
                <a:cs typeface="Times New Roman" panose="02020603050405020304" pitchFamily="18" charset="0"/>
              </a:rPr>
              <a:t> [(column {, column…})] </a:t>
            </a: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VALUES</a:t>
            </a:r>
            <a:r>
              <a:rPr lang="en-US" sz="2000" dirty="0">
                <a:solidFill>
                  <a:srgbClr val="002060"/>
                </a:solidFill>
                <a:latin typeface="Times New Roman" panose="02020603050405020304" pitchFamily="18" charset="0"/>
                <a:cs typeface="Times New Roman" panose="02020603050405020304" pitchFamily="18" charset="0"/>
              </a:rPr>
              <a:t> (expr | null { , expr | null…}) | </a:t>
            </a:r>
            <a:r>
              <a:rPr lang="en-US" sz="2000" dirty="0">
                <a:solidFill>
                  <a:srgbClr val="C00000"/>
                </a:solidFill>
                <a:latin typeface="Times New Roman" panose="02020603050405020304" pitchFamily="18" charset="0"/>
                <a:cs typeface="Times New Roman" panose="02020603050405020304" pitchFamily="18" charset="0"/>
              </a:rPr>
              <a:t>subquery</a:t>
            </a:r>
            <a:r>
              <a:rPr lang="en-US" sz="2000" dirty="0">
                <a:solidFill>
                  <a:srgbClr val="002060"/>
                </a:solidFill>
                <a:latin typeface="Times New Roman" panose="02020603050405020304" pitchFamily="18" charset="0"/>
                <a:cs typeface="Times New Roman" panose="02020603050405020304" pitchFamily="18" charset="0"/>
              </a:rPr>
              <a:t>}</a:t>
            </a:r>
          </a:p>
        </p:txBody>
      </p:sp>
      <p:sp>
        <p:nvSpPr>
          <p:cNvPr id="4" name="矩形 3">
            <a:extLst>
              <a:ext uri="{FF2B5EF4-FFF2-40B4-BE49-F238E27FC236}">
                <a16:creationId xmlns="" xmlns:a16="http://schemas.microsoft.com/office/drawing/2014/main" id="{CF96AAAD-25E3-4BB6-8079-DC97C4B1BD2F}"/>
              </a:ext>
            </a:extLst>
          </p:cNvPr>
          <p:cNvSpPr/>
          <p:nvPr/>
        </p:nvSpPr>
        <p:spPr>
          <a:xfrm>
            <a:off x="107503" y="912980"/>
            <a:ext cx="4954463" cy="461665"/>
          </a:xfrm>
          <a:prstGeom prst="rect">
            <a:avLst/>
          </a:prstGeom>
          <a:solidFill>
            <a:srgbClr val="FFC000"/>
          </a:solidFill>
          <a:scene3d>
            <a:camera prst="orthographicFront"/>
            <a:lightRig rig="threePt" dir="t"/>
          </a:scene3d>
          <a:sp3d>
            <a:bevelT/>
          </a:sp3d>
        </p:spPr>
        <p:style>
          <a:lnRef idx="1">
            <a:schemeClr val="accent6"/>
          </a:lnRef>
          <a:fillRef idx="2">
            <a:schemeClr val="accent6"/>
          </a:fillRef>
          <a:effectRef idx="1">
            <a:schemeClr val="accent6"/>
          </a:effectRef>
          <a:fontRef idx="minor">
            <a:schemeClr val="dk1"/>
          </a:fontRef>
        </p:style>
        <p:txBody>
          <a:bodyPr wrap="square">
            <a:spAutoFit/>
          </a:bodyPr>
          <a:lstStyle/>
          <a:p>
            <a:pPr marL="342900" indent="-342900">
              <a:spcBef>
                <a:spcPts val="1800"/>
              </a:spcBef>
              <a:buFont typeface="Wingdings" panose="05000000000000000000" pitchFamily="2" charset="2"/>
              <a:buChar char="l"/>
            </a:pPr>
            <a:r>
              <a:rPr lang="en-US" altLang="zh-CN" sz="2400" i="1" dirty="0">
                <a:solidFill>
                  <a:srgbClr val="002060"/>
                </a:solidFill>
                <a:cs typeface="Times New Roman" pitchFamily="18" charset="0"/>
              </a:rPr>
              <a:t>How to </a:t>
            </a:r>
            <a:r>
              <a:rPr lang="en-US" altLang="zh-CN" sz="2400" i="1" dirty="0">
                <a:solidFill>
                  <a:srgbClr val="C00000"/>
                </a:solidFill>
                <a:cs typeface="Times New Roman" pitchFamily="18" charset="0"/>
              </a:rPr>
              <a:t>Updates the Data </a:t>
            </a:r>
            <a:r>
              <a:rPr lang="en-US" altLang="zh-CN" sz="2400" i="1" dirty="0">
                <a:solidFill>
                  <a:srgbClr val="002060"/>
                </a:solidFill>
                <a:cs typeface="Times New Roman" pitchFamily="18" charset="0"/>
              </a:rPr>
              <a:t>in DB?</a:t>
            </a:r>
            <a:endParaRPr lang="en-US" altLang="zh-CN" sz="2400" i="1" dirty="0">
              <a:solidFill>
                <a:srgbClr val="7030A0"/>
              </a:solidFill>
              <a:cs typeface="Times New Roman" pitchFamily="18" charset="0"/>
            </a:endParaRPr>
          </a:p>
        </p:txBody>
      </p:sp>
      <p:pic>
        <p:nvPicPr>
          <p:cNvPr id="5" name="图片 4">
            <a:extLst>
              <a:ext uri="{FF2B5EF4-FFF2-40B4-BE49-F238E27FC236}">
                <a16:creationId xmlns="" xmlns:a16="http://schemas.microsoft.com/office/drawing/2014/main" id="{0B7A36A0-BEC9-4B3D-8E4B-0ABA1D217A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6016" y="690286"/>
            <a:ext cx="561975" cy="684359"/>
          </a:xfrm>
          <a:prstGeom prst="rect">
            <a:avLst/>
          </a:prstGeom>
        </p:spPr>
      </p:pic>
      <p:sp>
        <p:nvSpPr>
          <p:cNvPr id="6" name="Rectangle 2">
            <a:extLst>
              <a:ext uri="{FF2B5EF4-FFF2-40B4-BE49-F238E27FC236}">
                <a16:creationId xmlns="" xmlns:a16="http://schemas.microsoft.com/office/drawing/2014/main" id="{FD168CAC-791C-479C-90E9-5A8E694B43D4}"/>
              </a:ext>
            </a:extLst>
          </p:cNvPr>
          <p:cNvSpPr/>
          <p:nvPr/>
        </p:nvSpPr>
        <p:spPr>
          <a:xfrm>
            <a:off x="-36512" y="4149080"/>
            <a:ext cx="9144000" cy="2175980"/>
          </a:xfrm>
          <a:prstGeom prst="rect">
            <a:avLst/>
          </a:prstGeom>
        </p:spPr>
        <p:txBody>
          <a:bodyPr wrap="square">
            <a:spAutoFit/>
          </a:bodyPr>
          <a:lstStyle/>
          <a:p>
            <a:pPr>
              <a:lnSpc>
                <a:spcPct val="120000"/>
              </a:lnSpc>
              <a:spcBef>
                <a:spcPts val="1000"/>
              </a:spcBef>
            </a:pPr>
            <a:r>
              <a:rPr lang="en-US" altLang="zh-CN" sz="2200" dirty="0">
                <a:solidFill>
                  <a:srgbClr val="7030A0"/>
                </a:solidFill>
                <a:latin typeface="Times New Roman" panose="02020603050405020304" pitchFamily="18" charset="0"/>
                <a:cs typeface="Times New Roman" panose="02020603050405020304" pitchFamily="18" charset="0"/>
              </a:rPr>
              <a:t>  [2] Example 3.10.1 </a:t>
            </a:r>
            <a:r>
              <a:rPr lang="en-US" altLang="zh-CN" sz="1100" dirty="0">
                <a:solidFill>
                  <a:srgbClr val="002060"/>
                </a:solidFill>
                <a:latin typeface="Times New Roman" panose="02020603050405020304" pitchFamily="18" charset="0"/>
                <a:cs typeface="Times New Roman" panose="02020603050405020304" pitchFamily="18" charset="0"/>
              </a:rPr>
              <a:t>(p148) </a:t>
            </a:r>
            <a:r>
              <a:rPr lang="en-US" altLang="zh-CN" sz="2000" dirty="0">
                <a:solidFill>
                  <a:srgbClr val="7030A0"/>
                </a:solidFill>
                <a:cs typeface="Times New Roman" panose="02020603050405020304" pitchFamily="18" charset="0"/>
              </a:rPr>
              <a:t>Add a row specified values to the orders table. (no </a:t>
            </a:r>
            <a:r>
              <a:rPr lang="en-US" altLang="zh-CN" sz="2000" dirty="0">
                <a:solidFill>
                  <a:srgbClr val="C00000"/>
                </a:solidFill>
                <a:cs typeface="Times New Roman" panose="02020603050405020304" pitchFamily="18" charset="0"/>
              </a:rPr>
              <a:t>qty</a:t>
            </a:r>
            <a:r>
              <a:rPr lang="en-US" altLang="zh-CN" sz="2000" dirty="0">
                <a:solidFill>
                  <a:srgbClr val="7030A0"/>
                </a:solidFill>
                <a:cs typeface="Times New Roman" panose="02020603050405020304" pitchFamily="18" charset="0"/>
              </a:rPr>
              <a:t> or </a:t>
            </a:r>
            <a:r>
              <a:rPr lang="en-US" altLang="zh-CN" sz="2000" dirty="0">
                <a:solidFill>
                  <a:srgbClr val="C00000"/>
                </a:solidFill>
                <a:cs typeface="Times New Roman" panose="02020603050405020304" pitchFamily="18" charset="0"/>
              </a:rPr>
              <a:t>dollars</a:t>
            </a:r>
            <a:r>
              <a:rPr lang="en-US" altLang="zh-CN" sz="2000" dirty="0">
                <a:solidFill>
                  <a:srgbClr val="7030A0"/>
                </a:solidFill>
                <a:cs typeface="Times New Roman" panose="02020603050405020304" pitchFamily="18" charset="0"/>
              </a:rPr>
              <a:t>, so on this new row they are </a:t>
            </a:r>
            <a:r>
              <a:rPr lang="en-US" altLang="zh-CN" sz="2000" dirty="0">
                <a:solidFill>
                  <a:srgbClr val="C00000"/>
                </a:solidFill>
                <a:cs typeface="Times New Roman" panose="02020603050405020304" pitchFamily="18" charset="0"/>
              </a:rPr>
              <a:t>null</a:t>
            </a:r>
            <a:r>
              <a:rPr lang="en-US" altLang="zh-CN" sz="2000" dirty="0">
                <a:solidFill>
                  <a:srgbClr val="7030A0"/>
                </a:solidFill>
                <a:cs typeface="Times New Roman" panose="02020603050405020304" pitchFamily="18" charset="0"/>
              </a:rPr>
              <a:t>).</a:t>
            </a:r>
          </a:p>
          <a:p>
            <a:pPr>
              <a:spcBef>
                <a:spcPts val="1200"/>
              </a:spcBef>
            </a:pPr>
            <a:r>
              <a:rPr lang="en-US" altLang="zh-CN" sz="2000" dirty="0">
                <a:solidFill>
                  <a:srgbClr val="C00000"/>
                </a:solidFill>
                <a:latin typeface="Times New Roman" panose="02020603050405020304" pitchFamily="18" charset="0"/>
                <a:cs typeface="Times New Roman" panose="02020603050405020304" pitchFamily="18" charset="0"/>
              </a:rPr>
              <a:t>	insert</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into</a:t>
            </a:r>
            <a:r>
              <a:rPr lang="en-US" altLang="zh-CN" sz="2000" dirty="0">
                <a:solidFill>
                  <a:srgbClr val="002060"/>
                </a:solidFill>
                <a:latin typeface="Times New Roman" panose="02020603050405020304" pitchFamily="18" charset="0"/>
                <a:cs typeface="Times New Roman" panose="02020603050405020304" pitchFamily="18" charset="0"/>
              </a:rPr>
              <a:t> orders (</a:t>
            </a:r>
            <a:r>
              <a:rPr lang="en-US" altLang="zh-CN" sz="2000" dirty="0" err="1">
                <a:solidFill>
                  <a:srgbClr val="002060"/>
                </a:solidFill>
                <a:latin typeface="Times New Roman" panose="02020603050405020304" pitchFamily="18" charset="0"/>
                <a:cs typeface="Times New Roman" panose="02020603050405020304" pitchFamily="18" charset="0"/>
              </a:rPr>
              <a:t>ordno</a:t>
            </a:r>
            <a:r>
              <a:rPr lang="en-US" altLang="zh-CN" sz="2000" dirty="0">
                <a:solidFill>
                  <a:srgbClr val="002060"/>
                </a:solidFill>
                <a:latin typeface="Times New Roman" panose="02020603050405020304" pitchFamily="18" charset="0"/>
                <a:cs typeface="Times New Roman" panose="02020603050405020304" pitchFamily="18" charset="0"/>
              </a:rPr>
              <a:t>, month, </a:t>
            </a:r>
            <a:r>
              <a:rPr lang="en-US" altLang="zh-CN" sz="2000" dirty="0" err="1">
                <a:solidFill>
                  <a:srgbClr val="002060"/>
                </a:solidFill>
                <a:latin typeface="Times New Roman" panose="02020603050405020304" pitchFamily="18" charset="0"/>
                <a:cs typeface="Times New Roman" panose="02020603050405020304" pitchFamily="18" charset="0"/>
              </a:rPr>
              <a:t>cid</a:t>
            </a:r>
            <a:r>
              <a:rPr lang="en-US" altLang="zh-CN" sz="2000" dirty="0">
                <a:solidFill>
                  <a:srgbClr val="002060"/>
                </a:solidFill>
                <a:latin typeface="Times New Roman" panose="02020603050405020304" pitchFamily="18" charset="0"/>
                <a:cs typeface="Times New Roman" panose="02020603050405020304" pitchFamily="18" charset="0"/>
              </a:rPr>
              <a:t>, aid, </a:t>
            </a:r>
            <a:r>
              <a:rPr lang="en-US" altLang="zh-CN" sz="2000" dirty="0" err="1">
                <a:solidFill>
                  <a:srgbClr val="002060"/>
                </a:solidFill>
                <a:latin typeface="Times New Roman" panose="02020603050405020304" pitchFamily="18" charset="0"/>
                <a:cs typeface="Times New Roman" panose="02020603050405020304" pitchFamily="18" charset="0"/>
              </a:rPr>
              <a:t>pid</a:t>
            </a:r>
            <a:r>
              <a:rPr lang="en-US" altLang="zh-CN" sz="2000" dirty="0">
                <a:solidFill>
                  <a:srgbClr val="002060"/>
                </a:solidFill>
                <a:latin typeface="Times New Roman" panose="02020603050405020304" pitchFamily="18" charset="0"/>
                <a:cs typeface="Times New Roman" panose="02020603050405020304" pitchFamily="18" charset="0"/>
              </a:rPr>
              <a:t>)</a:t>
            </a:r>
          </a:p>
          <a:p>
            <a:pPr>
              <a:spcBef>
                <a:spcPts val="600"/>
              </a:spcBef>
            </a:pP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values</a:t>
            </a:r>
            <a:r>
              <a:rPr lang="en-US" altLang="zh-CN" sz="2000" dirty="0">
                <a:solidFill>
                  <a:srgbClr val="002060"/>
                </a:solidFill>
                <a:latin typeface="Times New Roman" panose="02020603050405020304" pitchFamily="18" charset="0"/>
                <a:cs typeface="Times New Roman" panose="02020603050405020304" pitchFamily="18" charset="0"/>
              </a:rPr>
              <a:t>('1107', '</a:t>
            </a:r>
            <a:r>
              <a:rPr lang="en-US" altLang="zh-CN" sz="2000" dirty="0" err="1">
                <a:solidFill>
                  <a:srgbClr val="002060"/>
                </a:solidFill>
                <a:latin typeface="Times New Roman" panose="02020603050405020304" pitchFamily="18" charset="0"/>
                <a:cs typeface="Times New Roman" panose="02020603050405020304" pitchFamily="18" charset="0"/>
              </a:rPr>
              <a:t>aug</a:t>
            </a:r>
            <a:r>
              <a:rPr lang="en-US" altLang="zh-CN" sz="2000" dirty="0">
                <a:solidFill>
                  <a:srgbClr val="002060"/>
                </a:solidFill>
                <a:latin typeface="Times New Roman" panose="02020603050405020304" pitchFamily="18" charset="0"/>
                <a:cs typeface="Times New Roman" panose="02020603050405020304" pitchFamily="18" charset="0"/>
              </a:rPr>
              <a:t>', 'c006', 'a04', 'p01’);</a:t>
            </a:r>
          </a:p>
          <a:p>
            <a:pPr>
              <a:spcBef>
                <a:spcPts val="1200"/>
              </a:spcBef>
            </a:pP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select</a:t>
            </a:r>
            <a:r>
              <a:rPr lang="en-US" altLang="zh-CN" sz="2000" dirty="0">
                <a:solidFill>
                  <a:srgbClr val="002060"/>
                </a:solidFill>
                <a:latin typeface="Times New Roman" panose="02020603050405020304" pitchFamily="18" charset="0"/>
                <a:cs typeface="Times New Roman" panose="02020603050405020304" pitchFamily="18" charset="0"/>
              </a:rPr>
              <a:t> * from order where </a:t>
            </a:r>
            <a:r>
              <a:rPr lang="en-US" altLang="zh-CN" sz="2000" dirty="0">
                <a:solidFill>
                  <a:srgbClr val="C00000"/>
                </a:solidFill>
                <a:latin typeface="Times New Roman" panose="02020603050405020304" pitchFamily="18" charset="0"/>
                <a:cs typeface="Times New Roman" panose="02020603050405020304" pitchFamily="18" charset="0"/>
              </a:rPr>
              <a:t>dollars</a:t>
            </a:r>
            <a:r>
              <a:rPr lang="en-US" altLang="zh-CN" sz="2000" dirty="0">
                <a:solidFill>
                  <a:srgbClr val="002060"/>
                </a:solidFill>
                <a:latin typeface="Times New Roman" panose="02020603050405020304" pitchFamily="18" charset="0"/>
                <a:cs typeface="Times New Roman" panose="02020603050405020304" pitchFamily="18" charset="0"/>
              </a:rPr>
              <a:t> is null;</a:t>
            </a:r>
          </a:p>
        </p:txBody>
      </p:sp>
      <p:sp>
        <p:nvSpPr>
          <p:cNvPr id="8" name="矩形: 圆角 7">
            <a:extLst>
              <a:ext uri="{FF2B5EF4-FFF2-40B4-BE49-F238E27FC236}">
                <a16:creationId xmlns="" xmlns:a16="http://schemas.microsoft.com/office/drawing/2014/main" id="{2ADEB202-0363-4585-A843-977C814D2CDF}"/>
              </a:ext>
            </a:extLst>
          </p:cNvPr>
          <p:cNvSpPr/>
          <p:nvPr/>
        </p:nvSpPr>
        <p:spPr>
          <a:xfrm>
            <a:off x="5724128" y="4262075"/>
            <a:ext cx="2016224"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9" name="矩形: 圆角 8">
            <a:extLst>
              <a:ext uri="{FF2B5EF4-FFF2-40B4-BE49-F238E27FC236}">
                <a16:creationId xmlns="" xmlns:a16="http://schemas.microsoft.com/office/drawing/2014/main" id="{07B1DE2D-8F7E-46B7-840A-A993E0A4442F}"/>
              </a:ext>
            </a:extLst>
          </p:cNvPr>
          <p:cNvSpPr/>
          <p:nvPr/>
        </p:nvSpPr>
        <p:spPr>
          <a:xfrm>
            <a:off x="2868710" y="4262075"/>
            <a:ext cx="1127226"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left)">
                                      <p:cBhvr>
                                        <p:cTn id="11" dur="500"/>
                                        <p:tgtEl>
                                          <p:spTgt spid="9"/>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left)">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1000"/>
                                        <p:tgtEl>
                                          <p:spTgt spid="6">
                                            <p:txEl>
                                              <p:pRg st="1" end="1"/>
                                            </p:txEl>
                                          </p:spTgt>
                                        </p:tgtEl>
                                      </p:cBhvr>
                                    </p:animEffect>
                                    <p:anim calcmode="lin" valueType="num">
                                      <p:cBhvr>
                                        <p:cTn id="21" dur="1000" fill="hold"/>
                                        <p:tgtEl>
                                          <p:spTgt spid="6">
                                            <p:txEl>
                                              <p:pRg st="1" end="1"/>
                                            </p:txEl>
                                          </p:spTgt>
                                        </p:tgtEl>
                                        <p:attrNameLst>
                                          <p:attrName>ppt_x</p:attrName>
                                        </p:attrNameLst>
                                      </p:cBhvr>
                                      <p:tavLst>
                                        <p:tav tm="0">
                                          <p:val>
                                            <p:strVal val="#ppt_x"/>
                                          </p:val>
                                        </p:tav>
                                        <p:tav tm="100000">
                                          <p:val>
                                            <p:strVal val="#ppt_x"/>
                                          </p:val>
                                        </p:tav>
                                      </p:tavLst>
                                    </p:anim>
                                    <p:anim calcmode="lin" valueType="num">
                                      <p:cBhvr>
                                        <p:cTn id="22" dur="1000" fill="hold"/>
                                        <p:tgtEl>
                                          <p:spTgt spid="6">
                                            <p:txEl>
                                              <p:pRg st="1" end="1"/>
                                            </p:txEl>
                                          </p:spTgt>
                                        </p:tgtEl>
                                        <p:attrNameLst>
                                          <p:attrName>ppt_y</p:attrName>
                                        </p:attrNameLst>
                                      </p:cBhvr>
                                      <p:tavLst>
                                        <p:tav tm="0">
                                          <p:val>
                                            <p:strVal val="#ppt_y+.1"/>
                                          </p:val>
                                        </p:tav>
                                        <p:tav tm="100000">
                                          <p:val>
                                            <p:strVal val="#ppt_y"/>
                                          </p:val>
                                        </p:tav>
                                      </p:tavLst>
                                    </p:anim>
                                  </p:childTnLst>
                                </p:cTn>
                              </p:par>
                              <p:par>
                                <p:cTn id="23" presetID="42" presetClass="entr" presetSubtype="0" fill="hold" nodeType="withEffect">
                                  <p:stCondLst>
                                    <p:cond delay="0"/>
                                  </p:stCondLst>
                                  <p:childTnLst>
                                    <p:set>
                                      <p:cBhvr>
                                        <p:cTn id="24" dur="1" fill="hold">
                                          <p:stCondLst>
                                            <p:cond delay="0"/>
                                          </p:stCondLst>
                                        </p:cTn>
                                        <p:tgtEl>
                                          <p:spTgt spid="6">
                                            <p:txEl>
                                              <p:pRg st="2" end="2"/>
                                            </p:txEl>
                                          </p:spTgt>
                                        </p:tgtEl>
                                        <p:attrNameLst>
                                          <p:attrName>style.visibility</p:attrName>
                                        </p:attrNameLst>
                                      </p:cBhvr>
                                      <p:to>
                                        <p:strVal val="visible"/>
                                      </p:to>
                                    </p:set>
                                    <p:animEffect transition="in" filter="fade">
                                      <p:cBhvr>
                                        <p:cTn id="25" dur="1000"/>
                                        <p:tgtEl>
                                          <p:spTgt spid="6">
                                            <p:txEl>
                                              <p:pRg st="2" end="2"/>
                                            </p:txEl>
                                          </p:spTgt>
                                        </p:tgtEl>
                                      </p:cBhvr>
                                    </p:animEffect>
                                    <p:anim calcmode="lin" valueType="num">
                                      <p:cBhvr>
                                        <p:cTn id="26" dur="1000" fill="hold"/>
                                        <p:tgtEl>
                                          <p:spTgt spid="6">
                                            <p:txEl>
                                              <p:pRg st="2" end="2"/>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2" end="2"/>
                                            </p:txEl>
                                          </p:spTgt>
                                        </p:tgtEl>
                                        <p:attrNameLst>
                                          <p:attrName>ppt_y</p:attrName>
                                        </p:attrNameLst>
                                      </p:cBhvr>
                                      <p:tavLst>
                                        <p:tav tm="0">
                                          <p:val>
                                            <p:strVal val="#ppt_y+.1"/>
                                          </p:val>
                                        </p:tav>
                                        <p:tav tm="100000">
                                          <p:val>
                                            <p:strVal val="#ppt_y"/>
                                          </p:val>
                                        </p:tav>
                                      </p:tavLst>
                                    </p:anim>
                                  </p:childTnLst>
                                </p:cTn>
                              </p:par>
                              <p:par>
                                <p:cTn id="28" presetID="42" presetClass="entr" presetSubtype="0" fill="hold" nodeType="withEffect">
                                  <p:stCondLst>
                                    <p:cond delay="0"/>
                                  </p:stCondLst>
                                  <p:childTnLst>
                                    <p:set>
                                      <p:cBhvr>
                                        <p:cTn id="29" dur="1" fill="hold">
                                          <p:stCondLst>
                                            <p:cond delay="0"/>
                                          </p:stCondLst>
                                        </p:cTn>
                                        <p:tgtEl>
                                          <p:spTgt spid="6">
                                            <p:txEl>
                                              <p:pRg st="3" end="3"/>
                                            </p:txEl>
                                          </p:spTgt>
                                        </p:tgtEl>
                                        <p:attrNameLst>
                                          <p:attrName>style.visibility</p:attrName>
                                        </p:attrNameLst>
                                      </p:cBhvr>
                                      <p:to>
                                        <p:strVal val="visible"/>
                                      </p:to>
                                    </p:set>
                                    <p:animEffect transition="in" filter="fade">
                                      <p:cBhvr>
                                        <p:cTn id="30" dur="1000"/>
                                        <p:tgtEl>
                                          <p:spTgt spid="6">
                                            <p:txEl>
                                              <p:pRg st="3" end="3"/>
                                            </p:txEl>
                                          </p:spTgt>
                                        </p:tgtEl>
                                      </p:cBhvr>
                                    </p:animEffect>
                                    <p:anim calcmode="lin" valueType="num">
                                      <p:cBhvr>
                                        <p:cTn id="31" dur="1000" fill="hold"/>
                                        <p:tgtEl>
                                          <p:spTgt spid="6">
                                            <p:txEl>
                                              <p:pRg st="3" end="3"/>
                                            </p:txEl>
                                          </p:spTgt>
                                        </p:tgtEl>
                                        <p:attrNameLst>
                                          <p:attrName>ppt_x</p:attrName>
                                        </p:attrNameLst>
                                      </p:cBhvr>
                                      <p:tavLst>
                                        <p:tav tm="0">
                                          <p:val>
                                            <p:strVal val="#ppt_x"/>
                                          </p:val>
                                        </p:tav>
                                        <p:tav tm="100000">
                                          <p:val>
                                            <p:strVal val="#ppt_x"/>
                                          </p:val>
                                        </p:tav>
                                      </p:tavLst>
                                    </p:anim>
                                    <p:anim calcmode="lin" valueType="num">
                                      <p:cBhvr>
                                        <p:cTn id="32" dur="1000" fill="hold"/>
                                        <p:tgtEl>
                                          <p:spTgt spid="6">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7584" y="179929"/>
            <a:ext cx="8136904"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3.10 Insert, Update and Delete statements</a:t>
            </a:r>
          </a:p>
        </p:txBody>
      </p:sp>
      <p:sp>
        <p:nvSpPr>
          <p:cNvPr id="3" name="Rectangle 2"/>
          <p:cNvSpPr/>
          <p:nvPr/>
        </p:nvSpPr>
        <p:spPr>
          <a:xfrm>
            <a:off x="0" y="1374884"/>
            <a:ext cx="9144000" cy="3624069"/>
          </a:xfrm>
          <a:prstGeom prst="rect">
            <a:avLst/>
          </a:prstGeom>
        </p:spPr>
        <p:txBody>
          <a:bodyPr wrap="square">
            <a:spAutoFit/>
          </a:bodyPr>
          <a:lstStyle/>
          <a:p>
            <a:pPr marL="1257300" lvl="2" indent="-342900">
              <a:spcBef>
                <a:spcPts val="0"/>
              </a:spcBef>
              <a:buFont typeface="Wingdings" panose="05000000000000000000" pitchFamily="2" charset="2"/>
              <a:buChar char="§"/>
            </a:pPr>
            <a:r>
              <a:rPr lang="en-US" sz="2000" dirty="0">
                <a:solidFill>
                  <a:srgbClr val="002060"/>
                </a:solidFill>
                <a:latin typeface="Times New Roman" panose="02020603050405020304" pitchFamily="18" charset="0"/>
                <a:cs typeface="Times New Roman" panose="02020603050405020304" pitchFamily="18" charset="0"/>
              </a:rPr>
              <a:t>Update statements :  Insert , Update , Delete </a:t>
            </a:r>
          </a:p>
          <a:p>
            <a:pPr marL="1257300" lvl="2" indent="-342900">
              <a:spcBef>
                <a:spcPts val="600"/>
              </a:spcBef>
              <a:buFont typeface="Wingdings" panose="05000000000000000000" pitchFamily="2" charset="2"/>
              <a:buChar char="§"/>
            </a:pPr>
            <a:r>
              <a:rPr lang="en-US" sz="2000" dirty="0">
                <a:solidFill>
                  <a:srgbClr val="002060"/>
                </a:solidFill>
                <a:latin typeface="Times New Roman" panose="02020603050405020304" pitchFamily="18" charset="0"/>
                <a:cs typeface="Times New Roman" panose="02020603050405020304" pitchFamily="18" charset="0"/>
              </a:rPr>
              <a:t>Need update </a:t>
            </a:r>
            <a:r>
              <a:rPr lang="en-US" sz="2000" i="1" dirty="0">
                <a:solidFill>
                  <a:srgbClr val="C00000"/>
                </a:solidFill>
                <a:highlight>
                  <a:srgbClr val="FFFF00"/>
                </a:highlight>
                <a:latin typeface="Times New Roman" panose="02020603050405020304" pitchFamily="18" charset="0"/>
                <a:cs typeface="Times New Roman" panose="02020603050405020304" pitchFamily="18" charset="0"/>
              </a:rPr>
              <a:t>privilege</a:t>
            </a:r>
            <a:r>
              <a:rPr lang="en-US" sz="2000" dirty="0">
                <a:solidFill>
                  <a:srgbClr val="002060"/>
                </a:solidFill>
                <a:latin typeface="Times New Roman" panose="02020603050405020304" pitchFamily="18" charset="0"/>
                <a:cs typeface="Times New Roman" panose="02020603050405020304" pitchFamily="18" charset="0"/>
              </a:rPr>
              <a:t> on a table </a:t>
            </a:r>
          </a:p>
          <a:p>
            <a:pPr>
              <a:lnSpc>
                <a:spcPct val="150000"/>
              </a:lnSpc>
              <a:spcBef>
                <a:spcPts val="0"/>
              </a:spcBef>
            </a:pPr>
            <a:r>
              <a:rPr lang="en-US" sz="2400" dirty="0">
                <a:solidFill>
                  <a:srgbClr val="7030A0"/>
                </a:solidFill>
                <a:latin typeface="Times New Roman" panose="02020603050405020304" pitchFamily="18" charset="0"/>
                <a:cs typeface="Times New Roman" panose="02020603050405020304" pitchFamily="18" charset="0"/>
              </a:rPr>
              <a:t>1. Insert Statement </a:t>
            </a:r>
          </a:p>
          <a:p>
            <a:r>
              <a:rPr lang="en-US" sz="2600" dirty="0">
                <a:solidFill>
                  <a:srgbClr val="7030A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[1] Form</a:t>
            </a:r>
          </a:p>
          <a:p>
            <a:pPr marL="800100" lvl="1" indent="-342900">
              <a:spcBef>
                <a:spcPts val="600"/>
              </a:spcBef>
              <a:buFont typeface="Wingdings" panose="05000000000000000000" pitchFamily="2" charset="2"/>
              <a:buChar char="Ø"/>
            </a:pPr>
            <a:r>
              <a:rPr lang="ja-JP" altLang="en-US" sz="2000" dirty="0">
                <a:solidFill>
                  <a:srgbClr val="002060"/>
                </a:solidFill>
                <a:latin typeface="Times New Roman" panose="02020603050405020304" pitchFamily="18" charset="0"/>
                <a:cs typeface="Times New Roman" panose="02020603050405020304" pitchFamily="18" charset="0"/>
              </a:rPr>
              <a:t>标准式：</a:t>
            </a:r>
            <a:r>
              <a:rPr lang="en-US" sz="2000" dirty="0">
                <a:solidFill>
                  <a:srgbClr val="C00000"/>
                </a:solidFill>
                <a:latin typeface="Times New Roman" panose="02020603050405020304" pitchFamily="18" charset="0"/>
                <a:cs typeface="Times New Roman" panose="02020603050405020304" pitchFamily="18" charset="0"/>
              </a:rPr>
              <a:t>INSERT INTO </a:t>
            </a:r>
            <a:r>
              <a:rPr lang="en-US" sz="2000" dirty="0" err="1">
                <a:solidFill>
                  <a:srgbClr val="002060"/>
                </a:solidFill>
                <a:latin typeface="Times New Roman" panose="02020603050405020304" pitchFamily="18" charset="0"/>
                <a:cs typeface="Times New Roman" panose="02020603050405020304" pitchFamily="18" charset="0"/>
              </a:rPr>
              <a:t>tablename</a:t>
            </a:r>
            <a:r>
              <a:rPr lang="en-US" sz="2000" dirty="0">
                <a:solidFill>
                  <a:srgbClr val="002060"/>
                </a:solidFill>
                <a:latin typeface="Times New Roman" panose="02020603050405020304" pitchFamily="18" charset="0"/>
                <a:cs typeface="Times New Roman" panose="02020603050405020304" pitchFamily="18" charset="0"/>
              </a:rPr>
              <a:t> [(column {, column…})] </a:t>
            </a:r>
          </a:p>
          <a:p>
            <a:pPr>
              <a:spcBef>
                <a:spcPts val="3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VALUES</a:t>
            </a:r>
            <a:r>
              <a:rPr lang="en-US" sz="2000" dirty="0">
                <a:solidFill>
                  <a:srgbClr val="002060"/>
                </a:solidFill>
                <a:latin typeface="Times New Roman" panose="02020603050405020304" pitchFamily="18" charset="0"/>
                <a:cs typeface="Times New Roman" panose="02020603050405020304" pitchFamily="18" charset="0"/>
              </a:rPr>
              <a:t> (expr | null { , expr | null…}) | </a:t>
            </a:r>
            <a:r>
              <a:rPr lang="en-US" sz="2000" dirty="0">
                <a:solidFill>
                  <a:srgbClr val="C00000"/>
                </a:solidFill>
                <a:latin typeface="Times New Roman" panose="02020603050405020304" pitchFamily="18" charset="0"/>
                <a:cs typeface="Times New Roman" panose="02020603050405020304" pitchFamily="18" charset="0"/>
              </a:rPr>
              <a:t>subquery</a:t>
            </a:r>
            <a:r>
              <a:rPr lang="en-US" sz="2000" dirty="0">
                <a:solidFill>
                  <a:srgbClr val="002060"/>
                </a:solidFill>
                <a:latin typeface="Times New Roman" panose="02020603050405020304" pitchFamily="18" charset="0"/>
                <a:cs typeface="Times New Roman" panose="02020603050405020304" pitchFamily="18" charset="0"/>
              </a:rPr>
              <a:t>}</a:t>
            </a:r>
          </a:p>
          <a:p>
            <a:pPr marL="800100" lvl="1" indent="-342900">
              <a:spcBef>
                <a:spcPts val="600"/>
              </a:spcBef>
              <a:buFont typeface="Wingdings" panose="05000000000000000000" pitchFamily="2" charset="2"/>
              <a:buChar char="Ø"/>
            </a:pPr>
            <a:r>
              <a:rPr lang="ja-JP" altLang="en-US" sz="2000" dirty="0">
                <a:solidFill>
                  <a:srgbClr val="002060"/>
                </a:solidFill>
                <a:latin typeface="Times New Roman" panose="02020603050405020304" pitchFamily="18" charset="0"/>
                <a:cs typeface="Times New Roman" panose="02020603050405020304" pitchFamily="18" charset="0"/>
              </a:rPr>
              <a:t>插入子查询结果集</a:t>
            </a:r>
          </a:p>
          <a:p>
            <a:pPr>
              <a:spcBef>
                <a:spcPts val="600"/>
              </a:spcBef>
            </a:pPr>
            <a:r>
              <a:rPr lang="ja-JP" alt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002060"/>
                </a:solidFill>
                <a:latin typeface="Times New Roman" panose="02020603050405020304" pitchFamily="18" charset="0"/>
                <a:cs typeface="Times New Roman" panose="02020603050405020304" pitchFamily="18" charset="0"/>
              </a:rPr>
              <a:t>INSERT  INTO </a:t>
            </a:r>
            <a:r>
              <a:rPr lang="en-US" sz="2000" dirty="0" err="1">
                <a:solidFill>
                  <a:srgbClr val="002060"/>
                </a:solidFill>
                <a:latin typeface="Times New Roman" panose="02020603050405020304" pitchFamily="18" charset="0"/>
                <a:cs typeface="Times New Roman" panose="02020603050405020304" pitchFamily="18" charset="0"/>
              </a:rPr>
              <a:t>tablename</a:t>
            </a:r>
            <a:r>
              <a:rPr lang="en-US" sz="2000" dirty="0">
                <a:solidFill>
                  <a:srgbClr val="002060"/>
                </a:solidFill>
                <a:latin typeface="Times New Roman" panose="02020603050405020304" pitchFamily="18" charset="0"/>
                <a:cs typeface="Times New Roman" panose="02020603050405020304" pitchFamily="18" charset="0"/>
              </a:rPr>
              <a:t> [ </a:t>
            </a:r>
            <a:r>
              <a:rPr lang="en-US" sz="2000" dirty="0" err="1">
                <a:solidFill>
                  <a:srgbClr val="002060"/>
                </a:solidFill>
                <a:latin typeface="Times New Roman" panose="02020603050405020304" pitchFamily="18" charset="0"/>
                <a:cs typeface="Times New Roman" panose="02020603050405020304" pitchFamily="18" charset="0"/>
              </a:rPr>
              <a:t>colname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colname</a:t>
            </a:r>
            <a:r>
              <a:rPr lang="en-US" sz="2000" dirty="0">
                <a:solidFill>
                  <a:srgbClr val="002060"/>
                </a:solidFill>
                <a:latin typeface="Times New Roman" panose="02020603050405020304" pitchFamily="18" charset="0"/>
                <a:cs typeface="Times New Roman" panose="02020603050405020304" pitchFamily="18" charset="0"/>
              </a:rPr>
              <a:t>…]）</a:t>
            </a:r>
          </a:p>
          <a:p>
            <a:pPr>
              <a:spcBef>
                <a:spcPts val="3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Subquery</a:t>
            </a:r>
            <a:r>
              <a:rPr lang="en-US" sz="2000" dirty="0">
                <a:solidFill>
                  <a:srgbClr val="002060"/>
                </a:solidFill>
                <a:latin typeface="Times New Roman" panose="02020603050405020304" pitchFamily="18" charset="0"/>
                <a:cs typeface="Times New Roman" panose="02020603050405020304" pitchFamily="18" charset="0"/>
              </a:rPr>
              <a:t>;</a:t>
            </a:r>
            <a:endParaRPr lang="en-US" sz="2000" dirty="0">
              <a:solidFill>
                <a:srgbClr val="C00000"/>
              </a:solidFill>
              <a:latin typeface="Times New Roman" panose="02020603050405020304" pitchFamily="18" charset="0"/>
              <a:cs typeface="Times New Roman" panose="02020603050405020304" pitchFamily="18" charset="0"/>
            </a:endParaRPr>
          </a:p>
        </p:txBody>
      </p:sp>
      <p:sp>
        <p:nvSpPr>
          <p:cNvPr id="4" name="矩形 3">
            <a:extLst>
              <a:ext uri="{FF2B5EF4-FFF2-40B4-BE49-F238E27FC236}">
                <a16:creationId xmlns="" xmlns:a16="http://schemas.microsoft.com/office/drawing/2014/main" id="{CF96AAAD-25E3-4BB6-8079-DC97C4B1BD2F}"/>
              </a:ext>
            </a:extLst>
          </p:cNvPr>
          <p:cNvSpPr/>
          <p:nvPr/>
        </p:nvSpPr>
        <p:spPr>
          <a:xfrm>
            <a:off x="107503" y="912980"/>
            <a:ext cx="4954463" cy="461665"/>
          </a:xfrm>
          <a:prstGeom prst="rect">
            <a:avLst/>
          </a:prstGeom>
          <a:solidFill>
            <a:srgbClr val="FFC000"/>
          </a:solidFill>
          <a:scene3d>
            <a:camera prst="orthographicFront"/>
            <a:lightRig rig="threePt" dir="t"/>
          </a:scene3d>
          <a:sp3d>
            <a:bevelT/>
          </a:sp3d>
        </p:spPr>
        <p:style>
          <a:lnRef idx="1">
            <a:schemeClr val="accent6"/>
          </a:lnRef>
          <a:fillRef idx="2">
            <a:schemeClr val="accent6"/>
          </a:fillRef>
          <a:effectRef idx="1">
            <a:schemeClr val="accent6"/>
          </a:effectRef>
          <a:fontRef idx="minor">
            <a:schemeClr val="dk1"/>
          </a:fontRef>
        </p:style>
        <p:txBody>
          <a:bodyPr wrap="square">
            <a:spAutoFit/>
          </a:bodyPr>
          <a:lstStyle/>
          <a:p>
            <a:pPr marL="342900" indent="-342900">
              <a:spcBef>
                <a:spcPts val="1800"/>
              </a:spcBef>
              <a:buFont typeface="Wingdings" panose="05000000000000000000" pitchFamily="2" charset="2"/>
              <a:buChar char="l"/>
            </a:pPr>
            <a:r>
              <a:rPr lang="en-US" altLang="zh-CN" sz="2400" i="1" dirty="0">
                <a:solidFill>
                  <a:srgbClr val="002060"/>
                </a:solidFill>
                <a:cs typeface="Times New Roman" pitchFamily="18" charset="0"/>
              </a:rPr>
              <a:t>How to </a:t>
            </a:r>
            <a:r>
              <a:rPr lang="en-US" altLang="zh-CN" sz="2400" i="1" dirty="0">
                <a:solidFill>
                  <a:srgbClr val="C00000"/>
                </a:solidFill>
                <a:cs typeface="Times New Roman" pitchFamily="18" charset="0"/>
              </a:rPr>
              <a:t>Updates the Data </a:t>
            </a:r>
            <a:r>
              <a:rPr lang="en-US" altLang="zh-CN" sz="2400" i="1" dirty="0">
                <a:solidFill>
                  <a:srgbClr val="002060"/>
                </a:solidFill>
                <a:cs typeface="Times New Roman" pitchFamily="18" charset="0"/>
              </a:rPr>
              <a:t>in DB?</a:t>
            </a:r>
            <a:endParaRPr lang="en-US" altLang="zh-CN" sz="2400" i="1" dirty="0">
              <a:solidFill>
                <a:srgbClr val="7030A0"/>
              </a:solidFill>
              <a:cs typeface="Times New Roman" pitchFamily="18" charset="0"/>
            </a:endParaRPr>
          </a:p>
        </p:txBody>
      </p:sp>
      <p:pic>
        <p:nvPicPr>
          <p:cNvPr id="5" name="图片 4">
            <a:extLst>
              <a:ext uri="{FF2B5EF4-FFF2-40B4-BE49-F238E27FC236}">
                <a16:creationId xmlns="" xmlns:a16="http://schemas.microsoft.com/office/drawing/2014/main" id="{0B7A36A0-BEC9-4B3D-8E4B-0ABA1D217A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716016" y="690286"/>
            <a:ext cx="561975" cy="684359"/>
          </a:xfrm>
          <a:prstGeom prst="rect">
            <a:avLst/>
          </a:prstGeom>
        </p:spPr>
      </p:pic>
      <p:sp>
        <p:nvSpPr>
          <p:cNvPr id="6" name="Rectangle 2">
            <a:extLst>
              <a:ext uri="{FF2B5EF4-FFF2-40B4-BE49-F238E27FC236}">
                <a16:creationId xmlns="" xmlns:a16="http://schemas.microsoft.com/office/drawing/2014/main" id="{15C864A2-D8E7-4609-BB84-C0D29BC3D60C}"/>
              </a:ext>
            </a:extLst>
          </p:cNvPr>
          <p:cNvSpPr/>
          <p:nvPr/>
        </p:nvSpPr>
        <p:spPr>
          <a:xfrm>
            <a:off x="107504" y="5012129"/>
            <a:ext cx="9144000" cy="1123384"/>
          </a:xfrm>
          <a:prstGeom prst="rect">
            <a:avLst/>
          </a:prstGeom>
        </p:spPr>
        <p:txBody>
          <a:bodyPr wrap="square">
            <a:spAutoFit/>
          </a:bodyPr>
          <a:lstStyle/>
          <a:p>
            <a:pPr>
              <a:spcBef>
                <a:spcPts val="300"/>
              </a:spcBef>
            </a:pPr>
            <a:r>
              <a:rPr lang="en-US" altLang="zh-CN" sz="2200" dirty="0">
                <a:solidFill>
                  <a:srgbClr val="7030A0"/>
                </a:solidFill>
                <a:latin typeface="Times New Roman" panose="02020603050405020304" pitchFamily="18" charset="0"/>
                <a:cs typeface="Times New Roman" panose="02020603050405020304" pitchFamily="18" charset="0"/>
              </a:rPr>
              <a:t>[2] Example 3.10.2  </a:t>
            </a:r>
            <a:r>
              <a:rPr lang="en-US" altLang="zh-CN" sz="2000" dirty="0">
                <a:solidFill>
                  <a:srgbClr val="7030A0"/>
                </a:solidFill>
                <a:latin typeface="+mn-lt"/>
                <a:cs typeface="Times New Roman" panose="02020603050405020304" pitchFamily="18" charset="0"/>
              </a:rPr>
              <a:t>Create a new table </a:t>
            </a:r>
            <a:r>
              <a:rPr lang="en-US" altLang="zh-CN" sz="2000" dirty="0" err="1">
                <a:solidFill>
                  <a:srgbClr val="7030A0"/>
                </a:solidFill>
                <a:latin typeface="+mn-lt"/>
                <a:cs typeface="Times New Roman" panose="02020603050405020304" pitchFamily="18" charset="0"/>
              </a:rPr>
              <a:t>Swcusts</a:t>
            </a:r>
            <a:r>
              <a:rPr lang="en-US" altLang="zh-CN" sz="2000" dirty="0">
                <a:solidFill>
                  <a:srgbClr val="7030A0"/>
                </a:solidFill>
                <a:latin typeface="+mn-lt"/>
                <a:cs typeface="Times New Roman" panose="02020603050405020304" pitchFamily="18" charset="0"/>
              </a:rPr>
              <a:t> of customers, and insert into all customers from Dallas and Austin</a:t>
            </a:r>
            <a:r>
              <a:rPr lang="en-US" altLang="zh-CN" sz="2000" dirty="0">
                <a:solidFill>
                  <a:srgbClr val="002060"/>
                </a:solidFill>
                <a:latin typeface="+mn-lt"/>
                <a:cs typeface="Times New Roman" panose="02020603050405020304" pitchFamily="18" charset="0"/>
              </a:rPr>
              <a:t>.</a:t>
            </a:r>
          </a:p>
          <a:p>
            <a:pPr>
              <a:spcBef>
                <a:spcPts val="600"/>
              </a:spcBef>
            </a:pPr>
            <a:r>
              <a:rPr lang="en-US" altLang="zh-CN" sz="2000" dirty="0">
                <a:solidFill>
                  <a:srgbClr val="C00000"/>
                </a:solidFill>
                <a:latin typeface="Times New Roman" panose="02020603050405020304" pitchFamily="18" charset="0"/>
                <a:cs typeface="Times New Roman" panose="02020603050405020304" pitchFamily="18" charset="0"/>
              </a:rPr>
              <a:t>      insert</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into</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err="1">
                <a:solidFill>
                  <a:srgbClr val="002060"/>
                </a:solidFill>
                <a:latin typeface="Times New Roman" panose="02020603050405020304" pitchFamily="18" charset="0"/>
                <a:cs typeface="Times New Roman" panose="02020603050405020304" pitchFamily="18" charset="0"/>
              </a:rPr>
              <a:t>swcusts</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7030A0"/>
                </a:solidFill>
                <a:latin typeface="Times New Roman" panose="02020603050405020304" pitchFamily="18" charset="0"/>
                <a:cs typeface="Times New Roman" panose="02020603050405020304" pitchFamily="18" charset="0"/>
              </a:rPr>
              <a:t>select</a:t>
            </a:r>
            <a:r>
              <a:rPr lang="en-US" altLang="zh-CN" sz="2000" dirty="0">
                <a:solidFill>
                  <a:srgbClr val="002060"/>
                </a:solidFill>
                <a:latin typeface="Times New Roman" panose="02020603050405020304" pitchFamily="18" charset="0"/>
                <a:cs typeface="Times New Roman" panose="02020603050405020304" pitchFamily="18" charset="0"/>
              </a:rPr>
              <a:t> * </a:t>
            </a:r>
            <a:r>
              <a:rPr lang="en-US" altLang="zh-CN" sz="2000" dirty="0">
                <a:solidFill>
                  <a:srgbClr val="7030A0"/>
                </a:solidFill>
                <a:latin typeface="Times New Roman" panose="02020603050405020304" pitchFamily="18" charset="0"/>
                <a:cs typeface="Times New Roman" panose="02020603050405020304" pitchFamily="18" charset="0"/>
              </a:rPr>
              <a:t>from</a:t>
            </a:r>
            <a:r>
              <a:rPr lang="en-US" altLang="zh-CN" sz="2000" dirty="0">
                <a:solidFill>
                  <a:srgbClr val="002060"/>
                </a:solidFill>
                <a:latin typeface="Times New Roman" panose="02020603050405020304" pitchFamily="18" charset="0"/>
                <a:cs typeface="Times New Roman" panose="02020603050405020304" pitchFamily="18" charset="0"/>
              </a:rPr>
              <a:t> customers </a:t>
            </a:r>
            <a:r>
              <a:rPr lang="en-US" altLang="zh-CN" sz="2000" dirty="0">
                <a:solidFill>
                  <a:srgbClr val="7030A0"/>
                </a:solidFill>
                <a:latin typeface="Times New Roman" panose="02020603050405020304" pitchFamily="18" charset="0"/>
                <a:cs typeface="Times New Roman" panose="02020603050405020304" pitchFamily="18" charset="0"/>
              </a:rPr>
              <a:t>where</a:t>
            </a:r>
            <a:r>
              <a:rPr lang="en-US" altLang="zh-CN" sz="2000" dirty="0">
                <a:solidFill>
                  <a:srgbClr val="002060"/>
                </a:solidFill>
                <a:latin typeface="Times New Roman" panose="02020603050405020304" pitchFamily="18" charset="0"/>
                <a:cs typeface="Times New Roman" panose="02020603050405020304" pitchFamily="18" charset="0"/>
              </a:rPr>
              <a:t> city in ('Dallas', 'Austin') );</a:t>
            </a:r>
            <a:endParaRPr lang="en-US" sz="2000" dirty="0">
              <a:solidFill>
                <a:srgbClr val="C00000"/>
              </a:solidFill>
              <a:latin typeface="Times New Roman" panose="02020603050405020304" pitchFamily="18" charset="0"/>
              <a:cs typeface="Times New Roman" panose="02020603050405020304" pitchFamily="18" charset="0"/>
            </a:endParaRPr>
          </a:p>
        </p:txBody>
      </p:sp>
      <p:sp>
        <p:nvSpPr>
          <p:cNvPr id="7" name="矩形: 圆角 6">
            <a:extLst>
              <a:ext uri="{FF2B5EF4-FFF2-40B4-BE49-F238E27FC236}">
                <a16:creationId xmlns="" xmlns:a16="http://schemas.microsoft.com/office/drawing/2014/main" id="{5B65831C-FF0D-48DF-B8E4-BBC1C653ADCF}"/>
              </a:ext>
            </a:extLst>
          </p:cNvPr>
          <p:cNvSpPr/>
          <p:nvPr/>
        </p:nvSpPr>
        <p:spPr>
          <a:xfrm>
            <a:off x="7380312" y="5085371"/>
            <a:ext cx="1512168"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 xmlns:a16="http://schemas.microsoft.com/office/drawing/2014/main" id="{C6048AA4-1A6B-4CF8-ABDD-39E4FF2A2A07}"/>
              </a:ext>
            </a:extLst>
          </p:cNvPr>
          <p:cNvSpPr/>
          <p:nvPr/>
        </p:nvSpPr>
        <p:spPr>
          <a:xfrm>
            <a:off x="3444774" y="5085184"/>
            <a:ext cx="2016224" cy="288032"/>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957163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wipe(left)">
                                      <p:cBhvr>
                                        <p:cTn id="15" dur="500"/>
                                        <p:tgtEl>
                                          <p:spTgt spid="7"/>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wipe(left)">
                                      <p:cBhvr>
                                        <p:cTn id="20"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P spid="8"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85647" y="836712"/>
            <a:ext cx="9022857" cy="5044522"/>
          </a:xfrm>
          <a:prstGeom prst="rect">
            <a:avLst/>
          </a:prstGeom>
        </p:spPr>
        <p:txBody>
          <a:bodyPr wrap="square">
            <a:spAutoFit/>
          </a:bodyPr>
          <a:lstStyle/>
          <a:p>
            <a:pPr>
              <a:lnSpc>
                <a:spcPct val="150000"/>
              </a:lnSpc>
            </a:pPr>
            <a:r>
              <a:rPr lang="en-US" sz="2400" dirty="0">
                <a:solidFill>
                  <a:srgbClr val="7030A0"/>
                </a:solidFill>
                <a:latin typeface="Times New Roman" panose="02020603050405020304" pitchFamily="18" charset="0"/>
                <a:cs typeface="Times New Roman" panose="02020603050405020304" pitchFamily="18" charset="0"/>
              </a:rPr>
              <a:t>2. Update Statement </a:t>
            </a:r>
          </a:p>
          <a:p>
            <a:pPr>
              <a:lnSpc>
                <a:spcPct val="150000"/>
              </a:lnSpc>
            </a:pPr>
            <a:r>
              <a:rPr lang="en-US" sz="2200" dirty="0">
                <a:solidFill>
                  <a:srgbClr val="7030A0"/>
                </a:solidFill>
                <a:latin typeface="Times New Roman" panose="02020603050405020304" pitchFamily="18" charset="0"/>
                <a:cs typeface="Times New Roman" panose="02020603050405020304" pitchFamily="18" charset="0"/>
              </a:rPr>
              <a:t>  [1] Form:  </a:t>
            </a:r>
            <a:r>
              <a:rPr lang="en-US" sz="2000" dirty="0">
                <a:solidFill>
                  <a:srgbClr val="C00000"/>
                </a:solidFill>
                <a:latin typeface="Times New Roman" panose="02020603050405020304" pitchFamily="18" charset="0"/>
                <a:cs typeface="Times New Roman" panose="02020603050405020304" pitchFamily="18" charset="0"/>
              </a:rPr>
              <a:t>UPDATE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tablename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SET</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colname</a:t>
            </a:r>
            <a:r>
              <a:rPr lang="en-US" sz="2000" dirty="0">
                <a:solidFill>
                  <a:srgbClr val="002060"/>
                </a:solidFill>
                <a:latin typeface="Times New Roman" panose="02020603050405020304" pitchFamily="18" charset="0"/>
                <a:cs typeface="Times New Roman" panose="02020603050405020304" pitchFamily="18" charset="0"/>
              </a:rPr>
              <a:t> = {expr | null | (subquery)} </a:t>
            </a:r>
          </a:p>
          <a:p>
            <a:pPr>
              <a:spcBef>
                <a:spcPts val="0"/>
              </a:spcBef>
            </a:pPr>
            <a:r>
              <a:rPr lang="en-US" sz="2000" dirty="0">
                <a:solidFill>
                  <a:srgbClr val="002060"/>
                </a:solidFill>
                <a:latin typeface="Times New Roman" panose="02020603050405020304" pitchFamily="18" charset="0"/>
                <a:cs typeface="Times New Roman" panose="02020603050405020304" pitchFamily="18" charset="0"/>
              </a:rPr>
              <a:t>                                              	        {, {column = expr |null | (subquery)…}}</a:t>
            </a:r>
          </a:p>
          <a:p>
            <a:pPr>
              <a:spcBef>
                <a:spcPts val="600"/>
              </a:spcBef>
            </a:pP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WHERE</a:t>
            </a:r>
            <a:r>
              <a:rPr lang="en-US" sz="2000" dirty="0">
                <a:solidFill>
                  <a:srgbClr val="002060"/>
                </a:solidFill>
                <a:latin typeface="Times New Roman" panose="02020603050405020304" pitchFamily="18" charset="0"/>
                <a:cs typeface="Times New Roman" panose="02020603050405020304" pitchFamily="18" charset="0"/>
              </a:rPr>
              <a:t> </a:t>
            </a:r>
            <a:r>
              <a:rPr lang="en-US" sz="2000" dirty="0" err="1">
                <a:solidFill>
                  <a:srgbClr val="002060"/>
                </a:solidFill>
                <a:latin typeface="Times New Roman" panose="02020603050405020304" pitchFamily="18" charset="0"/>
                <a:cs typeface="Times New Roman" panose="02020603050405020304" pitchFamily="18" charset="0"/>
              </a:rPr>
              <a:t>search_condition</a:t>
            </a:r>
            <a:r>
              <a:rPr lang="en-US" sz="2000" dirty="0">
                <a:solidFill>
                  <a:srgbClr val="002060"/>
                </a:solidFill>
                <a:latin typeface="Times New Roman" panose="02020603050405020304" pitchFamily="18" charset="0"/>
                <a:cs typeface="Times New Roman" panose="02020603050405020304" pitchFamily="18" charset="0"/>
              </a:rPr>
              <a:t>];</a:t>
            </a:r>
          </a:p>
          <a:p>
            <a:pPr>
              <a:spcBef>
                <a:spcPts val="600"/>
              </a:spcBef>
            </a:pPr>
            <a:endParaRPr lang="en-US" sz="2000" dirty="0">
              <a:solidFill>
                <a:srgbClr val="002060"/>
              </a:solidFill>
              <a:latin typeface="Times New Roman" panose="02020603050405020304" pitchFamily="18" charset="0"/>
              <a:cs typeface="Times New Roman" panose="02020603050405020304" pitchFamily="18" charset="0"/>
            </a:endParaRPr>
          </a:p>
          <a:p>
            <a:pPr>
              <a:lnSpc>
                <a:spcPct val="120000"/>
              </a:lnSpc>
              <a:spcBef>
                <a:spcPts val="0"/>
              </a:spcBef>
            </a:pP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[2] Example 3.10.3 </a:t>
            </a:r>
            <a:r>
              <a:rPr lang="en-US" sz="1100" dirty="0">
                <a:solidFill>
                  <a:srgbClr val="002060"/>
                </a:solidFill>
                <a:latin typeface="Times New Roman" panose="02020603050405020304" pitchFamily="18" charset="0"/>
                <a:cs typeface="Times New Roman" panose="02020603050405020304" pitchFamily="18" charset="0"/>
              </a:rPr>
              <a:t>(p150)  </a:t>
            </a:r>
            <a:r>
              <a:rPr lang="en-US" sz="2000" dirty="0">
                <a:solidFill>
                  <a:srgbClr val="7030A0"/>
                </a:solidFill>
                <a:latin typeface="+mn-lt"/>
                <a:cs typeface="Times New Roman" panose="02020603050405020304" pitchFamily="18" charset="0"/>
              </a:rPr>
              <a:t>Give All agents in New York a 10% raise in the percent commission they earn on an order.</a:t>
            </a:r>
          </a:p>
          <a:p>
            <a:pPr>
              <a:lnSpc>
                <a:spcPct val="120000"/>
              </a:lnSpc>
              <a:spcBef>
                <a:spcPts val="1200"/>
              </a:spcBef>
            </a:pPr>
            <a:endParaRPr lang="en-US" sz="2000" dirty="0">
              <a:solidFill>
                <a:srgbClr val="7030A0"/>
              </a:solidFill>
              <a:latin typeface="+mn-lt"/>
              <a:cs typeface="Times New Roman" panose="02020603050405020304" pitchFamily="18" charset="0"/>
            </a:endParaRPr>
          </a:p>
          <a:p>
            <a:pPr>
              <a:lnSpc>
                <a:spcPct val="120000"/>
              </a:lnSpc>
              <a:spcBef>
                <a:spcPts val="1200"/>
              </a:spcBef>
            </a:pPr>
            <a:endParaRPr lang="en-US" sz="2000" dirty="0">
              <a:solidFill>
                <a:srgbClr val="7030A0"/>
              </a:solidFill>
              <a:latin typeface="+mn-lt"/>
              <a:cs typeface="Times New Roman" panose="02020603050405020304" pitchFamily="18" charset="0"/>
            </a:endParaRPr>
          </a:p>
          <a:p>
            <a:pPr>
              <a:lnSpc>
                <a:spcPct val="150000"/>
              </a:lnSpc>
              <a:spcBef>
                <a:spcPts val="600"/>
              </a:spcBef>
            </a:pPr>
            <a:r>
              <a:rPr lang="en-US" sz="22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UPDATE</a:t>
            </a:r>
            <a:r>
              <a:rPr lang="en-US" sz="2000" dirty="0">
                <a:solidFill>
                  <a:srgbClr val="002060"/>
                </a:solidFill>
                <a:latin typeface="Times New Roman" panose="02020603050405020304" pitchFamily="18" charset="0"/>
                <a:cs typeface="Times New Roman" panose="02020603050405020304" pitchFamily="18" charset="0"/>
              </a:rPr>
              <a:t>  agents  </a:t>
            </a:r>
            <a:r>
              <a:rPr lang="en-US" sz="2000" dirty="0">
                <a:solidFill>
                  <a:srgbClr val="C00000"/>
                </a:solidFill>
                <a:latin typeface="Times New Roman" panose="02020603050405020304" pitchFamily="18" charset="0"/>
                <a:cs typeface="Times New Roman" panose="02020603050405020304" pitchFamily="18" charset="0"/>
              </a:rPr>
              <a:t>SET</a:t>
            </a:r>
            <a:r>
              <a:rPr lang="en-US" sz="2000" dirty="0">
                <a:solidFill>
                  <a:srgbClr val="002060"/>
                </a:solidFill>
                <a:latin typeface="Times New Roman" panose="02020603050405020304" pitchFamily="18" charset="0"/>
                <a:cs typeface="Times New Roman" panose="02020603050405020304" pitchFamily="18" charset="0"/>
              </a:rPr>
              <a:t> percent = 1.1*percent </a:t>
            </a:r>
          </a:p>
          <a:p>
            <a:pPr>
              <a:lnSpc>
                <a:spcPct val="150000"/>
              </a:lnSpc>
            </a:pPr>
            <a:r>
              <a:rPr lang="en-US" sz="2000" dirty="0">
                <a:solidFill>
                  <a:srgbClr val="002060"/>
                </a:solidFill>
                <a:latin typeface="Times New Roman" panose="02020603050405020304" pitchFamily="18" charset="0"/>
                <a:cs typeface="Times New Roman" panose="02020603050405020304" pitchFamily="18" charset="0"/>
              </a:rPr>
              <a:t>		     	  </a:t>
            </a:r>
            <a:r>
              <a:rPr lang="en-US" sz="2000" dirty="0">
                <a:solidFill>
                  <a:srgbClr val="C00000"/>
                </a:solidFill>
                <a:latin typeface="Times New Roman" panose="02020603050405020304" pitchFamily="18" charset="0"/>
                <a:cs typeface="Times New Roman" panose="02020603050405020304" pitchFamily="18" charset="0"/>
              </a:rPr>
              <a:t>WHERE</a:t>
            </a:r>
            <a:r>
              <a:rPr lang="en-US" sz="2000" dirty="0">
                <a:solidFill>
                  <a:srgbClr val="002060"/>
                </a:solidFill>
                <a:latin typeface="Times New Roman" panose="02020603050405020304" pitchFamily="18" charset="0"/>
                <a:cs typeface="Times New Roman" panose="02020603050405020304" pitchFamily="18" charset="0"/>
              </a:rPr>
              <a:t> city = 'New York'; </a:t>
            </a:r>
          </a:p>
        </p:txBody>
      </p:sp>
      <p:sp>
        <p:nvSpPr>
          <p:cNvPr id="4" name="Rectangle 1"/>
          <p:cNvSpPr/>
          <p:nvPr/>
        </p:nvSpPr>
        <p:spPr>
          <a:xfrm>
            <a:off x="827584" y="179929"/>
            <a:ext cx="8136904"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3.10 Insert, Update and Delete statements</a:t>
            </a:r>
          </a:p>
        </p:txBody>
      </p:sp>
      <p:sp>
        <p:nvSpPr>
          <p:cNvPr id="5" name="矩形: 圆角 4">
            <a:extLst>
              <a:ext uri="{FF2B5EF4-FFF2-40B4-BE49-F238E27FC236}">
                <a16:creationId xmlns="" xmlns:a16="http://schemas.microsoft.com/office/drawing/2014/main" id="{ED078C9D-706A-4F0A-AD07-2248B07893C5}"/>
              </a:ext>
            </a:extLst>
          </p:cNvPr>
          <p:cNvSpPr/>
          <p:nvPr/>
        </p:nvSpPr>
        <p:spPr>
          <a:xfrm>
            <a:off x="4896036" y="3084736"/>
            <a:ext cx="2268252"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6" name="矩形: 圆角 5">
            <a:extLst>
              <a:ext uri="{FF2B5EF4-FFF2-40B4-BE49-F238E27FC236}">
                <a16:creationId xmlns="" xmlns:a16="http://schemas.microsoft.com/office/drawing/2014/main" id="{92D9A1F6-CCF6-4A66-A879-7F7CC4162544}"/>
              </a:ext>
            </a:extLst>
          </p:cNvPr>
          <p:cNvSpPr/>
          <p:nvPr/>
        </p:nvSpPr>
        <p:spPr>
          <a:xfrm>
            <a:off x="3059832" y="3097829"/>
            <a:ext cx="1584176" cy="261847"/>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wipe(left)">
                                      <p:cBhvr>
                                        <p:cTn id="7" dur="500"/>
                                        <p:tgtEl>
                                          <p:spTgt spid="3">
                                            <p:txEl>
                                              <p:pRg st="5" end="5"/>
                                            </p:txEl>
                                          </p:spTgt>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left)">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3">
                                            <p:txEl>
                                              <p:pRg st="8" end="8"/>
                                            </p:txEl>
                                          </p:spTgt>
                                        </p:tgtEl>
                                        <p:attrNameLst>
                                          <p:attrName>style.visibility</p:attrName>
                                        </p:attrNameLst>
                                      </p:cBhvr>
                                      <p:to>
                                        <p:strVal val="visible"/>
                                      </p:to>
                                    </p:set>
                                    <p:animEffect transition="in" filter="wipe(left)">
                                      <p:cBhvr>
                                        <p:cTn id="20" dur="500"/>
                                        <p:tgtEl>
                                          <p:spTgt spid="3">
                                            <p:txEl>
                                              <p:pRg st="8" end="8"/>
                                            </p:txEl>
                                          </p:spTgt>
                                        </p:tgtEl>
                                      </p:cBhvr>
                                    </p:animEffect>
                                  </p:childTnLst>
                                </p:cTn>
                              </p:par>
                              <p:par>
                                <p:cTn id="21" presetID="22" presetClass="entr" presetSubtype="8" fill="hold" nodeType="withEffect">
                                  <p:stCondLst>
                                    <p:cond delay="0"/>
                                  </p:stCondLst>
                                  <p:childTnLst>
                                    <p:set>
                                      <p:cBhvr>
                                        <p:cTn id="22" dur="1" fill="hold">
                                          <p:stCondLst>
                                            <p:cond delay="0"/>
                                          </p:stCondLst>
                                        </p:cTn>
                                        <p:tgtEl>
                                          <p:spTgt spid="3">
                                            <p:txEl>
                                              <p:pRg st="9" end="9"/>
                                            </p:txEl>
                                          </p:spTgt>
                                        </p:tgtEl>
                                        <p:attrNameLst>
                                          <p:attrName>style.visibility</p:attrName>
                                        </p:attrNameLst>
                                      </p:cBhvr>
                                      <p:to>
                                        <p:strVal val="visible"/>
                                      </p:to>
                                    </p:set>
                                    <p:animEffect transition="in" filter="wipe(left)">
                                      <p:cBhvr>
                                        <p:cTn id="23"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6712"/>
            <a:ext cx="9144000" cy="954107"/>
          </a:xfrm>
          <a:prstGeom prst="rect">
            <a:avLst/>
          </a:prstGeom>
        </p:spPr>
        <p:txBody>
          <a:bodyPr wrap="square">
            <a:spAutoFit/>
          </a:bodyPr>
          <a:lstStyle/>
          <a:p>
            <a:pPr>
              <a:lnSpc>
                <a:spcPct val="120000"/>
              </a:lnSpc>
              <a:spcBef>
                <a:spcPts val="600"/>
              </a:spcBef>
            </a:pPr>
            <a:r>
              <a:rPr lang="en-US" dirty="0">
                <a:solidFill>
                  <a:srgbClr val="7030A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[3] Example 3.10.5 </a:t>
            </a:r>
            <a:r>
              <a:rPr lang="en-US" sz="2000" dirty="0">
                <a:solidFill>
                  <a:srgbClr val="7030A0"/>
                </a:solidFill>
                <a:latin typeface="+mn-lt"/>
                <a:cs typeface="Times New Roman" panose="02020603050405020304" pitchFamily="18" charset="0"/>
              </a:rPr>
              <a:t>Update the </a:t>
            </a:r>
            <a:r>
              <a:rPr lang="en-US" sz="2000" i="1" dirty="0" err="1">
                <a:solidFill>
                  <a:srgbClr val="7030A0"/>
                </a:solidFill>
                <a:latin typeface="+mn-lt"/>
                <a:cs typeface="Times New Roman" panose="02020603050405020304" pitchFamily="18" charset="0"/>
              </a:rPr>
              <a:t>discnt</a:t>
            </a:r>
            <a:r>
              <a:rPr lang="en-US" sz="2000" dirty="0">
                <a:solidFill>
                  <a:srgbClr val="7030A0"/>
                </a:solidFill>
                <a:latin typeface="+mn-lt"/>
                <a:cs typeface="Times New Roman" panose="02020603050405020304" pitchFamily="18" charset="0"/>
              </a:rPr>
              <a:t> values in rows of the </a:t>
            </a:r>
            <a:r>
              <a:rPr lang="en-US" sz="2000" i="1" dirty="0" err="1">
                <a:solidFill>
                  <a:srgbClr val="7030A0"/>
                </a:solidFill>
                <a:latin typeface="+mn-lt"/>
                <a:cs typeface="Times New Roman" panose="02020603050405020304" pitchFamily="18" charset="0"/>
              </a:rPr>
              <a:t>Swcusts</a:t>
            </a:r>
            <a:r>
              <a:rPr lang="en-US" sz="2000" dirty="0">
                <a:solidFill>
                  <a:srgbClr val="7030A0"/>
                </a:solidFill>
                <a:latin typeface="+mn-lt"/>
                <a:cs typeface="Times New Roman" panose="02020603050405020304" pitchFamily="18" charset="0"/>
              </a:rPr>
              <a:t> table created in Example 3.10.2 with more up-to-date </a:t>
            </a:r>
            <a:r>
              <a:rPr lang="en-US" sz="2000" i="1" dirty="0" err="1">
                <a:solidFill>
                  <a:srgbClr val="7030A0"/>
                </a:solidFill>
                <a:latin typeface="+mn-lt"/>
                <a:cs typeface="Times New Roman" panose="02020603050405020304" pitchFamily="18" charset="0"/>
              </a:rPr>
              <a:t>discnt</a:t>
            </a:r>
            <a:r>
              <a:rPr lang="en-US" sz="2000" i="1" dirty="0">
                <a:solidFill>
                  <a:srgbClr val="7030A0"/>
                </a:solidFill>
                <a:latin typeface="+mn-lt"/>
                <a:cs typeface="Times New Roman" panose="02020603050405020304" pitchFamily="18" charset="0"/>
              </a:rPr>
              <a:t> </a:t>
            </a:r>
            <a:r>
              <a:rPr lang="en-US" sz="2000" dirty="0">
                <a:solidFill>
                  <a:srgbClr val="7030A0"/>
                </a:solidFill>
                <a:latin typeface="+mn-lt"/>
                <a:cs typeface="Times New Roman" panose="02020603050405020304" pitchFamily="18" charset="0"/>
              </a:rPr>
              <a:t>values from the customers table.</a:t>
            </a:r>
          </a:p>
        </p:txBody>
      </p:sp>
      <p:sp>
        <p:nvSpPr>
          <p:cNvPr id="4" name="Rectangle 1"/>
          <p:cNvSpPr/>
          <p:nvPr/>
        </p:nvSpPr>
        <p:spPr>
          <a:xfrm>
            <a:off x="827584" y="179929"/>
            <a:ext cx="8136904"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3.10 Insert, Update and Delete statements</a:t>
            </a:r>
          </a:p>
        </p:txBody>
      </p:sp>
      <p:sp>
        <p:nvSpPr>
          <p:cNvPr id="5" name="Rectangle 2">
            <a:extLst>
              <a:ext uri="{FF2B5EF4-FFF2-40B4-BE49-F238E27FC236}">
                <a16:creationId xmlns="" xmlns:a16="http://schemas.microsoft.com/office/drawing/2014/main" id="{EA9C1ED4-9271-434F-9859-ACCB800FAD87}"/>
              </a:ext>
            </a:extLst>
          </p:cNvPr>
          <p:cNvSpPr/>
          <p:nvPr/>
        </p:nvSpPr>
        <p:spPr>
          <a:xfrm>
            <a:off x="1726416" y="3361055"/>
            <a:ext cx="7382088" cy="1384995"/>
          </a:xfrm>
          <a:prstGeom prst="rect">
            <a:avLst/>
          </a:prstGeom>
        </p:spPr>
        <p:txBody>
          <a:bodyPr wrap="square">
            <a:spAutoFit/>
          </a:bodyPr>
          <a:lstStyle/>
          <a:p>
            <a:pPr>
              <a:spcBef>
                <a:spcPts val="300"/>
              </a:spcBef>
            </a:pPr>
            <a:r>
              <a:rPr lang="en-US" altLang="zh-CN" sz="2000" dirty="0">
                <a:solidFill>
                  <a:srgbClr val="7030A0"/>
                </a:solidFill>
                <a:latin typeface="Times New Roman" panose="02020603050405020304" pitchFamily="18" charset="0"/>
                <a:cs typeface="Times New Roman" panose="02020603050405020304" pitchFamily="18" charset="0"/>
              </a:rPr>
              <a:t>[2] Example 3.10.2  </a:t>
            </a:r>
            <a:r>
              <a:rPr lang="en-US" altLang="zh-CN" sz="1800" dirty="0">
                <a:solidFill>
                  <a:srgbClr val="7030A0"/>
                </a:solidFill>
                <a:latin typeface="+mn-lt"/>
                <a:cs typeface="Times New Roman" panose="02020603050405020304" pitchFamily="18" charset="0"/>
              </a:rPr>
              <a:t>Create a new table </a:t>
            </a:r>
            <a:r>
              <a:rPr lang="en-US" altLang="zh-CN" sz="1800" dirty="0" err="1">
                <a:solidFill>
                  <a:srgbClr val="7030A0"/>
                </a:solidFill>
                <a:latin typeface="+mn-lt"/>
                <a:cs typeface="Times New Roman" panose="02020603050405020304" pitchFamily="18" charset="0"/>
              </a:rPr>
              <a:t>Swcusts</a:t>
            </a:r>
            <a:r>
              <a:rPr lang="en-US" altLang="zh-CN" sz="1800" dirty="0">
                <a:solidFill>
                  <a:srgbClr val="7030A0"/>
                </a:solidFill>
                <a:latin typeface="+mn-lt"/>
                <a:cs typeface="Times New Roman" panose="02020603050405020304" pitchFamily="18" charset="0"/>
              </a:rPr>
              <a:t> of customers, and insert into all customers from Dallas and Austin</a:t>
            </a:r>
            <a:r>
              <a:rPr lang="en-US" altLang="zh-CN" sz="1800" dirty="0">
                <a:solidFill>
                  <a:srgbClr val="002060"/>
                </a:solidFill>
                <a:latin typeface="+mn-lt"/>
                <a:cs typeface="Times New Roman" panose="02020603050405020304" pitchFamily="18" charset="0"/>
              </a:rPr>
              <a:t>.</a:t>
            </a:r>
          </a:p>
          <a:p>
            <a:pPr>
              <a:spcBef>
                <a:spcPts val="600"/>
              </a:spcBef>
            </a:pPr>
            <a:r>
              <a:rPr lang="en-US" altLang="zh-CN" sz="1800" dirty="0">
                <a:solidFill>
                  <a:srgbClr val="C00000"/>
                </a:solidFill>
                <a:latin typeface="Times New Roman" panose="02020603050405020304" pitchFamily="18" charset="0"/>
                <a:cs typeface="Times New Roman" panose="02020603050405020304" pitchFamily="18" charset="0"/>
              </a:rPr>
              <a:t>      insert</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a:solidFill>
                  <a:srgbClr val="C00000"/>
                </a:solidFill>
                <a:latin typeface="Times New Roman" panose="02020603050405020304" pitchFamily="18" charset="0"/>
                <a:cs typeface="Times New Roman" panose="02020603050405020304" pitchFamily="18" charset="0"/>
              </a:rPr>
              <a:t>into</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err="1">
                <a:solidFill>
                  <a:srgbClr val="002060"/>
                </a:solidFill>
                <a:latin typeface="Times New Roman" panose="02020603050405020304" pitchFamily="18" charset="0"/>
                <a:cs typeface="Times New Roman" panose="02020603050405020304" pitchFamily="18" charset="0"/>
              </a:rPr>
              <a:t>swcusts</a:t>
            </a: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a:solidFill>
                  <a:srgbClr val="7030A0"/>
                </a:solidFill>
                <a:latin typeface="Times New Roman" panose="02020603050405020304" pitchFamily="18" charset="0"/>
                <a:cs typeface="Times New Roman" panose="02020603050405020304" pitchFamily="18" charset="0"/>
              </a:rPr>
              <a:t>select</a:t>
            </a:r>
            <a:r>
              <a:rPr lang="en-US" altLang="zh-CN" sz="1800" dirty="0">
                <a:solidFill>
                  <a:srgbClr val="002060"/>
                </a:solidFill>
                <a:latin typeface="Times New Roman" panose="02020603050405020304" pitchFamily="18" charset="0"/>
                <a:cs typeface="Times New Roman" panose="02020603050405020304" pitchFamily="18" charset="0"/>
              </a:rPr>
              <a:t> * </a:t>
            </a:r>
            <a:r>
              <a:rPr lang="en-US" altLang="zh-CN" sz="1800" dirty="0">
                <a:solidFill>
                  <a:srgbClr val="7030A0"/>
                </a:solidFill>
                <a:latin typeface="Times New Roman" panose="02020603050405020304" pitchFamily="18" charset="0"/>
                <a:cs typeface="Times New Roman" panose="02020603050405020304" pitchFamily="18" charset="0"/>
              </a:rPr>
              <a:t>from</a:t>
            </a:r>
            <a:r>
              <a:rPr lang="en-US" altLang="zh-CN" sz="1800" dirty="0">
                <a:solidFill>
                  <a:srgbClr val="002060"/>
                </a:solidFill>
                <a:latin typeface="Times New Roman" panose="02020603050405020304" pitchFamily="18" charset="0"/>
                <a:cs typeface="Times New Roman" panose="02020603050405020304" pitchFamily="18" charset="0"/>
              </a:rPr>
              <a:t> customers</a:t>
            </a:r>
          </a:p>
          <a:p>
            <a:pPr>
              <a:spcBef>
                <a:spcPts val="600"/>
              </a:spcBef>
            </a:pPr>
            <a:r>
              <a:rPr lang="en-US" altLang="zh-CN" sz="1800" dirty="0">
                <a:solidFill>
                  <a:srgbClr val="002060"/>
                </a:solidFill>
                <a:latin typeface="Times New Roman" panose="02020603050405020304" pitchFamily="18" charset="0"/>
                <a:cs typeface="Times New Roman" panose="02020603050405020304" pitchFamily="18" charset="0"/>
              </a:rPr>
              <a:t>			          </a:t>
            </a:r>
            <a:r>
              <a:rPr lang="en-US" altLang="zh-CN" sz="1800" dirty="0">
                <a:solidFill>
                  <a:srgbClr val="7030A0"/>
                </a:solidFill>
                <a:latin typeface="Times New Roman" panose="02020603050405020304" pitchFamily="18" charset="0"/>
                <a:cs typeface="Times New Roman" panose="02020603050405020304" pitchFamily="18" charset="0"/>
              </a:rPr>
              <a:t>where</a:t>
            </a:r>
            <a:r>
              <a:rPr lang="en-US" altLang="zh-CN" sz="1800" dirty="0">
                <a:solidFill>
                  <a:srgbClr val="002060"/>
                </a:solidFill>
                <a:latin typeface="Times New Roman" panose="02020603050405020304" pitchFamily="18" charset="0"/>
                <a:cs typeface="Times New Roman" panose="02020603050405020304" pitchFamily="18" charset="0"/>
              </a:rPr>
              <a:t> city in ('Dallas', 'Austin') );                                                                              </a:t>
            </a:r>
            <a:endParaRPr lang="en-US" sz="1800" dirty="0">
              <a:solidFill>
                <a:srgbClr val="C00000"/>
              </a:solidFill>
              <a:latin typeface="Times New Roman" panose="02020603050405020304" pitchFamily="18" charset="0"/>
              <a:cs typeface="Times New Roman" panose="02020603050405020304" pitchFamily="18" charset="0"/>
            </a:endParaRPr>
          </a:p>
        </p:txBody>
      </p:sp>
      <p:sp>
        <p:nvSpPr>
          <p:cNvPr id="6" name="Rectangle 2">
            <a:extLst>
              <a:ext uri="{FF2B5EF4-FFF2-40B4-BE49-F238E27FC236}">
                <a16:creationId xmlns="" xmlns:a16="http://schemas.microsoft.com/office/drawing/2014/main" id="{5398F3C9-73A2-4925-9447-067E63E6F91E}"/>
              </a:ext>
            </a:extLst>
          </p:cNvPr>
          <p:cNvSpPr/>
          <p:nvPr/>
        </p:nvSpPr>
        <p:spPr>
          <a:xfrm>
            <a:off x="323528" y="4998250"/>
            <a:ext cx="8784976" cy="951030"/>
          </a:xfrm>
          <a:prstGeom prst="rect">
            <a:avLst/>
          </a:prstGeom>
        </p:spPr>
        <p:txBody>
          <a:bodyPr wrap="square">
            <a:spAutoFit/>
          </a:bodyPr>
          <a:lstStyle/>
          <a:p>
            <a:pPr>
              <a:lnSpc>
                <a:spcPct val="120000"/>
              </a:lnSpc>
              <a:spcBef>
                <a:spcPts val="600"/>
              </a:spcBef>
            </a:pPr>
            <a:r>
              <a:rPr lang="en-US" sz="2400" dirty="0">
                <a:solidFill>
                  <a:srgbClr val="002060"/>
                </a:solidFill>
                <a:latin typeface="Times New Roman" panose="02020603050405020304" pitchFamily="18" charset="0"/>
                <a:cs typeface="Times New Roman" panose="02020603050405020304" pitchFamily="18" charset="0"/>
              </a:rPr>
              <a:t>	</a:t>
            </a:r>
            <a:r>
              <a:rPr lang="en-US" sz="2200" dirty="0">
                <a:solidFill>
                  <a:srgbClr val="C00000"/>
                </a:solidFill>
                <a:latin typeface="Times New Roman" panose="02020603050405020304" pitchFamily="18" charset="0"/>
                <a:cs typeface="Times New Roman" panose="02020603050405020304" pitchFamily="18" charset="0"/>
              </a:rPr>
              <a:t>update</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err="1">
                <a:solidFill>
                  <a:srgbClr val="002060"/>
                </a:solidFill>
                <a:latin typeface="Times New Roman" panose="02020603050405020304" pitchFamily="18" charset="0"/>
                <a:cs typeface="Times New Roman" panose="02020603050405020304" pitchFamily="18" charset="0"/>
              </a:rPr>
              <a:t>swcusts</a:t>
            </a:r>
            <a:r>
              <a:rPr lang="en-US" sz="2200" dirty="0">
                <a:solidFill>
                  <a:srgbClr val="002060"/>
                </a:solidFill>
                <a:latin typeface="Times New Roman" panose="02020603050405020304" pitchFamily="18" charset="0"/>
                <a:cs typeface="Times New Roman" panose="02020603050405020304" pitchFamily="18" charset="0"/>
              </a:rPr>
              <a:t> s </a:t>
            </a:r>
            <a:r>
              <a:rPr lang="en-US" altLang="zh-CN" sz="2200" dirty="0">
                <a:solidFill>
                  <a:srgbClr val="C00000"/>
                </a:solidFill>
                <a:latin typeface="Times New Roman" panose="02020603050405020304" pitchFamily="18" charset="0"/>
                <a:cs typeface="Times New Roman" panose="02020603050405020304" pitchFamily="18" charset="0"/>
              </a:rPr>
              <a:t>set</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err="1">
                <a:solidFill>
                  <a:srgbClr val="002060"/>
                </a:solidFill>
                <a:latin typeface="Times New Roman" panose="02020603050405020304" pitchFamily="18" charset="0"/>
                <a:cs typeface="Times New Roman" panose="02020603050405020304" pitchFamily="18" charset="0"/>
              </a:rPr>
              <a:t>discnt</a:t>
            </a:r>
            <a:r>
              <a:rPr lang="en-US" altLang="zh-CN" sz="2200" dirty="0">
                <a:solidFill>
                  <a:srgbClr val="002060"/>
                </a:solidFill>
                <a:latin typeface="Times New Roman" panose="02020603050405020304" pitchFamily="18" charset="0"/>
                <a:cs typeface="Times New Roman" panose="02020603050405020304" pitchFamily="18" charset="0"/>
              </a:rPr>
              <a:t>=(</a:t>
            </a:r>
            <a:r>
              <a:rPr lang="en-US" altLang="zh-CN" sz="2200" dirty="0">
                <a:solidFill>
                  <a:srgbClr val="7030A0"/>
                </a:solidFill>
                <a:latin typeface="Times New Roman" panose="02020603050405020304" pitchFamily="18" charset="0"/>
                <a:cs typeface="Times New Roman" panose="02020603050405020304" pitchFamily="18" charset="0"/>
              </a:rPr>
              <a:t>select</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err="1">
                <a:solidFill>
                  <a:srgbClr val="002060"/>
                </a:solidFill>
                <a:latin typeface="Times New Roman" panose="02020603050405020304" pitchFamily="18" charset="0"/>
                <a:cs typeface="Times New Roman" panose="02020603050405020304" pitchFamily="18" charset="0"/>
              </a:rPr>
              <a:t>discnt</a:t>
            </a:r>
            <a:r>
              <a:rPr lang="en-US" altLang="zh-CN" sz="2200" dirty="0">
                <a:solidFill>
                  <a:srgbClr val="002060"/>
                </a:solidFill>
                <a:latin typeface="Times New Roman" panose="02020603050405020304" pitchFamily="18" charset="0"/>
                <a:cs typeface="Times New Roman" panose="02020603050405020304" pitchFamily="18" charset="0"/>
              </a:rPr>
              <a:t> </a:t>
            </a:r>
            <a:r>
              <a:rPr lang="en-US" altLang="zh-CN" sz="2200" dirty="0">
                <a:solidFill>
                  <a:srgbClr val="7030A0"/>
                </a:solidFill>
                <a:latin typeface="Times New Roman" panose="02020603050405020304" pitchFamily="18" charset="0"/>
                <a:cs typeface="Times New Roman" panose="02020603050405020304" pitchFamily="18" charset="0"/>
              </a:rPr>
              <a:t>from</a:t>
            </a:r>
            <a:r>
              <a:rPr lang="en-US" altLang="zh-CN" sz="2200" dirty="0">
                <a:solidFill>
                  <a:srgbClr val="002060"/>
                </a:solidFill>
                <a:latin typeface="Times New Roman" panose="02020603050405020304" pitchFamily="18" charset="0"/>
                <a:cs typeface="Times New Roman" panose="02020603050405020304" pitchFamily="18" charset="0"/>
              </a:rPr>
              <a:t> customers c</a:t>
            </a:r>
          </a:p>
          <a:p>
            <a:pPr>
              <a:spcBef>
                <a:spcPts val="600"/>
              </a:spcBef>
            </a:pPr>
            <a:r>
              <a:rPr lang="en-US" sz="2200" dirty="0">
                <a:solidFill>
                  <a:srgbClr val="002060"/>
                </a:solidFill>
                <a:latin typeface="Times New Roman" panose="02020603050405020304" pitchFamily="18" charset="0"/>
                <a:cs typeface="Times New Roman" panose="02020603050405020304" pitchFamily="18" charset="0"/>
              </a:rPr>
              <a:t>					    	</a:t>
            </a:r>
            <a:r>
              <a:rPr lang="en-US" sz="2200" dirty="0">
                <a:solidFill>
                  <a:srgbClr val="7030A0"/>
                </a:solidFill>
                <a:latin typeface="Times New Roman" panose="02020603050405020304" pitchFamily="18" charset="0"/>
                <a:cs typeface="Times New Roman" panose="02020603050405020304" pitchFamily="18" charset="0"/>
              </a:rPr>
              <a:t>where</a:t>
            </a:r>
            <a:r>
              <a:rPr lang="en-US" sz="2200" dirty="0">
                <a:solidFill>
                  <a:srgbClr val="002060"/>
                </a:solidFill>
                <a:latin typeface="Times New Roman" panose="02020603050405020304" pitchFamily="18" charset="0"/>
                <a:cs typeface="Times New Roman" panose="02020603050405020304" pitchFamily="18" charset="0"/>
              </a:rPr>
              <a:t> </a:t>
            </a:r>
            <a:r>
              <a:rPr lang="en-US" sz="2200" dirty="0" err="1">
                <a:solidFill>
                  <a:srgbClr val="002060"/>
                </a:solidFill>
                <a:highlight>
                  <a:srgbClr val="FFFF00"/>
                </a:highlight>
                <a:latin typeface="Times New Roman" panose="02020603050405020304" pitchFamily="18" charset="0"/>
                <a:cs typeface="Times New Roman" panose="02020603050405020304" pitchFamily="18" charset="0"/>
              </a:rPr>
              <a:t>c.cid</a:t>
            </a:r>
            <a:r>
              <a:rPr lang="en-US" sz="2200" dirty="0">
                <a:solidFill>
                  <a:srgbClr val="002060"/>
                </a:solidFill>
                <a:highlight>
                  <a:srgbClr val="FFFF00"/>
                </a:highlight>
                <a:latin typeface="Times New Roman" panose="02020603050405020304" pitchFamily="18" charset="0"/>
                <a:cs typeface="Times New Roman" panose="02020603050405020304" pitchFamily="18" charset="0"/>
              </a:rPr>
              <a:t> = </a:t>
            </a:r>
            <a:r>
              <a:rPr lang="en-US" sz="2200" dirty="0" err="1">
                <a:solidFill>
                  <a:srgbClr val="002060"/>
                </a:solidFill>
                <a:highlight>
                  <a:srgbClr val="FFFF00"/>
                </a:highlight>
                <a:latin typeface="Times New Roman" panose="02020603050405020304" pitchFamily="18" charset="0"/>
                <a:cs typeface="Times New Roman" panose="02020603050405020304" pitchFamily="18" charset="0"/>
              </a:rPr>
              <a:t>s.cid</a:t>
            </a:r>
            <a:r>
              <a:rPr lang="en-US" sz="2200" dirty="0">
                <a:solidFill>
                  <a:srgbClr val="002060"/>
                </a:solidFill>
                <a:latin typeface="Times New Roman" panose="02020603050405020304" pitchFamily="18" charset="0"/>
                <a:cs typeface="Times New Roman" panose="02020603050405020304" pitchFamily="18" charset="0"/>
              </a:rPr>
              <a:t> );</a:t>
            </a:r>
          </a:p>
        </p:txBody>
      </p:sp>
      <p:sp>
        <p:nvSpPr>
          <p:cNvPr id="7" name="矩形: 圆角 6">
            <a:extLst>
              <a:ext uri="{FF2B5EF4-FFF2-40B4-BE49-F238E27FC236}">
                <a16:creationId xmlns="" xmlns:a16="http://schemas.microsoft.com/office/drawing/2014/main" id="{DC709A85-5B6A-40B5-9CFE-35823EE1E0FB}"/>
              </a:ext>
            </a:extLst>
          </p:cNvPr>
          <p:cNvSpPr/>
          <p:nvPr/>
        </p:nvSpPr>
        <p:spPr>
          <a:xfrm>
            <a:off x="3149208" y="1441615"/>
            <a:ext cx="5239216"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8" name="矩形: 圆角 7">
            <a:extLst>
              <a:ext uri="{FF2B5EF4-FFF2-40B4-BE49-F238E27FC236}">
                <a16:creationId xmlns="" xmlns:a16="http://schemas.microsoft.com/office/drawing/2014/main" id="{CB238833-74BD-4BC8-8F07-875E7C8076B2}"/>
              </a:ext>
            </a:extLst>
          </p:cNvPr>
          <p:cNvSpPr/>
          <p:nvPr/>
        </p:nvSpPr>
        <p:spPr>
          <a:xfrm>
            <a:off x="2483768" y="1075053"/>
            <a:ext cx="4968552" cy="184483"/>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left)">
                                      <p:cBhvr>
                                        <p:cTn id="7" dur="500"/>
                                        <p:tgtEl>
                                          <p:spTgt spid="8"/>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wipe(left)">
                                      <p:cBhvr>
                                        <p:cTn id="16" dur="500"/>
                                        <p:tgtEl>
                                          <p:spTgt spid="5"/>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nodeType="clickEffect">
                                  <p:stCondLst>
                                    <p:cond delay="0"/>
                                  </p:stCondLst>
                                  <p:childTnLst>
                                    <p:set>
                                      <p:cBhvr>
                                        <p:cTn id="20" dur="1" fill="hold">
                                          <p:stCondLst>
                                            <p:cond delay="0"/>
                                          </p:stCondLst>
                                        </p:cTn>
                                        <p:tgtEl>
                                          <p:spTgt spid="6">
                                            <p:txEl>
                                              <p:pRg st="0" end="0"/>
                                            </p:txEl>
                                          </p:spTgt>
                                        </p:tgtEl>
                                        <p:attrNameLst>
                                          <p:attrName>style.visibility</p:attrName>
                                        </p:attrNameLst>
                                      </p:cBhvr>
                                      <p:to>
                                        <p:strVal val="visible"/>
                                      </p:to>
                                    </p:set>
                                    <p:animEffect transition="in" filter="wipe(left)">
                                      <p:cBhvr>
                                        <p:cTn id="21" dur="500"/>
                                        <p:tgtEl>
                                          <p:spTgt spid="6">
                                            <p:txEl>
                                              <p:pRg st="0" end="0"/>
                                            </p:txEl>
                                          </p:spTgt>
                                        </p:tgtEl>
                                      </p:cBhvr>
                                    </p:animEffect>
                                  </p:childTnLst>
                                </p:cTn>
                              </p:par>
                              <p:par>
                                <p:cTn id="22" presetID="22" presetClass="entr" presetSubtype="8" fill="hold" nodeType="withEffect">
                                  <p:stCondLst>
                                    <p:cond delay="0"/>
                                  </p:stCondLst>
                                  <p:childTnLst>
                                    <p:set>
                                      <p:cBhvr>
                                        <p:cTn id="23" dur="1" fill="hold">
                                          <p:stCondLst>
                                            <p:cond delay="0"/>
                                          </p:stCondLst>
                                        </p:cTn>
                                        <p:tgtEl>
                                          <p:spTgt spid="6">
                                            <p:txEl>
                                              <p:pRg st="1" end="1"/>
                                            </p:txEl>
                                          </p:spTgt>
                                        </p:tgtEl>
                                        <p:attrNameLst>
                                          <p:attrName>style.visibility</p:attrName>
                                        </p:attrNameLst>
                                      </p:cBhvr>
                                      <p:to>
                                        <p:strVal val="visible"/>
                                      </p:to>
                                    </p:set>
                                    <p:animEffect transition="in" filter="wipe(left)">
                                      <p:cBhvr>
                                        <p:cTn id="24" dur="500"/>
                                        <p:tgtEl>
                                          <p:spTgt spid="6">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836712"/>
            <a:ext cx="9144000" cy="1902059"/>
          </a:xfrm>
          <a:prstGeom prst="rect">
            <a:avLst/>
          </a:prstGeom>
        </p:spPr>
        <p:txBody>
          <a:bodyPr wrap="square">
            <a:spAutoFit/>
          </a:bodyPr>
          <a:lstStyle/>
          <a:p>
            <a:pPr>
              <a:lnSpc>
                <a:spcPct val="120000"/>
              </a:lnSpc>
              <a:spcBef>
                <a:spcPts val="600"/>
              </a:spcBef>
            </a:pPr>
            <a:r>
              <a:rPr lang="en-US" dirty="0">
                <a:solidFill>
                  <a:srgbClr val="7030A0"/>
                </a:solidFill>
                <a:latin typeface="Times New Roman" panose="02020603050405020304" pitchFamily="18" charset="0"/>
                <a:cs typeface="Times New Roman" panose="02020603050405020304" pitchFamily="18" charset="0"/>
              </a:rPr>
              <a:t> </a:t>
            </a:r>
            <a:r>
              <a:rPr lang="en-US" altLang="zh-CN" sz="2400" dirty="0">
                <a:solidFill>
                  <a:srgbClr val="7030A0"/>
                </a:solidFill>
                <a:latin typeface="Times New Roman" panose="02020603050405020304" pitchFamily="18" charset="0"/>
                <a:cs typeface="Times New Roman" panose="02020603050405020304" pitchFamily="18" charset="0"/>
              </a:rPr>
              <a:t>3. Delete Statement </a:t>
            </a:r>
          </a:p>
          <a:p>
            <a:pPr>
              <a:spcBef>
                <a:spcPts val="600"/>
              </a:spcBef>
            </a:pPr>
            <a:r>
              <a:rPr lang="en-US" altLang="zh-CN" sz="2400" dirty="0">
                <a:solidFill>
                  <a:srgbClr val="7030A0"/>
                </a:solidFill>
                <a:latin typeface="Times New Roman" panose="02020603050405020304" pitchFamily="18" charset="0"/>
                <a:cs typeface="Times New Roman" panose="02020603050405020304" pitchFamily="18" charset="0"/>
              </a:rPr>
              <a:t>  </a:t>
            </a:r>
            <a:r>
              <a:rPr lang="en-US" altLang="zh-CN" sz="2000" dirty="0">
                <a:solidFill>
                  <a:srgbClr val="7030A0"/>
                </a:solidFill>
                <a:latin typeface="Times New Roman" panose="02020603050405020304" pitchFamily="18" charset="0"/>
                <a:cs typeface="Times New Roman" panose="02020603050405020304" pitchFamily="18" charset="0"/>
              </a:rPr>
              <a:t>[1] Form:     </a:t>
            </a:r>
            <a:r>
              <a:rPr lang="en-US" altLang="zh-CN" sz="2000" dirty="0">
                <a:solidFill>
                  <a:srgbClr val="C00000"/>
                </a:solidFill>
                <a:latin typeface="Times New Roman" panose="02020603050405020304" pitchFamily="18" charset="0"/>
                <a:cs typeface="Times New Roman" panose="02020603050405020304" pitchFamily="18" charset="0"/>
              </a:rPr>
              <a:t>DELETE  FROM  </a:t>
            </a:r>
            <a:r>
              <a:rPr lang="en-US" altLang="zh-CN" sz="2000" dirty="0" err="1">
                <a:solidFill>
                  <a:srgbClr val="002060"/>
                </a:solidFill>
                <a:latin typeface="Times New Roman" panose="02020603050405020304" pitchFamily="18" charset="0"/>
                <a:cs typeface="Times New Roman" panose="02020603050405020304" pitchFamily="18" charset="0"/>
              </a:rPr>
              <a:t>tablename</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WHERE</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err="1">
                <a:solidFill>
                  <a:srgbClr val="002060"/>
                </a:solidFill>
                <a:latin typeface="Times New Roman" panose="02020603050405020304" pitchFamily="18" charset="0"/>
                <a:cs typeface="Times New Roman" panose="02020603050405020304" pitchFamily="18" charset="0"/>
              </a:rPr>
              <a:t>search_condition</a:t>
            </a:r>
            <a:r>
              <a:rPr lang="en-US" altLang="zh-CN" sz="2000" dirty="0">
                <a:solidFill>
                  <a:srgbClr val="002060"/>
                </a:solidFill>
                <a:latin typeface="Times New Roman" panose="02020603050405020304" pitchFamily="18" charset="0"/>
                <a:cs typeface="Times New Roman" panose="02020603050405020304" pitchFamily="18" charset="0"/>
              </a:rPr>
              <a:t>];</a:t>
            </a:r>
          </a:p>
          <a:p>
            <a:pPr>
              <a:spcBef>
                <a:spcPts val="1200"/>
              </a:spcBef>
            </a:pP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7030A0"/>
                </a:solidFill>
                <a:latin typeface="Times New Roman" panose="02020603050405020304" pitchFamily="18" charset="0"/>
                <a:cs typeface="Times New Roman" panose="02020603050405020304" pitchFamily="18" charset="0"/>
              </a:rPr>
              <a:t>[2] Example 3.10.6 </a:t>
            </a:r>
            <a:r>
              <a:rPr lang="en-US" altLang="zh-CN" sz="1100" dirty="0">
                <a:solidFill>
                  <a:srgbClr val="002060"/>
                </a:solidFill>
                <a:latin typeface="Times New Roman" panose="02020603050405020304" pitchFamily="18" charset="0"/>
                <a:cs typeface="Times New Roman" panose="02020603050405020304" pitchFamily="18" charset="0"/>
              </a:rPr>
              <a:t>(p151)  </a:t>
            </a:r>
            <a:r>
              <a:rPr lang="en-US" altLang="zh-CN" sz="2000" dirty="0">
                <a:solidFill>
                  <a:srgbClr val="7030A0"/>
                </a:solidFill>
                <a:latin typeface="+mn-lt"/>
                <a:cs typeface="Times New Roman" panose="02020603050405020304" pitchFamily="18" charset="0"/>
              </a:rPr>
              <a:t>Delete all agents in New York.</a:t>
            </a:r>
          </a:p>
          <a:p>
            <a:pPr>
              <a:spcBef>
                <a:spcPts val="600"/>
              </a:spcBef>
              <a:spcAft>
                <a:spcPts val="0"/>
              </a:spcAft>
            </a:pP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delete</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from</a:t>
            </a:r>
            <a:r>
              <a:rPr lang="en-US" altLang="zh-CN" sz="2000" dirty="0">
                <a:solidFill>
                  <a:srgbClr val="002060"/>
                </a:solidFill>
                <a:latin typeface="Times New Roman" panose="02020603050405020304" pitchFamily="18" charset="0"/>
                <a:cs typeface="Times New Roman" panose="02020603050405020304" pitchFamily="18" charset="0"/>
              </a:rPr>
              <a:t> agents </a:t>
            </a:r>
            <a:r>
              <a:rPr lang="en-US" altLang="zh-CN" sz="2000" dirty="0">
                <a:solidFill>
                  <a:srgbClr val="C00000"/>
                </a:solidFill>
                <a:latin typeface="Times New Roman" panose="02020603050405020304" pitchFamily="18" charset="0"/>
                <a:cs typeface="Times New Roman" panose="02020603050405020304" pitchFamily="18" charset="0"/>
              </a:rPr>
              <a:t>where</a:t>
            </a:r>
            <a:r>
              <a:rPr lang="en-US" altLang="zh-CN" sz="2000" dirty="0">
                <a:solidFill>
                  <a:srgbClr val="002060"/>
                </a:solidFill>
                <a:latin typeface="Times New Roman" panose="02020603050405020304" pitchFamily="18" charset="0"/>
                <a:cs typeface="Times New Roman" panose="02020603050405020304" pitchFamily="18" charset="0"/>
              </a:rPr>
              <a:t> city = 'New York';</a:t>
            </a:r>
          </a:p>
        </p:txBody>
      </p:sp>
      <p:sp>
        <p:nvSpPr>
          <p:cNvPr id="4" name="Rectangle 1"/>
          <p:cNvSpPr/>
          <p:nvPr/>
        </p:nvSpPr>
        <p:spPr>
          <a:xfrm>
            <a:off x="827584" y="179929"/>
            <a:ext cx="8136904"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3.10 Insert, Update and Delete statements</a:t>
            </a:r>
          </a:p>
        </p:txBody>
      </p:sp>
      <p:sp>
        <p:nvSpPr>
          <p:cNvPr id="5" name="Rectangle 2">
            <a:extLst>
              <a:ext uri="{FF2B5EF4-FFF2-40B4-BE49-F238E27FC236}">
                <a16:creationId xmlns="" xmlns:a16="http://schemas.microsoft.com/office/drawing/2014/main" id="{27D5F9FF-121D-4F40-8445-A86B921543AA}"/>
              </a:ext>
            </a:extLst>
          </p:cNvPr>
          <p:cNvSpPr/>
          <p:nvPr/>
        </p:nvSpPr>
        <p:spPr>
          <a:xfrm>
            <a:off x="40536" y="2908510"/>
            <a:ext cx="9144000" cy="3288080"/>
          </a:xfrm>
          <a:prstGeom prst="rect">
            <a:avLst/>
          </a:prstGeom>
        </p:spPr>
        <p:txBody>
          <a:bodyPr wrap="square">
            <a:spAutoFit/>
          </a:bodyPr>
          <a:lstStyle/>
          <a:p>
            <a:pPr>
              <a:spcBef>
                <a:spcPts val="1200"/>
              </a:spcBef>
            </a:pPr>
            <a:r>
              <a:rPr lang="en-US" altLang="zh-CN" sz="2000" dirty="0">
                <a:solidFill>
                  <a:srgbClr val="7030A0"/>
                </a:solidFill>
                <a:latin typeface="Times New Roman" panose="02020603050405020304" pitchFamily="18" charset="0"/>
                <a:cs typeface="Times New Roman" panose="02020603050405020304" pitchFamily="18" charset="0"/>
              </a:rPr>
              <a:t>[3] Example 3.10.7 </a:t>
            </a:r>
            <a:r>
              <a:rPr lang="en-US" altLang="zh-CN" sz="2000" dirty="0">
                <a:solidFill>
                  <a:srgbClr val="7030A0"/>
                </a:solidFill>
                <a:latin typeface="+mn-lt"/>
                <a:cs typeface="Times New Roman" panose="02020603050405020304" pitchFamily="18" charset="0"/>
              </a:rPr>
              <a:t>Delete agents who have total orders of less than $600.</a:t>
            </a:r>
          </a:p>
          <a:p>
            <a:pPr>
              <a:spcBef>
                <a:spcPts val="1000"/>
              </a:spcBef>
            </a:pPr>
            <a:r>
              <a:rPr lang="en-US" altLang="zh-CN" sz="2000" dirty="0">
                <a:solidFill>
                  <a:srgbClr val="002060"/>
                </a:solidFill>
                <a:latin typeface="Times New Roman" panose="02020603050405020304" pitchFamily="18" charset="0"/>
                <a:cs typeface="Times New Roman" panose="02020603050405020304" pitchFamily="18" charset="0"/>
              </a:rPr>
              <a:t>     	     </a:t>
            </a:r>
            <a:endParaRPr lang="en-US" altLang="zh-CN" sz="1400" dirty="0">
              <a:solidFill>
                <a:srgbClr val="002060"/>
              </a:solidFill>
              <a:latin typeface="Times New Roman" panose="02020603050405020304" pitchFamily="18" charset="0"/>
              <a:cs typeface="Times New Roman" panose="02020603050405020304" pitchFamily="18" charset="0"/>
            </a:endParaRPr>
          </a:p>
          <a:p>
            <a:pPr>
              <a:spcBef>
                <a:spcPts val="1000"/>
              </a:spcBef>
            </a:pPr>
            <a:endParaRPr lang="en-US" altLang="zh-CN" sz="1400" dirty="0">
              <a:solidFill>
                <a:srgbClr val="002060"/>
              </a:solidFill>
              <a:latin typeface="Times New Roman" panose="02020603050405020304" pitchFamily="18" charset="0"/>
              <a:cs typeface="Times New Roman" panose="02020603050405020304" pitchFamily="18" charset="0"/>
            </a:endParaRPr>
          </a:p>
          <a:p>
            <a:pPr>
              <a:spcBef>
                <a:spcPts val="1000"/>
              </a:spcBef>
            </a:pPr>
            <a:endParaRPr lang="en-US" altLang="zh-CN" sz="1400" dirty="0">
              <a:solidFill>
                <a:srgbClr val="002060"/>
              </a:solidFill>
              <a:latin typeface="Times New Roman" panose="02020603050405020304" pitchFamily="18" charset="0"/>
              <a:cs typeface="Times New Roman" panose="02020603050405020304" pitchFamily="18" charset="0"/>
            </a:endParaRPr>
          </a:p>
          <a:p>
            <a:pPr>
              <a:spcBef>
                <a:spcPts val="1000"/>
              </a:spcBef>
            </a:pPr>
            <a:endParaRPr lang="en-US" altLang="zh-CN" sz="1400" dirty="0">
              <a:solidFill>
                <a:srgbClr val="002060"/>
              </a:solidFill>
              <a:latin typeface="Times New Roman" panose="02020603050405020304" pitchFamily="18" charset="0"/>
              <a:cs typeface="Times New Roman" panose="02020603050405020304" pitchFamily="18" charset="0"/>
            </a:endParaRPr>
          </a:p>
          <a:p>
            <a:pPr>
              <a:spcBef>
                <a:spcPts val="1000"/>
              </a:spcBef>
            </a:pPr>
            <a:endParaRPr lang="en-US" altLang="zh-CN" sz="1400" dirty="0">
              <a:solidFill>
                <a:srgbClr val="002060"/>
              </a:solidFill>
              <a:latin typeface="Times New Roman" panose="02020603050405020304" pitchFamily="18" charset="0"/>
              <a:cs typeface="Times New Roman" panose="02020603050405020304" pitchFamily="18" charset="0"/>
            </a:endParaRPr>
          </a:p>
          <a:p>
            <a:pPr>
              <a:spcBef>
                <a:spcPts val="1000"/>
              </a:spcBef>
            </a:pP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delete</a:t>
            </a: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C00000"/>
                </a:solidFill>
                <a:latin typeface="Times New Roman" panose="02020603050405020304" pitchFamily="18" charset="0"/>
                <a:cs typeface="Times New Roman" panose="02020603050405020304" pitchFamily="18" charset="0"/>
              </a:rPr>
              <a:t>from</a:t>
            </a:r>
            <a:r>
              <a:rPr lang="en-US" altLang="zh-CN" sz="2000" dirty="0">
                <a:solidFill>
                  <a:srgbClr val="002060"/>
                </a:solidFill>
                <a:latin typeface="Times New Roman" panose="02020603050405020304" pitchFamily="18" charset="0"/>
                <a:cs typeface="Times New Roman" panose="02020603050405020304" pitchFamily="18" charset="0"/>
              </a:rPr>
              <a:t> agents </a:t>
            </a:r>
            <a:r>
              <a:rPr lang="en-US" altLang="zh-CN" sz="2000" dirty="0">
                <a:solidFill>
                  <a:srgbClr val="C00000"/>
                </a:solidFill>
                <a:latin typeface="Times New Roman" panose="02020603050405020304" pitchFamily="18" charset="0"/>
                <a:cs typeface="Times New Roman" panose="02020603050405020304" pitchFamily="18" charset="0"/>
              </a:rPr>
              <a:t>where</a:t>
            </a:r>
            <a:r>
              <a:rPr lang="en-US" altLang="zh-CN" sz="2000" dirty="0">
                <a:solidFill>
                  <a:srgbClr val="002060"/>
                </a:solidFill>
                <a:latin typeface="Times New Roman" panose="02020603050405020304" pitchFamily="18" charset="0"/>
                <a:cs typeface="Times New Roman" panose="02020603050405020304" pitchFamily="18" charset="0"/>
              </a:rPr>
              <a:t> aid in </a:t>
            </a:r>
          </a:p>
          <a:p>
            <a:pPr>
              <a:spcBef>
                <a:spcPts val="200"/>
              </a:spcBef>
            </a:pPr>
            <a:r>
              <a:rPr lang="en-US" altLang="zh-CN" sz="2000" dirty="0">
                <a:solidFill>
                  <a:srgbClr val="002060"/>
                </a:solidFill>
                <a:latin typeface="Times New Roman" panose="02020603050405020304" pitchFamily="18" charset="0"/>
                <a:cs typeface="Times New Roman" panose="02020603050405020304" pitchFamily="18" charset="0"/>
              </a:rPr>
              <a:t>			( </a:t>
            </a:r>
            <a:r>
              <a:rPr lang="en-US" altLang="zh-CN" sz="2000" dirty="0">
                <a:solidFill>
                  <a:srgbClr val="7030A0"/>
                </a:solidFill>
                <a:latin typeface="Times New Roman" panose="02020603050405020304" pitchFamily="18" charset="0"/>
                <a:cs typeface="Times New Roman" panose="02020603050405020304" pitchFamily="18" charset="0"/>
              </a:rPr>
              <a:t>select</a:t>
            </a:r>
            <a:r>
              <a:rPr lang="en-US" altLang="zh-CN" sz="2000" dirty="0">
                <a:solidFill>
                  <a:srgbClr val="002060"/>
                </a:solidFill>
                <a:latin typeface="Times New Roman" panose="02020603050405020304" pitchFamily="18" charset="0"/>
                <a:cs typeface="Times New Roman" panose="02020603050405020304" pitchFamily="18" charset="0"/>
              </a:rPr>
              <a:t> aid </a:t>
            </a:r>
            <a:r>
              <a:rPr lang="en-US" altLang="zh-CN" sz="2000" dirty="0">
                <a:solidFill>
                  <a:srgbClr val="7030A0"/>
                </a:solidFill>
                <a:latin typeface="Times New Roman" panose="02020603050405020304" pitchFamily="18" charset="0"/>
                <a:cs typeface="Times New Roman" panose="02020603050405020304" pitchFamily="18" charset="0"/>
              </a:rPr>
              <a:t>from</a:t>
            </a:r>
            <a:r>
              <a:rPr lang="en-US" altLang="zh-CN" sz="2000" dirty="0">
                <a:solidFill>
                  <a:srgbClr val="002060"/>
                </a:solidFill>
                <a:latin typeface="Times New Roman" panose="02020603050405020304" pitchFamily="18" charset="0"/>
                <a:cs typeface="Times New Roman" panose="02020603050405020304" pitchFamily="18" charset="0"/>
              </a:rPr>
              <a:t> orders</a:t>
            </a:r>
          </a:p>
          <a:p>
            <a:pPr>
              <a:spcBef>
                <a:spcPts val="0"/>
              </a:spcBef>
            </a:pPr>
            <a:r>
              <a:rPr lang="en-US" altLang="zh-CN" sz="2000" dirty="0">
                <a:solidFill>
                  <a:srgbClr val="002060"/>
                </a:solidFill>
                <a:latin typeface="Times New Roman" panose="02020603050405020304" pitchFamily="18" charset="0"/>
                <a:cs typeface="Times New Roman" panose="02020603050405020304" pitchFamily="18" charset="0"/>
              </a:rPr>
              <a:t>            		       		     </a:t>
            </a:r>
            <a:r>
              <a:rPr lang="en-US" altLang="zh-CN" sz="2000" dirty="0">
                <a:solidFill>
                  <a:srgbClr val="7030A0"/>
                </a:solidFill>
                <a:latin typeface="Times New Roman" panose="02020603050405020304" pitchFamily="18" charset="0"/>
                <a:cs typeface="Times New Roman" panose="02020603050405020304" pitchFamily="18" charset="0"/>
              </a:rPr>
              <a:t>group</a:t>
            </a:r>
            <a:r>
              <a:rPr lang="en-US" altLang="zh-CN" sz="2000" dirty="0">
                <a:solidFill>
                  <a:srgbClr val="002060"/>
                </a:solidFill>
                <a:latin typeface="Times New Roman" panose="02020603050405020304" pitchFamily="18" charset="0"/>
                <a:cs typeface="Times New Roman" panose="02020603050405020304" pitchFamily="18" charset="0"/>
              </a:rPr>
              <a:t> by aid </a:t>
            </a:r>
            <a:r>
              <a:rPr lang="en-US" altLang="zh-CN" sz="2000" dirty="0">
                <a:solidFill>
                  <a:srgbClr val="7030A0"/>
                </a:solidFill>
                <a:latin typeface="Times New Roman" panose="02020603050405020304" pitchFamily="18" charset="0"/>
                <a:cs typeface="Times New Roman" panose="02020603050405020304" pitchFamily="18" charset="0"/>
              </a:rPr>
              <a:t>having</a:t>
            </a:r>
            <a:r>
              <a:rPr lang="en-US" altLang="zh-CN" sz="2000" dirty="0">
                <a:solidFill>
                  <a:srgbClr val="002060"/>
                </a:solidFill>
                <a:latin typeface="Times New Roman" panose="02020603050405020304" pitchFamily="18" charset="0"/>
                <a:cs typeface="Times New Roman" panose="02020603050405020304" pitchFamily="18" charset="0"/>
              </a:rPr>
              <a:t> sum(dollars) &lt; 600 );</a:t>
            </a:r>
          </a:p>
        </p:txBody>
      </p:sp>
      <p:sp>
        <p:nvSpPr>
          <p:cNvPr id="7" name="箭头: 左弧形 6">
            <a:extLst>
              <a:ext uri="{FF2B5EF4-FFF2-40B4-BE49-F238E27FC236}">
                <a16:creationId xmlns="" xmlns:a16="http://schemas.microsoft.com/office/drawing/2014/main" id="{453AD0A1-8BAE-4A33-8632-6E8A6BEAA94E}"/>
              </a:ext>
            </a:extLst>
          </p:cNvPr>
          <p:cNvSpPr/>
          <p:nvPr/>
        </p:nvSpPr>
        <p:spPr bwMode="auto">
          <a:xfrm rot="16200000">
            <a:off x="6376721" y="3433519"/>
            <a:ext cx="350999" cy="1944218"/>
          </a:xfrm>
          <a:prstGeom prst="curvedRightArrow">
            <a:avLst/>
          </a:prstGeom>
          <a:solidFill>
            <a:srgbClr val="C00000"/>
          </a:solidFill>
          <a:ln>
            <a:solidFill>
              <a:srgbClr val="FFFF00"/>
            </a:solidFill>
            <a:headEnd type="none" w="med" len="med"/>
            <a:tailEnd type="none" w="med" len="med"/>
          </a:ln>
        </p:spPr>
        <p:style>
          <a:lnRef idx="1">
            <a:schemeClr val="accent2"/>
          </a:lnRef>
          <a:fillRef idx="2">
            <a:schemeClr val="accent2"/>
          </a:fillRef>
          <a:effectRef idx="1">
            <a:schemeClr val="accent2"/>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itchFamily="34" charset="0"/>
              <a:ea typeface="宋体" charset="-122"/>
            </a:endParaRPr>
          </a:p>
        </p:txBody>
      </p:sp>
      <p:pic>
        <p:nvPicPr>
          <p:cNvPr id="8" name="图片 7">
            <a:extLst>
              <a:ext uri="{FF2B5EF4-FFF2-40B4-BE49-F238E27FC236}">
                <a16:creationId xmlns="" xmlns:a16="http://schemas.microsoft.com/office/drawing/2014/main" id="{66395F09-8DB2-4FF4-80AE-C6EDE624B5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95936" y="3590732"/>
            <a:ext cx="2837483" cy="561345"/>
          </a:xfrm>
          <a:prstGeom prst="rect">
            <a:avLst/>
          </a:prstGeom>
        </p:spPr>
      </p:pic>
      <p:pic>
        <p:nvPicPr>
          <p:cNvPr id="9" name="图片 8">
            <a:extLst>
              <a:ext uri="{FF2B5EF4-FFF2-40B4-BE49-F238E27FC236}">
                <a16:creationId xmlns="" xmlns:a16="http://schemas.microsoft.com/office/drawing/2014/main" id="{DA6BA29D-8D5A-416C-BF2D-B95C58EF4F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236296" y="3598092"/>
            <a:ext cx="1776009" cy="524893"/>
          </a:xfrm>
          <a:prstGeom prst="rect">
            <a:avLst/>
          </a:prstGeom>
        </p:spPr>
      </p:pic>
      <p:cxnSp>
        <p:nvCxnSpPr>
          <p:cNvPr id="10" name="直接箭头连接符 9">
            <a:extLst>
              <a:ext uri="{FF2B5EF4-FFF2-40B4-BE49-F238E27FC236}">
                <a16:creationId xmlns="" xmlns:a16="http://schemas.microsoft.com/office/drawing/2014/main" id="{A2663F66-90C6-4217-9D80-BE01E7992001}"/>
              </a:ext>
            </a:extLst>
          </p:cNvPr>
          <p:cNvCxnSpPr>
            <a:cxnSpLocks/>
          </p:cNvCxnSpPr>
          <p:nvPr/>
        </p:nvCxnSpPr>
        <p:spPr bwMode="auto">
          <a:xfrm>
            <a:off x="5580112" y="3429000"/>
            <a:ext cx="0" cy="504801"/>
          </a:xfrm>
          <a:prstGeom prst="straightConnector1">
            <a:avLst/>
          </a:prstGeom>
          <a:ln w="57150">
            <a:solidFill>
              <a:srgbClr val="00B050"/>
            </a:solidFill>
            <a:headEnd type="none" w="med" len="med"/>
            <a:tailEnd type="triangle"/>
          </a:ln>
        </p:spPr>
        <p:style>
          <a:lnRef idx="3">
            <a:schemeClr val="accent1"/>
          </a:lnRef>
          <a:fillRef idx="0">
            <a:schemeClr val="accent1"/>
          </a:fillRef>
          <a:effectRef idx="2">
            <a:schemeClr val="accent1"/>
          </a:effectRef>
          <a:fontRef idx="minor">
            <a:schemeClr val="tx1"/>
          </a:fontRef>
        </p:style>
      </p:cxnSp>
      <p:sp>
        <p:nvSpPr>
          <p:cNvPr id="11" name="文本框 10">
            <a:extLst>
              <a:ext uri="{FF2B5EF4-FFF2-40B4-BE49-F238E27FC236}">
                <a16:creationId xmlns="" xmlns:a16="http://schemas.microsoft.com/office/drawing/2014/main" id="{815073DF-F4D7-450D-81B7-4488D95379AF}"/>
              </a:ext>
            </a:extLst>
          </p:cNvPr>
          <p:cNvSpPr txBox="1"/>
          <p:nvPr/>
        </p:nvSpPr>
        <p:spPr>
          <a:xfrm>
            <a:off x="4983276" y="4113336"/>
            <a:ext cx="2181009" cy="584775"/>
          </a:xfrm>
          <a:prstGeom prst="rect">
            <a:avLst/>
          </a:prstGeom>
          <a:noFill/>
        </p:spPr>
        <p:txBody>
          <a:bodyPr wrap="square" rtlCol="0">
            <a:spAutoFit/>
          </a:bodyPr>
          <a:lstStyle/>
          <a:p>
            <a:r>
              <a:rPr lang="en-US" altLang="zh-CN"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aid</a:t>
            </a:r>
            <a:r>
              <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分组</a:t>
            </a:r>
            <a:r>
              <a:rPr lang="en-US" altLang="zh-CN"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 </a:t>
            </a:r>
            <a:r>
              <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组内求和</a:t>
            </a:r>
            <a:r>
              <a:rPr lang="zh-CN" altLang="en-US"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&lt;600</a:t>
            </a:r>
            <a:r>
              <a:rPr lang="zh-CN" altLang="en-US" sz="1600" dirty="0">
                <a:solidFill>
                  <a:srgbClr val="00B050"/>
                </a:solidFill>
                <a:latin typeface="Times New Roman" panose="02020603050405020304" pitchFamily="18" charset="0"/>
                <a:ea typeface="等线" panose="02010600030101010101" pitchFamily="2" charset="-122"/>
                <a:cs typeface="Times New Roman" panose="02020603050405020304" pitchFamily="18" charset="0"/>
              </a:rPr>
              <a:t>的</a:t>
            </a:r>
            <a:r>
              <a:rPr lang="zh-CN" altLang="en-US"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a:t>
            </a:r>
            <a:r>
              <a:rPr lang="en-US" altLang="zh-CN"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aid</a:t>
            </a:r>
            <a:endParaRPr lang="zh-CN" altLang="en-US"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endParaRPr>
          </a:p>
        </p:txBody>
      </p:sp>
      <p:sp>
        <p:nvSpPr>
          <p:cNvPr id="13" name="矩形: 圆角 12">
            <a:extLst>
              <a:ext uri="{FF2B5EF4-FFF2-40B4-BE49-F238E27FC236}">
                <a16:creationId xmlns="" xmlns:a16="http://schemas.microsoft.com/office/drawing/2014/main" id="{06B3538C-9825-401A-BD0D-109B582AE60C}"/>
              </a:ext>
            </a:extLst>
          </p:cNvPr>
          <p:cNvSpPr/>
          <p:nvPr/>
        </p:nvSpPr>
        <p:spPr bwMode="auto">
          <a:xfrm>
            <a:off x="6372199" y="3878545"/>
            <a:ext cx="461215" cy="288032"/>
          </a:xfrm>
          <a:prstGeom prst="roundRect">
            <a:avLst/>
          </a:prstGeom>
          <a:noFill/>
          <a:ln w="38100">
            <a:prstDash val="sysDot"/>
            <a:headEnd type="none" w="med" len="med"/>
            <a:tailEnd type="none" w="med" len="med"/>
          </a:ln>
        </p:spPr>
        <p:style>
          <a:lnRef idx="2">
            <a:schemeClr val="accent6"/>
          </a:lnRef>
          <a:fillRef idx="1">
            <a:schemeClr val="lt1"/>
          </a:fillRef>
          <a:effectRef idx="0">
            <a:schemeClr val="accent6"/>
          </a:effectRef>
          <a:fontRef idx="minor">
            <a:schemeClr val="dk1"/>
          </a:fontRef>
        </p:style>
        <p:txBody>
          <a:bodyPr vert="horz" wrap="square" lIns="91440" tIns="45720" rIns="91440" bIns="45720" numCol="1" rtlCol="0" anchor="t" anchorCtr="0" compatLnSpc="1"/>
          <a:lstStyle/>
          <a:p>
            <a:pPr marL="0" marR="0" indent="0" algn="l" defTabSz="914400" rtl="0" eaLnBrk="1" fontAlgn="base" latinLnBrk="0" hangingPunct="1">
              <a:lnSpc>
                <a:spcPct val="100000"/>
              </a:lnSpc>
              <a:spcBef>
                <a:spcPct val="0"/>
              </a:spcBef>
              <a:spcAft>
                <a:spcPct val="0"/>
              </a:spcAft>
              <a:buClrTx/>
              <a:buSzTx/>
              <a:buFontTx/>
              <a:buNone/>
            </a:pPr>
            <a:endParaRPr kumimoji="0" lang="zh-CN" altLang="en-US" sz="2800" b="1" i="0" u="none" strike="noStrike" cap="none" normalizeH="0" baseline="0">
              <a:ln>
                <a:noFill/>
              </a:ln>
              <a:solidFill>
                <a:schemeClr val="tx1"/>
              </a:solidFill>
              <a:effectLst/>
              <a:latin typeface="Calibri" panose="020F0502020204030204" pitchFamily="34" charset="0"/>
              <a:ea typeface="宋体" panose="02010600030101010101" pitchFamily="2" charset="-122"/>
            </a:endParaRPr>
          </a:p>
        </p:txBody>
      </p:sp>
      <p:sp>
        <p:nvSpPr>
          <p:cNvPr id="12" name="矩形: 圆角 11">
            <a:extLst>
              <a:ext uri="{FF2B5EF4-FFF2-40B4-BE49-F238E27FC236}">
                <a16:creationId xmlns="" xmlns:a16="http://schemas.microsoft.com/office/drawing/2014/main" id="{57864586-72AD-470E-8BAD-117A833A2CFC}"/>
              </a:ext>
            </a:extLst>
          </p:cNvPr>
          <p:cNvSpPr/>
          <p:nvPr/>
        </p:nvSpPr>
        <p:spPr>
          <a:xfrm>
            <a:off x="4788024" y="2973562"/>
            <a:ext cx="3096343" cy="288032"/>
          </a:xfrm>
          <a:prstGeom prst="roundRect">
            <a:avLst/>
          </a:prstGeom>
          <a:solidFill>
            <a:srgbClr val="92D050">
              <a:alpha val="50000"/>
            </a:srgb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4" name="矩形: 圆角 13">
            <a:extLst>
              <a:ext uri="{FF2B5EF4-FFF2-40B4-BE49-F238E27FC236}">
                <a16:creationId xmlns="" xmlns:a16="http://schemas.microsoft.com/office/drawing/2014/main" id="{56459ADA-8B5C-474A-AEB7-863A722B8126}"/>
              </a:ext>
            </a:extLst>
          </p:cNvPr>
          <p:cNvSpPr/>
          <p:nvPr/>
        </p:nvSpPr>
        <p:spPr>
          <a:xfrm>
            <a:off x="2195736" y="2996952"/>
            <a:ext cx="1440160" cy="243474"/>
          </a:xfrm>
          <a:prstGeom prst="roundRect">
            <a:avLst/>
          </a:prstGeom>
          <a:solidFill>
            <a:schemeClr val="accent6">
              <a:lumMod val="40000"/>
              <a:lumOff val="60000"/>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zh-CN" altLang="en-US"/>
          </a:p>
        </p:txBody>
      </p:sp>
      <p:sp>
        <p:nvSpPr>
          <p:cNvPr id="15" name="文本框 14">
            <a:extLst>
              <a:ext uri="{FF2B5EF4-FFF2-40B4-BE49-F238E27FC236}">
                <a16:creationId xmlns="" xmlns:a16="http://schemas.microsoft.com/office/drawing/2014/main" id="{BF6C7F81-1884-441F-BDF4-35A4481ED32B}"/>
              </a:ext>
            </a:extLst>
          </p:cNvPr>
          <p:cNvSpPr txBox="1"/>
          <p:nvPr/>
        </p:nvSpPr>
        <p:spPr>
          <a:xfrm>
            <a:off x="7297919" y="4166577"/>
            <a:ext cx="1450545" cy="338554"/>
          </a:xfrm>
          <a:prstGeom prst="rect">
            <a:avLst/>
          </a:prstGeom>
          <a:noFill/>
        </p:spPr>
        <p:txBody>
          <a:bodyPr wrap="square" rtlCol="0">
            <a:spAutoFit/>
          </a:bodyPr>
          <a:lstStyle/>
          <a:p>
            <a:pPr algn="r"/>
            <a:r>
              <a:rPr lang="zh-CN" altLang="en-US"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删除</a:t>
            </a:r>
            <a:r>
              <a:rPr lang="en-US" altLang="zh-CN"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aid</a:t>
            </a:r>
            <a:r>
              <a:rPr lang="zh-CN" altLang="en-US" sz="1600" dirty="0">
                <a:solidFill>
                  <a:srgbClr val="C00000"/>
                </a:solidFill>
                <a:latin typeface="Times New Roman" panose="02020603050405020304" pitchFamily="18" charset="0"/>
                <a:ea typeface="等线" panose="02010600030101010101" pitchFamily="2" charset="-122"/>
                <a:cs typeface="Times New Roman" panose="02020603050405020304" pitchFamily="18" charset="0"/>
              </a:rPr>
              <a:t>的行</a:t>
            </a:r>
          </a:p>
        </p:txBody>
      </p:sp>
    </p:spTree>
    <p:extLst>
      <p:ext uri="{BB962C8B-B14F-4D97-AF65-F5344CB8AC3E}">
        <p14:creationId xmlns:p14="http://schemas.microsoft.com/office/powerpoint/2010/main" val="3414585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wipe(left)">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xEl>
                                              <p:pRg st="0" end="0"/>
                                            </p:txEl>
                                          </p:spTgt>
                                        </p:tgtEl>
                                        <p:attrNameLst>
                                          <p:attrName>style.visibility</p:attrName>
                                        </p:attrNameLst>
                                      </p:cBhvr>
                                      <p:to>
                                        <p:strVal val="visible"/>
                                      </p:to>
                                    </p:set>
                                    <p:animEffect transition="in" filter="wipe(left)">
                                      <p:cBhvr>
                                        <p:cTn id="12" dur="500"/>
                                        <p:tgtEl>
                                          <p:spTgt spid="5">
                                            <p:txEl>
                                              <p:pRg st="0" end="0"/>
                                            </p:txEl>
                                          </p:spTgt>
                                        </p:tgtEl>
                                      </p:cBhvr>
                                    </p:animEffect>
                                  </p:childTnLst>
                                </p:cTn>
                              </p:par>
                            </p:childTnLst>
                          </p:cTn>
                        </p:par>
                        <p:par>
                          <p:cTn id="13" fill="hold">
                            <p:stCondLst>
                              <p:cond delay="500"/>
                            </p:stCondLst>
                            <p:childTnLst>
                              <p:par>
                                <p:cTn id="14" presetID="22" presetClass="entr" presetSubtype="8" fill="hold" grpId="0" nodeType="after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wipe(left)">
                                      <p:cBhvr>
                                        <p:cTn id="16" dur="500"/>
                                        <p:tgtEl>
                                          <p:spTgt spid="14"/>
                                        </p:tgtEl>
                                      </p:cBhvr>
                                    </p:animEffect>
                                  </p:childTnLst>
                                </p:cTn>
                              </p:par>
                            </p:childTnLst>
                          </p:cTn>
                        </p:par>
                        <p:par>
                          <p:cTn id="17" fill="hold">
                            <p:stCondLst>
                              <p:cond delay="1000"/>
                            </p:stCondLst>
                            <p:childTnLst>
                              <p:par>
                                <p:cTn id="18" presetID="22" presetClass="entr" presetSubtype="8" fill="hold" grpId="0" nodeType="after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wipe(left)">
                                      <p:cBhvr>
                                        <p:cTn id="20" dur="5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8"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wipe(left)">
                                      <p:cBhvr>
                                        <p:cTn id="25" dur="500"/>
                                        <p:tgtEl>
                                          <p:spTgt spid="8"/>
                                        </p:tgtEl>
                                      </p:cBhvr>
                                    </p:animEffect>
                                  </p:childTnLst>
                                </p:cTn>
                              </p:par>
                            </p:childTnLst>
                          </p:cTn>
                        </p:par>
                        <p:par>
                          <p:cTn id="26" fill="hold">
                            <p:stCondLst>
                              <p:cond delay="500"/>
                            </p:stCondLst>
                            <p:childTnLst>
                              <p:par>
                                <p:cTn id="27" presetID="22" presetClass="entr" presetSubtype="1" fill="hold" nodeType="after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wipe(up)">
                                      <p:cBhvr>
                                        <p:cTn id="29" dur="500"/>
                                        <p:tgtEl>
                                          <p:spTgt spid="10"/>
                                        </p:tgtEl>
                                      </p:cBhvr>
                                    </p:animEffect>
                                  </p:childTnLst>
                                </p:cTn>
                              </p:par>
                            </p:childTnLst>
                          </p:cTn>
                        </p:par>
                        <p:par>
                          <p:cTn id="30" fill="hold">
                            <p:stCondLst>
                              <p:cond delay="1000"/>
                            </p:stCondLst>
                            <p:childTnLst>
                              <p:par>
                                <p:cTn id="31" presetID="22" presetClass="entr" presetSubtype="8" fill="hold" grpId="0" nodeType="after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wipe(left)">
                                      <p:cBhvr>
                                        <p:cTn id="33" dur="500"/>
                                        <p:tgtEl>
                                          <p:spTgt spid="11"/>
                                        </p:tgtEl>
                                      </p:cBhvr>
                                    </p:animEffect>
                                  </p:childTnLst>
                                </p:cTn>
                              </p:par>
                            </p:childTnLst>
                          </p:cTn>
                        </p:par>
                        <p:par>
                          <p:cTn id="34" fill="hold">
                            <p:stCondLst>
                              <p:cond delay="1500"/>
                            </p:stCondLst>
                            <p:childTnLst>
                              <p:par>
                                <p:cTn id="35" presetID="22" presetClass="entr" presetSubtype="8"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wipe(left)">
                                      <p:cBhvr>
                                        <p:cTn id="37" dur="750"/>
                                        <p:tgtEl>
                                          <p:spTgt spid="13"/>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nodeType="clickEffect">
                                  <p:stCondLst>
                                    <p:cond delay="0"/>
                                  </p:stCondLst>
                                  <p:childTnLst>
                                    <p:set>
                                      <p:cBhvr>
                                        <p:cTn id="41" dur="1" fill="hold">
                                          <p:stCondLst>
                                            <p:cond delay="0"/>
                                          </p:stCondLst>
                                        </p:cTn>
                                        <p:tgtEl>
                                          <p:spTgt spid="9"/>
                                        </p:tgtEl>
                                        <p:attrNameLst>
                                          <p:attrName>style.visibility</p:attrName>
                                        </p:attrNameLst>
                                      </p:cBhvr>
                                      <p:to>
                                        <p:strVal val="visible"/>
                                      </p:to>
                                    </p:set>
                                    <p:animEffect transition="in" filter="wipe(left)">
                                      <p:cBhvr>
                                        <p:cTn id="42" dur="500"/>
                                        <p:tgtEl>
                                          <p:spTgt spid="9"/>
                                        </p:tgtEl>
                                      </p:cBhvr>
                                    </p:animEffect>
                                  </p:childTnLst>
                                </p:cTn>
                              </p:par>
                            </p:childTnLst>
                          </p:cTn>
                        </p:par>
                        <p:par>
                          <p:cTn id="43" fill="hold">
                            <p:stCondLst>
                              <p:cond delay="500"/>
                            </p:stCondLst>
                            <p:childTnLst>
                              <p:par>
                                <p:cTn id="44" presetID="22" presetClass="entr" presetSubtype="8" fill="hold" grpId="0" nodeType="afterEffect">
                                  <p:stCondLst>
                                    <p:cond delay="0"/>
                                  </p:stCondLst>
                                  <p:childTnLst>
                                    <p:set>
                                      <p:cBhvr>
                                        <p:cTn id="45" dur="1" fill="hold">
                                          <p:stCondLst>
                                            <p:cond delay="0"/>
                                          </p:stCondLst>
                                        </p:cTn>
                                        <p:tgtEl>
                                          <p:spTgt spid="7"/>
                                        </p:tgtEl>
                                        <p:attrNameLst>
                                          <p:attrName>style.visibility</p:attrName>
                                        </p:attrNameLst>
                                      </p:cBhvr>
                                      <p:to>
                                        <p:strVal val="visible"/>
                                      </p:to>
                                    </p:set>
                                    <p:animEffect transition="in" filter="wipe(left)">
                                      <p:cBhvr>
                                        <p:cTn id="46" dur="500"/>
                                        <p:tgtEl>
                                          <p:spTgt spid="7"/>
                                        </p:tgtEl>
                                      </p:cBhvr>
                                    </p:animEffect>
                                  </p:childTnLst>
                                </p:cTn>
                              </p:par>
                            </p:childTnLst>
                          </p:cTn>
                        </p:par>
                        <p:par>
                          <p:cTn id="47" fill="hold">
                            <p:stCondLst>
                              <p:cond delay="1000"/>
                            </p:stCondLst>
                            <p:childTnLst>
                              <p:par>
                                <p:cTn id="48" presetID="22" presetClass="entr" presetSubtype="8"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wipe(left)">
                                      <p:cBhvr>
                                        <p:cTn id="50" dur="500"/>
                                        <p:tgtEl>
                                          <p:spTgt spid="15"/>
                                        </p:tgtEl>
                                      </p:cBhvr>
                                    </p:animEffect>
                                  </p:childTnLst>
                                </p:cTn>
                              </p:par>
                            </p:childTnLst>
                          </p:cTn>
                        </p:par>
                      </p:childTnLst>
                    </p:cTn>
                  </p:par>
                  <p:par>
                    <p:cTn id="51" fill="hold">
                      <p:stCondLst>
                        <p:cond delay="indefinite"/>
                      </p:stCondLst>
                      <p:childTnLst>
                        <p:par>
                          <p:cTn id="52" fill="hold">
                            <p:stCondLst>
                              <p:cond delay="0"/>
                            </p:stCondLst>
                            <p:childTnLst>
                              <p:par>
                                <p:cTn id="53" presetID="22" presetClass="entr" presetSubtype="8" fill="hold" nodeType="clickEffect">
                                  <p:stCondLst>
                                    <p:cond delay="0"/>
                                  </p:stCondLst>
                                  <p:childTnLst>
                                    <p:set>
                                      <p:cBhvr>
                                        <p:cTn id="54" dur="1" fill="hold">
                                          <p:stCondLst>
                                            <p:cond delay="0"/>
                                          </p:stCondLst>
                                        </p:cTn>
                                        <p:tgtEl>
                                          <p:spTgt spid="5">
                                            <p:txEl>
                                              <p:pRg st="7" end="7"/>
                                            </p:txEl>
                                          </p:spTgt>
                                        </p:tgtEl>
                                        <p:attrNameLst>
                                          <p:attrName>style.visibility</p:attrName>
                                        </p:attrNameLst>
                                      </p:cBhvr>
                                      <p:to>
                                        <p:strVal val="visible"/>
                                      </p:to>
                                    </p:set>
                                    <p:animEffect transition="in" filter="wipe(left)">
                                      <p:cBhvr>
                                        <p:cTn id="55" dur="500"/>
                                        <p:tgtEl>
                                          <p:spTgt spid="5">
                                            <p:txEl>
                                              <p:pRg st="7" end="7"/>
                                            </p:txEl>
                                          </p:spTgt>
                                        </p:tgtEl>
                                      </p:cBhvr>
                                    </p:animEffect>
                                  </p:childTnLst>
                                </p:cTn>
                              </p:par>
                              <p:par>
                                <p:cTn id="56" presetID="22" presetClass="entr" presetSubtype="8" fill="hold" nodeType="withEffect">
                                  <p:stCondLst>
                                    <p:cond delay="0"/>
                                  </p:stCondLst>
                                  <p:childTnLst>
                                    <p:set>
                                      <p:cBhvr>
                                        <p:cTn id="57" dur="1" fill="hold">
                                          <p:stCondLst>
                                            <p:cond delay="0"/>
                                          </p:stCondLst>
                                        </p:cTn>
                                        <p:tgtEl>
                                          <p:spTgt spid="5">
                                            <p:txEl>
                                              <p:pRg st="8" end="8"/>
                                            </p:txEl>
                                          </p:spTgt>
                                        </p:tgtEl>
                                        <p:attrNameLst>
                                          <p:attrName>style.visibility</p:attrName>
                                        </p:attrNameLst>
                                      </p:cBhvr>
                                      <p:to>
                                        <p:strVal val="visible"/>
                                      </p:to>
                                    </p:set>
                                    <p:animEffect transition="in" filter="wipe(left)">
                                      <p:cBhvr>
                                        <p:cTn id="58" dur="500"/>
                                        <p:tgtEl>
                                          <p:spTgt spid="5">
                                            <p:txEl>
                                              <p:pRg st="8" end="8"/>
                                            </p:txEl>
                                          </p:spTgt>
                                        </p:tgtEl>
                                      </p:cBhvr>
                                    </p:animEffect>
                                  </p:childTnLst>
                                </p:cTn>
                              </p:par>
                            </p:childTnLst>
                          </p:cTn>
                        </p:par>
                        <p:par>
                          <p:cTn id="59" fill="hold">
                            <p:stCondLst>
                              <p:cond delay="500"/>
                            </p:stCondLst>
                            <p:childTnLst>
                              <p:par>
                                <p:cTn id="60" presetID="22" presetClass="entr" presetSubtype="8" fill="hold" nodeType="afterEffect">
                                  <p:stCondLst>
                                    <p:cond delay="0"/>
                                  </p:stCondLst>
                                  <p:childTnLst>
                                    <p:set>
                                      <p:cBhvr>
                                        <p:cTn id="61" dur="1" fill="hold">
                                          <p:stCondLst>
                                            <p:cond delay="0"/>
                                          </p:stCondLst>
                                        </p:cTn>
                                        <p:tgtEl>
                                          <p:spTgt spid="5">
                                            <p:txEl>
                                              <p:pRg st="6" end="6"/>
                                            </p:txEl>
                                          </p:spTgt>
                                        </p:tgtEl>
                                        <p:attrNameLst>
                                          <p:attrName>style.visibility</p:attrName>
                                        </p:attrNameLst>
                                      </p:cBhvr>
                                      <p:to>
                                        <p:strVal val="visible"/>
                                      </p:to>
                                    </p:set>
                                    <p:animEffect transition="in" filter="wipe(left)">
                                      <p:cBhvr>
                                        <p:cTn id="62" dur="500"/>
                                        <p:tgtEl>
                                          <p:spTgt spid="5">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1" grpId="0"/>
      <p:bldP spid="13" grpId="0" animBg="1"/>
      <p:bldP spid="12" grpId="0" animBg="1"/>
      <p:bldP spid="14" grpId="0" animBg="1"/>
      <p:bldP spid="1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
          <p:cNvSpPr/>
          <p:nvPr/>
        </p:nvSpPr>
        <p:spPr>
          <a:xfrm>
            <a:off x="827584" y="179929"/>
            <a:ext cx="8136904" cy="584775"/>
          </a:xfrm>
          <a:prstGeom prst="rect">
            <a:avLst/>
          </a:prstGeom>
        </p:spPr>
        <p:txBody>
          <a:bodyPr wrap="square">
            <a:spAutoFit/>
          </a:bodyPr>
          <a:lstStyle/>
          <a:p>
            <a:r>
              <a:rPr lang="en-US" sz="3200" i="1" dirty="0">
                <a:solidFill>
                  <a:srgbClr val="C00000"/>
                </a:solidFill>
                <a:latin typeface="Times New Roman" panose="02020603050405020304" pitchFamily="18" charset="0"/>
                <a:cs typeface="Times New Roman" panose="02020603050405020304" pitchFamily="18" charset="0"/>
              </a:rPr>
              <a:t>3.10 Insert, Update and Delete statements</a:t>
            </a:r>
          </a:p>
        </p:txBody>
      </p:sp>
      <p:sp>
        <p:nvSpPr>
          <p:cNvPr id="2" name="矩形 1"/>
          <p:cNvSpPr/>
          <p:nvPr/>
        </p:nvSpPr>
        <p:spPr>
          <a:xfrm>
            <a:off x="179512" y="970727"/>
            <a:ext cx="8964488" cy="4330481"/>
          </a:xfrm>
          <a:prstGeom prst="rect">
            <a:avLst/>
          </a:prstGeom>
        </p:spPr>
        <p:txBody>
          <a:bodyPr wrap="square">
            <a:spAutoFit/>
          </a:bodyPr>
          <a:lstStyle/>
          <a:p>
            <a:pPr>
              <a:spcBef>
                <a:spcPts val="1200"/>
              </a:spcBef>
            </a:pPr>
            <a:r>
              <a:rPr lang="en-US" altLang="zh-CN" sz="2400" dirty="0">
                <a:solidFill>
                  <a:srgbClr val="7030A0"/>
                </a:solidFill>
                <a:latin typeface="Times New Roman" panose="02020603050405020304" pitchFamily="18" charset="0"/>
                <a:cs typeface="Times New Roman" panose="02020603050405020304" pitchFamily="18" charset="0"/>
              </a:rPr>
              <a:t>[4] Notice: </a:t>
            </a:r>
            <a:r>
              <a:rPr lang="en-US" altLang="zh-CN" sz="2400" dirty="0">
                <a:solidFill>
                  <a:srgbClr val="7030A0"/>
                </a:solidFill>
                <a:latin typeface="Arial Narrow" panose="020B0606020202030204" pitchFamily="34" charset="0"/>
                <a:cs typeface="Times New Roman" panose="02020603050405020304" pitchFamily="18" charset="0"/>
              </a:rPr>
              <a:t> </a:t>
            </a:r>
            <a:r>
              <a:rPr lang="en-US" altLang="zh-CN" sz="2400" dirty="0">
                <a:solidFill>
                  <a:srgbClr val="7030A0"/>
                </a:solidFill>
                <a:latin typeface="+mn-lt"/>
                <a:cs typeface="Times New Roman" panose="02020603050405020304" pitchFamily="18" charset="0"/>
              </a:rPr>
              <a:t>Table Drop</a:t>
            </a:r>
          </a:p>
          <a:p>
            <a:pPr>
              <a:spcBef>
                <a:spcPts val="600"/>
              </a:spcBef>
            </a:pPr>
            <a:r>
              <a:rPr lang="en-US" altLang="zh-CN" dirty="0">
                <a:solidFill>
                  <a:srgbClr val="002060"/>
                </a:solidFill>
                <a:latin typeface="Times New Roman" panose="02020603050405020304" pitchFamily="18" charset="0"/>
                <a:cs typeface="Times New Roman" panose="02020603050405020304" pitchFamily="18" charset="0"/>
              </a:rPr>
              <a:t>     	</a:t>
            </a:r>
            <a:r>
              <a:rPr lang="en-US" altLang="zh-CN" sz="2400" dirty="0">
                <a:solidFill>
                  <a:srgbClr val="C00000"/>
                </a:solidFill>
                <a:latin typeface="Times New Roman" panose="02020603050405020304" pitchFamily="18" charset="0"/>
                <a:cs typeface="Times New Roman" panose="02020603050405020304" pitchFamily="18" charset="0"/>
              </a:rPr>
              <a:t>drop</a:t>
            </a:r>
            <a:r>
              <a:rPr lang="en-US" altLang="zh-CN" sz="2400" dirty="0">
                <a:solidFill>
                  <a:srgbClr val="002060"/>
                </a:solidFill>
                <a:latin typeface="Times New Roman" panose="02020603050405020304" pitchFamily="18" charset="0"/>
                <a:cs typeface="Times New Roman" panose="02020603050405020304" pitchFamily="18" charset="0"/>
              </a:rPr>
              <a:t> </a:t>
            </a:r>
            <a:r>
              <a:rPr lang="en-US" altLang="zh-CN" sz="2400" dirty="0">
                <a:solidFill>
                  <a:srgbClr val="C00000"/>
                </a:solidFill>
                <a:latin typeface="Times New Roman" panose="02020603050405020304" pitchFamily="18" charset="0"/>
                <a:cs typeface="Times New Roman" panose="02020603050405020304" pitchFamily="18" charset="0"/>
              </a:rPr>
              <a:t>table</a:t>
            </a:r>
            <a:r>
              <a:rPr lang="en-US" altLang="zh-CN" sz="2400" dirty="0">
                <a:solidFill>
                  <a:srgbClr val="002060"/>
                </a:solidFill>
                <a:latin typeface="Times New Roman" panose="02020603050405020304" pitchFamily="18" charset="0"/>
                <a:cs typeface="Times New Roman" panose="02020603050405020304" pitchFamily="18" charset="0"/>
              </a:rPr>
              <a:t> agents;				</a:t>
            </a:r>
            <a:r>
              <a:rPr lang="en-US" altLang="zh-CN" sz="1800" dirty="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表结构</a:t>
            </a:r>
            <a:r>
              <a:rPr lang="en-US" altLang="zh-CN" sz="1800" dirty="0">
                <a:solidFill>
                  <a:srgbClr val="002060"/>
                </a:solidFill>
                <a:latin typeface="Times New Roman" panose="02020603050405020304" pitchFamily="18" charset="0"/>
                <a:cs typeface="Times New Roman" panose="02020603050405020304" pitchFamily="18" charset="0"/>
              </a:rPr>
              <a:t>+</a:t>
            </a:r>
            <a:r>
              <a:rPr lang="zh-CN" altLang="en-US" sz="1800" dirty="0">
                <a:solidFill>
                  <a:srgbClr val="002060"/>
                </a:solidFill>
                <a:latin typeface="Times New Roman" panose="02020603050405020304" pitchFamily="18" charset="0"/>
                <a:cs typeface="Times New Roman" panose="02020603050405020304" pitchFamily="18" charset="0"/>
              </a:rPr>
              <a:t>数据</a:t>
            </a:r>
            <a:r>
              <a:rPr lang="en-US" altLang="zh-CN" sz="1800" dirty="0">
                <a:solidFill>
                  <a:srgbClr val="002060"/>
                </a:solidFill>
                <a:latin typeface="Times New Roman" panose="02020603050405020304" pitchFamily="18" charset="0"/>
                <a:cs typeface="Times New Roman" panose="02020603050405020304" pitchFamily="18" charset="0"/>
              </a:rPr>
              <a:t>)</a:t>
            </a:r>
            <a:endParaRPr lang="en-US" altLang="zh-CN" sz="1800" dirty="0">
              <a:solidFill>
                <a:schemeClr val="folHlink"/>
              </a:solidFill>
              <a:latin typeface="Times New Roman" panose="02020603050405020304" pitchFamily="18" charset="0"/>
            </a:endParaRPr>
          </a:p>
          <a:p>
            <a:pPr marL="609600" lvl="0" indent="-609600">
              <a:lnSpc>
                <a:spcPct val="150000"/>
              </a:lnSpc>
              <a:spcBef>
                <a:spcPts val="0"/>
              </a:spcBef>
              <a:buClr>
                <a:schemeClr val="hlink"/>
              </a:buClr>
              <a:buSzPct val="65000"/>
              <a:defRPr/>
            </a:pPr>
            <a:endParaRPr lang="en-US" altLang="zh-CN" dirty="0">
              <a:solidFill>
                <a:schemeClr val="folHlink"/>
              </a:solidFill>
              <a:latin typeface="Times New Roman" panose="02020603050405020304" pitchFamily="18" charset="0"/>
            </a:endParaRPr>
          </a:p>
          <a:p>
            <a:pPr marL="609600" lvl="0" indent="-609600">
              <a:lnSpc>
                <a:spcPct val="150000"/>
              </a:lnSpc>
              <a:spcBef>
                <a:spcPts val="0"/>
              </a:spcBef>
              <a:buClr>
                <a:schemeClr val="hlink"/>
              </a:buClr>
              <a:buSzPct val="65000"/>
              <a:defRPr/>
            </a:pPr>
            <a:r>
              <a:rPr lang="en-US" altLang="zh-CN" sz="2000" dirty="0">
                <a:solidFill>
                  <a:schemeClr val="folHlink"/>
                </a:solidFill>
                <a:latin typeface="Times New Roman" panose="02020603050405020304" pitchFamily="18" charset="0"/>
              </a:rPr>
              <a:t>Suggestions  for  doing  exercises:	</a:t>
            </a:r>
          </a:p>
          <a:p>
            <a:pPr marL="609600" lvl="0" indent="-609600">
              <a:lnSpc>
                <a:spcPct val="150000"/>
              </a:lnSpc>
              <a:spcBef>
                <a:spcPts val="0"/>
              </a:spcBef>
              <a:buClr>
                <a:schemeClr val="hlink"/>
              </a:buClr>
              <a:buSzPct val="65000"/>
              <a:defRPr/>
            </a:pPr>
            <a:r>
              <a:rPr lang="en-US" altLang="zh-CN" sz="2000" dirty="0">
                <a:solidFill>
                  <a:schemeClr val="folHlink"/>
                </a:solidFill>
                <a:latin typeface="Times New Roman" panose="02020603050405020304" pitchFamily="18" charset="0"/>
              </a:rPr>
              <a:t>      (1) reading  through  Appendix  B,  and  Appendix   </a:t>
            </a:r>
          </a:p>
          <a:p>
            <a:pPr marL="609600" lvl="0" indent="-609600">
              <a:lnSpc>
                <a:spcPct val="150000"/>
              </a:lnSpc>
              <a:spcBef>
                <a:spcPts val="0"/>
              </a:spcBef>
              <a:buClr>
                <a:schemeClr val="hlink"/>
              </a:buClr>
              <a:buSzPct val="65000"/>
              <a:defRPr/>
            </a:pPr>
            <a:r>
              <a:rPr lang="en-US" altLang="zh-CN" sz="2000" dirty="0">
                <a:solidFill>
                  <a:schemeClr val="folHlink"/>
                </a:solidFill>
                <a:latin typeface="Times New Roman" panose="02020603050405020304" pitchFamily="18" charset="0"/>
              </a:rPr>
              <a:t>            C.2, C.3, C.4, C.14, C.17, C.25, C.28, and C.31</a:t>
            </a:r>
          </a:p>
          <a:p>
            <a:pPr marL="609600" lvl="0" indent="-609600">
              <a:lnSpc>
                <a:spcPct val="150000"/>
              </a:lnSpc>
              <a:spcBef>
                <a:spcPts val="0"/>
              </a:spcBef>
              <a:buClr>
                <a:schemeClr val="hlink"/>
              </a:buClr>
              <a:buSzPct val="65000"/>
              <a:defRPr/>
            </a:pPr>
            <a:r>
              <a:rPr lang="en-US" altLang="zh-CN" sz="2000" dirty="0">
                <a:solidFill>
                  <a:schemeClr val="folHlink"/>
                </a:solidFill>
                <a:latin typeface="Times New Roman" panose="02020603050405020304" pitchFamily="18" charset="0"/>
              </a:rPr>
              <a:t>      (2) Exercises: all exercises of charter 3 .</a:t>
            </a:r>
          </a:p>
          <a:p>
            <a:pPr marL="609600" lvl="0" indent="-609600">
              <a:lnSpc>
                <a:spcPct val="150000"/>
              </a:lnSpc>
              <a:spcBef>
                <a:spcPts val="0"/>
              </a:spcBef>
              <a:buClr>
                <a:schemeClr val="hlink"/>
              </a:buClr>
              <a:buSzPct val="65000"/>
              <a:defRPr/>
            </a:pPr>
            <a:r>
              <a:rPr lang="en-US" altLang="zh-CN" sz="2000" dirty="0">
                <a:solidFill>
                  <a:schemeClr val="folHlink"/>
                </a:solidFill>
                <a:latin typeface="Times New Roman" panose="02020603050405020304" pitchFamily="18" charset="0"/>
              </a:rPr>
              <a:t>         specialized for [3.1], [3.2], [3.5], [3.7], [3.8], [3.10], [3.11], [3.12], [3.14], [3.15], [3.16], [3.18], [3.19], [3.20]</a:t>
            </a:r>
          </a:p>
        </p:txBody>
      </p:sp>
      <p:cxnSp>
        <p:nvCxnSpPr>
          <p:cNvPr id="5" name="直接连接符 4">
            <a:extLst>
              <a:ext uri="{FF2B5EF4-FFF2-40B4-BE49-F238E27FC236}">
                <a16:creationId xmlns="" xmlns:a16="http://schemas.microsoft.com/office/drawing/2014/main" id="{4690FECB-B40E-49E7-A7A7-77B0039D78CB}"/>
              </a:ext>
            </a:extLst>
          </p:cNvPr>
          <p:cNvCxnSpPr/>
          <p:nvPr/>
        </p:nvCxnSpPr>
        <p:spPr bwMode="auto">
          <a:xfrm>
            <a:off x="6660232" y="1628800"/>
            <a:ext cx="1512168" cy="144016"/>
          </a:xfrm>
          <a:prstGeom prst="line">
            <a:avLst/>
          </a:prstGeom>
          <a:ln>
            <a:headEnd type="none" w="med" len="med"/>
            <a:tailEnd type="none" w="med" len="med"/>
          </a:ln>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64096" y="188640"/>
            <a:ext cx="8279904" cy="584775"/>
          </a:xfrm>
          <a:prstGeom prst="rect">
            <a:avLst/>
          </a:prstGeom>
        </p:spPr>
        <p:txBody>
          <a:bodyPr wrap="square">
            <a:spAutoFit/>
          </a:bodyPr>
          <a:lstStyle/>
          <a:p>
            <a:r>
              <a:rPr lang="en-US" sz="3200" i="1" dirty="0" err="1">
                <a:solidFill>
                  <a:srgbClr val="C00000"/>
                </a:solidFill>
                <a:latin typeface="Times New Roman" panose="02020603050405020304" pitchFamily="18" charset="0"/>
                <a:cs typeface="Times New Roman" panose="02020603050405020304" pitchFamily="18" charset="0"/>
              </a:rPr>
              <a:t>Additional：</a:t>
            </a:r>
            <a:r>
              <a:rPr lang="en-US" sz="3200" i="1" dirty="0" err="1">
                <a:solidFill>
                  <a:srgbClr val="C00000"/>
                </a:solidFill>
                <a:latin typeface="+mn-lt"/>
                <a:cs typeface="Times New Roman" panose="02020603050405020304" pitchFamily="18" charset="0"/>
              </a:rPr>
              <a:t>DBMS</a:t>
            </a:r>
            <a:r>
              <a:rPr lang="en-US" sz="3200" i="1" dirty="0">
                <a:solidFill>
                  <a:srgbClr val="C00000"/>
                </a:solidFill>
                <a:latin typeface="+mn-lt"/>
              </a:rPr>
              <a:t> Example</a:t>
            </a:r>
          </a:p>
        </p:txBody>
      </p:sp>
      <p:sp>
        <p:nvSpPr>
          <p:cNvPr id="3" name="Rectangle 2"/>
          <p:cNvSpPr/>
          <p:nvPr/>
        </p:nvSpPr>
        <p:spPr>
          <a:xfrm>
            <a:off x="13639" y="920621"/>
            <a:ext cx="9034317" cy="1231106"/>
          </a:xfrm>
          <a:prstGeom prst="rect">
            <a:avLst/>
          </a:prstGeom>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1.DBMS Example  ORACLE</a:t>
            </a:r>
          </a:p>
          <a:p>
            <a:pPr marL="800100" lvl="1" indent="-342900">
              <a:spcBef>
                <a:spcPts val="600"/>
              </a:spcBef>
              <a:buFont typeface="Wingdings" panose="05000000000000000000" pitchFamily="2" charset="2"/>
              <a:buChar char="ü"/>
            </a:pPr>
            <a:r>
              <a:rPr lang="en-US" sz="2000" dirty="0">
                <a:solidFill>
                  <a:srgbClr val="002060"/>
                </a:solidFill>
                <a:latin typeface="Times New Roman" panose="02020603050405020304" pitchFamily="18" charset="0"/>
                <a:cs typeface="Times New Roman" panose="02020603050405020304" pitchFamily="18" charset="0"/>
              </a:rPr>
              <a:t>Setup ORACLE 11g ( for Windows 7 64bit )</a:t>
            </a:r>
          </a:p>
          <a:p>
            <a:pPr marL="800100" lvl="1" indent="-342900">
              <a:spcBef>
                <a:spcPts val="600"/>
              </a:spcBef>
              <a:buFont typeface="Wingdings" panose="05000000000000000000" pitchFamily="2" charset="2"/>
              <a:buChar char="ü"/>
            </a:pPr>
            <a:r>
              <a:rPr lang="en-US" sz="2000" dirty="0">
                <a:solidFill>
                  <a:srgbClr val="002060"/>
                </a:solidFill>
                <a:latin typeface="Times New Roman" panose="02020603050405020304" pitchFamily="18" charset="0"/>
                <a:cs typeface="Times New Roman" panose="02020603050405020304" pitchFamily="18" charset="0"/>
              </a:rPr>
              <a:t>There are 7 Serves in Windows:</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6043" y="2151727"/>
            <a:ext cx="8951913" cy="40195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840" y="943365"/>
            <a:ext cx="8953648" cy="846386"/>
          </a:xfrm>
          <a:prstGeom prst="rect">
            <a:avLst/>
          </a:prstGeom>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1.DBMS Example  ORACLE</a:t>
            </a:r>
          </a:p>
          <a:p>
            <a:pPr marL="800100" lvl="1" indent="-342900">
              <a:spcBef>
                <a:spcPts val="600"/>
              </a:spcBef>
              <a:buFont typeface="Wingdings" panose="05000000000000000000" pitchFamily="2" charset="2"/>
              <a:buChar char="Ø"/>
            </a:pPr>
            <a:r>
              <a:rPr lang="en-US" sz="2000" dirty="0">
                <a:solidFill>
                  <a:srgbClr val="002060"/>
                </a:solidFill>
                <a:latin typeface="Times New Roman" panose="02020603050405020304" pitchFamily="18" charset="0"/>
                <a:cs typeface="Times New Roman" panose="02020603050405020304" pitchFamily="18" charset="0"/>
              </a:rPr>
              <a:t>Setup the Environment variables</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544" y="2017296"/>
            <a:ext cx="4241675" cy="426132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8767" y="2028725"/>
            <a:ext cx="4009465" cy="42498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1"/>
          <p:cNvSpPr/>
          <p:nvPr/>
        </p:nvSpPr>
        <p:spPr>
          <a:xfrm>
            <a:off x="864096" y="188640"/>
            <a:ext cx="8279904" cy="584775"/>
          </a:xfrm>
          <a:prstGeom prst="rect">
            <a:avLst/>
          </a:prstGeom>
        </p:spPr>
        <p:txBody>
          <a:bodyPr wrap="square">
            <a:spAutoFit/>
          </a:bodyPr>
          <a:lstStyle/>
          <a:p>
            <a:r>
              <a:rPr lang="en-US" sz="3200" i="1" dirty="0" err="1">
                <a:solidFill>
                  <a:srgbClr val="C00000"/>
                </a:solidFill>
                <a:latin typeface="Times New Roman" panose="02020603050405020304" pitchFamily="18" charset="0"/>
                <a:cs typeface="Times New Roman" panose="02020603050405020304" pitchFamily="18" charset="0"/>
              </a:rPr>
              <a:t>Additional：</a:t>
            </a:r>
            <a:r>
              <a:rPr lang="en-US" sz="3200" i="1" dirty="0" err="1">
                <a:solidFill>
                  <a:srgbClr val="C00000"/>
                </a:solidFill>
                <a:latin typeface="+mn-lt"/>
                <a:cs typeface="Times New Roman" panose="02020603050405020304" pitchFamily="18" charset="0"/>
              </a:rPr>
              <a:t>DBMS</a:t>
            </a:r>
            <a:r>
              <a:rPr lang="en-US" sz="3200" i="1" dirty="0">
                <a:solidFill>
                  <a:srgbClr val="C00000"/>
                </a:solidFill>
                <a:latin typeface="+mn-lt"/>
              </a:rPr>
              <a:t> Example</a:t>
            </a:r>
          </a:p>
        </p:txBody>
      </p:sp>
    </p:spTree>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908720"/>
            <a:ext cx="9144000" cy="1769715"/>
          </a:xfrm>
          <a:prstGeom prst="rect">
            <a:avLst/>
          </a:prstGeom>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1.DBMS Example  ORACLE</a:t>
            </a:r>
          </a:p>
          <a:p>
            <a:pPr marL="800100" lvl="1" indent="-342900">
              <a:spcBef>
                <a:spcPts val="1000"/>
              </a:spcBef>
              <a:buFont typeface="Wingdings" panose="05000000000000000000" pitchFamily="2" charset="2"/>
              <a:buChar char="Ø"/>
            </a:pPr>
            <a:r>
              <a:rPr lang="en-US" sz="2000" dirty="0">
                <a:solidFill>
                  <a:srgbClr val="002060"/>
                </a:solidFill>
                <a:latin typeface="Times New Roman" panose="02020603050405020304" pitchFamily="18" charset="0"/>
                <a:cs typeface="Times New Roman" panose="02020603050405020304" pitchFamily="18" charset="0"/>
              </a:rPr>
              <a:t>Start up ORACLE </a:t>
            </a:r>
            <a:r>
              <a:rPr lang="en-US" sz="2000" dirty="0" err="1">
                <a:solidFill>
                  <a:srgbClr val="002060"/>
                </a:solidFill>
                <a:latin typeface="Times New Roman" panose="02020603050405020304" pitchFamily="18" charset="0"/>
                <a:cs typeface="Times New Roman" panose="02020603050405020304" pitchFamily="18" charset="0"/>
              </a:rPr>
              <a:t>servies</a:t>
            </a:r>
            <a:endParaRPr lang="en-US" sz="2000" dirty="0">
              <a:solidFill>
                <a:srgbClr val="002060"/>
              </a:solidFill>
              <a:latin typeface="Times New Roman" panose="02020603050405020304" pitchFamily="18" charset="0"/>
              <a:cs typeface="Times New Roman" panose="02020603050405020304" pitchFamily="18" charset="0"/>
            </a:endParaRPr>
          </a:p>
          <a:p>
            <a:pPr marL="800100" lvl="1" indent="-342900">
              <a:spcBef>
                <a:spcPts val="1000"/>
              </a:spcBef>
              <a:buFont typeface="Wingdings" panose="05000000000000000000" pitchFamily="2" charset="2"/>
              <a:buChar char="Ø"/>
            </a:pPr>
            <a:r>
              <a:rPr lang="en-US" sz="2000" dirty="0">
                <a:solidFill>
                  <a:srgbClr val="002060"/>
                </a:solidFill>
                <a:latin typeface="Times New Roman" panose="02020603050405020304" pitchFamily="18" charset="0"/>
                <a:cs typeface="Times New Roman" panose="02020603050405020304" pitchFamily="18" charset="0"/>
              </a:rPr>
              <a:t>Start up SQL Plus or </a:t>
            </a:r>
            <a:r>
              <a:rPr lang="en-US" sz="2000" dirty="0" err="1">
                <a:solidFill>
                  <a:srgbClr val="002060"/>
                </a:solidFill>
                <a:latin typeface="Times New Roman" panose="02020603050405020304" pitchFamily="18" charset="0"/>
                <a:cs typeface="Times New Roman" panose="02020603050405020304" pitchFamily="18" charset="0"/>
              </a:rPr>
              <a:t>SQLdeveloper</a:t>
            </a:r>
            <a:endParaRPr lang="en-US" sz="2000" dirty="0">
              <a:solidFill>
                <a:srgbClr val="002060"/>
              </a:solidFill>
              <a:latin typeface="Times New Roman" panose="02020603050405020304" pitchFamily="18" charset="0"/>
              <a:cs typeface="Times New Roman" panose="02020603050405020304" pitchFamily="18" charset="0"/>
            </a:endParaRPr>
          </a:p>
          <a:p>
            <a:pPr marL="800100" lvl="1" indent="-342900">
              <a:spcBef>
                <a:spcPts val="1000"/>
              </a:spcBef>
              <a:buFont typeface="Wingdings" panose="05000000000000000000" pitchFamily="2" charset="2"/>
              <a:buChar char="Ø"/>
            </a:pPr>
            <a:r>
              <a:rPr lang="en-US" sz="2000" dirty="0">
                <a:solidFill>
                  <a:srgbClr val="002060"/>
                </a:solidFill>
                <a:latin typeface="Times New Roman" panose="02020603050405020304" pitchFamily="18" charset="0"/>
                <a:cs typeface="Times New Roman" panose="02020603050405020304" pitchFamily="18" charset="0"/>
              </a:rPr>
              <a:t>Login/Connect the ORACLE with Account &amp; Password</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1763" y="2743409"/>
            <a:ext cx="8280474" cy="385394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Rectangle 1"/>
          <p:cNvSpPr/>
          <p:nvPr/>
        </p:nvSpPr>
        <p:spPr>
          <a:xfrm>
            <a:off x="864096" y="188640"/>
            <a:ext cx="8279904" cy="584775"/>
          </a:xfrm>
          <a:prstGeom prst="rect">
            <a:avLst/>
          </a:prstGeom>
        </p:spPr>
        <p:txBody>
          <a:bodyPr wrap="square">
            <a:spAutoFit/>
          </a:bodyPr>
          <a:lstStyle/>
          <a:p>
            <a:r>
              <a:rPr lang="en-US" sz="3200" i="1" dirty="0" err="1">
                <a:solidFill>
                  <a:srgbClr val="C00000"/>
                </a:solidFill>
                <a:latin typeface="Times New Roman" panose="02020603050405020304" pitchFamily="18" charset="0"/>
                <a:cs typeface="Times New Roman" panose="02020603050405020304" pitchFamily="18" charset="0"/>
              </a:rPr>
              <a:t>Additional：</a:t>
            </a:r>
            <a:r>
              <a:rPr lang="en-US" sz="3200" i="1" dirty="0" err="1">
                <a:solidFill>
                  <a:srgbClr val="C00000"/>
                </a:solidFill>
                <a:latin typeface="+mn-lt"/>
                <a:cs typeface="Times New Roman" panose="02020603050405020304" pitchFamily="18" charset="0"/>
              </a:rPr>
              <a:t>DBMS</a:t>
            </a:r>
            <a:r>
              <a:rPr lang="en-US" sz="3200" i="1" dirty="0">
                <a:solidFill>
                  <a:srgbClr val="C00000"/>
                </a:solidFill>
                <a:latin typeface="+mn-lt"/>
              </a:rPr>
              <a:t> Example</a:t>
            </a:r>
          </a:p>
        </p:txBody>
      </p:sp>
    </p:spTree>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0018" y="936992"/>
            <a:ext cx="9144000" cy="846386"/>
          </a:xfrm>
          <a:prstGeom prst="rect">
            <a:avLst/>
          </a:prstGeom>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1.DBMS Example  ORACLE</a:t>
            </a:r>
          </a:p>
          <a:p>
            <a:pPr marL="800100" lvl="1" indent="-342900">
              <a:spcBef>
                <a:spcPts val="600"/>
              </a:spcBef>
              <a:buFont typeface="Wingdings" panose="05000000000000000000" pitchFamily="2" charset="2"/>
              <a:buChar char="Ø"/>
            </a:pPr>
            <a:r>
              <a:rPr lang="en-US" sz="2000" dirty="0">
                <a:solidFill>
                  <a:srgbClr val="002060"/>
                </a:solidFill>
                <a:latin typeface="Times New Roman" panose="02020603050405020304" pitchFamily="18" charset="0"/>
                <a:cs typeface="Times New Roman" panose="02020603050405020304" pitchFamily="18" charset="0"/>
              </a:rPr>
              <a:t>Input SQL statement</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2394" y="1993121"/>
            <a:ext cx="8939212" cy="4103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Rectangle 1"/>
          <p:cNvSpPr/>
          <p:nvPr/>
        </p:nvSpPr>
        <p:spPr>
          <a:xfrm>
            <a:off x="864096" y="188640"/>
            <a:ext cx="8279904" cy="584775"/>
          </a:xfrm>
          <a:prstGeom prst="rect">
            <a:avLst/>
          </a:prstGeom>
        </p:spPr>
        <p:txBody>
          <a:bodyPr wrap="square">
            <a:spAutoFit/>
          </a:bodyPr>
          <a:lstStyle/>
          <a:p>
            <a:r>
              <a:rPr lang="en-US" sz="3200" i="1" dirty="0" err="1">
                <a:solidFill>
                  <a:srgbClr val="C00000"/>
                </a:solidFill>
                <a:latin typeface="Times New Roman" panose="02020603050405020304" pitchFamily="18" charset="0"/>
                <a:cs typeface="Times New Roman" panose="02020603050405020304" pitchFamily="18" charset="0"/>
              </a:rPr>
              <a:t>Additional：</a:t>
            </a:r>
            <a:r>
              <a:rPr lang="en-US" sz="3200" i="1" dirty="0" err="1">
                <a:solidFill>
                  <a:srgbClr val="C00000"/>
                </a:solidFill>
                <a:latin typeface="+mn-lt"/>
                <a:cs typeface="Times New Roman" panose="02020603050405020304" pitchFamily="18" charset="0"/>
              </a:rPr>
              <a:t>DBMS</a:t>
            </a:r>
            <a:r>
              <a:rPr lang="en-US" sz="3200" i="1" dirty="0">
                <a:solidFill>
                  <a:srgbClr val="C00000"/>
                </a:solidFill>
                <a:latin typeface="+mn-lt"/>
              </a:rPr>
              <a:t> Example</a:t>
            </a:r>
          </a:p>
        </p:txBody>
      </p:sp>
    </p:spTree>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107504" y="980728"/>
            <a:ext cx="9036496" cy="867995"/>
          </a:xfrm>
          <a:prstGeom prst="rect">
            <a:avLst/>
          </a:prstGeom>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1.DBMS Example</a:t>
            </a:r>
            <a:r>
              <a:rPr lang="zh-CN" altLang="en-US" sz="2400" dirty="0">
                <a:solidFill>
                  <a:srgbClr val="002060"/>
                </a:solidFill>
                <a:latin typeface="Times New Roman" panose="02020603050405020304" pitchFamily="18" charset="0"/>
                <a:cs typeface="Times New Roman" panose="02020603050405020304" pitchFamily="18" charset="0"/>
              </a:rPr>
              <a:t>：</a:t>
            </a:r>
            <a:r>
              <a:rPr lang="en-US" sz="2400" dirty="0">
                <a:solidFill>
                  <a:srgbClr val="002060"/>
                </a:solidFill>
                <a:latin typeface="Times New Roman" panose="02020603050405020304" pitchFamily="18" charset="0"/>
                <a:cs typeface="Times New Roman" panose="02020603050405020304" pitchFamily="18" charset="0"/>
              </a:rPr>
              <a:t> ORACLE</a:t>
            </a:r>
          </a:p>
          <a:p>
            <a:pPr marL="1257300" lvl="2" indent="-342900">
              <a:lnSpc>
                <a:spcPct val="150000"/>
              </a:lnSpc>
              <a:buFont typeface="Wingdings" panose="05000000000000000000" pitchFamily="2" charset="2"/>
              <a:buChar char="Ø"/>
            </a:pPr>
            <a:r>
              <a:rPr lang="en-US" sz="2000" dirty="0">
                <a:solidFill>
                  <a:srgbClr val="7030A0"/>
                </a:solidFill>
                <a:latin typeface="Times New Roman" panose="02020603050405020304" pitchFamily="18" charset="0"/>
                <a:cs typeface="Times New Roman" panose="02020603050405020304" pitchFamily="18" charset="0"/>
              </a:rPr>
              <a:t>Create table	</a:t>
            </a:r>
            <a:r>
              <a:rPr lang="en-US" sz="2000" dirty="0" err="1">
                <a:solidFill>
                  <a:srgbClr val="7030A0"/>
                </a:solidFill>
                <a:latin typeface="Times New Roman" panose="02020603050405020304" pitchFamily="18" charset="0"/>
                <a:cs typeface="Times New Roman" panose="02020603050405020304" pitchFamily="18" charset="0"/>
              </a:rPr>
              <a:t>A_agent</a:t>
            </a:r>
            <a:endParaRPr lang="en-US" sz="2000" dirty="0">
              <a:solidFill>
                <a:srgbClr val="7030A0"/>
              </a:solidFill>
              <a:latin typeface="Times New Roman" panose="02020603050405020304" pitchFamily="18" charset="0"/>
              <a:cs typeface="Times New Roman" panose="02020603050405020304" pitchFamily="18" charset="0"/>
            </a:endParaRPr>
          </a:p>
        </p:txBody>
      </p:sp>
      <p:pic>
        <p:nvPicPr>
          <p:cNvPr id="4"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 y="2492375"/>
            <a:ext cx="8883650" cy="3889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Rectangle 1"/>
          <p:cNvSpPr/>
          <p:nvPr/>
        </p:nvSpPr>
        <p:spPr>
          <a:xfrm>
            <a:off x="864096" y="188640"/>
            <a:ext cx="8279904" cy="584775"/>
          </a:xfrm>
          <a:prstGeom prst="rect">
            <a:avLst/>
          </a:prstGeom>
        </p:spPr>
        <p:txBody>
          <a:bodyPr wrap="square">
            <a:spAutoFit/>
          </a:bodyPr>
          <a:lstStyle/>
          <a:p>
            <a:r>
              <a:rPr lang="en-US" sz="3200" i="1" dirty="0" err="1">
                <a:solidFill>
                  <a:srgbClr val="C00000"/>
                </a:solidFill>
                <a:latin typeface="Times New Roman" panose="02020603050405020304" pitchFamily="18" charset="0"/>
                <a:cs typeface="Times New Roman" panose="02020603050405020304" pitchFamily="18" charset="0"/>
              </a:rPr>
              <a:t>Additional：</a:t>
            </a:r>
            <a:r>
              <a:rPr lang="en-US" sz="3200" i="1" dirty="0" err="1">
                <a:solidFill>
                  <a:srgbClr val="C00000"/>
                </a:solidFill>
                <a:latin typeface="+mn-lt"/>
                <a:cs typeface="Times New Roman" panose="02020603050405020304" pitchFamily="18" charset="0"/>
              </a:rPr>
              <a:t>DBMS</a:t>
            </a:r>
            <a:r>
              <a:rPr lang="en-US" sz="3200" i="1" dirty="0">
                <a:solidFill>
                  <a:srgbClr val="C00000"/>
                </a:solidFill>
              </a:rPr>
              <a:t> Example</a:t>
            </a:r>
          </a:p>
        </p:txBody>
      </p:sp>
    </p:spTree>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26" y="958031"/>
            <a:ext cx="9144000" cy="867995"/>
          </a:xfrm>
          <a:prstGeom prst="rect">
            <a:avLst/>
          </a:prstGeom>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1.DBMS Example  ORACLE</a:t>
            </a:r>
          </a:p>
          <a:p>
            <a:pPr marL="800100" lvl="1" indent="-342900">
              <a:lnSpc>
                <a:spcPct val="150000"/>
              </a:lnSpc>
              <a:buFont typeface="Wingdings" panose="05000000000000000000" pitchFamily="2" charset="2"/>
              <a:buChar char="Ø"/>
            </a:pPr>
            <a:r>
              <a:rPr lang="en-US" sz="2000" dirty="0">
                <a:solidFill>
                  <a:srgbClr val="7030A0"/>
                </a:solidFill>
                <a:latin typeface="Times New Roman" panose="02020603050405020304" pitchFamily="18" charset="0"/>
                <a:cs typeface="Times New Roman" panose="02020603050405020304" pitchFamily="18" charset="0"/>
              </a:rPr>
              <a:t>Insert the Data to the table by </a:t>
            </a:r>
            <a:r>
              <a:rPr lang="en-US" sz="2000" dirty="0">
                <a:solidFill>
                  <a:srgbClr val="7030A0"/>
                </a:solidFill>
                <a:highlight>
                  <a:srgbClr val="FFFF00"/>
                </a:highlight>
                <a:latin typeface="Times New Roman" panose="02020603050405020304" pitchFamily="18" charset="0"/>
                <a:cs typeface="Times New Roman" panose="02020603050405020304" pitchFamily="18" charset="0"/>
              </a:rPr>
              <a:t>Visual box</a:t>
            </a:r>
            <a:r>
              <a:rPr lang="en-US" sz="2000" dirty="0">
                <a:solidFill>
                  <a:srgbClr val="7030A0"/>
                </a:solidFill>
                <a:latin typeface="Times New Roman" panose="02020603050405020304" pitchFamily="18" charset="0"/>
                <a:cs typeface="Times New Roman" panose="02020603050405020304" pitchFamily="18" charset="0"/>
              </a:rPr>
              <a:t>		</a:t>
            </a:r>
            <a:r>
              <a:rPr lang="en-US" sz="2000" dirty="0" err="1">
                <a:solidFill>
                  <a:srgbClr val="7030A0"/>
                </a:solidFill>
                <a:latin typeface="Times New Roman" panose="02020603050405020304" pitchFamily="18" charset="0"/>
                <a:cs typeface="Times New Roman" panose="02020603050405020304" pitchFamily="18" charset="0"/>
              </a:rPr>
              <a:t>A_agent</a:t>
            </a:r>
            <a:endParaRPr lang="en-US" sz="2000" dirty="0">
              <a:solidFill>
                <a:srgbClr val="7030A0"/>
              </a:solidFill>
              <a:latin typeface="Times New Roman" panose="02020603050405020304" pitchFamily="18" charset="0"/>
              <a:cs typeface="Times New Roman" panose="02020603050405020304"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605" y="2019764"/>
            <a:ext cx="8872538" cy="3754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1"/>
          <p:cNvSpPr/>
          <p:nvPr/>
        </p:nvSpPr>
        <p:spPr>
          <a:xfrm>
            <a:off x="864096" y="188640"/>
            <a:ext cx="8279904" cy="584775"/>
          </a:xfrm>
          <a:prstGeom prst="rect">
            <a:avLst/>
          </a:prstGeom>
        </p:spPr>
        <p:txBody>
          <a:bodyPr wrap="square">
            <a:spAutoFit/>
          </a:bodyPr>
          <a:lstStyle/>
          <a:p>
            <a:r>
              <a:rPr lang="en-US" sz="3200" i="1" dirty="0" err="1">
                <a:solidFill>
                  <a:srgbClr val="C00000"/>
                </a:solidFill>
                <a:latin typeface="Times New Roman" panose="02020603050405020304" pitchFamily="18" charset="0"/>
                <a:cs typeface="Times New Roman" panose="02020603050405020304" pitchFamily="18" charset="0"/>
              </a:rPr>
              <a:t>Additional：</a:t>
            </a:r>
            <a:r>
              <a:rPr lang="en-US" sz="3200" i="1" dirty="0" err="1">
                <a:solidFill>
                  <a:srgbClr val="C00000"/>
                </a:solidFill>
                <a:latin typeface="+mn-lt"/>
                <a:cs typeface="Times New Roman" panose="02020603050405020304" pitchFamily="18" charset="0"/>
              </a:rPr>
              <a:t>DBMS</a:t>
            </a:r>
            <a:r>
              <a:rPr lang="en-US" sz="3200" i="1" dirty="0">
                <a:solidFill>
                  <a:srgbClr val="C00000"/>
                </a:solidFill>
                <a:latin typeface="+mn-lt"/>
              </a:rPr>
              <a:t> </a:t>
            </a:r>
            <a:r>
              <a:rPr lang="en-US" sz="3200" i="1" dirty="0">
                <a:solidFill>
                  <a:srgbClr val="C00000"/>
                </a:solidFill>
              </a:rPr>
              <a:t>Example</a:t>
            </a:r>
          </a:p>
        </p:txBody>
      </p:sp>
    </p:spTree>
    <p:extLst>
      <p:ext uri="{BB962C8B-B14F-4D97-AF65-F5344CB8AC3E}">
        <p14:creationId xmlns:p14="http://schemas.microsoft.com/office/powerpoint/2010/main" val="2575749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126" y="958031"/>
            <a:ext cx="9144000" cy="867995"/>
          </a:xfrm>
          <a:prstGeom prst="rect">
            <a:avLst/>
          </a:prstGeom>
        </p:spPr>
        <p:txBody>
          <a:bodyPr wrap="square">
            <a:spAutoFit/>
          </a:bodyPr>
          <a:lstStyle/>
          <a:p>
            <a:r>
              <a:rPr lang="en-US" sz="2400" dirty="0">
                <a:solidFill>
                  <a:srgbClr val="002060"/>
                </a:solidFill>
                <a:latin typeface="Times New Roman" panose="02020603050405020304" pitchFamily="18" charset="0"/>
                <a:cs typeface="Times New Roman" panose="02020603050405020304" pitchFamily="18" charset="0"/>
              </a:rPr>
              <a:t>1.DBMS Example  ORACLE</a:t>
            </a:r>
          </a:p>
          <a:p>
            <a:pPr marL="800100" lvl="1" indent="-342900">
              <a:lnSpc>
                <a:spcPct val="150000"/>
              </a:lnSpc>
              <a:buFont typeface="Wingdings" panose="05000000000000000000" pitchFamily="2" charset="2"/>
              <a:buChar char="Ø"/>
            </a:pPr>
            <a:r>
              <a:rPr lang="en-US" sz="2000" dirty="0">
                <a:solidFill>
                  <a:srgbClr val="7030A0"/>
                </a:solidFill>
                <a:latin typeface="Times New Roman" panose="02020603050405020304" pitchFamily="18" charset="0"/>
                <a:cs typeface="Times New Roman" panose="02020603050405020304" pitchFamily="18" charset="0"/>
              </a:rPr>
              <a:t>Insert the Data to the table </a:t>
            </a:r>
            <a:r>
              <a:rPr lang="en-US" sz="2000" dirty="0">
                <a:solidFill>
                  <a:srgbClr val="7030A0"/>
                </a:solidFill>
                <a:highlight>
                  <a:srgbClr val="FFFF00"/>
                </a:highlight>
                <a:latin typeface="Times New Roman" panose="02020603050405020304" pitchFamily="18" charset="0"/>
                <a:cs typeface="Times New Roman" panose="02020603050405020304" pitchFamily="18" charset="0"/>
              </a:rPr>
              <a:t>using SQL</a:t>
            </a:r>
            <a:r>
              <a:rPr lang="en-US" sz="2000" dirty="0">
                <a:solidFill>
                  <a:srgbClr val="7030A0"/>
                </a:solidFill>
                <a:latin typeface="Times New Roman" panose="02020603050405020304" pitchFamily="18" charset="0"/>
                <a:cs typeface="Times New Roman" panose="02020603050405020304" pitchFamily="18" charset="0"/>
              </a:rPr>
              <a:t>		</a:t>
            </a:r>
            <a:r>
              <a:rPr lang="en-US" sz="2000" dirty="0" err="1">
                <a:solidFill>
                  <a:srgbClr val="7030A0"/>
                </a:solidFill>
                <a:latin typeface="Times New Roman" panose="02020603050405020304" pitchFamily="18" charset="0"/>
                <a:cs typeface="Times New Roman" panose="02020603050405020304" pitchFamily="18" charset="0"/>
              </a:rPr>
              <a:t>A_agent</a:t>
            </a:r>
            <a:endParaRPr lang="en-US" sz="2000" dirty="0">
              <a:solidFill>
                <a:srgbClr val="7030A0"/>
              </a:solidFill>
              <a:latin typeface="Times New Roman" panose="02020603050405020304" pitchFamily="18" charset="0"/>
              <a:cs typeface="Times New Roman" panose="02020603050405020304" pitchFamily="18" charset="0"/>
            </a:endParaRP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060848"/>
            <a:ext cx="8872538" cy="3754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338" y="3451225"/>
            <a:ext cx="8961437" cy="336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6" name="Rectangle 1"/>
          <p:cNvSpPr/>
          <p:nvPr/>
        </p:nvSpPr>
        <p:spPr>
          <a:xfrm>
            <a:off x="864096" y="188640"/>
            <a:ext cx="8279904" cy="584775"/>
          </a:xfrm>
          <a:prstGeom prst="rect">
            <a:avLst/>
          </a:prstGeom>
        </p:spPr>
        <p:txBody>
          <a:bodyPr wrap="square">
            <a:spAutoFit/>
          </a:bodyPr>
          <a:lstStyle/>
          <a:p>
            <a:r>
              <a:rPr lang="en-US" sz="3200" i="1" dirty="0" err="1">
                <a:solidFill>
                  <a:srgbClr val="C00000"/>
                </a:solidFill>
                <a:latin typeface="Times New Roman" panose="02020603050405020304" pitchFamily="18" charset="0"/>
                <a:cs typeface="Times New Roman" panose="02020603050405020304" pitchFamily="18" charset="0"/>
              </a:rPr>
              <a:t>Additional：</a:t>
            </a:r>
            <a:r>
              <a:rPr lang="en-US" sz="3200" i="1" dirty="0" err="1">
                <a:solidFill>
                  <a:srgbClr val="C00000"/>
                </a:solidFill>
                <a:latin typeface="+mn-lt"/>
                <a:cs typeface="Times New Roman" panose="02020603050405020304" pitchFamily="18" charset="0"/>
              </a:rPr>
              <a:t>DBMS</a:t>
            </a:r>
            <a:r>
              <a:rPr lang="en-US" sz="3200" i="1" dirty="0">
                <a:solidFill>
                  <a:srgbClr val="C00000"/>
                </a:solidFill>
                <a:latin typeface="+mn-lt"/>
              </a:rPr>
              <a:t> </a:t>
            </a:r>
            <a:r>
              <a:rPr lang="en-US" sz="3200" i="1" dirty="0">
                <a:solidFill>
                  <a:srgbClr val="C00000"/>
                </a:solidFill>
              </a:rPr>
              <a:t>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nodeType="with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0" y="917431"/>
            <a:ext cx="4015843" cy="461665"/>
          </a:xfrm>
          <a:prstGeom prst="rect">
            <a:avLst/>
          </a:prstGeom>
        </p:spPr>
        <p:txBody>
          <a:bodyPr wrap="none">
            <a:spAutoFit/>
          </a:bodyPr>
          <a:lstStyle/>
          <a:p>
            <a:r>
              <a:rPr lang="en-US" sz="2400" dirty="0">
                <a:solidFill>
                  <a:srgbClr val="002060"/>
                </a:solidFill>
                <a:latin typeface="Times New Roman" panose="02020603050405020304" pitchFamily="18" charset="0"/>
                <a:cs typeface="Times New Roman" panose="02020603050405020304" pitchFamily="18" charset="0"/>
              </a:rPr>
              <a:t>1.DBMS Example  ORACLE</a:t>
            </a:r>
          </a:p>
        </p:txBody>
      </p:sp>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96" y="1523112"/>
            <a:ext cx="9144000" cy="4724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sp>
        <p:nvSpPr>
          <p:cNvPr id="5" name="Rectangle 1"/>
          <p:cNvSpPr/>
          <p:nvPr/>
        </p:nvSpPr>
        <p:spPr>
          <a:xfrm>
            <a:off x="864096" y="188640"/>
            <a:ext cx="8279904" cy="584775"/>
          </a:xfrm>
          <a:prstGeom prst="rect">
            <a:avLst/>
          </a:prstGeom>
        </p:spPr>
        <p:txBody>
          <a:bodyPr wrap="square">
            <a:spAutoFit/>
          </a:bodyPr>
          <a:lstStyle/>
          <a:p>
            <a:r>
              <a:rPr lang="en-US" sz="3200" i="1" dirty="0" err="1">
                <a:solidFill>
                  <a:srgbClr val="C00000"/>
                </a:solidFill>
                <a:latin typeface="Times New Roman" panose="02020603050405020304" pitchFamily="18" charset="0"/>
                <a:cs typeface="Times New Roman" panose="02020603050405020304" pitchFamily="18" charset="0"/>
              </a:rPr>
              <a:t>Additional：</a:t>
            </a:r>
            <a:r>
              <a:rPr lang="en-US" sz="3200" i="1" dirty="0" err="1">
                <a:solidFill>
                  <a:srgbClr val="C00000"/>
                </a:solidFill>
                <a:latin typeface="+mn-lt"/>
                <a:cs typeface="Times New Roman" panose="02020603050405020304" pitchFamily="18" charset="0"/>
              </a:rPr>
              <a:t>DBMS</a:t>
            </a:r>
            <a:r>
              <a:rPr lang="en-US" sz="3200" i="1" dirty="0">
                <a:solidFill>
                  <a:srgbClr val="C00000"/>
                </a:solidFill>
                <a:latin typeface="+mn-lt"/>
              </a:rPr>
              <a:t> </a:t>
            </a:r>
            <a:r>
              <a:rPr lang="en-US" sz="3200" i="1" dirty="0">
                <a:solidFill>
                  <a:srgbClr val="C00000"/>
                </a:solidFill>
              </a:rPr>
              <a:t>Example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主题">
  <a:themeElements>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8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no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sz="2800" b="1" i="0" u="none" strike="noStrike" cap="none" normalizeH="0" baseline="0" smtClean="0">
            <a:ln>
              <a:noFill/>
            </a:ln>
            <a:solidFill>
              <a:schemeClr val="tx1"/>
            </a:solidFill>
            <a:effectLst/>
            <a:latin typeface="Calibri" panose="020F0502020204030204" pitchFamily="34" charset="0"/>
            <a:ea typeface="宋体" panose="02010600030101010101" pitchFamily="2" charset="-122"/>
          </a:defRPr>
        </a:defPPr>
      </a:lstStyle>
    </a:lnDef>
  </a:objectDefaults>
  <a:extraClrSchemeLst>
    <a:extraClrScheme>
      <a:clrScheme name="Office 主题 1">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1278</TotalTime>
  <Words>4102</Words>
  <Application>Microsoft Office PowerPoint</Application>
  <PresentationFormat>全屏显示(4:3)</PresentationFormat>
  <Paragraphs>641</Paragraphs>
  <Slides>70</Slides>
  <Notes>5</Notes>
  <HiddenSlides>0</HiddenSlides>
  <MMClips>0</MMClips>
  <ScaleCrop>false</ScaleCrop>
  <HeadingPairs>
    <vt:vector size="4" baseType="variant">
      <vt:variant>
        <vt:lpstr>主题</vt:lpstr>
      </vt:variant>
      <vt:variant>
        <vt:i4>1</vt:i4>
      </vt:variant>
      <vt:variant>
        <vt:lpstr>幻灯片标题</vt:lpstr>
      </vt:variant>
      <vt:variant>
        <vt:i4>70</vt:i4>
      </vt:variant>
    </vt:vector>
  </HeadingPairs>
  <TitlesOfParts>
    <vt:vector size="71" baseType="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内部连接</vt:lpstr>
      <vt:lpstr>PowerPoint 演示文稿</vt:lpstr>
      <vt:lpstr>PowerPoint 演示文稿</vt:lpstr>
      <vt:lpstr>外部连接</vt:lpstr>
      <vt:lpstr>外部连接-左外连接</vt:lpstr>
      <vt:lpstr>PowerPoint 演示文稿</vt:lpstr>
      <vt:lpstr>外部连接-右外连接</vt:lpstr>
      <vt:lpstr>PowerPoint 演示文稿</vt:lpstr>
      <vt:lpstr>外部连接-全外联接</vt:lpstr>
      <vt:lpstr>PowerPoint 演示文稿</vt:lpstr>
      <vt:lpstr>JOIN操作的应用场景</vt:lpstr>
      <vt:lpstr>JOIN操作的性能优化</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数字图像处理</dc:title>
  <dc:creator>Administrator</dc:creator>
  <cp:lastModifiedBy>PC</cp:lastModifiedBy>
  <cp:revision>567</cp:revision>
  <cp:lastPrinted>2411-12-30T00:00:00Z</cp:lastPrinted>
  <dcterms:created xsi:type="dcterms:W3CDTF">2011-12-15T17:03:00Z</dcterms:created>
  <dcterms:modified xsi:type="dcterms:W3CDTF">2024-10-17T16:05:54Z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2052-11.1.0.9996</vt:lpwstr>
  </property>
</Properties>
</file>